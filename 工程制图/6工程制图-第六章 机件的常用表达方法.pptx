
<file path=[Content_Types].xml><?xml version="1.0" encoding="utf-8"?>
<Types xmlns="http://schemas.openxmlformats.org/package/2006/content-types">
  <Default Extension="bin" ContentType="application/vnd.openxmlformats-officedocument.oleObject"/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60"/>
  </p:notesMasterIdLst>
  <p:sldIdLst>
    <p:sldId id="278" r:id="rId2"/>
    <p:sldId id="279" r:id="rId3"/>
    <p:sldId id="280" r:id="rId4"/>
    <p:sldId id="292" r:id="rId5"/>
    <p:sldId id="282" r:id="rId6"/>
    <p:sldId id="295" r:id="rId7"/>
    <p:sldId id="296" r:id="rId8"/>
    <p:sldId id="297" r:id="rId9"/>
    <p:sldId id="298" r:id="rId10"/>
    <p:sldId id="299" r:id="rId11"/>
    <p:sldId id="300" r:id="rId12"/>
    <p:sldId id="281" r:id="rId13"/>
    <p:sldId id="306" r:id="rId14"/>
    <p:sldId id="302" r:id="rId15"/>
    <p:sldId id="301" r:id="rId16"/>
    <p:sldId id="284" r:id="rId17"/>
    <p:sldId id="307" r:id="rId18"/>
    <p:sldId id="319" r:id="rId19"/>
    <p:sldId id="320" r:id="rId20"/>
    <p:sldId id="321" r:id="rId21"/>
    <p:sldId id="322" r:id="rId22"/>
    <p:sldId id="326" r:id="rId23"/>
    <p:sldId id="323" r:id="rId24"/>
    <p:sldId id="324" r:id="rId25"/>
    <p:sldId id="308" r:id="rId26"/>
    <p:sldId id="339" r:id="rId27"/>
    <p:sldId id="340" r:id="rId28"/>
    <p:sldId id="341" r:id="rId29"/>
    <p:sldId id="342" r:id="rId30"/>
    <p:sldId id="343" r:id="rId31"/>
    <p:sldId id="347" r:id="rId32"/>
    <p:sldId id="344" r:id="rId33"/>
    <p:sldId id="345" r:id="rId34"/>
    <p:sldId id="360" r:id="rId35"/>
    <p:sldId id="361" r:id="rId36"/>
    <p:sldId id="362" r:id="rId37"/>
    <p:sldId id="363" r:id="rId38"/>
    <p:sldId id="352" r:id="rId39"/>
    <p:sldId id="353" r:id="rId40"/>
    <p:sldId id="305" r:id="rId41"/>
    <p:sldId id="359" r:id="rId42"/>
    <p:sldId id="358" r:id="rId43"/>
    <p:sldId id="357" r:id="rId44"/>
    <p:sldId id="283" r:id="rId45"/>
    <p:sldId id="364" r:id="rId46"/>
    <p:sldId id="368" r:id="rId47"/>
    <p:sldId id="379" r:id="rId48"/>
    <p:sldId id="304" r:id="rId49"/>
    <p:sldId id="377" r:id="rId50"/>
    <p:sldId id="378" r:id="rId51"/>
    <p:sldId id="367" r:id="rId52"/>
    <p:sldId id="387" r:id="rId53"/>
    <p:sldId id="389" r:id="rId54"/>
    <p:sldId id="390" r:id="rId55"/>
    <p:sldId id="391" r:id="rId56"/>
    <p:sldId id="392" r:id="rId57"/>
    <p:sldId id="388" r:id="rId58"/>
    <p:sldId id="393" r:id="rId59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1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0" name="admin" initials="a" lastIdx="2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FF443B"/>
    <a:srgbClr val="008000"/>
    <a:srgbClr val="FF33CC"/>
    <a:srgbClr val="0066CC"/>
    <a:srgbClr val="FF6666"/>
    <a:srgbClr val="CCFFFF"/>
    <a:srgbClr val="00FFFF"/>
    <a:srgbClr val="3178BF"/>
    <a:srgbClr val="00C49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999" autoAdjust="0"/>
    <p:restoredTop sz="94660"/>
  </p:normalViewPr>
  <p:slideViewPr>
    <p:cSldViewPr snapToGrid="0" showGuides="1">
      <p:cViewPr>
        <p:scale>
          <a:sx n="100" d="100"/>
          <a:sy n="100" d="100"/>
        </p:scale>
        <p:origin x="-973" y="-271"/>
      </p:cViewPr>
      <p:guideLst>
        <p:guide orient="horz" pos="2115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5" Type="http://schemas.openxmlformats.org/officeDocument/2006/relationships/slide" Target="slides/slide4.xml"/><Relationship Id="rId61" Type="http://schemas.openxmlformats.org/officeDocument/2006/relationships/commentAuthors" Target="commentAuthor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notesMaster" Target="notesMasters/notesMaster1.xml"/><Relationship Id="rId65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C5A4E82-719B-45B5-B153-8474DE53B02D}" type="datetimeFigureOut">
              <a:rPr lang="zh-CN" altLang="en-US" smtClean="0"/>
              <a:pPr/>
              <a:t>2021/12/2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9D1EAC0-35A8-41CD-998F-5E6C94A28D57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022708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9D1EAC0-35A8-41CD-998F-5E6C94A28D57}" type="slidenum">
              <a:rPr lang="zh-CN" altLang="en-US" smtClean="0"/>
              <a:pPr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5701282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B1B6207-3C04-462D-8E72-68C9730EB86D}" type="datetimeFigureOut">
              <a:rPr lang="zh-CN" altLang="en-US" smtClean="0"/>
              <a:pPr/>
              <a:t>2021/12/2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3D535D-1C9A-4F3E-B1DC-DA5A3835AF07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9675841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254000" y="190500"/>
            <a:ext cx="11696700" cy="646430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006582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B1B6207-3C04-462D-8E72-68C9730EB86D}" type="datetimeFigureOut">
              <a:rPr lang="zh-CN" altLang="en-US" smtClean="0"/>
              <a:pPr/>
              <a:t>2021/12/2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3D535D-1C9A-4F3E-B1DC-DA5A3835AF07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3890031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B1B6207-3C04-462D-8E72-68C9730EB86D}" type="datetimeFigureOut">
              <a:rPr lang="zh-CN" altLang="en-US" smtClean="0"/>
              <a:pPr/>
              <a:t>2021/12/2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3D535D-1C9A-4F3E-B1DC-DA5A3835AF07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2902421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B1B6207-3C04-462D-8E72-68C9730EB86D}" type="datetimeFigureOut">
              <a:rPr lang="zh-CN" altLang="en-US" smtClean="0"/>
              <a:pPr/>
              <a:t>2021/12/2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3D535D-1C9A-4F3E-B1DC-DA5A3835AF07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88238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B1B6207-3C04-462D-8E72-68C9730EB86D}" type="datetimeFigureOut">
              <a:rPr lang="zh-CN" altLang="en-US" smtClean="0"/>
              <a:pPr/>
              <a:t>2021/12/2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3D535D-1C9A-4F3E-B1DC-DA5A3835AF07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7293023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B1B6207-3C04-462D-8E72-68C9730EB86D}" type="datetimeFigureOut">
              <a:rPr lang="zh-CN" altLang="en-US" smtClean="0"/>
              <a:pPr/>
              <a:t>2021/12/2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3D535D-1C9A-4F3E-B1DC-DA5A3835AF07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8548690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B1B6207-3C04-462D-8E72-68C9730EB86D}" type="datetimeFigureOut">
              <a:rPr lang="zh-CN" altLang="en-US" smtClean="0"/>
              <a:pPr/>
              <a:t>2021/12/2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3D535D-1C9A-4F3E-B1DC-DA5A3835AF07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5657857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CN" altLang="en-US"/>
              <a:t>单击图标添加图片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B1B6207-3C04-462D-8E72-68C9730EB86D}" type="datetimeFigureOut">
              <a:rPr lang="zh-CN" altLang="en-US" smtClean="0"/>
              <a:pPr/>
              <a:t>2021/12/2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3D535D-1C9A-4F3E-B1DC-DA5A3835AF07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6003884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B1B6207-3C04-462D-8E72-68C9730EB86D}" type="datetimeFigureOut">
              <a:rPr lang="zh-CN" altLang="en-US" smtClean="0"/>
              <a:pPr/>
              <a:t>2021/12/2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3D535D-1C9A-4F3E-B1DC-DA5A3835AF07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8121437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B1B6207-3C04-462D-8E72-68C9730EB86D}" type="datetimeFigureOut">
              <a:rPr lang="zh-CN" altLang="en-US" smtClean="0"/>
              <a:pPr/>
              <a:t>2021/12/2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3D535D-1C9A-4F3E-B1DC-DA5A3835AF07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7791901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B1B6207-3C04-462D-8E72-68C9730EB86D}" type="datetimeFigureOut">
              <a:rPr lang="zh-CN" altLang="en-US" smtClean="0"/>
              <a:pPr/>
              <a:t>2021/12/2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B3D535D-1C9A-4F3E-B1DC-DA5A3835AF07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07828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" Target="slide13.xml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slide" Target="slide16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slideLayout" Target="../slideLayouts/slideLayout2.xml"/><Relationship Id="rId1" Type="http://schemas.openxmlformats.org/officeDocument/2006/relationships/video" Target="file:///E:\&#24037;&#31243;&#21046;&#22270;&#22522;&#30784;&#25945;&#23398;&#24179;&#21488;\powerpoint\9-1.avi" TargetMode="External"/><Relationship Id="rId4" Type="http://schemas.openxmlformats.org/officeDocument/2006/relationships/image" Target="../media/image8.pn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wmf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11.wmf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wmf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wmf"/><Relationship Id="rId3" Type="http://schemas.openxmlformats.org/officeDocument/2006/relationships/image" Target="../media/image15.wmf"/><Relationship Id="rId7" Type="http://schemas.openxmlformats.org/officeDocument/2006/relationships/oleObject" Target="../embeddings/oleObject3.bin"/><Relationship Id="rId12" Type="http://schemas.openxmlformats.org/officeDocument/2006/relationships/oleObject" Target="../embeddings/oleObject4.bin"/><Relationship Id="rId2" Type="http://schemas.openxmlformats.org/officeDocument/2006/relationships/oleObject" Target="../embeddings/oleObject1.bin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.wmf"/><Relationship Id="rId11" Type="http://schemas.openxmlformats.org/officeDocument/2006/relationships/image" Target="../media/image21.png"/><Relationship Id="rId5" Type="http://schemas.openxmlformats.org/officeDocument/2006/relationships/oleObject" Target="../embeddings/oleObject2.bin"/><Relationship Id="rId10" Type="http://schemas.openxmlformats.org/officeDocument/2006/relationships/image" Target="../media/image20.png"/><Relationship Id="rId4" Type="http://schemas.openxmlformats.org/officeDocument/2006/relationships/image" Target="../media/image16.png"/><Relationship Id="rId9" Type="http://schemas.openxmlformats.org/officeDocument/2006/relationships/image" Target="../media/image19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" Target="slide16.xml"/><Relationship Id="rId2" Type="http://schemas.openxmlformats.org/officeDocument/2006/relationships/slide" Target="slide13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.png"/><Relationship Id="rId4" Type="http://schemas.openxmlformats.org/officeDocument/2006/relationships/image" Target="../media/image27.wmf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oleObject" Target="../embeddings/oleObject5.bin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3.png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wmf"/><Relationship Id="rId2" Type="http://schemas.openxmlformats.org/officeDocument/2006/relationships/oleObject" Target="../embeddings/oleObject6.bin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.png"/><Relationship Id="rId4" Type="http://schemas.openxmlformats.org/officeDocument/2006/relationships/image" Target="../media/image39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wmf"/><Relationship Id="rId2" Type="http://schemas.openxmlformats.org/officeDocument/2006/relationships/oleObject" Target="../embeddings/oleObject7.bin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png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8"/>
          <p:cNvSpPr>
            <a:spLocks noChangeArrowheads="1"/>
          </p:cNvSpPr>
          <p:nvPr/>
        </p:nvSpPr>
        <p:spPr bwMode="auto">
          <a:xfrm>
            <a:off x="5747407" y="2734382"/>
            <a:ext cx="5724640" cy="2308322"/>
          </a:xfrm>
          <a:prstGeom prst="rect">
            <a:avLst/>
          </a:prstGeom>
          <a:noFill/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38" tIns="45719" rIns="91438" bIns="45719">
            <a:spAutoFit/>
          </a:bodyPr>
          <a:lstStyle>
            <a:lvl1pPr>
              <a:defRPr kumimoji="1"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 kumimoji="1"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 kumimoji="1"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 kumimoji="1"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 kumimoji="1"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kumimoji="1"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kumimoji="1"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kumimoji="1"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kumimoji="1"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50000"/>
              </a:lnSpc>
            </a:pPr>
            <a:r>
              <a:rPr kumimoji="0" lang="zh-CN" altLang="en-US" sz="4800" b="1" i="1" dirty="0">
                <a:solidFill>
                  <a:srgbClr val="0070C0"/>
                </a:solidFill>
                <a:latin typeface="Times New Roman" panose="02020603050405020304" pitchFamily="18" charset="0"/>
                <a:ea typeface="华文细黑" panose="02010600040101010101" pitchFamily="2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        第六章</a:t>
            </a:r>
            <a:endParaRPr kumimoji="0" lang="en-US" altLang="zh-CN" sz="4800" b="1" i="1" dirty="0">
              <a:solidFill>
                <a:srgbClr val="0070C0"/>
              </a:solidFill>
              <a:latin typeface="Times New Roman" panose="02020603050405020304" pitchFamily="18" charset="0"/>
              <a:ea typeface="华文细黑" panose="02010600040101010101" pitchFamily="2" charset="-122"/>
              <a:cs typeface="Times New Roman" panose="02020603050405020304" pitchFamily="18" charset="0"/>
              <a:sym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r>
              <a:rPr kumimoji="0" lang="zh-CN" altLang="zh-CN" sz="4800" b="1" i="1" dirty="0">
                <a:solidFill>
                  <a:srgbClr val="0070C0"/>
                </a:solidFill>
                <a:latin typeface="Times New Roman" panose="02020603050405020304" pitchFamily="18" charset="0"/>
                <a:ea typeface="华文细黑" panose="02010600040101010101" pitchFamily="2" charset="-122"/>
                <a:cs typeface="Times New Roman" panose="02020603050405020304" pitchFamily="18" charset="0"/>
              </a:rPr>
              <a:t>机件的常用表达方法</a:t>
            </a:r>
            <a:endParaRPr kumimoji="0" lang="zh-CN" altLang="en-US" sz="4800" b="1" i="1" dirty="0">
              <a:solidFill>
                <a:srgbClr val="0070C0"/>
              </a:solidFill>
              <a:latin typeface="Times New Roman" panose="02020603050405020304" pitchFamily="18" charset="0"/>
              <a:ea typeface="华文细黑" panose="02010600040101010101" pitchFamily="2" charset="-122"/>
              <a:cs typeface="Times New Roman" panose="02020603050405020304" pitchFamily="18" charset="0"/>
              <a:sym typeface="微软雅黑" panose="020B0503020204020204" pitchFamily="34" charset="-122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1038979" y="1669895"/>
            <a:ext cx="5705408" cy="1446550"/>
          </a:xfrm>
          <a:prstGeom prst="rect">
            <a:avLst/>
          </a:prstGeom>
          <a:noFill/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 rtlCol="0">
            <a:spAutoFit/>
          </a:bodyPr>
          <a:lstStyle/>
          <a:p>
            <a:r>
              <a:rPr lang="en-US" altLang="zh-CN" sz="8800" b="1" dirty="0">
                <a:solidFill>
                  <a:schemeClr val="bg1">
                    <a:lumMod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Chapter 6</a:t>
            </a:r>
            <a:endParaRPr lang="zh-CN" altLang="en-US" sz="8800" b="1" dirty="0">
              <a:solidFill>
                <a:schemeClr val="bg1">
                  <a:lumMod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5" name="组合 4"/>
          <p:cNvGrpSpPr>
            <a:grpSpLocks noChangeAspect="1"/>
          </p:cNvGrpSpPr>
          <p:nvPr/>
        </p:nvGrpSpPr>
        <p:grpSpPr>
          <a:xfrm>
            <a:off x="1134757" y="3381752"/>
            <a:ext cx="3834118" cy="1531539"/>
            <a:chOff x="1134757" y="3381752"/>
            <a:chExt cx="3834118" cy="1531539"/>
          </a:xfrm>
        </p:grpSpPr>
        <p:sp>
          <p:nvSpPr>
            <p:cNvPr id="12" name="平行四边形 11"/>
            <p:cNvSpPr/>
            <p:nvPr/>
          </p:nvSpPr>
          <p:spPr>
            <a:xfrm>
              <a:off x="3830347" y="3469591"/>
              <a:ext cx="720000" cy="1440000"/>
            </a:xfrm>
            <a:prstGeom prst="parallelogram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平行四边形 10"/>
            <p:cNvSpPr/>
            <p:nvPr/>
          </p:nvSpPr>
          <p:spPr>
            <a:xfrm>
              <a:off x="1532857" y="3473291"/>
              <a:ext cx="720000" cy="1440000"/>
            </a:xfrm>
            <a:prstGeom prst="parallelogram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" name="平行四边形 5"/>
            <p:cNvSpPr/>
            <p:nvPr/>
          </p:nvSpPr>
          <p:spPr>
            <a:xfrm>
              <a:off x="4248875" y="3381752"/>
              <a:ext cx="720000" cy="1440000"/>
            </a:xfrm>
            <a:prstGeom prst="parallelogram">
              <a:avLst/>
            </a:prstGeom>
            <a:solidFill>
              <a:srgbClr val="FFC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" name="平行四边形 6"/>
            <p:cNvSpPr/>
            <p:nvPr/>
          </p:nvSpPr>
          <p:spPr>
            <a:xfrm>
              <a:off x="3470347" y="3381752"/>
              <a:ext cx="720000" cy="1440000"/>
            </a:xfrm>
            <a:prstGeom prst="parallelogram">
              <a:avLst/>
            </a:prstGeom>
            <a:solidFill>
              <a:srgbClr val="FFC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" name="平行四边形 7"/>
            <p:cNvSpPr/>
            <p:nvPr/>
          </p:nvSpPr>
          <p:spPr>
            <a:xfrm>
              <a:off x="2691817" y="3381752"/>
              <a:ext cx="720000" cy="1440000"/>
            </a:xfrm>
            <a:prstGeom prst="parallelogram">
              <a:avLst/>
            </a:prstGeom>
            <a:solidFill>
              <a:srgbClr val="0066CC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" name="平行四边形 8"/>
            <p:cNvSpPr/>
            <p:nvPr/>
          </p:nvSpPr>
          <p:spPr>
            <a:xfrm>
              <a:off x="1134757" y="3381752"/>
              <a:ext cx="720000" cy="1440000"/>
            </a:xfrm>
            <a:prstGeom prst="parallelogram">
              <a:avLst/>
            </a:prstGeom>
            <a:solidFill>
              <a:srgbClr val="FFC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" name="平行四边形 9"/>
            <p:cNvSpPr/>
            <p:nvPr/>
          </p:nvSpPr>
          <p:spPr>
            <a:xfrm>
              <a:off x="1913287" y="3381752"/>
              <a:ext cx="720000" cy="1440000"/>
            </a:xfrm>
            <a:prstGeom prst="parallelogram">
              <a:avLst/>
            </a:prstGeom>
            <a:solidFill>
              <a:srgbClr val="FFC0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en-US" b="1" dirty="0"/>
            </a:p>
          </p:txBody>
        </p:sp>
      </p:grpSp>
    </p:spTree>
    <p:extLst>
      <p:ext uri="{BB962C8B-B14F-4D97-AF65-F5344CB8AC3E}">
        <p14:creationId xmlns:p14="http://schemas.microsoft.com/office/powerpoint/2010/main" val="6234631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pattFill prst="pct5">
          <a:fgClr>
            <a:schemeClr val="accent1">
              <a:lumMod val="75000"/>
            </a:schemeClr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/>
          <p:cNvSpPr/>
          <p:nvPr/>
        </p:nvSpPr>
        <p:spPr>
          <a:xfrm>
            <a:off x="998780" y="998260"/>
            <a:ext cx="10223500" cy="2031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3600" b="1" i="1" dirty="0">
                <a:solidFill>
                  <a:srgbClr val="0066CC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本章学习目标</a:t>
            </a:r>
            <a:endParaRPr lang="en-US" altLang="zh-CN" sz="2000" dirty="0"/>
          </a:p>
          <a:p>
            <a:pPr marL="2336800" indent="266700">
              <a:lnSpc>
                <a:spcPct val="150000"/>
              </a:lnSpc>
              <a:buFont typeface="Wingdings" pitchFamily="2" charset="2"/>
              <a:buChar char="u"/>
            </a:pPr>
            <a:r>
              <a:rPr lang="zh-CN" altLang="zh-CN" sz="2000" dirty="0"/>
              <a:t>掌握基本视图、向视图、局部视图和斜视图的表达方法</a:t>
            </a:r>
          </a:p>
          <a:p>
            <a:pPr marL="2336800" indent="266700">
              <a:lnSpc>
                <a:spcPct val="150000"/>
              </a:lnSpc>
              <a:buFont typeface="Wingdings" pitchFamily="2" charset="2"/>
              <a:buChar char="u"/>
            </a:pPr>
            <a:r>
              <a:rPr lang="zh-CN" altLang="zh-CN" sz="2000" dirty="0"/>
              <a:t>掌握三种剖视图的画法，以及剖切方法的使用</a:t>
            </a:r>
            <a:endParaRPr lang="en-US" altLang="zh-CN" sz="2000" dirty="0"/>
          </a:p>
          <a:p>
            <a:pPr marL="2336800" indent="266700">
              <a:lnSpc>
                <a:spcPct val="150000"/>
              </a:lnSpc>
              <a:buFont typeface="Wingdings" pitchFamily="2" charset="2"/>
              <a:buChar char="u"/>
            </a:pPr>
            <a:r>
              <a:rPr lang="zh-CN" altLang="zh-CN" sz="2000" dirty="0"/>
              <a:t>掌握断面图的画法</a:t>
            </a:r>
          </a:p>
        </p:txBody>
      </p:sp>
      <p:pic>
        <p:nvPicPr>
          <p:cNvPr id="11" name="图片 10"/>
          <p:cNvPicPr>
            <a:picLocks noChangeAspect="1"/>
          </p:cNvPicPr>
          <p:nvPr/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1311" y="341387"/>
            <a:ext cx="3780000" cy="684895"/>
          </a:xfrm>
          <a:prstGeom prst="rect">
            <a:avLst/>
          </a:prstGeom>
        </p:spPr>
      </p:pic>
      <p:pic>
        <p:nvPicPr>
          <p:cNvPr id="57" name="Picture 5" descr="连接臂over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091" t="15544" r="25287"/>
          <a:stretch>
            <a:fillRect/>
          </a:stretch>
        </p:blipFill>
        <p:spPr bwMode="auto">
          <a:xfrm>
            <a:off x="8562241" y="3574472"/>
            <a:ext cx="2660039" cy="2751999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4560534" y="3574472"/>
            <a:ext cx="3294617" cy="2841768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155" name="Picture 7"/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719" y="3619050"/>
            <a:ext cx="3059184" cy="2752611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</p:spTree>
    <p:extLst>
      <p:ext uri="{BB962C8B-B14F-4D97-AF65-F5344CB8AC3E}">
        <p14:creationId xmlns:p14="http://schemas.microsoft.com/office/powerpoint/2010/main" val="95367195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699234" y="364233"/>
            <a:ext cx="2031325" cy="646331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>
            <a:spAutoFit/>
          </a:bodyPr>
          <a:lstStyle/>
          <a:p>
            <a:r>
              <a:rPr lang="zh-CN" altLang="en-US" sz="3600" b="1" i="1" dirty="0">
                <a:solidFill>
                  <a:srgbClr val="0000FF"/>
                </a:solidFill>
                <a:latin typeface="Times New Roman" panose="02020603050405020304" pitchFamily="18" charset="0"/>
                <a:ea typeface="华文细黑" panose="02010600040101010101" pitchFamily="2" charset="-122"/>
                <a:cs typeface="Times New Roman" panose="02020603050405020304" pitchFamily="18" charset="0"/>
              </a:rPr>
              <a:t>本章目录</a:t>
            </a:r>
          </a:p>
        </p:txBody>
      </p:sp>
      <p:sp>
        <p:nvSpPr>
          <p:cNvPr id="8" name="矩形 7"/>
          <p:cNvSpPr/>
          <p:nvPr/>
        </p:nvSpPr>
        <p:spPr>
          <a:xfrm>
            <a:off x="5321031" y="1934125"/>
            <a:ext cx="4305569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en-US" altLang="zh-CN" sz="24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6.1 </a:t>
            </a:r>
            <a:r>
              <a:rPr lang="zh-CN" altLang="en-US" sz="24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视图</a:t>
            </a:r>
            <a:endParaRPr lang="en-US" altLang="zh-CN" sz="240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</a:endParaRP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en-US" altLang="zh-CN" sz="24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6.2 </a:t>
            </a:r>
            <a:r>
              <a:rPr lang="zh-CN" altLang="en-US" sz="24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剖视图</a:t>
            </a:r>
            <a:endParaRPr lang="en-US" altLang="zh-CN" sz="240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</a:endParaRP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en-US" altLang="zh-CN" sz="24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6.3 </a:t>
            </a:r>
            <a:r>
              <a:rPr lang="zh-CN" altLang="en-US" sz="2400" dirty="0">
                <a:solidFill>
                  <a:schemeClr val="tx1">
                    <a:lumMod val="95000"/>
                    <a:lumOff val="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断面图</a:t>
            </a:r>
            <a:endParaRPr lang="en-US" altLang="zh-CN" sz="24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en-US" altLang="zh-CN" sz="24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6.4 </a:t>
            </a:r>
            <a:r>
              <a:rPr lang="zh-CN" altLang="en-US" sz="24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表达方法综合举例</a:t>
            </a: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u"/>
            </a:pPr>
            <a:endParaRPr lang="zh-CN" altLang="zh-CN" sz="2400" dirty="0">
              <a:solidFill>
                <a:schemeClr val="tx1">
                  <a:lumMod val="95000"/>
                  <a:lumOff val="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9771439" y="1429072"/>
            <a:ext cx="193835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400" b="1" i="1" dirty="0">
                <a:solidFill>
                  <a:srgbClr val="FF66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Catalogues</a:t>
            </a:r>
            <a:endParaRPr lang="zh-CN" altLang="en-US" sz="2400" b="1" i="1" dirty="0">
              <a:solidFill>
                <a:srgbClr val="FF6666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1003299" y="5141176"/>
            <a:ext cx="10610357" cy="12311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zh-CN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生产实践中</a:t>
            </a: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的</a:t>
            </a:r>
            <a:r>
              <a:rPr lang="zh-CN" altLang="zh-CN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机件形状多种多样，有的机件内形和外形都比较复杂，仅采用三视图不可能完整、清晰地表达出来</a:t>
            </a: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。</a:t>
            </a:r>
            <a:endParaRPr lang="en-US" altLang="zh-CN" sz="20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zh-CN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本章主要介绍国家标准《技术制图》中规定了绘制机件图样的各种方法</a:t>
            </a: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。</a:t>
            </a:r>
            <a:endParaRPr lang="zh-CN" altLang="zh-CN" sz="20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endParaRPr lang="zh-CN" altLang="en-US" sz="1400" dirty="0">
              <a:solidFill>
                <a:schemeClr val="bg1">
                  <a:lumMod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cxnSp>
        <p:nvCxnSpPr>
          <p:cNvPr id="3" name="直接连接符 2"/>
          <p:cNvCxnSpPr/>
          <p:nvPr/>
        </p:nvCxnSpPr>
        <p:spPr>
          <a:xfrm rot="16200000" flipH="1">
            <a:off x="10754836" y="2785005"/>
            <a:ext cx="1602244" cy="2083"/>
          </a:xfrm>
          <a:prstGeom prst="line">
            <a:avLst/>
          </a:prstGeom>
          <a:ln>
            <a:solidFill>
              <a:srgbClr val="FF6666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/>
        </p:nvCxnSpPr>
        <p:spPr>
          <a:xfrm>
            <a:off x="5447189" y="1679508"/>
            <a:ext cx="4284000" cy="0"/>
          </a:xfrm>
          <a:prstGeom prst="line">
            <a:avLst/>
          </a:prstGeom>
          <a:ln>
            <a:solidFill>
              <a:srgbClr val="FF66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Picture 13"/>
          <p:cNvPicPr>
            <a:picLocks noChangeAspect="1" noChangeArrowheads="1"/>
          </p:cNvPicPr>
          <p:nvPr/>
        </p:nvPicPr>
        <p:blipFill>
          <a:blip r:embed="rId2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0671" t="26193" r="32813" b="14757"/>
          <a:stretch>
            <a:fillRect/>
          </a:stretch>
        </p:blipFill>
        <p:spPr bwMode="auto">
          <a:xfrm>
            <a:off x="1778312" y="1679508"/>
            <a:ext cx="3059723" cy="2989998"/>
          </a:xfrm>
          <a:prstGeom prst="snip2Diag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88900" algn="tl" rotWithShape="0">
              <a:srgbClr val="000000">
                <a:alpha val="45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</p:spTree>
    <p:extLst>
      <p:ext uri="{BB962C8B-B14F-4D97-AF65-F5344CB8AC3E}">
        <p14:creationId xmlns:p14="http://schemas.microsoft.com/office/powerpoint/2010/main" val="34442943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7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7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38547" y="1735139"/>
            <a:ext cx="2962275" cy="2665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矩形 6"/>
          <p:cNvSpPr/>
          <p:nvPr/>
        </p:nvSpPr>
        <p:spPr>
          <a:xfrm>
            <a:off x="699234" y="364233"/>
            <a:ext cx="1800493" cy="646331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>
            <a:spAutoFit/>
          </a:bodyPr>
          <a:lstStyle/>
          <a:p>
            <a:r>
              <a:rPr lang="en-US" altLang="zh-CN" sz="3600" b="1" i="1" dirty="0">
                <a:solidFill>
                  <a:srgbClr val="0066CC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6.1.</a:t>
            </a:r>
            <a:r>
              <a:rPr lang="zh-CN" altLang="en-US" sz="3600" b="1" i="1" dirty="0">
                <a:solidFill>
                  <a:srgbClr val="0066CC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视图</a:t>
            </a:r>
            <a:endParaRPr lang="en-US" altLang="zh-CN" sz="3600" b="1" i="1" dirty="0">
              <a:solidFill>
                <a:srgbClr val="0066CC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微软雅黑" panose="020B0503020204020204" pitchFamily="34" charset="-122"/>
            </a:endParaRPr>
          </a:p>
        </p:txBody>
      </p:sp>
      <p:sp>
        <p:nvSpPr>
          <p:cNvPr id="8" name="Text Box 6"/>
          <p:cNvSpPr txBox="1">
            <a:spLocks noChangeArrowheads="1"/>
          </p:cNvSpPr>
          <p:nvPr/>
        </p:nvSpPr>
        <p:spPr bwMode="auto">
          <a:xfrm>
            <a:off x="3287713" y="981076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zh-CN" altLang="zh-CN" sz="1800"/>
          </a:p>
        </p:txBody>
      </p:sp>
      <p:sp>
        <p:nvSpPr>
          <p:cNvPr id="10" name="AutoShape 13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4528849" y="1087439"/>
            <a:ext cx="2110942" cy="6477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1">
                  <a:gsLst>
                    <a:gs pos="0">
                      <a:srgbClr val="996633">
                        <a:alpha val="29999"/>
                      </a:srgbClr>
                    </a:gs>
                    <a:gs pos="100000">
                      <a:srgbClr val="FFFF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基本内容</a:t>
            </a:r>
          </a:p>
        </p:txBody>
      </p:sp>
      <p:sp>
        <p:nvSpPr>
          <p:cNvPr id="11" name="AutoShape 14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2531774" y="3254864"/>
            <a:ext cx="4465637" cy="647700"/>
          </a:xfrm>
          <a:prstGeom prst="actionButtonBlank">
            <a:avLst/>
          </a:prstGeom>
          <a:gradFill rotWithShape="1">
            <a:gsLst>
              <a:gs pos="0">
                <a:srgbClr val="996633">
                  <a:alpha val="29999"/>
                </a:srgb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华文细黑" panose="02010600040101010101" pitchFamily="2" charset="-122"/>
                <a:ea typeface="华文细黑" panose="02010600040101010101" pitchFamily="2" charset="-122"/>
              </a:rPr>
              <a:t>二、向视</a:t>
            </a:r>
            <a:r>
              <a:rPr kumimoji="1" lang="zh-CN" altLang="zh-CN" sz="2800" b="1">
                <a:latin typeface="华文细黑" panose="02010600040101010101" pitchFamily="2" charset="-122"/>
                <a:ea typeface="华文细黑" panose="02010600040101010101" pitchFamily="2" charset="-122"/>
              </a:rPr>
              <a:t>图</a:t>
            </a:r>
            <a:endParaRPr kumimoji="1" lang="zh-CN" altLang="en-US" sz="2800" b="1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2" name="AutoShape 15">
            <a:hlinkClick r:id="rId3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2934999" y="4161326"/>
            <a:ext cx="4465637" cy="647700"/>
          </a:xfrm>
          <a:prstGeom prst="actionButtonBlank">
            <a:avLst/>
          </a:prstGeom>
          <a:gradFill rotWithShape="1">
            <a:gsLst>
              <a:gs pos="0">
                <a:srgbClr val="996633">
                  <a:alpha val="29999"/>
                </a:srgb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华文细黑" panose="02010600040101010101" pitchFamily="2" charset="-122"/>
                <a:ea typeface="华文细黑" panose="02010600040101010101" pitchFamily="2" charset="-122"/>
              </a:rPr>
              <a:t>三、</a:t>
            </a:r>
            <a:r>
              <a:rPr kumimoji="1" lang="zh-CN" altLang="zh-CN" sz="2800" b="1">
                <a:latin typeface="华文细黑" panose="02010600040101010101" pitchFamily="2" charset="-122"/>
                <a:ea typeface="华文细黑" panose="02010600040101010101" pitchFamily="2" charset="-122"/>
              </a:rPr>
              <a:t>局部</a:t>
            </a:r>
            <a:r>
              <a:rPr kumimoji="1" lang="zh-CN" altLang="en-US" sz="2800" b="1">
                <a:latin typeface="华文细黑" panose="02010600040101010101" pitchFamily="2" charset="-122"/>
                <a:ea typeface="华文细黑" panose="02010600040101010101" pitchFamily="2" charset="-122"/>
              </a:rPr>
              <a:t>视</a:t>
            </a:r>
            <a:r>
              <a:rPr kumimoji="1" lang="zh-CN" altLang="zh-CN" sz="2800" b="1">
                <a:latin typeface="华文细黑" panose="02010600040101010101" pitchFamily="2" charset="-122"/>
                <a:ea typeface="华文细黑" panose="02010600040101010101" pitchFamily="2" charset="-122"/>
              </a:rPr>
              <a:t>图</a:t>
            </a:r>
            <a:endParaRPr kumimoji="1" lang="zh-CN" altLang="en-US" sz="2800" b="1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" name="AutoShape 16">
            <a:hlinkClick r:id="rId4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3482685" y="5069376"/>
            <a:ext cx="4465638" cy="647700"/>
          </a:xfrm>
          <a:prstGeom prst="actionButtonBlank">
            <a:avLst/>
          </a:prstGeom>
          <a:gradFill rotWithShape="1">
            <a:gsLst>
              <a:gs pos="0">
                <a:srgbClr val="996633">
                  <a:alpha val="29999"/>
                </a:srgb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>
                <a:latin typeface="华文细黑" panose="02010600040101010101" pitchFamily="2" charset="-122"/>
                <a:ea typeface="华文细黑" panose="02010600040101010101" pitchFamily="2" charset="-122"/>
              </a:rPr>
              <a:t>四</a:t>
            </a:r>
            <a:r>
              <a:rPr kumimoji="1" lang="zh-CN" altLang="zh-CN" sz="2800" b="1">
                <a:latin typeface="华文细黑" panose="02010600040101010101" pitchFamily="2" charset="-122"/>
                <a:ea typeface="华文细黑" panose="02010600040101010101" pitchFamily="2" charset="-122"/>
              </a:rPr>
              <a:t>、斜视图</a:t>
            </a:r>
            <a:endParaRPr kumimoji="1" lang="zh-CN" altLang="en-US" sz="2800" b="1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4" name="AutoShape 17">
            <a:hlinkClick r:id="" action="ppaction://hlinkshowjump?jump=nextslide" highlightClick="1"/>
          </p:cNvPr>
          <p:cNvSpPr>
            <a:spLocks noChangeArrowheads="1"/>
          </p:cNvSpPr>
          <p:nvPr/>
        </p:nvSpPr>
        <p:spPr bwMode="auto">
          <a:xfrm>
            <a:off x="2042824" y="2332526"/>
            <a:ext cx="4465637" cy="647700"/>
          </a:xfrm>
          <a:prstGeom prst="actionButtonBlank">
            <a:avLst/>
          </a:prstGeom>
          <a:gradFill rotWithShape="1">
            <a:gsLst>
              <a:gs pos="0">
                <a:srgbClr val="996633">
                  <a:alpha val="29999"/>
                </a:srgb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一、基本视图</a:t>
            </a:r>
          </a:p>
        </p:txBody>
      </p:sp>
    </p:spTree>
    <p:extLst>
      <p:ext uri="{BB962C8B-B14F-4D97-AF65-F5344CB8AC3E}">
        <p14:creationId xmlns:p14="http://schemas.microsoft.com/office/powerpoint/2010/main" val="48466933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699234" y="364233"/>
            <a:ext cx="3090911" cy="646331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>
            <a:spAutoFit/>
          </a:bodyPr>
          <a:lstStyle/>
          <a:p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一、</a:t>
            </a:r>
            <a:r>
              <a:rPr lang="en-US" altLang="zh-CN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 </a:t>
            </a:r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基本</a:t>
            </a:r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视图</a:t>
            </a:r>
            <a:endParaRPr lang="en-US" altLang="zh-CN" sz="36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  <a:sym typeface="微软雅黑" panose="020B0503020204020204" pitchFamily="34" charset="-122"/>
            </a:endParaRPr>
          </a:p>
        </p:txBody>
      </p:sp>
      <p:sp>
        <p:nvSpPr>
          <p:cNvPr id="13" name="Text Box 3"/>
          <p:cNvSpPr txBox="1">
            <a:spLocks noChangeArrowheads="1"/>
          </p:cNvSpPr>
          <p:nvPr/>
        </p:nvSpPr>
        <p:spPr bwMode="auto">
          <a:xfrm>
            <a:off x="1782763" y="4976813"/>
            <a:ext cx="8686800" cy="1244600"/>
          </a:xfrm>
          <a:prstGeom prst="rect">
            <a:avLst/>
          </a:prstGeom>
          <a:solidFill>
            <a:srgbClr val="B9FDEB">
              <a:alpha val="52940"/>
            </a:srgbClr>
          </a:solidFill>
          <a:ln w="57150" cmpd="thickThin">
            <a:solidFill>
              <a:srgbClr val="FF99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indent="623888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0" hangingPunct="0">
              <a:spcBef>
                <a:spcPct val="50000"/>
              </a:spcBef>
            </a:pPr>
            <a:r>
              <a:rPr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物体</a:t>
            </a:r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向基本投影面投射所得的视图，称为</a:t>
            </a:r>
            <a:r>
              <a:rPr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基本视图</a:t>
            </a:r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。国家标准中规定</a:t>
            </a:r>
            <a:r>
              <a:rPr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正六面体</a:t>
            </a:r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的六个面为基本投影面。将机件放在六面体中，然后向各基本投影面进行投影，即得到</a:t>
            </a:r>
            <a:r>
              <a:rPr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六个基本视图</a:t>
            </a:r>
            <a:r>
              <a:rPr lang="zh-CN" altLang="en-US" dirty="0">
                <a:latin typeface="楷体_GB2312" pitchFamily="49" charset="-122"/>
                <a:ea typeface="楷体_GB2312" pitchFamily="49" charset="-122"/>
              </a:rPr>
              <a:t>。 </a:t>
            </a:r>
          </a:p>
        </p:txBody>
      </p:sp>
      <p:pic>
        <p:nvPicPr>
          <p:cNvPr id="14" name="Picture 4" descr="表达方法_六个基本视图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620" t="2289" r="2881" b="12315"/>
          <a:stretch>
            <a:fillRect/>
          </a:stretch>
        </p:blipFill>
        <p:spPr bwMode="auto">
          <a:xfrm>
            <a:off x="5968999" y="858425"/>
            <a:ext cx="3777673" cy="3808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9-1.avi">
            <a:hlinkClick r:id="" action="ppaction://ole?verb=1"/>
          </p:cNvPr>
          <p:cNvPicPr>
            <a:picLocks noRot="1" noChangeAspect="1" noChangeArrowheads="1"/>
          </p:cNvPicPr>
          <p:nvPr>
            <a:videoFile r:link="rId1"/>
          </p:nvPr>
        </p:nvPicPr>
        <p:blipFill>
          <a:blip r:embed="rId4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15" t="3868" r="6743" b="5029"/>
          <a:stretch>
            <a:fillRect/>
          </a:stretch>
        </p:blipFill>
        <p:spPr bwMode="auto">
          <a:xfrm>
            <a:off x="2214564" y="1612900"/>
            <a:ext cx="3444875" cy="299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814851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4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2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19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5"/>
                </p:tgtEl>
              </p:cMediaNode>
            </p:video>
          </p:childTnLst>
        </p:cTn>
      </p:par>
    </p:tnLst>
    <p:bldLst>
      <p:bldP spid="13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2529841" y="5666612"/>
            <a:ext cx="7334250" cy="769441"/>
          </a:xfrm>
          <a:prstGeom prst="rect">
            <a:avLst/>
          </a:prstGeom>
          <a:solidFill>
            <a:srgbClr val="B9FDEB">
              <a:alpha val="34901"/>
            </a:srgbClr>
          </a:solidFill>
          <a:ln w="57150" cmpd="thickThin">
            <a:solidFill>
              <a:srgbClr val="FF99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indent="536575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0" fontAlgn="ctr" hangingPunct="0">
              <a:lnSpc>
                <a:spcPct val="110000"/>
              </a:lnSpc>
              <a:spcBef>
                <a:spcPct val="50000"/>
              </a:spcBef>
            </a:pP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基本投影面的展开方法：</a:t>
            </a:r>
            <a:r>
              <a:rPr lang="zh-CN" altLang="en-US" sz="2000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正面</a:t>
            </a: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不动，其他各投影面按图中箭头所指方向转至</a:t>
            </a:r>
            <a:r>
              <a:rPr lang="zh-CN" altLang="en-US" sz="2000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与</a:t>
            </a:r>
            <a:r>
              <a:rPr lang="en-US" altLang="zh-CN" sz="2000" i="1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V</a:t>
            </a:r>
            <a:r>
              <a:rPr lang="zh-CN" altLang="en-US" sz="2000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面</a:t>
            </a: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共面位置。</a:t>
            </a:r>
          </a:p>
        </p:txBody>
      </p:sp>
      <p:sp>
        <p:nvSpPr>
          <p:cNvPr id="3" name="Rectangle 3"/>
          <p:cNvSpPr txBox="1">
            <a:spLocks noChangeArrowheads="1"/>
          </p:cNvSpPr>
          <p:nvPr/>
        </p:nvSpPr>
        <p:spPr>
          <a:xfrm>
            <a:off x="324426" y="220551"/>
            <a:ext cx="4507347" cy="5207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FontTx/>
              <a:buNone/>
              <a:defRPr sz="2800" b="1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defRPr>
            </a:lvl1pPr>
          </a:lstStyle>
          <a:p>
            <a:r>
              <a:rPr lang="en-US" altLang="zh-CN" dirty="0"/>
              <a:t>1.</a:t>
            </a:r>
            <a:r>
              <a:rPr lang="zh-CN" altLang="en-US" dirty="0"/>
              <a:t>基本投影面的展开方法</a:t>
            </a:r>
          </a:p>
        </p:txBody>
      </p:sp>
      <p:grpSp>
        <p:nvGrpSpPr>
          <p:cNvPr id="4" name="Group 4"/>
          <p:cNvGrpSpPr>
            <a:grpSpLocks noChangeAspect="1"/>
          </p:cNvGrpSpPr>
          <p:nvPr/>
        </p:nvGrpSpPr>
        <p:grpSpPr bwMode="auto">
          <a:xfrm>
            <a:off x="5354639" y="2874964"/>
            <a:ext cx="1411287" cy="923925"/>
            <a:chOff x="2182" y="1993"/>
            <a:chExt cx="1044" cy="683"/>
          </a:xfrm>
        </p:grpSpPr>
        <p:grpSp>
          <p:nvGrpSpPr>
            <p:cNvPr id="5" name="Group 5"/>
            <p:cNvGrpSpPr>
              <a:grpSpLocks noChangeAspect="1"/>
            </p:cNvGrpSpPr>
            <p:nvPr/>
          </p:nvGrpSpPr>
          <p:grpSpPr bwMode="auto">
            <a:xfrm>
              <a:off x="2182" y="1993"/>
              <a:ext cx="1044" cy="683"/>
              <a:chOff x="2452" y="2057"/>
              <a:chExt cx="635" cy="415"/>
            </a:xfrm>
          </p:grpSpPr>
          <p:sp>
            <p:nvSpPr>
              <p:cNvPr id="10" name="Freeform 6"/>
              <p:cNvSpPr>
                <a:spLocks noChangeAspect="1" noChangeArrowheads="1"/>
              </p:cNvSpPr>
              <p:nvPr/>
            </p:nvSpPr>
            <p:spPr bwMode="auto">
              <a:xfrm>
                <a:off x="2601" y="2471"/>
                <a:ext cx="485" cy="1"/>
              </a:xfrm>
              <a:custGeom>
                <a:avLst/>
                <a:gdLst>
                  <a:gd name="T0" fmla="*/ 0 w 3886"/>
                  <a:gd name="T1" fmla="*/ 0 h 1"/>
                  <a:gd name="T2" fmla="*/ 3885 w 3886"/>
                  <a:gd name="T3" fmla="*/ 0 h 1"/>
                  <a:gd name="T4" fmla="*/ 3886 w 3886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86" h="1">
                    <a:moveTo>
                      <a:pt x="0" y="0"/>
                    </a:moveTo>
                    <a:lnTo>
                      <a:pt x="3885" y="0"/>
                    </a:lnTo>
                    <a:lnTo>
                      <a:pt x="3886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" name="Freeform 7"/>
              <p:cNvSpPr>
                <a:spLocks noChangeAspect="1" noChangeArrowheads="1"/>
              </p:cNvSpPr>
              <p:nvPr/>
            </p:nvSpPr>
            <p:spPr bwMode="auto">
              <a:xfrm>
                <a:off x="2601" y="2366"/>
                <a:ext cx="485" cy="1"/>
              </a:xfrm>
              <a:custGeom>
                <a:avLst/>
                <a:gdLst>
                  <a:gd name="T0" fmla="*/ 0 w 3886"/>
                  <a:gd name="T1" fmla="*/ 0 h 1"/>
                  <a:gd name="T2" fmla="*/ 3885 w 3886"/>
                  <a:gd name="T3" fmla="*/ 0 h 1"/>
                  <a:gd name="T4" fmla="*/ 3886 w 3886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86" h="1">
                    <a:moveTo>
                      <a:pt x="0" y="0"/>
                    </a:moveTo>
                    <a:lnTo>
                      <a:pt x="3885" y="0"/>
                    </a:lnTo>
                    <a:lnTo>
                      <a:pt x="3886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" name="Freeform 8"/>
              <p:cNvSpPr>
                <a:spLocks noChangeAspect="1" noChangeArrowheads="1"/>
              </p:cNvSpPr>
              <p:nvPr/>
            </p:nvSpPr>
            <p:spPr bwMode="auto">
              <a:xfrm>
                <a:off x="2497" y="2262"/>
                <a:ext cx="485" cy="1"/>
              </a:xfrm>
              <a:custGeom>
                <a:avLst/>
                <a:gdLst>
                  <a:gd name="T0" fmla="*/ 0 w 3886"/>
                  <a:gd name="T1" fmla="*/ 0 h 1"/>
                  <a:gd name="T2" fmla="*/ 3885 w 3886"/>
                  <a:gd name="T3" fmla="*/ 0 h 1"/>
                  <a:gd name="T4" fmla="*/ 3886 w 3886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86" h="1">
                    <a:moveTo>
                      <a:pt x="0" y="0"/>
                    </a:moveTo>
                    <a:lnTo>
                      <a:pt x="3885" y="0"/>
                    </a:lnTo>
                    <a:lnTo>
                      <a:pt x="3886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" name="Freeform 9"/>
              <p:cNvSpPr>
                <a:spLocks noChangeAspect="1" noChangeArrowheads="1"/>
              </p:cNvSpPr>
              <p:nvPr/>
            </p:nvSpPr>
            <p:spPr bwMode="auto">
              <a:xfrm>
                <a:off x="2590" y="2284"/>
                <a:ext cx="127" cy="60"/>
              </a:xfrm>
              <a:custGeom>
                <a:avLst/>
                <a:gdLst>
                  <a:gd name="T0" fmla="*/ 0 w 1011"/>
                  <a:gd name="T1" fmla="*/ 146 h 481"/>
                  <a:gd name="T2" fmla="*/ 1 w 1011"/>
                  <a:gd name="T3" fmla="*/ 190 h 481"/>
                  <a:gd name="T4" fmla="*/ 21 w 1011"/>
                  <a:gd name="T5" fmla="*/ 235 h 481"/>
                  <a:gd name="T6" fmla="*/ 57 w 1011"/>
                  <a:gd name="T7" fmla="*/ 281 h 481"/>
                  <a:gd name="T8" fmla="*/ 111 w 1011"/>
                  <a:gd name="T9" fmla="*/ 325 h 481"/>
                  <a:gd name="T10" fmla="*/ 178 w 1011"/>
                  <a:gd name="T11" fmla="*/ 367 h 481"/>
                  <a:gd name="T12" fmla="*/ 257 w 1011"/>
                  <a:gd name="T13" fmla="*/ 404 h 481"/>
                  <a:gd name="T14" fmla="*/ 346 w 1011"/>
                  <a:gd name="T15" fmla="*/ 434 h 481"/>
                  <a:gd name="T16" fmla="*/ 439 w 1011"/>
                  <a:gd name="T17" fmla="*/ 458 h 481"/>
                  <a:gd name="T18" fmla="*/ 536 w 1011"/>
                  <a:gd name="T19" fmla="*/ 474 h 481"/>
                  <a:gd name="T20" fmla="*/ 631 w 1011"/>
                  <a:gd name="T21" fmla="*/ 481 h 481"/>
                  <a:gd name="T22" fmla="*/ 720 w 1011"/>
                  <a:gd name="T23" fmla="*/ 480 h 481"/>
                  <a:gd name="T24" fmla="*/ 803 w 1011"/>
                  <a:gd name="T25" fmla="*/ 471 h 481"/>
                  <a:gd name="T26" fmla="*/ 876 w 1011"/>
                  <a:gd name="T27" fmla="*/ 453 h 481"/>
                  <a:gd name="T28" fmla="*/ 934 w 1011"/>
                  <a:gd name="T29" fmla="*/ 427 h 481"/>
                  <a:gd name="T30" fmla="*/ 977 w 1011"/>
                  <a:gd name="T31" fmla="*/ 395 h 481"/>
                  <a:gd name="T32" fmla="*/ 1003 w 1011"/>
                  <a:gd name="T33" fmla="*/ 357 h 481"/>
                  <a:gd name="T34" fmla="*/ 1011 w 1011"/>
                  <a:gd name="T35" fmla="*/ 315 h 481"/>
                  <a:gd name="T36" fmla="*/ 1000 w 1011"/>
                  <a:gd name="T37" fmla="*/ 270 h 481"/>
                  <a:gd name="T38" fmla="*/ 972 w 1011"/>
                  <a:gd name="T39" fmla="*/ 225 h 481"/>
                  <a:gd name="T40" fmla="*/ 927 w 1011"/>
                  <a:gd name="T41" fmla="*/ 179 h 481"/>
                  <a:gd name="T42" fmla="*/ 867 w 1011"/>
                  <a:gd name="T43" fmla="*/ 136 h 481"/>
                  <a:gd name="T44" fmla="*/ 793 w 1011"/>
                  <a:gd name="T45" fmla="*/ 97 h 481"/>
                  <a:gd name="T46" fmla="*/ 709 w 1011"/>
                  <a:gd name="T47" fmla="*/ 64 h 481"/>
                  <a:gd name="T48" fmla="*/ 617 w 1011"/>
                  <a:gd name="T49" fmla="*/ 36 h 481"/>
                  <a:gd name="T50" fmla="*/ 522 w 1011"/>
                  <a:gd name="T51" fmla="*/ 16 h 481"/>
                  <a:gd name="T52" fmla="*/ 426 w 1011"/>
                  <a:gd name="T53" fmla="*/ 4 h 481"/>
                  <a:gd name="T54" fmla="*/ 333 w 1011"/>
                  <a:gd name="T55" fmla="*/ 0 h 481"/>
                  <a:gd name="T56" fmla="*/ 245 w 1011"/>
                  <a:gd name="T57" fmla="*/ 6 h 481"/>
                  <a:gd name="T58" fmla="*/ 168 w 1011"/>
                  <a:gd name="T59" fmla="*/ 20 h 481"/>
                  <a:gd name="T60" fmla="*/ 102 w 1011"/>
                  <a:gd name="T61" fmla="*/ 42 h 481"/>
                  <a:gd name="T62" fmla="*/ 51 w 1011"/>
                  <a:gd name="T63" fmla="*/ 71 h 481"/>
                  <a:gd name="T64" fmla="*/ 17 w 1011"/>
                  <a:gd name="T65" fmla="*/ 106 h 481"/>
                  <a:gd name="T66" fmla="*/ 0 w 1011"/>
                  <a:gd name="T67" fmla="*/ 146 h 481"/>
                  <a:gd name="T68" fmla="*/ 1 w 1011"/>
                  <a:gd name="T69" fmla="*/ 146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11" h="481">
                    <a:moveTo>
                      <a:pt x="0" y="146"/>
                    </a:moveTo>
                    <a:lnTo>
                      <a:pt x="1" y="190"/>
                    </a:lnTo>
                    <a:lnTo>
                      <a:pt x="21" y="235"/>
                    </a:lnTo>
                    <a:lnTo>
                      <a:pt x="57" y="281"/>
                    </a:lnTo>
                    <a:lnTo>
                      <a:pt x="111" y="325"/>
                    </a:lnTo>
                    <a:lnTo>
                      <a:pt x="178" y="367"/>
                    </a:lnTo>
                    <a:lnTo>
                      <a:pt x="257" y="404"/>
                    </a:lnTo>
                    <a:lnTo>
                      <a:pt x="346" y="434"/>
                    </a:lnTo>
                    <a:lnTo>
                      <a:pt x="439" y="458"/>
                    </a:lnTo>
                    <a:lnTo>
                      <a:pt x="536" y="474"/>
                    </a:lnTo>
                    <a:lnTo>
                      <a:pt x="631" y="481"/>
                    </a:lnTo>
                    <a:lnTo>
                      <a:pt x="720" y="480"/>
                    </a:lnTo>
                    <a:lnTo>
                      <a:pt x="803" y="471"/>
                    </a:lnTo>
                    <a:lnTo>
                      <a:pt x="876" y="453"/>
                    </a:lnTo>
                    <a:lnTo>
                      <a:pt x="934" y="427"/>
                    </a:lnTo>
                    <a:lnTo>
                      <a:pt x="977" y="395"/>
                    </a:lnTo>
                    <a:lnTo>
                      <a:pt x="1003" y="357"/>
                    </a:lnTo>
                    <a:lnTo>
                      <a:pt x="1011" y="315"/>
                    </a:lnTo>
                    <a:lnTo>
                      <a:pt x="1000" y="270"/>
                    </a:lnTo>
                    <a:lnTo>
                      <a:pt x="972" y="225"/>
                    </a:lnTo>
                    <a:lnTo>
                      <a:pt x="927" y="179"/>
                    </a:lnTo>
                    <a:lnTo>
                      <a:pt x="867" y="136"/>
                    </a:lnTo>
                    <a:lnTo>
                      <a:pt x="793" y="97"/>
                    </a:lnTo>
                    <a:lnTo>
                      <a:pt x="709" y="64"/>
                    </a:lnTo>
                    <a:lnTo>
                      <a:pt x="617" y="36"/>
                    </a:lnTo>
                    <a:lnTo>
                      <a:pt x="522" y="16"/>
                    </a:lnTo>
                    <a:lnTo>
                      <a:pt x="426" y="4"/>
                    </a:lnTo>
                    <a:lnTo>
                      <a:pt x="333" y="0"/>
                    </a:lnTo>
                    <a:lnTo>
                      <a:pt x="245" y="6"/>
                    </a:lnTo>
                    <a:lnTo>
                      <a:pt x="168" y="20"/>
                    </a:lnTo>
                    <a:lnTo>
                      <a:pt x="102" y="42"/>
                    </a:lnTo>
                    <a:lnTo>
                      <a:pt x="51" y="71"/>
                    </a:lnTo>
                    <a:lnTo>
                      <a:pt x="17" y="106"/>
                    </a:lnTo>
                    <a:lnTo>
                      <a:pt x="0" y="146"/>
                    </a:lnTo>
                    <a:lnTo>
                      <a:pt x="1" y="146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" name="Freeform 10"/>
              <p:cNvSpPr>
                <a:spLocks noChangeAspect="1" noChangeArrowheads="1"/>
              </p:cNvSpPr>
              <p:nvPr/>
            </p:nvSpPr>
            <p:spPr bwMode="auto">
              <a:xfrm>
                <a:off x="2452" y="2152"/>
                <a:ext cx="1" cy="175"/>
              </a:xfrm>
              <a:custGeom>
                <a:avLst/>
                <a:gdLst>
                  <a:gd name="T0" fmla="*/ 0 w 1"/>
                  <a:gd name="T1" fmla="*/ 0 h 1402"/>
                  <a:gd name="T2" fmla="*/ 0 w 1"/>
                  <a:gd name="T3" fmla="*/ 1402 h 1402"/>
                  <a:gd name="T4" fmla="*/ 1 w 1"/>
                  <a:gd name="T5" fmla="*/ 1402 h 1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402">
                    <a:moveTo>
                      <a:pt x="0" y="0"/>
                    </a:moveTo>
                    <a:lnTo>
                      <a:pt x="0" y="1402"/>
                    </a:lnTo>
                    <a:lnTo>
                      <a:pt x="1" y="1402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" name="Freeform 11"/>
              <p:cNvSpPr>
                <a:spLocks noChangeAspect="1" noChangeArrowheads="1"/>
              </p:cNvSpPr>
              <p:nvPr/>
            </p:nvSpPr>
            <p:spPr bwMode="auto">
              <a:xfrm>
                <a:off x="2497" y="2196"/>
                <a:ext cx="1" cy="66"/>
              </a:xfrm>
              <a:custGeom>
                <a:avLst/>
                <a:gdLst>
                  <a:gd name="T0" fmla="*/ 0 w 1"/>
                  <a:gd name="T1" fmla="*/ 529 h 529"/>
                  <a:gd name="T2" fmla="*/ 0 w 1"/>
                  <a:gd name="T3" fmla="*/ 0 h 529"/>
                  <a:gd name="T4" fmla="*/ 1 w 1"/>
                  <a:gd name="T5" fmla="*/ 0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29">
                    <a:moveTo>
                      <a:pt x="0" y="52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" name="Freeform 12"/>
              <p:cNvSpPr>
                <a:spLocks noChangeAspect="1" noChangeArrowheads="1"/>
              </p:cNvSpPr>
              <p:nvPr/>
            </p:nvSpPr>
            <p:spPr bwMode="auto">
              <a:xfrm>
                <a:off x="2601" y="2366"/>
                <a:ext cx="1" cy="105"/>
              </a:xfrm>
              <a:custGeom>
                <a:avLst/>
                <a:gdLst>
                  <a:gd name="T0" fmla="*/ 0 w 1"/>
                  <a:gd name="T1" fmla="*/ 832 h 832"/>
                  <a:gd name="T2" fmla="*/ 0 w 1"/>
                  <a:gd name="T3" fmla="*/ 0 h 832"/>
                  <a:gd name="T4" fmla="*/ 1 w 1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832">
                    <a:moveTo>
                      <a:pt x="0" y="83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497" y="2262"/>
                <a:ext cx="104" cy="104"/>
              </a:xfrm>
              <a:custGeom>
                <a:avLst/>
                <a:gdLst>
                  <a:gd name="T0" fmla="*/ 833 w 833"/>
                  <a:gd name="T1" fmla="*/ 832 h 832"/>
                  <a:gd name="T2" fmla="*/ 0 w 833"/>
                  <a:gd name="T3" fmla="*/ 0 h 832"/>
                  <a:gd name="T4" fmla="*/ 1 w 833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3" h="832">
                    <a:moveTo>
                      <a:pt x="833" y="83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" name="Freeform 14"/>
              <p:cNvSpPr>
                <a:spLocks noChangeAspect="1" noChangeArrowheads="1"/>
              </p:cNvSpPr>
              <p:nvPr/>
            </p:nvSpPr>
            <p:spPr bwMode="auto">
              <a:xfrm>
                <a:off x="2452" y="2327"/>
                <a:ext cx="149" cy="144"/>
              </a:xfrm>
              <a:custGeom>
                <a:avLst/>
                <a:gdLst>
                  <a:gd name="T0" fmla="*/ 1190 w 1190"/>
                  <a:gd name="T1" fmla="*/ 1150 h 1150"/>
                  <a:gd name="T2" fmla="*/ 0 w 1190"/>
                  <a:gd name="T3" fmla="*/ 0 h 1150"/>
                  <a:gd name="T4" fmla="*/ 1 w 1190"/>
                  <a:gd name="T5" fmla="*/ 0 h 1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90" h="1150">
                    <a:moveTo>
                      <a:pt x="1190" y="115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" name="Freeform 15"/>
              <p:cNvSpPr>
                <a:spLocks noChangeAspect="1" noChangeArrowheads="1"/>
              </p:cNvSpPr>
              <p:nvPr/>
            </p:nvSpPr>
            <p:spPr bwMode="auto">
              <a:xfrm>
                <a:off x="2452" y="2152"/>
                <a:ext cx="45" cy="44"/>
              </a:xfrm>
              <a:custGeom>
                <a:avLst/>
                <a:gdLst>
                  <a:gd name="T0" fmla="*/ 357 w 357"/>
                  <a:gd name="T1" fmla="*/ 359 h 359"/>
                  <a:gd name="T2" fmla="*/ 0 w 357"/>
                  <a:gd name="T3" fmla="*/ 0 h 359"/>
                  <a:gd name="T4" fmla="*/ 1 w 357"/>
                  <a:gd name="T5" fmla="*/ 0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7" h="359">
                    <a:moveTo>
                      <a:pt x="357" y="35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" name="Freeform 16"/>
              <p:cNvSpPr>
                <a:spLocks noChangeAspect="1" noChangeArrowheads="1"/>
              </p:cNvSpPr>
              <p:nvPr/>
            </p:nvSpPr>
            <p:spPr bwMode="auto">
              <a:xfrm>
                <a:off x="3086" y="2366"/>
                <a:ext cx="1" cy="105"/>
              </a:xfrm>
              <a:custGeom>
                <a:avLst/>
                <a:gdLst>
                  <a:gd name="T0" fmla="*/ 0 w 1"/>
                  <a:gd name="T1" fmla="*/ 832 h 832"/>
                  <a:gd name="T2" fmla="*/ 0 w 1"/>
                  <a:gd name="T3" fmla="*/ 0 h 832"/>
                  <a:gd name="T4" fmla="*/ 1 w 1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832">
                    <a:moveTo>
                      <a:pt x="0" y="83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" name="Freeform 17"/>
              <p:cNvSpPr>
                <a:spLocks noChangeAspect="1" noChangeArrowheads="1"/>
              </p:cNvSpPr>
              <p:nvPr/>
            </p:nvSpPr>
            <p:spPr bwMode="auto">
              <a:xfrm>
                <a:off x="2982" y="2262"/>
                <a:ext cx="104" cy="104"/>
              </a:xfrm>
              <a:custGeom>
                <a:avLst/>
                <a:gdLst>
                  <a:gd name="T0" fmla="*/ 833 w 833"/>
                  <a:gd name="T1" fmla="*/ 832 h 832"/>
                  <a:gd name="T2" fmla="*/ 0 w 833"/>
                  <a:gd name="T3" fmla="*/ 0 h 832"/>
                  <a:gd name="T4" fmla="*/ 1 w 833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3" h="832">
                    <a:moveTo>
                      <a:pt x="833" y="83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" name="Freeform 18"/>
              <p:cNvSpPr>
                <a:spLocks noChangeAspect="1" noChangeArrowheads="1"/>
              </p:cNvSpPr>
              <p:nvPr/>
            </p:nvSpPr>
            <p:spPr bwMode="auto">
              <a:xfrm>
                <a:off x="2982" y="2101"/>
                <a:ext cx="1" cy="161"/>
              </a:xfrm>
              <a:custGeom>
                <a:avLst/>
                <a:gdLst>
                  <a:gd name="T0" fmla="*/ 0 w 1"/>
                  <a:gd name="T1" fmla="*/ 1290 h 1290"/>
                  <a:gd name="T2" fmla="*/ 0 w 1"/>
                  <a:gd name="T3" fmla="*/ 0 h 1290"/>
                  <a:gd name="T4" fmla="*/ 1 w 1"/>
                  <a:gd name="T5" fmla="*/ 0 h 1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290">
                    <a:moveTo>
                      <a:pt x="0" y="129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" name="Freeform 19"/>
              <p:cNvSpPr>
                <a:spLocks noChangeAspect="1" noChangeArrowheads="1"/>
              </p:cNvSpPr>
              <p:nvPr/>
            </p:nvSpPr>
            <p:spPr bwMode="auto">
              <a:xfrm>
                <a:off x="2778" y="2101"/>
                <a:ext cx="204" cy="1"/>
              </a:xfrm>
              <a:custGeom>
                <a:avLst/>
                <a:gdLst>
                  <a:gd name="T0" fmla="*/ 1632 w 1632"/>
                  <a:gd name="T1" fmla="*/ 0 h 1"/>
                  <a:gd name="T2" fmla="*/ 0 w 1632"/>
                  <a:gd name="T3" fmla="*/ 0 h 1"/>
                  <a:gd name="T4" fmla="*/ 1 w 163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32" h="1">
                    <a:moveTo>
                      <a:pt x="163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" name="Freeform 20"/>
              <p:cNvSpPr>
                <a:spLocks noChangeAspect="1" noChangeArrowheads="1"/>
              </p:cNvSpPr>
              <p:nvPr/>
            </p:nvSpPr>
            <p:spPr bwMode="auto">
              <a:xfrm>
                <a:off x="2497" y="2101"/>
                <a:ext cx="281" cy="95"/>
              </a:xfrm>
              <a:custGeom>
                <a:avLst/>
                <a:gdLst>
                  <a:gd name="T0" fmla="*/ 2253 w 2253"/>
                  <a:gd name="T1" fmla="*/ 0 h 761"/>
                  <a:gd name="T2" fmla="*/ 0 w 2253"/>
                  <a:gd name="T3" fmla="*/ 761 h 761"/>
                  <a:gd name="T4" fmla="*/ 1 w 2253"/>
                  <a:gd name="T5" fmla="*/ 761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53" h="761">
                    <a:moveTo>
                      <a:pt x="2253" y="0"/>
                    </a:moveTo>
                    <a:lnTo>
                      <a:pt x="0" y="761"/>
                    </a:lnTo>
                    <a:lnTo>
                      <a:pt x="1" y="761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" name="Freeform 21"/>
              <p:cNvSpPr>
                <a:spLocks noChangeAspect="1" noChangeArrowheads="1"/>
              </p:cNvSpPr>
              <p:nvPr/>
            </p:nvSpPr>
            <p:spPr bwMode="auto">
              <a:xfrm>
                <a:off x="2929" y="2057"/>
                <a:ext cx="53" cy="44"/>
              </a:xfrm>
              <a:custGeom>
                <a:avLst/>
                <a:gdLst>
                  <a:gd name="T0" fmla="*/ 425 w 425"/>
                  <a:gd name="T1" fmla="*/ 358 h 358"/>
                  <a:gd name="T2" fmla="*/ 0 w 425"/>
                  <a:gd name="T3" fmla="*/ 0 h 358"/>
                  <a:gd name="T4" fmla="*/ 1 w 425"/>
                  <a:gd name="T5" fmla="*/ 0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5" h="358">
                    <a:moveTo>
                      <a:pt x="425" y="358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" name="Freeform 22"/>
              <p:cNvSpPr>
                <a:spLocks noChangeAspect="1" noChangeArrowheads="1"/>
              </p:cNvSpPr>
              <p:nvPr/>
            </p:nvSpPr>
            <p:spPr bwMode="auto">
              <a:xfrm>
                <a:off x="2733" y="2057"/>
                <a:ext cx="45" cy="44"/>
              </a:xfrm>
              <a:custGeom>
                <a:avLst/>
                <a:gdLst>
                  <a:gd name="T0" fmla="*/ 358 w 358"/>
                  <a:gd name="T1" fmla="*/ 358 h 358"/>
                  <a:gd name="T2" fmla="*/ 0 w 358"/>
                  <a:gd name="T3" fmla="*/ 0 h 358"/>
                  <a:gd name="T4" fmla="*/ 1 w 358"/>
                  <a:gd name="T5" fmla="*/ 0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8" h="358">
                    <a:moveTo>
                      <a:pt x="358" y="358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" name="Freeform 23"/>
              <p:cNvSpPr>
                <a:spLocks noChangeAspect="1" noChangeArrowheads="1"/>
              </p:cNvSpPr>
              <p:nvPr/>
            </p:nvSpPr>
            <p:spPr bwMode="auto">
              <a:xfrm>
                <a:off x="2452" y="2057"/>
                <a:ext cx="282" cy="95"/>
              </a:xfrm>
              <a:custGeom>
                <a:avLst/>
                <a:gdLst>
                  <a:gd name="T0" fmla="*/ 0 w 2253"/>
                  <a:gd name="T1" fmla="*/ 760 h 760"/>
                  <a:gd name="T2" fmla="*/ 2252 w 2253"/>
                  <a:gd name="T3" fmla="*/ 0 h 760"/>
                  <a:gd name="T4" fmla="*/ 2253 w 2253"/>
                  <a:gd name="T5" fmla="*/ 0 h 7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53" h="760">
                    <a:moveTo>
                      <a:pt x="0" y="760"/>
                    </a:moveTo>
                    <a:lnTo>
                      <a:pt x="2252" y="0"/>
                    </a:lnTo>
                    <a:lnTo>
                      <a:pt x="2253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" name="Freeform 24"/>
              <p:cNvSpPr>
                <a:spLocks noChangeAspect="1" noChangeArrowheads="1"/>
              </p:cNvSpPr>
              <p:nvPr/>
            </p:nvSpPr>
            <p:spPr bwMode="auto">
              <a:xfrm>
                <a:off x="2733" y="2057"/>
                <a:ext cx="196" cy="1"/>
              </a:xfrm>
              <a:custGeom>
                <a:avLst/>
                <a:gdLst>
                  <a:gd name="T0" fmla="*/ 0 w 1566"/>
                  <a:gd name="T1" fmla="*/ 0 h 1"/>
                  <a:gd name="T2" fmla="*/ 1565 w 1566"/>
                  <a:gd name="T3" fmla="*/ 0 h 1"/>
                  <a:gd name="T4" fmla="*/ 1566 w 1566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66" h="1">
                    <a:moveTo>
                      <a:pt x="0" y="0"/>
                    </a:moveTo>
                    <a:lnTo>
                      <a:pt x="1565" y="0"/>
                    </a:lnTo>
                    <a:lnTo>
                      <a:pt x="1566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" name="Freeform 25"/>
              <p:cNvSpPr>
                <a:spLocks noChangeAspect="1" noChangeArrowheads="1"/>
              </p:cNvSpPr>
              <p:nvPr/>
            </p:nvSpPr>
            <p:spPr bwMode="auto">
              <a:xfrm>
                <a:off x="2872" y="2279"/>
                <a:ext cx="126" cy="60"/>
              </a:xfrm>
              <a:custGeom>
                <a:avLst/>
                <a:gdLst>
                  <a:gd name="T0" fmla="*/ 0 w 1011"/>
                  <a:gd name="T1" fmla="*/ 145 h 481"/>
                  <a:gd name="T2" fmla="*/ 1 w 1011"/>
                  <a:gd name="T3" fmla="*/ 189 h 481"/>
                  <a:gd name="T4" fmla="*/ 20 w 1011"/>
                  <a:gd name="T5" fmla="*/ 235 h 481"/>
                  <a:gd name="T6" fmla="*/ 57 w 1011"/>
                  <a:gd name="T7" fmla="*/ 280 h 481"/>
                  <a:gd name="T8" fmla="*/ 110 w 1011"/>
                  <a:gd name="T9" fmla="*/ 325 h 481"/>
                  <a:gd name="T10" fmla="*/ 177 w 1011"/>
                  <a:gd name="T11" fmla="*/ 366 h 481"/>
                  <a:gd name="T12" fmla="*/ 257 w 1011"/>
                  <a:gd name="T13" fmla="*/ 403 h 481"/>
                  <a:gd name="T14" fmla="*/ 345 w 1011"/>
                  <a:gd name="T15" fmla="*/ 433 h 481"/>
                  <a:gd name="T16" fmla="*/ 439 w 1011"/>
                  <a:gd name="T17" fmla="*/ 457 h 481"/>
                  <a:gd name="T18" fmla="*/ 535 w 1011"/>
                  <a:gd name="T19" fmla="*/ 473 h 481"/>
                  <a:gd name="T20" fmla="*/ 630 w 1011"/>
                  <a:gd name="T21" fmla="*/ 481 h 481"/>
                  <a:gd name="T22" fmla="*/ 721 w 1011"/>
                  <a:gd name="T23" fmla="*/ 480 h 481"/>
                  <a:gd name="T24" fmla="*/ 804 w 1011"/>
                  <a:gd name="T25" fmla="*/ 470 h 481"/>
                  <a:gd name="T26" fmla="*/ 875 w 1011"/>
                  <a:gd name="T27" fmla="*/ 453 h 481"/>
                  <a:gd name="T28" fmla="*/ 934 w 1011"/>
                  <a:gd name="T29" fmla="*/ 426 h 481"/>
                  <a:gd name="T30" fmla="*/ 977 w 1011"/>
                  <a:gd name="T31" fmla="*/ 395 h 481"/>
                  <a:gd name="T32" fmla="*/ 1003 w 1011"/>
                  <a:gd name="T33" fmla="*/ 357 h 481"/>
                  <a:gd name="T34" fmla="*/ 1011 w 1011"/>
                  <a:gd name="T35" fmla="*/ 314 h 481"/>
                  <a:gd name="T36" fmla="*/ 1001 w 1011"/>
                  <a:gd name="T37" fmla="*/ 270 h 481"/>
                  <a:gd name="T38" fmla="*/ 972 w 1011"/>
                  <a:gd name="T39" fmla="*/ 224 h 481"/>
                  <a:gd name="T40" fmla="*/ 927 w 1011"/>
                  <a:gd name="T41" fmla="*/ 179 h 481"/>
                  <a:gd name="T42" fmla="*/ 866 w 1011"/>
                  <a:gd name="T43" fmla="*/ 136 h 481"/>
                  <a:gd name="T44" fmla="*/ 792 w 1011"/>
                  <a:gd name="T45" fmla="*/ 96 h 481"/>
                  <a:gd name="T46" fmla="*/ 709 w 1011"/>
                  <a:gd name="T47" fmla="*/ 63 h 481"/>
                  <a:gd name="T48" fmla="*/ 618 w 1011"/>
                  <a:gd name="T49" fmla="*/ 35 h 481"/>
                  <a:gd name="T50" fmla="*/ 522 w 1011"/>
                  <a:gd name="T51" fmla="*/ 16 h 481"/>
                  <a:gd name="T52" fmla="*/ 426 w 1011"/>
                  <a:gd name="T53" fmla="*/ 3 h 481"/>
                  <a:gd name="T54" fmla="*/ 333 w 1011"/>
                  <a:gd name="T55" fmla="*/ 0 h 481"/>
                  <a:gd name="T56" fmla="*/ 246 w 1011"/>
                  <a:gd name="T57" fmla="*/ 5 h 481"/>
                  <a:gd name="T58" fmla="*/ 168 w 1011"/>
                  <a:gd name="T59" fmla="*/ 20 h 481"/>
                  <a:gd name="T60" fmla="*/ 103 w 1011"/>
                  <a:gd name="T61" fmla="*/ 41 h 481"/>
                  <a:gd name="T62" fmla="*/ 52 w 1011"/>
                  <a:gd name="T63" fmla="*/ 70 h 481"/>
                  <a:gd name="T64" fmla="*/ 17 w 1011"/>
                  <a:gd name="T65" fmla="*/ 105 h 481"/>
                  <a:gd name="T66" fmla="*/ 0 w 1011"/>
                  <a:gd name="T67" fmla="*/ 145 h 481"/>
                  <a:gd name="T68" fmla="*/ 1 w 1011"/>
                  <a:gd name="T69" fmla="*/ 145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11" h="481">
                    <a:moveTo>
                      <a:pt x="0" y="145"/>
                    </a:moveTo>
                    <a:lnTo>
                      <a:pt x="1" y="189"/>
                    </a:lnTo>
                    <a:lnTo>
                      <a:pt x="20" y="235"/>
                    </a:lnTo>
                    <a:lnTo>
                      <a:pt x="57" y="280"/>
                    </a:lnTo>
                    <a:lnTo>
                      <a:pt x="110" y="325"/>
                    </a:lnTo>
                    <a:lnTo>
                      <a:pt x="177" y="366"/>
                    </a:lnTo>
                    <a:lnTo>
                      <a:pt x="257" y="403"/>
                    </a:lnTo>
                    <a:lnTo>
                      <a:pt x="345" y="433"/>
                    </a:lnTo>
                    <a:lnTo>
                      <a:pt x="439" y="457"/>
                    </a:lnTo>
                    <a:lnTo>
                      <a:pt x="535" y="473"/>
                    </a:lnTo>
                    <a:lnTo>
                      <a:pt x="630" y="481"/>
                    </a:lnTo>
                    <a:lnTo>
                      <a:pt x="721" y="480"/>
                    </a:lnTo>
                    <a:lnTo>
                      <a:pt x="804" y="470"/>
                    </a:lnTo>
                    <a:lnTo>
                      <a:pt x="875" y="453"/>
                    </a:lnTo>
                    <a:lnTo>
                      <a:pt x="934" y="426"/>
                    </a:lnTo>
                    <a:lnTo>
                      <a:pt x="977" y="395"/>
                    </a:lnTo>
                    <a:lnTo>
                      <a:pt x="1003" y="357"/>
                    </a:lnTo>
                    <a:lnTo>
                      <a:pt x="1011" y="314"/>
                    </a:lnTo>
                    <a:lnTo>
                      <a:pt x="1001" y="270"/>
                    </a:lnTo>
                    <a:lnTo>
                      <a:pt x="972" y="224"/>
                    </a:lnTo>
                    <a:lnTo>
                      <a:pt x="927" y="179"/>
                    </a:lnTo>
                    <a:lnTo>
                      <a:pt x="866" y="136"/>
                    </a:lnTo>
                    <a:lnTo>
                      <a:pt x="792" y="96"/>
                    </a:lnTo>
                    <a:lnTo>
                      <a:pt x="709" y="63"/>
                    </a:lnTo>
                    <a:lnTo>
                      <a:pt x="618" y="35"/>
                    </a:lnTo>
                    <a:lnTo>
                      <a:pt x="522" y="16"/>
                    </a:lnTo>
                    <a:lnTo>
                      <a:pt x="426" y="3"/>
                    </a:lnTo>
                    <a:lnTo>
                      <a:pt x="333" y="0"/>
                    </a:lnTo>
                    <a:lnTo>
                      <a:pt x="246" y="5"/>
                    </a:lnTo>
                    <a:lnTo>
                      <a:pt x="168" y="20"/>
                    </a:lnTo>
                    <a:lnTo>
                      <a:pt x="103" y="41"/>
                    </a:lnTo>
                    <a:lnTo>
                      <a:pt x="52" y="70"/>
                    </a:lnTo>
                    <a:lnTo>
                      <a:pt x="17" y="105"/>
                    </a:lnTo>
                    <a:lnTo>
                      <a:pt x="0" y="145"/>
                    </a:lnTo>
                    <a:lnTo>
                      <a:pt x="1" y="145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6" name="Freeform 26"/>
            <p:cNvSpPr>
              <a:spLocks noChangeAspect="1" noChangeArrowheads="1"/>
            </p:cNvSpPr>
            <p:nvPr/>
          </p:nvSpPr>
          <p:spPr bwMode="auto">
            <a:xfrm>
              <a:off x="2458" y="2342"/>
              <a:ext cx="129" cy="141"/>
            </a:xfrm>
            <a:custGeom>
              <a:avLst/>
              <a:gdLst>
                <a:gd name="T0" fmla="*/ 0 w 627"/>
                <a:gd name="T1" fmla="*/ 0 h 686"/>
                <a:gd name="T2" fmla="*/ 626 w 627"/>
                <a:gd name="T3" fmla="*/ 686 h 686"/>
                <a:gd name="T4" fmla="*/ 627 w 627"/>
                <a:gd name="T5" fmla="*/ 686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7" h="686">
                  <a:moveTo>
                    <a:pt x="0" y="0"/>
                  </a:moveTo>
                  <a:lnTo>
                    <a:pt x="626" y="686"/>
                  </a:lnTo>
                  <a:lnTo>
                    <a:pt x="627" y="686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" name="Freeform 27"/>
            <p:cNvSpPr>
              <a:spLocks noChangeAspect="1" noChangeArrowheads="1"/>
            </p:cNvSpPr>
            <p:nvPr/>
          </p:nvSpPr>
          <p:spPr bwMode="auto">
            <a:xfrm>
              <a:off x="2394" y="2419"/>
              <a:ext cx="263" cy="2"/>
            </a:xfrm>
            <a:custGeom>
              <a:avLst/>
              <a:gdLst>
                <a:gd name="T0" fmla="*/ 0 w 1283"/>
                <a:gd name="T1" fmla="*/ 0 h 2"/>
                <a:gd name="T2" fmla="*/ 1282 w 1283"/>
                <a:gd name="T3" fmla="*/ 0 h 2"/>
                <a:gd name="T4" fmla="*/ 1283 w 128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83" h="2">
                  <a:moveTo>
                    <a:pt x="0" y="0"/>
                  </a:moveTo>
                  <a:lnTo>
                    <a:pt x="1282" y="0"/>
                  </a:lnTo>
                  <a:lnTo>
                    <a:pt x="1283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" name="Freeform 28"/>
            <p:cNvSpPr>
              <a:spLocks noChangeAspect="1" noChangeArrowheads="1"/>
            </p:cNvSpPr>
            <p:nvPr/>
          </p:nvSpPr>
          <p:spPr bwMode="auto">
            <a:xfrm>
              <a:off x="2828" y="2412"/>
              <a:ext cx="286" cy="2"/>
            </a:xfrm>
            <a:custGeom>
              <a:avLst/>
              <a:gdLst>
                <a:gd name="T0" fmla="*/ 0 w 1387"/>
                <a:gd name="T1" fmla="*/ 0 h 2"/>
                <a:gd name="T2" fmla="*/ 1386 w 1387"/>
                <a:gd name="T3" fmla="*/ 0 h 2"/>
                <a:gd name="T4" fmla="*/ 1387 w 1387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7" h="2">
                  <a:moveTo>
                    <a:pt x="0" y="0"/>
                  </a:moveTo>
                  <a:lnTo>
                    <a:pt x="1386" y="0"/>
                  </a:lnTo>
                  <a:lnTo>
                    <a:pt x="1387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" name="Freeform 29"/>
            <p:cNvSpPr>
              <a:spLocks noChangeAspect="1" noChangeArrowheads="1"/>
            </p:cNvSpPr>
            <p:nvPr/>
          </p:nvSpPr>
          <p:spPr bwMode="auto">
            <a:xfrm>
              <a:off x="2915" y="2338"/>
              <a:ext cx="119" cy="135"/>
            </a:xfrm>
            <a:custGeom>
              <a:avLst/>
              <a:gdLst>
                <a:gd name="T0" fmla="*/ 0 w 582"/>
                <a:gd name="T1" fmla="*/ 0 h 656"/>
                <a:gd name="T2" fmla="*/ 581 w 582"/>
                <a:gd name="T3" fmla="*/ 656 h 656"/>
                <a:gd name="T4" fmla="*/ 582 w 582"/>
                <a:gd name="T5" fmla="*/ 656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2" h="656">
                  <a:moveTo>
                    <a:pt x="0" y="0"/>
                  </a:moveTo>
                  <a:lnTo>
                    <a:pt x="581" y="656"/>
                  </a:lnTo>
                  <a:lnTo>
                    <a:pt x="582" y="656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30" name="Group 30"/>
          <p:cNvGrpSpPr>
            <a:grpSpLocks noChangeAspect="1"/>
          </p:cNvGrpSpPr>
          <p:nvPr/>
        </p:nvGrpSpPr>
        <p:grpSpPr bwMode="auto">
          <a:xfrm>
            <a:off x="2387601" y="673100"/>
            <a:ext cx="7808913" cy="4845050"/>
            <a:chOff x="0" y="400"/>
            <a:chExt cx="5468" cy="3392"/>
          </a:xfrm>
        </p:grpSpPr>
        <p:grpSp>
          <p:nvGrpSpPr>
            <p:cNvPr id="31" name="Group 31"/>
            <p:cNvGrpSpPr>
              <a:grpSpLocks noChangeAspect="1"/>
            </p:cNvGrpSpPr>
            <p:nvPr/>
          </p:nvGrpSpPr>
          <p:grpSpPr bwMode="auto">
            <a:xfrm>
              <a:off x="582" y="728"/>
              <a:ext cx="4389" cy="2690"/>
              <a:chOff x="597" y="711"/>
              <a:chExt cx="4638" cy="2842"/>
            </a:xfrm>
          </p:grpSpPr>
          <p:sp>
            <p:nvSpPr>
              <p:cNvPr id="122" name="Freeform 32"/>
              <p:cNvSpPr>
                <a:spLocks noChangeAspect="1" noChangeArrowheads="1"/>
              </p:cNvSpPr>
              <p:nvPr/>
            </p:nvSpPr>
            <p:spPr bwMode="auto">
              <a:xfrm>
                <a:off x="597" y="2125"/>
                <a:ext cx="2" cy="319"/>
              </a:xfrm>
              <a:custGeom>
                <a:avLst/>
                <a:gdLst>
                  <a:gd name="T0" fmla="*/ 0 w 1"/>
                  <a:gd name="T1" fmla="*/ 0 h 1548"/>
                  <a:gd name="T2" fmla="*/ 0 w 1"/>
                  <a:gd name="T3" fmla="*/ 1548 h 1548"/>
                  <a:gd name="T4" fmla="*/ 1 w 1"/>
                  <a:gd name="T5" fmla="*/ 1548 h 1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548">
                    <a:moveTo>
                      <a:pt x="0" y="0"/>
                    </a:moveTo>
                    <a:lnTo>
                      <a:pt x="0" y="1548"/>
                    </a:lnTo>
                    <a:lnTo>
                      <a:pt x="1" y="1548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3" name="Freeform 33"/>
              <p:cNvSpPr>
                <a:spLocks noChangeAspect="1" noChangeArrowheads="1"/>
              </p:cNvSpPr>
              <p:nvPr/>
            </p:nvSpPr>
            <p:spPr bwMode="auto">
              <a:xfrm>
                <a:off x="2383" y="3465"/>
                <a:ext cx="276" cy="1"/>
              </a:xfrm>
              <a:custGeom>
                <a:avLst/>
                <a:gdLst>
                  <a:gd name="T0" fmla="*/ 0 w 1342"/>
                  <a:gd name="T1" fmla="*/ 0 h 1"/>
                  <a:gd name="T2" fmla="*/ 1341 w 1342"/>
                  <a:gd name="T3" fmla="*/ 0 h 1"/>
                  <a:gd name="T4" fmla="*/ 1342 w 134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42" h="1">
                    <a:moveTo>
                      <a:pt x="0" y="0"/>
                    </a:moveTo>
                    <a:lnTo>
                      <a:pt x="1341" y="0"/>
                    </a:lnTo>
                    <a:lnTo>
                      <a:pt x="1342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4" name="Freeform 34"/>
              <p:cNvSpPr>
                <a:spLocks noChangeAspect="1" noChangeArrowheads="1"/>
              </p:cNvSpPr>
              <p:nvPr/>
            </p:nvSpPr>
            <p:spPr bwMode="auto">
              <a:xfrm>
                <a:off x="2840" y="3453"/>
                <a:ext cx="261" cy="2"/>
              </a:xfrm>
              <a:custGeom>
                <a:avLst/>
                <a:gdLst>
                  <a:gd name="T0" fmla="*/ 0 w 1266"/>
                  <a:gd name="T1" fmla="*/ 0 h 2"/>
                  <a:gd name="T2" fmla="*/ 1265 w 1266"/>
                  <a:gd name="T3" fmla="*/ 0 h 2"/>
                  <a:gd name="T4" fmla="*/ 1266 w 126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66" h="2">
                    <a:moveTo>
                      <a:pt x="0" y="0"/>
                    </a:moveTo>
                    <a:lnTo>
                      <a:pt x="1265" y="0"/>
                    </a:lnTo>
                    <a:lnTo>
                      <a:pt x="1266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5" name="Freeform 35"/>
              <p:cNvSpPr>
                <a:spLocks noChangeAspect="1" noChangeArrowheads="1"/>
              </p:cNvSpPr>
              <p:nvPr/>
            </p:nvSpPr>
            <p:spPr bwMode="auto">
              <a:xfrm>
                <a:off x="2463" y="3381"/>
                <a:ext cx="128" cy="172"/>
              </a:xfrm>
              <a:custGeom>
                <a:avLst/>
                <a:gdLst>
                  <a:gd name="T0" fmla="*/ 0 w 628"/>
                  <a:gd name="T1" fmla="*/ 0 h 843"/>
                  <a:gd name="T2" fmla="*/ 627 w 628"/>
                  <a:gd name="T3" fmla="*/ 843 h 843"/>
                  <a:gd name="T4" fmla="*/ 628 w 628"/>
                  <a:gd name="T5" fmla="*/ 843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28" h="843">
                    <a:moveTo>
                      <a:pt x="0" y="0"/>
                    </a:moveTo>
                    <a:lnTo>
                      <a:pt x="627" y="843"/>
                    </a:lnTo>
                    <a:lnTo>
                      <a:pt x="628" y="843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6" name="Freeform 36"/>
              <p:cNvSpPr>
                <a:spLocks noChangeAspect="1" noChangeArrowheads="1"/>
              </p:cNvSpPr>
              <p:nvPr/>
            </p:nvSpPr>
            <p:spPr bwMode="auto">
              <a:xfrm>
                <a:off x="2906" y="3381"/>
                <a:ext cx="128" cy="172"/>
              </a:xfrm>
              <a:custGeom>
                <a:avLst/>
                <a:gdLst>
                  <a:gd name="T0" fmla="*/ 0 w 627"/>
                  <a:gd name="T1" fmla="*/ 0 h 843"/>
                  <a:gd name="T2" fmla="*/ 626 w 627"/>
                  <a:gd name="T3" fmla="*/ 843 h 843"/>
                  <a:gd name="T4" fmla="*/ 627 w 627"/>
                  <a:gd name="T5" fmla="*/ 843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27" h="843">
                    <a:moveTo>
                      <a:pt x="0" y="0"/>
                    </a:moveTo>
                    <a:lnTo>
                      <a:pt x="626" y="843"/>
                    </a:lnTo>
                    <a:lnTo>
                      <a:pt x="627" y="843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7" name="Freeform 37"/>
              <p:cNvSpPr>
                <a:spLocks noChangeAspect="1" noChangeArrowheads="1"/>
              </p:cNvSpPr>
              <p:nvPr/>
            </p:nvSpPr>
            <p:spPr bwMode="auto">
              <a:xfrm>
                <a:off x="2026" y="1855"/>
                <a:ext cx="1" cy="313"/>
              </a:xfrm>
              <a:custGeom>
                <a:avLst/>
                <a:gdLst>
                  <a:gd name="T0" fmla="*/ 0 w 1"/>
                  <a:gd name="T1" fmla="*/ 0 h 1521"/>
                  <a:gd name="T2" fmla="*/ 0 w 1"/>
                  <a:gd name="T3" fmla="*/ 1521 h 1521"/>
                  <a:gd name="T4" fmla="*/ 1 w 1"/>
                  <a:gd name="T5" fmla="*/ 1521 h 1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521">
                    <a:moveTo>
                      <a:pt x="0" y="0"/>
                    </a:moveTo>
                    <a:lnTo>
                      <a:pt x="0" y="1521"/>
                    </a:lnTo>
                    <a:lnTo>
                      <a:pt x="1" y="1521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8" name="Freeform 38"/>
              <p:cNvSpPr>
                <a:spLocks noChangeAspect="1" noChangeArrowheads="1"/>
              </p:cNvSpPr>
              <p:nvPr/>
            </p:nvSpPr>
            <p:spPr bwMode="auto">
              <a:xfrm>
                <a:off x="2430" y="1867"/>
                <a:ext cx="2" cy="195"/>
              </a:xfrm>
              <a:custGeom>
                <a:avLst/>
                <a:gdLst>
                  <a:gd name="T0" fmla="*/ 0 w 1"/>
                  <a:gd name="T1" fmla="*/ 0 h 954"/>
                  <a:gd name="T2" fmla="*/ 0 w 1"/>
                  <a:gd name="T3" fmla="*/ 954 h 954"/>
                  <a:gd name="T4" fmla="*/ 1 w 1"/>
                  <a:gd name="T5" fmla="*/ 954 h 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54">
                    <a:moveTo>
                      <a:pt x="0" y="0"/>
                    </a:moveTo>
                    <a:lnTo>
                      <a:pt x="0" y="954"/>
                    </a:lnTo>
                    <a:lnTo>
                      <a:pt x="1" y="954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9" name="Freeform 39"/>
              <p:cNvSpPr>
                <a:spLocks noChangeAspect="1" noChangeArrowheads="1"/>
              </p:cNvSpPr>
              <p:nvPr/>
            </p:nvSpPr>
            <p:spPr bwMode="auto">
              <a:xfrm>
                <a:off x="4119" y="2156"/>
                <a:ext cx="2" cy="306"/>
              </a:xfrm>
              <a:custGeom>
                <a:avLst/>
                <a:gdLst>
                  <a:gd name="T0" fmla="*/ 0 w 1"/>
                  <a:gd name="T1" fmla="*/ 0 h 1490"/>
                  <a:gd name="T2" fmla="*/ 0 w 1"/>
                  <a:gd name="T3" fmla="*/ 1490 h 1490"/>
                  <a:gd name="T4" fmla="*/ 1 w 1"/>
                  <a:gd name="T5" fmla="*/ 1490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490">
                    <a:moveTo>
                      <a:pt x="0" y="0"/>
                    </a:moveTo>
                    <a:lnTo>
                      <a:pt x="0" y="1490"/>
                    </a:lnTo>
                    <a:lnTo>
                      <a:pt x="1" y="149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0" name="Freeform 40"/>
              <p:cNvSpPr>
                <a:spLocks noChangeAspect="1" noChangeArrowheads="1"/>
              </p:cNvSpPr>
              <p:nvPr/>
            </p:nvSpPr>
            <p:spPr bwMode="auto">
              <a:xfrm>
                <a:off x="4992" y="2493"/>
                <a:ext cx="2" cy="294"/>
              </a:xfrm>
              <a:custGeom>
                <a:avLst/>
                <a:gdLst>
                  <a:gd name="T0" fmla="*/ 0 w 1"/>
                  <a:gd name="T1" fmla="*/ 0 h 1435"/>
                  <a:gd name="T2" fmla="*/ 0 w 1"/>
                  <a:gd name="T3" fmla="*/ 1435 h 1435"/>
                  <a:gd name="T4" fmla="*/ 1 w 1"/>
                  <a:gd name="T5" fmla="*/ 1435 h 1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435">
                    <a:moveTo>
                      <a:pt x="0" y="0"/>
                    </a:moveTo>
                    <a:lnTo>
                      <a:pt x="0" y="1435"/>
                    </a:lnTo>
                    <a:lnTo>
                      <a:pt x="1" y="1435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1" name="Freeform 41"/>
              <p:cNvSpPr>
                <a:spLocks noChangeAspect="1" noChangeArrowheads="1"/>
              </p:cNvSpPr>
              <p:nvPr/>
            </p:nvSpPr>
            <p:spPr bwMode="auto">
              <a:xfrm>
                <a:off x="5234" y="2623"/>
                <a:ext cx="1" cy="306"/>
              </a:xfrm>
              <a:custGeom>
                <a:avLst/>
                <a:gdLst>
                  <a:gd name="T0" fmla="*/ 0 w 1"/>
                  <a:gd name="T1" fmla="*/ 0 h 1490"/>
                  <a:gd name="T2" fmla="*/ 0 w 1"/>
                  <a:gd name="T3" fmla="*/ 1490 h 1490"/>
                  <a:gd name="T4" fmla="*/ 1 w 1"/>
                  <a:gd name="T5" fmla="*/ 1490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490">
                    <a:moveTo>
                      <a:pt x="0" y="0"/>
                    </a:moveTo>
                    <a:lnTo>
                      <a:pt x="0" y="1490"/>
                    </a:lnTo>
                    <a:lnTo>
                      <a:pt x="1" y="149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2" name="Freeform 42"/>
              <p:cNvSpPr>
                <a:spLocks noChangeAspect="1" noChangeArrowheads="1"/>
              </p:cNvSpPr>
              <p:nvPr/>
            </p:nvSpPr>
            <p:spPr bwMode="auto">
              <a:xfrm>
                <a:off x="2202" y="785"/>
                <a:ext cx="278" cy="2"/>
              </a:xfrm>
              <a:custGeom>
                <a:avLst/>
                <a:gdLst>
                  <a:gd name="T0" fmla="*/ 0 w 1349"/>
                  <a:gd name="T1" fmla="*/ 0 h 2"/>
                  <a:gd name="T2" fmla="*/ 1348 w 1349"/>
                  <a:gd name="T3" fmla="*/ 0 h 2"/>
                  <a:gd name="T4" fmla="*/ 1349 w 1349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49" h="2">
                    <a:moveTo>
                      <a:pt x="0" y="0"/>
                    </a:moveTo>
                    <a:lnTo>
                      <a:pt x="1348" y="0"/>
                    </a:lnTo>
                    <a:lnTo>
                      <a:pt x="1349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3" name="Freeform 43"/>
              <p:cNvSpPr>
                <a:spLocks noChangeAspect="1" noChangeArrowheads="1"/>
              </p:cNvSpPr>
              <p:nvPr/>
            </p:nvSpPr>
            <p:spPr bwMode="auto">
              <a:xfrm>
                <a:off x="2304" y="714"/>
                <a:ext cx="77" cy="115"/>
              </a:xfrm>
              <a:custGeom>
                <a:avLst/>
                <a:gdLst>
                  <a:gd name="T0" fmla="*/ 378 w 378"/>
                  <a:gd name="T1" fmla="*/ 0 h 557"/>
                  <a:gd name="T2" fmla="*/ 0 w 378"/>
                  <a:gd name="T3" fmla="*/ 557 h 557"/>
                  <a:gd name="T4" fmla="*/ 1 w 378"/>
                  <a:gd name="T5" fmla="*/ 557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8" h="557">
                    <a:moveTo>
                      <a:pt x="378" y="0"/>
                    </a:moveTo>
                    <a:lnTo>
                      <a:pt x="0" y="557"/>
                    </a:lnTo>
                    <a:lnTo>
                      <a:pt x="1" y="557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4" name="Freeform 44"/>
              <p:cNvSpPr>
                <a:spLocks noChangeAspect="1" noChangeArrowheads="1"/>
              </p:cNvSpPr>
              <p:nvPr/>
            </p:nvSpPr>
            <p:spPr bwMode="auto">
              <a:xfrm>
                <a:off x="2590" y="782"/>
                <a:ext cx="278" cy="1"/>
              </a:xfrm>
              <a:custGeom>
                <a:avLst/>
                <a:gdLst>
                  <a:gd name="T0" fmla="*/ 0 w 1349"/>
                  <a:gd name="T1" fmla="*/ 0 h 1"/>
                  <a:gd name="T2" fmla="*/ 1348 w 1349"/>
                  <a:gd name="T3" fmla="*/ 0 h 1"/>
                  <a:gd name="T4" fmla="*/ 1349 w 1349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49" h="1">
                    <a:moveTo>
                      <a:pt x="0" y="0"/>
                    </a:moveTo>
                    <a:lnTo>
                      <a:pt x="1348" y="0"/>
                    </a:lnTo>
                    <a:lnTo>
                      <a:pt x="1349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5" name="Freeform 45"/>
              <p:cNvSpPr>
                <a:spLocks noChangeAspect="1" noChangeArrowheads="1"/>
              </p:cNvSpPr>
              <p:nvPr/>
            </p:nvSpPr>
            <p:spPr bwMode="auto">
              <a:xfrm>
                <a:off x="2692" y="711"/>
                <a:ext cx="77" cy="115"/>
              </a:xfrm>
              <a:custGeom>
                <a:avLst/>
                <a:gdLst>
                  <a:gd name="T0" fmla="*/ 378 w 378"/>
                  <a:gd name="T1" fmla="*/ 0 h 558"/>
                  <a:gd name="T2" fmla="*/ 0 w 378"/>
                  <a:gd name="T3" fmla="*/ 558 h 558"/>
                  <a:gd name="T4" fmla="*/ 1 w 378"/>
                  <a:gd name="T5" fmla="*/ 55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8" h="558">
                    <a:moveTo>
                      <a:pt x="378" y="0"/>
                    </a:moveTo>
                    <a:lnTo>
                      <a:pt x="0" y="558"/>
                    </a:lnTo>
                    <a:lnTo>
                      <a:pt x="1" y="558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32" name="Group 46"/>
            <p:cNvGrpSpPr>
              <a:grpSpLocks noChangeAspect="1"/>
            </p:cNvGrpSpPr>
            <p:nvPr/>
          </p:nvGrpSpPr>
          <p:grpSpPr bwMode="auto">
            <a:xfrm>
              <a:off x="0" y="400"/>
              <a:ext cx="5468" cy="3392"/>
              <a:chOff x="0" y="400"/>
              <a:chExt cx="5468" cy="3392"/>
            </a:xfrm>
          </p:grpSpPr>
          <p:grpSp>
            <p:nvGrpSpPr>
              <p:cNvPr id="33" name="Group 47"/>
              <p:cNvGrpSpPr>
                <a:grpSpLocks noChangeAspect="1"/>
              </p:cNvGrpSpPr>
              <p:nvPr/>
            </p:nvGrpSpPr>
            <p:grpSpPr bwMode="auto">
              <a:xfrm>
                <a:off x="517" y="848"/>
                <a:ext cx="4572" cy="1931"/>
                <a:chOff x="528" y="837"/>
                <a:chExt cx="4831" cy="2041"/>
              </a:xfrm>
            </p:grpSpPr>
            <p:sp>
              <p:nvSpPr>
                <p:cNvPr id="106" name="Freeform 48"/>
                <p:cNvSpPr>
                  <a:spLocks noChangeAspect="1" noChangeArrowheads="1"/>
                </p:cNvSpPr>
                <p:nvPr/>
              </p:nvSpPr>
              <p:spPr bwMode="auto">
                <a:xfrm>
                  <a:off x="2118" y="837"/>
                  <a:ext cx="799" cy="2"/>
                </a:xfrm>
                <a:custGeom>
                  <a:avLst/>
                  <a:gdLst>
                    <a:gd name="T0" fmla="*/ 0 w 3886"/>
                    <a:gd name="T1" fmla="*/ 0 h 2"/>
                    <a:gd name="T2" fmla="*/ 3885 w 3886"/>
                    <a:gd name="T3" fmla="*/ 0 h 2"/>
                    <a:gd name="T4" fmla="*/ 3886 w 3886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886" h="2">
                      <a:moveTo>
                        <a:pt x="0" y="0"/>
                      </a:moveTo>
                      <a:lnTo>
                        <a:pt x="3885" y="0"/>
                      </a:lnTo>
                      <a:lnTo>
                        <a:pt x="3886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07" name="Freeform 49"/>
                <p:cNvSpPr>
                  <a:spLocks noChangeAspect="1" noChangeArrowheads="1"/>
                </p:cNvSpPr>
                <p:nvPr/>
              </p:nvSpPr>
              <p:spPr bwMode="auto">
                <a:xfrm>
                  <a:off x="528" y="2214"/>
                  <a:ext cx="2" cy="175"/>
                </a:xfrm>
                <a:custGeom>
                  <a:avLst/>
                  <a:gdLst>
                    <a:gd name="T0" fmla="*/ 0 w 1"/>
                    <a:gd name="T1" fmla="*/ 0 h 851"/>
                    <a:gd name="T2" fmla="*/ 0 w 1"/>
                    <a:gd name="T3" fmla="*/ 851 h 851"/>
                    <a:gd name="T4" fmla="*/ 1 w 1"/>
                    <a:gd name="T5" fmla="*/ 851 h 8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851">
                      <a:moveTo>
                        <a:pt x="0" y="0"/>
                      </a:moveTo>
                      <a:lnTo>
                        <a:pt x="0" y="851"/>
                      </a:lnTo>
                      <a:lnTo>
                        <a:pt x="1" y="851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08" name="Freeform 50"/>
                <p:cNvSpPr>
                  <a:spLocks noChangeAspect="1" noChangeArrowheads="1"/>
                </p:cNvSpPr>
                <p:nvPr/>
              </p:nvSpPr>
              <p:spPr bwMode="auto">
                <a:xfrm>
                  <a:off x="658" y="2172"/>
                  <a:ext cx="1" cy="171"/>
                </a:xfrm>
                <a:custGeom>
                  <a:avLst/>
                  <a:gdLst>
                    <a:gd name="T0" fmla="*/ 0 w 1"/>
                    <a:gd name="T1" fmla="*/ 0 h 834"/>
                    <a:gd name="T2" fmla="*/ 0 w 1"/>
                    <a:gd name="T3" fmla="*/ 834 h 834"/>
                    <a:gd name="T4" fmla="*/ 1 w 1"/>
                    <a:gd name="T5" fmla="*/ 834 h 8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834">
                      <a:moveTo>
                        <a:pt x="0" y="0"/>
                      </a:moveTo>
                      <a:lnTo>
                        <a:pt x="0" y="834"/>
                      </a:lnTo>
                      <a:lnTo>
                        <a:pt x="1" y="834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09" name="Freeform 51"/>
                <p:cNvSpPr>
                  <a:spLocks noChangeAspect="1" noChangeArrowheads="1"/>
                </p:cNvSpPr>
                <p:nvPr/>
              </p:nvSpPr>
              <p:spPr bwMode="auto">
                <a:xfrm>
                  <a:off x="694" y="1985"/>
                  <a:ext cx="136" cy="44"/>
                </a:xfrm>
                <a:custGeom>
                  <a:avLst/>
                  <a:gdLst>
                    <a:gd name="T0" fmla="*/ 0 w 667"/>
                    <a:gd name="T1" fmla="*/ 219 h 219"/>
                    <a:gd name="T2" fmla="*/ 666 w 667"/>
                    <a:gd name="T3" fmla="*/ 0 h 219"/>
                    <a:gd name="T4" fmla="*/ 667 w 667"/>
                    <a:gd name="T5" fmla="*/ 0 h 2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67" h="219">
                      <a:moveTo>
                        <a:pt x="0" y="219"/>
                      </a:moveTo>
                      <a:lnTo>
                        <a:pt x="666" y="0"/>
                      </a:lnTo>
                      <a:lnTo>
                        <a:pt x="667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0" name="Freeform 52"/>
                <p:cNvSpPr>
                  <a:spLocks noChangeAspect="1" noChangeArrowheads="1"/>
                </p:cNvSpPr>
                <p:nvPr/>
              </p:nvSpPr>
              <p:spPr bwMode="auto">
                <a:xfrm>
                  <a:off x="1934" y="1931"/>
                  <a:ext cx="1" cy="169"/>
                </a:xfrm>
                <a:custGeom>
                  <a:avLst/>
                  <a:gdLst>
                    <a:gd name="T0" fmla="*/ 0 w 1"/>
                    <a:gd name="T1" fmla="*/ 0 h 820"/>
                    <a:gd name="T2" fmla="*/ 0 w 1"/>
                    <a:gd name="T3" fmla="*/ 820 h 820"/>
                    <a:gd name="T4" fmla="*/ 1 w 1"/>
                    <a:gd name="T5" fmla="*/ 820 h 8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820">
                      <a:moveTo>
                        <a:pt x="0" y="0"/>
                      </a:moveTo>
                      <a:lnTo>
                        <a:pt x="0" y="820"/>
                      </a:lnTo>
                      <a:lnTo>
                        <a:pt x="1" y="82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1" name="Freeform 53"/>
                <p:cNvSpPr>
                  <a:spLocks noChangeAspect="1" noChangeArrowheads="1"/>
                </p:cNvSpPr>
                <p:nvPr/>
              </p:nvSpPr>
              <p:spPr bwMode="auto">
                <a:xfrm>
                  <a:off x="2129" y="1931"/>
                  <a:ext cx="2" cy="169"/>
                </a:xfrm>
                <a:custGeom>
                  <a:avLst/>
                  <a:gdLst>
                    <a:gd name="T0" fmla="*/ 0 w 1"/>
                    <a:gd name="T1" fmla="*/ 0 h 820"/>
                    <a:gd name="T2" fmla="*/ 0 w 1"/>
                    <a:gd name="T3" fmla="*/ 820 h 820"/>
                    <a:gd name="T4" fmla="*/ 1 w 1"/>
                    <a:gd name="T5" fmla="*/ 820 h 8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820">
                      <a:moveTo>
                        <a:pt x="0" y="0"/>
                      </a:moveTo>
                      <a:lnTo>
                        <a:pt x="0" y="820"/>
                      </a:lnTo>
                      <a:lnTo>
                        <a:pt x="1" y="82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2" name="Freeform 54"/>
                <p:cNvSpPr>
                  <a:spLocks noChangeAspect="1" noChangeArrowheads="1"/>
                </p:cNvSpPr>
                <p:nvPr/>
              </p:nvSpPr>
              <p:spPr bwMode="auto">
                <a:xfrm>
                  <a:off x="2327" y="1931"/>
                  <a:ext cx="1" cy="169"/>
                </a:xfrm>
                <a:custGeom>
                  <a:avLst/>
                  <a:gdLst>
                    <a:gd name="T0" fmla="*/ 0 w 1"/>
                    <a:gd name="T1" fmla="*/ 0 h 820"/>
                    <a:gd name="T2" fmla="*/ 0 w 1"/>
                    <a:gd name="T3" fmla="*/ 820 h 820"/>
                    <a:gd name="T4" fmla="*/ 1 w 1"/>
                    <a:gd name="T5" fmla="*/ 820 h 8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820">
                      <a:moveTo>
                        <a:pt x="0" y="0"/>
                      </a:moveTo>
                      <a:lnTo>
                        <a:pt x="0" y="820"/>
                      </a:lnTo>
                      <a:lnTo>
                        <a:pt x="1" y="82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3" name="Freeform 55"/>
                <p:cNvSpPr>
                  <a:spLocks noChangeAspect="1" noChangeArrowheads="1"/>
                </p:cNvSpPr>
                <p:nvPr/>
              </p:nvSpPr>
              <p:spPr bwMode="auto">
                <a:xfrm>
                  <a:off x="2529" y="1931"/>
                  <a:ext cx="2" cy="102"/>
                </a:xfrm>
                <a:custGeom>
                  <a:avLst/>
                  <a:gdLst>
                    <a:gd name="T0" fmla="*/ 0 w 1"/>
                    <a:gd name="T1" fmla="*/ 0 h 492"/>
                    <a:gd name="T2" fmla="*/ 0 w 1"/>
                    <a:gd name="T3" fmla="*/ 492 h 492"/>
                    <a:gd name="T4" fmla="*/ 1 w 1"/>
                    <a:gd name="T5" fmla="*/ 492 h 4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492">
                      <a:moveTo>
                        <a:pt x="0" y="0"/>
                      </a:moveTo>
                      <a:lnTo>
                        <a:pt x="0" y="492"/>
                      </a:lnTo>
                      <a:lnTo>
                        <a:pt x="1" y="492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4" name="Freeform 56"/>
                <p:cNvSpPr>
                  <a:spLocks noChangeAspect="1" noChangeArrowheads="1"/>
                </p:cNvSpPr>
                <p:nvPr/>
              </p:nvSpPr>
              <p:spPr bwMode="auto">
                <a:xfrm>
                  <a:off x="4038" y="2204"/>
                  <a:ext cx="2" cy="159"/>
                </a:xfrm>
                <a:custGeom>
                  <a:avLst/>
                  <a:gdLst>
                    <a:gd name="T0" fmla="*/ 0 w 1"/>
                    <a:gd name="T1" fmla="*/ 0 h 773"/>
                    <a:gd name="T2" fmla="*/ 0 w 1"/>
                    <a:gd name="T3" fmla="*/ 773 h 773"/>
                    <a:gd name="T4" fmla="*/ 1 w 1"/>
                    <a:gd name="T5" fmla="*/ 773 h 7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773">
                      <a:moveTo>
                        <a:pt x="0" y="0"/>
                      </a:moveTo>
                      <a:lnTo>
                        <a:pt x="0" y="773"/>
                      </a:lnTo>
                      <a:lnTo>
                        <a:pt x="1" y="773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5" name="Freeform 57"/>
                <p:cNvSpPr>
                  <a:spLocks noChangeAspect="1" noChangeArrowheads="1"/>
                </p:cNvSpPr>
                <p:nvPr/>
              </p:nvSpPr>
              <p:spPr bwMode="auto">
                <a:xfrm>
                  <a:off x="4191" y="2250"/>
                  <a:ext cx="2" cy="156"/>
                </a:xfrm>
                <a:custGeom>
                  <a:avLst/>
                  <a:gdLst>
                    <a:gd name="T0" fmla="*/ 0 w 1"/>
                    <a:gd name="T1" fmla="*/ 0 h 762"/>
                    <a:gd name="T2" fmla="*/ 0 w 1"/>
                    <a:gd name="T3" fmla="*/ 762 h 762"/>
                    <a:gd name="T4" fmla="*/ 1 w 1"/>
                    <a:gd name="T5" fmla="*/ 762 h 7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762">
                      <a:moveTo>
                        <a:pt x="0" y="0"/>
                      </a:moveTo>
                      <a:lnTo>
                        <a:pt x="0" y="762"/>
                      </a:lnTo>
                      <a:lnTo>
                        <a:pt x="1" y="762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6" name="Freeform 58"/>
                <p:cNvSpPr>
                  <a:spLocks noChangeAspect="1" noChangeArrowheads="1"/>
                </p:cNvSpPr>
                <p:nvPr/>
              </p:nvSpPr>
              <p:spPr bwMode="auto">
                <a:xfrm>
                  <a:off x="4874" y="2506"/>
                  <a:ext cx="485" cy="248"/>
                </a:xfrm>
                <a:custGeom>
                  <a:avLst/>
                  <a:gdLst>
                    <a:gd name="T0" fmla="*/ 0 w 2364"/>
                    <a:gd name="T1" fmla="*/ 0 h 1203"/>
                    <a:gd name="T2" fmla="*/ 2363 w 2364"/>
                    <a:gd name="T3" fmla="*/ 1203 h 1203"/>
                    <a:gd name="T4" fmla="*/ 2364 w 2364"/>
                    <a:gd name="T5" fmla="*/ 1203 h 1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364" h="1203">
                      <a:moveTo>
                        <a:pt x="0" y="0"/>
                      </a:moveTo>
                      <a:lnTo>
                        <a:pt x="2363" y="1203"/>
                      </a:lnTo>
                      <a:lnTo>
                        <a:pt x="2364" y="1203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7" name="Freeform 59"/>
                <p:cNvSpPr>
                  <a:spLocks noChangeAspect="1" noChangeArrowheads="1"/>
                </p:cNvSpPr>
                <p:nvPr/>
              </p:nvSpPr>
              <p:spPr bwMode="auto">
                <a:xfrm>
                  <a:off x="4938" y="2539"/>
                  <a:ext cx="2" cy="158"/>
                </a:xfrm>
                <a:custGeom>
                  <a:avLst/>
                  <a:gdLst>
                    <a:gd name="T0" fmla="*/ 0 w 1"/>
                    <a:gd name="T1" fmla="*/ 0 h 772"/>
                    <a:gd name="T2" fmla="*/ 0 w 1"/>
                    <a:gd name="T3" fmla="*/ 772 h 772"/>
                    <a:gd name="T4" fmla="*/ 1 w 1"/>
                    <a:gd name="T5" fmla="*/ 772 h 7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772">
                      <a:moveTo>
                        <a:pt x="0" y="0"/>
                      </a:moveTo>
                      <a:lnTo>
                        <a:pt x="0" y="772"/>
                      </a:lnTo>
                      <a:lnTo>
                        <a:pt x="1" y="772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8" name="Freeform 60"/>
                <p:cNvSpPr>
                  <a:spLocks noChangeAspect="1" noChangeArrowheads="1"/>
                </p:cNvSpPr>
                <p:nvPr/>
              </p:nvSpPr>
              <p:spPr bwMode="auto">
                <a:xfrm>
                  <a:off x="5048" y="2595"/>
                  <a:ext cx="2" cy="159"/>
                </a:xfrm>
                <a:custGeom>
                  <a:avLst/>
                  <a:gdLst>
                    <a:gd name="T0" fmla="*/ 0 w 1"/>
                    <a:gd name="T1" fmla="*/ 0 h 772"/>
                    <a:gd name="T2" fmla="*/ 0 w 1"/>
                    <a:gd name="T3" fmla="*/ 772 h 772"/>
                    <a:gd name="T4" fmla="*/ 1 w 1"/>
                    <a:gd name="T5" fmla="*/ 772 h 7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772">
                      <a:moveTo>
                        <a:pt x="0" y="0"/>
                      </a:moveTo>
                      <a:lnTo>
                        <a:pt x="0" y="772"/>
                      </a:lnTo>
                      <a:lnTo>
                        <a:pt x="1" y="772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9" name="Freeform 61"/>
                <p:cNvSpPr>
                  <a:spLocks noChangeAspect="1" noChangeArrowheads="1"/>
                </p:cNvSpPr>
                <p:nvPr/>
              </p:nvSpPr>
              <p:spPr bwMode="auto">
                <a:xfrm>
                  <a:off x="5173" y="2659"/>
                  <a:ext cx="2" cy="160"/>
                </a:xfrm>
                <a:custGeom>
                  <a:avLst/>
                  <a:gdLst>
                    <a:gd name="T0" fmla="*/ 0 w 1"/>
                    <a:gd name="T1" fmla="*/ 0 h 773"/>
                    <a:gd name="T2" fmla="*/ 0 w 1"/>
                    <a:gd name="T3" fmla="*/ 773 h 773"/>
                    <a:gd name="T4" fmla="*/ 1 w 1"/>
                    <a:gd name="T5" fmla="*/ 773 h 7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773">
                      <a:moveTo>
                        <a:pt x="0" y="0"/>
                      </a:moveTo>
                      <a:lnTo>
                        <a:pt x="0" y="773"/>
                      </a:lnTo>
                      <a:lnTo>
                        <a:pt x="1" y="773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20" name="Freeform 62"/>
                <p:cNvSpPr>
                  <a:spLocks noChangeAspect="1" noChangeArrowheads="1"/>
                </p:cNvSpPr>
                <p:nvPr/>
              </p:nvSpPr>
              <p:spPr bwMode="auto">
                <a:xfrm>
                  <a:off x="5291" y="2720"/>
                  <a:ext cx="2" cy="158"/>
                </a:xfrm>
                <a:custGeom>
                  <a:avLst/>
                  <a:gdLst>
                    <a:gd name="T0" fmla="*/ 0 w 1"/>
                    <a:gd name="T1" fmla="*/ 0 h 772"/>
                    <a:gd name="T2" fmla="*/ 0 w 1"/>
                    <a:gd name="T3" fmla="*/ 772 h 772"/>
                    <a:gd name="T4" fmla="*/ 1 w 1"/>
                    <a:gd name="T5" fmla="*/ 772 h 7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772">
                      <a:moveTo>
                        <a:pt x="0" y="0"/>
                      </a:moveTo>
                      <a:lnTo>
                        <a:pt x="0" y="772"/>
                      </a:lnTo>
                      <a:lnTo>
                        <a:pt x="1" y="772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21" name="Freeform 63"/>
                <p:cNvSpPr>
                  <a:spLocks noChangeAspect="1" noChangeArrowheads="1"/>
                </p:cNvSpPr>
                <p:nvPr/>
              </p:nvSpPr>
              <p:spPr bwMode="auto">
                <a:xfrm>
                  <a:off x="2490" y="837"/>
                  <a:ext cx="54" cy="91"/>
                </a:xfrm>
                <a:custGeom>
                  <a:avLst/>
                  <a:gdLst>
                    <a:gd name="T0" fmla="*/ 269 w 269"/>
                    <a:gd name="T1" fmla="*/ 0 h 443"/>
                    <a:gd name="T2" fmla="*/ 0 w 269"/>
                    <a:gd name="T3" fmla="*/ 443 h 443"/>
                    <a:gd name="T4" fmla="*/ 1 w 269"/>
                    <a:gd name="T5" fmla="*/ 443 h 4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9" h="443">
                      <a:moveTo>
                        <a:pt x="269" y="0"/>
                      </a:moveTo>
                      <a:lnTo>
                        <a:pt x="0" y="443"/>
                      </a:lnTo>
                      <a:lnTo>
                        <a:pt x="1" y="443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34" name="Group 64"/>
              <p:cNvGrpSpPr>
                <a:grpSpLocks noChangeAspect="1"/>
              </p:cNvGrpSpPr>
              <p:nvPr/>
            </p:nvGrpSpPr>
            <p:grpSpPr bwMode="auto">
              <a:xfrm>
                <a:off x="0" y="400"/>
                <a:ext cx="5468" cy="3392"/>
                <a:chOff x="-18" y="364"/>
                <a:chExt cx="5778" cy="3584"/>
              </a:xfrm>
            </p:grpSpPr>
            <p:grpSp>
              <p:nvGrpSpPr>
                <p:cNvPr id="35" name="Group 65"/>
                <p:cNvGrpSpPr>
                  <a:grpSpLocks noChangeAspect="1"/>
                </p:cNvGrpSpPr>
                <p:nvPr/>
              </p:nvGrpSpPr>
              <p:grpSpPr bwMode="auto">
                <a:xfrm>
                  <a:off x="457" y="713"/>
                  <a:ext cx="4903" cy="2850"/>
                  <a:chOff x="457" y="713"/>
                  <a:chExt cx="4903" cy="2850"/>
                </a:xfrm>
              </p:grpSpPr>
              <p:sp>
                <p:nvSpPr>
                  <p:cNvPr id="66" name="Freeform 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45" y="2103"/>
                    <a:ext cx="472" cy="2"/>
                  </a:xfrm>
                  <a:custGeom>
                    <a:avLst/>
                    <a:gdLst>
                      <a:gd name="T0" fmla="*/ 0 w 2302"/>
                      <a:gd name="T1" fmla="*/ 0 h 2"/>
                      <a:gd name="T2" fmla="*/ 2301 w 2302"/>
                      <a:gd name="T3" fmla="*/ 0 h 2"/>
                      <a:gd name="T4" fmla="*/ 2302 w 230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302" h="2">
                        <a:moveTo>
                          <a:pt x="0" y="0"/>
                        </a:moveTo>
                        <a:lnTo>
                          <a:pt x="2301" y="0"/>
                        </a:lnTo>
                        <a:lnTo>
                          <a:pt x="2302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67" name="Freeform 6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45" y="1933"/>
                    <a:ext cx="753" cy="1"/>
                  </a:xfrm>
                  <a:custGeom>
                    <a:avLst/>
                    <a:gdLst>
                      <a:gd name="T0" fmla="*/ 0 w 3667"/>
                      <a:gd name="T1" fmla="*/ 0 h 1"/>
                      <a:gd name="T2" fmla="*/ 3666 w 3667"/>
                      <a:gd name="T3" fmla="*/ 0 h 1"/>
                      <a:gd name="T4" fmla="*/ 3667 w 3667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667" h="1">
                        <a:moveTo>
                          <a:pt x="0" y="0"/>
                        </a:moveTo>
                        <a:lnTo>
                          <a:pt x="3666" y="0"/>
                        </a:lnTo>
                        <a:lnTo>
                          <a:pt x="3667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68" name="Freeform 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62" y="928"/>
                    <a:ext cx="797" cy="2"/>
                  </a:xfrm>
                  <a:custGeom>
                    <a:avLst/>
                    <a:gdLst>
                      <a:gd name="T0" fmla="*/ 0 w 3884"/>
                      <a:gd name="T1" fmla="*/ 0 h 2"/>
                      <a:gd name="T2" fmla="*/ 3883 w 3884"/>
                      <a:gd name="T3" fmla="*/ 0 h 2"/>
                      <a:gd name="T4" fmla="*/ 3884 w 388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884" h="2">
                        <a:moveTo>
                          <a:pt x="0" y="0"/>
                        </a:moveTo>
                        <a:lnTo>
                          <a:pt x="3883" y="0"/>
                        </a:lnTo>
                        <a:lnTo>
                          <a:pt x="3884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69" name="Freeform 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87" y="713"/>
                    <a:ext cx="799" cy="2"/>
                  </a:xfrm>
                  <a:custGeom>
                    <a:avLst/>
                    <a:gdLst>
                      <a:gd name="T0" fmla="*/ 0 w 3886"/>
                      <a:gd name="T1" fmla="*/ 0 h 2"/>
                      <a:gd name="T2" fmla="*/ 3885 w 3886"/>
                      <a:gd name="T3" fmla="*/ 0 h 2"/>
                      <a:gd name="T4" fmla="*/ 3886 w 3886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886" h="2">
                        <a:moveTo>
                          <a:pt x="0" y="0"/>
                        </a:moveTo>
                        <a:lnTo>
                          <a:pt x="3885" y="0"/>
                        </a:lnTo>
                        <a:lnTo>
                          <a:pt x="388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70" name="Freeform 7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10" y="3277"/>
                    <a:ext cx="799" cy="2"/>
                  </a:xfrm>
                  <a:custGeom>
                    <a:avLst/>
                    <a:gdLst>
                      <a:gd name="T0" fmla="*/ 0 w 3886"/>
                      <a:gd name="T1" fmla="*/ 0 h 2"/>
                      <a:gd name="T2" fmla="*/ 3885 w 3886"/>
                      <a:gd name="T3" fmla="*/ 0 h 2"/>
                      <a:gd name="T4" fmla="*/ 3886 w 3886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886" h="2">
                        <a:moveTo>
                          <a:pt x="0" y="0"/>
                        </a:moveTo>
                        <a:lnTo>
                          <a:pt x="3885" y="0"/>
                        </a:lnTo>
                        <a:lnTo>
                          <a:pt x="388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bg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71" name="Freeform 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10" y="3277"/>
                    <a:ext cx="799" cy="2"/>
                  </a:xfrm>
                  <a:custGeom>
                    <a:avLst/>
                    <a:gdLst>
                      <a:gd name="T0" fmla="*/ 0 w 3886"/>
                      <a:gd name="T1" fmla="*/ 0 h 2"/>
                      <a:gd name="T2" fmla="*/ 3885 w 3886"/>
                      <a:gd name="T3" fmla="*/ 0 h 2"/>
                      <a:gd name="T4" fmla="*/ 3886 w 3886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886" h="2">
                        <a:moveTo>
                          <a:pt x="0" y="0"/>
                        </a:moveTo>
                        <a:lnTo>
                          <a:pt x="3885" y="0"/>
                        </a:lnTo>
                        <a:lnTo>
                          <a:pt x="388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bg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72" name="Freeform 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15" y="3561"/>
                    <a:ext cx="798" cy="2"/>
                  </a:xfrm>
                  <a:custGeom>
                    <a:avLst/>
                    <a:gdLst>
                      <a:gd name="T0" fmla="*/ 0 w 3885"/>
                      <a:gd name="T1" fmla="*/ 0 h 2"/>
                      <a:gd name="T2" fmla="*/ 3884 w 3885"/>
                      <a:gd name="T3" fmla="*/ 0 h 2"/>
                      <a:gd name="T4" fmla="*/ 3885 w 3885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885" h="2">
                        <a:moveTo>
                          <a:pt x="0" y="0"/>
                        </a:moveTo>
                        <a:lnTo>
                          <a:pt x="3884" y="0"/>
                        </a:lnTo>
                        <a:lnTo>
                          <a:pt x="3885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73" name="Freeform 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10" y="3277"/>
                    <a:ext cx="799" cy="2"/>
                  </a:xfrm>
                  <a:custGeom>
                    <a:avLst/>
                    <a:gdLst>
                      <a:gd name="T0" fmla="*/ 0 w 3886"/>
                      <a:gd name="T1" fmla="*/ 0 h 2"/>
                      <a:gd name="T2" fmla="*/ 3885 w 3886"/>
                      <a:gd name="T3" fmla="*/ 0 h 2"/>
                      <a:gd name="T4" fmla="*/ 3886 w 3886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886" h="2">
                        <a:moveTo>
                          <a:pt x="0" y="0"/>
                        </a:moveTo>
                        <a:lnTo>
                          <a:pt x="3885" y="0"/>
                        </a:lnTo>
                        <a:lnTo>
                          <a:pt x="388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74" name="Freeform 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77" y="3367"/>
                    <a:ext cx="799" cy="2"/>
                  </a:xfrm>
                  <a:custGeom>
                    <a:avLst/>
                    <a:gdLst>
                      <a:gd name="T0" fmla="*/ 0 w 3886"/>
                      <a:gd name="T1" fmla="*/ 0 h 2"/>
                      <a:gd name="T2" fmla="*/ 3885 w 3886"/>
                      <a:gd name="T3" fmla="*/ 0 h 2"/>
                      <a:gd name="T4" fmla="*/ 3886 w 3886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886" h="2">
                        <a:moveTo>
                          <a:pt x="0" y="0"/>
                        </a:moveTo>
                        <a:lnTo>
                          <a:pt x="3885" y="0"/>
                        </a:lnTo>
                        <a:lnTo>
                          <a:pt x="388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75" name="Freeform 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7" y="2233"/>
                    <a:ext cx="2" cy="176"/>
                  </a:xfrm>
                  <a:custGeom>
                    <a:avLst/>
                    <a:gdLst>
                      <a:gd name="T0" fmla="*/ 0 w 1"/>
                      <a:gd name="T1" fmla="*/ 0 h 851"/>
                      <a:gd name="T2" fmla="*/ 0 w 1"/>
                      <a:gd name="T3" fmla="*/ 851 h 851"/>
                      <a:gd name="T4" fmla="*/ 1 w 1"/>
                      <a:gd name="T5" fmla="*/ 851 h 8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851">
                        <a:moveTo>
                          <a:pt x="0" y="0"/>
                        </a:moveTo>
                        <a:lnTo>
                          <a:pt x="0" y="851"/>
                        </a:lnTo>
                        <a:lnTo>
                          <a:pt x="1" y="85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76" name="Freeform 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0" y="1822"/>
                    <a:ext cx="2" cy="469"/>
                  </a:xfrm>
                  <a:custGeom>
                    <a:avLst/>
                    <a:gdLst>
                      <a:gd name="T0" fmla="*/ 0 w 1"/>
                      <a:gd name="T1" fmla="*/ 0 h 2276"/>
                      <a:gd name="T2" fmla="*/ 0 w 1"/>
                      <a:gd name="T3" fmla="*/ 2276 h 2276"/>
                      <a:gd name="T4" fmla="*/ 1 w 1"/>
                      <a:gd name="T5" fmla="*/ 2276 h 22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276">
                        <a:moveTo>
                          <a:pt x="0" y="0"/>
                        </a:moveTo>
                        <a:lnTo>
                          <a:pt x="0" y="2276"/>
                        </a:lnTo>
                        <a:lnTo>
                          <a:pt x="1" y="227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77" name="Freeform 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4" y="1870"/>
                    <a:ext cx="1" cy="293"/>
                  </a:xfrm>
                  <a:custGeom>
                    <a:avLst/>
                    <a:gdLst>
                      <a:gd name="T0" fmla="*/ 0 w 1"/>
                      <a:gd name="T1" fmla="*/ 0 h 1424"/>
                      <a:gd name="T2" fmla="*/ 0 w 1"/>
                      <a:gd name="T3" fmla="*/ 1424 h 1424"/>
                      <a:gd name="T4" fmla="*/ 1 w 1"/>
                      <a:gd name="T5" fmla="*/ 1424 h 14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424">
                        <a:moveTo>
                          <a:pt x="0" y="0"/>
                        </a:moveTo>
                        <a:lnTo>
                          <a:pt x="0" y="1424"/>
                        </a:lnTo>
                        <a:lnTo>
                          <a:pt x="1" y="1424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78" name="Freeform 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7" y="2163"/>
                    <a:ext cx="237" cy="70"/>
                  </a:xfrm>
                  <a:custGeom>
                    <a:avLst/>
                    <a:gdLst>
                      <a:gd name="T0" fmla="*/ 1146 w 1146"/>
                      <a:gd name="T1" fmla="*/ 0 h 341"/>
                      <a:gd name="T2" fmla="*/ 0 w 1146"/>
                      <a:gd name="T3" fmla="*/ 341 h 341"/>
                      <a:gd name="T4" fmla="*/ 1 w 1146"/>
                      <a:gd name="T5" fmla="*/ 341 h 3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46" h="341">
                        <a:moveTo>
                          <a:pt x="1146" y="0"/>
                        </a:moveTo>
                        <a:lnTo>
                          <a:pt x="0" y="341"/>
                        </a:lnTo>
                        <a:lnTo>
                          <a:pt x="1" y="34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79" name="Freeform 7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7" y="2291"/>
                    <a:ext cx="373" cy="118"/>
                  </a:xfrm>
                  <a:custGeom>
                    <a:avLst/>
                    <a:gdLst>
                      <a:gd name="T0" fmla="*/ 0 w 1813"/>
                      <a:gd name="T1" fmla="*/ 573 h 573"/>
                      <a:gd name="T2" fmla="*/ 1812 w 1813"/>
                      <a:gd name="T3" fmla="*/ 0 h 573"/>
                      <a:gd name="T4" fmla="*/ 1813 w 1813"/>
                      <a:gd name="T5" fmla="*/ 0 h 5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813" h="573">
                        <a:moveTo>
                          <a:pt x="0" y="573"/>
                        </a:moveTo>
                        <a:lnTo>
                          <a:pt x="1812" y="0"/>
                        </a:lnTo>
                        <a:lnTo>
                          <a:pt x="1813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80" name="Freeform 8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10" y="3277"/>
                    <a:ext cx="205" cy="284"/>
                  </a:xfrm>
                  <a:custGeom>
                    <a:avLst/>
                    <a:gdLst>
                      <a:gd name="T0" fmla="*/ 0 w 1000"/>
                      <a:gd name="T1" fmla="*/ 0 h 1386"/>
                      <a:gd name="T2" fmla="*/ 999 w 1000"/>
                      <a:gd name="T3" fmla="*/ 1386 h 1386"/>
                      <a:gd name="T4" fmla="*/ 1000 w 1000"/>
                      <a:gd name="T5" fmla="*/ 1386 h 13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00" h="1386">
                        <a:moveTo>
                          <a:pt x="0" y="0"/>
                        </a:moveTo>
                        <a:lnTo>
                          <a:pt x="999" y="1386"/>
                        </a:lnTo>
                        <a:lnTo>
                          <a:pt x="1000" y="138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81" name="Freeform 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07" y="3277"/>
                    <a:ext cx="206" cy="284"/>
                  </a:xfrm>
                  <a:custGeom>
                    <a:avLst/>
                    <a:gdLst>
                      <a:gd name="T0" fmla="*/ 0 w 999"/>
                      <a:gd name="T1" fmla="*/ 0 h 1386"/>
                      <a:gd name="T2" fmla="*/ 998 w 999"/>
                      <a:gd name="T3" fmla="*/ 1386 h 1386"/>
                      <a:gd name="T4" fmla="*/ 999 w 999"/>
                      <a:gd name="T5" fmla="*/ 1386 h 13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99" h="1386">
                        <a:moveTo>
                          <a:pt x="0" y="0"/>
                        </a:moveTo>
                        <a:lnTo>
                          <a:pt x="998" y="1386"/>
                        </a:lnTo>
                        <a:lnTo>
                          <a:pt x="999" y="138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82" name="Freeform 8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654" y="3275"/>
                    <a:ext cx="64" cy="94"/>
                  </a:xfrm>
                  <a:custGeom>
                    <a:avLst/>
                    <a:gdLst>
                      <a:gd name="T0" fmla="*/ 0 w 315"/>
                      <a:gd name="T1" fmla="*/ 0 h 454"/>
                      <a:gd name="T2" fmla="*/ 314 w 315"/>
                      <a:gd name="T3" fmla="*/ 454 h 454"/>
                      <a:gd name="T4" fmla="*/ 315 w 315"/>
                      <a:gd name="T5" fmla="*/ 454 h 4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15" h="454">
                        <a:moveTo>
                          <a:pt x="0" y="0"/>
                        </a:moveTo>
                        <a:lnTo>
                          <a:pt x="314" y="454"/>
                        </a:lnTo>
                        <a:lnTo>
                          <a:pt x="315" y="454"/>
                        </a:lnTo>
                      </a:path>
                    </a:pathLst>
                  </a:custGeom>
                  <a:noFill/>
                  <a:ln w="38100">
                    <a:solidFill>
                      <a:schemeClr val="bg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83" name="Freeform 8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19" y="3417"/>
                    <a:ext cx="208" cy="98"/>
                  </a:xfrm>
                  <a:custGeom>
                    <a:avLst/>
                    <a:gdLst>
                      <a:gd name="T0" fmla="*/ 0 w 1012"/>
                      <a:gd name="T1" fmla="*/ 146 h 481"/>
                      <a:gd name="T2" fmla="*/ 1 w 1012"/>
                      <a:gd name="T3" fmla="*/ 190 h 481"/>
                      <a:gd name="T4" fmla="*/ 21 w 1012"/>
                      <a:gd name="T5" fmla="*/ 235 h 481"/>
                      <a:gd name="T6" fmla="*/ 58 w 1012"/>
                      <a:gd name="T7" fmla="*/ 280 h 481"/>
                      <a:gd name="T8" fmla="*/ 112 w 1012"/>
                      <a:gd name="T9" fmla="*/ 324 h 481"/>
                      <a:gd name="T10" fmla="*/ 178 w 1012"/>
                      <a:gd name="T11" fmla="*/ 366 h 481"/>
                      <a:gd name="T12" fmla="*/ 258 w 1012"/>
                      <a:gd name="T13" fmla="*/ 402 h 481"/>
                      <a:gd name="T14" fmla="*/ 346 w 1012"/>
                      <a:gd name="T15" fmla="*/ 434 h 481"/>
                      <a:gd name="T16" fmla="*/ 439 w 1012"/>
                      <a:gd name="T17" fmla="*/ 457 h 481"/>
                      <a:gd name="T18" fmla="*/ 536 w 1012"/>
                      <a:gd name="T19" fmla="*/ 474 h 481"/>
                      <a:gd name="T20" fmla="*/ 631 w 1012"/>
                      <a:gd name="T21" fmla="*/ 481 h 481"/>
                      <a:gd name="T22" fmla="*/ 721 w 1012"/>
                      <a:gd name="T23" fmla="*/ 480 h 481"/>
                      <a:gd name="T24" fmla="*/ 804 w 1012"/>
                      <a:gd name="T25" fmla="*/ 470 h 481"/>
                      <a:gd name="T26" fmla="*/ 876 w 1012"/>
                      <a:gd name="T27" fmla="*/ 452 h 481"/>
                      <a:gd name="T28" fmla="*/ 935 w 1012"/>
                      <a:gd name="T29" fmla="*/ 427 h 481"/>
                      <a:gd name="T30" fmla="*/ 978 w 1012"/>
                      <a:gd name="T31" fmla="*/ 394 h 481"/>
                      <a:gd name="T32" fmla="*/ 1003 w 1012"/>
                      <a:gd name="T33" fmla="*/ 356 h 481"/>
                      <a:gd name="T34" fmla="*/ 1012 w 1012"/>
                      <a:gd name="T35" fmla="*/ 314 h 481"/>
                      <a:gd name="T36" fmla="*/ 1001 w 1012"/>
                      <a:gd name="T37" fmla="*/ 269 h 481"/>
                      <a:gd name="T38" fmla="*/ 973 w 1012"/>
                      <a:gd name="T39" fmla="*/ 223 h 481"/>
                      <a:gd name="T40" fmla="*/ 928 w 1012"/>
                      <a:gd name="T41" fmla="*/ 178 h 481"/>
                      <a:gd name="T42" fmla="*/ 866 w 1012"/>
                      <a:gd name="T43" fmla="*/ 135 h 481"/>
                      <a:gd name="T44" fmla="*/ 793 w 1012"/>
                      <a:gd name="T45" fmla="*/ 97 h 481"/>
                      <a:gd name="T46" fmla="*/ 709 w 1012"/>
                      <a:gd name="T47" fmla="*/ 63 h 481"/>
                      <a:gd name="T48" fmla="*/ 618 w 1012"/>
                      <a:gd name="T49" fmla="*/ 35 h 481"/>
                      <a:gd name="T50" fmla="*/ 522 w 1012"/>
                      <a:gd name="T51" fmla="*/ 15 h 481"/>
                      <a:gd name="T52" fmla="*/ 426 w 1012"/>
                      <a:gd name="T53" fmla="*/ 3 h 481"/>
                      <a:gd name="T54" fmla="*/ 333 w 1012"/>
                      <a:gd name="T55" fmla="*/ 0 h 481"/>
                      <a:gd name="T56" fmla="*/ 246 w 1012"/>
                      <a:gd name="T57" fmla="*/ 5 h 481"/>
                      <a:gd name="T58" fmla="*/ 169 w 1012"/>
                      <a:gd name="T59" fmla="*/ 19 h 481"/>
                      <a:gd name="T60" fmla="*/ 103 w 1012"/>
                      <a:gd name="T61" fmla="*/ 42 h 481"/>
                      <a:gd name="T62" fmla="*/ 52 w 1012"/>
                      <a:gd name="T63" fmla="*/ 70 h 481"/>
                      <a:gd name="T64" fmla="*/ 18 w 1012"/>
                      <a:gd name="T65" fmla="*/ 106 h 481"/>
                      <a:gd name="T66" fmla="*/ 0 w 1012"/>
                      <a:gd name="T67" fmla="*/ 146 h 481"/>
                      <a:gd name="T68" fmla="*/ 1 w 1012"/>
                      <a:gd name="T69" fmla="*/ 146 h 4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012" h="481">
                        <a:moveTo>
                          <a:pt x="0" y="146"/>
                        </a:moveTo>
                        <a:lnTo>
                          <a:pt x="1" y="190"/>
                        </a:lnTo>
                        <a:lnTo>
                          <a:pt x="21" y="235"/>
                        </a:lnTo>
                        <a:lnTo>
                          <a:pt x="58" y="280"/>
                        </a:lnTo>
                        <a:lnTo>
                          <a:pt x="112" y="324"/>
                        </a:lnTo>
                        <a:lnTo>
                          <a:pt x="178" y="366"/>
                        </a:lnTo>
                        <a:lnTo>
                          <a:pt x="258" y="402"/>
                        </a:lnTo>
                        <a:lnTo>
                          <a:pt x="346" y="434"/>
                        </a:lnTo>
                        <a:lnTo>
                          <a:pt x="439" y="457"/>
                        </a:lnTo>
                        <a:lnTo>
                          <a:pt x="536" y="474"/>
                        </a:lnTo>
                        <a:lnTo>
                          <a:pt x="631" y="481"/>
                        </a:lnTo>
                        <a:lnTo>
                          <a:pt x="721" y="480"/>
                        </a:lnTo>
                        <a:lnTo>
                          <a:pt x="804" y="470"/>
                        </a:lnTo>
                        <a:lnTo>
                          <a:pt x="876" y="452"/>
                        </a:lnTo>
                        <a:lnTo>
                          <a:pt x="935" y="427"/>
                        </a:lnTo>
                        <a:lnTo>
                          <a:pt x="978" y="394"/>
                        </a:lnTo>
                        <a:lnTo>
                          <a:pt x="1003" y="356"/>
                        </a:lnTo>
                        <a:lnTo>
                          <a:pt x="1012" y="314"/>
                        </a:lnTo>
                        <a:lnTo>
                          <a:pt x="1001" y="269"/>
                        </a:lnTo>
                        <a:lnTo>
                          <a:pt x="973" y="223"/>
                        </a:lnTo>
                        <a:lnTo>
                          <a:pt x="928" y="178"/>
                        </a:lnTo>
                        <a:lnTo>
                          <a:pt x="866" y="135"/>
                        </a:lnTo>
                        <a:lnTo>
                          <a:pt x="793" y="97"/>
                        </a:lnTo>
                        <a:lnTo>
                          <a:pt x="709" y="63"/>
                        </a:lnTo>
                        <a:lnTo>
                          <a:pt x="618" y="35"/>
                        </a:lnTo>
                        <a:lnTo>
                          <a:pt x="522" y="15"/>
                        </a:lnTo>
                        <a:lnTo>
                          <a:pt x="426" y="3"/>
                        </a:lnTo>
                        <a:lnTo>
                          <a:pt x="333" y="0"/>
                        </a:lnTo>
                        <a:lnTo>
                          <a:pt x="246" y="5"/>
                        </a:lnTo>
                        <a:lnTo>
                          <a:pt x="169" y="19"/>
                        </a:lnTo>
                        <a:lnTo>
                          <a:pt x="103" y="42"/>
                        </a:lnTo>
                        <a:lnTo>
                          <a:pt x="52" y="70"/>
                        </a:lnTo>
                        <a:lnTo>
                          <a:pt x="18" y="106"/>
                        </a:lnTo>
                        <a:lnTo>
                          <a:pt x="0" y="146"/>
                        </a:lnTo>
                        <a:lnTo>
                          <a:pt x="1" y="14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84" name="Freeform 8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62" y="3405"/>
                    <a:ext cx="209" cy="99"/>
                  </a:xfrm>
                  <a:custGeom>
                    <a:avLst/>
                    <a:gdLst>
                      <a:gd name="T0" fmla="*/ 0 w 1011"/>
                      <a:gd name="T1" fmla="*/ 146 h 481"/>
                      <a:gd name="T2" fmla="*/ 1 w 1011"/>
                      <a:gd name="T3" fmla="*/ 189 h 481"/>
                      <a:gd name="T4" fmla="*/ 20 w 1011"/>
                      <a:gd name="T5" fmla="*/ 234 h 481"/>
                      <a:gd name="T6" fmla="*/ 58 w 1011"/>
                      <a:gd name="T7" fmla="*/ 280 h 481"/>
                      <a:gd name="T8" fmla="*/ 111 w 1011"/>
                      <a:gd name="T9" fmla="*/ 324 h 481"/>
                      <a:gd name="T10" fmla="*/ 179 w 1011"/>
                      <a:gd name="T11" fmla="*/ 366 h 481"/>
                      <a:gd name="T12" fmla="*/ 257 w 1011"/>
                      <a:gd name="T13" fmla="*/ 403 h 481"/>
                      <a:gd name="T14" fmla="*/ 345 w 1011"/>
                      <a:gd name="T15" fmla="*/ 434 h 481"/>
                      <a:gd name="T16" fmla="*/ 439 w 1011"/>
                      <a:gd name="T17" fmla="*/ 457 h 481"/>
                      <a:gd name="T18" fmla="*/ 535 w 1011"/>
                      <a:gd name="T19" fmla="*/ 473 h 481"/>
                      <a:gd name="T20" fmla="*/ 630 w 1011"/>
                      <a:gd name="T21" fmla="*/ 481 h 481"/>
                      <a:gd name="T22" fmla="*/ 721 w 1011"/>
                      <a:gd name="T23" fmla="*/ 480 h 481"/>
                      <a:gd name="T24" fmla="*/ 804 w 1011"/>
                      <a:gd name="T25" fmla="*/ 470 h 481"/>
                      <a:gd name="T26" fmla="*/ 875 w 1011"/>
                      <a:gd name="T27" fmla="*/ 452 h 481"/>
                      <a:gd name="T28" fmla="*/ 934 w 1011"/>
                      <a:gd name="T29" fmla="*/ 426 h 481"/>
                      <a:gd name="T30" fmla="*/ 977 w 1011"/>
                      <a:gd name="T31" fmla="*/ 394 h 481"/>
                      <a:gd name="T32" fmla="*/ 1003 w 1011"/>
                      <a:gd name="T33" fmla="*/ 356 h 481"/>
                      <a:gd name="T34" fmla="*/ 1011 w 1011"/>
                      <a:gd name="T35" fmla="*/ 314 h 481"/>
                      <a:gd name="T36" fmla="*/ 1001 w 1011"/>
                      <a:gd name="T37" fmla="*/ 269 h 481"/>
                      <a:gd name="T38" fmla="*/ 972 w 1011"/>
                      <a:gd name="T39" fmla="*/ 223 h 481"/>
                      <a:gd name="T40" fmla="*/ 927 w 1011"/>
                      <a:gd name="T41" fmla="*/ 178 h 481"/>
                      <a:gd name="T42" fmla="*/ 867 w 1011"/>
                      <a:gd name="T43" fmla="*/ 135 h 481"/>
                      <a:gd name="T44" fmla="*/ 794 w 1011"/>
                      <a:gd name="T45" fmla="*/ 97 h 481"/>
                      <a:gd name="T46" fmla="*/ 709 w 1011"/>
                      <a:gd name="T47" fmla="*/ 63 h 481"/>
                      <a:gd name="T48" fmla="*/ 618 w 1011"/>
                      <a:gd name="T49" fmla="*/ 35 h 481"/>
                      <a:gd name="T50" fmla="*/ 522 w 1011"/>
                      <a:gd name="T51" fmla="*/ 15 h 481"/>
                      <a:gd name="T52" fmla="*/ 426 w 1011"/>
                      <a:gd name="T53" fmla="*/ 4 h 481"/>
                      <a:gd name="T54" fmla="*/ 333 w 1011"/>
                      <a:gd name="T55" fmla="*/ 0 h 481"/>
                      <a:gd name="T56" fmla="*/ 246 w 1011"/>
                      <a:gd name="T57" fmla="*/ 6 h 481"/>
                      <a:gd name="T58" fmla="*/ 168 w 1011"/>
                      <a:gd name="T59" fmla="*/ 19 h 481"/>
                      <a:gd name="T60" fmla="*/ 103 w 1011"/>
                      <a:gd name="T61" fmla="*/ 41 h 481"/>
                      <a:gd name="T62" fmla="*/ 52 w 1011"/>
                      <a:gd name="T63" fmla="*/ 70 h 481"/>
                      <a:gd name="T64" fmla="*/ 17 w 1011"/>
                      <a:gd name="T65" fmla="*/ 106 h 481"/>
                      <a:gd name="T66" fmla="*/ 0 w 1011"/>
                      <a:gd name="T67" fmla="*/ 146 h 481"/>
                      <a:gd name="T68" fmla="*/ 1 w 1011"/>
                      <a:gd name="T69" fmla="*/ 146 h 4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011" h="481">
                        <a:moveTo>
                          <a:pt x="0" y="146"/>
                        </a:moveTo>
                        <a:lnTo>
                          <a:pt x="1" y="189"/>
                        </a:lnTo>
                        <a:lnTo>
                          <a:pt x="20" y="234"/>
                        </a:lnTo>
                        <a:lnTo>
                          <a:pt x="58" y="280"/>
                        </a:lnTo>
                        <a:lnTo>
                          <a:pt x="111" y="324"/>
                        </a:lnTo>
                        <a:lnTo>
                          <a:pt x="179" y="366"/>
                        </a:lnTo>
                        <a:lnTo>
                          <a:pt x="257" y="403"/>
                        </a:lnTo>
                        <a:lnTo>
                          <a:pt x="345" y="434"/>
                        </a:lnTo>
                        <a:lnTo>
                          <a:pt x="439" y="457"/>
                        </a:lnTo>
                        <a:lnTo>
                          <a:pt x="535" y="473"/>
                        </a:lnTo>
                        <a:lnTo>
                          <a:pt x="630" y="481"/>
                        </a:lnTo>
                        <a:lnTo>
                          <a:pt x="721" y="480"/>
                        </a:lnTo>
                        <a:lnTo>
                          <a:pt x="804" y="470"/>
                        </a:lnTo>
                        <a:lnTo>
                          <a:pt x="875" y="452"/>
                        </a:lnTo>
                        <a:lnTo>
                          <a:pt x="934" y="426"/>
                        </a:lnTo>
                        <a:lnTo>
                          <a:pt x="977" y="394"/>
                        </a:lnTo>
                        <a:lnTo>
                          <a:pt x="1003" y="356"/>
                        </a:lnTo>
                        <a:lnTo>
                          <a:pt x="1011" y="314"/>
                        </a:lnTo>
                        <a:lnTo>
                          <a:pt x="1001" y="269"/>
                        </a:lnTo>
                        <a:lnTo>
                          <a:pt x="972" y="223"/>
                        </a:lnTo>
                        <a:lnTo>
                          <a:pt x="927" y="178"/>
                        </a:lnTo>
                        <a:lnTo>
                          <a:pt x="867" y="135"/>
                        </a:lnTo>
                        <a:lnTo>
                          <a:pt x="794" y="97"/>
                        </a:lnTo>
                        <a:lnTo>
                          <a:pt x="709" y="63"/>
                        </a:lnTo>
                        <a:lnTo>
                          <a:pt x="618" y="35"/>
                        </a:lnTo>
                        <a:lnTo>
                          <a:pt x="522" y="15"/>
                        </a:lnTo>
                        <a:lnTo>
                          <a:pt x="426" y="4"/>
                        </a:lnTo>
                        <a:lnTo>
                          <a:pt x="333" y="0"/>
                        </a:lnTo>
                        <a:lnTo>
                          <a:pt x="246" y="6"/>
                        </a:lnTo>
                        <a:lnTo>
                          <a:pt x="168" y="19"/>
                        </a:lnTo>
                        <a:lnTo>
                          <a:pt x="103" y="41"/>
                        </a:lnTo>
                        <a:lnTo>
                          <a:pt x="52" y="70"/>
                        </a:lnTo>
                        <a:lnTo>
                          <a:pt x="17" y="106"/>
                        </a:lnTo>
                        <a:lnTo>
                          <a:pt x="0" y="146"/>
                        </a:lnTo>
                        <a:lnTo>
                          <a:pt x="1" y="14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85" name="Freeform 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45" y="1813"/>
                    <a:ext cx="1" cy="290"/>
                  </a:xfrm>
                  <a:custGeom>
                    <a:avLst/>
                    <a:gdLst>
                      <a:gd name="T0" fmla="*/ 0 w 1"/>
                      <a:gd name="T1" fmla="*/ 1416 h 1416"/>
                      <a:gd name="T2" fmla="*/ 0 w 1"/>
                      <a:gd name="T3" fmla="*/ 0 h 1416"/>
                      <a:gd name="T4" fmla="*/ 1 w 1"/>
                      <a:gd name="T5" fmla="*/ 0 h 14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416">
                        <a:moveTo>
                          <a:pt x="0" y="1416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86" name="Freeform 8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45" y="1661"/>
                    <a:ext cx="457" cy="152"/>
                  </a:xfrm>
                  <a:custGeom>
                    <a:avLst/>
                    <a:gdLst>
                      <a:gd name="T0" fmla="*/ 0 w 2224"/>
                      <a:gd name="T1" fmla="*/ 731 h 731"/>
                      <a:gd name="T2" fmla="*/ 2223 w 2224"/>
                      <a:gd name="T3" fmla="*/ 0 h 731"/>
                      <a:gd name="T4" fmla="*/ 2224 w 2224"/>
                      <a:gd name="T5" fmla="*/ 0 h 7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224" h="731">
                        <a:moveTo>
                          <a:pt x="0" y="731"/>
                        </a:moveTo>
                        <a:lnTo>
                          <a:pt x="2223" y="0"/>
                        </a:lnTo>
                        <a:lnTo>
                          <a:pt x="2224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87" name="Freeform 8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02" y="1661"/>
                    <a:ext cx="296" cy="2"/>
                  </a:xfrm>
                  <a:custGeom>
                    <a:avLst/>
                    <a:gdLst>
                      <a:gd name="T0" fmla="*/ 0 w 1444"/>
                      <a:gd name="T1" fmla="*/ 0 h 2"/>
                      <a:gd name="T2" fmla="*/ 1443 w 1444"/>
                      <a:gd name="T3" fmla="*/ 0 h 2"/>
                      <a:gd name="T4" fmla="*/ 1444 w 144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444" h="2">
                        <a:moveTo>
                          <a:pt x="0" y="0"/>
                        </a:moveTo>
                        <a:lnTo>
                          <a:pt x="1443" y="0"/>
                        </a:lnTo>
                        <a:lnTo>
                          <a:pt x="1444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88" name="Freeform 8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98" y="1661"/>
                    <a:ext cx="1" cy="347"/>
                  </a:xfrm>
                  <a:custGeom>
                    <a:avLst/>
                    <a:gdLst>
                      <a:gd name="T0" fmla="*/ 0 w 1"/>
                      <a:gd name="T1" fmla="*/ 0 h 1687"/>
                      <a:gd name="T2" fmla="*/ 0 w 1"/>
                      <a:gd name="T3" fmla="*/ 1687 h 1687"/>
                      <a:gd name="T4" fmla="*/ 1 w 1"/>
                      <a:gd name="T5" fmla="*/ 1687 h 16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687">
                        <a:moveTo>
                          <a:pt x="0" y="0"/>
                        </a:moveTo>
                        <a:lnTo>
                          <a:pt x="0" y="1687"/>
                        </a:lnTo>
                        <a:lnTo>
                          <a:pt x="1" y="1687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89" name="Freeform 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03" y="1850"/>
                    <a:ext cx="2" cy="442"/>
                  </a:xfrm>
                  <a:custGeom>
                    <a:avLst/>
                    <a:gdLst>
                      <a:gd name="T0" fmla="*/ 0 w 1"/>
                      <a:gd name="T1" fmla="*/ 0 h 2153"/>
                      <a:gd name="T2" fmla="*/ 0 w 1"/>
                      <a:gd name="T3" fmla="*/ 2153 h 2153"/>
                      <a:gd name="T4" fmla="*/ 1 w 1"/>
                      <a:gd name="T5" fmla="*/ 2153 h 21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153">
                        <a:moveTo>
                          <a:pt x="0" y="0"/>
                        </a:moveTo>
                        <a:lnTo>
                          <a:pt x="0" y="2153"/>
                        </a:lnTo>
                        <a:lnTo>
                          <a:pt x="1" y="215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90" name="Freeform 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53" y="1903"/>
                    <a:ext cx="1" cy="278"/>
                  </a:xfrm>
                  <a:custGeom>
                    <a:avLst/>
                    <a:gdLst>
                      <a:gd name="T0" fmla="*/ 0 w 1"/>
                      <a:gd name="T1" fmla="*/ 0 h 1358"/>
                      <a:gd name="T2" fmla="*/ 0 w 1"/>
                      <a:gd name="T3" fmla="*/ 1358 h 1358"/>
                      <a:gd name="T4" fmla="*/ 1 w 1"/>
                      <a:gd name="T5" fmla="*/ 1358 h 13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358">
                        <a:moveTo>
                          <a:pt x="0" y="0"/>
                        </a:moveTo>
                        <a:lnTo>
                          <a:pt x="0" y="1358"/>
                        </a:lnTo>
                        <a:lnTo>
                          <a:pt x="1" y="1358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91" name="Freeform 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80" y="2279"/>
                    <a:ext cx="1" cy="150"/>
                  </a:xfrm>
                  <a:custGeom>
                    <a:avLst/>
                    <a:gdLst>
                      <a:gd name="T0" fmla="*/ 0 w 1"/>
                      <a:gd name="T1" fmla="*/ 0 h 728"/>
                      <a:gd name="T2" fmla="*/ 0 w 1"/>
                      <a:gd name="T3" fmla="*/ 728 h 728"/>
                      <a:gd name="T4" fmla="*/ 1 w 1"/>
                      <a:gd name="T5" fmla="*/ 728 h 7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728">
                        <a:moveTo>
                          <a:pt x="0" y="0"/>
                        </a:moveTo>
                        <a:lnTo>
                          <a:pt x="0" y="728"/>
                        </a:lnTo>
                        <a:lnTo>
                          <a:pt x="1" y="728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92" name="Freeform 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03" y="1850"/>
                    <a:ext cx="150" cy="53"/>
                  </a:xfrm>
                  <a:custGeom>
                    <a:avLst/>
                    <a:gdLst>
                      <a:gd name="T0" fmla="*/ 0 w 729"/>
                      <a:gd name="T1" fmla="*/ 0 h 253"/>
                      <a:gd name="T2" fmla="*/ 728 w 729"/>
                      <a:gd name="T3" fmla="*/ 253 h 253"/>
                      <a:gd name="T4" fmla="*/ 729 w 729"/>
                      <a:gd name="T5" fmla="*/ 253 h 2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29" h="253">
                        <a:moveTo>
                          <a:pt x="0" y="0"/>
                        </a:moveTo>
                        <a:lnTo>
                          <a:pt x="728" y="253"/>
                        </a:lnTo>
                        <a:lnTo>
                          <a:pt x="729" y="25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93" name="Freeform 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03" y="2292"/>
                    <a:ext cx="477" cy="137"/>
                  </a:xfrm>
                  <a:custGeom>
                    <a:avLst/>
                    <a:gdLst>
                      <a:gd name="T0" fmla="*/ 0 w 2320"/>
                      <a:gd name="T1" fmla="*/ 0 h 661"/>
                      <a:gd name="T2" fmla="*/ 2319 w 2320"/>
                      <a:gd name="T3" fmla="*/ 661 h 661"/>
                      <a:gd name="T4" fmla="*/ 2320 w 2320"/>
                      <a:gd name="T5" fmla="*/ 661 h 6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320" h="661">
                        <a:moveTo>
                          <a:pt x="0" y="0"/>
                        </a:moveTo>
                        <a:lnTo>
                          <a:pt x="2319" y="661"/>
                        </a:lnTo>
                        <a:lnTo>
                          <a:pt x="2320" y="66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94" name="Freeform 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53" y="2181"/>
                    <a:ext cx="327" cy="98"/>
                  </a:xfrm>
                  <a:custGeom>
                    <a:avLst/>
                    <a:gdLst>
                      <a:gd name="T0" fmla="*/ 0 w 1592"/>
                      <a:gd name="T1" fmla="*/ 0 h 475"/>
                      <a:gd name="T2" fmla="*/ 1591 w 1592"/>
                      <a:gd name="T3" fmla="*/ 475 h 475"/>
                      <a:gd name="T4" fmla="*/ 1592 w 1592"/>
                      <a:gd name="T5" fmla="*/ 475 h 4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592" h="475">
                        <a:moveTo>
                          <a:pt x="0" y="0"/>
                        </a:moveTo>
                        <a:lnTo>
                          <a:pt x="1591" y="475"/>
                        </a:lnTo>
                        <a:lnTo>
                          <a:pt x="1592" y="475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95" name="Freeform 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03" y="1995"/>
                    <a:ext cx="150" cy="53"/>
                  </a:xfrm>
                  <a:custGeom>
                    <a:avLst/>
                    <a:gdLst>
                      <a:gd name="T0" fmla="*/ 0 w 729"/>
                      <a:gd name="T1" fmla="*/ 0 h 253"/>
                      <a:gd name="T2" fmla="*/ 728 w 729"/>
                      <a:gd name="T3" fmla="*/ 253 h 253"/>
                      <a:gd name="T4" fmla="*/ 729 w 729"/>
                      <a:gd name="T5" fmla="*/ 253 h 2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29" h="253">
                        <a:moveTo>
                          <a:pt x="0" y="0"/>
                        </a:moveTo>
                        <a:lnTo>
                          <a:pt x="728" y="253"/>
                        </a:lnTo>
                        <a:lnTo>
                          <a:pt x="729" y="25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96" name="Freeform 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73" y="2223"/>
                    <a:ext cx="2" cy="443"/>
                  </a:xfrm>
                  <a:custGeom>
                    <a:avLst/>
                    <a:gdLst>
                      <a:gd name="T0" fmla="*/ 0 w 1"/>
                      <a:gd name="T1" fmla="*/ 0 h 2151"/>
                      <a:gd name="T2" fmla="*/ 0 w 1"/>
                      <a:gd name="T3" fmla="*/ 2151 h 2151"/>
                      <a:gd name="T4" fmla="*/ 1 w 1"/>
                      <a:gd name="T5" fmla="*/ 2151 h 21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151">
                        <a:moveTo>
                          <a:pt x="0" y="0"/>
                        </a:moveTo>
                        <a:lnTo>
                          <a:pt x="0" y="2151"/>
                        </a:lnTo>
                        <a:lnTo>
                          <a:pt x="1" y="215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97" name="Freeform 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358" y="2611"/>
                    <a:ext cx="2" cy="301"/>
                  </a:xfrm>
                  <a:custGeom>
                    <a:avLst/>
                    <a:gdLst>
                      <a:gd name="T0" fmla="*/ 0 w 1"/>
                      <a:gd name="T1" fmla="*/ 0 h 1468"/>
                      <a:gd name="T2" fmla="*/ 0 w 1"/>
                      <a:gd name="T3" fmla="*/ 1468 h 1468"/>
                      <a:gd name="T4" fmla="*/ 1 w 1"/>
                      <a:gd name="T5" fmla="*/ 1468 h 14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468">
                        <a:moveTo>
                          <a:pt x="0" y="0"/>
                        </a:moveTo>
                        <a:lnTo>
                          <a:pt x="0" y="1468"/>
                        </a:lnTo>
                        <a:lnTo>
                          <a:pt x="1" y="1468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98" name="Freeform 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73" y="2223"/>
                    <a:ext cx="137" cy="71"/>
                  </a:xfrm>
                  <a:custGeom>
                    <a:avLst/>
                    <a:gdLst>
                      <a:gd name="T0" fmla="*/ 0 w 664"/>
                      <a:gd name="T1" fmla="*/ 0 h 342"/>
                      <a:gd name="T2" fmla="*/ 663 w 664"/>
                      <a:gd name="T3" fmla="*/ 342 h 342"/>
                      <a:gd name="T4" fmla="*/ 664 w 664"/>
                      <a:gd name="T5" fmla="*/ 342 h 3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64" h="342">
                        <a:moveTo>
                          <a:pt x="0" y="0"/>
                        </a:moveTo>
                        <a:lnTo>
                          <a:pt x="663" y="342"/>
                        </a:lnTo>
                        <a:lnTo>
                          <a:pt x="664" y="342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99" name="Freeform 9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10" y="2294"/>
                    <a:ext cx="348" cy="317"/>
                  </a:xfrm>
                  <a:custGeom>
                    <a:avLst/>
                    <a:gdLst>
                      <a:gd name="T0" fmla="*/ 0 w 1701"/>
                      <a:gd name="T1" fmla="*/ 0 h 1545"/>
                      <a:gd name="T2" fmla="*/ 1700 w 1701"/>
                      <a:gd name="T3" fmla="*/ 1545 h 1545"/>
                      <a:gd name="T4" fmla="*/ 1701 w 1701"/>
                      <a:gd name="T5" fmla="*/ 1545 h 15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701" h="1545">
                        <a:moveTo>
                          <a:pt x="0" y="0"/>
                        </a:moveTo>
                        <a:lnTo>
                          <a:pt x="1700" y="1545"/>
                        </a:lnTo>
                        <a:lnTo>
                          <a:pt x="1701" y="1545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00" name="Freeform 1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73" y="2666"/>
                    <a:ext cx="485" cy="246"/>
                  </a:xfrm>
                  <a:custGeom>
                    <a:avLst/>
                    <a:gdLst>
                      <a:gd name="T0" fmla="*/ 0 w 2364"/>
                      <a:gd name="T1" fmla="*/ 0 h 1204"/>
                      <a:gd name="T2" fmla="*/ 2363 w 2364"/>
                      <a:gd name="T3" fmla="*/ 1204 h 1204"/>
                      <a:gd name="T4" fmla="*/ 2364 w 2364"/>
                      <a:gd name="T5" fmla="*/ 1204 h 12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364" h="1204">
                        <a:moveTo>
                          <a:pt x="0" y="0"/>
                        </a:moveTo>
                        <a:lnTo>
                          <a:pt x="2363" y="1204"/>
                        </a:lnTo>
                        <a:lnTo>
                          <a:pt x="2364" y="1204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01" name="Freeform 10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62" y="713"/>
                    <a:ext cx="125" cy="215"/>
                  </a:xfrm>
                  <a:custGeom>
                    <a:avLst/>
                    <a:gdLst>
                      <a:gd name="T0" fmla="*/ 609 w 609"/>
                      <a:gd name="T1" fmla="*/ 0 h 1054"/>
                      <a:gd name="T2" fmla="*/ 0 w 609"/>
                      <a:gd name="T3" fmla="*/ 1054 h 1054"/>
                      <a:gd name="T4" fmla="*/ 1 w 609"/>
                      <a:gd name="T5" fmla="*/ 1054 h 10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09" h="1054">
                        <a:moveTo>
                          <a:pt x="609" y="0"/>
                        </a:moveTo>
                        <a:lnTo>
                          <a:pt x="0" y="1054"/>
                        </a:lnTo>
                        <a:lnTo>
                          <a:pt x="1" y="1054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02" name="Freeform 10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59" y="713"/>
                    <a:ext cx="127" cy="215"/>
                  </a:xfrm>
                  <a:custGeom>
                    <a:avLst/>
                    <a:gdLst>
                      <a:gd name="T0" fmla="*/ 611 w 611"/>
                      <a:gd name="T1" fmla="*/ 0 h 1054"/>
                      <a:gd name="T2" fmla="*/ 0 w 611"/>
                      <a:gd name="T3" fmla="*/ 1054 h 1054"/>
                      <a:gd name="T4" fmla="*/ 1 w 611"/>
                      <a:gd name="T5" fmla="*/ 1054 h 10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11" h="1054">
                        <a:moveTo>
                          <a:pt x="611" y="0"/>
                        </a:moveTo>
                        <a:lnTo>
                          <a:pt x="0" y="1054"/>
                        </a:lnTo>
                        <a:lnTo>
                          <a:pt x="1" y="1054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03" name="Freeform 1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41" y="743"/>
                    <a:ext cx="182" cy="85"/>
                  </a:xfrm>
                  <a:custGeom>
                    <a:avLst/>
                    <a:gdLst>
                      <a:gd name="T0" fmla="*/ 0 w 891"/>
                      <a:gd name="T1" fmla="*/ 279 h 414"/>
                      <a:gd name="T2" fmla="*/ 13 w 891"/>
                      <a:gd name="T3" fmla="*/ 315 h 414"/>
                      <a:gd name="T4" fmla="*/ 43 w 891"/>
                      <a:gd name="T5" fmla="*/ 347 h 414"/>
                      <a:gd name="T6" fmla="*/ 87 w 891"/>
                      <a:gd name="T7" fmla="*/ 373 h 414"/>
                      <a:gd name="T8" fmla="*/ 144 w 891"/>
                      <a:gd name="T9" fmla="*/ 394 h 414"/>
                      <a:gd name="T10" fmla="*/ 212 w 891"/>
                      <a:gd name="T11" fmla="*/ 408 h 414"/>
                      <a:gd name="T12" fmla="*/ 288 w 891"/>
                      <a:gd name="T13" fmla="*/ 414 h 414"/>
                      <a:gd name="T14" fmla="*/ 370 w 891"/>
                      <a:gd name="T15" fmla="*/ 414 h 414"/>
                      <a:gd name="T16" fmla="*/ 455 w 891"/>
                      <a:gd name="T17" fmla="*/ 405 h 414"/>
                      <a:gd name="T18" fmla="*/ 539 w 891"/>
                      <a:gd name="T19" fmla="*/ 390 h 414"/>
                      <a:gd name="T20" fmla="*/ 620 w 891"/>
                      <a:gd name="T21" fmla="*/ 368 h 414"/>
                      <a:gd name="T22" fmla="*/ 695 w 891"/>
                      <a:gd name="T23" fmla="*/ 341 h 414"/>
                      <a:gd name="T24" fmla="*/ 760 w 891"/>
                      <a:gd name="T25" fmla="*/ 308 h 414"/>
                      <a:gd name="T26" fmla="*/ 814 w 891"/>
                      <a:gd name="T27" fmla="*/ 271 h 414"/>
                      <a:gd name="T28" fmla="*/ 855 w 891"/>
                      <a:gd name="T29" fmla="*/ 233 h 414"/>
                      <a:gd name="T30" fmla="*/ 881 w 891"/>
                      <a:gd name="T31" fmla="*/ 194 h 414"/>
                      <a:gd name="T32" fmla="*/ 891 w 891"/>
                      <a:gd name="T33" fmla="*/ 155 h 414"/>
                      <a:gd name="T34" fmla="*/ 885 w 891"/>
                      <a:gd name="T35" fmla="*/ 118 h 414"/>
                      <a:gd name="T36" fmla="*/ 863 w 891"/>
                      <a:gd name="T37" fmla="*/ 84 h 414"/>
                      <a:gd name="T38" fmla="*/ 826 w 891"/>
                      <a:gd name="T39" fmla="*/ 55 h 414"/>
                      <a:gd name="T40" fmla="*/ 775 w 891"/>
                      <a:gd name="T41" fmla="*/ 31 h 414"/>
                      <a:gd name="T42" fmla="*/ 713 w 891"/>
                      <a:gd name="T43" fmla="*/ 14 h 414"/>
                      <a:gd name="T44" fmla="*/ 640 w 891"/>
                      <a:gd name="T45" fmla="*/ 4 h 414"/>
                      <a:gd name="T46" fmla="*/ 561 w 891"/>
                      <a:gd name="T47" fmla="*/ 0 h 414"/>
                      <a:gd name="T48" fmla="*/ 477 w 891"/>
                      <a:gd name="T49" fmla="*/ 6 h 414"/>
                      <a:gd name="T50" fmla="*/ 392 w 891"/>
                      <a:gd name="T51" fmla="*/ 17 h 414"/>
                      <a:gd name="T52" fmla="*/ 310 w 891"/>
                      <a:gd name="T53" fmla="*/ 36 h 414"/>
                      <a:gd name="T54" fmla="*/ 231 w 891"/>
                      <a:gd name="T55" fmla="*/ 61 h 414"/>
                      <a:gd name="T56" fmla="*/ 161 w 891"/>
                      <a:gd name="T57" fmla="*/ 91 h 414"/>
                      <a:gd name="T58" fmla="*/ 101 w 891"/>
                      <a:gd name="T59" fmla="*/ 126 h 414"/>
                      <a:gd name="T60" fmla="*/ 53 w 891"/>
                      <a:gd name="T61" fmla="*/ 163 h 414"/>
                      <a:gd name="T62" fmla="*/ 19 w 891"/>
                      <a:gd name="T63" fmla="*/ 203 h 414"/>
                      <a:gd name="T64" fmla="*/ 2 w 891"/>
                      <a:gd name="T65" fmla="*/ 242 h 414"/>
                      <a:gd name="T66" fmla="*/ 0 w 891"/>
                      <a:gd name="T67" fmla="*/ 279 h 414"/>
                      <a:gd name="T68" fmla="*/ 1 w 891"/>
                      <a:gd name="T69" fmla="*/ 279 h 4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91" h="414">
                        <a:moveTo>
                          <a:pt x="0" y="279"/>
                        </a:moveTo>
                        <a:lnTo>
                          <a:pt x="13" y="315"/>
                        </a:lnTo>
                        <a:lnTo>
                          <a:pt x="43" y="347"/>
                        </a:lnTo>
                        <a:lnTo>
                          <a:pt x="87" y="373"/>
                        </a:lnTo>
                        <a:lnTo>
                          <a:pt x="144" y="394"/>
                        </a:lnTo>
                        <a:lnTo>
                          <a:pt x="212" y="408"/>
                        </a:lnTo>
                        <a:lnTo>
                          <a:pt x="288" y="414"/>
                        </a:lnTo>
                        <a:lnTo>
                          <a:pt x="370" y="414"/>
                        </a:lnTo>
                        <a:lnTo>
                          <a:pt x="455" y="405"/>
                        </a:lnTo>
                        <a:lnTo>
                          <a:pt x="539" y="390"/>
                        </a:lnTo>
                        <a:lnTo>
                          <a:pt x="620" y="368"/>
                        </a:lnTo>
                        <a:lnTo>
                          <a:pt x="695" y="341"/>
                        </a:lnTo>
                        <a:lnTo>
                          <a:pt x="760" y="308"/>
                        </a:lnTo>
                        <a:lnTo>
                          <a:pt x="814" y="271"/>
                        </a:lnTo>
                        <a:lnTo>
                          <a:pt x="855" y="233"/>
                        </a:lnTo>
                        <a:lnTo>
                          <a:pt x="881" y="194"/>
                        </a:lnTo>
                        <a:lnTo>
                          <a:pt x="891" y="155"/>
                        </a:lnTo>
                        <a:lnTo>
                          <a:pt x="885" y="118"/>
                        </a:lnTo>
                        <a:lnTo>
                          <a:pt x="863" y="84"/>
                        </a:lnTo>
                        <a:lnTo>
                          <a:pt x="826" y="55"/>
                        </a:lnTo>
                        <a:lnTo>
                          <a:pt x="775" y="31"/>
                        </a:lnTo>
                        <a:lnTo>
                          <a:pt x="713" y="14"/>
                        </a:lnTo>
                        <a:lnTo>
                          <a:pt x="640" y="4"/>
                        </a:lnTo>
                        <a:lnTo>
                          <a:pt x="561" y="0"/>
                        </a:lnTo>
                        <a:lnTo>
                          <a:pt x="477" y="6"/>
                        </a:lnTo>
                        <a:lnTo>
                          <a:pt x="392" y="17"/>
                        </a:lnTo>
                        <a:lnTo>
                          <a:pt x="310" y="36"/>
                        </a:lnTo>
                        <a:lnTo>
                          <a:pt x="231" y="61"/>
                        </a:lnTo>
                        <a:lnTo>
                          <a:pt x="161" y="91"/>
                        </a:lnTo>
                        <a:lnTo>
                          <a:pt x="101" y="126"/>
                        </a:lnTo>
                        <a:lnTo>
                          <a:pt x="53" y="163"/>
                        </a:lnTo>
                        <a:lnTo>
                          <a:pt x="19" y="203"/>
                        </a:lnTo>
                        <a:lnTo>
                          <a:pt x="2" y="242"/>
                        </a:lnTo>
                        <a:lnTo>
                          <a:pt x="0" y="279"/>
                        </a:lnTo>
                        <a:lnTo>
                          <a:pt x="1" y="279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04" name="Freeform 10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629" y="739"/>
                    <a:ext cx="182" cy="84"/>
                  </a:xfrm>
                  <a:custGeom>
                    <a:avLst/>
                    <a:gdLst>
                      <a:gd name="T0" fmla="*/ 0 w 891"/>
                      <a:gd name="T1" fmla="*/ 279 h 414"/>
                      <a:gd name="T2" fmla="*/ 13 w 891"/>
                      <a:gd name="T3" fmla="*/ 315 h 414"/>
                      <a:gd name="T4" fmla="*/ 43 w 891"/>
                      <a:gd name="T5" fmla="*/ 346 h 414"/>
                      <a:gd name="T6" fmla="*/ 87 w 891"/>
                      <a:gd name="T7" fmla="*/ 373 h 414"/>
                      <a:gd name="T8" fmla="*/ 144 w 891"/>
                      <a:gd name="T9" fmla="*/ 393 h 414"/>
                      <a:gd name="T10" fmla="*/ 212 w 891"/>
                      <a:gd name="T11" fmla="*/ 407 h 414"/>
                      <a:gd name="T12" fmla="*/ 288 w 891"/>
                      <a:gd name="T13" fmla="*/ 414 h 414"/>
                      <a:gd name="T14" fmla="*/ 370 w 891"/>
                      <a:gd name="T15" fmla="*/ 413 h 414"/>
                      <a:gd name="T16" fmla="*/ 454 w 891"/>
                      <a:gd name="T17" fmla="*/ 405 h 414"/>
                      <a:gd name="T18" fmla="*/ 539 w 891"/>
                      <a:gd name="T19" fmla="*/ 389 h 414"/>
                      <a:gd name="T20" fmla="*/ 620 w 891"/>
                      <a:gd name="T21" fmla="*/ 367 h 414"/>
                      <a:gd name="T22" fmla="*/ 694 w 891"/>
                      <a:gd name="T23" fmla="*/ 339 h 414"/>
                      <a:gd name="T24" fmla="*/ 760 w 891"/>
                      <a:gd name="T25" fmla="*/ 307 h 414"/>
                      <a:gd name="T26" fmla="*/ 814 w 891"/>
                      <a:gd name="T27" fmla="*/ 271 h 414"/>
                      <a:gd name="T28" fmla="*/ 855 w 891"/>
                      <a:gd name="T29" fmla="*/ 232 h 414"/>
                      <a:gd name="T30" fmla="*/ 880 w 891"/>
                      <a:gd name="T31" fmla="*/ 192 h 414"/>
                      <a:gd name="T32" fmla="*/ 891 w 891"/>
                      <a:gd name="T33" fmla="*/ 153 h 414"/>
                      <a:gd name="T34" fmla="*/ 884 w 891"/>
                      <a:gd name="T35" fmla="*/ 117 h 414"/>
                      <a:gd name="T36" fmla="*/ 863 w 891"/>
                      <a:gd name="T37" fmla="*/ 83 h 414"/>
                      <a:gd name="T38" fmla="*/ 826 w 891"/>
                      <a:gd name="T39" fmla="*/ 54 h 414"/>
                      <a:gd name="T40" fmla="*/ 775 w 891"/>
                      <a:gd name="T41" fmla="*/ 30 h 414"/>
                      <a:gd name="T42" fmla="*/ 713 w 891"/>
                      <a:gd name="T43" fmla="*/ 12 h 414"/>
                      <a:gd name="T44" fmla="*/ 640 w 891"/>
                      <a:gd name="T45" fmla="*/ 2 h 414"/>
                      <a:gd name="T46" fmla="*/ 561 w 891"/>
                      <a:gd name="T47" fmla="*/ 0 h 414"/>
                      <a:gd name="T48" fmla="*/ 477 w 891"/>
                      <a:gd name="T49" fmla="*/ 4 h 414"/>
                      <a:gd name="T50" fmla="*/ 392 w 891"/>
                      <a:gd name="T51" fmla="*/ 16 h 414"/>
                      <a:gd name="T52" fmla="*/ 309 w 891"/>
                      <a:gd name="T53" fmla="*/ 35 h 414"/>
                      <a:gd name="T54" fmla="*/ 231 w 891"/>
                      <a:gd name="T55" fmla="*/ 60 h 414"/>
                      <a:gd name="T56" fmla="*/ 161 w 891"/>
                      <a:gd name="T57" fmla="*/ 90 h 414"/>
                      <a:gd name="T58" fmla="*/ 101 w 891"/>
                      <a:gd name="T59" fmla="*/ 125 h 414"/>
                      <a:gd name="T60" fmla="*/ 53 w 891"/>
                      <a:gd name="T61" fmla="*/ 163 h 414"/>
                      <a:gd name="T62" fmla="*/ 19 w 891"/>
                      <a:gd name="T63" fmla="*/ 201 h 414"/>
                      <a:gd name="T64" fmla="*/ 2 w 891"/>
                      <a:gd name="T65" fmla="*/ 241 h 414"/>
                      <a:gd name="T66" fmla="*/ 0 w 891"/>
                      <a:gd name="T67" fmla="*/ 279 h 414"/>
                      <a:gd name="T68" fmla="*/ 1 w 891"/>
                      <a:gd name="T69" fmla="*/ 279 h 4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91" h="414">
                        <a:moveTo>
                          <a:pt x="0" y="279"/>
                        </a:moveTo>
                        <a:lnTo>
                          <a:pt x="13" y="315"/>
                        </a:lnTo>
                        <a:lnTo>
                          <a:pt x="43" y="346"/>
                        </a:lnTo>
                        <a:lnTo>
                          <a:pt x="87" y="373"/>
                        </a:lnTo>
                        <a:lnTo>
                          <a:pt x="144" y="393"/>
                        </a:lnTo>
                        <a:lnTo>
                          <a:pt x="212" y="407"/>
                        </a:lnTo>
                        <a:lnTo>
                          <a:pt x="288" y="414"/>
                        </a:lnTo>
                        <a:lnTo>
                          <a:pt x="370" y="413"/>
                        </a:lnTo>
                        <a:lnTo>
                          <a:pt x="454" y="405"/>
                        </a:lnTo>
                        <a:lnTo>
                          <a:pt x="539" y="389"/>
                        </a:lnTo>
                        <a:lnTo>
                          <a:pt x="620" y="367"/>
                        </a:lnTo>
                        <a:lnTo>
                          <a:pt x="694" y="339"/>
                        </a:lnTo>
                        <a:lnTo>
                          <a:pt x="760" y="307"/>
                        </a:lnTo>
                        <a:lnTo>
                          <a:pt x="814" y="271"/>
                        </a:lnTo>
                        <a:lnTo>
                          <a:pt x="855" y="232"/>
                        </a:lnTo>
                        <a:lnTo>
                          <a:pt x="880" y="192"/>
                        </a:lnTo>
                        <a:lnTo>
                          <a:pt x="891" y="153"/>
                        </a:lnTo>
                        <a:lnTo>
                          <a:pt x="884" y="117"/>
                        </a:lnTo>
                        <a:lnTo>
                          <a:pt x="863" y="83"/>
                        </a:lnTo>
                        <a:lnTo>
                          <a:pt x="826" y="54"/>
                        </a:lnTo>
                        <a:lnTo>
                          <a:pt x="775" y="30"/>
                        </a:lnTo>
                        <a:lnTo>
                          <a:pt x="713" y="12"/>
                        </a:lnTo>
                        <a:lnTo>
                          <a:pt x="640" y="2"/>
                        </a:lnTo>
                        <a:lnTo>
                          <a:pt x="561" y="0"/>
                        </a:lnTo>
                        <a:lnTo>
                          <a:pt x="477" y="4"/>
                        </a:lnTo>
                        <a:lnTo>
                          <a:pt x="392" y="16"/>
                        </a:lnTo>
                        <a:lnTo>
                          <a:pt x="309" y="35"/>
                        </a:lnTo>
                        <a:lnTo>
                          <a:pt x="231" y="60"/>
                        </a:lnTo>
                        <a:lnTo>
                          <a:pt x="161" y="90"/>
                        </a:lnTo>
                        <a:lnTo>
                          <a:pt x="101" y="125"/>
                        </a:lnTo>
                        <a:lnTo>
                          <a:pt x="53" y="163"/>
                        </a:lnTo>
                        <a:lnTo>
                          <a:pt x="19" y="201"/>
                        </a:lnTo>
                        <a:lnTo>
                          <a:pt x="2" y="241"/>
                        </a:lnTo>
                        <a:lnTo>
                          <a:pt x="0" y="279"/>
                        </a:lnTo>
                        <a:lnTo>
                          <a:pt x="1" y="279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05" name="Freeform 10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4" y="1822"/>
                    <a:ext cx="136" cy="48"/>
                  </a:xfrm>
                  <a:custGeom>
                    <a:avLst/>
                    <a:gdLst>
                      <a:gd name="T0" fmla="*/ 0 w 667"/>
                      <a:gd name="T1" fmla="*/ 233 h 233"/>
                      <a:gd name="T2" fmla="*/ 666 w 667"/>
                      <a:gd name="T3" fmla="*/ 0 h 233"/>
                      <a:gd name="T4" fmla="*/ 667 w 667"/>
                      <a:gd name="T5" fmla="*/ 0 h 2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67" h="233">
                        <a:moveTo>
                          <a:pt x="0" y="233"/>
                        </a:moveTo>
                        <a:lnTo>
                          <a:pt x="666" y="0"/>
                        </a:lnTo>
                        <a:lnTo>
                          <a:pt x="667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36" name="Group 106"/>
                <p:cNvGrpSpPr>
                  <a:grpSpLocks noChangeAspect="1"/>
                </p:cNvGrpSpPr>
                <p:nvPr/>
              </p:nvGrpSpPr>
              <p:grpSpPr bwMode="auto">
                <a:xfrm>
                  <a:off x="-18" y="364"/>
                  <a:ext cx="5778" cy="3584"/>
                  <a:chOff x="-18" y="364"/>
                  <a:chExt cx="5778" cy="3584"/>
                </a:xfrm>
              </p:grpSpPr>
              <p:grpSp>
                <p:nvGrpSpPr>
                  <p:cNvPr id="37" name="Group 10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-18" y="364"/>
                    <a:ext cx="5778" cy="3584"/>
                    <a:chOff x="-18" y="364"/>
                    <a:chExt cx="5778" cy="3584"/>
                  </a:xfrm>
                </p:grpSpPr>
                <p:sp>
                  <p:nvSpPr>
                    <p:cNvPr id="62" name="Freeform 1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-18" y="1416"/>
                      <a:ext cx="220" cy="186"/>
                    </a:xfrm>
                    <a:custGeom>
                      <a:avLst/>
                      <a:gdLst>
                        <a:gd name="T0" fmla="*/ 0 w 1077"/>
                        <a:gd name="T1" fmla="*/ 0 h 898"/>
                        <a:gd name="T2" fmla="*/ 245 w 1077"/>
                        <a:gd name="T3" fmla="*/ 421 h 898"/>
                        <a:gd name="T4" fmla="*/ 619 w 1077"/>
                        <a:gd name="T5" fmla="*/ 731 h 898"/>
                        <a:gd name="T6" fmla="*/ 1076 w 1077"/>
                        <a:gd name="T7" fmla="*/ 898 h 898"/>
                        <a:gd name="T8" fmla="*/ 1077 w 1077"/>
                        <a:gd name="T9" fmla="*/ 898 h 89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77" h="898">
                          <a:moveTo>
                            <a:pt x="0" y="0"/>
                          </a:moveTo>
                          <a:lnTo>
                            <a:pt x="245" y="421"/>
                          </a:lnTo>
                          <a:lnTo>
                            <a:pt x="619" y="731"/>
                          </a:lnTo>
                          <a:lnTo>
                            <a:pt x="1076" y="898"/>
                          </a:lnTo>
                          <a:lnTo>
                            <a:pt x="1077" y="898"/>
                          </a:lnTo>
                        </a:path>
                      </a:pathLst>
                    </a:custGeom>
                    <a:noFill/>
                    <a:ln w="19050">
                      <a:solidFill>
                        <a:schemeClr val="tx1"/>
                      </a:solidFill>
                      <a:round/>
                      <a:headEnd type="triangle" w="sm" len="lg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63" name="Freeform 10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414" y="364"/>
                      <a:ext cx="118" cy="166"/>
                    </a:xfrm>
                    <a:custGeom>
                      <a:avLst/>
                      <a:gdLst>
                        <a:gd name="T0" fmla="*/ 582 w 582"/>
                        <a:gd name="T1" fmla="*/ 803 h 803"/>
                        <a:gd name="T2" fmla="*/ 484 w 582"/>
                        <a:gd name="T3" fmla="*/ 474 h 803"/>
                        <a:gd name="T4" fmla="*/ 282 w 582"/>
                        <a:gd name="T5" fmla="*/ 196 h 803"/>
                        <a:gd name="T6" fmla="*/ 0 w 582"/>
                        <a:gd name="T7" fmla="*/ 0 h 803"/>
                        <a:gd name="T8" fmla="*/ 1 w 582"/>
                        <a:gd name="T9" fmla="*/ 0 h 80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82" h="803">
                          <a:moveTo>
                            <a:pt x="582" y="803"/>
                          </a:moveTo>
                          <a:lnTo>
                            <a:pt x="484" y="474"/>
                          </a:lnTo>
                          <a:lnTo>
                            <a:pt x="282" y="196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 type="triangle" w="sm" len="lg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64" name="Freeform 11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65" y="3711"/>
                      <a:ext cx="107" cy="237"/>
                    </a:xfrm>
                    <a:custGeom>
                      <a:avLst/>
                      <a:gdLst>
                        <a:gd name="T0" fmla="*/ 0 w 522"/>
                        <a:gd name="T1" fmla="*/ 1160 h 1160"/>
                        <a:gd name="T2" fmla="*/ 279 w 522"/>
                        <a:gd name="T3" fmla="*/ 826 h 1160"/>
                        <a:gd name="T4" fmla="*/ 457 w 522"/>
                        <a:gd name="T5" fmla="*/ 429 h 1160"/>
                        <a:gd name="T6" fmla="*/ 521 w 522"/>
                        <a:gd name="T7" fmla="*/ 0 h 1160"/>
                        <a:gd name="T8" fmla="*/ 522 w 522"/>
                        <a:gd name="T9" fmla="*/ 0 h 116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22" h="1160">
                          <a:moveTo>
                            <a:pt x="0" y="1160"/>
                          </a:moveTo>
                          <a:lnTo>
                            <a:pt x="279" y="826"/>
                          </a:lnTo>
                          <a:lnTo>
                            <a:pt x="457" y="429"/>
                          </a:lnTo>
                          <a:lnTo>
                            <a:pt x="521" y="0"/>
                          </a:lnTo>
                          <a:lnTo>
                            <a:pt x="522" y="0"/>
                          </a:lnTo>
                        </a:path>
                      </a:pathLst>
                    </a:custGeom>
                    <a:noFill/>
                    <a:ln w="19050">
                      <a:solidFill>
                        <a:schemeClr val="tx1"/>
                      </a:solidFill>
                      <a:round/>
                      <a:headEnd type="triangle" w="sm" len="lg"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65" name="Freeform 1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609" y="1855"/>
                      <a:ext cx="151" cy="281"/>
                    </a:xfrm>
                    <a:custGeom>
                      <a:avLst/>
                      <a:gdLst>
                        <a:gd name="T0" fmla="*/ 0 w 736"/>
                        <a:gd name="T1" fmla="*/ 1372 h 1372"/>
                        <a:gd name="T2" fmla="*/ 355 w 736"/>
                        <a:gd name="T3" fmla="*/ 980 h 1372"/>
                        <a:gd name="T4" fmla="*/ 604 w 736"/>
                        <a:gd name="T5" fmla="*/ 513 h 1372"/>
                        <a:gd name="T6" fmla="*/ 735 w 736"/>
                        <a:gd name="T7" fmla="*/ 0 h 1372"/>
                        <a:gd name="T8" fmla="*/ 736 w 736"/>
                        <a:gd name="T9" fmla="*/ 0 h 137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736" h="1372">
                          <a:moveTo>
                            <a:pt x="0" y="1372"/>
                          </a:moveTo>
                          <a:lnTo>
                            <a:pt x="355" y="980"/>
                          </a:lnTo>
                          <a:lnTo>
                            <a:pt x="604" y="513"/>
                          </a:lnTo>
                          <a:lnTo>
                            <a:pt x="735" y="0"/>
                          </a:lnTo>
                          <a:lnTo>
                            <a:pt x="736" y="0"/>
                          </a:lnTo>
                        </a:path>
                      </a:pathLst>
                    </a:cu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 type="triangle" w="sm" len="lg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38" name="Group 112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01" y="530"/>
                    <a:ext cx="5409" cy="3283"/>
                    <a:chOff x="201" y="530"/>
                    <a:chExt cx="5409" cy="3283"/>
                  </a:xfrm>
                </p:grpSpPr>
                <p:grpSp>
                  <p:nvGrpSpPr>
                    <p:cNvPr id="39" name="Group 113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201" y="530"/>
                      <a:ext cx="5409" cy="3283"/>
                      <a:chOff x="201" y="530"/>
                      <a:chExt cx="5409" cy="3283"/>
                    </a:xfrm>
                  </p:grpSpPr>
                  <p:grpSp>
                    <p:nvGrpSpPr>
                      <p:cNvPr id="43" name="Group 114"/>
                      <p:cNvGrpSpPr>
                        <a:grpSpLocks noChangeAspect="1"/>
                      </p:cNvGrpSpPr>
                      <p:nvPr/>
                    </p:nvGrpSpPr>
                    <p:grpSpPr bwMode="auto">
                      <a:xfrm>
                        <a:off x="201" y="530"/>
                        <a:ext cx="5409" cy="3283"/>
                        <a:chOff x="201" y="530"/>
                        <a:chExt cx="5409" cy="3283"/>
                      </a:xfrm>
                    </p:grpSpPr>
                    <p:sp>
                      <p:nvSpPr>
                        <p:cNvPr id="45" name="Freeform 115"/>
                        <p:cNvSpPr>
                          <a:spLocks noChangeAspect="1" noChangeArrowheads="1"/>
                        </p:cNvSpPr>
                        <p:nvPr/>
                      </p:nvSpPr>
                      <p:spPr bwMode="auto">
                        <a:xfrm>
                          <a:off x="2094" y="3708"/>
                          <a:ext cx="1678" cy="3"/>
                        </a:xfrm>
                        <a:custGeom>
                          <a:avLst/>
                          <a:gdLst>
                            <a:gd name="T0" fmla="*/ 0 w 1678"/>
                            <a:gd name="T1" fmla="*/ 0 h 3"/>
                            <a:gd name="T2" fmla="*/ 1678 w 1678"/>
                            <a:gd name="T3" fmla="*/ 3 h 3"/>
                            <a:gd name="T4" fmla="*/ 1678 w 1678"/>
                            <a:gd name="T5" fmla="*/ 3 h 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</a:cxnLst>
                          <a:rect l="0" t="0" r="r" b="b"/>
                          <a:pathLst>
                            <a:path w="1678" h="3">
                              <a:moveTo>
                                <a:pt x="0" y="0"/>
                              </a:moveTo>
                              <a:lnTo>
                                <a:pt x="1678" y="3"/>
                              </a:lnTo>
                            </a:path>
                          </a:pathLst>
                        </a:custGeom>
                        <a:solidFill>
                          <a:schemeClr val="tx1"/>
                        </a:solidFill>
                        <a:ln w="127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1pPr>
                          <a:lvl2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2pPr>
                          <a:lvl3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3pPr>
                          <a:lvl4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4pPr>
                          <a:lvl5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5pPr>
                          <a:lvl6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6pPr>
                          <a:lvl7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7pPr>
                          <a:lvl8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8pPr>
                          <a:lvl9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46" name="Freeform 116"/>
                        <p:cNvSpPr>
                          <a:spLocks noChangeAspect="1" noChangeArrowheads="1"/>
                        </p:cNvSpPr>
                        <p:nvPr/>
                      </p:nvSpPr>
                      <p:spPr bwMode="auto">
                        <a:xfrm>
                          <a:off x="1428" y="2889"/>
                          <a:ext cx="1671" cy="3"/>
                        </a:xfrm>
                        <a:custGeom>
                          <a:avLst/>
                          <a:gdLst>
                            <a:gd name="T0" fmla="*/ 0 w 1671"/>
                            <a:gd name="T1" fmla="*/ 3 h 3"/>
                            <a:gd name="T2" fmla="*/ 1671 w 1671"/>
                            <a:gd name="T3" fmla="*/ 0 h 3"/>
                            <a:gd name="T4" fmla="*/ 1671 w 1671"/>
                            <a:gd name="T5" fmla="*/ 0 h 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</a:cxnLst>
                          <a:rect l="0" t="0" r="r" b="b"/>
                          <a:pathLst>
                            <a:path w="1671" h="3">
                              <a:moveTo>
                                <a:pt x="0" y="3"/>
                              </a:moveTo>
                              <a:lnTo>
                                <a:pt x="1671" y="0"/>
                              </a:lnTo>
                            </a:path>
                          </a:pathLst>
                        </a:custGeom>
                        <a:solidFill>
                          <a:schemeClr val="tx1"/>
                        </a:solidFill>
                        <a:ln w="127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1pPr>
                          <a:lvl2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2pPr>
                          <a:lvl3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3pPr>
                          <a:lvl4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4pPr>
                          <a:lvl5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5pPr>
                          <a:lvl6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6pPr>
                          <a:lvl7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7pPr>
                          <a:lvl8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8pPr>
                          <a:lvl9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47" name="Freeform 117"/>
                        <p:cNvSpPr>
                          <a:spLocks noChangeAspect="1" noChangeArrowheads="1"/>
                        </p:cNvSpPr>
                        <p:nvPr/>
                      </p:nvSpPr>
                      <p:spPr bwMode="auto">
                        <a:xfrm>
                          <a:off x="1432" y="1236"/>
                          <a:ext cx="1667" cy="1"/>
                        </a:xfrm>
                        <a:custGeom>
                          <a:avLst/>
                          <a:gdLst>
                            <a:gd name="T0" fmla="*/ 0 w 1667"/>
                            <a:gd name="T1" fmla="*/ 0 h 1"/>
                            <a:gd name="T2" fmla="*/ 1667 w 1667"/>
                            <a:gd name="T3" fmla="*/ 1 h 1"/>
                            <a:gd name="T4" fmla="*/ 1667 w 1667"/>
                            <a:gd name="T5" fmla="*/ 1 h 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</a:cxnLst>
                          <a:rect l="0" t="0" r="r" b="b"/>
                          <a:pathLst>
                            <a:path w="1667" h="1">
                              <a:moveTo>
                                <a:pt x="0" y="0"/>
                              </a:moveTo>
                              <a:lnTo>
                                <a:pt x="1667" y="1"/>
                              </a:lnTo>
                            </a:path>
                          </a:pathLst>
                        </a:custGeom>
                        <a:solidFill>
                          <a:schemeClr val="tx1"/>
                        </a:solidFill>
                        <a:ln w="127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1pPr>
                          <a:lvl2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2pPr>
                          <a:lvl3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3pPr>
                          <a:lvl4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4pPr>
                          <a:lvl5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5pPr>
                          <a:lvl6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6pPr>
                          <a:lvl7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7pPr>
                          <a:lvl8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8pPr>
                          <a:lvl9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48" name="Freeform 118"/>
                        <p:cNvSpPr>
                          <a:spLocks noChangeAspect="1" noChangeArrowheads="1"/>
                        </p:cNvSpPr>
                        <p:nvPr/>
                      </p:nvSpPr>
                      <p:spPr bwMode="auto">
                        <a:xfrm>
                          <a:off x="1891" y="530"/>
                          <a:ext cx="1642" cy="2"/>
                        </a:xfrm>
                        <a:custGeom>
                          <a:avLst/>
                          <a:gdLst>
                            <a:gd name="T0" fmla="*/ 0 w 7991"/>
                            <a:gd name="T1" fmla="*/ 0 h 2"/>
                            <a:gd name="T2" fmla="*/ 7990 w 7991"/>
                            <a:gd name="T3" fmla="*/ 0 h 2"/>
                            <a:gd name="T4" fmla="*/ 7991 w 7991"/>
                            <a:gd name="T5" fmla="*/ 0 h 2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</a:cxnLst>
                          <a:rect l="0" t="0" r="r" b="b"/>
                          <a:pathLst>
                            <a:path w="7991" h="2">
                              <a:moveTo>
                                <a:pt x="0" y="0"/>
                              </a:moveTo>
                              <a:lnTo>
                                <a:pt x="7990" y="0"/>
                              </a:lnTo>
                              <a:lnTo>
                                <a:pt x="7991" y="0"/>
                              </a:lnTo>
                            </a:path>
                          </a:pathLst>
                        </a:custGeom>
                        <a:solidFill>
                          <a:schemeClr val="tx1"/>
                        </a:solidFill>
                        <a:ln w="127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1pPr>
                          <a:lvl2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2pPr>
                          <a:lvl3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3pPr>
                          <a:lvl4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4pPr>
                          <a:lvl5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5pPr>
                          <a:lvl6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6pPr>
                          <a:lvl7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7pPr>
                          <a:lvl8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8pPr>
                          <a:lvl9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49" name="Freeform 119"/>
                        <p:cNvSpPr>
                          <a:spLocks noChangeAspect="1" noChangeArrowheads="1"/>
                        </p:cNvSpPr>
                        <p:nvPr/>
                      </p:nvSpPr>
                      <p:spPr bwMode="auto">
                        <a:xfrm>
                          <a:off x="3099" y="1232"/>
                          <a:ext cx="2" cy="1144"/>
                        </a:xfrm>
                        <a:custGeom>
                          <a:avLst/>
                          <a:gdLst>
                            <a:gd name="T0" fmla="*/ 1 w 2"/>
                            <a:gd name="T1" fmla="*/ 0 h 1144"/>
                            <a:gd name="T2" fmla="*/ 0 w 2"/>
                            <a:gd name="T3" fmla="*/ 1144 h 1144"/>
                            <a:gd name="T4" fmla="*/ 2 w 2"/>
                            <a:gd name="T5" fmla="*/ 1144 h 114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</a:cxnLst>
                          <a:rect l="0" t="0" r="r" b="b"/>
                          <a:pathLst>
                            <a:path w="2" h="1144">
                              <a:moveTo>
                                <a:pt x="1" y="0"/>
                              </a:moveTo>
                              <a:lnTo>
                                <a:pt x="0" y="1144"/>
                              </a:lnTo>
                              <a:lnTo>
                                <a:pt x="2" y="1144"/>
                              </a:lnTo>
                            </a:path>
                          </a:pathLst>
                        </a:custGeom>
                        <a:solidFill>
                          <a:schemeClr val="accent1"/>
                        </a:solidFill>
                        <a:ln w="127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1pPr>
                          <a:lvl2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2pPr>
                          <a:lvl3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3pPr>
                          <a:lvl4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4pPr>
                          <a:lvl5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5pPr>
                          <a:lvl6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6pPr>
                          <a:lvl7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7pPr>
                          <a:lvl8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8pPr>
                          <a:lvl9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50" name="Freeform 120"/>
                        <p:cNvSpPr>
                          <a:spLocks noChangeAspect="1" noChangeArrowheads="1"/>
                        </p:cNvSpPr>
                        <p:nvPr/>
                      </p:nvSpPr>
                      <p:spPr bwMode="auto">
                        <a:xfrm>
                          <a:off x="4650" y="1646"/>
                          <a:ext cx="1" cy="1677"/>
                        </a:xfrm>
                        <a:custGeom>
                          <a:avLst/>
                          <a:gdLst>
                            <a:gd name="T0" fmla="*/ 0 w 1"/>
                            <a:gd name="T1" fmla="*/ 0 h 8155"/>
                            <a:gd name="T2" fmla="*/ 0 w 1"/>
                            <a:gd name="T3" fmla="*/ 8155 h 8155"/>
                            <a:gd name="T4" fmla="*/ 1 w 1"/>
                            <a:gd name="T5" fmla="*/ 8155 h 8155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</a:cxnLst>
                          <a:rect l="0" t="0" r="r" b="b"/>
                          <a:pathLst>
                            <a:path w="1" h="8155">
                              <a:moveTo>
                                <a:pt x="0" y="0"/>
                              </a:moveTo>
                              <a:lnTo>
                                <a:pt x="0" y="8155"/>
                              </a:lnTo>
                              <a:lnTo>
                                <a:pt x="1" y="8155"/>
                              </a:lnTo>
                            </a:path>
                          </a:pathLst>
                        </a:custGeom>
                        <a:solidFill>
                          <a:schemeClr val="tx1"/>
                        </a:solidFill>
                        <a:ln w="127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1pPr>
                          <a:lvl2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2pPr>
                          <a:lvl3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3pPr>
                          <a:lvl4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4pPr>
                          <a:lvl5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5pPr>
                          <a:lvl6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6pPr>
                          <a:lvl7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7pPr>
                          <a:lvl8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8pPr>
                          <a:lvl9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51" name="Freeform 121"/>
                        <p:cNvSpPr>
                          <a:spLocks noChangeAspect="1" noChangeArrowheads="1"/>
                        </p:cNvSpPr>
                        <p:nvPr/>
                      </p:nvSpPr>
                      <p:spPr bwMode="auto">
                        <a:xfrm>
                          <a:off x="5608" y="2136"/>
                          <a:ext cx="2" cy="1677"/>
                        </a:xfrm>
                        <a:custGeom>
                          <a:avLst/>
                          <a:gdLst>
                            <a:gd name="T0" fmla="*/ 0 w 1"/>
                            <a:gd name="T1" fmla="*/ 0 h 8156"/>
                            <a:gd name="T2" fmla="*/ 0 w 1"/>
                            <a:gd name="T3" fmla="*/ 8156 h 8156"/>
                            <a:gd name="T4" fmla="*/ 1 w 1"/>
                            <a:gd name="T5" fmla="*/ 8156 h 8156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</a:cxnLst>
                          <a:rect l="0" t="0" r="r" b="b"/>
                          <a:pathLst>
                            <a:path w="1" h="8156">
                              <a:moveTo>
                                <a:pt x="0" y="0"/>
                              </a:moveTo>
                              <a:lnTo>
                                <a:pt x="0" y="8156"/>
                              </a:lnTo>
                              <a:lnTo>
                                <a:pt x="1" y="8156"/>
                              </a:lnTo>
                            </a:path>
                          </a:pathLst>
                        </a:custGeom>
                        <a:solidFill>
                          <a:schemeClr val="tx1"/>
                        </a:solidFill>
                        <a:ln w="127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1pPr>
                          <a:lvl2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2pPr>
                          <a:lvl3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3pPr>
                          <a:lvl4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4pPr>
                          <a:lvl5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5pPr>
                          <a:lvl6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6pPr>
                          <a:lvl7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7pPr>
                          <a:lvl8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8pPr>
                          <a:lvl9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endParaRPr lang="zh-CN" altLang="en-US"/>
                        </a:p>
                      </p:txBody>
                    </p:sp>
                    <p:grpSp>
                      <p:nvGrpSpPr>
                        <p:cNvPr id="52" name="Group 122"/>
                        <p:cNvGrpSpPr>
                          <a:grpSpLocks noChangeAspect="1"/>
                        </p:cNvGrpSpPr>
                        <p:nvPr/>
                      </p:nvGrpSpPr>
                      <p:grpSpPr bwMode="auto">
                        <a:xfrm>
                          <a:off x="201" y="1237"/>
                          <a:ext cx="1221" cy="2048"/>
                          <a:chOff x="201" y="1237"/>
                          <a:chExt cx="1221" cy="2048"/>
                        </a:xfrm>
                      </p:grpSpPr>
                      <p:sp>
                        <p:nvSpPr>
                          <p:cNvPr id="60" name="Freeform 123"/>
                          <p:cNvSpPr>
                            <a:spLocks noChangeAspect="1" noChangeArrowheads="1"/>
                          </p:cNvSpPr>
                          <p:nvPr/>
                        </p:nvSpPr>
                        <p:spPr bwMode="auto">
                          <a:xfrm>
                            <a:off x="201" y="1602"/>
                            <a:ext cx="3" cy="1683"/>
                          </a:xfrm>
                          <a:custGeom>
                            <a:avLst/>
                            <a:gdLst>
                              <a:gd name="T0" fmla="*/ 1 w 3"/>
                              <a:gd name="T1" fmla="*/ 0 h 1683"/>
                              <a:gd name="T2" fmla="*/ 0 w 3"/>
                              <a:gd name="T3" fmla="*/ 1683 h 1683"/>
                              <a:gd name="T4" fmla="*/ 3 w 3"/>
                              <a:gd name="T5" fmla="*/ 1675 h 1683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</a:cxnLst>
                            <a:rect l="0" t="0" r="r" b="b"/>
                            <a:pathLst>
                              <a:path w="3" h="1683">
                                <a:moveTo>
                                  <a:pt x="1" y="0"/>
                                </a:moveTo>
                                <a:lnTo>
                                  <a:pt x="0" y="1683"/>
                                </a:lnTo>
                                <a:lnTo>
                                  <a:pt x="3" y="1675"/>
                                </a:lnTo>
                              </a:path>
                            </a:pathLst>
                          </a:custGeom>
                          <a:solidFill>
                            <a:schemeClr val="tx1"/>
                          </a:solidFill>
                          <a:ln w="12700">
                            <a:solidFill>
                              <a:schemeClr val="tx1"/>
                            </a:solidFill>
                            <a:round/>
                            <a:headEnd/>
                            <a:tailEnd/>
                          </a:ln>
                        </p:spPr>
                        <p:txBody>
                          <a:bodyPr/>
                          <a:lstStyle>
                            <a:lvl1pPr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1pPr>
                            <a:lvl2pPr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2pPr>
                            <a:lvl3pPr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3pPr>
                            <a:lvl4pPr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4pPr>
                            <a:lvl5pPr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5pPr>
                            <a:lvl6pPr fontAlgn="base"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Font typeface="Arial" panose="020B0604020202020204" pitchFamily="34" charset="0"/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6pPr>
                            <a:lvl7pPr fontAlgn="base"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Font typeface="Arial" panose="020B0604020202020204" pitchFamily="34" charset="0"/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7pPr>
                            <a:lvl8pPr fontAlgn="base"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Font typeface="Arial" panose="020B0604020202020204" pitchFamily="34" charset="0"/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8pPr>
                            <a:lvl9pPr fontAlgn="base"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Font typeface="Arial" panose="020B0604020202020204" pitchFamily="34" charset="0"/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9pPr>
                          </a:lstStyle>
                          <a:p>
                            <a:endParaRPr lang="zh-CN" altLang="en-US"/>
                          </a:p>
                        </p:txBody>
                      </p:sp>
                      <p:sp>
                        <p:nvSpPr>
                          <p:cNvPr id="61" name="Freeform 124"/>
                          <p:cNvSpPr>
                            <a:spLocks noChangeAspect="1" noChangeArrowheads="1"/>
                          </p:cNvSpPr>
                          <p:nvPr/>
                        </p:nvSpPr>
                        <p:spPr bwMode="auto">
                          <a:xfrm>
                            <a:off x="202" y="1237"/>
                            <a:ext cx="1220" cy="365"/>
                          </a:xfrm>
                          <a:custGeom>
                            <a:avLst/>
                            <a:gdLst>
                              <a:gd name="T0" fmla="*/ 0 w 5939"/>
                              <a:gd name="T1" fmla="*/ 1775 h 1775"/>
                              <a:gd name="T2" fmla="*/ 5938 w 5939"/>
                              <a:gd name="T3" fmla="*/ 0 h 1775"/>
                              <a:gd name="T4" fmla="*/ 5939 w 5939"/>
                              <a:gd name="T5" fmla="*/ 0 h 1775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</a:cxnLst>
                            <a:rect l="0" t="0" r="r" b="b"/>
                            <a:pathLst>
                              <a:path w="5939" h="1775">
                                <a:moveTo>
                                  <a:pt x="0" y="1775"/>
                                </a:moveTo>
                                <a:lnTo>
                                  <a:pt x="5938" y="0"/>
                                </a:lnTo>
                                <a:lnTo>
                                  <a:pt x="5939" y="0"/>
                                </a:lnTo>
                              </a:path>
                            </a:pathLst>
                          </a:custGeom>
                          <a:solidFill>
                            <a:schemeClr val="tx1"/>
                          </a:solidFill>
                          <a:ln w="12700">
                            <a:solidFill>
                              <a:schemeClr val="tx1"/>
                            </a:solidFill>
                            <a:round/>
                            <a:headEnd/>
                            <a:tailEnd/>
                          </a:ln>
                        </p:spPr>
                        <p:txBody>
                          <a:bodyPr/>
                          <a:lstStyle>
                            <a:lvl1pPr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1pPr>
                            <a:lvl2pPr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2pPr>
                            <a:lvl3pPr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3pPr>
                            <a:lvl4pPr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4pPr>
                            <a:lvl5pPr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5pPr>
                            <a:lvl6pPr fontAlgn="base"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Font typeface="Arial" panose="020B0604020202020204" pitchFamily="34" charset="0"/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6pPr>
                            <a:lvl7pPr fontAlgn="base"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Font typeface="Arial" panose="020B0604020202020204" pitchFamily="34" charset="0"/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7pPr>
                            <a:lvl8pPr fontAlgn="base"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Font typeface="Arial" panose="020B0604020202020204" pitchFamily="34" charset="0"/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8pPr>
                            <a:lvl9pPr fontAlgn="base"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Font typeface="Arial" panose="020B0604020202020204" pitchFamily="34" charset="0"/>
                              <a:defRPr sz="2400" b="1">
                                <a:solidFill>
                                  <a:schemeClr val="tx1"/>
                                </a:solidFill>
                                <a:latin typeface="Tahoma" panose="020B0604030504040204" pitchFamily="34" charset="0"/>
                                <a:ea typeface="宋体" panose="02010600030101010101" pitchFamily="2" charset="-122"/>
                              </a:defRPr>
                            </a:lvl9pPr>
                          </a:lstStyle>
                          <a:p>
                            <a:endParaRPr lang="zh-CN" altLang="en-US"/>
                          </a:p>
                        </p:txBody>
                      </p:sp>
                    </p:grpSp>
                    <p:sp>
                      <p:nvSpPr>
                        <p:cNvPr id="53" name="Freeform 125"/>
                        <p:cNvSpPr>
                          <a:spLocks noChangeAspect="1" noChangeArrowheads="1"/>
                        </p:cNvSpPr>
                        <p:nvPr/>
                      </p:nvSpPr>
                      <p:spPr bwMode="auto">
                        <a:xfrm>
                          <a:off x="1422" y="530"/>
                          <a:ext cx="469" cy="707"/>
                        </a:xfrm>
                        <a:custGeom>
                          <a:avLst/>
                          <a:gdLst>
                            <a:gd name="T0" fmla="*/ 2275 w 2275"/>
                            <a:gd name="T1" fmla="*/ 0 h 3440"/>
                            <a:gd name="T2" fmla="*/ 0 w 2275"/>
                            <a:gd name="T3" fmla="*/ 3440 h 3440"/>
                            <a:gd name="T4" fmla="*/ 1 w 2275"/>
                            <a:gd name="T5" fmla="*/ 3440 h 3440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</a:cxnLst>
                          <a:rect l="0" t="0" r="r" b="b"/>
                          <a:pathLst>
                            <a:path w="2275" h="3440">
                              <a:moveTo>
                                <a:pt x="2275" y="0"/>
                              </a:moveTo>
                              <a:lnTo>
                                <a:pt x="0" y="3440"/>
                              </a:lnTo>
                              <a:lnTo>
                                <a:pt x="1" y="3440"/>
                              </a:lnTo>
                            </a:path>
                          </a:pathLst>
                        </a:custGeom>
                        <a:solidFill>
                          <a:schemeClr val="tx1"/>
                        </a:solidFill>
                        <a:ln w="127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1pPr>
                          <a:lvl2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2pPr>
                          <a:lvl3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3pPr>
                          <a:lvl4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4pPr>
                          <a:lvl5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5pPr>
                          <a:lvl6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6pPr>
                          <a:lvl7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7pPr>
                          <a:lvl8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8pPr>
                          <a:lvl9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54" name="Freeform 126"/>
                        <p:cNvSpPr>
                          <a:spLocks noChangeAspect="1" noChangeArrowheads="1"/>
                        </p:cNvSpPr>
                        <p:nvPr/>
                      </p:nvSpPr>
                      <p:spPr bwMode="auto">
                        <a:xfrm>
                          <a:off x="3099" y="530"/>
                          <a:ext cx="433" cy="707"/>
                        </a:xfrm>
                        <a:custGeom>
                          <a:avLst/>
                          <a:gdLst>
                            <a:gd name="T0" fmla="*/ 2108 w 2108"/>
                            <a:gd name="T1" fmla="*/ 0 h 3440"/>
                            <a:gd name="T2" fmla="*/ 0 w 2108"/>
                            <a:gd name="T3" fmla="*/ 3440 h 3440"/>
                            <a:gd name="T4" fmla="*/ 1 w 2108"/>
                            <a:gd name="T5" fmla="*/ 3440 h 3440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</a:cxnLst>
                          <a:rect l="0" t="0" r="r" b="b"/>
                          <a:pathLst>
                            <a:path w="2108" h="3440">
                              <a:moveTo>
                                <a:pt x="2108" y="0"/>
                              </a:moveTo>
                              <a:lnTo>
                                <a:pt x="0" y="3440"/>
                              </a:lnTo>
                              <a:lnTo>
                                <a:pt x="1" y="3440"/>
                              </a:lnTo>
                            </a:path>
                          </a:pathLst>
                        </a:custGeom>
                        <a:solidFill>
                          <a:schemeClr val="tx1"/>
                        </a:solidFill>
                        <a:ln w="127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1pPr>
                          <a:lvl2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2pPr>
                          <a:lvl3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3pPr>
                          <a:lvl4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4pPr>
                          <a:lvl5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5pPr>
                          <a:lvl6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6pPr>
                          <a:lvl7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7pPr>
                          <a:lvl8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8pPr>
                          <a:lvl9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55" name="Freeform 127"/>
                        <p:cNvSpPr>
                          <a:spLocks noChangeAspect="1" noChangeArrowheads="1"/>
                        </p:cNvSpPr>
                        <p:nvPr/>
                      </p:nvSpPr>
                      <p:spPr bwMode="auto">
                        <a:xfrm>
                          <a:off x="3104" y="1232"/>
                          <a:ext cx="1546" cy="414"/>
                        </a:xfrm>
                        <a:custGeom>
                          <a:avLst/>
                          <a:gdLst>
                            <a:gd name="T0" fmla="*/ 0 w 1546"/>
                            <a:gd name="T1" fmla="*/ 0 h 414"/>
                            <a:gd name="T2" fmla="*/ 1546 w 1546"/>
                            <a:gd name="T3" fmla="*/ 414 h 414"/>
                            <a:gd name="T4" fmla="*/ 1546 w 1546"/>
                            <a:gd name="T5" fmla="*/ 414 h 41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</a:cxnLst>
                          <a:rect l="0" t="0" r="r" b="b"/>
                          <a:pathLst>
                            <a:path w="1546" h="414">
                              <a:moveTo>
                                <a:pt x="0" y="0"/>
                              </a:moveTo>
                              <a:lnTo>
                                <a:pt x="1546" y="414"/>
                              </a:lnTo>
                            </a:path>
                          </a:pathLst>
                        </a:custGeom>
                        <a:solidFill>
                          <a:schemeClr val="tx1"/>
                        </a:solidFill>
                        <a:ln w="127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1pPr>
                          <a:lvl2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2pPr>
                          <a:lvl3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3pPr>
                          <a:lvl4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4pPr>
                          <a:lvl5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5pPr>
                          <a:lvl6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6pPr>
                          <a:lvl7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7pPr>
                          <a:lvl8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8pPr>
                          <a:lvl9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56" name="Freeform 128"/>
                        <p:cNvSpPr>
                          <a:spLocks noChangeAspect="1" noChangeArrowheads="1"/>
                        </p:cNvSpPr>
                        <p:nvPr/>
                      </p:nvSpPr>
                      <p:spPr bwMode="auto">
                        <a:xfrm>
                          <a:off x="3099" y="2889"/>
                          <a:ext cx="1551" cy="434"/>
                        </a:xfrm>
                        <a:custGeom>
                          <a:avLst/>
                          <a:gdLst>
                            <a:gd name="T0" fmla="*/ 0 w 7548"/>
                            <a:gd name="T1" fmla="*/ 0 h 2108"/>
                            <a:gd name="T2" fmla="*/ 7547 w 7548"/>
                            <a:gd name="T3" fmla="*/ 2108 h 2108"/>
                            <a:gd name="T4" fmla="*/ 7548 w 7548"/>
                            <a:gd name="T5" fmla="*/ 2108 h 2108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</a:cxnLst>
                          <a:rect l="0" t="0" r="r" b="b"/>
                          <a:pathLst>
                            <a:path w="7548" h="2108">
                              <a:moveTo>
                                <a:pt x="0" y="0"/>
                              </a:moveTo>
                              <a:lnTo>
                                <a:pt x="7547" y="2108"/>
                              </a:lnTo>
                              <a:lnTo>
                                <a:pt x="7548" y="2108"/>
                              </a:lnTo>
                            </a:path>
                          </a:pathLst>
                        </a:custGeom>
                        <a:solidFill>
                          <a:schemeClr val="tx1"/>
                        </a:solidFill>
                        <a:ln w="127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1pPr>
                          <a:lvl2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2pPr>
                          <a:lvl3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3pPr>
                          <a:lvl4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4pPr>
                          <a:lvl5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5pPr>
                          <a:lvl6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6pPr>
                          <a:lvl7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7pPr>
                          <a:lvl8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8pPr>
                          <a:lvl9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57" name="Freeform 129"/>
                        <p:cNvSpPr>
                          <a:spLocks noChangeAspect="1" noChangeArrowheads="1"/>
                        </p:cNvSpPr>
                        <p:nvPr/>
                      </p:nvSpPr>
                      <p:spPr bwMode="auto">
                        <a:xfrm>
                          <a:off x="4650" y="1646"/>
                          <a:ext cx="958" cy="490"/>
                        </a:xfrm>
                        <a:custGeom>
                          <a:avLst/>
                          <a:gdLst>
                            <a:gd name="T0" fmla="*/ 0 w 4662"/>
                            <a:gd name="T1" fmla="*/ 0 h 2385"/>
                            <a:gd name="T2" fmla="*/ 4661 w 4662"/>
                            <a:gd name="T3" fmla="*/ 2385 h 2385"/>
                            <a:gd name="T4" fmla="*/ 4662 w 4662"/>
                            <a:gd name="T5" fmla="*/ 2385 h 2385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</a:cxnLst>
                          <a:rect l="0" t="0" r="r" b="b"/>
                          <a:pathLst>
                            <a:path w="4662" h="2385">
                              <a:moveTo>
                                <a:pt x="0" y="0"/>
                              </a:moveTo>
                              <a:lnTo>
                                <a:pt x="4661" y="2385"/>
                              </a:lnTo>
                              <a:lnTo>
                                <a:pt x="4662" y="2385"/>
                              </a:lnTo>
                            </a:path>
                          </a:pathLst>
                        </a:custGeom>
                        <a:solidFill>
                          <a:schemeClr val="tx1"/>
                        </a:solidFill>
                        <a:ln w="127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1pPr>
                          <a:lvl2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2pPr>
                          <a:lvl3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3pPr>
                          <a:lvl4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4pPr>
                          <a:lvl5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5pPr>
                          <a:lvl6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6pPr>
                          <a:lvl7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7pPr>
                          <a:lvl8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8pPr>
                          <a:lvl9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58" name="Freeform 130"/>
                        <p:cNvSpPr>
                          <a:spLocks noChangeAspect="1" noChangeArrowheads="1"/>
                        </p:cNvSpPr>
                        <p:nvPr/>
                      </p:nvSpPr>
                      <p:spPr bwMode="auto">
                        <a:xfrm>
                          <a:off x="4650" y="3323"/>
                          <a:ext cx="958" cy="490"/>
                        </a:xfrm>
                        <a:custGeom>
                          <a:avLst/>
                          <a:gdLst>
                            <a:gd name="T0" fmla="*/ 0 w 4662"/>
                            <a:gd name="T1" fmla="*/ 0 h 2386"/>
                            <a:gd name="T2" fmla="*/ 4661 w 4662"/>
                            <a:gd name="T3" fmla="*/ 2386 h 2386"/>
                            <a:gd name="T4" fmla="*/ 4662 w 4662"/>
                            <a:gd name="T5" fmla="*/ 2386 h 2386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</a:cxnLst>
                          <a:rect l="0" t="0" r="r" b="b"/>
                          <a:pathLst>
                            <a:path w="4662" h="2386">
                              <a:moveTo>
                                <a:pt x="0" y="0"/>
                              </a:moveTo>
                              <a:lnTo>
                                <a:pt x="4661" y="2386"/>
                              </a:lnTo>
                              <a:lnTo>
                                <a:pt x="4662" y="2386"/>
                              </a:lnTo>
                            </a:path>
                          </a:pathLst>
                        </a:custGeom>
                        <a:solidFill>
                          <a:schemeClr val="tx1"/>
                        </a:solidFill>
                        <a:ln w="127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1pPr>
                          <a:lvl2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2pPr>
                          <a:lvl3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3pPr>
                          <a:lvl4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4pPr>
                          <a:lvl5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5pPr>
                          <a:lvl6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6pPr>
                          <a:lvl7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7pPr>
                          <a:lvl8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8pPr>
                          <a:lvl9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59" name="Freeform 131"/>
                        <p:cNvSpPr>
                          <a:spLocks noChangeAspect="1" noChangeArrowheads="1"/>
                        </p:cNvSpPr>
                        <p:nvPr/>
                      </p:nvSpPr>
                      <p:spPr bwMode="auto">
                        <a:xfrm>
                          <a:off x="3099" y="2889"/>
                          <a:ext cx="673" cy="822"/>
                        </a:xfrm>
                        <a:custGeom>
                          <a:avLst/>
                          <a:gdLst>
                            <a:gd name="T0" fmla="*/ 0 w 3275"/>
                            <a:gd name="T1" fmla="*/ 0 h 3994"/>
                            <a:gd name="T2" fmla="*/ 3274 w 3275"/>
                            <a:gd name="T3" fmla="*/ 3994 h 3994"/>
                            <a:gd name="T4" fmla="*/ 3275 w 3275"/>
                            <a:gd name="T5" fmla="*/ 3994 h 399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</a:cxnLst>
                          <a:rect l="0" t="0" r="r" b="b"/>
                          <a:pathLst>
                            <a:path w="3275" h="3994">
                              <a:moveTo>
                                <a:pt x="0" y="0"/>
                              </a:moveTo>
                              <a:lnTo>
                                <a:pt x="3274" y="3994"/>
                              </a:lnTo>
                              <a:lnTo>
                                <a:pt x="3275" y="3994"/>
                              </a:lnTo>
                            </a:path>
                          </a:pathLst>
                        </a:custGeom>
                        <a:solidFill>
                          <a:schemeClr val="tx1"/>
                        </a:solidFill>
                        <a:ln w="127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1pPr>
                          <a:lvl2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2pPr>
                          <a:lvl3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3pPr>
                          <a:lvl4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4pPr>
                          <a:lvl5pPr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5pPr>
                          <a:lvl6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6pPr>
                          <a:lvl7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7pPr>
                          <a:lvl8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8pPr>
                          <a:lvl9pPr fontAlgn="base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Font typeface="Arial" panose="020B0604020202020204" pitchFamily="34" charset="0"/>
                            <a:defRPr sz="2400" b="1">
                              <a:solidFill>
                                <a:schemeClr val="tx1"/>
                              </a:solidFill>
                              <a:latin typeface="Tahoma" panose="020B0604030504040204" pitchFamily="34" charset="0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endParaRPr lang="zh-CN" altLang="en-US"/>
                        </a:p>
                      </p:txBody>
                    </p:sp>
                  </p:grpSp>
                  <p:sp>
                    <p:nvSpPr>
                      <p:cNvPr id="44" name="Freeform 132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3099" y="2674"/>
                        <a:ext cx="2" cy="215"/>
                      </a:xfrm>
                      <a:custGeom>
                        <a:avLst/>
                        <a:gdLst>
                          <a:gd name="T0" fmla="*/ 0 w 1"/>
                          <a:gd name="T1" fmla="*/ 0 h 1054"/>
                          <a:gd name="T2" fmla="*/ 0 w 1"/>
                          <a:gd name="T3" fmla="*/ 1054 h 1054"/>
                          <a:gd name="T4" fmla="*/ 1 w 1"/>
                          <a:gd name="T5" fmla="*/ 1054 h 105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1" h="1054">
                            <a:moveTo>
                              <a:pt x="0" y="0"/>
                            </a:moveTo>
                            <a:lnTo>
                              <a:pt x="0" y="1054"/>
                            </a:lnTo>
                            <a:lnTo>
                              <a:pt x="1" y="1054"/>
                            </a:lnTo>
                          </a:path>
                        </a:pathLst>
                      </a:custGeom>
                      <a:solidFill>
                        <a:schemeClr val="accent1"/>
                      </a:solidFill>
                      <a:ln w="127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>
                        <a:lvl1pPr>
                          <a:defRPr sz="2400" b="1">
                            <a:solidFill>
                              <a:schemeClr val="tx1"/>
                            </a:solidFill>
                            <a:latin typeface="Tahoma" panose="020B0604030504040204" pitchFamily="34" charset="0"/>
                            <a:ea typeface="宋体" panose="02010600030101010101" pitchFamily="2" charset="-122"/>
                          </a:defRPr>
                        </a:lvl1pPr>
                        <a:lvl2pPr>
                          <a:defRPr sz="2400" b="1">
                            <a:solidFill>
                              <a:schemeClr val="tx1"/>
                            </a:solidFill>
                            <a:latin typeface="Tahoma" panose="020B0604030504040204" pitchFamily="34" charset="0"/>
                            <a:ea typeface="宋体" panose="02010600030101010101" pitchFamily="2" charset="-122"/>
                          </a:defRPr>
                        </a:lvl2pPr>
                        <a:lvl3pPr>
                          <a:defRPr sz="2400" b="1">
                            <a:solidFill>
                              <a:schemeClr val="tx1"/>
                            </a:solidFill>
                            <a:latin typeface="Tahoma" panose="020B0604030504040204" pitchFamily="34" charset="0"/>
                            <a:ea typeface="宋体" panose="02010600030101010101" pitchFamily="2" charset="-122"/>
                          </a:defRPr>
                        </a:lvl3pPr>
                        <a:lvl4pPr>
                          <a:defRPr sz="2400" b="1">
                            <a:solidFill>
                              <a:schemeClr val="tx1"/>
                            </a:solidFill>
                            <a:latin typeface="Tahoma" panose="020B0604030504040204" pitchFamily="34" charset="0"/>
                            <a:ea typeface="宋体" panose="02010600030101010101" pitchFamily="2" charset="-122"/>
                          </a:defRPr>
                        </a:lvl4pPr>
                        <a:lvl5pPr>
                          <a:defRPr sz="2400" b="1">
                            <a:solidFill>
                              <a:schemeClr val="tx1"/>
                            </a:solidFill>
                            <a:latin typeface="Tahoma" panose="020B0604030504040204" pitchFamily="34" charset="0"/>
                            <a:ea typeface="宋体" panose="02010600030101010101" pitchFamily="2" charset="-122"/>
                          </a:defRPr>
                        </a:lvl5pPr>
                        <a:lvl6pPr fontAlgn="base">
                          <a:spcBef>
                            <a:spcPct val="0"/>
                          </a:spcBef>
                          <a:spcAft>
                            <a:spcPct val="0"/>
                          </a:spcAft>
                          <a:buFont typeface="Arial" panose="020B0604020202020204" pitchFamily="34" charset="0"/>
                          <a:defRPr sz="2400" b="1">
                            <a:solidFill>
                              <a:schemeClr val="tx1"/>
                            </a:solidFill>
                            <a:latin typeface="Tahoma" panose="020B0604030504040204" pitchFamily="34" charset="0"/>
                            <a:ea typeface="宋体" panose="02010600030101010101" pitchFamily="2" charset="-122"/>
                          </a:defRPr>
                        </a:lvl6pPr>
                        <a:lvl7pPr fontAlgn="base">
                          <a:spcBef>
                            <a:spcPct val="0"/>
                          </a:spcBef>
                          <a:spcAft>
                            <a:spcPct val="0"/>
                          </a:spcAft>
                          <a:buFont typeface="Arial" panose="020B0604020202020204" pitchFamily="34" charset="0"/>
                          <a:defRPr sz="2400" b="1">
                            <a:solidFill>
                              <a:schemeClr val="tx1"/>
                            </a:solidFill>
                            <a:latin typeface="Tahoma" panose="020B0604030504040204" pitchFamily="34" charset="0"/>
                            <a:ea typeface="宋体" panose="02010600030101010101" pitchFamily="2" charset="-122"/>
                          </a:defRPr>
                        </a:lvl7pPr>
                        <a:lvl8pPr fontAlgn="base">
                          <a:spcBef>
                            <a:spcPct val="0"/>
                          </a:spcBef>
                          <a:spcAft>
                            <a:spcPct val="0"/>
                          </a:spcAft>
                          <a:buFont typeface="Arial" panose="020B0604020202020204" pitchFamily="34" charset="0"/>
                          <a:defRPr sz="2400" b="1">
                            <a:solidFill>
                              <a:schemeClr val="tx1"/>
                            </a:solidFill>
                            <a:latin typeface="Tahoma" panose="020B0604030504040204" pitchFamily="34" charset="0"/>
                            <a:ea typeface="宋体" panose="02010600030101010101" pitchFamily="2" charset="-122"/>
                          </a:defRPr>
                        </a:lvl8pPr>
                        <a:lvl9pPr fontAlgn="base">
                          <a:spcBef>
                            <a:spcPct val="0"/>
                          </a:spcBef>
                          <a:spcAft>
                            <a:spcPct val="0"/>
                          </a:spcAft>
                          <a:buFont typeface="Arial" panose="020B0604020202020204" pitchFamily="34" charset="0"/>
                          <a:defRPr sz="2400" b="1">
                            <a:solidFill>
                              <a:schemeClr val="tx1"/>
                            </a:solidFill>
                            <a:latin typeface="Tahoma" panose="020B0604030504040204" pitchFamily="34" charset="0"/>
                            <a:ea typeface="宋体" panose="02010600030101010101" pitchFamily="2" charset="-122"/>
                          </a:defRPr>
                        </a:lvl9pPr>
                      </a:lstStyle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40" name="Line 133"/>
                    <p:cNvSpPr>
                      <a:spLocks noChangeAspect="1" noChangeShapeType="1"/>
                    </p:cNvSpPr>
                    <p:nvPr/>
                  </p:nvSpPr>
                  <p:spPr bwMode="auto">
                    <a:xfrm>
                      <a:off x="1428" y="2892"/>
                      <a:ext cx="668" cy="820"/>
                    </a:xfrm>
                    <a:prstGeom prst="line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1" name="Line 134"/>
                    <p:cNvSpPr>
                      <a:spLocks noChangeAspect="1" noChangeShapeType="1"/>
                    </p:cNvSpPr>
                    <p:nvPr/>
                  </p:nvSpPr>
                  <p:spPr bwMode="auto">
                    <a:xfrm flipV="1">
                      <a:off x="204" y="2892"/>
                      <a:ext cx="1224" cy="390"/>
                    </a:xfrm>
                    <a:prstGeom prst="line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" name="Line 135"/>
                    <p:cNvSpPr>
                      <a:spLocks noChangeAspect="1" noChangeShapeType="1"/>
                    </p:cNvSpPr>
                    <p:nvPr/>
                  </p:nvSpPr>
                  <p:spPr bwMode="auto">
                    <a:xfrm flipV="1">
                      <a:off x="1432" y="1232"/>
                      <a:ext cx="0" cy="1660"/>
                    </a:xfrm>
                    <a:prstGeom prst="line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</p:grpSp>
          </p:grpSp>
        </p:grpSp>
      </p:grpSp>
    </p:spTree>
    <p:extLst>
      <p:ext uri="{BB962C8B-B14F-4D97-AF65-F5344CB8AC3E}">
        <p14:creationId xmlns:p14="http://schemas.microsoft.com/office/powerpoint/2010/main" val="37673622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500"/>
                            </p:stCondLst>
                            <p:childTnLst>
                              <p:par>
                                <p:cTn id="8" presetID="8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0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yan-A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423864"/>
            <a:ext cx="8794173" cy="6187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3" descr="羊皮纸"/>
          <p:cNvSpPr>
            <a:spLocks noChangeArrowheads="1"/>
          </p:cNvSpPr>
          <p:nvPr/>
        </p:nvSpPr>
        <p:spPr bwMode="auto">
          <a:xfrm>
            <a:off x="8358044" y="5205845"/>
            <a:ext cx="3097213" cy="1129724"/>
          </a:xfrm>
          <a:prstGeom prst="rect">
            <a:avLst/>
          </a:prstGeom>
          <a:blipFill dpi="0" rotWithShape="1">
            <a:blip r:embed="rId3">
              <a:alphaModFix amt="60000"/>
            </a:blip>
            <a:srcRect/>
            <a:tile tx="0" ty="0" sx="100000" sy="100000" flip="none" algn="tl"/>
          </a:blipFill>
          <a:ln w="9525">
            <a:solidFill>
              <a:srgbClr val="99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dirty="0">
                <a:solidFill>
                  <a:schemeClr val="bg1"/>
                </a:solidFill>
                <a:latin typeface="Times New Roman" panose="02020603050405020304" pitchFamily="18" charset="0"/>
              </a:rPr>
              <a:t>         </a:t>
            </a:r>
            <a:r>
              <a:rPr kumimoji="1" lang="zh-CN" altLang="en-US" sz="2800" dirty="0">
                <a:latin typeface="华文细黑" panose="02010600040101010101" pitchFamily="2" charset="-122"/>
                <a:ea typeface="华文细黑" panose="02010600040101010101" pitchFamily="2" charset="-122"/>
              </a:rPr>
              <a:t>六个基本视图保持“三等”关系</a:t>
            </a:r>
            <a:r>
              <a:rPr kumimoji="1" lang="zh-CN" altLang="en-US" sz="2800" dirty="0">
                <a:latin typeface="Times New Roman" panose="02020603050405020304" pitchFamily="18" charset="0"/>
                <a:ea typeface="楷体_GB2312" panose="02010609030101010101" pitchFamily="49" charset="-122"/>
              </a:rPr>
              <a:t>。</a:t>
            </a:r>
          </a:p>
        </p:txBody>
      </p:sp>
      <p:sp>
        <p:nvSpPr>
          <p:cNvPr id="4" name="AutoShape 16" descr="羊皮纸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845127" y="201612"/>
            <a:ext cx="5250873" cy="719138"/>
          </a:xfrm>
          <a:prstGeom prst="actionButtonBlank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/>
          <a:p>
            <a:pPr marL="838200" indent="-838200">
              <a:lnSpc>
                <a:spcPct val="90000"/>
              </a:lnSpc>
              <a:spcBef>
                <a:spcPct val="0"/>
              </a:spcBef>
            </a:pPr>
            <a:r>
              <a:rPr lang="en-US" altLang="zh-CN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2. </a:t>
            </a:r>
            <a:r>
              <a:rPr lang="zh-CN" altLang="en-US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六个基本视图的投影规律</a:t>
            </a:r>
          </a:p>
        </p:txBody>
      </p:sp>
    </p:spTree>
    <p:extLst>
      <p:ext uri="{BB962C8B-B14F-4D97-AF65-F5344CB8AC3E}">
        <p14:creationId xmlns:p14="http://schemas.microsoft.com/office/powerpoint/2010/main" val="3126103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6" descr="yan-A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096" r="4724" b="6345"/>
          <a:stretch>
            <a:fillRect/>
          </a:stretch>
        </p:blipFill>
        <p:spPr bwMode="auto">
          <a:xfrm>
            <a:off x="1461655" y="612776"/>
            <a:ext cx="9220200" cy="587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 Box 4"/>
          <p:cNvSpPr txBox="1">
            <a:spLocks noChangeArrowheads="1"/>
          </p:cNvSpPr>
          <p:nvPr/>
        </p:nvSpPr>
        <p:spPr bwMode="auto">
          <a:xfrm>
            <a:off x="3287713" y="981076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zh-CN" altLang="zh-CN" sz="1800"/>
          </a:p>
        </p:txBody>
      </p:sp>
      <p:sp>
        <p:nvSpPr>
          <p:cNvPr id="4" name="Rectangle 7" descr="信纸"/>
          <p:cNvSpPr>
            <a:spLocks noChangeArrowheads="1"/>
          </p:cNvSpPr>
          <p:nvPr/>
        </p:nvSpPr>
        <p:spPr bwMode="auto">
          <a:xfrm>
            <a:off x="7410018" y="5174673"/>
            <a:ext cx="3851275" cy="954667"/>
          </a:xfrm>
          <a:prstGeom prst="rect">
            <a:avLst/>
          </a:prstGeom>
          <a:blipFill dpi="0" rotWithShape="1">
            <a:blip r:embed="rId3">
              <a:alphaModFix amt="60000"/>
            </a:blip>
            <a:srcRect/>
            <a:tile tx="0" ty="0" sx="100000" sy="100000" flip="none" algn="tl"/>
          </a:blipFill>
          <a:ln w="9525">
            <a:solidFill>
              <a:srgbClr val="9966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/>
          <a:p>
            <a:pPr>
              <a:spcBef>
                <a:spcPct val="0"/>
              </a:spcBef>
            </a:pPr>
            <a:r>
              <a:rPr kumimoji="1" lang="en-US" altLang="zh-CN" sz="2800" dirty="0">
                <a:solidFill>
                  <a:schemeClr val="bg1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       </a:t>
            </a:r>
            <a:r>
              <a:rPr kumimoji="1" lang="zh-CN" altLang="en-US" sz="2800" dirty="0">
                <a:latin typeface="华文细黑" panose="02010600040101010101" pitchFamily="2" charset="-122"/>
                <a:ea typeface="华文细黑" panose="02010600040101010101" pitchFamily="2" charset="-122"/>
              </a:rPr>
              <a:t>基本视图按投影位配置时，不必进行标注。</a:t>
            </a:r>
          </a:p>
        </p:txBody>
      </p:sp>
      <p:sp>
        <p:nvSpPr>
          <p:cNvPr id="5" name="AutoShape 14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547255" y="261938"/>
            <a:ext cx="9144000" cy="495300"/>
          </a:xfrm>
          <a:prstGeom prst="actionButtonBlank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/>
          <a:p>
            <a:pPr marL="838200" indent="-838200">
              <a:lnSpc>
                <a:spcPct val="90000"/>
              </a:lnSpc>
              <a:spcBef>
                <a:spcPct val="0"/>
              </a:spcBef>
            </a:pPr>
            <a:r>
              <a:rPr lang="en-US" altLang="zh-CN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3. </a:t>
            </a:r>
            <a:r>
              <a:rPr lang="zh-CN" altLang="en-US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六个基本视图之间的方位关系</a:t>
            </a:r>
          </a:p>
        </p:txBody>
      </p:sp>
      <p:sp>
        <p:nvSpPr>
          <p:cNvPr id="6" name="Text Box 21"/>
          <p:cNvSpPr txBox="1">
            <a:spLocks noChangeArrowheads="1"/>
          </p:cNvSpPr>
          <p:nvPr/>
        </p:nvSpPr>
        <p:spPr bwMode="auto">
          <a:xfrm>
            <a:off x="4727575" y="2259015"/>
            <a:ext cx="946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仰视图</a:t>
            </a:r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2505941" y="3987802"/>
            <a:ext cx="946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右视图</a:t>
            </a:r>
          </a:p>
        </p:txBody>
      </p:sp>
      <p:sp>
        <p:nvSpPr>
          <p:cNvPr id="8" name="Text Box 23"/>
          <p:cNvSpPr txBox="1">
            <a:spLocks noChangeArrowheads="1"/>
          </p:cNvSpPr>
          <p:nvPr/>
        </p:nvSpPr>
        <p:spPr bwMode="auto">
          <a:xfrm>
            <a:off x="4727575" y="3987802"/>
            <a:ext cx="946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2000">
                <a:latin typeface="华文细黑" panose="02010600040101010101" pitchFamily="2" charset="-122"/>
                <a:ea typeface="华文细黑" panose="02010600040101010101" pitchFamily="2" charset="-122"/>
              </a:rPr>
              <a:t>主视图</a:t>
            </a:r>
          </a:p>
        </p:txBody>
      </p:sp>
      <p:sp>
        <p:nvSpPr>
          <p:cNvPr id="9" name="Text Box 24"/>
          <p:cNvSpPr txBox="1">
            <a:spLocks noChangeArrowheads="1"/>
          </p:cNvSpPr>
          <p:nvPr/>
        </p:nvSpPr>
        <p:spPr bwMode="auto">
          <a:xfrm>
            <a:off x="4727575" y="5930902"/>
            <a:ext cx="946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2000">
                <a:latin typeface="华文细黑" panose="02010600040101010101" pitchFamily="2" charset="-122"/>
                <a:ea typeface="华文细黑" panose="02010600040101010101" pitchFamily="2" charset="-122"/>
              </a:rPr>
              <a:t>俯视图</a:t>
            </a:r>
          </a:p>
        </p:txBody>
      </p:sp>
      <p:sp>
        <p:nvSpPr>
          <p:cNvPr id="10" name="Text Box 25"/>
          <p:cNvSpPr txBox="1">
            <a:spLocks noChangeArrowheads="1"/>
          </p:cNvSpPr>
          <p:nvPr/>
        </p:nvSpPr>
        <p:spPr bwMode="auto">
          <a:xfrm>
            <a:off x="6816725" y="3987802"/>
            <a:ext cx="946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2000">
                <a:latin typeface="华文细黑" panose="02010600040101010101" pitchFamily="2" charset="-122"/>
                <a:ea typeface="华文细黑" panose="02010600040101010101" pitchFamily="2" charset="-122"/>
              </a:rPr>
              <a:t>左视图</a:t>
            </a:r>
          </a:p>
        </p:txBody>
      </p:sp>
      <p:sp>
        <p:nvSpPr>
          <p:cNvPr id="11" name="Text Box 26"/>
          <p:cNvSpPr txBox="1">
            <a:spLocks noChangeArrowheads="1"/>
          </p:cNvSpPr>
          <p:nvPr/>
        </p:nvSpPr>
        <p:spPr bwMode="auto">
          <a:xfrm>
            <a:off x="9038359" y="3987802"/>
            <a:ext cx="946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后视图</a:t>
            </a:r>
          </a:p>
        </p:txBody>
      </p:sp>
    </p:spTree>
    <p:extLst>
      <p:ext uri="{BB962C8B-B14F-4D97-AF65-F5344CB8AC3E}">
        <p14:creationId xmlns:p14="http://schemas.microsoft.com/office/powerpoint/2010/main" val="5631344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01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224"/>
          <a:stretch>
            <a:fillRect/>
          </a:stretch>
        </p:blipFill>
        <p:spPr bwMode="auto">
          <a:xfrm>
            <a:off x="7581901" y="3227388"/>
            <a:ext cx="2487613" cy="2316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Picture 3" descr="02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875"/>
          <a:stretch>
            <a:fillRect/>
          </a:stretch>
        </p:blipFill>
        <p:spPr bwMode="auto">
          <a:xfrm>
            <a:off x="1676400" y="2159000"/>
            <a:ext cx="2478088" cy="256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Group 4"/>
          <p:cNvGrpSpPr>
            <a:grpSpLocks/>
          </p:cNvGrpSpPr>
          <p:nvPr/>
        </p:nvGrpSpPr>
        <p:grpSpPr bwMode="auto">
          <a:xfrm>
            <a:off x="3984625" y="860425"/>
            <a:ext cx="5786438" cy="4991100"/>
            <a:chOff x="1262" y="374"/>
            <a:chExt cx="3837" cy="3310"/>
          </a:xfrm>
        </p:grpSpPr>
        <p:sp>
          <p:nvSpPr>
            <p:cNvPr id="5" name="Line 5"/>
            <p:cNvSpPr>
              <a:spLocks noChangeShapeType="1"/>
            </p:cNvSpPr>
            <p:nvPr/>
          </p:nvSpPr>
          <p:spPr bwMode="auto">
            <a:xfrm>
              <a:off x="2095" y="2382"/>
              <a:ext cx="108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" name="Line 6"/>
            <p:cNvSpPr>
              <a:spLocks noChangeShapeType="1"/>
            </p:cNvSpPr>
            <p:nvPr/>
          </p:nvSpPr>
          <p:spPr bwMode="auto">
            <a:xfrm>
              <a:off x="2095" y="3497"/>
              <a:ext cx="108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>
              <a:off x="2761" y="3683"/>
              <a:ext cx="108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" name="Line 8"/>
            <p:cNvSpPr>
              <a:spLocks noChangeShapeType="1"/>
            </p:cNvSpPr>
            <p:nvPr/>
          </p:nvSpPr>
          <p:spPr bwMode="auto">
            <a:xfrm>
              <a:off x="2095" y="3683"/>
              <a:ext cx="108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" name="Line 9"/>
            <p:cNvSpPr>
              <a:spLocks noChangeShapeType="1"/>
            </p:cNvSpPr>
            <p:nvPr/>
          </p:nvSpPr>
          <p:spPr bwMode="auto">
            <a:xfrm>
              <a:off x="2095" y="2196"/>
              <a:ext cx="108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" name="Line 10"/>
            <p:cNvSpPr>
              <a:spLocks noChangeShapeType="1"/>
            </p:cNvSpPr>
            <p:nvPr/>
          </p:nvSpPr>
          <p:spPr bwMode="auto">
            <a:xfrm>
              <a:off x="2869" y="2328"/>
              <a:ext cx="1" cy="3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" name="Line 11"/>
            <p:cNvSpPr>
              <a:spLocks noChangeShapeType="1"/>
            </p:cNvSpPr>
            <p:nvPr/>
          </p:nvSpPr>
          <p:spPr bwMode="auto">
            <a:xfrm>
              <a:off x="1435" y="2754"/>
              <a:ext cx="1" cy="3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>
              <a:off x="1435" y="2724"/>
              <a:ext cx="1" cy="42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 flipV="1">
              <a:off x="2761" y="2196"/>
              <a:ext cx="1" cy="3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" name="Line 14"/>
            <p:cNvSpPr>
              <a:spLocks noChangeShapeType="1"/>
            </p:cNvSpPr>
            <p:nvPr/>
          </p:nvSpPr>
          <p:spPr bwMode="auto">
            <a:xfrm flipV="1">
              <a:off x="2761" y="3335"/>
              <a:ext cx="1" cy="34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 flipH="1">
              <a:off x="1435" y="2538"/>
              <a:ext cx="660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" name="Line 16"/>
            <p:cNvSpPr>
              <a:spLocks noChangeShapeType="1"/>
            </p:cNvSpPr>
            <p:nvPr/>
          </p:nvSpPr>
          <p:spPr bwMode="auto">
            <a:xfrm flipH="1">
              <a:off x="2203" y="2538"/>
              <a:ext cx="558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" name="Line 17"/>
            <p:cNvSpPr>
              <a:spLocks noChangeShapeType="1"/>
            </p:cNvSpPr>
            <p:nvPr/>
          </p:nvSpPr>
          <p:spPr bwMode="auto">
            <a:xfrm>
              <a:off x="2203" y="3335"/>
              <a:ext cx="558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" name="Line 18"/>
            <p:cNvSpPr>
              <a:spLocks noChangeShapeType="1"/>
            </p:cNvSpPr>
            <p:nvPr/>
          </p:nvSpPr>
          <p:spPr bwMode="auto">
            <a:xfrm>
              <a:off x="1435" y="3335"/>
              <a:ext cx="660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2095" y="3335"/>
              <a:ext cx="1" cy="34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" name="Line 20"/>
            <p:cNvSpPr>
              <a:spLocks noChangeShapeType="1"/>
            </p:cNvSpPr>
            <p:nvPr/>
          </p:nvSpPr>
          <p:spPr bwMode="auto">
            <a:xfrm>
              <a:off x="2203" y="3335"/>
              <a:ext cx="1" cy="34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" name="Line 21"/>
            <p:cNvSpPr>
              <a:spLocks noChangeShapeType="1"/>
            </p:cNvSpPr>
            <p:nvPr/>
          </p:nvSpPr>
          <p:spPr bwMode="auto">
            <a:xfrm>
              <a:off x="2203" y="2196"/>
              <a:ext cx="1" cy="3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" name="Line 22"/>
            <p:cNvSpPr>
              <a:spLocks noChangeShapeType="1"/>
            </p:cNvSpPr>
            <p:nvPr/>
          </p:nvSpPr>
          <p:spPr bwMode="auto">
            <a:xfrm>
              <a:off x="2095" y="2196"/>
              <a:ext cx="1" cy="3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" name="Oval 23"/>
            <p:cNvSpPr>
              <a:spLocks noChangeArrowheads="1"/>
            </p:cNvSpPr>
            <p:nvPr/>
          </p:nvSpPr>
          <p:spPr bwMode="auto">
            <a:xfrm>
              <a:off x="2431" y="2688"/>
              <a:ext cx="132" cy="132"/>
            </a:xfrm>
            <a:prstGeom prst="ellips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" name="Oval 24"/>
            <p:cNvSpPr>
              <a:spLocks noChangeArrowheads="1"/>
            </p:cNvSpPr>
            <p:nvPr/>
          </p:nvSpPr>
          <p:spPr bwMode="auto">
            <a:xfrm>
              <a:off x="2431" y="3060"/>
              <a:ext cx="132" cy="132"/>
            </a:xfrm>
            <a:prstGeom prst="ellips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5" name="Oval 25"/>
            <p:cNvSpPr>
              <a:spLocks noChangeArrowheads="1"/>
            </p:cNvSpPr>
            <p:nvPr/>
          </p:nvSpPr>
          <p:spPr bwMode="auto">
            <a:xfrm>
              <a:off x="1765" y="3060"/>
              <a:ext cx="132" cy="132"/>
            </a:xfrm>
            <a:prstGeom prst="ellips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" name="Line 26"/>
            <p:cNvSpPr>
              <a:spLocks noChangeShapeType="1"/>
            </p:cNvSpPr>
            <p:nvPr/>
          </p:nvSpPr>
          <p:spPr bwMode="auto">
            <a:xfrm flipV="1">
              <a:off x="2203" y="446"/>
              <a:ext cx="1" cy="116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" name="Line 27"/>
            <p:cNvSpPr>
              <a:spLocks noChangeShapeType="1"/>
            </p:cNvSpPr>
            <p:nvPr/>
          </p:nvSpPr>
          <p:spPr bwMode="auto">
            <a:xfrm flipH="1">
              <a:off x="2095" y="446"/>
              <a:ext cx="108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" name="Line 28"/>
            <p:cNvSpPr>
              <a:spLocks noChangeShapeType="1"/>
            </p:cNvSpPr>
            <p:nvPr/>
          </p:nvSpPr>
          <p:spPr bwMode="auto">
            <a:xfrm>
              <a:off x="2095" y="446"/>
              <a:ext cx="1" cy="116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" name="Line 29"/>
            <p:cNvSpPr>
              <a:spLocks noChangeShapeType="1"/>
            </p:cNvSpPr>
            <p:nvPr/>
          </p:nvSpPr>
          <p:spPr bwMode="auto">
            <a:xfrm flipH="1">
              <a:off x="2761" y="1615"/>
              <a:ext cx="108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" name="Line 30"/>
            <p:cNvSpPr>
              <a:spLocks noChangeShapeType="1"/>
            </p:cNvSpPr>
            <p:nvPr/>
          </p:nvSpPr>
          <p:spPr bwMode="auto">
            <a:xfrm>
              <a:off x="2095" y="1615"/>
              <a:ext cx="108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" name="Line 31"/>
            <p:cNvSpPr>
              <a:spLocks noChangeShapeType="1"/>
            </p:cNvSpPr>
            <p:nvPr/>
          </p:nvSpPr>
          <p:spPr bwMode="auto">
            <a:xfrm>
              <a:off x="1435" y="1615"/>
              <a:ext cx="156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" name="Line 32"/>
            <p:cNvSpPr>
              <a:spLocks noChangeShapeType="1"/>
            </p:cNvSpPr>
            <p:nvPr/>
          </p:nvSpPr>
          <p:spPr bwMode="auto">
            <a:xfrm>
              <a:off x="1567" y="818"/>
              <a:ext cx="24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" name="Freeform 33"/>
            <p:cNvSpPr>
              <a:spLocks noChangeArrowheads="1"/>
            </p:cNvSpPr>
            <p:nvPr/>
          </p:nvSpPr>
          <p:spPr bwMode="auto">
            <a:xfrm>
              <a:off x="1537" y="788"/>
              <a:ext cx="30" cy="30"/>
            </a:xfrm>
            <a:custGeom>
              <a:avLst/>
              <a:gdLst>
                <a:gd name="T0" fmla="*/ 0 w 5"/>
                <a:gd name="T1" fmla="*/ 0 h 5"/>
                <a:gd name="T2" fmla="*/ 2 w 5"/>
                <a:gd name="T3" fmla="*/ 4 h 5"/>
                <a:gd name="T4" fmla="*/ 5 w 5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2" y="4"/>
                  </a:lnTo>
                  <a:lnTo>
                    <a:pt x="5" y="5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" name="Line 34"/>
            <p:cNvSpPr>
              <a:spLocks noChangeShapeType="1"/>
            </p:cNvSpPr>
            <p:nvPr/>
          </p:nvSpPr>
          <p:spPr bwMode="auto">
            <a:xfrm>
              <a:off x="2095" y="710"/>
              <a:ext cx="108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" name="Line 35"/>
            <p:cNvSpPr>
              <a:spLocks noChangeShapeType="1"/>
            </p:cNvSpPr>
            <p:nvPr/>
          </p:nvSpPr>
          <p:spPr bwMode="auto">
            <a:xfrm>
              <a:off x="1537" y="602"/>
              <a:ext cx="1" cy="18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" name="Line 36"/>
            <p:cNvSpPr>
              <a:spLocks noChangeShapeType="1"/>
            </p:cNvSpPr>
            <p:nvPr/>
          </p:nvSpPr>
          <p:spPr bwMode="auto">
            <a:xfrm flipH="1">
              <a:off x="1591" y="554"/>
              <a:ext cx="504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" name="Freeform 37"/>
            <p:cNvSpPr>
              <a:spLocks noChangeArrowheads="1"/>
            </p:cNvSpPr>
            <p:nvPr/>
          </p:nvSpPr>
          <p:spPr bwMode="auto">
            <a:xfrm>
              <a:off x="1537" y="554"/>
              <a:ext cx="54" cy="48"/>
            </a:xfrm>
            <a:custGeom>
              <a:avLst/>
              <a:gdLst>
                <a:gd name="T0" fmla="*/ 9 w 9"/>
                <a:gd name="T1" fmla="*/ 0 h 8"/>
                <a:gd name="T2" fmla="*/ 3 w 9"/>
                <a:gd name="T3" fmla="*/ 2 h 8"/>
                <a:gd name="T4" fmla="*/ 0 w 9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lnTo>
                    <a:pt x="3" y="2"/>
                  </a:lnTo>
                  <a:lnTo>
                    <a:pt x="0" y="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8" name="Line 38"/>
            <p:cNvSpPr>
              <a:spLocks noChangeShapeType="1"/>
            </p:cNvSpPr>
            <p:nvPr/>
          </p:nvSpPr>
          <p:spPr bwMode="auto">
            <a:xfrm flipH="1">
              <a:off x="2203" y="554"/>
              <a:ext cx="504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" name="Line 39"/>
            <p:cNvSpPr>
              <a:spLocks noChangeShapeType="1"/>
            </p:cNvSpPr>
            <p:nvPr/>
          </p:nvSpPr>
          <p:spPr bwMode="auto">
            <a:xfrm flipV="1">
              <a:off x="2761" y="602"/>
              <a:ext cx="1" cy="101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" name="Freeform 40"/>
            <p:cNvSpPr>
              <a:spLocks noChangeArrowheads="1"/>
            </p:cNvSpPr>
            <p:nvPr/>
          </p:nvSpPr>
          <p:spPr bwMode="auto">
            <a:xfrm>
              <a:off x="2707" y="554"/>
              <a:ext cx="54" cy="48"/>
            </a:xfrm>
            <a:custGeom>
              <a:avLst/>
              <a:gdLst>
                <a:gd name="T0" fmla="*/ 9 w 9"/>
                <a:gd name="T1" fmla="*/ 8 h 8"/>
                <a:gd name="T2" fmla="*/ 6 w 9"/>
                <a:gd name="T3" fmla="*/ 2 h 8"/>
                <a:gd name="T4" fmla="*/ 0 w 9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1" name="Freeform 41"/>
            <p:cNvSpPr>
              <a:spLocks noChangeArrowheads="1"/>
            </p:cNvSpPr>
            <p:nvPr/>
          </p:nvSpPr>
          <p:spPr bwMode="auto">
            <a:xfrm>
              <a:off x="1435" y="446"/>
              <a:ext cx="102" cy="108"/>
            </a:xfrm>
            <a:custGeom>
              <a:avLst/>
              <a:gdLst>
                <a:gd name="T0" fmla="*/ 17 w 17"/>
                <a:gd name="T1" fmla="*/ 0 h 18"/>
                <a:gd name="T2" fmla="*/ 8 w 17"/>
                <a:gd name="T3" fmla="*/ 2 h 18"/>
                <a:gd name="T4" fmla="*/ 2 w 17"/>
                <a:gd name="T5" fmla="*/ 9 h 18"/>
                <a:gd name="T6" fmla="*/ 0 w 17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17" y="0"/>
                  </a:moveTo>
                  <a:lnTo>
                    <a:pt x="8" y="2"/>
                  </a:lnTo>
                  <a:lnTo>
                    <a:pt x="2" y="9"/>
                  </a:lnTo>
                  <a:lnTo>
                    <a:pt x="0" y="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2" name="Line 42"/>
            <p:cNvSpPr>
              <a:spLocks noChangeShapeType="1"/>
            </p:cNvSpPr>
            <p:nvPr/>
          </p:nvSpPr>
          <p:spPr bwMode="auto">
            <a:xfrm>
              <a:off x="1537" y="446"/>
              <a:ext cx="1224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" name="Freeform 43"/>
            <p:cNvSpPr>
              <a:spLocks noChangeArrowheads="1"/>
            </p:cNvSpPr>
            <p:nvPr/>
          </p:nvSpPr>
          <p:spPr bwMode="auto">
            <a:xfrm>
              <a:off x="2761" y="446"/>
              <a:ext cx="108" cy="108"/>
            </a:xfrm>
            <a:custGeom>
              <a:avLst/>
              <a:gdLst>
                <a:gd name="T0" fmla="*/ 18 w 18"/>
                <a:gd name="T1" fmla="*/ 18 h 18"/>
                <a:gd name="T2" fmla="*/ 15 w 18"/>
                <a:gd name="T3" fmla="*/ 9 h 18"/>
                <a:gd name="T4" fmla="*/ 9 w 18"/>
                <a:gd name="T5" fmla="*/ 2 h 18"/>
                <a:gd name="T6" fmla="*/ 0 w 18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8">
                  <a:moveTo>
                    <a:pt x="18" y="18"/>
                  </a:moveTo>
                  <a:lnTo>
                    <a:pt x="15" y="9"/>
                  </a:lnTo>
                  <a:lnTo>
                    <a:pt x="9" y="2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4" name="Line 44"/>
            <p:cNvSpPr>
              <a:spLocks noChangeShapeType="1"/>
            </p:cNvSpPr>
            <p:nvPr/>
          </p:nvSpPr>
          <p:spPr bwMode="auto">
            <a:xfrm>
              <a:off x="1435" y="1027"/>
              <a:ext cx="1" cy="42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" name="Line 45"/>
            <p:cNvSpPr>
              <a:spLocks noChangeShapeType="1"/>
            </p:cNvSpPr>
            <p:nvPr/>
          </p:nvSpPr>
          <p:spPr bwMode="auto">
            <a:xfrm>
              <a:off x="2947" y="1081"/>
              <a:ext cx="1" cy="42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" name="Line 46"/>
            <p:cNvSpPr>
              <a:spLocks noChangeShapeType="1"/>
            </p:cNvSpPr>
            <p:nvPr/>
          </p:nvSpPr>
          <p:spPr bwMode="auto">
            <a:xfrm>
              <a:off x="2911" y="1081"/>
              <a:ext cx="36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" name="Line 47"/>
            <p:cNvSpPr>
              <a:spLocks noChangeShapeType="1"/>
            </p:cNvSpPr>
            <p:nvPr/>
          </p:nvSpPr>
          <p:spPr bwMode="auto">
            <a:xfrm>
              <a:off x="2869" y="554"/>
              <a:ext cx="1" cy="106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" name="Freeform 48"/>
            <p:cNvSpPr>
              <a:spLocks noChangeArrowheads="1"/>
            </p:cNvSpPr>
            <p:nvPr/>
          </p:nvSpPr>
          <p:spPr bwMode="auto">
            <a:xfrm>
              <a:off x="2869" y="1039"/>
              <a:ext cx="42" cy="42"/>
            </a:xfrm>
            <a:custGeom>
              <a:avLst/>
              <a:gdLst>
                <a:gd name="T0" fmla="*/ 0 w 7"/>
                <a:gd name="T1" fmla="*/ 0 h 7"/>
                <a:gd name="T2" fmla="*/ 2 w 7"/>
                <a:gd name="T3" fmla="*/ 5 h 7"/>
                <a:gd name="T4" fmla="*/ 7 w 7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lnTo>
                    <a:pt x="2" y="5"/>
                  </a:lnTo>
                  <a:lnTo>
                    <a:pt x="7" y="7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9" name="Line 49"/>
            <p:cNvSpPr>
              <a:spLocks noChangeShapeType="1"/>
            </p:cNvSpPr>
            <p:nvPr/>
          </p:nvSpPr>
          <p:spPr bwMode="auto">
            <a:xfrm>
              <a:off x="2911" y="1507"/>
              <a:ext cx="36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" name="Line 50"/>
            <p:cNvSpPr>
              <a:spLocks noChangeShapeType="1"/>
            </p:cNvSpPr>
            <p:nvPr/>
          </p:nvSpPr>
          <p:spPr bwMode="auto">
            <a:xfrm>
              <a:off x="2869" y="1081"/>
              <a:ext cx="1" cy="42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" name="Freeform 51"/>
            <p:cNvSpPr>
              <a:spLocks noChangeArrowheads="1"/>
            </p:cNvSpPr>
            <p:nvPr/>
          </p:nvSpPr>
          <p:spPr bwMode="auto">
            <a:xfrm>
              <a:off x="2869" y="1507"/>
              <a:ext cx="42" cy="42"/>
            </a:xfrm>
            <a:custGeom>
              <a:avLst/>
              <a:gdLst>
                <a:gd name="T0" fmla="*/ 7 w 7"/>
                <a:gd name="T1" fmla="*/ 0 h 7"/>
                <a:gd name="T2" fmla="*/ 3 w 7"/>
                <a:gd name="T3" fmla="*/ 1 h 7"/>
                <a:gd name="T4" fmla="*/ 1 w 7"/>
                <a:gd name="T5" fmla="*/ 3 h 7"/>
                <a:gd name="T6" fmla="*/ 0 w 7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lnTo>
                    <a:pt x="3" y="1"/>
                  </a:lnTo>
                  <a:lnTo>
                    <a:pt x="1" y="3"/>
                  </a:lnTo>
                  <a:lnTo>
                    <a:pt x="0" y="7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2" name="Line 52"/>
            <p:cNvSpPr>
              <a:spLocks noChangeShapeType="1"/>
            </p:cNvSpPr>
            <p:nvPr/>
          </p:nvSpPr>
          <p:spPr bwMode="auto">
            <a:xfrm flipV="1">
              <a:off x="1435" y="554"/>
              <a:ext cx="1" cy="106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" name="Line 53"/>
            <p:cNvSpPr>
              <a:spLocks noChangeShapeType="1"/>
            </p:cNvSpPr>
            <p:nvPr/>
          </p:nvSpPr>
          <p:spPr bwMode="auto">
            <a:xfrm>
              <a:off x="2869" y="2304"/>
              <a:ext cx="1" cy="42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" name="Line 54"/>
            <p:cNvSpPr>
              <a:spLocks noChangeShapeType="1"/>
            </p:cNvSpPr>
            <p:nvPr/>
          </p:nvSpPr>
          <p:spPr bwMode="auto">
            <a:xfrm>
              <a:off x="2947" y="2304"/>
              <a:ext cx="1" cy="42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" name="Line 55"/>
            <p:cNvSpPr>
              <a:spLocks noChangeShapeType="1"/>
            </p:cNvSpPr>
            <p:nvPr/>
          </p:nvSpPr>
          <p:spPr bwMode="auto">
            <a:xfrm>
              <a:off x="2911" y="2304"/>
              <a:ext cx="36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" name="Freeform 56"/>
            <p:cNvSpPr>
              <a:spLocks noChangeArrowheads="1"/>
            </p:cNvSpPr>
            <p:nvPr/>
          </p:nvSpPr>
          <p:spPr bwMode="auto">
            <a:xfrm>
              <a:off x="2869" y="2262"/>
              <a:ext cx="42" cy="42"/>
            </a:xfrm>
            <a:custGeom>
              <a:avLst/>
              <a:gdLst>
                <a:gd name="T0" fmla="*/ 0 w 7"/>
                <a:gd name="T1" fmla="*/ 0 h 7"/>
                <a:gd name="T2" fmla="*/ 1 w 7"/>
                <a:gd name="T3" fmla="*/ 3 h 7"/>
                <a:gd name="T4" fmla="*/ 3 w 7"/>
                <a:gd name="T5" fmla="*/ 6 h 7"/>
                <a:gd name="T6" fmla="*/ 7 w 7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lnTo>
                    <a:pt x="1" y="3"/>
                  </a:lnTo>
                  <a:lnTo>
                    <a:pt x="3" y="6"/>
                  </a:lnTo>
                  <a:lnTo>
                    <a:pt x="7" y="7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7" name="Line 57"/>
            <p:cNvSpPr>
              <a:spLocks noChangeShapeType="1"/>
            </p:cNvSpPr>
            <p:nvPr/>
          </p:nvSpPr>
          <p:spPr bwMode="auto">
            <a:xfrm>
              <a:off x="2911" y="2724"/>
              <a:ext cx="36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" name="Line 58"/>
            <p:cNvSpPr>
              <a:spLocks noChangeShapeType="1"/>
            </p:cNvSpPr>
            <p:nvPr/>
          </p:nvSpPr>
          <p:spPr bwMode="auto">
            <a:xfrm flipV="1">
              <a:off x="2869" y="2196"/>
              <a:ext cx="1" cy="148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" name="Freeform 59"/>
            <p:cNvSpPr>
              <a:spLocks noChangeArrowheads="1"/>
            </p:cNvSpPr>
            <p:nvPr/>
          </p:nvSpPr>
          <p:spPr bwMode="auto">
            <a:xfrm>
              <a:off x="2869" y="2724"/>
              <a:ext cx="42" cy="48"/>
            </a:xfrm>
            <a:custGeom>
              <a:avLst/>
              <a:gdLst>
                <a:gd name="T0" fmla="*/ 7 w 7"/>
                <a:gd name="T1" fmla="*/ 0 h 8"/>
                <a:gd name="T2" fmla="*/ 3 w 7"/>
                <a:gd name="T3" fmla="*/ 1 h 8"/>
                <a:gd name="T4" fmla="*/ 1 w 7"/>
                <a:gd name="T5" fmla="*/ 4 h 8"/>
                <a:gd name="T6" fmla="*/ 0 w 7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lnTo>
                    <a:pt x="3" y="1"/>
                  </a:lnTo>
                  <a:lnTo>
                    <a:pt x="1" y="4"/>
                  </a:lnTo>
                  <a:lnTo>
                    <a:pt x="0" y="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0" name="Line 60"/>
            <p:cNvSpPr>
              <a:spLocks noChangeShapeType="1"/>
            </p:cNvSpPr>
            <p:nvPr/>
          </p:nvSpPr>
          <p:spPr bwMode="auto">
            <a:xfrm>
              <a:off x="2911" y="3575"/>
              <a:ext cx="36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" name="Freeform 61"/>
            <p:cNvSpPr>
              <a:spLocks noChangeArrowheads="1"/>
            </p:cNvSpPr>
            <p:nvPr/>
          </p:nvSpPr>
          <p:spPr bwMode="auto">
            <a:xfrm>
              <a:off x="2869" y="3575"/>
              <a:ext cx="42" cy="42"/>
            </a:xfrm>
            <a:custGeom>
              <a:avLst/>
              <a:gdLst>
                <a:gd name="T0" fmla="*/ 7 w 7"/>
                <a:gd name="T1" fmla="*/ 0 h 7"/>
                <a:gd name="T2" fmla="*/ 3 w 7"/>
                <a:gd name="T3" fmla="*/ 1 h 7"/>
                <a:gd name="T4" fmla="*/ 1 w 7"/>
                <a:gd name="T5" fmla="*/ 4 h 7"/>
                <a:gd name="T6" fmla="*/ 0 w 7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lnTo>
                    <a:pt x="3" y="1"/>
                  </a:lnTo>
                  <a:lnTo>
                    <a:pt x="1" y="4"/>
                  </a:lnTo>
                  <a:lnTo>
                    <a:pt x="0" y="7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2" name="Line 62"/>
            <p:cNvSpPr>
              <a:spLocks noChangeShapeType="1"/>
            </p:cNvSpPr>
            <p:nvPr/>
          </p:nvSpPr>
          <p:spPr bwMode="auto">
            <a:xfrm flipV="1">
              <a:off x="2947" y="3150"/>
              <a:ext cx="1" cy="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" name="Line 63"/>
            <p:cNvSpPr>
              <a:spLocks noChangeShapeType="1"/>
            </p:cNvSpPr>
            <p:nvPr/>
          </p:nvSpPr>
          <p:spPr bwMode="auto">
            <a:xfrm>
              <a:off x="2911" y="3150"/>
              <a:ext cx="36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" name="Freeform 64"/>
            <p:cNvSpPr>
              <a:spLocks noChangeArrowheads="1"/>
            </p:cNvSpPr>
            <p:nvPr/>
          </p:nvSpPr>
          <p:spPr bwMode="auto">
            <a:xfrm>
              <a:off x="2869" y="3108"/>
              <a:ext cx="42" cy="42"/>
            </a:xfrm>
            <a:custGeom>
              <a:avLst/>
              <a:gdLst>
                <a:gd name="T0" fmla="*/ 0 w 7"/>
                <a:gd name="T1" fmla="*/ 0 h 7"/>
                <a:gd name="T2" fmla="*/ 1 w 7"/>
                <a:gd name="T3" fmla="*/ 4 h 7"/>
                <a:gd name="T4" fmla="*/ 3 w 7"/>
                <a:gd name="T5" fmla="*/ 6 h 7"/>
                <a:gd name="T6" fmla="*/ 7 w 7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lnTo>
                    <a:pt x="1" y="4"/>
                  </a:lnTo>
                  <a:lnTo>
                    <a:pt x="3" y="6"/>
                  </a:lnTo>
                  <a:lnTo>
                    <a:pt x="7" y="7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5" name="Line 65"/>
            <p:cNvSpPr>
              <a:spLocks noChangeShapeType="1"/>
            </p:cNvSpPr>
            <p:nvPr/>
          </p:nvSpPr>
          <p:spPr bwMode="auto">
            <a:xfrm>
              <a:off x="1435" y="2724"/>
              <a:ext cx="1" cy="42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" name="Line 66"/>
            <p:cNvSpPr>
              <a:spLocks noChangeShapeType="1"/>
            </p:cNvSpPr>
            <p:nvPr/>
          </p:nvSpPr>
          <p:spPr bwMode="auto">
            <a:xfrm>
              <a:off x="1351" y="2724"/>
              <a:ext cx="1" cy="42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" name="Line 67"/>
            <p:cNvSpPr>
              <a:spLocks noChangeShapeType="1"/>
            </p:cNvSpPr>
            <p:nvPr/>
          </p:nvSpPr>
          <p:spPr bwMode="auto">
            <a:xfrm flipH="1">
              <a:off x="1351" y="2724"/>
              <a:ext cx="42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" name="Freeform 68"/>
            <p:cNvSpPr>
              <a:spLocks noChangeArrowheads="1"/>
            </p:cNvSpPr>
            <p:nvPr/>
          </p:nvSpPr>
          <p:spPr bwMode="auto">
            <a:xfrm>
              <a:off x="1393" y="2682"/>
              <a:ext cx="42" cy="42"/>
            </a:xfrm>
            <a:custGeom>
              <a:avLst/>
              <a:gdLst>
                <a:gd name="T0" fmla="*/ 0 w 7"/>
                <a:gd name="T1" fmla="*/ 7 h 7"/>
                <a:gd name="T2" fmla="*/ 3 w 7"/>
                <a:gd name="T3" fmla="*/ 6 h 7"/>
                <a:gd name="T4" fmla="*/ 6 w 7"/>
                <a:gd name="T5" fmla="*/ 4 h 7"/>
                <a:gd name="T6" fmla="*/ 7 w 7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lnTo>
                    <a:pt x="3" y="6"/>
                  </a:lnTo>
                  <a:lnTo>
                    <a:pt x="6" y="4"/>
                  </a:lnTo>
                  <a:lnTo>
                    <a:pt x="7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9" name="Line 69"/>
            <p:cNvSpPr>
              <a:spLocks noChangeShapeType="1"/>
            </p:cNvSpPr>
            <p:nvPr/>
          </p:nvSpPr>
          <p:spPr bwMode="auto">
            <a:xfrm flipH="1">
              <a:off x="1351" y="3150"/>
              <a:ext cx="42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" name="Line 70"/>
            <p:cNvSpPr>
              <a:spLocks noChangeShapeType="1"/>
            </p:cNvSpPr>
            <p:nvPr/>
          </p:nvSpPr>
          <p:spPr bwMode="auto">
            <a:xfrm>
              <a:off x="1435" y="2538"/>
              <a:ext cx="1" cy="79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" name="Freeform 71"/>
            <p:cNvSpPr>
              <a:spLocks noChangeArrowheads="1"/>
            </p:cNvSpPr>
            <p:nvPr/>
          </p:nvSpPr>
          <p:spPr bwMode="auto">
            <a:xfrm>
              <a:off x="1393" y="3150"/>
              <a:ext cx="42" cy="42"/>
            </a:xfrm>
            <a:custGeom>
              <a:avLst/>
              <a:gdLst>
                <a:gd name="T0" fmla="*/ 7 w 7"/>
                <a:gd name="T1" fmla="*/ 7 h 7"/>
                <a:gd name="T2" fmla="*/ 6 w 7"/>
                <a:gd name="T3" fmla="*/ 4 h 7"/>
                <a:gd name="T4" fmla="*/ 3 w 7"/>
                <a:gd name="T5" fmla="*/ 1 h 7"/>
                <a:gd name="T6" fmla="*/ 0 w 7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lnTo>
                    <a:pt x="6" y="4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2" name="Line 72"/>
            <p:cNvSpPr>
              <a:spLocks noChangeShapeType="1"/>
            </p:cNvSpPr>
            <p:nvPr/>
          </p:nvSpPr>
          <p:spPr bwMode="auto">
            <a:xfrm>
              <a:off x="1351" y="1003"/>
              <a:ext cx="1" cy="42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" name="Line 73"/>
            <p:cNvSpPr>
              <a:spLocks noChangeShapeType="1"/>
            </p:cNvSpPr>
            <p:nvPr/>
          </p:nvSpPr>
          <p:spPr bwMode="auto">
            <a:xfrm flipH="1">
              <a:off x="1351" y="1003"/>
              <a:ext cx="42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" name="Freeform 74"/>
            <p:cNvSpPr>
              <a:spLocks noChangeArrowheads="1"/>
            </p:cNvSpPr>
            <p:nvPr/>
          </p:nvSpPr>
          <p:spPr bwMode="auto">
            <a:xfrm>
              <a:off x="1393" y="961"/>
              <a:ext cx="42" cy="42"/>
            </a:xfrm>
            <a:custGeom>
              <a:avLst/>
              <a:gdLst>
                <a:gd name="T0" fmla="*/ 0 w 7"/>
                <a:gd name="T1" fmla="*/ 7 h 7"/>
                <a:gd name="T2" fmla="*/ 3 w 7"/>
                <a:gd name="T3" fmla="*/ 6 h 7"/>
                <a:gd name="T4" fmla="*/ 6 w 7"/>
                <a:gd name="T5" fmla="*/ 3 h 7"/>
                <a:gd name="T6" fmla="*/ 7 w 7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lnTo>
                    <a:pt x="3" y="6"/>
                  </a:lnTo>
                  <a:lnTo>
                    <a:pt x="6" y="3"/>
                  </a:lnTo>
                  <a:lnTo>
                    <a:pt x="7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5" name="Line 75"/>
            <p:cNvSpPr>
              <a:spLocks noChangeShapeType="1"/>
            </p:cNvSpPr>
            <p:nvPr/>
          </p:nvSpPr>
          <p:spPr bwMode="auto">
            <a:xfrm flipH="1">
              <a:off x="1351" y="1429"/>
              <a:ext cx="42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" name="Freeform 76"/>
            <p:cNvSpPr>
              <a:spLocks noChangeArrowheads="1"/>
            </p:cNvSpPr>
            <p:nvPr/>
          </p:nvSpPr>
          <p:spPr bwMode="auto">
            <a:xfrm>
              <a:off x="1393" y="1429"/>
              <a:ext cx="42" cy="42"/>
            </a:xfrm>
            <a:custGeom>
              <a:avLst/>
              <a:gdLst>
                <a:gd name="T0" fmla="*/ 7 w 7"/>
                <a:gd name="T1" fmla="*/ 7 h 7"/>
                <a:gd name="T2" fmla="*/ 5 w 7"/>
                <a:gd name="T3" fmla="*/ 2 h 7"/>
                <a:gd name="T4" fmla="*/ 0 w 7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lnTo>
                    <a:pt x="5" y="2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7" name="Line 77"/>
            <p:cNvSpPr>
              <a:spLocks noChangeShapeType="1"/>
            </p:cNvSpPr>
            <p:nvPr/>
          </p:nvSpPr>
          <p:spPr bwMode="auto">
            <a:xfrm flipH="1">
              <a:off x="3528" y="446"/>
              <a:ext cx="186" cy="26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" name="Line 78"/>
            <p:cNvSpPr>
              <a:spLocks noChangeShapeType="1"/>
            </p:cNvSpPr>
            <p:nvPr/>
          </p:nvSpPr>
          <p:spPr bwMode="auto">
            <a:xfrm>
              <a:off x="4830" y="446"/>
              <a:ext cx="186" cy="26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" name="Line 79"/>
            <p:cNvSpPr>
              <a:spLocks noChangeShapeType="1"/>
            </p:cNvSpPr>
            <p:nvPr/>
          </p:nvSpPr>
          <p:spPr bwMode="auto">
            <a:xfrm flipH="1">
              <a:off x="3714" y="446"/>
              <a:ext cx="1116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" name="Freeform 80"/>
            <p:cNvSpPr>
              <a:spLocks noChangeArrowheads="1"/>
            </p:cNvSpPr>
            <p:nvPr/>
          </p:nvSpPr>
          <p:spPr bwMode="auto">
            <a:xfrm>
              <a:off x="3528" y="1291"/>
              <a:ext cx="324" cy="324"/>
            </a:xfrm>
            <a:custGeom>
              <a:avLst/>
              <a:gdLst>
                <a:gd name="T0" fmla="*/ 0 w 54"/>
                <a:gd name="T1" fmla="*/ 0 h 54"/>
                <a:gd name="T2" fmla="*/ 1 w 54"/>
                <a:gd name="T3" fmla="*/ 10 h 54"/>
                <a:gd name="T4" fmla="*/ 4 w 54"/>
                <a:gd name="T5" fmla="*/ 19 h 54"/>
                <a:gd name="T6" fmla="*/ 7 w 54"/>
                <a:gd name="T7" fmla="*/ 27 h 54"/>
                <a:gd name="T8" fmla="*/ 13 w 54"/>
                <a:gd name="T9" fmla="*/ 35 h 54"/>
                <a:gd name="T10" fmla="*/ 19 w 54"/>
                <a:gd name="T11" fmla="*/ 41 h 54"/>
                <a:gd name="T12" fmla="*/ 27 w 54"/>
                <a:gd name="T13" fmla="*/ 46 h 54"/>
                <a:gd name="T14" fmla="*/ 35 w 54"/>
                <a:gd name="T15" fmla="*/ 50 h 54"/>
                <a:gd name="T16" fmla="*/ 44 w 54"/>
                <a:gd name="T17" fmla="*/ 53 h 54"/>
                <a:gd name="T18" fmla="*/ 54 w 54"/>
                <a:gd name="T19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54">
                  <a:moveTo>
                    <a:pt x="0" y="0"/>
                  </a:moveTo>
                  <a:lnTo>
                    <a:pt x="1" y="10"/>
                  </a:lnTo>
                  <a:lnTo>
                    <a:pt x="4" y="19"/>
                  </a:lnTo>
                  <a:lnTo>
                    <a:pt x="7" y="27"/>
                  </a:lnTo>
                  <a:lnTo>
                    <a:pt x="13" y="35"/>
                  </a:lnTo>
                  <a:lnTo>
                    <a:pt x="19" y="41"/>
                  </a:lnTo>
                  <a:lnTo>
                    <a:pt x="27" y="46"/>
                  </a:lnTo>
                  <a:lnTo>
                    <a:pt x="35" y="50"/>
                  </a:lnTo>
                  <a:lnTo>
                    <a:pt x="44" y="53"/>
                  </a:lnTo>
                  <a:lnTo>
                    <a:pt x="54" y="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1" name="Line 81"/>
            <p:cNvSpPr>
              <a:spLocks noChangeShapeType="1"/>
            </p:cNvSpPr>
            <p:nvPr/>
          </p:nvSpPr>
          <p:spPr bwMode="auto">
            <a:xfrm>
              <a:off x="3852" y="1615"/>
              <a:ext cx="846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" name="Line 82"/>
            <p:cNvSpPr>
              <a:spLocks noChangeShapeType="1"/>
            </p:cNvSpPr>
            <p:nvPr/>
          </p:nvSpPr>
          <p:spPr bwMode="auto">
            <a:xfrm flipV="1">
              <a:off x="5016" y="710"/>
              <a:ext cx="1" cy="58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" name="Freeform 83"/>
            <p:cNvSpPr>
              <a:spLocks noChangeArrowheads="1"/>
            </p:cNvSpPr>
            <p:nvPr/>
          </p:nvSpPr>
          <p:spPr bwMode="auto">
            <a:xfrm>
              <a:off x="4698" y="1291"/>
              <a:ext cx="318" cy="324"/>
            </a:xfrm>
            <a:custGeom>
              <a:avLst/>
              <a:gdLst>
                <a:gd name="T0" fmla="*/ 0 w 53"/>
                <a:gd name="T1" fmla="*/ 54 h 54"/>
                <a:gd name="T2" fmla="*/ 9 w 53"/>
                <a:gd name="T3" fmla="*/ 53 h 54"/>
                <a:gd name="T4" fmla="*/ 18 w 53"/>
                <a:gd name="T5" fmla="*/ 50 h 54"/>
                <a:gd name="T6" fmla="*/ 27 w 53"/>
                <a:gd name="T7" fmla="*/ 46 h 54"/>
                <a:gd name="T8" fmla="*/ 34 w 53"/>
                <a:gd name="T9" fmla="*/ 41 h 54"/>
                <a:gd name="T10" fmla="*/ 41 w 53"/>
                <a:gd name="T11" fmla="*/ 35 h 54"/>
                <a:gd name="T12" fmla="*/ 46 w 53"/>
                <a:gd name="T13" fmla="*/ 27 h 54"/>
                <a:gd name="T14" fmla="*/ 50 w 53"/>
                <a:gd name="T15" fmla="*/ 19 h 54"/>
                <a:gd name="T16" fmla="*/ 53 w 53"/>
                <a:gd name="T17" fmla="*/ 10 h 54"/>
                <a:gd name="T18" fmla="*/ 53 w 53"/>
                <a:gd name="T1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" h="54">
                  <a:moveTo>
                    <a:pt x="0" y="54"/>
                  </a:moveTo>
                  <a:lnTo>
                    <a:pt x="9" y="53"/>
                  </a:lnTo>
                  <a:lnTo>
                    <a:pt x="18" y="50"/>
                  </a:lnTo>
                  <a:lnTo>
                    <a:pt x="27" y="46"/>
                  </a:lnTo>
                  <a:lnTo>
                    <a:pt x="34" y="41"/>
                  </a:lnTo>
                  <a:lnTo>
                    <a:pt x="41" y="35"/>
                  </a:lnTo>
                  <a:lnTo>
                    <a:pt x="46" y="27"/>
                  </a:lnTo>
                  <a:lnTo>
                    <a:pt x="50" y="19"/>
                  </a:lnTo>
                  <a:lnTo>
                    <a:pt x="53" y="10"/>
                  </a:lnTo>
                  <a:lnTo>
                    <a:pt x="5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4" name="Oval 84"/>
            <p:cNvSpPr>
              <a:spLocks noChangeArrowheads="1"/>
            </p:cNvSpPr>
            <p:nvPr/>
          </p:nvSpPr>
          <p:spPr bwMode="auto">
            <a:xfrm>
              <a:off x="4170" y="1111"/>
              <a:ext cx="210" cy="210"/>
            </a:xfrm>
            <a:prstGeom prst="ellips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5" name="Oval 85"/>
            <p:cNvSpPr>
              <a:spLocks noChangeArrowheads="1"/>
            </p:cNvSpPr>
            <p:nvPr/>
          </p:nvSpPr>
          <p:spPr bwMode="auto">
            <a:xfrm>
              <a:off x="4062" y="1003"/>
              <a:ext cx="426" cy="426"/>
            </a:xfrm>
            <a:prstGeom prst="ellips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6" name="Freeform 86"/>
            <p:cNvSpPr>
              <a:spLocks noChangeArrowheads="1"/>
            </p:cNvSpPr>
            <p:nvPr/>
          </p:nvSpPr>
          <p:spPr bwMode="auto">
            <a:xfrm>
              <a:off x="3876" y="1189"/>
              <a:ext cx="798" cy="426"/>
            </a:xfrm>
            <a:custGeom>
              <a:avLst/>
              <a:gdLst>
                <a:gd name="T0" fmla="*/ 0 w 133"/>
                <a:gd name="T1" fmla="*/ 0 h 71"/>
                <a:gd name="T2" fmla="*/ 0 w 133"/>
                <a:gd name="T3" fmla="*/ 10 h 71"/>
                <a:gd name="T4" fmla="*/ 2 w 133"/>
                <a:gd name="T5" fmla="*/ 20 h 71"/>
                <a:gd name="T6" fmla="*/ 5 w 133"/>
                <a:gd name="T7" fmla="*/ 29 h 71"/>
                <a:gd name="T8" fmla="*/ 9 w 133"/>
                <a:gd name="T9" fmla="*/ 38 h 71"/>
                <a:gd name="T10" fmla="*/ 15 w 133"/>
                <a:gd name="T11" fmla="*/ 46 h 71"/>
                <a:gd name="T12" fmla="*/ 22 w 133"/>
                <a:gd name="T13" fmla="*/ 53 h 71"/>
                <a:gd name="T14" fmla="*/ 29 w 133"/>
                <a:gd name="T15" fmla="*/ 59 h 71"/>
                <a:gd name="T16" fmla="*/ 38 w 133"/>
                <a:gd name="T17" fmla="*/ 64 h 71"/>
                <a:gd name="T18" fmla="*/ 47 w 133"/>
                <a:gd name="T19" fmla="*/ 68 h 71"/>
                <a:gd name="T20" fmla="*/ 57 w 133"/>
                <a:gd name="T21" fmla="*/ 70 h 71"/>
                <a:gd name="T22" fmla="*/ 66 w 133"/>
                <a:gd name="T23" fmla="*/ 71 h 71"/>
                <a:gd name="T24" fmla="*/ 76 w 133"/>
                <a:gd name="T25" fmla="*/ 70 h 71"/>
                <a:gd name="T26" fmla="*/ 86 w 133"/>
                <a:gd name="T27" fmla="*/ 68 h 71"/>
                <a:gd name="T28" fmla="*/ 95 w 133"/>
                <a:gd name="T29" fmla="*/ 64 h 71"/>
                <a:gd name="T30" fmla="*/ 103 w 133"/>
                <a:gd name="T31" fmla="*/ 59 h 71"/>
                <a:gd name="T32" fmla="*/ 111 w 133"/>
                <a:gd name="T33" fmla="*/ 53 h 71"/>
                <a:gd name="T34" fmla="*/ 118 w 133"/>
                <a:gd name="T35" fmla="*/ 46 h 71"/>
                <a:gd name="T36" fmla="*/ 124 w 133"/>
                <a:gd name="T37" fmla="*/ 38 h 71"/>
                <a:gd name="T38" fmla="*/ 128 w 133"/>
                <a:gd name="T39" fmla="*/ 29 h 71"/>
                <a:gd name="T40" fmla="*/ 131 w 133"/>
                <a:gd name="T41" fmla="*/ 20 h 71"/>
                <a:gd name="T42" fmla="*/ 132 w 133"/>
                <a:gd name="T43" fmla="*/ 10 h 71"/>
                <a:gd name="T44" fmla="*/ 133 w 133"/>
                <a:gd name="T4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3" h="71">
                  <a:moveTo>
                    <a:pt x="0" y="0"/>
                  </a:moveTo>
                  <a:lnTo>
                    <a:pt x="0" y="10"/>
                  </a:lnTo>
                  <a:lnTo>
                    <a:pt x="2" y="20"/>
                  </a:lnTo>
                  <a:lnTo>
                    <a:pt x="5" y="29"/>
                  </a:lnTo>
                  <a:lnTo>
                    <a:pt x="9" y="38"/>
                  </a:lnTo>
                  <a:lnTo>
                    <a:pt x="15" y="46"/>
                  </a:lnTo>
                  <a:lnTo>
                    <a:pt x="22" y="53"/>
                  </a:lnTo>
                  <a:lnTo>
                    <a:pt x="29" y="59"/>
                  </a:lnTo>
                  <a:lnTo>
                    <a:pt x="38" y="64"/>
                  </a:lnTo>
                  <a:lnTo>
                    <a:pt x="47" y="68"/>
                  </a:lnTo>
                  <a:lnTo>
                    <a:pt x="57" y="70"/>
                  </a:lnTo>
                  <a:lnTo>
                    <a:pt x="66" y="71"/>
                  </a:lnTo>
                  <a:lnTo>
                    <a:pt x="76" y="70"/>
                  </a:lnTo>
                  <a:lnTo>
                    <a:pt x="86" y="68"/>
                  </a:lnTo>
                  <a:lnTo>
                    <a:pt x="95" y="64"/>
                  </a:lnTo>
                  <a:lnTo>
                    <a:pt x="103" y="59"/>
                  </a:lnTo>
                  <a:lnTo>
                    <a:pt x="111" y="53"/>
                  </a:lnTo>
                  <a:lnTo>
                    <a:pt x="118" y="46"/>
                  </a:lnTo>
                  <a:lnTo>
                    <a:pt x="124" y="38"/>
                  </a:lnTo>
                  <a:lnTo>
                    <a:pt x="128" y="29"/>
                  </a:lnTo>
                  <a:lnTo>
                    <a:pt x="131" y="20"/>
                  </a:lnTo>
                  <a:lnTo>
                    <a:pt x="132" y="10"/>
                  </a:lnTo>
                  <a:lnTo>
                    <a:pt x="13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7" name="Freeform 87"/>
            <p:cNvSpPr>
              <a:spLocks noChangeArrowheads="1"/>
            </p:cNvSpPr>
            <p:nvPr/>
          </p:nvSpPr>
          <p:spPr bwMode="auto">
            <a:xfrm>
              <a:off x="3744" y="1189"/>
              <a:ext cx="168" cy="210"/>
            </a:xfrm>
            <a:custGeom>
              <a:avLst/>
              <a:gdLst>
                <a:gd name="T0" fmla="*/ 22 w 28"/>
                <a:gd name="T1" fmla="*/ 0 h 35"/>
                <a:gd name="T2" fmla="*/ 13 w 28"/>
                <a:gd name="T3" fmla="*/ 0 h 35"/>
                <a:gd name="T4" fmla="*/ 5 w 28"/>
                <a:gd name="T5" fmla="*/ 5 h 35"/>
                <a:gd name="T6" fmla="*/ 1 w 28"/>
                <a:gd name="T7" fmla="*/ 12 h 35"/>
                <a:gd name="T8" fmla="*/ 0 w 28"/>
                <a:gd name="T9" fmla="*/ 21 h 35"/>
                <a:gd name="T10" fmla="*/ 4 w 28"/>
                <a:gd name="T11" fmla="*/ 29 h 35"/>
                <a:gd name="T12" fmla="*/ 11 w 28"/>
                <a:gd name="T13" fmla="*/ 34 h 35"/>
                <a:gd name="T14" fmla="*/ 20 w 28"/>
                <a:gd name="T15" fmla="*/ 35 h 35"/>
                <a:gd name="T16" fmla="*/ 28 w 28"/>
                <a:gd name="T1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5">
                  <a:moveTo>
                    <a:pt x="22" y="0"/>
                  </a:moveTo>
                  <a:lnTo>
                    <a:pt x="13" y="0"/>
                  </a:lnTo>
                  <a:lnTo>
                    <a:pt x="5" y="5"/>
                  </a:lnTo>
                  <a:lnTo>
                    <a:pt x="1" y="12"/>
                  </a:lnTo>
                  <a:lnTo>
                    <a:pt x="0" y="21"/>
                  </a:lnTo>
                  <a:lnTo>
                    <a:pt x="4" y="29"/>
                  </a:lnTo>
                  <a:lnTo>
                    <a:pt x="11" y="34"/>
                  </a:lnTo>
                  <a:lnTo>
                    <a:pt x="20" y="35"/>
                  </a:lnTo>
                  <a:lnTo>
                    <a:pt x="28" y="32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8" name="Freeform 88"/>
            <p:cNvSpPr>
              <a:spLocks noChangeArrowheads="1"/>
            </p:cNvSpPr>
            <p:nvPr/>
          </p:nvSpPr>
          <p:spPr bwMode="auto">
            <a:xfrm>
              <a:off x="4638" y="1189"/>
              <a:ext cx="168" cy="210"/>
            </a:xfrm>
            <a:custGeom>
              <a:avLst/>
              <a:gdLst>
                <a:gd name="T0" fmla="*/ 0 w 28"/>
                <a:gd name="T1" fmla="*/ 32 h 35"/>
                <a:gd name="T2" fmla="*/ 8 w 28"/>
                <a:gd name="T3" fmla="*/ 35 h 35"/>
                <a:gd name="T4" fmla="*/ 17 w 28"/>
                <a:gd name="T5" fmla="*/ 34 h 35"/>
                <a:gd name="T6" fmla="*/ 24 w 28"/>
                <a:gd name="T7" fmla="*/ 29 h 35"/>
                <a:gd name="T8" fmla="*/ 28 w 28"/>
                <a:gd name="T9" fmla="*/ 21 h 35"/>
                <a:gd name="T10" fmla="*/ 27 w 28"/>
                <a:gd name="T11" fmla="*/ 12 h 35"/>
                <a:gd name="T12" fmla="*/ 22 w 28"/>
                <a:gd name="T13" fmla="*/ 5 h 35"/>
                <a:gd name="T14" fmla="*/ 14 w 28"/>
                <a:gd name="T15" fmla="*/ 0 h 35"/>
                <a:gd name="T16" fmla="*/ 6 w 28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5">
                  <a:moveTo>
                    <a:pt x="0" y="32"/>
                  </a:moveTo>
                  <a:lnTo>
                    <a:pt x="8" y="35"/>
                  </a:lnTo>
                  <a:lnTo>
                    <a:pt x="17" y="34"/>
                  </a:lnTo>
                  <a:lnTo>
                    <a:pt x="24" y="29"/>
                  </a:lnTo>
                  <a:lnTo>
                    <a:pt x="28" y="21"/>
                  </a:lnTo>
                  <a:lnTo>
                    <a:pt x="27" y="12"/>
                  </a:lnTo>
                  <a:lnTo>
                    <a:pt x="22" y="5"/>
                  </a:lnTo>
                  <a:lnTo>
                    <a:pt x="14" y="0"/>
                  </a:lnTo>
                  <a:lnTo>
                    <a:pt x="6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9" name="Line 89"/>
            <p:cNvSpPr>
              <a:spLocks noChangeShapeType="1"/>
            </p:cNvSpPr>
            <p:nvPr/>
          </p:nvSpPr>
          <p:spPr bwMode="auto">
            <a:xfrm>
              <a:off x="4674" y="446"/>
              <a:ext cx="1" cy="76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" name="Line 90"/>
            <p:cNvSpPr>
              <a:spLocks noChangeShapeType="1"/>
            </p:cNvSpPr>
            <p:nvPr/>
          </p:nvSpPr>
          <p:spPr bwMode="auto">
            <a:xfrm>
              <a:off x="3876" y="446"/>
              <a:ext cx="1" cy="76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" name="Line 91"/>
            <p:cNvSpPr>
              <a:spLocks noChangeShapeType="1"/>
            </p:cNvSpPr>
            <p:nvPr/>
          </p:nvSpPr>
          <p:spPr bwMode="auto">
            <a:xfrm>
              <a:off x="1591" y="818"/>
              <a:ext cx="1" cy="79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" name="Line 92"/>
            <p:cNvSpPr>
              <a:spLocks noChangeShapeType="1"/>
            </p:cNvSpPr>
            <p:nvPr/>
          </p:nvSpPr>
          <p:spPr bwMode="auto">
            <a:xfrm>
              <a:off x="1591" y="253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" name="Line 93"/>
            <p:cNvSpPr>
              <a:spLocks noChangeShapeType="1"/>
            </p:cNvSpPr>
            <p:nvPr/>
          </p:nvSpPr>
          <p:spPr bwMode="auto">
            <a:xfrm>
              <a:off x="1591" y="265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" name="Line 94"/>
            <p:cNvSpPr>
              <a:spLocks noChangeShapeType="1"/>
            </p:cNvSpPr>
            <p:nvPr/>
          </p:nvSpPr>
          <p:spPr bwMode="auto">
            <a:xfrm>
              <a:off x="1591" y="277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Line 95"/>
            <p:cNvSpPr>
              <a:spLocks noChangeShapeType="1"/>
            </p:cNvSpPr>
            <p:nvPr/>
          </p:nvSpPr>
          <p:spPr bwMode="auto">
            <a:xfrm>
              <a:off x="1591" y="289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" name="Line 96"/>
            <p:cNvSpPr>
              <a:spLocks noChangeShapeType="1"/>
            </p:cNvSpPr>
            <p:nvPr/>
          </p:nvSpPr>
          <p:spPr bwMode="auto">
            <a:xfrm>
              <a:off x="1591" y="301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Line 97"/>
            <p:cNvSpPr>
              <a:spLocks noChangeShapeType="1"/>
            </p:cNvSpPr>
            <p:nvPr/>
          </p:nvSpPr>
          <p:spPr bwMode="auto">
            <a:xfrm>
              <a:off x="1591" y="3138"/>
              <a:ext cx="1" cy="8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Line 98"/>
            <p:cNvSpPr>
              <a:spLocks noChangeShapeType="1"/>
            </p:cNvSpPr>
            <p:nvPr/>
          </p:nvSpPr>
          <p:spPr bwMode="auto">
            <a:xfrm>
              <a:off x="1591" y="3257"/>
              <a:ext cx="1" cy="7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Line 99"/>
            <p:cNvSpPr>
              <a:spLocks noChangeShapeType="1"/>
            </p:cNvSpPr>
            <p:nvPr/>
          </p:nvSpPr>
          <p:spPr bwMode="auto">
            <a:xfrm>
              <a:off x="2095" y="253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" name="Line 100"/>
            <p:cNvSpPr>
              <a:spLocks noChangeShapeType="1"/>
            </p:cNvSpPr>
            <p:nvPr/>
          </p:nvSpPr>
          <p:spPr bwMode="auto">
            <a:xfrm>
              <a:off x="2095" y="265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" name="Line 101"/>
            <p:cNvSpPr>
              <a:spLocks noChangeShapeType="1"/>
            </p:cNvSpPr>
            <p:nvPr/>
          </p:nvSpPr>
          <p:spPr bwMode="auto">
            <a:xfrm>
              <a:off x="2095" y="277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" name="Line 102"/>
            <p:cNvSpPr>
              <a:spLocks noChangeShapeType="1"/>
            </p:cNvSpPr>
            <p:nvPr/>
          </p:nvSpPr>
          <p:spPr bwMode="auto">
            <a:xfrm>
              <a:off x="2095" y="289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" name="Line 103"/>
            <p:cNvSpPr>
              <a:spLocks noChangeShapeType="1"/>
            </p:cNvSpPr>
            <p:nvPr/>
          </p:nvSpPr>
          <p:spPr bwMode="auto">
            <a:xfrm>
              <a:off x="2095" y="301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" name="Line 104"/>
            <p:cNvSpPr>
              <a:spLocks noChangeShapeType="1"/>
            </p:cNvSpPr>
            <p:nvPr/>
          </p:nvSpPr>
          <p:spPr bwMode="auto">
            <a:xfrm>
              <a:off x="2095" y="3138"/>
              <a:ext cx="1" cy="8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" name="Line 105"/>
            <p:cNvSpPr>
              <a:spLocks noChangeShapeType="1"/>
            </p:cNvSpPr>
            <p:nvPr/>
          </p:nvSpPr>
          <p:spPr bwMode="auto">
            <a:xfrm>
              <a:off x="2095" y="3257"/>
              <a:ext cx="1" cy="7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" name="Line 106"/>
            <p:cNvSpPr>
              <a:spLocks noChangeShapeType="1"/>
            </p:cNvSpPr>
            <p:nvPr/>
          </p:nvSpPr>
          <p:spPr bwMode="auto">
            <a:xfrm>
              <a:off x="2203" y="253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" name="Line 107"/>
            <p:cNvSpPr>
              <a:spLocks noChangeShapeType="1"/>
            </p:cNvSpPr>
            <p:nvPr/>
          </p:nvSpPr>
          <p:spPr bwMode="auto">
            <a:xfrm>
              <a:off x="2203" y="265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" name="Line 108"/>
            <p:cNvSpPr>
              <a:spLocks noChangeShapeType="1"/>
            </p:cNvSpPr>
            <p:nvPr/>
          </p:nvSpPr>
          <p:spPr bwMode="auto">
            <a:xfrm>
              <a:off x="2203" y="277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" name="Line 109"/>
            <p:cNvSpPr>
              <a:spLocks noChangeShapeType="1"/>
            </p:cNvSpPr>
            <p:nvPr/>
          </p:nvSpPr>
          <p:spPr bwMode="auto">
            <a:xfrm>
              <a:off x="2203" y="289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" name="Line 110"/>
            <p:cNvSpPr>
              <a:spLocks noChangeShapeType="1"/>
            </p:cNvSpPr>
            <p:nvPr/>
          </p:nvSpPr>
          <p:spPr bwMode="auto">
            <a:xfrm>
              <a:off x="2203" y="301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" name="Line 111"/>
            <p:cNvSpPr>
              <a:spLocks noChangeShapeType="1"/>
            </p:cNvSpPr>
            <p:nvPr/>
          </p:nvSpPr>
          <p:spPr bwMode="auto">
            <a:xfrm>
              <a:off x="2203" y="3138"/>
              <a:ext cx="1" cy="8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" name="Line 112"/>
            <p:cNvSpPr>
              <a:spLocks noChangeShapeType="1"/>
            </p:cNvSpPr>
            <p:nvPr/>
          </p:nvSpPr>
          <p:spPr bwMode="auto">
            <a:xfrm>
              <a:off x="2203" y="3257"/>
              <a:ext cx="1" cy="7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" name="Line 113"/>
            <p:cNvSpPr>
              <a:spLocks noChangeShapeType="1"/>
            </p:cNvSpPr>
            <p:nvPr/>
          </p:nvSpPr>
          <p:spPr bwMode="auto">
            <a:xfrm>
              <a:off x="2761" y="253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" name="Line 114"/>
            <p:cNvSpPr>
              <a:spLocks noChangeShapeType="1"/>
            </p:cNvSpPr>
            <p:nvPr/>
          </p:nvSpPr>
          <p:spPr bwMode="auto">
            <a:xfrm>
              <a:off x="2761" y="265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" name="Line 115"/>
            <p:cNvSpPr>
              <a:spLocks noChangeShapeType="1"/>
            </p:cNvSpPr>
            <p:nvPr/>
          </p:nvSpPr>
          <p:spPr bwMode="auto">
            <a:xfrm>
              <a:off x="2761" y="277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" name="Line 116"/>
            <p:cNvSpPr>
              <a:spLocks noChangeShapeType="1"/>
            </p:cNvSpPr>
            <p:nvPr/>
          </p:nvSpPr>
          <p:spPr bwMode="auto">
            <a:xfrm>
              <a:off x="2761" y="289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" name="Line 117"/>
            <p:cNvSpPr>
              <a:spLocks noChangeShapeType="1"/>
            </p:cNvSpPr>
            <p:nvPr/>
          </p:nvSpPr>
          <p:spPr bwMode="auto">
            <a:xfrm>
              <a:off x="2761" y="3018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" name="Line 118"/>
            <p:cNvSpPr>
              <a:spLocks noChangeShapeType="1"/>
            </p:cNvSpPr>
            <p:nvPr/>
          </p:nvSpPr>
          <p:spPr bwMode="auto">
            <a:xfrm>
              <a:off x="2761" y="3138"/>
              <a:ext cx="1" cy="8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" name="Line 119"/>
            <p:cNvSpPr>
              <a:spLocks noChangeShapeType="1"/>
            </p:cNvSpPr>
            <p:nvPr/>
          </p:nvSpPr>
          <p:spPr bwMode="auto">
            <a:xfrm>
              <a:off x="2761" y="3257"/>
              <a:ext cx="1" cy="7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" name="Line 120"/>
            <p:cNvSpPr>
              <a:spLocks noChangeShapeType="1"/>
            </p:cNvSpPr>
            <p:nvPr/>
          </p:nvSpPr>
          <p:spPr bwMode="auto">
            <a:xfrm>
              <a:off x="1351" y="2832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" name="Line 121"/>
            <p:cNvSpPr>
              <a:spLocks noChangeShapeType="1"/>
            </p:cNvSpPr>
            <p:nvPr/>
          </p:nvSpPr>
          <p:spPr bwMode="auto">
            <a:xfrm>
              <a:off x="1471" y="2832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" name="Line 122"/>
            <p:cNvSpPr>
              <a:spLocks noChangeShapeType="1"/>
            </p:cNvSpPr>
            <p:nvPr/>
          </p:nvSpPr>
          <p:spPr bwMode="auto">
            <a:xfrm>
              <a:off x="1351" y="3042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" name="Line 123"/>
            <p:cNvSpPr>
              <a:spLocks noChangeShapeType="1"/>
            </p:cNvSpPr>
            <p:nvPr/>
          </p:nvSpPr>
          <p:spPr bwMode="auto">
            <a:xfrm>
              <a:off x="1471" y="3042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" name="Freeform 124"/>
            <p:cNvSpPr>
              <a:spLocks noChangeArrowheads="1"/>
            </p:cNvSpPr>
            <p:nvPr/>
          </p:nvSpPr>
          <p:spPr bwMode="auto">
            <a:xfrm>
              <a:off x="3876" y="1189"/>
              <a:ext cx="78" cy="192"/>
            </a:xfrm>
            <a:custGeom>
              <a:avLst/>
              <a:gdLst>
                <a:gd name="T0" fmla="*/ 6 w 13"/>
                <a:gd name="T1" fmla="*/ 32 h 32"/>
                <a:gd name="T2" fmla="*/ 11 w 13"/>
                <a:gd name="T3" fmla="*/ 26 h 32"/>
                <a:gd name="T4" fmla="*/ 13 w 13"/>
                <a:gd name="T5" fmla="*/ 18 h 32"/>
                <a:gd name="T6" fmla="*/ 12 w 13"/>
                <a:gd name="T7" fmla="*/ 10 h 32"/>
                <a:gd name="T8" fmla="*/ 7 w 13"/>
                <a:gd name="T9" fmla="*/ 4 h 32"/>
                <a:gd name="T10" fmla="*/ 0 w 13"/>
                <a:gd name="T1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2">
                  <a:moveTo>
                    <a:pt x="6" y="32"/>
                  </a:moveTo>
                  <a:lnTo>
                    <a:pt x="11" y="26"/>
                  </a:lnTo>
                  <a:lnTo>
                    <a:pt x="13" y="18"/>
                  </a:lnTo>
                  <a:lnTo>
                    <a:pt x="12" y="10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5" name="Freeform 125"/>
            <p:cNvSpPr>
              <a:spLocks noChangeArrowheads="1"/>
            </p:cNvSpPr>
            <p:nvPr/>
          </p:nvSpPr>
          <p:spPr bwMode="auto">
            <a:xfrm>
              <a:off x="4590" y="1189"/>
              <a:ext cx="84" cy="192"/>
            </a:xfrm>
            <a:custGeom>
              <a:avLst/>
              <a:gdLst>
                <a:gd name="T0" fmla="*/ 14 w 14"/>
                <a:gd name="T1" fmla="*/ 0 h 32"/>
                <a:gd name="T2" fmla="*/ 7 w 14"/>
                <a:gd name="T3" fmla="*/ 4 h 32"/>
                <a:gd name="T4" fmla="*/ 2 w 14"/>
                <a:gd name="T5" fmla="*/ 10 h 32"/>
                <a:gd name="T6" fmla="*/ 0 w 14"/>
                <a:gd name="T7" fmla="*/ 18 h 32"/>
                <a:gd name="T8" fmla="*/ 2 w 14"/>
                <a:gd name="T9" fmla="*/ 26 h 32"/>
                <a:gd name="T10" fmla="*/ 8 w 14"/>
                <a:gd name="T11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">
                  <a:moveTo>
                    <a:pt x="14" y="0"/>
                  </a:moveTo>
                  <a:lnTo>
                    <a:pt x="7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8" y="32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6" name="Line 126"/>
            <p:cNvSpPr>
              <a:spLocks noChangeShapeType="1"/>
            </p:cNvSpPr>
            <p:nvPr/>
          </p:nvSpPr>
          <p:spPr bwMode="auto">
            <a:xfrm>
              <a:off x="2095" y="2412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" name="Line 127"/>
            <p:cNvSpPr>
              <a:spLocks noChangeShapeType="1"/>
            </p:cNvSpPr>
            <p:nvPr/>
          </p:nvSpPr>
          <p:spPr bwMode="auto">
            <a:xfrm>
              <a:off x="2095" y="2622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" name="Line 128"/>
            <p:cNvSpPr>
              <a:spLocks noChangeShapeType="1"/>
            </p:cNvSpPr>
            <p:nvPr/>
          </p:nvSpPr>
          <p:spPr bwMode="auto">
            <a:xfrm>
              <a:off x="2095" y="3281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" name="Line 129"/>
            <p:cNvSpPr>
              <a:spLocks noChangeShapeType="1"/>
            </p:cNvSpPr>
            <p:nvPr/>
          </p:nvSpPr>
          <p:spPr bwMode="auto">
            <a:xfrm>
              <a:off x="2095" y="3467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" name="Line 130"/>
            <p:cNvSpPr>
              <a:spLocks noChangeShapeType="1"/>
            </p:cNvSpPr>
            <p:nvPr/>
          </p:nvSpPr>
          <p:spPr bwMode="auto">
            <a:xfrm flipH="1">
              <a:off x="4608" y="1615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" name="Line 131"/>
            <p:cNvSpPr>
              <a:spLocks noChangeShapeType="1"/>
            </p:cNvSpPr>
            <p:nvPr/>
          </p:nvSpPr>
          <p:spPr bwMode="auto">
            <a:xfrm flipH="1">
              <a:off x="4488" y="1615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" name="Line 132"/>
            <p:cNvSpPr>
              <a:spLocks noChangeShapeType="1"/>
            </p:cNvSpPr>
            <p:nvPr/>
          </p:nvSpPr>
          <p:spPr bwMode="auto">
            <a:xfrm flipH="1">
              <a:off x="4368" y="1615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" name="Line 133"/>
            <p:cNvSpPr>
              <a:spLocks noChangeShapeType="1"/>
            </p:cNvSpPr>
            <p:nvPr/>
          </p:nvSpPr>
          <p:spPr bwMode="auto">
            <a:xfrm flipH="1">
              <a:off x="4248" y="1615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" name="Line 134"/>
            <p:cNvSpPr>
              <a:spLocks noChangeShapeType="1"/>
            </p:cNvSpPr>
            <p:nvPr/>
          </p:nvSpPr>
          <p:spPr bwMode="auto">
            <a:xfrm flipH="1">
              <a:off x="4128" y="1615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" name="Line 135"/>
            <p:cNvSpPr>
              <a:spLocks noChangeShapeType="1"/>
            </p:cNvSpPr>
            <p:nvPr/>
          </p:nvSpPr>
          <p:spPr bwMode="auto">
            <a:xfrm flipH="1">
              <a:off x="4008" y="1615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" name="Line 136"/>
            <p:cNvSpPr>
              <a:spLocks noChangeShapeType="1"/>
            </p:cNvSpPr>
            <p:nvPr/>
          </p:nvSpPr>
          <p:spPr bwMode="auto">
            <a:xfrm flipH="1">
              <a:off x="3888" y="1615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" name="Line 137"/>
            <p:cNvSpPr>
              <a:spLocks noChangeShapeType="1"/>
            </p:cNvSpPr>
            <p:nvPr/>
          </p:nvSpPr>
          <p:spPr bwMode="auto">
            <a:xfrm flipH="1">
              <a:off x="3852" y="1615"/>
              <a:ext cx="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" name="Line 138"/>
            <p:cNvSpPr>
              <a:spLocks noChangeShapeType="1"/>
            </p:cNvSpPr>
            <p:nvPr/>
          </p:nvSpPr>
          <p:spPr bwMode="auto">
            <a:xfrm flipH="1" flipV="1">
              <a:off x="4794" y="1243"/>
              <a:ext cx="12" cy="4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" name="Line 139"/>
            <p:cNvSpPr>
              <a:spLocks noChangeShapeType="1"/>
            </p:cNvSpPr>
            <p:nvPr/>
          </p:nvSpPr>
          <p:spPr bwMode="auto">
            <a:xfrm flipH="1" flipV="1">
              <a:off x="4764" y="1213"/>
              <a:ext cx="30" cy="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" name="Line 140"/>
            <p:cNvSpPr>
              <a:spLocks noChangeShapeType="1"/>
            </p:cNvSpPr>
            <p:nvPr/>
          </p:nvSpPr>
          <p:spPr bwMode="auto">
            <a:xfrm flipH="1" flipV="1">
              <a:off x="4698" y="1189"/>
              <a:ext cx="36" cy="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" name="Line 141"/>
            <p:cNvSpPr>
              <a:spLocks noChangeShapeType="1"/>
            </p:cNvSpPr>
            <p:nvPr/>
          </p:nvSpPr>
          <p:spPr bwMode="auto">
            <a:xfrm flipH="1">
              <a:off x="4644" y="1189"/>
              <a:ext cx="54" cy="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" name="Line 142"/>
            <p:cNvSpPr>
              <a:spLocks noChangeShapeType="1"/>
            </p:cNvSpPr>
            <p:nvPr/>
          </p:nvSpPr>
          <p:spPr bwMode="auto">
            <a:xfrm flipH="1">
              <a:off x="4608" y="1219"/>
              <a:ext cx="12" cy="2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" name="Line 143"/>
            <p:cNvSpPr>
              <a:spLocks noChangeShapeType="1"/>
            </p:cNvSpPr>
            <p:nvPr/>
          </p:nvSpPr>
          <p:spPr bwMode="auto">
            <a:xfrm flipH="1">
              <a:off x="4590" y="1243"/>
              <a:ext cx="18" cy="4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" name="Line 144"/>
            <p:cNvSpPr>
              <a:spLocks noChangeShapeType="1"/>
            </p:cNvSpPr>
            <p:nvPr/>
          </p:nvSpPr>
          <p:spPr bwMode="auto">
            <a:xfrm>
              <a:off x="4590" y="1291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" name="Line 145"/>
            <p:cNvSpPr>
              <a:spLocks noChangeShapeType="1"/>
            </p:cNvSpPr>
            <p:nvPr/>
          </p:nvSpPr>
          <p:spPr bwMode="auto">
            <a:xfrm>
              <a:off x="4602" y="1333"/>
              <a:ext cx="6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" name="Line 146"/>
            <p:cNvSpPr>
              <a:spLocks noChangeShapeType="1"/>
            </p:cNvSpPr>
            <p:nvPr/>
          </p:nvSpPr>
          <p:spPr bwMode="auto">
            <a:xfrm>
              <a:off x="4608" y="1345"/>
              <a:ext cx="36" cy="4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" name="Line 147"/>
            <p:cNvSpPr>
              <a:spLocks noChangeShapeType="1"/>
            </p:cNvSpPr>
            <p:nvPr/>
          </p:nvSpPr>
          <p:spPr bwMode="auto">
            <a:xfrm>
              <a:off x="4644" y="1387"/>
              <a:ext cx="24" cy="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" name="Line 148"/>
            <p:cNvSpPr>
              <a:spLocks noChangeShapeType="1"/>
            </p:cNvSpPr>
            <p:nvPr/>
          </p:nvSpPr>
          <p:spPr bwMode="auto">
            <a:xfrm flipV="1">
              <a:off x="4698" y="1387"/>
              <a:ext cx="54" cy="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" name="Line 149"/>
            <p:cNvSpPr>
              <a:spLocks noChangeShapeType="1"/>
            </p:cNvSpPr>
            <p:nvPr/>
          </p:nvSpPr>
          <p:spPr bwMode="auto">
            <a:xfrm flipV="1">
              <a:off x="4752" y="1357"/>
              <a:ext cx="24" cy="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0" name="Line 150"/>
            <p:cNvSpPr>
              <a:spLocks noChangeShapeType="1"/>
            </p:cNvSpPr>
            <p:nvPr/>
          </p:nvSpPr>
          <p:spPr bwMode="auto">
            <a:xfrm flipV="1">
              <a:off x="4794" y="1291"/>
              <a:ext cx="12" cy="3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" name="Line 151"/>
            <p:cNvSpPr>
              <a:spLocks noChangeShapeType="1"/>
            </p:cNvSpPr>
            <p:nvPr/>
          </p:nvSpPr>
          <p:spPr bwMode="auto">
            <a:xfrm flipH="1" flipV="1">
              <a:off x="3942" y="1243"/>
              <a:ext cx="12" cy="4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" name="Line 152"/>
            <p:cNvSpPr>
              <a:spLocks noChangeShapeType="1"/>
            </p:cNvSpPr>
            <p:nvPr/>
          </p:nvSpPr>
          <p:spPr bwMode="auto">
            <a:xfrm flipH="1" flipV="1">
              <a:off x="3912" y="1213"/>
              <a:ext cx="30" cy="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" name="Line 153"/>
            <p:cNvSpPr>
              <a:spLocks noChangeShapeType="1"/>
            </p:cNvSpPr>
            <p:nvPr/>
          </p:nvSpPr>
          <p:spPr bwMode="auto">
            <a:xfrm flipH="1" flipV="1">
              <a:off x="3852" y="1189"/>
              <a:ext cx="30" cy="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" name="Line 154"/>
            <p:cNvSpPr>
              <a:spLocks noChangeShapeType="1"/>
            </p:cNvSpPr>
            <p:nvPr/>
          </p:nvSpPr>
          <p:spPr bwMode="auto">
            <a:xfrm flipH="1">
              <a:off x="3798" y="1189"/>
              <a:ext cx="54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" name="Line 155"/>
            <p:cNvSpPr>
              <a:spLocks noChangeShapeType="1"/>
            </p:cNvSpPr>
            <p:nvPr/>
          </p:nvSpPr>
          <p:spPr bwMode="auto">
            <a:xfrm flipH="1">
              <a:off x="3792" y="1201"/>
              <a:ext cx="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" name="Line 156"/>
            <p:cNvSpPr>
              <a:spLocks noChangeShapeType="1"/>
            </p:cNvSpPr>
            <p:nvPr/>
          </p:nvSpPr>
          <p:spPr bwMode="auto">
            <a:xfrm flipH="1">
              <a:off x="3756" y="1225"/>
              <a:ext cx="12" cy="1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" name="Line 157"/>
            <p:cNvSpPr>
              <a:spLocks noChangeShapeType="1"/>
            </p:cNvSpPr>
            <p:nvPr/>
          </p:nvSpPr>
          <p:spPr bwMode="auto">
            <a:xfrm flipH="1">
              <a:off x="3744" y="1243"/>
              <a:ext cx="12" cy="4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" name="Line 158"/>
            <p:cNvSpPr>
              <a:spLocks noChangeShapeType="1"/>
            </p:cNvSpPr>
            <p:nvPr/>
          </p:nvSpPr>
          <p:spPr bwMode="auto">
            <a:xfrm>
              <a:off x="3744" y="1291"/>
              <a:ext cx="1" cy="1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9" name="Line 159"/>
            <p:cNvSpPr>
              <a:spLocks noChangeShapeType="1"/>
            </p:cNvSpPr>
            <p:nvPr/>
          </p:nvSpPr>
          <p:spPr bwMode="auto">
            <a:xfrm>
              <a:off x="3750" y="1339"/>
              <a:ext cx="6" cy="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" name="Line 160"/>
            <p:cNvSpPr>
              <a:spLocks noChangeShapeType="1"/>
            </p:cNvSpPr>
            <p:nvPr/>
          </p:nvSpPr>
          <p:spPr bwMode="auto">
            <a:xfrm>
              <a:off x="3756" y="1345"/>
              <a:ext cx="42" cy="4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" name="Line 161"/>
            <p:cNvSpPr>
              <a:spLocks noChangeShapeType="1"/>
            </p:cNvSpPr>
            <p:nvPr/>
          </p:nvSpPr>
          <p:spPr bwMode="auto">
            <a:xfrm>
              <a:off x="3798" y="1387"/>
              <a:ext cx="30" cy="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2" name="Line 162"/>
            <p:cNvSpPr>
              <a:spLocks noChangeShapeType="1"/>
            </p:cNvSpPr>
            <p:nvPr/>
          </p:nvSpPr>
          <p:spPr bwMode="auto">
            <a:xfrm flipV="1">
              <a:off x="3858" y="1387"/>
              <a:ext cx="42" cy="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" name="Line 163"/>
            <p:cNvSpPr>
              <a:spLocks noChangeShapeType="1"/>
            </p:cNvSpPr>
            <p:nvPr/>
          </p:nvSpPr>
          <p:spPr bwMode="auto">
            <a:xfrm flipV="1">
              <a:off x="3900" y="1345"/>
              <a:ext cx="36" cy="4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" name="Line 164"/>
            <p:cNvSpPr>
              <a:spLocks noChangeShapeType="1"/>
            </p:cNvSpPr>
            <p:nvPr/>
          </p:nvSpPr>
          <p:spPr bwMode="auto">
            <a:xfrm flipV="1">
              <a:off x="3948" y="1291"/>
              <a:ext cx="6" cy="2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" name="Line 165"/>
            <p:cNvSpPr>
              <a:spLocks noChangeShapeType="1"/>
            </p:cNvSpPr>
            <p:nvPr/>
          </p:nvSpPr>
          <p:spPr bwMode="auto">
            <a:xfrm flipH="1" flipV="1">
              <a:off x="4902" y="1237"/>
              <a:ext cx="12" cy="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" name="Line 166"/>
            <p:cNvSpPr>
              <a:spLocks noChangeShapeType="1"/>
            </p:cNvSpPr>
            <p:nvPr/>
          </p:nvSpPr>
          <p:spPr bwMode="auto">
            <a:xfrm flipH="1" flipV="1">
              <a:off x="4884" y="1201"/>
              <a:ext cx="18" cy="3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" name="Line 167"/>
            <p:cNvSpPr>
              <a:spLocks noChangeShapeType="1"/>
            </p:cNvSpPr>
            <p:nvPr/>
          </p:nvSpPr>
          <p:spPr bwMode="auto">
            <a:xfrm flipH="1" flipV="1">
              <a:off x="4842" y="1141"/>
              <a:ext cx="24" cy="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" name="Line 168"/>
            <p:cNvSpPr>
              <a:spLocks noChangeShapeType="1"/>
            </p:cNvSpPr>
            <p:nvPr/>
          </p:nvSpPr>
          <p:spPr bwMode="auto">
            <a:xfrm flipH="1" flipV="1">
              <a:off x="4800" y="1111"/>
              <a:ext cx="42" cy="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" name="Line 169"/>
            <p:cNvSpPr>
              <a:spLocks noChangeShapeType="1"/>
            </p:cNvSpPr>
            <p:nvPr/>
          </p:nvSpPr>
          <p:spPr bwMode="auto">
            <a:xfrm flipH="1" flipV="1">
              <a:off x="4740" y="1087"/>
              <a:ext cx="36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" name="Line 170"/>
            <p:cNvSpPr>
              <a:spLocks noChangeShapeType="1"/>
            </p:cNvSpPr>
            <p:nvPr/>
          </p:nvSpPr>
          <p:spPr bwMode="auto">
            <a:xfrm flipH="1" flipV="1">
              <a:off x="4686" y="1081"/>
              <a:ext cx="54" cy="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1" name="Line 171"/>
            <p:cNvSpPr>
              <a:spLocks noChangeShapeType="1"/>
            </p:cNvSpPr>
            <p:nvPr/>
          </p:nvSpPr>
          <p:spPr bwMode="auto">
            <a:xfrm flipH="1">
              <a:off x="4626" y="1081"/>
              <a:ext cx="30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2" name="Line 172"/>
            <p:cNvSpPr>
              <a:spLocks noChangeShapeType="1"/>
            </p:cNvSpPr>
            <p:nvPr/>
          </p:nvSpPr>
          <p:spPr bwMode="auto">
            <a:xfrm flipH="1">
              <a:off x="4578" y="1093"/>
              <a:ext cx="48" cy="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3" name="Line 173"/>
            <p:cNvSpPr>
              <a:spLocks noChangeShapeType="1"/>
            </p:cNvSpPr>
            <p:nvPr/>
          </p:nvSpPr>
          <p:spPr bwMode="auto">
            <a:xfrm flipH="1">
              <a:off x="4572" y="1123"/>
              <a:ext cx="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" name="Line 174"/>
            <p:cNvSpPr>
              <a:spLocks noChangeShapeType="1"/>
            </p:cNvSpPr>
            <p:nvPr/>
          </p:nvSpPr>
          <p:spPr bwMode="auto">
            <a:xfrm flipH="1">
              <a:off x="4536" y="1141"/>
              <a:ext cx="12" cy="1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" name="Line 175"/>
            <p:cNvSpPr>
              <a:spLocks noChangeShapeType="1"/>
            </p:cNvSpPr>
            <p:nvPr/>
          </p:nvSpPr>
          <p:spPr bwMode="auto">
            <a:xfrm flipH="1">
              <a:off x="4506" y="1159"/>
              <a:ext cx="30" cy="4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6" name="Line 176"/>
            <p:cNvSpPr>
              <a:spLocks noChangeShapeType="1"/>
            </p:cNvSpPr>
            <p:nvPr/>
          </p:nvSpPr>
          <p:spPr bwMode="auto">
            <a:xfrm flipH="1">
              <a:off x="4500" y="1207"/>
              <a:ext cx="6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7" name="Line 177"/>
            <p:cNvSpPr>
              <a:spLocks noChangeShapeType="1"/>
            </p:cNvSpPr>
            <p:nvPr/>
          </p:nvSpPr>
          <p:spPr bwMode="auto">
            <a:xfrm>
              <a:off x="4488" y="1249"/>
              <a:ext cx="1" cy="1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8" name="Line 178"/>
            <p:cNvSpPr>
              <a:spLocks noChangeShapeType="1"/>
            </p:cNvSpPr>
            <p:nvPr/>
          </p:nvSpPr>
          <p:spPr bwMode="auto">
            <a:xfrm>
              <a:off x="4488" y="1267"/>
              <a:ext cx="1" cy="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9" name="Line 179"/>
            <p:cNvSpPr>
              <a:spLocks noChangeShapeType="1"/>
            </p:cNvSpPr>
            <p:nvPr/>
          </p:nvSpPr>
          <p:spPr bwMode="auto">
            <a:xfrm>
              <a:off x="4488" y="1321"/>
              <a:ext cx="6" cy="1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0" name="Line 180"/>
            <p:cNvSpPr>
              <a:spLocks noChangeShapeType="1"/>
            </p:cNvSpPr>
            <p:nvPr/>
          </p:nvSpPr>
          <p:spPr bwMode="auto">
            <a:xfrm>
              <a:off x="4500" y="1369"/>
              <a:ext cx="6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1" name="Line 181"/>
            <p:cNvSpPr>
              <a:spLocks noChangeShapeType="1"/>
            </p:cNvSpPr>
            <p:nvPr/>
          </p:nvSpPr>
          <p:spPr bwMode="auto">
            <a:xfrm>
              <a:off x="4506" y="1381"/>
              <a:ext cx="30" cy="4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" name="Line 182"/>
            <p:cNvSpPr>
              <a:spLocks noChangeShapeType="1"/>
            </p:cNvSpPr>
            <p:nvPr/>
          </p:nvSpPr>
          <p:spPr bwMode="auto">
            <a:xfrm>
              <a:off x="4536" y="1429"/>
              <a:ext cx="18" cy="1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" name="Line 183"/>
            <p:cNvSpPr>
              <a:spLocks noChangeShapeType="1"/>
            </p:cNvSpPr>
            <p:nvPr/>
          </p:nvSpPr>
          <p:spPr bwMode="auto">
            <a:xfrm>
              <a:off x="4578" y="1465"/>
              <a:ext cx="48" cy="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" name="Line 184"/>
            <p:cNvSpPr>
              <a:spLocks noChangeShapeType="1"/>
            </p:cNvSpPr>
            <p:nvPr/>
          </p:nvSpPr>
          <p:spPr bwMode="auto">
            <a:xfrm>
              <a:off x="4626" y="1495"/>
              <a:ext cx="36" cy="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" name="Line 185"/>
            <p:cNvSpPr>
              <a:spLocks noChangeShapeType="1"/>
            </p:cNvSpPr>
            <p:nvPr/>
          </p:nvSpPr>
          <p:spPr bwMode="auto">
            <a:xfrm>
              <a:off x="4692" y="1501"/>
              <a:ext cx="48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" name="Line 186"/>
            <p:cNvSpPr>
              <a:spLocks noChangeShapeType="1"/>
            </p:cNvSpPr>
            <p:nvPr/>
          </p:nvSpPr>
          <p:spPr bwMode="auto">
            <a:xfrm flipV="1">
              <a:off x="4740" y="1483"/>
              <a:ext cx="42" cy="1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" name="Line 187"/>
            <p:cNvSpPr>
              <a:spLocks noChangeShapeType="1"/>
            </p:cNvSpPr>
            <p:nvPr/>
          </p:nvSpPr>
          <p:spPr bwMode="auto">
            <a:xfrm flipV="1">
              <a:off x="4812" y="1447"/>
              <a:ext cx="30" cy="1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8" name="Line 188"/>
            <p:cNvSpPr>
              <a:spLocks noChangeShapeType="1"/>
            </p:cNvSpPr>
            <p:nvPr/>
          </p:nvSpPr>
          <p:spPr bwMode="auto">
            <a:xfrm flipV="1">
              <a:off x="4842" y="1405"/>
              <a:ext cx="30" cy="4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" name="Line 189"/>
            <p:cNvSpPr>
              <a:spLocks noChangeShapeType="1"/>
            </p:cNvSpPr>
            <p:nvPr/>
          </p:nvSpPr>
          <p:spPr bwMode="auto">
            <a:xfrm flipV="1">
              <a:off x="4890" y="1351"/>
              <a:ext cx="12" cy="2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0" name="Line 190"/>
            <p:cNvSpPr>
              <a:spLocks noChangeShapeType="1"/>
            </p:cNvSpPr>
            <p:nvPr/>
          </p:nvSpPr>
          <p:spPr bwMode="auto">
            <a:xfrm flipV="1">
              <a:off x="4902" y="1291"/>
              <a:ext cx="12" cy="6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" name="Line 191"/>
            <p:cNvSpPr>
              <a:spLocks noChangeShapeType="1"/>
            </p:cNvSpPr>
            <p:nvPr/>
          </p:nvSpPr>
          <p:spPr bwMode="auto">
            <a:xfrm flipH="1" flipV="1">
              <a:off x="4056" y="1237"/>
              <a:ext cx="6" cy="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2" name="Line 192"/>
            <p:cNvSpPr>
              <a:spLocks noChangeShapeType="1"/>
            </p:cNvSpPr>
            <p:nvPr/>
          </p:nvSpPr>
          <p:spPr bwMode="auto">
            <a:xfrm flipH="1" flipV="1">
              <a:off x="4038" y="1201"/>
              <a:ext cx="18" cy="3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3" name="Line 193"/>
            <p:cNvSpPr>
              <a:spLocks noChangeShapeType="1"/>
            </p:cNvSpPr>
            <p:nvPr/>
          </p:nvSpPr>
          <p:spPr bwMode="auto">
            <a:xfrm flipH="1" flipV="1">
              <a:off x="3996" y="1141"/>
              <a:ext cx="24" cy="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" name="Line 194"/>
            <p:cNvSpPr>
              <a:spLocks noChangeShapeType="1"/>
            </p:cNvSpPr>
            <p:nvPr/>
          </p:nvSpPr>
          <p:spPr bwMode="auto">
            <a:xfrm flipH="1" flipV="1">
              <a:off x="3954" y="1111"/>
              <a:ext cx="42" cy="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" name="Line 195"/>
            <p:cNvSpPr>
              <a:spLocks noChangeShapeType="1"/>
            </p:cNvSpPr>
            <p:nvPr/>
          </p:nvSpPr>
          <p:spPr bwMode="auto">
            <a:xfrm flipH="1" flipV="1">
              <a:off x="3894" y="1087"/>
              <a:ext cx="36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" name="Line 196"/>
            <p:cNvSpPr>
              <a:spLocks noChangeShapeType="1"/>
            </p:cNvSpPr>
            <p:nvPr/>
          </p:nvSpPr>
          <p:spPr bwMode="auto">
            <a:xfrm flipH="1" flipV="1">
              <a:off x="3840" y="1081"/>
              <a:ext cx="54" cy="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7" name="Line 197"/>
            <p:cNvSpPr>
              <a:spLocks noChangeShapeType="1"/>
            </p:cNvSpPr>
            <p:nvPr/>
          </p:nvSpPr>
          <p:spPr bwMode="auto">
            <a:xfrm flipH="1">
              <a:off x="3780" y="1081"/>
              <a:ext cx="30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" name="Line 198"/>
            <p:cNvSpPr>
              <a:spLocks noChangeShapeType="1"/>
            </p:cNvSpPr>
            <p:nvPr/>
          </p:nvSpPr>
          <p:spPr bwMode="auto">
            <a:xfrm flipH="1">
              <a:off x="3726" y="1093"/>
              <a:ext cx="54" cy="2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" name="Line 199"/>
            <p:cNvSpPr>
              <a:spLocks noChangeShapeType="1"/>
            </p:cNvSpPr>
            <p:nvPr/>
          </p:nvSpPr>
          <p:spPr bwMode="auto">
            <a:xfrm flipH="1">
              <a:off x="3684" y="1141"/>
              <a:ext cx="18" cy="1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0" name="Line 200"/>
            <p:cNvSpPr>
              <a:spLocks noChangeShapeType="1"/>
            </p:cNvSpPr>
            <p:nvPr/>
          </p:nvSpPr>
          <p:spPr bwMode="auto">
            <a:xfrm flipH="1">
              <a:off x="3654" y="1159"/>
              <a:ext cx="30" cy="4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1" name="Line 201"/>
            <p:cNvSpPr>
              <a:spLocks noChangeShapeType="1"/>
            </p:cNvSpPr>
            <p:nvPr/>
          </p:nvSpPr>
          <p:spPr bwMode="auto">
            <a:xfrm flipH="1">
              <a:off x="3648" y="1207"/>
              <a:ext cx="6" cy="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2" name="Line 202"/>
            <p:cNvSpPr>
              <a:spLocks noChangeShapeType="1"/>
            </p:cNvSpPr>
            <p:nvPr/>
          </p:nvSpPr>
          <p:spPr bwMode="auto">
            <a:xfrm>
              <a:off x="3636" y="1243"/>
              <a:ext cx="1" cy="2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3" name="Line 203"/>
            <p:cNvSpPr>
              <a:spLocks noChangeShapeType="1"/>
            </p:cNvSpPr>
            <p:nvPr/>
          </p:nvSpPr>
          <p:spPr bwMode="auto">
            <a:xfrm>
              <a:off x="3636" y="1267"/>
              <a:ext cx="1" cy="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" name="Line 204"/>
            <p:cNvSpPr>
              <a:spLocks noChangeShapeType="1"/>
            </p:cNvSpPr>
            <p:nvPr/>
          </p:nvSpPr>
          <p:spPr bwMode="auto">
            <a:xfrm>
              <a:off x="3636" y="1321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" name="Line 205"/>
            <p:cNvSpPr>
              <a:spLocks noChangeShapeType="1"/>
            </p:cNvSpPr>
            <p:nvPr/>
          </p:nvSpPr>
          <p:spPr bwMode="auto">
            <a:xfrm>
              <a:off x="3648" y="1363"/>
              <a:ext cx="6" cy="1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" name="Line 206"/>
            <p:cNvSpPr>
              <a:spLocks noChangeShapeType="1"/>
            </p:cNvSpPr>
            <p:nvPr/>
          </p:nvSpPr>
          <p:spPr bwMode="auto">
            <a:xfrm>
              <a:off x="3654" y="1381"/>
              <a:ext cx="30" cy="4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" name="Line 207"/>
            <p:cNvSpPr>
              <a:spLocks noChangeShapeType="1"/>
            </p:cNvSpPr>
            <p:nvPr/>
          </p:nvSpPr>
          <p:spPr bwMode="auto">
            <a:xfrm>
              <a:off x="3684" y="1429"/>
              <a:ext cx="18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8" name="Line 208"/>
            <p:cNvSpPr>
              <a:spLocks noChangeShapeType="1"/>
            </p:cNvSpPr>
            <p:nvPr/>
          </p:nvSpPr>
          <p:spPr bwMode="auto">
            <a:xfrm>
              <a:off x="3720" y="1459"/>
              <a:ext cx="6" cy="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9" name="Line 209"/>
            <p:cNvSpPr>
              <a:spLocks noChangeShapeType="1"/>
            </p:cNvSpPr>
            <p:nvPr/>
          </p:nvSpPr>
          <p:spPr bwMode="auto">
            <a:xfrm>
              <a:off x="3726" y="1465"/>
              <a:ext cx="54" cy="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0" name="Line 210"/>
            <p:cNvSpPr>
              <a:spLocks noChangeShapeType="1"/>
            </p:cNvSpPr>
            <p:nvPr/>
          </p:nvSpPr>
          <p:spPr bwMode="auto">
            <a:xfrm>
              <a:off x="3780" y="1495"/>
              <a:ext cx="24" cy="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" name="Line 211"/>
            <p:cNvSpPr>
              <a:spLocks noChangeShapeType="1"/>
            </p:cNvSpPr>
            <p:nvPr/>
          </p:nvSpPr>
          <p:spPr bwMode="auto">
            <a:xfrm>
              <a:off x="3834" y="1501"/>
              <a:ext cx="6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" name="Line 212"/>
            <p:cNvSpPr>
              <a:spLocks noChangeShapeType="1"/>
            </p:cNvSpPr>
            <p:nvPr/>
          </p:nvSpPr>
          <p:spPr bwMode="auto">
            <a:xfrm flipV="1">
              <a:off x="3894" y="1489"/>
              <a:ext cx="30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" name="Line 213"/>
            <p:cNvSpPr>
              <a:spLocks noChangeShapeType="1"/>
            </p:cNvSpPr>
            <p:nvPr/>
          </p:nvSpPr>
          <p:spPr bwMode="auto">
            <a:xfrm flipV="1">
              <a:off x="3954" y="1447"/>
              <a:ext cx="42" cy="2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4" name="Line 214"/>
            <p:cNvSpPr>
              <a:spLocks noChangeShapeType="1"/>
            </p:cNvSpPr>
            <p:nvPr/>
          </p:nvSpPr>
          <p:spPr bwMode="auto">
            <a:xfrm flipV="1">
              <a:off x="3996" y="1411"/>
              <a:ext cx="24" cy="3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" name="Line 215"/>
            <p:cNvSpPr>
              <a:spLocks noChangeShapeType="1"/>
            </p:cNvSpPr>
            <p:nvPr/>
          </p:nvSpPr>
          <p:spPr bwMode="auto">
            <a:xfrm flipV="1">
              <a:off x="4038" y="1351"/>
              <a:ext cx="18" cy="3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" name="Line 216"/>
            <p:cNvSpPr>
              <a:spLocks noChangeShapeType="1"/>
            </p:cNvSpPr>
            <p:nvPr/>
          </p:nvSpPr>
          <p:spPr bwMode="auto">
            <a:xfrm flipV="1">
              <a:off x="4056" y="1297"/>
              <a:ext cx="1" cy="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" name="Line 217"/>
            <p:cNvSpPr>
              <a:spLocks noChangeShapeType="1"/>
            </p:cNvSpPr>
            <p:nvPr/>
          </p:nvSpPr>
          <p:spPr bwMode="auto">
            <a:xfrm>
              <a:off x="3876" y="446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8" name="Line 218"/>
            <p:cNvSpPr>
              <a:spLocks noChangeShapeType="1"/>
            </p:cNvSpPr>
            <p:nvPr/>
          </p:nvSpPr>
          <p:spPr bwMode="auto">
            <a:xfrm>
              <a:off x="3876" y="566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9" name="Line 219"/>
            <p:cNvSpPr>
              <a:spLocks noChangeShapeType="1"/>
            </p:cNvSpPr>
            <p:nvPr/>
          </p:nvSpPr>
          <p:spPr bwMode="auto">
            <a:xfrm>
              <a:off x="3876" y="686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0" name="Freeform 220"/>
            <p:cNvSpPr>
              <a:spLocks noChangeArrowheads="1"/>
            </p:cNvSpPr>
            <p:nvPr/>
          </p:nvSpPr>
          <p:spPr bwMode="auto">
            <a:xfrm>
              <a:off x="3534" y="997"/>
              <a:ext cx="318" cy="618"/>
            </a:xfrm>
            <a:custGeom>
              <a:avLst/>
              <a:gdLst>
                <a:gd name="T0" fmla="*/ 34 w 53"/>
                <a:gd name="T1" fmla="*/ 0 h 103"/>
                <a:gd name="T2" fmla="*/ 25 w 53"/>
                <a:gd name="T3" fmla="*/ 4 h 103"/>
                <a:gd name="T4" fmla="*/ 17 w 53"/>
                <a:gd name="T5" fmla="*/ 10 h 103"/>
                <a:gd name="T6" fmla="*/ 10 w 53"/>
                <a:gd name="T7" fmla="*/ 17 h 103"/>
                <a:gd name="T8" fmla="*/ 5 w 53"/>
                <a:gd name="T9" fmla="*/ 25 h 103"/>
                <a:gd name="T10" fmla="*/ 2 w 53"/>
                <a:gd name="T11" fmla="*/ 35 h 103"/>
                <a:gd name="T12" fmla="*/ 0 w 53"/>
                <a:gd name="T13" fmla="*/ 44 h 103"/>
                <a:gd name="T14" fmla="*/ 0 w 53"/>
                <a:gd name="T15" fmla="*/ 54 h 103"/>
                <a:gd name="T16" fmla="*/ 1 w 53"/>
                <a:gd name="T17" fmla="*/ 64 h 103"/>
                <a:gd name="T18" fmla="*/ 5 w 53"/>
                <a:gd name="T19" fmla="*/ 73 h 103"/>
                <a:gd name="T20" fmla="*/ 10 w 53"/>
                <a:gd name="T21" fmla="*/ 81 h 103"/>
                <a:gd name="T22" fmla="*/ 17 w 53"/>
                <a:gd name="T23" fmla="*/ 89 h 103"/>
                <a:gd name="T24" fmla="*/ 24 w 53"/>
                <a:gd name="T25" fmla="*/ 95 h 103"/>
                <a:gd name="T26" fmla="*/ 33 w 53"/>
                <a:gd name="T27" fmla="*/ 99 h 103"/>
                <a:gd name="T28" fmla="*/ 43 w 53"/>
                <a:gd name="T29" fmla="*/ 102 h 103"/>
                <a:gd name="T30" fmla="*/ 53 w 53"/>
                <a:gd name="T31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103">
                  <a:moveTo>
                    <a:pt x="34" y="0"/>
                  </a:moveTo>
                  <a:lnTo>
                    <a:pt x="25" y="4"/>
                  </a:lnTo>
                  <a:lnTo>
                    <a:pt x="17" y="10"/>
                  </a:lnTo>
                  <a:lnTo>
                    <a:pt x="10" y="17"/>
                  </a:lnTo>
                  <a:lnTo>
                    <a:pt x="5" y="25"/>
                  </a:lnTo>
                  <a:lnTo>
                    <a:pt x="2" y="35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1" y="64"/>
                  </a:lnTo>
                  <a:lnTo>
                    <a:pt x="5" y="73"/>
                  </a:lnTo>
                  <a:lnTo>
                    <a:pt x="10" y="81"/>
                  </a:lnTo>
                  <a:lnTo>
                    <a:pt x="17" y="89"/>
                  </a:lnTo>
                  <a:lnTo>
                    <a:pt x="24" y="95"/>
                  </a:lnTo>
                  <a:lnTo>
                    <a:pt x="33" y="99"/>
                  </a:lnTo>
                  <a:lnTo>
                    <a:pt x="43" y="102"/>
                  </a:lnTo>
                  <a:lnTo>
                    <a:pt x="53" y="103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1" name="Freeform 221"/>
            <p:cNvSpPr>
              <a:spLocks noChangeArrowheads="1"/>
            </p:cNvSpPr>
            <p:nvPr/>
          </p:nvSpPr>
          <p:spPr bwMode="auto">
            <a:xfrm>
              <a:off x="3738" y="800"/>
              <a:ext cx="138" cy="197"/>
            </a:xfrm>
            <a:custGeom>
              <a:avLst/>
              <a:gdLst>
                <a:gd name="T0" fmla="*/ 0 w 23"/>
                <a:gd name="T1" fmla="*/ 33 h 33"/>
                <a:gd name="T2" fmla="*/ 8 w 23"/>
                <a:gd name="T3" fmla="*/ 29 h 33"/>
                <a:gd name="T4" fmla="*/ 14 w 23"/>
                <a:gd name="T5" fmla="*/ 23 h 33"/>
                <a:gd name="T6" fmla="*/ 19 w 23"/>
                <a:gd name="T7" fmla="*/ 16 h 33"/>
                <a:gd name="T8" fmla="*/ 22 w 23"/>
                <a:gd name="T9" fmla="*/ 8 h 33"/>
                <a:gd name="T10" fmla="*/ 23 w 23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3">
                  <a:moveTo>
                    <a:pt x="0" y="33"/>
                  </a:moveTo>
                  <a:lnTo>
                    <a:pt x="8" y="29"/>
                  </a:lnTo>
                  <a:lnTo>
                    <a:pt x="14" y="23"/>
                  </a:lnTo>
                  <a:lnTo>
                    <a:pt x="19" y="16"/>
                  </a:lnTo>
                  <a:lnTo>
                    <a:pt x="22" y="8"/>
                  </a:lnTo>
                  <a:lnTo>
                    <a:pt x="23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2" name="Line 222"/>
            <p:cNvSpPr>
              <a:spLocks noChangeShapeType="1"/>
            </p:cNvSpPr>
            <p:nvPr/>
          </p:nvSpPr>
          <p:spPr bwMode="auto">
            <a:xfrm>
              <a:off x="4674" y="446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3" name="Line 223"/>
            <p:cNvSpPr>
              <a:spLocks noChangeShapeType="1"/>
            </p:cNvSpPr>
            <p:nvPr/>
          </p:nvSpPr>
          <p:spPr bwMode="auto">
            <a:xfrm>
              <a:off x="4674" y="566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4" name="Line 224"/>
            <p:cNvSpPr>
              <a:spLocks noChangeShapeType="1"/>
            </p:cNvSpPr>
            <p:nvPr/>
          </p:nvSpPr>
          <p:spPr bwMode="auto">
            <a:xfrm>
              <a:off x="4674" y="686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" name="Freeform 225"/>
            <p:cNvSpPr>
              <a:spLocks noChangeArrowheads="1"/>
            </p:cNvSpPr>
            <p:nvPr/>
          </p:nvSpPr>
          <p:spPr bwMode="auto">
            <a:xfrm>
              <a:off x="4698" y="997"/>
              <a:ext cx="318" cy="618"/>
            </a:xfrm>
            <a:custGeom>
              <a:avLst/>
              <a:gdLst>
                <a:gd name="T0" fmla="*/ 0 w 53"/>
                <a:gd name="T1" fmla="*/ 103 h 103"/>
                <a:gd name="T2" fmla="*/ 10 w 53"/>
                <a:gd name="T3" fmla="*/ 102 h 103"/>
                <a:gd name="T4" fmla="*/ 19 w 53"/>
                <a:gd name="T5" fmla="*/ 99 h 103"/>
                <a:gd name="T6" fmla="*/ 28 w 53"/>
                <a:gd name="T7" fmla="*/ 95 h 103"/>
                <a:gd name="T8" fmla="*/ 36 w 53"/>
                <a:gd name="T9" fmla="*/ 89 h 103"/>
                <a:gd name="T10" fmla="*/ 43 w 53"/>
                <a:gd name="T11" fmla="*/ 81 h 103"/>
                <a:gd name="T12" fmla="*/ 48 w 53"/>
                <a:gd name="T13" fmla="*/ 73 h 103"/>
                <a:gd name="T14" fmla="*/ 51 w 53"/>
                <a:gd name="T15" fmla="*/ 64 h 103"/>
                <a:gd name="T16" fmla="*/ 53 w 53"/>
                <a:gd name="T17" fmla="*/ 54 h 103"/>
                <a:gd name="T18" fmla="*/ 53 w 53"/>
                <a:gd name="T19" fmla="*/ 44 h 103"/>
                <a:gd name="T20" fmla="*/ 51 w 53"/>
                <a:gd name="T21" fmla="*/ 35 h 103"/>
                <a:gd name="T22" fmla="*/ 48 w 53"/>
                <a:gd name="T23" fmla="*/ 25 h 103"/>
                <a:gd name="T24" fmla="*/ 42 w 53"/>
                <a:gd name="T25" fmla="*/ 17 h 103"/>
                <a:gd name="T26" fmla="*/ 36 w 53"/>
                <a:gd name="T27" fmla="*/ 10 h 103"/>
                <a:gd name="T28" fmla="*/ 28 w 53"/>
                <a:gd name="T29" fmla="*/ 4 h 103"/>
                <a:gd name="T30" fmla="*/ 19 w 53"/>
                <a:gd name="T3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103">
                  <a:moveTo>
                    <a:pt x="0" y="103"/>
                  </a:moveTo>
                  <a:lnTo>
                    <a:pt x="10" y="102"/>
                  </a:lnTo>
                  <a:lnTo>
                    <a:pt x="19" y="99"/>
                  </a:lnTo>
                  <a:lnTo>
                    <a:pt x="28" y="95"/>
                  </a:lnTo>
                  <a:lnTo>
                    <a:pt x="36" y="89"/>
                  </a:lnTo>
                  <a:lnTo>
                    <a:pt x="43" y="81"/>
                  </a:lnTo>
                  <a:lnTo>
                    <a:pt x="48" y="73"/>
                  </a:lnTo>
                  <a:lnTo>
                    <a:pt x="51" y="64"/>
                  </a:lnTo>
                  <a:lnTo>
                    <a:pt x="53" y="54"/>
                  </a:lnTo>
                  <a:lnTo>
                    <a:pt x="53" y="44"/>
                  </a:lnTo>
                  <a:lnTo>
                    <a:pt x="51" y="35"/>
                  </a:lnTo>
                  <a:lnTo>
                    <a:pt x="48" y="25"/>
                  </a:lnTo>
                  <a:lnTo>
                    <a:pt x="42" y="17"/>
                  </a:lnTo>
                  <a:lnTo>
                    <a:pt x="36" y="10"/>
                  </a:lnTo>
                  <a:lnTo>
                    <a:pt x="28" y="4"/>
                  </a:lnTo>
                  <a:lnTo>
                    <a:pt x="19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6" name="Freeform 226"/>
            <p:cNvSpPr>
              <a:spLocks noChangeArrowheads="1"/>
            </p:cNvSpPr>
            <p:nvPr/>
          </p:nvSpPr>
          <p:spPr bwMode="auto">
            <a:xfrm>
              <a:off x="4674" y="800"/>
              <a:ext cx="138" cy="197"/>
            </a:xfrm>
            <a:custGeom>
              <a:avLst/>
              <a:gdLst>
                <a:gd name="T0" fmla="*/ 0 w 23"/>
                <a:gd name="T1" fmla="*/ 0 h 33"/>
                <a:gd name="T2" fmla="*/ 1 w 23"/>
                <a:gd name="T3" fmla="*/ 8 h 33"/>
                <a:gd name="T4" fmla="*/ 4 w 23"/>
                <a:gd name="T5" fmla="*/ 16 h 33"/>
                <a:gd name="T6" fmla="*/ 9 w 23"/>
                <a:gd name="T7" fmla="*/ 23 h 33"/>
                <a:gd name="T8" fmla="*/ 15 w 23"/>
                <a:gd name="T9" fmla="*/ 29 h 33"/>
                <a:gd name="T10" fmla="*/ 23 w 23"/>
                <a:gd name="T1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3">
                  <a:moveTo>
                    <a:pt x="0" y="0"/>
                  </a:moveTo>
                  <a:lnTo>
                    <a:pt x="1" y="8"/>
                  </a:lnTo>
                  <a:lnTo>
                    <a:pt x="4" y="16"/>
                  </a:lnTo>
                  <a:lnTo>
                    <a:pt x="9" y="23"/>
                  </a:lnTo>
                  <a:lnTo>
                    <a:pt x="15" y="29"/>
                  </a:lnTo>
                  <a:lnTo>
                    <a:pt x="23" y="33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7" name="Line 227"/>
            <p:cNvSpPr>
              <a:spLocks noChangeShapeType="1"/>
            </p:cNvSpPr>
            <p:nvPr/>
          </p:nvSpPr>
          <p:spPr bwMode="auto">
            <a:xfrm>
              <a:off x="3714" y="446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8" name="Line 228"/>
            <p:cNvSpPr>
              <a:spLocks noChangeShapeType="1"/>
            </p:cNvSpPr>
            <p:nvPr/>
          </p:nvSpPr>
          <p:spPr bwMode="auto">
            <a:xfrm>
              <a:off x="3834" y="446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9" name="Line 229"/>
            <p:cNvSpPr>
              <a:spLocks noChangeShapeType="1"/>
            </p:cNvSpPr>
            <p:nvPr/>
          </p:nvSpPr>
          <p:spPr bwMode="auto">
            <a:xfrm>
              <a:off x="3954" y="446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0" name="Line 230"/>
            <p:cNvSpPr>
              <a:spLocks noChangeShapeType="1"/>
            </p:cNvSpPr>
            <p:nvPr/>
          </p:nvSpPr>
          <p:spPr bwMode="auto">
            <a:xfrm>
              <a:off x="4074" y="446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1" name="Line 231"/>
            <p:cNvSpPr>
              <a:spLocks noChangeShapeType="1"/>
            </p:cNvSpPr>
            <p:nvPr/>
          </p:nvSpPr>
          <p:spPr bwMode="auto">
            <a:xfrm>
              <a:off x="4194" y="446"/>
              <a:ext cx="78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2" name="Line 232"/>
            <p:cNvSpPr>
              <a:spLocks noChangeShapeType="1"/>
            </p:cNvSpPr>
            <p:nvPr/>
          </p:nvSpPr>
          <p:spPr bwMode="auto">
            <a:xfrm>
              <a:off x="2761" y="2412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3" name="Line 233"/>
            <p:cNvSpPr>
              <a:spLocks noChangeShapeType="1"/>
            </p:cNvSpPr>
            <p:nvPr/>
          </p:nvSpPr>
          <p:spPr bwMode="auto">
            <a:xfrm>
              <a:off x="2881" y="2412"/>
              <a:ext cx="6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4" name="Line 234"/>
            <p:cNvSpPr>
              <a:spLocks noChangeShapeType="1"/>
            </p:cNvSpPr>
            <p:nvPr/>
          </p:nvSpPr>
          <p:spPr bwMode="auto">
            <a:xfrm>
              <a:off x="2761" y="2622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" name="Line 235"/>
            <p:cNvSpPr>
              <a:spLocks noChangeShapeType="1"/>
            </p:cNvSpPr>
            <p:nvPr/>
          </p:nvSpPr>
          <p:spPr bwMode="auto">
            <a:xfrm>
              <a:off x="2881" y="2622"/>
              <a:ext cx="48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" name="Line 236"/>
            <p:cNvSpPr>
              <a:spLocks noChangeShapeType="1"/>
            </p:cNvSpPr>
            <p:nvPr/>
          </p:nvSpPr>
          <p:spPr bwMode="auto">
            <a:xfrm>
              <a:off x="2761" y="3257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" name="Line 237"/>
            <p:cNvSpPr>
              <a:spLocks noChangeShapeType="1"/>
            </p:cNvSpPr>
            <p:nvPr/>
          </p:nvSpPr>
          <p:spPr bwMode="auto">
            <a:xfrm>
              <a:off x="2881" y="3257"/>
              <a:ext cx="48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8" name="Line 238"/>
            <p:cNvSpPr>
              <a:spLocks noChangeShapeType="1"/>
            </p:cNvSpPr>
            <p:nvPr/>
          </p:nvSpPr>
          <p:spPr bwMode="auto">
            <a:xfrm>
              <a:off x="2761" y="3467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9" name="Line 239"/>
            <p:cNvSpPr>
              <a:spLocks noChangeShapeType="1"/>
            </p:cNvSpPr>
            <p:nvPr/>
          </p:nvSpPr>
          <p:spPr bwMode="auto">
            <a:xfrm>
              <a:off x="2881" y="3467"/>
              <a:ext cx="6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" name="Line 240"/>
            <p:cNvSpPr>
              <a:spLocks noChangeShapeType="1"/>
            </p:cNvSpPr>
            <p:nvPr/>
          </p:nvSpPr>
          <p:spPr bwMode="auto">
            <a:xfrm>
              <a:off x="2761" y="2196"/>
              <a:ext cx="108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1" name="Line 241"/>
            <p:cNvSpPr>
              <a:spLocks noChangeShapeType="1"/>
            </p:cNvSpPr>
            <p:nvPr/>
          </p:nvSpPr>
          <p:spPr bwMode="auto">
            <a:xfrm>
              <a:off x="3528" y="710"/>
              <a:ext cx="1" cy="58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2" name="Line 242"/>
            <p:cNvSpPr>
              <a:spLocks noChangeShapeType="1"/>
            </p:cNvSpPr>
            <p:nvPr/>
          </p:nvSpPr>
          <p:spPr bwMode="auto">
            <a:xfrm>
              <a:off x="4272" y="374"/>
              <a:ext cx="1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3" name="Line 243"/>
            <p:cNvSpPr>
              <a:spLocks noChangeShapeType="1"/>
            </p:cNvSpPr>
            <p:nvPr/>
          </p:nvSpPr>
          <p:spPr bwMode="auto">
            <a:xfrm>
              <a:off x="4272" y="608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4" name="Line 244"/>
            <p:cNvSpPr>
              <a:spLocks noChangeShapeType="1"/>
            </p:cNvSpPr>
            <p:nvPr/>
          </p:nvSpPr>
          <p:spPr bwMode="auto">
            <a:xfrm>
              <a:off x="4272" y="632"/>
              <a:ext cx="1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" name="Line 245"/>
            <p:cNvSpPr>
              <a:spLocks noChangeShapeType="1"/>
            </p:cNvSpPr>
            <p:nvPr/>
          </p:nvSpPr>
          <p:spPr bwMode="auto">
            <a:xfrm>
              <a:off x="4272" y="866"/>
              <a:ext cx="1" cy="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" name="Line 246"/>
            <p:cNvSpPr>
              <a:spLocks noChangeShapeType="1"/>
            </p:cNvSpPr>
            <p:nvPr/>
          </p:nvSpPr>
          <p:spPr bwMode="auto">
            <a:xfrm>
              <a:off x="4272" y="889"/>
              <a:ext cx="1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7" name="Line 247"/>
            <p:cNvSpPr>
              <a:spLocks noChangeShapeType="1"/>
            </p:cNvSpPr>
            <p:nvPr/>
          </p:nvSpPr>
          <p:spPr bwMode="auto">
            <a:xfrm>
              <a:off x="4272" y="1123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8" name="Line 248"/>
            <p:cNvSpPr>
              <a:spLocks noChangeShapeType="1"/>
            </p:cNvSpPr>
            <p:nvPr/>
          </p:nvSpPr>
          <p:spPr bwMode="auto">
            <a:xfrm>
              <a:off x="4272" y="1147"/>
              <a:ext cx="1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9" name="Line 249"/>
            <p:cNvSpPr>
              <a:spLocks noChangeShapeType="1"/>
            </p:cNvSpPr>
            <p:nvPr/>
          </p:nvSpPr>
          <p:spPr bwMode="auto">
            <a:xfrm>
              <a:off x="4272" y="1381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0" name="Line 250"/>
            <p:cNvSpPr>
              <a:spLocks noChangeShapeType="1"/>
            </p:cNvSpPr>
            <p:nvPr/>
          </p:nvSpPr>
          <p:spPr bwMode="auto">
            <a:xfrm>
              <a:off x="4272" y="1405"/>
              <a:ext cx="1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1" name="Line 251"/>
            <p:cNvSpPr>
              <a:spLocks noChangeShapeType="1"/>
            </p:cNvSpPr>
            <p:nvPr/>
          </p:nvSpPr>
          <p:spPr bwMode="auto">
            <a:xfrm>
              <a:off x="4272" y="1639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" name="Line 252"/>
            <p:cNvSpPr>
              <a:spLocks noChangeShapeType="1"/>
            </p:cNvSpPr>
            <p:nvPr/>
          </p:nvSpPr>
          <p:spPr bwMode="auto">
            <a:xfrm>
              <a:off x="4272" y="1663"/>
              <a:ext cx="1" cy="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3" name="Line 253"/>
            <p:cNvSpPr>
              <a:spLocks noChangeShapeType="1"/>
            </p:cNvSpPr>
            <p:nvPr/>
          </p:nvSpPr>
          <p:spPr bwMode="auto">
            <a:xfrm>
              <a:off x="3990" y="1213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4" name="Line 254"/>
            <p:cNvSpPr>
              <a:spLocks noChangeShapeType="1"/>
            </p:cNvSpPr>
            <p:nvPr/>
          </p:nvSpPr>
          <p:spPr bwMode="auto">
            <a:xfrm>
              <a:off x="4224" y="1213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5" name="Line 255"/>
            <p:cNvSpPr>
              <a:spLocks noChangeShapeType="1"/>
            </p:cNvSpPr>
            <p:nvPr/>
          </p:nvSpPr>
          <p:spPr bwMode="auto">
            <a:xfrm>
              <a:off x="4248" y="1213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" name="Line 256"/>
            <p:cNvSpPr>
              <a:spLocks noChangeShapeType="1"/>
            </p:cNvSpPr>
            <p:nvPr/>
          </p:nvSpPr>
          <p:spPr bwMode="auto">
            <a:xfrm>
              <a:off x="4482" y="1213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" name="Line 257"/>
            <p:cNvSpPr>
              <a:spLocks noChangeShapeType="1"/>
            </p:cNvSpPr>
            <p:nvPr/>
          </p:nvSpPr>
          <p:spPr bwMode="auto">
            <a:xfrm>
              <a:off x="4506" y="1213"/>
              <a:ext cx="6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8" name="Line 258"/>
            <p:cNvSpPr>
              <a:spLocks noChangeShapeType="1"/>
            </p:cNvSpPr>
            <p:nvPr/>
          </p:nvSpPr>
          <p:spPr bwMode="auto">
            <a:xfrm>
              <a:off x="4416" y="1291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" name="Line 259"/>
            <p:cNvSpPr>
              <a:spLocks noChangeShapeType="1"/>
            </p:cNvSpPr>
            <p:nvPr/>
          </p:nvSpPr>
          <p:spPr bwMode="auto">
            <a:xfrm>
              <a:off x="4650" y="1291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" name="Line 260"/>
            <p:cNvSpPr>
              <a:spLocks noChangeShapeType="1"/>
            </p:cNvSpPr>
            <p:nvPr/>
          </p:nvSpPr>
          <p:spPr bwMode="auto">
            <a:xfrm>
              <a:off x="4674" y="1291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" name="Line 261"/>
            <p:cNvSpPr>
              <a:spLocks noChangeShapeType="1"/>
            </p:cNvSpPr>
            <p:nvPr/>
          </p:nvSpPr>
          <p:spPr bwMode="auto">
            <a:xfrm>
              <a:off x="4908" y="1291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" name="Line 262"/>
            <p:cNvSpPr>
              <a:spLocks noChangeShapeType="1"/>
            </p:cNvSpPr>
            <p:nvPr/>
          </p:nvSpPr>
          <p:spPr bwMode="auto">
            <a:xfrm>
              <a:off x="4932" y="1291"/>
              <a:ext cx="167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" name="Line 263"/>
            <p:cNvSpPr>
              <a:spLocks noChangeShapeType="1"/>
            </p:cNvSpPr>
            <p:nvPr/>
          </p:nvSpPr>
          <p:spPr bwMode="auto">
            <a:xfrm flipV="1">
              <a:off x="4698" y="1495"/>
              <a:ext cx="1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" name="Line 264"/>
            <p:cNvSpPr>
              <a:spLocks noChangeShapeType="1"/>
            </p:cNvSpPr>
            <p:nvPr/>
          </p:nvSpPr>
          <p:spPr bwMode="auto">
            <a:xfrm flipV="1">
              <a:off x="4698" y="1471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5" name="Line 265"/>
            <p:cNvSpPr>
              <a:spLocks noChangeShapeType="1"/>
            </p:cNvSpPr>
            <p:nvPr/>
          </p:nvSpPr>
          <p:spPr bwMode="auto">
            <a:xfrm flipV="1">
              <a:off x="4698" y="1237"/>
              <a:ext cx="1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" name="Line 266"/>
            <p:cNvSpPr>
              <a:spLocks noChangeShapeType="1"/>
            </p:cNvSpPr>
            <p:nvPr/>
          </p:nvSpPr>
          <p:spPr bwMode="auto">
            <a:xfrm flipV="1">
              <a:off x="4698" y="1213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" name="Line 267"/>
            <p:cNvSpPr>
              <a:spLocks noChangeShapeType="1"/>
            </p:cNvSpPr>
            <p:nvPr/>
          </p:nvSpPr>
          <p:spPr bwMode="auto">
            <a:xfrm flipV="1">
              <a:off x="4698" y="1021"/>
              <a:ext cx="1" cy="18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" name="Line 268"/>
            <p:cNvSpPr>
              <a:spLocks noChangeShapeType="1"/>
            </p:cNvSpPr>
            <p:nvPr/>
          </p:nvSpPr>
          <p:spPr bwMode="auto">
            <a:xfrm flipV="1">
              <a:off x="3852" y="1495"/>
              <a:ext cx="1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9" name="Line 269"/>
            <p:cNvSpPr>
              <a:spLocks noChangeShapeType="1"/>
            </p:cNvSpPr>
            <p:nvPr/>
          </p:nvSpPr>
          <p:spPr bwMode="auto">
            <a:xfrm flipV="1">
              <a:off x="3852" y="1471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0" name="Line 270"/>
            <p:cNvSpPr>
              <a:spLocks noChangeShapeType="1"/>
            </p:cNvSpPr>
            <p:nvPr/>
          </p:nvSpPr>
          <p:spPr bwMode="auto">
            <a:xfrm flipV="1">
              <a:off x="3852" y="1237"/>
              <a:ext cx="1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1" name="Line 271"/>
            <p:cNvSpPr>
              <a:spLocks noChangeShapeType="1"/>
            </p:cNvSpPr>
            <p:nvPr/>
          </p:nvSpPr>
          <p:spPr bwMode="auto">
            <a:xfrm flipV="1">
              <a:off x="3852" y="1213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2" name="Line 272"/>
            <p:cNvSpPr>
              <a:spLocks noChangeShapeType="1"/>
            </p:cNvSpPr>
            <p:nvPr/>
          </p:nvSpPr>
          <p:spPr bwMode="auto">
            <a:xfrm flipV="1">
              <a:off x="3852" y="1021"/>
              <a:ext cx="1" cy="18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3" name="Line 273"/>
            <p:cNvSpPr>
              <a:spLocks noChangeShapeType="1"/>
            </p:cNvSpPr>
            <p:nvPr/>
          </p:nvSpPr>
          <p:spPr bwMode="auto">
            <a:xfrm>
              <a:off x="3474" y="1291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4" name="Line 274"/>
            <p:cNvSpPr>
              <a:spLocks noChangeShapeType="1"/>
            </p:cNvSpPr>
            <p:nvPr/>
          </p:nvSpPr>
          <p:spPr bwMode="auto">
            <a:xfrm>
              <a:off x="3708" y="1291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5" name="Line 275"/>
            <p:cNvSpPr>
              <a:spLocks noChangeShapeType="1"/>
            </p:cNvSpPr>
            <p:nvPr/>
          </p:nvSpPr>
          <p:spPr bwMode="auto">
            <a:xfrm>
              <a:off x="3732" y="1291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" name="Line 276"/>
            <p:cNvSpPr>
              <a:spLocks noChangeShapeType="1"/>
            </p:cNvSpPr>
            <p:nvPr/>
          </p:nvSpPr>
          <p:spPr bwMode="auto">
            <a:xfrm>
              <a:off x="3966" y="1291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" name="Line 277"/>
            <p:cNvSpPr>
              <a:spLocks noChangeShapeType="1"/>
            </p:cNvSpPr>
            <p:nvPr/>
          </p:nvSpPr>
          <p:spPr bwMode="auto">
            <a:xfrm>
              <a:off x="3990" y="1291"/>
              <a:ext cx="15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" name="Line 278"/>
            <p:cNvSpPr>
              <a:spLocks noChangeShapeType="1"/>
            </p:cNvSpPr>
            <p:nvPr/>
          </p:nvSpPr>
          <p:spPr bwMode="auto">
            <a:xfrm flipH="1">
              <a:off x="1711" y="2754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" name="Line 279"/>
            <p:cNvSpPr>
              <a:spLocks noChangeShapeType="1"/>
            </p:cNvSpPr>
            <p:nvPr/>
          </p:nvSpPr>
          <p:spPr bwMode="auto">
            <a:xfrm>
              <a:off x="1831" y="2628"/>
              <a:ext cx="1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0" name="Line 280"/>
            <p:cNvSpPr>
              <a:spLocks noChangeShapeType="1"/>
            </p:cNvSpPr>
            <p:nvPr/>
          </p:nvSpPr>
          <p:spPr bwMode="auto">
            <a:xfrm>
              <a:off x="1831" y="2862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1" name="Line 281"/>
            <p:cNvSpPr>
              <a:spLocks noChangeShapeType="1"/>
            </p:cNvSpPr>
            <p:nvPr/>
          </p:nvSpPr>
          <p:spPr bwMode="auto">
            <a:xfrm>
              <a:off x="2011" y="2514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2" name="Line 282"/>
            <p:cNvSpPr>
              <a:spLocks noChangeShapeType="1"/>
            </p:cNvSpPr>
            <p:nvPr/>
          </p:nvSpPr>
          <p:spPr bwMode="auto">
            <a:xfrm>
              <a:off x="2245" y="2514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" name="Line 283"/>
            <p:cNvSpPr>
              <a:spLocks noChangeShapeType="1"/>
            </p:cNvSpPr>
            <p:nvPr/>
          </p:nvSpPr>
          <p:spPr bwMode="auto">
            <a:xfrm>
              <a:off x="2269" y="2514"/>
              <a:ext cx="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" name="Line 284"/>
            <p:cNvSpPr>
              <a:spLocks noChangeShapeType="1"/>
            </p:cNvSpPr>
            <p:nvPr/>
          </p:nvSpPr>
          <p:spPr bwMode="auto">
            <a:xfrm>
              <a:off x="2689" y="2514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5" name="Line 285"/>
            <p:cNvSpPr>
              <a:spLocks noChangeShapeType="1"/>
            </p:cNvSpPr>
            <p:nvPr/>
          </p:nvSpPr>
          <p:spPr bwMode="auto">
            <a:xfrm>
              <a:off x="2923" y="2514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" name="Line 286"/>
            <p:cNvSpPr>
              <a:spLocks noChangeShapeType="1"/>
            </p:cNvSpPr>
            <p:nvPr/>
          </p:nvSpPr>
          <p:spPr bwMode="auto">
            <a:xfrm>
              <a:off x="2947" y="2514"/>
              <a:ext cx="78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" name="Line 287"/>
            <p:cNvSpPr>
              <a:spLocks noChangeShapeType="1"/>
            </p:cNvSpPr>
            <p:nvPr/>
          </p:nvSpPr>
          <p:spPr bwMode="auto">
            <a:xfrm>
              <a:off x="2695" y="3365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" name="Line 288"/>
            <p:cNvSpPr>
              <a:spLocks noChangeShapeType="1"/>
            </p:cNvSpPr>
            <p:nvPr/>
          </p:nvSpPr>
          <p:spPr bwMode="auto">
            <a:xfrm>
              <a:off x="2929" y="3365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9" name="Line 289"/>
            <p:cNvSpPr>
              <a:spLocks noChangeShapeType="1"/>
            </p:cNvSpPr>
            <p:nvPr/>
          </p:nvSpPr>
          <p:spPr bwMode="auto">
            <a:xfrm>
              <a:off x="2953" y="3365"/>
              <a:ext cx="7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0" name="Line 290"/>
            <p:cNvSpPr>
              <a:spLocks noChangeShapeType="1"/>
            </p:cNvSpPr>
            <p:nvPr/>
          </p:nvSpPr>
          <p:spPr bwMode="auto">
            <a:xfrm>
              <a:off x="2017" y="3365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1" name="Line 291"/>
            <p:cNvSpPr>
              <a:spLocks noChangeShapeType="1"/>
            </p:cNvSpPr>
            <p:nvPr/>
          </p:nvSpPr>
          <p:spPr bwMode="auto">
            <a:xfrm>
              <a:off x="2251" y="3365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2" name="Line 292"/>
            <p:cNvSpPr>
              <a:spLocks noChangeShapeType="1"/>
            </p:cNvSpPr>
            <p:nvPr/>
          </p:nvSpPr>
          <p:spPr bwMode="auto">
            <a:xfrm>
              <a:off x="2395" y="2754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3" name="Line 293"/>
            <p:cNvSpPr>
              <a:spLocks noChangeShapeType="1"/>
            </p:cNvSpPr>
            <p:nvPr/>
          </p:nvSpPr>
          <p:spPr bwMode="auto">
            <a:xfrm>
              <a:off x="2497" y="2628"/>
              <a:ext cx="1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" name="Line 294"/>
            <p:cNvSpPr>
              <a:spLocks noChangeShapeType="1"/>
            </p:cNvSpPr>
            <p:nvPr/>
          </p:nvSpPr>
          <p:spPr bwMode="auto">
            <a:xfrm>
              <a:off x="2497" y="2862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5" name="Line 295"/>
            <p:cNvSpPr>
              <a:spLocks noChangeShapeType="1"/>
            </p:cNvSpPr>
            <p:nvPr/>
          </p:nvSpPr>
          <p:spPr bwMode="auto">
            <a:xfrm>
              <a:off x="2395" y="3126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6" name="Line 296"/>
            <p:cNvSpPr>
              <a:spLocks noChangeShapeType="1"/>
            </p:cNvSpPr>
            <p:nvPr/>
          </p:nvSpPr>
          <p:spPr bwMode="auto">
            <a:xfrm flipV="1">
              <a:off x="2497" y="3030"/>
              <a:ext cx="1" cy="22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" name="Line 297"/>
            <p:cNvSpPr>
              <a:spLocks noChangeShapeType="1"/>
            </p:cNvSpPr>
            <p:nvPr/>
          </p:nvSpPr>
          <p:spPr bwMode="auto">
            <a:xfrm flipV="1">
              <a:off x="2497" y="3006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" name="Line 298"/>
            <p:cNvSpPr>
              <a:spLocks noChangeShapeType="1"/>
            </p:cNvSpPr>
            <p:nvPr/>
          </p:nvSpPr>
          <p:spPr bwMode="auto">
            <a:xfrm flipH="1">
              <a:off x="1711" y="3126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9" name="Line 299"/>
            <p:cNvSpPr>
              <a:spLocks noChangeShapeType="1"/>
            </p:cNvSpPr>
            <p:nvPr/>
          </p:nvSpPr>
          <p:spPr bwMode="auto">
            <a:xfrm flipV="1">
              <a:off x="1831" y="3030"/>
              <a:ext cx="1" cy="22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0" name="Line 300"/>
            <p:cNvSpPr>
              <a:spLocks noChangeShapeType="1"/>
            </p:cNvSpPr>
            <p:nvPr/>
          </p:nvSpPr>
          <p:spPr bwMode="auto">
            <a:xfrm flipV="1">
              <a:off x="1831" y="3006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1" name="Line 301"/>
            <p:cNvSpPr>
              <a:spLocks noChangeShapeType="1"/>
            </p:cNvSpPr>
            <p:nvPr/>
          </p:nvSpPr>
          <p:spPr bwMode="auto">
            <a:xfrm>
              <a:off x="2053" y="1291"/>
              <a:ext cx="204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" name="Line 302"/>
            <p:cNvSpPr>
              <a:spLocks noChangeShapeType="1"/>
            </p:cNvSpPr>
            <p:nvPr/>
          </p:nvSpPr>
          <p:spPr bwMode="auto">
            <a:xfrm flipH="1">
              <a:off x="2779" y="1291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3" name="Line 303"/>
            <p:cNvSpPr>
              <a:spLocks noChangeShapeType="1"/>
            </p:cNvSpPr>
            <p:nvPr/>
          </p:nvSpPr>
          <p:spPr bwMode="auto">
            <a:xfrm flipH="1">
              <a:off x="2755" y="1291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4" name="Line 304"/>
            <p:cNvSpPr>
              <a:spLocks noChangeShapeType="1"/>
            </p:cNvSpPr>
            <p:nvPr/>
          </p:nvSpPr>
          <p:spPr bwMode="auto">
            <a:xfrm flipH="1">
              <a:off x="2707" y="1291"/>
              <a:ext cx="3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5" name="Line 305"/>
            <p:cNvSpPr>
              <a:spLocks noChangeShapeType="1"/>
            </p:cNvSpPr>
            <p:nvPr/>
          </p:nvSpPr>
          <p:spPr bwMode="auto">
            <a:xfrm>
              <a:off x="1304" y="1213"/>
              <a:ext cx="22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6" name="Line 306"/>
            <p:cNvSpPr>
              <a:spLocks noChangeShapeType="1"/>
            </p:cNvSpPr>
            <p:nvPr/>
          </p:nvSpPr>
          <p:spPr bwMode="auto">
            <a:xfrm>
              <a:off x="1537" y="1213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" name="Line 307"/>
            <p:cNvSpPr>
              <a:spLocks noChangeShapeType="1"/>
            </p:cNvSpPr>
            <p:nvPr/>
          </p:nvSpPr>
          <p:spPr bwMode="auto">
            <a:xfrm>
              <a:off x="1561" y="1213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" name="Line 308"/>
            <p:cNvSpPr>
              <a:spLocks noChangeShapeType="1"/>
            </p:cNvSpPr>
            <p:nvPr/>
          </p:nvSpPr>
          <p:spPr bwMode="auto">
            <a:xfrm>
              <a:off x="2497" y="386"/>
              <a:ext cx="1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" name="Line 309"/>
            <p:cNvSpPr>
              <a:spLocks noChangeShapeType="1"/>
            </p:cNvSpPr>
            <p:nvPr/>
          </p:nvSpPr>
          <p:spPr bwMode="auto">
            <a:xfrm>
              <a:off x="1819" y="386"/>
              <a:ext cx="1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0" name="Line 310"/>
            <p:cNvSpPr>
              <a:spLocks noChangeShapeType="1"/>
            </p:cNvSpPr>
            <p:nvPr/>
          </p:nvSpPr>
          <p:spPr bwMode="auto">
            <a:xfrm>
              <a:off x="4074" y="374"/>
              <a:ext cx="1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1" name="Line 311"/>
            <p:cNvSpPr>
              <a:spLocks noChangeShapeType="1"/>
            </p:cNvSpPr>
            <p:nvPr/>
          </p:nvSpPr>
          <p:spPr bwMode="auto">
            <a:xfrm>
              <a:off x="4074" y="608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2" name="Line 312"/>
            <p:cNvSpPr>
              <a:spLocks noChangeShapeType="1"/>
            </p:cNvSpPr>
            <p:nvPr/>
          </p:nvSpPr>
          <p:spPr bwMode="auto">
            <a:xfrm>
              <a:off x="4476" y="374"/>
              <a:ext cx="1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3" name="Line 313"/>
            <p:cNvSpPr>
              <a:spLocks noChangeShapeType="1"/>
            </p:cNvSpPr>
            <p:nvPr/>
          </p:nvSpPr>
          <p:spPr bwMode="auto">
            <a:xfrm>
              <a:off x="4476" y="608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4" name="Line 314"/>
            <p:cNvSpPr>
              <a:spLocks noChangeShapeType="1"/>
            </p:cNvSpPr>
            <p:nvPr/>
          </p:nvSpPr>
          <p:spPr bwMode="auto">
            <a:xfrm flipH="1">
              <a:off x="4584" y="818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5" name="Line 315"/>
            <p:cNvSpPr>
              <a:spLocks noChangeShapeType="1"/>
            </p:cNvSpPr>
            <p:nvPr/>
          </p:nvSpPr>
          <p:spPr bwMode="auto">
            <a:xfrm flipH="1">
              <a:off x="4464" y="818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6" name="Line 316"/>
            <p:cNvSpPr>
              <a:spLocks noChangeShapeType="1"/>
            </p:cNvSpPr>
            <p:nvPr/>
          </p:nvSpPr>
          <p:spPr bwMode="auto">
            <a:xfrm flipH="1">
              <a:off x="4344" y="818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" name="Line 317"/>
            <p:cNvSpPr>
              <a:spLocks noChangeShapeType="1"/>
            </p:cNvSpPr>
            <p:nvPr/>
          </p:nvSpPr>
          <p:spPr bwMode="auto">
            <a:xfrm flipH="1">
              <a:off x="4224" y="818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" name="Line 318"/>
            <p:cNvSpPr>
              <a:spLocks noChangeShapeType="1"/>
            </p:cNvSpPr>
            <p:nvPr/>
          </p:nvSpPr>
          <p:spPr bwMode="auto">
            <a:xfrm flipH="1">
              <a:off x="4104" y="818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" name="Line 319"/>
            <p:cNvSpPr>
              <a:spLocks noChangeShapeType="1"/>
            </p:cNvSpPr>
            <p:nvPr/>
          </p:nvSpPr>
          <p:spPr bwMode="auto">
            <a:xfrm flipH="1">
              <a:off x="3984" y="818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0" name="Line 320"/>
            <p:cNvSpPr>
              <a:spLocks noChangeShapeType="1"/>
            </p:cNvSpPr>
            <p:nvPr/>
          </p:nvSpPr>
          <p:spPr bwMode="auto">
            <a:xfrm flipH="1">
              <a:off x="3876" y="818"/>
              <a:ext cx="78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1" name="Line 321"/>
            <p:cNvSpPr>
              <a:spLocks noChangeShapeType="1"/>
            </p:cNvSpPr>
            <p:nvPr/>
          </p:nvSpPr>
          <p:spPr bwMode="auto">
            <a:xfrm flipH="1">
              <a:off x="4584" y="554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2" name="Line 322"/>
            <p:cNvSpPr>
              <a:spLocks noChangeShapeType="1"/>
            </p:cNvSpPr>
            <p:nvPr/>
          </p:nvSpPr>
          <p:spPr bwMode="auto">
            <a:xfrm flipH="1">
              <a:off x="4464" y="554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3" name="Line 323"/>
            <p:cNvSpPr>
              <a:spLocks noChangeShapeType="1"/>
            </p:cNvSpPr>
            <p:nvPr/>
          </p:nvSpPr>
          <p:spPr bwMode="auto">
            <a:xfrm flipH="1">
              <a:off x="4344" y="554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4" name="Line 324"/>
            <p:cNvSpPr>
              <a:spLocks noChangeShapeType="1"/>
            </p:cNvSpPr>
            <p:nvPr/>
          </p:nvSpPr>
          <p:spPr bwMode="auto">
            <a:xfrm flipH="1">
              <a:off x="4224" y="554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" name="Line 325"/>
            <p:cNvSpPr>
              <a:spLocks noChangeShapeType="1"/>
            </p:cNvSpPr>
            <p:nvPr/>
          </p:nvSpPr>
          <p:spPr bwMode="auto">
            <a:xfrm flipH="1">
              <a:off x="4104" y="554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6" name="Line 326"/>
            <p:cNvSpPr>
              <a:spLocks noChangeShapeType="1"/>
            </p:cNvSpPr>
            <p:nvPr/>
          </p:nvSpPr>
          <p:spPr bwMode="auto">
            <a:xfrm flipH="1">
              <a:off x="3984" y="554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" name="Line 327"/>
            <p:cNvSpPr>
              <a:spLocks noChangeShapeType="1"/>
            </p:cNvSpPr>
            <p:nvPr/>
          </p:nvSpPr>
          <p:spPr bwMode="auto">
            <a:xfrm flipH="1">
              <a:off x="3876" y="554"/>
              <a:ext cx="78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" name="Line 328"/>
            <p:cNvSpPr>
              <a:spLocks noChangeShapeType="1"/>
            </p:cNvSpPr>
            <p:nvPr/>
          </p:nvSpPr>
          <p:spPr bwMode="auto">
            <a:xfrm flipH="1">
              <a:off x="2857" y="1189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" name="Line 329"/>
            <p:cNvSpPr>
              <a:spLocks noChangeShapeType="1"/>
            </p:cNvSpPr>
            <p:nvPr/>
          </p:nvSpPr>
          <p:spPr bwMode="auto">
            <a:xfrm flipH="1">
              <a:off x="2761" y="1189"/>
              <a:ext cx="6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" name="Line 330"/>
            <p:cNvSpPr>
              <a:spLocks noChangeShapeType="1"/>
            </p:cNvSpPr>
            <p:nvPr/>
          </p:nvSpPr>
          <p:spPr bwMode="auto">
            <a:xfrm flipH="1">
              <a:off x="2857" y="1399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1" name="Line 331"/>
            <p:cNvSpPr>
              <a:spLocks noChangeShapeType="1"/>
            </p:cNvSpPr>
            <p:nvPr/>
          </p:nvSpPr>
          <p:spPr bwMode="auto">
            <a:xfrm flipH="1">
              <a:off x="2761" y="1399"/>
              <a:ext cx="6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2" name="Line 332"/>
            <p:cNvSpPr>
              <a:spLocks noChangeShapeType="1"/>
            </p:cNvSpPr>
            <p:nvPr/>
          </p:nvSpPr>
          <p:spPr bwMode="auto">
            <a:xfrm>
              <a:off x="1351" y="1321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" name="Line 333"/>
            <p:cNvSpPr>
              <a:spLocks noChangeShapeType="1"/>
            </p:cNvSpPr>
            <p:nvPr/>
          </p:nvSpPr>
          <p:spPr bwMode="auto">
            <a:xfrm>
              <a:off x="1471" y="1321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4" name="Line 334"/>
            <p:cNvSpPr>
              <a:spLocks noChangeShapeType="1"/>
            </p:cNvSpPr>
            <p:nvPr/>
          </p:nvSpPr>
          <p:spPr bwMode="auto">
            <a:xfrm>
              <a:off x="1351" y="1111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5" name="Line 335"/>
            <p:cNvSpPr>
              <a:spLocks noChangeShapeType="1"/>
            </p:cNvSpPr>
            <p:nvPr/>
          </p:nvSpPr>
          <p:spPr bwMode="auto">
            <a:xfrm>
              <a:off x="1471" y="1111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6" name="Line 336"/>
            <p:cNvSpPr>
              <a:spLocks noChangeShapeType="1"/>
            </p:cNvSpPr>
            <p:nvPr/>
          </p:nvSpPr>
          <p:spPr bwMode="auto">
            <a:xfrm>
              <a:off x="1262" y="2940"/>
              <a:ext cx="22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7" name="Line 337"/>
            <p:cNvSpPr>
              <a:spLocks noChangeShapeType="1"/>
            </p:cNvSpPr>
            <p:nvPr/>
          </p:nvSpPr>
          <p:spPr bwMode="auto">
            <a:xfrm>
              <a:off x="1495" y="2940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" name="Line 338"/>
            <p:cNvSpPr>
              <a:spLocks noChangeShapeType="1"/>
            </p:cNvSpPr>
            <p:nvPr/>
          </p:nvSpPr>
          <p:spPr bwMode="auto">
            <a:xfrm>
              <a:off x="1519" y="2940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9" name="Line 339"/>
            <p:cNvSpPr>
              <a:spLocks noChangeShapeType="1"/>
            </p:cNvSpPr>
            <p:nvPr/>
          </p:nvSpPr>
          <p:spPr bwMode="auto">
            <a:xfrm>
              <a:off x="1753" y="2940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0" name="Line 340"/>
            <p:cNvSpPr>
              <a:spLocks noChangeShapeType="1"/>
            </p:cNvSpPr>
            <p:nvPr/>
          </p:nvSpPr>
          <p:spPr bwMode="auto">
            <a:xfrm>
              <a:off x="1777" y="2940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1" name="Line 341"/>
            <p:cNvSpPr>
              <a:spLocks noChangeShapeType="1"/>
            </p:cNvSpPr>
            <p:nvPr/>
          </p:nvSpPr>
          <p:spPr bwMode="auto">
            <a:xfrm>
              <a:off x="2011" y="2940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2" name="Line 342"/>
            <p:cNvSpPr>
              <a:spLocks noChangeShapeType="1"/>
            </p:cNvSpPr>
            <p:nvPr/>
          </p:nvSpPr>
          <p:spPr bwMode="auto">
            <a:xfrm>
              <a:off x="2035" y="2940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3" name="Line 343"/>
            <p:cNvSpPr>
              <a:spLocks noChangeShapeType="1"/>
            </p:cNvSpPr>
            <p:nvPr/>
          </p:nvSpPr>
          <p:spPr bwMode="auto">
            <a:xfrm>
              <a:off x="2269" y="2940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4" name="Line 344"/>
            <p:cNvSpPr>
              <a:spLocks noChangeShapeType="1"/>
            </p:cNvSpPr>
            <p:nvPr/>
          </p:nvSpPr>
          <p:spPr bwMode="auto">
            <a:xfrm>
              <a:off x="2293" y="2940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5" name="Line 345"/>
            <p:cNvSpPr>
              <a:spLocks noChangeShapeType="1"/>
            </p:cNvSpPr>
            <p:nvPr/>
          </p:nvSpPr>
          <p:spPr bwMode="auto">
            <a:xfrm>
              <a:off x="2527" y="2940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6" name="Line 346"/>
            <p:cNvSpPr>
              <a:spLocks noChangeShapeType="1"/>
            </p:cNvSpPr>
            <p:nvPr/>
          </p:nvSpPr>
          <p:spPr bwMode="auto">
            <a:xfrm>
              <a:off x="2551" y="2940"/>
              <a:ext cx="22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" name="Line 347"/>
            <p:cNvSpPr>
              <a:spLocks noChangeShapeType="1"/>
            </p:cNvSpPr>
            <p:nvPr/>
          </p:nvSpPr>
          <p:spPr bwMode="auto">
            <a:xfrm>
              <a:off x="2785" y="2940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" name="Line 348"/>
            <p:cNvSpPr>
              <a:spLocks noChangeShapeType="1"/>
            </p:cNvSpPr>
            <p:nvPr/>
          </p:nvSpPr>
          <p:spPr bwMode="auto">
            <a:xfrm>
              <a:off x="2809" y="2940"/>
              <a:ext cx="15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" name="Line 349"/>
            <p:cNvSpPr>
              <a:spLocks noChangeShapeType="1"/>
            </p:cNvSpPr>
            <p:nvPr/>
          </p:nvSpPr>
          <p:spPr bwMode="auto">
            <a:xfrm>
              <a:off x="1885" y="446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0" name="Line 350"/>
            <p:cNvSpPr>
              <a:spLocks noChangeShapeType="1"/>
            </p:cNvSpPr>
            <p:nvPr/>
          </p:nvSpPr>
          <p:spPr bwMode="auto">
            <a:xfrm>
              <a:off x="1753" y="446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1" name="Line 351"/>
            <p:cNvSpPr>
              <a:spLocks noChangeShapeType="1"/>
            </p:cNvSpPr>
            <p:nvPr/>
          </p:nvSpPr>
          <p:spPr bwMode="auto">
            <a:xfrm>
              <a:off x="2431" y="446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" name="Line 352"/>
            <p:cNvSpPr>
              <a:spLocks noChangeShapeType="1"/>
            </p:cNvSpPr>
            <p:nvPr/>
          </p:nvSpPr>
          <p:spPr bwMode="auto">
            <a:xfrm>
              <a:off x="2563" y="446"/>
              <a:ext cx="1" cy="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3" name="Line 353"/>
            <p:cNvSpPr>
              <a:spLocks noChangeShapeType="1"/>
            </p:cNvSpPr>
            <p:nvPr/>
          </p:nvSpPr>
          <p:spPr bwMode="auto">
            <a:xfrm>
              <a:off x="2095" y="1189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" name="Line 354"/>
            <p:cNvSpPr>
              <a:spLocks noChangeShapeType="1"/>
            </p:cNvSpPr>
            <p:nvPr/>
          </p:nvSpPr>
          <p:spPr bwMode="auto">
            <a:xfrm>
              <a:off x="2095" y="1399"/>
              <a:ext cx="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5" name="Oval 355"/>
            <p:cNvSpPr>
              <a:spLocks noChangeArrowheads="1"/>
            </p:cNvSpPr>
            <p:nvPr/>
          </p:nvSpPr>
          <p:spPr bwMode="auto">
            <a:xfrm>
              <a:off x="1765" y="2688"/>
              <a:ext cx="132" cy="132"/>
            </a:xfrm>
            <a:prstGeom prst="ellips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sp>
        <p:nvSpPr>
          <p:cNvPr id="356" name="Rectangle 356"/>
          <p:cNvSpPr>
            <a:spLocks noChangeArrowheads="1"/>
          </p:cNvSpPr>
          <p:nvPr/>
        </p:nvSpPr>
        <p:spPr bwMode="auto">
          <a:xfrm>
            <a:off x="986195" y="436709"/>
            <a:ext cx="3956050" cy="5143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/>
          <a:p>
            <a:pPr marL="838200" indent="-838200">
              <a:lnSpc>
                <a:spcPct val="90000"/>
              </a:lnSpc>
              <a:spcBef>
                <a:spcPct val="0"/>
              </a:spcBef>
            </a:pPr>
            <a:r>
              <a:rPr lang="en-US" altLang="zh-CN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4.</a:t>
            </a:r>
            <a:r>
              <a:rPr lang="zh-CN" altLang="en-US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基本视图的应用</a:t>
            </a:r>
          </a:p>
        </p:txBody>
      </p:sp>
      <p:sp>
        <p:nvSpPr>
          <p:cNvPr id="357" name="Rectangle 360"/>
          <p:cNvSpPr>
            <a:spLocks noChangeArrowheads="1"/>
          </p:cNvSpPr>
          <p:nvPr/>
        </p:nvSpPr>
        <p:spPr bwMode="auto">
          <a:xfrm>
            <a:off x="1735138" y="5954713"/>
            <a:ext cx="6623050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marL="838200" indent="-838200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>
                <a:solidFill>
                  <a:schemeClr val="hlink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 </a:t>
            </a:r>
            <a:r>
              <a:rPr lang="zh-CN" altLang="en-US" dirty="0">
                <a:solidFill>
                  <a:srgbClr val="FF443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此种表达方法，图中虚线较多，不利于看图。</a:t>
            </a:r>
          </a:p>
        </p:txBody>
      </p:sp>
    </p:spTree>
    <p:extLst>
      <p:ext uri="{BB962C8B-B14F-4D97-AF65-F5344CB8AC3E}">
        <p14:creationId xmlns:p14="http://schemas.microsoft.com/office/powerpoint/2010/main" val="131304151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01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88"/>
          <a:stretch>
            <a:fillRect/>
          </a:stretch>
        </p:blipFill>
        <p:spPr bwMode="auto">
          <a:xfrm>
            <a:off x="7824788" y="3049588"/>
            <a:ext cx="2525712" cy="2316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Picture 3" descr="02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412"/>
          <a:stretch>
            <a:fillRect/>
          </a:stretch>
        </p:blipFill>
        <p:spPr bwMode="auto">
          <a:xfrm>
            <a:off x="2082800" y="3009900"/>
            <a:ext cx="2516188" cy="256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Group 4"/>
          <p:cNvGrpSpPr>
            <a:grpSpLocks/>
          </p:cNvGrpSpPr>
          <p:nvPr/>
        </p:nvGrpSpPr>
        <p:grpSpPr bwMode="auto">
          <a:xfrm>
            <a:off x="2220914" y="962025"/>
            <a:ext cx="8104187" cy="4776788"/>
            <a:chOff x="399" y="406"/>
            <a:chExt cx="5105" cy="3009"/>
          </a:xfrm>
        </p:grpSpPr>
        <p:sp>
          <p:nvSpPr>
            <p:cNvPr id="5" name="Line 5"/>
            <p:cNvSpPr>
              <a:spLocks noChangeShapeType="1"/>
            </p:cNvSpPr>
            <p:nvPr/>
          </p:nvSpPr>
          <p:spPr bwMode="auto">
            <a:xfrm>
              <a:off x="2849" y="2229"/>
              <a:ext cx="97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" name="Line 6"/>
            <p:cNvSpPr>
              <a:spLocks noChangeShapeType="1"/>
            </p:cNvSpPr>
            <p:nvPr/>
          </p:nvSpPr>
          <p:spPr bwMode="auto">
            <a:xfrm>
              <a:off x="2849" y="3243"/>
              <a:ext cx="97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>
              <a:off x="3453" y="3414"/>
              <a:ext cx="96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" name="Line 8"/>
            <p:cNvSpPr>
              <a:spLocks noChangeShapeType="1"/>
            </p:cNvSpPr>
            <p:nvPr/>
          </p:nvSpPr>
          <p:spPr bwMode="auto">
            <a:xfrm>
              <a:off x="2849" y="3414"/>
              <a:ext cx="97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" name="Line 9"/>
            <p:cNvSpPr>
              <a:spLocks noChangeShapeType="1"/>
            </p:cNvSpPr>
            <p:nvPr/>
          </p:nvSpPr>
          <p:spPr bwMode="auto">
            <a:xfrm>
              <a:off x="2849" y="2064"/>
              <a:ext cx="97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" name="Line 10"/>
            <p:cNvSpPr>
              <a:spLocks noChangeShapeType="1"/>
            </p:cNvSpPr>
            <p:nvPr/>
          </p:nvSpPr>
          <p:spPr bwMode="auto">
            <a:xfrm>
              <a:off x="3549" y="2184"/>
              <a:ext cx="1" cy="336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" name="Line 11"/>
            <p:cNvSpPr>
              <a:spLocks noChangeShapeType="1"/>
            </p:cNvSpPr>
            <p:nvPr/>
          </p:nvSpPr>
          <p:spPr bwMode="auto">
            <a:xfrm>
              <a:off x="2245" y="2571"/>
              <a:ext cx="1" cy="336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>
              <a:off x="2245" y="2548"/>
              <a:ext cx="1" cy="382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 flipV="1">
              <a:off x="3453" y="2064"/>
              <a:ext cx="1" cy="313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" name="Line 14"/>
            <p:cNvSpPr>
              <a:spLocks noChangeShapeType="1"/>
            </p:cNvSpPr>
            <p:nvPr/>
          </p:nvSpPr>
          <p:spPr bwMode="auto">
            <a:xfrm flipV="1">
              <a:off x="3453" y="3101"/>
              <a:ext cx="1" cy="313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 flipH="1">
              <a:off x="2245" y="2377"/>
              <a:ext cx="604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" name="Line 16"/>
            <p:cNvSpPr>
              <a:spLocks noChangeShapeType="1"/>
            </p:cNvSpPr>
            <p:nvPr/>
          </p:nvSpPr>
          <p:spPr bwMode="auto">
            <a:xfrm flipH="1">
              <a:off x="2946" y="2377"/>
              <a:ext cx="507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" name="Line 17"/>
            <p:cNvSpPr>
              <a:spLocks noChangeShapeType="1"/>
            </p:cNvSpPr>
            <p:nvPr/>
          </p:nvSpPr>
          <p:spPr bwMode="auto">
            <a:xfrm>
              <a:off x="2946" y="3101"/>
              <a:ext cx="507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" name="Line 18"/>
            <p:cNvSpPr>
              <a:spLocks noChangeShapeType="1"/>
            </p:cNvSpPr>
            <p:nvPr/>
          </p:nvSpPr>
          <p:spPr bwMode="auto">
            <a:xfrm>
              <a:off x="2245" y="3101"/>
              <a:ext cx="604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2849" y="3101"/>
              <a:ext cx="1" cy="313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" name="Line 20"/>
            <p:cNvSpPr>
              <a:spLocks noChangeShapeType="1"/>
            </p:cNvSpPr>
            <p:nvPr/>
          </p:nvSpPr>
          <p:spPr bwMode="auto">
            <a:xfrm>
              <a:off x="2946" y="3101"/>
              <a:ext cx="1" cy="313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" name="Line 21"/>
            <p:cNvSpPr>
              <a:spLocks noChangeShapeType="1"/>
            </p:cNvSpPr>
            <p:nvPr/>
          </p:nvSpPr>
          <p:spPr bwMode="auto">
            <a:xfrm>
              <a:off x="2946" y="2064"/>
              <a:ext cx="1" cy="313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" name="Line 22"/>
            <p:cNvSpPr>
              <a:spLocks noChangeShapeType="1"/>
            </p:cNvSpPr>
            <p:nvPr/>
          </p:nvSpPr>
          <p:spPr bwMode="auto">
            <a:xfrm>
              <a:off x="2849" y="2064"/>
              <a:ext cx="1" cy="313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" name="Oval 23"/>
            <p:cNvSpPr>
              <a:spLocks noChangeArrowheads="1"/>
            </p:cNvSpPr>
            <p:nvPr/>
          </p:nvSpPr>
          <p:spPr bwMode="auto">
            <a:xfrm>
              <a:off x="3151" y="2508"/>
              <a:ext cx="119" cy="120"/>
            </a:xfrm>
            <a:prstGeom prst="ellips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" name="Oval 24"/>
            <p:cNvSpPr>
              <a:spLocks noChangeArrowheads="1"/>
            </p:cNvSpPr>
            <p:nvPr/>
          </p:nvSpPr>
          <p:spPr bwMode="auto">
            <a:xfrm>
              <a:off x="3151" y="2845"/>
              <a:ext cx="119" cy="125"/>
            </a:xfrm>
            <a:prstGeom prst="ellips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5" name="Oval 25"/>
            <p:cNvSpPr>
              <a:spLocks noChangeArrowheads="1"/>
            </p:cNvSpPr>
            <p:nvPr/>
          </p:nvSpPr>
          <p:spPr bwMode="auto">
            <a:xfrm>
              <a:off x="2547" y="2508"/>
              <a:ext cx="119" cy="120"/>
            </a:xfrm>
            <a:prstGeom prst="ellips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" name="Oval 26"/>
            <p:cNvSpPr>
              <a:spLocks noChangeArrowheads="1"/>
            </p:cNvSpPr>
            <p:nvPr/>
          </p:nvSpPr>
          <p:spPr bwMode="auto">
            <a:xfrm>
              <a:off x="2547" y="2845"/>
              <a:ext cx="119" cy="125"/>
            </a:xfrm>
            <a:prstGeom prst="ellips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" name="Line 27"/>
            <p:cNvSpPr>
              <a:spLocks noChangeShapeType="1"/>
            </p:cNvSpPr>
            <p:nvPr/>
          </p:nvSpPr>
          <p:spPr bwMode="auto">
            <a:xfrm flipV="1">
              <a:off x="2946" y="469"/>
              <a:ext cx="1" cy="1065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" name="Line 28"/>
            <p:cNvSpPr>
              <a:spLocks noChangeShapeType="1"/>
            </p:cNvSpPr>
            <p:nvPr/>
          </p:nvSpPr>
          <p:spPr bwMode="auto">
            <a:xfrm flipH="1">
              <a:off x="2849" y="469"/>
              <a:ext cx="97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" name="Line 29"/>
            <p:cNvSpPr>
              <a:spLocks noChangeShapeType="1"/>
            </p:cNvSpPr>
            <p:nvPr/>
          </p:nvSpPr>
          <p:spPr bwMode="auto">
            <a:xfrm>
              <a:off x="2849" y="469"/>
              <a:ext cx="1" cy="1065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" name="Line 30"/>
            <p:cNvSpPr>
              <a:spLocks noChangeShapeType="1"/>
            </p:cNvSpPr>
            <p:nvPr/>
          </p:nvSpPr>
          <p:spPr bwMode="auto">
            <a:xfrm flipH="1">
              <a:off x="3453" y="1534"/>
              <a:ext cx="96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" name="Line 31"/>
            <p:cNvSpPr>
              <a:spLocks noChangeShapeType="1"/>
            </p:cNvSpPr>
            <p:nvPr/>
          </p:nvSpPr>
          <p:spPr bwMode="auto">
            <a:xfrm>
              <a:off x="2849" y="1534"/>
              <a:ext cx="97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" name="Line 32"/>
            <p:cNvSpPr>
              <a:spLocks noChangeShapeType="1"/>
            </p:cNvSpPr>
            <p:nvPr/>
          </p:nvSpPr>
          <p:spPr bwMode="auto">
            <a:xfrm>
              <a:off x="2245" y="1534"/>
              <a:ext cx="142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" name="Line 33"/>
            <p:cNvSpPr>
              <a:spLocks noChangeShapeType="1"/>
            </p:cNvSpPr>
            <p:nvPr/>
          </p:nvSpPr>
          <p:spPr bwMode="auto">
            <a:xfrm>
              <a:off x="2365" y="805"/>
              <a:ext cx="22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" name="Freeform 34"/>
            <p:cNvSpPr>
              <a:spLocks noChangeArrowheads="1"/>
            </p:cNvSpPr>
            <p:nvPr/>
          </p:nvSpPr>
          <p:spPr bwMode="auto">
            <a:xfrm>
              <a:off x="2342" y="782"/>
              <a:ext cx="23" cy="23"/>
            </a:xfrm>
            <a:custGeom>
              <a:avLst/>
              <a:gdLst>
                <a:gd name="T0" fmla="*/ 0 w 4"/>
                <a:gd name="T1" fmla="*/ 0 h 4"/>
                <a:gd name="T2" fmla="*/ 1 w 4"/>
                <a:gd name="T3" fmla="*/ 3 h 4"/>
                <a:gd name="T4" fmla="*/ 4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1" y="3"/>
                  </a:lnTo>
                  <a:lnTo>
                    <a:pt x="4" y="4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" name="Line 35"/>
            <p:cNvSpPr>
              <a:spLocks noChangeShapeType="1"/>
            </p:cNvSpPr>
            <p:nvPr/>
          </p:nvSpPr>
          <p:spPr bwMode="auto">
            <a:xfrm>
              <a:off x="2849" y="708"/>
              <a:ext cx="97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" name="Line 36"/>
            <p:cNvSpPr>
              <a:spLocks noChangeShapeType="1"/>
            </p:cNvSpPr>
            <p:nvPr/>
          </p:nvSpPr>
          <p:spPr bwMode="auto">
            <a:xfrm>
              <a:off x="2342" y="611"/>
              <a:ext cx="1" cy="17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" name="Line 37"/>
            <p:cNvSpPr>
              <a:spLocks noChangeShapeType="1"/>
            </p:cNvSpPr>
            <p:nvPr/>
          </p:nvSpPr>
          <p:spPr bwMode="auto">
            <a:xfrm flipH="1">
              <a:off x="2387" y="566"/>
              <a:ext cx="462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" name="Freeform 38"/>
            <p:cNvSpPr>
              <a:spLocks noChangeArrowheads="1"/>
            </p:cNvSpPr>
            <p:nvPr/>
          </p:nvSpPr>
          <p:spPr bwMode="auto">
            <a:xfrm>
              <a:off x="2342" y="566"/>
              <a:ext cx="45" cy="45"/>
            </a:xfrm>
            <a:custGeom>
              <a:avLst/>
              <a:gdLst>
                <a:gd name="T0" fmla="*/ 8 w 8"/>
                <a:gd name="T1" fmla="*/ 0 h 8"/>
                <a:gd name="T2" fmla="*/ 2 w 8"/>
                <a:gd name="T3" fmla="*/ 2 h 8"/>
                <a:gd name="T4" fmla="*/ 0 w 8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lnTo>
                    <a:pt x="2" y="2"/>
                  </a:lnTo>
                  <a:lnTo>
                    <a:pt x="0" y="8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" name="Line 39"/>
            <p:cNvSpPr>
              <a:spLocks noChangeShapeType="1"/>
            </p:cNvSpPr>
            <p:nvPr/>
          </p:nvSpPr>
          <p:spPr bwMode="auto">
            <a:xfrm flipH="1">
              <a:off x="2946" y="566"/>
              <a:ext cx="455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" name="Line 40"/>
            <p:cNvSpPr>
              <a:spLocks noChangeShapeType="1"/>
            </p:cNvSpPr>
            <p:nvPr/>
          </p:nvSpPr>
          <p:spPr bwMode="auto">
            <a:xfrm flipV="1">
              <a:off x="3453" y="611"/>
              <a:ext cx="1" cy="923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" name="Freeform 41"/>
            <p:cNvSpPr>
              <a:spLocks noChangeArrowheads="1"/>
            </p:cNvSpPr>
            <p:nvPr/>
          </p:nvSpPr>
          <p:spPr bwMode="auto">
            <a:xfrm>
              <a:off x="3401" y="566"/>
              <a:ext cx="52" cy="45"/>
            </a:xfrm>
            <a:custGeom>
              <a:avLst/>
              <a:gdLst>
                <a:gd name="T0" fmla="*/ 9 w 9"/>
                <a:gd name="T1" fmla="*/ 8 h 8"/>
                <a:gd name="T2" fmla="*/ 6 w 9"/>
                <a:gd name="T3" fmla="*/ 2 h 8"/>
                <a:gd name="T4" fmla="*/ 0 w 9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2" name="Freeform 42"/>
            <p:cNvSpPr>
              <a:spLocks noChangeArrowheads="1"/>
            </p:cNvSpPr>
            <p:nvPr/>
          </p:nvSpPr>
          <p:spPr bwMode="auto">
            <a:xfrm>
              <a:off x="2245" y="469"/>
              <a:ext cx="97" cy="97"/>
            </a:xfrm>
            <a:custGeom>
              <a:avLst/>
              <a:gdLst>
                <a:gd name="T0" fmla="*/ 17 w 17"/>
                <a:gd name="T1" fmla="*/ 0 h 17"/>
                <a:gd name="T2" fmla="*/ 8 w 17"/>
                <a:gd name="T3" fmla="*/ 2 h 17"/>
                <a:gd name="T4" fmla="*/ 2 w 17"/>
                <a:gd name="T5" fmla="*/ 9 h 17"/>
                <a:gd name="T6" fmla="*/ 0 w 17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7">
                  <a:moveTo>
                    <a:pt x="17" y="0"/>
                  </a:moveTo>
                  <a:lnTo>
                    <a:pt x="8" y="2"/>
                  </a:lnTo>
                  <a:lnTo>
                    <a:pt x="2" y="9"/>
                  </a:lnTo>
                  <a:lnTo>
                    <a:pt x="0" y="17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3" name="Line 43"/>
            <p:cNvSpPr>
              <a:spLocks noChangeShapeType="1"/>
            </p:cNvSpPr>
            <p:nvPr/>
          </p:nvSpPr>
          <p:spPr bwMode="auto">
            <a:xfrm>
              <a:off x="2342" y="469"/>
              <a:ext cx="1111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" name="Freeform 44"/>
            <p:cNvSpPr>
              <a:spLocks noChangeArrowheads="1"/>
            </p:cNvSpPr>
            <p:nvPr/>
          </p:nvSpPr>
          <p:spPr bwMode="auto">
            <a:xfrm>
              <a:off x="3453" y="469"/>
              <a:ext cx="96" cy="97"/>
            </a:xfrm>
            <a:custGeom>
              <a:avLst/>
              <a:gdLst>
                <a:gd name="T0" fmla="*/ 17 w 17"/>
                <a:gd name="T1" fmla="*/ 17 h 17"/>
                <a:gd name="T2" fmla="*/ 14 w 17"/>
                <a:gd name="T3" fmla="*/ 9 h 17"/>
                <a:gd name="T4" fmla="*/ 8 w 17"/>
                <a:gd name="T5" fmla="*/ 2 h 17"/>
                <a:gd name="T6" fmla="*/ 0 w 17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7">
                  <a:moveTo>
                    <a:pt x="17" y="17"/>
                  </a:moveTo>
                  <a:lnTo>
                    <a:pt x="14" y="9"/>
                  </a:lnTo>
                  <a:lnTo>
                    <a:pt x="8" y="2"/>
                  </a:lnTo>
                  <a:lnTo>
                    <a:pt x="0" y="0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5" name="Line 45"/>
            <p:cNvSpPr>
              <a:spLocks noChangeShapeType="1"/>
            </p:cNvSpPr>
            <p:nvPr/>
          </p:nvSpPr>
          <p:spPr bwMode="auto">
            <a:xfrm>
              <a:off x="2245" y="999"/>
              <a:ext cx="1" cy="387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" name="Line 46"/>
            <p:cNvSpPr>
              <a:spLocks noChangeShapeType="1"/>
            </p:cNvSpPr>
            <p:nvPr/>
          </p:nvSpPr>
          <p:spPr bwMode="auto">
            <a:xfrm>
              <a:off x="3618" y="1050"/>
              <a:ext cx="1" cy="387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" name="Line 47"/>
            <p:cNvSpPr>
              <a:spLocks noChangeShapeType="1"/>
            </p:cNvSpPr>
            <p:nvPr/>
          </p:nvSpPr>
          <p:spPr bwMode="auto">
            <a:xfrm>
              <a:off x="3584" y="1050"/>
              <a:ext cx="34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" name="Line 48"/>
            <p:cNvSpPr>
              <a:spLocks noChangeShapeType="1"/>
            </p:cNvSpPr>
            <p:nvPr/>
          </p:nvSpPr>
          <p:spPr bwMode="auto">
            <a:xfrm>
              <a:off x="3549" y="566"/>
              <a:ext cx="1" cy="968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" name="Freeform 49"/>
            <p:cNvSpPr>
              <a:spLocks noChangeArrowheads="1"/>
            </p:cNvSpPr>
            <p:nvPr/>
          </p:nvSpPr>
          <p:spPr bwMode="auto">
            <a:xfrm>
              <a:off x="3549" y="1010"/>
              <a:ext cx="35" cy="40"/>
            </a:xfrm>
            <a:custGeom>
              <a:avLst/>
              <a:gdLst>
                <a:gd name="T0" fmla="*/ 0 w 6"/>
                <a:gd name="T1" fmla="*/ 0 h 7"/>
                <a:gd name="T2" fmla="*/ 2 w 6"/>
                <a:gd name="T3" fmla="*/ 5 h 7"/>
                <a:gd name="T4" fmla="*/ 6 w 6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lnTo>
                    <a:pt x="2" y="5"/>
                  </a:lnTo>
                  <a:lnTo>
                    <a:pt x="6" y="7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0" name="Line 50"/>
            <p:cNvSpPr>
              <a:spLocks noChangeShapeType="1"/>
            </p:cNvSpPr>
            <p:nvPr/>
          </p:nvSpPr>
          <p:spPr bwMode="auto">
            <a:xfrm>
              <a:off x="3584" y="1437"/>
              <a:ext cx="34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" name="Line 51"/>
            <p:cNvSpPr>
              <a:spLocks noChangeShapeType="1"/>
            </p:cNvSpPr>
            <p:nvPr/>
          </p:nvSpPr>
          <p:spPr bwMode="auto">
            <a:xfrm>
              <a:off x="3549" y="1050"/>
              <a:ext cx="1" cy="387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" name="Freeform 52"/>
            <p:cNvSpPr>
              <a:spLocks noChangeArrowheads="1"/>
            </p:cNvSpPr>
            <p:nvPr/>
          </p:nvSpPr>
          <p:spPr bwMode="auto">
            <a:xfrm>
              <a:off x="3549" y="1437"/>
              <a:ext cx="35" cy="35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3 h 6"/>
                <a:gd name="T6" fmla="*/ 0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0" y="6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3" name="Line 53"/>
            <p:cNvSpPr>
              <a:spLocks noChangeShapeType="1"/>
            </p:cNvSpPr>
            <p:nvPr/>
          </p:nvSpPr>
          <p:spPr bwMode="auto">
            <a:xfrm flipV="1">
              <a:off x="2245" y="566"/>
              <a:ext cx="1" cy="968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" name="Line 54"/>
            <p:cNvSpPr>
              <a:spLocks noChangeShapeType="1"/>
            </p:cNvSpPr>
            <p:nvPr/>
          </p:nvSpPr>
          <p:spPr bwMode="auto">
            <a:xfrm>
              <a:off x="3549" y="2161"/>
              <a:ext cx="1" cy="387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" name="Line 55"/>
            <p:cNvSpPr>
              <a:spLocks noChangeShapeType="1"/>
            </p:cNvSpPr>
            <p:nvPr/>
          </p:nvSpPr>
          <p:spPr bwMode="auto">
            <a:xfrm>
              <a:off x="3618" y="2161"/>
              <a:ext cx="1" cy="387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" name="Line 56"/>
            <p:cNvSpPr>
              <a:spLocks noChangeShapeType="1"/>
            </p:cNvSpPr>
            <p:nvPr/>
          </p:nvSpPr>
          <p:spPr bwMode="auto">
            <a:xfrm>
              <a:off x="3584" y="2161"/>
              <a:ext cx="34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" name="Freeform 57"/>
            <p:cNvSpPr>
              <a:spLocks noChangeArrowheads="1"/>
            </p:cNvSpPr>
            <p:nvPr/>
          </p:nvSpPr>
          <p:spPr bwMode="auto">
            <a:xfrm>
              <a:off x="3549" y="2121"/>
              <a:ext cx="35" cy="40"/>
            </a:xfrm>
            <a:custGeom>
              <a:avLst/>
              <a:gdLst>
                <a:gd name="T0" fmla="*/ 0 w 6"/>
                <a:gd name="T1" fmla="*/ 0 h 7"/>
                <a:gd name="T2" fmla="*/ 0 w 6"/>
                <a:gd name="T3" fmla="*/ 3 h 7"/>
                <a:gd name="T4" fmla="*/ 3 w 6"/>
                <a:gd name="T5" fmla="*/ 6 h 7"/>
                <a:gd name="T6" fmla="*/ 6 w 6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lnTo>
                    <a:pt x="0" y="3"/>
                  </a:lnTo>
                  <a:lnTo>
                    <a:pt x="3" y="6"/>
                  </a:lnTo>
                  <a:lnTo>
                    <a:pt x="6" y="7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8" name="Line 58"/>
            <p:cNvSpPr>
              <a:spLocks noChangeShapeType="1"/>
            </p:cNvSpPr>
            <p:nvPr/>
          </p:nvSpPr>
          <p:spPr bwMode="auto">
            <a:xfrm>
              <a:off x="3584" y="2548"/>
              <a:ext cx="34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" name="Line 59"/>
            <p:cNvSpPr>
              <a:spLocks noChangeShapeType="1"/>
            </p:cNvSpPr>
            <p:nvPr/>
          </p:nvSpPr>
          <p:spPr bwMode="auto">
            <a:xfrm flipV="1">
              <a:off x="3549" y="2064"/>
              <a:ext cx="1" cy="1350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" name="Freeform 60"/>
            <p:cNvSpPr>
              <a:spLocks noChangeArrowheads="1"/>
            </p:cNvSpPr>
            <p:nvPr/>
          </p:nvSpPr>
          <p:spPr bwMode="auto">
            <a:xfrm>
              <a:off x="3549" y="2548"/>
              <a:ext cx="35" cy="3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3 h 6"/>
                <a:gd name="T6" fmla="*/ 0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0" y="6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1" name="Line 61"/>
            <p:cNvSpPr>
              <a:spLocks noChangeShapeType="1"/>
            </p:cNvSpPr>
            <p:nvPr/>
          </p:nvSpPr>
          <p:spPr bwMode="auto">
            <a:xfrm>
              <a:off x="3584" y="3317"/>
              <a:ext cx="34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" name="Freeform 62"/>
            <p:cNvSpPr>
              <a:spLocks noChangeArrowheads="1"/>
            </p:cNvSpPr>
            <p:nvPr/>
          </p:nvSpPr>
          <p:spPr bwMode="auto">
            <a:xfrm>
              <a:off x="3549" y="3317"/>
              <a:ext cx="35" cy="40"/>
            </a:xfrm>
            <a:custGeom>
              <a:avLst/>
              <a:gdLst>
                <a:gd name="T0" fmla="*/ 6 w 6"/>
                <a:gd name="T1" fmla="*/ 0 h 7"/>
                <a:gd name="T2" fmla="*/ 3 w 6"/>
                <a:gd name="T3" fmla="*/ 1 h 7"/>
                <a:gd name="T4" fmla="*/ 0 w 6"/>
                <a:gd name="T5" fmla="*/ 4 h 7"/>
                <a:gd name="T6" fmla="*/ 0 w 6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lnTo>
                    <a:pt x="3" y="1"/>
                  </a:lnTo>
                  <a:lnTo>
                    <a:pt x="0" y="4"/>
                  </a:lnTo>
                  <a:lnTo>
                    <a:pt x="0" y="7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3" name="Line 63"/>
            <p:cNvSpPr>
              <a:spLocks noChangeShapeType="1"/>
            </p:cNvSpPr>
            <p:nvPr/>
          </p:nvSpPr>
          <p:spPr bwMode="auto">
            <a:xfrm flipV="1">
              <a:off x="3618" y="2930"/>
              <a:ext cx="1" cy="387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" name="Line 64"/>
            <p:cNvSpPr>
              <a:spLocks noChangeShapeType="1"/>
            </p:cNvSpPr>
            <p:nvPr/>
          </p:nvSpPr>
          <p:spPr bwMode="auto">
            <a:xfrm>
              <a:off x="3584" y="2930"/>
              <a:ext cx="34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" name="Freeform 65"/>
            <p:cNvSpPr>
              <a:spLocks noChangeArrowheads="1"/>
            </p:cNvSpPr>
            <p:nvPr/>
          </p:nvSpPr>
          <p:spPr bwMode="auto">
            <a:xfrm>
              <a:off x="3549" y="2896"/>
              <a:ext cx="35" cy="34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3 h 6"/>
                <a:gd name="T4" fmla="*/ 3 w 6"/>
                <a:gd name="T5" fmla="*/ 5 h 6"/>
                <a:gd name="T6" fmla="*/ 6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lnTo>
                    <a:pt x="0" y="3"/>
                  </a:lnTo>
                  <a:lnTo>
                    <a:pt x="3" y="5"/>
                  </a:lnTo>
                  <a:lnTo>
                    <a:pt x="6" y="6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6" name="Line 66"/>
            <p:cNvSpPr>
              <a:spLocks noChangeShapeType="1"/>
            </p:cNvSpPr>
            <p:nvPr/>
          </p:nvSpPr>
          <p:spPr bwMode="auto">
            <a:xfrm>
              <a:off x="2245" y="2548"/>
              <a:ext cx="1" cy="382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" name="Line 67"/>
            <p:cNvSpPr>
              <a:spLocks noChangeShapeType="1"/>
            </p:cNvSpPr>
            <p:nvPr/>
          </p:nvSpPr>
          <p:spPr bwMode="auto">
            <a:xfrm>
              <a:off x="2171" y="2548"/>
              <a:ext cx="1" cy="382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" name="Line 68"/>
            <p:cNvSpPr>
              <a:spLocks noChangeShapeType="1"/>
            </p:cNvSpPr>
            <p:nvPr/>
          </p:nvSpPr>
          <p:spPr bwMode="auto">
            <a:xfrm flipH="1">
              <a:off x="2171" y="2548"/>
              <a:ext cx="34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" name="Freeform 69"/>
            <p:cNvSpPr>
              <a:spLocks noChangeArrowheads="1"/>
            </p:cNvSpPr>
            <p:nvPr/>
          </p:nvSpPr>
          <p:spPr bwMode="auto">
            <a:xfrm>
              <a:off x="2205" y="2508"/>
              <a:ext cx="40" cy="40"/>
            </a:xfrm>
            <a:custGeom>
              <a:avLst/>
              <a:gdLst>
                <a:gd name="T0" fmla="*/ 0 w 7"/>
                <a:gd name="T1" fmla="*/ 7 h 7"/>
                <a:gd name="T2" fmla="*/ 3 w 7"/>
                <a:gd name="T3" fmla="*/ 6 h 7"/>
                <a:gd name="T4" fmla="*/ 6 w 7"/>
                <a:gd name="T5" fmla="*/ 3 h 7"/>
                <a:gd name="T6" fmla="*/ 7 w 7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lnTo>
                    <a:pt x="3" y="6"/>
                  </a:lnTo>
                  <a:lnTo>
                    <a:pt x="6" y="3"/>
                  </a:lnTo>
                  <a:lnTo>
                    <a:pt x="7" y="0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0" name="Line 70"/>
            <p:cNvSpPr>
              <a:spLocks noChangeShapeType="1"/>
            </p:cNvSpPr>
            <p:nvPr/>
          </p:nvSpPr>
          <p:spPr bwMode="auto">
            <a:xfrm flipH="1">
              <a:off x="2171" y="2930"/>
              <a:ext cx="34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" name="Line 71"/>
            <p:cNvSpPr>
              <a:spLocks noChangeShapeType="1"/>
            </p:cNvSpPr>
            <p:nvPr/>
          </p:nvSpPr>
          <p:spPr bwMode="auto">
            <a:xfrm>
              <a:off x="2245" y="2377"/>
              <a:ext cx="1" cy="724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" name="Freeform 72"/>
            <p:cNvSpPr>
              <a:spLocks noChangeArrowheads="1"/>
            </p:cNvSpPr>
            <p:nvPr/>
          </p:nvSpPr>
          <p:spPr bwMode="auto">
            <a:xfrm>
              <a:off x="2205" y="2930"/>
              <a:ext cx="40" cy="40"/>
            </a:xfrm>
            <a:custGeom>
              <a:avLst/>
              <a:gdLst>
                <a:gd name="T0" fmla="*/ 7 w 7"/>
                <a:gd name="T1" fmla="*/ 7 h 7"/>
                <a:gd name="T2" fmla="*/ 6 w 7"/>
                <a:gd name="T3" fmla="*/ 4 h 7"/>
                <a:gd name="T4" fmla="*/ 3 w 7"/>
                <a:gd name="T5" fmla="*/ 1 h 7"/>
                <a:gd name="T6" fmla="*/ 0 w 7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lnTo>
                    <a:pt x="6" y="4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3" name="Line 73"/>
            <p:cNvSpPr>
              <a:spLocks noChangeShapeType="1"/>
            </p:cNvSpPr>
            <p:nvPr/>
          </p:nvSpPr>
          <p:spPr bwMode="auto">
            <a:xfrm>
              <a:off x="2171" y="976"/>
              <a:ext cx="1" cy="387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" name="Line 74"/>
            <p:cNvSpPr>
              <a:spLocks noChangeShapeType="1"/>
            </p:cNvSpPr>
            <p:nvPr/>
          </p:nvSpPr>
          <p:spPr bwMode="auto">
            <a:xfrm flipH="1">
              <a:off x="2171" y="976"/>
              <a:ext cx="34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" name="Freeform 75"/>
            <p:cNvSpPr>
              <a:spLocks noChangeArrowheads="1"/>
            </p:cNvSpPr>
            <p:nvPr/>
          </p:nvSpPr>
          <p:spPr bwMode="auto">
            <a:xfrm>
              <a:off x="2205" y="936"/>
              <a:ext cx="40" cy="40"/>
            </a:xfrm>
            <a:custGeom>
              <a:avLst/>
              <a:gdLst>
                <a:gd name="T0" fmla="*/ 0 w 7"/>
                <a:gd name="T1" fmla="*/ 7 h 7"/>
                <a:gd name="T2" fmla="*/ 3 w 7"/>
                <a:gd name="T3" fmla="*/ 6 h 7"/>
                <a:gd name="T4" fmla="*/ 6 w 7"/>
                <a:gd name="T5" fmla="*/ 4 h 7"/>
                <a:gd name="T6" fmla="*/ 7 w 7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lnTo>
                    <a:pt x="3" y="6"/>
                  </a:lnTo>
                  <a:lnTo>
                    <a:pt x="6" y="4"/>
                  </a:lnTo>
                  <a:lnTo>
                    <a:pt x="7" y="0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6" name="Line 76"/>
            <p:cNvSpPr>
              <a:spLocks noChangeShapeType="1"/>
            </p:cNvSpPr>
            <p:nvPr/>
          </p:nvSpPr>
          <p:spPr bwMode="auto">
            <a:xfrm flipH="1">
              <a:off x="2171" y="1363"/>
              <a:ext cx="34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" name="Freeform 77"/>
            <p:cNvSpPr>
              <a:spLocks noChangeArrowheads="1"/>
            </p:cNvSpPr>
            <p:nvPr/>
          </p:nvSpPr>
          <p:spPr bwMode="auto">
            <a:xfrm>
              <a:off x="2205" y="1363"/>
              <a:ext cx="40" cy="40"/>
            </a:xfrm>
            <a:custGeom>
              <a:avLst/>
              <a:gdLst>
                <a:gd name="T0" fmla="*/ 7 w 7"/>
                <a:gd name="T1" fmla="*/ 7 h 7"/>
                <a:gd name="T2" fmla="*/ 5 w 7"/>
                <a:gd name="T3" fmla="*/ 2 h 7"/>
                <a:gd name="T4" fmla="*/ 0 w 7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lnTo>
                    <a:pt x="5" y="2"/>
                  </a:lnTo>
                  <a:lnTo>
                    <a:pt x="0" y="0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8" name="Line 78"/>
            <p:cNvSpPr>
              <a:spLocks noChangeShapeType="1"/>
            </p:cNvSpPr>
            <p:nvPr/>
          </p:nvSpPr>
          <p:spPr bwMode="auto">
            <a:xfrm flipH="1">
              <a:off x="4153" y="469"/>
              <a:ext cx="165" cy="239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" name="Line 79"/>
            <p:cNvSpPr>
              <a:spLocks noChangeShapeType="1"/>
            </p:cNvSpPr>
            <p:nvPr/>
          </p:nvSpPr>
          <p:spPr bwMode="auto">
            <a:xfrm>
              <a:off x="5332" y="469"/>
              <a:ext cx="171" cy="239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" name="Line 80"/>
            <p:cNvSpPr>
              <a:spLocks noChangeShapeType="1"/>
            </p:cNvSpPr>
            <p:nvPr/>
          </p:nvSpPr>
          <p:spPr bwMode="auto">
            <a:xfrm flipH="1">
              <a:off x="4318" y="469"/>
              <a:ext cx="1014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" name="Freeform 81"/>
            <p:cNvSpPr>
              <a:spLocks noChangeArrowheads="1"/>
            </p:cNvSpPr>
            <p:nvPr/>
          </p:nvSpPr>
          <p:spPr bwMode="auto">
            <a:xfrm>
              <a:off x="4153" y="1244"/>
              <a:ext cx="285" cy="290"/>
            </a:xfrm>
            <a:custGeom>
              <a:avLst/>
              <a:gdLst>
                <a:gd name="T0" fmla="*/ 0 w 50"/>
                <a:gd name="T1" fmla="*/ 0 h 51"/>
                <a:gd name="T2" fmla="*/ 1 w 50"/>
                <a:gd name="T3" fmla="*/ 10 h 51"/>
                <a:gd name="T4" fmla="*/ 3 w 50"/>
                <a:gd name="T5" fmla="*/ 19 h 51"/>
                <a:gd name="T6" fmla="*/ 8 w 50"/>
                <a:gd name="T7" fmla="*/ 28 h 51"/>
                <a:gd name="T8" fmla="*/ 15 w 50"/>
                <a:gd name="T9" fmla="*/ 36 h 51"/>
                <a:gd name="T10" fmla="*/ 22 w 50"/>
                <a:gd name="T11" fmla="*/ 42 h 51"/>
                <a:gd name="T12" fmla="*/ 31 w 50"/>
                <a:gd name="T13" fmla="*/ 47 h 51"/>
                <a:gd name="T14" fmla="*/ 41 w 50"/>
                <a:gd name="T15" fmla="*/ 50 h 51"/>
                <a:gd name="T16" fmla="*/ 50 w 50"/>
                <a:gd name="T1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" h="51">
                  <a:moveTo>
                    <a:pt x="0" y="0"/>
                  </a:moveTo>
                  <a:lnTo>
                    <a:pt x="1" y="10"/>
                  </a:lnTo>
                  <a:lnTo>
                    <a:pt x="3" y="19"/>
                  </a:lnTo>
                  <a:lnTo>
                    <a:pt x="8" y="28"/>
                  </a:lnTo>
                  <a:lnTo>
                    <a:pt x="15" y="36"/>
                  </a:lnTo>
                  <a:lnTo>
                    <a:pt x="22" y="42"/>
                  </a:lnTo>
                  <a:lnTo>
                    <a:pt x="31" y="47"/>
                  </a:lnTo>
                  <a:lnTo>
                    <a:pt x="41" y="50"/>
                  </a:lnTo>
                  <a:lnTo>
                    <a:pt x="50" y="51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2" name="Line 82"/>
            <p:cNvSpPr>
              <a:spLocks noChangeShapeType="1"/>
            </p:cNvSpPr>
            <p:nvPr/>
          </p:nvSpPr>
          <p:spPr bwMode="auto">
            <a:xfrm>
              <a:off x="4438" y="1534"/>
              <a:ext cx="775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" name="Line 83"/>
            <p:cNvSpPr>
              <a:spLocks noChangeShapeType="1"/>
            </p:cNvSpPr>
            <p:nvPr/>
          </p:nvSpPr>
          <p:spPr bwMode="auto">
            <a:xfrm flipV="1">
              <a:off x="5503" y="708"/>
              <a:ext cx="1" cy="536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" name="Freeform 84"/>
            <p:cNvSpPr>
              <a:spLocks noChangeArrowheads="1"/>
            </p:cNvSpPr>
            <p:nvPr/>
          </p:nvSpPr>
          <p:spPr bwMode="auto">
            <a:xfrm>
              <a:off x="5213" y="1244"/>
              <a:ext cx="290" cy="290"/>
            </a:xfrm>
            <a:custGeom>
              <a:avLst/>
              <a:gdLst>
                <a:gd name="T0" fmla="*/ 0 w 51"/>
                <a:gd name="T1" fmla="*/ 51 h 51"/>
                <a:gd name="T2" fmla="*/ 10 w 51"/>
                <a:gd name="T3" fmla="*/ 50 h 51"/>
                <a:gd name="T4" fmla="*/ 20 w 51"/>
                <a:gd name="T5" fmla="*/ 47 h 51"/>
                <a:gd name="T6" fmla="*/ 28 w 51"/>
                <a:gd name="T7" fmla="*/ 42 h 51"/>
                <a:gd name="T8" fmla="*/ 36 w 51"/>
                <a:gd name="T9" fmla="*/ 36 h 51"/>
                <a:gd name="T10" fmla="*/ 43 w 51"/>
                <a:gd name="T11" fmla="*/ 28 h 51"/>
                <a:gd name="T12" fmla="*/ 47 w 51"/>
                <a:gd name="T13" fmla="*/ 19 h 51"/>
                <a:gd name="T14" fmla="*/ 50 w 51"/>
                <a:gd name="T15" fmla="*/ 10 h 51"/>
                <a:gd name="T16" fmla="*/ 51 w 51"/>
                <a:gd name="T1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51">
                  <a:moveTo>
                    <a:pt x="0" y="51"/>
                  </a:moveTo>
                  <a:lnTo>
                    <a:pt x="10" y="50"/>
                  </a:lnTo>
                  <a:lnTo>
                    <a:pt x="20" y="47"/>
                  </a:lnTo>
                  <a:lnTo>
                    <a:pt x="28" y="42"/>
                  </a:lnTo>
                  <a:lnTo>
                    <a:pt x="36" y="36"/>
                  </a:lnTo>
                  <a:lnTo>
                    <a:pt x="43" y="28"/>
                  </a:lnTo>
                  <a:lnTo>
                    <a:pt x="47" y="19"/>
                  </a:lnTo>
                  <a:lnTo>
                    <a:pt x="50" y="10"/>
                  </a:lnTo>
                  <a:lnTo>
                    <a:pt x="51" y="0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5" name="Oval 85"/>
            <p:cNvSpPr>
              <a:spLocks noChangeArrowheads="1"/>
            </p:cNvSpPr>
            <p:nvPr/>
          </p:nvSpPr>
          <p:spPr bwMode="auto">
            <a:xfrm>
              <a:off x="4729" y="1073"/>
              <a:ext cx="193" cy="194"/>
            </a:xfrm>
            <a:prstGeom prst="ellips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6" name="Oval 86"/>
            <p:cNvSpPr>
              <a:spLocks noChangeArrowheads="1"/>
            </p:cNvSpPr>
            <p:nvPr/>
          </p:nvSpPr>
          <p:spPr bwMode="auto">
            <a:xfrm>
              <a:off x="4632" y="976"/>
              <a:ext cx="387" cy="387"/>
            </a:xfrm>
            <a:prstGeom prst="ellips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7" name="Freeform 87"/>
            <p:cNvSpPr>
              <a:spLocks noChangeArrowheads="1"/>
            </p:cNvSpPr>
            <p:nvPr/>
          </p:nvSpPr>
          <p:spPr bwMode="auto">
            <a:xfrm>
              <a:off x="4467" y="1147"/>
              <a:ext cx="723" cy="382"/>
            </a:xfrm>
            <a:custGeom>
              <a:avLst/>
              <a:gdLst>
                <a:gd name="T0" fmla="*/ 0 w 127"/>
                <a:gd name="T1" fmla="*/ 0 h 67"/>
                <a:gd name="T2" fmla="*/ 0 w 127"/>
                <a:gd name="T3" fmla="*/ 10 h 67"/>
                <a:gd name="T4" fmla="*/ 2 w 127"/>
                <a:gd name="T5" fmla="*/ 20 h 67"/>
                <a:gd name="T6" fmla="*/ 5 w 127"/>
                <a:gd name="T7" fmla="*/ 29 h 67"/>
                <a:gd name="T8" fmla="*/ 10 w 127"/>
                <a:gd name="T9" fmla="*/ 38 h 67"/>
                <a:gd name="T10" fmla="*/ 15 w 127"/>
                <a:gd name="T11" fmla="*/ 46 h 67"/>
                <a:gd name="T12" fmla="*/ 22 w 127"/>
                <a:gd name="T13" fmla="*/ 53 h 67"/>
                <a:gd name="T14" fmla="*/ 30 w 127"/>
                <a:gd name="T15" fmla="*/ 58 h 67"/>
                <a:gd name="T16" fmla="*/ 39 w 127"/>
                <a:gd name="T17" fmla="*/ 63 h 67"/>
                <a:gd name="T18" fmla="*/ 49 w 127"/>
                <a:gd name="T19" fmla="*/ 66 h 67"/>
                <a:gd name="T20" fmla="*/ 58 w 127"/>
                <a:gd name="T21" fmla="*/ 67 h 67"/>
                <a:gd name="T22" fmla="*/ 68 w 127"/>
                <a:gd name="T23" fmla="*/ 67 h 67"/>
                <a:gd name="T24" fmla="*/ 78 w 127"/>
                <a:gd name="T25" fmla="*/ 66 h 67"/>
                <a:gd name="T26" fmla="*/ 87 w 127"/>
                <a:gd name="T27" fmla="*/ 63 h 67"/>
                <a:gd name="T28" fmla="*/ 96 w 127"/>
                <a:gd name="T29" fmla="*/ 58 h 67"/>
                <a:gd name="T30" fmla="*/ 104 w 127"/>
                <a:gd name="T31" fmla="*/ 53 h 67"/>
                <a:gd name="T32" fmla="*/ 111 w 127"/>
                <a:gd name="T33" fmla="*/ 46 h 67"/>
                <a:gd name="T34" fmla="*/ 117 w 127"/>
                <a:gd name="T35" fmla="*/ 38 h 67"/>
                <a:gd name="T36" fmla="*/ 122 w 127"/>
                <a:gd name="T37" fmla="*/ 29 h 67"/>
                <a:gd name="T38" fmla="*/ 125 w 127"/>
                <a:gd name="T39" fmla="*/ 20 h 67"/>
                <a:gd name="T40" fmla="*/ 127 w 127"/>
                <a:gd name="T41" fmla="*/ 10 h 67"/>
                <a:gd name="T42" fmla="*/ 127 w 127"/>
                <a:gd name="T43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7" h="67">
                  <a:moveTo>
                    <a:pt x="0" y="0"/>
                  </a:moveTo>
                  <a:lnTo>
                    <a:pt x="0" y="10"/>
                  </a:lnTo>
                  <a:lnTo>
                    <a:pt x="2" y="20"/>
                  </a:lnTo>
                  <a:lnTo>
                    <a:pt x="5" y="29"/>
                  </a:lnTo>
                  <a:lnTo>
                    <a:pt x="10" y="38"/>
                  </a:lnTo>
                  <a:lnTo>
                    <a:pt x="15" y="46"/>
                  </a:lnTo>
                  <a:lnTo>
                    <a:pt x="22" y="53"/>
                  </a:lnTo>
                  <a:lnTo>
                    <a:pt x="30" y="58"/>
                  </a:lnTo>
                  <a:lnTo>
                    <a:pt x="39" y="63"/>
                  </a:lnTo>
                  <a:lnTo>
                    <a:pt x="49" y="66"/>
                  </a:lnTo>
                  <a:lnTo>
                    <a:pt x="58" y="67"/>
                  </a:lnTo>
                  <a:lnTo>
                    <a:pt x="68" y="67"/>
                  </a:lnTo>
                  <a:lnTo>
                    <a:pt x="78" y="66"/>
                  </a:lnTo>
                  <a:lnTo>
                    <a:pt x="87" y="63"/>
                  </a:lnTo>
                  <a:lnTo>
                    <a:pt x="96" y="58"/>
                  </a:lnTo>
                  <a:lnTo>
                    <a:pt x="104" y="53"/>
                  </a:lnTo>
                  <a:lnTo>
                    <a:pt x="111" y="46"/>
                  </a:lnTo>
                  <a:lnTo>
                    <a:pt x="117" y="38"/>
                  </a:lnTo>
                  <a:lnTo>
                    <a:pt x="122" y="29"/>
                  </a:lnTo>
                  <a:lnTo>
                    <a:pt x="125" y="20"/>
                  </a:lnTo>
                  <a:lnTo>
                    <a:pt x="127" y="10"/>
                  </a:lnTo>
                  <a:lnTo>
                    <a:pt x="127" y="0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8" name="Freeform 88"/>
            <p:cNvSpPr>
              <a:spLocks noChangeArrowheads="1"/>
            </p:cNvSpPr>
            <p:nvPr/>
          </p:nvSpPr>
          <p:spPr bwMode="auto">
            <a:xfrm>
              <a:off x="4347" y="1147"/>
              <a:ext cx="148" cy="194"/>
            </a:xfrm>
            <a:custGeom>
              <a:avLst/>
              <a:gdLst>
                <a:gd name="T0" fmla="*/ 21 w 26"/>
                <a:gd name="T1" fmla="*/ 0 h 34"/>
                <a:gd name="T2" fmla="*/ 11 w 26"/>
                <a:gd name="T3" fmla="*/ 1 h 34"/>
                <a:gd name="T4" fmla="*/ 3 w 26"/>
                <a:gd name="T5" fmla="*/ 6 h 34"/>
                <a:gd name="T6" fmla="*/ 0 w 26"/>
                <a:gd name="T7" fmla="*/ 15 h 34"/>
                <a:gd name="T8" fmla="*/ 1 w 26"/>
                <a:gd name="T9" fmla="*/ 24 h 34"/>
                <a:gd name="T10" fmla="*/ 8 w 26"/>
                <a:gd name="T11" fmla="*/ 31 h 34"/>
                <a:gd name="T12" fmla="*/ 17 w 26"/>
                <a:gd name="T13" fmla="*/ 34 h 34"/>
                <a:gd name="T14" fmla="*/ 26 w 26"/>
                <a:gd name="T15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34">
                  <a:moveTo>
                    <a:pt x="21" y="0"/>
                  </a:moveTo>
                  <a:lnTo>
                    <a:pt x="11" y="1"/>
                  </a:lnTo>
                  <a:lnTo>
                    <a:pt x="3" y="6"/>
                  </a:lnTo>
                  <a:lnTo>
                    <a:pt x="0" y="15"/>
                  </a:lnTo>
                  <a:lnTo>
                    <a:pt x="1" y="24"/>
                  </a:lnTo>
                  <a:lnTo>
                    <a:pt x="8" y="31"/>
                  </a:lnTo>
                  <a:lnTo>
                    <a:pt x="17" y="34"/>
                  </a:lnTo>
                  <a:lnTo>
                    <a:pt x="26" y="30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9" name="Freeform 89"/>
            <p:cNvSpPr>
              <a:spLocks noChangeArrowheads="1"/>
            </p:cNvSpPr>
            <p:nvPr/>
          </p:nvSpPr>
          <p:spPr bwMode="auto">
            <a:xfrm>
              <a:off x="5156" y="1147"/>
              <a:ext cx="154" cy="194"/>
            </a:xfrm>
            <a:custGeom>
              <a:avLst/>
              <a:gdLst>
                <a:gd name="T0" fmla="*/ 0 w 27"/>
                <a:gd name="T1" fmla="*/ 30 h 34"/>
                <a:gd name="T2" fmla="*/ 9 w 27"/>
                <a:gd name="T3" fmla="*/ 34 h 34"/>
                <a:gd name="T4" fmla="*/ 19 w 27"/>
                <a:gd name="T5" fmla="*/ 31 h 34"/>
                <a:gd name="T6" fmla="*/ 25 w 27"/>
                <a:gd name="T7" fmla="*/ 24 h 34"/>
                <a:gd name="T8" fmla="*/ 27 w 27"/>
                <a:gd name="T9" fmla="*/ 15 h 34"/>
                <a:gd name="T10" fmla="*/ 23 w 27"/>
                <a:gd name="T11" fmla="*/ 6 h 34"/>
                <a:gd name="T12" fmla="*/ 15 w 27"/>
                <a:gd name="T13" fmla="*/ 1 h 34"/>
                <a:gd name="T14" fmla="*/ 6 w 27"/>
                <a:gd name="T1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34">
                  <a:moveTo>
                    <a:pt x="0" y="30"/>
                  </a:moveTo>
                  <a:lnTo>
                    <a:pt x="9" y="34"/>
                  </a:lnTo>
                  <a:lnTo>
                    <a:pt x="19" y="31"/>
                  </a:lnTo>
                  <a:lnTo>
                    <a:pt x="25" y="24"/>
                  </a:lnTo>
                  <a:lnTo>
                    <a:pt x="27" y="15"/>
                  </a:lnTo>
                  <a:lnTo>
                    <a:pt x="23" y="6"/>
                  </a:lnTo>
                  <a:lnTo>
                    <a:pt x="15" y="1"/>
                  </a:lnTo>
                  <a:lnTo>
                    <a:pt x="6" y="0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0" name="Line 90"/>
            <p:cNvSpPr>
              <a:spLocks noChangeShapeType="1"/>
            </p:cNvSpPr>
            <p:nvPr/>
          </p:nvSpPr>
          <p:spPr bwMode="auto">
            <a:xfrm>
              <a:off x="5190" y="469"/>
              <a:ext cx="1" cy="70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" name="Line 91"/>
            <p:cNvSpPr>
              <a:spLocks noChangeShapeType="1"/>
            </p:cNvSpPr>
            <p:nvPr/>
          </p:nvSpPr>
          <p:spPr bwMode="auto">
            <a:xfrm>
              <a:off x="4467" y="469"/>
              <a:ext cx="1" cy="70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" name="Line 92"/>
            <p:cNvSpPr>
              <a:spLocks noChangeShapeType="1"/>
            </p:cNvSpPr>
            <p:nvPr/>
          </p:nvSpPr>
          <p:spPr bwMode="auto">
            <a:xfrm>
              <a:off x="2387" y="805"/>
              <a:ext cx="1" cy="729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" name="Line 93"/>
            <p:cNvSpPr>
              <a:spLocks noChangeShapeType="1"/>
            </p:cNvSpPr>
            <p:nvPr/>
          </p:nvSpPr>
          <p:spPr bwMode="auto">
            <a:xfrm flipH="1">
              <a:off x="5127" y="1534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" name="Line 94"/>
            <p:cNvSpPr>
              <a:spLocks noChangeShapeType="1"/>
            </p:cNvSpPr>
            <p:nvPr/>
          </p:nvSpPr>
          <p:spPr bwMode="auto">
            <a:xfrm flipH="1">
              <a:off x="5013" y="1534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Line 95"/>
            <p:cNvSpPr>
              <a:spLocks noChangeShapeType="1"/>
            </p:cNvSpPr>
            <p:nvPr/>
          </p:nvSpPr>
          <p:spPr bwMode="auto">
            <a:xfrm flipH="1">
              <a:off x="4899" y="1534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" name="Line 96"/>
            <p:cNvSpPr>
              <a:spLocks noChangeShapeType="1"/>
            </p:cNvSpPr>
            <p:nvPr/>
          </p:nvSpPr>
          <p:spPr bwMode="auto">
            <a:xfrm flipH="1">
              <a:off x="4786" y="1534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Line 97"/>
            <p:cNvSpPr>
              <a:spLocks noChangeShapeType="1"/>
            </p:cNvSpPr>
            <p:nvPr/>
          </p:nvSpPr>
          <p:spPr bwMode="auto">
            <a:xfrm flipH="1">
              <a:off x="4672" y="1534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Line 98"/>
            <p:cNvSpPr>
              <a:spLocks noChangeShapeType="1"/>
            </p:cNvSpPr>
            <p:nvPr/>
          </p:nvSpPr>
          <p:spPr bwMode="auto">
            <a:xfrm flipH="1">
              <a:off x="4558" y="1534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Line 99"/>
            <p:cNvSpPr>
              <a:spLocks noChangeShapeType="1"/>
            </p:cNvSpPr>
            <p:nvPr/>
          </p:nvSpPr>
          <p:spPr bwMode="auto">
            <a:xfrm flipH="1">
              <a:off x="4444" y="1534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" name="Line 100"/>
            <p:cNvSpPr>
              <a:spLocks noChangeShapeType="1"/>
            </p:cNvSpPr>
            <p:nvPr/>
          </p:nvSpPr>
          <p:spPr bwMode="auto">
            <a:xfrm>
              <a:off x="4467" y="469"/>
              <a:ext cx="1" cy="8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" name="Line 101"/>
            <p:cNvSpPr>
              <a:spLocks noChangeShapeType="1"/>
            </p:cNvSpPr>
            <p:nvPr/>
          </p:nvSpPr>
          <p:spPr bwMode="auto">
            <a:xfrm>
              <a:off x="4467" y="583"/>
              <a:ext cx="1" cy="8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" name="Line 102"/>
            <p:cNvSpPr>
              <a:spLocks noChangeShapeType="1"/>
            </p:cNvSpPr>
            <p:nvPr/>
          </p:nvSpPr>
          <p:spPr bwMode="auto">
            <a:xfrm>
              <a:off x="4467" y="697"/>
              <a:ext cx="1" cy="8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" name="Line 103"/>
            <p:cNvSpPr>
              <a:spLocks noChangeShapeType="1"/>
            </p:cNvSpPr>
            <p:nvPr/>
          </p:nvSpPr>
          <p:spPr bwMode="auto">
            <a:xfrm>
              <a:off x="5190" y="469"/>
              <a:ext cx="1" cy="8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" name="Line 104"/>
            <p:cNvSpPr>
              <a:spLocks noChangeShapeType="1"/>
            </p:cNvSpPr>
            <p:nvPr/>
          </p:nvSpPr>
          <p:spPr bwMode="auto">
            <a:xfrm>
              <a:off x="5190" y="583"/>
              <a:ext cx="1" cy="8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" name="Line 105"/>
            <p:cNvSpPr>
              <a:spLocks noChangeShapeType="1"/>
            </p:cNvSpPr>
            <p:nvPr/>
          </p:nvSpPr>
          <p:spPr bwMode="auto">
            <a:xfrm>
              <a:off x="5190" y="697"/>
              <a:ext cx="1" cy="8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" name="Line 106"/>
            <p:cNvSpPr>
              <a:spLocks noChangeShapeType="1"/>
            </p:cNvSpPr>
            <p:nvPr/>
          </p:nvSpPr>
          <p:spPr bwMode="auto">
            <a:xfrm>
              <a:off x="4318" y="469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" name="Line 107"/>
            <p:cNvSpPr>
              <a:spLocks noChangeShapeType="1"/>
            </p:cNvSpPr>
            <p:nvPr/>
          </p:nvSpPr>
          <p:spPr bwMode="auto">
            <a:xfrm>
              <a:off x="4432" y="469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" name="Line 108"/>
            <p:cNvSpPr>
              <a:spLocks noChangeShapeType="1"/>
            </p:cNvSpPr>
            <p:nvPr/>
          </p:nvSpPr>
          <p:spPr bwMode="auto">
            <a:xfrm>
              <a:off x="4546" y="469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" name="Line 109"/>
            <p:cNvSpPr>
              <a:spLocks noChangeShapeType="1"/>
            </p:cNvSpPr>
            <p:nvPr/>
          </p:nvSpPr>
          <p:spPr bwMode="auto">
            <a:xfrm>
              <a:off x="4660" y="469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" name="Line 110"/>
            <p:cNvSpPr>
              <a:spLocks noChangeShapeType="1"/>
            </p:cNvSpPr>
            <p:nvPr/>
          </p:nvSpPr>
          <p:spPr bwMode="auto">
            <a:xfrm>
              <a:off x="4774" y="469"/>
              <a:ext cx="5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" name="Line 111"/>
            <p:cNvSpPr>
              <a:spLocks noChangeShapeType="1"/>
            </p:cNvSpPr>
            <p:nvPr/>
          </p:nvSpPr>
          <p:spPr bwMode="auto">
            <a:xfrm>
              <a:off x="3453" y="2064"/>
              <a:ext cx="96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" name="Line 112"/>
            <p:cNvSpPr>
              <a:spLocks noChangeShapeType="1"/>
            </p:cNvSpPr>
            <p:nvPr/>
          </p:nvSpPr>
          <p:spPr bwMode="auto">
            <a:xfrm>
              <a:off x="4153" y="708"/>
              <a:ext cx="1" cy="536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" name="Line 113"/>
            <p:cNvSpPr>
              <a:spLocks noChangeShapeType="1"/>
            </p:cNvSpPr>
            <p:nvPr/>
          </p:nvSpPr>
          <p:spPr bwMode="auto">
            <a:xfrm>
              <a:off x="4825" y="406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" name="Line 114"/>
            <p:cNvSpPr>
              <a:spLocks noChangeShapeType="1"/>
            </p:cNvSpPr>
            <p:nvPr/>
          </p:nvSpPr>
          <p:spPr bwMode="auto">
            <a:xfrm>
              <a:off x="4825" y="629"/>
              <a:ext cx="1" cy="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" name="Line 115"/>
            <p:cNvSpPr>
              <a:spLocks noChangeShapeType="1"/>
            </p:cNvSpPr>
            <p:nvPr/>
          </p:nvSpPr>
          <p:spPr bwMode="auto">
            <a:xfrm>
              <a:off x="4825" y="651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" name="Line 116"/>
            <p:cNvSpPr>
              <a:spLocks noChangeShapeType="1"/>
            </p:cNvSpPr>
            <p:nvPr/>
          </p:nvSpPr>
          <p:spPr bwMode="auto">
            <a:xfrm>
              <a:off x="4825" y="874"/>
              <a:ext cx="1" cy="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" name="Line 117"/>
            <p:cNvSpPr>
              <a:spLocks noChangeShapeType="1"/>
            </p:cNvSpPr>
            <p:nvPr/>
          </p:nvSpPr>
          <p:spPr bwMode="auto">
            <a:xfrm>
              <a:off x="4825" y="896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" name="Line 118"/>
            <p:cNvSpPr>
              <a:spLocks noChangeShapeType="1"/>
            </p:cNvSpPr>
            <p:nvPr/>
          </p:nvSpPr>
          <p:spPr bwMode="auto">
            <a:xfrm>
              <a:off x="4825" y="1118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" name="Line 119"/>
            <p:cNvSpPr>
              <a:spLocks noChangeShapeType="1"/>
            </p:cNvSpPr>
            <p:nvPr/>
          </p:nvSpPr>
          <p:spPr bwMode="auto">
            <a:xfrm>
              <a:off x="4825" y="1141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" name="Line 120"/>
            <p:cNvSpPr>
              <a:spLocks noChangeShapeType="1"/>
            </p:cNvSpPr>
            <p:nvPr/>
          </p:nvSpPr>
          <p:spPr bwMode="auto">
            <a:xfrm>
              <a:off x="4825" y="1363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" name="Line 121"/>
            <p:cNvSpPr>
              <a:spLocks noChangeShapeType="1"/>
            </p:cNvSpPr>
            <p:nvPr/>
          </p:nvSpPr>
          <p:spPr bwMode="auto">
            <a:xfrm>
              <a:off x="4825" y="1386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" name="Line 122"/>
            <p:cNvSpPr>
              <a:spLocks noChangeShapeType="1"/>
            </p:cNvSpPr>
            <p:nvPr/>
          </p:nvSpPr>
          <p:spPr bwMode="auto">
            <a:xfrm>
              <a:off x="4825" y="1608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" name="Line 123"/>
            <p:cNvSpPr>
              <a:spLocks noChangeShapeType="1"/>
            </p:cNvSpPr>
            <p:nvPr/>
          </p:nvSpPr>
          <p:spPr bwMode="auto">
            <a:xfrm>
              <a:off x="4569" y="1170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" name="Line 124"/>
            <p:cNvSpPr>
              <a:spLocks noChangeShapeType="1"/>
            </p:cNvSpPr>
            <p:nvPr/>
          </p:nvSpPr>
          <p:spPr bwMode="auto">
            <a:xfrm>
              <a:off x="4791" y="1170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" name="Line 125"/>
            <p:cNvSpPr>
              <a:spLocks noChangeShapeType="1"/>
            </p:cNvSpPr>
            <p:nvPr/>
          </p:nvSpPr>
          <p:spPr bwMode="auto">
            <a:xfrm>
              <a:off x="4814" y="1170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" name="Line 126"/>
            <p:cNvSpPr>
              <a:spLocks noChangeShapeType="1"/>
            </p:cNvSpPr>
            <p:nvPr/>
          </p:nvSpPr>
          <p:spPr bwMode="auto">
            <a:xfrm>
              <a:off x="5036" y="1170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" name="Line 127"/>
            <p:cNvSpPr>
              <a:spLocks noChangeShapeType="1"/>
            </p:cNvSpPr>
            <p:nvPr/>
          </p:nvSpPr>
          <p:spPr bwMode="auto">
            <a:xfrm>
              <a:off x="5059" y="1170"/>
              <a:ext cx="4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" name="Line 128"/>
            <p:cNvSpPr>
              <a:spLocks noChangeShapeType="1"/>
            </p:cNvSpPr>
            <p:nvPr/>
          </p:nvSpPr>
          <p:spPr bwMode="auto">
            <a:xfrm flipH="1">
              <a:off x="451" y="469"/>
              <a:ext cx="170" cy="239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" name="Line 129"/>
            <p:cNvSpPr>
              <a:spLocks noChangeShapeType="1"/>
            </p:cNvSpPr>
            <p:nvPr/>
          </p:nvSpPr>
          <p:spPr bwMode="auto">
            <a:xfrm>
              <a:off x="1635" y="469"/>
              <a:ext cx="171" cy="239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" name="Line 130"/>
            <p:cNvSpPr>
              <a:spLocks noChangeShapeType="1"/>
            </p:cNvSpPr>
            <p:nvPr/>
          </p:nvSpPr>
          <p:spPr bwMode="auto">
            <a:xfrm flipH="1">
              <a:off x="621" y="469"/>
              <a:ext cx="1014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" name="Freeform 131"/>
            <p:cNvSpPr>
              <a:spLocks noChangeArrowheads="1"/>
            </p:cNvSpPr>
            <p:nvPr/>
          </p:nvSpPr>
          <p:spPr bwMode="auto">
            <a:xfrm>
              <a:off x="451" y="1244"/>
              <a:ext cx="290" cy="290"/>
            </a:xfrm>
            <a:custGeom>
              <a:avLst/>
              <a:gdLst>
                <a:gd name="T0" fmla="*/ 0 w 51"/>
                <a:gd name="T1" fmla="*/ 0 h 51"/>
                <a:gd name="T2" fmla="*/ 1 w 51"/>
                <a:gd name="T3" fmla="*/ 10 h 51"/>
                <a:gd name="T4" fmla="*/ 4 w 51"/>
                <a:gd name="T5" fmla="*/ 19 h 51"/>
                <a:gd name="T6" fmla="*/ 9 w 51"/>
                <a:gd name="T7" fmla="*/ 28 h 51"/>
                <a:gd name="T8" fmla="*/ 15 w 51"/>
                <a:gd name="T9" fmla="*/ 36 h 51"/>
                <a:gd name="T10" fmla="*/ 23 w 51"/>
                <a:gd name="T11" fmla="*/ 42 h 51"/>
                <a:gd name="T12" fmla="*/ 31 w 51"/>
                <a:gd name="T13" fmla="*/ 47 h 51"/>
                <a:gd name="T14" fmla="*/ 41 w 51"/>
                <a:gd name="T15" fmla="*/ 50 h 51"/>
                <a:gd name="T16" fmla="*/ 51 w 51"/>
                <a:gd name="T1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51">
                  <a:moveTo>
                    <a:pt x="0" y="0"/>
                  </a:moveTo>
                  <a:lnTo>
                    <a:pt x="1" y="10"/>
                  </a:lnTo>
                  <a:lnTo>
                    <a:pt x="4" y="19"/>
                  </a:lnTo>
                  <a:lnTo>
                    <a:pt x="9" y="28"/>
                  </a:lnTo>
                  <a:lnTo>
                    <a:pt x="15" y="36"/>
                  </a:lnTo>
                  <a:lnTo>
                    <a:pt x="23" y="42"/>
                  </a:lnTo>
                  <a:lnTo>
                    <a:pt x="31" y="47"/>
                  </a:lnTo>
                  <a:lnTo>
                    <a:pt x="41" y="50"/>
                  </a:lnTo>
                  <a:lnTo>
                    <a:pt x="51" y="51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2" name="Line 132"/>
            <p:cNvSpPr>
              <a:spLocks noChangeShapeType="1"/>
            </p:cNvSpPr>
            <p:nvPr/>
          </p:nvSpPr>
          <p:spPr bwMode="auto">
            <a:xfrm>
              <a:off x="741" y="1534"/>
              <a:ext cx="775" cy="1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" name="Line 133"/>
            <p:cNvSpPr>
              <a:spLocks noChangeShapeType="1"/>
            </p:cNvSpPr>
            <p:nvPr/>
          </p:nvSpPr>
          <p:spPr bwMode="auto">
            <a:xfrm flipV="1">
              <a:off x="1806" y="708"/>
              <a:ext cx="1" cy="536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" name="Freeform 134"/>
            <p:cNvSpPr>
              <a:spLocks noChangeArrowheads="1"/>
            </p:cNvSpPr>
            <p:nvPr/>
          </p:nvSpPr>
          <p:spPr bwMode="auto">
            <a:xfrm>
              <a:off x="1516" y="1244"/>
              <a:ext cx="290" cy="290"/>
            </a:xfrm>
            <a:custGeom>
              <a:avLst/>
              <a:gdLst>
                <a:gd name="T0" fmla="*/ 0 w 51"/>
                <a:gd name="T1" fmla="*/ 51 h 51"/>
                <a:gd name="T2" fmla="*/ 10 w 51"/>
                <a:gd name="T3" fmla="*/ 50 h 51"/>
                <a:gd name="T4" fmla="*/ 19 w 51"/>
                <a:gd name="T5" fmla="*/ 47 h 51"/>
                <a:gd name="T6" fmla="*/ 28 w 51"/>
                <a:gd name="T7" fmla="*/ 42 h 51"/>
                <a:gd name="T8" fmla="*/ 36 w 51"/>
                <a:gd name="T9" fmla="*/ 36 h 51"/>
                <a:gd name="T10" fmla="*/ 42 w 51"/>
                <a:gd name="T11" fmla="*/ 28 h 51"/>
                <a:gd name="T12" fmla="*/ 47 w 51"/>
                <a:gd name="T13" fmla="*/ 19 h 51"/>
                <a:gd name="T14" fmla="*/ 50 w 51"/>
                <a:gd name="T15" fmla="*/ 10 h 51"/>
                <a:gd name="T16" fmla="*/ 51 w 51"/>
                <a:gd name="T1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51">
                  <a:moveTo>
                    <a:pt x="0" y="51"/>
                  </a:moveTo>
                  <a:lnTo>
                    <a:pt x="10" y="50"/>
                  </a:lnTo>
                  <a:lnTo>
                    <a:pt x="19" y="47"/>
                  </a:lnTo>
                  <a:lnTo>
                    <a:pt x="28" y="42"/>
                  </a:lnTo>
                  <a:lnTo>
                    <a:pt x="36" y="36"/>
                  </a:lnTo>
                  <a:lnTo>
                    <a:pt x="42" y="28"/>
                  </a:lnTo>
                  <a:lnTo>
                    <a:pt x="47" y="19"/>
                  </a:lnTo>
                  <a:lnTo>
                    <a:pt x="50" y="10"/>
                  </a:lnTo>
                  <a:lnTo>
                    <a:pt x="51" y="0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5" name="Line 135"/>
            <p:cNvSpPr>
              <a:spLocks noChangeShapeType="1"/>
            </p:cNvSpPr>
            <p:nvPr/>
          </p:nvSpPr>
          <p:spPr bwMode="auto">
            <a:xfrm flipH="1">
              <a:off x="1430" y="1534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" name="Line 136"/>
            <p:cNvSpPr>
              <a:spLocks noChangeShapeType="1"/>
            </p:cNvSpPr>
            <p:nvPr/>
          </p:nvSpPr>
          <p:spPr bwMode="auto">
            <a:xfrm flipH="1">
              <a:off x="1316" y="1534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" name="Line 137"/>
            <p:cNvSpPr>
              <a:spLocks noChangeShapeType="1"/>
            </p:cNvSpPr>
            <p:nvPr/>
          </p:nvSpPr>
          <p:spPr bwMode="auto">
            <a:xfrm flipH="1">
              <a:off x="1203" y="1534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" name="Line 138"/>
            <p:cNvSpPr>
              <a:spLocks noChangeShapeType="1"/>
            </p:cNvSpPr>
            <p:nvPr/>
          </p:nvSpPr>
          <p:spPr bwMode="auto">
            <a:xfrm flipH="1">
              <a:off x="1089" y="1534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" name="Line 139"/>
            <p:cNvSpPr>
              <a:spLocks noChangeShapeType="1"/>
            </p:cNvSpPr>
            <p:nvPr/>
          </p:nvSpPr>
          <p:spPr bwMode="auto">
            <a:xfrm flipH="1">
              <a:off x="975" y="1534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" name="Line 140"/>
            <p:cNvSpPr>
              <a:spLocks noChangeShapeType="1"/>
            </p:cNvSpPr>
            <p:nvPr/>
          </p:nvSpPr>
          <p:spPr bwMode="auto">
            <a:xfrm flipH="1">
              <a:off x="861" y="1534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" name="Line 141"/>
            <p:cNvSpPr>
              <a:spLocks noChangeShapeType="1"/>
            </p:cNvSpPr>
            <p:nvPr/>
          </p:nvSpPr>
          <p:spPr bwMode="auto">
            <a:xfrm flipH="1">
              <a:off x="747" y="1534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" name="Line 142"/>
            <p:cNvSpPr>
              <a:spLocks noChangeShapeType="1"/>
            </p:cNvSpPr>
            <p:nvPr/>
          </p:nvSpPr>
          <p:spPr bwMode="auto">
            <a:xfrm>
              <a:off x="621" y="469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" name="Line 143"/>
            <p:cNvSpPr>
              <a:spLocks noChangeShapeType="1"/>
            </p:cNvSpPr>
            <p:nvPr/>
          </p:nvSpPr>
          <p:spPr bwMode="auto">
            <a:xfrm>
              <a:off x="735" y="469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" name="Line 144"/>
            <p:cNvSpPr>
              <a:spLocks noChangeShapeType="1"/>
            </p:cNvSpPr>
            <p:nvPr/>
          </p:nvSpPr>
          <p:spPr bwMode="auto">
            <a:xfrm>
              <a:off x="849" y="469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" name="Line 145"/>
            <p:cNvSpPr>
              <a:spLocks noChangeShapeType="1"/>
            </p:cNvSpPr>
            <p:nvPr/>
          </p:nvSpPr>
          <p:spPr bwMode="auto">
            <a:xfrm>
              <a:off x="963" y="469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" name="Line 146"/>
            <p:cNvSpPr>
              <a:spLocks noChangeShapeType="1"/>
            </p:cNvSpPr>
            <p:nvPr/>
          </p:nvSpPr>
          <p:spPr bwMode="auto">
            <a:xfrm>
              <a:off x="1077" y="469"/>
              <a:ext cx="5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" name="Line 147"/>
            <p:cNvSpPr>
              <a:spLocks noChangeShapeType="1"/>
            </p:cNvSpPr>
            <p:nvPr/>
          </p:nvSpPr>
          <p:spPr bwMode="auto">
            <a:xfrm>
              <a:off x="451" y="708"/>
              <a:ext cx="1" cy="536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" name="Line 148"/>
            <p:cNvSpPr>
              <a:spLocks noChangeShapeType="1"/>
            </p:cNvSpPr>
            <p:nvPr/>
          </p:nvSpPr>
          <p:spPr bwMode="auto">
            <a:xfrm>
              <a:off x="1128" y="406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" name="Line 149"/>
            <p:cNvSpPr>
              <a:spLocks noChangeShapeType="1"/>
            </p:cNvSpPr>
            <p:nvPr/>
          </p:nvSpPr>
          <p:spPr bwMode="auto">
            <a:xfrm>
              <a:off x="1128" y="629"/>
              <a:ext cx="1" cy="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0" name="Line 150"/>
            <p:cNvSpPr>
              <a:spLocks noChangeShapeType="1"/>
            </p:cNvSpPr>
            <p:nvPr/>
          </p:nvSpPr>
          <p:spPr bwMode="auto">
            <a:xfrm>
              <a:off x="1128" y="651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" name="Line 151"/>
            <p:cNvSpPr>
              <a:spLocks noChangeShapeType="1"/>
            </p:cNvSpPr>
            <p:nvPr/>
          </p:nvSpPr>
          <p:spPr bwMode="auto">
            <a:xfrm>
              <a:off x="1128" y="874"/>
              <a:ext cx="1" cy="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" name="Line 152"/>
            <p:cNvSpPr>
              <a:spLocks noChangeShapeType="1"/>
            </p:cNvSpPr>
            <p:nvPr/>
          </p:nvSpPr>
          <p:spPr bwMode="auto">
            <a:xfrm>
              <a:off x="1128" y="896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" name="Line 153"/>
            <p:cNvSpPr>
              <a:spLocks noChangeShapeType="1"/>
            </p:cNvSpPr>
            <p:nvPr/>
          </p:nvSpPr>
          <p:spPr bwMode="auto">
            <a:xfrm>
              <a:off x="1128" y="1118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" name="Line 154"/>
            <p:cNvSpPr>
              <a:spLocks noChangeShapeType="1"/>
            </p:cNvSpPr>
            <p:nvPr/>
          </p:nvSpPr>
          <p:spPr bwMode="auto">
            <a:xfrm>
              <a:off x="1128" y="1141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" name="Line 155"/>
            <p:cNvSpPr>
              <a:spLocks noChangeShapeType="1"/>
            </p:cNvSpPr>
            <p:nvPr/>
          </p:nvSpPr>
          <p:spPr bwMode="auto">
            <a:xfrm>
              <a:off x="1128" y="1363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" name="Line 156"/>
            <p:cNvSpPr>
              <a:spLocks noChangeShapeType="1"/>
            </p:cNvSpPr>
            <p:nvPr/>
          </p:nvSpPr>
          <p:spPr bwMode="auto">
            <a:xfrm>
              <a:off x="1128" y="1386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" name="Line 157"/>
            <p:cNvSpPr>
              <a:spLocks noChangeShapeType="1"/>
            </p:cNvSpPr>
            <p:nvPr/>
          </p:nvSpPr>
          <p:spPr bwMode="auto">
            <a:xfrm>
              <a:off x="1128" y="1608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" name="Line 158"/>
            <p:cNvSpPr>
              <a:spLocks noChangeShapeType="1"/>
            </p:cNvSpPr>
            <p:nvPr/>
          </p:nvSpPr>
          <p:spPr bwMode="auto">
            <a:xfrm>
              <a:off x="1259" y="1244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9" name="Line 159"/>
            <p:cNvSpPr>
              <a:spLocks noChangeShapeType="1"/>
            </p:cNvSpPr>
            <p:nvPr/>
          </p:nvSpPr>
          <p:spPr bwMode="auto">
            <a:xfrm>
              <a:off x="1482" y="1244"/>
              <a:ext cx="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" name="Line 160"/>
            <p:cNvSpPr>
              <a:spLocks noChangeShapeType="1"/>
            </p:cNvSpPr>
            <p:nvPr/>
          </p:nvSpPr>
          <p:spPr bwMode="auto">
            <a:xfrm>
              <a:off x="1504" y="1244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" name="Line 161"/>
            <p:cNvSpPr>
              <a:spLocks noChangeShapeType="1"/>
            </p:cNvSpPr>
            <p:nvPr/>
          </p:nvSpPr>
          <p:spPr bwMode="auto">
            <a:xfrm>
              <a:off x="1727" y="1244"/>
              <a:ext cx="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2" name="Line 162"/>
            <p:cNvSpPr>
              <a:spLocks noChangeShapeType="1"/>
            </p:cNvSpPr>
            <p:nvPr/>
          </p:nvSpPr>
          <p:spPr bwMode="auto">
            <a:xfrm>
              <a:off x="1749" y="1244"/>
              <a:ext cx="13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" name="Line 163"/>
            <p:cNvSpPr>
              <a:spLocks noChangeShapeType="1"/>
            </p:cNvSpPr>
            <p:nvPr/>
          </p:nvSpPr>
          <p:spPr bwMode="auto">
            <a:xfrm flipV="1">
              <a:off x="1516" y="1415"/>
              <a:ext cx="1" cy="2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" name="Line 164"/>
            <p:cNvSpPr>
              <a:spLocks noChangeShapeType="1"/>
            </p:cNvSpPr>
            <p:nvPr/>
          </p:nvSpPr>
          <p:spPr bwMode="auto">
            <a:xfrm flipV="1">
              <a:off x="1516" y="1392"/>
              <a:ext cx="1" cy="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" name="Line 165"/>
            <p:cNvSpPr>
              <a:spLocks noChangeShapeType="1"/>
            </p:cNvSpPr>
            <p:nvPr/>
          </p:nvSpPr>
          <p:spPr bwMode="auto">
            <a:xfrm flipV="1">
              <a:off x="1516" y="1170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" name="Line 166"/>
            <p:cNvSpPr>
              <a:spLocks noChangeShapeType="1"/>
            </p:cNvSpPr>
            <p:nvPr/>
          </p:nvSpPr>
          <p:spPr bwMode="auto">
            <a:xfrm flipV="1">
              <a:off x="1516" y="1147"/>
              <a:ext cx="1" cy="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" name="Line 167"/>
            <p:cNvSpPr>
              <a:spLocks noChangeShapeType="1"/>
            </p:cNvSpPr>
            <p:nvPr/>
          </p:nvSpPr>
          <p:spPr bwMode="auto">
            <a:xfrm flipV="1">
              <a:off x="1516" y="993"/>
              <a:ext cx="1" cy="1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" name="Line 168"/>
            <p:cNvSpPr>
              <a:spLocks noChangeShapeType="1"/>
            </p:cNvSpPr>
            <p:nvPr/>
          </p:nvSpPr>
          <p:spPr bwMode="auto">
            <a:xfrm flipV="1">
              <a:off x="741" y="1415"/>
              <a:ext cx="1" cy="2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" name="Line 169"/>
            <p:cNvSpPr>
              <a:spLocks noChangeShapeType="1"/>
            </p:cNvSpPr>
            <p:nvPr/>
          </p:nvSpPr>
          <p:spPr bwMode="auto">
            <a:xfrm flipV="1">
              <a:off x="741" y="1392"/>
              <a:ext cx="1" cy="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" name="Line 170"/>
            <p:cNvSpPr>
              <a:spLocks noChangeShapeType="1"/>
            </p:cNvSpPr>
            <p:nvPr/>
          </p:nvSpPr>
          <p:spPr bwMode="auto">
            <a:xfrm flipV="1">
              <a:off x="741" y="1170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1" name="Line 171"/>
            <p:cNvSpPr>
              <a:spLocks noChangeShapeType="1"/>
            </p:cNvSpPr>
            <p:nvPr/>
          </p:nvSpPr>
          <p:spPr bwMode="auto">
            <a:xfrm flipV="1">
              <a:off x="741" y="1147"/>
              <a:ext cx="1" cy="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2" name="Line 172"/>
            <p:cNvSpPr>
              <a:spLocks noChangeShapeType="1"/>
            </p:cNvSpPr>
            <p:nvPr/>
          </p:nvSpPr>
          <p:spPr bwMode="auto">
            <a:xfrm flipV="1">
              <a:off x="741" y="993"/>
              <a:ext cx="1" cy="1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3" name="Line 173"/>
            <p:cNvSpPr>
              <a:spLocks noChangeShapeType="1"/>
            </p:cNvSpPr>
            <p:nvPr/>
          </p:nvSpPr>
          <p:spPr bwMode="auto">
            <a:xfrm>
              <a:off x="399" y="1244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" name="Line 174"/>
            <p:cNvSpPr>
              <a:spLocks noChangeShapeType="1"/>
            </p:cNvSpPr>
            <p:nvPr/>
          </p:nvSpPr>
          <p:spPr bwMode="auto">
            <a:xfrm>
              <a:off x="621" y="1244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" name="Line 175"/>
            <p:cNvSpPr>
              <a:spLocks noChangeShapeType="1"/>
            </p:cNvSpPr>
            <p:nvPr/>
          </p:nvSpPr>
          <p:spPr bwMode="auto">
            <a:xfrm>
              <a:off x="644" y="1244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6" name="Line 176"/>
            <p:cNvSpPr>
              <a:spLocks noChangeShapeType="1"/>
            </p:cNvSpPr>
            <p:nvPr/>
          </p:nvSpPr>
          <p:spPr bwMode="auto">
            <a:xfrm>
              <a:off x="866" y="1244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7" name="Line 177"/>
            <p:cNvSpPr>
              <a:spLocks noChangeShapeType="1"/>
            </p:cNvSpPr>
            <p:nvPr/>
          </p:nvSpPr>
          <p:spPr bwMode="auto">
            <a:xfrm>
              <a:off x="889" y="1244"/>
              <a:ext cx="12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8" name="Freeform 178"/>
            <p:cNvSpPr>
              <a:spLocks noChangeArrowheads="1"/>
            </p:cNvSpPr>
            <p:nvPr/>
          </p:nvSpPr>
          <p:spPr bwMode="auto">
            <a:xfrm>
              <a:off x="639" y="788"/>
              <a:ext cx="125" cy="182"/>
            </a:xfrm>
            <a:custGeom>
              <a:avLst/>
              <a:gdLst>
                <a:gd name="T0" fmla="*/ 0 w 22"/>
                <a:gd name="T1" fmla="*/ 32 h 32"/>
                <a:gd name="T2" fmla="*/ 7 w 22"/>
                <a:gd name="T3" fmla="*/ 28 h 32"/>
                <a:gd name="T4" fmla="*/ 14 w 22"/>
                <a:gd name="T5" fmla="*/ 23 h 32"/>
                <a:gd name="T6" fmla="*/ 18 w 22"/>
                <a:gd name="T7" fmla="*/ 16 h 32"/>
                <a:gd name="T8" fmla="*/ 21 w 22"/>
                <a:gd name="T9" fmla="*/ 8 h 32"/>
                <a:gd name="T10" fmla="*/ 22 w 22"/>
                <a:gd name="T1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32">
                  <a:moveTo>
                    <a:pt x="0" y="32"/>
                  </a:moveTo>
                  <a:lnTo>
                    <a:pt x="7" y="28"/>
                  </a:lnTo>
                  <a:lnTo>
                    <a:pt x="14" y="23"/>
                  </a:lnTo>
                  <a:lnTo>
                    <a:pt x="18" y="16"/>
                  </a:lnTo>
                  <a:lnTo>
                    <a:pt x="21" y="8"/>
                  </a:lnTo>
                  <a:lnTo>
                    <a:pt x="22" y="0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9" name="Line 179"/>
            <p:cNvSpPr>
              <a:spLocks noChangeShapeType="1"/>
            </p:cNvSpPr>
            <p:nvPr/>
          </p:nvSpPr>
          <p:spPr bwMode="auto">
            <a:xfrm>
              <a:off x="764" y="469"/>
              <a:ext cx="1" cy="336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0" name="Freeform 180"/>
            <p:cNvSpPr>
              <a:spLocks noChangeArrowheads="1"/>
            </p:cNvSpPr>
            <p:nvPr/>
          </p:nvSpPr>
          <p:spPr bwMode="auto">
            <a:xfrm>
              <a:off x="451" y="970"/>
              <a:ext cx="290" cy="564"/>
            </a:xfrm>
            <a:custGeom>
              <a:avLst/>
              <a:gdLst>
                <a:gd name="T0" fmla="*/ 33 w 51"/>
                <a:gd name="T1" fmla="*/ 0 h 99"/>
                <a:gd name="T2" fmla="*/ 25 w 51"/>
                <a:gd name="T3" fmla="*/ 4 h 99"/>
                <a:gd name="T4" fmla="*/ 17 w 51"/>
                <a:gd name="T5" fmla="*/ 10 h 99"/>
                <a:gd name="T6" fmla="*/ 11 w 51"/>
                <a:gd name="T7" fmla="*/ 17 h 99"/>
                <a:gd name="T8" fmla="*/ 6 w 51"/>
                <a:gd name="T9" fmla="*/ 25 h 99"/>
                <a:gd name="T10" fmla="*/ 2 w 51"/>
                <a:gd name="T11" fmla="*/ 33 h 99"/>
                <a:gd name="T12" fmla="*/ 0 w 51"/>
                <a:gd name="T13" fmla="*/ 43 h 99"/>
                <a:gd name="T14" fmla="*/ 0 w 51"/>
                <a:gd name="T15" fmla="*/ 52 h 99"/>
                <a:gd name="T16" fmla="*/ 2 w 51"/>
                <a:gd name="T17" fmla="*/ 61 h 99"/>
                <a:gd name="T18" fmla="*/ 5 w 51"/>
                <a:gd name="T19" fmla="*/ 70 h 99"/>
                <a:gd name="T20" fmla="*/ 10 w 51"/>
                <a:gd name="T21" fmla="*/ 78 h 99"/>
                <a:gd name="T22" fmla="*/ 17 w 51"/>
                <a:gd name="T23" fmla="*/ 85 h 99"/>
                <a:gd name="T24" fmla="*/ 24 w 51"/>
                <a:gd name="T25" fmla="*/ 91 h 99"/>
                <a:gd name="T26" fmla="*/ 33 w 51"/>
                <a:gd name="T27" fmla="*/ 95 h 99"/>
                <a:gd name="T28" fmla="*/ 42 w 51"/>
                <a:gd name="T29" fmla="*/ 98 h 99"/>
                <a:gd name="T30" fmla="*/ 51 w 51"/>
                <a:gd name="T31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1" h="99">
                  <a:moveTo>
                    <a:pt x="33" y="0"/>
                  </a:moveTo>
                  <a:lnTo>
                    <a:pt x="25" y="4"/>
                  </a:lnTo>
                  <a:lnTo>
                    <a:pt x="17" y="10"/>
                  </a:lnTo>
                  <a:lnTo>
                    <a:pt x="11" y="17"/>
                  </a:lnTo>
                  <a:lnTo>
                    <a:pt x="6" y="25"/>
                  </a:lnTo>
                  <a:lnTo>
                    <a:pt x="2" y="33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1"/>
                  </a:lnTo>
                  <a:lnTo>
                    <a:pt x="5" y="70"/>
                  </a:lnTo>
                  <a:lnTo>
                    <a:pt x="10" y="78"/>
                  </a:lnTo>
                  <a:lnTo>
                    <a:pt x="17" y="85"/>
                  </a:lnTo>
                  <a:lnTo>
                    <a:pt x="24" y="91"/>
                  </a:lnTo>
                  <a:lnTo>
                    <a:pt x="33" y="95"/>
                  </a:lnTo>
                  <a:lnTo>
                    <a:pt x="42" y="98"/>
                  </a:lnTo>
                  <a:lnTo>
                    <a:pt x="51" y="99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1" name="Oval 181"/>
            <p:cNvSpPr>
              <a:spLocks noChangeArrowheads="1"/>
            </p:cNvSpPr>
            <p:nvPr/>
          </p:nvSpPr>
          <p:spPr bwMode="auto">
            <a:xfrm>
              <a:off x="547" y="1050"/>
              <a:ext cx="388" cy="387"/>
            </a:xfrm>
            <a:prstGeom prst="ellips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2" name="Oval 182"/>
            <p:cNvSpPr>
              <a:spLocks noChangeArrowheads="1"/>
            </p:cNvSpPr>
            <p:nvPr/>
          </p:nvSpPr>
          <p:spPr bwMode="auto">
            <a:xfrm>
              <a:off x="644" y="1147"/>
              <a:ext cx="194" cy="194"/>
            </a:xfrm>
            <a:prstGeom prst="ellips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3" name="Oval 183"/>
            <p:cNvSpPr>
              <a:spLocks noChangeArrowheads="1"/>
            </p:cNvSpPr>
            <p:nvPr/>
          </p:nvSpPr>
          <p:spPr bwMode="auto">
            <a:xfrm>
              <a:off x="1322" y="1050"/>
              <a:ext cx="387" cy="387"/>
            </a:xfrm>
            <a:prstGeom prst="ellips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4" name="Oval 184"/>
            <p:cNvSpPr>
              <a:spLocks noChangeArrowheads="1"/>
            </p:cNvSpPr>
            <p:nvPr/>
          </p:nvSpPr>
          <p:spPr bwMode="auto">
            <a:xfrm>
              <a:off x="1419" y="1147"/>
              <a:ext cx="194" cy="194"/>
            </a:xfrm>
            <a:prstGeom prst="ellips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5" name="Freeform 185"/>
            <p:cNvSpPr>
              <a:spLocks noChangeArrowheads="1"/>
            </p:cNvSpPr>
            <p:nvPr/>
          </p:nvSpPr>
          <p:spPr bwMode="auto">
            <a:xfrm>
              <a:off x="1516" y="970"/>
              <a:ext cx="285" cy="564"/>
            </a:xfrm>
            <a:custGeom>
              <a:avLst/>
              <a:gdLst>
                <a:gd name="T0" fmla="*/ 0 w 50"/>
                <a:gd name="T1" fmla="*/ 99 h 99"/>
                <a:gd name="T2" fmla="*/ 9 w 50"/>
                <a:gd name="T3" fmla="*/ 98 h 99"/>
                <a:gd name="T4" fmla="*/ 18 w 50"/>
                <a:gd name="T5" fmla="*/ 95 h 99"/>
                <a:gd name="T6" fmla="*/ 27 w 50"/>
                <a:gd name="T7" fmla="*/ 91 h 99"/>
                <a:gd name="T8" fmla="*/ 34 w 50"/>
                <a:gd name="T9" fmla="*/ 85 h 99"/>
                <a:gd name="T10" fmla="*/ 40 w 50"/>
                <a:gd name="T11" fmla="*/ 78 h 99"/>
                <a:gd name="T12" fmla="*/ 45 w 50"/>
                <a:gd name="T13" fmla="*/ 70 h 99"/>
                <a:gd name="T14" fmla="*/ 49 w 50"/>
                <a:gd name="T15" fmla="*/ 61 h 99"/>
                <a:gd name="T16" fmla="*/ 50 w 50"/>
                <a:gd name="T17" fmla="*/ 52 h 99"/>
                <a:gd name="T18" fmla="*/ 50 w 50"/>
                <a:gd name="T19" fmla="*/ 43 h 99"/>
                <a:gd name="T20" fmla="*/ 49 w 50"/>
                <a:gd name="T21" fmla="*/ 33 h 99"/>
                <a:gd name="T22" fmla="*/ 45 w 50"/>
                <a:gd name="T23" fmla="*/ 25 h 99"/>
                <a:gd name="T24" fmla="*/ 40 w 50"/>
                <a:gd name="T25" fmla="*/ 17 h 99"/>
                <a:gd name="T26" fmla="*/ 34 w 50"/>
                <a:gd name="T27" fmla="*/ 10 h 99"/>
                <a:gd name="T28" fmla="*/ 26 w 50"/>
                <a:gd name="T29" fmla="*/ 4 h 99"/>
                <a:gd name="T30" fmla="*/ 17 w 50"/>
                <a:gd name="T31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99">
                  <a:moveTo>
                    <a:pt x="0" y="99"/>
                  </a:moveTo>
                  <a:lnTo>
                    <a:pt x="9" y="98"/>
                  </a:lnTo>
                  <a:lnTo>
                    <a:pt x="18" y="95"/>
                  </a:lnTo>
                  <a:lnTo>
                    <a:pt x="27" y="91"/>
                  </a:lnTo>
                  <a:lnTo>
                    <a:pt x="34" y="85"/>
                  </a:lnTo>
                  <a:lnTo>
                    <a:pt x="40" y="78"/>
                  </a:lnTo>
                  <a:lnTo>
                    <a:pt x="45" y="70"/>
                  </a:lnTo>
                  <a:lnTo>
                    <a:pt x="49" y="61"/>
                  </a:lnTo>
                  <a:lnTo>
                    <a:pt x="50" y="52"/>
                  </a:lnTo>
                  <a:lnTo>
                    <a:pt x="50" y="43"/>
                  </a:lnTo>
                  <a:lnTo>
                    <a:pt x="49" y="33"/>
                  </a:lnTo>
                  <a:lnTo>
                    <a:pt x="45" y="25"/>
                  </a:lnTo>
                  <a:lnTo>
                    <a:pt x="40" y="17"/>
                  </a:lnTo>
                  <a:lnTo>
                    <a:pt x="34" y="10"/>
                  </a:lnTo>
                  <a:lnTo>
                    <a:pt x="26" y="4"/>
                  </a:lnTo>
                  <a:lnTo>
                    <a:pt x="17" y="0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6" name="Freeform 186"/>
            <p:cNvSpPr>
              <a:spLocks noChangeArrowheads="1"/>
            </p:cNvSpPr>
            <p:nvPr/>
          </p:nvSpPr>
          <p:spPr bwMode="auto">
            <a:xfrm>
              <a:off x="1487" y="788"/>
              <a:ext cx="126" cy="182"/>
            </a:xfrm>
            <a:custGeom>
              <a:avLst/>
              <a:gdLst>
                <a:gd name="T0" fmla="*/ 0 w 22"/>
                <a:gd name="T1" fmla="*/ 0 h 32"/>
                <a:gd name="T2" fmla="*/ 1 w 22"/>
                <a:gd name="T3" fmla="*/ 8 h 32"/>
                <a:gd name="T4" fmla="*/ 4 w 22"/>
                <a:gd name="T5" fmla="*/ 16 h 32"/>
                <a:gd name="T6" fmla="*/ 9 w 22"/>
                <a:gd name="T7" fmla="*/ 23 h 32"/>
                <a:gd name="T8" fmla="*/ 15 w 22"/>
                <a:gd name="T9" fmla="*/ 28 h 32"/>
                <a:gd name="T10" fmla="*/ 22 w 22"/>
                <a:gd name="T11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lnTo>
                    <a:pt x="1" y="8"/>
                  </a:lnTo>
                  <a:lnTo>
                    <a:pt x="4" y="16"/>
                  </a:lnTo>
                  <a:lnTo>
                    <a:pt x="9" y="23"/>
                  </a:lnTo>
                  <a:lnTo>
                    <a:pt x="15" y="28"/>
                  </a:lnTo>
                  <a:lnTo>
                    <a:pt x="22" y="32"/>
                  </a:lnTo>
                </a:path>
              </a:pathLst>
            </a:cu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7" name="Line 187"/>
            <p:cNvSpPr>
              <a:spLocks noChangeShapeType="1"/>
            </p:cNvSpPr>
            <p:nvPr/>
          </p:nvSpPr>
          <p:spPr bwMode="auto">
            <a:xfrm>
              <a:off x="1487" y="469"/>
              <a:ext cx="1" cy="319"/>
            </a:xfrm>
            <a:prstGeom prst="line">
              <a:avLst/>
            </a:prstGeom>
            <a:noFill/>
            <a:ln w="269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8" name="Line 188"/>
            <p:cNvSpPr>
              <a:spLocks noChangeShapeType="1"/>
            </p:cNvSpPr>
            <p:nvPr/>
          </p:nvSpPr>
          <p:spPr bwMode="auto">
            <a:xfrm>
              <a:off x="4239" y="1244"/>
              <a:ext cx="21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" name="Line 189"/>
            <p:cNvSpPr>
              <a:spLocks noChangeShapeType="1"/>
            </p:cNvSpPr>
            <p:nvPr/>
          </p:nvSpPr>
          <p:spPr bwMode="auto">
            <a:xfrm>
              <a:off x="4461" y="1244"/>
              <a:ext cx="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0" name="Line 190"/>
            <p:cNvSpPr>
              <a:spLocks noChangeShapeType="1"/>
            </p:cNvSpPr>
            <p:nvPr/>
          </p:nvSpPr>
          <p:spPr bwMode="auto">
            <a:xfrm>
              <a:off x="4484" y="1244"/>
              <a:ext cx="79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" name="Line 191"/>
            <p:cNvSpPr>
              <a:spLocks noChangeShapeType="1"/>
            </p:cNvSpPr>
            <p:nvPr/>
          </p:nvSpPr>
          <p:spPr bwMode="auto">
            <a:xfrm flipV="1">
              <a:off x="4438" y="1204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2" name="Line 192"/>
            <p:cNvSpPr>
              <a:spLocks noChangeShapeType="1"/>
            </p:cNvSpPr>
            <p:nvPr/>
          </p:nvSpPr>
          <p:spPr bwMode="auto">
            <a:xfrm flipV="1">
              <a:off x="4438" y="1181"/>
              <a:ext cx="1" cy="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3" name="Line 193"/>
            <p:cNvSpPr>
              <a:spLocks noChangeShapeType="1"/>
            </p:cNvSpPr>
            <p:nvPr/>
          </p:nvSpPr>
          <p:spPr bwMode="auto">
            <a:xfrm flipV="1">
              <a:off x="4438" y="1067"/>
              <a:ext cx="1" cy="10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" name="Line 194"/>
            <p:cNvSpPr>
              <a:spLocks noChangeShapeType="1"/>
            </p:cNvSpPr>
            <p:nvPr/>
          </p:nvSpPr>
          <p:spPr bwMode="auto">
            <a:xfrm flipV="1">
              <a:off x="5213" y="1210"/>
              <a:ext cx="1" cy="2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" name="Line 195"/>
            <p:cNvSpPr>
              <a:spLocks noChangeShapeType="1"/>
            </p:cNvSpPr>
            <p:nvPr/>
          </p:nvSpPr>
          <p:spPr bwMode="auto">
            <a:xfrm flipV="1">
              <a:off x="5213" y="1187"/>
              <a:ext cx="1" cy="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" name="Line 196"/>
            <p:cNvSpPr>
              <a:spLocks noChangeShapeType="1"/>
            </p:cNvSpPr>
            <p:nvPr/>
          </p:nvSpPr>
          <p:spPr bwMode="auto">
            <a:xfrm flipV="1">
              <a:off x="5213" y="1067"/>
              <a:ext cx="1" cy="10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7" name="Line 197"/>
            <p:cNvSpPr>
              <a:spLocks noChangeShapeType="1"/>
            </p:cNvSpPr>
            <p:nvPr/>
          </p:nvSpPr>
          <p:spPr bwMode="auto">
            <a:xfrm>
              <a:off x="5087" y="1244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" name="Line 198"/>
            <p:cNvSpPr>
              <a:spLocks noChangeShapeType="1"/>
            </p:cNvSpPr>
            <p:nvPr/>
          </p:nvSpPr>
          <p:spPr bwMode="auto">
            <a:xfrm>
              <a:off x="5310" y="1244"/>
              <a:ext cx="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" name="Line 199"/>
            <p:cNvSpPr>
              <a:spLocks noChangeShapeType="1"/>
            </p:cNvSpPr>
            <p:nvPr/>
          </p:nvSpPr>
          <p:spPr bwMode="auto">
            <a:xfrm>
              <a:off x="5332" y="1244"/>
              <a:ext cx="74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0" name="Line 200"/>
            <p:cNvSpPr>
              <a:spLocks noChangeShapeType="1"/>
            </p:cNvSpPr>
            <p:nvPr/>
          </p:nvSpPr>
          <p:spPr bwMode="auto">
            <a:xfrm>
              <a:off x="4649" y="406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1" name="Line 201"/>
            <p:cNvSpPr>
              <a:spLocks noChangeShapeType="1"/>
            </p:cNvSpPr>
            <p:nvPr/>
          </p:nvSpPr>
          <p:spPr bwMode="auto">
            <a:xfrm>
              <a:off x="4649" y="629"/>
              <a:ext cx="1" cy="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2" name="Line 202"/>
            <p:cNvSpPr>
              <a:spLocks noChangeShapeType="1"/>
            </p:cNvSpPr>
            <p:nvPr/>
          </p:nvSpPr>
          <p:spPr bwMode="auto">
            <a:xfrm>
              <a:off x="5008" y="406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3" name="Line 203"/>
            <p:cNvSpPr>
              <a:spLocks noChangeShapeType="1"/>
            </p:cNvSpPr>
            <p:nvPr/>
          </p:nvSpPr>
          <p:spPr bwMode="auto">
            <a:xfrm>
              <a:off x="5008" y="629"/>
              <a:ext cx="1" cy="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" name="Line 204"/>
            <p:cNvSpPr>
              <a:spLocks noChangeShapeType="1"/>
            </p:cNvSpPr>
            <p:nvPr/>
          </p:nvSpPr>
          <p:spPr bwMode="auto">
            <a:xfrm flipH="1">
              <a:off x="3458" y="1244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" name="Line 205"/>
            <p:cNvSpPr>
              <a:spLocks noChangeShapeType="1"/>
            </p:cNvSpPr>
            <p:nvPr/>
          </p:nvSpPr>
          <p:spPr bwMode="auto">
            <a:xfrm flipH="1">
              <a:off x="3435" y="1244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" name="Line 206"/>
            <p:cNvSpPr>
              <a:spLocks noChangeShapeType="1"/>
            </p:cNvSpPr>
            <p:nvPr/>
          </p:nvSpPr>
          <p:spPr bwMode="auto">
            <a:xfrm flipH="1">
              <a:off x="3401" y="1244"/>
              <a:ext cx="23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" name="Line 207"/>
            <p:cNvSpPr>
              <a:spLocks noChangeShapeType="1"/>
            </p:cNvSpPr>
            <p:nvPr/>
          </p:nvSpPr>
          <p:spPr bwMode="auto">
            <a:xfrm>
              <a:off x="3384" y="2355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8" name="Line 208"/>
            <p:cNvSpPr>
              <a:spLocks noChangeShapeType="1"/>
            </p:cNvSpPr>
            <p:nvPr/>
          </p:nvSpPr>
          <p:spPr bwMode="auto">
            <a:xfrm>
              <a:off x="3606" y="2355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9" name="Line 209"/>
            <p:cNvSpPr>
              <a:spLocks noChangeShapeType="1"/>
            </p:cNvSpPr>
            <p:nvPr/>
          </p:nvSpPr>
          <p:spPr bwMode="auto">
            <a:xfrm>
              <a:off x="3629" y="2355"/>
              <a:ext cx="57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0" name="Line 210"/>
            <p:cNvSpPr>
              <a:spLocks noChangeShapeType="1"/>
            </p:cNvSpPr>
            <p:nvPr/>
          </p:nvSpPr>
          <p:spPr bwMode="auto">
            <a:xfrm>
              <a:off x="2769" y="2355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" name="Line 211"/>
            <p:cNvSpPr>
              <a:spLocks noChangeShapeType="1"/>
            </p:cNvSpPr>
            <p:nvPr/>
          </p:nvSpPr>
          <p:spPr bwMode="auto">
            <a:xfrm>
              <a:off x="2991" y="2355"/>
              <a:ext cx="1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" name="Line 212"/>
            <p:cNvSpPr>
              <a:spLocks noChangeShapeType="1"/>
            </p:cNvSpPr>
            <p:nvPr/>
          </p:nvSpPr>
          <p:spPr bwMode="auto">
            <a:xfrm>
              <a:off x="3208" y="2457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" name="Line 213"/>
            <p:cNvSpPr>
              <a:spLocks noChangeShapeType="1"/>
            </p:cNvSpPr>
            <p:nvPr/>
          </p:nvSpPr>
          <p:spPr bwMode="auto">
            <a:xfrm>
              <a:off x="3116" y="2571"/>
              <a:ext cx="20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4" name="Line 214"/>
            <p:cNvSpPr>
              <a:spLocks noChangeShapeType="1"/>
            </p:cNvSpPr>
            <p:nvPr/>
          </p:nvSpPr>
          <p:spPr bwMode="auto">
            <a:xfrm>
              <a:off x="2604" y="2457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" name="Line 215"/>
            <p:cNvSpPr>
              <a:spLocks noChangeShapeType="1"/>
            </p:cNvSpPr>
            <p:nvPr/>
          </p:nvSpPr>
          <p:spPr bwMode="auto">
            <a:xfrm flipH="1">
              <a:off x="2490" y="2571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" name="Line 216"/>
            <p:cNvSpPr>
              <a:spLocks noChangeShapeType="1"/>
            </p:cNvSpPr>
            <p:nvPr/>
          </p:nvSpPr>
          <p:spPr bwMode="auto">
            <a:xfrm>
              <a:off x="3116" y="2907"/>
              <a:ext cx="20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" name="Line 217"/>
            <p:cNvSpPr>
              <a:spLocks noChangeShapeType="1"/>
            </p:cNvSpPr>
            <p:nvPr/>
          </p:nvSpPr>
          <p:spPr bwMode="auto">
            <a:xfrm flipV="1">
              <a:off x="3208" y="2810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8" name="Line 218"/>
            <p:cNvSpPr>
              <a:spLocks noChangeShapeType="1"/>
            </p:cNvSpPr>
            <p:nvPr/>
          </p:nvSpPr>
          <p:spPr bwMode="auto">
            <a:xfrm flipH="1">
              <a:off x="2490" y="2907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9" name="Line 219"/>
            <p:cNvSpPr>
              <a:spLocks noChangeShapeType="1"/>
            </p:cNvSpPr>
            <p:nvPr/>
          </p:nvSpPr>
          <p:spPr bwMode="auto">
            <a:xfrm flipV="1">
              <a:off x="2604" y="2810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0" name="Line 220"/>
            <p:cNvSpPr>
              <a:spLocks noChangeShapeType="1"/>
            </p:cNvSpPr>
            <p:nvPr/>
          </p:nvSpPr>
          <p:spPr bwMode="auto">
            <a:xfrm>
              <a:off x="2120" y="1170"/>
              <a:ext cx="21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1" name="Line 221"/>
            <p:cNvSpPr>
              <a:spLocks noChangeShapeType="1"/>
            </p:cNvSpPr>
            <p:nvPr/>
          </p:nvSpPr>
          <p:spPr bwMode="auto">
            <a:xfrm>
              <a:off x="2342" y="1170"/>
              <a:ext cx="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2" name="Line 222"/>
            <p:cNvSpPr>
              <a:spLocks noChangeShapeType="1"/>
            </p:cNvSpPr>
            <p:nvPr/>
          </p:nvSpPr>
          <p:spPr bwMode="auto">
            <a:xfrm>
              <a:off x="2365" y="1170"/>
              <a:ext cx="79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3" name="Line 223"/>
            <p:cNvSpPr>
              <a:spLocks noChangeShapeType="1"/>
            </p:cNvSpPr>
            <p:nvPr/>
          </p:nvSpPr>
          <p:spPr bwMode="auto">
            <a:xfrm>
              <a:off x="2809" y="1244"/>
              <a:ext cx="182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4" name="Line 224"/>
            <p:cNvSpPr>
              <a:spLocks noChangeShapeType="1"/>
            </p:cNvSpPr>
            <p:nvPr/>
          </p:nvSpPr>
          <p:spPr bwMode="auto">
            <a:xfrm>
              <a:off x="2592" y="412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" name="Line 225"/>
            <p:cNvSpPr>
              <a:spLocks noChangeShapeType="1"/>
            </p:cNvSpPr>
            <p:nvPr/>
          </p:nvSpPr>
          <p:spPr bwMode="auto">
            <a:xfrm>
              <a:off x="3208" y="412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6" name="Line 226"/>
            <p:cNvSpPr>
              <a:spLocks noChangeShapeType="1"/>
            </p:cNvSpPr>
            <p:nvPr/>
          </p:nvSpPr>
          <p:spPr bwMode="auto">
            <a:xfrm>
              <a:off x="1311" y="406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7" name="Line 227"/>
            <p:cNvSpPr>
              <a:spLocks noChangeShapeType="1"/>
            </p:cNvSpPr>
            <p:nvPr/>
          </p:nvSpPr>
          <p:spPr bwMode="auto">
            <a:xfrm>
              <a:off x="1311" y="629"/>
              <a:ext cx="1" cy="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8" name="Line 228"/>
            <p:cNvSpPr>
              <a:spLocks noChangeShapeType="1"/>
            </p:cNvSpPr>
            <p:nvPr/>
          </p:nvSpPr>
          <p:spPr bwMode="auto">
            <a:xfrm>
              <a:off x="946" y="406"/>
              <a:ext cx="1" cy="2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9" name="Line 229"/>
            <p:cNvSpPr>
              <a:spLocks noChangeShapeType="1"/>
            </p:cNvSpPr>
            <p:nvPr/>
          </p:nvSpPr>
          <p:spPr bwMode="auto">
            <a:xfrm>
              <a:off x="946" y="629"/>
              <a:ext cx="1" cy="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0" name="Line 230"/>
            <p:cNvSpPr>
              <a:spLocks noChangeShapeType="1"/>
            </p:cNvSpPr>
            <p:nvPr/>
          </p:nvSpPr>
          <p:spPr bwMode="auto">
            <a:xfrm>
              <a:off x="2775" y="3124"/>
              <a:ext cx="21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1" name="Line 231"/>
            <p:cNvSpPr>
              <a:spLocks noChangeShapeType="1"/>
            </p:cNvSpPr>
            <p:nvPr/>
          </p:nvSpPr>
          <p:spPr bwMode="auto">
            <a:xfrm>
              <a:off x="2997" y="3124"/>
              <a:ext cx="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2" name="Line 232"/>
            <p:cNvSpPr>
              <a:spLocks noChangeShapeType="1"/>
            </p:cNvSpPr>
            <p:nvPr/>
          </p:nvSpPr>
          <p:spPr bwMode="auto">
            <a:xfrm>
              <a:off x="3390" y="3124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3" name="Line 233"/>
            <p:cNvSpPr>
              <a:spLocks noChangeShapeType="1"/>
            </p:cNvSpPr>
            <p:nvPr/>
          </p:nvSpPr>
          <p:spPr bwMode="auto">
            <a:xfrm>
              <a:off x="3612" y="3124"/>
              <a:ext cx="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4" name="Line 234"/>
            <p:cNvSpPr>
              <a:spLocks noChangeShapeType="1"/>
            </p:cNvSpPr>
            <p:nvPr/>
          </p:nvSpPr>
          <p:spPr bwMode="auto">
            <a:xfrm>
              <a:off x="3635" y="3124"/>
              <a:ext cx="5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" name="Line 235"/>
            <p:cNvSpPr>
              <a:spLocks noChangeShapeType="1"/>
            </p:cNvSpPr>
            <p:nvPr/>
          </p:nvSpPr>
          <p:spPr bwMode="auto">
            <a:xfrm>
              <a:off x="2097" y="2736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" name="Line 236"/>
            <p:cNvSpPr>
              <a:spLocks noChangeShapeType="1"/>
            </p:cNvSpPr>
            <p:nvPr/>
          </p:nvSpPr>
          <p:spPr bwMode="auto">
            <a:xfrm>
              <a:off x="2319" y="2736"/>
              <a:ext cx="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" name="Line 237"/>
            <p:cNvSpPr>
              <a:spLocks noChangeShapeType="1"/>
            </p:cNvSpPr>
            <p:nvPr/>
          </p:nvSpPr>
          <p:spPr bwMode="auto">
            <a:xfrm>
              <a:off x="2342" y="2736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8" name="Line 238"/>
            <p:cNvSpPr>
              <a:spLocks noChangeShapeType="1"/>
            </p:cNvSpPr>
            <p:nvPr/>
          </p:nvSpPr>
          <p:spPr bwMode="auto">
            <a:xfrm>
              <a:off x="2564" y="2736"/>
              <a:ext cx="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9" name="Line 239"/>
            <p:cNvSpPr>
              <a:spLocks noChangeShapeType="1"/>
            </p:cNvSpPr>
            <p:nvPr/>
          </p:nvSpPr>
          <p:spPr bwMode="auto">
            <a:xfrm>
              <a:off x="2587" y="2736"/>
              <a:ext cx="2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" name="Line 240"/>
            <p:cNvSpPr>
              <a:spLocks noChangeShapeType="1"/>
            </p:cNvSpPr>
            <p:nvPr/>
          </p:nvSpPr>
          <p:spPr bwMode="auto">
            <a:xfrm>
              <a:off x="2809" y="2736"/>
              <a:ext cx="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1" name="Line 241"/>
            <p:cNvSpPr>
              <a:spLocks noChangeShapeType="1"/>
            </p:cNvSpPr>
            <p:nvPr/>
          </p:nvSpPr>
          <p:spPr bwMode="auto">
            <a:xfrm>
              <a:off x="2832" y="2736"/>
              <a:ext cx="21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2" name="Line 242"/>
            <p:cNvSpPr>
              <a:spLocks noChangeShapeType="1"/>
            </p:cNvSpPr>
            <p:nvPr/>
          </p:nvSpPr>
          <p:spPr bwMode="auto">
            <a:xfrm>
              <a:off x="3054" y="2736"/>
              <a:ext cx="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3" name="Line 243"/>
            <p:cNvSpPr>
              <a:spLocks noChangeShapeType="1"/>
            </p:cNvSpPr>
            <p:nvPr/>
          </p:nvSpPr>
          <p:spPr bwMode="auto">
            <a:xfrm>
              <a:off x="3077" y="2736"/>
              <a:ext cx="21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4" name="Line 244"/>
            <p:cNvSpPr>
              <a:spLocks noChangeShapeType="1"/>
            </p:cNvSpPr>
            <p:nvPr/>
          </p:nvSpPr>
          <p:spPr bwMode="auto">
            <a:xfrm>
              <a:off x="3299" y="2736"/>
              <a:ext cx="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" name="Line 245"/>
            <p:cNvSpPr>
              <a:spLocks noChangeShapeType="1"/>
            </p:cNvSpPr>
            <p:nvPr/>
          </p:nvSpPr>
          <p:spPr bwMode="auto">
            <a:xfrm>
              <a:off x="3322" y="2736"/>
              <a:ext cx="21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" name="Line 246"/>
            <p:cNvSpPr>
              <a:spLocks noChangeShapeType="1"/>
            </p:cNvSpPr>
            <p:nvPr/>
          </p:nvSpPr>
          <p:spPr bwMode="auto">
            <a:xfrm>
              <a:off x="3544" y="2736"/>
              <a:ext cx="1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7" name="Line 247"/>
            <p:cNvSpPr>
              <a:spLocks noChangeShapeType="1"/>
            </p:cNvSpPr>
            <p:nvPr/>
          </p:nvSpPr>
          <p:spPr bwMode="auto">
            <a:xfrm>
              <a:off x="3567" y="2736"/>
              <a:ext cx="74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8" name="Line 248"/>
            <p:cNvSpPr>
              <a:spLocks noChangeShapeType="1"/>
            </p:cNvSpPr>
            <p:nvPr/>
          </p:nvSpPr>
          <p:spPr bwMode="auto">
            <a:xfrm flipH="1">
              <a:off x="5105" y="805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9" name="Line 249"/>
            <p:cNvSpPr>
              <a:spLocks noChangeShapeType="1"/>
            </p:cNvSpPr>
            <p:nvPr/>
          </p:nvSpPr>
          <p:spPr bwMode="auto">
            <a:xfrm flipH="1">
              <a:off x="4991" y="805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0" name="Line 250"/>
            <p:cNvSpPr>
              <a:spLocks noChangeShapeType="1"/>
            </p:cNvSpPr>
            <p:nvPr/>
          </p:nvSpPr>
          <p:spPr bwMode="auto">
            <a:xfrm flipH="1">
              <a:off x="4877" y="805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1" name="Line 251"/>
            <p:cNvSpPr>
              <a:spLocks noChangeShapeType="1"/>
            </p:cNvSpPr>
            <p:nvPr/>
          </p:nvSpPr>
          <p:spPr bwMode="auto">
            <a:xfrm flipH="1">
              <a:off x="4763" y="805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" name="Line 252"/>
            <p:cNvSpPr>
              <a:spLocks noChangeShapeType="1"/>
            </p:cNvSpPr>
            <p:nvPr/>
          </p:nvSpPr>
          <p:spPr bwMode="auto">
            <a:xfrm flipH="1">
              <a:off x="4649" y="805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3" name="Line 253"/>
            <p:cNvSpPr>
              <a:spLocks noChangeShapeType="1"/>
            </p:cNvSpPr>
            <p:nvPr/>
          </p:nvSpPr>
          <p:spPr bwMode="auto">
            <a:xfrm flipH="1">
              <a:off x="4535" y="805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4" name="Line 254"/>
            <p:cNvSpPr>
              <a:spLocks noChangeShapeType="1"/>
            </p:cNvSpPr>
            <p:nvPr/>
          </p:nvSpPr>
          <p:spPr bwMode="auto">
            <a:xfrm flipH="1">
              <a:off x="4467" y="805"/>
              <a:ext cx="39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5" name="Line 255"/>
            <p:cNvSpPr>
              <a:spLocks noChangeShapeType="1"/>
            </p:cNvSpPr>
            <p:nvPr/>
          </p:nvSpPr>
          <p:spPr bwMode="auto">
            <a:xfrm flipH="1">
              <a:off x="5105" y="566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" name="Line 256"/>
            <p:cNvSpPr>
              <a:spLocks noChangeShapeType="1"/>
            </p:cNvSpPr>
            <p:nvPr/>
          </p:nvSpPr>
          <p:spPr bwMode="auto">
            <a:xfrm flipH="1">
              <a:off x="4991" y="566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" name="Line 257"/>
            <p:cNvSpPr>
              <a:spLocks noChangeShapeType="1"/>
            </p:cNvSpPr>
            <p:nvPr/>
          </p:nvSpPr>
          <p:spPr bwMode="auto">
            <a:xfrm flipH="1">
              <a:off x="4877" y="566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8" name="Line 258"/>
            <p:cNvSpPr>
              <a:spLocks noChangeShapeType="1"/>
            </p:cNvSpPr>
            <p:nvPr/>
          </p:nvSpPr>
          <p:spPr bwMode="auto">
            <a:xfrm flipH="1">
              <a:off x="4763" y="566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" name="Line 259"/>
            <p:cNvSpPr>
              <a:spLocks noChangeShapeType="1"/>
            </p:cNvSpPr>
            <p:nvPr/>
          </p:nvSpPr>
          <p:spPr bwMode="auto">
            <a:xfrm flipH="1">
              <a:off x="4649" y="566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" name="Line 260"/>
            <p:cNvSpPr>
              <a:spLocks noChangeShapeType="1"/>
            </p:cNvSpPr>
            <p:nvPr/>
          </p:nvSpPr>
          <p:spPr bwMode="auto">
            <a:xfrm flipH="1">
              <a:off x="4535" y="566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" name="Line 261"/>
            <p:cNvSpPr>
              <a:spLocks noChangeShapeType="1"/>
            </p:cNvSpPr>
            <p:nvPr/>
          </p:nvSpPr>
          <p:spPr bwMode="auto">
            <a:xfrm flipH="1">
              <a:off x="4467" y="566"/>
              <a:ext cx="39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" name="Line 262"/>
            <p:cNvSpPr>
              <a:spLocks noChangeShapeType="1"/>
            </p:cNvSpPr>
            <p:nvPr/>
          </p:nvSpPr>
          <p:spPr bwMode="auto">
            <a:xfrm flipH="1">
              <a:off x="3532" y="1147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" name="Line 263"/>
            <p:cNvSpPr>
              <a:spLocks noChangeShapeType="1"/>
            </p:cNvSpPr>
            <p:nvPr/>
          </p:nvSpPr>
          <p:spPr bwMode="auto">
            <a:xfrm flipH="1">
              <a:off x="3453" y="1147"/>
              <a:ext cx="5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" name="Line 264"/>
            <p:cNvSpPr>
              <a:spLocks noChangeShapeType="1"/>
            </p:cNvSpPr>
            <p:nvPr/>
          </p:nvSpPr>
          <p:spPr bwMode="auto">
            <a:xfrm flipH="1">
              <a:off x="3532" y="1341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5" name="Line 265"/>
            <p:cNvSpPr>
              <a:spLocks noChangeShapeType="1"/>
            </p:cNvSpPr>
            <p:nvPr/>
          </p:nvSpPr>
          <p:spPr bwMode="auto">
            <a:xfrm flipH="1">
              <a:off x="3453" y="1341"/>
              <a:ext cx="51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" name="Line 266"/>
            <p:cNvSpPr>
              <a:spLocks noChangeShapeType="1"/>
            </p:cNvSpPr>
            <p:nvPr/>
          </p:nvSpPr>
          <p:spPr bwMode="auto">
            <a:xfrm>
              <a:off x="2849" y="1341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" name="Line 267"/>
            <p:cNvSpPr>
              <a:spLocks noChangeShapeType="1"/>
            </p:cNvSpPr>
            <p:nvPr/>
          </p:nvSpPr>
          <p:spPr bwMode="auto">
            <a:xfrm>
              <a:off x="2849" y="1147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" name="Line 268"/>
            <p:cNvSpPr>
              <a:spLocks noChangeShapeType="1"/>
            </p:cNvSpPr>
            <p:nvPr/>
          </p:nvSpPr>
          <p:spPr bwMode="auto">
            <a:xfrm>
              <a:off x="3151" y="469"/>
              <a:ext cx="1" cy="8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9" name="Line 269"/>
            <p:cNvSpPr>
              <a:spLocks noChangeShapeType="1"/>
            </p:cNvSpPr>
            <p:nvPr/>
          </p:nvSpPr>
          <p:spPr bwMode="auto">
            <a:xfrm>
              <a:off x="3270" y="469"/>
              <a:ext cx="1" cy="8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0" name="Line 270"/>
            <p:cNvSpPr>
              <a:spLocks noChangeShapeType="1"/>
            </p:cNvSpPr>
            <p:nvPr/>
          </p:nvSpPr>
          <p:spPr bwMode="auto">
            <a:xfrm>
              <a:off x="2655" y="469"/>
              <a:ext cx="1" cy="8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1" name="Line 271"/>
            <p:cNvSpPr>
              <a:spLocks noChangeShapeType="1"/>
            </p:cNvSpPr>
            <p:nvPr/>
          </p:nvSpPr>
          <p:spPr bwMode="auto">
            <a:xfrm>
              <a:off x="2535" y="469"/>
              <a:ext cx="1" cy="8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2" name="Line 272"/>
            <p:cNvSpPr>
              <a:spLocks noChangeShapeType="1"/>
            </p:cNvSpPr>
            <p:nvPr/>
          </p:nvSpPr>
          <p:spPr bwMode="auto">
            <a:xfrm>
              <a:off x="2171" y="1267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3" name="Line 273"/>
            <p:cNvSpPr>
              <a:spLocks noChangeShapeType="1"/>
            </p:cNvSpPr>
            <p:nvPr/>
          </p:nvSpPr>
          <p:spPr bwMode="auto">
            <a:xfrm>
              <a:off x="2285" y="1267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4" name="Line 274"/>
            <p:cNvSpPr>
              <a:spLocks noChangeShapeType="1"/>
            </p:cNvSpPr>
            <p:nvPr/>
          </p:nvSpPr>
          <p:spPr bwMode="auto">
            <a:xfrm>
              <a:off x="2171" y="1073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5" name="Line 275"/>
            <p:cNvSpPr>
              <a:spLocks noChangeShapeType="1"/>
            </p:cNvSpPr>
            <p:nvPr/>
          </p:nvSpPr>
          <p:spPr bwMode="auto">
            <a:xfrm>
              <a:off x="2285" y="1073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" name="Line 276"/>
            <p:cNvSpPr>
              <a:spLocks noChangeShapeType="1"/>
            </p:cNvSpPr>
            <p:nvPr/>
          </p:nvSpPr>
          <p:spPr bwMode="auto">
            <a:xfrm flipH="1">
              <a:off x="1402" y="566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" name="Line 277"/>
            <p:cNvSpPr>
              <a:spLocks noChangeShapeType="1"/>
            </p:cNvSpPr>
            <p:nvPr/>
          </p:nvSpPr>
          <p:spPr bwMode="auto">
            <a:xfrm flipH="1">
              <a:off x="1288" y="566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" name="Line 278"/>
            <p:cNvSpPr>
              <a:spLocks noChangeShapeType="1"/>
            </p:cNvSpPr>
            <p:nvPr/>
          </p:nvSpPr>
          <p:spPr bwMode="auto">
            <a:xfrm flipH="1">
              <a:off x="1174" y="566"/>
              <a:ext cx="85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" name="Line 279"/>
            <p:cNvSpPr>
              <a:spLocks noChangeShapeType="1"/>
            </p:cNvSpPr>
            <p:nvPr/>
          </p:nvSpPr>
          <p:spPr bwMode="auto">
            <a:xfrm flipH="1">
              <a:off x="1060" y="566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0" name="Line 280"/>
            <p:cNvSpPr>
              <a:spLocks noChangeShapeType="1"/>
            </p:cNvSpPr>
            <p:nvPr/>
          </p:nvSpPr>
          <p:spPr bwMode="auto">
            <a:xfrm flipH="1">
              <a:off x="946" y="566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1" name="Line 281"/>
            <p:cNvSpPr>
              <a:spLocks noChangeShapeType="1"/>
            </p:cNvSpPr>
            <p:nvPr/>
          </p:nvSpPr>
          <p:spPr bwMode="auto">
            <a:xfrm flipH="1">
              <a:off x="832" y="566"/>
              <a:ext cx="86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2" name="Line 282"/>
            <p:cNvSpPr>
              <a:spLocks noChangeShapeType="1"/>
            </p:cNvSpPr>
            <p:nvPr/>
          </p:nvSpPr>
          <p:spPr bwMode="auto">
            <a:xfrm flipH="1">
              <a:off x="764" y="566"/>
              <a:ext cx="4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83" name="Rectangle 283"/>
          <p:cNvSpPr>
            <a:spLocks noChangeArrowheads="1"/>
          </p:cNvSpPr>
          <p:nvPr/>
        </p:nvSpPr>
        <p:spPr bwMode="auto">
          <a:xfrm>
            <a:off x="1289051" y="338138"/>
            <a:ext cx="8502650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marL="838200" indent="-838200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200" b="0" dirty="0">
                <a:solidFill>
                  <a:srgbClr val="0000FF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 </a:t>
            </a:r>
            <a:r>
              <a:rPr lang="zh-CN" altLang="en-US" dirty="0">
                <a:solidFill>
                  <a:srgbClr val="FF443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增加一个右视图，减少了图中的虚线，使图形看起来比较清晰。</a:t>
            </a:r>
          </a:p>
        </p:txBody>
      </p:sp>
    </p:spTree>
    <p:extLst>
      <p:ext uri="{BB962C8B-B14F-4D97-AF65-F5344CB8AC3E}">
        <p14:creationId xmlns:p14="http://schemas.microsoft.com/office/powerpoint/2010/main" val="378737779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699234" y="364233"/>
            <a:ext cx="2629246" cy="646331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>
            <a:spAutoFit/>
          </a:bodyPr>
          <a:lstStyle/>
          <a:p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二、</a:t>
            </a:r>
            <a:r>
              <a:rPr lang="en-US" altLang="zh-CN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 </a:t>
            </a:r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向</a:t>
            </a:r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视图</a:t>
            </a:r>
            <a:endParaRPr lang="en-US" altLang="zh-CN" sz="36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  <a:sym typeface="微软雅黑" panose="020B0503020204020204" pitchFamily="34" charset="-122"/>
            </a:endParaRPr>
          </a:p>
        </p:txBody>
      </p:sp>
      <p:grpSp>
        <p:nvGrpSpPr>
          <p:cNvPr id="6" name="Group 21"/>
          <p:cNvGrpSpPr>
            <a:grpSpLocks/>
          </p:cNvGrpSpPr>
          <p:nvPr/>
        </p:nvGrpSpPr>
        <p:grpSpPr bwMode="auto">
          <a:xfrm>
            <a:off x="1371599" y="966600"/>
            <a:ext cx="9227128" cy="4482903"/>
            <a:chOff x="0" y="995"/>
            <a:chExt cx="5760" cy="3161"/>
          </a:xfrm>
        </p:grpSpPr>
        <p:grpSp>
          <p:nvGrpSpPr>
            <p:cNvPr id="7" name="Group 19"/>
            <p:cNvGrpSpPr>
              <a:grpSpLocks/>
            </p:cNvGrpSpPr>
            <p:nvPr/>
          </p:nvGrpSpPr>
          <p:grpSpPr bwMode="auto">
            <a:xfrm>
              <a:off x="0" y="995"/>
              <a:ext cx="5760" cy="3161"/>
              <a:chOff x="0" y="995"/>
              <a:chExt cx="5760" cy="3161"/>
            </a:xfrm>
          </p:grpSpPr>
          <p:pic>
            <p:nvPicPr>
              <p:cNvPr id="9" name="Picture 2" descr="yan-A4"/>
              <p:cNvPicPr>
                <a:picLocks noChangeAspect="1" noChangeArrowheads="1"/>
              </p:cNvPicPr>
              <p:nvPr/>
            </p:nvPicPr>
            <p:blipFill rotWithShape="1"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11520" b="10486"/>
              <a:stretch/>
            </p:blipFill>
            <p:spPr bwMode="auto">
              <a:xfrm>
                <a:off x="0" y="995"/>
                <a:ext cx="5760" cy="31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" name="Rectangle 12"/>
              <p:cNvSpPr>
                <a:spLocks noChangeArrowheads="1"/>
              </p:cNvSpPr>
              <p:nvPr/>
            </p:nvSpPr>
            <p:spPr bwMode="auto">
              <a:xfrm>
                <a:off x="4694" y="2413"/>
                <a:ext cx="227" cy="27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  <p:sp>
            <p:nvSpPr>
              <p:cNvPr id="11" name="Rectangle 13"/>
              <p:cNvSpPr>
                <a:spLocks noChangeArrowheads="1"/>
              </p:cNvSpPr>
              <p:nvPr/>
            </p:nvSpPr>
            <p:spPr bwMode="auto">
              <a:xfrm>
                <a:off x="2989" y="2541"/>
                <a:ext cx="227" cy="27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</p:grpSp>
        <p:sp>
          <p:nvSpPr>
            <p:cNvPr id="8" name="Text Box 20"/>
            <p:cNvSpPr txBox="1">
              <a:spLocks noChangeArrowheads="1"/>
            </p:cNvSpPr>
            <p:nvPr/>
          </p:nvSpPr>
          <p:spPr bwMode="auto">
            <a:xfrm>
              <a:off x="4694" y="1026"/>
              <a:ext cx="273" cy="23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endParaRPr lang="zh-CN" altLang="zh-CN" sz="1800"/>
            </a:p>
          </p:txBody>
        </p:sp>
      </p:grpSp>
      <p:sp>
        <p:nvSpPr>
          <p:cNvPr id="16" name="Text Box 193"/>
          <p:cNvSpPr txBox="1">
            <a:spLocks noChangeArrowheads="1"/>
          </p:cNvSpPr>
          <p:nvPr/>
        </p:nvSpPr>
        <p:spPr bwMode="auto">
          <a:xfrm>
            <a:off x="1976711" y="5331110"/>
            <a:ext cx="8366125" cy="1244600"/>
          </a:xfrm>
          <a:prstGeom prst="rect">
            <a:avLst/>
          </a:prstGeom>
          <a:solidFill>
            <a:srgbClr val="B9FDEB">
              <a:alpha val="20000"/>
            </a:srgbClr>
          </a:solidFill>
          <a:ln w="57150" cmpd="thickThin">
            <a:solidFill>
              <a:srgbClr val="FF99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indent="623888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0" hangingPunct="0">
              <a:spcBef>
                <a:spcPct val="50000"/>
              </a:spcBef>
            </a:pPr>
            <a:r>
              <a:rPr lang="zh-CN" altLang="en-US" dirty="0">
                <a:solidFill>
                  <a:srgbClr val="FF443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向视图是可以自由配置的视图</a:t>
            </a:r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。向视图必须进行标注。在向视图的上方标注字母，在相应视图附近用箭头指明投射方向，并标注相同的字母。</a:t>
            </a:r>
          </a:p>
        </p:txBody>
      </p:sp>
    </p:spTree>
    <p:extLst>
      <p:ext uri="{BB962C8B-B14F-4D97-AF65-F5344CB8AC3E}">
        <p14:creationId xmlns:p14="http://schemas.microsoft.com/office/powerpoint/2010/main" val="7365152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Object 4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324235089"/>
              </p:ext>
            </p:extLst>
          </p:nvPr>
        </p:nvGraphicFramePr>
        <p:xfrm>
          <a:off x="8832344" y="2764752"/>
          <a:ext cx="1392238" cy="1546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rawing" r:id="rId2" imgW="8153400" imgH="4991100" progId="AutoCAD.Drawing.15">
                  <p:embed/>
                </p:oleObj>
              </mc:Choice>
              <mc:Fallback>
                <p:oleObj name="Drawing" r:id="rId2" imgW="8153400" imgH="4991100" progId="AutoCAD.Drawing.15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59764" t="23276" r="25723" b="50400"/>
                      <a:stretch>
                        <a:fillRect/>
                      </a:stretch>
                    </p:blipFill>
                    <p:spPr bwMode="auto">
                      <a:xfrm>
                        <a:off x="8832344" y="2764752"/>
                        <a:ext cx="1392238" cy="15462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5" name="Picture 2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404" t="36449" r="52757" b="25177"/>
          <a:stretch>
            <a:fillRect/>
          </a:stretch>
        </p:blipFill>
        <p:spPr>
          <a:xfrm>
            <a:off x="1454173" y="2401214"/>
            <a:ext cx="3148277" cy="3382898"/>
          </a:xfrm>
          <a:prstGeom prst="rect">
            <a:avLst/>
          </a:prstGeom>
          <a:noFill/>
        </p:spPr>
      </p:pic>
      <p:graphicFrame>
        <p:nvGraphicFramePr>
          <p:cNvPr id="16" name="Object 41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001553490"/>
              </p:ext>
            </p:extLst>
          </p:nvPr>
        </p:nvGraphicFramePr>
        <p:xfrm>
          <a:off x="5663694" y="1901152"/>
          <a:ext cx="2736850" cy="24272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rawing" r:id="rId5" imgW="8153400" imgH="4991100" progId="AutoCAD.Drawing.15">
                  <p:embed/>
                </p:oleObj>
              </mc:Choice>
              <mc:Fallback>
                <p:oleObj name="Drawing" r:id="rId5" imgW="8153400" imgH="4991100" progId="AutoCAD.Drawing.15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21304" t="7567" r="48389" b="50096"/>
                      <a:stretch>
                        <a:fillRect/>
                      </a:stretch>
                    </p:blipFill>
                    <p:spPr bwMode="auto">
                      <a:xfrm>
                        <a:off x="5663694" y="1901152"/>
                        <a:ext cx="2736850" cy="24272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" name="Object 4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158727210"/>
              </p:ext>
            </p:extLst>
          </p:nvPr>
        </p:nvGraphicFramePr>
        <p:xfrm>
          <a:off x="6239957" y="4569739"/>
          <a:ext cx="2227262" cy="1939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rawing" r:id="rId7" imgW="8153400" imgH="4991100" progId="AutoCAD.Drawing.15">
                  <p:embed/>
                </p:oleObj>
              </mc:Choice>
              <mc:Fallback>
                <p:oleObj name="Drawing" r:id="rId7" imgW="8153400" imgH="4991100" progId="AutoCAD.Drawing.15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27632" t="58998" r="48048" b="6010"/>
                      <a:stretch>
                        <a:fillRect/>
                      </a:stretch>
                    </p:blipFill>
                    <p:spPr bwMode="auto">
                      <a:xfrm>
                        <a:off x="6239957" y="4569739"/>
                        <a:ext cx="2227262" cy="19399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" name="Rectangle 7"/>
          <p:cNvSpPr>
            <a:spLocks noChangeArrowheads="1"/>
          </p:cNvSpPr>
          <p:nvPr/>
        </p:nvSpPr>
        <p:spPr bwMode="auto">
          <a:xfrm>
            <a:off x="1153391" y="243175"/>
            <a:ext cx="9144000" cy="620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1">
                  <a:gsLst>
                    <a:gs pos="0">
                      <a:srgbClr val="996633">
                        <a:alpha val="68999"/>
                      </a:srgbClr>
                    </a:gs>
                    <a:gs pos="100000">
                      <a:srgbClr val="FFFF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66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zh-CN" sz="4000" b="1">
              <a:solidFill>
                <a:schemeClr val="tx2"/>
              </a:solidFill>
            </a:endParaRPr>
          </a:p>
        </p:txBody>
      </p:sp>
      <p:sp>
        <p:nvSpPr>
          <p:cNvPr id="19" name="Rectangle 15"/>
          <p:cNvSpPr>
            <a:spLocks noChangeArrowheads="1"/>
          </p:cNvSpPr>
          <p:nvPr/>
        </p:nvSpPr>
        <p:spPr bwMode="auto">
          <a:xfrm>
            <a:off x="7290882" y="4133177"/>
            <a:ext cx="5334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000" b="1" i="1">
                <a:solidFill>
                  <a:schemeClr val="accent2"/>
                </a:solidFill>
                <a:latin typeface="仿宋_GB2312" pitchFamily="49" charset="-122"/>
                <a:ea typeface="仿宋_GB2312" pitchFamily="49" charset="-122"/>
              </a:rPr>
              <a:t>C</a:t>
            </a:r>
          </a:p>
        </p:txBody>
      </p:sp>
      <p:sp>
        <p:nvSpPr>
          <p:cNvPr id="20" name="Rectangle 16"/>
          <p:cNvSpPr>
            <a:spLocks noChangeArrowheads="1"/>
          </p:cNvSpPr>
          <p:nvPr/>
        </p:nvSpPr>
        <p:spPr bwMode="auto">
          <a:xfrm>
            <a:off x="5339844" y="2248814"/>
            <a:ext cx="5334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000" b="1" i="1">
                <a:solidFill>
                  <a:schemeClr val="accent2"/>
                </a:solidFill>
                <a:latin typeface="仿宋_GB2312" pitchFamily="49" charset="-122"/>
                <a:ea typeface="仿宋_GB2312" pitchFamily="49" charset="-122"/>
              </a:rPr>
              <a:t>B</a:t>
            </a:r>
          </a:p>
        </p:txBody>
      </p:sp>
      <p:pic>
        <p:nvPicPr>
          <p:cNvPr id="21" name="Picture 17" descr="Image2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6044" y="2553614"/>
            <a:ext cx="381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Rectangle 18"/>
          <p:cNvSpPr>
            <a:spLocks noChangeArrowheads="1"/>
          </p:cNvSpPr>
          <p:nvPr/>
        </p:nvSpPr>
        <p:spPr bwMode="auto">
          <a:xfrm>
            <a:off x="8159244" y="3315614"/>
            <a:ext cx="5334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000" b="1" i="1">
                <a:solidFill>
                  <a:schemeClr val="accent2"/>
                </a:solidFill>
                <a:latin typeface="仿宋_GB2312" pitchFamily="49" charset="-122"/>
                <a:ea typeface="仿宋_GB2312" pitchFamily="49" charset="-122"/>
              </a:rPr>
              <a:t>A</a:t>
            </a:r>
          </a:p>
        </p:txBody>
      </p:sp>
      <p:sp>
        <p:nvSpPr>
          <p:cNvPr id="23" name="Rectangle 19"/>
          <p:cNvSpPr>
            <a:spLocks noChangeArrowheads="1"/>
          </p:cNvSpPr>
          <p:nvPr/>
        </p:nvSpPr>
        <p:spPr bwMode="auto">
          <a:xfrm>
            <a:off x="9083169" y="2548852"/>
            <a:ext cx="6858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000" b="1" i="1">
                <a:solidFill>
                  <a:schemeClr val="accent2"/>
                </a:solidFill>
                <a:latin typeface="仿宋_GB2312" pitchFamily="49" charset="-122"/>
                <a:ea typeface="仿宋_GB2312" pitchFamily="49" charset="-122"/>
              </a:rPr>
              <a:t>A</a:t>
            </a:r>
          </a:p>
        </p:txBody>
      </p:sp>
      <p:sp>
        <p:nvSpPr>
          <p:cNvPr id="24" name="Rectangle 20"/>
          <p:cNvSpPr>
            <a:spLocks noChangeArrowheads="1"/>
          </p:cNvSpPr>
          <p:nvPr/>
        </p:nvSpPr>
        <p:spPr bwMode="auto">
          <a:xfrm>
            <a:off x="7092444" y="4445914"/>
            <a:ext cx="6858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000" b="1" i="1">
                <a:solidFill>
                  <a:schemeClr val="accent2"/>
                </a:solidFill>
                <a:latin typeface="仿宋_GB2312" pitchFamily="49" charset="-122"/>
                <a:ea typeface="仿宋_GB2312" pitchFamily="49" charset="-122"/>
              </a:rPr>
              <a:t>C</a:t>
            </a:r>
          </a:p>
        </p:txBody>
      </p:sp>
      <p:sp>
        <p:nvSpPr>
          <p:cNvPr id="25" name="Rectangle 21"/>
          <p:cNvSpPr>
            <a:spLocks noChangeArrowheads="1"/>
          </p:cNvSpPr>
          <p:nvPr/>
        </p:nvSpPr>
        <p:spPr bwMode="auto">
          <a:xfrm>
            <a:off x="9514969" y="4547514"/>
            <a:ext cx="6858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000" b="1" i="1">
                <a:solidFill>
                  <a:schemeClr val="accent2"/>
                </a:solidFill>
                <a:latin typeface="仿宋_GB2312" pitchFamily="49" charset="-122"/>
                <a:ea typeface="仿宋_GB2312" pitchFamily="49" charset="-122"/>
              </a:rPr>
              <a:t>B</a:t>
            </a:r>
          </a:p>
        </p:txBody>
      </p:sp>
      <p:pic>
        <p:nvPicPr>
          <p:cNvPr id="26" name="Picture 22" descr="Image20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54369" y="4155402"/>
            <a:ext cx="13811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Picture 23" descr="Image21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35444" y="3696614"/>
            <a:ext cx="381000" cy="115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30" name="Object 51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130568701"/>
              </p:ext>
            </p:extLst>
          </p:nvPr>
        </p:nvGraphicFramePr>
        <p:xfrm>
          <a:off x="8964107" y="4834852"/>
          <a:ext cx="1884362" cy="1385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rawing" r:id="rId12" imgW="8153400" imgH="4991100" progId="AutoCAD.Drawing.15">
                  <p:embed/>
                </p:oleObj>
              </mc:Choice>
              <mc:Fallback>
                <p:oleObj name="Drawing" r:id="rId12" imgW="8153400" imgH="4991100" progId="AutoCAD.Drawing.15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55066" t="62003" r="22105" b="10556"/>
                      <a:stretch>
                        <a:fillRect/>
                      </a:stretch>
                    </p:blipFill>
                    <p:spPr bwMode="auto">
                      <a:xfrm>
                        <a:off x="8964107" y="4834852"/>
                        <a:ext cx="1884362" cy="1385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8" name="矩形 37"/>
          <p:cNvSpPr/>
          <p:nvPr/>
        </p:nvSpPr>
        <p:spPr>
          <a:xfrm>
            <a:off x="699234" y="364233"/>
            <a:ext cx="3090911" cy="646331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>
            <a:spAutoFit/>
          </a:bodyPr>
          <a:lstStyle/>
          <a:p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三、</a:t>
            </a:r>
            <a:r>
              <a:rPr lang="en-US" altLang="zh-CN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 </a:t>
            </a:r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局部</a:t>
            </a:r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视图</a:t>
            </a:r>
            <a:endParaRPr lang="en-US" altLang="zh-CN" sz="36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  <a:sym typeface="微软雅黑" panose="020B0503020204020204" pitchFamily="34" charset="-122"/>
            </a:endParaRPr>
          </a:p>
        </p:txBody>
      </p:sp>
      <p:sp>
        <p:nvSpPr>
          <p:cNvPr id="39" name="Rectangle 13"/>
          <p:cNvSpPr>
            <a:spLocks noChangeArrowheads="1"/>
          </p:cNvSpPr>
          <p:nvPr/>
        </p:nvSpPr>
        <p:spPr bwMode="auto">
          <a:xfrm>
            <a:off x="1257300" y="731548"/>
            <a:ext cx="9144000" cy="620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1">
                  <a:gsLst>
                    <a:gs pos="0">
                      <a:srgbClr val="996633">
                        <a:alpha val="29999"/>
                      </a:srgbClr>
                    </a:gs>
                    <a:gs pos="100000">
                      <a:srgbClr val="FFFF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66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zh-CN" sz="4000" b="1">
              <a:solidFill>
                <a:schemeClr val="tx2"/>
              </a:solidFill>
            </a:endParaRPr>
          </a:p>
        </p:txBody>
      </p:sp>
      <p:sp>
        <p:nvSpPr>
          <p:cNvPr id="45" name="Text Box 3"/>
          <p:cNvSpPr txBox="1">
            <a:spLocks noChangeArrowheads="1"/>
          </p:cNvSpPr>
          <p:nvPr/>
        </p:nvSpPr>
        <p:spPr bwMode="auto">
          <a:xfrm>
            <a:off x="587374" y="1058460"/>
            <a:ext cx="10038339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571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49263" indent="-449263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0" hangingPunct="0">
              <a:spcBef>
                <a:spcPct val="20000"/>
              </a:spcBef>
            </a:pPr>
            <a:r>
              <a:rPr lang="en-US" altLang="zh-CN" dirty="0">
                <a:solidFill>
                  <a:srgbClr val="FF0000"/>
                </a:solidFill>
                <a:latin typeface="Times New Roman" panose="02020603050405020304" pitchFamily="18" charset="0"/>
                <a:ea typeface="楷体_GB2312" panose="02010600030101010101" charset="-122"/>
              </a:rPr>
              <a:t>★</a:t>
            </a:r>
            <a:r>
              <a:rPr lang="en-US" altLang="zh-CN" dirty="0">
                <a:latin typeface="Times New Roman" panose="02020603050405020304" pitchFamily="18" charset="0"/>
                <a:ea typeface="楷体_GB2312" panose="02010600030101010101" charset="-122"/>
              </a:rPr>
              <a:t> </a:t>
            </a:r>
            <a:r>
              <a:rPr lang="zh-CN" altLang="en-US" b="0" dirty="0">
                <a:latin typeface="华文细黑" panose="02010600040101010101" pitchFamily="2" charset="-122"/>
                <a:ea typeface="华文细黑" panose="02010600040101010101" pitchFamily="2" charset="-122"/>
              </a:rPr>
              <a:t>只需表达机件某一部分结构形状时，将该部分向基本投影面投影所得的视图称为</a:t>
            </a:r>
            <a:r>
              <a:rPr lang="zh-CN" altLang="en-US" b="0" dirty="0">
                <a:solidFill>
                  <a:srgbClr val="FF443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局部视图。</a:t>
            </a:r>
          </a:p>
        </p:txBody>
      </p:sp>
    </p:spTree>
    <p:extLst>
      <p:ext uri="{BB962C8B-B14F-4D97-AF65-F5344CB8AC3E}">
        <p14:creationId xmlns:p14="http://schemas.microsoft.com/office/powerpoint/2010/main" val="40634493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22" grpId="0"/>
      <p:bldP spid="23" grpId="0"/>
      <p:bldP spid="24" grpId="0"/>
      <p:bldP spid="25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>
          <a:xfrm>
            <a:off x="819442" y="398464"/>
            <a:ext cx="3840160" cy="590550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838200" indent="-838200"/>
            <a:r>
              <a:rPr lang="zh-CN" altLang="zh-CN" sz="28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局部</a:t>
            </a:r>
            <a:r>
              <a:rPr lang="zh-CN" altLang="en-US" sz="28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视</a:t>
            </a:r>
            <a:r>
              <a:rPr lang="zh-CN" altLang="zh-CN" sz="28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图</a:t>
            </a:r>
            <a:r>
              <a:rPr lang="zh-CN" altLang="en-US" sz="28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的画法与标注</a:t>
            </a: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89213" y="3690938"/>
            <a:ext cx="1903412" cy="1712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3471864" y="1158876"/>
            <a:ext cx="441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0" hangingPunct="0">
              <a:spcBef>
                <a:spcPct val="50000"/>
              </a:spcBef>
            </a:pPr>
            <a:r>
              <a:rPr lang="en-US" altLang="zh-CN" sz="2000" i="1">
                <a:solidFill>
                  <a:srgbClr val="FF3300"/>
                </a:solidFill>
                <a:latin typeface="Times New Roman" panose="02020603050405020304" pitchFamily="18" charset="0"/>
              </a:rPr>
              <a:t>B</a:t>
            </a:r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8816976" y="785814"/>
            <a:ext cx="415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0" hangingPunct="0">
              <a:spcBef>
                <a:spcPct val="50000"/>
              </a:spcBef>
            </a:pPr>
            <a:r>
              <a:rPr lang="en-US" altLang="zh-CN" sz="2000" i="1">
                <a:solidFill>
                  <a:srgbClr val="FF3300"/>
                </a:solidFill>
                <a:latin typeface="Times New Roman" panose="02020603050405020304" pitchFamily="18" charset="0"/>
              </a:rPr>
              <a:t>A</a:t>
            </a:r>
          </a:p>
        </p:txBody>
      </p:sp>
      <p:grpSp>
        <p:nvGrpSpPr>
          <p:cNvPr id="6" name="Group 6"/>
          <p:cNvGrpSpPr>
            <a:grpSpLocks/>
          </p:cNvGrpSpPr>
          <p:nvPr/>
        </p:nvGrpSpPr>
        <p:grpSpPr bwMode="auto">
          <a:xfrm>
            <a:off x="7581900" y="1547814"/>
            <a:ext cx="514350" cy="396875"/>
            <a:chOff x="3872" y="1167"/>
            <a:chExt cx="324" cy="250"/>
          </a:xfrm>
        </p:grpSpPr>
        <p:sp>
          <p:nvSpPr>
            <p:cNvPr id="7" name="Text Box 7"/>
            <p:cNvSpPr txBox="1">
              <a:spLocks noChangeArrowheads="1"/>
            </p:cNvSpPr>
            <p:nvPr/>
          </p:nvSpPr>
          <p:spPr bwMode="auto">
            <a:xfrm>
              <a:off x="3937" y="1167"/>
              <a:ext cx="22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0" hangingPunct="0">
                <a:spcBef>
                  <a:spcPct val="50000"/>
                </a:spcBef>
              </a:pPr>
              <a:r>
                <a:rPr lang="en-US" altLang="zh-CN" sz="2000" i="1">
                  <a:solidFill>
                    <a:srgbClr val="FF3300"/>
                  </a:solidFill>
                  <a:latin typeface="Times New Roman" panose="02020603050405020304" pitchFamily="18" charset="0"/>
                </a:rPr>
                <a:t>B</a:t>
              </a:r>
            </a:p>
          </p:txBody>
        </p:sp>
        <p:sp>
          <p:nvSpPr>
            <p:cNvPr id="8" name="Line 8"/>
            <p:cNvSpPr>
              <a:spLocks noChangeShapeType="1"/>
            </p:cNvSpPr>
            <p:nvPr/>
          </p:nvSpPr>
          <p:spPr bwMode="auto">
            <a:xfrm flipH="1">
              <a:off x="3872" y="1407"/>
              <a:ext cx="324" cy="1"/>
            </a:xfrm>
            <a:prstGeom prst="line">
              <a:avLst/>
            </a:prstGeom>
            <a:noFill/>
            <a:ln w="12700">
              <a:solidFill>
                <a:srgbClr val="FF3300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9" name="Group 9"/>
          <p:cNvGrpSpPr>
            <a:grpSpLocks/>
          </p:cNvGrpSpPr>
          <p:nvPr/>
        </p:nvGrpSpPr>
        <p:grpSpPr bwMode="auto">
          <a:xfrm>
            <a:off x="4873626" y="3494089"/>
            <a:ext cx="2627313" cy="1889125"/>
            <a:chOff x="2014" y="2649"/>
            <a:chExt cx="1655" cy="1190"/>
          </a:xfrm>
        </p:grpSpPr>
        <p:sp>
          <p:nvSpPr>
            <p:cNvPr id="10" name="Line 10"/>
            <p:cNvSpPr>
              <a:spLocks noChangeShapeType="1"/>
            </p:cNvSpPr>
            <p:nvPr/>
          </p:nvSpPr>
          <p:spPr bwMode="auto">
            <a:xfrm flipH="1">
              <a:off x="3544" y="3249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" name="Line 11"/>
            <p:cNvSpPr>
              <a:spLocks noChangeShapeType="1"/>
            </p:cNvSpPr>
            <p:nvPr/>
          </p:nvSpPr>
          <p:spPr bwMode="auto">
            <a:xfrm flipH="1">
              <a:off x="3516" y="3249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 flipH="1">
              <a:off x="3376" y="3249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 flipH="1">
              <a:off x="3348" y="3249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" name="Line 14"/>
            <p:cNvSpPr>
              <a:spLocks noChangeShapeType="1"/>
            </p:cNvSpPr>
            <p:nvPr/>
          </p:nvSpPr>
          <p:spPr bwMode="auto">
            <a:xfrm flipH="1">
              <a:off x="3209" y="3249"/>
              <a:ext cx="12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 flipH="1">
              <a:off x="3180" y="3249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" name="Line 16"/>
            <p:cNvSpPr>
              <a:spLocks noChangeShapeType="1"/>
            </p:cNvSpPr>
            <p:nvPr/>
          </p:nvSpPr>
          <p:spPr bwMode="auto">
            <a:xfrm flipH="1">
              <a:off x="3041" y="3249"/>
              <a:ext cx="12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" name="Line 17"/>
            <p:cNvSpPr>
              <a:spLocks noChangeShapeType="1"/>
            </p:cNvSpPr>
            <p:nvPr/>
          </p:nvSpPr>
          <p:spPr bwMode="auto">
            <a:xfrm flipH="1">
              <a:off x="3012" y="3249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" name="Line 18"/>
            <p:cNvSpPr>
              <a:spLocks noChangeShapeType="1"/>
            </p:cNvSpPr>
            <p:nvPr/>
          </p:nvSpPr>
          <p:spPr bwMode="auto">
            <a:xfrm flipH="1">
              <a:off x="2873" y="3249"/>
              <a:ext cx="12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 flipH="1">
              <a:off x="2844" y="3249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" name="Line 20"/>
            <p:cNvSpPr>
              <a:spLocks noChangeShapeType="1"/>
            </p:cNvSpPr>
            <p:nvPr/>
          </p:nvSpPr>
          <p:spPr bwMode="auto">
            <a:xfrm flipH="1">
              <a:off x="2705" y="3249"/>
              <a:ext cx="12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" name="Line 21"/>
            <p:cNvSpPr>
              <a:spLocks noChangeShapeType="1"/>
            </p:cNvSpPr>
            <p:nvPr/>
          </p:nvSpPr>
          <p:spPr bwMode="auto">
            <a:xfrm flipH="1">
              <a:off x="2676" y="3249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" name="Line 22"/>
            <p:cNvSpPr>
              <a:spLocks noChangeShapeType="1"/>
            </p:cNvSpPr>
            <p:nvPr/>
          </p:nvSpPr>
          <p:spPr bwMode="auto">
            <a:xfrm flipH="1">
              <a:off x="2537" y="3249"/>
              <a:ext cx="12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" name="Line 23"/>
            <p:cNvSpPr>
              <a:spLocks noChangeShapeType="1"/>
            </p:cNvSpPr>
            <p:nvPr/>
          </p:nvSpPr>
          <p:spPr bwMode="auto">
            <a:xfrm flipH="1">
              <a:off x="2508" y="3249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" name="Line 24"/>
            <p:cNvSpPr>
              <a:spLocks noChangeShapeType="1"/>
            </p:cNvSpPr>
            <p:nvPr/>
          </p:nvSpPr>
          <p:spPr bwMode="auto">
            <a:xfrm flipH="1">
              <a:off x="2369" y="3249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" name="Line 25"/>
            <p:cNvSpPr>
              <a:spLocks noChangeShapeType="1"/>
            </p:cNvSpPr>
            <p:nvPr/>
          </p:nvSpPr>
          <p:spPr bwMode="auto">
            <a:xfrm flipH="1">
              <a:off x="2340" y="3249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" name="Line 26"/>
            <p:cNvSpPr>
              <a:spLocks noChangeShapeType="1"/>
            </p:cNvSpPr>
            <p:nvPr/>
          </p:nvSpPr>
          <p:spPr bwMode="auto">
            <a:xfrm flipH="1">
              <a:off x="2201" y="3249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" name="Line 27"/>
            <p:cNvSpPr>
              <a:spLocks noChangeShapeType="1"/>
            </p:cNvSpPr>
            <p:nvPr/>
          </p:nvSpPr>
          <p:spPr bwMode="auto">
            <a:xfrm flipH="1">
              <a:off x="2172" y="3249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" name="Line 28"/>
            <p:cNvSpPr>
              <a:spLocks noChangeShapeType="1"/>
            </p:cNvSpPr>
            <p:nvPr/>
          </p:nvSpPr>
          <p:spPr bwMode="auto">
            <a:xfrm flipH="1">
              <a:off x="2033" y="3249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" name="Line 29"/>
            <p:cNvSpPr>
              <a:spLocks noChangeShapeType="1"/>
            </p:cNvSpPr>
            <p:nvPr/>
          </p:nvSpPr>
          <p:spPr bwMode="auto">
            <a:xfrm flipH="1">
              <a:off x="2014" y="3249"/>
              <a:ext cx="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" name="Oval 30"/>
            <p:cNvSpPr>
              <a:spLocks noChangeArrowheads="1"/>
            </p:cNvSpPr>
            <p:nvPr/>
          </p:nvSpPr>
          <p:spPr bwMode="auto">
            <a:xfrm>
              <a:off x="2407" y="2812"/>
              <a:ext cx="869" cy="869"/>
            </a:xfrm>
            <a:prstGeom prst="ellips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" name="Line 31"/>
            <p:cNvSpPr>
              <a:spLocks noChangeShapeType="1"/>
            </p:cNvSpPr>
            <p:nvPr/>
          </p:nvSpPr>
          <p:spPr bwMode="auto">
            <a:xfrm flipH="1">
              <a:off x="2249" y="2735"/>
              <a:ext cx="1180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" name="Line 32"/>
            <p:cNvSpPr>
              <a:spLocks noChangeShapeType="1"/>
            </p:cNvSpPr>
            <p:nvPr/>
          </p:nvSpPr>
          <p:spPr bwMode="auto">
            <a:xfrm>
              <a:off x="2249" y="3757"/>
              <a:ext cx="1180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" name="Line 33"/>
            <p:cNvSpPr>
              <a:spLocks noChangeShapeType="1"/>
            </p:cNvSpPr>
            <p:nvPr/>
          </p:nvSpPr>
          <p:spPr bwMode="auto">
            <a:xfrm flipV="1">
              <a:off x="3588" y="2894"/>
              <a:ext cx="1" cy="70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" name="Freeform 34"/>
            <p:cNvSpPr>
              <a:spLocks noChangeArrowheads="1"/>
            </p:cNvSpPr>
            <p:nvPr/>
          </p:nvSpPr>
          <p:spPr bwMode="auto">
            <a:xfrm>
              <a:off x="2095" y="2735"/>
              <a:ext cx="154" cy="159"/>
            </a:xfrm>
            <a:custGeom>
              <a:avLst/>
              <a:gdLst>
                <a:gd name="T0" fmla="*/ 32 w 32"/>
                <a:gd name="T1" fmla="*/ 0 h 33"/>
                <a:gd name="T2" fmla="*/ 27 w 32"/>
                <a:gd name="T3" fmla="*/ 0 h 33"/>
                <a:gd name="T4" fmla="*/ 22 w 32"/>
                <a:gd name="T5" fmla="*/ 2 h 33"/>
                <a:gd name="T6" fmla="*/ 17 w 32"/>
                <a:gd name="T7" fmla="*/ 4 h 33"/>
                <a:gd name="T8" fmla="*/ 13 w 32"/>
                <a:gd name="T9" fmla="*/ 6 h 33"/>
                <a:gd name="T10" fmla="*/ 9 w 32"/>
                <a:gd name="T11" fmla="*/ 10 h 33"/>
                <a:gd name="T12" fmla="*/ 6 w 32"/>
                <a:gd name="T13" fmla="*/ 14 h 33"/>
                <a:gd name="T14" fmla="*/ 3 w 32"/>
                <a:gd name="T15" fmla="*/ 18 h 33"/>
                <a:gd name="T16" fmla="*/ 1 w 32"/>
                <a:gd name="T17" fmla="*/ 23 h 33"/>
                <a:gd name="T18" fmla="*/ 0 w 32"/>
                <a:gd name="T19" fmla="*/ 28 h 33"/>
                <a:gd name="T20" fmla="*/ 0 w 32"/>
                <a:gd name="T2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33">
                  <a:moveTo>
                    <a:pt x="32" y="0"/>
                  </a:moveTo>
                  <a:lnTo>
                    <a:pt x="27" y="0"/>
                  </a:lnTo>
                  <a:lnTo>
                    <a:pt x="22" y="2"/>
                  </a:lnTo>
                  <a:lnTo>
                    <a:pt x="17" y="4"/>
                  </a:lnTo>
                  <a:lnTo>
                    <a:pt x="13" y="6"/>
                  </a:lnTo>
                  <a:lnTo>
                    <a:pt x="9" y="10"/>
                  </a:lnTo>
                  <a:lnTo>
                    <a:pt x="6" y="14"/>
                  </a:lnTo>
                  <a:lnTo>
                    <a:pt x="3" y="18"/>
                  </a:lnTo>
                  <a:lnTo>
                    <a:pt x="1" y="23"/>
                  </a:lnTo>
                  <a:lnTo>
                    <a:pt x="0" y="28"/>
                  </a:lnTo>
                  <a:lnTo>
                    <a:pt x="0" y="33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" name="Freeform 35"/>
            <p:cNvSpPr>
              <a:spLocks noChangeArrowheads="1"/>
            </p:cNvSpPr>
            <p:nvPr/>
          </p:nvSpPr>
          <p:spPr bwMode="auto">
            <a:xfrm>
              <a:off x="2095" y="3599"/>
              <a:ext cx="154" cy="158"/>
            </a:xfrm>
            <a:custGeom>
              <a:avLst/>
              <a:gdLst>
                <a:gd name="T0" fmla="*/ 0 w 32"/>
                <a:gd name="T1" fmla="*/ 0 h 33"/>
                <a:gd name="T2" fmla="*/ 0 w 32"/>
                <a:gd name="T3" fmla="*/ 6 h 33"/>
                <a:gd name="T4" fmla="*/ 1 w 32"/>
                <a:gd name="T5" fmla="*/ 11 h 33"/>
                <a:gd name="T6" fmla="*/ 3 w 32"/>
                <a:gd name="T7" fmla="*/ 15 h 33"/>
                <a:gd name="T8" fmla="*/ 6 w 32"/>
                <a:gd name="T9" fmla="*/ 20 h 33"/>
                <a:gd name="T10" fmla="*/ 9 w 32"/>
                <a:gd name="T11" fmla="*/ 24 h 33"/>
                <a:gd name="T12" fmla="*/ 13 w 32"/>
                <a:gd name="T13" fmla="*/ 27 h 33"/>
                <a:gd name="T14" fmla="*/ 17 w 32"/>
                <a:gd name="T15" fmla="*/ 30 h 33"/>
                <a:gd name="T16" fmla="*/ 22 w 32"/>
                <a:gd name="T17" fmla="*/ 32 h 33"/>
                <a:gd name="T18" fmla="*/ 27 w 32"/>
                <a:gd name="T19" fmla="*/ 33 h 33"/>
                <a:gd name="T20" fmla="*/ 32 w 32"/>
                <a:gd name="T2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33">
                  <a:moveTo>
                    <a:pt x="0" y="0"/>
                  </a:moveTo>
                  <a:lnTo>
                    <a:pt x="0" y="6"/>
                  </a:lnTo>
                  <a:lnTo>
                    <a:pt x="1" y="11"/>
                  </a:lnTo>
                  <a:lnTo>
                    <a:pt x="3" y="15"/>
                  </a:lnTo>
                  <a:lnTo>
                    <a:pt x="6" y="20"/>
                  </a:lnTo>
                  <a:lnTo>
                    <a:pt x="9" y="24"/>
                  </a:lnTo>
                  <a:lnTo>
                    <a:pt x="13" y="27"/>
                  </a:lnTo>
                  <a:lnTo>
                    <a:pt x="17" y="30"/>
                  </a:lnTo>
                  <a:lnTo>
                    <a:pt x="22" y="32"/>
                  </a:lnTo>
                  <a:lnTo>
                    <a:pt x="27" y="33"/>
                  </a:lnTo>
                  <a:lnTo>
                    <a:pt x="32" y="33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6" name="Freeform 36"/>
            <p:cNvSpPr>
              <a:spLocks noChangeArrowheads="1"/>
            </p:cNvSpPr>
            <p:nvPr/>
          </p:nvSpPr>
          <p:spPr bwMode="auto">
            <a:xfrm>
              <a:off x="3429" y="3599"/>
              <a:ext cx="159" cy="158"/>
            </a:xfrm>
            <a:custGeom>
              <a:avLst/>
              <a:gdLst>
                <a:gd name="T0" fmla="*/ 0 w 33"/>
                <a:gd name="T1" fmla="*/ 33 h 33"/>
                <a:gd name="T2" fmla="*/ 6 w 33"/>
                <a:gd name="T3" fmla="*/ 33 h 33"/>
                <a:gd name="T4" fmla="*/ 11 w 33"/>
                <a:gd name="T5" fmla="*/ 32 h 33"/>
                <a:gd name="T6" fmla="*/ 15 w 33"/>
                <a:gd name="T7" fmla="*/ 30 h 33"/>
                <a:gd name="T8" fmla="*/ 20 w 33"/>
                <a:gd name="T9" fmla="*/ 27 h 33"/>
                <a:gd name="T10" fmla="*/ 24 w 33"/>
                <a:gd name="T11" fmla="*/ 24 h 33"/>
                <a:gd name="T12" fmla="*/ 27 w 33"/>
                <a:gd name="T13" fmla="*/ 20 h 33"/>
                <a:gd name="T14" fmla="*/ 30 w 33"/>
                <a:gd name="T15" fmla="*/ 15 h 33"/>
                <a:gd name="T16" fmla="*/ 32 w 33"/>
                <a:gd name="T17" fmla="*/ 11 h 33"/>
                <a:gd name="T18" fmla="*/ 33 w 33"/>
                <a:gd name="T19" fmla="*/ 6 h 33"/>
                <a:gd name="T20" fmla="*/ 33 w 33"/>
                <a:gd name="T2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33">
                  <a:moveTo>
                    <a:pt x="0" y="33"/>
                  </a:moveTo>
                  <a:lnTo>
                    <a:pt x="6" y="33"/>
                  </a:lnTo>
                  <a:lnTo>
                    <a:pt x="11" y="32"/>
                  </a:lnTo>
                  <a:lnTo>
                    <a:pt x="15" y="30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7" y="20"/>
                  </a:lnTo>
                  <a:lnTo>
                    <a:pt x="30" y="15"/>
                  </a:lnTo>
                  <a:lnTo>
                    <a:pt x="32" y="11"/>
                  </a:lnTo>
                  <a:lnTo>
                    <a:pt x="33" y="6"/>
                  </a:lnTo>
                  <a:lnTo>
                    <a:pt x="33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" name="Freeform 37"/>
            <p:cNvSpPr>
              <a:spLocks noChangeArrowheads="1"/>
            </p:cNvSpPr>
            <p:nvPr/>
          </p:nvSpPr>
          <p:spPr bwMode="auto">
            <a:xfrm>
              <a:off x="3429" y="2735"/>
              <a:ext cx="159" cy="159"/>
            </a:xfrm>
            <a:custGeom>
              <a:avLst/>
              <a:gdLst>
                <a:gd name="T0" fmla="*/ 33 w 33"/>
                <a:gd name="T1" fmla="*/ 33 h 33"/>
                <a:gd name="T2" fmla="*/ 33 w 33"/>
                <a:gd name="T3" fmla="*/ 28 h 33"/>
                <a:gd name="T4" fmla="*/ 32 w 33"/>
                <a:gd name="T5" fmla="*/ 23 h 33"/>
                <a:gd name="T6" fmla="*/ 30 w 33"/>
                <a:gd name="T7" fmla="*/ 18 h 33"/>
                <a:gd name="T8" fmla="*/ 27 w 33"/>
                <a:gd name="T9" fmla="*/ 14 h 33"/>
                <a:gd name="T10" fmla="*/ 24 w 33"/>
                <a:gd name="T11" fmla="*/ 10 h 33"/>
                <a:gd name="T12" fmla="*/ 20 w 33"/>
                <a:gd name="T13" fmla="*/ 6 h 33"/>
                <a:gd name="T14" fmla="*/ 15 w 33"/>
                <a:gd name="T15" fmla="*/ 4 h 33"/>
                <a:gd name="T16" fmla="*/ 11 w 33"/>
                <a:gd name="T17" fmla="*/ 2 h 33"/>
                <a:gd name="T18" fmla="*/ 6 w 33"/>
                <a:gd name="T19" fmla="*/ 0 h 33"/>
                <a:gd name="T20" fmla="*/ 0 w 33"/>
                <a:gd name="T2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33">
                  <a:moveTo>
                    <a:pt x="33" y="33"/>
                  </a:moveTo>
                  <a:lnTo>
                    <a:pt x="33" y="28"/>
                  </a:lnTo>
                  <a:lnTo>
                    <a:pt x="32" y="23"/>
                  </a:lnTo>
                  <a:lnTo>
                    <a:pt x="30" y="18"/>
                  </a:lnTo>
                  <a:lnTo>
                    <a:pt x="27" y="14"/>
                  </a:lnTo>
                  <a:lnTo>
                    <a:pt x="24" y="10"/>
                  </a:lnTo>
                  <a:lnTo>
                    <a:pt x="20" y="6"/>
                  </a:lnTo>
                  <a:lnTo>
                    <a:pt x="15" y="4"/>
                  </a:lnTo>
                  <a:lnTo>
                    <a:pt x="11" y="2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8" name="Oval 38"/>
            <p:cNvSpPr>
              <a:spLocks noChangeArrowheads="1"/>
            </p:cNvSpPr>
            <p:nvPr/>
          </p:nvSpPr>
          <p:spPr bwMode="auto">
            <a:xfrm>
              <a:off x="2153" y="2793"/>
              <a:ext cx="197" cy="197"/>
            </a:xfrm>
            <a:prstGeom prst="ellips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" name="Oval 39"/>
            <p:cNvSpPr>
              <a:spLocks noChangeArrowheads="1"/>
            </p:cNvSpPr>
            <p:nvPr/>
          </p:nvSpPr>
          <p:spPr bwMode="auto">
            <a:xfrm>
              <a:off x="2153" y="3503"/>
              <a:ext cx="197" cy="197"/>
            </a:xfrm>
            <a:prstGeom prst="ellips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0" name="Line 40"/>
            <p:cNvSpPr>
              <a:spLocks noChangeShapeType="1"/>
            </p:cNvSpPr>
            <p:nvPr/>
          </p:nvSpPr>
          <p:spPr bwMode="auto">
            <a:xfrm flipV="1">
              <a:off x="2330" y="3009"/>
              <a:ext cx="1" cy="47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" name="Line 41"/>
            <p:cNvSpPr>
              <a:spLocks noChangeShapeType="1"/>
            </p:cNvSpPr>
            <p:nvPr/>
          </p:nvSpPr>
          <p:spPr bwMode="auto">
            <a:xfrm flipH="1">
              <a:off x="2330" y="3009"/>
              <a:ext cx="149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" name="Line 42"/>
            <p:cNvSpPr>
              <a:spLocks noChangeShapeType="1"/>
            </p:cNvSpPr>
            <p:nvPr/>
          </p:nvSpPr>
          <p:spPr bwMode="auto">
            <a:xfrm flipH="1">
              <a:off x="2330" y="3484"/>
              <a:ext cx="149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" name="Line 43"/>
            <p:cNvSpPr>
              <a:spLocks noChangeShapeType="1"/>
            </p:cNvSpPr>
            <p:nvPr/>
          </p:nvSpPr>
          <p:spPr bwMode="auto">
            <a:xfrm>
              <a:off x="2095" y="2894"/>
              <a:ext cx="1" cy="23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" name="Line 44"/>
            <p:cNvSpPr>
              <a:spLocks noChangeShapeType="1"/>
            </p:cNvSpPr>
            <p:nvPr/>
          </p:nvSpPr>
          <p:spPr bwMode="auto">
            <a:xfrm>
              <a:off x="2095" y="3364"/>
              <a:ext cx="1" cy="23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" name="Oval 45"/>
            <p:cNvSpPr>
              <a:spLocks noChangeArrowheads="1"/>
            </p:cNvSpPr>
            <p:nvPr/>
          </p:nvSpPr>
          <p:spPr bwMode="auto">
            <a:xfrm>
              <a:off x="2546" y="2951"/>
              <a:ext cx="591" cy="590"/>
            </a:xfrm>
            <a:prstGeom prst="ellips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6" name="Line 46"/>
            <p:cNvSpPr>
              <a:spLocks noChangeShapeType="1"/>
            </p:cNvSpPr>
            <p:nvPr/>
          </p:nvSpPr>
          <p:spPr bwMode="auto">
            <a:xfrm flipH="1">
              <a:off x="2095" y="3129"/>
              <a:ext cx="235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" name="Line 47"/>
            <p:cNvSpPr>
              <a:spLocks noChangeShapeType="1"/>
            </p:cNvSpPr>
            <p:nvPr/>
          </p:nvSpPr>
          <p:spPr bwMode="auto">
            <a:xfrm flipH="1">
              <a:off x="2095" y="3364"/>
              <a:ext cx="235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" name="Line 48"/>
            <p:cNvSpPr>
              <a:spLocks noChangeShapeType="1"/>
            </p:cNvSpPr>
            <p:nvPr/>
          </p:nvSpPr>
          <p:spPr bwMode="auto">
            <a:xfrm flipH="1">
              <a:off x="2518" y="3129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" name="Line 49"/>
            <p:cNvSpPr>
              <a:spLocks noChangeShapeType="1"/>
            </p:cNvSpPr>
            <p:nvPr/>
          </p:nvSpPr>
          <p:spPr bwMode="auto">
            <a:xfrm flipH="1">
              <a:off x="2455" y="3129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" name="Line 50"/>
            <p:cNvSpPr>
              <a:spLocks noChangeShapeType="1"/>
            </p:cNvSpPr>
            <p:nvPr/>
          </p:nvSpPr>
          <p:spPr bwMode="auto">
            <a:xfrm flipH="1">
              <a:off x="2393" y="3129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" name="Line 51"/>
            <p:cNvSpPr>
              <a:spLocks noChangeShapeType="1"/>
            </p:cNvSpPr>
            <p:nvPr/>
          </p:nvSpPr>
          <p:spPr bwMode="auto">
            <a:xfrm flipH="1">
              <a:off x="2330" y="3129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" name="Line 52"/>
            <p:cNvSpPr>
              <a:spLocks noChangeShapeType="1"/>
            </p:cNvSpPr>
            <p:nvPr/>
          </p:nvSpPr>
          <p:spPr bwMode="auto">
            <a:xfrm flipH="1">
              <a:off x="2518" y="3364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" name="Line 53"/>
            <p:cNvSpPr>
              <a:spLocks noChangeShapeType="1"/>
            </p:cNvSpPr>
            <p:nvPr/>
          </p:nvSpPr>
          <p:spPr bwMode="auto">
            <a:xfrm flipH="1">
              <a:off x="2455" y="3364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" name="Line 54"/>
            <p:cNvSpPr>
              <a:spLocks noChangeShapeType="1"/>
            </p:cNvSpPr>
            <p:nvPr/>
          </p:nvSpPr>
          <p:spPr bwMode="auto">
            <a:xfrm flipH="1">
              <a:off x="2393" y="3364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" name="Line 55"/>
            <p:cNvSpPr>
              <a:spLocks noChangeShapeType="1"/>
            </p:cNvSpPr>
            <p:nvPr/>
          </p:nvSpPr>
          <p:spPr bwMode="auto">
            <a:xfrm flipH="1">
              <a:off x="2330" y="3364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" name="Line 56"/>
            <p:cNvSpPr>
              <a:spLocks noChangeShapeType="1"/>
            </p:cNvSpPr>
            <p:nvPr/>
          </p:nvSpPr>
          <p:spPr bwMode="auto">
            <a:xfrm>
              <a:off x="2071" y="2894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" name="Line 57"/>
            <p:cNvSpPr>
              <a:spLocks noChangeShapeType="1"/>
            </p:cNvSpPr>
            <p:nvPr/>
          </p:nvSpPr>
          <p:spPr bwMode="auto">
            <a:xfrm>
              <a:off x="2210" y="2894"/>
              <a:ext cx="1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" name="Line 58"/>
            <p:cNvSpPr>
              <a:spLocks noChangeShapeType="1"/>
            </p:cNvSpPr>
            <p:nvPr/>
          </p:nvSpPr>
          <p:spPr bwMode="auto">
            <a:xfrm>
              <a:off x="2239" y="2894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" name="Line 59"/>
            <p:cNvSpPr>
              <a:spLocks noChangeShapeType="1"/>
            </p:cNvSpPr>
            <p:nvPr/>
          </p:nvSpPr>
          <p:spPr bwMode="auto">
            <a:xfrm>
              <a:off x="2378" y="2894"/>
              <a:ext cx="1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" name="Line 60"/>
            <p:cNvSpPr>
              <a:spLocks noChangeShapeType="1"/>
            </p:cNvSpPr>
            <p:nvPr/>
          </p:nvSpPr>
          <p:spPr bwMode="auto">
            <a:xfrm>
              <a:off x="2407" y="2894"/>
              <a:ext cx="19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" name="Line 61"/>
            <p:cNvSpPr>
              <a:spLocks noChangeShapeType="1"/>
            </p:cNvSpPr>
            <p:nvPr/>
          </p:nvSpPr>
          <p:spPr bwMode="auto">
            <a:xfrm flipV="1">
              <a:off x="2249" y="2946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" name="Line 62"/>
            <p:cNvSpPr>
              <a:spLocks noChangeShapeType="1"/>
            </p:cNvSpPr>
            <p:nvPr/>
          </p:nvSpPr>
          <p:spPr bwMode="auto">
            <a:xfrm flipV="1">
              <a:off x="2249" y="2918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" name="Line 63"/>
            <p:cNvSpPr>
              <a:spLocks noChangeShapeType="1"/>
            </p:cNvSpPr>
            <p:nvPr/>
          </p:nvSpPr>
          <p:spPr bwMode="auto">
            <a:xfrm flipV="1">
              <a:off x="2249" y="2779"/>
              <a:ext cx="1" cy="1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" name="Line 64"/>
            <p:cNvSpPr>
              <a:spLocks noChangeShapeType="1"/>
            </p:cNvSpPr>
            <p:nvPr/>
          </p:nvSpPr>
          <p:spPr bwMode="auto">
            <a:xfrm flipV="1">
              <a:off x="2249" y="2750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" name="Line 65"/>
            <p:cNvSpPr>
              <a:spLocks noChangeShapeType="1"/>
            </p:cNvSpPr>
            <p:nvPr/>
          </p:nvSpPr>
          <p:spPr bwMode="auto">
            <a:xfrm flipV="1">
              <a:off x="2249" y="2716"/>
              <a:ext cx="1" cy="19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" name="Line 66"/>
            <p:cNvSpPr>
              <a:spLocks noChangeShapeType="1"/>
            </p:cNvSpPr>
            <p:nvPr/>
          </p:nvSpPr>
          <p:spPr bwMode="auto">
            <a:xfrm>
              <a:off x="3257" y="2894"/>
              <a:ext cx="12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" name="Line 67"/>
            <p:cNvSpPr>
              <a:spLocks noChangeShapeType="1"/>
            </p:cNvSpPr>
            <p:nvPr/>
          </p:nvSpPr>
          <p:spPr bwMode="auto">
            <a:xfrm>
              <a:off x="3396" y="2894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" name="Line 68"/>
            <p:cNvSpPr>
              <a:spLocks noChangeShapeType="1"/>
            </p:cNvSpPr>
            <p:nvPr/>
          </p:nvSpPr>
          <p:spPr bwMode="auto">
            <a:xfrm>
              <a:off x="3424" y="2894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" name="Line 69"/>
            <p:cNvSpPr>
              <a:spLocks noChangeShapeType="1"/>
            </p:cNvSpPr>
            <p:nvPr/>
          </p:nvSpPr>
          <p:spPr bwMode="auto">
            <a:xfrm>
              <a:off x="3564" y="2894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" name="Line 70"/>
            <p:cNvSpPr>
              <a:spLocks noChangeShapeType="1"/>
            </p:cNvSpPr>
            <p:nvPr/>
          </p:nvSpPr>
          <p:spPr bwMode="auto">
            <a:xfrm>
              <a:off x="3592" y="2894"/>
              <a:ext cx="1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" name="Line 71"/>
            <p:cNvSpPr>
              <a:spLocks noChangeShapeType="1"/>
            </p:cNvSpPr>
            <p:nvPr/>
          </p:nvSpPr>
          <p:spPr bwMode="auto">
            <a:xfrm flipV="1">
              <a:off x="3429" y="2946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" name="Line 72"/>
            <p:cNvSpPr>
              <a:spLocks noChangeShapeType="1"/>
            </p:cNvSpPr>
            <p:nvPr/>
          </p:nvSpPr>
          <p:spPr bwMode="auto">
            <a:xfrm flipV="1">
              <a:off x="3429" y="2918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" name="Line 73"/>
            <p:cNvSpPr>
              <a:spLocks noChangeShapeType="1"/>
            </p:cNvSpPr>
            <p:nvPr/>
          </p:nvSpPr>
          <p:spPr bwMode="auto">
            <a:xfrm flipV="1">
              <a:off x="3429" y="2779"/>
              <a:ext cx="1" cy="1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" name="Line 74"/>
            <p:cNvSpPr>
              <a:spLocks noChangeShapeType="1"/>
            </p:cNvSpPr>
            <p:nvPr/>
          </p:nvSpPr>
          <p:spPr bwMode="auto">
            <a:xfrm flipV="1">
              <a:off x="3429" y="2750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" name="Line 75"/>
            <p:cNvSpPr>
              <a:spLocks noChangeShapeType="1"/>
            </p:cNvSpPr>
            <p:nvPr/>
          </p:nvSpPr>
          <p:spPr bwMode="auto">
            <a:xfrm flipV="1">
              <a:off x="3429" y="2716"/>
              <a:ext cx="1" cy="19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" name="Line 76"/>
            <p:cNvSpPr>
              <a:spLocks noChangeShapeType="1"/>
            </p:cNvSpPr>
            <p:nvPr/>
          </p:nvSpPr>
          <p:spPr bwMode="auto">
            <a:xfrm>
              <a:off x="3257" y="3599"/>
              <a:ext cx="12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" name="Line 77"/>
            <p:cNvSpPr>
              <a:spLocks noChangeShapeType="1"/>
            </p:cNvSpPr>
            <p:nvPr/>
          </p:nvSpPr>
          <p:spPr bwMode="auto">
            <a:xfrm>
              <a:off x="3396" y="3599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" name="Line 78"/>
            <p:cNvSpPr>
              <a:spLocks noChangeShapeType="1"/>
            </p:cNvSpPr>
            <p:nvPr/>
          </p:nvSpPr>
          <p:spPr bwMode="auto">
            <a:xfrm>
              <a:off x="3424" y="3599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" name="Line 79"/>
            <p:cNvSpPr>
              <a:spLocks noChangeShapeType="1"/>
            </p:cNvSpPr>
            <p:nvPr/>
          </p:nvSpPr>
          <p:spPr bwMode="auto">
            <a:xfrm>
              <a:off x="3564" y="3599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" name="Line 80"/>
            <p:cNvSpPr>
              <a:spLocks noChangeShapeType="1"/>
            </p:cNvSpPr>
            <p:nvPr/>
          </p:nvSpPr>
          <p:spPr bwMode="auto">
            <a:xfrm>
              <a:off x="3592" y="3599"/>
              <a:ext cx="1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" name="Line 81"/>
            <p:cNvSpPr>
              <a:spLocks noChangeShapeType="1"/>
            </p:cNvSpPr>
            <p:nvPr/>
          </p:nvSpPr>
          <p:spPr bwMode="auto">
            <a:xfrm flipV="1">
              <a:off x="3429" y="3652"/>
              <a:ext cx="1" cy="1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" name="Line 82"/>
            <p:cNvSpPr>
              <a:spLocks noChangeShapeType="1"/>
            </p:cNvSpPr>
            <p:nvPr/>
          </p:nvSpPr>
          <p:spPr bwMode="auto">
            <a:xfrm flipV="1">
              <a:off x="3429" y="3623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" name="Line 83"/>
            <p:cNvSpPr>
              <a:spLocks noChangeShapeType="1"/>
            </p:cNvSpPr>
            <p:nvPr/>
          </p:nvSpPr>
          <p:spPr bwMode="auto">
            <a:xfrm flipV="1">
              <a:off x="3429" y="3484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" name="Line 84"/>
            <p:cNvSpPr>
              <a:spLocks noChangeShapeType="1"/>
            </p:cNvSpPr>
            <p:nvPr/>
          </p:nvSpPr>
          <p:spPr bwMode="auto">
            <a:xfrm flipV="1">
              <a:off x="3429" y="3455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" name="Line 85"/>
            <p:cNvSpPr>
              <a:spLocks noChangeShapeType="1"/>
            </p:cNvSpPr>
            <p:nvPr/>
          </p:nvSpPr>
          <p:spPr bwMode="auto">
            <a:xfrm flipV="1">
              <a:off x="3429" y="3426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" name="Line 86"/>
            <p:cNvSpPr>
              <a:spLocks noChangeShapeType="1"/>
            </p:cNvSpPr>
            <p:nvPr/>
          </p:nvSpPr>
          <p:spPr bwMode="auto">
            <a:xfrm>
              <a:off x="2071" y="3599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" name="Line 87"/>
            <p:cNvSpPr>
              <a:spLocks noChangeShapeType="1"/>
            </p:cNvSpPr>
            <p:nvPr/>
          </p:nvSpPr>
          <p:spPr bwMode="auto">
            <a:xfrm>
              <a:off x="2210" y="3599"/>
              <a:ext cx="1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" name="Line 88"/>
            <p:cNvSpPr>
              <a:spLocks noChangeShapeType="1"/>
            </p:cNvSpPr>
            <p:nvPr/>
          </p:nvSpPr>
          <p:spPr bwMode="auto">
            <a:xfrm>
              <a:off x="2239" y="3599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" name="Line 89"/>
            <p:cNvSpPr>
              <a:spLocks noChangeShapeType="1"/>
            </p:cNvSpPr>
            <p:nvPr/>
          </p:nvSpPr>
          <p:spPr bwMode="auto">
            <a:xfrm>
              <a:off x="2378" y="3599"/>
              <a:ext cx="1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" name="Line 90"/>
            <p:cNvSpPr>
              <a:spLocks noChangeShapeType="1"/>
            </p:cNvSpPr>
            <p:nvPr/>
          </p:nvSpPr>
          <p:spPr bwMode="auto">
            <a:xfrm>
              <a:off x="2407" y="3599"/>
              <a:ext cx="19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" name="Line 91"/>
            <p:cNvSpPr>
              <a:spLocks noChangeShapeType="1"/>
            </p:cNvSpPr>
            <p:nvPr/>
          </p:nvSpPr>
          <p:spPr bwMode="auto">
            <a:xfrm flipV="1">
              <a:off x="2249" y="3652"/>
              <a:ext cx="1" cy="1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" name="Line 92"/>
            <p:cNvSpPr>
              <a:spLocks noChangeShapeType="1"/>
            </p:cNvSpPr>
            <p:nvPr/>
          </p:nvSpPr>
          <p:spPr bwMode="auto">
            <a:xfrm flipV="1">
              <a:off x="2249" y="3623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" name="Line 93"/>
            <p:cNvSpPr>
              <a:spLocks noChangeShapeType="1"/>
            </p:cNvSpPr>
            <p:nvPr/>
          </p:nvSpPr>
          <p:spPr bwMode="auto">
            <a:xfrm flipV="1">
              <a:off x="2249" y="3484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" name="Line 94"/>
            <p:cNvSpPr>
              <a:spLocks noChangeShapeType="1"/>
            </p:cNvSpPr>
            <p:nvPr/>
          </p:nvSpPr>
          <p:spPr bwMode="auto">
            <a:xfrm flipV="1">
              <a:off x="2249" y="3455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Line 95"/>
            <p:cNvSpPr>
              <a:spLocks noChangeShapeType="1"/>
            </p:cNvSpPr>
            <p:nvPr/>
          </p:nvSpPr>
          <p:spPr bwMode="auto">
            <a:xfrm flipV="1">
              <a:off x="2249" y="3426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" name="Line 96"/>
            <p:cNvSpPr>
              <a:spLocks noChangeShapeType="1"/>
            </p:cNvSpPr>
            <p:nvPr/>
          </p:nvSpPr>
          <p:spPr bwMode="auto">
            <a:xfrm flipH="1">
              <a:off x="3242" y="3090"/>
              <a:ext cx="149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Line 97"/>
            <p:cNvSpPr>
              <a:spLocks noChangeShapeType="1"/>
            </p:cNvSpPr>
            <p:nvPr/>
          </p:nvSpPr>
          <p:spPr bwMode="auto">
            <a:xfrm flipH="1">
              <a:off x="3242" y="3402"/>
              <a:ext cx="149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Line 98"/>
            <p:cNvSpPr>
              <a:spLocks noChangeShapeType="1"/>
            </p:cNvSpPr>
            <p:nvPr/>
          </p:nvSpPr>
          <p:spPr bwMode="auto">
            <a:xfrm flipH="1">
              <a:off x="3458" y="3364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Line 99"/>
            <p:cNvSpPr>
              <a:spLocks noChangeShapeType="1"/>
            </p:cNvSpPr>
            <p:nvPr/>
          </p:nvSpPr>
          <p:spPr bwMode="auto">
            <a:xfrm flipH="1">
              <a:off x="3396" y="3364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" name="Line 100"/>
            <p:cNvSpPr>
              <a:spLocks noChangeShapeType="1"/>
            </p:cNvSpPr>
            <p:nvPr/>
          </p:nvSpPr>
          <p:spPr bwMode="auto">
            <a:xfrm flipH="1">
              <a:off x="3333" y="3364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" name="Line 101"/>
            <p:cNvSpPr>
              <a:spLocks noChangeShapeType="1"/>
            </p:cNvSpPr>
            <p:nvPr/>
          </p:nvSpPr>
          <p:spPr bwMode="auto">
            <a:xfrm flipH="1">
              <a:off x="3271" y="3364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" name="Line 102"/>
            <p:cNvSpPr>
              <a:spLocks noChangeShapeType="1"/>
            </p:cNvSpPr>
            <p:nvPr/>
          </p:nvSpPr>
          <p:spPr bwMode="auto">
            <a:xfrm flipH="1">
              <a:off x="3209" y="3364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" name="Line 103"/>
            <p:cNvSpPr>
              <a:spLocks noChangeShapeType="1"/>
            </p:cNvSpPr>
            <p:nvPr/>
          </p:nvSpPr>
          <p:spPr bwMode="auto">
            <a:xfrm flipH="1">
              <a:off x="3146" y="3364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" name="Line 104"/>
            <p:cNvSpPr>
              <a:spLocks noChangeShapeType="1"/>
            </p:cNvSpPr>
            <p:nvPr/>
          </p:nvSpPr>
          <p:spPr bwMode="auto">
            <a:xfrm flipH="1">
              <a:off x="3113" y="3364"/>
              <a:ext cx="24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" name="Line 105"/>
            <p:cNvSpPr>
              <a:spLocks noChangeShapeType="1"/>
            </p:cNvSpPr>
            <p:nvPr/>
          </p:nvSpPr>
          <p:spPr bwMode="auto">
            <a:xfrm flipH="1">
              <a:off x="3458" y="3129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" name="Line 106"/>
            <p:cNvSpPr>
              <a:spLocks noChangeShapeType="1"/>
            </p:cNvSpPr>
            <p:nvPr/>
          </p:nvSpPr>
          <p:spPr bwMode="auto">
            <a:xfrm flipH="1">
              <a:off x="3396" y="3129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" name="Line 107"/>
            <p:cNvSpPr>
              <a:spLocks noChangeShapeType="1"/>
            </p:cNvSpPr>
            <p:nvPr/>
          </p:nvSpPr>
          <p:spPr bwMode="auto">
            <a:xfrm flipH="1">
              <a:off x="3333" y="3129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" name="Line 108"/>
            <p:cNvSpPr>
              <a:spLocks noChangeShapeType="1"/>
            </p:cNvSpPr>
            <p:nvPr/>
          </p:nvSpPr>
          <p:spPr bwMode="auto">
            <a:xfrm flipH="1">
              <a:off x="3271" y="3129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" name="Line 109"/>
            <p:cNvSpPr>
              <a:spLocks noChangeShapeType="1"/>
            </p:cNvSpPr>
            <p:nvPr/>
          </p:nvSpPr>
          <p:spPr bwMode="auto">
            <a:xfrm flipH="1">
              <a:off x="3209" y="3129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" name="Line 110"/>
            <p:cNvSpPr>
              <a:spLocks noChangeShapeType="1"/>
            </p:cNvSpPr>
            <p:nvPr/>
          </p:nvSpPr>
          <p:spPr bwMode="auto">
            <a:xfrm flipH="1">
              <a:off x="3146" y="3129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" name="Line 111"/>
            <p:cNvSpPr>
              <a:spLocks noChangeShapeType="1"/>
            </p:cNvSpPr>
            <p:nvPr/>
          </p:nvSpPr>
          <p:spPr bwMode="auto">
            <a:xfrm flipH="1">
              <a:off x="3113" y="3129"/>
              <a:ext cx="24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" name="Line 112"/>
            <p:cNvSpPr>
              <a:spLocks noChangeShapeType="1"/>
            </p:cNvSpPr>
            <p:nvPr/>
          </p:nvSpPr>
          <p:spPr bwMode="auto">
            <a:xfrm flipH="1">
              <a:off x="3439" y="2970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" name="Line 113"/>
            <p:cNvSpPr>
              <a:spLocks noChangeShapeType="1"/>
            </p:cNvSpPr>
            <p:nvPr/>
          </p:nvSpPr>
          <p:spPr bwMode="auto">
            <a:xfrm flipH="1">
              <a:off x="3410" y="2970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" name="Line 114"/>
            <p:cNvSpPr>
              <a:spLocks noChangeShapeType="1"/>
            </p:cNvSpPr>
            <p:nvPr/>
          </p:nvSpPr>
          <p:spPr bwMode="auto">
            <a:xfrm flipH="1">
              <a:off x="3324" y="2970"/>
              <a:ext cx="72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" name="Line 115"/>
            <p:cNvSpPr>
              <a:spLocks noChangeShapeType="1"/>
            </p:cNvSpPr>
            <p:nvPr/>
          </p:nvSpPr>
          <p:spPr bwMode="auto">
            <a:xfrm flipH="1">
              <a:off x="3448" y="3522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" name="Line 116"/>
            <p:cNvSpPr>
              <a:spLocks noChangeShapeType="1"/>
            </p:cNvSpPr>
            <p:nvPr/>
          </p:nvSpPr>
          <p:spPr bwMode="auto">
            <a:xfrm flipH="1">
              <a:off x="3420" y="3522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" name="Line 117"/>
            <p:cNvSpPr>
              <a:spLocks noChangeShapeType="1"/>
            </p:cNvSpPr>
            <p:nvPr/>
          </p:nvSpPr>
          <p:spPr bwMode="auto">
            <a:xfrm flipH="1">
              <a:off x="3333" y="3522"/>
              <a:ext cx="72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" name="Line 118"/>
            <p:cNvSpPr>
              <a:spLocks noChangeShapeType="1"/>
            </p:cNvSpPr>
            <p:nvPr/>
          </p:nvSpPr>
          <p:spPr bwMode="auto">
            <a:xfrm flipH="1">
              <a:off x="3520" y="3599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" name="Line 119"/>
            <p:cNvSpPr>
              <a:spLocks noChangeShapeType="1"/>
            </p:cNvSpPr>
            <p:nvPr/>
          </p:nvSpPr>
          <p:spPr bwMode="auto">
            <a:xfrm flipH="1">
              <a:off x="3458" y="3599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" name="Line 120"/>
            <p:cNvSpPr>
              <a:spLocks noChangeShapeType="1"/>
            </p:cNvSpPr>
            <p:nvPr/>
          </p:nvSpPr>
          <p:spPr bwMode="auto">
            <a:xfrm flipH="1">
              <a:off x="3396" y="3599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" name="Line 121"/>
            <p:cNvSpPr>
              <a:spLocks noChangeShapeType="1"/>
            </p:cNvSpPr>
            <p:nvPr/>
          </p:nvSpPr>
          <p:spPr bwMode="auto">
            <a:xfrm flipH="1">
              <a:off x="3333" y="3599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" name="Freeform 122"/>
            <p:cNvSpPr>
              <a:spLocks noChangeArrowheads="1"/>
            </p:cNvSpPr>
            <p:nvPr/>
          </p:nvSpPr>
          <p:spPr bwMode="auto">
            <a:xfrm>
              <a:off x="3333" y="2793"/>
              <a:ext cx="159" cy="192"/>
            </a:xfrm>
            <a:custGeom>
              <a:avLst/>
              <a:gdLst>
                <a:gd name="T0" fmla="*/ 33 w 33"/>
                <a:gd name="T1" fmla="*/ 4 h 40"/>
                <a:gd name="T2" fmla="*/ 27 w 33"/>
                <a:gd name="T3" fmla="*/ 1 h 40"/>
                <a:gd name="T4" fmla="*/ 20 w 33"/>
                <a:gd name="T5" fmla="*/ 0 h 40"/>
                <a:gd name="T6" fmla="*/ 13 w 33"/>
                <a:gd name="T7" fmla="*/ 2 h 40"/>
                <a:gd name="T8" fmla="*/ 7 w 33"/>
                <a:gd name="T9" fmla="*/ 5 h 40"/>
                <a:gd name="T10" fmla="*/ 3 w 33"/>
                <a:gd name="T11" fmla="*/ 11 h 40"/>
                <a:gd name="T12" fmla="*/ 0 w 33"/>
                <a:gd name="T13" fmla="*/ 17 h 40"/>
                <a:gd name="T14" fmla="*/ 0 w 33"/>
                <a:gd name="T15" fmla="*/ 24 h 40"/>
                <a:gd name="T16" fmla="*/ 2 w 33"/>
                <a:gd name="T17" fmla="*/ 30 h 40"/>
                <a:gd name="T18" fmla="*/ 6 w 33"/>
                <a:gd name="T19" fmla="*/ 36 h 40"/>
                <a:gd name="T20" fmla="*/ 12 w 33"/>
                <a:gd name="T21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40">
                  <a:moveTo>
                    <a:pt x="33" y="4"/>
                  </a:moveTo>
                  <a:lnTo>
                    <a:pt x="27" y="1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7" y="5"/>
                  </a:lnTo>
                  <a:lnTo>
                    <a:pt x="3" y="11"/>
                  </a:lnTo>
                  <a:lnTo>
                    <a:pt x="0" y="17"/>
                  </a:lnTo>
                  <a:lnTo>
                    <a:pt x="0" y="24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2" y="4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3" name="Line 123"/>
            <p:cNvSpPr>
              <a:spLocks noChangeShapeType="1"/>
            </p:cNvSpPr>
            <p:nvPr/>
          </p:nvSpPr>
          <p:spPr bwMode="auto">
            <a:xfrm flipH="1">
              <a:off x="3458" y="3033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" name="Line 124"/>
            <p:cNvSpPr>
              <a:spLocks noChangeShapeType="1"/>
            </p:cNvSpPr>
            <p:nvPr/>
          </p:nvSpPr>
          <p:spPr bwMode="auto">
            <a:xfrm flipH="1">
              <a:off x="3396" y="3033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" name="Line 125"/>
            <p:cNvSpPr>
              <a:spLocks noChangeShapeType="1"/>
            </p:cNvSpPr>
            <p:nvPr/>
          </p:nvSpPr>
          <p:spPr bwMode="auto">
            <a:xfrm flipH="1">
              <a:off x="3458" y="2913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" name="Line 126"/>
            <p:cNvSpPr>
              <a:spLocks noChangeShapeType="1"/>
            </p:cNvSpPr>
            <p:nvPr/>
          </p:nvSpPr>
          <p:spPr bwMode="auto">
            <a:xfrm flipH="1">
              <a:off x="3396" y="2913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" name="Line 127"/>
            <p:cNvSpPr>
              <a:spLocks noChangeShapeType="1"/>
            </p:cNvSpPr>
            <p:nvPr/>
          </p:nvSpPr>
          <p:spPr bwMode="auto">
            <a:xfrm flipH="1">
              <a:off x="3391" y="2836"/>
              <a:ext cx="120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" name="Freeform 128"/>
            <p:cNvSpPr>
              <a:spLocks noChangeArrowheads="1"/>
            </p:cNvSpPr>
            <p:nvPr/>
          </p:nvSpPr>
          <p:spPr bwMode="auto">
            <a:xfrm>
              <a:off x="3492" y="2812"/>
              <a:ext cx="38" cy="139"/>
            </a:xfrm>
            <a:custGeom>
              <a:avLst/>
              <a:gdLst>
                <a:gd name="T0" fmla="*/ 4 w 8"/>
                <a:gd name="T1" fmla="*/ 29 h 29"/>
                <a:gd name="T2" fmla="*/ 6 w 8"/>
                <a:gd name="T3" fmla="*/ 26 h 29"/>
                <a:gd name="T4" fmla="*/ 7 w 8"/>
                <a:gd name="T5" fmla="*/ 23 h 29"/>
                <a:gd name="T6" fmla="*/ 8 w 8"/>
                <a:gd name="T7" fmla="*/ 20 h 29"/>
                <a:gd name="T8" fmla="*/ 8 w 8"/>
                <a:gd name="T9" fmla="*/ 17 h 29"/>
                <a:gd name="T10" fmla="*/ 8 w 8"/>
                <a:gd name="T11" fmla="*/ 14 h 29"/>
                <a:gd name="T12" fmla="*/ 7 w 8"/>
                <a:gd name="T13" fmla="*/ 11 h 29"/>
                <a:gd name="T14" fmla="*/ 6 w 8"/>
                <a:gd name="T15" fmla="*/ 8 h 29"/>
                <a:gd name="T16" fmla="*/ 4 w 8"/>
                <a:gd name="T17" fmla="*/ 5 h 29"/>
                <a:gd name="T18" fmla="*/ 2 w 8"/>
                <a:gd name="T19" fmla="*/ 3 h 29"/>
                <a:gd name="T20" fmla="*/ 0 w 8"/>
                <a:gd name="T2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29">
                  <a:moveTo>
                    <a:pt x="4" y="29"/>
                  </a:moveTo>
                  <a:lnTo>
                    <a:pt x="6" y="26"/>
                  </a:lnTo>
                  <a:lnTo>
                    <a:pt x="7" y="23"/>
                  </a:lnTo>
                  <a:lnTo>
                    <a:pt x="8" y="20"/>
                  </a:lnTo>
                  <a:lnTo>
                    <a:pt x="8" y="17"/>
                  </a:lnTo>
                  <a:lnTo>
                    <a:pt x="8" y="14"/>
                  </a:lnTo>
                  <a:lnTo>
                    <a:pt x="7" y="11"/>
                  </a:lnTo>
                  <a:lnTo>
                    <a:pt x="6" y="8"/>
                  </a:lnTo>
                  <a:lnTo>
                    <a:pt x="4" y="5"/>
                  </a:lnTo>
                  <a:lnTo>
                    <a:pt x="2" y="3"/>
                  </a:lnTo>
                  <a:lnTo>
                    <a:pt x="0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9" name="Line 129"/>
            <p:cNvSpPr>
              <a:spLocks noChangeShapeType="1"/>
            </p:cNvSpPr>
            <p:nvPr/>
          </p:nvSpPr>
          <p:spPr bwMode="auto">
            <a:xfrm flipH="1">
              <a:off x="3458" y="3580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" name="Line 130"/>
            <p:cNvSpPr>
              <a:spLocks noChangeShapeType="1"/>
            </p:cNvSpPr>
            <p:nvPr/>
          </p:nvSpPr>
          <p:spPr bwMode="auto">
            <a:xfrm flipH="1">
              <a:off x="3396" y="3580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" name="Line 131"/>
            <p:cNvSpPr>
              <a:spLocks noChangeShapeType="1"/>
            </p:cNvSpPr>
            <p:nvPr/>
          </p:nvSpPr>
          <p:spPr bwMode="auto">
            <a:xfrm flipH="1">
              <a:off x="3458" y="3465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" name="Line 132"/>
            <p:cNvSpPr>
              <a:spLocks noChangeShapeType="1"/>
            </p:cNvSpPr>
            <p:nvPr/>
          </p:nvSpPr>
          <p:spPr bwMode="auto">
            <a:xfrm flipH="1">
              <a:off x="3396" y="3465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" name="Line 133"/>
            <p:cNvSpPr>
              <a:spLocks noChangeShapeType="1"/>
            </p:cNvSpPr>
            <p:nvPr/>
          </p:nvSpPr>
          <p:spPr bwMode="auto">
            <a:xfrm flipH="1">
              <a:off x="3391" y="3661"/>
              <a:ext cx="120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" name="Line 134"/>
            <p:cNvSpPr>
              <a:spLocks noChangeShapeType="1"/>
            </p:cNvSpPr>
            <p:nvPr/>
          </p:nvSpPr>
          <p:spPr bwMode="auto">
            <a:xfrm flipV="1">
              <a:off x="3511" y="2836"/>
              <a:ext cx="1" cy="82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" name="Line 135"/>
            <p:cNvSpPr>
              <a:spLocks noChangeShapeType="1"/>
            </p:cNvSpPr>
            <p:nvPr/>
          </p:nvSpPr>
          <p:spPr bwMode="auto">
            <a:xfrm flipV="1">
              <a:off x="3391" y="2836"/>
              <a:ext cx="1" cy="82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" name="Freeform 136"/>
            <p:cNvSpPr>
              <a:spLocks noChangeArrowheads="1"/>
            </p:cNvSpPr>
            <p:nvPr/>
          </p:nvSpPr>
          <p:spPr bwMode="auto">
            <a:xfrm>
              <a:off x="3333" y="3513"/>
              <a:ext cx="197" cy="187"/>
            </a:xfrm>
            <a:custGeom>
              <a:avLst/>
              <a:gdLst>
                <a:gd name="T0" fmla="*/ 12 w 41"/>
                <a:gd name="T1" fmla="*/ 0 h 39"/>
                <a:gd name="T2" fmla="*/ 7 w 41"/>
                <a:gd name="T3" fmla="*/ 3 h 39"/>
                <a:gd name="T4" fmla="*/ 2 w 41"/>
                <a:gd name="T5" fmla="*/ 9 h 39"/>
                <a:gd name="T6" fmla="*/ 0 w 41"/>
                <a:gd name="T7" fmla="*/ 15 h 39"/>
                <a:gd name="T8" fmla="*/ 0 w 41"/>
                <a:gd name="T9" fmla="*/ 22 h 39"/>
                <a:gd name="T10" fmla="*/ 2 w 41"/>
                <a:gd name="T11" fmla="*/ 28 h 39"/>
                <a:gd name="T12" fmla="*/ 6 w 41"/>
                <a:gd name="T13" fmla="*/ 33 h 39"/>
                <a:gd name="T14" fmla="*/ 12 w 41"/>
                <a:gd name="T15" fmla="*/ 37 h 39"/>
                <a:gd name="T16" fmla="*/ 19 w 41"/>
                <a:gd name="T17" fmla="*/ 39 h 39"/>
                <a:gd name="T18" fmla="*/ 25 w 41"/>
                <a:gd name="T19" fmla="*/ 38 h 39"/>
                <a:gd name="T20" fmla="*/ 31 w 41"/>
                <a:gd name="T21" fmla="*/ 36 h 39"/>
                <a:gd name="T22" fmla="*/ 36 w 41"/>
                <a:gd name="T23" fmla="*/ 31 h 39"/>
                <a:gd name="T24" fmla="*/ 40 w 41"/>
                <a:gd name="T25" fmla="*/ 25 h 39"/>
                <a:gd name="T26" fmla="*/ 41 w 41"/>
                <a:gd name="T27" fmla="*/ 19 h 39"/>
                <a:gd name="T28" fmla="*/ 40 w 41"/>
                <a:gd name="T29" fmla="*/ 12 h 39"/>
                <a:gd name="T30" fmla="*/ 37 w 41"/>
                <a:gd name="T31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" h="39">
                  <a:moveTo>
                    <a:pt x="12" y="0"/>
                  </a:moveTo>
                  <a:lnTo>
                    <a:pt x="7" y="3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22"/>
                  </a:lnTo>
                  <a:lnTo>
                    <a:pt x="2" y="28"/>
                  </a:lnTo>
                  <a:lnTo>
                    <a:pt x="6" y="33"/>
                  </a:lnTo>
                  <a:lnTo>
                    <a:pt x="12" y="37"/>
                  </a:lnTo>
                  <a:lnTo>
                    <a:pt x="19" y="39"/>
                  </a:lnTo>
                  <a:lnTo>
                    <a:pt x="25" y="38"/>
                  </a:lnTo>
                  <a:lnTo>
                    <a:pt x="31" y="36"/>
                  </a:lnTo>
                  <a:lnTo>
                    <a:pt x="36" y="31"/>
                  </a:lnTo>
                  <a:lnTo>
                    <a:pt x="40" y="25"/>
                  </a:lnTo>
                  <a:lnTo>
                    <a:pt x="41" y="19"/>
                  </a:lnTo>
                  <a:lnTo>
                    <a:pt x="40" y="12"/>
                  </a:lnTo>
                  <a:lnTo>
                    <a:pt x="37" y="6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7" name="Line 137"/>
            <p:cNvSpPr>
              <a:spLocks noChangeShapeType="1"/>
            </p:cNvSpPr>
            <p:nvPr/>
          </p:nvSpPr>
          <p:spPr bwMode="auto">
            <a:xfrm flipV="1">
              <a:off x="2839" y="3714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" name="Line 138"/>
            <p:cNvSpPr>
              <a:spLocks noChangeShapeType="1"/>
            </p:cNvSpPr>
            <p:nvPr/>
          </p:nvSpPr>
          <p:spPr bwMode="auto">
            <a:xfrm flipV="1">
              <a:off x="2839" y="3685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" name="Line 139"/>
            <p:cNvSpPr>
              <a:spLocks noChangeShapeType="1"/>
            </p:cNvSpPr>
            <p:nvPr/>
          </p:nvSpPr>
          <p:spPr bwMode="auto">
            <a:xfrm flipV="1">
              <a:off x="2839" y="3546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" name="Line 140"/>
            <p:cNvSpPr>
              <a:spLocks noChangeShapeType="1"/>
            </p:cNvSpPr>
            <p:nvPr/>
          </p:nvSpPr>
          <p:spPr bwMode="auto">
            <a:xfrm flipV="1">
              <a:off x="2839" y="3517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" name="Line 141"/>
            <p:cNvSpPr>
              <a:spLocks noChangeShapeType="1"/>
            </p:cNvSpPr>
            <p:nvPr/>
          </p:nvSpPr>
          <p:spPr bwMode="auto">
            <a:xfrm flipV="1">
              <a:off x="2839" y="3378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" name="Line 142"/>
            <p:cNvSpPr>
              <a:spLocks noChangeShapeType="1"/>
            </p:cNvSpPr>
            <p:nvPr/>
          </p:nvSpPr>
          <p:spPr bwMode="auto">
            <a:xfrm flipV="1">
              <a:off x="2839" y="3349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" name="Line 143"/>
            <p:cNvSpPr>
              <a:spLocks noChangeShapeType="1"/>
            </p:cNvSpPr>
            <p:nvPr/>
          </p:nvSpPr>
          <p:spPr bwMode="auto">
            <a:xfrm flipV="1">
              <a:off x="2839" y="3210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" name="Line 144"/>
            <p:cNvSpPr>
              <a:spLocks noChangeShapeType="1"/>
            </p:cNvSpPr>
            <p:nvPr/>
          </p:nvSpPr>
          <p:spPr bwMode="auto">
            <a:xfrm flipV="1">
              <a:off x="2839" y="3182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" name="Line 145"/>
            <p:cNvSpPr>
              <a:spLocks noChangeShapeType="1"/>
            </p:cNvSpPr>
            <p:nvPr/>
          </p:nvSpPr>
          <p:spPr bwMode="auto">
            <a:xfrm flipV="1">
              <a:off x="2839" y="3042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" name="Line 146"/>
            <p:cNvSpPr>
              <a:spLocks noChangeShapeType="1"/>
            </p:cNvSpPr>
            <p:nvPr/>
          </p:nvSpPr>
          <p:spPr bwMode="auto">
            <a:xfrm flipV="1">
              <a:off x="2839" y="3014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" name="Line 147"/>
            <p:cNvSpPr>
              <a:spLocks noChangeShapeType="1"/>
            </p:cNvSpPr>
            <p:nvPr/>
          </p:nvSpPr>
          <p:spPr bwMode="auto">
            <a:xfrm flipV="1">
              <a:off x="2839" y="2875"/>
              <a:ext cx="1" cy="1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" name="Line 148"/>
            <p:cNvSpPr>
              <a:spLocks noChangeShapeType="1"/>
            </p:cNvSpPr>
            <p:nvPr/>
          </p:nvSpPr>
          <p:spPr bwMode="auto">
            <a:xfrm flipV="1">
              <a:off x="2839" y="2846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" name="Line 149"/>
            <p:cNvSpPr>
              <a:spLocks noChangeShapeType="1"/>
            </p:cNvSpPr>
            <p:nvPr/>
          </p:nvSpPr>
          <p:spPr bwMode="auto">
            <a:xfrm flipV="1">
              <a:off x="2839" y="2707"/>
              <a:ext cx="1" cy="1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0" name="Line 150"/>
            <p:cNvSpPr>
              <a:spLocks noChangeShapeType="1"/>
            </p:cNvSpPr>
            <p:nvPr/>
          </p:nvSpPr>
          <p:spPr bwMode="auto">
            <a:xfrm flipV="1">
              <a:off x="2839" y="2678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" name="Line 151"/>
            <p:cNvSpPr>
              <a:spLocks noChangeShapeType="1"/>
            </p:cNvSpPr>
            <p:nvPr/>
          </p:nvSpPr>
          <p:spPr bwMode="auto">
            <a:xfrm flipV="1">
              <a:off x="2839" y="2649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2" name="Group 152"/>
          <p:cNvGrpSpPr>
            <a:grpSpLocks/>
          </p:cNvGrpSpPr>
          <p:nvPr/>
        </p:nvGrpSpPr>
        <p:grpSpPr bwMode="auto">
          <a:xfrm>
            <a:off x="8221664" y="1173164"/>
            <a:ext cx="1463675" cy="1989137"/>
            <a:chOff x="4219" y="739"/>
            <a:chExt cx="922" cy="1253"/>
          </a:xfrm>
        </p:grpSpPr>
        <p:sp>
          <p:nvSpPr>
            <p:cNvPr id="153" name="Line 153"/>
            <p:cNvSpPr>
              <a:spLocks noChangeShapeType="1"/>
            </p:cNvSpPr>
            <p:nvPr/>
          </p:nvSpPr>
          <p:spPr bwMode="auto">
            <a:xfrm flipV="1">
              <a:off x="4445" y="1296"/>
              <a:ext cx="1" cy="432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" name="Line 154"/>
            <p:cNvSpPr>
              <a:spLocks noChangeShapeType="1"/>
            </p:cNvSpPr>
            <p:nvPr/>
          </p:nvSpPr>
          <p:spPr bwMode="auto">
            <a:xfrm flipV="1">
              <a:off x="4997" y="1296"/>
              <a:ext cx="1" cy="432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" name="Freeform 155"/>
            <p:cNvSpPr>
              <a:spLocks noChangeArrowheads="1"/>
            </p:cNvSpPr>
            <p:nvPr/>
          </p:nvSpPr>
          <p:spPr bwMode="auto">
            <a:xfrm>
              <a:off x="4445" y="1018"/>
              <a:ext cx="552" cy="278"/>
            </a:xfrm>
            <a:custGeom>
              <a:avLst/>
              <a:gdLst>
                <a:gd name="T0" fmla="*/ 115 w 115"/>
                <a:gd name="T1" fmla="*/ 58 h 58"/>
                <a:gd name="T2" fmla="*/ 113 w 115"/>
                <a:gd name="T3" fmla="*/ 43 h 58"/>
                <a:gd name="T4" fmla="*/ 108 w 115"/>
                <a:gd name="T5" fmla="*/ 29 h 58"/>
                <a:gd name="T6" fmla="*/ 98 w 115"/>
                <a:gd name="T7" fmla="*/ 17 h 58"/>
                <a:gd name="T8" fmla="*/ 87 w 115"/>
                <a:gd name="T9" fmla="*/ 8 h 58"/>
                <a:gd name="T10" fmla="*/ 73 w 115"/>
                <a:gd name="T11" fmla="*/ 2 h 58"/>
                <a:gd name="T12" fmla="*/ 58 w 115"/>
                <a:gd name="T13" fmla="*/ 0 h 58"/>
                <a:gd name="T14" fmla="*/ 43 w 115"/>
                <a:gd name="T15" fmla="*/ 2 h 58"/>
                <a:gd name="T16" fmla="*/ 29 w 115"/>
                <a:gd name="T17" fmla="*/ 8 h 58"/>
                <a:gd name="T18" fmla="*/ 17 w 115"/>
                <a:gd name="T19" fmla="*/ 17 h 58"/>
                <a:gd name="T20" fmla="*/ 8 w 115"/>
                <a:gd name="T21" fmla="*/ 29 h 58"/>
                <a:gd name="T22" fmla="*/ 2 w 115"/>
                <a:gd name="T23" fmla="*/ 43 h 58"/>
                <a:gd name="T24" fmla="*/ 0 w 115"/>
                <a:gd name="T2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5" h="58">
                  <a:moveTo>
                    <a:pt x="115" y="58"/>
                  </a:moveTo>
                  <a:lnTo>
                    <a:pt x="113" y="43"/>
                  </a:lnTo>
                  <a:lnTo>
                    <a:pt x="108" y="29"/>
                  </a:lnTo>
                  <a:lnTo>
                    <a:pt x="98" y="17"/>
                  </a:lnTo>
                  <a:lnTo>
                    <a:pt x="87" y="8"/>
                  </a:lnTo>
                  <a:lnTo>
                    <a:pt x="73" y="2"/>
                  </a:lnTo>
                  <a:lnTo>
                    <a:pt x="58" y="0"/>
                  </a:lnTo>
                  <a:lnTo>
                    <a:pt x="43" y="2"/>
                  </a:lnTo>
                  <a:lnTo>
                    <a:pt x="29" y="8"/>
                  </a:lnTo>
                  <a:lnTo>
                    <a:pt x="17" y="17"/>
                  </a:lnTo>
                  <a:lnTo>
                    <a:pt x="8" y="29"/>
                  </a:lnTo>
                  <a:lnTo>
                    <a:pt x="2" y="43"/>
                  </a:lnTo>
                  <a:lnTo>
                    <a:pt x="0" y="58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6" name="Freeform 156"/>
            <p:cNvSpPr>
              <a:spLocks noChangeArrowheads="1"/>
            </p:cNvSpPr>
            <p:nvPr/>
          </p:nvSpPr>
          <p:spPr bwMode="auto">
            <a:xfrm>
              <a:off x="4603" y="1176"/>
              <a:ext cx="236" cy="120"/>
            </a:xfrm>
            <a:custGeom>
              <a:avLst/>
              <a:gdLst>
                <a:gd name="T0" fmla="*/ 49 w 49"/>
                <a:gd name="T1" fmla="*/ 25 h 25"/>
                <a:gd name="T2" fmla="*/ 48 w 49"/>
                <a:gd name="T3" fmla="*/ 17 h 25"/>
                <a:gd name="T4" fmla="*/ 45 w 49"/>
                <a:gd name="T5" fmla="*/ 10 h 25"/>
                <a:gd name="T6" fmla="*/ 39 w 49"/>
                <a:gd name="T7" fmla="*/ 5 h 25"/>
                <a:gd name="T8" fmla="*/ 32 w 49"/>
                <a:gd name="T9" fmla="*/ 1 h 25"/>
                <a:gd name="T10" fmla="*/ 25 w 49"/>
                <a:gd name="T11" fmla="*/ 0 h 25"/>
                <a:gd name="T12" fmla="*/ 17 w 49"/>
                <a:gd name="T13" fmla="*/ 1 h 25"/>
                <a:gd name="T14" fmla="*/ 10 w 49"/>
                <a:gd name="T15" fmla="*/ 5 h 25"/>
                <a:gd name="T16" fmla="*/ 5 w 49"/>
                <a:gd name="T17" fmla="*/ 10 h 25"/>
                <a:gd name="T18" fmla="*/ 1 w 49"/>
                <a:gd name="T19" fmla="*/ 17 h 25"/>
                <a:gd name="T20" fmla="*/ 0 w 49"/>
                <a:gd name="T2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9" h="25">
                  <a:moveTo>
                    <a:pt x="49" y="25"/>
                  </a:moveTo>
                  <a:lnTo>
                    <a:pt x="48" y="17"/>
                  </a:lnTo>
                  <a:lnTo>
                    <a:pt x="45" y="10"/>
                  </a:lnTo>
                  <a:lnTo>
                    <a:pt x="39" y="5"/>
                  </a:lnTo>
                  <a:lnTo>
                    <a:pt x="32" y="1"/>
                  </a:lnTo>
                  <a:lnTo>
                    <a:pt x="25" y="0"/>
                  </a:lnTo>
                  <a:lnTo>
                    <a:pt x="17" y="1"/>
                  </a:lnTo>
                  <a:lnTo>
                    <a:pt x="10" y="5"/>
                  </a:lnTo>
                  <a:lnTo>
                    <a:pt x="5" y="10"/>
                  </a:lnTo>
                  <a:lnTo>
                    <a:pt x="1" y="17"/>
                  </a:lnTo>
                  <a:lnTo>
                    <a:pt x="0" y="25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7" name="Line 157"/>
            <p:cNvSpPr>
              <a:spLocks noChangeShapeType="1"/>
            </p:cNvSpPr>
            <p:nvPr/>
          </p:nvSpPr>
          <p:spPr bwMode="auto">
            <a:xfrm flipV="1">
              <a:off x="4839" y="1296"/>
              <a:ext cx="1" cy="62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" name="Line 158"/>
            <p:cNvSpPr>
              <a:spLocks noChangeShapeType="1"/>
            </p:cNvSpPr>
            <p:nvPr/>
          </p:nvSpPr>
          <p:spPr bwMode="auto">
            <a:xfrm flipV="1">
              <a:off x="4603" y="1296"/>
              <a:ext cx="1" cy="62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9" name="Freeform 159"/>
            <p:cNvSpPr>
              <a:spLocks noChangeArrowheads="1"/>
            </p:cNvSpPr>
            <p:nvPr/>
          </p:nvSpPr>
          <p:spPr bwMode="auto">
            <a:xfrm>
              <a:off x="4219" y="830"/>
              <a:ext cx="922" cy="1094"/>
            </a:xfrm>
            <a:custGeom>
              <a:avLst/>
              <a:gdLst>
                <a:gd name="T0" fmla="*/ 0 w 922"/>
                <a:gd name="T1" fmla="*/ 1075 h 1094"/>
                <a:gd name="T2" fmla="*/ 0 w 922"/>
                <a:gd name="T3" fmla="*/ 1027 h 1094"/>
                <a:gd name="T4" fmla="*/ 5 w 922"/>
                <a:gd name="T5" fmla="*/ 950 h 1094"/>
                <a:gd name="T6" fmla="*/ 10 w 922"/>
                <a:gd name="T7" fmla="*/ 874 h 1094"/>
                <a:gd name="T8" fmla="*/ 10 w 922"/>
                <a:gd name="T9" fmla="*/ 797 h 1094"/>
                <a:gd name="T10" fmla="*/ 15 w 922"/>
                <a:gd name="T11" fmla="*/ 725 h 1094"/>
                <a:gd name="T12" fmla="*/ 20 w 922"/>
                <a:gd name="T13" fmla="*/ 667 h 1094"/>
                <a:gd name="T14" fmla="*/ 29 w 922"/>
                <a:gd name="T15" fmla="*/ 610 h 1094"/>
                <a:gd name="T16" fmla="*/ 44 w 922"/>
                <a:gd name="T17" fmla="*/ 552 h 1094"/>
                <a:gd name="T18" fmla="*/ 53 w 922"/>
                <a:gd name="T19" fmla="*/ 495 h 1094"/>
                <a:gd name="T20" fmla="*/ 58 w 922"/>
                <a:gd name="T21" fmla="*/ 437 h 1094"/>
                <a:gd name="T22" fmla="*/ 68 w 922"/>
                <a:gd name="T23" fmla="*/ 384 h 1094"/>
                <a:gd name="T24" fmla="*/ 82 w 922"/>
                <a:gd name="T25" fmla="*/ 341 h 1094"/>
                <a:gd name="T26" fmla="*/ 96 w 922"/>
                <a:gd name="T27" fmla="*/ 298 h 1094"/>
                <a:gd name="T28" fmla="*/ 116 w 922"/>
                <a:gd name="T29" fmla="*/ 260 h 1094"/>
                <a:gd name="T30" fmla="*/ 130 w 922"/>
                <a:gd name="T31" fmla="*/ 216 h 1094"/>
                <a:gd name="T32" fmla="*/ 144 w 922"/>
                <a:gd name="T33" fmla="*/ 173 h 1094"/>
                <a:gd name="T34" fmla="*/ 154 w 922"/>
                <a:gd name="T35" fmla="*/ 149 h 1094"/>
                <a:gd name="T36" fmla="*/ 164 w 922"/>
                <a:gd name="T37" fmla="*/ 130 h 1094"/>
                <a:gd name="T38" fmla="*/ 178 w 922"/>
                <a:gd name="T39" fmla="*/ 111 h 1094"/>
                <a:gd name="T40" fmla="*/ 192 w 922"/>
                <a:gd name="T41" fmla="*/ 92 h 1094"/>
                <a:gd name="T42" fmla="*/ 202 w 922"/>
                <a:gd name="T43" fmla="*/ 72 h 1094"/>
                <a:gd name="T44" fmla="*/ 212 w 922"/>
                <a:gd name="T45" fmla="*/ 53 h 1094"/>
                <a:gd name="T46" fmla="*/ 231 w 922"/>
                <a:gd name="T47" fmla="*/ 44 h 1094"/>
                <a:gd name="T48" fmla="*/ 250 w 922"/>
                <a:gd name="T49" fmla="*/ 34 h 1094"/>
                <a:gd name="T50" fmla="*/ 274 w 922"/>
                <a:gd name="T51" fmla="*/ 34 h 1094"/>
                <a:gd name="T52" fmla="*/ 293 w 922"/>
                <a:gd name="T53" fmla="*/ 29 h 1094"/>
                <a:gd name="T54" fmla="*/ 312 w 922"/>
                <a:gd name="T55" fmla="*/ 15 h 1094"/>
                <a:gd name="T56" fmla="*/ 351 w 922"/>
                <a:gd name="T57" fmla="*/ 5 h 1094"/>
                <a:gd name="T58" fmla="*/ 423 w 922"/>
                <a:gd name="T59" fmla="*/ 5 h 1094"/>
                <a:gd name="T60" fmla="*/ 495 w 922"/>
                <a:gd name="T61" fmla="*/ 10 h 1094"/>
                <a:gd name="T62" fmla="*/ 567 w 922"/>
                <a:gd name="T63" fmla="*/ 15 h 1094"/>
                <a:gd name="T64" fmla="*/ 639 w 922"/>
                <a:gd name="T65" fmla="*/ 20 h 1094"/>
                <a:gd name="T66" fmla="*/ 711 w 922"/>
                <a:gd name="T67" fmla="*/ 10 h 1094"/>
                <a:gd name="T68" fmla="*/ 744 w 922"/>
                <a:gd name="T69" fmla="*/ 20 h 1094"/>
                <a:gd name="T70" fmla="*/ 759 w 922"/>
                <a:gd name="T71" fmla="*/ 29 h 1094"/>
                <a:gd name="T72" fmla="*/ 768 w 922"/>
                <a:gd name="T73" fmla="*/ 44 h 1094"/>
                <a:gd name="T74" fmla="*/ 783 w 922"/>
                <a:gd name="T75" fmla="*/ 58 h 1094"/>
                <a:gd name="T76" fmla="*/ 792 w 922"/>
                <a:gd name="T77" fmla="*/ 68 h 1094"/>
                <a:gd name="T78" fmla="*/ 811 w 922"/>
                <a:gd name="T79" fmla="*/ 72 h 1094"/>
                <a:gd name="T80" fmla="*/ 826 w 922"/>
                <a:gd name="T81" fmla="*/ 101 h 1094"/>
                <a:gd name="T82" fmla="*/ 831 w 922"/>
                <a:gd name="T83" fmla="*/ 140 h 1094"/>
                <a:gd name="T84" fmla="*/ 840 w 922"/>
                <a:gd name="T85" fmla="*/ 178 h 1094"/>
                <a:gd name="T86" fmla="*/ 845 w 922"/>
                <a:gd name="T87" fmla="*/ 212 h 1094"/>
                <a:gd name="T88" fmla="*/ 859 w 922"/>
                <a:gd name="T89" fmla="*/ 245 h 1094"/>
                <a:gd name="T90" fmla="*/ 869 w 922"/>
                <a:gd name="T91" fmla="*/ 279 h 1094"/>
                <a:gd name="T92" fmla="*/ 879 w 922"/>
                <a:gd name="T93" fmla="*/ 317 h 1094"/>
                <a:gd name="T94" fmla="*/ 883 w 922"/>
                <a:gd name="T95" fmla="*/ 351 h 1094"/>
                <a:gd name="T96" fmla="*/ 888 w 922"/>
                <a:gd name="T97" fmla="*/ 389 h 1094"/>
                <a:gd name="T98" fmla="*/ 893 w 922"/>
                <a:gd name="T99" fmla="*/ 423 h 1094"/>
                <a:gd name="T100" fmla="*/ 903 w 922"/>
                <a:gd name="T101" fmla="*/ 461 h 1094"/>
                <a:gd name="T102" fmla="*/ 912 w 922"/>
                <a:gd name="T103" fmla="*/ 504 h 1094"/>
                <a:gd name="T104" fmla="*/ 912 w 922"/>
                <a:gd name="T105" fmla="*/ 552 h 1094"/>
                <a:gd name="T106" fmla="*/ 912 w 922"/>
                <a:gd name="T107" fmla="*/ 605 h 1094"/>
                <a:gd name="T108" fmla="*/ 907 w 922"/>
                <a:gd name="T109" fmla="*/ 658 h 1094"/>
                <a:gd name="T110" fmla="*/ 907 w 922"/>
                <a:gd name="T111" fmla="*/ 706 h 1094"/>
                <a:gd name="T112" fmla="*/ 912 w 922"/>
                <a:gd name="T113" fmla="*/ 759 h 1094"/>
                <a:gd name="T114" fmla="*/ 917 w 922"/>
                <a:gd name="T115" fmla="*/ 830 h 1094"/>
                <a:gd name="T116" fmla="*/ 922 w 922"/>
                <a:gd name="T117" fmla="*/ 902 h 1094"/>
                <a:gd name="T118" fmla="*/ 922 w 922"/>
                <a:gd name="T119" fmla="*/ 979 h 1094"/>
                <a:gd name="T120" fmla="*/ 922 w 922"/>
                <a:gd name="T121" fmla="*/ 1056 h 1094"/>
                <a:gd name="T122" fmla="*/ 922 w 922"/>
                <a:gd name="T123" fmla="*/ 1090 h 10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22" h="1094">
                  <a:moveTo>
                    <a:pt x="0" y="1094"/>
                  </a:moveTo>
                  <a:lnTo>
                    <a:pt x="0" y="1090"/>
                  </a:lnTo>
                  <a:lnTo>
                    <a:pt x="0" y="1085"/>
                  </a:lnTo>
                  <a:lnTo>
                    <a:pt x="0" y="1080"/>
                  </a:lnTo>
                  <a:lnTo>
                    <a:pt x="0" y="1075"/>
                  </a:lnTo>
                  <a:lnTo>
                    <a:pt x="0" y="1070"/>
                  </a:lnTo>
                  <a:lnTo>
                    <a:pt x="0" y="1066"/>
                  </a:lnTo>
                  <a:lnTo>
                    <a:pt x="0" y="1061"/>
                  </a:lnTo>
                  <a:lnTo>
                    <a:pt x="0" y="1051"/>
                  </a:lnTo>
                  <a:lnTo>
                    <a:pt x="0" y="1046"/>
                  </a:lnTo>
                  <a:lnTo>
                    <a:pt x="0" y="1042"/>
                  </a:lnTo>
                  <a:lnTo>
                    <a:pt x="0" y="1037"/>
                  </a:lnTo>
                  <a:lnTo>
                    <a:pt x="0" y="1032"/>
                  </a:lnTo>
                  <a:lnTo>
                    <a:pt x="0" y="1027"/>
                  </a:lnTo>
                  <a:lnTo>
                    <a:pt x="0" y="1022"/>
                  </a:lnTo>
                  <a:lnTo>
                    <a:pt x="0" y="1013"/>
                  </a:lnTo>
                  <a:lnTo>
                    <a:pt x="0" y="1008"/>
                  </a:lnTo>
                  <a:lnTo>
                    <a:pt x="0" y="1003"/>
                  </a:lnTo>
                  <a:lnTo>
                    <a:pt x="0" y="998"/>
                  </a:lnTo>
                  <a:lnTo>
                    <a:pt x="0" y="994"/>
                  </a:lnTo>
                  <a:lnTo>
                    <a:pt x="5" y="989"/>
                  </a:lnTo>
                  <a:lnTo>
                    <a:pt x="5" y="984"/>
                  </a:lnTo>
                  <a:lnTo>
                    <a:pt x="5" y="979"/>
                  </a:lnTo>
                  <a:lnTo>
                    <a:pt x="5" y="970"/>
                  </a:lnTo>
                  <a:lnTo>
                    <a:pt x="5" y="965"/>
                  </a:lnTo>
                  <a:lnTo>
                    <a:pt x="5" y="960"/>
                  </a:lnTo>
                  <a:lnTo>
                    <a:pt x="5" y="955"/>
                  </a:lnTo>
                  <a:lnTo>
                    <a:pt x="5" y="950"/>
                  </a:lnTo>
                  <a:lnTo>
                    <a:pt x="5" y="946"/>
                  </a:lnTo>
                  <a:lnTo>
                    <a:pt x="5" y="941"/>
                  </a:lnTo>
                  <a:lnTo>
                    <a:pt x="10" y="936"/>
                  </a:lnTo>
                  <a:lnTo>
                    <a:pt x="10" y="926"/>
                  </a:lnTo>
                  <a:lnTo>
                    <a:pt x="10" y="922"/>
                  </a:lnTo>
                  <a:lnTo>
                    <a:pt x="10" y="917"/>
                  </a:lnTo>
                  <a:lnTo>
                    <a:pt x="10" y="912"/>
                  </a:lnTo>
                  <a:lnTo>
                    <a:pt x="10" y="907"/>
                  </a:lnTo>
                  <a:lnTo>
                    <a:pt x="10" y="902"/>
                  </a:lnTo>
                  <a:lnTo>
                    <a:pt x="10" y="898"/>
                  </a:lnTo>
                  <a:lnTo>
                    <a:pt x="10" y="888"/>
                  </a:lnTo>
                  <a:lnTo>
                    <a:pt x="10" y="883"/>
                  </a:lnTo>
                  <a:lnTo>
                    <a:pt x="10" y="878"/>
                  </a:lnTo>
                  <a:lnTo>
                    <a:pt x="10" y="874"/>
                  </a:lnTo>
                  <a:lnTo>
                    <a:pt x="10" y="869"/>
                  </a:lnTo>
                  <a:lnTo>
                    <a:pt x="15" y="864"/>
                  </a:lnTo>
                  <a:lnTo>
                    <a:pt x="15" y="859"/>
                  </a:lnTo>
                  <a:lnTo>
                    <a:pt x="15" y="854"/>
                  </a:lnTo>
                  <a:lnTo>
                    <a:pt x="15" y="845"/>
                  </a:lnTo>
                  <a:lnTo>
                    <a:pt x="15" y="840"/>
                  </a:lnTo>
                  <a:lnTo>
                    <a:pt x="15" y="835"/>
                  </a:lnTo>
                  <a:lnTo>
                    <a:pt x="15" y="830"/>
                  </a:lnTo>
                  <a:lnTo>
                    <a:pt x="15" y="826"/>
                  </a:lnTo>
                  <a:lnTo>
                    <a:pt x="15" y="821"/>
                  </a:lnTo>
                  <a:lnTo>
                    <a:pt x="15" y="816"/>
                  </a:lnTo>
                  <a:lnTo>
                    <a:pt x="15" y="811"/>
                  </a:lnTo>
                  <a:lnTo>
                    <a:pt x="15" y="802"/>
                  </a:lnTo>
                  <a:lnTo>
                    <a:pt x="10" y="797"/>
                  </a:lnTo>
                  <a:lnTo>
                    <a:pt x="10" y="792"/>
                  </a:lnTo>
                  <a:lnTo>
                    <a:pt x="10" y="787"/>
                  </a:lnTo>
                  <a:lnTo>
                    <a:pt x="10" y="783"/>
                  </a:lnTo>
                  <a:lnTo>
                    <a:pt x="10" y="778"/>
                  </a:lnTo>
                  <a:lnTo>
                    <a:pt x="10" y="773"/>
                  </a:lnTo>
                  <a:lnTo>
                    <a:pt x="10" y="763"/>
                  </a:lnTo>
                  <a:lnTo>
                    <a:pt x="10" y="759"/>
                  </a:lnTo>
                  <a:lnTo>
                    <a:pt x="10" y="754"/>
                  </a:lnTo>
                  <a:lnTo>
                    <a:pt x="10" y="749"/>
                  </a:lnTo>
                  <a:lnTo>
                    <a:pt x="10" y="744"/>
                  </a:lnTo>
                  <a:lnTo>
                    <a:pt x="10" y="739"/>
                  </a:lnTo>
                  <a:lnTo>
                    <a:pt x="10" y="735"/>
                  </a:lnTo>
                  <a:lnTo>
                    <a:pt x="15" y="730"/>
                  </a:lnTo>
                  <a:lnTo>
                    <a:pt x="15" y="725"/>
                  </a:lnTo>
                  <a:lnTo>
                    <a:pt x="15" y="720"/>
                  </a:lnTo>
                  <a:lnTo>
                    <a:pt x="15" y="715"/>
                  </a:lnTo>
                  <a:lnTo>
                    <a:pt x="15" y="711"/>
                  </a:lnTo>
                  <a:lnTo>
                    <a:pt x="15" y="706"/>
                  </a:lnTo>
                  <a:lnTo>
                    <a:pt x="15" y="701"/>
                  </a:lnTo>
                  <a:lnTo>
                    <a:pt x="15" y="696"/>
                  </a:lnTo>
                  <a:lnTo>
                    <a:pt x="15" y="691"/>
                  </a:lnTo>
                  <a:lnTo>
                    <a:pt x="15" y="687"/>
                  </a:lnTo>
                  <a:lnTo>
                    <a:pt x="15" y="682"/>
                  </a:lnTo>
                  <a:lnTo>
                    <a:pt x="20" y="682"/>
                  </a:lnTo>
                  <a:lnTo>
                    <a:pt x="20" y="677"/>
                  </a:lnTo>
                  <a:lnTo>
                    <a:pt x="20" y="672"/>
                  </a:lnTo>
                  <a:lnTo>
                    <a:pt x="20" y="667"/>
                  </a:lnTo>
                  <a:lnTo>
                    <a:pt x="20" y="663"/>
                  </a:lnTo>
                  <a:lnTo>
                    <a:pt x="20" y="658"/>
                  </a:lnTo>
                  <a:lnTo>
                    <a:pt x="20" y="653"/>
                  </a:lnTo>
                  <a:lnTo>
                    <a:pt x="24" y="648"/>
                  </a:lnTo>
                  <a:lnTo>
                    <a:pt x="24" y="643"/>
                  </a:lnTo>
                  <a:lnTo>
                    <a:pt x="24" y="639"/>
                  </a:lnTo>
                  <a:lnTo>
                    <a:pt x="24" y="634"/>
                  </a:lnTo>
                  <a:lnTo>
                    <a:pt x="24" y="629"/>
                  </a:lnTo>
                  <a:lnTo>
                    <a:pt x="24" y="624"/>
                  </a:lnTo>
                  <a:lnTo>
                    <a:pt x="29" y="619"/>
                  </a:lnTo>
                  <a:lnTo>
                    <a:pt x="29" y="615"/>
                  </a:lnTo>
                  <a:lnTo>
                    <a:pt x="29" y="610"/>
                  </a:lnTo>
                  <a:lnTo>
                    <a:pt x="29" y="605"/>
                  </a:lnTo>
                  <a:lnTo>
                    <a:pt x="29" y="600"/>
                  </a:lnTo>
                  <a:lnTo>
                    <a:pt x="34" y="595"/>
                  </a:lnTo>
                  <a:lnTo>
                    <a:pt x="34" y="591"/>
                  </a:lnTo>
                  <a:lnTo>
                    <a:pt x="34" y="586"/>
                  </a:lnTo>
                  <a:lnTo>
                    <a:pt x="34" y="581"/>
                  </a:lnTo>
                  <a:lnTo>
                    <a:pt x="39" y="576"/>
                  </a:lnTo>
                  <a:lnTo>
                    <a:pt x="39" y="571"/>
                  </a:lnTo>
                  <a:lnTo>
                    <a:pt x="39" y="567"/>
                  </a:lnTo>
                  <a:lnTo>
                    <a:pt x="39" y="562"/>
                  </a:lnTo>
                  <a:lnTo>
                    <a:pt x="44" y="557"/>
                  </a:lnTo>
                  <a:lnTo>
                    <a:pt x="44" y="552"/>
                  </a:lnTo>
                  <a:lnTo>
                    <a:pt x="44" y="547"/>
                  </a:lnTo>
                  <a:lnTo>
                    <a:pt x="44" y="543"/>
                  </a:lnTo>
                  <a:lnTo>
                    <a:pt x="44" y="538"/>
                  </a:lnTo>
                  <a:lnTo>
                    <a:pt x="48" y="533"/>
                  </a:lnTo>
                  <a:lnTo>
                    <a:pt x="48" y="528"/>
                  </a:lnTo>
                  <a:lnTo>
                    <a:pt x="48" y="523"/>
                  </a:lnTo>
                  <a:lnTo>
                    <a:pt x="48" y="519"/>
                  </a:lnTo>
                  <a:lnTo>
                    <a:pt x="48" y="514"/>
                  </a:lnTo>
                  <a:lnTo>
                    <a:pt x="53" y="509"/>
                  </a:lnTo>
                  <a:lnTo>
                    <a:pt x="53" y="504"/>
                  </a:lnTo>
                  <a:lnTo>
                    <a:pt x="53" y="499"/>
                  </a:lnTo>
                  <a:lnTo>
                    <a:pt x="53" y="495"/>
                  </a:lnTo>
                  <a:lnTo>
                    <a:pt x="53" y="490"/>
                  </a:lnTo>
                  <a:lnTo>
                    <a:pt x="53" y="485"/>
                  </a:lnTo>
                  <a:lnTo>
                    <a:pt x="53" y="480"/>
                  </a:lnTo>
                  <a:lnTo>
                    <a:pt x="58" y="475"/>
                  </a:lnTo>
                  <a:lnTo>
                    <a:pt x="58" y="471"/>
                  </a:lnTo>
                  <a:lnTo>
                    <a:pt x="58" y="466"/>
                  </a:lnTo>
                  <a:lnTo>
                    <a:pt x="58" y="461"/>
                  </a:lnTo>
                  <a:lnTo>
                    <a:pt x="58" y="456"/>
                  </a:lnTo>
                  <a:lnTo>
                    <a:pt x="58" y="451"/>
                  </a:lnTo>
                  <a:lnTo>
                    <a:pt x="58" y="447"/>
                  </a:lnTo>
                  <a:lnTo>
                    <a:pt x="58" y="442"/>
                  </a:lnTo>
                  <a:lnTo>
                    <a:pt x="58" y="437"/>
                  </a:lnTo>
                  <a:lnTo>
                    <a:pt x="58" y="432"/>
                  </a:lnTo>
                  <a:lnTo>
                    <a:pt x="58" y="427"/>
                  </a:lnTo>
                  <a:lnTo>
                    <a:pt x="63" y="423"/>
                  </a:lnTo>
                  <a:lnTo>
                    <a:pt x="63" y="418"/>
                  </a:lnTo>
                  <a:lnTo>
                    <a:pt x="63" y="413"/>
                  </a:lnTo>
                  <a:lnTo>
                    <a:pt x="63" y="408"/>
                  </a:lnTo>
                  <a:lnTo>
                    <a:pt x="63" y="403"/>
                  </a:lnTo>
                  <a:lnTo>
                    <a:pt x="63" y="399"/>
                  </a:lnTo>
                  <a:lnTo>
                    <a:pt x="68" y="394"/>
                  </a:lnTo>
                  <a:lnTo>
                    <a:pt x="68" y="389"/>
                  </a:lnTo>
                  <a:lnTo>
                    <a:pt x="68" y="384"/>
                  </a:lnTo>
                  <a:lnTo>
                    <a:pt x="68" y="379"/>
                  </a:lnTo>
                  <a:lnTo>
                    <a:pt x="72" y="375"/>
                  </a:lnTo>
                  <a:lnTo>
                    <a:pt x="72" y="370"/>
                  </a:lnTo>
                  <a:lnTo>
                    <a:pt x="72" y="365"/>
                  </a:lnTo>
                  <a:lnTo>
                    <a:pt x="72" y="360"/>
                  </a:lnTo>
                  <a:lnTo>
                    <a:pt x="77" y="360"/>
                  </a:lnTo>
                  <a:lnTo>
                    <a:pt x="77" y="355"/>
                  </a:lnTo>
                  <a:lnTo>
                    <a:pt x="77" y="351"/>
                  </a:lnTo>
                  <a:lnTo>
                    <a:pt x="77" y="346"/>
                  </a:lnTo>
                  <a:lnTo>
                    <a:pt x="82" y="346"/>
                  </a:lnTo>
                  <a:lnTo>
                    <a:pt x="82" y="341"/>
                  </a:lnTo>
                  <a:lnTo>
                    <a:pt x="82" y="336"/>
                  </a:lnTo>
                  <a:lnTo>
                    <a:pt x="87" y="332"/>
                  </a:lnTo>
                  <a:lnTo>
                    <a:pt x="87" y="327"/>
                  </a:lnTo>
                  <a:lnTo>
                    <a:pt x="87" y="322"/>
                  </a:lnTo>
                  <a:lnTo>
                    <a:pt x="92" y="322"/>
                  </a:lnTo>
                  <a:lnTo>
                    <a:pt x="92" y="317"/>
                  </a:lnTo>
                  <a:lnTo>
                    <a:pt x="92" y="312"/>
                  </a:lnTo>
                  <a:lnTo>
                    <a:pt x="96" y="308"/>
                  </a:lnTo>
                  <a:lnTo>
                    <a:pt x="96" y="303"/>
                  </a:lnTo>
                  <a:lnTo>
                    <a:pt x="96" y="298"/>
                  </a:lnTo>
                  <a:lnTo>
                    <a:pt x="101" y="298"/>
                  </a:lnTo>
                  <a:lnTo>
                    <a:pt x="101" y="293"/>
                  </a:lnTo>
                  <a:lnTo>
                    <a:pt x="101" y="288"/>
                  </a:lnTo>
                  <a:lnTo>
                    <a:pt x="106" y="284"/>
                  </a:lnTo>
                  <a:lnTo>
                    <a:pt x="106" y="279"/>
                  </a:lnTo>
                  <a:lnTo>
                    <a:pt x="111" y="274"/>
                  </a:lnTo>
                  <a:lnTo>
                    <a:pt x="111" y="269"/>
                  </a:lnTo>
                  <a:lnTo>
                    <a:pt x="116" y="264"/>
                  </a:lnTo>
                  <a:lnTo>
                    <a:pt x="116" y="260"/>
                  </a:lnTo>
                  <a:lnTo>
                    <a:pt x="116" y="255"/>
                  </a:lnTo>
                  <a:lnTo>
                    <a:pt x="120" y="255"/>
                  </a:lnTo>
                  <a:lnTo>
                    <a:pt x="120" y="250"/>
                  </a:lnTo>
                  <a:lnTo>
                    <a:pt x="120" y="245"/>
                  </a:lnTo>
                  <a:lnTo>
                    <a:pt x="125" y="240"/>
                  </a:lnTo>
                  <a:lnTo>
                    <a:pt x="125" y="236"/>
                  </a:lnTo>
                  <a:lnTo>
                    <a:pt x="125" y="231"/>
                  </a:lnTo>
                  <a:lnTo>
                    <a:pt x="130" y="231"/>
                  </a:lnTo>
                  <a:lnTo>
                    <a:pt x="130" y="226"/>
                  </a:lnTo>
                  <a:lnTo>
                    <a:pt x="130" y="221"/>
                  </a:lnTo>
                  <a:lnTo>
                    <a:pt x="130" y="216"/>
                  </a:lnTo>
                  <a:lnTo>
                    <a:pt x="135" y="212"/>
                  </a:lnTo>
                  <a:lnTo>
                    <a:pt x="135" y="207"/>
                  </a:lnTo>
                  <a:lnTo>
                    <a:pt x="135" y="202"/>
                  </a:lnTo>
                  <a:lnTo>
                    <a:pt x="135" y="197"/>
                  </a:lnTo>
                  <a:lnTo>
                    <a:pt x="140" y="192"/>
                  </a:lnTo>
                  <a:lnTo>
                    <a:pt x="140" y="188"/>
                  </a:lnTo>
                  <a:lnTo>
                    <a:pt x="140" y="183"/>
                  </a:lnTo>
                  <a:lnTo>
                    <a:pt x="140" y="178"/>
                  </a:lnTo>
                  <a:lnTo>
                    <a:pt x="144" y="178"/>
                  </a:lnTo>
                  <a:lnTo>
                    <a:pt x="144" y="173"/>
                  </a:lnTo>
                  <a:lnTo>
                    <a:pt x="144" y="168"/>
                  </a:lnTo>
                  <a:lnTo>
                    <a:pt x="144" y="164"/>
                  </a:lnTo>
                  <a:lnTo>
                    <a:pt x="149" y="164"/>
                  </a:lnTo>
                  <a:lnTo>
                    <a:pt x="149" y="159"/>
                  </a:lnTo>
                  <a:lnTo>
                    <a:pt x="149" y="154"/>
                  </a:lnTo>
                  <a:lnTo>
                    <a:pt x="149" y="149"/>
                  </a:lnTo>
                  <a:lnTo>
                    <a:pt x="154" y="149"/>
                  </a:lnTo>
                  <a:lnTo>
                    <a:pt x="154" y="144"/>
                  </a:lnTo>
                  <a:lnTo>
                    <a:pt x="154" y="140"/>
                  </a:lnTo>
                  <a:lnTo>
                    <a:pt x="159" y="140"/>
                  </a:lnTo>
                  <a:lnTo>
                    <a:pt x="159" y="135"/>
                  </a:lnTo>
                  <a:lnTo>
                    <a:pt x="159" y="130"/>
                  </a:lnTo>
                  <a:lnTo>
                    <a:pt x="164" y="130"/>
                  </a:lnTo>
                  <a:lnTo>
                    <a:pt x="164" y="125"/>
                  </a:lnTo>
                  <a:lnTo>
                    <a:pt x="168" y="120"/>
                  </a:lnTo>
                  <a:lnTo>
                    <a:pt x="173" y="116"/>
                  </a:lnTo>
                  <a:lnTo>
                    <a:pt x="173" y="111"/>
                  </a:lnTo>
                  <a:lnTo>
                    <a:pt x="178" y="111"/>
                  </a:lnTo>
                  <a:lnTo>
                    <a:pt x="178" y="106"/>
                  </a:lnTo>
                  <a:lnTo>
                    <a:pt x="183" y="106"/>
                  </a:lnTo>
                  <a:lnTo>
                    <a:pt x="183" y="101"/>
                  </a:lnTo>
                  <a:lnTo>
                    <a:pt x="188" y="101"/>
                  </a:lnTo>
                  <a:lnTo>
                    <a:pt x="188" y="96"/>
                  </a:lnTo>
                  <a:lnTo>
                    <a:pt x="192" y="96"/>
                  </a:lnTo>
                  <a:lnTo>
                    <a:pt x="192" y="92"/>
                  </a:lnTo>
                  <a:lnTo>
                    <a:pt x="197" y="87"/>
                  </a:lnTo>
                  <a:lnTo>
                    <a:pt x="197" y="82"/>
                  </a:lnTo>
                  <a:lnTo>
                    <a:pt x="202" y="77"/>
                  </a:lnTo>
                  <a:lnTo>
                    <a:pt x="202" y="72"/>
                  </a:lnTo>
                  <a:lnTo>
                    <a:pt x="202" y="68"/>
                  </a:lnTo>
                  <a:lnTo>
                    <a:pt x="207" y="63"/>
                  </a:lnTo>
                  <a:lnTo>
                    <a:pt x="207" y="58"/>
                  </a:lnTo>
                  <a:lnTo>
                    <a:pt x="212" y="58"/>
                  </a:lnTo>
                  <a:lnTo>
                    <a:pt x="212" y="53"/>
                  </a:lnTo>
                  <a:lnTo>
                    <a:pt x="216" y="53"/>
                  </a:lnTo>
                  <a:lnTo>
                    <a:pt x="216" y="48"/>
                  </a:lnTo>
                  <a:lnTo>
                    <a:pt x="221" y="48"/>
                  </a:lnTo>
                  <a:lnTo>
                    <a:pt x="221" y="44"/>
                  </a:lnTo>
                  <a:lnTo>
                    <a:pt x="226" y="44"/>
                  </a:lnTo>
                  <a:lnTo>
                    <a:pt x="231" y="44"/>
                  </a:lnTo>
                  <a:lnTo>
                    <a:pt x="236" y="44"/>
                  </a:lnTo>
                  <a:lnTo>
                    <a:pt x="236" y="39"/>
                  </a:lnTo>
                  <a:lnTo>
                    <a:pt x="240" y="39"/>
                  </a:lnTo>
                  <a:lnTo>
                    <a:pt x="245" y="39"/>
                  </a:lnTo>
                  <a:lnTo>
                    <a:pt x="250" y="39"/>
                  </a:lnTo>
                  <a:lnTo>
                    <a:pt x="250" y="34"/>
                  </a:lnTo>
                  <a:lnTo>
                    <a:pt x="255" y="34"/>
                  </a:lnTo>
                  <a:lnTo>
                    <a:pt x="260" y="34"/>
                  </a:lnTo>
                  <a:lnTo>
                    <a:pt x="264" y="34"/>
                  </a:lnTo>
                  <a:lnTo>
                    <a:pt x="269" y="34"/>
                  </a:lnTo>
                  <a:lnTo>
                    <a:pt x="274" y="34"/>
                  </a:lnTo>
                  <a:lnTo>
                    <a:pt x="274" y="29"/>
                  </a:lnTo>
                  <a:lnTo>
                    <a:pt x="279" y="29"/>
                  </a:lnTo>
                  <a:lnTo>
                    <a:pt x="284" y="29"/>
                  </a:lnTo>
                  <a:lnTo>
                    <a:pt x="288" y="29"/>
                  </a:lnTo>
                  <a:lnTo>
                    <a:pt x="293" y="29"/>
                  </a:lnTo>
                  <a:lnTo>
                    <a:pt x="293" y="24"/>
                  </a:lnTo>
                  <a:lnTo>
                    <a:pt x="298" y="24"/>
                  </a:lnTo>
                  <a:lnTo>
                    <a:pt x="303" y="24"/>
                  </a:lnTo>
                  <a:lnTo>
                    <a:pt x="303" y="20"/>
                  </a:lnTo>
                  <a:lnTo>
                    <a:pt x="308" y="20"/>
                  </a:lnTo>
                  <a:lnTo>
                    <a:pt x="312" y="20"/>
                  </a:lnTo>
                  <a:lnTo>
                    <a:pt x="312" y="15"/>
                  </a:lnTo>
                  <a:lnTo>
                    <a:pt x="317" y="15"/>
                  </a:lnTo>
                  <a:lnTo>
                    <a:pt x="322" y="15"/>
                  </a:lnTo>
                  <a:lnTo>
                    <a:pt x="322" y="10"/>
                  </a:lnTo>
                  <a:lnTo>
                    <a:pt x="327" y="10"/>
                  </a:lnTo>
                  <a:lnTo>
                    <a:pt x="332" y="10"/>
                  </a:lnTo>
                  <a:lnTo>
                    <a:pt x="336" y="5"/>
                  </a:lnTo>
                  <a:lnTo>
                    <a:pt x="341" y="5"/>
                  </a:lnTo>
                  <a:lnTo>
                    <a:pt x="346" y="5"/>
                  </a:lnTo>
                  <a:lnTo>
                    <a:pt x="351" y="5"/>
                  </a:lnTo>
                  <a:lnTo>
                    <a:pt x="356" y="5"/>
                  </a:lnTo>
                  <a:lnTo>
                    <a:pt x="360" y="0"/>
                  </a:lnTo>
                  <a:lnTo>
                    <a:pt x="365" y="0"/>
                  </a:lnTo>
                  <a:lnTo>
                    <a:pt x="370" y="0"/>
                  </a:lnTo>
                  <a:lnTo>
                    <a:pt x="375" y="0"/>
                  </a:lnTo>
                  <a:lnTo>
                    <a:pt x="380" y="0"/>
                  </a:lnTo>
                  <a:lnTo>
                    <a:pt x="384" y="5"/>
                  </a:lnTo>
                  <a:lnTo>
                    <a:pt x="389" y="5"/>
                  </a:lnTo>
                  <a:lnTo>
                    <a:pt x="394" y="5"/>
                  </a:lnTo>
                  <a:lnTo>
                    <a:pt x="399" y="5"/>
                  </a:lnTo>
                  <a:lnTo>
                    <a:pt x="408" y="5"/>
                  </a:lnTo>
                  <a:lnTo>
                    <a:pt x="413" y="5"/>
                  </a:lnTo>
                  <a:lnTo>
                    <a:pt x="418" y="5"/>
                  </a:lnTo>
                  <a:lnTo>
                    <a:pt x="423" y="5"/>
                  </a:lnTo>
                  <a:lnTo>
                    <a:pt x="428" y="10"/>
                  </a:lnTo>
                  <a:lnTo>
                    <a:pt x="432" y="10"/>
                  </a:lnTo>
                  <a:lnTo>
                    <a:pt x="437" y="10"/>
                  </a:lnTo>
                  <a:lnTo>
                    <a:pt x="442" y="10"/>
                  </a:lnTo>
                  <a:lnTo>
                    <a:pt x="447" y="10"/>
                  </a:lnTo>
                  <a:lnTo>
                    <a:pt x="452" y="10"/>
                  </a:lnTo>
                  <a:lnTo>
                    <a:pt x="456" y="10"/>
                  </a:lnTo>
                  <a:lnTo>
                    <a:pt x="466" y="10"/>
                  </a:lnTo>
                  <a:lnTo>
                    <a:pt x="471" y="10"/>
                  </a:lnTo>
                  <a:lnTo>
                    <a:pt x="476" y="10"/>
                  </a:lnTo>
                  <a:lnTo>
                    <a:pt x="480" y="10"/>
                  </a:lnTo>
                  <a:lnTo>
                    <a:pt x="485" y="10"/>
                  </a:lnTo>
                  <a:lnTo>
                    <a:pt x="490" y="10"/>
                  </a:lnTo>
                  <a:lnTo>
                    <a:pt x="495" y="10"/>
                  </a:lnTo>
                  <a:lnTo>
                    <a:pt x="500" y="10"/>
                  </a:lnTo>
                  <a:lnTo>
                    <a:pt x="504" y="10"/>
                  </a:lnTo>
                  <a:lnTo>
                    <a:pt x="509" y="15"/>
                  </a:lnTo>
                  <a:lnTo>
                    <a:pt x="514" y="15"/>
                  </a:lnTo>
                  <a:lnTo>
                    <a:pt x="519" y="15"/>
                  </a:lnTo>
                  <a:lnTo>
                    <a:pt x="524" y="15"/>
                  </a:lnTo>
                  <a:lnTo>
                    <a:pt x="528" y="15"/>
                  </a:lnTo>
                  <a:lnTo>
                    <a:pt x="533" y="15"/>
                  </a:lnTo>
                  <a:lnTo>
                    <a:pt x="538" y="15"/>
                  </a:lnTo>
                  <a:lnTo>
                    <a:pt x="543" y="15"/>
                  </a:lnTo>
                  <a:lnTo>
                    <a:pt x="548" y="15"/>
                  </a:lnTo>
                  <a:lnTo>
                    <a:pt x="557" y="15"/>
                  </a:lnTo>
                  <a:lnTo>
                    <a:pt x="562" y="15"/>
                  </a:lnTo>
                  <a:lnTo>
                    <a:pt x="567" y="15"/>
                  </a:lnTo>
                  <a:lnTo>
                    <a:pt x="572" y="20"/>
                  </a:lnTo>
                  <a:lnTo>
                    <a:pt x="576" y="20"/>
                  </a:lnTo>
                  <a:lnTo>
                    <a:pt x="581" y="20"/>
                  </a:lnTo>
                  <a:lnTo>
                    <a:pt x="586" y="20"/>
                  </a:lnTo>
                  <a:lnTo>
                    <a:pt x="591" y="20"/>
                  </a:lnTo>
                  <a:lnTo>
                    <a:pt x="596" y="20"/>
                  </a:lnTo>
                  <a:lnTo>
                    <a:pt x="600" y="20"/>
                  </a:lnTo>
                  <a:lnTo>
                    <a:pt x="605" y="20"/>
                  </a:lnTo>
                  <a:lnTo>
                    <a:pt x="610" y="20"/>
                  </a:lnTo>
                  <a:lnTo>
                    <a:pt x="615" y="20"/>
                  </a:lnTo>
                  <a:lnTo>
                    <a:pt x="620" y="20"/>
                  </a:lnTo>
                  <a:lnTo>
                    <a:pt x="624" y="20"/>
                  </a:lnTo>
                  <a:lnTo>
                    <a:pt x="634" y="20"/>
                  </a:lnTo>
                  <a:lnTo>
                    <a:pt x="639" y="20"/>
                  </a:lnTo>
                  <a:lnTo>
                    <a:pt x="644" y="20"/>
                  </a:lnTo>
                  <a:lnTo>
                    <a:pt x="648" y="20"/>
                  </a:lnTo>
                  <a:lnTo>
                    <a:pt x="653" y="15"/>
                  </a:lnTo>
                  <a:lnTo>
                    <a:pt x="658" y="15"/>
                  </a:lnTo>
                  <a:lnTo>
                    <a:pt x="663" y="15"/>
                  </a:lnTo>
                  <a:lnTo>
                    <a:pt x="667" y="15"/>
                  </a:lnTo>
                  <a:lnTo>
                    <a:pt x="672" y="15"/>
                  </a:lnTo>
                  <a:lnTo>
                    <a:pt x="677" y="15"/>
                  </a:lnTo>
                  <a:lnTo>
                    <a:pt x="682" y="15"/>
                  </a:lnTo>
                  <a:lnTo>
                    <a:pt x="687" y="15"/>
                  </a:lnTo>
                  <a:lnTo>
                    <a:pt x="696" y="10"/>
                  </a:lnTo>
                  <a:lnTo>
                    <a:pt x="701" y="10"/>
                  </a:lnTo>
                  <a:lnTo>
                    <a:pt x="706" y="10"/>
                  </a:lnTo>
                  <a:lnTo>
                    <a:pt x="711" y="10"/>
                  </a:lnTo>
                  <a:lnTo>
                    <a:pt x="715" y="15"/>
                  </a:lnTo>
                  <a:lnTo>
                    <a:pt x="720" y="15"/>
                  </a:lnTo>
                  <a:lnTo>
                    <a:pt x="725" y="15"/>
                  </a:lnTo>
                  <a:lnTo>
                    <a:pt x="730" y="15"/>
                  </a:lnTo>
                  <a:lnTo>
                    <a:pt x="735" y="15"/>
                  </a:lnTo>
                  <a:lnTo>
                    <a:pt x="735" y="20"/>
                  </a:lnTo>
                  <a:lnTo>
                    <a:pt x="739" y="20"/>
                  </a:lnTo>
                  <a:lnTo>
                    <a:pt x="744" y="20"/>
                  </a:lnTo>
                  <a:lnTo>
                    <a:pt x="744" y="24"/>
                  </a:lnTo>
                  <a:lnTo>
                    <a:pt x="749" y="24"/>
                  </a:lnTo>
                  <a:lnTo>
                    <a:pt x="754" y="24"/>
                  </a:lnTo>
                  <a:lnTo>
                    <a:pt x="754" y="29"/>
                  </a:lnTo>
                  <a:lnTo>
                    <a:pt x="759" y="29"/>
                  </a:lnTo>
                  <a:lnTo>
                    <a:pt x="759" y="34"/>
                  </a:lnTo>
                  <a:lnTo>
                    <a:pt x="763" y="34"/>
                  </a:lnTo>
                  <a:lnTo>
                    <a:pt x="763" y="39"/>
                  </a:lnTo>
                  <a:lnTo>
                    <a:pt x="768" y="39"/>
                  </a:lnTo>
                  <a:lnTo>
                    <a:pt x="768" y="44"/>
                  </a:lnTo>
                  <a:lnTo>
                    <a:pt x="773" y="44"/>
                  </a:lnTo>
                  <a:lnTo>
                    <a:pt x="773" y="48"/>
                  </a:lnTo>
                  <a:lnTo>
                    <a:pt x="778" y="48"/>
                  </a:lnTo>
                  <a:lnTo>
                    <a:pt x="778" y="53"/>
                  </a:lnTo>
                  <a:lnTo>
                    <a:pt x="783" y="58"/>
                  </a:lnTo>
                  <a:lnTo>
                    <a:pt x="787" y="58"/>
                  </a:lnTo>
                  <a:lnTo>
                    <a:pt x="787" y="63"/>
                  </a:lnTo>
                  <a:lnTo>
                    <a:pt x="792" y="63"/>
                  </a:lnTo>
                  <a:lnTo>
                    <a:pt x="792" y="68"/>
                  </a:lnTo>
                  <a:lnTo>
                    <a:pt x="797" y="68"/>
                  </a:lnTo>
                  <a:lnTo>
                    <a:pt x="802" y="68"/>
                  </a:lnTo>
                  <a:lnTo>
                    <a:pt x="802" y="72"/>
                  </a:lnTo>
                  <a:lnTo>
                    <a:pt x="807" y="72"/>
                  </a:lnTo>
                  <a:lnTo>
                    <a:pt x="811" y="72"/>
                  </a:lnTo>
                  <a:lnTo>
                    <a:pt x="811" y="77"/>
                  </a:lnTo>
                  <a:lnTo>
                    <a:pt x="816" y="77"/>
                  </a:lnTo>
                  <a:lnTo>
                    <a:pt x="816" y="82"/>
                  </a:lnTo>
                  <a:lnTo>
                    <a:pt x="821" y="87"/>
                  </a:lnTo>
                  <a:lnTo>
                    <a:pt x="821" y="92"/>
                  </a:lnTo>
                  <a:lnTo>
                    <a:pt x="821" y="96"/>
                  </a:lnTo>
                  <a:lnTo>
                    <a:pt x="826" y="96"/>
                  </a:lnTo>
                  <a:lnTo>
                    <a:pt x="826" y="101"/>
                  </a:lnTo>
                  <a:lnTo>
                    <a:pt x="826" y="106"/>
                  </a:lnTo>
                  <a:lnTo>
                    <a:pt x="826" y="111"/>
                  </a:lnTo>
                  <a:lnTo>
                    <a:pt x="826" y="116"/>
                  </a:lnTo>
                  <a:lnTo>
                    <a:pt x="826" y="120"/>
                  </a:lnTo>
                  <a:lnTo>
                    <a:pt x="831" y="120"/>
                  </a:lnTo>
                  <a:lnTo>
                    <a:pt x="831" y="125"/>
                  </a:lnTo>
                  <a:lnTo>
                    <a:pt x="831" y="130"/>
                  </a:lnTo>
                  <a:lnTo>
                    <a:pt x="831" y="135"/>
                  </a:lnTo>
                  <a:lnTo>
                    <a:pt x="831" y="140"/>
                  </a:lnTo>
                  <a:lnTo>
                    <a:pt x="831" y="144"/>
                  </a:lnTo>
                  <a:lnTo>
                    <a:pt x="835" y="144"/>
                  </a:lnTo>
                  <a:lnTo>
                    <a:pt x="835" y="149"/>
                  </a:lnTo>
                  <a:lnTo>
                    <a:pt x="835" y="154"/>
                  </a:lnTo>
                  <a:lnTo>
                    <a:pt x="835" y="159"/>
                  </a:lnTo>
                  <a:lnTo>
                    <a:pt x="835" y="164"/>
                  </a:lnTo>
                  <a:lnTo>
                    <a:pt x="840" y="168"/>
                  </a:lnTo>
                  <a:lnTo>
                    <a:pt x="840" y="173"/>
                  </a:lnTo>
                  <a:lnTo>
                    <a:pt x="840" y="178"/>
                  </a:lnTo>
                  <a:lnTo>
                    <a:pt x="840" y="183"/>
                  </a:lnTo>
                  <a:lnTo>
                    <a:pt x="840" y="188"/>
                  </a:lnTo>
                  <a:lnTo>
                    <a:pt x="840" y="192"/>
                  </a:lnTo>
                  <a:lnTo>
                    <a:pt x="845" y="192"/>
                  </a:lnTo>
                  <a:lnTo>
                    <a:pt x="845" y="197"/>
                  </a:lnTo>
                  <a:lnTo>
                    <a:pt x="845" y="202"/>
                  </a:lnTo>
                  <a:lnTo>
                    <a:pt x="845" y="207"/>
                  </a:lnTo>
                  <a:lnTo>
                    <a:pt x="845" y="212"/>
                  </a:lnTo>
                  <a:lnTo>
                    <a:pt x="850" y="216"/>
                  </a:lnTo>
                  <a:lnTo>
                    <a:pt x="850" y="221"/>
                  </a:lnTo>
                  <a:lnTo>
                    <a:pt x="850" y="226"/>
                  </a:lnTo>
                  <a:lnTo>
                    <a:pt x="850" y="231"/>
                  </a:lnTo>
                  <a:lnTo>
                    <a:pt x="855" y="236"/>
                  </a:lnTo>
                  <a:lnTo>
                    <a:pt x="855" y="240"/>
                  </a:lnTo>
                  <a:lnTo>
                    <a:pt x="855" y="245"/>
                  </a:lnTo>
                  <a:lnTo>
                    <a:pt x="859" y="245"/>
                  </a:lnTo>
                  <a:lnTo>
                    <a:pt x="859" y="250"/>
                  </a:lnTo>
                  <a:lnTo>
                    <a:pt x="859" y="255"/>
                  </a:lnTo>
                  <a:lnTo>
                    <a:pt x="864" y="260"/>
                  </a:lnTo>
                  <a:lnTo>
                    <a:pt x="864" y="264"/>
                  </a:lnTo>
                  <a:lnTo>
                    <a:pt x="864" y="269"/>
                  </a:lnTo>
                  <a:lnTo>
                    <a:pt x="869" y="269"/>
                  </a:lnTo>
                  <a:lnTo>
                    <a:pt x="869" y="274"/>
                  </a:lnTo>
                  <a:lnTo>
                    <a:pt x="869" y="279"/>
                  </a:lnTo>
                  <a:lnTo>
                    <a:pt x="869" y="284"/>
                  </a:lnTo>
                  <a:lnTo>
                    <a:pt x="874" y="284"/>
                  </a:lnTo>
                  <a:lnTo>
                    <a:pt x="874" y="288"/>
                  </a:lnTo>
                  <a:lnTo>
                    <a:pt x="874" y="293"/>
                  </a:lnTo>
                  <a:lnTo>
                    <a:pt x="874" y="298"/>
                  </a:lnTo>
                  <a:lnTo>
                    <a:pt x="879" y="298"/>
                  </a:lnTo>
                  <a:lnTo>
                    <a:pt x="879" y="303"/>
                  </a:lnTo>
                  <a:lnTo>
                    <a:pt x="879" y="308"/>
                  </a:lnTo>
                  <a:lnTo>
                    <a:pt x="879" y="312"/>
                  </a:lnTo>
                  <a:lnTo>
                    <a:pt x="879" y="317"/>
                  </a:lnTo>
                  <a:lnTo>
                    <a:pt x="879" y="322"/>
                  </a:lnTo>
                  <a:lnTo>
                    <a:pt x="883" y="322"/>
                  </a:lnTo>
                  <a:lnTo>
                    <a:pt x="883" y="327"/>
                  </a:lnTo>
                  <a:lnTo>
                    <a:pt x="883" y="332"/>
                  </a:lnTo>
                  <a:lnTo>
                    <a:pt x="883" y="336"/>
                  </a:lnTo>
                  <a:lnTo>
                    <a:pt x="883" y="341"/>
                  </a:lnTo>
                  <a:lnTo>
                    <a:pt x="883" y="346"/>
                  </a:lnTo>
                  <a:lnTo>
                    <a:pt x="883" y="351"/>
                  </a:lnTo>
                  <a:lnTo>
                    <a:pt x="883" y="355"/>
                  </a:lnTo>
                  <a:lnTo>
                    <a:pt x="888" y="360"/>
                  </a:lnTo>
                  <a:lnTo>
                    <a:pt x="888" y="365"/>
                  </a:lnTo>
                  <a:lnTo>
                    <a:pt x="888" y="370"/>
                  </a:lnTo>
                  <a:lnTo>
                    <a:pt x="888" y="375"/>
                  </a:lnTo>
                  <a:lnTo>
                    <a:pt x="888" y="379"/>
                  </a:lnTo>
                  <a:lnTo>
                    <a:pt x="888" y="384"/>
                  </a:lnTo>
                  <a:lnTo>
                    <a:pt x="888" y="389"/>
                  </a:lnTo>
                  <a:lnTo>
                    <a:pt x="888" y="394"/>
                  </a:lnTo>
                  <a:lnTo>
                    <a:pt x="888" y="399"/>
                  </a:lnTo>
                  <a:lnTo>
                    <a:pt x="888" y="403"/>
                  </a:lnTo>
                  <a:lnTo>
                    <a:pt x="888" y="408"/>
                  </a:lnTo>
                  <a:lnTo>
                    <a:pt x="888" y="413"/>
                  </a:lnTo>
                  <a:lnTo>
                    <a:pt x="893" y="413"/>
                  </a:lnTo>
                  <a:lnTo>
                    <a:pt x="893" y="418"/>
                  </a:lnTo>
                  <a:lnTo>
                    <a:pt x="893" y="423"/>
                  </a:lnTo>
                  <a:lnTo>
                    <a:pt x="893" y="427"/>
                  </a:lnTo>
                  <a:lnTo>
                    <a:pt x="893" y="432"/>
                  </a:lnTo>
                  <a:lnTo>
                    <a:pt x="893" y="437"/>
                  </a:lnTo>
                  <a:lnTo>
                    <a:pt x="898" y="437"/>
                  </a:lnTo>
                  <a:lnTo>
                    <a:pt x="898" y="442"/>
                  </a:lnTo>
                  <a:lnTo>
                    <a:pt x="898" y="447"/>
                  </a:lnTo>
                  <a:lnTo>
                    <a:pt x="898" y="451"/>
                  </a:lnTo>
                  <a:lnTo>
                    <a:pt x="903" y="456"/>
                  </a:lnTo>
                  <a:lnTo>
                    <a:pt x="903" y="461"/>
                  </a:lnTo>
                  <a:lnTo>
                    <a:pt x="903" y="466"/>
                  </a:lnTo>
                  <a:lnTo>
                    <a:pt x="903" y="471"/>
                  </a:lnTo>
                  <a:lnTo>
                    <a:pt x="907" y="471"/>
                  </a:lnTo>
                  <a:lnTo>
                    <a:pt x="907" y="475"/>
                  </a:lnTo>
                  <a:lnTo>
                    <a:pt x="907" y="480"/>
                  </a:lnTo>
                  <a:lnTo>
                    <a:pt x="907" y="485"/>
                  </a:lnTo>
                  <a:lnTo>
                    <a:pt x="907" y="490"/>
                  </a:lnTo>
                  <a:lnTo>
                    <a:pt x="907" y="495"/>
                  </a:lnTo>
                  <a:lnTo>
                    <a:pt x="912" y="499"/>
                  </a:lnTo>
                  <a:lnTo>
                    <a:pt x="912" y="504"/>
                  </a:lnTo>
                  <a:lnTo>
                    <a:pt x="912" y="509"/>
                  </a:lnTo>
                  <a:lnTo>
                    <a:pt x="912" y="514"/>
                  </a:lnTo>
                  <a:lnTo>
                    <a:pt x="912" y="519"/>
                  </a:lnTo>
                  <a:lnTo>
                    <a:pt x="912" y="523"/>
                  </a:lnTo>
                  <a:lnTo>
                    <a:pt x="912" y="528"/>
                  </a:lnTo>
                  <a:lnTo>
                    <a:pt x="912" y="533"/>
                  </a:lnTo>
                  <a:lnTo>
                    <a:pt x="912" y="538"/>
                  </a:lnTo>
                  <a:lnTo>
                    <a:pt x="912" y="543"/>
                  </a:lnTo>
                  <a:lnTo>
                    <a:pt x="912" y="547"/>
                  </a:lnTo>
                  <a:lnTo>
                    <a:pt x="912" y="552"/>
                  </a:lnTo>
                  <a:lnTo>
                    <a:pt x="912" y="557"/>
                  </a:lnTo>
                  <a:lnTo>
                    <a:pt x="912" y="562"/>
                  </a:lnTo>
                  <a:lnTo>
                    <a:pt x="912" y="567"/>
                  </a:lnTo>
                  <a:lnTo>
                    <a:pt x="912" y="571"/>
                  </a:lnTo>
                  <a:lnTo>
                    <a:pt x="912" y="576"/>
                  </a:lnTo>
                  <a:lnTo>
                    <a:pt x="912" y="581"/>
                  </a:lnTo>
                  <a:lnTo>
                    <a:pt x="912" y="586"/>
                  </a:lnTo>
                  <a:lnTo>
                    <a:pt x="912" y="591"/>
                  </a:lnTo>
                  <a:lnTo>
                    <a:pt x="912" y="595"/>
                  </a:lnTo>
                  <a:lnTo>
                    <a:pt x="912" y="600"/>
                  </a:lnTo>
                  <a:lnTo>
                    <a:pt x="912" y="605"/>
                  </a:lnTo>
                  <a:lnTo>
                    <a:pt x="912" y="610"/>
                  </a:lnTo>
                  <a:lnTo>
                    <a:pt x="912" y="615"/>
                  </a:lnTo>
                  <a:lnTo>
                    <a:pt x="907" y="619"/>
                  </a:lnTo>
                  <a:lnTo>
                    <a:pt x="907" y="624"/>
                  </a:lnTo>
                  <a:lnTo>
                    <a:pt x="907" y="629"/>
                  </a:lnTo>
                  <a:lnTo>
                    <a:pt x="907" y="634"/>
                  </a:lnTo>
                  <a:lnTo>
                    <a:pt x="907" y="639"/>
                  </a:lnTo>
                  <a:lnTo>
                    <a:pt x="907" y="643"/>
                  </a:lnTo>
                  <a:lnTo>
                    <a:pt x="907" y="648"/>
                  </a:lnTo>
                  <a:lnTo>
                    <a:pt x="907" y="653"/>
                  </a:lnTo>
                  <a:lnTo>
                    <a:pt x="907" y="658"/>
                  </a:lnTo>
                  <a:lnTo>
                    <a:pt x="907" y="663"/>
                  </a:lnTo>
                  <a:lnTo>
                    <a:pt x="907" y="667"/>
                  </a:lnTo>
                  <a:lnTo>
                    <a:pt x="907" y="672"/>
                  </a:lnTo>
                  <a:lnTo>
                    <a:pt x="907" y="677"/>
                  </a:lnTo>
                  <a:lnTo>
                    <a:pt x="907" y="682"/>
                  </a:lnTo>
                  <a:lnTo>
                    <a:pt x="907" y="687"/>
                  </a:lnTo>
                  <a:lnTo>
                    <a:pt x="907" y="691"/>
                  </a:lnTo>
                  <a:lnTo>
                    <a:pt x="907" y="696"/>
                  </a:lnTo>
                  <a:lnTo>
                    <a:pt x="907" y="701"/>
                  </a:lnTo>
                  <a:lnTo>
                    <a:pt x="907" y="706"/>
                  </a:lnTo>
                  <a:lnTo>
                    <a:pt x="907" y="711"/>
                  </a:lnTo>
                  <a:lnTo>
                    <a:pt x="907" y="715"/>
                  </a:lnTo>
                  <a:lnTo>
                    <a:pt x="907" y="720"/>
                  </a:lnTo>
                  <a:lnTo>
                    <a:pt x="907" y="725"/>
                  </a:lnTo>
                  <a:lnTo>
                    <a:pt x="907" y="730"/>
                  </a:lnTo>
                  <a:lnTo>
                    <a:pt x="907" y="735"/>
                  </a:lnTo>
                  <a:lnTo>
                    <a:pt x="907" y="739"/>
                  </a:lnTo>
                  <a:lnTo>
                    <a:pt x="912" y="744"/>
                  </a:lnTo>
                  <a:lnTo>
                    <a:pt x="912" y="749"/>
                  </a:lnTo>
                  <a:lnTo>
                    <a:pt x="912" y="754"/>
                  </a:lnTo>
                  <a:lnTo>
                    <a:pt x="912" y="759"/>
                  </a:lnTo>
                  <a:lnTo>
                    <a:pt x="912" y="763"/>
                  </a:lnTo>
                  <a:lnTo>
                    <a:pt x="912" y="768"/>
                  </a:lnTo>
                  <a:lnTo>
                    <a:pt x="912" y="778"/>
                  </a:lnTo>
                  <a:lnTo>
                    <a:pt x="912" y="783"/>
                  </a:lnTo>
                  <a:lnTo>
                    <a:pt x="912" y="787"/>
                  </a:lnTo>
                  <a:lnTo>
                    <a:pt x="917" y="792"/>
                  </a:lnTo>
                  <a:lnTo>
                    <a:pt x="917" y="797"/>
                  </a:lnTo>
                  <a:lnTo>
                    <a:pt x="917" y="802"/>
                  </a:lnTo>
                  <a:lnTo>
                    <a:pt x="917" y="806"/>
                  </a:lnTo>
                  <a:lnTo>
                    <a:pt x="917" y="811"/>
                  </a:lnTo>
                  <a:lnTo>
                    <a:pt x="917" y="816"/>
                  </a:lnTo>
                  <a:lnTo>
                    <a:pt x="917" y="826"/>
                  </a:lnTo>
                  <a:lnTo>
                    <a:pt x="917" y="830"/>
                  </a:lnTo>
                  <a:lnTo>
                    <a:pt x="917" y="835"/>
                  </a:lnTo>
                  <a:lnTo>
                    <a:pt x="917" y="840"/>
                  </a:lnTo>
                  <a:lnTo>
                    <a:pt x="922" y="845"/>
                  </a:lnTo>
                  <a:lnTo>
                    <a:pt x="922" y="850"/>
                  </a:lnTo>
                  <a:lnTo>
                    <a:pt x="922" y="854"/>
                  </a:lnTo>
                  <a:lnTo>
                    <a:pt x="922" y="859"/>
                  </a:lnTo>
                  <a:lnTo>
                    <a:pt x="922" y="864"/>
                  </a:lnTo>
                  <a:lnTo>
                    <a:pt x="922" y="874"/>
                  </a:lnTo>
                  <a:lnTo>
                    <a:pt x="922" y="878"/>
                  </a:lnTo>
                  <a:lnTo>
                    <a:pt x="922" y="883"/>
                  </a:lnTo>
                  <a:lnTo>
                    <a:pt x="922" y="888"/>
                  </a:lnTo>
                  <a:lnTo>
                    <a:pt x="922" y="893"/>
                  </a:lnTo>
                  <a:lnTo>
                    <a:pt x="922" y="898"/>
                  </a:lnTo>
                  <a:lnTo>
                    <a:pt x="922" y="902"/>
                  </a:lnTo>
                  <a:lnTo>
                    <a:pt x="922" y="907"/>
                  </a:lnTo>
                  <a:lnTo>
                    <a:pt x="922" y="917"/>
                  </a:lnTo>
                  <a:lnTo>
                    <a:pt x="922" y="922"/>
                  </a:lnTo>
                  <a:lnTo>
                    <a:pt x="922" y="926"/>
                  </a:lnTo>
                  <a:lnTo>
                    <a:pt x="922" y="931"/>
                  </a:lnTo>
                  <a:lnTo>
                    <a:pt x="922" y="936"/>
                  </a:lnTo>
                  <a:lnTo>
                    <a:pt x="922" y="941"/>
                  </a:lnTo>
                  <a:lnTo>
                    <a:pt x="922" y="946"/>
                  </a:lnTo>
                  <a:lnTo>
                    <a:pt x="922" y="950"/>
                  </a:lnTo>
                  <a:lnTo>
                    <a:pt x="922" y="955"/>
                  </a:lnTo>
                  <a:lnTo>
                    <a:pt x="922" y="965"/>
                  </a:lnTo>
                  <a:lnTo>
                    <a:pt x="922" y="970"/>
                  </a:lnTo>
                  <a:lnTo>
                    <a:pt x="922" y="974"/>
                  </a:lnTo>
                  <a:lnTo>
                    <a:pt x="922" y="979"/>
                  </a:lnTo>
                  <a:lnTo>
                    <a:pt x="922" y="984"/>
                  </a:lnTo>
                  <a:lnTo>
                    <a:pt x="922" y="989"/>
                  </a:lnTo>
                  <a:lnTo>
                    <a:pt x="922" y="994"/>
                  </a:lnTo>
                  <a:lnTo>
                    <a:pt x="922" y="998"/>
                  </a:lnTo>
                  <a:lnTo>
                    <a:pt x="922" y="1003"/>
                  </a:lnTo>
                  <a:lnTo>
                    <a:pt x="922" y="1013"/>
                  </a:lnTo>
                  <a:lnTo>
                    <a:pt x="922" y="1018"/>
                  </a:lnTo>
                  <a:lnTo>
                    <a:pt x="922" y="1022"/>
                  </a:lnTo>
                  <a:lnTo>
                    <a:pt x="922" y="1027"/>
                  </a:lnTo>
                  <a:lnTo>
                    <a:pt x="922" y="1032"/>
                  </a:lnTo>
                  <a:lnTo>
                    <a:pt x="922" y="1037"/>
                  </a:lnTo>
                  <a:lnTo>
                    <a:pt x="922" y="1042"/>
                  </a:lnTo>
                  <a:lnTo>
                    <a:pt x="922" y="1046"/>
                  </a:lnTo>
                  <a:lnTo>
                    <a:pt x="922" y="1056"/>
                  </a:lnTo>
                  <a:lnTo>
                    <a:pt x="922" y="1061"/>
                  </a:lnTo>
                  <a:lnTo>
                    <a:pt x="922" y="1066"/>
                  </a:lnTo>
                  <a:lnTo>
                    <a:pt x="922" y="1070"/>
                  </a:lnTo>
                  <a:lnTo>
                    <a:pt x="922" y="1075"/>
                  </a:lnTo>
                  <a:lnTo>
                    <a:pt x="922" y="1080"/>
                  </a:lnTo>
                  <a:lnTo>
                    <a:pt x="922" y="1085"/>
                  </a:lnTo>
                  <a:lnTo>
                    <a:pt x="922" y="1090"/>
                  </a:lnTo>
                  <a:lnTo>
                    <a:pt x="922" y="1094"/>
                  </a:lnTo>
                </a:path>
              </a:pathLst>
            </a:cu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0" name="Line 160"/>
            <p:cNvSpPr>
              <a:spLocks noChangeShapeType="1"/>
            </p:cNvSpPr>
            <p:nvPr/>
          </p:nvSpPr>
          <p:spPr bwMode="auto">
            <a:xfrm>
              <a:off x="4839" y="1728"/>
              <a:ext cx="302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" name="Line 161"/>
            <p:cNvSpPr>
              <a:spLocks noChangeShapeType="1"/>
            </p:cNvSpPr>
            <p:nvPr/>
          </p:nvSpPr>
          <p:spPr bwMode="auto">
            <a:xfrm>
              <a:off x="4839" y="1924"/>
              <a:ext cx="302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2" name="Line 162"/>
            <p:cNvSpPr>
              <a:spLocks noChangeShapeType="1"/>
            </p:cNvSpPr>
            <p:nvPr/>
          </p:nvSpPr>
          <p:spPr bwMode="auto">
            <a:xfrm>
              <a:off x="4229" y="1728"/>
              <a:ext cx="374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" name="Line 163"/>
            <p:cNvSpPr>
              <a:spLocks noChangeShapeType="1"/>
            </p:cNvSpPr>
            <p:nvPr/>
          </p:nvSpPr>
          <p:spPr bwMode="auto">
            <a:xfrm>
              <a:off x="4219" y="1924"/>
              <a:ext cx="616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" name="Line 164"/>
            <p:cNvSpPr>
              <a:spLocks noChangeShapeType="1"/>
            </p:cNvSpPr>
            <p:nvPr/>
          </p:nvSpPr>
          <p:spPr bwMode="auto">
            <a:xfrm>
              <a:off x="4368" y="1296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" name="Line 165"/>
            <p:cNvSpPr>
              <a:spLocks noChangeShapeType="1"/>
            </p:cNvSpPr>
            <p:nvPr/>
          </p:nvSpPr>
          <p:spPr bwMode="auto">
            <a:xfrm>
              <a:off x="4507" y="1296"/>
              <a:ext cx="1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" name="Line 166"/>
            <p:cNvSpPr>
              <a:spLocks noChangeShapeType="1"/>
            </p:cNvSpPr>
            <p:nvPr/>
          </p:nvSpPr>
          <p:spPr bwMode="auto">
            <a:xfrm>
              <a:off x="4536" y="1296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" name="Line 167"/>
            <p:cNvSpPr>
              <a:spLocks noChangeShapeType="1"/>
            </p:cNvSpPr>
            <p:nvPr/>
          </p:nvSpPr>
          <p:spPr bwMode="auto">
            <a:xfrm>
              <a:off x="4675" y="1296"/>
              <a:ext cx="1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" name="Line 168"/>
            <p:cNvSpPr>
              <a:spLocks noChangeShapeType="1"/>
            </p:cNvSpPr>
            <p:nvPr/>
          </p:nvSpPr>
          <p:spPr bwMode="auto">
            <a:xfrm>
              <a:off x="4704" y="1296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" name="Line 169"/>
            <p:cNvSpPr>
              <a:spLocks noChangeShapeType="1"/>
            </p:cNvSpPr>
            <p:nvPr/>
          </p:nvSpPr>
          <p:spPr bwMode="auto">
            <a:xfrm>
              <a:off x="4843" y="1296"/>
              <a:ext cx="1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" name="Line 170"/>
            <p:cNvSpPr>
              <a:spLocks noChangeShapeType="1"/>
            </p:cNvSpPr>
            <p:nvPr/>
          </p:nvSpPr>
          <p:spPr bwMode="auto">
            <a:xfrm>
              <a:off x="4872" y="1296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1" name="Line 171"/>
            <p:cNvSpPr>
              <a:spLocks noChangeShapeType="1"/>
            </p:cNvSpPr>
            <p:nvPr/>
          </p:nvSpPr>
          <p:spPr bwMode="auto">
            <a:xfrm>
              <a:off x="5011" y="1296"/>
              <a:ext cx="1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2" name="Line 172"/>
            <p:cNvSpPr>
              <a:spLocks noChangeShapeType="1"/>
            </p:cNvSpPr>
            <p:nvPr/>
          </p:nvSpPr>
          <p:spPr bwMode="auto">
            <a:xfrm>
              <a:off x="5040" y="1296"/>
              <a:ext cx="38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3" name="Line 173"/>
            <p:cNvSpPr>
              <a:spLocks noChangeShapeType="1"/>
            </p:cNvSpPr>
            <p:nvPr/>
          </p:nvSpPr>
          <p:spPr bwMode="auto">
            <a:xfrm flipV="1">
              <a:off x="4723" y="1521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" name="Line 174"/>
            <p:cNvSpPr>
              <a:spLocks noChangeShapeType="1"/>
            </p:cNvSpPr>
            <p:nvPr/>
          </p:nvSpPr>
          <p:spPr bwMode="auto">
            <a:xfrm flipV="1">
              <a:off x="4723" y="1493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" name="Line 175"/>
            <p:cNvSpPr>
              <a:spLocks noChangeShapeType="1"/>
            </p:cNvSpPr>
            <p:nvPr/>
          </p:nvSpPr>
          <p:spPr bwMode="auto">
            <a:xfrm flipV="1">
              <a:off x="4723" y="1353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6" name="Line 176"/>
            <p:cNvSpPr>
              <a:spLocks noChangeShapeType="1"/>
            </p:cNvSpPr>
            <p:nvPr/>
          </p:nvSpPr>
          <p:spPr bwMode="auto">
            <a:xfrm flipV="1">
              <a:off x="4723" y="1325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7" name="Line 177"/>
            <p:cNvSpPr>
              <a:spLocks noChangeShapeType="1"/>
            </p:cNvSpPr>
            <p:nvPr/>
          </p:nvSpPr>
          <p:spPr bwMode="auto">
            <a:xfrm flipV="1">
              <a:off x="4723" y="1185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8" name="Line 178"/>
            <p:cNvSpPr>
              <a:spLocks noChangeShapeType="1"/>
            </p:cNvSpPr>
            <p:nvPr/>
          </p:nvSpPr>
          <p:spPr bwMode="auto">
            <a:xfrm flipV="1">
              <a:off x="4723" y="1157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9" name="Line 179"/>
            <p:cNvSpPr>
              <a:spLocks noChangeShapeType="1"/>
            </p:cNvSpPr>
            <p:nvPr/>
          </p:nvSpPr>
          <p:spPr bwMode="auto">
            <a:xfrm flipV="1">
              <a:off x="4723" y="1018"/>
              <a:ext cx="1" cy="1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0" name="Line 180"/>
            <p:cNvSpPr>
              <a:spLocks noChangeShapeType="1"/>
            </p:cNvSpPr>
            <p:nvPr/>
          </p:nvSpPr>
          <p:spPr bwMode="auto">
            <a:xfrm flipV="1">
              <a:off x="4723" y="989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1" name="Line 181"/>
            <p:cNvSpPr>
              <a:spLocks noChangeShapeType="1"/>
            </p:cNvSpPr>
            <p:nvPr/>
          </p:nvSpPr>
          <p:spPr bwMode="auto">
            <a:xfrm flipV="1">
              <a:off x="4723" y="941"/>
              <a:ext cx="1" cy="33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" name="Line 182"/>
            <p:cNvSpPr>
              <a:spLocks noChangeShapeType="1"/>
            </p:cNvSpPr>
            <p:nvPr/>
          </p:nvSpPr>
          <p:spPr bwMode="auto">
            <a:xfrm flipV="1">
              <a:off x="4723" y="1867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" name="Line 183"/>
            <p:cNvSpPr>
              <a:spLocks noChangeShapeType="1"/>
            </p:cNvSpPr>
            <p:nvPr/>
          </p:nvSpPr>
          <p:spPr bwMode="auto">
            <a:xfrm flipV="1">
              <a:off x="4723" y="1838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" name="Line 184"/>
            <p:cNvSpPr>
              <a:spLocks noChangeShapeType="1"/>
            </p:cNvSpPr>
            <p:nvPr/>
          </p:nvSpPr>
          <p:spPr bwMode="auto">
            <a:xfrm flipV="1">
              <a:off x="4723" y="1699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" name="Line 185"/>
            <p:cNvSpPr>
              <a:spLocks noChangeShapeType="1"/>
            </p:cNvSpPr>
            <p:nvPr/>
          </p:nvSpPr>
          <p:spPr bwMode="auto">
            <a:xfrm flipV="1">
              <a:off x="4723" y="1670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" name="Line 186"/>
            <p:cNvSpPr>
              <a:spLocks noChangeShapeType="1"/>
            </p:cNvSpPr>
            <p:nvPr/>
          </p:nvSpPr>
          <p:spPr bwMode="auto">
            <a:xfrm flipV="1">
              <a:off x="4723" y="1531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" name="Line 187"/>
            <p:cNvSpPr>
              <a:spLocks noChangeShapeType="1"/>
            </p:cNvSpPr>
            <p:nvPr/>
          </p:nvSpPr>
          <p:spPr bwMode="auto">
            <a:xfrm flipV="1">
              <a:off x="4723" y="1502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8" name="Line 188"/>
            <p:cNvSpPr>
              <a:spLocks noChangeShapeType="1"/>
            </p:cNvSpPr>
            <p:nvPr/>
          </p:nvSpPr>
          <p:spPr bwMode="auto">
            <a:xfrm flipV="1">
              <a:off x="4723" y="1363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" name="Line 189"/>
            <p:cNvSpPr>
              <a:spLocks noChangeShapeType="1"/>
            </p:cNvSpPr>
            <p:nvPr/>
          </p:nvSpPr>
          <p:spPr bwMode="auto">
            <a:xfrm flipV="1">
              <a:off x="4723" y="1334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0" name="Line 190"/>
            <p:cNvSpPr>
              <a:spLocks noChangeShapeType="1"/>
            </p:cNvSpPr>
            <p:nvPr/>
          </p:nvSpPr>
          <p:spPr bwMode="auto">
            <a:xfrm flipV="1">
              <a:off x="4723" y="1195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" name="Line 191"/>
            <p:cNvSpPr>
              <a:spLocks noChangeShapeType="1"/>
            </p:cNvSpPr>
            <p:nvPr/>
          </p:nvSpPr>
          <p:spPr bwMode="auto">
            <a:xfrm flipV="1">
              <a:off x="4723" y="1166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2" name="Line 192"/>
            <p:cNvSpPr>
              <a:spLocks noChangeShapeType="1"/>
            </p:cNvSpPr>
            <p:nvPr/>
          </p:nvSpPr>
          <p:spPr bwMode="auto">
            <a:xfrm flipV="1">
              <a:off x="4723" y="1027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3" name="Line 193"/>
            <p:cNvSpPr>
              <a:spLocks noChangeShapeType="1"/>
            </p:cNvSpPr>
            <p:nvPr/>
          </p:nvSpPr>
          <p:spPr bwMode="auto">
            <a:xfrm flipV="1">
              <a:off x="4723" y="998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" name="Line 194"/>
            <p:cNvSpPr>
              <a:spLocks noChangeShapeType="1"/>
            </p:cNvSpPr>
            <p:nvPr/>
          </p:nvSpPr>
          <p:spPr bwMode="auto">
            <a:xfrm flipV="1">
              <a:off x="4723" y="859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" name="Line 195"/>
            <p:cNvSpPr>
              <a:spLocks noChangeShapeType="1"/>
            </p:cNvSpPr>
            <p:nvPr/>
          </p:nvSpPr>
          <p:spPr bwMode="auto">
            <a:xfrm flipV="1">
              <a:off x="4723" y="830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" name="Line 196"/>
            <p:cNvSpPr>
              <a:spLocks noChangeShapeType="1"/>
            </p:cNvSpPr>
            <p:nvPr/>
          </p:nvSpPr>
          <p:spPr bwMode="auto">
            <a:xfrm flipV="1">
              <a:off x="4723" y="739"/>
              <a:ext cx="1" cy="77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" name="Group 197"/>
          <p:cNvGrpSpPr>
            <a:grpSpLocks/>
          </p:cNvGrpSpPr>
          <p:nvPr/>
        </p:nvGrpSpPr>
        <p:grpSpPr bwMode="auto">
          <a:xfrm>
            <a:off x="2898776" y="1554164"/>
            <a:ext cx="1554163" cy="998537"/>
            <a:chOff x="848" y="1387"/>
            <a:chExt cx="979" cy="629"/>
          </a:xfrm>
        </p:grpSpPr>
        <p:sp>
          <p:nvSpPr>
            <p:cNvPr id="198" name="Oval 198"/>
            <p:cNvSpPr>
              <a:spLocks noChangeArrowheads="1"/>
            </p:cNvSpPr>
            <p:nvPr/>
          </p:nvSpPr>
          <p:spPr bwMode="auto">
            <a:xfrm>
              <a:off x="1227" y="1584"/>
              <a:ext cx="235" cy="235"/>
            </a:xfrm>
            <a:prstGeom prst="ellips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Line 199"/>
            <p:cNvSpPr>
              <a:spLocks noChangeShapeType="1"/>
            </p:cNvSpPr>
            <p:nvPr/>
          </p:nvSpPr>
          <p:spPr bwMode="auto">
            <a:xfrm>
              <a:off x="1030" y="1704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0" name="Line 200"/>
            <p:cNvSpPr>
              <a:spLocks noChangeShapeType="1"/>
            </p:cNvSpPr>
            <p:nvPr/>
          </p:nvSpPr>
          <p:spPr bwMode="auto">
            <a:xfrm>
              <a:off x="1169" y="1704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1" name="Line 201"/>
            <p:cNvSpPr>
              <a:spLocks noChangeShapeType="1"/>
            </p:cNvSpPr>
            <p:nvPr/>
          </p:nvSpPr>
          <p:spPr bwMode="auto">
            <a:xfrm>
              <a:off x="1198" y="1704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2" name="Line 202"/>
            <p:cNvSpPr>
              <a:spLocks noChangeShapeType="1"/>
            </p:cNvSpPr>
            <p:nvPr/>
          </p:nvSpPr>
          <p:spPr bwMode="auto">
            <a:xfrm>
              <a:off x="1337" y="1704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3" name="Line 203"/>
            <p:cNvSpPr>
              <a:spLocks noChangeShapeType="1"/>
            </p:cNvSpPr>
            <p:nvPr/>
          </p:nvSpPr>
          <p:spPr bwMode="auto">
            <a:xfrm>
              <a:off x="1366" y="1704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" name="Line 204"/>
            <p:cNvSpPr>
              <a:spLocks noChangeShapeType="1"/>
            </p:cNvSpPr>
            <p:nvPr/>
          </p:nvSpPr>
          <p:spPr bwMode="auto">
            <a:xfrm>
              <a:off x="1505" y="1704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" name="Line 205"/>
            <p:cNvSpPr>
              <a:spLocks noChangeShapeType="1"/>
            </p:cNvSpPr>
            <p:nvPr/>
          </p:nvSpPr>
          <p:spPr bwMode="auto">
            <a:xfrm>
              <a:off x="1534" y="1704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" name="Line 206"/>
            <p:cNvSpPr>
              <a:spLocks noChangeShapeType="1"/>
            </p:cNvSpPr>
            <p:nvPr/>
          </p:nvSpPr>
          <p:spPr bwMode="auto">
            <a:xfrm flipV="1">
              <a:off x="1347" y="1891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" name="Line 207"/>
            <p:cNvSpPr>
              <a:spLocks noChangeShapeType="1"/>
            </p:cNvSpPr>
            <p:nvPr/>
          </p:nvSpPr>
          <p:spPr bwMode="auto">
            <a:xfrm flipV="1">
              <a:off x="1347" y="1862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8" name="Line 208"/>
            <p:cNvSpPr>
              <a:spLocks noChangeShapeType="1"/>
            </p:cNvSpPr>
            <p:nvPr/>
          </p:nvSpPr>
          <p:spPr bwMode="auto">
            <a:xfrm flipV="1">
              <a:off x="1347" y="1723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9" name="Line 209"/>
            <p:cNvSpPr>
              <a:spLocks noChangeShapeType="1"/>
            </p:cNvSpPr>
            <p:nvPr/>
          </p:nvSpPr>
          <p:spPr bwMode="auto">
            <a:xfrm flipV="1">
              <a:off x="1347" y="1694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0" name="Line 210"/>
            <p:cNvSpPr>
              <a:spLocks noChangeShapeType="1"/>
            </p:cNvSpPr>
            <p:nvPr/>
          </p:nvSpPr>
          <p:spPr bwMode="auto">
            <a:xfrm flipV="1">
              <a:off x="1347" y="1555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" name="Line 211"/>
            <p:cNvSpPr>
              <a:spLocks noChangeShapeType="1"/>
            </p:cNvSpPr>
            <p:nvPr/>
          </p:nvSpPr>
          <p:spPr bwMode="auto">
            <a:xfrm flipV="1">
              <a:off x="1347" y="1526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" name="Line 212"/>
            <p:cNvSpPr>
              <a:spLocks noChangeShapeType="1"/>
            </p:cNvSpPr>
            <p:nvPr/>
          </p:nvSpPr>
          <p:spPr bwMode="auto">
            <a:xfrm flipV="1">
              <a:off x="1347" y="1387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" name="Freeform 213"/>
            <p:cNvSpPr>
              <a:spLocks noChangeArrowheads="1"/>
            </p:cNvSpPr>
            <p:nvPr/>
          </p:nvSpPr>
          <p:spPr bwMode="auto">
            <a:xfrm>
              <a:off x="1279" y="1929"/>
              <a:ext cx="135" cy="10"/>
            </a:xfrm>
            <a:custGeom>
              <a:avLst/>
              <a:gdLst>
                <a:gd name="T0" fmla="*/ 0 w 28"/>
                <a:gd name="T1" fmla="*/ 0 h 2"/>
                <a:gd name="T2" fmla="*/ 2 w 28"/>
                <a:gd name="T3" fmla="*/ 0 h 2"/>
                <a:gd name="T4" fmla="*/ 4 w 28"/>
                <a:gd name="T5" fmla="*/ 1 h 2"/>
                <a:gd name="T6" fmla="*/ 7 w 28"/>
                <a:gd name="T7" fmla="*/ 1 h 2"/>
                <a:gd name="T8" fmla="*/ 9 w 28"/>
                <a:gd name="T9" fmla="*/ 2 h 2"/>
                <a:gd name="T10" fmla="*/ 11 w 28"/>
                <a:gd name="T11" fmla="*/ 2 h 2"/>
                <a:gd name="T12" fmla="*/ 14 w 28"/>
                <a:gd name="T13" fmla="*/ 2 h 2"/>
                <a:gd name="T14" fmla="*/ 16 w 28"/>
                <a:gd name="T15" fmla="*/ 2 h 2"/>
                <a:gd name="T16" fmla="*/ 19 w 28"/>
                <a:gd name="T17" fmla="*/ 2 h 2"/>
                <a:gd name="T18" fmla="*/ 21 w 28"/>
                <a:gd name="T19" fmla="*/ 1 h 2"/>
                <a:gd name="T20" fmla="*/ 23 w 28"/>
                <a:gd name="T21" fmla="*/ 1 h 2"/>
                <a:gd name="T22" fmla="*/ 26 w 28"/>
                <a:gd name="T23" fmla="*/ 0 h 2"/>
                <a:gd name="T24" fmla="*/ 28 w 28"/>
                <a:gd name="T2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" h="2">
                  <a:moveTo>
                    <a:pt x="0" y="0"/>
                  </a:moveTo>
                  <a:lnTo>
                    <a:pt x="2" y="0"/>
                  </a:lnTo>
                  <a:lnTo>
                    <a:pt x="4" y="1"/>
                  </a:lnTo>
                  <a:lnTo>
                    <a:pt x="7" y="1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9" y="2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6" y="0"/>
                  </a:lnTo>
                  <a:lnTo>
                    <a:pt x="28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4" name="Line 214"/>
            <p:cNvSpPr>
              <a:spLocks noChangeShapeType="1"/>
            </p:cNvSpPr>
            <p:nvPr/>
          </p:nvSpPr>
          <p:spPr bwMode="auto">
            <a:xfrm flipV="1">
              <a:off x="1620" y="1733"/>
              <a:ext cx="1" cy="1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" name="Line 215"/>
            <p:cNvSpPr>
              <a:spLocks noChangeShapeType="1"/>
            </p:cNvSpPr>
            <p:nvPr/>
          </p:nvSpPr>
          <p:spPr bwMode="auto">
            <a:xfrm flipV="1">
              <a:off x="1620" y="1704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" name="Line 216"/>
            <p:cNvSpPr>
              <a:spLocks noChangeShapeType="1"/>
            </p:cNvSpPr>
            <p:nvPr/>
          </p:nvSpPr>
          <p:spPr bwMode="auto">
            <a:xfrm flipV="1">
              <a:off x="1620" y="1565"/>
              <a:ext cx="1" cy="1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" name="Line 217"/>
            <p:cNvSpPr>
              <a:spLocks noChangeShapeType="1"/>
            </p:cNvSpPr>
            <p:nvPr/>
          </p:nvSpPr>
          <p:spPr bwMode="auto">
            <a:xfrm flipV="1">
              <a:off x="1620" y="1546"/>
              <a:ext cx="1" cy="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8" name="Line 218"/>
            <p:cNvSpPr>
              <a:spLocks noChangeShapeType="1"/>
            </p:cNvSpPr>
            <p:nvPr/>
          </p:nvSpPr>
          <p:spPr bwMode="auto">
            <a:xfrm flipV="1">
              <a:off x="1068" y="1733"/>
              <a:ext cx="1" cy="1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9" name="Line 219"/>
            <p:cNvSpPr>
              <a:spLocks noChangeShapeType="1"/>
            </p:cNvSpPr>
            <p:nvPr/>
          </p:nvSpPr>
          <p:spPr bwMode="auto">
            <a:xfrm flipV="1">
              <a:off x="1068" y="1704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0" name="Line 220"/>
            <p:cNvSpPr>
              <a:spLocks noChangeShapeType="1"/>
            </p:cNvSpPr>
            <p:nvPr/>
          </p:nvSpPr>
          <p:spPr bwMode="auto">
            <a:xfrm flipV="1">
              <a:off x="1068" y="1565"/>
              <a:ext cx="1" cy="1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1" name="Line 221"/>
            <p:cNvSpPr>
              <a:spLocks noChangeShapeType="1"/>
            </p:cNvSpPr>
            <p:nvPr/>
          </p:nvSpPr>
          <p:spPr bwMode="auto">
            <a:xfrm flipV="1">
              <a:off x="1068" y="1546"/>
              <a:ext cx="1" cy="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2" name="Line 222"/>
            <p:cNvSpPr>
              <a:spLocks noChangeShapeType="1"/>
            </p:cNvSpPr>
            <p:nvPr/>
          </p:nvSpPr>
          <p:spPr bwMode="auto">
            <a:xfrm>
              <a:off x="1462" y="1704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3" name="Line 223"/>
            <p:cNvSpPr>
              <a:spLocks noChangeShapeType="1"/>
            </p:cNvSpPr>
            <p:nvPr/>
          </p:nvSpPr>
          <p:spPr bwMode="auto">
            <a:xfrm>
              <a:off x="1601" y="1704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4" name="Line 224"/>
            <p:cNvSpPr>
              <a:spLocks noChangeShapeType="1"/>
            </p:cNvSpPr>
            <p:nvPr/>
          </p:nvSpPr>
          <p:spPr bwMode="auto">
            <a:xfrm>
              <a:off x="1630" y="1704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" name="Line 225"/>
            <p:cNvSpPr>
              <a:spLocks noChangeShapeType="1"/>
            </p:cNvSpPr>
            <p:nvPr/>
          </p:nvSpPr>
          <p:spPr bwMode="auto">
            <a:xfrm>
              <a:off x="1769" y="1704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6" name="Line 226"/>
            <p:cNvSpPr>
              <a:spLocks noChangeShapeType="1"/>
            </p:cNvSpPr>
            <p:nvPr/>
          </p:nvSpPr>
          <p:spPr bwMode="auto">
            <a:xfrm>
              <a:off x="1798" y="1704"/>
              <a:ext cx="29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7" name="Line 227"/>
            <p:cNvSpPr>
              <a:spLocks noChangeShapeType="1"/>
            </p:cNvSpPr>
            <p:nvPr/>
          </p:nvSpPr>
          <p:spPr bwMode="auto">
            <a:xfrm>
              <a:off x="848" y="1704"/>
              <a:ext cx="12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8" name="Line 228"/>
            <p:cNvSpPr>
              <a:spLocks noChangeShapeType="1"/>
            </p:cNvSpPr>
            <p:nvPr/>
          </p:nvSpPr>
          <p:spPr bwMode="auto">
            <a:xfrm>
              <a:off x="987" y="1704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9" name="Line 229"/>
            <p:cNvSpPr>
              <a:spLocks noChangeShapeType="1"/>
            </p:cNvSpPr>
            <p:nvPr/>
          </p:nvSpPr>
          <p:spPr bwMode="auto">
            <a:xfrm>
              <a:off x="1016" y="1704"/>
              <a:ext cx="12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0" name="Line 230"/>
            <p:cNvSpPr>
              <a:spLocks noChangeShapeType="1"/>
            </p:cNvSpPr>
            <p:nvPr/>
          </p:nvSpPr>
          <p:spPr bwMode="auto">
            <a:xfrm>
              <a:off x="1155" y="1704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1" name="Line 231"/>
            <p:cNvSpPr>
              <a:spLocks noChangeShapeType="1"/>
            </p:cNvSpPr>
            <p:nvPr/>
          </p:nvSpPr>
          <p:spPr bwMode="auto">
            <a:xfrm>
              <a:off x="1183" y="1704"/>
              <a:ext cx="4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2" name="Oval 232"/>
            <p:cNvSpPr>
              <a:spLocks noChangeArrowheads="1"/>
            </p:cNvSpPr>
            <p:nvPr/>
          </p:nvSpPr>
          <p:spPr bwMode="auto">
            <a:xfrm>
              <a:off x="1553" y="1632"/>
              <a:ext cx="139" cy="139"/>
            </a:xfrm>
            <a:prstGeom prst="ellips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3" name="Oval 233"/>
            <p:cNvSpPr>
              <a:spLocks noChangeArrowheads="1"/>
            </p:cNvSpPr>
            <p:nvPr/>
          </p:nvSpPr>
          <p:spPr bwMode="auto">
            <a:xfrm>
              <a:off x="1001" y="1632"/>
              <a:ext cx="139" cy="139"/>
            </a:xfrm>
            <a:prstGeom prst="ellips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4" name="Line 234"/>
            <p:cNvSpPr>
              <a:spLocks noChangeShapeType="1"/>
            </p:cNvSpPr>
            <p:nvPr/>
          </p:nvSpPr>
          <p:spPr bwMode="auto">
            <a:xfrm flipV="1">
              <a:off x="1020" y="1483"/>
              <a:ext cx="240" cy="9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" name="Line 235"/>
            <p:cNvSpPr>
              <a:spLocks noChangeShapeType="1"/>
            </p:cNvSpPr>
            <p:nvPr/>
          </p:nvSpPr>
          <p:spPr bwMode="auto">
            <a:xfrm>
              <a:off x="1020" y="1829"/>
              <a:ext cx="240" cy="96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" name="Line 236"/>
            <p:cNvSpPr>
              <a:spLocks noChangeShapeType="1"/>
            </p:cNvSpPr>
            <p:nvPr/>
          </p:nvSpPr>
          <p:spPr bwMode="auto">
            <a:xfrm flipH="1" flipV="1">
              <a:off x="1428" y="1483"/>
              <a:ext cx="240" cy="9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" name="Line 237"/>
            <p:cNvSpPr>
              <a:spLocks noChangeShapeType="1"/>
            </p:cNvSpPr>
            <p:nvPr/>
          </p:nvSpPr>
          <p:spPr bwMode="auto">
            <a:xfrm flipH="1">
              <a:off x="1428" y="1829"/>
              <a:ext cx="240" cy="96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8" name="Freeform 238"/>
            <p:cNvSpPr>
              <a:spLocks noChangeArrowheads="1"/>
            </p:cNvSpPr>
            <p:nvPr/>
          </p:nvSpPr>
          <p:spPr bwMode="auto">
            <a:xfrm>
              <a:off x="1260" y="1925"/>
              <a:ext cx="168" cy="14"/>
            </a:xfrm>
            <a:custGeom>
              <a:avLst/>
              <a:gdLst>
                <a:gd name="T0" fmla="*/ 0 w 35"/>
                <a:gd name="T1" fmla="*/ 0 h 3"/>
                <a:gd name="T2" fmla="*/ 3 w 35"/>
                <a:gd name="T3" fmla="*/ 0 h 3"/>
                <a:gd name="T4" fmla="*/ 6 w 35"/>
                <a:gd name="T5" fmla="*/ 1 h 3"/>
                <a:gd name="T6" fmla="*/ 9 w 35"/>
                <a:gd name="T7" fmla="*/ 2 h 3"/>
                <a:gd name="T8" fmla="*/ 12 w 35"/>
                <a:gd name="T9" fmla="*/ 2 h 3"/>
                <a:gd name="T10" fmla="*/ 15 w 35"/>
                <a:gd name="T11" fmla="*/ 3 h 3"/>
                <a:gd name="T12" fmla="*/ 18 w 35"/>
                <a:gd name="T13" fmla="*/ 3 h 3"/>
                <a:gd name="T14" fmla="*/ 21 w 35"/>
                <a:gd name="T15" fmla="*/ 3 h 3"/>
                <a:gd name="T16" fmla="*/ 24 w 35"/>
                <a:gd name="T17" fmla="*/ 2 h 3"/>
                <a:gd name="T18" fmla="*/ 27 w 35"/>
                <a:gd name="T19" fmla="*/ 2 h 3"/>
                <a:gd name="T20" fmla="*/ 30 w 35"/>
                <a:gd name="T21" fmla="*/ 1 h 3"/>
                <a:gd name="T22" fmla="*/ 33 w 35"/>
                <a:gd name="T23" fmla="*/ 0 h 3"/>
                <a:gd name="T24" fmla="*/ 35 w 35"/>
                <a:gd name="T2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3">
                  <a:moveTo>
                    <a:pt x="0" y="0"/>
                  </a:moveTo>
                  <a:lnTo>
                    <a:pt x="3" y="0"/>
                  </a:lnTo>
                  <a:lnTo>
                    <a:pt x="6" y="1"/>
                  </a:lnTo>
                  <a:lnTo>
                    <a:pt x="9" y="2"/>
                  </a:lnTo>
                  <a:lnTo>
                    <a:pt x="12" y="2"/>
                  </a:lnTo>
                  <a:lnTo>
                    <a:pt x="15" y="3"/>
                  </a:lnTo>
                  <a:lnTo>
                    <a:pt x="18" y="3"/>
                  </a:lnTo>
                  <a:lnTo>
                    <a:pt x="21" y="3"/>
                  </a:lnTo>
                  <a:lnTo>
                    <a:pt x="24" y="2"/>
                  </a:lnTo>
                  <a:lnTo>
                    <a:pt x="27" y="2"/>
                  </a:lnTo>
                  <a:lnTo>
                    <a:pt x="30" y="1"/>
                  </a:lnTo>
                  <a:lnTo>
                    <a:pt x="33" y="0"/>
                  </a:lnTo>
                  <a:lnTo>
                    <a:pt x="35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9" name="Freeform 239"/>
            <p:cNvSpPr>
              <a:spLocks noChangeArrowheads="1"/>
            </p:cNvSpPr>
            <p:nvPr/>
          </p:nvSpPr>
          <p:spPr bwMode="auto">
            <a:xfrm>
              <a:off x="1260" y="1464"/>
              <a:ext cx="168" cy="19"/>
            </a:xfrm>
            <a:custGeom>
              <a:avLst/>
              <a:gdLst>
                <a:gd name="T0" fmla="*/ 35 w 35"/>
                <a:gd name="T1" fmla="*/ 4 h 4"/>
                <a:gd name="T2" fmla="*/ 33 w 35"/>
                <a:gd name="T3" fmla="*/ 3 h 4"/>
                <a:gd name="T4" fmla="*/ 30 w 35"/>
                <a:gd name="T5" fmla="*/ 2 h 4"/>
                <a:gd name="T6" fmla="*/ 27 w 35"/>
                <a:gd name="T7" fmla="*/ 1 h 4"/>
                <a:gd name="T8" fmla="*/ 24 w 35"/>
                <a:gd name="T9" fmla="*/ 1 h 4"/>
                <a:gd name="T10" fmla="*/ 21 w 35"/>
                <a:gd name="T11" fmla="*/ 0 h 4"/>
                <a:gd name="T12" fmla="*/ 18 w 35"/>
                <a:gd name="T13" fmla="*/ 0 h 4"/>
                <a:gd name="T14" fmla="*/ 15 w 35"/>
                <a:gd name="T15" fmla="*/ 0 h 4"/>
                <a:gd name="T16" fmla="*/ 12 w 35"/>
                <a:gd name="T17" fmla="*/ 1 h 4"/>
                <a:gd name="T18" fmla="*/ 9 w 35"/>
                <a:gd name="T19" fmla="*/ 1 h 4"/>
                <a:gd name="T20" fmla="*/ 6 w 35"/>
                <a:gd name="T21" fmla="*/ 2 h 4"/>
                <a:gd name="T22" fmla="*/ 3 w 35"/>
                <a:gd name="T23" fmla="*/ 3 h 4"/>
                <a:gd name="T24" fmla="*/ 0 w 35"/>
                <a:gd name="T2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4">
                  <a:moveTo>
                    <a:pt x="35" y="4"/>
                  </a:moveTo>
                  <a:lnTo>
                    <a:pt x="33" y="3"/>
                  </a:lnTo>
                  <a:lnTo>
                    <a:pt x="30" y="2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2" y="1"/>
                  </a:lnTo>
                  <a:lnTo>
                    <a:pt x="9" y="1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4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0" name="Freeform 240"/>
            <p:cNvSpPr>
              <a:spLocks noChangeArrowheads="1"/>
            </p:cNvSpPr>
            <p:nvPr/>
          </p:nvSpPr>
          <p:spPr bwMode="auto">
            <a:xfrm>
              <a:off x="1668" y="1574"/>
              <a:ext cx="91" cy="255"/>
            </a:xfrm>
            <a:custGeom>
              <a:avLst/>
              <a:gdLst>
                <a:gd name="T0" fmla="*/ 0 w 19"/>
                <a:gd name="T1" fmla="*/ 53 h 53"/>
                <a:gd name="T2" fmla="*/ 7 w 19"/>
                <a:gd name="T3" fmla="*/ 50 h 53"/>
                <a:gd name="T4" fmla="*/ 12 w 19"/>
                <a:gd name="T5" fmla="*/ 46 h 53"/>
                <a:gd name="T6" fmla="*/ 16 w 19"/>
                <a:gd name="T7" fmla="*/ 40 h 53"/>
                <a:gd name="T8" fmla="*/ 18 w 19"/>
                <a:gd name="T9" fmla="*/ 33 h 53"/>
                <a:gd name="T10" fmla="*/ 19 w 19"/>
                <a:gd name="T11" fmla="*/ 27 h 53"/>
                <a:gd name="T12" fmla="*/ 18 w 19"/>
                <a:gd name="T13" fmla="*/ 20 h 53"/>
                <a:gd name="T14" fmla="*/ 16 w 19"/>
                <a:gd name="T15" fmla="*/ 13 h 53"/>
                <a:gd name="T16" fmla="*/ 12 w 19"/>
                <a:gd name="T17" fmla="*/ 8 h 53"/>
                <a:gd name="T18" fmla="*/ 7 w 19"/>
                <a:gd name="T19" fmla="*/ 3 h 53"/>
                <a:gd name="T20" fmla="*/ 0 w 19"/>
                <a:gd name="T21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53">
                  <a:moveTo>
                    <a:pt x="0" y="53"/>
                  </a:moveTo>
                  <a:lnTo>
                    <a:pt x="7" y="50"/>
                  </a:lnTo>
                  <a:lnTo>
                    <a:pt x="12" y="46"/>
                  </a:lnTo>
                  <a:lnTo>
                    <a:pt x="16" y="40"/>
                  </a:lnTo>
                  <a:lnTo>
                    <a:pt x="18" y="33"/>
                  </a:lnTo>
                  <a:lnTo>
                    <a:pt x="19" y="27"/>
                  </a:lnTo>
                  <a:lnTo>
                    <a:pt x="18" y="20"/>
                  </a:lnTo>
                  <a:lnTo>
                    <a:pt x="16" y="13"/>
                  </a:lnTo>
                  <a:lnTo>
                    <a:pt x="12" y="8"/>
                  </a:lnTo>
                  <a:lnTo>
                    <a:pt x="7" y="3"/>
                  </a:lnTo>
                  <a:lnTo>
                    <a:pt x="0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1" name="Freeform 241"/>
            <p:cNvSpPr>
              <a:spLocks noChangeArrowheads="1"/>
            </p:cNvSpPr>
            <p:nvPr/>
          </p:nvSpPr>
          <p:spPr bwMode="auto">
            <a:xfrm>
              <a:off x="934" y="1574"/>
              <a:ext cx="86" cy="255"/>
            </a:xfrm>
            <a:custGeom>
              <a:avLst/>
              <a:gdLst>
                <a:gd name="T0" fmla="*/ 18 w 18"/>
                <a:gd name="T1" fmla="*/ 0 h 53"/>
                <a:gd name="T2" fmla="*/ 12 w 18"/>
                <a:gd name="T3" fmla="*/ 3 h 53"/>
                <a:gd name="T4" fmla="*/ 7 w 18"/>
                <a:gd name="T5" fmla="*/ 8 h 53"/>
                <a:gd name="T6" fmla="*/ 3 w 18"/>
                <a:gd name="T7" fmla="*/ 13 h 53"/>
                <a:gd name="T8" fmla="*/ 0 w 18"/>
                <a:gd name="T9" fmla="*/ 20 h 53"/>
                <a:gd name="T10" fmla="*/ 0 w 18"/>
                <a:gd name="T11" fmla="*/ 27 h 53"/>
                <a:gd name="T12" fmla="*/ 0 w 18"/>
                <a:gd name="T13" fmla="*/ 33 h 53"/>
                <a:gd name="T14" fmla="*/ 3 w 18"/>
                <a:gd name="T15" fmla="*/ 40 h 53"/>
                <a:gd name="T16" fmla="*/ 7 w 18"/>
                <a:gd name="T17" fmla="*/ 46 h 53"/>
                <a:gd name="T18" fmla="*/ 12 w 18"/>
                <a:gd name="T19" fmla="*/ 50 h 53"/>
                <a:gd name="T20" fmla="*/ 18 w 18"/>
                <a:gd name="T2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3">
                  <a:moveTo>
                    <a:pt x="18" y="0"/>
                  </a:moveTo>
                  <a:lnTo>
                    <a:pt x="12" y="3"/>
                  </a:lnTo>
                  <a:lnTo>
                    <a:pt x="7" y="8"/>
                  </a:lnTo>
                  <a:lnTo>
                    <a:pt x="3" y="13"/>
                  </a:lnTo>
                  <a:lnTo>
                    <a:pt x="0" y="20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3" y="40"/>
                  </a:lnTo>
                  <a:lnTo>
                    <a:pt x="7" y="46"/>
                  </a:lnTo>
                  <a:lnTo>
                    <a:pt x="12" y="50"/>
                  </a:lnTo>
                  <a:lnTo>
                    <a:pt x="18" y="53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242" name="Group 242"/>
          <p:cNvGrpSpPr>
            <a:grpSpLocks/>
          </p:cNvGrpSpPr>
          <p:nvPr/>
        </p:nvGrpSpPr>
        <p:grpSpPr bwMode="auto">
          <a:xfrm>
            <a:off x="4595813" y="1693864"/>
            <a:ext cx="514350" cy="396875"/>
            <a:chOff x="2173" y="1183"/>
            <a:chExt cx="324" cy="250"/>
          </a:xfrm>
        </p:grpSpPr>
        <p:sp>
          <p:nvSpPr>
            <p:cNvPr id="243" name="Text Box 243"/>
            <p:cNvSpPr txBox="1">
              <a:spLocks noChangeArrowheads="1"/>
            </p:cNvSpPr>
            <p:nvPr/>
          </p:nvSpPr>
          <p:spPr bwMode="auto">
            <a:xfrm>
              <a:off x="2203" y="1183"/>
              <a:ext cx="26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0" hangingPunct="0">
                <a:spcBef>
                  <a:spcPct val="50000"/>
                </a:spcBef>
              </a:pPr>
              <a:r>
                <a:rPr lang="en-US" altLang="zh-CN" sz="2000" i="1">
                  <a:solidFill>
                    <a:srgbClr val="FF3300"/>
                  </a:solidFill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44" name="Line 244"/>
            <p:cNvSpPr>
              <a:spLocks noChangeShapeType="1"/>
            </p:cNvSpPr>
            <p:nvPr/>
          </p:nvSpPr>
          <p:spPr bwMode="auto">
            <a:xfrm>
              <a:off x="2173" y="1408"/>
              <a:ext cx="324" cy="0"/>
            </a:xfrm>
            <a:prstGeom prst="line">
              <a:avLst/>
            </a:prstGeom>
            <a:noFill/>
            <a:ln w="12700">
              <a:solidFill>
                <a:srgbClr val="FF3300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5" name="Group 245"/>
          <p:cNvGrpSpPr>
            <a:grpSpLocks/>
          </p:cNvGrpSpPr>
          <p:nvPr/>
        </p:nvGrpSpPr>
        <p:grpSpPr bwMode="auto">
          <a:xfrm>
            <a:off x="5002214" y="1052513"/>
            <a:ext cx="2422525" cy="2170112"/>
            <a:chOff x="2191" y="895"/>
            <a:chExt cx="1526" cy="1367"/>
          </a:xfrm>
        </p:grpSpPr>
        <p:sp>
          <p:nvSpPr>
            <p:cNvPr id="246" name="Line 246"/>
            <p:cNvSpPr>
              <a:spLocks noChangeShapeType="1"/>
            </p:cNvSpPr>
            <p:nvPr/>
          </p:nvSpPr>
          <p:spPr bwMode="auto">
            <a:xfrm flipH="1">
              <a:off x="2503" y="976"/>
              <a:ext cx="869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7" name="Line 247"/>
            <p:cNvSpPr>
              <a:spLocks noChangeShapeType="1"/>
            </p:cNvSpPr>
            <p:nvPr/>
          </p:nvSpPr>
          <p:spPr bwMode="auto">
            <a:xfrm>
              <a:off x="2191" y="1960"/>
              <a:ext cx="1493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8" name="Line 248"/>
            <p:cNvSpPr>
              <a:spLocks noChangeShapeType="1"/>
            </p:cNvSpPr>
            <p:nvPr/>
          </p:nvSpPr>
          <p:spPr bwMode="auto">
            <a:xfrm>
              <a:off x="2191" y="2156"/>
              <a:ext cx="1493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9" name="Line 249"/>
            <p:cNvSpPr>
              <a:spLocks noChangeShapeType="1"/>
            </p:cNvSpPr>
            <p:nvPr/>
          </p:nvSpPr>
          <p:spPr bwMode="auto">
            <a:xfrm flipV="1">
              <a:off x="3684" y="1960"/>
              <a:ext cx="1" cy="196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0" name="Line 250"/>
            <p:cNvSpPr>
              <a:spLocks noChangeShapeType="1"/>
            </p:cNvSpPr>
            <p:nvPr/>
          </p:nvSpPr>
          <p:spPr bwMode="auto">
            <a:xfrm flipV="1">
              <a:off x="2191" y="1960"/>
              <a:ext cx="1" cy="196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1" name="Line 251"/>
            <p:cNvSpPr>
              <a:spLocks noChangeShapeType="1"/>
            </p:cNvSpPr>
            <p:nvPr/>
          </p:nvSpPr>
          <p:spPr bwMode="auto">
            <a:xfrm flipV="1">
              <a:off x="2426" y="1250"/>
              <a:ext cx="1" cy="710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" name="Line 252"/>
            <p:cNvSpPr>
              <a:spLocks noChangeShapeType="1"/>
            </p:cNvSpPr>
            <p:nvPr/>
          </p:nvSpPr>
          <p:spPr bwMode="auto">
            <a:xfrm flipH="1">
              <a:off x="2426" y="1250"/>
              <a:ext cx="77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3" name="Line 253"/>
            <p:cNvSpPr>
              <a:spLocks noChangeShapeType="1"/>
            </p:cNvSpPr>
            <p:nvPr/>
          </p:nvSpPr>
          <p:spPr bwMode="auto">
            <a:xfrm>
              <a:off x="2503" y="976"/>
              <a:ext cx="1" cy="274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4" name="Line 254"/>
            <p:cNvSpPr>
              <a:spLocks noChangeShapeType="1"/>
            </p:cNvSpPr>
            <p:nvPr/>
          </p:nvSpPr>
          <p:spPr bwMode="auto">
            <a:xfrm flipV="1">
              <a:off x="2575" y="1528"/>
              <a:ext cx="1" cy="432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5" name="Freeform 255"/>
            <p:cNvSpPr>
              <a:spLocks noChangeArrowheads="1"/>
            </p:cNvSpPr>
            <p:nvPr/>
          </p:nvSpPr>
          <p:spPr bwMode="auto">
            <a:xfrm>
              <a:off x="2503" y="1250"/>
              <a:ext cx="72" cy="278"/>
            </a:xfrm>
            <a:custGeom>
              <a:avLst/>
              <a:gdLst>
                <a:gd name="T0" fmla="*/ 15 w 15"/>
                <a:gd name="T1" fmla="*/ 58 h 58"/>
                <a:gd name="T2" fmla="*/ 15 w 15"/>
                <a:gd name="T3" fmla="*/ 53 h 58"/>
                <a:gd name="T4" fmla="*/ 15 w 15"/>
                <a:gd name="T5" fmla="*/ 47 h 58"/>
                <a:gd name="T6" fmla="*/ 15 w 15"/>
                <a:gd name="T7" fmla="*/ 42 h 58"/>
                <a:gd name="T8" fmla="*/ 15 w 15"/>
                <a:gd name="T9" fmla="*/ 37 h 58"/>
                <a:gd name="T10" fmla="*/ 14 w 15"/>
                <a:gd name="T11" fmla="*/ 32 h 58"/>
                <a:gd name="T12" fmla="*/ 13 w 15"/>
                <a:gd name="T13" fmla="*/ 28 h 58"/>
                <a:gd name="T14" fmla="*/ 11 w 15"/>
                <a:gd name="T15" fmla="*/ 23 h 58"/>
                <a:gd name="T16" fmla="*/ 10 w 15"/>
                <a:gd name="T17" fmla="*/ 18 h 58"/>
                <a:gd name="T18" fmla="*/ 8 w 15"/>
                <a:gd name="T19" fmla="*/ 13 h 58"/>
                <a:gd name="T20" fmla="*/ 5 w 15"/>
                <a:gd name="T21" fmla="*/ 9 h 58"/>
                <a:gd name="T22" fmla="*/ 3 w 15"/>
                <a:gd name="T23" fmla="*/ 4 h 58"/>
                <a:gd name="T24" fmla="*/ 0 w 15"/>
                <a:gd name="T2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58">
                  <a:moveTo>
                    <a:pt x="15" y="58"/>
                  </a:moveTo>
                  <a:lnTo>
                    <a:pt x="15" y="53"/>
                  </a:lnTo>
                  <a:lnTo>
                    <a:pt x="15" y="47"/>
                  </a:lnTo>
                  <a:lnTo>
                    <a:pt x="15" y="42"/>
                  </a:lnTo>
                  <a:lnTo>
                    <a:pt x="15" y="37"/>
                  </a:lnTo>
                  <a:lnTo>
                    <a:pt x="14" y="32"/>
                  </a:lnTo>
                  <a:lnTo>
                    <a:pt x="13" y="28"/>
                  </a:lnTo>
                  <a:lnTo>
                    <a:pt x="11" y="23"/>
                  </a:lnTo>
                  <a:lnTo>
                    <a:pt x="10" y="18"/>
                  </a:lnTo>
                  <a:lnTo>
                    <a:pt x="8" y="13"/>
                  </a:lnTo>
                  <a:lnTo>
                    <a:pt x="5" y="9"/>
                  </a:lnTo>
                  <a:lnTo>
                    <a:pt x="3" y="4"/>
                  </a:lnTo>
                  <a:lnTo>
                    <a:pt x="0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56" name="Line 256"/>
            <p:cNvSpPr>
              <a:spLocks noChangeShapeType="1"/>
            </p:cNvSpPr>
            <p:nvPr/>
          </p:nvSpPr>
          <p:spPr bwMode="auto">
            <a:xfrm flipH="1">
              <a:off x="2590" y="1408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" name="Line 257"/>
            <p:cNvSpPr>
              <a:spLocks noChangeShapeType="1"/>
            </p:cNvSpPr>
            <p:nvPr/>
          </p:nvSpPr>
          <p:spPr bwMode="auto">
            <a:xfrm flipH="1">
              <a:off x="2527" y="1408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8" name="Line 258"/>
            <p:cNvSpPr>
              <a:spLocks noChangeShapeType="1"/>
            </p:cNvSpPr>
            <p:nvPr/>
          </p:nvSpPr>
          <p:spPr bwMode="auto">
            <a:xfrm flipH="1">
              <a:off x="2465" y="1408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" name="Line 259"/>
            <p:cNvSpPr>
              <a:spLocks noChangeShapeType="1"/>
            </p:cNvSpPr>
            <p:nvPr/>
          </p:nvSpPr>
          <p:spPr bwMode="auto">
            <a:xfrm flipH="1">
              <a:off x="2426" y="1408"/>
              <a:ext cx="29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" name="Freeform 260"/>
            <p:cNvSpPr>
              <a:spLocks noChangeArrowheads="1"/>
            </p:cNvSpPr>
            <p:nvPr/>
          </p:nvSpPr>
          <p:spPr bwMode="auto">
            <a:xfrm>
              <a:off x="2642" y="1408"/>
              <a:ext cx="24" cy="120"/>
            </a:xfrm>
            <a:custGeom>
              <a:avLst/>
              <a:gdLst>
                <a:gd name="T0" fmla="*/ 5 w 5"/>
                <a:gd name="T1" fmla="*/ 25 h 25"/>
                <a:gd name="T2" fmla="*/ 5 w 5"/>
                <a:gd name="T3" fmla="*/ 22 h 25"/>
                <a:gd name="T4" fmla="*/ 5 w 5"/>
                <a:gd name="T5" fmla="*/ 20 h 25"/>
                <a:gd name="T6" fmla="*/ 5 w 5"/>
                <a:gd name="T7" fmla="*/ 18 h 25"/>
                <a:gd name="T8" fmla="*/ 5 w 5"/>
                <a:gd name="T9" fmla="*/ 16 h 25"/>
                <a:gd name="T10" fmla="*/ 5 w 5"/>
                <a:gd name="T11" fmla="*/ 14 h 25"/>
                <a:gd name="T12" fmla="*/ 4 w 5"/>
                <a:gd name="T13" fmla="*/ 12 h 25"/>
                <a:gd name="T14" fmla="*/ 4 w 5"/>
                <a:gd name="T15" fmla="*/ 10 h 25"/>
                <a:gd name="T16" fmla="*/ 3 w 5"/>
                <a:gd name="T17" fmla="*/ 8 h 25"/>
                <a:gd name="T18" fmla="*/ 2 w 5"/>
                <a:gd name="T19" fmla="*/ 6 h 25"/>
                <a:gd name="T20" fmla="*/ 2 w 5"/>
                <a:gd name="T21" fmla="*/ 4 h 25"/>
                <a:gd name="T22" fmla="*/ 1 w 5"/>
                <a:gd name="T23" fmla="*/ 2 h 25"/>
                <a:gd name="T24" fmla="*/ 0 w 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25">
                  <a:moveTo>
                    <a:pt x="5" y="25"/>
                  </a:moveTo>
                  <a:lnTo>
                    <a:pt x="5" y="22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3" y="8"/>
                  </a:lnTo>
                  <a:lnTo>
                    <a:pt x="2" y="6"/>
                  </a:lnTo>
                  <a:lnTo>
                    <a:pt x="2" y="4"/>
                  </a:lnTo>
                  <a:lnTo>
                    <a:pt x="1" y="2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1" name="Line 261"/>
            <p:cNvSpPr>
              <a:spLocks noChangeShapeType="1"/>
            </p:cNvSpPr>
            <p:nvPr/>
          </p:nvSpPr>
          <p:spPr bwMode="auto">
            <a:xfrm flipV="1">
              <a:off x="2642" y="1355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" name="Line 262"/>
            <p:cNvSpPr>
              <a:spLocks noChangeShapeType="1"/>
            </p:cNvSpPr>
            <p:nvPr/>
          </p:nvSpPr>
          <p:spPr bwMode="auto">
            <a:xfrm flipV="1">
              <a:off x="2642" y="1293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" name="Line 263"/>
            <p:cNvSpPr>
              <a:spLocks noChangeShapeType="1"/>
            </p:cNvSpPr>
            <p:nvPr/>
          </p:nvSpPr>
          <p:spPr bwMode="auto">
            <a:xfrm flipV="1">
              <a:off x="2642" y="1230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" name="Line 264"/>
            <p:cNvSpPr>
              <a:spLocks noChangeShapeType="1"/>
            </p:cNvSpPr>
            <p:nvPr/>
          </p:nvSpPr>
          <p:spPr bwMode="auto">
            <a:xfrm flipV="1">
              <a:off x="2642" y="1168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5" name="Line 265"/>
            <p:cNvSpPr>
              <a:spLocks noChangeShapeType="1"/>
            </p:cNvSpPr>
            <p:nvPr/>
          </p:nvSpPr>
          <p:spPr bwMode="auto">
            <a:xfrm flipV="1">
              <a:off x="2642" y="1106"/>
              <a:ext cx="1" cy="52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" name="Line 266"/>
            <p:cNvSpPr>
              <a:spLocks noChangeShapeType="1"/>
            </p:cNvSpPr>
            <p:nvPr/>
          </p:nvSpPr>
          <p:spPr bwMode="auto">
            <a:xfrm flipV="1">
              <a:off x="2642" y="1043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" name="Line 267"/>
            <p:cNvSpPr>
              <a:spLocks noChangeShapeType="1"/>
            </p:cNvSpPr>
            <p:nvPr/>
          </p:nvSpPr>
          <p:spPr bwMode="auto">
            <a:xfrm flipV="1">
              <a:off x="2642" y="981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" name="Line 268"/>
            <p:cNvSpPr>
              <a:spLocks noChangeShapeType="1"/>
            </p:cNvSpPr>
            <p:nvPr/>
          </p:nvSpPr>
          <p:spPr bwMode="auto">
            <a:xfrm flipV="1">
              <a:off x="2666" y="2104"/>
              <a:ext cx="1" cy="52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9" name="Line 269"/>
            <p:cNvSpPr>
              <a:spLocks noChangeShapeType="1"/>
            </p:cNvSpPr>
            <p:nvPr/>
          </p:nvSpPr>
          <p:spPr bwMode="auto">
            <a:xfrm flipV="1">
              <a:off x="2666" y="2041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0" name="Line 270"/>
            <p:cNvSpPr>
              <a:spLocks noChangeShapeType="1"/>
            </p:cNvSpPr>
            <p:nvPr/>
          </p:nvSpPr>
          <p:spPr bwMode="auto">
            <a:xfrm flipV="1">
              <a:off x="2666" y="1979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1" name="Line 271"/>
            <p:cNvSpPr>
              <a:spLocks noChangeShapeType="1"/>
            </p:cNvSpPr>
            <p:nvPr/>
          </p:nvSpPr>
          <p:spPr bwMode="auto">
            <a:xfrm flipV="1">
              <a:off x="2666" y="1916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2" name="Line 272"/>
            <p:cNvSpPr>
              <a:spLocks noChangeShapeType="1"/>
            </p:cNvSpPr>
            <p:nvPr/>
          </p:nvSpPr>
          <p:spPr bwMode="auto">
            <a:xfrm flipV="1">
              <a:off x="2666" y="1854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3" name="Line 273"/>
            <p:cNvSpPr>
              <a:spLocks noChangeShapeType="1"/>
            </p:cNvSpPr>
            <p:nvPr/>
          </p:nvSpPr>
          <p:spPr bwMode="auto">
            <a:xfrm flipV="1">
              <a:off x="2666" y="1792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4" name="Line 274"/>
            <p:cNvSpPr>
              <a:spLocks noChangeShapeType="1"/>
            </p:cNvSpPr>
            <p:nvPr/>
          </p:nvSpPr>
          <p:spPr bwMode="auto">
            <a:xfrm flipV="1">
              <a:off x="2666" y="1729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5" name="Line 275"/>
            <p:cNvSpPr>
              <a:spLocks noChangeShapeType="1"/>
            </p:cNvSpPr>
            <p:nvPr/>
          </p:nvSpPr>
          <p:spPr bwMode="auto">
            <a:xfrm flipV="1">
              <a:off x="2666" y="1667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" name="Line 276"/>
            <p:cNvSpPr>
              <a:spLocks noChangeShapeType="1"/>
            </p:cNvSpPr>
            <p:nvPr/>
          </p:nvSpPr>
          <p:spPr bwMode="auto">
            <a:xfrm flipV="1">
              <a:off x="2666" y="1605"/>
              <a:ext cx="1" cy="52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" name="Line 277"/>
            <p:cNvSpPr>
              <a:spLocks noChangeShapeType="1"/>
            </p:cNvSpPr>
            <p:nvPr/>
          </p:nvSpPr>
          <p:spPr bwMode="auto">
            <a:xfrm flipV="1">
              <a:off x="2666" y="1542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" name="Line 278"/>
            <p:cNvSpPr>
              <a:spLocks noChangeShapeType="1"/>
            </p:cNvSpPr>
            <p:nvPr/>
          </p:nvSpPr>
          <p:spPr bwMode="auto">
            <a:xfrm flipV="1">
              <a:off x="2666" y="1528"/>
              <a:ext cx="1" cy="5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" name="Line 279"/>
            <p:cNvSpPr>
              <a:spLocks noChangeShapeType="1"/>
            </p:cNvSpPr>
            <p:nvPr/>
          </p:nvSpPr>
          <p:spPr bwMode="auto">
            <a:xfrm flipV="1">
              <a:off x="2345" y="2108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0" name="Line 280"/>
            <p:cNvSpPr>
              <a:spLocks noChangeShapeType="1"/>
            </p:cNvSpPr>
            <p:nvPr/>
          </p:nvSpPr>
          <p:spPr bwMode="auto">
            <a:xfrm flipV="1">
              <a:off x="2345" y="2080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1" name="Line 281"/>
            <p:cNvSpPr>
              <a:spLocks noChangeShapeType="1"/>
            </p:cNvSpPr>
            <p:nvPr/>
          </p:nvSpPr>
          <p:spPr bwMode="auto">
            <a:xfrm flipV="1">
              <a:off x="2345" y="1940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2" name="Line 282"/>
            <p:cNvSpPr>
              <a:spLocks noChangeShapeType="1"/>
            </p:cNvSpPr>
            <p:nvPr/>
          </p:nvSpPr>
          <p:spPr bwMode="auto">
            <a:xfrm flipV="1">
              <a:off x="2345" y="1912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" name="Line 283"/>
            <p:cNvSpPr>
              <a:spLocks noChangeShapeType="1"/>
            </p:cNvSpPr>
            <p:nvPr/>
          </p:nvSpPr>
          <p:spPr bwMode="auto">
            <a:xfrm flipV="1">
              <a:off x="2345" y="1883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" name="Line 284"/>
            <p:cNvSpPr>
              <a:spLocks noChangeShapeType="1"/>
            </p:cNvSpPr>
            <p:nvPr/>
          </p:nvSpPr>
          <p:spPr bwMode="auto">
            <a:xfrm flipV="1">
              <a:off x="2249" y="2104"/>
              <a:ext cx="1" cy="52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5" name="Line 285"/>
            <p:cNvSpPr>
              <a:spLocks noChangeShapeType="1"/>
            </p:cNvSpPr>
            <p:nvPr/>
          </p:nvSpPr>
          <p:spPr bwMode="auto">
            <a:xfrm flipV="1">
              <a:off x="2249" y="2041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" name="Line 286"/>
            <p:cNvSpPr>
              <a:spLocks noChangeShapeType="1"/>
            </p:cNvSpPr>
            <p:nvPr/>
          </p:nvSpPr>
          <p:spPr bwMode="auto">
            <a:xfrm flipV="1">
              <a:off x="2249" y="1979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" name="Line 287"/>
            <p:cNvSpPr>
              <a:spLocks noChangeShapeType="1"/>
            </p:cNvSpPr>
            <p:nvPr/>
          </p:nvSpPr>
          <p:spPr bwMode="auto">
            <a:xfrm flipV="1">
              <a:off x="2249" y="1960"/>
              <a:ext cx="1" cy="9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" name="Line 288"/>
            <p:cNvSpPr>
              <a:spLocks noChangeShapeType="1"/>
            </p:cNvSpPr>
            <p:nvPr/>
          </p:nvSpPr>
          <p:spPr bwMode="auto">
            <a:xfrm flipV="1">
              <a:off x="2446" y="2104"/>
              <a:ext cx="1" cy="52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9" name="Line 289"/>
            <p:cNvSpPr>
              <a:spLocks noChangeShapeType="1"/>
            </p:cNvSpPr>
            <p:nvPr/>
          </p:nvSpPr>
          <p:spPr bwMode="auto">
            <a:xfrm flipV="1">
              <a:off x="2446" y="2041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0" name="Line 290"/>
            <p:cNvSpPr>
              <a:spLocks noChangeShapeType="1"/>
            </p:cNvSpPr>
            <p:nvPr/>
          </p:nvSpPr>
          <p:spPr bwMode="auto">
            <a:xfrm flipV="1">
              <a:off x="2446" y="1979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1" name="Line 291"/>
            <p:cNvSpPr>
              <a:spLocks noChangeShapeType="1"/>
            </p:cNvSpPr>
            <p:nvPr/>
          </p:nvSpPr>
          <p:spPr bwMode="auto">
            <a:xfrm flipV="1">
              <a:off x="2446" y="1960"/>
              <a:ext cx="1" cy="9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2" name="Line 292"/>
            <p:cNvSpPr>
              <a:spLocks noChangeShapeType="1"/>
            </p:cNvSpPr>
            <p:nvPr/>
          </p:nvSpPr>
          <p:spPr bwMode="auto">
            <a:xfrm flipV="1">
              <a:off x="3429" y="2104"/>
              <a:ext cx="1" cy="52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3" name="Line 293"/>
            <p:cNvSpPr>
              <a:spLocks noChangeShapeType="1"/>
            </p:cNvSpPr>
            <p:nvPr/>
          </p:nvSpPr>
          <p:spPr bwMode="auto">
            <a:xfrm flipV="1">
              <a:off x="3429" y="2041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" name="Line 294"/>
            <p:cNvSpPr>
              <a:spLocks noChangeShapeType="1"/>
            </p:cNvSpPr>
            <p:nvPr/>
          </p:nvSpPr>
          <p:spPr bwMode="auto">
            <a:xfrm flipV="1">
              <a:off x="3429" y="1979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5" name="Line 295"/>
            <p:cNvSpPr>
              <a:spLocks noChangeShapeType="1"/>
            </p:cNvSpPr>
            <p:nvPr/>
          </p:nvSpPr>
          <p:spPr bwMode="auto">
            <a:xfrm flipV="1">
              <a:off x="3429" y="1960"/>
              <a:ext cx="1" cy="9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6" name="Line 296"/>
            <p:cNvSpPr>
              <a:spLocks noChangeShapeType="1"/>
            </p:cNvSpPr>
            <p:nvPr/>
          </p:nvSpPr>
          <p:spPr bwMode="auto">
            <a:xfrm flipV="1">
              <a:off x="3626" y="2104"/>
              <a:ext cx="1" cy="52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" name="Line 297"/>
            <p:cNvSpPr>
              <a:spLocks noChangeShapeType="1"/>
            </p:cNvSpPr>
            <p:nvPr/>
          </p:nvSpPr>
          <p:spPr bwMode="auto">
            <a:xfrm flipV="1">
              <a:off x="3626" y="2041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" name="Line 298"/>
            <p:cNvSpPr>
              <a:spLocks noChangeShapeType="1"/>
            </p:cNvSpPr>
            <p:nvPr/>
          </p:nvSpPr>
          <p:spPr bwMode="auto">
            <a:xfrm flipV="1">
              <a:off x="3626" y="1979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9" name="Line 299"/>
            <p:cNvSpPr>
              <a:spLocks noChangeShapeType="1"/>
            </p:cNvSpPr>
            <p:nvPr/>
          </p:nvSpPr>
          <p:spPr bwMode="auto">
            <a:xfrm flipV="1">
              <a:off x="3626" y="1960"/>
              <a:ext cx="1" cy="9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0" name="Line 300"/>
            <p:cNvSpPr>
              <a:spLocks noChangeShapeType="1"/>
            </p:cNvSpPr>
            <p:nvPr/>
          </p:nvSpPr>
          <p:spPr bwMode="auto">
            <a:xfrm flipV="1">
              <a:off x="3525" y="2032"/>
              <a:ext cx="1" cy="1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1" name="Line 301"/>
            <p:cNvSpPr>
              <a:spLocks noChangeShapeType="1"/>
            </p:cNvSpPr>
            <p:nvPr/>
          </p:nvSpPr>
          <p:spPr bwMode="auto">
            <a:xfrm flipV="1">
              <a:off x="3525" y="2003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" name="Line 302"/>
            <p:cNvSpPr>
              <a:spLocks noChangeShapeType="1"/>
            </p:cNvSpPr>
            <p:nvPr/>
          </p:nvSpPr>
          <p:spPr bwMode="auto">
            <a:xfrm flipV="1">
              <a:off x="3525" y="1888"/>
              <a:ext cx="1" cy="100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3" name="Line 303"/>
            <p:cNvSpPr>
              <a:spLocks noChangeShapeType="1"/>
            </p:cNvSpPr>
            <p:nvPr/>
          </p:nvSpPr>
          <p:spPr bwMode="auto">
            <a:xfrm flipV="1">
              <a:off x="2935" y="2137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4" name="Line 304"/>
            <p:cNvSpPr>
              <a:spLocks noChangeShapeType="1"/>
            </p:cNvSpPr>
            <p:nvPr/>
          </p:nvSpPr>
          <p:spPr bwMode="auto">
            <a:xfrm flipV="1">
              <a:off x="2935" y="2108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5" name="Line 305"/>
            <p:cNvSpPr>
              <a:spLocks noChangeShapeType="1"/>
            </p:cNvSpPr>
            <p:nvPr/>
          </p:nvSpPr>
          <p:spPr bwMode="auto">
            <a:xfrm flipV="1">
              <a:off x="2935" y="1969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6" name="Line 306"/>
            <p:cNvSpPr>
              <a:spLocks noChangeShapeType="1"/>
            </p:cNvSpPr>
            <p:nvPr/>
          </p:nvSpPr>
          <p:spPr bwMode="auto">
            <a:xfrm flipV="1">
              <a:off x="2935" y="1940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" name="Line 307"/>
            <p:cNvSpPr>
              <a:spLocks noChangeShapeType="1"/>
            </p:cNvSpPr>
            <p:nvPr/>
          </p:nvSpPr>
          <p:spPr bwMode="auto">
            <a:xfrm flipV="1">
              <a:off x="2935" y="1801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" name="Line 308"/>
            <p:cNvSpPr>
              <a:spLocks noChangeShapeType="1"/>
            </p:cNvSpPr>
            <p:nvPr/>
          </p:nvSpPr>
          <p:spPr bwMode="auto">
            <a:xfrm flipV="1">
              <a:off x="2935" y="1773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" name="Line 309"/>
            <p:cNvSpPr>
              <a:spLocks noChangeShapeType="1"/>
            </p:cNvSpPr>
            <p:nvPr/>
          </p:nvSpPr>
          <p:spPr bwMode="auto">
            <a:xfrm flipV="1">
              <a:off x="2935" y="1633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0" name="Line 310"/>
            <p:cNvSpPr>
              <a:spLocks noChangeShapeType="1"/>
            </p:cNvSpPr>
            <p:nvPr/>
          </p:nvSpPr>
          <p:spPr bwMode="auto">
            <a:xfrm flipV="1">
              <a:off x="2935" y="1605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1" name="Line 311"/>
            <p:cNvSpPr>
              <a:spLocks noChangeShapeType="1"/>
            </p:cNvSpPr>
            <p:nvPr/>
          </p:nvSpPr>
          <p:spPr bwMode="auto">
            <a:xfrm flipV="1">
              <a:off x="2935" y="1465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2" name="Line 312"/>
            <p:cNvSpPr>
              <a:spLocks noChangeShapeType="1"/>
            </p:cNvSpPr>
            <p:nvPr/>
          </p:nvSpPr>
          <p:spPr bwMode="auto">
            <a:xfrm flipV="1">
              <a:off x="2935" y="1437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3" name="Line 313"/>
            <p:cNvSpPr>
              <a:spLocks noChangeShapeType="1"/>
            </p:cNvSpPr>
            <p:nvPr/>
          </p:nvSpPr>
          <p:spPr bwMode="auto">
            <a:xfrm flipV="1">
              <a:off x="2935" y="1298"/>
              <a:ext cx="1" cy="1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4" name="Line 314"/>
            <p:cNvSpPr>
              <a:spLocks noChangeShapeType="1"/>
            </p:cNvSpPr>
            <p:nvPr/>
          </p:nvSpPr>
          <p:spPr bwMode="auto">
            <a:xfrm flipV="1">
              <a:off x="2935" y="1269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5" name="Line 315"/>
            <p:cNvSpPr>
              <a:spLocks noChangeShapeType="1"/>
            </p:cNvSpPr>
            <p:nvPr/>
          </p:nvSpPr>
          <p:spPr bwMode="auto">
            <a:xfrm flipV="1">
              <a:off x="2935" y="1130"/>
              <a:ext cx="1" cy="1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6" name="Line 316"/>
            <p:cNvSpPr>
              <a:spLocks noChangeShapeType="1"/>
            </p:cNvSpPr>
            <p:nvPr/>
          </p:nvSpPr>
          <p:spPr bwMode="auto">
            <a:xfrm flipV="1">
              <a:off x="2935" y="1101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" name="Line 317"/>
            <p:cNvSpPr>
              <a:spLocks noChangeShapeType="1"/>
            </p:cNvSpPr>
            <p:nvPr/>
          </p:nvSpPr>
          <p:spPr bwMode="auto">
            <a:xfrm flipV="1">
              <a:off x="2935" y="962"/>
              <a:ext cx="1" cy="1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" name="Line 318"/>
            <p:cNvSpPr>
              <a:spLocks noChangeShapeType="1"/>
            </p:cNvSpPr>
            <p:nvPr/>
          </p:nvSpPr>
          <p:spPr bwMode="auto">
            <a:xfrm flipV="1">
              <a:off x="2935" y="933"/>
              <a:ext cx="1" cy="1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" name="Line 319"/>
            <p:cNvSpPr>
              <a:spLocks noChangeShapeType="1"/>
            </p:cNvSpPr>
            <p:nvPr/>
          </p:nvSpPr>
          <p:spPr bwMode="auto">
            <a:xfrm flipV="1">
              <a:off x="2935" y="895"/>
              <a:ext cx="1" cy="24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0" name="Line 320"/>
            <p:cNvSpPr>
              <a:spLocks noChangeShapeType="1"/>
            </p:cNvSpPr>
            <p:nvPr/>
          </p:nvSpPr>
          <p:spPr bwMode="auto">
            <a:xfrm>
              <a:off x="3372" y="1288"/>
              <a:ext cx="115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1" name="Line 321"/>
            <p:cNvSpPr>
              <a:spLocks noChangeShapeType="1"/>
            </p:cNvSpPr>
            <p:nvPr/>
          </p:nvSpPr>
          <p:spPr bwMode="auto">
            <a:xfrm>
              <a:off x="3487" y="1211"/>
              <a:ext cx="120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2" name="Line 322"/>
            <p:cNvSpPr>
              <a:spLocks noChangeShapeType="1"/>
            </p:cNvSpPr>
            <p:nvPr/>
          </p:nvSpPr>
          <p:spPr bwMode="auto">
            <a:xfrm>
              <a:off x="3487" y="1681"/>
              <a:ext cx="120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3" name="Line 323"/>
            <p:cNvSpPr>
              <a:spLocks noChangeShapeType="1"/>
            </p:cNvSpPr>
            <p:nvPr/>
          </p:nvSpPr>
          <p:spPr bwMode="auto">
            <a:xfrm>
              <a:off x="3372" y="1605"/>
              <a:ext cx="115" cy="1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4" name="Line 324"/>
            <p:cNvSpPr>
              <a:spLocks noChangeShapeType="1"/>
            </p:cNvSpPr>
            <p:nvPr/>
          </p:nvSpPr>
          <p:spPr bwMode="auto">
            <a:xfrm>
              <a:off x="3233" y="1331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" name="Line 325"/>
            <p:cNvSpPr>
              <a:spLocks noChangeShapeType="1"/>
            </p:cNvSpPr>
            <p:nvPr/>
          </p:nvSpPr>
          <p:spPr bwMode="auto">
            <a:xfrm>
              <a:off x="3295" y="1331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6" name="Line 326"/>
            <p:cNvSpPr>
              <a:spLocks noChangeShapeType="1"/>
            </p:cNvSpPr>
            <p:nvPr/>
          </p:nvSpPr>
          <p:spPr bwMode="auto">
            <a:xfrm>
              <a:off x="3357" y="1331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" name="Line 327"/>
            <p:cNvSpPr>
              <a:spLocks noChangeShapeType="1"/>
            </p:cNvSpPr>
            <p:nvPr/>
          </p:nvSpPr>
          <p:spPr bwMode="auto">
            <a:xfrm>
              <a:off x="3420" y="1331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" name="Line 328"/>
            <p:cNvSpPr>
              <a:spLocks noChangeShapeType="1"/>
            </p:cNvSpPr>
            <p:nvPr/>
          </p:nvSpPr>
          <p:spPr bwMode="auto">
            <a:xfrm>
              <a:off x="3482" y="1331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" name="Line 329"/>
            <p:cNvSpPr>
              <a:spLocks noChangeShapeType="1"/>
            </p:cNvSpPr>
            <p:nvPr/>
          </p:nvSpPr>
          <p:spPr bwMode="auto">
            <a:xfrm>
              <a:off x="3544" y="1331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" name="Line 330"/>
            <p:cNvSpPr>
              <a:spLocks noChangeShapeType="1"/>
            </p:cNvSpPr>
            <p:nvPr/>
          </p:nvSpPr>
          <p:spPr bwMode="auto">
            <a:xfrm>
              <a:off x="3233" y="1566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1" name="Line 331"/>
            <p:cNvSpPr>
              <a:spLocks noChangeShapeType="1"/>
            </p:cNvSpPr>
            <p:nvPr/>
          </p:nvSpPr>
          <p:spPr bwMode="auto">
            <a:xfrm>
              <a:off x="3295" y="1566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2" name="Line 332"/>
            <p:cNvSpPr>
              <a:spLocks noChangeShapeType="1"/>
            </p:cNvSpPr>
            <p:nvPr/>
          </p:nvSpPr>
          <p:spPr bwMode="auto">
            <a:xfrm>
              <a:off x="3357" y="1566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" name="Line 333"/>
            <p:cNvSpPr>
              <a:spLocks noChangeShapeType="1"/>
            </p:cNvSpPr>
            <p:nvPr/>
          </p:nvSpPr>
          <p:spPr bwMode="auto">
            <a:xfrm>
              <a:off x="3420" y="1566"/>
              <a:ext cx="52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4" name="Line 334"/>
            <p:cNvSpPr>
              <a:spLocks noChangeShapeType="1"/>
            </p:cNvSpPr>
            <p:nvPr/>
          </p:nvSpPr>
          <p:spPr bwMode="auto">
            <a:xfrm>
              <a:off x="3482" y="1566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5" name="Line 335"/>
            <p:cNvSpPr>
              <a:spLocks noChangeShapeType="1"/>
            </p:cNvSpPr>
            <p:nvPr/>
          </p:nvSpPr>
          <p:spPr bwMode="auto">
            <a:xfrm>
              <a:off x="3544" y="1566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6" name="Freeform 336"/>
            <p:cNvSpPr>
              <a:spLocks noChangeArrowheads="1"/>
            </p:cNvSpPr>
            <p:nvPr/>
          </p:nvSpPr>
          <p:spPr bwMode="auto">
            <a:xfrm>
              <a:off x="3209" y="1331"/>
              <a:ext cx="24" cy="235"/>
            </a:xfrm>
            <a:custGeom>
              <a:avLst/>
              <a:gdLst>
                <a:gd name="T0" fmla="*/ 5 w 5"/>
                <a:gd name="T1" fmla="*/ 0 h 49"/>
                <a:gd name="T2" fmla="*/ 3 w 5"/>
                <a:gd name="T3" fmla="*/ 3 h 49"/>
                <a:gd name="T4" fmla="*/ 2 w 5"/>
                <a:gd name="T5" fmla="*/ 8 h 49"/>
                <a:gd name="T6" fmla="*/ 1 w 5"/>
                <a:gd name="T7" fmla="*/ 12 h 49"/>
                <a:gd name="T8" fmla="*/ 0 w 5"/>
                <a:gd name="T9" fmla="*/ 16 h 49"/>
                <a:gd name="T10" fmla="*/ 0 w 5"/>
                <a:gd name="T11" fmla="*/ 20 h 49"/>
                <a:gd name="T12" fmla="*/ 0 w 5"/>
                <a:gd name="T13" fmla="*/ 24 h 49"/>
                <a:gd name="T14" fmla="*/ 0 w 5"/>
                <a:gd name="T15" fmla="*/ 28 h 49"/>
                <a:gd name="T16" fmla="*/ 0 w 5"/>
                <a:gd name="T17" fmla="*/ 33 h 49"/>
                <a:gd name="T18" fmla="*/ 1 w 5"/>
                <a:gd name="T19" fmla="*/ 37 h 49"/>
                <a:gd name="T20" fmla="*/ 2 w 5"/>
                <a:gd name="T21" fmla="*/ 41 h 49"/>
                <a:gd name="T22" fmla="*/ 3 w 5"/>
                <a:gd name="T23" fmla="*/ 45 h 49"/>
                <a:gd name="T24" fmla="*/ 5 w 5"/>
                <a:gd name="T2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49">
                  <a:moveTo>
                    <a:pt x="5" y="0"/>
                  </a:moveTo>
                  <a:lnTo>
                    <a:pt x="3" y="3"/>
                  </a:lnTo>
                  <a:lnTo>
                    <a:pt x="2" y="8"/>
                  </a:lnTo>
                  <a:lnTo>
                    <a:pt x="1" y="12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1" y="37"/>
                  </a:lnTo>
                  <a:lnTo>
                    <a:pt x="2" y="41"/>
                  </a:lnTo>
                  <a:lnTo>
                    <a:pt x="3" y="45"/>
                  </a:lnTo>
                  <a:lnTo>
                    <a:pt x="5" y="49"/>
                  </a:lnTo>
                </a:path>
              </a:pathLst>
            </a:cu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7" name="Line 337"/>
            <p:cNvSpPr>
              <a:spLocks noChangeShapeType="1"/>
            </p:cNvSpPr>
            <p:nvPr/>
          </p:nvSpPr>
          <p:spPr bwMode="auto">
            <a:xfrm flipV="1">
              <a:off x="3607" y="1211"/>
              <a:ext cx="1" cy="470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" name="Line 338"/>
            <p:cNvSpPr>
              <a:spLocks noChangeShapeType="1"/>
            </p:cNvSpPr>
            <p:nvPr/>
          </p:nvSpPr>
          <p:spPr bwMode="auto">
            <a:xfrm flipV="1">
              <a:off x="3487" y="1211"/>
              <a:ext cx="1" cy="470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9" name="Freeform 339"/>
            <p:cNvSpPr>
              <a:spLocks noChangeArrowheads="1"/>
            </p:cNvSpPr>
            <p:nvPr/>
          </p:nvSpPr>
          <p:spPr bwMode="auto">
            <a:xfrm>
              <a:off x="3338" y="1288"/>
              <a:ext cx="34" cy="317"/>
            </a:xfrm>
            <a:custGeom>
              <a:avLst/>
              <a:gdLst>
                <a:gd name="T0" fmla="*/ 7 w 7"/>
                <a:gd name="T1" fmla="*/ 0 h 66"/>
                <a:gd name="T2" fmla="*/ 5 w 7"/>
                <a:gd name="T3" fmla="*/ 6 h 66"/>
                <a:gd name="T4" fmla="*/ 3 w 7"/>
                <a:gd name="T5" fmla="*/ 11 h 66"/>
                <a:gd name="T6" fmla="*/ 2 w 7"/>
                <a:gd name="T7" fmla="*/ 16 h 66"/>
                <a:gd name="T8" fmla="*/ 1 w 7"/>
                <a:gd name="T9" fmla="*/ 22 h 66"/>
                <a:gd name="T10" fmla="*/ 1 w 7"/>
                <a:gd name="T11" fmla="*/ 28 h 66"/>
                <a:gd name="T12" fmla="*/ 0 w 7"/>
                <a:gd name="T13" fmla="*/ 33 h 66"/>
                <a:gd name="T14" fmla="*/ 1 w 7"/>
                <a:gd name="T15" fmla="*/ 39 h 66"/>
                <a:gd name="T16" fmla="*/ 1 w 7"/>
                <a:gd name="T17" fmla="*/ 44 h 66"/>
                <a:gd name="T18" fmla="*/ 2 w 7"/>
                <a:gd name="T19" fmla="*/ 50 h 66"/>
                <a:gd name="T20" fmla="*/ 3 w 7"/>
                <a:gd name="T21" fmla="*/ 55 h 66"/>
                <a:gd name="T22" fmla="*/ 5 w 7"/>
                <a:gd name="T23" fmla="*/ 61 h 66"/>
                <a:gd name="T24" fmla="*/ 7 w 7"/>
                <a:gd name="T25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" h="66">
                  <a:moveTo>
                    <a:pt x="7" y="0"/>
                  </a:moveTo>
                  <a:lnTo>
                    <a:pt x="5" y="6"/>
                  </a:lnTo>
                  <a:lnTo>
                    <a:pt x="3" y="11"/>
                  </a:lnTo>
                  <a:lnTo>
                    <a:pt x="2" y="16"/>
                  </a:lnTo>
                  <a:lnTo>
                    <a:pt x="1" y="22"/>
                  </a:lnTo>
                  <a:lnTo>
                    <a:pt x="1" y="28"/>
                  </a:lnTo>
                  <a:lnTo>
                    <a:pt x="0" y="33"/>
                  </a:lnTo>
                  <a:lnTo>
                    <a:pt x="1" y="39"/>
                  </a:lnTo>
                  <a:lnTo>
                    <a:pt x="1" y="44"/>
                  </a:lnTo>
                  <a:lnTo>
                    <a:pt x="2" y="50"/>
                  </a:lnTo>
                  <a:lnTo>
                    <a:pt x="3" y="55"/>
                  </a:lnTo>
                  <a:lnTo>
                    <a:pt x="5" y="61"/>
                  </a:lnTo>
                  <a:lnTo>
                    <a:pt x="7" y="66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0" name="Line 340"/>
            <p:cNvSpPr>
              <a:spLocks noChangeShapeType="1"/>
            </p:cNvSpPr>
            <p:nvPr/>
          </p:nvSpPr>
          <p:spPr bwMode="auto">
            <a:xfrm>
              <a:off x="3141" y="1446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1" name="Line 341"/>
            <p:cNvSpPr>
              <a:spLocks noChangeShapeType="1"/>
            </p:cNvSpPr>
            <p:nvPr/>
          </p:nvSpPr>
          <p:spPr bwMode="auto">
            <a:xfrm>
              <a:off x="3281" y="1446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2" name="Line 342"/>
            <p:cNvSpPr>
              <a:spLocks noChangeShapeType="1"/>
            </p:cNvSpPr>
            <p:nvPr/>
          </p:nvSpPr>
          <p:spPr bwMode="auto">
            <a:xfrm>
              <a:off x="3309" y="1446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3" name="Line 343"/>
            <p:cNvSpPr>
              <a:spLocks noChangeShapeType="1"/>
            </p:cNvSpPr>
            <p:nvPr/>
          </p:nvSpPr>
          <p:spPr bwMode="auto">
            <a:xfrm>
              <a:off x="3449" y="1446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4" name="Line 344"/>
            <p:cNvSpPr>
              <a:spLocks noChangeShapeType="1"/>
            </p:cNvSpPr>
            <p:nvPr/>
          </p:nvSpPr>
          <p:spPr bwMode="auto">
            <a:xfrm>
              <a:off x="3477" y="1446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5" name="Line 345"/>
            <p:cNvSpPr>
              <a:spLocks noChangeShapeType="1"/>
            </p:cNvSpPr>
            <p:nvPr/>
          </p:nvSpPr>
          <p:spPr bwMode="auto">
            <a:xfrm>
              <a:off x="3616" y="1446"/>
              <a:ext cx="1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6" name="Line 346"/>
            <p:cNvSpPr>
              <a:spLocks noChangeShapeType="1"/>
            </p:cNvSpPr>
            <p:nvPr/>
          </p:nvSpPr>
          <p:spPr bwMode="auto">
            <a:xfrm>
              <a:off x="3645" y="1446"/>
              <a:ext cx="72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" name="Line 347"/>
            <p:cNvSpPr>
              <a:spLocks noChangeShapeType="1"/>
            </p:cNvSpPr>
            <p:nvPr/>
          </p:nvSpPr>
          <p:spPr bwMode="auto">
            <a:xfrm>
              <a:off x="3487" y="1379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" name="Line 348"/>
            <p:cNvSpPr>
              <a:spLocks noChangeShapeType="1"/>
            </p:cNvSpPr>
            <p:nvPr/>
          </p:nvSpPr>
          <p:spPr bwMode="auto">
            <a:xfrm>
              <a:off x="3549" y="1379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" name="Line 349"/>
            <p:cNvSpPr>
              <a:spLocks noChangeShapeType="1"/>
            </p:cNvSpPr>
            <p:nvPr/>
          </p:nvSpPr>
          <p:spPr bwMode="auto">
            <a:xfrm>
              <a:off x="3487" y="1518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0" name="Line 350"/>
            <p:cNvSpPr>
              <a:spLocks noChangeShapeType="1"/>
            </p:cNvSpPr>
            <p:nvPr/>
          </p:nvSpPr>
          <p:spPr bwMode="auto">
            <a:xfrm>
              <a:off x="3549" y="1518"/>
              <a:ext cx="53" cy="1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1" name="Line 351"/>
            <p:cNvSpPr>
              <a:spLocks noChangeShapeType="1"/>
            </p:cNvSpPr>
            <p:nvPr/>
          </p:nvSpPr>
          <p:spPr bwMode="auto">
            <a:xfrm flipV="1">
              <a:off x="3372" y="976"/>
              <a:ext cx="1" cy="312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" name="Line 352"/>
            <p:cNvSpPr>
              <a:spLocks noChangeShapeType="1"/>
            </p:cNvSpPr>
            <p:nvPr/>
          </p:nvSpPr>
          <p:spPr bwMode="auto">
            <a:xfrm flipV="1">
              <a:off x="3233" y="1278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3" name="Line 353"/>
            <p:cNvSpPr>
              <a:spLocks noChangeShapeType="1"/>
            </p:cNvSpPr>
            <p:nvPr/>
          </p:nvSpPr>
          <p:spPr bwMode="auto">
            <a:xfrm flipV="1">
              <a:off x="3233" y="1216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" name="Line 354"/>
            <p:cNvSpPr>
              <a:spLocks noChangeShapeType="1"/>
            </p:cNvSpPr>
            <p:nvPr/>
          </p:nvSpPr>
          <p:spPr bwMode="auto">
            <a:xfrm flipV="1">
              <a:off x="3233" y="1154"/>
              <a:ext cx="1" cy="52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5" name="Line 355"/>
            <p:cNvSpPr>
              <a:spLocks noChangeShapeType="1"/>
            </p:cNvSpPr>
            <p:nvPr/>
          </p:nvSpPr>
          <p:spPr bwMode="auto">
            <a:xfrm flipV="1">
              <a:off x="3233" y="1091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" name="Line 356"/>
            <p:cNvSpPr>
              <a:spLocks noChangeShapeType="1"/>
            </p:cNvSpPr>
            <p:nvPr/>
          </p:nvSpPr>
          <p:spPr bwMode="auto">
            <a:xfrm flipV="1">
              <a:off x="3233" y="1029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7" name="Line 357"/>
            <p:cNvSpPr>
              <a:spLocks noChangeShapeType="1"/>
            </p:cNvSpPr>
            <p:nvPr/>
          </p:nvSpPr>
          <p:spPr bwMode="auto">
            <a:xfrm flipV="1">
              <a:off x="3233" y="976"/>
              <a:ext cx="1" cy="4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" name="Line 358"/>
            <p:cNvSpPr>
              <a:spLocks noChangeShapeType="1"/>
            </p:cNvSpPr>
            <p:nvPr/>
          </p:nvSpPr>
          <p:spPr bwMode="auto">
            <a:xfrm flipV="1">
              <a:off x="3233" y="2104"/>
              <a:ext cx="1" cy="52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" name="Line 359"/>
            <p:cNvSpPr>
              <a:spLocks noChangeShapeType="1"/>
            </p:cNvSpPr>
            <p:nvPr/>
          </p:nvSpPr>
          <p:spPr bwMode="auto">
            <a:xfrm flipV="1">
              <a:off x="3233" y="2041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0" name="Line 360"/>
            <p:cNvSpPr>
              <a:spLocks noChangeShapeType="1"/>
            </p:cNvSpPr>
            <p:nvPr/>
          </p:nvSpPr>
          <p:spPr bwMode="auto">
            <a:xfrm flipV="1">
              <a:off x="3233" y="1979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" name="Line 361"/>
            <p:cNvSpPr>
              <a:spLocks noChangeShapeType="1"/>
            </p:cNvSpPr>
            <p:nvPr/>
          </p:nvSpPr>
          <p:spPr bwMode="auto">
            <a:xfrm flipV="1">
              <a:off x="3233" y="1916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2" name="Line 362"/>
            <p:cNvSpPr>
              <a:spLocks noChangeShapeType="1"/>
            </p:cNvSpPr>
            <p:nvPr/>
          </p:nvSpPr>
          <p:spPr bwMode="auto">
            <a:xfrm flipV="1">
              <a:off x="3233" y="1854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3" name="Line 363"/>
            <p:cNvSpPr>
              <a:spLocks noChangeShapeType="1"/>
            </p:cNvSpPr>
            <p:nvPr/>
          </p:nvSpPr>
          <p:spPr bwMode="auto">
            <a:xfrm flipV="1">
              <a:off x="3233" y="1792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4" name="Line 364"/>
            <p:cNvSpPr>
              <a:spLocks noChangeShapeType="1"/>
            </p:cNvSpPr>
            <p:nvPr/>
          </p:nvSpPr>
          <p:spPr bwMode="auto">
            <a:xfrm flipV="1">
              <a:off x="3233" y="1729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" name="Line 365"/>
            <p:cNvSpPr>
              <a:spLocks noChangeShapeType="1"/>
            </p:cNvSpPr>
            <p:nvPr/>
          </p:nvSpPr>
          <p:spPr bwMode="auto">
            <a:xfrm flipV="1">
              <a:off x="3233" y="1667"/>
              <a:ext cx="1" cy="53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6" name="Line 366"/>
            <p:cNvSpPr>
              <a:spLocks noChangeShapeType="1"/>
            </p:cNvSpPr>
            <p:nvPr/>
          </p:nvSpPr>
          <p:spPr bwMode="auto">
            <a:xfrm flipV="1">
              <a:off x="3233" y="1605"/>
              <a:ext cx="1" cy="52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7" name="Line 367"/>
            <p:cNvSpPr>
              <a:spLocks noChangeShapeType="1"/>
            </p:cNvSpPr>
            <p:nvPr/>
          </p:nvSpPr>
          <p:spPr bwMode="auto">
            <a:xfrm flipV="1">
              <a:off x="3233" y="1566"/>
              <a:ext cx="1" cy="29"/>
            </a:xfrm>
            <a:prstGeom prst="line">
              <a:avLst/>
            </a:prstGeom>
            <a:noFill/>
            <a:ln w="7938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8" name="Line 368"/>
            <p:cNvSpPr>
              <a:spLocks noChangeShapeType="1"/>
            </p:cNvSpPr>
            <p:nvPr/>
          </p:nvSpPr>
          <p:spPr bwMode="auto">
            <a:xfrm flipV="1">
              <a:off x="3372" y="1605"/>
              <a:ext cx="1" cy="35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9" name="Line 369"/>
            <p:cNvSpPr>
              <a:spLocks noChangeShapeType="1"/>
            </p:cNvSpPr>
            <p:nvPr/>
          </p:nvSpPr>
          <p:spPr bwMode="auto">
            <a:xfrm>
              <a:off x="2306" y="1528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0" name="Line 370"/>
            <p:cNvSpPr>
              <a:spLocks noChangeShapeType="1"/>
            </p:cNvSpPr>
            <p:nvPr/>
          </p:nvSpPr>
          <p:spPr bwMode="auto">
            <a:xfrm>
              <a:off x="2446" y="1528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1" name="Line 371"/>
            <p:cNvSpPr>
              <a:spLocks noChangeShapeType="1"/>
            </p:cNvSpPr>
            <p:nvPr/>
          </p:nvSpPr>
          <p:spPr bwMode="auto">
            <a:xfrm>
              <a:off x="2474" y="1528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2" name="Line 372"/>
            <p:cNvSpPr>
              <a:spLocks noChangeShapeType="1"/>
            </p:cNvSpPr>
            <p:nvPr/>
          </p:nvSpPr>
          <p:spPr bwMode="auto">
            <a:xfrm>
              <a:off x="2614" y="1528"/>
              <a:ext cx="14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3" name="Line 373"/>
            <p:cNvSpPr>
              <a:spLocks noChangeShapeType="1"/>
            </p:cNvSpPr>
            <p:nvPr/>
          </p:nvSpPr>
          <p:spPr bwMode="auto">
            <a:xfrm>
              <a:off x="2642" y="1528"/>
              <a:ext cx="125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4" name="Line 374"/>
            <p:cNvSpPr>
              <a:spLocks noChangeShapeType="1"/>
            </p:cNvSpPr>
            <p:nvPr/>
          </p:nvSpPr>
          <p:spPr bwMode="auto">
            <a:xfrm>
              <a:off x="2781" y="1528"/>
              <a:ext cx="10" cy="1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75" name="Text Box 375"/>
          <p:cNvSpPr txBox="1">
            <a:spLocks noChangeArrowheads="1"/>
          </p:cNvSpPr>
          <p:nvPr/>
        </p:nvSpPr>
        <p:spPr bwMode="auto">
          <a:xfrm>
            <a:off x="2117725" y="5503864"/>
            <a:ext cx="7931150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571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49263" indent="-449263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marL="0" indent="449263" eaLnBrk="0" hangingPunct="0">
              <a:spcBef>
                <a:spcPct val="20000"/>
              </a:spcBef>
            </a:pPr>
            <a:r>
              <a:rPr lang="en-US" altLang="zh-CN" dirty="0">
                <a:solidFill>
                  <a:srgbClr val="FF00FF"/>
                </a:solidFill>
                <a:latin typeface="楷体_GB2312" panose="02010600030101010101" charset="-122"/>
                <a:ea typeface="楷体_GB2312" panose="02010600030101010101" charset="-122"/>
              </a:rPr>
              <a:t>※</a:t>
            </a:r>
            <a:r>
              <a:rPr lang="en-US" altLang="zh-CN" dirty="0">
                <a:latin typeface="楷体_GB2312" panose="02010600030101010101" charset="-122"/>
                <a:ea typeface="楷体_GB2312" panose="02010600030101010101" charset="-122"/>
              </a:rPr>
              <a:t> </a:t>
            </a:r>
            <a:r>
              <a:rPr lang="zh-CN" altLang="en-US" sz="1800" dirty="0">
                <a:latin typeface="华文细黑" panose="02010600040101010101" pitchFamily="2" charset="-122"/>
                <a:ea typeface="华文细黑" panose="02010600040101010101" pitchFamily="2" charset="-122"/>
              </a:rPr>
              <a:t>局部视图可按基本视图的形式配置，此时不必标注。也可按向视图自由配置，此时需要标注。</a:t>
            </a:r>
          </a:p>
        </p:txBody>
      </p:sp>
      <p:sp>
        <p:nvSpPr>
          <p:cNvPr id="376" name="Text Box 376"/>
          <p:cNvSpPr txBox="1">
            <a:spLocks noChangeArrowheads="1"/>
          </p:cNvSpPr>
          <p:nvPr/>
        </p:nvSpPr>
        <p:spPr bwMode="auto">
          <a:xfrm>
            <a:off x="7715250" y="3414714"/>
            <a:ext cx="2514600" cy="71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indent="449263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0" hangingPunct="0"/>
            <a:r>
              <a:rPr lang="zh-CN" altLang="en-US" sz="1800" b="0" dirty="0">
                <a:latin typeface="华文细黑" panose="02010600040101010101" pitchFamily="2" charset="-122"/>
                <a:ea typeface="华文细黑" panose="02010600040101010101" pitchFamily="2" charset="-122"/>
              </a:rPr>
              <a:t>局部视图的断裂边界一般用波浪线绘制。</a:t>
            </a:r>
          </a:p>
        </p:txBody>
      </p:sp>
      <p:sp>
        <p:nvSpPr>
          <p:cNvPr id="377" name="Text Box 377"/>
          <p:cNvSpPr txBox="1">
            <a:spLocks noChangeArrowheads="1"/>
          </p:cNvSpPr>
          <p:nvPr/>
        </p:nvSpPr>
        <p:spPr bwMode="auto">
          <a:xfrm>
            <a:off x="2260600" y="2843214"/>
            <a:ext cx="25273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indent="449263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0" hangingPunct="0"/>
            <a:r>
              <a:rPr lang="zh-CN" altLang="en-US" sz="1800" b="0" dirty="0">
                <a:latin typeface="华文细黑" panose="02010600040101010101" pitchFamily="2" charset="-122"/>
                <a:ea typeface="华文细黑" panose="02010600040101010101" pitchFamily="2" charset="-122"/>
              </a:rPr>
              <a:t>当表达的结构外轮廓成封闭时，不必画出其断裂边界线。</a:t>
            </a:r>
          </a:p>
        </p:txBody>
      </p:sp>
      <p:sp>
        <p:nvSpPr>
          <p:cNvPr id="378" name="Line 378"/>
          <p:cNvSpPr>
            <a:spLocks noChangeShapeType="1"/>
          </p:cNvSpPr>
          <p:nvPr/>
        </p:nvSpPr>
        <p:spPr bwMode="auto">
          <a:xfrm flipH="1">
            <a:off x="3009900" y="2336801"/>
            <a:ext cx="355600" cy="506413"/>
          </a:xfrm>
          <a:prstGeom prst="line">
            <a:avLst/>
          </a:prstGeom>
          <a:noFill/>
          <a:ln w="19050">
            <a:solidFill>
              <a:srgbClr val="0000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9" name="Line 379"/>
          <p:cNvSpPr>
            <a:spLocks noChangeShapeType="1"/>
          </p:cNvSpPr>
          <p:nvPr/>
        </p:nvSpPr>
        <p:spPr bwMode="auto">
          <a:xfrm>
            <a:off x="8283575" y="2311400"/>
            <a:ext cx="469900" cy="1074738"/>
          </a:xfrm>
          <a:prstGeom prst="line">
            <a:avLst/>
          </a:prstGeom>
          <a:noFill/>
          <a:ln w="19050">
            <a:solidFill>
              <a:srgbClr val="0000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065093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1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5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4" grpId="1"/>
      <p:bldP spid="5" grpId="0"/>
      <p:bldP spid="5" grpId="1"/>
      <p:bldP spid="375" grpId="0"/>
      <p:bldP spid="376" grpId="0"/>
      <p:bldP spid="377" grpId="0"/>
      <p:bldP spid="378" grpId="0" animBg="1"/>
      <p:bldP spid="379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648077" y="292819"/>
            <a:ext cx="2629246" cy="646331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>
            <a:spAutoFit/>
          </a:bodyPr>
          <a:lstStyle/>
          <a:p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四、</a:t>
            </a:r>
            <a:r>
              <a:rPr lang="en-US" altLang="zh-CN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 </a:t>
            </a:r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斜</a:t>
            </a:r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视图</a:t>
            </a:r>
            <a:endParaRPr lang="en-US" altLang="zh-CN" sz="36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  <a:sym typeface="微软雅黑" panose="020B0503020204020204" pitchFamily="34" charset="-122"/>
            </a:endParaRPr>
          </a:p>
        </p:txBody>
      </p:sp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6383772" y="3149823"/>
            <a:ext cx="343217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61938" indent="-261938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0" hangingPunct="0"/>
            <a:r>
              <a:rPr lang="en-US" altLang="zh-CN" b="0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zh-CN" altLang="en-US" b="0" dirty="0">
                <a:latin typeface="华文细黑" panose="02010600040101010101" pitchFamily="2" charset="-122"/>
                <a:ea typeface="华文细黑" panose="02010600040101010101" pitchFamily="2" charset="-122"/>
              </a:rPr>
              <a:t>增设一个与倾斜表面平行的辅助投影面。</a:t>
            </a:r>
          </a:p>
        </p:txBody>
      </p:sp>
      <p:sp>
        <p:nvSpPr>
          <p:cNvPr id="6" name="Text Box 4"/>
          <p:cNvSpPr txBox="1">
            <a:spLocks noChangeArrowheads="1"/>
          </p:cNvSpPr>
          <p:nvPr/>
        </p:nvSpPr>
        <p:spPr bwMode="auto">
          <a:xfrm>
            <a:off x="6445685" y="4150375"/>
            <a:ext cx="33528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marL="261938" indent="-261938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0" hangingPunct="0"/>
            <a:r>
              <a:rPr lang="en-US" altLang="zh-CN" b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zh-CN" altLang="en-US" b="0">
                <a:latin typeface="华文细黑" panose="02010600040101010101" pitchFamily="2" charset="-122"/>
                <a:ea typeface="华文细黑" panose="02010600040101010101" pitchFamily="2" charset="-122"/>
              </a:rPr>
              <a:t>将倾斜部分向辅助投影面投射。</a:t>
            </a:r>
          </a:p>
        </p:txBody>
      </p:sp>
      <p:grpSp>
        <p:nvGrpSpPr>
          <p:cNvPr id="8" name="Group 6"/>
          <p:cNvGrpSpPr>
            <a:grpSpLocks/>
          </p:cNvGrpSpPr>
          <p:nvPr/>
        </p:nvGrpSpPr>
        <p:grpSpPr bwMode="auto">
          <a:xfrm>
            <a:off x="1737160" y="2310036"/>
            <a:ext cx="4660900" cy="3432175"/>
            <a:chOff x="1142" y="896"/>
            <a:chExt cx="2936" cy="2162"/>
          </a:xfrm>
        </p:grpSpPr>
        <p:sp>
          <p:nvSpPr>
            <p:cNvPr id="9" name="Freeform 7"/>
            <p:cNvSpPr>
              <a:spLocks noChangeArrowheads="1"/>
            </p:cNvSpPr>
            <p:nvPr/>
          </p:nvSpPr>
          <p:spPr bwMode="auto">
            <a:xfrm>
              <a:off x="1156" y="2270"/>
              <a:ext cx="2922" cy="788"/>
            </a:xfrm>
            <a:custGeom>
              <a:avLst/>
              <a:gdLst>
                <a:gd name="T0" fmla="*/ 0 w 2922"/>
                <a:gd name="T1" fmla="*/ 0 h 788"/>
                <a:gd name="T2" fmla="*/ 788 w 2922"/>
                <a:gd name="T3" fmla="*/ 788 h 788"/>
                <a:gd name="T4" fmla="*/ 2922 w 2922"/>
                <a:gd name="T5" fmla="*/ 788 h 788"/>
                <a:gd name="T6" fmla="*/ 2134 w 2922"/>
                <a:gd name="T7" fmla="*/ 0 h 788"/>
                <a:gd name="T8" fmla="*/ 0 w 2922"/>
                <a:gd name="T9" fmla="*/ 0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22" h="788">
                  <a:moveTo>
                    <a:pt x="0" y="0"/>
                  </a:moveTo>
                  <a:lnTo>
                    <a:pt x="788" y="788"/>
                  </a:lnTo>
                  <a:lnTo>
                    <a:pt x="2922" y="788"/>
                  </a:lnTo>
                  <a:lnTo>
                    <a:pt x="21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900"/>
            </a:solidFill>
            <a:ln w="12700">
              <a:solidFill>
                <a:schemeClr val="tx1"/>
              </a:solidFill>
              <a:round/>
              <a:headEnd type="none" w="sm" len="lg"/>
              <a:tailEnd type="none" w="sm" len="lg"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" name="Rectangle 8"/>
            <p:cNvSpPr>
              <a:spLocks noChangeArrowheads="1"/>
            </p:cNvSpPr>
            <p:nvPr/>
          </p:nvSpPr>
          <p:spPr bwMode="auto">
            <a:xfrm>
              <a:off x="1158" y="923"/>
              <a:ext cx="2135" cy="1352"/>
            </a:xfrm>
            <a:prstGeom prst="rect">
              <a:avLst/>
            </a:prstGeom>
            <a:solidFill>
              <a:srgbClr val="99CCFF"/>
            </a:solidFill>
            <a:ln w="12700">
              <a:solidFill>
                <a:schemeClr val="tx1"/>
              </a:solidFill>
              <a:miter lim="800000"/>
              <a:headEnd type="none" w="sm" len="lg"/>
              <a:tailEnd type="none" w="sm" len="lg"/>
            </a:ln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" name="Text Box 9"/>
            <p:cNvSpPr txBox="1">
              <a:spLocks noChangeArrowheads="1"/>
            </p:cNvSpPr>
            <p:nvPr/>
          </p:nvSpPr>
          <p:spPr bwMode="auto">
            <a:xfrm>
              <a:off x="1142" y="896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2800">
                  <a:latin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2" name="Text Box 10"/>
            <p:cNvSpPr txBox="1">
              <a:spLocks noChangeArrowheads="1"/>
            </p:cNvSpPr>
            <p:nvPr/>
          </p:nvSpPr>
          <p:spPr bwMode="auto">
            <a:xfrm>
              <a:off x="3561" y="2731"/>
              <a:ext cx="29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2800">
                  <a:latin typeface="Times New Roman" panose="02020603050405020304" pitchFamily="18" charset="0"/>
                </a:rPr>
                <a:t>H</a:t>
              </a:r>
            </a:p>
          </p:txBody>
        </p:sp>
      </p:grpSp>
      <p:grpSp>
        <p:nvGrpSpPr>
          <p:cNvPr id="13" name="Group 11"/>
          <p:cNvGrpSpPr>
            <a:grpSpLocks/>
          </p:cNvGrpSpPr>
          <p:nvPr/>
        </p:nvGrpSpPr>
        <p:grpSpPr bwMode="auto">
          <a:xfrm>
            <a:off x="2461060" y="4872261"/>
            <a:ext cx="1909762" cy="568325"/>
            <a:chOff x="1598" y="2510"/>
            <a:chExt cx="1203" cy="358"/>
          </a:xfrm>
        </p:grpSpPr>
        <p:sp>
          <p:nvSpPr>
            <p:cNvPr id="14" name="Freeform 12"/>
            <p:cNvSpPr>
              <a:spLocks noChangeArrowheads="1"/>
            </p:cNvSpPr>
            <p:nvPr/>
          </p:nvSpPr>
          <p:spPr bwMode="auto">
            <a:xfrm>
              <a:off x="1598" y="2549"/>
              <a:ext cx="282" cy="282"/>
            </a:xfrm>
            <a:custGeom>
              <a:avLst/>
              <a:gdLst>
                <a:gd name="T0" fmla="*/ 0 w 845"/>
                <a:gd name="T1" fmla="*/ 0 h 844"/>
                <a:gd name="T2" fmla="*/ 844 w 845"/>
                <a:gd name="T3" fmla="*/ 844 h 844"/>
                <a:gd name="T4" fmla="*/ 845 w 845"/>
                <a:gd name="T5" fmla="*/ 844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5" h="844">
                  <a:moveTo>
                    <a:pt x="0" y="0"/>
                  </a:moveTo>
                  <a:lnTo>
                    <a:pt x="844" y="844"/>
                  </a:lnTo>
                  <a:lnTo>
                    <a:pt x="845" y="844"/>
                  </a:lnTo>
                </a:path>
              </a:pathLst>
            </a:cu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" name="Freeform 13"/>
            <p:cNvSpPr>
              <a:spLocks noChangeArrowheads="1"/>
            </p:cNvSpPr>
            <p:nvPr/>
          </p:nvSpPr>
          <p:spPr bwMode="auto">
            <a:xfrm>
              <a:off x="1598" y="2549"/>
              <a:ext cx="949" cy="1"/>
            </a:xfrm>
            <a:custGeom>
              <a:avLst/>
              <a:gdLst>
                <a:gd name="T0" fmla="*/ 0 w 2846"/>
                <a:gd name="T1" fmla="*/ 0 h 1"/>
                <a:gd name="T2" fmla="*/ 2845 w 2846"/>
                <a:gd name="T3" fmla="*/ 0 h 1"/>
                <a:gd name="T4" fmla="*/ 2846 w 284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46" h="1">
                  <a:moveTo>
                    <a:pt x="0" y="0"/>
                  </a:moveTo>
                  <a:lnTo>
                    <a:pt x="2845" y="0"/>
                  </a:lnTo>
                  <a:lnTo>
                    <a:pt x="2846" y="0"/>
                  </a:lnTo>
                </a:path>
              </a:pathLst>
            </a:cu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" name="Freeform 14"/>
            <p:cNvSpPr>
              <a:spLocks noChangeArrowheads="1"/>
            </p:cNvSpPr>
            <p:nvPr/>
          </p:nvSpPr>
          <p:spPr bwMode="auto">
            <a:xfrm>
              <a:off x="1879" y="2831"/>
              <a:ext cx="922" cy="1"/>
            </a:xfrm>
            <a:custGeom>
              <a:avLst/>
              <a:gdLst>
                <a:gd name="T0" fmla="*/ 0 w 2766"/>
                <a:gd name="T1" fmla="*/ 0 h 1"/>
                <a:gd name="T2" fmla="*/ 2765 w 2766"/>
                <a:gd name="T3" fmla="*/ 0 h 1"/>
                <a:gd name="T4" fmla="*/ 2766 w 276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66" h="1">
                  <a:moveTo>
                    <a:pt x="0" y="0"/>
                  </a:moveTo>
                  <a:lnTo>
                    <a:pt x="2765" y="0"/>
                  </a:lnTo>
                  <a:lnTo>
                    <a:pt x="2766" y="0"/>
                  </a:lnTo>
                </a:path>
              </a:pathLst>
            </a:cu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" name="Freeform 15"/>
            <p:cNvSpPr>
              <a:spLocks noChangeArrowheads="1"/>
            </p:cNvSpPr>
            <p:nvPr/>
          </p:nvSpPr>
          <p:spPr bwMode="auto">
            <a:xfrm>
              <a:off x="1972" y="2510"/>
              <a:ext cx="358" cy="358"/>
            </a:xfrm>
            <a:custGeom>
              <a:avLst/>
              <a:gdLst>
                <a:gd name="T0" fmla="*/ 0 w 1075"/>
                <a:gd name="T1" fmla="*/ 0 h 1075"/>
                <a:gd name="T2" fmla="*/ 1074 w 1075"/>
                <a:gd name="T3" fmla="*/ 1075 h 1075"/>
                <a:gd name="T4" fmla="*/ 1075 w 1075"/>
                <a:gd name="T5" fmla="*/ 1075 h 1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75" h="1075">
                  <a:moveTo>
                    <a:pt x="0" y="0"/>
                  </a:moveTo>
                  <a:lnTo>
                    <a:pt x="1074" y="1075"/>
                  </a:lnTo>
                  <a:lnTo>
                    <a:pt x="1075" y="1075"/>
                  </a:lnTo>
                </a:path>
              </a:pathLst>
            </a:custGeom>
            <a:noFill/>
            <a:ln w="1905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" name="Freeform 16"/>
            <p:cNvSpPr>
              <a:spLocks noChangeArrowheads="1"/>
            </p:cNvSpPr>
            <p:nvPr/>
          </p:nvSpPr>
          <p:spPr bwMode="auto">
            <a:xfrm>
              <a:off x="1887" y="2587"/>
              <a:ext cx="486" cy="163"/>
            </a:xfrm>
            <a:custGeom>
              <a:avLst/>
              <a:gdLst>
                <a:gd name="T0" fmla="*/ 0 w 1460"/>
                <a:gd name="T1" fmla="*/ 153 h 487"/>
                <a:gd name="T2" fmla="*/ 8 w 1460"/>
                <a:gd name="T3" fmla="*/ 198 h 487"/>
                <a:gd name="T4" fmla="*/ 43 w 1460"/>
                <a:gd name="T5" fmla="*/ 245 h 487"/>
                <a:gd name="T6" fmla="*/ 102 w 1460"/>
                <a:gd name="T7" fmla="*/ 290 h 487"/>
                <a:gd name="T8" fmla="*/ 183 w 1460"/>
                <a:gd name="T9" fmla="*/ 335 h 487"/>
                <a:gd name="T10" fmla="*/ 285 w 1460"/>
                <a:gd name="T11" fmla="*/ 376 h 487"/>
                <a:gd name="T12" fmla="*/ 402 w 1460"/>
                <a:gd name="T13" fmla="*/ 412 h 487"/>
                <a:gd name="T14" fmla="*/ 531 w 1460"/>
                <a:gd name="T15" fmla="*/ 443 h 487"/>
                <a:gd name="T16" fmla="*/ 668 w 1460"/>
                <a:gd name="T17" fmla="*/ 465 h 487"/>
                <a:gd name="T18" fmla="*/ 807 w 1460"/>
                <a:gd name="T19" fmla="*/ 480 h 487"/>
                <a:gd name="T20" fmla="*/ 943 w 1460"/>
                <a:gd name="T21" fmla="*/ 487 h 487"/>
                <a:gd name="T22" fmla="*/ 1072 w 1460"/>
                <a:gd name="T23" fmla="*/ 484 h 487"/>
                <a:gd name="T24" fmla="*/ 1188 w 1460"/>
                <a:gd name="T25" fmla="*/ 473 h 487"/>
                <a:gd name="T26" fmla="*/ 1287 w 1460"/>
                <a:gd name="T27" fmla="*/ 454 h 487"/>
                <a:gd name="T28" fmla="*/ 1367 w 1460"/>
                <a:gd name="T29" fmla="*/ 427 h 487"/>
                <a:gd name="T30" fmla="*/ 1423 w 1460"/>
                <a:gd name="T31" fmla="*/ 394 h 487"/>
                <a:gd name="T32" fmla="*/ 1455 w 1460"/>
                <a:gd name="T33" fmla="*/ 354 h 487"/>
                <a:gd name="T34" fmla="*/ 1460 w 1460"/>
                <a:gd name="T35" fmla="*/ 311 h 487"/>
                <a:gd name="T36" fmla="*/ 1439 w 1460"/>
                <a:gd name="T37" fmla="*/ 266 h 487"/>
                <a:gd name="T38" fmla="*/ 1392 w 1460"/>
                <a:gd name="T39" fmla="*/ 220 h 487"/>
                <a:gd name="T40" fmla="*/ 1322 w 1460"/>
                <a:gd name="T41" fmla="*/ 174 h 487"/>
                <a:gd name="T42" fmla="*/ 1230 w 1460"/>
                <a:gd name="T43" fmla="*/ 130 h 487"/>
                <a:gd name="T44" fmla="*/ 1120 w 1460"/>
                <a:gd name="T45" fmla="*/ 92 h 487"/>
                <a:gd name="T46" fmla="*/ 996 w 1460"/>
                <a:gd name="T47" fmla="*/ 59 h 487"/>
                <a:gd name="T48" fmla="*/ 862 w 1460"/>
                <a:gd name="T49" fmla="*/ 32 h 487"/>
                <a:gd name="T50" fmla="*/ 724 w 1460"/>
                <a:gd name="T51" fmla="*/ 12 h 487"/>
                <a:gd name="T52" fmla="*/ 585 w 1460"/>
                <a:gd name="T53" fmla="*/ 2 h 487"/>
                <a:gd name="T54" fmla="*/ 453 w 1460"/>
                <a:gd name="T55" fmla="*/ 0 h 487"/>
                <a:gd name="T56" fmla="*/ 330 w 1460"/>
                <a:gd name="T57" fmla="*/ 7 h 487"/>
                <a:gd name="T58" fmla="*/ 221 w 1460"/>
                <a:gd name="T59" fmla="*/ 21 h 487"/>
                <a:gd name="T60" fmla="*/ 132 w 1460"/>
                <a:gd name="T61" fmla="*/ 45 h 487"/>
                <a:gd name="T62" fmla="*/ 63 w 1460"/>
                <a:gd name="T63" fmla="*/ 76 h 487"/>
                <a:gd name="T64" fmla="*/ 19 w 1460"/>
                <a:gd name="T65" fmla="*/ 112 h 487"/>
                <a:gd name="T66" fmla="*/ 0 w 1460"/>
                <a:gd name="T67" fmla="*/ 153 h 487"/>
                <a:gd name="T68" fmla="*/ 2 w 1460"/>
                <a:gd name="T69" fmla="*/ 153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60" h="487">
                  <a:moveTo>
                    <a:pt x="0" y="153"/>
                  </a:moveTo>
                  <a:lnTo>
                    <a:pt x="8" y="198"/>
                  </a:lnTo>
                  <a:lnTo>
                    <a:pt x="43" y="245"/>
                  </a:lnTo>
                  <a:lnTo>
                    <a:pt x="102" y="290"/>
                  </a:lnTo>
                  <a:lnTo>
                    <a:pt x="183" y="335"/>
                  </a:lnTo>
                  <a:lnTo>
                    <a:pt x="285" y="376"/>
                  </a:lnTo>
                  <a:lnTo>
                    <a:pt x="402" y="412"/>
                  </a:lnTo>
                  <a:lnTo>
                    <a:pt x="531" y="443"/>
                  </a:lnTo>
                  <a:lnTo>
                    <a:pt x="668" y="465"/>
                  </a:lnTo>
                  <a:lnTo>
                    <a:pt x="807" y="480"/>
                  </a:lnTo>
                  <a:lnTo>
                    <a:pt x="943" y="487"/>
                  </a:lnTo>
                  <a:lnTo>
                    <a:pt x="1072" y="484"/>
                  </a:lnTo>
                  <a:lnTo>
                    <a:pt x="1188" y="473"/>
                  </a:lnTo>
                  <a:lnTo>
                    <a:pt x="1287" y="454"/>
                  </a:lnTo>
                  <a:lnTo>
                    <a:pt x="1367" y="427"/>
                  </a:lnTo>
                  <a:lnTo>
                    <a:pt x="1423" y="394"/>
                  </a:lnTo>
                  <a:lnTo>
                    <a:pt x="1455" y="354"/>
                  </a:lnTo>
                  <a:lnTo>
                    <a:pt x="1460" y="311"/>
                  </a:lnTo>
                  <a:lnTo>
                    <a:pt x="1439" y="266"/>
                  </a:lnTo>
                  <a:lnTo>
                    <a:pt x="1392" y="220"/>
                  </a:lnTo>
                  <a:lnTo>
                    <a:pt x="1322" y="174"/>
                  </a:lnTo>
                  <a:lnTo>
                    <a:pt x="1230" y="130"/>
                  </a:lnTo>
                  <a:lnTo>
                    <a:pt x="1120" y="92"/>
                  </a:lnTo>
                  <a:lnTo>
                    <a:pt x="996" y="59"/>
                  </a:lnTo>
                  <a:lnTo>
                    <a:pt x="862" y="32"/>
                  </a:lnTo>
                  <a:lnTo>
                    <a:pt x="724" y="12"/>
                  </a:lnTo>
                  <a:lnTo>
                    <a:pt x="585" y="2"/>
                  </a:lnTo>
                  <a:lnTo>
                    <a:pt x="453" y="0"/>
                  </a:lnTo>
                  <a:lnTo>
                    <a:pt x="330" y="7"/>
                  </a:lnTo>
                  <a:lnTo>
                    <a:pt x="221" y="21"/>
                  </a:lnTo>
                  <a:lnTo>
                    <a:pt x="132" y="45"/>
                  </a:lnTo>
                  <a:lnTo>
                    <a:pt x="63" y="76"/>
                  </a:lnTo>
                  <a:lnTo>
                    <a:pt x="19" y="112"/>
                  </a:lnTo>
                  <a:lnTo>
                    <a:pt x="0" y="153"/>
                  </a:lnTo>
                  <a:lnTo>
                    <a:pt x="2" y="153"/>
                  </a:lnTo>
                </a:path>
              </a:pathLst>
            </a:cu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" name="Freeform 17"/>
            <p:cNvSpPr>
              <a:spLocks noChangeArrowheads="1"/>
            </p:cNvSpPr>
            <p:nvPr/>
          </p:nvSpPr>
          <p:spPr bwMode="auto">
            <a:xfrm>
              <a:off x="2407" y="2549"/>
              <a:ext cx="281" cy="282"/>
            </a:xfrm>
            <a:custGeom>
              <a:avLst/>
              <a:gdLst>
                <a:gd name="T0" fmla="*/ 0 w 844"/>
                <a:gd name="T1" fmla="*/ 0 h 844"/>
                <a:gd name="T2" fmla="*/ 843 w 844"/>
                <a:gd name="T3" fmla="*/ 844 h 844"/>
                <a:gd name="T4" fmla="*/ 844 w 844"/>
                <a:gd name="T5" fmla="*/ 844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4" h="844">
                  <a:moveTo>
                    <a:pt x="0" y="0"/>
                  </a:moveTo>
                  <a:lnTo>
                    <a:pt x="843" y="844"/>
                  </a:lnTo>
                  <a:lnTo>
                    <a:pt x="844" y="844"/>
                  </a:lnTo>
                </a:path>
              </a:pathLst>
            </a:cu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" name="Freeform 18"/>
            <p:cNvSpPr>
              <a:spLocks noChangeArrowheads="1"/>
            </p:cNvSpPr>
            <p:nvPr/>
          </p:nvSpPr>
          <p:spPr bwMode="auto">
            <a:xfrm>
              <a:off x="2546" y="2549"/>
              <a:ext cx="255" cy="282"/>
            </a:xfrm>
            <a:custGeom>
              <a:avLst/>
              <a:gdLst>
                <a:gd name="T0" fmla="*/ 0 w 765"/>
                <a:gd name="T1" fmla="*/ 0 h 844"/>
                <a:gd name="T2" fmla="*/ 244 w 765"/>
                <a:gd name="T3" fmla="*/ 256 h 844"/>
                <a:gd name="T4" fmla="*/ 391 w 765"/>
                <a:gd name="T5" fmla="*/ 383 h 844"/>
                <a:gd name="T6" fmla="*/ 522 w 765"/>
                <a:gd name="T7" fmla="*/ 575 h 844"/>
                <a:gd name="T8" fmla="*/ 573 w 765"/>
                <a:gd name="T9" fmla="*/ 696 h 844"/>
                <a:gd name="T10" fmla="*/ 638 w 765"/>
                <a:gd name="T11" fmla="*/ 751 h 844"/>
                <a:gd name="T12" fmla="*/ 764 w 765"/>
                <a:gd name="T13" fmla="*/ 844 h 844"/>
                <a:gd name="T14" fmla="*/ 765 w 765"/>
                <a:gd name="T15" fmla="*/ 844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5" h="844">
                  <a:moveTo>
                    <a:pt x="0" y="0"/>
                  </a:moveTo>
                  <a:lnTo>
                    <a:pt x="244" y="256"/>
                  </a:lnTo>
                  <a:lnTo>
                    <a:pt x="391" y="383"/>
                  </a:lnTo>
                  <a:lnTo>
                    <a:pt x="522" y="575"/>
                  </a:lnTo>
                  <a:lnTo>
                    <a:pt x="573" y="696"/>
                  </a:lnTo>
                  <a:lnTo>
                    <a:pt x="638" y="751"/>
                  </a:lnTo>
                  <a:lnTo>
                    <a:pt x="764" y="844"/>
                  </a:lnTo>
                  <a:lnTo>
                    <a:pt x="765" y="844"/>
                  </a:lnTo>
                </a:path>
              </a:pathLst>
            </a:custGeom>
            <a:noFill/>
            <a:ln w="1905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21" name="Group 19"/>
            <p:cNvGrpSpPr>
              <a:grpSpLocks/>
            </p:cNvGrpSpPr>
            <p:nvPr/>
          </p:nvGrpSpPr>
          <p:grpSpPr bwMode="auto">
            <a:xfrm>
              <a:off x="1792" y="2668"/>
              <a:ext cx="669" cy="1"/>
              <a:chOff x="1792" y="2668"/>
              <a:chExt cx="669" cy="1"/>
            </a:xfrm>
          </p:grpSpPr>
          <p:sp>
            <p:nvSpPr>
              <p:cNvPr id="22" name="Freeform 20"/>
              <p:cNvSpPr>
                <a:spLocks noChangeArrowheads="1"/>
              </p:cNvSpPr>
              <p:nvPr/>
            </p:nvSpPr>
            <p:spPr bwMode="auto">
              <a:xfrm>
                <a:off x="1792" y="2668"/>
                <a:ext cx="403" cy="1"/>
              </a:xfrm>
              <a:custGeom>
                <a:avLst/>
                <a:gdLst>
                  <a:gd name="T0" fmla="*/ 0 w 1207"/>
                  <a:gd name="T1" fmla="*/ 0 h 1"/>
                  <a:gd name="T2" fmla="*/ 1206 w 1207"/>
                  <a:gd name="T3" fmla="*/ 0 h 1"/>
                  <a:gd name="T4" fmla="*/ 1207 w 1207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07" h="1">
                    <a:moveTo>
                      <a:pt x="0" y="0"/>
                    </a:moveTo>
                    <a:lnTo>
                      <a:pt x="1206" y="0"/>
                    </a:lnTo>
                    <a:lnTo>
                      <a:pt x="1207" y="0"/>
                    </a:lnTo>
                  </a:path>
                </a:pathLst>
              </a:cu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" name="Freeform 21"/>
              <p:cNvSpPr>
                <a:spLocks noChangeArrowheads="1"/>
              </p:cNvSpPr>
              <p:nvPr/>
            </p:nvSpPr>
            <p:spPr bwMode="auto">
              <a:xfrm>
                <a:off x="2236" y="2668"/>
                <a:ext cx="21" cy="1"/>
              </a:xfrm>
              <a:custGeom>
                <a:avLst/>
                <a:gdLst>
                  <a:gd name="T0" fmla="*/ 0 w 64"/>
                  <a:gd name="T1" fmla="*/ 0 h 1"/>
                  <a:gd name="T2" fmla="*/ 63 w 64"/>
                  <a:gd name="T3" fmla="*/ 0 h 1"/>
                  <a:gd name="T4" fmla="*/ 64 w 6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4" h="1">
                    <a:moveTo>
                      <a:pt x="0" y="0"/>
                    </a:moveTo>
                    <a:lnTo>
                      <a:pt x="63" y="0"/>
                    </a:lnTo>
                    <a:lnTo>
                      <a:pt x="64" y="0"/>
                    </a:lnTo>
                  </a:path>
                </a:pathLst>
              </a:cu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" name="Freeform 22"/>
              <p:cNvSpPr>
                <a:spLocks noChangeArrowheads="1"/>
              </p:cNvSpPr>
              <p:nvPr/>
            </p:nvSpPr>
            <p:spPr bwMode="auto">
              <a:xfrm>
                <a:off x="2299" y="2668"/>
                <a:ext cx="162" cy="1"/>
              </a:xfrm>
              <a:custGeom>
                <a:avLst/>
                <a:gdLst>
                  <a:gd name="T0" fmla="*/ 0 w 485"/>
                  <a:gd name="T1" fmla="*/ 0 h 1"/>
                  <a:gd name="T2" fmla="*/ 484 w 485"/>
                  <a:gd name="T3" fmla="*/ 0 h 1"/>
                  <a:gd name="T4" fmla="*/ 485 w 48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5" h="1">
                    <a:moveTo>
                      <a:pt x="0" y="0"/>
                    </a:moveTo>
                    <a:lnTo>
                      <a:pt x="484" y="0"/>
                    </a:lnTo>
                    <a:lnTo>
                      <a:pt x="485" y="0"/>
                    </a:lnTo>
                  </a:path>
                </a:pathLst>
              </a:cu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grpSp>
        <p:nvGrpSpPr>
          <p:cNvPr id="25" name="Group 23"/>
          <p:cNvGrpSpPr>
            <a:grpSpLocks/>
          </p:cNvGrpSpPr>
          <p:nvPr/>
        </p:nvGrpSpPr>
        <p:grpSpPr bwMode="auto">
          <a:xfrm>
            <a:off x="2026085" y="2479898"/>
            <a:ext cx="2108200" cy="1033463"/>
            <a:chOff x="1324" y="1003"/>
            <a:chExt cx="1328" cy="651"/>
          </a:xfrm>
        </p:grpSpPr>
        <p:sp>
          <p:nvSpPr>
            <p:cNvPr id="26" name="Line 24"/>
            <p:cNvSpPr>
              <a:spLocks noChangeShapeType="1"/>
            </p:cNvSpPr>
            <p:nvPr/>
          </p:nvSpPr>
          <p:spPr bwMode="auto">
            <a:xfrm>
              <a:off x="2431" y="1105"/>
              <a:ext cx="115" cy="11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" name="Line 25"/>
            <p:cNvSpPr>
              <a:spLocks noChangeShapeType="1"/>
            </p:cNvSpPr>
            <p:nvPr/>
          </p:nvSpPr>
          <p:spPr bwMode="auto">
            <a:xfrm>
              <a:off x="2160" y="1376"/>
              <a:ext cx="119" cy="1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" name="Line 26"/>
            <p:cNvSpPr>
              <a:spLocks noChangeShapeType="1"/>
            </p:cNvSpPr>
            <p:nvPr/>
          </p:nvSpPr>
          <p:spPr bwMode="auto">
            <a:xfrm>
              <a:off x="1975" y="1448"/>
              <a:ext cx="0" cy="16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" name="Line 27"/>
            <p:cNvSpPr>
              <a:spLocks noChangeShapeType="1"/>
            </p:cNvSpPr>
            <p:nvPr/>
          </p:nvSpPr>
          <p:spPr bwMode="auto">
            <a:xfrm>
              <a:off x="1463" y="1448"/>
              <a:ext cx="0" cy="16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" name="Line 28"/>
            <p:cNvSpPr>
              <a:spLocks noChangeShapeType="1"/>
            </p:cNvSpPr>
            <p:nvPr/>
          </p:nvSpPr>
          <p:spPr bwMode="auto">
            <a:xfrm>
              <a:off x="2265" y="1200"/>
              <a:ext cx="177" cy="17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" name="Freeform 29"/>
            <p:cNvSpPr>
              <a:spLocks noChangeArrowheads="1"/>
            </p:cNvSpPr>
            <p:nvPr/>
          </p:nvSpPr>
          <p:spPr bwMode="auto">
            <a:xfrm>
              <a:off x="1324" y="1447"/>
              <a:ext cx="765" cy="1"/>
            </a:xfrm>
            <a:custGeom>
              <a:avLst/>
              <a:gdLst>
                <a:gd name="T0" fmla="*/ 0 w 2297"/>
                <a:gd name="T1" fmla="*/ 0 h 1"/>
                <a:gd name="T2" fmla="*/ 2296 w 2297"/>
                <a:gd name="T3" fmla="*/ 0 h 1"/>
                <a:gd name="T4" fmla="*/ 2297 w 229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97" h="1">
                  <a:moveTo>
                    <a:pt x="0" y="0"/>
                  </a:moveTo>
                  <a:lnTo>
                    <a:pt x="2296" y="0"/>
                  </a:lnTo>
                  <a:lnTo>
                    <a:pt x="2297" y="0"/>
                  </a:lnTo>
                </a:path>
              </a:pathLst>
            </a:cu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" name="Freeform 30"/>
            <p:cNvSpPr>
              <a:spLocks noChangeArrowheads="1"/>
            </p:cNvSpPr>
            <p:nvPr/>
          </p:nvSpPr>
          <p:spPr bwMode="auto">
            <a:xfrm>
              <a:off x="1324" y="1447"/>
              <a:ext cx="1" cy="168"/>
            </a:xfrm>
            <a:custGeom>
              <a:avLst/>
              <a:gdLst>
                <a:gd name="T0" fmla="*/ 0 w 1"/>
                <a:gd name="T1" fmla="*/ 0 h 503"/>
                <a:gd name="T2" fmla="*/ 0 w 1"/>
                <a:gd name="T3" fmla="*/ 503 h 503"/>
                <a:gd name="T4" fmla="*/ 1 w 1"/>
                <a:gd name="T5" fmla="*/ 503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03">
                  <a:moveTo>
                    <a:pt x="0" y="0"/>
                  </a:moveTo>
                  <a:lnTo>
                    <a:pt x="0" y="503"/>
                  </a:lnTo>
                  <a:lnTo>
                    <a:pt x="1" y="503"/>
                  </a:lnTo>
                </a:path>
              </a:pathLst>
            </a:cu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" name="Freeform 31"/>
            <p:cNvSpPr>
              <a:spLocks noChangeArrowheads="1"/>
            </p:cNvSpPr>
            <p:nvPr/>
          </p:nvSpPr>
          <p:spPr bwMode="auto">
            <a:xfrm>
              <a:off x="2089" y="1003"/>
              <a:ext cx="444" cy="444"/>
            </a:xfrm>
            <a:custGeom>
              <a:avLst/>
              <a:gdLst>
                <a:gd name="T0" fmla="*/ 0 w 1332"/>
                <a:gd name="T1" fmla="*/ 1332 h 1332"/>
                <a:gd name="T2" fmla="*/ 1331 w 1332"/>
                <a:gd name="T3" fmla="*/ 0 h 1332"/>
                <a:gd name="T4" fmla="*/ 1332 w 1332"/>
                <a:gd name="T5" fmla="*/ 0 h 1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32" h="1332">
                  <a:moveTo>
                    <a:pt x="0" y="1332"/>
                  </a:moveTo>
                  <a:lnTo>
                    <a:pt x="1331" y="0"/>
                  </a:lnTo>
                  <a:lnTo>
                    <a:pt x="1332" y="0"/>
                  </a:lnTo>
                </a:path>
              </a:pathLst>
            </a:cu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" name="Freeform 32"/>
            <p:cNvSpPr>
              <a:spLocks noChangeArrowheads="1"/>
            </p:cNvSpPr>
            <p:nvPr/>
          </p:nvSpPr>
          <p:spPr bwMode="auto">
            <a:xfrm>
              <a:off x="1324" y="1615"/>
              <a:ext cx="834" cy="1"/>
            </a:xfrm>
            <a:custGeom>
              <a:avLst/>
              <a:gdLst>
                <a:gd name="T0" fmla="*/ 0 w 2504"/>
                <a:gd name="T1" fmla="*/ 0 h 1"/>
                <a:gd name="T2" fmla="*/ 2503 w 2504"/>
                <a:gd name="T3" fmla="*/ 0 h 1"/>
                <a:gd name="T4" fmla="*/ 2504 w 250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04" h="1">
                  <a:moveTo>
                    <a:pt x="0" y="0"/>
                  </a:moveTo>
                  <a:lnTo>
                    <a:pt x="2503" y="0"/>
                  </a:lnTo>
                  <a:lnTo>
                    <a:pt x="2504" y="0"/>
                  </a:lnTo>
                </a:path>
              </a:pathLst>
            </a:cu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" name="Freeform 33"/>
            <p:cNvSpPr>
              <a:spLocks noChangeArrowheads="1"/>
            </p:cNvSpPr>
            <p:nvPr/>
          </p:nvSpPr>
          <p:spPr bwMode="auto">
            <a:xfrm>
              <a:off x="2158" y="1122"/>
              <a:ext cx="494" cy="493"/>
            </a:xfrm>
            <a:custGeom>
              <a:avLst/>
              <a:gdLst>
                <a:gd name="T0" fmla="*/ 0 w 1481"/>
                <a:gd name="T1" fmla="*/ 1479 h 1479"/>
                <a:gd name="T2" fmla="*/ 1480 w 1481"/>
                <a:gd name="T3" fmla="*/ 0 h 1479"/>
                <a:gd name="T4" fmla="*/ 1481 w 1481"/>
                <a:gd name="T5" fmla="*/ 0 h 1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81" h="1479">
                  <a:moveTo>
                    <a:pt x="0" y="1479"/>
                  </a:moveTo>
                  <a:lnTo>
                    <a:pt x="1480" y="0"/>
                  </a:lnTo>
                  <a:lnTo>
                    <a:pt x="1481" y="0"/>
                  </a:lnTo>
                </a:path>
              </a:pathLst>
            </a:cu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6" name="Freeform 34"/>
            <p:cNvSpPr>
              <a:spLocks noChangeArrowheads="1"/>
            </p:cNvSpPr>
            <p:nvPr/>
          </p:nvSpPr>
          <p:spPr bwMode="auto">
            <a:xfrm>
              <a:off x="2533" y="1003"/>
              <a:ext cx="119" cy="119"/>
            </a:xfrm>
            <a:custGeom>
              <a:avLst/>
              <a:gdLst>
                <a:gd name="T0" fmla="*/ 0 w 357"/>
                <a:gd name="T1" fmla="*/ 0 h 356"/>
                <a:gd name="T2" fmla="*/ 356 w 357"/>
                <a:gd name="T3" fmla="*/ 356 h 356"/>
                <a:gd name="T4" fmla="*/ 357 w 357"/>
                <a:gd name="T5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7" h="356">
                  <a:moveTo>
                    <a:pt x="0" y="0"/>
                  </a:moveTo>
                  <a:lnTo>
                    <a:pt x="356" y="356"/>
                  </a:lnTo>
                  <a:lnTo>
                    <a:pt x="357" y="356"/>
                  </a:lnTo>
                </a:path>
              </a:pathLst>
            </a:cu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" name="Line 35"/>
            <p:cNvSpPr>
              <a:spLocks noChangeShapeType="1"/>
            </p:cNvSpPr>
            <p:nvPr/>
          </p:nvSpPr>
          <p:spPr bwMode="auto">
            <a:xfrm flipV="1">
              <a:off x="1718" y="1411"/>
              <a:ext cx="0" cy="24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8" name="Freeform 36"/>
          <p:cNvSpPr>
            <a:spLocks noChangeArrowheads="1"/>
          </p:cNvSpPr>
          <p:nvPr/>
        </p:nvSpPr>
        <p:spPr bwMode="auto">
          <a:xfrm>
            <a:off x="3805672" y="3164111"/>
            <a:ext cx="2573338" cy="2571750"/>
          </a:xfrm>
          <a:custGeom>
            <a:avLst/>
            <a:gdLst>
              <a:gd name="T0" fmla="*/ 0 w 1621"/>
              <a:gd name="T1" fmla="*/ 844 h 1620"/>
              <a:gd name="T2" fmla="*/ 844 w 1621"/>
              <a:gd name="T3" fmla="*/ 0 h 1620"/>
              <a:gd name="T4" fmla="*/ 1621 w 1621"/>
              <a:gd name="T5" fmla="*/ 777 h 1620"/>
              <a:gd name="T6" fmla="*/ 778 w 1621"/>
              <a:gd name="T7" fmla="*/ 1620 h 1620"/>
              <a:gd name="T8" fmla="*/ 0 w 1621"/>
              <a:gd name="T9" fmla="*/ 844 h 1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21" h="1620">
                <a:moveTo>
                  <a:pt x="0" y="844"/>
                </a:moveTo>
                <a:lnTo>
                  <a:pt x="844" y="0"/>
                </a:lnTo>
                <a:lnTo>
                  <a:pt x="1621" y="777"/>
                </a:lnTo>
                <a:lnTo>
                  <a:pt x="778" y="1620"/>
                </a:lnTo>
                <a:lnTo>
                  <a:pt x="0" y="844"/>
                </a:lnTo>
                <a:close/>
              </a:path>
            </a:pathLst>
          </a:custGeom>
          <a:solidFill>
            <a:srgbClr val="CC99FF"/>
          </a:solidFill>
          <a:ln w="12700">
            <a:solidFill>
              <a:schemeClr val="tx1"/>
            </a:solidFill>
            <a:round/>
            <a:headEnd type="none" w="sm" len="lg"/>
            <a:tailEnd type="none" w="sm" len="lg"/>
          </a:ln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grpSp>
        <p:nvGrpSpPr>
          <p:cNvPr id="39" name="Group 37"/>
          <p:cNvGrpSpPr>
            <a:grpSpLocks/>
          </p:cNvGrpSpPr>
          <p:nvPr/>
        </p:nvGrpSpPr>
        <p:grpSpPr bwMode="auto">
          <a:xfrm>
            <a:off x="4534335" y="3194273"/>
            <a:ext cx="1041400" cy="1803400"/>
            <a:chOff x="2904" y="1453"/>
            <a:chExt cx="656" cy="1136"/>
          </a:xfrm>
        </p:grpSpPr>
        <p:grpSp>
          <p:nvGrpSpPr>
            <p:cNvPr id="40" name="Group 38"/>
            <p:cNvGrpSpPr>
              <a:grpSpLocks/>
            </p:cNvGrpSpPr>
            <p:nvPr/>
          </p:nvGrpSpPr>
          <p:grpSpPr bwMode="auto">
            <a:xfrm>
              <a:off x="2982" y="1453"/>
              <a:ext cx="532" cy="532"/>
              <a:chOff x="2982" y="1453"/>
              <a:chExt cx="532" cy="532"/>
            </a:xfrm>
          </p:grpSpPr>
          <p:sp>
            <p:nvSpPr>
              <p:cNvPr id="53" name="Freeform 39"/>
              <p:cNvSpPr>
                <a:spLocks noChangeArrowheads="1"/>
              </p:cNvSpPr>
              <p:nvPr/>
            </p:nvSpPr>
            <p:spPr bwMode="auto">
              <a:xfrm>
                <a:off x="2982" y="1453"/>
                <a:ext cx="532" cy="532"/>
              </a:xfrm>
              <a:custGeom>
                <a:avLst/>
                <a:gdLst>
                  <a:gd name="T0" fmla="*/ 0 w 1596"/>
                  <a:gd name="T1" fmla="*/ 0 h 1598"/>
                  <a:gd name="T2" fmla="*/ 1595 w 1596"/>
                  <a:gd name="T3" fmla="*/ 1598 h 1598"/>
                  <a:gd name="T4" fmla="*/ 1596 w 1596"/>
                  <a:gd name="T5" fmla="*/ 1598 h 1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96" h="1598">
                    <a:moveTo>
                      <a:pt x="0" y="0"/>
                    </a:moveTo>
                    <a:lnTo>
                      <a:pt x="1595" y="1598"/>
                    </a:lnTo>
                    <a:lnTo>
                      <a:pt x="1596" y="1598"/>
                    </a:lnTo>
                  </a:path>
                </a:pathLst>
              </a:cu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4" name="Freeform 40"/>
              <p:cNvSpPr>
                <a:spLocks noChangeArrowheads="1"/>
              </p:cNvSpPr>
              <p:nvPr/>
            </p:nvSpPr>
            <p:spPr bwMode="auto">
              <a:xfrm>
                <a:off x="3209" y="1659"/>
                <a:ext cx="144" cy="166"/>
              </a:xfrm>
              <a:custGeom>
                <a:avLst/>
                <a:gdLst>
                  <a:gd name="T0" fmla="*/ 432 w 432"/>
                  <a:gd name="T1" fmla="*/ 496 h 496"/>
                  <a:gd name="T2" fmla="*/ 0 w 432"/>
                  <a:gd name="T3" fmla="*/ 0 h 496"/>
                  <a:gd name="T4" fmla="*/ 1 w 432"/>
                  <a:gd name="T5" fmla="*/ 0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2" h="496">
                    <a:moveTo>
                      <a:pt x="432" y="496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5" name="Freeform 41"/>
              <p:cNvSpPr>
                <a:spLocks noChangeArrowheads="1"/>
              </p:cNvSpPr>
              <p:nvPr/>
            </p:nvSpPr>
            <p:spPr bwMode="auto">
              <a:xfrm>
                <a:off x="3188" y="1659"/>
                <a:ext cx="21" cy="22"/>
              </a:xfrm>
              <a:custGeom>
                <a:avLst/>
                <a:gdLst>
                  <a:gd name="T0" fmla="*/ 64 w 64"/>
                  <a:gd name="T1" fmla="*/ 0 h 64"/>
                  <a:gd name="T2" fmla="*/ 0 w 64"/>
                  <a:gd name="T3" fmla="*/ 64 h 64"/>
                  <a:gd name="T4" fmla="*/ 1 w 64"/>
                  <a:gd name="T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4" h="64">
                    <a:moveTo>
                      <a:pt x="64" y="0"/>
                    </a:moveTo>
                    <a:lnTo>
                      <a:pt x="0" y="64"/>
                    </a:lnTo>
                    <a:lnTo>
                      <a:pt x="1" y="64"/>
                    </a:lnTo>
                  </a:path>
                </a:pathLst>
              </a:cu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6" name="Freeform 42"/>
              <p:cNvSpPr>
                <a:spLocks noChangeArrowheads="1"/>
              </p:cNvSpPr>
              <p:nvPr/>
            </p:nvSpPr>
            <p:spPr bwMode="auto">
              <a:xfrm>
                <a:off x="3188" y="1681"/>
                <a:ext cx="166" cy="144"/>
              </a:xfrm>
              <a:custGeom>
                <a:avLst/>
                <a:gdLst>
                  <a:gd name="T0" fmla="*/ 0 w 497"/>
                  <a:gd name="T1" fmla="*/ 0 h 432"/>
                  <a:gd name="T2" fmla="*/ 496 w 497"/>
                  <a:gd name="T3" fmla="*/ 432 h 432"/>
                  <a:gd name="T4" fmla="*/ 497 w 497"/>
                  <a:gd name="T5" fmla="*/ 432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7" h="432">
                    <a:moveTo>
                      <a:pt x="0" y="0"/>
                    </a:moveTo>
                    <a:lnTo>
                      <a:pt x="496" y="432"/>
                    </a:lnTo>
                    <a:lnTo>
                      <a:pt x="497" y="432"/>
                    </a:lnTo>
                  </a:path>
                </a:pathLst>
              </a:cu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41" name="Group 43"/>
            <p:cNvGrpSpPr>
              <a:grpSpLocks/>
            </p:cNvGrpSpPr>
            <p:nvPr/>
          </p:nvGrpSpPr>
          <p:grpSpPr bwMode="auto">
            <a:xfrm>
              <a:off x="2904" y="1939"/>
              <a:ext cx="656" cy="650"/>
              <a:chOff x="2904" y="1939"/>
              <a:chExt cx="656" cy="650"/>
            </a:xfrm>
          </p:grpSpPr>
          <p:sp>
            <p:nvSpPr>
              <p:cNvPr id="42" name="Freeform 44"/>
              <p:cNvSpPr>
                <a:spLocks noChangeArrowheads="1"/>
              </p:cNvSpPr>
              <p:nvPr/>
            </p:nvSpPr>
            <p:spPr bwMode="auto">
              <a:xfrm>
                <a:off x="3077" y="2023"/>
                <a:ext cx="383" cy="383"/>
              </a:xfrm>
              <a:custGeom>
                <a:avLst/>
                <a:gdLst>
                  <a:gd name="T0" fmla="*/ 0 w 1149"/>
                  <a:gd name="T1" fmla="*/ 0 h 1148"/>
                  <a:gd name="T2" fmla="*/ 1148 w 1149"/>
                  <a:gd name="T3" fmla="*/ 1148 h 1148"/>
                  <a:gd name="T4" fmla="*/ 1149 w 1149"/>
                  <a:gd name="T5" fmla="*/ 1148 h 1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49" h="1148">
                    <a:moveTo>
                      <a:pt x="0" y="0"/>
                    </a:moveTo>
                    <a:lnTo>
                      <a:pt x="1148" y="1148"/>
                    </a:lnTo>
                    <a:lnTo>
                      <a:pt x="1149" y="1148"/>
                    </a:lnTo>
                  </a:path>
                </a:pathLst>
              </a:cu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" name="Freeform 45"/>
              <p:cNvSpPr>
                <a:spLocks noChangeArrowheads="1"/>
              </p:cNvSpPr>
              <p:nvPr/>
            </p:nvSpPr>
            <p:spPr bwMode="auto">
              <a:xfrm>
                <a:off x="3136" y="1947"/>
                <a:ext cx="415" cy="416"/>
              </a:xfrm>
              <a:custGeom>
                <a:avLst/>
                <a:gdLst>
                  <a:gd name="T0" fmla="*/ 843 w 1247"/>
                  <a:gd name="T1" fmla="*/ 1249 h 1249"/>
                  <a:gd name="T2" fmla="*/ 966 w 1247"/>
                  <a:gd name="T3" fmla="*/ 1110 h 1249"/>
                  <a:gd name="T4" fmla="*/ 1071 w 1247"/>
                  <a:gd name="T5" fmla="*/ 963 h 1249"/>
                  <a:gd name="T6" fmla="*/ 1155 w 1247"/>
                  <a:gd name="T7" fmla="*/ 811 h 1249"/>
                  <a:gd name="T8" fmla="*/ 1212 w 1247"/>
                  <a:gd name="T9" fmla="*/ 658 h 1249"/>
                  <a:gd name="T10" fmla="*/ 1244 w 1247"/>
                  <a:gd name="T11" fmla="*/ 512 h 1249"/>
                  <a:gd name="T12" fmla="*/ 1247 w 1247"/>
                  <a:gd name="T13" fmla="*/ 376 h 1249"/>
                  <a:gd name="T14" fmla="*/ 1222 w 1247"/>
                  <a:gd name="T15" fmla="*/ 257 h 1249"/>
                  <a:gd name="T16" fmla="*/ 1168 w 1247"/>
                  <a:gd name="T17" fmla="*/ 156 h 1249"/>
                  <a:gd name="T18" fmla="*/ 1091 w 1247"/>
                  <a:gd name="T19" fmla="*/ 79 h 1249"/>
                  <a:gd name="T20" fmla="*/ 990 w 1247"/>
                  <a:gd name="T21" fmla="*/ 25 h 1249"/>
                  <a:gd name="T22" fmla="*/ 871 w 1247"/>
                  <a:gd name="T23" fmla="*/ 0 h 1249"/>
                  <a:gd name="T24" fmla="*/ 735 w 1247"/>
                  <a:gd name="T25" fmla="*/ 3 h 1249"/>
                  <a:gd name="T26" fmla="*/ 589 w 1247"/>
                  <a:gd name="T27" fmla="*/ 35 h 1249"/>
                  <a:gd name="T28" fmla="*/ 437 w 1247"/>
                  <a:gd name="T29" fmla="*/ 92 h 1249"/>
                  <a:gd name="T30" fmla="*/ 286 w 1247"/>
                  <a:gd name="T31" fmla="*/ 176 h 1249"/>
                  <a:gd name="T32" fmla="*/ 138 w 1247"/>
                  <a:gd name="T33" fmla="*/ 281 h 1249"/>
                  <a:gd name="T34" fmla="*/ 0 w 1247"/>
                  <a:gd name="T35" fmla="*/ 404 h 1249"/>
                  <a:gd name="T36" fmla="*/ 1 w 1247"/>
                  <a:gd name="T37" fmla="*/ 404 h 1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47" h="1249">
                    <a:moveTo>
                      <a:pt x="843" y="1249"/>
                    </a:moveTo>
                    <a:lnTo>
                      <a:pt x="966" y="1110"/>
                    </a:lnTo>
                    <a:lnTo>
                      <a:pt x="1071" y="963"/>
                    </a:lnTo>
                    <a:lnTo>
                      <a:pt x="1155" y="811"/>
                    </a:lnTo>
                    <a:lnTo>
                      <a:pt x="1212" y="658"/>
                    </a:lnTo>
                    <a:lnTo>
                      <a:pt x="1244" y="512"/>
                    </a:lnTo>
                    <a:lnTo>
                      <a:pt x="1247" y="376"/>
                    </a:lnTo>
                    <a:lnTo>
                      <a:pt x="1222" y="257"/>
                    </a:lnTo>
                    <a:lnTo>
                      <a:pt x="1168" y="156"/>
                    </a:lnTo>
                    <a:lnTo>
                      <a:pt x="1091" y="79"/>
                    </a:lnTo>
                    <a:lnTo>
                      <a:pt x="990" y="25"/>
                    </a:lnTo>
                    <a:lnTo>
                      <a:pt x="871" y="0"/>
                    </a:lnTo>
                    <a:lnTo>
                      <a:pt x="735" y="3"/>
                    </a:lnTo>
                    <a:lnTo>
                      <a:pt x="589" y="35"/>
                    </a:lnTo>
                    <a:lnTo>
                      <a:pt x="437" y="92"/>
                    </a:lnTo>
                    <a:lnTo>
                      <a:pt x="286" y="176"/>
                    </a:lnTo>
                    <a:lnTo>
                      <a:pt x="138" y="281"/>
                    </a:lnTo>
                    <a:lnTo>
                      <a:pt x="0" y="404"/>
                    </a:lnTo>
                    <a:lnTo>
                      <a:pt x="1" y="404"/>
                    </a:lnTo>
                  </a:path>
                </a:pathLst>
              </a:cu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" name="Freeform 46"/>
              <p:cNvSpPr>
                <a:spLocks noChangeArrowheads="1"/>
              </p:cNvSpPr>
              <p:nvPr/>
            </p:nvSpPr>
            <p:spPr bwMode="auto">
              <a:xfrm>
                <a:off x="2904" y="2082"/>
                <a:ext cx="232" cy="232"/>
              </a:xfrm>
              <a:custGeom>
                <a:avLst/>
                <a:gdLst>
                  <a:gd name="T0" fmla="*/ 0 w 696"/>
                  <a:gd name="T1" fmla="*/ 697 h 697"/>
                  <a:gd name="T2" fmla="*/ 695 w 696"/>
                  <a:gd name="T3" fmla="*/ 0 h 697"/>
                  <a:gd name="T4" fmla="*/ 696 w 696"/>
                  <a:gd name="T5" fmla="*/ 0 h 6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96" h="697">
                    <a:moveTo>
                      <a:pt x="0" y="697"/>
                    </a:moveTo>
                    <a:lnTo>
                      <a:pt x="695" y="0"/>
                    </a:lnTo>
                    <a:lnTo>
                      <a:pt x="696" y="0"/>
                    </a:lnTo>
                  </a:path>
                </a:pathLst>
              </a:cu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" name="Freeform 47"/>
              <p:cNvSpPr>
                <a:spLocks noChangeArrowheads="1"/>
              </p:cNvSpPr>
              <p:nvPr/>
            </p:nvSpPr>
            <p:spPr bwMode="auto">
              <a:xfrm>
                <a:off x="3192" y="2363"/>
                <a:ext cx="225" cy="226"/>
              </a:xfrm>
              <a:custGeom>
                <a:avLst/>
                <a:gdLst>
                  <a:gd name="T0" fmla="*/ 0 w 675"/>
                  <a:gd name="T1" fmla="*/ 676 h 676"/>
                  <a:gd name="T2" fmla="*/ 674 w 675"/>
                  <a:gd name="T3" fmla="*/ 0 h 676"/>
                  <a:gd name="T4" fmla="*/ 675 w 675"/>
                  <a:gd name="T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75" h="676">
                    <a:moveTo>
                      <a:pt x="0" y="676"/>
                    </a:moveTo>
                    <a:lnTo>
                      <a:pt x="674" y="0"/>
                    </a:lnTo>
                    <a:lnTo>
                      <a:pt x="675" y="0"/>
                    </a:lnTo>
                  </a:path>
                </a:pathLst>
              </a:cu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" name="Freeform 48"/>
              <p:cNvSpPr>
                <a:spLocks noChangeArrowheads="1"/>
              </p:cNvSpPr>
              <p:nvPr/>
            </p:nvSpPr>
            <p:spPr bwMode="auto">
              <a:xfrm>
                <a:off x="2929" y="2289"/>
                <a:ext cx="282" cy="281"/>
              </a:xfrm>
              <a:custGeom>
                <a:avLst/>
                <a:gdLst>
                  <a:gd name="T0" fmla="*/ 0 w 845"/>
                  <a:gd name="T1" fmla="*/ 0 h 844"/>
                  <a:gd name="T2" fmla="*/ 843 w 845"/>
                  <a:gd name="T3" fmla="*/ 844 h 844"/>
                  <a:gd name="T4" fmla="*/ 845 w 845"/>
                  <a:gd name="T5" fmla="*/ 844 h 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45" h="844">
                    <a:moveTo>
                      <a:pt x="0" y="0"/>
                    </a:moveTo>
                    <a:lnTo>
                      <a:pt x="843" y="844"/>
                    </a:lnTo>
                    <a:lnTo>
                      <a:pt x="845" y="844"/>
                    </a:lnTo>
                  </a:path>
                </a:pathLst>
              </a:cu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7" name="Freeform 49"/>
              <p:cNvSpPr>
                <a:spLocks noChangeArrowheads="1"/>
              </p:cNvSpPr>
              <p:nvPr/>
            </p:nvSpPr>
            <p:spPr bwMode="auto">
              <a:xfrm>
                <a:off x="3118" y="2063"/>
                <a:ext cx="317" cy="318"/>
              </a:xfrm>
              <a:custGeom>
                <a:avLst/>
                <a:gdLst>
                  <a:gd name="T0" fmla="*/ 876 w 952"/>
                  <a:gd name="T1" fmla="*/ 75 h 953"/>
                  <a:gd name="T2" fmla="*/ 820 w 952"/>
                  <a:gd name="T3" fmla="*/ 34 h 953"/>
                  <a:gd name="T4" fmla="*/ 752 w 952"/>
                  <a:gd name="T5" fmla="*/ 9 h 953"/>
                  <a:gd name="T6" fmla="*/ 674 w 952"/>
                  <a:gd name="T7" fmla="*/ 0 h 953"/>
                  <a:gd name="T8" fmla="*/ 587 w 952"/>
                  <a:gd name="T9" fmla="*/ 9 h 953"/>
                  <a:gd name="T10" fmla="*/ 498 w 952"/>
                  <a:gd name="T11" fmla="*/ 34 h 953"/>
                  <a:gd name="T12" fmla="*/ 408 w 952"/>
                  <a:gd name="T13" fmla="*/ 77 h 953"/>
                  <a:gd name="T14" fmla="*/ 319 w 952"/>
                  <a:gd name="T15" fmla="*/ 132 h 953"/>
                  <a:gd name="T16" fmla="*/ 236 w 952"/>
                  <a:gd name="T17" fmla="*/ 202 h 953"/>
                  <a:gd name="T18" fmla="*/ 163 w 952"/>
                  <a:gd name="T19" fmla="*/ 280 h 953"/>
                  <a:gd name="T20" fmla="*/ 101 w 952"/>
                  <a:gd name="T21" fmla="*/ 366 h 953"/>
                  <a:gd name="T22" fmla="*/ 52 w 952"/>
                  <a:gd name="T23" fmla="*/ 455 h 953"/>
                  <a:gd name="T24" fmla="*/ 17 w 952"/>
                  <a:gd name="T25" fmla="*/ 546 h 953"/>
                  <a:gd name="T26" fmla="*/ 0 w 952"/>
                  <a:gd name="T27" fmla="*/ 635 h 953"/>
                  <a:gd name="T28" fmla="*/ 0 w 952"/>
                  <a:gd name="T29" fmla="*/ 717 h 953"/>
                  <a:gd name="T30" fmla="*/ 17 w 952"/>
                  <a:gd name="T31" fmla="*/ 791 h 953"/>
                  <a:gd name="T32" fmla="*/ 50 w 952"/>
                  <a:gd name="T33" fmla="*/ 853 h 953"/>
                  <a:gd name="T34" fmla="*/ 99 w 952"/>
                  <a:gd name="T35" fmla="*/ 902 h 953"/>
                  <a:gd name="T36" fmla="*/ 162 w 952"/>
                  <a:gd name="T37" fmla="*/ 935 h 953"/>
                  <a:gd name="T38" fmla="*/ 235 w 952"/>
                  <a:gd name="T39" fmla="*/ 953 h 953"/>
                  <a:gd name="T40" fmla="*/ 317 w 952"/>
                  <a:gd name="T41" fmla="*/ 953 h 953"/>
                  <a:gd name="T42" fmla="*/ 405 w 952"/>
                  <a:gd name="T43" fmla="*/ 935 h 953"/>
                  <a:gd name="T44" fmla="*/ 496 w 952"/>
                  <a:gd name="T45" fmla="*/ 902 h 953"/>
                  <a:gd name="T46" fmla="*/ 586 w 952"/>
                  <a:gd name="T47" fmla="*/ 853 h 953"/>
                  <a:gd name="T48" fmla="*/ 672 w 952"/>
                  <a:gd name="T49" fmla="*/ 789 h 953"/>
                  <a:gd name="T50" fmla="*/ 751 w 952"/>
                  <a:gd name="T51" fmla="*/ 716 h 953"/>
                  <a:gd name="T52" fmla="*/ 819 w 952"/>
                  <a:gd name="T53" fmla="*/ 632 h 953"/>
                  <a:gd name="T54" fmla="*/ 876 w 952"/>
                  <a:gd name="T55" fmla="*/ 545 h 953"/>
                  <a:gd name="T56" fmla="*/ 917 w 952"/>
                  <a:gd name="T57" fmla="*/ 454 h 953"/>
                  <a:gd name="T58" fmla="*/ 942 w 952"/>
                  <a:gd name="T59" fmla="*/ 364 h 953"/>
                  <a:gd name="T60" fmla="*/ 952 w 952"/>
                  <a:gd name="T61" fmla="*/ 279 h 953"/>
                  <a:gd name="T62" fmla="*/ 944 w 952"/>
                  <a:gd name="T63" fmla="*/ 200 h 953"/>
                  <a:gd name="T64" fmla="*/ 918 w 952"/>
                  <a:gd name="T65" fmla="*/ 131 h 953"/>
                  <a:gd name="T66" fmla="*/ 876 w 952"/>
                  <a:gd name="T67" fmla="*/ 75 h 953"/>
                  <a:gd name="T68" fmla="*/ 877 w 952"/>
                  <a:gd name="T69" fmla="*/ 75 h 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52" h="953">
                    <a:moveTo>
                      <a:pt x="876" y="75"/>
                    </a:moveTo>
                    <a:lnTo>
                      <a:pt x="820" y="34"/>
                    </a:lnTo>
                    <a:lnTo>
                      <a:pt x="752" y="9"/>
                    </a:lnTo>
                    <a:lnTo>
                      <a:pt x="674" y="0"/>
                    </a:lnTo>
                    <a:lnTo>
                      <a:pt x="587" y="9"/>
                    </a:lnTo>
                    <a:lnTo>
                      <a:pt x="498" y="34"/>
                    </a:lnTo>
                    <a:lnTo>
                      <a:pt x="408" y="77"/>
                    </a:lnTo>
                    <a:lnTo>
                      <a:pt x="319" y="132"/>
                    </a:lnTo>
                    <a:lnTo>
                      <a:pt x="236" y="202"/>
                    </a:lnTo>
                    <a:lnTo>
                      <a:pt x="163" y="280"/>
                    </a:lnTo>
                    <a:lnTo>
                      <a:pt x="101" y="366"/>
                    </a:lnTo>
                    <a:lnTo>
                      <a:pt x="52" y="455"/>
                    </a:lnTo>
                    <a:lnTo>
                      <a:pt x="17" y="546"/>
                    </a:lnTo>
                    <a:lnTo>
                      <a:pt x="0" y="635"/>
                    </a:lnTo>
                    <a:lnTo>
                      <a:pt x="0" y="717"/>
                    </a:lnTo>
                    <a:lnTo>
                      <a:pt x="17" y="791"/>
                    </a:lnTo>
                    <a:lnTo>
                      <a:pt x="50" y="853"/>
                    </a:lnTo>
                    <a:lnTo>
                      <a:pt x="99" y="902"/>
                    </a:lnTo>
                    <a:lnTo>
                      <a:pt x="162" y="935"/>
                    </a:lnTo>
                    <a:lnTo>
                      <a:pt x="235" y="953"/>
                    </a:lnTo>
                    <a:lnTo>
                      <a:pt x="317" y="953"/>
                    </a:lnTo>
                    <a:lnTo>
                      <a:pt x="405" y="935"/>
                    </a:lnTo>
                    <a:lnTo>
                      <a:pt x="496" y="902"/>
                    </a:lnTo>
                    <a:lnTo>
                      <a:pt x="586" y="853"/>
                    </a:lnTo>
                    <a:lnTo>
                      <a:pt x="672" y="789"/>
                    </a:lnTo>
                    <a:lnTo>
                      <a:pt x="751" y="716"/>
                    </a:lnTo>
                    <a:lnTo>
                      <a:pt x="819" y="632"/>
                    </a:lnTo>
                    <a:lnTo>
                      <a:pt x="876" y="545"/>
                    </a:lnTo>
                    <a:lnTo>
                      <a:pt x="917" y="454"/>
                    </a:lnTo>
                    <a:lnTo>
                      <a:pt x="942" y="364"/>
                    </a:lnTo>
                    <a:lnTo>
                      <a:pt x="952" y="279"/>
                    </a:lnTo>
                    <a:lnTo>
                      <a:pt x="944" y="200"/>
                    </a:lnTo>
                    <a:lnTo>
                      <a:pt x="918" y="131"/>
                    </a:lnTo>
                    <a:lnTo>
                      <a:pt x="876" y="75"/>
                    </a:lnTo>
                    <a:lnTo>
                      <a:pt x="877" y="75"/>
                    </a:lnTo>
                  </a:path>
                </a:pathLst>
              </a:cu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" name="Freeform 50"/>
              <p:cNvSpPr>
                <a:spLocks noChangeArrowheads="1"/>
              </p:cNvSpPr>
              <p:nvPr/>
            </p:nvSpPr>
            <p:spPr bwMode="auto">
              <a:xfrm>
                <a:off x="2904" y="2314"/>
                <a:ext cx="288" cy="275"/>
              </a:xfrm>
              <a:custGeom>
                <a:avLst/>
                <a:gdLst>
                  <a:gd name="T0" fmla="*/ 0 w 865"/>
                  <a:gd name="T1" fmla="*/ 0 h 824"/>
                  <a:gd name="T2" fmla="*/ 118 w 865"/>
                  <a:gd name="T3" fmla="*/ 96 h 824"/>
                  <a:gd name="T4" fmla="*/ 176 w 865"/>
                  <a:gd name="T5" fmla="*/ 243 h 824"/>
                  <a:gd name="T6" fmla="*/ 244 w 865"/>
                  <a:gd name="T7" fmla="*/ 378 h 824"/>
                  <a:gd name="T8" fmla="*/ 401 w 865"/>
                  <a:gd name="T9" fmla="*/ 432 h 824"/>
                  <a:gd name="T10" fmla="*/ 515 w 865"/>
                  <a:gd name="T11" fmla="*/ 529 h 824"/>
                  <a:gd name="T12" fmla="*/ 579 w 865"/>
                  <a:gd name="T13" fmla="*/ 675 h 824"/>
                  <a:gd name="T14" fmla="*/ 864 w 865"/>
                  <a:gd name="T15" fmla="*/ 824 h 824"/>
                  <a:gd name="T16" fmla="*/ 865 w 865"/>
                  <a:gd name="T17" fmla="*/ 824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65" h="824">
                    <a:moveTo>
                      <a:pt x="0" y="0"/>
                    </a:moveTo>
                    <a:lnTo>
                      <a:pt x="118" y="96"/>
                    </a:lnTo>
                    <a:lnTo>
                      <a:pt x="176" y="243"/>
                    </a:lnTo>
                    <a:lnTo>
                      <a:pt x="244" y="378"/>
                    </a:lnTo>
                    <a:lnTo>
                      <a:pt x="401" y="432"/>
                    </a:lnTo>
                    <a:lnTo>
                      <a:pt x="515" y="529"/>
                    </a:lnTo>
                    <a:lnTo>
                      <a:pt x="579" y="675"/>
                    </a:lnTo>
                    <a:lnTo>
                      <a:pt x="864" y="824"/>
                    </a:lnTo>
                    <a:lnTo>
                      <a:pt x="865" y="824"/>
                    </a:lnTo>
                  </a:path>
                </a:pathLst>
              </a:cu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49" name="Group 51"/>
              <p:cNvGrpSpPr>
                <a:grpSpLocks/>
              </p:cNvGrpSpPr>
              <p:nvPr/>
            </p:nvGrpSpPr>
            <p:grpSpPr bwMode="auto">
              <a:xfrm>
                <a:off x="2972" y="1939"/>
                <a:ext cx="588" cy="588"/>
                <a:chOff x="2972" y="1939"/>
                <a:chExt cx="588" cy="588"/>
              </a:xfrm>
            </p:grpSpPr>
            <p:sp>
              <p:nvSpPr>
                <p:cNvPr id="50" name="Freeform 52"/>
                <p:cNvSpPr>
                  <a:spLocks noChangeArrowheads="1"/>
                </p:cNvSpPr>
                <p:nvPr/>
              </p:nvSpPr>
              <p:spPr bwMode="auto">
                <a:xfrm>
                  <a:off x="2972" y="2303"/>
                  <a:ext cx="224" cy="224"/>
                </a:xfrm>
                <a:custGeom>
                  <a:avLst/>
                  <a:gdLst>
                    <a:gd name="T0" fmla="*/ 0 w 672"/>
                    <a:gd name="T1" fmla="*/ 670 h 670"/>
                    <a:gd name="T2" fmla="*/ 670 w 672"/>
                    <a:gd name="T3" fmla="*/ 0 h 670"/>
                    <a:gd name="T4" fmla="*/ 672 w 672"/>
                    <a:gd name="T5" fmla="*/ 0 h 6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72" h="670">
                      <a:moveTo>
                        <a:pt x="0" y="670"/>
                      </a:moveTo>
                      <a:lnTo>
                        <a:pt x="670" y="0"/>
                      </a:lnTo>
                      <a:lnTo>
                        <a:pt x="672" y="0"/>
                      </a:lnTo>
                    </a:path>
                  </a:pathLst>
                </a:cu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1" name="Freeform 53"/>
                <p:cNvSpPr>
                  <a:spLocks noChangeArrowheads="1"/>
                </p:cNvSpPr>
                <p:nvPr/>
              </p:nvSpPr>
              <p:spPr bwMode="auto">
                <a:xfrm>
                  <a:off x="3213" y="2272"/>
                  <a:ext cx="14" cy="14"/>
                </a:xfrm>
                <a:custGeom>
                  <a:avLst/>
                  <a:gdLst>
                    <a:gd name="T0" fmla="*/ 0 w 43"/>
                    <a:gd name="T1" fmla="*/ 41 h 41"/>
                    <a:gd name="T2" fmla="*/ 41 w 43"/>
                    <a:gd name="T3" fmla="*/ 0 h 41"/>
                    <a:gd name="T4" fmla="*/ 43 w 43"/>
                    <a:gd name="T5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3" h="41">
                      <a:moveTo>
                        <a:pt x="0" y="41"/>
                      </a:moveTo>
                      <a:lnTo>
                        <a:pt x="41" y="0"/>
                      </a:lnTo>
                      <a:lnTo>
                        <a:pt x="43" y="0"/>
                      </a:lnTo>
                    </a:path>
                  </a:pathLst>
                </a:cu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2" name="Freeform 54"/>
                <p:cNvSpPr>
                  <a:spLocks noChangeArrowheads="1"/>
                </p:cNvSpPr>
                <p:nvPr/>
              </p:nvSpPr>
              <p:spPr bwMode="auto">
                <a:xfrm>
                  <a:off x="3244" y="1939"/>
                  <a:ext cx="316" cy="316"/>
                </a:xfrm>
                <a:custGeom>
                  <a:avLst/>
                  <a:gdLst>
                    <a:gd name="T0" fmla="*/ 0 w 946"/>
                    <a:gd name="T1" fmla="*/ 947 h 947"/>
                    <a:gd name="T2" fmla="*/ 945 w 946"/>
                    <a:gd name="T3" fmla="*/ 0 h 947"/>
                    <a:gd name="T4" fmla="*/ 946 w 946"/>
                    <a:gd name="T5" fmla="*/ 0 h 9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46" h="947">
                      <a:moveTo>
                        <a:pt x="0" y="947"/>
                      </a:moveTo>
                      <a:lnTo>
                        <a:pt x="945" y="0"/>
                      </a:lnTo>
                      <a:lnTo>
                        <a:pt x="946" y="0"/>
                      </a:lnTo>
                    </a:path>
                  </a:pathLst>
                </a:cu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</p:grpSp>
      </p:grpSp>
      <p:grpSp>
        <p:nvGrpSpPr>
          <p:cNvPr id="57" name="Group 55"/>
          <p:cNvGrpSpPr>
            <a:grpSpLocks/>
          </p:cNvGrpSpPr>
          <p:nvPr/>
        </p:nvGrpSpPr>
        <p:grpSpPr bwMode="auto">
          <a:xfrm>
            <a:off x="2757922" y="2302098"/>
            <a:ext cx="633413" cy="522288"/>
            <a:chOff x="3831" y="912"/>
            <a:chExt cx="399" cy="329"/>
          </a:xfrm>
        </p:grpSpPr>
        <p:sp>
          <p:nvSpPr>
            <p:cNvPr id="58" name="Line 56"/>
            <p:cNvSpPr>
              <a:spLocks noChangeShapeType="1"/>
            </p:cNvSpPr>
            <p:nvPr/>
          </p:nvSpPr>
          <p:spPr bwMode="auto">
            <a:xfrm>
              <a:off x="4061" y="1072"/>
              <a:ext cx="169" cy="1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none" w="sm" len="lg"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" name="Text Box 57"/>
            <p:cNvSpPr txBox="1">
              <a:spLocks noChangeArrowheads="1"/>
            </p:cNvSpPr>
            <p:nvPr/>
          </p:nvSpPr>
          <p:spPr bwMode="auto">
            <a:xfrm>
              <a:off x="3831" y="912"/>
              <a:ext cx="2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i="1">
                  <a:latin typeface="宋体" panose="02010600030101010101" pitchFamily="2" charset="-122"/>
                </a:rPr>
                <a:t>A</a:t>
              </a:r>
              <a:endParaRPr lang="en-US" altLang="zh-CN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60" name="Group 58"/>
          <p:cNvGrpSpPr>
            <a:grpSpLocks/>
          </p:cNvGrpSpPr>
          <p:nvPr/>
        </p:nvGrpSpPr>
        <p:grpSpPr bwMode="auto">
          <a:xfrm>
            <a:off x="2464235" y="3084736"/>
            <a:ext cx="2386012" cy="1257300"/>
            <a:chOff x="801" y="1575"/>
            <a:chExt cx="1503" cy="792"/>
          </a:xfrm>
        </p:grpSpPr>
        <p:sp>
          <p:nvSpPr>
            <p:cNvPr id="61" name="Freeform 59"/>
            <p:cNvSpPr>
              <a:spLocks noChangeArrowheads="1"/>
            </p:cNvSpPr>
            <p:nvPr/>
          </p:nvSpPr>
          <p:spPr bwMode="auto">
            <a:xfrm>
              <a:off x="1073" y="1607"/>
              <a:ext cx="1231" cy="760"/>
            </a:xfrm>
            <a:custGeom>
              <a:avLst/>
              <a:gdLst>
                <a:gd name="T0" fmla="*/ 0 w 1231"/>
                <a:gd name="T1" fmla="*/ 568 h 760"/>
                <a:gd name="T2" fmla="*/ 0 w 1231"/>
                <a:gd name="T3" fmla="*/ 760 h 760"/>
                <a:gd name="T4" fmla="*/ 847 w 1231"/>
                <a:gd name="T5" fmla="*/ 753 h 760"/>
                <a:gd name="T6" fmla="*/ 1167 w 1231"/>
                <a:gd name="T7" fmla="*/ 433 h 760"/>
                <a:gd name="T8" fmla="*/ 1207 w 1231"/>
                <a:gd name="T9" fmla="*/ 353 h 760"/>
                <a:gd name="T10" fmla="*/ 1231 w 1231"/>
                <a:gd name="T11" fmla="*/ 265 h 760"/>
                <a:gd name="T12" fmla="*/ 1231 w 1231"/>
                <a:gd name="T13" fmla="*/ 185 h 760"/>
                <a:gd name="T14" fmla="*/ 1223 w 1231"/>
                <a:gd name="T15" fmla="*/ 129 h 760"/>
                <a:gd name="T16" fmla="*/ 1088 w 1231"/>
                <a:gd name="T17" fmla="*/ 0 h 760"/>
                <a:gd name="T18" fmla="*/ 1064 w 1231"/>
                <a:gd name="T19" fmla="*/ 72 h 760"/>
                <a:gd name="T20" fmla="*/ 1112 w 1231"/>
                <a:gd name="T21" fmla="*/ 128 h 760"/>
                <a:gd name="T22" fmla="*/ 1096 w 1231"/>
                <a:gd name="T23" fmla="*/ 184 h 760"/>
                <a:gd name="T24" fmla="*/ 1056 w 1231"/>
                <a:gd name="T25" fmla="*/ 248 h 760"/>
                <a:gd name="T26" fmla="*/ 1024 w 1231"/>
                <a:gd name="T27" fmla="*/ 320 h 760"/>
                <a:gd name="T28" fmla="*/ 768 w 1231"/>
                <a:gd name="T29" fmla="*/ 576 h 760"/>
                <a:gd name="T30" fmla="*/ 0 w 1231"/>
                <a:gd name="T31" fmla="*/ 568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31" h="760">
                  <a:moveTo>
                    <a:pt x="0" y="568"/>
                  </a:moveTo>
                  <a:lnTo>
                    <a:pt x="0" y="760"/>
                  </a:lnTo>
                  <a:lnTo>
                    <a:pt x="847" y="753"/>
                  </a:lnTo>
                  <a:lnTo>
                    <a:pt x="1167" y="433"/>
                  </a:lnTo>
                  <a:lnTo>
                    <a:pt x="1207" y="353"/>
                  </a:lnTo>
                  <a:lnTo>
                    <a:pt x="1231" y="265"/>
                  </a:lnTo>
                  <a:lnTo>
                    <a:pt x="1231" y="185"/>
                  </a:lnTo>
                  <a:lnTo>
                    <a:pt x="1223" y="129"/>
                  </a:lnTo>
                  <a:lnTo>
                    <a:pt x="1088" y="0"/>
                  </a:lnTo>
                  <a:lnTo>
                    <a:pt x="1064" y="72"/>
                  </a:lnTo>
                  <a:lnTo>
                    <a:pt x="1112" y="128"/>
                  </a:lnTo>
                  <a:lnTo>
                    <a:pt x="1096" y="184"/>
                  </a:lnTo>
                  <a:lnTo>
                    <a:pt x="1056" y="248"/>
                  </a:lnTo>
                  <a:lnTo>
                    <a:pt x="1024" y="320"/>
                  </a:lnTo>
                  <a:lnTo>
                    <a:pt x="768" y="576"/>
                  </a:lnTo>
                  <a:lnTo>
                    <a:pt x="0" y="568"/>
                  </a:lnTo>
                  <a:close/>
                </a:path>
              </a:pathLst>
            </a:custGeom>
            <a:gradFill rotWithShape="0">
              <a:gsLst>
                <a:gs pos="0">
                  <a:srgbClr val="00CC99"/>
                </a:gs>
                <a:gs pos="100000">
                  <a:srgbClr val="005E47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2" name="Freeform 60"/>
            <p:cNvSpPr>
              <a:spLocks noChangeArrowheads="1"/>
            </p:cNvSpPr>
            <p:nvPr/>
          </p:nvSpPr>
          <p:spPr bwMode="auto">
            <a:xfrm>
              <a:off x="1561" y="1575"/>
              <a:ext cx="632" cy="616"/>
            </a:xfrm>
            <a:custGeom>
              <a:avLst/>
              <a:gdLst>
                <a:gd name="T0" fmla="*/ 0 w 632"/>
                <a:gd name="T1" fmla="*/ 336 h 616"/>
                <a:gd name="T2" fmla="*/ 208 w 632"/>
                <a:gd name="T3" fmla="*/ 128 h 616"/>
                <a:gd name="T4" fmla="*/ 272 w 632"/>
                <a:gd name="T5" fmla="*/ 72 h 616"/>
                <a:gd name="T6" fmla="*/ 344 w 632"/>
                <a:gd name="T7" fmla="*/ 24 h 616"/>
                <a:gd name="T8" fmla="*/ 416 w 632"/>
                <a:gd name="T9" fmla="*/ 0 h 616"/>
                <a:gd name="T10" fmla="*/ 504 w 632"/>
                <a:gd name="T11" fmla="*/ 0 h 616"/>
                <a:gd name="T12" fmla="*/ 592 w 632"/>
                <a:gd name="T13" fmla="*/ 32 h 616"/>
                <a:gd name="T14" fmla="*/ 632 w 632"/>
                <a:gd name="T15" fmla="*/ 112 h 616"/>
                <a:gd name="T16" fmla="*/ 624 w 632"/>
                <a:gd name="T17" fmla="*/ 192 h 616"/>
                <a:gd name="T18" fmla="*/ 592 w 632"/>
                <a:gd name="T19" fmla="*/ 264 h 616"/>
                <a:gd name="T20" fmla="*/ 552 w 632"/>
                <a:gd name="T21" fmla="*/ 336 h 616"/>
                <a:gd name="T22" fmla="*/ 528 w 632"/>
                <a:gd name="T23" fmla="*/ 376 h 616"/>
                <a:gd name="T24" fmla="*/ 288 w 632"/>
                <a:gd name="T25" fmla="*/ 616 h 616"/>
                <a:gd name="T26" fmla="*/ 0 w 632"/>
                <a:gd name="T27" fmla="*/ 33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32" h="616">
                  <a:moveTo>
                    <a:pt x="0" y="336"/>
                  </a:moveTo>
                  <a:lnTo>
                    <a:pt x="208" y="128"/>
                  </a:lnTo>
                  <a:lnTo>
                    <a:pt x="272" y="72"/>
                  </a:lnTo>
                  <a:lnTo>
                    <a:pt x="344" y="24"/>
                  </a:lnTo>
                  <a:lnTo>
                    <a:pt x="416" y="0"/>
                  </a:lnTo>
                  <a:lnTo>
                    <a:pt x="504" y="0"/>
                  </a:lnTo>
                  <a:lnTo>
                    <a:pt x="592" y="32"/>
                  </a:lnTo>
                  <a:lnTo>
                    <a:pt x="632" y="112"/>
                  </a:lnTo>
                  <a:lnTo>
                    <a:pt x="624" y="192"/>
                  </a:lnTo>
                  <a:lnTo>
                    <a:pt x="592" y="264"/>
                  </a:lnTo>
                  <a:lnTo>
                    <a:pt x="552" y="336"/>
                  </a:lnTo>
                  <a:lnTo>
                    <a:pt x="528" y="376"/>
                  </a:lnTo>
                  <a:lnTo>
                    <a:pt x="288" y="616"/>
                  </a:lnTo>
                  <a:lnTo>
                    <a:pt x="0" y="336"/>
                  </a:lnTo>
                  <a:close/>
                </a:path>
              </a:pathLst>
            </a:custGeom>
            <a:gradFill rotWithShape="0">
              <a:gsLst>
                <a:gs pos="0">
                  <a:srgbClr val="005E00"/>
                </a:gs>
                <a:gs pos="100000">
                  <a:srgbClr val="00CC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3" name="Freeform 61"/>
            <p:cNvSpPr>
              <a:spLocks noChangeArrowheads="1"/>
            </p:cNvSpPr>
            <p:nvPr/>
          </p:nvSpPr>
          <p:spPr bwMode="auto">
            <a:xfrm>
              <a:off x="801" y="1911"/>
              <a:ext cx="1048" cy="280"/>
            </a:xfrm>
            <a:custGeom>
              <a:avLst/>
              <a:gdLst>
                <a:gd name="T0" fmla="*/ 0 w 1048"/>
                <a:gd name="T1" fmla="*/ 0 h 280"/>
                <a:gd name="T2" fmla="*/ 768 w 1048"/>
                <a:gd name="T3" fmla="*/ 0 h 280"/>
                <a:gd name="T4" fmla="*/ 1048 w 1048"/>
                <a:gd name="T5" fmla="*/ 280 h 280"/>
                <a:gd name="T6" fmla="*/ 272 w 1048"/>
                <a:gd name="T7" fmla="*/ 280 h 280"/>
                <a:gd name="T8" fmla="*/ 0 w 1048"/>
                <a:gd name="T9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8" h="280">
                  <a:moveTo>
                    <a:pt x="0" y="0"/>
                  </a:moveTo>
                  <a:lnTo>
                    <a:pt x="768" y="0"/>
                  </a:lnTo>
                  <a:lnTo>
                    <a:pt x="1048" y="280"/>
                  </a:lnTo>
                  <a:lnTo>
                    <a:pt x="272" y="28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rgbClr val="00CC00"/>
                </a:gs>
                <a:gs pos="100000">
                  <a:srgbClr val="005E00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4" name="Freeform 62"/>
            <p:cNvSpPr>
              <a:spLocks noChangeArrowheads="1"/>
            </p:cNvSpPr>
            <p:nvPr/>
          </p:nvSpPr>
          <p:spPr bwMode="auto">
            <a:xfrm>
              <a:off x="1090" y="1973"/>
              <a:ext cx="487" cy="162"/>
            </a:xfrm>
            <a:custGeom>
              <a:avLst/>
              <a:gdLst>
                <a:gd name="T0" fmla="*/ 0 w 1460"/>
                <a:gd name="T1" fmla="*/ 155 h 487"/>
                <a:gd name="T2" fmla="*/ 8 w 1460"/>
                <a:gd name="T3" fmla="*/ 198 h 487"/>
                <a:gd name="T4" fmla="*/ 41 w 1460"/>
                <a:gd name="T5" fmla="*/ 245 h 487"/>
                <a:gd name="T6" fmla="*/ 101 w 1460"/>
                <a:gd name="T7" fmla="*/ 291 h 487"/>
                <a:gd name="T8" fmla="*/ 182 w 1460"/>
                <a:gd name="T9" fmla="*/ 335 h 487"/>
                <a:gd name="T10" fmla="*/ 283 w 1460"/>
                <a:gd name="T11" fmla="*/ 377 h 487"/>
                <a:gd name="T12" fmla="*/ 402 w 1460"/>
                <a:gd name="T13" fmla="*/ 412 h 487"/>
                <a:gd name="T14" fmla="*/ 531 w 1460"/>
                <a:gd name="T15" fmla="*/ 443 h 487"/>
                <a:gd name="T16" fmla="*/ 668 w 1460"/>
                <a:gd name="T17" fmla="*/ 466 h 487"/>
                <a:gd name="T18" fmla="*/ 807 w 1460"/>
                <a:gd name="T19" fmla="*/ 482 h 487"/>
                <a:gd name="T20" fmla="*/ 943 w 1460"/>
                <a:gd name="T21" fmla="*/ 487 h 487"/>
                <a:gd name="T22" fmla="*/ 1072 w 1460"/>
                <a:gd name="T23" fmla="*/ 486 h 487"/>
                <a:gd name="T24" fmla="*/ 1187 w 1460"/>
                <a:gd name="T25" fmla="*/ 474 h 487"/>
                <a:gd name="T26" fmla="*/ 1287 w 1460"/>
                <a:gd name="T27" fmla="*/ 455 h 487"/>
                <a:gd name="T28" fmla="*/ 1367 w 1460"/>
                <a:gd name="T29" fmla="*/ 427 h 487"/>
                <a:gd name="T30" fmla="*/ 1423 w 1460"/>
                <a:gd name="T31" fmla="*/ 394 h 487"/>
                <a:gd name="T32" fmla="*/ 1455 w 1460"/>
                <a:gd name="T33" fmla="*/ 355 h 487"/>
                <a:gd name="T34" fmla="*/ 1460 w 1460"/>
                <a:gd name="T35" fmla="*/ 311 h 487"/>
                <a:gd name="T36" fmla="*/ 1439 w 1460"/>
                <a:gd name="T37" fmla="*/ 266 h 487"/>
                <a:gd name="T38" fmla="*/ 1392 w 1460"/>
                <a:gd name="T39" fmla="*/ 220 h 487"/>
                <a:gd name="T40" fmla="*/ 1322 w 1460"/>
                <a:gd name="T41" fmla="*/ 174 h 487"/>
                <a:gd name="T42" fmla="*/ 1230 w 1460"/>
                <a:gd name="T43" fmla="*/ 131 h 487"/>
                <a:gd name="T44" fmla="*/ 1120 w 1460"/>
                <a:gd name="T45" fmla="*/ 92 h 487"/>
                <a:gd name="T46" fmla="*/ 996 w 1460"/>
                <a:gd name="T47" fmla="*/ 59 h 487"/>
                <a:gd name="T48" fmla="*/ 862 w 1460"/>
                <a:gd name="T49" fmla="*/ 32 h 487"/>
                <a:gd name="T50" fmla="*/ 723 w 1460"/>
                <a:gd name="T51" fmla="*/ 14 h 487"/>
                <a:gd name="T52" fmla="*/ 585 w 1460"/>
                <a:gd name="T53" fmla="*/ 2 h 487"/>
                <a:gd name="T54" fmla="*/ 452 w 1460"/>
                <a:gd name="T55" fmla="*/ 0 h 487"/>
                <a:gd name="T56" fmla="*/ 330 w 1460"/>
                <a:gd name="T57" fmla="*/ 7 h 487"/>
                <a:gd name="T58" fmla="*/ 221 w 1460"/>
                <a:gd name="T59" fmla="*/ 23 h 487"/>
                <a:gd name="T60" fmla="*/ 130 w 1460"/>
                <a:gd name="T61" fmla="*/ 46 h 487"/>
                <a:gd name="T62" fmla="*/ 63 w 1460"/>
                <a:gd name="T63" fmla="*/ 76 h 487"/>
                <a:gd name="T64" fmla="*/ 19 w 1460"/>
                <a:gd name="T65" fmla="*/ 113 h 487"/>
                <a:gd name="T66" fmla="*/ 0 w 1460"/>
                <a:gd name="T67" fmla="*/ 155 h 487"/>
                <a:gd name="T68" fmla="*/ 1 w 1460"/>
                <a:gd name="T69" fmla="*/ 155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60" h="487">
                  <a:moveTo>
                    <a:pt x="0" y="155"/>
                  </a:moveTo>
                  <a:lnTo>
                    <a:pt x="8" y="198"/>
                  </a:lnTo>
                  <a:lnTo>
                    <a:pt x="41" y="245"/>
                  </a:lnTo>
                  <a:lnTo>
                    <a:pt x="101" y="291"/>
                  </a:lnTo>
                  <a:lnTo>
                    <a:pt x="182" y="335"/>
                  </a:lnTo>
                  <a:lnTo>
                    <a:pt x="283" y="377"/>
                  </a:lnTo>
                  <a:lnTo>
                    <a:pt x="402" y="412"/>
                  </a:lnTo>
                  <a:lnTo>
                    <a:pt x="531" y="443"/>
                  </a:lnTo>
                  <a:lnTo>
                    <a:pt x="668" y="466"/>
                  </a:lnTo>
                  <a:lnTo>
                    <a:pt x="807" y="482"/>
                  </a:lnTo>
                  <a:lnTo>
                    <a:pt x="943" y="487"/>
                  </a:lnTo>
                  <a:lnTo>
                    <a:pt x="1072" y="486"/>
                  </a:lnTo>
                  <a:lnTo>
                    <a:pt x="1187" y="474"/>
                  </a:lnTo>
                  <a:lnTo>
                    <a:pt x="1287" y="455"/>
                  </a:lnTo>
                  <a:lnTo>
                    <a:pt x="1367" y="427"/>
                  </a:lnTo>
                  <a:lnTo>
                    <a:pt x="1423" y="394"/>
                  </a:lnTo>
                  <a:lnTo>
                    <a:pt x="1455" y="355"/>
                  </a:lnTo>
                  <a:lnTo>
                    <a:pt x="1460" y="311"/>
                  </a:lnTo>
                  <a:lnTo>
                    <a:pt x="1439" y="266"/>
                  </a:lnTo>
                  <a:lnTo>
                    <a:pt x="1392" y="220"/>
                  </a:lnTo>
                  <a:lnTo>
                    <a:pt x="1322" y="174"/>
                  </a:lnTo>
                  <a:lnTo>
                    <a:pt x="1230" y="131"/>
                  </a:lnTo>
                  <a:lnTo>
                    <a:pt x="1120" y="92"/>
                  </a:lnTo>
                  <a:lnTo>
                    <a:pt x="996" y="59"/>
                  </a:lnTo>
                  <a:lnTo>
                    <a:pt x="862" y="32"/>
                  </a:lnTo>
                  <a:lnTo>
                    <a:pt x="723" y="14"/>
                  </a:lnTo>
                  <a:lnTo>
                    <a:pt x="585" y="2"/>
                  </a:lnTo>
                  <a:lnTo>
                    <a:pt x="452" y="0"/>
                  </a:lnTo>
                  <a:lnTo>
                    <a:pt x="330" y="7"/>
                  </a:lnTo>
                  <a:lnTo>
                    <a:pt x="221" y="23"/>
                  </a:lnTo>
                  <a:lnTo>
                    <a:pt x="130" y="46"/>
                  </a:lnTo>
                  <a:lnTo>
                    <a:pt x="63" y="76"/>
                  </a:lnTo>
                  <a:lnTo>
                    <a:pt x="19" y="113"/>
                  </a:lnTo>
                  <a:lnTo>
                    <a:pt x="0" y="155"/>
                  </a:lnTo>
                  <a:lnTo>
                    <a:pt x="1" y="155"/>
                  </a:lnTo>
                </a:path>
              </a:pathLst>
            </a:custGeom>
            <a:gradFill rotWithShape="0">
              <a:gsLst>
                <a:gs pos="0">
                  <a:srgbClr val="765E00"/>
                </a:gs>
                <a:gs pos="50000">
                  <a:srgbClr val="FFCC00"/>
                </a:gs>
                <a:gs pos="100000">
                  <a:srgbClr val="765E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5" name="Freeform 63"/>
            <p:cNvSpPr>
              <a:spLocks noChangeArrowheads="1"/>
            </p:cNvSpPr>
            <p:nvPr/>
          </p:nvSpPr>
          <p:spPr bwMode="auto">
            <a:xfrm>
              <a:off x="1753" y="1688"/>
              <a:ext cx="317" cy="318"/>
            </a:xfrm>
            <a:custGeom>
              <a:avLst/>
              <a:gdLst>
                <a:gd name="T0" fmla="*/ 877 w 952"/>
                <a:gd name="T1" fmla="*/ 75 h 953"/>
                <a:gd name="T2" fmla="*/ 822 w 952"/>
                <a:gd name="T3" fmla="*/ 34 h 953"/>
                <a:gd name="T4" fmla="*/ 752 w 952"/>
                <a:gd name="T5" fmla="*/ 9 h 953"/>
                <a:gd name="T6" fmla="*/ 674 w 952"/>
                <a:gd name="T7" fmla="*/ 0 h 953"/>
                <a:gd name="T8" fmla="*/ 589 w 952"/>
                <a:gd name="T9" fmla="*/ 9 h 953"/>
                <a:gd name="T10" fmla="*/ 499 w 952"/>
                <a:gd name="T11" fmla="*/ 34 h 953"/>
                <a:gd name="T12" fmla="*/ 408 w 952"/>
                <a:gd name="T13" fmla="*/ 77 h 953"/>
                <a:gd name="T14" fmla="*/ 320 w 952"/>
                <a:gd name="T15" fmla="*/ 132 h 953"/>
                <a:gd name="T16" fmla="*/ 238 w 952"/>
                <a:gd name="T17" fmla="*/ 202 h 953"/>
                <a:gd name="T18" fmla="*/ 164 w 952"/>
                <a:gd name="T19" fmla="*/ 280 h 953"/>
                <a:gd name="T20" fmla="*/ 101 w 952"/>
                <a:gd name="T21" fmla="*/ 366 h 953"/>
                <a:gd name="T22" fmla="*/ 52 w 952"/>
                <a:gd name="T23" fmla="*/ 456 h 953"/>
                <a:gd name="T24" fmla="*/ 17 w 952"/>
                <a:gd name="T25" fmla="*/ 546 h 953"/>
                <a:gd name="T26" fmla="*/ 0 w 952"/>
                <a:gd name="T27" fmla="*/ 635 h 953"/>
                <a:gd name="T28" fmla="*/ 0 w 952"/>
                <a:gd name="T29" fmla="*/ 717 h 953"/>
                <a:gd name="T30" fmla="*/ 17 w 952"/>
                <a:gd name="T31" fmla="*/ 791 h 953"/>
                <a:gd name="T32" fmla="*/ 51 w 952"/>
                <a:gd name="T33" fmla="*/ 853 h 953"/>
                <a:gd name="T34" fmla="*/ 100 w 952"/>
                <a:gd name="T35" fmla="*/ 902 h 953"/>
                <a:gd name="T36" fmla="*/ 162 w 952"/>
                <a:gd name="T37" fmla="*/ 935 h 953"/>
                <a:gd name="T38" fmla="*/ 235 w 952"/>
                <a:gd name="T39" fmla="*/ 953 h 953"/>
                <a:gd name="T40" fmla="*/ 318 w 952"/>
                <a:gd name="T41" fmla="*/ 953 h 953"/>
                <a:gd name="T42" fmla="*/ 407 w 952"/>
                <a:gd name="T43" fmla="*/ 935 h 953"/>
                <a:gd name="T44" fmla="*/ 497 w 952"/>
                <a:gd name="T45" fmla="*/ 902 h 953"/>
                <a:gd name="T46" fmla="*/ 586 w 952"/>
                <a:gd name="T47" fmla="*/ 852 h 953"/>
                <a:gd name="T48" fmla="*/ 673 w 952"/>
                <a:gd name="T49" fmla="*/ 789 h 953"/>
                <a:gd name="T50" fmla="*/ 751 w 952"/>
                <a:gd name="T51" fmla="*/ 716 h 953"/>
                <a:gd name="T52" fmla="*/ 820 w 952"/>
                <a:gd name="T53" fmla="*/ 632 h 953"/>
                <a:gd name="T54" fmla="*/ 876 w 952"/>
                <a:gd name="T55" fmla="*/ 545 h 953"/>
                <a:gd name="T56" fmla="*/ 917 w 952"/>
                <a:gd name="T57" fmla="*/ 454 h 953"/>
                <a:gd name="T58" fmla="*/ 944 w 952"/>
                <a:gd name="T59" fmla="*/ 364 h 953"/>
                <a:gd name="T60" fmla="*/ 952 w 952"/>
                <a:gd name="T61" fmla="*/ 279 h 953"/>
                <a:gd name="T62" fmla="*/ 944 w 952"/>
                <a:gd name="T63" fmla="*/ 200 h 953"/>
                <a:gd name="T64" fmla="*/ 919 w 952"/>
                <a:gd name="T65" fmla="*/ 131 h 953"/>
                <a:gd name="T66" fmla="*/ 877 w 952"/>
                <a:gd name="T67" fmla="*/ 75 h 953"/>
                <a:gd name="T68" fmla="*/ 879 w 952"/>
                <a:gd name="T69" fmla="*/ 75 h 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52" h="953">
                  <a:moveTo>
                    <a:pt x="877" y="75"/>
                  </a:moveTo>
                  <a:lnTo>
                    <a:pt x="822" y="34"/>
                  </a:lnTo>
                  <a:lnTo>
                    <a:pt x="752" y="9"/>
                  </a:lnTo>
                  <a:lnTo>
                    <a:pt x="674" y="0"/>
                  </a:lnTo>
                  <a:lnTo>
                    <a:pt x="589" y="9"/>
                  </a:lnTo>
                  <a:lnTo>
                    <a:pt x="499" y="34"/>
                  </a:lnTo>
                  <a:lnTo>
                    <a:pt x="408" y="77"/>
                  </a:lnTo>
                  <a:lnTo>
                    <a:pt x="320" y="132"/>
                  </a:lnTo>
                  <a:lnTo>
                    <a:pt x="238" y="202"/>
                  </a:lnTo>
                  <a:lnTo>
                    <a:pt x="164" y="280"/>
                  </a:lnTo>
                  <a:lnTo>
                    <a:pt x="101" y="366"/>
                  </a:lnTo>
                  <a:lnTo>
                    <a:pt x="52" y="456"/>
                  </a:lnTo>
                  <a:lnTo>
                    <a:pt x="17" y="546"/>
                  </a:lnTo>
                  <a:lnTo>
                    <a:pt x="0" y="635"/>
                  </a:lnTo>
                  <a:lnTo>
                    <a:pt x="0" y="717"/>
                  </a:lnTo>
                  <a:lnTo>
                    <a:pt x="17" y="791"/>
                  </a:lnTo>
                  <a:lnTo>
                    <a:pt x="51" y="853"/>
                  </a:lnTo>
                  <a:lnTo>
                    <a:pt x="100" y="902"/>
                  </a:lnTo>
                  <a:lnTo>
                    <a:pt x="162" y="935"/>
                  </a:lnTo>
                  <a:lnTo>
                    <a:pt x="235" y="953"/>
                  </a:lnTo>
                  <a:lnTo>
                    <a:pt x="318" y="953"/>
                  </a:lnTo>
                  <a:lnTo>
                    <a:pt x="407" y="935"/>
                  </a:lnTo>
                  <a:lnTo>
                    <a:pt x="497" y="902"/>
                  </a:lnTo>
                  <a:lnTo>
                    <a:pt x="586" y="852"/>
                  </a:lnTo>
                  <a:lnTo>
                    <a:pt x="673" y="789"/>
                  </a:lnTo>
                  <a:lnTo>
                    <a:pt x="751" y="716"/>
                  </a:lnTo>
                  <a:lnTo>
                    <a:pt x="820" y="632"/>
                  </a:lnTo>
                  <a:lnTo>
                    <a:pt x="876" y="545"/>
                  </a:lnTo>
                  <a:lnTo>
                    <a:pt x="917" y="454"/>
                  </a:lnTo>
                  <a:lnTo>
                    <a:pt x="944" y="364"/>
                  </a:lnTo>
                  <a:lnTo>
                    <a:pt x="952" y="279"/>
                  </a:lnTo>
                  <a:lnTo>
                    <a:pt x="944" y="200"/>
                  </a:lnTo>
                  <a:lnTo>
                    <a:pt x="919" y="131"/>
                  </a:lnTo>
                  <a:lnTo>
                    <a:pt x="877" y="75"/>
                  </a:lnTo>
                  <a:lnTo>
                    <a:pt x="879" y="75"/>
                  </a:lnTo>
                </a:path>
              </a:pathLst>
            </a:custGeom>
            <a:gradFill rotWithShape="0">
              <a:gsLst>
                <a:gs pos="0">
                  <a:srgbClr val="765E00"/>
                </a:gs>
                <a:gs pos="50000">
                  <a:srgbClr val="FFCC00"/>
                </a:gs>
                <a:gs pos="100000">
                  <a:srgbClr val="765E00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6" name="Freeform 64"/>
            <p:cNvSpPr>
              <a:spLocks noChangeArrowheads="1"/>
            </p:cNvSpPr>
            <p:nvPr/>
          </p:nvSpPr>
          <p:spPr bwMode="auto">
            <a:xfrm>
              <a:off x="1229" y="2107"/>
              <a:ext cx="196" cy="32"/>
            </a:xfrm>
            <a:custGeom>
              <a:avLst/>
              <a:gdLst>
                <a:gd name="T0" fmla="*/ 0 w 196"/>
                <a:gd name="T1" fmla="*/ 4 h 32"/>
                <a:gd name="T2" fmla="*/ 52 w 196"/>
                <a:gd name="T3" fmla="*/ 0 h 32"/>
                <a:gd name="T4" fmla="*/ 92 w 196"/>
                <a:gd name="T5" fmla="*/ 4 h 32"/>
                <a:gd name="T6" fmla="*/ 152 w 196"/>
                <a:gd name="T7" fmla="*/ 16 h 32"/>
                <a:gd name="T8" fmla="*/ 196 w 196"/>
                <a:gd name="T9" fmla="*/ 28 h 32"/>
                <a:gd name="T10" fmla="*/ 156 w 196"/>
                <a:gd name="T11" fmla="*/ 32 h 32"/>
                <a:gd name="T12" fmla="*/ 116 w 196"/>
                <a:gd name="T13" fmla="*/ 28 h 32"/>
                <a:gd name="T14" fmla="*/ 80 w 196"/>
                <a:gd name="T15" fmla="*/ 20 h 32"/>
                <a:gd name="T16" fmla="*/ 32 w 196"/>
                <a:gd name="T17" fmla="*/ 16 h 32"/>
                <a:gd name="T18" fmla="*/ 0 w 196"/>
                <a:gd name="T1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6" h="32">
                  <a:moveTo>
                    <a:pt x="0" y="4"/>
                  </a:moveTo>
                  <a:lnTo>
                    <a:pt x="52" y="0"/>
                  </a:lnTo>
                  <a:lnTo>
                    <a:pt x="92" y="4"/>
                  </a:lnTo>
                  <a:lnTo>
                    <a:pt x="152" y="16"/>
                  </a:lnTo>
                  <a:lnTo>
                    <a:pt x="196" y="28"/>
                  </a:lnTo>
                  <a:lnTo>
                    <a:pt x="156" y="32"/>
                  </a:lnTo>
                  <a:lnTo>
                    <a:pt x="116" y="28"/>
                  </a:lnTo>
                  <a:lnTo>
                    <a:pt x="80" y="20"/>
                  </a:lnTo>
                  <a:lnTo>
                    <a:pt x="32" y="16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7" name="Freeform 65"/>
            <p:cNvSpPr>
              <a:spLocks noChangeArrowheads="1"/>
            </p:cNvSpPr>
            <p:nvPr/>
          </p:nvSpPr>
          <p:spPr bwMode="auto">
            <a:xfrm>
              <a:off x="1833" y="1767"/>
              <a:ext cx="232" cy="240"/>
            </a:xfrm>
            <a:custGeom>
              <a:avLst/>
              <a:gdLst>
                <a:gd name="T0" fmla="*/ 232 w 232"/>
                <a:gd name="T1" fmla="*/ 0 h 240"/>
                <a:gd name="T2" fmla="*/ 184 w 232"/>
                <a:gd name="T3" fmla="*/ 0 h 240"/>
                <a:gd name="T4" fmla="*/ 104 w 232"/>
                <a:gd name="T5" fmla="*/ 32 h 240"/>
                <a:gd name="T6" fmla="*/ 40 w 232"/>
                <a:gd name="T7" fmla="*/ 96 h 240"/>
                <a:gd name="T8" fmla="*/ 0 w 232"/>
                <a:gd name="T9" fmla="*/ 168 h 240"/>
                <a:gd name="T10" fmla="*/ 0 w 232"/>
                <a:gd name="T11" fmla="*/ 240 h 240"/>
                <a:gd name="T12" fmla="*/ 64 w 232"/>
                <a:gd name="T13" fmla="*/ 232 h 240"/>
                <a:gd name="T14" fmla="*/ 128 w 232"/>
                <a:gd name="T15" fmla="*/ 200 h 240"/>
                <a:gd name="T16" fmla="*/ 184 w 232"/>
                <a:gd name="T17" fmla="*/ 144 h 240"/>
                <a:gd name="T18" fmla="*/ 232 w 232"/>
                <a:gd name="T19" fmla="*/ 64 h 240"/>
                <a:gd name="T20" fmla="*/ 232 w 232"/>
                <a:gd name="T21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2" h="240">
                  <a:moveTo>
                    <a:pt x="232" y="0"/>
                  </a:moveTo>
                  <a:lnTo>
                    <a:pt x="184" y="0"/>
                  </a:lnTo>
                  <a:lnTo>
                    <a:pt x="104" y="32"/>
                  </a:lnTo>
                  <a:lnTo>
                    <a:pt x="40" y="96"/>
                  </a:lnTo>
                  <a:lnTo>
                    <a:pt x="0" y="168"/>
                  </a:lnTo>
                  <a:lnTo>
                    <a:pt x="0" y="240"/>
                  </a:lnTo>
                  <a:lnTo>
                    <a:pt x="64" y="232"/>
                  </a:lnTo>
                  <a:lnTo>
                    <a:pt x="128" y="200"/>
                  </a:lnTo>
                  <a:lnTo>
                    <a:pt x="184" y="144"/>
                  </a:lnTo>
                  <a:lnTo>
                    <a:pt x="232" y="64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66F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8" name="Freeform 66"/>
            <p:cNvSpPr>
              <a:spLocks noChangeArrowheads="1"/>
            </p:cNvSpPr>
            <p:nvPr/>
          </p:nvSpPr>
          <p:spPr bwMode="auto">
            <a:xfrm>
              <a:off x="801" y="1911"/>
              <a:ext cx="280" cy="456"/>
            </a:xfrm>
            <a:custGeom>
              <a:avLst/>
              <a:gdLst>
                <a:gd name="T0" fmla="*/ 0 w 280"/>
                <a:gd name="T1" fmla="*/ 0 h 456"/>
                <a:gd name="T2" fmla="*/ 280 w 280"/>
                <a:gd name="T3" fmla="*/ 272 h 456"/>
                <a:gd name="T4" fmla="*/ 280 w 280"/>
                <a:gd name="T5" fmla="*/ 456 h 456"/>
                <a:gd name="T6" fmla="*/ 0 w 280"/>
                <a:gd name="T7" fmla="*/ 176 h 456"/>
                <a:gd name="T8" fmla="*/ 0 w 280"/>
                <a:gd name="T9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0" h="456">
                  <a:moveTo>
                    <a:pt x="0" y="0"/>
                  </a:moveTo>
                  <a:lnTo>
                    <a:pt x="280" y="272"/>
                  </a:lnTo>
                  <a:lnTo>
                    <a:pt x="280" y="456"/>
                  </a:lnTo>
                  <a:lnTo>
                    <a:pt x="0" y="176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rgbClr val="005E47"/>
                </a:gs>
                <a:gs pos="100000">
                  <a:srgbClr val="00CC99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sp>
        <p:nvSpPr>
          <p:cNvPr id="69" name="AutoShape 67"/>
          <p:cNvSpPr>
            <a:spLocks noChangeArrowheads="1"/>
          </p:cNvSpPr>
          <p:nvPr/>
        </p:nvSpPr>
        <p:spPr bwMode="auto">
          <a:xfrm>
            <a:off x="5040747" y="2032223"/>
            <a:ext cx="5162550" cy="1028700"/>
          </a:xfrm>
          <a:prstGeom prst="cloudCallout">
            <a:avLst>
              <a:gd name="adj1" fmla="val -57227"/>
              <a:gd name="adj2" fmla="val 99074"/>
            </a:avLst>
          </a:prstGeom>
          <a:solidFill>
            <a:srgbClr val="CCFFFF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800" dirty="0">
                <a:latin typeface="华文细黑" panose="02010600040101010101" pitchFamily="2" charset="-122"/>
                <a:ea typeface="华文细黑" panose="02010600040101010101" pitchFamily="2" charset="-122"/>
              </a:rPr>
              <a:t>    </a:t>
            </a:r>
            <a:r>
              <a:rPr lang="zh-CN" altLang="en-US" sz="1800" dirty="0">
                <a:latin typeface="华文细黑" panose="02010600040101010101" pitchFamily="2" charset="-122"/>
                <a:ea typeface="华文细黑" panose="02010600040101010101" pitchFamily="2" charset="-122"/>
              </a:rPr>
              <a:t>当物体的表面与投影面成倾斜位置时，投影不反映实形。</a:t>
            </a:r>
          </a:p>
        </p:txBody>
      </p:sp>
      <p:sp>
        <p:nvSpPr>
          <p:cNvPr id="73" name="Text Box 3"/>
          <p:cNvSpPr txBox="1">
            <a:spLocks noChangeArrowheads="1"/>
          </p:cNvSpPr>
          <p:nvPr/>
        </p:nvSpPr>
        <p:spPr bwMode="auto">
          <a:xfrm>
            <a:off x="1411289" y="1254854"/>
            <a:ext cx="93567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571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49263" indent="-449263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0" hangingPunct="0">
              <a:spcBef>
                <a:spcPct val="50000"/>
              </a:spcBef>
            </a:pPr>
            <a:r>
              <a:rPr lang="en-US" altLang="zh-CN" dirty="0">
                <a:solidFill>
                  <a:srgbClr val="FF0000"/>
                </a:solidFill>
                <a:latin typeface="Times New Roman" panose="02020603050405020304" pitchFamily="18" charset="0"/>
                <a:ea typeface="楷体_GB2312" panose="02010600030101010101" charset="-122"/>
              </a:rPr>
              <a:t>★</a:t>
            </a:r>
            <a:r>
              <a:rPr lang="zh-CN" altLang="en-US" b="0" dirty="0">
                <a:latin typeface="华文细黑" panose="02010600040101010101" pitchFamily="2" charset="-122"/>
                <a:ea typeface="华文细黑" panose="02010600040101010101" pitchFamily="2" charset="-122"/>
              </a:rPr>
              <a:t>物体向</a:t>
            </a:r>
            <a:r>
              <a:rPr lang="zh-CN" altLang="en-US" b="0" dirty="0">
                <a:solidFill>
                  <a:srgbClr val="FF33CC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不平行于</a:t>
            </a:r>
            <a:r>
              <a:rPr lang="zh-CN" altLang="en-US" b="0" dirty="0">
                <a:latin typeface="华文细黑" panose="02010600040101010101" pitchFamily="2" charset="-122"/>
                <a:ea typeface="华文细黑" panose="02010600040101010101" pitchFamily="2" charset="-122"/>
              </a:rPr>
              <a:t>基本投影面的平面投射所得的视图称为</a:t>
            </a:r>
            <a:r>
              <a:rPr lang="zh-CN" altLang="en-US" b="0" dirty="0">
                <a:solidFill>
                  <a:srgbClr val="FF443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斜视图。</a:t>
            </a:r>
          </a:p>
        </p:txBody>
      </p:sp>
    </p:spTree>
    <p:extLst>
      <p:ext uri="{BB962C8B-B14F-4D97-AF65-F5344CB8AC3E}">
        <p14:creationId xmlns:p14="http://schemas.microsoft.com/office/powerpoint/2010/main" val="5042121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35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4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69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"/>
          <p:cNvSpPr txBox="1">
            <a:spLocks noChangeArrowheads="1"/>
          </p:cNvSpPr>
          <p:nvPr/>
        </p:nvSpPr>
        <p:spPr>
          <a:xfrm>
            <a:off x="1263651" y="424658"/>
            <a:ext cx="2487467" cy="512762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28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zh-CN" altLang="en-US" dirty="0"/>
              <a:t>斜视图的画法</a:t>
            </a:r>
          </a:p>
        </p:txBody>
      </p:sp>
      <p:sp>
        <p:nvSpPr>
          <p:cNvPr id="24" name="Rectangle 3"/>
          <p:cNvSpPr>
            <a:spLocks noChangeArrowheads="1"/>
          </p:cNvSpPr>
          <p:nvPr/>
        </p:nvSpPr>
        <p:spPr bwMode="auto">
          <a:xfrm>
            <a:off x="6485659" y="2187575"/>
            <a:ext cx="155575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i="1">
                <a:latin typeface="宋体" panose="02010600030101010101" pitchFamily="2" charset="-122"/>
              </a:rPr>
              <a:t>A</a:t>
            </a:r>
            <a:endParaRPr lang="en-US" altLang="zh-CN">
              <a:latin typeface="Times New Roman" panose="02020603050405020304" pitchFamily="18" charset="0"/>
            </a:endParaRPr>
          </a:p>
        </p:txBody>
      </p:sp>
      <p:grpSp>
        <p:nvGrpSpPr>
          <p:cNvPr id="25" name="Group 4"/>
          <p:cNvGrpSpPr>
            <a:grpSpLocks/>
          </p:cNvGrpSpPr>
          <p:nvPr/>
        </p:nvGrpSpPr>
        <p:grpSpPr bwMode="auto">
          <a:xfrm>
            <a:off x="4340947" y="1031875"/>
            <a:ext cx="414337" cy="700088"/>
            <a:chOff x="2140" y="889"/>
            <a:chExt cx="261" cy="441"/>
          </a:xfrm>
        </p:grpSpPr>
        <p:sp>
          <p:nvSpPr>
            <p:cNvPr id="26" name="Rectangle 5"/>
            <p:cNvSpPr>
              <a:spLocks noChangeArrowheads="1"/>
            </p:cNvSpPr>
            <p:nvPr/>
          </p:nvSpPr>
          <p:spPr bwMode="auto">
            <a:xfrm>
              <a:off x="2262" y="889"/>
              <a:ext cx="98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i="1">
                  <a:latin typeface="宋体" panose="02010600030101010101" pitchFamily="2" charset="-122"/>
                </a:rPr>
                <a:t>A</a:t>
              </a:r>
              <a:endParaRPr lang="en-US" altLang="zh-CN" sz="9600">
                <a:latin typeface="Times New Roman" panose="02020603050405020304" pitchFamily="18" charset="0"/>
              </a:endParaRPr>
            </a:p>
          </p:txBody>
        </p:sp>
        <p:sp>
          <p:nvSpPr>
            <p:cNvPr id="27" name="Freeform 6"/>
            <p:cNvSpPr>
              <a:spLocks noChangeArrowheads="1"/>
            </p:cNvSpPr>
            <p:nvPr/>
          </p:nvSpPr>
          <p:spPr bwMode="auto">
            <a:xfrm>
              <a:off x="2140" y="1074"/>
              <a:ext cx="261" cy="256"/>
            </a:xfrm>
            <a:custGeom>
              <a:avLst/>
              <a:gdLst>
                <a:gd name="T0" fmla="*/ 0 w 546"/>
                <a:gd name="T1" fmla="*/ 0 h 546"/>
                <a:gd name="T2" fmla="*/ 545 w 546"/>
                <a:gd name="T3" fmla="*/ 546 h 546"/>
                <a:gd name="T4" fmla="*/ 546 w 546"/>
                <a:gd name="T5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6" h="546">
                  <a:moveTo>
                    <a:pt x="0" y="0"/>
                  </a:moveTo>
                  <a:lnTo>
                    <a:pt x="545" y="546"/>
                  </a:lnTo>
                  <a:lnTo>
                    <a:pt x="546" y="54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" name="Freeform 7"/>
            <p:cNvSpPr>
              <a:spLocks noChangeArrowheads="1"/>
            </p:cNvSpPr>
            <p:nvPr/>
          </p:nvSpPr>
          <p:spPr bwMode="auto">
            <a:xfrm>
              <a:off x="2277" y="1193"/>
              <a:ext cx="124" cy="137"/>
            </a:xfrm>
            <a:custGeom>
              <a:avLst/>
              <a:gdLst>
                <a:gd name="T0" fmla="*/ 257 w 257"/>
                <a:gd name="T1" fmla="*/ 288 h 288"/>
                <a:gd name="T2" fmla="*/ 0 w 257"/>
                <a:gd name="T3" fmla="*/ 0 h 288"/>
                <a:gd name="T4" fmla="*/ 1 w 257"/>
                <a:gd name="T5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7" h="288">
                  <a:moveTo>
                    <a:pt x="257" y="28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" name="Freeform 8"/>
            <p:cNvSpPr>
              <a:spLocks noChangeArrowheads="1"/>
            </p:cNvSpPr>
            <p:nvPr/>
          </p:nvSpPr>
          <p:spPr bwMode="auto">
            <a:xfrm>
              <a:off x="2264" y="1193"/>
              <a:ext cx="13" cy="17"/>
            </a:xfrm>
            <a:custGeom>
              <a:avLst/>
              <a:gdLst>
                <a:gd name="T0" fmla="*/ 32 w 32"/>
                <a:gd name="T1" fmla="*/ 0 h 30"/>
                <a:gd name="T2" fmla="*/ 0 w 32"/>
                <a:gd name="T3" fmla="*/ 30 h 30"/>
                <a:gd name="T4" fmla="*/ 1 w 32"/>
                <a:gd name="T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30">
                  <a:moveTo>
                    <a:pt x="32" y="0"/>
                  </a:moveTo>
                  <a:lnTo>
                    <a:pt x="0" y="30"/>
                  </a:lnTo>
                  <a:lnTo>
                    <a:pt x="1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" name="Freeform 9"/>
            <p:cNvSpPr>
              <a:spLocks noChangeArrowheads="1"/>
            </p:cNvSpPr>
            <p:nvPr/>
          </p:nvSpPr>
          <p:spPr bwMode="auto">
            <a:xfrm>
              <a:off x="2264" y="1210"/>
              <a:ext cx="137" cy="120"/>
            </a:xfrm>
            <a:custGeom>
              <a:avLst/>
              <a:gdLst>
                <a:gd name="T0" fmla="*/ 0 w 290"/>
                <a:gd name="T1" fmla="*/ 0 h 258"/>
                <a:gd name="T2" fmla="*/ 289 w 290"/>
                <a:gd name="T3" fmla="*/ 258 h 258"/>
                <a:gd name="T4" fmla="*/ 290 w 290"/>
                <a:gd name="T5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0" h="258">
                  <a:moveTo>
                    <a:pt x="0" y="0"/>
                  </a:moveTo>
                  <a:lnTo>
                    <a:pt x="289" y="258"/>
                  </a:lnTo>
                  <a:lnTo>
                    <a:pt x="290" y="25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31" name="Group 10"/>
          <p:cNvGrpSpPr>
            <a:grpSpLocks/>
          </p:cNvGrpSpPr>
          <p:nvPr/>
        </p:nvGrpSpPr>
        <p:grpSpPr bwMode="auto">
          <a:xfrm>
            <a:off x="7579447" y="2120900"/>
            <a:ext cx="642937" cy="365125"/>
            <a:chOff x="3773" y="1344"/>
            <a:chExt cx="405" cy="230"/>
          </a:xfrm>
        </p:grpSpPr>
        <p:sp>
          <p:nvSpPr>
            <p:cNvPr id="32" name="Rectangle 11"/>
            <p:cNvSpPr>
              <a:spLocks noChangeArrowheads="1"/>
            </p:cNvSpPr>
            <p:nvPr/>
          </p:nvSpPr>
          <p:spPr bwMode="auto">
            <a:xfrm>
              <a:off x="3773" y="1344"/>
              <a:ext cx="98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i="1">
                  <a:solidFill>
                    <a:srgbClr val="FF0000"/>
                  </a:solidFill>
                  <a:latin typeface="宋体" panose="02010600030101010101" pitchFamily="2" charset="-122"/>
                </a:rPr>
                <a:t>A</a:t>
              </a:r>
              <a:endParaRPr lang="en-US" altLang="zh-CN">
                <a:solidFill>
                  <a:srgbClr val="FF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33" name="Freeform 12"/>
            <p:cNvSpPr>
              <a:spLocks noChangeArrowheads="1"/>
            </p:cNvSpPr>
            <p:nvPr/>
          </p:nvSpPr>
          <p:spPr bwMode="auto">
            <a:xfrm>
              <a:off x="3917" y="1399"/>
              <a:ext cx="261" cy="128"/>
            </a:xfrm>
            <a:custGeom>
              <a:avLst/>
              <a:gdLst>
                <a:gd name="T0" fmla="*/ 550 w 550"/>
                <a:gd name="T1" fmla="*/ 275 h 275"/>
                <a:gd name="T2" fmla="*/ 469 w 550"/>
                <a:gd name="T3" fmla="*/ 80 h 275"/>
                <a:gd name="T4" fmla="*/ 275 w 550"/>
                <a:gd name="T5" fmla="*/ 0 h 275"/>
                <a:gd name="T6" fmla="*/ 80 w 550"/>
                <a:gd name="T7" fmla="*/ 80 h 275"/>
                <a:gd name="T8" fmla="*/ 0 w 550"/>
                <a:gd name="T9" fmla="*/ 275 h 275"/>
                <a:gd name="T10" fmla="*/ 1 w 550"/>
                <a:gd name="T11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0" h="275">
                  <a:moveTo>
                    <a:pt x="550" y="275"/>
                  </a:moveTo>
                  <a:lnTo>
                    <a:pt x="469" y="80"/>
                  </a:lnTo>
                  <a:lnTo>
                    <a:pt x="275" y="0"/>
                  </a:lnTo>
                  <a:lnTo>
                    <a:pt x="80" y="80"/>
                  </a:lnTo>
                  <a:lnTo>
                    <a:pt x="0" y="275"/>
                  </a:lnTo>
                  <a:lnTo>
                    <a:pt x="1" y="275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34" name="Group 13"/>
            <p:cNvGrpSpPr>
              <a:grpSpLocks/>
            </p:cNvGrpSpPr>
            <p:nvPr/>
          </p:nvGrpSpPr>
          <p:grpSpPr bwMode="auto">
            <a:xfrm>
              <a:off x="3917" y="1407"/>
              <a:ext cx="73" cy="124"/>
              <a:chOff x="3917" y="1407"/>
              <a:chExt cx="73" cy="124"/>
            </a:xfrm>
          </p:grpSpPr>
          <p:sp>
            <p:nvSpPr>
              <p:cNvPr id="35" name="Freeform 14"/>
              <p:cNvSpPr>
                <a:spLocks noChangeArrowheads="1"/>
              </p:cNvSpPr>
              <p:nvPr/>
            </p:nvSpPr>
            <p:spPr bwMode="auto">
              <a:xfrm>
                <a:off x="3917" y="1407"/>
                <a:ext cx="60" cy="120"/>
              </a:xfrm>
              <a:custGeom>
                <a:avLst/>
                <a:gdLst>
                  <a:gd name="T0" fmla="*/ 121 w 121"/>
                  <a:gd name="T1" fmla="*/ 0 h 255"/>
                  <a:gd name="T2" fmla="*/ 0 w 121"/>
                  <a:gd name="T3" fmla="*/ 255 h 255"/>
                  <a:gd name="T4" fmla="*/ 1 w 121"/>
                  <a:gd name="T5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1" h="255">
                    <a:moveTo>
                      <a:pt x="121" y="0"/>
                    </a:moveTo>
                    <a:lnTo>
                      <a:pt x="0" y="255"/>
                    </a:lnTo>
                    <a:lnTo>
                      <a:pt x="1" y="255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" name="Freeform 15"/>
              <p:cNvSpPr>
                <a:spLocks noChangeArrowheads="1"/>
              </p:cNvSpPr>
              <p:nvPr/>
            </p:nvSpPr>
            <p:spPr bwMode="auto">
              <a:xfrm>
                <a:off x="3977" y="1407"/>
                <a:ext cx="13" cy="17"/>
              </a:xfrm>
              <a:custGeom>
                <a:avLst/>
                <a:gdLst>
                  <a:gd name="T0" fmla="*/ 0 w 33"/>
                  <a:gd name="T1" fmla="*/ 0 h 39"/>
                  <a:gd name="T2" fmla="*/ 32 w 33"/>
                  <a:gd name="T3" fmla="*/ 39 h 39"/>
                  <a:gd name="T4" fmla="*/ 33 w 33"/>
                  <a:gd name="T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39">
                    <a:moveTo>
                      <a:pt x="0" y="0"/>
                    </a:moveTo>
                    <a:lnTo>
                      <a:pt x="32" y="39"/>
                    </a:lnTo>
                    <a:lnTo>
                      <a:pt x="33" y="39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" name="Freeform 16"/>
              <p:cNvSpPr>
                <a:spLocks noChangeArrowheads="1"/>
              </p:cNvSpPr>
              <p:nvPr/>
            </p:nvSpPr>
            <p:spPr bwMode="auto">
              <a:xfrm>
                <a:off x="3917" y="1424"/>
                <a:ext cx="73" cy="107"/>
              </a:xfrm>
              <a:custGeom>
                <a:avLst/>
                <a:gdLst>
                  <a:gd name="T0" fmla="*/ 153 w 153"/>
                  <a:gd name="T1" fmla="*/ 0 h 219"/>
                  <a:gd name="T2" fmla="*/ 40 w 153"/>
                  <a:gd name="T3" fmla="*/ 83 h 219"/>
                  <a:gd name="T4" fmla="*/ 0 w 153"/>
                  <a:gd name="T5" fmla="*/ 219 h 219"/>
                  <a:gd name="T6" fmla="*/ 1 w 153"/>
                  <a:gd name="T7" fmla="*/ 2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3" h="219">
                    <a:moveTo>
                      <a:pt x="153" y="0"/>
                    </a:moveTo>
                    <a:lnTo>
                      <a:pt x="40" y="83"/>
                    </a:lnTo>
                    <a:lnTo>
                      <a:pt x="0" y="219"/>
                    </a:lnTo>
                    <a:lnTo>
                      <a:pt x="1" y="219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grpSp>
        <p:nvGrpSpPr>
          <p:cNvPr id="38" name="Group 17"/>
          <p:cNvGrpSpPr>
            <a:grpSpLocks/>
          </p:cNvGrpSpPr>
          <p:nvPr/>
        </p:nvGrpSpPr>
        <p:grpSpPr bwMode="auto">
          <a:xfrm>
            <a:off x="5236297" y="2339975"/>
            <a:ext cx="1514475" cy="1708150"/>
            <a:chOff x="2704" y="1713"/>
            <a:chExt cx="954" cy="1076"/>
          </a:xfrm>
        </p:grpSpPr>
        <p:sp>
          <p:nvSpPr>
            <p:cNvPr id="39" name="Arc 18"/>
            <p:cNvSpPr>
              <a:spLocks noChangeArrowheads="1"/>
            </p:cNvSpPr>
            <p:nvPr/>
          </p:nvSpPr>
          <p:spPr bwMode="auto">
            <a:xfrm rot="2732034">
              <a:off x="3086" y="1897"/>
              <a:ext cx="736" cy="368"/>
            </a:xfrm>
            <a:custGeom>
              <a:avLst/>
              <a:gdLst>
                <a:gd name="T0" fmla="*/ 0 w 43200"/>
                <a:gd name="T1" fmla="*/ 21471 h 21600"/>
                <a:gd name="T2" fmla="*/ 21600 w 43200"/>
                <a:gd name="T3" fmla="*/ 0 h 21600"/>
                <a:gd name="T4" fmla="*/ 43200 w 43200"/>
                <a:gd name="T5" fmla="*/ 21600 h 21600"/>
                <a:gd name="T6" fmla="*/ 0 w 43200"/>
                <a:gd name="T7" fmla="*/ 21471 h 21600"/>
                <a:gd name="T8" fmla="*/ 21600 w 43200"/>
                <a:gd name="T9" fmla="*/ 0 h 21600"/>
                <a:gd name="T10" fmla="*/ 43200 w 43200"/>
                <a:gd name="T11" fmla="*/ 21600 h 21600"/>
                <a:gd name="T12" fmla="*/ 21600 w 43200"/>
                <a:gd name="T13" fmla="*/ 216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00" h="21600" fill="none">
                  <a:moveTo>
                    <a:pt x="0" y="21471"/>
                  </a:moveTo>
                  <a:cubicBezTo>
                    <a:pt x="71" y="9592"/>
                    <a:pt x="9720" y="-1"/>
                    <a:pt x="21600" y="0"/>
                  </a:cubicBezTo>
                  <a:cubicBezTo>
                    <a:pt x="33529" y="0"/>
                    <a:pt x="43200" y="9670"/>
                    <a:pt x="43200" y="21600"/>
                  </a:cubicBezTo>
                </a:path>
                <a:path w="43200" h="21600" stroke="0">
                  <a:moveTo>
                    <a:pt x="0" y="21471"/>
                  </a:moveTo>
                  <a:cubicBezTo>
                    <a:pt x="71" y="9592"/>
                    <a:pt x="9720" y="-1"/>
                    <a:pt x="21600" y="0"/>
                  </a:cubicBezTo>
                  <a:cubicBezTo>
                    <a:pt x="33529" y="0"/>
                    <a:pt x="43200" y="9670"/>
                    <a:pt x="43200" y="21600"/>
                  </a:cubicBezTo>
                  <a:lnTo>
                    <a:pt x="21600" y="21600"/>
                  </a:lnTo>
                  <a:close/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0" name="Oval 19"/>
            <p:cNvSpPr>
              <a:spLocks noChangeArrowheads="1"/>
            </p:cNvSpPr>
            <p:nvPr/>
          </p:nvSpPr>
          <p:spPr bwMode="auto">
            <a:xfrm>
              <a:off x="3111" y="2004"/>
              <a:ext cx="419" cy="405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1" name="Freeform 20"/>
            <p:cNvSpPr>
              <a:spLocks noChangeArrowheads="1"/>
            </p:cNvSpPr>
            <p:nvPr/>
          </p:nvSpPr>
          <p:spPr bwMode="auto">
            <a:xfrm>
              <a:off x="3256" y="2455"/>
              <a:ext cx="333" cy="334"/>
            </a:xfrm>
            <a:custGeom>
              <a:avLst/>
              <a:gdLst>
                <a:gd name="T0" fmla="*/ 0 w 333"/>
                <a:gd name="T1" fmla="*/ 334 h 334"/>
                <a:gd name="T2" fmla="*/ 333 w 333"/>
                <a:gd name="T3" fmla="*/ 0 h 334"/>
                <a:gd name="T4" fmla="*/ 325 w 333"/>
                <a:gd name="T5" fmla="*/ 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3" h="334">
                  <a:moveTo>
                    <a:pt x="0" y="334"/>
                  </a:moveTo>
                  <a:lnTo>
                    <a:pt x="333" y="0"/>
                  </a:lnTo>
                  <a:lnTo>
                    <a:pt x="325" y="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2" name="Freeform 21"/>
            <p:cNvSpPr>
              <a:spLocks noChangeArrowheads="1"/>
            </p:cNvSpPr>
            <p:nvPr/>
          </p:nvSpPr>
          <p:spPr bwMode="auto">
            <a:xfrm>
              <a:off x="2704" y="1942"/>
              <a:ext cx="360" cy="359"/>
            </a:xfrm>
            <a:custGeom>
              <a:avLst/>
              <a:gdLst>
                <a:gd name="T0" fmla="*/ 0 w 755"/>
                <a:gd name="T1" fmla="*/ 755 h 755"/>
                <a:gd name="T2" fmla="*/ 754 w 755"/>
                <a:gd name="T3" fmla="*/ 0 h 755"/>
                <a:gd name="T4" fmla="*/ 755 w 755"/>
                <a:gd name="T5" fmla="*/ 0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5" h="755">
                  <a:moveTo>
                    <a:pt x="0" y="755"/>
                  </a:moveTo>
                  <a:lnTo>
                    <a:pt x="754" y="0"/>
                  </a:lnTo>
                  <a:lnTo>
                    <a:pt x="75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3" name="Freeform 22"/>
            <p:cNvSpPr>
              <a:spLocks noChangeArrowheads="1"/>
            </p:cNvSpPr>
            <p:nvPr/>
          </p:nvSpPr>
          <p:spPr bwMode="auto">
            <a:xfrm>
              <a:off x="2837" y="2169"/>
              <a:ext cx="518" cy="517"/>
            </a:xfrm>
            <a:custGeom>
              <a:avLst/>
              <a:gdLst>
                <a:gd name="T0" fmla="*/ 0 w 1091"/>
                <a:gd name="T1" fmla="*/ 0 h 1092"/>
                <a:gd name="T2" fmla="*/ 1090 w 1091"/>
                <a:gd name="T3" fmla="*/ 1092 h 1092"/>
                <a:gd name="T4" fmla="*/ 1091 w 1091"/>
                <a:gd name="T5" fmla="*/ 1092 h 1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1" h="1092">
                  <a:moveTo>
                    <a:pt x="0" y="0"/>
                  </a:moveTo>
                  <a:lnTo>
                    <a:pt x="1090" y="1092"/>
                  </a:lnTo>
                  <a:lnTo>
                    <a:pt x="1091" y="109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4" name="Freeform 23"/>
            <p:cNvSpPr>
              <a:spLocks noChangeArrowheads="1"/>
            </p:cNvSpPr>
            <p:nvPr/>
          </p:nvSpPr>
          <p:spPr bwMode="auto">
            <a:xfrm>
              <a:off x="2704" y="2301"/>
              <a:ext cx="552" cy="488"/>
            </a:xfrm>
            <a:custGeom>
              <a:avLst/>
              <a:gdLst>
                <a:gd name="T0" fmla="*/ 0 w 552"/>
                <a:gd name="T1" fmla="*/ 0 h 488"/>
                <a:gd name="T2" fmla="*/ 152 w 552"/>
                <a:gd name="T3" fmla="*/ 188 h 488"/>
                <a:gd name="T4" fmla="*/ 374 w 552"/>
                <a:gd name="T5" fmla="*/ 299 h 488"/>
                <a:gd name="T6" fmla="*/ 552 w 552"/>
                <a:gd name="T7" fmla="*/ 488 h 488"/>
                <a:gd name="T8" fmla="*/ 552 w 552"/>
                <a:gd name="T9" fmla="*/ 488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2" h="488">
                  <a:moveTo>
                    <a:pt x="0" y="0"/>
                  </a:moveTo>
                  <a:lnTo>
                    <a:pt x="152" y="188"/>
                  </a:lnTo>
                  <a:lnTo>
                    <a:pt x="374" y="299"/>
                  </a:lnTo>
                  <a:lnTo>
                    <a:pt x="552" y="48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45" name="Group 24"/>
            <p:cNvGrpSpPr>
              <a:grpSpLocks/>
            </p:cNvGrpSpPr>
            <p:nvPr/>
          </p:nvGrpSpPr>
          <p:grpSpPr bwMode="auto">
            <a:xfrm>
              <a:off x="2901" y="1865"/>
              <a:ext cx="757" cy="757"/>
              <a:chOff x="2901" y="1865"/>
              <a:chExt cx="757" cy="757"/>
            </a:xfrm>
          </p:grpSpPr>
          <p:sp>
            <p:nvSpPr>
              <p:cNvPr id="50" name="Freeform 25"/>
              <p:cNvSpPr>
                <a:spLocks noChangeArrowheads="1"/>
              </p:cNvSpPr>
              <p:nvPr/>
            </p:nvSpPr>
            <p:spPr bwMode="auto">
              <a:xfrm>
                <a:off x="3273" y="1865"/>
                <a:ext cx="385" cy="385"/>
              </a:xfrm>
              <a:custGeom>
                <a:avLst/>
                <a:gdLst>
                  <a:gd name="T0" fmla="*/ 813 w 813"/>
                  <a:gd name="T1" fmla="*/ 0 h 814"/>
                  <a:gd name="T2" fmla="*/ 0 w 813"/>
                  <a:gd name="T3" fmla="*/ 814 h 814"/>
                  <a:gd name="T4" fmla="*/ 1 w 813"/>
                  <a:gd name="T5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3" h="814">
                    <a:moveTo>
                      <a:pt x="813" y="0"/>
                    </a:moveTo>
                    <a:lnTo>
                      <a:pt x="0" y="814"/>
                    </a:lnTo>
                    <a:lnTo>
                      <a:pt x="1" y="81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" name="Freeform 26"/>
              <p:cNvSpPr>
                <a:spLocks noChangeArrowheads="1"/>
              </p:cNvSpPr>
              <p:nvPr/>
            </p:nvSpPr>
            <p:spPr bwMode="auto">
              <a:xfrm>
                <a:off x="2901" y="2314"/>
                <a:ext cx="308" cy="308"/>
              </a:xfrm>
              <a:custGeom>
                <a:avLst/>
                <a:gdLst>
                  <a:gd name="T0" fmla="*/ 653 w 653"/>
                  <a:gd name="T1" fmla="*/ 0 h 654"/>
                  <a:gd name="T2" fmla="*/ 0 w 653"/>
                  <a:gd name="T3" fmla="*/ 654 h 654"/>
                  <a:gd name="T4" fmla="*/ 1 w 653"/>
                  <a:gd name="T5" fmla="*/ 654 h 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53" h="654">
                    <a:moveTo>
                      <a:pt x="653" y="0"/>
                    </a:moveTo>
                    <a:lnTo>
                      <a:pt x="0" y="654"/>
                    </a:lnTo>
                    <a:lnTo>
                      <a:pt x="1" y="6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2" name="Freeform 27"/>
              <p:cNvSpPr>
                <a:spLocks noChangeArrowheads="1"/>
              </p:cNvSpPr>
              <p:nvPr/>
            </p:nvSpPr>
            <p:spPr bwMode="auto">
              <a:xfrm>
                <a:off x="3235" y="2276"/>
                <a:ext cx="13" cy="12"/>
              </a:xfrm>
              <a:custGeom>
                <a:avLst/>
                <a:gdLst>
                  <a:gd name="T0" fmla="*/ 24 w 24"/>
                  <a:gd name="T1" fmla="*/ 0 h 23"/>
                  <a:gd name="T2" fmla="*/ 0 w 24"/>
                  <a:gd name="T3" fmla="*/ 23 h 23"/>
                  <a:gd name="T4" fmla="*/ 1 w 24"/>
                  <a:gd name="T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3">
                    <a:moveTo>
                      <a:pt x="24" y="0"/>
                    </a:moveTo>
                    <a:lnTo>
                      <a:pt x="0" y="23"/>
                    </a:lnTo>
                    <a:lnTo>
                      <a:pt x="1" y="23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46" name="Group 28"/>
            <p:cNvGrpSpPr>
              <a:grpSpLocks/>
            </p:cNvGrpSpPr>
            <p:nvPr/>
          </p:nvGrpSpPr>
          <p:grpSpPr bwMode="auto">
            <a:xfrm>
              <a:off x="2991" y="1869"/>
              <a:ext cx="667" cy="667"/>
              <a:chOff x="2991" y="1869"/>
              <a:chExt cx="667" cy="667"/>
            </a:xfrm>
          </p:grpSpPr>
          <p:sp>
            <p:nvSpPr>
              <p:cNvPr id="47" name="Freeform 29"/>
              <p:cNvSpPr>
                <a:spLocks noChangeArrowheads="1"/>
              </p:cNvSpPr>
              <p:nvPr/>
            </p:nvSpPr>
            <p:spPr bwMode="auto">
              <a:xfrm>
                <a:off x="2991" y="1869"/>
                <a:ext cx="376" cy="377"/>
              </a:xfrm>
              <a:custGeom>
                <a:avLst/>
                <a:gdLst>
                  <a:gd name="T0" fmla="*/ 0 w 792"/>
                  <a:gd name="T1" fmla="*/ 0 h 794"/>
                  <a:gd name="T2" fmla="*/ 791 w 792"/>
                  <a:gd name="T3" fmla="*/ 794 h 794"/>
                  <a:gd name="T4" fmla="*/ 792 w 792"/>
                  <a:gd name="T5" fmla="*/ 794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92" h="794">
                    <a:moveTo>
                      <a:pt x="0" y="0"/>
                    </a:moveTo>
                    <a:lnTo>
                      <a:pt x="791" y="794"/>
                    </a:lnTo>
                    <a:lnTo>
                      <a:pt x="792" y="79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" name="Freeform 30"/>
              <p:cNvSpPr>
                <a:spLocks noChangeArrowheads="1"/>
              </p:cNvSpPr>
              <p:nvPr/>
            </p:nvSpPr>
            <p:spPr bwMode="auto">
              <a:xfrm>
                <a:off x="3393" y="2271"/>
                <a:ext cx="4" cy="5"/>
              </a:xfrm>
              <a:custGeom>
                <a:avLst/>
                <a:gdLst>
                  <a:gd name="T0" fmla="*/ 0 w 9"/>
                  <a:gd name="T1" fmla="*/ 0 h 7"/>
                  <a:gd name="T2" fmla="*/ 8 w 9"/>
                  <a:gd name="T3" fmla="*/ 7 h 7"/>
                  <a:gd name="T4" fmla="*/ 9 w 9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lnTo>
                      <a:pt x="8" y="7"/>
                    </a:lnTo>
                    <a:lnTo>
                      <a:pt x="9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9" name="Freeform 31"/>
              <p:cNvSpPr>
                <a:spLocks noChangeArrowheads="1"/>
              </p:cNvSpPr>
              <p:nvPr/>
            </p:nvSpPr>
            <p:spPr bwMode="auto">
              <a:xfrm>
                <a:off x="3432" y="2314"/>
                <a:ext cx="226" cy="222"/>
              </a:xfrm>
              <a:custGeom>
                <a:avLst/>
                <a:gdLst>
                  <a:gd name="T0" fmla="*/ 0 w 475"/>
                  <a:gd name="T1" fmla="*/ 0 h 475"/>
                  <a:gd name="T2" fmla="*/ 474 w 475"/>
                  <a:gd name="T3" fmla="*/ 475 h 475"/>
                  <a:gd name="T4" fmla="*/ 475 w 475"/>
                  <a:gd name="T5" fmla="*/ 475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5" h="475">
                    <a:moveTo>
                      <a:pt x="0" y="0"/>
                    </a:moveTo>
                    <a:lnTo>
                      <a:pt x="474" y="475"/>
                    </a:lnTo>
                    <a:lnTo>
                      <a:pt x="475" y="475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grpSp>
        <p:nvGrpSpPr>
          <p:cNvPr id="53" name="Group 32"/>
          <p:cNvGrpSpPr>
            <a:grpSpLocks/>
          </p:cNvGrpSpPr>
          <p:nvPr/>
        </p:nvGrpSpPr>
        <p:grpSpPr bwMode="auto">
          <a:xfrm>
            <a:off x="7258772" y="2411413"/>
            <a:ext cx="1500187" cy="1643062"/>
            <a:chOff x="3901" y="1307"/>
            <a:chExt cx="945" cy="1035"/>
          </a:xfrm>
        </p:grpSpPr>
        <p:sp>
          <p:nvSpPr>
            <p:cNvPr id="54" name="Arc 33"/>
            <p:cNvSpPr>
              <a:spLocks noChangeArrowheads="1"/>
            </p:cNvSpPr>
            <p:nvPr/>
          </p:nvSpPr>
          <p:spPr bwMode="auto">
            <a:xfrm>
              <a:off x="4000" y="1420"/>
              <a:ext cx="736" cy="368"/>
            </a:xfrm>
            <a:custGeom>
              <a:avLst/>
              <a:gdLst>
                <a:gd name="T0" fmla="*/ 0 w 43200"/>
                <a:gd name="T1" fmla="*/ 21471 h 21600"/>
                <a:gd name="T2" fmla="*/ 21600 w 43200"/>
                <a:gd name="T3" fmla="*/ 0 h 21600"/>
                <a:gd name="T4" fmla="*/ 43200 w 43200"/>
                <a:gd name="T5" fmla="*/ 21600 h 21600"/>
                <a:gd name="T6" fmla="*/ 0 w 43200"/>
                <a:gd name="T7" fmla="*/ 21471 h 21600"/>
                <a:gd name="T8" fmla="*/ 21600 w 43200"/>
                <a:gd name="T9" fmla="*/ 0 h 21600"/>
                <a:gd name="T10" fmla="*/ 43200 w 43200"/>
                <a:gd name="T11" fmla="*/ 21600 h 21600"/>
                <a:gd name="T12" fmla="*/ 21600 w 43200"/>
                <a:gd name="T13" fmla="*/ 216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00" h="21600" fill="none">
                  <a:moveTo>
                    <a:pt x="0" y="21471"/>
                  </a:moveTo>
                  <a:cubicBezTo>
                    <a:pt x="71" y="9592"/>
                    <a:pt x="9720" y="-1"/>
                    <a:pt x="21600" y="0"/>
                  </a:cubicBezTo>
                  <a:cubicBezTo>
                    <a:pt x="33529" y="0"/>
                    <a:pt x="43200" y="9670"/>
                    <a:pt x="43200" y="21600"/>
                  </a:cubicBezTo>
                </a:path>
                <a:path w="43200" h="21600" stroke="0">
                  <a:moveTo>
                    <a:pt x="0" y="21471"/>
                  </a:moveTo>
                  <a:cubicBezTo>
                    <a:pt x="71" y="9592"/>
                    <a:pt x="9720" y="-1"/>
                    <a:pt x="21600" y="0"/>
                  </a:cubicBezTo>
                  <a:cubicBezTo>
                    <a:pt x="33529" y="0"/>
                    <a:pt x="43200" y="9670"/>
                    <a:pt x="43200" y="21600"/>
                  </a:cubicBezTo>
                  <a:lnTo>
                    <a:pt x="21600" y="21600"/>
                  </a:lnTo>
                  <a:close/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5" name="Freeform 34"/>
            <p:cNvSpPr>
              <a:spLocks noChangeArrowheads="1"/>
            </p:cNvSpPr>
            <p:nvPr/>
          </p:nvSpPr>
          <p:spPr bwMode="auto">
            <a:xfrm>
              <a:off x="4003" y="2227"/>
              <a:ext cx="732" cy="64"/>
            </a:xfrm>
            <a:custGeom>
              <a:avLst/>
              <a:gdLst>
                <a:gd name="T0" fmla="*/ 0 w 732"/>
                <a:gd name="T1" fmla="*/ 64 h 64"/>
                <a:gd name="T2" fmla="*/ 208 w 732"/>
                <a:gd name="T3" fmla="*/ 0 h 64"/>
                <a:gd name="T4" fmla="*/ 453 w 732"/>
                <a:gd name="T5" fmla="*/ 44 h 64"/>
                <a:gd name="T6" fmla="*/ 732 w 732"/>
                <a:gd name="T7" fmla="*/ 17 h 64"/>
                <a:gd name="T8" fmla="*/ 732 w 732"/>
                <a:gd name="T9" fmla="*/ 17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2" h="64">
                  <a:moveTo>
                    <a:pt x="0" y="64"/>
                  </a:moveTo>
                  <a:lnTo>
                    <a:pt x="208" y="0"/>
                  </a:lnTo>
                  <a:lnTo>
                    <a:pt x="453" y="44"/>
                  </a:lnTo>
                  <a:lnTo>
                    <a:pt x="732" y="17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6" name="Freeform 35"/>
            <p:cNvSpPr>
              <a:spLocks noChangeArrowheads="1"/>
            </p:cNvSpPr>
            <p:nvPr/>
          </p:nvSpPr>
          <p:spPr bwMode="auto">
            <a:xfrm>
              <a:off x="4003" y="2103"/>
              <a:ext cx="732" cy="4"/>
            </a:xfrm>
            <a:custGeom>
              <a:avLst/>
              <a:gdLst>
                <a:gd name="T0" fmla="*/ 0 w 1544"/>
                <a:gd name="T1" fmla="*/ 0 h 4"/>
                <a:gd name="T2" fmla="*/ 1543 w 1544"/>
                <a:gd name="T3" fmla="*/ 0 h 4"/>
                <a:gd name="T4" fmla="*/ 1544 w 154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44" h="4">
                  <a:moveTo>
                    <a:pt x="0" y="0"/>
                  </a:moveTo>
                  <a:lnTo>
                    <a:pt x="1543" y="0"/>
                  </a:lnTo>
                  <a:lnTo>
                    <a:pt x="1544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7" name="Freeform 36"/>
            <p:cNvSpPr>
              <a:spLocks noChangeArrowheads="1"/>
            </p:cNvSpPr>
            <p:nvPr/>
          </p:nvSpPr>
          <p:spPr bwMode="auto">
            <a:xfrm>
              <a:off x="4003" y="1782"/>
              <a:ext cx="5" cy="509"/>
            </a:xfrm>
            <a:custGeom>
              <a:avLst/>
              <a:gdLst>
                <a:gd name="T0" fmla="*/ 0 w 1"/>
                <a:gd name="T1" fmla="*/ 1068 h 1068"/>
                <a:gd name="T2" fmla="*/ 0 w 1"/>
                <a:gd name="T3" fmla="*/ 0 h 1068"/>
                <a:gd name="T4" fmla="*/ 1 w 1"/>
                <a:gd name="T5" fmla="*/ 0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68">
                  <a:moveTo>
                    <a:pt x="0" y="106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8" name="Freeform 37"/>
            <p:cNvSpPr>
              <a:spLocks noChangeArrowheads="1"/>
            </p:cNvSpPr>
            <p:nvPr/>
          </p:nvSpPr>
          <p:spPr bwMode="auto">
            <a:xfrm>
              <a:off x="4735" y="1782"/>
              <a:ext cx="4" cy="462"/>
            </a:xfrm>
            <a:custGeom>
              <a:avLst/>
              <a:gdLst>
                <a:gd name="T0" fmla="*/ 0 w 1"/>
                <a:gd name="T1" fmla="*/ 971 h 971"/>
                <a:gd name="T2" fmla="*/ 0 w 1"/>
                <a:gd name="T3" fmla="*/ 0 h 971"/>
                <a:gd name="T4" fmla="*/ 1 w 1"/>
                <a:gd name="T5" fmla="*/ 0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71">
                  <a:moveTo>
                    <a:pt x="0" y="97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59" name="Group 38"/>
            <p:cNvGrpSpPr>
              <a:grpSpLocks/>
            </p:cNvGrpSpPr>
            <p:nvPr/>
          </p:nvGrpSpPr>
          <p:grpSpPr bwMode="auto">
            <a:xfrm>
              <a:off x="4371" y="1307"/>
              <a:ext cx="5" cy="1035"/>
              <a:chOff x="4338" y="1758"/>
              <a:chExt cx="5" cy="1035"/>
            </a:xfrm>
          </p:grpSpPr>
          <p:sp>
            <p:nvSpPr>
              <p:cNvPr id="65" name="Freeform 39"/>
              <p:cNvSpPr>
                <a:spLocks noChangeArrowheads="1"/>
              </p:cNvSpPr>
              <p:nvPr/>
            </p:nvSpPr>
            <p:spPr bwMode="auto">
              <a:xfrm>
                <a:off x="4338" y="1758"/>
                <a:ext cx="5" cy="539"/>
              </a:xfrm>
              <a:custGeom>
                <a:avLst/>
                <a:gdLst>
                  <a:gd name="T0" fmla="*/ 0 w 1"/>
                  <a:gd name="T1" fmla="*/ 0 h 1136"/>
                  <a:gd name="T2" fmla="*/ 0 w 1"/>
                  <a:gd name="T3" fmla="*/ 1136 h 1136"/>
                  <a:gd name="T4" fmla="*/ 1 w 1"/>
                  <a:gd name="T5" fmla="*/ 1136 h 1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136">
                    <a:moveTo>
                      <a:pt x="0" y="0"/>
                    </a:moveTo>
                    <a:lnTo>
                      <a:pt x="0" y="1136"/>
                    </a:lnTo>
                    <a:lnTo>
                      <a:pt x="1" y="1136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6" name="Freeform 40"/>
              <p:cNvSpPr>
                <a:spLocks noChangeArrowheads="1"/>
              </p:cNvSpPr>
              <p:nvPr/>
            </p:nvSpPr>
            <p:spPr bwMode="auto">
              <a:xfrm>
                <a:off x="4338" y="2382"/>
                <a:ext cx="5" cy="411"/>
              </a:xfrm>
              <a:custGeom>
                <a:avLst/>
                <a:gdLst>
                  <a:gd name="T0" fmla="*/ 0 w 1"/>
                  <a:gd name="T1" fmla="*/ 0 h 861"/>
                  <a:gd name="T2" fmla="*/ 0 w 1"/>
                  <a:gd name="T3" fmla="*/ 861 h 861"/>
                  <a:gd name="T4" fmla="*/ 1 w 1"/>
                  <a:gd name="T5" fmla="*/ 861 h 8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861">
                    <a:moveTo>
                      <a:pt x="0" y="0"/>
                    </a:moveTo>
                    <a:lnTo>
                      <a:pt x="0" y="861"/>
                    </a:lnTo>
                    <a:lnTo>
                      <a:pt x="1" y="861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7" name="Freeform 41"/>
              <p:cNvSpPr>
                <a:spLocks noChangeArrowheads="1"/>
              </p:cNvSpPr>
              <p:nvPr/>
            </p:nvSpPr>
            <p:spPr bwMode="auto">
              <a:xfrm>
                <a:off x="4338" y="2331"/>
                <a:ext cx="5" cy="9"/>
              </a:xfrm>
              <a:custGeom>
                <a:avLst/>
                <a:gdLst>
                  <a:gd name="T0" fmla="*/ 0 w 1"/>
                  <a:gd name="T1" fmla="*/ 0 h 15"/>
                  <a:gd name="T2" fmla="*/ 0 w 1"/>
                  <a:gd name="T3" fmla="*/ 15 h 15"/>
                  <a:gd name="T4" fmla="*/ 1 w 1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5">
                    <a:moveTo>
                      <a:pt x="0" y="0"/>
                    </a:moveTo>
                    <a:lnTo>
                      <a:pt x="0" y="15"/>
                    </a:lnTo>
                    <a:lnTo>
                      <a:pt x="1" y="15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60" name="Group 42"/>
            <p:cNvGrpSpPr>
              <a:grpSpLocks/>
            </p:cNvGrpSpPr>
            <p:nvPr/>
          </p:nvGrpSpPr>
          <p:grpSpPr bwMode="auto">
            <a:xfrm>
              <a:off x="3901" y="1782"/>
              <a:ext cx="945" cy="4"/>
              <a:chOff x="3868" y="2233"/>
              <a:chExt cx="945" cy="4"/>
            </a:xfrm>
          </p:grpSpPr>
          <p:sp>
            <p:nvSpPr>
              <p:cNvPr id="62" name="Freeform 43"/>
              <p:cNvSpPr>
                <a:spLocks noChangeArrowheads="1"/>
              </p:cNvSpPr>
              <p:nvPr/>
            </p:nvSpPr>
            <p:spPr bwMode="auto">
              <a:xfrm>
                <a:off x="3868" y="2233"/>
                <a:ext cx="308" cy="4"/>
              </a:xfrm>
              <a:custGeom>
                <a:avLst/>
                <a:gdLst>
                  <a:gd name="T0" fmla="*/ 0 w 650"/>
                  <a:gd name="T1" fmla="*/ 0 h 4"/>
                  <a:gd name="T2" fmla="*/ 649 w 650"/>
                  <a:gd name="T3" fmla="*/ 0 h 4"/>
                  <a:gd name="T4" fmla="*/ 650 w 650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50" h="4">
                    <a:moveTo>
                      <a:pt x="0" y="0"/>
                    </a:moveTo>
                    <a:lnTo>
                      <a:pt x="649" y="0"/>
                    </a:lnTo>
                    <a:lnTo>
                      <a:pt x="650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3" name="Freeform 44"/>
              <p:cNvSpPr>
                <a:spLocks noChangeArrowheads="1"/>
              </p:cNvSpPr>
              <p:nvPr/>
            </p:nvSpPr>
            <p:spPr bwMode="auto">
              <a:xfrm>
                <a:off x="4214" y="2233"/>
                <a:ext cx="9" cy="4"/>
              </a:xfrm>
              <a:custGeom>
                <a:avLst/>
                <a:gdLst>
                  <a:gd name="T0" fmla="*/ 0 w 17"/>
                  <a:gd name="T1" fmla="*/ 0 h 4"/>
                  <a:gd name="T2" fmla="*/ 16 w 17"/>
                  <a:gd name="T3" fmla="*/ 0 h 4"/>
                  <a:gd name="T4" fmla="*/ 17 w 17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0" y="0"/>
                    </a:moveTo>
                    <a:lnTo>
                      <a:pt x="16" y="0"/>
                    </a:lnTo>
                    <a:lnTo>
                      <a:pt x="17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4" name="Freeform 45"/>
              <p:cNvSpPr>
                <a:spLocks noChangeArrowheads="1"/>
              </p:cNvSpPr>
              <p:nvPr/>
            </p:nvSpPr>
            <p:spPr bwMode="auto">
              <a:xfrm>
                <a:off x="4257" y="2233"/>
                <a:ext cx="556" cy="4"/>
              </a:xfrm>
              <a:custGeom>
                <a:avLst/>
                <a:gdLst>
                  <a:gd name="T0" fmla="*/ 0 w 1170"/>
                  <a:gd name="T1" fmla="*/ 0 h 4"/>
                  <a:gd name="T2" fmla="*/ 1169 w 1170"/>
                  <a:gd name="T3" fmla="*/ 0 h 4"/>
                  <a:gd name="T4" fmla="*/ 1170 w 1170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0" h="4">
                    <a:moveTo>
                      <a:pt x="0" y="0"/>
                    </a:moveTo>
                    <a:lnTo>
                      <a:pt x="1169" y="0"/>
                    </a:lnTo>
                    <a:lnTo>
                      <a:pt x="1170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61" name="Oval 46"/>
            <p:cNvSpPr>
              <a:spLocks noChangeArrowheads="1"/>
            </p:cNvSpPr>
            <p:nvPr/>
          </p:nvSpPr>
          <p:spPr bwMode="auto">
            <a:xfrm>
              <a:off x="4159" y="1577"/>
              <a:ext cx="419" cy="405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68" name="Group 47"/>
          <p:cNvGrpSpPr>
            <a:grpSpLocks/>
          </p:cNvGrpSpPr>
          <p:nvPr/>
        </p:nvGrpSpPr>
        <p:grpSpPr bwMode="auto">
          <a:xfrm>
            <a:off x="3166197" y="1508125"/>
            <a:ext cx="2487612" cy="2646363"/>
            <a:chOff x="1136" y="738"/>
            <a:chExt cx="1567" cy="1667"/>
          </a:xfrm>
        </p:grpSpPr>
        <p:sp>
          <p:nvSpPr>
            <p:cNvPr id="69" name="Line 48"/>
            <p:cNvSpPr>
              <a:spLocks noChangeShapeType="1"/>
            </p:cNvSpPr>
            <p:nvPr/>
          </p:nvSpPr>
          <p:spPr bwMode="auto">
            <a:xfrm>
              <a:off x="2453" y="849"/>
              <a:ext cx="129" cy="1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" name="Oval 49"/>
            <p:cNvSpPr>
              <a:spLocks noChangeArrowheads="1"/>
            </p:cNvSpPr>
            <p:nvPr/>
          </p:nvSpPr>
          <p:spPr bwMode="auto">
            <a:xfrm>
              <a:off x="1393" y="1788"/>
              <a:ext cx="564" cy="507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1" name="Line 50"/>
            <p:cNvSpPr>
              <a:spLocks noChangeShapeType="1"/>
            </p:cNvSpPr>
            <p:nvPr/>
          </p:nvSpPr>
          <p:spPr bwMode="auto">
            <a:xfrm>
              <a:off x="2158" y="1144"/>
              <a:ext cx="128" cy="1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" name="Line 51"/>
            <p:cNvSpPr>
              <a:spLocks noChangeShapeType="1"/>
            </p:cNvSpPr>
            <p:nvPr/>
          </p:nvSpPr>
          <p:spPr bwMode="auto">
            <a:xfrm>
              <a:off x="1393" y="1221"/>
              <a:ext cx="0" cy="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" name="Line 52"/>
            <p:cNvSpPr>
              <a:spLocks noChangeShapeType="1"/>
            </p:cNvSpPr>
            <p:nvPr/>
          </p:nvSpPr>
          <p:spPr bwMode="auto">
            <a:xfrm>
              <a:off x="1957" y="1221"/>
              <a:ext cx="0" cy="1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" name="Line 53"/>
            <p:cNvSpPr>
              <a:spLocks noChangeShapeType="1"/>
            </p:cNvSpPr>
            <p:nvPr/>
          </p:nvSpPr>
          <p:spPr bwMode="auto">
            <a:xfrm>
              <a:off x="1258" y="1226"/>
              <a:ext cx="82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" name="Freeform 54"/>
            <p:cNvSpPr>
              <a:spLocks noChangeArrowheads="1"/>
            </p:cNvSpPr>
            <p:nvPr/>
          </p:nvSpPr>
          <p:spPr bwMode="auto">
            <a:xfrm>
              <a:off x="2081" y="738"/>
              <a:ext cx="489" cy="489"/>
            </a:xfrm>
            <a:custGeom>
              <a:avLst/>
              <a:gdLst>
                <a:gd name="T0" fmla="*/ 0 w 489"/>
                <a:gd name="T1" fmla="*/ 489 h 489"/>
                <a:gd name="T2" fmla="*/ 489 w 489"/>
                <a:gd name="T3" fmla="*/ 0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89" h="489">
                  <a:moveTo>
                    <a:pt x="0" y="489"/>
                  </a:moveTo>
                  <a:lnTo>
                    <a:pt x="48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6" name="Freeform 55"/>
            <p:cNvSpPr>
              <a:spLocks noChangeArrowheads="1"/>
            </p:cNvSpPr>
            <p:nvPr/>
          </p:nvSpPr>
          <p:spPr bwMode="auto">
            <a:xfrm>
              <a:off x="2570" y="738"/>
              <a:ext cx="133" cy="133"/>
            </a:xfrm>
            <a:custGeom>
              <a:avLst/>
              <a:gdLst>
                <a:gd name="T0" fmla="*/ 0 w 133"/>
                <a:gd name="T1" fmla="*/ 0 h 133"/>
                <a:gd name="T2" fmla="*/ 133 w 133"/>
                <a:gd name="T3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3" h="133">
                  <a:moveTo>
                    <a:pt x="0" y="0"/>
                  </a:moveTo>
                  <a:lnTo>
                    <a:pt x="133" y="13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7" name="Freeform 56"/>
            <p:cNvSpPr>
              <a:spLocks noChangeArrowheads="1"/>
            </p:cNvSpPr>
            <p:nvPr/>
          </p:nvSpPr>
          <p:spPr bwMode="auto">
            <a:xfrm>
              <a:off x="2170" y="871"/>
              <a:ext cx="533" cy="533"/>
            </a:xfrm>
            <a:custGeom>
              <a:avLst/>
              <a:gdLst>
                <a:gd name="T0" fmla="*/ 0 w 533"/>
                <a:gd name="T1" fmla="*/ 533 h 533"/>
                <a:gd name="T2" fmla="*/ 533 w 533"/>
                <a:gd name="T3" fmla="*/ 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33" h="533">
                  <a:moveTo>
                    <a:pt x="0" y="533"/>
                  </a:moveTo>
                  <a:lnTo>
                    <a:pt x="53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8" name="Line 57"/>
            <p:cNvSpPr>
              <a:spLocks noChangeShapeType="1"/>
            </p:cNvSpPr>
            <p:nvPr/>
          </p:nvSpPr>
          <p:spPr bwMode="auto">
            <a:xfrm flipH="1">
              <a:off x="1243" y="1407"/>
              <a:ext cx="9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" name="Freeform 58"/>
            <p:cNvSpPr>
              <a:spLocks noChangeArrowheads="1"/>
            </p:cNvSpPr>
            <p:nvPr/>
          </p:nvSpPr>
          <p:spPr bwMode="auto">
            <a:xfrm>
              <a:off x="1243" y="1227"/>
              <a:ext cx="4" cy="189"/>
            </a:xfrm>
            <a:custGeom>
              <a:avLst/>
              <a:gdLst>
                <a:gd name="T0" fmla="*/ 0 w 4"/>
                <a:gd name="T1" fmla="*/ 189 h 189"/>
                <a:gd name="T2" fmla="*/ 4 w 4"/>
                <a:gd name="T3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" h="189">
                  <a:moveTo>
                    <a:pt x="0" y="189"/>
                  </a:moveTo>
                  <a:lnTo>
                    <a:pt x="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0" name="Freeform 59"/>
            <p:cNvSpPr>
              <a:spLocks noChangeArrowheads="1"/>
            </p:cNvSpPr>
            <p:nvPr/>
          </p:nvSpPr>
          <p:spPr bwMode="auto">
            <a:xfrm>
              <a:off x="1243" y="2401"/>
              <a:ext cx="919" cy="4"/>
            </a:xfrm>
            <a:custGeom>
              <a:avLst/>
              <a:gdLst>
                <a:gd name="T0" fmla="*/ 0 w 1933"/>
                <a:gd name="T1" fmla="*/ 0 h 4"/>
                <a:gd name="T2" fmla="*/ 1932 w 1933"/>
                <a:gd name="T3" fmla="*/ 0 h 4"/>
                <a:gd name="T4" fmla="*/ 1933 w 1933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33" h="4">
                  <a:moveTo>
                    <a:pt x="0" y="0"/>
                  </a:moveTo>
                  <a:lnTo>
                    <a:pt x="1932" y="0"/>
                  </a:lnTo>
                  <a:lnTo>
                    <a:pt x="193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1" name="Freeform 60"/>
            <p:cNvSpPr>
              <a:spLocks noChangeArrowheads="1"/>
            </p:cNvSpPr>
            <p:nvPr/>
          </p:nvSpPr>
          <p:spPr bwMode="auto">
            <a:xfrm>
              <a:off x="1243" y="1665"/>
              <a:ext cx="915" cy="4"/>
            </a:xfrm>
            <a:custGeom>
              <a:avLst/>
              <a:gdLst>
                <a:gd name="T0" fmla="*/ 0 w 1928"/>
                <a:gd name="T1" fmla="*/ 0 h 4"/>
                <a:gd name="T2" fmla="*/ 1927 w 1928"/>
                <a:gd name="T3" fmla="*/ 0 h 4"/>
                <a:gd name="T4" fmla="*/ 1928 w 1928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28" h="4">
                  <a:moveTo>
                    <a:pt x="0" y="0"/>
                  </a:moveTo>
                  <a:lnTo>
                    <a:pt x="1927" y="0"/>
                  </a:lnTo>
                  <a:lnTo>
                    <a:pt x="192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2" name="Freeform 61"/>
            <p:cNvSpPr>
              <a:spLocks noChangeArrowheads="1"/>
            </p:cNvSpPr>
            <p:nvPr/>
          </p:nvSpPr>
          <p:spPr bwMode="auto">
            <a:xfrm>
              <a:off x="1243" y="1665"/>
              <a:ext cx="4" cy="736"/>
            </a:xfrm>
            <a:custGeom>
              <a:avLst/>
              <a:gdLst>
                <a:gd name="T0" fmla="*/ 0 w 1"/>
                <a:gd name="T1" fmla="*/ 1545 h 1545"/>
                <a:gd name="T2" fmla="*/ 0 w 1"/>
                <a:gd name="T3" fmla="*/ 0 h 1545"/>
                <a:gd name="T4" fmla="*/ 1 w 1"/>
                <a:gd name="T5" fmla="*/ 0 h 1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545">
                  <a:moveTo>
                    <a:pt x="0" y="154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3" name="Freeform 62"/>
            <p:cNvSpPr>
              <a:spLocks noChangeArrowheads="1"/>
            </p:cNvSpPr>
            <p:nvPr/>
          </p:nvSpPr>
          <p:spPr bwMode="auto">
            <a:xfrm>
              <a:off x="2103" y="1665"/>
              <a:ext cx="4" cy="736"/>
            </a:xfrm>
            <a:custGeom>
              <a:avLst/>
              <a:gdLst>
                <a:gd name="T0" fmla="*/ 0 w 1"/>
                <a:gd name="T1" fmla="*/ 1545 h 1545"/>
                <a:gd name="T2" fmla="*/ 0 w 1"/>
                <a:gd name="T3" fmla="*/ 0 h 1545"/>
                <a:gd name="T4" fmla="*/ 1 w 1"/>
                <a:gd name="T5" fmla="*/ 0 h 1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545">
                  <a:moveTo>
                    <a:pt x="0" y="154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4" name="Freeform 63"/>
            <p:cNvSpPr>
              <a:spLocks noChangeArrowheads="1"/>
            </p:cNvSpPr>
            <p:nvPr/>
          </p:nvSpPr>
          <p:spPr bwMode="auto">
            <a:xfrm>
              <a:off x="2159" y="1665"/>
              <a:ext cx="55" cy="736"/>
            </a:xfrm>
            <a:custGeom>
              <a:avLst/>
              <a:gdLst>
                <a:gd name="T0" fmla="*/ 0 w 55"/>
                <a:gd name="T1" fmla="*/ 0 h 736"/>
                <a:gd name="T2" fmla="*/ 44 w 55"/>
                <a:gd name="T3" fmla="*/ 118 h 736"/>
                <a:gd name="T4" fmla="*/ 44 w 55"/>
                <a:gd name="T5" fmla="*/ 218 h 736"/>
                <a:gd name="T6" fmla="*/ 11 w 55"/>
                <a:gd name="T7" fmla="*/ 341 h 736"/>
                <a:gd name="T8" fmla="*/ 55 w 55"/>
                <a:gd name="T9" fmla="*/ 518 h 736"/>
                <a:gd name="T10" fmla="*/ 33 w 55"/>
                <a:gd name="T11" fmla="*/ 629 h 736"/>
                <a:gd name="T12" fmla="*/ 2 w 55"/>
                <a:gd name="T13" fmla="*/ 736 h 736"/>
                <a:gd name="T14" fmla="*/ 3 w 55"/>
                <a:gd name="T15" fmla="*/ 736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736">
                  <a:moveTo>
                    <a:pt x="0" y="0"/>
                  </a:moveTo>
                  <a:lnTo>
                    <a:pt x="44" y="118"/>
                  </a:lnTo>
                  <a:lnTo>
                    <a:pt x="44" y="218"/>
                  </a:lnTo>
                  <a:lnTo>
                    <a:pt x="11" y="341"/>
                  </a:lnTo>
                  <a:lnTo>
                    <a:pt x="55" y="518"/>
                  </a:lnTo>
                  <a:lnTo>
                    <a:pt x="33" y="629"/>
                  </a:lnTo>
                  <a:lnTo>
                    <a:pt x="2" y="736"/>
                  </a:lnTo>
                  <a:lnTo>
                    <a:pt x="3" y="7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5" name="Freeform 64"/>
            <p:cNvSpPr>
              <a:spLocks noChangeArrowheads="1"/>
            </p:cNvSpPr>
            <p:nvPr/>
          </p:nvSpPr>
          <p:spPr bwMode="auto">
            <a:xfrm>
              <a:off x="1675" y="1144"/>
              <a:ext cx="4" cy="342"/>
            </a:xfrm>
            <a:custGeom>
              <a:avLst/>
              <a:gdLst>
                <a:gd name="T0" fmla="*/ 0 w 1"/>
                <a:gd name="T1" fmla="*/ 0 h 721"/>
                <a:gd name="T2" fmla="*/ 0 w 1"/>
                <a:gd name="T3" fmla="*/ 721 h 721"/>
                <a:gd name="T4" fmla="*/ 1 w 1"/>
                <a:gd name="T5" fmla="*/ 72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21">
                  <a:moveTo>
                    <a:pt x="0" y="0"/>
                  </a:moveTo>
                  <a:lnTo>
                    <a:pt x="0" y="721"/>
                  </a:lnTo>
                  <a:lnTo>
                    <a:pt x="1" y="72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6" name="Freeform 65"/>
            <p:cNvSpPr>
              <a:spLocks noChangeArrowheads="1"/>
            </p:cNvSpPr>
            <p:nvPr/>
          </p:nvSpPr>
          <p:spPr bwMode="auto">
            <a:xfrm>
              <a:off x="2261" y="952"/>
              <a:ext cx="205" cy="209"/>
            </a:xfrm>
            <a:custGeom>
              <a:avLst/>
              <a:gdLst>
                <a:gd name="T0" fmla="*/ 0 w 434"/>
                <a:gd name="T1" fmla="*/ 0 h 434"/>
                <a:gd name="T2" fmla="*/ 433 w 434"/>
                <a:gd name="T3" fmla="*/ 434 h 434"/>
                <a:gd name="T4" fmla="*/ 434 w 434"/>
                <a:gd name="T5" fmla="*/ 43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4" h="434">
                  <a:moveTo>
                    <a:pt x="0" y="0"/>
                  </a:moveTo>
                  <a:lnTo>
                    <a:pt x="433" y="434"/>
                  </a:lnTo>
                  <a:lnTo>
                    <a:pt x="434" y="43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7" name="Freeform 66"/>
            <p:cNvSpPr>
              <a:spLocks noChangeArrowheads="1"/>
            </p:cNvSpPr>
            <p:nvPr/>
          </p:nvSpPr>
          <p:spPr bwMode="auto">
            <a:xfrm>
              <a:off x="1675" y="1709"/>
              <a:ext cx="4" cy="586"/>
            </a:xfrm>
            <a:custGeom>
              <a:avLst/>
              <a:gdLst>
                <a:gd name="T0" fmla="*/ 0 w 1"/>
                <a:gd name="T1" fmla="*/ 0 h 1239"/>
                <a:gd name="T2" fmla="*/ 0 w 1"/>
                <a:gd name="T3" fmla="*/ 1239 h 1239"/>
                <a:gd name="T4" fmla="*/ 1 w 1"/>
                <a:gd name="T5" fmla="*/ 1239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39">
                  <a:moveTo>
                    <a:pt x="0" y="0"/>
                  </a:moveTo>
                  <a:lnTo>
                    <a:pt x="0" y="1239"/>
                  </a:lnTo>
                  <a:lnTo>
                    <a:pt x="1" y="123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88" name="Group 67"/>
            <p:cNvGrpSpPr>
              <a:grpSpLocks/>
            </p:cNvGrpSpPr>
            <p:nvPr/>
          </p:nvGrpSpPr>
          <p:grpSpPr bwMode="auto">
            <a:xfrm>
              <a:off x="1136" y="2033"/>
              <a:ext cx="1099" cy="4"/>
              <a:chOff x="1400" y="2605"/>
              <a:chExt cx="1099" cy="4"/>
            </a:xfrm>
          </p:grpSpPr>
          <p:sp>
            <p:nvSpPr>
              <p:cNvPr id="90" name="Freeform 68"/>
              <p:cNvSpPr>
                <a:spLocks noChangeArrowheads="1"/>
              </p:cNvSpPr>
              <p:nvPr/>
            </p:nvSpPr>
            <p:spPr bwMode="auto">
              <a:xfrm>
                <a:off x="1400" y="2605"/>
                <a:ext cx="599" cy="4"/>
              </a:xfrm>
              <a:custGeom>
                <a:avLst/>
                <a:gdLst>
                  <a:gd name="T0" fmla="*/ 0 w 1258"/>
                  <a:gd name="T1" fmla="*/ 0 h 4"/>
                  <a:gd name="T2" fmla="*/ 1257 w 1258"/>
                  <a:gd name="T3" fmla="*/ 0 h 4"/>
                  <a:gd name="T4" fmla="*/ 1258 w 1258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58" h="4">
                    <a:moveTo>
                      <a:pt x="0" y="0"/>
                    </a:moveTo>
                    <a:lnTo>
                      <a:pt x="1257" y="0"/>
                    </a:lnTo>
                    <a:lnTo>
                      <a:pt x="1258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1" name="Freeform 69"/>
              <p:cNvSpPr>
                <a:spLocks noChangeArrowheads="1"/>
              </p:cNvSpPr>
              <p:nvPr/>
            </p:nvSpPr>
            <p:spPr bwMode="auto">
              <a:xfrm>
                <a:off x="2054" y="2605"/>
                <a:ext cx="13" cy="4"/>
              </a:xfrm>
              <a:custGeom>
                <a:avLst/>
                <a:gdLst>
                  <a:gd name="T0" fmla="*/ 0 w 31"/>
                  <a:gd name="T1" fmla="*/ 0 h 4"/>
                  <a:gd name="T2" fmla="*/ 30 w 31"/>
                  <a:gd name="T3" fmla="*/ 0 h 4"/>
                  <a:gd name="T4" fmla="*/ 31 w 3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4">
                    <a:moveTo>
                      <a:pt x="0" y="0"/>
                    </a:moveTo>
                    <a:lnTo>
                      <a:pt x="30" y="0"/>
                    </a:lnTo>
                    <a:lnTo>
                      <a:pt x="3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2" name="Freeform 70"/>
              <p:cNvSpPr>
                <a:spLocks noChangeArrowheads="1"/>
              </p:cNvSpPr>
              <p:nvPr/>
            </p:nvSpPr>
            <p:spPr bwMode="auto">
              <a:xfrm>
                <a:off x="2119" y="2605"/>
                <a:ext cx="380" cy="4"/>
              </a:xfrm>
              <a:custGeom>
                <a:avLst/>
                <a:gdLst>
                  <a:gd name="T0" fmla="*/ 0 w 804"/>
                  <a:gd name="T1" fmla="*/ 0 h 4"/>
                  <a:gd name="T2" fmla="*/ 803 w 804"/>
                  <a:gd name="T3" fmla="*/ 0 h 4"/>
                  <a:gd name="T4" fmla="*/ 804 w 80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04" h="4">
                    <a:moveTo>
                      <a:pt x="0" y="0"/>
                    </a:moveTo>
                    <a:lnTo>
                      <a:pt x="803" y="0"/>
                    </a:lnTo>
                    <a:lnTo>
                      <a:pt x="80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89" name="Line 71"/>
            <p:cNvSpPr>
              <a:spLocks noChangeShapeType="1"/>
            </p:cNvSpPr>
            <p:nvPr/>
          </p:nvSpPr>
          <p:spPr bwMode="auto">
            <a:xfrm>
              <a:off x="1675" y="1718"/>
              <a:ext cx="0" cy="6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lgDashDot"/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93" name="Text Box 72"/>
          <p:cNvSpPr txBox="1">
            <a:spLocks noChangeArrowheads="1"/>
          </p:cNvSpPr>
          <p:nvPr/>
        </p:nvSpPr>
        <p:spPr bwMode="auto">
          <a:xfrm>
            <a:off x="3051103" y="5327649"/>
            <a:ext cx="57246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0" hangingPunct="0"/>
            <a:r>
              <a:rPr lang="en-US" altLang="zh-CN" b="0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★</a:t>
            </a:r>
            <a:r>
              <a:rPr lang="en-US" altLang="zh-CN" b="0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 </a:t>
            </a:r>
            <a:r>
              <a:rPr lang="zh-CN" altLang="en-US" b="0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斜视图通常按投射方向配置和标注。   </a:t>
            </a:r>
          </a:p>
        </p:txBody>
      </p:sp>
      <p:sp>
        <p:nvSpPr>
          <p:cNvPr id="94" name="Text Box 73"/>
          <p:cNvSpPr txBox="1">
            <a:spLocks noChangeArrowheads="1"/>
          </p:cNvSpPr>
          <p:nvPr/>
        </p:nvSpPr>
        <p:spPr bwMode="auto">
          <a:xfrm>
            <a:off x="3036816" y="4892674"/>
            <a:ext cx="64658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b="0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★</a:t>
            </a:r>
            <a:r>
              <a:rPr lang="en-US" altLang="zh-CN" b="0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 </a:t>
            </a:r>
            <a:r>
              <a:rPr lang="zh-CN" altLang="en-US" b="0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斜视图的断裂边界用</a:t>
            </a:r>
            <a:r>
              <a:rPr lang="zh-CN" altLang="en-US" b="0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波浪线</a:t>
            </a:r>
            <a:r>
              <a:rPr lang="zh-CN" altLang="en-US" b="0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或</a:t>
            </a:r>
            <a:r>
              <a:rPr lang="zh-CN" altLang="en-US" b="0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双折线</a:t>
            </a:r>
            <a:r>
              <a:rPr lang="zh-CN" altLang="en-US" b="0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表示。</a:t>
            </a:r>
          </a:p>
        </p:txBody>
      </p:sp>
      <p:sp>
        <p:nvSpPr>
          <p:cNvPr id="95" name="Text Box 74"/>
          <p:cNvSpPr txBox="1">
            <a:spLocks noChangeArrowheads="1"/>
          </p:cNvSpPr>
          <p:nvPr/>
        </p:nvSpPr>
        <p:spPr bwMode="auto">
          <a:xfrm>
            <a:off x="3051103" y="5724524"/>
            <a:ext cx="76581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0" hangingPunct="0"/>
            <a:r>
              <a:rPr lang="en-US" altLang="zh-CN" b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★ </a:t>
            </a:r>
            <a:r>
              <a:rPr lang="zh-CN" altLang="en-US" b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允许将斜视图旋转配置，但需在斜视图上方注明</a:t>
            </a:r>
            <a:r>
              <a:rPr lang="zh-CN" altLang="en-US" b="0">
                <a:latin typeface="华文细黑" panose="02010600040101010101" pitchFamily="2" charset="-122"/>
                <a:ea typeface="华文细黑" panose="02010600040101010101" pitchFamily="2" charset="-122"/>
                <a:sym typeface="CommercialPi BT" panose="05020102010206080802" pitchFamily="18" charset="2"/>
              </a:rPr>
              <a:t>。</a:t>
            </a:r>
          </a:p>
        </p:txBody>
      </p:sp>
    </p:spTree>
    <p:extLst>
      <p:ext uri="{BB962C8B-B14F-4D97-AF65-F5344CB8AC3E}">
        <p14:creationId xmlns:p14="http://schemas.microsoft.com/office/powerpoint/2010/main" val="31028333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7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3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93" grpId="0"/>
      <p:bldP spid="94" grpId="0"/>
      <p:bldP spid="9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699234" y="364233"/>
            <a:ext cx="2262158" cy="1200329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>
            <a:spAutoFit/>
          </a:bodyPr>
          <a:lstStyle/>
          <a:p>
            <a:r>
              <a:rPr lang="en-US" altLang="zh-CN" sz="3600" b="1" i="1" dirty="0">
                <a:solidFill>
                  <a:srgbClr val="0066CC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6.2 </a:t>
            </a:r>
            <a:r>
              <a:rPr lang="zh-CN" altLang="en-US" sz="3600" b="1" i="1" dirty="0">
                <a:solidFill>
                  <a:srgbClr val="0066CC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剖</a:t>
            </a:r>
            <a:r>
              <a:rPr lang="zh-CN" altLang="en-US" sz="3600" b="1" i="1" dirty="0">
                <a:solidFill>
                  <a:srgbClr val="0066CC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视图</a:t>
            </a:r>
            <a:endParaRPr lang="en-US" altLang="zh-CN" sz="3600" b="1" i="1" dirty="0">
              <a:solidFill>
                <a:srgbClr val="0066CC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endParaRPr lang="en-US" altLang="zh-CN" sz="3600" b="1" i="1" dirty="0">
              <a:solidFill>
                <a:srgbClr val="0066CC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微软雅黑" panose="020B0503020204020204" pitchFamily="34" charset="-122"/>
            </a:endParaRPr>
          </a:p>
        </p:txBody>
      </p:sp>
      <p:grpSp>
        <p:nvGrpSpPr>
          <p:cNvPr id="11" name="Group 9"/>
          <p:cNvGrpSpPr>
            <a:grpSpLocks/>
          </p:cNvGrpSpPr>
          <p:nvPr/>
        </p:nvGrpSpPr>
        <p:grpSpPr bwMode="auto">
          <a:xfrm>
            <a:off x="7832233" y="1735139"/>
            <a:ext cx="3223695" cy="2836861"/>
            <a:chOff x="3634" y="2350"/>
            <a:chExt cx="1631" cy="1425"/>
          </a:xfrm>
        </p:grpSpPr>
        <p:grpSp>
          <p:nvGrpSpPr>
            <p:cNvPr id="12" name="Group 10"/>
            <p:cNvGrpSpPr>
              <a:grpSpLocks/>
            </p:cNvGrpSpPr>
            <p:nvPr/>
          </p:nvGrpSpPr>
          <p:grpSpPr bwMode="auto">
            <a:xfrm>
              <a:off x="3634" y="2350"/>
              <a:ext cx="1099" cy="1002"/>
              <a:chOff x="1530" y="1190"/>
              <a:chExt cx="1099" cy="1002"/>
            </a:xfrm>
          </p:grpSpPr>
          <p:sp>
            <p:nvSpPr>
              <p:cNvPr id="24" name="Freeform 11"/>
              <p:cNvSpPr>
                <a:spLocks noChangeAspect="1" noChangeArrowheads="1"/>
              </p:cNvSpPr>
              <p:nvPr/>
            </p:nvSpPr>
            <p:spPr bwMode="auto">
              <a:xfrm>
                <a:off x="1530" y="1530"/>
                <a:ext cx="686" cy="494"/>
              </a:xfrm>
              <a:custGeom>
                <a:avLst/>
                <a:gdLst>
                  <a:gd name="T0" fmla="*/ 0 w 858"/>
                  <a:gd name="T1" fmla="*/ 459 h 618"/>
                  <a:gd name="T2" fmla="*/ 801 w 858"/>
                  <a:gd name="T3" fmla="*/ 0 h 618"/>
                  <a:gd name="T4" fmla="*/ 858 w 858"/>
                  <a:gd name="T5" fmla="*/ 261 h 618"/>
                  <a:gd name="T6" fmla="*/ 228 w 858"/>
                  <a:gd name="T7" fmla="*/ 618 h 618"/>
                  <a:gd name="T8" fmla="*/ 0 w 858"/>
                  <a:gd name="T9" fmla="*/ 459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8" h="618">
                    <a:moveTo>
                      <a:pt x="0" y="459"/>
                    </a:moveTo>
                    <a:lnTo>
                      <a:pt x="801" y="0"/>
                    </a:lnTo>
                    <a:lnTo>
                      <a:pt x="858" y="261"/>
                    </a:lnTo>
                    <a:lnTo>
                      <a:pt x="228" y="618"/>
                    </a:lnTo>
                    <a:lnTo>
                      <a:pt x="0" y="459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762F00"/>
                  </a:gs>
                  <a:gs pos="100000">
                    <a:srgbClr val="FF6600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" name="Freeform 12"/>
              <p:cNvSpPr>
                <a:spLocks noChangeAspect="1" noChangeArrowheads="1"/>
              </p:cNvSpPr>
              <p:nvPr/>
            </p:nvSpPr>
            <p:spPr bwMode="auto">
              <a:xfrm>
                <a:off x="2012" y="1888"/>
                <a:ext cx="86" cy="163"/>
              </a:xfrm>
              <a:custGeom>
                <a:avLst/>
                <a:gdLst>
                  <a:gd name="T0" fmla="*/ 107 w 107"/>
                  <a:gd name="T1" fmla="*/ 184 h 204"/>
                  <a:gd name="T2" fmla="*/ 59 w 107"/>
                  <a:gd name="T3" fmla="*/ 180 h 204"/>
                  <a:gd name="T4" fmla="*/ 35 w 107"/>
                  <a:gd name="T5" fmla="*/ 184 h 204"/>
                  <a:gd name="T6" fmla="*/ 3 w 107"/>
                  <a:gd name="T7" fmla="*/ 204 h 204"/>
                  <a:gd name="T8" fmla="*/ 3 w 107"/>
                  <a:gd name="T9" fmla="*/ 60 h 204"/>
                  <a:gd name="T10" fmla="*/ 0 w 107"/>
                  <a:gd name="T11" fmla="*/ 32 h 204"/>
                  <a:gd name="T12" fmla="*/ 15 w 107"/>
                  <a:gd name="T13" fmla="*/ 12 h 204"/>
                  <a:gd name="T14" fmla="*/ 47 w 107"/>
                  <a:gd name="T15" fmla="*/ 0 h 204"/>
                  <a:gd name="T16" fmla="*/ 107 w 107"/>
                  <a:gd name="T17" fmla="*/ 8 h 204"/>
                  <a:gd name="T18" fmla="*/ 107 w 107"/>
                  <a:gd name="T19" fmla="*/ 18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7" h="204">
                    <a:moveTo>
                      <a:pt x="107" y="184"/>
                    </a:moveTo>
                    <a:lnTo>
                      <a:pt x="59" y="180"/>
                    </a:lnTo>
                    <a:lnTo>
                      <a:pt x="35" y="184"/>
                    </a:lnTo>
                    <a:lnTo>
                      <a:pt x="3" y="204"/>
                    </a:lnTo>
                    <a:lnTo>
                      <a:pt x="3" y="60"/>
                    </a:lnTo>
                    <a:lnTo>
                      <a:pt x="0" y="32"/>
                    </a:lnTo>
                    <a:lnTo>
                      <a:pt x="15" y="12"/>
                    </a:lnTo>
                    <a:lnTo>
                      <a:pt x="47" y="0"/>
                    </a:lnTo>
                    <a:lnTo>
                      <a:pt x="107" y="8"/>
                    </a:lnTo>
                    <a:lnTo>
                      <a:pt x="107" y="184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FFCC00"/>
                  </a:gs>
                  <a:gs pos="100000">
                    <a:srgbClr val="A282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156" y="1335"/>
                <a:ext cx="64" cy="400"/>
              </a:xfrm>
              <a:custGeom>
                <a:avLst/>
                <a:gdLst>
                  <a:gd name="T0" fmla="*/ 0 w 79"/>
                  <a:gd name="T1" fmla="*/ 0 h 499"/>
                  <a:gd name="T2" fmla="*/ 0 w 79"/>
                  <a:gd name="T3" fmla="*/ 390 h 499"/>
                  <a:gd name="T4" fmla="*/ 9 w 79"/>
                  <a:gd name="T5" fmla="*/ 432 h 499"/>
                  <a:gd name="T6" fmla="*/ 35 w 79"/>
                  <a:gd name="T7" fmla="*/ 463 h 499"/>
                  <a:gd name="T8" fmla="*/ 54 w 79"/>
                  <a:gd name="T9" fmla="*/ 486 h 499"/>
                  <a:gd name="T10" fmla="*/ 79 w 79"/>
                  <a:gd name="T11" fmla="*/ 499 h 499"/>
                  <a:gd name="T12" fmla="*/ 79 w 79"/>
                  <a:gd name="T13" fmla="*/ 191 h 499"/>
                  <a:gd name="T14" fmla="*/ 0 w 79"/>
                  <a:gd name="T15" fmla="*/ 0 h 4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499">
                    <a:moveTo>
                      <a:pt x="0" y="0"/>
                    </a:moveTo>
                    <a:lnTo>
                      <a:pt x="0" y="390"/>
                    </a:lnTo>
                    <a:lnTo>
                      <a:pt x="9" y="432"/>
                    </a:lnTo>
                    <a:lnTo>
                      <a:pt x="35" y="463"/>
                    </a:lnTo>
                    <a:lnTo>
                      <a:pt x="54" y="486"/>
                    </a:lnTo>
                    <a:lnTo>
                      <a:pt x="79" y="499"/>
                    </a:lnTo>
                    <a:lnTo>
                      <a:pt x="79" y="19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5E0000"/>
                  </a:gs>
                  <a:gs pos="100000">
                    <a:srgbClr val="CC00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" name="Freeform 14"/>
              <p:cNvSpPr>
                <a:spLocks noChangeAspect="1" noChangeArrowheads="1"/>
              </p:cNvSpPr>
              <p:nvPr/>
            </p:nvSpPr>
            <p:spPr bwMode="auto">
              <a:xfrm>
                <a:off x="1947" y="1760"/>
                <a:ext cx="188" cy="120"/>
              </a:xfrm>
              <a:custGeom>
                <a:avLst/>
                <a:gdLst>
                  <a:gd name="T0" fmla="*/ 234 w 234"/>
                  <a:gd name="T1" fmla="*/ 24 h 150"/>
                  <a:gd name="T2" fmla="*/ 204 w 234"/>
                  <a:gd name="T3" fmla="*/ 15 h 150"/>
                  <a:gd name="T4" fmla="*/ 165 w 234"/>
                  <a:gd name="T5" fmla="*/ 3 h 150"/>
                  <a:gd name="T6" fmla="*/ 132 w 234"/>
                  <a:gd name="T7" fmla="*/ 0 h 150"/>
                  <a:gd name="T8" fmla="*/ 78 w 234"/>
                  <a:gd name="T9" fmla="*/ 9 h 150"/>
                  <a:gd name="T10" fmla="*/ 36 w 234"/>
                  <a:gd name="T11" fmla="*/ 24 h 150"/>
                  <a:gd name="T12" fmla="*/ 21 w 234"/>
                  <a:gd name="T13" fmla="*/ 42 h 150"/>
                  <a:gd name="T14" fmla="*/ 6 w 234"/>
                  <a:gd name="T15" fmla="*/ 63 h 150"/>
                  <a:gd name="T16" fmla="*/ 0 w 234"/>
                  <a:gd name="T17" fmla="*/ 90 h 150"/>
                  <a:gd name="T18" fmla="*/ 12 w 234"/>
                  <a:gd name="T19" fmla="*/ 114 h 150"/>
                  <a:gd name="T20" fmla="*/ 48 w 234"/>
                  <a:gd name="T21" fmla="*/ 150 h 150"/>
                  <a:gd name="T22" fmla="*/ 231 w 234"/>
                  <a:gd name="T23" fmla="*/ 135 h 150"/>
                  <a:gd name="T24" fmla="*/ 234 w 234"/>
                  <a:gd name="T25" fmla="*/ 24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4" h="150">
                    <a:moveTo>
                      <a:pt x="234" y="24"/>
                    </a:moveTo>
                    <a:lnTo>
                      <a:pt x="204" y="15"/>
                    </a:lnTo>
                    <a:lnTo>
                      <a:pt x="165" y="3"/>
                    </a:lnTo>
                    <a:lnTo>
                      <a:pt x="132" y="0"/>
                    </a:lnTo>
                    <a:lnTo>
                      <a:pt x="78" y="9"/>
                    </a:lnTo>
                    <a:lnTo>
                      <a:pt x="36" y="24"/>
                    </a:lnTo>
                    <a:lnTo>
                      <a:pt x="21" y="42"/>
                    </a:lnTo>
                    <a:lnTo>
                      <a:pt x="6" y="63"/>
                    </a:lnTo>
                    <a:lnTo>
                      <a:pt x="0" y="90"/>
                    </a:lnTo>
                    <a:lnTo>
                      <a:pt x="12" y="114"/>
                    </a:lnTo>
                    <a:lnTo>
                      <a:pt x="48" y="150"/>
                    </a:lnTo>
                    <a:lnTo>
                      <a:pt x="231" y="135"/>
                    </a:lnTo>
                    <a:lnTo>
                      <a:pt x="234" y="24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FFCC00"/>
                  </a:gs>
                  <a:gs pos="100000">
                    <a:srgbClr val="765E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" name="Freeform 15"/>
              <p:cNvSpPr>
                <a:spLocks noChangeAspect="1" noChangeArrowheads="1"/>
              </p:cNvSpPr>
              <p:nvPr/>
            </p:nvSpPr>
            <p:spPr bwMode="auto">
              <a:xfrm>
                <a:off x="1976" y="1850"/>
                <a:ext cx="160" cy="109"/>
              </a:xfrm>
              <a:custGeom>
                <a:avLst/>
                <a:gdLst>
                  <a:gd name="T0" fmla="*/ 52 w 200"/>
                  <a:gd name="T1" fmla="*/ 116 h 136"/>
                  <a:gd name="T2" fmla="*/ 48 w 200"/>
                  <a:gd name="T3" fmla="*/ 80 h 136"/>
                  <a:gd name="T4" fmla="*/ 60 w 200"/>
                  <a:gd name="T5" fmla="*/ 59 h 136"/>
                  <a:gd name="T6" fmla="*/ 99 w 200"/>
                  <a:gd name="T7" fmla="*/ 56 h 136"/>
                  <a:gd name="T8" fmla="*/ 153 w 200"/>
                  <a:gd name="T9" fmla="*/ 62 h 136"/>
                  <a:gd name="T10" fmla="*/ 200 w 200"/>
                  <a:gd name="T11" fmla="*/ 24 h 136"/>
                  <a:gd name="T12" fmla="*/ 174 w 200"/>
                  <a:gd name="T13" fmla="*/ 8 h 136"/>
                  <a:gd name="T14" fmla="*/ 140 w 200"/>
                  <a:gd name="T15" fmla="*/ 0 h 136"/>
                  <a:gd name="T16" fmla="*/ 96 w 200"/>
                  <a:gd name="T17" fmla="*/ 0 h 136"/>
                  <a:gd name="T18" fmla="*/ 48 w 200"/>
                  <a:gd name="T19" fmla="*/ 8 h 136"/>
                  <a:gd name="T20" fmla="*/ 0 w 200"/>
                  <a:gd name="T21" fmla="*/ 41 h 136"/>
                  <a:gd name="T22" fmla="*/ 4 w 200"/>
                  <a:gd name="T23" fmla="*/ 136 h 136"/>
                  <a:gd name="T24" fmla="*/ 52 w 200"/>
                  <a:gd name="T25" fmla="*/ 11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0" h="136">
                    <a:moveTo>
                      <a:pt x="52" y="116"/>
                    </a:moveTo>
                    <a:lnTo>
                      <a:pt x="48" y="80"/>
                    </a:lnTo>
                    <a:lnTo>
                      <a:pt x="60" y="59"/>
                    </a:lnTo>
                    <a:lnTo>
                      <a:pt x="99" y="56"/>
                    </a:lnTo>
                    <a:lnTo>
                      <a:pt x="153" y="62"/>
                    </a:lnTo>
                    <a:lnTo>
                      <a:pt x="200" y="24"/>
                    </a:lnTo>
                    <a:lnTo>
                      <a:pt x="174" y="8"/>
                    </a:lnTo>
                    <a:lnTo>
                      <a:pt x="140" y="0"/>
                    </a:lnTo>
                    <a:lnTo>
                      <a:pt x="96" y="0"/>
                    </a:lnTo>
                    <a:lnTo>
                      <a:pt x="48" y="8"/>
                    </a:lnTo>
                    <a:lnTo>
                      <a:pt x="0" y="41"/>
                    </a:lnTo>
                    <a:lnTo>
                      <a:pt x="4" y="136"/>
                    </a:lnTo>
                    <a:lnTo>
                      <a:pt x="52" y="116"/>
                    </a:lnTo>
                    <a:close/>
                  </a:path>
                </a:pathLst>
              </a:custGeom>
              <a:solidFill>
                <a:srgbClr val="FF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" name="Freeform 16"/>
              <p:cNvSpPr>
                <a:spLocks noChangeAspect="1" noChangeArrowheads="1"/>
              </p:cNvSpPr>
              <p:nvPr/>
            </p:nvSpPr>
            <p:spPr bwMode="auto">
              <a:xfrm>
                <a:off x="2220" y="1245"/>
                <a:ext cx="339" cy="157"/>
              </a:xfrm>
              <a:custGeom>
                <a:avLst/>
                <a:gdLst>
                  <a:gd name="T0" fmla="*/ 0 w 424"/>
                  <a:gd name="T1" fmla="*/ 116 h 196"/>
                  <a:gd name="T2" fmla="*/ 40 w 424"/>
                  <a:gd name="T3" fmla="*/ 48 h 196"/>
                  <a:gd name="T4" fmla="*/ 92 w 424"/>
                  <a:gd name="T5" fmla="*/ 28 h 196"/>
                  <a:gd name="T6" fmla="*/ 124 w 424"/>
                  <a:gd name="T7" fmla="*/ 16 h 196"/>
                  <a:gd name="T8" fmla="*/ 180 w 424"/>
                  <a:gd name="T9" fmla="*/ 4 h 196"/>
                  <a:gd name="T10" fmla="*/ 244 w 424"/>
                  <a:gd name="T11" fmla="*/ 0 h 196"/>
                  <a:gd name="T12" fmla="*/ 320 w 424"/>
                  <a:gd name="T13" fmla="*/ 8 h 196"/>
                  <a:gd name="T14" fmla="*/ 380 w 424"/>
                  <a:gd name="T15" fmla="*/ 20 h 196"/>
                  <a:gd name="T16" fmla="*/ 424 w 424"/>
                  <a:gd name="T17" fmla="*/ 36 h 196"/>
                  <a:gd name="T18" fmla="*/ 424 w 424"/>
                  <a:gd name="T19" fmla="*/ 144 h 196"/>
                  <a:gd name="T20" fmla="*/ 32 w 424"/>
                  <a:gd name="T21" fmla="*/ 196 h 196"/>
                  <a:gd name="T22" fmla="*/ 0 w 424"/>
                  <a:gd name="T23" fmla="*/ 11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196">
                    <a:moveTo>
                      <a:pt x="0" y="116"/>
                    </a:moveTo>
                    <a:lnTo>
                      <a:pt x="40" y="48"/>
                    </a:lnTo>
                    <a:lnTo>
                      <a:pt x="92" y="28"/>
                    </a:lnTo>
                    <a:lnTo>
                      <a:pt x="124" y="16"/>
                    </a:lnTo>
                    <a:lnTo>
                      <a:pt x="180" y="4"/>
                    </a:lnTo>
                    <a:lnTo>
                      <a:pt x="244" y="0"/>
                    </a:lnTo>
                    <a:lnTo>
                      <a:pt x="320" y="8"/>
                    </a:lnTo>
                    <a:lnTo>
                      <a:pt x="380" y="20"/>
                    </a:lnTo>
                    <a:lnTo>
                      <a:pt x="424" y="36"/>
                    </a:lnTo>
                    <a:lnTo>
                      <a:pt x="424" y="144"/>
                    </a:lnTo>
                    <a:lnTo>
                      <a:pt x="32" y="196"/>
                    </a:lnTo>
                    <a:lnTo>
                      <a:pt x="0" y="116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76762F"/>
                  </a:gs>
                  <a:gs pos="100000">
                    <a:srgbClr val="FFFF66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" name="Freeform 17"/>
              <p:cNvSpPr>
                <a:spLocks noChangeAspect="1" noChangeArrowheads="1"/>
              </p:cNvSpPr>
              <p:nvPr/>
            </p:nvSpPr>
            <p:spPr bwMode="auto">
              <a:xfrm>
                <a:off x="2245" y="1312"/>
                <a:ext cx="320" cy="208"/>
              </a:xfrm>
              <a:custGeom>
                <a:avLst/>
                <a:gdLst>
                  <a:gd name="T0" fmla="*/ 296 w 400"/>
                  <a:gd name="T1" fmla="*/ 80 h 260"/>
                  <a:gd name="T2" fmla="*/ 332 w 400"/>
                  <a:gd name="T3" fmla="*/ 59 h 260"/>
                  <a:gd name="T4" fmla="*/ 369 w 400"/>
                  <a:gd name="T5" fmla="*/ 80 h 260"/>
                  <a:gd name="T6" fmla="*/ 400 w 400"/>
                  <a:gd name="T7" fmla="*/ 62 h 260"/>
                  <a:gd name="T8" fmla="*/ 332 w 400"/>
                  <a:gd name="T9" fmla="*/ 24 h 260"/>
                  <a:gd name="T10" fmla="*/ 288 w 400"/>
                  <a:gd name="T11" fmla="*/ 12 h 260"/>
                  <a:gd name="T12" fmla="*/ 216 w 400"/>
                  <a:gd name="T13" fmla="*/ 0 h 260"/>
                  <a:gd name="T14" fmla="*/ 152 w 400"/>
                  <a:gd name="T15" fmla="*/ 8 h 260"/>
                  <a:gd name="T16" fmla="*/ 96 w 400"/>
                  <a:gd name="T17" fmla="*/ 28 h 260"/>
                  <a:gd name="T18" fmla="*/ 52 w 400"/>
                  <a:gd name="T19" fmla="*/ 48 h 260"/>
                  <a:gd name="T20" fmla="*/ 8 w 400"/>
                  <a:gd name="T21" fmla="*/ 88 h 260"/>
                  <a:gd name="T22" fmla="*/ 0 w 400"/>
                  <a:gd name="T23" fmla="*/ 120 h 260"/>
                  <a:gd name="T24" fmla="*/ 20 w 400"/>
                  <a:gd name="T25" fmla="*/ 140 h 260"/>
                  <a:gd name="T26" fmla="*/ 52 w 400"/>
                  <a:gd name="T27" fmla="*/ 156 h 260"/>
                  <a:gd name="T28" fmla="*/ 52 w 400"/>
                  <a:gd name="T29" fmla="*/ 260 h 260"/>
                  <a:gd name="T30" fmla="*/ 100 w 400"/>
                  <a:gd name="T31" fmla="*/ 232 h 260"/>
                  <a:gd name="T32" fmla="*/ 296 w 400"/>
                  <a:gd name="T33" fmla="*/ 8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0" h="260">
                    <a:moveTo>
                      <a:pt x="296" y="80"/>
                    </a:moveTo>
                    <a:lnTo>
                      <a:pt x="332" y="59"/>
                    </a:lnTo>
                    <a:lnTo>
                      <a:pt x="369" y="80"/>
                    </a:lnTo>
                    <a:lnTo>
                      <a:pt x="400" y="62"/>
                    </a:lnTo>
                    <a:lnTo>
                      <a:pt x="332" y="24"/>
                    </a:lnTo>
                    <a:lnTo>
                      <a:pt x="288" y="12"/>
                    </a:lnTo>
                    <a:lnTo>
                      <a:pt x="216" y="0"/>
                    </a:lnTo>
                    <a:lnTo>
                      <a:pt x="152" y="8"/>
                    </a:lnTo>
                    <a:lnTo>
                      <a:pt x="96" y="28"/>
                    </a:lnTo>
                    <a:lnTo>
                      <a:pt x="52" y="48"/>
                    </a:lnTo>
                    <a:lnTo>
                      <a:pt x="8" y="88"/>
                    </a:lnTo>
                    <a:lnTo>
                      <a:pt x="0" y="120"/>
                    </a:lnTo>
                    <a:lnTo>
                      <a:pt x="20" y="140"/>
                    </a:lnTo>
                    <a:lnTo>
                      <a:pt x="52" y="156"/>
                    </a:lnTo>
                    <a:lnTo>
                      <a:pt x="52" y="260"/>
                    </a:lnTo>
                    <a:lnTo>
                      <a:pt x="100" y="232"/>
                    </a:lnTo>
                    <a:lnTo>
                      <a:pt x="296" y="80"/>
                    </a:lnTo>
                    <a:close/>
                  </a:path>
                </a:pathLst>
              </a:custGeom>
              <a:solidFill>
                <a:srgbClr val="FF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" name="Freeform 18"/>
              <p:cNvSpPr>
                <a:spLocks noChangeAspect="1" noChangeArrowheads="1"/>
              </p:cNvSpPr>
              <p:nvPr/>
            </p:nvSpPr>
            <p:spPr bwMode="auto">
              <a:xfrm>
                <a:off x="2514" y="1354"/>
                <a:ext cx="27" cy="429"/>
              </a:xfrm>
              <a:custGeom>
                <a:avLst/>
                <a:gdLst>
                  <a:gd name="T0" fmla="*/ 0 w 34"/>
                  <a:gd name="T1" fmla="*/ 0 h 536"/>
                  <a:gd name="T2" fmla="*/ 0 w 34"/>
                  <a:gd name="T3" fmla="*/ 516 h 536"/>
                  <a:gd name="T4" fmla="*/ 28 w 34"/>
                  <a:gd name="T5" fmla="*/ 536 h 536"/>
                  <a:gd name="T6" fmla="*/ 34 w 34"/>
                  <a:gd name="T7" fmla="*/ 20 h 536"/>
                  <a:gd name="T8" fmla="*/ 0 w 34"/>
                  <a:gd name="T9" fmla="*/ 0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536">
                    <a:moveTo>
                      <a:pt x="0" y="0"/>
                    </a:moveTo>
                    <a:lnTo>
                      <a:pt x="0" y="516"/>
                    </a:lnTo>
                    <a:lnTo>
                      <a:pt x="28" y="536"/>
                    </a:lnTo>
                    <a:lnTo>
                      <a:pt x="34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" name="Freeform 19"/>
              <p:cNvSpPr>
                <a:spLocks noChangeAspect="1" noChangeArrowheads="1"/>
              </p:cNvSpPr>
              <p:nvPr/>
            </p:nvSpPr>
            <p:spPr bwMode="auto">
              <a:xfrm>
                <a:off x="2482" y="1357"/>
                <a:ext cx="35" cy="419"/>
              </a:xfrm>
              <a:custGeom>
                <a:avLst/>
                <a:gdLst>
                  <a:gd name="T0" fmla="*/ 0 w 44"/>
                  <a:gd name="T1" fmla="*/ 20 h 524"/>
                  <a:gd name="T2" fmla="*/ 0 w 44"/>
                  <a:gd name="T3" fmla="*/ 524 h 524"/>
                  <a:gd name="T4" fmla="*/ 44 w 44"/>
                  <a:gd name="T5" fmla="*/ 508 h 524"/>
                  <a:gd name="T6" fmla="*/ 44 w 44"/>
                  <a:gd name="T7" fmla="*/ 0 h 524"/>
                  <a:gd name="T8" fmla="*/ 0 w 44"/>
                  <a:gd name="T9" fmla="*/ 20 h 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524">
                    <a:moveTo>
                      <a:pt x="0" y="20"/>
                    </a:moveTo>
                    <a:lnTo>
                      <a:pt x="0" y="524"/>
                    </a:lnTo>
                    <a:lnTo>
                      <a:pt x="44" y="508"/>
                    </a:lnTo>
                    <a:lnTo>
                      <a:pt x="44" y="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" name="Freeform 20"/>
              <p:cNvSpPr>
                <a:spLocks noChangeAspect="1" noChangeArrowheads="1"/>
              </p:cNvSpPr>
              <p:nvPr/>
            </p:nvSpPr>
            <p:spPr bwMode="auto">
              <a:xfrm>
                <a:off x="2296" y="1357"/>
                <a:ext cx="189" cy="438"/>
              </a:xfrm>
              <a:custGeom>
                <a:avLst/>
                <a:gdLst>
                  <a:gd name="T0" fmla="*/ 44 w 236"/>
                  <a:gd name="T1" fmla="*/ 176 h 548"/>
                  <a:gd name="T2" fmla="*/ 44 w 236"/>
                  <a:gd name="T3" fmla="*/ 548 h 548"/>
                  <a:gd name="T4" fmla="*/ 84 w 236"/>
                  <a:gd name="T5" fmla="*/ 532 h 548"/>
                  <a:gd name="T6" fmla="*/ 128 w 236"/>
                  <a:gd name="T7" fmla="*/ 524 h 548"/>
                  <a:gd name="T8" fmla="*/ 176 w 236"/>
                  <a:gd name="T9" fmla="*/ 520 h 548"/>
                  <a:gd name="T10" fmla="*/ 236 w 236"/>
                  <a:gd name="T11" fmla="*/ 528 h 548"/>
                  <a:gd name="T12" fmla="*/ 236 w 236"/>
                  <a:gd name="T13" fmla="*/ 20 h 548"/>
                  <a:gd name="T14" fmla="*/ 188 w 236"/>
                  <a:gd name="T15" fmla="*/ 8 h 548"/>
                  <a:gd name="T16" fmla="*/ 136 w 236"/>
                  <a:gd name="T17" fmla="*/ 0 h 548"/>
                  <a:gd name="T18" fmla="*/ 72 w 236"/>
                  <a:gd name="T19" fmla="*/ 8 h 548"/>
                  <a:gd name="T20" fmla="*/ 28 w 236"/>
                  <a:gd name="T21" fmla="*/ 36 h 548"/>
                  <a:gd name="T22" fmla="*/ 4 w 236"/>
                  <a:gd name="T23" fmla="*/ 64 h 548"/>
                  <a:gd name="T24" fmla="*/ 0 w 236"/>
                  <a:gd name="T25" fmla="*/ 100 h 548"/>
                  <a:gd name="T26" fmla="*/ 8 w 236"/>
                  <a:gd name="T27" fmla="*/ 128 h 548"/>
                  <a:gd name="T28" fmla="*/ 16 w 236"/>
                  <a:gd name="T29" fmla="*/ 148 h 548"/>
                  <a:gd name="T30" fmla="*/ 44 w 236"/>
                  <a:gd name="T31" fmla="*/ 176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6" h="548">
                    <a:moveTo>
                      <a:pt x="44" y="176"/>
                    </a:moveTo>
                    <a:lnTo>
                      <a:pt x="44" y="548"/>
                    </a:lnTo>
                    <a:lnTo>
                      <a:pt x="84" y="532"/>
                    </a:lnTo>
                    <a:lnTo>
                      <a:pt x="128" y="524"/>
                    </a:lnTo>
                    <a:lnTo>
                      <a:pt x="176" y="520"/>
                    </a:lnTo>
                    <a:lnTo>
                      <a:pt x="236" y="528"/>
                    </a:lnTo>
                    <a:lnTo>
                      <a:pt x="236" y="20"/>
                    </a:lnTo>
                    <a:lnTo>
                      <a:pt x="188" y="8"/>
                    </a:lnTo>
                    <a:lnTo>
                      <a:pt x="136" y="0"/>
                    </a:lnTo>
                    <a:lnTo>
                      <a:pt x="72" y="8"/>
                    </a:lnTo>
                    <a:lnTo>
                      <a:pt x="28" y="36"/>
                    </a:lnTo>
                    <a:lnTo>
                      <a:pt x="4" y="64"/>
                    </a:lnTo>
                    <a:lnTo>
                      <a:pt x="0" y="100"/>
                    </a:lnTo>
                    <a:lnTo>
                      <a:pt x="8" y="128"/>
                    </a:lnTo>
                    <a:lnTo>
                      <a:pt x="16" y="148"/>
                    </a:lnTo>
                    <a:lnTo>
                      <a:pt x="44" y="176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765E00"/>
                  </a:gs>
                  <a:gs pos="100000">
                    <a:srgbClr val="FFCC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" name="Freeform 21"/>
              <p:cNvSpPr>
                <a:spLocks noChangeAspect="1" noChangeArrowheads="1"/>
              </p:cNvSpPr>
              <p:nvPr/>
            </p:nvSpPr>
            <p:spPr bwMode="auto">
              <a:xfrm>
                <a:off x="2159" y="1190"/>
                <a:ext cx="470" cy="301"/>
              </a:xfrm>
              <a:custGeom>
                <a:avLst/>
                <a:gdLst>
                  <a:gd name="T0" fmla="*/ 588 w 588"/>
                  <a:gd name="T1" fmla="*/ 72 h 376"/>
                  <a:gd name="T2" fmla="*/ 520 w 588"/>
                  <a:gd name="T3" fmla="*/ 36 h 376"/>
                  <a:gd name="T4" fmla="*/ 468 w 588"/>
                  <a:gd name="T5" fmla="*/ 20 h 376"/>
                  <a:gd name="T6" fmla="*/ 412 w 588"/>
                  <a:gd name="T7" fmla="*/ 8 h 376"/>
                  <a:gd name="T8" fmla="*/ 336 w 588"/>
                  <a:gd name="T9" fmla="*/ 0 h 376"/>
                  <a:gd name="T10" fmla="*/ 244 w 588"/>
                  <a:gd name="T11" fmla="*/ 8 h 376"/>
                  <a:gd name="T12" fmla="*/ 148 w 588"/>
                  <a:gd name="T13" fmla="*/ 36 h 376"/>
                  <a:gd name="T14" fmla="*/ 88 w 588"/>
                  <a:gd name="T15" fmla="*/ 64 h 376"/>
                  <a:gd name="T16" fmla="*/ 48 w 588"/>
                  <a:gd name="T17" fmla="*/ 96 h 376"/>
                  <a:gd name="T18" fmla="*/ 24 w 588"/>
                  <a:gd name="T19" fmla="*/ 124 h 376"/>
                  <a:gd name="T20" fmla="*/ 4 w 588"/>
                  <a:gd name="T21" fmla="*/ 168 h 376"/>
                  <a:gd name="T22" fmla="*/ 0 w 588"/>
                  <a:gd name="T23" fmla="*/ 214 h 376"/>
                  <a:gd name="T24" fmla="*/ 8 w 588"/>
                  <a:gd name="T25" fmla="*/ 268 h 376"/>
                  <a:gd name="T26" fmla="*/ 24 w 588"/>
                  <a:gd name="T27" fmla="*/ 304 h 376"/>
                  <a:gd name="T28" fmla="*/ 40 w 588"/>
                  <a:gd name="T29" fmla="*/ 332 h 376"/>
                  <a:gd name="T30" fmla="*/ 76 w 588"/>
                  <a:gd name="T31" fmla="*/ 376 h 376"/>
                  <a:gd name="T32" fmla="*/ 168 w 588"/>
                  <a:gd name="T33" fmla="*/ 323 h 376"/>
                  <a:gd name="T34" fmla="*/ 136 w 588"/>
                  <a:gd name="T35" fmla="*/ 296 h 376"/>
                  <a:gd name="T36" fmla="*/ 112 w 588"/>
                  <a:gd name="T37" fmla="*/ 280 h 376"/>
                  <a:gd name="T38" fmla="*/ 96 w 588"/>
                  <a:gd name="T39" fmla="*/ 236 h 376"/>
                  <a:gd name="T40" fmla="*/ 100 w 588"/>
                  <a:gd name="T41" fmla="*/ 180 h 376"/>
                  <a:gd name="T42" fmla="*/ 132 w 588"/>
                  <a:gd name="T43" fmla="*/ 128 h 376"/>
                  <a:gd name="T44" fmla="*/ 188 w 588"/>
                  <a:gd name="T45" fmla="*/ 92 h 376"/>
                  <a:gd name="T46" fmla="*/ 240 w 588"/>
                  <a:gd name="T47" fmla="*/ 76 h 376"/>
                  <a:gd name="T48" fmla="*/ 308 w 588"/>
                  <a:gd name="T49" fmla="*/ 68 h 376"/>
                  <a:gd name="T50" fmla="*/ 376 w 588"/>
                  <a:gd name="T51" fmla="*/ 76 h 376"/>
                  <a:gd name="T52" fmla="*/ 432 w 588"/>
                  <a:gd name="T53" fmla="*/ 88 h 376"/>
                  <a:gd name="T54" fmla="*/ 508 w 588"/>
                  <a:gd name="T55" fmla="*/ 112 h 376"/>
                  <a:gd name="T56" fmla="*/ 588 w 588"/>
                  <a:gd name="T57" fmla="*/ 72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88" h="376">
                    <a:moveTo>
                      <a:pt x="588" y="72"/>
                    </a:moveTo>
                    <a:lnTo>
                      <a:pt x="520" y="36"/>
                    </a:lnTo>
                    <a:lnTo>
                      <a:pt x="468" y="20"/>
                    </a:lnTo>
                    <a:lnTo>
                      <a:pt x="412" y="8"/>
                    </a:lnTo>
                    <a:lnTo>
                      <a:pt x="336" y="0"/>
                    </a:lnTo>
                    <a:lnTo>
                      <a:pt x="244" y="8"/>
                    </a:lnTo>
                    <a:lnTo>
                      <a:pt x="148" y="36"/>
                    </a:lnTo>
                    <a:lnTo>
                      <a:pt x="88" y="64"/>
                    </a:lnTo>
                    <a:lnTo>
                      <a:pt x="48" y="96"/>
                    </a:lnTo>
                    <a:lnTo>
                      <a:pt x="24" y="124"/>
                    </a:lnTo>
                    <a:lnTo>
                      <a:pt x="4" y="168"/>
                    </a:lnTo>
                    <a:lnTo>
                      <a:pt x="0" y="214"/>
                    </a:lnTo>
                    <a:lnTo>
                      <a:pt x="8" y="268"/>
                    </a:lnTo>
                    <a:lnTo>
                      <a:pt x="24" y="304"/>
                    </a:lnTo>
                    <a:lnTo>
                      <a:pt x="40" y="332"/>
                    </a:lnTo>
                    <a:lnTo>
                      <a:pt x="76" y="376"/>
                    </a:lnTo>
                    <a:lnTo>
                      <a:pt x="168" y="323"/>
                    </a:lnTo>
                    <a:lnTo>
                      <a:pt x="136" y="296"/>
                    </a:lnTo>
                    <a:lnTo>
                      <a:pt x="112" y="280"/>
                    </a:lnTo>
                    <a:lnTo>
                      <a:pt x="96" y="236"/>
                    </a:lnTo>
                    <a:lnTo>
                      <a:pt x="100" y="180"/>
                    </a:lnTo>
                    <a:lnTo>
                      <a:pt x="132" y="128"/>
                    </a:lnTo>
                    <a:lnTo>
                      <a:pt x="188" y="92"/>
                    </a:lnTo>
                    <a:lnTo>
                      <a:pt x="240" y="76"/>
                    </a:lnTo>
                    <a:lnTo>
                      <a:pt x="308" y="68"/>
                    </a:lnTo>
                    <a:lnTo>
                      <a:pt x="376" y="76"/>
                    </a:lnTo>
                    <a:lnTo>
                      <a:pt x="432" y="88"/>
                    </a:lnTo>
                    <a:lnTo>
                      <a:pt x="508" y="112"/>
                    </a:lnTo>
                    <a:lnTo>
                      <a:pt x="588" y="72"/>
                    </a:lnTo>
                    <a:close/>
                  </a:path>
                </a:pathLst>
              </a:custGeom>
              <a:solidFill>
                <a:srgbClr val="FF3300"/>
              </a:solidFill>
              <a:ln w="12700">
                <a:solidFill>
                  <a:srgbClr val="FF3300"/>
                </a:solidFill>
                <a:round/>
                <a:headEnd type="none" w="sm" len="lg"/>
                <a:tailEnd type="none" w="sm" len="lg"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" name="Freeform 22"/>
              <p:cNvSpPr>
                <a:spLocks noChangeAspect="1" noChangeArrowheads="1"/>
              </p:cNvSpPr>
              <p:nvPr/>
            </p:nvSpPr>
            <p:spPr bwMode="auto">
              <a:xfrm>
                <a:off x="1652" y="1898"/>
                <a:ext cx="257" cy="294"/>
              </a:xfrm>
              <a:custGeom>
                <a:avLst/>
                <a:gdLst>
                  <a:gd name="T0" fmla="*/ 5 w 321"/>
                  <a:gd name="T1" fmla="*/ 84 h 368"/>
                  <a:gd name="T2" fmla="*/ 0 w 321"/>
                  <a:gd name="T3" fmla="*/ 368 h 368"/>
                  <a:gd name="T4" fmla="*/ 89 w 321"/>
                  <a:gd name="T5" fmla="*/ 324 h 368"/>
                  <a:gd name="T6" fmla="*/ 133 w 321"/>
                  <a:gd name="T7" fmla="*/ 304 h 368"/>
                  <a:gd name="T8" fmla="*/ 181 w 321"/>
                  <a:gd name="T9" fmla="*/ 284 h 368"/>
                  <a:gd name="T10" fmla="*/ 221 w 321"/>
                  <a:gd name="T11" fmla="*/ 280 h 368"/>
                  <a:gd name="T12" fmla="*/ 261 w 321"/>
                  <a:gd name="T13" fmla="*/ 288 h 368"/>
                  <a:gd name="T14" fmla="*/ 285 w 321"/>
                  <a:gd name="T15" fmla="*/ 296 h 368"/>
                  <a:gd name="T16" fmla="*/ 321 w 321"/>
                  <a:gd name="T17" fmla="*/ 320 h 368"/>
                  <a:gd name="T18" fmla="*/ 321 w 321"/>
                  <a:gd name="T19" fmla="*/ 20 h 368"/>
                  <a:gd name="T20" fmla="*/ 281 w 321"/>
                  <a:gd name="T21" fmla="*/ 8 h 368"/>
                  <a:gd name="T22" fmla="*/ 225 w 321"/>
                  <a:gd name="T23" fmla="*/ 0 h 368"/>
                  <a:gd name="T24" fmla="*/ 173 w 321"/>
                  <a:gd name="T25" fmla="*/ 4 h 368"/>
                  <a:gd name="T26" fmla="*/ 109 w 321"/>
                  <a:gd name="T27" fmla="*/ 24 h 368"/>
                  <a:gd name="T28" fmla="*/ 5 w 321"/>
                  <a:gd name="T29" fmla="*/ 84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1" h="368">
                    <a:moveTo>
                      <a:pt x="5" y="84"/>
                    </a:moveTo>
                    <a:lnTo>
                      <a:pt x="0" y="368"/>
                    </a:lnTo>
                    <a:lnTo>
                      <a:pt x="89" y="324"/>
                    </a:lnTo>
                    <a:lnTo>
                      <a:pt x="133" y="304"/>
                    </a:lnTo>
                    <a:lnTo>
                      <a:pt x="181" y="284"/>
                    </a:lnTo>
                    <a:lnTo>
                      <a:pt x="221" y="280"/>
                    </a:lnTo>
                    <a:lnTo>
                      <a:pt x="261" y="288"/>
                    </a:lnTo>
                    <a:lnTo>
                      <a:pt x="285" y="296"/>
                    </a:lnTo>
                    <a:lnTo>
                      <a:pt x="321" y="320"/>
                    </a:lnTo>
                    <a:lnTo>
                      <a:pt x="321" y="20"/>
                    </a:lnTo>
                    <a:lnTo>
                      <a:pt x="281" y="8"/>
                    </a:lnTo>
                    <a:lnTo>
                      <a:pt x="225" y="0"/>
                    </a:lnTo>
                    <a:lnTo>
                      <a:pt x="173" y="4"/>
                    </a:lnTo>
                    <a:lnTo>
                      <a:pt x="109" y="24"/>
                    </a:lnTo>
                    <a:lnTo>
                      <a:pt x="5" y="84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FFCC00"/>
                  </a:gs>
                  <a:gs pos="100000">
                    <a:srgbClr val="A886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" name="Freeform 23"/>
              <p:cNvSpPr>
                <a:spLocks noChangeAspect="1" noChangeArrowheads="1"/>
              </p:cNvSpPr>
              <p:nvPr/>
            </p:nvSpPr>
            <p:spPr bwMode="auto">
              <a:xfrm>
                <a:off x="2540" y="1248"/>
                <a:ext cx="89" cy="528"/>
              </a:xfrm>
              <a:custGeom>
                <a:avLst/>
                <a:gdLst>
                  <a:gd name="T0" fmla="*/ 32 w 112"/>
                  <a:gd name="T1" fmla="*/ 36 h 660"/>
                  <a:gd name="T2" fmla="*/ 32 w 112"/>
                  <a:gd name="T3" fmla="*/ 136 h 660"/>
                  <a:gd name="T4" fmla="*/ 0 w 112"/>
                  <a:gd name="T5" fmla="*/ 156 h 660"/>
                  <a:gd name="T6" fmla="*/ 0 w 112"/>
                  <a:gd name="T7" fmla="*/ 660 h 660"/>
                  <a:gd name="T8" fmla="*/ 112 w 112"/>
                  <a:gd name="T9" fmla="*/ 608 h 660"/>
                  <a:gd name="T10" fmla="*/ 112 w 112"/>
                  <a:gd name="T11" fmla="*/ 0 h 660"/>
                  <a:gd name="T12" fmla="*/ 32 w 112"/>
                  <a:gd name="T13" fmla="*/ 36 h 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2" h="660">
                    <a:moveTo>
                      <a:pt x="32" y="36"/>
                    </a:moveTo>
                    <a:lnTo>
                      <a:pt x="32" y="136"/>
                    </a:lnTo>
                    <a:lnTo>
                      <a:pt x="0" y="156"/>
                    </a:lnTo>
                    <a:lnTo>
                      <a:pt x="0" y="660"/>
                    </a:lnTo>
                    <a:lnTo>
                      <a:pt x="112" y="608"/>
                    </a:lnTo>
                    <a:lnTo>
                      <a:pt x="112" y="0"/>
                    </a:lnTo>
                    <a:lnTo>
                      <a:pt x="32" y="36"/>
                    </a:lnTo>
                    <a:close/>
                  </a:path>
                </a:pathLst>
              </a:custGeom>
              <a:solidFill>
                <a:srgbClr val="FF66FF"/>
              </a:solidFill>
              <a:ln w="28575">
                <a:solidFill>
                  <a:schemeClr val="tx1"/>
                </a:solidFill>
                <a:round/>
                <a:headEnd type="none" w="sm" len="lg"/>
                <a:tailEnd type="none" w="sm" len="lg"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" name="Freeform 24"/>
              <p:cNvSpPr>
                <a:spLocks noChangeAspect="1" noChangeArrowheads="1"/>
              </p:cNvSpPr>
              <p:nvPr/>
            </p:nvSpPr>
            <p:spPr bwMode="auto">
              <a:xfrm>
                <a:off x="1535" y="1895"/>
                <a:ext cx="122" cy="297"/>
              </a:xfrm>
              <a:custGeom>
                <a:avLst/>
                <a:gdLst>
                  <a:gd name="T0" fmla="*/ 0 w 153"/>
                  <a:gd name="T1" fmla="*/ 0 h 372"/>
                  <a:gd name="T2" fmla="*/ 152 w 153"/>
                  <a:gd name="T3" fmla="*/ 88 h 372"/>
                  <a:gd name="T4" fmla="*/ 153 w 153"/>
                  <a:gd name="T5" fmla="*/ 372 h 372"/>
                  <a:gd name="T6" fmla="*/ 0 w 153"/>
                  <a:gd name="T7" fmla="*/ 296 h 372"/>
                  <a:gd name="T8" fmla="*/ 0 w 153"/>
                  <a:gd name="T9" fmla="*/ 0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3" h="372">
                    <a:moveTo>
                      <a:pt x="0" y="0"/>
                    </a:moveTo>
                    <a:lnTo>
                      <a:pt x="152" y="88"/>
                    </a:lnTo>
                    <a:lnTo>
                      <a:pt x="153" y="372"/>
                    </a:lnTo>
                    <a:lnTo>
                      <a:pt x="0" y="2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" name="Freeform 25"/>
              <p:cNvSpPr>
                <a:spLocks noChangeAspect="1" noChangeArrowheads="1"/>
              </p:cNvSpPr>
              <p:nvPr/>
            </p:nvSpPr>
            <p:spPr bwMode="auto">
              <a:xfrm>
                <a:off x="1906" y="1875"/>
                <a:ext cx="109" cy="269"/>
              </a:xfrm>
              <a:custGeom>
                <a:avLst/>
                <a:gdLst>
                  <a:gd name="T0" fmla="*/ 0 w 136"/>
                  <a:gd name="T1" fmla="*/ 48 h 336"/>
                  <a:gd name="T2" fmla="*/ 88 w 136"/>
                  <a:gd name="T3" fmla="*/ 0 h 336"/>
                  <a:gd name="T4" fmla="*/ 88 w 136"/>
                  <a:gd name="T5" fmla="*/ 108 h 336"/>
                  <a:gd name="T6" fmla="*/ 136 w 136"/>
                  <a:gd name="T7" fmla="*/ 84 h 336"/>
                  <a:gd name="T8" fmla="*/ 136 w 136"/>
                  <a:gd name="T9" fmla="*/ 256 h 336"/>
                  <a:gd name="T10" fmla="*/ 0 w 136"/>
                  <a:gd name="T11" fmla="*/ 336 h 336"/>
                  <a:gd name="T12" fmla="*/ 0 w 136"/>
                  <a:gd name="T13" fmla="*/ 48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6" h="336">
                    <a:moveTo>
                      <a:pt x="0" y="48"/>
                    </a:moveTo>
                    <a:lnTo>
                      <a:pt x="88" y="0"/>
                    </a:lnTo>
                    <a:lnTo>
                      <a:pt x="88" y="108"/>
                    </a:lnTo>
                    <a:lnTo>
                      <a:pt x="136" y="84"/>
                    </a:lnTo>
                    <a:lnTo>
                      <a:pt x="136" y="256"/>
                    </a:lnTo>
                    <a:lnTo>
                      <a:pt x="0" y="336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99FF"/>
              </a:solidFill>
              <a:ln w="28575">
                <a:solidFill>
                  <a:schemeClr val="tx1"/>
                </a:solidFill>
                <a:round/>
                <a:headEnd type="none" w="sm" len="lg"/>
                <a:tailEnd type="none" w="sm" len="lg"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" name="Freeform 26"/>
              <p:cNvSpPr>
                <a:spLocks noChangeAspect="1" noChangeArrowheads="1"/>
              </p:cNvSpPr>
              <p:nvPr/>
            </p:nvSpPr>
            <p:spPr bwMode="auto">
              <a:xfrm>
                <a:off x="2097" y="1450"/>
                <a:ext cx="235" cy="585"/>
              </a:xfrm>
              <a:custGeom>
                <a:avLst/>
                <a:gdLst>
                  <a:gd name="T0" fmla="*/ 149 w 293"/>
                  <a:gd name="T1" fmla="*/ 40 h 732"/>
                  <a:gd name="T2" fmla="*/ 149 w 293"/>
                  <a:gd name="T3" fmla="*/ 356 h 732"/>
                  <a:gd name="T4" fmla="*/ 49 w 293"/>
                  <a:gd name="T5" fmla="*/ 414 h 732"/>
                  <a:gd name="T6" fmla="*/ 49 w 293"/>
                  <a:gd name="T7" fmla="*/ 532 h 732"/>
                  <a:gd name="T8" fmla="*/ 0 w 293"/>
                  <a:gd name="T9" fmla="*/ 560 h 732"/>
                  <a:gd name="T10" fmla="*/ 0 w 293"/>
                  <a:gd name="T11" fmla="*/ 732 h 732"/>
                  <a:gd name="T12" fmla="*/ 293 w 293"/>
                  <a:gd name="T13" fmla="*/ 563 h 732"/>
                  <a:gd name="T14" fmla="*/ 293 w 293"/>
                  <a:gd name="T15" fmla="*/ 56 h 732"/>
                  <a:gd name="T16" fmla="*/ 237 w 293"/>
                  <a:gd name="T17" fmla="*/ 88 h 732"/>
                  <a:gd name="T18" fmla="*/ 237 w 293"/>
                  <a:gd name="T19" fmla="*/ 0 h 732"/>
                  <a:gd name="T20" fmla="*/ 149 w 293"/>
                  <a:gd name="T21" fmla="*/ 40 h 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3" h="732">
                    <a:moveTo>
                      <a:pt x="149" y="40"/>
                    </a:moveTo>
                    <a:lnTo>
                      <a:pt x="149" y="356"/>
                    </a:lnTo>
                    <a:lnTo>
                      <a:pt x="49" y="414"/>
                    </a:lnTo>
                    <a:lnTo>
                      <a:pt x="49" y="532"/>
                    </a:lnTo>
                    <a:lnTo>
                      <a:pt x="0" y="560"/>
                    </a:lnTo>
                    <a:lnTo>
                      <a:pt x="0" y="732"/>
                    </a:lnTo>
                    <a:lnTo>
                      <a:pt x="293" y="563"/>
                    </a:lnTo>
                    <a:lnTo>
                      <a:pt x="293" y="56"/>
                    </a:lnTo>
                    <a:lnTo>
                      <a:pt x="237" y="88"/>
                    </a:lnTo>
                    <a:lnTo>
                      <a:pt x="237" y="0"/>
                    </a:lnTo>
                    <a:lnTo>
                      <a:pt x="149" y="40"/>
                    </a:lnTo>
                    <a:close/>
                  </a:path>
                </a:pathLst>
              </a:custGeom>
              <a:solidFill>
                <a:srgbClr val="FF99FF"/>
              </a:solidFill>
              <a:ln w="28575">
                <a:solidFill>
                  <a:schemeClr val="tx1"/>
                </a:solidFill>
                <a:round/>
                <a:headEnd type="none" w="sm" len="lg"/>
                <a:tailEnd type="none" w="sm" len="lg"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0" name="Freeform 27"/>
              <p:cNvSpPr>
                <a:spLocks noChangeAspect="1" noChangeArrowheads="1"/>
              </p:cNvSpPr>
              <p:nvPr/>
            </p:nvSpPr>
            <p:spPr bwMode="auto">
              <a:xfrm>
                <a:off x="2097" y="1626"/>
                <a:ext cx="236" cy="409"/>
              </a:xfrm>
              <a:custGeom>
                <a:avLst/>
                <a:gdLst>
                  <a:gd name="T0" fmla="*/ 0 w 885"/>
                  <a:gd name="T1" fmla="*/ 1531 h 1531"/>
                  <a:gd name="T2" fmla="*/ 884 w 885"/>
                  <a:gd name="T3" fmla="*/ 0 h 1531"/>
                  <a:gd name="T4" fmla="*/ 885 w 885"/>
                  <a:gd name="T5" fmla="*/ 0 h 1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85" h="1531">
                    <a:moveTo>
                      <a:pt x="0" y="1531"/>
                    </a:moveTo>
                    <a:lnTo>
                      <a:pt x="884" y="0"/>
                    </a:lnTo>
                    <a:lnTo>
                      <a:pt x="885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" name="Freeform 28"/>
              <p:cNvSpPr>
                <a:spLocks noChangeAspect="1" noChangeArrowheads="1"/>
              </p:cNvSpPr>
              <p:nvPr/>
            </p:nvSpPr>
            <p:spPr bwMode="auto">
              <a:xfrm>
                <a:off x="2186" y="1728"/>
                <a:ext cx="147" cy="255"/>
              </a:xfrm>
              <a:custGeom>
                <a:avLst/>
                <a:gdLst>
                  <a:gd name="T0" fmla="*/ 0 w 552"/>
                  <a:gd name="T1" fmla="*/ 957 h 957"/>
                  <a:gd name="T2" fmla="*/ 551 w 552"/>
                  <a:gd name="T3" fmla="*/ 0 h 957"/>
                  <a:gd name="T4" fmla="*/ 552 w 552"/>
                  <a:gd name="T5" fmla="*/ 0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52" h="957">
                    <a:moveTo>
                      <a:pt x="0" y="957"/>
                    </a:moveTo>
                    <a:lnTo>
                      <a:pt x="551" y="0"/>
                    </a:lnTo>
                    <a:lnTo>
                      <a:pt x="552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" name="Freeform 29"/>
              <p:cNvSpPr>
                <a:spLocks noChangeAspect="1" noChangeArrowheads="1"/>
              </p:cNvSpPr>
              <p:nvPr/>
            </p:nvSpPr>
            <p:spPr bwMode="auto">
              <a:xfrm>
                <a:off x="2274" y="1831"/>
                <a:ext cx="59" cy="101"/>
              </a:xfrm>
              <a:custGeom>
                <a:avLst/>
                <a:gdLst>
                  <a:gd name="T0" fmla="*/ 0 w 221"/>
                  <a:gd name="T1" fmla="*/ 380 h 380"/>
                  <a:gd name="T2" fmla="*/ 220 w 221"/>
                  <a:gd name="T3" fmla="*/ 0 h 380"/>
                  <a:gd name="T4" fmla="*/ 221 w 221"/>
                  <a:gd name="T5" fmla="*/ 0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1" h="380">
                    <a:moveTo>
                      <a:pt x="0" y="380"/>
                    </a:moveTo>
                    <a:lnTo>
                      <a:pt x="220" y="0"/>
                    </a:lnTo>
                    <a:lnTo>
                      <a:pt x="221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" name="Freeform 30"/>
              <p:cNvSpPr>
                <a:spLocks noChangeAspect="1" noChangeArrowheads="1"/>
              </p:cNvSpPr>
              <p:nvPr/>
            </p:nvSpPr>
            <p:spPr bwMode="auto">
              <a:xfrm>
                <a:off x="2097" y="1878"/>
                <a:ext cx="32" cy="54"/>
              </a:xfrm>
              <a:custGeom>
                <a:avLst/>
                <a:gdLst>
                  <a:gd name="T0" fmla="*/ 0 w 120"/>
                  <a:gd name="T1" fmla="*/ 205 h 205"/>
                  <a:gd name="T2" fmla="*/ 119 w 120"/>
                  <a:gd name="T3" fmla="*/ 0 h 205"/>
                  <a:gd name="T4" fmla="*/ 120 w 120"/>
                  <a:gd name="T5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0" h="205">
                    <a:moveTo>
                      <a:pt x="0" y="205"/>
                    </a:moveTo>
                    <a:lnTo>
                      <a:pt x="119" y="0"/>
                    </a:lnTo>
                    <a:lnTo>
                      <a:pt x="120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" name="Freeform 31"/>
              <p:cNvSpPr>
                <a:spLocks noChangeAspect="1" noChangeArrowheads="1"/>
              </p:cNvSpPr>
              <p:nvPr/>
            </p:nvSpPr>
            <p:spPr bwMode="auto">
              <a:xfrm>
                <a:off x="2222" y="1492"/>
                <a:ext cx="70" cy="121"/>
              </a:xfrm>
              <a:custGeom>
                <a:avLst/>
                <a:gdLst>
                  <a:gd name="T0" fmla="*/ 0 w 264"/>
                  <a:gd name="T1" fmla="*/ 455 h 455"/>
                  <a:gd name="T2" fmla="*/ 263 w 264"/>
                  <a:gd name="T3" fmla="*/ 0 h 455"/>
                  <a:gd name="T4" fmla="*/ 264 w 264"/>
                  <a:gd name="T5" fmla="*/ 0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4" h="455">
                    <a:moveTo>
                      <a:pt x="0" y="455"/>
                    </a:moveTo>
                    <a:lnTo>
                      <a:pt x="263" y="0"/>
                    </a:lnTo>
                    <a:lnTo>
                      <a:pt x="264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" name="Freeform 32"/>
              <p:cNvSpPr>
                <a:spLocks noChangeAspect="1" noChangeArrowheads="1"/>
              </p:cNvSpPr>
              <p:nvPr/>
            </p:nvSpPr>
            <p:spPr bwMode="auto">
              <a:xfrm>
                <a:off x="2222" y="1470"/>
                <a:ext cx="24" cy="40"/>
              </a:xfrm>
              <a:custGeom>
                <a:avLst/>
                <a:gdLst>
                  <a:gd name="T0" fmla="*/ 0 w 89"/>
                  <a:gd name="T1" fmla="*/ 151 h 151"/>
                  <a:gd name="T2" fmla="*/ 88 w 89"/>
                  <a:gd name="T3" fmla="*/ 0 h 151"/>
                  <a:gd name="T4" fmla="*/ 89 w 89"/>
                  <a:gd name="T5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9" h="151">
                    <a:moveTo>
                      <a:pt x="0" y="151"/>
                    </a:moveTo>
                    <a:lnTo>
                      <a:pt x="88" y="0"/>
                    </a:lnTo>
                    <a:lnTo>
                      <a:pt x="89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" name="Freeform 33"/>
              <p:cNvSpPr>
                <a:spLocks noChangeAspect="1" noChangeArrowheads="1"/>
              </p:cNvSpPr>
              <p:nvPr/>
            </p:nvSpPr>
            <p:spPr bwMode="auto">
              <a:xfrm>
                <a:off x="2222" y="1523"/>
                <a:ext cx="111" cy="192"/>
              </a:xfrm>
              <a:custGeom>
                <a:avLst/>
                <a:gdLst>
                  <a:gd name="T0" fmla="*/ 0 w 416"/>
                  <a:gd name="T1" fmla="*/ 719 h 719"/>
                  <a:gd name="T2" fmla="*/ 415 w 416"/>
                  <a:gd name="T3" fmla="*/ 0 h 719"/>
                  <a:gd name="T4" fmla="*/ 416 w 416"/>
                  <a:gd name="T5" fmla="*/ 0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6" h="719">
                    <a:moveTo>
                      <a:pt x="0" y="719"/>
                    </a:moveTo>
                    <a:lnTo>
                      <a:pt x="415" y="0"/>
                    </a:lnTo>
                    <a:lnTo>
                      <a:pt x="416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7" name="Freeform 34"/>
              <p:cNvSpPr>
                <a:spLocks noChangeAspect="1" noChangeArrowheads="1"/>
              </p:cNvSpPr>
              <p:nvPr/>
            </p:nvSpPr>
            <p:spPr bwMode="auto">
              <a:xfrm>
                <a:off x="2138" y="1741"/>
                <a:ext cx="70" cy="121"/>
              </a:xfrm>
              <a:custGeom>
                <a:avLst/>
                <a:gdLst>
                  <a:gd name="T0" fmla="*/ 0 w 263"/>
                  <a:gd name="T1" fmla="*/ 454 h 454"/>
                  <a:gd name="T2" fmla="*/ 262 w 263"/>
                  <a:gd name="T3" fmla="*/ 0 h 454"/>
                  <a:gd name="T4" fmla="*/ 263 w 263"/>
                  <a:gd name="T5" fmla="*/ 0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3" h="454">
                    <a:moveTo>
                      <a:pt x="0" y="454"/>
                    </a:moveTo>
                    <a:lnTo>
                      <a:pt x="262" y="0"/>
                    </a:lnTo>
                    <a:lnTo>
                      <a:pt x="263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" name="Freeform 35"/>
              <p:cNvSpPr>
                <a:spLocks noChangeAspect="1" noChangeArrowheads="1"/>
              </p:cNvSpPr>
              <p:nvPr/>
            </p:nvSpPr>
            <p:spPr bwMode="auto">
              <a:xfrm>
                <a:off x="2545" y="1321"/>
                <a:ext cx="82" cy="142"/>
              </a:xfrm>
              <a:custGeom>
                <a:avLst/>
                <a:gdLst>
                  <a:gd name="T0" fmla="*/ 0 w 308"/>
                  <a:gd name="T1" fmla="*/ 534 h 534"/>
                  <a:gd name="T2" fmla="*/ 307 w 308"/>
                  <a:gd name="T3" fmla="*/ 0 h 534"/>
                  <a:gd name="T4" fmla="*/ 308 w 308"/>
                  <a:gd name="T5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8" h="534">
                    <a:moveTo>
                      <a:pt x="0" y="534"/>
                    </a:moveTo>
                    <a:lnTo>
                      <a:pt x="307" y="0"/>
                    </a:lnTo>
                    <a:lnTo>
                      <a:pt x="308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9" name="Freeform 36"/>
              <p:cNvSpPr>
                <a:spLocks noChangeAspect="1" noChangeArrowheads="1"/>
              </p:cNvSpPr>
              <p:nvPr/>
            </p:nvSpPr>
            <p:spPr bwMode="auto">
              <a:xfrm>
                <a:off x="2545" y="1422"/>
                <a:ext cx="82" cy="144"/>
              </a:xfrm>
              <a:custGeom>
                <a:avLst/>
                <a:gdLst>
                  <a:gd name="T0" fmla="*/ 0 w 308"/>
                  <a:gd name="T1" fmla="*/ 535 h 535"/>
                  <a:gd name="T2" fmla="*/ 307 w 308"/>
                  <a:gd name="T3" fmla="*/ 0 h 535"/>
                  <a:gd name="T4" fmla="*/ 308 w 308"/>
                  <a:gd name="T5" fmla="*/ 0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8" h="535">
                    <a:moveTo>
                      <a:pt x="0" y="535"/>
                    </a:moveTo>
                    <a:lnTo>
                      <a:pt x="307" y="0"/>
                    </a:lnTo>
                    <a:lnTo>
                      <a:pt x="308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" name="Freeform 37"/>
              <p:cNvSpPr>
                <a:spLocks noChangeAspect="1" noChangeArrowheads="1"/>
              </p:cNvSpPr>
              <p:nvPr/>
            </p:nvSpPr>
            <p:spPr bwMode="auto">
              <a:xfrm>
                <a:off x="2545" y="1526"/>
                <a:ext cx="82" cy="141"/>
              </a:xfrm>
              <a:custGeom>
                <a:avLst/>
                <a:gdLst>
                  <a:gd name="T0" fmla="*/ 0 w 308"/>
                  <a:gd name="T1" fmla="*/ 533 h 533"/>
                  <a:gd name="T2" fmla="*/ 307 w 308"/>
                  <a:gd name="T3" fmla="*/ 0 h 533"/>
                  <a:gd name="T4" fmla="*/ 308 w 308"/>
                  <a:gd name="T5" fmla="*/ 0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8" h="533">
                    <a:moveTo>
                      <a:pt x="0" y="533"/>
                    </a:moveTo>
                    <a:lnTo>
                      <a:pt x="307" y="0"/>
                    </a:lnTo>
                    <a:lnTo>
                      <a:pt x="308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" name="Freeform 38"/>
              <p:cNvSpPr>
                <a:spLocks noChangeAspect="1" noChangeArrowheads="1"/>
              </p:cNvSpPr>
              <p:nvPr/>
            </p:nvSpPr>
            <p:spPr bwMode="auto">
              <a:xfrm>
                <a:off x="2545" y="1627"/>
                <a:ext cx="82" cy="143"/>
              </a:xfrm>
              <a:custGeom>
                <a:avLst/>
                <a:gdLst>
                  <a:gd name="T0" fmla="*/ 0 w 308"/>
                  <a:gd name="T1" fmla="*/ 533 h 533"/>
                  <a:gd name="T2" fmla="*/ 307 w 308"/>
                  <a:gd name="T3" fmla="*/ 0 h 533"/>
                  <a:gd name="T4" fmla="*/ 308 w 308"/>
                  <a:gd name="T5" fmla="*/ 0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8" h="533">
                    <a:moveTo>
                      <a:pt x="0" y="533"/>
                    </a:moveTo>
                    <a:lnTo>
                      <a:pt x="307" y="0"/>
                    </a:lnTo>
                    <a:lnTo>
                      <a:pt x="308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2" name="Freeform 39"/>
              <p:cNvSpPr>
                <a:spLocks noChangeAspect="1" noChangeArrowheads="1"/>
              </p:cNvSpPr>
              <p:nvPr/>
            </p:nvSpPr>
            <p:spPr bwMode="auto">
              <a:xfrm>
                <a:off x="2566" y="1266"/>
                <a:ext cx="34" cy="57"/>
              </a:xfrm>
              <a:custGeom>
                <a:avLst/>
                <a:gdLst>
                  <a:gd name="T0" fmla="*/ 0 w 125"/>
                  <a:gd name="T1" fmla="*/ 215 h 215"/>
                  <a:gd name="T2" fmla="*/ 124 w 125"/>
                  <a:gd name="T3" fmla="*/ 0 h 215"/>
                  <a:gd name="T4" fmla="*/ 125 w 125"/>
                  <a:gd name="T5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5" h="215">
                    <a:moveTo>
                      <a:pt x="0" y="215"/>
                    </a:moveTo>
                    <a:lnTo>
                      <a:pt x="124" y="0"/>
                    </a:lnTo>
                    <a:lnTo>
                      <a:pt x="125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3" name="Freeform 40"/>
              <p:cNvSpPr>
                <a:spLocks noChangeAspect="1" noChangeArrowheads="1"/>
              </p:cNvSpPr>
              <p:nvPr/>
            </p:nvSpPr>
            <p:spPr bwMode="auto">
              <a:xfrm>
                <a:off x="1916" y="1966"/>
                <a:ext cx="100" cy="173"/>
              </a:xfrm>
              <a:custGeom>
                <a:avLst/>
                <a:gdLst>
                  <a:gd name="T0" fmla="*/ 0 w 376"/>
                  <a:gd name="T1" fmla="*/ 650 h 650"/>
                  <a:gd name="T2" fmla="*/ 375 w 376"/>
                  <a:gd name="T3" fmla="*/ 0 h 650"/>
                  <a:gd name="T4" fmla="*/ 376 w 376"/>
                  <a:gd name="T5" fmla="*/ 0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6" h="650">
                    <a:moveTo>
                      <a:pt x="0" y="650"/>
                    </a:moveTo>
                    <a:lnTo>
                      <a:pt x="375" y="0"/>
                    </a:lnTo>
                    <a:lnTo>
                      <a:pt x="376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4" name="Freeform 41"/>
              <p:cNvSpPr>
                <a:spLocks noChangeAspect="1" noChangeArrowheads="1"/>
              </p:cNvSpPr>
              <p:nvPr/>
            </p:nvSpPr>
            <p:spPr bwMode="auto">
              <a:xfrm>
                <a:off x="1907" y="1934"/>
                <a:ext cx="69" cy="119"/>
              </a:xfrm>
              <a:custGeom>
                <a:avLst/>
                <a:gdLst>
                  <a:gd name="T0" fmla="*/ 0 w 259"/>
                  <a:gd name="T1" fmla="*/ 448 h 448"/>
                  <a:gd name="T2" fmla="*/ 258 w 259"/>
                  <a:gd name="T3" fmla="*/ 0 h 448"/>
                  <a:gd name="T4" fmla="*/ 259 w 259"/>
                  <a:gd name="T5" fmla="*/ 0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9" h="448">
                    <a:moveTo>
                      <a:pt x="0" y="448"/>
                    </a:moveTo>
                    <a:lnTo>
                      <a:pt x="258" y="0"/>
                    </a:lnTo>
                    <a:lnTo>
                      <a:pt x="259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5" name="Freeform 42"/>
              <p:cNvSpPr>
                <a:spLocks noChangeAspect="1" noChangeArrowheads="1"/>
              </p:cNvSpPr>
              <p:nvPr/>
            </p:nvSpPr>
            <p:spPr bwMode="auto">
              <a:xfrm>
                <a:off x="1907" y="1897"/>
                <a:ext cx="31" cy="54"/>
              </a:xfrm>
              <a:custGeom>
                <a:avLst/>
                <a:gdLst>
                  <a:gd name="T0" fmla="*/ 0 w 117"/>
                  <a:gd name="T1" fmla="*/ 202 h 202"/>
                  <a:gd name="T2" fmla="*/ 116 w 117"/>
                  <a:gd name="T3" fmla="*/ 0 h 202"/>
                  <a:gd name="T4" fmla="*/ 117 w 117"/>
                  <a:gd name="T5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202">
                    <a:moveTo>
                      <a:pt x="0" y="202"/>
                    </a:moveTo>
                    <a:lnTo>
                      <a:pt x="116" y="0"/>
                    </a:lnTo>
                    <a:lnTo>
                      <a:pt x="117" y="0"/>
                    </a:lnTo>
                  </a:path>
                </a:pathLst>
              </a:custGeom>
              <a:solidFill>
                <a:srgbClr val="FF99FF"/>
              </a:solidFill>
              <a:ln w="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3" name="Group 43"/>
            <p:cNvGrpSpPr>
              <a:grpSpLocks/>
            </p:cNvGrpSpPr>
            <p:nvPr/>
          </p:nvGrpSpPr>
          <p:grpSpPr bwMode="auto">
            <a:xfrm>
              <a:off x="4385" y="2665"/>
              <a:ext cx="880" cy="1110"/>
              <a:chOff x="2178" y="1494"/>
              <a:chExt cx="1100" cy="1388"/>
            </a:xfrm>
          </p:grpSpPr>
          <p:sp>
            <p:nvSpPr>
              <p:cNvPr id="14" name="Freeform 44"/>
              <p:cNvSpPr>
                <a:spLocks noChangeArrowheads="1"/>
              </p:cNvSpPr>
              <p:nvPr/>
            </p:nvSpPr>
            <p:spPr bwMode="auto">
              <a:xfrm>
                <a:off x="3082" y="1660"/>
                <a:ext cx="42" cy="82"/>
              </a:xfrm>
              <a:custGeom>
                <a:avLst/>
                <a:gdLst>
                  <a:gd name="T0" fmla="*/ 0 w 42"/>
                  <a:gd name="T1" fmla="*/ 0 h 82"/>
                  <a:gd name="T2" fmla="*/ 0 w 42"/>
                  <a:gd name="T3" fmla="*/ 82 h 82"/>
                  <a:gd name="T4" fmla="*/ 8 w 42"/>
                  <a:gd name="T5" fmla="*/ 68 h 82"/>
                  <a:gd name="T6" fmla="*/ 8 w 42"/>
                  <a:gd name="T7" fmla="*/ 48 h 82"/>
                  <a:gd name="T8" fmla="*/ 42 w 42"/>
                  <a:gd name="T9" fmla="*/ 28 h 82"/>
                  <a:gd name="T10" fmla="*/ 0 w 42"/>
                  <a:gd name="T11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82">
                    <a:moveTo>
                      <a:pt x="0" y="0"/>
                    </a:moveTo>
                    <a:lnTo>
                      <a:pt x="0" y="82"/>
                    </a:lnTo>
                    <a:lnTo>
                      <a:pt x="8" y="68"/>
                    </a:lnTo>
                    <a:lnTo>
                      <a:pt x="8" y="48"/>
                    </a:lnTo>
                    <a:lnTo>
                      <a:pt x="42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" name="Freeform 45"/>
              <p:cNvSpPr>
                <a:spLocks noChangeArrowheads="1"/>
              </p:cNvSpPr>
              <p:nvPr/>
            </p:nvSpPr>
            <p:spPr bwMode="auto">
              <a:xfrm>
                <a:off x="3112" y="1542"/>
                <a:ext cx="62" cy="148"/>
              </a:xfrm>
              <a:custGeom>
                <a:avLst/>
                <a:gdLst>
                  <a:gd name="T0" fmla="*/ 0 w 62"/>
                  <a:gd name="T1" fmla="*/ 0 h 148"/>
                  <a:gd name="T2" fmla="*/ 2 w 62"/>
                  <a:gd name="T3" fmla="*/ 106 h 148"/>
                  <a:gd name="T4" fmla="*/ 26 w 62"/>
                  <a:gd name="T5" fmla="*/ 122 h 148"/>
                  <a:gd name="T6" fmla="*/ 50 w 62"/>
                  <a:gd name="T7" fmla="*/ 148 h 148"/>
                  <a:gd name="T8" fmla="*/ 62 w 62"/>
                  <a:gd name="T9" fmla="*/ 100 h 148"/>
                  <a:gd name="T10" fmla="*/ 58 w 62"/>
                  <a:gd name="T11" fmla="*/ 66 h 148"/>
                  <a:gd name="T12" fmla="*/ 46 w 62"/>
                  <a:gd name="T13" fmla="*/ 32 h 148"/>
                  <a:gd name="T14" fmla="*/ 0 w 62"/>
                  <a:gd name="T15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" h="148">
                    <a:moveTo>
                      <a:pt x="0" y="0"/>
                    </a:moveTo>
                    <a:lnTo>
                      <a:pt x="2" y="106"/>
                    </a:lnTo>
                    <a:lnTo>
                      <a:pt x="26" y="122"/>
                    </a:lnTo>
                    <a:lnTo>
                      <a:pt x="50" y="148"/>
                    </a:lnTo>
                    <a:lnTo>
                      <a:pt x="62" y="100"/>
                    </a:lnTo>
                    <a:lnTo>
                      <a:pt x="58" y="66"/>
                    </a:lnTo>
                    <a:lnTo>
                      <a:pt x="46" y="32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FFCC00"/>
                  </a:gs>
                  <a:gs pos="100000">
                    <a:srgbClr val="765E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" name="Freeform 46"/>
              <p:cNvSpPr>
                <a:spLocks noChangeArrowheads="1"/>
              </p:cNvSpPr>
              <p:nvPr/>
            </p:nvSpPr>
            <p:spPr bwMode="auto">
              <a:xfrm>
                <a:off x="2178" y="2098"/>
                <a:ext cx="1016" cy="497"/>
              </a:xfrm>
              <a:custGeom>
                <a:avLst/>
                <a:gdLst>
                  <a:gd name="T0" fmla="*/ 0 w 1016"/>
                  <a:gd name="T1" fmla="*/ 408 h 497"/>
                  <a:gd name="T2" fmla="*/ 120 w 1016"/>
                  <a:gd name="T3" fmla="*/ 336 h 497"/>
                  <a:gd name="T4" fmla="*/ 124 w 1016"/>
                  <a:gd name="T5" fmla="*/ 304 h 497"/>
                  <a:gd name="T6" fmla="*/ 124 w 1016"/>
                  <a:gd name="T7" fmla="*/ 268 h 497"/>
                  <a:gd name="T8" fmla="*/ 116 w 1016"/>
                  <a:gd name="T9" fmla="*/ 220 h 497"/>
                  <a:gd name="T10" fmla="*/ 200 w 1016"/>
                  <a:gd name="T11" fmla="*/ 176 h 497"/>
                  <a:gd name="T12" fmla="*/ 248 w 1016"/>
                  <a:gd name="T13" fmla="*/ 192 h 497"/>
                  <a:gd name="T14" fmla="*/ 300 w 1016"/>
                  <a:gd name="T15" fmla="*/ 204 h 497"/>
                  <a:gd name="T16" fmla="*/ 356 w 1016"/>
                  <a:gd name="T17" fmla="*/ 196 h 497"/>
                  <a:gd name="T18" fmla="*/ 396 w 1016"/>
                  <a:gd name="T19" fmla="*/ 180 h 497"/>
                  <a:gd name="T20" fmla="*/ 420 w 1016"/>
                  <a:gd name="T21" fmla="*/ 160 h 497"/>
                  <a:gd name="T22" fmla="*/ 404 w 1016"/>
                  <a:gd name="T23" fmla="*/ 60 h 497"/>
                  <a:gd name="T24" fmla="*/ 500 w 1016"/>
                  <a:gd name="T25" fmla="*/ 4 h 497"/>
                  <a:gd name="T26" fmla="*/ 1016 w 1016"/>
                  <a:gd name="T27" fmla="*/ 0 h 497"/>
                  <a:gd name="T28" fmla="*/ 156 w 1016"/>
                  <a:gd name="T29" fmla="*/ 497 h 497"/>
                  <a:gd name="T30" fmla="*/ 0 w 1016"/>
                  <a:gd name="T31" fmla="*/ 408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6" h="497">
                    <a:moveTo>
                      <a:pt x="0" y="408"/>
                    </a:moveTo>
                    <a:lnTo>
                      <a:pt x="120" y="336"/>
                    </a:lnTo>
                    <a:lnTo>
                      <a:pt x="124" y="304"/>
                    </a:lnTo>
                    <a:lnTo>
                      <a:pt x="124" y="268"/>
                    </a:lnTo>
                    <a:lnTo>
                      <a:pt x="116" y="220"/>
                    </a:lnTo>
                    <a:lnTo>
                      <a:pt x="200" y="176"/>
                    </a:lnTo>
                    <a:lnTo>
                      <a:pt x="248" y="192"/>
                    </a:lnTo>
                    <a:lnTo>
                      <a:pt x="300" y="204"/>
                    </a:lnTo>
                    <a:lnTo>
                      <a:pt x="356" y="196"/>
                    </a:lnTo>
                    <a:lnTo>
                      <a:pt x="396" y="180"/>
                    </a:lnTo>
                    <a:lnTo>
                      <a:pt x="420" y="160"/>
                    </a:lnTo>
                    <a:lnTo>
                      <a:pt x="404" y="60"/>
                    </a:lnTo>
                    <a:lnTo>
                      <a:pt x="500" y="4"/>
                    </a:lnTo>
                    <a:lnTo>
                      <a:pt x="1016" y="0"/>
                    </a:lnTo>
                    <a:lnTo>
                      <a:pt x="156" y="497"/>
                    </a:lnTo>
                    <a:lnTo>
                      <a:pt x="0" y="408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CC5200"/>
                  </a:gs>
                  <a:gs pos="100000">
                    <a:srgbClr val="FF6600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" name="Freeform 47"/>
              <p:cNvSpPr>
                <a:spLocks noChangeArrowheads="1"/>
              </p:cNvSpPr>
              <p:nvPr/>
            </p:nvSpPr>
            <p:spPr bwMode="auto">
              <a:xfrm>
                <a:off x="3087" y="1666"/>
                <a:ext cx="38" cy="22"/>
              </a:xfrm>
              <a:custGeom>
                <a:avLst/>
                <a:gdLst>
                  <a:gd name="T0" fmla="*/ 0 w 115"/>
                  <a:gd name="T1" fmla="*/ 0 h 66"/>
                  <a:gd name="T2" fmla="*/ 113 w 115"/>
                  <a:gd name="T3" fmla="*/ 66 h 66"/>
                  <a:gd name="T4" fmla="*/ 115 w 115"/>
                  <a:gd name="T5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5" h="66">
                    <a:moveTo>
                      <a:pt x="0" y="0"/>
                    </a:moveTo>
                    <a:lnTo>
                      <a:pt x="113" y="66"/>
                    </a:lnTo>
                    <a:lnTo>
                      <a:pt x="115" y="66"/>
                    </a:lnTo>
                  </a:path>
                </a:pathLst>
              </a:custGeom>
              <a:noFill/>
              <a:ln w="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" name="Freeform 48"/>
              <p:cNvSpPr>
                <a:spLocks noChangeArrowheads="1"/>
              </p:cNvSpPr>
              <p:nvPr/>
            </p:nvSpPr>
            <p:spPr bwMode="auto">
              <a:xfrm>
                <a:off x="3066" y="1644"/>
                <a:ext cx="96" cy="117"/>
              </a:xfrm>
              <a:custGeom>
                <a:avLst/>
                <a:gdLst>
                  <a:gd name="T0" fmla="*/ 27 w 96"/>
                  <a:gd name="T1" fmla="*/ 63 h 117"/>
                  <a:gd name="T2" fmla="*/ 18 w 96"/>
                  <a:gd name="T3" fmla="*/ 96 h 117"/>
                  <a:gd name="T4" fmla="*/ 0 w 96"/>
                  <a:gd name="T5" fmla="*/ 117 h 117"/>
                  <a:gd name="T6" fmla="*/ 38 w 96"/>
                  <a:gd name="T7" fmla="*/ 104 h 117"/>
                  <a:gd name="T8" fmla="*/ 64 w 96"/>
                  <a:gd name="T9" fmla="*/ 90 h 117"/>
                  <a:gd name="T10" fmla="*/ 84 w 96"/>
                  <a:gd name="T11" fmla="*/ 69 h 117"/>
                  <a:gd name="T12" fmla="*/ 96 w 96"/>
                  <a:gd name="T13" fmla="*/ 42 h 117"/>
                  <a:gd name="T14" fmla="*/ 74 w 96"/>
                  <a:gd name="T15" fmla="*/ 18 h 117"/>
                  <a:gd name="T16" fmla="*/ 50 w 96"/>
                  <a:gd name="T17" fmla="*/ 0 h 117"/>
                  <a:gd name="T18" fmla="*/ 14 w 96"/>
                  <a:gd name="T19" fmla="*/ 18 h 117"/>
                  <a:gd name="T20" fmla="*/ 52 w 96"/>
                  <a:gd name="T21" fmla="*/ 40 h 117"/>
                  <a:gd name="T22" fmla="*/ 27 w 96"/>
                  <a:gd name="T23" fmla="*/ 6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6" h="117">
                    <a:moveTo>
                      <a:pt x="27" y="63"/>
                    </a:moveTo>
                    <a:lnTo>
                      <a:pt x="18" y="96"/>
                    </a:lnTo>
                    <a:lnTo>
                      <a:pt x="0" y="117"/>
                    </a:lnTo>
                    <a:lnTo>
                      <a:pt x="38" y="104"/>
                    </a:lnTo>
                    <a:lnTo>
                      <a:pt x="64" y="90"/>
                    </a:lnTo>
                    <a:lnTo>
                      <a:pt x="84" y="69"/>
                    </a:lnTo>
                    <a:lnTo>
                      <a:pt x="96" y="42"/>
                    </a:lnTo>
                    <a:lnTo>
                      <a:pt x="74" y="18"/>
                    </a:lnTo>
                    <a:lnTo>
                      <a:pt x="50" y="0"/>
                    </a:lnTo>
                    <a:lnTo>
                      <a:pt x="14" y="18"/>
                    </a:lnTo>
                    <a:lnTo>
                      <a:pt x="52" y="40"/>
                    </a:lnTo>
                    <a:lnTo>
                      <a:pt x="27" y="63"/>
                    </a:lnTo>
                    <a:close/>
                  </a:path>
                </a:pathLst>
              </a:custGeom>
              <a:solidFill>
                <a:srgbClr val="FF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" name="Freeform 49"/>
              <p:cNvSpPr>
                <a:spLocks noChangeArrowheads="1"/>
              </p:cNvSpPr>
              <p:nvPr/>
            </p:nvSpPr>
            <p:spPr bwMode="auto">
              <a:xfrm>
                <a:off x="2294" y="2330"/>
                <a:ext cx="24" cy="116"/>
              </a:xfrm>
              <a:custGeom>
                <a:avLst/>
                <a:gdLst>
                  <a:gd name="T0" fmla="*/ 0 w 24"/>
                  <a:gd name="T1" fmla="*/ 0 h 116"/>
                  <a:gd name="T2" fmla="*/ 24 w 24"/>
                  <a:gd name="T3" fmla="*/ 36 h 116"/>
                  <a:gd name="T4" fmla="*/ 24 w 24"/>
                  <a:gd name="T5" fmla="*/ 64 h 116"/>
                  <a:gd name="T6" fmla="*/ 12 w 24"/>
                  <a:gd name="T7" fmla="*/ 92 h 116"/>
                  <a:gd name="T8" fmla="*/ 0 w 24"/>
                  <a:gd name="T9" fmla="*/ 116 h 116"/>
                  <a:gd name="T10" fmla="*/ 0 w 24"/>
                  <a:gd name="T11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116">
                    <a:moveTo>
                      <a:pt x="0" y="0"/>
                    </a:moveTo>
                    <a:lnTo>
                      <a:pt x="24" y="36"/>
                    </a:lnTo>
                    <a:lnTo>
                      <a:pt x="24" y="64"/>
                    </a:lnTo>
                    <a:lnTo>
                      <a:pt x="12" y="92"/>
                    </a:lnTo>
                    <a:lnTo>
                      <a:pt x="0" y="11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FFCC00"/>
                  </a:gs>
                  <a:gs pos="100000">
                    <a:srgbClr val="765E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" name="Freeform 50"/>
              <p:cNvSpPr>
                <a:spLocks noChangeArrowheads="1"/>
              </p:cNvSpPr>
              <p:nvPr/>
            </p:nvSpPr>
            <p:spPr bwMode="auto">
              <a:xfrm>
                <a:off x="2574" y="2172"/>
                <a:ext cx="36" cy="102"/>
              </a:xfrm>
              <a:custGeom>
                <a:avLst/>
                <a:gdLst>
                  <a:gd name="T0" fmla="*/ 0 w 36"/>
                  <a:gd name="T1" fmla="*/ 0 h 102"/>
                  <a:gd name="T2" fmla="*/ 8 w 36"/>
                  <a:gd name="T3" fmla="*/ 102 h 102"/>
                  <a:gd name="T4" fmla="*/ 32 w 36"/>
                  <a:gd name="T5" fmla="*/ 82 h 102"/>
                  <a:gd name="T6" fmla="*/ 36 w 36"/>
                  <a:gd name="T7" fmla="*/ 50 h 102"/>
                  <a:gd name="T8" fmla="*/ 24 w 36"/>
                  <a:gd name="T9" fmla="*/ 24 h 102"/>
                  <a:gd name="T10" fmla="*/ 0 w 36"/>
                  <a:gd name="T11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102">
                    <a:moveTo>
                      <a:pt x="0" y="0"/>
                    </a:moveTo>
                    <a:lnTo>
                      <a:pt x="8" y="102"/>
                    </a:lnTo>
                    <a:lnTo>
                      <a:pt x="32" y="82"/>
                    </a:lnTo>
                    <a:lnTo>
                      <a:pt x="36" y="50"/>
                    </a:lnTo>
                    <a:lnTo>
                      <a:pt x="24" y="24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CC9900"/>
                  </a:gs>
                  <a:gs pos="100000">
                    <a:srgbClr val="261D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" name="Freeform 51"/>
              <p:cNvSpPr>
                <a:spLocks noChangeArrowheads="1"/>
              </p:cNvSpPr>
              <p:nvPr/>
            </p:nvSpPr>
            <p:spPr bwMode="auto">
              <a:xfrm>
                <a:off x="2330" y="1634"/>
                <a:ext cx="944" cy="1248"/>
              </a:xfrm>
              <a:custGeom>
                <a:avLst/>
                <a:gdLst>
                  <a:gd name="T0" fmla="*/ 348 w 944"/>
                  <a:gd name="T1" fmla="*/ 160 h 1248"/>
                  <a:gd name="T2" fmla="*/ 348 w 944"/>
                  <a:gd name="T3" fmla="*/ 468 h 1248"/>
                  <a:gd name="T4" fmla="*/ 412 w 944"/>
                  <a:gd name="T5" fmla="*/ 496 h 1248"/>
                  <a:gd name="T6" fmla="*/ 520 w 944"/>
                  <a:gd name="T7" fmla="*/ 524 h 1248"/>
                  <a:gd name="T8" fmla="*/ 616 w 944"/>
                  <a:gd name="T9" fmla="*/ 532 h 1248"/>
                  <a:gd name="T10" fmla="*/ 700 w 944"/>
                  <a:gd name="T11" fmla="*/ 520 h 1248"/>
                  <a:gd name="T12" fmla="*/ 776 w 944"/>
                  <a:gd name="T13" fmla="*/ 500 h 1248"/>
                  <a:gd name="T14" fmla="*/ 860 w 944"/>
                  <a:gd name="T15" fmla="*/ 464 h 1248"/>
                  <a:gd name="T16" fmla="*/ 0 w 944"/>
                  <a:gd name="T17" fmla="*/ 961 h 1248"/>
                  <a:gd name="T18" fmla="*/ 0 w 944"/>
                  <a:gd name="T19" fmla="*/ 1248 h 1248"/>
                  <a:gd name="T20" fmla="*/ 853 w 944"/>
                  <a:gd name="T21" fmla="*/ 756 h 1248"/>
                  <a:gd name="T22" fmla="*/ 900 w 944"/>
                  <a:gd name="T23" fmla="*/ 712 h 1248"/>
                  <a:gd name="T24" fmla="*/ 936 w 944"/>
                  <a:gd name="T25" fmla="*/ 672 h 1248"/>
                  <a:gd name="T26" fmla="*/ 944 w 944"/>
                  <a:gd name="T27" fmla="*/ 636 h 1248"/>
                  <a:gd name="T28" fmla="*/ 944 w 944"/>
                  <a:gd name="T29" fmla="*/ 604 h 1248"/>
                  <a:gd name="T30" fmla="*/ 944 w 944"/>
                  <a:gd name="T31" fmla="*/ 0 h 1248"/>
                  <a:gd name="T32" fmla="*/ 776 w 944"/>
                  <a:gd name="T33" fmla="*/ 160 h 1248"/>
                  <a:gd name="T34" fmla="*/ 532 w 944"/>
                  <a:gd name="T35" fmla="*/ 188 h 1248"/>
                  <a:gd name="T36" fmla="*/ 348 w 944"/>
                  <a:gd name="T37" fmla="*/ 160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44" h="1248">
                    <a:moveTo>
                      <a:pt x="348" y="160"/>
                    </a:moveTo>
                    <a:lnTo>
                      <a:pt x="348" y="468"/>
                    </a:lnTo>
                    <a:lnTo>
                      <a:pt x="412" y="496"/>
                    </a:lnTo>
                    <a:lnTo>
                      <a:pt x="520" y="524"/>
                    </a:lnTo>
                    <a:lnTo>
                      <a:pt x="616" y="532"/>
                    </a:lnTo>
                    <a:lnTo>
                      <a:pt x="700" y="520"/>
                    </a:lnTo>
                    <a:lnTo>
                      <a:pt x="776" y="500"/>
                    </a:lnTo>
                    <a:lnTo>
                      <a:pt x="860" y="464"/>
                    </a:lnTo>
                    <a:lnTo>
                      <a:pt x="0" y="961"/>
                    </a:lnTo>
                    <a:lnTo>
                      <a:pt x="0" y="1248"/>
                    </a:lnTo>
                    <a:lnTo>
                      <a:pt x="853" y="756"/>
                    </a:lnTo>
                    <a:lnTo>
                      <a:pt x="900" y="712"/>
                    </a:lnTo>
                    <a:lnTo>
                      <a:pt x="936" y="672"/>
                    </a:lnTo>
                    <a:lnTo>
                      <a:pt x="944" y="636"/>
                    </a:lnTo>
                    <a:lnTo>
                      <a:pt x="944" y="604"/>
                    </a:lnTo>
                    <a:lnTo>
                      <a:pt x="944" y="0"/>
                    </a:lnTo>
                    <a:lnTo>
                      <a:pt x="776" y="160"/>
                    </a:lnTo>
                    <a:lnTo>
                      <a:pt x="532" y="188"/>
                    </a:lnTo>
                    <a:lnTo>
                      <a:pt x="348" y="160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780000"/>
                  </a:gs>
                  <a:gs pos="50000">
                    <a:srgbClr val="CC0000"/>
                  </a:gs>
                  <a:gs pos="100000">
                    <a:srgbClr val="7800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" name="Freeform 52"/>
              <p:cNvSpPr>
                <a:spLocks noChangeArrowheads="1"/>
              </p:cNvSpPr>
              <p:nvPr/>
            </p:nvSpPr>
            <p:spPr bwMode="auto">
              <a:xfrm>
                <a:off x="2676" y="1494"/>
                <a:ext cx="602" cy="368"/>
              </a:xfrm>
              <a:custGeom>
                <a:avLst/>
                <a:gdLst>
                  <a:gd name="T0" fmla="*/ 0 w 602"/>
                  <a:gd name="T1" fmla="*/ 294 h 368"/>
                  <a:gd name="T2" fmla="*/ 82 w 602"/>
                  <a:gd name="T3" fmla="*/ 250 h 368"/>
                  <a:gd name="T4" fmla="*/ 144 w 602"/>
                  <a:gd name="T5" fmla="*/ 276 h 368"/>
                  <a:gd name="T6" fmla="*/ 198 w 602"/>
                  <a:gd name="T7" fmla="*/ 288 h 368"/>
                  <a:gd name="T8" fmla="*/ 264 w 602"/>
                  <a:gd name="T9" fmla="*/ 294 h 368"/>
                  <a:gd name="T10" fmla="*/ 324 w 602"/>
                  <a:gd name="T11" fmla="*/ 290 h 368"/>
                  <a:gd name="T12" fmla="*/ 370 w 602"/>
                  <a:gd name="T13" fmla="*/ 276 h 368"/>
                  <a:gd name="T14" fmla="*/ 430 w 602"/>
                  <a:gd name="T15" fmla="*/ 248 h 368"/>
                  <a:gd name="T16" fmla="*/ 458 w 602"/>
                  <a:gd name="T17" fmla="*/ 224 h 368"/>
                  <a:gd name="T18" fmla="*/ 488 w 602"/>
                  <a:gd name="T19" fmla="*/ 192 h 368"/>
                  <a:gd name="T20" fmla="*/ 496 w 602"/>
                  <a:gd name="T21" fmla="*/ 136 h 368"/>
                  <a:gd name="T22" fmla="*/ 490 w 602"/>
                  <a:gd name="T23" fmla="*/ 102 h 368"/>
                  <a:gd name="T24" fmla="*/ 472 w 602"/>
                  <a:gd name="T25" fmla="*/ 78 h 368"/>
                  <a:gd name="T26" fmla="*/ 434 w 602"/>
                  <a:gd name="T27" fmla="*/ 48 h 368"/>
                  <a:gd name="T28" fmla="*/ 516 w 602"/>
                  <a:gd name="T29" fmla="*/ 0 h 368"/>
                  <a:gd name="T30" fmla="*/ 558 w 602"/>
                  <a:gd name="T31" fmla="*/ 30 h 368"/>
                  <a:gd name="T32" fmla="*/ 574 w 602"/>
                  <a:gd name="T33" fmla="*/ 64 h 368"/>
                  <a:gd name="T34" fmla="*/ 594 w 602"/>
                  <a:gd name="T35" fmla="*/ 108 h 368"/>
                  <a:gd name="T36" fmla="*/ 602 w 602"/>
                  <a:gd name="T37" fmla="*/ 148 h 368"/>
                  <a:gd name="T38" fmla="*/ 590 w 602"/>
                  <a:gd name="T39" fmla="*/ 202 h 368"/>
                  <a:gd name="T40" fmla="*/ 576 w 602"/>
                  <a:gd name="T41" fmla="*/ 230 h 368"/>
                  <a:gd name="T42" fmla="*/ 540 w 602"/>
                  <a:gd name="T43" fmla="*/ 272 h 368"/>
                  <a:gd name="T44" fmla="*/ 500 w 602"/>
                  <a:gd name="T45" fmla="*/ 302 h 368"/>
                  <a:gd name="T46" fmla="*/ 426 w 602"/>
                  <a:gd name="T47" fmla="*/ 334 h 368"/>
                  <a:gd name="T48" fmla="*/ 350 w 602"/>
                  <a:gd name="T49" fmla="*/ 356 h 368"/>
                  <a:gd name="T50" fmla="*/ 258 w 602"/>
                  <a:gd name="T51" fmla="*/ 368 h 368"/>
                  <a:gd name="T52" fmla="*/ 166 w 602"/>
                  <a:gd name="T53" fmla="*/ 360 h 368"/>
                  <a:gd name="T54" fmla="*/ 70 w 602"/>
                  <a:gd name="T55" fmla="*/ 336 h 368"/>
                  <a:gd name="T56" fmla="*/ 0 w 602"/>
                  <a:gd name="T57" fmla="*/ 294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02" h="368">
                    <a:moveTo>
                      <a:pt x="0" y="294"/>
                    </a:moveTo>
                    <a:lnTo>
                      <a:pt x="82" y="250"/>
                    </a:lnTo>
                    <a:lnTo>
                      <a:pt x="144" y="276"/>
                    </a:lnTo>
                    <a:lnTo>
                      <a:pt x="198" y="288"/>
                    </a:lnTo>
                    <a:lnTo>
                      <a:pt x="264" y="294"/>
                    </a:lnTo>
                    <a:lnTo>
                      <a:pt x="324" y="290"/>
                    </a:lnTo>
                    <a:lnTo>
                      <a:pt x="370" y="276"/>
                    </a:lnTo>
                    <a:lnTo>
                      <a:pt x="430" y="248"/>
                    </a:lnTo>
                    <a:lnTo>
                      <a:pt x="458" y="224"/>
                    </a:lnTo>
                    <a:lnTo>
                      <a:pt x="488" y="192"/>
                    </a:lnTo>
                    <a:lnTo>
                      <a:pt x="496" y="136"/>
                    </a:lnTo>
                    <a:lnTo>
                      <a:pt x="490" y="102"/>
                    </a:lnTo>
                    <a:lnTo>
                      <a:pt x="472" y="78"/>
                    </a:lnTo>
                    <a:lnTo>
                      <a:pt x="434" y="48"/>
                    </a:lnTo>
                    <a:lnTo>
                      <a:pt x="516" y="0"/>
                    </a:lnTo>
                    <a:lnTo>
                      <a:pt x="558" y="30"/>
                    </a:lnTo>
                    <a:lnTo>
                      <a:pt x="574" y="64"/>
                    </a:lnTo>
                    <a:lnTo>
                      <a:pt x="594" y="108"/>
                    </a:lnTo>
                    <a:lnTo>
                      <a:pt x="602" y="148"/>
                    </a:lnTo>
                    <a:lnTo>
                      <a:pt x="590" y="202"/>
                    </a:lnTo>
                    <a:lnTo>
                      <a:pt x="576" y="230"/>
                    </a:lnTo>
                    <a:lnTo>
                      <a:pt x="540" y="272"/>
                    </a:lnTo>
                    <a:lnTo>
                      <a:pt x="500" y="302"/>
                    </a:lnTo>
                    <a:lnTo>
                      <a:pt x="426" y="334"/>
                    </a:lnTo>
                    <a:lnTo>
                      <a:pt x="350" y="356"/>
                    </a:lnTo>
                    <a:lnTo>
                      <a:pt x="258" y="368"/>
                    </a:lnTo>
                    <a:lnTo>
                      <a:pt x="166" y="360"/>
                    </a:lnTo>
                    <a:lnTo>
                      <a:pt x="70" y="336"/>
                    </a:lnTo>
                    <a:lnTo>
                      <a:pt x="0" y="294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" name="Freeform 53"/>
              <p:cNvSpPr>
                <a:spLocks noChangeArrowheads="1"/>
              </p:cNvSpPr>
              <p:nvPr/>
            </p:nvSpPr>
            <p:spPr bwMode="auto">
              <a:xfrm>
                <a:off x="2178" y="2506"/>
                <a:ext cx="156" cy="376"/>
              </a:xfrm>
              <a:custGeom>
                <a:avLst/>
                <a:gdLst>
                  <a:gd name="T0" fmla="*/ 0 w 156"/>
                  <a:gd name="T1" fmla="*/ 0 h 376"/>
                  <a:gd name="T2" fmla="*/ 156 w 156"/>
                  <a:gd name="T3" fmla="*/ 88 h 376"/>
                  <a:gd name="T4" fmla="*/ 156 w 156"/>
                  <a:gd name="T5" fmla="*/ 376 h 376"/>
                  <a:gd name="T6" fmla="*/ 0 w 156"/>
                  <a:gd name="T7" fmla="*/ 288 h 376"/>
                  <a:gd name="T8" fmla="*/ 0 w 156"/>
                  <a:gd name="T9" fmla="*/ 0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376">
                    <a:moveTo>
                      <a:pt x="0" y="0"/>
                    </a:moveTo>
                    <a:lnTo>
                      <a:pt x="156" y="88"/>
                    </a:lnTo>
                    <a:lnTo>
                      <a:pt x="156" y="376"/>
                    </a:lnTo>
                    <a:lnTo>
                      <a:pt x="0" y="2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sp>
        <p:nvSpPr>
          <p:cNvPr id="59" name="AutoShape 14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2531774" y="3254864"/>
            <a:ext cx="4465637" cy="647700"/>
          </a:xfrm>
          <a:prstGeom prst="actionButtonBlank">
            <a:avLst/>
          </a:prstGeom>
          <a:gradFill rotWithShape="1">
            <a:gsLst>
              <a:gs pos="0">
                <a:srgbClr val="996633">
                  <a:alpha val="29999"/>
                </a:srgb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二、剖视图的种类</a:t>
            </a:r>
          </a:p>
        </p:txBody>
      </p:sp>
      <p:sp>
        <p:nvSpPr>
          <p:cNvPr id="60" name="AutoShape 15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2934999" y="4161326"/>
            <a:ext cx="4465637" cy="647700"/>
          </a:xfrm>
          <a:prstGeom prst="actionButtonBlank">
            <a:avLst/>
          </a:prstGeom>
          <a:gradFill rotWithShape="1">
            <a:gsLst>
              <a:gs pos="0">
                <a:srgbClr val="996633">
                  <a:alpha val="29999"/>
                </a:srgb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三、剖切面的种类</a:t>
            </a:r>
          </a:p>
        </p:txBody>
      </p:sp>
      <p:sp>
        <p:nvSpPr>
          <p:cNvPr id="61" name="AutoShape 16">
            <a:hlinkClick r:id="rId3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3482685" y="5069376"/>
            <a:ext cx="4465638" cy="647700"/>
          </a:xfrm>
          <a:prstGeom prst="actionButtonBlank">
            <a:avLst/>
          </a:prstGeom>
          <a:gradFill rotWithShape="1">
            <a:gsLst>
              <a:gs pos="0">
                <a:srgbClr val="996633">
                  <a:alpha val="29999"/>
                </a:srgb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四</a:t>
            </a:r>
            <a:r>
              <a:rPr kumimoji="1" lang="zh-CN" altLang="zh-CN" sz="2800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、</a:t>
            </a:r>
            <a:r>
              <a:rPr kumimoji="1" lang="zh-CN" altLang="en-US" sz="2800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一些规定画法</a:t>
            </a:r>
          </a:p>
        </p:txBody>
      </p:sp>
      <p:sp>
        <p:nvSpPr>
          <p:cNvPr id="62" name="AutoShape 17">
            <a:hlinkClick r:id="" action="ppaction://hlinkshowjump?jump=nextslide" highlightClick="1"/>
          </p:cNvPr>
          <p:cNvSpPr>
            <a:spLocks noChangeArrowheads="1"/>
          </p:cNvSpPr>
          <p:nvPr/>
        </p:nvSpPr>
        <p:spPr bwMode="auto">
          <a:xfrm>
            <a:off x="2042824" y="2332526"/>
            <a:ext cx="4465637" cy="647700"/>
          </a:xfrm>
          <a:prstGeom prst="actionButtonBlank">
            <a:avLst/>
          </a:prstGeom>
          <a:gradFill rotWithShape="1">
            <a:gsLst>
              <a:gs pos="0">
                <a:srgbClr val="996633">
                  <a:alpha val="29999"/>
                </a:srgb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一、剖视图的基本概念</a:t>
            </a:r>
          </a:p>
        </p:txBody>
      </p:sp>
      <p:sp>
        <p:nvSpPr>
          <p:cNvPr id="67" name="AutoShape 13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4528849" y="1087439"/>
            <a:ext cx="2110942" cy="6477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1">
                  <a:gsLst>
                    <a:gs pos="0">
                      <a:srgbClr val="996633">
                        <a:alpha val="29999"/>
                      </a:srgbClr>
                    </a:gs>
                    <a:gs pos="100000">
                      <a:srgbClr val="FFFF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基本内容</a:t>
            </a:r>
          </a:p>
        </p:txBody>
      </p:sp>
    </p:spTree>
    <p:extLst>
      <p:ext uri="{BB962C8B-B14F-4D97-AF65-F5344CB8AC3E}">
        <p14:creationId xmlns:p14="http://schemas.microsoft.com/office/powerpoint/2010/main" val="155389806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7">
            <a:hlinkClick r:id="" action="ppaction://hlinkshowjump?jump=nextslide" highlightClick="1"/>
          </p:cNvPr>
          <p:cNvSpPr>
            <a:spLocks noChangeArrowheads="1"/>
          </p:cNvSpPr>
          <p:nvPr/>
        </p:nvSpPr>
        <p:spPr bwMode="auto">
          <a:xfrm>
            <a:off x="816697" y="534898"/>
            <a:ext cx="4801314" cy="646331"/>
          </a:xfrm>
          <a:prstGeom prst="actionButtonBlank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>
            <a:spAutoFit/>
          </a:bodyPr>
          <a:lstStyle/>
          <a:p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一、剖视图的基本概念</a:t>
            </a: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1685060" y="1505872"/>
            <a:ext cx="2082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zh-CN" altLang="en-US" sz="2800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问题的提出</a:t>
            </a:r>
          </a:p>
        </p:txBody>
      </p:sp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2994747" y="5869117"/>
            <a:ext cx="1803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zh-CN" altLang="en-US" sz="280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解决办法</a:t>
            </a:r>
            <a:endParaRPr lang="zh-CN" altLang="en-US" b="0">
              <a:solidFill>
                <a:srgbClr val="FF3300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5361709" y="5929442"/>
            <a:ext cx="17160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zh-CN" altLang="en-US">
                <a:latin typeface="华文细黑" panose="02010600040101010101" pitchFamily="2" charset="-122"/>
                <a:ea typeface="华文细黑" panose="02010600040101010101" pitchFamily="2" charset="-122"/>
              </a:rPr>
              <a:t>采用剖视图</a:t>
            </a:r>
          </a:p>
        </p:txBody>
      </p:sp>
      <p:grpSp>
        <p:nvGrpSpPr>
          <p:cNvPr id="6" name="Group 6"/>
          <p:cNvGrpSpPr>
            <a:grpSpLocks/>
          </p:cNvGrpSpPr>
          <p:nvPr/>
        </p:nvGrpSpPr>
        <p:grpSpPr bwMode="auto">
          <a:xfrm>
            <a:off x="7995515" y="2842316"/>
            <a:ext cx="2605088" cy="2584450"/>
            <a:chOff x="3070" y="1670"/>
            <a:chExt cx="1641" cy="1628"/>
          </a:xfrm>
        </p:grpSpPr>
        <p:sp>
          <p:nvSpPr>
            <p:cNvPr id="7" name="Freeform 7"/>
            <p:cNvSpPr>
              <a:spLocks noChangeArrowheads="1"/>
            </p:cNvSpPr>
            <p:nvPr/>
          </p:nvSpPr>
          <p:spPr bwMode="auto">
            <a:xfrm>
              <a:off x="3239" y="2583"/>
              <a:ext cx="478" cy="491"/>
            </a:xfrm>
            <a:custGeom>
              <a:avLst/>
              <a:gdLst>
                <a:gd name="T0" fmla="*/ 2 w 494"/>
                <a:gd name="T1" fmla="*/ 164 h 508"/>
                <a:gd name="T2" fmla="*/ 286 w 494"/>
                <a:gd name="T3" fmla="*/ 0 h 508"/>
                <a:gd name="T4" fmla="*/ 494 w 494"/>
                <a:gd name="T5" fmla="*/ 180 h 508"/>
                <a:gd name="T6" fmla="*/ 280 w 494"/>
                <a:gd name="T7" fmla="*/ 304 h 508"/>
                <a:gd name="T8" fmla="*/ 238 w 494"/>
                <a:gd name="T9" fmla="*/ 308 h 508"/>
                <a:gd name="T10" fmla="*/ 238 w 494"/>
                <a:gd name="T11" fmla="*/ 404 h 508"/>
                <a:gd name="T12" fmla="*/ 186 w 494"/>
                <a:gd name="T13" fmla="*/ 412 h 508"/>
                <a:gd name="T14" fmla="*/ 138 w 494"/>
                <a:gd name="T15" fmla="*/ 428 h 508"/>
                <a:gd name="T16" fmla="*/ 0 w 494"/>
                <a:gd name="T17" fmla="*/ 508 h 508"/>
                <a:gd name="T18" fmla="*/ 2 w 494"/>
                <a:gd name="T19" fmla="*/ 164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4" h="508">
                  <a:moveTo>
                    <a:pt x="2" y="164"/>
                  </a:moveTo>
                  <a:lnTo>
                    <a:pt x="286" y="0"/>
                  </a:lnTo>
                  <a:lnTo>
                    <a:pt x="494" y="180"/>
                  </a:lnTo>
                  <a:lnTo>
                    <a:pt x="280" y="304"/>
                  </a:lnTo>
                  <a:lnTo>
                    <a:pt x="238" y="308"/>
                  </a:lnTo>
                  <a:lnTo>
                    <a:pt x="238" y="404"/>
                  </a:lnTo>
                  <a:lnTo>
                    <a:pt x="186" y="412"/>
                  </a:lnTo>
                  <a:lnTo>
                    <a:pt x="138" y="428"/>
                  </a:lnTo>
                  <a:lnTo>
                    <a:pt x="0" y="508"/>
                  </a:lnTo>
                  <a:lnTo>
                    <a:pt x="2" y="164"/>
                  </a:lnTo>
                  <a:close/>
                </a:path>
              </a:pathLst>
            </a:custGeom>
            <a:gradFill rotWithShape="0">
              <a:gsLst>
                <a:gs pos="0">
                  <a:srgbClr val="FFCC66"/>
                </a:gs>
                <a:gs pos="100000">
                  <a:srgbClr val="765E2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" name="Freeform 8"/>
            <p:cNvSpPr>
              <a:spLocks noChangeArrowheads="1"/>
            </p:cNvSpPr>
            <p:nvPr/>
          </p:nvSpPr>
          <p:spPr bwMode="auto">
            <a:xfrm>
              <a:off x="3468" y="2880"/>
              <a:ext cx="168" cy="418"/>
            </a:xfrm>
            <a:custGeom>
              <a:avLst/>
              <a:gdLst>
                <a:gd name="T0" fmla="*/ 1 w 173"/>
                <a:gd name="T1" fmla="*/ 0 h 432"/>
                <a:gd name="T2" fmla="*/ 173 w 173"/>
                <a:gd name="T3" fmla="*/ 99 h 432"/>
                <a:gd name="T4" fmla="*/ 173 w 173"/>
                <a:gd name="T5" fmla="*/ 432 h 432"/>
                <a:gd name="T6" fmla="*/ 0 w 173"/>
                <a:gd name="T7" fmla="*/ 332 h 432"/>
                <a:gd name="T8" fmla="*/ 1 w 173"/>
                <a:gd name="T9" fmla="*/ 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3" h="432">
                  <a:moveTo>
                    <a:pt x="1" y="0"/>
                  </a:moveTo>
                  <a:lnTo>
                    <a:pt x="173" y="99"/>
                  </a:lnTo>
                  <a:lnTo>
                    <a:pt x="173" y="432"/>
                  </a:lnTo>
                  <a:lnTo>
                    <a:pt x="0" y="3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C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" name="Freeform 9"/>
            <p:cNvSpPr>
              <a:spLocks noChangeArrowheads="1"/>
            </p:cNvSpPr>
            <p:nvPr/>
          </p:nvSpPr>
          <p:spPr bwMode="auto">
            <a:xfrm>
              <a:off x="3070" y="2641"/>
              <a:ext cx="175" cy="437"/>
            </a:xfrm>
            <a:custGeom>
              <a:avLst/>
              <a:gdLst>
                <a:gd name="T0" fmla="*/ 1 w 181"/>
                <a:gd name="T1" fmla="*/ 0 h 452"/>
                <a:gd name="T2" fmla="*/ 181 w 181"/>
                <a:gd name="T3" fmla="*/ 104 h 452"/>
                <a:gd name="T4" fmla="*/ 181 w 181"/>
                <a:gd name="T5" fmla="*/ 452 h 452"/>
                <a:gd name="T6" fmla="*/ 0 w 181"/>
                <a:gd name="T7" fmla="*/ 348 h 452"/>
                <a:gd name="T8" fmla="*/ 1 w 181"/>
                <a:gd name="T9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1" h="452">
                  <a:moveTo>
                    <a:pt x="1" y="0"/>
                  </a:moveTo>
                  <a:lnTo>
                    <a:pt x="181" y="104"/>
                  </a:lnTo>
                  <a:lnTo>
                    <a:pt x="181" y="452"/>
                  </a:lnTo>
                  <a:lnTo>
                    <a:pt x="0" y="3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C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" name="Freeform 10"/>
            <p:cNvSpPr>
              <a:spLocks noChangeArrowheads="1"/>
            </p:cNvSpPr>
            <p:nvPr/>
          </p:nvSpPr>
          <p:spPr bwMode="auto">
            <a:xfrm>
              <a:off x="3071" y="2106"/>
              <a:ext cx="1629" cy="890"/>
            </a:xfrm>
            <a:custGeom>
              <a:avLst/>
              <a:gdLst>
                <a:gd name="T0" fmla="*/ 900 w 1685"/>
                <a:gd name="T1" fmla="*/ 41 h 921"/>
                <a:gd name="T2" fmla="*/ 0 w 1685"/>
                <a:gd name="T3" fmla="*/ 557 h 921"/>
                <a:gd name="T4" fmla="*/ 176 w 1685"/>
                <a:gd name="T5" fmla="*/ 661 h 921"/>
                <a:gd name="T6" fmla="*/ 300 w 1685"/>
                <a:gd name="T7" fmla="*/ 597 h 921"/>
                <a:gd name="T8" fmla="*/ 340 w 1685"/>
                <a:gd name="T9" fmla="*/ 577 h 921"/>
                <a:gd name="T10" fmla="*/ 392 w 1685"/>
                <a:gd name="T11" fmla="*/ 561 h 921"/>
                <a:gd name="T12" fmla="*/ 424 w 1685"/>
                <a:gd name="T13" fmla="*/ 557 h 921"/>
                <a:gd name="T14" fmla="*/ 492 w 1685"/>
                <a:gd name="T15" fmla="*/ 569 h 921"/>
                <a:gd name="T16" fmla="*/ 544 w 1685"/>
                <a:gd name="T17" fmla="*/ 593 h 921"/>
                <a:gd name="T18" fmla="*/ 568 w 1685"/>
                <a:gd name="T19" fmla="*/ 621 h 921"/>
                <a:gd name="T20" fmla="*/ 580 w 1685"/>
                <a:gd name="T21" fmla="*/ 653 h 921"/>
                <a:gd name="T22" fmla="*/ 572 w 1685"/>
                <a:gd name="T23" fmla="*/ 689 h 921"/>
                <a:gd name="T24" fmla="*/ 548 w 1685"/>
                <a:gd name="T25" fmla="*/ 721 h 921"/>
                <a:gd name="T26" fmla="*/ 412 w 1685"/>
                <a:gd name="T27" fmla="*/ 800 h 921"/>
                <a:gd name="T28" fmla="*/ 612 w 1685"/>
                <a:gd name="T29" fmla="*/ 921 h 921"/>
                <a:gd name="T30" fmla="*/ 1632 w 1685"/>
                <a:gd name="T31" fmla="*/ 309 h 921"/>
                <a:gd name="T32" fmla="*/ 900 w 1685"/>
                <a:gd name="T33" fmla="*/ 41 h 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85" h="921">
                  <a:moveTo>
                    <a:pt x="900" y="41"/>
                  </a:moveTo>
                  <a:lnTo>
                    <a:pt x="0" y="557"/>
                  </a:lnTo>
                  <a:lnTo>
                    <a:pt x="176" y="661"/>
                  </a:lnTo>
                  <a:lnTo>
                    <a:pt x="300" y="597"/>
                  </a:lnTo>
                  <a:lnTo>
                    <a:pt x="340" y="577"/>
                  </a:lnTo>
                  <a:lnTo>
                    <a:pt x="392" y="561"/>
                  </a:lnTo>
                  <a:lnTo>
                    <a:pt x="424" y="557"/>
                  </a:lnTo>
                  <a:lnTo>
                    <a:pt x="492" y="569"/>
                  </a:lnTo>
                  <a:lnTo>
                    <a:pt x="544" y="593"/>
                  </a:lnTo>
                  <a:lnTo>
                    <a:pt x="568" y="621"/>
                  </a:lnTo>
                  <a:lnTo>
                    <a:pt x="580" y="653"/>
                  </a:lnTo>
                  <a:lnTo>
                    <a:pt x="572" y="689"/>
                  </a:lnTo>
                  <a:lnTo>
                    <a:pt x="548" y="721"/>
                  </a:lnTo>
                  <a:lnTo>
                    <a:pt x="412" y="800"/>
                  </a:lnTo>
                  <a:lnTo>
                    <a:pt x="612" y="921"/>
                  </a:lnTo>
                  <a:lnTo>
                    <a:pt x="1632" y="309"/>
                  </a:lnTo>
                  <a:cubicBezTo>
                    <a:pt x="1685" y="166"/>
                    <a:pt x="1172" y="0"/>
                    <a:pt x="900" y="41"/>
                  </a:cubicBezTo>
                  <a:close/>
                </a:path>
              </a:pathLst>
            </a:custGeom>
            <a:gradFill rotWithShape="0">
              <a:gsLst>
                <a:gs pos="0">
                  <a:srgbClr val="901D00"/>
                </a:gs>
                <a:gs pos="100000">
                  <a:srgbClr val="FF3300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" name="Freeform 11"/>
            <p:cNvSpPr>
              <a:spLocks noChangeArrowheads="1"/>
            </p:cNvSpPr>
            <p:nvPr/>
          </p:nvSpPr>
          <p:spPr bwMode="auto">
            <a:xfrm>
              <a:off x="3636" y="1875"/>
              <a:ext cx="1075" cy="1423"/>
            </a:xfrm>
            <a:custGeom>
              <a:avLst/>
              <a:gdLst>
                <a:gd name="T0" fmla="*/ 320 w 1112"/>
                <a:gd name="T1" fmla="*/ 4 h 1472"/>
                <a:gd name="T2" fmla="*/ 320 w 1112"/>
                <a:gd name="T3" fmla="*/ 404 h 1472"/>
                <a:gd name="T4" fmla="*/ 332 w 1112"/>
                <a:gd name="T5" fmla="*/ 460 h 1472"/>
                <a:gd name="T6" fmla="*/ 364 w 1112"/>
                <a:gd name="T7" fmla="*/ 516 h 1472"/>
                <a:gd name="T8" fmla="*/ 428 w 1112"/>
                <a:gd name="T9" fmla="*/ 568 h 1472"/>
                <a:gd name="T10" fmla="*/ 516 w 1112"/>
                <a:gd name="T11" fmla="*/ 608 h 1472"/>
                <a:gd name="T12" fmla="*/ 604 w 1112"/>
                <a:gd name="T13" fmla="*/ 632 h 1472"/>
                <a:gd name="T14" fmla="*/ 692 w 1112"/>
                <a:gd name="T15" fmla="*/ 644 h 1472"/>
                <a:gd name="T16" fmla="*/ 772 w 1112"/>
                <a:gd name="T17" fmla="*/ 640 h 1472"/>
                <a:gd name="T18" fmla="*/ 844 w 1112"/>
                <a:gd name="T19" fmla="*/ 624 h 1472"/>
                <a:gd name="T20" fmla="*/ 912 w 1112"/>
                <a:gd name="T21" fmla="*/ 604 h 1472"/>
                <a:gd name="T22" fmla="*/ 1004 w 1112"/>
                <a:gd name="T23" fmla="*/ 568 h 1472"/>
                <a:gd name="T24" fmla="*/ 0 w 1112"/>
                <a:gd name="T25" fmla="*/ 1148 h 1472"/>
                <a:gd name="T26" fmla="*/ 0 w 1112"/>
                <a:gd name="T27" fmla="*/ 1472 h 1472"/>
                <a:gd name="T28" fmla="*/ 983 w 1112"/>
                <a:gd name="T29" fmla="*/ 904 h 1472"/>
                <a:gd name="T30" fmla="*/ 1060 w 1112"/>
                <a:gd name="T31" fmla="*/ 852 h 1472"/>
                <a:gd name="T32" fmla="*/ 1092 w 1112"/>
                <a:gd name="T33" fmla="*/ 816 h 1472"/>
                <a:gd name="T34" fmla="*/ 1104 w 1112"/>
                <a:gd name="T35" fmla="*/ 768 h 1472"/>
                <a:gd name="T36" fmla="*/ 1112 w 1112"/>
                <a:gd name="T37" fmla="*/ 732 h 1472"/>
                <a:gd name="T38" fmla="*/ 1112 w 1112"/>
                <a:gd name="T39" fmla="*/ 0 h 1472"/>
                <a:gd name="T40" fmla="*/ 320 w 1112"/>
                <a:gd name="T41" fmla="*/ 4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2" h="1472">
                  <a:moveTo>
                    <a:pt x="320" y="4"/>
                  </a:moveTo>
                  <a:lnTo>
                    <a:pt x="320" y="404"/>
                  </a:lnTo>
                  <a:lnTo>
                    <a:pt x="332" y="460"/>
                  </a:lnTo>
                  <a:lnTo>
                    <a:pt x="364" y="516"/>
                  </a:lnTo>
                  <a:lnTo>
                    <a:pt x="428" y="568"/>
                  </a:lnTo>
                  <a:lnTo>
                    <a:pt x="516" y="608"/>
                  </a:lnTo>
                  <a:lnTo>
                    <a:pt x="604" y="632"/>
                  </a:lnTo>
                  <a:lnTo>
                    <a:pt x="692" y="644"/>
                  </a:lnTo>
                  <a:lnTo>
                    <a:pt x="772" y="640"/>
                  </a:lnTo>
                  <a:lnTo>
                    <a:pt x="844" y="624"/>
                  </a:lnTo>
                  <a:lnTo>
                    <a:pt x="912" y="604"/>
                  </a:lnTo>
                  <a:lnTo>
                    <a:pt x="1004" y="568"/>
                  </a:lnTo>
                  <a:lnTo>
                    <a:pt x="0" y="1148"/>
                  </a:lnTo>
                  <a:lnTo>
                    <a:pt x="0" y="1472"/>
                  </a:lnTo>
                  <a:lnTo>
                    <a:pt x="983" y="904"/>
                  </a:lnTo>
                  <a:lnTo>
                    <a:pt x="1060" y="852"/>
                  </a:lnTo>
                  <a:lnTo>
                    <a:pt x="1092" y="816"/>
                  </a:lnTo>
                  <a:lnTo>
                    <a:pt x="1104" y="768"/>
                  </a:lnTo>
                  <a:lnTo>
                    <a:pt x="1112" y="732"/>
                  </a:lnTo>
                  <a:lnTo>
                    <a:pt x="1112" y="0"/>
                  </a:lnTo>
                  <a:lnTo>
                    <a:pt x="320" y="4"/>
                  </a:lnTo>
                  <a:close/>
                </a:path>
              </a:pathLst>
            </a:custGeom>
            <a:gradFill rotWithShape="0">
              <a:gsLst>
                <a:gs pos="0">
                  <a:srgbClr val="860043"/>
                </a:gs>
                <a:gs pos="50000">
                  <a:srgbClr val="CC0066"/>
                </a:gs>
                <a:gs pos="100000">
                  <a:srgbClr val="86004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" name="Oval 12"/>
            <p:cNvSpPr>
              <a:spLocks noChangeArrowheads="1"/>
            </p:cNvSpPr>
            <p:nvPr/>
          </p:nvSpPr>
          <p:spPr bwMode="auto">
            <a:xfrm>
              <a:off x="3945" y="1670"/>
              <a:ext cx="761" cy="466"/>
            </a:xfrm>
            <a:prstGeom prst="ellipse">
              <a:avLst/>
            </a:prstGeom>
            <a:solidFill>
              <a:srgbClr val="FF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" name="Oval 13"/>
            <p:cNvSpPr>
              <a:spLocks noChangeArrowheads="1"/>
            </p:cNvSpPr>
            <p:nvPr/>
          </p:nvSpPr>
          <p:spPr bwMode="auto">
            <a:xfrm>
              <a:off x="4063" y="1735"/>
              <a:ext cx="520" cy="333"/>
            </a:xfrm>
            <a:prstGeom prst="ellipse">
              <a:avLst/>
            </a:prstGeom>
            <a:gradFill rotWithShape="0">
              <a:gsLst>
                <a:gs pos="0">
                  <a:srgbClr val="767600"/>
                </a:gs>
                <a:gs pos="50000">
                  <a:srgbClr val="FFFF00"/>
                </a:gs>
                <a:gs pos="100000">
                  <a:srgbClr val="7676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" name="Oval 14"/>
            <p:cNvSpPr>
              <a:spLocks noChangeArrowheads="1"/>
            </p:cNvSpPr>
            <p:nvPr/>
          </p:nvSpPr>
          <p:spPr bwMode="auto">
            <a:xfrm>
              <a:off x="4075" y="1821"/>
              <a:ext cx="493" cy="247"/>
            </a:xfrm>
            <a:prstGeom prst="ellipse">
              <a:avLst/>
            </a:pr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" name="Freeform 15"/>
            <p:cNvSpPr>
              <a:spLocks noChangeArrowheads="1"/>
            </p:cNvSpPr>
            <p:nvPr/>
          </p:nvSpPr>
          <p:spPr bwMode="auto">
            <a:xfrm>
              <a:off x="4154" y="1875"/>
              <a:ext cx="371" cy="205"/>
            </a:xfrm>
            <a:custGeom>
              <a:avLst/>
              <a:gdLst>
                <a:gd name="T0" fmla="*/ 308 w 384"/>
                <a:gd name="T1" fmla="*/ 4 h 212"/>
                <a:gd name="T2" fmla="*/ 384 w 384"/>
                <a:gd name="T3" fmla="*/ 48 h 212"/>
                <a:gd name="T4" fmla="*/ 332 w 384"/>
                <a:gd name="T5" fmla="*/ 76 h 212"/>
                <a:gd name="T6" fmla="*/ 356 w 384"/>
                <a:gd name="T7" fmla="*/ 104 h 212"/>
                <a:gd name="T8" fmla="*/ 348 w 384"/>
                <a:gd name="T9" fmla="*/ 148 h 212"/>
                <a:gd name="T10" fmla="*/ 316 w 384"/>
                <a:gd name="T11" fmla="*/ 176 h 212"/>
                <a:gd name="T12" fmla="*/ 268 w 384"/>
                <a:gd name="T13" fmla="*/ 200 h 212"/>
                <a:gd name="T14" fmla="*/ 192 w 384"/>
                <a:gd name="T15" fmla="*/ 212 h 212"/>
                <a:gd name="T16" fmla="*/ 104 w 384"/>
                <a:gd name="T17" fmla="*/ 204 h 212"/>
                <a:gd name="T18" fmla="*/ 48 w 384"/>
                <a:gd name="T19" fmla="*/ 188 h 212"/>
                <a:gd name="T20" fmla="*/ 12 w 384"/>
                <a:gd name="T21" fmla="*/ 148 h 212"/>
                <a:gd name="T22" fmla="*/ 0 w 384"/>
                <a:gd name="T23" fmla="*/ 92 h 212"/>
                <a:gd name="T24" fmla="*/ 28 w 384"/>
                <a:gd name="T25" fmla="*/ 52 h 212"/>
                <a:gd name="T26" fmla="*/ 80 w 384"/>
                <a:gd name="T27" fmla="*/ 20 h 212"/>
                <a:gd name="T28" fmla="*/ 132 w 384"/>
                <a:gd name="T29" fmla="*/ 4 h 212"/>
                <a:gd name="T30" fmla="*/ 180 w 384"/>
                <a:gd name="T31" fmla="*/ 0 h 212"/>
                <a:gd name="T32" fmla="*/ 216 w 384"/>
                <a:gd name="T33" fmla="*/ 8 h 212"/>
                <a:gd name="T34" fmla="*/ 264 w 384"/>
                <a:gd name="T35" fmla="*/ 24 h 212"/>
                <a:gd name="T36" fmla="*/ 308 w 384"/>
                <a:gd name="T37" fmla="*/ 4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4" h="212">
                  <a:moveTo>
                    <a:pt x="308" y="4"/>
                  </a:moveTo>
                  <a:lnTo>
                    <a:pt x="384" y="48"/>
                  </a:lnTo>
                  <a:lnTo>
                    <a:pt x="332" y="76"/>
                  </a:lnTo>
                  <a:lnTo>
                    <a:pt x="356" y="104"/>
                  </a:lnTo>
                  <a:lnTo>
                    <a:pt x="348" y="148"/>
                  </a:lnTo>
                  <a:lnTo>
                    <a:pt x="316" y="176"/>
                  </a:lnTo>
                  <a:lnTo>
                    <a:pt x="268" y="200"/>
                  </a:lnTo>
                  <a:lnTo>
                    <a:pt x="192" y="212"/>
                  </a:lnTo>
                  <a:lnTo>
                    <a:pt x="104" y="204"/>
                  </a:lnTo>
                  <a:lnTo>
                    <a:pt x="48" y="188"/>
                  </a:lnTo>
                  <a:lnTo>
                    <a:pt x="12" y="148"/>
                  </a:lnTo>
                  <a:lnTo>
                    <a:pt x="0" y="92"/>
                  </a:lnTo>
                  <a:lnTo>
                    <a:pt x="28" y="52"/>
                  </a:lnTo>
                  <a:lnTo>
                    <a:pt x="80" y="20"/>
                  </a:lnTo>
                  <a:lnTo>
                    <a:pt x="132" y="4"/>
                  </a:lnTo>
                  <a:lnTo>
                    <a:pt x="180" y="0"/>
                  </a:lnTo>
                  <a:lnTo>
                    <a:pt x="216" y="8"/>
                  </a:lnTo>
                  <a:lnTo>
                    <a:pt x="264" y="24"/>
                  </a:lnTo>
                  <a:lnTo>
                    <a:pt x="308" y="4"/>
                  </a:lnTo>
                  <a:close/>
                </a:path>
              </a:pathLst>
            </a:custGeom>
            <a:gradFill rotWithShape="0">
              <a:gsLst>
                <a:gs pos="0">
                  <a:srgbClr val="8A6E37"/>
                </a:gs>
                <a:gs pos="50000">
                  <a:srgbClr val="FFCC66"/>
                </a:gs>
                <a:gs pos="100000">
                  <a:srgbClr val="8A6E37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" name="Oval 16"/>
            <p:cNvSpPr>
              <a:spLocks noChangeArrowheads="1"/>
            </p:cNvSpPr>
            <p:nvPr/>
          </p:nvSpPr>
          <p:spPr bwMode="auto">
            <a:xfrm>
              <a:off x="3655" y="2464"/>
              <a:ext cx="317" cy="180"/>
            </a:xfrm>
            <a:prstGeom prst="ellipse">
              <a:avLst/>
            </a:prstGeom>
            <a:gradFill rotWithShape="0">
              <a:gsLst>
                <a:gs pos="0">
                  <a:srgbClr val="76762F"/>
                </a:gs>
                <a:gs pos="50000">
                  <a:srgbClr val="FFFF66"/>
                </a:gs>
                <a:gs pos="100000">
                  <a:srgbClr val="76762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" name="Freeform 17"/>
            <p:cNvSpPr>
              <a:spLocks noChangeArrowheads="1"/>
            </p:cNvSpPr>
            <p:nvPr/>
          </p:nvSpPr>
          <p:spPr bwMode="auto">
            <a:xfrm>
              <a:off x="4417" y="1883"/>
              <a:ext cx="35" cy="181"/>
            </a:xfrm>
            <a:custGeom>
              <a:avLst/>
              <a:gdLst>
                <a:gd name="T0" fmla="*/ 0 w 36"/>
                <a:gd name="T1" fmla="*/ 20 h 188"/>
                <a:gd name="T2" fmla="*/ 0 w 36"/>
                <a:gd name="T3" fmla="*/ 188 h 188"/>
                <a:gd name="T4" fmla="*/ 36 w 36"/>
                <a:gd name="T5" fmla="*/ 168 h 188"/>
                <a:gd name="T6" fmla="*/ 36 w 36"/>
                <a:gd name="T7" fmla="*/ 0 h 188"/>
                <a:gd name="T8" fmla="*/ 0 w 36"/>
                <a:gd name="T9" fmla="*/ 2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188">
                  <a:moveTo>
                    <a:pt x="0" y="20"/>
                  </a:moveTo>
                  <a:lnTo>
                    <a:pt x="0" y="188"/>
                  </a:lnTo>
                  <a:lnTo>
                    <a:pt x="36" y="168"/>
                  </a:lnTo>
                  <a:lnTo>
                    <a:pt x="36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9FF"/>
            </a:solidFill>
            <a:ln w="12700">
              <a:solidFill>
                <a:srgbClr val="6699FF"/>
              </a:solidFill>
              <a:round/>
              <a:headEnd type="none" w="sm" len="lg"/>
              <a:tailEnd type="none" w="sm" len="lg"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" name="Freeform 18"/>
            <p:cNvSpPr>
              <a:spLocks noChangeArrowheads="1"/>
            </p:cNvSpPr>
            <p:nvPr/>
          </p:nvSpPr>
          <p:spPr bwMode="auto">
            <a:xfrm>
              <a:off x="4448" y="1879"/>
              <a:ext cx="73" cy="174"/>
            </a:xfrm>
            <a:custGeom>
              <a:avLst/>
              <a:gdLst>
                <a:gd name="T0" fmla="*/ 0 w 76"/>
                <a:gd name="T1" fmla="*/ 0 h 180"/>
                <a:gd name="T2" fmla="*/ 0 w 76"/>
                <a:gd name="T3" fmla="*/ 180 h 180"/>
                <a:gd name="T4" fmla="*/ 24 w 76"/>
                <a:gd name="T5" fmla="*/ 160 h 180"/>
                <a:gd name="T6" fmla="*/ 24 w 76"/>
                <a:gd name="T7" fmla="*/ 72 h 180"/>
                <a:gd name="T8" fmla="*/ 76 w 76"/>
                <a:gd name="T9" fmla="*/ 44 h 180"/>
                <a:gd name="T10" fmla="*/ 0 w 76"/>
                <a:gd name="T11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80">
                  <a:moveTo>
                    <a:pt x="0" y="0"/>
                  </a:moveTo>
                  <a:lnTo>
                    <a:pt x="0" y="180"/>
                  </a:lnTo>
                  <a:lnTo>
                    <a:pt x="24" y="160"/>
                  </a:lnTo>
                  <a:lnTo>
                    <a:pt x="24" y="72"/>
                  </a:lnTo>
                  <a:lnTo>
                    <a:pt x="76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" name="Freeform 19"/>
            <p:cNvSpPr>
              <a:spLocks noChangeArrowheads="1"/>
            </p:cNvSpPr>
            <p:nvPr/>
          </p:nvSpPr>
          <p:spPr bwMode="auto">
            <a:xfrm>
              <a:off x="3678" y="2556"/>
              <a:ext cx="273" cy="84"/>
            </a:xfrm>
            <a:custGeom>
              <a:avLst/>
              <a:gdLst>
                <a:gd name="T0" fmla="*/ 0 w 282"/>
                <a:gd name="T1" fmla="*/ 48 h 87"/>
                <a:gd name="T2" fmla="*/ 33 w 282"/>
                <a:gd name="T3" fmla="*/ 72 h 87"/>
                <a:gd name="T4" fmla="*/ 78 w 282"/>
                <a:gd name="T5" fmla="*/ 87 h 87"/>
                <a:gd name="T6" fmla="*/ 204 w 282"/>
                <a:gd name="T7" fmla="*/ 84 h 87"/>
                <a:gd name="T8" fmla="*/ 258 w 282"/>
                <a:gd name="T9" fmla="*/ 66 h 87"/>
                <a:gd name="T10" fmla="*/ 282 w 282"/>
                <a:gd name="T11" fmla="*/ 48 h 87"/>
                <a:gd name="T12" fmla="*/ 261 w 282"/>
                <a:gd name="T13" fmla="*/ 30 h 87"/>
                <a:gd name="T14" fmla="*/ 225 w 282"/>
                <a:gd name="T15" fmla="*/ 12 h 87"/>
                <a:gd name="T16" fmla="*/ 162 w 282"/>
                <a:gd name="T17" fmla="*/ 0 h 87"/>
                <a:gd name="T18" fmla="*/ 108 w 282"/>
                <a:gd name="T19" fmla="*/ 0 h 87"/>
                <a:gd name="T20" fmla="*/ 57 w 282"/>
                <a:gd name="T21" fmla="*/ 12 h 87"/>
                <a:gd name="T22" fmla="*/ 21 w 282"/>
                <a:gd name="T23" fmla="*/ 30 h 87"/>
                <a:gd name="T24" fmla="*/ 0 w 282"/>
                <a:gd name="T25" fmla="*/ 48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2" h="87">
                  <a:moveTo>
                    <a:pt x="0" y="48"/>
                  </a:moveTo>
                  <a:lnTo>
                    <a:pt x="33" y="72"/>
                  </a:lnTo>
                  <a:lnTo>
                    <a:pt x="78" y="87"/>
                  </a:lnTo>
                  <a:lnTo>
                    <a:pt x="204" y="84"/>
                  </a:lnTo>
                  <a:lnTo>
                    <a:pt x="258" y="66"/>
                  </a:lnTo>
                  <a:lnTo>
                    <a:pt x="282" y="48"/>
                  </a:lnTo>
                  <a:lnTo>
                    <a:pt x="261" y="30"/>
                  </a:lnTo>
                  <a:lnTo>
                    <a:pt x="225" y="12"/>
                  </a:lnTo>
                  <a:lnTo>
                    <a:pt x="162" y="0"/>
                  </a:lnTo>
                  <a:lnTo>
                    <a:pt x="108" y="0"/>
                  </a:lnTo>
                  <a:lnTo>
                    <a:pt x="57" y="12"/>
                  </a:lnTo>
                  <a:lnTo>
                    <a:pt x="21" y="3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" name="Freeform 20"/>
            <p:cNvSpPr>
              <a:spLocks noChangeArrowheads="1"/>
            </p:cNvSpPr>
            <p:nvPr/>
          </p:nvSpPr>
          <p:spPr bwMode="auto">
            <a:xfrm>
              <a:off x="3751" y="2614"/>
              <a:ext cx="130" cy="31"/>
            </a:xfrm>
            <a:custGeom>
              <a:avLst/>
              <a:gdLst>
                <a:gd name="T0" fmla="*/ 0 w 135"/>
                <a:gd name="T1" fmla="*/ 27 h 33"/>
                <a:gd name="T2" fmla="*/ 51 w 135"/>
                <a:gd name="T3" fmla="*/ 33 h 33"/>
                <a:gd name="T4" fmla="*/ 96 w 135"/>
                <a:gd name="T5" fmla="*/ 33 h 33"/>
                <a:gd name="T6" fmla="*/ 135 w 135"/>
                <a:gd name="T7" fmla="*/ 27 h 33"/>
                <a:gd name="T8" fmla="*/ 123 w 135"/>
                <a:gd name="T9" fmla="*/ 12 h 33"/>
                <a:gd name="T10" fmla="*/ 96 w 135"/>
                <a:gd name="T11" fmla="*/ 0 h 33"/>
                <a:gd name="T12" fmla="*/ 57 w 135"/>
                <a:gd name="T13" fmla="*/ 0 h 33"/>
                <a:gd name="T14" fmla="*/ 18 w 135"/>
                <a:gd name="T15" fmla="*/ 6 h 33"/>
                <a:gd name="T16" fmla="*/ 0 w 135"/>
                <a:gd name="T1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33">
                  <a:moveTo>
                    <a:pt x="0" y="27"/>
                  </a:moveTo>
                  <a:lnTo>
                    <a:pt x="51" y="33"/>
                  </a:lnTo>
                  <a:lnTo>
                    <a:pt x="96" y="33"/>
                  </a:lnTo>
                  <a:lnTo>
                    <a:pt x="135" y="27"/>
                  </a:lnTo>
                  <a:lnTo>
                    <a:pt x="123" y="12"/>
                  </a:lnTo>
                  <a:lnTo>
                    <a:pt x="96" y="0"/>
                  </a:lnTo>
                  <a:lnTo>
                    <a:pt x="57" y="0"/>
                  </a:lnTo>
                  <a:lnTo>
                    <a:pt x="18" y="6"/>
                  </a:lnTo>
                  <a:lnTo>
                    <a:pt x="0" y="27"/>
                  </a:lnTo>
                  <a:close/>
                </a:path>
              </a:pathLst>
            </a:custGeom>
            <a:gradFill rotWithShape="0">
              <a:gsLst>
                <a:gs pos="0">
                  <a:srgbClr val="765E00"/>
                </a:gs>
                <a:gs pos="50000">
                  <a:srgbClr val="FFCC00"/>
                </a:gs>
                <a:gs pos="100000">
                  <a:srgbClr val="765E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21" name="Group 21"/>
          <p:cNvGrpSpPr>
            <a:grpSpLocks/>
          </p:cNvGrpSpPr>
          <p:nvPr/>
        </p:nvGrpSpPr>
        <p:grpSpPr bwMode="auto">
          <a:xfrm>
            <a:off x="2794722" y="2621092"/>
            <a:ext cx="2933700" cy="3148012"/>
            <a:chOff x="879" y="1475"/>
            <a:chExt cx="1848" cy="1983"/>
          </a:xfrm>
        </p:grpSpPr>
        <p:sp>
          <p:nvSpPr>
            <p:cNvPr id="22" name="Line 22"/>
            <p:cNvSpPr>
              <a:spLocks noChangeShapeType="1"/>
            </p:cNvSpPr>
            <p:nvPr/>
          </p:nvSpPr>
          <p:spPr bwMode="auto">
            <a:xfrm flipV="1">
              <a:off x="1562" y="2136"/>
              <a:ext cx="0" cy="1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" name="Line 23"/>
            <p:cNvSpPr>
              <a:spLocks noChangeShapeType="1"/>
            </p:cNvSpPr>
            <p:nvPr/>
          </p:nvSpPr>
          <p:spPr bwMode="auto">
            <a:xfrm>
              <a:off x="1714" y="2136"/>
              <a:ext cx="0" cy="1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" name="Line 24"/>
            <p:cNvSpPr>
              <a:spLocks noChangeShapeType="1"/>
            </p:cNvSpPr>
            <p:nvPr/>
          </p:nvSpPr>
          <p:spPr bwMode="auto">
            <a:xfrm flipV="1">
              <a:off x="1346" y="2040"/>
              <a:ext cx="0" cy="21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lgDash"/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" name="Arc 25"/>
            <p:cNvSpPr>
              <a:spLocks noChangeArrowheads="1"/>
            </p:cNvSpPr>
            <p:nvPr/>
          </p:nvSpPr>
          <p:spPr bwMode="auto">
            <a:xfrm flipV="1">
              <a:off x="1201" y="2824"/>
              <a:ext cx="145" cy="288"/>
            </a:xfrm>
            <a:custGeom>
              <a:avLst/>
              <a:gdLst>
                <a:gd name="T0" fmla="*/ 0 w 21601"/>
                <a:gd name="T1" fmla="*/ 0 h 43200"/>
                <a:gd name="T2" fmla="*/ 21601 w 21601"/>
                <a:gd name="T3" fmla="*/ 21600 h 43200"/>
                <a:gd name="T4" fmla="*/ 1 w 21601"/>
                <a:gd name="T5" fmla="*/ 43200 h 43200"/>
                <a:gd name="T6" fmla="*/ 0 w 21601"/>
                <a:gd name="T7" fmla="*/ 43199 h 43200"/>
                <a:gd name="T8" fmla="*/ 0 w 21601"/>
                <a:gd name="T9" fmla="*/ 0 h 43200"/>
                <a:gd name="T10" fmla="*/ 21601 w 21601"/>
                <a:gd name="T11" fmla="*/ 21600 h 43200"/>
                <a:gd name="T12" fmla="*/ 1 w 21601"/>
                <a:gd name="T13" fmla="*/ 43200 h 43200"/>
                <a:gd name="T14" fmla="*/ 0 w 21601"/>
                <a:gd name="T15" fmla="*/ 43199 h 43200"/>
                <a:gd name="T16" fmla="*/ 1 w 21601"/>
                <a:gd name="T17" fmla="*/ 21600 h 43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01" h="43200" fill="none">
                  <a:moveTo>
                    <a:pt x="0" y="0"/>
                  </a:moveTo>
                  <a:cubicBezTo>
                    <a:pt x="11930" y="0"/>
                    <a:pt x="21601" y="9670"/>
                    <a:pt x="21601" y="21600"/>
                  </a:cubicBezTo>
                  <a:cubicBezTo>
                    <a:pt x="21601" y="33529"/>
                    <a:pt x="11930" y="43200"/>
                    <a:pt x="1" y="43200"/>
                  </a:cubicBezTo>
                  <a:cubicBezTo>
                    <a:pt x="0" y="43200"/>
                    <a:pt x="0" y="43199"/>
                    <a:pt x="0" y="43199"/>
                  </a:cubicBezTo>
                </a:path>
                <a:path w="21601" h="43200" stroke="0">
                  <a:moveTo>
                    <a:pt x="0" y="0"/>
                  </a:moveTo>
                  <a:cubicBezTo>
                    <a:pt x="11930" y="0"/>
                    <a:pt x="21601" y="9670"/>
                    <a:pt x="21601" y="21600"/>
                  </a:cubicBezTo>
                  <a:cubicBezTo>
                    <a:pt x="21601" y="33529"/>
                    <a:pt x="11930" y="43200"/>
                    <a:pt x="1" y="43200"/>
                  </a:cubicBezTo>
                  <a:cubicBezTo>
                    <a:pt x="0" y="43200"/>
                    <a:pt x="0" y="43199"/>
                    <a:pt x="0" y="43199"/>
                  </a:cubicBezTo>
                  <a:lnTo>
                    <a:pt x="1" y="21600"/>
                  </a:lnTo>
                  <a:close/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" name="Oval 26"/>
            <p:cNvSpPr>
              <a:spLocks noChangeArrowheads="1"/>
            </p:cNvSpPr>
            <p:nvPr/>
          </p:nvSpPr>
          <p:spPr bwMode="auto">
            <a:xfrm>
              <a:off x="1498" y="2832"/>
              <a:ext cx="280" cy="272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" name="Oval 27"/>
            <p:cNvSpPr>
              <a:spLocks noChangeArrowheads="1"/>
            </p:cNvSpPr>
            <p:nvPr/>
          </p:nvSpPr>
          <p:spPr bwMode="auto">
            <a:xfrm>
              <a:off x="1570" y="2896"/>
              <a:ext cx="144" cy="144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" name="Arc 28"/>
            <p:cNvSpPr>
              <a:spLocks noChangeArrowheads="1"/>
            </p:cNvSpPr>
            <p:nvPr/>
          </p:nvSpPr>
          <p:spPr bwMode="auto">
            <a:xfrm>
              <a:off x="2125" y="2825"/>
              <a:ext cx="279" cy="279"/>
            </a:xfrm>
            <a:custGeom>
              <a:avLst/>
              <a:gdLst>
                <a:gd name="T0" fmla="*/ 40573 w 40776"/>
                <a:gd name="T1" fmla="*/ 31924 h 43200"/>
                <a:gd name="T2" fmla="*/ 21600 w 40776"/>
                <a:gd name="T3" fmla="*/ 43200 h 43200"/>
                <a:gd name="T4" fmla="*/ 0 w 40776"/>
                <a:gd name="T5" fmla="*/ 21600 h 43200"/>
                <a:gd name="T6" fmla="*/ 21600 w 40776"/>
                <a:gd name="T7" fmla="*/ 0 h 43200"/>
                <a:gd name="T8" fmla="*/ 40776 w 40776"/>
                <a:gd name="T9" fmla="*/ 11658 h 43200"/>
                <a:gd name="T10" fmla="*/ 40573 w 40776"/>
                <a:gd name="T11" fmla="*/ 31924 h 43200"/>
                <a:gd name="T12" fmla="*/ 21600 w 40776"/>
                <a:gd name="T13" fmla="*/ 43200 h 43200"/>
                <a:gd name="T14" fmla="*/ 0 w 40776"/>
                <a:gd name="T15" fmla="*/ 21600 h 43200"/>
                <a:gd name="T16" fmla="*/ 21600 w 40776"/>
                <a:gd name="T17" fmla="*/ 0 h 43200"/>
                <a:gd name="T18" fmla="*/ 40776 w 40776"/>
                <a:gd name="T19" fmla="*/ 11658 h 43200"/>
                <a:gd name="T20" fmla="*/ 21600 w 40776"/>
                <a:gd name="T21" fmla="*/ 21600 h 43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776" h="43200" fill="none">
                  <a:moveTo>
                    <a:pt x="40573" y="31924"/>
                  </a:moveTo>
                  <a:cubicBezTo>
                    <a:pt x="36791" y="38873"/>
                    <a:pt x="29512" y="43199"/>
                    <a:pt x="21600" y="43200"/>
                  </a:cubicBezTo>
                  <a:cubicBezTo>
                    <a:pt x="9670" y="43200"/>
                    <a:pt x="0" y="33529"/>
                    <a:pt x="0" y="21600"/>
                  </a:cubicBezTo>
                  <a:cubicBezTo>
                    <a:pt x="0" y="9670"/>
                    <a:pt x="9670" y="0"/>
                    <a:pt x="21600" y="0"/>
                  </a:cubicBezTo>
                  <a:cubicBezTo>
                    <a:pt x="29667" y="-1"/>
                    <a:pt x="37063" y="4496"/>
                    <a:pt x="40776" y="11658"/>
                  </a:cubicBezTo>
                </a:path>
                <a:path w="40776" h="43200" stroke="0">
                  <a:moveTo>
                    <a:pt x="40573" y="31924"/>
                  </a:moveTo>
                  <a:cubicBezTo>
                    <a:pt x="36791" y="38873"/>
                    <a:pt x="29512" y="43199"/>
                    <a:pt x="21600" y="43200"/>
                  </a:cubicBezTo>
                  <a:cubicBezTo>
                    <a:pt x="9670" y="43200"/>
                    <a:pt x="0" y="33529"/>
                    <a:pt x="0" y="21600"/>
                  </a:cubicBezTo>
                  <a:cubicBezTo>
                    <a:pt x="0" y="9670"/>
                    <a:pt x="9670" y="0"/>
                    <a:pt x="21600" y="0"/>
                  </a:cubicBezTo>
                  <a:cubicBezTo>
                    <a:pt x="29667" y="-1"/>
                    <a:pt x="37063" y="4496"/>
                    <a:pt x="40776" y="11658"/>
                  </a:cubicBezTo>
                  <a:lnTo>
                    <a:pt x="21600" y="21600"/>
                  </a:lnTo>
                  <a:close/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" name="Oval 29"/>
            <p:cNvSpPr>
              <a:spLocks noChangeArrowheads="1"/>
            </p:cNvSpPr>
            <p:nvPr/>
          </p:nvSpPr>
          <p:spPr bwMode="auto">
            <a:xfrm>
              <a:off x="2002" y="2704"/>
              <a:ext cx="536" cy="520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" name="Oval 30"/>
            <p:cNvSpPr>
              <a:spLocks noChangeArrowheads="1"/>
            </p:cNvSpPr>
            <p:nvPr/>
          </p:nvSpPr>
          <p:spPr bwMode="auto">
            <a:xfrm>
              <a:off x="1882" y="2587"/>
              <a:ext cx="760" cy="757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31" name="Group 31"/>
            <p:cNvGrpSpPr>
              <a:grpSpLocks/>
            </p:cNvGrpSpPr>
            <p:nvPr/>
          </p:nvGrpSpPr>
          <p:grpSpPr bwMode="auto">
            <a:xfrm>
              <a:off x="2120" y="1780"/>
              <a:ext cx="353" cy="477"/>
              <a:chOff x="4222" y="1580"/>
              <a:chExt cx="353" cy="477"/>
            </a:xfrm>
          </p:grpSpPr>
          <p:sp>
            <p:nvSpPr>
              <p:cNvPr id="89" name="Freeform 32"/>
              <p:cNvSpPr>
                <a:spLocks noChangeArrowheads="1"/>
              </p:cNvSpPr>
              <p:nvPr/>
            </p:nvSpPr>
            <p:spPr bwMode="auto">
              <a:xfrm>
                <a:off x="4574" y="1995"/>
                <a:ext cx="1" cy="62"/>
              </a:xfrm>
              <a:custGeom>
                <a:avLst/>
                <a:gdLst>
                  <a:gd name="T0" fmla="*/ 0 w 1"/>
                  <a:gd name="T1" fmla="*/ 186 h 186"/>
                  <a:gd name="T2" fmla="*/ 0 w 1"/>
                  <a:gd name="T3" fmla="*/ 0 h 186"/>
                  <a:gd name="T4" fmla="*/ 1 w 1"/>
                  <a:gd name="T5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86">
                    <a:moveTo>
                      <a:pt x="0" y="186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0" name="Freeform 33"/>
              <p:cNvSpPr>
                <a:spLocks noChangeArrowheads="1"/>
              </p:cNvSpPr>
              <p:nvPr/>
            </p:nvSpPr>
            <p:spPr bwMode="auto">
              <a:xfrm>
                <a:off x="4574" y="1856"/>
                <a:ext cx="1" cy="111"/>
              </a:xfrm>
              <a:custGeom>
                <a:avLst/>
                <a:gdLst>
                  <a:gd name="T0" fmla="*/ 0 w 1"/>
                  <a:gd name="T1" fmla="*/ 332 h 332"/>
                  <a:gd name="T2" fmla="*/ 0 w 1"/>
                  <a:gd name="T3" fmla="*/ 0 h 332"/>
                  <a:gd name="T4" fmla="*/ 1 w 1"/>
                  <a:gd name="T5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32">
                    <a:moveTo>
                      <a:pt x="0" y="33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1" name="Freeform 34"/>
              <p:cNvSpPr>
                <a:spLocks noChangeArrowheads="1"/>
              </p:cNvSpPr>
              <p:nvPr/>
            </p:nvSpPr>
            <p:spPr bwMode="auto">
              <a:xfrm>
                <a:off x="4574" y="1718"/>
                <a:ext cx="1" cy="111"/>
              </a:xfrm>
              <a:custGeom>
                <a:avLst/>
                <a:gdLst>
                  <a:gd name="T0" fmla="*/ 0 w 1"/>
                  <a:gd name="T1" fmla="*/ 332 h 332"/>
                  <a:gd name="T2" fmla="*/ 0 w 1"/>
                  <a:gd name="T3" fmla="*/ 0 h 332"/>
                  <a:gd name="T4" fmla="*/ 1 w 1"/>
                  <a:gd name="T5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32">
                    <a:moveTo>
                      <a:pt x="0" y="33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2" name="Freeform 35"/>
              <p:cNvSpPr>
                <a:spLocks noChangeArrowheads="1"/>
              </p:cNvSpPr>
              <p:nvPr/>
            </p:nvSpPr>
            <p:spPr bwMode="auto">
              <a:xfrm>
                <a:off x="4574" y="1580"/>
                <a:ext cx="1" cy="111"/>
              </a:xfrm>
              <a:custGeom>
                <a:avLst/>
                <a:gdLst>
                  <a:gd name="T0" fmla="*/ 0 w 1"/>
                  <a:gd name="T1" fmla="*/ 332 h 332"/>
                  <a:gd name="T2" fmla="*/ 0 w 1"/>
                  <a:gd name="T3" fmla="*/ 0 h 332"/>
                  <a:gd name="T4" fmla="*/ 1 w 1"/>
                  <a:gd name="T5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32">
                    <a:moveTo>
                      <a:pt x="0" y="33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3" name="Freeform 36"/>
              <p:cNvSpPr>
                <a:spLocks noChangeArrowheads="1"/>
              </p:cNvSpPr>
              <p:nvPr/>
            </p:nvSpPr>
            <p:spPr bwMode="auto">
              <a:xfrm>
                <a:off x="4497" y="1995"/>
                <a:ext cx="1" cy="62"/>
              </a:xfrm>
              <a:custGeom>
                <a:avLst/>
                <a:gdLst>
                  <a:gd name="T0" fmla="*/ 0 w 2"/>
                  <a:gd name="T1" fmla="*/ 186 h 186"/>
                  <a:gd name="T2" fmla="*/ 0 w 2"/>
                  <a:gd name="T3" fmla="*/ 0 h 186"/>
                  <a:gd name="T4" fmla="*/ 2 w 2"/>
                  <a:gd name="T5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86">
                    <a:moveTo>
                      <a:pt x="0" y="186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4" name="Freeform 37"/>
              <p:cNvSpPr>
                <a:spLocks noChangeArrowheads="1"/>
              </p:cNvSpPr>
              <p:nvPr/>
            </p:nvSpPr>
            <p:spPr bwMode="auto">
              <a:xfrm>
                <a:off x="4497" y="1856"/>
                <a:ext cx="1" cy="111"/>
              </a:xfrm>
              <a:custGeom>
                <a:avLst/>
                <a:gdLst>
                  <a:gd name="T0" fmla="*/ 0 w 2"/>
                  <a:gd name="T1" fmla="*/ 332 h 332"/>
                  <a:gd name="T2" fmla="*/ 0 w 2"/>
                  <a:gd name="T3" fmla="*/ 0 h 332"/>
                  <a:gd name="T4" fmla="*/ 2 w 2"/>
                  <a:gd name="T5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32">
                    <a:moveTo>
                      <a:pt x="0" y="332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5" name="Freeform 38"/>
              <p:cNvSpPr>
                <a:spLocks noChangeArrowheads="1"/>
              </p:cNvSpPr>
              <p:nvPr/>
            </p:nvSpPr>
            <p:spPr bwMode="auto">
              <a:xfrm>
                <a:off x="4497" y="1718"/>
                <a:ext cx="1" cy="111"/>
              </a:xfrm>
              <a:custGeom>
                <a:avLst/>
                <a:gdLst>
                  <a:gd name="T0" fmla="*/ 0 w 2"/>
                  <a:gd name="T1" fmla="*/ 332 h 332"/>
                  <a:gd name="T2" fmla="*/ 0 w 2"/>
                  <a:gd name="T3" fmla="*/ 0 h 332"/>
                  <a:gd name="T4" fmla="*/ 2 w 2"/>
                  <a:gd name="T5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32">
                    <a:moveTo>
                      <a:pt x="0" y="332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6" name="Freeform 39"/>
              <p:cNvSpPr>
                <a:spLocks noChangeArrowheads="1"/>
              </p:cNvSpPr>
              <p:nvPr/>
            </p:nvSpPr>
            <p:spPr bwMode="auto">
              <a:xfrm>
                <a:off x="4497" y="1580"/>
                <a:ext cx="1" cy="111"/>
              </a:xfrm>
              <a:custGeom>
                <a:avLst/>
                <a:gdLst>
                  <a:gd name="T0" fmla="*/ 0 w 2"/>
                  <a:gd name="T1" fmla="*/ 332 h 332"/>
                  <a:gd name="T2" fmla="*/ 0 w 2"/>
                  <a:gd name="T3" fmla="*/ 0 h 332"/>
                  <a:gd name="T4" fmla="*/ 2 w 2"/>
                  <a:gd name="T5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32">
                    <a:moveTo>
                      <a:pt x="0" y="332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7" name="Freeform 40"/>
              <p:cNvSpPr>
                <a:spLocks noChangeArrowheads="1"/>
              </p:cNvSpPr>
              <p:nvPr/>
            </p:nvSpPr>
            <p:spPr bwMode="auto">
              <a:xfrm>
                <a:off x="4222" y="1995"/>
                <a:ext cx="1" cy="62"/>
              </a:xfrm>
              <a:custGeom>
                <a:avLst/>
                <a:gdLst>
                  <a:gd name="T0" fmla="*/ 0 w 1"/>
                  <a:gd name="T1" fmla="*/ 186 h 186"/>
                  <a:gd name="T2" fmla="*/ 0 w 1"/>
                  <a:gd name="T3" fmla="*/ 0 h 186"/>
                  <a:gd name="T4" fmla="*/ 1 w 1"/>
                  <a:gd name="T5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86">
                    <a:moveTo>
                      <a:pt x="0" y="186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8" name="Freeform 41"/>
              <p:cNvSpPr>
                <a:spLocks noChangeArrowheads="1"/>
              </p:cNvSpPr>
              <p:nvPr/>
            </p:nvSpPr>
            <p:spPr bwMode="auto">
              <a:xfrm>
                <a:off x="4222" y="1856"/>
                <a:ext cx="1" cy="111"/>
              </a:xfrm>
              <a:custGeom>
                <a:avLst/>
                <a:gdLst>
                  <a:gd name="T0" fmla="*/ 0 w 1"/>
                  <a:gd name="T1" fmla="*/ 332 h 332"/>
                  <a:gd name="T2" fmla="*/ 0 w 1"/>
                  <a:gd name="T3" fmla="*/ 0 h 332"/>
                  <a:gd name="T4" fmla="*/ 1 w 1"/>
                  <a:gd name="T5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32">
                    <a:moveTo>
                      <a:pt x="0" y="33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9" name="Freeform 42"/>
              <p:cNvSpPr>
                <a:spLocks noChangeArrowheads="1"/>
              </p:cNvSpPr>
              <p:nvPr/>
            </p:nvSpPr>
            <p:spPr bwMode="auto">
              <a:xfrm>
                <a:off x="4222" y="1718"/>
                <a:ext cx="1" cy="111"/>
              </a:xfrm>
              <a:custGeom>
                <a:avLst/>
                <a:gdLst>
                  <a:gd name="T0" fmla="*/ 0 w 1"/>
                  <a:gd name="T1" fmla="*/ 332 h 332"/>
                  <a:gd name="T2" fmla="*/ 0 w 1"/>
                  <a:gd name="T3" fmla="*/ 0 h 332"/>
                  <a:gd name="T4" fmla="*/ 1 w 1"/>
                  <a:gd name="T5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32">
                    <a:moveTo>
                      <a:pt x="0" y="33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0" name="Freeform 43"/>
              <p:cNvSpPr>
                <a:spLocks noChangeArrowheads="1"/>
              </p:cNvSpPr>
              <p:nvPr/>
            </p:nvSpPr>
            <p:spPr bwMode="auto">
              <a:xfrm>
                <a:off x="4222" y="1580"/>
                <a:ext cx="1" cy="111"/>
              </a:xfrm>
              <a:custGeom>
                <a:avLst/>
                <a:gdLst>
                  <a:gd name="T0" fmla="*/ 0 w 1"/>
                  <a:gd name="T1" fmla="*/ 332 h 332"/>
                  <a:gd name="T2" fmla="*/ 0 w 1"/>
                  <a:gd name="T3" fmla="*/ 0 h 332"/>
                  <a:gd name="T4" fmla="*/ 1 w 1"/>
                  <a:gd name="T5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32">
                    <a:moveTo>
                      <a:pt x="0" y="33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32" name="Freeform 44"/>
            <p:cNvSpPr>
              <a:spLocks noChangeArrowheads="1"/>
            </p:cNvSpPr>
            <p:nvPr/>
          </p:nvSpPr>
          <p:spPr bwMode="auto">
            <a:xfrm>
              <a:off x="1883" y="1560"/>
              <a:ext cx="1" cy="475"/>
            </a:xfrm>
            <a:custGeom>
              <a:avLst/>
              <a:gdLst>
                <a:gd name="T0" fmla="*/ 0 w 2"/>
                <a:gd name="T1" fmla="*/ 1423 h 1423"/>
                <a:gd name="T2" fmla="*/ 0 w 2"/>
                <a:gd name="T3" fmla="*/ 0 h 1423"/>
                <a:gd name="T4" fmla="*/ 2 w 2"/>
                <a:gd name="T5" fmla="*/ 0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423">
                  <a:moveTo>
                    <a:pt x="0" y="1423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" name="Freeform 45"/>
            <p:cNvSpPr>
              <a:spLocks noChangeArrowheads="1"/>
            </p:cNvSpPr>
            <p:nvPr/>
          </p:nvSpPr>
          <p:spPr bwMode="auto">
            <a:xfrm>
              <a:off x="2648" y="1552"/>
              <a:ext cx="2" cy="721"/>
            </a:xfrm>
            <a:custGeom>
              <a:avLst/>
              <a:gdLst>
                <a:gd name="T0" fmla="*/ 0 w 2"/>
                <a:gd name="T1" fmla="*/ 721 h 721"/>
                <a:gd name="T2" fmla="*/ 2 w 2"/>
                <a:gd name="T3" fmla="*/ 0 h 721"/>
                <a:gd name="T4" fmla="*/ 1 w 2"/>
                <a:gd name="T5" fmla="*/ 24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21">
                  <a:moveTo>
                    <a:pt x="0" y="721"/>
                  </a:moveTo>
                  <a:lnTo>
                    <a:pt x="2" y="0"/>
                  </a:lnTo>
                  <a:lnTo>
                    <a:pt x="1" y="2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" name="Freeform 46"/>
            <p:cNvSpPr>
              <a:spLocks noChangeArrowheads="1"/>
            </p:cNvSpPr>
            <p:nvPr/>
          </p:nvSpPr>
          <p:spPr bwMode="auto">
            <a:xfrm>
              <a:off x="965" y="2035"/>
              <a:ext cx="1301" cy="1"/>
            </a:xfrm>
            <a:custGeom>
              <a:avLst/>
              <a:gdLst>
                <a:gd name="T0" fmla="*/ 0 w 3903"/>
                <a:gd name="T1" fmla="*/ 0 h 1"/>
                <a:gd name="T2" fmla="*/ 3902 w 3903"/>
                <a:gd name="T3" fmla="*/ 0 h 1"/>
                <a:gd name="T4" fmla="*/ 3903 w 390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03" h="1">
                  <a:moveTo>
                    <a:pt x="0" y="0"/>
                  </a:moveTo>
                  <a:lnTo>
                    <a:pt x="3902" y="0"/>
                  </a:lnTo>
                  <a:lnTo>
                    <a:pt x="390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" name="Freeform 47"/>
            <p:cNvSpPr>
              <a:spLocks noChangeArrowheads="1"/>
            </p:cNvSpPr>
            <p:nvPr/>
          </p:nvSpPr>
          <p:spPr bwMode="auto">
            <a:xfrm>
              <a:off x="965" y="2257"/>
              <a:ext cx="1683" cy="1"/>
            </a:xfrm>
            <a:custGeom>
              <a:avLst/>
              <a:gdLst>
                <a:gd name="T0" fmla="*/ 0 w 5051"/>
                <a:gd name="T1" fmla="*/ 0 h 1"/>
                <a:gd name="T2" fmla="*/ 5050 w 5051"/>
                <a:gd name="T3" fmla="*/ 0 h 1"/>
                <a:gd name="T4" fmla="*/ 5051 w 505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51" h="1">
                  <a:moveTo>
                    <a:pt x="0" y="0"/>
                  </a:moveTo>
                  <a:lnTo>
                    <a:pt x="5050" y="0"/>
                  </a:lnTo>
                  <a:lnTo>
                    <a:pt x="505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6" name="Freeform 48"/>
            <p:cNvSpPr>
              <a:spLocks noChangeArrowheads="1"/>
            </p:cNvSpPr>
            <p:nvPr/>
          </p:nvSpPr>
          <p:spPr bwMode="auto">
            <a:xfrm>
              <a:off x="965" y="3351"/>
              <a:ext cx="1300" cy="1"/>
            </a:xfrm>
            <a:custGeom>
              <a:avLst/>
              <a:gdLst>
                <a:gd name="T0" fmla="*/ 3902 w 3902"/>
                <a:gd name="T1" fmla="*/ 0 h 1"/>
                <a:gd name="T2" fmla="*/ 0 w 3902"/>
                <a:gd name="T3" fmla="*/ 0 h 1"/>
                <a:gd name="T4" fmla="*/ 2 w 390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02" h="1">
                  <a:moveTo>
                    <a:pt x="3902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" name="Freeform 49"/>
            <p:cNvSpPr>
              <a:spLocks noChangeArrowheads="1"/>
            </p:cNvSpPr>
            <p:nvPr/>
          </p:nvSpPr>
          <p:spPr bwMode="auto">
            <a:xfrm>
              <a:off x="965" y="2585"/>
              <a:ext cx="1300" cy="1"/>
            </a:xfrm>
            <a:custGeom>
              <a:avLst/>
              <a:gdLst>
                <a:gd name="T0" fmla="*/ 3902 w 3902"/>
                <a:gd name="T1" fmla="*/ 0 h 1"/>
                <a:gd name="T2" fmla="*/ 0 w 3902"/>
                <a:gd name="T3" fmla="*/ 0 h 1"/>
                <a:gd name="T4" fmla="*/ 2 w 390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02" h="1">
                  <a:moveTo>
                    <a:pt x="3902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8" name="Freeform 50"/>
            <p:cNvSpPr>
              <a:spLocks noChangeArrowheads="1"/>
            </p:cNvSpPr>
            <p:nvPr/>
          </p:nvSpPr>
          <p:spPr bwMode="auto">
            <a:xfrm>
              <a:off x="965" y="2585"/>
              <a:ext cx="1" cy="237"/>
            </a:xfrm>
            <a:custGeom>
              <a:avLst/>
              <a:gdLst>
                <a:gd name="T0" fmla="*/ 0 w 2"/>
                <a:gd name="T1" fmla="*/ 0 h 712"/>
                <a:gd name="T2" fmla="*/ 0 w 2"/>
                <a:gd name="T3" fmla="*/ 712 h 712"/>
                <a:gd name="T4" fmla="*/ 2 w 2"/>
                <a:gd name="T5" fmla="*/ 712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12">
                  <a:moveTo>
                    <a:pt x="0" y="0"/>
                  </a:moveTo>
                  <a:lnTo>
                    <a:pt x="0" y="712"/>
                  </a:lnTo>
                  <a:lnTo>
                    <a:pt x="2" y="71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" name="Freeform 51"/>
            <p:cNvSpPr>
              <a:spLocks noChangeArrowheads="1"/>
            </p:cNvSpPr>
            <p:nvPr/>
          </p:nvSpPr>
          <p:spPr bwMode="auto">
            <a:xfrm>
              <a:off x="1202" y="2739"/>
              <a:ext cx="1" cy="474"/>
            </a:xfrm>
            <a:custGeom>
              <a:avLst/>
              <a:gdLst>
                <a:gd name="T0" fmla="*/ 0 w 1"/>
                <a:gd name="T1" fmla="*/ 0 h 1422"/>
                <a:gd name="T2" fmla="*/ 0 w 1"/>
                <a:gd name="T3" fmla="*/ 1422 h 1422"/>
                <a:gd name="T4" fmla="*/ 1 w 1"/>
                <a:gd name="T5" fmla="*/ 1422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22">
                  <a:moveTo>
                    <a:pt x="0" y="0"/>
                  </a:moveTo>
                  <a:lnTo>
                    <a:pt x="0" y="1422"/>
                  </a:lnTo>
                  <a:lnTo>
                    <a:pt x="1" y="142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0" name="Freeform 52"/>
            <p:cNvSpPr>
              <a:spLocks noChangeArrowheads="1"/>
            </p:cNvSpPr>
            <p:nvPr/>
          </p:nvSpPr>
          <p:spPr bwMode="auto">
            <a:xfrm>
              <a:off x="965" y="3113"/>
              <a:ext cx="237" cy="1"/>
            </a:xfrm>
            <a:custGeom>
              <a:avLst/>
              <a:gdLst>
                <a:gd name="T0" fmla="*/ 712 w 712"/>
                <a:gd name="T1" fmla="*/ 0 h 1"/>
                <a:gd name="T2" fmla="*/ 0 w 712"/>
                <a:gd name="T3" fmla="*/ 0 h 1"/>
                <a:gd name="T4" fmla="*/ 2 w 7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2" h="1">
                  <a:moveTo>
                    <a:pt x="712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1" name="Freeform 53"/>
            <p:cNvSpPr>
              <a:spLocks noChangeArrowheads="1"/>
            </p:cNvSpPr>
            <p:nvPr/>
          </p:nvSpPr>
          <p:spPr bwMode="auto">
            <a:xfrm>
              <a:off x="965" y="3113"/>
              <a:ext cx="1" cy="238"/>
            </a:xfrm>
            <a:custGeom>
              <a:avLst/>
              <a:gdLst>
                <a:gd name="T0" fmla="*/ 0 w 2"/>
                <a:gd name="T1" fmla="*/ 713 h 713"/>
                <a:gd name="T2" fmla="*/ 0 w 2"/>
                <a:gd name="T3" fmla="*/ 0 h 713"/>
                <a:gd name="T4" fmla="*/ 2 w 2"/>
                <a:gd name="T5" fmla="*/ 0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13">
                  <a:moveTo>
                    <a:pt x="0" y="713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2" name="Freeform 54"/>
            <p:cNvSpPr>
              <a:spLocks noChangeArrowheads="1"/>
            </p:cNvSpPr>
            <p:nvPr/>
          </p:nvSpPr>
          <p:spPr bwMode="auto">
            <a:xfrm>
              <a:off x="965" y="2822"/>
              <a:ext cx="237" cy="1"/>
            </a:xfrm>
            <a:custGeom>
              <a:avLst/>
              <a:gdLst>
                <a:gd name="T0" fmla="*/ 712 w 712"/>
                <a:gd name="T1" fmla="*/ 0 h 1"/>
                <a:gd name="T2" fmla="*/ 0 w 712"/>
                <a:gd name="T3" fmla="*/ 0 h 1"/>
                <a:gd name="T4" fmla="*/ 2 w 7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2" h="1">
                  <a:moveTo>
                    <a:pt x="712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3" name="Freeform 55"/>
            <p:cNvSpPr>
              <a:spLocks noChangeArrowheads="1"/>
            </p:cNvSpPr>
            <p:nvPr/>
          </p:nvSpPr>
          <p:spPr bwMode="auto">
            <a:xfrm>
              <a:off x="1638" y="2762"/>
              <a:ext cx="1" cy="458"/>
            </a:xfrm>
            <a:custGeom>
              <a:avLst/>
              <a:gdLst>
                <a:gd name="T0" fmla="*/ 0 w 1"/>
                <a:gd name="T1" fmla="*/ 0 h 1376"/>
                <a:gd name="T2" fmla="*/ 0 w 1"/>
                <a:gd name="T3" fmla="*/ 1376 h 1376"/>
                <a:gd name="T4" fmla="*/ 1 w 1"/>
                <a:gd name="T5" fmla="*/ 1376 h 1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76">
                  <a:moveTo>
                    <a:pt x="0" y="0"/>
                  </a:moveTo>
                  <a:lnTo>
                    <a:pt x="0" y="1376"/>
                  </a:lnTo>
                  <a:lnTo>
                    <a:pt x="1" y="137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4" name="Freeform 56"/>
            <p:cNvSpPr>
              <a:spLocks noChangeArrowheads="1"/>
            </p:cNvSpPr>
            <p:nvPr/>
          </p:nvSpPr>
          <p:spPr bwMode="auto">
            <a:xfrm>
              <a:off x="965" y="2035"/>
              <a:ext cx="1" cy="222"/>
            </a:xfrm>
            <a:custGeom>
              <a:avLst/>
              <a:gdLst>
                <a:gd name="T0" fmla="*/ 0 w 2"/>
                <a:gd name="T1" fmla="*/ 666 h 666"/>
                <a:gd name="T2" fmla="*/ 0 w 2"/>
                <a:gd name="T3" fmla="*/ 0 h 666"/>
                <a:gd name="T4" fmla="*/ 2 w 2"/>
                <a:gd name="T5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666">
                  <a:moveTo>
                    <a:pt x="0" y="666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45" name="Group 57"/>
            <p:cNvGrpSpPr>
              <a:grpSpLocks/>
            </p:cNvGrpSpPr>
            <p:nvPr/>
          </p:nvGrpSpPr>
          <p:grpSpPr bwMode="auto">
            <a:xfrm>
              <a:off x="1202" y="1958"/>
              <a:ext cx="1" cy="397"/>
              <a:chOff x="3304" y="1758"/>
              <a:chExt cx="1" cy="397"/>
            </a:xfrm>
          </p:grpSpPr>
          <p:sp>
            <p:nvSpPr>
              <p:cNvPr id="86" name="Freeform 58"/>
              <p:cNvSpPr>
                <a:spLocks noChangeArrowheads="1"/>
              </p:cNvSpPr>
              <p:nvPr/>
            </p:nvSpPr>
            <p:spPr bwMode="auto">
              <a:xfrm>
                <a:off x="3304" y="1996"/>
                <a:ext cx="1" cy="159"/>
              </a:xfrm>
              <a:custGeom>
                <a:avLst/>
                <a:gdLst>
                  <a:gd name="T0" fmla="*/ 0 w 1"/>
                  <a:gd name="T1" fmla="*/ 477 h 477"/>
                  <a:gd name="T2" fmla="*/ 0 w 1"/>
                  <a:gd name="T3" fmla="*/ 0 h 477"/>
                  <a:gd name="T4" fmla="*/ 1 w 1"/>
                  <a:gd name="T5" fmla="*/ 0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77">
                    <a:moveTo>
                      <a:pt x="0" y="47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7" name="Freeform 59"/>
              <p:cNvSpPr>
                <a:spLocks noChangeArrowheads="1"/>
              </p:cNvSpPr>
              <p:nvPr/>
            </p:nvSpPr>
            <p:spPr bwMode="auto">
              <a:xfrm>
                <a:off x="3304" y="1938"/>
                <a:ext cx="1" cy="16"/>
              </a:xfrm>
              <a:custGeom>
                <a:avLst/>
                <a:gdLst>
                  <a:gd name="T0" fmla="*/ 0 w 1"/>
                  <a:gd name="T1" fmla="*/ 48 h 48"/>
                  <a:gd name="T2" fmla="*/ 0 w 1"/>
                  <a:gd name="T3" fmla="*/ 0 h 48"/>
                  <a:gd name="T4" fmla="*/ 1 w 1"/>
                  <a:gd name="T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8">
                    <a:moveTo>
                      <a:pt x="0" y="48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8" name="Freeform 60"/>
              <p:cNvSpPr>
                <a:spLocks noChangeArrowheads="1"/>
              </p:cNvSpPr>
              <p:nvPr/>
            </p:nvSpPr>
            <p:spPr bwMode="auto">
              <a:xfrm>
                <a:off x="3304" y="1758"/>
                <a:ext cx="1" cy="137"/>
              </a:xfrm>
              <a:custGeom>
                <a:avLst/>
                <a:gdLst>
                  <a:gd name="T0" fmla="*/ 0 w 1"/>
                  <a:gd name="T1" fmla="*/ 412 h 412"/>
                  <a:gd name="T2" fmla="*/ 0 w 1"/>
                  <a:gd name="T3" fmla="*/ 0 h 412"/>
                  <a:gd name="T4" fmla="*/ 1 w 1"/>
                  <a:gd name="T5" fmla="*/ 0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12">
                    <a:moveTo>
                      <a:pt x="0" y="41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46" name="Freeform 61"/>
            <p:cNvSpPr>
              <a:spLocks noChangeArrowheads="1"/>
            </p:cNvSpPr>
            <p:nvPr/>
          </p:nvSpPr>
          <p:spPr bwMode="auto">
            <a:xfrm>
              <a:off x="1638" y="1964"/>
              <a:ext cx="1" cy="391"/>
            </a:xfrm>
            <a:custGeom>
              <a:avLst/>
              <a:gdLst>
                <a:gd name="T0" fmla="*/ 0 w 1"/>
                <a:gd name="T1" fmla="*/ 1172 h 1172"/>
                <a:gd name="T2" fmla="*/ 0 w 1"/>
                <a:gd name="T3" fmla="*/ 0 h 1172"/>
                <a:gd name="T4" fmla="*/ 1 w 1"/>
                <a:gd name="T5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172">
                  <a:moveTo>
                    <a:pt x="0" y="117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47" name="Group 62"/>
            <p:cNvGrpSpPr>
              <a:grpSpLocks/>
            </p:cNvGrpSpPr>
            <p:nvPr/>
          </p:nvGrpSpPr>
          <p:grpSpPr bwMode="auto">
            <a:xfrm>
              <a:off x="2265" y="2501"/>
              <a:ext cx="1" cy="957"/>
              <a:chOff x="4367" y="2301"/>
              <a:chExt cx="1" cy="957"/>
            </a:xfrm>
          </p:grpSpPr>
          <p:sp>
            <p:nvSpPr>
              <p:cNvPr id="83" name="Freeform 63"/>
              <p:cNvSpPr>
                <a:spLocks noChangeArrowheads="1"/>
              </p:cNvSpPr>
              <p:nvPr/>
            </p:nvSpPr>
            <p:spPr bwMode="auto">
              <a:xfrm>
                <a:off x="4367" y="2873"/>
                <a:ext cx="1" cy="385"/>
              </a:xfrm>
              <a:custGeom>
                <a:avLst/>
                <a:gdLst>
                  <a:gd name="T0" fmla="*/ 0 w 1"/>
                  <a:gd name="T1" fmla="*/ 0 h 1155"/>
                  <a:gd name="T2" fmla="*/ 0 w 1"/>
                  <a:gd name="T3" fmla="*/ 1155 h 1155"/>
                  <a:gd name="T4" fmla="*/ 1 w 1"/>
                  <a:gd name="T5" fmla="*/ 1155 h 1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155">
                    <a:moveTo>
                      <a:pt x="0" y="0"/>
                    </a:moveTo>
                    <a:lnTo>
                      <a:pt x="0" y="1155"/>
                    </a:lnTo>
                    <a:lnTo>
                      <a:pt x="1" y="1155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4" name="Freeform 64"/>
              <p:cNvSpPr>
                <a:spLocks noChangeArrowheads="1"/>
              </p:cNvSpPr>
              <p:nvPr/>
            </p:nvSpPr>
            <p:spPr bwMode="auto">
              <a:xfrm>
                <a:off x="4367" y="2301"/>
                <a:ext cx="1" cy="500"/>
              </a:xfrm>
              <a:custGeom>
                <a:avLst/>
                <a:gdLst>
                  <a:gd name="T0" fmla="*/ 0 w 1"/>
                  <a:gd name="T1" fmla="*/ 0 h 1498"/>
                  <a:gd name="T2" fmla="*/ 0 w 1"/>
                  <a:gd name="T3" fmla="*/ 1498 h 1498"/>
                  <a:gd name="T4" fmla="*/ 1 w 1"/>
                  <a:gd name="T5" fmla="*/ 1498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498">
                    <a:moveTo>
                      <a:pt x="0" y="0"/>
                    </a:moveTo>
                    <a:lnTo>
                      <a:pt x="0" y="1498"/>
                    </a:lnTo>
                    <a:lnTo>
                      <a:pt x="1" y="149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5" name="Freeform 65"/>
              <p:cNvSpPr>
                <a:spLocks noChangeArrowheads="1"/>
              </p:cNvSpPr>
              <p:nvPr/>
            </p:nvSpPr>
            <p:spPr bwMode="auto">
              <a:xfrm>
                <a:off x="4367" y="2826"/>
                <a:ext cx="1" cy="24"/>
              </a:xfrm>
              <a:custGeom>
                <a:avLst/>
                <a:gdLst>
                  <a:gd name="T0" fmla="*/ 0 w 1"/>
                  <a:gd name="T1" fmla="*/ 0 h 72"/>
                  <a:gd name="T2" fmla="*/ 0 w 1"/>
                  <a:gd name="T3" fmla="*/ 72 h 72"/>
                  <a:gd name="T4" fmla="*/ 1 w 1"/>
                  <a:gd name="T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2">
                    <a:moveTo>
                      <a:pt x="0" y="0"/>
                    </a:move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48" name="Freeform 66"/>
            <p:cNvSpPr>
              <a:spLocks noChangeArrowheads="1"/>
            </p:cNvSpPr>
            <p:nvPr/>
          </p:nvSpPr>
          <p:spPr bwMode="auto">
            <a:xfrm>
              <a:off x="2464" y="2904"/>
              <a:ext cx="1" cy="128"/>
            </a:xfrm>
            <a:custGeom>
              <a:avLst/>
              <a:gdLst>
                <a:gd name="T0" fmla="*/ 0 w 1"/>
                <a:gd name="T1" fmla="*/ 0 h 386"/>
                <a:gd name="T2" fmla="*/ 0 w 1"/>
                <a:gd name="T3" fmla="*/ 386 h 386"/>
                <a:gd name="T4" fmla="*/ 1 w 1"/>
                <a:gd name="T5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86">
                  <a:moveTo>
                    <a:pt x="0" y="0"/>
                  </a:moveTo>
                  <a:lnTo>
                    <a:pt x="0" y="386"/>
                  </a:lnTo>
                  <a:lnTo>
                    <a:pt x="1" y="38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9" name="Freeform 67"/>
            <p:cNvSpPr>
              <a:spLocks noChangeArrowheads="1"/>
            </p:cNvSpPr>
            <p:nvPr/>
          </p:nvSpPr>
          <p:spPr bwMode="auto">
            <a:xfrm>
              <a:off x="2387" y="3032"/>
              <a:ext cx="77" cy="1"/>
            </a:xfrm>
            <a:custGeom>
              <a:avLst/>
              <a:gdLst>
                <a:gd name="T0" fmla="*/ 0 w 231"/>
                <a:gd name="T1" fmla="*/ 0 h 1"/>
                <a:gd name="T2" fmla="*/ 230 w 231"/>
                <a:gd name="T3" fmla="*/ 0 h 1"/>
                <a:gd name="T4" fmla="*/ 231 w 23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">
                  <a:moveTo>
                    <a:pt x="0" y="0"/>
                  </a:moveTo>
                  <a:lnTo>
                    <a:pt x="230" y="0"/>
                  </a:lnTo>
                  <a:lnTo>
                    <a:pt x="23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0" name="Freeform 68"/>
            <p:cNvSpPr>
              <a:spLocks noChangeArrowheads="1"/>
            </p:cNvSpPr>
            <p:nvPr/>
          </p:nvSpPr>
          <p:spPr bwMode="auto">
            <a:xfrm>
              <a:off x="2395" y="2904"/>
              <a:ext cx="77" cy="1"/>
            </a:xfrm>
            <a:custGeom>
              <a:avLst/>
              <a:gdLst>
                <a:gd name="T0" fmla="*/ 0 w 231"/>
                <a:gd name="T1" fmla="*/ 0 h 1"/>
                <a:gd name="T2" fmla="*/ 230 w 231"/>
                <a:gd name="T3" fmla="*/ 0 h 1"/>
                <a:gd name="T4" fmla="*/ 231 w 23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">
                  <a:moveTo>
                    <a:pt x="0" y="0"/>
                  </a:moveTo>
                  <a:lnTo>
                    <a:pt x="230" y="0"/>
                  </a:lnTo>
                  <a:lnTo>
                    <a:pt x="23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51" name="Group 69"/>
            <p:cNvGrpSpPr>
              <a:grpSpLocks/>
            </p:cNvGrpSpPr>
            <p:nvPr/>
          </p:nvGrpSpPr>
          <p:grpSpPr bwMode="auto">
            <a:xfrm>
              <a:off x="879" y="2968"/>
              <a:ext cx="1848" cy="1"/>
              <a:chOff x="2989" y="2768"/>
              <a:chExt cx="1848" cy="1"/>
            </a:xfrm>
          </p:grpSpPr>
          <p:sp>
            <p:nvSpPr>
              <p:cNvPr id="78" name="Freeform 70"/>
              <p:cNvSpPr>
                <a:spLocks noChangeArrowheads="1"/>
              </p:cNvSpPr>
              <p:nvPr/>
            </p:nvSpPr>
            <p:spPr bwMode="auto">
              <a:xfrm>
                <a:off x="3560" y="2768"/>
                <a:ext cx="874" cy="1"/>
              </a:xfrm>
              <a:custGeom>
                <a:avLst/>
                <a:gdLst>
                  <a:gd name="T0" fmla="*/ 0 w 2622"/>
                  <a:gd name="T1" fmla="*/ 0 h 1"/>
                  <a:gd name="T2" fmla="*/ 2620 w 2622"/>
                  <a:gd name="T3" fmla="*/ 0 h 1"/>
                  <a:gd name="T4" fmla="*/ 2622 w 262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22" h="1">
                    <a:moveTo>
                      <a:pt x="0" y="0"/>
                    </a:moveTo>
                    <a:lnTo>
                      <a:pt x="2620" y="0"/>
                    </a:lnTo>
                    <a:lnTo>
                      <a:pt x="262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9" name="Freeform 71"/>
              <p:cNvSpPr>
                <a:spLocks noChangeArrowheads="1"/>
              </p:cNvSpPr>
              <p:nvPr/>
            </p:nvSpPr>
            <p:spPr bwMode="auto">
              <a:xfrm>
                <a:off x="2989" y="2768"/>
                <a:ext cx="498" cy="1"/>
              </a:xfrm>
              <a:custGeom>
                <a:avLst/>
                <a:gdLst>
                  <a:gd name="T0" fmla="*/ 0 w 1492"/>
                  <a:gd name="T1" fmla="*/ 0 h 1"/>
                  <a:gd name="T2" fmla="*/ 1491 w 1492"/>
                  <a:gd name="T3" fmla="*/ 0 h 1"/>
                  <a:gd name="T4" fmla="*/ 1492 w 149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92" h="1">
                    <a:moveTo>
                      <a:pt x="0" y="0"/>
                    </a:moveTo>
                    <a:lnTo>
                      <a:pt x="1491" y="0"/>
                    </a:lnTo>
                    <a:lnTo>
                      <a:pt x="149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0" name="Freeform 72"/>
              <p:cNvSpPr>
                <a:spLocks noChangeArrowheads="1"/>
              </p:cNvSpPr>
              <p:nvPr/>
            </p:nvSpPr>
            <p:spPr bwMode="auto">
              <a:xfrm>
                <a:off x="3512" y="2768"/>
                <a:ext cx="22" cy="1"/>
              </a:xfrm>
              <a:custGeom>
                <a:avLst/>
                <a:gdLst>
                  <a:gd name="T0" fmla="*/ 0 w 66"/>
                  <a:gd name="T1" fmla="*/ 0 h 1"/>
                  <a:gd name="T2" fmla="*/ 65 w 66"/>
                  <a:gd name="T3" fmla="*/ 0 h 1"/>
                  <a:gd name="T4" fmla="*/ 66 w 66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6" h="1">
                    <a:moveTo>
                      <a:pt x="0" y="0"/>
                    </a:moveTo>
                    <a:lnTo>
                      <a:pt x="65" y="0"/>
                    </a:lnTo>
                    <a:lnTo>
                      <a:pt x="6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1" name="Freeform 73"/>
              <p:cNvSpPr>
                <a:spLocks noChangeArrowheads="1"/>
              </p:cNvSpPr>
              <p:nvPr/>
            </p:nvSpPr>
            <p:spPr bwMode="auto">
              <a:xfrm>
                <a:off x="4527" y="2768"/>
                <a:ext cx="310" cy="1"/>
              </a:xfrm>
              <a:custGeom>
                <a:avLst/>
                <a:gdLst>
                  <a:gd name="T0" fmla="*/ 0 w 930"/>
                  <a:gd name="T1" fmla="*/ 0 h 1"/>
                  <a:gd name="T2" fmla="*/ 929 w 930"/>
                  <a:gd name="T3" fmla="*/ 0 h 1"/>
                  <a:gd name="T4" fmla="*/ 930 w 930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30" h="1">
                    <a:moveTo>
                      <a:pt x="0" y="0"/>
                    </a:moveTo>
                    <a:lnTo>
                      <a:pt x="929" y="0"/>
                    </a:lnTo>
                    <a:lnTo>
                      <a:pt x="93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2" name="Freeform 74"/>
              <p:cNvSpPr>
                <a:spLocks noChangeArrowheads="1"/>
              </p:cNvSpPr>
              <p:nvPr/>
            </p:nvSpPr>
            <p:spPr bwMode="auto">
              <a:xfrm>
                <a:off x="4470" y="2768"/>
                <a:ext cx="21" cy="1"/>
              </a:xfrm>
              <a:custGeom>
                <a:avLst/>
                <a:gdLst>
                  <a:gd name="T0" fmla="*/ 0 w 65"/>
                  <a:gd name="T1" fmla="*/ 0 h 1"/>
                  <a:gd name="T2" fmla="*/ 64 w 65"/>
                  <a:gd name="T3" fmla="*/ 0 h 1"/>
                  <a:gd name="T4" fmla="*/ 65 w 6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5" h="1">
                    <a:moveTo>
                      <a:pt x="0" y="0"/>
                    </a:moveTo>
                    <a:lnTo>
                      <a:pt x="64" y="0"/>
                    </a:lnTo>
                    <a:lnTo>
                      <a:pt x="6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52" name="Group 75"/>
            <p:cNvGrpSpPr>
              <a:grpSpLocks/>
            </p:cNvGrpSpPr>
            <p:nvPr/>
          </p:nvGrpSpPr>
          <p:grpSpPr bwMode="auto">
            <a:xfrm>
              <a:off x="1492" y="2035"/>
              <a:ext cx="292" cy="100"/>
              <a:chOff x="3594" y="1835"/>
              <a:chExt cx="292" cy="100"/>
            </a:xfrm>
          </p:grpSpPr>
          <p:sp>
            <p:nvSpPr>
              <p:cNvPr id="71" name="Freeform 76"/>
              <p:cNvSpPr>
                <a:spLocks noChangeArrowheads="1"/>
              </p:cNvSpPr>
              <p:nvPr/>
            </p:nvSpPr>
            <p:spPr bwMode="auto">
              <a:xfrm>
                <a:off x="3594" y="1934"/>
                <a:ext cx="75" cy="1"/>
              </a:xfrm>
              <a:custGeom>
                <a:avLst/>
                <a:gdLst>
                  <a:gd name="T0" fmla="*/ 0 w 225"/>
                  <a:gd name="T1" fmla="*/ 0 h 1"/>
                  <a:gd name="T2" fmla="*/ 224 w 225"/>
                  <a:gd name="T3" fmla="*/ 0 h 1"/>
                  <a:gd name="T4" fmla="*/ 225 w 22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5" h="1">
                    <a:moveTo>
                      <a:pt x="0" y="0"/>
                    </a:moveTo>
                    <a:lnTo>
                      <a:pt x="224" y="0"/>
                    </a:lnTo>
                    <a:lnTo>
                      <a:pt x="22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2" name="Freeform 77"/>
              <p:cNvSpPr>
                <a:spLocks noChangeArrowheads="1"/>
              </p:cNvSpPr>
              <p:nvPr/>
            </p:nvSpPr>
            <p:spPr bwMode="auto">
              <a:xfrm>
                <a:off x="3693" y="1934"/>
                <a:ext cx="95" cy="1"/>
              </a:xfrm>
              <a:custGeom>
                <a:avLst/>
                <a:gdLst>
                  <a:gd name="T0" fmla="*/ 0 w 285"/>
                  <a:gd name="T1" fmla="*/ 0 h 1"/>
                  <a:gd name="T2" fmla="*/ 284 w 285"/>
                  <a:gd name="T3" fmla="*/ 0 h 1"/>
                  <a:gd name="T4" fmla="*/ 285 w 28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5" h="1">
                    <a:moveTo>
                      <a:pt x="0" y="0"/>
                    </a:moveTo>
                    <a:lnTo>
                      <a:pt x="284" y="0"/>
                    </a:lnTo>
                    <a:lnTo>
                      <a:pt x="28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3" name="Freeform 78"/>
              <p:cNvSpPr>
                <a:spLocks noChangeArrowheads="1"/>
              </p:cNvSpPr>
              <p:nvPr/>
            </p:nvSpPr>
            <p:spPr bwMode="auto">
              <a:xfrm>
                <a:off x="3811" y="1934"/>
                <a:ext cx="75" cy="1"/>
              </a:xfrm>
              <a:custGeom>
                <a:avLst/>
                <a:gdLst>
                  <a:gd name="T0" fmla="*/ 0 w 225"/>
                  <a:gd name="T1" fmla="*/ 0 h 1"/>
                  <a:gd name="T2" fmla="*/ 223 w 225"/>
                  <a:gd name="T3" fmla="*/ 0 h 1"/>
                  <a:gd name="T4" fmla="*/ 225 w 22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5" h="1">
                    <a:moveTo>
                      <a:pt x="0" y="0"/>
                    </a:moveTo>
                    <a:lnTo>
                      <a:pt x="223" y="0"/>
                    </a:lnTo>
                    <a:lnTo>
                      <a:pt x="22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4" name="Freeform 79"/>
              <p:cNvSpPr>
                <a:spLocks noChangeArrowheads="1"/>
              </p:cNvSpPr>
              <p:nvPr/>
            </p:nvSpPr>
            <p:spPr bwMode="auto">
              <a:xfrm>
                <a:off x="3594" y="1894"/>
                <a:ext cx="1" cy="40"/>
              </a:xfrm>
              <a:custGeom>
                <a:avLst/>
                <a:gdLst>
                  <a:gd name="T0" fmla="*/ 0 w 2"/>
                  <a:gd name="T1" fmla="*/ 120 h 120"/>
                  <a:gd name="T2" fmla="*/ 0 w 2"/>
                  <a:gd name="T3" fmla="*/ 0 h 120"/>
                  <a:gd name="T4" fmla="*/ 2 w 2"/>
                  <a:gd name="T5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20">
                    <a:moveTo>
                      <a:pt x="0" y="120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5" name="Freeform 80"/>
              <p:cNvSpPr>
                <a:spLocks noChangeArrowheads="1"/>
              </p:cNvSpPr>
              <p:nvPr/>
            </p:nvSpPr>
            <p:spPr bwMode="auto">
              <a:xfrm>
                <a:off x="3594" y="1835"/>
                <a:ext cx="1" cy="40"/>
              </a:xfrm>
              <a:custGeom>
                <a:avLst/>
                <a:gdLst>
                  <a:gd name="T0" fmla="*/ 0 w 2"/>
                  <a:gd name="T1" fmla="*/ 120 h 120"/>
                  <a:gd name="T2" fmla="*/ 0 w 2"/>
                  <a:gd name="T3" fmla="*/ 0 h 120"/>
                  <a:gd name="T4" fmla="*/ 2 w 2"/>
                  <a:gd name="T5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20">
                    <a:moveTo>
                      <a:pt x="0" y="120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6" name="Freeform 81"/>
              <p:cNvSpPr>
                <a:spLocks noChangeArrowheads="1"/>
              </p:cNvSpPr>
              <p:nvPr/>
            </p:nvSpPr>
            <p:spPr bwMode="auto">
              <a:xfrm>
                <a:off x="3885" y="1894"/>
                <a:ext cx="1" cy="40"/>
              </a:xfrm>
              <a:custGeom>
                <a:avLst/>
                <a:gdLst>
                  <a:gd name="T0" fmla="*/ 0 w 2"/>
                  <a:gd name="T1" fmla="*/ 120 h 120"/>
                  <a:gd name="T2" fmla="*/ 0 w 2"/>
                  <a:gd name="T3" fmla="*/ 0 h 120"/>
                  <a:gd name="T4" fmla="*/ 2 w 2"/>
                  <a:gd name="T5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20">
                    <a:moveTo>
                      <a:pt x="0" y="120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7" name="Freeform 82"/>
              <p:cNvSpPr>
                <a:spLocks noChangeArrowheads="1"/>
              </p:cNvSpPr>
              <p:nvPr/>
            </p:nvSpPr>
            <p:spPr bwMode="auto">
              <a:xfrm>
                <a:off x="3885" y="1835"/>
                <a:ext cx="1" cy="40"/>
              </a:xfrm>
              <a:custGeom>
                <a:avLst/>
                <a:gdLst>
                  <a:gd name="T0" fmla="*/ 0 w 2"/>
                  <a:gd name="T1" fmla="*/ 120 h 120"/>
                  <a:gd name="T2" fmla="*/ 0 w 2"/>
                  <a:gd name="T3" fmla="*/ 0 h 120"/>
                  <a:gd name="T4" fmla="*/ 2 w 2"/>
                  <a:gd name="T5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20">
                    <a:moveTo>
                      <a:pt x="0" y="120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53" name="Freeform 83"/>
            <p:cNvSpPr>
              <a:spLocks noChangeArrowheads="1"/>
            </p:cNvSpPr>
            <p:nvPr/>
          </p:nvSpPr>
          <p:spPr bwMode="auto">
            <a:xfrm>
              <a:off x="1883" y="1560"/>
              <a:ext cx="765" cy="1"/>
            </a:xfrm>
            <a:custGeom>
              <a:avLst/>
              <a:gdLst>
                <a:gd name="T0" fmla="*/ 2296 w 2296"/>
                <a:gd name="T1" fmla="*/ 0 h 1"/>
                <a:gd name="T2" fmla="*/ 0 w 2296"/>
                <a:gd name="T3" fmla="*/ 0 h 1"/>
                <a:gd name="T4" fmla="*/ 2 w 229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96" h="1">
                  <a:moveTo>
                    <a:pt x="2296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54" name="Group 84"/>
            <p:cNvGrpSpPr>
              <a:grpSpLocks/>
            </p:cNvGrpSpPr>
            <p:nvPr/>
          </p:nvGrpSpPr>
          <p:grpSpPr bwMode="auto">
            <a:xfrm>
              <a:off x="2265" y="1475"/>
              <a:ext cx="1" cy="872"/>
              <a:chOff x="4367" y="1275"/>
              <a:chExt cx="1" cy="872"/>
            </a:xfrm>
          </p:grpSpPr>
          <p:sp>
            <p:nvSpPr>
              <p:cNvPr id="68" name="Freeform 85"/>
              <p:cNvSpPr>
                <a:spLocks noChangeArrowheads="1"/>
              </p:cNvSpPr>
              <p:nvPr/>
            </p:nvSpPr>
            <p:spPr bwMode="auto">
              <a:xfrm>
                <a:off x="4367" y="1756"/>
                <a:ext cx="1" cy="391"/>
              </a:xfrm>
              <a:custGeom>
                <a:avLst/>
                <a:gdLst>
                  <a:gd name="T0" fmla="*/ 0 w 1"/>
                  <a:gd name="T1" fmla="*/ 1174 h 1174"/>
                  <a:gd name="T2" fmla="*/ 0 w 1"/>
                  <a:gd name="T3" fmla="*/ 0 h 1174"/>
                  <a:gd name="T4" fmla="*/ 1 w 1"/>
                  <a:gd name="T5" fmla="*/ 0 h 1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174">
                    <a:moveTo>
                      <a:pt x="0" y="117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9" name="Freeform 86"/>
              <p:cNvSpPr>
                <a:spLocks noChangeArrowheads="1"/>
              </p:cNvSpPr>
              <p:nvPr/>
            </p:nvSpPr>
            <p:spPr bwMode="auto">
              <a:xfrm>
                <a:off x="4367" y="1275"/>
                <a:ext cx="1" cy="363"/>
              </a:xfrm>
              <a:custGeom>
                <a:avLst/>
                <a:gdLst>
                  <a:gd name="T0" fmla="*/ 0 w 1"/>
                  <a:gd name="T1" fmla="*/ 1089 h 1089"/>
                  <a:gd name="T2" fmla="*/ 0 w 1"/>
                  <a:gd name="T3" fmla="*/ 0 h 1089"/>
                  <a:gd name="T4" fmla="*/ 1 w 1"/>
                  <a:gd name="T5" fmla="*/ 0 h 10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89">
                    <a:moveTo>
                      <a:pt x="0" y="108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0" name="Freeform 87"/>
              <p:cNvSpPr>
                <a:spLocks noChangeArrowheads="1"/>
              </p:cNvSpPr>
              <p:nvPr/>
            </p:nvSpPr>
            <p:spPr bwMode="auto">
              <a:xfrm>
                <a:off x="4367" y="1681"/>
                <a:ext cx="1" cy="32"/>
              </a:xfrm>
              <a:custGeom>
                <a:avLst/>
                <a:gdLst>
                  <a:gd name="T0" fmla="*/ 0 w 1"/>
                  <a:gd name="T1" fmla="*/ 98 h 98"/>
                  <a:gd name="T2" fmla="*/ 0 w 1"/>
                  <a:gd name="T3" fmla="*/ 0 h 98"/>
                  <a:gd name="T4" fmla="*/ 1 w 1"/>
                  <a:gd name="T5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8">
                    <a:moveTo>
                      <a:pt x="0" y="98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55" name="Group 88"/>
            <p:cNvGrpSpPr>
              <a:grpSpLocks/>
            </p:cNvGrpSpPr>
            <p:nvPr/>
          </p:nvGrpSpPr>
          <p:grpSpPr bwMode="auto">
            <a:xfrm>
              <a:off x="1990" y="1560"/>
              <a:ext cx="552" cy="192"/>
              <a:chOff x="4092" y="1360"/>
              <a:chExt cx="552" cy="192"/>
            </a:xfrm>
          </p:grpSpPr>
          <p:sp>
            <p:nvSpPr>
              <p:cNvPr id="56" name="Freeform 89"/>
              <p:cNvSpPr>
                <a:spLocks noChangeArrowheads="1"/>
              </p:cNvSpPr>
              <p:nvPr/>
            </p:nvSpPr>
            <p:spPr bwMode="auto">
              <a:xfrm>
                <a:off x="4574" y="1491"/>
                <a:ext cx="1" cy="61"/>
              </a:xfrm>
              <a:custGeom>
                <a:avLst/>
                <a:gdLst>
                  <a:gd name="T0" fmla="*/ 0 w 1"/>
                  <a:gd name="T1" fmla="*/ 184 h 184"/>
                  <a:gd name="T2" fmla="*/ 0 w 1"/>
                  <a:gd name="T3" fmla="*/ 0 h 184"/>
                  <a:gd name="T4" fmla="*/ 1 w 1"/>
                  <a:gd name="T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84">
                    <a:moveTo>
                      <a:pt x="0" y="18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7" name="Freeform 90"/>
              <p:cNvSpPr>
                <a:spLocks noChangeArrowheads="1"/>
              </p:cNvSpPr>
              <p:nvPr/>
            </p:nvSpPr>
            <p:spPr bwMode="auto">
              <a:xfrm>
                <a:off x="4497" y="1491"/>
                <a:ext cx="1" cy="61"/>
              </a:xfrm>
              <a:custGeom>
                <a:avLst/>
                <a:gdLst>
                  <a:gd name="T0" fmla="*/ 0 w 2"/>
                  <a:gd name="T1" fmla="*/ 184 h 184"/>
                  <a:gd name="T2" fmla="*/ 0 w 2"/>
                  <a:gd name="T3" fmla="*/ 0 h 184"/>
                  <a:gd name="T4" fmla="*/ 2 w 2"/>
                  <a:gd name="T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84">
                    <a:moveTo>
                      <a:pt x="0" y="184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8" name="Freeform 91"/>
              <p:cNvSpPr>
                <a:spLocks noChangeArrowheads="1"/>
              </p:cNvSpPr>
              <p:nvPr/>
            </p:nvSpPr>
            <p:spPr bwMode="auto">
              <a:xfrm>
                <a:off x="4222" y="1491"/>
                <a:ext cx="1" cy="61"/>
              </a:xfrm>
              <a:custGeom>
                <a:avLst/>
                <a:gdLst>
                  <a:gd name="T0" fmla="*/ 0 w 1"/>
                  <a:gd name="T1" fmla="*/ 184 h 184"/>
                  <a:gd name="T2" fmla="*/ 0 w 1"/>
                  <a:gd name="T3" fmla="*/ 0 h 184"/>
                  <a:gd name="T4" fmla="*/ 1 w 1"/>
                  <a:gd name="T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84">
                    <a:moveTo>
                      <a:pt x="0" y="18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9" name="Freeform 92"/>
              <p:cNvSpPr>
                <a:spLocks noChangeArrowheads="1"/>
              </p:cNvSpPr>
              <p:nvPr/>
            </p:nvSpPr>
            <p:spPr bwMode="auto">
              <a:xfrm>
                <a:off x="4092" y="1491"/>
                <a:ext cx="87" cy="1"/>
              </a:xfrm>
              <a:custGeom>
                <a:avLst/>
                <a:gdLst>
                  <a:gd name="T0" fmla="*/ 0 w 259"/>
                  <a:gd name="T1" fmla="*/ 0 h 1"/>
                  <a:gd name="T2" fmla="*/ 257 w 259"/>
                  <a:gd name="T3" fmla="*/ 0 h 1"/>
                  <a:gd name="T4" fmla="*/ 259 w 259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9" h="1">
                    <a:moveTo>
                      <a:pt x="0" y="0"/>
                    </a:moveTo>
                    <a:lnTo>
                      <a:pt x="257" y="0"/>
                    </a:lnTo>
                    <a:lnTo>
                      <a:pt x="25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0" name="Freeform 93"/>
              <p:cNvSpPr>
                <a:spLocks noChangeArrowheads="1"/>
              </p:cNvSpPr>
              <p:nvPr/>
            </p:nvSpPr>
            <p:spPr bwMode="auto">
              <a:xfrm>
                <a:off x="4202" y="1491"/>
                <a:ext cx="95" cy="1"/>
              </a:xfrm>
              <a:custGeom>
                <a:avLst/>
                <a:gdLst>
                  <a:gd name="T0" fmla="*/ 0 w 286"/>
                  <a:gd name="T1" fmla="*/ 0 h 1"/>
                  <a:gd name="T2" fmla="*/ 284 w 286"/>
                  <a:gd name="T3" fmla="*/ 0 h 1"/>
                  <a:gd name="T4" fmla="*/ 286 w 286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6" h="1">
                    <a:moveTo>
                      <a:pt x="0" y="0"/>
                    </a:moveTo>
                    <a:lnTo>
                      <a:pt x="284" y="0"/>
                    </a:lnTo>
                    <a:lnTo>
                      <a:pt x="28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1" name="Freeform 94"/>
              <p:cNvSpPr>
                <a:spLocks noChangeArrowheads="1"/>
              </p:cNvSpPr>
              <p:nvPr/>
            </p:nvSpPr>
            <p:spPr bwMode="auto">
              <a:xfrm>
                <a:off x="4320" y="1491"/>
                <a:ext cx="95" cy="1"/>
              </a:xfrm>
              <a:custGeom>
                <a:avLst/>
                <a:gdLst>
                  <a:gd name="T0" fmla="*/ 0 w 286"/>
                  <a:gd name="T1" fmla="*/ 0 h 1"/>
                  <a:gd name="T2" fmla="*/ 284 w 286"/>
                  <a:gd name="T3" fmla="*/ 0 h 1"/>
                  <a:gd name="T4" fmla="*/ 286 w 286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6" h="1">
                    <a:moveTo>
                      <a:pt x="0" y="0"/>
                    </a:moveTo>
                    <a:lnTo>
                      <a:pt x="284" y="0"/>
                    </a:lnTo>
                    <a:lnTo>
                      <a:pt x="28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2" name="Freeform 95"/>
              <p:cNvSpPr>
                <a:spLocks noChangeArrowheads="1"/>
              </p:cNvSpPr>
              <p:nvPr/>
            </p:nvSpPr>
            <p:spPr bwMode="auto">
              <a:xfrm>
                <a:off x="4438" y="1491"/>
                <a:ext cx="96" cy="1"/>
              </a:xfrm>
              <a:custGeom>
                <a:avLst/>
                <a:gdLst>
                  <a:gd name="T0" fmla="*/ 0 w 286"/>
                  <a:gd name="T1" fmla="*/ 0 h 1"/>
                  <a:gd name="T2" fmla="*/ 284 w 286"/>
                  <a:gd name="T3" fmla="*/ 0 h 1"/>
                  <a:gd name="T4" fmla="*/ 286 w 286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6" h="1">
                    <a:moveTo>
                      <a:pt x="0" y="0"/>
                    </a:moveTo>
                    <a:lnTo>
                      <a:pt x="284" y="0"/>
                    </a:lnTo>
                    <a:lnTo>
                      <a:pt x="28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3" name="Freeform 96"/>
              <p:cNvSpPr>
                <a:spLocks noChangeArrowheads="1"/>
              </p:cNvSpPr>
              <p:nvPr/>
            </p:nvSpPr>
            <p:spPr bwMode="auto">
              <a:xfrm>
                <a:off x="4557" y="1491"/>
                <a:ext cx="86" cy="1"/>
              </a:xfrm>
              <a:custGeom>
                <a:avLst/>
                <a:gdLst>
                  <a:gd name="T0" fmla="*/ 0 w 259"/>
                  <a:gd name="T1" fmla="*/ 0 h 1"/>
                  <a:gd name="T2" fmla="*/ 258 w 259"/>
                  <a:gd name="T3" fmla="*/ 0 h 1"/>
                  <a:gd name="T4" fmla="*/ 259 w 259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9" h="1">
                    <a:moveTo>
                      <a:pt x="0" y="0"/>
                    </a:moveTo>
                    <a:lnTo>
                      <a:pt x="258" y="0"/>
                    </a:lnTo>
                    <a:lnTo>
                      <a:pt x="25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4" name="Freeform 97"/>
              <p:cNvSpPr>
                <a:spLocks noChangeArrowheads="1"/>
              </p:cNvSpPr>
              <p:nvPr/>
            </p:nvSpPr>
            <p:spPr bwMode="auto">
              <a:xfrm>
                <a:off x="4092" y="1437"/>
                <a:ext cx="1" cy="54"/>
              </a:xfrm>
              <a:custGeom>
                <a:avLst/>
                <a:gdLst>
                  <a:gd name="T0" fmla="*/ 0 w 1"/>
                  <a:gd name="T1" fmla="*/ 160 h 160"/>
                  <a:gd name="T2" fmla="*/ 0 w 1"/>
                  <a:gd name="T3" fmla="*/ 0 h 160"/>
                  <a:gd name="T4" fmla="*/ 1 w 1"/>
                  <a:gd name="T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60">
                    <a:moveTo>
                      <a:pt x="0" y="16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5" name="Freeform 98"/>
              <p:cNvSpPr>
                <a:spLocks noChangeArrowheads="1"/>
              </p:cNvSpPr>
              <p:nvPr/>
            </p:nvSpPr>
            <p:spPr bwMode="auto">
              <a:xfrm>
                <a:off x="4092" y="1360"/>
                <a:ext cx="1" cy="53"/>
              </a:xfrm>
              <a:custGeom>
                <a:avLst/>
                <a:gdLst>
                  <a:gd name="T0" fmla="*/ 0 w 1"/>
                  <a:gd name="T1" fmla="*/ 159 h 159"/>
                  <a:gd name="T2" fmla="*/ 0 w 1"/>
                  <a:gd name="T3" fmla="*/ 0 h 159"/>
                  <a:gd name="T4" fmla="*/ 1 w 1"/>
                  <a:gd name="T5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59">
                    <a:moveTo>
                      <a:pt x="0" y="15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6" name="Freeform 99"/>
              <p:cNvSpPr>
                <a:spLocks noChangeArrowheads="1"/>
              </p:cNvSpPr>
              <p:nvPr/>
            </p:nvSpPr>
            <p:spPr bwMode="auto">
              <a:xfrm>
                <a:off x="4643" y="1437"/>
                <a:ext cx="1" cy="54"/>
              </a:xfrm>
              <a:custGeom>
                <a:avLst/>
                <a:gdLst>
                  <a:gd name="T0" fmla="*/ 0 w 1"/>
                  <a:gd name="T1" fmla="*/ 160 h 160"/>
                  <a:gd name="T2" fmla="*/ 0 w 1"/>
                  <a:gd name="T3" fmla="*/ 0 h 160"/>
                  <a:gd name="T4" fmla="*/ 1 w 1"/>
                  <a:gd name="T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60">
                    <a:moveTo>
                      <a:pt x="0" y="16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7" name="Freeform 100"/>
              <p:cNvSpPr>
                <a:spLocks noChangeArrowheads="1"/>
              </p:cNvSpPr>
              <p:nvPr/>
            </p:nvSpPr>
            <p:spPr bwMode="auto">
              <a:xfrm>
                <a:off x="4643" y="1360"/>
                <a:ext cx="1" cy="53"/>
              </a:xfrm>
              <a:custGeom>
                <a:avLst/>
                <a:gdLst>
                  <a:gd name="T0" fmla="*/ 0 w 1"/>
                  <a:gd name="T1" fmla="*/ 159 h 159"/>
                  <a:gd name="T2" fmla="*/ 0 w 1"/>
                  <a:gd name="T3" fmla="*/ 0 h 159"/>
                  <a:gd name="T4" fmla="*/ 1 w 1"/>
                  <a:gd name="T5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59">
                    <a:moveTo>
                      <a:pt x="0" y="15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sp>
        <p:nvSpPr>
          <p:cNvPr id="101" name="AutoShape 101"/>
          <p:cNvSpPr>
            <a:spLocks noChangeArrowheads="1"/>
          </p:cNvSpPr>
          <p:nvPr/>
        </p:nvSpPr>
        <p:spPr bwMode="auto">
          <a:xfrm>
            <a:off x="5815878" y="1014542"/>
            <a:ext cx="3756025" cy="1606550"/>
          </a:xfrm>
          <a:prstGeom prst="cloudCallout">
            <a:avLst>
              <a:gd name="adj1" fmla="val -44972"/>
              <a:gd name="adj2" fmla="val 77866"/>
            </a:avLst>
          </a:prstGeom>
          <a:solidFill>
            <a:srgbClr val="CCFFFF"/>
          </a:solidFill>
          <a:ln w="12700">
            <a:solidFill>
              <a:schemeClr val="accent2"/>
            </a:solidFill>
            <a:round/>
            <a:headEnd type="none" w="sm" len="lg"/>
            <a:tailEnd type="none" w="sm" len="lg"/>
          </a:ln>
        </p:spPr>
        <p:txBody>
          <a:bodyPr anchor="ctr"/>
          <a:lstStyle>
            <a:lvl1pPr indent="449263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0" hangingPunct="0"/>
            <a:r>
              <a:rPr lang="zh-CN" altLang="en-US" sz="1800">
                <a:latin typeface="华文细黑" panose="02010600040101010101" pitchFamily="2" charset="-122"/>
                <a:ea typeface="华文细黑" panose="02010600040101010101" pitchFamily="2" charset="-122"/>
              </a:rPr>
              <a:t>当机件的内部形状复杂时，视图上将出现许多虚线，不便于看图和标注尺寸。</a:t>
            </a:r>
          </a:p>
        </p:txBody>
      </p:sp>
    </p:spTree>
    <p:extLst>
      <p:ext uri="{BB962C8B-B14F-4D97-AF65-F5344CB8AC3E}">
        <p14:creationId xmlns:p14="http://schemas.microsoft.com/office/powerpoint/2010/main" val="2555377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101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>
            <a:grpSpLocks noChangeAspect="1"/>
          </p:cNvGrpSpPr>
          <p:nvPr/>
        </p:nvGrpSpPr>
        <p:grpSpPr bwMode="auto">
          <a:xfrm>
            <a:off x="3163889" y="965200"/>
            <a:ext cx="3551237" cy="3475038"/>
            <a:chOff x="393" y="874"/>
            <a:chExt cx="2796" cy="2736"/>
          </a:xfrm>
        </p:grpSpPr>
        <p:sp>
          <p:nvSpPr>
            <p:cNvPr id="4" name="Freeform 3"/>
            <p:cNvSpPr>
              <a:spLocks noChangeAspect="1" noChangeArrowheads="1"/>
            </p:cNvSpPr>
            <p:nvPr/>
          </p:nvSpPr>
          <p:spPr bwMode="auto">
            <a:xfrm>
              <a:off x="399" y="1990"/>
              <a:ext cx="2790" cy="1620"/>
            </a:xfrm>
            <a:custGeom>
              <a:avLst/>
              <a:gdLst>
                <a:gd name="T0" fmla="*/ 0 w 2790"/>
                <a:gd name="T1" fmla="*/ 978 h 1620"/>
                <a:gd name="T2" fmla="*/ 1096 w 2790"/>
                <a:gd name="T3" fmla="*/ 1620 h 1620"/>
                <a:gd name="T4" fmla="*/ 2790 w 2790"/>
                <a:gd name="T5" fmla="*/ 642 h 1620"/>
                <a:gd name="T6" fmla="*/ 1686 w 2790"/>
                <a:gd name="T7" fmla="*/ 0 h 1620"/>
                <a:gd name="T8" fmla="*/ 0 w 2790"/>
                <a:gd name="T9" fmla="*/ 978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90" h="1620">
                  <a:moveTo>
                    <a:pt x="0" y="978"/>
                  </a:moveTo>
                  <a:lnTo>
                    <a:pt x="1096" y="1620"/>
                  </a:lnTo>
                  <a:lnTo>
                    <a:pt x="2790" y="642"/>
                  </a:lnTo>
                  <a:lnTo>
                    <a:pt x="1686" y="0"/>
                  </a:lnTo>
                  <a:lnTo>
                    <a:pt x="0" y="978"/>
                  </a:lnTo>
                  <a:close/>
                </a:path>
              </a:pathLst>
            </a:custGeom>
            <a:solidFill>
              <a:srgbClr val="FFFF66"/>
            </a:solidFill>
            <a:ln w="12700">
              <a:solidFill>
                <a:schemeClr val="tx1"/>
              </a:solidFill>
              <a:round/>
              <a:headEnd type="none" w="sm" len="lg"/>
              <a:tailEnd type="none" w="sm" len="lg"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" name="Freeform 4"/>
            <p:cNvSpPr>
              <a:spLocks noChangeAspect="1" noChangeArrowheads="1"/>
            </p:cNvSpPr>
            <p:nvPr/>
          </p:nvSpPr>
          <p:spPr bwMode="auto">
            <a:xfrm>
              <a:off x="393" y="874"/>
              <a:ext cx="1692" cy="2094"/>
            </a:xfrm>
            <a:custGeom>
              <a:avLst/>
              <a:gdLst>
                <a:gd name="T0" fmla="*/ 0 w 1692"/>
                <a:gd name="T1" fmla="*/ 972 h 2094"/>
                <a:gd name="T2" fmla="*/ 0 w 1692"/>
                <a:gd name="T3" fmla="*/ 2094 h 2094"/>
                <a:gd name="T4" fmla="*/ 1692 w 1692"/>
                <a:gd name="T5" fmla="*/ 1116 h 2094"/>
                <a:gd name="T6" fmla="*/ 1692 w 1692"/>
                <a:gd name="T7" fmla="*/ 0 h 2094"/>
                <a:gd name="T8" fmla="*/ 0 w 1692"/>
                <a:gd name="T9" fmla="*/ 972 h 20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92" h="2094">
                  <a:moveTo>
                    <a:pt x="0" y="972"/>
                  </a:moveTo>
                  <a:lnTo>
                    <a:pt x="0" y="2094"/>
                  </a:lnTo>
                  <a:lnTo>
                    <a:pt x="1692" y="1116"/>
                  </a:lnTo>
                  <a:lnTo>
                    <a:pt x="1692" y="0"/>
                  </a:lnTo>
                  <a:lnTo>
                    <a:pt x="0" y="972"/>
                  </a:lnTo>
                  <a:close/>
                </a:path>
              </a:pathLst>
            </a:custGeom>
            <a:solidFill>
              <a:srgbClr val="CCFFFF"/>
            </a:solidFill>
            <a:ln w="12700">
              <a:solidFill>
                <a:schemeClr val="tx1"/>
              </a:solidFill>
              <a:round/>
              <a:headEnd type="none" w="sm" len="lg"/>
              <a:tailEnd type="none" w="sm" len="lg"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" name="Freeform 5"/>
            <p:cNvSpPr>
              <a:spLocks noChangeAspect="1" noChangeArrowheads="1"/>
            </p:cNvSpPr>
            <p:nvPr/>
          </p:nvSpPr>
          <p:spPr bwMode="auto">
            <a:xfrm>
              <a:off x="1014" y="2026"/>
              <a:ext cx="858" cy="618"/>
            </a:xfrm>
            <a:custGeom>
              <a:avLst/>
              <a:gdLst>
                <a:gd name="T0" fmla="*/ 0 w 858"/>
                <a:gd name="T1" fmla="*/ 459 h 618"/>
                <a:gd name="T2" fmla="*/ 801 w 858"/>
                <a:gd name="T3" fmla="*/ 0 h 618"/>
                <a:gd name="T4" fmla="*/ 858 w 858"/>
                <a:gd name="T5" fmla="*/ 261 h 618"/>
                <a:gd name="T6" fmla="*/ 228 w 858"/>
                <a:gd name="T7" fmla="*/ 618 h 618"/>
                <a:gd name="T8" fmla="*/ 0 w 858"/>
                <a:gd name="T9" fmla="*/ 459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8" h="618">
                  <a:moveTo>
                    <a:pt x="0" y="459"/>
                  </a:moveTo>
                  <a:lnTo>
                    <a:pt x="801" y="0"/>
                  </a:lnTo>
                  <a:lnTo>
                    <a:pt x="858" y="261"/>
                  </a:lnTo>
                  <a:lnTo>
                    <a:pt x="228" y="618"/>
                  </a:lnTo>
                  <a:lnTo>
                    <a:pt x="0" y="459"/>
                  </a:lnTo>
                  <a:close/>
                </a:path>
              </a:pathLst>
            </a:custGeom>
            <a:gradFill rotWithShape="0">
              <a:gsLst>
                <a:gs pos="0">
                  <a:srgbClr val="762F00"/>
                </a:gs>
                <a:gs pos="100000">
                  <a:srgbClr val="FF6600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" name="Freeform 6"/>
            <p:cNvSpPr>
              <a:spLocks noChangeAspect="1" noChangeArrowheads="1"/>
            </p:cNvSpPr>
            <p:nvPr/>
          </p:nvSpPr>
          <p:spPr bwMode="auto">
            <a:xfrm>
              <a:off x="1617" y="2474"/>
              <a:ext cx="107" cy="204"/>
            </a:xfrm>
            <a:custGeom>
              <a:avLst/>
              <a:gdLst>
                <a:gd name="T0" fmla="*/ 107 w 107"/>
                <a:gd name="T1" fmla="*/ 184 h 204"/>
                <a:gd name="T2" fmla="*/ 59 w 107"/>
                <a:gd name="T3" fmla="*/ 180 h 204"/>
                <a:gd name="T4" fmla="*/ 35 w 107"/>
                <a:gd name="T5" fmla="*/ 184 h 204"/>
                <a:gd name="T6" fmla="*/ 3 w 107"/>
                <a:gd name="T7" fmla="*/ 204 h 204"/>
                <a:gd name="T8" fmla="*/ 3 w 107"/>
                <a:gd name="T9" fmla="*/ 60 h 204"/>
                <a:gd name="T10" fmla="*/ 0 w 107"/>
                <a:gd name="T11" fmla="*/ 32 h 204"/>
                <a:gd name="T12" fmla="*/ 15 w 107"/>
                <a:gd name="T13" fmla="*/ 12 h 204"/>
                <a:gd name="T14" fmla="*/ 47 w 107"/>
                <a:gd name="T15" fmla="*/ 0 h 204"/>
                <a:gd name="T16" fmla="*/ 107 w 107"/>
                <a:gd name="T17" fmla="*/ 8 h 204"/>
                <a:gd name="T18" fmla="*/ 107 w 107"/>
                <a:gd name="T19" fmla="*/ 18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7" h="204">
                  <a:moveTo>
                    <a:pt x="107" y="184"/>
                  </a:moveTo>
                  <a:lnTo>
                    <a:pt x="59" y="180"/>
                  </a:lnTo>
                  <a:lnTo>
                    <a:pt x="35" y="184"/>
                  </a:lnTo>
                  <a:lnTo>
                    <a:pt x="3" y="204"/>
                  </a:lnTo>
                  <a:lnTo>
                    <a:pt x="3" y="60"/>
                  </a:lnTo>
                  <a:lnTo>
                    <a:pt x="0" y="32"/>
                  </a:lnTo>
                  <a:lnTo>
                    <a:pt x="15" y="12"/>
                  </a:lnTo>
                  <a:lnTo>
                    <a:pt x="47" y="0"/>
                  </a:lnTo>
                  <a:lnTo>
                    <a:pt x="107" y="8"/>
                  </a:lnTo>
                  <a:lnTo>
                    <a:pt x="107" y="184"/>
                  </a:lnTo>
                  <a:close/>
                </a:path>
              </a:pathLst>
            </a:custGeom>
            <a:gradFill rotWithShape="0">
              <a:gsLst>
                <a:gs pos="0">
                  <a:srgbClr val="FFCC00"/>
                </a:gs>
                <a:gs pos="100000">
                  <a:srgbClr val="A282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" name="Freeform 7"/>
            <p:cNvSpPr>
              <a:spLocks noChangeAspect="1" noChangeArrowheads="1"/>
            </p:cNvSpPr>
            <p:nvPr/>
          </p:nvSpPr>
          <p:spPr bwMode="auto">
            <a:xfrm>
              <a:off x="1797" y="1783"/>
              <a:ext cx="79" cy="499"/>
            </a:xfrm>
            <a:custGeom>
              <a:avLst/>
              <a:gdLst>
                <a:gd name="T0" fmla="*/ 0 w 79"/>
                <a:gd name="T1" fmla="*/ 0 h 499"/>
                <a:gd name="T2" fmla="*/ 0 w 79"/>
                <a:gd name="T3" fmla="*/ 390 h 499"/>
                <a:gd name="T4" fmla="*/ 9 w 79"/>
                <a:gd name="T5" fmla="*/ 432 h 499"/>
                <a:gd name="T6" fmla="*/ 35 w 79"/>
                <a:gd name="T7" fmla="*/ 463 h 499"/>
                <a:gd name="T8" fmla="*/ 54 w 79"/>
                <a:gd name="T9" fmla="*/ 486 h 499"/>
                <a:gd name="T10" fmla="*/ 79 w 79"/>
                <a:gd name="T11" fmla="*/ 499 h 499"/>
                <a:gd name="T12" fmla="*/ 79 w 79"/>
                <a:gd name="T13" fmla="*/ 191 h 499"/>
                <a:gd name="T14" fmla="*/ 0 w 79"/>
                <a:gd name="T15" fmla="*/ 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" h="499">
                  <a:moveTo>
                    <a:pt x="0" y="0"/>
                  </a:moveTo>
                  <a:lnTo>
                    <a:pt x="0" y="390"/>
                  </a:lnTo>
                  <a:lnTo>
                    <a:pt x="9" y="432"/>
                  </a:lnTo>
                  <a:lnTo>
                    <a:pt x="35" y="463"/>
                  </a:lnTo>
                  <a:lnTo>
                    <a:pt x="54" y="486"/>
                  </a:lnTo>
                  <a:lnTo>
                    <a:pt x="79" y="499"/>
                  </a:lnTo>
                  <a:lnTo>
                    <a:pt x="79" y="191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rgbClr val="5E0000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" name="Freeform 8"/>
            <p:cNvSpPr>
              <a:spLocks noChangeAspect="1" noChangeArrowheads="1"/>
            </p:cNvSpPr>
            <p:nvPr/>
          </p:nvSpPr>
          <p:spPr bwMode="auto">
            <a:xfrm>
              <a:off x="1536" y="2314"/>
              <a:ext cx="234" cy="150"/>
            </a:xfrm>
            <a:custGeom>
              <a:avLst/>
              <a:gdLst>
                <a:gd name="T0" fmla="*/ 234 w 234"/>
                <a:gd name="T1" fmla="*/ 24 h 150"/>
                <a:gd name="T2" fmla="*/ 204 w 234"/>
                <a:gd name="T3" fmla="*/ 15 h 150"/>
                <a:gd name="T4" fmla="*/ 165 w 234"/>
                <a:gd name="T5" fmla="*/ 3 h 150"/>
                <a:gd name="T6" fmla="*/ 132 w 234"/>
                <a:gd name="T7" fmla="*/ 0 h 150"/>
                <a:gd name="T8" fmla="*/ 78 w 234"/>
                <a:gd name="T9" fmla="*/ 9 h 150"/>
                <a:gd name="T10" fmla="*/ 36 w 234"/>
                <a:gd name="T11" fmla="*/ 24 h 150"/>
                <a:gd name="T12" fmla="*/ 21 w 234"/>
                <a:gd name="T13" fmla="*/ 42 h 150"/>
                <a:gd name="T14" fmla="*/ 6 w 234"/>
                <a:gd name="T15" fmla="*/ 63 h 150"/>
                <a:gd name="T16" fmla="*/ 0 w 234"/>
                <a:gd name="T17" fmla="*/ 90 h 150"/>
                <a:gd name="T18" fmla="*/ 12 w 234"/>
                <a:gd name="T19" fmla="*/ 114 h 150"/>
                <a:gd name="T20" fmla="*/ 48 w 234"/>
                <a:gd name="T21" fmla="*/ 150 h 150"/>
                <a:gd name="T22" fmla="*/ 231 w 234"/>
                <a:gd name="T23" fmla="*/ 135 h 150"/>
                <a:gd name="T24" fmla="*/ 234 w 234"/>
                <a:gd name="T25" fmla="*/ 2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4" h="150">
                  <a:moveTo>
                    <a:pt x="234" y="24"/>
                  </a:moveTo>
                  <a:lnTo>
                    <a:pt x="204" y="15"/>
                  </a:lnTo>
                  <a:lnTo>
                    <a:pt x="165" y="3"/>
                  </a:lnTo>
                  <a:lnTo>
                    <a:pt x="132" y="0"/>
                  </a:lnTo>
                  <a:lnTo>
                    <a:pt x="78" y="9"/>
                  </a:lnTo>
                  <a:lnTo>
                    <a:pt x="36" y="24"/>
                  </a:lnTo>
                  <a:lnTo>
                    <a:pt x="21" y="42"/>
                  </a:lnTo>
                  <a:lnTo>
                    <a:pt x="6" y="63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48" y="150"/>
                  </a:lnTo>
                  <a:lnTo>
                    <a:pt x="231" y="135"/>
                  </a:lnTo>
                  <a:lnTo>
                    <a:pt x="234" y="24"/>
                  </a:lnTo>
                  <a:close/>
                </a:path>
              </a:pathLst>
            </a:custGeom>
            <a:gradFill rotWithShape="0">
              <a:gsLst>
                <a:gs pos="0">
                  <a:srgbClr val="FFCC00"/>
                </a:gs>
                <a:gs pos="100000">
                  <a:srgbClr val="765E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" name="Freeform 9"/>
            <p:cNvSpPr>
              <a:spLocks noChangeAspect="1" noChangeArrowheads="1"/>
            </p:cNvSpPr>
            <p:nvPr/>
          </p:nvSpPr>
          <p:spPr bwMode="auto">
            <a:xfrm>
              <a:off x="1572" y="2426"/>
              <a:ext cx="200" cy="136"/>
            </a:xfrm>
            <a:custGeom>
              <a:avLst/>
              <a:gdLst>
                <a:gd name="T0" fmla="*/ 52 w 200"/>
                <a:gd name="T1" fmla="*/ 116 h 136"/>
                <a:gd name="T2" fmla="*/ 48 w 200"/>
                <a:gd name="T3" fmla="*/ 80 h 136"/>
                <a:gd name="T4" fmla="*/ 60 w 200"/>
                <a:gd name="T5" fmla="*/ 59 h 136"/>
                <a:gd name="T6" fmla="*/ 99 w 200"/>
                <a:gd name="T7" fmla="*/ 56 h 136"/>
                <a:gd name="T8" fmla="*/ 153 w 200"/>
                <a:gd name="T9" fmla="*/ 62 h 136"/>
                <a:gd name="T10" fmla="*/ 200 w 200"/>
                <a:gd name="T11" fmla="*/ 24 h 136"/>
                <a:gd name="T12" fmla="*/ 174 w 200"/>
                <a:gd name="T13" fmla="*/ 8 h 136"/>
                <a:gd name="T14" fmla="*/ 140 w 200"/>
                <a:gd name="T15" fmla="*/ 0 h 136"/>
                <a:gd name="T16" fmla="*/ 96 w 200"/>
                <a:gd name="T17" fmla="*/ 0 h 136"/>
                <a:gd name="T18" fmla="*/ 48 w 200"/>
                <a:gd name="T19" fmla="*/ 8 h 136"/>
                <a:gd name="T20" fmla="*/ 0 w 200"/>
                <a:gd name="T21" fmla="*/ 41 h 136"/>
                <a:gd name="T22" fmla="*/ 4 w 200"/>
                <a:gd name="T23" fmla="*/ 136 h 136"/>
                <a:gd name="T24" fmla="*/ 52 w 200"/>
                <a:gd name="T25" fmla="*/ 11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0" h="136">
                  <a:moveTo>
                    <a:pt x="52" y="116"/>
                  </a:moveTo>
                  <a:lnTo>
                    <a:pt x="48" y="80"/>
                  </a:lnTo>
                  <a:lnTo>
                    <a:pt x="60" y="59"/>
                  </a:lnTo>
                  <a:lnTo>
                    <a:pt x="99" y="56"/>
                  </a:lnTo>
                  <a:lnTo>
                    <a:pt x="153" y="62"/>
                  </a:lnTo>
                  <a:lnTo>
                    <a:pt x="200" y="24"/>
                  </a:lnTo>
                  <a:lnTo>
                    <a:pt x="174" y="8"/>
                  </a:lnTo>
                  <a:lnTo>
                    <a:pt x="140" y="0"/>
                  </a:lnTo>
                  <a:lnTo>
                    <a:pt x="96" y="0"/>
                  </a:lnTo>
                  <a:lnTo>
                    <a:pt x="48" y="8"/>
                  </a:lnTo>
                  <a:lnTo>
                    <a:pt x="0" y="41"/>
                  </a:lnTo>
                  <a:lnTo>
                    <a:pt x="4" y="136"/>
                  </a:lnTo>
                  <a:lnTo>
                    <a:pt x="52" y="116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" name="Freeform 10"/>
            <p:cNvSpPr>
              <a:spLocks noChangeAspect="1" noChangeArrowheads="1"/>
            </p:cNvSpPr>
            <p:nvPr/>
          </p:nvSpPr>
          <p:spPr bwMode="auto">
            <a:xfrm>
              <a:off x="1876" y="1670"/>
              <a:ext cx="424" cy="196"/>
            </a:xfrm>
            <a:custGeom>
              <a:avLst/>
              <a:gdLst>
                <a:gd name="T0" fmla="*/ 0 w 424"/>
                <a:gd name="T1" fmla="*/ 116 h 196"/>
                <a:gd name="T2" fmla="*/ 40 w 424"/>
                <a:gd name="T3" fmla="*/ 48 h 196"/>
                <a:gd name="T4" fmla="*/ 92 w 424"/>
                <a:gd name="T5" fmla="*/ 28 h 196"/>
                <a:gd name="T6" fmla="*/ 124 w 424"/>
                <a:gd name="T7" fmla="*/ 16 h 196"/>
                <a:gd name="T8" fmla="*/ 180 w 424"/>
                <a:gd name="T9" fmla="*/ 4 h 196"/>
                <a:gd name="T10" fmla="*/ 244 w 424"/>
                <a:gd name="T11" fmla="*/ 0 h 196"/>
                <a:gd name="T12" fmla="*/ 320 w 424"/>
                <a:gd name="T13" fmla="*/ 8 h 196"/>
                <a:gd name="T14" fmla="*/ 380 w 424"/>
                <a:gd name="T15" fmla="*/ 20 h 196"/>
                <a:gd name="T16" fmla="*/ 424 w 424"/>
                <a:gd name="T17" fmla="*/ 36 h 196"/>
                <a:gd name="T18" fmla="*/ 424 w 424"/>
                <a:gd name="T19" fmla="*/ 144 h 196"/>
                <a:gd name="T20" fmla="*/ 32 w 424"/>
                <a:gd name="T21" fmla="*/ 196 h 196"/>
                <a:gd name="T22" fmla="*/ 0 w 424"/>
                <a:gd name="T23" fmla="*/ 11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4" h="196">
                  <a:moveTo>
                    <a:pt x="0" y="116"/>
                  </a:moveTo>
                  <a:lnTo>
                    <a:pt x="40" y="48"/>
                  </a:lnTo>
                  <a:lnTo>
                    <a:pt x="92" y="28"/>
                  </a:lnTo>
                  <a:lnTo>
                    <a:pt x="124" y="16"/>
                  </a:lnTo>
                  <a:lnTo>
                    <a:pt x="180" y="4"/>
                  </a:lnTo>
                  <a:lnTo>
                    <a:pt x="244" y="0"/>
                  </a:lnTo>
                  <a:lnTo>
                    <a:pt x="320" y="8"/>
                  </a:lnTo>
                  <a:lnTo>
                    <a:pt x="380" y="20"/>
                  </a:lnTo>
                  <a:lnTo>
                    <a:pt x="424" y="36"/>
                  </a:lnTo>
                  <a:lnTo>
                    <a:pt x="424" y="144"/>
                  </a:lnTo>
                  <a:lnTo>
                    <a:pt x="32" y="196"/>
                  </a:lnTo>
                  <a:lnTo>
                    <a:pt x="0" y="116"/>
                  </a:lnTo>
                  <a:close/>
                </a:path>
              </a:pathLst>
            </a:custGeom>
            <a:gradFill rotWithShape="0">
              <a:gsLst>
                <a:gs pos="0">
                  <a:srgbClr val="76762F"/>
                </a:gs>
                <a:gs pos="100000">
                  <a:srgbClr val="FFFF66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" name="Freeform 11"/>
            <p:cNvSpPr>
              <a:spLocks noChangeAspect="1" noChangeArrowheads="1"/>
            </p:cNvSpPr>
            <p:nvPr/>
          </p:nvSpPr>
          <p:spPr bwMode="auto">
            <a:xfrm>
              <a:off x="1908" y="1754"/>
              <a:ext cx="400" cy="260"/>
            </a:xfrm>
            <a:custGeom>
              <a:avLst/>
              <a:gdLst>
                <a:gd name="T0" fmla="*/ 296 w 400"/>
                <a:gd name="T1" fmla="*/ 80 h 260"/>
                <a:gd name="T2" fmla="*/ 332 w 400"/>
                <a:gd name="T3" fmla="*/ 59 h 260"/>
                <a:gd name="T4" fmla="*/ 369 w 400"/>
                <a:gd name="T5" fmla="*/ 80 h 260"/>
                <a:gd name="T6" fmla="*/ 400 w 400"/>
                <a:gd name="T7" fmla="*/ 62 h 260"/>
                <a:gd name="T8" fmla="*/ 332 w 400"/>
                <a:gd name="T9" fmla="*/ 24 h 260"/>
                <a:gd name="T10" fmla="*/ 288 w 400"/>
                <a:gd name="T11" fmla="*/ 12 h 260"/>
                <a:gd name="T12" fmla="*/ 216 w 400"/>
                <a:gd name="T13" fmla="*/ 0 h 260"/>
                <a:gd name="T14" fmla="*/ 152 w 400"/>
                <a:gd name="T15" fmla="*/ 8 h 260"/>
                <a:gd name="T16" fmla="*/ 96 w 400"/>
                <a:gd name="T17" fmla="*/ 28 h 260"/>
                <a:gd name="T18" fmla="*/ 52 w 400"/>
                <a:gd name="T19" fmla="*/ 48 h 260"/>
                <a:gd name="T20" fmla="*/ 8 w 400"/>
                <a:gd name="T21" fmla="*/ 88 h 260"/>
                <a:gd name="T22" fmla="*/ 0 w 400"/>
                <a:gd name="T23" fmla="*/ 120 h 260"/>
                <a:gd name="T24" fmla="*/ 20 w 400"/>
                <a:gd name="T25" fmla="*/ 140 h 260"/>
                <a:gd name="T26" fmla="*/ 52 w 400"/>
                <a:gd name="T27" fmla="*/ 156 h 260"/>
                <a:gd name="T28" fmla="*/ 52 w 400"/>
                <a:gd name="T29" fmla="*/ 260 h 260"/>
                <a:gd name="T30" fmla="*/ 100 w 400"/>
                <a:gd name="T31" fmla="*/ 232 h 260"/>
                <a:gd name="T32" fmla="*/ 296 w 400"/>
                <a:gd name="T33" fmla="*/ 8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0" h="260">
                  <a:moveTo>
                    <a:pt x="296" y="80"/>
                  </a:moveTo>
                  <a:lnTo>
                    <a:pt x="332" y="59"/>
                  </a:lnTo>
                  <a:lnTo>
                    <a:pt x="369" y="80"/>
                  </a:lnTo>
                  <a:lnTo>
                    <a:pt x="400" y="62"/>
                  </a:lnTo>
                  <a:lnTo>
                    <a:pt x="332" y="24"/>
                  </a:lnTo>
                  <a:lnTo>
                    <a:pt x="288" y="12"/>
                  </a:lnTo>
                  <a:lnTo>
                    <a:pt x="216" y="0"/>
                  </a:lnTo>
                  <a:lnTo>
                    <a:pt x="152" y="8"/>
                  </a:lnTo>
                  <a:lnTo>
                    <a:pt x="96" y="28"/>
                  </a:lnTo>
                  <a:lnTo>
                    <a:pt x="52" y="48"/>
                  </a:lnTo>
                  <a:lnTo>
                    <a:pt x="8" y="88"/>
                  </a:lnTo>
                  <a:lnTo>
                    <a:pt x="0" y="120"/>
                  </a:lnTo>
                  <a:lnTo>
                    <a:pt x="20" y="140"/>
                  </a:lnTo>
                  <a:lnTo>
                    <a:pt x="52" y="156"/>
                  </a:lnTo>
                  <a:lnTo>
                    <a:pt x="52" y="260"/>
                  </a:lnTo>
                  <a:lnTo>
                    <a:pt x="100" y="232"/>
                  </a:lnTo>
                  <a:lnTo>
                    <a:pt x="296" y="80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" name="Freeform 12"/>
            <p:cNvSpPr>
              <a:spLocks noChangeAspect="1" noChangeArrowheads="1"/>
            </p:cNvSpPr>
            <p:nvPr/>
          </p:nvSpPr>
          <p:spPr bwMode="auto">
            <a:xfrm>
              <a:off x="2244" y="1806"/>
              <a:ext cx="34" cy="536"/>
            </a:xfrm>
            <a:custGeom>
              <a:avLst/>
              <a:gdLst>
                <a:gd name="T0" fmla="*/ 0 w 34"/>
                <a:gd name="T1" fmla="*/ 0 h 536"/>
                <a:gd name="T2" fmla="*/ 0 w 34"/>
                <a:gd name="T3" fmla="*/ 516 h 536"/>
                <a:gd name="T4" fmla="*/ 28 w 34"/>
                <a:gd name="T5" fmla="*/ 536 h 536"/>
                <a:gd name="T6" fmla="*/ 34 w 34"/>
                <a:gd name="T7" fmla="*/ 20 h 536"/>
                <a:gd name="T8" fmla="*/ 0 w 34"/>
                <a:gd name="T9" fmla="*/ 0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536">
                  <a:moveTo>
                    <a:pt x="0" y="0"/>
                  </a:moveTo>
                  <a:lnTo>
                    <a:pt x="0" y="516"/>
                  </a:lnTo>
                  <a:lnTo>
                    <a:pt x="28" y="536"/>
                  </a:lnTo>
                  <a:lnTo>
                    <a:pt x="34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" name="Freeform 13"/>
            <p:cNvSpPr>
              <a:spLocks noChangeAspect="1" noChangeArrowheads="1"/>
            </p:cNvSpPr>
            <p:nvPr/>
          </p:nvSpPr>
          <p:spPr bwMode="auto">
            <a:xfrm>
              <a:off x="2204" y="1810"/>
              <a:ext cx="44" cy="524"/>
            </a:xfrm>
            <a:custGeom>
              <a:avLst/>
              <a:gdLst>
                <a:gd name="T0" fmla="*/ 0 w 44"/>
                <a:gd name="T1" fmla="*/ 20 h 524"/>
                <a:gd name="T2" fmla="*/ 0 w 44"/>
                <a:gd name="T3" fmla="*/ 524 h 524"/>
                <a:gd name="T4" fmla="*/ 44 w 44"/>
                <a:gd name="T5" fmla="*/ 508 h 524"/>
                <a:gd name="T6" fmla="*/ 44 w 44"/>
                <a:gd name="T7" fmla="*/ 0 h 524"/>
                <a:gd name="T8" fmla="*/ 0 w 44"/>
                <a:gd name="T9" fmla="*/ 2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24">
                  <a:moveTo>
                    <a:pt x="0" y="20"/>
                  </a:moveTo>
                  <a:lnTo>
                    <a:pt x="0" y="524"/>
                  </a:lnTo>
                  <a:lnTo>
                    <a:pt x="44" y="508"/>
                  </a:lnTo>
                  <a:lnTo>
                    <a:pt x="44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" name="Freeform 14"/>
            <p:cNvSpPr>
              <a:spLocks noChangeAspect="1" noChangeArrowheads="1"/>
            </p:cNvSpPr>
            <p:nvPr/>
          </p:nvSpPr>
          <p:spPr bwMode="auto">
            <a:xfrm>
              <a:off x="1972" y="1810"/>
              <a:ext cx="236" cy="548"/>
            </a:xfrm>
            <a:custGeom>
              <a:avLst/>
              <a:gdLst>
                <a:gd name="T0" fmla="*/ 44 w 236"/>
                <a:gd name="T1" fmla="*/ 176 h 548"/>
                <a:gd name="T2" fmla="*/ 44 w 236"/>
                <a:gd name="T3" fmla="*/ 548 h 548"/>
                <a:gd name="T4" fmla="*/ 84 w 236"/>
                <a:gd name="T5" fmla="*/ 532 h 548"/>
                <a:gd name="T6" fmla="*/ 128 w 236"/>
                <a:gd name="T7" fmla="*/ 524 h 548"/>
                <a:gd name="T8" fmla="*/ 176 w 236"/>
                <a:gd name="T9" fmla="*/ 520 h 548"/>
                <a:gd name="T10" fmla="*/ 236 w 236"/>
                <a:gd name="T11" fmla="*/ 528 h 548"/>
                <a:gd name="T12" fmla="*/ 236 w 236"/>
                <a:gd name="T13" fmla="*/ 20 h 548"/>
                <a:gd name="T14" fmla="*/ 188 w 236"/>
                <a:gd name="T15" fmla="*/ 8 h 548"/>
                <a:gd name="T16" fmla="*/ 136 w 236"/>
                <a:gd name="T17" fmla="*/ 0 h 548"/>
                <a:gd name="T18" fmla="*/ 72 w 236"/>
                <a:gd name="T19" fmla="*/ 8 h 548"/>
                <a:gd name="T20" fmla="*/ 28 w 236"/>
                <a:gd name="T21" fmla="*/ 36 h 548"/>
                <a:gd name="T22" fmla="*/ 4 w 236"/>
                <a:gd name="T23" fmla="*/ 64 h 548"/>
                <a:gd name="T24" fmla="*/ 0 w 236"/>
                <a:gd name="T25" fmla="*/ 100 h 548"/>
                <a:gd name="T26" fmla="*/ 8 w 236"/>
                <a:gd name="T27" fmla="*/ 128 h 548"/>
                <a:gd name="T28" fmla="*/ 16 w 236"/>
                <a:gd name="T29" fmla="*/ 148 h 548"/>
                <a:gd name="T30" fmla="*/ 44 w 236"/>
                <a:gd name="T31" fmla="*/ 176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6" h="548">
                  <a:moveTo>
                    <a:pt x="44" y="176"/>
                  </a:moveTo>
                  <a:lnTo>
                    <a:pt x="44" y="548"/>
                  </a:lnTo>
                  <a:lnTo>
                    <a:pt x="84" y="532"/>
                  </a:lnTo>
                  <a:lnTo>
                    <a:pt x="128" y="524"/>
                  </a:lnTo>
                  <a:lnTo>
                    <a:pt x="176" y="520"/>
                  </a:lnTo>
                  <a:lnTo>
                    <a:pt x="236" y="528"/>
                  </a:lnTo>
                  <a:lnTo>
                    <a:pt x="236" y="20"/>
                  </a:lnTo>
                  <a:lnTo>
                    <a:pt x="188" y="8"/>
                  </a:lnTo>
                  <a:lnTo>
                    <a:pt x="136" y="0"/>
                  </a:lnTo>
                  <a:lnTo>
                    <a:pt x="72" y="8"/>
                  </a:lnTo>
                  <a:lnTo>
                    <a:pt x="28" y="36"/>
                  </a:lnTo>
                  <a:lnTo>
                    <a:pt x="4" y="64"/>
                  </a:lnTo>
                  <a:lnTo>
                    <a:pt x="0" y="100"/>
                  </a:lnTo>
                  <a:lnTo>
                    <a:pt x="8" y="128"/>
                  </a:lnTo>
                  <a:lnTo>
                    <a:pt x="16" y="148"/>
                  </a:lnTo>
                  <a:lnTo>
                    <a:pt x="44" y="176"/>
                  </a:lnTo>
                  <a:close/>
                </a:path>
              </a:pathLst>
            </a:custGeom>
            <a:gradFill rotWithShape="0">
              <a:gsLst>
                <a:gs pos="0">
                  <a:srgbClr val="765E00"/>
                </a:gs>
                <a:gs pos="100000">
                  <a:srgbClr val="FFCC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" name="Freeform 15"/>
            <p:cNvSpPr>
              <a:spLocks noChangeAspect="1" noChangeArrowheads="1"/>
            </p:cNvSpPr>
            <p:nvPr/>
          </p:nvSpPr>
          <p:spPr bwMode="auto">
            <a:xfrm>
              <a:off x="1800" y="1602"/>
              <a:ext cx="588" cy="376"/>
            </a:xfrm>
            <a:custGeom>
              <a:avLst/>
              <a:gdLst>
                <a:gd name="T0" fmla="*/ 588 w 588"/>
                <a:gd name="T1" fmla="*/ 72 h 376"/>
                <a:gd name="T2" fmla="*/ 520 w 588"/>
                <a:gd name="T3" fmla="*/ 36 h 376"/>
                <a:gd name="T4" fmla="*/ 468 w 588"/>
                <a:gd name="T5" fmla="*/ 20 h 376"/>
                <a:gd name="T6" fmla="*/ 412 w 588"/>
                <a:gd name="T7" fmla="*/ 8 h 376"/>
                <a:gd name="T8" fmla="*/ 336 w 588"/>
                <a:gd name="T9" fmla="*/ 0 h 376"/>
                <a:gd name="T10" fmla="*/ 244 w 588"/>
                <a:gd name="T11" fmla="*/ 8 h 376"/>
                <a:gd name="T12" fmla="*/ 148 w 588"/>
                <a:gd name="T13" fmla="*/ 36 h 376"/>
                <a:gd name="T14" fmla="*/ 88 w 588"/>
                <a:gd name="T15" fmla="*/ 64 h 376"/>
                <a:gd name="T16" fmla="*/ 48 w 588"/>
                <a:gd name="T17" fmla="*/ 96 h 376"/>
                <a:gd name="T18" fmla="*/ 24 w 588"/>
                <a:gd name="T19" fmla="*/ 124 h 376"/>
                <a:gd name="T20" fmla="*/ 4 w 588"/>
                <a:gd name="T21" fmla="*/ 168 h 376"/>
                <a:gd name="T22" fmla="*/ 0 w 588"/>
                <a:gd name="T23" fmla="*/ 214 h 376"/>
                <a:gd name="T24" fmla="*/ 8 w 588"/>
                <a:gd name="T25" fmla="*/ 268 h 376"/>
                <a:gd name="T26" fmla="*/ 24 w 588"/>
                <a:gd name="T27" fmla="*/ 304 h 376"/>
                <a:gd name="T28" fmla="*/ 40 w 588"/>
                <a:gd name="T29" fmla="*/ 332 h 376"/>
                <a:gd name="T30" fmla="*/ 76 w 588"/>
                <a:gd name="T31" fmla="*/ 376 h 376"/>
                <a:gd name="T32" fmla="*/ 168 w 588"/>
                <a:gd name="T33" fmla="*/ 323 h 376"/>
                <a:gd name="T34" fmla="*/ 136 w 588"/>
                <a:gd name="T35" fmla="*/ 296 h 376"/>
                <a:gd name="T36" fmla="*/ 112 w 588"/>
                <a:gd name="T37" fmla="*/ 280 h 376"/>
                <a:gd name="T38" fmla="*/ 96 w 588"/>
                <a:gd name="T39" fmla="*/ 236 h 376"/>
                <a:gd name="T40" fmla="*/ 100 w 588"/>
                <a:gd name="T41" fmla="*/ 180 h 376"/>
                <a:gd name="T42" fmla="*/ 132 w 588"/>
                <a:gd name="T43" fmla="*/ 128 h 376"/>
                <a:gd name="T44" fmla="*/ 188 w 588"/>
                <a:gd name="T45" fmla="*/ 92 h 376"/>
                <a:gd name="T46" fmla="*/ 240 w 588"/>
                <a:gd name="T47" fmla="*/ 76 h 376"/>
                <a:gd name="T48" fmla="*/ 308 w 588"/>
                <a:gd name="T49" fmla="*/ 68 h 376"/>
                <a:gd name="T50" fmla="*/ 376 w 588"/>
                <a:gd name="T51" fmla="*/ 76 h 376"/>
                <a:gd name="T52" fmla="*/ 432 w 588"/>
                <a:gd name="T53" fmla="*/ 88 h 376"/>
                <a:gd name="T54" fmla="*/ 508 w 588"/>
                <a:gd name="T55" fmla="*/ 112 h 376"/>
                <a:gd name="T56" fmla="*/ 588 w 588"/>
                <a:gd name="T57" fmla="*/ 72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88" h="376">
                  <a:moveTo>
                    <a:pt x="588" y="72"/>
                  </a:moveTo>
                  <a:lnTo>
                    <a:pt x="520" y="36"/>
                  </a:lnTo>
                  <a:lnTo>
                    <a:pt x="468" y="20"/>
                  </a:lnTo>
                  <a:lnTo>
                    <a:pt x="412" y="8"/>
                  </a:lnTo>
                  <a:lnTo>
                    <a:pt x="336" y="0"/>
                  </a:lnTo>
                  <a:lnTo>
                    <a:pt x="244" y="8"/>
                  </a:lnTo>
                  <a:lnTo>
                    <a:pt x="148" y="36"/>
                  </a:lnTo>
                  <a:lnTo>
                    <a:pt x="88" y="64"/>
                  </a:lnTo>
                  <a:lnTo>
                    <a:pt x="48" y="96"/>
                  </a:lnTo>
                  <a:lnTo>
                    <a:pt x="24" y="124"/>
                  </a:lnTo>
                  <a:lnTo>
                    <a:pt x="4" y="168"/>
                  </a:lnTo>
                  <a:lnTo>
                    <a:pt x="0" y="214"/>
                  </a:lnTo>
                  <a:lnTo>
                    <a:pt x="8" y="268"/>
                  </a:lnTo>
                  <a:lnTo>
                    <a:pt x="24" y="304"/>
                  </a:lnTo>
                  <a:lnTo>
                    <a:pt x="40" y="332"/>
                  </a:lnTo>
                  <a:lnTo>
                    <a:pt x="76" y="376"/>
                  </a:lnTo>
                  <a:lnTo>
                    <a:pt x="168" y="323"/>
                  </a:lnTo>
                  <a:lnTo>
                    <a:pt x="136" y="296"/>
                  </a:lnTo>
                  <a:lnTo>
                    <a:pt x="112" y="280"/>
                  </a:lnTo>
                  <a:lnTo>
                    <a:pt x="96" y="236"/>
                  </a:lnTo>
                  <a:lnTo>
                    <a:pt x="100" y="180"/>
                  </a:lnTo>
                  <a:lnTo>
                    <a:pt x="132" y="128"/>
                  </a:lnTo>
                  <a:lnTo>
                    <a:pt x="188" y="92"/>
                  </a:lnTo>
                  <a:lnTo>
                    <a:pt x="240" y="76"/>
                  </a:lnTo>
                  <a:lnTo>
                    <a:pt x="308" y="68"/>
                  </a:lnTo>
                  <a:lnTo>
                    <a:pt x="376" y="76"/>
                  </a:lnTo>
                  <a:lnTo>
                    <a:pt x="432" y="88"/>
                  </a:lnTo>
                  <a:lnTo>
                    <a:pt x="508" y="112"/>
                  </a:lnTo>
                  <a:lnTo>
                    <a:pt x="588" y="72"/>
                  </a:lnTo>
                  <a:close/>
                </a:path>
              </a:pathLst>
            </a:custGeom>
            <a:solidFill>
              <a:srgbClr val="FF3300"/>
            </a:solidFill>
            <a:ln w="12700">
              <a:solidFill>
                <a:srgbClr val="FF3300"/>
              </a:solidFill>
              <a:round/>
              <a:headEnd type="none" w="sm" len="lg"/>
              <a:tailEnd type="none" w="sm" len="lg"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" name="Freeform 16"/>
            <p:cNvSpPr>
              <a:spLocks noChangeAspect="1" noChangeArrowheads="1"/>
            </p:cNvSpPr>
            <p:nvPr/>
          </p:nvSpPr>
          <p:spPr bwMode="auto">
            <a:xfrm>
              <a:off x="1167" y="2486"/>
              <a:ext cx="321" cy="368"/>
            </a:xfrm>
            <a:custGeom>
              <a:avLst/>
              <a:gdLst>
                <a:gd name="T0" fmla="*/ 5 w 321"/>
                <a:gd name="T1" fmla="*/ 84 h 368"/>
                <a:gd name="T2" fmla="*/ 0 w 321"/>
                <a:gd name="T3" fmla="*/ 368 h 368"/>
                <a:gd name="T4" fmla="*/ 89 w 321"/>
                <a:gd name="T5" fmla="*/ 324 h 368"/>
                <a:gd name="T6" fmla="*/ 133 w 321"/>
                <a:gd name="T7" fmla="*/ 304 h 368"/>
                <a:gd name="T8" fmla="*/ 181 w 321"/>
                <a:gd name="T9" fmla="*/ 284 h 368"/>
                <a:gd name="T10" fmla="*/ 221 w 321"/>
                <a:gd name="T11" fmla="*/ 280 h 368"/>
                <a:gd name="T12" fmla="*/ 261 w 321"/>
                <a:gd name="T13" fmla="*/ 288 h 368"/>
                <a:gd name="T14" fmla="*/ 285 w 321"/>
                <a:gd name="T15" fmla="*/ 296 h 368"/>
                <a:gd name="T16" fmla="*/ 321 w 321"/>
                <a:gd name="T17" fmla="*/ 320 h 368"/>
                <a:gd name="T18" fmla="*/ 321 w 321"/>
                <a:gd name="T19" fmla="*/ 20 h 368"/>
                <a:gd name="T20" fmla="*/ 281 w 321"/>
                <a:gd name="T21" fmla="*/ 8 h 368"/>
                <a:gd name="T22" fmla="*/ 225 w 321"/>
                <a:gd name="T23" fmla="*/ 0 h 368"/>
                <a:gd name="T24" fmla="*/ 173 w 321"/>
                <a:gd name="T25" fmla="*/ 4 h 368"/>
                <a:gd name="T26" fmla="*/ 109 w 321"/>
                <a:gd name="T27" fmla="*/ 24 h 368"/>
                <a:gd name="T28" fmla="*/ 5 w 321"/>
                <a:gd name="T29" fmla="*/ 84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1" h="368">
                  <a:moveTo>
                    <a:pt x="5" y="84"/>
                  </a:moveTo>
                  <a:lnTo>
                    <a:pt x="0" y="368"/>
                  </a:lnTo>
                  <a:lnTo>
                    <a:pt x="89" y="324"/>
                  </a:lnTo>
                  <a:lnTo>
                    <a:pt x="133" y="304"/>
                  </a:lnTo>
                  <a:lnTo>
                    <a:pt x="181" y="284"/>
                  </a:lnTo>
                  <a:lnTo>
                    <a:pt x="221" y="280"/>
                  </a:lnTo>
                  <a:lnTo>
                    <a:pt x="261" y="288"/>
                  </a:lnTo>
                  <a:lnTo>
                    <a:pt x="285" y="296"/>
                  </a:lnTo>
                  <a:lnTo>
                    <a:pt x="321" y="320"/>
                  </a:lnTo>
                  <a:lnTo>
                    <a:pt x="321" y="20"/>
                  </a:lnTo>
                  <a:lnTo>
                    <a:pt x="281" y="8"/>
                  </a:lnTo>
                  <a:lnTo>
                    <a:pt x="225" y="0"/>
                  </a:lnTo>
                  <a:lnTo>
                    <a:pt x="173" y="4"/>
                  </a:lnTo>
                  <a:lnTo>
                    <a:pt x="109" y="24"/>
                  </a:lnTo>
                  <a:lnTo>
                    <a:pt x="5" y="84"/>
                  </a:lnTo>
                  <a:close/>
                </a:path>
              </a:pathLst>
            </a:custGeom>
            <a:gradFill rotWithShape="0">
              <a:gsLst>
                <a:gs pos="0">
                  <a:srgbClr val="FFCC00"/>
                </a:gs>
                <a:gs pos="100000">
                  <a:srgbClr val="A886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" name="Freeform 17"/>
            <p:cNvSpPr>
              <a:spLocks noChangeAspect="1" noChangeArrowheads="1"/>
            </p:cNvSpPr>
            <p:nvPr/>
          </p:nvSpPr>
          <p:spPr bwMode="auto">
            <a:xfrm>
              <a:off x="2276" y="1674"/>
              <a:ext cx="112" cy="660"/>
            </a:xfrm>
            <a:custGeom>
              <a:avLst/>
              <a:gdLst>
                <a:gd name="T0" fmla="*/ 32 w 112"/>
                <a:gd name="T1" fmla="*/ 36 h 660"/>
                <a:gd name="T2" fmla="*/ 32 w 112"/>
                <a:gd name="T3" fmla="*/ 136 h 660"/>
                <a:gd name="T4" fmla="*/ 0 w 112"/>
                <a:gd name="T5" fmla="*/ 156 h 660"/>
                <a:gd name="T6" fmla="*/ 0 w 112"/>
                <a:gd name="T7" fmla="*/ 660 h 660"/>
                <a:gd name="T8" fmla="*/ 112 w 112"/>
                <a:gd name="T9" fmla="*/ 608 h 660"/>
                <a:gd name="T10" fmla="*/ 112 w 112"/>
                <a:gd name="T11" fmla="*/ 0 h 660"/>
                <a:gd name="T12" fmla="*/ 32 w 112"/>
                <a:gd name="T13" fmla="*/ 36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" h="660">
                  <a:moveTo>
                    <a:pt x="32" y="36"/>
                  </a:moveTo>
                  <a:lnTo>
                    <a:pt x="32" y="136"/>
                  </a:lnTo>
                  <a:lnTo>
                    <a:pt x="0" y="156"/>
                  </a:lnTo>
                  <a:lnTo>
                    <a:pt x="0" y="660"/>
                  </a:lnTo>
                  <a:lnTo>
                    <a:pt x="112" y="608"/>
                  </a:lnTo>
                  <a:lnTo>
                    <a:pt x="112" y="0"/>
                  </a:lnTo>
                  <a:lnTo>
                    <a:pt x="32" y="36"/>
                  </a:lnTo>
                  <a:close/>
                </a:path>
              </a:pathLst>
            </a:custGeom>
            <a:solidFill>
              <a:srgbClr val="FF66FF"/>
            </a:solidFill>
            <a:ln w="28575">
              <a:solidFill>
                <a:schemeClr val="tx1"/>
              </a:solidFill>
              <a:round/>
              <a:headEnd type="none" w="sm" len="lg"/>
              <a:tailEnd type="none" w="sm" len="lg"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" name="Freeform 18"/>
            <p:cNvSpPr>
              <a:spLocks noChangeAspect="1" noChangeArrowheads="1"/>
            </p:cNvSpPr>
            <p:nvPr/>
          </p:nvSpPr>
          <p:spPr bwMode="auto">
            <a:xfrm>
              <a:off x="1020" y="2482"/>
              <a:ext cx="153" cy="372"/>
            </a:xfrm>
            <a:custGeom>
              <a:avLst/>
              <a:gdLst>
                <a:gd name="T0" fmla="*/ 0 w 153"/>
                <a:gd name="T1" fmla="*/ 0 h 372"/>
                <a:gd name="T2" fmla="*/ 152 w 153"/>
                <a:gd name="T3" fmla="*/ 88 h 372"/>
                <a:gd name="T4" fmla="*/ 153 w 153"/>
                <a:gd name="T5" fmla="*/ 372 h 372"/>
                <a:gd name="T6" fmla="*/ 0 w 153"/>
                <a:gd name="T7" fmla="*/ 296 h 372"/>
                <a:gd name="T8" fmla="*/ 0 w 153"/>
                <a:gd name="T9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3" h="372">
                  <a:moveTo>
                    <a:pt x="0" y="0"/>
                  </a:moveTo>
                  <a:lnTo>
                    <a:pt x="152" y="88"/>
                  </a:lnTo>
                  <a:lnTo>
                    <a:pt x="153" y="372"/>
                  </a:lnTo>
                  <a:lnTo>
                    <a:pt x="0" y="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" name="Freeform 19"/>
            <p:cNvSpPr>
              <a:spLocks noChangeAspect="1" noChangeArrowheads="1"/>
            </p:cNvSpPr>
            <p:nvPr/>
          </p:nvSpPr>
          <p:spPr bwMode="auto">
            <a:xfrm>
              <a:off x="1484" y="2458"/>
              <a:ext cx="136" cy="336"/>
            </a:xfrm>
            <a:custGeom>
              <a:avLst/>
              <a:gdLst>
                <a:gd name="T0" fmla="*/ 0 w 136"/>
                <a:gd name="T1" fmla="*/ 48 h 336"/>
                <a:gd name="T2" fmla="*/ 88 w 136"/>
                <a:gd name="T3" fmla="*/ 0 h 336"/>
                <a:gd name="T4" fmla="*/ 88 w 136"/>
                <a:gd name="T5" fmla="*/ 108 h 336"/>
                <a:gd name="T6" fmla="*/ 136 w 136"/>
                <a:gd name="T7" fmla="*/ 84 h 336"/>
                <a:gd name="T8" fmla="*/ 136 w 136"/>
                <a:gd name="T9" fmla="*/ 256 h 336"/>
                <a:gd name="T10" fmla="*/ 0 w 136"/>
                <a:gd name="T11" fmla="*/ 336 h 336"/>
                <a:gd name="T12" fmla="*/ 0 w 136"/>
                <a:gd name="T13" fmla="*/ 48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336">
                  <a:moveTo>
                    <a:pt x="0" y="48"/>
                  </a:moveTo>
                  <a:lnTo>
                    <a:pt x="88" y="0"/>
                  </a:lnTo>
                  <a:lnTo>
                    <a:pt x="88" y="108"/>
                  </a:lnTo>
                  <a:lnTo>
                    <a:pt x="136" y="84"/>
                  </a:lnTo>
                  <a:lnTo>
                    <a:pt x="136" y="256"/>
                  </a:lnTo>
                  <a:lnTo>
                    <a:pt x="0" y="336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99FF"/>
            </a:solidFill>
            <a:ln w="28575">
              <a:solidFill>
                <a:schemeClr val="tx1"/>
              </a:solidFill>
              <a:round/>
              <a:headEnd type="none" w="sm" len="lg"/>
              <a:tailEnd type="none" w="sm" len="lg"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" name="Freeform 20"/>
            <p:cNvSpPr>
              <a:spLocks noChangeAspect="1" noChangeArrowheads="1"/>
            </p:cNvSpPr>
            <p:nvPr/>
          </p:nvSpPr>
          <p:spPr bwMode="auto">
            <a:xfrm>
              <a:off x="1723" y="1926"/>
              <a:ext cx="293" cy="732"/>
            </a:xfrm>
            <a:custGeom>
              <a:avLst/>
              <a:gdLst>
                <a:gd name="T0" fmla="*/ 149 w 293"/>
                <a:gd name="T1" fmla="*/ 40 h 732"/>
                <a:gd name="T2" fmla="*/ 149 w 293"/>
                <a:gd name="T3" fmla="*/ 356 h 732"/>
                <a:gd name="T4" fmla="*/ 49 w 293"/>
                <a:gd name="T5" fmla="*/ 414 h 732"/>
                <a:gd name="T6" fmla="*/ 49 w 293"/>
                <a:gd name="T7" fmla="*/ 532 h 732"/>
                <a:gd name="T8" fmla="*/ 0 w 293"/>
                <a:gd name="T9" fmla="*/ 560 h 732"/>
                <a:gd name="T10" fmla="*/ 0 w 293"/>
                <a:gd name="T11" fmla="*/ 732 h 732"/>
                <a:gd name="T12" fmla="*/ 293 w 293"/>
                <a:gd name="T13" fmla="*/ 563 h 732"/>
                <a:gd name="T14" fmla="*/ 293 w 293"/>
                <a:gd name="T15" fmla="*/ 56 h 732"/>
                <a:gd name="T16" fmla="*/ 237 w 293"/>
                <a:gd name="T17" fmla="*/ 88 h 732"/>
                <a:gd name="T18" fmla="*/ 237 w 293"/>
                <a:gd name="T19" fmla="*/ 0 h 732"/>
                <a:gd name="T20" fmla="*/ 149 w 293"/>
                <a:gd name="T21" fmla="*/ 40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732">
                  <a:moveTo>
                    <a:pt x="149" y="40"/>
                  </a:moveTo>
                  <a:lnTo>
                    <a:pt x="149" y="356"/>
                  </a:lnTo>
                  <a:lnTo>
                    <a:pt x="49" y="414"/>
                  </a:lnTo>
                  <a:lnTo>
                    <a:pt x="49" y="532"/>
                  </a:lnTo>
                  <a:lnTo>
                    <a:pt x="0" y="560"/>
                  </a:lnTo>
                  <a:lnTo>
                    <a:pt x="0" y="732"/>
                  </a:lnTo>
                  <a:lnTo>
                    <a:pt x="293" y="563"/>
                  </a:lnTo>
                  <a:lnTo>
                    <a:pt x="293" y="56"/>
                  </a:lnTo>
                  <a:lnTo>
                    <a:pt x="237" y="88"/>
                  </a:lnTo>
                  <a:lnTo>
                    <a:pt x="237" y="0"/>
                  </a:lnTo>
                  <a:lnTo>
                    <a:pt x="149" y="40"/>
                  </a:lnTo>
                  <a:close/>
                </a:path>
              </a:pathLst>
            </a:custGeom>
            <a:solidFill>
              <a:srgbClr val="FF99FF"/>
            </a:solidFill>
            <a:ln w="28575">
              <a:solidFill>
                <a:schemeClr val="tx1"/>
              </a:solidFill>
              <a:round/>
              <a:headEnd type="none" w="sm" len="lg"/>
              <a:tailEnd type="none" w="sm" len="lg"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" name="Freeform 21"/>
            <p:cNvSpPr>
              <a:spLocks noChangeAspect="1" noChangeArrowheads="1"/>
            </p:cNvSpPr>
            <p:nvPr/>
          </p:nvSpPr>
          <p:spPr bwMode="auto">
            <a:xfrm>
              <a:off x="1723" y="2146"/>
              <a:ext cx="295" cy="511"/>
            </a:xfrm>
            <a:custGeom>
              <a:avLst/>
              <a:gdLst>
                <a:gd name="T0" fmla="*/ 0 w 885"/>
                <a:gd name="T1" fmla="*/ 1531 h 1531"/>
                <a:gd name="T2" fmla="*/ 884 w 885"/>
                <a:gd name="T3" fmla="*/ 0 h 1531"/>
                <a:gd name="T4" fmla="*/ 885 w 885"/>
                <a:gd name="T5" fmla="*/ 0 h 1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5" h="1531">
                  <a:moveTo>
                    <a:pt x="0" y="1531"/>
                  </a:moveTo>
                  <a:lnTo>
                    <a:pt x="884" y="0"/>
                  </a:lnTo>
                  <a:lnTo>
                    <a:pt x="885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" name="Freeform 22"/>
            <p:cNvSpPr>
              <a:spLocks noChangeAspect="1" noChangeArrowheads="1"/>
            </p:cNvSpPr>
            <p:nvPr/>
          </p:nvSpPr>
          <p:spPr bwMode="auto">
            <a:xfrm>
              <a:off x="1834" y="2274"/>
              <a:ext cx="184" cy="319"/>
            </a:xfrm>
            <a:custGeom>
              <a:avLst/>
              <a:gdLst>
                <a:gd name="T0" fmla="*/ 0 w 552"/>
                <a:gd name="T1" fmla="*/ 957 h 957"/>
                <a:gd name="T2" fmla="*/ 551 w 552"/>
                <a:gd name="T3" fmla="*/ 0 h 957"/>
                <a:gd name="T4" fmla="*/ 552 w 552"/>
                <a:gd name="T5" fmla="*/ 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2" h="957">
                  <a:moveTo>
                    <a:pt x="0" y="957"/>
                  </a:moveTo>
                  <a:lnTo>
                    <a:pt x="551" y="0"/>
                  </a:lnTo>
                  <a:lnTo>
                    <a:pt x="552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" name="Freeform 23"/>
            <p:cNvSpPr>
              <a:spLocks noChangeAspect="1" noChangeArrowheads="1"/>
            </p:cNvSpPr>
            <p:nvPr/>
          </p:nvSpPr>
          <p:spPr bwMode="auto">
            <a:xfrm>
              <a:off x="1944" y="2402"/>
              <a:ext cx="74" cy="127"/>
            </a:xfrm>
            <a:custGeom>
              <a:avLst/>
              <a:gdLst>
                <a:gd name="T0" fmla="*/ 0 w 221"/>
                <a:gd name="T1" fmla="*/ 380 h 380"/>
                <a:gd name="T2" fmla="*/ 220 w 221"/>
                <a:gd name="T3" fmla="*/ 0 h 380"/>
                <a:gd name="T4" fmla="*/ 221 w 221"/>
                <a:gd name="T5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1" h="380">
                  <a:moveTo>
                    <a:pt x="0" y="380"/>
                  </a:moveTo>
                  <a:lnTo>
                    <a:pt x="220" y="0"/>
                  </a:lnTo>
                  <a:lnTo>
                    <a:pt x="221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5" name="Freeform 24"/>
            <p:cNvSpPr>
              <a:spLocks noChangeAspect="1" noChangeArrowheads="1"/>
            </p:cNvSpPr>
            <p:nvPr/>
          </p:nvSpPr>
          <p:spPr bwMode="auto">
            <a:xfrm>
              <a:off x="1723" y="2461"/>
              <a:ext cx="40" cy="68"/>
            </a:xfrm>
            <a:custGeom>
              <a:avLst/>
              <a:gdLst>
                <a:gd name="T0" fmla="*/ 0 w 120"/>
                <a:gd name="T1" fmla="*/ 205 h 205"/>
                <a:gd name="T2" fmla="*/ 119 w 120"/>
                <a:gd name="T3" fmla="*/ 0 h 205"/>
                <a:gd name="T4" fmla="*/ 120 w 120"/>
                <a:gd name="T5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0" h="205">
                  <a:moveTo>
                    <a:pt x="0" y="205"/>
                  </a:moveTo>
                  <a:lnTo>
                    <a:pt x="119" y="0"/>
                  </a:lnTo>
                  <a:lnTo>
                    <a:pt x="120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" name="Freeform 25"/>
            <p:cNvSpPr>
              <a:spLocks noChangeAspect="1" noChangeArrowheads="1"/>
            </p:cNvSpPr>
            <p:nvPr/>
          </p:nvSpPr>
          <p:spPr bwMode="auto">
            <a:xfrm>
              <a:off x="1879" y="1979"/>
              <a:ext cx="88" cy="151"/>
            </a:xfrm>
            <a:custGeom>
              <a:avLst/>
              <a:gdLst>
                <a:gd name="T0" fmla="*/ 0 w 264"/>
                <a:gd name="T1" fmla="*/ 455 h 455"/>
                <a:gd name="T2" fmla="*/ 263 w 264"/>
                <a:gd name="T3" fmla="*/ 0 h 455"/>
                <a:gd name="T4" fmla="*/ 264 w 264"/>
                <a:gd name="T5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4" h="455">
                  <a:moveTo>
                    <a:pt x="0" y="455"/>
                  </a:moveTo>
                  <a:lnTo>
                    <a:pt x="263" y="0"/>
                  </a:lnTo>
                  <a:lnTo>
                    <a:pt x="264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" name="Freeform 26"/>
            <p:cNvSpPr>
              <a:spLocks noChangeAspect="1" noChangeArrowheads="1"/>
            </p:cNvSpPr>
            <p:nvPr/>
          </p:nvSpPr>
          <p:spPr bwMode="auto">
            <a:xfrm>
              <a:off x="1879" y="1952"/>
              <a:ext cx="30" cy="50"/>
            </a:xfrm>
            <a:custGeom>
              <a:avLst/>
              <a:gdLst>
                <a:gd name="T0" fmla="*/ 0 w 89"/>
                <a:gd name="T1" fmla="*/ 151 h 151"/>
                <a:gd name="T2" fmla="*/ 88 w 89"/>
                <a:gd name="T3" fmla="*/ 0 h 151"/>
                <a:gd name="T4" fmla="*/ 89 w 89"/>
                <a:gd name="T5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" h="151">
                  <a:moveTo>
                    <a:pt x="0" y="151"/>
                  </a:moveTo>
                  <a:lnTo>
                    <a:pt x="88" y="0"/>
                  </a:lnTo>
                  <a:lnTo>
                    <a:pt x="89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" name="Freeform 27"/>
            <p:cNvSpPr>
              <a:spLocks noChangeAspect="1" noChangeArrowheads="1"/>
            </p:cNvSpPr>
            <p:nvPr/>
          </p:nvSpPr>
          <p:spPr bwMode="auto">
            <a:xfrm>
              <a:off x="1879" y="2018"/>
              <a:ext cx="139" cy="240"/>
            </a:xfrm>
            <a:custGeom>
              <a:avLst/>
              <a:gdLst>
                <a:gd name="T0" fmla="*/ 0 w 416"/>
                <a:gd name="T1" fmla="*/ 719 h 719"/>
                <a:gd name="T2" fmla="*/ 415 w 416"/>
                <a:gd name="T3" fmla="*/ 0 h 719"/>
                <a:gd name="T4" fmla="*/ 416 w 416"/>
                <a:gd name="T5" fmla="*/ 0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6" h="719">
                  <a:moveTo>
                    <a:pt x="0" y="719"/>
                  </a:moveTo>
                  <a:lnTo>
                    <a:pt x="415" y="0"/>
                  </a:lnTo>
                  <a:lnTo>
                    <a:pt x="416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" name="Freeform 28"/>
            <p:cNvSpPr>
              <a:spLocks noChangeAspect="1" noChangeArrowheads="1"/>
            </p:cNvSpPr>
            <p:nvPr/>
          </p:nvSpPr>
          <p:spPr bwMode="auto">
            <a:xfrm>
              <a:off x="1774" y="2290"/>
              <a:ext cx="87" cy="151"/>
            </a:xfrm>
            <a:custGeom>
              <a:avLst/>
              <a:gdLst>
                <a:gd name="T0" fmla="*/ 0 w 263"/>
                <a:gd name="T1" fmla="*/ 454 h 454"/>
                <a:gd name="T2" fmla="*/ 262 w 263"/>
                <a:gd name="T3" fmla="*/ 0 h 454"/>
                <a:gd name="T4" fmla="*/ 263 w 263"/>
                <a:gd name="T5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3" h="454">
                  <a:moveTo>
                    <a:pt x="0" y="454"/>
                  </a:moveTo>
                  <a:lnTo>
                    <a:pt x="262" y="0"/>
                  </a:lnTo>
                  <a:lnTo>
                    <a:pt x="263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" name="Freeform 29"/>
            <p:cNvSpPr>
              <a:spLocks noChangeAspect="1" noChangeArrowheads="1"/>
            </p:cNvSpPr>
            <p:nvPr/>
          </p:nvSpPr>
          <p:spPr bwMode="auto">
            <a:xfrm>
              <a:off x="2283" y="1765"/>
              <a:ext cx="102" cy="178"/>
            </a:xfrm>
            <a:custGeom>
              <a:avLst/>
              <a:gdLst>
                <a:gd name="T0" fmla="*/ 0 w 308"/>
                <a:gd name="T1" fmla="*/ 534 h 534"/>
                <a:gd name="T2" fmla="*/ 307 w 308"/>
                <a:gd name="T3" fmla="*/ 0 h 534"/>
                <a:gd name="T4" fmla="*/ 308 w 308"/>
                <a:gd name="T5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8" h="534">
                  <a:moveTo>
                    <a:pt x="0" y="534"/>
                  </a:moveTo>
                  <a:lnTo>
                    <a:pt x="307" y="0"/>
                  </a:lnTo>
                  <a:lnTo>
                    <a:pt x="308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" name="Freeform 30"/>
            <p:cNvSpPr>
              <a:spLocks noChangeAspect="1" noChangeArrowheads="1"/>
            </p:cNvSpPr>
            <p:nvPr/>
          </p:nvSpPr>
          <p:spPr bwMode="auto">
            <a:xfrm>
              <a:off x="2283" y="1892"/>
              <a:ext cx="102" cy="179"/>
            </a:xfrm>
            <a:custGeom>
              <a:avLst/>
              <a:gdLst>
                <a:gd name="T0" fmla="*/ 0 w 308"/>
                <a:gd name="T1" fmla="*/ 535 h 535"/>
                <a:gd name="T2" fmla="*/ 307 w 308"/>
                <a:gd name="T3" fmla="*/ 0 h 535"/>
                <a:gd name="T4" fmla="*/ 308 w 308"/>
                <a:gd name="T5" fmla="*/ 0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8" h="535">
                  <a:moveTo>
                    <a:pt x="0" y="535"/>
                  </a:moveTo>
                  <a:lnTo>
                    <a:pt x="307" y="0"/>
                  </a:lnTo>
                  <a:lnTo>
                    <a:pt x="308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" name="Freeform 31"/>
            <p:cNvSpPr>
              <a:spLocks noChangeAspect="1" noChangeArrowheads="1"/>
            </p:cNvSpPr>
            <p:nvPr/>
          </p:nvSpPr>
          <p:spPr bwMode="auto">
            <a:xfrm>
              <a:off x="2283" y="2021"/>
              <a:ext cx="102" cy="177"/>
            </a:xfrm>
            <a:custGeom>
              <a:avLst/>
              <a:gdLst>
                <a:gd name="T0" fmla="*/ 0 w 308"/>
                <a:gd name="T1" fmla="*/ 533 h 533"/>
                <a:gd name="T2" fmla="*/ 307 w 308"/>
                <a:gd name="T3" fmla="*/ 0 h 533"/>
                <a:gd name="T4" fmla="*/ 308 w 308"/>
                <a:gd name="T5" fmla="*/ 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8" h="533">
                  <a:moveTo>
                    <a:pt x="0" y="533"/>
                  </a:moveTo>
                  <a:lnTo>
                    <a:pt x="307" y="0"/>
                  </a:lnTo>
                  <a:lnTo>
                    <a:pt x="308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" name="Freeform 32"/>
            <p:cNvSpPr>
              <a:spLocks noChangeAspect="1" noChangeArrowheads="1"/>
            </p:cNvSpPr>
            <p:nvPr/>
          </p:nvSpPr>
          <p:spPr bwMode="auto">
            <a:xfrm>
              <a:off x="2283" y="2148"/>
              <a:ext cx="102" cy="178"/>
            </a:xfrm>
            <a:custGeom>
              <a:avLst/>
              <a:gdLst>
                <a:gd name="T0" fmla="*/ 0 w 308"/>
                <a:gd name="T1" fmla="*/ 533 h 533"/>
                <a:gd name="T2" fmla="*/ 307 w 308"/>
                <a:gd name="T3" fmla="*/ 0 h 533"/>
                <a:gd name="T4" fmla="*/ 308 w 308"/>
                <a:gd name="T5" fmla="*/ 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8" h="533">
                  <a:moveTo>
                    <a:pt x="0" y="533"/>
                  </a:moveTo>
                  <a:lnTo>
                    <a:pt x="307" y="0"/>
                  </a:lnTo>
                  <a:lnTo>
                    <a:pt x="308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" name="Freeform 33"/>
            <p:cNvSpPr>
              <a:spLocks noChangeAspect="1" noChangeArrowheads="1"/>
            </p:cNvSpPr>
            <p:nvPr/>
          </p:nvSpPr>
          <p:spPr bwMode="auto">
            <a:xfrm>
              <a:off x="2309" y="1697"/>
              <a:ext cx="42" cy="71"/>
            </a:xfrm>
            <a:custGeom>
              <a:avLst/>
              <a:gdLst>
                <a:gd name="T0" fmla="*/ 0 w 125"/>
                <a:gd name="T1" fmla="*/ 215 h 215"/>
                <a:gd name="T2" fmla="*/ 124 w 125"/>
                <a:gd name="T3" fmla="*/ 0 h 215"/>
                <a:gd name="T4" fmla="*/ 125 w 125"/>
                <a:gd name="T5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215">
                  <a:moveTo>
                    <a:pt x="0" y="215"/>
                  </a:moveTo>
                  <a:lnTo>
                    <a:pt x="124" y="0"/>
                  </a:lnTo>
                  <a:lnTo>
                    <a:pt x="125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" name="Freeform 34"/>
            <p:cNvSpPr>
              <a:spLocks noChangeAspect="1" noChangeArrowheads="1"/>
            </p:cNvSpPr>
            <p:nvPr/>
          </p:nvSpPr>
          <p:spPr bwMode="auto">
            <a:xfrm>
              <a:off x="1497" y="2571"/>
              <a:ext cx="125" cy="217"/>
            </a:xfrm>
            <a:custGeom>
              <a:avLst/>
              <a:gdLst>
                <a:gd name="T0" fmla="*/ 0 w 376"/>
                <a:gd name="T1" fmla="*/ 650 h 650"/>
                <a:gd name="T2" fmla="*/ 375 w 376"/>
                <a:gd name="T3" fmla="*/ 0 h 650"/>
                <a:gd name="T4" fmla="*/ 376 w 376"/>
                <a:gd name="T5" fmla="*/ 0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6" h="650">
                  <a:moveTo>
                    <a:pt x="0" y="650"/>
                  </a:moveTo>
                  <a:lnTo>
                    <a:pt x="375" y="0"/>
                  </a:lnTo>
                  <a:lnTo>
                    <a:pt x="376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6" name="Freeform 35"/>
            <p:cNvSpPr>
              <a:spLocks noChangeAspect="1" noChangeArrowheads="1"/>
            </p:cNvSpPr>
            <p:nvPr/>
          </p:nvSpPr>
          <p:spPr bwMode="auto">
            <a:xfrm>
              <a:off x="1485" y="2531"/>
              <a:ext cx="87" cy="149"/>
            </a:xfrm>
            <a:custGeom>
              <a:avLst/>
              <a:gdLst>
                <a:gd name="T0" fmla="*/ 0 w 259"/>
                <a:gd name="T1" fmla="*/ 448 h 448"/>
                <a:gd name="T2" fmla="*/ 258 w 259"/>
                <a:gd name="T3" fmla="*/ 0 h 448"/>
                <a:gd name="T4" fmla="*/ 259 w 259"/>
                <a:gd name="T5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9" h="448">
                  <a:moveTo>
                    <a:pt x="0" y="448"/>
                  </a:moveTo>
                  <a:lnTo>
                    <a:pt x="258" y="0"/>
                  </a:lnTo>
                  <a:lnTo>
                    <a:pt x="259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" name="Freeform 36"/>
            <p:cNvSpPr>
              <a:spLocks noChangeAspect="1" noChangeArrowheads="1"/>
            </p:cNvSpPr>
            <p:nvPr/>
          </p:nvSpPr>
          <p:spPr bwMode="auto">
            <a:xfrm>
              <a:off x="1485" y="2485"/>
              <a:ext cx="39" cy="67"/>
            </a:xfrm>
            <a:custGeom>
              <a:avLst/>
              <a:gdLst>
                <a:gd name="T0" fmla="*/ 0 w 117"/>
                <a:gd name="T1" fmla="*/ 202 h 202"/>
                <a:gd name="T2" fmla="*/ 116 w 117"/>
                <a:gd name="T3" fmla="*/ 0 h 202"/>
                <a:gd name="T4" fmla="*/ 117 w 117"/>
                <a:gd name="T5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7" h="202">
                  <a:moveTo>
                    <a:pt x="0" y="202"/>
                  </a:moveTo>
                  <a:lnTo>
                    <a:pt x="116" y="0"/>
                  </a:lnTo>
                  <a:lnTo>
                    <a:pt x="117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38" name="Group 37"/>
          <p:cNvGrpSpPr>
            <a:grpSpLocks noChangeAspect="1"/>
          </p:cNvGrpSpPr>
          <p:nvPr/>
        </p:nvGrpSpPr>
        <p:grpSpPr bwMode="auto">
          <a:xfrm>
            <a:off x="3954464" y="3098801"/>
            <a:ext cx="1868487" cy="1084263"/>
            <a:chOff x="1822" y="2376"/>
            <a:chExt cx="1472" cy="854"/>
          </a:xfrm>
        </p:grpSpPr>
        <p:sp>
          <p:nvSpPr>
            <p:cNvPr id="39" name="Oval 38"/>
            <p:cNvSpPr>
              <a:spLocks noChangeAspect="1" noChangeArrowheads="1"/>
            </p:cNvSpPr>
            <p:nvPr/>
          </p:nvSpPr>
          <p:spPr bwMode="auto">
            <a:xfrm>
              <a:off x="2352" y="2796"/>
              <a:ext cx="216" cy="131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0" name="Freeform 39"/>
            <p:cNvSpPr>
              <a:spLocks noChangeAspect="1" noChangeArrowheads="1"/>
            </p:cNvSpPr>
            <p:nvPr/>
          </p:nvSpPr>
          <p:spPr bwMode="auto">
            <a:xfrm>
              <a:off x="2102" y="2947"/>
              <a:ext cx="171" cy="23"/>
            </a:xfrm>
            <a:custGeom>
              <a:avLst/>
              <a:gdLst>
                <a:gd name="T0" fmla="*/ 513 w 513"/>
                <a:gd name="T1" fmla="*/ 67 h 67"/>
                <a:gd name="T2" fmla="*/ 256 w 513"/>
                <a:gd name="T3" fmla="*/ 0 h 67"/>
                <a:gd name="T4" fmla="*/ 0 w 513"/>
                <a:gd name="T5" fmla="*/ 67 h 67"/>
                <a:gd name="T6" fmla="*/ 1 w 513"/>
                <a:gd name="T7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3" h="67">
                  <a:moveTo>
                    <a:pt x="513" y="67"/>
                  </a:moveTo>
                  <a:lnTo>
                    <a:pt x="256" y="0"/>
                  </a:lnTo>
                  <a:lnTo>
                    <a:pt x="0" y="67"/>
                  </a:lnTo>
                  <a:lnTo>
                    <a:pt x="1" y="6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1" name="Oval 40"/>
            <p:cNvSpPr>
              <a:spLocks noChangeAspect="1" noChangeArrowheads="1"/>
            </p:cNvSpPr>
            <p:nvPr/>
          </p:nvSpPr>
          <p:spPr bwMode="auto">
            <a:xfrm>
              <a:off x="2406" y="2838"/>
              <a:ext cx="108" cy="47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2" name="Line 41"/>
            <p:cNvSpPr>
              <a:spLocks noChangeAspect="1" noChangeShapeType="1"/>
            </p:cNvSpPr>
            <p:nvPr/>
          </p:nvSpPr>
          <p:spPr bwMode="auto">
            <a:xfrm flipV="1">
              <a:off x="2004" y="2381"/>
              <a:ext cx="1290" cy="74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lgDashDot"/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" name="Freeform 42"/>
            <p:cNvSpPr>
              <a:spLocks noChangeAspect="1" noChangeArrowheads="1"/>
            </p:cNvSpPr>
            <p:nvPr/>
          </p:nvSpPr>
          <p:spPr bwMode="auto">
            <a:xfrm>
              <a:off x="2774" y="2490"/>
              <a:ext cx="322" cy="190"/>
            </a:xfrm>
            <a:custGeom>
              <a:avLst/>
              <a:gdLst>
                <a:gd name="T0" fmla="*/ 232 w 322"/>
                <a:gd name="T1" fmla="*/ 12 h 190"/>
                <a:gd name="T2" fmla="*/ 154 w 322"/>
                <a:gd name="T3" fmla="*/ 0 h 190"/>
                <a:gd name="T4" fmla="*/ 88 w 322"/>
                <a:gd name="T5" fmla="*/ 9 h 190"/>
                <a:gd name="T6" fmla="*/ 40 w 322"/>
                <a:gd name="T7" fmla="*/ 30 h 190"/>
                <a:gd name="T8" fmla="*/ 13 w 322"/>
                <a:gd name="T9" fmla="*/ 57 h 190"/>
                <a:gd name="T10" fmla="*/ 1 w 322"/>
                <a:gd name="T11" fmla="*/ 99 h 190"/>
                <a:gd name="T12" fmla="*/ 19 w 322"/>
                <a:gd name="T13" fmla="*/ 141 h 190"/>
                <a:gd name="T14" fmla="*/ 46 w 322"/>
                <a:gd name="T15" fmla="*/ 168 h 190"/>
                <a:gd name="T16" fmla="*/ 112 w 322"/>
                <a:gd name="T17" fmla="*/ 186 h 190"/>
                <a:gd name="T18" fmla="*/ 163 w 322"/>
                <a:gd name="T19" fmla="*/ 189 h 190"/>
                <a:gd name="T20" fmla="*/ 226 w 322"/>
                <a:gd name="T21" fmla="*/ 180 h 190"/>
                <a:gd name="T22" fmla="*/ 280 w 322"/>
                <a:gd name="T23" fmla="*/ 162 h 190"/>
                <a:gd name="T24" fmla="*/ 310 w 322"/>
                <a:gd name="T25" fmla="*/ 135 h 190"/>
                <a:gd name="T26" fmla="*/ 322 w 322"/>
                <a:gd name="T27" fmla="*/ 99 h 190"/>
                <a:gd name="T28" fmla="*/ 310 w 322"/>
                <a:gd name="T29" fmla="*/ 54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2" h="190">
                  <a:moveTo>
                    <a:pt x="232" y="12"/>
                  </a:moveTo>
                  <a:cubicBezTo>
                    <a:pt x="219" y="10"/>
                    <a:pt x="178" y="0"/>
                    <a:pt x="154" y="0"/>
                  </a:cubicBezTo>
                  <a:cubicBezTo>
                    <a:pt x="130" y="0"/>
                    <a:pt x="107" y="4"/>
                    <a:pt x="88" y="9"/>
                  </a:cubicBezTo>
                  <a:cubicBezTo>
                    <a:pt x="69" y="14"/>
                    <a:pt x="52" y="22"/>
                    <a:pt x="40" y="30"/>
                  </a:cubicBezTo>
                  <a:cubicBezTo>
                    <a:pt x="28" y="38"/>
                    <a:pt x="19" y="46"/>
                    <a:pt x="13" y="57"/>
                  </a:cubicBezTo>
                  <a:cubicBezTo>
                    <a:pt x="7" y="68"/>
                    <a:pt x="0" y="85"/>
                    <a:pt x="1" y="99"/>
                  </a:cubicBezTo>
                  <a:cubicBezTo>
                    <a:pt x="2" y="113"/>
                    <a:pt x="12" y="130"/>
                    <a:pt x="19" y="141"/>
                  </a:cubicBezTo>
                  <a:cubicBezTo>
                    <a:pt x="26" y="152"/>
                    <a:pt x="30" y="160"/>
                    <a:pt x="46" y="168"/>
                  </a:cubicBezTo>
                  <a:cubicBezTo>
                    <a:pt x="62" y="176"/>
                    <a:pt x="93" y="183"/>
                    <a:pt x="112" y="186"/>
                  </a:cubicBezTo>
                  <a:cubicBezTo>
                    <a:pt x="131" y="189"/>
                    <a:pt x="144" y="190"/>
                    <a:pt x="163" y="189"/>
                  </a:cubicBezTo>
                  <a:cubicBezTo>
                    <a:pt x="182" y="188"/>
                    <a:pt x="207" y="184"/>
                    <a:pt x="226" y="180"/>
                  </a:cubicBezTo>
                  <a:cubicBezTo>
                    <a:pt x="245" y="176"/>
                    <a:pt x="266" y="170"/>
                    <a:pt x="280" y="162"/>
                  </a:cubicBezTo>
                  <a:cubicBezTo>
                    <a:pt x="294" y="154"/>
                    <a:pt x="303" y="145"/>
                    <a:pt x="310" y="135"/>
                  </a:cubicBezTo>
                  <a:cubicBezTo>
                    <a:pt x="317" y="125"/>
                    <a:pt x="322" y="112"/>
                    <a:pt x="322" y="99"/>
                  </a:cubicBezTo>
                  <a:cubicBezTo>
                    <a:pt x="322" y="86"/>
                    <a:pt x="312" y="63"/>
                    <a:pt x="310" y="54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4" name="Oval 43"/>
            <p:cNvSpPr>
              <a:spLocks noChangeAspect="1" noChangeArrowheads="1"/>
            </p:cNvSpPr>
            <p:nvPr/>
          </p:nvSpPr>
          <p:spPr bwMode="auto">
            <a:xfrm>
              <a:off x="2700" y="2437"/>
              <a:ext cx="468" cy="299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5" name="Oval 44"/>
            <p:cNvSpPr>
              <a:spLocks noChangeAspect="1" noChangeArrowheads="1"/>
            </p:cNvSpPr>
            <p:nvPr/>
          </p:nvSpPr>
          <p:spPr bwMode="auto">
            <a:xfrm>
              <a:off x="2598" y="2376"/>
              <a:ext cx="678" cy="419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6" name="Freeform 45"/>
            <p:cNvSpPr>
              <a:spLocks noChangeAspect="1" noChangeArrowheads="1"/>
            </p:cNvSpPr>
            <p:nvPr/>
          </p:nvSpPr>
          <p:spPr bwMode="auto">
            <a:xfrm>
              <a:off x="1822" y="2938"/>
              <a:ext cx="169" cy="96"/>
            </a:xfrm>
            <a:custGeom>
              <a:avLst/>
              <a:gdLst>
                <a:gd name="T0" fmla="*/ 0 w 505"/>
                <a:gd name="T1" fmla="*/ 0 h 289"/>
                <a:gd name="T2" fmla="*/ 504 w 505"/>
                <a:gd name="T3" fmla="*/ 289 h 289"/>
                <a:gd name="T4" fmla="*/ 505 w 505"/>
                <a:gd name="T5" fmla="*/ 28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5" h="289">
                  <a:moveTo>
                    <a:pt x="0" y="0"/>
                  </a:moveTo>
                  <a:lnTo>
                    <a:pt x="504" y="289"/>
                  </a:lnTo>
                  <a:lnTo>
                    <a:pt x="505" y="28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7" name="Freeform 46"/>
            <p:cNvSpPr>
              <a:spLocks noChangeAspect="1" noChangeArrowheads="1"/>
            </p:cNvSpPr>
            <p:nvPr/>
          </p:nvSpPr>
          <p:spPr bwMode="auto">
            <a:xfrm>
              <a:off x="1822" y="2441"/>
              <a:ext cx="860" cy="497"/>
            </a:xfrm>
            <a:custGeom>
              <a:avLst/>
              <a:gdLst>
                <a:gd name="T0" fmla="*/ 2580 w 2580"/>
                <a:gd name="T1" fmla="*/ 0 h 1491"/>
                <a:gd name="T2" fmla="*/ 0 w 2580"/>
                <a:gd name="T3" fmla="*/ 1491 h 1491"/>
                <a:gd name="T4" fmla="*/ 1 w 2580"/>
                <a:gd name="T5" fmla="*/ 1491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80" h="1491">
                  <a:moveTo>
                    <a:pt x="2580" y="0"/>
                  </a:moveTo>
                  <a:lnTo>
                    <a:pt x="0" y="1491"/>
                  </a:lnTo>
                  <a:lnTo>
                    <a:pt x="1" y="149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8" name="Freeform 47"/>
            <p:cNvSpPr>
              <a:spLocks noChangeAspect="1" noChangeArrowheads="1"/>
            </p:cNvSpPr>
            <p:nvPr/>
          </p:nvSpPr>
          <p:spPr bwMode="auto">
            <a:xfrm>
              <a:off x="2328" y="2733"/>
              <a:ext cx="860" cy="497"/>
            </a:xfrm>
            <a:custGeom>
              <a:avLst/>
              <a:gdLst>
                <a:gd name="T0" fmla="*/ 2579 w 2579"/>
                <a:gd name="T1" fmla="*/ 0 h 1491"/>
                <a:gd name="T2" fmla="*/ 0 w 2579"/>
                <a:gd name="T3" fmla="*/ 1491 h 1491"/>
                <a:gd name="T4" fmla="*/ 1 w 2579"/>
                <a:gd name="T5" fmla="*/ 1491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79" h="1491">
                  <a:moveTo>
                    <a:pt x="2579" y="0"/>
                  </a:moveTo>
                  <a:lnTo>
                    <a:pt x="0" y="1491"/>
                  </a:lnTo>
                  <a:lnTo>
                    <a:pt x="1" y="149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9" name="Freeform 48"/>
            <p:cNvSpPr>
              <a:spLocks noChangeAspect="1" noChangeArrowheads="1"/>
            </p:cNvSpPr>
            <p:nvPr/>
          </p:nvSpPr>
          <p:spPr bwMode="auto">
            <a:xfrm>
              <a:off x="3005" y="2481"/>
              <a:ext cx="40" cy="23"/>
            </a:xfrm>
            <a:custGeom>
              <a:avLst/>
              <a:gdLst>
                <a:gd name="T0" fmla="*/ 120 w 120"/>
                <a:gd name="T1" fmla="*/ 0 h 70"/>
                <a:gd name="T2" fmla="*/ 0 w 120"/>
                <a:gd name="T3" fmla="*/ 70 h 70"/>
                <a:gd name="T4" fmla="*/ 1 w 120"/>
                <a:gd name="T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0" h="70">
                  <a:moveTo>
                    <a:pt x="120" y="0"/>
                  </a:moveTo>
                  <a:lnTo>
                    <a:pt x="0" y="70"/>
                  </a:lnTo>
                  <a:lnTo>
                    <a:pt x="1" y="7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0" name="Freeform 49"/>
            <p:cNvSpPr>
              <a:spLocks noChangeAspect="1" noChangeArrowheads="1"/>
            </p:cNvSpPr>
            <p:nvPr/>
          </p:nvSpPr>
          <p:spPr bwMode="auto">
            <a:xfrm>
              <a:off x="3075" y="2525"/>
              <a:ext cx="46" cy="26"/>
            </a:xfrm>
            <a:custGeom>
              <a:avLst/>
              <a:gdLst>
                <a:gd name="T0" fmla="*/ 137 w 137"/>
                <a:gd name="T1" fmla="*/ 0 h 79"/>
                <a:gd name="T2" fmla="*/ 0 w 137"/>
                <a:gd name="T3" fmla="*/ 79 h 79"/>
                <a:gd name="T4" fmla="*/ 1 w 137"/>
                <a:gd name="T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7" h="79">
                  <a:moveTo>
                    <a:pt x="137" y="0"/>
                  </a:moveTo>
                  <a:lnTo>
                    <a:pt x="0" y="79"/>
                  </a:lnTo>
                  <a:lnTo>
                    <a:pt x="1" y="7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1" name="Freeform 50"/>
            <p:cNvSpPr>
              <a:spLocks noChangeAspect="1" noChangeArrowheads="1"/>
            </p:cNvSpPr>
            <p:nvPr/>
          </p:nvSpPr>
          <p:spPr bwMode="auto">
            <a:xfrm>
              <a:off x="3039" y="2481"/>
              <a:ext cx="76" cy="44"/>
            </a:xfrm>
            <a:custGeom>
              <a:avLst/>
              <a:gdLst>
                <a:gd name="T0" fmla="*/ 0 w 229"/>
                <a:gd name="T1" fmla="*/ 0 h 132"/>
                <a:gd name="T2" fmla="*/ 228 w 229"/>
                <a:gd name="T3" fmla="*/ 132 h 132"/>
                <a:gd name="T4" fmla="*/ 229 w 229"/>
                <a:gd name="T5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9" h="132">
                  <a:moveTo>
                    <a:pt x="0" y="0"/>
                  </a:moveTo>
                  <a:lnTo>
                    <a:pt x="228" y="132"/>
                  </a:lnTo>
                  <a:lnTo>
                    <a:pt x="229" y="13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2" name="Freeform 51"/>
            <p:cNvSpPr>
              <a:spLocks noChangeAspect="1" noChangeArrowheads="1"/>
            </p:cNvSpPr>
            <p:nvPr/>
          </p:nvSpPr>
          <p:spPr bwMode="auto">
            <a:xfrm>
              <a:off x="1990" y="2970"/>
              <a:ext cx="112" cy="64"/>
            </a:xfrm>
            <a:custGeom>
              <a:avLst/>
              <a:gdLst>
                <a:gd name="T0" fmla="*/ 334 w 334"/>
                <a:gd name="T1" fmla="*/ 0 h 194"/>
                <a:gd name="T2" fmla="*/ 0 w 334"/>
                <a:gd name="T3" fmla="*/ 194 h 194"/>
                <a:gd name="T4" fmla="*/ 1 w 334"/>
                <a:gd name="T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4" h="194">
                  <a:moveTo>
                    <a:pt x="334" y="0"/>
                  </a:moveTo>
                  <a:lnTo>
                    <a:pt x="0" y="194"/>
                  </a:lnTo>
                  <a:lnTo>
                    <a:pt x="1" y="19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3" name="Freeform 52"/>
            <p:cNvSpPr>
              <a:spLocks noChangeAspect="1" noChangeArrowheads="1"/>
            </p:cNvSpPr>
            <p:nvPr/>
          </p:nvSpPr>
          <p:spPr bwMode="auto">
            <a:xfrm>
              <a:off x="2161" y="3069"/>
              <a:ext cx="112" cy="64"/>
            </a:xfrm>
            <a:custGeom>
              <a:avLst/>
              <a:gdLst>
                <a:gd name="T0" fmla="*/ 336 w 336"/>
                <a:gd name="T1" fmla="*/ 0 h 194"/>
                <a:gd name="T2" fmla="*/ 0 w 336"/>
                <a:gd name="T3" fmla="*/ 194 h 194"/>
                <a:gd name="T4" fmla="*/ 1 w 336"/>
                <a:gd name="T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6" h="194">
                  <a:moveTo>
                    <a:pt x="336" y="0"/>
                  </a:moveTo>
                  <a:lnTo>
                    <a:pt x="0" y="194"/>
                  </a:lnTo>
                  <a:lnTo>
                    <a:pt x="1" y="19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4" name="Freeform 53"/>
            <p:cNvSpPr>
              <a:spLocks noChangeAspect="1" noChangeArrowheads="1"/>
            </p:cNvSpPr>
            <p:nvPr/>
          </p:nvSpPr>
          <p:spPr bwMode="auto">
            <a:xfrm>
              <a:off x="2273" y="2970"/>
              <a:ext cx="25" cy="99"/>
            </a:xfrm>
            <a:custGeom>
              <a:avLst/>
              <a:gdLst>
                <a:gd name="T0" fmla="*/ 0 w 75"/>
                <a:gd name="T1" fmla="*/ 297 h 297"/>
                <a:gd name="T2" fmla="*/ 75 w 75"/>
                <a:gd name="T3" fmla="*/ 208 h 297"/>
                <a:gd name="T4" fmla="*/ 75 w 75"/>
                <a:gd name="T5" fmla="*/ 90 h 297"/>
                <a:gd name="T6" fmla="*/ 0 w 75"/>
                <a:gd name="T7" fmla="*/ 0 h 297"/>
                <a:gd name="T8" fmla="*/ 1 w 75"/>
                <a:gd name="T9" fmla="*/ 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297">
                  <a:moveTo>
                    <a:pt x="0" y="297"/>
                  </a:moveTo>
                  <a:lnTo>
                    <a:pt x="75" y="208"/>
                  </a:lnTo>
                  <a:lnTo>
                    <a:pt x="75" y="9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5" name="Freeform 54"/>
            <p:cNvSpPr>
              <a:spLocks noChangeAspect="1" noChangeArrowheads="1"/>
            </p:cNvSpPr>
            <p:nvPr/>
          </p:nvSpPr>
          <p:spPr bwMode="auto">
            <a:xfrm>
              <a:off x="2161" y="3133"/>
              <a:ext cx="168" cy="97"/>
            </a:xfrm>
            <a:custGeom>
              <a:avLst/>
              <a:gdLst>
                <a:gd name="T0" fmla="*/ 0 w 504"/>
                <a:gd name="T1" fmla="*/ 0 h 290"/>
                <a:gd name="T2" fmla="*/ 503 w 504"/>
                <a:gd name="T3" fmla="*/ 290 h 290"/>
                <a:gd name="T4" fmla="*/ 504 w 504"/>
                <a:gd name="T5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4" h="290">
                  <a:moveTo>
                    <a:pt x="0" y="0"/>
                  </a:moveTo>
                  <a:lnTo>
                    <a:pt x="503" y="290"/>
                  </a:lnTo>
                  <a:lnTo>
                    <a:pt x="504" y="29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6" name="Freeform 55"/>
            <p:cNvSpPr>
              <a:spLocks noChangeAspect="1" noChangeArrowheads="1"/>
            </p:cNvSpPr>
            <p:nvPr/>
          </p:nvSpPr>
          <p:spPr bwMode="auto">
            <a:xfrm>
              <a:off x="2336" y="2790"/>
              <a:ext cx="243" cy="141"/>
            </a:xfrm>
            <a:custGeom>
              <a:avLst/>
              <a:gdLst>
                <a:gd name="T0" fmla="*/ 0 w 730"/>
                <a:gd name="T1" fmla="*/ 0 h 421"/>
                <a:gd name="T2" fmla="*/ 729 w 730"/>
                <a:gd name="T3" fmla="*/ 421 h 421"/>
                <a:gd name="T4" fmla="*/ 730 w 730"/>
                <a:gd name="T5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0" h="421">
                  <a:moveTo>
                    <a:pt x="0" y="0"/>
                  </a:moveTo>
                  <a:lnTo>
                    <a:pt x="729" y="421"/>
                  </a:lnTo>
                  <a:lnTo>
                    <a:pt x="730" y="42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7" name="Freeform 56"/>
            <p:cNvSpPr>
              <a:spLocks noChangeAspect="1" noChangeArrowheads="1"/>
            </p:cNvSpPr>
            <p:nvPr/>
          </p:nvSpPr>
          <p:spPr bwMode="auto">
            <a:xfrm>
              <a:off x="2066" y="2949"/>
              <a:ext cx="259" cy="150"/>
            </a:xfrm>
            <a:custGeom>
              <a:avLst/>
              <a:gdLst>
                <a:gd name="T0" fmla="*/ 0 w 777"/>
                <a:gd name="T1" fmla="*/ 0 h 449"/>
                <a:gd name="T2" fmla="*/ 776 w 777"/>
                <a:gd name="T3" fmla="*/ 449 h 449"/>
                <a:gd name="T4" fmla="*/ 777 w 777"/>
                <a:gd name="T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7" h="449">
                  <a:moveTo>
                    <a:pt x="0" y="0"/>
                  </a:moveTo>
                  <a:lnTo>
                    <a:pt x="776" y="449"/>
                  </a:lnTo>
                  <a:lnTo>
                    <a:pt x="777" y="44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58" name="Group 57"/>
            <p:cNvGrpSpPr>
              <a:grpSpLocks noChangeAspect="1"/>
            </p:cNvGrpSpPr>
            <p:nvPr/>
          </p:nvGrpSpPr>
          <p:grpSpPr bwMode="auto">
            <a:xfrm>
              <a:off x="2654" y="2424"/>
              <a:ext cx="601" cy="348"/>
              <a:chOff x="2654" y="2424"/>
              <a:chExt cx="601" cy="348"/>
            </a:xfrm>
          </p:grpSpPr>
          <p:sp>
            <p:nvSpPr>
              <p:cNvPr id="59" name="Freeform 58"/>
              <p:cNvSpPr>
                <a:spLocks noChangeAspect="1" noChangeArrowheads="1"/>
              </p:cNvSpPr>
              <p:nvPr/>
            </p:nvSpPr>
            <p:spPr bwMode="auto">
              <a:xfrm>
                <a:off x="2654" y="2424"/>
                <a:ext cx="199" cy="116"/>
              </a:xfrm>
              <a:custGeom>
                <a:avLst/>
                <a:gdLst>
                  <a:gd name="T0" fmla="*/ 0 w 599"/>
                  <a:gd name="T1" fmla="*/ 0 h 347"/>
                  <a:gd name="T2" fmla="*/ 598 w 599"/>
                  <a:gd name="T3" fmla="*/ 347 h 347"/>
                  <a:gd name="T4" fmla="*/ 599 w 599"/>
                  <a:gd name="T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9" h="347">
                    <a:moveTo>
                      <a:pt x="0" y="0"/>
                    </a:moveTo>
                    <a:lnTo>
                      <a:pt x="598" y="347"/>
                    </a:lnTo>
                    <a:lnTo>
                      <a:pt x="599" y="34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0" name="Freeform 59"/>
              <p:cNvSpPr>
                <a:spLocks noChangeAspect="1" noChangeArrowheads="1"/>
              </p:cNvSpPr>
              <p:nvPr/>
            </p:nvSpPr>
            <p:spPr bwMode="auto">
              <a:xfrm>
                <a:off x="2876" y="2552"/>
                <a:ext cx="5" cy="4"/>
              </a:xfrm>
              <a:custGeom>
                <a:avLst/>
                <a:gdLst>
                  <a:gd name="T0" fmla="*/ 0 w 16"/>
                  <a:gd name="T1" fmla="*/ 0 h 10"/>
                  <a:gd name="T2" fmla="*/ 15 w 16"/>
                  <a:gd name="T3" fmla="*/ 10 h 10"/>
                  <a:gd name="T4" fmla="*/ 16 w 16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lnTo>
                      <a:pt x="15" y="10"/>
                    </a:lnTo>
                    <a:lnTo>
                      <a:pt x="16" y="1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1" name="Freeform 60"/>
              <p:cNvSpPr>
                <a:spLocks noChangeAspect="1" noChangeArrowheads="1"/>
              </p:cNvSpPr>
              <p:nvPr/>
            </p:nvSpPr>
            <p:spPr bwMode="auto">
              <a:xfrm>
                <a:off x="2899" y="2566"/>
                <a:ext cx="356" cy="206"/>
              </a:xfrm>
              <a:custGeom>
                <a:avLst/>
                <a:gdLst>
                  <a:gd name="T0" fmla="*/ 0 w 1069"/>
                  <a:gd name="T1" fmla="*/ 0 h 618"/>
                  <a:gd name="T2" fmla="*/ 1068 w 1069"/>
                  <a:gd name="T3" fmla="*/ 618 h 618"/>
                  <a:gd name="T4" fmla="*/ 1069 w 1069"/>
                  <a:gd name="T5" fmla="*/ 618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9" h="618">
                    <a:moveTo>
                      <a:pt x="0" y="0"/>
                    </a:moveTo>
                    <a:lnTo>
                      <a:pt x="1068" y="618"/>
                    </a:lnTo>
                    <a:lnTo>
                      <a:pt x="1069" y="61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sp>
        <p:nvSpPr>
          <p:cNvPr id="62" name="Text Box 61"/>
          <p:cNvSpPr txBox="1">
            <a:spLocks noChangeArrowheads="1"/>
          </p:cNvSpPr>
          <p:nvPr/>
        </p:nvSpPr>
        <p:spPr bwMode="auto">
          <a:xfrm>
            <a:off x="2717800" y="4622800"/>
            <a:ext cx="7010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571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0" hangingPunct="0">
              <a:spcBef>
                <a:spcPct val="50000"/>
              </a:spcBef>
            </a:pPr>
            <a:r>
              <a:rPr lang="en-US" altLang="zh-CN" sz="1800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★ </a:t>
            </a:r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假想用剖切面剖开机件；</a:t>
            </a:r>
          </a:p>
        </p:txBody>
      </p:sp>
      <p:sp>
        <p:nvSpPr>
          <p:cNvPr id="63" name="Freeform 62"/>
          <p:cNvSpPr>
            <a:spLocks noChangeArrowheads="1"/>
          </p:cNvSpPr>
          <p:nvPr/>
        </p:nvSpPr>
        <p:spPr bwMode="auto">
          <a:xfrm>
            <a:off x="4052888" y="1487488"/>
            <a:ext cx="2159000" cy="2640012"/>
          </a:xfrm>
          <a:custGeom>
            <a:avLst/>
            <a:gdLst>
              <a:gd name="T0" fmla="*/ 11 w 1700"/>
              <a:gd name="T1" fmla="*/ 966 h 2078"/>
              <a:gd name="T2" fmla="*/ 1700 w 1700"/>
              <a:gd name="T3" fmla="*/ 0 h 2078"/>
              <a:gd name="T4" fmla="*/ 1700 w 1700"/>
              <a:gd name="T5" fmla="*/ 1100 h 2078"/>
              <a:gd name="T6" fmla="*/ 0 w 1700"/>
              <a:gd name="T7" fmla="*/ 2078 h 2078"/>
              <a:gd name="T8" fmla="*/ 11 w 1700"/>
              <a:gd name="T9" fmla="*/ 966 h 20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00" h="2078">
                <a:moveTo>
                  <a:pt x="11" y="966"/>
                </a:moveTo>
                <a:lnTo>
                  <a:pt x="1700" y="0"/>
                </a:lnTo>
                <a:lnTo>
                  <a:pt x="1700" y="1100"/>
                </a:lnTo>
                <a:lnTo>
                  <a:pt x="0" y="2078"/>
                </a:lnTo>
                <a:lnTo>
                  <a:pt x="11" y="966"/>
                </a:lnTo>
                <a:close/>
              </a:path>
            </a:pathLst>
          </a:custGeom>
          <a:solidFill>
            <a:srgbClr val="CCCCFF">
              <a:alpha val="50195"/>
            </a:srgbClr>
          </a:solidFill>
          <a:ln w="12700">
            <a:solidFill>
              <a:schemeClr val="tx1"/>
            </a:solidFill>
            <a:round/>
            <a:headEnd type="none" w="sm" len="lg"/>
            <a:tailEnd type="none" w="sm" len="lg"/>
          </a:ln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grpSp>
        <p:nvGrpSpPr>
          <p:cNvPr id="64" name="Group 63"/>
          <p:cNvGrpSpPr>
            <a:grpSpLocks/>
          </p:cNvGrpSpPr>
          <p:nvPr/>
        </p:nvGrpSpPr>
        <p:grpSpPr bwMode="auto">
          <a:xfrm>
            <a:off x="4383088" y="1957389"/>
            <a:ext cx="1397000" cy="1762125"/>
            <a:chOff x="2178" y="1494"/>
            <a:chExt cx="1100" cy="1388"/>
          </a:xfrm>
        </p:grpSpPr>
        <p:sp>
          <p:nvSpPr>
            <p:cNvPr id="65" name="Freeform 64"/>
            <p:cNvSpPr>
              <a:spLocks noChangeArrowheads="1"/>
            </p:cNvSpPr>
            <p:nvPr/>
          </p:nvSpPr>
          <p:spPr bwMode="auto">
            <a:xfrm>
              <a:off x="3082" y="1660"/>
              <a:ext cx="42" cy="82"/>
            </a:xfrm>
            <a:custGeom>
              <a:avLst/>
              <a:gdLst>
                <a:gd name="T0" fmla="*/ 0 w 42"/>
                <a:gd name="T1" fmla="*/ 0 h 82"/>
                <a:gd name="T2" fmla="*/ 0 w 42"/>
                <a:gd name="T3" fmla="*/ 82 h 82"/>
                <a:gd name="T4" fmla="*/ 8 w 42"/>
                <a:gd name="T5" fmla="*/ 68 h 82"/>
                <a:gd name="T6" fmla="*/ 8 w 42"/>
                <a:gd name="T7" fmla="*/ 48 h 82"/>
                <a:gd name="T8" fmla="*/ 42 w 42"/>
                <a:gd name="T9" fmla="*/ 28 h 82"/>
                <a:gd name="T10" fmla="*/ 0 w 42"/>
                <a:gd name="T11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82">
                  <a:moveTo>
                    <a:pt x="0" y="0"/>
                  </a:moveTo>
                  <a:lnTo>
                    <a:pt x="0" y="82"/>
                  </a:lnTo>
                  <a:lnTo>
                    <a:pt x="8" y="68"/>
                  </a:lnTo>
                  <a:lnTo>
                    <a:pt x="8" y="48"/>
                  </a:lnTo>
                  <a:lnTo>
                    <a:pt x="42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6" name="Freeform 65"/>
            <p:cNvSpPr>
              <a:spLocks noChangeArrowheads="1"/>
            </p:cNvSpPr>
            <p:nvPr/>
          </p:nvSpPr>
          <p:spPr bwMode="auto">
            <a:xfrm>
              <a:off x="3112" y="1542"/>
              <a:ext cx="62" cy="148"/>
            </a:xfrm>
            <a:custGeom>
              <a:avLst/>
              <a:gdLst>
                <a:gd name="T0" fmla="*/ 0 w 62"/>
                <a:gd name="T1" fmla="*/ 0 h 148"/>
                <a:gd name="T2" fmla="*/ 2 w 62"/>
                <a:gd name="T3" fmla="*/ 106 h 148"/>
                <a:gd name="T4" fmla="*/ 26 w 62"/>
                <a:gd name="T5" fmla="*/ 122 h 148"/>
                <a:gd name="T6" fmla="*/ 50 w 62"/>
                <a:gd name="T7" fmla="*/ 148 h 148"/>
                <a:gd name="T8" fmla="*/ 62 w 62"/>
                <a:gd name="T9" fmla="*/ 100 h 148"/>
                <a:gd name="T10" fmla="*/ 58 w 62"/>
                <a:gd name="T11" fmla="*/ 66 h 148"/>
                <a:gd name="T12" fmla="*/ 46 w 62"/>
                <a:gd name="T13" fmla="*/ 32 h 148"/>
                <a:gd name="T14" fmla="*/ 0 w 62"/>
                <a:gd name="T15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2" h="148">
                  <a:moveTo>
                    <a:pt x="0" y="0"/>
                  </a:moveTo>
                  <a:lnTo>
                    <a:pt x="2" y="106"/>
                  </a:lnTo>
                  <a:lnTo>
                    <a:pt x="26" y="122"/>
                  </a:lnTo>
                  <a:lnTo>
                    <a:pt x="50" y="148"/>
                  </a:lnTo>
                  <a:lnTo>
                    <a:pt x="62" y="100"/>
                  </a:lnTo>
                  <a:lnTo>
                    <a:pt x="58" y="66"/>
                  </a:lnTo>
                  <a:lnTo>
                    <a:pt x="46" y="32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rgbClr val="FFCC00"/>
                </a:gs>
                <a:gs pos="100000">
                  <a:srgbClr val="765E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7" name="Freeform 66"/>
            <p:cNvSpPr>
              <a:spLocks noChangeArrowheads="1"/>
            </p:cNvSpPr>
            <p:nvPr/>
          </p:nvSpPr>
          <p:spPr bwMode="auto">
            <a:xfrm>
              <a:off x="2178" y="2098"/>
              <a:ext cx="1016" cy="497"/>
            </a:xfrm>
            <a:custGeom>
              <a:avLst/>
              <a:gdLst>
                <a:gd name="T0" fmla="*/ 0 w 1016"/>
                <a:gd name="T1" fmla="*/ 408 h 497"/>
                <a:gd name="T2" fmla="*/ 120 w 1016"/>
                <a:gd name="T3" fmla="*/ 336 h 497"/>
                <a:gd name="T4" fmla="*/ 124 w 1016"/>
                <a:gd name="T5" fmla="*/ 304 h 497"/>
                <a:gd name="T6" fmla="*/ 124 w 1016"/>
                <a:gd name="T7" fmla="*/ 268 h 497"/>
                <a:gd name="T8" fmla="*/ 116 w 1016"/>
                <a:gd name="T9" fmla="*/ 220 h 497"/>
                <a:gd name="T10" fmla="*/ 200 w 1016"/>
                <a:gd name="T11" fmla="*/ 176 h 497"/>
                <a:gd name="T12" fmla="*/ 248 w 1016"/>
                <a:gd name="T13" fmla="*/ 192 h 497"/>
                <a:gd name="T14" fmla="*/ 300 w 1016"/>
                <a:gd name="T15" fmla="*/ 204 h 497"/>
                <a:gd name="T16" fmla="*/ 356 w 1016"/>
                <a:gd name="T17" fmla="*/ 196 h 497"/>
                <a:gd name="T18" fmla="*/ 396 w 1016"/>
                <a:gd name="T19" fmla="*/ 180 h 497"/>
                <a:gd name="T20" fmla="*/ 420 w 1016"/>
                <a:gd name="T21" fmla="*/ 160 h 497"/>
                <a:gd name="T22" fmla="*/ 404 w 1016"/>
                <a:gd name="T23" fmla="*/ 60 h 497"/>
                <a:gd name="T24" fmla="*/ 500 w 1016"/>
                <a:gd name="T25" fmla="*/ 4 h 497"/>
                <a:gd name="T26" fmla="*/ 1016 w 1016"/>
                <a:gd name="T27" fmla="*/ 0 h 497"/>
                <a:gd name="T28" fmla="*/ 156 w 1016"/>
                <a:gd name="T29" fmla="*/ 497 h 497"/>
                <a:gd name="T30" fmla="*/ 0 w 1016"/>
                <a:gd name="T31" fmla="*/ 408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16" h="497">
                  <a:moveTo>
                    <a:pt x="0" y="408"/>
                  </a:moveTo>
                  <a:lnTo>
                    <a:pt x="120" y="336"/>
                  </a:lnTo>
                  <a:lnTo>
                    <a:pt x="124" y="304"/>
                  </a:lnTo>
                  <a:lnTo>
                    <a:pt x="124" y="268"/>
                  </a:lnTo>
                  <a:lnTo>
                    <a:pt x="116" y="220"/>
                  </a:lnTo>
                  <a:lnTo>
                    <a:pt x="200" y="176"/>
                  </a:lnTo>
                  <a:lnTo>
                    <a:pt x="248" y="192"/>
                  </a:lnTo>
                  <a:lnTo>
                    <a:pt x="300" y="204"/>
                  </a:lnTo>
                  <a:lnTo>
                    <a:pt x="356" y="196"/>
                  </a:lnTo>
                  <a:lnTo>
                    <a:pt x="396" y="180"/>
                  </a:lnTo>
                  <a:lnTo>
                    <a:pt x="420" y="160"/>
                  </a:lnTo>
                  <a:lnTo>
                    <a:pt x="404" y="60"/>
                  </a:lnTo>
                  <a:lnTo>
                    <a:pt x="500" y="4"/>
                  </a:lnTo>
                  <a:lnTo>
                    <a:pt x="1016" y="0"/>
                  </a:lnTo>
                  <a:lnTo>
                    <a:pt x="156" y="497"/>
                  </a:lnTo>
                  <a:lnTo>
                    <a:pt x="0" y="408"/>
                  </a:lnTo>
                  <a:close/>
                </a:path>
              </a:pathLst>
            </a:custGeom>
            <a:gradFill rotWithShape="0">
              <a:gsLst>
                <a:gs pos="0">
                  <a:srgbClr val="CC5200"/>
                </a:gs>
                <a:gs pos="100000">
                  <a:srgbClr val="FF6600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8" name="Freeform 67"/>
            <p:cNvSpPr>
              <a:spLocks noChangeArrowheads="1"/>
            </p:cNvSpPr>
            <p:nvPr/>
          </p:nvSpPr>
          <p:spPr bwMode="auto">
            <a:xfrm>
              <a:off x="3087" y="1666"/>
              <a:ext cx="38" cy="22"/>
            </a:xfrm>
            <a:custGeom>
              <a:avLst/>
              <a:gdLst>
                <a:gd name="T0" fmla="*/ 0 w 115"/>
                <a:gd name="T1" fmla="*/ 0 h 66"/>
                <a:gd name="T2" fmla="*/ 113 w 115"/>
                <a:gd name="T3" fmla="*/ 66 h 66"/>
                <a:gd name="T4" fmla="*/ 115 w 115"/>
                <a:gd name="T5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5" h="66">
                  <a:moveTo>
                    <a:pt x="0" y="0"/>
                  </a:moveTo>
                  <a:lnTo>
                    <a:pt x="113" y="66"/>
                  </a:lnTo>
                  <a:lnTo>
                    <a:pt x="115" y="66"/>
                  </a:lnTo>
                </a:path>
              </a:pathLst>
            </a:custGeom>
            <a:noFill/>
            <a:ln w="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9" name="Freeform 68"/>
            <p:cNvSpPr>
              <a:spLocks noChangeArrowheads="1"/>
            </p:cNvSpPr>
            <p:nvPr/>
          </p:nvSpPr>
          <p:spPr bwMode="auto">
            <a:xfrm>
              <a:off x="3066" y="1644"/>
              <a:ext cx="96" cy="117"/>
            </a:xfrm>
            <a:custGeom>
              <a:avLst/>
              <a:gdLst>
                <a:gd name="T0" fmla="*/ 27 w 96"/>
                <a:gd name="T1" fmla="*/ 63 h 117"/>
                <a:gd name="T2" fmla="*/ 18 w 96"/>
                <a:gd name="T3" fmla="*/ 96 h 117"/>
                <a:gd name="T4" fmla="*/ 0 w 96"/>
                <a:gd name="T5" fmla="*/ 117 h 117"/>
                <a:gd name="T6" fmla="*/ 38 w 96"/>
                <a:gd name="T7" fmla="*/ 104 h 117"/>
                <a:gd name="T8" fmla="*/ 64 w 96"/>
                <a:gd name="T9" fmla="*/ 90 h 117"/>
                <a:gd name="T10" fmla="*/ 84 w 96"/>
                <a:gd name="T11" fmla="*/ 69 h 117"/>
                <a:gd name="T12" fmla="*/ 96 w 96"/>
                <a:gd name="T13" fmla="*/ 42 h 117"/>
                <a:gd name="T14" fmla="*/ 74 w 96"/>
                <a:gd name="T15" fmla="*/ 18 h 117"/>
                <a:gd name="T16" fmla="*/ 50 w 96"/>
                <a:gd name="T17" fmla="*/ 0 h 117"/>
                <a:gd name="T18" fmla="*/ 14 w 96"/>
                <a:gd name="T19" fmla="*/ 18 h 117"/>
                <a:gd name="T20" fmla="*/ 52 w 96"/>
                <a:gd name="T21" fmla="*/ 40 h 117"/>
                <a:gd name="T22" fmla="*/ 27 w 96"/>
                <a:gd name="T23" fmla="*/ 63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" h="117">
                  <a:moveTo>
                    <a:pt x="27" y="63"/>
                  </a:moveTo>
                  <a:lnTo>
                    <a:pt x="18" y="96"/>
                  </a:lnTo>
                  <a:lnTo>
                    <a:pt x="0" y="117"/>
                  </a:lnTo>
                  <a:lnTo>
                    <a:pt x="38" y="104"/>
                  </a:lnTo>
                  <a:lnTo>
                    <a:pt x="64" y="90"/>
                  </a:lnTo>
                  <a:lnTo>
                    <a:pt x="84" y="69"/>
                  </a:lnTo>
                  <a:lnTo>
                    <a:pt x="96" y="42"/>
                  </a:lnTo>
                  <a:lnTo>
                    <a:pt x="74" y="18"/>
                  </a:lnTo>
                  <a:lnTo>
                    <a:pt x="50" y="0"/>
                  </a:lnTo>
                  <a:lnTo>
                    <a:pt x="14" y="18"/>
                  </a:lnTo>
                  <a:lnTo>
                    <a:pt x="52" y="40"/>
                  </a:lnTo>
                  <a:lnTo>
                    <a:pt x="27" y="63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0" name="Freeform 69"/>
            <p:cNvSpPr>
              <a:spLocks noChangeArrowheads="1"/>
            </p:cNvSpPr>
            <p:nvPr/>
          </p:nvSpPr>
          <p:spPr bwMode="auto">
            <a:xfrm>
              <a:off x="2294" y="2330"/>
              <a:ext cx="24" cy="116"/>
            </a:xfrm>
            <a:custGeom>
              <a:avLst/>
              <a:gdLst>
                <a:gd name="T0" fmla="*/ 0 w 24"/>
                <a:gd name="T1" fmla="*/ 0 h 116"/>
                <a:gd name="T2" fmla="*/ 24 w 24"/>
                <a:gd name="T3" fmla="*/ 36 h 116"/>
                <a:gd name="T4" fmla="*/ 24 w 24"/>
                <a:gd name="T5" fmla="*/ 64 h 116"/>
                <a:gd name="T6" fmla="*/ 12 w 24"/>
                <a:gd name="T7" fmla="*/ 92 h 116"/>
                <a:gd name="T8" fmla="*/ 0 w 24"/>
                <a:gd name="T9" fmla="*/ 116 h 116"/>
                <a:gd name="T10" fmla="*/ 0 w 24"/>
                <a:gd name="T1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16">
                  <a:moveTo>
                    <a:pt x="0" y="0"/>
                  </a:moveTo>
                  <a:lnTo>
                    <a:pt x="24" y="36"/>
                  </a:lnTo>
                  <a:lnTo>
                    <a:pt x="24" y="64"/>
                  </a:lnTo>
                  <a:lnTo>
                    <a:pt x="12" y="92"/>
                  </a:lnTo>
                  <a:lnTo>
                    <a:pt x="0" y="116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rgbClr val="FFCC00"/>
                </a:gs>
                <a:gs pos="100000">
                  <a:srgbClr val="765E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1" name="Freeform 70"/>
            <p:cNvSpPr>
              <a:spLocks noChangeArrowheads="1"/>
            </p:cNvSpPr>
            <p:nvPr/>
          </p:nvSpPr>
          <p:spPr bwMode="auto">
            <a:xfrm>
              <a:off x="2574" y="2172"/>
              <a:ext cx="36" cy="102"/>
            </a:xfrm>
            <a:custGeom>
              <a:avLst/>
              <a:gdLst>
                <a:gd name="T0" fmla="*/ 0 w 36"/>
                <a:gd name="T1" fmla="*/ 0 h 102"/>
                <a:gd name="T2" fmla="*/ 8 w 36"/>
                <a:gd name="T3" fmla="*/ 102 h 102"/>
                <a:gd name="T4" fmla="*/ 32 w 36"/>
                <a:gd name="T5" fmla="*/ 82 h 102"/>
                <a:gd name="T6" fmla="*/ 36 w 36"/>
                <a:gd name="T7" fmla="*/ 50 h 102"/>
                <a:gd name="T8" fmla="*/ 24 w 36"/>
                <a:gd name="T9" fmla="*/ 24 h 102"/>
                <a:gd name="T10" fmla="*/ 0 w 36"/>
                <a:gd name="T1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102">
                  <a:moveTo>
                    <a:pt x="0" y="0"/>
                  </a:moveTo>
                  <a:lnTo>
                    <a:pt x="8" y="102"/>
                  </a:lnTo>
                  <a:lnTo>
                    <a:pt x="32" y="82"/>
                  </a:lnTo>
                  <a:lnTo>
                    <a:pt x="36" y="50"/>
                  </a:lnTo>
                  <a:lnTo>
                    <a:pt x="24" y="24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rgbClr val="CC9900"/>
                </a:gs>
                <a:gs pos="100000">
                  <a:srgbClr val="261D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2" name="Freeform 71"/>
            <p:cNvSpPr>
              <a:spLocks noChangeArrowheads="1"/>
            </p:cNvSpPr>
            <p:nvPr/>
          </p:nvSpPr>
          <p:spPr bwMode="auto">
            <a:xfrm>
              <a:off x="2330" y="1634"/>
              <a:ext cx="944" cy="1248"/>
            </a:xfrm>
            <a:custGeom>
              <a:avLst/>
              <a:gdLst>
                <a:gd name="T0" fmla="*/ 348 w 944"/>
                <a:gd name="T1" fmla="*/ 160 h 1248"/>
                <a:gd name="T2" fmla="*/ 348 w 944"/>
                <a:gd name="T3" fmla="*/ 468 h 1248"/>
                <a:gd name="T4" fmla="*/ 412 w 944"/>
                <a:gd name="T5" fmla="*/ 496 h 1248"/>
                <a:gd name="T6" fmla="*/ 520 w 944"/>
                <a:gd name="T7" fmla="*/ 524 h 1248"/>
                <a:gd name="T8" fmla="*/ 616 w 944"/>
                <a:gd name="T9" fmla="*/ 532 h 1248"/>
                <a:gd name="T10" fmla="*/ 700 w 944"/>
                <a:gd name="T11" fmla="*/ 520 h 1248"/>
                <a:gd name="T12" fmla="*/ 776 w 944"/>
                <a:gd name="T13" fmla="*/ 500 h 1248"/>
                <a:gd name="T14" fmla="*/ 860 w 944"/>
                <a:gd name="T15" fmla="*/ 464 h 1248"/>
                <a:gd name="T16" fmla="*/ 0 w 944"/>
                <a:gd name="T17" fmla="*/ 961 h 1248"/>
                <a:gd name="T18" fmla="*/ 0 w 944"/>
                <a:gd name="T19" fmla="*/ 1248 h 1248"/>
                <a:gd name="T20" fmla="*/ 853 w 944"/>
                <a:gd name="T21" fmla="*/ 756 h 1248"/>
                <a:gd name="T22" fmla="*/ 900 w 944"/>
                <a:gd name="T23" fmla="*/ 712 h 1248"/>
                <a:gd name="T24" fmla="*/ 936 w 944"/>
                <a:gd name="T25" fmla="*/ 672 h 1248"/>
                <a:gd name="T26" fmla="*/ 944 w 944"/>
                <a:gd name="T27" fmla="*/ 636 h 1248"/>
                <a:gd name="T28" fmla="*/ 944 w 944"/>
                <a:gd name="T29" fmla="*/ 604 h 1248"/>
                <a:gd name="T30" fmla="*/ 944 w 944"/>
                <a:gd name="T31" fmla="*/ 0 h 1248"/>
                <a:gd name="T32" fmla="*/ 776 w 944"/>
                <a:gd name="T33" fmla="*/ 160 h 1248"/>
                <a:gd name="T34" fmla="*/ 532 w 944"/>
                <a:gd name="T35" fmla="*/ 188 h 1248"/>
                <a:gd name="T36" fmla="*/ 348 w 944"/>
                <a:gd name="T37" fmla="*/ 160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44" h="1248">
                  <a:moveTo>
                    <a:pt x="348" y="160"/>
                  </a:moveTo>
                  <a:lnTo>
                    <a:pt x="348" y="468"/>
                  </a:lnTo>
                  <a:lnTo>
                    <a:pt x="412" y="496"/>
                  </a:lnTo>
                  <a:lnTo>
                    <a:pt x="520" y="524"/>
                  </a:lnTo>
                  <a:lnTo>
                    <a:pt x="616" y="532"/>
                  </a:lnTo>
                  <a:lnTo>
                    <a:pt x="700" y="520"/>
                  </a:lnTo>
                  <a:lnTo>
                    <a:pt x="776" y="500"/>
                  </a:lnTo>
                  <a:lnTo>
                    <a:pt x="860" y="464"/>
                  </a:lnTo>
                  <a:lnTo>
                    <a:pt x="0" y="961"/>
                  </a:lnTo>
                  <a:lnTo>
                    <a:pt x="0" y="1248"/>
                  </a:lnTo>
                  <a:lnTo>
                    <a:pt x="853" y="756"/>
                  </a:lnTo>
                  <a:lnTo>
                    <a:pt x="900" y="712"/>
                  </a:lnTo>
                  <a:lnTo>
                    <a:pt x="936" y="672"/>
                  </a:lnTo>
                  <a:lnTo>
                    <a:pt x="944" y="636"/>
                  </a:lnTo>
                  <a:lnTo>
                    <a:pt x="944" y="604"/>
                  </a:lnTo>
                  <a:lnTo>
                    <a:pt x="944" y="0"/>
                  </a:lnTo>
                  <a:lnTo>
                    <a:pt x="776" y="160"/>
                  </a:lnTo>
                  <a:lnTo>
                    <a:pt x="532" y="188"/>
                  </a:lnTo>
                  <a:lnTo>
                    <a:pt x="348" y="160"/>
                  </a:lnTo>
                  <a:close/>
                </a:path>
              </a:pathLst>
            </a:custGeom>
            <a:gradFill rotWithShape="0">
              <a:gsLst>
                <a:gs pos="0">
                  <a:srgbClr val="780000"/>
                </a:gs>
                <a:gs pos="50000">
                  <a:srgbClr val="CC0000"/>
                </a:gs>
                <a:gs pos="100000">
                  <a:srgbClr val="78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3" name="Freeform 72"/>
            <p:cNvSpPr>
              <a:spLocks noChangeArrowheads="1"/>
            </p:cNvSpPr>
            <p:nvPr/>
          </p:nvSpPr>
          <p:spPr bwMode="auto">
            <a:xfrm>
              <a:off x="2676" y="1494"/>
              <a:ext cx="602" cy="368"/>
            </a:xfrm>
            <a:custGeom>
              <a:avLst/>
              <a:gdLst>
                <a:gd name="T0" fmla="*/ 0 w 602"/>
                <a:gd name="T1" fmla="*/ 294 h 368"/>
                <a:gd name="T2" fmla="*/ 82 w 602"/>
                <a:gd name="T3" fmla="*/ 250 h 368"/>
                <a:gd name="T4" fmla="*/ 144 w 602"/>
                <a:gd name="T5" fmla="*/ 276 h 368"/>
                <a:gd name="T6" fmla="*/ 198 w 602"/>
                <a:gd name="T7" fmla="*/ 288 h 368"/>
                <a:gd name="T8" fmla="*/ 264 w 602"/>
                <a:gd name="T9" fmla="*/ 294 h 368"/>
                <a:gd name="T10" fmla="*/ 324 w 602"/>
                <a:gd name="T11" fmla="*/ 290 h 368"/>
                <a:gd name="T12" fmla="*/ 370 w 602"/>
                <a:gd name="T13" fmla="*/ 276 h 368"/>
                <a:gd name="T14" fmla="*/ 430 w 602"/>
                <a:gd name="T15" fmla="*/ 248 h 368"/>
                <a:gd name="T16" fmla="*/ 458 w 602"/>
                <a:gd name="T17" fmla="*/ 224 h 368"/>
                <a:gd name="T18" fmla="*/ 488 w 602"/>
                <a:gd name="T19" fmla="*/ 192 h 368"/>
                <a:gd name="T20" fmla="*/ 496 w 602"/>
                <a:gd name="T21" fmla="*/ 136 h 368"/>
                <a:gd name="T22" fmla="*/ 490 w 602"/>
                <a:gd name="T23" fmla="*/ 102 h 368"/>
                <a:gd name="T24" fmla="*/ 472 w 602"/>
                <a:gd name="T25" fmla="*/ 78 h 368"/>
                <a:gd name="T26" fmla="*/ 434 w 602"/>
                <a:gd name="T27" fmla="*/ 48 h 368"/>
                <a:gd name="T28" fmla="*/ 516 w 602"/>
                <a:gd name="T29" fmla="*/ 0 h 368"/>
                <a:gd name="T30" fmla="*/ 558 w 602"/>
                <a:gd name="T31" fmla="*/ 30 h 368"/>
                <a:gd name="T32" fmla="*/ 574 w 602"/>
                <a:gd name="T33" fmla="*/ 64 h 368"/>
                <a:gd name="T34" fmla="*/ 594 w 602"/>
                <a:gd name="T35" fmla="*/ 108 h 368"/>
                <a:gd name="T36" fmla="*/ 602 w 602"/>
                <a:gd name="T37" fmla="*/ 148 h 368"/>
                <a:gd name="T38" fmla="*/ 590 w 602"/>
                <a:gd name="T39" fmla="*/ 202 h 368"/>
                <a:gd name="T40" fmla="*/ 576 w 602"/>
                <a:gd name="T41" fmla="*/ 230 h 368"/>
                <a:gd name="T42" fmla="*/ 540 w 602"/>
                <a:gd name="T43" fmla="*/ 272 h 368"/>
                <a:gd name="T44" fmla="*/ 500 w 602"/>
                <a:gd name="T45" fmla="*/ 302 h 368"/>
                <a:gd name="T46" fmla="*/ 426 w 602"/>
                <a:gd name="T47" fmla="*/ 334 h 368"/>
                <a:gd name="T48" fmla="*/ 350 w 602"/>
                <a:gd name="T49" fmla="*/ 356 h 368"/>
                <a:gd name="T50" fmla="*/ 258 w 602"/>
                <a:gd name="T51" fmla="*/ 368 h 368"/>
                <a:gd name="T52" fmla="*/ 166 w 602"/>
                <a:gd name="T53" fmla="*/ 360 h 368"/>
                <a:gd name="T54" fmla="*/ 70 w 602"/>
                <a:gd name="T55" fmla="*/ 336 h 368"/>
                <a:gd name="T56" fmla="*/ 0 w 602"/>
                <a:gd name="T57" fmla="*/ 294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2" h="368">
                  <a:moveTo>
                    <a:pt x="0" y="294"/>
                  </a:moveTo>
                  <a:lnTo>
                    <a:pt x="82" y="250"/>
                  </a:lnTo>
                  <a:lnTo>
                    <a:pt x="144" y="276"/>
                  </a:lnTo>
                  <a:lnTo>
                    <a:pt x="198" y="288"/>
                  </a:lnTo>
                  <a:lnTo>
                    <a:pt x="264" y="294"/>
                  </a:lnTo>
                  <a:lnTo>
                    <a:pt x="324" y="290"/>
                  </a:lnTo>
                  <a:lnTo>
                    <a:pt x="370" y="276"/>
                  </a:lnTo>
                  <a:lnTo>
                    <a:pt x="430" y="248"/>
                  </a:lnTo>
                  <a:lnTo>
                    <a:pt x="458" y="224"/>
                  </a:lnTo>
                  <a:lnTo>
                    <a:pt x="488" y="192"/>
                  </a:lnTo>
                  <a:lnTo>
                    <a:pt x="496" y="136"/>
                  </a:lnTo>
                  <a:lnTo>
                    <a:pt x="490" y="102"/>
                  </a:lnTo>
                  <a:lnTo>
                    <a:pt x="472" y="78"/>
                  </a:lnTo>
                  <a:lnTo>
                    <a:pt x="434" y="48"/>
                  </a:lnTo>
                  <a:lnTo>
                    <a:pt x="516" y="0"/>
                  </a:lnTo>
                  <a:lnTo>
                    <a:pt x="558" y="30"/>
                  </a:lnTo>
                  <a:lnTo>
                    <a:pt x="574" y="64"/>
                  </a:lnTo>
                  <a:lnTo>
                    <a:pt x="594" y="108"/>
                  </a:lnTo>
                  <a:lnTo>
                    <a:pt x="602" y="148"/>
                  </a:lnTo>
                  <a:lnTo>
                    <a:pt x="590" y="202"/>
                  </a:lnTo>
                  <a:lnTo>
                    <a:pt x="576" y="230"/>
                  </a:lnTo>
                  <a:lnTo>
                    <a:pt x="540" y="272"/>
                  </a:lnTo>
                  <a:lnTo>
                    <a:pt x="500" y="302"/>
                  </a:lnTo>
                  <a:lnTo>
                    <a:pt x="426" y="334"/>
                  </a:lnTo>
                  <a:lnTo>
                    <a:pt x="350" y="356"/>
                  </a:lnTo>
                  <a:lnTo>
                    <a:pt x="258" y="368"/>
                  </a:lnTo>
                  <a:lnTo>
                    <a:pt x="166" y="360"/>
                  </a:lnTo>
                  <a:lnTo>
                    <a:pt x="70" y="336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4" name="Freeform 73"/>
            <p:cNvSpPr>
              <a:spLocks noChangeArrowheads="1"/>
            </p:cNvSpPr>
            <p:nvPr/>
          </p:nvSpPr>
          <p:spPr bwMode="auto">
            <a:xfrm>
              <a:off x="2178" y="2506"/>
              <a:ext cx="156" cy="376"/>
            </a:xfrm>
            <a:custGeom>
              <a:avLst/>
              <a:gdLst>
                <a:gd name="T0" fmla="*/ 0 w 156"/>
                <a:gd name="T1" fmla="*/ 0 h 376"/>
                <a:gd name="T2" fmla="*/ 156 w 156"/>
                <a:gd name="T3" fmla="*/ 88 h 376"/>
                <a:gd name="T4" fmla="*/ 156 w 156"/>
                <a:gd name="T5" fmla="*/ 376 h 376"/>
                <a:gd name="T6" fmla="*/ 0 w 156"/>
                <a:gd name="T7" fmla="*/ 288 h 376"/>
                <a:gd name="T8" fmla="*/ 0 w 156"/>
                <a:gd name="T9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376">
                  <a:moveTo>
                    <a:pt x="0" y="0"/>
                  </a:moveTo>
                  <a:lnTo>
                    <a:pt x="156" y="88"/>
                  </a:lnTo>
                  <a:lnTo>
                    <a:pt x="156" y="376"/>
                  </a:lnTo>
                  <a:lnTo>
                    <a:pt x="0" y="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75" name="Group 74"/>
          <p:cNvGrpSpPr>
            <a:grpSpLocks noChangeAspect="1"/>
          </p:cNvGrpSpPr>
          <p:nvPr/>
        </p:nvGrpSpPr>
        <p:grpSpPr bwMode="auto">
          <a:xfrm>
            <a:off x="3335339" y="1477964"/>
            <a:ext cx="2320925" cy="1889125"/>
            <a:chOff x="561" y="1016"/>
            <a:chExt cx="1828" cy="1488"/>
          </a:xfrm>
        </p:grpSpPr>
        <p:sp>
          <p:nvSpPr>
            <p:cNvPr id="76" name="Line 75"/>
            <p:cNvSpPr>
              <a:spLocks noChangeAspect="1" noChangeShapeType="1"/>
            </p:cNvSpPr>
            <p:nvPr/>
          </p:nvSpPr>
          <p:spPr bwMode="auto">
            <a:xfrm flipH="1" flipV="1">
              <a:off x="579" y="1940"/>
              <a:ext cx="443" cy="288"/>
            </a:xfrm>
            <a:prstGeom prst="line">
              <a:avLst/>
            </a:prstGeom>
            <a:noFill/>
            <a:ln w="12700">
              <a:solidFill>
                <a:schemeClr val="accent2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" name="Line 76"/>
            <p:cNvSpPr>
              <a:spLocks noChangeAspect="1" noChangeShapeType="1"/>
            </p:cNvSpPr>
            <p:nvPr/>
          </p:nvSpPr>
          <p:spPr bwMode="auto">
            <a:xfrm flipH="1" flipV="1">
              <a:off x="561" y="2236"/>
              <a:ext cx="456" cy="268"/>
            </a:xfrm>
            <a:prstGeom prst="line">
              <a:avLst/>
            </a:prstGeom>
            <a:noFill/>
            <a:ln w="12700">
              <a:solidFill>
                <a:schemeClr val="accent2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" name="Line 77"/>
            <p:cNvSpPr>
              <a:spLocks noChangeAspect="1" noChangeShapeType="1"/>
            </p:cNvSpPr>
            <p:nvPr/>
          </p:nvSpPr>
          <p:spPr bwMode="auto">
            <a:xfrm flipH="1" flipV="1">
              <a:off x="1185" y="1311"/>
              <a:ext cx="693" cy="400"/>
            </a:xfrm>
            <a:prstGeom prst="line">
              <a:avLst/>
            </a:prstGeom>
            <a:noFill/>
            <a:ln w="12700">
              <a:solidFill>
                <a:schemeClr val="accent2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" name="Line 78"/>
            <p:cNvSpPr>
              <a:spLocks noChangeAspect="1" noChangeShapeType="1"/>
            </p:cNvSpPr>
            <p:nvPr/>
          </p:nvSpPr>
          <p:spPr bwMode="auto">
            <a:xfrm flipH="1" flipV="1">
              <a:off x="1690" y="1016"/>
              <a:ext cx="699" cy="384"/>
            </a:xfrm>
            <a:prstGeom prst="line">
              <a:avLst/>
            </a:prstGeom>
            <a:noFill/>
            <a:ln w="12700">
              <a:solidFill>
                <a:schemeClr val="accent2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0" name="Group 79"/>
          <p:cNvGrpSpPr>
            <a:grpSpLocks noChangeAspect="1"/>
          </p:cNvGrpSpPr>
          <p:nvPr/>
        </p:nvGrpSpPr>
        <p:grpSpPr bwMode="auto">
          <a:xfrm>
            <a:off x="3641725" y="1484314"/>
            <a:ext cx="1163638" cy="1343025"/>
            <a:chOff x="774" y="1311"/>
            <a:chExt cx="916" cy="1058"/>
          </a:xfrm>
        </p:grpSpPr>
        <p:sp>
          <p:nvSpPr>
            <p:cNvPr id="81" name="Freeform 80"/>
            <p:cNvSpPr>
              <a:spLocks noChangeAspect="1" noChangeArrowheads="1"/>
            </p:cNvSpPr>
            <p:nvPr/>
          </p:nvSpPr>
          <p:spPr bwMode="auto">
            <a:xfrm>
              <a:off x="1028" y="1734"/>
              <a:ext cx="294" cy="510"/>
            </a:xfrm>
            <a:custGeom>
              <a:avLst/>
              <a:gdLst>
                <a:gd name="T0" fmla="*/ 0 w 884"/>
                <a:gd name="T1" fmla="*/ 1531 h 1531"/>
                <a:gd name="T2" fmla="*/ 883 w 884"/>
                <a:gd name="T3" fmla="*/ 0 h 1531"/>
                <a:gd name="T4" fmla="*/ 884 w 884"/>
                <a:gd name="T5" fmla="*/ 0 h 1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4" h="1531">
                  <a:moveTo>
                    <a:pt x="0" y="1531"/>
                  </a:moveTo>
                  <a:lnTo>
                    <a:pt x="883" y="0"/>
                  </a:lnTo>
                  <a:lnTo>
                    <a:pt x="884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2" name="Freeform 81"/>
            <p:cNvSpPr>
              <a:spLocks noChangeAspect="1" noChangeArrowheads="1"/>
            </p:cNvSpPr>
            <p:nvPr/>
          </p:nvSpPr>
          <p:spPr bwMode="auto">
            <a:xfrm>
              <a:off x="1249" y="1989"/>
              <a:ext cx="73" cy="127"/>
            </a:xfrm>
            <a:custGeom>
              <a:avLst/>
              <a:gdLst>
                <a:gd name="T0" fmla="*/ 0 w 221"/>
                <a:gd name="T1" fmla="*/ 382 h 382"/>
                <a:gd name="T2" fmla="*/ 220 w 221"/>
                <a:gd name="T3" fmla="*/ 0 h 382"/>
                <a:gd name="T4" fmla="*/ 221 w 221"/>
                <a:gd name="T5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1" h="382">
                  <a:moveTo>
                    <a:pt x="0" y="382"/>
                  </a:moveTo>
                  <a:lnTo>
                    <a:pt x="220" y="0"/>
                  </a:lnTo>
                  <a:lnTo>
                    <a:pt x="221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3" name="Freeform 82"/>
            <p:cNvSpPr>
              <a:spLocks noChangeAspect="1" noChangeArrowheads="1"/>
            </p:cNvSpPr>
            <p:nvPr/>
          </p:nvSpPr>
          <p:spPr bwMode="auto">
            <a:xfrm>
              <a:off x="1184" y="1606"/>
              <a:ext cx="138" cy="239"/>
            </a:xfrm>
            <a:custGeom>
              <a:avLst/>
              <a:gdLst>
                <a:gd name="T0" fmla="*/ 0 w 415"/>
                <a:gd name="T1" fmla="*/ 719 h 719"/>
                <a:gd name="T2" fmla="*/ 414 w 415"/>
                <a:gd name="T3" fmla="*/ 0 h 719"/>
                <a:gd name="T4" fmla="*/ 415 w 415"/>
                <a:gd name="T5" fmla="*/ 0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5" h="719">
                  <a:moveTo>
                    <a:pt x="0" y="719"/>
                  </a:moveTo>
                  <a:lnTo>
                    <a:pt x="414" y="0"/>
                  </a:lnTo>
                  <a:lnTo>
                    <a:pt x="415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4" name="Freeform 83"/>
            <p:cNvSpPr>
              <a:spLocks noChangeAspect="1" noChangeArrowheads="1"/>
            </p:cNvSpPr>
            <p:nvPr/>
          </p:nvSpPr>
          <p:spPr bwMode="auto">
            <a:xfrm>
              <a:off x="1014" y="1877"/>
              <a:ext cx="152" cy="263"/>
            </a:xfrm>
            <a:custGeom>
              <a:avLst/>
              <a:gdLst>
                <a:gd name="T0" fmla="*/ 0 w 456"/>
                <a:gd name="T1" fmla="*/ 788 h 788"/>
                <a:gd name="T2" fmla="*/ 455 w 456"/>
                <a:gd name="T3" fmla="*/ 0 h 788"/>
                <a:gd name="T4" fmla="*/ 456 w 456"/>
                <a:gd name="T5" fmla="*/ 0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6" h="788">
                  <a:moveTo>
                    <a:pt x="0" y="788"/>
                  </a:moveTo>
                  <a:lnTo>
                    <a:pt x="455" y="0"/>
                  </a:lnTo>
                  <a:lnTo>
                    <a:pt x="456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5" name="Freeform 84"/>
            <p:cNvSpPr>
              <a:spLocks noChangeAspect="1" noChangeArrowheads="1"/>
            </p:cNvSpPr>
            <p:nvPr/>
          </p:nvSpPr>
          <p:spPr bwMode="auto">
            <a:xfrm>
              <a:off x="1184" y="1586"/>
              <a:ext cx="76" cy="132"/>
            </a:xfrm>
            <a:custGeom>
              <a:avLst/>
              <a:gdLst>
                <a:gd name="T0" fmla="*/ 0 w 228"/>
                <a:gd name="T1" fmla="*/ 395 h 395"/>
                <a:gd name="T2" fmla="*/ 227 w 228"/>
                <a:gd name="T3" fmla="*/ 0 h 395"/>
                <a:gd name="T4" fmla="*/ 228 w 228"/>
                <a:gd name="T5" fmla="*/ 0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8" h="395">
                  <a:moveTo>
                    <a:pt x="0" y="395"/>
                  </a:moveTo>
                  <a:lnTo>
                    <a:pt x="227" y="0"/>
                  </a:lnTo>
                  <a:lnTo>
                    <a:pt x="228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6" name="Freeform 85"/>
            <p:cNvSpPr>
              <a:spLocks noChangeAspect="1" noChangeArrowheads="1"/>
            </p:cNvSpPr>
            <p:nvPr/>
          </p:nvSpPr>
          <p:spPr bwMode="auto">
            <a:xfrm>
              <a:off x="1587" y="1736"/>
              <a:ext cx="103" cy="177"/>
            </a:xfrm>
            <a:custGeom>
              <a:avLst/>
              <a:gdLst>
                <a:gd name="T0" fmla="*/ 0 w 309"/>
                <a:gd name="T1" fmla="*/ 533 h 533"/>
                <a:gd name="T2" fmla="*/ 308 w 309"/>
                <a:gd name="T3" fmla="*/ 0 h 533"/>
                <a:gd name="T4" fmla="*/ 309 w 309"/>
                <a:gd name="T5" fmla="*/ 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9" h="533">
                  <a:moveTo>
                    <a:pt x="0" y="533"/>
                  </a:moveTo>
                  <a:lnTo>
                    <a:pt x="308" y="0"/>
                  </a:lnTo>
                  <a:lnTo>
                    <a:pt x="309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7" name="Freeform 86"/>
            <p:cNvSpPr>
              <a:spLocks noChangeAspect="1" noChangeArrowheads="1"/>
            </p:cNvSpPr>
            <p:nvPr/>
          </p:nvSpPr>
          <p:spPr bwMode="auto">
            <a:xfrm>
              <a:off x="1587" y="1607"/>
              <a:ext cx="103" cy="179"/>
            </a:xfrm>
            <a:custGeom>
              <a:avLst/>
              <a:gdLst>
                <a:gd name="T0" fmla="*/ 0 w 309"/>
                <a:gd name="T1" fmla="*/ 535 h 535"/>
                <a:gd name="T2" fmla="*/ 308 w 309"/>
                <a:gd name="T3" fmla="*/ 0 h 535"/>
                <a:gd name="T4" fmla="*/ 309 w 309"/>
                <a:gd name="T5" fmla="*/ 0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9" h="535">
                  <a:moveTo>
                    <a:pt x="0" y="535"/>
                  </a:moveTo>
                  <a:lnTo>
                    <a:pt x="308" y="0"/>
                  </a:lnTo>
                  <a:lnTo>
                    <a:pt x="309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8" name="Freeform 87"/>
            <p:cNvSpPr>
              <a:spLocks noChangeAspect="1" noChangeArrowheads="1"/>
            </p:cNvSpPr>
            <p:nvPr/>
          </p:nvSpPr>
          <p:spPr bwMode="auto">
            <a:xfrm>
              <a:off x="1587" y="1480"/>
              <a:ext cx="103" cy="177"/>
            </a:xfrm>
            <a:custGeom>
              <a:avLst/>
              <a:gdLst>
                <a:gd name="T0" fmla="*/ 0 w 309"/>
                <a:gd name="T1" fmla="*/ 533 h 533"/>
                <a:gd name="T2" fmla="*/ 308 w 309"/>
                <a:gd name="T3" fmla="*/ 0 h 533"/>
                <a:gd name="T4" fmla="*/ 309 w 309"/>
                <a:gd name="T5" fmla="*/ 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9" h="533">
                  <a:moveTo>
                    <a:pt x="0" y="533"/>
                  </a:moveTo>
                  <a:lnTo>
                    <a:pt x="308" y="0"/>
                  </a:lnTo>
                  <a:lnTo>
                    <a:pt x="309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9" name="Freeform 88"/>
            <p:cNvSpPr>
              <a:spLocks noChangeAspect="1" noChangeArrowheads="1"/>
            </p:cNvSpPr>
            <p:nvPr/>
          </p:nvSpPr>
          <p:spPr bwMode="auto">
            <a:xfrm>
              <a:off x="1587" y="1352"/>
              <a:ext cx="103" cy="178"/>
            </a:xfrm>
            <a:custGeom>
              <a:avLst/>
              <a:gdLst>
                <a:gd name="T0" fmla="*/ 0 w 309"/>
                <a:gd name="T1" fmla="*/ 533 h 533"/>
                <a:gd name="T2" fmla="*/ 308 w 309"/>
                <a:gd name="T3" fmla="*/ 0 h 533"/>
                <a:gd name="T4" fmla="*/ 309 w 309"/>
                <a:gd name="T5" fmla="*/ 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9" h="533">
                  <a:moveTo>
                    <a:pt x="0" y="533"/>
                  </a:moveTo>
                  <a:lnTo>
                    <a:pt x="308" y="0"/>
                  </a:lnTo>
                  <a:lnTo>
                    <a:pt x="309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0" name="Freeform 89"/>
            <p:cNvSpPr>
              <a:spLocks noChangeAspect="1" noChangeArrowheads="1"/>
            </p:cNvSpPr>
            <p:nvPr/>
          </p:nvSpPr>
          <p:spPr bwMode="auto">
            <a:xfrm>
              <a:off x="1614" y="1311"/>
              <a:ext cx="26" cy="45"/>
            </a:xfrm>
            <a:custGeom>
              <a:avLst/>
              <a:gdLst>
                <a:gd name="T0" fmla="*/ 0 w 78"/>
                <a:gd name="T1" fmla="*/ 134 h 134"/>
                <a:gd name="T2" fmla="*/ 77 w 78"/>
                <a:gd name="T3" fmla="*/ 0 h 134"/>
                <a:gd name="T4" fmla="*/ 78 w 78"/>
                <a:gd name="T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" h="134">
                  <a:moveTo>
                    <a:pt x="0" y="134"/>
                  </a:moveTo>
                  <a:lnTo>
                    <a:pt x="77" y="0"/>
                  </a:lnTo>
                  <a:lnTo>
                    <a:pt x="78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1" name="Freeform 90"/>
            <p:cNvSpPr>
              <a:spLocks noChangeAspect="1" noChangeArrowheads="1"/>
            </p:cNvSpPr>
            <p:nvPr/>
          </p:nvSpPr>
          <p:spPr bwMode="auto">
            <a:xfrm>
              <a:off x="812" y="2201"/>
              <a:ext cx="97" cy="168"/>
            </a:xfrm>
            <a:custGeom>
              <a:avLst/>
              <a:gdLst>
                <a:gd name="T0" fmla="*/ 0 w 292"/>
                <a:gd name="T1" fmla="*/ 502 h 502"/>
                <a:gd name="T2" fmla="*/ 291 w 292"/>
                <a:gd name="T3" fmla="*/ 0 h 502"/>
                <a:gd name="T4" fmla="*/ 292 w 292"/>
                <a:gd name="T5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2" h="502">
                  <a:moveTo>
                    <a:pt x="0" y="502"/>
                  </a:moveTo>
                  <a:lnTo>
                    <a:pt x="291" y="0"/>
                  </a:lnTo>
                  <a:lnTo>
                    <a:pt x="292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2" name="Freeform 91"/>
            <p:cNvSpPr>
              <a:spLocks noChangeAspect="1" noChangeArrowheads="1"/>
            </p:cNvSpPr>
            <p:nvPr/>
          </p:nvSpPr>
          <p:spPr bwMode="auto">
            <a:xfrm>
              <a:off x="774" y="2158"/>
              <a:ext cx="86" cy="149"/>
            </a:xfrm>
            <a:custGeom>
              <a:avLst/>
              <a:gdLst>
                <a:gd name="T0" fmla="*/ 0 w 260"/>
                <a:gd name="T1" fmla="*/ 447 h 447"/>
                <a:gd name="T2" fmla="*/ 259 w 260"/>
                <a:gd name="T3" fmla="*/ 0 h 447"/>
                <a:gd name="T4" fmla="*/ 260 w 260"/>
                <a:gd name="T5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0" h="447">
                  <a:moveTo>
                    <a:pt x="0" y="447"/>
                  </a:moveTo>
                  <a:lnTo>
                    <a:pt x="259" y="0"/>
                  </a:lnTo>
                  <a:lnTo>
                    <a:pt x="260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3" name="Freeform 92"/>
            <p:cNvSpPr>
              <a:spLocks noChangeAspect="1" noChangeArrowheads="1"/>
            </p:cNvSpPr>
            <p:nvPr/>
          </p:nvSpPr>
          <p:spPr bwMode="auto">
            <a:xfrm>
              <a:off x="774" y="2066"/>
              <a:ext cx="65" cy="113"/>
            </a:xfrm>
            <a:custGeom>
              <a:avLst/>
              <a:gdLst>
                <a:gd name="T0" fmla="*/ 0 w 197"/>
                <a:gd name="T1" fmla="*/ 338 h 338"/>
                <a:gd name="T2" fmla="*/ 196 w 197"/>
                <a:gd name="T3" fmla="*/ 0 h 338"/>
                <a:gd name="T4" fmla="*/ 197 w 197"/>
                <a:gd name="T5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338">
                  <a:moveTo>
                    <a:pt x="0" y="338"/>
                  </a:moveTo>
                  <a:lnTo>
                    <a:pt x="196" y="0"/>
                  </a:lnTo>
                  <a:lnTo>
                    <a:pt x="197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4" name="Freeform 93"/>
            <p:cNvSpPr>
              <a:spLocks noChangeAspect="1" noChangeArrowheads="1"/>
            </p:cNvSpPr>
            <p:nvPr/>
          </p:nvSpPr>
          <p:spPr bwMode="auto">
            <a:xfrm>
              <a:off x="1138" y="1861"/>
              <a:ext cx="184" cy="319"/>
            </a:xfrm>
            <a:custGeom>
              <a:avLst/>
              <a:gdLst>
                <a:gd name="T0" fmla="*/ 0 w 553"/>
                <a:gd name="T1" fmla="*/ 956 h 956"/>
                <a:gd name="T2" fmla="*/ 552 w 553"/>
                <a:gd name="T3" fmla="*/ 0 h 956"/>
                <a:gd name="T4" fmla="*/ 553 w 553"/>
                <a:gd name="T5" fmla="*/ 0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3" h="956">
                  <a:moveTo>
                    <a:pt x="0" y="956"/>
                  </a:moveTo>
                  <a:lnTo>
                    <a:pt x="552" y="0"/>
                  </a:lnTo>
                  <a:lnTo>
                    <a:pt x="553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95" name="Group 94"/>
          <p:cNvGrpSpPr>
            <a:grpSpLocks noChangeAspect="1"/>
          </p:cNvGrpSpPr>
          <p:nvPr/>
        </p:nvGrpSpPr>
        <p:grpSpPr bwMode="auto">
          <a:xfrm>
            <a:off x="3370263" y="1463676"/>
            <a:ext cx="1422400" cy="1566863"/>
            <a:chOff x="571" y="1282"/>
            <a:chExt cx="1120" cy="1234"/>
          </a:xfrm>
        </p:grpSpPr>
        <p:sp>
          <p:nvSpPr>
            <p:cNvPr id="96" name="Freeform 95"/>
            <p:cNvSpPr>
              <a:spLocks noChangeAspect="1" noChangeArrowheads="1"/>
            </p:cNvSpPr>
            <p:nvPr/>
          </p:nvSpPr>
          <p:spPr bwMode="auto">
            <a:xfrm>
              <a:off x="774" y="2103"/>
              <a:ext cx="1" cy="288"/>
            </a:xfrm>
            <a:custGeom>
              <a:avLst/>
              <a:gdLst>
                <a:gd name="T0" fmla="*/ 0 w 1"/>
                <a:gd name="T1" fmla="*/ 0 h 862"/>
                <a:gd name="T2" fmla="*/ 0 w 1"/>
                <a:gd name="T3" fmla="*/ 862 h 862"/>
                <a:gd name="T4" fmla="*/ 1 w 1"/>
                <a:gd name="T5" fmla="*/ 862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62">
                  <a:moveTo>
                    <a:pt x="0" y="0"/>
                  </a:moveTo>
                  <a:lnTo>
                    <a:pt x="0" y="862"/>
                  </a:lnTo>
                  <a:lnTo>
                    <a:pt x="1" y="86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7" name="Freeform 96"/>
            <p:cNvSpPr>
              <a:spLocks noChangeAspect="1" noChangeArrowheads="1"/>
            </p:cNvSpPr>
            <p:nvPr/>
          </p:nvSpPr>
          <p:spPr bwMode="auto">
            <a:xfrm>
              <a:off x="1014" y="2081"/>
              <a:ext cx="1" cy="171"/>
            </a:xfrm>
            <a:custGeom>
              <a:avLst/>
              <a:gdLst>
                <a:gd name="T0" fmla="*/ 0 w 1"/>
                <a:gd name="T1" fmla="*/ 0 h 513"/>
                <a:gd name="T2" fmla="*/ 0 w 1"/>
                <a:gd name="T3" fmla="*/ 513 h 513"/>
                <a:gd name="T4" fmla="*/ 1 w 1"/>
                <a:gd name="T5" fmla="*/ 513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13">
                  <a:moveTo>
                    <a:pt x="0" y="0"/>
                  </a:moveTo>
                  <a:lnTo>
                    <a:pt x="0" y="513"/>
                  </a:lnTo>
                  <a:lnTo>
                    <a:pt x="1" y="51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8" name="Line 97"/>
            <p:cNvSpPr>
              <a:spLocks noChangeAspect="1" noChangeShapeType="1"/>
            </p:cNvSpPr>
            <p:nvPr/>
          </p:nvSpPr>
          <p:spPr bwMode="auto">
            <a:xfrm>
              <a:off x="1609" y="1322"/>
              <a:ext cx="0" cy="11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Line 98"/>
            <p:cNvSpPr>
              <a:spLocks noChangeAspect="1" noChangeShapeType="1"/>
            </p:cNvSpPr>
            <p:nvPr/>
          </p:nvSpPr>
          <p:spPr bwMode="auto">
            <a:xfrm>
              <a:off x="1261" y="1526"/>
              <a:ext cx="0" cy="10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" name="Freeform 99"/>
            <p:cNvSpPr>
              <a:spLocks noChangeAspect="1" noChangeArrowheads="1"/>
            </p:cNvSpPr>
            <p:nvPr/>
          </p:nvSpPr>
          <p:spPr bwMode="auto">
            <a:xfrm>
              <a:off x="572" y="1861"/>
              <a:ext cx="1118" cy="647"/>
            </a:xfrm>
            <a:custGeom>
              <a:avLst/>
              <a:gdLst>
                <a:gd name="T0" fmla="*/ 3354 w 3354"/>
                <a:gd name="T1" fmla="*/ 0 h 1939"/>
                <a:gd name="T2" fmla="*/ 0 w 3354"/>
                <a:gd name="T3" fmla="*/ 1939 h 1939"/>
                <a:gd name="T4" fmla="*/ 1 w 3354"/>
                <a:gd name="T5" fmla="*/ 1939 h 1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54" h="1939">
                  <a:moveTo>
                    <a:pt x="3354" y="0"/>
                  </a:moveTo>
                  <a:lnTo>
                    <a:pt x="0" y="1939"/>
                  </a:lnTo>
                  <a:lnTo>
                    <a:pt x="1" y="193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1" name="Freeform 100"/>
            <p:cNvSpPr>
              <a:spLocks noChangeAspect="1" noChangeArrowheads="1"/>
            </p:cNvSpPr>
            <p:nvPr/>
          </p:nvSpPr>
          <p:spPr bwMode="auto">
            <a:xfrm>
              <a:off x="572" y="1867"/>
              <a:ext cx="612" cy="353"/>
            </a:xfrm>
            <a:custGeom>
              <a:avLst/>
              <a:gdLst>
                <a:gd name="T0" fmla="*/ 1837 w 1837"/>
                <a:gd name="T1" fmla="*/ 0 h 1061"/>
                <a:gd name="T2" fmla="*/ 0 w 1837"/>
                <a:gd name="T3" fmla="*/ 1061 h 1061"/>
                <a:gd name="T4" fmla="*/ 1 w 1837"/>
                <a:gd name="T5" fmla="*/ 1061 h 10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37" h="1061">
                  <a:moveTo>
                    <a:pt x="1837" y="0"/>
                  </a:moveTo>
                  <a:lnTo>
                    <a:pt x="0" y="1061"/>
                  </a:lnTo>
                  <a:lnTo>
                    <a:pt x="1" y="106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2" name="Freeform 101"/>
            <p:cNvSpPr>
              <a:spLocks noChangeAspect="1" noChangeArrowheads="1"/>
            </p:cNvSpPr>
            <p:nvPr/>
          </p:nvSpPr>
          <p:spPr bwMode="auto">
            <a:xfrm>
              <a:off x="1184" y="1282"/>
              <a:ext cx="506" cy="292"/>
            </a:xfrm>
            <a:custGeom>
              <a:avLst/>
              <a:gdLst>
                <a:gd name="T0" fmla="*/ 1517 w 1517"/>
                <a:gd name="T1" fmla="*/ 0 h 877"/>
                <a:gd name="T2" fmla="*/ 0 w 1517"/>
                <a:gd name="T3" fmla="*/ 877 h 877"/>
                <a:gd name="T4" fmla="*/ 1 w 1517"/>
                <a:gd name="T5" fmla="*/ 877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17" h="877">
                  <a:moveTo>
                    <a:pt x="1517" y="0"/>
                  </a:moveTo>
                  <a:lnTo>
                    <a:pt x="0" y="877"/>
                  </a:lnTo>
                  <a:lnTo>
                    <a:pt x="1" y="87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3" name="Freeform 102"/>
            <p:cNvSpPr>
              <a:spLocks noChangeAspect="1" noChangeArrowheads="1"/>
            </p:cNvSpPr>
            <p:nvPr/>
          </p:nvSpPr>
          <p:spPr bwMode="auto">
            <a:xfrm>
              <a:off x="1690" y="1282"/>
              <a:ext cx="1" cy="579"/>
            </a:xfrm>
            <a:custGeom>
              <a:avLst/>
              <a:gdLst>
                <a:gd name="T0" fmla="*/ 0 w 1"/>
                <a:gd name="T1" fmla="*/ 1738 h 1738"/>
                <a:gd name="T2" fmla="*/ 0 w 1"/>
                <a:gd name="T3" fmla="*/ 0 h 1738"/>
                <a:gd name="T4" fmla="*/ 1 w 1"/>
                <a:gd name="T5" fmla="*/ 0 h 1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738">
                  <a:moveTo>
                    <a:pt x="0" y="173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4" name="Freeform 103"/>
            <p:cNvSpPr>
              <a:spLocks noChangeAspect="1" noChangeArrowheads="1"/>
            </p:cNvSpPr>
            <p:nvPr/>
          </p:nvSpPr>
          <p:spPr bwMode="auto">
            <a:xfrm>
              <a:off x="1062" y="1937"/>
              <a:ext cx="1" cy="117"/>
            </a:xfrm>
            <a:custGeom>
              <a:avLst/>
              <a:gdLst>
                <a:gd name="T0" fmla="*/ 0 w 1"/>
                <a:gd name="T1" fmla="*/ 0 h 350"/>
                <a:gd name="T2" fmla="*/ 0 w 1"/>
                <a:gd name="T3" fmla="*/ 350 h 350"/>
                <a:gd name="T4" fmla="*/ 1 w 1"/>
                <a:gd name="T5" fmla="*/ 3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50">
                  <a:moveTo>
                    <a:pt x="0" y="0"/>
                  </a:moveTo>
                  <a:lnTo>
                    <a:pt x="0" y="350"/>
                  </a:lnTo>
                  <a:lnTo>
                    <a:pt x="1" y="3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5" name="Freeform 104"/>
            <p:cNvSpPr>
              <a:spLocks noChangeAspect="1" noChangeArrowheads="1"/>
            </p:cNvSpPr>
            <p:nvPr/>
          </p:nvSpPr>
          <p:spPr bwMode="auto">
            <a:xfrm>
              <a:off x="961" y="1954"/>
              <a:ext cx="1" cy="412"/>
            </a:xfrm>
            <a:custGeom>
              <a:avLst/>
              <a:gdLst>
                <a:gd name="T0" fmla="*/ 0 w 1"/>
                <a:gd name="T1" fmla="*/ 0 h 1238"/>
                <a:gd name="T2" fmla="*/ 0 w 1"/>
                <a:gd name="T3" fmla="*/ 1238 h 1238"/>
                <a:gd name="T4" fmla="*/ 1 w 1"/>
                <a:gd name="T5" fmla="*/ 1238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38">
                  <a:moveTo>
                    <a:pt x="0" y="0"/>
                  </a:moveTo>
                  <a:lnTo>
                    <a:pt x="0" y="1238"/>
                  </a:lnTo>
                  <a:lnTo>
                    <a:pt x="1" y="123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6" name="Freeform 105"/>
            <p:cNvSpPr>
              <a:spLocks noChangeAspect="1" noChangeArrowheads="1"/>
            </p:cNvSpPr>
            <p:nvPr/>
          </p:nvSpPr>
          <p:spPr bwMode="auto">
            <a:xfrm>
              <a:off x="860" y="2054"/>
              <a:ext cx="1" cy="114"/>
            </a:xfrm>
            <a:custGeom>
              <a:avLst/>
              <a:gdLst>
                <a:gd name="T0" fmla="*/ 0 w 1"/>
                <a:gd name="T1" fmla="*/ 0 h 342"/>
                <a:gd name="T2" fmla="*/ 0 w 1"/>
                <a:gd name="T3" fmla="*/ 342 h 342"/>
                <a:gd name="T4" fmla="*/ 1 w 1"/>
                <a:gd name="T5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42">
                  <a:moveTo>
                    <a:pt x="0" y="0"/>
                  </a:moveTo>
                  <a:lnTo>
                    <a:pt x="0" y="342"/>
                  </a:lnTo>
                  <a:lnTo>
                    <a:pt x="1" y="34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7" name="Freeform 106"/>
            <p:cNvSpPr>
              <a:spLocks noChangeAspect="1" noChangeArrowheads="1"/>
            </p:cNvSpPr>
            <p:nvPr/>
          </p:nvSpPr>
          <p:spPr bwMode="auto">
            <a:xfrm>
              <a:off x="860" y="2054"/>
              <a:ext cx="203" cy="114"/>
            </a:xfrm>
            <a:custGeom>
              <a:avLst/>
              <a:gdLst>
                <a:gd name="T0" fmla="*/ 0 w 608"/>
                <a:gd name="T1" fmla="*/ 342 h 342"/>
                <a:gd name="T2" fmla="*/ 607 w 608"/>
                <a:gd name="T3" fmla="*/ 0 h 342"/>
                <a:gd name="T4" fmla="*/ 608 w 608"/>
                <a:gd name="T5" fmla="*/ 0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8" h="342">
                  <a:moveTo>
                    <a:pt x="0" y="342"/>
                  </a:moveTo>
                  <a:lnTo>
                    <a:pt x="607" y="0"/>
                  </a:lnTo>
                  <a:lnTo>
                    <a:pt x="60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8" name="Freeform 107"/>
            <p:cNvSpPr>
              <a:spLocks noChangeAspect="1" noChangeArrowheads="1"/>
            </p:cNvSpPr>
            <p:nvPr/>
          </p:nvSpPr>
          <p:spPr bwMode="auto">
            <a:xfrm>
              <a:off x="909" y="2140"/>
              <a:ext cx="1" cy="173"/>
            </a:xfrm>
            <a:custGeom>
              <a:avLst/>
              <a:gdLst>
                <a:gd name="T0" fmla="*/ 0 w 1"/>
                <a:gd name="T1" fmla="*/ 0 h 517"/>
                <a:gd name="T2" fmla="*/ 0 w 1"/>
                <a:gd name="T3" fmla="*/ 517 h 517"/>
                <a:gd name="T4" fmla="*/ 1 w 1"/>
                <a:gd name="T5" fmla="*/ 51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17">
                  <a:moveTo>
                    <a:pt x="0" y="0"/>
                  </a:moveTo>
                  <a:lnTo>
                    <a:pt x="0" y="517"/>
                  </a:lnTo>
                  <a:lnTo>
                    <a:pt x="1" y="51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9" name="Freeform 108"/>
            <p:cNvSpPr>
              <a:spLocks noChangeAspect="1" noChangeArrowheads="1"/>
            </p:cNvSpPr>
            <p:nvPr/>
          </p:nvSpPr>
          <p:spPr bwMode="auto">
            <a:xfrm>
              <a:off x="1184" y="1574"/>
              <a:ext cx="1" cy="293"/>
            </a:xfrm>
            <a:custGeom>
              <a:avLst/>
              <a:gdLst>
                <a:gd name="T0" fmla="*/ 0 w 1"/>
                <a:gd name="T1" fmla="*/ 0 h 877"/>
                <a:gd name="T2" fmla="*/ 0 w 1"/>
                <a:gd name="T3" fmla="*/ 877 h 877"/>
                <a:gd name="T4" fmla="*/ 1 w 1"/>
                <a:gd name="T5" fmla="*/ 877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77">
                  <a:moveTo>
                    <a:pt x="0" y="0"/>
                  </a:moveTo>
                  <a:lnTo>
                    <a:pt x="0" y="877"/>
                  </a:lnTo>
                  <a:lnTo>
                    <a:pt x="1" y="87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0" name="Freeform 109"/>
            <p:cNvSpPr>
              <a:spLocks noChangeAspect="1" noChangeArrowheads="1"/>
            </p:cNvSpPr>
            <p:nvPr/>
          </p:nvSpPr>
          <p:spPr bwMode="auto">
            <a:xfrm>
              <a:off x="1260" y="1428"/>
              <a:ext cx="354" cy="204"/>
            </a:xfrm>
            <a:custGeom>
              <a:avLst/>
              <a:gdLst>
                <a:gd name="T0" fmla="*/ 1062 w 1062"/>
                <a:gd name="T1" fmla="*/ 0 h 613"/>
                <a:gd name="T2" fmla="*/ 0 w 1062"/>
                <a:gd name="T3" fmla="*/ 613 h 613"/>
                <a:gd name="T4" fmla="*/ 1 w 1062"/>
                <a:gd name="T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62" h="613">
                  <a:moveTo>
                    <a:pt x="1062" y="0"/>
                  </a:moveTo>
                  <a:lnTo>
                    <a:pt x="0" y="613"/>
                  </a:lnTo>
                  <a:lnTo>
                    <a:pt x="1" y="61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1" name="Freeform 110"/>
            <p:cNvSpPr>
              <a:spLocks noChangeAspect="1" noChangeArrowheads="1"/>
            </p:cNvSpPr>
            <p:nvPr/>
          </p:nvSpPr>
          <p:spPr bwMode="auto">
            <a:xfrm>
              <a:off x="1184" y="1567"/>
              <a:ext cx="13" cy="22"/>
            </a:xfrm>
            <a:custGeom>
              <a:avLst/>
              <a:gdLst>
                <a:gd name="T0" fmla="*/ 0 w 39"/>
                <a:gd name="T1" fmla="*/ 68 h 68"/>
                <a:gd name="T2" fmla="*/ 38 w 39"/>
                <a:gd name="T3" fmla="*/ 0 h 68"/>
                <a:gd name="T4" fmla="*/ 39 w 39"/>
                <a:gd name="T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68">
                  <a:moveTo>
                    <a:pt x="0" y="68"/>
                  </a:moveTo>
                  <a:lnTo>
                    <a:pt x="38" y="0"/>
                  </a:lnTo>
                  <a:lnTo>
                    <a:pt x="39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112" name="Group 111"/>
            <p:cNvGrpSpPr>
              <a:grpSpLocks noChangeAspect="1"/>
            </p:cNvGrpSpPr>
            <p:nvPr/>
          </p:nvGrpSpPr>
          <p:grpSpPr bwMode="auto">
            <a:xfrm>
              <a:off x="689" y="2109"/>
              <a:ext cx="1" cy="402"/>
              <a:chOff x="1498" y="1927"/>
              <a:chExt cx="1" cy="402"/>
            </a:xfrm>
          </p:grpSpPr>
          <p:sp>
            <p:nvSpPr>
              <p:cNvPr id="121" name="Freeform 112"/>
              <p:cNvSpPr>
                <a:spLocks noChangeAspect="1" noChangeArrowheads="1"/>
              </p:cNvSpPr>
              <p:nvPr/>
            </p:nvSpPr>
            <p:spPr bwMode="auto">
              <a:xfrm>
                <a:off x="1498" y="1927"/>
                <a:ext cx="1" cy="158"/>
              </a:xfrm>
              <a:custGeom>
                <a:avLst/>
                <a:gdLst>
                  <a:gd name="T0" fmla="*/ 0 w 1"/>
                  <a:gd name="T1" fmla="*/ 0 h 475"/>
                  <a:gd name="T2" fmla="*/ 0 w 1"/>
                  <a:gd name="T3" fmla="*/ 475 h 475"/>
                  <a:gd name="T4" fmla="*/ 1 w 1"/>
                  <a:gd name="T5" fmla="*/ 475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75">
                    <a:moveTo>
                      <a:pt x="0" y="0"/>
                    </a:moveTo>
                    <a:lnTo>
                      <a:pt x="0" y="475"/>
                    </a:lnTo>
                    <a:lnTo>
                      <a:pt x="1" y="475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2" name="Freeform 113"/>
              <p:cNvSpPr>
                <a:spLocks noChangeAspect="1" noChangeArrowheads="1"/>
              </p:cNvSpPr>
              <p:nvPr/>
            </p:nvSpPr>
            <p:spPr bwMode="auto">
              <a:xfrm>
                <a:off x="1498" y="2176"/>
                <a:ext cx="1" cy="153"/>
              </a:xfrm>
              <a:custGeom>
                <a:avLst/>
                <a:gdLst>
                  <a:gd name="T0" fmla="*/ 0 w 1"/>
                  <a:gd name="T1" fmla="*/ 0 h 459"/>
                  <a:gd name="T2" fmla="*/ 0 w 1"/>
                  <a:gd name="T3" fmla="*/ 459 h 459"/>
                  <a:gd name="T4" fmla="*/ 1 w 1"/>
                  <a:gd name="T5" fmla="*/ 459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59">
                    <a:moveTo>
                      <a:pt x="0" y="0"/>
                    </a:moveTo>
                    <a:lnTo>
                      <a:pt x="0" y="459"/>
                    </a:lnTo>
                    <a:lnTo>
                      <a:pt x="1" y="45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3" name="Freeform 114"/>
              <p:cNvSpPr>
                <a:spLocks noChangeAspect="1" noChangeArrowheads="1"/>
              </p:cNvSpPr>
              <p:nvPr/>
            </p:nvSpPr>
            <p:spPr bwMode="auto">
              <a:xfrm>
                <a:off x="1498" y="2123"/>
                <a:ext cx="1" cy="15"/>
              </a:xfrm>
              <a:custGeom>
                <a:avLst/>
                <a:gdLst>
                  <a:gd name="T0" fmla="*/ 0 w 1"/>
                  <a:gd name="T1" fmla="*/ 0 h 43"/>
                  <a:gd name="T2" fmla="*/ 0 w 1"/>
                  <a:gd name="T3" fmla="*/ 43 h 43"/>
                  <a:gd name="T4" fmla="*/ 1 w 1"/>
                  <a:gd name="T5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3">
                    <a:moveTo>
                      <a:pt x="0" y="0"/>
                    </a:moveTo>
                    <a:lnTo>
                      <a:pt x="0" y="43"/>
                    </a:lnTo>
                    <a:lnTo>
                      <a:pt x="1" y="43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13" name="Group 115"/>
            <p:cNvGrpSpPr>
              <a:grpSpLocks noChangeAspect="1"/>
            </p:cNvGrpSpPr>
            <p:nvPr/>
          </p:nvGrpSpPr>
          <p:grpSpPr bwMode="auto">
            <a:xfrm>
              <a:off x="1437" y="1381"/>
              <a:ext cx="1" cy="694"/>
              <a:chOff x="2246" y="1199"/>
              <a:chExt cx="1" cy="694"/>
            </a:xfrm>
          </p:grpSpPr>
          <p:sp>
            <p:nvSpPr>
              <p:cNvPr id="118" name="Freeform 116"/>
              <p:cNvSpPr>
                <a:spLocks noChangeAspect="1" noChangeArrowheads="1"/>
              </p:cNvSpPr>
              <p:nvPr/>
            </p:nvSpPr>
            <p:spPr bwMode="auto">
              <a:xfrm>
                <a:off x="2246" y="1627"/>
                <a:ext cx="1" cy="266"/>
              </a:xfrm>
              <a:custGeom>
                <a:avLst/>
                <a:gdLst>
                  <a:gd name="T0" fmla="*/ 0 w 1"/>
                  <a:gd name="T1" fmla="*/ 799 h 799"/>
                  <a:gd name="T2" fmla="*/ 0 w 1"/>
                  <a:gd name="T3" fmla="*/ 0 h 799"/>
                  <a:gd name="T4" fmla="*/ 1 w 1"/>
                  <a:gd name="T5" fmla="*/ 0 h 7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99">
                    <a:moveTo>
                      <a:pt x="0" y="79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9" name="Freeform 117"/>
              <p:cNvSpPr>
                <a:spLocks noChangeAspect="1" noChangeArrowheads="1"/>
              </p:cNvSpPr>
              <p:nvPr/>
            </p:nvSpPr>
            <p:spPr bwMode="auto">
              <a:xfrm>
                <a:off x="2246" y="1565"/>
                <a:ext cx="1" cy="19"/>
              </a:xfrm>
              <a:custGeom>
                <a:avLst/>
                <a:gdLst>
                  <a:gd name="T0" fmla="*/ 0 w 1"/>
                  <a:gd name="T1" fmla="*/ 57 h 57"/>
                  <a:gd name="T2" fmla="*/ 0 w 1"/>
                  <a:gd name="T3" fmla="*/ 0 h 57"/>
                  <a:gd name="T4" fmla="*/ 1 w 1"/>
                  <a:gd name="T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7">
                    <a:moveTo>
                      <a:pt x="0" y="5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0" name="Freeform 118"/>
              <p:cNvSpPr>
                <a:spLocks noChangeAspect="1" noChangeArrowheads="1"/>
              </p:cNvSpPr>
              <p:nvPr/>
            </p:nvSpPr>
            <p:spPr bwMode="auto">
              <a:xfrm>
                <a:off x="2246" y="1199"/>
                <a:ext cx="1" cy="332"/>
              </a:xfrm>
              <a:custGeom>
                <a:avLst/>
                <a:gdLst>
                  <a:gd name="T0" fmla="*/ 0 w 1"/>
                  <a:gd name="T1" fmla="*/ 997 h 997"/>
                  <a:gd name="T2" fmla="*/ 0 w 1"/>
                  <a:gd name="T3" fmla="*/ 0 h 997"/>
                  <a:gd name="T4" fmla="*/ 1 w 1"/>
                  <a:gd name="T5" fmla="*/ 0 h 9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97">
                    <a:moveTo>
                      <a:pt x="0" y="99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114" name="Line 119"/>
            <p:cNvSpPr>
              <a:spLocks noChangeAspect="1" noChangeShapeType="1"/>
            </p:cNvSpPr>
            <p:nvPr/>
          </p:nvSpPr>
          <p:spPr bwMode="auto">
            <a:xfrm flipV="1">
              <a:off x="1321" y="1598"/>
              <a:ext cx="0" cy="4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" name="Line 120"/>
            <p:cNvSpPr>
              <a:spLocks noChangeAspect="1" noChangeShapeType="1"/>
            </p:cNvSpPr>
            <p:nvPr/>
          </p:nvSpPr>
          <p:spPr bwMode="auto">
            <a:xfrm flipV="1">
              <a:off x="1549" y="1460"/>
              <a:ext cx="0" cy="48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" name="Line 121"/>
            <p:cNvSpPr>
              <a:spLocks noChangeAspect="1" noChangeShapeType="1"/>
            </p:cNvSpPr>
            <p:nvPr/>
          </p:nvSpPr>
          <p:spPr bwMode="auto">
            <a:xfrm>
              <a:off x="1585" y="1442"/>
              <a:ext cx="0" cy="4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" name="Line 122"/>
            <p:cNvSpPr>
              <a:spLocks noChangeAspect="1" noChangeShapeType="1"/>
            </p:cNvSpPr>
            <p:nvPr/>
          </p:nvSpPr>
          <p:spPr bwMode="auto">
            <a:xfrm>
              <a:off x="571" y="2216"/>
              <a:ext cx="0" cy="3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lg"/>
              <a:tailEnd type="non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4" name="Rectangle 123"/>
          <p:cNvSpPr>
            <a:spLocks noChangeArrowheads="1"/>
          </p:cNvSpPr>
          <p:nvPr/>
        </p:nvSpPr>
        <p:spPr bwMode="auto">
          <a:xfrm>
            <a:off x="982057" y="581819"/>
            <a:ext cx="2538066" cy="584200"/>
          </a:xfrm>
          <a:prstGeom prst="rect">
            <a:avLst/>
          </a:prstGeom>
          <a:solidFill>
            <a:srgbClr val="0000FF"/>
          </a:solidFill>
        </p:spPr>
        <p:txBody>
          <a:bodyPr/>
          <a:lstStyle/>
          <a:p>
            <a:pPr marL="838200" indent="-838200">
              <a:lnSpc>
                <a:spcPct val="90000"/>
              </a:lnSpc>
              <a:spcBef>
                <a:spcPct val="0"/>
              </a:spcBef>
            </a:pPr>
            <a:r>
              <a:rPr lang="en-US" altLang="zh-CN" sz="28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rPr>
              <a:t> </a:t>
            </a:r>
            <a:r>
              <a:rPr lang="zh-CN" altLang="en-US" sz="28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rPr>
              <a:t>剖视图的形成</a:t>
            </a:r>
          </a:p>
        </p:txBody>
      </p:sp>
      <p:sp>
        <p:nvSpPr>
          <p:cNvPr id="125" name="Text Box 127"/>
          <p:cNvSpPr txBox="1">
            <a:spLocks noChangeArrowheads="1"/>
          </p:cNvSpPr>
          <p:nvPr/>
        </p:nvSpPr>
        <p:spPr bwMode="auto">
          <a:xfrm>
            <a:off x="2705100" y="5118100"/>
            <a:ext cx="7010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571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0" hangingPunct="0">
              <a:spcBef>
                <a:spcPct val="50000"/>
              </a:spcBef>
            </a:pPr>
            <a:r>
              <a:rPr lang="en-US" altLang="zh-CN" sz="180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★ </a:t>
            </a:r>
            <a:r>
              <a:rPr lang="zh-CN" altLang="en-US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将</a:t>
            </a:r>
            <a:r>
              <a:rPr lang="zh-CN" altLang="en-US">
                <a:latin typeface="华文细黑" panose="02010600040101010101" pitchFamily="2" charset="-122"/>
                <a:ea typeface="华文细黑" panose="02010600040101010101" pitchFamily="2" charset="-122"/>
              </a:rPr>
              <a:t>处在</a:t>
            </a:r>
            <a:r>
              <a:rPr lang="zh-CN" altLang="en-US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观察者</a:t>
            </a:r>
            <a:r>
              <a:rPr lang="zh-CN" altLang="en-US">
                <a:latin typeface="华文细黑" panose="02010600040101010101" pitchFamily="2" charset="-122"/>
                <a:ea typeface="华文细黑" panose="02010600040101010101" pitchFamily="2" charset="-122"/>
              </a:rPr>
              <a:t>和</a:t>
            </a:r>
            <a:r>
              <a:rPr lang="zh-CN" altLang="en-US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剖切面</a:t>
            </a:r>
            <a:r>
              <a:rPr lang="zh-CN" altLang="en-US">
                <a:latin typeface="华文细黑" panose="02010600040101010101" pitchFamily="2" charset="-122"/>
                <a:ea typeface="华文细黑" panose="02010600040101010101" pitchFamily="2" charset="-122"/>
              </a:rPr>
              <a:t>之间的部分移走；</a:t>
            </a:r>
          </a:p>
        </p:txBody>
      </p:sp>
      <p:sp>
        <p:nvSpPr>
          <p:cNvPr id="126" name="Text Box 128"/>
          <p:cNvSpPr txBox="1">
            <a:spLocks noChangeArrowheads="1"/>
          </p:cNvSpPr>
          <p:nvPr/>
        </p:nvSpPr>
        <p:spPr bwMode="auto">
          <a:xfrm>
            <a:off x="2717800" y="5588000"/>
            <a:ext cx="7340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571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0" hangingPunct="0">
              <a:spcBef>
                <a:spcPct val="50000"/>
              </a:spcBef>
            </a:pPr>
            <a:r>
              <a:rPr lang="en-US" altLang="zh-CN" sz="180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★ </a:t>
            </a:r>
            <a:r>
              <a:rPr lang="zh-CN" altLang="en-US">
                <a:latin typeface="华文细黑" panose="02010600040101010101" pitchFamily="2" charset="-122"/>
                <a:ea typeface="华文细黑" panose="02010600040101010101" pitchFamily="2" charset="-122"/>
              </a:rPr>
              <a:t>剩余部分向投影面投射所得的图形，称为</a:t>
            </a:r>
            <a:r>
              <a:rPr lang="zh-CN" altLang="en-US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剖视图</a:t>
            </a:r>
            <a:r>
              <a:rPr lang="zh-CN" altLang="en-US">
                <a:latin typeface="华文细黑" panose="02010600040101010101" pitchFamily="2" charset="-122"/>
                <a:ea typeface="华文细黑" panose="02010600040101010101" pitchFamily="2" charset="-122"/>
              </a:rPr>
              <a:t>。</a:t>
            </a:r>
          </a:p>
        </p:txBody>
      </p:sp>
    </p:spTree>
    <p:extLst>
      <p:ext uri="{BB962C8B-B14F-4D97-AF65-F5344CB8AC3E}">
        <p14:creationId xmlns:p14="http://schemas.microsoft.com/office/powerpoint/2010/main" val="38443446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7 1.85185E-6 L 0.19167 0.16481 " pathEditMode="relative" rAng="0" ptsTypes="AA">
                                      <p:cBhvr>
                                        <p:cTn id="19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ppt_x,ppt_y</p:attrName>
                                        </p:attrNameLst>
                                      </p:cBhvr>
                                      <p:rCtr x="0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  <p:bldP spid="125" grpId="0"/>
      <p:bldP spid="126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Rectangle 2"/>
          <p:cNvSpPr txBox="1">
            <a:spLocks noChangeArrowheads="1"/>
          </p:cNvSpPr>
          <p:nvPr/>
        </p:nvSpPr>
        <p:spPr>
          <a:xfrm>
            <a:off x="860426" y="462756"/>
            <a:ext cx="2776538" cy="574675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28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en-US" altLang="zh-CN" dirty="0"/>
              <a:t>  </a:t>
            </a:r>
            <a:r>
              <a:rPr lang="zh-CN" altLang="en-US" dirty="0"/>
              <a:t>剖视图的画法</a:t>
            </a:r>
          </a:p>
        </p:txBody>
      </p:sp>
      <p:grpSp>
        <p:nvGrpSpPr>
          <p:cNvPr id="128" name="Group 3"/>
          <p:cNvGrpSpPr>
            <a:grpSpLocks/>
          </p:cNvGrpSpPr>
          <p:nvPr/>
        </p:nvGrpSpPr>
        <p:grpSpPr bwMode="auto">
          <a:xfrm>
            <a:off x="3217863" y="1144589"/>
            <a:ext cx="2976562" cy="1635125"/>
            <a:chOff x="767" y="608"/>
            <a:chExt cx="1875" cy="1030"/>
          </a:xfrm>
        </p:grpSpPr>
        <p:sp>
          <p:nvSpPr>
            <p:cNvPr id="129" name="Line 4"/>
            <p:cNvSpPr>
              <a:spLocks noChangeShapeType="1"/>
            </p:cNvSpPr>
            <p:nvPr/>
          </p:nvSpPr>
          <p:spPr bwMode="auto">
            <a:xfrm>
              <a:off x="1909" y="726"/>
              <a:ext cx="0" cy="14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" name="Freeform 5"/>
            <p:cNvSpPr>
              <a:spLocks noChangeArrowheads="1"/>
            </p:cNvSpPr>
            <p:nvPr/>
          </p:nvSpPr>
          <p:spPr bwMode="auto">
            <a:xfrm>
              <a:off x="2446" y="871"/>
              <a:ext cx="1" cy="631"/>
            </a:xfrm>
            <a:custGeom>
              <a:avLst/>
              <a:gdLst>
                <a:gd name="T0" fmla="*/ 0 w 2"/>
                <a:gd name="T1" fmla="*/ 1818 h 1818"/>
                <a:gd name="T2" fmla="*/ 0 w 2"/>
                <a:gd name="T3" fmla="*/ 0 h 1818"/>
                <a:gd name="T4" fmla="*/ 2 w 2"/>
                <a:gd name="T5" fmla="*/ 0 h 1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818">
                  <a:moveTo>
                    <a:pt x="0" y="1818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1" name="Freeform 6"/>
            <p:cNvSpPr>
              <a:spLocks noChangeArrowheads="1"/>
            </p:cNvSpPr>
            <p:nvPr/>
          </p:nvSpPr>
          <p:spPr bwMode="auto">
            <a:xfrm>
              <a:off x="1790" y="727"/>
              <a:ext cx="1" cy="528"/>
            </a:xfrm>
            <a:custGeom>
              <a:avLst/>
              <a:gdLst>
                <a:gd name="T0" fmla="*/ 0 w 1"/>
                <a:gd name="T1" fmla="*/ 1523 h 1523"/>
                <a:gd name="T2" fmla="*/ 0 w 1"/>
                <a:gd name="T3" fmla="*/ 0 h 1523"/>
                <a:gd name="T4" fmla="*/ 1 w 1"/>
                <a:gd name="T5" fmla="*/ 0 h 1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523">
                  <a:moveTo>
                    <a:pt x="0" y="152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2" name="Freeform 7"/>
            <p:cNvSpPr>
              <a:spLocks noChangeArrowheads="1"/>
            </p:cNvSpPr>
            <p:nvPr/>
          </p:nvSpPr>
          <p:spPr bwMode="auto">
            <a:xfrm>
              <a:off x="2641" y="727"/>
              <a:ext cx="1" cy="775"/>
            </a:xfrm>
            <a:custGeom>
              <a:avLst/>
              <a:gdLst>
                <a:gd name="T0" fmla="*/ 0 w 2"/>
                <a:gd name="T1" fmla="*/ 2235 h 2235"/>
                <a:gd name="T2" fmla="*/ 0 w 2"/>
                <a:gd name="T3" fmla="*/ 0 h 2235"/>
                <a:gd name="T4" fmla="*/ 2 w 2"/>
                <a:gd name="T5" fmla="*/ 0 h 2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235">
                  <a:moveTo>
                    <a:pt x="0" y="2235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3" name="Freeform 8"/>
            <p:cNvSpPr>
              <a:spLocks noChangeArrowheads="1"/>
            </p:cNvSpPr>
            <p:nvPr/>
          </p:nvSpPr>
          <p:spPr bwMode="auto">
            <a:xfrm>
              <a:off x="2522" y="727"/>
              <a:ext cx="1" cy="144"/>
            </a:xfrm>
            <a:custGeom>
              <a:avLst/>
              <a:gdLst>
                <a:gd name="T0" fmla="*/ 0 w 2"/>
                <a:gd name="T1" fmla="*/ 417 h 417"/>
                <a:gd name="T2" fmla="*/ 0 w 2"/>
                <a:gd name="T3" fmla="*/ 0 h 417"/>
                <a:gd name="T4" fmla="*/ 2 w 2"/>
                <a:gd name="T5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17">
                  <a:moveTo>
                    <a:pt x="0" y="417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4" name="Freeform 9"/>
            <p:cNvSpPr>
              <a:spLocks noChangeArrowheads="1"/>
            </p:cNvSpPr>
            <p:nvPr/>
          </p:nvSpPr>
          <p:spPr bwMode="auto">
            <a:xfrm>
              <a:off x="2360" y="871"/>
              <a:ext cx="1" cy="631"/>
            </a:xfrm>
            <a:custGeom>
              <a:avLst/>
              <a:gdLst>
                <a:gd name="T0" fmla="*/ 0 w 1"/>
                <a:gd name="T1" fmla="*/ 1818 h 1818"/>
                <a:gd name="T2" fmla="*/ 0 w 1"/>
                <a:gd name="T3" fmla="*/ 0 h 1818"/>
                <a:gd name="T4" fmla="*/ 1 w 1"/>
                <a:gd name="T5" fmla="*/ 0 h 1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818">
                  <a:moveTo>
                    <a:pt x="0" y="181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5" name="Freeform 10"/>
            <p:cNvSpPr>
              <a:spLocks noChangeArrowheads="1"/>
            </p:cNvSpPr>
            <p:nvPr/>
          </p:nvSpPr>
          <p:spPr bwMode="auto">
            <a:xfrm>
              <a:off x="2053" y="871"/>
              <a:ext cx="1" cy="631"/>
            </a:xfrm>
            <a:custGeom>
              <a:avLst/>
              <a:gdLst>
                <a:gd name="T0" fmla="*/ 0 w 1"/>
                <a:gd name="T1" fmla="*/ 1818 h 1818"/>
                <a:gd name="T2" fmla="*/ 0 w 1"/>
                <a:gd name="T3" fmla="*/ 0 h 1818"/>
                <a:gd name="T4" fmla="*/ 1 w 1"/>
                <a:gd name="T5" fmla="*/ 0 h 1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818">
                  <a:moveTo>
                    <a:pt x="0" y="181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6" name="Freeform 11"/>
            <p:cNvSpPr>
              <a:spLocks noChangeArrowheads="1"/>
            </p:cNvSpPr>
            <p:nvPr/>
          </p:nvSpPr>
          <p:spPr bwMode="auto">
            <a:xfrm>
              <a:off x="767" y="1502"/>
              <a:ext cx="1875" cy="1"/>
            </a:xfrm>
            <a:custGeom>
              <a:avLst/>
              <a:gdLst>
                <a:gd name="T0" fmla="*/ 0 w 5406"/>
                <a:gd name="T1" fmla="*/ 0 h 1"/>
                <a:gd name="T2" fmla="*/ 5404 w 5406"/>
                <a:gd name="T3" fmla="*/ 0 h 1"/>
                <a:gd name="T4" fmla="*/ 5406 w 540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06" h="1">
                  <a:moveTo>
                    <a:pt x="0" y="0"/>
                  </a:moveTo>
                  <a:lnTo>
                    <a:pt x="5404" y="0"/>
                  </a:lnTo>
                  <a:lnTo>
                    <a:pt x="540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7" name="Freeform 12"/>
            <p:cNvSpPr>
              <a:spLocks noChangeArrowheads="1"/>
            </p:cNvSpPr>
            <p:nvPr/>
          </p:nvSpPr>
          <p:spPr bwMode="auto">
            <a:xfrm>
              <a:off x="767" y="1255"/>
              <a:ext cx="1023" cy="1"/>
            </a:xfrm>
            <a:custGeom>
              <a:avLst/>
              <a:gdLst>
                <a:gd name="T0" fmla="*/ 0 w 2949"/>
                <a:gd name="T1" fmla="*/ 0 h 1"/>
                <a:gd name="T2" fmla="*/ 2948 w 2949"/>
                <a:gd name="T3" fmla="*/ 0 h 1"/>
                <a:gd name="T4" fmla="*/ 2949 w 294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49" h="1">
                  <a:moveTo>
                    <a:pt x="0" y="0"/>
                  </a:moveTo>
                  <a:lnTo>
                    <a:pt x="2948" y="0"/>
                  </a:lnTo>
                  <a:lnTo>
                    <a:pt x="294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8" name="Freeform 13"/>
            <p:cNvSpPr>
              <a:spLocks noChangeArrowheads="1"/>
            </p:cNvSpPr>
            <p:nvPr/>
          </p:nvSpPr>
          <p:spPr bwMode="auto">
            <a:xfrm>
              <a:off x="1192" y="1255"/>
              <a:ext cx="1" cy="247"/>
            </a:xfrm>
            <a:custGeom>
              <a:avLst/>
              <a:gdLst>
                <a:gd name="T0" fmla="*/ 0 w 2"/>
                <a:gd name="T1" fmla="*/ 712 h 712"/>
                <a:gd name="T2" fmla="*/ 0 w 2"/>
                <a:gd name="T3" fmla="*/ 0 h 712"/>
                <a:gd name="T4" fmla="*/ 2 w 2"/>
                <a:gd name="T5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12">
                  <a:moveTo>
                    <a:pt x="0" y="712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9" name="Freeform 14"/>
            <p:cNvSpPr>
              <a:spLocks noChangeArrowheads="1"/>
            </p:cNvSpPr>
            <p:nvPr/>
          </p:nvSpPr>
          <p:spPr bwMode="auto">
            <a:xfrm>
              <a:off x="767" y="1255"/>
              <a:ext cx="1" cy="247"/>
            </a:xfrm>
            <a:custGeom>
              <a:avLst/>
              <a:gdLst>
                <a:gd name="T0" fmla="*/ 0 w 2"/>
                <a:gd name="T1" fmla="*/ 712 h 712"/>
                <a:gd name="T2" fmla="*/ 0 w 2"/>
                <a:gd name="T3" fmla="*/ 0 h 712"/>
                <a:gd name="T4" fmla="*/ 2 w 2"/>
                <a:gd name="T5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12">
                  <a:moveTo>
                    <a:pt x="0" y="712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140" name="Group 15"/>
            <p:cNvGrpSpPr>
              <a:grpSpLocks/>
            </p:cNvGrpSpPr>
            <p:nvPr/>
          </p:nvGrpSpPr>
          <p:grpSpPr bwMode="auto">
            <a:xfrm>
              <a:off x="1031" y="1161"/>
              <a:ext cx="1" cy="468"/>
              <a:chOff x="2479" y="1715"/>
              <a:chExt cx="1" cy="468"/>
            </a:xfrm>
          </p:grpSpPr>
          <p:sp>
            <p:nvSpPr>
              <p:cNvPr id="153" name="Freeform 16"/>
              <p:cNvSpPr>
                <a:spLocks noChangeArrowheads="1"/>
              </p:cNvSpPr>
              <p:nvPr/>
            </p:nvSpPr>
            <p:spPr bwMode="auto">
              <a:xfrm>
                <a:off x="2479" y="1715"/>
                <a:ext cx="1" cy="154"/>
              </a:xfrm>
              <a:custGeom>
                <a:avLst/>
                <a:gdLst>
                  <a:gd name="T0" fmla="*/ 0 w 2"/>
                  <a:gd name="T1" fmla="*/ 443 h 443"/>
                  <a:gd name="T2" fmla="*/ 0 w 2"/>
                  <a:gd name="T3" fmla="*/ 0 h 443"/>
                  <a:gd name="T4" fmla="*/ 2 w 2"/>
                  <a:gd name="T5" fmla="*/ 0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43">
                    <a:moveTo>
                      <a:pt x="0" y="443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4" name="Freeform 17"/>
              <p:cNvSpPr>
                <a:spLocks noChangeArrowheads="1"/>
              </p:cNvSpPr>
              <p:nvPr/>
            </p:nvSpPr>
            <p:spPr bwMode="auto">
              <a:xfrm>
                <a:off x="2479" y="1988"/>
                <a:ext cx="1" cy="195"/>
              </a:xfrm>
              <a:custGeom>
                <a:avLst/>
                <a:gdLst>
                  <a:gd name="T0" fmla="*/ 0 w 2"/>
                  <a:gd name="T1" fmla="*/ 564 h 564"/>
                  <a:gd name="T2" fmla="*/ 0 w 2"/>
                  <a:gd name="T3" fmla="*/ 0 h 564"/>
                  <a:gd name="T4" fmla="*/ 2 w 2"/>
                  <a:gd name="T5" fmla="*/ 0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64">
                    <a:moveTo>
                      <a:pt x="0" y="564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5" name="Freeform 18"/>
              <p:cNvSpPr>
                <a:spLocks noChangeArrowheads="1"/>
              </p:cNvSpPr>
              <p:nvPr/>
            </p:nvSpPr>
            <p:spPr bwMode="auto">
              <a:xfrm>
                <a:off x="2479" y="1923"/>
                <a:ext cx="1" cy="19"/>
              </a:xfrm>
              <a:custGeom>
                <a:avLst/>
                <a:gdLst>
                  <a:gd name="T0" fmla="*/ 0 w 2"/>
                  <a:gd name="T1" fmla="*/ 54 h 54"/>
                  <a:gd name="T2" fmla="*/ 0 w 2"/>
                  <a:gd name="T3" fmla="*/ 0 h 54"/>
                  <a:gd name="T4" fmla="*/ 2 w 2"/>
                  <a:gd name="T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4">
                    <a:moveTo>
                      <a:pt x="0" y="54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141" name="Freeform 19"/>
            <p:cNvSpPr>
              <a:spLocks noChangeArrowheads="1"/>
            </p:cNvSpPr>
            <p:nvPr/>
          </p:nvSpPr>
          <p:spPr bwMode="auto">
            <a:xfrm>
              <a:off x="1355" y="1255"/>
              <a:ext cx="1" cy="111"/>
            </a:xfrm>
            <a:custGeom>
              <a:avLst/>
              <a:gdLst>
                <a:gd name="T0" fmla="*/ 0 w 2"/>
                <a:gd name="T1" fmla="*/ 319 h 319"/>
                <a:gd name="T2" fmla="*/ 0 w 2"/>
                <a:gd name="T3" fmla="*/ 0 h 319"/>
                <a:gd name="T4" fmla="*/ 2 w 2"/>
                <a:gd name="T5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19">
                  <a:moveTo>
                    <a:pt x="0" y="319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2" name="Freeform 20"/>
            <p:cNvSpPr>
              <a:spLocks noChangeArrowheads="1"/>
            </p:cNvSpPr>
            <p:nvPr/>
          </p:nvSpPr>
          <p:spPr bwMode="auto">
            <a:xfrm>
              <a:off x="1517" y="1175"/>
              <a:ext cx="1" cy="463"/>
            </a:xfrm>
            <a:custGeom>
              <a:avLst/>
              <a:gdLst>
                <a:gd name="T0" fmla="*/ 0 w 1"/>
                <a:gd name="T1" fmla="*/ 1332 h 1332"/>
                <a:gd name="T2" fmla="*/ 0 w 1"/>
                <a:gd name="T3" fmla="*/ 0 h 1332"/>
                <a:gd name="T4" fmla="*/ 1 w 1"/>
                <a:gd name="T5" fmla="*/ 0 h 1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32">
                  <a:moveTo>
                    <a:pt x="0" y="13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3" name="Freeform 21"/>
            <p:cNvSpPr>
              <a:spLocks noChangeArrowheads="1"/>
            </p:cNvSpPr>
            <p:nvPr/>
          </p:nvSpPr>
          <p:spPr bwMode="auto">
            <a:xfrm>
              <a:off x="1355" y="1366"/>
              <a:ext cx="323" cy="1"/>
            </a:xfrm>
            <a:custGeom>
              <a:avLst/>
              <a:gdLst>
                <a:gd name="T0" fmla="*/ 0 w 935"/>
                <a:gd name="T1" fmla="*/ 0 h 1"/>
                <a:gd name="T2" fmla="*/ 933 w 935"/>
                <a:gd name="T3" fmla="*/ 0 h 1"/>
                <a:gd name="T4" fmla="*/ 935 w 9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35" h="1">
                  <a:moveTo>
                    <a:pt x="0" y="0"/>
                  </a:moveTo>
                  <a:lnTo>
                    <a:pt x="933" y="0"/>
                  </a:lnTo>
                  <a:lnTo>
                    <a:pt x="93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4" name="Freeform 22"/>
            <p:cNvSpPr>
              <a:spLocks noChangeArrowheads="1"/>
            </p:cNvSpPr>
            <p:nvPr/>
          </p:nvSpPr>
          <p:spPr bwMode="auto">
            <a:xfrm>
              <a:off x="1602" y="1366"/>
              <a:ext cx="1" cy="136"/>
            </a:xfrm>
            <a:custGeom>
              <a:avLst/>
              <a:gdLst>
                <a:gd name="T0" fmla="*/ 0 w 1"/>
                <a:gd name="T1" fmla="*/ 393 h 393"/>
                <a:gd name="T2" fmla="*/ 0 w 1"/>
                <a:gd name="T3" fmla="*/ 0 h 393"/>
                <a:gd name="T4" fmla="*/ 1 w 1"/>
                <a:gd name="T5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93">
                  <a:moveTo>
                    <a:pt x="0" y="39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145" name="Group 23"/>
            <p:cNvGrpSpPr>
              <a:grpSpLocks/>
            </p:cNvGrpSpPr>
            <p:nvPr/>
          </p:nvGrpSpPr>
          <p:grpSpPr bwMode="auto">
            <a:xfrm>
              <a:off x="2216" y="608"/>
              <a:ext cx="1" cy="986"/>
              <a:chOff x="3664" y="1162"/>
              <a:chExt cx="1" cy="986"/>
            </a:xfrm>
          </p:grpSpPr>
          <p:sp>
            <p:nvSpPr>
              <p:cNvPr id="150" name="Freeform 24"/>
              <p:cNvSpPr>
                <a:spLocks noChangeArrowheads="1"/>
              </p:cNvSpPr>
              <p:nvPr/>
            </p:nvSpPr>
            <p:spPr bwMode="auto">
              <a:xfrm>
                <a:off x="3664" y="1162"/>
                <a:ext cx="1" cy="446"/>
              </a:xfrm>
              <a:custGeom>
                <a:avLst/>
                <a:gdLst>
                  <a:gd name="T0" fmla="*/ 0 w 1"/>
                  <a:gd name="T1" fmla="*/ 1286 h 1286"/>
                  <a:gd name="T2" fmla="*/ 0 w 1"/>
                  <a:gd name="T3" fmla="*/ 0 h 1286"/>
                  <a:gd name="T4" fmla="*/ 1 w 1"/>
                  <a:gd name="T5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286">
                    <a:moveTo>
                      <a:pt x="0" y="1286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1" name="Freeform 25"/>
              <p:cNvSpPr>
                <a:spLocks noChangeArrowheads="1"/>
              </p:cNvSpPr>
              <p:nvPr/>
            </p:nvSpPr>
            <p:spPr bwMode="auto">
              <a:xfrm>
                <a:off x="3664" y="1698"/>
                <a:ext cx="1" cy="450"/>
              </a:xfrm>
              <a:custGeom>
                <a:avLst/>
                <a:gdLst>
                  <a:gd name="T0" fmla="*/ 0 w 1"/>
                  <a:gd name="T1" fmla="*/ 1297 h 1297"/>
                  <a:gd name="T2" fmla="*/ 0 w 1"/>
                  <a:gd name="T3" fmla="*/ 0 h 1297"/>
                  <a:gd name="T4" fmla="*/ 1 w 1"/>
                  <a:gd name="T5" fmla="*/ 0 h 1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297">
                    <a:moveTo>
                      <a:pt x="0" y="129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2" name="Freeform 26"/>
              <p:cNvSpPr>
                <a:spLocks noChangeArrowheads="1"/>
              </p:cNvSpPr>
              <p:nvPr/>
            </p:nvSpPr>
            <p:spPr bwMode="auto">
              <a:xfrm>
                <a:off x="3664" y="1628"/>
                <a:ext cx="1" cy="38"/>
              </a:xfrm>
              <a:custGeom>
                <a:avLst/>
                <a:gdLst>
                  <a:gd name="T0" fmla="*/ 0 w 1"/>
                  <a:gd name="T1" fmla="*/ 107 h 107"/>
                  <a:gd name="T2" fmla="*/ 0 w 1"/>
                  <a:gd name="T3" fmla="*/ 0 h 107"/>
                  <a:gd name="T4" fmla="*/ 1 w 1"/>
                  <a:gd name="T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7">
                    <a:moveTo>
                      <a:pt x="0" y="10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146" name="Freeform 27"/>
            <p:cNvSpPr>
              <a:spLocks noChangeArrowheads="1"/>
            </p:cNvSpPr>
            <p:nvPr/>
          </p:nvSpPr>
          <p:spPr bwMode="auto">
            <a:xfrm>
              <a:off x="1790" y="727"/>
              <a:ext cx="851" cy="1"/>
            </a:xfrm>
            <a:custGeom>
              <a:avLst/>
              <a:gdLst>
                <a:gd name="T0" fmla="*/ 2456 w 2456"/>
                <a:gd name="T1" fmla="*/ 0 h 1"/>
                <a:gd name="T2" fmla="*/ 0 w 2456"/>
                <a:gd name="T3" fmla="*/ 0 h 1"/>
                <a:gd name="T4" fmla="*/ 1 w 245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56" h="1">
                  <a:moveTo>
                    <a:pt x="2456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7" name="Freeform 28"/>
            <p:cNvSpPr>
              <a:spLocks noChangeArrowheads="1"/>
            </p:cNvSpPr>
            <p:nvPr/>
          </p:nvSpPr>
          <p:spPr bwMode="auto">
            <a:xfrm>
              <a:off x="1909" y="871"/>
              <a:ext cx="614" cy="1"/>
            </a:xfrm>
            <a:custGeom>
              <a:avLst/>
              <a:gdLst>
                <a:gd name="T0" fmla="*/ 0 w 1769"/>
                <a:gd name="T1" fmla="*/ 0 h 1"/>
                <a:gd name="T2" fmla="*/ 1767 w 1769"/>
                <a:gd name="T3" fmla="*/ 0 h 1"/>
                <a:gd name="T4" fmla="*/ 1769 w 176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9" h="1">
                  <a:moveTo>
                    <a:pt x="0" y="0"/>
                  </a:moveTo>
                  <a:lnTo>
                    <a:pt x="1767" y="0"/>
                  </a:lnTo>
                  <a:lnTo>
                    <a:pt x="176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8" name="Line 29"/>
            <p:cNvSpPr>
              <a:spLocks noChangeShapeType="1"/>
            </p:cNvSpPr>
            <p:nvPr/>
          </p:nvSpPr>
          <p:spPr bwMode="auto">
            <a:xfrm>
              <a:off x="1675" y="1256"/>
              <a:ext cx="0" cy="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" name="Line 30"/>
            <p:cNvSpPr>
              <a:spLocks noChangeShapeType="1"/>
            </p:cNvSpPr>
            <p:nvPr/>
          </p:nvSpPr>
          <p:spPr bwMode="auto">
            <a:xfrm>
              <a:off x="1431" y="1369"/>
              <a:ext cx="0" cy="13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6" name="Group 31"/>
          <p:cNvGrpSpPr>
            <a:grpSpLocks/>
          </p:cNvGrpSpPr>
          <p:nvPr/>
        </p:nvGrpSpPr>
        <p:grpSpPr bwMode="auto">
          <a:xfrm>
            <a:off x="3894139" y="2173288"/>
            <a:ext cx="377825" cy="392112"/>
            <a:chOff x="2641" y="1810"/>
            <a:chExt cx="238" cy="247"/>
          </a:xfrm>
        </p:grpSpPr>
        <p:sp>
          <p:nvSpPr>
            <p:cNvPr id="157" name="Line 32"/>
            <p:cNvSpPr>
              <a:spLocks noChangeShapeType="1"/>
            </p:cNvSpPr>
            <p:nvPr/>
          </p:nvSpPr>
          <p:spPr bwMode="auto">
            <a:xfrm>
              <a:off x="2641" y="1810"/>
              <a:ext cx="0" cy="246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" name="Line 33"/>
            <p:cNvSpPr>
              <a:spLocks noChangeShapeType="1"/>
            </p:cNvSpPr>
            <p:nvPr/>
          </p:nvSpPr>
          <p:spPr bwMode="auto">
            <a:xfrm>
              <a:off x="2641" y="1810"/>
              <a:ext cx="162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9" name="Line 34"/>
            <p:cNvSpPr>
              <a:spLocks noChangeShapeType="1"/>
            </p:cNvSpPr>
            <p:nvPr/>
          </p:nvSpPr>
          <p:spPr bwMode="auto">
            <a:xfrm>
              <a:off x="2801" y="1810"/>
              <a:ext cx="0" cy="11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" name="Line 35"/>
            <p:cNvSpPr>
              <a:spLocks noChangeShapeType="1"/>
            </p:cNvSpPr>
            <p:nvPr/>
          </p:nvSpPr>
          <p:spPr bwMode="auto">
            <a:xfrm flipV="1">
              <a:off x="2879" y="1923"/>
              <a:ext cx="0" cy="133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" name="Line 36"/>
            <p:cNvSpPr>
              <a:spLocks noChangeShapeType="1"/>
            </p:cNvSpPr>
            <p:nvPr/>
          </p:nvSpPr>
          <p:spPr bwMode="auto">
            <a:xfrm>
              <a:off x="2641" y="2057"/>
              <a:ext cx="229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2" name="Line 37"/>
            <p:cNvSpPr>
              <a:spLocks noChangeShapeType="1"/>
            </p:cNvSpPr>
            <p:nvPr/>
          </p:nvSpPr>
          <p:spPr bwMode="auto">
            <a:xfrm>
              <a:off x="2801" y="1923"/>
              <a:ext cx="78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3" name="Group 38"/>
          <p:cNvGrpSpPr>
            <a:grpSpLocks/>
          </p:cNvGrpSpPr>
          <p:nvPr/>
        </p:nvGrpSpPr>
        <p:grpSpPr bwMode="auto">
          <a:xfrm>
            <a:off x="4537076" y="1331914"/>
            <a:ext cx="722313" cy="1233487"/>
            <a:chOff x="1598" y="726"/>
            <a:chExt cx="455" cy="777"/>
          </a:xfrm>
        </p:grpSpPr>
        <p:sp>
          <p:nvSpPr>
            <p:cNvPr id="164" name="Line 39"/>
            <p:cNvSpPr>
              <a:spLocks noChangeShapeType="1"/>
            </p:cNvSpPr>
            <p:nvPr/>
          </p:nvSpPr>
          <p:spPr bwMode="auto">
            <a:xfrm flipV="1">
              <a:off x="1910" y="726"/>
              <a:ext cx="0" cy="146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" name="Line 40"/>
            <p:cNvSpPr>
              <a:spLocks noChangeShapeType="1"/>
            </p:cNvSpPr>
            <p:nvPr/>
          </p:nvSpPr>
          <p:spPr bwMode="auto">
            <a:xfrm>
              <a:off x="1790" y="727"/>
              <a:ext cx="0" cy="529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" name="Line 41"/>
            <p:cNvSpPr>
              <a:spLocks noChangeShapeType="1"/>
            </p:cNvSpPr>
            <p:nvPr/>
          </p:nvSpPr>
          <p:spPr bwMode="auto">
            <a:xfrm>
              <a:off x="1675" y="1256"/>
              <a:ext cx="115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" name="Line 42"/>
            <p:cNvSpPr>
              <a:spLocks noChangeShapeType="1"/>
            </p:cNvSpPr>
            <p:nvPr/>
          </p:nvSpPr>
          <p:spPr bwMode="auto">
            <a:xfrm>
              <a:off x="1598" y="1369"/>
              <a:ext cx="77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" name="Line 43"/>
            <p:cNvSpPr>
              <a:spLocks noChangeShapeType="1"/>
            </p:cNvSpPr>
            <p:nvPr/>
          </p:nvSpPr>
          <p:spPr bwMode="auto">
            <a:xfrm flipV="1">
              <a:off x="1603" y="1375"/>
              <a:ext cx="0" cy="12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" name="Line 44"/>
            <p:cNvSpPr>
              <a:spLocks noChangeShapeType="1"/>
            </p:cNvSpPr>
            <p:nvPr/>
          </p:nvSpPr>
          <p:spPr bwMode="auto">
            <a:xfrm>
              <a:off x="1598" y="1503"/>
              <a:ext cx="455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" name="Line 45"/>
            <p:cNvSpPr>
              <a:spLocks noChangeShapeType="1"/>
            </p:cNvSpPr>
            <p:nvPr/>
          </p:nvSpPr>
          <p:spPr bwMode="auto">
            <a:xfrm flipV="1">
              <a:off x="2053" y="871"/>
              <a:ext cx="0" cy="632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1" name="Line 46"/>
            <p:cNvSpPr>
              <a:spLocks noChangeShapeType="1"/>
            </p:cNvSpPr>
            <p:nvPr/>
          </p:nvSpPr>
          <p:spPr bwMode="auto">
            <a:xfrm flipH="1">
              <a:off x="1909" y="871"/>
              <a:ext cx="144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2" name="Line 47"/>
            <p:cNvSpPr>
              <a:spLocks noChangeShapeType="1"/>
            </p:cNvSpPr>
            <p:nvPr/>
          </p:nvSpPr>
          <p:spPr bwMode="auto">
            <a:xfrm>
              <a:off x="1790" y="727"/>
              <a:ext cx="119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3" name="Line 48"/>
            <p:cNvSpPr>
              <a:spLocks noChangeShapeType="1"/>
            </p:cNvSpPr>
            <p:nvPr/>
          </p:nvSpPr>
          <p:spPr bwMode="auto">
            <a:xfrm>
              <a:off x="1675" y="1255"/>
              <a:ext cx="0" cy="112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4" name="Group 49"/>
          <p:cNvGrpSpPr>
            <a:grpSpLocks/>
          </p:cNvGrpSpPr>
          <p:nvPr/>
        </p:nvGrpSpPr>
        <p:grpSpPr bwMode="auto">
          <a:xfrm>
            <a:off x="5884863" y="1331913"/>
            <a:ext cx="311150" cy="1231900"/>
            <a:chOff x="3447" y="922"/>
            <a:chExt cx="196" cy="776"/>
          </a:xfrm>
        </p:grpSpPr>
        <p:sp>
          <p:nvSpPr>
            <p:cNvPr id="175" name="Line 50"/>
            <p:cNvSpPr>
              <a:spLocks noChangeShapeType="1"/>
            </p:cNvSpPr>
            <p:nvPr/>
          </p:nvSpPr>
          <p:spPr bwMode="auto">
            <a:xfrm>
              <a:off x="3447" y="1067"/>
              <a:ext cx="0" cy="63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6" name="Line 51"/>
            <p:cNvSpPr>
              <a:spLocks noChangeShapeType="1"/>
            </p:cNvSpPr>
            <p:nvPr/>
          </p:nvSpPr>
          <p:spPr bwMode="auto">
            <a:xfrm>
              <a:off x="3523" y="922"/>
              <a:ext cx="0" cy="14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7" name="Line 52"/>
            <p:cNvSpPr>
              <a:spLocks noChangeShapeType="1"/>
            </p:cNvSpPr>
            <p:nvPr/>
          </p:nvSpPr>
          <p:spPr bwMode="auto">
            <a:xfrm>
              <a:off x="3447" y="1067"/>
              <a:ext cx="76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8" name="Line 53"/>
            <p:cNvSpPr>
              <a:spLocks noChangeShapeType="1"/>
            </p:cNvSpPr>
            <p:nvPr/>
          </p:nvSpPr>
          <p:spPr bwMode="auto">
            <a:xfrm>
              <a:off x="3448" y="1697"/>
              <a:ext cx="195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9" name="Line 54"/>
            <p:cNvSpPr>
              <a:spLocks noChangeShapeType="1"/>
            </p:cNvSpPr>
            <p:nvPr/>
          </p:nvSpPr>
          <p:spPr bwMode="auto">
            <a:xfrm>
              <a:off x="3643" y="923"/>
              <a:ext cx="0" cy="77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0" name="Line 55"/>
            <p:cNvSpPr>
              <a:spLocks noChangeShapeType="1"/>
            </p:cNvSpPr>
            <p:nvPr/>
          </p:nvSpPr>
          <p:spPr bwMode="auto">
            <a:xfrm>
              <a:off x="3524" y="922"/>
              <a:ext cx="118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1" name="Group 56"/>
          <p:cNvGrpSpPr>
            <a:grpSpLocks/>
          </p:cNvGrpSpPr>
          <p:nvPr/>
        </p:nvGrpSpPr>
        <p:grpSpPr bwMode="auto">
          <a:xfrm>
            <a:off x="7069139" y="2347913"/>
            <a:ext cx="2181225" cy="1987550"/>
            <a:chOff x="3380" y="1366"/>
            <a:chExt cx="1374" cy="1252"/>
          </a:xfrm>
        </p:grpSpPr>
        <p:sp>
          <p:nvSpPr>
            <p:cNvPr id="182" name="Freeform 57"/>
            <p:cNvSpPr>
              <a:spLocks noChangeArrowheads="1"/>
            </p:cNvSpPr>
            <p:nvPr/>
          </p:nvSpPr>
          <p:spPr bwMode="auto">
            <a:xfrm>
              <a:off x="3380" y="1790"/>
              <a:ext cx="858" cy="618"/>
            </a:xfrm>
            <a:custGeom>
              <a:avLst/>
              <a:gdLst>
                <a:gd name="T0" fmla="*/ 0 w 858"/>
                <a:gd name="T1" fmla="*/ 459 h 618"/>
                <a:gd name="T2" fmla="*/ 801 w 858"/>
                <a:gd name="T3" fmla="*/ 0 h 618"/>
                <a:gd name="T4" fmla="*/ 858 w 858"/>
                <a:gd name="T5" fmla="*/ 261 h 618"/>
                <a:gd name="T6" fmla="*/ 228 w 858"/>
                <a:gd name="T7" fmla="*/ 618 h 618"/>
                <a:gd name="T8" fmla="*/ 0 w 858"/>
                <a:gd name="T9" fmla="*/ 459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8" h="618">
                  <a:moveTo>
                    <a:pt x="0" y="459"/>
                  </a:moveTo>
                  <a:lnTo>
                    <a:pt x="801" y="0"/>
                  </a:lnTo>
                  <a:lnTo>
                    <a:pt x="858" y="261"/>
                  </a:lnTo>
                  <a:lnTo>
                    <a:pt x="228" y="618"/>
                  </a:lnTo>
                  <a:lnTo>
                    <a:pt x="0" y="459"/>
                  </a:lnTo>
                  <a:close/>
                </a:path>
              </a:pathLst>
            </a:custGeom>
            <a:gradFill rotWithShape="0">
              <a:gsLst>
                <a:gs pos="0">
                  <a:srgbClr val="762F00"/>
                </a:gs>
                <a:gs pos="100000">
                  <a:srgbClr val="FF6600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3" name="Freeform 58"/>
            <p:cNvSpPr>
              <a:spLocks noChangeArrowheads="1"/>
            </p:cNvSpPr>
            <p:nvPr/>
          </p:nvSpPr>
          <p:spPr bwMode="auto">
            <a:xfrm>
              <a:off x="3983" y="2238"/>
              <a:ext cx="107" cy="204"/>
            </a:xfrm>
            <a:custGeom>
              <a:avLst/>
              <a:gdLst>
                <a:gd name="T0" fmla="*/ 107 w 107"/>
                <a:gd name="T1" fmla="*/ 184 h 204"/>
                <a:gd name="T2" fmla="*/ 59 w 107"/>
                <a:gd name="T3" fmla="*/ 180 h 204"/>
                <a:gd name="T4" fmla="*/ 35 w 107"/>
                <a:gd name="T5" fmla="*/ 184 h 204"/>
                <a:gd name="T6" fmla="*/ 3 w 107"/>
                <a:gd name="T7" fmla="*/ 204 h 204"/>
                <a:gd name="T8" fmla="*/ 3 w 107"/>
                <a:gd name="T9" fmla="*/ 60 h 204"/>
                <a:gd name="T10" fmla="*/ 0 w 107"/>
                <a:gd name="T11" fmla="*/ 32 h 204"/>
                <a:gd name="T12" fmla="*/ 15 w 107"/>
                <a:gd name="T13" fmla="*/ 12 h 204"/>
                <a:gd name="T14" fmla="*/ 47 w 107"/>
                <a:gd name="T15" fmla="*/ 0 h 204"/>
                <a:gd name="T16" fmla="*/ 107 w 107"/>
                <a:gd name="T17" fmla="*/ 8 h 204"/>
                <a:gd name="T18" fmla="*/ 107 w 107"/>
                <a:gd name="T19" fmla="*/ 18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7" h="204">
                  <a:moveTo>
                    <a:pt x="107" y="184"/>
                  </a:moveTo>
                  <a:lnTo>
                    <a:pt x="59" y="180"/>
                  </a:lnTo>
                  <a:lnTo>
                    <a:pt x="35" y="184"/>
                  </a:lnTo>
                  <a:lnTo>
                    <a:pt x="3" y="204"/>
                  </a:lnTo>
                  <a:lnTo>
                    <a:pt x="3" y="60"/>
                  </a:lnTo>
                  <a:lnTo>
                    <a:pt x="0" y="32"/>
                  </a:lnTo>
                  <a:lnTo>
                    <a:pt x="15" y="12"/>
                  </a:lnTo>
                  <a:lnTo>
                    <a:pt x="47" y="0"/>
                  </a:lnTo>
                  <a:lnTo>
                    <a:pt x="107" y="8"/>
                  </a:lnTo>
                  <a:lnTo>
                    <a:pt x="107" y="184"/>
                  </a:lnTo>
                  <a:close/>
                </a:path>
              </a:pathLst>
            </a:custGeom>
            <a:gradFill rotWithShape="0">
              <a:gsLst>
                <a:gs pos="0">
                  <a:srgbClr val="FFCC00"/>
                </a:gs>
                <a:gs pos="100000">
                  <a:srgbClr val="A282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4" name="Freeform 59"/>
            <p:cNvSpPr>
              <a:spLocks noChangeArrowheads="1"/>
            </p:cNvSpPr>
            <p:nvPr/>
          </p:nvSpPr>
          <p:spPr bwMode="auto">
            <a:xfrm>
              <a:off x="4163" y="1547"/>
              <a:ext cx="79" cy="499"/>
            </a:xfrm>
            <a:custGeom>
              <a:avLst/>
              <a:gdLst>
                <a:gd name="T0" fmla="*/ 0 w 79"/>
                <a:gd name="T1" fmla="*/ 0 h 499"/>
                <a:gd name="T2" fmla="*/ 0 w 79"/>
                <a:gd name="T3" fmla="*/ 390 h 499"/>
                <a:gd name="T4" fmla="*/ 9 w 79"/>
                <a:gd name="T5" fmla="*/ 432 h 499"/>
                <a:gd name="T6" fmla="*/ 35 w 79"/>
                <a:gd name="T7" fmla="*/ 463 h 499"/>
                <a:gd name="T8" fmla="*/ 54 w 79"/>
                <a:gd name="T9" fmla="*/ 486 h 499"/>
                <a:gd name="T10" fmla="*/ 79 w 79"/>
                <a:gd name="T11" fmla="*/ 499 h 499"/>
                <a:gd name="T12" fmla="*/ 79 w 79"/>
                <a:gd name="T13" fmla="*/ 191 h 499"/>
                <a:gd name="T14" fmla="*/ 0 w 79"/>
                <a:gd name="T15" fmla="*/ 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" h="499">
                  <a:moveTo>
                    <a:pt x="0" y="0"/>
                  </a:moveTo>
                  <a:lnTo>
                    <a:pt x="0" y="390"/>
                  </a:lnTo>
                  <a:lnTo>
                    <a:pt x="9" y="432"/>
                  </a:lnTo>
                  <a:lnTo>
                    <a:pt x="35" y="463"/>
                  </a:lnTo>
                  <a:lnTo>
                    <a:pt x="54" y="486"/>
                  </a:lnTo>
                  <a:lnTo>
                    <a:pt x="79" y="499"/>
                  </a:lnTo>
                  <a:lnTo>
                    <a:pt x="79" y="191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rgbClr val="5E0000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5" name="Freeform 60"/>
            <p:cNvSpPr>
              <a:spLocks noChangeArrowheads="1"/>
            </p:cNvSpPr>
            <p:nvPr/>
          </p:nvSpPr>
          <p:spPr bwMode="auto">
            <a:xfrm>
              <a:off x="3902" y="2078"/>
              <a:ext cx="234" cy="150"/>
            </a:xfrm>
            <a:custGeom>
              <a:avLst/>
              <a:gdLst>
                <a:gd name="T0" fmla="*/ 234 w 234"/>
                <a:gd name="T1" fmla="*/ 24 h 150"/>
                <a:gd name="T2" fmla="*/ 204 w 234"/>
                <a:gd name="T3" fmla="*/ 15 h 150"/>
                <a:gd name="T4" fmla="*/ 165 w 234"/>
                <a:gd name="T5" fmla="*/ 3 h 150"/>
                <a:gd name="T6" fmla="*/ 132 w 234"/>
                <a:gd name="T7" fmla="*/ 0 h 150"/>
                <a:gd name="T8" fmla="*/ 78 w 234"/>
                <a:gd name="T9" fmla="*/ 9 h 150"/>
                <a:gd name="T10" fmla="*/ 36 w 234"/>
                <a:gd name="T11" fmla="*/ 24 h 150"/>
                <a:gd name="T12" fmla="*/ 21 w 234"/>
                <a:gd name="T13" fmla="*/ 42 h 150"/>
                <a:gd name="T14" fmla="*/ 6 w 234"/>
                <a:gd name="T15" fmla="*/ 63 h 150"/>
                <a:gd name="T16" fmla="*/ 0 w 234"/>
                <a:gd name="T17" fmla="*/ 90 h 150"/>
                <a:gd name="T18" fmla="*/ 12 w 234"/>
                <a:gd name="T19" fmla="*/ 114 h 150"/>
                <a:gd name="T20" fmla="*/ 48 w 234"/>
                <a:gd name="T21" fmla="*/ 150 h 150"/>
                <a:gd name="T22" fmla="*/ 231 w 234"/>
                <a:gd name="T23" fmla="*/ 135 h 150"/>
                <a:gd name="T24" fmla="*/ 234 w 234"/>
                <a:gd name="T25" fmla="*/ 2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4" h="150">
                  <a:moveTo>
                    <a:pt x="234" y="24"/>
                  </a:moveTo>
                  <a:lnTo>
                    <a:pt x="204" y="15"/>
                  </a:lnTo>
                  <a:lnTo>
                    <a:pt x="165" y="3"/>
                  </a:lnTo>
                  <a:lnTo>
                    <a:pt x="132" y="0"/>
                  </a:lnTo>
                  <a:lnTo>
                    <a:pt x="78" y="9"/>
                  </a:lnTo>
                  <a:lnTo>
                    <a:pt x="36" y="24"/>
                  </a:lnTo>
                  <a:lnTo>
                    <a:pt x="21" y="42"/>
                  </a:lnTo>
                  <a:lnTo>
                    <a:pt x="6" y="63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48" y="150"/>
                  </a:lnTo>
                  <a:lnTo>
                    <a:pt x="231" y="135"/>
                  </a:lnTo>
                  <a:lnTo>
                    <a:pt x="234" y="24"/>
                  </a:lnTo>
                  <a:close/>
                </a:path>
              </a:pathLst>
            </a:custGeom>
            <a:gradFill rotWithShape="0">
              <a:gsLst>
                <a:gs pos="0">
                  <a:srgbClr val="FFCC00"/>
                </a:gs>
                <a:gs pos="100000">
                  <a:srgbClr val="765E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6" name="Freeform 61"/>
            <p:cNvSpPr>
              <a:spLocks noChangeArrowheads="1"/>
            </p:cNvSpPr>
            <p:nvPr/>
          </p:nvSpPr>
          <p:spPr bwMode="auto">
            <a:xfrm>
              <a:off x="3938" y="2190"/>
              <a:ext cx="200" cy="136"/>
            </a:xfrm>
            <a:custGeom>
              <a:avLst/>
              <a:gdLst>
                <a:gd name="T0" fmla="*/ 52 w 200"/>
                <a:gd name="T1" fmla="*/ 116 h 136"/>
                <a:gd name="T2" fmla="*/ 48 w 200"/>
                <a:gd name="T3" fmla="*/ 80 h 136"/>
                <a:gd name="T4" fmla="*/ 60 w 200"/>
                <a:gd name="T5" fmla="*/ 59 h 136"/>
                <a:gd name="T6" fmla="*/ 99 w 200"/>
                <a:gd name="T7" fmla="*/ 56 h 136"/>
                <a:gd name="T8" fmla="*/ 153 w 200"/>
                <a:gd name="T9" fmla="*/ 62 h 136"/>
                <a:gd name="T10" fmla="*/ 200 w 200"/>
                <a:gd name="T11" fmla="*/ 24 h 136"/>
                <a:gd name="T12" fmla="*/ 174 w 200"/>
                <a:gd name="T13" fmla="*/ 8 h 136"/>
                <a:gd name="T14" fmla="*/ 140 w 200"/>
                <a:gd name="T15" fmla="*/ 0 h 136"/>
                <a:gd name="T16" fmla="*/ 96 w 200"/>
                <a:gd name="T17" fmla="*/ 0 h 136"/>
                <a:gd name="T18" fmla="*/ 48 w 200"/>
                <a:gd name="T19" fmla="*/ 8 h 136"/>
                <a:gd name="T20" fmla="*/ 0 w 200"/>
                <a:gd name="T21" fmla="*/ 41 h 136"/>
                <a:gd name="T22" fmla="*/ 4 w 200"/>
                <a:gd name="T23" fmla="*/ 136 h 136"/>
                <a:gd name="T24" fmla="*/ 52 w 200"/>
                <a:gd name="T25" fmla="*/ 11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0" h="136">
                  <a:moveTo>
                    <a:pt x="52" y="116"/>
                  </a:moveTo>
                  <a:lnTo>
                    <a:pt x="48" y="80"/>
                  </a:lnTo>
                  <a:lnTo>
                    <a:pt x="60" y="59"/>
                  </a:lnTo>
                  <a:lnTo>
                    <a:pt x="99" y="56"/>
                  </a:lnTo>
                  <a:lnTo>
                    <a:pt x="153" y="62"/>
                  </a:lnTo>
                  <a:lnTo>
                    <a:pt x="200" y="24"/>
                  </a:lnTo>
                  <a:lnTo>
                    <a:pt x="174" y="8"/>
                  </a:lnTo>
                  <a:lnTo>
                    <a:pt x="140" y="0"/>
                  </a:lnTo>
                  <a:lnTo>
                    <a:pt x="96" y="0"/>
                  </a:lnTo>
                  <a:lnTo>
                    <a:pt x="48" y="8"/>
                  </a:lnTo>
                  <a:lnTo>
                    <a:pt x="0" y="41"/>
                  </a:lnTo>
                  <a:lnTo>
                    <a:pt x="4" y="136"/>
                  </a:lnTo>
                  <a:lnTo>
                    <a:pt x="52" y="116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7" name="Freeform 62"/>
            <p:cNvSpPr>
              <a:spLocks noChangeArrowheads="1"/>
            </p:cNvSpPr>
            <p:nvPr/>
          </p:nvSpPr>
          <p:spPr bwMode="auto">
            <a:xfrm>
              <a:off x="4242" y="1434"/>
              <a:ext cx="424" cy="196"/>
            </a:xfrm>
            <a:custGeom>
              <a:avLst/>
              <a:gdLst>
                <a:gd name="T0" fmla="*/ 0 w 424"/>
                <a:gd name="T1" fmla="*/ 116 h 196"/>
                <a:gd name="T2" fmla="*/ 40 w 424"/>
                <a:gd name="T3" fmla="*/ 48 h 196"/>
                <a:gd name="T4" fmla="*/ 92 w 424"/>
                <a:gd name="T5" fmla="*/ 28 h 196"/>
                <a:gd name="T6" fmla="*/ 124 w 424"/>
                <a:gd name="T7" fmla="*/ 16 h 196"/>
                <a:gd name="T8" fmla="*/ 180 w 424"/>
                <a:gd name="T9" fmla="*/ 4 h 196"/>
                <a:gd name="T10" fmla="*/ 244 w 424"/>
                <a:gd name="T11" fmla="*/ 0 h 196"/>
                <a:gd name="T12" fmla="*/ 320 w 424"/>
                <a:gd name="T13" fmla="*/ 8 h 196"/>
                <a:gd name="T14" fmla="*/ 380 w 424"/>
                <a:gd name="T15" fmla="*/ 20 h 196"/>
                <a:gd name="T16" fmla="*/ 424 w 424"/>
                <a:gd name="T17" fmla="*/ 36 h 196"/>
                <a:gd name="T18" fmla="*/ 424 w 424"/>
                <a:gd name="T19" fmla="*/ 144 h 196"/>
                <a:gd name="T20" fmla="*/ 32 w 424"/>
                <a:gd name="T21" fmla="*/ 196 h 196"/>
                <a:gd name="T22" fmla="*/ 0 w 424"/>
                <a:gd name="T23" fmla="*/ 11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4" h="196">
                  <a:moveTo>
                    <a:pt x="0" y="116"/>
                  </a:moveTo>
                  <a:lnTo>
                    <a:pt x="40" y="48"/>
                  </a:lnTo>
                  <a:lnTo>
                    <a:pt x="92" y="28"/>
                  </a:lnTo>
                  <a:lnTo>
                    <a:pt x="124" y="16"/>
                  </a:lnTo>
                  <a:lnTo>
                    <a:pt x="180" y="4"/>
                  </a:lnTo>
                  <a:lnTo>
                    <a:pt x="244" y="0"/>
                  </a:lnTo>
                  <a:lnTo>
                    <a:pt x="320" y="8"/>
                  </a:lnTo>
                  <a:lnTo>
                    <a:pt x="380" y="20"/>
                  </a:lnTo>
                  <a:lnTo>
                    <a:pt x="424" y="36"/>
                  </a:lnTo>
                  <a:lnTo>
                    <a:pt x="424" y="144"/>
                  </a:lnTo>
                  <a:lnTo>
                    <a:pt x="32" y="196"/>
                  </a:lnTo>
                  <a:lnTo>
                    <a:pt x="0" y="116"/>
                  </a:lnTo>
                  <a:close/>
                </a:path>
              </a:pathLst>
            </a:custGeom>
            <a:gradFill rotWithShape="0">
              <a:gsLst>
                <a:gs pos="0">
                  <a:srgbClr val="76762F"/>
                </a:gs>
                <a:gs pos="100000">
                  <a:srgbClr val="FFFF66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8" name="Freeform 63"/>
            <p:cNvSpPr>
              <a:spLocks noChangeArrowheads="1"/>
            </p:cNvSpPr>
            <p:nvPr/>
          </p:nvSpPr>
          <p:spPr bwMode="auto">
            <a:xfrm>
              <a:off x="4274" y="1518"/>
              <a:ext cx="400" cy="260"/>
            </a:xfrm>
            <a:custGeom>
              <a:avLst/>
              <a:gdLst>
                <a:gd name="T0" fmla="*/ 296 w 400"/>
                <a:gd name="T1" fmla="*/ 80 h 260"/>
                <a:gd name="T2" fmla="*/ 332 w 400"/>
                <a:gd name="T3" fmla="*/ 59 h 260"/>
                <a:gd name="T4" fmla="*/ 369 w 400"/>
                <a:gd name="T5" fmla="*/ 80 h 260"/>
                <a:gd name="T6" fmla="*/ 400 w 400"/>
                <a:gd name="T7" fmla="*/ 62 h 260"/>
                <a:gd name="T8" fmla="*/ 332 w 400"/>
                <a:gd name="T9" fmla="*/ 24 h 260"/>
                <a:gd name="T10" fmla="*/ 288 w 400"/>
                <a:gd name="T11" fmla="*/ 12 h 260"/>
                <a:gd name="T12" fmla="*/ 216 w 400"/>
                <a:gd name="T13" fmla="*/ 0 h 260"/>
                <a:gd name="T14" fmla="*/ 152 w 400"/>
                <a:gd name="T15" fmla="*/ 8 h 260"/>
                <a:gd name="T16" fmla="*/ 96 w 400"/>
                <a:gd name="T17" fmla="*/ 28 h 260"/>
                <a:gd name="T18" fmla="*/ 52 w 400"/>
                <a:gd name="T19" fmla="*/ 48 h 260"/>
                <a:gd name="T20" fmla="*/ 8 w 400"/>
                <a:gd name="T21" fmla="*/ 88 h 260"/>
                <a:gd name="T22" fmla="*/ 0 w 400"/>
                <a:gd name="T23" fmla="*/ 120 h 260"/>
                <a:gd name="T24" fmla="*/ 20 w 400"/>
                <a:gd name="T25" fmla="*/ 140 h 260"/>
                <a:gd name="T26" fmla="*/ 52 w 400"/>
                <a:gd name="T27" fmla="*/ 156 h 260"/>
                <a:gd name="T28" fmla="*/ 52 w 400"/>
                <a:gd name="T29" fmla="*/ 260 h 260"/>
                <a:gd name="T30" fmla="*/ 100 w 400"/>
                <a:gd name="T31" fmla="*/ 232 h 260"/>
                <a:gd name="T32" fmla="*/ 296 w 400"/>
                <a:gd name="T33" fmla="*/ 8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0" h="260">
                  <a:moveTo>
                    <a:pt x="296" y="80"/>
                  </a:moveTo>
                  <a:lnTo>
                    <a:pt x="332" y="59"/>
                  </a:lnTo>
                  <a:lnTo>
                    <a:pt x="369" y="80"/>
                  </a:lnTo>
                  <a:lnTo>
                    <a:pt x="400" y="62"/>
                  </a:lnTo>
                  <a:lnTo>
                    <a:pt x="332" y="24"/>
                  </a:lnTo>
                  <a:lnTo>
                    <a:pt x="288" y="12"/>
                  </a:lnTo>
                  <a:lnTo>
                    <a:pt x="216" y="0"/>
                  </a:lnTo>
                  <a:lnTo>
                    <a:pt x="152" y="8"/>
                  </a:lnTo>
                  <a:lnTo>
                    <a:pt x="96" y="28"/>
                  </a:lnTo>
                  <a:lnTo>
                    <a:pt x="52" y="48"/>
                  </a:lnTo>
                  <a:lnTo>
                    <a:pt x="8" y="88"/>
                  </a:lnTo>
                  <a:lnTo>
                    <a:pt x="0" y="120"/>
                  </a:lnTo>
                  <a:lnTo>
                    <a:pt x="20" y="140"/>
                  </a:lnTo>
                  <a:lnTo>
                    <a:pt x="52" y="156"/>
                  </a:lnTo>
                  <a:lnTo>
                    <a:pt x="52" y="260"/>
                  </a:lnTo>
                  <a:lnTo>
                    <a:pt x="100" y="232"/>
                  </a:lnTo>
                  <a:lnTo>
                    <a:pt x="296" y="80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9" name="Freeform 64"/>
            <p:cNvSpPr>
              <a:spLocks noChangeArrowheads="1"/>
            </p:cNvSpPr>
            <p:nvPr/>
          </p:nvSpPr>
          <p:spPr bwMode="auto">
            <a:xfrm>
              <a:off x="4610" y="1570"/>
              <a:ext cx="34" cy="536"/>
            </a:xfrm>
            <a:custGeom>
              <a:avLst/>
              <a:gdLst>
                <a:gd name="T0" fmla="*/ 0 w 34"/>
                <a:gd name="T1" fmla="*/ 0 h 536"/>
                <a:gd name="T2" fmla="*/ 0 w 34"/>
                <a:gd name="T3" fmla="*/ 516 h 536"/>
                <a:gd name="T4" fmla="*/ 28 w 34"/>
                <a:gd name="T5" fmla="*/ 536 h 536"/>
                <a:gd name="T6" fmla="*/ 34 w 34"/>
                <a:gd name="T7" fmla="*/ 20 h 536"/>
                <a:gd name="T8" fmla="*/ 0 w 34"/>
                <a:gd name="T9" fmla="*/ 0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536">
                  <a:moveTo>
                    <a:pt x="0" y="0"/>
                  </a:moveTo>
                  <a:lnTo>
                    <a:pt x="0" y="516"/>
                  </a:lnTo>
                  <a:lnTo>
                    <a:pt x="28" y="536"/>
                  </a:lnTo>
                  <a:lnTo>
                    <a:pt x="34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0" name="Freeform 65"/>
            <p:cNvSpPr>
              <a:spLocks noChangeArrowheads="1"/>
            </p:cNvSpPr>
            <p:nvPr/>
          </p:nvSpPr>
          <p:spPr bwMode="auto">
            <a:xfrm>
              <a:off x="4570" y="1574"/>
              <a:ext cx="44" cy="524"/>
            </a:xfrm>
            <a:custGeom>
              <a:avLst/>
              <a:gdLst>
                <a:gd name="T0" fmla="*/ 0 w 44"/>
                <a:gd name="T1" fmla="*/ 20 h 524"/>
                <a:gd name="T2" fmla="*/ 0 w 44"/>
                <a:gd name="T3" fmla="*/ 524 h 524"/>
                <a:gd name="T4" fmla="*/ 44 w 44"/>
                <a:gd name="T5" fmla="*/ 508 h 524"/>
                <a:gd name="T6" fmla="*/ 44 w 44"/>
                <a:gd name="T7" fmla="*/ 0 h 524"/>
                <a:gd name="T8" fmla="*/ 0 w 44"/>
                <a:gd name="T9" fmla="*/ 2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24">
                  <a:moveTo>
                    <a:pt x="0" y="20"/>
                  </a:moveTo>
                  <a:lnTo>
                    <a:pt x="0" y="524"/>
                  </a:lnTo>
                  <a:lnTo>
                    <a:pt x="44" y="508"/>
                  </a:lnTo>
                  <a:lnTo>
                    <a:pt x="44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1" name="Freeform 66"/>
            <p:cNvSpPr>
              <a:spLocks noChangeArrowheads="1"/>
            </p:cNvSpPr>
            <p:nvPr/>
          </p:nvSpPr>
          <p:spPr bwMode="auto">
            <a:xfrm>
              <a:off x="4338" y="1574"/>
              <a:ext cx="236" cy="548"/>
            </a:xfrm>
            <a:custGeom>
              <a:avLst/>
              <a:gdLst>
                <a:gd name="T0" fmla="*/ 44 w 236"/>
                <a:gd name="T1" fmla="*/ 176 h 548"/>
                <a:gd name="T2" fmla="*/ 44 w 236"/>
                <a:gd name="T3" fmla="*/ 548 h 548"/>
                <a:gd name="T4" fmla="*/ 84 w 236"/>
                <a:gd name="T5" fmla="*/ 532 h 548"/>
                <a:gd name="T6" fmla="*/ 128 w 236"/>
                <a:gd name="T7" fmla="*/ 524 h 548"/>
                <a:gd name="T8" fmla="*/ 176 w 236"/>
                <a:gd name="T9" fmla="*/ 520 h 548"/>
                <a:gd name="T10" fmla="*/ 236 w 236"/>
                <a:gd name="T11" fmla="*/ 528 h 548"/>
                <a:gd name="T12" fmla="*/ 236 w 236"/>
                <a:gd name="T13" fmla="*/ 20 h 548"/>
                <a:gd name="T14" fmla="*/ 188 w 236"/>
                <a:gd name="T15" fmla="*/ 8 h 548"/>
                <a:gd name="T16" fmla="*/ 136 w 236"/>
                <a:gd name="T17" fmla="*/ 0 h 548"/>
                <a:gd name="T18" fmla="*/ 72 w 236"/>
                <a:gd name="T19" fmla="*/ 8 h 548"/>
                <a:gd name="T20" fmla="*/ 28 w 236"/>
                <a:gd name="T21" fmla="*/ 36 h 548"/>
                <a:gd name="T22" fmla="*/ 4 w 236"/>
                <a:gd name="T23" fmla="*/ 64 h 548"/>
                <a:gd name="T24" fmla="*/ 0 w 236"/>
                <a:gd name="T25" fmla="*/ 100 h 548"/>
                <a:gd name="T26" fmla="*/ 8 w 236"/>
                <a:gd name="T27" fmla="*/ 128 h 548"/>
                <a:gd name="T28" fmla="*/ 16 w 236"/>
                <a:gd name="T29" fmla="*/ 148 h 548"/>
                <a:gd name="T30" fmla="*/ 44 w 236"/>
                <a:gd name="T31" fmla="*/ 176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6" h="548">
                  <a:moveTo>
                    <a:pt x="44" y="176"/>
                  </a:moveTo>
                  <a:lnTo>
                    <a:pt x="44" y="548"/>
                  </a:lnTo>
                  <a:lnTo>
                    <a:pt x="84" y="532"/>
                  </a:lnTo>
                  <a:lnTo>
                    <a:pt x="128" y="524"/>
                  </a:lnTo>
                  <a:lnTo>
                    <a:pt x="176" y="520"/>
                  </a:lnTo>
                  <a:lnTo>
                    <a:pt x="236" y="528"/>
                  </a:lnTo>
                  <a:lnTo>
                    <a:pt x="236" y="20"/>
                  </a:lnTo>
                  <a:lnTo>
                    <a:pt x="188" y="8"/>
                  </a:lnTo>
                  <a:lnTo>
                    <a:pt x="136" y="0"/>
                  </a:lnTo>
                  <a:lnTo>
                    <a:pt x="72" y="8"/>
                  </a:lnTo>
                  <a:lnTo>
                    <a:pt x="28" y="36"/>
                  </a:lnTo>
                  <a:lnTo>
                    <a:pt x="4" y="64"/>
                  </a:lnTo>
                  <a:lnTo>
                    <a:pt x="0" y="100"/>
                  </a:lnTo>
                  <a:lnTo>
                    <a:pt x="8" y="128"/>
                  </a:lnTo>
                  <a:lnTo>
                    <a:pt x="16" y="148"/>
                  </a:lnTo>
                  <a:lnTo>
                    <a:pt x="44" y="176"/>
                  </a:lnTo>
                  <a:close/>
                </a:path>
              </a:pathLst>
            </a:custGeom>
            <a:gradFill rotWithShape="0">
              <a:gsLst>
                <a:gs pos="0">
                  <a:srgbClr val="765E00"/>
                </a:gs>
                <a:gs pos="100000">
                  <a:srgbClr val="FFCC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2" name="Freeform 67"/>
            <p:cNvSpPr>
              <a:spLocks noChangeArrowheads="1"/>
            </p:cNvSpPr>
            <p:nvPr/>
          </p:nvSpPr>
          <p:spPr bwMode="auto">
            <a:xfrm>
              <a:off x="4166" y="1366"/>
              <a:ext cx="588" cy="376"/>
            </a:xfrm>
            <a:custGeom>
              <a:avLst/>
              <a:gdLst>
                <a:gd name="T0" fmla="*/ 588 w 588"/>
                <a:gd name="T1" fmla="*/ 72 h 376"/>
                <a:gd name="T2" fmla="*/ 520 w 588"/>
                <a:gd name="T3" fmla="*/ 36 h 376"/>
                <a:gd name="T4" fmla="*/ 468 w 588"/>
                <a:gd name="T5" fmla="*/ 20 h 376"/>
                <a:gd name="T6" fmla="*/ 412 w 588"/>
                <a:gd name="T7" fmla="*/ 8 h 376"/>
                <a:gd name="T8" fmla="*/ 336 w 588"/>
                <a:gd name="T9" fmla="*/ 0 h 376"/>
                <a:gd name="T10" fmla="*/ 244 w 588"/>
                <a:gd name="T11" fmla="*/ 8 h 376"/>
                <a:gd name="T12" fmla="*/ 148 w 588"/>
                <a:gd name="T13" fmla="*/ 36 h 376"/>
                <a:gd name="T14" fmla="*/ 88 w 588"/>
                <a:gd name="T15" fmla="*/ 64 h 376"/>
                <a:gd name="T16" fmla="*/ 48 w 588"/>
                <a:gd name="T17" fmla="*/ 96 h 376"/>
                <a:gd name="T18" fmla="*/ 24 w 588"/>
                <a:gd name="T19" fmla="*/ 124 h 376"/>
                <a:gd name="T20" fmla="*/ 4 w 588"/>
                <a:gd name="T21" fmla="*/ 168 h 376"/>
                <a:gd name="T22" fmla="*/ 0 w 588"/>
                <a:gd name="T23" fmla="*/ 214 h 376"/>
                <a:gd name="T24" fmla="*/ 8 w 588"/>
                <a:gd name="T25" fmla="*/ 268 h 376"/>
                <a:gd name="T26" fmla="*/ 24 w 588"/>
                <a:gd name="T27" fmla="*/ 304 h 376"/>
                <a:gd name="T28" fmla="*/ 40 w 588"/>
                <a:gd name="T29" fmla="*/ 332 h 376"/>
                <a:gd name="T30" fmla="*/ 76 w 588"/>
                <a:gd name="T31" fmla="*/ 376 h 376"/>
                <a:gd name="T32" fmla="*/ 168 w 588"/>
                <a:gd name="T33" fmla="*/ 323 h 376"/>
                <a:gd name="T34" fmla="*/ 136 w 588"/>
                <a:gd name="T35" fmla="*/ 296 h 376"/>
                <a:gd name="T36" fmla="*/ 112 w 588"/>
                <a:gd name="T37" fmla="*/ 280 h 376"/>
                <a:gd name="T38" fmla="*/ 96 w 588"/>
                <a:gd name="T39" fmla="*/ 236 h 376"/>
                <a:gd name="T40" fmla="*/ 100 w 588"/>
                <a:gd name="T41" fmla="*/ 180 h 376"/>
                <a:gd name="T42" fmla="*/ 132 w 588"/>
                <a:gd name="T43" fmla="*/ 128 h 376"/>
                <a:gd name="T44" fmla="*/ 188 w 588"/>
                <a:gd name="T45" fmla="*/ 92 h 376"/>
                <a:gd name="T46" fmla="*/ 240 w 588"/>
                <a:gd name="T47" fmla="*/ 76 h 376"/>
                <a:gd name="T48" fmla="*/ 308 w 588"/>
                <a:gd name="T49" fmla="*/ 68 h 376"/>
                <a:gd name="T50" fmla="*/ 376 w 588"/>
                <a:gd name="T51" fmla="*/ 76 h 376"/>
                <a:gd name="T52" fmla="*/ 432 w 588"/>
                <a:gd name="T53" fmla="*/ 88 h 376"/>
                <a:gd name="T54" fmla="*/ 508 w 588"/>
                <a:gd name="T55" fmla="*/ 112 h 376"/>
                <a:gd name="T56" fmla="*/ 588 w 588"/>
                <a:gd name="T57" fmla="*/ 72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88" h="376">
                  <a:moveTo>
                    <a:pt x="588" y="72"/>
                  </a:moveTo>
                  <a:lnTo>
                    <a:pt x="520" y="36"/>
                  </a:lnTo>
                  <a:lnTo>
                    <a:pt x="468" y="20"/>
                  </a:lnTo>
                  <a:lnTo>
                    <a:pt x="412" y="8"/>
                  </a:lnTo>
                  <a:lnTo>
                    <a:pt x="336" y="0"/>
                  </a:lnTo>
                  <a:lnTo>
                    <a:pt x="244" y="8"/>
                  </a:lnTo>
                  <a:lnTo>
                    <a:pt x="148" y="36"/>
                  </a:lnTo>
                  <a:lnTo>
                    <a:pt x="88" y="64"/>
                  </a:lnTo>
                  <a:lnTo>
                    <a:pt x="48" y="96"/>
                  </a:lnTo>
                  <a:lnTo>
                    <a:pt x="24" y="124"/>
                  </a:lnTo>
                  <a:lnTo>
                    <a:pt x="4" y="168"/>
                  </a:lnTo>
                  <a:lnTo>
                    <a:pt x="0" y="214"/>
                  </a:lnTo>
                  <a:lnTo>
                    <a:pt x="8" y="268"/>
                  </a:lnTo>
                  <a:lnTo>
                    <a:pt x="24" y="304"/>
                  </a:lnTo>
                  <a:lnTo>
                    <a:pt x="40" y="332"/>
                  </a:lnTo>
                  <a:lnTo>
                    <a:pt x="76" y="376"/>
                  </a:lnTo>
                  <a:lnTo>
                    <a:pt x="168" y="323"/>
                  </a:lnTo>
                  <a:lnTo>
                    <a:pt x="136" y="296"/>
                  </a:lnTo>
                  <a:lnTo>
                    <a:pt x="112" y="280"/>
                  </a:lnTo>
                  <a:lnTo>
                    <a:pt x="96" y="236"/>
                  </a:lnTo>
                  <a:lnTo>
                    <a:pt x="100" y="180"/>
                  </a:lnTo>
                  <a:lnTo>
                    <a:pt x="132" y="128"/>
                  </a:lnTo>
                  <a:lnTo>
                    <a:pt x="188" y="92"/>
                  </a:lnTo>
                  <a:lnTo>
                    <a:pt x="240" y="76"/>
                  </a:lnTo>
                  <a:lnTo>
                    <a:pt x="308" y="68"/>
                  </a:lnTo>
                  <a:lnTo>
                    <a:pt x="376" y="76"/>
                  </a:lnTo>
                  <a:lnTo>
                    <a:pt x="432" y="88"/>
                  </a:lnTo>
                  <a:lnTo>
                    <a:pt x="508" y="112"/>
                  </a:lnTo>
                  <a:lnTo>
                    <a:pt x="588" y="72"/>
                  </a:lnTo>
                  <a:close/>
                </a:path>
              </a:pathLst>
            </a:custGeom>
            <a:solidFill>
              <a:srgbClr val="FF3300"/>
            </a:solidFill>
            <a:ln w="12700">
              <a:solidFill>
                <a:srgbClr val="FF3300"/>
              </a:solidFill>
              <a:round/>
              <a:headEnd type="none" w="sm" len="lg"/>
              <a:tailEnd type="none" w="sm" len="lg"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3" name="Freeform 68"/>
            <p:cNvSpPr>
              <a:spLocks noChangeArrowheads="1"/>
            </p:cNvSpPr>
            <p:nvPr/>
          </p:nvSpPr>
          <p:spPr bwMode="auto">
            <a:xfrm>
              <a:off x="3533" y="2250"/>
              <a:ext cx="321" cy="368"/>
            </a:xfrm>
            <a:custGeom>
              <a:avLst/>
              <a:gdLst>
                <a:gd name="T0" fmla="*/ 5 w 321"/>
                <a:gd name="T1" fmla="*/ 84 h 368"/>
                <a:gd name="T2" fmla="*/ 0 w 321"/>
                <a:gd name="T3" fmla="*/ 368 h 368"/>
                <a:gd name="T4" fmla="*/ 89 w 321"/>
                <a:gd name="T5" fmla="*/ 324 h 368"/>
                <a:gd name="T6" fmla="*/ 133 w 321"/>
                <a:gd name="T7" fmla="*/ 304 h 368"/>
                <a:gd name="T8" fmla="*/ 181 w 321"/>
                <a:gd name="T9" fmla="*/ 284 h 368"/>
                <a:gd name="T10" fmla="*/ 221 w 321"/>
                <a:gd name="T11" fmla="*/ 280 h 368"/>
                <a:gd name="T12" fmla="*/ 261 w 321"/>
                <a:gd name="T13" fmla="*/ 288 h 368"/>
                <a:gd name="T14" fmla="*/ 285 w 321"/>
                <a:gd name="T15" fmla="*/ 296 h 368"/>
                <a:gd name="T16" fmla="*/ 321 w 321"/>
                <a:gd name="T17" fmla="*/ 320 h 368"/>
                <a:gd name="T18" fmla="*/ 321 w 321"/>
                <a:gd name="T19" fmla="*/ 20 h 368"/>
                <a:gd name="T20" fmla="*/ 281 w 321"/>
                <a:gd name="T21" fmla="*/ 8 h 368"/>
                <a:gd name="T22" fmla="*/ 225 w 321"/>
                <a:gd name="T23" fmla="*/ 0 h 368"/>
                <a:gd name="T24" fmla="*/ 173 w 321"/>
                <a:gd name="T25" fmla="*/ 4 h 368"/>
                <a:gd name="T26" fmla="*/ 109 w 321"/>
                <a:gd name="T27" fmla="*/ 24 h 368"/>
                <a:gd name="T28" fmla="*/ 5 w 321"/>
                <a:gd name="T29" fmla="*/ 84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1" h="368">
                  <a:moveTo>
                    <a:pt x="5" y="84"/>
                  </a:moveTo>
                  <a:lnTo>
                    <a:pt x="0" y="368"/>
                  </a:lnTo>
                  <a:lnTo>
                    <a:pt x="89" y="324"/>
                  </a:lnTo>
                  <a:lnTo>
                    <a:pt x="133" y="304"/>
                  </a:lnTo>
                  <a:lnTo>
                    <a:pt x="181" y="284"/>
                  </a:lnTo>
                  <a:lnTo>
                    <a:pt x="221" y="280"/>
                  </a:lnTo>
                  <a:lnTo>
                    <a:pt x="261" y="288"/>
                  </a:lnTo>
                  <a:lnTo>
                    <a:pt x="285" y="296"/>
                  </a:lnTo>
                  <a:lnTo>
                    <a:pt x="321" y="320"/>
                  </a:lnTo>
                  <a:lnTo>
                    <a:pt x="321" y="20"/>
                  </a:lnTo>
                  <a:lnTo>
                    <a:pt x="281" y="8"/>
                  </a:lnTo>
                  <a:lnTo>
                    <a:pt x="225" y="0"/>
                  </a:lnTo>
                  <a:lnTo>
                    <a:pt x="173" y="4"/>
                  </a:lnTo>
                  <a:lnTo>
                    <a:pt x="109" y="24"/>
                  </a:lnTo>
                  <a:lnTo>
                    <a:pt x="5" y="84"/>
                  </a:lnTo>
                  <a:close/>
                </a:path>
              </a:pathLst>
            </a:custGeom>
            <a:gradFill rotWithShape="0">
              <a:gsLst>
                <a:gs pos="0">
                  <a:srgbClr val="FFCC00"/>
                </a:gs>
                <a:gs pos="100000">
                  <a:srgbClr val="A886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69"/>
            <p:cNvSpPr>
              <a:spLocks noChangeArrowheads="1"/>
            </p:cNvSpPr>
            <p:nvPr/>
          </p:nvSpPr>
          <p:spPr bwMode="auto">
            <a:xfrm>
              <a:off x="4642" y="1438"/>
              <a:ext cx="112" cy="660"/>
            </a:xfrm>
            <a:custGeom>
              <a:avLst/>
              <a:gdLst>
                <a:gd name="T0" fmla="*/ 32 w 112"/>
                <a:gd name="T1" fmla="*/ 36 h 660"/>
                <a:gd name="T2" fmla="*/ 32 w 112"/>
                <a:gd name="T3" fmla="*/ 136 h 660"/>
                <a:gd name="T4" fmla="*/ 0 w 112"/>
                <a:gd name="T5" fmla="*/ 156 h 660"/>
                <a:gd name="T6" fmla="*/ 0 w 112"/>
                <a:gd name="T7" fmla="*/ 660 h 660"/>
                <a:gd name="T8" fmla="*/ 112 w 112"/>
                <a:gd name="T9" fmla="*/ 608 h 660"/>
                <a:gd name="T10" fmla="*/ 112 w 112"/>
                <a:gd name="T11" fmla="*/ 0 h 660"/>
                <a:gd name="T12" fmla="*/ 32 w 112"/>
                <a:gd name="T13" fmla="*/ 36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" h="660">
                  <a:moveTo>
                    <a:pt x="32" y="36"/>
                  </a:moveTo>
                  <a:lnTo>
                    <a:pt x="32" y="136"/>
                  </a:lnTo>
                  <a:lnTo>
                    <a:pt x="0" y="156"/>
                  </a:lnTo>
                  <a:lnTo>
                    <a:pt x="0" y="660"/>
                  </a:lnTo>
                  <a:lnTo>
                    <a:pt x="112" y="608"/>
                  </a:lnTo>
                  <a:lnTo>
                    <a:pt x="112" y="0"/>
                  </a:lnTo>
                  <a:lnTo>
                    <a:pt x="32" y="36"/>
                  </a:lnTo>
                  <a:close/>
                </a:path>
              </a:pathLst>
            </a:custGeom>
            <a:solidFill>
              <a:srgbClr val="FF66FF"/>
            </a:solidFill>
            <a:ln w="28575">
              <a:solidFill>
                <a:schemeClr val="tx1"/>
              </a:solidFill>
              <a:round/>
              <a:headEnd type="none" w="sm" len="lg"/>
              <a:tailEnd type="none" w="sm" len="lg"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70"/>
            <p:cNvSpPr>
              <a:spLocks noChangeArrowheads="1"/>
            </p:cNvSpPr>
            <p:nvPr/>
          </p:nvSpPr>
          <p:spPr bwMode="auto">
            <a:xfrm>
              <a:off x="3386" y="2246"/>
              <a:ext cx="153" cy="372"/>
            </a:xfrm>
            <a:custGeom>
              <a:avLst/>
              <a:gdLst>
                <a:gd name="T0" fmla="*/ 0 w 153"/>
                <a:gd name="T1" fmla="*/ 0 h 372"/>
                <a:gd name="T2" fmla="*/ 152 w 153"/>
                <a:gd name="T3" fmla="*/ 88 h 372"/>
                <a:gd name="T4" fmla="*/ 153 w 153"/>
                <a:gd name="T5" fmla="*/ 372 h 372"/>
                <a:gd name="T6" fmla="*/ 0 w 153"/>
                <a:gd name="T7" fmla="*/ 296 h 372"/>
                <a:gd name="T8" fmla="*/ 0 w 153"/>
                <a:gd name="T9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3" h="372">
                  <a:moveTo>
                    <a:pt x="0" y="0"/>
                  </a:moveTo>
                  <a:lnTo>
                    <a:pt x="152" y="88"/>
                  </a:lnTo>
                  <a:lnTo>
                    <a:pt x="153" y="372"/>
                  </a:lnTo>
                  <a:lnTo>
                    <a:pt x="0" y="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71"/>
            <p:cNvSpPr>
              <a:spLocks noChangeArrowheads="1"/>
            </p:cNvSpPr>
            <p:nvPr/>
          </p:nvSpPr>
          <p:spPr bwMode="auto">
            <a:xfrm>
              <a:off x="3850" y="2222"/>
              <a:ext cx="136" cy="336"/>
            </a:xfrm>
            <a:custGeom>
              <a:avLst/>
              <a:gdLst>
                <a:gd name="T0" fmla="*/ 0 w 136"/>
                <a:gd name="T1" fmla="*/ 48 h 336"/>
                <a:gd name="T2" fmla="*/ 88 w 136"/>
                <a:gd name="T3" fmla="*/ 0 h 336"/>
                <a:gd name="T4" fmla="*/ 88 w 136"/>
                <a:gd name="T5" fmla="*/ 108 h 336"/>
                <a:gd name="T6" fmla="*/ 136 w 136"/>
                <a:gd name="T7" fmla="*/ 84 h 336"/>
                <a:gd name="T8" fmla="*/ 136 w 136"/>
                <a:gd name="T9" fmla="*/ 256 h 336"/>
                <a:gd name="T10" fmla="*/ 0 w 136"/>
                <a:gd name="T11" fmla="*/ 336 h 336"/>
                <a:gd name="T12" fmla="*/ 0 w 136"/>
                <a:gd name="T13" fmla="*/ 48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336">
                  <a:moveTo>
                    <a:pt x="0" y="48"/>
                  </a:moveTo>
                  <a:lnTo>
                    <a:pt x="88" y="0"/>
                  </a:lnTo>
                  <a:lnTo>
                    <a:pt x="88" y="108"/>
                  </a:lnTo>
                  <a:lnTo>
                    <a:pt x="136" y="84"/>
                  </a:lnTo>
                  <a:lnTo>
                    <a:pt x="136" y="256"/>
                  </a:lnTo>
                  <a:lnTo>
                    <a:pt x="0" y="336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99FF"/>
            </a:solidFill>
            <a:ln w="28575">
              <a:solidFill>
                <a:schemeClr val="tx1"/>
              </a:solidFill>
              <a:round/>
              <a:headEnd type="none" w="sm" len="lg"/>
              <a:tailEnd type="none" w="sm" len="lg"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72"/>
            <p:cNvSpPr>
              <a:spLocks noChangeArrowheads="1"/>
            </p:cNvSpPr>
            <p:nvPr/>
          </p:nvSpPr>
          <p:spPr bwMode="auto">
            <a:xfrm>
              <a:off x="4089" y="1690"/>
              <a:ext cx="293" cy="732"/>
            </a:xfrm>
            <a:custGeom>
              <a:avLst/>
              <a:gdLst>
                <a:gd name="T0" fmla="*/ 149 w 293"/>
                <a:gd name="T1" fmla="*/ 40 h 732"/>
                <a:gd name="T2" fmla="*/ 149 w 293"/>
                <a:gd name="T3" fmla="*/ 356 h 732"/>
                <a:gd name="T4" fmla="*/ 49 w 293"/>
                <a:gd name="T5" fmla="*/ 414 h 732"/>
                <a:gd name="T6" fmla="*/ 49 w 293"/>
                <a:gd name="T7" fmla="*/ 532 h 732"/>
                <a:gd name="T8" fmla="*/ 0 w 293"/>
                <a:gd name="T9" fmla="*/ 560 h 732"/>
                <a:gd name="T10" fmla="*/ 0 w 293"/>
                <a:gd name="T11" fmla="*/ 732 h 732"/>
                <a:gd name="T12" fmla="*/ 293 w 293"/>
                <a:gd name="T13" fmla="*/ 563 h 732"/>
                <a:gd name="T14" fmla="*/ 293 w 293"/>
                <a:gd name="T15" fmla="*/ 56 h 732"/>
                <a:gd name="T16" fmla="*/ 237 w 293"/>
                <a:gd name="T17" fmla="*/ 88 h 732"/>
                <a:gd name="T18" fmla="*/ 237 w 293"/>
                <a:gd name="T19" fmla="*/ 0 h 732"/>
                <a:gd name="T20" fmla="*/ 149 w 293"/>
                <a:gd name="T21" fmla="*/ 40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732">
                  <a:moveTo>
                    <a:pt x="149" y="40"/>
                  </a:moveTo>
                  <a:lnTo>
                    <a:pt x="149" y="356"/>
                  </a:lnTo>
                  <a:lnTo>
                    <a:pt x="49" y="414"/>
                  </a:lnTo>
                  <a:lnTo>
                    <a:pt x="49" y="532"/>
                  </a:lnTo>
                  <a:lnTo>
                    <a:pt x="0" y="560"/>
                  </a:lnTo>
                  <a:lnTo>
                    <a:pt x="0" y="732"/>
                  </a:lnTo>
                  <a:lnTo>
                    <a:pt x="293" y="563"/>
                  </a:lnTo>
                  <a:lnTo>
                    <a:pt x="293" y="56"/>
                  </a:lnTo>
                  <a:lnTo>
                    <a:pt x="237" y="88"/>
                  </a:lnTo>
                  <a:lnTo>
                    <a:pt x="237" y="0"/>
                  </a:lnTo>
                  <a:lnTo>
                    <a:pt x="149" y="40"/>
                  </a:lnTo>
                  <a:close/>
                </a:path>
              </a:pathLst>
            </a:custGeom>
            <a:solidFill>
              <a:srgbClr val="FF99FF"/>
            </a:solidFill>
            <a:ln w="28575">
              <a:solidFill>
                <a:schemeClr val="tx1"/>
              </a:solidFill>
              <a:round/>
              <a:headEnd type="none" w="sm" len="lg"/>
              <a:tailEnd type="none" w="sm" len="lg"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73"/>
            <p:cNvSpPr>
              <a:spLocks noChangeArrowheads="1"/>
            </p:cNvSpPr>
            <p:nvPr/>
          </p:nvSpPr>
          <p:spPr bwMode="auto">
            <a:xfrm>
              <a:off x="4089" y="1910"/>
              <a:ext cx="295" cy="511"/>
            </a:xfrm>
            <a:custGeom>
              <a:avLst/>
              <a:gdLst>
                <a:gd name="T0" fmla="*/ 0 w 885"/>
                <a:gd name="T1" fmla="*/ 1531 h 1531"/>
                <a:gd name="T2" fmla="*/ 884 w 885"/>
                <a:gd name="T3" fmla="*/ 0 h 1531"/>
                <a:gd name="T4" fmla="*/ 885 w 885"/>
                <a:gd name="T5" fmla="*/ 0 h 1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5" h="1531">
                  <a:moveTo>
                    <a:pt x="0" y="1531"/>
                  </a:moveTo>
                  <a:lnTo>
                    <a:pt x="884" y="0"/>
                  </a:lnTo>
                  <a:lnTo>
                    <a:pt x="885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74"/>
            <p:cNvSpPr>
              <a:spLocks noChangeArrowheads="1"/>
            </p:cNvSpPr>
            <p:nvPr/>
          </p:nvSpPr>
          <p:spPr bwMode="auto">
            <a:xfrm>
              <a:off x="4200" y="2038"/>
              <a:ext cx="184" cy="319"/>
            </a:xfrm>
            <a:custGeom>
              <a:avLst/>
              <a:gdLst>
                <a:gd name="T0" fmla="*/ 0 w 552"/>
                <a:gd name="T1" fmla="*/ 957 h 957"/>
                <a:gd name="T2" fmla="*/ 551 w 552"/>
                <a:gd name="T3" fmla="*/ 0 h 957"/>
                <a:gd name="T4" fmla="*/ 552 w 552"/>
                <a:gd name="T5" fmla="*/ 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2" h="957">
                  <a:moveTo>
                    <a:pt x="0" y="957"/>
                  </a:moveTo>
                  <a:lnTo>
                    <a:pt x="551" y="0"/>
                  </a:lnTo>
                  <a:lnTo>
                    <a:pt x="552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75"/>
            <p:cNvSpPr>
              <a:spLocks noChangeArrowheads="1"/>
            </p:cNvSpPr>
            <p:nvPr/>
          </p:nvSpPr>
          <p:spPr bwMode="auto">
            <a:xfrm>
              <a:off x="4310" y="2166"/>
              <a:ext cx="74" cy="127"/>
            </a:xfrm>
            <a:custGeom>
              <a:avLst/>
              <a:gdLst>
                <a:gd name="T0" fmla="*/ 0 w 221"/>
                <a:gd name="T1" fmla="*/ 380 h 380"/>
                <a:gd name="T2" fmla="*/ 220 w 221"/>
                <a:gd name="T3" fmla="*/ 0 h 380"/>
                <a:gd name="T4" fmla="*/ 221 w 221"/>
                <a:gd name="T5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1" h="380">
                  <a:moveTo>
                    <a:pt x="0" y="380"/>
                  </a:moveTo>
                  <a:lnTo>
                    <a:pt x="220" y="0"/>
                  </a:lnTo>
                  <a:lnTo>
                    <a:pt x="221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76"/>
            <p:cNvSpPr>
              <a:spLocks noChangeArrowheads="1"/>
            </p:cNvSpPr>
            <p:nvPr/>
          </p:nvSpPr>
          <p:spPr bwMode="auto">
            <a:xfrm>
              <a:off x="4089" y="2225"/>
              <a:ext cx="40" cy="68"/>
            </a:xfrm>
            <a:custGeom>
              <a:avLst/>
              <a:gdLst>
                <a:gd name="T0" fmla="*/ 0 w 120"/>
                <a:gd name="T1" fmla="*/ 205 h 205"/>
                <a:gd name="T2" fmla="*/ 119 w 120"/>
                <a:gd name="T3" fmla="*/ 0 h 205"/>
                <a:gd name="T4" fmla="*/ 120 w 120"/>
                <a:gd name="T5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0" h="205">
                  <a:moveTo>
                    <a:pt x="0" y="205"/>
                  </a:moveTo>
                  <a:lnTo>
                    <a:pt x="119" y="0"/>
                  </a:lnTo>
                  <a:lnTo>
                    <a:pt x="120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77"/>
            <p:cNvSpPr>
              <a:spLocks noChangeArrowheads="1"/>
            </p:cNvSpPr>
            <p:nvPr/>
          </p:nvSpPr>
          <p:spPr bwMode="auto">
            <a:xfrm>
              <a:off x="4245" y="1743"/>
              <a:ext cx="88" cy="151"/>
            </a:xfrm>
            <a:custGeom>
              <a:avLst/>
              <a:gdLst>
                <a:gd name="T0" fmla="*/ 0 w 264"/>
                <a:gd name="T1" fmla="*/ 455 h 455"/>
                <a:gd name="T2" fmla="*/ 263 w 264"/>
                <a:gd name="T3" fmla="*/ 0 h 455"/>
                <a:gd name="T4" fmla="*/ 264 w 264"/>
                <a:gd name="T5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4" h="455">
                  <a:moveTo>
                    <a:pt x="0" y="455"/>
                  </a:moveTo>
                  <a:lnTo>
                    <a:pt x="263" y="0"/>
                  </a:lnTo>
                  <a:lnTo>
                    <a:pt x="264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78"/>
            <p:cNvSpPr>
              <a:spLocks noChangeArrowheads="1"/>
            </p:cNvSpPr>
            <p:nvPr/>
          </p:nvSpPr>
          <p:spPr bwMode="auto">
            <a:xfrm>
              <a:off x="4245" y="1716"/>
              <a:ext cx="30" cy="50"/>
            </a:xfrm>
            <a:custGeom>
              <a:avLst/>
              <a:gdLst>
                <a:gd name="T0" fmla="*/ 0 w 89"/>
                <a:gd name="T1" fmla="*/ 151 h 151"/>
                <a:gd name="T2" fmla="*/ 88 w 89"/>
                <a:gd name="T3" fmla="*/ 0 h 151"/>
                <a:gd name="T4" fmla="*/ 89 w 89"/>
                <a:gd name="T5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" h="151">
                  <a:moveTo>
                    <a:pt x="0" y="151"/>
                  </a:moveTo>
                  <a:lnTo>
                    <a:pt x="88" y="0"/>
                  </a:lnTo>
                  <a:lnTo>
                    <a:pt x="89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4" name="Freeform 79"/>
            <p:cNvSpPr>
              <a:spLocks noChangeArrowheads="1"/>
            </p:cNvSpPr>
            <p:nvPr/>
          </p:nvSpPr>
          <p:spPr bwMode="auto">
            <a:xfrm>
              <a:off x="4245" y="1782"/>
              <a:ext cx="139" cy="240"/>
            </a:xfrm>
            <a:custGeom>
              <a:avLst/>
              <a:gdLst>
                <a:gd name="T0" fmla="*/ 0 w 416"/>
                <a:gd name="T1" fmla="*/ 719 h 719"/>
                <a:gd name="T2" fmla="*/ 415 w 416"/>
                <a:gd name="T3" fmla="*/ 0 h 719"/>
                <a:gd name="T4" fmla="*/ 416 w 416"/>
                <a:gd name="T5" fmla="*/ 0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6" h="719">
                  <a:moveTo>
                    <a:pt x="0" y="719"/>
                  </a:moveTo>
                  <a:lnTo>
                    <a:pt x="415" y="0"/>
                  </a:lnTo>
                  <a:lnTo>
                    <a:pt x="416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5" name="Freeform 80"/>
            <p:cNvSpPr>
              <a:spLocks noChangeArrowheads="1"/>
            </p:cNvSpPr>
            <p:nvPr/>
          </p:nvSpPr>
          <p:spPr bwMode="auto">
            <a:xfrm>
              <a:off x="4140" y="2054"/>
              <a:ext cx="87" cy="151"/>
            </a:xfrm>
            <a:custGeom>
              <a:avLst/>
              <a:gdLst>
                <a:gd name="T0" fmla="*/ 0 w 263"/>
                <a:gd name="T1" fmla="*/ 454 h 454"/>
                <a:gd name="T2" fmla="*/ 262 w 263"/>
                <a:gd name="T3" fmla="*/ 0 h 454"/>
                <a:gd name="T4" fmla="*/ 263 w 263"/>
                <a:gd name="T5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3" h="454">
                  <a:moveTo>
                    <a:pt x="0" y="454"/>
                  </a:moveTo>
                  <a:lnTo>
                    <a:pt x="262" y="0"/>
                  </a:lnTo>
                  <a:lnTo>
                    <a:pt x="263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6" name="Freeform 81"/>
            <p:cNvSpPr>
              <a:spLocks noChangeArrowheads="1"/>
            </p:cNvSpPr>
            <p:nvPr/>
          </p:nvSpPr>
          <p:spPr bwMode="auto">
            <a:xfrm>
              <a:off x="4649" y="1529"/>
              <a:ext cx="102" cy="178"/>
            </a:xfrm>
            <a:custGeom>
              <a:avLst/>
              <a:gdLst>
                <a:gd name="T0" fmla="*/ 0 w 308"/>
                <a:gd name="T1" fmla="*/ 534 h 534"/>
                <a:gd name="T2" fmla="*/ 307 w 308"/>
                <a:gd name="T3" fmla="*/ 0 h 534"/>
                <a:gd name="T4" fmla="*/ 308 w 308"/>
                <a:gd name="T5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8" h="534">
                  <a:moveTo>
                    <a:pt x="0" y="534"/>
                  </a:moveTo>
                  <a:lnTo>
                    <a:pt x="307" y="0"/>
                  </a:lnTo>
                  <a:lnTo>
                    <a:pt x="308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7" name="Freeform 82"/>
            <p:cNvSpPr>
              <a:spLocks noChangeArrowheads="1"/>
            </p:cNvSpPr>
            <p:nvPr/>
          </p:nvSpPr>
          <p:spPr bwMode="auto">
            <a:xfrm>
              <a:off x="4649" y="1656"/>
              <a:ext cx="102" cy="179"/>
            </a:xfrm>
            <a:custGeom>
              <a:avLst/>
              <a:gdLst>
                <a:gd name="T0" fmla="*/ 0 w 308"/>
                <a:gd name="T1" fmla="*/ 535 h 535"/>
                <a:gd name="T2" fmla="*/ 307 w 308"/>
                <a:gd name="T3" fmla="*/ 0 h 535"/>
                <a:gd name="T4" fmla="*/ 308 w 308"/>
                <a:gd name="T5" fmla="*/ 0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8" h="535">
                  <a:moveTo>
                    <a:pt x="0" y="535"/>
                  </a:moveTo>
                  <a:lnTo>
                    <a:pt x="307" y="0"/>
                  </a:lnTo>
                  <a:lnTo>
                    <a:pt x="308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8" name="Freeform 83"/>
            <p:cNvSpPr>
              <a:spLocks noChangeArrowheads="1"/>
            </p:cNvSpPr>
            <p:nvPr/>
          </p:nvSpPr>
          <p:spPr bwMode="auto">
            <a:xfrm>
              <a:off x="4649" y="1785"/>
              <a:ext cx="102" cy="177"/>
            </a:xfrm>
            <a:custGeom>
              <a:avLst/>
              <a:gdLst>
                <a:gd name="T0" fmla="*/ 0 w 308"/>
                <a:gd name="T1" fmla="*/ 533 h 533"/>
                <a:gd name="T2" fmla="*/ 307 w 308"/>
                <a:gd name="T3" fmla="*/ 0 h 533"/>
                <a:gd name="T4" fmla="*/ 308 w 308"/>
                <a:gd name="T5" fmla="*/ 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8" h="533">
                  <a:moveTo>
                    <a:pt x="0" y="533"/>
                  </a:moveTo>
                  <a:lnTo>
                    <a:pt x="307" y="0"/>
                  </a:lnTo>
                  <a:lnTo>
                    <a:pt x="308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9" name="Freeform 84"/>
            <p:cNvSpPr>
              <a:spLocks noChangeArrowheads="1"/>
            </p:cNvSpPr>
            <p:nvPr/>
          </p:nvSpPr>
          <p:spPr bwMode="auto">
            <a:xfrm>
              <a:off x="4649" y="1912"/>
              <a:ext cx="102" cy="178"/>
            </a:xfrm>
            <a:custGeom>
              <a:avLst/>
              <a:gdLst>
                <a:gd name="T0" fmla="*/ 0 w 308"/>
                <a:gd name="T1" fmla="*/ 533 h 533"/>
                <a:gd name="T2" fmla="*/ 307 w 308"/>
                <a:gd name="T3" fmla="*/ 0 h 533"/>
                <a:gd name="T4" fmla="*/ 308 w 308"/>
                <a:gd name="T5" fmla="*/ 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8" h="533">
                  <a:moveTo>
                    <a:pt x="0" y="533"/>
                  </a:moveTo>
                  <a:lnTo>
                    <a:pt x="307" y="0"/>
                  </a:lnTo>
                  <a:lnTo>
                    <a:pt x="308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0" name="Freeform 85"/>
            <p:cNvSpPr>
              <a:spLocks noChangeArrowheads="1"/>
            </p:cNvSpPr>
            <p:nvPr/>
          </p:nvSpPr>
          <p:spPr bwMode="auto">
            <a:xfrm>
              <a:off x="4675" y="1461"/>
              <a:ext cx="42" cy="71"/>
            </a:xfrm>
            <a:custGeom>
              <a:avLst/>
              <a:gdLst>
                <a:gd name="T0" fmla="*/ 0 w 125"/>
                <a:gd name="T1" fmla="*/ 215 h 215"/>
                <a:gd name="T2" fmla="*/ 124 w 125"/>
                <a:gd name="T3" fmla="*/ 0 h 215"/>
                <a:gd name="T4" fmla="*/ 125 w 125"/>
                <a:gd name="T5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215">
                  <a:moveTo>
                    <a:pt x="0" y="215"/>
                  </a:moveTo>
                  <a:lnTo>
                    <a:pt x="124" y="0"/>
                  </a:lnTo>
                  <a:lnTo>
                    <a:pt x="125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1" name="Freeform 86"/>
            <p:cNvSpPr>
              <a:spLocks noChangeArrowheads="1"/>
            </p:cNvSpPr>
            <p:nvPr/>
          </p:nvSpPr>
          <p:spPr bwMode="auto">
            <a:xfrm>
              <a:off x="3863" y="2335"/>
              <a:ext cx="125" cy="217"/>
            </a:xfrm>
            <a:custGeom>
              <a:avLst/>
              <a:gdLst>
                <a:gd name="T0" fmla="*/ 0 w 376"/>
                <a:gd name="T1" fmla="*/ 650 h 650"/>
                <a:gd name="T2" fmla="*/ 375 w 376"/>
                <a:gd name="T3" fmla="*/ 0 h 650"/>
                <a:gd name="T4" fmla="*/ 376 w 376"/>
                <a:gd name="T5" fmla="*/ 0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6" h="650">
                  <a:moveTo>
                    <a:pt x="0" y="650"/>
                  </a:moveTo>
                  <a:lnTo>
                    <a:pt x="375" y="0"/>
                  </a:lnTo>
                  <a:lnTo>
                    <a:pt x="376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2" name="Freeform 87"/>
            <p:cNvSpPr>
              <a:spLocks noChangeArrowheads="1"/>
            </p:cNvSpPr>
            <p:nvPr/>
          </p:nvSpPr>
          <p:spPr bwMode="auto">
            <a:xfrm>
              <a:off x="3851" y="2295"/>
              <a:ext cx="87" cy="149"/>
            </a:xfrm>
            <a:custGeom>
              <a:avLst/>
              <a:gdLst>
                <a:gd name="T0" fmla="*/ 0 w 259"/>
                <a:gd name="T1" fmla="*/ 448 h 448"/>
                <a:gd name="T2" fmla="*/ 258 w 259"/>
                <a:gd name="T3" fmla="*/ 0 h 448"/>
                <a:gd name="T4" fmla="*/ 259 w 259"/>
                <a:gd name="T5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9" h="448">
                  <a:moveTo>
                    <a:pt x="0" y="448"/>
                  </a:moveTo>
                  <a:lnTo>
                    <a:pt x="258" y="0"/>
                  </a:lnTo>
                  <a:lnTo>
                    <a:pt x="259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3" name="Freeform 88"/>
            <p:cNvSpPr>
              <a:spLocks noChangeArrowheads="1"/>
            </p:cNvSpPr>
            <p:nvPr/>
          </p:nvSpPr>
          <p:spPr bwMode="auto">
            <a:xfrm>
              <a:off x="3851" y="2249"/>
              <a:ext cx="39" cy="67"/>
            </a:xfrm>
            <a:custGeom>
              <a:avLst/>
              <a:gdLst>
                <a:gd name="T0" fmla="*/ 0 w 117"/>
                <a:gd name="T1" fmla="*/ 202 h 202"/>
                <a:gd name="T2" fmla="*/ 116 w 117"/>
                <a:gd name="T3" fmla="*/ 0 h 202"/>
                <a:gd name="T4" fmla="*/ 117 w 117"/>
                <a:gd name="T5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7" h="202">
                  <a:moveTo>
                    <a:pt x="0" y="202"/>
                  </a:moveTo>
                  <a:lnTo>
                    <a:pt x="116" y="0"/>
                  </a:lnTo>
                  <a:lnTo>
                    <a:pt x="117" y="0"/>
                  </a:lnTo>
                </a:path>
              </a:pathLst>
            </a:custGeom>
            <a:solidFill>
              <a:srgbClr val="FF99FF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214" name="Group 89"/>
          <p:cNvGrpSpPr>
            <a:grpSpLocks/>
          </p:cNvGrpSpPr>
          <p:nvPr/>
        </p:nvGrpSpPr>
        <p:grpSpPr bwMode="auto">
          <a:xfrm>
            <a:off x="3892551" y="1333501"/>
            <a:ext cx="2301875" cy="1230313"/>
            <a:chOff x="2640" y="1281"/>
            <a:chExt cx="1450" cy="775"/>
          </a:xfrm>
        </p:grpSpPr>
        <p:sp>
          <p:nvSpPr>
            <p:cNvPr id="215" name="Freeform 90"/>
            <p:cNvSpPr>
              <a:spLocks noChangeArrowheads="1"/>
            </p:cNvSpPr>
            <p:nvPr/>
          </p:nvSpPr>
          <p:spPr bwMode="auto">
            <a:xfrm>
              <a:off x="3238" y="1281"/>
              <a:ext cx="52" cy="51"/>
            </a:xfrm>
            <a:custGeom>
              <a:avLst/>
              <a:gdLst>
                <a:gd name="T0" fmla="*/ 0 w 150"/>
                <a:gd name="T1" fmla="*/ 149 h 149"/>
                <a:gd name="T2" fmla="*/ 149 w 150"/>
                <a:gd name="T3" fmla="*/ 0 h 149"/>
                <a:gd name="T4" fmla="*/ 150 w 150"/>
                <a:gd name="T5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0" h="149">
                  <a:moveTo>
                    <a:pt x="0" y="149"/>
                  </a:moveTo>
                  <a:lnTo>
                    <a:pt x="149" y="0"/>
                  </a:lnTo>
                  <a:lnTo>
                    <a:pt x="15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6" name="Freeform 91"/>
            <p:cNvSpPr>
              <a:spLocks noChangeArrowheads="1"/>
            </p:cNvSpPr>
            <p:nvPr/>
          </p:nvSpPr>
          <p:spPr bwMode="auto">
            <a:xfrm>
              <a:off x="2640" y="1809"/>
              <a:ext cx="121" cy="120"/>
            </a:xfrm>
            <a:custGeom>
              <a:avLst/>
              <a:gdLst>
                <a:gd name="T0" fmla="*/ 0 w 349"/>
                <a:gd name="T1" fmla="*/ 347 h 347"/>
                <a:gd name="T2" fmla="*/ 348 w 349"/>
                <a:gd name="T3" fmla="*/ 0 h 347"/>
                <a:gd name="T4" fmla="*/ 349 w 349"/>
                <a:gd name="T5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9" h="347">
                  <a:moveTo>
                    <a:pt x="0" y="347"/>
                  </a:moveTo>
                  <a:lnTo>
                    <a:pt x="348" y="0"/>
                  </a:lnTo>
                  <a:lnTo>
                    <a:pt x="34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7" name="Freeform 92"/>
            <p:cNvSpPr>
              <a:spLocks noChangeArrowheads="1"/>
            </p:cNvSpPr>
            <p:nvPr/>
          </p:nvSpPr>
          <p:spPr bwMode="auto">
            <a:xfrm>
              <a:off x="2733" y="1920"/>
              <a:ext cx="137" cy="136"/>
            </a:xfrm>
            <a:custGeom>
              <a:avLst/>
              <a:gdLst>
                <a:gd name="T0" fmla="*/ 0 w 395"/>
                <a:gd name="T1" fmla="*/ 393 h 393"/>
                <a:gd name="T2" fmla="*/ 393 w 395"/>
                <a:gd name="T3" fmla="*/ 0 h 393"/>
                <a:gd name="T4" fmla="*/ 395 w 395"/>
                <a:gd name="T5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5" h="393">
                  <a:moveTo>
                    <a:pt x="0" y="393"/>
                  </a:moveTo>
                  <a:lnTo>
                    <a:pt x="393" y="0"/>
                  </a:lnTo>
                  <a:lnTo>
                    <a:pt x="39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8" name="Freeform 93"/>
            <p:cNvSpPr>
              <a:spLocks noChangeArrowheads="1"/>
            </p:cNvSpPr>
            <p:nvPr/>
          </p:nvSpPr>
          <p:spPr bwMode="auto">
            <a:xfrm>
              <a:off x="3238" y="1425"/>
              <a:ext cx="126" cy="126"/>
            </a:xfrm>
            <a:custGeom>
              <a:avLst/>
              <a:gdLst>
                <a:gd name="T0" fmla="*/ 0 w 365"/>
                <a:gd name="T1" fmla="*/ 365 h 365"/>
                <a:gd name="T2" fmla="*/ 364 w 365"/>
                <a:gd name="T3" fmla="*/ 0 h 365"/>
                <a:gd name="T4" fmla="*/ 365 w 365"/>
                <a:gd name="T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5" h="365">
                  <a:moveTo>
                    <a:pt x="0" y="365"/>
                  </a:moveTo>
                  <a:lnTo>
                    <a:pt x="364" y="0"/>
                  </a:lnTo>
                  <a:lnTo>
                    <a:pt x="36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9" name="Freeform 94"/>
            <p:cNvSpPr>
              <a:spLocks noChangeArrowheads="1"/>
            </p:cNvSpPr>
            <p:nvPr/>
          </p:nvSpPr>
          <p:spPr bwMode="auto">
            <a:xfrm>
              <a:off x="3050" y="1920"/>
              <a:ext cx="40" cy="39"/>
            </a:xfrm>
            <a:custGeom>
              <a:avLst/>
              <a:gdLst>
                <a:gd name="T0" fmla="*/ 0 w 114"/>
                <a:gd name="T1" fmla="*/ 113 h 113"/>
                <a:gd name="T2" fmla="*/ 113 w 114"/>
                <a:gd name="T3" fmla="*/ 0 h 113"/>
                <a:gd name="T4" fmla="*/ 114 w 114"/>
                <a:gd name="T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" h="113">
                  <a:moveTo>
                    <a:pt x="0" y="113"/>
                  </a:moveTo>
                  <a:lnTo>
                    <a:pt x="113" y="0"/>
                  </a:lnTo>
                  <a:lnTo>
                    <a:pt x="11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0" name="Freeform 95"/>
            <p:cNvSpPr>
              <a:spLocks noChangeArrowheads="1"/>
            </p:cNvSpPr>
            <p:nvPr/>
          </p:nvSpPr>
          <p:spPr bwMode="auto">
            <a:xfrm>
              <a:off x="3238" y="1507"/>
              <a:ext cx="264" cy="264"/>
            </a:xfrm>
            <a:custGeom>
              <a:avLst/>
              <a:gdLst>
                <a:gd name="T0" fmla="*/ 0 w 762"/>
                <a:gd name="T1" fmla="*/ 764 h 764"/>
                <a:gd name="T2" fmla="*/ 761 w 762"/>
                <a:gd name="T3" fmla="*/ 0 h 764"/>
                <a:gd name="T4" fmla="*/ 762 w 762"/>
                <a:gd name="T5" fmla="*/ 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764">
                  <a:moveTo>
                    <a:pt x="0" y="764"/>
                  </a:moveTo>
                  <a:lnTo>
                    <a:pt x="761" y="0"/>
                  </a:lnTo>
                  <a:lnTo>
                    <a:pt x="76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1" name="Freeform 96"/>
            <p:cNvSpPr>
              <a:spLocks noChangeArrowheads="1"/>
            </p:cNvSpPr>
            <p:nvPr/>
          </p:nvSpPr>
          <p:spPr bwMode="auto">
            <a:xfrm>
              <a:off x="3126" y="1809"/>
              <a:ext cx="74" cy="73"/>
            </a:xfrm>
            <a:custGeom>
              <a:avLst/>
              <a:gdLst>
                <a:gd name="T0" fmla="*/ 0 w 214"/>
                <a:gd name="T1" fmla="*/ 211 h 211"/>
                <a:gd name="T2" fmla="*/ 213 w 214"/>
                <a:gd name="T3" fmla="*/ 0 h 211"/>
                <a:gd name="T4" fmla="*/ 214 w 214"/>
                <a:gd name="T5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4" h="211">
                  <a:moveTo>
                    <a:pt x="0" y="211"/>
                  </a:moveTo>
                  <a:lnTo>
                    <a:pt x="213" y="0"/>
                  </a:lnTo>
                  <a:lnTo>
                    <a:pt x="21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2" name="Freeform 97"/>
            <p:cNvSpPr>
              <a:spLocks noChangeArrowheads="1"/>
            </p:cNvSpPr>
            <p:nvPr/>
          </p:nvSpPr>
          <p:spPr bwMode="auto">
            <a:xfrm>
              <a:off x="3172" y="1726"/>
              <a:ext cx="330" cy="330"/>
            </a:xfrm>
            <a:custGeom>
              <a:avLst/>
              <a:gdLst>
                <a:gd name="T0" fmla="*/ 0 w 951"/>
                <a:gd name="T1" fmla="*/ 950 h 950"/>
                <a:gd name="T2" fmla="*/ 950 w 951"/>
                <a:gd name="T3" fmla="*/ 0 h 950"/>
                <a:gd name="T4" fmla="*/ 951 w 951"/>
                <a:gd name="T5" fmla="*/ 0 h 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51" h="950">
                  <a:moveTo>
                    <a:pt x="0" y="950"/>
                  </a:moveTo>
                  <a:lnTo>
                    <a:pt x="950" y="0"/>
                  </a:lnTo>
                  <a:lnTo>
                    <a:pt x="95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3" name="Freeform 98"/>
            <p:cNvSpPr>
              <a:spLocks noChangeArrowheads="1"/>
            </p:cNvSpPr>
            <p:nvPr/>
          </p:nvSpPr>
          <p:spPr bwMode="auto">
            <a:xfrm>
              <a:off x="3391" y="1946"/>
              <a:ext cx="111" cy="110"/>
            </a:xfrm>
            <a:custGeom>
              <a:avLst/>
              <a:gdLst>
                <a:gd name="T0" fmla="*/ 0 w 319"/>
                <a:gd name="T1" fmla="*/ 318 h 318"/>
                <a:gd name="T2" fmla="*/ 318 w 319"/>
                <a:gd name="T3" fmla="*/ 0 h 318"/>
                <a:gd name="T4" fmla="*/ 319 w 319"/>
                <a:gd name="T5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9" h="318">
                  <a:moveTo>
                    <a:pt x="0" y="318"/>
                  </a:moveTo>
                  <a:lnTo>
                    <a:pt x="318" y="0"/>
                  </a:lnTo>
                  <a:lnTo>
                    <a:pt x="31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4" name="Freeform 99"/>
            <p:cNvSpPr>
              <a:spLocks noChangeArrowheads="1"/>
            </p:cNvSpPr>
            <p:nvPr/>
          </p:nvSpPr>
          <p:spPr bwMode="auto">
            <a:xfrm>
              <a:off x="3894" y="1357"/>
              <a:ext cx="196" cy="196"/>
            </a:xfrm>
            <a:custGeom>
              <a:avLst/>
              <a:gdLst>
                <a:gd name="T0" fmla="*/ 0 w 568"/>
                <a:gd name="T1" fmla="*/ 566 h 566"/>
                <a:gd name="T2" fmla="*/ 566 w 568"/>
                <a:gd name="T3" fmla="*/ 0 h 566"/>
                <a:gd name="T4" fmla="*/ 568 w 568"/>
                <a:gd name="T5" fmla="*/ 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8" h="566">
                  <a:moveTo>
                    <a:pt x="0" y="566"/>
                  </a:moveTo>
                  <a:lnTo>
                    <a:pt x="566" y="0"/>
                  </a:lnTo>
                  <a:lnTo>
                    <a:pt x="568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5" name="Freeform 100"/>
            <p:cNvSpPr>
              <a:spLocks noChangeArrowheads="1"/>
            </p:cNvSpPr>
            <p:nvPr/>
          </p:nvSpPr>
          <p:spPr bwMode="auto">
            <a:xfrm>
              <a:off x="3894" y="1576"/>
              <a:ext cx="196" cy="197"/>
            </a:xfrm>
            <a:custGeom>
              <a:avLst/>
              <a:gdLst>
                <a:gd name="T0" fmla="*/ 0 w 568"/>
                <a:gd name="T1" fmla="*/ 566 h 566"/>
                <a:gd name="T2" fmla="*/ 566 w 568"/>
                <a:gd name="T3" fmla="*/ 0 h 566"/>
                <a:gd name="T4" fmla="*/ 568 w 568"/>
                <a:gd name="T5" fmla="*/ 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8" h="566">
                  <a:moveTo>
                    <a:pt x="0" y="566"/>
                  </a:moveTo>
                  <a:lnTo>
                    <a:pt x="566" y="0"/>
                  </a:lnTo>
                  <a:lnTo>
                    <a:pt x="568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6" name="Freeform 101"/>
            <p:cNvSpPr>
              <a:spLocks noChangeArrowheads="1"/>
            </p:cNvSpPr>
            <p:nvPr/>
          </p:nvSpPr>
          <p:spPr bwMode="auto">
            <a:xfrm>
              <a:off x="3894" y="1796"/>
              <a:ext cx="196" cy="196"/>
            </a:xfrm>
            <a:custGeom>
              <a:avLst/>
              <a:gdLst>
                <a:gd name="T0" fmla="*/ 0 w 568"/>
                <a:gd name="T1" fmla="*/ 566 h 566"/>
                <a:gd name="T2" fmla="*/ 566 w 568"/>
                <a:gd name="T3" fmla="*/ 0 h 566"/>
                <a:gd name="T4" fmla="*/ 568 w 568"/>
                <a:gd name="T5" fmla="*/ 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8" h="566">
                  <a:moveTo>
                    <a:pt x="0" y="566"/>
                  </a:moveTo>
                  <a:lnTo>
                    <a:pt x="566" y="0"/>
                  </a:lnTo>
                  <a:lnTo>
                    <a:pt x="568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7" name="Freeform 102"/>
            <p:cNvSpPr>
              <a:spLocks noChangeArrowheads="1"/>
            </p:cNvSpPr>
            <p:nvPr/>
          </p:nvSpPr>
          <p:spPr bwMode="auto">
            <a:xfrm>
              <a:off x="4049" y="2016"/>
              <a:ext cx="41" cy="40"/>
            </a:xfrm>
            <a:custGeom>
              <a:avLst/>
              <a:gdLst>
                <a:gd name="T0" fmla="*/ 0 w 119"/>
                <a:gd name="T1" fmla="*/ 116 h 116"/>
                <a:gd name="T2" fmla="*/ 117 w 119"/>
                <a:gd name="T3" fmla="*/ 0 h 116"/>
                <a:gd name="T4" fmla="*/ 119 w 119"/>
                <a:gd name="T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9" h="116">
                  <a:moveTo>
                    <a:pt x="0" y="116"/>
                  </a:moveTo>
                  <a:lnTo>
                    <a:pt x="117" y="0"/>
                  </a:lnTo>
                  <a:lnTo>
                    <a:pt x="11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228" name="Group 103"/>
          <p:cNvGrpSpPr>
            <a:grpSpLocks/>
          </p:cNvGrpSpPr>
          <p:nvPr/>
        </p:nvGrpSpPr>
        <p:grpSpPr bwMode="auto">
          <a:xfrm>
            <a:off x="3148013" y="2951163"/>
            <a:ext cx="3117850" cy="1636712"/>
            <a:chOff x="910" y="1746"/>
            <a:chExt cx="1964" cy="1031"/>
          </a:xfrm>
        </p:grpSpPr>
        <p:sp>
          <p:nvSpPr>
            <p:cNvPr id="229" name="Arc 104"/>
            <p:cNvSpPr>
              <a:spLocks noChangeArrowheads="1"/>
            </p:cNvSpPr>
            <p:nvPr/>
          </p:nvSpPr>
          <p:spPr bwMode="auto">
            <a:xfrm flipH="1">
              <a:off x="2241" y="2092"/>
              <a:ext cx="306" cy="324"/>
            </a:xfrm>
            <a:custGeom>
              <a:avLst/>
              <a:gdLst>
                <a:gd name="T0" fmla="*/ 250 w 40741"/>
                <a:gd name="T1" fmla="*/ 11124 h 43200"/>
                <a:gd name="T2" fmla="*/ 19141 w 40741"/>
                <a:gd name="T3" fmla="*/ 0 h 43200"/>
                <a:gd name="T4" fmla="*/ 40741 w 40741"/>
                <a:gd name="T5" fmla="*/ 21600 h 43200"/>
                <a:gd name="T6" fmla="*/ 19141 w 40741"/>
                <a:gd name="T7" fmla="*/ 43200 h 43200"/>
                <a:gd name="T8" fmla="*/ -1 w 40741"/>
                <a:gd name="T9" fmla="*/ 31609 h 43200"/>
                <a:gd name="T10" fmla="*/ 250 w 40741"/>
                <a:gd name="T11" fmla="*/ 11124 h 43200"/>
                <a:gd name="T12" fmla="*/ 19141 w 40741"/>
                <a:gd name="T13" fmla="*/ 0 h 43200"/>
                <a:gd name="T14" fmla="*/ 40741 w 40741"/>
                <a:gd name="T15" fmla="*/ 21600 h 43200"/>
                <a:gd name="T16" fmla="*/ 19141 w 40741"/>
                <a:gd name="T17" fmla="*/ 43200 h 43200"/>
                <a:gd name="T18" fmla="*/ -1 w 40741"/>
                <a:gd name="T19" fmla="*/ 31609 h 43200"/>
                <a:gd name="T20" fmla="*/ 19141 w 40741"/>
                <a:gd name="T21" fmla="*/ 21600 h 43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741" h="43200" fill="none">
                  <a:moveTo>
                    <a:pt x="250" y="11124"/>
                  </a:moveTo>
                  <a:cubicBezTo>
                    <a:pt x="4058" y="4259"/>
                    <a:pt x="11290" y="-1"/>
                    <a:pt x="19141" y="0"/>
                  </a:cubicBezTo>
                  <a:cubicBezTo>
                    <a:pt x="31070" y="0"/>
                    <a:pt x="40741" y="9670"/>
                    <a:pt x="40741" y="21600"/>
                  </a:cubicBezTo>
                  <a:cubicBezTo>
                    <a:pt x="40741" y="33529"/>
                    <a:pt x="31070" y="43200"/>
                    <a:pt x="19141" y="43200"/>
                  </a:cubicBezTo>
                  <a:cubicBezTo>
                    <a:pt x="11100" y="43200"/>
                    <a:pt x="3725" y="38734"/>
                    <a:pt x="-1" y="31609"/>
                  </a:cubicBezTo>
                </a:path>
                <a:path w="40741" h="43200" stroke="0">
                  <a:moveTo>
                    <a:pt x="250" y="11124"/>
                  </a:moveTo>
                  <a:cubicBezTo>
                    <a:pt x="4058" y="4259"/>
                    <a:pt x="11290" y="-1"/>
                    <a:pt x="19141" y="0"/>
                  </a:cubicBezTo>
                  <a:cubicBezTo>
                    <a:pt x="31070" y="0"/>
                    <a:pt x="40741" y="9670"/>
                    <a:pt x="40741" y="21600"/>
                  </a:cubicBezTo>
                  <a:cubicBezTo>
                    <a:pt x="40741" y="33529"/>
                    <a:pt x="31070" y="43200"/>
                    <a:pt x="19141" y="43200"/>
                  </a:cubicBezTo>
                  <a:cubicBezTo>
                    <a:pt x="11100" y="43200"/>
                    <a:pt x="3725" y="38734"/>
                    <a:pt x="-1" y="31609"/>
                  </a:cubicBezTo>
                  <a:lnTo>
                    <a:pt x="19141" y="21600"/>
                  </a:lnTo>
                  <a:close/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0" name="Arc 105"/>
            <p:cNvSpPr>
              <a:spLocks noChangeArrowheads="1"/>
            </p:cNvSpPr>
            <p:nvPr/>
          </p:nvSpPr>
          <p:spPr bwMode="auto">
            <a:xfrm>
              <a:off x="1213" y="2092"/>
              <a:ext cx="166" cy="320"/>
            </a:xfrm>
            <a:custGeom>
              <a:avLst/>
              <a:gdLst>
                <a:gd name="T0" fmla="*/ 598 w 22199"/>
                <a:gd name="T1" fmla="*/ 0 h 43200"/>
                <a:gd name="T2" fmla="*/ 22199 w 22199"/>
                <a:gd name="T3" fmla="*/ 21600 h 43200"/>
                <a:gd name="T4" fmla="*/ 599 w 22199"/>
                <a:gd name="T5" fmla="*/ 43200 h 43200"/>
                <a:gd name="T6" fmla="*/ 0 w 22199"/>
                <a:gd name="T7" fmla="*/ 43191 h 43200"/>
                <a:gd name="T8" fmla="*/ 598 w 22199"/>
                <a:gd name="T9" fmla="*/ 0 h 43200"/>
                <a:gd name="T10" fmla="*/ 22199 w 22199"/>
                <a:gd name="T11" fmla="*/ 21600 h 43200"/>
                <a:gd name="T12" fmla="*/ 599 w 22199"/>
                <a:gd name="T13" fmla="*/ 43200 h 43200"/>
                <a:gd name="T14" fmla="*/ 0 w 22199"/>
                <a:gd name="T15" fmla="*/ 43191 h 43200"/>
                <a:gd name="T16" fmla="*/ 599 w 22199"/>
                <a:gd name="T17" fmla="*/ 21600 h 43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199" h="43200" fill="none">
                  <a:moveTo>
                    <a:pt x="598" y="0"/>
                  </a:moveTo>
                  <a:cubicBezTo>
                    <a:pt x="12528" y="0"/>
                    <a:pt x="22199" y="9670"/>
                    <a:pt x="22199" y="21600"/>
                  </a:cubicBezTo>
                  <a:cubicBezTo>
                    <a:pt x="22199" y="33529"/>
                    <a:pt x="12528" y="43200"/>
                    <a:pt x="599" y="43200"/>
                  </a:cubicBezTo>
                  <a:cubicBezTo>
                    <a:pt x="399" y="43200"/>
                    <a:pt x="199" y="43197"/>
                    <a:pt x="0" y="43191"/>
                  </a:cubicBezTo>
                </a:path>
                <a:path w="22199" h="43200" stroke="0">
                  <a:moveTo>
                    <a:pt x="598" y="0"/>
                  </a:moveTo>
                  <a:cubicBezTo>
                    <a:pt x="12528" y="0"/>
                    <a:pt x="22199" y="9670"/>
                    <a:pt x="22199" y="21600"/>
                  </a:cubicBezTo>
                  <a:cubicBezTo>
                    <a:pt x="22199" y="33529"/>
                    <a:pt x="12528" y="43200"/>
                    <a:pt x="599" y="43200"/>
                  </a:cubicBezTo>
                  <a:cubicBezTo>
                    <a:pt x="399" y="43200"/>
                    <a:pt x="199" y="43197"/>
                    <a:pt x="0" y="43191"/>
                  </a:cubicBezTo>
                  <a:lnTo>
                    <a:pt x="599" y="21600"/>
                  </a:lnTo>
                  <a:close/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1" name="Oval 106"/>
            <p:cNvSpPr>
              <a:spLocks noChangeArrowheads="1"/>
            </p:cNvSpPr>
            <p:nvPr/>
          </p:nvSpPr>
          <p:spPr bwMode="auto">
            <a:xfrm>
              <a:off x="1977" y="1827"/>
              <a:ext cx="852" cy="852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2" name="Oval 107"/>
            <p:cNvSpPr>
              <a:spLocks noChangeArrowheads="1"/>
            </p:cNvSpPr>
            <p:nvPr/>
          </p:nvSpPr>
          <p:spPr bwMode="auto">
            <a:xfrm>
              <a:off x="2097" y="1964"/>
              <a:ext cx="612" cy="572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3" name="Oval 108"/>
            <p:cNvSpPr>
              <a:spLocks noChangeArrowheads="1"/>
            </p:cNvSpPr>
            <p:nvPr/>
          </p:nvSpPr>
          <p:spPr bwMode="auto">
            <a:xfrm>
              <a:off x="1618" y="2168"/>
              <a:ext cx="167" cy="167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4" name="Oval 109"/>
            <p:cNvSpPr>
              <a:spLocks noChangeArrowheads="1"/>
            </p:cNvSpPr>
            <p:nvPr/>
          </p:nvSpPr>
          <p:spPr bwMode="auto">
            <a:xfrm>
              <a:off x="1551" y="2102"/>
              <a:ext cx="311" cy="300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5" name="Freeform 110"/>
            <p:cNvSpPr>
              <a:spLocks noChangeArrowheads="1"/>
            </p:cNvSpPr>
            <p:nvPr/>
          </p:nvSpPr>
          <p:spPr bwMode="auto">
            <a:xfrm>
              <a:off x="1704" y="2023"/>
              <a:ext cx="1" cy="512"/>
            </a:xfrm>
            <a:custGeom>
              <a:avLst/>
              <a:gdLst>
                <a:gd name="T0" fmla="*/ 0 w 1"/>
                <a:gd name="T1" fmla="*/ 0 h 1472"/>
                <a:gd name="T2" fmla="*/ 0 w 1"/>
                <a:gd name="T3" fmla="*/ 1472 h 1472"/>
                <a:gd name="T4" fmla="*/ 1 w 1"/>
                <a:gd name="T5" fmla="*/ 1472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72">
                  <a:moveTo>
                    <a:pt x="0" y="0"/>
                  </a:moveTo>
                  <a:lnTo>
                    <a:pt x="0" y="1472"/>
                  </a:lnTo>
                  <a:lnTo>
                    <a:pt x="1" y="147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6" name="Freeform 111"/>
            <p:cNvSpPr>
              <a:spLocks noChangeArrowheads="1"/>
            </p:cNvSpPr>
            <p:nvPr/>
          </p:nvSpPr>
          <p:spPr bwMode="auto">
            <a:xfrm>
              <a:off x="1218" y="1997"/>
              <a:ext cx="1" cy="528"/>
            </a:xfrm>
            <a:custGeom>
              <a:avLst/>
              <a:gdLst>
                <a:gd name="T0" fmla="*/ 0 w 2"/>
                <a:gd name="T1" fmla="*/ 0 h 1522"/>
                <a:gd name="T2" fmla="*/ 0 w 2"/>
                <a:gd name="T3" fmla="*/ 1522 h 1522"/>
                <a:gd name="T4" fmla="*/ 2 w 2"/>
                <a:gd name="T5" fmla="*/ 1522 h 1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522">
                  <a:moveTo>
                    <a:pt x="0" y="0"/>
                  </a:moveTo>
                  <a:lnTo>
                    <a:pt x="0" y="1522"/>
                  </a:lnTo>
                  <a:lnTo>
                    <a:pt x="2" y="152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7" name="Freeform 112"/>
            <p:cNvSpPr>
              <a:spLocks noChangeArrowheads="1"/>
            </p:cNvSpPr>
            <p:nvPr/>
          </p:nvSpPr>
          <p:spPr bwMode="auto">
            <a:xfrm>
              <a:off x="954" y="2679"/>
              <a:ext cx="1449" cy="1"/>
            </a:xfrm>
            <a:custGeom>
              <a:avLst/>
              <a:gdLst>
                <a:gd name="T0" fmla="*/ 4176 w 4176"/>
                <a:gd name="T1" fmla="*/ 0 h 1"/>
                <a:gd name="T2" fmla="*/ 0 w 4176"/>
                <a:gd name="T3" fmla="*/ 0 h 1"/>
                <a:gd name="T4" fmla="*/ 2 w 417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76" h="1">
                  <a:moveTo>
                    <a:pt x="4176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8" name="Freeform 113"/>
            <p:cNvSpPr>
              <a:spLocks noChangeArrowheads="1"/>
            </p:cNvSpPr>
            <p:nvPr/>
          </p:nvSpPr>
          <p:spPr bwMode="auto">
            <a:xfrm>
              <a:off x="954" y="2415"/>
              <a:ext cx="1" cy="264"/>
            </a:xfrm>
            <a:custGeom>
              <a:avLst/>
              <a:gdLst>
                <a:gd name="T0" fmla="*/ 0 w 2"/>
                <a:gd name="T1" fmla="*/ 762 h 762"/>
                <a:gd name="T2" fmla="*/ 0 w 2"/>
                <a:gd name="T3" fmla="*/ 0 h 762"/>
                <a:gd name="T4" fmla="*/ 2 w 2"/>
                <a:gd name="T5" fmla="*/ 0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62">
                  <a:moveTo>
                    <a:pt x="0" y="762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9" name="Freeform 114"/>
            <p:cNvSpPr>
              <a:spLocks noChangeArrowheads="1"/>
            </p:cNvSpPr>
            <p:nvPr/>
          </p:nvSpPr>
          <p:spPr bwMode="auto">
            <a:xfrm>
              <a:off x="954" y="2415"/>
              <a:ext cx="264" cy="1"/>
            </a:xfrm>
            <a:custGeom>
              <a:avLst/>
              <a:gdLst>
                <a:gd name="T0" fmla="*/ 761 w 761"/>
                <a:gd name="T1" fmla="*/ 0 h 1"/>
                <a:gd name="T2" fmla="*/ 0 w 761"/>
                <a:gd name="T3" fmla="*/ 0 h 1"/>
                <a:gd name="T4" fmla="*/ 2 w 76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1">
                  <a:moveTo>
                    <a:pt x="761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0" name="Freeform 115"/>
            <p:cNvSpPr>
              <a:spLocks noChangeArrowheads="1"/>
            </p:cNvSpPr>
            <p:nvPr/>
          </p:nvSpPr>
          <p:spPr bwMode="auto">
            <a:xfrm>
              <a:off x="954" y="1827"/>
              <a:ext cx="1449" cy="1"/>
            </a:xfrm>
            <a:custGeom>
              <a:avLst/>
              <a:gdLst>
                <a:gd name="T0" fmla="*/ 4176 w 4176"/>
                <a:gd name="T1" fmla="*/ 0 h 1"/>
                <a:gd name="T2" fmla="*/ 0 w 4176"/>
                <a:gd name="T3" fmla="*/ 0 h 1"/>
                <a:gd name="T4" fmla="*/ 2 w 417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76" h="1">
                  <a:moveTo>
                    <a:pt x="4176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1" name="Freeform 116"/>
            <p:cNvSpPr>
              <a:spLocks noChangeArrowheads="1"/>
            </p:cNvSpPr>
            <p:nvPr/>
          </p:nvSpPr>
          <p:spPr bwMode="auto">
            <a:xfrm>
              <a:off x="954" y="1827"/>
              <a:ext cx="1" cy="264"/>
            </a:xfrm>
            <a:custGeom>
              <a:avLst/>
              <a:gdLst>
                <a:gd name="T0" fmla="*/ 0 w 2"/>
                <a:gd name="T1" fmla="*/ 0 h 763"/>
                <a:gd name="T2" fmla="*/ 0 w 2"/>
                <a:gd name="T3" fmla="*/ 763 h 763"/>
                <a:gd name="T4" fmla="*/ 2 w 2"/>
                <a:gd name="T5" fmla="*/ 76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63">
                  <a:moveTo>
                    <a:pt x="0" y="0"/>
                  </a:moveTo>
                  <a:lnTo>
                    <a:pt x="0" y="763"/>
                  </a:lnTo>
                  <a:lnTo>
                    <a:pt x="2" y="76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2" name="Freeform 117"/>
            <p:cNvSpPr>
              <a:spLocks noChangeArrowheads="1"/>
            </p:cNvSpPr>
            <p:nvPr/>
          </p:nvSpPr>
          <p:spPr bwMode="auto">
            <a:xfrm>
              <a:off x="954" y="2091"/>
              <a:ext cx="264" cy="1"/>
            </a:xfrm>
            <a:custGeom>
              <a:avLst/>
              <a:gdLst>
                <a:gd name="T0" fmla="*/ 761 w 761"/>
                <a:gd name="T1" fmla="*/ 0 h 1"/>
                <a:gd name="T2" fmla="*/ 0 w 761"/>
                <a:gd name="T3" fmla="*/ 0 h 1"/>
                <a:gd name="T4" fmla="*/ 2 w 76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1">
                  <a:moveTo>
                    <a:pt x="761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3" name="Freeform 118"/>
            <p:cNvSpPr>
              <a:spLocks noChangeArrowheads="1"/>
            </p:cNvSpPr>
            <p:nvPr/>
          </p:nvSpPr>
          <p:spPr bwMode="auto">
            <a:xfrm>
              <a:off x="2633" y="2182"/>
              <a:ext cx="1" cy="143"/>
            </a:xfrm>
            <a:custGeom>
              <a:avLst/>
              <a:gdLst>
                <a:gd name="T0" fmla="*/ 0 w 2"/>
                <a:gd name="T1" fmla="*/ 0 h 414"/>
                <a:gd name="T2" fmla="*/ 0 w 2"/>
                <a:gd name="T3" fmla="*/ 414 h 414"/>
                <a:gd name="T4" fmla="*/ 2 w 2"/>
                <a:gd name="T5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14">
                  <a:moveTo>
                    <a:pt x="0" y="0"/>
                  </a:moveTo>
                  <a:lnTo>
                    <a:pt x="0" y="414"/>
                  </a:lnTo>
                  <a:lnTo>
                    <a:pt x="2" y="41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244" name="Group 119"/>
            <p:cNvGrpSpPr>
              <a:grpSpLocks/>
            </p:cNvGrpSpPr>
            <p:nvPr/>
          </p:nvGrpSpPr>
          <p:grpSpPr bwMode="auto">
            <a:xfrm>
              <a:off x="2403" y="1746"/>
              <a:ext cx="1" cy="1031"/>
              <a:chOff x="3664" y="2388"/>
              <a:chExt cx="1" cy="1031"/>
            </a:xfrm>
          </p:grpSpPr>
          <p:sp>
            <p:nvSpPr>
              <p:cNvPr id="253" name="Freeform 120"/>
              <p:cNvSpPr>
                <a:spLocks noChangeArrowheads="1"/>
              </p:cNvSpPr>
              <p:nvPr/>
            </p:nvSpPr>
            <p:spPr bwMode="auto">
              <a:xfrm>
                <a:off x="3664" y="2991"/>
                <a:ext cx="1" cy="428"/>
              </a:xfrm>
              <a:custGeom>
                <a:avLst/>
                <a:gdLst>
                  <a:gd name="T0" fmla="*/ 0 w 1"/>
                  <a:gd name="T1" fmla="*/ 0 h 1234"/>
                  <a:gd name="T2" fmla="*/ 0 w 1"/>
                  <a:gd name="T3" fmla="*/ 1234 h 1234"/>
                  <a:gd name="T4" fmla="*/ 1 w 1"/>
                  <a:gd name="T5" fmla="*/ 1234 h 1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234">
                    <a:moveTo>
                      <a:pt x="0" y="0"/>
                    </a:moveTo>
                    <a:lnTo>
                      <a:pt x="0" y="1234"/>
                    </a:lnTo>
                    <a:lnTo>
                      <a:pt x="1" y="123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4" name="Freeform 121"/>
              <p:cNvSpPr>
                <a:spLocks noChangeArrowheads="1"/>
              </p:cNvSpPr>
              <p:nvPr/>
            </p:nvSpPr>
            <p:spPr bwMode="auto">
              <a:xfrm>
                <a:off x="3664" y="2388"/>
                <a:ext cx="1" cy="556"/>
              </a:xfrm>
              <a:custGeom>
                <a:avLst/>
                <a:gdLst>
                  <a:gd name="T0" fmla="*/ 0 w 1"/>
                  <a:gd name="T1" fmla="*/ 0 h 1602"/>
                  <a:gd name="T2" fmla="*/ 0 w 1"/>
                  <a:gd name="T3" fmla="*/ 1602 h 1602"/>
                  <a:gd name="T4" fmla="*/ 1 w 1"/>
                  <a:gd name="T5" fmla="*/ 1602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602">
                    <a:moveTo>
                      <a:pt x="0" y="0"/>
                    </a:moveTo>
                    <a:lnTo>
                      <a:pt x="0" y="1602"/>
                    </a:lnTo>
                    <a:lnTo>
                      <a:pt x="1" y="160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5" name="Freeform 122"/>
              <p:cNvSpPr>
                <a:spLocks noChangeArrowheads="1"/>
              </p:cNvSpPr>
              <p:nvPr/>
            </p:nvSpPr>
            <p:spPr bwMode="auto">
              <a:xfrm>
                <a:off x="3664" y="2963"/>
                <a:ext cx="1" cy="9"/>
              </a:xfrm>
              <a:custGeom>
                <a:avLst/>
                <a:gdLst>
                  <a:gd name="T0" fmla="*/ 0 w 1"/>
                  <a:gd name="T1" fmla="*/ 0 h 24"/>
                  <a:gd name="T2" fmla="*/ 0 w 1"/>
                  <a:gd name="T3" fmla="*/ 24 h 24"/>
                  <a:gd name="T4" fmla="*/ 1 w 1"/>
                  <a:gd name="T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4">
                    <a:moveTo>
                      <a:pt x="0" y="0"/>
                    </a:moveTo>
                    <a:lnTo>
                      <a:pt x="0" y="24"/>
                    </a:lnTo>
                    <a:lnTo>
                      <a:pt x="1" y="2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245" name="Group 123"/>
            <p:cNvGrpSpPr>
              <a:grpSpLocks/>
            </p:cNvGrpSpPr>
            <p:nvPr/>
          </p:nvGrpSpPr>
          <p:grpSpPr bwMode="auto">
            <a:xfrm>
              <a:off x="910" y="2254"/>
              <a:ext cx="1964" cy="1"/>
              <a:chOff x="2171" y="2896"/>
              <a:chExt cx="1964" cy="1"/>
            </a:xfrm>
          </p:grpSpPr>
          <p:sp>
            <p:nvSpPr>
              <p:cNvPr id="248" name="Freeform 124"/>
              <p:cNvSpPr>
                <a:spLocks noChangeArrowheads="1"/>
              </p:cNvSpPr>
              <p:nvPr/>
            </p:nvSpPr>
            <p:spPr bwMode="auto">
              <a:xfrm>
                <a:off x="2171" y="2896"/>
                <a:ext cx="529" cy="1"/>
              </a:xfrm>
              <a:custGeom>
                <a:avLst/>
                <a:gdLst>
                  <a:gd name="T0" fmla="*/ 0 w 1526"/>
                  <a:gd name="T1" fmla="*/ 0 h 1"/>
                  <a:gd name="T2" fmla="*/ 1525 w 1526"/>
                  <a:gd name="T3" fmla="*/ 0 h 1"/>
                  <a:gd name="T4" fmla="*/ 1526 w 1526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6" h="1">
                    <a:moveTo>
                      <a:pt x="0" y="0"/>
                    </a:moveTo>
                    <a:lnTo>
                      <a:pt x="1525" y="0"/>
                    </a:lnTo>
                    <a:lnTo>
                      <a:pt x="152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9" name="Freeform 125"/>
              <p:cNvSpPr>
                <a:spLocks noChangeArrowheads="1"/>
              </p:cNvSpPr>
              <p:nvPr/>
            </p:nvSpPr>
            <p:spPr bwMode="auto">
              <a:xfrm>
                <a:off x="2782" y="2896"/>
                <a:ext cx="956" cy="1"/>
              </a:xfrm>
              <a:custGeom>
                <a:avLst/>
                <a:gdLst>
                  <a:gd name="T0" fmla="*/ 0 w 2753"/>
                  <a:gd name="T1" fmla="*/ 0 h 1"/>
                  <a:gd name="T2" fmla="*/ 2752 w 2753"/>
                  <a:gd name="T3" fmla="*/ 0 h 1"/>
                  <a:gd name="T4" fmla="*/ 2753 w 275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53" h="1">
                    <a:moveTo>
                      <a:pt x="0" y="0"/>
                    </a:moveTo>
                    <a:lnTo>
                      <a:pt x="2752" y="0"/>
                    </a:lnTo>
                    <a:lnTo>
                      <a:pt x="2753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0" name="Freeform 126"/>
              <p:cNvSpPr>
                <a:spLocks noChangeArrowheads="1"/>
              </p:cNvSpPr>
              <p:nvPr/>
            </p:nvSpPr>
            <p:spPr bwMode="auto">
              <a:xfrm>
                <a:off x="2728" y="2896"/>
                <a:ext cx="25" cy="1"/>
              </a:xfrm>
              <a:custGeom>
                <a:avLst/>
                <a:gdLst>
                  <a:gd name="T0" fmla="*/ 0 w 71"/>
                  <a:gd name="T1" fmla="*/ 0 h 1"/>
                  <a:gd name="T2" fmla="*/ 70 w 71"/>
                  <a:gd name="T3" fmla="*/ 0 h 1"/>
                  <a:gd name="T4" fmla="*/ 71 w 7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" h="1">
                    <a:moveTo>
                      <a:pt x="0" y="0"/>
                    </a:moveTo>
                    <a:lnTo>
                      <a:pt x="70" y="0"/>
                    </a:lnTo>
                    <a:lnTo>
                      <a:pt x="7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1" name="Freeform 127"/>
              <p:cNvSpPr>
                <a:spLocks noChangeArrowheads="1"/>
              </p:cNvSpPr>
              <p:nvPr/>
            </p:nvSpPr>
            <p:spPr bwMode="auto">
              <a:xfrm>
                <a:off x="3810" y="2896"/>
                <a:ext cx="325" cy="1"/>
              </a:xfrm>
              <a:custGeom>
                <a:avLst/>
                <a:gdLst>
                  <a:gd name="T0" fmla="*/ 0 w 935"/>
                  <a:gd name="T1" fmla="*/ 0 h 1"/>
                  <a:gd name="T2" fmla="*/ 934 w 935"/>
                  <a:gd name="T3" fmla="*/ 0 h 1"/>
                  <a:gd name="T4" fmla="*/ 935 w 93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35" h="1">
                    <a:moveTo>
                      <a:pt x="0" y="0"/>
                    </a:moveTo>
                    <a:lnTo>
                      <a:pt x="934" y="0"/>
                    </a:lnTo>
                    <a:lnTo>
                      <a:pt x="93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2" name="Freeform 128"/>
              <p:cNvSpPr>
                <a:spLocks noChangeArrowheads="1"/>
              </p:cNvSpPr>
              <p:nvPr/>
            </p:nvSpPr>
            <p:spPr bwMode="auto">
              <a:xfrm>
                <a:off x="3762" y="2896"/>
                <a:ext cx="25" cy="1"/>
              </a:xfrm>
              <a:custGeom>
                <a:avLst/>
                <a:gdLst>
                  <a:gd name="T0" fmla="*/ 0 w 71"/>
                  <a:gd name="T1" fmla="*/ 0 h 1"/>
                  <a:gd name="T2" fmla="*/ 70 w 71"/>
                  <a:gd name="T3" fmla="*/ 0 h 1"/>
                  <a:gd name="T4" fmla="*/ 71 w 7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" h="1">
                    <a:moveTo>
                      <a:pt x="0" y="0"/>
                    </a:moveTo>
                    <a:lnTo>
                      <a:pt x="70" y="0"/>
                    </a:lnTo>
                    <a:lnTo>
                      <a:pt x="7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246" name="Freeform 129"/>
            <p:cNvSpPr>
              <a:spLocks noChangeArrowheads="1"/>
            </p:cNvSpPr>
            <p:nvPr/>
          </p:nvSpPr>
          <p:spPr bwMode="auto">
            <a:xfrm>
              <a:off x="2547" y="2325"/>
              <a:ext cx="86" cy="1"/>
            </a:xfrm>
            <a:custGeom>
              <a:avLst/>
              <a:gdLst>
                <a:gd name="T0" fmla="*/ 0 w 246"/>
                <a:gd name="T1" fmla="*/ 0 h 1"/>
                <a:gd name="T2" fmla="*/ 244 w 246"/>
                <a:gd name="T3" fmla="*/ 0 h 1"/>
                <a:gd name="T4" fmla="*/ 246 w 24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6" h="1">
                  <a:moveTo>
                    <a:pt x="0" y="0"/>
                  </a:moveTo>
                  <a:lnTo>
                    <a:pt x="244" y="0"/>
                  </a:lnTo>
                  <a:lnTo>
                    <a:pt x="24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7" name="Freeform 130"/>
            <p:cNvSpPr>
              <a:spLocks noChangeArrowheads="1"/>
            </p:cNvSpPr>
            <p:nvPr/>
          </p:nvSpPr>
          <p:spPr bwMode="auto">
            <a:xfrm>
              <a:off x="2547" y="2182"/>
              <a:ext cx="86" cy="1"/>
            </a:xfrm>
            <a:custGeom>
              <a:avLst/>
              <a:gdLst>
                <a:gd name="T0" fmla="*/ 0 w 246"/>
                <a:gd name="T1" fmla="*/ 0 h 1"/>
                <a:gd name="T2" fmla="*/ 244 w 246"/>
                <a:gd name="T3" fmla="*/ 0 h 1"/>
                <a:gd name="T4" fmla="*/ 246 w 24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6" h="1">
                  <a:moveTo>
                    <a:pt x="0" y="0"/>
                  </a:moveTo>
                  <a:lnTo>
                    <a:pt x="244" y="0"/>
                  </a:lnTo>
                  <a:lnTo>
                    <a:pt x="24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sp>
        <p:nvSpPr>
          <p:cNvPr id="256" name="Line 131"/>
          <p:cNvSpPr>
            <a:spLocks noChangeShapeType="1"/>
          </p:cNvSpPr>
          <p:nvPr/>
        </p:nvSpPr>
        <p:spPr bwMode="auto">
          <a:xfrm>
            <a:off x="5272088" y="1563688"/>
            <a:ext cx="627062" cy="0"/>
          </a:xfrm>
          <a:prstGeom prst="line">
            <a:avLst/>
          </a:prstGeom>
          <a:noFill/>
          <a:ln w="38100">
            <a:solidFill>
              <a:srgbClr val="FF66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7" name="Line 132"/>
          <p:cNvSpPr>
            <a:spLocks noChangeShapeType="1"/>
          </p:cNvSpPr>
          <p:nvPr/>
        </p:nvSpPr>
        <p:spPr bwMode="auto">
          <a:xfrm>
            <a:off x="5746750" y="1562100"/>
            <a:ext cx="0" cy="1003300"/>
          </a:xfrm>
          <a:prstGeom prst="line">
            <a:avLst/>
          </a:prstGeom>
          <a:noFill/>
          <a:ln w="38100">
            <a:solidFill>
              <a:srgbClr val="FF66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" name="Line 133"/>
          <p:cNvSpPr>
            <a:spLocks noChangeShapeType="1"/>
          </p:cNvSpPr>
          <p:nvPr/>
        </p:nvSpPr>
        <p:spPr bwMode="auto">
          <a:xfrm>
            <a:off x="4271963" y="2352675"/>
            <a:ext cx="273050" cy="0"/>
          </a:xfrm>
          <a:prstGeom prst="line">
            <a:avLst/>
          </a:prstGeom>
          <a:noFill/>
          <a:ln w="38100">
            <a:solidFill>
              <a:srgbClr val="FF66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9" name="Rectangle 134"/>
          <p:cNvSpPr>
            <a:spLocks noChangeArrowheads="1"/>
          </p:cNvSpPr>
          <p:nvPr/>
        </p:nvSpPr>
        <p:spPr bwMode="auto">
          <a:xfrm>
            <a:off x="2360613" y="4811713"/>
            <a:ext cx="7797800" cy="641350"/>
          </a:xfrm>
          <a:prstGeom prst="rect">
            <a:avLst/>
          </a:prstGeom>
          <a:noFill/>
          <a:ln w="12700" algn="ctr">
            <a:noFill/>
            <a:miter lim="800000"/>
            <a:headEnd type="none" w="sm" len="lg"/>
            <a:tailEnd type="none" w="sm" len="lg"/>
          </a:ln>
          <a:effectLst/>
        </p:spPr>
        <p:txBody>
          <a:bodyPr>
            <a:spAutoFit/>
          </a:bodyPr>
          <a:lstStyle/>
          <a:p>
            <a:pPr marL="2684780" indent="-2684780">
              <a:defRPr/>
            </a:pPr>
            <a:r>
              <a:rPr kumimoji="1" lang="en-US" altLang="zh-CN" b="1" dirty="0">
                <a:effectLst>
                  <a:outerShdw blurRad="38100" dist="38100" dir="2700000" algn="tl">
                    <a:srgbClr val="C0C0C0"/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kumimoji="1" lang="en-US" altLang="zh-CN" b="1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★</a:t>
            </a:r>
            <a:r>
              <a:rPr kumimoji="1" lang="en-US" altLang="zh-CN" b="1" dirty="0">
                <a:effectLst>
                  <a:outerShdw blurRad="38100" dist="38100" dir="2700000" algn="tl">
                    <a:srgbClr val="C0C0C0"/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kumimoji="1" lang="zh-CN" altLang="en-US" b="1" dirty="0"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确定剖切平面的位置：</a:t>
            </a:r>
            <a:r>
              <a:rPr kumimoji="1" lang="zh-CN" altLang="en-US" b="1" dirty="0">
                <a:effectLst>
                  <a:outerShdw blurRad="38100" dist="38100" dir="2700000" algn="tl">
                    <a:srgbClr val="C0C0C0"/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 通过孔、槽等结构的对称面或轴线，且使其平                                            行或垂直于某一投影面。</a:t>
            </a:r>
            <a:endParaRPr kumimoji="1" lang="zh-CN" altLang="en-US" b="1" dirty="0">
              <a:solidFill>
                <a:schemeClr val="bg2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60" name="Line 138"/>
          <p:cNvSpPr>
            <a:spLocks noChangeShapeType="1"/>
          </p:cNvSpPr>
          <p:nvPr/>
        </p:nvSpPr>
        <p:spPr bwMode="auto">
          <a:xfrm flipV="1">
            <a:off x="5045076" y="1330325"/>
            <a:ext cx="969963" cy="0"/>
          </a:xfrm>
          <a:prstGeom prst="line">
            <a:avLst/>
          </a:prstGeom>
          <a:noFill/>
          <a:ln w="38100">
            <a:solidFill>
              <a:srgbClr val="FF66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1" name="Line 139"/>
          <p:cNvSpPr>
            <a:spLocks noChangeShapeType="1"/>
          </p:cNvSpPr>
          <p:nvPr/>
        </p:nvSpPr>
        <p:spPr bwMode="auto">
          <a:xfrm>
            <a:off x="3222626" y="2174875"/>
            <a:ext cx="658813" cy="0"/>
          </a:xfrm>
          <a:prstGeom prst="line">
            <a:avLst/>
          </a:prstGeom>
          <a:noFill/>
          <a:ln w="38100">
            <a:solidFill>
              <a:srgbClr val="FF66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2" name="Line 140"/>
          <p:cNvSpPr>
            <a:spLocks noChangeShapeType="1"/>
          </p:cNvSpPr>
          <p:nvPr/>
        </p:nvSpPr>
        <p:spPr bwMode="auto">
          <a:xfrm>
            <a:off x="5260976" y="2562225"/>
            <a:ext cx="627063" cy="0"/>
          </a:xfrm>
          <a:prstGeom prst="line">
            <a:avLst/>
          </a:prstGeom>
          <a:noFill/>
          <a:ln w="38100">
            <a:solidFill>
              <a:srgbClr val="FF66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3" name="Line 141"/>
          <p:cNvSpPr>
            <a:spLocks noChangeShapeType="1"/>
          </p:cNvSpPr>
          <p:nvPr/>
        </p:nvSpPr>
        <p:spPr bwMode="auto">
          <a:xfrm flipV="1">
            <a:off x="3235326" y="2555875"/>
            <a:ext cx="633413" cy="6350"/>
          </a:xfrm>
          <a:prstGeom prst="line">
            <a:avLst/>
          </a:prstGeom>
          <a:noFill/>
          <a:ln w="38100">
            <a:solidFill>
              <a:srgbClr val="FF66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4" name="Line 142"/>
          <p:cNvSpPr>
            <a:spLocks noChangeShapeType="1"/>
          </p:cNvSpPr>
          <p:nvPr/>
        </p:nvSpPr>
        <p:spPr bwMode="auto">
          <a:xfrm flipH="1">
            <a:off x="3214688" y="2166938"/>
            <a:ext cx="0" cy="387350"/>
          </a:xfrm>
          <a:prstGeom prst="line">
            <a:avLst/>
          </a:prstGeom>
          <a:noFill/>
          <a:ln w="38100">
            <a:solidFill>
              <a:srgbClr val="FF66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" name="Line 143"/>
          <p:cNvSpPr>
            <a:spLocks noChangeShapeType="1"/>
          </p:cNvSpPr>
          <p:nvPr/>
        </p:nvSpPr>
        <p:spPr bwMode="auto">
          <a:xfrm>
            <a:off x="4162426" y="2168525"/>
            <a:ext cx="493713" cy="0"/>
          </a:xfrm>
          <a:prstGeom prst="line">
            <a:avLst/>
          </a:prstGeom>
          <a:noFill/>
          <a:ln w="38100">
            <a:solidFill>
              <a:srgbClr val="FF66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" name="Line 144"/>
          <p:cNvSpPr>
            <a:spLocks noChangeShapeType="1"/>
          </p:cNvSpPr>
          <p:nvPr/>
        </p:nvSpPr>
        <p:spPr bwMode="auto">
          <a:xfrm>
            <a:off x="4273550" y="2563813"/>
            <a:ext cx="273050" cy="0"/>
          </a:xfrm>
          <a:prstGeom prst="line">
            <a:avLst/>
          </a:prstGeom>
          <a:noFill/>
          <a:ln w="38100">
            <a:solidFill>
              <a:srgbClr val="FF66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7" name="Rectangle 145"/>
          <p:cNvSpPr>
            <a:spLocks noChangeArrowheads="1"/>
          </p:cNvSpPr>
          <p:nvPr/>
        </p:nvSpPr>
        <p:spPr bwMode="auto">
          <a:xfrm>
            <a:off x="2362200" y="5421313"/>
            <a:ext cx="7797800" cy="641350"/>
          </a:xfrm>
          <a:prstGeom prst="rect">
            <a:avLst/>
          </a:prstGeom>
          <a:noFill/>
          <a:ln w="12700" algn="ctr">
            <a:noFill/>
            <a:miter lim="800000"/>
            <a:headEnd type="none" w="sm" len="lg"/>
            <a:tailEnd type="none" w="sm" len="lg"/>
          </a:ln>
          <a:effectLst/>
        </p:spPr>
        <p:txBody>
          <a:bodyPr>
            <a:spAutoFit/>
          </a:bodyPr>
          <a:lstStyle/>
          <a:p>
            <a:pPr marL="2511425" indent="-2511425">
              <a:defRPr/>
            </a:pPr>
            <a:r>
              <a:rPr kumimoji="1" lang="en-US" altLang="zh-CN" b="1">
                <a:effectLst>
                  <a:outerShdw blurRad="38100" dist="38100" dir="2700000" algn="tl">
                    <a:srgbClr val="C0C0C0"/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kumimoji="1" lang="en-US" altLang="zh-CN" b="1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★</a:t>
            </a:r>
            <a:r>
              <a:rPr kumimoji="1" lang="en-US" altLang="zh-CN" b="1">
                <a:effectLst>
                  <a:outerShdw blurRad="38100" dist="38100" dir="2700000" algn="tl">
                    <a:srgbClr val="C0C0C0"/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kumimoji="1" lang="zh-CN" altLang="en-US" b="1"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画剖开机件的投影：</a:t>
            </a:r>
            <a:r>
              <a:rPr kumimoji="1" lang="zh-CN" altLang="en-US" b="1">
                <a:solidFill>
                  <a:srgbClr val="FF33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kumimoji="1" lang="zh-CN" altLang="en-US" b="1">
                <a:effectLst>
                  <a:outerShdw blurRad="38100" dist="38100" dir="2700000" algn="tl">
                    <a:srgbClr val="C0C0C0"/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画出剖切平面与机件实体相交的断面轮廓线的投                                       影及剖切平面后面可见轮廓的投影。</a:t>
            </a:r>
            <a:endParaRPr kumimoji="1" lang="zh-CN" altLang="en-US" b="1">
              <a:solidFill>
                <a:schemeClr val="bg2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68" name="Rectangle 146"/>
          <p:cNvSpPr>
            <a:spLocks noChangeArrowheads="1"/>
          </p:cNvSpPr>
          <p:nvPr/>
        </p:nvSpPr>
        <p:spPr bwMode="auto">
          <a:xfrm>
            <a:off x="2420938" y="6034088"/>
            <a:ext cx="7797800" cy="366712"/>
          </a:xfrm>
          <a:prstGeom prst="rect">
            <a:avLst/>
          </a:prstGeom>
          <a:noFill/>
          <a:ln w="12700" algn="ctr">
            <a:noFill/>
            <a:miter lim="800000"/>
            <a:headEnd type="none" w="sm" len="lg"/>
            <a:tailEnd type="none" w="sm" len="lg"/>
          </a:ln>
          <a:effectLst/>
        </p:spPr>
        <p:txBody>
          <a:bodyPr>
            <a:spAutoFit/>
          </a:bodyPr>
          <a:lstStyle/>
          <a:p>
            <a:pPr>
              <a:buFontTx/>
              <a:buNone/>
              <a:defRPr/>
            </a:pPr>
            <a:r>
              <a:rPr kumimoji="1" lang="en-US" altLang="zh-CN" b="1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★ </a:t>
            </a:r>
            <a:r>
              <a:rPr kumimoji="1" lang="zh-CN" altLang="en-US" b="1"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在剖面区域内画上剖面符号</a:t>
            </a:r>
          </a:p>
        </p:txBody>
      </p:sp>
    </p:spTree>
    <p:extLst>
      <p:ext uri="{BB962C8B-B14F-4D97-AF65-F5344CB8AC3E}">
        <p14:creationId xmlns:p14="http://schemas.microsoft.com/office/powerpoint/2010/main" val="33521442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1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0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10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0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0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10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5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500"/>
                            </p:stCondLst>
                            <p:childTnLst>
                              <p:par>
                                <p:cTn id="6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5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 animBg="1"/>
      <p:bldP spid="257" grpId="0" animBg="1"/>
      <p:bldP spid="258" grpId="0" animBg="1"/>
      <p:bldP spid="259" grpId="0"/>
      <p:bldP spid="260" grpId="0" animBg="1"/>
      <p:bldP spid="261" grpId="0" animBg="1"/>
      <p:bldP spid="262" grpId="0" animBg="1"/>
      <p:bldP spid="263" grpId="0" animBg="1"/>
      <p:bldP spid="264" grpId="0" animBg="1"/>
      <p:bldP spid="265" grpId="0" animBg="1"/>
      <p:bldP spid="266" grpId="0" animBg="1"/>
      <p:bldP spid="267" grpId="0"/>
      <p:bldP spid="268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Rectangle 2"/>
          <p:cNvSpPr txBox="1">
            <a:spLocks noChangeArrowheads="1"/>
          </p:cNvSpPr>
          <p:nvPr/>
        </p:nvSpPr>
        <p:spPr>
          <a:xfrm>
            <a:off x="958849" y="614926"/>
            <a:ext cx="3157539" cy="588962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28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zh-CN" altLang="en-US" dirty="0"/>
              <a:t>剖面符号的画法</a:t>
            </a:r>
          </a:p>
        </p:txBody>
      </p:sp>
      <p:sp>
        <p:nvSpPr>
          <p:cNvPr id="270" name="Text Box 3"/>
          <p:cNvSpPr txBox="1">
            <a:spLocks noChangeArrowheads="1"/>
          </p:cNvSpPr>
          <p:nvPr/>
        </p:nvSpPr>
        <p:spPr bwMode="auto">
          <a:xfrm>
            <a:off x="1901826" y="3881904"/>
            <a:ext cx="8359775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indent="536575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b="0" dirty="0">
                <a:latin typeface="华文细黑" panose="02010600040101010101" pitchFamily="2" charset="-122"/>
                <a:ea typeface="华文细黑" panose="02010600040101010101" pitchFamily="2" charset="-122"/>
              </a:rPr>
              <a:t>不需在剖面区域中表示材料的类别时，剖面符号可采用通用剖面线表示。</a:t>
            </a:r>
          </a:p>
          <a:p>
            <a:r>
              <a:rPr lang="zh-CN" altLang="en-US" b="0" dirty="0">
                <a:solidFill>
                  <a:srgbClr val="FF010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通用剖面线</a:t>
            </a:r>
            <a:r>
              <a:rPr lang="zh-CN" altLang="en-US" b="0" dirty="0">
                <a:latin typeface="华文细黑" panose="02010600040101010101" pitchFamily="2" charset="-122"/>
                <a:ea typeface="华文细黑" panose="02010600040101010101" pitchFamily="2" charset="-122"/>
              </a:rPr>
              <a:t>为细实线，最好与图形的主要轮廓或剖面区域的对称线</a:t>
            </a:r>
            <a:r>
              <a:rPr lang="zh-CN" altLang="en-US" b="0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成</a:t>
            </a:r>
            <a:r>
              <a:rPr lang="en-US" altLang="zh-CN" b="0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45°</a:t>
            </a:r>
            <a:r>
              <a:rPr lang="zh-CN" altLang="en-US" b="0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角；</a:t>
            </a:r>
            <a:r>
              <a:rPr lang="zh-CN" altLang="en-US" b="0" dirty="0">
                <a:latin typeface="华文细黑" panose="02010600040101010101" pitchFamily="2" charset="-122"/>
                <a:ea typeface="华文细黑" panose="02010600040101010101" pitchFamily="2" charset="-122"/>
              </a:rPr>
              <a:t>同一物体的各个剖面区域，其剖面线画法应一致。</a:t>
            </a:r>
          </a:p>
        </p:txBody>
      </p:sp>
      <p:grpSp>
        <p:nvGrpSpPr>
          <p:cNvPr id="271" name="Group 4"/>
          <p:cNvGrpSpPr>
            <a:grpSpLocks/>
          </p:cNvGrpSpPr>
          <p:nvPr/>
        </p:nvGrpSpPr>
        <p:grpSpPr bwMode="auto">
          <a:xfrm>
            <a:off x="3098800" y="2001839"/>
            <a:ext cx="425450" cy="795337"/>
            <a:chOff x="992" y="1349"/>
            <a:chExt cx="268" cy="501"/>
          </a:xfrm>
        </p:grpSpPr>
        <p:sp>
          <p:nvSpPr>
            <p:cNvPr id="272" name="Freeform 5"/>
            <p:cNvSpPr>
              <a:spLocks noChangeArrowheads="1"/>
            </p:cNvSpPr>
            <p:nvPr/>
          </p:nvSpPr>
          <p:spPr bwMode="auto">
            <a:xfrm>
              <a:off x="992" y="1349"/>
              <a:ext cx="23" cy="24"/>
            </a:xfrm>
            <a:custGeom>
              <a:avLst/>
              <a:gdLst>
                <a:gd name="T0" fmla="*/ 0 w 139"/>
                <a:gd name="T1" fmla="*/ 139 h 139"/>
                <a:gd name="T2" fmla="*/ 138 w 139"/>
                <a:gd name="T3" fmla="*/ 0 h 139"/>
                <a:gd name="T4" fmla="*/ 139 w 139"/>
                <a:gd name="T5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9" h="139">
                  <a:moveTo>
                    <a:pt x="0" y="139"/>
                  </a:moveTo>
                  <a:lnTo>
                    <a:pt x="138" y="0"/>
                  </a:lnTo>
                  <a:lnTo>
                    <a:pt x="13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3" name="Freeform 6"/>
            <p:cNvSpPr>
              <a:spLocks noChangeArrowheads="1"/>
            </p:cNvSpPr>
            <p:nvPr/>
          </p:nvSpPr>
          <p:spPr bwMode="auto">
            <a:xfrm>
              <a:off x="992" y="1349"/>
              <a:ext cx="105" cy="106"/>
            </a:xfrm>
            <a:custGeom>
              <a:avLst/>
              <a:gdLst>
                <a:gd name="T0" fmla="*/ 0 w 632"/>
                <a:gd name="T1" fmla="*/ 631 h 631"/>
                <a:gd name="T2" fmla="*/ 631 w 632"/>
                <a:gd name="T3" fmla="*/ 0 h 631"/>
                <a:gd name="T4" fmla="*/ 632 w 632"/>
                <a:gd name="T5" fmla="*/ 0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2" h="631">
                  <a:moveTo>
                    <a:pt x="0" y="631"/>
                  </a:moveTo>
                  <a:lnTo>
                    <a:pt x="631" y="0"/>
                  </a:lnTo>
                  <a:lnTo>
                    <a:pt x="63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4" name="Freeform 7"/>
            <p:cNvSpPr>
              <a:spLocks noChangeArrowheads="1"/>
            </p:cNvSpPr>
            <p:nvPr/>
          </p:nvSpPr>
          <p:spPr bwMode="auto">
            <a:xfrm>
              <a:off x="992" y="1349"/>
              <a:ext cx="187" cy="188"/>
            </a:xfrm>
            <a:custGeom>
              <a:avLst/>
              <a:gdLst>
                <a:gd name="T0" fmla="*/ 0 w 1124"/>
                <a:gd name="T1" fmla="*/ 1124 h 1124"/>
                <a:gd name="T2" fmla="*/ 1123 w 1124"/>
                <a:gd name="T3" fmla="*/ 0 h 1124"/>
                <a:gd name="T4" fmla="*/ 1124 w 1124"/>
                <a:gd name="T5" fmla="*/ 0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24" h="1124">
                  <a:moveTo>
                    <a:pt x="0" y="1124"/>
                  </a:moveTo>
                  <a:lnTo>
                    <a:pt x="1123" y="0"/>
                  </a:lnTo>
                  <a:lnTo>
                    <a:pt x="112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5" name="Freeform 8"/>
            <p:cNvSpPr>
              <a:spLocks noChangeArrowheads="1"/>
            </p:cNvSpPr>
            <p:nvPr/>
          </p:nvSpPr>
          <p:spPr bwMode="auto">
            <a:xfrm>
              <a:off x="992" y="1351"/>
              <a:ext cx="268" cy="268"/>
            </a:xfrm>
            <a:custGeom>
              <a:avLst/>
              <a:gdLst>
                <a:gd name="T0" fmla="*/ 0 w 1606"/>
                <a:gd name="T1" fmla="*/ 1607 h 1607"/>
                <a:gd name="T2" fmla="*/ 1605 w 1606"/>
                <a:gd name="T3" fmla="*/ 0 h 1607"/>
                <a:gd name="T4" fmla="*/ 1606 w 1606"/>
                <a:gd name="T5" fmla="*/ 0 h 1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06" h="1607">
                  <a:moveTo>
                    <a:pt x="0" y="1607"/>
                  </a:moveTo>
                  <a:lnTo>
                    <a:pt x="1605" y="0"/>
                  </a:lnTo>
                  <a:lnTo>
                    <a:pt x="160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6" name="Freeform 9"/>
            <p:cNvSpPr>
              <a:spLocks noChangeArrowheads="1"/>
            </p:cNvSpPr>
            <p:nvPr/>
          </p:nvSpPr>
          <p:spPr bwMode="auto">
            <a:xfrm>
              <a:off x="992" y="1433"/>
              <a:ext cx="268" cy="268"/>
            </a:xfrm>
            <a:custGeom>
              <a:avLst/>
              <a:gdLst>
                <a:gd name="T0" fmla="*/ 0 w 1606"/>
                <a:gd name="T1" fmla="*/ 1607 h 1607"/>
                <a:gd name="T2" fmla="*/ 1605 w 1606"/>
                <a:gd name="T3" fmla="*/ 0 h 1607"/>
                <a:gd name="T4" fmla="*/ 1606 w 1606"/>
                <a:gd name="T5" fmla="*/ 0 h 1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06" h="1607">
                  <a:moveTo>
                    <a:pt x="0" y="1607"/>
                  </a:moveTo>
                  <a:lnTo>
                    <a:pt x="1605" y="0"/>
                  </a:lnTo>
                  <a:lnTo>
                    <a:pt x="160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7" name="Freeform 10"/>
            <p:cNvSpPr>
              <a:spLocks noChangeArrowheads="1"/>
            </p:cNvSpPr>
            <p:nvPr/>
          </p:nvSpPr>
          <p:spPr bwMode="auto">
            <a:xfrm>
              <a:off x="992" y="1515"/>
              <a:ext cx="268" cy="268"/>
            </a:xfrm>
            <a:custGeom>
              <a:avLst/>
              <a:gdLst>
                <a:gd name="T0" fmla="*/ 0 w 1606"/>
                <a:gd name="T1" fmla="*/ 1607 h 1607"/>
                <a:gd name="T2" fmla="*/ 1605 w 1606"/>
                <a:gd name="T3" fmla="*/ 0 h 1607"/>
                <a:gd name="T4" fmla="*/ 1606 w 1606"/>
                <a:gd name="T5" fmla="*/ 0 h 1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06" h="1607">
                  <a:moveTo>
                    <a:pt x="0" y="1607"/>
                  </a:moveTo>
                  <a:lnTo>
                    <a:pt x="1605" y="0"/>
                  </a:lnTo>
                  <a:lnTo>
                    <a:pt x="160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8" name="Freeform 11"/>
            <p:cNvSpPr>
              <a:spLocks noChangeArrowheads="1"/>
            </p:cNvSpPr>
            <p:nvPr/>
          </p:nvSpPr>
          <p:spPr bwMode="auto">
            <a:xfrm>
              <a:off x="1007" y="1598"/>
              <a:ext cx="253" cy="252"/>
            </a:xfrm>
            <a:custGeom>
              <a:avLst/>
              <a:gdLst>
                <a:gd name="T0" fmla="*/ 0 w 1516"/>
                <a:gd name="T1" fmla="*/ 1516 h 1516"/>
                <a:gd name="T2" fmla="*/ 1515 w 1516"/>
                <a:gd name="T3" fmla="*/ 0 h 1516"/>
                <a:gd name="T4" fmla="*/ 1516 w 1516"/>
                <a:gd name="T5" fmla="*/ 0 h 1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16" h="1516">
                  <a:moveTo>
                    <a:pt x="0" y="1516"/>
                  </a:moveTo>
                  <a:lnTo>
                    <a:pt x="1515" y="0"/>
                  </a:lnTo>
                  <a:lnTo>
                    <a:pt x="151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9" name="Freeform 12"/>
            <p:cNvSpPr>
              <a:spLocks noChangeArrowheads="1"/>
            </p:cNvSpPr>
            <p:nvPr/>
          </p:nvSpPr>
          <p:spPr bwMode="auto">
            <a:xfrm>
              <a:off x="1089" y="1680"/>
              <a:ext cx="171" cy="170"/>
            </a:xfrm>
            <a:custGeom>
              <a:avLst/>
              <a:gdLst>
                <a:gd name="T0" fmla="*/ 0 w 1023"/>
                <a:gd name="T1" fmla="*/ 1023 h 1023"/>
                <a:gd name="T2" fmla="*/ 1022 w 1023"/>
                <a:gd name="T3" fmla="*/ 0 h 1023"/>
                <a:gd name="T4" fmla="*/ 1023 w 1023"/>
                <a:gd name="T5" fmla="*/ 0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23" h="1023">
                  <a:moveTo>
                    <a:pt x="0" y="1023"/>
                  </a:moveTo>
                  <a:lnTo>
                    <a:pt x="1022" y="0"/>
                  </a:lnTo>
                  <a:lnTo>
                    <a:pt x="1023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0" name="Freeform 13"/>
            <p:cNvSpPr>
              <a:spLocks noChangeArrowheads="1"/>
            </p:cNvSpPr>
            <p:nvPr/>
          </p:nvSpPr>
          <p:spPr bwMode="auto">
            <a:xfrm>
              <a:off x="1171" y="1762"/>
              <a:ext cx="89" cy="88"/>
            </a:xfrm>
            <a:custGeom>
              <a:avLst/>
              <a:gdLst>
                <a:gd name="T0" fmla="*/ 0 w 531"/>
                <a:gd name="T1" fmla="*/ 531 h 531"/>
                <a:gd name="T2" fmla="*/ 530 w 531"/>
                <a:gd name="T3" fmla="*/ 0 h 531"/>
                <a:gd name="T4" fmla="*/ 531 w 531"/>
                <a:gd name="T5" fmla="*/ 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31" h="531">
                  <a:moveTo>
                    <a:pt x="0" y="531"/>
                  </a:moveTo>
                  <a:lnTo>
                    <a:pt x="530" y="0"/>
                  </a:lnTo>
                  <a:lnTo>
                    <a:pt x="53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1" name="Freeform 14"/>
            <p:cNvSpPr>
              <a:spLocks noChangeArrowheads="1"/>
            </p:cNvSpPr>
            <p:nvPr/>
          </p:nvSpPr>
          <p:spPr bwMode="auto">
            <a:xfrm>
              <a:off x="1253" y="1844"/>
              <a:ext cx="7" cy="6"/>
            </a:xfrm>
            <a:custGeom>
              <a:avLst/>
              <a:gdLst>
                <a:gd name="T0" fmla="*/ 0 w 39"/>
                <a:gd name="T1" fmla="*/ 38 h 38"/>
                <a:gd name="T2" fmla="*/ 38 w 39"/>
                <a:gd name="T3" fmla="*/ 0 h 38"/>
                <a:gd name="T4" fmla="*/ 39 w 39"/>
                <a:gd name="T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38">
                  <a:moveTo>
                    <a:pt x="0" y="38"/>
                  </a:moveTo>
                  <a:lnTo>
                    <a:pt x="38" y="0"/>
                  </a:lnTo>
                  <a:lnTo>
                    <a:pt x="3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2" name="Freeform 15"/>
            <p:cNvSpPr>
              <a:spLocks noChangeArrowheads="1"/>
            </p:cNvSpPr>
            <p:nvPr/>
          </p:nvSpPr>
          <p:spPr bwMode="auto">
            <a:xfrm>
              <a:off x="992" y="1349"/>
              <a:ext cx="267" cy="501"/>
            </a:xfrm>
            <a:custGeom>
              <a:avLst/>
              <a:gdLst>
                <a:gd name="T0" fmla="*/ 0 w 1605"/>
                <a:gd name="T1" fmla="*/ 3004 h 3004"/>
                <a:gd name="T2" fmla="*/ 1605 w 1605"/>
                <a:gd name="T3" fmla="*/ 3004 h 3004"/>
                <a:gd name="T4" fmla="*/ 1605 w 1605"/>
                <a:gd name="T5" fmla="*/ 0 h 3004"/>
                <a:gd name="T6" fmla="*/ 0 w 1605"/>
                <a:gd name="T7" fmla="*/ 0 h 3004"/>
                <a:gd name="T8" fmla="*/ 0 w 1605"/>
                <a:gd name="T9" fmla="*/ 3004 h 3004"/>
                <a:gd name="T10" fmla="*/ 1 w 1605"/>
                <a:gd name="T11" fmla="*/ 3004 h 3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05" h="3004">
                  <a:moveTo>
                    <a:pt x="0" y="3004"/>
                  </a:moveTo>
                  <a:lnTo>
                    <a:pt x="1605" y="3004"/>
                  </a:lnTo>
                  <a:lnTo>
                    <a:pt x="1605" y="0"/>
                  </a:lnTo>
                  <a:lnTo>
                    <a:pt x="0" y="0"/>
                  </a:lnTo>
                  <a:lnTo>
                    <a:pt x="0" y="3004"/>
                  </a:lnTo>
                  <a:lnTo>
                    <a:pt x="1" y="300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283" name="Group 16"/>
          <p:cNvGrpSpPr>
            <a:grpSpLocks/>
          </p:cNvGrpSpPr>
          <p:nvPr/>
        </p:nvGrpSpPr>
        <p:grpSpPr bwMode="auto">
          <a:xfrm>
            <a:off x="5254626" y="1954213"/>
            <a:ext cx="860425" cy="862012"/>
            <a:chOff x="1867" y="1329"/>
            <a:chExt cx="542" cy="543"/>
          </a:xfrm>
        </p:grpSpPr>
        <p:sp>
          <p:nvSpPr>
            <p:cNvPr id="284" name="Freeform 17"/>
            <p:cNvSpPr>
              <a:spLocks noChangeArrowheads="1"/>
            </p:cNvSpPr>
            <p:nvPr/>
          </p:nvSpPr>
          <p:spPr bwMode="auto">
            <a:xfrm>
              <a:off x="1867" y="1329"/>
              <a:ext cx="542" cy="543"/>
            </a:xfrm>
            <a:custGeom>
              <a:avLst/>
              <a:gdLst>
                <a:gd name="T0" fmla="*/ 0 w 3258"/>
                <a:gd name="T1" fmla="*/ 2124 h 3261"/>
                <a:gd name="T2" fmla="*/ 1135 w 3258"/>
                <a:gd name="T3" fmla="*/ 3261 h 3261"/>
                <a:gd name="T4" fmla="*/ 3258 w 3258"/>
                <a:gd name="T5" fmla="*/ 1136 h 3261"/>
                <a:gd name="T6" fmla="*/ 2122 w 3258"/>
                <a:gd name="T7" fmla="*/ 0 h 3261"/>
                <a:gd name="T8" fmla="*/ 0 w 3258"/>
                <a:gd name="T9" fmla="*/ 2124 h 3261"/>
                <a:gd name="T10" fmla="*/ 2 w 3258"/>
                <a:gd name="T11" fmla="*/ 2124 h 3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58" h="3261">
                  <a:moveTo>
                    <a:pt x="0" y="2124"/>
                  </a:moveTo>
                  <a:lnTo>
                    <a:pt x="1135" y="3261"/>
                  </a:lnTo>
                  <a:lnTo>
                    <a:pt x="3258" y="1136"/>
                  </a:lnTo>
                  <a:lnTo>
                    <a:pt x="2122" y="0"/>
                  </a:lnTo>
                  <a:lnTo>
                    <a:pt x="0" y="2124"/>
                  </a:lnTo>
                  <a:lnTo>
                    <a:pt x="2" y="212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5" name="Freeform 18"/>
            <p:cNvSpPr>
              <a:spLocks noChangeArrowheads="1"/>
            </p:cNvSpPr>
            <p:nvPr/>
          </p:nvSpPr>
          <p:spPr bwMode="auto">
            <a:xfrm>
              <a:off x="2204" y="1345"/>
              <a:ext cx="33" cy="1"/>
            </a:xfrm>
            <a:custGeom>
              <a:avLst/>
              <a:gdLst>
                <a:gd name="T0" fmla="*/ 0 w 197"/>
                <a:gd name="T1" fmla="*/ 0 h 1"/>
                <a:gd name="T2" fmla="*/ 196 w 197"/>
                <a:gd name="T3" fmla="*/ 0 h 1"/>
                <a:gd name="T4" fmla="*/ 197 w 19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">
                  <a:moveTo>
                    <a:pt x="0" y="0"/>
                  </a:moveTo>
                  <a:lnTo>
                    <a:pt x="196" y="0"/>
                  </a:lnTo>
                  <a:lnTo>
                    <a:pt x="197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6" name="Freeform 19"/>
            <p:cNvSpPr>
              <a:spLocks noChangeArrowheads="1"/>
            </p:cNvSpPr>
            <p:nvPr/>
          </p:nvSpPr>
          <p:spPr bwMode="auto">
            <a:xfrm>
              <a:off x="2146" y="1403"/>
              <a:ext cx="149" cy="1"/>
            </a:xfrm>
            <a:custGeom>
              <a:avLst/>
              <a:gdLst>
                <a:gd name="T0" fmla="*/ 0 w 893"/>
                <a:gd name="T1" fmla="*/ 0 h 1"/>
                <a:gd name="T2" fmla="*/ 891 w 893"/>
                <a:gd name="T3" fmla="*/ 0 h 1"/>
                <a:gd name="T4" fmla="*/ 893 w 89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3" h="1">
                  <a:moveTo>
                    <a:pt x="0" y="0"/>
                  </a:moveTo>
                  <a:lnTo>
                    <a:pt x="891" y="0"/>
                  </a:lnTo>
                  <a:lnTo>
                    <a:pt x="893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7" name="Freeform 20"/>
            <p:cNvSpPr>
              <a:spLocks noChangeArrowheads="1"/>
            </p:cNvSpPr>
            <p:nvPr/>
          </p:nvSpPr>
          <p:spPr bwMode="auto">
            <a:xfrm>
              <a:off x="2088" y="1461"/>
              <a:ext cx="265" cy="1"/>
            </a:xfrm>
            <a:custGeom>
              <a:avLst/>
              <a:gdLst>
                <a:gd name="T0" fmla="*/ 0 w 1589"/>
                <a:gd name="T1" fmla="*/ 0 h 1"/>
                <a:gd name="T2" fmla="*/ 1588 w 1589"/>
                <a:gd name="T3" fmla="*/ 0 h 1"/>
                <a:gd name="T4" fmla="*/ 1589 w 158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89" h="1">
                  <a:moveTo>
                    <a:pt x="0" y="0"/>
                  </a:moveTo>
                  <a:lnTo>
                    <a:pt x="1588" y="0"/>
                  </a:lnTo>
                  <a:lnTo>
                    <a:pt x="158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8" name="Freeform 21"/>
            <p:cNvSpPr>
              <a:spLocks noChangeArrowheads="1"/>
            </p:cNvSpPr>
            <p:nvPr/>
          </p:nvSpPr>
          <p:spPr bwMode="auto">
            <a:xfrm>
              <a:off x="2030" y="1519"/>
              <a:ext cx="378" cy="1"/>
            </a:xfrm>
            <a:custGeom>
              <a:avLst/>
              <a:gdLst>
                <a:gd name="T0" fmla="*/ 0 w 2271"/>
                <a:gd name="T1" fmla="*/ 0 h 1"/>
                <a:gd name="T2" fmla="*/ 2270 w 2271"/>
                <a:gd name="T3" fmla="*/ 0 h 1"/>
                <a:gd name="T4" fmla="*/ 2271 w 227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71" h="1">
                  <a:moveTo>
                    <a:pt x="0" y="0"/>
                  </a:moveTo>
                  <a:lnTo>
                    <a:pt x="2270" y="0"/>
                  </a:lnTo>
                  <a:lnTo>
                    <a:pt x="227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9" name="Freeform 22"/>
            <p:cNvSpPr>
              <a:spLocks noChangeArrowheads="1"/>
            </p:cNvSpPr>
            <p:nvPr/>
          </p:nvSpPr>
          <p:spPr bwMode="auto">
            <a:xfrm>
              <a:off x="1972" y="1577"/>
              <a:ext cx="378" cy="1"/>
            </a:xfrm>
            <a:custGeom>
              <a:avLst/>
              <a:gdLst>
                <a:gd name="T0" fmla="*/ 0 w 2271"/>
                <a:gd name="T1" fmla="*/ 0 h 1"/>
                <a:gd name="T2" fmla="*/ 2270 w 2271"/>
                <a:gd name="T3" fmla="*/ 0 h 1"/>
                <a:gd name="T4" fmla="*/ 2271 w 227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71" h="1">
                  <a:moveTo>
                    <a:pt x="0" y="0"/>
                  </a:moveTo>
                  <a:lnTo>
                    <a:pt x="2270" y="0"/>
                  </a:lnTo>
                  <a:lnTo>
                    <a:pt x="227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0" name="Freeform 23"/>
            <p:cNvSpPr>
              <a:spLocks noChangeArrowheads="1"/>
            </p:cNvSpPr>
            <p:nvPr/>
          </p:nvSpPr>
          <p:spPr bwMode="auto">
            <a:xfrm>
              <a:off x="1914" y="1635"/>
              <a:ext cx="378" cy="1"/>
            </a:xfrm>
            <a:custGeom>
              <a:avLst/>
              <a:gdLst>
                <a:gd name="T0" fmla="*/ 0 w 2271"/>
                <a:gd name="T1" fmla="*/ 0 h 1"/>
                <a:gd name="T2" fmla="*/ 2270 w 2271"/>
                <a:gd name="T3" fmla="*/ 0 h 1"/>
                <a:gd name="T4" fmla="*/ 2271 w 227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71" h="1">
                  <a:moveTo>
                    <a:pt x="0" y="0"/>
                  </a:moveTo>
                  <a:lnTo>
                    <a:pt x="2270" y="0"/>
                  </a:lnTo>
                  <a:lnTo>
                    <a:pt x="227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1" name="Freeform 24"/>
            <p:cNvSpPr>
              <a:spLocks noChangeArrowheads="1"/>
            </p:cNvSpPr>
            <p:nvPr/>
          </p:nvSpPr>
          <p:spPr bwMode="auto">
            <a:xfrm>
              <a:off x="1877" y="1693"/>
              <a:ext cx="357" cy="1"/>
            </a:xfrm>
            <a:custGeom>
              <a:avLst/>
              <a:gdLst>
                <a:gd name="T0" fmla="*/ 0 w 2143"/>
                <a:gd name="T1" fmla="*/ 0 h 1"/>
                <a:gd name="T2" fmla="*/ 2142 w 2143"/>
                <a:gd name="T3" fmla="*/ 0 h 1"/>
                <a:gd name="T4" fmla="*/ 2143 w 214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43" h="1">
                  <a:moveTo>
                    <a:pt x="0" y="0"/>
                  </a:moveTo>
                  <a:lnTo>
                    <a:pt x="2142" y="0"/>
                  </a:lnTo>
                  <a:lnTo>
                    <a:pt x="2143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2" name="Freeform 25"/>
            <p:cNvSpPr>
              <a:spLocks noChangeArrowheads="1"/>
            </p:cNvSpPr>
            <p:nvPr/>
          </p:nvSpPr>
          <p:spPr bwMode="auto">
            <a:xfrm>
              <a:off x="1935" y="1751"/>
              <a:ext cx="242" cy="1"/>
            </a:xfrm>
            <a:custGeom>
              <a:avLst/>
              <a:gdLst>
                <a:gd name="T0" fmla="*/ 0 w 1448"/>
                <a:gd name="T1" fmla="*/ 0 h 1"/>
                <a:gd name="T2" fmla="*/ 1447 w 1448"/>
                <a:gd name="T3" fmla="*/ 0 h 1"/>
                <a:gd name="T4" fmla="*/ 1448 w 144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48" h="1">
                  <a:moveTo>
                    <a:pt x="0" y="0"/>
                  </a:moveTo>
                  <a:lnTo>
                    <a:pt x="1447" y="0"/>
                  </a:lnTo>
                  <a:lnTo>
                    <a:pt x="1448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3" name="Freeform 26"/>
            <p:cNvSpPr>
              <a:spLocks noChangeArrowheads="1"/>
            </p:cNvSpPr>
            <p:nvPr/>
          </p:nvSpPr>
          <p:spPr bwMode="auto">
            <a:xfrm>
              <a:off x="1993" y="1810"/>
              <a:ext cx="125" cy="1"/>
            </a:xfrm>
            <a:custGeom>
              <a:avLst/>
              <a:gdLst>
                <a:gd name="T0" fmla="*/ 0 w 752"/>
                <a:gd name="T1" fmla="*/ 0 h 1"/>
                <a:gd name="T2" fmla="*/ 751 w 752"/>
                <a:gd name="T3" fmla="*/ 0 h 1"/>
                <a:gd name="T4" fmla="*/ 752 w 75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2" h="1">
                  <a:moveTo>
                    <a:pt x="0" y="0"/>
                  </a:moveTo>
                  <a:lnTo>
                    <a:pt x="751" y="0"/>
                  </a:lnTo>
                  <a:lnTo>
                    <a:pt x="75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4" name="Freeform 27"/>
            <p:cNvSpPr>
              <a:spLocks noChangeArrowheads="1"/>
            </p:cNvSpPr>
            <p:nvPr/>
          </p:nvSpPr>
          <p:spPr bwMode="auto">
            <a:xfrm>
              <a:off x="2051" y="1868"/>
              <a:ext cx="9" cy="1"/>
            </a:xfrm>
            <a:custGeom>
              <a:avLst/>
              <a:gdLst>
                <a:gd name="T0" fmla="*/ 0 w 55"/>
                <a:gd name="T1" fmla="*/ 0 h 1"/>
                <a:gd name="T2" fmla="*/ 53 w 55"/>
                <a:gd name="T3" fmla="*/ 0 h 1"/>
                <a:gd name="T4" fmla="*/ 55 w 5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" h="1">
                  <a:moveTo>
                    <a:pt x="0" y="0"/>
                  </a:moveTo>
                  <a:lnTo>
                    <a:pt x="53" y="0"/>
                  </a:lnTo>
                  <a:lnTo>
                    <a:pt x="5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295" name="Group 28"/>
          <p:cNvGrpSpPr>
            <a:grpSpLocks/>
          </p:cNvGrpSpPr>
          <p:nvPr/>
        </p:nvGrpSpPr>
        <p:grpSpPr bwMode="auto">
          <a:xfrm>
            <a:off x="4062413" y="2060576"/>
            <a:ext cx="696912" cy="708025"/>
            <a:chOff x="1388" y="1403"/>
            <a:chExt cx="439" cy="446"/>
          </a:xfrm>
        </p:grpSpPr>
        <p:sp>
          <p:nvSpPr>
            <p:cNvPr id="296" name="Freeform 29"/>
            <p:cNvSpPr>
              <a:spLocks noChangeArrowheads="1"/>
            </p:cNvSpPr>
            <p:nvPr/>
          </p:nvSpPr>
          <p:spPr bwMode="auto">
            <a:xfrm>
              <a:off x="1389" y="1629"/>
              <a:ext cx="218" cy="219"/>
            </a:xfrm>
            <a:custGeom>
              <a:avLst/>
              <a:gdLst>
                <a:gd name="T0" fmla="*/ 203 w 1312"/>
                <a:gd name="T1" fmla="*/ 0 h 1312"/>
                <a:gd name="T2" fmla="*/ 0 w 1312"/>
                <a:gd name="T3" fmla="*/ 351 h 1312"/>
                <a:gd name="T4" fmla="*/ 0 w 1312"/>
                <a:gd name="T5" fmla="*/ 756 h 1312"/>
                <a:gd name="T6" fmla="*/ 203 w 1312"/>
                <a:gd name="T7" fmla="*/ 1108 h 1312"/>
                <a:gd name="T8" fmla="*/ 554 w 1312"/>
                <a:gd name="T9" fmla="*/ 1312 h 1312"/>
                <a:gd name="T10" fmla="*/ 960 w 1312"/>
                <a:gd name="T11" fmla="*/ 1312 h 1312"/>
                <a:gd name="T12" fmla="*/ 1311 w 1312"/>
                <a:gd name="T13" fmla="*/ 1108 h 1312"/>
                <a:gd name="T14" fmla="*/ 1312 w 1312"/>
                <a:gd name="T15" fmla="*/ 1108 h 1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2" h="1312">
                  <a:moveTo>
                    <a:pt x="203" y="0"/>
                  </a:moveTo>
                  <a:lnTo>
                    <a:pt x="0" y="351"/>
                  </a:lnTo>
                  <a:lnTo>
                    <a:pt x="0" y="756"/>
                  </a:lnTo>
                  <a:lnTo>
                    <a:pt x="203" y="1108"/>
                  </a:lnTo>
                  <a:lnTo>
                    <a:pt x="554" y="1312"/>
                  </a:lnTo>
                  <a:lnTo>
                    <a:pt x="960" y="1312"/>
                  </a:lnTo>
                  <a:lnTo>
                    <a:pt x="1311" y="1108"/>
                  </a:lnTo>
                  <a:lnTo>
                    <a:pt x="1312" y="110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7" name="Freeform 30"/>
            <p:cNvSpPr>
              <a:spLocks noChangeArrowheads="1"/>
            </p:cNvSpPr>
            <p:nvPr/>
          </p:nvSpPr>
          <p:spPr bwMode="auto">
            <a:xfrm>
              <a:off x="1394" y="1601"/>
              <a:ext cx="243" cy="242"/>
            </a:xfrm>
            <a:custGeom>
              <a:avLst/>
              <a:gdLst>
                <a:gd name="T0" fmla="*/ 0 w 1456"/>
                <a:gd name="T1" fmla="*/ 0 h 1456"/>
                <a:gd name="T2" fmla="*/ 1455 w 1456"/>
                <a:gd name="T3" fmla="*/ 1456 h 1456"/>
                <a:gd name="T4" fmla="*/ 1456 w 1456"/>
                <a:gd name="T5" fmla="*/ 1456 h 1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56" h="1456">
                  <a:moveTo>
                    <a:pt x="0" y="0"/>
                  </a:moveTo>
                  <a:lnTo>
                    <a:pt x="1455" y="1456"/>
                  </a:lnTo>
                  <a:lnTo>
                    <a:pt x="1456" y="14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8" name="Freeform 31"/>
            <p:cNvSpPr>
              <a:spLocks noChangeArrowheads="1"/>
            </p:cNvSpPr>
            <p:nvPr/>
          </p:nvSpPr>
          <p:spPr bwMode="auto">
            <a:xfrm>
              <a:off x="1388" y="1684"/>
              <a:ext cx="164" cy="164"/>
            </a:xfrm>
            <a:custGeom>
              <a:avLst/>
              <a:gdLst>
                <a:gd name="T0" fmla="*/ 0 w 988"/>
                <a:gd name="T1" fmla="*/ 986 h 986"/>
                <a:gd name="T2" fmla="*/ 986 w 988"/>
                <a:gd name="T3" fmla="*/ 0 h 986"/>
                <a:gd name="T4" fmla="*/ 988 w 988"/>
                <a:gd name="T5" fmla="*/ 0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8" h="986">
                  <a:moveTo>
                    <a:pt x="0" y="986"/>
                  </a:moveTo>
                  <a:lnTo>
                    <a:pt x="986" y="0"/>
                  </a:lnTo>
                  <a:lnTo>
                    <a:pt x="988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9" name="Freeform 32"/>
            <p:cNvSpPr>
              <a:spLocks noChangeArrowheads="1"/>
            </p:cNvSpPr>
            <p:nvPr/>
          </p:nvSpPr>
          <p:spPr bwMode="auto">
            <a:xfrm>
              <a:off x="1607" y="1410"/>
              <a:ext cx="218" cy="219"/>
            </a:xfrm>
            <a:custGeom>
              <a:avLst/>
              <a:gdLst>
                <a:gd name="T0" fmla="*/ 1107 w 1310"/>
                <a:gd name="T1" fmla="*/ 1311 h 1311"/>
                <a:gd name="T2" fmla="*/ 1310 w 1310"/>
                <a:gd name="T3" fmla="*/ 959 h 1311"/>
                <a:gd name="T4" fmla="*/ 1310 w 1310"/>
                <a:gd name="T5" fmla="*/ 554 h 1311"/>
                <a:gd name="T6" fmla="*/ 1107 w 1310"/>
                <a:gd name="T7" fmla="*/ 202 h 1311"/>
                <a:gd name="T8" fmla="*/ 756 w 1310"/>
                <a:gd name="T9" fmla="*/ 0 h 1311"/>
                <a:gd name="T10" fmla="*/ 350 w 1310"/>
                <a:gd name="T11" fmla="*/ 0 h 1311"/>
                <a:gd name="T12" fmla="*/ 0 w 1310"/>
                <a:gd name="T13" fmla="*/ 202 h 1311"/>
                <a:gd name="T14" fmla="*/ 1 w 1310"/>
                <a:gd name="T15" fmla="*/ 202 h 1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0" h="1311">
                  <a:moveTo>
                    <a:pt x="1107" y="1311"/>
                  </a:moveTo>
                  <a:lnTo>
                    <a:pt x="1310" y="959"/>
                  </a:lnTo>
                  <a:lnTo>
                    <a:pt x="1310" y="554"/>
                  </a:lnTo>
                  <a:lnTo>
                    <a:pt x="1107" y="202"/>
                  </a:lnTo>
                  <a:lnTo>
                    <a:pt x="756" y="0"/>
                  </a:lnTo>
                  <a:lnTo>
                    <a:pt x="350" y="0"/>
                  </a:lnTo>
                  <a:lnTo>
                    <a:pt x="0" y="202"/>
                  </a:lnTo>
                  <a:lnTo>
                    <a:pt x="1" y="20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0" name="Freeform 33"/>
            <p:cNvSpPr>
              <a:spLocks noChangeArrowheads="1"/>
            </p:cNvSpPr>
            <p:nvPr/>
          </p:nvSpPr>
          <p:spPr bwMode="auto">
            <a:xfrm>
              <a:off x="1425" y="1625"/>
              <a:ext cx="1" cy="192"/>
            </a:xfrm>
            <a:custGeom>
              <a:avLst/>
              <a:gdLst>
                <a:gd name="T0" fmla="*/ 0 w 1"/>
                <a:gd name="T1" fmla="*/ 1148 h 1148"/>
                <a:gd name="T2" fmla="*/ 0 w 1"/>
                <a:gd name="T3" fmla="*/ 0 h 1148"/>
                <a:gd name="T4" fmla="*/ 1 w 1"/>
                <a:gd name="T5" fmla="*/ 0 h 1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148">
                  <a:moveTo>
                    <a:pt x="0" y="114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1" name="Freeform 34"/>
            <p:cNvSpPr>
              <a:spLocks noChangeArrowheads="1"/>
            </p:cNvSpPr>
            <p:nvPr/>
          </p:nvSpPr>
          <p:spPr bwMode="auto">
            <a:xfrm>
              <a:off x="1483" y="1567"/>
              <a:ext cx="1" cy="281"/>
            </a:xfrm>
            <a:custGeom>
              <a:avLst/>
              <a:gdLst>
                <a:gd name="T0" fmla="*/ 0 w 1"/>
                <a:gd name="T1" fmla="*/ 1686 h 1686"/>
                <a:gd name="T2" fmla="*/ 0 w 1"/>
                <a:gd name="T3" fmla="*/ 0 h 1686"/>
                <a:gd name="T4" fmla="*/ 1 w 1"/>
                <a:gd name="T5" fmla="*/ 0 h 1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686">
                  <a:moveTo>
                    <a:pt x="0" y="168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2" name="Freeform 35"/>
            <p:cNvSpPr>
              <a:spLocks noChangeArrowheads="1"/>
            </p:cNvSpPr>
            <p:nvPr/>
          </p:nvSpPr>
          <p:spPr bwMode="auto">
            <a:xfrm>
              <a:off x="1541" y="1509"/>
              <a:ext cx="1" cy="340"/>
            </a:xfrm>
            <a:custGeom>
              <a:avLst/>
              <a:gdLst>
                <a:gd name="T0" fmla="*/ 0 w 1"/>
                <a:gd name="T1" fmla="*/ 2039 h 2039"/>
                <a:gd name="T2" fmla="*/ 0 w 1"/>
                <a:gd name="T3" fmla="*/ 0 h 2039"/>
                <a:gd name="T4" fmla="*/ 1 w 1"/>
                <a:gd name="T5" fmla="*/ 0 h 2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039">
                  <a:moveTo>
                    <a:pt x="0" y="203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3" name="Freeform 36"/>
            <p:cNvSpPr>
              <a:spLocks noChangeArrowheads="1"/>
            </p:cNvSpPr>
            <p:nvPr/>
          </p:nvSpPr>
          <p:spPr bwMode="auto">
            <a:xfrm>
              <a:off x="1599" y="1451"/>
              <a:ext cx="1" cy="369"/>
            </a:xfrm>
            <a:custGeom>
              <a:avLst/>
              <a:gdLst>
                <a:gd name="T0" fmla="*/ 0 w 1"/>
                <a:gd name="T1" fmla="*/ 2213 h 2213"/>
                <a:gd name="T2" fmla="*/ 0 w 1"/>
                <a:gd name="T3" fmla="*/ 0 h 2213"/>
                <a:gd name="T4" fmla="*/ 1 w 1"/>
                <a:gd name="T5" fmla="*/ 0 h 2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213">
                  <a:moveTo>
                    <a:pt x="0" y="221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4" name="Freeform 37"/>
            <p:cNvSpPr>
              <a:spLocks noChangeArrowheads="1"/>
            </p:cNvSpPr>
            <p:nvPr/>
          </p:nvSpPr>
          <p:spPr bwMode="auto">
            <a:xfrm>
              <a:off x="1657" y="1412"/>
              <a:ext cx="1" cy="351"/>
            </a:xfrm>
            <a:custGeom>
              <a:avLst/>
              <a:gdLst>
                <a:gd name="T0" fmla="*/ 0 w 2"/>
                <a:gd name="T1" fmla="*/ 2101 h 2101"/>
                <a:gd name="T2" fmla="*/ 0 w 2"/>
                <a:gd name="T3" fmla="*/ 0 h 2101"/>
                <a:gd name="T4" fmla="*/ 2 w 2"/>
                <a:gd name="T5" fmla="*/ 0 h 2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101">
                  <a:moveTo>
                    <a:pt x="0" y="2101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5" name="Freeform 38"/>
            <p:cNvSpPr>
              <a:spLocks noChangeArrowheads="1"/>
            </p:cNvSpPr>
            <p:nvPr/>
          </p:nvSpPr>
          <p:spPr bwMode="auto">
            <a:xfrm>
              <a:off x="1715" y="1407"/>
              <a:ext cx="1" cy="297"/>
            </a:xfrm>
            <a:custGeom>
              <a:avLst/>
              <a:gdLst>
                <a:gd name="T0" fmla="*/ 0 w 1"/>
                <a:gd name="T1" fmla="*/ 1786 h 1786"/>
                <a:gd name="T2" fmla="*/ 0 w 1"/>
                <a:gd name="T3" fmla="*/ 0 h 1786"/>
                <a:gd name="T4" fmla="*/ 1 w 1"/>
                <a:gd name="T5" fmla="*/ 0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786">
                  <a:moveTo>
                    <a:pt x="0" y="178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6" name="Freeform 39"/>
            <p:cNvSpPr>
              <a:spLocks noChangeArrowheads="1"/>
            </p:cNvSpPr>
            <p:nvPr/>
          </p:nvSpPr>
          <p:spPr bwMode="auto">
            <a:xfrm>
              <a:off x="1773" y="1429"/>
              <a:ext cx="1" cy="217"/>
            </a:xfrm>
            <a:custGeom>
              <a:avLst/>
              <a:gdLst>
                <a:gd name="T0" fmla="*/ 0 w 1"/>
                <a:gd name="T1" fmla="*/ 1303 h 1303"/>
                <a:gd name="T2" fmla="*/ 0 w 1"/>
                <a:gd name="T3" fmla="*/ 0 h 1303"/>
                <a:gd name="T4" fmla="*/ 1 w 1"/>
                <a:gd name="T5" fmla="*/ 0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03">
                  <a:moveTo>
                    <a:pt x="0" y="130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7" name="Freeform 40"/>
            <p:cNvSpPr>
              <a:spLocks noChangeArrowheads="1"/>
            </p:cNvSpPr>
            <p:nvPr/>
          </p:nvSpPr>
          <p:spPr bwMode="auto">
            <a:xfrm>
              <a:off x="1607" y="1629"/>
              <a:ext cx="185" cy="185"/>
            </a:xfrm>
            <a:custGeom>
              <a:avLst/>
              <a:gdLst>
                <a:gd name="T0" fmla="*/ 0 w 1108"/>
                <a:gd name="T1" fmla="*/ 1108 h 1108"/>
                <a:gd name="T2" fmla="*/ 1107 w 1108"/>
                <a:gd name="T3" fmla="*/ 0 h 1108"/>
                <a:gd name="T4" fmla="*/ 1108 w 1108"/>
                <a:gd name="T5" fmla="*/ 0 h 1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8" h="1108">
                  <a:moveTo>
                    <a:pt x="0" y="1108"/>
                  </a:moveTo>
                  <a:lnTo>
                    <a:pt x="1107" y="0"/>
                  </a:lnTo>
                  <a:lnTo>
                    <a:pt x="110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8" name="Freeform 41"/>
            <p:cNvSpPr>
              <a:spLocks noChangeArrowheads="1"/>
            </p:cNvSpPr>
            <p:nvPr/>
          </p:nvSpPr>
          <p:spPr bwMode="auto">
            <a:xfrm>
              <a:off x="1590" y="1409"/>
              <a:ext cx="237" cy="237"/>
            </a:xfrm>
            <a:custGeom>
              <a:avLst/>
              <a:gdLst>
                <a:gd name="T0" fmla="*/ 0 w 1425"/>
                <a:gd name="T1" fmla="*/ 1425 h 1425"/>
                <a:gd name="T2" fmla="*/ 1424 w 1425"/>
                <a:gd name="T3" fmla="*/ 0 h 1425"/>
                <a:gd name="T4" fmla="*/ 1425 w 1425"/>
                <a:gd name="T5" fmla="*/ 0 h 1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25" h="1425">
                  <a:moveTo>
                    <a:pt x="0" y="1425"/>
                  </a:moveTo>
                  <a:lnTo>
                    <a:pt x="1424" y="0"/>
                  </a:lnTo>
                  <a:lnTo>
                    <a:pt x="142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9" name="Freeform 42"/>
            <p:cNvSpPr>
              <a:spLocks noChangeArrowheads="1"/>
            </p:cNvSpPr>
            <p:nvPr/>
          </p:nvSpPr>
          <p:spPr bwMode="auto">
            <a:xfrm>
              <a:off x="1581" y="1403"/>
              <a:ext cx="241" cy="240"/>
            </a:xfrm>
            <a:custGeom>
              <a:avLst/>
              <a:gdLst>
                <a:gd name="T0" fmla="*/ 0 w 1441"/>
                <a:gd name="T1" fmla="*/ 0 h 1440"/>
                <a:gd name="T2" fmla="*/ 1440 w 1441"/>
                <a:gd name="T3" fmla="*/ 1440 h 1440"/>
                <a:gd name="T4" fmla="*/ 1441 w 1441"/>
                <a:gd name="T5" fmla="*/ 144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41" h="1440">
                  <a:moveTo>
                    <a:pt x="0" y="0"/>
                  </a:moveTo>
                  <a:lnTo>
                    <a:pt x="1440" y="1440"/>
                  </a:lnTo>
                  <a:lnTo>
                    <a:pt x="1441" y="144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0" name="Freeform 43"/>
            <p:cNvSpPr>
              <a:spLocks noChangeArrowheads="1"/>
            </p:cNvSpPr>
            <p:nvPr/>
          </p:nvSpPr>
          <p:spPr bwMode="auto">
            <a:xfrm>
              <a:off x="1422" y="1444"/>
              <a:ext cx="185" cy="185"/>
            </a:xfrm>
            <a:custGeom>
              <a:avLst/>
              <a:gdLst>
                <a:gd name="T0" fmla="*/ 0 w 1109"/>
                <a:gd name="T1" fmla="*/ 1109 h 1109"/>
                <a:gd name="T2" fmla="*/ 1108 w 1109"/>
                <a:gd name="T3" fmla="*/ 0 h 1109"/>
                <a:gd name="T4" fmla="*/ 1109 w 1109"/>
                <a:gd name="T5" fmla="*/ 0 h 1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9" h="1109">
                  <a:moveTo>
                    <a:pt x="0" y="1109"/>
                  </a:moveTo>
                  <a:lnTo>
                    <a:pt x="1108" y="0"/>
                  </a:lnTo>
                  <a:lnTo>
                    <a:pt x="110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1" name="Freeform 44"/>
            <p:cNvSpPr>
              <a:spLocks noChangeArrowheads="1"/>
            </p:cNvSpPr>
            <p:nvPr/>
          </p:nvSpPr>
          <p:spPr bwMode="auto">
            <a:xfrm>
              <a:off x="1567" y="1660"/>
              <a:ext cx="9" cy="9"/>
            </a:xfrm>
            <a:custGeom>
              <a:avLst/>
              <a:gdLst>
                <a:gd name="T0" fmla="*/ 0 w 55"/>
                <a:gd name="T1" fmla="*/ 55 h 55"/>
                <a:gd name="T2" fmla="*/ 54 w 55"/>
                <a:gd name="T3" fmla="*/ 0 h 55"/>
                <a:gd name="T4" fmla="*/ 55 w 55"/>
                <a:gd name="T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" h="55">
                  <a:moveTo>
                    <a:pt x="0" y="55"/>
                  </a:moveTo>
                  <a:lnTo>
                    <a:pt x="54" y="0"/>
                  </a:lnTo>
                  <a:lnTo>
                    <a:pt x="5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312" name="Group 45"/>
          <p:cNvGrpSpPr>
            <a:grpSpLocks/>
          </p:cNvGrpSpPr>
          <p:nvPr/>
        </p:nvGrpSpPr>
        <p:grpSpPr bwMode="auto">
          <a:xfrm>
            <a:off x="6454775" y="1865314"/>
            <a:ext cx="1233488" cy="960437"/>
            <a:chOff x="2450" y="1268"/>
            <a:chExt cx="777" cy="605"/>
          </a:xfrm>
        </p:grpSpPr>
        <p:sp>
          <p:nvSpPr>
            <p:cNvPr id="313" name="Freeform 46"/>
            <p:cNvSpPr>
              <a:spLocks noChangeArrowheads="1"/>
            </p:cNvSpPr>
            <p:nvPr/>
          </p:nvSpPr>
          <p:spPr bwMode="auto">
            <a:xfrm>
              <a:off x="2465" y="1340"/>
              <a:ext cx="77" cy="77"/>
            </a:xfrm>
            <a:custGeom>
              <a:avLst/>
              <a:gdLst>
                <a:gd name="T0" fmla="*/ 0 w 463"/>
                <a:gd name="T1" fmla="*/ 463 h 463"/>
                <a:gd name="T2" fmla="*/ 462 w 463"/>
                <a:gd name="T3" fmla="*/ 0 h 463"/>
                <a:gd name="T4" fmla="*/ 463 w 463"/>
                <a:gd name="T5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3" h="463">
                  <a:moveTo>
                    <a:pt x="0" y="463"/>
                  </a:moveTo>
                  <a:lnTo>
                    <a:pt x="462" y="0"/>
                  </a:lnTo>
                  <a:lnTo>
                    <a:pt x="463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4" name="Freeform 47"/>
            <p:cNvSpPr>
              <a:spLocks noChangeArrowheads="1"/>
            </p:cNvSpPr>
            <p:nvPr/>
          </p:nvSpPr>
          <p:spPr bwMode="auto">
            <a:xfrm>
              <a:off x="2485" y="1358"/>
              <a:ext cx="114" cy="113"/>
            </a:xfrm>
            <a:custGeom>
              <a:avLst/>
              <a:gdLst>
                <a:gd name="T0" fmla="*/ 0 w 682"/>
                <a:gd name="T1" fmla="*/ 682 h 682"/>
                <a:gd name="T2" fmla="*/ 681 w 682"/>
                <a:gd name="T3" fmla="*/ 0 h 682"/>
                <a:gd name="T4" fmla="*/ 682 w 682"/>
                <a:gd name="T5" fmla="*/ 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2" h="682">
                  <a:moveTo>
                    <a:pt x="0" y="682"/>
                  </a:moveTo>
                  <a:lnTo>
                    <a:pt x="681" y="0"/>
                  </a:lnTo>
                  <a:lnTo>
                    <a:pt x="68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5" name="Freeform 48"/>
            <p:cNvSpPr>
              <a:spLocks noChangeArrowheads="1"/>
            </p:cNvSpPr>
            <p:nvPr/>
          </p:nvSpPr>
          <p:spPr bwMode="auto">
            <a:xfrm>
              <a:off x="2505" y="1412"/>
              <a:ext cx="113" cy="114"/>
            </a:xfrm>
            <a:custGeom>
              <a:avLst/>
              <a:gdLst>
                <a:gd name="T0" fmla="*/ 0 w 684"/>
                <a:gd name="T1" fmla="*/ 682 h 682"/>
                <a:gd name="T2" fmla="*/ 683 w 684"/>
                <a:gd name="T3" fmla="*/ 0 h 682"/>
                <a:gd name="T4" fmla="*/ 684 w 684"/>
                <a:gd name="T5" fmla="*/ 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4" h="682">
                  <a:moveTo>
                    <a:pt x="0" y="682"/>
                  </a:moveTo>
                  <a:lnTo>
                    <a:pt x="683" y="0"/>
                  </a:lnTo>
                  <a:lnTo>
                    <a:pt x="68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6" name="Freeform 49"/>
            <p:cNvSpPr>
              <a:spLocks noChangeArrowheads="1"/>
            </p:cNvSpPr>
            <p:nvPr/>
          </p:nvSpPr>
          <p:spPr bwMode="auto">
            <a:xfrm>
              <a:off x="2524" y="1466"/>
              <a:ext cx="114" cy="114"/>
            </a:xfrm>
            <a:custGeom>
              <a:avLst/>
              <a:gdLst>
                <a:gd name="T0" fmla="*/ 0 w 682"/>
                <a:gd name="T1" fmla="*/ 681 h 681"/>
                <a:gd name="T2" fmla="*/ 681 w 682"/>
                <a:gd name="T3" fmla="*/ 0 h 681"/>
                <a:gd name="T4" fmla="*/ 682 w 682"/>
                <a:gd name="T5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2" h="681">
                  <a:moveTo>
                    <a:pt x="0" y="681"/>
                  </a:moveTo>
                  <a:lnTo>
                    <a:pt x="681" y="0"/>
                  </a:lnTo>
                  <a:lnTo>
                    <a:pt x="68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7" name="Freeform 50"/>
            <p:cNvSpPr>
              <a:spLocks noChangeArrowheads="1"/>
            </p:cNvSpPr>
            <p:nvPr/>
          </p:nvSpPr>
          <p:spPr bwMode="auto">
            <a:xfrm>
              <a:off x="2544" y="1520"/>
              <a:ext cx="114" cy="114"/>
            </a:xfrm>
            <a:custGeom>
              <a:avLst/>
              <a:gdLst>
                <a:gd name="T0" fmla="*/ 0 w 683"/>
                <a:gd name="T1" fmla="*/ 682 h 682"/>
                <a:gd name="T2" fmla="*/ 681 w 683"/>
                <a:gd name="T3" fmla="*/ 0 h 682"/>
                <a:gd name="T4" fmla="*/ 683 w 683"/>
                <a:gd name="T5" fmla="*/ 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3" h="682">
                  <a:moveTo>
                    <a:pt x="0" y="682"/>
                  </a:moveTo>
                  <a:lnTo>
                    <a:pt x="681" y="0"/>
                  </a:lnTo>
                  <a:lnTo>
                    <a:pt x="683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8" name="Freeform 51"/>
            <p:cNvSpPr>
              <a:spLocks noChangeArrowheads="1"/>
            </p:cNvSpPr>
            <p:nvPr/>
          </p:nvSpPr>
          <p:spPr bwMode="auto">
            <a:xfrm>
              <a:off x="2564" y="1574"/>
              <a:ext cx="113" cy="114"/>
            </a:xfrm>
            <a:custGeom>
              <a:avLst/>
              <a:gdLst>
                <a:gd name="T0" fmla="*/ 0 w 682"/>
                <a:gd name="T1" fmla="*/ 682 h 682"/>
                <a:gd name="T2" fmla="*/ 681 w 682"/>
                <a:gd name="T3" fmla="*/ 0 h 682"/>
                <a:gd name="T4" fmla="*/ 682 w 682"/>
                <a:gd name="T5" fmla="*/ 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2" h="682">
                  <a:moveTo>
                    <a:pt x="0" y="682"/>
                  </a:moveTo>
                  <a:lnTo>
                    <a:pt x="681" y="0"/>
                  </a:lnTo>
                  <a:lnTo>
                    <a:pt x="68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9" name="Freeform 52"/>
            <p:cNvSpPr>
              <a:spLocks noChangeArrowheads="1"/>
            </p:cNvSpPr>
            <p:nvPr/>
          </p:nvSpPr>
          <p:spPr bwMode="auto">
            <a:xfrm>
              <a:off x="2583" y="1629"/>
              <a:ext cx="114" cy="113"/>
            </a:xfrm>
            <a:custGeom>
              <a:avLst/>
              <a:gdLst>
                <a:gd name="T0" fmla="*/ 0 w 683"/>
                <a:gd name="T1" fmla="*/ 682 h 682"/>
                <a:gd name="T2" fmla="*/ 682 w 683"/>
                <a:gd name="T3" fmla="*/ 0 h 682"/>
                <a:gd name="T4" fmla="*/ 683 w 683"/>
                <a:gd name="T5" fmla="*/ 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3" h="682">
                  <a:moveTo>
                    <a:pt x="0" y="682"/>
                  </a:moveTo>
                  <a:lnTo>
                    <a:pt x="682" y="0"/>
                  </a:lnTo>
                  <a:lnTo>
                    <a:pt x="683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0" name="Freeform 53"/>
            <p:cNvSpPr>
              <a:spLocks noChangeArrowheads="1"/>
            </p:cNvSpPr>
            <p:nvPr/>
          </p:nvSpPr>
          <p:spPr bwMode="auto">
            <a:xfrm>
              <a:off x="2603" y="1683"/>
              <a:ext cx="114" cy="113"/>
            </a:xfrm>
            <a:custGeom>
              <a:avLst/>
              <a:gdLst>
                <a:gd name="T0" fmla="*/ 0 w 683"/>
                <a:gd name="T1" fmla="*/ 682 h 682"/>
                <a:gd name="T2" fmla="*/ 682 w 683"/>
                <a:gd name="T3" fmla="*/ 0 h 682"/>
                <a:gd name="T4" fmla="*/ 683 w 683"/>
                <a:gd name="T5" fmla="*/ 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3" h="682">
                  <a:moveTo>
                    <a:pt x="0" y="682"/>
                  </a:moveTo>
                  <a:lnTo>
                    <a:pt x="682" y="0"/>
                  </a:lnTo>
                  <a:lnTo>
                    <a:pt x="683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1" name="Freeform 54"/>
            <p:cNvSpPr>
              <a:spLocks noChangeArrowheads="1"/>
            </p:cNvSpPr>
            <p:nvPr/>
          </p:nvSpPr>
          <p:spPr bwMode="auto">
            <a:xfrm>
              <a:off x="2680" y="1737"/>
              <a:ext cx="57" cy="56"/>
            </a:xfrm>
            <a:custGeom>
              <a:avLst/>
              <a:gdLst>
                <a:gd name="T0" fmla="*/ 0 w 336"/>
                <a:gd name="T1" fmla="*/ 336 h 336"/>
                <a:gd name="T2" fmla="*/ 335 w 336"/>
                <a:gd name="T3" fmla="*/ 0 h 336"/>
                <a:gd name="T4" fmla="*/ 336 w 336"/>
                <a:gd name="T5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6" h="336">
                  <a:moveTo>
                    <a:pt x="0" y="336"/>
                  </a:moveTo>
                  <a:lnTo>
                    <a:pt x="335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2" name="Freeform 55"/>
            <p:cNvSpPr>
              <a:spLocks noChangeArrowheads="1"/>
            </p:cNvSpPr>
            <p:nvPr/>
          </p:nvSpPr>
          <p:spPr bwMode="auto">
            <a:xfrm>
              <a:off x="3057" y="1339"/>
              <a:ext cx="77" cy="77"/>
            </a:xfrm>
            <a:custGeom>
              <a:avLst/>
              <a:gdLst>
                <a:gd name="T0" fmla="*/ 0 w 459"/>
                <a:gd name="T1" fmla="*/ 457 h 457"/>
                <a:gd name="T2" fmla="*/ 457 w 459"/>
                <a:gd name="T3" fmla="*/ 0 h 457"/>
                <a:gd name="T4" fmla="*/ 459 w 459"/>
                <a:gd name="T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9" h="457">
                  <a:moveTo>
                    <a:pt x="0" y="457"/>
                  </a:moveTo>
                  <a:lnTo>
                    <a:pt x="457" y="0"/>
                  </a:lnTo>
                  <a:lnTo>
                    <a:pt x="45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3" name="Freeform 56"/>
            <p:cNvSpPr>
              <a:spLocks noChangeArrowheads="1"/>
            </p:cNvSpPr>
            <p:nvPr/>
          </p:nvSpPr>
          <p:spPr bwMode="auto">
            <a:xfrm>
              <a:off x="3015" y="1359"/>
              <a:ext cx="173" cy="173"/>
            </a:xfrm>
            <a:custGeom>
              <a:avLst/>
              <a:gdLst>
                <a:gd name="T0" fmla="*/ 0 w 1036"/>
                <a:gd name="T1" fmla="*/ 1037 h 1037"/>
                <a:gd name="T2" fmla="*/ 1035 w 1036"/>
                <a:gd name="T3" fmla="*/ 0 h 1037"/>
                <a:gd name="T4" fmla="*/ 1036 w 1036"/>
                <a:gd name="T5" fmla="*/ 0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6" h="1037">
                  <a:moveTo>
                    <a:pt x="0" y="1037"/>
                  </a:moveTo>
                  <a:lnTo>
                    <a:pt x="1035" y="0"/>
                  </a:lnTo>
                  <a:lnTo>
                    <a:pt x="103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4" name="Freeform 57"/>
            <p:cNvSpPr>
              <a:spLocks noChangeArrowheads="1"/>
            </p:cNvSpPr>
            <p:nvPr/>
          </p:nvSpPr>
          <p:spPr bwMode="auto">
            <a:xfrm>
              <a:off x="2973" y="1404"/>
              <a:ext cx="243" cy="244"/>
            </a:xfrm>
            <a:custGeom>
              <a:avLst/>
              <a:gdLst>
                <a:gd name="T0" fmla="*/ 0 w 1461"/>
                <a:gd name="T1" fmla="*/ 1462 h 1462"/>
                <a:gd name="T2" fmla="*/ 1460 w 1461"/>
                <a:gd name="T3" fmla="*/ 0 h 1462"/>
                <a:gd name="T4" fmla="*/ 1461 w 1461"/>
                <a:gd name="T5" fmla="*/ 0 h 1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1" h="1462">
                  <a:moveTo>
                    <a:pt x="0" y="1462"/>
                  </a:moveTo>
                  <a:lnTo>
                    <a:pt x="1460" y="0"/>
                  </a:lnTo>
                  <a:lnTo>
                    <a:pt x="146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5" name="Freeform 58"/>
            <p:cNvSpPr>
              <a:spLocks noChangeArrowheads="1"/>
            </p:cNvSpPr>
            <p:nvPr/>
          </p:nvSpPr>
          <p:spPr bwMode="auto">
            <a:xfrm>
              <a:off x="2931" y="1521"/>
              <a:ext cx="243" cy="243"/>
            </a:xfrm>
            <a:custGeom>
              <a:avLst/>
              <a:gdLst>
                <a:gd name="T0" fmla="*/ 0 w 1463"/>
                <a:gd name="T1" fmla="*/ 1464 h 1464"/>
                <a:gd name="T2" fmla="*/ 1462 w 1463"/>
                <a:gd name="T3" fmla="*/ 0 h 1464"/>
                <a:gd name="T4" fmla="*/ 1463 w 1463"/>
                <a:gd name="T5" fmla="*/ 0 h 1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3" h="1464">
                  <a:moveTo>
                    <a:pt x="0" y="1464"/>
                  </a:moveTo>
                  <a:lnTo>
                    <a:pt x="1462" y="0"/>
                  </a:lnTo>
                  <a:lnTo>
                    <a:pt x="1463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6" name="Freeform 59"/>
            <p:cNvSpPr>
              <a:spLocks noChangeArrowheads="1"/>
            </p:cNvSpPr>
            <p:nvPr/>
          </p:nvSpPr>
          <p:spPr bwMode="auto">
            <a:xfrm>
              <a:off x="2981" y="1637"/>
              <a:ext cx="151" cy="150"/>
            </a:xfrm>
            <a:custGeom>
              <a:avLst/>
              <a:gdLst>
                <a:gd name="T0" fmla="*/ 0 w 905"/>
                <a:gd name="T1" fmla="*/ 903 h 903"/>
                <a:gd name="T2" fmla="*/ 904 w 905"/>
                <a:gd name="T3" fmla="*/ 0 h 903"/>
                <a:gd name="T4" fmla="*/ 905 w 905"/>
                <a:gd name="T5" fmla="*/ 0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5" h="903">
                  <a:moveTo>
                    <a:pt x="0" y="903"/>
                  </a:moveTo>
                  <a:lnTo>
                    <a:pt x="904" y="0"/>
                  </a:lnTo>
                  <a:lnTo>
                    <a:pt x="90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7" name="Freeform 60"/>
            <p:cNvSpPr>
              <a:spLocks noChangeArrowheads="1"/>
            </p:cNvSpPr>
            <p:nvPr/>
          </p:nvSpPr>
          <p:spPr bwMode="auto">
            <a:xfrm>
              <a:off x="3035" y="1753"/>
              <a:ext cx="55" cy="54"/>
            </a:xfrm>
            <a:custGeom>
              <a:avLst/>
              <a:gdLst>
                <a:gd name="T0" fmla="*/ 0 w 325"/>
                <a:gd name="T1" fmla="*/ 325 h 325"/>
                <a:gd name="T2" fmla="*/ 324 w 325"/>
                <a:gd name="T3" fmla="*/ 0 h 325"/>
                <a:gd name="T4" fmla="*/ 325 w 325"/>
                <a:gd name="T5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5" h="325">
                  <a:moveTo>
                    <a:pt x="0" y="325"/>
                  </a:moveTo>
                  <a:lnTo>
                    <a:pt x="324" y="0"/>
                  </a:lnTo>
                  <a:lnTo>
                    <a:pt x="32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8" name="Freeform 61"/>
            <p:cNvSpPr>
              <a:spLocks noChangeArrowheads="1"/>
            </p:cNvSpPr>
            <p:nvPr/>
          </p:nvSpPr>
          <p:spPr bwMode="auto">
            <a:xfrm>
              <a:off x="2586" y="1324"/>
              <a:ext cx="505" cy="1"/>
            </a:xfrm>
            <a:custGeom>
              <a:avLst/>
              <a:gdLst>
                <a:gd name="T0" fmla="*/ 0 w 3029"/>
                <a:gd name="T1" fmla="*/ 0 h 1"/>
                <a:gd name="T2" fmla="*/ 3027 w 3029"/>
                <a:gd name="T3" fmla="*/ 0 h 1"/>
                <a:gd name="T4" fmla="*/ 3029 w 302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29" h="1">
                  <a:moveTo>
                    <a:pt x="0" y="0"/>
                  </a:moveTo>
                  <a:lnTo>
                    <a:pt x="3027" y="0"/>
                  </a:lnTo>
                  <a:lnTo>
                    <a:pt x="302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9" name="Freeform 62"/>
            <p:cNvSpPr>
              <a:spLocks noChangeArrowheads="1"/>
            </p:cNvSpPr>
            <p:nvPr/>
          </p:nvSpPr>
          <p:spPr bwMode="auto">
            <a:xfrm>
              <a:off x="2450" y="1324"/>
              <a:ext cx="298" cy="494"/>
            </a:xfrm>
            <a:custGeom>
              <a:avLst/>
              <a:gdLst>
                <a:gd name="T0" fmla="*/ 969 w 1790"/>
                <a:gd name="T1" fmla="*/ 2965 h 2965"/>
                <a:gd name="T2" fmla="*/ 1790 w 1790"/>
                <a:gd name="T3" fmla="*/ 2667 h 2965"/>
                <a:gd name="T4" fmla="*/ 820 w 1790"/>
                <a:gd name="T5" fmla="*/ 0 h 2965"/>
                <a:gd name="T6" fmla="*/ 0 w 1790"/>
                <a:gd name="T7" fmla="*/ 299 h 2965"/>
                <a:gd name="T8" fmla="*/ 969 w 1790"/>
                <a:gd name="T9" fmla="*/ 2965 h 2965"/>
                <a:gd name="T10" fmla="*/ 971 w 1790"/>
                <a:gd name="T11" fmla="*/ 2965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90" h="2965">
                  <a:moveTo>
                    <a:pt x="969" y="2965"/>
                  </a:moveTo>
                  <a:lnTo>
                    <a:pt x="1790" y="2667"/>
                  </a:lnTo>
                  <a:lnTo>
                    <a:pt x="820" y="0"/>
                  </a:lnTo>
                  <a:lnTo>
                    <a:pt x="0" y="299"/>
                  </a:lnTo>
                  <a:lnTo>
                    <a:pt x="969" y="2965"/>
                  </a:lnTo>
                  <a:lnTo>
                    <a:pt x="971" y="296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0" name="Freeform 63"/>
            <p:cNvSpPr>
              <a:spLocks noChangeArrowheads="1"/>
            </p:cNvSpPr>
            <p:nvPr/>
          </p:nvSpPr>
          <p:spPr bwMode="auto">
            <a:xfrm>
              <a:off x="2929" y="1324"/>
              <a:ext cx="298" cy="494"/>
            </a:xfrm>
            <a:custGeom>
              <a:avLst/>
              <a:gdLst>
                <a:gd name="T0" fmla="*/ 821 w 1790"/>
                <a:gd name="T1" fmla="*/ 2965 h 2965"/>
                <a:gd name="T2" fmla="*/ 0 w 1790"/>
                <a:gd name="T3" fmla="*/ 2667 h 2965"/>
                <a:gd name="T4" fmla="*/ 970 w 1790"/>
                <a:gd name="T5" fmla="*/ 0 h 2965"/>
                <a:gd name="T6" fmla="*/ 1790 w 1790"/>
                <a:gd name="T7" fmla="*/ 299 h 2965"/>
                <a:gd name="T8" fmla="*/ 821 w 1790"/>
                <a:gd name="T9" fmla="*/ 2965 h 2965"/>
                <a:gd name="T10" fmla="*/ 822 w 1790"/>
                <a:gd name="T11" fmla="*/ 2965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90" h="2965">
                  <a:moveTo>
                    <a:pt x="821" y="2965"/>
                  </a:moveTo>
                  <a:lnTo>
                    <a:pt x="0" y="2667"/>
                  </a:lnTo>
                  <a:lnTo>
                    <a:pt x="970" y="0"/>
                  </a:lnTo>
                  <a:lnTo>
                    <a:pt x="1790" y="299"/>
                  </a:lnTo>
                  <a:lnTo>
                    <a:pt x="821" y="2965"/>
                  </a:lnTo>
                  <a:lnTo>
                    <a:pt x="822" y="296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1" name="Freeform 64"/>
            <p:cNvSpPr>
              <a:spLocks noChangeArrowheads="1"/>
            </p:cNvSpPr>
            <p:nvPr/>
          </p:nvSpPr>
          <p:spPr bwMode="auto">
            <a:xfrm>
              <a:off x="2838" y="1268"/>
              <a:ext cx="1" cy="268"/>
            </a:xfrm>
            <a:custGeom>
              <a:avLst/>
              <a:gdLst>
                <a:gd name="T0" fmla="*/ 0 w 1"/>
                <a:gd name="T1" fmla="*/ 0 h 1610"/>
                <a:gd name="T2" fmla="*/ 0 w 1"/>
                <a:gd name="T3" fmla="*/ 1610 h 1610"/>
                <a:gd name="T4" fmla="*/ 1 w 1"/>
                <a:gd name="T5" fmla="*/ 1610 h 1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610">
                  <a:moveTo>
                    <a:pt x="0" y="0"/>
                  </a:moveTo>
                  <a:lnTo>
                    <a:pt x="0" y="1610"/>
                  </a:lnTo>
                  <a:lnTo>
                    <a:pt x="1" y="161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2" name="Freeform 65"/>
            <p:cNvSpPr>
              <a:spLocks noChangeArrowheads="1"/>
            </p:cNvSpPr>
            <p:nvPr/>
          </p:nvSpPr>
          <p:spPr bwMode="auto">
            <a:xfrm>
              <a:off x="2838" y="1602"/>
              <a:ext cx="1" cy="271"/>
            </a:xfrm>
            <a:custGeom>
              <a:avLst/>
              <a:gdLst>
                <a:gd name="T0" fmla="*/ 0 w 1"/>
                <a:gd name="T1" fmla="*/ 0 h 1624"/>
                <a:gd name="T2" fmla="*/ 0 w 1"/>
                <a:gd name="T3" fmla="*/ 1624 h 1624"/>
                <a:gd name="T4" fmla="*/ 1 w 1"/>
                <a:gd name="T5" fmla="*/ 1624 h 1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624">
                  <a:moveTo>
                    <a:pt x="0" y="0"/>
                  </a:moveTo>
                  <a:lnTo>
                    <a:pt x="0" y="1624"/>
                  </a:lnTo>
                  <a:lnTo>
                    <a:pt x="1" y="162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3" name="Freeform 66"/>
            <p:cNvSpPr>
              <a:spLocks noChangeArrowheads="1"/>
            </p:cNvSpPr>
            <p:nvPr/>
          </p:nvSpPr>
          <p:spPr bwMode="auto">
            <a:xfrm>
              <a:off x="2611" y="1818"/>
              <a:ext cx="455" cy="1"/>
            </a:xfrm>
            <a:custGeom>
              <a:avLst/>
              <a:gdLst>
                <a:gd name="T0" fmla="*/ 0 w 2730"/>
                <a:gd name="T1" fmla="*/ 0 h 1"/>
                <a:gd name="T2" fmla="*/ 2729 w 2730"/>
                <a:gd name="T3" fmla="*/ 0 h 1"/>
                <a:gd name="T4" fmla="*/ 2730 w 273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30" h="1">
                  <a:moveTo>
                    <a:pt x="0" y="0"/>
                  </a:moveTo>
                  <a:lnTo>
                    <a:pt x="2729" y="0"/>
                  </a:lnTo>
                  <a:lnTo>
                    <a:pt x="273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4" name="Freeform 67"/>
            <p:cNvSpPr>
              <a:spLocks noChangeArrowheads="1"/>
            </p:cNvSpPr>
            <p:nvPr/>
          </p:nvSpPr>
          <p:spPr bwMode="auto">
            <a:xfrm>
              <a:off x="2748" y="1768"/>
              <a:ext cx="181" cy="1"/>
            </a:xfrm>
            <a:custGeom>
              <a:avLst/>
              <a:gdLst>
                <a:gd name="T0" fmla="*/ 0 w 1088"/>
                <a:gd name="T1" fmla="*/ 0 h 1"/>
                <a:gd name="T2" fmla="*/ 1087 w 1088"/>
                <a:gd name="T3" fmla="*/ 0 h 1"/>
                <a:gd name="T4" fmla="*/ 1088 w 108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8" h="1">
                  <a:moveTo>
                    <a:pt x="0" y="0"/>
                  </a:moveTo>
                  <a:lnTo>
                    <a:pt x="1087" y="0"/>
                  </a:lnTo>
                  <a:lnTo>
                    <a:pt x="1088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5" name="Freeform 68"/>
            <p:cNvSpPr>
              <a:spLocks noChangeArrowheads="1"/>
            </p:cNvSpPr>
            <p:nvPr/>
          </p:nvSpPr>
          <p:spPr bwMode="auto">
            <a:xfrm>
              <a:off x="2838" y="1566"/>
              <a:ext cx="1" cy="11"/>
            </a:xfrm>
            <a:custGeom>
              <a:avLst/>
              <a:gdLst>
                <a:gd name="T0" fmla="*/ 0 w 1"/>
                <a:gd name="T1" fmla="*/ 0 h 61"/>
                <a:gd name="T2" fmla="*/ 0 w 1"/>
                <a:gd name="T3" fmla="*/ 61 h 61"/>
                <a:gd name="T4" fmla="*/ 1 w 1"/>
                <a:gd name="T5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1">
                  <a:moveTo>
                    <a:pt x="0" y="0"/>
                  </a:moveTo>
                  <a:lnTo>
                    <a:pt x="0" y="61"/>
                  </a:lnTo>
                  <a:lnTo>
                    <a:pt x="1" y="6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336" name="Group 69"/>
          <p:cNvGrpSpPr>
            <a:grpSpLocks/>
          </p:cNvGrpSpPr>
          <p:nvPr/>
        </p:nvGrpSpPr>
        <p:grpSpPr bwMode="auto">
          <a:xfrm>
            <a:off x="7935913" y="2005013"/>
            <a:ext cx="773112" cy="773112"/>
            <a:chOff x="3206" y="1409"/>
            <a:chExt cx="487" cy="487"/>
          </a:xfrm>
        </p:grpSpPr>
        <p:sp>
          <p:nvSpPr>
            <p:cNvPr id="337" name="Freeform 70"/>
            <p:cNvSpPr>
              <a:spLocks noChangeArrowheads="1"/>
            </p:cNvSpPr>
            <p:nvPr/>
          </p:nvSpPr>
          <p:spPr bwMode="auto">
            <a:xfrm>
              <a:off x="3473" y="1410"/>
              <a:ext cx="219" cy="219"/>
            </a:xfrm>
            <a:custGeom>
              <a:avLst/>
              <a:gdLst>
                <a:gd name="T0" fmla="*/ 1106 w 1310"/>
                <a:gd name="T1" fmla="*/ 1312 h 1312"/>
                <a:gd name="T2" fmla="*/ 1310 w 1310"/>
                <a:gd name="T3" fmla="*/ 961 h 1312"/>
                <a:gd name="T4" fmla="*/ 1310 w 1310"/>
                <a:gd name="T5" fmla="*/ 556 h 1312"/>
                <a:gd name="T6" fmla="*/ 1106 w 1310"/>
                <a:gd name="T7" fmla="*/ 204 h 1312"/>
                <a:gd name="T8" fmla="*/ 756 w 1310"/>
                <a:gd name="T9" fmla="*/ 0 h 1312"/>
                <a:gd name="T10" fmla="*/ 350 w 1310"/>
                <a:gd name="T11" fmla="*/ 0 h 1312"/>
                <a:gd name="T12" fmla="*/ 0 w 1310"/>
                <a:gd name="T13" fmla="*/ 204 h 1312"/>
                <a:gd name="T14" fmla="*/ 1 w 1310"/>
                <a:gd name="T15" fmla="*/ 204 h 1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0" h="1312">
                  <a:moveTo>
                    <a:pt x="1106" y="1312"/>
                  </a:moveTo>
                  <a:lnTo>
                    <a:pt x="1310" y="961"/>
                  </a:lnTo>
                  <a:lnTo>
                    <a:pt x="1310" y="556"/>
                  </a:lnTo>
                  <a:lnTo>
                    <a:pt x="1106" y="204"/>
                  </a:lnTo>
                  <a:lnTo>
                    <a:pt x="756" y="0"/>
                  </a:lnTo>
                  <a:lnTo>
                    <a:pt x="350" y="0"/>
                  </a:lnTo>
                  <a:lnTo>
                    <a:pt x="0" y="204"/>
                  </a:lnTo>
                  <a:lnTo>
                    <a:pt x="1" y="20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8" name="Freeform 71"/>
            <p:cNvSpPr>
              <a:spLocks noChangeArrowheads="1"/>
            </p:cNvSpPr>
            <p:nvPr/>
          </p:nvSpPr>
          <p:spPr bwMode="auto">
            <a:xfrm>
              <a:off x="3206" y="1656"/>
              <a:ext cx="240" cy="240"/>
            </a:xfrm>
            <a:custGeom>
              <a:avLst/>
              <a:gdLst>
                <a:gd name="T0" fmla="*/ 1436 w 1436"/>
                <a:gd name="T1" fmla="*/ 0 h 1436"/>
                <a:gd name="T2" fmla="*/ 0 w 1436"/>
                <a:gd name="T3" fmla="*/ 1436 h 1436"/>
                <a:gd name="T4" fmla="*/ 2 w 1436"/>
                <a:gd name="T5" fmla="*/ 1436 h 1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36" h="1436">
                  <a:moveTo>
                    <a:pt x="1436" y="0"/>
                  </a:moveTo>
                  <a:lnTo>
                    <a:pt x="0" y="1436"/>
                  </a:lnTo>
                  <a:lnTo>
                    <a:pt x="2" y="14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9" name="Freeform 72"/>
            <p:cNvSpPr>
              <a:spLocks noChangeArrowheads="1"/>
            </p:cNvSpPr>
            <p:nvPr/>
          </p:nvSpPr>
          <p:spPr bwMode="auto">
            <a:xfrm>
              <a:off x="3255" y="1629"/>
              <a:ext cx="218" cy="218"/>
            </a:xfrm>
            <a:custGeom>
              <a:avLst/>
              <a:gdLst>
                <a:gd name="T0" fmla="*/ 204 w 1312"/>
                <a:gd name="T1" fmla="*/ 0 h 1311"/>
                <a:gd name="T2" fmla="*/ 0 w 1312"/>
                <a:gd name="T3" fmla="*/ 352 h 1311"/>
                <a:gd name="T4" fmla="*/ 0 w 1312"/>
                <a:gd name="T5" fmla="*/ 757 h 1311"/>
                <a:gd name="T6" fmla="*/ 204 w 1312"/>
                <a:gd name="T7" fmla="*/ 1109 h 1311"/>
                <a:gd name="T8" fmla="*/ 554 w 1312"/>
                <a:gd name="T9" fmla="*/ 1311 h 1311"/>
                <a:gd name="T10" fmla="*/ 960 w 1312"/>
                <a:gd name="T11" fmla="*/ 1311 h 1311"/>
                <a:gd name="T12" fmla="*/ 1311 w 1312"/>
                <a:gd name="T13" fmla="*/ 1109 h 1311"/>
                <a:gd name="T14" fmla="*/ 1312 w 1312"/>
                <a:gd name="T15" fmla="*/ 1109 h 1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2" h="1311">
                  <a:moveTo>
                    <a:pt x="204" y="0"/>
                  </a:moveTo>
                  <a:lnTo>
                    <a:pt x="0" y="352"/>
                  </a:lnTo>
                  <a:lnTo>
                    <a:pt x="0" y="757"/>
                  </a:lnTo>
                  <a:lnTo>
                    <a:pt x="204" y="1109"/>
                  </a:lnTo>
                  <a:lnTo>
                    <a:pt x="554" y="1311"/>
                  </a:lnTo>
                  <a:lnTo>
                    <a:pt x="960" y="1311"/>
                  </a:lnTo>
                  <a:lnTo>
                    <a:pt x="1311" y="1109"/>
                  </a:lnTo>
                  <a:lnTo>
                    <a:pt x="1312" y="110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0" name="Freeform 73"/>
            <p:cNvSpPr>
              <a:spLocks noChangeArrowheads="1"/>
            </p:cNvSpPr>
            <p:nvPr/>
          </p:nvSpPr>
          <p:spPr bwMode="auto">
            <a:xfrm>
              <a:off x="3473" y="1629"/>
              <a:ext cx="185" cy="184"/>
            </a:xfrm>
            <a:custGeom>
              <a:avLst/>
              <a:gdLst>
                <a:gd name="T0" fmla="*/ 1106 w 1106"/>
                <a:gd name="T1" fmla="*/ 0 h 1109"/>
                <a:gd name="T2" fmla="*/ 0 w 1106"/>
                <a:gd name="T3" fmla="*/ 1109 h 1109"/>
                <a:gd name="T4" fmla="*/ 1 w 1106"/>
                <a:gd name="T5" fmla="*/ 1109 h 1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6" h="1109">
                  <a:moveTo>
                    <a:pt x="1106" y="0"/>
                  </a:moveTo>
                  <a:lnTo>
                    <a:pt x="0" y="1109"/>
                  </a:lnTo>
                  <a:lnTo>
                    <a:pt x="1" y="110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1" name="Freeform 74"/>
            <p:cNvSpPr>
              <a:spLocks noChangeArrowheads="1"/>
            </p:cNvSpPr>
            <p:nvPr/>
          </p:nvSpPr>
          <p:spPr bwMode="auto">
            <a:xfrm>
              <a:off x="3263" y="1603"/>
              <a:ext cx="240" cy="240"/>
            </a:xfrm>
            <a:custGeom>
              <a:avLst/>
              <a:gdLst>
                <a:gd name="T0" fmla="*/ 0 w 1441"/>
                <a:gd name="T1" fmla="*/ 0 h 1441"/>
                <a:gd name="T2" fmla="*/ 1440 w 1441"/>
                <a:gd name="T3" fmla="*/ 1441 h 1441"/>
                <a:gd name="T4" fmla="*/ 1441 w 1441"/>
                <a:gd name="T5" fmla="*/ 1441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41" h="1441">
                  <a:moveTo>
                    <a:pt x="0" y="0"/>
                  </a:moveTo>
                  <a:lnTo>
                    <a:pt x="1440" y="1441"/>
                  </a:lnTo>
                  <a:lnTo>
                    <a:pt x="1441" y="144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2" name="Freeform 75"/>
            <p:cNvSpPr>
              <a:spLocks noChangeArrowheads="1"/>
            </p:cNvSpPr>
            <p:nvPr/>
          </p:nvSpPr>
          <p:spPr bwMode="auto">
            <a:xfrm>
              <a:off x="3489" y="1409"/>
              <a:ext cx="203" cy="204"/>
            </a:xfrm>
            <a:custGeom>
              <a:avLst/>
              <a:gdLst>
                <a:gd name="T0" fmla="*/ 1222 w 1222"/>
                <a:gd name="T1" fmla="*/ 0 h 1223"/>
                <a:gd name="T2" fmla="*/ 0 w 1222"/>
                <a:gd name="T3" fmla="*/ 1223 h 1223"/>
                <a:gd name="T4" fmla="*/ 1 w 1222"/>
                <a:gd name="T5" fmla="*/ 1223 h 1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2" h="1223">
                  <a:moveTo>
                    <a:pt x="1222" y="0"/>
                  </a:moveTo>
                  <a:lnTo>
                    <a:pt x="0" y="1223"/>
                  </a:lnTo>
                  <a:lnTo>
                    <a:pt x="1" y="1223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3" name="Freeform 76"/>
            <p:cNvSpPr>
              <a:spLocks noChangeArrowheads="1"/>
            </p:cNvSpPr>
            <p:nvPr/>
          </p:nvSpPr>
          <p:spPr bwMode="auto">
            <a:xfrm>
              <a:off x="3445" y="1416"/>
              <a:ext cx="242" cy="242"/>
            </a:xfrm>
            <a:custGeom>
              <a:avLst/>
              <a:gdLst>
                <a:gd name="T0" fmla="*/ 0 w 1455"/>
                <a:gd name="T1" fmla="*/ 0 h 1455"/>
                <a:gd name="T2" fmla="*/ 1454 w 1455"/>
                <a:gd name="T3" fmla="*/ 1455 h 1455"/>
                <a:gd name="T4" fmla="*/ 1455 w 1455"/>
                <a:gd name="T5" fmla="*/ 1455 h 1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55" h="1455">
                  <a:moveTo>
                    <a:pt x="0" y="0"/>
                  </a:moveTo>
                  <a:lnTo>
                    <a:pt x="1454" y="1455"/>
                  </a:lnTo>
                  <a:lnTo>
                    <a:pt x="1455" y="14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4" name="Freeform 77"/>
            <p:cNvSpPr>
              <a:spLocks noChangeArrowheads="1"/>
            </p:cNvSpPr>
            <p:nvPr/>
          </p:nvSpPr>
          <p:spPr bwMode="auto">
            <a:xfrm>
              <a:off x="3274" y="1794"/>
              <a:ext cx="217" cy="1"/>
            </a:xfrm>
            <a:custGeom>
              <a:avLst/>
              <a:gdLst>
                <a:gd name="T0" fmla="*/ 1301 w 1301"/>
                <a:gd name="T1" fmla="*/ 0 h 1"/>
                <a:gd name="T2" fmla="*/ 0 w 1301"/>
                <a:gd name="T3" fmla="*/ 0 h 1"/>
                <a:gd name="T4" fmla="*/ 1 w 130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01" h="1">
                  <a:moveTo>
                    <a:pt x="130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5" name="Freeform 78"/>
            <p:cNvSpPr>
              <a:spLocks noChangeArrowheads="1"/>
            </p:cNvSpPr>
            <p:nvPr/>
          </p:nvSpPr>
          <p:spPr bwMode="auto">
            <a:xfrm>
              <a:off x="3251" y="1736"/>
              <a:ext cx="298" cy="1"/>
            </a:xfrm>
            <a:custGeom>
              <a:avLst/>
              <a:gdLst>
                <a:gd name="T0" fmla="*/ 1784 w 1784"/>
                <a:gd name="T1" fmla="*/ 0 h 1"/>
                <a:gd name="T2" fmla="*/ 0 w 1784"/>
                <a:gd name="T3" fmla="*/ 0 h 1"/>
                <a:gd name="T4" fmla="*/ 1 w 178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84" h="1">
                  <a:moveTo>
                    <a:pt x="1784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6" name="Freeform 79"/>
            <p:cNvSpPr>
              <a:spLocks noChangeArrowheads="1"/>
            </p:cNvSpPr>
            <p:nvPr/>
          </p:nvSpPr>
          <p:spPr bwMode="auto">
            <a:xfrm>
              <a:off x="3257" y="1678"/>
              <a:ext cx="350" cy="1"/>
            </a:xfrm>
            <a:custGeom>
              <a:avLst/>
              <a:gdLst>
                <a:gd name="T0" fmla="*/ 2098 w 2098"/>
                <a:gd name="T1" fmla="*/ 0 h 1"/>
                <a:gd name="T2" fmla="*/ 0 w 2098"/>
                <a:gd name="T3" fmla="*/ 0 h 1"/>
                <a:gd name="T4" fmla="*/ 2 w 209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98" h="1">
                  <a:moveTo>
                    <a:pt x="2098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7" name="Freeform 80"/>
            <p:cNvSpPr>
              <a:spLocks noChangeArrowheads="1"/>
            </p:cNvSpPr>
            <p:nvPr/>
          </p:nvSpPr>
          <p:spPr bwMode="auto">
            <a:xfrm>
              <a:off x="3296" y="1620"/>
              <a:ext cx="368" cy="1"/>
            </a:xfrm>
            <a:custGeom>
              <a:avLst/>
              <a:gdLst>
                <a:gd name="T0" fmla="*/ 2213 w 2213"/>
                <a:gd name="T1" fmla="*/ 0 h 1"/>
                <a:gd name="T2" fmla="*/ 0 w 2213"/>
                <a:gd name="T3" fmla="*/ 0 h 1"/>
                <a:gd name="T4" fmla="*/ 2 w 221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13" h="1">
                  <a:moveTo>
                    <a:pt x="2213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8" name="Freeform 81"/>
            <p:cNvSpPr>
              <a:spLocks noChangeArrowheads="1"/>
            </p:cNvSpPr>
            <p:nvPr/>
          </p:nvSpPr>
          <p:spPr bwMode="auto">
            <a:xfrm>
              <a:off x="3354" y="1562"/>
              <a:ext cx="339" cy="1"/>
            </a:xfrm>
            <a:custGeom>
              <a:avLst/>
              <a:gdLst>
                <a:gd name="T0" fmla="*/ 2036 w 2036"/>
                <a:gd name="T1" fmla="*/ 0 h 1"/>
                <a:gd name="T2" fmla="*/ 0 w 2036"/>
                <a:gd name="T3" fmla="*/ 0 h 1"/>
                <a:gd name="T4" fmla="*/ 1 w 203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36" h="1">
                  <a:moveTo>
                    <a:pt x="2036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9" name="Freeform 82"/>
            <p:cNvSpPr>
              <a:spLocks noChangeArrowheads="1"/>
            </p:cNvSpPr>
            <p:nvPr/>
          </p:nvSpPr>
          <p:spPr bwMode="auto">
            <a:xfrm>
              <a:off x="3412" y="1504"/>
              <a:ext cx="280" cy="1"/>
            </a:xfrm>
            <a:custGeom>
              <a:avLst/>
              <a:gdLst>
                <a:gd name="T0" fmla="*/ 1683 w 1683"/>
                <a:gd name="T1" fmla="*/ 0 h 1"/>
                <a:gd name="T2" fmla="*/ 0 w 1683"/>
                <a:gd name="T3" fmla="*/ 0 h 1"/>
                <a:gd name="T4" fmla="*/ 1 w 168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83" h="1">
                  <a:moveTo>
                    <a:pt x="1683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0" name="Freeform 83"/>
            <p:cNvSpPr>
              <a:spLocks noChangeArrowheads="1"/>
            </p:cNvSpPr>
            <p:nvPr/>
          </p:nvSpPr>
          <p:spPr bwMode="auto">
            <a:xfrm>
              <a:off x="3470" y="1446"/>
              <a:ext cx="191" cy="1"/>
            </a:xfrm>
            <a:custGeom>
              <a:avLst/>
              <a:gdLst>
                <a:gd name="T0" fmla="*/ 1148 w 1148"/>
                <a:gd name="T1" fmla="*/ 0 h 1"/>
                <a:gd name="T2" fmla="*/ 0 w 1148"/>
                <a:gd name="T3" fmla="*/ 0 h 1"/>
                <a:gd name="T4" fmla="*/ 1 w 114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8" h="1">
                  <a:moveTo>
                    <a:pt x="1148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1" name="Freeform 84"/>
            <p:cNvSpPr>
              <a:spLocks noChangeArrowheads="1"/>
            </p:cNvSpPr>
            <p:nvPr/>
          </p:nvSpPr>
          <p:spPr bwMode="auto">
            <a:xfrm>
              <a:off x="3289" y="1444"/>
              <a:ext cx="184" cy="185"/>
            </a:xfrm>
            <a:custGeom>
              <a:avLst/>
              <a:gdLst>
                <a:gd name="T0" fmla="*/ 1107 w 1107"/>
                <a:gd name="T1" fmla="*/ 0 h 1108"/>
                <a:gd name="T2" fmla="*/ 0 w 1107"/>
                <a:gd name="T3" fmla="*/ 1108 h 1108"/>
                <a:gd name="T4" fmla="*/ 1 w 1107"/>
                <a:gd name="T5" fmla="*/ 1108 h 1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7" h="1108">
                  <a:moveTo>
                    <a:pt x="1107" y="0"/>
                  </a:moveTo>
                  <a:lnTo>
                    <a:pt x="0" y="1108"/>
                  </a:lnTo>
                  <a:lnTo>
                    <a:pt x="1" y="110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2" name="Freeform 85"/>
            <p:cNvSpPr>
              <a:spLocks noChangeArrowheads="1"/>
            </p:cNvSpPr>
            <p:nvPr/>
          </p:nvSpPr>
          <p:spPr bwMode="auto">
            <a:xfrm>
              <a:off x="3458" y="1626"/>
              <a:ext cx="18" cy="18"/>
            </a:xfrm>
            <a:custGeom>
              <a:avLst/>
              <a:gdLst>
                <a:gd name="T0" fmla="*/ 107 w 107"/>
                <a:gd name="T1" fmla="*/ 0 h 107"/>
                <a:gd name="T2" fmla="*/ 0 w 107"/>
                <a:gd name="T3" fmla="*/ 107 h 107"/>
                <a:gd name="T4" fmla="*/ 1 w 107"/>
                <a:gd name="T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7" h="107">
                  <a:moveTo>
                    <a:pt x="107" y="0"/>
                  </a:moveTo>
                  <a:lnTo>
                    <a:pt x="0" y="107"/>
                  </a:lnTo>
                  <a:lnTo>
                    <a:pt x="1" y="10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598813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>
          <a:xfrm>
            <a:off x="1651918" y="341852"/>
            <a:ext cx="3685173" cy="558800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28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zh-CN" altLang="en-US" dirty="0"/>
              <a:t>常用材料的剖面符号</a:t>
            </a:r>
          </a:p>
        </p:txBody>
      </p:sp>
      <p:grpSp>
        <p:nvGrpSpPr>
          <p:cNvPr id="3" name="Group 3"/>
          <p:cNvGrpSpPr>
            <a:grpSpLocks noChangeAspect="1"/>
          </p:cNvGrpSpPr>
          <p:nvPr/>
        </p:nvGrpSpPr>
        <p:grpSpPr bwMode="auto">
          <a:xfrm>
            <a:off x="2108201" y="1092200"/>
            <a:ext cx="7834313" cy="5005388"/>
            <a:chOff x="144" y="432"/>
            <a:chExt cx="5484" cy="3504"/>
          </a:xfrm>
        </p:grpSpPr>
        <p:sp>
          <p:nvSpPr>
            <p:cNvPr id="4" name="Freeform 4" descr="20%"/>
            <p:cNvSpPr>
              <a:spLocks noChangeAspect="1" noChangeArrowheads="1"/>
            </p:cNvSpPr>
            <p:nvPr/>
          </p:nvSpPr>
          <p:spPr bwMode="auto">
            <a:xfrm>
              <a:off x="3120" y="1997"/>
              <a:ext cx="514" cy="342"/>
            </a:xfrm>
            <a:custGeom>
              <a:avLst/>
              <a:gdLst>
                <a:gd name="T0" fmla="*/ 0 w 1503"/>
                <a:gd name="T1" fmla="*/ 1003 h 1003"/>
                <a:gd name="T2" fmla="*/ 1503 w 1503"/>
                <a:gd name="T3" fmla="*/ 1003 h 1003"/>
                <a:gd name="T4" fmla="*/ 1503 w 1503"/>
                <a:gd name="T5" fmla="*/ 0 h 1003"/>
                <a:gd name="T6" fmla="*/ 0 w 1503"/>
                <a:gd name="T7" fmla="*/ 0 h 1003"/>
                <a:gd name="T8" fmla="*/ 0 w 1503"/>
                <a:gd name="T9" fmla="*/ 1003 h 1003"/>
                <a:gd name="T10" fmla="*/ 1 w 1503"/>
                <a:gd name="T11" fmla="*/ 1003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03" h="1003">
                  <a:moveTo>
                    <a:pt x="0" y="1003"/>
                  </a:moveTo>
                  <a:lnTo>
                    <a:pt x="1503" y="1003"/>
                  </a:lnTo>
                  <a:lnTo>
                    <a:pt x="1503" y="0"/>
                  </a:lnTo>
                  <a:lnTo>
                    <a:pt x="0" y="0"/>
                  </a:lnTo>
                  <a:lnTo>
                    <a:pt x="0" y="1003"/>
                  </a:lnTo>
                  <a:lnTo>
                    <a:pt x="1" y="1003"/>
                  </a:lnTo>
                </a:path>
              </a:pathLst>
            </a:custGeom>
            <a:pattFill prst="pct20">
              <a:fgClr>
                <a:schemeClr val="tx1"/>
              </a:fgClr>
              <a:bgClr>
                <a:schemeClr val="bg1"/>
              </a:bgClr>
            </a:pattFill>
            <a:ln w="28575">
              <a:solidFill>
                <a:srgbClr val="FF66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5" name="Group 5"/>
            <p:cNvGrpSpPr>
              <a:grpSpLocks noChangeAspect="1"/>
            </p:cNvGrpSpPr>
            <p:nvPr/>
          </p:nvGrpSpPr>
          <p:grpSpPr bwMode="auto">
            <a:xfrm>
              <a:off x="1488" y="576"/>
              <a:ext cx="514" cy="342"/>
              <a:chOff x="752" y="664"/>
              <a:chExt cx="514" cy="342"/>
            </a:xfrm>
          </p:grpSpPr>
          <p:sp>
            <p:nvSpPr>
              <p:cNvPr id="508" name="Freeform 6"/>
              <p:cNvSpPr>
                <a:spLocks noChangeAspect="1" noChangeArrowheads="1"/>
              </p:cNvSpPr>
              <p:nvPr/>
            </p:nvSpPr>
            <p:spPr bwMode="auto">
              <a:xfrm>
                <a:off x="752" y="664"/>
                <a:ext cx="511" cy="342"/>
              </a:xfrm>
              <a:custGeom>
                <a:avLst/>
                <a:gdLst>
                  <a:gd name="T0" fmla="*/ 0 w 1502"/>
                  <a:gd name="T1" fmla="*/ 1003 h 1003"/>
                  <a:gd name="T2" fmla="*/ 1502 w 1502"/>
                  <a:gd name="T3" fmla="*/ 1003 h 1003"/>
                  <a:gd name="T4" fmla="*/ 1502 w 1502"/>
                  <a:gd name="T5" fmla="*/ 0 h 1003"/>
                  <a:gd name="T6" fmla="*/ 0 w 1502"/>
                  <a:gd name="T7" fmla="*/ 0 h 1003"/>
                  <a:gd name="T8" fmla="*/ 0 w 1502"/>
                  <a:gd name="T9" fmla="*/ 1003 h 1003"/>
                  <a:gd name="T10" fmla="*/ 1 w 1502"/>
                  <a:gd name="T11" fmla="*/ 10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02" h="1003">
                    <a:moveTo>
                      <a:pt x="0" y="1003"/>
                    </a:moveTo>
                    <a:lnTo>
                      <a:pt x="1502" y="1003"/>
                    </a:lnTo>
                    <a:lnTo>
                      <a:pt x="1502" y="0"/>
                    </a:lnTo>
                    <a:lnTo>
                      <a:pt x="0" y="0"/>
                    </a:lnTo>
                    <a:lnTo>
                      <a:pt x="0" y="1003"/>
                    </a:lnTo>
                    <a:lnTo>
                      <a:pt x="1" y="1003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9" name="Freeform 7"/>
              <p:cNvSpPr>
                <a:spLocks noChangeAspect="1" noChangeArrowheads="1"/>
              </p:cNvSpPr>
              <p:nvPr/>
            </p:nvSpPr>
            <p:spPr bwMode="auto">
              <a:xfrm>
                <a:off x="752" y="664"/>
                <a:ext cx="63" cy="66"/>
              </a:xfrm>
              <a:custGeom>
                <a:avLst/>
                <a:gdLst>
                  <a:gd name="T0" fmla="*/ 0 w 190"/>
                  <a:gd name="T1" fmla="*/ 189 h 189"/>
                  <a:gd name="T2" fmla="*/ 189 w 190"/>
                  <a:gd name="T3" fmla="*/ 0 h 189"/>
                  <a:gd name="T4" fmla="*/ 190 w 190"/>
                  <a:gd name="T5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" h="189">
                    <a:moveTo>
                      <a:pt x="0" y="189"/>
                    </a:moveTo>
                    <a:lnTo>
                      <a:pt x="189" y="0"/>
                    </a:lnTo>
                    <a:lnTo>
                      <a:pt x="19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0" name="Freeform 8"/>
              <p:cNvSpPr>
                <a:spLocks noChangeAspect="1" noChangeArrowheads="1"/>
              </p:cNvSpPr>
              <p:nvPr/>
            </p:nvSpPr>
            <p:spPr bwMode="auto">
              <a:xfrm>
                <a:off x="752" y="664"/>
                <a:ext cx="159" cy="161"/>
              </a:xfrm>
              <a:custGeom>
                <a:avLst/>
                <a:gdLst>
                  <a:gd name="T0" fmla="*/ 0 w 471"/>
                  <a:gd name="T1" fmla="*/ 471 h 471"/>
                  <a:gd name="T2" fmla="*/ 470 w 471"/>
                  <a:gd name="T3" fmla="*/ 0 h 471"/>
                  <a:gd name="T4" fmla="*/ 471 w 471"/>
                  <a:gd name="T5" fmla="*/ 0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1" h="471">
                    <a:moveTo>
                      <a:pt x="0" y="471"/>
                    </a:moveTo>
                    <a:lnTo>
                      <a:pt x="470" y="0"/>
                    </a:lnTo>
                    <a:lnTo>
                      <a:pt x="47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1" name="Freeform 9"/>
              <p:cNvSpPr>
                <a:spLocks noChangeAspect="1" noChangeArrowheads="1"/>
              </p:cNvSpPr>
              <p:nvPr/>
            </p:nvSpPr>
            <p:spPr bwMode="auto">
              <a:xfrm>
                <a:off x="752" y="664"/>
                <a:ext cx="257" cy="257"/>
              </a:xfrm>
              <a:custGeom>
                <a:avLst/>
                <a:gdLst>
                  <a:gd name="T0" fmla="*/ 0 w 752"/>
                  <a:gd name="T1" fmla="*/ 752 h 752"/>
                  <a:gd name="T2" fmla="*/ 751 w 752"/>
                  <a:gd name="T3" fmla="*/ 0 h 752"/>
                  <a:gd name="T4" fmla="*/ 752 w 752"/>
                  <a:gd name="T5" fmla="*/ 0 h 7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52" h="752">
                    <a:moveTo>
                      <a:pt x="0" y="752"/>
                    </a:moveTo>
                    <a:lnTo>
                      <a:pt x="751" y="0"/>
                    </a:lnTo>
                    <a:lnTo>
                      <a:pt x="75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2" name="Freeform 10"/>
              <p:cNvSpPr>
                <a:spLocks noChangeAspect="1" noChangeArrowheads="1"/>
              </p:cNvSpPr>
              <p:nvPr/>
            </p:nvSpPr>
            <p:spPr bwMode="auto">
              <a:xfrm>
                <a:off x="760" y="664"/>
                <a:ext cx="345" cy="342"/>
              </a:xfrm>
              <a:custGeom>
                <a:avLst/>
                <a:gdLst>
                  <a:gd name="T0" fmla="*/ 0 w 1004"/>
                  <a:gd name="T1" fmla="*/ 1003 h 1003"/>
                  <a:gd name="T2" fmla="*/ 1003 w 1004"/>
                  <a:gd name="T3" fmla="*/ 0 h 1003"/>
                  <a:gd name="T4" fmla="*/ 1004 w 1004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4" h="1003">
                    <a:moveTo>
                      <a:pt x="0" y="1003"/>
                    </a:moveTo>
                    <a:lnTo>
                      <a:pt x="1003" y="0"/>
                    </a:lnTo>
                    <a:lnTo>
                      <a:pt x="1004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3" name="Freeform 11"/>
              <p:cNvSpPr>
                <a:spLocks noChangeAspect="1" noChangeArrowheads="1"/>
              </p:cNvSpPr>
              <p:nvPr/>
            </p:nvSpPr>
            <p:spPr bwMode="auto">
              <a:xfrm>
                <a:off x="859" y="664"/>
                <a:ext cx="341" cy="342"/>
              </a:xfrm>
              <a:custGeom>
                <a:avLst/>
                <a:gdLst>
                  <a:gd name="T0" fmla="*/ 0 w 1002"/>
                  <a:gd name="T1" fmla="*/ 1003 h 1003"/>
                  <a:gd name="T2" fmla="*/ 1001 w 1002"/>
                  <a:gd name="T3" fmla="*/ 0 h 1003"/>
                  <a:gd name="T4" fmla="*/ 1002 w 1002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2" h="1003">
                    <a:moveTo>
                      <a:pt x="0" y="1003"/>
                    </a:moveTo>
                    <a:lnTo>
                      <a:pt x="1001" y="0"/>
                    </a:lnTo>
                    <a:lnTo>
                      <a:pt x="100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4" name="Freeform 12"/>
              <p:cNvSpPr>
                <a:spLocks noChangeAspect="1" noChangeArrowheads="1"/>
              </p:cNvSpPr>
              <p:nvPr/>
            </p:nvSpPr>
            <p:spPr bwMode="auto">
              <a:xfrm>
                <a:off x="954" y="694"/>
                <a:ext cx="312" cy="312"/>
              </a:xfrm>
              <a:custGeom>
                <a:avLst/>
                <a:gdLst>
                  <a:gd name="T0" fmla="*/ 0 w 911"/>
                  <a:gd name="T1" fmla="*/ 911 h 911"/>
                  <a:gd name="T2" fmla="*/ 910 w 911"/>
                  <a:gd name="T3" fmla="*/ 0 h 911"/>
                  <a:gd name="T4" fmla="*/ 911 w 911"/>
                  <a:gd name="T5" fmla="*/ 0 h 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11" h="911">
                    <a:moveTo>
                      <a:pt x="0" y="911"/>
                    </a:moveTo>
                    <a:lnTo>
                      <a:pt x="910" y="0"/>
                    </a:lnTo>
                    <a:lnTo>
                      <a:pt x="91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5" name="Freeform 13"/>
              <p:cNvSpPr>
                <a:spLocks noChangeAspect="1" noChangeArrowheads="1"/>
              </p:cNvSpPr>
              <p:nvPr/>
            </p:nvSpPr>
            <p:spPr bwMode="auto">
              <a:xfrm>
                <a:off x="1050" y="793"/>
                <a:ext cx="216" cy="213"/>
              </a:xfrm>
              <a:custGeom>
                <a:avLst/>
                <a:gdLst>
                  <a:gd name="T0" fmla="*/ 0 w 630"/>
                  <a:gd name="T1" fmla="*/ 629 h 629"/>
                  <a:gd name="T2" fmla="*/ 629 w 630"/>
                  <a:gd name="T3" fmla="*/ 0 h 629"/>
                  <a:gd name="T4" fmla="*/ 630 w 630"/>
                  <a:gd name="T5" fmla="*/ 0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30" h="629">
                    <a:moveTo>
                      <a:pt x="0" y="629"/>
                    </a:moveTo>
                    <a:lnTo>
                      <a:pt x="629" y="0"/>
                    </a:lnTo>
                    <a:lnTo>
                      <a:pt x="63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6" name="Freeform 14"/>
              <p:cNvSpPr>
                <a:spLocks noChangeAspect="1" noChangeArrowheads="1"/>
              </p:cNvSpPr>
              <p:nvPr/>
            </p:nvSpPr>
            <p:spPr bwMode="auto">
              <a:xfrm>
                <a:off x="1146" y="888"/>
                <a:ext cx="120" cy="118"/>
              </a:xfrm>
              <a:custGeom>
                <a:avLst/>
                <a:gdLst>
                  <a:gd name="T0" fmla="*/ 0 w 348"/>
                  <a:gd name="T1" fmla="*/ 348 h 348"/>
                  <a:gd name="T2" fmla="*/ 347 w 348"/>
                  <a:gd name="T3" fmla="*/ 0 h 348"/>
                  <a:gd name="T4" fmla="*/ 348 w 348"/>
                  <a:gd name="T5" fmla="*/ 0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8" h="348">
                    <a:moveTo>
                      <a:pt x="0" y="348"/>
                    </a:moveTo>
                    <a:lnTo>
                      <a:pt x="347" y="0"/>
                    </a:lnTo>
                    <a:lnTo>
                      <a:pt x="348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7" name="Freeform 15"/>
              <p:cNvSpPr>
                <a:spLocks noChangeAspect="1" noChangeArrowheads="1"/>
              </p:cNvSpPr>
              <p:nvPr/>
            </p:nvSpPr>
            <p:spPr bwMode="auto">
              <a:xfrm>
                <a:off x="1241" y="984"/>
                <a:ext cx="25" cy="22"/>
              </a:xfrm>
              <a:custGeom>
                <a:avLst/>
                <a:gdLst>
                  <a:gd name="T0" fmla="*/ 0 w 67"/>
                  <a:gd name="T1" fmla="*/ 66 h 66"/>
                  <a:gd name="T2" fmla="*/ 66 w 67"/>
                  <a:gd name="T3" fmla="*/ 0 h 66"/>
                  <a:gd name="T4" fmla="*/ 67 w 67"/>
                  <a:gd name="T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7" h="66">
                    <a:moveTo>
                      <a:pt x="0" y="66"/>
                    </a:moveTo>
                    <a:lnTo>
                      <a:pt x="66" y="0"/>
                    </a:lnTo>
                    <a:lnTo>
                      <a:pt x="67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6" name="Group 16"/>
            <p:cNvGrpSpPr>
              <a:grpSpLocks noChangeAspect="1"/>
            </p:cNvGrpSpPr>
            <p:nvPr/>
          </p:nvGrpSpPr>
          <p:grpSpPr bwMode="auto">
            <a:xfrm>
              <a:off x="1488" y="1307"/>
              <a:ext cx="514" cy="342"/>
              <a:chOff x="752" y="1307"/>
              <a:chExt cx="514" cy="342"/>
            </a:xfrm>
          </p:grpSpPr>
          <p:sp>
            <p:nvSpPr>
              <p:cNvPr id="490" name="Freeform 17"/>
              <p:cNvSpPr>
                <a:spLocks noChangeAspect="1" noChangeArrowheads="1"/>
              </p:cNvSpPr>
              <p:nvPr/>
            </p:nvSpPr>
            <p:spPr bwMode="auto">
              <a:xfrm>
                <a:off x="752" y="1307"/>
                <a:ext cx="511" cy="342"/>
              </a:xfrm>
              <a:custGeom>
                <a:avLst/>
                <a:gdLst>
                  <a:gd name="T0" fmla="*/ 0 w 1502"/>
                  <a:gd name="T1" fmla="*/ 1003 h 1003"/>
                  <a:gd name="T2" fmla="*/ 1502 w 1502"/>
                  <a:gd name="T3" fmla="*/ 1003 h 1003"/>
                  <a:gd name="T4" fmla="*/ 1502 w 1502"/>
                  <a:gd name="T5" fmla="*/ 0 h 1003"/>
                  <a:gd name="T6" fmla="*/ 0 w 1502"/>
                  <a:gd name="T7" fmla="*/ 0 h 1003"/>
                  <a:gd name="T8" fmla="*/ 0 w 1502"/>
                  <a:gd name="T9" fmla="*/ 1003 h 1003"/>
                  <a:gd name="T10" fmla="*/ 1 w 1502"/>
                  <a:gd name="T11" fmla="*/ 10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02" h="1003">
                    <a:moveTo>
                      <a:pt x="0" y="1003"/>
                    </a:moveTo>
                    <a:lnTo>
                      <a:pt x="1502" y="1003"/>
                    </a:lnTo>
                    <a:lnTo>
                      <a:pt x="1502" y="0"/>
                    </a:lnTo>
                    <a:lnTo>
                      <a:pt x="0" y="0"/>
                    </a:lnTo>
                    <a:lnTo>
                      <a:pt x="0" y="1003"/>
                    </a:lnTo>
                    <a:lnTo>
                      <a:pt x="1" y="1003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91" name="Freeform 18"/>
              <p:cNvSpPr>
                <a:spLocks noChangeAspect="1" noChangeArrowheads="1"/>
              </p:cNvSpPr>
              <p:nvPr/>
            </p:nvSpPr>
            <p:spPr bwMode="auto">
              <a:xfrm>
                <a:off x="752" y="1307"/>
                <a:ext cx="96" cy="95"/>
              </a:xfrm>
              <a:custGeom>
                <a:avLst/>
                <a:gdLst>
                  <a:gd name="T0" fmla="*/ 0 w 280"/>
                  <a:gd name="T1" fmla="*/ 280 h 280"/>
                  <a:gd name="T2" fmla="*/ 279 w 280"/>
                  <a:gd name="T3" fmla="*/ 0 h 280"/>
                  <a:gd name="T4" fmla="*/ 280 w 280"/>
                  <a:gd name="T5" fmla="*/ 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0" h="280">
                    <a:moveTo>
                      <a:pt x="0" y="280"/>
                    </a:moveTo>
                    <a:lnTo>
                      <a:pt x="279" y="0"/>
                    </a:lnTo>
                    <a:lnTo>
                      <a:pt x="28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92" name="Freeform 19"/>
              <p:cNvSpPr>
                <a:spLocks noChangeAspect="1" noChangeArrowheads="1"/>
              </p:cNvSpPr>
              <p:nvPr/>
            </p:nvSpPr>
            <p:spPr bwMode="auto">
              <a:xfrm>
                <a:off x="752" y="1307"/>
                <a:ext cx="191" cy="191"/>
              </a:xfrm>
              <a:custGeom>
                <a:avLst/>
                <a:gdLst>
                  <a:gd name="T0" fmla="*/ 0 w 562"/>
                  <a:gd name="T1" fmla="*/ 561 h 561"/>
                  <a:gd name="T2" fmla="*/ 561 w 562"/>
                  <a:gd name="T3" fmla="*/ 0 h 561"/>
                  <a:gd name="T4" fmla="*/ 562 w 562"/>
                  <a:gd name="T5" fmla="*/ 0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2" h="561">
                    <a:moveTo>
                      <a:pt x="0" y="561"/>
                    </a:moveTo>
                    <a:lnTo>
                      <a:pt x="561" y="0"/>
                    </a:lnTo>
                    <a:lnTo>
                      <a:pt x="56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93" name="Freeform 20"/>
              <p:cNvSpPr>
                <a:spLocks noChangeAspect="1" noChangeArrowheads="1"/>
              </p:cNvSpPr>
              <p:nvPr/>
            </p:nvSpPr>
            <p:spPr bwMode="auto">
              <a:xfrm>
                <a:off x="752" y="1307"/>
                <a:ext cx="287" cy="287"/>
              </a:xfrm>
              <a:custGeom>
                <a:avLst/>
                <a:gdLst>
                  <a:gd name="T0" fmla="*/ 0 w 843"/>
                  <a:gd name="T1" fmla="*/ 843 h 843"/>
                  <a:gd name="T2" fmla="*/ 842 w 843"/>
                  <a:gd name="T3" fmla="*/ 0 h 843"/>
                  <a:gd name="T4" fmla="*/ 843 w 843"/>
                  <a:gd name="T5" fmla="*/ 0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43" h="843">
                    <a:moveTo>
                      <a:pt x="0" y="843"/>
                    </a:moveTo>
                    <a:lnTo>
                      <a:pt x="842" y="0"/>
                    </a:lnTo>
                    <a:lnTo>
                      <a:pt x="843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94" name="Freeform 21"/>
              <p:cNvSpPr>
                <a:spLocks noChangeAspect="1" noChangeArrowheads="1"/>
              </p:cNvSpPr>
              <p:nvPr/>
            </p:nvSpPr>
            <p:spPr bwMode="auto">
              <a:xfrm>
                <a:off x="793" y="1307"/>
                <a:ext cx="342" cy="342"/>
              </a:xfrm>
              <a:custGeom>
                <a:avLst/>
                <a:gdLst>
                  <a:gd name="T0" fmla="*/ 0 w 1003"/>
                  <a:gd name="T1" fmla="*/ 1003 h 1003"/>
                  <a:gd name="T2" fmla="*/ 1001 w 1003"/>
                  <a:gd name="T3" fmla="*/ 0 h 1003"/>
                  <a:gd name="T4" fmla="*/ 1003 w 1003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3" h="1003">
                    <a:moveTo>
                      <a:pt x="0" y="1003"/>
                    </a:moveTo>
                    <a:lnTo>
                      <a:pt x="1001" y="0"/>
                    </a:lnTo>
                    <a:lnTo>
                      <a:pt x="1003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95" name="Freeform 22"/>
              <p:cNvSpPr>
                <a:spLocks noChangeAspect="1" noChangeArrowheads="1"/>
              </p:cNvSpPr>
              <p:nvPr/>
            </p:nvSpPr>
            <p:spPr bwMode="auto">
              <a:xfrm>
                <a:off x="889" y="1307"/>
                <a:ext cx="341" cy="342"/>
              </a:xfrm>
              <a:custGeom>
                <a:avLst/>
                <a:gdLst>
                  <a:gd name="T0" fmla="*/ 0 w 1003"/>
                  <a:gd name="T1" fmla="*/ 1003 h 1003"/>
                  <a:gd name="T2" fmla="*/ 1002 w 1003"/>
                  <a:gd name="T3" fmla="*/ 0 h 1003"/>
                  <a:gd name="T4" fmla="*/ 1003 w 1003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3" h="1003">
                    <a:moveTo>
                      <a:pt x="0" y="1003"/>
                    </a:moveTo>
                    <a:lnTo>
                      <a:pt x="1002" y="0"/>
                    </a:lnTo>
                    <a:lnTo>
                      <a:pt x="1003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96" name="Freeform 23"/>
              <p:cNvSpPr>
                <a:spLocks noChangeAspect="1" noChangeArrowheads="1"/>
              </p:cNvSpPr>
              <p:nvPr/>
            </p:nvSpPr>
            <p:spPr bwMode="auto">
              <a:xfrm>
                <a:off x="984" y="1370"/>
                <a:ext cx="282" cy="279"/>
              </a:xfrm>
              <a:custGeom>
                <a:avLst/>
                <a:gdLst>
                  <a:gd name="T0" fmla="*/ 0 w 820"/>
                  <a:gd name="T1" fmla="*/ 820 h 820"/>
                  <a:gd name="T2" fmla="*/ 819 w 820"/>
                  <a:gd name="T3" fmla="*/ 0 h 820"/>
                  <a:gd name="T4" fmla="*/ 820 w 820"/>
                  <a:gd name="T5" fmla="*/ 0 h 8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20" h="820">
                    <a:moveTo>
                      <a:pt x="0" y="820"/>
                    </a:moveTo>
                    <a:lnTo>
                      <a:pt x="819" y="0"/>
                    </a:lnTo>
                    <a:lnTo>
                      <a:pt x="82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97" name="Freeform 24"/>
              <p:cNvSpPr>
                <a:spLocks noChangeAspect="1" noChangeArrowheads="1"/>
              </p:cNvSpPr>
              <p:nvPr/>
            </p:nvSpPr>
            <p:spPr bwMode="auto">
              <a:xfrm>
                <a:off x="1080" y="1465"/>
                <a:ext cx="186" cy="184"/>
              </a:xfrm>
              <a:custGeom>
                <a:avLst/>
                <a:gdLst>
                  <a:gd name="T0" fmla="*/ 0 w 539"/>
                  <a:gd name="T1" fmla="*/ 539 h 539"/>
                  <a:gd name="T2" fmla="*/ 538 w 539"/>
                  <a:gd name="T3" fmla="*/ 0 h 539"/>
                  <a:gd name="T4" fmla="*/ 539 w 539"/>
                  <a:gd name="T5" fmla="*/ 0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9" h="539">
                    <a:moveTo>
                      <a:pt x="0" y="539"/>
                    </a:moveTo>
                    <a:lnTo>
                      <a:pt x="538" y="0"/>
                    </a:lnTo>
                    <a:lnTo>
                      <a:pt x="539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98" name="Freeform 25"/>
              <p:cNvSpPr>
                <a:spLocks noChangeAspect="1" noChangeArrowheads="1"/>
              </p:cNvSpPr>
              <p:nvPr/>
            </p:nvSpPr>
            <p:spPr bwMode="auto">
              <a:xfrm>
                <a:off x="1176" y="1561"/>
                <a:ext cx="90" cy="88"/>
              </a:xfrm>
              <a:custGeom>
                <a:avLst/>
                <a:gdLst>
                  <a:gd name="T0" fmla="*/ 0 w 257"/>
                  <a:gd name="T1" fmla="*/ 257 h 257"/>
                  <a:gd name="T2" fmla="*/ 256 w 257"/>
                  <a:gd name="T3" fmla="*/ 0 h 257"/>
                  <a:gd name="T4" fmla="*/ 257 w 257"/>
                  <a:gd name="T5" fmla="*/ 0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7" h="257">
                    <a:moveTo>
                      <a:pt x="0" y="257"/>
                    </a:moveTo>
                    <a:lnTo>
                      <a:pt x="256" y="0"/>
                    </a:lnTo>
                    <a:lnTo>
                      <a:pt x="257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99" name="Freeform 26"/>
              <p:cNvSpPr>
                <a:spLocks noChangeAspect="1" noChangeArrowheads="1"/>
              </p:cNvSpPr>
              <p:nvPr/>
            </p:nvSpPr>
            <p:spPr bwMode="auto">
              <a:xfrm>
                <a:off x="752" y="1564"/>
                <a:ext cx="85" cy="85"/>
              </a:xfrm>
              <a:custGeom>
                <a:avLst/>
                <a:gdLst>
                  <a:gd name="T0" fmla="*/ 251 w 251"/>
                  <a:gd name="T1" fmla="*/ 251 h 251"/>
                  <a:gd name="T2" fmla="*/ 0 w 251"/>
                  <a:gd name="T3" fmla="*/ 0 h 251"/>
                  <a:gd name="T4" fmla="*/ 1 w 251"/>
                  <a:gd name="T5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1" h="251">
                    <a:moveTo>
                      <a:pt x="251" y="25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0" name="Freeform 27"/>
              <p:cNvSpPr>
                <a:spLocks noChangeAspect="1" noChangeArrowheads="1"/>
              </p:cNvSpPr>
              <p:nvPr/>
            </p:nvSpPr>
            <p:spPr bwMode="auto">
              <a:xfrm>
                <a:off x="752" y="1468"/>
                <a:ext cx="180" cy="181"/>
              </a:xfrm>
              <a:custGeom>
                <a:avLst/>
                <a:gdLst>
                  <a:gd name="T0" fmla="*/ 532 w 532"/>
                  <a:gd name="T1" fmla="*/ 533 h 533"/>
                  <a:gd name="T2" fmla="*/ 0 w 532"/>
                  <a:gd name="T3" fmla="*/ 0 h 533"/>
                  <a:gd name="T4" fmla="*/ 1 w 532"/>
                  <a:gd name="T5" fmla="*/ 0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2" h="533">
                    <a:moveTo>
                      <a:pt x="532" y="53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1" name="Freeform 28"/>
              <p:cNvSpPr>
                <a:spLocks noChangeAspect="1" noChangeArrowheads="1"/>
              </p:cNvSpPr>
              <p:nvPr/>
            </p:nvSpPr>
            <p:spPr bwMode="auto">
              <a:xfrm>
                <a:off x="752" y="1372"/>
                <a:ext cx="276" cy="277"/>
              </a:xfrm>
              <a:custGeom>
                <a:avLst/>
                <a:gdLst>
                  <a:gd name="T0" fmla="*/ 813 w 813"/>
                  <a:gd name="T1" fmla="*/ 815 h 815"/>
                  <a:gd name="T2" fmla="*/ 0 w 813"/>
                  <a:gd name="T3" fmla="*/ 0 h 815"/>
                  <a:gd name="T4" fmla="*/ 1 w 813"/>
                  <a:gd name="T5" fmla="*/ 0 h 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3" h="815">
                    <a:moveTo>
                      <a:pt x="813" y="815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2" name="Freeform 29"/>
              <p:cNvSpPr>
                <a:spLocks noChangeAspect="1" noChangeArrowheads="1"/>
              </p:cNvSpPr>
              <p:nvPr/>
            </p:nvSpPr>
            <p:spPr bwMode="auto">
              <a:xfrm>
                <a:off x="782" y="1307"/>
                <a:ext cx="342" cy="342"/>
              </a:xfrm>
              <a:custGeom>
                <a:avLst/>
                <a:gdLst>
                  <a:gd name="T0" fmla="*/ 1002 w 1002"/>
                  <a:gd name="T1" fmla="*/ 1003 h 1003"/>
                  <a:gd name="T2" fmla="*/ 0 w 1002"/>
                  <a:gd name="T3" fmla="*/ 0 h 1003"/>
                  <a:gd name="T4" fmla="*/ 1 w 1002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2" h="1003">
                    <a:moveTo>
                      <a:pt x="1002" y="100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3" name="Freeform 30"/>
              <p:cNvSpPr>
                <a:spLocks noChangeAspect="1" noChangeArrowheads="1"/>
              </p:cNvSpPr>
              <p:nvPr/>
            </p:nvSpPr>
            <p:spPr bwMode="auto">
              <a:xfrm>
                <a:off x="878" y="1307"/>
                <a:ext cx="344" cy="342"/>
              </a:xfrm>
              <a:custGeom>
                <a:avLst/>
                <a:gdLst>
                  <a:gd name="T0" fmla="*/ 1002 w 1002"/>
                  <a:gd name="T1" fmla="*/ 1003 h 1003"/>
                  <a:gd name="T2" fmla="*/ 0 w 1002"/>
                  <a:gd name="T3" fmla="*/ 0 h 1003"/>
                  <a:gd name="T4" fmla="*/ 1 w 1002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2" h="1003">
                    <a:moveTo>
                      <a:pt x="1002" y="100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4" name="Freeform 31"/>
              <p:cNvSpPr>
                <a:spLocks noChangeAspect="1" noChangeArrowheads="1"/>
              </p:cNvSpPr>
              <p:nvPr/>
            </p:nvSpPr>
            <p:spPr bwMode="auto">
              <a:xfrm>
                <a:off x="973" y="1307"/>
                <a:ext cx="290" cy="290"/>
              </a:xfrm>
              <a:custGeom>
                <a:avLst/>
                <a:gdLst>
                  <a:gd name="T0" fmla="*/ 847 w 847"/>
                  <a:gd name="T1" fmla="*/ 849 h 849"/>
                  <a:gd name="T2" fmla="*/ 0 w 847"/>
                  <a:gd name="T3" fmla="*/ 0 h 849"/>
                  <a:gd name="T4" fmla="*/ 1 w 847"/>
                  <a:gd name="T5" fmla="*/ 0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47" h="849">
                    <a:moveTo>
                      <a:pt x="847" y="84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5" name="Freeform 32"/>
              <p:cNvSpPr>
                <a:spLocks noChangeAspect="1" noChangeArrowheads="1"/>
              </p:cNvSpPr>
              <p:nvPr/>
            </p:nvSpPr>
            <p:spPr bwMode="auto">
              <a:xfrm>
                <a:off x="1072" y="1307"/>
                <a:ext cx="191" cy="194"/>
              </a:xfrm>
              <a:custGeom>
                <a:avLst/>
                <a:gdLst>
                  <a:gd name="T0" fmla="*/ 565 w 565"/>
                  <a:gd name="T1" fmla="*/ 567 h 567"/>
                  <a:gd name="T2" fmla="*/ 0 w 565"/>
                  <a:gd name="T3" fmla="*/ 0 h 567"/>
                  <a:gd name="T4" fmla="*/ 1 w 565"/>
                  <a:gd name="T5" fmla="*/ 0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5" h="567">
                    <a:moveTo>
                      <a:pt x="565" y="56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6" name="Freeform 33"/>
              <p:cNvSpPr>
                <a:spLocks noChangeAspect="1" noChangeArrowheads="1"/>
              </p:cNvSpPr>
              <p:nvPr/>
            </p:nvSpPr>
            <p:spPr bwMode="auto">
              <a:xfrm>
                <a:off x="1168" y="1307"/>
                <a:ext cx="95" cy="98"/>
              </a:xfrm>
              <a:custGeom>
                <a:avLst/>
                <a:gdLst>
                  <a:gd name="T0" fmla="*/ 285 w 285"/>
                  <a:gd name="T1" fmla="*/ 285 h 285"/>
                  <a:gd name="T2" fmla="*/ 0 w 285"/>
                  <a:gd name="T3" fmla="*/ 0 h 285"/>
                  <a:gd name="T4" fmla="*/ 1 w 285"/>
                  <a:gd name="T5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5" h="285">
                    <a:moveTo>
                      <a:pt x="285" y="285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7" name="Freeform 34"/>
              <p:cNvSpPr>
                <a:spLocks noChangeAspect="1" noChangeArrowheads="1"/>
              </p:cNvSpPr>
              <p:nvPr/>
            </p:nvSpPr>
            <p:spPr bwMode="auto">
              <a:xfrm>
                <a:off x="1263" y="1307"/>
                <a:ext cx="3" cy="2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1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7" name="Group 35"/>
            <p:cNvGrpSpPr>
              <a:grpSpLocks noChangeAspect="1"/>
            </p:cNvGrpSpPr>
            <p:nvPr/>
          </p:nvGrpSpPr>
          <p:grpSpPr bwMode="auto">
            <a:xfrm flipV="1">
              <a:off x="3117" y="576"/>
              <a:ext cx="517" cy="342"/>
              <a:chOff x="2417" y="664"/>
              <a:chExt cx="517" cy="342"/>
            </a:xfrm>
          </p:grpSpPr>
          <p:sp>
            <p:nvSpPr>
              <p:cNvPr id="477" name="Freeform 36"/>
              <p:cNvSpPr>
                <a:spLocks noChangeAspect="1" noChangeArrowheads="1"/>
              </p:cNvSpPr>
              <p:nvPr/>
            </p:nvSpPr>
            <p:spPr bwMode="auto">
              <a:xfrm flipV="1">
                <a:off x="2417" y="664"/>
                <a:ext cx="514" cy="342"/>
              </a:xfrm>
              <a:custGeom>
                <a:avLst/>
                <a:gdLst>
                  <a:gd name="T0" fmla="*/ 0 w 1503"/>
                  <a:gd name="T1" fmla="*/ 1003 h 1003"/>
                  <a:gd name="T2" fmla="*/ 1503 w 1503"/>
                  <a:gd name="T3" fmla="*/ 1003 h 1003"/>
                  <a:gd name="T4" fmla="*/ 1503 w 1503"/>
                  <a:gd name="T5" fmla="*/ 0 h 1003"/>
                  <a:gd name="T6" fmla="*/ 0 w 1503"/>
                  <a:gd name="T7" fmla="*/ 0 h 1003"/>
                  <a:gd name="T8" fmla="*/ 0 w 1503"/>
                  <a:gd name="T9" fmla="*/ 1003 h 1003"/>
                  <a:gd name="T10" fmla="*/ 1 w 1503"/>
                  <a:gd name="T11" fmla="*/ 10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03" h="1003">
                    <a:moveTo>
                      <a:pt x="0" y="1003"/>
                    </a:moveTo>
                    <a:lnTo>
                      <a:pt x="1503" y="1003"/>
                    </a:lnTo>
                    <a:lnTo>
                      <a:pt x="1503" y="0"/>
                    </a:lnTo>
                    <a:lnTo>
                      <a:pt x="0" y="0"/>
                    </a:lnTo>
                    <a:lnTo>
                      <a:pt x="0" y="1003"/>
                    </a:lnTo>
                    <a:lnTo>
                      <a:pt x="1" y="1003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78" name="Freeform 37"/>
              <p:cNvSpPr>
                <a:spLocks noChangeAspect="1" noChangeArrowheads="1"/>
              </p:cNvSpPr>
              <p:nvPr/>
            </p:nvSpPr>
            <p:spPr bwMode="auto">
              <a:xfrm flipV="1">
                <a:off x="2417" y="675"/>
                <a:ext cx="517" cy="3"/>
              </a:xfrm>
              <a:custGeom>
                <a:avLst/>
                <a:gdLst>
                  <a:gd name="T0" fmla="*/ 0 w 1504"/>
                  <a:gd name="T1" fmla="*/ 0 h 3"/>
                  <a:gd name="T2" fmla="*/ 1503 w 1504"/>
                  <a:gd name="T3" fmla="*/ 0 h 3"/>
                  <a:gd name="T4" fmla="*/ 1504 w 150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04" h="3">
                    <a:moveTo>
                      <a:pt x="0" y="0"/>
                    </a:moveTo>
                    <a:lnTo>
                      <a:pt x="1503" y="0"/>
                    </a:lnTo>
                    <a:lnTo>
                      <a:pt x="1504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79" name="Freeform 38"/>
              <p:cNvSpPr>
                <a:spLocks noChangeAspect="1" noChangeArrowheads="1"/>
              </p:cNvSpPr>
              <p:nvPr/>
            </p:nvSpPr>
            <p:spPr bwMode="auto">
              <a:xfrm flipV="1">
                <a:off x="2417" y="743"/>
                <a:ext cx="517" cy="3"/>
              </a:xfrm>
              <a:custGeom>
                <a:avLst/>
                <a:gdLst>
                  <a:gd name="T0" fmla="*/ 0 w 1504"/>
                  <a:gd name="T1" fmla="*/ 0 h 3"/>
                  <a:gd name="T2" fmla="*/ 1503 w 1504"/>
                  <a:gd name="T3" fmla="*/ 0 h 3"/>
                  <a:gd name="T4" fmla="*/ 1504 w 150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04" h="3">
                    <a:moveTo>
                      <a:pt x="0" y="0"/>
                    </a:moveTo>
                    <a:lnTo>
                      <a:pt x="1503" y="0"/>
                    </a:lnTo>
                    <a:lnTo>
                      <a:pt x="1504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0" name="Freeform 39"/>
              <p:cNvSpPr>
                <a:spLocks noChangeAspect="1" noChangeArrowheads="1"/>
              </p:cNvSpPr>
              <p:nvPr/>
            </p:nvSpPr>
            <p:spPr bwMode="auto">
              <a:xfrm flipV="1">
                <a:off x="2417" y="812"/>
                <a:ext cx="517" cy="2"/>
              </a:xfrm>
              <a:custGeom>
                <a:avLst/>
                <a:gdLst>
                  <a:gd name="T0" fmla="*/ 0 w 1504"/>
                  <a:gd name="T1" fmla="*/ 0 h 2"/>
                  <a:gd name="T2" fmla="*/ 1503 w 1504"/>
                  <a:gd name="T3" fmla="*/ 0 h 2"/>
                  <a:gd name="T4" fmla="*/ 1504 w 150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04" h="2">
                    <a:moveTo>
                      <a:pt x="0" y="0"/>
                    </a:moveTo>
                    <a:lnTo>
                      <a:pt x="1503" y="0"/>
                    </a:lnTo>
                    <a:lnTo>
                      <a:pt x="1504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1" name="Freeform 40"/>
              <p:cNvSpPr>
                <a:spLocks noChangeAspect="1" noChangeArrowheads="1"/>
              </p:cNvSpPr>
              <p:nvPr/>
            </p:nvSpPr>
            <p:spPr bwMode="auto">
              <a:xfrm flipV="1">
                <a:off x="2417" y="880"/>
                <a:ext cx="517" cy="3"/>
              </a:xfrm>
              <a:custGeom>
                <a:avLst/>
                <a:gdLst>
                  <a:gd name="T0" fmla="*/ 0 w 1504"/>
                  <a:gd name="T1" fmla="*/ 0 h 3"/>
                  <a:gd name="T2" fmla="*/ 1503 w 1504"/>
                  <a:gd name="T3" fmla="*/ 0 h 3"/>
                  <a:gd name="T4" fmla="*/ 1504 w 150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04" h="3">
                    <a:moveTo>
                      <a:pt x="0" y="0"/>
                    </a:moveTo>
                    <a:lnTo>
                      <a:pt x="1503" y="0"/>
                    </a:lnTo>
                    <a:lnTo>
                      <a:pt x="1504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2" name="Freeform 41"/>
              <p:cNvSpPr>
                <a:spLocks noChangeAspect="1" noChangeArrowheads="1"/>
              </p:cNvSpPr>
              <p:nvPr/>
            </p:nvSpPr>
            <p:spPr bwMode="auto">
              <a:xfrm flipV="1">
                <a:off x="2417" y="948"/>
                <a:ext cx="517" cy="3"/>
              </a:xfrm>
              <a:custGeom>
                <a:avLst/>
                <a:gdLst>
                  <a:gd name="T0" fmla="*/ 0 w 1504"/>
                  <a:gd name="T1" fmla="*/ 0 h 3"/>
                  <a:gd name="T2" fmla="*/ 1503 w 1504"/>
                  <a:gd name="T3" fmla="*/ 0 h 3"/>
                  <a:gd name="T4" fmla="*/ 1504 w 150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04" h="3">
                    <a:moveTo>
                      <a:pt x="0" y="0"/>
                    </a:moveTo>
                    <a:lnTo>
                      <a:pt x="1503" y="0"/>
                    </a:lnTo>
                    <a:lnTo>
                      <a:pt x="1504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3" name="Freeform 42"/>
              <p:cNvSpPr>
                <a:spLocks noChangeAspect="1" noChangeArrowheads="1"/>
              </p:cNvSpPr>
              <p:nvPr/>
            </p:nvSpPr>
            <p:spPr bwMode="auto">
              <a:xfrm flipV="1">
                <a:off x="2480" y="664"/>
                <a:ext cx="3" cy="342"/>
              </a:xfrm>
              <a:custGeom>
                <a:avLst/>
                <a:gdLst>
                  <a:gd name="T0" fmla="*/ 0 w 1"/>
                  <a:gd name="T1" fmla="*/ 1003 h 1003"/>
                  <a:gd name="T2" fmla="*/ 0 w 1"/>
                  <a:gd name="T3" fmla="*/ 0 h 1003"/>
                  <a:gd name="T4" fmla="*/ 1 w 1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03">
                    <a:moveTo>
                      <a:pt x="0" y="100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4" name="Freeform 43"/>
              <p:cNvSpPr>
                <a:spLocks noChangeAspect="1" noChangeArrowheads="1"/>
              </p:cNvSpPr>
              <p:nvPr/>
            </p:nvSpPr>
            <p:spPr bwMode="auto">
              <a:xfrm flipV="1">
                <a:off x="2548" y="664"/>
                <a:ext cx="3" cy="342"/>
              </a:xfrm>
              <a:custGeom>
                <a:avLst/>
                <a:gdLst>
                  <a:gd name="T0" fmla="*/ 0 w 1"/>
                  <a:gd name="T1" fmla="*/ 1003 h 1003"/>
                  <a:gd name="T2" fmla="*/ 0 w 1"/>
                  <a:gd name="T3" fmla="*/ 0 h 1003"/>
                  <a:gd name="T4" fmla="*/ 1 w 1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03">
                    <a:moveTo>
                      <a:pt x="0" y="100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5" name="Freeform 44"/>
              <p:cNvSpPr>
                <a:spLocks noChangeAspect="1" noChangeArrowheads="1"/>
              </p:cNvSpPr>
              <p:nvPr/>
            </p:nvSpPr>
            <p:spPr bwMode="auto">
              <a:xfrm flipV="1">
                <a:off x="2617" y="664"/>
                <a:ext cx="2" cy="342"/>
              </a:xfrm>
              <a:custGeom>
                <a:avLst/>
                <a:gdLst>
                  <a:gd name="T0" fmla="*/ 0 w 1"/>
                  <a:gd name="T1" fmla="*/ 1003 h 1003"/>
                  <a:gd name="T2" fmla="*/ 0 w 1"/>
                  <a:gd name="T3" fmla="*/ 0 h 1003"/>
                  <a:gd name="T4" fmla="*/ 1 w 1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03">
                    <a:moveTo>
                      <a:pt x="0" y="100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6" name="Freeform 45"/>
              <p:cNvSpPr>
                <a:spLocks noChangeAspect="1" noChangeArrowheads="1"/>
              </p:cNvSpPr>
              <p:nvPr/>
            </p:nvSpPr>
            <p:spPr bwMode="auto">
              <a:xfrm flipV="1">
                <a:off x="2685" y="664"/>
                <a:ext cx="3" cy="342"/>
              </a:xfrm>
              <a:custGeom>
                <a:avLst/>
                <a:gdLst>
                  <a:gd name="T0" fmla="*/ 0 w 1"/>
                  <a:gd name="T1" fmla="*/ 1003 h 1003"/>
                  <a:gd name="T2" fmla="*/ 0 w 1"/>
                  <a:gd name="T3" fmla="*/ 0 h 1003"/>
                  <a:gd name="T4" fmla="*/ 1 w 1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03">
                    <a:moveTo>
                      <a:pt x="0" y="100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7" name="Freeform 46"/>
              <p:cNvSpPr>
                <a:spLocks noChangeAspect="1" noChangeArrowheads="1"/>
              </p:cNvSpPr>
              <p:nvPr/>
            </p:nvSpPr>
            <p:spPr bwMode="auto">
              <a:xfrm flipV="1">
                <a:off x="2753" y="664"/>
                <a:ext cx="3" cy="342"/>
              </a:xfrm>
              <a:custGeom>
                <a:avLst/>
                <a:gdLst>
                  <a:gd name="T0" fmla="*/ 0 w 1"/>
                  <a:gd name="T1" fmla="*/ 1003 h 1003"/>
                  <a:gd name="T2" fmla="*/ 0 w 1"/>
                  <a:gd name="T3" fmla="*/ 0 h 1003"/>
                  <a:gd name="T4" fmla="*/ 1 w 1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03">
                    <a:moveTo>
                      <a:pt x="0" y="100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8" name="Freeform 47"/>
              <p:cNvSpPr>
                <a:spLocks noChangeAspect="1" noChangeArrowheads="1"/>
              </p:cNvSpPr>
              <p:nvPr/>
            </p:nvSpPr>
            <p:spPr bwMode="auto">
              <a:xfrm flipV="1">
                <a:off x="2822" y="664"/>
                <a:ext cx="2" cy="342"/>
              </a:xfrm>
              <a:custGeom>
                <a:avLst/>
                <a:gdLst>
                  <a:gd name="T0" fmla="*/ 0 w 1"/>
                  <a:gd name="T1" fmla="*/ 1003 h 1003"/>
                  <a:gd name="T2" fmla="*/ 0 w 1"/>
                  <a:gd name="T3" fmla="*/ 0 h 1003"/>
                  <a:gd name="T4" fmla="*/ 1 w 1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03">
                    <a:moveTo>
                      <a:pt x="0" y="100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9" name="Freeform 48"/>
              <p:cNvSpPr>
                <a:spLocks noChangeAspect="1" noChangeArrowheads="1"/>
              </p:cNvSpPr>
              <p:nvPr/>
            </p:nvSpPr>
            <p:spPr bwMode="auto">
              <a:xfrm flipV="1">
                <a:off x="2890" y="664"/>
                <a:ext cx="3" cy="342"/>
              </a:xfrm>
              <a:custGeom>
                <a:avLst/>
                <a:gdLst>
                  <a:gd name="T0" fmla="*/ 0 w 1"/>
                  <a:gd name="T1" fmla="*/ 1003 h 1003"/>
                  <a:gd name="T2" fmla="*/ 0 w 1"/>
                  <a:gd name="T3" fmla="*/ 0 h 1003"/>
                  <a:gd name="T4" fmla="*/ 1 w 1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03">
                    <a:moveTo>
                      <a:pt x="0" y="100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8" name="Group 49"/>
            <p:cNvGrpSpPr>
              <a:grpSpLocks noChangeAspect="1"/>
            </p:cNvGrpSpPr>
            <p:nvPr/>
          </p:nvGrpSpPr>
          <p:grpSpPr bwMode="auto">
            <a:xfrm>
              <a:off x="4715" y="576"/>
              <a:ext cx="514" cy="342"/>
              <a:chOff x="4301" y="1889"/>
              <a:chExt cx="514" cy="342"/>
            </a:xfrm>
          </p:grpSpPr>
          <p:sp>
            <p:nvSpPr>
              <p:cNvPr id="466" name="Freeform 50"/>
              <p:cNvSpPr>
                <a:spLocks noChangeAspect="1" noChangeArrowheads="1"/>
              </p:cNvSpPr>
              <p:nvPr/>
            </p:nvSpPr>
            <p:spPr bwMode="auto">
              <a:xfrm>
                <a:off x="4301" y="1889"/>
                <a:ext cx="514" cy="342"/>
              </a:xfrm>
              <a:custGeom>
                <a:avLst/>
                <a:gdLst>
                  <a:gd name="T0" fmla="*/ 0 w 1504"/>
                  <a:gd name="T1" fmla="*/ 1002 h 1002"/>
                  <a:gd name="T2" fmla="*/ 1504 w 1504"/>
                  <a:gd name="T3" fmla="*/ 1002 h 1002"/>
                  <a:gd name="T4" fmla="*/ 1504 w 1504"/>
                  <a:gd name="T5" fmla="*/ 0 h 1002"/>
                  <a:gd name="T6" fmla="*/ 0 w 1504"/>
                  <a:gd name="T7" fmla="*/ 0 h 1002"/>
                  <a:gd name="T8" fmla="*/ 0 w 1504"/>
                  <a:gd name="T9" fmla="*/ 1002 h 1002"/>
                  <a:gd name="T10" fmla="*/ 1 w 1504"/>
                  <a:gd name="T11" fmla="*/ 1002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04" h="1002">
                    <a:moveTo>
                      <a:pt x="0" y="1002"/>
                    </a:moveTo>
                    <a:lnTo>
                      <a:pt x="1504" y="1002"/>
                    </a:lnTo>
                    <a:lnTo>
                      <a:pt x="1504" y="0"/>
                    </a:lnTo>
                    <a:lnTo>
                      <a:pt x="0" y="0"/>
                    </a:lnTo>
                    <a:lnTo>
                      <a:pt x="0" y="1002"/>
                    </a:lnTo>
                    <a:lnTo>
                      <a:pt x="1" y="1002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7" name="Freeform 51"/>
              <p:cNvSpPr>
                <a:spLocks noChangeAspect="1" noChangeArrowheads="1"/>
              </p:cNvSpPr>
              <p:nvPr/>
            </p:nvSpPr>
            <p:spPr bwMode="auto">
              <a:xfrm>
                <a:off x="4301" y="1889"/>
                <a:ext cx="41" cy="41"/>
              </a:xfrm>
              <a:custGeom>
                <a:avLst/>
                <a:gdLst>
                  <a:gd name="T0" fmla="*/ 0 w 120"/>
                  <a:gd name="T1" fmla="*/ 119 h 119"/>
                  <a:gd name="T2" fmla="*/ 119 w 120"/>
                  <a:gd name="T3" fmla="*/ 0 h 119"/>
                  <a:gd name="T4" fmla="*/ 120 w 120"/>
                  <a:gd name="T5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0" h="119">
                    <a:moveTo>
                      <a:pt x="0" y="119"/>
                    </a:moveTo>
                    <a:lnTo>
                      <a:pt x="119" y="0"/>
                    </a:lnTo>
                    <a:lnTo>
                      <a:pt x="12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8" name="Freeform 52"/>
              <p:cNvSpPr>
                <a:spLocks noChangeAspect="1" noChangeArrowheads="1"/>
              </p:cNvSpPr>
              <p:nvPr/>
            </p:nvSpPr>
            <p:spPr bwMode="auto">
              <a:xfrm>
                <a:off x="4301" y="1889"/>
                <a:ext cx="213" cy="214"/>
              </a:xfrm>
              <a:custGeom>
                <a:avLst/>
                <a:gdLst>
                  <a:gd name="T0" fmla="*/ 0 w 626"/>
                  <a:gd name="T1" fmla="*/ 626 h 626"/>
                  <a:gd name="T2" fmla="*/ 625 w 626"/>
                  <a:gd name="T3" fmla="*/ 0 h 626"/>
                  <a:gd name="T4" fmla="*/ 626 w 626"/>
                  <a:gd name="T5" fmla="*/ 0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26" h="626">
                    <a:moveTo>
                      <a:pt x="0" y="626"/>
                    </a:moveTo>
                    <a:lnTo>
                      <a:pt x="625" y="0"/>
                    </a:lnTo>
                    <a:lnTo>
                      <a:pt x="626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9" name="Freeform 53"/>
              <p:cNvSpPr>
                <a:spLocks noChangeAspect="1" noChangeArrowheads="1"/>
              </p:cNvSpPr>
              <p:nvPr/>
            </p:nvSpPr>
            <p:spPr bwMode="auto">
              <a:xfrm>
                <a:off x="4344" y="1889"/>
                <a:ext cx="342" cy="342"/>
              </a:xfrm>
              <a:custGeom>
                <a:avLst/>
                <a:gdLst>
                  <a:gd name="T0" fmla="*/ 0 w 1003"/>
                  <a:gd name="T1" fmla="*/ 1002 h 1002"/>
                  <a:gd name="T2" fmla="*/ 1002 w 1003"/>
                  <a:gd name="T3" fmla="*/ 0 h 1002"/>
                  <a:gd name="T4" fmla="*/ 1003 w 1003"/>
                  <a:gd name="T5" fmla="*/ 0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3" h="1002">
                    <a:moveTo>
                      <a:pt x="0" y="1002"/>
                    </a:moveTo>
                    <a:lnTo>
                      <a:pt x="1002" y="0"/>
                    </a:lnTo>
                    <a:lnTo>
                      <a:pt x="1003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70" name="Freeform 54"/>
              <p:cNvSpPr>
                <a:spLocks noChangeAspect="1" noChangeArrowheads="1"/>
              </p:cNvSpPr>
              <p:nvPr/>
            </p:nvSpPr>
            <p:spPr bwMode="auto">
              <a:xfrm>
                <a:off x="4517" y="1933"/>
                <a:ext cx="298" cy="298"/>
              </a:xfrm>
              <a:custGeom>
                <a:avLst/>
                <a:gdLst>
                  <a:gd name="T0" fmla="*/ 0 w 869"/>
                  <a:gd name="T1" fmla="*/ 868 h 868"/>
                  <a:gd name="T2" fmla="*/ 868 w 869"/>
                  <a:gd name="T3" fmla="*/ 0 h 868"/>
                  <a:gd name="T4" fmla="*/ 869 w 869"/>
                  <a:gd name="T5" fmla="*/ 0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69" h="868">
                    <a:moveTo>
                      <a:pt x="0" y="868"/>
                    </a:moveTo>
                    <a:lnTo>
                      <a:pt x="868" y="0"/>
                    </a:lnTo>
                    <a:lnTo>
                      <a:pt x="869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71" name="Freeform 55"/>
              <p:cNvSpPr>
                <a:spLocks noChangeAspect="1" noChangeArrowheads="1"/>
              </p:cNvSpPr>
              <p:nvPr/>
            </p:nvSpPr>
            <p:spPr bwMode="auto">
              <a:xfrm>
                <a:off x="4689" y="2108"/>
                <a:ext cx="126" cy="123"/>
              </a:xfrm>
              <a:custGeom>
                <a:avLst/>
                <a:gdLst>
                  <a:gd name="T0" fmla="*/ 0 w 363"/>
                  <a:gd name="T1" fmla="*/ 361 h 361"/>
                  <a:gd name="T2" fmla="*/ 362 w 363"/>
                  <a:gd name="T3" fmla="*/ 0 h 361"/>
                  <a:gd name="T4" fmla="*/ 363 w 363"/>
                  <a:gd name="T5" fmla="*/ 0 h 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3" h="361">
                    <a:moveTo>
                      <a:pt x="0" y="361"/>
                    </a:moveTo>
                    <a:lnTo>
                      <a:pt x="362" y="0"/>
                    </a:lnTo>
                    <a:lnTo>
                      <a:pt x="363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72" name="Freeform 56"/>
              <p:cNvSpPr>
                <a:spLocks noChangeAspect="1" noChangeArrowheads="1"/>
              </p:cNvSpPr>
              <p:nvPr/>
            </p:nvSpPr>
            <p:spPr bwMode="auto">
              <a:xfrm>
                <a:off x="4301" y="1889"/>
                <a:ext cx="98" cy="99"/>
              </a:xfrm>
              <a:custGeom>
                <a:avLst/>
                <a:gdLst>
                  <a:gd name="T0" fmla="*/ 0 w 289"/>
                  <a:gd name="T1" fmla="*/ 288 h 288"/>
                  <a:gd name="T2" fmla="*/ 288 w 289"/>
                  <a:gd name="T3" fmla="*/ 0 h 288"/>
                  <a:gd name="T4" fmla="*/ 289 w 289"/>
                  <a:gd name="T5" fmla="*/ 0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9" h="288">
                    <a:moveTo>
                      <a:pt x="0" y="288"/>
                    </a:moveTo>
                    <a:lnTo>
                      <a:pt x="288" y="0"/>
                    </a:lnTo>
                    <a:lnTo>
                      <a:pt x="289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73" name="Freeform 57"/>
              <p:cNvSpPr>
                <a:spLocks noChangeAspect="1" noChangeArrowheads="1"/>
              </p:cNvSpPr>
              <p:nvPr/>
            </p:nvSpPr>
            <p:spPr bwMode="auto">
              <a:xfrm>
                <a:off x="4301" y="1889"/>
                <a:ext cx="270" cy="271"/>
              </a:xfrm>
              <a:custGeom>
                <a:avLst/>
                <a:gdLst>
                  <a:gd name="T0" fmla="*/ 0 w 795"/>
                  <a:gd name="T1" fmla="*/ 795 h 795"/>
                  <a:gd name="T2" fmla="*/ 794 w 795"/>
                  <a:gd name="T3" fmla="*/ 0 h 795"/>
                  <a:gd name="T4" fmla="*/ 795 w 795"/>
                  <a:gd name="T5" fmla="*/ 0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95" h="795">
                    <a:moveTo>
                      <a:pt x="0" y="795"/>
                    </a:moveTo>
                    <a:lnTo>
                      <a:pt x="794" y="0"/>
                    </a:lnTo>
                    <a:lnTo>
                      <a:pt x="795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74" name="Freeform 58"/>
              <p:cNvSpPr>
                <a:spLocks noChangeAspect="1" noChangeArrowheads="1"/>
              </p:cNvSpPr>
              <p:nvPr/>
            </p:nvSpPr>
            <p:spPr bwMode="auto">
              <a:xfrm>
                <a:off x="4402" y="1889"/>
                <a:ext cx="342" cy="342"/>
              </a:xfrm>
              <a:custGeom>
                <a:avLst/>
                <a:gdLst>
                  <a:gd name="T0" fmla="*/ 0 w 1003"/>
                  <a:gd name="T1" fmla="*/ 1002 h 1002"/>
                  <a:gd name="T2" fmla="*/ 1002 w 1003"/>
                  <a:gd name="T3" fmla="*/ 0 h 1002"/>
                  <a:gd name="T4" fmla="*/ 1003 w 1003"/>
                  <a:gd name="T5" fmla="*/ 0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3" h="1002">
                    <a:moveTo>
                      <a:pt x="0" y="1002"/>
                    </a:moveTo>
                    <a:lnTo>
                      <a:pt x="1002" y="0"/>
                    </a:lnTo>
                    <a:lnTo>
                      <a:pt x="1003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75" name="Freeform 59"/>
              <p:cNvSpPr>
                <a:spLocks noChangeAspect="1" noChangeArrowheads="1"/>
              </p:cNvSpPr>
              <p:nvPr/>
            </p:nvSpPr>
            <p:spPr bwMode="auto">
              <a:xfrm>
                <a:off x="4574" y="1990"/>
                <a:ext cx="241" cy="241"/>
              </a:xfrm>
              <a:custGeom>
                <a:avLst/>
                <a:gdLst>
                  <a:gd name="T0" fmla="*/ 0 w 701"/>
                  <a:gd name="T1" fmla="*/ 699 h 699"/>
                  <a:gd name="T2" fmla="*/ 700 w 701"/>
                  <a:gd name="T3" fmla="*/ 0 h 699"/>
                  <a:gd name="T4" fmla="*/ 701 w 701"/>
                  <a:gd name="T5" fmla="*/ 0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01" h="699">
                    <a:moveTo>
                      <a:pt x="0" y="699"/>
                    </a:moveTo>
                    <a:lnTo>
                      <a:pt x="700" y="0"/>
                    </a:lnTo>
                    <a:lnTo>
                      <a:pt x="70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76" name="Freeform 60"/>
              <p:cNvSpPr>
                <a:spLocks noChangeAspect="1" noChangeArrowheads="1"/>
              </p:cNvSpPr>
              <p:nvPr/>
            </p:nvSpPr>
            <p:spPr bwMode="auto">
              <a:xfrm>
                <a:off x="4746" y="2165"/>
                <a:ext cx="69" cy="66"/>
              </a:xfrm>
              <a:custGeom>
                <a:avLst/>
                <a:gdLst>
                  <a:gd name="T0" fmla="*/ 0 w 194"/>
                  <a:gd name="T1" fmla="*/ 192 h 192"/>
                  <a:gd name="T2" fmla="*/ 193 w 194"/>
                  <a:gd name="T3" fmla="*/ 0 h 192"/>
                  <a:gd name="T4" fmla="*/ 194 w 194"/>
                  <a:gd name="T5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4" h="192">
                    <a:moveTo>
                      <a:pt x="0" y="192"/>
                    </a:moveTo>
                    <a:lnTo>
                      <a:pt x="193" y="0"/>
                    </a:lnTo>
                    <a:lnTo>
                      <a:pt x="194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9" name="Group 61"/>
            <p:cNvGrpSpPr>
              <a:grpSpLocks noChangeAspect="1"/>
            </p:cNvGrpSpPr>
            <p:nvPr/>
          </p:nvGrpSpPr>
          <p:grpSpPr bwMode="auto">
            <a:xfrm>
              <a:off x="1488" y="1996"/>
              <a:ext cx="514" cy="345"/>
              <a:chOff x="1488" y="1996"/>
              <a:chExt cx="514" cy="345"/>
            </a:xfrm>
          </p:grpSpPr>
          <p:sp>
            <p:nvSpPr>
              <p:cNvPr id="458" name="Freeform 62"/>
              <p:cNvSpPr>
                <a:spLocks noChangeAspect="1" noChangeArrowheads="1"/>
              </p:cNvSpPr>
              <p:nvPr/>
            </p:nvSpPr>
            <p:spPr bwMode="auto">
              <a:xfrm>
                <a:off x="1488" y="1996"/>
                <a:ext cx="511" cy="345"/>
              </a:xfrm>
              <a:custGeom>
                <a:avLst/>
                <a:gdLst>
                  <a:gd name="T0" fmla="*/ 0 w 1502"/>
                  <a:gd name="T1" fmla="*/ 1003 h 1003"/>
                  <a:gd name="T2" fmla="*/ 1502 w 1502"/>
                  <a:gd name="T3" fmla="*/ 1003 h 1003"/>
                  <a:gd name="T4" fmla="*/ 1502 w 1502"/>
                  <a:gd name="T5" fmla="*/ 0 h 1003"/>
                  <a:gd name="T6" fmla="*/ 0 w 1502"/>
                  <a:gd name="T7" fmla="*/ 0 h 1003"/>
                  <a:gd name="T8" fmla="*/ 0 w 1502"/>
                  <a:gd name="T9" fmla="*/ 1003 h 1003"/>
                  <a:gd name="T10" fmla="*/ 1 w 1502"/>
                  <a:gd name="T11" fmla="*/ 10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02" h="1003">
                    <a:moveTo>
                      <a:pt x="0" y="1003"/>
                    </a:moveTo>
                    <a:lnTo>
                      <a:pt x="1502" y="1003"/>
                    </a:lnTo>
                    <a:lnTo>
                      <a:pt x="1502" y="0"/>
                    </a:lnTo>
                    <a:lnTo>
                      <a:pt x="0" y="0"/>
                    </a:lnTo>
                    <a:lnTo>
                      <a:pt x="0" y="1003"/>
                    </a:lnTo>
                    <a:lnTo>
                      <a:pt x="1" y="1003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9" name="Freeform 63"/>
              <p:cNvSpPr>
                <a:spLocks noChangeAspect="1" noChangeArrowheads="1"/>
              </p:cNvSpPr>
              <p:nvPr/>
            </p:nvSpPr>
            <p:spPr bwMode="auto">
              <a:xfrm>
                <a:off x="1488" y="2114"/>
                <a:ext cx="170" cy="66"/>
              </a:xfrm>
              <a:custGeom>
                <a:avLst/>
                <a:gdLst>
                  <a:gd name="T0" fmla="*/ 0 w 501"/>
                  <a:gd name="T1" fmla="*/ 0 h 191"/>
                  <a:gd name="T2" fmla="*/ 59 w 501"/>
                  <a:gd name="T3" fmla="*/ 11 h 191"/>
                  <a:gd name="T4" fmla="*/ 127 w 501"/>
                  <a:gd name="T5" fmla="*/ 21 h 191"/>
                  <a:gd name="T6" fmla="*/ 206 w 501"/>
                  <a:gd name="T7" fmla="*/ 30 h 191"/>
                  <a:gd name="T8" fmla="*/ 291 w 501"/>
                  <a:gd name="T9" fmla="*/ 39 h 191"/>
                  <a:gd name="T10" fmla="*/ 372 w 501"/>
                  <a:gd name="T11" fmla="*/ 48 h 191"/>
                  <a:gd name="T12" fmla="*/ 439 w 501"/>
                  <a:gd name="T13" fmla="*/ 58 h 191"/>
                  <a:gd name="T14" fmla="*/ 466 w 501"/>
                  <a:gd name="T15" fmla="*/ 63 h 191"/>
                  <a:gd name="T16" fmla="*/ 485 w 501"/>
                  <a:gd name="T17" fmla="*/ 69 h 191"/>
                  <a:gd name="T18" fmla="*/ 497 w 501"/>
                  <a:gd name="T19" fmla="*/ 75 h 191"/>
                  <a:gd name="T20" fmla="*/ 501 w 501"/>
                  <a:gd name="T21" fmla="*/ 82 h 191"/>
                  <a:gd name="T22" fmla="*/ 494 w 501"/>
                  <a:gd name="T23" fmla="*/ 89 h 191"/>
                  <a:gd name="T24" fmla="*/ 479 w 501"/>
                  <a:gd name="T25" fmla="*/ 97 h 191"/>
                  <a:gd name="T26" fmla="*/ 457 w 501"/>
                  <a:gd name="T27" fmla="*/ 106 h 191"/>
                  <a:gd name="T28" fmla="*/ 427 w 501"/>
                  <a:gd name="T29" fmla="*/ 114 h 191"/>
                  <a:gd name="T30" fmla="*/ 357 w 501"/>
                  <a:gd name="T31" fmla="*/ 131 h 191"/>
                  <a:gd name="T32" fmla="*/ 276 w 501"/>
                  <a:gd name="T33" fmla="*/ 147 h 191"/>
                  <a:gd name="T34" fmla="*/ 195 w 501"/>
                  <a:gd name="T35" fmla="*/ 162 h 191"/>
                  <a:gd name="T36" fmla="*/ 124 w 501"/>
                  <a:gd name="T37" fmla="*/ 174 h 191"/>
                  <a:gd name="T38" fmla="*/ 59 w 501"/>
                  <a:gd name="T39" fmla="*/ 183 h 191"/>
                  <a:gd name="T40" fmla="*/ 0 w 501"/>
                  <a:gd name="T41" fmla="*/ 191 h 191"/>
                  <a:gd name="T42" fmla="*/ 1 w 501"/>
                  <a:gd name="T43" fmla="*/ 191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01" h="191">
                    <a:moveTo>
                      <a:pt x="0" y="0"/>
                    </a:moveTo>
                    <a:lnTo>
                      <a:pt x="59" y="11"/>
                    </a:lnTo>
                    <a:lnTo>
                      <a:pt x="127" y="21"/>
                    </a:lnTo>
                    <a:lnTo>
                      <a:pt x="206" y="30"/>
                    </a:lnTo>
                    <a:lnTo>
                      <a:pt x="291" y="39"/>
                    </a:lnTo>
                    <a:lnTo>
                      <a:pt x="372" y="48"/>
                    </a:lnTo>
                    <a:lnTo>
                      <a:pt x="439" y="58"/>
                    </a:lnTo>
                    <a:lnTo>
                      <a:pt x="466" y="63"/>
                    </a:lnTo>
                    <a:lnTo>
                      <a:pt x="485" y="69"/>
                    </a:lnTo>
                    <a:lnTo>
                      <a:pt x="497" y="75"/>
                    </a:lnTo>
                    <a:lnTo>
                      <a:pt x="501" y="82"/>
                    </a:lnTo>
                    <a:lnTo>
                      <a:pt x="494" y="89"/>
                    </a:lnTo>
                    <a:lnTo>
                      <a:pt x="479" y="97"/>
                    </a:lnTo>
                    <a:lnTo>
                      <a:pt x="457" y="106"/>
                    </a:lnTo>
                    <a:lnTo>
                      <a:pt x="427" y="114"/>
                    </a:lnTo>
                    <a:lnTo>
                      <a:pt x="357" y="131"/>
                    </a:lnTo>
                    <a:lnTo>
                      <a:pt x="276" y="147"/>
                    </a:lnTo>
                    <a:lnTo>
                      <a:pt x="195" y="162"/>
                    </a:lnTo>
                    <a:lnTo>
                      <a:pt x="124" y="174"/>
                    </a:lnTo>
                    <a:lnTo>
                      <a:pt x="59" y="183"/>
                    </a:lnTo>
                    <a:lnTo>
                      <a:pt x="0" y="191"/>
                    </a:lnTo>
                    <a:lnTo>
                      <a:pt x="1" y="191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0" name="Freeform 64"/>
              <p:cNvSpPr>
                <a:spLocks noChangeAspect="1" noChangeArrowheads="1"/>
              </p:cNvSpPr>
              <p:nvPr/>
            </p:nvSpPr>
            <p:spPr bwMode="auto">
              <a:xfrm>
                <a:off x="1488" y="2068"/>
                <a:ext cx="227" cy="150"/>
              </a:xfrm>
              <a:custGeom>
                <a:avLst/>
                <a:gdLst>
                  <a:gd name="T0" fmla="*/ 0 w 664"/>
                  <a:gd name="T1" fmla="*/ 0 h 441"/>
                  <a:gd name="T2" fmla="*/ 165 w 664"/>
                  <a:gd name="T3" fmla="*/ 36 h 441"/>
                  <a:gd name="T4" fmla="*/ 257 w 664"/>
                  <a:gd name="T5" fmla="*/ 56 h 441"/>
                  <a:gd name="T6" fmla="*/ 366 w 664"/>
                  <a:gd name="T7" fmla="*/ 72 h 441"/>
                  <a:gd name="T8" fmla="*/ 476 w 664"/>
                  <a:gd name="T9" fmla="*/ 86 h 441"/>
                  <a:gd name="T10" fmla="*/ 528 w 664"/>
                  <a:gd name="T11" fmla="*/ 94 h 441"/>
                  <a:gd name="T12" fmla="*/ 575 w 664"/>
                  <a:gd name="T13" fmla="*/ 105 h 441"/>
                  <a:gd name="T14" fmla="*/ 614 w 664"/>
                  <a:gd name="T15" fmla="*/ 116 h 441"/>
                  <a:gd name="T16" fmla="*/ 642 w 664"/>
                  <a:gd name="T17" fmla="*/ 130 h 441"/>
                  <a:gd name="T18" fmla="*/ 660 w 664"/>
                  <a:gd name="T19" fmla="*/ 148 h 441"/>
                  <a:gd name="T20" fmla="*/ 664 w 664"/>
                  <a:gd name="T21" fmla="*/ 168 h 441"/>
                  <a:gd name="T22" fmla="*/ 654 w 664"/>
                  <a:gd name="T23" fmla="*/ 192 h 441"/>
                  <a:gd name="T24" fmla="*/ 632 w 664"/>
                  <a:gd name="T25" fmla="*/ 218 h 441"/>
                  <a:gd name="T26" fmla="*/ 601 w 664"/>
                  <a:gd name="T27" fmla="*/ 247 h 441"/>
                  <a:gd name="T28" fmla="*/ 562 w 664"/>
                  <a:gd name="T29" fmla="*/ 274 h 441"/>
                  <a:gd name="T30" fmla="*/ 466 w 664"/>
                  <a:gd name="T31" fmla="*/ 329 h 441"/>
                  <a:gd name="T32" fmla="*/ 361 w 664"/>
                  <a:gd name="T33" fmla="*/ 374 h 441"/>
                  <a:gd name="T34" fmla="*/ 261 w 664"/>
                  <a:gd name="T35" fmla="*/ 405 h 441"/>
                  <a:gd name="T36" fmla="*/ 169 w 664"/>
                  <a:gd name="T37" fmla="*/ 422 h 441"/>
                  <a:gd name="T38" fmla="*/ 0 w 664"/>
                  <a:gd name="T39" fmla="*/ 441 h 441"/>
                  <a:gd name="T40" fmla="*/ 1 w 664"/>
                  <a:gd name="T41" fmla="*/ 441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64" h="441">
                    <a:moveTo>
                      <a:pt x="0" y="0"/>
                    </a:moveTo>
                    <a:lnTo>
                      <a:pt x="165" y="36"/>
                    </a:lnTo>
                    <a:lnTo>
                      <a:pt x="257" y="56"/>
                    </a:lnTo>
                    <a:lnTo>
                      <a:pt x="366" y="72"/>
                    </a:lnTo>
                    <a:lnTo>
                      <a:pt x="476" y="86"/>
                    </a:lnTo>
                    <a:lnTo>
                      <a:pt x="528" y="94"/>
                    </a:lnTo>
                    <a:lnTo>
                      <a:pt x="575" y="105"/>
                    </a:lnTo>
                    <a:lnTo>
                      <a:pt x="614" y="116"/>
                    </a:lnTo>
                    <a:lnTo>
                      <a:pt x="642" y="130"/>
                    </a:lnTo>
                    <a:lnTo>
                      <a:pt x="660" y="148"/>
                    </a:lnTo>
                    <a:lnTo>
                      <a:pt x="664" y="168"/>
                    </a:lnTo>
                    <a:lnTo>
                      <a:pt x="654" y="192"/>
                    </a:lnTo>
                    <a:lnTo>
                      <a:pt x="632" y="218"/>
                    </a:lnTo>
                    <a:lnTo>
                      <a:pt x="601" y="247"/>
                    </a:lnTo>
                    <a:lnTo>
                      <a:pt x="562" y="274"/>
                    </a:lnTo>
                    <a:lnTo>
                      <a:pt x="466" y="329"/>
                    </a:lnTo>
                    <a:lnTo>
                      <a:pt x="361" y="374"/>
                    </a:lnTo>
                    <a:lnTo>
                      <a:pt x="261" y="405"/>
                    </a:lnTo>
                    <a:lnTo>
                      <a:pt x="169" y="422"/>
                    </a:lnTo>
                    <a:lnTo>
                      <a:pt x="0" y="441"/>
                    </a:lnTo>
                    <a:lnTo>
                      <a:pt x="1" y="441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1" name="Freeform 65"/>
              <p:cNvSpPr>
                <a:spLocks noChangeAspect="1" noChangeArrowheads="1"/>
              </p:cNvSpPr>
              <p:nvPr/>
            </p:nvSpPr>
            <p:spPr bwMode="auto">
              <a:xfrm>
                <a:off x="1488" y="2018"/>
                <a:ext cx="314" cy="266"/>
              </a:xfrm>
              <a:custGeom>
                <a:avLst/>
                <a:gdLst>
                  <a:gd name="T0" fmla="*/ 0 w 920"/>
                  <a:gd name="T1" fmla="*/ 0 h 776"/>
                  <a:gd name="T2" fmla="*/ 152 w 920"/>
                  <a:gd name="T3" fmla="*/ 26 h 776"/>
                  <a:gd name="T4" fmla="*/ 315 w 920"/>
                  <a:gd name="T5" fmla="*/ 60 h 776"/>
                  <a:gd name="T6" fmla="*/ 478 w 920"/>
                  <a:gd name="T7" fmla="*/ 101 h 776"/>
                  <a:gd name="T8" fmla="*/ 629 w 920"/>
                  <a:gd name="T9" fmla="*/ 148 h 776"/>
                  <a:gd name="T10" fmla="*/ 698 w 920"/>
                  <a:gd name="T11" fmla="*/ 174 h 776"/>
                  <a:gd name="T12" fmla="*/ 760 w 920"/>
                  <a:gd name="T13" fmla="*/ 202 h 776"/>
                  <a:gd name="T14" fmla="*/ 813 w 920"/>
                  <a:gd name="T15" fmla="*/ 231 h 776"/>
                  <a:gd name="T16" fmla="*/ 858 w 920"/>
                  <a:gd name="T17" fmla="*/ 262 h 776"/>
                  <a:gd name="T18" fmla="*/ 891 w 920"/>
                  <a:gd name="T19" fmla="*/ 295 h 776"/>
                  <a:gd name="T20" fmla="*/ 912 w 920"/>
                  <a:gd name="T21" fmla="*/ 328 h 776"/>
                  <a:gd name="T22" fmla="*/ 920 w 920"/>
                  <a:gd name="T23" fmla="*/ 364 h 776"/>
                  <a:gd name="T24" fmla="*/ 913 w 920"/>
                  <a:gd name="T25" fmla="*/ 400 h 776"/>
                  <a:gd name="T26" fmla="*/ 894 w 920"/>
                  <a:gd name="T27" fmla="*/ 438 h 776"/>
                  <a:gd name="T28" fmla="*/ 862 w 920"/>
                  <a:gd name="T29" fmla="*/ 474 h 776"/>
                  <a:gd name="T30" fmla="*/ 820 w 920"/>
                  <a:gd name="T31" fmla="*/ 511 h 776"/>
                  <a:gd name="T32" fmla="*/ 771 w 920"/>
                  <a:gd name="T33" fmla="*/ 548 h 776"/>
                  <a:gd name="T34" fmla="*/ 714 w 920"/>
                  <a:gd name="T35" fmla="*/ 582 h 776"/>
                  <a:gd name="T36" fmla="*/ 653 w 920"/>
                  <a:gd name="T37" fmla="*/ 613 h 776"/>
                  <a:gd name="T38" fmla="*/ 519 w 920"/>
                  <a:gd name="T39" fmla="*/ 668 h 776"/>
                  <a:gd name="T40" fmla="*/ 383 w 920"/>
                  <a:gd name="T41" fmla="*/ 707 h 776"/>
                  <a:gd name="T42" fmla="*/ 250 w 920"/>
                  <a:gd name="T43" fmla="*/ 733 h 776"/>
                  <a:gd name="T44" fmla="*/ 123 w 920"/>
                  <a:gd name="T45" fmla="*/ 752 h 776"/>
                  <a:gd name="T46" fmla="*/ 0 w 920"/>
                  <a:gd name="T47" fmla="*/ 776 h 776"/>
                  <a:gd name="T48" fmla="*/ 1 w 920"/>
                  <a:gd name="T49" fmla="*/ 776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20" h="776">
                    <a:moveTo>
                      <a:pt x="0" y="0"/>
                    </a:moveTo>
                    <a:lnTo>
                      <a:pt x="152" y="26"/>
                    </a:lnTo>
                    <a:lnTo>
                      <a:pt x="315" y="60"/>
                    </a:lnTo>
                    <a:lnTo>
                      <a:pt x="478" y="101"/>
                    </a:lnTo>
                    <a:lnTo>
                      <a:pt x="629" y="148"/>
                    </a:lnTo>
                    <a:lnTo>
                      <a:pt x="698" y="174"/>
                    </a:lnTo>
                    <a:lnTo>
                      <a:pt x="760" y="202"/>
                    </a:lnTo>
                    <a:lnTo>
                      <a:pt x="813" y="231"/>
                    </a:lnTo>
                    <a:lnTo>
                      <a:pt x="858" y="262"/>
                    </a:lnTo>
                    <a:lnTo>
                      <a:pt x="891" y="295"/>
                    </a:lnTo>
                    <a:lnTo>
                      <a:pt x="912" y="328"/>
                    </a:lnTo>
                    <a:lnTo>
                      <a:pt x="920" y="364"/>
                    </a:lnTo>
                    <a:lnTo>
                      <a:pt x="913" y="400"/>
                    </a:lnTo>
                    <a:lnTo>
                      <a:pt x="894" y="438"/>
                    </a:lnTo>
                    <a:lnTo>
                      <a:pt x="862" y="474"/>
                    </a:lnTo>
                    <a:lnTo>
                      <a:pt x="820" y="511"/>
                    </a:lnTo>
                    <a:lnTo>
                      <a:pt x="771" y="548"/>
                    </a:lnTo>
                    <a:lnTo>
                      <a:pt x="714" y="582"/>
                    </a:lnTo>
                    <a:lnTo>
                      <a:pt x="653" y="613"/>
                    </a:lnTo>
                    <a:lnTo>
                      <a:pt x="519" y="668"/>
                    </a:lnTo>
                    <a:lnTo>
                      <a:pt x="383" y="707"/>
                    </a:lnTo>
                    <a:lnTo>
                      <a:pt x="250" y="733"/>
                    </a:lnTo>
                    <a:lnTo>
                      <a:pt x="123" y="752"/>
                    </a:lnTo>
                    <a:lnTo>
                      <a:pt x="0" y="776"/>
                    </a:lnTo>
                    <a:lnTo>
                      <a:pt x="1" y="776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2" name="Freeform 66"/>
              <p:cNvSpPr>
                <a:spLocks noChangeAspect="1" noChangeArrowheads="1"/>
              </p:cNvSpPr>
              <p:nvPr/>
            </p:nvSpPr>
            <p:spPr bwMode="auto">
              <a:xfrm>
                <a:off x="1586" y="1996"/>
                <a:ext cx="334" cy="345"/>
              </a:xfrm>
              <a:custGeom>
                <a:avLst/>
                <a:gdLst>
                  <a:gd name="T0" fmla="*/ 428 w 974"/>
                  <a:gd name="T1" fmla="*/ 0 h 1003"/>
                  <a:gd name="T2" fmla="*/ 497 w 974"/>
                  <a:gd name="T3" fmla="*/ 13 h 1003"/>
                  <a:gd name="T4" fmla="*/ 567 w 974"/>
                  <a:gd name="T5" fmla="*/ 35 h 1003"/>
                  <a:gd name="T6" fmla="*/ 636 w 974"/>
                  <a:gd name="T7" fmla="*/ 60 h 1003"/>
                  <a:gd name="T8" fmla="*/ 702 w 974"/>
                  <a:gd name="T9" fmla="*/ 92 h 1003"/>
                  <a:gd name="T10" fmla="*/ 764 w 974"/>
                  <a:gd name="T11" fmla="*/ 129 h 1003"/>
                  <a:gd name="T12" fmla="*/ 821 w 974"/>
                  <a:gd name="T13" fmla="*/ 168 h 1003"/>
                  <a:gd name="T14" fmla="*/ 871 w 974"/>
                  <a:gd name="T15" fmla="*/ 210 h 1003"/>
                  <a:gd name="T16" fmla="*/ 912 w 974"/>
                  <a:gd name="T17" fmla="*/ 253 h 1003"/>
                  <a:gd name="T18" fmla="*/ 945 w 974"/>
                  <a:gd name="T19" fmla="*/ 299 h 1003"/>
                  <a:gd name="T20" fmla="*/ 965 w 974"/>
                  <a:gd name="T21" fmla="*/ 344 h 1003"/>
                  <a:gd name="T22" fmla="*/ 974 w 974"/>
                  <a:gd name="T23" fmla="*/ 388 h 1003"/>
                  <a:gd name="T24" fmla="*/ 972 w 974"/>
                  <a:gd name="T25" fmla="*/ 432 h 1003"/>
                  <a:gd name="T26" fmla="*/ 960 w 974"/>
                  <a:gd name="T27" fmla="*/ 475 h 1003"/>
                  <a:gd name="T28" fmla="*/ 939 w 974"/>
                  <a:gd name="T29" fmla="*/ 517 h 1003"/>
                  <a:gd name="T30" fmla="*/ 908 w 974"/>
                  <a:gd name="T31" fmla="*/ 558 h 1003"/>
                  <a:gd name="T32" fmla="*/ 871 w 974"/>
                  <a:gd name="T33" fmla="*/ 597 h 1003"/>
                  <a:gd name="T34" fmla="*/ 827 w 974"/>
                  <a:gd name="T35" fmla="*/ 634 h 1003"/>
                  <a:gd name="T36" fmla="*/ 778 w 974"/>
                  <a:gd name="T37" fmla="*/ 670 h 1003"/>
                  <a:gd name="T38" fmla="*/ 668 w 974"/>
                  <a:gd name="T39" fmla="*/ 734 h 1003"/>
                  <a:gd name="T40" fmla="*/ 549 w 974"/>
                  <a:gd name="T41" fmla="*/ 791 h 1003"/>
                  <a:gd name="T42" fmla="*/ 428 w 974"/>
                  <a:gd name="T43" fmla="*/ 836 h 1003"/>
                  <a:gd name="T44" fmla="*/ 312 w 974"/>
                  <a:gd name="T45" fmla="*/ 870 h 1003"/>
                  <a:gd name="T46" fmla="*/ 201 w 974"/>
                  <a:gd name="T47" fmla="*/ 904 h 1003"/>
                  <a:gd name="T48" fmla="*/ 98 w 974"/>
                  <a:gd name="T49" fmla="*/ 945 h 1003"/>
                  <a:gd name="T50" fmla="*/ 48 w 974"/>
                  <a:gd name="T51" fmla="*/ 971 h 1003"/>
                  <a:gd name="T52" fmla="*/ 0 w 974"/>
                  <a:gd name="T53" fmla="*/ 1003 h 1003"/>
                  <a:gd name="T54" fmla="*/ 1 w 974"/>
                  <a:gd name="T55" fmla="*/ 10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74" h="1003">
                    <a:moveTo>
                      <a:pt x="428" y="0"/>
                    </a:moveTo>
                    <a:lnTo>
                      <a:pt x="497" y="13"/>
                    </a:lnTo>
                    <a:lnTo>
                      <a:pt x="567" y="35"/>
                    </a:lnTo>
                    <a:lnTo>
                      <a:pt x="636" y="60"/>
                    </a:lnTo>
                    <a:lnTo>
                      <a:pt x="702" y="92"/>
                    </a:lnTo>
                    <a:lnTo>
                      <a:pt x="764" y="129"/>
                    </a:lnTo>
                    <a:lnTo>
                      <a:pt x="821" y="168"/>
                    </a:lnTo>
                    <a:lnTo>
                      <a:pt x="871" y="210"/>
                    </a:lnTo>
                    <a:lnTo>
                      <a:pt x="912" y="253"/>
                    </a:lnTo>
                    <a:lnTo>
                      <a:pt x="945" y="299"/>
                    </a:lnTo>
                    <a:lnTo>
                      <a:pt x="965" y="344"/>
                    </a:lnTo>
                    <a:lnTo>
                      <a:pt x="974" y="388"/>
                    </a:lnTo>
                    <a:lnTo>
                      <a:pt x="972" y="432"/>
                    </a:lnTo>
                    <a:lnTo>
                      <a:pt x="960" y="475"/>
                    </a:lnTo>
                    <a:lnTo>
                      <a:pt x="939" y="517"/>
                    </a:lnTo>
                    <a:lnTo>
                      <a:pt x="908" y="558"/>
                    </a:lnTo>
                    <a:lnTo>
                      <a:pt x="871" y="597"/>
                    </a:lnTo>
                    <a:lnTo>
                      <a:pt x="827" y="634"/>
                    </a:lnTo>
                    <a:lnTo>
                      <a:pt x="778" y="670"/>
                    </a:lnTo>
                    <a:lnTo>
                      <a:pt x="668" y="734"/>
                    </a:lnTo>
                    <a:lnTo>
                      <a:pt x="549" y="791"/>
                    </a:lnTo>
                    <a:lnTo>
                      <a:pt x="428" y="836"/>
                    </a:lnTo>
                    <a:lnTo>
                      <a:pt x="312" y="870"/>
                    </a:lnTo>
                    <a:lnTo>
                      <a:pt x="201" y="904"/>
                    </a:lnTo>
                    <a:lnTo>
                      <a:pt x="98" y="945"/>
                    </a:lnTo>
                    <a:lnTo>
                      <a:pt x="48" y="971"/>
                    </a:lnTo>
                    <a:lnTo>
                      <a:pt x="0" y="1003"/>
                    </a:lnTo>
                    <a:lnTo>
                      <a:pt x="1" y="1003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3" name="Freeform 67"/>
              <p:cNvSpPr>
                <a:spLocks noChangeAspect="1" noChangeArrowheads="1"/>
              </p:cNvSpPr>
              <p:nvPr/>
            </p:nvSpPr>
            <p:spPr bwMode="auto">
              <a:xfrm>
                <a:off x="1873" y="1996"/>
                <a:ext cx="129" cy="91"/>
              </a:xfrm>
              <a:custGeom>
                <a:avLst/>
                <a:gdLst>
                  <a:gd name="T0" fmla="*/ 0 w 368"/>
                  <a:gd name="T1" fmla="*/ 0 h 262"/>
                  <a:gd name="T2" fmla="*/ 54 w 368"/>
                  <a:gd name="T3" fmla="*/ 11 h 262"/>
                  <a:gd name="T4" fmla="*/ 102 w 368"/>
                  <a:gd name="T5" fmla="*/ 24 h 262"/>
                  <a:gd name="T6" fmla="*/ 145 w 368"/>
                  <a:gd name="T7" fmla="*/ 37 h 262"/>
                  <a:gd name="T8" fmla="*/ 183 w 368"/>
                  <a:gd name="T9" fmla="*/ 51 h 262"/>
                  <a:gd name="T10" fmla="*/ 243 w 368"/>
                  <a:gd name="T11" fmla="*/ 84 h 262"/>
                  <a:gd name="T12" fmla="*/ 287 w 368"/>
                  <a:gd name="T13" fmla="*/ 118 h 262"/>
                  <a:gd name="T14" fmla="*/ 318 w 368"/>
                  <a:gd name="T15" fmla="*/ 153 h 262"/>
                  <a:gd name="T16" fmla="*/ 341 w 368"/>
                  <a:gd name="T17" fmla="*/ 190 h 262"/>
                  <a:gd name="T18" fmla="*/ 367 w 368"/>
                  <a:gd name="T19" fmla="*/ 262 h 262"/>
                  <a:gd name="T20" fmla="*/ 368 w 368"/>
                  <a:gd name="T21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8" h="262">
                    <a:moveTo>
                      <a:pt x="0" y="0"/>
                    </a:moveTo>
                    <a:lnTo>
                      <a:pt x="54" y="11"/>
                    </a:lnTo>
                    <a:lnTo>
                      <a:pt x="102" y="24"/>
                    </a:lnTo>
                    <a:lnTo>
                      <a:pt x="145" y="37"/>
                    </a:lnTo>
                    <a:lnTo>
                      <a:pt x="183" y="51"/>
                    </a:lnTo>
                    <a:lnTo>
                      <a:pt x="243" y="84"/>
                    </a:lnTo>
                    <a:lnTo>
                      <a:pt x="287" y="118"/>
                    </a:lnTo>
                    <a:lnTo>
                      <a:pt x="318" y="153"/>
                    </a:lnTo>
                    <a:lnTo>
                      <a:pt x="341" y="190"/>
                    </a:lnTo>
                    <a:lnTo>
                      <a:pt x="367" y="262"/>
                    </a:lnTo>
                    <a:lnTo>
                      <a:pt x="368" y="262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4" name="Freeform 68"/>
              <p:cNvSpPr>
                <a:spLocks noChangeAspect="1" noChangeArrowheads="1"/>
              </p:cNvSpPr>
              <p:nvPr/>
            </p:nvSpPr>
            <p:spPr bwMode="auto">
              <a:xfrm>
                <a:off x="1849" y="2245"/>
                <a:ext cx="150" cy="96"/>
              </a:xfrm>
              <a:custGeom>
                <a:avLst/>
                <a:gdLst>
                  <a:gd name="T0" fmla="*/ 446 w 446"/>
                  <a:gd name="T1" fmla="*/ 0 h 277"/>
                  <a:gd name="T2" fmla="*/ 412 w 446"/>
                  <a:gd name="T3" fmla="*/ 52 h 277"/>
                  <a:gd name="T4" fmla="*/ 370 w 446"/>
                  <a:gd name="T5" fmla="*/ 98 h 277"/>
                  <a:gd name="T6" fmla="*/ 319 w 446"/>
                  <a:gd name="T7" fmla="*/ 136 h 277"/>
                  <a:gd name="T8" fmla="*/ 262 w 446"/>
                  <a:gd name="T9" fmla="*/ 169 h 277"/>
                  <a:gd name="T10" fmla="*/ 133 w 446"/>
                  <a:gd name="T11" fmla="*/ 223 h 277"/>
                  <a:gd name="T12" fmla="*/ 0 w 446"/>
                  <a:gd name="T13" fmla="*/ 277 h 277"/>
                  <a:gd name="T14" fmla="*/ 1 w 446"/>
                  <a:gd name="T15" fmla="*/ 277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6" h="277">
                    <a:moveTo>
                      <a:pt x="446" y="0"/>
                    </a:moveTo>
                    <a:lnTo>
                      <a:pt x="412" y="52"/>
                    </a:lnTo>
                    <a:lnTo>
                      <a:pt x="370" y="98"/>
                    </a:lnTo>
                    <a:lnTo>
                      <a:pt x="319" y="136"/>
                    </a:lnTo>
                    <a:lnTo>
                      <a:pt x="262" y="169"/>
                    </a:lnTo>
                    <a:lnTo>
                      <a:pt x="133" y="223"/>
                    </a:lnTo>
                    <a:lnTo>
                      <a:pt x="0" y="277"/>
                    </a:lnTo>
                    <a:lnTo>
                      <a:pt x="1" y="277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5" name="Freeform 69"/>
              <p:cNvSpPr>
                <a:spLocks noChangeAspect="1" noChangeArrowheads="1"/>
              </p:cNvSpPr>
              <p:nvPr/>
            </p:nvSpPr>
            <p:spPr bwMode="auto">
              <a:xfrm>
                <a:off x="1740" y="2174"/>
                <a:ext cx="259" cy="167"/>
              </a:xfrm>
              <a:custGeom>
                <a:avLst/>
                <a:gdLst>
                  <a:gd name="T0" fmla="*/ 761 w 761"/>
                  <a:gd name="T1" fmla="*/ 0 h 482"/>
                  <a:gd name="T2" fmla="*/ 739 w 761"/>
                  <a:gd name="T3" fmla="*/ 44 h 482"/>
                  <a:gd name="T4" fmla="*/ 709 w 761"/>
                  <a:gd name="T5" fmla="*/ 85 h 482"/>
                  <a:gd name="T6" fmla="*/ 674 w 761"/>
                  <a:gd name="T7" fmla="*/ 122 h 482"/>
                  <a:gd name="T8" fmla="*/ 633 w 761"/>
                  <a:gd name="T9" fmla="*/ 156 h 482"/>
                  <a:gd name="T10" fmla="*/ 538 w 761"/>
                  <a:gd name="T11" fmla="*/ 217 h 482"/>
                  <a:gd name="T12" fmla="*/ 429 w 761"/>
                  <a:gd name="T13" fmla="*/ 271 h 482"/>
                  <a:gd name="T14" fmla="*/ 197 w 761"/>
                  <a:gd name="T15" fmla="*/ 369 h 482"/>
                  <a:gd name="T16" fmla="*/ 88 w 761"/>
                  <a:gd name="T17" fmla="*/ 422 h 482"/>
                  <a:gd name="T18" fmla="*/ 41 w 761"/>
                  <a:gd name="T19" fmla="*/ 450 h 482"/>
                  <a:gd name="T20" fmla="*/ 0 w 761"/>
                  <a:gd name="T21" fmla="*/ 482 h 482"/>
                  <a:gd name="T22" fmla="*/ 1 w 761"/>
                  <a:gd name="T23" fmla="*/ 482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61" h="482">
                    <a:moveTo>
                      <a:pt x="761" y="0"/>
                    </a:moveTo>
                    <a:lnTo>
                      <a:pt x="739" y="44"/>
                    </a:lnTo>
                    <a:lnTo>
                      <a:pt x="709" y="85"/>
                    </a:lnTo>
                    <a:lnTo>
                      <a:pt x="674" y="122"/>
                    </a:lnTo>
                    <a:lnTo>
                      <a:pt x="633" y="156"/>
                    </a:lnTo>
                    <a:lnTo>
                      <a:pt x="538" y="217"/>
                    </a:lnTo>
                    <a:lnTo>
                      <a:pt x="429" y="271"/>
                    </a:lnTo>
                    <a:lnTo>
                      <a:pt x="197" y="369"/>
                    </a:lnTo>
                    <a:lnTo>
                      <a:pt x="88" y="422"/>
                    </a:lnTo>
                    <a:lnTo>
                      <a:pt x="41" y="450"/>
                    </a:lnTo>
                    <a:lnTo>
                      <a:pt x="0" y="482"/>
                    </a:lnTo>
                    <a:lnTo>
                      <a:pt x="1" y="482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0" name="Group 70"/>
            <p:cNvGrpSpPr>
              <a:grpSpLocks noChangeAspect="1"/>
            </p:cNvGrpSpPr>
            <p:nvPr/>
          </p:nvGrpSpPr>
          <p:grpSpPr bwMode="auto">
            <a:xfrm>
              <a:off x="1488" y="2688"/>
              <a:ext cx="514" cy="345"/>
              <a:chOff x="1488" y="2688"/>
              <a:chExt cx="514" cy="345"/>
            </a:xfrm>
          </p:grpSpPr>
          <p:sp>
            <p:nvSpPr>
              <p:cNvPr id="432" name="Freeform 71"/>
              <p:cNvSpPr>
                <a:spLocks noChangeAspect="1" noChangeArrowheads="1"/>
              </p:cNvSpPr>
              <p:nvPr/>
            </p:nvSpPr>
            <p:spPr bwMode="auto">
              <a:xfrm>
                <a:off x="1488" y="2688"/>
                <a:ext cx="511" cy="345"/>
              </a:xfrm>
              <a:custGeom>
                <a:avLst/>
                <a:gdLst>
                  <a:gd name="T0" fmla="*/ 0 w 1502"/>
                  <a:gd name="T1" fmla="*/ 1003 h 1003"/>
                  <a:gd name="T2" fmla="*/ 1502 w 1502"/>
                  <a:gd name="T3" fmla="*/ 1003 h 1003"/>
                  <a:gd name="T4" fmla="*/ 1502 w 1502"/>
                  <a:gd name="T5" fmla="*/ 0 h 1003"/>
                  <a:gd name="T6" fmla="*/ 0 w 1502"/>
                  <a:gd name="T7" fmla="*/ 0 h 1003"/>
                  <a:gd name="T8" fmla="*/ 0 w 1502"/>
                  <a:gd name="T9" fmla="*/ 1003 h 1003"/>
                  <a:gd name="T10" fmla="*/ 1 w 1502"/>
                  <a:gd name="T11" fmla="*/ 10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02" h="1003">
                    <a:moveTo>
                      <a:pt x="0" y="1003"/>
                    </a:moveTo>
                    <a:lnTo>
                      <a:pt x="1502" y="1003"/>
                    </a:lnTo>
                    <a:lnTo>
                      <a:pt x="1502" y="0"/>
                    </a:lnTo>
                    <a:lnTo>
                      <a:pt x="0" y="0"/>
                    </a:lnTo>
                    <a:lnTo>
                      <a:pt x="0" y="1003"/>
                    </a:lnTo>
                    <a:lnTo>
                      <a:pt x="1" y="1003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3" name="Freeform 72"/>
              <p:cNvSpPr>
                <a:spLocks noChangeAspect="1" noChangeArrowheads="1"/>
              </p:cNvSpPr>
              <p:nvPr/>
            </p:nvSpPr>
            <p:spPr bwMode="auto">
              <a:xfrm>
                <a:off x="1791" y="2688"/>
                <a:ext cx="3" cy="345"/>
              </a:xfrm>
              <a:custGeom>
                <a:avLst/>
                <a:gdLst>
                  <a:gd name="T0" fmla="*/ 0 w 1"/>
                  <a:gd name="T1" fmla="*/ 0 h 1003"/>
                  <a:gd name="T2" fmla="*/ 0 w 1"/>
                  <a:gd name="T3" fmla="*/ 1003 h 1003"/>
                  <a:gd name="T4" fmla="*/ 1 w 1"/>
                  <a:gd name="T5" fmla="*/ 10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03">
                    <a:moveTo>
                      <a:pt x="0" y="0"/>
                    </a:moveTo>
                    <a:lnTo>
                      <a:pt x="0" y="1003"/>
                    </a:lnTo>
                    <a:lnTo>
                      <a:pt x="1" y="1003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4" name="Freeform 73"/>
              <p:cNvSpPr>
                <a:spLocks noChangeAspect="1" noChangeArrowheads="1"/>
              </p:cNvSpPr>
              <p:nvPr/>
            </p:nvSpPr>
            <p:spPr bwMode="auto">
              <a:xfrm>
                <a:off x="1491" y="2696"/>
                <a:ext cx="300" cy="337"/>
              </a:xfrm>
              <a:custGeom>
                <a:avLst/>
                <a:gdLst>
                  <a:gd name="T0" fmla="*/ 153 w 879"/>
                  <a:gd name="T1" fmla="*/ 981 h 981"/>
                  <a:gd name="T2" fmla="*/ 111 w 879"/>
                  <a:gd name="T3" fmla="*/ 869 h 981"/>
                  <a:gd name="T4" fmla="*/ 73 w 879"/>
                  <a:gd name="T5" fmla="*/ 754 h 981"/>
                  <a:gd name="T6" fmla="*/ 40 w 879"/>
                  <a:gd name="T7" fmla="*/ 632 h 981"/>
                  <a:gd name="T8" fmla="*/ 14 w 879"/>
                  <a:gd name="T9" fmla="*/ 504 h 981"/>
                  <a:gd name="T10" fmla="*/ 0 w 879"/>
                  <a:gd name="T11" fmla="*/ 373 h 981"/>
                  <a:gd name="T12" fmla="*/ 1 w 879"/>
                  <a:gd name="T13" fmla="*/ 308 h 981"/>
                  <a:gd name="T14" fmla="*/ 10 w 879"/>
                  <a:gd name="T15" fmla="*/ 246 h 981"/>
                  <a:gd name="T16" fmla="*/ 28 w 879"/>
                  <a:gd name="T17" fmla="*/ 190 h 981"/>
                  <a:gd name="T18" fmla="*/ 57 w 879"/>
                  <a:gd name="T19" fmla="*/ 139 h 981"/>
                  <a:gd name="T20" fmla="*/ 97 w 879"/>
                  <a:gd name="T21" fmla="*/ 95 h 981"/>
                  <a:gd name="T22" fmla="*/ 150 w 879"/>
                  <a:gd name="T23" fmla="*/ 58 h 981"/>
                  <a:gd name="T24" fmla="*/ 209 w 879"/>
                  <a:gd name="T25" fmla="*/ 30 h 981"/>
                  <a:gd name="T26" fmla="*/ 274 w 879"/>
                  <a:gd name="T27" fmla="*/ 11 h 981"/>
                  <a:gd name="T28" fmla="*/ 342 w 879"/>
                  <a:gd name="T29" fmla="*/ 1 h 981"/>
                  <a:gd name="T30" fmla="*/ 410 w 879"/>
                  <a:gd name="T31" fmla="*/ 0 h 981"/>
                  <a:gd name="T32" fmla="*/ 475 w 879"/>
                  <a:gd name="T33" fmla="*/ 8 h 981"/>
                  <a:gd name="T34" fmla="*/ 536 w 879"/>
                  <a:gd name="T35" fmla="*/ 26 h 981"/>
                  <a:gd name="T36" fmla="*/ 589 w 879"/>
                  <a:gd name="T37" fmla="*/ 55 h 981"/>
                  <a:gd name="T38" fmla="*/ 635 w 879"/>
                  <a:gd name="T39" fmla="*/ 92 h 981"/>
                  <a:gd name="T40" fmla="*/ 673 w 879"/>
                  <a:gd name="T41" fmla="*/ 137 h 981"/>
                  <a:gd name="T42" fmla="*/ 707 w 879"/>
                  <a:gd name="T43" fmla="*/ 189 h 981"/>
                  <a:gd name="T44" fmla="*/ 765 w 879"/>
                  <a:gd name="T45" fmla="*/ 303 h 981"/>
                  <a:gd name="T46" fmla="*/ 878 w 879"/>
                  <a:gd name="T47" fmla="*/ 537 h 981"/>
                  <a:gd name="T48" fmla="*/ 879 w 879"/>
                  <a:gd name="T49" fmla="*/ 537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79" h="981">
                    <a:moveTo>
                      <a:pt x="153" y="981"/>
                    </a:moveTo>
                    <a:lnTo>
                      <a:pt x="111" y="869"/>
                    </a:lnTo>
                    <a:lnTo>
                      <a:pt x="73" y="754"/>
                    </a:lnTo>
                    <a:lnTo>
                      <a:pt x="40" y="632"/>
                    </a:lnTo>
                    <a:lnTo>
                      <a:pt x="14" y="504"/>
                    </a:lnTo>
                    <a:lnTo>
                      <a:pt x="0" y="373"/>
                    </a:lnTo>
                    <a:lnTo>
                      <a:pt x="1" y="308"/>
                    </a:lnTo>
                    <a:lnTo>
                      <a:pt x="10" y="246"/>
                    </a:lnTo>
                    <a:lnTo>
                      <a:pt x="28" y="190"/>
                    </a:lnTo>
                    <a:lnTo>
                      <a:pt x="57" y="139"/>
                    </a:lnTo>
                    <a:lnTo>
                      <a:pt x="97" y="95"/>
                    </a:lnTo>
                    <a:lnTo>
                      <a:pt x="150" y="58"/>
                    </a:lnTo>
                    <a:lnTo>
                      <a:pt x="209" y="30"/>
                    </a:lnTo>
                    <a:lnTo>
                      <a:pt x="274" y="11"/>
                    </a:lnTo>
                    <a:lnTo>
                      <a:pt x="342" y="1"/>
                    </a:lnTo>
                    <a:lnTo>
                      <a:pt x="410" y="0"/>
                    </a:lnTo>
                    <a:lnTo>
                      <a:pt x="475" y="8"/>
                    </a:lnTo>
                    <a:lnTo>
                      <a:pt x="536" y="26"/>
                    </a:lnTo>
                    <a:lnTo>
                      <a:pt x="589" y="55"/>
                    </a:lnTo>
                    <a:lnTo>
                      <a:pt x="635" y="92"/>
                    </a:lnTo>
                    <a:lnTo>
                      <a:pt x="673" y="137"/>
                    </a:lnTo>
                    <a:lnTo>
                      <a:pt x="707" y="189"/>
                    </a:lnTo>
                    <a:lnTo>
                      <a:pt x="765" y="303"/>
                    </a:lnTo>
                    <a:lnTo>
                      <a:pt x="878" y="537"/>
                    </a:lnTo>
                    <a:lnTo>
                      <a:pt x="879" y="537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5" name="Freeform 74"/>
              <p:cNvSpPr>
                <a:spLocks noChangeAspect="1" noChangeArrowheads="1"/>
              </p:cNvSpPr>
              <p:nvPr/>
            </p:nvSpPr>
            <p:spPr bwMode="auto">
              <a:xfrm>
                <a:off x="1545" y="2765"/>
                <a:ext cx="225" cy="268"/>
              </a:xfrm>
              <a:custGeom>
                <a:avLst/>
                <a:gdLst>
                  <a:gd name="T0" fmla="*/ 176 w 653"/>
                  <a:gd name="T1" fmla="*/ 737 h 777"/>
                  <a:gd name="T2" fmla="*/ 127 w 653"/>
                  <a:gd name="T3" fmla="*/ 637 h 777"/>
                  <a:gd name="T4" fmla="*/ 80 w 653"/>
                  <a:gd name="T5" fmla="*/ 533 h 777"/>
                  <a:gd name="T6" fmla="*/ 41 w 653"/>
                  <a:gd name="T7" fmla="*/ 419 h 777"/>
                  <a:gd name="T8" fmla="*/ 24 w 653"/>
                  <a:gd name="T9" fmla="*/ 356 h 777"/>
                  <a:gd name="T10" fmla="*/ 11 w 653"/>
                  <a:gd name="T11" fmla="*/ 291 h 777"/>
                  <a:gd name="T12" fmla="*/ 2 w 653"/>
                  <a:gd name="T13" fmla="*/ 223 h 777"/>
                  <a:gd name="T14" fmla="*/ 0 w 653"/>
                  <a:gd name="T15" fmla="*/ 158 h 777"/>
                  <a:gd name="T16" fmla="*/ 8 w 653"/>
                  <a:gd name="T17" fmla="*/ 99 h 777"/>
                  <a:gd name="T18" fmla="*/ 29 w 653"/>
                  <a:gd name="T19" fmla="*/ 52 h 777"/>
                  <a:gd name="T20" fmla="*/ 45 w 653"/>
                  <a:gd name="T21" fmla="*/ 34 h 777"/>
                  <a:gd name="T22" fmla="*/ 65 w 653"/>
                  <a:gd name="T23" fmla="*/ 19 h 777"/>
                  <a:gd name="T24" fmla="*/ 114 w 653"/>
                  <a:gd name="T25" fmla="*/ 3 h 777"/>
                  <a:gd name="T26" fmla="*/ 173 w 653"/>
                  <a:gd name="T27" fmla="*/ 0 h 777"/>
                  <a:gd name="T28" fmla="*/ 238 w 653"/>
                  <a:gd name="T29" fmla="*/ 9 h 777"/>
                  <a:gd name="T30" fmla="*/ 305 w 653"/>
                  <a:gd name="T31" fmla="*/ 29 h 777"/>
                  <a:gd name="T32" fmla="*/ 370 w 653"/>
                  <a:gd name="T33" fmla="*/ 55 h 777"/>
                  <a:gd name="T34" fmla="*/ 431 w 653"/>
                  <a:gd name="T35" fmla="*/ 89 h 777"/>
                  <a:gd name="T36" fmla="*/ 484 w 653"/>
                  <a:gd name="T37" fmla="*/ 128 h 777"/>
                  <a:gd name="T38" fmla="*/ 530 w 653"/>
                  <a:gd name="T39" fmla="*/ 171 h 777"/>
                  <a:gd name="T40" fmla="*/ 570 w 653"/>
                  <a:gd name="T41" fmla="*/ 218 h 777"/>
                  <a:gd name="T42" fmla="*/ 601 w 653"/>
                  <a:gd name="T43" fmla="*/ 269 h 777"/>
                  <a:gd name="T44" fmla="*/ 627 w 653"/>
                  <a:gd name="T45" fmla="*/ 322 h 777"/>
                  <a:gd name="T46" fmla="*/ 643 w 653"/>
                  <a:gd name="T47" fmla="*/ 376 h 777"/>
                  <a:gd name="T48" fmla="*/ 652 w 653"/>
                  <a:gd name="T49" fmla="*/ 432 h 777"/>
                  <a:gd name="T50" fmla="*/ 653 w 653"/>
                  <a:gd name="T51" fmla="*/ 488 h 777"/>
                  <a:gd name="T52" fmla="*/ 647 w 653"/>
                  <a:gd name="T53" fmla="*/ 545 h 777"/>
                  <a:gd name="T54" fmla="*/ 621 w 653"/>
                  <a:gd name="T55" fmla="*/ 661 h 777"/>
                  <a:gd name="T56" fmla="*/ 580 w 653"/>
                  <a:gd name="T57" fmla="*/ 777 h 777"/>
                  <a:gd name="T58" fmla="*/ 581 w 653"/>
                  <a:gd name="T59" fmla="*/ 777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53" h="777">
                    <a:moveTo>
                      <a:pt x="176" y="737"/>
                    </a:moveTo>
                    <a:lnTo>
                      <a:pt x="127" y="637"/>
                    </a:lnTo>
                    <a:lnTo>
                      <a:pt x="80" y="533"/>
                    </a:lnTo>
                    <a:lnTo>
                      <a:pt x="41" y="419"/>
                    </a:lnTo>
                    <a:lnTo>
                      <a:pt x="24" y="356"/>
                    </a:lnTo>
                    <a:lnTo>
                      <a:pt x="11" y="291"/>
                    </a:lnTo>
                    <a:lnTo>
                      <a:pt x="2" y="223"/>
                    </a:lnTo>
                    <a:lnTo>
                      <a:pt x="0" y="158"/>
                    </a:lnTo>
                    <a:lnTo>
                      <a:pt x="8" y="99"/>
                    </a:lnTo>
                    <a:lnTo>
                      <a:pt x="29" y="52"/>
                    </a:lnTo>
                    <a:lnTo>
                      <a:pt x="45" y="34"/>
                    </a:lnTo>
                    <a:lnTo>
                      <a:pt x="65" y="19"/>
                    </a:lnTo>
                    <a:lnTo>
                      <a:pt x="114" y="3"/>
                    </a:lnTo>
                    <a:lnTo>
                      <a:pt x="173" y="0"/>
                    </a:lnTo>
                    <a:lnTo>
                      <a:pt x="238" y="9"/>
                    </a:lnTo>
                    <a:lnTo>
                      <a:pt x="305" y="29"/>
                    </a:lnTo>
                    <a:lnTo>
                      <a:pt x="370" y="55"/>
                    </a:lnTo>
                    <a:lnTo>
                      <a:pt x="431" y="89"/>
                    </a:lnTo>
                    <a:lnTo>
                      <a:pt x="484" y="128"/>
                    </a:lnTo>
                    <a:lnTo>
                      <a:pt x="530" y="171"/>
                    </a:lnTo>
                    <a:lnTo>
                      <a:pt x="570" y="218"/>
                    </a:lnTo>
                    <a:lnTo>
                      <a:pt x="601" y="269"/>
                    </a:lnTo>
                    <a:lnTo>
                      <a:pt x="627" y="322"/>
                    </a:lnTo>
                    <a:lnTo>
                      <a:pt x="643" y="376"/>
                    </a:lnTo>
                    <a:lnTo>
                      <a:pt x="652" y="432"/>
                    </a:lnTo>
                    <a:lnTo>
                      <a:pt x="653" y="488"/>
                    </a:lnTo>
                    <a:lnTo>
                      <a:pt x="647" y="545"/>
                    </a:lnTo>
                    <a:lnTo>
                      <a:pt x="621" y="661"/>
                    </a:lnTo>
                    <a:lnTo>
                      <a:pt x="580" y="777"/>
                    </a:lnTo>
                    <a:lnTo>
                      <a:pt x="581" y="777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6" name="Freeform 75"/>
              <p:cNvSpPr>
                <a:spLocks noChangeAspect="1" noChangeArrowheads="1"/>
              </p:cNvSpPr>
              <p:nvPr/>
            </p:nvSpPr>
            <p:spPr bwMode="auto">
              <a:xfrm>
                <a:off x="1592" y="2830"/>
                <a:ext cx="150" cy="184"/>
              </a:xfrm>
              <a:custGeom>
                <a:avLst/>
                <a:gdLst>
                  <a:gd name="T0" fmla="*/ 152 w 433"/>
                  <a:gd name="T1" fmla="*/ 500 h 529"/>
                  <a:gd name="T2" fmla="*/ 90 w 433"/>
                  <a:gd name="T3" fmla="*/ 430 h 529"/>
                  <a:gd name="T4" fmla="*/ 39 w 433"/>
                  <a:gd name="T5" fmla="*/ 347 h 529"/>
                  <a:gd name="T6" fmla="*/ 20 w 433"/>
                  <a:gd name="T7" fmla="*/ 303 h 529"/>
                  <a:gd name="T8" fmla="*/ 6 w 433"/>
                  <a:gd name="T9" fmla="*/ 258 h 529"/>
                  <a:gd name="T10" fmla="*/ 0 w 433"/>
                  <a:gd name="T11" fmla="*/ 214 h 529"/>
                  <a:gd name="T12" fmla="*/ 1 w 433"/>
                  <a:gd name="T13" fmla="*/ 170 h 529"/>
                  <a:gd name="T14" fmla="*/ 11 w 433"/>
                  <a:gd name="T15" fmla="*/ 128 h 529"/>
                  <a:gd name="T16" fmla="*/ 32 w 433"/>
                  <a:gd name="T17" fmla="*/ 88 h 529"/>
                  <a:gd name="T18" fmla="*/ 62 w 433"/>
                  <a:gd name="T19" fmla="*/ 53 h 529"/>
                  <a:gd name="T20" fmla="*/ 99 w 433"/>
                  <a:gd name="T21" fmla="*/ 26 h 529"/>
                  <a:gd name="T22" fmla="*/ 139 w 433"/>
                  <a:gd name="T23" fmla="*/ 7 h 529"/>
                  <a:gd name="T24" fmla="*/ 181 w 433"/>
                  <a:gd name="T25" fmla="*/ 0 h 529"/>
                  <a:gd name="T26" fmla="*/ 224 w 433"/>
                  <a:gd name="T27" fmla="*/ 6 h 529"/>
                  <a:gd name="T28" fmla="*/ 267 w 433"/>
                  <a:gd name="T29" fmla="*/ 22 h 529"/>
                  <a:gd name="T30" fmla="*/ 307 w 433"/>
                  <a:gd name="T31" fmla="*/ 46 h 529"/>
                  <a:gd name="T32" fmla="*/ 343 w 433"/>
                  <a:gd name="T33" fmla="*/ 79 h 529"/>
                  <a:gd name="T34" fmla="*/ 374 w 433"/>
                  <a:gd name="T35" fmla="*/ 118 h 529"/>
                  <a:gd name="T36" fmla="*/ 400 w 433"/>
                  <a:gd name="T37" fmla="*/ 161 h 529"/>
                  <a:gd name="T38" fmla="*/ 418 w 433"/>
                  <a:gd name="T39" fmla="*/ 208 h 529"/>
                  <a:gd name="T40" fmla="*/ 430 w 433"/>
                  <a:gd name="T41" fmla="*/ 257 h 529"/>
                  <a:gd name="T42" fmla="*/ 433 w 433"/>
                  <a:gd name="T43" fmla="*/ 306 h 529"/>
                  <a:gd name="T44" fmla="*/ 429 w 433"/>
                  <a:gd name="T45" fmla="*/ 354 h 529"/>
                  <a:gd name="T46" fmla="*/ 415 w 433"/>
                  <a:gd name="T47" fmla="*/ 399 h 529"/>
                  <a:gd name="T48" fmla="*/ 395 w 433"/>
                  <a:gd name="T49" fmla="*/ 441 h 529"/>
                  <a:gd name="T50" fmla="*/ 365 w 433"/>
                  <a:gd name="T51" fmla="*/ 476 h 529"/>
                  <a:gd name="T52" fmla="*/ 327 w 433"/>
                  <a:gd name="T53" fmla="*/ 504 h 529"/>
                  <a:gd name="T54" fmla="*/ 281 w 433"/>
                  <a:gd name="T55" fmla="*/ 522 h 529"/>
                  <a:gd name="T56" fmla="*/ 233 w 433"/>
                  <a:gd name="T57" fmla="*/ 529 h 529"/>
                  <a:gd name="T58" fmla="*/ 189 w 433"/>
                  <a:gd name="T59" fmla="*/ 523 h 529"/>
                  <a:gd name="T60" fmla="*/ 169 w 433"/>
                  <a:gd name="T61" fmla="*/ 514 h 529"/>
                  <a:gd name="T62" fmla="*/ 152 w 433"/>
                  <a:gd name="T63" fmla="*/ 500 h 529"/>
                  <a:gd name="T64" fmla="*/ 153 w 433"/>
                  <a:gd name="T65" fmla="*/ 500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3" h="529">
                    <a:moveTo>
                      <a:pt x="152" y="500"/>
                    </a:moveTo>
                    <a:lnTo>
                      <a:pt x="90" y="430"/>
                    </a:lnTo>
                    <a:lnTo>
                      <a:pt x="39" y="347"/>
                    </a:lnTo>
                    <a:lnTo>
                      <a:pt x="20" y="303"/>
                    </a:lnTo>
                    <a:lnTo>
                      <a:pt x="6" y="258"/>
                    </a:lnTo>
                    <a:lnTo>
                      <a:pt x="0" y="214"/>
                    </a:lnTo>
                    <a:lnTo>
                      <a:pt x="1" y="170"/>
                    </a:lnTo>
                    <a:lnTo>
                      <a:pt x="11" y="128"/>
                    </a:lnTo>
                    <a:lnTo>
                      <a:pt x="32" y="88"/>
                    </a:lnTo>
                    <a:lnTo>
                      <a:pt x="62" y="53"/>
                    </a:lnTo>
                    <a:lnTo>
                      <a:pt x="99" y="26"/>
                    </a:lnTo>
                    <a:lnTo>
                      <a:pt x="139" y="7"/>
                    </a:lnTo>
                    <a:lnTo>
                      <a:pt x="181" y="0"/>
                    </a:lnTo>
                    <a:lnTo>
                      <a:pt x="224" y="6"/>
                    </a:lnTo>
                    <a:lnTo>
                      <a:pt x="267" y="22"/>
                    </a:lnTo>
                    <a:lnTo>
                      <a:pt x="307" y="46"/>
                    </a:lnTo>
                    <a:lnTo>
                      <a:pt x="343" y="79"/>
                    </a:lnTo>
                    <a:lnTo>
                      <a:pt x="374" y="118"/>
                    </a:lnTo>
                    <a:lnTo>
                      <a:pt x="400" y="161"/>
                    </a:lnTo>
                    <a:lnTo>
                      <a:pt x="418" y="208"/>
                    </a:lnTo>
                    <a:lnTo>
                      <a:pt x="430" y="257"/>
                    </a:lnTo>
                    <a:lnTo>
                      <a:pt x="433" y="306"/>
                    </a:lnTo>
                    <a:lnTo>
                      <a:pt x="429" y="354"/>
                    </a:lnTo>
                    <a:lnTo>
                      <a:pt x="415" y="399"/>
                    </a:lnTo>
                    <a:lnTo>
                      <a:pt x="395" y="441"/>
                    </a:lnTo>
                    <a:lnTo>
                      <a:pt x="365" y="476"/>
                    </a:lnTo>
                    <a:lnTo>
                      <a:pt x="327" y="504"/>
                    </a:lnTo>
                    <a:lnTo>
                      <a:pt x="281" y="522"/>
                    </a:lnTo>
                    <a:lnTo>
                      <a:pt x="233" y="529"/>
                    </a:lnTo>
                    <a:lnTo>
                      <a:pt x="189" y="523"/>
                    </a:lnTo>
                    <a:lnTo>
                      <a:pt x="169" y="514"/>
                    </a:lnTo>
                    <a:lnTo>
                      <a:pt x="152" y="500"/>
                    </a:lnTo>
                    <a:lnTo>
                      <a:pt x="153" y="500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7" name="Freeform 76"/>
              <p:cNvSpPr>
                <a:spLocks noChangeAspect="1" noChangeArrowheads="1"/>
              </p:cNvSpPr>
              <p:nvPr/>
            </p:nvSpPr>
            <p:spPr bwMode="auto">
              <a:xfrm>
                <a:off x="1622" y="2874"/>
                <a:ext cx="87" cy="107"/>
              </a:xfrm>
              <a:custGeom>
                <a:avLst/>
                <a:gdLst>
                  <a:gd name="T0" fmla="*/ 57 w 258"/>
                  <a:gd name="T1" fmla="*/ 262 h 311"/>
                  <a:gd name="T2" fmla="*/ 36 w 258"/>
                  <a:gd name="T3" fmla="*/ 248 h 311"/>
                  <a:gd name="T4" fmla="*/ 20 w 258"/>
                  <a:gd name="T5" fmla="*/ 226 h 311"/>
                  <a:gd name="T6" fmla="*/ 8 w 258"/>
                  <a:gd name="T7" fmla="*/ 202 h 311"/>
                  <a:gd name="T8" fmla="*/ 1 w 258"/>
                  <a:gd name="T9" fmla="*/ 173 h 311"/>
                  <a:gd name="T10" fmla="*/ 0 w 258"/>
                  <a:gd name="T11" fmla="*/ 144 h 311"/>
                  <a:gd name="T12" fmla="*/ 4 w 258"/>
                  <a:gd name="T13" fmla="*/ 114 h 311"/>
                  <a:gd name="T14" fmla="*/ 13 w 258"/>
                  <a:gd name="T15" fmla="*/ 85 h 311"/>
                  <a:gd name="T16" fmla="*/ 26 w 258"/>
                  <a:gd name="T17" fmla="*/ 59 h 311"/>
                  <a:gd name="T18" fmla="*/ 43 w 258"/>
                  <a:gd name="T19" fmla="*/ 35 h 311"/>
                  <a:gd name="T20" fmla="*/ 63 w 258"/>
                  <a:gd name="T21" fmla="*/ 17 h 311"/>
                  <a:gd name="T22" fmla="*/ 85 w 258"/>
                  <a:gd name="T23" fmla="*/ 5 h 311"/>
                  <a:gd name="T24" fmla="*/ 110 w 258"/>
                  <a:gd name="T25" fmla="*/ 0 h 311"/>
                  <a:gd name="T26" fmla="*/ 135 w 258"/>
                  <a:gd name="T27" fmla="*/ 2 h 311"/>
                  <a:gd name="T28" fmla="*/ 160 w 258"/>
                  <a:gd name="T29" fmla="*/ 10 h 311"/>
                  <a:gd name="T30" fmla="*/ 184 w 258"/>
                  <a:gd name="T31" fmla="*/ 24 h 311"/>
                  <a:gd name="T32" fmla="*/ 207 w 258"/>
                  <a:gd name="T33" fmla="*/ 44 h 311"/>
                  <a:gd name="T34" fmla="*/ 242 w 258"/>
                  <a:gd name="T35" fmla="*/ 91 h 311"/>
                  <a:gd name="T36" fmla="*/ 253 w 258"/>
                  <a:gd name="T37" fmla="*/ 118 h 311"/>
                  <a:gd name="T38" fmla="*/ 258 w 258"/>
                  <a:gd name="T39" fmla="*/ 145 h 311"/>
                  <a:gd name="T40" fmla="*/ 251 w 258"/>
                  <a:gd name="T41" fmla="*/ 199 h 311"/>
                  <a:gd name="T42" fmla="*/ 230 w 258"/>
                  <a:gd name="T43" fmla="*/ 247 h 311"/>
                  <a:gd name="T44" fmla="*/ 193 w 258"/>
                  <a:gd name="T45" fmla="*/ 284 h 311"/>
                  <a:gd name="T46" fmla="*/ 170 w 258"/>
                  <a:gd name="T47" fmla="*/ 297 h 311"/>
                  <a:gd name="T48" fmla="*/ 142 w 258"/>
                  <a:gd name="T49" fmla="*/ 308 h 311"/>
                  <a:gd name="T50" fmla="*/ 115 w 258"/>
                  <a:gd name="T51" fmla="*/ 311 h 311"/>
                  <a:gd name="T52" fmla="*/ 93 w 258"/>
                  <a:gd name="T53" fmla="*/ 302 h 311"/>
                  <a:gd name="T54" fmla="*/ 77 w 258"/>
                  <a:gd name="T55" fmla="*/ 281 h 311"/>
                  <a:gd name="T56" fmla="*/ 57 w 258"/>
                  <a:gd name="T57" fmla="*/ 262 h 311"/>
                  <a:gd name="T58" fmla="*/ 58 w 258"/>
                  <a:gd name="T59" fmla="*/ 262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58" h="311">
                    <a:moveTo>
                      <a:pt x="57" y="262"/>
                    </a:moveTo>
                    <a:lnTo>
                      <a:pt x="36" y="248"/>
                    </a:lnTo>
                    <a:lnTo>
                      <a:pt x="20" y="226"/>
                    </a:lnTo>
                    <a:lnTo>
                      <a:pt x="8" y="202"/>
                    </a:lnTo>
                    <a:lnTo>
                      <a:pt x="1" y="173"/>
                    </a:lnTo>
                    <a:lnTo>
                      <a:pt x="0" y="144"/>
                    </a:lnTo>
                    <a:lnTo>
                      <a:pt x="4" y="114"/>
                    </a:lnTo>
                    <a:lnTo>
                      <a:pt x="13" y="85"/>
                    </a:lnTo>
                    <a:lnTo>
                      <a:pt x="26" y="59"/>
                    </a:lnTo>
                    <a:lnTo>
                      <a:pt x="43" y="35"/>
                    </a:lnTo>
                    <a:lnTo>
                      <a:pt x="63" y="17"/>
                    </a:lnTo>
                    <a:lnTo>
                      <a:pt x="85" y="5"/>
                    </a:lnTo>
                    <a:lnTo>
                      <a:pt x="110" y="0"/>
                    </a:lnTo>
                    <a:lnTo>
                      <a:pt x="135" y="2"/>
                    </a:lnTo>
                    <a:lnTo>
                      <a:pt x="160" y="10"/>
                    </a:lnTo>
                    <a:lnTo>
                      <a:pt x="184" y="24"/>
                    </a:lnTo>
                    <a:lnTo>
                      <a:pt x="207" y="44"/>
                    </a:lnTo>
                    <a:lnTo>
                      <a:pt x="242" y="91"/>
                    </a:lnTo>
                    <a:lnTo>
                      <a:pt x="253" y="118"/>
                    </a:lnTo>
                    <a:lnTo>
                      <a:pt x="258" y="145"/>
                    </a:lnTo>
                    <a:lnTo>
                      <a:pt x="251" y="199"/>
                    </a:lnTo>
                    <a:lnTo>
                      <a:pt x="230" y="247"/>
                    </a:lnTo>
                    <a:lnTo>
                      <a:pt x="193" y="284"/>
                    </a:lnTo>
                    <a:lnTo>
                      <a:pt x="170" y="297"/>
                    </a:lnTo>
                    <a:lnTo>
                      <a:pt x="142" y="308"/>
                    </a:lnTo>
                    <a:lnTo>
                      <a:pt x="115" y="311"/>
                    </a:lnTo>
                    <a:lnTo>
                      <a:pt x="93" y="302"/>
                    </a:lnTo>
                    <a:lnTo>
                      <a:pt x="77" y="281"/>
                    </a:lnTo>
                    <a:lnTo>
                      <a:pt x="57" y="262"/>
                    </a:lnTo>
                    <a:lnTo>
                      <a:pt x="58" y="262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8" name="Freeform 77"/>
              <p:cNvSpPr>
                <a:spLocks noChangeAspect="1" noChangeArrowheads="1"/>
              </p:cNvSpPr>
              <p:nvPr/>
            </p:nvSpPr>
            <p:spPr bwMode="auto">
              <a:xfrm>
                <a:off x="1663" y="2688"/>
                <a:ext cx="90" cy="241"/>
              </a:xfrm>
              <a:custGeom>
                <a:avLst/>
                <a:gdLst>
                  <a:gd name="T0" fmla="*/ 0 w 263"/>
                  <a:gd name="T1" fmla="*/ 701 h 701"/>
                  <a:gd name="T2" fmla="*/ 15 w 263"/>
                  <a:gd name="T3" fmla="*/ 608 h 701"/>
                  <a:gd name="T4" fmla="*/ 23 w 263"/>
                  <a:gd name="T5" fmla="*/ 513 h 701"/>
                  <a:gd name="T6" fmla="*/ 31 w 263"/>
                  <a:gd name="T7" fmla="*/ 467 h 701"/>
                  <a:gd name="T8" fmla="*/ 42 w 263"/>
                  <a:gd name="T9" fmla="*/ 422 h 701"/>
                  <a:gd name="T10" fmla="*/ 60 w 263"/>
                  <a:gd name="T11" fmla="*/ 379 h 701"/>
                  <a:gd name="T12" fmla="*/ 83 w 263"/>
                  <a:gd name="T13" fmla="*/ 338 h 701"/>
                  <a:gd name="T14" fmla="*/ 133 w 263"/>
                  <a:gd name="T15" fmla="*/ 258 h 701"/>
                  <a:gd name="T16" fmla="*/ 175 w 263"/>
                  <a:gd name="T17" fmla="*/ 175 h 701"/>
                  <a:gd name="T18" fmla="*/ 213 w 263"/>
                  <a:gd name="T19" fmla="*/ 86 h 701"/>
                  <a:gd name="T20" fmla="*/ 262 w 263"/>
                  <a:gd name="T21" fmla="*/ 0 h 701"/>
                  <a:gd name="T22" fmla="*/ 263 w 263"/>
                  <a:gd name="T23" fmla="*/ 0 h 7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3" h="701">
                    <a:moveTo>
                      <a:pt x="0" y="701"/>
                    </a:moveTo>
                    <a:lnTo>
                      <a:pt x="15" y="608"/>
                    </a:lnTo>
                    <a:lnTo>
                      <a:pt x="23" y="513"/>
                    </a:lnTo>
                    <a:lnTo>
                      <a:pt x="31" y="467"/>
                    </a:lnTo>
                    <a:lnTo>
                      <a:pt x="42" y="422"/>
                    </a:lnTo>
                    <a:lnTo>
                      <a:pt x="60" y="379"/>
                    </a:lnTo>
                    <a:lnTo>
                      <a:pt x="83" y="338"/>
                    </a:lnTo>
                    <a:lnTo>
                      <a:pt x="133" y="258"/>
                    </a:lnTo>
                    <a:lnTo>
                      <a:pt x="175" y="175"/>
                    </a:lnTo>
                    <a:lnTo>
                      <a:pt x="213" y="86"/>
                    </a:lnTo>
                    <a:lnTo>
                      <a:pt x="262" y="0"/>
                    </a:lnTo>
                    <a:lnTo>
                      <a:pt x="263" y="0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9" name="Freeform 78"/>
              <p:cNvSpPr>
                <a:spLocks noChangeAspect="1" noChangeArrowheads="1"/>
              </p:cNvSpPr>
              <p:nvPr/>
            </p:nvSpPr>
            <p:spPr bwMode="auto">
              <a:xfrm>
                <a:off x="1663" y="2817"/>
                <a:ext cx="128" cy="112"/>
              </a:xfrm>
              <a:custGeom>
                <a:avLst/>
                <a:gdLst>
                  <a:gd name="T0" fmla="*/ 0 w 376"/>
                  <a:gd name="T1" fmla="*/ 329 h 329"/>
                  <a:gd name="T2" fmla="*/ 14 w 376"/>
                  <a:gd name="T3" fmla="*/ 301 h 329"/>
                  <a:gd name="T4" fmla="*/ 33 w 376"/>
                  <a:gd name="T5" fmla="*/ 277 h 329"/>
                  <a:gd name="T6" fmla="*/ 81 w 376"/>
                  <a:gd name="T7" fmla="*/ 234 h 329"/>
                  <a:gd name="T8" fmla="*/ 190 w 376"/>
                  <a:gd name="T9" fmla="*/ 166 h 329"/>
                  <a:gd name="T10" fmla="*/ 241 w 376"/>
                  <a:gd name="T11" fmla="*/ 131 h 329"/>
                  <a:gd name="T12" fmla="*/ 286 w 376"/>
                  <a:gd name="T13" fmla="*/ 88 h 329"/>
                  <a:gd name="T14" fmla="*/ 329 w 376"/>
                  <a:gd name="T15" fmla="*/ 42 h 329"/>
                  <a:gd name="T16" fmla="*/ 375 w 376"/>
                  <a:gd name="T17" fmla="*/ 0 h 329"/>
                  <a:gd name="T18" fmla="*/ 376 w 376"/>
                  <a:gd name="T19" fmla="*/ 0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6" h="329">
                    <a:moveTo>
                      <a:pt x="0" y="329"/>
                    </a:moveTo>
                    <a:lnTo>
                      <a:pt x="14" y="301"/>
                    </a:lnTo>
                    <a:lnTo>
                      <a:pt x="33" y="277"/>
                    </a:lnTo>
                    <a:lnTo>
                      <a:pt x="81" y="234"/>
                    </a:lnTo>
                    <a:lnTo>
                      <a:pt x="190" y="166"/>
                    </a:lnTo>
                    <a:lnTo>
                      <a:pt x="241" y="131"/>
                    </a:lnTo>
                    <a:lnTo>
                      <a:pt x="286" y="88"/>
                    </a:lnTo>
                    <a:lnTo>
                      <a:pt x="329" y="42"/>
                    </a:lnTo>
                    <a:lnTo>
                      <a:pt x="375" y="0"/>
                    </a:lnTo>
                    <a:lnTo>
                      <a:pt x="376" y="0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0" name="Freeform 79"/>
              <p:cNvSpPr>
                <a:spLocks noChangeAspect="1" noChangeArrowheads="1"/>
              </p:cNvSpPr>
              <p:nvPr/>
            </p:nvSpPr>
            <p:spPr bwMode="auto">
              <a:xfrm>
                <a:off x="1663" y="2918"/>
                <a:ext cx="128" cy="11"/>
              </a:xfrm>
              <a:custGeom>
                <a:avLst/>
                <a:gdLst>
                  <a:gd name="T0" fmla="*/ 0 w 376"/>
                  <a:gd name="T1" fmla="*/ 29 h 29"/>
                  <a:gd name="T2" fmla="*/ 47 w 376"/>
                  <a:gd name="T3" fmla="*/ 28 h 29"/>
                  <a:gd name="T4" fmla="*/ 94 w 376"/>
                  <a:gd name="T5" fmla="*/ 23 h 29"/>
                  <a:gd name="T6" fmla="*/ 188 w 376"/>
                  <a:gd name="T7" fmla="*/ 6 h 29"/>
                  <a:gd name="T8" fmla="*/ 284 w 376"/>
                  <a:gd name="T9" fmla="*/ 0 h 29"/>
                  <a:gd name="T10" fmla="*/ 330 w 376"/>
                  <a:gd name="T11" fmla="*/ 5 h 29"/>
                  <a:gd name="T12" fmla="*/ 375 w 376"/>
                  <a:gd name="T13" fmla="*/ 19 h 29"/>
                  <a:gd name="T14" fmla="*/ 376 w 376"/>
                  <a:gd name="T15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6" h="29">
                    <a:moveTo>
                      <a:pt x="0" y="29"/>
                    </a:moveTo>
                    <a:lnTo>
                      <a:pt x="47" y="28"/>
                    </a:lnTo>
                    <a:lnTo>
                      <a:pt x="94" y="23"/>
                    </a:lnTo>
                    <a:lnTo>
                      <a:pt x="188" y="6"/>
                    </a:lnTo>
                    <a:lnTo>
                      <a:pt x="284" y="0"/>
                    </a:lnTo>
                    <a:lnTo>
                      <a:pt x="330" y="5"/>
                    </a:lnTo>
                    <a:lnTo>
                      <a:pt x="375" y="19"/>
                    </a:lnTo>
                    <a:lnTo>
                      <a:pt x="376" y="19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1" name="Freeform 80"/>
              <p:cNvSpPr>
                <a:spLocks noChangeAspect="1" noChangeArrowheads="1"/>
              </p:cNvSpPr>
              <p:nvPr/>
            </p:nvSpPr>
            <p:spPr bwMode="auto">
              <a:xfrm>
                <a:off x="1663" y="2929"/>
                <a:ext cx="44" cy="104"/>
              </a:xfrm>
              <a:custGeom>
                <a:avLst/>
                <a:gdLst>
                  <a:gd name="T0" fmla="*/ 0 w 122"/>
                  <a:gd name="T1" fmla="*/ 0 h 302"/>
                  <a:gd name="T2" fmla="*/ 68 w 122"/>
                  <a:gd name="T3" fmla="*/ 55 h 302"/>
                  <a:gd name="T4" fmla="*/ 97 w 122"/>
                  <a:gd name="T5" fmla="*/ 86 h 302"/>
                  <a:gd name="T6" fmla="*/ 116 w 122"/>
                  <a:gd name="T7" fmla="*/ 123 h 302"/>
                  <a:gd name="T8" fmla="*/ 122 w 122"/>
                  <a:gd name="T9" fmla="*/ 164 h 302"/>
                  <a:gd name="T10" fmla="*/ 118 w 122"/>
                  <a:gd name="T11" fmla="*/ 210 h 302"/>
                  <a:gd name="T12" fmla="*/ 107 w 122"/>
                  <a:gd name="T13" fmla="*/ 302 h 302"/>
                  <a:gd name="T14" fmla="*/ 108 w 122"/>
                  <a:gd name="T15" fmla="*/ 302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2" h="302">
                    <a:moveTo>
                      <a:pt x="0" y="0"/>
                    </a:moveTo>
                    <a:lnTo>
                      <a:pt x="68" y="55"/>
                    </a:lnTo>
                    <a:lnTo>
                      <a:pt x="97" y="86"/>
                    </a:lnTo>
                    <a:lnTo>
                      <a:pt x="116" y="123"/>
                    </a:lnTo>
                    <a:lnTo>
                      <a:pt x="122" y="164"/>
                    </a:lnTo>
                    <a:lnTo>
                      <a:pt x="118" y="210"/>
                    </a:lnTo>
                    <a:lnTo>
                      <a:pt x="107" y="302"/>
                    </a:lnTo>
                    <a:lnTo>
                      <a:pt x="108" y="302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2" name="Freeform 81"/>
              <p:cNvSpPr>
                <a:spLocks noChangeAspect="1" noChangeArrowheads="1"/>
              </p:cNvSpPr>
              <p:nvPr/>
            </p:nvSpPr>
            <p:spPr bwMode="auto">
              <a:xfrm>
                <a:off x="1589" y="2926"/>
                <a:ext cx="74" cy="107"/>
              </a:xfrm>
              <a:custGeom>
                <a:avLst/>
                <a:gdLst>
                  <a:gd name="T0" fmla="*/ 215 w 215"/>
                  <a:gd name="T1" fmla="*/ 7 h 309"/>
                  <a:gd name="T2" fmla="*/ 208 w 215"/>
                  <a:gd name="T3" fmla="*/ 1 h 309"/>
                  <a:gd name="T4" fmla="*/ 202 w 215"/>
                  <a:gd name="T5" fmla="*/ 0 h 309"/>
                  <a:gd name="T6" fmla="*/ 187 w 215"/>
                  <a:gd name="T7" fmla="*/ 11 h 309"/>
                  <a:gd name="T8" fmla="*/ 175 w 215"/>
                  <a:gd name="T9" fmla="*/ 36 h 309"/>
                  <a:gd name="T10" fmla="*/ 163 w 215"/>
                  <a:gd name="T11" fmla="*/ 67 h 309"/>
                  <a:gd name="T12" fmla="*/ 138 w 215"/>
                  <a:gd name="T13" fmla="*/ 134 h 309"/>
                  <a:gd name="T14" fmla="*/ 116 w 215"/>
                  <a:gd name="T15" fmla="*/ 185 h 309"/>
                  <a:gd name="T16" fmla="*/ 91 w 215"/>
                  <a:gd name="T17" fmla="*/ 222 h 309"/>
                  <a:gd name="T18" fmla="*/ 65 w 215"/>
                  <a:gd name="T19" fmla="*/ 253 h 309"/>
                  <a:gd name="T20" fmla="*/ 0 w 215"/>
                  <a:gd name="T21" fmla="*/ 309 h 309"/>
                  <a:gd name="T22" fmla="*/ 1 w 215"/>
                  <a:gd name="T23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5" h="309">
                    <a:moveTo>
                      <a:pt x="215" y="7"/>
                    </a:moveTo>
                    <a:lnTo>
                      <a:pt x="208" y="1"/>
                    </a:lnTo>
                    <a:lnTo>
                      <a:pt x="202" y="0"/>
                    </a:lnTo>
                    <a:lnTo>
                      <a:pt x="187" y="11"/>
                    </a:lnTo>
                    <a:lnTo>
                      <a:pt x="175" y="36"/>
                    </a:lnTo>
                    <a:lnTo>
                      <a:pt x="163" y="67"/>
                    </a:lnTo>
                    <a:lnTo>
                      <a:pt x="138" y="134"/>
                    </a:lnTo>
                    <a:lnTo>
                      <a:pt x="116" y="185"/>
                    </a:lnTo>
                    <a:lnTo>
                      <a:pt x="91" y="222"/>
                    </a:lnTo>
                    <a:lnTo>
                      <a:pt x="65" y="253"/>
                    </a:lnTo>
                    <a:lnTo>
                      <a:pt x="0" y="309"/>
                    </a:lnTo>
                    <a:lnTo>
                      <a:pt x="1" y="309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3" name="Freeform 82"/>
              <p:cNvSpPr>
                <a:spLocks noChangeAspect="1" noChangeArrowheads="1"/>
              </p:cNvSpPr>
              <p:nvPr/>
            </p:nvSpPr>
            <p:spPr bwMode="auto">
              <a:xfrm>
                <a:off x="1488" y="2921"/>
                <a:ext cx="175" cy="27"/>
              </a:xfrm>
              <a:custGeom>
                <a:avLst/>
                <a:gdLst>
                  <a:gd name="T0" fmla="*/ 517 w 517"/>
                  <a:gd name="T1" fmla="*/ 26 h 80"/>
                  <a:gd name="T2" fmla="*/ 455 w 517"/>
                  <a:gd name="T3" fmla="*/ 8 h 80"/>
                  <a:gd name="T4" fmla="*/ 389 w 517"/>
                  <a:gd name="T5" fmla="*/ 0 h 80"/>
                  <a:gd name="T6" fmla="*/ 323 w 517"/>
                  <a:gd name="T7" fmla="*/ 0 h 80"/>
                  <a:gd name="T8" fmla="*/ 255 w 517"/>
                  <a:gd name="T9" fmla="*/ 9 h 80"/>
                  <a:gd name="T10" fmla="*/ 125 w 517"/>
                  <a:gd name="T11" fmla="*/ 39 h 80"/>
                  <a:gd name="T12" fmla="*/ 0 w 517"/>
                  <a:gd name="T13" fmla="*/ 80 h 80"/>
                  <a:gd name="T14" fmla="*/ 1 w 517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17" h="80">
                    <a:moveTo>
                      <a:pt x="517" y="26"/>
                    </a:moveTo>
                    <a:lnTo>
                      <a:pt x="455" y="8"/>
                    </a:lnTo>
                    <a:lnTo>
                      <a:pt x="389" y="0"/>
                    </a:lnTo>
                    <a:lnTo>
                      <a:pt x="323" y="0"/>
                    </a:lnTo>
                    <a:lnTo>
                      <a:pt x="255" y="9"/>
                    </a:lnTo>
                    <a:lnTo>
                      <a:pt x="125" y="39"/>
                    </a:lnTo>
                    <a:lnTo>
                      <a:pt x="0" y="80"/>
                    </a:lnTo>
                    <a:lnTo>
                      <a:pt x="1" y="80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4" name="Freeform 83"/>
              <p:cNvSpPr>
                <a:spLocks noChangeAspect="1" noChangeArrowheads="1"/>
              </p:cNvSpPr>
              <p:nvPr/>
            </p:nvSpPr>
            <p:spPr bwMode="auto">
              <a:xfrm>
                <a:off x="1488" y="2819"/>
                <a:ext cx="175" cy="110"/>
              </a:xfrm>
              <a:custGeom>
                <a:avLst/>
                <a:gdLst>
                  <a:gd name="T0" fmla="*/ 517 w 517"/>
                  <a:gd name="T1" fmla="*/ 315 h 315"/>
                  <a:gd name="T2" fmla="*/ 405 w 517"/>
                  <a:gd name="T3" fmla="*/ 202 h 315"/>
                  <a:gd name="T4" fmla="*/ 343 w 517"/>
                  <a:gd name="T5" fmla="*/ 153 h 315"/>
                  <a:gd name="T6" fmla="*/ 310 w 517"/>
                  <a:gd name="T7" fmla="*/ 135 h 315"/>
                  <a:gd name="T8" fmla="*/ 274 w 517"/>
                  <a:gd name="T9" fmla="*/ 125 h 315"/>
                  <a:gd name="T10" fmla="*/ 195 w 517"/>
                  <a:gd name="T11" fmla="*/ 119 h 315"/>
                  <a:gd name="T12" fmla="*/ 155 w 517"/>
                  <a:gd name="T13" fmla="*/ 116 h 315"/>
                  <a:gd name="T14" fmla="*/ 119 w 517"/>
                  <a:gd name="T15" fmla="*/ 107 h 315"/>
                  <a:gd name="T16" fmla="*/ 85 w 517"/>
                  <a:gd name="T17" fmla="*/ 88 h 315"/>
                  <a:gd name="T18" fmla="*/ 56 w 517"/>
                  <a:gd name="T19" fmla="*/ 61 h 315"/>
                  <a:gd name="T20" fmla="*/ 0 w 517"/>
                  <a:gd name="T21" fmla="*/ 0 h 315"/>
                  <a:gd name="T22" fmla="*/ 1 w 517"/>
                  <a:gd name="T23" fmla="*/ 0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7" h="315">
                    <a:moveTo>
                      <a:pt x="517" y="315"/>
                    </a:moveTo>
                    <a:lnTo>
                      <a:pt x="405" y="202"/>
                    </a:lnTo>
                    <a:lnTo>
                      <a:pt x="343" y="153"/>
                    </a:lnTo>
                    <a:lnTo>
                      <a:pt x="310" y="135"/>
                    </a:lnTo>
                    <a:lnTo>
                      <a:pt x="274" y="125"/>
                    </a:lnTo>
                    <a:lnTo>
                      <a:pt x="195" y="119"/>
                    </a:lnTo>
                    <a:lnTo>
                      <a:pt x="155" y="116"/>
                    </a:lnTo>
                    <a:lnTo>
                      <a:pt x="119" y="107"/>
                    </a:lnTo>
                    <a:lnTo>
                      <a:pt x="85" y="88"/>
                    </a:lnTo>
                    <a:lnTo>
                      <a:pt x="56" y="61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5" name="Freeform 84"/>
              <p:cNvSpPr>
                <a:spLocks noChangeAspect="1" noChangeArrowheads="1"/>
              </p:cNvSpPr>
              <p:nvPr/>
            </p:nvSpPr>
            <p:spPr bwMode="auto">
              <a:xfrm>
                <a:off x="1502" y="2688"/>
                <a:ext cx="158" cy="238"/>
              </a:xfrm>
              <a:custGeom>
                <a:avLst/>
                <a:gdLst>
                  <a:gd name="T0" fmla="*/ 469 w 469"/>
                  <a:gd name="T1" fmla="*/ 695 h 695"/>
                  <a:gd name="T2" fmla="*/ 415 w 469"/>
                  <a:gd name="T3" fmla="*/ 605 h 695"/>
                  <a:gd name="T4" fmla="*/ 369 w 469"/>
                  <a:gd name="T5" fmla="*/ 512 h 695"/>
                  <a:gd name="T6" fmla="*/ 319 w 469"/>
                  <a:gd name="T7" fmla="*/ 421 h 695"/>
                  <a:gd name="T8" fmla="*/ 258 w 469"/>
                  <a:gd name="T9" fmla="*/ 339 h 695"/>
                  <a:gd name="T10" fmla="*/ 185 w 469"/>
                  <a:gd name="T11" fmla="*/ 266 h 695"/>
                  <a:gd name="T12" fmla="*/ 104 w 469"/>
                  <a:gd name="T13" fmla="*/ 195 h 695"/>
                  <a:gd name="T14" fmla="*/ 67 w 469"/>
                  <a:gd name="T15" fmla="*/ 159 h 695"/>
                  <a:gd name="T16" fmla="*/ 45 w 469"/>
                  <a:gd name="T17" fmla="*/ 118 h 695"/>
                  <a:gd name="T18" fmla="*/ 28 w 469"/>
                  <a:gd name="T19" fmla="*/ 67 h 695"/>
                  <a:gd name="T20" fmla="*/ 0 w 469"/>
                  <a:gd name="T21" fmla="*/ 0 h 695"/>
                  <a:gd name="T22" fmla="*/ 1 w 469"/>
                  <a:gd name="T23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69" h="695">
                    <a:moveTo>
                      <a:pt x="469" y="695"/>
                    </a:moveTo>
                    <a:lnTo>
                      <a:pt x="415" y="605"/>
                    </a:lnTo>
                    <a:lnTo>
                      <a:pt x="369" y="512"/>
                    </a:lnTo>
                    <a:lnTo>
                      <a:pt x="319" y="421"/>
                    </a:lnTo>
                    <a:lnTo>
                      <a:pt x="258" y="339"/>
                    </a:lnTo>
                    <a:lnTo>
                      <a:pt x="185" y="266"/>
                    </a:lnTo>
                    <a:lnTo>
                      <a:pt x="104" y="195"/>
                    </a:lnTo>
                    <a:lnTo>
                      <a:pt x="67" y="159"/>
                    </a:lnTo>
                    <a:lnTo>
                      <a:pt x="45" y="118"/>
                    </a:lnTo>
                    <a:lnTo>
                      <a:pt x="28" y="67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6" name="Freeform 85"/>
              <p:cNvSpPr>
                <a:spLocks noChangeAspect="1" noChangeArrowheads="1"/>
              </p:cNvSpPr>
              <p:nvPr/>
            </p:nvSpPr>
            <p:spPr bwMode="auto">
              <a:xfrm>
                <a:off x="1625" y="2688"/>
                <a:ext cx="38" cy="241"/>
              </a:xfrm>
              <a:custGeom>
                <a:avLst/>
                <a:gdLst>
                  <a:gd name="T0" fmla="*/ 112 w 112"/>
                  <a:gd name="T1" fmla="*/ 701 h 701"/>
                  <a:gd name="T2" fmla="*/ 99 w 112"/>
                  <a:gd name="T3" fmla="*/ 613 h 701"/>
                  <a:gd name="T4" fmla="*/ 77 w 112"/>
                  <a:gd name="T5" fmla="*/ 526 h 701"/>
                  <a:gd name="T6" fmla="*/ 55 w 112"/>
                  <a:gd name="T7" fmla="*/ 438 h 701"/>
                  <a:gd name="T8" fmla="*/ 40 w 112"/>
                  <a:gd name="T9" fmla="*/ 351 h 701"/>
                  <a:gd name="T10" fmla="*/ 38 w 112"/>
                  <a:gd name="T11" fmla="*/ 172 h 701"/>
                  <a:gd name="T12" fmla="*/ 27 w 112"/>
                  <a:gd name="T13" fmla="*/ 84 h 701"/>
                  <a:gd name="T14" fmla="*/ 0 w 112"/>
                  <a:gd name="T15" fmla="*/ 0 h 701"/>
                  <a:gd name="T16" fmla="*/ 1 w 112"/>
                  <a:gd name="T17" fmla="*/ 0 h 7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2" h="701">
                    <a:moveTo>
                      <a:pt x="112" y="701"/>
                    </a:moveTo>
                    <a:lnTo>
                      <a:pt x="99" y="613"/>
                    </a:lnTo>
                    <a:lnTo>
                      <a:pt x="77" y="526"/>
                    </a:lnTo>
                    <a:lnTo>
                      <a:pt x="55" y="438"/>
                    </a:lnTo>
                    <a:lnTo>
                      <a:pt x="40" y="351"/>
                    </a:lnTo>
                    <a:lnTo>
                      <a:pt x="38" y="172"/>
                    </a:lnTo>
                    <a:lnTo>
                      <a:pt x="27" y="84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7" name="Freeform 86"/>
              <p:cNvSpPr>
                <a:spLocks noChangeAspect="1" noChangeArrowheads="1"/>
              </p:cNvSpPr>
              <p:nvPr/>
            </p:nvSpPr>
            <p:spPr bwMode="auto">
              <a:xfrm>
                <a:off x="1969" y="3003"/>
                <a:ext cx="33" cy="30"/>
              </a:xfrm>
              <a:custGeom>
                <a:avLst/>
                <a:gdLst>
                  <a:gd name="T0" fmla="*/ 0 w 91"/>
                  <a:gd name="T1" fmla="*/ 80 h 80"/>
                  <a:gd name="T2" fmla="*/ 16 w 91"/>
                  <a:gd name="T3" fmla="*/ 50 h 80"/>
                  <a:gd name="T4" fmla="*/ 37 w 91"/>
                  <a:gd name="T5" fmla="*/ 25 h 80"/>
                  <a:gd name="T6" fmla="*/ 63 w 91"/>
                  <a:gd name="T7" fmla="*/ 8 h 80"/>
                  <a:gd name="T8" fmla="*/ 90 w 91"/>
                  <a:gd name="T9" fmla="*/ 0 h 80"/>
                  <a:gd name="T10" fmla="*/ 91 w 91"/>
                  <a:gd name="T11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1" h="80">
                    <a:moveTo>
                      <a:pt x="0" y="80"/>
                    </a:moveTo>
                    <a:lnTo>
                      <a:pt x="16" y="50"/>
                    </a:lnTo>
                    <a:lnTo>
                      <a:pt x="37" y="25"/>
                    </a:lnTo>
                    <a:lnTo>
                      <a:pt x="63" y="8"/>
                    </a:lnTo>
                    <a:lnTo>
                      <a:pt x="90" y="0"/>
                    </a:lnTo>
                    <a:lnTo>
                      <a:pt x="91" y="0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8" name="Freeform 87"/>
              <p:cNvSpPr>
                <a:spLocks noChangeAspect="1" noChangeArrowheads="1"/>
              </p:cNvSpPr>
              <p:nvPr/>
            </p:nvSpPr>
            <p:spPr bwMode="auto">
              <a:xfrm>
                <a:off x="1791" y="2943"/>
                <a:ext cx="192" cy="90"/>
              </a:xfrm>
              <a:custGeom>
                <a:avLst/>
                <a:gdLst>
                  <a:gd name="T0" fmla="*/ 555 w 555"/>
                  <a:gd name="T1" fmla="*/ 258 h 258"/>
                  <a:gd name="T2" fmla="*/ 509 w 555"/>
                  <a:gd name="T3" fmla="*/ 213 h 258"/>
                  <a:gd name="T4" fmla="*/ 460 w 555"/>
                  <a:gd name="T5" fmla="*/ 175 h 258"/>
                  <a:gd name="T6" fmla="*/ 406 w 555"/>
                  <a:gd name="T7" fmla="*/ 149 h 258"/>
                  <a:gd name="T8" fmla="*/ 345 w 555"/>
                  <a:gd name="T9" fmla="*/ 140 h 258"/>
                  <a:gd name="T10" fmla="*/ 282 w 555"/>
                  <a:gd name="T11" fmla="*/ 137 h 258"/>
                  <a:gd name="T12" fmla="*/ 251 w 555"/>
                  <a:gd name="T13" fmla="*/ 132 h 258"/>
                  <a:gd name="T14" fmla="*/ 222 w 555"/>
                  <a:gd name="T15" fmla="*/ 122 h 258"/>
                  <a:gd name="T16" fmla="*/ 196 w 555"/>
                  <a:gd name="T17" fmla="*/ 106 h 258"/>
                  <a:gd name="T18" fmla="*/ 161 w 555"/>
                  <a:gd name="T19" fmla="*/ 81 h 258"/>
                  <a:gd name="T20" fmla="*/ 136 w 555"/>
                  <a:gd name="T21" fmla="*/ 64 h 258"/>
                  <a:gd name="T22" fmla="*/ 102 w 555"/>
                  <a:gd name="T23" fmla="*/ 46 h 258"/>
                  <a:gd name="T24" fmla="*/ 57 w 555"/>
                  <a:gd name="T25" fmla="*/ 24 h 258"/>
                  <a:gd name="T26" fmla="*/ 0 w 555"/>
                  <a:gd name="T27" fmla="*/ 0 h 258"/>
                  <a:gd name="T28" fmla="*/ 1 w 555"/>
                  <a:gd name="T29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55" h="258">
                    <a:moveTo>
                      <a:pt x="555" y="258"/>
                    </a:moveTo>
                    <a:lnTo>
                      <a:pt x="509" y="213"/>
                    </a:lnTo>
                    <a:lnTo>
                      <a:pt x="460" y="175"/>
                    </a:lnTo>
                    <a:lnTo>
                      <a:pt x="406" y="149"/>
                    </a:lnTo>
                    <a:lnTo>
                      <a:pt x="345" y="140"/>
                    </a:lnTo>
                    <a:lnTo>
                      <a:pt x="282" y="137"/>
                    </a:lnTo>
                    <a:lnTo>
                      <a:pt x="251" y="132"/>
                    </a:lnTo>
                    <a:lnTo>
                      <a:pt x="222" y="122"/>
                    </a:lnTo>
                    <a:lnTo>
                      <a:pt x="196" y="106"/>
                    </a:lnTo>
                    <a:lnTo>
                      <a:pt x="161" y="81"/>
                    </a:lnTo>
                    <a:lnTo>
                      <a:pt x="136" y="64"/>
                    </a:lnTo>
                    <a:lnTo>
                      <a:pt x="102" y="46"/>
                    </a:lnTo>
                    <a:lnTo>
                      <a:pt x="57" y="24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9" name="Freeform 88"/>
              <p:cNvSpPr>
                <a:spLocks noChangeAspect="1" noChangeArrowheads="1"/>
              </p:cNvSpPr>
              <p:nvPr/>
            </p:nvSpPr>
            <p:spPr bwMode="auto">
              <a:xfrm>
                <a:off x="1942" y="2688"/>
                <a:ext cx="57" cy="331"/>
              </a:xfrm>
              <a:custGeom>
                <a:avLst/>
                <a:gdLst>
                  <a:gd name="T0" fmla="*/ 170 w 170"/>
                  <a:gd name="T1" fmla="*/ 963 h 963"/>
                  <a:gd name="T2" fmla="*/ 135 w 170"/>
                  <a:gd name="T3" fmla="*/ 820 h 963"/>
                  <a:gd name="T4" fmla="*/ 121 w 170"/>
                  <a:gd name="T5" fmla="*/ 748 h 963"/>
                  <a:gd name="T6" fmla="*/ 116 w 170"/>
                  <a:gd name="T7" fmla="*/ 674 h 963"/>
                  <a:gd name="T8" fmla="*/ 115 w 170"/>
                  <a:gd name="T9" fmla="*/ 527 h 963"/>
                  <a:gd name="T10" fmla="*/ 110 w 170"/>
                  <a:gd name="T11" fmla="*/ 489 h 963"/>
                  <a:gd name="T12" fmla="*/ 105 w 170"/>
                  <a:gd name="T13" fmla="*/ 460 h 963"/>
                  <a:gd name="T14" fmla="*/ 96 w 170"/>
                  <a:gd name="T15" fmla="*/ 418 h 963"/>
                  <a:gd name="T16" fmla="*/ 90 w 170"/>
                  <a:gd name="T17" fmla="*/ 390 h 963"/>
                  <a:gd name="T18" fmla="*/ 82 w 170"/>
                  <a:gd name="T19" fmla="*/ 357 h 963"/>
                  <a:gd name="T20" fmla="*/ 72 w 170"/>
                  <a:gd name="T21" fmla="*/ 318 h 963"/>
                  <a:gd name="T22" fmla="*/ 62 w 170"/>
                  <a:gd name="T23" fmla="*/ 271 h 963"/>
                  <a:gd name="T24" fmla="*/ 50 w 170"/>
                  <a:gd name="T25" fmla="*/ 217 h 963"/>
                  <a:gd name="T26" fmla="*/ 36 w 170"/>
                  <a:gd name="T27" fmla="*/ 154 h 963"/>
                  <a:gd name="T28" fmla="*/ 19 w 170"/>
                  <a:gd name="T29" fmla="*/ 82 h 963"/>
                  <a:gd name="T30" fmla="*/ 0 w 170"/>
                  <a:gd name="T31" fmla="*/ 0 h 963"/>
                  <a:gd name="T32" fmla="*/ 1 w 170"/>
                  <a:gd name="T33" fmla="*/ 0 h 9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0" h="963">
                    <a:moveTo>
                      <a:pt x="170" y="963"/>
                    </a:moveTo>
                    <a:lnTo>
                      <a:pt x="135" y="820"/>
                    </a:lnTo>
                    <a:lnTo>
                      <a:pt x="121" y="748"/>
                    </a:lnTo>
                    <a:lnTo>
                      <a:pt x="116" y="674"/>
                    </a:lnTo>
                    <a:lnTo>
                      <a:pt x="115" y="527"/>
                    </a:lnTo>
                    <a:lnTo>
                      <a:pt x="110" y="489"/>
                    </a:lnTo>
                    <a:lnTo>
                      <a:pt x="105" y="460"/>
                    </a:lnTo>
                    <a:lnTo>
                      <a:pt x="96" y="418"/>
                    </a:lnTo>
                    <a:lnTo>
                      <a:pt x="90" y="390"/>
                    </a:lnTo>
                    <a:lnTo>
                      <a:pt x="82" y="357"/>
                    </a:lnTo>
                    <a:lnTo>
                      <a:pt x="72" y="318"/>
                    </a:lnTo>
                    <a:lnTo>
                      <a:pt x="62" y="271"/>
                    </a:lnTo>
                    <a:lnTo>
                      <a:pt x="50" y="217"/>
                    </a:lnTo>
                    <a:lnTo>
                      <a:pt x="36" y="154"/>
                    </a:lnTo>
                    <a:lnTo>
                      <a:pt x="19" y="82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0" name="Freeform 89"/>
              <p:cNvSpPr>
                <a:spLocks noChangeAspect="1" noChangeArrowheads="1"/>
              </p:cNvSpPr>
              <p:nvPr/>
            </p:nvSpPr>
            <p:spPr bwMode="auto">
              <a:xfrm>
                <a:off x="1813" y="2688"/>
                <a:ext cx="178" cy="345"/>
              </a:xfrm>
              <a:custGeom>
                <a:avLst/>
                <a:gdLst>
                  <a:gd name="T0" fmla="*/ 520 w 520"/>
                  <a:gd name="T1" fmla="*/ 1003 h 1003"/>
                  <a:gd name="T2" fmla="*/ 435 w 520"/>
                  <a:gd name="T3" fmla="*/ 837 h 1003"/>
                  <a:gd name="T4" fmla="*/ 386 w 520"/>
                  <a:gd name="T5" fmla="*/ 759 h 1003"/>
                  <a:gd name="T6" fmla="*/ 327 w 520"/>
                  <a:gd name="T7" fmla="*/ 690 h 1003"/>
                  <a:gd name="T8" fmla="*/ 186 w 520"/>
                  <a:gd name="T9" fmla="*/ 563 h 1003"/>
                  <a:gd name="T10" fmla="*/ 156 w 520"/>
                  <a:gd name="T11" fmla="*/ 529 h 1003"/>
                  <a:gd name="T12" fmla="*/ 145 w 520"/>
                  <a:gd name="T13" fmla="*/ 510 h 1003"/>
                  <a:gd name="T14" fmla="*/ 136 w 520"/>
                  <a:gd name="T15" fmla="*/ 481 h 1003"/>
                  <a:gd name="T16" fmla="*/ 130 w 520"/>
                  <a:gd name="T17" fmla="*/ 461 h 1003"/>
                  <a:gd name="T18" fmla="*/ 123 w 520"/>
                  <a:gd name="T19" fmla="*/ 435 h 1003"/>
                  <a:gd name="T20" fmla="*/ 114 w 520"/>
                  <a:gd name="T21" fmla="*/ 402 h 1003"/>
                  <a:gd name="T22" fmla="*/ 104 w 520"/>
                  <a:gd name="T23" fmla="*/ 361 h 1003"/>
                  <a:gd name="T24" fmla="*/ 92 w 520"/>
                  <a:gd name="T25" fmla="*/ 311 h 1003"/>
                  <a:gd name="T26" fmla="*/ 84 w 520"/>
                  <a:gd name="T27" fmla="*/ 281 h 1003"/>
                  <a:gd name="T28" fmla="*/ 73 w 520"/>
                  <a:gd name="T29" fmla="*/ 245 h 1003"/>
                  <a:gd name="T30" fmla="*/ 61 w 520"/>
                  <a:gd name="T31" fmla="*/ 202 h 1003"/>
                  <a:gd name="T32" fmla="*/ 45 w 520"/>
                  <a:gd name="T33" fmla="*/ 147 h 1003"/>
                  <a:gd name="T34" fmla="*/ 24 w 520"/>
                  <a:gd name="T35" fmla="*/ 81 h 1003"/>
                  <a:gd name="T36" fmla="*/ 0 w 520"/>
                  <a:gd name="T37" fmla="*/ 0 h 1003"/>
                  <a:gd name="T38" fmla="*/ 1 w 520"/>
                  <a:gd name="T39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20" h="1003">
                    <a:moveTo>
                      <a:pt x="520" y="1003"/>
                    </a:moveTo>
                    <a:lnTo>
                      <a:pt x="435" y="837"/>
                    </a:lnTo>
                    <a:lnTo>
                      <a:pt x="386" y="759"/>
                    </a:lnTo>
                    <a:lnTo>
                      <a:pt x="327" y="690"/>
                    </a:lnTo>
                    <a:lnTo>
                      <a:pt x="186" y="563"/>
                    </a:lnTo>
                    <a:lnTo>
                      <a:pt x="156" y="529"/>
                    </a:lnTo>
                    <a:lnTo>
                      <a:pt x="145" y="510"/>
                    </a:lnTo>
                    <a:lnTo>
                      <a:pt x="136" y="481"/>
                    </a:lnTo>
                    <a:lnTo>
                      <a:pt x="130" y="461"/>
                    </a:lnTo>
                    <a:lnTo>
                      <a:pt x="123" y="435"/>
                    </a:lnTo>
                    <a:lnTo>
                      <a:pt x="114" y="402"/>
                    </a:lnTo>
                    <a:lnTo>
                      <a:pt x="104" y="361"/>
                    </a:lnTo>
                    <a:lnTo>
                      <a:pt x="92" y="311"/>
                    </a:lnTo>
                    <a:lnTo>
                      <a:pt x="84" y="281"/>
                    </a:lnTo>
                    <a:lnTo>
                      <a:pt x="73" y="245"/>
                    </a:lnTo>
                    <a:lnTo>
                      <a:pt x="61" y="202"/>
                    </a:lnTo>
                    <a:lnTo>
                      <a:pt x="45" y="147"/>
                    </a:lnTo>
                    <a:lnTo>
                      <a:pt x="24" y="81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1" name="Freeform 90"/>
              <p:cNvSpPr>
                <a:spLocks noChangeAspect="1" noChangeArrowheads="1"/>
              </p:cNvSpPr>
              <p:nvPr/>
            </p:nvSpPr>
            <p:spPr bwMode="auto">
              <a:xfrm>
                <a:off x="1890" y="2896"/>
                <a:ext cx="112" cy="137"/>
              </a:xfrm>
              <a:custGeom>
                <a:avLst/>
                <a:gdLst>
                  <a:gd name="T0" fmla="*/ 34 w 324"/>
                  <a:gd name="T1" fmla="*/ 399 h 399"/>
                  <a:gd name="T2" fmla="*/ 14 w 324"/>
                  <a:gd name="T3" fmla="*/ 311 h 399"/>
                  <a:gd name="T4" fmla="*/ 1 w 324"/>
                  <a:gd name="T5" fmla="*/ 218 h 399"/>
                  <a:gd name="T6" fmla="*/ 0 w 324"/>
                  <a:gd name="T7" fmla="*/ 174 h 399"/>
                  <a:gd name="T8" fmla="*/ 2 w 324"/>
                  <a:gd name="T9" fmla="*/ 132 h 399"/>
                  <a:gd name="T10" fmla="*/ 10 w 324"/>
                  <a:gd name="T11" fmla="*/ 94 h 399"/>
                  <a:gd name="T12" fmla="*/ 23 w 324"/>
                  <a:gd name="T13" fmla="*/ 60 h 399"/>
                  <a:gd name="T14" fmla="*/ 45 w 324"/>
                  <a:gd name="T15" fmla="*/ 35 h 399"/>
                  <a:gd name="T16" fmla="*/ 72 w 324"/>
                  <a:gd name="T17" fmla="*/ 16 h 399"/>
                  <a:gd name="T18" fmla="*/ 106 w 324"/>
                  <a:gd name="T19" fmla="*/ 5 h 399"/>
                  <a:gd name="T20" fmla="*/ 145 w 324"/>
                  <a:gd name="T21" fmla="*/ 0 h 399"/>
                  <a:gd name="T22" fmla="*/ 188 w 324"/>
                  <a:gd name="T23" fmla="*/ 2 h 399"/>
                  <a:gd name="T24" fmla="*/ 233 w 324"/>
                  <a:gd name="T25" fmla="*/ 8 h 399"/>
                  <a:gd name="T26" fmla="*/ 323 w 324"/>
                  <a:gd name="T27" fmla="*/ 36 h 399"/>
                  <a:gd name="T28" fmla="*/ 324 w 324"/>
                  <a:gd name="T29" fmla="*/ 36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4" h="399">
                    <a:moveTo>
                      <a:pt x="34" y="399"/>
                    </a:moveTo>
                    <a:lnTo>
                      <a:pt x="14" y="311"/>
                    </a:lnTo>
                    <a:lnTo>
                      <a:pt x="1" y="218"/>
                    </a:lnTo>
                    <a:lnTo>
                      <a:pt x="0" y="174"/>
                    </a:lnTo>
                    <a:lnTo>
                      <a:pt x="2" y="132"/>
                    </a:lnTo>
                    <a:lnTo>
                      <a:pt x="10" y="94"/>
                    </a:lnTo>
                    <a:lnTo>
                      <a:pt x="23" y="60"/>
                    </a:lnTo>
                    <a:lnTo>
                      <a:pt x="45" y="35"/>
                    </a:lnTo>
                    <a:lnTo>
                      <a:pt x="72" y="16"/>
                    </a:lnTo>
                    <a:lnTo>
                      <a:pt x="106" y="5"/>
                    </a:lnTo>
                    <a:lnTo>
                      <a:pt x="145" y="0"/>
                    </a:lnTo>
                    <a:lnTo>
                      <a:pt x="188" y="2"/>
                    </a:lnTo>
                    <a:lnTo>
                      <a:pt x="233" y="8"/>
                    </a:lnTo>
                    <a:lnTo>
                      <a:pt x="323" y="36"/>
                    </a:lnTo>
                    <a:lnTo>
                      <a:pt x="324" y="36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2" name="Freeform 91"/>
              <p:cNvSpPr>
                <a:spLocks noChangeAspect="1" noChangeArrowheads="1"/>
              </p:cNvSpPr>
              <p:nvPr/>
            </p:nvSpPr>
            <p:spPr bwMode="auto">
              <a:xfrm>
                <a:off x="1936" y="2962"/>
                <a:ext cx="66" cy="71"/>
              </a:xfrm>
              <a:custGeom>
                <a:avLst/>
                <a:gdLst>
                  <a:gd name="T0" fmla="*/ 0 w 187"/>
                  <a:gd name="T1" fmla="*/ 206 h 206"/>
                  <a:gd name="T2" fmla="*/ 2 w 187"/>
                  <a:gd name="T3" fmla="*/ 168 h 206"/>
                  <a:gd name="T4" fmla="*/ 11 w 187"/>
                  <a:gd name="T5" fmla="*/ 132 h 206"/>
                  <a:gd name="T6" fmla="*/ 27 w 187"/>
                  <a:gd name="T7" fmla="*/ 97 h 206"/>
                  <a:gd name="T8" fmla="*/ 51 w 187"/>
                  <a:gd name="T9" fmla="*/ 65 h 206"/>
                  <a:gd name="T10" fmla="*/ 80 w 187"/>
                  <a:gd name="T11" fmla="*/ 38 h 206"/>
                  <a:gd name="T12" fmla="*/ 114 w 187"/>
                  <a:gd name="T13" fmla="*/ 17 h 206"/>
                  <a:gd name="T14" fmla="*/ 150 w 187"/>
                  <a:gd name="T15" fmla="*/ 4 h 206"/>
                  <a:gd name="T16" fmla="*/ 186 w 187"/>
                  <a:gd name="T17" fmla="*/ 0 h 206"/>
                  <a:gd name="T18" fmla="*/ 187 w 187"/>
                  <a:gd name="T19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7" h="206">
                    <a:moveTo>
                      <a:pt x="0" y="206"/>
                    </a:moveTo>
                    <a:lnTo>
                      <a:pt x="2" y="168"/>
                    </a:lnTo>
                    <a:lnTo>
                      <a:pt x="11" y="132"/>
                    </a:lnTo>
                    <a:lnTo>
                      <a:pt x="27" y="97"/>
                    </a:lnTo>
                    <a:lnTo>
                      <a:pt x="51" y="65"/>
                    </a:lnTo>
                    <a:lnTo>
                      <a:pt x="80" y="38"/>
                    </a:lnTo>
                    <a:lnTo>
                      <a:pt x="114" y="17"/>
                    </a:lnTo>
                    <a:lnTo>
                      <a:pt x="150" y="4"/>
                    </a:lnTo>
                    <a:lnTo>
                      <a:pt x="186" y="0"/>
                    </a:lnTo>
                    <a:lnTo>
                      <a:pt x="187" y="0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3" name="Freeform 92"/>
              <p:cNvSpPr>
                <a:spLocks noChangeAspect="1" noChangeArrowheads="1"/>
              </p:cNvSpPr>
              <p:nvPr/>
            </p:nvSpPr>
            <p:spPr bwMode="auto">
              <a:xfrm>
                <a:off x="1832" y="2817"/>
                <a:ext cx="170" cy="216"/>
              </a:xfrm>
              <a:custGeom>
                <a:avLst/>
                <a:gdLst>
                  <a:gd name="T0" fmla="*/ 41 w 491"/>
                  <a:gd name="T1" fmla="*/ 631 h 631"/>
                  <a:gd name="T2" fmla="*/ 18 w 491"/>
                  <a:gd name="T3" fmla="*/ 511 h 631"/>
                  <a:gd name="T4" fmla="*/ 2 w 491"/>
                  <a:gd name="T5" fmla="*/ 380 h 631"/>
                  <a:gd name="T6" fmla="*/ 0 w 491"/>
                  <a:gd name="T7" fmla="*/ 315 h 631"/>
                  <a:gd name="T8" fmla="*/ 2 w 491"/>
                  <a:gd name="T9" fmla="*/ 251 h 631"/>
                  <a:gd name="T10" fmla="*/ 9 w 491"/>
                  <a:gd name="T11" fmla="*/ 193 h 631"/>
                  <a:gd name="T12" fmla="*/ 24 w 491"/>
                  <a:gd name="T13" fmla="*/ 140 h 631"/>
                  <a:gd name="T14" fmla="*/ 44 w 491"/>
                  <a:gd name="T15" fmla="*/ 94 h 631"/>
                  <a:gd name="T16" fmla="*/ 74 w 491"/>
                  <a:gd name="T17" fmla="*/ 56 h 631"/>
                  <a:gd name="T18" fmla="*/ 113 w 491"/>
                  <a:gd name="T19" fmla="*/ 28 h 631"/>
                  <a:gd name="T20" fmla="*/ 162 w 491"/>
                  <a:gd name="T21" fmla="*/ 9 h 631"/>
                  <a:gd name="T22" fmla="*/ 223 w 491"/>
                  <a:gd name="T23" fmla="*/ 0 h 631"/>
                  <a:gd name="T24" fmla="*/ 297 w 491"/>
                  <a:gd name="T25" fmla="*/ 2 h 631"/>
                  <a:gd name="T26" fmla="*/ 386 w 491"/>
                  <a:gd name="T27" fmla="*/ 14 h 631"/>
                  <a:gd name="T28" fmla="*/ 436 w 491"/>
                  <a:gd name="T29" fmla="*/ 25 h 631"/>
                  <a:gd name="T30" fmla="*/ 490 w 491"/>
                  <a:gd name="T31" fmla="*/ 39 h 631"/>
                  <a:gd name="T32" fmla="*/ 491 w 491"/>
                  <a:gd name="T33" fmla="*/ 39 h 6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1" h="631">
                    <a:moveTo>
                      <a:pt x="41" y="631"/>
                    </a:moveTo>
                    <a:lnTo>
                      <a:pt x="18" y="511"/>
                    </a:lnTo>
                    <a:lnTo>
                      <a:pt x="2" y="380"/>
                    </a:lnTo>
                    <a:lnTo>
                      <a:pt x="0" y="315"/>
                    </a:lnTo>
                    <a:lnTo>
                      <a:pt x="2" y="251"/>
                    </a:lnTo>
                    <a:lnTo>
                      <a:pt x="9" y="193"/>
                    </a:lnTo>
                    <a:lnTo>
                      <a:pt x="24" y="140"/>
                    </a:lnTo>
                    <a:lnTo>
                      <a:pt x="44" y="94"/>
                    </a:lnTo>
                    <a:lnTo>
                      <a:pt x="74" y="56"/>
                    </a:lnTo>
                    <a:lnTo>
                      <a:pt x="113" y="28"/>
                    </a:lnTo>
                    <a:lnTo>
                      <a:pt x="162" y="9"/>
                    </a:lnTo>
                    <a:lnTo>
                      <a:pt x="223" y="0"/>
                    </a:lnTo>
                    <a:lnTo>
                      <a:pt x="297" y="2"/>
                    </a:lnTo>
                    <a:lnTo>
                      <a:pt x="386" y="14"/>
                    </a:lnTo>
                    <a:lnTo>
                      <a:pt x="436" y="25"/>
                    </a:lnTo>
                    <a:lnTo>
                      <a:pt x="490" y="39"/>
                    </a:lnTo>
                    <a:lnTo>
                      <a:pt x="491" y="39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4" name="Freeform 93"/>
              <p:cNvSpPr>
                <a:spLocks noChangeAspect="1" noChangeArrowheads="1"/>
              </p:cNvSpPr>
              <p:nvPr/>
            </p:nvSpPr>
            <p:spPr bwMode="auto">
              <a:xfrm>
                <a:off x="1791" y="2729"/>
                <a:ext cx="211" cy="131"/>
              </a:xfrm>
              <a:custGeom>
                <a:avLst/>
                <a:gdLst>
                  <a:gd name="T0" fmla="*/ 0 w 611"/>
                  <a:gd name="T1" fmla="*/ 384 h 384"/>
                  <a:gd name="T2" fmla="*/ 47 w 611"/>
                  <a:gd name="T3" fmla="*/ 299 h 384"/>
                  <a:gd name="T4" fmla="*/ 97 w 611"/>
                  <a:gd name="T5" fmla="*/ 221 h 384"/>
                  <a:gd name="T6" fmla="*/ 126 w 611"/>
                  <a:gd name="T7" fmla="*/ 191 h 384"/>
                  <a:gd name="T8" fmla="*/ 161 w 611"/>
                  <a:gd name="T9" fmla="*/ 167 h 384"/>
                  <a:gd name="T10" fmla="*/ 200 w 611"/>
                  <a:gd name="T11" fmla="*/ 151 h 384"/>
                  <a:gd name="T12" fmla="*/ 243 w 611"/>
                  <a:gd name="T13" fmla="*/ 139 h 384"/>
                  <a:gd name="T14" fmla="*/ 337 w 611"/>
                  <a:gd name="T15" fmla="*/ 116 h 384"/>
                  <a:gd name="T16" fmla="*/ 384 w 611"/>
                  <a:gd name="T17" fmla="*/ 101 h 384"/>
                  <a:gd name="T18" fmla="*/ 431 w 611"/>
                  <a:gd name="T19" fmla="*/ 79 h 384"/>
                  <a:gd name="T20" fmla="*/ 523 w 611"/>
                  <a:gd name="T21" fmla="*/ 31 h 384"/>
                  <a:gd name="T22" fmla="*/ 568 w 611"/>
                  <a:gd name="T23" fmla="*/ 12 h 384"/>
                  <a:gd name="T24" fmla="*/ 610 w 611"/>
                  <a:gd name="T25" fmla="*/ 0 h 384"/>
                  <a:gd name="T26" fmla="*/ 611 w 611"/>
                  <a:gd name="T27" fmla="*/ 0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1" h="384">
                    <a:moveTo>
                      <a:pt x="0" y="384"/>
                    </a:moveTo>
                    <a:lnTo>
                      <a:pt x="47" y="299"/>
                    </a:lnTo>
                    <a:lnTo>
                      <a:pt x="97" y="221"/>
                    </a:lnTo>
                    <a:lnTo>
                      <a:pt x="126" y="191"/>
                    </a:lnTo>
                    <a:lnTo>
                      <a:pt x="161" y="167"/>
                    </a:lnTo>
                    <a:lnTo>
                      <a:pt x="200" y="151"/>
                    </a:lnTo>
                    <a:lnTo>
                      <a:pt x="243" y="139"/>
                    </a:lnTo>
                    <a:lnTo>
                      <a:pt x="337" y="116"/>
                    </a:lnTo>
                    <a:lnTo>
                      <a:pt x="384" y="101"/>
                    </a:lnTo>
                    <a:lnTo>
                      <a:pt x="431" y="79"/>
                    </a:lnTo>
                    <a:lnTo>
                      <a:pt x="523" y="31"/>
                    </a:lnTo>
                    <a:lnTo>
                      <a:pt x="568" y="12"/>
                    </a:lnTo>
                    <a:lnTo>
                      <a:pt x="610" y="0"/>
                    </a:lnTo>
                    <a:lnTo>
                      <a:pt x="611" y="0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5" name="Freeform 94"/>
              <p:cNvSpPr>
                <a:spLocks noChangeAspect="1" noChangeArrowheads="1"/>
              </p:cNvSpPr>
              <p:nvPr/>
            </p:nvSpPr>
            <p:spPr bwMode="auto">
              <a:xfrm>
                <a:off x="1791" y="2688"/>
                <a:ext cx="118" cy="41"/>
              </a:xfrm>
              <a:custGeom>
                <a:avLst/>
                <a:gdLst>
                  <a:gd name="T0" fmla="*/ 0 w 340"/>
                  <a:gd name="T1" fmla="*/ 119 h 119"/>
                  <a:gd name="T2" fmla="*/ 100 w 340"/>
                  <a:gd name="T3" fmla="*/ 85 h 119"/>
                  <a:gd name="T4" fmla="*/ 193 w 340"/>
                  <a:gd name="T5" fmla="*/ 63 h 119"/>
                  <a:gd name="T6" fmla="*/ 271 w 340"/>
                  <a:gd name="T7" fmla="*/ 39 h 119"/>
                  <a:gd name="T8" fmla="*/ 306 w 340"/>
                  <a:gd name="T9" fmla="*/ 23 h 119"/>
                  <a:gd name="T10" fmla="*/ 339 w 340"/>
                  <a:gd name="T11" fmla="*/ 0 h 119"/>
                  <a:gd name="T12" fmla="*/ 340 w 340"/>
                  <a:gd name="T1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0" h="119">
                    <a:moveTo>
                      <a:pt x="0" y="119"/>
                    </a:moveTo>
                    <a:lnTo>
                      <a:pt x="100" y="85"/>
                    </a:lnTo>
                    <a:lnTo>
                      <a:pt x="193" y="63"/>
                    </a:lnTo>
                    <a:lnTo>
                      <a:pt x="271" y="39"/>
                    </a:lnTo>
                    <a:lnTo>
                      <a:pt x="306" y="23"/>
                    </a:lnTo>
                    <a:lnTo>
                      <a:pt x="339" y="0"/>
                    </a:lnTo>
                    <a:lnTo>
                      <a:pt x="340" y="0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6" name="Freeform 95"/>
              <p:cNvSpPr>
                <a:spLocks noChangeAspect="1" noChangeArrowheads="1"/>
              </p:cNvSpPr>
              <p:nvPr/>
            </p:nvSpPr>
            <p:spPr bwMode="auto">
              <a:xfrm>
                <a:off x="1865" y="2860"/>
                <a:ext cx="137" cy="173"/>
              </a:xfrm>
              <a:custGeom>
                <a:avLst/>
                <a:gdLst>
                  <a:gd name="T0" fmla="*/ 2 w 395"/>
                  <a:gd name="T1" fmla="*/ 502 h 502"/>
                  <a:gd name="T2" fmla="*/ 8 w 395"/>
                  <a:gd name="T3" fmla="*/ 456 h 502"/>
                  <a:gd name="T4" fmla="*/ 8 w 395"/>
                  <a:gd name="T5" fmla="*/ 409 h 502"/>
                  <a:gd name="T6" fmla="*/ 2 w 395"/>
                  <a:gd name="T7" fmla="*/ 311 h 502"/>
                  <a:gd name="T8" fmla="*/ 0 w 395"/>
                  <a:gd name="T9" fmla="*/ 211 h 502"/>
                  <a:gd name="T10" fmla="*/ 6 w 395"/>
                  <a:gd name="T11" fmla="*/ 163 h 502"/>
                  <a:gd name="T12" fmla="*/ 19 w 395"/>
                  <a:gd name="T13" fmla="*/ 118 h 502"/>
                  <a:gd name="T14" fmla="*/ 39 w 395"/>
                  <a:gd name="T15" fmla="*/ 77 h 502"/>
                  <a:gd name="T16" fmla="*/ 69 w 395"/>
                  <a:gd name="T17" fmla="*/ 43 h 502"/>
                  <a:gd name="T18" fmla="*/ 107 w 395"/>
                  <a:gd name="T19" fmla="*/ 17 h 502"/>
                  <a:gd name="T20" fmla="*/ 155 w 395"/>
                  <a:gd name="T21" fmla="*/ 2 h 502"/>
                  <a:gd name="T22" fmla="*/ 210 w 395"/>
                  <a:gd name="T23" fmla="*/ 0 h 502"/>
                  <a:gd name="T24" fmla="*/ 271 w 395"/>
                  <a:gd name="T25" fmla="*/ 13 h 502"/>
                  <a:gd name="T26" fmla="*/ 394 w 395"/>
                  <a:gd name="T27" fmla="*/ 64 h 502"/>
                  <a:gd name="T28" fmla="*/ 395 w 395"/>
                  <a:gd name="T29" fmla="*/ 64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95" h="502">
                    <a:moveTo>
                      <a:pt x="2" y="502"/>
                    </a:moveTo>
                    <a:lnTo>
                      <a:pt x="8" y="456"/>
                    </a:lnTo>
                    <a:lnTo>
                      <a:pt x="8" y="409"/>
                    </a:lnTo>
                    <a:lnTo>
                      <a:pt x="2" y="311"/>
                    </a:lnTo>
                    <a:lnTo>
                      <a:pt x="0" y="211"/>
                    </a:lnTo>
                    <a:lnTo>
                      <a:pt x="6" y="163"/>
                    </a:lnTo>
                    <a:lnTo>
                      <a:pt x="19" y="118"/>
                    </a:lnTo>
                    <a:lnTo>
                      <a:pt x="39" y="77"/>
                    </a:lnTo>
                    <a:lnTo>
                      <a:pt x="69" y="43"/>
                    </a:lnTo>
                    <a:lnTo>
                      <a:pt x="107" y="17"/>
                    </a:lnTo>
                    <a:lnTo>
                      <a:pt x="155" y="2"/>
                    </a:lnTo>
                    <a:lnTo>
                      <a:pt x="210" y="0"/>
                    </a:lnTo>
                    <a:lnTo>
                      <a:pt x="271" y="13"/>
                    </a:lnTo>
                    <a:lnTo>
                      <a:pt x="394" y="64"/>
                    </a:lnTo>
                    <a:lnTo>
                      <a:pt x="395" y="64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7" name="Freeform 96"/>
              <p:cNvSpPr>
                <a:spLocks noChangeAspect="1" noChangeArrowheads="1"/>
              </p:cNvSpPr>
              <p:nvPr/>
            </p:nvSpPr>
            <p:spPr bwMode="auto">
              <a:xfrm>
                <a:off x="1917" y="2929"/>
                <a:ext cx="85" cy="104"/>
              </a:xfrm>
              <a:custGeom>
                <a:avLst/>
                <a:gdLst>
                  <a:gd name="T0" fmla="*/ 17 w 244"/>
                  <a:gd name="T1" fmla="*/ 297 h 297"/>
                  <a:gd name="T2" fmla="*/ 18 w 244"/>
                  <a:gd name="T3" fmla="*/ 236 h 297"/>
                  <a:gd name="T4" fmla="*/ 12 w 244"/>
                  <a:gd name="T5" fmla="*/ 171 h 297"/>
                  <a:gd name="T6" fmla="*/ 1 w 244"/>
                  <a:gd name="T7" fmla="*/ 103 h 297"/>
                  <a:gd name="T8" fmla="*/ 0 w 244"/>
                  <a:gd name="T9" fmla="*/ 72 h 297"/>
                  <a:gd name="T10" fmla="*/ 9 w 244"/>
                  <a:gd name="T11" fmla="*/ 46 h 297"/>
                  <a:gd name="T12" fmla="*/ 26 w 244"/>
                  <a:gd name="T13" fmla="*/ 26 h 297"/>
                  <a:gd name="T14" fmla="*/ 52 w 244"/>
                  <a:gd name="T15" fmla="*/ 11 h 297"/>
                  <a:gd name="T16" fmla="*/ 119 w 244"/>
                  <a:gd name="T17" fmla="*/ 0 h 297"/>
                  <a:gd name="T18" fmla="*/ 184 w 244"/>
                  <a:gd name="T19" fmla="*/ 1 h 297"/>
                  <a:gd name="T20" fmla="*/ 243 w 244"/>
                  <a:gd name="T21" fmla="*/ 9 h 297"/>
                  <a:gd name="T22" fmla="*/ 244 w 244"/>
                  <a:gd name="T23" fmla="*/ 9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4" h="297">
                    <a:moveTo>
                      <a:pt x="17" y="297"/>
                    </a:moveTo>
                    <a:lnTo>
                      <a:pt x="18" y="236"/>
                    </a:lnTo>
                    <a:lnTo>
                      <a:pt x="12" y="171"/>
                    </a:lnTo>
                    <a:lnTo>
                      <a:pt x="1" y="103"/>
                    </a:lnTo>
                    <a:lnTo>
                      <a:pt x="0" y="72"/>
                    </a:lnTo>
                    <a:lnTo>
                      <a:pt x="9" y="46"/>
                    </a:lnTo>
                    <a:lnTo>
                      <a:pt x="26" y="26"/>
                    </a:lnTo>
                    <a:lnTo>
                      <a:pt x="52" y="11"/>
                    </a:lnTo>
                    <a:lnTo>
                      <a:pt x="119" y="0"/>
                    </a:lnTo>
                    <a:lnTo>
                      <a:pt x="184" y="1"/>
                    </a:lnTo>
                    <a:lnTo>
                      <a:pt x="243" y="9"/>
                    </a:lnTo>
                    <a:lnTo>
                      <a:pt x="244" y="9"/>
                    </a:lnTo>
                  </a:path>
                </a:pathLst>
              </a:custGeom>
              <a:noFill/>
              <a:ln w="6350">
                <a:solidFill>
                  <a:srgbClr val="FF66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1" name="Group 97"/>
            <p:cNvGrpSpPr>
              <a:grpSpLocks noChangeAspect="1"/>
            </p:cNvGrpSpPr>
            <p:nvPr/>
          </p:nvGrpSpPr>
          <p:grpSpPr bwMode="auto">
            <a:xfrm>
              <a:off x="3117" y="2689"/>
              <a:ext cx="517" cy="344"/>
              <a:chOff x="2417" y="2639"/>
              <a:chExt cx="517" cy="344"/>
            </a:xfrm>
          </p:grpSpPr>
          <p:sp>
            <p:nvSpPr>
              <p:cNvPr id="407" name="Freeform 98"/>
              <p:cNvSpPr>
                <a:spLocks noChangeAspect="1" noChangeArrowheads="1"/>
              </p:cNvSpPr>
              <p:nvPr/>
            </p:nvSpPr>
            <p:spPr bwMode="auto">
              <a:xfrm>
                <a:off x="2480" y="2674"/>
                <a:ext cx="68" cy="3"/>
              </a:xfrm>
              <a:custGeom>
                <a:avLst/>
                <a:gdLst>
                  <a:gd name="T0" fmla="*/ 0 w 199"/>
                  <a:gd name="T1" fmla="*/ 0 h 3"/>
                  <a:gd name="T2" fmla="*/ 198 w 199"/>
                  <a:gd name="T3" fmla="*/ 0 h 3"/>
                  <a:gd name="T4" fmla="*/ 199 w 199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9" h="3">
                    <a:moveTo>
                      <a:pt x="0" y="0"/>
                    </a:moveTo>
                    <a:lnTo>
                      <a:pt x="198" y="0"/>
                    </a:lnTo>
                    <a:lnTo>
                      <a:pt x="199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08" name="Freeform 99"/>
              <p:cNvSpPr>
                <a:spLocks noChangeAspect="1" noChangeArrowheads="1"/>
              </p:cNvSpPr>
              <p:nvPr/>
            </p:nvSpPr>
            <p:spPr bwMode="auto">
              <a:xfrm>
                <a:off x="2617" y="2674"/>
                <a:ext cx="68" cy="3"/>
              </a:xfrm>
              <a:custGeom>
                <a:avLst/>
                <a:gdLst>
                  <a:gd name="T0" fmla="*/ 0 w 200"/>
                  <a:gd name="T1" fmla="*/ 0 h 3"/>
                  <a:gd name="T2" fmla="*/ 199 w 200"/>
                  <a:gd name="T3" fmla="*/ 0 h 3"/>
                  <a:gd name="T4" fmla="*/ 200 w 200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0" h="3">
                    <a:moveTo>
                      <a:pt x="0" y="0"/>
                    </a:moveTo>
                    <a:lnTo>
                      <a:pt x="199" y="0"/>
                    </a:lnTo>
                    <a:lnTo>
                      <a:pt x="20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09" name="Freeform 100"/>
              <p:cNvSpPr>
                <a:spLocks noChangeAspect="1" noChangeArrowheads="1"/>
              </p:cNvSpPr>
              <p:nvPr/>
            </p:nvSpPr>
            <p:spPr bwMode="auto">
              <a:xfrm>
                <a:off x="2753" y="2674"/>
                <a:ext cx="69" cy="3"/>
              </a:xfrm>
              <a:custGeom>
                <a:avLst/>
                <a:gdLst>
                  <a:gd name="T0" fmla="*/ 0 w 200"/>
                  <a:gd name="T1" fmla="*/ 0 h 3"/>
                  <a:gd name="T2" fmla="*/ 199 w 200"/>
                  <a:gd name="T3" fmla="*/ 0 h 3"/>
                  <a:gd name="T4" fmla="*/ 200 w 200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0" h="3">
                    <a:moveTo>
                      <a:pt x="0" y="0"/>
                    </a:moveTo>
                    <a:lnTo>
                      <a:pt x="199" y="0"/>
                    </a:lnTo>
                    <a:lnTo>
                      <a:pt x="20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0" name="Freeform 101"/>
              <p:cNvSpPr>
                <a:spLocks noChangeAspect="1" noChangeArrowheads="1"/>
              </p:cNvSpPr>
              <p:nvPr/>
            </p:nvSpPr>
            <p:spPr bwMode="auto">
              <a:xfrm>
                <a:off x="2890" y="2674"/>
                <a:ext cx="44" cy="3"/>
              </a:xfrm>
              <a:custGeom>
                <a:avLst/>
                <a:gdLst>
                  <a:gd name="T0" fmla="*/ 0 w 128"/>
                  <a:gd name="T1" fmla="*/ 0 h 3"/>
                  <a:gd name="T2" fmla="*/ 127 w 128"/>
                  <a:gd name="T3" fmla="*/ 0 h 3"/>
                  <a:gd name="T4" fmla="*/ 128 w 128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8" h="3">
                    <a:moveTo>
                      <a:pt x="0" y="0"/>
                    </a:moveTo>
                    <a:lnTo>
                      <a:pt x="127" y="0"/>
                    </a:lnTo>
                    <a:lnTo>
                      <a:pt x="128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1" name="Freeform 102"/>
              <p:cNvSpPr>
                <a:spLocks noChangeAspect="1" noChangeArrowheads="1"/>
              </p:cNvSpPr>
              <p:nvPr/>
            </p:nvSpPr>
            <p:spPr bwMode="auto">
              <a:xfrm>
                <a:off x="2417" y="2701"/>
                <a:ext cx="66" cy="3"/>
              </a:xfrm>
              <a:custGeom>
                <a:avLst/>
                <a:gdLst>
                  <a:gd name="T0" fmla="*/ 0 w 185"/>
                  <a:gd name="T1" fmla="*/ 0 h 3"/>
                  <a:gd name="T2" fmla="*/ 184 w 185"/>
                  <a:gd name="T3" fmla="*/ 0 h 3"/>
                  <a:gd name="T4" fmla="*/ 185 w 18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5" h="3">
                    <a:moveTo>
                      <a:pt x="0" y="0"/>
                    </a:moveTo>
                    <a:lnTo>
                      <a:pt x="184" y="0"/>
                    </a:lnTo>
                    <a:lnTo>
                      <a:pt x="185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2" name="Freeform 103"/>
              <p:cNvSpPr>
                <a:spLocks noChangeAspect="1" noChangeArrowheads="1"/>
              </p:cNvSpPr>
              <p:nvPr/>
            </p:nvSpPr>
            <p:spPr bwMode="auto">
              <a:xfrm>
                <a:off x="2548" y="2701"/>
                <a:ext cx="69" cy="3"/>
              </a:xfrm>
              <a:custGeom>
                <a:avLst/>
                <a:gdLst>
                  <a:gd name="T0" fmla="*/ 0 w 200"/>
                  <a:gd name="T1" fmla="*/ 0 h 3"/>
                  <a:gd name="T2" fmla="*/ 199 w 200"/>
                  <a:gd name="T3" fmla="*/ 0 h 3"/>
                  <a:gd name="T4" fmla="*/ 200 w 200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0" h="3">
                    <a:moveTo>
                      <a:pt x="0" y="0"/>
                    </a:moveTo>
                    <a:lnTo>
                      <a:pt x="199" y="0"/>
                    </a:lnTo>
                    <a:lnTo>
                      <a:pt x="20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3" name="Freeform 104"/>
              <p:cNvSpPr>
                <a:spLocks noChangeAspect="1" noChangeArrowheads="1"/>
              </p:cNvSpPr>
              <p:nvPr/>
            </p:nvSpPr>
            <p:spPr bwMode="auto">
              <a:xfrm>
                <a:off x="2685" y="2701"/>
                <a:ext cx="68" cy="3"/>
              </a:xfrm>
              <a:custGeom>
                <a:avLst/>
                <a:gdLst>
                  <a:gd name="T0" fmla="*/ 0 w 199"/>
                  <a:gd name="T1" fmla="*/ 0 h 3"/>
                  <a:gd name="T2" fmla="*/ 198 w 199"/>
                  <a:gd name="T3" fmla="*/ 0 h 3"/>
                  <a:gd name="T4" fmla="*/ 199 w 199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9" h="3">
                    <a:moveTo>
                      <a:pt x="0" y="0"/>
                    </a:moveTo>
                    <a:lnTo>
                      <a:pt x="198" y="0"/>
                    </a:lnTo>
                    <a:lnTo>
                      <a:pt x="199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4" name="Freeform 105"/>
              <p:cNvSpPr>
                <a:spLocks noChangeAspect="1" noChangeArrowheads="1"/>
              </p:cNvSpPr>
              <p:nvPr/>
            </p:nvSpPr>
            <p:spPr bwMode="auto">
              <a:xfrm>
                <a:off x="2822" y="2701"/>
                <a:ext cx="68" cy="3"/>
              </a:xfrm>
              <a:custGeom>
                <a:avLst/>
                <a:gdLst>
                  <a:gd name="T0" fmla="*/ 0 w 200"/>
                  <a:gd name="T1" fmla="*/ 0 h 3"/>
                  <a:gd name="T2" fmla="*/ 199 w 200"/>
                  <a:gd name="T3" fmla="*/ 0 h 3"/>
                  <a:gd name="T4" fmla="*/ 200 w 200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0" h="3">
                    <a:moveTo>
                      <a:pt x="0" y="0"/>
                    </a:moveTo>
                    <a:lnTo>
                      <a:pt x="199" y="0"/>
                    </a:lnTo>
                    <a:lnTo>
                      <a:pt x="20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5" name="Freeform 106"/>
              <p:cNvSpPr>
                <a:spLocks noChangeAspect="1" noChangeArrowheads="1"/>
              </p:cNvSpPr>
              <p:nvPr/>
            </p:nvSpPr>
            <p:spPr bwMode="auto">
              <a:xfrm>
                <a:off x="2480" y="2734"/>
                <a:ext cx="68" cy="3"/>
              </a:xfrm>
              <a:custGeom>
                <a:avLst/>
                <a:gdLst>
                  <a:gd name="T0" fmla="*/ 0 w 199"/>
                  <a:gd name="T1" fmla="*/ 0 h 3"/>
                  <a:gd name="T2" fmla="*/ 198 w 199"/>
                  <a:gd name="T3" fmla="*/ 0 h 3"/>
                  <a:gd name="T4" fmla="*/ 199 w 199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9" h="3">
                    <a:moveTo>
                      <a:pt x="0" y="0"/>
                    </a:moveTo>
                    <a:lnTo>
                      <a:pt x="198" y="0"/>
                    </a:lnTo>
                    <a:lnTo>
                      <a:pt x="199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6" name="Freeform 107"/>
              <p:cNvSpPr>
                <a:spLocks noChangeAspect="1" noChangeArrowheads="1"/>
              </p:cNvSpPr>
              <p:nvPr/>
            </p:nvSpPr>
            <p:spPr bwMode="auto">
              <a:xfrm>
                <a:off x="2617" y="2734"/>
                <a:ext cx="68" cy="3"/>
              </a:xfrm>
              <a:custGeom>
                <a:avLst/>
                <a:gdLst>
                  <a:gd name="T0" fmla="*/ 0 w 200"/>
                  <a:gd name="T1" fmla="*/ 0 h 3"/>
                  <a:gd name="T2" fmla="*/ 199 w 200"/>
                  <a:gd name="T3" fmla="*/ 0 h 3"/>
                  <a:gd name="T4" fmla="*/ 200 w 200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0" h="3">
                    <a:moveTo>
                      <a:pt x="0" y="0"/>
                    </a:moveTo>
                    <a:lnTo>
                      <a:pt x="199" y="0"/>
                    </a:lnTo>
                    <a:lnTo>
                      <a:pt x="20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7" name="Freeform 108"/>
              <p:cNvSpPr>
                <a:spLocks noChangeAspect="1" noChangeArrowheads="1"/>
              </p:cNvSpPr>
              <p:nvPr/>
            </p:nvSpPr>
            <p:spPr bwMode="auto">
              <a:xfrm>
                <a:off x="2753" y="2734"/>
                <a:ext cx="69" cy="3"/>
              </a:xfrm>
              <a:custGeom>
                <a:avLst/>
                <a:gdLst>
                  <a:gd name="T0" fmla="*/ 0 w 200"/>
                  <a:gd name="T1" fmla="*/ 0 h 3"/>
                  <a:gd name="T2" fmla="*/ 199 w 200"/>
                  <a:gd name="T3" fmla="*/ 0 h 3"/>
                  <a:gd name="T4" fmla="*/ 200 w 200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0" h="3">
                    <a:moveTo>
                      <a:pt x="0" y="0"/>
                    </a:moveTo>
                    <a:lnTo>
                      <a:pt x="199" y="0"/>
                    </a:lnTo>
                    <a:lnTo>
                      <a:pt x="20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8" name="Freeform 109"/>
              <p:cNvSpPr>
                <a:spLocks noChangeAspect="1" noChangeArrowheads="1"/>
              </p:cNvSpPr>
              <p:nvPr/>
            </p:nvSpPr>
            <p:spPr bwMode="auto">
              <a:xfrm>
                <a:off x="2890" y="2734"/>
                <a:ext cx="44" cy="3"/>
              </a:xfrm>
              <a:custGeom>
                <a:avLst/>
                <a:gdLst>
                  <a:gd name="T0" fmla="*/ 0 w 128"/>
                  <a:gd name="T1" fmla="*/ 0 h 3"/>
                  <a:gd name="T2" fmla="*/ 127 w 128"/>
                  <a:gd name="T3" fmla="*/ 0 h 3"/>
                  <a:gd name="T4" fmla="*/ 128 w 128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8" h="3">
                    <a:moveTo>
                      <a:pt x="0" y="0"/>
                    </a:moveTo>
                    <a:lnTo>
                      <a:pt x="127" y="0"/>
                    </a:lnTo>
                    <a:lnTo>
                      <a:pt x="128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9" name="Freeform 110"/>
              <p:cNvSpPr>
                <a:spLocks noChangeAspect="1" noChangeArrowheads="1"/>
              </p:cNvSpPr>
              <p:nvPr/>
            </p:nvSpPr>
            <p:spPr bwMode="auto">
              <a:xfrm>
                <a:off x="2417" y="2778"/>
                <a:ext cx="66" cy="3"/>
              </a:xfrm>
              <a:custGeom>
                <a:avLst/>
                <a:gdLst>
                  <a:gd name="T0" fmla="*/ 0 w 185"/>
                  <a:gd name="T1" fmla="*/ 0 h 3"/>
                  <a:gd name="T2" fmla="*/ 184 w 185"/>
                  <a:gd name="T3" fmla="*/ 0 h 3"/>
                  <a:gd name="T4" fmla="*/ 185 w 18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5" h="3">
                    <a:moveTo>
                      <a:pt x="0" y="0"/>
                    </a:moveTo>
                    <a:lnTo>
                      <a:pt x="184" y="0"/>
                    </a:lnTo>
                    <a:lnTo>
                      <a:pt x="185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0" name="Freeform 111"/>
              <p:cNvSpPr>
                <a:spLocks noChangeAspect="1" noChangeArrowheads="1"/>
              </p:cNvSpPr>
              <p:nvPr/>
            </p:nvSpPr>
            <p:spPr bwMode="auto">
              <a:xfrm>
                <a:off x="2548" y="2778"/>
                <a:ext cx="69" cy="3"/>
              </a:xfrm>
              <a:custGeom>
                <a:avLst/>
                <a:gdLst>
                  <a:gd name="T0" fmla="*/ 0 w 200"/>
                  <a:gd name="T1" fmla="*/ 0 h 3"/>
                  <a:gd name="T2" fmla="*/ 199 w 200"/>
                  <a:gd name="T3" fmla="*/ 0 h 3"/>
                  <a:gd name="T4" fmla="*/ 200 w 200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0" h="3">
                    <a:moveTo>
                      <a:pt x="0" y="0"/>
                    </a:moveTo>
                    <a:lnTo>
                      <a:pt x="199" y="0"/>
                    </a:lnTo>
                    <a:lnTo>
                      <a:pt x="20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1" name="Freeform 112"/>
              <p:cNvSpPr>
                <a:spLocks noChangeAspect="1" noChangeArrowheads="1"/>
              </p:cNvSpPr>
              <p:nvPr/>
            </p:nvSpPr>
            <p:spPr bwMode="auto">
              <a:xfrm>
                <a:off x="2685" y="2778"/>
                <a:ext cx="68" cy="3"/>
              </a:xfrm>
              <a:custGeom>
                <a:avLst/>
                <a:gdLst>
                  <a:gd name="T0" fmla="*/ 0 w 199"/>
                  <a:gd name="T1" fmla="*/ 0 h 3"/>
                  <a:gd name="T2" fmla="*/ 198 w 199"/>
                  <a:gd name="T3" fmla="*/ 0 h 3"/>
                  <a:gd name="T4" fmla="*/ 199 w 199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9" h="3">
                    <a:moveTo>
                      <a:pt x="0" y="0"/>
                    </a:moveTo>
                    <a:lnTo>
                      <a:pt x="198" y="0"/>
                    </a:lnTo>
                    <a:lnTo>
                      <a:pt x="199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2" name="Freeform 113"/>
              <p:cNvSpPr>
                <a:spLocks noChangeAspect="1" noChangeArrowheads="1"/>
              </p:cNvSpPr>
              <p:nvPr/>
            </p:nvSpPr>
            <p:spPr bwMode="auto">
              <a:xfrm>
                <a:off x="2822" y="2778"/>
                <a:ext cx="68" cy="3"/>
              </a:xfrm>
              <a:custGeom>
                <a:avLst/>
                <a:gdLst>
                  <a:gd name="T0" fmla="*/ 0 w 200"/>
                  <a:gd name="T1" fmla="*/ 0 h 3"/>
                  <a:gd name="T2" fmla="*/ 199 w 200"/>
                  <a:gd name="T3" fmla="*/ 0 h 3"/>
                  <a:gd name="T4" fmla="*/ 200 w 200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0" h="3">
                    <a:moveTo>
                      <a:pt x="0" y="0"/>
                    </a:moveTo>
                    <a:lnTo>
                      <a:pt x="199" y="0"/>
                    </a:lnTo>
                    <a:lnTo>
                      <a:pt x="20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3" name="Freeform 114"/>
              <p:cNvSpPr>
                <a:spLocks noChangeAspect="1" noChangeArrowheads="1"/>
              </p:cNvSpPr>
              <p:nvPr/>
            </p:nvSpPr>
            <p:spPr bwMode="auto">
              <a:xfrm>
                <a:off x="2480" y="2838"/>
                <a:ext cx="68" cy="3"/>
              </a:xfrm>
              <a:custGeom>
                <a:avLst/>
                <a:gdLst>
                  <a:gd name="T0" fmla="*/ 0 w 199"/>
                  <a:gd name="T1" fmla="*/ 0 h 3"/>
                  <a:gd name="T2" fmla="*/ 198 w 199"/>
                  <a:gd name="T3" fmla="*/ 0 h 3"/>
                  <a:gd name="T4" fmla="*/ 199 w 199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9" h="3">
                    <a:moveTo>
                      <a:pt x="0" y="0"/>
                    </a:moveTo>
                    <a:lnTo>
                      <a:pt x="198" y="0"/>
                    </a:lnTo>
                    <a:lnTo>
                      <a:pt x="199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4" name="Freeform 115"/>
              <p:cNvSpPr>
                <a:spLocks noChangeAspect="1" noChangeArrowheads="1"/>
              </p:cNvSpPr>
              <p:nvPr/>
            </p:nvSpPr>
            <p:spPr bwMode="auto">
              <a:xfrm>
                <a:off x="2617" y="2838"/>
                <a:ext cx="68" cy="3"/>
              </a:xfrm>
              <a:custGeom>
                <a:avLst/>
                <a:gdLst>
                  <a:gd name="T0" fmla="*/ 0 w 200"/>
                  <a:gd name="T1" fmla="*/ 0 h 3"/>
                  <a:gd name="T2" fmla="*/ 199 w 200"/>
                  <a:gd name="T3" fmla="*/ 0 h 3"/>
                  <a:gd name="T4" fmla="*/ 200 w 200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0" h="3">
                    <a:moveTo>
                      <a:pt x="0" y="0"/>
                    </a:moveTo>
                    <a:lnTo>
                      <a:pt x="199" y="0"/>
                    </a:lnTo>
                    <a:lnTo>
                      <a:pt x="20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5" name="Freeform 116"/>
              <p:cNvSpPr>
                <a:spLocks noChangeAspect="1" noChangeArrowheads="1"/>
              </p:cNvSpPr>
              <p:nvPr/>
            </p:nvSpPr>
            <p:spPr bwMode="auto">
              <a:xfrm>
                <a:off x="2753" y="2838"/>
                <a:ext cx="69" cy="3"/>
              </a:xfrm>
              <a:custGeom>
                <a:avLst/>
                <a:gdLst>
                  <a:gd name="T0" fmla="*/ 0 w 200"/>
                  <a:gd name="T1" fmla="*/ 0 h 3"/>
                  <a:gd name="T2" fmla="*/ 199 w 200"/>
                  <a:gd name="T3" fmla="*/ 0 h 3"/>
                  <a:gd name="T4" fmla="*/ 200 w 200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0" h="3">
                    <a:moveTo>
                      <a:pt x="0" y="0"/>
                    </a:moveTo>
                    <a:lnTo>
                      <a:pt x="199" y="0"/>
                    </a:lnTo>
                    <a:lnTo>
                      <a:pt x="20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6" name="Freeform 117"/>
              <p:cNvSpPr>
                <a:spLocks noChangeAspect="1" noChangeArrowheads="1"/>
              </p:cNvSpPr>
              <p:nvPr/>
            </p:nvSpPr>
            <p:spPr bwMode="auto">
              <a:xfrm>
                <a:off x="2417" y="2980"/>
                <a:ext cx="517" cy="3"/>
              </a:xfrm>
              <a:custGeom>
                <a:avLst/>
                <a:gdLst>
                  <a:gd name="T0" fmla="*/ 0 w 1504"/>
                  <a:gd name="T1" fmla="*/ 0 h 3"/>
                  <a:gd name="T2" fmla="*/ 1503 w 1504"/>
                  <a:gd name="T3" fmla="*/ 0 h 3"/>
                  <a:gd name="T4" fmla="*/ 1504 w 150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04" h="3">
                    <a:moveTo>
                      <a:pt x="0" y="0"/>
                    </a:moveTo>
                    <a:lnTo>
                      <a:pt x="1503" y="0"/>
                    </a:lnTo>
                    <a:lnTo>
                      <a:pt x="1504" y="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7" name="Freeform 118"/>
              <p:cNvSpPr>
                <a:spLocks noChangeAspect="1" noChangeArrowheads="1"/>
              </p:cNvSpPr>
              <p:nvPr/>
            </p:nvSpPr>
            <p:spPr bwMode="auto">
              <a:xfrm>
                <a:off x="2931" y="2639"/>
                <a:ext cx="3" cy="341"/>
              </a:xfrm>
              <a:custGeom>
                <a:avLst/>
                <a:gdLst>
                  <a:gd name="T0" fmla="*/ 0 w 1"/>
                  <a:gd name="T1" fmla="*/ 1003 h 1003"/>
                  <a:gd name="T2" fmla="*/ 0 w 1"/>
                  <a:gd name="T3" fmla="*/ 0 h 1003"/>
                  <a:gd name="T4" fmla="*/ 1 w 1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03">
                    <a:moveTo>
                      <a:pt x="0" y="100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8" name="Freeform 119"/>
              <p:cNvSpPr>
                <a:spLocks noChangeAspect="1" noChangeArrowheads="1"/>
              </p:cNvSpPr>
              <p:nvPr/>
            </p:nvSpPr>
            <p:spPr bwMode="auto">
              <a:xfrm>
                <a:off x="2417" y="2660"/>
                <a:ext cx="514" cy="3"/>
              </a:xfrm>
              <a:custGeom>
                <a:avLst/>
                <a:gdLst>
                  <a:gd name="T0" fmla="*/ 1503 w 1503"/>
                  <a:gd name="T1" fmla="*/ 0 h 3"/>
                  <a:gd name="T2" fmla="*/ 0 w 1503"/>
                  <a:gd name="T3" fmla="*/ 0 h 3"/>
                  <a:gd name="T4" fmla="*/ 1 w 150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03" h="3">
                    <a:moveTo>
                      <a:pt x="1503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9" name="Freeform 120"/>
              <p:cNvSpPr>
                <a:spLocks noChangeAspect="1" noChangeArrowheads="1"/>
              </p:cNvSpPr>
              <p:nvPr/>
            </p:nvSpPr>
            <p:spPr bwMode="auto">
              <a:xfrm>
                <a:off x="2417" y="2639"/>
                <a:ext cx="3" cy="341"/>
              </a:xfrm>
              <a:custGeom>
                <a:avLst/>
                <a:gdLst>
                  <a:gd name="T0" fmla="*/ 0 w 1"/>
                  <a:gd name="T1" fmla="*/ 0 h 1003"/>
                  <a:gd name="T2" fmla="*/ 0 w 1"/>
                  <a:gd name="T3" fmla="*/ 1003 h 1003"/>
                  <a:gd name="T4" fmla="*/ 1 w 1"/>
                  <a:gd name="T5" fmla="*/ 10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03">
                    <a:moveTo>
                      <a:pt x="0" y="0"/>
                    </a:moveTo>
                    <a:lnTo>
                      <a:pt x="0" y="1003"/>
                    </a:lnTo>
                    <a:lnTo>
                      <a:pt x="1" y="1003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0" name="Freeform 121"/>
              <p:cNvSpPr>
                <a:spLocks noChangeAspect="1" noChangeArrowheads="1"/>
              </p:cNvSpPr>
              <p:nvPr/>
            </p:nvSpPr>
            <p:spPr bwMode="auto">
              <a:xfrm>
                <a:off x="2581" y="2896"/>
                <a:ext cx="68" cy="2"/>
              </a:xfrm>
              <a:custGeom>
                <a:avLst/>
                <a:gdLst>
                  <a:gd name="T0" fmla="*/ 0 w 199"/>
                  <a:gd name="T1" fmla="*/ 0 h 2"/>
                  <a:gd name="T2" fmla="*/ 198 w 199"/>
                  <a:gd name="T3" fmla="*/ 0 h 2"/>
                  <a:gd name="T4" fmla="*/ 199 w 199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9" h="2">
                    <a:moveTo>
                      <a:pt x="0" y="0"/>
                    </a:moveTo>
                    <a:lnTo>
                      <a:pt x="198" y="0"/>
                    </a:lnTo>
                    <a:lnTo>
                      <a:pt x="199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1" name="Freeform 122"/>
              <p:cNvSpPr>
                <a:spLocks noChangeAspect="1" noChangeArrowheads="1"/>
              </p:cNvSpPr>
              <p:nvPr/>
            </p:nvSpPr>
            <p:spPr bwMode="auto">
              <a:xfrm>
                <a:off x="2718" y="2896"/>
                <a:ext cx="68" cy="2"/>
              </a:xfrm>
              <a:custGeom>
                <a:avLst/>
                <a:gdLst>
                  <a:gd name="T0" fmla="*/ 0 w 200"/>
                  <a:gd name="T1" fmla="*/ 0 h 2"/>
                  <a:gd name="T2" fmla="*/ 199 w 200"/>
                  <a:gd name="T3" fmla="*/ 0 h 2"/>
                  <a:gd name="T4" fmla="*/ 200 w 20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0" h="2">
                    <a:moveTo>
                      <a:pt x="0" y="0"/>
                    </a:moveTo>
                    <a:lnTo>
                      <a:pt x="199" y="0"/>
                    </a:lnTo>
                    <a:lnTo>
                      <a:pt x="20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2" name="Group 123"/>
            <p:cNvGrpSpPr>
              <a:grpSpLocks noChangeAspect="1"/>
            </p:cNvGrpSpPr>
            <p:nvPr/>
          </p:nvGrpSpPr>
          <p:grpSpPr bwMode="auto">
            <a:xfrm>
              <a:off x="3120" y="1323"/>
              <a:ext cx="514" cy="342"/>
              <a:chOff x="2417" y="1323"/>
              <a:chExt cx="514" cy="342"/>
            </a:xfrm>
          </p:grpSpPr>
          <p:sp>
            <p:nvSpPr>
              <p:cNvPr id="392" name="Freeform 124"/>
              <p:cNvSpPr>
                <a:spLocks noChangeAspect="1" noChangeArrowheads="1"/>
              </p:cNvSpPr>
              <p:nvPr/>
            </p:nvSpPr>
            <p:spPr bwMode="auto">
              <a:xfrm>
                <a:off x="2417" y="1323"/>
                <a:ext cx="514" cy="342"/>
              </a:xfrm>
              <a:custGeom>
                <a:avLst/>
                <a:gdLst>
                  <a:gd name="T0" fmla="*/ 0 w 1503"/>
                  <a:gd name="T1" fmla="*/ 1004 h 1004"/>
                  <a:gd name="T2" fmla="*/ 1503 w 1503"/>
                  <a:gd name="T3" fmla="*/ 1004 h 1004"/>
                  <a:gd name="T4" fmla="*/ 1503 w 1503"/>
                  <a:gd name="T5" fmla="*/ 0 h 1004"/>
                  <a:gd name="T6" fmla="*/ 0 w 1503"/>
                  <a:gd name="T7" fmla="*/ 0 h 1004"/>
                  <a:gd name="T8" fmla="*/ 0 w 1503"/>
                  <a:gd name="T9" fmla="*/ 1004 h 1004"/>
                  <a:gd name="T10" fmla="*/ 1 w 1503"/>
                  <a:gd name="T11" fmla="*/ 1004 h 10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03" h="1004">
                    <a:moveTo>
                      <a:pt x="0" y="1004"/>
                    </a:moveTo>
                    <a:lnTo>
                      <a:pt x="1503" y="1004"/>
                    </a:lnTo>
                    <a:lnTo>
                      <a:pt x="1503" y="0"/>
                    </a:lnTo>
                    <a:lnTo>
                      <a:pt x="0" y="0"/>
                    </a:lnTo>
                    <a:lnTo>
                      <a:pt x="0" y="1004"/>
                    </a:lnTo>
                    <a:lnTo>
                      <a:pt x="1" y="100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3" name="Freeform 125"/>
              <p:cNvSpPr>
                <a:spLocks noChangeAspect="1" noChangeArrowheads="1"/>
              </p:cNvSpPr>
              <p:nvPr/>
            </p:nvSpPr>
            <p:spPr bwMode="auto">
              <a:xfrm>
                <a:off x="2436" y="1359"/>
                <a:ext cx="3" cy="270"/>
              </a:xfrm>
              <a:custGeom>
                <a:avLst/>
                <a:gdLst>
                  <a:gd name="T0" fmla="*/ 0 w 1"/>
                  <a:gd name="T1" fmla="*/ 0 h 795"/>
                  <a:gd name="T2" fmla="*/ 0 w 1"/>
                  <a:gd name="T3" fmla="*/ 795 h 795"/>
                  <a:gd name="T4" fmla="*/ 1 w 1"/>
                  <a:gd name="T5" fmla="*/ 795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95">
                    <a:moveTo>
                      <a:pt x="0" y="0"/>
                    </a:moveTo>
                    <a:lnTo>
                      <a:pt x="0" y="795"/>
                    </a:lnTo>
                    <a:lnTo>
                      <a:pt x="1" y="795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4" name="Freeform 126"/>
              <p:cNvSpPr>
                <a:spLocks noChangeAspect="1" noChangeArrowheads="1"/>
              </p:cNvSpPr>
              <p:nvPr/>
            </p:nvSpPr>
            <p:spPr bwMode="auto">
              <a:xfrm>
                <a:off x="2474" y="1383"/>
                <a:ext cx="3" cy="222"/>
              </a:xfrm>
              <a:custGeom>
                <a:avLst/>
                <a:gdLst>
                  <a:gd name="T0" fmla="*/ 0 w 1"/>
                  <a:gd name="T1" fmla="*/ 0 h 649"/>
                  <a:gd name="T2" fmla="*/ 0 w 1"/>
                  <a:gd name="T3" fmla="*/ 649 h 649"/>
                  <a:gd name="T4" fmla="*/ 1 w 1"/>
                  <a:gd name="T5" fmla="*/ 649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49">
                    <a:moveTo>
                      <a:pt x="0" y="0"/>
                    </a:moveTo>
                    <a:lnTo>
                      <a:pt x="0" y="649"/>
                    </a:lnTo>
                    <a:lnTo>
                      <a:pt x="1" y="649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5" name="Freeform 127"/>
              <p:cNvSpPr>
                <a:spLocks noChangeAspect="1" noChangeArrowheads="1"/>
              </p:cNvSpPr>
              <p:nvPr/>
            </p:nvSpPr>
            <p:spPr bwMode="auto">
              <a:xfrm>
                <a:off x="2513" y="1405"/>
                <a:ext cx="2" cy="170"/>
              </a:xfrm>
              <a:custGeom>
                <a:avLst/>
                <a:gdLst>
                  <a:gd name="T0" fmla="*/ 0 w 1"/>
                  <a:gd name="T1" fmla="*/ 0 h 494"/>
                  <a:gd name="T2" fmla="*/ 0 w 1"/>
                  <a:gd name="T3" fmla="*/ 494 h 494"/>
                  <a:gd name="T4" fmla="*/ 1 w 1"/>
                  <a:gd name="T5" fmla="*/ 494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94">
                    <a:moveTo>
                      <a:pt x="0" y="0"/>
                    </a:moveTo>
                    <a:lnTo>
                      <a:pt x="0" y="494"/>
                    </a:lnTo>
                    <a:lnTo>
                      <a:pt x="1" y="49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6" name="Freeform 128"/>
              <p:cNvSpPr>
                <a:spLocks noChangeAspect="1" noChangeArrowheads="1"/>
              </p:cNvSpPr>
              <p:nvPr/>
            </p:nvSpPr>
            <p:spPr bwMode="auto">
              <a:xfrm>
                <a:off x="2556" y="1424"/>
                <a:ext cx="3" cy="123"/>
              </a:xfrm>
              <a:custGeom>
                <a:avLst/>
                <a:gdLst>
                  <a:gd name="T0" fmla="*/ 0 w 1"/>
                  <a:gd name="T1" fmla="*/ 0 h 366"/>
                  <a:gd name="T2" fmla="*/ 0 w 1"/>
                  <a:gd name="T3" fmla="*/ 366 h 366"/>
                  <a:gd name="T4" fmla="*/ 1 w 1"/>
                  <a:gd name="T5" fmla="*/ 366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66">
                    <a:moveTo>
                      <a:pt x="0" y="0"/>
                    </a:moveTo>
                    <a:lnTo>
                      <a:pt x="0" y="366"/>
                    </a:lnTo>
                    <a:lnTo>
                      <a:pt x="1" y="366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7" name="Freeform 129"/>
              <p:cNvSpPr>
                <a:spLocks noChangeAspect="1" noChangeArrowheads="1"/>
              </p:cNvSpPr>
              <p:nvPr/>
            </p:nvSpPr>
            <p:spPr bwMode="auto">
              <a:xfrm>
                <a:off x="2597" y="1441"/>
                <a:ext cx="3" cy="84"/>
              </a:xfrm>
              <a:custGeom>
                <a:avLst/>
                <a:gdLst>
                  <a:gd name="T0" fmla="*/ 0 w 1"/>
                  <a:gd name="T1" fmla="*/ 0 h 245"/>
                  <a:gd name="T2" fmla="*/ 0 w 1"/>
                  <a:gd name="T3" fmla="*/ 245 h 245"/>
                  <a:gd name="T4" fmla="*/ 1 w 1"/>
                  <a:gd name="T5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45">
                    <a:moveTo>
                      <a:pt x="0" y="0"/>
                    </a:moveTo>
                    <a:lnTo>
                      <a:pt x="0" y="245"/>
                    </a:lnTo>
                    <a:lnTo>
                      <a:pt x="1" y="245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8" name="Freeform 130"/>
              <p:cNvSpPr>
                <a:spLocks noChangeAspect="1" noChangeArrowheads="1"/>
              </p:cNvSpPr>
              <p:nvPr/>
            </p:nvSpPr>
            <p:spPr bwMode="auto">
              <a:xfrm>
                <a:off x="2636" y="1460"/>
                <a:ext cx="2" cy="44"/>
              </a:xfrm>
              <a:custGeom>
                <a:avLst/>
                <a:gdLst>
                  <a:gd name="T0" fmla="*/ 0 w 1"/>
                  <a:gd name="T1" fmla="*/ 0 h 124"/>
                  <a:gd name="T2" fmla="*/ 0 w 1"/>
                  <a:gd name="T3" fmla="*/ 124 h 124"/>
                  <a:gd name="T4" fmla="*/ 1 w 1"/>
                  <a:gd name="T5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24">
                    <a:moveTo>
                      <a:pt x="0" y="0"/>
                    </a:moveTo>
                    <a:lnTo>
                      <a:pt x="0" y="124"/>
                    </a:lnTo>
                    <a:lnTo>
                      <a:pt x="1" y="12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9" name="Freeform 131"/>
              <p:cNvSpPr>
                <a:spLocks noChangeAspect="1" noChangeArrowheads="1"/>
              </p:cNvSpPr>
              <p:nvPr/>
            </p:nvSpPr>
            <p:spPr bwMode="auto">
              <a:xfrm>
                <a:off x="2668" y="1474"/>
                <a:ext cx="3" cy="21"/>
              </a:xfrm>
              <a:custGeom>
                <a:avLst/>
                <a:gdLst>
                  <a:gd name="T0" fmla="*/ 0 w 1"/>
                  <a:gd name="T1" fmla="*/ 0 h 61"/>
                  <a:gd name="T2" fmla="*/ 0 w 1"/>
                  <a:gd name="T3" fmla="*/ 61 h 61"/>
                  <a:gd name="T4" fmla="*/ 1 w 1"/>
                  <a:gd name="T5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1">
                    <a:moveTo>
                      <a:pt x="0" y="0"/>
                    </a:moveTo>
                    <a:lnTo>
                      <a:pt x="0" y="61"/>
                    </a:lnTo>
                    <a:lnTo>
                      <a:pt x="1" y="61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00" name="Freeform 132"/>
              <p:cNvSpPr>
                <a:spLocks noChangeAspect="1" noChangeArrowheads="1"/>
              </p:cNvSpPr>
              <p:nvPr/>
            </p:nvSpPr>
            <p:spPr bwMode="auto">
              <a:xfrm>
                <a:off x="2838" y="1405"/>
                <a:ext cx="3" cy="170"/>
              </a:xfrm>
              <a:custGeom>
                <a:avLst/>
                <a:gdLst>
                  <a:gd name="T0" fmla="*/ 0 w 1"/>
                  <a:gd name="T1" fmla="*/ 0 h 494"/>
                  <a:gd name="T2" fmla="*/ 0 w 1"/>
                  <a:gd name="T3" fmla="*/ 494 h 494"/>
                  <a:gd name="T4" fmla="*/ 1 w 1"/>
                  <a:gd name="T5" fmla="*/ 494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94">
                    <a:moveTo>
                      <a:pt x="0" y="0"/>
                    </a:moveTo>
                    <a:lnTo>
                      <a:pt x="0" y="494"/>
                    </a:lnTo>
                    <a:lnTo>
                      <a:pt x="1" y="49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01" name="Freeform 133"/>
              <p:cNvSpPr>
                <a:spLocks noChangeAspect="1" noChangeArrowheads="1"/>
              </p:cNvSpPr>
              <p:nvPr/>
            </p:nvSpPr>
            <p:spPr bwMode="auto">
              <a:xfrm>
                <a:off x="2876" y="1383"/>
                <a:ext cx="3" cy="222"/>
              </a:xfrm>
              <a:custGeom>
                <a:avLst/>
                <a:gdLst>
                  <a:gd name="T0" fmla="*/ 0 w 1"/>
                  <a:gd name="T1" fmla="*/ 0 h 649"/>
                  <a:gd name="T2" fmla="*/ 0 w 1"/>
                  <a:gd name="T3" fmla="*/ 649 h 649"/>
                  <a:gd name="T4" fmla="*/ 1 w 1"/>
                  <a:gd name="T5" fmla="*/ 649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49">
                    <a:moveTo>
                      <a:pt x="0" y="0"/>
                    </a:moveTo>
                    <a:lnTo>
                      <a:pt x="0" y="649"/>
                    </a:lnTo>
                    <a:lnTo>
                      <a:pt x="1" y="649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02" name="Freeform 134"/>
              <p:cNvSpPr>
                <a:spLocks noChangeAspect="1" noChangeArrowheads="1"/>
              </p:cNvSpPr>
              <p:nvPr/>
            </p:nvSpPr>
            <p:spPr bwMode="auto">
              <a:xfrm>
                <a:off x="2912" y="1359"/>
                <a:ext cx="3" cy="270"/>
              </a:xfrm>
              <a:custGeom>
                <a:avLst/>
                <a:gdLst>
                  <a:gd name="T0" fmla="*/ 0 w 1"/>
                  <a:gd name="T1" fmla="*/ 0 h 795"/>
                  <a:gd name="T2" fmla="*/ 0 w 1"/>
                  <a:gd name="T3" fmla="*/ 795 h 795"/>
                  <a:gd name="T4" fmla="*/ 1 w 1"/>
                  <a:gd name="T5" fmla="*/ 795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95">
                    <a:moveTo>
                      <a:pt x="0" y="0"/>
                    </a:moveTo>
                    <a:lnTo>
                      <a:pt x="0" y="795"/>
                    </a:lnTo>
                    <a:lnTo>
                      <a:pt x="1" y="795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03" name="Freeform 135"/>
              <p:cNvSpPr>
                <a:spLocks noChangeAspect="1" noChangeArrowheads="1"/>
              </p:cNvSpPr>
              <p:nvPr/>
            </p:nvSpPr>
            <p:spPr bwMode="auto">
              <a:xfrm>
                <a:off x="2682" y="1474"/>
                <a:ext cx="3" cy="21"/>
              </a:xfrm>
              <a:custGeom>
                <a:avLst/>
                <a:gdLst>
                  <a:gd name="T0" fmla="*/ 0 w 1"/>
                  <a:gd name="T1" fmla="*/ 0 h 61"/>
                  <a:gd name="T2" fmla="*/ 0 w 1"/>
                  <a:gd name="T3" fmla="*/ 61 h 61"/>
                  <a:gd name="T4" fmla="*/ 1 w 1"/>
                  <a:gd name="T5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1">
                    <a:moveTo>
                      <a:pt x="0" y="0"/>
                    </a:moveTo>
                    <a:lnTo>
                      <a:pt x="0" y="61"/>
                    </a:lnTo>
                    <a:lnTo>
                      <a:pt x="1" y="61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04" name="Freeform 136"/>
              <p:cNvSpPr>
                <a:spLocks noChangeAspect="1" noChangeArrowheads="1"/>
              </p:cNvSpPr>
              <p:nvPr/>
            </p:nvSpPr>
            <p:spPr bwMode="auto">
              <a:xfrm>
                <a:off x="2715" y="1460"/>
                <a:ext cx="3" cy="44"/>
              </a:xfrm>
              <a:custGeom>
                <a:avLst/>
                <a:gdLst>
                  <a:gd name="T0" fmla="*/ 0 w 1"/>
                  <a:gd name="T1" fmla="*/ 0 h 124"/>
                  <a:gd name="T2" fmla="*/ 0 w 1"/>
                  <a:gd name="T3" fmla="*/ 124 h 124"/>
                  <a:gd name="T4" fmla="*/ 1 w 1"/>
                  <a:gd name="T5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24">
                    <a:moveTo>
                      <a:pt x="0" y="0"/>
                    </a:moveTo>
                    <a:lnTo>
                      <a:pt x="0" y="124"/>
                    </a:lnTo>
                    <a:lnTo>
                      <a:pt x="1" y="12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05" name="Freeform 137"/>
              <p:cNvSpPr>
                <a:spLocks noChangeAspect="1" noChangeArrowheads="1"/>
              </p:cNvSpPr>
              <p:nvPr/>
            </p:nvSpPr>
            <p:spPr bwMode="auto">
              <a:xfrm>
                <a:off x="2750" y="1441"/>
                <a:ext cx="3" cy="84"/>
              </a:xfrm>
              <a:custGeom>
                <a:avLst/>
                <a:gdLst>
                  <a:gd name="T0" fmla="*/ 0 w 1"/>
                  <a:gd name="T1" fmla="*/ 0 h 245"/>
                  <a:gd name="T2" fmla="*/ 0 w 1"/>
                  <a:gd name="T3" fmla="*/ 245 h 245"/>
                  <a:gd name="T4" fmla="*/ 1 w 1"/>
                  <a:gd name="T5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45">
                    <a:moveTo>
                      <a:pt x="0" y="0"/>
                    </a:moveTo>
                    <a:lnTo>
                      <a:pt x="0" y="245"/>
                    </a:lnTo>
                    <a:lnTo>
                      <a:pt x="1" y="245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06" name="Freeform 138"/>
              <p:cNvSpPr>
                <a:spLocks noChangeAspect="1" noChangeArrowheads="1"/>
              </p:cNvSpPr>
              <p:nvPr/>
            </p:nvSpPr>
            <p:spPr bwMode="auto">
              <a:xfrm>
                <a:off x="2794" y="1424"/>
                <a:ext cx="3" cy="123"/>
              </a:xfrm>
              <a:custGeom>
                <a:avLst/>
                <a:gdLst>
                  <a:gd name="T0" fmla="*/ 0 w 1"/>
                  <a:gd name="T1" fmla="*/ 0 h 366"/>
                  <a:gd name="T2" fmla="*/ 0 w 1"/>
                  <a:gd name="T3" fmla="*/ 366 h 366"/>
                  <a:gd name="T4" fmla="*/ 1 w 1"/>
                  <a:gd name="T5" fmla="*/ 366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66">
                    <a:moveTo>
                      <a:pt x="0" y="0"/>
                    </a:moveTo>
                    <a:lnTo>
                      <a:pt x="0" y="366"/>
                    </a:lnTo>
                    <a:lnTo>
                      <a:pt x="1" y="366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3" name="Group 139"/>
            <p:cNvGrpSpPr>
              <a:grpSpLocks noChangeAspect="1"/>
            </p:cNvGrpSpPr>
            <p:nvPr/>
          </p:nvGrpSpPr>
          <p:grpSpPr bwMode="auto">
            <a:xfrm>
              <a:off x="1488" y="3556"/>
              <a:ext cx="514" cy="173"/>
              <a:chOff x="752" y="3251"/>
              <a:chExt cx="514" cy="173"/>
            </a:xfrm>
          </p:grpSpPr>
          <p:sp>
            <p:nvSpPr>
              <p:cNvPr id="366" name="Freeform 140"/>
              <p:cNvSpPr>
                <a:spLocks noChangeAspect="1" noChangeArrowheads="1"/>
              </p:cNvSpPr>
              <p:nvPr/>
            </p:nvSpPr>
            <p:spPr bwMode="auto">
              <a:xfrm>
                <a:off x="752" y="3251"/>
                <a:ext cx="511" cy="170"/>
              </a:xfrm>
              <a:custGeom>
                <a:avLst/>
                <a:gdLst>
                  <a:gd name="T0" fmla="*/ 1502 w 1502"/>
                  <a:gd name="T1" fmla="*/ 501 h 501"/>
                  <a:gd name="T2" fmla="*/ 1502 w 1502"/>
                  <a:gd name="T3" fmla="*/ 0 h 501"/>
                  <a:gd name="T4" fmla="*/ 0 w 1502"/>
                  <a:gd name="T5" fmla="*/ 0 h 501"/>
                  <a:gd name="T6" fmla="*/ 0 w 1502"/>
                  <a:gd name="T7" fmla="*/ 501 h 501"/>
                  <a:gd name="T8" fmla="*/ 1 w 1502"/>
                  <a:gd name="T9" fmla="*/ 501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02" h="501">
                    <a:moveTo>
                      <a:pt x="1502" y="501"/>
                    </a:moveTo>
                    <a:lnTo>
                      <a:pt x="1502" y="0"/>
                    </a:lnTo>
                    <a:lnTo>
                      <a:pt x="0" y="0"/>
                    </a:lnTo>
                    <a:lnTo>
                      <a:pt x="0" y="501"/>
                    </a:lnTo>
                    <a:lnTo>
                      <a:pt x="1" y="501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7" name="Freeform 141"/>
              <p:cNvSpPr>
                <a:spLocks noChangeAspect="1" noChangeArrowheads="1"/>
              </p:cNvSpPr>
              <p:nvPr/>
            </p:nvSpPr>
            <p:spPr bwMode="auto">
              <a:xfrm>
                <a:off x="1206" y="3366"/>
                <a:ext cx="55" cy="55"/>
              </a:xfrm>
              <a:custGeom>
                <a:avLst/>
                <a:gdLst>
                  <a:gd name="T0" fmla="*/ 0 w 164"/>
                  <a:gd name="T1" fmla="*/ 163 h 163"/>
                  <a:gd name="T2" fmla="*/ 163 w 164"/>
                  <a:gd name="T3" fmla="*/ 0 h 163"/>
                  <a:gd name="T4" fmla="*/ 164 w 164"/>
                  <a:gd name="T5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4" h="163">
                    <a:moveTo>
                      <a:pt x="0" y="163"/>
                    </a:moveTo>
                    <a:lnTo>
                      <a:pt x="163" y="0"/>
                    </a:lnTo>
                    <a:lnTo>
                      <a:pt x="164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8" name="Freeform 142"/>
              <p:cNvSpPr>
                <a:spLocks noChangeAspect="1" noChangeArrowheads="1"/>
              </p:cNvSpPr>
              <p:nvPr/>
            </p:nvSpPr>
            <p:spPr bwMode="auto">
              <a:xfrm>
                <a:off x="1211" y="3372"/>
                <a:ext cx="30" cy="30"/>
              </a:xfrm>
              <a:custGeom>
                <a:avLst/>
                <a:gdLst>
                  <a:gd name="T0" fmla="*/ 0 w 88"/>
                  <a:gd name="T1" fmla="*/ 88 h 88"/>
                  <a:gd name="T2" fmla="*/ 87 w 88"/>
                  <a:gd name="T3" fmla="*/ 0 h 88"/>
                  <a:gd name="T4" fmla="*/ 88 w 88"/>
                  <a:gd name="T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8" h="88">
                    <a:moveTo>
                      <a:pt x="0" y="88"/>
                    </a:moveTo>
                    <a:lnTo>
                      <a:pt x="87" y="0"/>
                    </a:lnTo>
                    <a:lnTo>
                      <a:pt x="88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9" name="Freeform 143"/>
              <p:cNvSpPr>
                <a:spLocks noChangeAspect="1" noChangeArrowheads="1"/>
              </p:cNvSpPr>
              <p:nvPr/>
            </p:nvSpPr>
            <p:spPr bwMode="auto">
              <a:xfrm>
                <a:off x="1228" y="3388"/>
                <a:ext cx="30" cy="30"/>
              </a:xfrm>
              <a:custGeom>
                <a:avLst/>
                <a:gdLst>
                  <a:gd name="T0" fmla="*/ 0 w 88"/>
                  <a:gd name="T1" fmla="*/ 88 h 88"/>
                  <a:gd name="T2" fmla="*/ 87 w 88"/>
                  <a:gd name="T3" fmla="*/ 0 h 88"/>
                  <a:gd name="T4" fmla="*/ 88 w 88"/>
                  <a:gd name="T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8" h="88">
                    <a:moveTo>
                      <a:pt x="0" y="88"/>
                    </a:moveTo>
                    <a:lnTo>
                      <a:pt x="87" y="0"/>
                    </a:lnTo>
                    <a:lnTo>
                      <a:pt x="88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0" name="Freeform 144"/>
              <p:cNvSpPr>
                <a:spLocks noChangeAspect="1" noChangeArrowheads="1"/>
              </p:cNvSpPr>
              <p:nvPr/>
            </p:nvSpPr>
            <p:spPr bwMode="auto">
              <a:xfrm>
                <a:off x="752" y="3421"/>
                <a:ext cx="514" cy="3"/>
              </a:xfrm>
              <a:custGeom>
                <a:avLst/>
                <a:gdLst>
                  <a:gd name="T0" fmla="*/ 0 w 1503"/>
                  <a:gd name="T1" fmla="*/ 0 h 3"/>
                  <a:gd name="T2" fmla="*/ 1502 w 1503"/>
                  <a:gd name="T3" fmla="*/ 0 h 3"/>
                  <a:gd name="T4" fmla="*/ 1503 w 150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03" h="3">
                    <a:moveTo>
                      <a:pt x="0" y="0"/>
                    </a:moveTo>
                    <a:lnTo>
                      <a:pt x="1502" y="0"/>
                    </a:lnTo>
                    <a:lnTo>
                      <a:pt x="1503" y="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1" name="Freeform 145"/>
              <p:cNvSpPr>
                <a:spLocks noChangeAspect="1" noChangeArrowheads="1"/>
              </p:cNvSpPr>
              <p:nvPr/>
            </p:nvSpPr>
            <p:spPr bwMode="auto">
              <a:xfrm>
                <a:off x="919" y="3284"/>
                <a:ext cx="30" cy="27"/>
              </a:xfrm>
              <a:custGeom>
                <a:avLst/>
                <a:gdLst>
                  <a:gd name="T0" fmla="*/ 0 w 88"/>
                  <a:gd name="T1" fmla="*/ 86 h 86"/>
                  <a:gd name="T2" fmla="*/ 87 w 88"/>
                  <a:gd name="T3" fmla="*/ 0 h 86"/>
                  <a:gd name="T4" fmla="*/ 88 w 88"/>
                  <a:gd name="T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8" h="86">
                    <a:moveTo>
                      <a:pt x="0" y="86"/>
                    </a:moveTo>
                    <a:lnTo>
                      <a:pt x="87" y="0"/>
                    </a:lnTo>
                    <a:lnTo>
                      <a:pt x="88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2" name="Freeform 146"/>
              <p:cNvSpPr>
                <a:spLocks noChangeAspect="1" noChangeArrowheads="1"/>
              </p:cNvSpPr>
              <p:nvPr/>
            </p:nvSpPr>
            <p:spPr bwMode="auto">
              <a:xfrm>
                <a:off x="900" y="3262"/>
                <a:ext cx="54" cy="55"/>
              </a:xfrm>
              <a:custGeom>
                <a:avLst/>
                <a:gdLst>
                  <a:gd name="T0" fmla="*/ 0 w 165"/>
                  <a:gd name="T1" fmla="*/ 164 h 164"/>
                  <a:gd name="T2" fmla="*/ 163 w 165"/>
                  <a:gd name="T3" fmla="*/ 0 h 164"/>
                  <a:gd name="T4" fmla="*/ 165 w 165"/>
                  <a:gd name="T5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164">
                    <a:moveTo>
                      <a:pt x="0" y="164"/>
                    </a:moveTo>
                    <a:lnTo>
                      <a:pt x="163" y="0"/>
                    </a:lnTo>
                    <a:lnTo>
                      <a:pt x="165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3" name="Freeform 147"/>
              <p:cNvSpPr>
                <a:spLocks noChangeAspect="1" noChangeArrowheads="1"/>
              </p:cNvSpPr>
              <p:nvPr/>
            </p:nvSpPr>
            <p:spPr bwMode="auto">
              <a:xfrm>
                <a:off x="902" y="3268"/>
                <a:ext cx="30" cy="27"/>
              </a:xfrm>
              <a:custGeom>
                <a:avLst/>
                <a:gdLst>
                  <a:gd name="T0" fmla="*/ 0 w 88"/>
                  <a:gd name="T1" fmla="*/ 86 h 86"/>
                  <a:gd name="T2" fmla="*/ 87 w 88"/>
                  <a:gd name="T3" fmla="*/ 0 h 86"/>
                  <a:gd name="T4" fmla="*/ 88 w 88"/>
                  <a:gd name="T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8" h="86">
                    <a:moveTo>
                      <a:pt x="0" y="86"/>
                    </a:moveTo>
                    <a:lnTo>
                      <a:pt x="87" y="0"/>
                    </a:lnTo>
                    <a:lnTo>
                      <a:pt x="88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4" name="Freeform 148"/>
              <p:cNvSpPr>
                <a:spLocks noChangeAspect="1" noChangeArrowheads="1"/>
              </p:cNvSpPr>
              <p:nvPr/>
            </p:nvSpPr>
            <p:spPr bwMode="auto">
              <a:xfrm>
                <a:off x="829" y="3380"/>
                <a:ext cx="30" cy="30"/>
              </a:xfrm>
              <a:custGeom>
                <a:avLst/>
                <a:gdLst>
                  <a:gd name="T0" fmla="*/ 0 w 88"/>
                  <a:gd name="T1" fmla="*/ 88 h 88"/>
                  <a:gd name="T2" fmla="*/ 87 w 88"/>
                  <a:gd name="T3" fmla="*/ 0 h 88"/>
                  <a:gd name="T4" fmla="*/ 88 w 88"/>
                  <a:gd name="T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8" h="88">
                    <a:moveTo>
                      <a:pt x="0" y="88"/>
                    </a:moveTo>
                    <a:lnTo>
                      <a:pt x="87" y="0"/>
                    </a:lnTo>
                    <a:lnTo>
                      <a:pt x="88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5" name="Freeform 149"/>
              <p:cNvSpPr>
                <a:spLocks noChangeAspect="1" noChangeArrowheads="1"/>
              </p:cNvSpPr>
              <p:nvPr/>
            </p:nvSpPr>
            <p:spPr bwMode="auto">
              <a:xfrm>
                <a:off x="807" y="3358"/>
                <a:ext cx="57" cy="57"/>
              </a:xfrm>
              <a:custGeom>
                <a:avLst/>
                <a:gdLst>
                  <a:gd name="T0" fmla="*/ 0 w 164"/>
                  <a:gd name="T1" fmla="*/ 164 h 164"/>
                  <a:gd name="T2" fmla="*/ 163 w 164"/>
                  <a:gd name="T3" fmla="*/ 0 h 164"/>
                  <a:gd name="T4" fmla="*/ 164 w 164"/>
                  <a:gd name="T5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4" h="164">
                    <a:moveTo>
                      <a:pt x="0" y="164"/>
                    </a:moveTo>
                    <a:lnTo>
                      <a:pt x="163" y="0"/>
                    </a:lnTo>
                    <a:lnTo>
                      <a:pt x="164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6" name="Freeform 150"/>
              <p:cNvSpPr>
                <a:spLocks noChangeAspect="1" noChangeArrowheads="1"/>
              </p:cNvSpPr>
              <p:nvPr/>
            </p:nvSpPr>
            <p:spPr bwMode="auto">
              <a:xfrm>
                <a:off x="812" y="3363"/>
                <a:ext cx="30" cy="30"/>
              </a:xfrm>
              <a:custGeom>
                <a:avLst/>
                <a:gdLst>
                  <a:gd name="T0" fmla="*/ 0 w 88"/>
                  <a:gd name="T1" fmla="*/ 87 h 87"/>
                  <a:gd name="T2" fmla="*/ 87 w 88"/>
                  <a:gd name="T3" fmla="*/ 0 h 87"/>
                  <a:gd name="T4" fmla="*/ 88 w 88"/>
                  <a:gd name="T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8" h="87">
                    <a:moveTo>
                      <a:pt x="0" y="87"/>
                    </a:moveTo>
                    <a:lnTo>
                      <a:pt x="87" y="0"/>
                    </a:lnTo>
                    <a:lnTo>
                      <a:pt x="88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7" name="Freeform 151"/>
              <p:cNvSpPr>
                <a:spLocks noChangeAspect="1" noChangeArrowheads="1"/>
              </p:cNvSpPr>
              <p:nvPr/>
            </p:nvSpPr>
            <p:spPr bwMode="auto">
              <a:xfrm>
                <a:off x="1050" y="3265"/>
                <a:ext cx="55" cy="57"/>
              </a:xfrm>
              <a:custGeom>
                <a:avLst/>
                <a:gdLst>
                  <a:gd name="T0" fmla="*/ 0 w 165"/>
                  <a:gd name="T1" fmla="*/ 164 h 164"/>
                  <a:gd name="T2" fmla="*/ 164 w 165"/>
                  <a:gd name="T3" fmla="*/ 0 h 164"/>
                  <a:gd name="T4" fmla="*/ 165 w 165"/>
                  <a:gd name="T5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164">
                    <a:moveTo>
                      <a:pt x="0" y="164"/>
                    </a:moveTo>
                    <a:lnTo>
                      <a:pt x="164" y="0"/>
                    </a:lnTo>
                    <a:lnTo>
                      <a:pt x="165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8" name="Freeform 152"/>
              <p:cNvSpPr>
                <a:spLocks noChangeAspect="1" noChangeArrowheads="1"/>
              </p:cNvSpPr>
              <p:nvPr/>
            </p:nvSpPr>
            <p:spPr bwMode="auto">
              <a:xfrm>
                <a:off x="1072" y="3287"/>
                <a:ext cx="30" cy="30"/>
              </a:xfrm>
              <a:custGeom>
                <a:avLst/>
                <a:gdLst>
                  <a:gd name="T0" fmla="*/ 0 w 87"/>
                  <a:gd name="T1" fmla="*/ 87 h 87"/>
                  <a:gd name="T2" fmla="*/ 86 w 87"/>
                  <a:gd name="T3" fmla="*/ 0 h 87"/>
                  <a:gd name="T4" fmla="*/ 87 w 87"/>
                  <a:gd name="T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" h="87">
                    <a:moveTo>
                      <a:pt x="0" y="87"/>
                    </a:moveTo>
                    <a:lnTo>
                      <a:pt x="86" y="0"/>
                    </a:lnTo>
                    <a:lnTo>
                      <a:pt x="87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9" name="Freeform 153"/>
              <p:cNvSpPr>
                <a:spLocks noChangeAspect="1" noChangeArrowheads="1"/>
              </p:cNvSpPr>
              <p:nvPr/>
            </p:nvSpPr>
            <p:spPr bwMode="auto">
              <a:xfrm>
                <a:off x="1055" y="3270"/>
                <a:ext cx="31" cy="30"/>
              </a:xfrm>
              <a:custGeom>
                <a:avLst/>
                <a:gdLst>
                  <a:gd name="T0" fmla="*/ 0 w 87"/>
                  <a:gd name="T1" fmla="*/ 87 h 87"/>
                  <a:gd name="T2" fmla="*/ 86 w 87"/>
                  <a:gd name="T3" fmla="*/ 0 h 87"/>
                  <a:gd name="T4" fmla="*/ 87 w 87"/>
                  <a:gd name="T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" h="87">
                    <a:moveTo>
                      <a:pt x="0" y="87"/>
                    </a:moveTo>
                    <a:lnTo>
                      <a:pt x="86" y="0"/>
                    </a:lnTo>
                    <a:lnTo>
                      <a:pt x="87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0" name="Freeform 154"/>
              <p:cNvSpPr>
                <a:spLocks noChangeAspect="1" noChangeArrowheads="1"/>
              </p:cNvSpPr>
              <p:nvPr/>
            </p:nvSpPr>
            <p:spPr bwMode="auto">
              <a:xfrm>
                <a:off x="965" y="3366"/>
                <a:ext cx="30" cy="30"/>
              </a:xfrm>
              <a:custGeom>
                <a:avLst/>
                <a:gdLst>
                  <a:gd name="T0" fmla="*/ 0 w 88"/>
                  <a:gd name="T1" fmla="*/ 87 h 87"/>
                  <a:gd name="T2" fmla="*/ 87 w 88"/>
                  <a:gd name="T3" fmla="*/ 0 h 87"/>
                  <a:gd name="T4" fmla="*/ 88 w 88"/>
                  <a:gd name="T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8" h="87">
                    <a:moveTo>
                      <a:pt x="0" y="87"/>
                    </a:moveTo>
                    <a:lnTo>
                      <a:pt x="87" y="0"/>
                    </a:lnTo>
                    <a:lnTo>
                      <a:pt x="88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1" name="Freeform 155"/>
              <p:cNvSpPr>
                <a:spLocks noChangeAspect="1" noChangeArrowheads="1"/>
              </p:cNvSpPr>
              <p:nvPr/>
            </p:nvSpPr>
            <p:spPr bwMode="auto">
              <a:xfrm>
                <a:off x="960" y="3363"/>
                <a:ext cx="57" cy="55"/>
              </a:xfrm>
              <a:custGeom>
                <a:avLst/>
                <a:gdLst>
                  <a:gd name="T0" fmla="*/ 0 w 164"/>
                  <a:gd name="T1" fmla="*/ 164 h 164"/>
                  <a:gd name="T2" fmla="*/ 163 w 164"/>
                  <a:gd name="T3" fmla="*/ 0 h 164"/>
                  <a:gd name="T4" fmla="*/ 164 w 164"/>
                  <a:gd name="T5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4" h="164">
                    <a:moveTo>
                      <a:pt x="0" y="164"/>
                    </a:moveTo>
                    <a:lnTo>
                      <a:pt x="163" y="0"/>
                    </a:lnTo>
                    <a:lnTo>
                      <a:pt x="164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2" name="Freeform 156"/>
              <p:cNvSpPr>
                <a:spLocks noChangeAspect="1" noChangeArrowheads="1"/>
              </p:cNvSpPr>
              <p:nvPr/>
            </p:nvSpPr>
            <p:spPr bwMode="auto">
              <a:xfrm>
                <a:off x="982" y="3382"/>
                <a:ext cx="30" cy="31"/>
              </a:xfrm>
              <a:custGeom>
                <a:avLst/>
                <a:gdLst>
                  <a:gd name="T0" fmla="*/ 0 w 89"/>
                  <a:gd name="T1" fmla="*/ 87 h 87"/>
                  <a:gd name="T2" fmla="*/ 88 w 89"/>
                  <a:gd name="T3" fmla="*/ 0 h 87"/>
                  <a:gd name="T4" fmla="*/ 89 w 89"/>
                  <a:gd name="T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9" h="87">
                    <a:moveTo>
                      <a:pt x="0" y="87"/>
                    </a:moveTo>
                    <a:lnTo>
                      <a:pt x="88" y="0"/>
                    </a:lnTo>
                    <a:lnTo>
                      <a:pt x="89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3" name="Freeform 157"/>
              <p:cNvSpPr>
                <a:spLocks noChangeAspect="1" noChangeArrowheads="1"/>
              </p:cNvSpPr>
              <p:nvPr/>
            </p:nvSpPr>
            <p:spPr bwMode="auto">
              <a:xfrm>
                <a:off x="1192" y="3270"/>
                <a:ext cx="58" cy="55"/>
              </a:xfrm>
              <a:custGeom>
                <a:avLst/>
                <a:gdLst>
                  <a:gd name="T0" fmla="*/ 0 w 164"/>
                  <a:gd name="T1" fmla="*/ 163 h 163"/>
                  <a:gd name="T2" fmla="*/ 163 w 164"/>
                  <a:gd name="T3" fmla="*/ 0 h 163"/>
                  <a:gd name="T4" fmla="*/ 164 w 164"/>
                  <a:gd name="T5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4" h="163">
                    <a:moveTo>
                      <a:pt x="0" y="163"/>
                    </a:moveTo>
                    <a:lnTo>
                      <a:pt x="163" y="0"/>
                    </a:lnTo>
                    <a:lnTo>
                      <a:pt x="164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4" name="Freeform 158"/>
              <p:cNvSpPr>
                <a:spLocks noChangeAspect="1" noChangeArrowheads="1"/>
              </p:cNvSpPr>
              <p:nvPr/>
            </p:nvSpPr>
            <p:spPr bwMode="auto">
              <a:xfrm>
                <a:off x="1214" y="3292"/>
                <a:ext cx="30" cy="28"/>
              </a:xfrm>
              <a:custGeom>
                <a:avLst/>
                <a:gdLst>
                  <a:gd name="T0" fmla="*/ 0 w 88"/>
                  <a:gd name="T1" fmla="*/ 87 h 87"/>
                  <a:gd name="T2" fmla="*/ 87 w 88"/>
                  <a:gd name="T3" fmla="*/ 0 h 87"/>
                  <a:gd name="T4" fmla="*/ 88 w 88"/>
                  <a:gd name="T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8" h="87">
                    <a:moveTo>
                      <a:pt x="0" y="87"/>
                    </a:moveTo>
                    <a:lnTo>
                      <a:pt x="87" y="0"/>
                    </a:lnTo>
                    <a:lnTo>
                      <a:pt x="88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5" name="Freeform 159"/>
              <p:cNvSpPr>
                <a:spLocks noChangeAspect="1" noChangeArrowheads="1"/>
              </p:cNvSpPr>
              <p:nvPr/>
            </p:nvSpPr>
            <p:spPr bwMode="auto">
              <a:xfrm>
                <a:off x="1198" y="3276"/>
                <a:ext cx="30" cy="27"/>
              </a:xfrm>
              <a:custGeom>
                <a:avLst/>
                <a:gdLst>
                  <a:gd name="T0" fmla="*/ 0 w 88"/>
                  <a:gd name="T1" fmla="*/ 88 h 88"/>
                  <a:gd name="T2" fmla="*/ 87 w 88"/>
                  <a:gd name="T3" fmla="*/ 0 h 88"/>
                  <a:gd name="T4" fmla="*/ 88 w 88"/>
                  <a:gd name="T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8" h="88">
                    <a:moveTo>
                      <a:pt x="0" y="88"/>
                    </a:moveTo>
                    <a:lnTo>
                      <a:pt x="87" y="0"/>
                    </a:lnTo>
                    <a:lnTo>
                      <a:pt x="88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6" name="Freeform 160"/>
              <p:cNvSpPr>
                <a:spLocks noChangeAspect="1" noChangeArrowheads="1"/>
              </p:cNvSpPr>
              <p:nvPr/>
            </p:nvSpPr>
            <p:spPr bwMode="auto">
              <a:xfrm>
                <a:off x="1107" y="3372"/>
                <a:ext cx="30" cy="30"/>
              </a:xfrm>
              <a:custGeom>
                <a:avLst/>
                <a:gdLst>
                  <a:gd name="T0" fmla="*/ 0 w 88"/>
                  <a:gd name="T1" fmla="*/ 88 h 88"/>
                  <a:gd name="T2" fmla="*/ 87 w 88"/>
                  <a:gd name="T3" fmla="*/ 0 h 88"/>
                  <a:gd name="T4" fmla="*/ 88 w 88"/>
                  <a:gd name="T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8" h="88">
                    <a:moveTo>
                      <a:pt x="0" y="88"/>
                    </a:moveTo>
                    <a:lnTo>
                      <a:pt x="87" y="0"/>
                    </a:lnTo>
                    <a:lnTo>
                      <a:pt x="88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7" name="Freeform 161"/>
              <p:cNvSpPr>
                <a:spLocks noChangeAspect="1" noChangeArrowheads="1"/>
              </p:cNvSpPr>
              <p:nvPr/>
            </p:nvSpPr>
            <p:spPr bwMode="auto">
              <a:xfrm>
                <a:off x="1102" y="3366"/>
                <a:ext cx="57" cy="58"/>
              </a:xfrm>
              <a:custGeom>
                <a:avLst/>
                <a:gdLst>
                  <a:gd name="T0" fmla="*/ 0 w 164"/>
                  <a:gd name="T1" fmla="*/ 164 h 164"/>
                  <a:gd name="T2" fmla="*/ 163 w 164"/>
                  <a:gd name="T3" fmla="*/ 0 h 164"/>
                  <a:gd name="T4" fmla="*/ 164 w 164"/>
                  <a:gd name="T5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4" h="164">
                    <a:moveTo>
                      <a:pt x="0" y="164"/>
                    </a:moveTo>
                    <a:lnTo>
                      <a:pt x="163" y="0"/>
                    </a:lnTo>
                    <a:lnTo>
                      <a:pt x="164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8" name="Freeform 162"/>
              <p:cNvSpPr>
                <a:spLocks noChangeAspect="1" noChangeArrowheads="1"/>
              </p:cNvSpPr>
              <p:nvPr/>
            </p:nvSpPr>
            <p:spPr bwMode="auto">
              <a:xfrm>
                <a:off x="1124" y="3388"/>
                <a:ext cx="30" cy="30"/>
              </a:xfrm>
              <a:custGeom>
                <a:avLst/>
                <a:gdLst>
                  <a:gd name="T0" fmla="*/ 0 w 89"/>
                  <a:gd name="T1" fmla="*/ 87 h 87"/>
                  <a:gd name="T2" fmla="*/ 88 w 89"/>
                  <a:gd name="T3" fmla="*/ 0 h 87"/>
                  <a:gd name="T4" fmla="*/ 89 w 89"/>
                  <a:gd name="T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9" h="87">
                    <a:moveTo>
                      <a:pt x="0" y="87"/>
                    </a:moveTo>
                    <a:lnTo>
                      <a:pt x="88" y="0"/>
                    </a:lnTo>
                    <a:lnTo>
                      <a:pt x="89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9" name="Freeform 163"/>
              <p:cNvSpPr>
                <a:spLocks noChangeAspect="1" noChangeArrowheads="1"/>
              </p:cNvSpPr>
              <p:nvPr/>
            </p:nvSpPr>
            <p:spPr bwMode="auto">
              <a:xfrm>
                <a:off x="777" y="3265"/>
                <a:ext cx="30" cy="30"/>
              </a:xfrm>
              <a:custGeom>
                <a:avLst/>
                <a:gdLst>
                  <a:gd name="T0" fmla="*/ 0 w 87"/>
                  <a:gd name="T1" fmla="*/ 87 h 87"/>
                  <a:gd name="T2" fmla="*/ 86 w 87"/>
                  <a:gd name="T3" fmla="*/ 0 h 87"/>
                  <a:gd name="T4" fmla="*/ 87 w 87"/>
                  <a:gd name="T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" h="87">
                    <a:moveTo>
                      <a:pt x="0" y="87"/>
                    </a:moveTo>
                    <a:lnTo>
                      <a:pt x="86" y="0"/>
                    </a:lnTo>
                    <a:lnTo>
                      <a:pt x="87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0" name="Freeform 164"/>
              <p:cNvSpPr>
                <a:spLocks noChangeAspect="1" noChangeArrowheads="1"/>
              </p:cNvSpPr>
              <p:nvPr/>
            </p:nvSpPr>
            <p:spPr bwMode="auto">
              <a:xfrm>
                <a:off x="771" y="3259"/>
                <a:ext cx="55" cy="55"/>
              </a:xfrm>
              <a:custGeom>
                <a:avLst/>
                <a:gdLst>
                  <a:gd name="T0" fmla="*/ 0 w 165"/>
                  <a:gd name="T1" fmla="*/ 164 h 164"/>
                  <a:gd name="T2" fmla="*/ 164 w 165"/>
                  <a:gd name="T3" fmla="*/ 0 h 164"/>
                  <a:gd name="T4" fmla="*/ 165 w 165"/>
                  <a:gd name="T5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164">
                    <a:moveTo>
                      <a:pt x="0" y="164"/>
                    </a:moveTo>
                    <a:lnTo>
                      <a:pt x="164" y="0"/>
                    </a:lnTo>
                    <a:lnTo>
                      <a:pt x="165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1" name="Freeform 165"/>
              <p:cNvSpPr>
                <a:spLocks noChangeAspect="1" noChangeArrowheads="1"/>
              </p:cNvSpPr>
              <p:nvPr/>
            </p:nvSpPr>
            <p:spPr bwMode="auto">
              <a:xfrm>
                <a:off x="793" y="3281"/>
                <a:ext cx="30" cy="30"/>
              </a:xfrm>
              <a:custGeom>
                <a:avLst/>
                <a:gdLst>
                  <a:gd name="T0" fmla="*/ 0 w 87"/>
                  <a:gd name="T1" fmla="*/ 87 h 87"/>
                  <a:gd name="T2" fmla="*/ 86 w 87"/>
                  <a:gd name="T3" fmla="*/ 0 h 87"/>
                  <a:gd name="T4" fmla="*/ 87 w 87"/>
                  <a:gd name="T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" h="87">
                    <a:moveTo>
                      <a:pt x="0" y="87"/>
                    </a:moveTo>
                    <a:lnTo>
                      <a:pt x="86" y="0"/>
                    </a:lnTo>
                    <a:lnTo>
                      <a:pt x="87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4" name="Group 166"/>
            <p:cNvGrpSpPr>
              <a:grpSpLocks noChangeAspect="1"/>
            </p:cNvGrpSpPr>
            <p:nvPr/>
          </p:nvGrpSpPr>
          <p:grpSpPr bwMode="auto">
            <a:xfrm>
              <a:off x="3117" y="3556"/>
              <a:ext cx="517" cy="175"/>
              <a:chOff x="2417" y="3295"/>
              <a:chExt cx="517" cy="175"/>
            </a:xfrm>
          </p:grpSpPr>
          <p:sp>
            <p:nvSpPr>
              <p:cNvPr id="348" name="Freeform 167"/>
              <p:cNvSpPr>
                <a:spLocks noChangeAspect="1" noChangeArrowheads="1"/>
              </p:cNvSpPr>
              <p:nvPr/>
            </p:nvSpPr>
            <p:spPr bwMode="auto">
              <a:xfrm>
                <a:off x="2417" y="3295"/>
                <a:ext cx="514" cy="172"/>
              </a:xfrm>
              <a:custGeom>
                <a:avLst/>
                <a:gdLst>
                  <a:gd name="T0" fmla="*/ 1503 w 1503"/>
                  <a:gd name="T1" fmla="*/ 502 h 502"/>
                  <a:gd name="T2" fmla="*/ 1503 w 1503"/>
                  <a:gd name="T3" fmla="*/ 0 h 502"/>
                  <a:gd name="T4" fmla="*/ 0 w 1503"/>
                  <a:gd name="T5" fmla="*/ 0 h 502"/>
                  <a:gd name="T6" fmla="*/ 0 w 1503"/>
                  <a:gd name="T7" fmla="*/ 502 h 502"/>
                  <a:gd name="T8" fmla="*/ 1 w 1503"/>
                  <a:gd name="T9" fmla="*/ 502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03" h="502">
                    <a:moveTo>
                      <a:pt x="1503" y="502"/>
                    </a:moveTo>
                    <a:lnTo>
                      <a:pt x="1503" y="0"/>
                    </a:lnTo>
                    <a:lnTo>
                      <a:pt x="0" y="0"/>
                    </a:lnTo>
                    <a:lnTo>
                      <a:pt x="0" y="502"/>
                    </a:lnTo>
                    <a:lnTo>
                      <a:pt x="1" y="502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9" name="Freeform 168"/>
              <p:cNvSpPr>
                <a:spLocks noChangeAspect="1" noChangeArrowheads="1"/>
              </p:cNvSpPr>
              <p:nvPr/>
            </p:nvSpPr>
            <p:spPr bwMode="auto">
              <a:xfrm>
                <a:off x="2417" y="3467"/>
                <a:ext cx="517" cy="3"/>
              </a:xfrm>
              <a:custGeom>
                <a:avLst/>
                <a:gdLst>
                  <a:gd name="T0" fmla="*/ 0 w 1504"/>
                  <a:gd name="T1" fmla="*/ 0 h 3"/>
                  <a:gd name="T2" fmla="*/ 1503 w 1504"/>
                  <a:gd name="T3" fmla="*/ 0 h 3"/>
                  <a:gd name="T4" fmla="*/ 1504 w 150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04" h="3">
                    <a:moveTo>
                      <a:pt x="0" y="0"/>
                    </a:moveTo>
                    <a:lnTo>
                      <a:pt x="1503" y="0"/>
                    </a:lnTo>
                    <a:lnTo>
                      <a:pt x="1504" y="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0" name="Freeform 169"/>
              <p:cNvSpPr>
                <a:spLocks noChangeAspect="1" noChangeArrowheads="1"/>
              </p:cNvSpPr>
              <p:nvPr/>
            </p:nvSpPr>
            <p:spPr bwMode="auto">
              <a:xfrm>
                <a:off x="2417" y="3382"/>
                <a:ext cx="517" cy="3"/>
              </a:xfrm>
              <a:custGeom>
                <a:avLst/>
                <a:gdLst>
                  <a:gd name="T0" fmla="*/ 0 w 1504"/>
                  <a:gd name="T1" fmla="*/ 0 h 3"/>
                  <a:gd name="T2" fmla="*/ 1503 w 1504"/>
                  <a:gd name="T3" fmla="*/ 0 h 3"/>
                  <a:gd name="T4" fmla="*/ 1504 w 150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04" h="3">
                    <a:moveTo>
                      <a:pt x="0" y="0"/>
                    </a:moveTo>
                    <a:lnTo>
                      <a:pt x="1503" y="0"/>
                    </a:lnTo>
                    <a:lnTo>
                      <a:pt x="1504" y="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1" name="Freeform 170"/>
              <p:cNvSpPr>
                <a:spLocks noChangeAspect="1" noChangeArrowheads="1"/>
              </p:cNvSpPr>
              <p:nvPr/>
            </p:nvSpPr>
            <p:spPr bwMode="auto">
              <a:xfrm>
                <a:off x="2425" y="3295"/>
                <a:ext cx="90" cy="87"/>
              </a:xfrm>
              <a:custGeom>
                <a:avLst/>
                <a:gdLst>
                  <a:gd name="T0" fmla="*/ 265 w 265"/>
                  <a:gd name="T1" fmla="*/ 0 h 252"/>
                  <a:gd name="T2" fmla="*/ 226 w 265"/>
                  <a:gd name="T3" fmla="*/ 43 h 252"/>
                  <a:gd name="T4" fmla="*/ 176 w 265"/>
                  <a:gd name="T5" fmla="*/ 80 h 252"/>
                  <a:gd name="T6" fmla="*/ 111 w 265"/>
                  <a:gd name="T7" fmla="*/ 109 h 252"/>
                  <a:gd name="T8" fmla="*/ 44 w 265"/>
                  <a:gd name="T9" fmla="*/ 131 h 252"/>
                  <a:gd name="T10" fmla="*/ 19 w 265"/>
                  <a:gd name="T11" fmla="*/ 141 h 252"/>
                  <a:gd name="T12" fmla="*/ 2 w 265"/>
                  <a:gd name="T13" fmla="*/ 152 h 252"/>
                  <a:gd name="T14" fmla="*/ 0 w 265"/>
                  <a:gd name="T15" fmla="*/ 165 h 252"/>
                  <a:gd name="T16" fmla="*/ 10 w 265"/>
                  <a:gd name="T17" fmla="*/ 178 h 252"/>
                  <a:gd name="T18" fmla="*/ 32 w 265"/>
                  <a:gd name="T19" fmla="*/ 194 h 252"/>
                  <a:gd name="T20" fmla="*/ 59 w 265"/>
                  <a:gd name="T21" fmla="*/ 212 h 252"/>
                  <a:gd name="T22" fmla="*/ 122 w 265"/>
                  <a:gd name="T23" fmla="*/ 252 h 252"/>
                  <a:gd name="T24" fmla="*/ 123 w 265"/>
                  <a:gd name="T25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5" h="252">
                    <a:moveTo>
                      <a:pt x="265" y="0"/>
                    </a:moveTo>
                    <a:lnTo>
                      <a:pt x="226" y="43"/>
                    </a:lnTo>
                    <a:lnTo>
                      <a:pt x="176" y="80"/>
                    </a:lnTo>
                    <a:lnTo>
                      <a:pt x="111" y="109"/>
                    </a:lnTo>
                    <a:lnTo>
                      <a:pt x="44" y="131"/>
                    </a:lnTo>
                    <a:lnTo>
                      <a:pt x="19" y="141"/>
                    </a:lnTo>
                    <a:lnTo>
                      <a:pt x="2" y="152"/>
                    </a:lnTo>
                    <a:lnTo>
                      <a:pt x="0" y="165"/>
                    </a:lnTo>
                    <a:lnTo>
                      <a:pt x="10" y="178"/>
                    </a:lnTo>
                    <a:lnTo>
                      <a:pt x="32" y="194"/>
                    </a:lnTo>
                    <a:lnTo>
                      <a:pt x="59" y="212"/>
                    </a:lnTo>
                    <a:lnTo>
                      <a:pt x="122" y="252"/>
                    </a:lnTo>
                    <a:lnTo>
                      <a:pt x="123" y="252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2" name="Freeform 171"/>
              <p:cNvSpPr>
                <a:spLocks noChangeAspect="1" noChangeArrowheads="1"/>
              </p:cNvSpPr>
              <p:nvPr/>
            </p:nvSpPr>
            <p:spPr bwMode="auto">
              <a:xfrm>
                <a:off x="2504" y="3295"/>
                <a:ext cx="91" cy="87"/>
              </a:xfrm>
              <a:custGeom>
                <a:avLst/>
                <a:gdLst>
                  <a:gd name="T0" fmla="*/ 264 w 264"/>
                  <a:gd name="T1" fmla="*/ 0 h 252"/>
                  <a:gd name="T2" fmla="*/ 226 w 264"/>
                  <a:gd name="T3" fmla="*/ 43 h 252"/>
                  <a:gd name="T4" fmla="*/ 176 w 264"/>
                  <a:gd name="T5" fmla="*/ 80 h 252"/>
                  <a:gd name="T6" fmla="*/ 112 w 264"/>
                  <a:gd name="T7" fmla="*/ 109 h 252"/>
                  <a:gd name="T8" fmla="*/ 45 w 264"/>
                  <a:gd name="T9" fmla="*/ 131 h 252"/>
                  <a:gd name="T10" fmla="*/ 18 w 264"/>
                  <a:gd name="T11" fmla="*/ 141 h 252"/>
                  <a:gd name="T12" fmla="*/ 2 w 264"/>
                  <a:gd name="T13" fmla="*/ 152 h 252"/>
                  <a:gd name="T14" fmla="*/ 0 w 264"/>
                  <a:gd name="T15" fmla="*/ 165 h 252"/>
                  <a:gd name="T16" fmla="*/ 11 w 264"/>
                  <a:gd name="T17" fmla="*/ 178 h 252"/>
                  <a:gd name="T18" fmla="*/ 32 w 264"/>
                  <a:gd name="T19" fmla="*/ 194 h 252"/>
                  <a:gd name="T20" fmla="*/ 59 w 264"/>
                  <a:gd name="T21" fmla="*/ 212 h 252"/>
                  <a:gd name="T22" fmla="*/ 122 w 264"/>
                  <a:gd name="T23" fmla="*/ 252 h 252"/>
                  <a:gd name="T24" fmla="*/ 124 w 264"/>
                  <a:gd name="T25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4" h="252">
                    <a:moveTo>
                      <a:pt x="264" y="0"/>
                    </a:moveTo>
                    <a:lnTo>
                      <a:pt x="226" y="43"/>
                    </a:lnTo>
                    <a:lnTo>
                      <a:pt x="176" y="80"/>
                    </a:lnTo>
                    <a:lnTo>
                      <a:pt x="112" y="109"/>
                    </a:lnTo>
                    <a:lnTo>
                      <a:pt x="45" y="131"/>
                    </a:lnTo>
                    <a:lnTo>
                      <a:pt x="18" y="141"/>
                    </a:lnTo>
                    <a:lnTo>
                      <a:pt x="2" y="152"/>
                    </a:lnTo>
                    <a:lnTo>
                      <a:pt x="0" y="165"/>
                    </a:lnTo>
                    <a:lnTo>
                      <a:pt x="11" y="178"/>
                    </a:lnTo>
                    <a:lnTo>
                      <a:pt x="32" y="194"/>
                    </a:lnTo>
                    <a:lnTo>
                      <a:pt x="59" y="212"/>
                    </a:lnTo>
                    <a:lnTo>
                      <a:pt x="122" y="252"/>
                    </a:lnTo>
                    <a:lnTo>
                      <a:pt x="124" y="252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3" name="Freeform 172"/>
              <p:cNvSpPr>
                <a:spLocks noChangeAspect="1" noChangeArrowheads="1"/>
              </p:cNvSpPr>
              <p:nvPr/>
            </p:nvSpPr>
            <p:spPr bwMode="auto">
              <a:xfrm>
                <a:off x="2589" y="3295"/>
                <a:ext cx="85" cy="87"/>
              </a:xfrm>
              <a:custGeom>
                <a:avLst/>
                <a:gdLst>
                  <a:gd name="T0" fmla="*/ 248 w 248"/>
                  <a:gd name="T1" fmla="*/ 0 h 252"/>
                  <a:gd name="T2" fmla="*/ 210 w 248"/>
                  <a:gd name="T3" fmla="*/ 43 h 252"/>
                  <a:gd name="T4" fmla="*/ 161 w 248"/>
                  <a:gd name="T5" fmla="*/ 80 h 252"/>
                  <a:gd name="T6" fmla="*/ 96 w 248"/>
                  <a:gd name="T7" fmla="*/ 109 h 252"/>
                  <a:gd name="T8" fmla="*/ 32 w 248"/>
                  <a:gd name="T9" fmla="*/ 131 h 252"/>
                  <a:gd name="T10" fmla="*/ 9 w 248"/>
                  <a:gd name="T11" fmla="*/ 141 h 252"/>
                  <a:gd name="T12" fmla="*/ 0 w 248"/>
                  <a:gd name="T13" fmla="*/ 152 h 252"/>
                  <a:gd name="T14" fmla="*/ 7 w 248"/>
                  <a:gd name="T15" fmla="*/ 165 h 252"/>
                  <a:gd name="T16" fmla="*/ 29 w 248"/>
                  <a:gd name="T17" fmla="*/ 178 h 252"/>
                  <a:gd name="T18" fmla="*/ 84 w 248"/>
                  <a:gd name="T19" fmla="*/ 212 h 252"/>
                  <a:gd name="T20" fmla="*/ 103 w 248"/>
                  <a:gd name="T21" fmla="*/ 231 h 252"/>
                  <a:gd name="T22" fmla="*/ 106 w 248"/>
                  <a:gd name="T23" fmla="*/ 252 h 252"/>
                  <a:gd name="T24" fmla="*/ 107 w 248"/>
                  <a:gd name="T25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8" h="252">
                    <a:moveTo>
                      <a:pt x="248" y="0"/>
                    </a:moveTo>
                    <a:lnTo>
                      <a:pt x="210" y="43"/>
                    </a:lnTo>
                    <a:lnTo>
                      <a:pt x="161" y="80"/>
                    </a:lnTo>
                    <a:lnTo>
                      <a:pt x="96" y="109"/>
                    </a:lnTo>
                    <a:lnTo>
                      <a:pt x="32" y="131"/>
                    </a:lnTo>
                    <a:lnTo>
                      <a:pt x="9" y="141"/>
                    </a:lnTo>
                    <a:lnTo>
                      <a:pt x="0" y="152"/>
                    </a:lnTo>
                    <a:lnTo>
                      <a:pt x="7" y="165"/>
                    </a:lnTo>
                    <a:lnTo>
                      <a:pt x="29" y="178"/>
                    </a:lnTo>
                    <a:lnTo>
                      <a:pt x="84" y="212"/>
                    </a:lnTo>
                    <a:lnTo>
                      <a:pt x="103" y="231"/>
                    </a:lnTo>
                    <a:lnTo>
                      <a:pt x="106" y="252"/>
                    </a:lnTo>
                    <a:lnTo>
                      <a:pt x="107" y="252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4" name="Freeform 173"/>
              <p:cNvSpPr>
                <a:spLocks noChangeAspect="1" noChangeArrowheads="1"/>
              </p:cNvSpPr>
              <p:nvPr/>
            </p:nvSpPr>
            <p:spPr bwMode="auto">
              <a:xfrm>
                <a:off x="2674" y="3295"/>
                <a:ext cx="90" cy="87"/>
              </a:xfrm>
              <a:custGeom>
                <a:avLst/>
                <a:gdLst>
                  <a:gd name="T0" fmla="*/ 265 w 265"/>
                  <a:gd name="T1" fmla="*/ 0 h 252"/>
                  <a:gd name="T2" fmla="*/ 246 w 265"/>
                  <a:gd name="T3" fmla="*/ 21 h 252"/>
                  <a:gd name="T4" fmla="*/ 226 w 265"/>
                  <a:gd name="T5" fmla="*/ 36 h 252"/>
                  <a:gd name="T6" fmla="*/ 176 w 265"/>
                  <a:gd name="T7" fmla="*/ 59 h 252"/>
                  <a:gd name="T8" fmla="*/ 113 w 265"/>
                  <a:gd name="T9" fmla="*/ 82 h 252"/>
                  <a:gd name="T10" fmla="*/ 44 w 265"/>
                  <a:gd name="T11" fmla="*/ 111 h 252"/>
                  <a:gd name="T12" fmla="*/ 19 w 265"/>
                  <a:gd name="T13" fmla="*/ 126 h 252"/>
                  <a:gd name="T14" fmla="*/ 2 w 265"/>
                  <a:gd name="T15" fmla="*/ 142 h 252"/>
                  <a:gd name="T16" fmla="*/ 0 w 265"/>
                  <a:gd name="T17" fmla="*/ 159 h 252"/>
                  <a:gd name="T18" fmla="*/ 11 w 265"/>
                  <a:gd name="T19" fmla="*/ 175 h 252"/>
                  <a:gd name="T20" fmla="*/ 32 w 265"/>
                  <a:gd name="T21" fmla="*/ 193 h 252"/>
                  <a:gd name="T22" fmla="*/ 60 w 265"/>
                  <a:gd name="T23" fmla="*/ 212 h 252"/>
                  <a:gd name="T24" fmla="*/ 122 w 265"/>
                  <a:gd name="T25" fmla="*/ 252 h 252"/>
                  <a:gd name="T26" fmla="*/ 123 w 265"/>
                  <a:gd name="T27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5" h="252">
                    <a:moveTo>
                      <a:pt x="265" y="0"/>
                    </a:moveTo>
                    <a:lnTo>
                      <a:pt x="246" y="21"/>
                    </a:lnTo>
                    <a:lnTo>
                      <a:pt x="226" y="36"/>
                    </a:lnTo>
                    <a:lnTo>
                      <a:pt x="176" y="59"/>
                    </a:lnTo>
                    <a:lnTo>
                      <a:pt x="113" y="82"/>
                    </a:lnTo>
                    <a:lnTo>
                      <a:pt x="44" y="111"/>
                    </a:lnTo>
                    <a:lnTo>
                      <a:pt x="19" y="126"/>
                    </a:lnTo>
                    <a:lnTo>
                      <a:pt x="2" y="142"/>
                    </a:lnTo>
                    <a:lnTo>
                      <a:pt x="0" y="159"/>
                    </a:lnTo>
                    <a:lnTo>
                      <a:pt x="11" y="175"/>
                    </a:lnTo>
                    <a:lnTo>
                      <a:pt x="32" y="193"/>
                    </a:lnTo>
                    <a:lnTo>
                      <a:pt x="60" y="212"/>
                    </a:lnTo>
                    <a:lnTo>
                      <a:pt x="122" y="252"/>
                    </a:lnTo>
                    <a:lnTo>
                      <a:pt x="123" y="252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5" name="Freeform 174"/>
              <p:cNvSpPr>
                <a:spLocks noChangeAspect="1" noChangeArrowheads="1"/>
              </p:cNvSpPr>
              <p:nvPr/>
            </p:nvSpPr>
            <p:spPr bwMode="auto">
              <a:xfrm>
                <a:off x="2767" y="3295"/>
                <a:ext cx="93" cy="87"/>
              </a:xfrm>
              <a:custGeom>
                <a:avLst/>
                <a:gdLst>
                  <a:gd name="T0" fmla="*/ 274 w 274"/>
                  <a:gd name="T1" fmla="*/ 0 h 252"/>
                  <a:gd name="T2" fmla="*/ 253 w 274"/>
                  <a:gd name="T3" fmla="*/ 23 h 252"/>
                  <a:gd name="T4" fmla="*/ 226 w 274"/>
                  <a:gd name="T5" fmla="*/ 43 h 252"/>
                  <a:gd name="T6" fmla="*/ 159 w 274"/>
                  <a:gd name="T7" fmla="*/ 80 h 252"/>
                  <a:gd name="T8" fmla="*/ 88 w 274"/>
                  <a:gd name="T9" fmla="*/ 109 h 252"/>
                  <a:gd name="T10" fmla="*/ 55 w 274"/>
                  <a:gd name="T11" fmla="*/ 120 h 252"/>
                  <a:gd name="T12" fmla="*/ 29 w 274"/>
                  <a:gd name="T13" fmla="*/ 129 h 252"/>
                  <a:gd name="T14" fmla="*/ 9 w 274"/>
                  <a:gd name="T15" fmla="*/ 136 h 252"/>
                  <a:gd name="T16" fmla="*/ 0 w 274"/>
                  <a:gd name="T17" fmla="*/ 142 h 252"/>
                  <a:gd name="T18" fmla="*/ 2 w 274"/>
                  <a:gd name="T19" fmla="*/ 147 h 252"/>
                  <a:gd name="T20" fmla="*/ 16 w 274"/>
                  <a:gd name="T21" fmla="*/ 154 h 252"/>
                  <a:gd name="T22" fmla="*/ 40 w 274"/>
                  <a:gd name="T23" fmla="*/ 165 h 252"/>
                  <a:gd name="T24" fmla="*/ 68 w 274"/>
                  <a:gd name="T25" fmla="*/ 182 h 252"/>
                  <a:gd name="T26" fmla="*/ 100 w 274"/>
                  <a:gd name="T27" fmla="*/ 210 h 252"/>
                  <a:gd name="T28" fmla="*/ 132 w 274"/>
                  <a:gd name="T29" fmla="*/ 252 h 252"/>
                  <a:gd name="T30" fmla="*/ 133 w 274"/>
                  <a:gd name="T31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4" h="252">
                    <a:moveTo>
                      <a:pt x="274" y="0"/>
                    </a:moveTo>
                    <a:lnTo>
                      <a:pt x="253" y="23"/>
                    </a:lnTo>
                    <a:lnTo>
                      <a:pt x="226" y="43"/>
                    </a:lnTo>
                    <a:lnTo>
                      <a:pt x="159" y="80"/>
                    </a:lnTo>
                    <a:lnTo>
                      <a:pt x="88" y="109"/>
                    </a:lnTo>
                    <a:lnTo>
                      <a:pt x="55" y="120"/>
                    </a:lnTo>
                    <a:lnTo>
                      <a:pt x="29" y="129"/>
                    </a:lnTo>
                    <a:lnTo>
                      <a:pt x="9" y="136"/>
                    </a:lnTo>
                    <a:lnTo>
                      <a:pt x="0" y="142"/>
                    </a:lnTo>
                    <a:lnTo>
                      <a:pt x="2" y="147"/>
                    </a:lnTo>
                    <a:lnTo>
                      <a:pt x="16" y="154"/>
                    </a:lnTo>
                    <a:lnTo>
                      <a:pt x="40" y="165"/>
                    </a:lnTo>
                    <a:lnTo>
                      <a:pt x="68" y="182"/>
                    </a:lnTo>
                    <a:lnTo>
                      <a:pt x="100" y="210"/>
                    </a:lnTo>
                    <a:lnTo>
                      <a:pt x="132" y="252"/>
                    </a:lnTo>
                    <a:lnTo>
                      <a:pt x="133" y="252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6" name="Freeform 175"/>
              <p:cNvSpPr>
                <a:spLocks noChangeAspect="1" noChangeArrowheads="1"/>
              </p:cNvSpPr>
              <p:nvPr/>
            </p:nvSpPr>
            <p:spPr bwMode="auto">
              <a:xfrm>
                <a:off x="2841" y="3295"/>
                <a:ext cx="90" cy="87"/>
              </a:xfrm>
              <a:custGeom>
                <a:avLst/>
                <a:gdLst>
                  <a:gd name="T0" fmla="*/ 265 w 265"/>
                  <a:gd name="T1" fmla="*/ 0 h 252"/>
                  <a:gd name="T2" fmla="*/ 226 w 265"/>
                  <a:gd name="T3" fmla="*/ 43 h 252"/>
                  <a:gd name="T4" fmla="*/ 176 w 265"/>
                  <a:gd name="T5" fmla="*/ 80 h 252"/>
                  <a:gd name="T6" fmla="*/ 112 w 265"/>
                  <a:gd name="T7" fmla="*/ 109 h 252"/>
                  <a:gd name="T8" fmla="*/ 44 w 265"/>
                  <a:gd name="T9" fmla="*/ 131 h 252"/>
                  <a:gd name="T10" fmla="*/ 19 w 265"/>
                  <a:gd name="T11" fmla="*/ 141 h 252"/>
                  <a:gd name="T12" fmla="*/ 3 w 265"/>
                  <a:gd name="T13" fmla="*/ 152 h 252"/>
                  <a:gd name="T14" fmla="*/ 0 w 265"/>
                  <a:gd name="T15" fmla="*/ 165 h 252"/>
                  <a:gd name="T16" fmla="*/ 11 w 265"/>
                  <a:gd name="T17" fmla="*/ 178 h 252"/>
                  <a:gd name="T18" fmla="*/ 31 w 265"/>
                  <a:gd name="T19" fmla="*/ 194 h 252"/>
                  <a:gd name="T20" fmla="*/ 59 w 265"/>
                  <a:gd name="T21" fmla="*/ 212 h 252"/>
                  <a:gd name="T22" fmla="*/ 122 w 265"/>
                  <a:gd name="T23" fmla="*/ 252 h 252"/>
                  <a:gd name="T24" fmla="*/ 123 w 265"/>
                  <a:gd name="T25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5" h="252">
                    <a:moveTo>
                      <a:pt x="265" y="0"/>
                    </a:moveTo>
                    <a:lnTo>
                      <a:pt x="226" y="43"/>
                    </a:lnTo>
                    <a:lnTo>
                      <a:pt x="176" y="80"/>
                    </a:lnTo>
                    <a:lnTo>
                      <a:pt x="112" y="109"/>
                    </a:lnTo>
                    <a:lnTo>
                      <a:pt x="44" y="131"/>
                    </a:lnTo>
                    <a:lnTo>
                      <a:pt x="19" y="141"/>
                    </a:lnTo>
                    <a:lnTo>
                      <a:pt x="3" y="152"/>
                    </a:lnTo>
                    <a:lnTo>
                      <a:pt x="0" y="165"/>
                    </a:lnTo>
                    <a:lnTo>
                      <a:pt x="11" y="178"/>
                    </a:lnTo>
                    <a:lnTo>
                      <a:pt x="31" y="194"/>
                    </a:lnTo>
                    <a:lnTo>
                      <a:pt x="59" y="212"/>
                    </a:lnTo>
                    <a:lnTo>
                      <a:pt x="122" y="252"/>
                    </a:lnTo>
                    <a:lnTo>
                      <a:pt x="123" y="252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7" name="Freeform 176"/>
              <p:cNvSpPr>
                <a:spLocks noChangeAspect="1" noChangeArrowheads="1"/>
              </p:cNvSpPr>
              <p:nvPr/>
            </p:nvSpPr>
            <p:spPr bwMode="auto">
              <a:xfrm>
                <a:off x="2417" y="3382"/>
                <a:ext cx="63" cy="52"/>
              </a:xfrm>
              <a:custGeom>
                <a:avLst/>
                <a:gdLst>
                  <a:gd name="T0" fmla="*/ 0 w 177"/>
                  <a:gd name="T1" fmla="*/ 155 h 155"/>
                  <a:gd name="T2" fmla="*/ 67 w 177"/>
                  <a:gd name="T3" fmla="*/ 140 h 155"/>
                  <a:gd name="T4" fmla="*/ 102 w 177"/>
                  <a:gd name="T5" fmla="*/ 130 h 155"/>
                  <a:gd name="T6" fmla="*/ 130 w 177"/>
                  <a:gd name="T7" fmla="*/ 116 h 155"/>
                  <a:gd name="T8" fmla="*/ 150 w 177"/>
                  <a:gd name="T9" fmla="*/ 93 h 155"/>
                  <a:gd name="T10" fmla="*/ 161 w 177"/>
                  <a:gd name="T11" fmla="*/ 64 h 155"/>
                  <a:gd name="T12" fmla="*/ 176 w 177"/>
                  <a:gd name="T13" fmla="*/ 0 h 155"/>
                  <a:gd name="T14" fmla="*/ 177 w 177"/>
                  <a:gd name="T15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7" h="155">
                    <a:moveTo>
                      <a:pt x="0" y="155"/>
                    </a:moveTo>
                    <a:lnTo>
                      <a:pt x="67" y="140"/>
                    </a:lnTo>
                    <a:lnTo>
                      <a:pt x="102" y="130"/>
                    </a:lnTo>
                    <a:lnTo>
                      <a:pt x="130" y="116"/>
                    </a:lnTo>
                    <a:lnTo>
                      <a:pt x="150" y="93"/>
                    </a:lnTo>
                    <a:lnTo>
                      <a:pt x="161" y="64"/>
                    </a:lnTo>
                    <a:lnTo>
                      <a:pt x="176" y="0"/>
                    </a:lnTo>
                    <a:lnTo>
                      <a:pt x="177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8" name="Freeform 177"/>
              <p:cNvSpPr>
                <a:spLocks noChangeAspect="1" noChangeArrowheads="1"/>
              </p:cNvSpPr>
              <p:nvPr/>
            </p:nvSpPr>
            <p:spPr bwMode="auto">
              <a:xfrm>
                <a:off x="2483" y="3382"/>
                <a:ext cx="68" cy="85"/>
              </a:xfrm>
              <a:custGeom>
                <a:avLst/>
                <a:gdLst>
                  <a:gd name="T0" fmla="*/ 0 w 193"/>
                  <a:gd name="T1" fmla="*/ 250 h 250"/>
                  <a:gd name="T2" fmla="*/ 26 w 193"/>
                  <a:gd name="T3" fmla="*/ 235 h 250"/>
                  <a:gd name="T4" fmla="*/ 57 w 193"/>
                  <a:gd name="T5" fmla="*/ 217 h 250"/>
                  <a:gd name="T6" fmla="*/ 117 w 193"/>
                  <a:gd name="T7" fmla="*/ 178 h 250"/>
                  <a:gd name="T8" fmla="*/ 140 w 193"/>
                  <a:gd name="T9" fmla="*/ 161 h 250"/>
                  <a:gd name="T10" fmla="*/ 155 w 193"/>
                  <a:gd name="T11" fmla="*/ 145 h 250"/>
                  <a:gd name="T12" fmla="*/ 163 w 193"/>
                  <a:gd name="T13" fmla="*/ 130 h 250"/>
                  <a:gd name="T14" fmla="*/ 167 w 193"/>
                  <a:gd name="T15" fmla="*/ 116 h 250"/>
                  <a:gd name="T16" fmla="*/ 164 w 193"/>
                  <a:gd name="T17" fmla="*/ 64 h 250"/>
                  <a:gd name="T18" fmla="*/ 172 w 193"/>
                  <a:gd name="T19" fmla="*/ 32 h 250"/>
                  <a:gd name="T20" fmla="*/ 192 w 193"/>
                  <a:gd name="T21" fmla="*/ 0 h 250"/>
                  <a:gd name="T22" fmla="*/ 193 w 193"/>
                  <a:gd name="T23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3" h="250">
                    <a:moveTo>
                      <a:pt x="0" y="250"/>
                    </a:moveTo>
                    <a:lnTo>
                      <a:pt x="26" y="235"/>
                    </a:lnTo>
                    <a:lnTo>
                      <a:pt x="57" y="217"/>
                    </a:lnTo>
                    <a:lnTo>
                      <a:pt x="117" y="178"/>
                    </a:lnTo>
                    <a:lnTo>
                      <a:pt x="140" y="161"/>
                    </a:lnTo>
                    <a:lnTo>
                      <a:pt x="155" y="145"/>
                    </a:lnTo>
                    <a:lnTo>
                      <a:pt x="163" y="130"/>
                    </a:lnTo>
                    <a:lnTo>
                      <a:pt x="167" y="116"/>
                    </a:lnTo>
                    <a:lnTo>
                      <a:pt x="164" y="64"/>
                    </a:lnTo>
                    <a:lnTo>
                      <a:pt x="172" y="32"/>
                    </a:lnTo>
                    <a:lnTo>
                      <a:pt x="192" y="0"/>
                    </a:lnTo>
                    <a:lnTo>
                      <a:pt x="193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9" name="Freeform 178"/>
              <p:cNvSpPr>
                <a:spLocks noChangeAspect="1" noChangeArrowheads="1"/>
              </p:cNvSpPr>
              <p:nvPr/>
            </p:nvSpPr>
            <p:spPr bwMode="auto">
              <a:xfrm>
                <a:off x="2562" y="3382"/>
                <a:ext cx="79" cy="85"/>
              </a:xfrm>
              <a:custGeom>
                <a:avLst/>
                <a:gdLst>
                  <a:gd name="T0" fmla="*/ 0 w 234"/>
                  <a:gd name="T1" fmla="*/ 244 h 244"/>
                  <a:gd name="T2" fmla="*/ 59 w 234"/>
                  <a:gd name="T3" fmla="*/ 206 h 244"/>
                  <a:gd name="T4" fmla="*/ 103 w 234"/>
                  <a:gd name="T5" fmla="*/ 172 h 244"/>
                  <a:gd name="T6" fmla="*/ 132 w 234"/>
                  <a:gd name="T7" fmla="*/ 144 h 244"/>
                  <a:gd name="T8" fmla="*/ 150 w 234"/>
                  <a:gd name="T9" fmla="*/ 120 h 244"/>
                  <a:gd name="T10" fmla="*/ 167 w 234"/>
                  <a:gd name="T11" fmla="*/ 76 h 244"/>
                  <a:gd name="T12" fmla="*/ 176 w 234"/>
                  <a:gd name="T13" fmla="*/ 62 h 244"/>
                  <a:gd name="T14" fmla="*/ 189 w 234"/>
                  <a:gd name="T15" fmla="*/ 46 h 244"/>
                  <a:gd name="T16" fmla="*/ 208 w 234"/>
                  <a:gd name="T17" fmla="*/ 24 h 244"/>
                  <a:gd name="T18" fmla="*/ 233 w 234"/>
                  <a:gd name="T19" fmla="*/ 0 h 244"/>
                  <a:gd name="T20" fmla="*/ 234 w 234"/>
                  <a:gd name="T21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4" h="244">
                    <a:moveTo>
                      <a:pt x="0" y="244"/>
                    </a:moveTo>
                    <a:lnTo>
                      <a:pt x="59" y="206"/>
                    </a:lnTo>
                    <a:lnTo>
                      <a:pt x="103" y="172"/>
                    </a:lnTo>
                    <a:lnTo>
                      <a:pt x="132" y="144"/>
                    </a:lnTo>
                    <a:lnTo>
                      <a:pt x="150" y="120"/>
                    </a:lnTo>
                    <a:lnTo>
                      <a:pt x="167" y="76"/>
                    </a:lnTo>
                    <a:lnTo>
                      <a:pt x="176" y="62"/>
                    </a:lnTo>
                    <a:lnTo>
                      <a:pt x="189" y="46"/>
                    </a:lnTo>
                    <a:lnTo>
                      <a:pt x="208" y="24"/>
                    </a:lnTo>
                    <a:lnTo>
                      <a:pt x="233" y="0"/>
                    </a:lnTo>
                    <a:lnTo>
                      <a:pt x="234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0" name="Freeform 179"/>
              <p:cNvSpPr>
                <a:spLocks noChangeAspect="1" noChangeArrowheads="1"/>
              </p:cNvSpPr>
              <p:nvPr/>
            </p:nvSpPr>
            <p:spPr bwMode="auto">
              <a:xfrm>
                <a:off x="2655" y="3382"/>
                <a:ext cx="46" cy="85"/>
              </a:xfrm>
              <a:custGeom>
                <a:avLst/>
                <a:gdLst>
                  <a:gd name="T0" fmla="*/ 0 w 136"/>
                  <a:gd name="T1" fmla="*/ 250 h 250"/>
                  <a:gd name="T2" fmla="*/ 21 w 136"/>
                  <a:gd name="T3" fmla="*/ 209 h 250"/>
                  <a:gd name="T4" fmla="*/ 49 w 136"/>
                  <a:gd name="T5" fmla="*/ 169 h 250"/>
                  <a:gd name="T6" fmla="*/ 73 w 136"/>
                  <a:gd name="T7" fmla="*/ 131 h 250"/>
                  <a:gd name="T8" fmla="*/ 87 w 136"/>
                  <a:gd name="T9" fmla="*/ 98 h 250"/>
                  <a:gd name="T10" fmla="*/ 104 w 136"/>
                  <a:gd name="T11" fmla="*/ 43 h 250"/>
                  <a:gd name="T12" fmla="*/ 117 w 136"/>
                  <a:gd name="T13" fmla="*/ 19 h 250"/>
                  <a:gd name="T14" fmla="*/ 135 w 136"/>
                  <a:gd name="T15" fmla="*/ 0 h 250"/>
                  <a:gd name="T16" fmla="*/ 136 w 136"/>
                  <a:gd name="T17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6" h="250">
                    <a:moveTo>
                      <a:pt x="0" y="250"/>
                    </a:moveTo>
                    <a:lnTo>
                      <a:pt x="21" y="209"/>
                    </a:lnTo>
                    <a:lnTo>
                      <a:pt x="49" y="169"/>
                    </a:lnTo>
                    <a:lnTo>
                      <a:pt x="73" y="131"/>
                    </a:lnTo>
                    <a:lnTo>
                      <a:pt x="87" y="98"/>
                    </a:lnTo>
                    <a:lnTo>
                      <a:pt x="104" y="43"/>
                    </a:lnTo>
                    <a:lnTo>
                      <a:pt x="117" y="19"/>
                    </a:lnTo>
                    <a:lnTo>
                      <a:pt x="135" y="0"/>
                    </a:lnTo>
                    <a:lnTo>
                      <a:pt x="136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1" name="Freeform 180"/>
              <p:cNvSpPr>
                <a:spLocks noChangeAspect="1" noChangeArrowheads="1"/>
              </p:cNvSpPr>
              <p:nvPr/>
            </p:nvSpPr>
            <p:spPr bwMode="auto">
              <a:xfrm>
                <a:off x="2731" y="3382"/>
                <a:ext cx="25" cy="85"/>
              </a:xfrm>
              <a:custGeom>
                <a:avLst/>
                <a:gdLst>
                  <a:gd name="T0" fmla="*/ 0 w 74"/>
                  <a:gd name="T1" fmla="*/ 250 h 250"/>
                  <a:gd name="T2" fmla="*/ 38 w 74"/>
                  <a:gd name="T3" fmla="*/ 189 h 250"/>
                  <a:gd name="T4" fmla="*/ 64 w 74"/>
                  <a:gd name="T5" fmla="*/ 123 h 250"/>
                  <a:gd name="T6" fmla="*/ 74 w 74"/>
                  <a:gd name="T7" fmla="*/ 58 h 250"/>
                  <a:gd name="T8" fmla="*/ 72 w 74"/>
                  <a:gd name="T9" fmla="*/ 0 h 250"/>
                  <a:gd name="T10" fmla="*/ 73 w 74"/>
                  <a:gd name="T11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4" h="250">
                    <a:moveTo>
                      <a:pt x="0" y="250"/>
                    </a:moveTo>
                    <a:lnTo>
                      <a:pt x="38" y="189"/>
                    </a:lnTo>
                    <a:lnTo>
                      <a:pt x="64" y="123"/>
                    </a:lnTo>
                    <a:lnTo>
                      <a:pt x="74" y="58"/>
                    </a:lnTo>
                    <a:lnTo>
                      <a:pt x="72" y="0"/>
                    </a:lnTo>
                    <a:lnTo>
                      <a:pt x="73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2" name="Freeform 181"/>
              <p:cNvSpPr>
                <a:spLocks noChangeAspect="1" noChangeArrowheads="1"/>
              </p:cNvSpPr>
              <p:nvPr/>
            </p:nvSpPr>
            <p:spPr bwMode="auto">
              <a:xfrm>
                <a:off x="2805" y="3382"/>
                <a:ext cx="38" cy="85"/>
              </a:xfrm>
              <a:custGeom>
                <a:avLst/>
                <a:gdLst>
                  <a:gd name="T0" fmla="*/ 0 w 118"/>
                  <a:gd name="T1" fmla="*/ 250 h 250"/>
                  <a:gd name="T2" fmla="*/ 14 w 118"/>
                  <a:gd name="T3" fmla="*/ 216 h 250"/>
                  <a:gd name="T4" fmla="*/ 36 w 118"/>
                  <a:gd name="T5" fmla="*/ 182 h 250"/>
                  <a:gd name="T6" fmla="*/ 58 w 118"/>
                  <a:gd name="T7" fmla="*/ 150 h 250"/>
                  <a:gd name="T8" fmla="*/ 74 w 118"/>
                  <a:gd name="T9" fmla="*/ 118 h 250"/>
                  <a:gd name="T10" fmla="*/ 91 w 118"/>
                  <a:gd name="T11" fmla="*/ 58 h 250"/>
                  <a:gd name="T12" fmla="*/ 100 w 118"/>
                  <a:gd name="T13" fmla="*/ 28 h 250"/>
                  <a:gd name="T14" fmla="*/ 117 w 118"/>
                  <a:gd name="T15" fmla="*/ 0 h 250"/>
                  <a:gd name="T16" fmla="*/ 118 w 118"/>
                  <a:gd name="T17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8" h="250">
                    <a:moveTo>
                      <a:pt x="0" y="250"/>
                    </a:moveTo>
                    <a:lnTo>
                      <a:pt x="14" y="216"/>
                    </a:lnTo>
                    <a:lnTo>
                      <a:pt x="36" y="182"/>
                    </a:lnTo>
                    <a:lnTo>
                      <a:pt x="58" y="150"/>
                    </a:lnTo>
                    <a:lnTo>
                      <a:pt x="74" y="118"/>
                    </a:lnTo>
                    <a:lnTo>
                      <a:pt x="91" y="58"/>
                    </a:lnTo>
                    <a:lnTo>
                      <a:pt x="100" y="28"/>
                    </a:lnTo>
                    <a:lnTo>
                      <a:pt x="117" y="0"/>
                    </a:lnTo>
                    <a:lnTo>
                      <a:pt x="118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3" name="Freeform 182"/>
              <p:cNvSpPr>
                <a:spLocks noChangeAspect="1" noChangeArrowheads="1"/>
              </p:cNvSpPr>
              <p:nvPr/>
            </p:nvSpPr>
            <p:spPr bwMode="auto">
              <a:xfrm>
                <a:off x="2876" y="3382"/>
                <a:ext cx="19" cy="85"/>
              </a:xfrm>
              <a:custGeom>
                <a:avLst/>
                <a:gdLst>
                  <a:gd name="T0" fmla="*/ 0 w 62"/>
                  <a:gd name="T1" fmla="*/ 250 h 250"/>
                  <a:gd name="T2" fmla="*/ 18 w 62"/>
                  <a:gd name="T3" fmla="*/ 184 h 250"/>
                  <a:gd name="T4" fmla="*/ 43 w 62"/>
                  <a:gd name="T5" fmla="*/ 121 h 250"/>
                  <a:gd name="T6" fmla="*/ 49 w 62"/>
                  <a:gd name="T7" fmla="*/ 89 h 250"/>
                  <a:gd name="T8" fmla="*/ 48 w 62"/>
                  <a:gd name="T9" fmla="*/ 57 h 250"/>
                  <a:gd name="T10" fmla="*/ 48 w 62"/>
                  <a:gd name="T11" fmla="*/ 26 h 250"/>
                  <a:gd name="T12" fmla="*/ 53 w 62"/>
                  <a:gd name="T13" fmla="*/ 12 h 250"/>
                  <a:gd name="T14" fmla="*/ 61 w 62"/>
                  <a:gd name="T15" fmla="*/ 0 h 250"/>
                  <a:gd name="T16" fmla="*/ 62 w 62"/>
                  <a:gd name="T17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250">
                    <a:moveTo>
                      <a:pt x="0" y="250"/>
                    </a:moveTo>
                    <a:lnTo>
                      <a:pt x="18" y="184"/>
                    </a:lnTo>
                    <a:lnTo>
                      <a:pt x="43" y="121"/>
                    </a:lnTo>
                    <a:lnTo>
                      <a:pt x="49" y="89"/>
                    </a:lnTo>
                    <a:lnTo>
                      <a:pt x="48" y="57"/>
                    </a:lnTo>
                    <a:lnTo>
                      <a:pt x="48" y="26"/>
                    </a:lnTo>
                    <a:lnTo>
                      <a:pt x="53" y="12"/>
                    </a:lnTo>
                    <a:lnTo>
                      <a:pt x="61" y="0"/>
                    </a:lnTo>
                    <a:lnTo>
                      <a:pt x="6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4" name="Freeform 183"/>
              <p:cNvSpPr>
                <a:spLocks noChangeAspect="1" noChangeArrowheads="1"/>
              </p:cNvSpPr>
              <p:nvPr/>
            </p:nvSpPr>
            <p:spPr bwMode="auto">
              <a:xfrm>
                <a:off x="2904" y="3440"/>
                <a:ext cx="30" cy="27"/>
              </a:xfrm>
              <a:custGeom>
                <a:avLst/>
                <a:gdLst>
                  <a:gd name="T0" fmla="*/ 0 w 83"/>
                  <a:gd name="T1" fmla="*/ 80 h 80"/>
                  <a:gd name="T2" fmla="*/ 31 w 83"/>
                  <a:gd name="T3" fmla="*/ 56 h 80"/>
                  <a:gd name="T4" fmla="*/ 50 w 83"/>
                  <a:gd name="T5" fmla="*/ 33 h 80"/>
                  <a:gd name="T6" fmla="*/ 65 w 83"/>
                  <a:gd name="T7" fmla="*/ 13 h 80"/>
                  <a:gd name="T8" fmla="*/ 82 w 83"/>
                  <a:gd name="T9" fmla="*/ 0 h 80"/>
                  <a:gd name="T10" fmla="*/ 83 w 83"/>
                  <a:gd name="T11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3" h="80">
                    <a:moveTo>
                      <a:pt x="0" y="80"/>
                    </a:moveTo>
                    <a:lnTo>
                      <a:pt x="31" y="56"/>
                    </a:lnTo>
                    <a:lnTo>
                      <a:pt x="50" y="33"/>
                    </a:lnTo>
                    <a:lnTo>
                      <a:pt x="65" y="13"/>
                    </a:lnTo>
                    <a:lnTo>
                      <a:pt x="82" y="0"/>
                    </a:lnTo>
                    <a:lnTo>
                      <a:pt x="83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5" name="Freeform 184"/>
              <p:cNvSpPr>
                <a:spLocks noChangeAspect="1" noChangeArrowheads="1"/>
              </p:cNvSpPr>
              <p:nvPr/>
            </p:nvSpPr>
            <p:spPr bwMode="auto">
              <a:xfrm>
                <a:off x="2797" y="3382"/>
                <a:ext cx="3" cy="3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3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3"/>
                    </a:lnTo>
                    <a:lnTo>
                      <a:pt x="4" y="3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5" name="Group 185"/>
            <p:cNvGrpSpPr>
              <a:grpSpLocks noChangeAspect="1"/>
            </p:cNvGrpSpPr>
            <p:nvPr/>
          </p:nvGrpSpPr>
          <p:grpSpPr bwMode="auto">
            <a:xfrm>
              <a:off x="4713" y="1296"/>
              <a:ext cx="517" cy="345"/>
              <a:chOff x="4713" y="1296"/>
              <a:chExt cx="517" cy="345"/>
            </a:xfrm>
          </p:grpSpPr>
          <p:sp>
            <p:nvSpPr>
              <p:cNvPr id="219" name="Freeform 186"/>
              <p:cNvSpPr>
                <a:spLocks noChangeAspect="1" noChangeArrowheads="1"/>
              </p:cNvSpPr>
              <p:nvPr/>
            </p:nvSpPr>
            <p:spPr bwMode="auto">
              <a:xfrm>
                <a:off x="4716" y="1296"/>
                <a:ext cx="514" cy="342"/>
              </a:xfrm>
              <a:custGeom>
                <a:avLst/>
                <a:gdLst>
                  <a:gd name="T0" fmla="*/ 0 w 1504"/>
                  <a:gd name="T1" fmla="*/ 1003 h 1003"/>
                  <a:gd name="T2" fmla="*/ 1504 w 1504"/>
                  <a:gd name="T3" fmla="*/ 1003 h 1003"/>
                  <a:gd name="T4" fmla="*/ 1504 w 1504"/>
                  <a:gd name="T5" fmla="*/ 0 h 1003"/>
                  <a:gd name="T6" fmla="*/ 0 w 1504"/>
                  <a:gd name="T7" fmla="*/ 0 h 1003"/>
                  <a:gd name="T8" fmla="*/ 0 w 1504"/>
                  <a:gd name="T9" fmla="*/ 1003 h 1003"/>
                  <a:gd name="T10" fmla="*/ 1 w 1504"/>
                  <a:gd name="T11" fmla="*/ 10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04" h="1003">
                    <a:moveTo>
                      <a:pt x="0" y="1003"/>
                    </a:moveTo>
                    <a:lnTo>
                      <a:pt x="1504" y="1003"/>
                    </a:lnTo>
                    <a:lnTo>
                      <a:pt x="1504" y="0"/>
                    </a:lnTo>
                    <a:lnTo>
                      <a:pt x="0" y="0"/>
                    </a:lnTo>
                    <a:lnTo>
                      <a:pt x="0" y="1003"/>
                    </a:lnTo>
                    <a:lnTo>
                      <a:pt x="1" y="1003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0" name="Freeform 187"/>
              <p:cNvSpPr>
                <a:spLocks noChangeAspect="1" noChangeArrowheads="1"/>
              </p:cNvSpPr>
              <p:nvPr/>
            </p:nvSpPr>
            <p:spPr bwMode="auto">
              <a:xfrm>
                <a:off x="4748" y="1318"/>
                <a:ext cx="28" cy="33"/>
              </a:xfrm>
              <a:custGeom>
                <a:avLst/>
                <a:gdLst>
                  <a:gd name="T0" fmla="*/ 4 w 74"/>
                  <a:gd name="T1" fmla="*/ 30 h 96"/>
                  <a:gd name="T2" fmla="*/ 4 w 74"/>
                  <a:gd name="T3" fmla="*/ 33 h 96"/>
                  <a:gd name="T4" fmla="*/ 8 w 74"/>
                  <a:gd name="T5" fmla="*/ 29 h 96"/>
                  <a:gd name="T6" fmla="*/ 23 w 74"/>
                  <a:gd name="T7" fmla="*/ 13 h 96"/>
                  <a:gd name="T8" fmla="*/ 41 w 74"/>
                  <a:gd name="T9" fmla="*/ 0 h 96"/>
                  <a:gd name="T10" fmla="*/ 57 w 74"/>
                  <a:gd name="T11" fmla="*/ 4 h 96"/>
                  <a:gd name="T12" fmla="*/ 68 w 74"/>
                  <a:gd name="T13" fmla="*/ 19 h 96"/>
                  <a:gd name="T14" fmla="*/ 74 w 74"/>
                  <a:gd name="T15" fmla="*/ 39 h 96"/>
                  <a:gd name="T16" fmla="*/ 74 w 74"/>
                  <a:gd name="T17" fmla="*/ 61 h 96"/>
                  <a:gd name="T18" fmla="*/ 67 w 74"/>
                  <a:gd name="T19" fmla="*/ 78 h 96"/>
                  <a:gd name="T20" fmla="*/ 54 w 74"/>
                  <a:gd name="T21" fmla="*/ 90 h 96"/>
                  <a:gd name="T22" fmla="*/ 37 w 74"/>
                  <a:gd name="T23" fmla="*/ 96 h 96"/>
                  <a:gd name="T24" fmla="*/ 21 w 74"/>
                  <a:gd name="T25" fmla="*/ 96 h 96"/>
                  <a:gd name="T26" fmla="*/ 8 w 74"/>
                  <a:gd name="T27" fmla="*/ 91 h 96"/>
                  <a:gd name="T28" fmla="*/ 1 w 74"/>
                  <a:gd name="T29" fmla="*/ 78 h 96"/>
                  <a:gd name="T30" fmla="*/ 0 w 74"/>
                  <a:gd name="T31" fmla="*/ 56 h 96"/>
                  <a:gd name="T32" fmla="*/ 4 w 74"/>
                  <a:gd name="T33" fmla="*/ 32 h 96"/>
                  <a:gd name="T34" fmla="*/ 5 w 74"/>
                  <a:gd name="T35" fmla="*/ 27 h 96"/>
                  <a:gd name="T36" fmla="*/ 4 w 74"/>
                  <a:gd name="T37" fmla="*/ 30 h 96"/>
                  <a:gd name="T38" fmla="*/ 5 w 74"/>
                  <a:gd name="T39" fmla="*/ 3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" h="96">
                    <a:moveTo>
                      <a:pt x="4" y="30"/>
                    </a:moveTo>
                    <a:lnTo>
                      <a:pt x="4" y="33"/>
                    </a:lnTo>
                    <a:lnTo>
                      <a:pt x="8" y="29"/>
                    </a:lnTo>
                    <a:lnTo>
                      <a:pt x="23" y="13"/>
                    </a:lnTo>
                    <a:lnTo>
                      <a:pt x="41" y="0"/>
                    </a:lnTo>
                    <a:lnTo>
                      <a:pt x="57" y="4"/>
                    </a:lnTo>
                    <a:lnTo>
                      <a:pt x="68" y="19"/>
                    </a:lnTo>
                    <a:lnTo>
                      <a:pt x="74" y="39"/>
                    </a:lnTo>
                    <a:lnTo>
                      <a:pt x="74" y="61"/>
                    </a:lnTo>
                    <a:lnTo>
                      <a:pt x="67" y="78"/>
                    </a:lnTo>
                    <a:lnTo>
                      <a:pt x="54" y="90"/>
                    </a:lnTo>
                    <a:lnTo>
                      <a:pt x="37" y="96"/>
                    </a:lnTo>
                    <a:lnTo>
                      <a:pt x="21" y="96"/>
                    </a:lnTo>
                    <a:lnTo>
                      <a:pt x="8" y="91"/>
                    </a:lnTo>
                    <a:lnTo>
                      <a:pt x="1" y="78"/>
                    </a:lnTo>
                    <a:lnTo>
                      <a:pt x="0" y="56"/>
                    </a:lnTo>
                    <a:lnTo>
                      <a:pt x="4" y="32"/>
                    </a:lnTo>
                    <a:lnTo>
                      <a:pt x="5" y="27"/>
                    </a:lnTo>
                    <a:lnTo>
                      <a:pt x="4" y="30"/>
                    </a:lnTo>
                    <a:lnTo>
                      <a:pt x="5" y="3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1" name="Freeform 188"/>
              <p:cNvSpPr>
                <a:spLocks noChangeAspect="1" noChangeArrowheads="1"/>
              </p:cNvSpPr>
              <p:nvPr/>
            </p:nvSpPr>
            <p:spPr bwMode="auto">
              <a:xfrm>
                <a:off x="4817" y="1386"/>
                <a:ext cx="30" cy="28"/>
              </a:xfrm>
              <a:custGeom>
                <a:avLst/>
                <a:gdLst>
                  <a:gd name="T0" fmla="*/ 32 w 85"/>
                  <a:gd name="T1" fmla="*/ 2 h 78"/>
                  <a:gd name="T2" fmla="*/ 29 w 85"/>
                  <a:gd name="T3" fmla="*/ 6 h 78"/>
                  <a:gd name="T4" fmla="*/ 32 w 85"/>
                  <a:gd name="T5" fmla="*/ 9 h 78"/>
                  <a:gd name="T6" fmla="*/ 48 w 85"/>
                  <a:gd name="T7" fmla="*/ 15 h 78"/>
                  <a:gd name="T8" fmla="*/ 68 w 85"/>
                  <a:gd name="T9" fmla="*/ 21 h 78"/>
                  <a:gd name="T10" fmla="*/ 82 w 85"/>
                  <a:gd name="T11" fmla="*/ 31 h 78"/>
                  <a:gd name="T12" fmla="*/ 85 w 85"/>
                  <a:gd name="T13" fmla="*/ 46 h 78"/>
                  <a:gd name="T14" fmla="*/ 78 w 85"/>
                  <a:gd name="T15" fmla="*/ 61 h 78"/>
                  <a:gd name="T16" fmla="*/ 65 w 85"/>
                  <a:gd name="T17" fmla="*/ 73 h 78"/>
                  <a:gd name="T18" fmla="*/ 49 w 85"/>
                  <a:gd name="T19" fmla="*/ 78 h 78"/>
                  <a:gd name="T20" fmla="*/ 31 w 85"/>
                  <a:gd name="T21" fmla="*/ 78 h 78"/>
                  <a:gd name="T22" fmla="*/ 16 w 85"/>
                  <a:gd name="T23" fmla="*/ 72 h 78"/>
                  <a:gd name="T24" fmla="*/ 5 w 85"/>
                  <a:gd name="T25" fmla="*/ 63 h 78"/>
                  <a:gd name="T26" fmla="*/ 0 w 85"/>
                  <a:gd name="T27" fmla="*/ 52 h 78"/>
                  <a:gd name="T28" fmla="*/ 3 w 85"/>
                  <a:gd name="T29" fmla="*/ 36 h 78"/>
                  <a:gd name="T30" fmla="*/ 16 w 85"/>
                  <a:gd name="T31" fmla="*/ 18 h 78"/>
                  <a:gd name="T32" fmla="*/ 31 w 85"/>
                  <a:gd name="T33" fmla="*/ 3 h 78"/>
                  <a:gd name="T34" fmla="*/ 34 w 85"/>
                  <a:gd name="T35" fmla="*/ 0 h 78"/>
                  <a:gd name="T36" fmla="*/ 32 w 85"/>
                  <a:gd name="T37" fmla="*/ 2 h 78"/>
                  <a:gd name="T38" fmla="*/ 33 w 85"/>
                  <a:gd name="T39" fmla="*/ 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5" h="78">
                    <a:moveTo>
                      <a:pt x="32" y="2"/>
                    </a:moveTo>
                    <a:lnTo>
                      <a:pt x="29" y="6"/>
                    </a:lnTo>
                    <a:lnTo>
                      <a:pt x="32" y="9"/>
                    </a:lnTo>
                    <a:lnTo>
                      <a:pt x="48" y="15"/>
                    </a:lnTo>
                    <a:lnTo>
                      <a:pt x="68" y="21"/>
                    </a:lnTo>
                    <a:lnTo>
                      <a:pt x="82" y="31"/>
                    </a:lnTo>
                    <a:lnTo>
                      <a:pt x="85" y="46"/>
                    </a:lnTo>
                    <a:lnTo>
                      <a:pt x="78" y="61"/>
                    </a:lnTo>
                    <a:lnTo>
                      <a:pt x="65" y="73"/>
                    </a:lnTo>
                    <a:lnTo>
                      <a:pt x="49" y="78"/>
                    </a:lnTo>
                    <a:lnTo>
                      <a:pt x="31" y="78"/>
                    </a:lnTo>
                    <a:lnTo>
                      <a:pt x="16" y="72"/>
                    </a:lnTo>
                    <a:lnTo>
                      <a:pt x="5" y="63"/>
                    </a:lnTo>
                    <a:lnTo>
                      <a:pt x="0" y="52"/>
                    </a:lnTo>
                    <a:lnTo>
                      <a:pt x="3" y="36"/>
                    </a:lnTo>
                    <a:lnTo>
                      <a:pt x="16" y="18"/>
                    </a:lnTo>
                    <a:lnTo>
                      <a:pt x="31" y="3"/>
                    </a:lnTo>
                    <a:lnTo>
                      <a:pt x="34" y="0"/>
                    </a:lnTo>
                    <a:lnTo>
                      <a:pt x="32" y="2"/>
                    </a:lnTo>
                    <a:lnTo>
                      <a:pt x="33" y="2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2" name="Freeform 189"/>
              <p:cNvSpPr>
                <a:spLocks noChangeAspect="1" noChangeArrowheads="1"/>
              </p:cNvSpPr>
              <p:nvPr/>
            </p:nvSpPr>
            <p:spPr bwMode="auto">
              <a:xfrm>
                <a:off x="4825" y="1318"/>
                <a:ext cx="36" cy="24"/>
              </a:xfrm>
              <a:custGeom>
                <a:avLst/>
                <a:gdLst>
                  <a:gd name="T0" fmla="*/ 46 w 98"/>
                  <a:gd name="T1" fmla="*/ 11 h 72"/>
                  <a:gd name="T2" fmla="*/ 43 w 98"/>
                  <a:gd name="T3" fmla="*/ 12 h 72"/>
                  <a:gd name="T4" fmla="*/ 48 w 98"/>
                  <a:gd name="T5" fmla="*/ 10 h 72"/>
                  <a:gd name="T6" fmla="*/ 70 w 98"/>
                  <a:gd name="T7" fmla="*/ 2 h 72"/>
                  <a:gd name="T8" fmla="*/ 90 w 98"/>
                  <a:gd name="T9" fmla="*/ 0 h 72"/>
                  <a:gd name="T10" fmla="*/ 98 w 98"/>
                  <a:gd name="T11" fmla="*/ 11 h 72"/>
                  <a:gd name="T12" fmla="*/ 95 w 98"/>
                  <a:gd name="T13" fmla="*/ 27 h 72"/>
                  <a:gd name="T14" fmla="*/ 84 w 98"/>
                  <a:gd name="T15" fmla="*/ 46 h 72"/>
                  <a:gd name="T16" fmla="*/ 69 w 98"/>
                  <a:gd name="T17" fmla="*/ 63 h 72"/>
                  <a:gd name="T18" fmla="*/ 50 w 98"/>
                  <a:gd name="T19" fmla="*/ 72 h 72"/>
                  <a:gd name="T20" fmla="*/ 33 w 98"/>
                  <a:gd name="T21" fmla="*/ 72 h 72"/>
                  <a:gd name="T22" fmla="*/ 18 w 98"/>
                  <a:gd name="T23" fmla="*/ 64 h 72"/>
                  <a:gd name="T24" fmla="*/ 6 w 98"/>
                  <a:gd name="T25" fmla="*/ 51 h 72"/>
                  <a:gd name="T26" fmla="*/ 0 w 98"/>
                  <a:gd name="T27" fmla="*/ 36 h 72"/>
                  <a:gd name="T28" fmla="*/ 2 w 98"/>
                  <a:gd name="T29" fmla="*/ 21 h 72"/>
                  <a:gd name="T30" fmla="*/ 17 w 98"/>
                  <a:gd name="T31" fmla="*/ 10 h 72"/>
                  <a:gd name="T32" fmla="*/ 40 w 98"/>
                  <a:gd name="T33" fmla="*/ 7 h 72"/>
                  <a:gd name="T34" fmla="*/ 47 w 98"/>
                  <a:gd name="T35" fmla="*/ 9 h 72"/>
                  <a:gd name="T36" fmla="*/ 46 w 98"/>
                  <a:gd name="T37" fmla="*/ 11 h 72"/>
                  <a:gd name="T38" fmla="*/ 47 w 98"/>
                  <a:gd name="T39" fmla="*/ 1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8" h="72">
                    <a:moveTo>
                      <a:pt x="46" y="11"/>
                    </a:moveTo>
                    <a:lnTo>
                      <a:pt x="43" y="12"/>
                    </a:lnTo>
                    <a:lnTo>
                      <a:pt x="48" y="10"/>
                    </a:lnTo>
                    <a:lnTo>
                      <a:pt x="70" y="2"/>
                    </a:lnTo>
                    <a:lnTo>
                      <a:pt x="90" y="0"/>
                    </a:lnTo>
                    <a:lnTo>
                      <a:pt x="98" y="11"/>
                    </a:lnTo>
                    <a:lnTo>
                      <a:pt x="95" y="27"/>
                    </a:lnTo>
                    <a:lnTo>
                      <a:pt x="84" y="46"/>
                    </a:lnTo>
                    <a:lnTo>
                      <a:pt x="69" y="63"/>
                    </a:lnTo>
                    <a:lnTo>
                      <a:pt x="50" y="72"/>
                    </a:lnTo>
                    <a:lnTo>
                      <a:pt x="33" y="72"/>
                    </a:lnTo>
                    <a:lnTo>
                      <a:pt x="18" y="64"/>
                    </a:lnTo>
                    <a:lnTo>
                      <a:pt x="6" y="51"/>
                    </a:lnTo>
                    <a:lnTo>
                      <a:pt x="0" y="36"/>
                    </a:lnTo>
                    <a:lnTo>
                      <a:pt x="2" y="21"/>
                    </a:lnTo>
                    <a:lnTo>
                      <a:pt x="17" y="10"/>
                    </a:lnTo>
                    <a:lnTo>
                      <a:pt x="40" y="7"/>
                    </a:lnTo>
                    <a:lnTo>
                      <a:pt x="47" y="9"/>
                    </a:lnTo>
                    <a:lnTo>
                      <a:pt x="46" y="11"/>
                    </a:lnTo>
                    <a:lnTo>
                      <a:pt x="47" y="11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3" name="Freeform 190"/>
              <p:cNvSpPr>
                <a:spLocks noChangeAspect="1" noChangeArrowheads="1"/>
              </p:cNvSpPr>
              <p:nvPr/>
            </p:nvSpPr>
            <p:spPr bwMode="auto">
              <a:xfrm>
                <a:off x="4907" y="1405"/>
                <a:ext cx="30" cy="30"/>
              </a:xfrm>
              <a:custGeom>
                <a:avLst/>
                <a:gdLst>
                  <a:gd name="T0" fmla="*/ 32 w 89"/>
                  <a:gd name="T1" fmla="*/ 33 h 83"/>
                  <a:gd name="T2" fmla="*/ 28 w 89"/>
                  <a:gd name="T3" fmla="*/ 35 h 83"/>
                  <a:gd name="T4" fmla="*/ 30 w 89"/>
                  <a:gd name="T5" fmla="*/ 32 h 83"/>
                  <a:gd name="T6" fmla="*/ 44 w 89"/>
                  <a:gd name="T7" fmla="*/ 19 h 83"/>
                  <a:gd name="T8" fmla="*/ 64 w 89"/>
                  <a:gd name="T9" fmla="*/ 5 h 83"/>
                  <a:gd name="T10" fmla="*/ 81 w 89"/>
                  <a:gd name="T11" fmla="*/ 0 h 83"/>
                  <a:gd name="T12" fmla="*/ 89 w 89"/>
                  <a:gd name="T13" fmla="*/ 9 h 83"/>
                  <a:gd name="T14" fmla="*/ 89 w 89"/>
                  <a:gd name="T15" fmla="*/ 27 h 83"/>
                  <a:gd name="T16" fmla="*/ 83 w 89"/>
                  <a:gd name="T17" fmla="*/ 49 h 83"/>
                  <a:gd name="T18" fmla="*/ 72 w 89"/>
                  <a:gd name="T19" fmla="*/ 68 h 83"/>
                  <a:gd name="T20" fmla="*/ 56 w 89"/>
                  <a:gd name="T21" fmla="*/ 80 h 83"/>
                  <a:gd name="T22" fmla="*/ 40 w 89"/>
                  <a:gd name="T23" fmla="*/ 83 h 83"/>
                  <a:gd name="T24" fmla="*/ 24 w 89"/>
                  <a:gd name="T25" fmla="*/ 79 h 83"/>
                  <a:gd name="T26" fmla="*/ 9 w 89"/>
                  <a:gd name="T27" fmla="*/ 68 h 83"/>
                  <a:gd name="T28" fmla="*/ 0 w 89"/>
                  <a:gd name="T29" fmla="*/ 51 h 83"/>
                  <a:gd name="T30" fmla="*/ 1 w 89"/>
                  <a:gd name="T31" fmla="*/ 34 h 83"/>
                  <a:gd name="T32" fmla="*/ 8 w 89"/>
                  <a:gd name="T33" fmla="*/ 29 h 83"/>
                  <a:gd name="T34" fmla="*/ 21 w 89"/>
                  <a:gd name="T35" fmla="*/ 28 h 83"/>
                  <a:gd name="T36" fmla="*/ 31 w 89"/>
                  <a:gd name="T37" fmla="*/ 30 h 83"/>
                  <a:gd name="T38" fmla="*/ 32 w 89"/>
                  <a:gd name="T39" fmla="*/ 33 h 83"/>
                  <a:gd name="T40" fmla="*/ 33 w 89"/>
                  <a:gd name="T41" fmla="*/ 3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9" h="83">
                    <a:moveTo>
                      <a:pt x="32" y="33"/>
                    </a:moveTo>
                    <a:lnTo>
                      <a:pt x="28" y="35"/>
                    </a:lnTo>
                    <a:lnTo>
                      <a:pt x="30" y="32"/>
                    </a:lnTo>
                    <a:lnTo>
                      <a:pt x="44" y="19"/>
                    </a:lnTo>
                    <a:lnTo>
                      <a:pt x="64" y="5"/>
                    </a:lnTo>
                    <a:lnTo>
                      <a:pt x="81" y="0"/>
                    </a:lnTo>
                    <a:lnTo>
                      <a:pt x="89" y="9"/>
                    </a:lnTo>
                    <a:lnTo>
                      <a:pt x="89" y="27"/>
                    </a:lnTo>
                    <a:lnTo>
                      <a:pt x="83" y="49"/>
                    </a:lnTo>
                    <a:lnTo>
                      <a:pt x="72" y="68"/>
                    </a:lnTo>
                    <a:lnTo>
                      <a:pt x="56" y="80"/>
                    </a:lnTo>
                    <a:lnTo>
                      <a:pt x="40" y="83"/>
                    </a:lnTo>
                    <a:lnTo>
                      <a:pt x="24" y="79"/>
                    </a:lnTo>
                    <a:lnTo>
                      <a:pt x="9" y="68"/>
                    </a:lnTo>
                    <a:lnTo>
                      <a:pt x="0" y="51"/>
                    </a:lnTo>
                    <a:lnTo>
                      <a:pt x="1" y="34"/>
                    </a:lnTo>
                    <a:lnTo>
                      <a:pt x="8" y="29"/>
                    </a:lnTo>
                    <a:lnTo>
                      <a:pt x="21" y="28"/>
                    </a:lnTo>
                    <a:lnTo>
                      <a:pt x="31" y="30"/>
                    </a:lnTo>
                    <a:lnTo>
                      <a:pt x="32" y="33"/>
                    </a:lnTo>
                    <a:lnTo>
                      <a:pt x="33" y="3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4" name="Freeform 191"/>
              <p:cNvSpPr>
                <a:spLocks noChangeAspect="1" noChangeArrowheads="1"/>
              </p:cNvSpPr>
              <p:nvPr/>
            </p:nvSpPr>
            <p:spPr bwMode="auto">
              <a:xfrm>
                <a:off x="4888" y="1518"/>
                <a:ext cx="27" cy="32"/>
              </a:xfrm>
              <a:custGeom>
                <a:avLst/>
                <a:gdLst>
                  <a:gd name="T0" fmla="*/ 3 w 74"/>
                  <a:gd name="T1" fmla="*/ 28 h 96"/>
                  <a:gd name="T2" fmla="*/ 3 w 74"/>
                  <a:gd name="T3" fmla="*/ 31 h 96"/>
                  <a:gd name="T4" fmla="*/ 7 w 74"/>
                  <a:gd name="T5" fmla="*/ 27 h 96"/>
                  <a:gd name="T6" fmla="*/ 23 w 74"/>
                  <a:gd name="T7" fmla="*/ 11 h 96"/>
                  <a:gd name="T8" fmla="*/ 41 w 74"/>
                  <a:gd name="T9" fmla="*/ 0 h 96"/>
                  <a:gd name="T10" fmla="*/ 56 w 74"/>
                  <a:gd name="T11" fmla="*/ 3 h 96"/>
                  <a:gd name="T12" fmla="*/ 67 w 74"/>
                  <a:gd name="T13" fmla="*/ 17 h 96"/>
                  <a:gd name="T14" fmla="*/ 74 w 74"/>
                  <a:gd name="T15" fmla="*/ 37 h 96"/>
                  <a:gd name="T16" fmla="*/ 74 w 74"/>
                  <a:gd name="T17" fmla="*/ 59 h 96"/>
                  <a:gd name="T18" fmla="*/ 66 w 74"/>
                  <a:gd name="T19" fmla="*/ 76 h 96"/>
                  <a:gd name="T20" fmla="*/ 53 w 74"/>
                  <a:gd name="T21" fmla="*/ 88 h 96"/>
                  <a:gd name="T22" fmla="*/ 37 w 74"/>
                  <a:gd name="T23" fmla="*/ 95 h 96"/>
                  <a:gd name="T24" fmla="*/ 20 w 74"/>
                  <a:gd name="T25" fmla="*/ 96 h 96"/>
                  <a:gd name="T26" fmla="*/ 7 w 74"/>
                  <a:gd name="T27" fmla="*/ 89 h 96"/>
                  <a:gd name="T28" fmla="*/ 0 w 74"/>
                  <a:gd name="T29" fmla="*/ 76 h 96"/>
                  <a:gd name="T30" fmla="*/ 0 w 74"/>
                  <a:gd name="T31" fmla="*/ 54 h 96"/>
                  <a:gd name="T32" fmla="*/ 3 w 74"/>
                  <a:gd name="T33" fmla="*/ 30 h 96"/>
                  <a:gd name="T34" fmla="*/ 4 w 74"/>
                  <a:gd name="T35" fmla="*/ 25 h 96"/>
                  <a:gd name="T36" fmla="*/ 3 w 74"/>
                  <a:gd name="T37" fmla="*/ 28 h 96"/>
                  <a:gd name="T38" fmla="*/ 4 w 74"/>
                  <a:gd name="T39" fmla="*/ 28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" h="96">
                    <a:moveTo>
                      <a:pt x="3" y="28"/>
                    </a:moveTo>
                    <a:lnTo>
                      <a:pt x="3" y="31"/>
                    </a:lnTo>
                    <a:lnTo>
                      <a:pt x="7" y="27"/>
                    </a:lnTo>
                    <a:lnTo>
                      <a:pt x="23" y="11"/>
                    </a:lnTo>
                    <a:lnTo>
                      <a:pt x="41" y="0"/>
                    </a:lnTo>
                    <a:lnTo>
                      <a:pt x="56" y="3"/>
                    </a:lnTo>
                    <a:lnTo>
                      <a:pt x="67" y="17"/>
                    </a:lnTo>
                    <a:lnTo>
                      <a:pt x="74" y="37"/>
                    </a:lnTo>
                    <a:lnTo>
                      <a:pt x="74" y="59"/>
                    </a:lnTo>
                    <a:lnTo>
                      <a:pt x="66" y="76"/>
                    </a:lnTo>
                    <a:lnTo>
                      <a:pt x="53" y="88"/>
                    </a:lnTo>
                    <a:lnTo>
                      <a:pt x="37" y="95"/>
                    </a:lnTo>
                    <a:lnTo>
                      <a:pt x="20" y="96"/>
                    </a:lnTo>
                    <a:lnTo>
                      <a:pt x="7" y="89"/>
                    </a:lnTo>
                    <a:lnTo>
                      <a:pt x="0" y="76"/>
                    </a:lnTo>
                    <a:lnTo>
                      <a:pt x="0" y="54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3" y="28"/>
                    </a:lnTo>
                    <a:lnTo>
                      <a:pt x="4" y="2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5" name="Freeform 192"/>
              <p:cNvSpPr>
                <a:spLocks noChangeAspect="1" noChangeArrowheads="1"/>
              </p:cNvSpPr>
              <p:nvPr/>
            </p:nvSpPr>
            <p:spPr bwMode="auto">
              <a:xfrm>
                <a:off x="4759" y="1509"/>
                <a:ext cx="28" cy="25"/>
              </a:xfrm>
              <a:custGeom>
                <a:avLst/>
                <a:gdLst>
                  <a:gd name="T0" fmla="*/ 20 w 79"/>
                  <a:gd name="T1" fmla="*/ 11 h 74"/>
                  <a:gd name="T2" fmla="*/ 19 w 79"/>
                  <a:gd name="T3" fmla="*/ 14 h 74"/>
                  <a:gd name="T4" fmla="*/ 23 w 79"/>
                  <a:gd name="T5" fmla="*/ 12 h 74"/>
                  <a:gd name="T6" fmla="*/ 41 w 79"/>
                  <a:gd name="T7" fmla="*/ 3 h 74"/>
                  <a:gd name="T8" fmla="*/ 60 w 79"/>
                  <a:gd name="T9" fmla="*/ 0 h 74"/>
                  <a:gd name="T10" fmla="*/ 74 w 79"/>
                  <a:gd name="T11" fmla="*/ 10 h 74"/>
                  <a:gd name="T12" fmla="*/ 79 w 79"/>
                  <a:gd name="T13" fmla="*/ 30 h 74"/>
                  <a:gd name="T14" fmla="*/ 79 w 79"/>
                  <a:gd name="T15" fmla="*/ 51 h 74"/>
                  <a:gd name="T16" fmla="*/ 75 w 79"/>
                  <a:gd name="T17" fmla="*/ 68 h 74"/>
                  <a:gd name="T18" fmla="*/ 68 w 79"/>
                  <a:gd name="T19" fmla="*/ 74 h 74"/>
                  <a:gd name="T20" fmla="*/ 59 w 79"/>
                  <a:gd name="T21" fmla="*/ 64 h 74"/>
                  <a:gd name="T22" fmla="*/ 46 w 79"/>
                  <a:gd name="T23" fmla="*/ 54 h 74"/>
                  <a:gd name="T24" fmla="*/ 9 w 79"/>
                  <a:gd name="T25" fmla="*/ 54 h 74"/>
                  <a:gd name="T26" fmla="*/ 0 w 79"/>
                  <a:gd name="T27" fmla="*/ 49 h 74"/>
                  <a:gd name="T28" fmla="*/ 6 w 79"/>
                  <a:gd name="T29" fmla="*/ 33 h 74"/>
                  <a:gd name="T30" fmla="*/ 18 w 79"/>
                  <a:gd name="T31" fmla="*/ 14 h 74"/>
                  <a:gd name="T32" fmla="*/ 21 w 79"/>
                  <a:gd name="T33" fmla="*/ 10 h 74"/>
                  <a:gd name="T34" fmla="*/ 20 w 79"/>
                  <a:gd name="T35" fmla="*/ 11 h 74"/>
                  <a:gd name="T36" fmla="*/ 21 w 79"/>
                  <a:gd name="T37" fmla="*/ 1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9" h="74">
                    <a:moveTo>
                      <a:pt x="20" y="11"/>
                    </a:moveTo>
                    <a:lnTo>
                      <a:pt x="19" y="14"/>
                    </a:lnTo>
                    <a:lnTo>
                      <a:pt x="23" y="12"/>
                    </a:lnTo>
                    <a:lnTo>
                      <a:pt x="41" y="3"/>
                    </a:lnTo>
                    <a:lnTo>
                      <a:pt x="60" y="0"/>
                    </a:lnTo>
                    <a:lnTo>
                      <a:pt x="74" y="10"/>
                    </a:lnTo>
                    <a:lnTo>
                      <a:pt x="79" y="30"/>
                    </a:lnTo>
                    <a:lnTo>
                      <a:pt x="79" y="51"/>
                    </a:lnTo>
                    <a:lnTo>
                      <a:pt x="75" y="68"/>
                    </a:lnTo>
                    <a:lnTo>
                      <a:pt x="68" y="74"/>
                    </a:lnTo>
                    <a:lnTo>
                      <a:pt x="59" y="64"/>
                    </a:lnTo>
                    <a:lnTo>
                      <a:pt x="46" y="54"/>
                    </a:lnTo>
                    <a:lnTo>
                      <a:pt x="9" y="54"/>
                    </a:lnTo>
                    <a:lnTo>
                      <a:pt x="0" y="49"/>
                    </a:lnTo>
                    <a:lnTo>
                      <a:pt x="6" y="33"/>
                    </a:lnTo>
                    <a:lnTo>
                      <a:pt x="18" y="14"/>
                    </a:lnTo>
                    <a:lnTo>
                      <a:pt x="21" y="10"/>
                    </a:lnTo>
                    <a:lnTo>
                      <a:pt x="20" y="11"/>
                    </a:lnTo>
                    <a:lnTo>
                      <a:pt x="21" y="11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6" name="Freeform 193"/>
              <p:cNvSpPr>
                <a:spLocks noChangeAspect="1" noChangeArrowheads="1"/>
              </p:cNvSpPr>
              <p:nvPr/>
            </p:nvSpPr>
            <p:spPr bwMode="auto">
              <a:xfrm>
                <a:off x="4825" y="1468"/>
                <a:ext cx="25" cy="25"/>
              </a:xfrm>
              <a:custGeom>
                <a:avLst/>
                <a:gdLst>
                  <a:gd name="T0" fmla="*/ 4 w 74"/>
                  <a:gd name="T1" fmla="*/ 4 h 71"/>
                  <a:gd name="T2" fmla="*/ 7 w 74"/>
                  <a:gd name="T3" fmla="*/ 11 h 71"/>
                  <a:gd name="T4" fmla="*/ 23 w 74"/>
                  <a:gd name="T5" fmla="*/ 10 h 71"/>
                  <a:gd name="T6" fmla="*/ 42 w 74"/>
                  <a:gd name="T7" fmla="*/ 7 h 71"/>
                  <a:gd name="T8" fmla="*/ 60 w 74"/>
                  <a:gd name="T9" fmla="*/ 9 h 71"/>
                  <a:gd name="T10" fmla="*/ 71 w 74"/>
                  <a:gd name="T11" fmla="*/ 18 h 71"/>
                  <a:gd name="T12" fmla="*/ 74 w 74"/>
                  <a:gd name="T13" fmla="*/ 33 h 71"/>
                  <a:gd name="T14" fmla="*/ 70 w 74"/>
                  <a:gd name="T15" fmla="*/ 48 h 71"/>
                  <a:gd name="T16" fmla="*/ 59 w 74"/>
                  <a:gd name="T17" fmla="*/ 60 h 71"/>
                  <a:gd name="T18" fmla="*/ 29 w 74"/>
                  <a:gd name="T19" fmla="*/ 71 h 71"/>
                  <a:gd name="T20" fmla="*/ 14 w 74"/>
                  <a:gd name="T21" fmla="*/ 69 h 71"/>
                  <a:gd name="T22" fmla="*/ 5 w 74"/>
                  <a:gd name="T23" fmla="*/ 62 h 71"/>
                  <a:gd name="T24" fmla="*/ 0 w 74"/>
                  <a:gd name="T25" fmla="*/ 47 h 71"/>
                  <a:gd name="T26" fmla="*/ 1 w 74"/>
                  <a:gd name="T27" fmla="*/ 25 h 71"/>
                  <a:gd name="T28" fmla="*/ 4 w 74"/>
                  <a:gd name="T29" fmla="*/ 5 h 71"/>
                  <a:gd name="T30" fmla="*/ 5 w 74"/>
                  <a:gd name="T31" fmla="*/ 0 h 71"/>
                  <a:gd name="T32" fmla="*/ 4 w 74"/>
                  <a:gd name="T33" fmla="*/ 4 h 71"/>
                  <a:gd name="T34" fmla="*/ 5 w 74"/>
                  <a:gd name="T35" fmla="*/ 4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4" h="71">
                    <a:moveTo>
                      <a:pt x="4" y="4"/>
                    </a:moveTo>
                    <a:lnTo>
                      <a:pt x="7" y="11"/>
                    </a:lnTo>
                    <a:lnTo>
                      <a:pt x="23" y="10"/>
                    </a:lnTo>
                    <a:lnTo>
                      <a:pt x="42" y="7"/>
                    </a:lnTo>
                    <a:lnTo>
                      <a:pt x="60" y="9"/>
                    </a:lnTo>
                    <a:lnTo>
                      <a:pt x="71" y="18"/>
                    </a:lnTo>
                    <a:lnTo>
                      <a:pt x="74" y="33"/>
                    </a:lnTo>
                    <a:lnTo>
                      <a:pt x="70" y="48"/>
                    </a:lnTo>
                    <a:lnTo>
                      <a:pt x="59" y="60"/>
                    </a:lnTo>
                    <a:lnTo>
                      <a:pt x="29" y="71"/>
                    </a:lnTo>
                    <a:lnTo>
                      <a:pt x="14" y="69"/>
                    </a:lnTo>
                    <a:lnTo>
                      <a:pt x="5" y="62"/>
                    </a:lnTo>
                    <a:lnTo>
                      <a:pt x="0" y="47"/>
                    </a:lnTo>
                    <a:lnTo>
                      <a:pt x="1" y="25"/>
                    </a:lnTo>
                    <a:lnTo>
                      <a:pt x="4" y="5"/>
                    </a:lnTo>
                    <a:lnTo>
                      <a:pt x="5" y="0"/>
                    </a:lnTo>
                    <a:lnTo>
                      <a:pt x="4" y="4"/>
                    </a:lnTo>
                    <a:lnTo>
                      <a:pt x="5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7" name="Freeform 194"/>
              <p:cNvSpPr>
                <a:spLocks noChangeAspect="1" noChangeArrowheads="1"/>
              </p:cNvSpPr>
              <p:nvPr/>
            </p:nvSpPr>
            <p:spPr bwMode="auto">
              <a:xfrm>
                <a:off x="4765" y="1414"/>
                <a:ext cx="27" cy="27"/>
              </a:xfrm>
              <a:custGeom>
                <a:avLst/>
                <a:gdLst>
                  <a:gd name="T0" fmla="*/ 67 w 78"/>
                  <a:gd name="T1" fmla="*/ 58 h 78"/>
                  <a:gd name="T2" fmla="*/ 67 w 78"/>
                  <a:gd name="T3" fmla="*/ 55 h 78"/>
                  <a:gd name="T4" fmla="*/ 63 w 78"/>
                  <a:gd name="T5" fmla="*/ 58 h 78"/>
                  <a:gd name="T6" fmla="*/ 46 w 78"/>
                  <a:gd name="T7" fmla="*/ 70 h 78"/>
                  <a:gd name="T8" fmla="*/ 27 w 78"/>
                  <a:gd name="T9" fmla="*/ 78 h 78"/>
                  <a:gd name="T10" fmla="*/ 13 w 78"/>
                  <a:gd name="T11" fmla="*/ 74 h 78"/>
                  <a:gd name="T12" fmla="*/ 5 w 78"/>
                  <a:gd name="T13" fmla="*/ 59 h 78"/>
                  <a:gd name="T14" fmla="*/ 0 w 78"/>
                  <a:gd name="T15" fmla="*/ 40 h 78"/>
                  <a:gd name="T16" fmla="*/ 2 w 78"/>
                  <a:gd name="T17" fmla="*/ 21 h 78"/>
                  <a:gd name="T18" fmla="*/ 9 w 78"/>
                  <a:gd name="T19" fmla="*/ 6 h 78"/>
                  <a:gd name="T20" fmla="*/ 19 w 78"/>
                  <a:gd name="T21" fmla="*/ 0 h 78"/>
                  <a:gd name="T22" fmla="*/ 33 w 78"/>
                  <a:gd name="T23" fmla="*/ 1 h 78"/>
                  <a:gd name="T24" fmla="*/ 66 w 78"/>
                  <a:gd name="T25" fmla="*/ 9 h 78"/>
                  <a:gd name="T26" fmla="*/ 78 w 78"/>
                  <a:gd name="T27" fmla="*/ 18 h 78"/>
                  <a:gd name="T28" fmla="*/ 77 w 78"/>
                  <a:gd name="T29" fmla="*/ 36 h 78"/>
                  <a:gd name="T30" fmla="*/ 68 w 78"/>
                  <a:gd name="T31" fmla="*/ 56 h 78"/>
                  <a:gd name="T32" fmla="*/ 66 w 78"/>
                  <a:gd name="T33" fmla="*/ 60 h 78"/>
                  <a:gd name="T34" fmla="*/ 67 w 78"/>
                  <a:gd name="T35" fmla="*/ 58 h 78"/>
                  <a:gd name="T36" fmla="*/ 68 w 78"/>
                  <a:gd name="T37" fmla="*/ 5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8" h="78">
                    <a:moveTo>
                      <a:pt x="67" y="58"/>
                    </a:moveTo>
                    <a:lnTo>
                      <a:pt x="67" y="55"/>
                    </a:lnTo>
                    <a:lnTo>
                      <a:pt x="63" y="58"/>
                    </a:lnTo>
                    <a:lnTo>
                      <a:pt x="46" y="70"/>
                    </a:lnTo>
                    <a:lnTo>
                      <a:pt x="27" y="78"/>
                    </a:lnTo>
                    <a:lnTo>
                      <a:pt x="13" y="74"/>
                    </a:lnTo>
                    <a:lnTo>
                      <a:pt x="5" y="59"/>
                    </a:lnTo>
                    <a:lnTo>
                      <a:pt x="0" y="40"/>
                    </a:lnTo>
                    <a:lnTo>
                      <a:pt x="2" y="21"/>
                    </a:lnTo>
                    <a:lnTo>
                      <a:pt x="9" y="6"/>
                    </a:lnTo>
                    <a:lnTo>
                      <a:pt x="19" y="0"/>
                    </a:lnTo>
                    <a:lnTo>
                      <a:pt x="33" y="1"/>
                    </a:lnTo>
                    <a:lnTo>
                      <a:pt x="66" y="9"/>
                    </a:lnTo>
                    <a:lnTo>
                      <a:pt x="78" y="18"/>
                    </a:lnTo>
                    <a:lnTo>
                      <a:pt x="77" y="36"/>
                    </a:lnTo>
                    <a:lnTo>
                      <a:pt x="68" y="56"/>
                    </a:lnTo>
                    <a:lnTo>
                      <a:pt x="66" y="60"/>
                    </a:lnTo>
                    <a:lnTo>
                      <a:pt x="67" y="58"/>
                    </a:lnTo>
                    <a:lnTo>
                      <a:pt x="68" y="5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8" name="Freeform 195"/>
              <p:cNvSpPr>
                <a:spLocks noChangeAspect="1" noChangeArrowheads="1"/>
              </p:cNvSpPr>
              <p:nvPr/>
            </p:nvSpPr>
            <p:spPr bwMode="auto">
              <a:xfrm>
                <a:off x="4814" y="1556"/>
                <a:ext cx="27" cy="30"/>
              </a:xfrm>
              <a:custGeom>
                <a:avLst/>
                <a:gdLst>
                  <a:gd name="T0" fmla="*/ 45 w 83"/>
                  <a:gd name="T1" fmla="*/ 1 h 81"/>
                  <a:gd name="T2" fmla="*/ 43 w 83"/>
                  <a:gd name="T3" fmla="*/ 4 h 81"/>
                  <a:gd name="T4" fmla="*/ 46 w 83"/>
                  <a:gd name="T5" fmla="*/ 8 h 81"/>
                  <a:gd name="T6" fmla="*/ 64 w 83"/>
                  <a:gd name="T7" fmla="*/ 17 h 81"/>
                  <a:gd name="T8" fmla="*/ 78 w 83"/>
                  <a:gd name="T9" fmla="*/ 31 h 81"/>
                  <a:gd name="T10" fmla="*/ 83 w 83"/>
                  <a:gd name="T11" fmla="*/ 46 h 81"/>
                  <a:gd name="T12" fmla="*/ 78 w 83"/>
                  <a:gd name="T13" fmla="*/ 61 h 81"/>
                  <a:gd name="T14" fmla="*/ 67 w 83"/>
                  <a:gd name="T15" fmla="*/ 74 h 81"/>
                  <a:gd name="T16" fmla="*/ 52 w 83"/>
                  <a:gd name="T17" fmla="*/ 81 h 81"/>
                  <a:gd name="T18" fmla="*/ 36 w 83"/>
                  <a:gd name="T19" fmla="*/ 80 h 81"/>
                  <a:gd name="T20" fmla="*/ 9 w 83"/>
                  <a:gd name="T21" fmla="*/ 62 h 81"/>
                  <a:gd name="T22" fmla="*/ 1 w 83"/>
                  <a:gd name="T23" fmla="*/ 50 h 81"/>
                  <a:gd name="T24" fmla="*/ 0 w 83"/>
                  <a:gd name="T25" fmla="*/ 38 h 81"/>
                  <a:gd name="T26" fmla="*/ 9 w 83"/>
                  <a:gd name="T27" fmla="*/ 24 h 81"/>
                  <a:gd name="T28" fmla="*/ 27 w 83"/>
                  <a:gd name="T29" fmla="*/ 12 h 81"/>
                  <a:gd name="T30" fmla="*/ 45 w 83"/>
                  <a:gd name="T31" fmla="*/ 2 h 81"/>
                  <a:gd name="T32" fmla="*/ 48 w 83"/>
                  <a:gd name="T33" fmla="*/ 0 h 81"/>
                  <a:gd name="T34" fmla="*/ 45 w 83"/>
                  <a:gd name="T35" fmla="*/ 1 h 81"/>
                  <a:gd name="T36" fmla="*/ 46 w 83"/>
                  <a:gd name="T37" fmla="*/ 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3" h="81">
                    <a:moveTo>
                      <a:pt x="45" y="1"/>
                    </a:moveTo>
                    <a:lnTo>
                      <a:pt x="43" y="4"/>
                    </a:lnTo>
                    <a:lnTo>
                      <a:pt x="46" y="8"/>
                    </a:lnTo>
                    <a:lnTo>
                      <a:pt x="64" y="17"/>
                    </a:lnTo>
                    <a:lnTo>
                      <a:pt x="78" y="31"/>
                    </a:lnTo>
                    <a:lnTo>
                      <a:pt x="83" y="46"/>
                    </a:lnTo>
                    <a:lnTo>
                      <a:pt x="78" y="61"/>
                    </a:lnTo>
                    <a:lnTo>
                      <a:pt x="67" y="74"/>
                    </a:lnTo>
                    <a:lnTo>
                      <a:pt x="52" y="81"/>
                    </a:lnTo>
                    <a:lnTo>
                      <a:pt x="36" y="80"/>
                    </a:lnTo>
                    <a:lnTo>
                      <a:pt x="9" y="62"/>
                    </a:lnTo>
                    <a:lnTo>
                      <a:pt x="1" y="50"/>
                    </a:lnTo>
                    <a:lnTo>
                      <a:pt x="0" y="38"/>
                    </a:lnTo>
                    <a:lnTo>
                      <a:pt x="9" y="24"/>
                    </a:lnTo>
                    <a:lnTo>
                      <a:pt x="27" y="12"/>
                    </a:lnTo>
                    <a:lnTo>
                      <a:pt x="45" y="2"/>
                    </a:lnTo>
                    <a:lnTo>
                      <a:pt x="48" y="0"/>
                    </a:lnTo>
                    <a:lnTo>
                      <a:pt x="45" y="1"/>
                    </a:lnTo>
                    <a:lnTo>
                      <a:pt x="46" y="1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9" name="Freeform 196"/>
              <p:cNvSpPr>
                <a:spLocks noChangeAspect="1" noChangeArrowheads="1"/>
              </p:cNvSpPr>
              <p:nvPr/>
            </p:nvSpPr>
            <p:spPr bwMode="auto">
              <a:xfrm>
                <a:off x="5005" y="1523"/>
                <a:ext cx="25" cy="27"/>
              </a:xfrm>
              <a:custGeom>
                <a:avLst/>
                <a:gdLst>
                  <a:gd name="T0" fmla="*/ 49 w 72"/>
                  <a:gd name="T1" fmla="*/ 8 h 76"/>
                  <a:gd name="T2" fmla="*/ 46 w 72"/>
                  <a:gd name="T3" fmla="*/ 7 h 76"/>
                  <a:gd name="T4" fmla="*/ 48 w 72"/>
                  <a:gd name="T5" fmla="*/ 11 h 76"/>
                  <a:gd name="T6" fmla="*/ 62 w 72"/>
                  <a:gd name="T7" fmla="*/ 26 h 76"/>
                  <a:gd name="T8" fmla="*/ 72 w 72"/>
                  <a:gd name="T9" fmla="*/ 44 h 76"/>
                  <a:gd name="T10" fmla="*/ 68 w 72"/>
                  <a:gd name="T11" fmla="*/ 59 h 76"/>
                  <a:gd name="T12" fmla="*/ 53 w 72"/>
                  <a:gd name="T13" fmla="*/ 69 h 76"/>
                  <a:gd name="T14" fmla="*/ 34 w 72"/>
                  <a:gd name="T15" fmla="*/ 75 h 76"/>
                  <a:gd name="T16" fmla="*/ 16 w 72"/>
                  <a:gd name="T17" fmla="*/ 76 h 76"/>
                  <a:gd name="T18" fmla="*/ 3 w 72"/>
                  <a:gd name="T19" fmla="*/ 71 h 76"/>
                  <a:gd name="T20" fmla="*/ 0 w 72"/>
                  <a:gd name="T21" fmla="*/ 61 h 76"/>
                  <a:gd name="T22" fmla="*/ 4 w 72"/>
                  <a:gd name="T23" fmla="*/ 47 h 76"/>
                  <a:gd name="T24" fmla="*/ 4 w 72"/>
                  <a:gd name="T25" fmla="*/ 11 h 76"/>
                  <a:gd name="T26" fmla="*/ 8 w 72"/>
                  <a:gd name="T27" fmla="*/ 0 h 76"/>
                  <a:gd name="T28" fmla="*/ 26 w 72"/>
                  <a:gd name="T29" fmla="*/ 0 h 76"/>
                  <a:gd name="T30" fmla="*/ 46 w 72"/>
                  <a:gd name="T31" fmla="*/ 7 h 76"/>
                  <a:gd name="T32" fmla="*/ 51 w 72"/>
                  <a:gd name="T33" fmla="*/ 8 h 76"/>
                  <a:gd name="T34" fmla="*/ 49 w 72"/>
                  <a:gd name="T35" fmla="*/ 8 h 76"/>
                  <a:gd name="T36" fmla="*/ 50 w 72"/>
                  <a:gd name="T37" fmla="*/ 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2" h="76">
                    <a:moveTo>
                      <a:pt x="49" y="8"/>
                    </a:moveTo>
                    <a:lnTo>
                      <a:pt x="46" y="7"/>
                    </a:lnTo>
                    <a:lnTo>
                      <a:pt x="48" y="11"/>
                    </a:lnTo>
                    <a:lnTo>
                      <a:pt x="62" y="26"/>
                    </a:lnTo>
                    <a:lnTo>
                      <a:pt x="72" y="44"/>
                    </a:lnTo>
                    <a:lnTo>
                      <a:pt x="68" y="59"/>
                    </a:lnTo>
                    <a:lnTo>
                      <a:pt x="53" y="69"/>
                    </a:lnTo>
                    <a:lnTo>
                      <a:pt x="34" y="75"/>
                    </a:lnTo>
                    <a:lnTo>
                      <a:pt x="16" y="76"/>
                    </a:lnTo>
                    <a:lnTo>
                      <a:pt x="3" y="71"/>
                    </a:lnTo>
                    <a:lnTo>
                      <a:pt x="0" y="61"/>
                    </a:lnTo>
                    <a:lnTo>
                      <a:pt x="4" y="47"/>
                    </a:lnTo>
                    <a:lnTo>
                      <a:pt x="4" y="11"/>
                    </a:lnTo>
                    <a:lnTo>
                      <a:pt x="8" y="0"/>
                    </a:lnTo>
                    <a:lnTo>
                      <a:pt x="26" y="0"/>
                    </a:lnTo>
                    <a:lnTo>
                      <a:pt x="46" y="7"/>
                    </a:lnTo>
                    <a:lnTo>
                      <a:pt x="51" y="8"/>
                    </a:lnTo>
                    <a:lnTo>
                      <a:pt x="49" y="8"/>
                    </a:lnTo>
                    <a:lnTo>
                      <a:pt x="50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0" name="Freeform 197"/>
              <p:cNvSpPr>
                <a:spLocks noChangeAspect="1" noChangeArrowheads="1"/>
              </p:cNvSpPr>
              <p:nvPr/>
            </p:nvSpPr>
            <p:spPr bwMode="auto">
              <a:xfrm>
                <a:off x="4921" y="1455"/>
                <a:ext cx="32" cy="24"/>
              </a:xfrm>
              <a:custGeom>
                <a:avLst/>
                <a:gdLst>
                  <a:gd name="T0" fmla="*/ 34 w 102"/>
                  <a:gd name="T1" fmla="*/ 43 h 71"/>
                  <a:gd name="T2" fmla="*/ 34 w 102"/>
                  <a:gd name="T3" fmla="*/ 44 h 71"/>
                  <a:gd name="T4" fmla="*/ 24 w 102"/>
                  <a:gd name="T5" fmla="*/ 43 h 71"/>
                  <a:gd name="T6" fmla="*/ 3 w 102"/>
                  <a:gd name="T7" fmla="*/ 35 h 71"/>
                  <a:gd name="T8" fmla="*/ 0 w 102"/>
                  <a:gd name="T9" fmla="*/ 25 h 71"/>
                  <a:gd name="T10" fmla="*/ 12 w 102"/>
                  <a:gd name="T11" fmla="*/ 14 h 71"/>
                  <a:gd name="T12" fmla="*/ 34 w 102"/>
                  <a:gd name="T13" fmla="*/ 4 h 71"/>
                  <a:gd name="T14" fmla="*/ 58 w 102"/>
                  <a:gd name="T15" fmla="*/ 0 h 71"/>
                  <a:gd name="T16" fmla="*/ 79 w 102"/>
                  <a:gd name="T17" fmla="*/ 2 h 71"/>
                  <a:gd name="T18" fmla="*/ 93 w 102"/>
                  <a:gd name="T19" fmla="*/ 13 h 71"/>
                  <a:gd name="T20" fmla="*/ 101 w 102"/>
                  <a:gd name="T21" fmla="*/ 28 h 71"/>
                  <a:gd name="T22" fmla="*/ 102 w 102"/>
                  <a:gd name="T23" fmla="*/ 46 h 71"/>
                  <a:gd name="T24" fmla="*/ 97 w 102"/>
                  <a:gd name="T25" fmla="*/ 61 h 71"/>
                  <a:gd name="T26" fmla="*/ 86 w 102"/>
                  <a:gd name="T27" fmla="*/ 71 h 71"/>
                  <a:gd name="T28" fmla="*/ 67 w 102"/>
                  <a:gd name="T29" fmla="*/ 71 h 71"/>
                  <a:gd name="T30" fmla="*/ 46 w 102"/>
                  <a:gd name="T31" fmla="*/ 60 h 71"/>
                  <a:gd name="T32" fmla="*/ 31 w 102"/>
                  <a:gd name="T33" fmla="*/ 47 h 71"/>
                  <a:gd name="T34" fmla="*/ 30 w 102"/>
                  <a:gd name="T35" fmla="*/ 43 h 71"/>
                  <a:gd name="T36" fmla="*/ 34 w 102"/>
                  <a:gd name="T37" fmla="*/ 43 h 71"/>
                  <a:gd name="T38" fmla="*/ 35 w 102"/>
                  <a:gd name="T39" fmla="*/ 4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2" h="71">
                    <a:moveTo>
                      <a:pt x="34" y="43"/>
                    </a:moveTo>
                    <a:lnTo>
                      <a:pt x="34" y="44"/>
                    </a:lnTo>
                    <a:lnTo>
                      <a:pt x="24" y="43"/>
                    </a:lnTo>
                    <a:lnTo>
                      <a:pt x="3" y="35"/>
                    </a:lnTo>
                    <a:lnTo>
                      <a:pt x="0" y="25"/>
                    </a:lnTo>
                    <a:lnTo>
                      <a:pt x="12" y="14"/>
                    </a:lnTo>
                    <a:lnTo>
                      <a:pt x="34" y="4"/>
                    </a:lnTo>
                    <a:lnTo>
                      <a:pt x="58" y="0"/>
                    </a:lnTo>
                    <a:lnTo>
                      <a:pt x="79" y="2"/>
                    </a:lnTo>
                    <a:lnTo>
                      <a:pt x="93" y="13"/>
                    </a:lnTo>
                    <a:lnTo>
                      <a:pt x="101" y="28"/>
                    </a:lnTo>
                    <a:lnTo>
                      <a:pt x="102" y="46"/>
                    </a:lnTo>
                    <a:lnTo>
                      <a:pt x="97" y="61"/>
                    </a:lnTo>
                    <a:lnTo>
                      <a:pt x="86" y="71"/>
                    </a:lnTo>
                    <a:lnTo>
                      <a:pt x="67" y="71"/>
                    </a:lnTo>
                    <a:lnTo>
                      <a:pt x="46" y="60"/>
                    </a:lnTo>
                    <a:lnTo>
                      <a:pt x="31" y="47"/>
                    </a:lnTo>
                    <a:lnTo>
                      <a:pt x="30" y="43"/>
                    </a:lnTo>
                    <a:lnTo>
                      <a:pt x="34" y="43"/>
                    </a:lnTo>
                    <a:lnTo>
                      <a:pt x="35" y="4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1" name="Freeform 198"/>
              <p:cNvSpPr>
                <a:spLocks noChangeAspect="1" noChangeArrowheads="1"/>
              </p:cNvSpPr>
              <p:nvPr/>
            </p:nvSpPr>
            <p:spPr bwMode="auto">
              <a:xfrm>
                <a:off x="5085" y="1375"/>
                <a:ext cx="27" cy="36"/>
              </a:xfrm>
              <a:custGeom>
                <a:avLst/>
                <a:gdLst>
                  <a:gd name="T0" fmla="*/ 77 w 78"/>
                  <a:gd name="T1" fmla="*/ 59 h 99"/>
                  <a:gd name="T2" fmla="*/ 76 w 78"/>
                  <a:gd name="T3" fmla="*/ 56 h 99"/>
                  <a:gd name="T4" fmla="*/ 73 w 78"/>
                  <a:gd name="T5" fmla="*/ 61 h 99"/>
                  <a:gd name="T6" fmla="*/ 63 w 78"/>
                  <a:gd name="T7" fmla="*/ 82 h 99"/>
                  <a:gd name="T8" fmla="*/ 50 w 78"/>
                  <a:gd name="T9" fmla="*/ 98 h 99"/>
                  <a:gd name="T10" fmla="*/ 34 w 78"/>
                  <a:gd name="T11" fmla="*/ 99 h 99"/>
                  <a:gd name="T12" fmla="*/ 18 w 78"/>
                  <a:gd name="T13" fmla="*/ 89 h 99"/>
                  <a:gd name="T14" fmla="*/ 7 w 78"/>
                  <a:gd name="T15" fmla="*/ 71 h 99"/>
                  <a:gd name="T16" fmla="*/ 0 w 78"/>
                  <a:gd name="T17" fmla="*/ 51 h 99"/>
                  <a:gd name="T18" fmla="*/ 2 w 78"/>
                  <a:gd name="T19" fmla="*/ 32 h 99"/>
                  <a:gd name="T20" fmla="*/ 11 w 78"/>
                  <a:gd name="T21" fmla="*/ 16 h 99"/>
                  <a:gd name="T22" fmla="*/ 25 w 78"/>
                  <a:gd name="T23" fmla="*/ 5 h 99"/>
                  <a:gd name="T24" fmla="*/ 40 w 78"/>
                  <a:gd name="T25" fmla="*/ 0 h 99"/>
                  <a:gd name="T26" fmla="*/ 54 w 78"/>
                  <a:gd name="T27" fmla="*/ 2 h 99"/>
                  <a:gd name="T28" fmla="*/ 65 w 78"/>
                  <a:gd name="T29" fmla="*/ 12 h 99"/>
                  <a:gd name="T30" fmla="*/ 73 w 78"/>
                  <a:gd name="T31" fmla="*/ 34 h 99"/>
                  <a:gd name="T32" fmla="*/ 77 w 78"/>
                  <a:gd name="T33" fmla="*/ 56 h 99"/>
                  <a:gd name="T34" fmla="*/ 77 w 78"/>
                  <a:gd name="T35" fmla="*/ 62 h 99"/>
                  <a:gd name="T36" fmla="*/ 77 w 78"/>
                  <a:gd name="T37" fmla="*/ 59 h 99"/>
                  <a:gd name="T38" fmla="*/ 78 w 78"/>
                  <a:gd name="T39" fmla="*/ 5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8" h="99">
                    <a:moveTo>
                      <a:pt x="77" y="59"/>
                    </a:moveTo>
                    <a:lnTo>
                      <a:pt x="76" y="56"/>
                    </a:lnTo>
                    <a:lnTo>
                      <a:pt x="73" y="61"/>
                    </a:lnTo>
                    <a:lnTo>
                      <a:pt x="63" y="82"/>
                    </a:lnTo>
                    <a:lnTo>
                      <a:pt x="50" y="98"/>
                    </a:lnTo>
                    <a:lnTo>
                      <a:pt x="34" y="99"/>
                    </a:lnTo>
                    <a:lnTo>
                      <a:pt x="18" y="89"/>
                    </a:lnTo>
                    <a:lnTo>
                      <a:pt x="7" y="71"/>
                    </a:lnTo>
                    <a:lnTo>
                      <a:pt x="0" y="51"/>
                    </a:lnTo>
                    <a:lnTo>
                      <a:pt x="2" y="32"/>
                    </a:lnTo>
                    <a:lnTo>
                      <a:pt x="11" y="16"/>
                    </a:lnTo>
                    <a:lnTo>
                      <a:pt x="25" y="5"/>
                    </a:lnTo>
                    <a:lnTo>
                      <a:pt x="40" y="0"/>
                    </a:lnTo>
                    <a:lnTo>
                      <a:pt x="54" y="2"/>
                    </a:lnTo>
                    <a:lnTo>
                      <a:pt x="65" y="12"/>
                    </a:lnTo>
                    <a:lnTo>
                      <a:pt x="73" y="34"/>
                    </a:lnTo>
                    <a:lnTo>
                      <a:pt x="77" y="56"/>
                    </a:lnTo>
                    <a:lnTo>
                      <a:pt x="77" y="62"/>
                    </a:lnTo>
                    <a:lnTo>
                      <a:pt x="77" y="59"/>
                    </a:lnTo>
                    <a:lnTo>
                      <a:pt x="78" y="5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2" name="Freeform 199"/>
              <p:cNvSpPr>
                <a:spLocks noChangeAspect="1" noChangeArrowheads="1"/>
              </p:cNvSpPr>
              <p:nvPr/>
            </p:nvSpPr>
            <p:spPr bwMode="auto">
              <a:xfrm>
                <a:off x="4984" y="1337"/>
                <a:ext cx="24" cy="33"/>
              </a:xfrm>
              <a:custGeom>
                <a:avLst/>
                <a:gdLst>
                  <a:gd name="T0" fmla="*/ 4 w 74"/>
                  <a:gd name="T1" fmla="*/ 28 h 96"/>
                  <a:gd name="T2" fmla="*/ 4 w 74"/>
                  <a:gd name="T3" fmla="*/ 31 h 96"/>
                  <a:gd name="T4" fmla="*/ 8 w 74"/>
                  <a:gd name="T5" fmla="*/ 28 h 96"/>
                  <a:gd name="T6" fmla="*/ 23 w 74"/>
                  <a:gd name="T7" fmla="*/ 11 h 96"/>
                  <a:gd name="T8" fmla="*/ 42 w 74"/>
                  <a:gd name="T9" fmla="*/ 0 h 96"/>
                  <a:gd name="T10" fmla="*/ 57 w 74"/>
                  <a:gd name="T11" fmla="*/ 3 h 96"/>
                  <a:gd name="T12" fmla="*/ 68 w 74"/>
                  <a:gd name="T13" fmla="*/ 17 h 96"/>
                  <a:gd name="T14" fmla="*/ 74 w 74"/>
                  <a:gd name="T15" fmla="*/ 37 h 96"/>
                  <a:gd name="T16" fmla="*/ 74 w 74"/>
                  <a:gd name="T17" fmla="*/ 59 h 96"/>
                  <a:gd name="T18" fmla="*/ 67 w 74"/>
                  <a:gd name="T19" fmla="*/ 77 h 96"/>
                  <a:gd name="T20" fmla="*/ 54 w 74"/>
                  <a:gd name="T21" fmla="*/ 88 h 96"/>
                  <a:gd name="T22" fmla="*/ 38 w 74"/>
                  <a:gd name="T23" fmla="*/ 96 h 96"/>
                  <a:gd name="T24" fmla="*/ 21 w 74"/>
                  <a:gd name="T25" fmla="*/ 96 h 96"/>
                  <a:gd name="T26" fmla="*/ 8 w 74"/>
                  <a:gd name="T27" fmla="*/ 89 h 96"/>
                  <a:gd name="T28" fmla="*/ 1 w 74"/>
                  <a:gd name="T29" fmla="*/ 77 h 96"/>
                  <a:gd name="T30" fmla="*/ 0 w 74"/>
                  <a:gd name="T31" fmla="*/ 54 h 96"/>
                  <a:gd name="T32" fmla="*/ 4 w 74"/>
                  <a:gd name="T33" fmla="*/ 31 h 96"/>
                  <a:gd name="T34" fmla="*/ 5 w 74"/>
                  <a:gd name="T35" fmla="*/ 26 h 96"/>
                  <a:gd name="T36" fmla="*/ 4 w 74"/>
                  <a:gd name="T37" fmla="*/ 28 h 96"/>
                  <a:gd name="T38" fmla="*/ 5 w 74"/>
                  <a:gd name="T39" fmla="*/ 28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" h="96">
                    <a:moveTo>
                      <a:pt x="4" y="28"/>
                    </a:moveTo>
                    <a:lnTo>
                      <a:pt x="4" y="31"/>
                    </a:lnTo>
                    <a:lnTo>
                      <a:pt x="8" y="28"/>
                    </a:lnTo>
                    <a:lnTo>
                      <a:pt x="23" y="11"/>
                    </a:lnTo>
                    <a:lnTo>
                      <a:pt x="42" y="0"/>
                    </a:lnTo>
                    <a:lnTo>
                      <a:pt x="57" y="3"/>
                    </a:lnTo>
                    <a:lnTo>
                      <a:pt x="68" y="17"/>
                    </a:lnTo>
                    <a:lnTo>
                      <a:pt x="74" y="37"/>
                    </a:lnTo>
                    <a:lnTo>
                      <a:pt x="74" y="59"/>
                    </a:lnTo>
                    <a:lnTo>
                      <a:pt x="67" y="77"/>
                    </a:lnTo>
                    <a:lnTo>
                      <a:pt x="54" y="88"/>
                    </a:lnTo>
                    <a:lnTo>
                      <a:pt x="38" y="96"/>
                    </a:lnTo>
                    <a:lnTo>
                      <a:pt x="21" y="96"/>
                    </a:lnTo>
                    <a:lnTo>
                      <a:pt x="8" y="89"/>
                    </a:lnTo>
                    <a:lnTo>
                      <a:pt x="1" y="77"/>
                    </a:lnTo>
                    <a:lnTo>
                      <a:pt x="0" y="54"/>
                    </a:lnTo>
                    <a:lnTo>
                      <a:pt x="4" y="31"/>
                    </a:lnTo>
                    <a:lnTo>
                      <a:pt x="5" y="26"/>
                    </a:lnTo>
                    <a:lnTo>
                      <a:pt x="4" y="28"/>
                    </a:lnTo>
                    <a:lnTo>
                      <a:pt x="5" y="2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3" name="Freeform 200"/>
              <p:cNvSpPr>
                <a:spLocks noChangeAspect="1" noChangeArrowheads="1"/>
              </p:cNvSpPr>
              <p:nvPr/>
            </p:nvSpPr>
            <p:spPr bwMode="auto">
              <a:xfrm>
                <a:off x="4923" y="1326"/>
                <a:ext cx="36" cy="25"/>
              </a:xfrm>
              <a:custGeom>
                <a:avLst/>
                <a:gdLst>
                  <a:gd name="T0" fmla="*/ 68 w 103"/>
                  <a:gd name="T1" fmla="*/ 13 h 68"/>
                  <a:gd name="T2" fmla="*/ 68 w 103"/>
                  <a:gd name="T3" fmla="*/ 12 h 68"/>
                  <a:gd name="T4" fmla="*/ 77 w 103"/>
                  <a:gd name="T5" fmla="*/ 8 h 68"/>
                  <a:gd name="T6" fmla="*/ 97 w 103"/>
                  <a:gd name="T7" fmla="*/ 4 h 68"/>
                  <a:gd name="T8" fmla="*/ 103 w 103"/>
                  <a:gd name="T9" fmla="*/ 13 h 68"/>
                  <a:gd name="T10" fmla="*/ 95 w 103"/>
                  <a:gd name="T11" fmla="*/ 30 h 68"/>
                  <a:gd name="T12" fmla="*/ 79 w 103"/>
                  <a:gd name="T13" fmla="*/ 48 h 68"/>
                  <a:gd name="T14" fmla="*/ 58 w 103"/>
                  <a:gd name="T15" fmla="*/ 63 h 68"/>
                  <a:gd name="T16" fmla="*/ 39 w 103"/>
                  <a:gd name="T17" fmla="*/ 68 h 68"/>
                  <a:gd name="T18" fmla="*/ 22 w 103"/>
                  <a:gd name="T19" fmla="*/ 63 h 68"/>
                  <a:gd name="T20" fmla="*/ 8 w 103"/>
                  <a:gd name="T21" fmla="*/ 52 h 68"/>
                  <a:gd name="T22" fmla="*/ 1 w 103"/>
                  <a:gd name="T23" fmla="*/ 36 h 68"/>
                  <a:gd name="T24" fmla="*/ 0 w 103"/>
                  <a:gd name="T25" fmla="*/ 19 h 68"/>
                  <a:gd name="T26" fmla="*/ 8 w 103"/>
                  <a:gd name="T27" fmla="*/ 6 h 68"/>
                  <a:gd name="T28" fmla="*/ 26 w 103"/>
                  <a:gd name="T29" fmla="*/ 0 h 68"/>
                  <a:gd name="T30" fmla="*/ 50 w 103"/>
                  <a:gd name="T31" fmla="*/ 2 h 68"/>
                  <a:gd name="T32" fmla="*/ 69 w 103"/>
                  <a:gd name="T33" fmla="*/ 8 h 68"/>
                  <a:gd name="T34" fmla="*/ 72 w 103"/>
                  <a:gd name="T35" fmla="*/ 11 h 68"/>
                  <a:gd name="T36" fmla="*/ 68 w 103"/>
                  <a:gd name="T37" fmla="*/ 13 h 68"/>
                  <a:gd name="T38" fmla="*/ 69 w 103"/>
                  <a:gd name="T39" fmla="*/ 1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3" h="68">
                    <a:moveTo>
                      <a:pt x="68" y="13"/>
                    </a:moveTo>
                    <a:lnTo>
                      <a:pt x="68" y="12"/>
                    </a:lnTo>
                    <a:lnTo>
                      <a:pt x="77" y="8"/>
                    </a:lnTo>
                    <a:lnTo>
                      <a:pt x="97" y="4"/>
                    </a:lnTo>
                    <a:lnTo>
                      <a:pt x="103" y="13"/>
                    </a:lnTo>
                    <a:lnTo>
                      <a:pt x="95" y="30"/>
                    </a:lnTo>
                    <a:lnTo>
                      <a:pt x="79" y="48"/>
                    </a:lnTo>
                    <a:lnTo>
                      <a:pt x="58" y="63"/>
                    </a:lnTo>
                    <a:lnTo>
                      <a:pt x="39" y="68"/>
                    </a:lnTo>
                    <a:lnTo>
                      <a:pt x="22" y="63"/>
                    </a:lnTo>
                    <a:lnTo>
                      <a:pt x="8" y="52"/>
                    </a:lnTo>
                    <a:lnTo>
                      <a:pt x="1" y="36"/>
                    </a:lnTo>
                    <a:lnTo>
                      <a:pt x="0" y="19"/>
                    </a:lnTo>
                    <a:lnTo>
                      <a:pt x="8" y="6"/>
                    </a:lnTo>
                    <a:lnTo>
                      <a:pt x="26" y="0"/>
                    </a:lnTo>
                    <a:lnTo>
                      <a:pt x="50" y="2"/>
                    </a:lnTo>
                    <a:lnTo>
                      <a:pt x="69" y="8"/>
                    </a:lnTo>
                    <a:lnTo>
                      <a:pt x="72" y="11"/>
                    </a:lnTo>
                    <a:lnTo>
                      <a:pt x="68" y="13"/>
                    </a:lnTo>
                    <a:lnTo>
                      <a:pt x="69" y="1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4" name="Freeform 201"/>
              <p:cNvSpPr>
                <a:spLocks noChangeAspect="1" noChangeArrowheads="1"/>
              </p:cNvSpPr>
              <p:nvPr/>
            </p:nvSpPr>
            <p:spPr bwMode="auto">
              <a:xfrm>
                <a:off x="5033" y="1455"/>
                <a:ext cx="33" cy="24"/>
              </a:xfrm>
              <a:custGeom>
                <a:avLst/>
                <a:gdLst>
                  <a:gd name="T0" fmla="*/ 48 w 97"/>
                  <a:gd name="T1" fmla="*/ 21 h 69"/>
                  <a:gd name="T2" fmla="*/ 45 w 97"/>
                  <a:gd name="T3" fmla="*/ 21 h 69"/>
                  <a:gd name="T4" fmla="*/ 49 w 97"/>
                  <a:gd name="T5" fmla="*/ 18 h 69"/>
                  <a:gd name="T6" fmla="*/ 68 w 97"/>
                  <a:gd name="T7" fmla="*/ 6 h 69"/>
                  <a:gd name="T8" fmla="*/ 89 w 97"/>
                  <a:gd name="T9" fmla="*/ 0 h 69"/>
                  <a:gd name="T10" fmla="*/ 97 w 97"/>
                  <a:gd name="T11" fmla="*/ 6 h 69"/>
                  <a:gd name="T12" fmla="*/ 94 w 97"/>
                  <a:gd name="T13" fmla="*/ 22 h 69"/>
                  <a:gd name="T14" fmla="*/ 82 w 97"/>
                  <a:gd name="T15" fmla="*/ 42 h 69"/>
                  <a:gd name="T16" fmla="*/ 65 w 97"/>
                  <a:gd name="T17" fmla="*/ 59 h 69"/>
                  <a:gd name="T18" fmla="*/ 47 w 97"/>
                  <a:gd name="T19" fmla="*/ 69 h 69"/>
                  <a:gd name="T20" fmla="*/ 28 w 97"/>
                  <a:gd name="T21" fmla="*/ 68 h 69"/>
                  <a:gd name="T22" fmla="*/ 14 w 97"/>
                  <a:gd name="T23" fmla="*/ 59 h 69"/>
                  <a:gd name="T24" fmla="*/ 3 w 97"/>
                  <a:gd name="T25" fmla="*/ 44 h 69"/>
                  <a:gd name="T26" fmla="*/ 0 w 97"/>
                  <a:gd name="T27" fmla="*/ 26 h 69"/>
                  <a:gd name="T28" fmla="*/ 5 w 97"/>
                  <a:gd name="T29" fmla="*/ 10 h 69"/>
                  <a:gd name="T30" fmla="*/ 12 w 97"/>
                  <a:gd name="T31" fmla="*/ 6 h 69"/>
                  <a:gd name="T32" fmla="*/ 22 w 97"/>
                  <a:gd name="T33" fmla="*/ 5 h 69"/>
                  <a:gd name="T34" fmla="*/ 45 w 97"/>
                  <a:gd name="T35" fmla="*/ 13 h 69"/>
                  <a:gd name="T36" fmla="*/ 50 w 97"/>
                  <a:gd name="T37" fmla="*/ 18 h 69"/>
                  <a:gd name="T38" fmla="*/ 48 w 97"/>
                  <a:gd name="T39" fmla="*/ 21 h 69"/>
                  <a:gd name="T40" fmla="*/ 49 w 97"/>
                  <a:gd name="T41" fmla="*/ 2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7" h="69">
                    <a:moveTo>
                      <a:pt x="48" y="21"/>
                    </a:moveTo>
                    <a:lnTo>
                      <a:pt x="45" y="21"/>
                    </a:lnTo>
                    <a:lnTo>
                      <a:pt x="49" y="18"/>
                    </a:lnTo>
                    <a:lnTo>
                      <a:pt x="68" y="6"/>
                    </a:lnTo>
                    <a:lnTo>
                      <a:pt x="89" y="0"/>
                    </a:lnTo>
                    <a:lnTo>
                      <a:pt x="97" y="6"/>
                    </a:lnTo>
                    <a:lnTo>
                      <a:pt x="94" y="22"/>
                    </a:lnTo>
                    <a:lnTo>
                      <a:pt x="82" y="42"/>
                    </a:lnTo>
                    <a:lnTo>
                      <a:pt x="65" y="59"/>
                    </a:lnTo>
                    <a:lnTo>
                      <a:pt x="47" y="69"/>
                    </a:lnTo>
                    <a:lnTo>
                      <a:pt x="28" y="68"/>
                    </a:lnTo>
                    <a:lnTo>
                      <a:pt x="14" y="59"/>
                    </a:lnTo>
                    <a:lnTo>
                      <a:pt x="3" y="44"/>
                    </a:lnTo>
                    <a:lnTo>
                      <a:pt x="0" y="26"/>
                    </a:lnTo>
                    <a:lnTo>
                      <a:pt x="5" y="10"/>
                    </a:lnTo>
                    <a:lnTo>
                      <a:pt x="12" y="6"/>
                    </a:lnTo>
                    <a:lnTo>
                      <a:pt x="22" y="5"/>
                    </a:lnTo>
                    <a:lnTo>
                      <a:pt x="45" y="13"/>
                    </a:lnTo>
                    <a:lnTo>
                      <a:pt x="50" y="18"/>
                    </a:lnTo>
                    <a:lnTo>
                      <a:pt x="48" y="21"/>
                    </a:lnTo>
                    <a:lnTo>
                      <a:pt x="49" y="21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5" name="Freeform 202"/>
              <p:cNvSpPr>
                <a:spLocks noChangeAspect="1" noChangeArrowheads="1"/>
              </p:cNvSpPr>
              <p:nvPr/>
            </p:nvSpPr>
            <p:spPr bwMode="auto">
              <a:xfrm>
                <a:off x="5112" y="1556"/>
                <a:ext cx="30" cy="22"/>
              </a:xfrm>
              <a:custGeom>
                <a:avLst/>
                <a:gdLst>
                  <a:gd name="T0" fmla="*/ 50 w 88"/>
                  <a:gd name="T1" fmla="*/ 64 h 66"/>
                  <a:gd name="T2" fmla="*/ 52 w 88"/>
                  <a:gd name="T3" fmla="*/ 62 h 66"/>
                  <a:gd name="T4" fmla="*/ 47 w 88"/>
                  <a:gd name="T5" fmla="*/ 62 h 66"/>
                  <a:gd name="T6" fmla="*/ 27 w 88"/>
                  <a:gd name="T7" fmla="*/ 64 h 66"/>
                  <a:gd name="T8" fmla="*/ 8 w 88"/>
                  <a:gd name="T9" fmla="*/ 62 h 66"/>
                  <a:gd name="T10" fmla="*/ 0 w 88"/>
                  <a:gd name="T11" fmla="*/ 53 h 66"/>
                  <a:gd name="T12" fmla="*/ 4 w 88"/>
                  <a:gd name="T13" fmla="*/ 38 h 66"/>
                  <a:gd name="T14" fmla="*/ 15 w 88"/>
                  <a:gd name="T15" fmla="*/ 21 h 66"/>
                  <a:gd name="T16" fmla="*/ 30 w 88"/>
                  <a:gd name="T17" fmla="*/ 9 h 66"/>
                  <a:gd name="T18" fmla="*/ 47 w 88"/>
                  <a:gd name="T19" fmla="*/ 2 h 66"/>
                  <a:gd name="T20" fmla="*/ 63 w 88"/>
                  <a:gd name="T21" fmla="*/ 0 h 66"/>
                  <a:gd name="T22" fmla="*/ 77 w 88"/>
                  <a:gd name="T23" fmla="*/ 3 h 66"/>
                  <a:gd name="T24" fmla="*/ 85 w 88"/>
                  <a:gd name="T25" fmla="*/ 10 h 66"/>
                  <a:gd name="T26" fmla="*/ 88 w 88"/>
                  <a:gd name="T27" fmla="*/ 21 h 66"/>
                  <a:gd name="T28" fmla="*/ 81 w 88"/>
                  <a:gd name="T29" fmla="*/ 36 h 66"/>
                  <a:gd name="T30" fmla="*/ 65 w 88"/>
                  <a:gd name="T31" fmla="*/ 52 h 66"/>
                  <a:gd name="T32" fmla="*/ 50 w 88"/>
                  <a:gd name="T33" fmla="*/ 64 h 66"/>
                  <a:gd name="T34" fmla="*/ 47 w 88"/>
                  <a:gd name="T35" fmla="*/ 66 h 66"/>
                  <a:gd name="T36" fmla="*/ 50 w 88"/>
                  <a:gd name="T37" fmla="*/ 64 h 66"/>
                  <a:gd name="T38" fmla="*/ 51 w 88"/>
                  <a:gd name="T39" fmla="*/ 6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" h="66">
                    <a:moveTo>
                      <a:pt x="50" y="64"/>
                    </a:moveTo>
                    <a:lnTo>
                      <a:pt x="52" y="62"/>
                    </a:lnTo>
                    <a:lnTo>
                      <a:pt x="47" y="62"/>
                    </a:lnTo>
                    <a:lnTo>
                      <a:pt x="27" y="64"/>
                    </a:lnTo>
                    <a:lnTo>
                      <a:pt x="8" y="62"/>
                    </a:lnTo>
                    <a:lnTo>
                      <a:pt x="0" y="53"/>
                    </a:lnTo>
                    <a:lnTo>
                      <a:pt x="4" y="38"/>
                    </a:lnTo>
                    <a:lnTo>
                      <a:pt x="15" y="21"/>
                    </a:lnTo>
                    <a:lnTo>
                      <a:pt x="30" y="9"/>
                    </a:lnTo>
                    <a:lnTo>
                      <a:pt x="47" y="2"/>
                    </a:lnTo>
                    <a:lnTo>
                      <a:pt x="63" y="0"/>
                    </a:lnTo>
                    <a:lnTo>
                      <a:pt x="77" y="3"/>
                    </a:lnTo>
                    <a:lnTo>
                      <a:pt x="85" y="10"/>
                    </a:lnTo>
                    <a:lnTo>
                      <a:pt x="88" y="21"/>
                    </a:lnTo>
                    <a:lnTo>
                      <a:pt x="81" y="36"/>
                    </a:lnTo>
                    <a:lnTo>
                      <a:pt x="65" y="52"/>
                    </a:lnTo>
                    <a:lnTo>
                      <a:pt x="50" y="64"/>
                    </a:lnTo>
                    <a:lnTo>
                      <a:pt x="47" y="66"/>
                    </a:lnTo>
                    <a:lnTo>
                      <a:pt x="50" y="64"/>
                    </a:lnTo>
                    <a:lnTo>
                      <a:pt x="51" y="6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6" name="Freeform 203"/>
              <p:cNvSpPr>
                <a:spLocks noChangeAspect="1" noChangeArrowheads="1"/>
              </p:cNvSpPr>
              <p:nvPr/>
            </p:nvSpPr>
            <p:spPr bwMode="auto">
              <a:xfrm>
                <a:off x="5118" y="1602"/>
                <a:ext cx="24" cy="33"/>
              </a:xfrm>
              <a:custGeom>
                <a:avLst/>
                <a:gdLst>
                  <a:gd name="T0" fmla="*/ 73 w 75"/>
                  <a:gd name="T1" fmla="*/ 65 h 97"/>
                  <a:gd name="T2" fmla="*/ 73 w 75"/>
                  <a:gd name="T3" fmla="*/ 62 h 97"/>
                  <a:gd name="T4" fmla="*/ 69 w 75"/>
                  <a:gd name="T5" fmla="*/ 66 h 97"/>
                  <a:gd name="T6" fmla="*/ 55 w 75"/>
                  <a:gd name="T7" fmla="*/ 84 h 97"/>
                  <a:gd name="T8" fmla="*/ 37 w 75"/>
                  <a:gd name="T9" fmla="*/ 97 h 97"/>
                  <a:gd name="T10" fmla="*/ 20 w 75"/>
                  <a:gd name="T11" fmla="*/ 95 h 97"/>
                  <a:gd name="T12" fmla="*/ 7 w 75"/>
                  <a:gd name="T13" fmla="*/ 80 h 97"/>
                  <a:gd name="T14" fmla="*/ 0 w 75"/>
                  <a:gd name="T15" fmla="*/ 60 h 97"/>
                  <a:gd name="T16" fmla="*/ 0 w 75"/>
                  <a:gd name="T17" fmla="*/ 39 h 97"/>
                  <a:gd name="T18" fmla="*/ 10 w 75"/>
                  <a:gd name="T19" fmla="*/ 20 h 97"/>
                  <a:gd name="T20" fmla="*/ 27 w 75"/>
                  <a:gd name="T21" fmla="*/ 7 h 97"/>
                  <a:gd name="T22" fmla="*/ 44 w 75"/>
                  <a:gd name="T23" fmla="*/ 0 h 97"/>
                  <a:gd name="T24" fmla="*/ 57 w 75"/>
                  <a:gd name="T25" fmla="*/ 0 h 97"/>
                  <a:gd name="T26" fmla="*/ 60 w 75"/>
                  <a:gd name="T27" fmla="*/ 6 h 97"/>
                  <a:gd name="T28" fmla="*/ 56 w 75"/>
                  <a:gd name="T29" fmla="*/ 19 h 97"/>
                  <a:gd name="T30" fmla="*/ 55 w 75"/>
                  <a:gd name="T31" fmla="*/ 40 h 97"/>
                  <a:gd name="T32" fmla="*/ 64 w 75"/>
                  <a:gd name="T33" fmla="*/ 62 h 97"/>
                  <a:gd name="T34" fmla="*/ 70 w 75"/>
                  <a:gd name="T35" fmla="*/ 68 h 97"/>
                  <a:gd name="T36" fmla="*/ 73 w 75"/>
                  <a:gd name="T37" fmla="*/ 65 h 97"/>
                  <a:gd name="T38" fmla="*/ 75 w 75"/>
                  <a:gd name="T39" fmla="*/ 65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97">
                    <a:moveTo>
                      <a:pt x="73" y="65"/>
                    </a:moveTo>
                    <a:lnTo>
                      <a:pt x="73" y="62"/>
                    </a:lnTo>
                    <a:lnTo>
                      <a:pt x="69" y="66"/>
                    </a:lnTo>
                    <a:lnTo>
                      <a:pt x="55" y="84"/>
                    </a:lnTo>
                    <a:lnTo>
                      <a:pt x="37" y="97"/>
                    </a:lnTo>
                    <a:lnTo>
                      <a:pt x="20" y="95"/>
                    </a:lnTo>
                    <a:lnTo>
                      <a:pt x="7" y="80"/>
                    </a:lnTo>
                    <a:lnTo>
                      <a:pt x="0" y="60"/>
                    </a:lnTo>
                    <a:lnTo>
                      <a:pt x="0" y="39"/>
                    </a:lnTo>
                    <a:lnTo>
                      <a:pt x="10" y="20"/>
                    </a:lnTo>
                    <a:lnTo>
                      <a:pt x="27" y="7"/>
                    </a:lnTo>
                    <a:lnTo>
                      <a:pt x="44" y="0"/>
                    </a:lnTo>
                    <a:lnTo>
                      <a:pt x="57" y="0"/>
                    </a:lnTo>
                    <a:lnTo>
                      <a:pt x="60" y="6"/>
                    </a:lnTo>
                    <a:lnTo>
                      <a:pt x="56" y="19"/>
                    </a:lnTo>
                    <a:lnTo>
                      <a:pt x="55" y="40"/>
                    </a:lnTo>
                    <a:lnTo>
                      <a:pt x="64" y="62"/>
                    </a:lnTo>
                    <a:lnTo>
                      <a:pt x="70" y="68"/>
                    </a:lnTo>
                    <a:lnTo>
                      <a:pt x="73" y="65"/>
                    </a:lnTo>
                    <a:lnTo>
                      <a:pt x="75" y="6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7" name="Freeform 204"/>
              <p:cNvSpPr>
                <a:spLocks noChangeAspect="1" noChangeArrowheads="1"/>
              </p:cNvSpPr>
              <p:nvPr/>
            </p:nvSpPr>
            <p:spPr bwMode="auto">
              <a:xfrm>
                <a:off x="5137" y="1405"/>
                <a:ext cx="30" cy="28"/>
              </a:xfrm>
              <a:custGeom>
                <a:avLst/>
                <a:gdLst>
                  <a:gd name="T0" fmla="*/ 31 w 88"/>
                  <a:gd name="T1" fmla="*/ 2 h 78"/>
                  <a:gd name="T2" fmla="*/ 29 w 88"/>
                  <a:gd name="T3" fmla="*/ 6 h 78"/>
                  <a:gd name="T4" fmla="*/ 32 w 88"/>
                  <a:gd name="T5" fmla="*/ 8 h 78"/>
                  <a:gd name="T6" fmla="*/ 50 w 88"/>
                  <a:gd name="T7" fmla="*/ 10 h 78"/>
                  <a:gd name="T8" fmla="*/ 72 w 88"/>
                  <a:gd name="T9" fmla="*/ 14 h 78"/>
                  <a:gd name="T10" fmla="*/ 86 w 88"/>
                  <a:gd name="T11" fmla="*/ 23 h 78"/>
                  <a:gd name="T12" fmla="*/ 88 w 88"/>
                  <a:gd name="T13" fmla="*/ 40 h 78"/>
                  <a:gd name="T14" fmla="*/ 82 w 88"/>
                  <a:gd name="T15" fmla="*/ 56 h 78"/>
                  <a:gd name="T16" fmla="*/ 69 w 88"/>
                  <a:gd name="T17" fmla="*/ 70 h 78"/>
                  <a:gd name="T18" fmla="*/ 52 w 88"/>
                  <a:gd name="T19" fmla="*/ 77 h 78"/>
                  <a:gd name="T20" fmla="*/ 35 w 88"/>
                  <a:gd name="T21" fmla="*/ 78 h 78"/>
                  <a:gd name="T22" fmla="*/ 19 w 88"/>
                  <a:gd name="T23" fmla="*/ 74 h 78"/>
                  <a:gd name="T24" fmla="*/ 6 w 88"/>
                  <a:gd name="T25" fmla="*/ 65 h 78"/>
                  <a:gd name="T26" fmla="*/ 0 w 88"/>
                  <a:gd name="T27" fmla="*/ 54 h 78"/>
                  <a:gd name="T28" fmla="*/ 1 w 88"/>
                  <a:gd name="T29" fmla="*/ 39 h 78"/>
                  <a:gd name="T30" fmla="*/ 14 w 88"/>
                  <a:gd name="T31" fmla="*/ 20 h 78"/>
                  <a:gd name="T32" fmla="*/ 30 w 88"/>
                  <a:gd name="T33" fmla="*/ 3 h 78"/>
                  <a:gd name="T34" fmla="*/ 33 w 88"/>
                  <a:gd name="T35" fmla="*/ 0 h 78"/>
                  <a:gd name="T36" fmla="*/ 31 w 88"/>
                  <a:gd name="T37" fmla="*/ 2 h 78"/>
                  <a:gd name="T38" fmla="*/ 32 w 88"/>
                  <a:gd name="T39" fmla="*/ 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" h="78">
                    <a:moveTo>
                      <a:pt x="31" y="2"/>
                    </a:moveTo>
                    <a:lnTo>
                      <a:pt x="29" y="6"/>
                    </a:lnTo>
                    <a:lnTo>
                      <a:pt x="32" y="8"/>
                    </a:lnTo>
                    <a:lnTo>
                      <a:pt x="50" y="10"/>
                    </a:lnTo>
                    <a:lnTo>
                      <a:pt x="72" y="14"/>
                    </a:lnTo>
                    <a:lnTo>
                      <a:pt x="86" y="23"/>
                    </a:lnTo>
                    <a:lnTo>
                      <a:pt x="88" y="40"/>
                    </a:lnTo>
                    <a:lnTo>
                      <a:pt x="82" y="56"/>
                    </a:lnTo>
                    <a:lnTo>
                      <a:pt x="69" y="70"/>
                    </a:lnTo>
                    <a:lnTo>
                      <a:pt x="52" y="77"/>
                    </a:lnTo>
                    <a:lnTo>
                      <a:pt x="35" y="78"/>
                    </a:lnTo>
                    <a:lnTo>
                      <a:pt x="19" y="74"/>
                    </a:lnTo>
                    <a:lnTo>
                      <a:pt x="6" y="65"/>
                    </a:lnTo>
                    <a:lnTo>
                      <a:pt x="0" y="54"/>
                    </a:lnTo>
                    <a:lnTo>
                      <a:pt x="1" y="39"/>
                    </a:lnTo>
                    <a:lnTo>
                      <a:pt x="14" y="20"/>
                    </a:lnTo>
                    <a:lnTo>
                      <a:pt x="30" y="3"/>
                    </a:lnTo>
                    <a:lnTo>
                      <a:pt x="33" y="0"/>
                    </a:lnTo>
                    <a:lnTo>
                      <a:pt x="31" y="2"/>
                    </a:lnTo>
                    <a:lnTo>
                      <a:pt x="32" y="2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8" name="Freeform 205"/>
              <p:cNvSpPr>
                <a:spLocks noChangeAspect="1" noChangeArrowheads="1"/>
              </p:cNvSpPr>
              <p:nvPr/>
            </p:nvSpPr>
            <p:spPr bwMode="auto">
              <a:xfrm>
                <a:off x="5139" y="1318"/>
                <a:ext cx="28" cy="30"/>
              </a:xfrm>
              <a:custGeom>
                <a:avLst/>
                <a:gdLst>
                  <a:gd name="T0" fmla="*/ 60 w 83"/>
                  <a:gd name="T1" fmla="*/ 57 h 92"/>
                  <a:gd name="T2" fmla="*/ 60 w 83"/>
                  <a:gd name="T3" fmla="*/ 55 h 92"/>
                  <a:gd name="T4" fmla="*/ 66 w 83"/>
                  <a:gd name="T5" fmla="*/ 61 h 92"/>
                  <a:gd name="T6" fmla="*/ 81 w 83"/>
                  <a:gd name="T7" fmla="*/ 79 h 92"/>
                  <a:gd name="T8" fmla="*/ 83 w 83"/>
                  <a:gd name="T9" fmla="*/ 86 h 92"/>
                  <a:gd name="T10" fmla="*/ 81 w 83"/>
                  <a:gd name="T11" fmla="*/ 90 h 92"/>
                  <a:gd name="T12" fmla="*/ 67 w 83"/>
                  <a:gd name="T13" fmla="*/ 92 h 92"/>
                  <a:gd name="T14" fmla="*/ 44 w 83"/>
                  <a:gd name="T15" fmla="*/ 87 h 92"/>
                  <a:gd name="T16" fmla="*/ 22 w 83"/>
                  <a:gd name="T17" fmla="*/ 76 h 92"/>
                  <a:gd name="T18" fmla="*/ 5 w 83"/>
                  <a:gd name="T19" fmla="*/ 61 h 92"/>
                  <a:gd name="T20" fmla="*/ 0 w 83"/>
                  <a:gd name="T21" fmla="*/ 42 h 92"/>
                  <a:gd name="T22" fmla="*/ 4 w 83"/>
                  <a:gd name="T23" fmla="*/ 26 h 92"/>
                  <a:gd name="T24" fmla="*/ 15 w 83"/>
                  <a:gd name="T25" fmla="*/ 11 h 92"/>
                  <a:gd name="T26" fmla="*/ 29 w 83"/>
                  <a:gd name="T27" fmla="*/ 2 h 92"/>
                  <a:gd name="T28" fmla="*/ 45 w 83"/>
                  <a:gd name="T29" fmla="*/ 0 h 92"/>
                  <a:gd name="T30" fmla="*/ 59 w 83"/>
                  <a:gd name="T31" fmla="*/ 10 h 92"/>
                  <a:gd name="T32" fmla="*/ 65 w 83"/>
                  <a:gd name="T33" fmla="*/ 34 h 92"/>
                  <a:gd name="T34" fmla="*/ 65 w 83"/>
                  <a:gd name="T35" fmla="*/ 55 h 92"/>
                  <a:gd name="T36" fmla="*/ 63 w 83"/>
                  <a:gd name="T37" fmla="*/ 59 h 92"/>
                  <a:gd name="T38" fmla="*/ 60 w 83"/>
                  <a:gd name="T39" fmla="*/ 57 h 92"/>
                  <a:gd name="T40" fmla="*/ 61 w 83"/>
                  <a:gd name="T41" fmla="*/ 57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3" h="92">
                    <a:moveTo>
                      <a:pt x="60" y="57"/>
                    </a:moveTo>
                    <a:lnTo>
                      <a:pt x="60" y="55"/>
                    </a:lnTo>
                    <a:lnTo>
                      <a:pt x="66" y="61"/>
                    </a:lnTo>
                    <a:lnTo>
                      <a:pt x="81" y="79"/>
                    </a:lnTo>
                    <a:lnTo>
                      <a:pt x="83" y="86"/>
                    </a:lnTo>
                    <a:lnTo>
                      <a:pt x="81" y="90"/>
                    </a:lnTo>
                    <a:lnTo>
                      <a:pt x="67" y="92"/>
                    </a:lnTo>
                    <a:lnTo>
                      <a:pt x="44" y="87"/>
                    </a:lnTo>
                    <a:lnTo>
                      <a:pt x="22" y="76"/>
                    </a:lnTo>
                    <a:lnTo>
                      <a:pt x="5" y="61"/>
                    </a:lnTo>
                    <a:lnTo>
                      <a:pt x="0" y="42"/>
                    </a:lnTo>
                    <a:lnTo>
                      <a:pt x="4" y="26"/>
                    </a:lnTo>
                    <a:lnTo>
                      <a:pt x="15" y="11"/>
                    </a:lnTo>
                    <a:lnTo>
                      <a:pt x="29" y="2"/>
                    </a:lnTo>
                    <a:lnTo>
                      <a:pt x="45" y="0"/>
                    </a:lnTo>
                    <a:lnTo>
                      <a:pt x="59" y="10"/>
                    </a:lnTo>
                    <a:lnTo>
                      <a:pt x="65" y="34"/>
                    </a:lnTo>
                    <a:lnTo>
                      <a:pt x="65" y="55"/>
                    </a:lnTo>
                    <a:lnTo>
                      <a:pt x="63" y="59"/>
                    </a:lnTo>
                    <a:lnTo>
                      <a:pt x="60" y="57"/>
                    </a:lnTo>
                    <a:lnTo>
                      <a:pt x="61" y="57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9" name="Freeform 206"/>
              <p:cNvSpPr>
                <a:spLocks noChangeAspect="1" noChangeArrowheads="1"/>
              </p:cNvSpPr>
              <p:nvPr/>
            </p:nvSpPr>
            <p:spPr bwMode="auto">
              <a:xfrm>
                <a:off x="4956" y="1572"/>
                <a:ext cx="25" cy="28"/>
              </a:xfrm>
              <a:custGeom>
                <a:avLst/>
                <a:gdLst>
                  <a:gd name="T0" fmla="*/ 48 w 71"/>
                  <a:gd name="T1" fmla="*/ 9 h 77"/>
                  <a:gd name="T2" fmla="*/ 45 w 71"/>
                  <a:gd name="T3" fmla="*/ 9 h 77"/>
                  <a:gd name="T4" fmla="*/ 48 w 71"/>
                  <a:gd name="T5" fmla="*/ 12 h 77"/>
                  <a:gd name="T6" fmla="*/ 61 w 71"/>
                  <a:gd name="T7" fmla="*/ 27 h 77"/>
                  <a:gd name="T8" fmla="*/ 71 w 71"/>
                  <a:gd name="T9" fmla="*/ 46 h 77"/>
                  <a:gd name="T10" fmla="*/ 67 w 71"/>
                  <a:gd name="T11" fmla="*/ 60 h 77"/>
                  <a:gd name="T12" fmla="*/ 52 w 71"/>
                  <a:gd name="T13" fmla="*/ 70 h 77"/>
                  <a:gd name="T14" fmla="*/ 33 w 71"/>
                  <a:gd name="T15" fmla="*/ 76 h 77"/>
                  <a:gd name="T16" fmla="*/ 15 w 71"/>
                  <a:gd name="T17" fmla="*/ 77 h 77"/>
                  <a:gd name="T18" fmla="*/ 2 w 71"/>
                  <a:gd name="T19" fmla="*/ 73 h 77"/>
                  <a:gd name="T20" fmla="*/ 0 w 71"/>
                  <a:gd name="T21" fmla="*/ 64 h 77"/>
                  <a:gd name="T22" fmla="*/ 5 w 71"/>
                  <a:gd name="T23" fmla="*/ 50 h 77"/>
                  <a:gd name="T24" fmla="*/ 9 w 71"/>
                  <a:gd name="T25" fmla="*/ 34 h 77"/>
                  <a:gd name="T26" fmla="*/ 8 w 71"/>
                  <a:gd name="T27" fmla="*/ 15 h 77"/>
                  <a:gd name="T28" fmla="*/ 8 w 71"/>
                  <a:gd name="T29" fmla="*/ 2 h 77"/>
                  <a:gd name="T30" fmla="*/ 15 w 71"/>
                  <a:gd name="T31" fmla="*/ 0 h 77"/>
                  <a:gd name="T32" fmla="*/ 24 w 71"/>
                  <a:gd name="T33" fmla="*/ 1 h 77"/>
                  <a:gd name="T34" fmla="*/ 45 w 71"/>
                  <a:gd name="T35" fmla="*/ 8 h 77"/>
                  <a:gd name="T36" fmla="*/ 50 w 71"/>
                  <a:gd name="T37" fmla="*/ 10 h 77"/>
                  <a:gd name="T38" fmla="*/ 48 w 71"/>
                  <a:gd name="T39" fmla="*/ 9 h 77"/>
                  <a:gd name="T40" fmla="*/ 49 w 71"/>
                  <a:gd name="T41" fmla="*/ 9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1" h="77">
                    <a:moveTo>
                      <a:pt x="48" y="9"/>
                    </a:moveTo>
                    <a:lnTo>
                      <a:pt x="45" y="9"/>
                    </a:lnTo>
                    <a:lnTo>
                      <a:pt x="48" y="12"/>
                    </a:lnTo>
                    <a:lnTo>
                      <a:pt x="61" y="27"/>
                    </a:lnTo>
                    <a:lnTo>
                      <a:pt x="71" y="46"/>
                    </a:lnTo>
                    <a:lnTo>
                      <a:pt x="67" y="60"/>
                    </a:lnTo>
                    <a:lnTo>
                      <a:pt x="52" y="70"/>
                    </a:lnTo>
                    <a:lnTo>
                      <a:pt x="33" y="76"/>
                    </a:lnTo>
                    <a:lnTo>
                      <a:pt x="15" y="77"/>
                    </a:lnTo>
                    <a:lnTo>
                      <a:pt x="2" y="73"/>
                    </a:lnTo>
                    <a:lnTo>
                      <a:pt x="0" y="64"/>
                    </a:lnTo>
                    <a:lnTo>
                      <a:pt x="5" y="50"/>
                    </a:lnTo>
                    <a:lnTo>
                      <a:pt x="9" y="34"/>
                    </a:lnTo>
                    <a:lnTo>
                      <a:pt x="8" y="15"/>
                    </a:lnTo>
                    <a:lnTo>
                      <a:pt x="8" y="2"/>
                    </a:lnTo>
                    <a:lnTo>
                      <a:pt x="15" y="0"/>
                    </a:lnTo>
                    <a:lnTo>
                      <a:pt x="24" y="1"/>
                    </a:lnTo>
                    <a:lnTo>
                      <a:pt x="45" y="8"/>
                    </a:lnTo>
                    <a:lnTo>
                      <a:pt x="50" y="10"/>
                    </a:lnTo>
                    <a:lnTo>
                      <a:pt x="48" y="9"/>
                    </a:lnTo>
                    <a:lnTo>
                      <a:pt x="49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0" name="Freeform 207"/>
              <p:cNvSpPr>
                <a:spLocks noChangeAspect="1" noChangeArrowheads="1"/>
              </p:cNvSpPr>
              <p:nvPr/>
            </p:nvSpPr>
            <p:spPr bwMode="auto">
              <a:xfrm>
                <a:off x="5134" y="1479"/>
                <a:ext cx="33" cy="25"/>
              </a:xfrm>
              <a:custGeom>
                <a:avLst/>
                <a:gdLst>
                  <a:gd name="T0" fmla="*/ 49 w 96"/>
                  <a:gd name="T1" fmla="*/ 15 h 78"/>
                  <a:gd name="T2" fmla="*/ 46 w 96"/>
                  <a:gd name="T3" fmla="*/ 14 h 78"/>
                  <a:gd name="T4" fmla="*/ 49 w 96"/>
                  <a:gd name="T5" fmla="*/ 15 h 78"/>
                  <a:gd name="T6" fmla="*/ 66 w 96"/>
                  <a:gd name="T7" fmla="*/ 25 h 78"/>
                  <a:gd name="T8" fmla="*/ 87 w 96"/>
                  <a:gd name="T9" fmla="*/ 38 h 78"/>
                  <a:gd name="T10" fmla="*/ 96 w 96"/>
                  <a:gd name="T11" fmla="*/ 52 h 78"/>
                  <a:gd name="T12" fmla="*/ 90 w 96"/>
                  <a:gd name="T13" fmla="*/ 64 h 78"/>
                  <a:gd name="T14" fmla="*/ 74 w 96"/>
                  <a:gd name="T15" fmla="*/ 73 h 78"/>
                  <a:gd name="T16" fmla="*/ 53 w 96"/>
                  <a:gd name="T17" fmla="*/ 78 h 78"/>
                  <a:gd name="T18" fmla="*/ 32 w 96"/>
                  <a:gd name="T19" fmla="*/ 77 h 78"/>
                  <a:gd name="T20" fmla="*/ 14 w 96"/>
                  <a:gd name="T21" fmla="*/ 69 h 78"/>
                  <a:gd name="T22" fmla="*/ 4 w 96"/>
                  <a:gd name="T23" fmla="*/ 55 h 78"/>
                  <a:gd name="T24" fmla="*/ 0 w 96"/>
                  <a:gd name="T25" fmla="*/ 39 h 78"/>
                  <a:gd name="T26" fmla="*/ 2 w 96"/>
                  <a:gd name="T27" fmla="*/ 23 h 78"/>
                  <a:gd name="T28" fmla="*/ 9 w 96"/>
                  <a:gd name="T29" fmla="*/ 7 h 78"/>
                  <a:gd name="T30" fmla="*/ 21 w 96"/>
                  <a:gd name="T31" fmla="*/ 0 h 78"/>
                  <a:gd name="T32" fmla="*/ 42 w 96"/>
                  <a:gd name="T33" fmla="*/ 7 h 78"/>
                  <a:gd name="T34" fmla="*/ 50 w 96"/>
                  <a:gd name="T35" fmla="*/ 14 h 78"/>
                  <a:gd name="T36" fmla="*/ 49 w 96"/>
                  <a:gd name="T37" fmla="*/ 15 h 78"/>
                  <a:gd name="T38" fmla="*/ 50 w 96"/>
                  <a:gd name="T39" fmla="*/ 1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6" h="78">
                    <a:moveTo>
                      <a:pt x="49" y="15"/>
                    </a:moveTo>
                    <a:lnTo>
                      <a:pt x="46" y="14"/>
                    </a:lnTo>
                    <a:lnTo>
                      <a:pt x="49" y="15"/>
                    </a:lnTo>
                    <a:lnTo>
                      <a:pt x="66" y="25"/>
                    </a:lnTo>
                    <a:lnTo>
                      <a:pt x="87" y="38"/>
                    </a:lnTo>
                    <a:lnTo>
                      <a:pt x="96" y="52"/>
                    </a:lnTo>
                    <a:lnTo>
                      <a:pt x="90" y="64"/>
                    </a:lnTo>
                    <a:lnTo>
                      <a:pt x="74" y="73"/>
                    </a:lnTo>
                    <a:lnTo>
                      <a:pt x="53" y="78"/>
                    </a:lnTo>
                    <a:lnTo>
                      <a:pt x="32" y="77"/>
                    </a:lnTo>
                    <a:lnTo>
                      <a:pt x="14" y="69"/>
                    </a:lnTo>
                    <a:lnTo>
                      <a:pt x="4" y="55"/>
                    </a:lnTo>
                    <a:lnTo>
                      <a:pt x="0" y="39"/>
                    </a:lnTo>
                    <a:lnTo>
                      <a:pt x="2" y="23"/>
                    </a:lnTo>
                    <a:lnTo>
                      <a:pt x="9" y="7"/>
                    </a:lnTo>
                    <a:lnTo>
                      <a:pt x="21" y="0"/>
                    </a:lnTo>
                    <a:lnTo>
                      <a:pt x="42" y="7"/>
                    </a:lnTo>
                    <a:lnTo>
                      <a:pt x="50" y="14"/>
                    </a:lnTo>
                    <a:lnTo>
                      <a:pt x="49" y="15"/>
                    </a:lnTo>
                    <a:lnTo>
                      <a:pt x="50" y="1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1" name="Freeform 208"/>
              <p:cNvSpPr>
                <a:spLocks noChangeAspect="1" noChangeArrowheads="1"/>
              </p:cNvSpPr>
              <p:nvPr/>
            </p:nvSpPr>
            <p:spPr bwMode="auto">
              <a:xfrm>
                <a:off x="4806" y="1613"/>
                <a:ext cx="3" cy="3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5 w 10"/>
                  <a:gd name="T5" fmla="*/ 0 h 9"/>
                  <a:gd name="T6" fmla="*/ 2 w 10"/>
                  <a:gd name="T7" fmla="*/ 1 h 9"/>
                  <a:gd name="T8" fmla="*/ 0 w 10"/>
                  <a:gd name="T9" fmla="*/ 4 h 9"/>
                  <a:gd name="T10" fmla="*/ 2 w 10"/>
                  <a:gd name="T11" fmla="*/ 7 h 9"/>
                  <a:gd name="T12" fmla="*/ 5 w 10"/>
                  <a:gd name="T13" fmla="*/ 9 h 9"/>
                  <a:gd name="T14" fmla="*/ 8 w 10"/>
                  <a:gd name="T15" fmla="*/ 7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2" name="Freeform 209"/>
              <p:cNvSpPr>
                <a:spLocks noChangeAspect="1" noChangeArrowheads="1"/>
              </p:cNvSpPr>
              <p:nvPr/>
            </p:nvSpPr>
            <p:spPr bwMode="auto">
              <a:xfrm>
                <a:off x="4789" y="1569"/>
                <a:ext cx="3" cy="3"/>
              </a:xfrm>
              <a:custGeom>
                <a:avLst/>
                <a:gdLst>
                  <a:gd name="T0" fmla="*/ 9 w 10"/>
                  <a:gd name="T1" fmla="*/ 4 h 9"/>
                  <a:gd name="T2" fmla="*/ 7 w 10"/>
                  <a:gd name="T3" fmla="*/ 1 h 9"/>
                  <a:gd name="T4" fmla="*/ 4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7 h 9"/>
                  <a:gd name="T12" fmla="*/ 4 w 10"/>
                  <a:gd name="T13" fmla="*/ 9 h 9"/>
                  <a:gd name="T14" fmla="*/ 7 w 10"/>
                  <a:gd name="T15" fmla="*/ 7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7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3" name="Freeform 210"/>
              <p:cNvSpPr>
                <a:spLocks noChangeAspect="1" noChangeArrowheads="1"/>
              </p:cNvSpPr>
              <p:nvPr/>
            </p:nvSpPr>
            <p:spPr bwMode="auto">
              <a:xfrm>
                <a:off x="4811" y="1539"/>
                <a:ext cx="3" cy="3"/>
              </a:xfrm>
              <a:custGeom>
                <a:avLst/>
                <a:gdLst>
                  <a:gd name="T0" fmla="*/ 9 w 10"/>
                  <a:gd name="T1" fmla="*/ 4 h 9"/>
                  <a:gd name="T2" fmla="*/ 7 w 10"/>
                  <a:gd name="T3" fmla="*/ 1 h 9"/>
                  <a:gd name="T4" fmla="*/ 4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8 h 9"/>
                  <a:gd name="T12" fmla="*/ 4 w 10"/>
                  <a:gd name="T13" fmla="*/ 9 h 9"/>
                  <a:gd name="T14" fmla="*/ 7 w 10"/>
                  <a:gd name="T15" fmla="*/ 8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7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4" name="Freeform 211"/>
              <p:cNvSpPr>
                <a:spLocks noChangeAspect="1" noChangeArrowheads="1"/>
              </p:cNvSpPr>
              <p:nvPr/>
            </p:nvSpPr>
            <p:spPr bwMode="auto">
              <a:xfrm>
                <a:off x="4833" y="1512"/>
                <a:ext cx="3" cy="3"/>
              </a:xfrm>
              <a:custGeom>
                <a:avLst/>
                <a:gdLst>
                  <a:gd name="T0" fmla="*/ 10 w 11"/>
                  <a:gd name="T1" fmla="*/ 4 h 9"/>
                  <a:gd name="T2" fmla="*/ 8 w 11"/>
                  <a:gd name="T3" fmla="*/ 1 h 9"/>
                  <a:gd name="T4" fmla="*/ 5 w 11"/>
                  <a:gd name="T5" fmla="*/ 0 h 9"/>
                  <a:gd name="T6" fmla="*/ 2 w 11"/>
                  <a:gd name="T7" fmla="*/ 1 h 9"/>
                  <a:gd name="T8" fmla="*/ 0 w 11"/>
                  <a:gd name="T9" fmla="*/ 4 h 9"/>
                  <a:gd name="T10" fmla="*/ 2 w 11"/>
                  <a:gd name="T11" fmla="*/ 7 h 9"/>
                  <a:gd name="T12" fmla="*/ 5 w 11"/>
                  <a:gd name="T13" fmla="*/ 9 h 9"/>
                  <a:gd name="T14" fmla="*/ 8 w 11"/>
                  <a:gd name="T15" fmla="*/ 7 h 9"/>
                  <a:gd name="T16" fmla="*/ 10 w 11"/>
                  <a:gd name="T17" fmla="*/ 4 h 9"/>
                  <a:gd name="T18" fmla="*/ 11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10" y="4"/>
                    </a:lnTo>
                    <a:lnTo>
                      <a:pt x="11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5" name="Freeform 212"/>
              <p:cNvSpPr>
                <a:spLocks noChangeAspect="1" noChangeArrowheads="1"/>
              </p:cNvSpPr>
              <p:nvPr/>
            </p:nvSpPr>
            <p:spPr bwMode="auto">
              <a:xfrm>
                <a:off x="4882" y="1490"/>
                <a:ext cx="6" cy="3"/>
              </a:xfrm>
              <a:custGeom>
                <a:avLst/>
                <a:gdLst>
                  <a:gd name="T0" fmla="*/ 10 w 11"/>
                  <a:gd name="T1" fmla="*/ 4 h 9"/>
                  <a:gd name="T2" fmla="*/ 8 w 11"/>
                  <a:gd name="T3" fmla="*/ 1 h 9"/>
                  <a:gd name="T4" fmla="*/ 5 w 11"/>
                  <a:gd name="T5" fmla="*/ 0 h 9"/>
                  <a:gd name="T6" fmla="*/ 2 w 11"/>
                  <a:gd name="T7" fmla="*/ 1 h 9"/>
                  <a:gd name="T8" fmla="*/ 0 w 11"/>
                  <a:gd name="T9" fmla="*/ 4 h 9"/>
                  <a:gd name="T10" fmla="*/ 2 w 11"/>
                  <a:gd name="T11" fmla="*/ 8 h 9"/>
                  <a:gd name="T12" fmla="*/ 5 w 11"/>
                  <a:gd name="T13" fmla="*/ 9 h 9"/>
                  <a:gd name="T14" fmla="*/ 8 w 11"/>
                  <a:gd name="T15" fmla="*/ 8 h 9"/>
                  <a:gd name="T16" fmla="*/ 10 w 11"/>
                  <a:gd name="T17" fmla="*/ 4 h 9"/>
                  <a:gd name="T18" fmla="*/ 11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4"/>
                    </a:lnTo>
                    <a:lnTo>
                      <a:pt x="11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6" name="Freeform 213"/>
              <p:cNvSpPr>
                <a:spLocks noChangeAspect="1" noChangeArrowheads="1"/>
              </p:cNvSpPr>
              <p:nvPr/>
            </p:nvSpPr>
            <p:spPr bwMode="auto">
              <a:xfrm>
                <a:off x="4874" y="1411"/>
                <a:ext cx="6" cy="3"/>
              </a:xfrm>
              <a:custGeom>
                <a:avLst/>
                <a:gdLst>
                  <a:gd name="T0" fmla="*/ 10 w 11"/>
                  <a:gd name="T1" fmla="*/ 4 h 9"/>
                  <a:gd name="T2" fmla="*/ 8 w 11"/>
                  <a:gd name="T3" fmla="*/ 1 h 9"/>
                  <a:gd name="T4" fmla="*/ 5 w 11"/>
                  <a:gd name="T5" fmla="*/ 0 h 9"/>
                  <a:gd name="T6" fmla="*/ 2 w 11"/>
                  <a:gd name="T7" fmla="*/ 1 h 9"/>
                  <a:gd name="T8" fmla="*/ 0 w 11"/>
                  <a:gd name="T9" fmla="*/ 4 h 9"/>
                  <a:gd name="T10" fmla="*/ 2 w 11"/>
                  <a:gd name="T11" fmla="*/ 8 h 9"/>
                  <a:gd name="T12" fmla="*/ 5 w 11"/>
                  <a:gd name="T13" fmla="*/ 9 h 9"/>
                  <a:gd name="T14" fmla="*/ 8 w 11"/>
                  <a:gd name="T15" fmla="*/ 8 h 9"/>
                  <a:gd name="T16" fmla="*/ 10 w 11"/>
                  <a:gd name="T17" fmla="*/ 4 h 9"/>
                  <a:gd name="T18" fmla="*/ 11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4"/>
                    </a:lnTo>
                    <a:lnTo>
                      <a:pt x="11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7" name="Freeform 214"/>
              <p:cNvSpPr>
                <a:spLocks noChangeAspect="1" noChangeArrowheads="1"/>
              </p:cNvSpPr>
              <p:nvPr/>
            </p:nvSpPr>
            <p:spPr bwMode="auto">
              <a:xfrm>
                <a:off x="4841" y="1446"/>
                <a:ext cx="3" cy="3"/>
              </a:xfrm>
              <a:custGeom>
                <a:avLst/>
                <a:gdLst>
                  <a:gd name="T0" fmla="*/ 10 w 11"/>
                  <a:gd name="T1" fmla="*/ 4 h 9"/>
                  <a:gd name="T2" fmla="*/ 8 w 11"/>
                  <a:gd name="T3" fmla="*/ 1 h 9"/>
                  <a:gd name="T4" fmla="*/ 5 w 11"/>
                  <a:gd name="T5" fmla="*/ 0 h 9"/>
                  <a:gd name="T6" fmla="*/ 2 w 11"/>
                  <a:gd name="T7" fmla="*/ 1 h 9"/>
                  <a:gd name="T8" fmla="*/ 0 w 11"/>
                  <a:gd name="T9" fmla="*/ 4 h 9"/>
                  <a:gd name="T10" fmla="*/ 2 w 11"/>
                  <a:gd name="T11" fmla="*/ 8 h 9"/>
                  <a:gd name="T12" fmla="*/ 5 w 11"/>
                  <a:gd name="T13" fmla="*/ 9 h 9"/>
                  <a:gd name="T14" fmla="*/ 8 w 11"/>
                  <a:gd name="T15" fmla="*/ 8 h 9"/>
                  <a:gd name="T16" fmla="*/ 10 w 11"/>
                  <a:gd name="T17" fmla="*/ 4 h 9"/>
                  <a:gd name="T18" fmla="*/ 11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4"/>
                    </a:lnTo>
                    <a:lnTo>
                      <a:pt x="11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8" name="Freeform 215"/>
              <p:cNvSpPr>
                <a:spLocks noChangeAspect="1" noChangeArrowheads="1"/>
              </p:cNvSpPr>
              <p:nvPr/>
            </p:nvSpPr>
            <p:spPr bwMode="auto">
              <a:xfrm>
                <a:off x="4811" y="1449"/>
                <a:ext cx="6" cy="3"/>
              </a:xfrm>
              <a:custGeom>
                <a:avLst/>
                <a:gdLst>
                  <a:gd name="T0" fmla="*/ 11 w 12"/>
                  <a:gd name="T1" fmla="*/ 4 h 9"/>
                  <a:gd name="T2" fmla="*/ 9 w 12"/>
                  <a:gd name="T3" fmla="*/ 1 h 9"/>
                  <a:gd name="T4" fmla="*/ 5 w 12"/>
                  <a:gd name="T5" fmla="*/ 0 h 9"/>
                  <a:gd name="T6" fmla="*/ 2 w 12"/>
                  <a:gd name="T7" fmla="*/ 1 h 9"/>
                  <a:gd name="T8" fmla="*/ 0 w 12"/>
                  <a:gd name="T9" fmla="*/ 4 h 9"/>
                  <a:gd name="T10" fmla="*/ 2 w 12"/>
                  <a:gd name="T11" fmla="*/ 7 h 9"/>
                  <a:gd name="T12" fmla="*/ 5 w 12"/>
                  <a:gd name="T13" fmla="*/ 9 h 9"/>
                  <a:gd name="T14" fmla="*/ 9 w 12"/>
                  <a:gd name="T15" fmla="*/ 7 h 9"/>
                  <a:gd name="T16" fmla="*/ 11 w 12"/>
                  <a:gd name="T17" fmla="*/ 4 h 9"/>
                  <a:gd name="T18" fmla="*/ 12 w 12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9">
                    <a:moveTo>
                      <a:pt x="11" y="4"/>
                    </a:moveTo>
                    <a:lnTo>
                      <a:pt x="9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5" y="9"/>
                    </a:lnTo>
                    <a:lnTo>
                      <a:pt x="9" y="7"/>
                    </a:lnTo>
                    <a:lnTo>
                      <a:pt x="11" y="4"/>
                    </a:lnTo>
                    <a:lnTo>
                      <a:pt x="12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9" name="Freeform 216"/>
              <p:cNvSpPr>
                <a:spLocks noChangeAspect="1" noChangeArrowheads="1"/>
              </p:cNvSpPr>
              <p:nvPr/>
            </p:nvSpPr>
            <p:spPr bwMode="auto">
              <a:xfrm>
                <a:off x="4773" y="1474"/>
                <a:ext cx="6" cy="3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1 h 9"/>
                  <a:gd name="T4" fmla="*/ 4 w 10"/>
                  <a:gd name="T5" fmla="*/ 0 h 9"/>
                  <a:gd name="T6" fmla="*/ 1 w 10"/>
                  <a:gd name="T7" fmla="*/ 1 h 9"/>
                  <a:gd name="T8" fmla="*/ 0 w 10"/>
                  <a:gd name="T9" fmla="*/ 5 h 9"/>
                  <a:gd name="T10" fmla="*/ 1 w 10"/>
                  <a:gd name="T11" fmla="*/ 8 h 9"/>
                  <a:gd name="T12" fmla="*/ 4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0" name="Freeform 217"/>
              <p:cNvSpPr>
                <a:spLocks noChangeAspect="1" noChangeArrowheads="1"/>
              </p:cNvSpPr>
              <p:nvPr/>
            </p:nvSpPr>
            <p:spPr bwMode="auto">
              <a:xfrm>
                <a:off x="4787" y="1433"/>
                <a:ext cx="2" cy="2"/>
              </a:xfrm>
              <a:custGeom>
                <a:avLst/>
                <a:gdLst>
                  <a:gd name="T0" fmla="*/ 9 w 10"/>
                  <a:gd name="T1" fmla="*/ 4 h 10"/>
                  <a:gd name="T2" fmla="*/ 8 w 10"/>
                  <a:gd name="T3" fmla="*/ 1 h 10"/>
                  <a:gd name="T4" fmla="*/ 5 w 10"/>
                  <a:gd name="T5" fmla="*/ 0 h 10"/>
                  <a:gd name="T6" fmla="*/ 2 w 10"/>
                  <a:gd name="T7" fmla="*/ 1 h 10"/>
                  <a:gd name="T8" fmla="*/ 0 w 10"/>
                  <a:gd name="T9" fmla="*/ 4 h 10"/>
                  <a:gd name="T10" fmla="*/ 2 w 10"/>
                  <a:gd name="T11" fmla="*/ 8 h 10"/>
                  <a:gd name="T12" fmla="*/ 5 w 10"/>
                  <a:gd name="T13" fmla="*/ 10 h 10"/>
                  <a:gd name="T14" fmla="*/ 8 w 10"/>
                  <a:gd name="T15" fmla="*/ 8 h 10"/>
                  <a:gd name="T16" fmla="*/ 9 w 10"/>
                  <a:gd name="T17" fmla="*/ 4 h 10"/>
                  <a:gd name="T18" fmla="*/ 10 w 10"/>
                  <a:gd name="T1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9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1" name="Freeform 218"/>
              <p:cNvSpPr>
                <a:spLocks noChangeAspect="1" noChangeArrowheads="1"/>
              </p:cNvSpPr>
              <p:nvPr/>
            </p:nvSpPr>
            <p:spPr bwMode="auto">
              <a:xfrm>
                <a:off x="4759" y="1378"/>
                <a:ext cx="6" cy="3"/>
              </a:xfrm>
              <a:custGeom>
                <a:avLst/>
                <a:gdLst>
                  <a:gd name="T0" fmla="*/ 9 w 10"/>
                  <a:gd name="T1" fmla="*/ 5 h 10"/>
                  <a:gd name="T2" fmla="*/ 7 w 10"/>
                  <a:gd name="T3" fmla="*/ 2 h 10"/>
                  <a:gd name="T4" fmla="*/ 4 w 10"/>
                  <a:gd name="T5" fmla="*/ 0 h 10"/>
                  <a:gd name="T6" fmla="*/ 1 w 10"/>
                  <a:gd name="T7" fmla="*/ 2 h 10"/>
                  <a:gd name="T8" fmla="*/ 0 w 10"/>
                  <a:gd name="T9" fmla="*/ 5 h 10"/>
                  <a:gd name="T10" fmla="*/ 1 w 10"/>
                  <a:gd name="T11" fmla="*/ 8 h 10"/>
                  <a:gd name="T12" fmla="*/ 4 w 10"/>
                  <a:gd name="T13" fmla="*/ 10 h 10"/>
                  <a:gd name="T14" fmla="*/ 7 w 10"/>
                  <a:gd name="T15" fmla="*/ 8 h 10"/>
                  <a:gd name="T16" fmla="*/ 9 w 10"/>
                  <a:gd name="T17" fmla="*/ 5 h 10"/>
                  <a:gd name="T18" fmla="*/ 10 w 10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9" y="5"/>
                    </a:moveTo>
                    <a:lnTo>
                      <a:pt x="7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4" y="10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2" name="Freeform 219"/>
              <p:cNvSpPr>
                <a:spLocks noChangeAspect="1" noChangeArrowheads="1"/>
              </p:cNvSpPr>
              <p:nvPr/>
            </p:nvSpPr>
            <p:spPr bwMode="auto">
              <a:xfrm>
                <a:off x="4828" y="1386"/>
                <a:ext cx="2" cy="3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2 h 9"/>
                  <a:gd name="T4" fmla="*/ 5 w 10"/>
                  <a:gd name="T5" fmla="*/ 0 h 9"/>
                  <a:gd name="T6" fmla="*/ 1 w 10"/>
                  <a:gd name="T7" fmla="*/ 2 h 9"/>
                  <a:gd name="T8" fmla="*/ 0 w 10"/>
                  <a:gd name="T9" fmla="*/ 5 h 9"/>
                  <a:gd name="T10" fmla="*/ 1 w 10"/>
                  <a:gd name="T11" fmla="*/ 8 h 9"/>
                  <a:gd name="T12" fmla="*/ 5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3" name="Freeform 220"/>
              <p:cNvSpPr>
                <a:spLocks noChangeAspect="1" noChangeArrowheads="1"/>
              </p:cNvSpPr>
              <p:nvPr/>
            </p:nvSpPr>
            <p:spPr bwMode="auto">
              <a:xfrm>
                <a:off x="4841" y="1321"/>
                <a:ext cx="3" cy="2"/>
              </a:xfrm>
              <a:custGeom>
                <a:avLst/>
                <a:gdLst>
                  <a:gd name="T0" fmla="*/ 9 w 10"/>
                  <a:gd name="T1" fmla="*/ 6 h 10"/>
                  <a:gd name="T2" fmla="*/ 8 w 10"/>
                  <a:gd name="T3" fmla="*/ 1 h 10"/>
                  <a:gd name="T4" fmla="*/ 5 w 10"/>
                  <a:gd name="T5" fmla="*/ 0 h 10"/>
                  <a:gd name="T6" fmla="*/ 2 w 10"/>
                  <a:gd name="T7" fmla="*/ 1 h 10"/>
                  <a:gd name="T8" fmla="*/ 0 w 10"/>
                  <a:gd name="T9" fmla="*/ 6 h 10"/>
                  <a:gd name="T10" fmla="*/ 2 w 10"/>
                  <a:gd name="T11" fmla="*/ 9 h 10"/>
                  <a:gd name="T12" fmla="*/ 5 w 10"/>
                  <a:gd name="T13" fmla="*/ 10 h 10"/>
                  <a:gd name="T14" fmla="*/ 8 w 10"/>
                  <a:gd name="T15" fmla="*/ 9 h 10"/>
                  <a:gd name="T16" fmla="*/ 9 w 10"/>
                  <a:gd name="T17" fmla="*/ 6 h 10"/>
                  <a:gd name="T18" fmla="*/ 10 w 10"/>
                  <a:gd name="T1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9" y="6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6"/>
                    </a:lnTo>
                    <a:lnTo>
                      <a:pt x="10" y="6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4" name="Freeform 221"/>
              <p:cNvSpPr>
                <a:spLocks noChangeAspect="1" noChangeArrowheads="1"/>
              </p:cNvSpPr>
              <p:nvPr/>
            </p:nvSpPr>
            <p:spPr bwMode="auto">
              <a:xfrm>
                <a:off x="4795" y="1345"/>
                <a:ext cx="3" cy="3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1 h 9"/>
                  <a:gd name="T4" fmla="*/ 5 w 10"/>
                  <a:gd name="T5" fmla="*/ 0 h 9"/>
                  <a:gd name="T6" fmla="*/ 1 w 10"/>
                  <a:gd name="T7" fmla="*/ 1 h 9"/>
                  <a:gd name="T8" fmla="*/ 0 w 10"/>
                  <a:gd name="T9" fmla="*/ 5 h 9"/>
                  <a:gd name="T10" fmla="*/ 1 w 10"/>
                  <a:gd name="T11" fmla="*/ 8 h 9"/>
                  <a:gd name="T12" fmla="*/ 5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5" name="Freeform 222"/>
              <p:cNvSpPr>
                <a:spLocks noChangeAspect="1" noChangeArrowheads="1"/>
              </p:cNvSpPr>
              <p:nvPr/>
            </p:nvSpPr>
            <p:spPr bwMode="auto">
              <a:xfrm>
                <a:off x="4792" y="1397"/>
                <a:ext cx="3" cy="3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5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8 h 9"/>
                  <a:gd name="T12" fmla="*/ 5 w 10"/>
                  <a:gd name="T13" fmla="*/ 9 h 9"/>
                  <a:gd name="T14" fmla="*/ 8 w 10"/>
                  <a:gd name="T15" fmla="*/ 8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6" name="Freeform 223"/>
              <p:cNvSpPr>
                <a:spLocks noChangeAspect="1" noChangeArrowheads="1"/>
              </p:cNvSpPr>
              <p:nvPr/>
            </p:nvSpPr>
            <p:spPr bwMode="auto">
              <a:xfrm>
                <a:off x="4803" y="1397"/>
                <a:ext cx="3" cy="3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4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7 h 9"/>
                  <a:gd name="T12" fmla="*/ 4 w 10"/>
                  <a:gd name="T13" fmla="*/ 9 h 9"/>
                  <a:gd name="T14" fmla="*/ 8 w 10"/>
                  <a:gd name="T15" fmla="*/ 7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4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7" name="Freeform 224"/>
              <p:cNvSpPr>
                <a:spLocks noChangeAspect="1" noChangeArrowheads="1"/>
              </p:cNvSpPr>
              <p:nvPr/>
            </p:nvSpPr>
            <p:spPr bwMode="auto">
              <a:xfrm>
                <a:off x="4811" y="1351"/>
                <a:ext cx="3" cy="2"/>
              </a:xfrm>
              <a:custGeom>
                <a:avLst/>
                <a:gdLst>
                  <a:gd name="T0" fmla="*/ 9 w 10"/>
                  <a:gd name="T1" fmla="*/ 5 h 10"/>
                  <a:gd name="T2" fmla="*/ 7 w 10"/>
                  <a:gd name="T3" fmla="*/ 1 h 10"/>
                  <a:gd name="T4" fmla="*/ 4 w 10"/>
                  <a:gd name="T5" fmla="*/ 0 h 10"/>
                  <a:gd name="T6" fmla="*/ 1 w 10"/>
                  <a:gd name="T7" fmla="*/ 1 h 10"/>
                  <a:gd name="T8" fmla="*/ 0 w 10"/>
                  <a:gd name="T9" fmla="*/ 5 h 10"/>
                  <a:gd name="T10" fmla="*/ 1 w 10"/>
                  <a:gd name="T11" fmla="*/ 9 h 10"/>
                  <a:gd name="T12" fmla="*/ 4 w 10"/>
                  <a:gd name="T13" fmla="*/ 10 h 10"/>
                  <a:gd name="T14" fmla="*/ 7 w 10"/>
                  <a:gd name="T15" fmla="*/ 9 h 10"/>
                  <a:gd name="T16" fmla="*/ 9 w 10"/>
                  <a:gd name="T17" fmla="*/ 5 h 10"/>
                  <a:gd name="T18" fmla="*/ 10 w 10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9" y="5"/>
                    </a:moveTo>
                    <a:lnTo>
                      <a:pt x="7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9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8" name="Freeform 225"/>
              <p:cNvSpPr>
                <a:spLocks noChangeAspect="1" noChangeArrowheads="1"/>
              </p:cNvSpPr>
              <p:nvPr/>
            </p:nvSpPr>
            <p:spPr bwMode="auto">
              <a:xfrm>
                <a:off x="4874" y="1351"/>
                <a:ext cx="6" cy="2"/>
              </a:xfrm>
              <a:custGeom>
                <a:avLst/>
                <a:gdLst>
                  <a:gd name="T0" fmla="*/ 10 w 11"/>
                  <a:gd name="T1" fmla="*/ 5 h 10"/>
                  <a:gd name="T2" fmla="*/ 8 w 11"/>
                  <a:gd name="T3" fmla="*/ 1 h 10"/>
                  <a:gd name="T4" fmla="*/ 5 w 11"/>
                  <a:gd name="T5" fmla="*/ 0 h 10"/>
                  <a:gd name="T6" fmla="*/ 2 w 11"/>
                  <a:gd name="T7" fmla="*/ 1 h 10"/>
                  <a:gd name="T8" fmla="*/ 0 w 11"/>
                  <a:gd name="T9" fmla="*/ 5 h 10"/>
                  <a:gd name="T10" fmla="*/ 2 w 11"/>
                  <a:gd name="T11" fmla="*/ 9 h 10"/>
                  <a:gd name="T12" fmla="*/ 5 w 11"/>
                  <a:gd name="T13" fmla="*/ 10 h 10"/>
                  <a:gd name="T14" fmla="*/ 8 w 11"/>
                  <a:gd name="T15" fmla="*/ 9 h 10"/>
                  <a:gd name="T16" fmla="*/ 10 w 11"/>
                  <a:gd name="T17" fmla="*/ 5 h 10"/>
                  <a:gd name="T18" fmla="*/ 11 w 11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10" y="5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0" y="5"/>
                    </a:lnTo>
                    <a:lnTo>
                      <a:pt x="11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9" name="Freeform 226"/>
              <p:cNvSpPr>
                <a:spLocks noChangeAspect="1" noChangeArrowheads="1"/>
              </p:cNvSpPr>
              <p:nvPr/>
            </p:nvSpPr>
            <p:spPr bwMode="auto">
              <a:xfrm>
                <a:off x="4945" y="1329"/>
                <a:ext cx="3" cy="5"/>
              </a:xfrm>
              <a:custGeom>
                <a:avLst/>
                <a:gdLst>
                  <a:gd name="T0" fmla="*/ 10 w 11"/>
                  <a:gd name="T1" fmla="*/ 5 h 10"/>
                  <a:gd name="T2" fmla="*/ 9 w 11"/>
                  <a:gd name="T3" fmla="*/ 2 h 10"/>
                  <a:gd name="T4" fmla="*/ 5 w 11"/>
                  <a:gd name="T5" fmla="*/ 0 h 10"/>
                  <a:gd name="T6" fmla="*/ 1 w 11"/>
                  <a:gd name="T7" fmla="*/ 2 h 10"/>
                  <a:gd name="T8" fmla="*/ 0 w 11"/>
                  <a:gd name="T9" fmla="*/ 5 h 10"/>
                  <a:gd name="T10" fmla="*/ 1 w 11"/>
                  <a:gd name="T11" fmla="*/ 8 h 10"/>
                  <a:gd name="T12" fmla="*/ 5 w 11"/>
                  <a:gd name="T13" fmla="*/ 10 h 10"/>
                  <a:gd name="T14" fmla="*/ 9 w 11"/>
                  <a:gd name="T15" fmla="*/ 8 h 10"/>
                  <a:gd name="T16" fmla="*/ 10 w 11"/>
                  <a:gd name="T17" fmla="*/ 5 h 10"/>
                  <a:gd name="T18" fmla="*/ 11 w 11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10" y="5"/>
                    </a:moveTo>
                    <a:lnTo>
                      <a:pt x="9" y="2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5" y="10"/>
                    </a:lnTo>
                    <a:lnTo>
                      <a:pt x="9" y="8"/>
                    </a:lnTo>
                    <a:lnTo>
                      <a:pt x="10" y="5"/>
                    </a:lnTo>
                    <a:lnTo>
                      <a:pt x="11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0" name="Freeform 227"/>
              <p:cNvSpPr>
                <a:spLocks noChangeAspect="1" noChangeArrowheads="1"/>
              </p:cNvSpPr>
              <p:nvPr/>
            </p:nvSpPr>
            <p:spPr bwMode="auto">
              <a:xfrm>
                <a:off x="4902" y="1392"/>
                <a:ext cx="2" cy="2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4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7 h 9"/>
                  <a:gd name="T12" fmla="*/ 4 w 10"/>
                  <a:gd name="T13" fmla="*/ 9 h 9"/>
                  <a:gd name="T14" fmla="*/ 8 w 10"/>
                  <a:gd name="T15" fmla="*/ 7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4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1" name="Freeform 228"/>
              <p:cNvSpPr>
                <a:spLocks noChangeAspect="1" noChangeArrowheads="1"/>
              </p:cNvSpPr>
              <p:nvPr/>
            </p:nvSpPr>
            <p:spPr bwMode="auto">
              <a:xfrm>
                <a:off x="4891" y="1381"/>
                <a:ext cx="2" cy="3"/>
              </a:xfrm>
              <a:custGeom>
                <a:avLst/>
                <a:gdLst>
                  <a:gd name="T0" fmla="*/ 10 w 11"/>
                  <a:gd name="T1" fmla="*/ 5 h 9"/>
                  <a:gd name="T2" fmla="*/ 8 w 11"/>
                  <a:gd name="T3" fmla="*/ 2 h 9"/>
                  <a:gd name="T4" fmla="*/ 5 w 11"/>
                  <a:gd name="T5" fmla="*/ 0 h 9"/>
                  <a:gd name="T6" fmla="*/ 2 w 11"/>
                  <a:gd name="T7" fmla="*/ 2 h 9"/>
                  <a:gd name="T8" fmla="*/ 0 w 11"/>
                  <a:gd name="T9" fmla="*/ 5 h 9"/>
                  <a:gd name="T10" fmla="*/ 2 w 11"/>
                  <a:gd name="T11" fmla="*/ 8 h 9"/>
                  <a:gd name="T12" fmla="*/ 5 w 11"/>
                  <a:gd name="T13" fmla="*/ 9 h 9"/>
                  <a:gd name="T14" fmla="*/ 8 w 11"/>
                  <a:gd name="T15" fmla="*/ 8 h 9"/>
                  <a:gd name="T16" fmla="*/ 10 w 11"/>
                  <a:gd name="T17" fmla="*/ 5 h 9"/>
                  <a:gd name="T18" fmla="*/ 11 w 11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1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2" name="Freeform 229"/>
              <p:cNvSpPr>
                <a:spLocks noChangeAspect="1" noChangeArrowheads="1"/>
              </p:cNvSpPr>
              <p:nvPr/>
            </p:nvSpPr>
            <p:spPr bwMode="auto">
              <a:xfrm>
                <a:off x="4891" y="1348"/>
                <a:ext cx="5" cy="3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5 w 10"/>
                  <a:gd name="T5" fmla="*/ 0 h 9"/>
                  <a:gd name="T6" fmla="*/ 2 w 10"/>
                  <a:gd name="T7" fmla="*/ 1 h 9"/>
                  <a:gd name="T8" fmla="*/ 0 w 10"/>
                  <a:gd name="T9" fmla="*/ 4 h 9"/>
                  <a:gd name="T10" fmla="*/ 2 w 10"/>
                  <a:gd name="T11" fmla="*/ 7 h 9"/>
                  <a:gd name="T12" fmla="*/ 5 w 10"/>
                  <a:gd name="T13" fmla="*/ 9 h 9"/>
                  <a:gd name="T14" fmla="*/ 8 w 10"/>
                  <a:gd name="T15" fmla="*/ 7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3" name="Freeform 230"/>
              <p:cNvSpPr>
                <a:spLocks noChangeAspect="1" noChangeArrowheads="1"/>
              </p:cNvSpPr>
              <p:nvPr/>
            </p:nvSpPr>
            <p:spPr bwMode="auto">
              <a:xfrm>
                <a:off x="4984" y="1345"/>
                <a:ext cx="2" cy="6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5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7 h 9"/>
                  <a:gd name="T12" fmla="*/ 5 w 10"/>
                  <a:gd name="T13" fmla="*/ 9 h 9"/>
                  <a:gd name="T14" fmla="*/ 8 w 10"/>
                  <a:gd name="T15" fmla="*/ 7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4" name="Freeform 231"/>
              <p:cNvSpPr>
                <a:spLocks noChangeAspect="1" noChangeArrowheads="1"/>
              </p:cNvSpPr>
              <p:nvPr/>
            </p:nvSpPr>
            <p:spPr bwMode="auto">
              <a:xfrm>
                <a:off x="4984" y="1345"/>
                <a:ext cx="2" cy="6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5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7 h 9"/>
                  <a:gd name="T12" fmla="*/ 5 w 10"/>
                  <a:gd name="T13" fmla="*/ 9 h 9"/>
                  <a:gd name="T14" fmla="*/ 8 w 10"/>
                  <a:gd name="T15" fmla="*/ 7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5" name="Freeform 232"/>
              <p:cNvSpPr>
                <a:spLocks noChangeAspect="1" noChangeArrowheads="1"/>
              </p:cNvSpPr>
              <p:nvPr/>
            </p:nvSpPr>
            <p:spPr bwMode="auto">
              <a:xfrm>
                <a:off x="5049" y="1370"/>
                <a:ext cx="6" cy="3"/>
              </a:xfrm>
              <a:custGeom>
                <a:avLst/>
                <a:gdLst>
                  <a:gd name="T0" fmla="*/ 9 w 10"/>
                  <a:gd name="T1" fmla="*/ 5 h 10"/>
                  <a:gd name="T2" fmla="*/ 8 w 10"/>
                  <a:gd name="T3" fmla="*/ 2 h 10"/>
                  <a:gd name="T4" fmla="*/ 5 w 10"/>
                  <a:gd name="T5" fmla="*/ 0 h 10"/>
                  <a:gd name="T6" fmla="*/ 1 w 10"/>
                  <a:gd name="T7" fmla="*/ 2 h 10"/>
                  <a:gd name="T8" fmla="*/ 0 w 10"/>
                  <a:gd name="T9" fmla="*/ 5 h 10"/>
                  <a:gd name="T10" fmla="*/ 1 w 10"/>
                  <a:gd name="T11" fmla="*/ 8 h 10"/>
                  <a:gd name="T12" fmla="*/ 5 w 10"/>
                  <a:gd name="T13" fmla="*/ 10 h 10"/>
                  <a:gd name="T14" fmla="*/ 8 w 10"/>
                  <a:gd name="T15" fmla="*/ 8 h 10"/>
                  <a:gd name="T16" fmla="*/ 9 w 10"/>
                  <a:gd name="T17" fmla="*/ 5 h 10"/>
                  <a:gd name="T18" fmla="*/ 10 w 10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9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6" name="Freeform 233"/>
              <p:cNvSpPr>
                <a:spLocks noChangeAspect="1" noChangeArrowheads="1"/>
              </p:cNvSpPr>
              <p:nvPr/>
            </p:nvSpPr>
            <p:spPr bwMode="auto">
              <a:xfrm>
                <a:off x="4959" y="1394"/>
                <a:ext cx="3" cy="3"/>
              </a:xfrm>
              <a:custGeom>
                <a:avLst/>
                <a:gdLst>
                  <a:gd name="T0" fmla="*/ 9 w 11"/>
                  <a:gd name="T1" fmla="*/ 5 h 9"/>
                  <a:gd name="T2" fmla="*/ 8 w 11"/>
                  <a:gd name="T3" fmla="*/ 1 h 9"/>
                  <a:gd name="T4" fmla="*/ 4 w 11"/>
                  <a:gd name="T5" fmla="*/ 0 h 9"/>
                  <a:gd name="T6" fmla="*/ 1 w 11"/>
                  <a:gd name="T7" fmla="*/ 1 h 9"/>
                  <a:gd name="T8" fmla="*/ 0 w 11"/>
                  <a:gd name="T9" fmla="*/ 5 h 9"/>
                  <a:gd name="T10" fmla="*/ 1 w 11"/>
                  <a:gd name="T11" fmla="*/ 8 h 9"/>
                  <a:gd name="T12" fmla="*/ 4 w 11"/>
                  <a:gd name="T13" fmla="*/ 9 h 9"/>
                  <a:gd name="T14" fmla="*/ 8 w 11"/>
                  <a:gd name="T15" fmla="*/ 8 h 9"/>
                  <a:gd name="T16" fmla="*/ 9 w 11"/>
                  <a:gd name="T17" fmla="*/ 5 h 9"/>
                  <a:gd name="T18" fmla="*/ 11 w 11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9" y="5"/>
                    </a:moveTo>
                    <a:lnTo>
                      <a:pt x="8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1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7" name="Freeform 234"/>
              <p:cNvSpPr>
                <a:spLocks noChangeAspect="1" noChangeArrowheads="1"/>
              </p:cNvSpPr>
              <p:nvPr/>
            </p:nvSpPr>
            <p:spPr bwMode="auto">
              <a:xfrm>
                <a:off x="4981" y="1397"/>
                <a:ext cx="3" cy="3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4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7 h 9"/>
                  <a:gd name="T12" fmla="*/ 4 w 10"/>
                  <a:gd name="T13" fmla="*/ 9 h 9"/>
                  <a:gd name="T14" fmla="*/ 8 w 10"/>
                  <a:gd name="T15" fmla="*/ 7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4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8" name="Freeform 235"/>
              <p:cNvSpPr>
                <a:spLocks noChangeAspect="1" noChangeArrowheads="1"/>
              </p:cNvSpPr>
              <p:nvPr/>
            </p:nvSpPr>
            <p:spPr bwMode="auto">
              <a:xfrm>
                <a:off x="4981" y="1419"/>
                <a:ext cx="5" cy="3"/>
              </a:xfrm>
              <a:custGeom>
                <a:avLst/>
                <a:gdLst>
                  <a:gd name="T0" fmla="*/ 9 w 10"/>
                  <a:gd name="T1" fmla="*/ 4 h 9"/>
                  <a:gd name="T2" fmla="*/ 7 w 10"/>
                  <a:gd name="T3" fmla="*/ 1 h 9"/>
                  <a:gd name="T4" fmla="*/ 4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7 h 9"/>
                  <a:gd name="T12" fmla="*/ 4 w 10"/>
                  <a:gd name="T13" fmla="*/ 9 h 9"/>
                  <a:gd name="T14" fmla="*/ 7 w 10"/>
                  <a:gd name="T15" fmla="*/ 7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7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9" name="Freeform 236"/>
              <p:cNvSpPr>
                <a:spLocks noChangeAspect="1" noChangeArrowheads="1"/>
              </p:cNvSpPr>
              <p:nvPr/>
            </p:nvSpPr>
            <p:spPr bwMode="auto">
              <a:xfrm>
                <a:off x="4984" y="1468"/>
                <a:ext cx="2" cy="3"/>
              </a:xfrm>
              <a:custGeom>
                <a:avLst/>
                <a:gdLst>
                  <a:gd name="T0" fmla="*/ 10 w 11"/>
                  <a:gd name="T1" fmla="*/ 5 h 10"/>
                  <a:gd name="T2" fmla="*/ 8 w 11"/>
                  <a:gd name="T3" fmla="*/ 1 h 10"/>
                  <a:gd name="T4" fmla="*/ 5 w 11"/>
                  <a:gd name="T5" fmla="*/ 0 h 10"/>
                  <a:gd name="T6" fmla="*/ 2 w 11"/>
                  <a:gd name="T7" fmla="*/ 1 h 10"/>
                  <a:gd name="T8" fmla="*/ 0 w 11"/>
                  <a:gd name="T9" fmla="*/ 5 h 10"/>
                  <a:gd name="T10" fmla="*/ 2 w 11"/>
                  <a:gd name="T11" fmla="*/ 9 h 10"/>
                  <a:gd name="T12" fmla="*/ 5 w 11"/>
                  <a:gd name="T13" fmla="*/ 10 h 10"/>
                  <a:gd name="T14" fmla="*/ 8 w 11"/>
                  <a:gd name="T15" fmla="*/ 9 h 10"/>
                  <a:gd name="T16" fmla="*/ 10 w 11"/>
                  <a:gd name="T17" fmla="*/ 5 h 10"/>
                  <a:gd name="T18" fmla="*/ 11 w 11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10" y="5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10" y="5"/>
                    </a:lnTo>
                    <a:lnTo>
                      <a:pt x="11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0" name="Freeform 237"/>
              <p:cNvSpPr>
                <a:spLocks noChangeAspect="1" noChangeArrowheads="1"/>
              </p:cNvSpPr>
              <p:nvPr/>
            </p:nvSpPr>
            <p:spPr bwMode="auto">
              <a:xfrm>
                <a:off x="4891" y="1477"/>
                <a:ext cx="2" cy="5"/>
              </a:xfrm>
              <a:custGeom>
                <a:avLst/>
                <a:gdLst>
                  <a:gd name="T0" fmla="*/ 10 w 11"/>
                  <a:gd name="T1" fmla="*/ 5 h 10"/>
                  <a:gd name="T2" fmla="*/ 8 w 11"/>
                  <a:gd name="T3" fmla="*/ 2 h 10"/>
                  <a:gd name="T4" fmla="*/ 5 w 11"/>
                  <a:gd name="T5" fmla="*/ 0 h 10"/>
                  <a:gd name="T6" fmla="*/ 2 w 11"/>
                  <a:gd name="T7" fmla="*/ 2 h 10"/>
                  <a:gd name="T8" fmla="*/ 0 w 11"/>
                  <a:gd name="T9" fmla="*/ 5 h 10"/>
                  <a:gd name="T10" fmla="*/ 2 w 11"/>
                  <a:gd name="T11" fmla="*/ 8 h 10"/>
                  <a:gd name="T12" fmla="*/ 5 w 11"/>
                  <a:gd name="T13" fmla="*/ 10 h 10"/>
                  <a:gd name="T14" fmla="*/ 8 w 11"/>
                  <a:gd name="T15" fmla="*/ 8 h 10"/>
                  <a:gd name="T16" fmla="*/ 10 w 11"/>
                  <a:gd name="T17" fmla="*/ 5 h 10"/>
                  <a:gd name="T18" fmla="*/ 11 w 11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10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1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1" name="Freeform 238"/>
              <p:cNvSpPr>
                <a:spLocks noChangeAspect="1" noChangeArrowheads="1"/>
              </p:cNvSpPr>
              <p:nvPr/>
            </p:nvSpPr>
            <p:spPr bwMode="auto">
              <a:xfrm>
                <a:off x="4888" y="1526"/>
                <a:ext cx="5" cy="2"/>
              </a:xfrm>
              <a:custGeom>
                <a:avLst/>
                <a:gdLst>
                  <a:gd name="T0" fmla="*/ 9 w 10"/>
                  <a:gd name="T1" fmla="*/ 5 h 9"/>
                  <a:gd name="T2" fmla="*/ 7 w 10"/>
                  <a:gd name="T3" fmla="*/ 2 h 9"/>
                  <a:gd name="T4" fmla="*/ 4 w 10"/>
                  <a:gd name="T5" fmla="*/ 0 h 9"/>
                  <a:gd name="T6" fmla="*/ 1 w 10"/>
                  <a:gd name="T7" fmla="*/ 2 h 9"/>
                  <a:gd name="T8" fmla="*/ 0 w 10"/>
                  <a:gd name="T9" fmla="*/ 5 h 9"/>
                  <a:gd name="T10" fmla="*/ 1 w 10"/>
                  <a:gd name="T11" fmla="*/ 8 h 9"/>
                  <a:gd name="T12" fmla="*/ 4 w 10"/>
                  <a:gd name="T13" fmla="*/ 9 h 9"/>
                  <a:gd name="T14" fmla="*/ 7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7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2" name="Freeform 239"/>
              <p:cNvSpPr>
                <a:spLocks noChangeAspect="1" noChangeArrowheads="1"/>
              </p:cNvSpPr>
              <p:nvPr/>
            </p:nvSpPr>
            <p:spPr bwMode="auto">
              <a:xfrm>
                <a:off x="4986" y="1512"/>
                <a:ext cx="3" cy="3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5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7 h 9"/>
                  <a:gd name="T12" fmla="*/ 5 w 10"/>
                  <a:gd name="T13" fmla="*/ 9 h 9"/>
                  <a:gd name="T14" fmla="*/ 8 w 10"/>
                  <a:gd name="T15" fmla="*/ 7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3" name="Freeform 240"/>
              <p:cNvSpPr>
                <a:spLocks noChangeAspect="1" noChangeArrowheads="1"/>
              </p:cNvSpPr>
              <p:nvPr/>
            </p:nvSpPr>
            <p:spPr bwMode="auto">
              <a:xfrm>
                <a:off x="4989" y="1498"/>
                <a:ext cx="5" cy="3"/>
              </a:xfrm>
              <a:custGeom>
                <a:avLst/>
                <a:gdLst>
                  <a:gd name="T0" fmla="*/ 10 w 11"/>
                  <a:gd name="T1" fmla="*/ 4 h 9"/>
                  <a:gd name="T2" fmla="*/ 8 w 11"/>
                  <a:gd name="T3" fmla="*/ 1 h 9"/>
                  <a:gd name="T4" fmla="*/ 5 w 11"/>
                  <a:gd name="T5" fmla="*/ 0 h 9"/>
                  <a:gd name="T6" fmla="*/ 2 w 11"/>
                  <a:gd name="T7" fmla="*/ 1 h 9"/>
                  <a:gd name="T8" fmla="*/ 0 w 11"/>
                  <a:gd name="T9" fmla="*/ 4 h 9"/>
                  <a:gd name="T10" fmla="*/ 2 w 11"/>
                  <a:gd name="T11" fmla="*/ 7 h 9"/>
                  <a:gd name="T12" fmla="*/ 5 w 11"/>
                  <a:gd name="T13" fmla="*/ 9 h 9"/>
                  <a:gd name="T14" fmla="*/ 8 w 11"/>
                  <a:gd name="T15" fmla="*/ 7 h 9"/>
                  <a:gd name="T16" fmla="*/ 10 w 11"/>
                  <a:gd name="T17" fmla="*/ 4 h 9"/>
                  <a:gd name="T18" fmla="*/ 11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10" y="4"/>
                    </a:lnTo>
                    <a:lnTo>
                      <a:pt x="11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4" name="Freeform 241"/>
              <p:cNvSpPr>
                <a:spLocks noChangeAspect="1" noChangeArrowheads="1"/>
              </p:cNvSpPr>
              <p:nvPr/>
            </p:nvSpPr>
            <p:spPr bwMode="auto">
              <a:xfrm>
                <a:off x="4923" y="1496"/>
                <a:ext cx="3" cy="2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4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8 h 9"/>
                  <a:gd name="T12" fmla="*/ 4 w 10"/>
                  <a:gd name="T13" fmla="*/ 9 h 9"/>
                  <a:gd name="T14" fmla="*/ 8 w 10"/>
                  <a:gd name="T15" fmla="*/ 8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5" name="Freeform 242"/>
              <p:cNvSpPr>
                <a:spLocks noChangeAspect="1" noChangeArrowheads="1"/>
              </p:cNvSpPr>
              <p:nvPr/>
            </p:nvSpPr>
            <p:spPr bwMode="auto">
              <a:xfrm>
                <a:off x="5035" y="1504"/>
                <a:ext cx="3" cy="3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1 h 9"/>
                  <a:gd name="T4" fmla="*/ 5 w 10"/>
                  <a:gd name="T5" fmla="*/ 0 h 9"/>
                  <a:gd name="T6" fmla="*/ 2 w 10"/>
                  <a:gd name="T7" fmla="*/ 1 h 9"/>
                  <a:gd name="T8" fmla="*/ 0 w 10"/>
                  <a:gd name="T9" fmla="*/ 5 h 9"/>
                  <a:gd name="T10" fmla="*/ 2 w 10"/>
                  <a:gd name="T11" fmla="*/ 8 h 9"/>
                  <a:gd name="T12" fmla="*/ 5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6" name="Freeform 243"/>
              <p:cNvSpPr>
                <a:spLocks noChangeAspect="1" noChangeArrowheads="1"/>
              </p:cNvSpPr>
              <p:nvPr/>
            </p:nvSpPr>
            <p:spPr bwMode="auto">
              <a:xfrm>
                <a:off x="5071" y="1507"/>
                <a:ext cx="3" cy="2"/>
              </a:xfrm>
              <a:custGeom>
                <a:avLst/>
                <a:gdLst>
                  <a:gd name="T0" fmla="*/ 9 w 10"/>
                  <a:gd name="T1" fmla="*/ 5 h 10"/>
                  <a:gd name="T2" fmla="*/ 8 w 10"/>
                  <a:gd name="T3" fmla="*/ 2 h 10"/>
                  <a:gd name="T4" fmla="*/ 5 w 10"/>
                  <a:gd name="T5" fmla="*/ 0 h 10"/>
                  <a:gd name="T6" fmla="*/ 1 w 10"/>
                  <a:gd name="T7" fmla="*/ 2 h 10"/>
                  <a:gd name="T8" fmla="*/ 0 w 10"/>
                  <a:gd name="T9" fmla="*/ 5 h 10"/>
                  <a:gd name="T10" fmla="*/ 1 w 10"/>
                  <a:gd name="T11" fmla="*/ 8 h 10"/>
                  <a:gd name="T12" fmla="*/ 5 w 10"/>
                  <a:gd name="T13" fmla="*/ 10 h 10"/>
                  <a:gd name="T14" fmla="*/ 8 w 10"/>
                  <a:gd name="T15" fmla="*/ 8 h 10"/>
                  <a:gd name="T16" fmla="*/ 9 w 10"/>
                  <a:gd name="T17" fmla="*/ 5 h 10"/>
                  <a:gd name="T18" fmla="*/ 10 w 10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9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7" name="Freeform 244"/>
              <p:cNvSpPr>
                <a:spLocks noChangeAspect="1" noChangeArrowheads="1"/>
              </p:cNvSpPr>
              <p:nvPr/>
            </p:nvSpPr>
            <p:spPr bwMode="auto">
              <a:xfrm>
                <a:off x="5085" y="1452"/>
                <a:ext cx="2" cy="3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1 h 9"/>
                  <a:gd name="T4" fmla="*/ 5 w 10"/>
                  <a:gd name="T5" fmla="*/ 0 h 9"/>
                  <a:gd name="T6" fmla="*/ 2 w 10"/>
                  <a:gd name="T7" fmla="*/ 1 h 9"/>
                  <a:gd name="T8" fmla="*/ 0 w 10"/>
                  <a:gd name="T9" fmla="*/ 5 h 9"/>
                  <a:gd name="T10" fmla="*/ 2 w 10"/>
                  <a:gd name="T11" fmla="*/ 8 h 9"/>
                  <a:gd name="T12" fmla="*/ 5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8" name="Freeform 245"/>
              <p:cNvSpPr>
                <a:spLocks noChangeAspect="1" noChangeArrowheads="1"/>
              </p:cNvSpPr>
              <p:nvPr/>
            </p:nvSpPr>
            <p:spPr bwMode="auto">
              <a:xfrm>
                <a:off x="5025" y="1425"/>
                <a:ext cx="2" cy="2"/>
              </a:xfrm>
              <a:custGeom>
                <a:avLst/>
                <a:gdLst>
                  <a:gd name="T0" fmla="*/ 10 w 11"/>
                  <a:gd name="T1" fmla="*/ 4 h 9"/>
                  <a:gd name="T2" fmla="*/ 8 w 11"/>
                  <a:gd name="T3" fmla="*/ 1 h 9"/>
                  <a:gd name="T4" fmla="*/ 4 w 11"/>
                  <a:gd name="T5" fmla="*/ 0 h 9"/>
                  <a:gd name="T6" fmla="*/ 1 w 11"/>
                  <a:gd name="T7" fmla="*/ 1 h 9"/>
                  <a:gd name="T8" fmla="*/ 0 w 11"/>
                  <a:gd name="T9" fmla="*/ 4 h 9"/>
                  <a:gd name="T10" fmla="*/ 1 w 11"/>
                  <a:gd name="T11" fmla="*/ 8 h 9"/>
                  <a:gd name="T12" fmla="*/ 4 w 11"/>
                  <a:gd name="T13" fmla="*/ 9 h 9"/>
                  <a:gd name="T14" fmla="*/ 8 w 11"/>
                  <a:gd name="T15" fmla="*/ 8 h 9"/>
                  <a:gd name="T16" fmla="*/ 10 w 11"/>
                  <a:gd name="T17" fmla="*/ 4 h 9"/>
                  <a:gd name="T18" fmla="*/ 11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lnTo>
                      <a:pt x="8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10" y="4"/>
                    </a:lnTo>
                    <a:lnTo>
                      <a:pt x="11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9" name="Freeform 246"/>
              <p:cNvSpPr>
                <a:spLocks noChangeAspect="1" noChangeArrowheads="1"/>
              </p:cNvSpPr>
              <p:nvPr/>
            </p:nvSpPr>
            <p:spPr bwMode="auto">
              <a:xfrm>
                <a:off x="5019" y="1405"/>
                <a:ext cx="3" cy="3"/>
              </a:xfrm>
              <a:custGeom>
                <a:avLst/>
                <a:gdLst>
                  <a:gd name="T0" fmla="*/ 10 w 11"/>
                  <a:gd name="T1" fmla="*/ 4 h 9"/>
                  <a:gd name="T2" fmla="*/ 8 w 11"/>
                  <a:gd name="T3" fmla="*/ 1 h 9"/>
                  <a:gd name="T4" fmla="*/ 5 w 11"/>
                  <a:gd name="T5" fmla="*/ 0 h 9"/>
                  <a:gd name="T6" fmla="*/ 2 w 11"/>
                  <a:gd name="T7" fmla="*/ 1 h 9"/>
                  <a:gd name="T8" fmla="*/ 0 w 11"/>
                  <a:gd name="T9" fmla="*/ 4 h 9"/>
                  <a:gd name="T10" fmla="*/ 2 w 11"/>
                  <a:gd name="T11" fmla="*/ 8 h 9"/>
                  <a:gd name="T12" fmla="*/ 5 w 11"/>
                  <a:gd name="T13" fmla="*/ 9 h 9"/>
                  <a:gd name="T14" fmla="*/ 8 w 11"/>
                  <a:gd name="T15" fmla="*/ 8 h 9"/>
                  <a:gd name="T16" fmla="*/ 10 w 11"/>
                  <a:gd name="T17" fmla="*/ 4 h 9"/>
                  <a:gd name="T18" fmla="*/ 11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4"/>
                    </a:lnTo>
                    <a:lnTo>
                      <a:pt x="11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0" name="Freeform 247"/>
              <p:cNvSpPr>
                <a:spLocks noChangeAspect="1" noChangeArrowheads="1"/>
              </p:cNvSpPr>
              <p:nvPr/>
            </p:nvSpPr>
            <p:spPr bwMode="auto">
              <a:xfrm>
                <a:off x="4984" y="1345"/>
                <a:ext cx="2" cy="6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5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7 h 9"/>
                  <a:gd name="T12" fmla="*/ 5 w 10"/>
                  <a:gd name="T13" fmla="*/ 9 h 9"/>
                  <a:gd name="T14" fmla="*/ 8 w 10"/>
                  <a:gd name="T15" fmla="*/ 7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1" name="Freeform 248"/>
              <p:cNvSpPr>
                <a:spLocks noChangeAspect="1" noChangeArrowheads="1"/>
              </p:cNvSpPr>
              <p:nvPr/>
            </p:nvSpPr>
            <p:spPr bwMode="auto">
              <a:xfrm>
                <a:off x="5052" y="1342"/>
                <a:ext cx="3" cy="3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2 h 9"/>
                  <a:gd name="T4" fmla="*/ 4 w 10"/>
                  <a:gd name="T5" fmla="*/ 0 h 9"/>
                  <a:gd name="T6" fmla="*/ 1 w 10"/>
                  <a:gd name="T7" fmla="*/ 2 h 9"/>
                  <a:gd name="T8" fmla="*/ 0 w 10"/>
                  <a:gd name="T9" fmla="*/ 5 h 9"/>
                  <a:gd name="T10" fmla="*/ 1 w 10"/>
                  <a:gd name="T11" fmla="*/ 8 h 9"/>
                  <a:gd name="T12" fmla="*/ 4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2" name="Freeform 249"/>
              <p:cNvSpPr>
                <a:spLocks noChangeAspect="1" noChangeArrowheads="1"/>
              </p:cNvSpPr>
              <p:nvPr/>
            </p:nvSpPr>
            <p:spPr bwMode="auto">
              <a:xfrm>
                <a:off x="5063" y="1315"/>
                <a:ext cx="3" cy="6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1 h 9"/>
                  <a:gd name="T4" fmla="*/ 5 w 10"/>
                  <a:gd name="T5" fmla="*/ 0 h 9"/>
                  <a:gd name="T6" fmla="*/ 2 w 10"/>
                  <a:gd name="T7" fmla="*/ 1 h 9"/>
                  <a:gd name="T8" fmla="*/ 0 w 10"/>
                  <a:gd name="T9" fmla="*/ 5 h 9"/>
                  <a:gd name="T10" fmla="*/ 2 w 10"/>
                  <a:gd name="T11" fmla="*/ 8 h 9"/>
                  <a:gd name="T12" fmla="*/ 5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3" name="Freeform 250"/>
              <p:cNvSpPr>
                <a:spLocks noChangeAspect="1" noChangeArrowheads="1"/>
              </p:cNvSpPr>
              <p:nvPr/>
            </p:nvSpPr>
            <p:spPr bwMode="auto">
              <a:xfrm>
                <a:off x="5071" y="1342"/>
                <a:ext cx="3" cy="3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2 h 9"/>
                  <a:gd name="T4" fmla="*/ 5 w 10"/>
                  <a:gd name="T5" fmla="*/ 0 h 9"/>
                  <a:gd name="T6" fmla="*/ 1 w 10"/>
                  <a:gd name="T7" fmla="*/ 2 h 9"/>
                  <a:gd name="T8" fmla="*/ 0 w 10"/>
                  <a:gd name="T9" fmla="*/ 5 h 9"/>
                  <a:gd name="T10" fmla="*/ 1 w 10"/>
                  <a:gd name="T11" fmla="*/ 8 h 9"/>
                  <a:gd name="T12" fmla="*/ 5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4" name="Freeform 251"/>
              <p:cNvSpPr>
                <a:spLocks noChangeAspect="1" noChangeArrowheads="1"/>
              </p:cNvSpPr>
              <p:nvPr/>
            </p:nvSpPr>
            <p:spPr bwMode="auto">
              <a:xfrm>
                <a:off x="5082" y="1345"/>
                <a:ext cx="5" cy="3"/>
              </a:xfrm>
              <a:custGeom>
                <a:avLst/>
                <a:gdLst>
                  <a:gd name="T0" fmla="*/ 10 w 11"/>
                  <a:gd name="T1" fmla="*/ 5 h 9"/>
                  <a:gd name="T2" fmla="*/ 8 w 11"/>
                  <a:gd name="T3" fmla="*/ 1 h 9"/>
                  <a:gd name="T4" fmla="*/ 5 w 11"/>
                  <a:gd name="T5" fmla="*/ 0 h 9"/>
                  <a:gd name="T6" fmla="*/ 2 w 11"/>
                  <a:gd name="T7" fmla="*/ 1 h 9"/>
                  <a:gd name="T8" fmla="*/ 0 w 11"/>
                  <a:gd name="T9" fmla="*/ 5 h 9"/>
                  <a:gd name="T10" fmla="*/ 2 w 11"/>
                  <a:gd name="T11" fmla="*/ 8 h 9"/>
                  <a:gd name="T12" fmla="*/ 5 w 11"/>
                  <a:gd name="T13" fmla="*/ 9 h 9"/>
                  <a:gd name="T14" fmla="*/ 8 w 11"/>
                  <a:gd name="T15" fmla="*/ 8 h 9"/>
                  <a:gd name="T16" fmla="*/ 10 w 11"/>
                  <a:gd name="T17" fmla="*/ 5 h 9"/>
                  <a:gd name="T18" fmla="*/ 11 w 11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5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1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5" name="Freeform 252"/>
              <p:cNvSpPr>
                <a:spLocks noChangeAspect="1" noChangeArrowheads="1"/>
              </p:cNvSpPr>
              <p:nvPr/>
            </p:nvSpPr>
            <p:spPr bwMode="auto">
              <a:xfrm>
                <a:off x="5120" y="1353"/>
                <a:ext cx="6" cy="3"/>
              </a:xfrm>
              <a:custGeom>
                <a:avLst/>
                <a:gdLst>
                  <a:gd name="T0" fmla="*/ 9 w 10"/>
                  <a:gd name="T1" fmla="*/ 5 h 10"/>
                  <a:gd name="T2" fmla="*/ 8 w 10"/>
                  <a:gd name="T3" fmla="*/ 1 h 10"/>
                  <a:gd name="T4" fmla="*/ 5 w 10"/>
                  <a:gd name="T5" fmla="*/ 0 h 10"/>
                  <a:gd name="T6" fmla="*/ 1 w 10"/>
                  <a:gd name="T7" fmla="*/ 1 h 10"/>
                  <a:gd name="T8" fmla="*/ 0 w 10"/>
                  <a:gd name="T9" fmla="*/ 5 h 10"/>
                  <a:gd name="T10" fmla="*/ 1 w 10"/>
                  <a:gd name="T11" fmla="*/ 9 h 10"/>
                  <a:gd name="T12" fmla="*/ 5 w 10"/>
                  <a:gd name="T13" fmla="*/ 10 h 10"/>
                  <a:gd name="T14" fmla="*/ 8 w 10"/>
                  <a:gd name="T15" fmla="*/ 9 h 10"/>
                  <a:gd name="T16" fmla="*/ 9 w 10"/>
                  <a:gd name="T17" fmla="*/ 5 h 10"/>
                  <a:gd name="T18" fmla="*/ 10 w 10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9" y="5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6" name="Freeform 253"/>
              <p:cNvSpPr>
                <a:spLocks noChangeAspect="1" noChangeArrowheads="1"/>
              </p:cNvSpPr>
              <p:nvPr/>
            </p:nvSpPr>
            <p:spPr bwMode="auto">
              <a:xfrm>
                <a:off x="5180" y="1362"/>
                <a:ext cx="3" cy="2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5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8 h 9"/>
                  <a:gd name="T12" fmla="*/ 5 w 10"/>
                  <a:gd name="T13" fmla="*/ 9 h 9"/>
                  <a:gd name="T14" fmla="*/ 8 w 10"/>
                  <a:gd name="T15" fmla="*/ 8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7" name="Freeform 254"/>
              <p:cNvSpPr>
                <a:spLocks noChangeAspect="1" noChangeArrowheads="1"/>
              </p:cNvSpPr>
              <p:nvPr/>
            </p:nvSpPr>
            <p:spPr bwMode="auto">
              <a:xfrm>
                <a:off x="5145" y="1405"/>
                <a:ext cx="3" cy="3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2 h 9"/>
                  <a:gd name="T4" fmla="*/ 5 w 10"/>
                  <a:gd name="T5" fmla="*/ 0 h 9"/>
                  <a:gd name="T6" fmla="*/ 1 w 10"/>
                  <a:gd name="T7" fmla="*/ 2 h 9"/>
                  <a:gd name="T8" fmla="*/ 0 w 10"/>
                  <a:gd name="T9" fmla="*/ 5 h 9"/>
                  <a:gd name="T10" fmla="*/ 1 w 10"/>
                  <a:gd name="T11" fmla="*/ 8 h 9"/>
                  <a:gd name="T12" fmla="*/ 5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8" name="Freeform 255"/>
              <p:cNvSpPr>
                <a:spLocks noChangeAspect="1" noChangeArrowheads="1"/>
              </p:cNvSpPr>
              <p:nvPr/>
            </p:nvSpPr>
            <p:spPr bwMode="auto">
              <a:xfrm>
                <a:off x="5186" y="1477"/>
                <a:ext cx="3" cy="2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5 w 10"/>
                  <a:gd name="T5" fmla="*/ 0 h 9"/>
                  <a:gd name="T6" fmla="*/ 2 w 10"/>
                  <a:gd name="T7" fmla="*/ 1 h 9"/>
                  <a:gd name="T8" fmla="*/ 0 w 10"/>
                  <a:gd name="T9" fmla="*/ 4 h 9"/>
                  <a:gd name="T10" fmla="*/ 2 w 10"/>
                  <a:gd name="T11" fmla="*/ 8 h 9"/>
                  <a:gd name="T12" fmla="*/ 5 w 10"/>
                  <a:gd name="T13" fmla="*/ 9 h 9"/>
                  <a:gd name="T14" fmla="*/ 8 w 10"/>
                  <a:gd name="T15" fmla="*/ 8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9" name="Freeform 256"/>
              <p:cNvSpPr>
                <a:spLocks noChangeAspect="1" noChangeArrowheads="1"/>
              </p:cNvSpPr>
              <p:nvPr/>
            </p:nvSpPr>
            <p:spPr bwMode="auto">
              <a:xfrm>
                <a:off x="5183" y="1569"/>
                <a:ext cx="3" cy="6"/>
              </a:xfrm>
              <a:custGeom>
                <a:avLst/>
                <a:gdLst>
                  <a:gd name="T0" fmla="*/ 10 w 11"/>
                  <a:gd name="T1" fmla="*/ 5 h 10"/>
                  <a:gd name="T2" fmla="*/ 8 w 11"/>
                  <a:gd name="T3" fmla="*/ 2 h 10"/>
                  <a:gd name="T4" fmla="*/ 5 w 11"/>
                  <a:gd name="T5" fmla="*/ 0 h 10"/>
                  <a:gd name="T6" fmla="*/ 2 w 11"/>
                  <a:gd name="T7" fmla="*/ 2 h 10"/>
                  <a:gd name="T8" fmla="*/ 0 w 11"/>
                  <a:gd name="T9" fmla="*/ 5 h 10"/>
                  <a:gd name="T10" fmla="*/ 2 w 11"/>
                  <a:gd name="T11" fmla="*/ 8 h 10"/>
                  <a:gd name="T12" fmla="*/ 5 w 11"/>
                  <a:gd name="T13" fmla="*/ 10 h 10"/>
                  <a:gd name="T14" fmla="*/ 8 w 11"/>
                  <a:gd name="T15" fmla="*/ 8 h 10"/>
                  <a:gd name="T16" fmla="*/ 10 w 11"/>
                  <a:gd name="T17" fmla="*/ 5 h 10"/>
                  <a:gd name="T18" fmla="*/ 11 w 11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10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1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0" name="Freeform 257"/>
              <p:cNvSpPr>
                <a:spLocks noChangeAspect="1" noChangeArrowheads="1"/>
              </p:cNvSpPr>
              <p:nvPr/>
            </p:nvSpPr>
            <p:spPr bwMode="auto">
              <a:xfrm>
                <a:off x="5227" y="1638"/>
                <a:ext cx="3" cy="3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5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7 h 9"/>
                  <a:gd name="T12" fmla="*/ 5 w 10"/>
                  <a:gd name="T13" fmla="*/ 9 h 9"/>
                  <a:gd name="T14" fmla="*/ 8 w 10"/>
                  <a:gd name="T15" fmla="*/ 7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1" name="Freeform 258"/>
              <p:cNvSpPr>
                <a:spLocks noChangeAspect="1" noChangeArrowheads="1"/>
              </p:cNvSpPr>
              <p:nvPr/>
            </p:nvSpPr>
            <p:spPr bwMode="auto">
              <a:xfrm>
                <a:off x="5175" y="1528"/>
                <a:ext cx="3" cy="3"/>
              </a:xfrm>
              <a:custGeom>
                <a:avLst/>
                <a:gdLst>
                  <a:gd name="T0" fmla="*/ 10 w 11"/>
                  <a:gd name="T1" fmla="*/ 5 h 9"/>
                  <a:gd name="T2" fmla="*/ 8 w 11"/>
                  <a:gd name="T3" fmla="*/ 2 h 9"/>
                  <a:gd name="T4" fmla="*/ 5 w 11"/>
                  <a:gd name="T5" fmla="*/ 0 h 9"/>
                  <a:gd name="T6" fmla="*/ 2 w 11"/>
                  <a:gd name="T7" fmla="*/ 2 h 9"/>
                  <a:gd name="T8" fmla="*/ 0 w 11"/>
                  <a:gd name="T9" fmla="*/ 5 h 9"/>
                  <a:gd name="T10" fmla="*/ 2 w 11"/>
                  <a:gd name="T11" fmla="*/ 8 h 9"/>
                  <a:gd name="T12" fmla="*/ 5 w 11"/>
                  <a:gd name="T13" fmla="*/ 9 h 9"/>
                  <a:gd name="T14" fmla="*/ 8 w 11"/>
                  <a:gd name="T15" fmla="*/ 8 h 9"/>
                  <a:gd name="T16" fmla="*/ 10 w 11"/>
                  <a:gd name="T17" fmla="*/ 5 h 9"/>
                  <a:gd name="T18" fmla="*/ 11 w 11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1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2" name="Freeform 259"/>
              <p:cNvSpPr>
                <a:spLocks noChangeAspect="1" noChangeArrowheads="1"/>
              </p:cNvSpPr>
              <p:nvPr/>
            </p:nvSpPr>
            <p:spPr bwMode="auto">
              <a:xfrm>
                <a:off x="5156" y="1600"/>
                <a:ext cx="3" cy="2"/>
              </a:xfrm>
              <a:custGeom>
                <a:avLst/>
                <a:gdLst>
                  <a:gd name="T0" fmla="*/ 10 w 11"/>
                  <a:gd name="T1" fmla="*/ 6 h 11"/>
                  <a:gd name="T2" fmla="*/ 9 w 11"/>
                  <a:gd name="T3" fmla="*/ 3 h 11"/>
                  <a:gd name="T4" fmla="*/ 5 w 11"/>
                  <a:gd name="T5" fmla="*/ 0 h 11"/>
                  <a:gd name="T6" fmla="*/ 2 w 11"/>
                  <a:gd name="T7" fmla="*/ 3 h 11"/>
                  <a:gd name="T8" fmla="*/ 0 w 11"/>
                  <a:gd name="T9" fmla="*/ 6 h 11"/>
                  <a:gd name="T10" fmla="*/ 2 w 11"/>
                  <a:gd name="T11" fmla="*/ 9 h 11"/>
                  <a:gd name="T12" fmla="*/ 5 w 11"/>
                  <a:gd name="T13" fmla="*/ 11 h 11"/>
                  <a:gd name="T14" fmla="*/ 9 w 11"/>
                  <a:gd name="T15" fmla="*/ 9 h 11"/>
                  <a:gd name="T16" fmla="*/ 10 w 11"/>
                  <a:gd name="T17" fmla="*/ 6 h 11"/>
                  <a:gd name="T18" fmla="*/ 11 w 11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1">
                    <a:moveTo>
                      <a:pt x="10" y="6"/>
                    </a:moveTo>
                    <a:lnTo>
                      <a:pt x="9" y="3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9" y="9"/>
                    </a:lnTo>
                    <a:lnTo>
                      <a:pt x="10" y="6"/>
                    </a:lnTo>
                    <a:lnTo>
                      <a:pt x="11" y="6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3" name="Freeform 260"/>
              <p:cNvSpPr>
                <a:spLocks noChangeAspect="1" noChangeArrowheads="1"/>
              </p:cNvSpPr>
              <p:nvPr/>
            </p:nvSpPr>
            <p:spPr bwMode="auto">
              <a:xfrm>
                <a:off x="5055" y="1586"/>
                <a:ext cx="2" cy="3"/>
              </a:xfrm>
              <a:custGeom>
                <a:avLst/>
                <a:gdLst>
                  <a:gd name="T0" fmla="*/ 10 w 11"/>
                  <a:gd name="T1" fmla="*/ 5 h 10"/>
                  <a:gd name="T2" fmla="*/ 8 w 11"/>
                  <a:gd name="T3" fmla="*/ 2 h 10"/>
                  <a:gd name="T4" fmla="*/ 5 w 11"/>
                  <a:gd name="T5" fmla="*/ 0 h 10"/>
                  <a:gd name="T6" fmla="*/ 2 w 11"/>
                  <a:gd name="T7" fmla="*/ 2 h 10"/>
                  <a:gd name="T8" fmla="*/ 0 w 11"/>
                  <a:gd name="T9" fmla="*/ 5 h 10"/>
                  <a:gd name="T10" fmla="*/ 2 w 11"/>
                  <a:gd name="T11" fmla="*/ 8 h 10"/>
                  <a:gd name="T12" fmla="*/ 5 w 11"/>
                  <a:gd name="T13" fmla="*/ 10 h 10"/>
                  <a:gd name="T14" fmla="*/ 8 w 11"/>
                  <a:gd name="T15" fmla="*/ 8 h 10"/>
                  <a:gd name="T16" fmla="*/ 10 w 11"/>
                  <a:gd name="T17" fmla="*/ 5 h 10"/>
                  <a:gd name="T18" fmla="*/ 11 w 11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10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1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4" name="Freeform 261"/>
              <p:cNvSpPr>
                <a:spLocks noChangeAspect="1" noChangeArrowheads="1"/>
              </p:cNvSpPr>
              <p:nvPr/>
            </p:nvSpPr>
            <p:spPr bwMode="auto">
              <a:xfrm>
                <a:off x="4973" y="1575"/>
                <a:ext cx="2" cy="3"/>
              </a:xfrm>
              <a:custGeom>
                <a:avLst/>
                <a:gdLst>
                  <a:gd name="T0" fmla="*/ 10 w 11"/>
                  <a:gd name="T1" fmla="*/ 4 h 9"/>
                  <a:gd name="T2" fmla="*/ 8 w 11"/>
                  <a:gd name="T3" fmla="*/ 1 h 9"/>
                  <a:gd name="T4" fmla="*/ 5 w 11"/>
                  <a:gd name="T5" fmla="*/ 0 h 9"/>
                  <a:gd name="T6" fmla="*/ 2 w 11"/>
                  <a:gd name="T7" fmla="*/ 1 h 9"/>
                  <a:gd name="T8" fmla="*/ 0 w 11"/>
                  <a:gd name="T9" fmla="*/ 4 h 9"/>
                  <a:gd name="T10" fmla="*/ 2 w 11"/>
                  <a:gd name="T11" fmla="*/ 7 h 9"/>
                  <a:gd name="T12" fmla="*/ 5 w 11"/>
                  <a:gd name="T13" fmla="*/ 9 h 9"/>
                  <a:gd name="T14" fmla="*/ 8 w 11"/>
                  <a:gd name="T15" fmla="*/ 7 h 9"/>
                  <a:gd name="T16" fmla="*/ 10 w 11"/>
                  <a:gd name="T17" fmla="*/ 4 h 9"/>
                  <a:gd name="T18" fmla="*/ 11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10" y="4"/>
                    </a:lnTo>
                    <a:lnTo>
                      <a:pt x="11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5" name="Freeform 262"/>
              <p:cNvSpPr>
                <a:spLocks noChangeAspect="1" noChangeArrowheads="1"/>
              </p:cNvSpPr>
              <p:nvPr/>
            </p:nvSpPr>
            <p:spPr bwMode="auto">
              <a:xfrm>
                <a:off x="4888" y="1611"/>
                <a:ext cx="5" cy="2"/>
              </a:xfrm>
              <a:custGeom>
                <a:avLst/>
                <a:gdLst>
                  <a:gd name="T0" fmla="*/ 9 w 10"/>
                  <a:gd name="T1" fmla="*/ 4 h 9"/>
                  <a:gd name="T2" fmla="*/ 7 w 10"/>
                  <a:gd name="T3" fmla="*/ 1 h 9"/>
                  <a:gd name="T4" fmla="*/ 4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8 h 9"/>
                  <a:gd name="T12" fmla="*/ 4 w 10"/>
                  <a:gd name="T13" fmla="*/ 9 h 9"/>
                  <a:gd name="T14" fmla="*/ 7 w 10"/>
                  <a:gd name="T15" fmla="*/ 8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7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6" name="Freeform 263"/>
              <p:cNvSpPr>
                <a:spLocks noChangeAspect="1" noChangeArrowheads="1"/>
              </p:cNvSpPr>
              <p:nvPr/>
            </p:nvSpPr>
            <p:spPr bwMode="auto">
              <a:xfrm>
                <a:off x="4918" y="1569"/>
                <a:ext cx="5" cy="3"/>
              </a:xfrm>
              <a:custGeom>
                <a:avLst/>
                <a:gdLst>
                  <a:gd name="T0" fmla="*/ 10 w 11"/>
                  <a:gd name="T1" fmla="*/ 4 h 9"/>
                  <a:gd name="T2" fmla="*/ 8 w 11"/>
                  <a:gd name="T3" fmla="*/ 1 h 9"/>
                  <a:gd name="T4" fmla="*/ 5 w 11"/>
                  <a:gd name="T5" fmla="*/ 0 h 9"/>
                  <a:gd name="T6" fmla="*/ 2 w 11"/>
                  <a:gd name="T7" fmla="*/ 1 h 9"/>
                  <a:gd name="T8" fmla="*/ 0 w 11"/>
                  <a:gd name="T9" fmla="*/ 4 h 9"/>
                  <a:gd name="T10" fmla="*/ 2 w 11"/>
                  <a:gd name="T11" fmla="*/ 7 h 9"/>
                  <a:gd name="T12" fmla="*/ 5 w 11"/>
                  <a:gd name="T13" fmla="*/ 9 h 9"/>
                  <a:gd name="T14" fmla="*/ 8 w 11"/>
                  <a:gd name="T15" fmla="*/ 7 h 9"/>
                  <a:gd name="T16" fmla="*/ 10 w 11"/>
                  <a:gd name="T17" fmla="*/ 4 h 9"/>
                  <a:gd name="T18" fmla="*/ 11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10" y="4"/>
                    </a:lnTo>
                    <a:lnTo>
                      <a:pt x="11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7" name="Freeform 264"/>
              <p:cNvSpPr>
                <a:spLocks noChangeAspect="1" noChangeArrowheads="1"/>
              </p:cNvSpPr>
              <p:nvPr/>
            </p:nvSpPr>
            <p:spPr bwMode="auto">
              <a:xfrm>
                <a:off x="4869" y="1575"/>
                <a:ext cx="2" cy="5"/>
              </a:xfrm>
              <a:custGeom>
                <a:avLst/>
                <a:gdLst>
                  <a:gd name="T0" fmla="*/ 10 w 11"/>
                  <a:gd name="T1" fmla="*/ 4 h 9"/>
                  <a:gd name="T2" fmla="*/ 8 w 11"/>
                  <a:gd name="T3" fmla="*/ 1 h 9"/>
                  <a:gd name="T4" fmla="*/ 5 w 11"/>
                  <a:gd name="T5" fmla="*/ 0 h 9"/>
                  <a:gd name="T6" fmla="*/ 2 w 11"/>
                  <a:gd name="T7" fmla="*/ 1 h 9"/>
                  <a:gd name="T8" fmla="*/ 0 w 11"/>
                  <a:gd name="T9" fmla="*/ 4 h 9"/>
                  <a:gd name="T10" fmla="*/ 2 w 11"/>
                  <a:gd name="T11" fmla="*/ 8 h 9"/>
                  <a:gd name="T12" fmla="*/ 5 w 11"/>
                  <a:gd name="T13" fmla="*/ 9 h 9"/>
                  <a:gd name="T14" fmla="*/ 8 w 11"/>
                  <a:gd name="T15" fmla="*/ 8 h 9"/>
                  <a:gd name="T16" fmla="*/ 10 w 11"/>
                  <a:gd name="T17" fmla="*/ 4 h 9"/>
                  <a:gd name="T18" fmla="*/ 11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4"/>
                    </a:lnTo>
                    <a:lnTo>
                      <a:pt x="11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8" name="Freeform 265"/>
              <p:cNvSpPr>
                <a:spLocks noChangeAspect="1" noChangeArrowheads="1"/>
              </p:cNvSpPr>
              <p:nvPr/>
            </p:nvSpPr>
            <p:spPr bwMode="auto">
              <a:xfrm>
                <a:off x="4713" y="1638"/>
                <a:ext cx="3" cy="3"/>
              </a:xfrm>
              <a:custGeom>
                <a:avLst/>
                <a:gdLst>
                  <a:gd name="T0" fmla="*/ 10 w 11"/>
                  <a:gd name="T1" fmla="*/ 4 h 9"/>
                  <a:gd name="T2" fmla="*/ 9 w 11"/>
                  <a:gd name="T3" fmla="*/ 1 h 9"/>
                  <a:gd name="T4" fmla="*/ 5 w 11"/>
                  <a:gd name="T5" fmla="*/ 0 h 9"/>
                  <a:gd name="T6" fmla="*/ 1 w 11"/>
                  <a:gd name="T7" fmla="*/ 1 h 9"/>
                  <a:gd name="T8" fmla="*/ 0 w 11"/>
                  <a:gd name="T9" fmla="*/ 4 h 9"/>
                  <a:gd name="T10" fmla="*/ 1 w 11"/>
                  <a:gd name="T11" fmla="*/ 7 h 9"/>
                  <a:gd name="T12" fmla="*/ 5 w 11"/>
                  <a:gd name="T13" fmla="*/ 9 h 9"/>
                  <a:gd name="T14" fmla="*/ 9 w 11"/>
                  <a:gd name="T15" fmla="*/ 7 h 9"/>
                  <a:gd name="T16" fmla="*/ 10 w 11"/>
                  <a:gd name="T17" fmla="*/ 4 h 9"/>
                  <a:gd name="T18" fmla="*/ 11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lnTo>
                      <a:pt x="9" y="1"/>
                    </a:lnTo>
                    <a:lnTo>
                      <a:pt x="5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5" y="9"/>
                    </a:lnTo>
                    <a:lnTo>
                      <a:pt x="9" y="7"/>
                    </a:lnTo>
                    <a:lnTo>
                      <a:pt x="10" y="4"/>
                    </a:lnTo>
                    <a:lnTo>
                      <a:pt x="11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9" name="Freeform 266"/>
              <p:cNvSpPr>
                <a:spLocks noChangeAspect="1" noChangeArrowheads="1"/>
              </p:cNvSpPr>
              <p:nvPr/>
            </p:nvSpPr>
            <p:spPr bwMode="auto">
              <a:xfrm>
                <a:off x="4759" y="1594"/>
                <a:ext cx="3" cy="3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1 h 9"/>
                  <a:gd name="T4" fmla="*/ 4 w 10"/>
                  <a:gd name="T5" fmla="*/ 0 h 9"/>
                  <a:gd name="T6" fmla="*/ 1 w 10"/>
                  <a:gd name="T7" fmla="*/ 1 h 9"/>
                  <a:gd name="T8" fmla="*/ 0 w 10"/>
                  <a:gd name="T9" fmla="*/ 5 h 9"/>
                  <a:gd name="T10" fmla="*/ 1 w 10"/>
                  <a:gd name="T11" fmla="*/ 8 h 9"/>
                  <a:gd name="T12" fmla="*/ 4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0" name="Freeform 267"/>
              <p:cNvSpPr>
                <a:spLocks noChangeAspect="1" noChangeArrowheads="1"/>
              </p:cNvSpPr>
              <p:nvPr/>
            </p:nvSpPr>
            <p:spPr bwMode="auto">
              <a:xfrm>
                <a:off x="4743" y="1537"/>
                <a:ext cx="5" cy="2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1 h 9"/>
                  <a:gd name="T4" fmla="*/ 4 w 10"/>
                  <a:gd name="T5" fmla="*/ 0 h 9"/>
                  <a:gd name="T6" fmla="*/ 1 w 10"/>
                  <a:gd name="T7" fmla="*/ 1 h 9"/>
                  <a:gd name="T8" fmla="*/ 0 w 10"/>
                  <a:gd name="T9" fmla="*/ 5 h 9"/>
                  <a:gd name="T10" fmla="*/ 1 w 10"/>
                  <a:gd name="T11" fmla="*/ 8 h 9"/>
                  <a:gd name="T12" fmla="*/ 4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1" name="Freeform 268"/>
              <p:cNvSpPr>
                <a:spLocks noChangeAspect="1" noChangeArrowheads="1"/>
              </p:cNvSpPr>
              <p:nvPr/>
            </p:nvSpPr>
            <p:spPr bwMode="auto">
              <a:xfrm>
                <a:off x="4743" y="1487"/>
                <a:ext cx="3" cy="3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1 h 9"/>
                  <a:gd name="T4" fmla="*/ 5 w 10"/>
                  <a:gd name="T5" fmla="*/ 0 h 9"/>
                  <a:gd name="T6" fmla="*/ 1 w 10"/>
                  <a:gd name="T7" fmla="*/ 1 h 9"/>
                  <a:gd name="T8" fmla="*/ 0 w 10"/>
                  <a:gd name="T9" fmla="*/ 5 h 9"/>
                  <a:gd name="T10" fmla="*/ 1 w 10"/>
                  <a:gd name="T11" fmla="*/ 8 h 9"/>
                  <a:gd name="T12" fmla="*/ 5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2" name="Freeform 269"/>
              <p:cNvSpPr>
                <a:spLocks noChangeAspect="1" noChangeArrowheads="1"/>
              </p:cNvSpPr>
              <p:nvPr/>
            </p:nvSpPr>
            <p:spPr bwMode="auto">
              <a:xfrm>
                <a:off x="4738" y="1430"/>
                <a:ext cx="2" cy="5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1 h 9"/>
                  <a:gd name="T4" fmla="*/ 4 w 10"/>
                  <a:gd name="T5" fmla="*/ 0 h 9"/>
                  <a:gd name="T6" fmla="*/ 1 w 10"/>
                  <a:gd name="T7" fmla="*/ 1 h 9"/>
                  <a:gd name="T8" fmla="*/ 0 w 10"/>
                  <a:gd name="T9" fmla="*/ 5 h 9"/>
                  <a:gd name="T10" fmla="*/ 1 w 10"/>
                  <a:gd name="T11" fmla="*/ 8 h 9"/>
                  <a:gd name="T12" fmla="*/ 4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3" name="Freeform 270"/>
              <p:cNvSpPr>
                <a:spLocks noChangeAspect="1" noChangeArrowheads="1"/>
              </p:cNvSpPr>
              <p:nvPr/>
            </p:nvSpPr>
            <p:spPr bwMode="auto">
              <a:xfrm>
                <a:off x="4738" y="1373"/>
                <a:ext cx="2" cy="2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1 h 9"/>
                  <a:gd name="T4" fmla="*/ 4 w 10"/>
                  <a:gd name="T5" fmla="*/ 0 h 9"/>
                  <a:gd name="T6" fmla="*/ 1 w 10"/>
                  <a:gd name="T7" fmla="*/ 1 h 9"/>
                  <a:gd name="T8" fmla="*/ 0 w 10"/>
                  <a:gd name="T9" fmla="*/ 5 h 9"/>
                  <a:gd name="T10" fmla="*/ 1 w 10"/>
                  <a:gd name="T11" fmla="*/ 8 h 9"/>
                  <a:gd name="T12" fmla="*/ 4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4" name="Freeform 271"/>
              <p:cNvSpPr>
                <a:spLocks noChangeAspect="1" noChangeArrowheads="1"/>
              </p:cNvSpPr>
              <p:nvPr/>
            </p:nvSpPr>
            <p:spPr bwMode="auto">
              <a:xfrm>
                <a:off x="4729" y="1326"/>
                <a:ext cx="6" cy="3"/>
              </a:xfrm>
              <a:custGeom>
                <a:avLst/>
                <a:gdLst>
                  <a:gd name="T0" fmla="*/ 10 w 11"/>
                  <a:gd name="T1" fmla="*/ 4 h 9"/>
                  <a:gd name="T2" fmla="*/ 9 w 11"/>
                  <a:gd name="T3" fmla="*/ 1 h 9"/>
                  <a:gd name="T4" fmla="*/ 4 w 11"/>
                  <a:gd name="T5" fmla="*/ 0 h 9"/>
                  <a:gd name="T6" fmla="*/ 1 w 11"/>
                  <a:gd name="T7" fmla="*/ 1 h 9"/>
                  <a:gd name="T8" fmla="*/ 0 w 11"/>
                  <a:gd name="T9" fmla="*/ 4 h 9"/>
                  <a:gd name="T10" fmla="*/ 1 w 11"/>
                  <a:gd name="T11" fmla="*/ 7 h 9"/>
                  <a:gd name="T12" fmla="*/ 4 w 11"/>
                  <a:gd name="T13" fmla="*/ 9 h 9"/>
                  <a:gd name="T14" fmla="*/ 9 w 11"/>
                  <a:gd name="T15" fmla="*/ 7 h 9"/>
                  <a:gd name="T16" fmla="*/ 10 w 11"/>
                  <a:gd name="T17" fmla="*/ 4 h 9"/>
                  <a:gd name="T18" fmla="*/ 11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lnTo>
                      <a:pt x="9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4" y="9"/>
                    </a:lnTo>
                    <a:lnTo>
                      <a:pt x="9" y="7"/>
                    </a:lnTo>
                    <a:lnTo>
                      <a:pt x="10" y="4"/>
                    </a:lnTo>
                    <a:lnTo>
                      <a:pt x="11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5" name="Freeform 272"/>
              <p:cNvSpPr>
                <a:spLocks noChangeAspect="1" noChangeArrowheads="1"/>
              </p:cNvSpPr>
              <p:nvPr/>
            </p:nvSpPr>
            <p:spPr bwMode="auto">
              <a:xfrm>
                <a:off x="4738" y="1580"/>
                <a:ext cx="5" cy="3"/>
              </a:xfrm>
              <a:custGeom>
                <a:avLst/>
                <a:gdLst>
                  <a:gd name="T0" fmla="*/ 9 w 10"/>
                  <a:gd name="T1" fmla="*/ 5 h 9"/>
                  <a:gd name="T2" fmla="*/ 7 w 10"/>
                  <a:gd name="T3" fmla="*/ 2 h 9"/>
                  <a:gd name="T4" fmla="*/ 4 w 10"/>
                  <a:gd name="T5" fmla="*/ 0 h 9"/>
                  <a:gd name="T6" fmla="*/ 1 w 10"/>
                  <a:gd name="T7" fmla="*/ 2 h 9"/>
                  <a:gd name="T8" fmla="*/ 0 w 10"/>
                  <a:gd name="T9" fmla="*/ 5 h 9"/>
                  <a:gd name="T10" fmla="*/ 1 w 10"/>
                  <a:gd name="T11" fmla="*/ 8 h 9"/>
                  <a:gd name="T12" fmla="*/ 4 w 10"/>
                  <a:gd name="T13" fmla="*/ 9 h 9"/>
                  <a:gd name="T14" fmla="*/ 7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7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6" name="Freeform 273"/>
              <p:cNvSpPr>
                <a:spLocks noChangeAspect="1" noChangeArrowheads="1"/>
              </p:cNvSpPr>
              <p:nvPr/>
            </p:nvSpPr>
            <p:spPr bwMode="auto">
              <a:xfrm>
                <a:off x="4781" y="1619"/>
                <a:ext cx="6" cy="2"/>
              </a:xfrm>
              <a:custGeom>
                <a:avLst/>
                <a:gdLst>
                  <a:gd name="T0" fmla="*/ 9 w 10"/>
                  <a:gd name="T1" fmla="*/ 4 h 9"/>
                  <a:gd name="T2" fmla="*/ 7 w 10"/>
                  <a:gd name="T3" fmla="*/ 1 h 9"/>
                  <a:gd name="T4" fmla="*/ 4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8 h 9"/>
                  <a:gd name="T12" fmla="*/ 4 w 10"/>
                  <a:gd name="T13" fmla="*/ 9 h 9"/>
                  <a:gd name="T14" fmla="*/ 7 w 10"/>
                  <a:gd name="T15" fmla="*/ 8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7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7" name="Freeform 274"/>
              <p:cNvSpPr>
                <a:spLocks noChangeAspect="1" noChangeArrowheads="1"/>
              </p:cNvSpPr>
              <p:nvPr/>
            </p:nvSpPr>
            <p:spPr bwMode="auto">
              <a:xfrm>
                <a:off x="4926" y="1613"/>
                <a:ext cx="3" cy="3"/>
              </a:xfrm>
              <a:custGeom>
                <a:avLst/>
                <a:gdLst>
                  <a:gd name="T0" fmla="*/ 10 w 11"/>
                  <a:gd name="T1" fmla="*/ 4 h 9"/>
                  <a:gd name="T2" fmla="*/ 9 w 11"/>
                  <a:gd name="T3" fmla="*/ 1 h 9"/>
                  <a:gd name="T4" fmla="*/ 5 w 11"/>
                  <a:gd name="T5" fmla="*/ 0 h 9"/>
                  <a:gd name="T6" fmla="*/ 2 w 11"/>
                  <a:gd name="T7" fmla="*/ 1 h 9"/>
                  <a:gd name="T8" fmla="*/ 0 w 11"/>
                  <a:gd name="T9" fmla="*/ 4 h 9"/>
                  <a:gd name="T10" fmla="*/ 2 w 11"/>
                  <a:gd name="T11" fmla="*/ 7 h 9"/>
                  <a:gd name="T12" fmla="*/ 5 w 11"/>
                  <a:gd name="T13" fmla="*/ 9 h 9"/>
                  <a:gd name="T14" fmla="*/ 9 w 11"/>
                  <a:gd name="T15" fmla="*/ 7 h 9"/>
                  <a:gd name="T16" fmla="*/ 10 w 11"/>
                  <a:gd name="T17" fmla="*/ 4 h 9"/>
                  <a:gd name="T18" fmla="*/ 11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lnTo>
                      <a:pt x="9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5" y="9"/>
                    </a:lnTo>
                    <a:lnTo>
                      <a:pt x="9" y="7"/>
                    </a:lnTo>
                    <a:lnTo>
                      <a:pt x="10" y="4"/>
                    </a:lnTo>
                    <a:lnTo>
                      <a:pt x="11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8" name="Freeform 275"/>
              <p:cNvSpPr>
                <a:spLocks noChangeAspect="1" noChangeArrowheads="1"/>
              </p:cNvSpPr>
              <p:nvPr/>
            </p:nvSpPr>
            <p:spPr bwMode="auto">
              <a:xfrm>
                <a:off x="4850" y="1619"/>
                <a:ext cx="2" cy="2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5 w 10"/>
                  <a:gd name="T5" fmla="*/ 0 h 9"/>
                  <a:gd name="T6" fmla="*/ 2 w 10"/>
                  <a:gd name="T7" fmla="*/ 1 h 9"/>
                  <a:gd name="T8" fmla="*/ 0 w 10"/>
                  <a:gd name="T9" fmla="*/ 4 h 9"/>
                  <a:gd name="T10" fmla="*/ 2 w 10"/>
                  <a:gd name="T11" fmla="*/ 8 h 9"/>
                  <a:gd name="T12" fmla="*/ 5 w 10"/>
                  <a:gd name="T13" fmla="*/ 9 h 9"/>
                  <a:gd name="T14" fmla="*/ 8 w 10"/>
                  <a:gd name="T15" fmla="*/ 8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9" name="Freeform 276"/>
              <p:cNvSpPr>
                <a:spLocks noChangeAspect="1" noChangeArrowheads="1"/>
              </p:cNvSpPr>
              <p:nvPr/>
            </p:nvSpPr>
            <p:spPr bwMode="auto">
              <a:xfrm>
                <a:off x="5008" y="1619"/>
                <a:ext cx="3" cy="2"/>
              </a:xfrm>
              <a:custGeom>
                <a:avLst/>
                <a:gdLst>
                  <a:gd name="T0" fmla="*/ 10 w 11"/>
                  <a:gd name="T1" fmla="*/ 4 h 9"/>
                  <a:gd name="T2" fmla="*/ 9 w 11"/>
                  <a:gd name="T3" fmla="*/ 1 h 9"/>
                  <a:gd name="T4" fmla="*/ 4 w 11"/>
                  <a:gd name="T5" fmla="*/ 0 h 9"/>
                  <a:gd name="T6" fmla="*/ 1 w 11"/>
                  <a:gd name="T7" fmla="*/ 1 h 9"/>
                  <a:gd name="T8" fmla="*/ 0 w 11"/>
                  <a:gd name="T9" fmla="*/ 4 h 9"/>
                  <a:gd name="T10" fmla="*/ 1 w 11"/>
                  <a:gd name="T11" fmla="*/ 8 h 9"/>
                  <a:gd name="T12" fmla="*/ 4 w 11"/>
                  <a:gd name="T13" fmla="*/ 9 h 9"/>
                  <a:gd name="T14" fmla="*/ 9 w 11"/>
                  <a:gd name="T15" fmla="*/ 8 h 9"/>
                  <a:gd name="T16" fmla="*/ 10 w 11"/>
                  <a:gd name="T17" fmla="*/ 4 h 9"/>
                  <a:gd name="T18" fmla="*/ 11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lnTo>
                      <a:pt x="9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9" y="8"/>
                    </a:lnTo>
                    <a:lnTo>
                      <a:pt x="10" y="4"/>
                    </a:lnTo>
                    <a:lnTo>
                      <a:pt x="11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0" name="Freeform 277"/>
              <p:cNvSpPr>
                <a:spLocks noChangeAspect="1" noChangeArrowheads="1"/>
              </p:cNvSpPr>
              <p:nvPr/>
            </p:nvSpPr>
            <p:spPr bwMode="auto">
              <a:xfrm>
                <a:off x="5019" y="1580"/>
                <a:ext cx="3" cy="3"/>
              </a:xfrm>
              <a:custGeom>
                <a:avLst/>
                <a:gdLst>
                  <a:gd name="T0" fmla="*/ 10 w 11"/>
                  <a:gd name="T1" fmla="*/ 5 h 9"/>
                  <a:gd name="T2" fmla="*/ 8 w 11"/>
                  <a:gd name="T3" fmla="*/ 2 h 9"/>
                  <a:gd name="T4" fmla="*/ 5 w 11"/>
                  <a:gd name="T5" fmla="*/ 0 h 9"/>
                  <a:gd name="T6" fmla="*/ 2 w 11"/>
                  <a:gd name="T7" fmla="*/ 2 h 9"/>
                  <a:gd name="T8" fmla="*/ 0 w 11"/>
                  <a:gd name="T9" fmla="*/ 5 h 9"/>
                  <a:gd name="T10" fmla="*/ 2 w 11"/>
                  <a:gd name="T11" fmla="*/ 8 h 9"/>
                  <a:gd name="T12" fmla="*/ 5 w 11"/>
                  <a:gd name="T13" fmla="*/ 9 h 9"/>
                  <a:gd name="T14" fmla="*/ 8 w 11"/>
                  <a:gd name="T15" fmla="*/ 8 h 9"/>
                  <a:gd name="T16" fmla="*/ 10 w 11"/>
                  <a:gd name="T17" fmla="*/ 5 h 9"/>
                  <a:gd name="T18" fmla="*/ 11 w 11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1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1" name="Freeform 278"/>
              <p:cNvSpPr>
                <a:spLocks noChangeAspect="1" noChangeArrowheads="1"/>
              </p:cNvSpPr>
              <p:nvPr/>
            </p:nvSpPr>
            <p:spPr bwMode="auto">
              <a:xfrm>
                <a:off x="5085" y="1548"/>
                <a:ext cx="2" cy="2"/>
              </a:xfrm>
              <a:custGeom>
                <a:avLst/>
                <a:gdLst>
                  <a:gd name="T0" fmla="*/ 9 w 10"/>
                  <a:gd name="T1" fmla="*/ 4 h 10"/>
                  <a:gd name="T2" fmla="*/ 8 w 10"/>
                  <a:gd name="T3" fmla="*/ 1 h 10"/>
                  <a:gd name="T4" fmla="*/ 5 w 10"/>
                  <a:gd name="T5" fmla="*/ 0 h 10"/>
                  <a:gd name="T6" fmla="*/ 2 w 10"/>
                  <a:gd name="T7" fmla="*/ 1 h 10"/>
                  <a:gd name="T8" fmla="*/ 0 w 10"/>
                  <a:gd name="T9" fmla="*/ 4 h 10"/>
                  <a:gd name="T10" fmla="*/ 2 w 10"/>
                  <a:gd name="T11" fmla="*/ 9 h 10"/>
                  <a:gd name="T12" fmla="*/ 5 w 10"/>
                  <a:gd name="T13" fmla="*/ 10 h 10"/>
                  <a:gd name="T14" fmla="*/ 8 w 10"/>
                  <a:gd name="T15" fmla="*/ 9 h 10"/>
                  <a:gd name="T16" fmla="*/ 9 w 10"/>
                  <a:gd name="T17" fmla="*/ 4 h 10"/>
                  <a:gd name="T18" fmla="*/ 10 w 10"/>
                  <a:gd name="T1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9" y="4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2" name="Freeform 279"/>
              <p:cNvSpPr>
                <a:spLocks noChangeAspect="1" noChangeArrowheads="1"/>
              </p:cNvSpPr>
              <p:nvPr/>
            </p:nvSpPr>
            <p:spPr bwMode="auto">
              <a:xfrm>
                <a:off x="5093" y="1504"/>
                <a:ext cx="3" cy="3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1 h 9"/>
                  <a:gd name="T4" fmla="*/ 5 w 10"/>
                  <a:gd name="T5" fmla="*/ 0 h 9"/>
                  <a:gd name="T6" fmla="*/ 1 w 10"/>
                  <a:gd name="T7" fmla="*/ 1 h 9"/>
                  <a:gd name="T8" fmla="*/ 0 w 10"/>
                  <a:gd name="T9" fmla="*/ 5 h 9"/>
                  <a:gd name="T10" fmla="*/ 1 w 10"/>
                  <a:gd name="T11" fmla="*/ 8 h 9"/>
                  <a:gd name="T12" fmla="*/ 5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1"/>
                    </a:lnTo>
                    <a:lnTo>
                      <a:pt x="5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3" name="Freeform 280"/>
              <p:cNvSpPr>
                <a:spLocks noChangeAspect="1" noChangeArrowheads="1"/>
              </p:cNvSpPr>
              <p:nvPr/>
            </p:nvSpPr>
            <p:spPr bwMode="auto">
              <a:xfrm>
                <a:off x="5104" y="1457"/>
                <a:ext cx="5" cy="3"/>
              </a:xfrm>
              <a:custGeom>
                <a:avLst/>
                <a:gdLst>
                  <a:gd name="T0" fmla="*/ 10 w 11"/>
                  <a:gd name="T1" fmla="*/ 5 h 9"/>
                  <a:gd name="T2" fmla="*/ 8 w 11"/>
                  <a:gd name="T3" fmla="*/ 2 h 9"/>
                  <a:gd name="T4" fmla="*/ 5 w 11"/>
                  <a:gd name="T5" fmla="*/ 0 h 9"/>
                  <a:gd name="T6" fmla="*/ 2 w 11"/>
                  <a:gd name="T7" fmla="*/ 2 h 9"/>
                  <a:gd name="T8" fmla="*/ 0 w 11"/>
                  <a:gd name="T9" fmla="*/ 5 h 9"/>
                  <a:gd name="T10" fmla="*/ 2 w 11"/>
                  <a:gd name="T11" fmla="*/ 8 h 9"/>
                  <a:gd name="T12" fmla="*/ 5 w 11"/>
                  <a:gd name="T13" fmla="*/ 9 h 9"/>
                  <a:gd name="T14" fmla="*/ 8 w 11"/>
                  <a:gd name="T15" fmla="*/ 8 h 9"/>
                  <a:gd name="T16" fmla="*/ 10 w 11"/>
                  <a:gd name="T17" fmla="*/ 5 h 9"/>
                  <a:gd name="T18" fmla="*/ 11 w 11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1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4" name="Freeform 281"/>
              <p:cNvSpPr>
                <a:spLocks noChangeAspect="1" noChangeArrowheads="1"/>
              </p:cNvSpPr>
              <p:nvPr/>
            </p:nvSpPr>
            <p:spPr bwMode="auto">
              <a:xfrm>
                <a:off x="5148" y="1457"/>
                <a:ext cx="5" cy="3"/>
              </a:xfrm>
              <a:custGeom>
                <a:avLst/>
                <a:gdLst>
                  <a:gd name="T0" fmla="*/ 10 w 11"/>
                  <a:gd name="T1" fmla="*/ 5 h 9"/>
                  <a:gd name="T2" fmla="*/ 8 w 11"/>
                  <a:gd name="T3" fmla="*/ 2 h 9"/>
                  <a:gd name="T4" fmla="*/ 5 w 11"/>
                  <a:gd name="T5" fmla="*/ 0 h 9"/>
                  <a:gd name="T6" fmla="*/ 2 w 11"/>
                  <a:gd name="T7" fmla="*/ 2 h 9"/>
                  <a:gd name="T8" fmla="*/ 0 w 11"/>
                  <a:gd name="T9" fmla="*/ 5 h 9"/>
                  <a:gd name="T10" fmla="*/ 2 w 11"/>
                  <a:gd name="T11" fmla="*/ 8 h 9"/>
                  <a:gd name="T12" fmla="*/ 5 w 11"/>
                  <a:gd name="T13" fmla="*/ 9 h 9"/>
                  <a:gd name="T14" fmla="*/ 8 w 11"/>
                  <a:gd name="T15" fmla="*/ 8 h 9"/>
                  <a:gd name="T16" fmla="*/ 10 w 11"/>
                  <a:gd name="T17" fmla="*/ 5 h 9"/>
                  <a:gd name="T18" fmla="*/ 11 w 11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1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5" name="Freeform 282"/>
              <p:cNvSpPr>
                <a:spLocks noChangeAspect="1" noChangeArrowheads="1"/>
              </p:cNvSpPr>
              <p:nvPr/>
            </p:nvSpPr>
            <p:spPr bwMode="auto">
              <a:xfrm>
                <a:off x="5186" y="1422"/>
                <a:ext cx="3" cy="3"/>
              </a:xfrm>
              <a:custGeom>
                <a:avLst/>
                <a:gdLst>
                  <a:gd name="T0" fmla="*/ 9 w 10"/>
                  <a:gd name="T1" fmla="*/ 5 h 10"/>
                  <a:gd name="T2" fmla="*/ 8 w 10"/>
                  <a:gd name="T3" fmla="*/ 2 h 10"/>
                  <a:gd name="T4" fmla="*/ 5 w 10"/>
                  <a:gd name="T5" fmla="*/ 0 h 10"/>
                  <a:gd name="T6" fmla="*/ 2 w 10"/>
                  <a:gd name="T7" fmla="*/ 2 h 10"/>
                  <a:gd name="T8" fmla="*/ 0 w 10"/>
                  <a:gd name="T9" fmla="*/ 5 h 10"/>
                  <a:gd name="T10" fmla="*/ 2 w 10"/>
                  <a:gd name="T11" fmla="*/ 8 h 10"/>
                  <a:gd name="T12" fmla="*/ 5 w 10"/>
                  <a:gd name="T13" fmla="*/ 10 h 10"/>
                  <a:gd name="T14" fmla="*/ 8 w 10"/>
                  <a:gd name="T15" fmla="*/ 8 h 10"/>
                  <a:gd name="T16" fmla="*/ 9 w 10"/>
                  <a:gd name="T17" fmla="*/ 5 h 10"/>
                  <a:gd name="T18" fmla="*/ 10 w 10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9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6" name="Freeform 283"/>
              <p:cNvSpPr>
                <a:spLocks noChangeAspect="1" noChangeArrowheads="1"/>
              </p:cNvSpPr>
              <p:nvPr/>
            </p:nvSpPr>
            <p:spPr bwMode="auto">
              <a:xfrm>
                <a:off x="5202" y="1362"/>
                <a:ext cx="3" cy="2"/>
              </a:xfrm>
              <a:custGeom>
                <a:avLst/>
                <a:gdLst>
                  <a:gd name="T0" fmla="*/ 9 w 10"/>
                  <a:gd name="T1" fmla="*/ 4 h 9"/>
                  <a:gd name="T2" fmla="*/ 8 w 10"/>
                  <a:gd name="T3" fmla="*/ 1 h 9"/>
                  <a:gd name="T4" fmla="*/ 4 w 10"/>
                  <a:gd name="T5" fmla="*/ 0 h 9"/>
                  <a:gd name="T6" fmla="*/ 1 w 10"/>
                  <a:gd name="T7" fmla="*/ 1 h 9"/>
                  <a:gd name="T8" fmla="*/ 0 w 10"/>
                  <a:gd name="T9" fmla="*/ 4 h 9"/>
                  <a:gd name="T10" fmla="*/ 1 w 10"/>
                  <a:gd name="T11" fmla="*/ 8 h 9"/>
                  <a:gd name="T12" fmla="*/ 4 w 10"/>
                  <a:gd name="T13" fmla="*/ 9 h 9"/>
                  <a:gd name="T14" fmla="*/ 8 w 10"/>
                  <a:gd name="T15" fmla="*/ 8 h 9"/>
                  <a:gd name="T16" fmla="*/ 9 w 10"/>
                  <a:gd name="T17" fmla="*/ 4 h 9"/>
                  <a:gd name="T18" fmla="*/ 10 w 10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4"/>
                    </a:moveTo>
                    <a:lnTo>
                      <a:pt x="8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9" y="4"/>
                    </a:lnTo>
                    <a:lnTo>
                      <a:pt x="10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7" name="Freeform 284"/>
              <p:cNvSpPr>
                <a:spLocks noChangeAspect="1" noChangeArrowheads="1"/>
              </p:cNvSpPr>
              <p:nvPr/>
            </p:nvSpPr>
            <p:spPr bwMode="auto">
              <a:xfrm>
                <a:off x="5145" y="1405"/>
                <a:ext cx="3" cy="3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2 h 9"/>
                  <a:gd name="T4" fmla="*/ 5 w 10"/>
                  <a:gd name="T5" fmla="*/ 0 h 9"/>
                  <a:gd name="T6" fmla="*/ 1 w 10"/>
                  <a:gd name="T7" fmla="*/ 2 h 9"/>
                  <a:gd name="T8" fmla="*/ 0 w 10"/>
                  <a:gd name="T9" fmla="*/ 5 h 9"/>
                  <a:gd name="T10" fmla="*/ 1 w 10"/>
                  <a:gd name="T11" fmla="*/ 8 h 9"/>
                  <a:gd name="T12" fmla="*/ 5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8" name="Freeform 285"/>
              <p:cNvSpPr>
                <a:spLocks noChangeAspect="1" noChangeArrowheads="1"/>
              </p:cNvSpPr>
              <p:nvPr/>
            </p:nvSpPr>
            <p:spPr bwMode="auto">
              <a:xfrm>
                <a:off x="5189" y="1323"/>
                <a:ext cx="5" cy="6"/>
              </a:xfrm>
              <a:custGeom>
                <a:avLst/>
                <a:gdLst>
                  <a:gd name="T0" fmla="*/ 10 w 11"/>
                  <a:gd name="T1" fmla="*/ 4 h 9"/>
                  <a:gd name="T2" fmla="*/ 8 w 11"/>
                  <a:gd name="T3" fmla="*/ 1 h 9"/>
                  <a:gd name="T4" fmla="*/ 4 w 11"/>
                  <a:gd name="T5" fmla="*/ 0 h 9"/>
                  <a:gd name="T6" fmla="*/ 1 w 11"/>
                  <a:gd name="T7" fmla="*/ 1 h 9"/>
                  <a:gd name="T8" fmla="*/ 0 w 11"/>
                  <a:gd name="T9" fmla="*/ 4 h 9"/>
                  <a:gd name="T10" fmla="*/ 1 w 11"/>
                  <a:gd name="T11" fmla="*/ 8 h 9"/>
                  <a:gd name="T12" fmla="*/ 4 w 11"/>
                  <a:gd name="T13" fmla="*/ 9 h 9"/>
                  <a:gd name="T14" fmla="*/ 8 w 11"/>
                  <a:gd name="T15" fmla="*/ 8 h 9"/>
                  <a:gd name="T16" fmla="*/ 10 w 11"/>
                  <a:gd name="T17" fmla="*/ 4 h 9"/>
                  <a:gd name="T18" fmla="*/ 11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4"/>
                    </a:moveTo>
                    <a:lnTo>
                      <a:pt x="8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10" y="4"/>
                    </a:lnTo>
                    <a:lnTo>
                      <a:pt x="11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9" name="Freeform 286"/>
              <p:cNvSpPr>
                <a:spLocks noChangeAspect="1" noChangeArrowheads="1"/>
              </p:cNvSpPr>
              <p:nvPr/>
            </p:nvSpPr>
            <p:spPr bwMode="auto">
              <a:xfrm>
                <a:off x="5142" y="1381"/>
                <a:ext cx="6" cy="3"/>
              </a:xfrm>
              <a:custGeom>
                <a:avLst/>
                <a:gdLst>
                  <a:gd name="T0" fmla="*/ 9 w 10"/>
                  <a:gd name="T1" fmla="*/ 5 h 9"/>
                  <a:gd name="T2" fmla="*/ 8 w 10"/>
                  <a:gd name="T3" fmla="*/ 2 h 9"/>
                  <a:gd name="T4" fmla="*/ 5 w 10"/>
                  <a:gd name="T5" fmla="*/ 0 h 9"/>
                  <a:gd name="T6" fmla="*/ 1 w 10"/>
                  <a:gd name="T7" fmla="*/ 2 h 9"/>
                  <a:gd name="T8" fmla="*/ 0 w 10"/>
                  <a:gd name="T9" fmla="*/ 5 h 9"/>
                  <a:gd name="T10" fmla="*/ 1 w 10"/>
                  <a:gd name="T11" fmla="*/ 8 h 9"/>
                  <a:gd name="T12" fmla="*/ 5 w 10"/>
                  <a:gd name="T13" fmla="*/ 9 h 9"/>
                  <a:gd name="T14" fmla="*/ 8 w 10"/>
                  <a:gd name="T15" fmla="*/ 8 h 9"/>
                  <a:gd name="T16" fmla="*/ 9 w 10"/>
                  <a:gd name="T17" fmla="*/ 5 h 9"/>
                  <a:gd name="T18" fmla="*/ 10 w 10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lnTo>
                      <a:pt x="8" y="2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0" name="Freeform 287"/>
              <p:cNvSpPr>
                <a:spLocks noChangeAspect="1" noChangeArrowheads="1"/>
              </p:cNvSpPr>
              <p:nvPr/>
            </p:nvSpPr>
            <p:spPr bwMode="auto">
              <a:xfrm>
                <a:off x="4967" y="1542"/>
                <a:ext cx="3" cy="3"/>
              </a:xfrm>
              <a:custGeom>
                <a:avLst/>
                <a:gdLst>
                  <a:gd name="T0" fmla="*/ 9 w 10"/>
                  <a:gd name="T1" fmla="*/ 5 h 10"/>
                  <a:gd name="T2" fmla="*/ 8 w 10"/>
                  <a:gd name="T3" fmla="*/ 2 h 10"/>
                  <a:gd name="T4" fmla="*/ 4 w 10"/>
                  <a:gd name="T5" fmla="*/ 0 h 10"/>
                  <a:gd name="T6" fmla="*/ 1 w 10"/>
                  <a:gd name="T7" fmla="*/ 2 h 10"/>
                  <a:gd name="T8" fmla="*/ 0 w 10"/>
                  <a:gd name="T9" fmla="*/ 5 h 10"/>
                  <a:gd name="T10" fmla="*/ 1 w 10"/>
                  <a:gd name="T11" fmla="*/ 8 h 10"/>
                  <a:gd name="T12" fmla="*/ 4 w 10"/>
                  <a:gd name="T13" fmla="*/ 10 h 10"/>
                  <a:gd name="T14" fmla="*/ 8 w 10"/>
                  <a:gd name="T15" fmla="*/ 8 h 10"/>
                  <a:gd name="T16" fmla="*/ 9 w 10"/>
                  <a:gd name="T17" fmla="*/ 5 h 10"/>
                  <a:gd name="T18" fmla="*/ 10 w 10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9" y="5"/>
                    </a:moveTo>
                    <a:lnTo>
                      <a:pt x="8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4" y="10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0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1" name="Freeform 288"/>
              <p:cNvSpPr>
                <a:spLocks noChangeAspect="1" noChangeArrowheads="1"/>
              </p:cNvSpPr>
              <p:nvPr/>
            </p:nvSpPr>
            <p:spPr bwMode="auto">
              <a:xfrm>
                <a:off x="4959" y="1531"/>
                <a:ext cx="3" cy="3"/>
              </a:xfrm>
              <a:custGeom>
                <a:avLst/>
                <a:gdLst>
                  <a:gd name="T0" fmla="*/ 9 w 11"/>
                  <a:gd name="T1" fmla="*/ 5 h 10"/>
                  <a:gd name="T2" fmla="*/ 8 w 11"/>
                  <a:gd name="T3" fmla="*/ 1 h 10"/>
                  <a:gd name="T4" fmla="*/ 4 w 11"/>
                  <a:gd name="T5" fmla="*/ 0 h 10"/>
                  <a:gd name="T6" fmla="*/ 1 w 11"/>
                  <a:gd name="T7" fmla="*/ 1 h 10"/>
                  <a:gd name="T8" fmla="*/ 0 w 11"/>
                  <a:gd name="T9" fmla="*/ 5 h 10"/>
                  <a:gd name="T10" fmla="*/ 1 w 11"/>
                  <a:gd name="T11" fmla="*/ 8 h 10"/>
                  <a:gd name="T12" fmla="*/ 4 w 11"/>
                  <a:gd name="T13" fmla="*/ 10 h 10"/>
                  <a:gd name="T14" fmla="*/ 8 w 11"/>
                  <a:gd name="T15" fmla="*/ 8 h 10"/>
                  <a:gd name="T16" fmla="*/ 9 w 11"/>
                  <a:gd name="T17" fmla="*/ 5 h 10"/>
                  <a:gd name="T18" fmla="*/ 11 w 11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9" y="5"/>
                    </a:moveTo>
                    <a:lnTo>
                      <a:pt x="8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4" y="10"/>
                    </a:lnTo>
                    <a:lnTo>
                      <a:pt x="8" y="8"/>
                    </a:lnTo>
                    <a:lnTo>
                      <a:pt x="9" y="5"/>
                    </a:lnTo>
                    <a:lnTo>
                      <a:pt x="11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2" name="Freeform 289"/>
              <p:cNvSpPr>
                <a:spLocks noChangeAspect="1" noChangeArrowheads="1"/>
              </p:cNvSpPr>
              <p:nvPr/>
            </p:nvSpPr>
            <p:spPr bwMode="auto">
              <a:xfrm>
                <a:off x="4874" y="1446"/>
                <a:ext cx="17" cy="11"/>
              </a:xfrm>
              <a:custGeom>
                <a:avLst/>
                <a:gdLst>
                  <a:gd name="T0" fmla="*/ 1 w 54"/>
                  <a:gd name="T1" fmla="*/ 1 h 32"/>
                  <a:gd name="T2" fmla="*/ 0 w 54"/>
                  <a:gd name="T3" fmla="*/ 20 h 32"/>
                  <a:gd name="T4" fmla="*/ 12 w 54"/>
                  <a:gd name="T5" fmla="*/ 32 h 32"/>
                  <a:gd name="T6" fmla="*/ 33 w 54"/>
                  <a:gd name="T7" fmla="*/ 31 h 32"/>
                  <a:gd name="T8" fmla="*/ 50 w 54"/>
                  <a:gd name="T9" fmla="*/ 22 h 32"/>
                  <a:gd name="T10" fmla="*/ 54 w 54"/>
                  <a:gd name="T11" fmla="*/ 18 h 32"/>
                  <a:gd name="T12" fmla="*/ 52 w 54"/>
                  <a:gd name="T13" fmla="*/ 15 h 32"/>
                  <a:gd name="T14" fmla="*/ 37 w 54"/>
                  <a:gd name="T15" fmla="*/ 11 h 32"/>
                  <a:gd name="T16" fmla="*/ 15 w 54"/>
                  <a:gd name="T17" fmla="*/ 4 h 32"/>
                  <a:gd name="T18" fmla="*/ 6 w 54"/>
                  <a:gd name="T19" fmla="*/ 0 h 32"/>
                  <a:gd name="T20" fmla="*/ 1 w 54"/>
                  <a:gd name="T21" fmla="*/ 1 h 32"/>
                  <a:gd name="T22" fmla="*/ 2 w 54"/>
                  <a:gd name="T23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32">
                    <a:moveTo>
                      <a:pt x="1" y="1"/>
                    </a:moveTo>
                    <a:lnTo>
                      <a:pt x="0" y="20"/>
                    </a:lnTo>
                    <a:lnTo>
                      <a:pt x="12" y="32"/>
                    </a:lnTo>
                    <a:lnTo>
                      <a:pt x="33" y="31"/>
                    </a:lnTo>
                    <a:lnTo>
                      <a:pt x="50" y="22"/>
                    </a:lnTo>
                    <a:lnTo>
                      <a:pt x="54" y="18"/>
                    </a:lnTo>
                    <a:lnTo>
                      <a:pt x="52" y="15"/>
                    </a:lnTo>
                    <a:lnTo>
                      <a:pt x="37" y="11"/>
                    </a:lnTo>
                    <a:lnTo>
                      <a:pt x="15" y="4"/>
                    </a:lnTo>
                    <a:lnTo>
                      <a:pt x="6" y="0"/>
                    </a:lnTo>
                    <a:lnTo>
                      <a:pt x="1" y="1"/>
                    </a:lnTo>
                    <a:lnTo>
                      <a:pt x="2" y="1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3" name="Freeform 290"/>
              <p:cNvSpPr>
                <a:spLocks noChangeAspect="1" noChangeArrowheads="1"/>
              </p:cNvSpPr>
              <p:nvPr/>
            </p:nvSpPr>
            <p:spPr bwMode="auto">
              <a:xfrm>
                <a:off x="4945" y="1509"/>
                <a:ext cx="28" cy="17"/>
              </a:xfrm>
              <a:custGeom>
                <a:avLst/>
                <a:gdLst>
                  <a:gd name="T0" fmla="*/ 34 w 84"/>
                  <a:gd name="T1" fmla="*/ 1 h 51"/>
                  <a:gd name="T2" fmla="*/ 10 w 84"/>
                  <a:gd name="T3" fmla="*/ 15 h 51"/>
                  <a:gd name="T4" fmla="*/ 0 w 84"/>
                  <a:gd name="T5" fmla="*/ 23 h 51"/>
                  <a:gd name="T6" fmla="*/ 2 w 84"/>
                  <a:gd name="T7" fmla="*/ 36 h 51"/>
                  <a:gd name="T8" fmla="*/ 12 w 84"/>
                  <a:gd name="T9" fmla="*/ 46 h 51"/>
                  <a:gd name="T10" fmla="*/ 29 w 84"/>
                  <a:gd name="T11" fmla="*/ 51 h 51"/>
                  <a:gd name="T12" fmla="*/ 66 w 84"/>
                  <a:gd name="T13" fmla="*/ 47 h 51"/>
                  <a:gd name="T14" fmla="*/ 79 w 84"/>
                  <a:gd name="T15" fmla="*/ 43 h 51"/>
                  <a:gd name="T16" fmla="*/ 84 w 84"/>
                  <a:gd name="T17" fmla="*/ 40 h 51"/>
                  <a:gd name="T18" fmla="*/ 77 w 84"/>
                  <a:gd name="T19" fmla="*/ 41 h 51"/>
                  <a:gd name="T20" fmla="*/ 63 w 84"/>
                  <a:gd name="T21" fmla="*/ 42 h 51"/>
                  <a:gd name="T22" fmla="*/ 46 w 84"/>
                  <a:gd name="T23" fmla="*/ 39 h 51"/>
                  <a:gd name="T24" fmla="*/ 38 w 84"/>
                  <a:gd name="T25" fmla="*/ 26 h 51"/>
                  <a:gd name="T26" fmla="*/ 37 w 84"/>
                  <a:gd name="T27" fmla="*/ 6 h 51"/>
                  <a:gd name="T28" fmla="*/ 37 w 84"/>
                  <a:gd name="T29" fmla="*/ 0 h 51"/>
                  <a:gd name="T30" fmla="*/ 34 w 84"/>
                  <a:gd name="T31" fmla="*/ 1 h 51"/>
                  <a:gd name="T32" fmla="*/ 35 w 84"/>
                  <a:gd name="T33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" h="51">
                    <a:moveTo>
                      <a:pt x="34" y="1"/>
                    </a:moveTo>
                    <a:lnTo>
                      <a:pt x="10" y="15"/>
                    </a:lnTo>
                    <a:lnTo>
                      <a:pt x="0" y="23"/>
                    </a:lnTo>
                    <a:lnTo>
                      <a:pt x="2" y="36"/>
                    </a:lnTo>
                    <a:lnTo>
                      <a:pt x="12" y="46"/>
                    </a:lnTo>
                    <a:lnTo>
                      <a:pt x="29" y="51"/>
                    </a:lnTo>
                    <a:lnTo>
                      <a:pt x="66" y="47"/>
                    </a:lnTo>
                    <a:lnTo>
                      <a:pt x="79" y="43"/>
                    </a:lnTo>
                    <a:lnTo>
                      <a:pt x="84" y="40"/>
                    </a:lnTo>
                    <a:lnTo>
                      <a:pt x="77" y="41"/>
                    </a:lnTo>
                    <a:lnTo>
                      <a:pt x="63" y="42"/>
                    </a:lnTo>
                    <a:lnTo>
                      <a:pt x="46" y="39"/>
                    </a:lnTo>
                    <a:lnTo>
                      <a:pt x="38" y="26"/>
                    </a:lnTo>
                    <a:lnTo>
                      <a:pt x="37" y="6"/>
                    </a:lnTo>
                    <a:lnTo>
                      <a:pt x="37" y="0"/>
                    </a:lnTo>
                    <a:lnTo>
                      <a:pt x="34" y="1"/>
                    </a:lnTo>
                    <a:lnTo>
                      <a:pt x="35" y="1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4" name="Freeform 291"/>
              <p:cNvSpPr>
                <a:spLocks noChangeAspect="1" noChangeArrowheads="1"/>
              </p:cNvSpPr>
              <p:nvPr/>
            </p:nvSpPr>
            <p:spPr bwMode="auto">
              <a:xfrm>
                <a:off x="4959" y="1490"/>
                <a:ext cx="11" cy="14"/>
              </a:xfrm>
              <a:custGeom>
                <a:avLst/>
                <a:gdLst>
                  <a:gd name="T0" fmla="*/ 0 w 31"/>
                  <a:gd name="T1" fmla="*/ 28 h 38"/>
                  <a:gd name="T2" fmla="*/ 17 w 31"/>
                  <a:gd name="T3" fmla="*/ 3 h 38"/>
                  <a:gd name="T4" fmla="*/ 26 w 31"/>
                  <a:gd name="T5" fmla="*/ 0 h 38"/>
                  <a:gd name="T6" fmla="*/ 31 w 31"/>
                  <a:gd name="T7" fmla="*/ 9 h 38"/>
                  <a:gd name="T8" fmla="*/ 31 w 31"/>
                  <a:gd name="T9" fmla="*/ 25 h 38"/>
                  <a:gd name="T10" fmla="*/ 24 w 31"/>
                  <a:gd name="T11" fmla="*/ 37 h 38"/>
                  <a:gd name="T12" fmla="*/ 10 w 31"/>
                  <a:gd name="T13" fmla="*/ 38 h 38"/>
                  <a:gd name="T14" fmla="*/ 2 w 31"/>
                  <a:gd name="T15" fmla="*/ 34 h 38"/>
                  <a:gd name="T16" fmla="*/ 0 w 31"/>
                  <a:gd name="T17" fmla="*/ 28 h 38"/>
                  <a:gd name="T18" fmla="*/ 1 w 31"/>
                  <a:gd name="T19" fmla="*/ 2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38">
                    <a:moveTo>
                      <a:pt x="0" y="28"/>
                    </a:moveTo>
                    <a:lnTo>
                      <a:pt x="17" y="3"/>
                    </a:lnTo>
                    <a:lnTo>
                      <a:pt x="26" y="0"/>
                    </a:lnTo>
                    <a:lnTo>
                      <a:pt x="31" y="9"/>
                    </a:lnTo>
                    <a:lnTo>
                      <a:pt x="31" y="25"/>
                    </a:lnTo>
                    <a:lnTo>
                      <a:pt x="24" y="37"/>
                    </a:lnTo>
                    <a:lnTo>
                      <a:pt x="10" y="38"/>
                    </a:lnTo>
                    <a:lnTo>
                      <a:pt x="2" y="34"/>
                    </a:lnTo>
                    <a:lnTo>
                      <a:pt x="0" y="28"/>
                    </a:lnTo>
                    <a:lnTo>
                      <a:pt x="1" y="2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5" name="Freeform 292"/>
              <p:cNvSpPr>
                <a:spLocks noChangeAspect="1" noChangeArrowheads="1"/>
              </p:cNvSpPr>
              <p:nvPr/>
            </p:nvSpPr>
            <p:spPr bwMode="auto">
              <a:xfrm>
                <a:off x="4997" y="1438"/>
                <a:ext cx="8" cy="11"/>
              </a:xfrm>
              <a:custGeom>
                <a:avLst/>
                <a:gdLst>
                  <a:gd name="T0" fmla="*/ 0 w 28"/>
                  <a:gd name="T1" fmla="*/ 23 h 33"/>
                  <a:gd name="T2" fmla="*/ 11 w 28"/>
                  <a:gd name="T3" fmla="*/ 31 h 33"/>
                  <a:gd name="T4" fmla="*/ 22 w 28"/>
                  <a:gd name="T5" fmla="*/ 33 h 33"/>
                  <a:gd name="T6" fmla="*/ 28 w 28"/>
                  <a:gd name="T7" fmla="*/ 26 h 33"/>
                  <a:gd name="T8" fmla="*/ 26 w 28"/>
                  <a:gd name="T9" fmla="*/ 12 h 33"/>
                  <a:gd name="T10" fmla="*/ 17 w 28"/>
                  <a:gd name="T11" fmla="*/ 1 h 33"/>
                  <a:gd name="T12" fmla="*/ 9 w 28"/>
                  <a:gd name="T13" fmla="*/ 0 h 33"/>
                  <a:gd name="T14" fmla="*/ 0 w 28"/>
                  <a:gd name="T15" fmla="*/ 23 h 33"/>
                  <a:gd name="T16" fmla="*/ 1 w 28"/>
                  <a:gd name="T17" fmla="*/ 2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3">
                    <a:moveTo>
                      <a:pt x="0" y="23"/>
                    </a:moveTo>
                    <a:lnTo>
                      <a:pt x="11" y="31"/>
                    </a:lnTo>
                    <a:lnTo>
                      <a:pt x="22" y="33"/>
                    </a:lnTo>
                    <a:lnTo>
                      <a:pt x="28" y="26"/>
                    </a:lnTo>
                    <a:lnTo>
                      <a:pt x="26" y="12"/>
                    </a:lnTo>
                    <a:lnTo>
                      <a:pt x="17" y="1"/>
                    </a:lnTo>
                    <a:lnTo>
                      <a:pt x="9" y="0"/>
                    </a:lnTo>
                    <a:lnTo>
                      <a:pt x="0" y="23"/>
                    </a:lnTo>
                    <a:lnTo>
                      <a:pt x="1" y="2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6" name="Freeform 293"/>
              <p:cNvSpPr>
                <a:spLocks noChangeAspect="1" noChangeArrowheads="1"/>
              </p:cNvSpPr>
              <p:nvPr/>
            </p:nvSpPr>
            <p:spPr bwMode="auto">
              <a:xfrm>
                <a:off x="4964" y="1441"/>
                <a:ext cx="11" cy="11"/>
              </a:xfrm>
              <a:custGeom>
                <a:avLst/>
                <a:gdLst>
                  <a:gd name="T0" fmla="*/ 5 w 33"/>
                  <a:gd name="T1" fmla="*/ 2 h 38"/>
                  <a:gd name="T2" fmla="*/ 0 w 33"/>
                  <a:gd name="T3" fmla="*/ 16 h 38"/>
                  <a:gd name="T4" fmla="*/ 0 w 33"/>
                  <a:gd name="T5" fmla="*/ 30 h 38"/>
                  <a:gd name="T6" fmla="*/ 9 w 33"/>
                  <a:gd name="T7" fmla="*/ 38 h 38"/>
                  <a:gd name="T8" fmla="*/ 23 w 33"/>
                  <a:gd name="T9" fmla="*/ 33 h 38"/>
                  <a:gd name="T10" fmla="*/ 33 w 33"/>
                  <a:gd name="T11" fmla="*/ 23 h 38"/>
                  <a:gd name="T12" fmla="*/ 29 w 33"/>
                  <a:gd name="T13" fmla="*/ 12 h 38"/>
                  <a:gd name="T14" fmla="*/ 16 w 33"/>
                  <a:gd name="T15" fmla="*/ 2 h 38"/>
                  <a:gd name="T16" fmla="*/ 9 w 33"/>
                  <a:gd name="T17" fmla="*/ 0 h 38"/>
                  <a:gd name="T18" fmla="*/ 5 w 33"/>
                  <a:gd name="T19" fmla="*/ 2 h 38"/>
                  <a:gd name="T20" fmla="*/ 6 w 33"/>
                  <a:gd name="T2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38">
                    <a:moveTo>
                      <a:pt x="5" y="2"/>
                    </a:moveTo>
                    <a:lnTo>
                      <a:pt x="0" y="16"/>
                    </a:lnTo>
                    <a:lnTo>
                      <a:pt x="0" y="30"/>
                    </a:lnTo>
                    <a:lnTo>
                      <a:pt x="9" y="38"/>
                    </a:lnTo>
                    <a:lnTo>
                      <a:pt x="23" y="33"/>
                    </a:lnTo>
                    <a:lnTo>
                      <a:pt x="33" y="23"/>
                    </a:lnTo>
                    <a:lnTo>
                      <a:pt x="29" y="12"/>
                    </a:lnTo>
                    <a:lnTo>
                      <a:pt x="16" y="2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6" y="2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7" name="Freeform 294"/>
              <p:cNvSpPr>
                <a:spLocks noChangeAspect="1" noChangeArrowheads="1"/>
              </p:cNvSpPr>
              <p:nvPr/>
            </p:nvSpPr>
            <p:spPr bwMode="auto">
              <a:xfrm>
                <a:off x="4948" y="1367"/>
                <a:ext cx="11" cy="14"/>
              </a:xfrm>
              <a:custGeom>
                <a:avLst/>
                <a:gdLst>
                  <a:gd name="T0" fmla="*/ 4 w 31"/>
                  <a:gd name="T1" fmla="*/ 3 h 33"/>
                  <a:gd name="T2" fmla="*/ 0 w 31"/>
                  <a:gd name="T3" fmla="*/ 16 h 33"/>
                  <a:gd name="T4" fmla="*/ 4 w 31"/>
                  <a:gd name="T5" fmla="*/ 28 h 33"/>
                  <a:gd name="T6" fmla="*/ 15 w 31"/>
                  <a:gd name="T7" fmla="*/ 33 h 33"/>
                  <a:gd name="T8" fmla="*/ 27 w 31"/>
                  <a:gd name="T9" fmla="*/ 29 h 33"/>
                  <a:gd name="T10" fmla="*/ 31 w 31"/>
                  <a:gd name="T11" fmla="*/ 18 h 33"/>
                  <a:gd name="T12" fmla="*/ 26 w 31"/>
                  <a:gd name="T13" fmla="*/ 7 h 33"/>
                  <a:gd name="T14" fmla="*/ 15 w 31"/>
                  <a:gd name="T15" fmla="*/ 0 h 33"/>
                  <a:gd name="T16" fmla="*/ 4 w 31"/>
                  <a:gd name="T17" fmla="*/ 3 h 33"/>
                  <a:gd name="T18" fmla="*/ 5 w 31"/>
                  <a:gd name="T1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33">
                    <a:moveTo>
                      <a:pt x="4" y="3"/>
                    </a:moveTo>
                    <a:lnTo>
                      <a:pt x="0" y="16"/>
                    </a:lnTo>
                    <a:lnTo>
                      <a:pt x="4" y="28"/>
                    </a:lnTo>
                    <a:lnTo>
                      <a:pt x="15" y="33"/>
                    </a:lnTo>
                    <a:lnTo>
                      <a:pt x="27" y="29"/>
                    </a:lnTo>
                    <a:lnTo>
                      <a:pt x="31" y="18"/>
                    </a:lnTo>
                    <a:lnTo>
                      <a:pt x="26" y="7"/>
                    </a:lnTo>
                    <a:lnTo>
                      <a:pt x="15" y="0"/>
                    </a:lnTo>
                    <a:lnTo>
                      <a:pt x="4" y="3"/>
                    </a:lnTo>
                    <a:lnTo>
                      <a:pt x="5" y="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8" name="Freeform 295"/>
              <p:cNvSpPr>
                <a:spLocks noChangeAspect="1" noChangeArrowheads="1"/>
              </p:cNvSpPr>
              <p:nvPr/>
            </p:nvSpPr>
            <p:spPr bwMode="auto">
              <a:xfrm>
                <a:off x="4921" y="1370"/>
                <a:ext cx="11" cy="16"/>
              </a:xfrm>
              <a:custGeom>
                <a:avLst/>
                <a:gdLst>
                  <a:gd name="T0" fmla="*/ 3 w 34"/>
                  <a:gd name="T1" fmla="*/ 5 h 45"/>
                  <a:gd name="T2" fmla="*/ 0 w 34"/>
                  <a:gd name="T3" fmla="*/ 21 h 45"/>
                  <a:gd name="T4" fmla="*/ 2 w 34"/>
                  <a:gd name="T5" fmla="*/ 36 h 45"/>
                  <a:gd name="T6" fmla="*/ 12 w 34"/>
                  <a:gd name="T7" fmla="*/ 45 h 45"/>
                  <a:gd name="T8" fmla="*/ 27 w 34"/>
                  <a:gd name="T9" fmla="*/ 40 h 45"/>
                  <a:gd name="T10" fmla="*/ 34 w 34"/>
                  <a:gd name="T11" fmla="*/ 26 h 45"/>
                  <a:gd name="T12" fmla="*/ 31 w 34"/>
                  <a:gd name="T13" fmla="*/ 9 h 45"/>
                  <a:gd name="T14" fmla="*/ 16 w 34"/>
                  <a:gd name="T15" fmla="*/ 0 h 45"/>
                  <a:gd name="T16" fmla="*/ 8 w 34"/>
                  <a:gd name="T17" fmla="*/ 0 h 45"/>
                  <a:gd name="T18" fmla="*/ 3 w 34"/>
                  <a:gd name="T19" fmla="*/ 5 h 45"/>
                  <a:gd name="T20" fmla="*/ 4 w 34"/>
                  <a:gd name="T2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45">
                    <a:moveTo>
                      <a:pt x="3" y="5"/>
                    </a:moveTo>
                    <a:lnTo>
                      <a:pt x="0" y="21"/>
                    </a:lnTo>
                    <a:lnTo>
                      <a:pt x="2" y="36"/>
                    </a:lnTo>
                    <a:lnTo>
                      <a:pt x="12" y="45"/>
                    </a:lnTo>
                    <a:lnTo>
                      <a:pt x="27" y="40"/>
                    </a:lnTo>
                    <a:lnTo>
                      <a:pt x="34" y="26"/>
                    </a:lnTo>
                    <a:lnTo>
                      <a:pt x="31" y="9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9" name="Freeform 296"/>
              <p:cNvSpPr>
                <a:spLocks noChangeAspect="1" noChangeArrowheads="1"/>
              </p:cNvSpPr>
              <p:nvPr/>
            </p:nvSpPr>
            <p:spPr bwMode="auto">
              <a:xfrm>
                <a:off x="4852" y="1367"/>
                <a:ext cx="11" cy="17"/>
              </a:xfrm>
              <a:custGeom>
                <a:avLst/>
                <a:gdLst>
                  <a:gd name="T0" fmla="*/ 3 w 35"/>
                  <a:gd name="T1" fmla="*/ 4 h 45"/>
                  <a:gd name="T2" fmla="*/ 0 w 35"/>
                  <a:gd name="T3" fmla="*/ 21 h 45"/>
                  <a:gd name="T4" fmla="*/ 2 w 35"/>
                  <a:gd name="T5" fmla="*/ 37 h 45"/>
                  <a:gd name="T6" fmla="*/ 13 w 35"/>
                  <a:gd name="T7" fmla="*/ 45 h 45"/>
                  <a:gd name="T8" fmla="*/ 27 w 35"/>
                  <a:gd name="T9" fmla="*/ 41 h 45"/>
                  <a:gd name="T10" fmla="*/ 35 w 35"/>
                  <a:gd name="T11" fmla="*/ 26 h 45"/>
                  <a:gd name="T12" fmla="*/ 31 w 35"/>
                  <a:gd name="T13" fmla="*/ 10 h 45"/>
                  <a:gd name="T14" fmla="*/ 16 w 35"/>
                  <a:gd name="T15" fmla="*/ 0 h 45"/>
                  <a:gd name="T16" fmla="*/ 8 w 35"/>
                  <a:gd name="T17" fmla="*/ 0 h 45"/>
                  <a:gd name="T18" fmla="*/ 3 w 35"/>
                  <a:gd name="T19" fmla="*/ 4 h 45"/>
                  <a:gd name="T20" fmla="*/ 4 w 35"/>
                  <a:gd name="T21" fmla="*/ 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5">
                    <a:moveTo>
                      <a:pt x="3" y="4"/>
                    </a:moveTo>
                    <a:lnTo>
                      <a:pt x="0" y="21"/>
                    </a:lnTo>
                    <a:lnTo>
                      <a:pt x="2" y="37"/>
                    </a:lnTo>
                    <a:lnTo>
                      <a:pt x="13" y="45"/>
                    </a:lnTo>
                    <a:lnTo>
                      <a:pt x="27" y="41"/>
                    </a:lnTo>
                    <a:lnTo>
                      <a:pt x="35" y="26"/>
                    </a:lnTo>
                    <a:lnTo>
                      <a:pt x="31" y="1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4"/>
                    </a:lnTo>
                    <a:lnTo>
                      <a:pt x="4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0" name="Freeform 297"/>
              <p:cNvSpPr>
                <a:spLocks noChangeAspect="1" noChangeArrowheads="1"/>
              </p:cNvSpPr>
              <p:nvPr/>
            </p:nvSpPr>
            <p:spPr bwMode="auto">
              <a:xfrm>
                <a:off x="4795" y="1310"/>
                <a:ext cx="14" cy="16"/>
              </a:xfrm>
              <a:custGeom>
                <a:avLst/>
                <a:gdLst>
                  <a:gd name="T0" fmla="*/ 3 w 35"/>
                  <a:gd name="T1" fmla="*/ 5 h 46"/>
                  <a:gd name="T2" fmla="*/ 0 w 35"/>
                  <a:gd name="T3" fmla="*/ 21 h 46"/>
                  <a:gd name="T4" fmla="*/ 2 w 35"/>
                  <a:gd name="T5" fmla="*/ 38 h 46"/>
                  <a:gd name="T6" fmla="*/ 13 w 35"/>
                  <a:gd name="T7" fmla="*/ 46 h 46"/>
                  <a:gd name="T8" fmla="*/ 28 w 35"/>
                  <a:gd name="T9" fmla="*/ 42 h 46"/>
                  <a:gd name="T10" fmla="*/ 35 w 35"/>
                  <a:gd name="T11" fmla="*/ 26 h 46"/>
                  <a:gd name="T12" fmla="*/ 32 w 35"/>
                  <a:gd name="T13" fmla="*/ 10 h 46"/>
                  <a:gd name="T14" fmla="*/ 17 w 35"/>
                  <a:gd name="T15" fmla="*/ 0 h 46"/>
                  <a:gd name="T16" fmla="*/ 9 w 35"/>
                  <a:gd name="T17" fmla="*/ 1 h 46"/>
                  <a:gd name="T18" fmla="*/ 3 w 35"/>
                  <a:gd name="T19" fmla="*/ 5 h 46"/>
                  <a:gd name="T20" fmla="*/ 4 w 35"/>
                  <a:gd name="T21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6">
                    <a:moveTo>
                      <a:pt x="3" y="5"/>
                    </a:moveTo>
                    <a:lnTo>
                      <a:pt x="0" y="21"/>
                    </a:lnTo>
                    <a:lnTo>
                      <a:pt x="2" y="38"/>
                    </a:lnTo>
                    <a:lnTo>
                      <a:pt x="13" y="46"/>
                    </a:lnTo>
                    <a:lnTo>
                      <a:pt x="28" y="42"/>
                    </a:lnTo>
                    <a:lnTo>
                      <a:pt x="35" y="26"/>
                    </a:lnTo>
                    <a:lnTo>
                      <a:pt x="32" y="10"/>
                    </a:lnTo>
                    <a:lnTo>
                      <a:pt x="17" y="0"/>
                    </a:lnTo>
                    <a:lnTo>
                      <a:pt x="9" y="1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1" name="Freeform 298"/>
              <p:cNvSpPr>
                <a:spLocks noChangeAspect="1" noChangeArrowheads="1"/>
              </p:cNvSpPr>
              <p:nvPr/>
            </p:nvSpPr>
            <p:spPr bwMode="auto">
              <a:xfrm>
                <a:off x="4880" y="1307"/>
                <a:ext cx="13" cy="14"/>
              </a:xfrm>
              <a:custGeom>
                <a:avLst/>
                <a:gdLst>
                  <a:gd name="T0" fmla="*/ 3 w 34"/>
                  <a:gd name="T1" fmla="*/ 5 h 46"/>
                  <a:gd name="T2" fmla="*/ 0 w 34"/>
                  <a:gd name="T3" fmla="*/ 21 h 46"/>
                  <a:gd name="T4" fmla="*/ 2 w 34"/>
                  <a:gd name="T5" fmla="*/ 36 h 46"/>
                  <a:gd name="T6" fmla="*/ 13 w 34"/>
                  <a:gd name="T7" fmla="*/ 46 h 46"/>
                  <a:gd name="T8" fmla="*/ 27 w 34"/>
                  <a:gd name="T9" fmla="*/ 40 h 46"/>
                  <a:gd name="T10" fmla="*/ 34 w 34"/>
                  <a:gd name="T11" fmla="*/ 26 h 46"/>
                  <a:gd name="T12" fmla="*/ 31 w 34"/>
                  <a:gd name="T13" fmla="*/ 9 h 46"/>
                  <a:gd name="T14" fmla="*/ 16 w 34"/>
                  <a:gd name="T15" fmla="*/ 0 h 46"/>
                  <a:gd name="T16" fmla="*/ 8 w 34"/>
                  <a:gd name="T17" fmla="*/ 1 h 46"/>
                  <a:gd name="T18" fmla="*/ 3 w 34"/>
                  <a:gd name="T19" fmla="*/ 5 h 46"/>
                  <a:gd name="T20" fmla="*/ 4 w 34"/>
                  <a:gd name="T21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46">
                    <a:moveTo>
                      <a:pt x="3" y="5"/>
                    </a:moveTo>
                    <a:lnTo>
                      <a:pt x="0" y="21"/>
                    </a:lnTo>
                    <a:lnTo>
                      <a:pt x="2" y="36"/>
                    </a:lnTo>
                    <a:lnTo>
                      <a:pt x="13" y="46"/>
                    </a:lnTo>
                    <a:lnTo>
                      <a:pt x="27" y="40"/>
                    </a:lnTo>
                    <a:lnTo>
                      <a:pt x="34" y="26"/>
                    </a:lnTo>
                    <a:lnTo>
                      <a:pt x="31" y="9"/>
                    </a:lnTo>
                    <a:lnTo>
                      <a:pt x="16" y="0"/>
                    </a:lnTo>
                    <a:lnTo>
                      <a:pt x="8" y="1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2" name="Freeform 299"/>
              <p:cNvSpPr>
                <a:spLocks noChangeAspect="1" noChangeArrowheads="1"/>
              </p:cNvSpPr>
              <p:nvPr/>
            </p:nvSpPr>
            <p:spPr bwMode="auto">
              <a:xfrm>
                <a:off x="5003" y="1310"/>
                <a:ext cx="11" cy="16"/>
              </a:xfrm>
              <a:custGeom>
                <a:avLst/>
                <a:gdLst>
                  <a:gd name="T0" fmla="*/ 3 w 35"/>
                  <a:gd name="T1" fmla="*/ 5 h 46"/>
                  <a:gd name="T2" fmla="*/ 0 w 35"/>
                  <a:gd name="T3" fmla="*/ 21 h 46"/>
                  <a:gd name="T4" fmla="*/ 2 w 35"/>
                  <a:gd name="T5" fmla="*/ 38 h 46"/>
                  <a:gd name="T6" fmla="*/ 13 w 35"/>
                  <a:gd name="T7" fmla="*/ 46 h 46"/>
                  <a:gd name="T8" fmla="*/ 28 w 35"/>
                  <a:gd name="T9" fmla="*/ 42 h 46"/>
                  <a:gd name="T10" fmla="*/ 35 w 35"/>
                  <a:gd name="T11" fmla="*/ 26 h 46"/>
                  <a:gd name="T12" fmla="*/ 32 w 35"/>
                  <a:gd name="T13" fmla="*/ 10 h 46"/>
                  <a:gd name="T14" fmla="*/ 16 w 35"/>
                  <a:gd name="T15" fmla="*/ 0 h 46"/>
                  <a:gd name="T16" fmla="*/ 8 w 35"/>
                  <a:gd name="T17" fmla="*/ 1 h 46"/>
                  <a:gd name="T18" fmla="*/ 3 w 35"/>
                  <a:gd name="T19" fmla="*/ 5 h 46"/>
                  <a:gd name="T20" fmla="*/ 4 w 35"/>
                  <a:gd name="T21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6">
                    <a:moveTo>
                      <a:pt x="3" y="5"/>
                    </a:moveTo>
                    <a:lnTo>
                      <a:pt x="0" y="21"/>
                    </a:lnTo>
                    <a:lnTo>
                      <a:pt x="2" y="38"/>
                    </a:lnTo>
                    <a:lnTo>
                      <a:pt x="13" y="46"/>
                    </a:lnTo>
                    <a:lnTo>
                      <a:pt x="28" y="42"/>
                    </a:lnTo>
                    <a:lnTo>
                      <a:pt x="35" y="26"/>
                    </a:lnTo>
                    <a:lnTo>
                      <a:pt x="32" y="10"/>
                    </a:lnTo>
                    <a:lnTo>
                      <a:pt x="16" y="0"/>
                    </a:lnTo>
                    <a:lnTo>
                      <a:pt x="8" y="1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3" name="Freeform 300"/>
              <p:cNvSpPr>
                <a:spLocks noChangeAspect="1" noChangeArrowheads="1"/>
              </p:cNvSpPr>
              <p:nvPr/>
            </p:nvSpPr>
            <p:spPr bwMode="auto">
              <a:xfrm>
                <a:off x="5055" y="1408"/>
                <a:ext cx="13" cy="14"/>
              </a:xfrm>
              <a:custGeom>
                <a:avLst/>
                <a:gdLst>
                  <a:gd name="T0" fmla="*/ 3 w 35"/>
                  <a:gd name="T1" fmla="*/ 5 h 45"/>
                  <a:gd name="T2" fmla="*/ 0 w 35"/>
                  <a:gd name="T3" fmla="*/ 21 h 45"/>
                  <a:gd name="T4" fmla="*/ 2 w 35"/>
                  <a:gd name="T5" fmla="*/ 37 h 45"/>
                  <a:gd name="T6" fmla="*/ 12 w 35"/>
                  <a:gd name="T7" fmla="*/ 45 h 45"/>
                  <a:gd name="T8" fmla="*/ 27 w 35"/>
                  <a:gd name="T9" fmla="*/ 41 h 45"/>
                  <a:gd name="T10" fmla="*/ 35 w 35"/>
                  <a:gd name="T11" fmla="*/ 25 h 45"/>
                  <a:gd name="T12" fmla="*/ 32 w 35"/>
                  <a:gd name="T13" fmla="*/ 9 h 45"/>
                  <a:gd name="T14" fmla="*/ 17 w 35"/>
                  <a:gd name="T15" fmla="*/ 0 h 45"/>
                  <a:gd name="T16" fmla="*/ 8 w 35"/>
                  <a:gd name="T17" fmla="*/ 0 h 45"/>
                  <a:gd name="T18" fmla="*/ 3 w 35"/>
                  <a:gd name="T19" fmla="*/ 5 h 45"/>
                  <a:gd name="T20" fmla="*/ 4 w 35"/>
                  <a:gd name="T2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5">
                    <a:moveTo>
                      <a:pt x="3" y="5"/>
                    </a:moveTo>
                    <a:lnTo>
                      <a:pt x="0" y="21"/>
                    </a:lnTo>
                    <a:lnTo>
                      <a:pt x="2" y="37"/>
                    </a:lnTo>
                    <a:lnTo>
                      <a:pt x="12" y="45"/>
                    </a:lnTo>
                    <a:lnTo>
                      <a:pt x="27" y="41"/>
                    </a:lnTo>
                    <a:lnTo>
                      <a:pt x="35" y="25"/>
                    </a:lnTo>
                    <a:lnTo>
                      <a:pt x="32" y="9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4" name="Freeform 301"/>
              <p:cNvSpPr>
                <a:spLocks noChangeAspect="1" noChangeArrowheads="1"/>
              </p:cNvSpPr>
              <p:nvPr/>
            </p:nvSpPr>
            <p:spPr bwMode="auto">
              <a:xfrm>
                <a:off x="5197" y="1520"/>
                <a:ext cx="11" cy="14"/>
              </a:xfrm>
              <a:custGeom>
                <a:avLst/>
                <a:gdLst>
                  <a:gd name="T0" fmla="*/ 3 w 35"/>
                  <a:gd name="T1" fmla="*/ 5 h 46"/>
                  <a:gd name="T2" fmla="*/ 0 w 35"/>
                  <a:gd name="T3" fmla="*/ 21 h 46"/>
                  <a:gd name="T4" fmla="*/ 2 w 35"/>
                  <a:gd name="T5" fmla="*/ 37 h 46"/>
                  <a:gd name="T6" fmla="*/ 12 w 35"/>
                  <a:gd name="T7" fmla="*/ 46 h 46"/>
                  <a:gd name="T8" fmla="*/ 26 w 35"/>
                  <a:gd name="T9" fmla="*/ 40 h 46"/>
                  <a:gd name="T10" fmla="*/ 35 w 35"/>
                  <a:gd name="T11" fmla="*/ 26 h 46"/>
                  <a:gd name="T12" fmla="*/ 31 w 35"/>
                  <a:gd name="T13" fmla="*/ 10 h 46"/>
                  <a:gd name="T14" fmla="*/ 16 w 35"/>
                  <a:gd name="T15" fmla="*/ 0 h 46"/>
                  <a:gd name="T16" fmla="*/ 8 w 35"/>
                  <a:gd name="T17" fmla="*/ 1 h 46"/>
                  <a:gd name="T18" fmla="*/ 3 w 35"/>
                  <a:gd name="T19" fmla="*/ 5 h 46"/>
                  <a:gd name="T20" fmla="*/ 4 w 35"/>
                  <a:gd name="T21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6">
                    <a:moveTo>
                      <a:pt x="3" y="5"/>
                    </a:moveTo>
                    <a:lnTo>
                      <a:pt x="0" y="21"/>
                    </a:lnTo>
                    <a:lnTo>
                      <a:pt x="2" y="37"/>
                    </a:lnTo>
                    <a:lnTo>
                      <a:pt x="12" y="46"/>
                    </a:lnTo>
                    <a:lnTo>
                      <a:pt x="26" y="40"/>
                    </a:lnTo>
                    <a:lnTo>
                      <a:pt x="35" y="26"/>
                    </a:lnTo>
                    <a:lnTo>
                      <a:pt x="31" y="10"/>
                    </a:lnTo>
                    <a:lnTo>
                      <a:pt x="16" y="0"/>
                    </a:lnTo>
                    <a:lnTo>
                      <a:pt x="8" y="1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5" name="Freeform 302"/>
              <p:cNvSpPr>
                <a:spLocks noChangeAspect="1" noChangeArrowheads="1"/>
              </p:cNvSpPr>
              <p:nvPr/>
            </p:nvSpPr>
            <p:spPr bwMode="auto">
              <a:xfrm>
                <a:off x="5109" y="1523"/>
                <a:ext cx="11" cy="16"/>
              </a:xfrm>
              <a:custGeom>
                <a:avLst/>
                <a:gdLst>
                  <a:gd name="T0" fmla="*/ 5 w 35"/>
                  <a:gd name="T1" fmla="*/ 5 h 45"/>
                  <a:gd name="T2" fmla="*/ 0 w 35"/>
                  <a:gd name="T3" fmla="*/ 20 h 45"/>
                  <a:gd name="T4" fmla="*/ 2 w 35"/>
                  <a:gd name="T5" fmla="*/ 37 h 45"/>
                  <a:gd name="T6" fmla="*/ 14 w 35"/>
                  <a:gd name="T7" fmla="*/ 45 h 45"/>
                  <a:gd name="T8" fmla="*/ 28 w 35"/>
                  <a:gd name="T9" fmla="*/ 41 h 45"/>
                  <a:gd name="T10" fmla="*/ 35 w 35"/>
                  <a:gd name="T11" fmla="*/ 25 h 45"/>
                  <a:gd name="T12" fmla="*/ 32 w 35"/>
                  <a:gd name="T13" fmla="*/ 9 h 45"/>
                  <a:gd name="T14" fmla="*/ 18 w 35"/>
                  <a:gd name="T15" fmla="*/ 0 h 45"/>
                  <a:gd name="T16" fmla="*/ 9 w 35"/>
                  <a:gd name="T17" fmla="*/ 0 h 45"/>
                  <a:gd name="T18" fmla="*/ 5 w 35"/>
                  <a:gd name="T19" fmla="*/ 5 h 45"/>
                  <a:gd name="T20" fmla="*/ 6 w 35"/>
                  <a:gd name="T2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5">
                    <a:moveTo>
                      <a:pt x="5" y="5"/>
                    </a:moveTo>
                    <a:lnTo>
                      <a:pt x="0" y="20"/>
                    </a:lnTo>
                    <a:lnTo>
                      <a:pt x="2" y="37"/>
                    </a:lnTo>
                    <a:lnTo>
                      <a:pt x="14" y="45"/>
                    </a:lnTo>
                    <a:lnTo>
                      <a:pt x="28" y="41"/>
                    </a:lnTo>
                    <a:lnTo>
                      <a:pt x="35" y="25"/>
                    </a:lnTo>
                    <a:lnTo>
                      <a:pt x="32" y="9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5" y="5"/>
                    </a:lnTo>
                    <a:lnTo>
                      <a:pt x="6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6" name="Freeform 303"/>
              <p:cNvSpPr>
                <a:spLocks noChangeAspect="1" noChangeArrowheads="1"/>
              </p:cNvSpPr>
              <p:nvPr/>
            </p:nvSpPr>
            <p:spPr bwMode="auto">
              <a:xfrm>
                <a:off x="5052" y="1531"/>
                <a:ext cx="11" cy="17"/>
              </a:xfrm>
              <a:custGeom>
                <a:avLst/>
                <a:gdLst>
                  <a:gd name="T0" fmla="*/ 3 w 35"/>
                  <a:gd name="T1" fmla="*/ 5 h 45"/>
                  <a:gd name="T2" fmla="*/ 0 w 35"/>
                  <a:gd name="T3" fmla="*/ 21 h 45"/>
                  <a:gd name="T4" fmla="*/ 2 w 35"/>
                  <a:gd name="T5" fmla="*/ 37 h 45"/>
                  <a:gd name="T6" fmla="*/ 13 w 35"/>
                  <a:gd name="T7" fmla="*/ 45 h 45"/>
                  <a:gd name="T8" fmla="*/ 28 w 35"/>
                  <a:gd name="T9" fmla="*/ 41 h 45"/>
                  <a:gd name="T10" fmla="*/ 35 w 35"/>
                  <a:gd name="T11" fmla="*/ 26 h 45"/>
                  <a:gd name="T12" fmla="*/ 32 w 35"/>
                  <a:gd name="T13" fmla="*/ 10 h 45"/>
                  <a:gd name="T14" fmla="*/ 16 w 35"/>
                  <a:gd name="T15" fmla="*/ 0 h 45"/>
                  <a:gd name="T16" fmla="*/ 8 w 35"/>
                  <a:gd name="T17" fmla="*/ 0 h 45"/>
                  <a:gd name="T18" fmla="*/ 3 w 35"/>
                  <a:gd name="T19" fmla="*/ 5 h 45"/>
                  <a:gd name="T20" fmla="*/ 4 w 35"/>
                  <a:gd name="T2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5">
                    <a:moveTo>
                      <a:pt x="3" y="5"/>
                    </a:moveTo>
                    <a:lnTo>
                      <a:pt x="0" y="21"/>
                    </a:lnTo>
                    <a:lnTo>
                      <a:pt x="2" y="37"/>
                    </a:lnTo>
                    <a:lnTo>
                      <a:pt x="13" y="45"/>
                    </a:lnTo>
                    <a:lnTo>
                      <a:pt x="28" y="41"/>
                    </a:lnTo>
                    <a:lnTo>
                      <a:pt x="35" y="26"/>
                    </a:lnTo>
                    <a:lnTo>
                      <a:pt x="32" y="1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7" name="Freeform 304"/>
              <p:cNvSpPr>
                <a:spLocks noChangeAspect="1" noChangeArrowheads="1"/>
              </p:cNvSpPr>
              <p:nvPr/>
            </p:nvSpPr>
            <p:spPr bwMode="auto">
              <a:xfrm>
                <a:off x="5085" y="1594"/>
                <a:ext cx="11" cy="17"/>
              </a:xfrm>
              <a:custGeom>
                <a:avLst/>
                <a:gdLst>
                  <a:gd name="T0" fmla="*/ 3 w 34"/>
                  <a:gd name="T1" fmla="*/ 5 h 45"/>
                  <a:gd name="T2" fmla="*/ 0 w 34"/>
                  <a:gd name="T3" fmla="*/ 22 h 45"/>
                  <a:gd name="T4" fmla="*/ 2 w 34"/>
                  <a:gd name="T5" fmla="*/ 37 h 45"/>
                  <a:gd name="T6" fmla="*/ 12 w 34"/>
                  <a:gd name="T7" fmla="*/ 45 h 45"/>
                  <a:gd name="T8" fmla="*/ 27 w 34"/>
                  <a:gd name="T9" fmla="*/ 41 h 45"/>
                  <a:gd name="T10" fmla="*/ 34 w 34"/>
                  <a:gd name="T11" fmla="*/ 26 h 45"/>
                  <a:gd name="T12" fmla="*/ 31 w 34"/>
                  <a:gd name="T13" fmla="*/ 9 h 45"/>
                  <a:gd name="T14" fmla="*/ 16 w 34"/>
                  <a:gd name="T15" fmla="*/ 0 h 45"/>
                  <a:gd name="T16" fmla="*/ 8 w 34"/>
                  <a:gd name="T17" fmla="*/ 0 h 45"/>
                  <a:gd name="T18" fmla="*/ 3 w 34"/>
                  <a:gd name="T19" fmla="*/ 5 h 45"/>
                  <a:gd name="T20" fmla="*/ 4 w 34"/>
                  <a:gd name="T2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45">
                    <a:moveTo>
                      <a:pt x="3" y="5"/>
                    </a:moveTo>
                    <a:lnTo>
                      <a:pt x="0" y="22"/>
                    </a:lnTo>
                    <a:lnTo>
                      <a:pt x="2" y="37"/>
                    </a:lnTo>
                    <a:lnTo>
                      <a:pt x="12" y="45"/>
                    </a:lnTo>
                    <a:lnTo>
                      <a:pt x="27" y="41"/>
                    </a:lnTo>
                    <a:lnTo>
                      <a:pt x="34" y="26"/>
                    </a:lnTo>
                    <a:lnTo>
                      <a:pt x="31" y="9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8" name="Freeform 305"/>
              <p:cNvSpPr>
                <a:spLocks noChangeAspect="1" noChangeArrowheads="1"/>
              </p:cNvSpPr>
              <p:nvPr/>
            </p:nvSpPr>
            <p:spPr bwMode="auto">
              <a:xfrm>
                <a:off x="5033" y="1613"/>
                <a:ext cx="11" cy="17"/>
              </a:xfrm>
              <a:custGeom>
                <a:avLst/>
                <a:gdLst>
                  <a:gd name="T0" fmla="*/ 3 w 35"/>
                  <a:gd name="T1" fmla="*/ 5 h 45"/>
                  <a:gd name="T2" fmla="*/ 0 w 35"/>
                  <a:gd name="T3" fmla="*/ 22 h 45"/>
                  <a:gd name="T4" fmla="*/ 2 w 35"/>
                  <a:gd name="T5" fmla="*/ 37 h 45"/>
                  <a:gd name="T6" fmla="*/ 12 w 35"/>
                  <a:gd name="T7" fmla="*/ 45 h 45"/>
                  <a:gd name="T8" fmla="*/ 27 w 35"/>
                  <a:gd name="T9" fmla="*/ 41 h 45"/>
                  <a:gd name="T10" fmla="*/ 35 w 35"/>
                  <a:gd name="T11" fmla="*/ 27 h 45"/>
                  <a:gd name="T12" fmla="*/ 31 w 35"/>
                  <a:gd name="T13" fmla="*/ 10 h 45"/>
                  <a:gd name="T14" fmla="*/ 16 w 35"/>
                  <a:gd name="T15" fmla="*/ 0 h 45"/>
                  <a:gd name="T16" fmla="*/ 8 w 35"/>
                  <a:gd name="T17" fmla="*/ 0 h 45"/>
                  <a:gd name="T18" fmla="*/ 3 w 35"/>
                  <a:gd name="T19" fmla="*/ 5 h 45"/>
                  <a:gd name="T20" fmla="*/ 4 w 35"/>
                  <a:gd name="T2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5">
                    <a:moveTo>
                      <a:pt x="3" y="5"/>
                    </a:moveTo>
                    <a:lnTo>
                      <a:pt x="0" y="22"/>
                    </a:lnTo>
                    <a:lnTo>
                      <a:pt x="2" y="37"/>
                    </a:lnTo>
                    <a:lnTo>
                      <a:pt x="12" y="45"/>
                    </a:lnTo>
                    <a:lnTo>
                      <a:pt x="27" y="41"/>
                    </a:lnTo>
                    <a:lnTo>
                      <a:pt x="35" y="27"/>
                    </a:lnTo>
                    <a:lnTo>
                      <a:pt x="31" y="1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9" name="Freeform 306"/>
              <p:cNvSpPr>
                <a:spLocks noChangeAspect="1" noChangeArrowheads="1"/>
              </p:cNvSpPr>
              <p:nvPr/>
            </p:nvSpPr>
            <p:spPr bwMode="auto">
              <a:xfrm>
                <a:off x="4978" y="1608"/>
                <a:ext cx="14" cy="13"/>
              </a:xfrm>
              <a:custGeom>
                <a:avLst/>
                <a:gdLst>
                  <a:gd name="T0" fmla="*/ 3 w 33"/>
                  <a:gd name="T1" fmla="*/ 5 h 45"/>
                  <a:gd name="T2" fmla="*/ 0 w 33"/>
                  <a:gd name="T3" fmla="*/ 21 h 45"/>
                  <a:gd name="T4" fmla="*/ 2 w 33"/>
                  <a:gd name="T5" fmla="*/ 37 h 45"/>
                  <a:gd name="T6" fmla="*/ 12 w 33"/>
                  <a:gd name="T7" fmla="*/ 45 h 45"/>
                  <a:gd name="T8" fmla="*/ 26 w 33"/>
                  <a:gd name="T9" fmla="*/ 41 h 45"/>
                  <a:gd name="T10" fmla="*/ 33 w 33"/>
                  <a:gd name="T11" fmla="*/ 27 h 45"/>
                  <a:gd name="T12" fmla="*/ 30 w 33"/>
                  <a:gd name="T13" fmla="*/ 9 h 45"/>
                  <a:gd name="T14" fmla="*/ 16 w 33"/>
                  <a:gd name="T15" fmla="*/ 0 h 45"/>
                  <a:gd name="T16" fmla="*/ 8 w 33"/>
                  <a:gd name="T17" fmla="*/ 0 h 45"/>
                  <a:gd name="T18" fmla="*/ 3 w 33"/>
                  <a:gd name="T19" fmla="*/ 5 h 45"/>
                  <a:gd name="T20" fmla="*/ 4 w 33"/>
                  <a:gd name="T2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45">
                    <a:moveTo>
                      <a:pt x="3" y="5"/>
                    </a:moveTo>
                    <a:lnTo>
                      <a:pt x="0" y="21"/>
                    </a:lnTo>
                    <a:lnTo>
                      <a:pt x="2" y="37"/>
                    </a:lnTo>
                    <a:lnTo>
                      <a:pt x="12" y="45"/>
                    </a:lnTo>
                    <a:lnTo>
                      <a:pt x="26" y="41"/>
                    </a:lnTo>
                    <a:lnTo>
                      <a:pt x="33" y="27"/>
                    </a:lnTo>
                    <a:lnTo>
                      <a:pt x="30" y="9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0" name="Freeform 307"/>
              <p:cNvSpPr>
                <a:spLocks noChangeAspect="1" noChangeArrowheads="1"/>
              </p:cNvSpPr>
              <p:nvPr/>
            </p:nvSpPr>
            <p:spPr bwMode="auto">
              <a:xfrm>
                <a:off x="4888" y="1583"/>
                <a:ext cx="11" cy="14"/>
              </a:xfrm>
              <a:custGeom>
                <a:avLst/>
                <a:gdLst>
                  <a:gd name="T0" fmla="*/ 3 w 35"/>
                  <a:gd name="T1" fmla="*/ 5 h 45"/>
                  <a:gd name="T2" fmla="*/ 0 w 35"/>
                  <a:gd name="T3" fmla="*/ 21 h 45"/>
                  <a:gd name="T4" fmla="*/ 2 w 35"/>
                  <a:gd name="T5" fmla="*/ 37 h 45"/>
                  <a:gd name="T6" fmla="*/ 13 w 35"/>
                  <a:gd name="T7" fmla="*/ 45 h 45"/>
                  <a:gd name="T8" fmla="*/ 28 w 35"/>
                  <a:gd name="T9" fmla="*/ 41 h 45"/>
                  <a:gd name="T10" fmla="*/ 35 w 35"/>
                  <a:gd name="T11" fmla="*/ 26 h 45"/>
                  <a:gd name="T12" fmla="*/ 32 w 35"/>
                  <a:gd name="T13" fmla="*/ 10 h 45"/>
                  <a:gd name="T14" fmla="*/ 17 w 35"/>
                  <a:gd name="T15" fmla="*/ 0 h 45"/>
                  <a:gd name="T16" fmla="*/ 8 w 35"/>
                  <a:gd name="T17" fmla="*/ 0 h 45"/>
                  <a:gd name="T18" fmla="*/ 3 w 35"/>
                  <a:gd name="T19" fmla="*/ 5 h 45"/>
                  <a:gd name="T20" fmla="*/ 4 w 35"/>
                  <a:gd name="T2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5">
                    <a:moveTo>
                      <a:pt x="3" y="5"/>
                    </a:moveTo>
                    <a:lnTo>
                      <a:pt x="0" y="21"/>
                    </a:lnTo>
                    <a:lnTo>
                      <a:pt x="2" y="37"/>
                    </a:lnTo>
                    <a:lnTo>
                      <a:pt x="13" y="45"/>
                    </a:lnTo>
                    <a:lnTo>
                      <a:pt x="28" y="41"/>
                    </a:lnTo>
                    <a:lnTo>
                      <a:pt x="35" y="26"/>
                    </a:lnTo>
                    <a:lnTo>
                      <a:pt x="32" y="10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1" name="Freeform 308"/>
              <p:cNvSpPr>
                <a:spLocks noChangeAspect="1" noChangeArrowheads="1"/>
              </p:cNvSpPr>
              <p:nvPr/>
            </p:nvSpPr>
            <p:spPr bwMode="auto">
              <a:xfrm>
                <a:off x="4855" y="1531"/>
                <a:ext cx="11" cy="17"/>
              </a:xfrm>
              <a:custGeom>
                <a:avLst/>
                <a:gdLst>
                  <a:gd name="T0" fmla="*/ 3 w 34"/>
                  <a:gd name="T1" fmla="*/ 5 h 45"/>
                  <a:gd name="T2" fmla="*/ 0 w 34"/>
                  <a:gd name="T3" fmla="*/ 21 h 45"/>
                  <a:gd name="T4" fmla="*/ 2 w 34"/>
                  <a:gd name="T5" fmla="*/ 37 h 45"/>
                  <a:gd name="T6" fmla="*/ 12 w 34"/>
                  <a:gd name="T7" fmla="*/ 45 h 45"/>
                  <a:gd name="T8" fmla="*/ 27 w 34"/>
                  <a:gd name="T9" fmla="*/ 41 h 45"/>
                  <a:gd name="T10" fmla="*/ 34 w 34"/>
                  <a:gd name="T11" fmla="*/ 26 h 45"/>
                  <a:gd name="T12" fmla="*/ 32 w 34"/>
                  <a:gd name="T13" fmla="*/ 10 h 45"/>
                  <a:gd name="T14" fmla="*/ 16 w 34"/>
                  <a:gd name="T15" fmla="*/ 0 h 45"/>
                  <a:gd name="T16" fmla="*/ 8 w 34"/>
                  <a:gd name="T17" fmla="*/ 0 h 45"/>
                  <a:gd name="T18" fmla="*/ 3 w 34"/>
                  <a:gd name="T19" fmla="*/ 5 h 45"/>
                  <a:gd name="T20" fmla="*/ 4 w 34"/>
                  <a:gd name="T2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45">
                    <a:moveTo>
                      <a:pt x="3" y="5"/>
                    </a:moveTo>
                    <a:lnTo>
                      <a:pt x="0" y="21"/>
                    </a:lnTo>
                    <a:lnTo>
                      <a:pt x="2" y="37"/>
                    </a:lnTo>
                    <a:lnTo>
                      <a:pt x="12" y="45"/>
                    </a:lnTo>
                    <a:lnTo>
                      <a:pt x="27" y="41"/>
                    </a:lnTo>
                    <a:lnTo>
                      <a:pt x="34" y="26"/>
                    </a:lnTo>
                    <a:lnTo>
                      <a:pt x="32" y="1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2" name="Freeform 309"/>
              <p:cNvSpPr>
                <a:spLocks noChangeAspect="1" noChangeArrowheads="1"/>
              </p:cNvSpPr>
              <p:nvPr/>
            </p:nvSpPr>
            <p:spPr bwMode="auto">
              <a:xfrm>
                <a:off x="4792" y="1482"/>
                <a:ext cx="11" cy="14"/>
              </a:xfrm>
              <a:custGeom>
                <a:avLst/>
                <a:gdLst>
                  <a:gd name="T0" fmla="*/ 3 w 35"/>
                  <a:gd name="T1" fmla="*/ 5 h 45"/>
                  <a:gd name="T2" fmla="*/ 0 w 35"/>
                  <a:gd name="T3" fmla="*/ 21 h 45"/>
                  <a:gd name="T4" fmla="*/ 2 w 35"/>
                  <a:gd name="T5" fmla="*/ 37 h 45"/>
                  <a:gd name="T6" fmla="*/ 12 w 35"/>
                  <a:gd name="T7" fmla="*/ 45 h 45"/>
                  <a:gd name="T8" fmla="*/ 27 w 35"/>
                  <a:gd name="T9" fmla="*/ 41 h 45"/>
                  <a:gd name="T10" fmla="*/ 35 w 35"/>
                  <a:gd name="T11" fmla="*/ 26 h 45"/>
                  <a:gd name="T12" fmla="*/ 32 w 35"/>
                  <a:gd name="T13" fmla="*/ 9 h 45"/>
                  <a:gd name="T14" fmla="*/ 16 w 35"/>
                  <a:gd name="T15" fmla="*/ 0 h 45"/>
                  <a:gd name="T16" fmla="*/ 8 w 35"/>
                  <a:gd name="T17" fmla="*/ 0 h 45"/>
                  <a:gd name="T18" fmla="*/ 3 w 35"/>
                  <a:gd name="T19" fmla="*/ 5 h 45"/>
                  <a:gd name="T20" fmla="*/ 4 w 35"/>
                  <a:gd name="T2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5">
                    <a:moveTo>
                      <a:pt x="3" y="5"/>
                    </a:moveTo>
                    <a:lnTo>
                      <a:pt x="0" y="21"/>
                    </a:lnTo>
                    <a:lnTo>
                      <a:pt x="2" y="37"/>
                    </a:lnTo>
                    <a:lnTo>
                      <a:pt x="12" y="45"/>
                    </a:lnTo>
                    <a:lnTo>
                      <a:pt x="27" y="41"/>
                    </a:lnTo>
                    <a:lnTo>
                      <a:pt x="35" y="26"/>
                    </a:lnTo>
                    <a:lnTo>
                      <a:pt x="32" y="9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3" name="Freeform 310"/>
              <p:cNvSpPr>
                <a:spLocks noChangeAspect="1" noChangeArrowheads="1"/>
              </p:cNvSpPr>
              <p:nvPr/>
            </p:nvSpPr>
            <p:spPr bwMode="auto">
              <a:xfrm>
                <a:off x="4738" y="1449"/>
                <a:ext cx="10" cy="17"/>
              </a:xfrm>
              <a:custGeom>
                <a:avLst/>
                <a:gdLst>
                  <a:gd name="T0" fmla="*/ 3 w 35"/>
                  <a:gd name="T1" fmla="*/ 5 h 46"/>
                  <a:gd name="T2" fmla="*/ 0 w 35"/>
                  <a:gd name="T3" fmla="*/ 22 h 46"/>
                  <a:gd name="T4" fmla="*/ 2 w 35"/>
                  <a:gd name="T5" fmla="*/ 37 h 46"/>
                  <a:gd name="T6" fmla="*/ 13 w 35"/>
                  <a:gd name="T7" fmla="*/ 46 h 46"/>
                  <a:gd name="T8" fmla="*/ 27 w 35"/>
                  <a:gd name="T9" fmla="*/ 41 h 46"/>
                  <a:gd name="T10" fmla="*/ 35 w 35"/>
                  <a:gd name="T11" fmla="*/ 27 h 46"/>
                  <a:gd name="T12" fmla="*/ 31 w 35"/>
                  <a:gd name="T13" fmla="*/ 10 h 46"/>
                  <a:gd name="T14" fmla="*/ 16 w 35"/>
                  <a:gd name="T15" fmla="*/ 0 h 46"/>
                  <a:gd name="T16" fmla="*/ 8 w 35"/>
                  <a:gd name="T17" fmla="*/ 0 h 46"/>
                  <a:gd name="T18" fmla="*/ 3 w 35"/>
                  <a:gd name="T19" fmla="*/ 5 h 46"/>
                  <a:gd name="T20" fmla="*/ 4 w 35"/>
                  <a:gd name="T21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6">
                    <a:moveTo>
                      <a:pt x="3" y="5"/>
                    </a:moveTo>
                    <a:lnTo>
                      <a:pt x="0" y="22"/>
                    </a:lnTo>
                    <a:lnTo>
                      <a:pt x="2" y="37"/>
                    </a:lnTo>
                    <a:lnTo>
                      <a:pt x="13" y="46"/>
                    </a:lnTo>
                    <a:lnTo>
                      <a:pt x="27" y="41"/>
                    </a:lnTo>
                    <a:lnTo>
                      <a:pt x="35" y="27"/>
                    </a:lnTo>
                    <a:lnTo>
                      <a:pt x="31" y="1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4" name="Freeform 311"/>
              <p:cNvSpPr>
                <a:spLocks noChangeAspect="1" noChangeArrowheads="1"/>
              </p:cNvSpPr>
              <p:nvPr/>
            </p:nvSpPr>
            <p:spPr bwMode="auto">
              <a:xfrm>
                <a:off x="4735" y="1608"/>
                <a:ext cx="11" cy="13"/>
              </a:xfrm>
              <a:custGeom>
                <a:avLst/>
                <a:gdLst>
                  <a:gd name="T0" fmla="*/ 3 w 33"/>
                  <a:gd name="T1" fmla="*/ 5 h 45"/>
                  <a:gd name="T2" fmla="*/ 0 w 33"/>
                  <a:gd name="T3" fmla="*/ 21 h 45"/>
                  <a:gd name="T4" fmla="*/ 2 w 33"/>
                  <a:gd name="T5" fmla="*/ 37 h 45"/>
                  <a:gd name="T6" fmla="*/ 12 w 33"/>
                  <a:gd name="T7" fmla="*/ 45 h 45"/>
                  <a:gd name="T8" fmla="*/ 26 w 33"/>
                  <a:gd name="T9" fmla="*/ 41 h 45"/>
                  <a:gd name="T10" fmla="*/ 33 w 33"/>
                  <a:gd name="T11" fmla="*/ 27 h 45"/>
                  <a:gd name="T12" fmla="*/ 31 w 33"/>
                  <a:gd name="T13" fmla="*/ 9 h 45"/>
                  <a:gd name="T14" fmla="*/ 16 w 33"/>
                  <a:gd name="T15" fmla="*/ 0 h 45"/>
                  <a:gd name="T16" fmla="*/ 8 w 33"/>
                  <a:gd name="T17" fmla="*/ 0 h 45"/>
                  <a:gd name="T18" fmla="*/ 3 w 33"/>
                  <a:gd name="T19" fmla="*/ 5 h 45"/>
                  <a:gd name="T20" fmla="*/ 4 w 33"/>
                  <a:gd name="T2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45">
                    <a:moveTo>
                      <a:pt x="3" y="5"/>
                    </a:moveTo>
                    <a:lnTo>
                      <a:pt x="0" y="21"/>
                    </a:lnTo>
                    <a:lnTo>
                      <a:pt x="2" y="37"/>
                    </a:lnTo>
                    <a:lnTo>
                      <a:pt x="12" y="45"/>
                    </a:lnTo>
                    <a:lnTo>
                      <a:pt x="26" y="41"/>
                    </a:lnTo>
                    <a:lnTo>
                      <a:pt x="33" y="27"/>
                    </a:lnTo>
                    <a:lnTo>
                      <a:pt x="31" y="9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5" name="Freeform 312"/>
              <p:cNvSpPr>
                <a:spLocks noChangeAspect="1" noChangeArrowheads="1"/>
              </p:cNvSpPr>
              <p:nvPr/>
            </p:nvSpPr>
            <p:spPr bwMode="auto">
              <a:xfrm>
                <a:off x="4757" y="1553"/>
                <a:ext cx="11" cy="14"/>
              </a:xfrm>
              <a:custGeom>
                <a:avLst/>
                <a:gdLst>
                  <a:gd name="T0" fmla="*/ 3 w 34"/>
                  <a:gd name="T1" fmla="*/ 5 h 45"/>
                  <a:gd name="T2" fmla="*/ 0 w 34"/>
                  <a:gd name="T3" fmla="*/ 20 h 45"/>
                  <a:gd name="T4" fmla="*/ 2 w 34"/>
                  <a:gd name="T5" fmla="*/ 36 h 45"/>
                  <a:gd name="T6" fmla="*/ 12 w 34"/>
                  <a:gd name="T7" fmla="*/ 45 h 45"/>
                  <a:gd name="T8" fmla="*/ 27 w 34"/>
                  <a:gd name="T9" fmla="*/ 40 h 45"/>
                  <a:gd name="T10" fmla="*/ 34 w 34"/>
                  <a:gd name="T11" fmla="*/ 25 h 45"/>
                  <a:gd name="T12" fmla="*/ 32 w 34"/>
                  <a:gd name="T13" fmla="*/ 9 h 45"/>
                  <a:gd name="T14" fmla="*/ 16 w 34"/>
                  <a:gd name="T15" fmla="*/ 0 h 45"/>
                  <a:gd name="T16" fmla="*/ 8 w 34"/>
                  <a:gd name="T17" fmla="*/ 0 h 45"/>
                  <a:gd name="T18" fmla="*/ 3 w 34"/>
                  <a:gd name="T19" fmla="*/ 5 h 45"/>
                  <a:gd name="T20" fmla="*/ 4 w 34"/>
                  <a:gd name="T2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45">
                    <a:moveTo>
                      <a:pt x="3" y="5"/>
                    </a:moveTo>
                    <a:lnTo>
                      <a:pt x="0" y="20"/>
                    </a:lnTo>
                    <a:lnTo>
                      <a:pt x="2" y="36"/>
                    </a:lnTo>
                    <a:lnTo>
                      <a:pt x="12" y="45"/>
                    </a:lnTo>
                    <a:lnTo>
                      <a:pt x="27" y="40"/>
                    </a:lnTo>
                    <a:lnTo>
                      <a:pt x="34" y="25"/>
                    </a:lnTo>
                    <a:lnTo>
                      <a:pt x="32" y="9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6" name="Freeform 313"/>
              <p:cNvSpPr>
                <a:spLocks noChangeAspect="1" noChangeArrowheads="1"/>
              </p:cNvSpPr>
              <p:nvPr/>
            </p:nvSpPr>
            <p:spPr bwMode="auto">
              <a:xfrm>
                <a:off x="5194" y="1446"/>
                <a:ext cx="14" cy="17"/>
              </a:xfrm>
              <a:custGeom>
                <a:avLst/>
                <a:gdLst>
                  <a:gd name="T0" fmla="*/ 3 w 34"/>
                  <a:gd name="T1" fmla="*/ 4 h 45"/>
                  <a:gd name="T2" fmla="*/ 0 w 34"/>
                  <a:gd name="T3" fmla="*/ 21 h 45"/>
                  <a:gd name="T4" fmla="*/ 2 w 34"/>
                  <a:gd name="T5" fmla="*/ 37 h 45"/>
                  <a:gd name="T6" fmla="*/ 13 w 34"/>
                  <a:gd name="T7" fmla="*/ 45 h 45"/>
                  <a:gd name="T8" fmla="*/ 27 w 34"/>
                  <a:gd name="T9" fmla="*/ 41 h 45"/>
                  <a:gd name="T10" fmla="*/ 34 w 34"/>
                  <a:gd name="T11" fmla="*/ 26 h 45"/>
                  <a:gd name="T12" fmla="*/ 31 w 34"/>
                  <a:gd name="T13" fmla="*/ 9 h 45"/>
                  <a:gd name="T14" fmla="*/ 16 w 34"/>
                  <a:gd name="T15" fmla="*/ 0 h 45"/>
                  <a:gd name="T16" fmla="*/ 8 w 34"/>
                  <a:gd name="T17" fmla="*/ 0 h 45"/>
                  <a:gd name="T18" fmla="*/ 3 w 34"/>
                  <a:gd name="T19" fmla="*/ 4 h 45"/>
                  <a:gd name="T20" fmla="*/ 4 w 34"/>
                  <a:gd name="T21" fmla="*/ 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45">
                    <a:moveTo>
                      <a:pt x="3" y="4"/>
                    </a:moveTo>
                    <a:lnTo>
                      <a:pt x="0" y="21"/>
                    </a:lnTo>
                    <a:lnTo>
                      <a:pt x="2" y="37"/>
                    </a:lnTo>
                    <a:lnTo>
                      <a:pt x="13" y="45"/>
                    </a:lnTo>
                    <a:lnTo>
                      <a:pt x="27" y="41"/>
                    </a:lnTo>
                    <a:lnTo>
                      <a:pt x="34" y="26"/>
                    </a:lnTo>
                    <a:lnTo>
                      <a:pt x="31" y="9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4"/>
                    </a:lnTo>
                    <a:lnTo>
                      <a:pt x="4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7" name="Freeform 314"/>
              <p:cNvSpPr>
                <a:spLocks noChangeAspect="1" noChangeArrowheads="1"/>
              </p:cNvSpPr>
              <p:nvPr/>
            </p:nvSpPr>
            <p:spPr bwMode="auto">
              <a:xfrm>
                <a:off x="5194" y="1386"/>
                <a:ext cx="14" cy="17"/>
              </a:xfrm>
              <a:custGeom>
                <a:avLst/>
                <a:gdLst>
                  <a:gd name="T0" fmla="*/ 3 w 34"/>
                  <a:gd name="T1" fmla="*/ 6 h 45"/>
                  <a:gd name="T2" fmla="*/ 0 w 34"/>
                  <a:gd name="T3" fmla="*/ 22 h 45"/>
                  <a:gd name="T4" fmla="*/ 2 w 34"/>
                  <a:gd name="T5" fmla="*/ 37 h 45"/>
                  <a:gd name="T6" fmla="*/ 13 w 34"/>
                  <a:gd name="T7" fmla="*/ 45 h 45"/>
                  <a:gd name="T8" fmla="*/ 27 w 34"/>
                  <a:gd name="T9" fmla="*/ 41 h 45"/>
                  <a:gd name="T10" fmla="*/ 34 w 34"/>
                  <a:gd name="T11" fmla="*/ 26 h 45"/>
                  <a:gd name="T12" fmla="*/ 31 w 34"/>
                  <a:gd name="T13" fmla="*/ 10 h 45"/>
                  <a:gd name="T14" fmla="*/ 16 w 34"/>
                  <a:gd name="T15" fmla="*/ 0 h 45"/>
                  <a:gd name="T16" fmla="*/ 8 w 34"/>
                  <a:gd name="T17" fmla="*/ 0 h 45"/>
                  <a:gd name="T18" fmla="*/ 3 w 34"/>
                  <a:gd name="T19" fmla="*/ 6 h 45"/>
                  <a:gd name="T20" fmla="*/ 4 w 34"/>
                  <a:gd name="T21" fmla="*/ 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45">
                    <a:moveTo>
                      <a:pt x="3" y="6"/>
                    </a:moveTo>
                    <a:lnTo>
                      <a:pt x="0" y="22"/>
                    </a:lnTo>
                    <a:lnTo>
                      <a:pt x="2" y="37"/>
                    </a:lnTo>
                    <a:lnTo>
                      <a:pt x="13" y="45"/>
                    </a:lnTo>
                    <a:lnTo>
                      <a:pt x="27" y="41"/>
                    </a:lnTo>
                    <a:lnTo>
                      <a:pt x="34" y="26"/>
                    </a:lnTo>
                    <a:lnTo>
                      <a:pt x="31" y="1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6"/>
                    </a:lnTo>
                    <a:lnTo>
                      <a:pt x="4" y="6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6" name="Group 315"/>
            <p:cNvGrpSpPr>
              <a:grpSpLocks noChangeAspect="1"/>
            </p:cNvGrpSpPr>
            <p:nvPr/>
          </p:nvGrpSpPr>
          <p:grpSpPr bwMode="auto">
            <a:xfrm>
              <a:off x="4715" y="1998"/>
              <a:ext cx="514" cy="342"/>
              <a:chOff x="4715" y="1998"/>
              <a:chExt cx="514" cy="342"/>
            </a:xfrm>
          </p:grpSpPr>
          <p:sp>
            <p:nvSpPr>
              <p:cNvPr id="69" name="Freeform 316"/>
              <p:cNvSpPr>
                <a:spLocks noChangeAspect="1" noChangeArrowheads="1"/>
              </p:cNvSpPr>
              <p:nvPr/>
            </p:nvSpPr>
            <p:spPr bwMode="auto">
              <a:xfrm>
                <a:off x="4715" y="1998"/>
                <a:ext cx="511" cy="342"/>
              </a:xfrm>
              <a:custGeom>
                <a:avLst/>
                <a:gdLst>
                  <a:gd name="T0" fmla="*/ 0 w 1502"/>
                  <a:gd name="T1" fmla="*/ 1003 h 1003"/>
                  <a:gd name="T2" fmla="*/ 1502 w 1502"/>
                  <a:gd name="T3" fmla="*/ 1003 h 1003"/>
                  <a:gd name="T4" fmla="*/ 1502 w 1502"/>
                  <a:gd name="T5" fmla="*/ 0 h 1003"/>
                  <a:gd name="T6" fmla="*/ 0 w 1502"/>
                  <a:gd name="T7" fmla="*/ 0 h 1003"/>
                  <a:gd name="T8" fmla="*/ 0 w 1502"/>
                  <a:gd name="T9" fmla="*/ 1003 h 1003"/>
                  <a:gd name="T10" fmla="*/ 1 w 1502"/>
                  <a:gd name="T11" fmla="*/ 10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02" h="1003">
                    <a:moveTo>
                      <a:pt x="0" y="1003"/>
                    </a:moveTo>
                    <a:lnTo>
                      <a:pt x="1502" y="1003"/>
                    </a:lnTo>
                    <a:lnTo>
                      <a:pt x="1502" y="0"/>
                    </a:lnTo>
                    <a:lnTo>
                      <a:pt x="0" y="0"/>
                    </a:lnTo>
                    <a:lnTo>
                      <a:pt x="0" y="1003"/>
                    </a:lnTo>
                    <a:lnTo>
                      <a:pt x="1" y="1003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0" name="Freeform 317"/>
              <p:cNvSpPr>
                <a:spLocks noChangeAspect="1" noChangeArrowheads="1"/>
              </p:cNvSpPr>
              <p:nvPr/>
            </p:nvSpPr>
            <p:spPr bwMode="auto">
              <a:xfrm>
                <a:off x="4715" y="1998"/>
                <a:ext cx="62" cy="63"/>
              </a:xfrm>
              <a:custGeom>
                <a:avLst/>
                <a:gdLst>
                  <a:gd name="T0" fmla="*/ 0 w 190"/>
                  <a:gd name="T1" fmla="*/ 189 h 189"/>
                  <a:gd name="T2" fmla="*/ 189 w 190"/>
                  <a:gd name="T3" fmla="*/ 0 h 189"/>
                  <a:gd name="T4" fmla="*/ 190 w 190"/>
                  <a:gd name="T5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" h="189">
                    <a:moveTo>
                      <a:pt x="0" y="189"/>
                    </a:moveTo>
                    <a:lnTo>
                      <a:pt x="189" y="0"/>
                    </a:lnTo>
                    <a:lnTo>
                      <a:pt x="19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1" name="Freeform 318"/>
              <p:cNvSpPr>
                <a:spLocks noChangeAspect="1" noChangeArrowheads="1"/>
              </p:cNvSpPr>
              <p:nvPr/>
            </p:nvSpPr>
            <p:spPr bwMode="auto">
              <a:xfrm>
                <a:off x="4715" y="1998"/>
                <a:ext cx="158" cy="159"/>
              </a:xfrm>
              <a:custGeom>
                <a:avLst/>
                <a:gdLst>
                  <a:gd name="T0" fmla="*/ 0 w 471"/>
                  <a:gd name="T1" fmla="*/ 471 h 471"/>
                  <a:gd name="T2" fmla="*/ 470 w 471"/>
                  <a:gd name="T3" fmla="*/ 0 h 471"/>
                  <a:gd name="T4" fmla="*/ 471 w 471"/>
                  <a:gd name="T5" fmla="*/ 0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1" h="471">
                    <a:moveTo>
                      <a:pt x="0" y="471"/>
                    </a:moveTo>
                    <a:lnTo>
                      <a:pt x="470" y="0"/>
                    </a:lnTo>
                    <a:lnTo>
                      <a:pt x="47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2" name="Freeform 319"/>
              <p:cNvSpPr>
                <a:spLocks noChangeAspect="1" noChangeArrowheads="1"/>
              </p:cNvSpPr>
              <p:nvPr/>
            </p:nvSpPr>
            <p:spPr bwMode="auto">
              <a:xfrm>
                <a:off x="4715" y="1998"/>
                <a:ext cx="257" cy="257"/>
              </a:xfrm>
              <a:custGeom>
                <a:avLst/>
                <a:gdLst>
                  <a:gd name="T0" fmla="*/ 0 w 752"/>
                  <a:gd name="T1" fmla="*/ 753 h 753"/>
                  <a:gd name="T2" fmla="*/ 751 w 752"/>
                  <a:gd name="T3" fmla="*/ 0 h 753"/>
                  <a:gd name="T4" fmla="*/ 752 w 752"/>
                  <a:gd name="T5" fmla="*/ 0 h 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52" h="753">
                    <a:moveTo>
                      <a:pt x="0" y="753"/>
                    </a:moveTo>
                    <a:lnTo>
                      <a:pt x="751" y="0"/>
                    </a:lnTo>
                    <a:lnTo>
                      <a:pt x="752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3" name="Freeform 320"/>
              <p:cNvSpPr>
                <a:spLocks noChangeAspect="1" noChangeArrowheads="1"/>
              </p:cNvSpPr>
              <p:nvPr/>
            </p:nvSpPr>
            <p:spPr bwMode="auto">
              <a:xfrm>
                <a:off x="4723" y="1998"/>
                <a:ext cx="344" cy="342"/>
              </a:xfrm>
              <a:custGeom>
                <a:avLst/>
                <a:gdLst>
                  <a:gd name="T0" fmla="*/ 0 w 1004"/>
                  <a:gd name="T1" fmla="*/ 1003 h 1003"/>
                  <a:gd name="T2" fmla="*/ 1003 w 1004"/>
                  <a:gd name="T3" fmla="*/ 0 h 1003"/>
                  <a:gd name="T4" fmla="*/ 1004 w 1004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4" h="1003">
                    <a:moveTo>
                      <a:pt x="0" y="1003"/>
                    </a:moveTo>
                    <a:lnTo>
                      <a:pt x="1003" y="0"/>
                    </a:lnTo>
                    <a:lnTo>
                      <a:pt x="1004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4" name="Freeform 321"/>
              <p:cNvSpPr>
                <a:spLocks noChangeAspect="1" noChangeArrowheads="1"/>
              </p:cNvSpPr>
              <p:nvPr/>
            </p:nvSpPr>
            <p:spPr bwMode="auto">
              <a:xfrm>
                <a:off x="4821" y="1998"/>
                <a:ext cx="342" cy="342"/>
              </a:xfrm>
              <a:custGeom>
                <a:avLst/>
                <a:gdLst>
                  <a:gd name="T0" fmla="*/ 0 w 1002"/>
                  <a:gd name="T1" fmla="*/ 1003 h 1003"/>
                  <a:gd name="T2" fmla="*/ 1001 w 1002"/>
                  <a:gd name="T3" fmla="*/ 0 h 1003"/>
                  <a:gd name="T4" fmla="*/ 1002 w 1002"/>
                  <a:gd name="T5" fmla="*/ 0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2" h="1003">
                    <a:moveTo>
                      <a:pt x="0" y="1003"/>
                    </a:moveTo>
                    <a:lnTo>
                      <a:pt x="1001" y="0"/>
                    </a:lnTo>
                    <a:lnTo>
                      <a:pt x="1002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5" name="Freeform 322"/>
              <p:cNvSpPr>
                <a:spLocks noChangeAspect="1" noChangeArrowheads="1"/>
              </p:cNvSpPr>
              <p:nvPr/>
            </p:nvSpPr>
            <p:spPr bwMode="auto">
              <a:xfrm>
                <a:off x="4917" y="2028"/>
                <a:ext cx="312" cy="312"/>
              </a:xfrm>
              <a:custGeom>
                <a:avLst/>
                <a:gdLst>
                  <a:gd name="T0" fmla="*/ 0 w 911"/>
                  <a:gd name="T1" fmla="*/ 911 h 911"/>
                  <a:gd name="T2" fmla="*/ 910 w 911"/>
                  <a:gd name="T3" fmla="*/ 0 h 911"/>
                  <a:gd name="T4" fmla="*/ 911 w 911"/>
                  <a:gd name="T5" fmla="*/ 0 h 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11" h="911">
                    <a:moveTo>
                      <a:pt x="0" y="911"/>
                    </a:moveTo>
                    <a:lnTo>
                      <a:pt x="910" y="0"/>
                    </a:lnTo>
                    <a:lnTo>
                      <a:pt x="911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6" name="Freeform 323"/>
              <p:cNvSpPr>
                <a:spLocks noChangeAspect="1" noChangeArrowheads="1"/>
              </p:cNvSpPr>
              <p:nvPr/>
            </p:nvSpPr>
            <p:spPr bwMode="auto">
              <a:xfrm>
                <a:off x="5013" y="2124"/>
                <a:ext cx="216" cy="216"/>
              </a:xfrm>
              <a:custGeom>
                <a:avLst/>
                <a:gdLst>
                  <a:gd name="T0" fmla="*/ 0 w 630"/>
                  <a:gd name="T1" fmla="*/ 629 h 629"/>
                  <a:gd name="T2" fmla="*/ 629 w 630"/>
                  <a:gd name="T3" fmla="*/ 0 h 629"/>
                  <a:gd name="T4" fmla="*/ 630 w 630"/>
                  <a:gd name="T5" fmla="*/ 0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30" h="629">
                    <a:moveTo>
                      <a:pt x="0" y="629"/>
                    </a:moveTo>
                    <a:lnTo>
                      <a:pt x="629" y="0"/>
                    </a:lnTo>
                    <a:lnTo>
                      <a:pt x="630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7" name="Freeform 324"/>
              <p:cNvSpPr>
                <a:spLocks noChangeAspect="1" noChangeArrowheads="1"/>
              </p:cNvSpPr>
              <p:nvPr/>
            </p:nvSpPr>
            <p:spPr bwMode="auto">
              <a:xfrm>
                <a:off x="5108" y="2220"/>
                <a:ext cx="121" cy="120"/>
              </a:xfrm>
              <a:custGeom>
                <a:avLst/>
                <a:gdLst>
                  <a:gd name="T0" fmla="*/ 0 w 348"/>
                  <a:gd name="T1" fmla="*/ 348 h 348"/>
                  <a:gd name="T2" fmla="*/ 347 w 348"/>
                  <a:gd name="T3" fmla="*/ 0 h 348"/>
                  <a:gd name="T4" fmla="*/ 348 w 348"/>
                  <a:gd name="T5" fmla="*/ 0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8" h="348">
                    <a:moveTo>
                      <a:pt x="0" y="348"/>
                    </a:moveTo>
                    <a:lnTo>
                      <a:pt x="347" y="0"/>
                    </a:lnTo>
                    <a:lnTo>
                      <a:pt x="348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8" name="Freeform 325"/>
              <p:cNvSpPr>
                <a:spLocks noChangeAspect="1" noChangeArrowheads="1"/>
              </p:cNvSpPr>
              <p:nvPr/>
            </p:nvSpPr>
            <p:spPr bwMode="auto">
              <a:xfrm>
                <a:off x="5204" y="2318"/>
                <a:ext cx="25" cy="22"/>
              </a:xfrm>
              <a:custGeom>
                <a:avLst/>
                <a:gdLst>
                  <a:gd name="T0" fmla="*/ 0 w 67"/>
                  <a:gd name="T1" fmla="*/ 66 h 66"/>
                  <a:gd name="T2" fmla="*/ 66 w 67"/>
                  <a:gd name="T3" fmla="*/ 0 h 66"/>
                  <a:gd name="T4" fmla="*/ 67 w 67"/>
                  <a:gd name="T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7" h="66">
                    <a:moveTo>
                      <a:pt x="0" y="66"/>
                    </a:moveTo>
                    <a:lnTo>
                      <a:pt x="66" y="0"/>
                    </a:lnTo>
                    <a:lnTo>
                      <a:pt x="67" y="0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9" name="Freeform 326"/>
              <p:cNvSpPr>
                <a:spLocks noChangeAspect="1" noChangeArrowheads="1"/>
              </p:cNvSpPr>
              <p:nvPr/>
            </p:nvSpPr>
            <p:spPr bwMode="auto">
              <a:xfrm>
                <a:off x="4838" y="2031"/>
                <a:ext cx="35" cy="25"/>
              </a:xfrm>
              <a:custGeom>
                <a:avLst/>
                <a:gdLst>
                  <a:gd name="T0" fmla="*/ 46 w 99"/>
                  <a:gd name="T1" fmla="*/ 10 h 71"/>
                  <a:gd name="T2" fmla="*/ 44 w 99"/>
                  <a:gd name="T3" fmla="*/ 11 h 71"/>
                  <a:gd name="T4" fmla="*/ 48 w 99"/>
                  <a:gd name="T5" fmla="*/ 9 h 71"/>
                  <a:gd name="T6" fmla="*/ 69 w 99"/>
                  <a:gd name="T7" fmla="*/ 2 h 71"/>
                  <a:gd name="T8" fmla="*/ 80 w 99"/>
                  <a:gd name="T9" fmla="*/ 0 h 71"/>
                  <a:gd name="T10" fmla="*/ 90 w 99"/>
                  <a:gd name="T11" fmla="*/ 1 h 71"/>
                  <a:gd name="T12" fmla="*/ 96 w 99"/>
                  <a:gd name="T13" fmla="*/ 5 h 71"/>
                  <a:gd name="T14" fmla="*/ 99 w 99"/>
                  <a:gd name="T15" fmla="*/ 11 h 71"/>
                  <a:gd name="T16" fmla="*/ 98 w 99"/>
                  <a:gd name="T17" fmla="*/ 28 h 71"/>
                  <a:gd name="T18" fmla="*/ 88 w 99"/>
                  <a:gd name="T19" fmla="*/ 47 h 71"/>
                  <a:gd name="T20" fmla="*/ 72 w 99"/>
                  <a:gd name="T21" fmla="*/ 63 h 71"/>
                  <a:gd name="T22" fmla="*/ 53 w 99"/>
                  <a:gd name="T23" fmla="*/ 71 h 71"/>
                  <a:gd name="T24" fmla="*/ 33 w 99"/>
                  <a:gd name="T25" fmla="*/ 68 h 71"/>
                  <a:gd name="T26" fmla="*/ 16 w 99"/>
                  <a:gd name="T27" fmla="*/ 58 h 71"/>
                  <a:gd name="T28" fmla="*/ 4 w 99"/>
                  <a:gd name="T29" fmla="*/ 46 h 71"/>
                  <a:gd name="T30" fmla="*/ 1 w 99"/>
                  <a:gd name="T31" fmla="*/ 42 h 71"/>
                  <a:gd name="T32" fmla="*/ 0 w 99"/>
                  <a:gd name="T33" fmla="*/ 38 h 71"/>
                  <a:gd name="T34" fmla="*/ 3 w 99"/>
                  <a:gd name="T35" fmla="*/ 37 h 71"/>
                  <a:gd name="T36" fmla="*/ 8 w 99"/>
                  <a:gd name="T37" fmla="*/ 37 h 71"/>
                  <a:gd name="T38" fmla="*/ 24 w 99"/>
                  <a:gd name="T39" fmla="*/ 35 h 71"/>
                  <a:gd name="T40" fmla="*/ 33 w 99"/>
                  <a:gd name="T41" fmla="*/ 30 h 71"/>
                  <a:gd name="T42" fmla="*/ 43 w 99"/>
                  <a:gd name="T43" fmla="*/ 22 h 71"/>
                  <a:gd name="T44" fmla="*/ 48 w 99"/>
                  <a:gd name="T45" fmla="*/ 13 h 71"/>
                  <a:gd name="T46" fmla="*/ 48 w 99"/>
                  <a:gd name="T47" fmla="*/ 10 h 71"/>
                  <a:gd name="T48" fmla="*/ 46 w 99"/>
                  <a:gd name="T49" fmla="*/ 10 h 71"/>
                  <a:gd name="T50" fmla="*/ 47 w 99"/>
                  <a:gd name="T51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9" h="71">
                    <a:moveTo>
                      <a:pt x="46" y="10"/>
                    </a:moveTo>
                    <a:lnTo>
                      <a:pt x="44" y="11"/>
                    </a:lnTo>
                    <a:lnTo>
                      <a:pt x="48" y="9"/>
                    </a:lnTo>
                    <a:lnTo>
                      <a:pt x="69" y="2"/>
                    </a:lnTo>
                    <a:lnTo>
                      <a:pt x="80" y="0"/>
                    </a:lnTo>
                    <a:lnTo>
                      <a:pt x="90" y="1"/>
                    </a:lnTo>
                    <a:lnTo>
                      <a:pt x="96" y="5"/>
                    </a:lnTo>
                    <a:lnTo>
                      <a:pt x="99" y="11"/>
                    </a:lnTo>
                    <a:lnTo>
                      <a:pt x="98" y="28"/>
                    </a:lnTo>
                    <a:lnTo>
                      <a:pt x="88" y="47"/>
                    </a:lnTo>
                    <a:lnTo>
                      <a:pt x="72" y="63"/>
                    </a:lnTo>
                    <a:lnTo>
                      <a:pt x="53" y="71"/>
                    </a:lnTo>
                    <a:lnTo>
                      <a:pt x="33" y="68"/>
                    </a:lnTo>
                    <a:lnTo>
                      <a:pt x="16" y="58"/>
                    </a:lnTo>
                    <a:lnTo>
                      <a:pt x="4" y="46"/>
                    </a:lnTo>
                    <a:lnTo>
                      <a:pt x="1" y="42"/>
                    </a:lnTo>
                    <a:lnTo>
                      <a:pt x="0" y="38"/>
                    </a:lnTo>
                    <a:lnTo>
                      <a:pt x="3" y="37"/>
                    </a:lnTo>
                    <a:lnTo>
                      <a:pt x="8" y="37"/>
                    </a:lnTo>
                    <a:lnTo>
                      <a:pt x="24" y="35"/>
                    </a:lnTo>
                    <a:lnTo>
                      <a:pt x="33" y="30"/>
                    </a:lnTo>
                    <a:lnTo>
                      <a:pt x="43" y="22"/>
                    </a:lnTo>
                    <a:lnTo>
                      <a:pt x="48" y="13"/>
                    </a:lnTo>
                    <a:lnTo>
                      <a:pt x="48" y="10"/>
                    </a:lnTo>
                    <a:lnTo>
                      <a:pt x="46" y="10"/>
                    </a:lnTo>
                    <a:lnTo>
                      <a:pt x="47" y="1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0" name="Freeform 327"/>
              <p:cNvSpPr>
                <a:spLocks noChangeAspect="1" noChangeArrowheads="1"/>
              </p:cNvSpPr>
              <p:nvPr/>
            </p:nvSpPr>
            <p:spPr bwMode="auto">
              <a:xfrm>
                <a:off x="5196" y="2031"/>
                <a:ext cx="5" cy="6"/>
              </a:xfrm>
              <a:custGeom>
                <a:avLst/>
                <a:gdLst>
                  <a:gd name="T0" fmla="*/ 16 w 17"/>
                  <a:gd name="T1" fmla="*/ 8 h 16"/>
                  <a:gd name="T2" fmla="*/ 13 w 17"/>
                  <a:gd name="T3" fmla="*/ 3 h 16"/>
                  <a:gd name="T4" fmla="*/ 8 w 17"/>
                  <a:gd name="T5" fmla="*/ 0 h 16"/>
                  <a:gd name="T6" fmla="*/ 2 w 17"/>
                  <a:gd name="T7" fmla="*/ 3 h 16"/>
                  <a:gd name="T8" fmla="*/ 0 w 17"/>
                  <a:gd name="T9" fmla="*/ 8 h 16"/>
                  <a:gd name="T10" fmla="*/ 2 w 17"/>
                  <a:gd name="T11" fmla="*/ 14 h 16"/>
                  <a:gd name="T12" fmla="*/ 8 w 17"/>
                  <a:gd name="T13" fmla="*/ 16 h 16"/>
                  <a:gd name="T14" fmla="*/ 13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3" y="3"/>
                    </a:lnTo>
                    <a:lnTo>
                      <a:pt x="8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3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1" name="Freeform 328"/>
              <p:cNvSpPr>
                <a:spLocks noChangeAspect="1" noChangeArrowheads="1"/>
              </p:cNvSpPr>
              <p:nvPr/>
            </p:nvSpPr>
            <p:spPr bwMode="auto">
              <a:xfrm>
                <a:off x="4720" y="2020"/>
                <a:ext cx="3" cy="3"/>
              </a:xfrm>
              <a:custGeom>
                <a:avLst/>
                <a:gdLst>
                  <a:gd name="T0" fmla="*/ 6 w 7"/>
                  <a:gd name="T1" fmla="*/ 2 h 5"/>
                  <a:gd name="T2" fmla="*/ 5 w 7"/>
                  <a:gd name="T3" fmla="*/ 0 h 5"/>
                  <a:gd name="T4" fmla="*/ 3 w 7"/>
                  <a:gd name="T5" fmla="*/ 0 h 5"/>
                  <a:gd name="T6" fmla="*/ 1 w 7"/>
                  <a:gd name="T7" fmla="*/ 0 h 5"/>
                  <a:gd name="T8" fmla="*/ 0 w 7"/>
                  <a:gd name="T9" fmla="*/ 2 h 5"/>
                  <a:gd name="T10" fmla="*/ 1 w 7"/>
                  <a:gd name="T11" fmla="*/ 4 h 5"/>
                  <a:gd name="T12" fmla="*/ 3 w 7"/>
                  <a:gd name="T13" fmla="*/ 5 h 5"/>
                  <a:gd name="T14" fmla="*/ 5 w 7"/>
                  <a:gd name="T15" fmla="*/ 4 h 5"/>
                  <a:gd name="T16" fmla="*/ 6 w 7"/>
                  <a:gd name="T17" fmla="*/ 2 h 5"/>
                  <a:gd name="T18" fmla="*/ 7 w 7"/>
                  <a:gd name="T1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6" y="2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5" y="4"/>
                    </a:lnTo>
                    <a:lnTo>
                      <a:pt x="6" y="2"/>
                    </a:lnTo>
                    <a:lnTo>
                      <a:pt x="7" y="2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2" name="Freeform 329"/>
              <p:cNvSpPr>
                <a:spLocks noChangeAspect="1" noChangeArrowheads="1"/>
              </p:cNvSpPr>
              <p:nvPr/>
            </p:nvSpPr>
            <p:spPr bwMode="auto">
              <a:xfrm>
                <a:off x="5147" y="2023"/>
                <a:ext cx="27" cy="33"/>
              </a:xfrm>
              <a:custGeom>
                <a:avLst/>
                <a:gdLst>
                  <a:gd name="T0" fmla="*/ 59 w 81"/>
                  <a:gd name="T1" fmla="*/ 57 h 92"/>
                  <a:gd name="T2" fmla="*/ 59 w 81"/>
                  <a:gd name="T3" fmla="*/ 55 h 92"/>
                  <a:gd name="T4" fmla="*/ 66 w 81"/>
                  <a:gd name="T5" fmla="*/ 60 h 92"/>
                  <a:gd name="T6" fmla="*/ 81 w 81"/>
                  <a:gd name="T7" fmla="*/ 78 h 92"/>
                  <a:gd name="T8" fmla="*/ 81 w 81"/>
                  <a:gd name="T9" fmla="*/ 90 h 92"/>
                  <a:gd name="T10" fmla="*/ 66 w 81"/>
                  <a:gd name="T11" fmla="*/ 92 h 92"/>
                  <a:gd name="T12" fmla="*/ 22 w 81"/>
                  <a:gd name="T13" fmla="*/ 75 h 92"/>
                  <a:gd name="T14" fmla="*/ 6 w 81"/>
                  <a:gd name="T15" fmla="*/ 59 h 92"/>
                  <a:gd name="T16" fmla="*/ 0 w 81"/>
                  <a:gd name="T17" fmla="*/ 42 h 92"/>
                  <a:gd name="T18" fmla="*/ 14 w 81"/>
                  <a:gd name="T19" fmla="*/ 11 h 92"/>
                  <a:gd name="T20" fmla="*/ 44 w 81"/>
                  <a:gd name="T21" fmla="*/ 0 h 92"/>
                  <a:gd name="T22" fmla="*/ 58 w 81"/>
                  <a:gd name="T23" fmla="*/ 10 h 92"/>
                  <a:gd name="T24" fmla="*/ 65 w 81"/>
                  <a:gd name="T25" fmla="*/ 33 h 92"/>
                  <a:gd name="T26" fmla="*/ 65 w 81"/>
                  <a:gd name="T27" fmla="*/ 55 h 92"/>
                  <a:gd name="T28" fmla="*/ 59 w 81"/>
                  <a:gd name="T29" fmla="*/ 57 h 92"/>
                  <a:gd name="T30" fmla="*/ 60 w 81"/>
                  <a:gd name="T31" fmla="*/ 57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1" h="92">
                    <a:moveTo>
                      <a:pt x="59" y="57"/>
                    </a:moveTo>
                    <a:lnTo>
                      <a:pt x="59" y="55"/>
                    </a:lnTo>
                    <a:lnTo>
                      <a:pt x="66" y="60"/>
                    </a:lnTo>
                    <a:lnTo>
                      <a:pt x="81" y="78"/>
                    </a:lnTo>
                    <a:lnTo>
                      <a:pt x="81" y="90"/>
                    </a:lnTo>
                    <a:lnTo>
                      <a:pt x="66" y="92"/>
                    </a:lnTo>
                    <a:lnTo>
                      <a:pt x="22" y="75"/>
                    </a:lnTo>
                    <a:lnTo>
                      <a:pt x="6" y="59"/>
                    </a:lnTo>
                    <a:lnTo>
                      <a:pt x="0" y="42"/>
                    </a:lnTo>
                    <a:lnTo>
                      <a:pt x="14" y="11"/>
                    </a:lnTo>
                    <a:lnTo>
                      <a:pt x="44" y="0"/>
                    </a:lnTo>
                    <a:lnTo>
                      <a:pt x="58" y="10"/>
                    </a:lnTo>
                    <a:lnTo>
                      <a:pt x="65" y="33"/>
                    </a:lnTo>
                    <a:lnTo>
                      <a:pt x="65" y="55"/>
                    </a:lnTo>
                    <a:lnTo>
                      <a:pt x="59" y="57"/>
                    </a:lnTo>
                    <a:lnTo>
                      <a:pt x="60" y="57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3" name="Freeform 330"/>
              <p:cNvSpPr>
                <a:spLocks noChangeAspect="1" noChangeArrowheads="1"/>
              </p:cNvSpPr>
              <p:nvPr/>
            </p:nvSpPr>
            <p:spPr bwMode="auto">
              <a:xfrm>
                <a:off x="4758" y="2026"/>
                <a:ext cx="25" cy="32"/>
              </a:xfrm>
              <a:custGeom>
                <a:avLst/>
                <a:gdLst>
                  <a:gd name="T0" fmla="*/ 3 w 74"/>
                  <a:gd name="T1" fmla="*/ 29 h 96"/>
                  <a:gd name="T2" fmla="*/ 8 w 74"/>
                  <a:gd name="T3" fmla="*/ 28 h 96"/>
                  <a:gd name="T4" fmla="*/ 23 w 74"/>
                  <a:gd name="T5" fmla="*/ 12 h 96"/>
                  <a:gd name="T6" fmla="*/ 41 w 74"/>
                  <a:gd name="T7" fmla="*/ 0 h 96"/>
                  <a:gd name="T8" fmla="*/ 56 w 74"/>
                  <a:gd name="T9" fmla="*/ 4 h 96"/>
                  <a:gd name="T10" fmla="*/ 74 w 74"/>
                  <a:gd name="T11" fmla="*/ 39 h 96"/>
                  <a:gd name="T12" fmla="*/ 66 w 74"/>
                  <a:gd name="T13" fmla="*/ 77 h 96"/>
                  <a:gd name="T14" fmla="*/ 37 w 74"/>
                  <a:gd name="T15" fmla="*/ 96 h 96"/>
                  <a:gd name="T16" fmla="*/ 8 w 74"/>
                  <a:gd name="T17" fmla="*/ 91 h 96"/>
                  <a:gd name="T18" fmla="*/ 0 w 74"/>
                  <a:gd name="T19" fmla="*/ 77 h 96"/>
                  <a:gd name="T20" fmla="*/ 0 w 74"/>
                  <a:gd name="T21" fmla="*/ 55 h 96"/>
                  <a:gd name="T22" fmla="*/ 3 w 74"/>
                  <a:gd name="T23" fmla="*/ 32 h 96"/>
                  <a:gd name="T24" fmla="*/ 3 w 74"/>
                  <a:gd name="T25" fmla="*/ 29 h 96"/>
                  <a:gd name="T26" fmla="*/ 4 w 74"/>
                  <a:gd name="T27" fmla="*/ 2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96">
                    <a:moveTo>
                      <a:pt x="3" y="29"/>
                    </a:moveTo>
                    <a:lnTo>
                      <a:pt x="8" y="28"/>
                    </a:lnTo>
                    <a:lnTo>
                      <a:pt x="23" y="12"/>
                    </a:lnTo>
                    <a:lnTo>
                      <a:pt x="41" y="0"/>
                    </a:lnTo>
                    <a:lnTo>
                      <a:pt x="56" y="4"/>
                    </a:lnTo>
                    <a:lnTo>
                      <a:pt x="74" y="39"/>
                    </a:lnTo>
                    <a:lnTo>
                      <a:pt x="66" y="77"/>
                    </a:lnTo>
                    <a:lnTo>
                      <a:pt x="37" y="96"/>
                    </a:lnTo>
                    <a:lnTo>
                      <a:pt x="8" y="91"/>
                    </a:lnTo>
                    <a:lnTo>
                      <a:pt x="0" y="77"/>
                    </a:lnTo>
                    <a:lnTo>
                      <a:pt x="0" y="55"/>
                    </a:lnTo>
                    <a:lnTo>
                      <a:pt x="3" y="32"/>
                    </a:lnTo>
                    <a:lnTo>
                      <a:pt x="3" y="29"/>
                    </a:lnTo>
                    <a:lnTo>
                      <a:pt x="4" y="2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4" name="Freeform 331"/>
              <p:cNvSpPr>
                <a:spLocks noChangeAspect="1" noChangeArrowheads="1"/>
              </p:cNvSpPr>
              <p:nvPr/>
            </p:nvSpPr>
            <p:spPr bwMode="auto">
              <a:xfrm>
                <a:off x="4955" y="2075"/>
                <a:ext cx="8" cy="11"/>
              </a:xfrm>
              <a:custGeom>
                <a:avLst/>
                <a:gdLst>
                  <a:gd name="T0" fmla="*/ 1 w 23"/>
                  <a:gd name="T1" fmla="*/ 3 h 33"/>
                  <a:gd name="T2" fmla="*/ 0 w 23"/>
                  <a:gd name="T3" fmla="*/ 27 h 33"/>
                  <a:gd name="T4" fmla="*/ 12 w 23"/>
                  <a:gd name="T5" fmla="*/ 33 h 33"/>
                  <a:gd name="T6" fmla="*/ 23 w 23"/>
                  <a:gd name="T7" fmla="*/ 28 h 33"/>
                  <a:gd name="T8" fmla="*/ 23 w 23"/>
                  <a:gd name="T9" fmla="*/ 6 h 33"/>
                  <a:gd name="T10" fmla="*/ 12 w 23"/>
                  <a:gd name="T11" fmla="*/ 0 h 33"/>
                  <a:gd name="T12" fmla="*/ 1 w 23"/>
                  <a:gd name="T13" fmla="*/ 3 h 33"/>
                  <a:gd name="T14" fmla="*/ 2 w 23"/>
                  <a:gd name="T15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33">
                    <a:moveTo>
                      <a:pt x="1" y="3"/>
                    </a:moveTo>
                    <a:lnTo>
                      <a:pt x="0" y="27"/>
                    </a:lnTo>
                    <a:lnTo>
                      <a:pt x="12" y="33"/>
                    </a:lnTo>
                    <a:lnTo>
                      <a:pt x="23" y="28"/>
                    </a:lnTo>
                    <a:lnTo>
                      <a:pt x="23" y="6"/>
                    </a:lnTo>
                    <a:lnTo>
                      <a:pt x="12" y="0"/>
                    </a:lnTo>
                    <a:lnTo>
                      <a:pt x="1" y="3"/>
                    </a:lnTo>
                    <a:lnTo>
                      <a:pt x="2" y="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5" name="Freeform 332"/>
              <p:cNvSpPr>
                <a:spLocks noChangeAspect="1" noChangeArrowheads="1"/>
              </p:cNvSpPr>
              <p:nvPr/>
            </p:nvSpPr>
            <p:spPr bwMode="auto">
              <a:xfrm>
                <a:off x="4952" y="2217"/>
                <a:ext cx="30" cy="16"/>
              </a:xfrm>
              <a:custGeom>
                <a:avLst/>
                <a:gdLst>
                  <a:gd name="T0" fmla="*/ 32 w 82"/>
                  <a:gd name="T1" fmla="*/ 0 h 51"/>
                  <a:gd name="T2" fmla="*/ 8 w 82"/>
                  <a:gd name="T3" fmla="*/ 15 h 51"/>
                  <a:gd name="T4" fmla="*/ 0 w 82"/>
                  <a:gd name="T5" fmla="*/ 23 h 51"/>
                  <a:gd name="T6" fmla="*/ 1 w 82"/>
                  <a:gd name="T7" fmla="*/ 35 h 51"/>
                  <a:gd name="T8" fmla="*/ 11 w 82"/>
                  <a:gd name="T9" fmla="*/ 45 h 51"/>
                  <a:gd name="T10" fmla="*/ 27 w 82"/>
                  <a:gd name="T11" fmla="*/ 51 h 51"/>
                  <a:gd name="T12" fmla="*/ 64 w 82"/>
                  <a:gd name="T13" fmla="*/ 46 h 51"/>
                  <a:gd name="T14" fmla="*/ 77 w 82"/>
                  <a:gd name="T15" fmla="*/ 42 h 51"/>
                  <a:gd name="T16" fmla="*/ 82 w 82"/>
                  <a:gd name="T17" fmla="*/ 39 h 51"/>
                  <a:gd name="T18" fmla="*/ 61 w 82"/>
                  <a:gd name="T19" fmla="*/ 41 h 51"/>
                  <a:gd name="T20" fmla="*/ 46 w 82"/>
                  <a:gd name="T21" fmla="*/ 38 h 51"/>
                  <a:gd name="T22" fmla="*/ 36 w 82"/>
                  <a:gd name="T23" fmla="*/ 25 h 51"/>
                  <a:gd name="T24" fmla="*/ 36 w 82"/>
                  <a:gd name="T25" fmla="*/ 6 h 51"/>
                  <a:gd name="T26" fmla="*/ 32 w 82"/>
                  <a:gd name="T27" fmla="*/ 0 h 51"/>
                  <a:gd name="T28" fmla="*/ 33 w 82"/>
                  <a:gd name="T29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2" h="51">
                    <a:moveTo>
                      <a:pt x="32" y="0"/>
                    </a:moveTo>
                    <a:lnTo>
                      <a:pt x="8" y="15"/>
                    </a:lnTo>
                    <a:lnTo>
                      <a:pt x="0" y="23"/>
                    </a:lnTo>
                    <a:lnTo>
                      <a:pt x="1" y="35"/>
                    </a:lnTo>
                    <a:lnTo>
                      <a:pt x="11" y="45"/>
                    </a:lnTo>
                    <a:lnTo>
                      <a:pt x="27" y="51"/>
                    </a:lnTo>
                    <a:lnTo>
                      <a:pt x="64" y="46"/>
                    </a:lnTo>
                    <a:lnTo>
                      <a:pt x="77" y="42"/>
                    </a:lnTo>
                    <a:lnTo>
                      <a:pt x="82" y="39"/>
                    </a:lnTo>
                    <a:lnTo>
                      <a:pt x="61" y="41"/>
                    </a:lnTo>
                    <a:lnTo>
                      <a:pt x="46" y="38"/>
                    </a:lnTo>
                    <a:lnTo>
                      <a:pt x="36" y="25"/>
                    </a:lnTo>
                    <a:lnTo>
                      <a:pt x="36" y="6"/>
                    </a:lnTo>
                    <a:lnTo>
                      <a:pt x="32" y="0"/>
                    </a:lnTo>
                    <a:lnTo>
                      <a:pt x="33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6" name="Freeform 333"/>
              <p:cNvSpPr>
                <a:spLocks noChangeAspect="1" noChangeArrowheads="1"/>
              </p:cNvSpPr>
              <p:nvPr/>
            </p:nvSpPr>
            <p:spPr bwMode="auto">
              <a:xfrm>
                <a:off x="4745" y="2285"/>
                <a:ext cx="8" cy="6"/>
              </a:xfrm>
              <a:custGeom>
                <a:avLst/>
                <a:gdLst>
                  <a:gd name="T0" fmla="*/ 16 w 17"/>
                  <a:gd name="T1" fmla="*/ 8 h 16"/>
                  <a:gd name="T2" fmla="*/ 13 w 17"/>
                  <a:gd name="T3" fmla="*/ 2 h 16"/>
                  <a:gd name="T4" fmla="*/ 8 w 17"/>
                  <a:gd name="T5" fmla="*/ 0 h 16"/>
                  <a:gd name="T6" fmla="*/ 2 w 17"/>
                  <a:gd name="T7" fmla="*/ 2 h 16"/>
                  <a:gd name="T8" fmla="*/ 0 w 17"/>
                  <a:gd name="T9" fmla="*/ 8 h 16"/>
                  <a:gd name="T10" fmla="*/ 2 w 17"/>
                  <a:gd name="T11" fmla="*/ 13 h 16"/>
                  <a:gd name="T12" fmla="*/ 8 w 17"/>
                  <a:gd name="T13" fmla="*/ 16 h 16"/>
                  <a:gd name="T14" fmla="*/ 13 w 17"/>
                  <a:gd name="T15" fmla="*/ 13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7" name="Freeform 334"/>
              <p:cNvSpPr>
                <a:spLocks noChangeAspect="1" noChangeArrowheads="1"/>
              </p:cNvSpPr>
              <p:nvPr/>
            </p:nvSpPr>
            <p:spPr bwMode="auto">
              <a:xfrm>
                <a:off x="4821" y="2264"/>
                <a:ext cx="28" cy="27"/>
              </a:xfrm>
              <a:custGeom>
                <a:avLst/>
                <a:gdLst>
                  <a:gd name="T0" fmla="*/ 45 w 81"/>
                  <a:gd name="T1" fmla="*/ 0 h 79"/>
                  <a:gd name="T2" fmla="*/ 46 w 81"/>
                  <a:gd name="T3" fmla="*/ 8 h 79"/>
                  <a:gd name="T4" fmla="*/ 62 w 81"/>
                  <a:gd name="T5" fmla="*/ 17 h 79"/>
                  <a:gd name="T6" fmla="*/ 77 w 81"/>
                  <a:gd name="T7" fmla="*/ 30 h 79"/>
                  <a:gd name="T8" fmla="*/ 81 w 81"/>
                  <a:gd name="T9" fmla="*/ 45 h 79"/>
                  <a:gd name="T10" fmla="*/ 65 w 81"/>
                  <a:gd name="T11" fmla="*/ 74 h 79"/>
                  <a:gd name="T12" fmla="*/ 34 w 81"/>
                  <a:gd name="T13" fmla="*/ 79 h 79"/>
                  <a:gd name="T14" fmla="*/ 8 w 81"/>
                  <a:gd name="T15" fmla="*/ 62 h 79"/>
                  <a:gd name="T16" fmla="*/ 0 w 81"/>
                  <a:gd name="T17" fmla="*/ 37 h 79"/>
                  <a:gd name="T18" fmla="*/ 8 w 81"/>
                  <a:gd name="T19" fmla="*/ 24 h 79"/>
                  <a:gd name="T20" fmla="*/ 26 w 81"/>
                  <a:gd name="T21" fmla="*/ 11 h 79"/>
                  <a:gd name="T22" fmla="*/ 44 w 81"/>
                  <a:gd name="T23" fmla="*/ 1 h 79"/>
                  <a:gd name="T24" fmla="*/ 45 w 81"/>
                  <a:gd name="T25" fmla="*/ 0 h 79"/>
                  <a:gd name="T26" fmla="*/ 46 w 81"/>
                  <a:gd name="T2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1" h="79">
                    <a:moveTo>
                      <a:pt x="45" y="0"/>
                    </a:moveTo>
                    <a:lnTo>
                      <a:pt x="46" y="8"/>
                    </a:lnTo>
                    <a:lnTo>
                      <a:pt x="62" y="17"/>
                    </a:lnTo>
                    <a:lnTo>
                      <a:pt x="77" y="30"/>
                    </a:lnTo>
                    <a:lnTo>
                      <a:pt x="81" y="45"/>
                    </a:lnTo>
                    <a:lnTo>
                      <a:pt x="65" y="74"/>
                    </a:lnTo>
                    <a:lnTo>
                      <a:pt x="34" y="79"/>
                    </a:lnTo>
                    <a:lnTo>
                      <a:pt x="8" y="62"/>
                    </a:lnTo>
                    <a:lnTo>
                      <a:pt x="0" y="37"/>
                    </a:lnTo>
                    <a:lnTo>
                      <a:pt x="8" y="24"/>
                    </a:lnTo>
                    <a:lnTo>
                      <a:pt x="26" y="11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8" name="Freeform 335"/>
              <p:cNvSpPr>
                <a:spLocks noChangeAspect="1" noChangeArrowheads="1"/>
              </p:cNvSpPr>
              <p:nvPr/>
            </p:nvSpPr>
            <p:spPr bwMode="auto">
              <a:xfrm>
                <a:off x="4767" y="2299"/>
                <a:ext cx="5" cy="6"/>
              </a:xfrm>
              <a:custGeom>
                <a:avLst/>
                <a:gdLst>
                  <a:gd name="T0" fmla="*/ 17 w 18"/>
                  <a:gd name="T1" fmla="*/ 8 h 16"/>
                  <a:gd name="T2" fmla="*/ 15 w 18"/>
                  <a:gd name="T3" fmla="*/ 2 h 16"/>
                  <a:gd name="T4" fmla="*/ 8 w 18"/>
                  <a:gd name="T5" fmla="*/ 0 h 16"/>
                  <a:gd name="T6" fmla="*/ 2 w 18"/>
                  <a:gd name="T7" fmla="*/ 2 h 16"/>
                  <a:gd name="T8" fmla="*/ 0 w 18"/>
                  <a:gd name="T9" fmla="*/ 8 h 16"/>
                  <a:gd name="T10" fmla="*/ 2 w 18"/>
                  <a:gd name="T11" fmla="*/ 13 h 16"/>
                  <a:gd name="T12" fmla="*/ 8 w 18"/>
                  <a:gd name="T13" fmla="*/ 16 h 16"/>
                  <a:gd name="T14" fmla="*/ 15 w 18"/>
                  <a:gd name="T15" fmla="*/ 13 h 16"/>
                  <a:gd name="T16" fmla="*/ 17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7" y="8"/>
                    </a:moveTo>
                    <a:lnTo>
                      <a:pt x="15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3"/>
                    </a:lnTo>
                    <a:lnTo>
                      <a:pt x="8" y="16"/>
                    </a:lnTo>
                    <a:lnTo>
                      <a:pt x="15" y="13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9" name="Freeform 336"/>
              <p:cNvSpPr>
                <a:spLocks noChangeAspect="1" noChangeArrowheads="1"/>
              </p:cNvSpPr>
              <p:nvPr/>
            </p:nvSpPr>
            <p:spPr bwMode="auto">
              <a:xfrm>
                <a:off x="4742" y="2316"/>
                <a:ext cx="11" cy="13"/>
              </a:xfrm>
              <a:custGeom>
                <a:avLst/>
                <a:gdLst>
                  <a:gd name="T0" fmla="*/ 1 w 33"/>
                  <a:gd name="T1" fmla="*/ 6 h 45"/>
                  <a:gd name="T2" fmla="*/ 0 w 33"/>
                  <a:gd name="T3" fmla="*/ 37 h 45"/>
                  <a:gd name="T4" fmla="*/ 11 w 33"/>
                  <a:gd name="T5" fmla="*/ 45 h 45"/>
                  <a:gd name="T6" fmla="*/ 25 w 33"/>
                  <a:gd name="T7" fmla="*/ 41 h 45"/>
                  <a:gd name="T8" fmla="*/ 33 w 33"/>
                  <a:gd name="T9" fmla="*/ 26 h 45"/>
                  <a:gd name="T10" fmla="*/ 30 w 33"/>
                  <a:gd name="T11" fmla="*/ 10 h 45"/>
                  <a:gd name="T12" fmla="*/ 14 w 33"/>
                  <a:gd name="T13" fmla="*/ 0 h 45"/>
                  <a:gd name="T14" fmla="*/ 1 w 33"/>
                  <a:gd name="T15" fmla="*/ 6 h 45"/>
                  <a:gd name="T16" fmla="*/ 2 w 33"/>
                  <a:gd name="T17" fmla="*/ 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1" y="6"/>
                    </a:moveTo>
                    <a:lnTo>
                      <a:pt x="0" y="37"/>
                    </a:lnTo>
                    <a:lnTo>
                      <a:pt x="11" y="45"/>
                    </a:lnTo>
                    <a:lnTo>
                      <a:pt x="25" y="41"/>
                    </a:lnTo>
                    <a:lnTo>
                      <a:pt x="33" y="26"/>
                    </a:lnTo>
                    <a:lnTo>
                      <a:pt x="30" y="10"/>
                    </a:lnTo>
                    <a:lnTo>
                      <a:pt x="14" y="0"/>
                    </a:lnTo>
                    <a:lnTo>
                      <a:pt x="1" y="6"/>
                    </a:lnTo>
                    <a:lnTo>
                      <a:pt x="2" y="6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0" name="Freeform 337"/>
              <p:cNvSpPr>
                <a:spLocks noChangeAspect="1" noChangeArrowheads="1"/>
              </p:cNvSpPr>
              <p:nvPr/>
            </p:nvSpPr>
            <p:spPr bwMode="auto">
              <a:xfrm>
                <a:off x="4895" y="2288"/>
                <a:ext cx="11" cy="17"/>
              </a:xfrm>
              <a:custGeom>
                <a:avLst/>
                <a:gdLst>
                  <a:gd name="T0" fmla="*/ 1 w 33"/>
                  <a:gd name="T1" fmla="*/ 5 h 46"/>
                  <a:gd name="T2" fmla="*/ 0 w 33"/>
                  <a:gd name="T3" fmla="*/ 38 h 46"/>
                  <a:gd name="T4" fmla="*/ 10 w 33"/>
                  <a:gd name="T5" fmla="*/ 46 h 46"/>
                  <a:gd name="T6" fmla="*/ 25 w 33"/>
                  <a:gd name="T7" fmla="*/ 41 h 46"/>
                  <a:gd name="T8" fmla="*/ 33 w 33"/>
                  <a:gd name="T9" fmla="*/ 26 h 46"/>
                  <a:gd name="T10" fmla="*/ 30 w 33"/>
                  <a:gd name="T11" fmla="*/ 10 h 46"/>
                  <a:gd name="T12" fmla="*/ 15 w 33"/>
                  <a:gd name="T13" fmla="*/ 0 h 46"/>
                  <a:gd name="T14" fmla="*/ 1 w 33"/>
                  <a:gd name="T15" fmla="*/ 5 h 46"/>
                  <a:gd name="T16" fmla="*/ 2 w 33"/>
                  <a:gd name="T17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46">
                    <a:moveTo>
                      <a:pt x="1" y="5"/>
                    </a:moveTo>
                    <a:lnTo>
                      <a:pt x="0" y="38"/>
                    </a:lnTo>
                    <a:lnTo>
                      <a:pt x="10" y="46"/>
                    </a:lnTo>
                    <a:lnTo>
                      <a:pt x="25" y="41"/>
                    </a:lnTo>
                    <a:lnTo>
                      <a:pt x="33" y="26"/>
                    </a:lnTo>
                    <a:lnTo>
                      <a:pt x="30" y="10"/>
                    </a:lnTo>
                    <a:lnTo>
                      <a:pt x="15" y="0"/>
                    </a:lnTo>
                    <a:lnTo>
                      <a:pt x="1" y="5"/>
                    </a:lnTo>
                    <a:lnTo>
                      <a:pt x="2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1" name="Freeform 338"/>
              <p:cNvSpPr>
                <a:spLocks noChangeAspect="1" noChangeArrowheads="1"/>
              </p:cNvSpPr>
              <p:nvPr/>
            </p:nvSpPr>
            <p:spPr bwMode="auto">
              <a:xfrm>
                <a:off x="4854" y="2324"/>
                <a:ext cx="8" cy="5"/>
              </a:xfrm>
              <a:custGeom>
                <a:avLst/>
                <a:gdLst>
                  <a:gd name="T0" fmla="*/ 16 w 17"/>
                  <a:gd name="T1" fmla="*/ 8 h 16"/>
                  <a:gd name="T2" fmla="*/ 14 w 17"/>
                  <a:gd name="T3" fmla="*/ 3 h 16"/>
                  <a:gd name="T4" fmla="*/ 8 w 17"/>
                  <a:gd name="T5" fmla="*/ 0 h 16"/>
                  <a:gd name="T6" fmla="*/ 3 w 17"/>
                  <a:gd name="T7" fmla="*/ 3 h 16"/>
                  <a:gd name="T8" fmla="*/ 0 w 17"/>
                  <a:gd name="T9" fmla="*/ 8 h 16"/>
                  <a:gd name="T10" fmla="*/ 3 w 17"/>
                  <a:gd name="T11" fmla="*/ 14 h 16"/>
                  <a:gd name="T12" fmla="*/ 8 w 17"/>
                  <a:gd name="T13" fmla="*/ 16 h 16"/>
                  <a:gd name="T14" fmla="*/ 14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3" y="14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2" name="Freeform 339"/>
              <p:cNvSpPr>
                <a:spLocks noChangeAspect="1" noChangeArrowheads="1"/>
              </p:cNvSpPr>
              <p:nvPr/>
            </p:nvSpPr>
            <p:spPr bwMode="auto">
              <a:xfrm>
                <a:off x="4933" y="2318"/>
                <a:ext cx="6" cy="6"/>
              </a:xfrm>
              <a:custGeom>
                <a:avLst/>
                <a:gdLst>
                  <a:gd name="T0" fmla="*/ 16 w 17"/>
                  <a:gd name="T1" fmla="*/ 8 h 16"/>
                  <a:gd name="T2" fmla="*/ 14 w 17"/>
                  <a:gd name="T3" fmla="*/ 2 h 16"/>
                  <a:gd name="T4" fmla="*/ 8 w 17"/>
                  <a:gd name="T5" fmla="*/ 0 h 16"/>
                  <a:gd name="T6" fmla="*/ 3 w 17"/>
                  <a:gd name="T7" fmla="*/ 2 h 16"/>
                  <a:gd name="T8" fmla="*/ 0 w 17"/>
                  <a:gd name="T9" fmla="*/ 8 h 16"/>
                  <a:gd name="T10" fmla="*/ 3 w 17"/>
                  <a:gd name="T11" fmla="*/ 14 h 16"/>
                  <a:gd name="T12" fmla="*/ 8 w 17"/>
                  <a:gd name="T13" fmla="*/ 16 h 16"/>
                  <a:gd name="T14" fmla="*/ 14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3" y="14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3" name="Freeform 340"/>
              <p:cNvSpPr>
                <a:spLocks noChangeAspect="1" noChangeArrowheads="1"/>
              </p:cNvSpPr>
              <p:nvPr/>
            </p:nvSpPr>
            <p:spPr bwMode="auto">
              <a:xfrm>
                <a:off x="4788" y="2326"/>
                <a:ext cx="6" cy="6"/>
              </a:xfrm>
              <a:custGeom>
                <a:avLst/>
                <a:gdLst>
                  <a:gd name="T0" fmla="*/ 16 w 17"/>
                  <a:gd name="T1" fmla="*/ 8 h 16"/>
                  <a:gd name="T2" fmla="*/ 13 w 17"/>
                  <a:gd name="T3" fmla="*/ 3 h 16"/>
                  <a:gd name="T4" fmla="*/ 8 w 17"/>
                  <a:gd name="T5" fmla="*/ 0 h 16"/>
                  <a:gd name="T6" fmla="*/ 2 w 17"/>
                  <a:gd name="T7" fmla="*/ 3 h 16"/>
                  <a:gd name="T8" fmla="*/ 0 w 17"/>
                  <a:gd name="T9" fmla="*/ 8 h 16"/>
                  <a:gd name="T10" fmla="*/ 2 w 17"/>
                  <a:gd name="T11" fmla="*/ 14 h 16"/>
                  <a:gd name="T12" fmla="*/ 8 w 17"/>
                  <a:gd name="T13" fmla="*/ 16 h 16"/>
                  <a:gd name="T14" fmla="*/ 13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3" y="3"/>
                    </a:lnTo>
                    <a:lnTo>
                      <a:pt x="8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3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4" name="Freeform 341"/>
              <p:cNvSpPr>
                <a:spLocks noChangeAspect="1" noChangeArrowheads="1"/>
              </p:cNvSpPr>
              <p:nvPr/>
            </p:nvSpPr>
            <p:spPr bwMode="auto">
              <a:xfrm>
                <a:off x="4895" y="2316"/>
                <a:ext cx="5" cy="5"/>
              </a:xfrm>
              <a:custGeom>
                <a:avLst/>
                <a:gdLst>
                  <a:gd name="T0" fmla="*/ 17 w 18"/>
                  <a:gd name="T1" fmla="*/ 8 h 16"/>
                  <a:gd name="T2" fmla="*/ 13 w 18"/>
                  <a:gd name="T3" fmla="*/ 3 h 16"/>
                  <a:gd name="T4" fmla="*/ 8 w 18"/>
                  <a:gd name="T5" fmla="*/ 0 h 16"/>
                  <a:gd name="T6" fmla="*/ 2 w 18"/>
                  <a:gd name="T7" fmla="*/ 3 h 16"/>
                  <a:gd name="T8" fmla="*/ 0 w 18"/>
                  <a:gd name="T9" fmla="*/ 8 h 16"/>
                  <a:gd name="T10" fmla="*/ 2 w 18"/>
                  <a:gd name="T11" fmla="*/ 14 h 16"/>
                  <a:gd name="T12" fmla="*/ 8 w 18"/>
                  <a:gd name="T13" fmla="*/ 16 h 16"/>
                  <a:gd name="T14" fmla="*/ 13 w 18"/>
                  <a:gd name="T15" fmla="*/ 14 h 16"/>
                  <a:gd name="T16" fmla="*/ 17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7" y="8"/>
                    </a:moveTo>
                    <a:lnTo>
                      <a:pt x="13" y="3"/>
                    </a:lnTo>
                    <a:lnTo>
                      <a:pt x="8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3" y="14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5" name="Freeform 342"/>
              <p:cNvSpPr>
                <a:spLocks noChangeAspect="1" noChangeArrowheads="1"/>
              </p:cNvSpPr>
              <p:nvPr/>
            </p:nvSpPr>
            <p:spPr bwMode="auto">
              <a:xfrm>
                <a:off x="4813" y="2318"/>
                <a:ext cx="5" cy="6"/>
              </a:xfrm>
              <a:custGeom>
                <a:avLst/>
                <a:gdLst>
                  <a:gd name="T0" fmla="*/ 16 w 17"/>
                  <a:gd name="T1" fmla="*/ 8 h 16"/>
                  <a:gd name="T2" fmla="*/ 14 w 17"/>
                  <a:gd name="T3" fmla="*/ 2 h 16"/>
                  <a:gd name="T4" fmla="*/ 8 w 17"/>
                  <a:gd name="T5" fmla="*/ 0 h 16"/>
                  <a:gd name="T6" fmla="*/ 3 w 17"/>
                  <a:gd name="T7" fmla="*/ 2 h 16"/>
                  <a:gd name="T8" fmla="*/ 0 w 17"/>
                  <a:gd name="T9" fmla="*/ 8 h 16"/>
                  <a:gd name="T10" fmla="*/ 3 w 17"/>
                  <a:gd name="T11" fmla="*/ 14 h 16"/>
                  <a:gd name="T12" fmla="*/ 8 w 17"/>
                  <a:gd name="T13" fmla="*/ 16 h 16"/>
                  <a:gd name="T14" fmla="*/ 14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3" y="14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6" name="Freeform 343"/>
              <p:cNvSpPr>
                <a:spLocks noChangeAspect="1" noChangeArrowheads="1"/>
              </p:cNvSpPr>
              <p:nvPr/>
            </p:nvSpPr>
            <p:spPr bwMode="auto">
              <a:xfrm>
                <a:off x="4884" y="2305"/>
                <a:ext cx="6" cy="5"/>
              </a:xfrm>
              <a:custGeom>
                <a:avLst/>
                <a:gdLst>
                  <a:gd name="T0" fmla="*/ 17 w 18"/>
                  <a:gd name="T1" fmla="*/ 8 h 16"/>
                  <a:gd name="T2" fmla="*/ 15 w 18"/>
                  <a:gd name="T3" fmla="*/ 3 h 16"/>
                  <a:gd name="T4" fmla="*/ 9 w 18"/>
                  <a:gd name="T5" fmla="*/ 0 h 16"/>
                  <a:gd name="T6" fmla="*/ 4 w 18"/>
                  <a:gd name="T7" fmla="*/ 3 h 16"/>
                  <a:gd name="T8" fmla="*/ 0 w 18"/>
                  <a:gd name="T9" fmla="*/ 8 h 16"/>
                  <a:gd name="T10" fmla="*/ 4 w 18"/>
                  <a:gd name="T11" fmla="*/ 14 h 16"/>
                  <a:gd name="T12" fmla="*/ 9 w 18"/>
                  <a:gd name="T13" fmla="*/ 16 h 16"/>
                  <a:gd name="T14" fmla="*/ 15 w 18"/>
                  <a:gd name="T15" fmla="*/ 14 h 16"/>
                  <a:gd name="T16" fmla="*/ 17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7" y="8"/>
                    </a:moveTo>
                    <a:lnTo>
                      <a:pt x="15" y="3"/>
                    </a:lnTo>
                    <a:lnTo>
                      <a:pt x="9" y="0"/>
                    </a:lnTo>
                    <a:lnTo>
                      <a:pt x="4" y="3"/>
                    </a:lnTo>
                    <a:lnTo>
                      <a:pt x="0" y="8"/>
                    </a:lnTo>
                    <a:lnTo>
                      <a:pt x="4" y="14"/>
                    </a:lnTo>
                    <a:lnTo>
                      <a:pt x="9" y="16"/>
                    </a:lnTo>
                    <a:lnTo>
                      <a:pt x="15" y="14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7" name="Freeform 344"/>
              <p:cNvSpPr>
                <a:spLocks noChangeAspect="1" noChangeArrowheads="1"/>
              </p:cNvSpPr>
              <p:nvPr/>
            </p:nvSpPr>
            <p:spPr bwMode="auto">
              <a:xfrm>
                <a:off x="4764" y="2261"/>
                <a:ext cx="11" cy="14"/>
              </a:xfrm>
              <a:custGeom>
                <a:avLst/>
                <a:gdLst>
                  <a:gd name="T0" fmla="*/ 1 w 33"/>
                  <a:gd name="T1" fmla="*/ 4 h 45"/>
                  <a:gd name="T2" fmla="*/ 0 w 33"/>
                  <a:gd name="T3" fmla="*/ 37 h 45"/>
                  <a:gd name="T4" fmla="*/ 11 w 33"/>
                  <a:gd name="T5" fmla="*/ 45 h 45"/>
                  <a:gd name="T6" fmla="*/ 26 w 33"/>
                  <a:gd name="T7" fmla="*/ 41 h 45"/>
                  <a:gd name="T8" fmla="*/ 33 w 33"/>
                  <a:gd name="T9" fmla="*/ 26 h 45"/>
                  <a:gd name="T10" fmla="*/ 30 w 33"/>
                  <a:gd name="T11" fmla="*/ 9 h 45"/>
                  <a:gd name="T12" fmla="*/ 15 w 33"/>
                  <a:gd name="T13" fmla="*/ 0 h 45"/>
                  <a:gd name="T14" fmla="*/ 1 w 33"/>
                  <a:gd name="T15" fmla="*/ 4 h 45"/>
                  <a:gd name="T16" fmla="*/ 2 w 33"/>
                  <a:gd name="T17" fmla="*/ 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1" y="4"/>
                    </a:moveTo>
                    <a:lnTo>
                      <a:pt x="0" y="37"/>
                    </a:lnTo>
                    <a:lnTo>
                      <a:pt x="11" y="45"/>
                    </a:lnTo>
                    <a:lnTo>
                      <a:pt x="26" y="41"/>
                    </a:lnTo>
                    <a:lnTo>
                      <a:pt x="33" y="26"/>
                    </a:lnTo>
                    <a:lnTo>
                      <a:pt x="30" y="9"/>
                    </a:lnTo>
                    <a:lnTo>
                      <a:pt x="15" y="0"/>
                    </a:lnTo>
                    <a:lnTo>
                      <a:pt x="1" y="4"/>
                    </a:lnTo>
                    <a:lnTo>
                      <a:pt x="2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8" name="Freeform 345"/>
              <p:cNvSpPr>
                <a:spLocks noChangeAspect="1" noChangeArrowheads="1"/>
              </p:cNvSpPr>
              <p:nvPr/>
            </p:nvSpPr>
            <p:spPr bwMode="auto">
              <a:xfrm>
                <a:off x="4747" y="2157"/>
                <a:ext cx="11" cy="14"/>
              </a:xfrm>
              <a:custGeom>
                <a:avLst/>
                <a:gdLst>
                  <a:gd name="T0" fmla="*/ 1 w 33"/>
                  <a:gd name="T1" fmla="*/ 5 h 45"/>
                  <a:gd name="T2" fmla="*/ 0 w 33"/>
                  <a:gd name="T3" fmla="*/ 37 h 45"/>
                  <a:gd name="T4" fmla="*/ 10 w 33"/>
                  <a:gd name="T5" fmla="*/ 45 h 45"/>
                  <a:gd name="T6" fmla="*/ 25 w 33"/>
                  <a:gd name="T7" fmla="*/ 41 h 45"/>
                  <a:gd name="T8" fmla="*/ 33 w 33"/>
                  <a:gd name="T9" fmla="*/ 26 h 45"/>
                  <a:gd name="T10" fmla="*/ 30 w 33"/>
                  <a:gd name="T11" fmla="*/ 9 h 45"/>
                  <a:gd name="T12" fmla="*/ 14 w 33"/>
                  <a:gd name="T13" fmla="*/ 0 h 45"/>
                  <a:gd name="T14" fmla="*/ 1 w 33"/>
                  <a:gd name="T15" fmla="*/ 5 h 45"/>
                  <a:gd name="T16" fmla="*/ 2 w 33"/>
                  <a:gd name="T17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1" y="5"/>
                    </a:moveTo>
                    <a:lnTo>
                      <a:pt x="0" y="37"/>
                    </a:lnTo>
                    <a:lnTo>
                      <a:pt x="10" y="45"/>
                    </a:lnTo>
                    <a:lnTo>
                      <a:pt x="25" y="41"/>
                    </a:lnTo>
                    <a:lnTo>
                      <a:pt x="33" y="26"/>
                    </a:lnTo>
                    <a:lnTo>
                      <a:pt x="30" y="9"/>
                    </a:lnTo>
                    <a:lnTo>
                      <a:pt x="14" y="0"/>
                    </a:lnTo>
                    <a:lnTo>
                      <a:pt x="1" y="5"/>
                    </a:lnTo>
                    <a:lnTo>
                      <a:pt x="2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9" name="Freeform 346"/>
              <p:cNvSpPr>
                <a:spLocks noChangeAspect="1" noChangeArrowheads="1"/>
              </p:cNvSpPr>
              <p:nvPr/>
            </p:nvSpPr>
            <p:spPr bwMode="auto">
              <a:xfrm>
                <a:off x="4745" y="2080"/>
                <a:ext cx="5" cy="6"/>
              </a:xfrm>
              <a:custGeom>
                <a:avLst/>
                <a:gdLst>
                  <a:gd name="T0" fmla="*/ 16 w 17"/>
                  <a:gd name="T1" fmla="*/ 8 h 16"/>
                  <a:gd name="T2" fmla="*/ 14 w 17"/>
                  <a:gd name="T3" fmla="*/ 2 h 16"/>
                  <a:gd name="T4" fmla="*/ 8 w 17"/>
                  <a:gd name="T5" fmla="*/ 0 h 16"/>
                  <a:gd name="T6" fmla="*/ 2 w 17"/>
                  <a:gd name="T7" fmla="*/ 2 h 16"/>
                  <a:gd name="T8" fmla="*/ 0 w 17"/>
                  <a:gd name="T9" fmla="*/ 8 h 16"/>
                  <a:gd name="T10" fmla="*/ 2 w 17"/>
                  <a:gd name="T11" fmla="*/ 13 h 16"/>
                  <a:gd name="T12" fmla="*/ 8 w 17"/>
                  <a:gd name="T13" fmla="*/ 16 h 16"/>
                  <a:gd name="T14" fmla="*/ 14 w 17"/>
                  <a:gd name="T15" fmla="*/ 13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3"/>
                    </a:lnTo>
                    <a:lnTo>
                      <a:pt x="8" y="16"/>
                    </a:lnTo>
                    <a:lnTo>
                      <a:pt x="14" y="13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0" name="Freeform 347"/>
              <p:cNvSpPr>
                <a:spLocks noChangeAspect="1" noChangeArrowheads="1"/>
              </p:cNvSpPr>
              <p:nvPr/>
            </p:nvSpPr>
            <p:spPr bwMode="auto">
              <a:xfrm>
                <a:off x="4745" y="2138"/>
                <a:ext cx="5" cy="5"/>
              </a:xfrm>
              <a:custGeom>
                <a:avLst/>
                <a:gdLst>
                  <a:gd name="T0" fmla="*/ 16 w 17"/>
                  <a:gd name="T1" fmla="*/ 8 h 16"/>
                  <a:gd name="T2" fmla="*/ 14 w 17"/>
                  <a:gd name="T3" fmla="*/ 3 h 16"/>
                  <a:gd name="T4" fmla="*/ 8 w 17"/>
                  <a:gd name="T5" fmla="*/ 0 h 16"/>
                  <a:gd name="T6" fmla="*/ 2 w 17"/>
                  <a:gd name="T7" fmla="*/ 3 h 16"/>
                  <a:gd name="T8" fmla="*/ 0 w 17"/>
                  <a:gd name="T9" fmla="*/ 8 h 16"/>
                  <a:gd name="T10" fmla="*/ 2 w 17"/>
                  <a:gd name="T11" fmla="*/ 14 h 16"/>
                  <a:gd name="T12" fmla="*/ 8 w 17"/>
                  <a:gd name="T13" fmla="*/ 16 h 16"/>
                  <a:gd name="T14" fmla="*/ 14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1" name="Freeform 348"/>
              <p:cNvSpPr>
                <a:spLocks noChangeAspect="1" noChangeArrowheads="1"/>
              </p:cNvSpPr>
              <p:nvPr/>
            </p:nvSpPr>
            <p:spPr bwMode="auto">
              <a:xfrm>
                <a:off x="4750" y="2195"/>
                <a:ext cx="6" cy="3"/>
              </a:xfrm>
              <a:custGeom>
                <a:avLst/>
                <a:gdLst>
                  <a:gd name="T0" fmla="*/ 17 w 18"/>
                  <a:gd name="T1" fmla="*/ 8 h 15"/>
                  <a:gd name="T2" fmla="*/ 15 w 18"/>
                  <a:gd name="T3" fmla="*/ 2 h 15"/>
                  <a:gd name="T4" fmla="*/ 8 w 18"/>
                  <a:gd name="T5" fmla="*/ 0 h 15"/>
                  <a:gd name="T6" fmla="*/ 3 w 18"/>
                  <a:gd name="T7" fmla="*/ 2 h 15"/>
                  <a:gd name="T8" fmla="*/ 0 w 18"/>
                  <a:gd name="T9" fmla="*/ 8 h 15"/>
                  <a:gd name="T10" fmla="*/ 3 w 18"/>
                  <a:gd name="T11" fmla="*/ 13 h 15"/>
                  <a:gd name="T12" fmla="*/ 8 w 18"/>
                  <a:gd name="T13" fmla="*/ 15 h 15"/>
                  <a:gd name="T14" fmla="*/ 15 w 18"/>
                  <a:gd name="T15" fmla="*/ 13 h 15"/>
                  <a:gd name="T16" fmla="*/ 17 w 18"/>
                  <a:gd name="T17" fmla="*/ 8 h 15"/>
                  <a:gd name="T18" fmla="*/ 18 w 18"/>
                  <a:gd name="T1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5">
                    <a:moveTo>
                      <a:pt x="17" y="8"/>
                    </a:moveTo>
                    <a:lnTo>
                      <a:pt x="15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8" y="15"/>
                    </a:lnTo>
                    <a:lnTo>
                      <a:pt x="15" y="13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2" name="Freeform 349"/>
              <p:cNvSpPr>
                <a:spLocks noChangeAspect="1" noChangeArrowheads="1"/>
              </p:cNvSpPr>
              <p:nvPr/>
            </p:nvSpPr>
            <p:spPr bwMode="auto">
              <a:xfrm>
                <a:off x="4750" y="2244"/>
                <a:ext cx="6" cy="6"/>
              </a:xfrm>
              <a:custGeom>
                <a:avLst/>
                <a:gdLst>
                  <a:gd name="T0" fmla="*/ 17 w 18"/>
                  <a:gd name="T1" fmla="*/ 8 h 15"/>
                  <a:gd name="T2" fmla="*/ 15 w 18"/>
                  <a:gd name="T3" fmla="*/ 2 h 15"/>
                  <a:gd name="T4" fmla="*/ 9 w 18"/>
                  <a:gd name="T5" fmla="*/ 0 h 15"/>
                  <a:gd name="T6" fmla="*/ 2 w 18"/>
                  <a:gd name="T7" fmla="*/ 2 h 15"/>
                  <a:gd name="T8" fmla="*/ 0 w 18"/>
                  <a:gd name="T9" fmla="*/ 8 h 15"/>
                  <a:gd name="T10" fmla="*/ 2 w 18"/>
                  <a:gd name="T11" fmla="*/ 13 h 15"/>
                  <a:gd name="T12" fmla="*/ 9 w 18"/>
                  <a:gd name="T13" fmla="*/ 15 h 15"/>
                  <a:gd name="T14" fmla="*/ 15 w 18"/>
                  <a:gd name="T15" fmla="*/ 13 h 15"/>
                  <a:gd name="T16" fmla="*/ 17 w 18"/>
                  <a:gd name="T17" fmla="*/ 8 h 15"/>
                  <a:gd name="T18" fmla="*/ 18 w 18"/>
                  <a:gd name="T1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5">
                    <a:moveTo>
                      <a:pt x="17" y="8"/>
                    </a:moveTo>
                    <a:lnTo>
                      <a:pt x="15" y="2"/>
                    </a:lnTo>
                    <a:lnTo>
                      <a:pt x="9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3"/>
                    </a:lnTo>
                    <a:lnTo>
                      <a:pt x="9" y="15"/>
                    </a:lnTo>
                    <a:lnTo>
                      <a:pt x="15" y="13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3" name="Freeform 350"/>
              <p:cNvSpPr>
                <a:spLocks noChangeAspect="1" noChangeArrowheads="1"/>
              </p:cNvSpPr>
              <p:nvPr/>
            </p:nvSpPr>
            <p:spPr bwMode="auto">
              <a:xfrm>
                <a:off x="4799" y="2187"/>
                <a:ext cx="11" cy="16"/>
              </a:xfrm>
              <a:custGeom>
                <a:avLst/>
                <a:gdLst>
                  <a:gd name="T0" fmla="*/ 1 w 33"/>
                  <a:gd name="T1" fmla="*/ 4 h 45"/>
                  <a:gd name="T2" fmla="*/ 0 w 33"/>
                  <a:gd name="T3" fmla="*/ 37 h 45"/>
                  <a:gd name="T4" fmla="*/ 12 w 33"/>
                  <a:gd name="T5" fmla="*/ 45 h 45"/>
                  <a:gd name="T6" fmla="*/ 26 w 33"/>
                  <a:gd name="T7" fmla="*/ 41 h 45"/>
                  <a:gd name="T8" fmla="*/ 33 w 33"/>
                  <a:gd name="T9" fmla="*/ 25 h 45"/>
                  <a:gd name="T10" fmla="*/ 30 w 33"/>
                  <a:gd name="T11" fmla="*/ 9 h 45"/>
                  <a:gd name="T12" fmla="*/ 16 w 33"/>
                  <a:gd name="T13" fmla="*/ 0 h 45"/>
                  <a:gd name="T14" fmla="*/ 1 w 33"/>
                  <a:gd name="T15" fmla="*/ 4 h 45"/>
                  <a:gd name="T16" fmla="*/ 2 w 33"/>
                  <a:gd name="T17" fmla="*/ 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1" y="4"/>
                    </a:moveTo>
                    <a:lnTo>
                      <a:pt x="0" y="37"/>
                    </a:lnTo>
                    <a:lnTo>
                      <a:pt x="12" y="45"/>
                    </a:lnTo>
                    <a:lnTo>
                      <a:pt x="26" y="41"/>
                    </a:lnTo>
                    <a:lnTo>
                      <a:pt x="33" y="25"/>
                    </a:lnTo>
                    <a:lnTo>
                      <a:pt x="30" y="9"/>
                    </a:lnTo>
                    <a:lnTo>
                      <a:pt x="16" y="0"/>
                    </a:lnTo>
                    <a:lnTo>
                      <a:pt x="1" y="4"/>
                    </a:lnTo>
                    <a:lnTo>
                      <a:pt x="2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4" name="Freeform 351"/>
              <p:cNvSpPr>
                <a:spLocks noChangeAspect="1" noChangeArrowheads="1"/>
              </p:cNvSpPr>
              <p:nvPr/>
            </p:nvSpPr>
            <p:spPr bwMode="auto">
              <a:xfrm>
                <a:off x="4865" y="2239"/>
                <a:ext cx="11" cy="14"/>
              </a:xfrm>
              <a:custGeom>
                <a:avLst/>
                <a:gdLst>
                  <a:gd name="T0" fmla="*/ 1 w 33"/>
                  <a:gd name="T1" fmla="*/ 4 h 45"/>
                  <a:gd name="T2" fmla="*/ 0 w 33"/>
                  <a:gd name="T3" fmla="*/ 37 h 45"/>
                  <a:gd name="T4" fmla="*/ 12 w 33"/>
                  <a:gd name="T5" fmla="*/ 45 h 45"/>
                  <a:gd name="T6" fmla="*/ 26 w 33"/>
                  <a:gd name="T7" fmla="*/ 41 h 45"/>
                  <a:gd name="T8" fmla="*/ 33 w 33"/>
                  <a:gd name="T9" fmla="*/ 25 h 45"/>
                  <a:gd name="T10" fmla="*/ 30 w 33"/>
                  <a:gd name="T11" fmla="*/ 9 h 45"/>
                  <a:gd name="T12" fmla="*/ 15 w 33"/>
                  <a:gd name="T13" fmla="*/ 0 h 45"/>
                  <a:gd name="T14" fmla="*/ 1 w 33"/>
                  <a:gd name="T15" fmla="*/ 4 h 45"/>
                  <a:gd name="T16" fmla="*/ 2 w 33"/>
                  <a:gd name="T17" fmla="*/ 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1" y="4"/>
                    </a:moveTo>
                    <a:lnTo>
                      <a:pt x="0" y="37"/>
                    </a:lnTo>
                    <a:lnTo>
                      <a:pt x="12" y="45"/>
                    </a:lnTo>
                    <a:lnTo>
                      <a:pt x="26" y="41"/>
                    </a:lnTo>
                    <a:lnTo>
                      <a:pt x="33" y="25"/>
                    </a:lnTo>
                    <a:lnTo>
                      <a:pt x="30" y="9"/>
                    </a:lnTo>
                    <a:lnTo>
                      <a:pt x="15" y="0"/>
                    </a:lnTo>
                    <a:lnTo>
                      <a:pt x="1" y="4"/>
                    </a:lnTo>
                    <a:lnTo>
                      <a:pt x="2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5" name="Freeform 352"/>
              <p:cNvSpPr>
                <a:spLocks noChangeAspect="1" noChangeArrowheads="1"/>
              </p:cNvSpPr>
              <p:nvPr/>
            </p:nvSpPr>
            <p:spPr bwMode="auto">
              <a:xfrm>
                <a:off x="4862" y="2075"/>
                <a:ext cx="11" cy="16"/>
              </a:xfrm>
              <a:custGeom>
                <a:avLst/>
                <a:gdLst>
                  <a:gd name="T0" fmla="*/ 1 w 32"/>
                  <a:gd name="T1" fmla="*/ 5 h 46"/>
                  <a:gd name="T2" fmla="*/ 0 w 32"/>
                  <a:gd name="T3" fmla="*/ 38 h 46"/>
                  <a:gd name="T4" fmla="*/ 10 w 32"/>
                  <a:gd name="T5" fmla="*/ 46 h 46"/>
                  <a:gd name="T6" fmla="*/ 25 w 32"/>
                  <a:gd name="T7" fmla="*/ 42 h 46"/>
                  <a:gd name="T8" fmla="*/ 32 w 32"/>
                  <a:gd name="T9" fmla="*/ 26 h 46"/>
                  <a:gd name="T10" fmla="*/ 30 w 32"/>
                  <a:gd name="T11" fmla="*/ 10 h 46"/>
                  <a:gd name="T12" fmla="*/ 14 w 32"/>
                  <a:gd name="T13" fmla="*/ 0 h 46"/>
                  <a:gd name="T14" fmla="*/ 1 w 32"/>
                  <a:gd name="T15" fmla="*/ 5 h 46"/>
                  <a:gd name="T16" fmla="*/ 2 w 32"/>
                  <a:gd name="T17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1" y="5"/>
                    </a:moveTo>
                    <a:lnTo>
                      <a:pt x="0" y="38"/>
                    </a:lnTo>
                    <a:lnTo>
                      <a:pt x="10" y="46"/>
                    </a:lnTo>
                    <a:lnTo>
                      <a:pt x="25" y="42"/>
                    </a:lnTo>
                    <a:lnTo>
                      <a:pt x="32" y="26"/>
                    </a:lnTo>
                    <a:lnTo>
                      <a:pt x="30" y="10"/>
                    </a:lnTo>
                    <a:lnTo>
                      <a:pt x="14" y="0"/>
                    </a:lnTo>
                    <a:lnTo>
                      <a:pt x="1" y="5"/>
                    </a:lnTo>
                    <a:lnTo>
                      <a:pt x="2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6" name="Freeform 353"/>
              <p:cNvSpPr>
                <a:spLocks noChangeAspect="1" noChangeArrowheads="1"/>
              </p:cNvSpPr>
              <p:nvPr/>
            </p:nvSpPr>
            <p:spPr bwMode="auto">
              <a:xfrm>
                <a:off x="4931" y="2078"/>
                <a:ext cx="10" cy="16"/>
              </a:xfrm>
              <a:custGeom>
                <a:avLst/>
                <a:gdLst>
                  <a:gd name="T0" fmla="*/ 1 w 33"/>
                  <a:gd name="T1" fmla="*/ 5 h 45"/>
                  <a:gd name="T2" fmla="*/ 0 w 33"/>
                  <a:gd name="T3" fmla="*/ 37 h 45"/>
                  <a:gd name="T4" fmla="*/ 11 w 33"/>
                  <a:gd name="T5" fmla="*/ 45 h 45"/>
                  <a:gd name="T6" fmla="*/ 26 w 33"/>
                  <a:gd name="T7" fmla="*/ 41 h 45"/>
                  <a:gd name="T8" fmla="*/ 33 w 33"/>
                  <a:gd name="T9" fmla="*/ 26 h 45"/>
                  <a:gd name="T10" fmla="*/ 30 w 33"/>
                  <a:gd name="T11" fmla="*/ 9 h 45"/>
                  <a:gd name="T12" fmla="*/ 15 w 33"/>
                  <a:gd name="T13" fmla="*/ 0 h 45"/>
                  <a:gd name="T14" fmla="*/ 1 w 33"/>
                  <a:gd name="T15" fmla="*/ 5 h 45"/>
                  <a:gd name="T16" fmla="*/ 2 w 33"/>
                  <a:gd name="T17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1" y="5"/>
                    </a:moveTo>
                    <a:lnTo>
                      <a:pt x="0" y="37"/>
                    </a:lnTo>
                    <a:lnTo>
                      <a:pt x="11" y="45"/>
                    </a:lnTo>
                    <a:lnTo>
                      <a:pt x="26" y="41"/>
                    </a:lnTo>
                    <a:lnTo>
                      <a:pt x="33" y="26"/>
                    </a:lnTo>
                    <a:lnTo>
                      <a:pt x="30" y="9"/>
                    </a:lnTo>
                    <a:lnTo>
                      <a:pt x="15" y="0"/>
                    </a:lnTo>
                    <a:lnTo>
                      <a:pt x="1" y="5"/>
                    </a:lnTo>
                    <a:lnTo>
                      <a:pt x="2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7" name="Freeform 354"/>
              <p:cNvSpPr>
                <a:spLocks noChangeAspect="1" noChangeArrowheads="1"/>
              </p:cNvSpPr>
              <p:nvPr/>
            </p:nvSpPr>
            <p:spPr bwMode="auto">
              <a:xfrm>
                <a:off x="4881" y="2154"/>
                <a:ext cx="19" cy="11"/>
              </a:xfrm>
              <a:custGeom>
                <a:avLst/>
                <a:gdLst>
                  <a:gd name="T0" fmla="*/ 0 w 52"/>
                  <a:gd name="T1" fmla="*/ 0 h 30"/>
                  <a:gd name="T2" fmla="*/ 0 w 52"/>
                  <a:gd name="T3" fmla="*/ 18 h 30"/>
                  <a:gd name="T4" fmla="*/ 13 w 52"/>
                  <a:gd name="T5" fmla="*/ 30 h 30"/>
                  <a:gd name="T6" fmla="*/ 50 w 52"/>
                  <a:gd name="T7" fmla="*/ 20 h 30"/>
                  <a:gd name="T8" fmla="*/ 52 w 52"/>
                  <a:gd name="T9" fmla="*/ 13 h 30"/>
                  <a:gd name="T10" fmla="*/ 37 w 52"/>
                  <a:gd name="T11" fmla="*/ 10 h 30"/>
                  <a:gd name="T12" fmla="*/ 16 w 52"/>
                  <a:gd name="T13" fmla="*/ 3 h 30"/>
                  <a:gd name="T14" fmla="*/ 0 w 52"/>
                  <a:gd name="T15" fmla="*/ 0 h 30"/>
                  <a:gd name="T16" fmla="*/ 1 w 52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lnTo>
                      <a:pt x="0" y="18"/>
                    </a:lnTo>
                    <a:lnTo>
                      <a:pt x="13" y="30"/>
                    </a:lnTo>
                    <a:lnTo>
                      <a:pt x="50" y="20"/>
                    </a:lnTo>
                    <a:lnTo>
                      <a:pt x="52" y="13"/>
                    </a:lnTo>
                    <a:lnTo>
                      <a:pt x="37" y="10"/>
                    </a:lnTo>
                    <a:lnTo>
                      <a:pt x="16" y="3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8" name="Freeform 355"/>
              <p:cNvSpPr>
                <a:spLocks noChangeAspect="1" noChangeArrowheads="1"/>
              </p:cNvSpPr>
              <p:nvPr/>
            </p:nvSpPr>
            <p:spPr bwMode="auto">
              <a:xfrm>
                <a:off x="4887" y="2280"/>
                <a:ext cx="3" cy="3"/>
              </a:xfrm>
              <a:custGeom>
                <a:avLst/>
                <a:gdLst>
                  <a:gd name="T0" fmla="*/ 5 w 6"/>
                  <a:gd name="T1" fmla="*/ 3 h 6"/>
                  <a:gd name="T2" fmla="*/ 5 w 6"/>
                  <a:gd name="T3" fmla="*/ 1 h 6"/>
                  <a:gd name="T4" fmla="*/ 3 w 6"/>
                  <a:gd name="T5" fmla="*/ 0 h 6"/>
                  <a:gd name="T6" fmla="*/ 1 w 6"/>
                  <a:gd name="T7" fmla="*/ 1 h 6"/>
                  <a:gd name="T8" fmla="*/ 0 w 6"/>
                  <a:gd name="T9" fmla="*/ 3 h 6"/>
                  <a:gd name="T10" fmla="*/ 1 w 6"/>
                  <a:gd name="T11" fmla="*/ 5 h 6"/>
                  <a:gd name="T12" fmla="*/ 3 w 6"/>
                  <a:gd name="T13" fmla="*/ 6 h 6"/>
                  <a:gd name="T14" fmla="*/ 5 w 6"/>
                  <a:gd name="T15" fmla="*/ 5 h 6"/>
                  <a:gd name="T16" fmla="*/ 5 w 6"/>
                  <a:gd name="T17" fmla="*/ 3 h 6"/>
                  <a:gd name="T18" fmla="*/ 6 w 6"/>
                  <a:gd name="T1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5" y="3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6" y="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9" name="Freeform 356"/>
              <p:cNvSpPr>
                <a:spLocks noChangeAspect="1" noChangeArrowheads="1"/>
              </p:cNvSpPr>
              <p:nvPr/>
            </p:nvSpPr>
            <p:spPr bwMode="auto">
              <a:xfrm>
                <a:off x="4925" y="2275"/>
                <a:ext cx="6" cy="5"/>
              </a:xfrm>
              <a:custGeom>
                <a:avLst/>
                <a:gdLst>
                  <a:gd name="T0" fmla="*/ 16 w 17"/>
                  <a:gd name="T1" fmla="*/ 8 h 16"/>
                  <a:gd name="T2" fmla="*/ 13 w 17"/>
                  <a:gd name="T3" fmla="*/ 2 h 16"/>
                  <a:gd name="T4" fmla="*/ 8 w 17"/>
                  <a:gd name="T5" fmla="*/ 0 h 16"/>
                  <a:gd name="T6" fmla="*/ 2 w 17"/>
                  <a:gd name="T7" fmla="*/ 2 h 16"/>
                  <a:gd name="T8" fmla="*/ 0 w 17"/>
                  <a:gd name="T9" fmla="*/ 8 h 16"/>
                  <a:gd name="T10" fmla="*/ 2 w 17"/>
                  <a:gd name="T11" fmla="*/ 14 h 16"/>
                  <a:gd name="T12" fmla="*/ 8 w 17"/>
                  <a:gd name="T13" fmla="*/ 16 h 16"/>
                  <a:gd name="T14" fmla="*/ 13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3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0" name="Freeform 357"/>
              <p:cNvSpPr>
                <a:spLocks noChangeAspect="1" noChangeArrowheads="1"/>
              </p:cNvSpPr>
              <p:nvPr/>
            </p:nvSpPr>
            <p:spPr bwMode="auto">
              <a:xfrm>
                <a:off x="4931" y="2201"/>
                <a:ext cx="5" cy="5"/>
              </a:xfrm>
              <a:custGeom>
                <a:avLst/>
                <a:gdLst>
                  <a:gd name="T0" fmla="*/ 17 w 18"/>
                  <a:gd name="T1" fmla="*/ 8 h 16"/>
                  <a:gd name="T2" fmla="*/ 14 w 18"/>
                  <a:gd name="T3" fmla="*/ 3 h 16"/>
                  <a:gd name="T4" fmla="*/ 8 w 18"/>
                  <a:gd name="T5" fmla="*/ 0 h 16"/>
                  <a:gd name="T6" fmla="*/ 2 w 18"/>
                  <a:gd name="T7" fmla="*/ 3 h 16"/>
                  <a:gd name="T8" fmla="*/ 0 w 18"/>
                  <a:gd name="T9" fmla="*/ 8 h 16"/>
                  <a:gd name="T10" fmla="*/ 2 w 18"/>
                  <a:gd name="T11" fmla="*/ 14 h 16"/>
                  <a:gd name="T12" fmla="*/ 8 w 18"/>
                  <a:gd name="T13" fmla="*/ 16 h 16"/>
                  <a:gd name="T14" fmla="*/ 14 w 18"/>
                  <a:gd name="T15" fmla="*/ 14 h 16"/>
                  <a:gd name="T16" fmla="*/ 17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7" y="8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1" name="Freeform 358"/>
              <p:cNvSpPr>
                <a:spLocks noChangeAspect="1" noChangeArrowheads="1"/>
              </p:cNvSpPr>
              <p:nvPr/>
            </p:nvSpPr>
            <p:spPr bwMode="auto">
              <a:xfrm>
                <a:off x="4895" y="2233"/>
                <a:ext cx="5" cy="6"/>
              </a:xfrm>
              <a:custGeom>
                <a:avLst/>
                <a:gdLst>
                  <a:gd name="T0" fmla="*/ 17 w 18"/>
                  <a:gd name="T1" fmla="*/ 9 h 17"/>
                  <a:gd name="T2" fmla="*/ 13 w 18"/>
                  <a:gd name="T3" fmla="*/ 2 h 17"/>
                  <a:gd name="T4" fmla="*/ 8 w 18"/>
                  <a:gd name="T5" fmla="*/ 0 h 17"/>
                  <a:gd name="T6" fmla="*/ 2 w 18"/>
                  <a:gd name="T7" fmla="*/ 2 h 17"/>
                  <a:gd name="T8" fmla="*/ 0 w 18"/>
                  <a:gd name="T9" fmla="*/ 9 h 17"/>
                  <a:gd name="T10" fmla="*/ 2 w 18"/>
                  <a:gd name="T11" fmla="*/ 14 h 17"/>
                  <a:gd name="T12" fmla="*/ 8 w 18"/>
                  <a:gd name="T13" fmla="*/ 17 h 17"/>
                  <a:gd name="T14" fmla="*/ 13 w 18"/>
                  <a:gd name="T15" fmla="*/ 14 h 17"/>
                  <a:gd name="T16" fmla="*/ 17 w 18"/>
                  <a:gd name="T17" fmla="*/ 9 h 17"/>
                  <a:gd name="T18" fmla="*/ 18 w 18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17" y="9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9"/>
                    </a:lnTo>
                    <a:lnTo>
                      <a:pt x="2" y="14"/>
                    </a:lnTo>
                    <a:lnTo>
                      <a:pt x="8" y="17"/>
                    </a:lnTo>
                    <a:lnTo>
                      <a:pt x="13" y="14"/>
                    </a:lnTo>
                    <a:lnTo>
                      <a:pt x="17" y="9"/>
                    </a:lnTo>
                    <a:lnTo>
                      <a:pt x="18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2" name="Freeform 359"/>
              <p:cNvSpPr>
                <a:spLocks noChangeAspect="1" noChangeArrowheads="1"/>
              </p:cNvSpPr>
              <p:nvPr/>
            </p:nvSpPr>
            <p:spPr bwMode="auto">
              <a:xfrm>
                <a:off x="4898" y="2184"/>
                <a:ext cx="5" cy="6"/>
              </a:xfrm>
              <a:custGeom>
                <a:avLst/>
                <a:gdLst>
                  <a:gd name="T0" fmla="*/ 16 w 17"/>
                  <a:gd name="T1" fmla="*/ 9 h 17"/>
                  <a:gd name="T2" fmla="*/ 14 w 17"/>
                  <a:gd name="T3" fmla="*/ 3 h 17"/>
                  <a:gd name="T4" fmla="*/ 8 w 17"/>
                  <a:gd name="T5" fmla="*/ 0 h 17"/>
                  <a:gd name="T6" fmla="*/ 2 w 17"/>
                  <a:gd name="T7" fmla="*/ 3 h 17"/>
                  <a:gd name="T8" fmla="*/ 0 w 17"/>
                  <a:gd name="T9" fmla="*/ 9 h 17"/>
                  <a:gd name="T10" fmla="*/ 2 w 17"/>
                  <a:gd name="T11" fmla="*/ 15 h 17"/>
                  <a:gd name="T12" fmla="*/ 8 w 17"/>
                  <a:gd name="T13" fmla="*/ 17 h 17"/>
                  <a:gd name="T14" fmla="*/ 14 w 17"/>
                  <a:gd name="T15" fmla="*/ 15 h 17"/>
                  <a:gd name="T16" fmla="*/ 16 w 17"/>
                  <a:gd name="T17" fmla="*/ 9 h 17"/>
                  <a:gd name="T18" fmla="*/ 17 w 17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9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2" y="3"/>
                    </a:lnTo>
                    <a:lnTo>
                      <a:pt x="0" y="9"/>
                    </a:lnTo>
                    <a:lnTo>
                      <a:pt x="2" y="15"/>
                    </a:lnTo>
                    <a:lnTo>
                      <a:pt x="8" y="17"/>
                    </a:lnTo>
                    <a:lnTo>
                      <a:pt x="14" y="15"/>
                    </a:lnTo>
                    <a:lnTo>
                      <a:pt x="16" y="9"/>
                    </a:lnTo>
                    <a:lnTo>
                      <a:pt x="17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3" name="Freeform 360"/>
              <p:cNvSpPr>
                <a:spLocks noChangeAspect="1" noChangeArrowheads="1"/>
              </p:cNvSpPr>
              <p:nvPr/>
            </p:nvSpPr>
            <p:spPr bwMode="auto">
              <a:xfrm>
                <a:off x="4898" y="2053"/>
                <a:ext cx="5" cy="5"/>
              </a:xfrm>
              <a:custGeom>
                <a:avLst/>
                <a:gdLst>
                  <a:gd name="T0" fmla="*/ 17 w 18"/>
                  <a:gd name="T1" fmla="*/ 8 h 16"/>
                  <a:gd name="T2" fmla="*/ 15 w 18"/>
                  <a:gd name="T3" fmla="*/ 2 h 16"/>
                  <a:gd name="T4" fmla="*/ 9 w 18"/>
                  <a:gd name="T5" fmla="*/ 0 h 16"/>
                  <a:gd name="T6" fmla="*/ 3 w 18"/>
                  <a:gd name="T7" fmla="*/ 2 h 16"/>
                  <a:gd name="T8" fmla="*/ 0 w 18"/>
                  <a:gd name="T9" fmla="*/ 8 h 16"/>
                  <a:gd name="T10" fmla="*/ 3 w 18"/>
                  <a:gd name="T11" fmla="*/ 14 h 16"/>
                  <a:gd name="T12" fmla="*/ 9 w 18"/>
                  <a:gd name="T13" fmla="*/ 16 h 16"/>
                  <a:gd name="T14" fmla="*/ 15 w 18"/>
                  <a:gd name="T15" fmla="*/ 14 h 16"/>
                  <a:gd name="T16" fmla="*/ 17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7" y="8"/>
                    </a:moveTo>
                    <a:lnTo>
                      <a:pt x="15" y="2"/>
                    </a:lnTo>
                    <a:lnTo>
                      <a:pt x="9" y="0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3" y="14"/>
                    </a:lnTo>
                    <a:lnTo>
                      <a:pt x="9" y="16"/>
                    </a:lnTo>
                    <a:lnTo>
                      <a:pt x="15" y="14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4" name="Freeform 361"/>
              <p:cNvSpPr>
                <a:spLocks noChangeAspect="1" noChangeArrowheads="1"/>
              </p:cNvSpPr>
              <p:nvPr/>
            </p:nvSpPr>
            <p:spPr bwMode="auto">
              <a:xfrm>
                <a:off x="4898" y="2086"/>
                <a:ext cx="5" cy="5"/>
              </a:xfrm>
              <a:custGeom>
                <a:avLst/>
                <a:gdLst>
                  <a:gd name="T0" fmla="*/ 16 w 17"/>
                  <a:gd name="T1" fmla="*/ 9 h 17"/>
                  <a:gd name="T2" fmla="*/ 14 w 17"/>
                  <a:gd name="T3" fmla="*/ 3 h 17"/>
                  <a:gd name="T4" fmla="*/ 8 w 17"/>
                  <a:gd name="T5" fmla="*/ 0 h 17"/>
                  <a:gd name="T6" fmla="*/ 2 w 17"/>
                  <a:gd name="T7" fmla="*/ 3 h 17"/>
                  <a:gd name="T8" fmla="*/ 0 w 17"/>
                  <a:gd name="T9" fmla="*/ 9 h 17"/>
                  <a:gd name="T10" fmla="*/ 2 w 17"/>
                  <a:gd name="T11" fmla="*/ 14 h 17"/>
                  <a:gd name="T12" fmla="*/ 8 w 17"/>
                  <a:gd name="T13" fmla="*/ 17 h 17"/>
                  <a:gd name="T14" fmla="*/ 14 w 17"/>
                  <a:gd name="T15" fmla="*/ 14 h 17"/>
                  <a:gd name="T16" fmla="*/ 16 w 17"/>
                  <a:gd name="T17" fmla="*/ 9 h 17"/>
                  <a:gd name="T18" fmla="*/ 17 w 17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9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2" y="3"/>
                    </a:lnTo>
                    <a:lnTo>
                      <a:pt x="0" y="9"/>
                    </a:lnTo>
                    <a:lnTo>
                      <a:pt x="2" y="14"/>
                    </a:lnTo>
                    <a:lnTo>
                      <a:pt x="8" y="17"/>
                    </a:lnTo>
                    <a:lnTo>
                      <a:pt x="14" y="14"/>
                    </a:lnTo>
                    <a:lnTo>
                      <a:pt x="16" y="9"/>
                    </a:lnTo>
                    <a:lnTo>
                      <a:pt x="17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5" name="Freeform 362"/>
              <p:cNvSpPr>
                <a:spLocks noChangeAspect="1" noChangeArrowheads="1"/>
              </p:cNvSpPr>
              <p:nvPr/>
            </p:nvSpPr>
            <p:spPr bwMode="auto">
              <a:xfrm>
                <a:off x="4909" y="2097"/>
                <a:ext cx="5" cy="5"/>
              </a:xfrm>
              <a:custGeom>
                <a:avLst/>
                <a:gdLst>
                  <a:gd name="T0" fmla="*/ 16 w 17"/>
                  <a:gd name="T1" fmla="*/ 8 h 17"/>
                  <a:gd name="T2" fmla="*/ 14 w 17"/>
                  <a:gd name="T3" fmla="*/ 2 h 17"/>
                  <a:gd name="T4" fmla="*/ 8 w 17"/>
                  <a:gd name="T5" fmla="*/ 0 h 17"/>
                  <a:gd name="T6" fmla="*/ 2 w 17"/>
                  <a:gd name="T7" fmla="*/ 2 h 17"/>
                  <a:gd name="T8" fmla="*/ 0 w 17"/>
                  <a:gd name="T9" fmla="*/ 8 h 17"/>
                  <a:gd name="T10" fmla="*/ 2 w 17"/>
                  <a:gd name="T11" fmla="*/ 14 h 17"/>
                  <a:gd name="T12" fmla="*/ 8 w 17"/>
                  <a:gd name="T13" fmla="*/ 17 h 17"/>
                  <a:gd name="T14" fmla="*/ 14 w 17"/>
                  <a:gd name="T15" fmla="*/ 14 h 17"/>
                  <a:gd name="T16" fmla="*/ 16 w 17"/>
                  <a:gd name="T17" fmla="*/ 8 h 17"/>
                  <a:gd name="T18" fmla="*/ 17 w 17"/>
                  <a:gd name="T1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8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7"/>
                    </a:lnTo>
                    <a:lnTo>
                      <a:pt x="14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6" name="Freeform 363"/>
              <p:cNvSpPr>
                <a:spLocks noChangeAspect="1" noChangeArrowheads="1"/>
              </p:cNvSpPr>
              <p:nvPr/>
            </p:nvSpPr>
            <p:spPr bwMode="auto">
              <a:xfrm>
                <a:off x="4950" y="2037"/>
                <a:ext cx="8" cy="5"/>
              </a:xfrm>
              <a:custGeom>
                <a:avLst/>
                <a:gdLst>
                  <a:gd name="T0" fmla="*/ 16 w 17"/>
                  <a:gd name="T1" fmla="*/ 9 h 17"/>
                  <a:gd name="T2" fmla="*/ 14 w 17"/>
                  <a:gd name="T3" fmla="*/ 3 h 17"/>
                  <a:gd name="T4" fmla="*/ 8 w 17"/>
                  <a:gd name="T5" fmla="*/ 0 h 17"/>
                  <a:gd name="T6" fmla="*/ 2 w 17"/>
                  <a:gd name="T7" fmla="*/ 3 h 17"/>
                  <a:gd name="T8" fmla="*/ 0 w 17"/>
                  <a:gd name="T9" fmla="*/ 9 h 17"/>
                  <a:gd name="T10" fmla="*/ 2 w 17"/>
                  <a:gd name="T11" fmla="*/ 15 h 17"/>
                  <a:gd name="T12" fmla="*/ 8 w 17"/>
                  <a:gd name="T13" fmla="*/ 17 h 17"/>
                  <a:gd name="T14" fmla="*/ 14 w 17"/>
                  <a:gd name="T15" fmla="*/ 15 h 17"/>
                  <a:gd name="T16" fmla="*/ 16 w 17"/>
                  <a:gd name="T17" fmla="*/ 9 h 17"/>
                  <a:gd name="T18" fmla="*/ 17 w 17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9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2" y="3"/>
                    </a:lnTo>
                    <a:lnTo>
                      <a:pt x="0" y="9"/>
                    </a:lnTo>
                    <a:lnTo>
                      <a:pt x="2" y="15"/>
                    </a:lnTo>
                    <a:lnTo>
                      <a:pt x="8" y="17"/>
                    </a:lnTo>
                    <a:lnTo>
                      <a:pt x="14" y="15"/>
                    </a:lnTo>
                    <a:lnTo>
                      <a:pt x="16" y="9"/>
                    </a:lnTo>
                    <a:lnTo>
                      <a:pt x="17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7" name="Freeform 364"/>
              <p:cNvSpPr>
                <a:spLocks noChangeAspect="1" noChangeArrowheads="1"/>
              </p:cNvSpPr>
              <p:nvPr/>
            </p:nvSpPr>
            <p:spPr bwMode="auto">
              <a:xfrm>
                <a:off x="4881" y="2058"/>
                <a:ext cx="6" cy="6"/>
              </a:xfrm>
              <a:custGeom>
                <a:avLst/>
                <a:gdLst>
                  <a:gd name="T0" fmla="*/ 17 w 18"/>
                  <a:gd name="T1" fmla="*/ 8 h 16"/>
                  <a:gd name="T2" fmla="*/ 14 w 18"/>
                  <a:gd name="T3" fmla="*/ 2 h 16"/>
                  <a:gd name="T4" fmla="*/ 9 w 18"/>
                  <a:gd name="T5" fmla="*/ 0 h 16"/>
                  <a:gd name="T6" fmla="*/ 2 w 18"/>
                  <a:gd name="T7" fmla="*/ 2 h 16"/>
                  <a:gd name="T8" fmla="*/ 0 w 18"/>
                  <a:gd name="T9" fmla="*/ 8 h 16"/>
                  <a:gd name="T10" fmla="*/ 2 w 18"/>
                  <a:gd name="T11" fmla="*/ 13 h 16"/>
                  <a:gd name="T12" fmla="*/ 9 w 18"/>
                  <a:gd name="T13" fmla="*/ 16 h 16"/>
                  <a:gd name="T14" fmla="*/ 14 w 18"/>
                  <a:gd name="T15" fmla="*/ 13 h 16"/>
                  <a:gd name="T16" fmla="*/ 17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7" y="8"/>
                    </a:moveTo>
                    <a:lnTo>
                      <a:pt x="14" y="2"/>
                    </a:lnTo>
                    <a:lnTo>
                      <a:pt x="9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3"/>
                    </a:lnTo>
                    <a:lnTo>
                      <a:pt x="9" y="16"/>
                    </a:lnTo>
                    <a:lnTo>
                      <a:pt x="14" y="13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8" name="Freeform 365"/>
              <p:cNvSpPr>
                <a:spLocks noChangeAspect="1" noChangeArrowheads="1"/>
              </p:cNvSpPr>
              <p:nvPr/>
            </p:nvSpPr>
            <p:spPr bwMode="auto">
              <a:xfrm>
                <a:off x="4818" y="2058"/>
                <a:ext cx="6" cy="6"/>
              </a:xfrm>
              <a:custGeom>
                <a:avLst/>
                <a:gdLst>
                  <a:gd name="T0" fmla="*/ 17 w 18"/>
                  <a:gd name="T1" fmla="*/ 8 h 16"/>
                  <a:gd name="T2" fmla="*/ 14 w 18"/>
                  <a:gd name="T3" fmla="*/ 2 h 16"/>
                  <a:gd name="T4" fmla="*/ 9 w 18"/>
                  <a:gd name="T5" fmla="*/ 0 h 16"/>
                  <a:gd name="T6" fmla="*/ 2 w 18"/>
                  <a:gd name="T7" fmla="*/ 2 h 16"/>
                  <a:gd name="T8" fmla="*/ 0 w 18"/>
                  <a:gd name="T9" fmla="*/ 8 h 16"/>
                  <a:gd name="T10" fmla="*/ 2 w 18"/>
                  <a:gd name="T11" fmla="*/ 13 h 16"/>
                  <a:gd name="T12" fmla="*/ 9 w 18"/>
                  <a:gd name="T13" fmla="*/ 16 h 16"/>
                  <a:gd name="T14" fmla="*/ 14 w 18"/>
                  <a:gd name="T15" fmla="*/ 13 h 16"/>
                  <a:gd name="T16" fmla="*/ 17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7" y="8"/>
                    </a:moveTo>
                    <a:lnTo>
                      <a:pt x="14" y="2"/>
                    </a:lnTo>
                    <a:lnTo>
                      <a:pt x="9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3"/>
                    </a:lnTo>
                    <a:lnTo>
                      <a:pt x="9" y="16"/>
                    </a:lnTo>
                    <a:lnTo>
                      <a:pt x="14" y="13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9" name="Freeform 366"/>
              <p:cNvSpPr>
                <a:spLocks noChangeAspect="1" noChangeArrowheads="1"/>
              </p:cNvSpPr>
              <p:nvPr/>
            </p:nvSpPr>
            <p:spPr bwMode="auto">
              <a:xfrm>
                <a:off x="4808" y="2105"/>
                <a:ext cx="8" cy="5"/>
              </a:xfrm>
              <a:custGeom>
                <a:avLst/>
                <a:gdLst>
                  <a:gd name="T0" fmla="*/ 16 w 17"/>
                  <a:gd name="T1" fmla="*/ 8 h 16"/>
                  <a:gd name="T2" fmla="*/ 13 w 17"/>
                  <a:gd name="T3" fmla="*/ 2 h 16"/>
                  <a:gd name="T4" fmla="*/ 8 w 17"/>
                  <a:gd name="T5" fmla="*/ 0 h 16"/>
                  <a:gd name="T6" fmla="*/ 2 w 17"/>
                  <a:gd name="T7" fmla="*/ 2 h 16"/>
                  <a:gd name="T8" fmla="*/ 0 w 17"/>
                  <a:gd name="T9" fmla="*/ 8 h 16"/>
                  <a:gd name="T10" fmla="*/ 2 w 17"/>
                  <a:gd name="T11" fmla="*/ 14 h 16"/>
                  <a:gd name="T12" fmla="*/ 8 w 17"/>
                  <a:gd name="T13" fmla="*/ 16 h 16"/>
                  <a:gd name="T14" fmla="*/ 13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3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0" name="Freeform 367"/>
              <p:cNvSpPr>
                <a:spLocks noChangeAspect="1" noChangeArrowheads="1"/>
              </p:cNvSpPr>
              <p:nvPr/>
            </p:nvSpPr>
            <p:spPr bwMode="auto">
              <a:xfrm>
                <a:off x="4799" y="2102"/>
                <a:ext cx="6" cy="6"/>
              </a:xfrm>
              <a:custGeom>
                <a:avLst/>
                <a:gdLst>
                  <a:gd name="T0" fmla="*/ 17 w 18"/>
                  <a:gd name="T1" fmla="*/ 9 h 17"/>
                  <a:gd name="T2" fmla="*/ 15 w 18"/>
                  <a:gd name="T3" fmla="*/ 4 h 17"/>
                  <a:gd name="T4" fmla="*/ 8 w 18"/>
                  <a:gd name="T5" fmla="*/ 0 h 17"/>
                  <a:gd name="T6" fmla="*/ 3 w 18"/>
                  <a:gd name="T7" fmla="*/ 4 h 17"/>
                  <a:gd name="T8" fmla="*/ 0 w 18"/>
                  <a:gd name="T9" fmla="*/ 9 h 17"/>
                  <a:gd name="T10" fmla="*/ 3 w 18"/>
                  <a:gd name="T11" fmla="*/ 15 h 17"/>
                  <a:gd name="T12" fmla="*/ 8 w 18"/>
                  <a:gd name="T13" fmla="*/ 17 h 17"/>
                  <a:gd name="T14" fmla="*/ 15 w 18"/>
                  <a:gd name="T15" fmla="*/ 15 h 17"/>
                  <a:gd name="T16" fmla="*/ 17 w 18"/>
                  <a:gd name="T17" fmla="*/ 9 h 17"/>
                  <a:gd name="T18" fmla="*/ 18 w 18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17" y="9"/>
                    </a:moveTo>
                    <a:lnTo>
                      <a:pt x="15" y="4"/>
                    </a:lnTo>
                    <a:lnTo>
                      <a:pt x="8" y="0"/>
                    </a:lnTo>
                    <a:lnTo>
                      <a:pt x="3" y="4"/>
                    </a:lnTo>
                    <a:lnTo>
                      <a:pt x="0" y="9"/>
                    </a:lnTo>
                    <a:lnTo>
                      <a:pt x="3" y="15"/>
                    </a:lnTo>
                    <a:lnTo>
                      <a:pt x="8" y="17"/>
                    </a:lnTo>
                    <a:lnTo>
                      <a:pt x="15" y="15"/>
                    </a:lnTo>
                    <a:lnTo>
                      <a:pt x="17" y="9"/>
                    </a:lnTo>
                    <a:lnTo>
                      <a:pt x="18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1" name="Freeform 368"/>
              <p:cNvSpPr>
                <a:spLocks noChangeAspect="1" noChangeArrowheads="1"/>
              </p:cNvSpPr>
              <p:nvPr/>
            </p:nvSpPr>
            <p:spPr bwMode="auto">
              <a:xfrm>
                <a:off x="4799" y="2050"/>
                <a:ext cx="9" cy="6"/>
              </a:xfrm>
              <a:custGeom>
                <a:avLst/>
                <a:gdLst>
                  <a:gd name="T0" fmla="*/ 17 w 18"/>
                  <a:gd name="T1" fmla="*/ 9 h 16"/>
                  <a:gd name="T2" fmla="*/ 15 w 18"/>
                  <a:gd name="T3" fmla="*/ 2 h 16"/>
                  <a:gd name="T4" fmla="*/ 9 w 18"/>
                  <a:gd name="T5" fmla="*/ 0 h 16"/>
                  <a:gd name="T6" fmla="*/ 2 w 18"/>
                  <a:gd name="T7" fmla="*/ 2 h 16"/>
                  <a:gd name="T8" fmla="*/ 0 w 18"/>
                  <a:gd name="T9" fmla="*/ 9 h 16"/>
                  <a:gd name="T10" fmla="*/ 2 w 18"/>
                  <a:gd name="T11" fmla="*/ 14 h 16"/>
                  <a:gd name="T12" fmla="*/ 9 w 18"/>
                  <a:gd name="T13" fmla="*/ 16 h 16"/>
                  <a:gd name="T14" fmla="*/ 15 w 18"/>
                  <a:gd name="T15" fmla="*/ 14 h 16"/>
                  <a:gd name="T16" fmla="*/ 17 w 18"/>
                  <a:gd name="T17" fmla="*/ 9 h 16"/>
                  <a:gd name="T18" fmla="*/ 18 w 18"/>
                  <a:gd name="T19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7" y="9"/>
                    </a:moveTo>
                    <a:lnTo>
                      <a:pt x="15" y="2"/>
                    </a:lnTo>
                    <a:lnTo>
                      <a:pt x="9" y="0"/>
                    </a:lnTo>
                    <a:lnTo>
                      <a:pt x="2" y="2"/>
                    </a:lnTo>
                    <a:lnTo>
                      <a:pt x="0" y="9"/>
                    </a:lnTo>
                    <a:lnTo>
                      <a:pt x="2" y="14"/>
                    </a:lnTo>
                    <a:lnTo>
                      <a:pt x="9" y="16"/>
                    </a:lnTo>
                    <a:lnTo>
                      <a:pt x="15" y="14"/>
                    </a:lnTo>
                    <a:lnTo>
                      <a:pt x="17" y="9"/>
                    </a:lnTo>
                    <a:lnTo>
                      <a:pt x="18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2" name="Freeform 369"/>
              <p:cNvSpPr>
                <a:spLocks noChangeAspect="1" noChangeArrowheads="1"/>
              </p:cNvSpPr>
              <p:nvPr/>
            </p:nvSpPr>
            <p:spPr bwMode="auto">
              <a:xfrm>
                <a:off x="4832" y="2091"/>
                <a:ext cx="8" cy="8"/>
              </a:xfrm>
              <a:custGeom>
                <a:avLst/>
                <a:gdLst>
                  <a:gd name="T0" fmla="*/ 17 w 18"/>
                  <a:gd name="T1" fmla="*/ 8 h 16"/>
                  <a:gd name="T2" fmla="*/ 15 w 18"/>
                  <a:gd name="T3" fmla="*/ 2 h 16"/>
                  <a:gd name="T4" fmla="*/ 9 w 18"/>
                  <a:gd name="T5" fmla="*/ 0 h 16"/>
                  <a:gd name="T6" fmla="*/ 3 w 18"/>
                  <a:gd name="T7" fmla="*/ 2 h 16"/>
                  <a:gd name="T8" fmla="*/ 0 w 18"/>
                  <a:gd name="T9" fmla="*/ 8 h 16"/>
                  <a:gd name="T10" fmla="*/ 3 w 18"/>
                  <a:gd name="T11" fmla="*/ 13 h 16"/>
                  <a:gd name="T12" fmla="*/ 9 w 18"/>
                  <a:gd name="T13" fmla="*/ 16 h 16"/>
                  <a:gd name="T14" fmla="*/ 15 w 18"/>
                  <a:gd name="T15" fmla="*/ 13 h 16"/>
                  <a:gd name="T16" fmla="*/ 17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7" y="8"/>
                    </a:moveTo>
                    <a:lnTo>
                      <a:pt x="15" y="2"/>
                    </a:lnTo>
                    <a:lnTo>
                      <a:pt x="9" y="0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9" y="16"/>
                    </a:lnTo>
                    <a:lnTo>
                      <a:pt x="15" y="13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3" name="Freeform 370"/>
              <p:cNvSpPr>
                <a:spLocks noChangeAspect="1" noChangeArrowheads="1"/>
              </p:cNvSpPr>
              <p:nvPr/>
            </p:nvSpPr>
            <p:spPr bwMode="auto">
              <a:xfrm>
                <a:off x="4767" y="2083"/>
                <a:ext cx="5" cy="6"/>
              </a:xfrm>
              <a:custGeom>
                <a:avLst/>
                <a:gdLst>
                  <a:gd name="T0" fmla="*/ 17 w 18"/>
                  <a:gd name="T1" fmla="*/ 9 h 17"/>
                  <a:gd name="T2" fmla="*/ 14 w 18"/>
                  <a:gd name="T3" fmla="*/ 2 h 17"/>
                  <a:gd name="T4" fmla="*/ 9 w 18"/>
                  <a:gd name="T5" fmla="*/ 0 h 17"/>
                  <a:gd name="T6" fmla="*/ 2 w 18"/>
                  <a:gd name="T7" fmla="*/ 2 h 17"/>
                  <a:gd name="T8" fmla="*/ 0 w 18"/>
                  <a:gd name="T9" fmla="*/ 9 h 17"/>
                  <a:gd name="T10" fmla="*/ 2 w 18"/>
                  <a:gd name="T11" fmla="*/ 15 h 17"/>
                  <a:gd name="T12" fmla="*/ 9 w 18"/>
                  <a:gd name="T13" fmla="*/ 17 h 17"/>
                  <a:gd name="T14" fmla="*/ 14 w 18"/>
                  <a:gd name="T15" fmla="*/ 15 h 17"/>
                  <a:gd name="T16" fmla="*/ 17 w 18"/>
                  <a:gd name="T17" fmla="*/ 9 h 17"/>
                  <a:gd name="T18" fmla="*/ 18 w 18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17" y="9"/>
                    </a:moveTo>
                    <a:lnTo>
                      <a:pt x="14" y="2"/>
                    </a:lnTo>
                    <a:lnTo>
                      <a:pt x="9" y="0"/>
                    </a:lnTo>
                    <a:lnTo>
                      <a:pt x="2" y="2"/>
                    </a:lnTo>
                    <a:lnTo>
                      <a:pt x="0" y="9"/>
                    </a:lnTo>
                    <a:lnTo>
                      <a:pt x="2" y="15"/>
                    </a:lnTo>
                    <a:lnTo>
                      <a:pt x="9" y="17"/>
                    </a:lnTo>
                    <a:lnTo>
                      <a:pt x="14" y="15"/>
                    </a:lnTo>
                    <a:lnTo>
                      <a:pt x="17" y="9"/>
                    </a:lnTo>
                    <a:lnTo>
                      <a:pt x="18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4" name="Freeform 371"/>
              <p:cNvSpPr>
                <a:spLocks noChangeAspect="1" noChangeArrowheads="1"/>
              </p:cNvSpPr>
              <p:nvPr/>
            </p:nvSpPr>
            <p:spPr bwMode="auto">
              <a:xfrm>
                <a:off x="4791" y="2138"/>
                <a:ext cx="8" cy="5"/>
              </a:xfrm>
              <a:custGeom>
                <a:avLst/>
                <a:gdLst>
                  <a:gd name="T0" fmla="*/ 16 w 17"/>
                  <a:gd name="T1" fmla="*/ 8 h 16"/>
                  <a:gd name="T2" fmla="*/ 14 w 17"/>
                  <a:gd name="T3" fmla="*/ 3 h 16"/>
                  <a:gd name="T4" fmla="*/ 8 w 17"/>
                  <a:gd name="T5" fmla="*/ 0 h 16"/>
                  <a:gd name="T6" fmla="*/ 3 w 17"/>
                  <a:gd name="T7" fmla="*/ 3 h 16"/>
                  <a:gd name="T8" fmla="*/ 0 w 17"/>
                  <a:gd name="T9" fmla="*/ 8 h 16"/>
                  <a:gd name="T10" fmla="*/ 3 w 17"/>
                  <a:gd name="T11" fmla="*/ 14 h 16"/>
                  <a:gd name="T12" fmla="*/ 8 w 17"/>
                  <a:gd name="T13" fmla="*/ 16 h 16"/>
                  <a:gd name="T14" fmla="*/ 14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3" y="14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5" name="Freeform 372"/>
              <p:cNvSpPr>
                <a:spLocks noChangeAspect="1" noChangeArrowheads="1"/>
              </p:cNvSpPr>
              <p:nvPr/>
            </p:nvSpPr>
            <p:spPr bwMode="auto">
              <a:xfrm>
                <a:off x="4780" y="2179"/>
                <a:ext cx="6" cy="5"/>
              </a:xfrm>
              <a:custGeom>
                <a:avLst/>
                <a:gdLst>
                  <a:gd name="T0" fmla="*/ 17 w 18"/>
                  <a:gd name="T1" fmla="*/ 8 h 17"/>
                  <a:gd name="T2" fmla="*/ 13 w 18"/>
                  <a:gd name="T3" fmla="*/ 2 h 17"/>
                  <a:gd name="T4" fmla="*/ 8 w 18"/>
                  <a:gd name="T5" fmla="*/ 0 h 17"/>
                  <a:gd name="T6" fmla="*/ 2 w 18"/>
                  <a:gd name="T7" fmla="*/ 2 h 17"/>
                  <a:gd name="T8" fmla="*/ 0 w 18"/>
                  <a:gd name="T9" fmla="*/ 8 h 17"/>
                  <a:gd name="T10" fmla="*/ 2 w 18"/>
                  <a:gd name="T11" fmla="*/ 13 h 17"/>
                  <a:gd name="T12" fmla="*/ 8 w 18"/>
                  <a:gd name="T13" fmla="*/ 17 h 17"/>
                  <a:gd name="T14" fmla="*/ 13 w 18"/>
                  <a:gd name="T15" fmla="*/ 13 h 17"/>
                  <a:gd name="T16" fmla="*/ 17 w 18"/>
                  <a:gd name="T17" fmla="*/ 8 h 17"/>
                  <a:gd name="T18" fmla="*/ 18 w 18"/>
                  <a:gd name="T1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17" y="8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3"/>
                    </a:lnTo>
                    <a:lnTo>
                      <a:pt x="8" y="17"/>
                    </a:lnTo>
                    <a:lnTo>
                      <a:pt x="13" y="13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6" name="Freeform 373"/>
              <p:cNvSpPr>
                <a:spLocks noChangeAspect="1" noChangeArrowheads="1"/>
              </p:cNvSpPr>
              <p:nvPr/>
            </p:nvSpPr>
            <p:spPr bwMode="auto">
              <a:xfrm>
                <a:off x="4818" y="2154"/>
                <a:ext cx="6" cy="6"/>
              </a:xfrm>
              <a:custGeom>
                <a:avLst/>
                <a:gdLst>
                  <a:gd name="T0" fmla="*/ 15 w 16"/>
                  <a:gd name="T1" fmla="*/ 8 h 16"/>
                  <a:gd name="T2" fmla="*/ 13 w 16"/>
                  <a:gd name="T3" fmla="*/ 2 h 16"/>
                  <a:gd name="T4" fmla="*/ 7 w 16"/>
                  <a:gd name="T5" fmla="*/ 0 h 16"/>
                  <a:gd name="T6" fmla="*/ 2 w 16"/>
                  <a:gd name="T7" fmla="*/ 2 h 16"/>
                  <a:gd name="T8" fmla="*/ 0 w 16"/>
                  <a:gd name="T9" fmla="*/ 8 h 16"/>
                  <a:gd name="T10" fmla="*/ 2 w 16"/>
                  <a:gd name="T11" fmla="*/ 14 h 16"/>
                  <a:gd name="T12" fmla="*/ 7 w 16"/>
                  <a:gd name="T13" fmla="*/ 16 h 16"/>
                  <a:gd name="T14" fmla="*/ 13 w 16"/>
                  <a:gd name="T15" fmla="*/ 14 h 16"/>
                  <a:gd name="T16" fmla="*/ 15 w 16"/>
                  <a:gd name="T17" fmla="*/ 8 h 16"/>
                  <a:gd name="T18" fmla="*/ 16 w 16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15" y="8"/>
                    </a:moveTo>
                    <a:lnTo>
                      <a:pt x="13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7" y="16"/>
                    </a:lnTo>
                    <a:lnTo>
                      <a:pt x="13" y="14"/>
                    </a:lnTo>
                    <a:lnTo>
                      <a:pt x="15" y="8"/>
                    </a:lnTo>
                    <a:lnTo>
                      <a:pt x="16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7" name="Freeform 374"/>
              <p:cNvSpPr>
                <a:spLocks noChangeAspect="1" noChangeArrowheads="1"/>
              </p:cNvSpPr>
              <p:nvPr/>
            </p:nvSpPr>
            <p:spPr bwMode="auto">
              <a:xfrm>
                <a:off x="4849" y="2151"/>
                <a:ext cx="5" cy="6"/>
              </a:xfrm>
              <a:custGeom>
                <a:avLst/>
                <a:gdLst>
                  <a:gd name="T0" fmla="*/ 16 w 17"/>
                  <a:gd name="T1" fmla="*/ 8 h 16"/>
                  <a:gd name="T2" fmla="*/ 14 w 17"/>
                  <a:gd name="T3" fmla="*/ 3 h 16"/>
                  <a:gd name="T4" fmla="*/ 8 w 17"/>
                  <a:gd name="T5" fmla="*/ 0 h 16"/>
                  <a:gd name="T6" fmla="*/ 2 w 17"/>
                  <a:gd name="T7" fmla="*/ 3 h 16"/>
                  <a:gd name="T8" fmla="*/ 0 w 17"/>
                  <a:gd name="T9" fmla="*/ 8 h 16"/>
                  <a:gd name="T10" fmla="*/ 2 w 17"/>
                  <a:gd name="T11" fmla="*/ 14 h 16"/>
                  <a:gd name="T12" fmla="*/ 8 w 17"/>
                  <a:gd name="T13" fmla="*/ 16 h 16"/>
                  <a:gd name="T14" fmla="*/ 14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8" name="Freeform 375"/>
              <p:cNvSpPr>
                <a:spLocks noChangeAspect="1" noChangeArrowheads="1"/>
              </p:cNvSpPr>
              <p:nvPr/>
            </p:nvSpPr>
            <p:spPr bwMode="auto">
              <a:xfrm>
                <a:off x="4881" y="2116"/>
                <a:ext cx="6" cy="5"/>
              </a:xfrm>
              <a:custGeom>
                <a:avLst/>
                <a:gdLst>
                  <a:gd name="T0" fmla="*/ 17 w 18"/>
                  <a:gd name="T1" fmla="*/ 9 h 17"/>
                  <a:gd name="T2" fmla="*/ 14 w 18"/>
                  <a:gd name="T3" fmla="*/ 3 h 17"/>
                  <a:gd name="T4" fmla="*/ 9 w 18"/>
                  <a:gd name="T5" fmla="*/ 0 h 17"/>
                  <a:gd name="T6" fmla="*/ 2 w 18"/>
                  <a:gd name="T7" fmla="*/ 3 h 17"/>
                  <a:gd name="T8" fmla="*/ 0 w 18"/>
                  <a:gd name="T9" fmla="*/ 9 h 17"/>
                  <a:gd name="T10" fmla="*/ 2 w 18"/>
                  <a:gd name="T11" fmla="*/ 15 h 17"/>
                  <a:gd name="T12" fmla="*/ 9 w 18"/>
                  <a:gd name="T13" fmla="*/ 17 h 17"/>
                  <a:gd name="T14" fmla="*/ 14 w 18"/>
                  <a:gd name="T15" fmla="*/ 15 h 17"/>
                  <a:gd name="T16" fmla="*/ 17 w 18"/>
                  <a:gd name="T17" fmla="*/ 9 h 17"/>
                  <a:gd name="T18" fmla="*/ 18 w 18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17" y="9"/>
                    </a:moveTo>
                    <a:lnTo>
                      <a:pt x="14" y="3"/>
                    </a:lnTo>
                    <a:lnTo>
                      <a:pt x="9" y="0"/>
                    </a:lnTo>
                    <a:lnTo>
                      <a:pt x="2" y="3"/>
                    </a:lnTo>
                    <a:lnTo>
                      <a:pt x="0" y="9"/>
                    </a:lnTo>
                    <a:lnTo>
                      <a:pt x="2" y="15"/>
                    </a:lnTo>
                    <a:lnTo>
                      <a:pt x="9" y="17"/>
                    </a:lnTo>
                    <a:lnTo>
                      <a:pt x="14" y="15"/>
                    </a:lnTo>
                    <a:lnTo>
                      <a:pt x="17" y="9"/>
                    </a:lnTo>
                    <a:lnTo>
                      <a:pt x="18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9" name="Freeform 376"/>
              <p:cNvSpPr>
                <a:spLocks noChangeAspect="1" noChangeArrowheads="1"/>
              </p:cNvSpPr>
              <p:nvPr/>
            </p:nvSpPr>
            <p:spPr bwMode="auto">
              <a:xfrm>
                <a:off x="4890" y="2195"/>
                <a:ext cx="5" cy="6"/>
              </a:xfrm>
              <a:custGeom>
                <a:avLst/>
                <a:gdLst>
                  <a:gd name="T0" fmla="*/ 15 w 16"/>
                  <a:gd name="T1" fmla="*/ 8 h 17"/>
                  <a:gd name="T2" fmla="*/ 13 w 16"/>
                  <a:gd name="T3" fmla="*/ 3 h 17"/>
                  <a:gd name="T4" fmla="*/ 7 w 16"/>
                  <a:gd name="T5" fmla="*/ 0 h 17"/>
                  <a:gd name="T6" fmla="*/ 2 w 16"/>
                  <a:gd name="T7" fmla="*/ 3 h 17"/>
                  <a:gd name="T8" fmla="*/ 0 w 16"/>
                  <a:gd name="T9" fmla="*/ 8 h 17"/>
                  <a:gd name="T10" fmla="*/ 2 w 16"/>
                  <a:gd name="T11" fmla="*/ 14 h 17"/>
                  <a:gd name="T12" fmla="*/ 7 w 16"/>
                  <a:gd name="T13" fmla="*/ 17 h 17"/>
                  <a:gd name="T14" fmla="*/ 13 w 16"/>
                  <a:gd name="T15" fmla="*/ 14 h 17"/>
                  <a:gd name="T16" fmla="*/ 15 w 16"/>
                  <a:gd name="T17" fmla="*/ 8 h 17"/>
                  <a:gd name="T18" fmla="*/ 16 w 16"/>
                  <a:gd name="T1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7">
                    <a:moveTo>
                      <a:pt x="15" y="8"/>
                    </a:moveTo>
                    <a:lnTo>
                      <a:pt x="13" y="3"/>
                    </a:lnTo>
                    <a:lnTo>
                      <a:pt x="7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7" y="17"/>
                    </a:lnTo>
                    <a:lnTo>
                      <a:pt x="13" y="14"/>
                    </a:lnTo>
                    <a:lnTo>
                      <a:pt x="15" y="8"/>
                    </a:lnTo>
                    <a:lnTo>
                      <a:pt x="16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0" name="Freeform 377"/>
              <p:cNvSpPr>
                <a:spLocks noChangeAspect="1" noChangeArrowheads="1"/>
              </p:cNvSpPr>
              <p:nvPr/>
            </p:nvSpPr>
            <p:spPr bwMode="auto">
              <a:xfrm>
                <a:off x="4829" y="2214"/>
                <a:ext cx="3" cy="3"/>
              </a:xfrm>
              <a:custGeom>
                <a:avLst/>
                <a:gdLst>
                  <a:gd name="T0" fmla="*/ 5 w 6"/>
                  <a:gd name="T1" fmla="*/ 3 h 7"/>
                  <a:gd name="T2" fmla="*/ 4 w 6"/>
                  <a:gd name="T3" fmla="*/ 1 h 7"/>
                  <a:gd name="T4" fmla="*/ 3 w 6"/>
                  <a:gd name="T5" fmla="*/ 0 h 7"/>
                  <a:gd name="T6" fmla="*/ 1 w 6"/>
                  <a:gd name="T7" fmla="*/ 1 h 7"/>
                  <a:gd name="T8" fmla="*/ 0 w 6"/>
                  <a:gd name="T9" fmla="*/ 3 h 7"/>
                  <a:gd name="T10" fmla="*/ 1 w 6"/>
                  <a:gd name="T11" fmla="*/ 6 h 7"/>
                  <a:gd name="T12" fmla="*/ 3 w 6"/>
                  <a:gd name="T13" fmla="*/ 7 h 7"/>
                  <a:gd name="T14" fmla="*/ 4 w 6"/>
                  <a:gd name="T15" fmla="*/ 6 h 7"/>
                  <a:gd name="T16" fmla="*/ 5 w 6"/>
                  <a:gd name="T17" fmla="*/ 3 h 7"/>
                  <a:gd name="T18" fmla="*/ 6 w 6"/>
                  <a:gd name="T1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lnTo>
                      <a:pt x="4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5" y="3"/>
                    </a:lnTo>
                    <a:lnTo>
                      <a:pt x="6" y="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1" name="Freeform 378"/>
              <p:cNvSpPr>
                <a:spLocks noChangeAspect="1" noChangeArrowheads="1"/>
              </p:cNvSpPr>
              <p:nvPr/>
            </p:nvSpPr>
            <p:spPr bwMode="auto">
              <a:xfrm>
                <a:off x="4818" y="2244"/>
                <a:ext cx="6" cy="6"/>
              </a:xfrm>
              <a:custGeom>
                <a:avLst/>
                <a:gdLst>
                  <a:gd name="T0" fmla="*/ 17 w 18"/>
                  <a:gd name="T1" fmla="*/ 8 h 17"/>
                  <a:gd name="T2" fmla="*/ 14 w 18"/>
                  <a:gd name="T3" fmla="*/ 3 h 17"/>
                  <a:gd name="T4" fmla="*/ 9 w 18"/>
                  <a:gd name="T5" fmla="*/ 0 h 17"/>
                  <a:gd name="T6" fmla="*/ 2 w 18"/>
                  <a:gd name="T7" fmla="*/ 3 h 17"/>
                  <a:gd name="T8" fmla="*/ 0 w 18"/>
                  <a:gd name="T9" fmla="*/ 8 h 17"/>
                  <a:gd name="T10" fmla="*/ 2 w 18"/>
                  <a:gd name="T11" fmla="*/ 15 h 17"/>
                  <a:gd name="T12" fmla="*/ 9 w 18"/>
                  <a:gd name="T13" fmla="*/ 17 h 17"/>
                  <a:gd name="T14" fmla="*/ 14 w 18"/>
                  <a:gd name="T15" fmla="*/ 15 h 17"/>
                  <a:gd name="T16" fmla="*/ 17 w 18"/>
                  <a:gd name="T17" fmla="*/ 8 h 17"/>
                  <a:gd name="T18" fmla="*/ 18 w 18"/>
                  <a:gd name="T1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17" y="8"/>
                    </a:moveTo>
                    <a:lnTo>
                      <a:pt x="14" y="3"/>
                    </a:lnTo>
                    <a:lnTo>
                      <a:pt x="9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2" y="15"/>
                    </a:lnTo>
                    <a:lnTo>
                      <a:pt x="9" y="17"/>
                    </a:lnTo>
                    <a:lnTo>
                      <a:pt x="14" y="15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2" name="Freeform 379"/>
              <p:cNvSpPr>
                <a:spLocks noChangeAspect="1" noChangeArrowheads="1"/>
              </p:cNvSpPr>
              <p:nvPr/>
            </p:nvSpPr>
            <p:spPr bwMode="auto">
              <a:xfrm>
                <a:off x="4797" y="2275"/>
                <a:ext cx="5" cy="5"/>
              </a:xfrm>
              <a:custGeom>
                <a:avLst/>
                <a:gdLst>
                  <a:gd name="T0" fmla="*/ 16 w 17"/>
                  <a:gd name="T1" fmla="*/ 8 h 16"/>
                  <a:gd name="T2" fmla="*/ 13 w 17"/>
                  <a:gd name="T3" fmla="*/ 2 h 16"/>
                  <a:gd name="T4" fmla="*/ 8 w 17"/>
                  <a:gd name="T5" fmla="*/ 0 h 16"/>
                  <a:gd name="T6" fmla="*/ 2 w 17"/>
                  <a:gd name="T7" fmla="*/ 2 h 16"/>
                  <a:gd name="T8" fmla="*/ 0 w 17"/>
                  <a:gd name="T9" fmla="*/ 8 h 16"/>
                  <a:gd name="T10" fmla="*/ 2 w 17"/>
                  <a:gd name="T11" fmla="*/ 14 h 16"/>
                  <a:gd name="T12" fmla="*/ 8 w 17"/>
                  <a:gd name="T13" fmla="*/ 16 h 16"/>
                  <a:gd name="T14" fmla="*/ 13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3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3" name="Freeform 380"/>
              <p:cNvSpPr>
                <a:spLocks noChangeAspect="1" noChangeArrowheads="1"/>
              </p:cNvSpPr>
              <p:nvPr/>
            </p:nvSpPr>
            <p:spPr bwMode="auto">
              <a:xfrm>
                <a:off x="4963" y="2015"/>
                <a:ext cx="33" cy="22"/>
              </a:xfrm>
              <a:custGeom>
                <a:avLst/>
                <a:gdLst>
                  <a:gd name="T0" fmla="*/ 68 w 102"/>
                  <a:gd name="T1" fmla="*/ 13 h 69"/>
                  <a:gd name="T2" fmla="*/ 67 w 102"/>
                  <a:gd name="T3" fmla="*/ 13 h 69"/>
                  <a:gd name="T4" fmla="*/ 68 w 102"/>
                  <a:gd name="T5" fmla="*/ 12 h 69"/>
                  <a:gd name="T6" fmla="*/ 77 w 102"/>
                  <a:gd name="T7" fmla="*/ 8 h 69"/>
                  <a:gd name="T8" fmla="*/ 89 w 102"/>
                  <a:gd name="T9" fmla="*/ 5 h 69"/>
                  <a:gd name="T10" fmla="*/ 97 w 102"/>
                  <a:gd name="T11" fmla="*/ 4 h 69"/>
                  <a:gd name="T12" fmla="*/ 102 w 102"/>
                  <a:gd name="T13" fmla="*/ 7 h 69"/>
                  <a:gd name="T14" fmla="*/ 102 w 102"/>
                  <a:gd name="T15" fmla="*/ 13 h 69"/>
                  <a:gd name="T16" fmla="*/ 100 w 102"/>
                  <a:gd name="T17" fmla="*/ 21 h 69"/>
                  <a:gd name="T18" fmla="*/ 95 w 102"/>
                  <a:gd name="T19" fmla="*/ 30 h 69"/>
                  <a:gd name="T20" fmla="*/ 79 w 102"/>
                  <a:gd name="T21" fmla="*/ 48 h 69"/>
                  <a:gd name="T22" fmla="*/ 58 w 102"/>
                  <a:gd name="T23" fmla="*/ 63 h 69"/>
                  <a:gd name="T24" fmla="*/ 48 w 102"/>
                  <a:gd name="T25" fmla="*/ 68 h 69"/>
                  <a:gd name="T26" fmla="*/ 38 w 102"/>
                  <a:gd name="T27" fmla="*/ 69 h 69"/>
                  <a:gd name="T28" fmla="*/ 22 w 102"/>
                  <a:gd name="T29" fmla="*/ 64 h 69"/>
                  <a:gd name="T30" fmla="*/ 8 w 102"/>
                  <a:gd name="T31" fmla="*/ 52 h 69"/>
                  <a:gd name="T32" fmla="*/ 1 w 102"/>
                  <a:gd name="T33" fmla="*/ 37 h 69"/>
                  <a:gd name="T34" fmla="*/ 0 w 102"/>
                  <a:gd name="T35" fmla="*/ 21 h 69"/>
                  <a:gd name="T36" fmla="*/ 8 w 102"/>
                  <a:gd name="T37" fmla="*/ 6 h 69"/>
                  <a:gd name="T38" fmla="*/ 16 w 102"/>
                  <a:gd name="T39" fmla="*/ 2 h 69"/>
                  <a:gd name="T40" fmla="*/ 26 w 102"/>
                  <a:gd name="T41" fmla="*/ 0 h 69"/>
                  <a:gd name="T42" fmla="*/ 50 w 102"/>
                  <a:gd name="T43" fmla="*/ 3 h 69"/>
                  <a:gd name="T44" fmla="*/ 62 w 102"/>
                  <a:gd name="T45" fmla="*/ 6 h 69"/>
                  <a:gd name="T46" fmla="*/ 69 w 102"/>
                  <a:gd name="T47" fmla="*/ 9 h 69"/>
                  <a:gd name="T48" fmla="*/ 72 w 102"/>
                  <a:gd name="T49" fmla="*/ 12 h 69"/>
                  <a:gd name="T50" fmla="*/ 68 w 102"/>
                  <a:gd name="T51" fmla="*/ 13 h 69"/>
                  <a:gd name="T52" fmla="*/ 69 w 102"/>
                  <a:gd name="T53" fmla="*/ 13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2" h="69">
                    <a:moveTo>
                      <a:pt x="68" y="13"/>
                    </a:moveTo>
                    <a:lnTo>
                      <a:pt x="67" y="13"/>
                    </a:lnTo>
                    <a:lnTo>
                      <a:pt x="68" y="12"/>
                    </a:lnTo>
                    <a:lnTo>
                      <a:pt x="77" y="8"/>
                    </a:lnTo>
                    <a:lnTo>
                      <a:pt x="89" y="5"/>
                    </a:lnTo>
                    <a:lnTo>
                      <a:pt x="97" y="4"/>
                    </a:lnTo>
                    <a:lnTo>
                      <a:pt x="102" y="7"/>
                    </a:lnTo>
                    <a:lnTo>
                      <a:pt x="102" y="13"/>
                    </a:lnTo>
                    <a:lnTo>
                      <a:pt x="100" y="21"/>
                    </a:lnTo>
                    <a:lnTo>
                      <a:pt x="95" y="30"/>
                    </a:lnTo>
                    <a:lnTo>
                      <a:pt x="79" y="48"/>
                    </a:lnTo>
                    <a:lnTo>
                      <a:pt x="58" y="63"/>
                    </a:lnTo>
                    <a:lnTo>
                      <a:pt x="48" y="68"/>
                    </a:lnTo>
                    <a:lnTo>
                      <a:pt x="38" y="69"/>
                    </a:lnTo>
                    <a:lnTo>
                      <a:pt x="22" y="64"/>
                    </a:lnTo>
                    <a:lnTo>
                      <a:pt x="8" y="52"/>
                    </a:lnTo>
                    <a:lnTo>
                      <a:pt x="1" y="37"/>
                    </a:lnTo>
                    <a:lnTo>
                      <a:pt x="0" y="21"/>
                    </a:lnTo>
                    <a:lnTo>
                      <a:pt x="8" y="6"/>
                    </a:lnTo>
                    <a:lnTo>
                      <a:pt x="16" y="2"/>
                    </a:lnTo>
                    <a:lnTo>
                      <a:pt x="26" y="0"/>
                    </a:lnTo>
                    <a:lnTo>
                      <a:pt x="50" y="3"/>
                    </a:lnTo>
                    <a:lnTo>
                      <a:pt x="62" y="6"/>
                    </a:lnTo>
                    <a:lnTo>
                      <a:pt x="69" y="9"/>
                    </a:lnTo>
                    <a:lnTo>
                      <a:pt x="72" y="12"/>
                    </a:lnTo>
                    <a:lnTo>
                      <a:pt x="68" y="13"/>
                    </a:lnTo>
                    <a:lnTo>
                      <a:pt x="69" y="1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4" name="Freeform 381"/>
              <p:cNvSpPr>
                <a:spLocks noChangeAspect="1" noChangeArrowheads="1"/>
              </p:cNvSpPr>
              <p:nvPr/>
            </p:nvSpPr>
            <p:spPr bwMode="auto">
              <a:xfrm>
                <a:off x="4928" y="2162"/>
                <a:ext cx="35" cy="25"/>
              </a:xfrm>
              <a:custGeom>
                <a:avLst/>
                <a:gdLst>
                  <a:gd name="T0" fmla="*/ 34 w 102"/>
                  <a:gd name="T1" fmla="*/ 44 h 73"/>
                  <a:gd name="T2" fmla="*/ 34 w 102"/>
                  <a:gd name="T3" fmla="*/ 45 h 73"/>
                  <a:gd name="T4" fmla="*/ 25 w 102"/>
                  <a:gd name="T5" fmla="*/ 44 h 73"/>
                  <a:gd name="T6" fmla="*/ 3 w 102"/>
                  <a:gd name="T7" fmla="*/ 37 h 73"/>
                  <a:gd name="T8" fmla="*/ 0 w 102"/>
                  <a:gd name="T9" fmla="*/ 27 h 73"/>
                  <a:gd name="T10" fmla="*/ 12 w 102"/>
                  <a:gd name="T11" fmla="*/ 15 h 73"/>
                  <a:gd name="T12" fmla="*/ 58 w 102"/>
                  <a:gd name="T13" fmla="*/ 0 h 73"/>
                  <a:gd name="T14" fmla="*/ 80 w 102"/>
                  <a:gd name="T15" fmla="*/ 3 h 73"/>
                  <a:gd name="T16" fmla="*/ 94 w 102"/>
                  <a:gd name="T17" fmla="*/ 13 h 73"/>
                  <a:gd name="T18" fmla="*/ 102 w 102"/>
                  <a:gd name="T19" fmla="*/ 47 h 73"/>
                  <a:gd name="T20" fmla="*/ 86 w 102"/>
                  <a:gd name="T21" fmla="*/ 73 h 73"/>
                  <a:gd name="T22" fmla="*/ 69 w 102"/>
                  <a:gd name="T23" fmla="*/ 73 h 73"/>
                  <a:gd name="T24" fmla="*/ 47 w 102"/>
                  <a:gd name="T25" fmla="*/ 61 h 73"/>
                  <a:gd name="T26" fmla="*/ 32 w 102"/>
                  <a:gd name="T27" fmla="*/ 48 h 73"/>
                  <a:gd name="T28" fmla="*/ 34 w 102"/>
                  <a:gd name="T29" fmla="*/ 44 h 73"/>
                  <a:gd name="T30" fmla="*/ 35 w 102"/>
                  <a:gd name="T31" fmla="*/ 4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2" h="73">
                    <a:moveTo>
                      <a:pt x="34" y="44"/>
                    </a:moveTo>
                    <a:lnTo>
                      <a:pt x="34" y="45"/>
                    </a:lnTo>
                    <a:lnTo>
                      <a:pt x="25" y="44"/>
                    </a:lnTo>
                    <a:lnTo>
                      <a:pt x="3" y="37"/>
                    </a:lnTo>
                    <a:lnTo>
                      <a:pt x="0" y="27"/>
                    </a:lnTo>
                    <a:lnTo>
                      <a:pt x="12" y="15"/>
                    </a:lnTo>
                    <a:lnTo>
                      <a:pt x="58" y="0"/>
                    </a:lnTo>
                    <a:lnTo>
                      <a:pt x="80" y="3"/>
                    </a:lnTo>
                    <a:lnTo>
                      <a:pt x="94" y="13"/>
                    </a:lnTo>
                    <a:lnTo>
                      <a:pt x="102" y="47"/>
                    </a:lnTo>
                    <a:lnTo>
                      <a:pt x="86" y="73"/>
                    </a:lnTo>
                    <a:lnTo>
                      <a:pt x="69" y="73"/>
                    </a:lnTo>
                    <a:lnTo>
                      <a:pt x="47" y="61"/>
                    </a:lnTo>
                    <a:lnTo>
                      <a:pt x="32" y="48"/>
                    </a:lnTo>
                    <a:lnTo>
                      <a:pt x="34" y="44"/>
                    </a:lnTo>
                    <a:lnTo>
                      <a:pt x="35" y="4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5" name="Freeform 382"/>
              <p:cNvSpPr>
                <a:spLocks noChangeAspect="1" noChangeArrowheads="1"/>
              </p:cNvSpPr>
              <p:nvPr/>
            </p:nvSpPr>
            <p:spPr bwMode="auto">
              <a:xfrm>
                <a:off x="4772" y="2121"/>
                <a:ext cx="27" cy="28"/>
              </a:xfrm>
              <a:custGeom>
                <a:avLst/>
                <a:gdLst>
                  <a:gd name="T0" fmla="*/ 66 w 77"/>
                  <a:gd name="T1" fmla="*/ 58 h 77"/>
                  <a:gd name="T2" fmla="*/ 63 w 77"/>
                  <a:gd name="T3" fmla="*/ 57 h 77"/>
                  <a:gd name="T4" fmla="*/ 47 w 77"/>
                  <a:gd name="T5" fmla="*/ 69 h 77"/>
                  <a:gd name="T6" fmla="*/ 27 w 77"/>
                  <a:gd name="T7" fmla="*/ 77 h 77"/>
                  <a:gd name="T8" fmla="*/ 13 w 77"/>
                  <a:gd name="T9" fmla="*/ 73 h 77"/>
                  <a:gd name="T10" fmla="*/ 0 w 77"/>
                  <a:gd name="T11" fmla="*/ 39 h 77"/>
                  <a:gd name="T12" fmla="*/ 8 w 77"/>
                  <a:gd name="T13" fmla="*/ 6 h 77"/>
                  <a:gd name="T14" fmla="*/ 33 w 77"/>
                  <a:gd name="T15" fmla="*/ 0 h 77"/>
                  <a:gd name="T16" fmla="*/ 66 w 77"/>
                  <a:gd name="T17" fmla="*/ 9 h 77"/>
                  <a:gd name="T18" fmla="*/ 77 w 77"/>
                  <a:gd name="T19" fmla="*/ 17 h 77"/>
                  <a:gd name="T20" fmla="*/ 76 w 77"/>
                  <a:gd name="T21" fmla="*/ 35 h 77"/>
                  <a:gd name="T22" fmla="*/ 68 w 77"/>
                  <a:gd name="T23" fmla="*/ 56 h 77"/>
                  <a:gd name="T24" fmla="*/ 66 w 77"/>
                  <a:gd name="T25" fmla="*/ 58 h 77"/>
                  <a:gd name="T26" fmla="*/ 67 w 77"/>
                  <a:gd name="T27" fmla="*/ 5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7" h="77">
                    <a:moveTo>
                      <a:pt x="66" y="58"/>
                    </a:moveTo>
                    <a:lnTo>
                      <a:pt x="63" y="57"/>
                    </a:lnTo>
                    <a:lnTo>
                      <a:pt x="47" y="69"/>
                    </a:lnTo>
                    <a:lnTo>
                      <a:pt x="27" y="77"/>
                    </a:lnTo>
                    <a:lnTo>
                      <a:pt x="13" y="73"/>
                    </a:lnTo>
                    <a:lnTo>
                      <a:pt x="0" y="39"/>
                    </a:lnTo>
                    <a:lnTo>
                      <a:pt x="8" y="6"/>
                    </a:lnTo>
                    <a:lnTo>
                      <a:pt x="33" y="0"/>
                    </a:lnTo>
                    <a:lnTo>
                      <a:pt x="66" y="9"/>
                    </a:lnTo>
                    <a:lnTo>
                      <a:pt x="77" y="17"/>
                    </a:lnTo>
                    <a:lnTo>
                      <a:pt x="76" y="35"/>
                    </a:lnTo>
                    <a:lnTo>
                      <a:pt x="68" y="56"/>
                    </a:lnTo>
                    <a:lnTo>
                      <a:pt x="66" y="58"/>
                    </a:lnTo>
                    <a:lnTo>
                      <a:pt x="67" y="5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6" name="Freeform 383"/>
              <p:cNvSpPr>
                <a:spLocks noChangeAspect="1" noChangeArrowheads="1"/>
              </p:cNvSpPr>
              <p:nvPr/>
            </p:nvSpPr>
            <p:spPr bwMode="auto">
              <a:xfrm>
                <a:off x="4832" y="2176"/>
                <a:ext cx="25" cy="25"/>
              </a:xfrm>
              <a:custGeom>
                <a:avLst/>
                <a:gdLst>
                  <a:gd name="T0" fmla="*/ 4 w 75"/>
                  <a:gd name="T1" fmla="*/ 0 h 67"/>
                  <a:gd name="T2" fmla="*/ 9 w 75"/>
                  <a:gd name="T3" fmla="*/ 7 h 67"/>
                  <a:gd name="T4" fmla="*/ 24 w 75"/>
                  <a:gd name="T5" fmla="*/ 6 h 67"/>
                  <a:gd name="T6" fmla="*/ 61 w 75"/>
                  <a:gd name="T7" fmla="*/ 4 h 67"/>
                  <a:gd name="T8" fmla="*/ 72 w 75"/>
                  <a:gd name="T9" fmla="*/ 14 h 67"/>
                  <a:gd name="T10" fmla="*/ 75 w 75"/>
                  <a:gd name="T11" fmla="*/ 30 h 67"/>
                  <a:gd name="T12" fmla="*/ 60 w 75"/>
                  <a:gd name="T13" fmla="*/ 56 h 67"/>
                  <a:gd name="T14" fmla="*/ 30 w 75"/>
                  <a:gd name="T15" fmla="*/ 67 h 67"/>
                  <a:gd name="T16" fmla="*/ 5 w 75"/>
                  <a:gd name="T17" fmla="*/ 58 h 67"/>
                  <a:gd name="T18" fmla="*/ 0 w 75"/>
                  <a:gd name="T19" fmla="*/ 44 h 67"/>
                  <a:gd name="T20" fmla="*/ 1 w 75"/>
                  <a:gd name="T21" fmla="*/ 21 h 67"/>
                  <a:gd name="T22" fmla="*/ 4 w 75"/>
                  <a:gd name="T23" fmla="*/ 1 h 67"/>
                  <a:gd name="T24" fmla="*/ 4 w 75"/>
                  <a:gd name="T25" fmla="*/ 0 h 67"/>
                  <a:gd name="T26" fmla="*/ 5 w 75"/>
                  <a:gd name="T2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" h="67">
                    <a:moveTo>
                      <a:pt x="4" y="0"/>
                    </a:moveTo>
                    <a:lnTo>
                      <a:pt x="9" y="7"/>
                    </a:lnTo>
                    <a:lnTo>
                      <a:pt x="24" y="6"/>
                    </a:lnTo>
                    <a:lnTo>
                      <a:pt x="61" y="4"/>
                    </a:lnTo>
                    <a:lnTo>
                      <a:pt x="72" y="14"/>
                    </a:lnTo>
                    <a:lnTo>
                      <a:pt x="75" y="30"/>
                    </a:lnTo>
                    <a:lnTo>
                      <a:pt x="60" y="56"/>
                    </a:lnTo>
                    <a:lnTo>
                      <a:pt x="30" y="67"/>
                    </a:lnTo>
                    <a:lnTo>
                      <a:pt x="5" y="58"/>
                    </a:lnTo>
                    <a:lnTo>
                      <a:pt x="0" y="44"/>
                    </a:lnTo>
                    <a:lnTo>
                      <a:pt x="1" y="2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7" name="Freeform 384"/>
              <p:cNvSpPr>
                <a:spLocks noChangeAspect="1" noChangeArrowheads="1"/>
              </p:cNvSpPr>
              <p:nvPr/>
            </p:nvSpPr>
            <p:spPr bwMode="auto">
              <a:xfrm>
                <a:off x="4769" y="2217"/>
                <a:ext cx="25" cy="25"/>
              </a:xfrm>
              <a:custGeom>
                <a:avLst/>
                <a:gdLst>
                  <a:gd name="T0" fmla="*/ 19 w 78"/>
                  <a:gd name="T1" fmla="*/ 11 h 73"/>
                  <a:gd name="T2" fmla="*/ 22 w 78"/>
                  <a:gd name="T3" fmla="*/ 12 h 73"/>
                  <a:gd name="T4" fmla="*/ 40 w 78"/>
                  <a:gd name="T5" fmla="*/ 3 h 73"/>
                  <a:gd name="T6" fmla="*/ 61 w 78"/>
                  <a:gd name="T7" fmla="*/ 0 h 73"/>
                  <a:gd name="T8" fmla="*/ 73 w 78"/>
                  <a:gd name="T9" fmla="*/ 10 h 73"/>
                  <a:gd name="T10" fmla="*/ 78 w 78"/>
                  <a:gd name="T11" fmla="*/ 51 h 73"/>
                  <a:gd name="T12" fmla="*/ 74 w 78"/>
                  <a:gd name="T13" fmla="*/ 68 h 73"/>
                  <a:gd name="T14" fmla="*/ 68 w 78"/>
                  <a:gd name="T15" fmla="*/ 73 h 73"/>
                  <a:gd name="T16" fmla="*/ 45 w 78"/>
                  <a:gd name="T17" fmla="*/ 54 h 73"/>
                  <a:gd name="T18" fmla="*/ 10 w 78"/>
                  <a:gd name="T19" fmla="*/ 53 h 73"/>
                  <a:gd name="T20" fmla="*/ 0 w 78"/>
                  <a:gd name="T21" fmla="*/ 49 h 73"/>
                  <a:gd name="T22" fmla="*/ 6 w 78"/>
                  <a:gd name="T23" fmla="*/ 32 h 73"/>
                  <a:gd name="T24" fmla="*/ 18 w 78"/>
                  <a:gd name="T25" fmla="*/ 14 h 73"/>
                  <a:gd name="T26" fmla="*/ 19 w 78"/>
                  <a:gd name="T27" fmla="*/ 11 h 73"/>
                  <a:gd name="T28" fmla="*/ 20 w 78"/>
                  <a:gd name="T29" fmla="*/ 1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8" h="73">
                    <a:moveTo>
                      <a:pt x="19" y="11"/>
                    </a:moveTo>
                    <a:lnTo>
                      <a:pt x="22" y="12"/>
                    </a:lnTo>
                    <a:lnTo>
                      <a:pt x="40" y="3"/>
                    </a:lnTo>
                    <a:lnTo>
                      <a:pt x="61" y="0"/>
                    </a:lnTo>
                    <a:lnTo>
                      <a:pt x="73" y="10"/>
                    </a:lnTo>
                    <a:lnTo>
                      <a:pt x="78" y="51"/>
                    </a:lnTo>
                    <a:lnTo>
                      <a:pt x="74" y="68"/>
                    </a:lnTo>
                    <a:lnTo>
                      <a:pt x="68" y="73"/>
                    </a:lnTo>
                    <a:lnTo>
                      <a:pt x="45" y="54"/>
                    </a:lnTo>
                    <a:lnTo>
                      <a:pt x="10" y="53"/>
                    </a:lnTo>
                    <a:lnTo>
                      <a:pt x="0" y="49"/>
                    </a:lnTo>
                    <a:lnTo>
                      <a:pt x="6" y="32"/>
                    </a:lnTo>
                    <a:lnTo>
                      <a:pt x="18" y="14"/>
                    </a:lnTo>
                    <a:lnTo>
                      <a:pt x="19" y="11"/>
                    </a:lnTo>
                    <a:lnTo>
                      <a:pt x="20" y="11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8" name="Freeform 385"/>
              <p:cNvSpPr>
                <a:spLocks noChangeAspect="1" noChangeArrowheads="1"/>
              </p:cNvSpPr>
              <p:nvPr/>
            </p:nvSpPr>
            <p:spPr bwMode="auto">
              <a:xfrm>
                <a:off x="4925" y="2242"/>
                <a:ext cx="27" cy="33"/>
              </a:xfrm>
              <a:custGeom>
                <a:avLst/>
                <a:gdLst>
                  <a:gd name="T0" fmla="*/ 4 w 76"/>
                  <a:gd name="T1" fmla="*/ 30 h 96"/>
                  <a:gd name="T2" fmla="*/ 5 w 76"/>
                  <a:gd name="T3" fmla="*/ 33 h 96"/>
                  <a:gd name="T4" fmla="*/ 9 w 76"/>
                  <a:gd name="T5" fmla="*/ 29 h 96"/>
                  <a:gd name="T6" fmla="*/ 25 w 76"/>
                  <a:gd name="T7" fmla="*/ 12 h 96"/>
                  <a:gd name="T8" fmla="*/ 34 w 76"/>
                  <a:gd name="T9" fmla="*/ 4 h 96"/>
                  <a:gd name="T10" fmla="*/ 42 w 76"/>
                  <a:gd name="T11" fmla="*/ 0 h 96"/>
                  <a:gd name="T12" fmla="*/ 50 w 76"/>
                  <a:gd name="T13" fmla="*/ 1 h 96"/>
                  <a:gd name="T14" fmla="*/ 57 w 76"/>
                  <a:gd name="T15" fmla="*/ 4 h 96"/>
                  <a:gd name="T16" fmla="*/ 70 w 76"/>
                  <a:gd name="T17" fmla="*/ 18 h 96"/>
                  <a:gd name="T18" fmla="*/ 76 w 76"/>
                  <a:gd name="T19" fmla="*/ 39 h 96"/>
                  <a:gd name="T20" fmla="*/ 76 w 76"/>
                  <a:gd name="T21" fmla="*/ 60 h 96"/>
                  <a:gd name="T22" fmla="*/ 67 w 76"/>
                  <a:gd name="T23" fmla="*/ 78 h 96"/>
                  <a:gd name="T24" fmla="*/ 54 w 76"/>
                  <a:gd name="T25" fmla="*/ 90 h 96"/>
                  <a:gd name="T26" fmla="*/ 38 w 76"/>
                  <a:gd name="T27" fmla="*/ 96 h 96"/>
                  <a:gd name="T28" fmla="*/ 22 w 76"/>
                  <a:gd name="T29" fmla="*/ 96 h 96"/>
                  <a:gd name="T30" fmla="*/ 9 w 76"/>
                  <a:gd name="T31" fmla="*/ 91 h 96"/>
                  <a:gd name="T32" fmla="*/ 1 w 76"/>
                  <a:gd name="T33" fmla="*/ 78 h 96"/>
                  <a:gd name="T34" fmla="*/ 0 w 76"/>
                  <a:gd name="T35" fmla="*/ 67 h 96"/>
                  <a:gd name="T36" fmla="*/ 1 w 76"/>
                  <a:gd name="T37" fmla="*/ 55 h 96"/>
                  <a:gd name="T38" fmla="*/ 4 w 76"/>
                  <a:gd name="T39" fmla="*/ 32 h 96"/>
                  <a:gd name="T40" fmla="*/ 5 w 76"/>
                  <a:gd name="T41" fmla="*/ 27 h 96"/>
                  <a:gd name="T42" fmla="*/ 4 w 76"/>
                  <a:gd name="T43" fmla="*/ 30 h 96"/>
                  <a:gd name="T44" fmla="*/ 5 w 76"/>
                  <a:gd name="T45" fmla="*/ 3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6" h="96">
                    <a:moveTo>
                      <a:pt x="4" y="30"/>
                    </a:moveTo>
                    <a:lnTo>
                      <a:pt x="5" y="33"/>
                    </a:lnTo>
                    <a:lnTo>
                      <a:pt x="9" y="29"/>
                    </a:lnTo>
                    <a:lnTo>
                      <a:pt x="25" y="12"/>
                    </a:lnTo>
                    <a:lnTo>
                      <a:pt x="34" y="4"/>
                    </a:lnTo>
                    <a:lnTo>
                      <a:pt x="42" y="0"/>
                    </a:lnTo>
                    <a:lnTo>
                      <a:pt x="50" y="1"/>
                    </a:lnTo>
                    <a:lnTo>
                      <a:pt x="57" y="4"/>
                    </a:lnTo>
                    <a:lnTo>
                      <a:pt x="70" y="18"/>
                    </a:lnTo>
                    <a:lnTo>
                      <a:pt x="76" y="39"/>
                    </a:lnTo>
                    <a:lnTo>
                      <a:pt x="76" y="60"/>
                    </a:lnTo>
                    <a:lnTo>
                      <a:pt x="67" y="78"/>
                    </a:lnTo>
                    <a:lnTo>
                      <a:pt x="54" y="90"/>
                    </a:lnTo>
                    <a:lnTo>
                      <a:pt x="38" y="96"/>
                    </a:lnTo>
                    <a:lnTo>
                      <a:pt x="22" y="96"/>
                    </a:lnTo>
                    <a:lnTo>
                      <a:pt x="9" y="91"/>
                    </a:lnTo>
                    <a:lnTo>
                      <a:pt x="1" y="78"/>
                    </a:lnTo>
                    <a:lnTo>
                      <a:pt x="0" y="67"/>
                    </a:lnTo>
                    <a:lnTo>
                      <a:pt x="1" y="55"/>
                    </a:lnTo>
                    <a:lnTo>
                      <a:pt x="4" y="32"/>
                    </a:lnTo>
                    <a:lnTo>
                      <a:pt x="5" y="27"/>
                    </a:lnTo>
                    <a:lnTo>
                      <a:pt x="4" y="30"/>
                    </a:lnTo>
                    <a:lnTo>
                      <a:pt x="5" y="3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9" name="Freeform 386"/>
              <p:cNvSpPr>
                <a:spLocks noChangeAspect="1" noChangeArrowheads="1"/>
              </p:cNvSpPr>
              <p:nvPr/>
            </p:nvSpPr>
            <p:spPr bwMode="auto">
              <a:xfrm>
                <a:off x="4903" y="2105"/>
                <a:ext cx="30" cy="27"/>
              </a:xfrm>
              <a:custGeom>
                <a:avLst/>
                <a:gdLst>
                  <a:gd name="T0" fmla="*/ 32 w 89"/>
                  <a:gd name="T1" fmla="*/ 33 h 83"/>
                  <a:gd name="T2" fmla="*/ 29 w 89"/>
                  <a:gd name="T3" fmla="*/ 35 h 83"/>
                  <a:gd name="T4" fmla="*/ 31 w 89"/>
                  <a:gd name="T5" fmla="*/ 32 h 83"/>
                  <a:gd name="T6" fmla="*/ 36 w 89"/>
                  <a:gd name="T7" fmla="*/ 26 h 83"/>
                  <a:gd name="T8" fmla="*/ 46 w 89"/>
                  <a:gd name="T9" fmla="*/ 19 h 83"/>
                  <a:gd name="T10" fmla="*/ 65 w 89"/>
                  <a:gd name="T11" fmla="*/ 4 h 83"/>
                  <a:gd name="T12" fmla="*/ 74 w 89"/>
                  <a:gd name="T13" fmla="*/ 0 h 83"/>
                  <a:gd name="T14" fmla="*/ 82 w 89"/>
                  <a:gd name="T15" fmla="*/ 0 h 83"/>
                  <a:gd name="T16" fmla="*/ 86 w 89"/>
                  <a:gd name="T17" fmla="*/ 3 h 83"/>
                  <a:gd name="T18" fmla="*/ 89 w 89"/>
                  <a:gd name="T19" fmla="*/ 9 h 83"/>
                  <a:gd name="T20" fmla="*/ 89 w 89"/>
                  <a:gd name="T21" fmla="*/ 26 h 83"/>
                  <a:gd name="T22" fmla="*/ 83 w 89"/>
                  <a:gd name="T23" fmla="*/ 48 h 83"/>
                  <a:gd name="T24" fmla="*/ 73 w 89"/>
                  <a:gd name="T25" fmla="*/ 68 h 83"/>
                  <a:gd name="T26" fmla="*/ 58 w 89"/>
                  <a:gd name="T27" fmla="*/ 80 h 83"/>
                  <a:gd name="T28" fmla="*/ 40 w 89"/>
                  <a:gd name="T29" fmla="*/ 83 h 83"/>
                  <a:gd name="T30" fmla="*/ 24 w 89"/>
                  <a:gd name="T31" fmla="*/ 78 h 83"/>
                  <a:gd name="T32" fmla="*/ 10 w 89"/>
                  <a:gd name="T33" fmla="*/ 67 h 83"/>
                  <a:gd name="T34" fmla="*/ 2 w 89"/>
                  <a:gd name="T35" fmla="*/ 51 h 83"/>
                  <a:gd name="T36" fmla="*/ 0 w 89"/>
                  <a:gd name="T37" fmla="*/ 41 h 83"/>
                  <a:gd name="T38" fmla="*/ 3 w 89"/>
                  <a:gd name="T39" fmla="*/ 34 h 83"/>
                  <a:gd name="T40" fmla="*/ 10 w 89"/>
                  <a:gd name="T41" fmla="*/ 29 h 83"/>
                  <a:gd name="T42" fmla="*/ 21 w 89"/>
                  <a:gd name="T43" fmla="*/ 27 h 83"/>
                  <a:gd name="T44" fmla="*/ 31 w 89"/>
                  <a:gd name="T45" fmla="*/ 29 h 83"/>
                  <a:gd name="T46" fmla="*/ 33 w 89"/>
                  <a:gd name="T47" fmla="*/ 31 h 83"/>
                  <a:gd name="T48" fmla="*/ 32 w 89"/>
                  <a:gd name="T49" fmla="*/ 33 h 83"/>
                  <a:gd name="T50" fmla="*/ 33 w 89"/>
                  <a:gd name="T51" fmla="*/ 3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83">
                    <a:moveTo>
                      <a:pt x="32" y="33"/>
                    </a:moveTo>
                    <a:lnTo>
                      <a:pt x="29" y="35"/>
                    </a:lnTo>
                    <a:lnTo>
                      <a:pt x="31" y="32"/>
                    </a:lnTo>
                    <a:lnTo>
                      <a:pt x="36" y="26"/>
                    </a:lnTo>
                    <a:lnTo>
                      <a:pt x="46" y="19"/>
                    </a:lnTo>
                    <a:lnTo>
                      <a:pt x="65" y="4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6" y="3"/>
                    </a:lnTo>
                    <a:lnTo>
                      <a:pt x="89" y="9"/>
                    </a:lnTo>
                    <a:lnTo>
                      <a:pt x="89" y="26"/>
                    </a:lnTo>
                    <a:lnTo>
                      <a:pt x="83" y="48"/>
                    </a:lnTo>
                    <a:lnTo>
                      <a:pt x="73" y="68"/>
                    </a:lnTo>
                    <a:lnTo>
                      <a:pt x="58" y="80"/>
                    </a:lnTo>
                    <a:lnTo>
                      <a:pt x="40" y="83"/>
                    </a:lnTo>
                    <a:lnTo>
                      <a:pt x="24" y="78"/>
                    </a:lnTo>
                    <a:lnTo>
                      <a:pt x="10" y="67"/>
                    </a:lnTo>
                    <a:lnTo>
                      <a:pt x="2" y="51"/>
                    </a:lnTo>
                    <a:lnTo>
                      <a:pt x="0" y="41"/>
                    </a:lnTo>
                    <a:lnTo>
                      <a:pt x="3" y="34"/>
                    </a:lnTo>
                    <a:lnTo>
                      <a:pt x="10" y="29"/>
                    </a:lnTo>
                    <a:lnTo>
                      <a:pt x="21" y="27"/>
                    </a:lnTo>
                    <a:lnTo>
                      <a:pt x="31" y="29"/>
                    </a:lnTo>
                    <a:lnTo>
                      <a:pt x="33" y="31"/>
                    </a:lnTo>
                    <a:lnTo>
                      <a:pt x="32" y="33"/>
                    </a:lnTo>
                    <a:lnTo>
                      <a:pt x="33" y="3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0" name="Freeform 387"/>
              <p:cNvSpPr>
                <a:spLocks noChangeAspect="1" noChangeArrowheads="1"/>
              </p:cNvSpPr>
              <p:nvPr/>
            </p:nvSpPr>
            <p:spPr bwMode="auto">
              <a:xfrm>
                <a:off x="4824" y="2097"/>
                <a:ext cx="30" cy="24"/>
              </a:xfrm>
              <a:custGeom>
                <a:avLst/>
                <a:gdLst>
                  <a:gd name="T0" fmla="*/ 33 w 86"/>
                  <a:gd name="T1" fmla="*/ 0 h 77"/>
                  <a:gd name="T2" fmla="*/ 33 w 86"/>
                  <a:gd name="T3" fmla="*/ 7 h 77"/>
                  <a:gd name="T4" fmla="*/ 48 w 86"/>
                  <a:gd name="T5" fmla="*/ 13 h 77"/>
                  <a:gd name="T6" fmla="*/ 84 w 86"/>
                  <a:gd name="T7" fmla="*/ 30 h 77"/>
                  <a:gd name="T8" fmla="*/ 86 w 86"/>
                  <a:gd name="T9" fmla="*/ 44 h 77"/>
                  <a:gd name="T10" fmla="*/ 79 w 86"/>
                  <a:gd name="T11" fmla="*/ 59 h 77"/>
                  <a:gd name="T12" fmla="*/ 49 w 86"/>
                  <a:gd name="T13" fmla="*/ 77 h 77"/>
                  <a:gd name="T14" fmla="*/ 17 w 86"/>
                  <a:gd name="T15" fmla="*/ 71 h 77"/>
                  <a:gd name="T16" fmla="*/ 0 w 86"/>
                  <a:gd name="T17" fmla="*/ 50 h 77"/>
                  <a:gd name="T18" fmla="*/ 3 w 86"/>
                  <a:gd name="T19" fmla="*/ 35 h 77"/>
                  <a:gd name="T20" fmla="*/ 17 w 86"/>
                  <a:gd name="T21" fmla="*/ 16 h 77"/>
                  <a:gd name="T22" fmla="*/ 32 w 86"/>
                  <a:gd name="T23" fmla="*/ 1 h 77"/>
                  <a:gd name="T24" fmla="*/ 33 w 86"/>
                  <a:gd name="T25" fmla="*/ 0 h 77"/>
                  <a:gd name="T26" fmla="*/ 34 w 86"/>
                  <a:gd name="T27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6" h="77">
                    <a:moveTo>
                      <a:pt x="33" y="0"/>
                    </a:moveTo>
                    <a:lnTo>
                      <a:pt x="33" y="7"/>
                    </a:lnTo>
                    <a:lnTo>
                      <a:pt x="48" y="13"/>
                    </a:lnTo>
                    <a:lnTo>
                      <a:pt x="84" y="30"/>
                    </a:lnTo>
                    <a:lnTo>
                      <a:pt x="86" y="44"/>
                    </a:lnTo>
                    <a:lnTo>
                      <a:pt x="79" y="59"/>
                    </a:lnTo>
                    <a:lnTo>
                      <a:pt x="49" y="77"/>
                    </a:lnTo>
                    <a:lnTo>
                      <a:pt x="17" y="71"/>
                    </a:lnTo>
                    <a:lnTo>
                      <a:pt x="0" y="50"/>
                    </a:lnTo>
                    <a:lnTo>
                      <a:pt x="3" y="35"/>
                    </a:lnTo>
                    <a:lnTo>
                      <a:pt x="17" y="16"/>
                    </a:lnTo>
                    <a:lnTo>
                      <a:pt x="32" y="1"/>
                    </a:lnTo>
                    <a:lnTo>
                      <a:pt x="33" y="0"/>
                    </a:lnTo>
                    <a:lnTo>
                      <a:pt x="34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1" name="Freeform 388"/>
              <p:cNvSpPr>
                <a:spLocks noChangeAspect="1" noChangeArrowheads="1"/>
              </p:cNvSpPr>
              <p:nvPr/>
            </p:nvSpPr>
            <p:spPr bwMode="auto">
              <a:xfrm>
                <a:off x="5026" y="2285"/>
                <a:ext cx="6" cy="6"/>
              </a:xfrm>
              <a:custGeom>
                <a:avLst/>
                <a:gdLst>
                  <a:gd name="T0" fmla="*/ 16 w 17"/>
                  <a:gd name="T1" fmla="*/ 8 h 16"/>
                  <a:gd name="T2" fmla="*/ 13 w 17"/>
                  <a:gd name="T3" fmla="*/ 2 h 16"/>
                  <a:gd name="T4" fmla="*/ 8 w 17"/>
                  <a:gd name="T5" fmla="*/ 0 h 16"/>
                  <a:gd name="T6" fmla="*/ 2 w 17"/>
                  <a:gd name="T7" fmla="*/ 2 h 16"/>
                  <a:gd name="T8" fmla="*/ 0 w 17"/>
                  <a:gd name="T9" fmla="*/ 8 h 16"/>
                  <a:gd name="T10" fmla="*/ 2 w 17"/>
                  <a:gd name="T11" fmla="*/ 13 h 16"/>
                  <a:gd name="T12" fmla="*/ 8 w 17"/>
                  <a:gd name="T13" fmla="*/ 16 h 16"/>
                  <a:gd name="T14" fmla="*/ 13 w 17"/>
                  <a:gd name="T15" fmla="*/ 13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2" name="Freeform 389"/>
              <p:cNvSpPr>
                <a:spLocks noChangeAspect="1" noChangeArrowheads="1"/>
              </p:cNvSpPr>
              <p:nvPr/>
            </p:nvSpPr>
            <p:spPr bwMode="auto">
              <a:xfrm>
                <a:off x="4980" y="2283"/>
                <a:ext cx="22" cy="27"/>
              </a:xfrm>
              <a:custGeom>
                <a:avLst/>
                <a:gdLst>
                  <a:gd name="T0" fmla="*/ 48 w 71"/>
                  <a:gd name="T1" fmla="*/ 9 h 77"/>
                  <a:gd name="T2" fmla="*/ 45 w 71"/>
                  <a:gd name="T3" fmla="*/ 9 h 77"/>
                  <a:gd name="T4" fmla="*/ 48 w 71"/>
                  <a:gd name="T5" fmla="*/ 13 h 77"/>
                  <a:gd name="T6" fmla="*/ 62 w 71"/>
                  <a:gd name="T7" fmla="*/ 27 h 77"/>
                  <a:gd name="T8" fmla="*/ 68 w 71"/>
                  <a:gd name="T9" fmla="*/ 36 h 77"/>
                  <a:gd name="T10" fmla="*/ 71 w 71"/>
                  <a:gd name="T11" fmla="*/ 46 h 77"/>
                  <a:gd name="T12" fmla="*/ 71 w 71"/>
                  <a:gd name="T13" fmla="*/ 54 h 77"/>
                  <a:gd name="T14" fmla="*/ 67 w 71"/>
                  <a:gd name="T15" fmla="*/ 60 h 77"/>
                  <a:gd name="T16" fmla="*/ 52 w 71"/>
                  <a:gd name="T17" fmla="*/ 70 h 77"/>
                  <a:gd name="T18" fmla="*/ 33 w 71"/>
                  <a:gd name="T19" fmla="*/ 76 h 77"/>
                  <a:gd name="T20" fmla="*/ 15 w 71"/>
                  <a:gd name="T21" fmla="*/ 77 h 77"/>
                  <a:gd name="T22" fmla="*/ 2 w 71"/>
                  <a:gd name="T23" fmla="*/ 73 h 77"/>
                  <a:gd name="T24" fmla="*/ 0 w 71"/>
                  <a:gd name="T25" fmla="*/ 64 h 77"/>
                  <a:gd name="T26" fmla="*/ 5 w 71"/>
                  <a:gd name="T27" fmla="*/ 51 h 77"/>
                  <a:gd name="T28" fmla="*/ 9 w 71"/>
                  <a:gd name="T29" fmla="*/ 33 h 77"/>
                  <a:gd name="T30" fmla="*/ 8 w 71"/>
                  <a:gd name="T31" fmla="*/ 15 h 77"/>
                  <a:gd name="T32" fmla="*/ 7 w 71"/>
                  <a:gd name="T33" fmla="*/ 8 h 77"/>
                  <a:gd name="T34" fmla="*/ 8 w 71"/>
                  <a:gd name="T35" fmla="*/ 2 h 77"/>
                  <a:gd name="T36" fmla="*/ 15 w 71"/>
                  <a:gd name="T37" fmla="*/ 0 h 77"/>
                  <a:gd name="T38" fmla="*/ 24 w 71"/>
                  <a:gd name="T39" fmla="*/ 1 h 77"/>
                  <a:gd name="T40" fmla="*/ 45 w 71"/>
                  <a:gd name="T41" fmla="*/ 8 h 77"/>
                  <a:gd name="T42" fmla="*/ 50 w 71"/>
                  <a:gd name="T43" fmla="*/ 10 h 77"/>
                  <a:gd name="T44" fmla="*/ 48 w 71"/>
                  <a:gd name="T45" fmla="*/ 9 h 77"/>
                  <a:gd name="T46" fmla="*/ 49 w 71"/>
                  <a:gd name="T47" fmla="*/ 9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1" h="77">
                    <a:moveTo>
                      <a:pt x="48" y="9"/>
                    </a:moveTo>
                    <a:lnTo>
                      <a:pt x="45" y="9"/>
                    </a:lnTo>
                    <a:lnTo>
                      <a:pt x="48" y="13"/>
                    </a:lnTo>
                    <a:lnTo>
                      <a:pt x="62" y="27"/>
                    </a:lnTo>
                    <a:lnTo>
                      <a:pt x="68" y="36"/>
                    </a:lnTo>
                    <a:lnTo>
                      <a:pt x="71" y="46"/>
                    </a:lnTo>
                    <a:lnTo>
                      <a:pt x="71" y="54"/>
                    </a:lnTo>
                    <a:lnTo>
                      <a:pt x="67" y="60"/>
                    </a:lnTo>
                    <a:lnTo>
                      <a:pt x="52" y="70"/>
                    </a:lnTo>
                    <a:lnTo>
                      <a:pt x="33" y="76"/>
                    </a:lnTo>
                    <a:lnTo>
                      <a:pt x="15" y="77"/>
                    </a:lnTo>
                    <a:lnTo>
                      <a:pt x="2" y="73"/>
                    </a:lnTo>
                    <a:lnTo>
                      <a:pt x="0" y="64"/>
                    </a:lnTo>
                    <a:lnTo>
                      <a:pt x="5" y="51"/>
                    </a:lnTo>
                    <a:lnTo>
                      <a:pt x="9" y="33"/>
                    </a:lnTo>
                    <a:lnTo>
                      <a:pt x="8" y="15"/>
                    </a:lnTo>
                    <a:lnTo>
                      <a:pt x="7" y="8"/>
                    </a:lnTo>
                    <a:lnTo>
                      <a:pt x="8" y="2"/>
                    </a:lnTo>
                    <a:lnTo>
                      <a:pt x="15" y="0"/>
                    </a:lnTo>
                    <a:lnTo>
                      <a:pt x="24" y="1"/>
                    </a:lnTo>
                    <a:lnTo>
                      <a:pt x="45" y="8"/>
                    </a:lnTo>
                    <a:lnTo>
                      <a:pt x="50" y="10"/>
                    </a:lnTo>
                    <a:lnTo>
                      <a:pt x="48" y="9"/>
                    </a:lnTo>
                    <a:lnTo>
                      <a:pt x="49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3" name="Freeform 390"/>
              <p:cNvSpPr>
                <a:spLocks noChangeAspect="1" noChangeArrowheads="1"/>
              </p:cNvSpPr>
              <p:nvPr/>
            </p:nvSpPr>
            <p:spPr bwMode="auto">
              <a:xfrm>
                <a:off x="4988" y="2316"/>
                <a:ext cx="11" cy="13"/>
              </a:xfrm>
              <a:custGeom>
                <a:avLst/>
                <a:gdLst>
                  <a:gd name="T0" fmla="*/ 1 w 32"/>
                  <a:gd name="T1" fmla="*/ 6 h 45"/>
                  <a:gd name="T2" fmla="*/ 0 w 32"/>
                  <a:gd name="T3" fmla="*/ 37 h 45"/>
                  <a:gd name="T4" fmla="*/ 10 w 32"/>
                  <a:gd name="T5" fmla="*/ 45 h 45"/>
                  <a:gd name="T6" fmla="*/ 24 w 32"/>
                  <a:gd name="T7" fmla="*/ 41 h 45"/>
                  <a:gd name="T8" fmla="*/ 32 w 32"/>
                  <a:gd name="T9" fmla="*/ 26 h 45"/>
                  <a:gd name="T10" fmla="*/ 29 w 32"/>
                  <a:gd name="T11" fmla="*/ 10 h 45"/>
                  <a:gd name="T12" fmla="*/ 14 w 32"/>
                  <a:gd name="T13" fmla="*/ 0 h 45"/>
                  <a:gd name="T14" fmla="*/ 1 w 32"/>
                  <a:gd name="T15" fmla="*/ 6 h 45"/>
                  <a:gd name="T16" fmla="*/ 2 w 32"/>
                  <a:gd name="T17" fmla="*/ 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45">
                    <a:moveTo>
                      <a:pt x="1" y="6"/>
                    </a:moveTo>
                    <a:lnTo>
                      <a:pt x="0" y="37"/>
                    </a:lnTo>
                    <a:lnTo>
                      <a:pt x="10" y="45"/>
                    </a:lnTo>
                    <a:lnTo>
                      <a:pt x="24" y="41"/>
                    </a:lnTo>
                    <a:lnTo>
                      <a:pt x="32" y="26"/>
                    </a:lnTo>
                    <a:lnTo>
                      <a:pt x="29" y="10"/>
                    </a:lnTo>
                    <a:lnTo>
                      <a:pt x="14" y="0"/>
                    </a:lnTo>
                    <a:lnTo>
                      <a:pt x="1" y="6"/>
                    </a:lnTo>
                    <a:lnTo>
                      <a:pt x="2" y="6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4" name="Freeform 391"/>
              <p:cNvSpPr>
                <a:spLocks noChangeAspect="1" noChangeArrowheads="1"/>
              </p:cNvSpPr>
              <p:nvPr/>
            </p:nvSpPr>
            <p:spPr bwMode="auto">
              <a:xfrm>
                <a:off x="5095" y="2302"/>
                <a:ext cx="11" cy="14"/>
              </a:xfrm>
              <a:custGeom>
                <a:avLst/>
                <a:gdLst>
                  <a:gd name="T0" fmla="*/ 1 w 33"/>
                  <a:gd name="T1" fmla="*/ 5 h 45"/>
                  <a:gd name="T2" fmla="*/ 0 w 33"/>
                  <a:gd name="T3" fmla="*/ 36 h 45"/>
                  <a:gd name="T4" fmla="*/ 11 w 33"/>
                  <a:gd name="T5" fmla="*/ 45 h 45"/>
                  <a:gd name="T6" fmla="*/ 26 w 33"/>
                  <a:gd name="T7" fmla="*/ 40 h 45"/>
                  <a:gd name="T8" fmla="*/ 33 w 33"/>
                  <a:gd name="T9" fmla="*/ 25 h 45"/>
                  <a:gd name="T10" fmla="*/ 30 w 33"/>
                  <a:gd name="T11" fmla="*/ 9 h 45"/>
                  <a:gd name="T12" fmla="*/ 15 w 33"/>
                  <a:gd name="T13" fmla="*/ 0 h 45"/>
                  <a:gd name="T14" fmla="*/ 1 w 33"/>
                  <a:gd name="T15" fmla="*/ 5 h 45"/>
                  <a:gd name="T16" fmla="*/ 2 w 33"/>
                  <a:gd name="T17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1" y="5"/>
                    </a:moveTo>
                    <a:lnTo>
                      <a:pt x="0" y="36"/>
                    </a:lnTo>
                    <a:lnTo>
                      <a:pt x="11" y="45"/>
                    </a:lnTo>
                    <a:lnTo>
                      <a:pt x="26" y="40"/>
                    </a:lnTo>
                    <a:lnTo>
                      <a:pt x="33" y="25"/>
                    </a:lnTo>
                    <a:lnTo>
                      <a:pt x="30" y="9"/>
                    </a:lnTo>
                    <a:lnTo>
                      <a:pt x="15" y="0"/>
                    </a:lnTo>
                    <a:lnTo>
                      <a:pt x="1" y="5"/>
                    </a:lnTo>
                    <a:lnTo>
                      <a:pt x="2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5" name="Freeform 392"/>
              <p:cNvSpPr>
                <a:spLocks noChangeAspect="1" noChangeArrowheads="1"/>
              </p:cNvSpPr>
              <p:nvPr/>
            </p:nvSpPr>
            <p:spPr bwMode="auto">
              <a:xfrm>
                <a:off x="5015" y="2326"/>
                <a:ext cx="6" cy="6"/>
              </a:xfrm>
              <a:custGeom>
                <a:avLst/>
                <a:gdLst>
                  <a:gd name="T0" fmla="*/ 17 w 18"/>
                  <a:gd name="T1" fmla="*/ 8 h 16"/>
                  <a:gd name="T2" fmla="*/ 15 w 18"/>
                  <a:gd name="T3" fmla="*/ 3 h 16"/>
                  <a:gd name="T4" fmla="*/ 9 w 18"/>
                  <a:gd name="T5" fmla="*/ 0 h 16"/>
                  <a:gd name="T6" fmla="*/ 3 w 18"/>
                  <a:gd name="T7" fmla="*/ 3 h 16"/>
                  <a:gd name="T8" fmla="*/ 0 w 18"/>
                  <a:gd name="T9" fmla="*/ 8 h 16"/>
                  <a:gd name="T10" fmla="*/ 3 w 18"/>
                  <a:gd name="T11" fmla="*/ 14 h 16"/>
                  <a:gd name="T12" fmla="*/ 9 w 18"/>
                  <a:gd name="T13" fmla="*/ 16 h 16"/>
                  <a:gd name="T14" fmla="*/ 15 w 18"/>
                  <a:gd name="T15" fmla="*/ 14 h 16"/>
                  <a:gd name="T16" fmla="*/ 17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7" y="8"/>
                    </a:moveTo>
                    <a:lnTo>
                      <a:pt x="15" y="3"/>
                    </a:lnTo>
                    <a:lnTo>
                      <a:pt x="9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3" y="14"/>
                    </a:lnTo>
                    <a:lnTo>
                      <a:pt x="9" y="16"/>
                    </a:lnTo>
                    <a:lnTo>
                      <a:pt x="15" y="14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6" name="Freeform 393"/>
              <p:cNvSpPr>
                <a:spLocks noChangeAspect="1" noChangeArrowheads="1"/>
              </p:cNvSpPr>
              <p:nvPr/>
            </p:nvSpPr>
            <p:spPr bwMode="auto">
              <a:xfrm>
                <a:off x="5062" y="2291"/>
                <a:ext cx="5" cy="5"/>
              </a:xfrm>
              <a:custGeom>
                <a:avLst/>
                <a:gdLst>
                  <a:gd name="T0" fmla="*/ 16 w 17"/>
                  <a:gd name="T1" fmla="*/ 8 h 16"/>
                  <a:gd name="T2" fmla="*/ 14 w 17"/>
                  <a:gd name="T3" fmla="*/ 2 h 16"/>
                  <a:gd name="T4" fmla="*/ 7 w 17"/>
                  <a:gd name="T5" fmla="*/ 0 h 16"/>
                  <a:gd name="T6" fmla="*/ 2 w 17"/>
                  <a:gd name="T7" fmla="*/ 2 h 16"/>
                  <a:gd name="T8" fmla="*/ 0 w 17"/>
                  <a:gd name="T9" fmla="*/ 8 h 16"/>
                  <a:gd name="T10" fmla="*/ 2 w 17"/>
                  <a:gd name="T11" fmla="*/ 13 h 16"/>
                  <a:gd name="T12" fmla="*/ 7 w 17"/>
                  <a:gd name="T13" fmla="*/ 16 h 16"/>
                  <a:gd name="T14" fmla="*/ 14 w 17"/>
                  <a:gd name="T15" fmla="*/ 13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4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3"/>
                    </a:lnTo>
                    <a:lnTo>
                      <a:pt x="7" y="16"/>
                    </a:lnTo>
                    <a:lnTo>
                      <a:pt x="14" y="13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7" name="Freeform 394"/>
              <p:cNvSpPr>
                <a:spLocks noChangeAspect="1" noChangeArrowheads="1"/>
              </p:cNvSpPr>
              <p:nvPr/>
            </p:nvSpPr>
            <p:spPr bwMode="auto">
              <a:xfrm>
                <a:off x="5163" y="2305"/>
                <a:ext cx="5" cy="5"/>
              </a:xfrm>
              <a:custGeom>
                <a:avLst/>
                <a:gdLst>
                  <a:gd name="T0" fmla="*/ 16 w 17"/>
                  <a:gd name="T1" fmla="*/ 8 h 16"/>
                  <a:gd name="T2" fmla="*/ 14 w 17"/>
                  <a:gd name="T3" fmla="*/ 2 h 16"/>
                  <a:gd name="T4" fmla="*/ 8 w 17"/>
                  <a:gd name="T5" fmla="*/ 0 h 16"/>
                  <a:gd name="T6" fmla="*/ 3 w 17"/>
                  <a:gd name="T7" fmla="*/ 2 h 16"/>
                  <a:gd name="T8" fmla="*/ 0 w 17"/>
                  <a:gd name="T9" fmla="*/ 8 h 16"/>
                  <a:gd name="T10" fmla="*/ 3 w 17"/>
                  <a:gd name="T11" fmla="*/ 14 h 16"/>
                  <a:gd name="T12" fmla="*/ 8 w 17"/>
                  <a:gd name="T13" fmla="*/ 16 h 16"/>
                  <a:gd name="T14" fmla="*/ 14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3" y="14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8" name="Freeform 395"/>
              <p:cNvSpPr>
                <a:spLocks noChangeAspect="1" noChangeArrowheads="1"/>
              </p:cNvSpPr>
              <p:nvPr/>
            </p:nvSpPr>
            <p:spPr bwMode="auto">
              <a:xfrm>
                <a:off x="5114" y="2179"/>
                <a:ext cx="33" cy="24"/>
              </a:xfrm>
              <a:custGeom>
                <a:avLst/>
                <a:gdLst>
                  <a:gd name="T0" fmla="*/ 50 w 96"/>
                  <a:gd name="T1" fmla="*/ 15 h 78"/>
                  <a:gd name="T2" fmla="*/ 46 w 96"/>
                  <a:gd name="T3" fmla="*/ 14 h 78"/>
                  <a:gd name="T4" fmla="*/ 50 w 96"/>
                  <a:gd name="T5" fmla="*/ 15 h 78"/>
                  <a:gd name="T6" fmla="*/ 57 w 96"/>
                  <a:gd name="T7" fmla="*/ 20 h 78"/>
                  <a:gd name="T8" fmla="*/ 67 w 96"/>
                  <a:gd name="T9" fmla="*/ 25 h 78"/>
                  <a:gd name="T10" fmla="*/ 86 w 96"/>
                  <a:gd name="T11" fmla="*/ 38 h 78"/>
                  <a:gd name="T12" fmla="*/ 93 w 96"/>
                  <a:gd name="T13" fmla="*/ 45 h 78"/>
                  <a:gd name="T14" fmla="*/ 96 w 96"/>
                  <a:gd name="T15" fmla="*/ 52 h 78"/>
                  <a:gd name="T16" fmla="*/ 94 w 96"/>
                  <a:gd name="T17" fmla="*/ 58 h 78"/>
                  <a:gd name="T18" fmla="*/ 89 w 96"/>
                  <a:gd name="T19" fmla="*/ 64 h 78"/>
                  <a:gd name="T20" fmla="*/ 74 w 96"/>
                  <a:gd name="T21" fmla="*/ 74 h 78"/>
                  <a:gd name="T22" fmla="*/ 53 w 96"/>
                  <a:gd name="T23" fmla="*/ 78 h 78"/>
                  <a:gd name="T24" fmla="*/ 31 w 96"/>
                  <a:gd name="T25" fmla="*/ 77 h 78"/>
                  <a:gd name="T26" fmla="*/ 15 w 96"/>
                  <a:gd name="T27" fmla="*/ 70 h 78"/>
                  <a:gd name="T28" fmla="*/ 5 w 96"/>
                  <a:gd name="T29" fmla="*/ 56 h 78"/>
                  <a:gd name="T30" fmla="*/ 0 w 96"/>
                  <a:gd name="T31" fmla="*/ 40 h 78"/>
                  <a:gd name="T32" fmla="*/ 2 w 96"/>
                  <a:gd name="T33" fmla="*/ 23 h 78"/>
                  <a:gd name="T34" fmla="*/ 9 w 96"/>
                  <a:gd name="T35" fmla="*/ 8 h 78"/>
                  <a:gd name="T36" fmla="*/ 15 w 96"/>
                  <a:gd name="T37" fmla="*/ 2 h 78"/>
                  <a:gd name="T38" fmla="*/ 22 w 96"/>
                  <a:gd name="T39" fmla="*/ 0 h 78"/>
                  <a:gd name="T40" fmla="*/ 31 w 96"/>
                  <a:gd name="T41" fmla="*/ 1 h 78"/>
                  <a:gd name="T42" fmla="*/ 41 w 96"/>
                  <a:gd name="T43" fmla="*/ 7 h 78"/>
                  <a:gd name="T44" fmla="*/ 50 w 96"/>
                  <a:gd name="T45" fmla="*/ 14 h 78"/>
                  <a:gd name="T46" fmla="*/ 52 w 96"/>
                  <a:gd name="T47" fmla="*/ 16 h 78"/>
                  <a:gd name="T48" fmla="*/ 50 w 96"/>
                  <a:gd name="T49" fmla="*/ 15 h 78"/>
                  <a:gd name="T50" fmla="*/ 51 w 96"/>
                  <a:gd name="T51" fmla="*/ 1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6" h="78">
                    <a:moveTo>
                      <a:pt x="50" y="15"/>
                    </a:moveTo>
                    <a:lnTo>
                      <a:pt x="46" y="14"/>
                    </a:lnTo>
                    <a:lnTo>
                      <a:pt x="50" y="15"/>
                    </a:lnTo>
                    <a:lnTo>
                      <a:pt x="57" y="20"/>
                    </a:lnTo>
                    <a:lnTo>
                      <a:pt x="67" y="25"/>
                    </a:lnTo>
                    <a:lnTo>
                      <a:pt x="86" y="38"/>
                    </a:lnTo>
                    <a:lnTo>
                      <a:pt x="93" y="45"/>
                    </a:lnTo>
                    <a:lnTo>
                      <a:pt x="96" y="52"/>
                    </a:lnTo>
                    <a:lnTo>
                      <a:pt x="94" y="58"/>
                    </a:lnTo>
                    <a:lnTo>
                      <a:pt x="89" y="64"/>
                    </a:lnTo>
                    <a:lnTo>
                      <a:pt x="74" y="74"/>
                    </a:lnTo>
                    <a:lnTo>
                      <a:pt x="53" y="78"/>
                    </a:lnTo>
                    <a:lnTo>
                      <a:pt x="31" y="77"/>
                    </a:lnTo>
                    <a:lnTo>
                      <a:pt x="15" y="70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2" y="23"/>
                    </a:lnTo>
                    <a:lnTo>
                      <a:pt x="9" y="8"/>
                    </a:lnTo>
                    <a:lnTo>
                      <a:pt x="15" y="2"/>
                    </a:lnTo>
                    <a:lnTo>
                      <a:pt x="22" y="0"/>
                    </a:lnTo>
                    <a:lnTo>
                      <a:pt x="31" y="1"/>
                    </a:lnTo>
                    <a:lnTo>
                      <a:pt x="41" y="7"/>
                    </a:lnTo>
                    <a:lnTo>
                      <a:pt x="50" y="14"/>
                    </a:lnTo>
                    <a:lnTo>
                      <a:pt x="52" y="16"/>
                    </a:lnTo>
                    <a:lnTo>
                      <a:pt x="50" y="15"/>
                    </a:lnTo>
                    <a:lnTo>
                      <a:pt x="51" y="1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9" name="Freeform 396"/>
              <p:cNvSpPr>
                <a:spLocks noChangeAspect="1" noChangeArrowheads="1"/>
              </p:cNvSpPr>
              <p:nvPr/>
            </p:nvSpPr>
            <p:spPr bwMode="auto">
              <a:xfrm>
                <a:off x="5144" y="2113"/>
                <a:ext cx="30" cy="28"/>
              </a:xfrm>
              <a:custGeom>
                <a:avLst/>
                <a:gdLst>
                  <a:gd name="T0" fmla="*/ 31 w 89"/>
                  <a:gd name="T1" fmla="*/ 0 h 76"/>
                  <a:gd name="T2" fmla="*/ 33 w 89"/>
                  <a:gd name="T3" fmla="*/ 6 h 76"/>
                  <a:gd name="T4" fmla="*/ 50 w 89"/>
                  <a:gd name="T5" fmla="*/ 8 h 76"/>
                  <a:gd name="T6" fmla="*/ 73 w 89"/>
                  <a:gd name="T7" fmla="*/ 12 h 76"/>
                  <a:gd name="T8" fmla="*/ 87 w 89"/>
                  <a:gd name="T9" fmla="*/ 22 h 76"/>
                  <a:gd name="T10" fmla="*/ 89 w 89"/>
                  <a:gd name="T11" fmla="*/ 37 h 76"/>
                  <a:gd name="T12" fmla="*/ 82 w 89"/>
                  <a:gd name="T13" fmla="*/ 54 h 76"/>
                  <a:gd name="T14" fmla="*/ 52 w 89"/>
                  <a:gd name="T15" fmla="*/ 76 h 76"/>
                  <a:gd name="T16" fmla="*/ 20 w 89"/>
                  <a:gd name="T17" fmla="*/ 73 h 76"/>
                  <a:gd name="T18" fmla="*/ 0 w 89"/>
                  <a:gd name="T19" fmla="*/ 52 h 76"/>
                  <a:gd name="T20" fmla="*/ 2 w 89"/>
                  <a:gd name="T21" fmla="*/ 37 h 76"/>
                  <a:gd name="T22" fmla="*/ 15 w 89"/>
                  <a:gd name="T23" fmla="*/ 18 h 76"/>
                  <a:gd name="T24" fmla="*/ 30 w 89"/>
                  <a:gd name="T25" fmla="*/ 1 h 76"/>
                  <a:gd name="T26" fmla="*/ 31 w 89"/>
                  <a:gd name="T27" fmla="*/ 0 h 76"/>
                  <a:gd name="T28" fmla="*/ 32 w 89"/>
                  <a:gd name="T2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9" h="76">
                    <a:moveTo>
                      <a:pt x="31" y="0"/>
                    </a:moveTo>
                    <a:lnTo>
                      <a:pt x="33" y="6"/>
                    </a:lnTo>
                    <a:lnTo>
                      <a:pt x="50" y="8"/>
                    </a:lnTo>
                    <a:lnTo>
                      <a:pt x="73" y="12"/>
                    </a:lnTo>
                    <a:lnTo>
                      <a:pt x="87" y="22"/>
                    </a:lnTo>
                    <a:lnTo>
                      <a:pt x="89" y="37"/>
                    </a:lnTo>
                    <a:lnTo>
                      <a:pt x="82" y="54"/>
                    </a:lnTo>
                    <a:lnTo>
                      <a:pt x="52" y="76"/>
                    </a:lnTo>
                    <a:lnTo>
                      <a:pt x="20" y="73"/>
                    </a:lnTo>
                    <a:lnTo>
                      <a:pt x="0" y="52"/>
                    </a:lnTo>
                    <a:lnTo>
                      <a:pt x="2" y="37"/>
                    </a:lnTo>
                    <a:lnTo>
                      <a:pt x="15" y="18"/>
                    </a:lnTo>
                    <a:lnTo>
                      <a:pt x="30" y="1"/>
                    </a:lnTo>
                    <a:lnTo>
                      <a:pt x="31" y="0"/>
                    </a:lnTo>
                    <a:lnTo>
                      <a:pt x="32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0" name="Freeform 397"/>
              <p:cNvSpPr>
                <a:spLocks noChangeAspect="1" noChangeArrowheads="1"/>
              </p:cNvSpPr>
              <p:nvPr/>
            </p:nvSpPr>
            <p:spPr bwMode="auto">
              <a:xfrm>
                <a:off x="5062" y="2239"/>
                <a:ext cx="11" cy="14"/>
              </a:xfrm>
              <a:custGeom>
                <a:avLst/>
                <a:gdLst>
                  <a:gd name="T0" fmla="*/ 1 w 33"/>
                  <a:gd name="T1" fmla="*/ 4 h 45"/>
                  <a:gd name="T2" fmla="*/ 0 w 33"/>
                  <a:gd name="T3" fmla="*/ 37 h 45"/>
                  <a:gd name="T4" fmla="*/ 10 w 33"/>
                  <a:gd name="T5" fmla="*/ 45 h 45"/>
                  <a:gd name="T6" fmla="*/ 25 w 33"/>
                  <a:gd name="T7" fmla="*/ 41 h 45"/>
                  <a:gd name="T8" fmla="*/ 33 w 33"/>
                  <a:gd name="T9" fmla="*/ 25 h 45"/>
                  <a:gd name="T10" fmla="*/ 30 w 33"/>
                  <a:gd name="T11" fmla="*/ 9 h 45"/>
                  <a:gd name="T12" fmla="*/ 15 w 33"/>
                  <a:gd name="T13" fmla="*/ 0 h 45"/>
                  <a:gd name="T14" fmla="*/ 1 w 33"/>
                  <a:gd name="T15" fmla="*/ 4 h 45"/>
                  <a:gd name="T16" fmla="*/ 2 w 33"/>
                  <a:gd name="T17" fmla="*/ 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1" y="4"/>
                    </a:moveTo>
                    <a:lnTo>
                      <a:pt x="0" y="37"/>
                    </a:lnTo>
                    <a:lnTo>
                      <a:pt x="10" y="45"/>
                    </a:lnTo>
                    <a:lnTo>
                      <a:pt x="25" y="41"/>
                    </a:lnTo>
                    <a:lnTo>
                      <a:pt x="33" y="25"/>
                    </a:lnTo>
                    <a:lnTo>
                      <a:pt x="30" y="9"/>
                    </a:lnTo>
                    <a:lnTo>
                      <a:pt x="15" y="0"/>
                    </a:lnTo>
                    <a:lnTo>
                      <a:pt x="1" y="4"/>
                    </a:lnTo>
                    <a:lnTo>
                      <a:pt x="2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1" name="Freeform 398"/>
              <p:cNvSpPr>
                <a:spLocks noChangeAspect="1" noChangeArrowheads="1"/>
              </p:cNvSpPr>
              <p:nvPr/>
            </p:nvSpPr>
            <p:spPr bwMode="auto">
              <a:xfrm>
                <a:off x="5116" y="2239"/>
                <a:ext cx="11" cy="16"/>
              </a:xfrm>
              <a:custGeom>
                <a:avLst/>
                <a:gdLst>
                  <a:gd name="T0" fmla="*/ 3 w 34"/>
                  <a:gd name="T1" fmla="*/ 5 h 46"/>
                  <a:gd name="T2" fmla="*/ 0 w 34"/>
                  <a:gd name="T3" fmla="*/ 21 h 46"/>
                  <a:gd name="T4" fmla="*/ 2 w 34"/>
                  <a:gd name="T5" fmla="*/ 37 h 46"/>
                  <a:gd name="T6" fmla="*/ 6 w 34"/>
                  <a:gd name="T7" fmla="*/ 43 h 46"/>
                  <a:gd name="T8" fmla="*/ 12 w 34"/>
                  <a:gd name="T9" fmla="*/ 46 h 46"/>
                  <a:gd name="T10" fmla="*/ 20 w 34"/>
                  <a:gd name="T11" fmla="*/ 45 h 46"/>
                  <a:gd name="T12" fmla="*/ 26 w 34"/>
                  <a:gd name="T13" fmla="*/ 41 h 46"/>
                  <a:gd name="T14" fmla="*/ 34 w 34"/>
                  <a:gd name="T15" fmla="*/ 26 h 46"/>
                  <a:gd name="T16" fmla="*/ 34 w 34"/>
                  <a:gd name="T17" fmla="*/ 17 h 46"/>
                  <a:gd name="T18" fmla="*/ 31 w 34"/>
                  <a:gd name="T19" fmla="*/ 9 h 46"/>
                  <a:gd name="T20" fmla="*/ 25 w 34"/>
                  <a:gd name="T21" fmla="*/ 3 h 46"/>
                  <a:gd name="T22" fmla="*/ 16 w 34"/>
                  <a:gd name="T23" fmla="*/ 0 h 46"/>
                  <a:gd name="T24" fmla="*/ 8 w 34"/>
                  <a:gd name="T25" fmla="*/ 1 h 46"/>
                  <a:gd name="T26" fmla="*/ 3 w 34"/>
                  <a:gd name="T27" fmla="*/ 5 h 46"/>
                  <a:gd name="T28" fmla="*/ 4 w 34"/>
                  <a:gd name="T2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46">
                    <a:moveTo>
                      <a:pt x="3" y="5"/>
                    </a:moveTo>
                    <a:lnTo>
                      <a:pt x="0" y="21"/>
                    </a:lnTo>
                    <a:lnTo>
                      <a:pt x="2" y="37"/>
                    </a:lnTo>
                    <a:lnTo>
                      <a:pt x="6" y="43"/>
                    </a:lnTo>
                    <a:lnTo>
                      <a:pt x="12" y="46"/>
                    </a:lnTo>
                    <a:lnTo>
                      <a:pt x="20" y="45"/>
                    </a:lnTo>
                    <a:lnTo>
                      <a:pt x="26" y="41"/>
                    </a:lnTo>
                    <a:lnTo>
                      <a:pt x="34" y="26"/>
                    </a:lnTo>
                    <a:lnTo>
                      <a:pt x="34" y="17"/>
                    </a:lnTo>
                    <a:lnTo>
                      <a:pt x="31" y="9"/>
                    </a:lnTo>
                    <a:lnTo>
                      <a:pt x="25" y="3"/>
                    </a:lnTo>
                    <a:lnTo>
                      <a:pt x="16" y="0"/>
                    </a:lnTo>
                    <a:lnTo>
                      <a:pt x="8" y="1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2" name="Freeform 399"/>
              <p:cNvSpPr>
                <a:spLocks noChangeAspect="1" noChangeArrowheads="1"/>
              </p:cNvSpPr>
              <p:nvPr/>
            </p:nvSpPr>
            <p:spPr bwMode="auto">
              <a:xfrm>
                <a:off x="5065" y="2116"/>
                <a:ext cx="10" cy="14"/>
              </a:xfrm>
              <a:custGeom>
                <a:avLst/>
                <a:gdLst>
                  <a:gd name="T0" fmla="*/ 1 w 33"/>
                  <a:gd name="T1" fmla="*/ 5 h 45"/>
                  <a:gd name="T2" fmla="*/ 0 w 33"/>
                  <a:gd name="T3" fmla="*/ 37 h 45"/>
                  <a:gd name="T4" fmla="*/ 12 w 33"/>
                  <a:gd name="T5" fmla="*/ 45 h 45"/>
                  <a:gd name="T6" fmla="*/ 26 w 33"/>
                  <a:gd name="T7" fmla="*/ 41 h 45"/>
                  <a:gd name="T8" fmla="*/ 33 w 33"/>
                  <a:gd name="T9" fmla="*/ 26 h 45"/>
                  <a:gd name="T10" fmla="*/ 30 w 33"/>
                  <a:gd name="T11" fmla="*/ 9 h 45"/>
                  <a:gd name="T12" fmla="*/ 16 w 33"/>
                  <a:gd name="T13" fmla="*/ 0 h 45"/>
                  <a:gd name="T14" fmla="*/ 1 w 33"/>
                  <a:gd name="T15" fmla="*/ 5 h 45"/>
                  <a:gd name="T16" fmla="*/ 3 w 33"/>
                  <a:gd name="T17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1" y="5"/>
                    </a:moveTo>
                    <a:lnTo>
                      <a:pt x="0" y="37"/>
                    </a:lnTo>
                    <a:lnTo>
                      <a:pt x="12" y="45"/>
                    </a:lnTo>
                    <a:lnTo>
                      <a:pt x="26" y="41"/>
                    </a:lnTo>
                    <a:lnTo>
                      <a:pt x="33" y="26"/>
                    </a:lnTo>
                    <a:lnTo>
                      <a:pt x="30" y="9"/>
                    </a:lnTo>
                    <a:lnTo>
                      <a:pt x="16" y="0"/>
                    </a:lnTo>
                    <a:lnTo>
                      <a:pt x="1" y="5"/>
                    </a:lnTo>
                    <a:lnTo>
                      <a:pt x="3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3" name="Freeform 400"/>
              <p:cNvSpPr>
                <a:spLocks noChangeAspect="1" noChangeArrowheads="1"/>
              </p:cNvSpPr>
              <p:nvPr/>
            </p:nvSpPr>
            <p:spPr bwMode="auto">
              <a:xfrm>
                <a:off x="4974" y="2149"/>
                <a:ext cx="11" cy="11"/>
              </a:xfrm>
              <a:custGeom>
                <a:avLst/>
                <a:gdLst>
                  <a:gd name="T0" fmla="*/ 4 w 33"/>
                  <a:gd name="T1" fmla="*/ 0 h 36"/>
                  <a:gd name="T2" fmla="*/ 0 w 33"/>
                  <a:gd name="T3" fmla="*/ 29 h 36"/>
                  <a:gd name="T4" fmla="*/ 9 w 33"/>
                  <a:gd name="T5" fmla="*/ 36 h 36"/>
                  <a:gd name="T6" fmla="*/ 23 w 33"/>
                  <a:gd name="T7" fmla="*/ 31 h 36"/>
                  <a:gd name="T8" fmla="*/ 33 w 33"/>
                  <a:gd name="T9" fmla="*/ 22 h 36"/>
                  <a:gd name="T10" fmla="*/ 30 w 33"/>
                  <a:gd name="T11" fmla="*/ 11 h 36"/>
                  <a:gd name="T12" fmla="*/ 16 w 33"/>
                  <a:gd name="T13" fmla="*/ 0 h 36"/>
                  <a:gd name="T14" fmla="*/ 4 w 33"/>
                  <a:gd name="T15" fmla="*/ 0 h 36"/>
                  <a:gd name="T16" fmla="*/ 5 w 33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6">
                    <a:moveTo>
                      <a:pt x="4" y="0"/>
                    </a:moveTo>
                    <a:lnTo>
                      <a:pt x="0" y="29"/>
                    </a:lnTo>
                    <a:lnTo>
                      <a:pt x="9" y="36"/>
                    </a:lnTo>
                    <a:lnTo>
                      <a:pt x="23" y="31"/>
                    </a:lnTo>
                    <a:lnTo>
                      <a:pt x="33" y="22"/>
                    </a:lnTo>
                    <a:lnTo>
                      <a:pt x="30" y="11"/>
                    </a:lnTo>
                    <a:lnTo>
                      <a:pt x="16" y="0"/>
                    </a:lnTo>
                    <a:lnTo>
                      <a:pt x="4" y="0"/>
                    </a:lnTo>
                    <a:lnTo>
                      <a:pt x="5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4" name="Freeform 401"/>
              <p:cNvSpPr>
                <a:spLocks noChangeAspect="1" noChangeArrowheads="1"/>
              </p:cNvSpPr>
              <p:nvPr/>
            </p:nvSpPr>
            <p:spPr bwMode="auto">
              <a:xfrm>
                <a:off x="5013" y="2179"/>
                <a:ext cx="8" cy="11"/>
              </a:xfrm>
              <a:custGeom>
                <a:avLst/>
                <a:gdLst>
                  <a:gd name="T0" fmla="*/ 0 w 29"/>
                  <a:gd name="T1" fmla="*/ 26 h 36"/>
                  <a:gd name="T2" fmla="*/ 12 w 29"/>
                  <a:gd name="T3" fmla="*/ 33 h 36"/>
                  <a:gd name="T4" fmla="*/ 23 w 29"/>
                  <a:gd name="T5" fmla="*/ 36 h 36"/>
                  <a:gd name="T6" fmla="*/ 27 w 29"/>
                  <a:gd name="T7" fmla="*/ 33 h 36"/>
                  <a:gd name="T8" fmla="*/ 29 w 29"/>
                  <a:gd name="T9" fmla="*/ 29 h 36"/>
                  <a:gd name="T10" fmla="*/ 27 w 29"/>
                  <a:gd name="T11" fmla="*/ 14 h 36"/>
                  <a:gd name="T12" fmla="*/ 18 w 29"/>
                  <a:gd name="T13" fmla="*/ 3 h 36"/>
                  <a:gd name="T14" fmla="*/ 13 w 29"/>
                  <a:gd name="T15" fmla="*/ 0 h 36"/>
                  <a:gd name="T16" fmla="*/ 10 w 29"/>
                  <a:gd name="T17" fmla="*/ 2 h 36"/>
                  <a:gd name="T18" fmla="*/ 0 w 29"/>
                  <a:gd name="T19" fmla="*/ 26 h 36"/>
                  <a:gd name="T20" fmla="*/ 1 w 29"/>
                  <a:gd name="T21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36">
                    <a:moveTo>
                      <a:pt x="0" y="26"/>
                    </a:moveTo>
                    <a:lnTo>
                      <a:pt x="12" y="33"/>
                    </a:lnTo>
                    <a:lnTo>
                      <a:pt x="23" y="36"/>
                    </a:lnTo>
                    <a:lnTo>
                      <a:pt x="27" y="33"/>
                    </a:lnTo>
                    <a:lnTo>
                      <a:pt x="29" y="29"/>
                    </a:lnTo>
                    <a:lnTo>
                      <a:pt x="27" y="14"/>
                    </a:lnTo>
                    <a:lnTo>
                      <a:pt x="18" y="3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0" y="26"/>
                    </a:lnTo>
                    <a:lnTo>
                      <a:pt x="1" y="26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5" name="Freeform 402"/>
              <p:cNvSpPr>
                <a:spLocks noChangeAspect="1" noChangeArrowheads="1"/>
              </p:cNvSpPr>
              <p:nvPr/>
            </p:nvSpPr>
            <p:spPr bwMode="auto">
              <a:xfrm>
                <a:off x="4969" y="2198"/>
                <a:ext cx="8" cy="14"/>
              </a:xfrm>
              <a:custGeom>
                <a:avLst/>
                <a:gdLst>
                  <a:gd name="T0" fmla="*/ 0 w 29"/>
                  <a:gd name="T1" fmla="*/ 30 h 39"/>
                  <a:gd name="T2" fmla="*/ 16 w 29"/>
                  <a:gd name="T3" fmla="*/ 3 h 39"/>
                  <a:gd name="T4" fmla="*/ 24 w 29"/>
                  <a:gd name="T5" fmla="*/ 0 h 39"/>
                  <a:gd name="T6" fmla="*/ 29 w 29"/>
                  <a:gd name="T7" fmla="*/ 11 h 39"/>
                  <a:gd name="T8" fmla="*/ 23 w 29"/>
                  <a:gd name="T9" fmla="*/ 38 h 39"/>
                  <a:gd name="T10" fmla="*/ 8 w 29"/>
                  <a:gd name="T11" fmla="*/ 39 h 39"/>
                  <a:gd name="T12" fmla="*/ 0 w 29"/>
                  <a:gd name="T13" fmla="*/ 30 h 39"/>
                  <a:gd name="T14" fmla="*/ 1 w 29"/>
                  <a:gd name="T15" fmla="*/ 3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9">
                    <a:moveTo>
                      <a:pt x="0" y="30"/>
                    </a:moveTo>
                    <a:lnTo>
                      <a:pt x="16" y="3"/>
                    </a:lnTo>
                    <a:lnTo>
                      <a:pt x="24" y="0"/>
                    </a:lnTo>
                    <a:lnTo>
                      <a:pt x="29" y="11"/>
                    </a:lnTo>
                    <a:lnTo>
                      <a:pt x="23" y="38"/>
                    </a:lnTo>
                    <a:lnTo>
                      <a:pt x="8" y="39"/>
                    </a:lnTo>
                    <a:lnTo>
                      <a:pt x="0" y="30"/>
                    </a:lnTo>
                    <a:lnTo>
                      <a:pt x="1" y="3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6" name="Freeform 403"/>
              <p:cNvSpPr>
                <a:spLocks noChangeAspect="1" noChangeArrowheads="1"/>
              </p:cNvSpPr>
              <p:nvPr/>
            </p:nvSpPr>
            <p:spPr bwMode="auto">
              <a:xfrm>
                <a:off x="4966" y="2236"/>
                <a:ext cx="6" cy="6"/>
              </a:xfrm>
              <a:custGeom>
                <a:avLst/>
                <a:gdLst>
                  <a:gd name="T0" fmla="*/ 17 w 18"/>
                  <a:gd name="T1" fmla="*/ 7 h 15"/>
                  <a:gd name="T2" fmla="*/ 15 w 18"/>
                  <a:gd name="T3" fmla="*/ 2 h 15"/>
                  <a:gd name="T4" fmla="*/ 9 w 18"/>
                  <a:gd name="T5" fmla="*/ 0 h 15"/>
                  <a:gd name="T6" fmla="*/ 2 w 18"/>
                  <a:gd name="T7" fmla="*/ 2 h 15"/>
                  <a:gd name="T8" fmla="*/ 0 w 18"/>
                  <a:gd name="T9" fmla="*/ 7 h 15"/>
                  <a:gd name="T10" fmla="*/ 2 w 18"/>
                  <a:gd name="T11" fmla="*/ 13 h 15"/>
                  <a:gd name="T12" fmla="*/ 9 w 18"/>
                  <a:gd name="T13" fmla="*/ 15 h 15"/>
                  <a:gd name="T14" fmla="*/ 15 w 18"/>
                  <a:gd name="T15" fmla="*/ 13 h 15"/>
                  <a:gd name="T16" fmla="*/ 17 w 18"/>
                  <a:gd name="T17" fmla="*/ 7 h 15"/>
                  <a:gd name="T18" fmla="*/ 18 w 18"/>
                  <a:gd name="T1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5">
                    <a:moveTo>
                      <a:pt x="17" y="7"/>
                    </a:moveTo>
                    <a:lnTo>
                      <a:pt x="15" y="2"/>
                    </a:lnTo>
                    <a:lnTo>
                      <a:pt x="9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2" y="13"/>
                    </a:lnTo>
                    <a:lnTo>
                      <a:pt x="9" y="15"/>
                    </a:lnTo>
                    <a:lnTo>
                      <a:pt x="15" y="13"/>
                    </a:lnTo>
                    <a:lnTo>
                      <a:pt x="17" y="7"/>
                    </a:lnTo>
                    <a:lnTo>
                      <a:pt x="18" y="7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7" name="Freeform 404"/>
              <p:cNvSpPr>
                <a:spLocks noChangeAspect="1" noChangeArrowheads="1"/>
              </p:cNvSpPr>
              <p:nvPr/>
            </p:nvSpPr>
            <p:spPr bwMode="auto">
              <a:xfrm>
                <a:off x="4974" y="2250"/>
                <a:ext cx="6" cy="5"/>
              </a:xfrm>
              <a:custGeom>
                <a:avLst/>
                <a:gdLst>
                  <a:gd name="T0" fmla="*/ 16 w 17"/>
                  <a:gd name="T1" fmla="*/ 9 h 17"/>
                  <a:gd name="T2" fmla="*/ 13 w 17"/>
                  <a:gd name="T3" fmla="*/ 2 h 17"/>
                  <a:gd name="T4" fmla="*/ 8 w 17"/>
                  <a:gd name="T5" fmla="*/ 0 h 17"/>
                  <a:gd name="T6" fmla="*/ 2 w 17"/>
                  <a:gd name="T7" fmla="*/ 2 h 17"/>
                  <a:gd name="T8" fmla="*/ 0 w 17"/>
                  <a:gd name="T9" fmla="*/ 9 h 17"/>
                  <a:gd name="T10" fmla="*/ 2 w 17"/>
                  <a:gd name="T11" fmla="*/ 14 h 17"/>
                  <a:gd name="T12" fmla="*/ 8 w 17"/>
                  <a:gd name="T13" fmla="*/ 17 h 17"/>
                  <a:gd name="T14" fmla="*/ 13 w 17"/>
                  <a:gd name="T15" fmla="*/ 14 h 17"/>
                  <a:gd name="T16" fmla="*/ 16 w 17"/>
                  <a:gd name="T17" fmla="*/ 9 h 17"/>
                  <a:gd name="T18" fmla="*/ 17 w 17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9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9"/>
                    </a:lnTo>
                    <a:lnTo>
                      <a:pt x="2" y="14"/>
                    </a:lnTo>
                    <a:lnTo>
                      <a:pt x="8" y="17"/>
                    </a:lnTo>
                    <a:lnTo>
                      <a:pt x="13" y="14"/>
                    </a:lnTo>
                    <a:lnTo>
                      <a:pt x="16" y="9"/>
                    </a:lnTo>
                    <a:lnTo>
                      <a:pt x="17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8" name="Freeform 405"/>
              <p:cNvSpPr>
                <a:spLocks noChangeAspect="1" noChangeArrowheads="1"/>
              </p:cNvSpPr>
              <p:nvPr/>
            </p:nvSpPr>
            <p:spPr bwMode="auto">
              <a:xfrm>
                <a:off x="5149" y="2086"/>
                <a:ext cx="6" cy="5"/>
              </a:xfrm>
              <a:custGeom>
                <a:avLst/>
                <a:gdLst>
                  <a:gd name="T0" fmla="*/ 16 w 17"/>
                  <a:gd name="T1" fmla="*/ 9 h 17"/>
                  <a:gd name="T2" fmla="*/ 14 w 17"/>
                  <a:gd name="T3" fmla="*/ 3 h 17"/>
                  <a:gd name="T4" fmla="*/ 8 w 17"/>
                  <a:gd name="T5" fmla="*/ 0 h 17"/>
                  <a:gd name="T6" fmla="*/ 3 w 17"/>
                  <a:gd name="T7" fmla="*/ 3 h 17"/>
                  <a:gd name="T8" fmla="*/ 0 w 17"/>
                  <a:gd name="T9" fmla="*/ 9 h 17"/>
                  <a:gd name="T10" fmla="*/ 3 w 17"/>
                  <a:gd name="T11" fmla="*/ 14 h 17"/>
                  <a:gd name="T12" fmla="*/ 8 w 17"/>
                  <a:gd name="T13" fmla="*/ 17 h 17"/>
                  <a:gd name="T14" fmla="*/ 14 w 17"/>
                  <a:gd name="T15" fmla="*/ 14 h 17"/>
                  <a:gd name="T16" fmla="*/ 16 w 17"/>
                  <a:gd name="T17" fmla="*/ 9 h 17"/>
                  <a:gd name="T18" fmla="*/ 17 w 17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9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3" y="3"/>
                    </a:lnTo>
                    <a:lnTo>
                      <a:pt x="0" y="9"/>
                    </a:lnTo>
                    <a:lnTo>
                      <a:pt x="3" y="14"/>
                    </a:lnTo>
                    <a:lnTo>
                      <a:pt x="8" y="17"/>
                    </a:lnTo>
                    <a:lnTo>
                      <a:pt x="14" y="14"/>
                    </a:lnTo>
                    <a:lnTo>
                      <a:pt x="16" y="9"/>
                    </a:lnTo>
                    <a:lnTo>
                      <a:pt x="17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9" name="Freeform 406"/>
              <p:cNvSpPr>
                <a:spLocks noChangeAspect="1" noChangeArrowheads="1"/>
              </p:cNvSpPr>
              <p:nvPr/>
            </p:nvSpPr>
            <p:spPr bwMode="auto">
              <a:xfrm>
                <a:off x="5152" y="2110"/>
                <a:ext cx="5" cy="6"/>
              </a:xfrm>
              <a:custGeom>
                <a:avLst/>
                <a:gdLst>
                  <a:gd name="T0" fmla="*/ 16 w 17"/>
                  <a:gd name="T1" fmla="*/ 8 h 16"/>
                  <a:gd name="T2" fmla="*/ 14 w 17"/>
                  <a:gd name="T3" fmla="*/ 2 h 16"/>
                  <a:gd name="T4" fmla="*/ 8 w 17"/>
                  <a:gd name="T5" fmla="*/ 0 h 16"/>
                  <a:gd name="T6" fmla="*/ 3 w 17"/>
                  <a:gd name="T7" fmla="*/ 2 h 16"/>
                  <a:gd name="T8" fmla="*/ 0 w 17"/>
                  <a:gd name="T9" fmla="*/ 8 h 16"/>
                  <a:gd name="T10" fmla="*/ 3 w 17"/>
                  <a:gd name="T11" fmla="*/ 13 h 16"/>
                  <a:gd name="T12" fmla="*/ 8 w 17"/>
                  <a:gd name="T13" fmla="*/ 16 h 16"/>
                  <a:gd name="T14" fmla="*/ 14 w 17"/>
                  <a:gd name="T15" fmla="*/ 13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8" y="16"/>
                    </a:lnTo>
                    <a:lnTo>
                      <a:pt x="14" y="13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0" name="Freeform 407"/>
              <p:cNvSpPr>
                <a:spLocks noChangeAspect="1" noChangeArrowheads="1"/>
              </p:cNvSpPr>
              <p:nvPr/>
            </p:nvSpPr>
            <p:spPr bwMode="auto">
              <a:xfrm>
                <a:off x="5155" y="2165"/>
                <a:ext cx="5" cy="6"/>
              </a:xfrm>
              <a:custGeom>
                <a:avLst/>
                <a:gdLst>
                  <a:gd name="T0" fmla="*/ 15 w 16"/>
                  <a:gd name="T1" fmla="*/ 8 h 17"/>
                  <a:gd name="T2" fmla="*/ 13 w 16"/>
                  <a:gd name="T3" fmla="*/ 2 h 17"/>
                  <a:gd name="T4" fmla="*/ 7 w 16"/>
                  <a:gd name="T5" fmla="*/ 0 h 17"/>
                  <a:gd name="T6" fmla="*/ 2 w 16"/>
                  <a:gd name="T7" fmla="*/ 2 h 17"/>
                  <a:gd name="T8" fmla="*/ 0 w 16"/>
                  <a:gd name="T9" fmla="*/ 8 h 17"/>
                  <a:gd name="T10" fmla="*/ 2 w 16"/>
                  <a:gd name="T11" fmla="*/ 14 h 17"/>
                  <a:gd name="T12" fmla="*/ 7 w 16"/>
                  <a:gd name="T13" fmla="*/ 17 h 17"/>
                  <a:gd name="T14" fmla="*/ 13 w 16"/>
                  <a:gd name="T15" fmla="*/ 14 h 17"/>
                  <a:gd name="T16" fmla="*/ 15 w 16"/>
                  <a:gd name="T17" fmla="*/ 8 h 17"/>
                  <a:gd name="T18" fmla="*/ 16 w 16"/>
                  <a:gd name="T1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7">
                    <a:moveTo>
                      <a:pt x="15" y="8"/>
                    </a:moveTo>
                    <a:lnTo>
                      <a:pt x="13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7" y="17"/>
                    </a:lnTo>
                    <a:lnTo>
                      <a:pt x="13" y="14"/>
                    </a:lnTo>
                    <a:lnTo>
                      <a:pt x="15" y="8"/>
                    </a:lnTo>
                    <a:lnTo>
                      <a:pt x="16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1" name="Freeform 408"/>
              <p:cNvSpPr>
                <a:spLocks noChangeAspect="1" noChangeArrowheads="1"/>
              </p:cNvSpPr>
              <p:nvPr/>
            </p:nvSpPr>
            <p:spPr bwMode="auto">
              <a:xfrm>
                <a:off x="5111" y="2165"/>
                <a:ext cx="5" cy="6"/>
              </a:xfrm>
              <a:custGeom>
                <a:avLst/>
                <a:gdLst>
                  <a:gd name="T0" fmla="*/ 16 w 17"/>
                  <a:gd name="T1" fmla="*/ 8 h 17"/>
                  <a:gd name="T2" fmla="*/ 14 w 17"/>
                  <a:gd name="T3" fmla="*/ 2 h 17"/>
                  <a:gd name="T4" fmla="*/ 9 w 17"/>
                  <a:gd name="T5" fmla="*/ 0 h 17"/>
                  <a:gd name="T6" fmla="*/ 2 w 17"/>
                  <a:gd name="T7" fmla="*/ 2 h 17"/>
                  <a:gd name="T8" fmla="*/ 0 w 17"/>
                  <a:gd name="T9" fmla="*/ 8 h 17"/>
                  <a:gd name="T10" fmla="*/ 2 w 17"/>
                  <a:gd name="T11" fmla="*/ 14 h 17"/>
                  <a:gd name="T12" fmla="*/ 9 w 17"/>
                  <a:gd name="T13" fmla="*/ 17 h 17"/>
                  <a:gd name="T14" fmla="*/ 14 w 17"/>
                  <a:gd name="T15" fmla="*/ 14 h 17"/>
                  <a:gd name="T16" fmla="*/ 16 w 17"/>
                  <a:gd name="T17" fmla="*/ 8 h 17"/>
                  <a:gd name="T18" fmla="*/ 17 w 17"/>
                  <a:gd name="T1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8"/>
                    </a:moveTo>
                    <a:lnTo>
                      <a:pt x="14" y="2"/>
                    </a:lnTo>
                    <a:lnTo>
                      <a:pt x="9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9" y="17"/>
                    </a:lnTo>
                    <a:lnTo>
                      <a:pt x="14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2" name="Freeform 409"/>
              <p:cNvSpPr>
                <a:spLocks noChangeAspect="1" noChangeArrowheads="1"/>
              </p:cNvSpPr>
              <p:nvPr/>
            </p:nvSpPr>
            <p:spPr bwMode="auto">
              <a:xfrm>
                <a:off x="5100" y="2209"/>
                <a:ext cx="6" cy="5"/>
              </a:xfrm>
              <a:custGeom>
                <a:avLst/>
                <a:gdLst>
                  <a:gd name="T0" fmla="*/ 16 w 17"/>
                  <a:gd name="T1" fmla="*/ 8 h 16"/>
                  <a:gd name="T2" fmla="*/ 14 w 17"/>
                  <a:gd name="T3" fmla="*/ 3 h 16"/>
                  <a:gd name="T4" fmla="*/ 8 w 17"/>
                  <a:gd name="T5" fmla="*/ 0 h 16"/>
                  <a:gd name="T6" fmla="*/ 3 w 17"/>
                  <a:gd name="T7" fmla="*/ 3 h 16"/>
                  <a:gd name="T8" fmla="*/ 0 w 17"/>
                  <a:gd name="T9" fmla="*/ 8 h 16"/>
                  <a:gd name="T10" fmla="*/ 3 w 17"/>
                  <a:gd name="T11" fmla="*/ 14 h 16"/>
                  <a:gd name="T12" fmla="*/ 8 w 17"/>
                  <a:gd name="T13" fmla="*/ 16 h 16"/>
                  <a:gd name="T14" fmla="*/ 14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3" y="14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3" name="Freeform 410"/>
              <p:cNvSpPr>
                <a:spLocks noChangeAspect="1" noChangeArrowheads="1"/>
              </p:cNvSpPr>
              <p:nvPr/>
            </p:nvSpPr>
            <p:spPr bwMode="auto">
              <a:xfrm>
                <a:off x="5092" y="2242"/>
                <a:ext cx="3" cy="2"/>
              </a:xfrm>
              <a:custGeom>
                <a:avLst/>
                <a:gdLst>
                  <a:gd name="T0" fmla="*/ 5 w 6"/>
                  <a:gd name="T1" fmla="*/ 3 h 6"/>
                  <a:gd name="T2" fmla="*/ 5 w 6"/>
                  <a:gd name="T3" fmla="*/ 1 h 6"/>
                  <a:gd name="T4" fmla="*/ 3 w 6"/>
                  <a:gd name="T5" fmla="*/ 0 h 6"/>
                  <a:gd name="T6" fmla="*/ 1 w 6"/>
                  <a:gd name="T7" fmla="*/ 1 h 6"/>
                  <a:gd name="T8" fmla="*/ 0 w 6"/>
                  <a:gd name="T9" fmla="*/ 3 h 6"/>
                  <a:gd name="T10" fmla="*/ 1 w 6"/>
                  <a:gd name="T11" fmla="*/ 5 h 6"/>
                  <a:gd name="T12" fmla="*/ 3 w 6"/>
                  <a:gd name="T13" fmla="*/ 6 h 6"/>
                  <a:gd name="T14" fmla="*/ 5 w 6"/>
                  <a:gd name="T15" fmla="*/ 5 h 6"/>
                  <a:gd name="T16" fmla="*/ 5 w 6"/>
                  <a:gd name="T17" fmla="*/ 3 h 6"/>
                  <a:gd name="T18" fmla="*/ 6 w 6"/>
                  <a:gd name="T1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5" y="3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6" y="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4" name="Freeform 411"/>
              <p:cNvSpPr>
                <a:spLocks noChangeAspect="1" noChangeArrowheads="1"/>
              </p:cNvSpPr>
              <p:nvPr/>
            </p:nvSpPr>
            <p:spPr bwMode="auto">
              <a:xfrm>
                <a:off x="4980" y="2280"/>
                <a:ext cx="5" cy="5"/>
              </a:xfrm>
              <a:custGeom>
                <a:avLst/>
                <a:gdLst>
                  <a:gd name="T0" fmla="*/ 17 w 18"/>
                  <a:gd name="T1" fmla="*/ 9 h 17"/>
                  <a:gd name="T2" fmla="*/ 14 w 18"/>
                  <a:gd name="T3" fmla="*/ 2 h 17"/>
                  <a:gd name="T4" fmla="*/ 8 w 18"/>
                  <a:gd name="T5" fmla="*/ 0 h 17"/>
                  <a:gd name="T6" fmla="*/ 2 w 18"/>
                  <a:gd name="T7" fmla="*/ 2 h 17"/>
                  <a:gd name="T8" fmla="*/ 0 w 18"/>
                  <a:gd name="T9" fmla="*/ 9 h 17"/>
                  <a:gd name="T10" fmla="*/ 2 w 18"/>
                  <a:gd name="T11" fmla="*/ 15 h 17"/>
                  <a:gd name="T12" fmla="*/ 8 w 18"/>
                  <a:gd name="T13" fmla="*/ 17 h 17"/>
                  <a:gd name="T14" fmla="*/ 14 w 18"/>
                  <a:gd name="T15" fmla="*/ 15 h 17"/>
                  <a:gd name="T16" fmla="*/ 17 w 18"/>
                  <a:gd name="T17" fmla="*/ 9 h 17"/>
                  <a:gd name="T18" fmla="*/ 18 w 18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17" y="9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9"/>
                    </a:lnTo>
                    <a:lnTo>
                      <a:pt x="2" y="15"/>
                    </a:lnTo>
                    <a:lnTo>
                      <a:pt x="8" y="17"/>
                    </a:lnTo>
                    <a:lnTo>
                      <a:pt x="14" y="15"/>
                    </a:lnTo>
                    <a:lnTo>
                      <a:pt x="17" y="9"/>
                    </a:lnTo>
                    <a:lnTo>
                      <a:pt x="18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5" name="Freeform 412"/>
              <p:cNvSpPr>
                <a:spLocks noChangeAspect="1" noChangeArrowheads="1"/>
              </p:cNvSpPr>
              <p:nvPr/>
            </p:nvSpPr>
            <p:spPr bwMode="auto">
              <a:xfrm>
                <a:off x="5152" y="2110"/>
                <a:ext cx="5" cy="6"/>
              </a:xfrm>
              <a:custGeom>
                <a:avLst/>
                <a:gdLst>
                  <a:gd name="T0" fmla="*/ 16 w 17"/>
                  <a:gd name="T1" fmla="*/ 8 h 16"/>
                  <a:gd name="T2" fmla="*/ 14 w 17"/>
                  <a:gd name="T3" fmla="*/ 2 h 16"/>
                  <a:gd name="T4" fmla="*/ 8 w 17"/>
                  <a:gd name="T5" fmla="*/ 0 h 16"/>
                  <a:gd name="T6" fmla="*/ 3 w 17"/>
                  <a:gd name="T7" fmla="*/ 2 h 16"/>
                  <a:gd name="T8" fmla="*/ 0 w 17"/>
                  <a:gd name="T9" fmla="*/ 8 h 16"/>
                  <a:gd name="T10" fmla="*/ 3 w 17"/>
                  <a:gd name="T11" fmla="*/ 13 h 16"/>
                  <a:gd name="T12" fmla="*/ 8 w 17"/>
                  <a:gd name="T13" fmla="*/ 16 h 16"/>
                  <a:gd name="T14" fmla="*/ 14 w 17"/>
                  <a:gd name="T15" fmla="*/ 13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8" y="16"/>
                    </a:lnTo>
                    <a:lnTo>
                      <a:pt x="14" y="13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6" name="Freeform 413"/>
              <p:cNvSpPr>
                <a:spLocks noChangeAspect="1" noChangeArrowheads="1"/>
              </p:cNvSpPr>
              <p:nvPr/>
            </p:nvSpPr>
            <p:spPr bwMode="auto">
              <a:xfrm>
                <a:off x="5127" y="2058"/>
                <a:ext cx="6" cy="6"/>
              </a:xfrm>
              <a:custGeom>
                <a:avLst/>
                <a:gdLst>
                  <a:gd name="T0" fmla="*/ 17 w 18"/>
                  <a:gd name="T1" fmla="*/ 8 h 16"/>
                  <a:gd name="T2" fmla="*/ 15 w 18"/>
                  <a:gd name="T3" fmla="*/ 3 h 16"/>
                  <a:gd name="T4" fmla="*/ 9 w 18"/>
                  <a:gd name="T5" fmla="*/ 0 h 16"/>
                  <a:gd name="T6" fmla="*/ 3 w 18"/>
                  <a:gd name="T7" fmla="*/ 3 h 16"/>
                  <a:gd name="T8" fmla="*/ 0 w 18"/>
                  <a:gd name="T9" fmla="*/ 8 h 16"/>
                  <a:gd name="T10" fmla="*/ 3 w 18"/>
                  <a:gd name="T11" fmla="*/ 14 h 16"/>
                  <a:gd name="T12" fmla="*/ 9 w 18"/>
                  <a:gd name="T13" fmla="*/ 16 h 16"/>
                  <a:gd name="T14" fmla="*/ 15 w 18"/>
                  <a:gd name="T15" fmla="*/ 14 h 16"/>
                  <a:gd name="T16" fmla="*/ 17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7" y="8"/>
                    </a:moveTo>
                    <a:lnTo>
                      <a:pt x="15" y="3"/>
                    </a:lnTo>
                    <a:lnTo>
                      <a:pt x="9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3" y="14"/>
                    </a:lnTo>
                    <a:lnTo>
                      <a:pt x="9" y="16"/>
                    </a:lnTo>
                    <a:lnTo>
                      <a:pt x="15" y="14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7" name="Freeform 414"/>
              <p:cNvSpPr>
                <a:spLocks noChangeAspect="1" noChangeArrowheads="1"/>
              </p:cNvSpPr>
              <p:nvPr/>
            </p:nvSpPr>
            <p:spPr bwMode="auto">
              <a:xfrm>
                <a:off x="5089" y="2050"/>
                <a:ext cx="6" cy="6"/>
              </a:xfrm>
              <a:custGeom>
                <a:avLst/>
                <a:gdLst>
                  <a:gd name="T0" fmla="*/ 15 w 16"/>
                  <a:gd name="T1" fmla="*/ 9 h 16"/>
                  <a:gd name="T2" fmla="*/ 13 w 16"/>
                  <a:gd name="T3" fmla="*/ 2 h 16"/>
                  <a:gd name="T4" fmla="*/ 8 w 16"/>
                  <a:gd name="T5" fmla="*/ 0 h 16"/>
                  <a:gd name="T6" fmla="*/ 2 w 16"/>
                  <a:gd name="T7" fmla="*/ 2 h 16"/>
                  <a:gd name="T8" fmla="*/ 0 w 16"/>
                  <a:gd name="T9" fmla="*/ 9 h 16"/>
                  <a:gd name="T10" fmla="*/ 2 w 16"/>
                  <a:gd name="T11" fmla="*/ 14 h 16"/>
                  <a:gd name="T12" fmla="*/ 8 w 16"/>
                  <a:gd name="T13" fmla="*/ 16 h 16"/>
                  <a:gd name="T14" fmla="*/ 13 w 16"/>
                  <a:gd name="T15" fmla="*/ 14 h 16"/>
                  <a:gd name="T16" fmla="*/ 15 w 16"/>
                  <a:gd name="T17" fmla="*/ 9 h 16"/>
                  <a:gd name="T18" fmla="*/ 16 w 16"/>
                  <a:gd name="T19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15" y="9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9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3" y="14"/>
                    </a:lnTo>
                    <a:lnTo>
                      <a:pt x="15" y="9"/>
                    </a:lnTo>
                    <a:lnTo>
                      <a:pt x="16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8" name="Freeform 415"/>
              <p:cNvSpPr>
                <a:spLocks noChangeAspect="1" noChangeArrowheads="1"/>
              </p:cNvSpPr>
              <p:nvPr/>
            </p:nvSpPr>
            <p:spPr bwMode="auto">
              <a:xfrm>
                <a:off x="5078" y="2050"/>
                <a:ext cx="6" cy="6"/>
              </a:xfrm>
              <a:custGeom>
                <a:avLst/>
                <a:gdLst>
                  <a:gd name="T0" fmla="*/ 17 w 18"/>
                  <a:gd name="T1" fmla="*/ 8 h 17"/>
                  <a:gd name="T2" fmla="*/ 15 w 18"/>
                  <a:gd name="T3" fmla="*/ 2 h 17"/>
                  <a:gd name="T4" fmla="*/ 9 w 18"/>
                  <a:gd name="T5" fmla="*/ 0 h 17"/>
                  <a:gd name="T6" fmla="*/ 3 w 18"/>
                  <a:gd name="T7" fmla="*/ 2 h 17"/>
                  <a:gd name="T8" fmla="*/ 0 w 18"/>
                  <a:gd name="T9" fmla="*/ 8 h 17"/>
                  <a:gd name="T10" fmla="*/ 3 w 18"/>
                  <a:gd name="T11" fmla="*/ 14 h 17"/>
                  <a:gd name="T12" fmla="*/ 9 w 18"/>
                  <a:gd name="T13" fmla="*/ 17 h 17"/>
                  <a:gd name="T14" fmla="*/ 15 w 18"/>
                  <a:gd name="T15" fmla="*/ 14 h 17"/>
                  <a:gd name="T16" fmla="*/ 17 w 18"/>
                  <a:gd name="T17" fmla="*/ 8 h 17"/>
                  <a:gd name="T18" fmla="*/ 18 w 18"/>
                  <a:gd name="T1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17" y="8"/>
                    </a:moveTo>
                    <a:lnTo>
                      <a:pt x="15" y="2"/>
                    </a:lnTo>
                    <a:lnTo>
                      <a:pt x="9" y="0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3" y="14"/>
                    </a:lnTo>
                    <a:lnTo>
                      <a:pt x="9" y="17"/>
                    </a:lnTo>
                    <a:lnTo>
                      <a:pt x="15" y="14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9" name="Freeform 416"/>
              <p:cNvSpPr>
                <a:spLocks noChangeAspect="1" noChangeArrowheads="1"/>
              </p:cNvSpPr>
              <p:nvPr/>
            </p:nvSpPr>
            <p:spPr bwMode="auto">
              <a:xfrm>
                <a:off x="5059" y="2050"/>
                <a:ext cx="6" cy="6"/>
              </a:xfrm>
              <a:custGeom>
                <a:avLst/>
                <a:gdLst>
                  <a:gd name="T0" fmla="*/ 16 w 17"/>
                  <a:gd name="T1" fmla="*/ 8 h 17"/>
                  <a:gd name="T2" fmla="*/ 14 w 17"/>
                  <a:gd name="T3" fmla="*/ 2 h 17"/>
                  <a:gd name="T4" fmla="*/ 8 w 17"/>
                  <a:gd name="T5" fmla="*/ 0 h 17"/>
                  <a:gd name="T6" fmla="*/ 2 w 17"/>
                  <a:gd name="T7" fmla="*/ 2 h 17"/>
                  <a:gd name="T8" fmla="*/ 0 w 17"/>
                  <a:gd name="T9" fmla="*/ 8 h 17"/>
                  <a:gd name="T10" fmla="*/ 2 w 17"/>
                  <a:gd name="T11" fmla="*/ 14 h 17"/>
                  <a:gd name="T12" fmla="*/ 8 w 17"/>
                  <a:gd name="T13" fmla="*/ 17 h 17"/>
                  <a:gd name="T14" fmla="*/ 14 w 17"/>
                  <a:gd name="T15" fmla="*/ 14 h 17"/>
                  <a:gd name="T16" fmla="*/ 16 w 17"/>
                  <a:gd name="T17" fmla="*/ 8 h 17"/>
                  <a:gd name="T18" fmla="*/ 17 w 17"/>
                  <a:gd name="T1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8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7"/>
                    </a:lnTo>
                    <a:lnTo>
                      <a:pt x="14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0" name="Freeform 417"/>
              <p:cNvSpPr>
                <a:spLocks noChangeAspect="1" noChangeArrowheads="1"/>
              </p:cNvSpPr>
              <p:nvPr/>
            </p:nvSpPr>
            <p:spPr bwMode="auto">
              <a:xfrm>
                <a:off x="4991" y="2053"/>
                <a:ext cx="5" cy="5"/>
              </a:xfrm>
              <a:custGeom>
                <a:avLst/>
                <a:gdLst>
                  <a:gd name="T0" fmla="*/ 16 w 17"/>
                  <a:gd name="T1" fmla="*/ 9 h 17"/>
                  <a:gd name="T2" fmla="*/ 14 w 17"/>
                  <a:gd name="T3" fmla="*/ 2 h 17"/>
                  <a:gd name="T4" fmla="*/ 8 w 17"/>
                  <a:gd name="T5" fmla="*/ 0 h 17"/>
                  <a:gd name="T6" fmla="*/ 3 w 17"/>
                  <a:gd name="T7" fmla="*/ 2 h 17"/>
                  <a:gd name="T8" fmla="*/ 0 w 17"/>
                  <a:gd name="T9" fmla="*/ 9 h 17"/>
                  <a:gd name="T10" fmla="*/ 3 w 17"/>
                  <a:gd name="T11" fmla="*/ 15 h 17"/>
                  <a:gd name="T12" fmla="*/ 8 w 17"/>
                  <a:gd name="T13" fmla="*/ 17 h 17"/>
                  <a:gd name="T14" fmla="*/ 14 w 17"/>
                  <a:gd name="T15" fmla="*/ 15 h 17"/>
                  <a:gd name="T16" fmla="*/ 16 w 17"/>
                  <a:gd name="T17" fmla="*/ 9 h 17"/>
                  <a:gd name="T18" fmla="*/ 17 w 17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9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9"/>
                    </a:lnTo>
                    <a:lnTo>
                      <a:pt x="3" y="15"/>
                    </a:lnTo>
                    <a:lnTo>
                      <a:pt x="8" y="17"/>
                    </a:lnTo>
                    <a:lnTo>
                      <a:pt x="14" y="15"/>
                    </a:lnTo>
                    <a:lnTo>
                      <a:pt x="16" y="9"/>
                    </a:lnTo>
                    <a:lnTo>
                      <a:pt x="17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1" name="Freeform 418"/>
              <p:cNvSpPr>
                <a:spLocks noChangeAspect="1" noChangeArrowheads="1"/>
              </p:cNvSpPr>
              <p:nvPr/>
            </p:nvSpPr>
            <p:spPr bwMode="auto">
              <a:xfrm>
                <a:off x="5026" y="2110"/>
                <a:ext cx="6" cy="6"/>
              </a:xfrm>
              <a:custGeom>
                <a:avLst/>
                <a:gdLst>
                  <a:gd name="T0" fmla="*/ 16 w 17"/>
                  <a:gd name="T1" fmla="*/ 8 h 16"/>
                  <a:gd name="T2" fmla="*/ 13 w 17"/>
                  <a:gd name="T3" fmla="*/ 3 h 16"/>
                  <a:gd name="T4" fmla="*/ 8 w 17"/>
                  <a:gd name="T5" fmla="*/ 0 h 16"/>
                  <a:gd name="T6" fmla="*/ 2 w 17"/>
                  <a:gd name="T7" fmla="*/ 3 h 16"/>
                  <a:gd name="T8" fmla="*/ 0 w 17"/>
                  <a:gd name="T9" fmla="*/ 8 h 16"/>
                  <a:gd name="T10" fmla="*/ 2 w 17"/>
                  <a:gd name="T11" fmla="*/ 14 h 16"/>
                  <a:gd name="T12" fmla="*/ 8 w 17"/>
                  <a:gd name="T13" fmla="*/ 16 h 16"/>
                  <a:gd name="T14" fmla="*/ 13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3" y="3"/>
                    </a:lnTo>
                    <a:lnTo>
                      <a:pt x="8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3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2" name="Freeform 419"/>
              <p:cNvSpPr>
                <a:spLocks noChangeAspect="1" noChangeArrowheads="1"/>
              </p:cNvSpPr>
              <p:nvPr/>
            </p:nvSpPr>
            <p:spPr bwMode="auto">
              <a:xfrm>
                <a:off x="5032" y="2130"/>
                <a:ext cx="5" cy="5"/>
              </a:xfrm>
              <a:custGeom>
                <a:avLst/>
                <a:gdLst>
                  <a:gd name="T0" fmla="*/ 16 w 17"/>
                  <a:gd name="T1" fmla="*/ 8 h 17"/>
                  <a:gd name="T2" fmla="*/ 13 w 17"/>
                  <a:gd name="T3" fmla="*/ 3 h 17"/>
                  <a:gd name="T4" fmla="*/ 8 w 17"/>
                  <a:gd name="T5" fmla="*/ 0 h 17"/>
                  <a:gd name="T6" fmla="*/ 2 w 17"/>
                  <a:gd name="T7" fmla="*/ 3 h 17"/>
                  <a:gd name="T8" fmla="*/ 0 w 17"/>
                  <a:gd name="T9" fmla="*/ 8 h 17"/>
                  <a:gd name="T10" fmla="*/ 2 w 17"/>
                  <a:gd name="T11" fmla="*/ 15 h 17"/>
                  <a:gd name="T12" fmla="*/ 8 w 17"/>
                  <a:gd name="T13" fmla="*/ 17 h 17"/>
                  <a:gd name="T14" fmla="*/ 13 w 17"/>
                  <a:gd name="T15" fmla="*/ 15 h 17"/>
                  <a:gd name="T16" fmla="*/ 16 w 17"/>
                  <a:gd name="T17" fmla="*/ 8 h 17"/>
                  <a:gd name="T18" fmla="*/ 17 w 17"/>
                  <a:gd name="T1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8"/>
                    </a:moveTo>
                    <a:lnTo>
                      <a:pt x="13" y="3"/>
                    </a:lnTo>
                    <a:lnTo>
                      <a:pt x="8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2" y="15"/>
                    </a:lnTo>
                    <a:lnTo>
                      <a:pt x="8" y="17"/>
                    </a:lnTo>
                    <a:lnTo>
                      <a:pt x="13" y="15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3" name="Freeform 420"/>
              <p:cNvSpPr>
                <a:spLocks noChangeAspect="1" noChangeArrowheads="1"/>
              </p:cNvSpPr>
              <p:nvPr/>
            </p:nvSpPr>
            <p:spPr bwMode="auto">
              <a:xfrm>
                <a:off x="5092" y="2160"/>
                <a:ext cx="5" cy="5"/>
              </a:xfrm>
              <a:custGeom>
                <a:avLst/>
                <a:gdLst>
                  <a:gd name="T0" fmla="*/ 16 w 18"/>
                  <a:gd name="T1" fmla="*/ 8 h 16"/>
                  <a:gd name="T2" fmla="*/ 14 w 18"/>
                  <a:gd name="T3" fmla="*/ 3 h 16"/>
                  <a:gd name="T4" fmla="*/ 8 w 18"/>
                  <a:gd name="T5" fmla="*/ 0 h 16"/>
                  <a:gd name="T6" fmla="*/ 3 w 18"/>
                  <a:gd name="T7" fmla="*/ 3 h 16"/>
                  <a:gd name="T8" fmla="*/ 0 w 18"/>
                  <a:gd name="T9" fmla="*/ 8 h 16"/>
                  <a:gd name="T10" fmla="*/ 3 w 18"/>
                  <a:gd name="T11" fmla="*/ 14 h 16"/>
                  <a:gd name="T12" fmla="*/ 8 w 18"/>
                  <a:gd name="T13" fmla="*/ 16 h 16"/>
                  <a:gd name="T14" fmla="*/ 14 w 18"/>
                  <a:gd name="T15" fmla="*/ 14 h 16"/>
                  <a:gd name="T16" fmla="*/ 16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6" y="8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3" y="14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6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4" name="Freeform 421"/>
              <p:cNvSpPr>
                <a:spLocks noChangeAspect="1" noChangeArrowheads="1"/>
              </p:cNvSpPr>
              <p:nvPr/>
            </p:nvSpPr>
            <p:spPr bwMode="auto">
              <a:xfrm>
                <a:off x="5078" y="2212"/>
                <a:ext cx="6" cy="5"/>
              </a:xfrm>
              <a:custGeom>
                <a:avLst/>
                <a:gdLst>
                  <a:gd name="T0" fmla="*/ 17 w 18"/>
                  <a:gd name="T1" fmla="*/ 8 h 17"/>
                  <a:gd name="T2" fmla="*/ 15 w 18"/>
                  <a:gd name="T3" fmla="*/ 2 h 17"/>
                  <a:gd name="T4" fmla="*/ 9 w 18"/>
                  <a:gd name="T5" fmla="*/ 0 h 17"/>
                  <a:gd name="T6" fmla="*/ 3 w 18"/>
                  <a:gd name="T7" fmla="*/ 2 h 17"/>
                  <a:gd name="T8" fmla="*/ 0 w 18"/>
                  <a:gd name="T9" fmla="*/ 8 h 17"/>
                  <a:gd name="T10" fmla="*/ 3 w 18"/>
                  <a:gd name="T11" fmla="*/ 14 h 17"/>
                  <a:gd name="T12" fmla="*/ 9 w 18"/>
                  <a:gd name="T13" fmla="*/ 17 h 17"/>
                  <a:gd name="T14" fmla="*/ 15 w 18"/>
                  <a:gd name="T15" fmla="*/ 14 h 17"/>
                  <a:gd name="T16" fmla="*/ 17 w 18"/>
                  <a:gd name="T17" fmla="*/ 8 h 17"/>
                  <a:gd name="T18" fmla="*/ 18 w 18"/>
                  <a:gd name="T1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17" y="8"/>
                    </a:moveTo>
                    <a:lnTo>
                      <a:pt x="15" y="2"/>
                    </a:lnTo>
                    <a:lnTo>
                      <a:pt x="9" y="0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3" y="14"/>
                    </a:lnTo>
                    <a:lnTo>
                      <a:pt x="9" y="17"/>
                    </a:lnTo>
                    <a:lnTo>
                      <a:pt x="15" y="14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5" name="Freeform 422"/>
              <p:cNvSpPr>
                <a:spLocks noChangeAspect="1" noChangeArrowheads="1"/>
              </p:cNvSpPr>
              <p:nvPr/>
            </p:nvSpPr>
            <p:spPr bwMode="auto">
              <a:xfrm>
                <a:off x="5043" y="2209"/>
                <a:ext cx="5" cy="5"/>
              </a:xfrm>
              <a:custGeom>
                <a:avLst/>
                <a:gdLst>
                  <a:gd name="T0" fmla="*/ 16 w 17"/>
                  <a:gd name="T1" fmla="*/ 8 h 16"/>
                  <a:gd name="T2" fmla="*/ 14 w 17"/>
                  <a:gd name="T3" fmla="*/ 3 h 16"/>
                  <a:gd name="T4" fmla="*/ 8 w 17"/>
                  <a:gd name="T5" fmla="*/ 0 h 16"/>
                  <a:gd name="T6" fmla="*/ 3 w 17"/>
                  <a:gd name="T7" fmla="*/ 3 h 16"/>
                  <a:gd name="T8" fmla="*/ 0 w 17"/>
                  <a:gd name="T9" fmla="*/ 8 h 16"/>
                  <a:gd name="T10" fmla="*/ 3 w 17"/>
                  <a:gd name="T11" fmla="*/ 14 h 16"/>
                  <a:gd name="T12" fmla="*/ 8 w 17"/>
                  <a:gd name="T13" fmla="*/ 16 h 16"/>
                  <a:gd name="T14" fmla="*/ 14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3" y="14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6" name="Freeform 423"/>
              <p:cNvSpPr>
                <a:spLocks noChangeAspect="1" noChangeArrowheads="1"/>
              </p:cNvSpPr>
              <p:nvPr/>
            </p:nvSpPr>
            <p:spPr bwMode="auto">
              <a:xfrm>
                <a:off x="4996" y="2203"/>
                <a:ext cx="6" cy="6"/>
              </a:xfrm>
              <a:custGeom>
                <a:avLst/>
                <a:gdLst>
                  <a:gd name="T0" fmla="*/ 17 w 18"/>
                  <a:gd name="T1" fmla="*/ 8 h 16"/>
                  <a:gd name="T2" fmla="*/ 14 w 18"/>
                  <a:gd name="T3" fmla="*/ 3 h 16"/>
                  <a:gd name="T4" fmla="*/ 9 w 18"/>
                  <a:gd name="T5" fmla="*/ 0 h 16"/>
                  <a:gd name="T6" fmla="*/ 2 w 18"/>
                  <a:gd name="T7" fmla="*/ 3 h 16"/>
                  <a:gd name="T8" fmla="*/ 0 w 18"/>
                  <a:gd name="T9" fmla="*/ 8 h 16"/>
                  <a:gd name="T10" fmla="*/ 2 w 18"/>
                  <a:gd name="T11" fmla="*/ 14 h 16"/>
                  <a:gd name="T12" fmla="*/ 9 w 18"/>
                  <a:gd name="T13" fmla="*/ 16 h 16"/>
                  <a:gd name="T14" fmla="*/ 14 w 18"/>
                  <a:gd name="T15" fmla="*/ 14 h 16"/>
                  <a:gd name="T16" fmla="*/ 17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7" y="8"/>
                    </a:moveTo>
                    <a:lnTo>
                      <a:pt x="14" y="3"/>
                    </a:lnTo>
                    <a:lnTo>
                      <a:pt x="9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9" y="16"/>
                    </a:lnTo>
                    <a:lnTo>
                      <a:pt x="14" y="14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7" name="Freeform 424"/>
              <p:cNvSpPr>
                <a:spLocks noChangeAspect="1" noChangeArrowheads="1"/>
              </p:cNvSpPr>
              <p:nvPr/>
            </p:nvSpPr>
            <p:spPr bwMode="auto">
              <a:xfrm>
                <a:off x="4993" y="2220"/>
                <a:ext cx="6" cy="5"/>
              </a:xfrm>
              <a:custGeom>
                <a:avLst/>
                <a:gdLst>
                  <a:gd name="T0" fmla="*/ 17 w 18"/>
                  <a:gd name="T1" fmla="*/ 8 h 16"/>
                  <a:gd name="T2" fmla="*/ 14 w 18"/>
                  <a:gd name="T3" fmla="*/ 2 h 16"/>
                  <a:gd name="T4" fmla="*/ 8 w 18"/>
                  <a:gd name="T5" fmla="*/ 0 h 16"/>
                  <a:gd name="T6" fmla="*/ 2 w 18"/>
                  <a:gd name="T7" fmla="*/ 2 h 16"/>
                  <a:gd name="T8" fmla="*/ 0 w 18"/>
                  <a:gd name="T9" fmla="*/ 8 h 16"/>
                  <a:gd name="T10" fmla="*/ 2 w 18"/>
                  <a:gd name="T11" fmla="*/ 14 h 16"/>
                  <a:gd name="T12" fmla="*/ 8 w 18"/>
                  <a:gd name="T13" fmla="*/ 16 h 16"/>
                  <a:gd name="T14" fmla="*/ 14 w 18"/>
                  <a:gd name="T15" fmla="*/ 14 h 16"/>
                  <a:gd name="T16" fmla="*/ 17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7" y="8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8" name="Freeform 425"/>
              <p:cNvSpPr>
                <a:spLocks noChangeAspect="1" noChangeArrowheads="1"/>
              </p:cNvSpPr>
              <p:nvPr/>
            </p:nvSpPr>
            <p:spPr bwMode="auto">
              <a:xfrm>
                <a:off x="4991" y="2173"/>
                <a:ext cx="5" cy="6"/>
              </a:xfrm>
              <a:custGeom>
                <a:avLst/>
                <a:gdLst>
                  <a:gd name="T0" fmla="*/ 15 w 16"/>
                  <a:gd name="T1" fmla="*/ 8 h 16"/>
                  <a:gd name="T2" fmla="*/ 13 w 16"/>
                  <a:gd name="T3" fmla="*/ 3 h 16"/>
                  <a:gd name="T4" fmla="*/ 8 w 16"/>
                  <a:gd name="T5" fmla="*/ 0 h 16"/>
                  <a:gd name="T6" fmla="*/ 2 w 16"/>
                  <a:gd name="T7" fmla="*/ 3 h 16"/>
                  <a:gd name="T8" fmla="*/ 0 w 16"/>
                  <a:gd name="T9" fmla="*/ 8 h 16"/>
                  <a:gd name="T10" fmla="*/ 2 w 16"/>
                  <a:gd name="T11" fmla="*/ 14 h 16"/>
                  <a:gd name="T12" fmla="*/ 8 w 16"/>
                  <a:gd name="T13" fmla="*/ 16 h 16"/>
                  <a:gd name="T14" fmla="*/ 13 w 16"/>
                  <a:gd name="T15" fmla="*/ 14 h 16"/>
                  <a:gd name="T16" fmla="*/ 15 w 16"/>
                  <a:gd name="T17" fmla="*/ 8 h 16"/>
                  <a:gd name="T18" fmla="*/ 16 w 16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15" y="8"/>
                    </a:moveTo>
                    <a:lnTo>
                      <a:pt x="13" y="3"/>
                    </a:lnTo>
                    <a:lnTo>
                      <a:pt x="8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3" y="14"/>
                    </a:lnTo>
                    <a:lnTo>
                      <a:pt x="15" y="8"/>
                    </a:lnTo>
                    <a:lnTo>
                      <a:pt x="16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9" name="Freeform 426"/>
              <p:cNvSpPr>
                <a:spLocks noChangeAspect="1" noChangeArrowheads="1"/>
              </p:cNvSpPr>
              <p:nvPr/>
            </p:nvSpPr>
            <p:spPr bwMode="auto">
              <a:xfrm>
                <a:off x="4988" y="2124"/>
                <a:ext cx="5" cy="8"/>
              </a:xfrm>
              <a:custGeom>
                <a:avLst/>
                <a:gdLst>
                  <a:gd name="T0" fmla="*/ 16 w 17"/>
                  <a:gd name="T1" fmla="*/ 8 h 16"/>
                  <a:gd name="T2" fmla="*/ 13 w 17"/>
                  <a:gd name="T3" fmla="*/ 2 h 16"/>
                  <a:gd name="T4" fmla="*/ 8 w 17"/>
                  <a:gd name="T5" fmla="*/ 0 h 16"/>
                  <a:gd name="T6" fmla="*/ 2 w 17"/>
                  <a:gd name="T7" fmla="*/ 2 h 16"/>
                  <a:gd name="T8" fmla="*/ 0 w 17"/>
                  <a:gd name="T9" fmla="*/ 8 h 16"/>
                  <a:gd name="T10" fmla="*/ 2 w 17"/>
                  <a:gd name="T11" fmla="*/ 14 h 16"/>
                  <a:gd name="T12" fmla="*/ 8 w 17"/>
                  <a:gd name="T13" fmla="*/ 16 h 16"/>
                  <a:gd name="T14" fmla="*/ 13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3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0" name="Freeform 427"/>
              <p:cNvSpPr>
                <a:spLocks noChangeAspect="1" noChangeArrowheads="1"/>
              </p:cNvSpPr>
              <p:nvPr/>
            </p:nvSpPr>
            <p:spPr bwMode="auto">
              <a:xfrm>
                <a:off x="4988" y="2105"/>
                <a:ext cx="5" cy="5"/>
              </a:xfrm>
              <a:custGeom>
                <a:avLst/>
                <a:gdLst>
                  <a:gd name="T0" fmla="*/ 16 w 17"/>
                  <a:gd name="T1" fmla="*/ 8 h 16"/>
                  <a:gd name="T2" fmla="*/ 14 w 17"/>
                  <a:gd name="T3" fmla="*/ 2 h 16"/>
                  <a:gd name="T4" fmla="*/ 8 w 17"/>
                  <a:gd name="T5" fmla="*/ 0 h 16"/>
                  <a:gd name="T6" fmla="*/ 2 w 17"/>
                  <a:gd name="T7" fmla="*/ 2 h 16"/>
                  <a:gd name="T8" fmla="*/ 0 w 17"/>
                  <a:gd name="T9" fmla="*/ 8 h 16"/>
                  <a:gd name="T10" fmla="*/ 2 w 17"/>
                  <a:gd name="T11" fmla="*/ 14 h 16"/>
                  <a:gd name="T12" fmla="*/ 8 w 17"/>
                  <a:gd name="T13" fmla="*/ 16 h 16"/>
                  <a:gd name="T14" fmla="*/ 14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1" name="Freeform 428"/>
              <p:cNvSpPr>
                <a:spLocks noChangeAspect="1" noChangeArrowheads="1"/>
              </p:cNvSpPr>
              <p:nvPr/>
            </p:nvSpPr>
            <p:spPr bwMode="auto">
              <a:xfrm>
                <a:off x="4966" y="2099"/>
                <a:ext cx="6" cy="6"/>
              </a:xfrm>
              <a:custGeom>
                <a:avLst/>
                <a:gdLst>
                  <a:gd name="T0" fmla="*/ 17 w 18"/>
                  <a:gd name="T1" fmla="*/ 9 h 17"/>
                  <a:gd name="T2" fmla="*/ 15 w 18"/>
                  <a:gd name="T3" fmla="*/ 2 h 17"/>
                  <a:gd name="T4" fmla="*/ 9 w 18"/>
                  <a:gd name="T5" fmla="*/ 0 h 17"/>
                  <a:gd name="T6" fmla="*/ 2 w 18"/>
                  <a:gd name="T7" fmla="*/ 2 h 17"/>
                  <a:gd name="T8" fmla="*/ 0 w 18"/>
                  <a:gd name="T9" fmla="*/ 9 h 17"/>
                  <a:gd name="T10" fmla="*/ 2 w 18"/>
                  <a:gd name="T11" fmla="*/ 14 h 17"/>
                  <a:gd name="T12" fmla="*/ 9 w 18"/>
                  <a:gd name="T13" fmla="*/ 17 h 17"/>
                  <a:gd name="T14" fmla="*/ 15 w 18"/>
                  <a:gd name="T15" fmla="*/ 14 h 17"/>
                  <a:gd name="T16" fmla="*/ 17 w 18"/>
                  <a:gd name="T17" fmla="*/ 9 h 17"/>
                  <a:gd name="T18" fmla="*/ 18 w 18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17" y="9"/>
                    </a:moveTo>
                    <a:lnTo>
                      <a:pt x="15" y="2"/>
                    </a:lnTo>
                    <a:lnTo>
                      <a:pt x="9" y="0"/>
                    </a:lnTo>
                    <a:lnTo>
                      <a:pt x="2" y="2"/>
                    </a:lnTo>
                    <a:lnTo>
                      <a:pt x="0" y="9"/>
                    </a:lnTo>
                    <a:lnTo>
                      <a:pt x="2" y="14"/>
                    </a:lnTo>
                    <a:lnTo>
                      <a:pt x="9" y="17"/>
                    </a:lnTo>
                    <a:lnTo>
                      <a:pt x="15" y="14"/>
                    </a:lnTo>
                    <a:lnTo>
                      <a:pt x="17" y="9"/>
                    </a:lnTo>
                    <a:lnTo>
                      <a:pt x="18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2" name="Freeform 429"/>
              <p:cNvSpPr>
                <a:spLocks noChangeAspect="1" noChangeArrowheads="1"/>
              </p:cNvSpPr>
              <p:nvPr/>
            </p:nvSpPr>
            <p:spPr bwMode="auto">
              <a:xfrm>
                <a:off x="5056" y="2075"/>
                <a:ext cx="6" cy="5"/>
              </a:xfrm>
              <a:custGeom>
                <a:avLst/>
                <a:gdLst>
                  <a:gd name="T0" fmla="*/ 16 w 17"/>
                  <a:gd name="T1" fmla="*/ 8 h 16"/>
                  <a:gd name="T2" fmla="*/ 14 w 17"/>
                  <a:gd name="T3" fmla="*/ 2 h 16"/>
                  <a:gd name="T4" fmla="*/ 8 w 17"/>
                  <a:gd name="T5" fmla="*/ 0 h 16"/>
                  <a:gd name="T6" fmla="*/ 3 w 17"/>
                  <a:gd name="T7" fmla="*/ 2 h 16"/>
                  <a:gd name="T8" fmla="*/ 0 w 17"/>
                  <a:gd name="T9" fmla="*/ 8 h 16"/>
                  <a:gd name="T10" fmla="*/ 3 w 17"/>
                  <a:gd name="T11" fmla="*/ 14 h 16"/>
                  <a:gd name="T12" fmla="*/ 8 w 17"/>
                  <a:gd name="T13" fmla="*/ 16 h 16"/>
                  <a:gd name="T14" fmla="*/ 14 w 17"/>
                  <a:gd name="T15" fmla="*/ 14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3" y="14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3" name="Freeform 430"/>
              <p:cNvSpPr>
                <a:spLocks noChangeAspect="1" noChangeArrowheads="1"/>
              </p:cNvSpPr>
              <p:nvPr/>
            </p:nvSpPr>
            <p:spPr bwMode="auto">
              <a:xfrm>
                <a:off x="4991" y="2053"/>
                <a:ext cx="5" cy="5"/>
              </a:xfrm>
              <a:custGeom>
                <a:avLst/>
                <a:gdLst>
                  <a:gd name="T0" fmla="*/ 16 w 17"/>
                  <a:gd name="T1" fmla="*/ 9 h 17"/>
                  <a:gd name="T2" fmla="*/ 14 w 17"/>
                  <a:gd name="T3" fmla="*/ 2 h 17"/>
                  <a:gd name="T4" fmla="*/ 8 w 17"/>
                  <a:gd name="T5" fmla="*/ 0 h 17"/>
                  <a:gd name="T6" fmla="*/ 3 w 17"/>
                  <a:gd name="T7" fmla="*/ 2 h 17"/>
                  <a:gd name="T8" fmla="*/ 0 w 17"/>
                  <a:gd name="T9" fmla="*/ 9 h 17"/>
                  <a:gd name="T10" fmla="*/ 3 w 17"/>
                  <a:gd name="T11" fmla="*/ 15 h 17"/>
                  <a:gd name="T12" fmla="*/ 8 w 17"/>
                  <a:gd name="T13" fmla="*/ 17 h 17"/>
                  <a:gd name="T14" fmla="*/ 14 w 17"/>
                  <a:gd name="T15" fmla="*/ 15 h 17"/>
                  <a:gd name="T16" fmla="*/ 16 w 17"/>
                  <a:gd name="T17" fmla="*/ 9 h 17"/>
                  <a:gd name="T18" fmla="*/ 17 w 17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9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9"/>
                    </a:lnTo>
                    <a:lnTo>
                      <a:pt x="3" y="15"/>
                    </a:lnTo>
                    <a:lnTo>
                      <a:pt x="8" y="17"/>
                    </a:lnTo>
                    <a:lnTo>
                      <a:pt x="14" y="15"/>
                    </a:lnTo>
                    <a:lnTo>
                      <a:pt x="16" y="9"/>
                    </a:lnTo>
                    <a:lnTo>
                      <a:pt x="17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4" name="Freeform 431"/>
              <p:cNvSpPr>
                <a:spLocks noChangeAspect="1" noChangeArrowheads="1"/>
              </p:cNvSpPr>
              <p:nvPr/>
            </p:nvSpPr>
            <p:spPr bwMode="auto">
              <a:xfrm>
                <a:off x="4991" y="2053"/>
                <a:ext cx="5" cy="5"/>
              </a:xfrm>
              <a:custGeom>
                <a:avLst/>
                <a:gdLst>
                  <a:gd name="T0" fmla="*/ 16 w 17"/>
                  <a:gd name="T1" fmla="*/ 9 h 17"/>
                  <a:gd name="T2" fmla="*/ 14 w 17"/>
                  <a:gd name="T3" fmla="*/ 2 h 17"/>
                  <a:gd name="T4" fmla="*/ 8 w 17"/>
                  <a:gd name="T5" fmla="*/ 0 h 17"/>
                  <a:gd name="T6" fmla="*/ 3 w 17"/>
                  <a:gd name="T7" fmla="*/ 2 h 17"/>
                  <a:gd name="T8" fmla="*/ 0 w 17"/>
                  <a:gd name="T9" fmla="*/ 9 h 17"/>
                  <a:gd name="T10" fmla="*/ 3 w 17"/>
                  <a:gd name="T11" fmla="*/ 15 h 17"/>
                  <a:gd name="T12" fmla="*/ 8 w 17"/>
                  <a:gd name="T13" fmla="*/ 17 h 17"/>
                  <a:gd name="T14" fmla="*/ 14 w 17"/>
                  <a:gd name="T15" fmla="*/ 15 h 17"/>
                  <a:gd name="T16" fmla="*/ 16 w 17"/>
                  <a:gd name="T17" fmla="*/ 9 h 17"/>
                  <a:gd name="T18" fmla="*/ 17 w 17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9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9"/>
                    </a:lnTo>
                    <a:lnTo>
                      <a:pt x="3" y="15"/>
                    </a:lnTo>
                    <a:lnTo>
                      <a:pt x="8" y="17"/>
                    </a:lnTo>
                    <a:lnTo>
                      <a:pt x="14" y="15"/>
                    </a:lnTo>
                    <a:lnTo>
                      <a:pt x="16" y="9"/>
                    </a:lnTo>
                    <a:lnTo>
                      <a:pt x="17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5" name="Freeform 432"/>
              <p:cNvSpPr>
                <a:spLocks noChangeAspect="1" noChangeArrowheads="1"/>
              </p:cNvSpPr>
              <p:nvPr/>
            </p:nvSpPr>
            <p:spPr bwMode="auto">
              <a:xfrm>
                <a:off x="5141" y="2244"/>
                <a:ext cx="27" cy="22"/>
              </a:xfrm>
              <a:custGeom>
                <a:avLst/>
                <a:gdLst>
                  <a:gd name="T0" fmla="*/ 49 w 87"/>
                  <a:gd name="T1" fmla="*/ 65 h 66"/>
                  <a:gd name="T2" fmla="*/ 51 w 87"/>
                  <a:gd name="T3" fmla="*/ 63 h 66"/>
                  <a:gd name="T4" fmla="*/ 46 w 87"/>
                  <a:gd name="T5" fmla="*/ 62 h 66"/>
                  <a:gd name="T6" fmla="*/ 27 w 87"/>
                  <a:gd name="T7" fmla="*/ 64 h 66"/>
                  <a:gd name="T8" fmla="*/ 7 w 87"/>
                  <a:gd name="T9" fmla="*/ 63 h 66"/>
                  <a:gd name="T10" fmla="*/ 2 w 87"/>
                  <a:gd name="T11" fmla="*/ 59 h 66"/>
                  <a:gd name="T12" fmla="*/ 0 w 87"/>
                  <a:gd name="T13" fmla="*/ 53 h 66"/>
                  <a:gd name="T14" fmla="*/ 3 w 87"/>
                  <a:gd name="T15" fmla="*/ 38 h 66"/>
                  <a:gd name="T16" fmla="*/ 14 w 87"/>
                  <a:gd name="T17" fmla="*/ 23 h 66"/>
                  <a:gd name="T18" fmla="*/ 30 w 87"/>
                  <a:gd name="T19" fmla="*/ 9 h 66"/>
                  <a:gd name="T20" fmla="*/ 46 w 87"/>
                  <a:gd name="T21" fmla="*/ 2 h 66"/>
                  <a:gd name="T22" fmla="*/ 62 w 87"/>
                  <a:gd name="T23" fmla="*/ 0 h 66"/>
                  <a:gd name="T24" fmla="*/ 77 w 87"/>
                  <a:gd name="T25" fmla="*/ 3 h 66"/>
                  <a:gd name="T26" fmla="*/ 85 w 87"/>
                  <a:gd name="T27" fmla="*/ 10 h 66"/>
                  <a:gd name="T28" fmla="*/ 87 w 87"/>
                  <a:gd name="T29" fmla="*/ 23 h 66"/>
                  <a:gd name="T30" fmla="*/ 81 w 87"/>
                  <a:gd name="T31" fmla="*/ 37 h 66"/>
                  <a:gd name="T32" fmla="*/ 64 w 87"/>
                  <a:gd name="T33" fmla="*/ 52 h 66"/>
                  <a:gd name="T34" fmla="*/ 49 w 87"/>
                  <a:gd name="T35" fmla="*/ 64 h 66"/>
                  <a:gd name="T36" fmla="*/ 46 w 87"/>
                  <a:gd name="T37" fmla="*/ 66 h 66"/>
                  <a:gd name="T38" fmla="*/ 49 w 87"/>
                  <a:gd name="T39" fmla="*/ 65 h 66"/>
                  <a:gd name="T40" fmla="*/ 50 w 87"/>
                  <a:gd name="T41" fmla="*/ 6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66">
                    <a:moveTo>
                      <a:pt x="49" y="65"/>
                    </a:moveTo>
                    <a:lnTo>
                      <a:pt x="51" y="63"/>
                    </a:lnTo>
                    <a:lnTo>
                      <a:pt x="46" y="62"/>
                    </a:lnTo>
                    <a:lnTo>
                      <a:pt x="27" y="64"/>
                    </a:lnTo>
                    <a:lnTo>
                      <a:pt x="7" y="63"/>
                    </a:lnTo>
                    <a:lnTo>
                      <a:pt x="2" y="59"/>
                    </a:lnTo>
                    <a:lnTo>
                      <a:pt x="0" y="53"/>
                    </a:lnTo>
                    <a:lnTo>
                      <a:pt x="3" y="38"/>
                    </a:lnTo>
                    <a:lnTo>
                      <a:pt x="14" y="23"/>
                    </a:lnTo>
                    <a:lnTo>
                      <a:pt x="30" y="9"/>
                    </a:lnTo>
                    <a:lnTo>
                      <a:pt x="46" y="2"/>
                    </a:lnTo>
                    <a:lnTo>
                      <a:pt x="62" y="0"/>
                    </a:lnTo>
                    <a:lnTo>
                      <a:pt x="77" y="3"/>
                    </a:lnTo>
                    <a:lnTo>
                      <a:pt x="85" y="10"/>
                    </a:lnTo>
                    <a:lnTo>
                      <a:pt x="87" y="23"/>
                    </a:lnTo>
                    <a:lnTo>
                      <a:pt x="81" y="37"/>
                    </a:lnTo>
                    <a:lnTo>
                      <a:pt x="64" y="52"/>
                    </a:lnTo>
                    <a:lnTo>
                      <a:pt x="49" y="64"/>
                    </a:lnTo>
                    <a:lnTo>
                      <a:pt x="46" y="66"/>
                    </a:lnTo>
                    <a:lnTo>
                      <a:pt x="49" y="65"/>
                    </a:lnTo>
                    <a:lnTo>
                      <a:pt x="50" y="6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6" name="Freeform 433"/>
              <p:cNvSpPr>
                <a:spLocks noChangeAspect="1" noChangeArrowheads="1"/>
              </p:cNvSpPr>
              <p:nvPr/>
            </p:nvSpPr>
            <p:spPr bwMode="auto">
              <a:xfrm>
                <a:off x="5040" y="2162"/>
                <a:ext cx="33" cy="22"/>
              </a:xfrm>
              <a:custGeom>
                <a:avLst/>
                <a:gdLst>
                  <a:gd name="T0" fmla="*/ 48 w 98"/>
                  <a:gd name="T1" fmla="*/ 22 h 70"/>
                  <a:gd name="T2" fmla="*/ 49 w 98"/>
                  <a:gd name="T3" fmla="*/ 17 h 70"/>
                  <a:gd name="T4" fmla="*/ 69 w 98"/>
                  <a:gd name="T5" fmla="*/ 6 h 70"/>
                  <a:gd name="T6" fmla="*/ 90 w 98"/>
                  <a:gd name="T7" fmla="*/ 0 h 70"/>
                  <a:gd name="T8" fmla="*/ 98 w 98"/>
                  <a:gd name="T9" fmla="*/ 6 h 70"/>
                  <a:gd name="T10" fmla="*/ 95 w 98"/>
                  <a:gd name="T11" fmla="*/ 23 h 70"/>
                  <a:gd name="T12" fmla="*/ 83 w 98"/>
                  <a:gd name="T13" fmla="*/ 42 h 70"/>
                  <a:gd name="T14" fmla="*/ 47 w 98"/>
                  <a:gd name="T15" fmla="*/ 70 h 70"/>
                  <a:gd name="T16" fmla="*/ 30 w 98"/>
                  <a:gd name="T17" fmla="*/ 69 h 70"/>
                  <a:gd name="T18" fmla="*/ 14 w 98"/>
                  <a:gd name="T19" fmla="*/ 59 h 70"/>
                  <a:gd name="T20" fmla="*/ 0 w 98"/>
                  <a:gd name="T21" fmla="*/ 27 h 70"/>
                  <a:gd name="T22" fmla="*/ 5 w 98"/>
                  <a:gd name="T23" fmla="*/ 10 h 70"/>
                  <a:gd name="T24" fmla="*/ 23 w 98"/>
                  <a:gd name="T25" fmla="*/ 5 h 70"/>
                  <a:gd name="T26" fmla="*/ 45 w 98"/>
                  <a:gd name="T27" fmla="*/ 13 h 70"/>
                  <a:gd name="T28" fmla="*/ 48 w 98"/>
                  <a:gd name="T29" fmla="*/ 22 h 70"/>
                  <a:gd name="T30" fmla="*/ 49 w 98"/>
                  <a:gd name="T31" fmla="*/ 2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70">
                    <a:moveTo>
                      <a:pt x="48" y="22"/>
                    </a:moveTo>
                    <a:lnTo>
                      <a:pt x="49" y="17"/>
                    </a:lnTo>
                    <a:lnTo>
                      <a:pt x="69" y="6"/>
                    </a:lnTo>
                    <a:lnTo>
                      <a:pt x="90" y="0"/>
                    </a:lnTo>
                    <a:lnTo>
                      <a:pt x="98" y="6"/>
                    </a:lnTo>
                    <a:lnTo>
                      <a:pt x="95" y="23"/>
                    </a:lnTo>
                    <a:lnTo>
                      <a:pt x="83" y="42"/>
                    </a:lnTo>
                    <a:lnTo>
                      <a:pt x="47" y="70"/>
                    </a:lnTo>
                    <a:lnTo>
                      <a:pt x="30" y="69"/>
                    </a:lnTo>
                    <a:lnTo>
                      <a:pt x="14" y="59"/>
                    </a:lnTo>
                    <a:lnTo>
                      <a:pt x="0" y="27"/>
                    </a:lnTo>
                    <a:lnTo>
                      <a:pt x="5" y="10"/>
                    </a:lnTo>
                    <a:lnTo>
                      <a:pt x="23" y="5"/>
                    </a:lnTo>
                    <a:lnTo>
                      <a:pt x="45" y="13"/>
                    </a:lnTo>
                    <a:lnTo>
                      <a:pt x="48" y="22"/>
                    </a:lnTo>
                    <a:lnTo>
                      <a:pt x="49" y="22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7" name="Freeform 434"/>
              <p:cNvSpPr>
                <a:spLocks noChangeAspect="1" noChangeArrowheads="1"/>
              </p:cNvSpPr>
              <p:nvPr/>
            </p:nvSpPr>
            <p:spPr bwMode="auto">
              <a:xfrm>
                <a:off x="5010" y="2056"/>
                <a:ext cx="24" cy="33"/>
              </a:xfrm>
              <a:custGeom>
                <a:avLst/>
                <a:gdLst>
                  <a:gd name="T0" fmla="*/ 4 w 75"/>
                  <a:gd name="T1" fmla="*/ 28 h 96"/>
                  <a:gd name="T2" fmla="*/ 4 w 75"/>
                  <a:gd name="T3" fmla="*/ 31 h 96"/>
                  <a:gd name="T4" fmla="*/ 8 w 75"/>
                  <a:gd name="T5" fmla="*/ 27 h 96"/>
                  <a:gd name="T6" fmla="*/ 24 w 75"/>
                  <a:gd name="T7" fmla="*/ 11 h 96"/>
                  <a:gd name="T8" fmla="*/ 33 w 75"/>
                  <a:gd name="T9" fmla="*/ 3 h 96"/>
                  <a:gd name="T10" fmla="*/ 42 w 75"/>
                  <a:gd name="T11" fmla="*/ 0 h 96"/>
                  <a:gd name="T12" fmla="*/ 50 w 75"/>
                  <a:gd name="T13" fmla="*/ 0 h 96"/>
                  <a:gd name="T14" fmla="*/ 57 w 75"/>
                  <a:gd name="T15" fmla="*/ 3 h 96"/>
                  <a:gd name="T16" fmla="*/ 69 w 75"/>
                  <a:gd name="T17" fmla="*/ 17 h 96"/>
                  <a:gd name="T18" fmla="*/ 75 w 75"/>
                  <a:gd name="T19" fmla="*/ 38 h 96"/>
                  <a:gd name="T20" fmla="*/ 75 w 75"/>
                  <a:gd name="T21" fmla="*/ 59 h 96"/>
                  <a:gd name="T22" fmla="*/ 68 w 75"/>
                  <a:gd name="T23" fmla="*/ 76 h 96"/>
                  <a:gd name="T24" fmla="*/ 54 w 75"/>
                  <a:gd name="T25" fmla="*/ 89 h 96"/>
                  <a:gd name="T26" fmla="*/ 38 w 75"/>
                  <a:gd name="T27" fmla="*/ 95 h 96"/>
                  <a:gd name="T28" fmla="*/ 22 w 75"/>
                  <a:gd name="T29" fmla="*/ 96 h 96"/>
                  <a:gd name="T30" fmla="*/ 8 w 75"/>
                  <a:gd name="T31" fmla="*/ 90 h 96"/>
                  <a:gd name="T32" fmla="*/ 1 w 75"/>
                  <a:gd name="T33" fmla="*/ 76 h 96"/>
                  <a:gd name="T34" fmla="*/ 0 w 75"/>
                  <a:gd name="T35" fmla="*/ 66 h 96"/>
                  <a:gd name="T36" fmla="*/ 0 w 75"/>
                  <a:gd name="T37" fmla="*/ 54 h 96"/>
                  <a:gd name="T38" fmla="*/ 4 w 75"/>
                  <a:gd name="T39" fmla="*/ 31 h 96"/>
                  <a:gd name="T40" fmla="*/ 5 w 75"/>
                  <a:gd name="T41" fmla="*/ 25 h 96"/>
                  <a:gd name="T42" fmla="*/ 4 w 75"/>
                  <a:gd name="T43" fmla="*/ 28 h 96"/>
                  <a:gd name="T44" fmla="*/ 5 w 75"/>
                  <a:gd name="T45" fmla="*/ 28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96">
                    <a:moveTo>
                      <a:pt x="4" y="28"/>
                    </a:moveTo>
                    <a:lnTo>
                      <a:pt x="4" y="31"/>
                    </a:lnTo>
                    <a:lnTo>
                      <a:pt x="8" y="27"/>
                    </a:lnTo>
                    <a:lnTo>
                      <a:pt x="24" y="11"/>
                    </a:lnTo>
                    <a:lnTo>
                      <a:pt x="33" y="3"/>
                    </a:lnTo>
                    <a:lnTo>
                      <a:pt x="42" y="0"/>
                    </a:lnTo>
                    <a:lnTo>
                      <a:pt x="50" y="0"/>
                    </a:lnTo>
                    <a:lnTo>
                      <a:pt x="57" y="3"/>
                    </a:lnTo>
                    <a:lnTo>
                      <a:pt x="69" y="17"/>
                    </a:lnTo>
                    <a:lnTo>
                      <a:pt x="75" y="38"/>
                    </a:lnTo>
                    <a:lnTo>
                      <a:pt x="75" y="59"/>
                    </a:lnTo>
                    <a:lnTo>
                      <a:pt x="68" y="76"/>
                    </a:lnTo>
                    <a:lnTo>
                      <a:pt x="54" y="89"/>
                    </a:lnTo>
                    <a:lnTo>
                      <a:pt x="38" y="95"/>
                    </a:lnTo>
                    <a:lnTo>
                      <a:pt x="22" y="96"/>
                    </a:lnTo>
                    <a:lnTo>
                      <a:pt x="8" y="90"/>
                    </a:lnTo>
                    <a:lnTo>
                      <a:pt x="1" y="76"/>
                    </a:lnTo>
                    <a:lnTo>
                      <a:pt x="0" y="66"/>
                    </a:lnTo>
                    <a:lnTo>
                      <a:pt x="0" y="54"/>
                    </a:lnTo>
                    <a:lnTo>
                      <a:pt x="4" y="31"/>
                    </a:lnTo>
                    <a:lnTo>
                      <a:pt x="5" y="25"/>
                    </a:lnTo>
                    <a:lnTo>
                      <a:pt x="4" y="28"/>
                    </a:lnTo>
                    <a:lnTo>
                      <a:pt x="5" y="2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8" name="Freeform 435"/>
              <p:cNvSpPr>
                <a:spLocks noChangeAspect="1" noChangeArrowheads="1"/>
              </p:cNvSpPr>
              <p:nvPr/>
            </p:nvSpPr>
            <p:spPr bwMode="auto">
              <a:xfrm>
                <a:off x="5095" y="2086"/>
                <a:ext cx="24" cy="33"/>
              </a:xfrm>
              <a:custGeom>
                <a:avLst/>
                <a:gdLst>
                  <a:gd name="T0" fmla="*/ 76 w 77"/>
                  <a:gd name="T1" fmla="*/ 58 h 97"/>
                  <a:gd name="T2" fmla="*/ 72 w 77"/>
                  <a:gd name="T3" fmla="*/ 60 h 97"/>
                  <a:gd name="T4" fmla="*/ 63 w 77"/>
                  <a:gd name="T5" fmla="*/ 80 h 97"/>
                  <a:gd name="T6" fmla="*/ 48 w 77"/>
                  <a:gd name="T7" fmla="*/ 96 h 97"/>
                  <a:gd name="T8" fmla="*/ 33 w 77"/>
                  <a:gd name="T9" fmla="*/ 97 h 97"/>
                  <a:gd name="T10" fmla="*/ 5 w 77"/>
                  <a:gd name="T11" fmla="*/ 70 h 97"/>
                  <a:gd name="T12" fmla="*/ 0 w 77"/>
                  <a:gd name="T13" fmla="*/ 30 h 97"/>
                  <a:gd name="T14" fmla="*/ 24 w 77"/>
                  <a:gd name="T15" fmla="*/ 3 h 97"/>
                  <a:gd name="T16" fmla="*/ 53 w 77"/>
                  <a:gd name="T17" fmla="*/ 0 h 97"/>
                  <a:gd name="T18" fmla="*/ 64 w 77"/>
                  <a:gd name="T19" fmla="*/ 11 h 97"/>
                  <a:gd name="T20" fmla="*/ 72 w 77"/>
                  <a:gd name="T21" fmla="*/ 32 h 97"/>
                  <a:gd name="T22" fmla="*/ 75 w 77"/>
                  <a:gd name="T23" fmla="*/ 55 h 97"/>
                  <a:gd name="T24" fmla="*/ 76 w 77"/>
                  <a:gd name="T25" fmla="*/ 58 h 97"/>
                  <a:gd name="T26" fmla="*/ 77 w 77"/>
                  <a:gd name="T27" fmla="*/ 5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7" h="97">
                    <a:moveTo>
                      <a:pt x="76" y="58"/>
                    </a:moveTo>
                    <a:lnTo>
                      <a:pt x="72" y="60"/>
                    </a:lnTo>
                    <a:lnTo>
                      <a:pt x="63" y="80"/>
                    </a:lnTo>
                    <a:lnTo>
                      <a:pt x="48" y="96"/>
                    </a:lnTo>
                    <a:lnTo>
                      <a:pt x="33" y="97"/>
                    </a:lnTo>
                    <a:lnTo>
                      <a:pt x="5" y="70"/>
                    </a:lnTo>
                    <a:lnTo>
                      <a:pt x="0" y="30"/>
                    </a:lnTo>
                    <a:lnTo>
                      <a:pt x="24" y="3"/>
                    </a:lnTo>
                    <a:lnTo>
                      <a:pt x="53" y="0"/>
                    </a:lnTo>
                    <a:lnTo>
                      <a:pt x="64" y="11"/>
                    </a:lnTo>
                    <a:lnTo>
                      <a:pt x="72" y="32"/>
                    </a:lnTo>
                    <a:lnTo>
                      <a:pt x="75" y="55"/>
                    </a:lnTo>
                    <a:lnTo>
                      <a:pt x="76" y="58"/>
                    </a:lnTo>
                    <a:lnTo>
                      <a:pt x="77" y="5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9" name="Freeform 436"/>
              <p:cNvSpPr>
                <a:spLocks noChangeAspect="1" noChangeArrowheads="1"/>
              </p:cNvSpPr>
              <p:nvPr/>
            </p:nvSpPr>
            <p:spPr bwMode="auto">
              <a:xfrm>
                <a:off x="5026" y="2239"/>
                <a:ext cx="25" cy="27"/>
              </a:xfrm>
              <a:custGeom>
                <a:avLst/>
                <a:gdLst>
                  <a:gd name="T0" fmla="*/ 48 w 71"/>
                  <a:gd name="T1" fmla="*/ 9 h 78"/>
                  <a:gd name="T2" fmla="*/ 45 w 71"/>
                  <a:gd name="T3" fmla="*/ 8 h 78"/>
                  <a:gd name="T4" fmla="*/ 48 w 71"/>
                  <a:gd name="T5" fmla="*/ 12 h 78"/>
                  <a:gd name="T6" fmla="*/ 61 w 71"/>
                  <a:gd name="T7" fmla="*/ 27 h 78"/>
                  <a:gd name="T8" fmla="*/ 68 w 71"/>
                  <a:gd name="T9" fmla="*/ 37 h 78"/>
                  <a:gd name="T10" fmla="*/ 71 w 71"/>
                  <a:gd name="T11" fmla="*/ 45 h 78"/>
                  <a:gd name="T12" fmla="*/ 71 w 71"/>
                  <a:gd name="T13" fmla="*/ 53 h 78"/>
                  <a:gd name="T14" fmla="*/ 67 w 71"/>
                  <a:gd name="T15" fmla="*/ 60 h 78"/>
                  <a:gd name="T16" fmla="*/ 52 w 71"/>
                  <a:gd name="T17" fmla="*/ 70 h 78"/>
                  <a:gd name="T18" fmla="*/ 33 w 71"/>
                  <a:gd name="T19" fmla="*/ 77 h 78"/>
                  <a:gd name="T20" fmla="*/ 14 w 71"/>
                  <a:gd name="T21" fmla="*/ 78 h 78"/>
                  <a:gd name="T22" fmla="*/ 2 w 71"/>
                  <a:gd name="T23" fmla="*/ 72 h 78"/>
                  <a:gd name="T24" fmla="*/ 0 w 71"/>
                  <a:gd name="T25" fmla="*/ 62 h 78"/>
                  <a:gd name="T26" fmla="*/ 3 w 71"/>
                  <a:gd name="T27" fmla="*/ 48 h 78"/>
                  <a:gd name="T28" fmla="*/ 5 w 71"/>
                  <a:gd name="T29" fmla="*/ 31 h 78"/>
                  <a:gd name="T30" fmla="*/ 4 w 71"/>
                  <a:gd name="T31" fmla="*/ 12 h 78"/>
                  <a:gd name="T32" fmla="*/ 4 w 71"/>
                  <a:gd name="T33" fmla="*/ 5 h 78"/>
                  <a:gd name="T34" fmla="*/ 7 w 71"/>
                  <a:gd name="T35" fmla="*/ 1 h 78"/>
                  <a:gd name="T36" fmla="*/ 14 w 71"/>
                  <a:gd name="T37" fmla="*/ 0 h 78"/>
                  <a:gd name="T38" fmla="*/ 25 w 71"/>
                  <a:gd name="T39" fmla="*/ 1 h 78"/>
                  <a:gd name="T40" fmla="*/ 46 w 71"/>
                  <a:gd name="T41" fmla="*/ 8 h 78"/>
                  <a:gd name="T42" fmla="*/ 50 w 71"/>
                  <a:gd name="T43" fmla="*/ 10 h 78"/>
                  <a:gd name="T44" fmla="*/ 48 w 71"/>
                  <a:gd name="T45" fmla="*/ 9 h 78"/>
                  <a:gd name="T46" fmla="*/ 49 w 71"/>
                  <a:gd name="T47" fmla="*/ 9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1" h="78">
                    <a:moveTo>
                      <a:pt x="48" y="9"/>
                    </a:moveTo>
                    <a:lnTo>
                      <a:pt x="45" y="8"/>
                    </a:lnTo>
                    <a:lnTo>
                      <a:pt x="48" y="12"/>
                    </a:lnTo>
                    <a:lnTo>
                      <a:pt x="61" y="27"/>
                    </a:lnTo>
                    <a:lnTo>
                      <a:pt x="68" y="37"/>
                    </a:lnTo>
                    <a:lnTo>
                      <a:pt x="71" y="45"/>
                    </a:lnTo>
                    <a:lnTo>
                      <a:pt x="71" y="53"/>
                    </a:lnTo>
                    <a:lnTo>
                      <a:pt x="67" y="60"/>
                    </a:lnTo>
                    <a:lnTo>
                      <a:pt x="52" y="70"/>
                    </a:lnTo>
                    <a:lnTo>
                      <a:pt x="33" y="77"/>
                    </a:lnTo>
                    <a:lnTo>
                      <a:pt x="14" y="78"/>
                    </a:lnTo>
                    <a:lnTo>
                      <a:pt x="2" y="72"/>
                    </a:lnTo>
                    <a:lnTo>
                      <a:pt x="0" y="62"/>
                    </a:lnTo>
                    <a:lnTo>
                      <a:pt x="3" y="48"/>
                    </a:lnTo>
                    <a:lnTo>
                      <a:pt x="5" y="31"/>
                    </a:lnTo>
                    <a:lnTo>
                      <a:pt x="4" y="12"/>
                    </a:lnTo>
                    <a:lnTo>
                      <a:pt x="4" y="5"/>
                    </a:lnTo>
                    <a:lnTo>
                      <a:pt x="7" y="1"/>
                    </a:lnTo>
                    <a:lnTo>
                      <a:pt x="14" y="0"/>
                    </a:lnTo>
                    <a:lnTo>
                      <a:pt x="25" y="1"/>
                    </a:lnTo>
                    <a:lnTo>
                      <a:pt x="46" y="8"/>
                    </a:lnTo>
                    <a:lnTo>
                      <a:pt x="50" y="10"/>
                    </a:lnTo>
                    <a:lnTo>
                      <a:pt x="48" y="9"/>
                    </a:lnTo>
                    <a:lnTo>
                      <a:pt x="49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0" name="Freeform 437"/>
              <p:cNvSpPr>
                <a:spLocks noChangeAspect="1" noChangeArrowheads="1"/>
              </p:cNvSpPr>
              <p:nvPr/>
            </p:nvSpPr>
            <p:spPr bwMode="auto">
              <a:xfrm>
                <a:off x="5204" y="2094"/>
                <a:ext cx="11" cy="14"/>
              </a:xfrm>
              <a:custGeom>
                <a:avLst/>
                <a:gdLst>
                  <a:gd name="T0" fmla="*/ 1 w 33"/>
                  <a:gd name="T1" fmla="*/ 5 h 45"/>
                  <a:gd name="T2" fmla="*/ 0 w 33"/>
                  <a:gd name="T3" fmla="*/ 37 h 45"/>
                  <a:gd name="T4" fmla="*/ 10 w 33"/>
                  <a:gd name="T5" fmla="*/ 45 h 45"/>
                  <a:gd name="T6" fmla="*/ 25 w 33"/>
                  <a:gd name="T7" fmla="*/ 41 h 45"/>
                  <a:gd name="T8" fmla="*/ 33 w 33"/>
                  <a:gd name="T9" fmla="*/ 25 h 45"/>
                  <a:gd name="T10" fmla="*/ 30 w 33"/>
                  <a:gd name="T11" fmla="*/ 9 h 45"/>
                  <a:gd name="T12" fmla="*/ 14 w 33"/>
                  <a:gd name="T13" fmla="*/ 0 h 45"/>
                  <a:gd name="T14" fmla="*/ 1 w 33"/>
                  <a:gd name="T15" fmla="*/ 5 h 45"/>
                  <a:gd name="T16" fmla="*/ 2 w 33"/>
                  <a:gd name="T17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1" y="5"/>
                    </a:moveTo>
                    <a:lnTo>
                      <a:pt x="0" y="37"/>
                    </a:lnTo>
                    <a:lnTo>
                      <a:pt x="10" y="45"/>
                    </a:lnTo>
                    <a:lnTo>
                      <a:pt x="25" y="41"/>
                    </a:lnTo>
                    <a:lnTo>
                      <a:pt x="33" y="25"/>
                    </a:lnTo>
                    <a:lnTo>
                      <a:pt x="30" y="9"/>
                    </a:lnTo>
                    <a:lnTo>
                      <a:pt x="14" y="0"/>
                    </a:lnTo>
                    <a:lnTo>
                      <a:pt x="1" y="5"/>
                    </a:lnTo>
                    <a:lnTo>
                      <a:pt x="2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1" name="Freeform 438"/>
              <p:cNvSpPr>
                <a:spLocks noChangeAspect="1" noChangeArrowheads="1"/>
              </p:cNvSpPr>
              <p:nvPr/>
            </p:nvSpPr>
            <p:spPr bwMode="auto">
              <a:xfrm>
                <a:off x="5204" y="2154"/>
                <a:ext cx="11" cy="14"/>
              </a:xfrm>
              <a:custGeom>
                <a:avLst/>
                <a:gdLst>
                  <a:gd name="T0" fmla="*/ 1 w 33"/>
                  <a:gd name="T1" fmla="*/ 4 h 45"/>
                  <a:gd name="T2" fmla="*/ 0 w 33"/>
                  <a:gd name="T3" fmla="*/ 36 h 45"/>
                  <a:gd name="T4" fmla="*/ 10 w 33"/>
                  <a:gd name="T5" fmla="*/ 45 h 45"/>
                  <a:gd name="T6" fmla="*/ 25 w 33"/>
                  <a:gd name="T7" fmla="*/ 40 h 45"/>
                  <a:gd name="T8" fmla="*/ 33 w 33"/>
                  <a:gd name="T9" fmla="*/ 25 h 45"/>
                  <a:gd name="T10" fmla="*/ 30 w 33"/>
                  <a:gd name="T11" fmla="*/ 9 h 45"/>
                  <a:gd name="T12" fmla="*/ 14 w 33"/>
                  <a:gd name="T13" fmla="*/ 0 h 45"/>
                  <a:gd name="T14" fmla="*/ 1 w 33"/>
                  <a:gd name="T15" fmla="*/ 4 h 45"/>
                  <a:gd name="T16" fmla="*/ 2 w 33"/>
                  <a:gd name="T17" fmla="*/ 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1" y="4"/>
                    </a:moveTo>
                    <a:lnTo>
                      <a:pt x="0" y="36"/>
                    </a:lnTo>
                    <a:lnTo>
                      <a:pt x="10" y="45"/>
                    </a:lnTo>
                    <a:lnTo>
                      <a:pt x="25" y="40"/>
                    </a:lnTo>
                    <a:lnTo>
                      <a:pt x="33" y="25"/>
                    </a:lnTo>
                    <a:lnTo>
                      <a:pt x="30" y="9"/>
                    </a:lnTo>
                    <a:lnTo>
                      <a:pt x="14" y="0"/>
                    </a:lnTo>
                    <a:lnTo>
                      <a:pt x="1" y="4"/>
                    </a:lnTo>
                    <a:lnTo>
                      <a:pt x="2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2" name="Freeform 439"/>
              <p:cNvSpPr>
                <a:spLocks noChangeAspect="1" noChangeArrowheads="1"/>
              </p:cNvSpPr>
              <p:nvPr/>
            </p:nvSpPr>
            <p:spPr bwMode="auto">
              <a:xfrm>
                <a:off x="5207" y="2253"/>
                <a:ext cx="11" cy="16"/>
              </a:xfrm>
              <a:custGeom>
                <a:avLst/>
                <a:gdLst>
                  <a:gd name="T0" fmla="*/ 4 w 35"/>
                  <a:gd name="T1" fmla="*/ 5 h 46"/>
                  <a:gd name="T2" fmla="*/ 0 w 35"/>
                  <a:gd name="T3" fmla="*/ 21 h 46"/>
                  <a:gd name="T4" fmla="*/ 2 w 35"/>
                  <a:gd name="T5" fmla="*/ 38 h 46"/>
                  <a:gd name="T6" fmla="*/ 6 w 35"/>
                  <a:gd name="T7" fmla="*/ 43 h 46"/>
                  <a:gd name="T8" fmla="*/ 13 w 35"/>
                  <a:gd name="T9" fmla="*/ 46 h 46"/>
                  <a:gd name="T10" fmla="*/ 21 w 35"/>
                  <a:gd name="T11" fmla="*/ 45 h 46"/>
                  <a:gd name="T12" fmla="*/ 28 w 35"/>
                  <a:gd name="T13" fmla="*/ 41 h 46"/>
                  <a:gd name="T14" fmla="*/ 35 w 35"/>
                  <a:gd name="T15" fmla="*/ 26 h 46"/>
                  <a:gd name="T16" fmla="*/ 35 w 35"/>
                  <a:gd name="T17" fmla="*/ 17 h 46"/>
                  <a:gd name="T18" fmla="*/ 32 w 35"/>
                  <a:gd name="T19" fmla="*/ 10 h 46"/>
                  <a:gd name="T20" fmla="*/ 26 w 35"/>
                  <a:gd name="T21" fmla="*/ 4 h 46"/>
                  <a:gd name="T22" fmla="*/ 17 w 35"/>
                  <a:gd name="T23" fmla="*/ 0 h 46"/>
                  <a:gd name="T24" fmla="*/ 8 w 35"/>
                  <a:gd name="T25" fmla="*/ 1 h 46"/>
                  <a:gd name="T26" fmla="*/ 4 w 35"/>
                  <a:gd name="T27" fmla="*/ 5 h 46"/>
                  <a:gd name="T28" fmla="*/ 5 w 35"/>
                  <a:gd name="T2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46">
                    <a:moveTo>
                      <a:pt x="4" y="5"/>
                    </a:moveTo>
                    <a:lnTo>
                      <a:pt x="0" y="21"/>
                    </a:lnTo>
                    <a:lnTo>
                      <a:pt x="2" y="38"/>
                    </a:lnTo>
                    <a:lnTo>
                      <a:pt x="6" y="43"/>
                    </a:lnTo>
                    <a:lnTo>
                      <a:pt x="13" y="46"/>
                    </a:lnTo>
                    <a:lnTo>
                      <a:pt x="21" y="45"/>
                    </a:lnTo>
                    <a:lnTo>
                      <a:pt x="28" y="41"/>
                    </a:lnTo>
                    <a:lnTo>
                      <a:pt x="35" y="26"/>
                    </a:lnTo>
                    <a:lnTo>
                      <a:pt x="35" y="17"/>
                    </a:lnTo>
                    <a:lnTo>
                      <a:pt x="32" y="10"/>
                    </a:lnTo>
                    <a:lnTo>
                      <a:pt x="26" y="4"/>
                    </a:lnTo>
                    <a:lnTo>
                      <a:pt x="17" y="0"/>
                    </a:lnTo>
                    <a:lnTo>
                      <a:pt x="8" y="1"/>
                    </a:lnTo>
                    <a:lnTo>
                      <a:pt x="4" y="5"/>
                    </a:lnTo>
                    <a:lnTo>
                      <a:pt x="5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3" name="Freeform 440"/>
              <p:cNvSpPr>
                <a:spLocks noChangeAspect="1" noChangeArrowheads="1"/>
              </p:cNvSpPr>
              <p:nvPr/>
            </p:nvSpPr>
            <p:spPr bwMode="auto">
              <a:xfrm>
                <a:off x="5209" y="2067"/>
                <a:ext cx="6" cy="5"/>
              </a:xfrm>
              <a:custGeom>
                <a:avLst/>
                <a:gdLst>
                  <a:gd name="T0" fmla="*/ 17 w 18"/>
                  <a:gd name="T1" fmla="*/ 9 h 17"/>
                  <a:gd name="T2" fmla="*/ 15 w 18"/>
                  <a:gd name="T3" fmla="*/ 3 h 17"/>
                  <a:gd name="T4" fmla="*/ 8 w 18"/>
                  <a:gd name="T5" fmla="*/ 0 h 17"/>
                  <a:gd name="T6" fmla="*/ 2 w 18"/>
                  <a:gd name="T7" fmla="*/ 3 h 17"/>
                  <a:gd name="T8" fmla="*/ 0 w 18"/>
                  <a:gd name="T9" fmla="*/ 9 h 17"/>
                  <a:gd name="T10" fmla="*/ 2 w 18"/>
                  <a:gd name="T11" fmla="*/ 15 h 17"/>
                  <a:gd name="T12" fmla="*/ 8 w 18"/>
                  <a:gd name="T13" fmla="*/ 17 h 17"/>
                  <a:gd name="T14" fmla="*/ 15 w 18"/>
                  <a:gd name="T15" fmla="*/ 15 h 17"/>
                  <a:gd name="T16" fmla="*/ 17 w 18"/>
                  <a:gd name="T17" fmla="*/ 9 h 17"/>
                  <a:gd name="T18" fmla="*/ 18 w 18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17" y="9"/>
                    </a:moveTo>
                    <a:lnTo>
                      <a:pt x="15" y="3"/>
                    </a:lnTo>
                    <a:lnTo>
                      <a:pt x="8" y="0"/>
                    </a:lnTo>
                    <a:lnTo>
                      <a:pt x="2" y="3"/>
                    </a:lnTo>
                    <a:lnTo>
                      <a:pt x="0" y="9"/>
                    </a:lnTo>
                    <a:lnTo>
                      <a:pt x="2" y="15"/>
                    </a:lnTo>
                    <a:lnTo>
                      <a:pt x="8" y="17"/>
                    </a:lnTo>
                    <a:lnTo>
                      <a:pt x="15" y="15"/>
                    </a:lnTo>
                    <a:lnTo>
                      <a:pt x="17" y="9"/>
                    </a:lnTo>
                    <a:lnTo>
                      <a:pt x="18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4" name="Freeform 441"/>
              <p:cNvSpPr>
                <a:spLocks noChangeAspect="1" noChangeArrowheads="1"/>
              </p:cNvSpPr>
              <p:nvPr/>
            </p:nvSpPr>
            <p:spPr bwMode="auto">
              <a:xfrm>
                <a:off x="5190" y="2127"/>
                <a:ext cx="8" cy="5"/>
              </a:xfrm>
              <a:custGeom>
                <a:avLst/>
                <a:gdLst>
                  <a:gd name="T0" fmla="*/ 17 w 18"/>
                  <a:gd name="T1" fmla="*/ 8 h 16"/>
                  <a:gd name="T2" fmla="*/ 15 w 18"/>
                  <a:gd name="T3" fmla="*/ 2 h 16"/>
                  <a:gd name="T4" fmla="*/ 8 w 18"/>
                  <a:gd name="T5" fmla="*/ 0 h 16"/>
                  <a:gd name="T6" fmla="*/ 3 w 18"/>
                  <a:gd name="T7" fmla="*/ 2 h 16"/>
                  <a:gd name="T8" fmla="*/ 0 w 18"/>
                  <a:gd name="T9" fmla="*/ 8 h 16"/>
                  <a:gd name="T10" fmla="*/ 3 w 18"/>
                  <a:gd name="T11" fmla="*/ 13 h 16"/>
                  <a:gd name="T12" fmla="*/ 8 w 18"/>
                  <a:gd name="T13" fmla="*/ 16 h 16"/>
                  <a:gd name="T14" fmla="*/ 15 w 18"/>
                  <a:gd name="T15" fmla="*/ 13 h 16"/>
                  <a:gd name="T16" fmla="*/ 17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7" y="8"/>
                    </a:moveTo>
                    <a:lnTo>
                      <a:pt x="15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8" y="16"/>
                    </a:lnTo>
                    <a:lnTo>
                      <a:pt x="15" y="13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5" name="Freeform 442"/>
              <p:cNvSpPr>
                <a:spLocks noChangeAspect="1" noChangeArrowheads="1"/>
              </p:cNvSpPr>
              <p:nvPr/>
            </p:nvSpPr>
            <p:spPr bwMode="auto">
              <a:xfrm>
                <a:off x="5182" y="2236"/>
                <a:ext cx="6" cy="6"/>
              </a:xfrm>
              <a:custGeom>
                <a:avLst/>
                <a:gdLst>
                  <a:gd name="T0" fmla="*/ 16 w 17"/>
                  <a:gd name="T1" fmla="*/ 8 h 16"/>
                  <a:gd name="T2" fmla="*/ 13 w 17"/>
                  <a:gd name="T3" fmla="*/ 2 h 16"/>
                  <a:gd name="T4" fmla="*/ 8 w 17"/>
                  <a:gd name="T5" fmla="*/ 0 h 16"/>
                  <a:gd name="T6" fmla="*/ 2 w 17"/>
                  <a:gd name="T7" fmla="*/ 2 h 16"/>
                  <a:gd name="T8" fmla="*/ 0 w 17"/>
                  <a:gd name="T9" fmla="*/ 8 h 16"/>
                  <a:gd name="T10" fmla="*/ 2 w 17"/>
                  <a:gd name="T11" fmla="*/ 13 h 16"/>
                  <a:gd name="T12" fmla="*/ 8 w 17"/>
                  <a:gd name="T13" fmla="*/ 16 h 16"/>
                  <a:gd name="T14" fmla="*/ 13 w 17"/>
                  <a:gd name="T15" fmla="*/ 13 h 16"/>
                  <a:gd name="T16" fmla="*/ 16 w 17"/>
                  <a:gd name="T17" fmla="*/ 8 h 16"/>
                  <a:gd name="T18" fmla="*/ 17 w 17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16" y="8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6" name="Freeform 443"/>
              <p:cNvSpPr>
                <a:spLocks noChangeAspect="1" noChangeArrowheads="1"/>
              </p:cNvSpPr>
              <p:nvPr/>
            </p:nvSpPr>
            <p:spPr bwMode="auto">
              <a:xfrm>
                <a:off x="5190" y="2277"/>
                <a:ext cx="6" cy="6"/>
              </a:xfrm>
              <a:custGeom>
                <a:avLst/>
                <a:gdLst>
                  <a:gd name="T0" fmla="*/ 16 w 18"/>
                  <a:gd name="T1" fmla="*/ 8 h 16"/>
                  <a:gd name="T2" fmla="*/ 13 w 18"/>
                  <a:gd name="T3" fmla="*/ 2 h 16"/>
                  <a:gd name="T4" fmla="*/ 8 w 18"/>
                  <a:gd name="T5" fmla="*/ 0 h 16"/>
                  <a:gd name="T6" fmla="*/ 2 w 18"/>
                  <a:gd name="T7" fmla="*/ 2 h 16"/>
                  <a:gd name="T8" fmla="*/ 0 w 18"/>
                  <a:gd name="T9" fmla="*/ 8 h 16"/>
                  <a:gd name="T10" fmla="*/ 2 w 18"/>
                  <a:gd name="T11" fmla="*/ 14 h 16"/>
                  <a:gd name="T12" fmla="*/ 8 w 18"/>
                  <a:gd name="T13" fmla="*/ 16 h 16"/>
                  <a:gd name="T14" fmla="*/ 13 w 18"/>
                  <a:gd name="T15" fmla="*/ 14 h 16"/>
                  <a:gd name="T16" fmla="*/ 16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6" y="8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6"/>
                    </a:lnTo>
                    <a:lnTo>
                      <a:pt x="13" y="14"/>
                    </a:lnTo>
                    <a:lnTo>
                      <a:pt x="16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7" name="Freeform 444"/>
              <p:cNvSpPr>
                <a:spLocks noChangeAspect="1" noChangeArrowheads="1"/>
              </p:cNvSpPr>
              <p:nvPr/>
            </p:nvSpPr>
            <p:spPr bwMode="auto">
              <a:xfrm>
                <a:off x="5190" y="2182"/>
                <a:ext cx="8" cy="5"/>
              </a:xfrm>
              <a:custGeom>
                <a:avLst/>
                <a:gdLst>
                  <a:gd name="T0" fmla="*/ 17 w 18"/>
                  <a:gd name="T1" fmla="*/ 9 h 17"/>
                  <a:gd name="T2" fmla="*/ 15 w 18"/>
                  <a:gd name="T3" fmla="*/ 3 h 17"/>
                  <a:gd name="T4" fmla="*/ 8 w 18"/>
                  <a:gd name="T5" fmla="*/ 0 h 17"/>
                  <a:gd name="T6" fmla="*/ 3 w 18"/>
                  <a:gd name="T7" fmla="*/ 3 h 17"/>
                  <a:gd name="T8" fmla="*/ 0 w 18"/>
                  <a:gd name="T9" fmla="*/ 9 h 17"/>
                  <a:gd name="T10" fmla="*/ 3 w 18"/>
                  <a:gd name="T11" fmla="*/ 15 h 17"/>
                  <a:gd name="T12" fmla="*/ 8 w 18"/>
                  <a:gd name="T13" fmla="*/ 17 h 17"/>
                  <a:gd name="T14" fmla="*/ 15 w 18"/>
                  <a:gd name="T15" fmla="*/ 15 h 17"/>
                  <a:gd name="T16" fmla="*/ 17 w 18"/>
                  <a:gd name="T17" fmla="*/ 9 h 17"/>
                  <a:gd name="T18" fmla="*/ 18 w 18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17" y="9"/>
                    </a:moveTo>
                    <a:lnTo>
                      <a:pt x="15" y="3"/>
                    </a:lnTo>
                    <a:lnTo>
                      <a:pt x="8" y="0"/>
                    </a:lnTo>
                    <a:lnTo>
                      <a:pt x="3" y="3"/>
                    </a:lnTo>
                    <a:lnTo>
                      <a:pt x="0" y="9"/>
                    </a:lnTo>
                    <a:lnTo>
                      <a:pt x="3" y="15"/>
                    </a:lnTo>
                    <a:lnTo>
                      <a:pt x="8" y="17"/>
                    </a:lnTo>
                    <a:lnTo>
                      <a:pt x="15" y="15"/>
                    </a:lnTo>
                    <a:lnTo>
                      <a:pt x="17" y="9"/>
                    </a:lnTo>
                    <a:lnTo>
                      <a:pt x="18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8" name="Freeform 445"/>
              <p:cNvSpPr>
                <a:spLocks noChangeAspect="1" noChangeArrowheads="1"/>
              </p:cNvSpPr>
              <p:nvPr/>
            </p:nvSpPr>
            <p:spPr bwMode="auto">
              <a:xfrm>
                <a:off x="5188" y="2067"/>
                <a:ext cx="5" cy="5"/>
              </a:xfrm>
              <a:custGeom>
                <a:avLst/>
                <a:gdLst>
                  <a:gd name="T0" fmla="*/ 16 w 17"/>
                  <a:gd name="T1" fmla="*/ 9 h 17"/>
                  <a:gd name="T2" fmla="*/ 14 w 17"/>
                  <a:gd name="T3" fmla="*/ 3 h 17"/>
                  <a:gd name="T4" fmla="*/ 8 w 17"/>
                  <a:gd name="T5" fmla="*/ 0 h 17"/>
                  <a:gd name="T6" fmla="*/ 2 w 17"/>
                  <a:gd name="T7" fmla="*/ 3 h 17"/>
                  <a:gd name="T8" fmla="*/ 0 w 17"/>
                  <a:gd name="T9" fmla="*/ 9 h 17"/>
                  <a:gd name="T10" fmla="*/ 2 w 17"/>
                  <a:gd name="T11" fmla="*/ 15 h 17"/>
                  <a:gd name="T12" fmla="*/ 8 w 17"/>
                  <a:gd name="T13" fmla="*/ 17 h 17"/>
                  <a:gd name="T14" fmla="*/ 14 w 17"/>
                  <a:gd name="T15" fmla="*/ 15 h 17"/>
                  <a:gd name="T16" fmla="*/ 16 w 17"/>
                  <a:gd name="T17" fmla="*/ 9 h 17"/>
                  <a:gd name="T18" fmla="*/ 17 w 17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9"/>
                    </a:moveTo>
                    <a:lnTo>
                      <a:pt x="14" y="3"/>
                    </a:lnTo>
                    <a:lnTo>
                      <a:pt x="8" y="0"/>
                    </a:lnTo>
                    <a:lnTo>
                      <a:pt x="2" y="3"/>
                    </a:lnTo>
                    <a:lnTo>
                      <a:pt x="0" y="9"/>
                    </a:lnTo>
                    <a:lnTo>
                      <a:pt x="2" y="15"/>
                    </a:lnTo>
                    <a:lnTo>
                      <a:pt x="8" y="17"/>
                    </a:lnTo>
                    <a:lnTo>
                      <a:pt x="14" y="15"/>
                    </a:lnTo>
                    <a:lnTo>
                      <a:pt x="16" y="9"/>
                    </a:lnTo>
                    <a:lnTo>
                      <a:pt x="17" y="9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9" name="Freeform 446"/>
              <p:cNvSpPr>
                <a:spLocks noChangeAspect="1" noChangeArrowheads="1"/>
              </p:cNvSpPr>
              <p:nvPr/>
            </p:nvSpPr>
            <p:spPr bwMode="auto">
              <a:xfrm>
                <a:off x="4890" y="2015"/>
                <a:ext cx="10" cy="13"/>
              </a:xfrm>
              <a:custGeom>
                <a:avLst/>
                <a:gdLst>
                  <a:gd name="T0" fmla="*/ 1 w 33"/>
                  <a:gd name="T1" fmla="*/ 5 h 45"/>
                  <a:gd name="T2" fmla="*/ 0 w 33"/>
                  <a:gd name="T3" fmla="*/ 37 h 45"/>
                  <a:gd name="T4" fmla="*/ 10 w 33"/>
                  <a:gd name="T5" fmla="*/ 45 h 45"/>
                  <a:gd name="T6" fmla="*/ 24 w 33"/>
                  <a:gd name="T7" fmla="*/ 41 h 45"/>
                  <a:gd name="T8" fmla="*/ 33 w 33"/>
                  <a:gd name="T9" fmla="*/ 27 h 45"/>
                  <a:gd name="T10" fmla="*/ 29 w 33"/>
                  <a:gd name="T11" fmla="*/ 9 h 45"/>
                  <a:gd name="T12" fmla="*/ 14 w 33"/>
                  <a:gd name="T13" fmla="*/ 0 h 45"/>
                  <a:gd name="T14" fmla="*/ 1 w 33"/>
                  <a:gd name="T15" fmla="*/ 5 h 45"/>
                  <a:gd name="T16" fmla="*/ 2 w 33"/>
                  <a:gd name="T17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45">
                    <a:moveTo>
                      <a:pt x="1" y="5"/>
                    </a:moveTo>
                    <a:lnTo>
                      <a:pt x="0" y="37"/>
                    </a:lnTo>
                    <a:lnTo>
                      <a:pt x="10" y="45"/>
                    </a:lnTo>
                    <a:lnTo>
                      <a:pt x="24" y="41"/>
                    </a:lnTo>
                    <a:lnTo>
                      <a:pt x="33" y="27"/>
                    </a:lnTo>
                    <a:lnTo>
                      <a:pt x="29" y="9"/>
                    </a:lnTo>
                    <a:lnTo>
                      <a:pt x="14" y="0"/>
                    </a:lnTo>
                    <a:lnTo>
                      <a:pt x="1" y="5"/>
                    </a:lnTo>
                    <a:lnTo>
                      <a:pt x="2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0" name="Freeform 447"/>
              <p:cNvSpPr>
                <a:spLocks noChangeAspect="1" noChangeArrowheads="1"/>
              </p:cNvSpPr>
              <p:nvPr/>
            </p:nvSpPr>
            <p:spPr bwMode="auto">
              <a:xfrm>
                <a:off x="4805" y="2017"/>
                <a:ext cx="11" cy="17"/>
              </a:xfrm>
              <a:custGeom>
                <a:avLst/>
                <a:gdLst>
                  <a:gd name="T0" fmla="*/ 1 w 31"/>
                  <a:gd name="T1" fmla="*/ 5 h 46"/>
                  <a:gd name="T2" fmla="*/ 0 w 31"/>
                  <a:gd name="T3" fmla="*/ 38 h 46"/>
                  <a:gd name="T4" fmla="*/ 10 w 31"/>
                  <a:gd name="T5" fmla="*/ 46 h 46"/>
                  <a:gd name="T6" fmla="*/ 24 w 31"/>
                  <a:gd name="T7" fmla="*/ 41 h 46"/>
                  <a:gd name="T8" fmla="*/ 31 w 31"/>
                  <a:gd name="T9" fmla="*/ 27 h 46"/>
                  <a:gd name="T10" fmla="*/ 28 w 31"/>
                  <a:gd name="T11" fmla="*/ 11 h 46"/>
                  <a:gd name="T12" fmla="*/ 14 w 31"/>
                  <a:gd name="T13" fmla="*/ 0 h 46"/>
                  <a:gd name="T14" fmla="*/ 1 w 31"/>
                  <a:gd name="T15" fmla="*/ 5 h 46"/>
                  <a:gd name="T16" fmla="*/ 2 w 31"/>
                  <a:gd name="T17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6">
                    <a:moveTo>
                      <a:pt x="1" y="5"/>
                    </a:moveTo>
                    <a:lnTo>
                      <a:pt x="0" y="38"/>
                    </a:lnTo>
                    <a:lnTo>
                      <a:pt x="10" y="46"/>
                    </a:lnTo>
                    <a:lnTo>
                      <a:pt x="24" y="41"/>
                    </a:lnTo>
                    <a:lnTo>
                      <a:pt x="31" y="27"/>
                    </a:lnTo>
                    <a:lnTo>
                      <a:pt x="28" y="11"/>
                    </a:lnTo>
                    <a:lnTo>
                      <a:pt x="14" y="0"/>
                    </a:lnTo>
                    <a:lnTo>
                      <a:pt x="1" y="5"/>
                    </a:lnTo>
                    <a:lnTo>
                      <a:pt x="2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1" name="Freeform 448"/>
              <p:cNvSpPr>
                <a:spLocks noChangeAspect="1" noChangeArrowheads="1"/>
              </p:cNvSpPr>
              <p:nvPr/>
            </p:nvSpPr>
            <p:spPr bwMode="auto">
              <a:xfrm>
                <a:off x="4846" y="2026"/>
                <a:ext cx="8" cy="5"/>
              </a:xfrm>
              <a:custGeom>
                <a:avLst/>
                <a:gdLst>
                  <a:gd name="T0" fmla="*/ 17 w 18"/>
                  <a:gd name="T1" fmla="*/ 8 h 16"/>
                  <a:gd name="T2" fmla="*/ 15 w 18"/>
                  <a:gd name="T3" fmla="*/ 2 h 16"/>
                  <a:gd name="T4" fmla="*/ 8 w 18"/>
                  <a:gd name="T5" fmla="*/ 0 h 16"/>
                  <a:gd name="T6" fmla="*/ 3 w 18"/>
                  <a:gd name="T7" fmla="*/ 2 h 16"/>
                  <a:gd name="T8" fmla="*/ 0 w 18"/>
                  <a:gd name="T9" fmla="*/ 8 h 16"/>
                  <a:gd name="T10" fmla="*/ 3 w 18"/>
                  <a:gd name="T11" fmla="*/ 13 h 16"/>
                  <a:gd name="T12" fmla="*/ 8 w 18"/>
                  <a:gd name="T13" fmla="*/ 16 h 16"/>
                  <a:gd name="T14" fmla="*/ 15 w 18"/>
                  <a:gd name="T15" fmla="*/ 13 h 16"/>
                  <a:gd name="T16" fmla="*/ 17 w 18"/>
                  <a:gd name="T17" fmla="*/ 8 h 16"/>
                  <a:gd name="T18" fmla="*/ 18 w 18"/>
                  <a:gd name="T1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7" y="8"/>
                    </a:moveTo>
                    <a:lnTo>
                      <a:pt x="15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8" y="16"/>
                    </a:lnTo>
                    <a:lnTo>
                      <a:pt x="15" y="13"/>
                    </a:lnTo>
                    <a:lnTo>
                      <a:pt x="17" y="8"/>
                    </a:lnTo>
                    <a:lnTo>
                      <a:pt x="18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2" name="Freeform 449"/>
              <p:cNvSpPr>
                <a:spLocks noChangeAspect="1" noChangeArrowheads="1"/>
              </p:cNvSpPr>
              <p:nvPr/>
            </p:nvSpPr>
            <p:spPr bwMode="auto">
              <a:xfrm>
                <a:off x="5010" y="2017"/>
                <a:ext cx="11" cy="17"/>
              </a:xfrm>
              <a:custGeom>
                <a:avLst/>
                <a:gdLst>
                  <a:gd name="T0" fmla="*/ 1 w 33"/>
                  <a:gd name="T1" fmla="*/ 5 h 46"/>
                  <a:gd name="T2" fmla="*/ 0 w 33"/>
                  <a:gd name="T3" fmla="*/ 38 h 46"/>
                  <a:gd name="T4" fmla="*/ 10 w 33"/>
                  <a:gd name="T5" fmla="*/ 46 h 46"/>
                  <a:gd name="T6" fmla="*/ 25 w 33"/>
                  <a:gd name="T7" fmla="*/ 41 h 46"/>
                  <a:gd name="T8" fmla="*/ 33 w 33"/>
                  <a:gd name="T9" fmla="*/ 27 h 46"/>
                  <a:gd name="T10" fmla="*/ 30 w 33"/>
                  <a:gd name="T11" fmla="*/ 11 h 46"/>
                  <a:gd name="T12" fmla="*/ 15 w 33"/>
                  <a:gd name="T13" fmla="*/ 0 h 46"/>
                  <a:gd name="T14" fmla="*/ 1 w 33"/>
                  <a:gd name="T15" fmla="*/ 5 h 46"/>
                  <a:gd name="T16" fmla="*/ 2 w 33"/>
                  <a:gd name="T17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46">
                    <a:moveTo>
                      <a:pt x="1" y="5"/>
                    </a:moveTo>
                    <a:lnTo>
                      <a:pt x="0" y="38"/>
                    </a:lnTo>
                    <a:lnTo>
                      <a:pt x="10" y="46"/>
                    </a:lnTo>
                    <a:lnTo>
                      <a:pt x="25" y="41"/>
                    </a:lnTo>
                    <a:lnTo>
                      <a:pt x="33" y="27"/>
                    </a:lnTo>
                    <a:lnTo>
                      <a:pt x="30" y="11"/>
                    </a:lnTo>
                    <a:lnTo>
                      <a:pt x="15" y="0"/>
                    </a:lnTo>
                    <a:lnTo>
                      <a:pt x="1" y="5"/>
                    </a:lnTo>
                    <a:lnTo>
                      <a:pt x="2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3" name="Freeform 450"/>
              <p:cNvSpPr>
                <a:spLocks noChangeAspect="1" noChangeArrowheads="1"/>
              </p:cNvSpPr>
              <p:nvPr/>
            </p:nvSpPr>
            <p:spPr bwMode="auto">
              <a:xfrm>
                <a:off x="5070" y="2023"/>
                <a:ext cx="5" cy="5"/>
              </a:xfrm>
              <a:custGeom>
                <a:avLst/>
                <a:gdLst>
                  <a:gd name="T0" fmla="*/ 16 w 17"/>
                  <a:gd name="T1" fmla="*/ 8 h 15"/>
                  <a:gd name="T2" fmla="*/ 14 w 17"/>
                  <a:gd name="T3" fmla="*/ 2 h 15"/>
                  <a:gd name="T4" fmla="*/ 8 w 17"/>
                  <a:gd name="T5" fmla="*/ 0 h 15"/>
                  <a:gd name="T6" fmla="*/ 3 w 17"/>
                  <a:gd name="T7" fmla="*/ 2 h 15"/>
                  <a:gd name="T8" fmla="*/ 0 w 17"/>
                  <a:gd name="T9" fmla="*/ 8 h 15"/>
                  <a:gd name="T10" fmla="*/ 3 w 17"/>
                  <a:gd name="T11" fmla="*/ 13 h 15"/>
                  <a:gd name="T12" fmla="*/ 8 w 17"/>
                  <a:gd name="T13" fmla="*/ 15 h 15"/>
                  <a:gd name="T14" fmla="*/ 14 w 17"/>
                  <a:gd name="T15" fmla="*/ 13 h 15"/>
                  <a:gd name="T16" fmla="*/ 16 w 17"/>
                  <a:gd name="T17" fmla="*/ 8 h 15"/>
                  <a:gd name="T18" fmla="*/ 17 w 17"/>
                  <a:gd name="T1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5">
                    <a:moveTo>
                      <a:pt x="16" y="8"/>
                    </a:moveTo>
                    <a:lnTo>
                      <a:pt x="14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8" y="15"/>
                    </a:lnTo>
                    <a:lnTo>
                      <a:pt x="14" y="13"/>
                    </a:lnTo>
                    <a:lnTo>
                      <a:pt x="16" y="8"/>
                    </a:lnTo>
                    <a:lnTo>
                      <a:pt x="17" y="8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4" name="Freeform 451"/>
              <p:cNvSpPr>
                <a:spLocks noChangeAspect="1" noChangeArrowheads="1"/>
              </p:cNvSpPr>
              <p:nvPr/>
            </p:nvSpPr>
            <p:spPr bwMode="auto">
              <a:xfrm>
                <a:off x="4941" y="2058"/>
                <a:ext cx="11" cy="11"/>
              </a:xfrm>
              <a:custGeom>
                <a:avLst/>
                <a:gdLst>
                  <a:gd name="T0" fmla="*/ 4 w 32"/>
                  <a:gd name="T1" fmla="*/ 3 h 32"/>
                  <a:gd name="T2" fmla="*/ 0 w 32"/>
                  <a:gd name="T3" fmla="*/ 15 h 32"/>
                  <a:gd name="T4" fmla="*/ 4 w 32"/>
                  <a:gd name="T5" fmla="*/ 26 h 32"/>
                  <a:gd name="T6" fmla="*/ 15 w 32"/>
                  <a:gd name="T7" fmla="*/ 32 h 32"/>
                  <a:gd name="T8" fmla="*/ 28 w 32"/>
                  <a:gd name="T9" fmla="*/ 29 h 32"/>
                  <a:gd name="T10" fmla="*/ 32 w 32"/>
                  <a:gd name="T11" fmla="*/ 17 h 32"/>
                  <a:gd name="T12" fmla="*/ 27 w 32"/>
                  <a:gd name="T13" fmla="*/ 6 h 32"/>
                  <a:gd name="T14" fmla="*/ 15 w 32"/>
                  <a:gd name="T15" fmla="*/ 0 h 32"/>
                  <a:gd name="T16" fmla="*/ 9 w 32"/>
                  <a:gd name="T17" fmla="*/ 0 h 32"/>
                  <a:gd name="T18" fmla="*/ 4 w 32"/>
                  <a:gd name="T19" fmla="*/ 3 h 32"/>
                  <a:gd name="T20" fmla="*/ 5 w 32"/>
                  <a:gd name="T2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32">
                    <a:moveTo>
                      <a:pt x="4" y="3"/>
                    </a:moveTo>
                    <a:lnTo>
                      <a:pt x="0" y="15"/>
                    </a:lnTo>
                    <a:lnTo>
                      <a:pt x="4" y="26"/>
                    </a:lnTo>
                    <a:lnTo>
                      <a:pt x="15" y="32"/>
                    </a:lnTo>
                    <a:lnTo>
                      <a:pt x="28" y="29"/>
                    </a:lnTo>
                    <a:lnTo>
                      <a:pt x="32" y="17"/>
                    </a:lnTo>
                    <a:lnTo>
                      <a:pt x="27" y="6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3"/>
                    </a:lnTo>
                    <a:lnTo>
                      <a:pt x="5" y="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5" name="Freeform 452"/>
              <p:cNvSpPr>
                <a:spLocks noChangeAspect="1" noChangeArrowheads="1"/>
              </p:cNvSpPr>
              <p:nvPr/>
            </p:nvSpPr>
            <p:spPr bwMode="auto">
              <a:xfrm>
                <a:off x="4955" y="2135"/>
                <a:ext cx="8" cy="11"/>
              </a:xfrm>
              <a:custGeom>
                <a:avLst/>
                <a:gdLst>
                  <a:gd name="T0" fmla="*/ 4 w 30"/>
                  <a:gd name="T1" fmla="*/ 3 h 32"/>
                  <a:gd name="T2" fmla="*/ 0 w 30"/>
                  <a:gd name="T3" fmla="*/ 16 h 32"/>
                  <a:gd name="T4" fmla="*/ 3 w 30"/>
                  <a:gd name="T5" fmla="*/ 27 h 32"/>
                  <a:gd name="T6" fmla="*/ 15 w 30"/>
                  <a:gd name="T7" fmla="*/ 32 h 32"/>
                  <a:gd name="T8" fmla="*/ 27 w 30"/>
                  <a:gd name="T9" fmla="*/ 29 h 32"/>
                  <a:gd name="T10" fmla="*/ 30 w 30"/>
                  <a:gd name="T11" fmla="*/ 18 h 32"/>
                  <a:gd name="T12" fmla="*/ 26 w 30"/>
                  <a:gd name="T13" fmla="*/ 7 h 32"/>
                  <a:gd name="T14" fmla="*/ 15 w 30"/>
                  <a:gd name="T15" fmla="*/ 0 h 32"/>
                  <a:gd name="T16" fmla="*/ 9 w 30"/>
                  <a:gd name="T17" fmla="*/ 0 h 32"/>
                  <a:gd name="T18" fmla="*/ 4 w 30"/>
                  <a:gd name="T19" fmla="*/ 3 h 32"/>
                  <a:gd name="T20" fmla="*/ 5 w 30"/>
                  <a:gd name="T2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32">
                    <a:moveTo>
                      <a:pt x="4" y="3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15" y="32"/>
                    </a:lnTo>
                    <a:lnTo>
                      <a:pt x="27" y="29"/>
                    </a:lnTo>
                    <a:lnTo>
                      <a:pt x="30" y="18"/>
                    </a:lnTo>
                    <a:lnTo>
                      <a:pt x="26" y="7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3"/>
                    </a:lnTo>
                    <a:lnTo>
                      <a:pt x="5" y="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6" name="Freeform 453"/>
              <p:cNvSpPr>
                <a:spLocks noChangeAspect="1" noChangeArrowheads="1"/>
              </p:cNvSpPr>
              <p:nvPr/>
            </p:nvSpPr>
            <p:spPr bwMode="auto">
              <a:xfrm>
                <a:off x="4865" y="2217"/>
                <a:ext cx="11" cy="11"/>
              </a:xfrm>
              <a:custGeom>
                <a:avLst/>
                <a:gdLst>
                  <a:gd name="T0" fmla="*/ 4 w 31"/>
                  <a:gd name="T1" fmla="*/ 3 h 31"/>
                  <a:gd name="T2" fmla="*/ 0 w 31"/>
                  <a:gd name="T3" fmla="*/ 15 h 31"/>
                  <a:gd name="T4" fmla="*/ 3 w 31"/>
                  <a:gd name="T5" fmla="*/ 26 h 31"/>
                  <a:gd name="T6" fmla="*/ 16 w 31"/>
                  <a:gd name="T7" fmla="*/ 31 h 31"/>
                  <a:gd name="T8" fmla="*/ 27 w 31"/>
                  <a:gd name="T9" fmla="*/ 28 h 31"/>
                  <a:gd name="T10" fmla="*/ 31 w 31"/>
                  <a:gd name="T11" fmla="*/ 17 h 31"/>
                  <a:gd name="T12" fmla="*/ 27 w 31"/>
                  <a:gd name="T13" fmla="*/ 6 h 31"/>
                  <a:gd name="T14" fmla="*/ 16 w 31"/>
                  <a:gd name="T15" fmla="*/ 0 h 31"/>
                  <a:gd name="T16" fmla="*/ 9 w 31"/>
                  <a:gd name="T17" fmla="*/ 0 h 31"/>
                  <a:gd name="T18" fmla="*/ 4 w 31"/>
                  <a:gd name="T19" fmla="*/ 3 h 31"/>
                  <a:gd name="T20" fmla="*/ 5 w 31"/>
                  <a:gd name="T21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31">
                    <a:moveTo>
                      <a:pt x="4" y="3"/>
                    </a:moveTo>
                    <a:lnTo>
                      <a:pt x="0" y="15"/>
                    </a:lnTo>
                    <a:lnTo>
                      <a:pt x="3" y="26"/>
                    </a:lnTo>
                    <a:lnTo>
                      <a:pt x="16" y="31"/>
                    </a:lnTo>
                    <a:lnTo>
                      <a:pt x="27" y="28"/>
                    </a:lnTo>
                    <a:lnTo>
                      <a:pt x="31" y="17"/>
                    </a:lnTo>
                    <a:lnTo>
                      <a:pt x="27" y="6"/>
                    </a:lnTo>
                    <a:lnTo>
                      <a:pt x="16" y="0"/>
                    </a:lnTo>
                    <a:lnTo>
                      <a:pt x="9" y="0"/>
                    </a:lnTo>
                    <a:lnTo>
                      <a:pt x="4" y="3"/>
                    </a:lnTo>
                    <a:lnTo>
                      <a:pt x="5" y="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7" name="Freeform 454"/>
              <p:cNvSpPr>
                <a:spLocks noChangeAspect="1" noChangeArrowheads="1"/>
              </p:cNvSpPr>
              <p:nvPr/>
            </p:nvSpPr>
            <p:spPr bwMode="auto">
              <a:xfrm>
                <a:off x="5015" y="2266"/>
                <a:ext cx="11" cy="11"/>
              </a:xfrm>
              <a:custGeom>
                <a:avLst/>
                <a:gdLst>
                  <a:gd name="T0" fmla="*/ 5 w 32"/>
                  <a:gd name="T1" fmla="*/ 3 h 31"/>
                  <a:gd name="T2" fmla="*/ 0 w 32"/>
                  <a:gd name="T3" fmla="*/ 15 h 31"/>
                  <a:gd name="T4" fmla="*/ 5 w 32"/>
                  <a:gd name="T5" fmla="*/ 26 h 31"/>
                  <a:gd name="T6" fmla="*/ 16 w 32"/>
                  <a:gd name="T7" fmla="*/ 31 h 31"/>
                  <a:gd name="T8" fmla="*/ 28 w 32"/>
                  <a:gd name="T9" fmla="*/ 28 h 31"/>
                  <a:gd name="T10" fmla="*/ 32 w 32"/>
                  <a:gd name="T11" fmla="*/ 17 h 31"/>
                  <a:gd name="T12" fmla="*/ 27 w 32"/>
                  <a:gd name="T13" fmla="*/ 6 h 31"/>
                  <a:gd name="T14" fmla="*/ 16 w 32"/>
                  <a:gd name="T15" fmla="*/ 0 h 31"/>
                  <a:gd name="T16" fmla="*/ 10 w 32"/>
                  <a:gd name="T17" fmla="*/ 0 h 31"/>
                  <a:gd name="T18" fmla="*/ 5 w 32"/>
                  <a:gd name="T19" fmla="*/ 3 h 31"/>
                  <a:gd name="T20" fmla="*/ 6 w 32"/>
                  <a:gd name="T21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31">
                    <a:moveTo>
                      <a:pt x="5" y="3"/>
                    </a:moveTo>
                    <a:lnTo>
                      <a:pt x="0" y="15"/>
                    </a:lnTo>
                    <a:lnTo>
                      <a:pt x="5" y="26"/>
                    </a:lnTo>
                    <a:lnTo>
                      <a:pt x="16" y="31"/>
                    </a:lnTo>
                    <a:lnTo>
                      <a:pt x="28" y="28"/>
                    </a:lnTo>
                    <a:lnTo>
                      <a:pt x="32" y="17"/>
                    </a:lnTo>
                    <a:lnTo>
                      <a:pt x="27" y="6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5" y="3"/>
                    </a:lnTo>
                    <a:lnTo>
                      <a:pt x="6" y="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8" name="Freeform 455"/>
              <p:cNvSpPr>
                <a:spLocks noChangeAspect="1" noChangeArrowheads="1"/>
              </p:cNvSpPr>
              <p:nvPr/>
            </p:nvSpPr>
            <p:spPr bwMode="auto">
              <a:xfrm>
                <a:off x="5114" y="2283"/>
                <a:ext cx="11" cy="11"/>
              </a:xfrm>
              <a:custGeom>
                <a:avLst/>
                <a:gdLst>
                  <a:gd name="T0" fmla="*/ 5 w 32"/>
                  <a:gd name="T1" fmla="*/ 3 h 31"/>
                  <a:gd name="T2" fmla="*/ 0 w 32"/>
                  <a:gd name="T3" fmla="*/ 15 h 31"/>
                  <a:gd name="T4" fmla="*/ 5 w 32"/>
                  <a:gd name="T5" fmla="*/ 26 h 31"/>
                  <a:gd name="T6" fmla="*/ 16 w 32"/>
                  <a:gd name="T7" fmla="*/ 31 h 31"/>
                  <a:gd name="T8" fmla="*/ 28 w 32"/>
                  <a:gd name="T9" fmla="*/ 28 h 31"/>
                  <a:gd name="T10" fmla="*/ 32 w 32"/>
                  <a:gd name="T11" fmla="*/ 17 h 31"/>
                  <a:gd name="T12" fmla="*/ 28 w 32"/>
                  <a:gd name="T13" fmla="*/ 6 h 31"/>
                  <a:gd name="T14" fmla="*/ 16 w 32"/>
                  <a:gd name="T15" fmla="*/ 0 h 31"/>
                  <a:gd name="T16" fmla="*/ 10 w 32"/>
                  <a:gd name="T17" fmla="*/ 0 h 31"/>
                  <a:gd name="T18" fmla="*/ 5 w 32"/>
                  <a:gd name="T19" fmla="*/ 3 h 31"/>
                  <a:gd name="T20" fmla="*/ 6 w 32"/>
                  <a:gd name="T21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31">
                    <a:moveTo>
                      <a:pt x="5" y="3"/>
                    </a:moveTo>
                    <a:lnTo>
                      <a:pt x="0" y="15"/>
                    </a:lnTo>
                    <a:lnTo>
                      <a:pt x="5" y="26"/>
                    </a:lnTo>
                    <a:lnTo>
                      <a:pt x="16" y="31"/>
                    </a:lnTo>
                    <a:lnTo>
                      <a:pt x="28" y="28"/>
                    </a:lnTo>
                    <a:lnTo>
                      <a:pt x="32" y="17"/>
                    </a:lnTo>
                    <a:lnTo>
                      <a:pt x="28" y="6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5" y="3"/>
                    </a:lnTo>
                    <a:lnTo>
                      <a:pt x="6" y="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9" name="Freeform 456"/>
              <p:cNvSpPr>
                <a:spLocks noChangeAspect="1" noChangeArrowheads="1"/>
              </p:cNvSpPr>
              <p:nvPr/>
            </p:nvSpPr>
            <p:spPr bwMode="auto">
              <a:xfrm>
                <a:off x="5067" y="2318"/>
                <a:ext cx="11" cy="11"/>
              </a:xfrm>
              <a:custGeom>
                <a:avLst/>
                <a:gdLst>
                  <a:gd name="T0" fmla="*/ 4 w 30"/>
                  <a:gd name="T1" fmla="*/ 3 h 31"/>
                  <a:gd name="T2" fmla="*/ 0 w 30"/>
                  <a:gd name="T3" fmla="*/ 15 h 31"/>
                  <a:gd name="T4" fmla="*/ 3 w 30"/>
                  <a:gd name="T5" fmla="*/ 26 h 31"/>
                  <a:gd name="T6" fmla="*/ 15 w 30"/>
                  <a:gd name="T7" fmla="*/ 31 h 31"/>
                  <a:gd name="T8" fmla="*/ 27 w 30"/>
                  <a:gd name="T9" fmla="*/ 28 h 31"/>
                  <a:gd name="T10" fmla="*/ 30 w 30"/>
                  <a:gd name="T11" fmla="*/ 17 h 31"/>
                  <a:gd name="T12" fmla="*/ 26 w 30"/>
                  <a:gd name="T13" fmla="*/ 6 h 31"/>
                  <a:gd name="T14" fmla="*/ 15 w 30"/>
                  <a:gd name="T15" fmla="*/ 0 h 31"/>
                  <a:gd name="T16" fmla="*/ 9 w 30"/>
                  <a:gd name="T17" fmla="*/ 0 h 31"/>
                  <a:gd name="T18" fmla="*/ 4 w 30"/>
                  <a:gd name="T19" fmla="*/ 3 h 31"/>
                  <a:gd name="T20" fmla="*/ 5 w 30"/>
                  <a:gd name="T21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31">
                    <a:moveTo>
                      <a:pt x="4" y="3"/>
                    </a:moveTo>
                    <a:lnTo>
                      <a:pt x="0" y="15"/>
                    </a:lnTo>
                    <a:lnTo>
                      <a:pt x="3" y="26"/>
                    </a:lnTo>
                    <a:lnTo>
                      <a:pt x="15" y="31"/>
                    </a:lnTo>
                    <a:lnTo>
                      <a:pt x="27" y="28"/>
                    </a:lnTo>
                    <a:lnTo>
                      <a:pt x="30" y="17"/>
                    </a:lnTo>
                    <a:lnTo>
                      <a:pt x="26" y="6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3"/>
                    </a:lnTo>
                    <a:lnTo>
                      <a:pt x="5" y="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0" name="Freeform 457"/>
              <p:cNvSpPr>
                <a:spLocks noChangeAspect="1" noChangeArrowheads="1"/>
              </p:cNvSpPr>
              <p:nvPr/>
            </p:nvSpPr>
            <p:spPr bwMode="auto">
              <a:xfrm>
                <a:off x="5168" y="2203"/>
                <a:ext cx="11" cy="14"/>
              </a:xfrm>
              <a:custGeom>
                <a:avLst/>
                <a:gdLst>
                  <a:gd name="T0" fmla="*/ 4 w 30"/>
                  <a:gd name="T1" fmla="*/ 3 h 32"/>
                  <a:gd name="T2" fmla="*/ 0 w 30"/>
                  <a:gd name="T3" fmla="*/ 15 h 32"/>
                  <a:gd name="T4" fmla="*/ 3 w 30"/>
                  <a:gd name="T5" fmla="*/ 27 h 32"/>
                  <a:gd name="T6" fmla="*/ 15 w 30"/>
                  <a:gd name="T7" fmla="*/ 32 h 32"/>
                  <a:gd name="T8" fmla="*/ 27 w 30"/>
                  <a:gd name="T9" fmla="*/ 28 h 32"/>
                  <a:gd name="T10" fmla="*/ 30 w 30"/>
                  <a:gd name="T11" fmla="*/ 17 h 32"/>
                  <a:gd name="T12" fmla="*/ 26 w 30"/>
                  <a:gd name="T13" fmla="*/ 6 h 32"/>
                  <a:gd name="T14" fmla="*/ 15 w 30"/>
                  <a:gd name="T15" fmla="*/ 0 h 32"/>
                  <a:gd name="T16" fmla="*/ 9 w 30"/>
                  <a:gd name="T17" fmla="*/ 0 h 32"/>
                  <a:gd name="T18" fmla="*/ 4 w 30"/>
                  <a:gd name="T19" fmla="*/ 3 h 32"/>
                  <a:gd name="T20" fmla="*/ 5 w 30"/>
                  <a:gd name="T2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32">
                    <a:moveTo>
                      <a:pt x="4" y="3"/>
                    </a:moveTo>
                    <a:lnTo>
                      <a:pt x="0" y="15"/>
                    </a:lnTo>
                    <a:lnTo>
                      <a:pt x="3" y="27"/>
                    </a:lnTo>
                    <a:lnTo>
                      <a:pt x="15" y="32"/>
                    </a:lnTo>
                    <a:lnTo>
                      <a:pt x="27" y="28"/>
                    </a:lnTo>
                    <a:lnTo>
                      <a:pt x="30" y="17"/>
                    </a:lnTo>
                    <a:lnTo>
                      <a:pt x="26" y="6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3"/>
                    </a:lnTo>
                    <a:lnTo>
                      <a:pt x="5" y="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1" name="Freeform 458"/>
              <p:cNvSpPr>
                <a:spLocks noChangeAspect="1" noChangeArrowheads="1"/>
              </p:cNvSpPr>
              <p:nvPr/>
            </p:nvSpPr>
            <p:spPr bwMode="auto">
              <a:xfrm>
                <a:off x="5209" y="2201"/>
                <a:ext cx="9" cy="11"/>
              </a:xfrm>
              <a:custGeom>
                <a:avLst/>
                <a:gdLst>
                  <a:gd name="T0" fmla="*/ 4 w 32"/>
                  <a:gd name="T1" fmla="*/ 3 h 31"/>
                  <a:gd name="T2" fmla="*/ 0 w 32"/>
                  <a:gd name="T3" fmla="*/ 15 h 31"/>
                  <a:gd name="T4" fmla="*/ 4 w 32"/>
                  <a:gd name="T5" fmla="*/ 26 h 31"/>
                  <a:gd name="T6" fmla="*/ 16 w 32"/>
                  <a:gd name="T7" fmla="*/ 31 h 31"/>
                  <a:gd name="T8" fmla="*/ 28 w 32"/>
                  <a:gd name="T9" fmla="*/ 28 h 31"/>
                  <a:gd name="T10" fmla="*/ 32 w 32"/>
                  <a:gd name="T11" fmla="*/ 17 h 31"/>
                  <a:gd name="T12" fmla="*/ 28 w 32"/>
                  <a:gd name="T13" fmla="*/ 6 h 31"/>
                  <a:gd name="T14" fmla="*/ 17 w 32"/>
                  <a:gd name="T15" fmla="*/ 0 h 31"/>
                  <a:gd name="T16" fmla="*/ 9 w 32"/>
                  <a:gd name="T17" fmla="*/ 0 h 31"/>
                  <a:gd name="T18" fmla="*/ 4 w 32"/>
                  <a:gd name="T19" fmla="*/ 3 h 31"/>
                  <a:gd name="T20" fmla="*/ 5 w 32"/>
                  <a:gd name="T21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31">
                    <a:moveTo>
                      <a:pt x="4" y="3"/>
                    </a:moveTo>
                    <a:lnTo>
                      <a:pt x="0" y="15"/>
                    </a:lnTo>
                    <a:lnTo>
                      <a:pt x="4" y="26"/>
                    </a:lnTo>
                    <a:lnTo>
                      <a:pt x="16" y="31"/>
                    </a:lnTo>
                    <a:lnTo>
                      <a:pt x="28" y="28"/>
                    </a:lnTo>
                    <a:lnTo>
                      <a:pt x="32" y="17"/>
                    </a:lnTo>
                    <a:lnTo>
                      <a:pt x="28" y="6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4" y="3"/>
                    </a:lnTo>
                    <a:lnTo>
                      <a:pt x="5" y="3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2" name="Freeform 459"/>
              <p:cNvSpPr>
                <a:spLocks noChangeAspect="1" noChangeArrowheads="1"/>
              </p:cNvSpPr>
              <p:nvPr/>
            </p:nvSpPr>
            <p:spPr bwMode="auto">
              <a:xfrm>
                <a:off x="5097" y="2009"/>
                <a:ext cx="11" cy="17"/>
              </a:xfrm>
              <a:custGeom>
                <a:avLst/>
                <a:gdLst>
                  <a:gd name="T0" fmla="*/ 5 w 35"/>
                  <a:gd name="T1" fmla="*/ 4 h 45"/>
                  <a:gd name="T2" fmla="*/ 0 w 35"/>
                  <a:gd name="T3" fmla="*/ 20 h 45"/>
                  <a:gd name="T4" fmla="*/ 3 w 35"/>
                  <a:gd name="T5" fmla="*/ 37 h 45"/>
                  <a:gd name="T6" fmla="*/ 7 w 35"/>
                  <a:gd name="T7" fmla="*/ 42 h 45"/>
                  <a:gd name="T8" fmla="*/ 14 w 35"/>
                  <a:gd name="T9" fmla="*/ 45 h 45"/>
                  <a:gd name="T10" fmla="*/ 21 w 35"/>
                  <a:gd name="T11" fmla="*/ 44 h 45"/>
                  <a:gd name="T12" fmla="*/ 28 w 35"/>
                  <a:gd name="T13" fmla="*/ 41 h 45"/>
                  <a:gd name="T14" fmla="*/ 35 w 35"/>
                  <a:gd name="T15" fmla="*/ 25 h 45"/>
                  <a:gd name="T16" fmla="*/ 35 w 35"/>
                  <a:gd name="T17" fmla="*/ 16 h 45"/>
                  <a:gd name="T18" fmla="*/ 32 w 35"/>
                  <a:gd name="T19" fmla="*/ 9 h 45"/>
                  <a:gd name="T20" fmla="*/ 26 w 35"/>
                  <a:gd name="T21" fmla="*/ 3 h 45"/>
                  <a:gd name="T22" fmla="*/ 18 w 35"/>
                  <a:gd name="T23" fmla="*/ 0 h 45"/>
                  <a:gd name="T24" fmla="*/ 9 w 35"/>
                  <a:gd name="T25" fmla="*/ 0 h 45"/>
                  <a:gd name="T26" fmla="*/ 5 w 35"/>
                  <a:gd name="T27" fmla="*/ 4 h 45"/>
                  <a:gd name="T28" fmla="*/ 6 w 35"/>
                  <a:gd name="T29" fmla="*/ 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45">
                    <a:moveTo>
                      <a:pt x="5" y="4"/>
                    </a:moveTo>
                    <a:lnTo>
                      <a:pt x="0" y="20"/>
                    </a:lnTo>
                    <a:lnTo>
                      <a:pt x="3" y="37"/>
                    </a:lnTo>
                    <a:lnTo>
                      <a:pt x="7" y="42"/>
                    </a:lnTo>
                    <a:lnTo>
                      <a:pt x="14" y="45"/>
                    </a:lnTo>
                    <a:lnTo>
                      <a:pt x="21" y="44"/>
                    </a:lnTo>
                    <a:lnTo>
                      <a:pt x="28" y="41"/>
                    </a:lnTo>
                    <a:lnTo>
                      <a:pt x="35" y="25"/>
                    </a:lnTo>
                    <a:lnTo>
                      <a:pt x="35" y="16"/>
                    </a:lnTo>
                    <a:lnTo>
                      <a:pt x="32" y="9"/>
                    </a:lnTo>
                    <a:lnTo>
                      <a:pt x="26" y="3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5" y="4"/>
                    </a:lnTo>
                    <a:lnTo>
                      <a:pt x="6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3" name="Freeform 460"/>
              <p:cNvSpPr>
                <a:spLocks noChangeAspect="1" noChangeArrowheads="1"/>
              </p:cNvSpPr>
              <p:nvPr/>
            </p:nvSpPr>
            <p:spPr bwMode="auto">
              <a:xfrm>
                <a:off x="5086" y="2187"/>
                <a:ext cx="14" cy="16"/>
              </a:xfrm>
              <a:custGeom>
                <a:avLst/>
                <a:gdLst>
                  <a:gd name="T0" fmla="*/ 3 w 35"/>
                  <a:gd name="T1" fmla="*/ 5 h 45"/>
                  <a:gd name="T2" fmla="*/ 0 w 35"/>
                  <a:gd name="T3" fmla="*/ 21 h 45"/>
                  <a:gd name="T4" fmla="*/ 2 w 35"/>
                  <a:gd name="T5" fmla="*/ 36 h 45"/>
                  <a:gd name="T6" fmla="*/ 6 w 35"/>
                  <a:gd name="T7" fmla="*/ 43 h 45"/>
                  <a:gd name="T8" fmla="*/ 12 w 35"/>
                  <a:gd name="T9" fmla="*/ 45 h 45"/>
                  <a:gd name="T10" fmla="*/ 20 w 35"/>
                  <a:gd name="T11" fmla="*/ 45 h 45"/>
                  <a:gd name="T12" fmla="*/ 27 w 35"/>
                  <a:gd name="T13" fmla="*/ 41 h 45"/>
                  <a:gd name="T14" fmla="*/ 35 w 35"/>
                  <a:gd name="T15" fmla="*/ 26 h 45"/>
                  <a:gd name="T16" fmla="*/ 35 w 35"/>
                  <a:gd name="T17" fmla="*/ 17 h 45"/>
                  <a:gd name="T18" fmla="*/ 32 w 35"/>
                  <a:gd name="T19" fmla="*/ 9 h 45"/>
                  <a:gd name="T20" fmla="*/ 25 w 35"/>
                  <a:gd name="T21" fmla="*/ 3 h 45"/>
                  <a:gd name="T22" fmla="*/ 16 w 35"/>
                  <a:gd name="T23" fmla="*/ 0 h 45"/>
                  <a:gd name="T24" fmla="*/ 8 w 35"/>
                  <a:gd name="T25" fmla="*/ 0 h 45"/>
                  <a:gd name="T26" fmla="*/ 3 w 35"/>
                  <a:gd name="T27" fmla="*/ 5 h 45"/>
                  <a:gd name="T28" fmla="*/ 4 w 35"/>
                  <a:gd name="T29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45">
                    <a:moveTo>
                      <a:pt x="3" y="5"/>
                    </a:moveTo>
                    <a:lnTo>
                      <a:pt x="0" y="21"/>
                    </a:lnTo>
                    <a:lnTo>
                      <a:pt x="2" y="36"/>
                    </a:lnTo>
                    <a:lnTo>
                      <a:pt x="6" y="43"/>
                    </a:lnTo>
                    <a:lnTo>
                      <a:pt x="12" y="45"/>
                    </a:lnTo>
                    <a:lnTo>
                      <a:pt x="20" y="45"/>
                    </a:lnTo>
                    <a:lnTo>
                      <a:pt x="27" y="41"/>
                    </a:lnTo>
                    <a:lnTo>
                      <a:pt x="35" y="26"/>
                    </a:lnTo>
                    <a:lnTo>
                      <a:pt x="35" y="17"/>
                    </a:lnTo>
                    <a:lnTo>
                      <a:pt x="32" y="9"/>
                    </a:lnTo>
                    <a:lnTo>
                      <a:pt x="25" y="3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4" name="Freeform 461"/>
              <p:cNvSpPr>
                <a:spLocks noChangeAspect="1" noChangeArrowheads="1"/>
              </p:cNvSpPr>
              <p:nvPr/>
            </p:nvSpPr>
            <p:spPr bwMode="auto">
              <a:xfrm>
                <a:off x="5163" y="2318"/>
                <a:ext cx="14" cy="17"/>
              </a:xfrm>
              <a:custGeom>
                <a:avLst/>
                <a:gdLst>
                  <a:gd name="T0" fmla="*/ 4 w 34"/>
                  <a:gd name="T1" fmla="*/ 4 h 45"/>
                  <a:gd name="T2" fmla="*/ 0 w 34"/>
                  <a:gd name="T3" fmla="*/ 20 h 45"/>
                  <a:gd name="T4" fmla="*/ 2 w 34"/>
                  <a:gd name="T5" fmla="*/ 36 h 45"/>
                  <a:gd name="T6" fmla="*/ 6 w 34"/>
                  <a:gd name="T7" fmla="*/ 42 h 45"/>
                  <a:gd name="T8" fmla="*/ 13 w 34"/>
                  <a:gd name="T9" fmla="*/ 45 h 45"/>
                  <a:gd name="T10" fmla="*/ 20 w 34"/>
                  <a:gd name="T11" fmla="*/ 45 h 45"/>
                  <a:gd name="T12" fmla="*/ 27 w 34"/>
                  <a:gd name="T13" fmla="*/ 41 h 45"/>
                  <a:gd name="T14" fmla="*/ 34 w 34"/>
                  <a:gd name="T15" fmla="*/ 25 h 45"/>
                  <a:gd name="T16" fmla="*/ 34 w 34"/>
                  <a:gd name="T17" fmla="*/ 17 h 45"/>
                  <a:gd name="T18" fmla="*/ 31 w 34"/>
                  <a:gd name="T19" fmla="*/ 9 h 45"/>
                  <a:gd name="T20" fmla="*/ 25 w 34"/>
                  <a:gd name="T21" fmla="*/ 3 h 45"/>
                  <a:gd name="T22" fmla="*/ 17 w 34"/>
                  <a:gd name="T23" fmla="*/ 0 h 45"/>
                  <a:gd name="T24" fmla="*/ 8 w 34"/>
                  <a:gd name="T25" fmla="*/ 0 h 45"/>
                  <a:gd name="T26" fmla="*/ 4 w 34"/>
                  <a:gd name="T27" fmla="*/ 4 h 45"/>
                  <a:gd name="T28" fmla="*/ 5 w 34"/>
                  <a:gd name="T29" fmla="*/ 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45">
                    <a:moveTo>
                      <a:pt x="4" y="4"/>
                    </a:moveTo>
                    <a:lnTo>
                      <a:pt x="0" y="20"/>
                    </a:lnTo>
                    <a:lnTo>
                      <a:pt x="2" y="36"/>
                    </a:lnTo>
                    <a:lnTo>
                      <a:pt x="6" y="42"/>
                    </a:lnTo>
                    <a:lnTo>
                      <a:pt x="13" y="45"/>
                    </a:lnTo>
                    <a:lnTo>
                      <a:pt x="20" y="45"/>
                    </a:lnTo>
                    <a:lnTo>
                      <a:pt x="27" y="41"/>
                    </a:lnTo>
                    <a:lnTo>
                      <a:pt x="34" y="25"/>
                    </a:lnTo>
                    <a:lnTo>
                      <a:pt x="34" y="17"/>
                    </a:lnTo>
                    <a:lnTo>
                      <a:pt x="31" y="9"/>
                    </a:lnTo>
                    <a:lnTo>
                      <a:pt x="25" y="3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5" y="4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5" name="Freeform 462"/>
              <p:cNvSpPr>
                <a:spLocks noChangeAspect="1" noChangeArrowheads="1"/>
              </p:cNvSpPr>
              <p:nvPr/>
            </p:nvSpPr>
            <p:spPr bwMode="auto">
              <a:xfrm>
                <a:off x="4920" y="2294"/>
                <a:ext cx="13" cy="13"/>
              </a:xfrm>
              <a:custGeom>
                <a:avLst/>
                <a:gdLst>
                  <a:gd name="T0" fmla="*/ 3 w 34"/>
                  <a:gd name="T1" fmla="*/ 5 h 46"/>
                  <a:gd name="T2" fmla="*/ 0 w 34"/>
                  <a:gd name="T3" fmla="*/ 22 h 46"/>
                  <a:gd name="T4" fmla="*/ 2 w 34"/>
                  <a:gd name="T5" fmla="*/ 37 h 46"/>
                  <a:gd name="T6" fmla="*/ 6 w 34"/>
                  <a:gd name="T7" fmla="*/ 43 h 46"/>
                  <a:gd name="T8" fmla="*/ 12 w 34"/>
                  <a:gd name="T9" fmla="*/ 46 h 46"/>
                  <a:gd name="T10" fmla="*/ 20 w 34"/>
                  <a:gd name="T11" fmla="*/ 45 h 46"/>
                  <a:gd name="T12" fmla="*/ 26 w 34"/>
                  <a:gd name="T13" fmla="*/ 41 h 46"/>
                  <a:gd name="T14" fmla="*/ 34 w 34"/>
                  <a:gd name="T15" fmla="*/ 27 h 46"/>
                  <a:gd name="T16" fmla="*/ 34 w 34"/>
                  <a:gd name="T17" fmla="*/ 17 h 46"/>
                  <a:gd name="T18" fmla="*/ 31 w 34"/>
                  <a:gd name="T19" fmla="*/ 9 h 46"/>
                  <a:gd name="T20" fmla="*/ 25 w 34"/>
                  <a:gd name="T21" fmla="*/ 3 h 46"/>
                  <a:gd name="T22" fmla="*/ 16 w 34"/>
                  <a:gd name="T23" fmla="*/ 0 h 46"/>
                  <a:gd name="T24" fmla="*/ 8 w 34"/>
                  <a:gd name="T25" fmla="*/ 1 h 46"/>
                  <a:gd name="T26" fmla="*/ 3 w 34"/>
                  <a:gd name="T27" fmla="*/ 5 h 46"/>
                  <a:gd name="T28" fmla="*/ 4 w 34"/>
                  <a:gd name="T2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46">
                    <a:moveTo>
                      <a:pt x="3" y="5"/>
                    </a:moveTo>
                    <a:lnTo>
                      <a:pt x="0" y="22"/>
                    </a:lnTo>
                    <a:lnTo>
                      <a:pt x="2" y="37"/>
                    </a:lnTo>
                    <a:lnTo>
                      <a:pt x="6" y="43"/>
                    </a:lnTo>
                    <a:lnTo>
                      <a:pt x="12" y="46"/>
                    </a:lnTo>
                    <a:lnTo>
                      <a:pt x="20" y="45"/>
                    </a:lnTo>
                    <a:lnTo>
                      <a:pt x="26" y="41"/>
                    </a:lnTo>
                    <a:lnTo>
                      <a:pt x="34" y="27"/>
                    </a:lnTo>
                    <a:lnTo>
                      <a:pt x="34" y="17"/>
                    </a:lnTo>
                    <a:lnTo>
                      <a:pt x="31" y="9"/>
                    </a:lnTo>
                    <a:lnTo>
                      <a:pt x="25" y="3"/>
                    </a:lnTo>
                    <a:lnTo>
                      <a:pt x="16" y="0"/>
                    </a:lnTo>
                    <a:lnTo>
                      <a:pt x="8" y="1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6" name="Freeform 463"/>
              <p:cNvSpPr>
                <a:spLocks noChangeAspect="1" noChangeArrowheads="1"/>
              </p:cNvSpPr>
              <p:nvPr/>
            </p:nvSpPr>
            <p:spPr bwMode="auto">
              <a:xfrm>
                <a:off x="4723" y="2192"/>
                <a:ext cx="11" cy="14"/>
              </a:xfrm>
              <a:custGeom>
                <a:avLst/>
                <a:gdLst>
                  <a:gd name="T0" fmla="*/ 3 w 34"/>
                  <a:gd name="T1" fmla="*/ 5 h 46"/>
                  <a:gd name="T2" fmla="*/ 0 w 34"/>
                  <a:gd name="T3" fmla="*/ 21 h 46"/>
                  <a:gd name="T4" fmla="*/ 2 w 34"/>
                  <a:gd name="T5" fmla="*/ 37 h 46"/>
                  <a:gd name="T6" fmla="*/ 6 w 34"/>
                  <a:gd name="T7" fmla="*/ 43 h 46"/>
                  <a:gd name="T8" fmla="*/ 12 w 34"/>
                  <a:gd name="T9" fmla="*/ 46 h 46"/>
                  <a:gd name="T10" fmla="*/ 20 w 34"/>
                  <a:gd name="T11" fmla="*/ 45 h 46"/>
                  <a:gd name="T12" fmla="*/ 27 w 34"/>
                  <a:gd name="T13" fmla="*/ 41 h 46"/>
                  <a:gd name="T14" fmla="*/ 34 w 34"/>
                  <a:gd name="T15" fmla="*/ 27 h 46"/>
                  <a:gd name="T16" fmla="*/ 34 w 34"/>
                  <a:gd name="T17" fmla="*/ 17 h 46"/>
                  <a:gd name="T18" fmla="*/ 31 w 34"/>
                  <a:gd name="T19" fmla="*/ 9 h 46"/>
                  <a:gd name="T20" fmla="*/ 25 w 34"/>
                  <a:gd name="T21" fmla="*/ 3 h 46"/>
                  <a:gd name="T22" fmla="*/ 16 w 34"/>
                  <a:gd name="T23" fmla="*/ 0 h 46"/>
                  <a:gd name="T24" fmla="*/ 8 w 34"/>
                  <a:gd name="T25" fmla="*/ 0 h 46"/>
                  <a:gd name="T26" fmla="*/ 3 w 34"/>
                  <a:gd name="T27" fmla="*/ 5 h 46"/>
                  <a:gd name="T28" fmla="*/ 4 w 34"/>
                  <a:gd name="T2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46">
                    <a:moveTo>
                      <a:pt x="3" y="5"/>
                    </a:moveTo>
                    <a:lnTo>
                      <a:pt x="0" y="21"/>
                    </a:lnTo>
                    <a:lnTo>
                      <a:pt x="2" y="37"/>
                    </a:lnTo>
                    <a:lnTo>
                      <a:pt x="6" y="43"/>
                    </a:lnTo>
                    <a:lnTo>
                      <a:pt x="12" y="46"/>
                    </a:lnTo>
                    <a:lnTo>
                      <a:pt x="20" y="45"/>
                    </a:lnTo>
                    <a:lnTo>
                      <a:pt x="27" y="41"/>
                    </a:lnTo>
                    <a:lnTo>
                      <a:pt x="34" y="27"/>
                    </a:lnTo>
                    <a:lnTo>
                      <a:pt x="34" y="17"/>
                    </a:lnTo>
                    <a:lnTo>
                      <a:pt x="31" y="9"/>
                    </a:lnTo>
                    <a:lnTo>
                      <a:pt x="25" y="3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7" name="Freeform 464"/>
              <p:cNvSpPr>
                <a:spLocks noChangeAspect="1" noChangeArrowheads="1"/>
              </p:cNvSpPr>
              <p:nvPr/>
            </p:nvSpPr>
            <p:spPr bwMode="auto">
              <a:xfrm>
                <a:off x="4739" y="2097"/>
                <a:ext cx="11" cy="16"/>
              </a:xfrm>
              <a:custGeom>
                <a:avLst/>
                <a:gdLst>
                  <a:gd name="T0" fmla="*/ 3 w 34"/>
                  <a:gd name="T1" fmla="*/ 5 h 46"/>
                  <a:gd name="T2" fmla="*/ 0 w 34"/>
                  <a:gd name="T3" fmla="*/ 22 h 46"/>
                  <a:gd name="T4" fmla="*/ 2 w 34"/>
                  <a:gd name="T5" fmla="*/ 37 h 46"/>
                  <a:gd name="T6" fmla="*/ 6 w 34"/>
                  <a:gd name="T7" fmla="*/ 43 h 46"/>
                  <a:gd name="T8" fmla="*/ 13 w 34"/>
                  <a:gd name="T9" fmla="*/ 46 h 46"/>
                  <a:gd name="T10" fmla="*/ 20 w 34"/>
                  <a:gd name="T11" fmla="*/ 45 h 46"/>
                  <a:gd name="T12" fmla="*/ 27 w 34"/>
                  <a:gd name="T13" fmla="*/ 41 h 46"/>
                  <a:gd name="T14" fmla="*/ 34 w 34"/>
                  <a:gd name="T15" fmla="*/ 27 h 46"/>
                  <a:gd name="T16" fmla="*/ 34 w 34"/>
                  <a:gd name="T17" fmla="*/ 17 h 46"/>
                  <a:gd name="T18" fmla="*/ 31 w 34"/>
                  <a:gd name="T19" fmla="*/ 9 h 46"/>
                  <a:gd name="T20" fmla="*/ 25 w 34"/>
                  <a:gd name="T21" fmla="*/ 3 h 46"/>
                  <a:gd name="T22" fmla="*/ 17 w 34"/>
                  <a:gd name="T23" fmla="*/ 0 h 46"/>
                  <a:gd name="T24" fmla="*/ 8 w 34"/>
                  <a:gd name="T25" fmla="*/ 1 h 46"/>
                  <a:gd name="T26" fmla="*/ 3 w 34"/>
                  <a:gd name="T27" fmla="*/ 5 h 46"/>
                  <a:gd name="T28" fmla="*/ 4 w 34"/>
                  <a:gd name="T2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46">
                    <a:moveTo>
                      <a:pt x="3" y="5"/>
                    </a:moveTo>
                    <a:lnTo>
                      <a:pt x="0" y="22"/>
                    </a:lnTo>
                    <a:lnTo>
                      <a:pt x="2" y="37"/>
                    </a:lnTo>
                    <a:lnTo>
                      <a:pt x="6" y="43"/>
                    </a:lnTo>
                    <a:lnTo>
                      <a:pt x="13" y="46"/>
                    </a:lnTo>
                    <a:lnTo>
                      <a:pt x="20" y="45"/>
                    </a:lnTo>
                    <a:lnTo>
                      <a:pt x="27" y="41"/>
                    </a:lnTo>
                    <a:lnTo>
                      <a:pt x="34" y="27"/>
                    </a:lnTo>
                    <a:lnTo>
                      <a:pt x="34" y="17"/>
                    </a:lnTo>
                    <a:lnTo>
                      <a:pt x="31" y="9"/>
                    </a:lnTo>
                    <a:lnTo>
                      <a:pt x="25" y="3"/>
                    </a:lnTo>
                    <a:lnTo>
                      <a:pt x="17" y="0"/>
                    </a:lnTo>
                    <a:lnTo>
                      <a:pt x="8" y="1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8" name="Freeform 465"/>
              <p:cNvSpPr>
                <a:spLocks noChangeAspect="1" noChangeArrowheads="1"/>
              </p:cNvSpPr>
              <p:nvPr/>
            </p:nvSpPr>
            <p:spPr bwMode="auto">
              <a:xfrm>
                <a:off x="5043" y="2031"/>
                <a:ext cx="11" cy="14"/>
              </a:xfrm>
              <a:custGeom>
                <a:avLst/>
                <a:gdLst>
                  <a:gd name="T0" fmla="*/ 3 w 35"/>
                  <a:gd name="T1" fmla="*/ 5 h 45"/>
                  <a:gd name="T2" fmla="*/ 0 w 35"/>
                  <a:gd name="T3" fmla="*/ 22 h 45"/>
                  <a:gd name="T4" fmla="*/ 2 w 35"/>
                  <a:gd name="T5" fmla="*/ 37 h 45"/>
                  <a:gd name="T6" fmla="*/ 6 w 35"/>
                  <a:gd name="T7" fmla="*/ 43 h 45"/>
                  <a:gd name="T8" fmla="*/ 13 w 35"/>
                  <a:gd name="T9" fmla="*/ 45 h 45"/>
                  <a:gd name="T10" fmla="*/ 21 w 35"/>
                  <a:gd name="T11" fmla="*/ 45 h 45"/>
                  <a:gd name="T12" fmla="*/ 28 w 35"/>
                  <a:gd name="T13" fmla="*/ 41 h 45"/>
                  <a:gd name="T14" fmla="*/ 35 w 35"/>
                  <a:gd name="T15" fmla="*/ 26 h 45"/>
                  <a:gd name="T16" fmla="*/ 35 w 35"/>
                  <a:gd name="T17" fmla="*/ 17 h 45"/>
                  <a:gd name="T18" fmla="*/ 32 w 35"/>
                  <a:gd name="T19" fmla="*/ 9 h 45"/>
                  <a:gd name="T20" fmla="*/ 26 w 35"/>
                  <a:gd name="T21" fmla="*/ 3 h 45"/>
                  <a:gd name="T22" fmla="*/ 16 w 35"/>
                  <a:gd name="T23" fmla="*/ 0 h 45"/>
                  <a:gd name="T24" fmla="*/ 8 w 35"/>
                  <a:gd name="T25" fmla="*/ 0 h 45"/>
                  <a:gd name="T26" fmla="*/ 3 w 35"/>
                  <a:gd name="T27" fmla="*/ 5 h 45"/>
                  <a:gd name="T28" fmla="*/ 4 w 35"/>
                  <a:gd name="T29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45">
                    <a:moveTo>
                      <a:pt x="3" y="5"/>
                    </a:moveTo>
                    <a:lnTo>
                      <a:pt x="0" y="22"/>
                    </a:lnTo>
                    <a:lnTo>
                      <a:pt x="2" y="37"/>
                    </a:lnTo>
                    <a:lnTo>
                      <a:pt x="6" y="43"/>
                    </a:lnTo>
                    <a:lnTo>
                      <a:pt x="13" y="45"/>
                    </a:lnTo>
                    <a:lnTo>
                      <a:pt x="21" y="45"/>
                    </a:lnTo>
                    <a:lnTo>
                      <a:pt x="28" y="41"/>
                    </a:lnTo>
                    <a:lnTo>
                      <a:pt x="35" y="26"/>
                    </a:lnTo>
                    <a:lnTo>
                      <a:pt x="35" y="17"/>
                    </a:lnTo>
                    <a:lnTo>
                      <a:pt x="32" y="9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4" y="5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7" name="Group 466"/>
            <p:cNvGrpSpPr>
              <a:grpSpLocks noChangeAspect="1"/>
            </p:cNvGrpSpPr>
            <p:nvPr/>
          </p:nvGrpSpPr>
          <p:grpSpPr bwMode="auto">
            <a:xfrm>
              <a:off x="4512" y="3556"/>
              <a:ext cx="919" cy="91"/>
              <a:chOff x="4169" y="3240"/>
              <a:chExt cx="919" cy="91"/>
            </a:xfrm>
          </p:grpSpPr>
          <p:sp>
            <p:nvSpPr>
              <p:cNvPr id="64" name="Freeform 467"/>
              <p:cNvSpPr>
                <a:spLocks noChangeAspect="1" noChangeArrowheads="1"/>
              </p:cNvSpPr>
              <p:nvPr/>
            </p:nvSpPr>
            <p:spPr bwMode="auto">
              <a:xfrm>
                <a:off x="4169" y="3240"/>
                <a:ext cx="919" cy="3"/>
              </a:xfrm>
              <a:custGeom>
                <a:avLst/>
                <a:gdLst>
                  <a:gd name="T0" fmla="*/ 2693 w 2693"/>
                  <a:gd name="T1" fmla="*/ 0 h 3"/>
                  <a:gd name="T2" fmla="*/ 0 w 2693"/>
                  <a:gd name="T3" fmla="*/ 0 h 3"/>
                  <a:gd name="T4" fmla="*/ 1 w 269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93" h="3">
                    <a:moveTo>
                      <a:pt x="2693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tx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5" name="Freeform 468"/>
              <p:cNvSpPr>
                <a:spLocks noChangeAspect="1" noChangeArrowheads="1"/>
              </p:cNvSpPr>
              <p:nvPr/>
            </p:nvSpPr>
            <p:spPr bwMode="auto">
              <a:xfrm>
                <a:off x="4169" y="3328"/>
                <a:ext cx="919" cy="3"/>
              </a:xfrm>
              <a:custGeom>
                <a:avLst/>
                <a:gdLst>
                  <a:gd name="T0" fmla="*/ 0 w 2694"/>
                  <a:gd name="T1" fmla="*/ 0 h 3"/>
                  <a:gd name="T2" fmla="*/ 2693 w 2694"/>
                  <a:gd name="T3" fmla="*/ 0 h 3"/>
                  <a:gd name="T4" fmla="*/ 2694 w 269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94" h="3">
                    <a:moveTo>
                      <a:pt x="0" y="0"/>
                    </a:moveTo>
                    <a:lnTo>
                      <a:pt x="2693" y="0"/>
                    </a:lnTo>
                    <a:lnTo>
                      <a:pt x="2694" y="0"/>
                    </a:lnTo>
                  </a:path>
                </a:pathLst>
              </a:custGeom>
              <a:solidFill>
                <a:schemeClr val="tx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6" name="Freeform 469"/>
              <p:cNvSpPr>
                <a:spLocks noChangeAspect="1" noChangeArrowheads="1"/>
              </p:cNvSpPr>
              <p:nvPr/>
            </p:nvSpPr>
            <p:spPr bwMode="auto">
              <a:xfrm>
                <a:off x="4208" y="3240"/>
                <a:ext cx="161" cy="88"/>
              </a:xfrm>
              <a:custGeom>
                <a:avLst/>
                <a:gdLst>
                  <a:gd name="T0" fmla="*/ 0 w 468"/>
                  <a:gd name="T1" fmla="*/ 0 h 262"/>
                  <a:gd name="T2" fmla="*/ 468 w 468"/>
                  <a:gd name="T3" fmla="*/ 0 h 262"/>
                  <a:gd name="T4" fmla="*/ 468 w 468"/>
                  <a:gd name="T5" fmla="*/ 262 h 262"/>
                  <a:gd name="T6" fmla="*/ 0 w 468"/>
                  <a:gd name="T7" fmla="*/ 262 h 262"/>
                  <a:gd name="T8" fmla="*/ 0 w 468"/>
                  <a:gd name="T9" fmla="*/ 0 h 262"/>
                  <a:gd name="T10" fmla="*/ 1 w 468"/>
                  <a:gd name="T1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8" h="262">
                    <a:moveTo>
                      <a:pt x="0" y="0"/>
                    </a:moveTo>
                    <a:lnTo>
                      <a:pt x="468" y="0"/>
                    </a:lnTo>
                    <a:lnTo>
                      <a:pt x="468" y="262"/>
                    </a:lnTo>
                    <a:lnTo>
                      <a:pt x="0" y="262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7" name="Freeform 470"/>
              <p:cNvSpPr>
                <a:spLocks noChangeAspect="1" noChangeArrowheads="1"/>
              </p:cNvSpPr>
              <p:nvPr/>
            </p:nvSpPr>
            <p:spPr bwMode="auto">
              <a:xfrm>
                <a:off x="4880" y="3240"/>
                <a:ext cx="159" cy="88"/>
              </a:xfrm>
              <a:custGeom>
                <a:avLst/>
                <a:gdLst>
                  <a:gd name="T0" fmla="*/ 0 w 468"/>
                  <a:gd name="T1" fmla="*/ 0 h 262"/>
                  <a:gd name="T2" fmla="*/ 468 w 468"/>
                  <a:gd name="T3" fmla="*/ 0 h 262"/>
                  <a:gd name="T4" fmla="*/ 468 w 468"/>
                  <a:gd name="T5" fmla="*/ 262 h 262"/>
                  <a:gd name="T6" fmla="*/ 0 w 468"/>
                  <a:gd name="T7" fmla="*/ 262 h 262"/>
                  <a:gd name="T8" fmla="*/ 0 w 468"/>
                  <a:gd name="T9" fmla="*/ 0 h 262"/>
                  <a:gd name="T10" fmla="*/ 1 w 468"/>
                  <a:gd name="T1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8" h="262">
                    <a:moveTo>
                      <a:pt x="0" y="0"/>
                    </a:moveTo>
                    <a:lnTo>
                      <a:pt x="468" y="0"/>
                    </a:lnTo>
                    <a:lnTo>
                      <a:pt x="468" y="262"/>
                    </a:lnTo>
                    <a:lnTo>
                      <a:pt x="0" y="262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8" name="Freeform 471"/>
              <p:cNvSpPr>
                <a:spLocks noChangeAspect="1" noChangeArrowheads="1"/>
              </p:cNvSpPr>
              <p:nvPr/>
            </p:nvSpPr>
            <p:spPr bwMode="auto">
              <a:xfrm>
                <a:off x="4549" y="3240"/>
                <a:ext cx="159" cy="88"/>
              </a:xfrm>
              <a:custGeom>
                <a:avLst/>
                <a:gdLst>
                  <a:gd name="T0" fmla="*/ 0 w 467"/>
                  <a:gd name="T1" fmla="*/ 0 h 262"/>
                  <a:gd name="T2" fmla="*/ 467 w 467"/>
                  <a:gd name="T3" fmla="*/ 0 h 262"/>
                  <a:gd name="T4" fmla="*/ 467 w 467"/>
                  <a:gd name="T5" fmla="*/ 262 h 262"/>
                  <a:gd name="T6" fmla="*/ 0 w 467"/>
                  <a:gd name="T7" fmla="*/ 262 h 262"/>
                  <a:gd name="T8" fmla="*/ 0 w 467"/>
                  <a:gd name="T9" fmla="*/ 0 h 262"/>
                  <a:gd name="T10" fmla="*/ 1 w 467"/>
                  <a:gd name="T1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7" h="262">
                    <a:moveTo>
                      <a:pt x="0" y="0"/>
                    </a:moveTo>
                    <a:lnTo>
                      <a:pt x="467" y="0"/>
                    </a:lnTo>
                    <a:lnTo>
                      <a:pt x="467" y="262"/>
                    </a:lnTo>
                    <a:lnTo>
                      <a:pt x="0" y="262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18" name="Text Box 472"/>
            <p:cNvSpPr txBox="1">
              <a:spLocks noChangeAspect="1" noChangeArrowheads="1"/>
            </p:cNvSpPr>
            <p:nvPr/>
          </p:nvSpPr>
          <p:spPr bwMode="auto">
            <a:xfrm>
              <a:off x="144" y="576"/>
              <a:ext cx="1200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400">
                  <a:latin typeface="宋体" panose="02010600030101010101" pitchFamily="2" charset="-122"/>
                </a:rPr>
                <a:t>金属材料（已有规定剖面符号者除外） </a:t>
              </a:r>
            </a:p>
          </p:txBody>
        </p:sp>
        <p:sp>
          <p:nvSpPr>
            <p:cNvPr id="19" name="Text Box 473"/>
            <p:cNvSpPr txBox="1">
              <a:spLocks noChangeAspect="1" noChangeArrowheads="1"/>
            </p:cNvSpPr>
            <p:nvPr/>
          </p:nvSpPr>
          <p:spPr bwMode="auto">
            <a:xfrm>
              <a:off x="144" y="1297"/>
              <a:ext cx="1343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400">
                  <a:latin typeface="宋体" panose="02010600030101010101" pitchFamily="2" charset="-122"/>
                </a:rPr>
                <a:t>非金属材料（已有规定剖面符号者除外） </a:t>
              </a:r>
            </a:p>
          </p:txBody>
        </p:sp>
        <p:sp>
          <p:nvSpPr>
            <p:cNvPr id="20" name="Text Box 474"/>
            <p:cNvSpPr txBox="1">
              <a:spLocks noChangeAspect="1" noChangeArrowheads="1"/>
            </p:cNvSpPr>
            <p:nvPr/>
          </p:nvSpPr>
          <p:spPr bwMode="auto">
            <a:xfrm>
              <a:off x="240" y="2400"/>
              <a:ext cx="432" cy="2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木材</a:t>
              </a:r>
              <a:r>
                <a:rPr lang="zh-CN" altLang="en-US" sz="1400">
                  <a:latin typeface="宋体" panose="02010600030101010101" pitchFamily="2" charset="-122"/>
                </a:rPr>
                <a:t> </a:t>
              </a:r>
            </a:p>
          </p:txBody>
        </p:sp>
        <p:sp>
          <p:nvSpPr>
            <p:cNvPr id="21" name="Text Box 475"/>
            <p:cNvSpPr txBox="1">
              <a:spLocks noChangeAspect="1" noChangeArrowheads="1"/>
            </p:cNvSpPr>
            <p:nvPr/>
          </p:nvSpPr>
          <p:spPr bwMode="auto">
            <a:xfrm>
              <a:off x="769" y="2064"/>
              <a:ext cx="527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纵剖面 </a:t>
              </a:r>
              <a:r>
                <a:rPr lang="zh-CN" altLang="en-US" sz="1400">
                  <a:latin typeface="宋体" panose="02010600030101010101" pitchFamily="2" charset="-122"/>
                </a:rPr>
                <a:t> </a:t>
              </a:r>
            </a:p>
          </p:txBody>
        </p:sp>
        <p:sp>
          <p:nvSpPr>
            <p:cNvPr id="22" name="Text Box 476"/>
            <p:cNvSpPr txBox="1">
              <a:spLocks noChangeAspect="1" noChangeArrowheads="1"/>
            </p:cNvSpPr>
            <p:nvPr/>
          </p:nvSpPr>
          <p:spPr bwMode="auto">
            <a:xfrm>
              <a:off x="769" y="2688"/>
              <a:ext cx="527" cy="2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横剖面  </a:t>
              </a:r>
              <a:r>
                <a:rPr lang="zh-CN" altLang="en-US" sz="1400">
                  <a:latin typeface="宋体" panose="02010600030101010101" pitchFamily="2" charset="-122"/>
                </a:rPr>
                <a:t> </a:t>
              </a:r>
            </a:p>
          </p:txBody>
        </p:sp>
        <p:sp>
          <p:nvSpPr>
            <p:cNvPr id="23" name="Text Box 477"/>
            <p:cNvSpPr txBox="1">
              <a:spLocks noChangeAspect="1" noChangeArrowheads="1"/>
            </p:cNvSpPr>
            <p:nvPr/>
          </p:nvSpPr>
          <p:spPr bwMode="auto">
            <a:xfrm>
              <a:off x="192" y="3360"/>
              <a:ext cx="115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玻璃及供观察用的其他透明材料 </a:t>
              </a:r>
            </a:p>
          </p:txBody>
        </p:sp>
        <p:sp>
          <p:nvSpPr>
            <p:cNvPr id="24" name="Text Box 478"/>
            <p:cNvSpPr txBox="1">
              <a:spLocks noChangeAspect="1" noChangeArrowheads="1"/>
            </p:cNvSpPr>
            <p:nvPr/>
          </p:nvSpPr>
          <p:spPr bwMode="auto">
            <a:xfrm>
              <a:off x="2112" y="720"/>
              <a:ext cx="912" cy="2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线圈绕阻元件</a:t>
              </a:r>
              <a:r>
                <a:rPr lang="zh-CN" altLang="en-US" sz="1400">
                  <a:latin typeface="宋体" panose="02010600030101010101" pitchFamily="2" charset="-122"/>
                </a:rPr>
                <a:t> </a:t>
              </a:r>
            </a:p>
          </p:txBody>
        </p:sp>
        <p:sp>
          <p:nvSpPr>
            <p:cNvPr id="25" name="Text Box 479"/>
            <p:cNvSpPr txBox="1">
              <a:spLocks noChangeAspect="1" noChangeArrowheads="1"/>
            </p:cNvSpPr>
            <p:nvPr/>
          </p:nvSpPr>
          <p:spPr bwMode="auto">
            <a:xfrm>
              <a:off x="2112" y="1200"/>
              <a:ext cx="912" cy="5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转子、电枢、变压器和电抗器等的叠钢片 </a:t>
              </a:r>
            </a:p>
          </p:txBody>
        </p:sp>
        <p:sp>
          <p:nvSpPr>
            <p:cNvPr id="26" name="Text Box 480"/>
            <p:cNvSpPr txBox="1">
              <a:spLocks noChangeAspect="1" noChangeArrowheads="1"/>
            </p:cNvSpPr>
            <p:nvPr/>
          </p:nvSpPr>
          <p:spPr bwMode="auto">
            <a:xfrm>
              <a:off x="2112" y="1872"/>
              <a:ext cx="912" cy="6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型砂、填沙、砂轮、陶瓷及硬质合金刀片、粉末冶金等 </a:t>
              </a:r>
            </a:p>
          </p:txBody>
        </p:sp>
        <p:sp>
          <p:nvSpPr>
            <p:cNvPr id="27" name="Text Box 481"/>
            <p:cNvSpPr txBox="1">
              <a:spLocks noChangeAspect="1" noChangeArrowheads="1"/>
            </p:cNvSpPr>
            <p:nvPr/>
          </p:nvSpPr>
          <p:spPr bwMode="auto">
            <a:xfrm>
              <a:off x="2304" y="2736"/>
              <a:ext cx="576" cy="2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600">
                  <a:latin typeface="Times New Roman" panose="02020603050405020304" pitchFamily="18" charset="0"/>
                </a:rPr>
                <a:t>液体 </a:t>
              </a:r>
            </a:p>
          </p:txBody>
        </p:sp>
        <p:sp>
          <p:nvSpPr>
            <p:cNvPr id="28" name="Text Box 482"/>
            <p:cNvSpPr txBox="1">
              <a:spLocks noChangeAspect="1" noChangeArrowheads="1"/>
            </p:cNvSpPr>
            <p:nvPr/>
          </p:nvSpPr>
          <p:spPr bwMode="auto">
            <a:xfrm>
              <a:off x="2256" y="3360"/>
              <a:ext cx="672" cy="5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木质胶合板（不分层数） </a:t>
              </a:r>
            </a:p>
          </p:txBody>
        </p:sp>
        <p:sp>
          <p:nvSpPr>
            <p:cNvPr id="29" name="Text Box 483"/>
            <p:cNvSpPr txBox="1">
              <a:spLocks noChangeAspect="1" noChangeArrowheads="1"/>
            </p:cNvSpPr>
            <p:nvPr/>
          </p:nvSpPr>
          <p:spPr bwMode="auto">
            <a:xfrm>
              <a:off x="3888" y="672"/>
              <a:ext cx="384" cy="2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砖</a:t>
              </a:r>
            </a:p>
          </p:txBody>
        </p:sp>
        <p:sp>
          <p:nvSpPr>
            <p:cNvPr id="30" name="Text Box 484"/>
            <p:cNvSpPr txBox="1">
              <a:spLocks noChangeAspect="1" noChangeArrowheads="1"/>
            </p:cNvSpPr>
            <p:nvPr/>
          </p:nvSpPr>
          <p:spPr bwMode="auto">
            <a:xfrm>
              <a:off x="3768" y="1344"/>
              <a:ext cx="624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混凝土 </a:t>
              </a:r>
            </a:p>
          </p:txBody>
        </p:sp>
        <p:sp>
          <p:nvSpPr>
            <p:cNvPr id="31" name="Text Box 485"/>
            <p:cNvSpPr txBox="1">
              <a:spLocks noChangeAspect="1" noChangeArrowheads="1"/>
            </p:cNvSpPr>
            <p:nvPr/>
          </p:nvSpPr>
          <p:spPr bwMode="auto">
            <a:xfrm>
              <a:off x="3696" y="2064"/>
              <a:ext cx="769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钢筋混凝土 </a:t>
              </a:r>
            </a:p>
          </p:txBody>
        </p:sp>
        <p:sp>
          <p:nvSpPr>
            <p:cNvPr id="32" name="Text Box 486"/>
            <p:cNvSpPr txBox="1">
              <a:spLocks noChangeAspect="1" noChangeArrowheads="1"/>
            </p:cNvSpPr>
            <p:nvPr/>
          </p:nvSpPr>
          <p:spPr bwMode="auto">
            <a:xfrm>
              <a:off x="3696" y="2640"/>
              <a:ext cx="769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基础周围的泥土   </a:t>
              </a:r>
            </a:p>
          </p:txBody>
        </p:sp>
        <p:sp>
          <p:nvSpPr>
            <p:cNvPr id="33" name="Text Box 487"/>
            <p:cNvSpPr txBox="1">
              <a:spLocks noChangeAspect="1" noChangeArrowheads="1"/>
            </p:cNvSpPr>
            <p:nvPr/>
          </p:nvSpPr>
          <p:spPr bwMode="auto">
            <a:xfrm>
              <a:off x="3696" y="3360"/>
              <a:ext cx="769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格网（筛网、过滤网等） </a:t>
              </a:r>
            </a:p>
          </p:txBody>
        </p:sp>
        <p:grpSp>
          <p:nvGrpSpPr>
            <p:cNvPr id="34" name="Group 488"/>
            <p:cNvGrpSpPr>
              <a:grpSpLocks noChangeAspect="1"/>
            </p:cNvGrpSpPr>
            <p:nvPr/>
          </p:nvGrpSpPr>
          <p:grpSpPr bwMode="auto">
            <a:xfrm>
              <a:off x="144" y="432"/>
              <a:ext cx="5484" cy="3504"/>
              <a:chOff x="144" y="432"/>
              <a:chExt cx="5484" cy="3504"/>
            </a:xfrm>
          </p:grpSpPr>
          <p:sp>
            <p:nvSpPr>
              <p:cNvPr id="53" name="Rectangle 489"/>
              <p:cNvSpPr>
                <a:spLocks noChangeAspect="1" noChangeArrowheads="1"/>
              </p:cNvSpPr>
              <p:nvPr/>
            </p:nvSpPr>
            <p:spPr bwMode="auto">
              <a:xfrm>
                <a:off x="144" y="432"/>
                <a:ext cx="5472" cy="3504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4" name="Line 490"/>
              <p:cNvSpPr>
                <a:spLocks noChangeAspect="1" noChangeShapeType="1"/>
              </p:cNvSpPr>
              <p:nvPr/>
            </p:nvSpPr>
            <p:spPr bwMode="auto">
              <a:xfrm>
                <a:off x="144" y="1056"/>
                <a:ext cx="5472" cy="0"/>
              </a:xfrm>
              <a:prstGeom prst="line">
                <a:avLst/>
              </a:prstGeom>
              <a:noFill/>
              <a:ln w="9525">
                <a:solidFill>
                  <a:srgbClr val="00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" name="Line 491"/>
              <p:cNvSpPr>
                <a:spLocks noChangeAspect="1" noChangeShapeType="1"/>
              </p:cNvSpPr>
              <p:nvPr/>
            </p:nvSpPr>
            <p:spPr bwMode="auto">
              <a:xfrm>
                <a:off x="156" y="1800"/>
                <a:ext cx="5472" cy="0"/>
              </a:xfrm>
              <a:prstGeom prst="line">
                <a:avLst/>
              </a:prstGeom>
              <a:noFill/>
              <a:ln w="9525">
                <a:solidFill>
                  <a:srgbClr val="00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" name="Line 492"/>
              <p:cNvSpPr>
                <a:spLocks noChangeAspect="1" noChangeShapeType="1"/>
              </p:cNvSpPr>
              <p:nvPr/>
            </p:nvSpPr>
            <p:spPr bwMode="auto">
              <a:xfrm>
                <a:off x="720" y="2544"/>
                <a:ext cx="4896" cy="0"/>
              </a:xfrm>
              <a:prstGeom prst="line">
                <a:avLst/>
              </a:prstGeom>
              <a:noFill/>
              <a:ln w="9525">
                <a:solidFill>
                  <a:srgbClr val="00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" name="Line 493"/>
              <p:cNvSpPr>
                <a:spLocks noChangeAspect="1" noChangeShapeType="1"/>
              </p:cNvSpPr>
              <p:nvPr/>
            </p:nvSpPr>
            <p:spPr bwMode="auto">
              <a:xfrm>
                <a:off x="156" y="3180"/>
                <a:ext cx="5472" cy="0"/>
              </a:xfrm>
              <a:prstGeom prst="line">
                <a:avLst/>
              </a:prstGeom>
              <a:noFill/>
              <a:ln w="9525">
                <a:solidFill>
                  <a:srgbClr val="00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" name="Line 494"/>
              <p:cNvSpPr>
                <a:spLocks noChangeAspect="1" noChangeShapeType="1"/>
              </p:cNvSpPr>
              <p:nvPr/>
            </p:nvSpPr>
            <p:spPr bwMode="auto">
              <a:xfrm>
                <a:off x="720" y="1800"/>
                <a:ext cx="0" cy="1380"/>
              </a:xfrm>
              <a:prstGeom prst="line">
                <a:avLst/>
              </a:prstGeom>
              <a:noFill/>
              <a:ln w="9525">
                <a:solidFill>
                  <a:srgbClr val="00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" name="Line 495"/>
              <p:cNvSpPr>
                <a:spLocks noChangeAspect="1" noChangeShapeType="1"/>
              </p:cNvSpPr>
              <p:nvPr/>
            </p:nvSpPr>
            <p:spPr bwMode="auto">
              <a:xfrm>
                <a:off x="1392" y="432"/>
                <a:ext cx="0" cy="3504"/>
              </a:xfrm>
              <a:prstGeom prst="line">
                <a:avLst/>
              </a:prstGeom>
              <a:noFill/>
              <a:ln w="9525">
                <a:solidFill>
                  <a:srgbClr val="00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" name="Line 496"/>
              <p:cNvSpPr>
                <a:spLocks noChangeAspect="1" noChangeShapeType="1"/>
              </p:cNvSpPr>
              <p:nvPr/>
            </p:nvSpPr>
            <p:spPr bwMode="auto">
              <a:xfrm>
                <a:off x="3024" y="432"/>
                <a:ext cx="0" cy="3504"/>
              </a:xfrm>
              <a:prstGeom prst="line">
                <a:avLst/>
              </a:prstGeom>
              <a:noFill/>
              <a:ln w="9525">
                <a:solidFill>
                  <a:srgbClr val="00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" name="Line 497"/>
              <p:cNvSpPr>
                <a:spLocks noChangeAspect="1" noChangeShapeType="1"/>
              </p:cNvSpPr>
              <p:nvPr/>
            </p:nvSpPr>
            <p:spPr bwMode="auto">
              <a:xfrm>
                <a:off x="4464" y="432"/>
                <a:ext cx="0" cy="3504"/>
              </a:xfrm>
              <a:prstGeom prst="line">
                <a:avLst/>
              </a:prstGeom>
              <a:noFill/>
              <a:ln w="9525">
                <a:solidFill>
                  <a:srgbClr val="00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" name="Line 498"/>
              <p:cNvSpPr>
                <a:spLocks noChangeAspect="1" noChangeShapeType="1"/>
              </p:cNvSpPr>
              <p:nvPr/>
            </p:nvSpPr>
            <p:spPr bwMode="auto">
              <a:xfrm>
                <a:off x="2112" y="432"/>
                <a:ext cx="0" cy="3504"/>
              </a:xfrm>
              <a:prstGeom prst="line">
                <a:avLst/>
              </a:prstGeom>
              <a:noFill/>
              <a:ln w="9525">
                <a:solidFill>
                  <a:srgbClr val="00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" name="Line 499"/>
              <p:cNvSpPr>
                <a:spLocks noChangeAspect="1" noChangeShapeType="1"/>
              </p:cNvSpPr>
              <p:nvPr/>
            </p:nvSpPr>
            <p:spPr bwMode="auto">
              <a:xfrm>
                <a:off x="3696" y="432"/>
                <a:ext cx="0" cy="3504"/>
              </a:xfrm>
              <a:prstGeom prst="line">
                <a:avLst/>
              </a:prstGeom>
              <a:noFill/>
              <a:ln w="9525">
                <a:solidFill>
                  <a:srgbClr val="00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5" name="Group 500"/>
            <p:cNvGrpSpPr>
              <a:grpSpLocks noChangeAspect="1"/>
            </p:cNvGrpSpPr>
            <p:nvPr/>
          </p:nvGrpSpPr>
          <p:grpSpPr bwMode="auto">
            <a:xfrm>
              <a:off x="4722" y="2716"/>
              <a:ext cx="500" cy="290"/>
              <a:chOff x="4722" y="2716"/>
              <a:chExt cx="500" cy="290"/>
            </a:xfrm>
          </p:grpSpPr>
          <p:sp>
            <p:nvSpPr>
              <p:cNvPr id="36" name="Freeform 501"/>
              <p:cNvSpPr>
                <a:spLocks noChangeAspect="1" noChangeArrowheads="1"/>
              </p:cNvSpPr>
              <p:nvPr/>
            </p:nvSpPr>
            <p:spPr bwMode="auto">
              <a:xfrm>
                <a:off x="4722" y="2716"/>
                <a:ext cx="257" cy="3"/>
              </a:xfrm>
              <a:custGeom>
                <a:avLst/>
                <a:gdLst>
                  <a:gd name="T0" fmla="*/ 0 w 754"/>
                  <a:gd name="T1" fmla="*/ 0 h 3"/>
                  <a:gd name="T2" fmla="*/ 752 w 754"/>
                  <a:gd name="T3" fmla="*/ 0 h 3"/>
                  <a:gd name="T4" fmla="*/ 754 w 75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54" h="3">
                    <a:moveTo>
                      <a:pt x="0" y="0"/>
                    </a:moveTo>
                    <a:lnTo>
                      <a:pt x="752" y="0"/>
                    </a:lnTo>
                    <a:lnTo>
                      <a:pt x="754" y="0"/>
                    </a:lnTo>
                  </a:path>
                </a:pathLst>
              </a:custGeom>
              <a:solidFill>
                <a:schemeClr val="tx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" name="Freeform 502"/>
              <p:cNvSpPr>
                <a:spLocks noChangeAspect="1" noChangeArrowheads="1"/>
              </p:cNvSpPr>
              <p:nvPr/>
            </p:nvSpPr>
            <p:spPr bwMode="auto">
              <a:xfrm>
                <a:off x="4979" y="2716"/>
                <a:ext cx="3" cy="123"/>
              </a:xfrm>
              <a:custGeom>
                <a:avLst/>
                <a:gdLst>
                  <a:gd name="T0" fmla="*/ 0 w 2"/>
                  <a:gd name="T1" fmla="*/ 0 h 356"/>
                  <a:gd name="T2" fmla="*/ 0 w 2"/>
                  <a:gd name="T3" fmla="*/ 356 h 356"/>
                  <a:gd name="T4" fmla="*/ 2 w 2"/>
                  <a:gd name="T5" fmla="*/ 356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56">
                    <a:moveTo>
                      <a:pt x="0" y="0"/>
                    </a:moveTo>
                    <a:lnTo>
                      <a:pt x="0" y="356"/>
                    </a:lnTo>
                    <a:lnTo>
                      <a:pt x="2" y="356"/>
                    </a:lnTo>
                  </a:path>
                </a:pathLst>
              </a:custGeom>
              <a:solidFill>
                <a:schemeClr val="tx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" name="Freeform 503"/>
              <p:cNvSpPr>
                <a:spLocks noChangeAspect="1" noChangeArrowheads="1"/>
              </p:cNvSpPr>
              <p:nvPr/>
            </p:nvSpPr>
            <p:spPr bwMode="auto">
              <a:xfrm>
                <a:off x="4979" y="2839"/>
                <a:ext cx="243" cy="3"/>
              </a:xfrm>
              <a:custGeom>
                <a:avLst/>
                <a:gdLst>
                  <a:gd name="T0" fmla="*/ 0 w 709"/>
                  <a:gd name="T1" fmla="*/ 0 h 3"/>
                  <a:gd name="T2" fmla="*/ 708 w 709"/>
                  <a:gd name="T3" fmla="*/ 0 h 3"/>
                  <a:gd name="T4" fmla="*/ 709 w 709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09" h="3">
                    <a:moveTo>
                      <a:pt x="0" y="0"/>
                    </a:moveTo>
                    <a:lnTo>
                      <a:pt x="708" y="0"/>
                    </a:lnTo>
                    <a:lnTo>
                      <a:pt x="709" y="0"/>
                    </a:lnTo>
                  </a:path>
                </a:pathLst>
              </a:custGeom>
              <a:solidFill>
                <a:schemeClr val="tx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" name="Freeform 504"/>
              <p:cNvSpPr>
                <a:spLocks noChangeAspect="1" noChangeArrowheads="1"/>
              </p:cNvSpPr>
              <p:nvPr/>
            </p:nvSpPr>
            <p:spPr bwMode="auto">
              <a:xfrm>
                <a:off x="5220" y="2839"/>
                <a:ext cx="2" cy="167"/>
              </a:xfrm>
              <a:custGeom>
                <a:avLst/>
                <a:gdLst>
                  <a:gd name="T0" fmla="*/ 0 w 1"/>
                  <a:gd name="T1" fmla="*/ 0 h 487"/>
                  <a:gd name="T2" fmla="*/ 0 w 1"/>
                  <a:gd name="T3" fmla="*/ 487 h 487"/>
                  <a:gd name="T4" fmla="*/ 1 w 1"/>
                  <a:gd name="T5" fmla="*/ 487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87">
                    <a:moveTo>
                      <a:pt x="0" y="0"/>
                    </a:moveTo>
                    <a:lnTo>
                      <a:pt x="0" y="487"/>
                    </a:lnTo>
                    <a:lnTo>
                      <a:pt x="1" y="487"/>
                    </a:lnTo>
                  </a:path>
                </a:pathLst>
              </a:custGeom>
              <a:solidFill>
                <a:schemeClr val="tx1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0" name="Freeform 505"/>
              <p:cNvSpPr>
                <a:spLocks noChangeAspect="1" noChangeArrowheads="1"/>
              </p:cNvSpPr>
              <p:nvPr/>
            </p:nvSpPr>
            <p:spPr bwMode="auto">
              <a:xfrm>
                <a:off x="4722" y="2716"/>
                <a:ext cx="74" cy="74"/>
              </a:xfrm>
              <a:custGeom>
                <a:avLst/>
                <a:gdLst>
                  <a:gd name="T0" fmla="*/ 0 w 212"/>
                  <a:gd name="T1" fmla="*/ 212 h 212"/>
                  <a:gd name="T2" fmla="*/ 211 w 212"/>
                  <a:gd name="T3" fmla="*/ 0 h 212"/>
                  <a:gd name="T4" fmla="*/ 212 w 212"/>
                  <a:gd name="T5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2" h="212">
                    <a:moveTo>
                      <a:pt x="0" y="212"/>
                    </a:moveTo>
                    <a:lnTo>
                      <a:pt x="211" y="0"/>
                    </a:lnTo>
                    <a:lnTo>
                      <a:pt x="212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" name="Freeform 506"/>
              <p:cNvSpPr>
                <a:spLocks noChangeAspect="1" noChangeArrowheads="1"/>
              </p:cNvSpPr>
              <p:nvPr/>
            </p:nvSpPr>
            <p:spPr bwMode="auto">
              <a:xfrm>
                <a:off x="4722" y="2716"/>
                <a:ext cx="170" cy="170"/>
              </a:xfrm>
              <a:custGeom>
                <a:avLst/>
                <a:gdLst>
                  <a:gd name="T0" fmla="*/ 0 w 492"/>
                  <a:gd name="T1" fmla="*/ 493 h 493"/>
                  <a:gd name="T2" fmla="*/ 491 w 492"/>
                  <a:gd name="T3" fmla="*/ 0 h 493"/>
                  <a:gd name="T4" fmla="*/ 492 w 492"/>
                  <a:gd name="T5" fmla="*/ 0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2" h="493">
                    <a:moveTo>
                      <a:pt x="0" y="493"/>
                    </a:moveTo>
                    <a:lnTo>
                      <a:pt x="491" y="0"/>
                    </a:lnTo>
                    <a:lnTo>
                      <a:pt x="492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" name="Freeform 507"/>
              <p:cNvSpPr>
                <a:spLocks noChangeAspect="1" noChangeArrowheads="1"/>
              </p:cNvSpPr>
              <p:nvPr/>
            </p:nvSpPr>
            <p:spPr bwMode="auto">
              <a:xfrm>
                <a:off x="4790" y="2724"/>
                <a:ext cx="189" cy="189"/>
              </a:xfrm>
              <a:custGeom>
                <a:avLst/>
                <a:gdLst>
                  <a:gd name="T0" fmla="*/ 0 w 550"/>
                  <a:gd name="T1" fmla="*/ 549 h 549"/>
                  <a:gd name="T2" fmla="*/ 548 w 550"/>
                  <a:gd name="T3" fmla="*/ 0 h 549"/>
                  <a:gd name="T4" fmla="*/ 550 w 550"/>
                  <a:gd name="T5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50" h="549">
                    <a:moveTo>
                      <a:pt x="0" y="549"/>
                    </a:moveTo>
                    <a:lnTo>
                      <a:pt x="548" y="0"/>
                    </a:lnTo>
                    <a:lnTo>
                      <a:pt x="550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" name="Freeform 508"/>
              <p:cNvSpPr>
                <a:spLocks noChangeAspect="1" noChangeArrowheads="1"/>
              </p:cNvSpPr>
              <p:nvPr/>
            </p:nvSpPr>
            <p:spPr bwMode="auto">
              <a:xfrm>
                <a:off x="5083" y="2867"/>
                <a:ext cx="139" cy="139"/>
              </a:xfrm>
              <a:custGeom>
                <a:avLst/>
                <a:gdLst>
                  <a:gd name="T0" fmla="*/ 0 w 404"/>
                  <a:gd name="T1" fmla="*/ 403 h 403"/>
                  <a:gd name="T2" fmla="*/ 403 w 404"/>
                  <a:gd name="T3" fmla="*/ 0 h 403"/>
                  <a:gd name="T4" fmla="*/ 404 w 404"/>
                  <a:gd name="T5" fmla="*/ 0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4" h="403">
                    <a:moveTo>
                      <a:pt x="0" y="403"/>
                    </a:moveTo>
                    <a:lnTo>
                      <a:pt x="403" y="0"/>
                    </a:lnTo>
                    <a:lnTo>
                      <a:pt x="404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" name="Freeform 509"/>
              <p:cNvSpPr>
                <a:spLocks noChangeAspect="1" noChangeArrowheads="1"/>
              </p:cNvSpPr>
              <p:nvPr/>
            </p:nvSpPr>
            <p:spPr bwMode="auto">
              <a:xfrm>
                <a:off x="5179" y="2962"/>
                <a:ext cx="43" cy="44"/>
              </a:xfrm>
              <a:custGeom>
                <a:avLst/>
                <a:gdLst>
                  <a:gd name="T0" fmla="*/ 0 w 123"/>
                  <a:gd name="T1" fmla="*/ 121 h 121"/>
                  <a:gd name="T2" fmla="*/ 122 w 123"/>
                  <a:gd name="T3" fmla="*/ 0 h 121"/>
                  <a:gd name="T4" fmla="*/ 123 w 123"/>
                  <a:gd name="T5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121">
                    <a:moveTo>
                      <a:pt x="0" y="121"/>
                    </a:moveTo>
                    <a:lnTo>
                      <a:pt x="122" y="0"/>
                    </a:lnTo>
                    <a:lnTo>
                      <a:pt x="123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" name="Freeform 510"/>
              <p:cNvSpPr>
                <a:spLocks noChangeAspect="1" noChangeArrowheads="1"/>
              </p:cNvSpPr>
              <p:nvPr/>
            </p:nvSpPr>
            <p:spPr bwMode="auto">
              <a:xfrm>
                <a:off x="4974" y="2839"/>
                <a:ext cx="84" cy="82"/>
              </a:xfrm>
              <a:custGeom>
                <a:avLst/>
                <a:gdLst>
                  <a:gd name="T0" fmla="*/ 0 w 243"/>
                  <a:gd name="T1" fmla="*/ 242 h 242"/>
                  <a:gd name="T2" fmla="*/ 242 w 243"/>
                  <a:gd name="T3" fmla="*/ 0 h 242"/>
                  <a:gd name="T4" fmla="*/ 243 w 243"/>
                  <a:gd name="T5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3" h="242">
                    <a:moveTo>
                      <a:pt x="0" y="242"/>
                    </a:moveTo>
                    <a:lnTo>
                      <a:pt x="242" y="0"/>
                    </a:lnTo>
                    <a:lnTo>
                      <a:pt x="243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" name="Freeform 511"/>
              <p:cNvSpPr>
                <a:spLocks noChangeAspect="1" noChangeArrowheads="1"/>
              </p:cNvSpPr>
              <p:nvPr/>
            </p:nvSpPr>
            <p:spPr bwMode="auto">
              <a:xfrm>
                <a:off x="4886" y="2820"/>
                <a:ext cx="93" cy="93"/>
              </a:xfrm>
              <a:custGeom>
                <a:avLst/>
                <a:gdLst>
                  <a:gd name="T0" fmla="*/ 0 w 269"/>
                  <a:gd name="T1" fmla="*/ 268 h 268"/>
                  <a:gd name="T2" fmla="*/ 267 w 269"/>
                  <a:gd name="T3" fmla="*/ 0 h 268"/>
                  <a:gd name="T4" fmla="*/ 269 w 269"/>
                  <a:gd name="T5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9" h="268">
                    <a:moveTo>
                      <a:pt x="0" y="268"/>
                    </a:moveTo>
                    <a:lnTo>
                      <a:pt x="267" y="0"/>
                    </a:lnTo>
                    <a:lnTo>
                      <a:pt x="269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7" name="Freeform 512"/>
              <p:cNvSpPr>
                <a:spLocks noChangeAspect="1" noChangeArrowheads="1"/>
              </p:cNvSpPr>
              <p:nvPr/>
            </p:nvSpPr>
            <p:spPr bwMode="auto">
              <a:xfrm>
                <a:off x="4987" y="2839"/>
                <a:ext cx="167" cy="167"/>
              </a:xfrm>
              <a:custGeom>
                <a:avLst/>
                <a:gdLst>
                  <a:gd name="T0" fmla="*/ 0 w 488"/>
                  <a:gd name="T1" fmla="*/ 487 h 487"/>
                  <a:gd name="T2" fmla="*/ 487 w 488"/>
                  <a:gd name="T3" fmla="*/ 0 h 487"/>
                  <a:gd name="T4" fmla="*/ 488 w 488"/>
                  <a:gd name="T5" fmla="*/ 0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8" h="487">
                    <a:moveTo>
                      <a:pt x="0" y="487"/>
                    </a:moveTo>
                    <a:lnTo>
                      <a:pt x="487" y="0"/>
                    </a:lnTo>
                    <a:lnTo>
                      <a:pt x="488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" name="Freeform 513"/>
              <p:cNvSpPr>
                <a:spLocks noChangeAspect="1" noChangeArrowheads="1"/>
              </p:cNvSpPr>
              <p:nvPr/>
            </p:nvSpPr>
            <p:spPr bwMode="auto">
              <a:xfrm>
                <a:off x="4744" y="2716"/>
                <a:ext cx="36" cy="71"/>
              </a:xfrm>
              <a:custGeom>
                <a:avLst/>
                <a:gdLst>
                  <a:gd name="T0" fmla="*/ 0 w 107"/>
                  <a:gd name="T1" fmla="*/ 0 h 206"/>
                  <a:gd name="T2" fmla="*/ 107 w 107"/>
                  <a:gd name="T3" fmla="*/ 0 h 206"/>
                  <a:gd name="T4" fmla="*/ 13 w 107"/>
                  <a:gd name="T5" fmla="*/ 206 h 206"/>
                  <a:gd name="T6" fmla="*/ 0 w 107"/>
                  <a:gd name="T7" fmla="*/ 0 h 206"/>
                  <a:gd name="T8" fmla="*/ 1 w 107"/>
                  <a:gd name="T9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206">
                    <a:moveTo>
                      <a:pt x="0" y="0"/>
                    </a:moveTo>
                    <a:lnTo>
                      <a:pt x="107" y="0"/>
                    </a:lnTo>
                    <a:lnTo>
                      <a:pt x="13" y="206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9" name="Freeform 514"/>
              <p:cNvSpPr>
                <a:spLocks noChangeAspect="1" noChangeArrowheads="1"/>
              </p:cNvSpPr>
              <p:nvPr/>
            </p:nvSpPr>
            <p:spPr bwMode="auto">
              <a:xfrm>
                <a:off x="4853" y="2716"/>
                <a:ext cx="33" cy="69"/>
              </a:xfrm>
              <a:custGeom>
                <a:avLst/>
                <a:gdLst>
                  <a:gd name="T0" fmla="*/ 0 w 98"/>
                  <a:gd name="T1" fmla="*/ 0 h 194"/>
                  <a:gd name="T2" fmla="*/ 98 w 98"/>
                  <a:gd name="T3" fmla="*/ 0 h 194"/>
                  <a:gd name="T4" fmla="*/ 7 w 98"/>
                  <a:gd name="T5" fmla="*/ 194 h 194"/>
                  <a:gd name="T6" fmla="*/ 0 w 98"/>
                  <a:gd name="T7" fmla="*/ 0 h 194"/>
                  <a:gd name="T8" fmla="*/ 1 w 98"/>
                  <a:gd name="T9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194">
                    <a:moveTo>
                      <a:pt x="0" y="0"/>
                    </a:moveTo>
                    <a:lnTo>
                      <a:pt x="98" y="0"/>
                    </a:lnTo>
                    <a:lnTo>
                      <a:pt x="7" y="194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" name="Freeform 515"/>
              <p:cNvSpPr>
                <a:spLocks noChangeAspect="1" noChangeArrowheads="1"/>
              </p:cNvSpPr>
              <p:nvPr/>
            </p:nvSpPr>
            <p:spPr bwMode="auto">
              <a:xfrm>
                <a:off x="4930" y="2776"/>
                <a:ext cx="49" cy="30"/>
              </a:xfrm>
              <a:custGeom>
                <a:avLst/>
                <a:gdLst>
                  <a:gd name="T0" fmla="*/ 142 w 144"/>
                  <a:gd name="T1" fmla="*/ 0 h 83"/>
                  <a:gd name="T2" fmla="*/ 142 w 144"/>
                  <a:gd name="T3" fmla="*/ 83 h 83"/>
                  <a:gd name="T4" fmla="*/ 0 w 144"/>
                  <a:gd name="T5" fmla="*/ 14 h 83"/>
                  <a:gd name="T6" fmla="*/ 142 w 144"/>
                  <a:gd name="T7" fmla="*/ 0 h 83"/>
                  <a:gd name="T8" fmla="*/ 144 w 144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4" h="83">
                    <a:moveTo>
                      <a:pt x="142" y="0"/>
                    </a:moveTo>
                    <a:lnTo>
                      <a:pt x="142" y="83"/>
                    </a:lnTo>
                    <a:lnTo>
                      <a:pt x="0" y="14"/>
                    </a:lnTo>
                    <a:lnTo>
                      <a:pt x="142" y="0"/>
                    </a:lnTo>
                    <a:lnTo>
                      <a:pt x="144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" name="Freeform 516"/>
              <p:cNvSpPr>
                <a:spLocks noChangeAspect="1" noChangeArrowheads="1"/>
              </p:cNvSpPr>
              <p:nvPr/>
            </p:nvSpPr>
            <p:spPr bwMode="auto">
              <a:xfrm>
                <a:off x="5110" y="2839"/>
                <a:ext cx="39" cy="69"/>
              </a:xfrm>
              <a:custGeom>
                <a:avLst/>
                <a:gdLst>
                  <a:gd name="T0" fmla="*/ 0 w 107"/>
                  <a:gd name="T1" fmla="*/ 0 h 207"/>
                  <a:gd name="T2" fmla="*/ 107 w 107"/>
                  <a:gd name="T3" fmla="*/ 0 h 207"/>
                  <a:gd name="T4" fmla="*/ 13 w 107"/>
                  <a:gd name="T5" fmla="*/ 207 h 207"/>
                  <a:gd name="T6" fmla="*/ 0 w 107"/>
                  <a:gd name="T7" fmla="*/ 0 h 207"/>
                  <a:gd name="T8" fmla="*/ 1 w 107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207">
                    <a:moveTo>
                      <a:pt x="0" y="0"/>
                    </a:moveTo>
                    <a:lnTo>
                      <a:pt x="107" y="0"/>
                    </a:lnTo>
                    <a:lnTo>
                      <a:pt x="13" y="207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2" name="Freeform 517"/>
              <p:cNvSpPr>
                <a:spLocks noChangeAspect="1" noChangeArrowheads="1"/>
              </p:cNvSpPr>
              <p:nvPr/>
            </p:nvSpPr>
            <p:spPr bwMode="auto">
              <a:xfrm>
                <a:off x="5023" y="2839"/>
                <a:ext cx="35" cy="69"/>
              </a:xfrm>
              <a:custGeom>
                <a:avLst/>
                <a:gdLst>
                  <a:gd name="T0" fmla="*/ 0 w 106"/>
                  <a:gd name="T1" fmla="*/ 0 h 207"/>
                  <a:gd name="T2" fmla="*/ 106 w 106"/>
                  <a:gd name="T3" fmla="*/ 0 h 207"/>
                  <a:gd name="T4" fmla="*/ 13 w 106"/>
                  <a:gd name="T5" fmla="*/ 207 h 207"/>
                  <a:gd name="T6" fmla="*/ 0 w 106"/>
                  <a:gd name="T7" fmla="*/ 0 h 207"/>
                  <a:gd name="T8" fmla="*/ 1 w 1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207">
                    <a:moveTo>
                      <a:pt x="0" y="0"/>
                    </a:moveTo>
                    <a:lnTo>
                      <a:pt x="106" y="0"/>
                    </a:lnTo>
                    <a:lnTo>
                      <a:pt x="13" y="207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solidFill>
                <a:schemeClr val="tx1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8247927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5232842" y="3662346"/>
            <a:ext cx="20518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i="1">
                <a:solidFill>
                  <a:srgbClr val="FF00FF"/>
                </a:solidFill>
                <a:latin typeface="Times New Roman" panose="02020603050405020304" pitchFamily="18" charset="0"/>
              </a:rPr>
              <a:t>A</a:t>
            </a:r>
          </a:p>
        </p:txBody>
      </p:sp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7362672" y="841359"/>
            <a:ext cx="177006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i="1">
                <a:solidFill>
                  <a:srgbClr val="FF00FF"/>
                </a:solidFill>
                <a:latin typeface="Times New Roman" panose="02020603050405020304" pitchFamily="18" charset="0"/>
              </a:rPr>
              <a:t>A</a:t>
            </a:r>
            <a:r>
              <a:rPr lang="zh-CN" altLang="en-US">
                <a:solidFill>
                  <a:srgbClr val="FF00FF"/>
                </a:solidFill>
                <a:latin typeface="Times New Roman" panose="02020603050405020304" pitchFamily="18" charset="0"/>
              </a:rPr>
              <a:t>－</a:t>
            </a:r>
            <a:r>
              <a:rPr lang="en-US" altLang="zh-CN" i="1">
                <a:solidFill>
                  <a:srgbClr val="FF00FF"/>
                </a:solidFill>
                <a:latin typeface="Times New Roman" panose="02020603050405020304" pitchFamily="18" charset="0"/>
              </a:rPr>
              <a:t>A</a:t>
            </a:r>
            <a:endParaRPr lang="en-US" altLang="zh-CN">
              <a:solidFill>
                <a:srgbClr val="FF00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9588942" y="3711559"/>
            <a:ext cx="20518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i="1">
                <a:solidFill>
                  <a:srgbClr val="FF00FF"/>
                </a:solidFill>
                <a:latin typeface="Times New Roman" panose="02020603050405020304" pitchFamily="18" charset="0"/>
              </a:rPr>
              <a:t>A</a:t>
            </a:r>
          </a:p>
        </p:txBody>
      </p:sp>
      <p:grpSp>
        <p:nvGrpSpPr>
          <p:cNvPr id="6" name="Group 5"/>
          <p:cNvGrpSpPr>
            <a:grpSpLocks/>
          </p:cNvGrpSpPr>
          <p:nvPr/>
        </p:nvGrpSpPr>
        <p:grpSpPr bwMode="auto">
          <a:xfrm>
            <a:off x="5984722" y="1282685"/>
            <a:ext cx="3117850" cy="3582987"/>
            <a:chOff x="2948" y="487"/>
            <a:chExt cx="1964" cy="2257"/>
          </a:xfrm>
        </p:grpSpPr>
        <p:sp>
          <p:nvSpPr>
            <p:cNvPr id="7" name="Freeform 6"/>
            <p:cNvSpPr>
              <a:spLocks noChangeArrowheads="1"/>
            </p:cNvSpPr>
            <p:nvPr/>
          </p:nvSpPr>
          <p:spPr bwMode="auto">
            <a:xfrm>
              <a:off x="4015" y="606"/>
              <a:ext cx="1" cy="528"/>
            </a:xfrm>
            <a:custGeom>
              <a:avLst/>
              <a:gdLst>
                <a:gd name="T0" fmla="*/ 0 w 1"/>
                <a:gd name="T1" fmla="*/ 1523 h 1523"/>
                <a:gd name="T2" fmla="*/ 0 w 1"/>
                <a:gd name="T3" fmla="*/ 0 h 1523"/>
                <a:gd name="T4" fmla="*/ 1 w 1"/>
                <a:gd name="T5" fmla="*/ 0 h 1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523">
                  <a:moveTo>
                    <a:pt x="0" y="152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" name="Freeform 7"/>
            <p:cNvSpPr>
              <a:spLocks noChangeArrowheads="1"/>
            </p:cNvSpPr>
            <p:nvPr/>
          </p:nvSpPr>
          <p:spPr bwMode="auto">
            <a:xfrm>
              <a:off x="4866" y="606"/>
              <a:ext cx="1" cy="775"/>
            </a:xfrm>
            <a:custGeom>
              <a:avLst/>
              <a:gdLst>
                <a:gd name="T0" fmla="*/ 0 w 2"/>
                <a:gd name="T1" fmla="*/ 2235 h 2235"/>
                <a:gd name="T2" fmla="*/ 0 w 2"/>
                <a:gd name="T3" fmla="*/ 0 h 2235"/>
                <a:gd name="T4" fmla="*/ 2 w 2"/>
                <a:gd name="T5" fmla="*/ 0 h 2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235">
                  <a:moveTo>
                    <a:pt x="0" y="2235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" name="Freeform 8"/>
            <p:cNvSpPr>
              <a:spLocks noChangeArrowheads="1"/>
            </p:cNvSpPr>
            <p:nvPr/>
          </p:nvSpPr>
          <p:spPr bwMode="auto">
            <a:xfrm>
              <a:off x="4134" y="606"/>
              <a:ext cx="1" cy="144"/>
            </a:xfrm>
            <a:custGeom>
              <a:avLst/>
              <a:gdLst>
                <a:gd name="T0" fmla="*/ 0 w 2"/>
                <a:gd name="T1" fmla="*/ 417 h 417"/>
                <a:gd name="T2" fmla="*/ 0 w 2"/>
                <a:gd name="T3" fmla="*/ 0 h 417"/>
                <a:gd name="T4" fmla="*/ 2 w 2"/>
                <a:gd name="T5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17">
                  <a:moveTo>
                    <a:pt x="0" y="417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" name="Freeform 9"/>
            <p:cNvSpPr>
              <a:spLocks noChangeArrowheads="1"/>
            </p:cNvSpPr>
            <p:nvPr/>
          </p:nvSpPr>
          <p:spPr bwMode="auto">
            <a:xfrm>
              <a:off x="4747" y="606"/>
              <a:ext cx="1" cy="144"/>
            </a:xfrm>
            <a:custGeom>
              <a:avLst/>
              <a:gdLst>
                <a:gd name="T0" fmla="*/ 0 w 2"/>
                <a:gd name="T1" fmla="*/ 417 h 417"/>
                <a:gd name="T2" fmla="*/ 0 w 2"/>
                <a:gd name="T3" fmla="*/ 0 h 417"/>
                <a:gd name="T4" fmla="*/ 2 w 2"/>
                <a:gd name="T5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17">
                  <a:moveTo>
                    <a:pt x="0" y="417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" name="Freeform 10"/>
            <p:cNvSpPr>
              <a:spLocks noChangeArrowheads="1"/>
            </p:cNvSpPr>
            <p:nvPr/>
          </p:nvSpPr>
          <p:spPr bwMode="auto">
            <a:xfrm>
              <a:off x="4585" y="750"/>
              <a:ext cx="1" cy="631"/>
            </a:xfrm>
            <a:custGeom>
              <a:avLst/>
              <a:gdLst>
                <a:gd name="T0" fmla="*/ 0 w 1"/>
                <a:gd name="T1" fmla="*/ 1818 h 1818"/>
                <a:gd name="T2" fmla="*/ 0 w 1"/>
                <a:gd name="T3" fmla="*/ 0 h 1818"/>
                <a:gd name="T4" fmla="*/ 1 w 1"/>
                <a:gd name="T5" fmla="*/ 0 h 1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818">
                  <a:moveTo>
                    <a:pt x="0" y="181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" name="Freeform 11"/>
            <p:cNvSpPr>
              <a:spLocks noChangeArrowheads="1"/>
            </p:cNvSpPr>
            <p:nvPr/>
          </p:nvSpPr>
          <p:spPr bwMode="auto">
            <a:xfrm>
              <a:off x="4278" y="750"/>
              <a:ext cx="1" cy="631"/>
            </a:xfrm>
            <a:custGeom>
              <a:avLst/>
              <a:gdLst>
                <a:gd name="T0" fmla="*/ 0 w 1"/>
                <a:gd name="T1" fmla="*/ 1818 h 1818"/>
                <a:gd name="T2" fmla="*/ 0 w 1"/>
                <a:gd name="T3" fmla="*/ 0 h 1818"/>
                <a:gd name="T4" fmla="*/ 1 w 1"/>
                <a:gd name="T5" fmla="*/ 0 h 1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818">
                  <a:moveTo>
                    <a:pt x="0" y="181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" name="Freeform 12"/>
            <p:cNvSpPr>
              <a:spLocks noChangeArrowheads="1"/>
            </p:cNvSpPr>
            <p:nvPr/>
          </p:nvSpPr>
          <p:spPr bwMode="auto">
            <a:xfrm>
              <a:off x="2992" y="1381"/>
              <a:ext cx="1875" cy="1"/>
            </a:xfrm>
            <a:custGeom>
              <a:avLst/>
              <a:gdLst>
                <a:gd name="T0" fmla="*/ 0 w 5406"/>
                <a:gd name="T1" fmla="*/ 0 h 1"/>
                <a:gd name="T2" fmla="*/ 5404 w 5406"/>
                <a:gd name="T3" fmla="*/ 0 h 1"/>
                <a:gd name="T4" fmla="*/ 5406 w 540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06" h="1">
                  <a:moveTo>
                    <a:pt x="0" y="0"/>
                  </a:moveTo>
                  <a:lnTo>
                    <a:pt x="5404" y="0"/>
                  </a:lnTo>
                  <a:lnTo>
                    <a:pt x="540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" name="Freeform 13"/>
            <p:cNvSpPr>
              <a:spLocks noChangeArrowheads="1"/>
            </p:cNvSpPr>
            <p:nvPr/>
          </p:nvSpPr>
          <p:spPr bwMode="auto">
            <a:xfrm>
              <a:off x="2992" y="1134"/>
              <a:ext cx="1023" cy="1"/>
            </a:xfrm>
            <a:custGeom>
              <a:avLst/>
              <a:gdLst>
                <a:gd name="T0" fmla="*/ 0 w 2949"/>
                <a:gd name="T1" fmla="*/ 0 h 1"/>
                <a:gd name="T2" fmla="*/ 2948 w 2949"/>
                <a:gd name="T3" fmla="*/ 0 h 1"/>
                <a:gd name="T4" fmla="*/ 2949 w 294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49" h="1">
                  <a:moveTo>
                    <a:pt x="0" y="0"/>
                  </a:moveTo>
                  <a:lnTo>
                    <a:pt x="2948" y="0"/>
                  </a:lnTo>
                  <a:lnTo>
                    <a:pt x="294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" name="Freeform 14"/>
            <p:cNvSpPr>
              <a:spLocks noChangeArrowheads="1"/>
            </p:cNvSpPr>
            <p:nvPr/>
          </p:nvSpPr>
          <p:spPr bwMode="auto">
            <a:xfrm>
              <a:off x="3417" y="1134"/>
              <a:ext cx="1" cy="247"/>
            </a:xfrm>
            <a:custGeom>
              <a:avLst/>
              <a:gdLst>
                <a:gd name="T0" fmla="*/ 0 w 2"/>
                <a:gd name="T1" fmla="*/ 712 h 712"/>
                <a:gd name="T2" fmla="*/ 0 w 2"/>
                <a:gd name="T3" fmla="*/ 0 h 712"/>
                <a:gd name="T4" fmla="*/ 2 w 2"/>
                <a:gd name="T5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12">
                  <a:moveTo>
                    <a:pt x="0" y="712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" name="Freeform 15"/>
            <p:cNvSpPr>
              <a:spLocks noChangeArrowheads="1"/>
            </p:cNvSpPr>
            <p:nvPr/>
          </p:nvSpPr>
          <p:spPr bwMode="auto">
            <a:xfrm>
              <a:off x="2992" y="1134"/>
              <a:ext cx="1" cy="247"/>
            </a:xfrm>
            <a:custGeom>
              <a:avLst/>
              <a:gdLst>
                <a:gd name="T0" fmla="*/ 0 w 2"/>
                <a:gd name="T1" fmla="*/ 712 h 712"/>
                <a:gd name="T2" fmla="*/ 0 w 2"/>
                <a:gd name="T3" fmla="*/ 0 h 712"/>
                <a:gd name="T4" fmla="*/ 2 w 2"/>
                <a:gd name="T5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12">
                  <a:moveTo>
                    <a:pt x="0" y="712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17" name="Group 16"/>
            <p:cNvGrpSpPr>
              <a:grpSpLocks/>
            </p:cNvGrpSpPr>
            <p:nvPr/>
          </p:nvGrpSpPr>
          <p:grpSpPr bwMode="auto">
            <a:xfrm>
              <a:off x="3256" y="1040"/>
              <a:ext cx="1" cy="468"/>
              <a:chOff x="2479" y="1715"/>
              <a:chExt cx="1" cy="468"/>
            </a:xfrm>
          </p:grpSpPr>
          <p:sp>
            <p:nvSpPr>
              <p:cNvPr id="69" name="Freeform 17"/>
              <p:cNvSpPr>
                <a:spLocks noChangeArrowheads="1"/>
              </p:cNvSpPr>
              <p:nvPr/>
            </p:nvSpPr>
            <p:spPr bwMode="auto">
              <a:xfrm>
                <a:off x="2479" y="1715"/>
                <a:ext cx="1" cy="154"/>
              </a:xfrm>
              <a:custGeom>
                <a:avLst/>
                <a:gdLst>
                  <a:gd name="T0" fmla="*/ 0 w 2"/>
                  <a:gd name="T1" fmla="*/ 443 h 443"/>
                  <a:gd name="T2" fmla="*/ 0 w 2"/>
                  <a:gd name="T3" fmla="*/ 0 h 443"/>
                  <a:gd name="T4" fmla="*/ 2 w 2"/>
                  <a:gd name="T5" fmla="*/ 0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43">
                    <a:moveTo>
                      <a:pt x="0" y="443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0" name="Freeform 18"/>
              <p:cNvSpPr>
                <a:spLocks noChangeArrowheads="1"/>
              </p:cNvSpPr>
              <p:nvPr/>
            </p:nvSpPr>
            <p:spPr bwMode="auto">
              <a:xfrm>
                <a:off x="2479" y="1988"/>
                <a:ext cx="1" cy="195"/>
              </a:xfrm>
              <a:custGeom>
                <a:avLst/>
                <a:gdLst>
                  <a:gd name="T0" fmla="*/ 0 w 2"/>
                  <a:gd name="T1" fmla="*/ 564 h 564"/>
                  <a:gd name="T2" fmla="*/ 0 w 2"/>
                  <a:gd name="T3" fmla="*/ 0 h 564"/>
                  <a:gd name="T4" fmla="*/ 2 w 2"/>
                  <a:gd name="T5" fmla="*/ 0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64">
                    <a:moveTo>
                      <a:pt x="0" y="564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1" name="Freeform 19"/>
              <p:cNvSpPr>
                <a:spLocks noChangeArrowheads="1"/>
              </p:cNvSpPr>
              <p:nvPr/>
            </p:nvSpPr>
            <p:spPr bwMode="auto">
              <a:xfrm>
                <a:off x="2479" y="1923"/>
                <a:ext cx="1" cy="19"/>
              </a:xfrm>
              <a:custGeom>
                <a:avLst/>
                <a:gdLst>
                  <a:gd name="T0" fmla="*/ 0 w 2"/>
                  <a:gd name="T1" fmla="*/ 54 h 54"/>
                  <a:gd name="T2" fmla="*/ 0 w 2"/>
                  <a:gd name="T3" fmla="*/ 0 h 54"/>
                  <a:gd name="T4" fmla="*/ 2 w 2"/>
                  <a:gd name="T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4">
                    <a:moveTo>
                      <a:pt x="0" y="54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18" name="Freeform 20"/>
            <p:cNvSpPr>
              <a:spLocks noChangeArrowheads="1"/>
            </p:cNvSpPr>
            <p:nvPr/>
          </p:nvSpPr>
          <p:spPr bwMode="auto">
            <a:xfrm>
              <a:off x="3903" y="1134"/>
              <a:ext cx="1" cy="111"/>
            </a:xfrm>
            <a:custGeom>
              <a:avLst/>
              <a:gdLst>
                <a:gd name="T0" fmla="*/ 0 w 2"/>
                <a:gd name="T1" fmla="*/ 319 h 319"/>
                <a:gd name="T2" fmla="*/ 0 w 2"/>
                <a:gd name="T3" fmla="*/ 0 h 319"/>
                <a:gd name="T4" fmla="*/ 2 w 2"/>
                <a:gd name="T5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19">
                  <a:moveTo>
                    <a:pt x="0" y="319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" name="Freeform 21"/>
            <p:cNvSpPr>
              <a:spLocks noChangeArrowheads="1"/>
            </p:cNvSpPr>
            <p:nvPr/>
          </p:nvSpPr>
          <p:spPr bwMode="auto">
            <a:xfrm>
              <a:off x="3580" y="1134"/>
              <a:ext cx="1" cy="111"/>
            </a:xfrm>
            <a:custGeom>
              <a:avLst/>
              <a:gdLst>
                <a:gd name="T0" fmla="*/ 0 w 2"/>
                <a:gd name="T1" fmla="*/ 319 h 319"/>
                <a:gd name="T2" fmla="*/ 0 w 2"/>
                <a:gd name="T3" fmla="*/ 0 h 319"/>
                <a:gd name="T4" fmla="*/ 2 w 2"/>
                <a:gd name="T5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19">
                  <a:moveTo>
                    <a:pt x="0" y="319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" name="Freeform 22"/>
            <p:cNvSpPr>
              <a:spLocks noChangeArrowheads="1"/>
            </p:cNvSpPr>
            <p:nvPr/>
          </p:nvSpPr>
          <p:spPr bwMode="auto">
            <a:xfrm>
              <a:off x="3742" y="1054"/>
              <a:ext cx="1" cy="463"/>
            </a:xfrm>
            <a:custGeom>
              <a:avLst/>
              <a:gdLst>
                <a:gd name="T0" fmla="*/ 0 w 1"/>
                <a:gd name="T1" fmla="*/ 1332 h 1332"/>
                <a:gd name="T2" fmla="*/ 0 w 1"/>
                <a:gd name="T3" fmla="*/ 0 h 1332"/>
                <a:gd name="T4" fmla="*/ 1 w 1"/>
                <a:gd name="T5" fmla="*/ 0 h 1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32">
                  <a:moveTo>
                    <a:pt x="0" y="13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" name="Freeform 23"/>
            <p:cNvSpPr>
              <a:spLocks noChangeArrowheads="1"/>
            </p:cNvSpPr>
            <p:nvPr/>
          </p:nvSpPr>
          <p:spPr bwMode="auto">
            <a:xfrm>
              <a:off x="3580" y="1245"/>
              <a:ext cx="323" cy="1"/>
            </a:xfrm>
            <a:custGeom>
              <a:avLst/>
              <a:gdLst>
                <a:gd name="T0" fmla="*/ 0 w 935"/>
                <a:gd name="T1" fmla="*/ 0 h 1"/>
                <a:gd name="T2" fmla="*/ 933 w 935"/>
                <a:gd name="T3" fmla="*/ 0 h 1"/>
                <a:gd name="T4" fmla="*/ 935 w 9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35" h="1">
                  <a:moveTo>
                    <a:pt x="0" y="0"/>
                  </a:moveTo>
                  <a:lnTo>
                    <a:pt x="933" y="0"/>
                  </a:lnTo>
                  <a:lnTo>
                    <a:pt x="93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" name="Freeform 24"/>
            <p:cNvSpPr>
              <a:spLocks noChangeArrowheads="1"/>
            </p:cNvSpPr>
            <p:nvPr/>
          </p:nvSpPr>
          <p:spPr bwMode="auto">
            <a:xfrm>
              <a:off x="3827" y="1245"/>
              <a:ext cx="1" cy="136"/>
            </a:xfrm>
            <a:custGeom>
              <a:avLst/>
              <a:gdLst>
                <a:gd name="T0" fmla="*/ 0 w 1"/>
                <a:gd name="T1" fmla="*/ 393 h 393"/>
                <a:gd name="T2" fmla="*/ 0 w 1"/>
                <a:gd name="T3" fmla="*/ 0 h 393"/>
                <a:gd name="T4" fmla="*/ 1 w 1"/>
                <a:gd name="T5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93">
                  <a:moveTo>
                    <a:pt x="0" y="39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" name="Freeform 25"/>
            <p:cNvSpPr>
              <a:spLocks noChangeArrowheads="1"/>
            </p:cNvSpPr>
            <p:nvPr/>
          </p:nvSpPr>
          <p:spPr bwMode="auto">
            <a:xfrm>
              <a:off x="3657" y="1245"/>
              <a:ext cx="1" cy="136"/>
            </a:xfrm>
            <a:custGeom>
              <a:avLst/>
              <a:gdLst>
                <a:gd name="T0" fmla="*/ 0 w 1"/>
                <a:gd name="T1" fmla="*/ 393 h 393"/>
                <a:gd name="T2" fmla="*/ 0 w 1"/>
                <a:gd name="T3" fmla="*/ 0 h 393"/>
                <a:gd name="T4" fmla="*/ 1 w 1"/>
                <a:gd name="T5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93">
                  <a:moveTo>
                    <a:pt x="0" y="39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24" name="Group 26"/>
            <p:cNvGrpSpPr>
              <a:grpSpLocks/>
            </p:cNvGrpSpPr>
            <p:nvPr/>
          </p:nvGrpSpPr>
          <p:grpSpPr bwMode="auto">
            <a:xfrm>
              <a:off x="4441" y="487"/>
              <a:ext cx="1" cy="986"/>
              <a:chOff x="3664" y="1162"/>
              <a:chExt cx="1" cy="986"/>
            </a:xfrm>
          </p:grpSpPr>
          <p:sp>
            <p:nvSpPr>
              <p:cNvPr id="66" name="Freeform 27"/>
              <p:cNvSpPr>
                <a:spLocks noChangeArrowheads="1"/>
              </p:cNvSpPr>
              <p:nvPr/>
            </p:nvSpPr>
            <p:spPr bwMode="auto">
              <a:xfrm>
                <a:off x="3664" y="1162"/>
                <a:ext cx="1" cy="446"/>
              </a:xfrm>
              <a:custGeom>
                <a:avLst/>
                <a:gdLst>
                  <a:gd name="T0" fmla="*/ 0 w 1"/>
                  <a:gd name="T1" fmla="*/ 1286 h 1286"/>
                  <a:gd name="T2" fmla="*/ 0 w 1"/>
                  <a:gd name="T3" fmla="*/ 0 h 1286"/>
                  <a:gd name="T4" fmla="*/ 1 w 1"/>
                  <a:gd name="T5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286">
                    <a:moveTo>
                      <a:pt x="0" y="1286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7" name="Freeform 28"/>
              <p:cNvSpPr>
                <a:spLocks noChangeArrowheads="1"/>
              </p:cNvSpPr>
              <p:nvPr/>
            </p:nvSpPr>
            <p:spPr bwMode="auto">
              <a:xfrm>
                <a:off x="3664" y="1698"/>
                <a:ext cx="1" cy="450"/>
              </a:xfrm>
              <a:custGeom>
                <a:avLst/>
                <a:gdLst>
                  <a:gd name="T0" fmla="*/ 0 w 1"/>
                  <a:gd name="T1" fmla="*/ 1297 h 1297"/>
                  <a:gd name="T2" fmla="*/ 0 w 1"/>
                  <a:gd name="T3" fmla="*/ 0 h 1297"/>
                  <a:gd name="T4" fmla="*/ 1 w 1"/>
                  <a:gd name="T5" fmla="*/ 0 h 1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297">
                    <a:moveTo>
                      <a:pt x="0" y="129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8" name="Freeform 29"/>
              <p:cNvSpPr>
                <a:spLocks noChangeArrowheads="1"/>
              </p:cNvSpPr>
              <p:nvPr/>
            </p:nvSpPr>
            <p:spPr bwMode="auto">
              <a:xfrm>
                <a:off x="3664" y="1628"/>
                <a:ext cx="1" cy="38"/>
              </a:xfrm>
              <a:custGeom>
                <a:avLst/>
                <a:gdLst>
                  <a:gd name="T0" fmla="*/ 0 w 1"/>
                  <a:gd name="T1" fmla="*/ 107 h 107"/>
                  <a:gd name="T2" fmla="*/ 0 w 1"/>
                  <a:gd name="T3" fmla="*/ 0 h 107"/>
                  <a:gd name="T4" fmla="*/ 1 w 1"/>
                  <a:gd name="T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7">
                    <a:moveTo>
                      <a:pt x="0" y="10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25" name="Freeform 30"/>
            <p:cNvSpPr>
              <a:spLocks noChangeArrowheads="1"/>
            </p:cNvSpPr>
            <p:nvPr/>
          </p:nvSpPr>
          <p:spPr bwMode="auto">
            <a:xfrm>
              <a:off x="4015" y="606"/>
              <a:ext cx="851" cy="1"/>
            </a:xfrm>
            <a:custGeom>
              <a:avLst/>
              <a:gdLst>
                <a:gd name="T0" fmla="*/ 2456 w 2456"/>
                <a:gd name="T1" fmla="*/ 0 h 1"/>
                <a:gd name="T2" fmla="*/ 0 w 2456"/>
                <a:gd name="T3" fmla="*/ 0 h 1"/>
                <a:gd name="T4" fmla="*/ 1 w 245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56" h="1">
                  <a:moveTo>
                    <a:pt x="2456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" name="Freeform 31"/>
            <p:cNvSpPr>
              <a:spLocks noChangeArrowheads="1"/>
            </p:cNvSpPr>
            <p:nvPr/>
          </p:nvSpPr>
          <p:spPr bwMode="auto">
            <a:xfrm>
              <a:off x="4134" y="750"/>
              <a:ext cx="614" cy="1"/>
            </a:xfrm>
            <a:custGeom>
              <a:avLst/>
              <a:gdLst>
                <a:gd name="T0" fmla="*/ 0 w 1769"/>
                <a:gd name="T1" fmla="*/ 0 h 1"/>
                <a:gd name="T2" fmla="*/ 1767 w 1769"/>
                <a:gd name="T3" fmla="*/ 0 h 1"/>
                <a:gd name="T4" fmla="*/ 1769 w 176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9" h="1">
                  <a:moveTo>
                    <a:pt x="0" y="0"/>
                  </a:moveTo>
                  <a:lnTo>
                    <a:pt x="1767" y="0"/>
                  </a:lnTo>
                  <a:lnTo>
                    <a:pt x="176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" name="Freeform 32"/>
            <p:cNvSpPr>
              <a:spLocks noChangeArrowheads="1"/>
            </p:cNvSpPr>
            <p:nvPr/>
          </p:nvSpPr>
          <p:spPr bwMode="auto">
            <a:xfrm>
              <a:off x="4015" y="606"/>
              <a:ext cx="52" cy="51"/>
            </a:xfrm>
            <a:custGeom>
              <a:avLst/>
              <a:gdLst>
                <a:gd name="T0" fmla="*/ 0 w 150"/>
                <a:gd name="T1" fmla="*/ 149 h 149"/>
                <a:gd name="T2" fmla="*/ 149 w 150"/>
                <a:gd name="T3" fmla="*/ 0 h 149"/>
                <a:gd name="T4" fmla="*/ 150 w 150"/>
                <a:gd name="T5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0" h="149">
                  <a:moveTo>
                    <a:pt x="0" y="149"/>
                  </a:moveTo>
                  <a:lnTo>
                    <a:pt x="149" y="0"/>
                  </a:lnTo>
                  <a:lnTo>
                    <a:pt x="150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" name="Freeform 33"/>
            <p:cNvSpPr>
              <a:spLocks noChangeArrowheads="1"/>
            </p:cNvSpPr>
            <p:nvPr/>
          </p:nvSpPr>
          <p:spPr bwMode="auto">
            <a:xfrm>
              <a:off x="3417" y="1134"/>
              <a:ext cx="121" cy="120"/>
            </a:xfrm>
            <a:custGeom>
              <a:avLst/>
              <a:gdLst>
                <a:gd name="T0" fmla="*/ 0 w 349"/>
                <a:gd name="T1" fmla="*/ 347 h 347"/>
                <a:gd name="T2" fmla="*/ 348 w 349"/>
                <a:gd name="T3" fmla="*/ 0 h 347"/>
                <a:gd name="T4" fmla="*/ 349 w 349"/>
                <a:gd name="T5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9" h="347">
                  <a:moveTo>
                    <a:pt x="0" y="347"/>
                  </a:moveTo>
                  <a:lnTo>
                    <a:pt x="348" y="0"/>
                  </a:lnTo>
                  <a:lnTo>
                    <a:pt x="349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" name="Freeform 34"/>
            <p:cNvSpPr>
              <a:spLocks noChangeArrowheads="1"/>
            </p:cNvSpPr>
            <p:nvPr/>
          </p:nvSpPr>
          <p:spPr bwMode="auto">
            <a:xfrm>
              <a:off x="3510" y="1245"/>
              <a:ext cx="137" cy="136"/>
            </a:xfrm>
            <a:custGeom>
              <a:avLst/>
              <a:gdLst>
                <a:gd name="T0" fmla="*/ 0 w 395"/>
                <a:gd name="T1" fmla="*/ 393 h 393"/>
                <a:gd name="T2" fmla="*/ 393 w 395"/>
                <a:gd name="T3" fmla="*/ 0 h 393"/>
                <a:gd name="T4" fmla="*/ 395 w 395"/>
                <a:gd name="T5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5" h="393">
                  <a:moveTo>
                    <a:pt x="0" y="393"/>
                  </a:moveTo>
                  <a:lnTo>
                    <a:pt x="393" y="0"/>
                  </a:lnTo>
                  <a:lnTo>
                    <a:pt x="395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" name="Freeform 35"/>
            <p:cNvSpPr>
              <a:spLocks noChangeArrowheads="1"/>
            </p:cNvSpPr>
            <p:nvPr/>
          </p:nvSpPr>
          <p:spPr bwMode="auto">
            <a:xfrm>
              <a:off x="4015" y="750"/>
              <a:ext cx="126" cy="126"/>
            </a:xfrm>
            <a:custGeom>
              <a:avLst/>
              <a:gdLst>
                <a:gd name="T0" fmla="*/ 0 w 365"/>
                <a:gd name="T1" fmla="*/ 365 h 365"/>
                <a:gd name="T2" fmla="*/ 364 w 365"/>
                <a:gd name="T3" fmla="*/ 0 h 365"/>
                <a:gd name="T4" fmla="*/ 365 w 365"/>
                <a:gd name="T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5" h="365">
                  <a:moveTo>
                    <a:pt x="0" y="365"/>
                  </a:moveTo>
                  <a:lnTo>
                    <a:pt x="364" y="0"/>
                  </a:lnTo>
                  <a:lnTo>
                    <a:pt x="365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" name="Freeform 36"/>
            <p:cNvSpPr>
              <a:spLocks noChangeArrowheads="1"/>
            </p:cNvSpPr>
            <p:nvPr/>
          </p:nvSpPr>
          <p:spPr bwMode="auto">
            <a:xfrm>
              <a:off x="3827" y="1245"/>
              <a:ext cx="40" cy="39"/>
            </a:xfrm>
            <a:custGeom>
              <a:avLst/>
              <a:gdLst>
                <a:gd name="T0" fmla="*/ 0 w 114"/>
                <a:gd name="T1" fmla="*/ 113 h 113"/>
                <a:gd name="T2" fmla="*/ 113 w 114"/>
                <a:gd name="T3" fmla="*/ 0 h 113"/>
                <a:gd name="T4" fmla="*/ 114 w 114"/>
                <a:gd name="T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" h="113">
                  <a:moveTo>
                    <a:pt x="0" y="113"/>
                  </a:moveTo>
                  <a:lnTo>
                    <a:pt x="113" y="0"/>
                  </a:lnTo>
                  <a:lnTo>
                    <a:pt x="114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" name="Freeform 37"/>
            <p:cNvSpPr>
              <a:spLocks noChangeArrowheads="1"/>
            </p:cNvSpPr>
            <p:nvPr/>
          </p:nvSpPr>
          <p:spPr bwMode="auto">
            <a:xfrm>
              <a:off x="4015" y="832"/>
              <a:ext cx="264" cy="264"/>
            </a:xfrm>
            <a:custGeom>
              <a:avLst/>
              <a:gdLst>
                <a:gd name="T0" fmla="*/ 0 w 762"/>
                <a:gd name="T1" fmla="*/ 764 h 764"/>
                <a:gd name="T2" fmla="*/ 761 w 762"/>
                <a:gd name="T3" fmla="*/ 0 h 764"/>
                <a:gd name="T4" fmla="*/ 762 w 762"/>
                <a:gd name="T5" fmla="*/ 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764">
                  <a:moveTo>
                    <a:pt x="0" y="764"/>
                  </a:moveTo>
                  <a:lnTo>
                    <a:pt x="761" y="0"/>
                  </a:lnTo>
                  <a:lnTo>
                    <a:pt x="762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" name="Freeform 38"/>
            <p:cNvSpPr>
              <a:spLocks noChangeArrowheads="1"/>
            </p:cNvSpPr>
            <p:nvPr/>
          </p:nvSpPr>
          <p:spPr bwMode="auto">
            <a:xfrm>
              <a:off x="3903" y="1134"/>
              <a:ext cx="74" cy="73"/>
            </a:xfrm>
            <a:custGeom>
              <a:avLst/>
              <a:gdLst>
                <a:gd name="T0" fmla="*/ 0 w 214"/>
                <a:gd name="T1" fmla="*/ 211 h 211"/>
                <a:gd name="T2" fmla="*/ 213 w 214"/>
                <a:gd name="T3" fmla="*/ 0 h 211"/>
                <a:gd name="T4" fmla="*/ 214 w 214"/>
                <a:gd name="T5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4" h="211">
                  <a:moveTo>
                    <a:pt x="0" y="211"/>
                  </a:moveTo>
                  <a:lnTo>
                    <a:pt x="213" y="0"/>
                  </a:lnTo>
                  <a:lnTo>
                    <a:pt x="214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" name="Freeform 39"/>
            <p:cNvSpPr>
              <a:spLocks noChangeArrowheads="1"/>
            </p:cNvSpPr>
            <p:nvPr/>
          </p:nvSpPr>
          <p:spPr bwMode="auto">
            <a:xfrm>
              <a:off x="3949" y="1051"/>
              <a:ext cx="330" cy="330"/>
            </a:xfrm>
            <a:custGeom>
              <a:avLst/>
              <a:gdLst>
                <a:gd name="T0" fmla="*/ 0 w 951"/>
                <a:gd name="T1" fmla="*/ 950 h 950"/>
                <a:gd name="T2" fmla="*/ 950 w 951"/>
                <a:gd name="T3" fmla="*/ 0 h 950"/>
                <a:gd name="T4" fmla="*/ 951 w 951"/>
                <a:gd name="T5" fmla="*/ 0 h 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51" h="950">
                  <a:moveTo>
                    <a:pt x="0" y="950"/>
                  </a:moveTo>
                  <a:lnTo>
                    <a:pt x="950" y="0"/>
                  </a:lnTo>
                  <a:lnTo>
                    <a:pt x="951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" name="Freeform 40"/>
            <p:cNvSpPr>
              <a:spLocks noChangeArrowheads="1"/>
            </p:cNvSpPr>
            <p:nvPr/>
          </p:nvSpPr>
          <p:spPr bwMode="auto">
            <a:xfrm>
              <a:off x="4168" y="1271"/>
              <a:ext cx="111" cy="110"/>
            </a:xfrm>
            <a:custGeom>
              <a:avLst/>
              <a:gdLst>
                <a:gd name="T0" fmla="*/ 0 w 319"/>
                <a:gd name="T1" fmla="*/ 318 h 318"/>
                <a:gd name="T2" fmla="*/ 318 w 319"/>
                <a:gd name="T3" fmla="*/ 0 h 318"/>
                <a:gd name="T4" fmla="*/ 319 w 319"/>
                <a:gd name="T5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9" h="318">
                  <a:moveTo>
                    <a:pt x="0" y="318"/>
                  </a:moveTo>
                  <a:lnTo>
                    <a:pt x="318" y="0"/>
                  </a:lnTo>
                  <a:lnTo>
                    <a:pt x="319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6" name="Freeform 41"/>
            <p:cNvSpPr>
              <a:spLocks noChangeArrowheads="1"/>
            </p:cNvSpPr>
            <p:nvPr/>
          </p:nvSpPr>
          <p:spPr bwMode="auto">
            <a:xfrm>
              <a:off x="4671" y="682"/>
              <a:ext cx="196" cy="196"/>
            </a:xfrm>
            <a:custGeom>
              <a:avLst/>
              <a:gdLst>
                <a:gd name="T0" fmla="*/ 0 w 568"/>
                <a:gd name="T1" fmla="*/ 566 h 566"/>
                <a:gd name="T2" fmla="*/ 566 w 568"/>
                <a:gd name="T3" fmla="*/ 0 h 566"/>
                <a:gd name="T4" fmla="*/ 568 w 568"/>
                <a:gd name="T5" fmla="*/ 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8" h="566">
                  <a:moveTo>
                    <a:pt x="0" y="566"/>
                  </a:moveTo>
                  <a:lnTo>
                    <a:pt x="566" y="0"/>
                  </a:lnTo>
                  <a:lnTo>
                    <a:pt x="568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" name="Freeform 42"/>
            <p:cNvSpPr>
              <a:spLocks noChangeArrowheads="1"/>
            </p:cNvSpPr>
            <p:nvPr/>
          </p:nvSpPr>
          <p:spPr bwMode="auto">
            <a:xfrm>
              <a:off x="4671" y="901"/>
              <a:ext cx="196" cy="197"/>
            </a:xfrm>
            <a:custGeom>
              <a:avLst/>
              <a:gdLst>
                <a:gd name="T0" fmla="*/ 0 w 568"/>
                <a:gd name="T1" fmla="*/ 566 h 566"/>
                <a:gd name="T2" fmla="*/ 566 w 568"/>
                <a:gd name="T3" fmla="*/ 0 h 566"/>
                <a:gd name="T4" fmla="*/ 568 w 568"/>
                <a:gd name="T5" fmla="*/ 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8" h="566">
                  <a:moveTo>
                    <a:pt x="0" y="566"/>
                  </a:moveTo>
                  <a:lnTo>
                    <a:pt x="566" y="0"/>
                  </a:lnTo>
                  <a:lnTo>
                    <a:pt x="568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8" name="Freeform 43"/>
            <p:cNvSpPr>
              <a:spLocks noChangeArrowheads="1"/>
            </p:cNvSpPr>
            <p:nvPr/>
          </p:nvSpPr>
          <p:spPr bwMode="auto">
            <a:xfrm>
              <a:off x="4671" y="1121"/>
              <a:ext cx="196" cy="196"/>
            </a:xfrm>
            <a:custGeom>
              <a:avLst/>
              <a:gdLst>
                <a:gd name="T0" fmla="*/ 0 w 568"/>
                <a:gd name="T1" fmla="*/ 566 h 566"/>
                <a:gd name="T2" fmla="*/ 566 w 568"/>
                <a:gd name="T3" fmla="*/ 0 h 566"/>
                <a:gd name="T4" fmla="*/ 568 w 568"/>
                <a:gd name="T5" fmla="*/ 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8" h="566">
                  <a:moveTo>
                    <a:pt x="0" y="566"/>
                  </a:moveTo>
                  <a:lnTo>
                    <a:pt x="566" y="0"/>
                  </a:lnTo>
                  <a:lnTo>
                    <a:pt x="568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" name="Freeform 44"/>
            <p:cNvSpPr>
              <a:spLocks noChangeArrowheads="1"/>
            </p:cNvSpPr>
            <p:nvPr/>
          </p:nvSpPr>
          <p:spPr bwMode="auto">
            <a:xfrm>
              <a:off x="4826" y="1341"/>
              <a:ext cx="41" cy="40"/>
            </a:xfrm>
            <a:custGeom>
              <a:avLst/>
              <a:gdLst>
                <a:gd name="T0" fmla="*/ 0 w 119"/>
                <a:gd name="T1" fmla="*/ 116 h 116"/>
                <a:gd name="T2" fmla="*/ 117 w 119"/>
                <a:gd name="T3" fmla="*/ 0 h 116"/>
                <a:gd name="T4" fmla="*/ 119 w 119"/>
                <a:gd name="T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9" h="116">
                  <a:moveTo>
                    <a:pt x="0" y="116"/>
                  </a:moveTo>
                  <a:lnTo>
                    <a:pt x="117" y="0"/>
                  </a:lnTo>
                  <a:lnTo>
                    <a:pt x="119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0" name="Freeform 45"/>
            <p:cNvSpPr>
              <a:spLocks noChangeArrowheads="1"/>
            </p:cNvSpPr>
            <p:nvPr/>
          </p:nvSpPr>
          <p:spPr bwMode="auto">
            <a:xfrm>
              <a:off x="4671" y="750"/>
              <a:ext cx="1" cy="631"/>
            </a:xfrm>
            <a:custGeom>
              <a:avLst/>
              <a:gdLst>
                <a:gd name="T0" fmla="*/ 0 w 2"/>
                <a:gd name="T1" fmla="*/ 1818 h 1818"/>
                <a:gd name="T2" fmla="*/ 0 w 2"/>
                <a:gd name="T3" fmla="*/ 0 h 1818"/>
                <a:gd name="T4" fmla="*/ 2 w 2"/>
                <a:gd name="T5" fmla="*/ 0 h 1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818">
                  <a:moveTo>
                    <a:pt x="0" y="1818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1" name="Arc 46"/>
            <p:cNvSpPr>
              <a:spLocks noChangeArrowheads="1"/>
            </p:cNvSpPr>
            <p:nvPr/>
          </p:nvSpPr>
          <p:spPr bwMode="auto">
            <a:xfrm flipH="1">
              <a:off x="4279" y="2059"/>
              <a:ext cx="306" cy="324"/>
            </a:xfrm>
            <a:custGeom>
              <a:avLst/>
              <a:gdLst>
                <a:gd name="T0" fmla="*/ 250 w 40741"/>
                <a:gd name="T1" fmla="*/ 11124 h 43200"/>
                <a:gd name="T2" fmla="*/ 19141 w 40741"/>
                <a:gd name="T3" fmla="*/ 0 h 43200"/>
                <a:gd name="T4" fmla="*/ 40741 w 40741"/>
                <a:gd name="T5" fmla="*/ 21600 h 43200"/>
                <a:gd name="T6" fmla="*/ 19141 w 40741"/>
                <a:gd name="T7" fmla="*/ 43200 h 43200"/>
                <a:gd name="T8" fmla="*/ -1 w 40741"/>
                <a:gd name="T9" fmla="*/ 31609 h 43200"/>
                <a:gd name="T10" fmla="*/ 250 w 40741"/>
                <a:gd name="T11" fmla="*/ 11124 h 43200"/>
                <a:gd name="T12" fmla="*/ 19141 w 40741"/>
                <a:gd name="T13" fmla="*/ 0 h 43200"/>
                <a:gd name="T14" fmla="*/ 40741 w 40741"/>
                <a:gd name="T15" fmla="*/ 21600 h 43200"/>
                <a:gd name="T16" fmla="*/ 19141 w 40741"/>
                <a:gd name="T17" fmla="*/ 43200 h 43200"/>
                <a:gd name="T18" fmla="*/ -1 w 40741"/>
                <a:gd name="T19" fmla="*/ 31609 h 43200"/>
                <a:gd name="T20" fmla="*/ 19141 w 40741"/>
                <a:gd name="T21" fmla="*/ 21600 h 43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741" h="43200" fill="none">
                  <a:moveTo>
                    <a:pt x="250" y="11124"/>
                  </a:moveTo>
                  <a:cubicBezTo>
                    <a:pt x="4058" y="4259"/>
                    <a:pt x="11290" y="-1"/>
                    <a:pt x="19141" y="0"/>
                  </a:cubicBezTo>
                  <a:cubicBezTo>
                    <a:pt x="31070" y="0"/>
                    <a:pt x="40741" y="9670"/>
                    <a:pt x="40741" y="21600"/>
                  </a:cubicBezTo>
                  <a:cubicBezTo>
                    <a:pt x="40741" y="33529"/>
                    <a:pt x="31070" y="43200"/>
                    <a:pt x="19141" y="43200"/>
                  </a:cubicBezTo>
                  <a:cubicBezTo>
                    <a:pt x="11100" y="43200"/>
                    <a:pt x="3725" y="38734"/>
                    <a:pt x="-1" y="31609"/>
                  </a:cubicBezTo>
                </a:path>
                <a:path w="40741" h="43200" stroke="0">
                  <a:moveTo>
                    <a:pt x="250" y="11124"/>
                  </a:moveTo>
                  <a:cubicBezTo>
                    <a:pt x="4058" y="4259"/>
                    <a:pt x="11290" y="-1"/>
                    <a:pt x="19141" y="0"/>
                  </a:cubicBezTo>
                  <a:cubicBezTo>
                    <a:pt x="31070" y="0"/>
                    <a:pt x="40741" y="9670"/>
                    <a:pt x="40741" y="21600"/>
                  </a:cubicBezTo>
                  <a:cubicBezTo>
                    <a:pt x="40741" y="33529"/>
                    <a:pt x="31070" y="43200"/>
                    <a:pt x="19141" y="43200"/>
                  </a:cubicBezTo>
                  <a:cubicBezTo>
                    <a:pt x="11100" y="43200"/>
                    <a:pt x="3725" y="38734"/>
                    <a:pt x="-1" y="31609"/>
                  </a:cubicBezTo>
                  <a:lnTo>
                    <a:pt x="19141" y="21600"/>
                  </a:lnTo>
                  <a:close/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2" name="Arc 47"/>
            <p:cNvSpPr>
              <a:spLocks noChangeArrowheads="1"/>
            </p:cNvSpPr>
            <p:nvPr/>
          </p:nvSpPr>
          <p:spPr bwMode="auto">
            <a:xfrm>
              <a:off x="3251" y="2059"/>
              <a:ext cx="166" cy="320"/>
            </a:xfrm>
            <a:custGeom>
              <a:avLst/>
              <a:gdLst>
                <a:gd name="T0" fmla="*/ 598 w 22199"/>
                <a:gd name="T1" fmla="*/ 0 h 43200"/>
                <a:gd name="T2" fmla="*/ 22199 w 22199"/>
                <a:gd name="T3" fmla="*/ 21600 h 43200"/>
                <a:gd name="T4" fmla="*/ 599 w 22199"/>
                <a:gd name="T5" fmla="*/ 43200 h 43200"/>
                <a:gd name="T6" fmla="*/ 0 w 22199"/>
                <a:gd name="T7" fmla="*/ 43191 h 43200"/>
                <a:gd name="T8" fmla="*/ 598 w 22199"/>
                <a:gd name="T9" fmla="*/ 0 h 43200"/>
                <a:gd name="T10" fmla="*/ 22199 w 22199"/>
                <a:gd name="T11" fmla="*/ 21600 h 43200"/>
                <a:gd name="T12" fmla="*/ 599 w 22199"/>
                <a:gd name="T13" fmla="*/ 43200 h 43200"/>
                <a:gd name="T14" fmla="*/ 0 w 22199"/>
                <a:gd name="T15" fmla="*/ 43191 h 43200"/>
                <a:gd name="T16" fmla="*/ 599 w 22199"/>
                <a:gd name="T17" fmla="*/ 21600 h 43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199" h="43200" fill="none">
                  <a:moveTo>
                    <a:pt x="598" y="0"/>
                  </a:moveTo>
                  <a:cubicBezTo>
                    <a:pt x="12528" y="0"/>
                    <a:pt x="22199" y="9670"/>
                    <a:pt x="22199" y="21600"/>
                  </a:cubicBezTo>
                  <a:cubicBezTo>
                    <a:pt x="22199" y="33529"/>
                    <a:pt x="12528" y="43200"/>
                    <a:pt x="599" y="43200"/>
                  </a:cubicBezTo>
                  <a:cubicBezTo>
                    <a:pt x="399" y="43200"/>
                    <a:pt x="199" y="43197"/>
                    <a:pt x="0" y="43191"/>
                  </a:cubicBezTo>
                </a:path>
                <a:path w="22199" h="43200" stroke="0">
                  <a:moveTo>
                    <a:pt x="598" y="0"/>
                  </a:moveTo>
                  <a:cubicBezTo>
                    <a:pt x="12528" y="0"/>
                    <a:pt x="22199" y="9670"/>
                    <a:pt x="22199" y="21600"/>
                  </a:cubicBezTo>
                  <a:cubicBezTo>
                    <a:pt x="22199" y="33529"/>
                    <a:pt x="12528" y="43200"/>
                    <a:pt x="599" y="43200"/>
                  </a:cubicBezTo>
                  <a:cubicBezTo>
                    <a:pt x="399" y="43200"/>
                    <a:pt x="199" y="43197"/>
                    <a:pt x="0" y="43191"/>
                  </a:cubicBezTo>
                  <a:lnTo>
                    <a:pt x="599" y="21600"/>
                  </a:lnTo>
                  <a:close/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3" name="Oval 48"/>
            <p:cNvSpPr>
              <a:spLocks noChangeArrowheads="1"/>
            </p:cNvSpPr>
            <p:nvPr/>
          </p:nvSpPr>
          <p:spPr bwMode="auto">
            <a:xfrm>
              <a:off x="4015" y="1794"/>
              <a:ext cx="852" cy="852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4" name="Oval 49"/>
            <p:cNvSpPr>
              <a:spLocks noChangeArrowheads="1"/>
            </p:cNvSpPr>
            <p:nvPr/>
          </p:nvSpPr>
          <p:spPr bwMode="auto">
            <a:xfrm>
              <a:off x="4135" y="1931"/>
              <a:ext cx="612" cy="572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5" name="Oval 50"/>
            <p:cNvSpPr>
              <a:spLocks noChangeArrowheads="1"/>
            </p:cNvSpPr>
            <p:nvPr/>
          </p:nvSpPr>
          <p:spPr bwMode="auto">
            <a:xfrm>
              <a:off x="3656" y="2135"/>
              <a:ext cx="167" cy="167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6" name="Oval 51"/>
            <p:cNvSpPr>
              <a:spLocks noChangeArrowheads="1"/>
            </p:cNvSpPr>
            <p:nvPr/>
          </p:nvSpPr>
          <p:spPr bwMode="auto">
            <a:xfrm>
              <a:off x="3589" y="2069"/>
              <a:ext cx="311" cy="300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7" name="Freeform 52"/>
            <p:cNvSpPr>
              <a:spLocks noChangeArrowheads="1"/>
            </p:cNvSpPr>
            <p:nvPr/>
          </p:nvSpPr>
          <p:spPr bwMode="auto">
            <a:xfrm>
              <a:off x="3742" y="1990"/>
              <a:ext cx="1" cy="512"/>
            </a:xfrm>
            <a:custGeom>
              <a:avLst/>
              <a:gdLst>
                <a:gd name="T0" fmla="*/ 0 w 1"/>
                <a:gd name="T1" fmla="*/ 0 h 1472"/>
                <a:gd name="T2" fmla="*/ 0 w 1"/>
                <a:gd name="T3" fmla="*/ 1472 h 1472"/>
                <a:gd name="T4" fmla="*/ 1 w 1"/>
                <a:gd name="T5" fmla="*/ 1472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72">
                  <a:moveTo>
                    <a:pt x="0" y="0"/>
                  </a:moveTo>
                  <a:lnTo>
                    <a:pt x="0" y="1472"/>
                  </a:lnTo>
                  <a:lnTo>
                    <a:pt x="1" y="147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8" name="Freeform 53"/>
            <p:cNvSpPr>
              <a:spLocks noChangeArrowheads="1"/>
            </p:cNvSpPr>
            <p:nvPr/>
          </p:nvSpPr>
          <p:spPr bwMode="auto">
            <a:xfrm>
              <a:off x="3256" y="1964"/>
              <a:ext cx="1" cy="528"/>
            </a:xfrm>
            <a:custGeom>
              <a:avLst/>
              <a:gdLst>
                <a:gd name="T0" fmla="*/ 0 w 2"/>
                <a:gd name="T1" fmla="*/ 0 h 1522"/>
                <a:gd name="T2" fmla="*/ 0 w 2"/>
                <a:gd name="T3" fmla="*/ 1522 h 1522"/>
                <a:gd name="T4" fmla="*/ 2 w 2"/>
                <a:gd name="T5" fmla="*/ 1522 h 1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522">
                  <a:moveTo>
                    <a:pt x="0" y="0"/>
                  </a:moveTo>
                  <a:lnTo>
                    <a:pt x="0" y="1522"/>
                  </a:lnTo>
                  <a:lnTo>
                    <a:pt x="2" y="152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9" name="Freeform 54"/>
            <p:cNvSpPr>
              <a:spLocks noChangeArrowheads="1"/>
            </p:cNvSpPr>
            <p:nvPr/>
          </p:nvSpPr>
          <p:spPr bwMode="auto">
            <a:xfrm>
              <a:off x="2992" y="2646"/>
              <a:ext cx="1449" cy="1"/>
            </a:xfrm>
            <a:custGeom>
              <a:avLst/>
              <a:gdLst>
                <a:gd name="T0" fmla="*/ 4176 w 4176"/>
                <a:gd name="T1" fmla="*/ 0 h 1"/>
                <a:gd name="T2" fmla="*/ 0 w 4176"/>
                <a:gd name="T3" fmla="*/ 0 h 1"/>
                <a:gd name="T4" fmla="*/ 2 w 417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76" h="1">
                  <a:moveTo>
                    <a:pt x="4176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0" name="Freeform 55"/>
            <p:cNvSpPr>
              <a:spLocks noChangeArrowheads="1"/>
            </p:cNvSpPr>
            <p:nvPr/>
          </p:nvSpPr>
          <p:spPr bwMode="auto">
            <a:xfrm>
              <a:off x="2992" y="2382"/>
              <a:ext cx="1" cy="264"/>
            </a:xfrm>
            <a:custGeom>
              <a:avLst/>
              <a:gdLst>
                <a:gd name="T0" fmla="*/ 0 w 2"/>
                <a:gd name="T1" fmla="*/ 762 h 762"/>
                <a:gd name="T2" fmla="*/ 0 w 2"/>
                <a:gd name="T3" fmla="*/ 0 h 762"/>
                <a:gd name="T4" fmla="*/ 2 w 2"/>
                <a:gd name="T5" fmla="*/ 0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62">
                  <a:moveTo>
                    <a:pt x="0" y="762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1" name="Freeform 56"/>
            <p:cNvSpPr>
              <a:spLocks noChangeArrowheads="1"/>
            </p:cNvSpPr>
            <p:nvPr/>
          </p:nvSpPr>
          <p:spPr bwMode="auto">
            <a:xfrm>
              <a:off x="2992" y="2382"/>
              <a:ext cx="264" cy="1"/>
            </a:xfrm>
            <a:custGeom>
              <a:avLst/>
              <a:gdLst>
                <a:gd name="T0" fmla="*/ 761 w 761"/>
                <a:gd name="T1" fmla="*/ 0 h 1"/>
                <a:gd name="T2" fmla="*/ 0 w 761"/>
                <a:gd name="T3" fmla="*/ 0 h 1"/>
                <a:gd name="T4" fmla="*/ 2 w 76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1">
                  <a:moveTo>
                    <a:pt x="761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2" name="Freeform 57"/>
            <p:cNvSpPr>
              <a:spLocks noChangeArrowheads="1"/>
            </p:cNvSpPr>
            <p:nvPr/>
          </p:nvSpPr>
          <p:spPr bwMode="auto">
            <a:xfrm>
              <a:off x="2992" y="1794"/>
              <a:ext cx="1449" cy="1"/>
            </a:xfrm>
            <a:custGeom>
              <a:avLst/>
              <a:gdLst>
                <a:gd name="T0" fmla="*/ 4176 w 4176"/>
                <a:gd name="T1" fmla="*/ 0 h 1"/>
                <a:gd name="T2" fmla="*/ 0 w 4176"/>
                <a:gd name="T3" fmla="*/ 0 h 1"/>
                <a:gd name="T4" fmla="*/ 2 w 417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76" h="1">
                  <a:moveTo>
                    <a:pt x="4176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3" name="Freeform 58"/>
            <p:cNvSpPr>
              <a:spLocks noChangeArrowheads="1"/>
            </p:cNvSpPr>
            <p:nvPr/>
          </p:nvSpPr>
          <p:spPr bwMode="auto">
            <a:xfrm>
              <a:off x="2992" y="1794"/>
              <a:ext cx="1" cy="264"/>
            </a:xfrm>
            <a:custGeom>
              <a:avLst/>
              <a:gdLst>
                <a:gd name="T0" fmla="*/ 0 w 2"/>
                <a:gd name="T1" fmla="*/ 0 h 763"/>
                <a:gd name="T2" fmla="*/ 0 w 2"/>
                <a:gd name="T3" fmla="*/ 763 h 763"/>
                <a:gd name="T4" fmla="*/ 2 w 2"/>
                <a:gd name="T5" fmla="*/ 76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63">
                  <a:moveTo>
                    <a:pt x="0" y="0"/>
                  </a:moveTo>
                  <a:lnTo>
                    <a:pt x="0" y="763"/>
                  </a:lnTo>
                  <a:lnTo>
                    <a:pt x="2" y="76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4" name="Freeform 59"/>
            <p:cNvSpPr>
              <a:spLocks noChangeArrowheads="1"/>
            </p:cNvSpPr>
            <p:nvPr/>
          </p:nvSpPr>
          <p:spPr bwMode="auto">
            <a:xfrm>
              <a:off x="2992" y="2058"/>
              <a:ext cx="264" cy="1"/>
            </a:xfrm>
            <a:custGeom>
              <a:avLst/>
              <a:gdLst>
                <a:gd name="T0" fmla="*/ 761 w 761"/>
                <a:gd name="T1" fmla="*/ 0 h 1"/>
                <a:gd name="T2" fmla="*/ 0 w 761"/>
                <a:gd name="T3" fmla="*/ 0 h 1"/>
                <a:gd name="T4" fmla="*/ 2 w 76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1">
                  <a:moveTo>
                    <a:pt x="761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5" name="Freeform 60"/>
            <p:cNvSpPr>
              <a:spLocks noChangeArrowheads="1"/>
            </p:cNvSpPr>
            <p:nvPr/>
          </p:nvSpPr>
          <p:spPr bwMode="auto">
            <a:xfrm>
              <a:off x="4671" y="2149"/>
              <a:ext cx="1" cy="143"/>
            </a:xfrm>
            <a:custGeom>
              <a:avLst/>
              <a:gdLst>
                <a:gd name="T0" fmla="*/ 0 w 2"/>
                <a:gd name="T1" fmla="*/ 0 h 414"/>
                <a:gd name="T2" fmla="*/ 0 w 2"/>
                <a:gd name="T3" fmla="*/ 414 h 414"/>
                <a:gd name="T4" fmla="*/ 2 w 2"/>
                <a:gd name="T5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14">
                  <a:moveTo>
                    <a:pt x="0" y="0"/>
                  </a:moveTo>
                  <a:lnTo>
                    <a:pt x="0" y="414"/>
                  </a:lnTo>
                  <a:lnTo>
                    <a:pt x="2" y="41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6" name="Freeform 61"/>
            <p:cNvSpPr>
              <a:spLocks noChangeArrowheads="1"/>
            </p:cNvSpPr>
            <p:nvPr/>
          </p:nvSpPr>
          <p:spPr bwMode="auto">
            <a:xfrm>
              <a:off x="4441" y="2316"/>
              <a:ext cx="1" cy="428"/>
            </a:xfrm>
            <a:custGeom>
              <a:avLst/>
              <a:gdLst>
                <a:gd name="T0" fmla="*/ 0 w 1"/>
                <a:gd name="T1" fmla="*/ 0 h 1234"/>
                <a:gd name="T2" fmla="*/ 0 w 1"/>
                <a:gd name="T3" fmla="*/ 1234 h 1234"/>
                <a:gd name="T4" fmla="*/ 1 w 1"/>
                <a:gd name="T5" fmla="*/ 1234 h 1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34">
                  <a:moveTo>
                    <a:pt x="0" y="0"/>
                  </a:moveTo>
                  <a:lnTo>
                    <a:pt x="0" y="1234"/>
                  </a:lnTo>
                  <a:lnTo>
                    <a:pt x="1" y="123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7" name="Freeform 62"/>
            <p:cNvSpPr>
              <a:spLocks noChangeArrowheads="1"/>
            </p:cNvSpPr>
            <p:nvPr/>
          </p:nvSpPr>
          <p:spPr bwMode="auto">
            <a:xfrm>
              <a:off x="4441" y="1713"/>
              <a:ext cx="1" cy="556"/>
            </a:xfrm>
            <a:custGeom>
              <a:avLst/>
              <a:gdLst>
                <a:gd name="T0" fmla="*/ 0 w 1"/>
                <a:gd name="T1" fmla="*/ 0 h 1602"/>
                <a:gd name="T2" fmla="*/ 0 w 1"/>
                <a:gd name="T3" fmla="*/ 1602 h 1602"/>
                <a:gd name="T4" fmla="*/ 1 w 1"/>
                <a:gd name="T5" fmla="*/ 1602 h 1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602">
                  <a:moveTo>
                    <a:pt x="0" y="0"/>
                  </a:moveTo>
                  <a:lnTo>
                    <a:pt x="0" y="1602"/>
                  </a:lnTo>
                  <a:lnTo>
                    <a:pt x="1" y="160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8" name="Freeform 63"/>
            <p:cNvSpPr>
              <a:spLocks noChangeArrowheads="1"/>
            </p:cNvSpPr>
            <p:nvPr/>
          </p:nvSpPr>
          <p:spPr bwMode="auto">
            <a:xfrm>
              <a:off x="4441" y="2288"/>
              <a:ext cx="1" cy="9"/>
            </a:xfrm>
            <a:custGeom>
              <a:avLst/>
              <a:gdLst>
                <a:gd name="T0" fmla="*/ 0 w 1"/>
                <a:gd name="T1" fmla="*/ 0 h 24"/>
                <a:gd name="T2" fmla="*/ 0 w 1"/>
                <a:gd name="T3" fmla="*/ 24 h 24"/>
                <a:gd name="T4" fmla="*/ 1 w 1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4">
                  <a:moveTo>
                    <a:pt x="0" y="0"/>
                  </a:moveTo>
                  <a:lnTo>
                    <a:pt x="0" y="24"/>
                  </a:lnTo>
                  <a:lnTo>
                    <a:pt x="1" y="2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9" name="Freeform 64"/>
            <p:cNvSpPr>
              <a:spLocks noChangeArrowheads="1"/>
            </p:cNvSpPr>
            <p:nvPr/>
          </p:nvSpPr>
          <p:spPr bwMode="auto">
            <a:xfrm>
              <a:off x="2948" y="2221"/>
              <a:ext cx="529" cy="1"/>
            </a:xfrm>
            <a:custGeom>
              <a:avLst/>
              <a:gdLst>
                <a:gd name="T0" fmla="*/ 0 w 1526"/>
                <a:gd name="T1" fmla="*/ 0 h 1"/>
                <a:gd name="T2" fmla="*/ 1525 w 1526"/>
                <a:gd name="T3" fmla="*/ 0 h 1"/>
                <a:gd name="T4" fmla="*/ 1526 w 152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6" h="1">
                  <a:moveTo>
                    <a:pt x="0" y="0"/>
                  </a:moveTo>
                  <a:lnTo>
                    <a:pt x="1525" y="0"/>
                  </a:lnTo>
                  <a:lnTo>
                    <a:pt x="152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0" name="Freeform 65"/>
            <p:cNvSpPr>
              <a:spLocks noChangeArrowheads="1"/>
            </p:cNvSpPr>
            <p:nvPr/>
          </p:nvSpPr>
          <p:spPr bwMode="auto">
            <a:xfrm>
              <a:off x="3559" y="2221"/>
              <a:ext cx="956" cy="1"/>
            </a:xfrm>
            <a:custGeom>
              <a:avLst/>
              <a:gdLst>
                <a:gd name="T0" fmla="*/ 0 w 2753"/>
                <a:gd name="T1" fmla="*/ 0 h 1"/>
                <a:gd name="T2" fmla="*/ 2752 w 2753"/>
                <a:gd name="T3" fmla="*/ 0 h 1"/>
                <a:gd name="T4" fmla="*/ 2753 w 275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53" h="1">
                  <a:moveTo>
                    <a:pt x="0" y="0"/>
                  </a:moveTo>
                  <a:lnTo>
                    <a:pt x="2752" y="0"/>
                  </a:lnTo>
                  <a:lnTo>
                    <a:pt x="2753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1" name="Freeform 66"/>
            <p:cNvSpPr>
              <a:spLocks noChangeArrowheads="1"/>
            </p:cNvSpPr>
            <p:nvPr/>
          </p:nvSpPr>
          <p:spPr bwMode="auto">
            <a:xfrm>
              <a:off x="3505" y="2221"/>
              <a:ext cx="25" cy="1"/>
            </a:xfrm>
            <a:custGeom>
              <a:avLst/>
              <a:gdLst>
                <a:gd name="T0" fmla="*/ 0 w 71"/>
                <a:gd name="T1" fmla="*/ 0 h 1"/>
                <a:gd name="T2" fmla="*/ 70 w 71"/>
                <a:gd name="T3" fmla="*/ 0 h 1"/>
                <a:gd name="T4" fmla="*/ 71 w 7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70" y="0"/>
                  </a:lnTo>
                  <a:lnTo>
                    <a:pt x="7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2" name="Freeform 67"/>
            <p:cNvSpPr>
              <a:spLocks noChangeArrowheads="1"/>
            </p:cNvSpPr>
            <p:nvPr/>
          </p:nvSpPr>
          <p:spPr bwMode="auto">
            <a:xfrm>
              <a:off x="4587" y="2221"/>
              <a:ext cx="325" cy="1"/>
            </a:xfrm>
            <a:custGeom>
              <a:avLst/>
              <a:gdLst>
                <a:gd name="T0" fmla="*/ 0 w 935"/>
                <a:gd name="T1" fmla="*/ 0 h 1"/>
                <a:gd name="T2" fmla="*/ 934 w 935"/>
                <a:gd name="T3" fmla="*/ 0 h 1"/>
                <a:gd name="T4" fmla="*/ 935 w 9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35" h="1">
                  <a:moveTo>
                    <a:pt x="0" y="0"/>
                  </a:moveTo>
                  <a:lnTo>
                    <a:pt x="934" y="0"/>
                  </a:lnTo>
                  <a:lnTo>
                    <a:pt x="93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3" name="Freeform 68"/>
            <p:cNvSpPr>
              <a:spLocks noChangeArrowheads="1"/>
            </p:cNvSpPr>
            <p:nvPr/>
          </p:nvSpPr>
          <p:spPr bwMode="auto">
            <a:xfrm>
              <a:off x="4539" y="2221"/>
              <a:ext cx="25" cy="1"/>
            </a:xfrm>
            <a:custGeom>
              <a:avLst/>
              <a:gdLst>
                <a:gd name="T0" fmla="*/ 0 w 71"/>
                <a:gd name="T1" fmla="*/ 0 h 1"/>
                <a:gd name="T2" fmla="*/ 70 w 71"/>
                <a:gd name="T3" fmla="*/ 0 h 1"/>
                <a:gd name="T4" fmla="*/ 71 w 7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70" y="0"/>
                  </a:lnTo>
                  <a:lnTo>
                    <a:pt x="7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4" name="Freeform 69"/>
            <p:cNvSpPr>
              <a:spLocks noChangeArrowheads="1"/>
            </p:cNvSpPr>
            <p:nvPr/>
          </p:nvSpPr>
          <p:spPr bwMode="auto">
            <a:xfrm>
              <a:off x="4585" y="2292"/>
              <a:ext cx="86" cy="1"/>
            </a:xfrm>
            <a:custGeom>
              <a:avLst/>
              <a:gdLst>
                <a:gd name="T0" fmla="*/ 0 w 246"/>
                <a:gd name="T1" fmla="*/ 0 h 1"/>
                <a:gd name="T2" fmla="*/ 244 w 246"/>
                <a:gd name="T3" fmla="*/ 0 h 1"/>
                <a:gd name="T4" fmla="*/ 246 w 24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6" h="1">
                  <a:moveTo>
                    <a:pt x="0" y="0"/>
                  </a:moveTo>
                  <a:lnTo>
                    <a:pt x="244" y="0"/>
                  </a:lnTo>
                  <a:lnTo>
                    <a:pt x="24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5" name="Freeform 70"/>
            <p:cNvSpPr>
              <a:spLocks noChangeArrowheads="1"/>
            </p:cNvSpPr>
            <p:nvPr/>
          </p:nvSpPr>
          <p:spPr bwMode="auto">
            <a:xfrm>
              <a:off x="4585" y="2149"/>
              <a:ext cx="86" cy="1"/>
            </a:xfrm>
            <a:custGeom>
              <a:avLst/>
              <a:gdLst>
                <a:gd name="T0" fmla="*/ 0 w 246"/>
                <a:gd name="T1" fmla="*/ 0 h 1"/>
                <a:gd name="T2" fmla="*/ 244 w 246"/>
                <a:gd name="T3" fmla="*/ 0 h 1"/>
                <a:gd name="T4" fmla="*/ 246 w 24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6" h="1">
                  <a:moveTo>
                    <a:pt x="0" y="0"/>
                  </a:moveTo>
                  <a:lnTo>
                    <a:pt x="244" y="0"/>
                  </a:lnTo>
                  <a:lnTo>
                    <a:pt x="24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sp>
        <p:nvSpPr>
          <p:cNvPr id="73" name="Freeform 72"/>
          <p:cNvSpPr>
            <a:spLocks noChangeArrowheads="1"/>
          </p:cNvSpPr>
          <p:nvPr/>
        </p:nvSpPr>
        <p:spPr bwMode="auto">
          <a:xfrm>
            <a:off x="5524347" y="4035410"/>
            <a:ext cx="304800" cy="1587"/>
          </a:xfrm>
          <a:custGeom>
            <a:avLst/>
            <a:gdLst>
              <a:gd name="T0" fmla="*/ 0 w 554"/>
              <a:gd name="T1" fmla="*/ 0 h 1"/>
              <a:gd name="T2" fmla="*/ 553 w 554"/>
              <a:gd name="T3" fmla="*/ 0 h 1"/>
              <a:gd name="T4" fmla="*/ 554 w 554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54" h="1">
                <a:moveTo>
                  <a:pt x="0" y="0"/>
                </a:moveTo>
                <a:lnTo>
                  <a:pt x="553" y="0"/>
                </a:lnTo>
                <a:lnTo>
                  <a:pt x="554" y="0"/>
                </a:lnTo>
              </a:path>
            </a:pathLst>
          </a:cu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74" name="Freeform 73"/>
          <p:cNvSpPr>
            <a:spLocks noChangeArrowheads="1"/>
          </p:cNvSpPr>
          <p:nvPr/>
        </p:nvSpPr>
        <p:spPr bwMode="auto">
          <a:xfrm>
            <a:off x="9235922" y="4035410"/>
            <a:ext cx="287337" cy="1587"/>
          </a:xfrm>
          <a:custGeom>
            <a:avLst/>
            <a:gdLst>
              <a:gd name="T0" fmla="*/ 0 w 520"/>
              <a:gd name="T1" fmla="*/ 0 h 1"/>
              <a:gd name="T2" fmla="*/ 519 w 520"/>
              <a:gd name="T3" fmla="*/ 0 h 1"/>
              <a:gd name="T4" fmla="*/ 520 w 520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20" h="1">
                <a:moveTo>
                  <a:pt x="0" y="0"/>
                </a:moveTo>
                <a:lnTo>
                  <a:pt x="519" y="0"/>
                </a:lnTo>
                <a:lnTo>
                  <a:pt x="520" y="0"/>
                </a:lnTo>
              </a:path>
            </a:pathLst>
          </a:cu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75" name="Line 74"/>
          <p:cNvSpPr>
            <a:spLocks noChangeShapeType="1"/>
          </p:cNvSpPr>
          <p:nvPr/>
        </p:nvSpPr>
        <p:spPr bwMode="auto">
          <a:xfrm flipV="1">
            <a:off x="5524347" y="3776647"/>
            <a:ext cx="0" cy="260350"/>
          </a:xfrm>
          <a:prstGeom prst="line">
            <a:avLst/>
          </a:prstGeom>
          <a:noFill/>
          <a:ln w="0">
            <a:solidFill>
              <a:srgbClr val="FF00FF"/>
            </a:solidFill>
            <a:round/>
            <a:headE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Line 75"/>
          <p:cNvSpPr>
            <a:spLocks noChangeShapeType="1"/>
          </p:cNvSpPr>
          <p:nvPr/>
        </p:nvSpPr>
        <p:spPr bwMode="auto">
          <a:xfrm flipV="1">
            <a:off x="9523259" y="3775060"/>
            <a:ext cx="0" cy="260350"/>
          </a:xfrm>
          <a:prstGeom prst="line">
            <a:avLst/>
          </a:prstGeom>
          <a:noFill/>
          <a:ln w="0">
            <a:solidFill>
              <a:srgbClr val="FF00FF"/>
            </a:solidFill>
            <a:round/>
            <a:headE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Text Box 76"/>
          <p:cNvSpPr txBox="1">
            <a:spLocks noChangeArrowheads="1"/>
          </p:cNvSpPr>
          <p:nvPr/>
        </p:nvSpPr>
        <p:spPr bwMode="auto">
          <a:xfrm>
            <a:off x="1961122" y="5414391"/>
            <a:ext cx="862706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49263" indent="-449263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000" dirty="0">
                <a:solidFill>
                  <a:srgbClr val="FF00FF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※</a:t>
            </a:r>
            <a:r>
              <a:rPr lang="en-US" altLang="zh-CN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剖视图按基本视图关系配置，中间又没有其他图形隔开时，可</a:t>
            </a:r>
            <a:r>
              <a:rPr lang="zh-CN" altLang="en-US" sz="2000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省略箭头</a:t>
            </a: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。</a:t>
            </a:r>
          </a:p>
        </p:txBody>
      </p:sp>
      <p:sp>
        <p:nvSpPr>
          <p:cNvPr id="78" name="Text Box 77"/>
          <p:cNvSpPr txBox="1">
            <a:spLocks noChangeArrowheads="1"/>
          </p:cNvSpPr>
          <p:nvPr/>
        </p:nvSpPr>
        <p:spPr bwMode="auto">
          <a:xfrm>
            <a:off x="1961122" y="5838810"/>
            <a:ext cx="80994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49263" indent="-449263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000" dirty="0">
                <a:solidFill>
                  <a:srgbClr val="FF00FF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※</a:t>
            </a:r>
            <a:r>
              <a:rPr lang="en-US" altLang="zh-CN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当单一剖切平面通过机件的对称平面或基本对称平面，且剖视图按投影关系配置，中间又没有其他图形隔开时，</a:t>
            </a:r>
            <a:r>
              <a:rPr lang="zh-CN" altLang="en-US" sz="2000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可不标注</a:t>
            </a: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。</a:t>
            </a:r>
          </a:p>
        </p:txBody>
      </p:sp>
      <p:sp>
        <p:nvSpPr>
          <p:cNvPr id="79" name="Rectangle 2"/>
          <p:cNvSpPr txBox="1">
            <a:spLocks noChangeArrowheads="1"/>
          </p:cNvSpPr>
          <p:nvPr/>
        </p:nvSpPr>
        <p:spPr>
          <a:xfrm>
            <a:off x="2108994" y="288925"/>
            <a:ext cx="2885282" cy="533400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28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en-US" altLang="zh-CN" dirty="0"/>
              <a:t> </a:t>
            </a:r>
            <a:r>
              <a:rPr lang="zh-CN" altLang="en-US" dirty="0"/>
              <a:t>剖视图的标注</a:t>
            </a:r>
          </a:p>
        </p:txBody>
      </p:sp>
      <p:sp>
        <p:nvSpPr>
          <p:cNvPr id="80" name="Text Box 60"/>
          <p:cNvSpPr txBox="1">
            <a:spLocks noChangeArrowheads="1"/>
          </p:cNvSpPr>
          <p:nvPr/>
        </p:nvSpPr>
        <p:spPr bwMode="auto">
          <a:xfrm>
            <a:off x="337310" y="1457531"/>
            <a:ext cx="21145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kumimoji="1" lang="zh-CN" altLang="en-US" sz="2800" b="1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标注内容：</a:t>
            </a:r>
          </a:p>
        </p:txBody>
      </p:sp>
      <p:sp>
        <p:nvSpPr>
          <p:cNvPr id="81" name="Text Box 61"/>
          <p:cNvSpPr txBox="1">
            <a:spLocks noChangeArrowheads="1"/>
          </p:cNvSpPr>
          <p:nvPr/>
        </p:nvSpPr>
        <p:spPr bwMode="auto">
          <a:xfrm>
            <a:off x="330448" y="2291649"/>
            <a:ext cx="3896158" cy="7571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400" b="1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① </a:t>
            </a:r>
            <a:r>
              <a:rPr kumimoji="1" lang="zh-CN" altLang="en-US" sz="2400" b="1" dirty="0">
                <a:solidFill>
                  <a:schemeClr val="accent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剖切位置线</a:t>
            </a:r>
            <a:r>
              <a:rPr kumimoji="1" lang="zh-CN" altLang="en-US" sz="2400" b="1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：指示剖切面的位置</a:t>
            </a:r>
            <a:r>
              <a:rPr kumimoji="1" lang="en-US" altLang="zh-CN" sz="2400" b="1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,</a:t>
            </a:r>
            <a:r>
              <a:rPr kumimoji="1" lang="zh-CN" altLang="en-US" sz="2400" b="1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用粗实线画出。     </a:t>
            </a:r>
          </a:p>
        </p:txBody>
      </p:sp>
      <p:sp>
        <p:nvSpPr>
          <p:cNvPr id="82" name="Text Box 59"/>
          <p:cNvSpPr txBox="1">
            <a:spLocks noChangeArrowheads="1"/>
          </p:cNvSpPr>
          <p:nvPr/>
        </p:nvSpPr>
        <p:spPr bwMode="auto">
          <a:xfrm>
            <a:off x="315610" y="3820658"/>
            <a:ext cx="411451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2400" b="1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③ </a:t>
            </a:r>
            <a:r>
              <a:rPr kumimoji="1" lang="zh-CN" altLang="en-US" sz="2400" b="1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剖视图的</a:t>
            </a:r>
            <a:r>
              <a:rPr kumimoji="1" lang="zh-CN" altLang="en-US" sz="2400" b="1" dirty="0">
                <a:solidFill>
                  <a:schemeClr val="accent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名称</a:t>
            </a:r>
            <a:r>
              <a:rPr kumimoji="1" lang="en-US" altLang="zh-CN" sz="2400" b="1" dirty="0">
                <a:solidFill>
                  <a:schemeClr val="accent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:</a:t>
            </a:r>
            <a:r>
              <a:rPr kumimoji="1" lang="zh-CN" altLang="en-US" sz="2400" b="1" dirty="0">
                <a:solidFill>
                  <a:schemeClr val="accent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用字母表示</a:t>
            </a:r>
            <a:r>
              <a:rPr kumimoji="1" lang="zh-CN" altLang="en-US" sz="2400" b="1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。</a:t>
            </a:r>
          </a:p>
        </p:txBody>
      </p:sp>
      <p:sp>
        <p:nvSpPr>
          <p:cNvPr id="83" name="Text Box 58"/>
          <p:cNvSpPr txBox="1">
            <a:spLocks noChangeArrowheads="1"/>
          </p:cNvSpPr>
          <p:nvPr/>
        </p:nvSpPr>
        <p:spPr bwMode="auto">
          <a:xfrm>
            <a:off x="337310" y="3251765"/>
            <a:ext cx="3634229" cy="4247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400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② </a:t>
            </a:r>
            <a:r>
              <a:rPr kumimoji="1" lang="zh-CN" altLang="en-US" sz="2400" b="1" dirty="0">
                <a:solidFill>
                  <a:schemeClr val="accent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投射方向</a:t>
            </a:r>
            <a:r>
              <a:rPr kumimoji="1" lang="zh-CN" altLang="en-US" sz="2400" b="1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 </a:t>
            </a:r>
            <a:r>
              <a:rPr kumimoji="1" lang="en-US" altLang="zh-CN" sz="2400" b="1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:</a:t>
            </a:r>
            <a:r>
              <a:rPr kumimoji="1" lang="zh-CN" altLang="en-US" sz="2400" b="1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用箭头表示。</a:t>
            </a:r>
          </a:p>
        </p:txBody>
      </p:sp>
    </p:spTree>
    <p:extLst>
      <p:ext uri="{BB962C8B-B14F-4D97-AF65-F5344CB8AC3E}">
        <p14:creationId xmlns:p14="http://schemas.microsoft.com/office/powerpoint/2010/main" val="31743115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75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xit" presetSubtype="0" fill="hold" grpId="2" nodeType="click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3" grpId="1" build="allAtOnce"/>
      <p:bldP spid="3" grpId="2" build="allAtOnce"/>
      <p:bldP spid="4" grpId="0" build="p"/>
      <p:bldP spid="4" grpId="1" build="allAtOnce"/>
      <p:bldP spid="4" grpId="2" build="allAtOnce"/>
      <p:bldP spid="5" grpId="0" build="p" advAuto="0"/>
      <p:bldP spid="5" grpId="1" build="allAtOnce"/>
      <p:bldP spid="5" grpId="2" build="allAtOnce"/>
      <p:bldP spid="73" grpId="0" animBg="1"/>
      <p:bldP spid="74" grpId="0" animBg="1"/>
      <p:bldP spid="75" grpId="0" animBg="1"/>
      <p:bldP spid="76" grpId="0" animBg="1"/>
      <p:bldP spid="77" grpId="0"/>
      <p:bldP spid="78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>
          <a:xfrm>
            <a:off x="934245" y="373064"/>
            <a:ext cx="5581650" cy="622300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28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en-US" altLang="zh-CN" dirty="0"/>
              <a:t> </a:t>
            </a:r>
            <a:r>
              <a:rPr lang="zh-CN" altLang="en-US" dirty="0"/>
              <a:t>画剖视图应注意的问题 </a:t>
            </a:r>
            <a:r>
              <a:rPr lang="en-US" altLang="zh-CN" dirty="0"/>
              <a:t>(</a:t>
            </a:r>
            <a:r>
              <a:rPr lang="zh-CN" altLang="en-US" dirty="0"/>
              <a:t>一</a:t>
            </a:r>
            <a:r>
              <a:rPr lang="en-US" altLang="zh-CN" dirty="0"/>
              <a:t>)</a:t>
            </a:r>
          </a:p>
        </p:txBody>
      </p:sp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2124365" y="5896843"/>
            <a:ext cx="8548109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00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en-US" altLang="zh-CN" sz="2000"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zh-CN" altLang="en-US" sz="2000">
                <a:latin typeface="华文细黑" panose="02010600040101010101" pitchFamily="2" charset="-122"/>
                <a:ea typeface="华文细黑" panose="02010600040101010101" pitchFamily="2" charset="-122"/>
              </a:rPr>
              <a:t>剖视图中</a:t>
            </a:r>
            <a:r>
              <a:rPr lang="zh-CN" altLang="en-US" sz="2000">
                <a:solidFill>
                  <a:srgbClr val="FF010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不要漏线</a:t>
            </a:r>
            <a:r>
              <a:rPr lang="en-US" altLang="zh-CN" sz="2000">
                <a:latin typeface="华文细黑" panose="02010600040101010101" pitchFamily="2" charset="-122"/>
                <a:ea typeface="华文细黑" panose="02010600040101010101" pitchFamily="2" charset="-122"/>
              </a:rPr>
              <a:t>,</a:t>
            </a:r>
            <a:r>
              <a:rPr lang="zh-CN" altLang="en-US" sz="2000">
                <a:latin typeface="华文细黑" panose="02010600040101010101" pitchFamily="2" charset="-122"/>
                <a:ea typeface="华文细黑" panose="02010600040101010101" pitchFamily="2" charset="-122"/>
              </a:rPr>
              <a:t>剖切平面后的可见轮廓线要完整画出。</a:t>
            </a:r>
            <a:r>
              <a:rPr lang="zh-CN" altLang="en-US" sz="1800">
                <a:solidFill>
                  <a:srgbClr val="0099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 </a:t>
            </a:r>
          </a:p>
        </p:txBody>
      </p:sp>
      <p:grpSp>
        <p:nvGrpSpPr>
          <p:cNvPr id="4" name="Group 4"/>
          <p:cNvGrpSpPr>
            <a:grpSpLocks/>
          </p:cNvGrpSpPr>
          <p:nvPr/>
        </p:nvGrpSpPr>
        <p:grpSpPr bwMode="auto">
          <a:xfrm>
            <a:off x="8602664" y="1738314"/>
            <a:ext cx="1114425" cy="14287"/>
            <a:chOff x="4459" y="2199"/>
            <a:chExt cx="702" cy="9"/>
          </a:xfrm>
        </p:grpSpPr>
        <p:sp>
          <p:nvSpPr>
            <p:cNvPr id="5" name="Freeform 5"/>
            <p:cNvSpPr>
              <a:spLocks noChangeArrowheads="1"/>
            </p:cNvSpPr>
            <p:nvPr/>
          </p:nvSpPr>
          <p:spPr bwMode="auto">
            <a:xfrm>
              <a:off x="4459" y="2207"/>
              <a:ext cx="185" cy="1"/>
            </a:xfrm>
            <a:custGeom>
              <a:avLst/>
              <a:gdLst>
                <a:gd name="T0" fmla="*/ 0 w 185"/>
                <a:gd name="T1" fmla="*/ 0 h 1"/>
                <a:gd name="T2" fmla="*/ 185 w 185"/>
                <a:gd name="T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5" h="1">
                  <a:moveTo>
                    <a:pt x="0" y="0"/>
                  </a:moveTo>
                  <a:lnTo>
                    <a:pt x="185" y="1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" name="Freeform 6"/>
            <p:cNvSpPr>
              <a:spLocks noChangeArrowheads="1"/>
            </p:cNvSpPr>
            <p:nvPr/>
          </p:nvSpPr>
          <p:spPr bwMode="auto">
            <a:xfrm>
              <a:off x="4986" y="2199"/>
              <a:ext cx="175" cy="1"/>
            </a:xfrm>
            <a:custGeom>
              <a:avLst/>
              <a:gdLst>
                <a:gd name="T0" fmla="*/ 175 w 175"/>
                <a:gd name="T1" fmla="*/ 1 h 1"/>
                <a:gd name="T2" fmla="*/ 0 w 175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75" h="1">
                  <a:moveTo>
                    <a:pt x="175" y="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7" name="Group 7"/>
          <p:cNvGrpSpPr>
            <a:grpSpLocks/>
          </p:cNvGrpSpPr>
          <p:nvPr/>
        </p:nvGrpSpPr>
        <p:grpSpPr bwMode="auto">
          <a:xfrm>
            <a:off x="2997200" y="1758950"/>
            <a:ext cx="1150938" cy="6350"/>
            <a:chOff x="928" y="2212"/>
            <a:chExt cx="725" cy="4"/>
          </a:xfrm>
        </p:grpSpPr>
        <p:sp>
          <p:nvSpPr>
            <p:cNvPr id="8" name="Freeform 8"/>
            <p:cNvSpPr>
              <a:spLocks noChangeArrowheads="1"/>
            </p:cNvSpPr>
            <p:nvPr/>
          </p:nvSpPr>
          <p:spPr bwMode="auto">
            <a:xfrm>
              <a:off x="928" y="2212"/>
              <a:ext cx="192" cy="4"/>
            </a:xfrm>
            <a:custGeom>
              <a:avLst/>
              <a:gdLst>
                <a:gd name="T0" fmla="*/ 0 w 192"/>
                <a:gd name="T1" fmla="*/ 0 h 4"/>
                <a:gd name="T2" fmla="*/ 192 w 192"/>
                <a:gd name="T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92" h="4">
                  <a:moveTo>
                    <a:pt x="0" y="0"/>
                  </a:moveTo>
                  <a:lnTo>
                    <a:pt x="192" y="4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" name="Freeform 9"/>
            <p:cNvSpPr>
              <a:spLocks noChangeArrowheads="1"/>
            </p:cNvSpPr>
            <p:nvPr/>
          </p:nvSpPr>
          <p:spPr bwMode="auto">
            <a:xfrm>
              <a:off x="1488" y="2212"/>
              <a:ext cx="165" cy="4"/>
            </a:xfrm>
            <a:custGeom>
              <a:avLst/>
              <a:gdLst>
                <a:gd name="T0" fmla="*/ 165 w 165"/>
                <a:gd name="T1" fmla="*/ 0 h 4"/>
                <a:gd name="T2" fmla="*/ 0 w 165"/>
                <a:gd name="T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65" h="4">
                  <a:moveTo>
                    <a:pt x="165" y="0"/>
                  </a:moveTo>
                  <a:lnTo>
                    <a:pt x="0" y="4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10" name="Group 10"/>
          <p:cNvGrpSpPr>
            <a:grpSpLocks/>
          </p:cNvGrpSpPr>
          <p:nvPr/>
        </p:nvGrpSpPr>
        <p:grpSpPr bwMode="auto">
          <a:xfrm>
            <a:off x="5899150" y="1701800"/>
            <a:ext cx="1314450" cy="147638"/>
            <a:chOff x="2756" y="2176"/>
            <a:chExt cx="828" cy="93"/>
          </a:xfrm>
        </p:grpSpPr>
        <p:sp>
          <p:nvSpPr>
            <p:cNvPr id="11" name="Freeform 11"/>
            <p:cNvSpPr>
              <a:spLocks noChangeArrowheads="1"/>
            </p:cNvSpPr>
            <p:nvPr/>
          </p:nvSpPr>
          <p:spPr bwMode="auto">
            <a:xfrm>
              <a:off x="3320" y="2182"/>
              <a:ext cx="264" cy="2"/>
            </a:xfrm>
            <a:custGeom>
              <a:avLst/>
              <a:gdLst>
                <a:gd name="T0" fmla="*/ 264 w 264"/>
                <a:gd name="T1" fmla="*/ 0 h 2"/>
                <a:gd name="T2" fmla="*/ 0 w 264"/>
                <a:gd name="T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64" h="2">
                  <a:moveTo>
                    <a:pt x="264" y="0"/>
                  </a:moveTo>
                  <a:lnTo>
                    <a:pt x="0" y="2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" name="Freeform 12"/>
            <p:cNvSpPr>
              <a:spLocks noChangeArrowheads="1"/>
            </p:cNvSpPr>
            <p:nvPr/>
          </p:nvSpPr>
          <p:spPr bwMode="auto">
            <a:xfrm>
              <a:off x="2756" y="2182"/>
              <a:ext cx="172" cy="2"/>
            </a:xfrm>
            <a:custGeom>
              <a:avLst/>
              <a:gdLst>
                <a:gd name="T0" fmla="*/ 0 w 172"/>
                <a:gd name="T1" fmla="*/ 0 h 2"/>
                <a:gd name="T2" fmla="*/ 172 w 172"/>
                <a:gd name="T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72" h="2">
                  <a:moveTo>
                    <a:pt x="0" y="0"/>
                  </a:moveTo>
                  <a:lnTo>
                    <a:pt x="172" y="2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 flipV="1">
              <a:off x="3583" y="2176"/>
              <a:ext cx="0" cy="9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" name="Group 14"/>
          <p:cNvGrpSpPr>
            <a:grpSpLocks/>
          </p:cNvGrpSpPr>
          <p:nvPr/>
        </p:nvGrpSpPr>
        <p:grpSpPr bwMode="auto">
          <a:xfrm>
            <a:off x="2362201" y="1031876"/>
            <a:ext cx="2371725" cy="3654425"/>
            <a:chOff x="528" y="1754"/>
            <a:chExt cx="1494" cy="2302"/>
          </a:xfrm>
        </p:grpSpPr>
        <p:sp>
          <p:nvSpPr>
            <p:cNvPr id="15" name="Freeform 15"/>
            <p:cNvSpPr>
              <a:spLocks noChangeArrowheads="1"/>
            </p:cNvSpPr>
            <p:nvPr/>
          </p:nvSpPr>
          <p:spPr bwMode="auto">
            <a:xfrm>
              <a:off x="1440" y="3272"/>
              <a:ext cx="400" cy="248"/>
            </a:xfrm>
            <a:custGeom>
              <a:avLst/>
              <a:gdLst>
                <a:gd name="T0" fmla="*/ 400 w 400"/>
                <a:gd name="T1" fmla="*/ 136 h 248"/>
                <a:gd name="T2" fmla="*/ 400 w 400"/>
                <a:gd name="T3" fmla="*/ 248 h 248"/>
                <a:gd name="T4" fmla="*/ 0 w 400"/>
                <a:gd name="T5" fmla="*/ 104 h 248"/>
                <a:gd name="T6" fmla="*/ 24 w 400"/>
                <a:gd name="T7" fmla="*/ 0 h 248"/>
                <a:gd name="T8" fmla="*/ 400 w 400"/>
                <a:gd name="T9" fmla="*/ 136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248">
                  <a:moveTo>
                    <a:pt x="400" y="136"/>
                  </a:moveTo>
                  <a:lnTo>
                    <a:pt x="400" y="248"/>
                  </a:lnTo>
                  <a:lnTo>
                    <a:pt x="0" y="104"/>
                  </a:lnTo>
                  <a:lnTo>
                    <a:pt x="24" y="0"/>
                  </a:lnTo>
                  <a:lnTo>
                    <a:pt x="400" y="136"/>
                  </a:lnTo>
                  <a:close/>
                </a:path>
              </a:pathLst>
            </a:custGeom>
            <a:gradFill rotWithShape="0">
              <a:gsLst>
                <a:gs pos="0">
                  <a:srgbClr val="765E2F"/>
                </a:gs>
                <a:gs pos="100000">
                  <a:srgbClr val="FFCC66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" name="Freeform 16"/>
            <p:cNvSpPr>
              <a:spLocks noChangeArrowheads="1"/>
            </p:cNvSpPr>
            <p:nvPr/>
          </p:nvSpPr>
          <p:spPr bwMode="auto">
            <a:xfrm>
              <a:off x="960" y="3408"/>
              <a:ext cx="320" cy="328"/>
            </a:xfrm>
            <a:custGeom>
              <a:avLst/>
              <a:gdLst>
                <a:gd name="T0" fmla="*/ 0 w 320"/>
                <a:gd name="T1" fmla="*/ 264 h 328"/>
                <a:gd name="T2" fmla="*/ 304 w 320"/>
                <a:gd name="T3" fmla="*/ 0 h 328"/>
                <a:gd name="T4" fmla="*/ 320 w 320"/>
                <a:gd name="T5" fmla="*/ 144 h 328"/>
                <a:gd name="T6" fmla="*/ 80 w 320"/>
                <a:gd name="T7" fmla="*/ 328 h 328"/>
                <a:gd name="T8" fmla="*/ 0 w 320"/>
                <a:gd name="T9" fmla="*/ 264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0" h="328">
                  <a:moveTo>
                    <a:pt x="0" y="264"/>
                  </a:moveTo>
                  <a:lnTo>
                    <a:pt x="304" y="0"/>
                  </a:lnTo>
                  <a:lnTo>
                    <a:pt x="320" y="144"/>
                  </a:lnTo>
                  <a:lnTo>
                    <a:pt x="80" y="328"/>
                  </a:lnTo>
                  <a:lnTo>
                    <a:pt x="0" y="264"/>
                  </a:lnTo>
                  <a:close/>
                </a:path>
              </a:pathLst>
            </a:custGeom>
            <a:gradFill rotWithShape="0">
              <a:gsLst>
                <a:gs pos="0">
                  <a:srgbClr val="765E2F"/>
                </a:gs>
                <a:gs pos="50000">
                  <a:srgbClr val="FFCC66"/>
                </a:gs>
                <a:gs pos="100000">
                  <a:srgbClr val="765E2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" name="Freeform 17"/>
            <p:cNvSpPr>
              <a:spLocks noChangeArrowheads="1"/>
            </p:cNvSpPr>
            <p:nvPr/>
          </p:nvSpPr>
          <p:spPr bwMode="auto">
            <a:xfrm>
              <a:off x="800" y="3192"/>
              <a:ext cx="1112" cy="672"/>
            </a:xfrm>
            <a:custGeom>
              <a:avLst/>
              <a:gdLst>
                <a:gd name="T0" fmla="*/ 440 w 1112"/>
                <a:gd name="T1" fmla="*/ 672 h 672"/>
                <a:gd name="T2" fmla="*/ 504 w 1112"/>
                <a:gd name="T3" fmla="*/ 608 h 672"/>
                <a:gd name="T4" fmla="*/ 168 w 1112"/>
                <a:gd name="T5" fmla="*/ 484 h 672"/>
                <a:gd name="T6" fmla="*/ 656 w 1112"/>
                <a:gd name="T7" fmla="*/ 88 h 672"/>
                <a:gd name="T8" fmla="*/ 1048 w 1112"/>
                <a:gd name="T9" fmla="*/ 224 h 672"/>
                <a:gd name="T10" fmla="*/ 1112 w 1112"/>
                <a:gd name="T11" fmla="*/ 160 h 672"/>
                <a:gd name="T12" fmla="*/ 648 w 1112"/>
                <a:gd name="T13" fmla="*/ 0 h 672"/>
                <a:gd name="T14" fmla="*/ 0 w 1112"/>
                <a:gd name="T15" fmla="*/ 512 h 672"/>
                <a:gd name="T16" fmla="*/ 440 w 1112"/>
                <a:gd name="T17" fmla="*/ 672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12" h="672">
                  <a:moveTo>
                    <a:pt x="440" y="672"/>
                  </a:moveTo>
                  <a:lnTo>
                    <a:pt x="504" y="608"/>
                  </a:lnTo>
                  <a:lnTo>
                    <a:pt x="168" y="484"/>
                  </a:lnTo>
                  <a:lnTo>
                    <a:pt x="656" y="88"/>
                  </a:lnTo>
                  <a:lnTo>
                    <a:pt x="1048" y="224"/>
                  </a:lnTo>
                  <a:lnTo>
                    <a:pt x="1112" y="160"/>
                  </a:lnTo>
                  <a:lnTo>
                    <a:pt x="648" y="0"/>
                  </a:lnTo>
                  <a:lnTo>
                    <a:pt x="0" y="512"/>
                  </a:lnTo>
                  <a:lnTo>
                    <a:pt x="440" y="672"/>
                  </a:lnTo>
                  <a:close/>
                </a:path>
              </a:pathLst>
            </a:custGeom>
            <a:gradFill rotWithShape="0">
              <a:gsLst>
                <a:gs pos="0">
                  <a:srgbClr val="006600"/>
                </a:gs>
                <a:gs pos="100000">
                  <a:srgbClr val="00B400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" name="Freeform 18"/>
            <p:cNvSpPr>
              <a:spLocks noChangeArrowheads="1"/>
            </p:cNvSpPr>
            <p:nvPr/>
          </p:nvSpPr>
          <p:spPr bwMode="auto">
            <a:xfrm>
              <a:off x="1024" y="3376"/>
              <a:ext cx="816" cy="552"/>
            </a:xfrm>
            <a:custGeom>
              <a:avLst/>
              <a:gdLst>
                <a:gd name="T0" fmla="*/ 816 w 816"/>
                <a:gd name="T1" fmla="*/ 128 h 552"/>
                <a:gd name="T2" fmla="*/ 280 w 816"/>
                <a:gd name="T3" fmla="*/ 552 h 552"/>
                <a:gd name="T4" fmla="*/ 276 w 816"/>
                <a:gd name="T5" fmla="*/ 424 h 552"/>
                <a:gd name="T6" fmla="*/ 0 w 816"/>
                <a:gd name="T7" fmla="*/ 320 h 552"/>
                <a:gd name="T8" fmla="*/ 432 w 816"/>
                <a:gd name="T9" fmla="*/ 0 h 552"/>
                <a:gd name="T10" fmla="*/ 816 w 816"/>
                <a:gd name="T11" fmla="*/ 12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6" h="552">
                  <a:moveTo>
                    <a:pt x="816" y="128"/>
                  </a:moveTo>
                  <a:lnTo>
                    <a:pt x="280" y="552"/>
                  </a:lnTo>
                  <a:lnTo>
                    <a:pt x="276" y="424"/>
                  </a:lnTo>
                  <a:lnTo>
                    <a:pt x="0" y="320"/>
                  </a:lnTo>
                  <a:lnTo>
                    <a:pt x="432" y="0"/>
                  </a:lnTo>
                  <a:lnTo>
                    <a:pt x="816" y="128"/>
                  </a:lnTo>
                  <a:close/>
                </a:path>
              </a:pathLst>
            </a:custGeom>
            <a:gradFill rotWithShape="0">
              <a:gsLst>
                <a:gs pos="0">
                  <a:srgbClr val="767600"/>
                </a:gs>
                <a:gs pos="100000">
                  <a:srgbClr val="FFFF00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" name="AutoShape 19"/>
            <p:cNvSpPr>
              <a:spLocks noChangeArrowheads="1"/>
            </p:cNvSpPr>
            <p:nvPr/>
          </p:nvSpPr>
          <p:spPr bwMode="auto">
            <a:xfrm>
              <a:off x="1247" y="3272"/>
              <a:ext cx="285" cy="432"/>
            </a:xfrm>
            <a:prstGeom prst="can">
              <a:avLst>
                <a:gd name="adj" fmla="val 57460"/>
              </a:avLst>
            </a:prstGeom>
            <a:gradFill rotWithShape="0">
              <a:gsLst>
                <a:gs pos="0">
                  <a:srgbClr val="762F00"/>
                </a:gs>
                <a:gs pos="50000">
                  <a:srgbClr val="FF6600"/>
                </a:gs>
                <a:gs pos="100000">
                  <a:srgbClr val="762F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" name="Oval 20"/>
            <p:cNvSpPr>
              <a:spLocks noChangeArrowheads="1"/>
            </p:cNvSpPr>
            <p:nvPr/>
          </p:nvSpPr>
          <p:spPr bwMode="auto">
            <a:xfrm>
              <a:off x="1292" y="3319"/>
              <a:ext cx="189" cy="69"/>
            </a:xfrm>
            <a:prstGeom prst="ellipse">
              <a:avLst/>
            </a:prstGeom>
            <a:gradFill rotWithShape="0">
              <a:gsLst>
                <a:gs pos="0">
                  <a:srgbClr val="765E00"/>
                </a:gs>
                <a:gs pos="50000">
                  <a:srgbClr val="FFCC00"/>
                </a:gs>
                <a:gs pos="100000">
                  <a:srgbClr val="765E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" name="Freeform 21"/>
            <p:cNvSpPr>
              <a:spLocks noChangeArrowheads="1"/>
            </p:cNvSpPr>
            <p:nvPr/>
          </p:nvSpPr>
          <p:spPr bwMode="auto">
            <a:xfrm>
              <a:off x="800" y="3696"/>
              <a:ext cx="440" cy="360"/>
            </a:xfrm>
            <a:custGeom>
              <a:avLst/>
              <a:gdLst>
                <a:gd name="T0" fmla="*/ 0 w 440"/>
                <a:gd name="T1" fmla="*/ 0 h 360"/>
                <a:gd name="T2" fmla="*/ 0 w 440"/>
                <a:gd name="T3" fmla="*/ 208 h 360"/>
                <a:gd name="T4" fmla="*/ 440 w 440"/>
                <a:gd name="T5" fmla="*/ 360 h 360"/>
                <a:gd name="T6" fmla="*/ 440 w 440"/>
                <a:gd name="T7" fmla="*/ 160 h 360"/>
                <a:gd name="T8" fmla="*/ 0 w 440"/>
                <a:gd name="T9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360">
                  <a:moveTo>
                    <a:pt x="0" y="0"/>
                  </a:moveTo>
                  <a:lnTo>
                    <a:pt x="0" y="208"/>
                  </a:lnTo>
                  <a:lnTo>
                    <a:pt x="440" y="360"/>
                  </a:lnTo>
                  <a:lnTo>
                    <a:pt x="440" y="16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rgbClr val="005300"/>
                </a:gs>
                <a:gs pos="100000">
                  <a:srgbClr val="00B4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" name="Freeform 22"/>
            <p:cNvSpPr>
              <a:spLocks noChangeArrowheads="1"/>
            </p:cNvSpPr>
            <p:nvPr/>
          </p:nvSpPr>
          <p:spPr bwMode="auto">
            <a:xfrm>
              <a:off x="1240" y="3344"/>
              <a:ext cx="676" cy="712"/>
            </a:xfrm>
            <a:custGeom>
              <a:avLst/>
              <a:gdLst>
                <a:gd name="T0" fmla="*/ 0 w 676"/>
                <a:gd name="T1" fmla="*/ 512 h 712"/>
                <a:gd name="T2" fmla="*/ 0 w 676"/>
                <a:gd name="T3" fmla="*/ 712 h 712"/>
                <a:gd name="T4" fmla="*/ 676 w 676"/>
                <a:gd name="T5" fmla="*/ 188 h 712"/>
                <a:gd name="T6" fmla="*/ 676 w 676"/>
                <a:gd name="T7" fmla="*/ 0 h 712"/>
                <a:gd name="T8" fmla="*/ 600 w 676"/>
                <a:gd name="T9" fmla="*/ 72 h 712"/>
                <a:gd name="T10" fmla="*/ 600 w 676"/>
                <a:gd name="T11" fmla="*/ 156 h 712"/>
                <a:gd name="T12" fmla="*/ 72 w 676"/>
                <a:gd name="T13" fmla="*/ 560 h 712"/>
                <a:gd name="T14" fmla="*/ 72 w 676"/>
                <a:gd name="T15" fmla="*/ 448 h 712"/>
                <a:gd name="T16" fmla="*/ 0 w 676"/>
                <a:gd name="T17" fmla="*/ 512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6" h="712">
                  <a:moveTo>
                    <a:pt x="0" y="512"/>
                  </a:moveTo>
                  <a:lnTo>
                    <a:pt x="0" y="712"/>
                  </a:lnTo>
                  <a:lnTo>
                    <a:pt x="676" y="188"/>
                  </a:lnTo>
                  <a:lnTo>
                    <a:pt x="676" y="0"/>
                  </a:lnTo>
                  <a:lnTo>
                    <a:pt x="600" y="72"/>
                  </a:lnTo>
                  <a:lnTo>
                    <a:pt x="600" y="156"/>
                  </a:lnTo>
                  <a:lnTo>
                    <a:pt x="72" y="560"/>
                  </a:lnTo>
                  <a:lnTo>
                    <a:pt x="72" y="448"/>
                  </a:lnTo>
                  <a:lnTo>
                    <a:pt x="0" y="512"/>
                  </a:lnTo>
                  <a:close/>
                </a:path>
              </a:pathLst>
            </a:custGeom>
            <a:gradFill rotWithShape="0">
              <a:gsLst>
                <a:gs pos="0">
                  <a:srgbClr val="007200"/>
                </a:gs>
                <a:gs pos="100000">
                  <a:srgbClr val="00B4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" name="Text Box 23"/>
            <p:cNvSpPr txBox="1">
              <a:spLocks noChangeArrowheads="1"/>
            </p:cNvSpPr>
            <p:nvPr/>
          </p:nvSpPr>
          <p:spPr bwMode="auto">
            <a:xfrm>
              <a:off x="1007" y="1754"/>
              <a:ext cx="59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2000" i="1">
                  <a:latin typeface="宋体" panose="02010600030101010101" pitchFamily="2" charset="-122"/>
                </a:rPr>
                <a:t>A</a:t>
              </a:r>
              <a:r>
                <a:rPr lang="zh-CN" altLang="en-US" sz="2000">
                  <a:latin typeface="Times New Roman" panose="02020603050405020304" pitchFamily="18" charset="0"/>
                </a:rPr>
                <a:t>－</a:t>
              </a:r>
              <a:r>
                <a:rPr lang="en-US" altLang="zh-CN" sz="2000" i="1">
                  <a:latin typeface="宋体" panose="02010600030101010101" pitchFamily="2" charset="-122"/>
                </a:rPr>
                <a:t>A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24" name="Freeform 24"/>
            <p:cNvSpPr>
              <a:spLocks noChangeArrowheads="1"/>
            </p:cNvSpPr>
            <p:nvPr/>
          </p:nvSpPr>
          <p:spPr bwMode="auto">
            <a:xfrm>
              <a:off x="1658" y="2213"/>
              <a:ext cx="0" cy="96"/>
            </a:xfrm>
            <a:custGeom>
              <a:avLst/>
              <a:gdLst>
                <a:gd name="T0" fmla="*/ 1 w 1"/>
                <a:gd name="T1" fmla="*/ 148 h 148"/>
                <a:gd name="T2" fmla="*/ 0 w 1"/>
                <a:gd name="T3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48">
                  <a:moveTo>
                    <a:pt x="1" y="148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5" name="Text Box 25"/>
            <p:cNvSpPr txBox="1">
              <a:spLocks noChangeArrowheads="1"/>
            </p:cNvSpPr>
            <p:nvPr/>
          </p:nvSpPr>
          <p:spPr bwMode="auto">
            <a:xfrm>
              <a:off x="528" y="2728"/>
              <a:ext cx="18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2000" i="1">
                  <a:latin typeface="宋体" panose="02010600030101010101" pitchFamily="2" charset="-122"/>
                </a:rPr>
                <a:t>A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26" name="Text Box 26"/>
            <p:cNvSpPr txBox="1">
              <a:spLocks noChangeArrowheads="1"/>
            </p:cNvSpPr>
            <p:nvPr/>
          </p:nvSpPr>
          <p:spPr bwMode="auto">
            <a:xfrm>
              <a:off x="1883" y="2773"/>
              <a:ext cx="13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2000" i="1">
                  <a:latin typeface="宋体" panose="02010600030101010101" pitchFamily="2" charset="-122"/>
                </a:rPr>
                <a:t>A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27" name="Rectangle 27"/>
            <p:cNvSpPr>
              <a:spLocks noChangeArrowheads="1"/>
            </p:cNvSpPr>
            <p:nvPr/>
          </p:nvSpPr>
          <p:spPr bwMode="auto">
            <a:xfrm>
              <a:off x="831" y="2544"/>
              <a:ext cx="929" cy="5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" name="Rectangle 28"/>
            <p:cNvSpPr>
              <a:spLocks noChangeArrowheads="1"/>
            </p:cNvSpPr>
            <p:nvPr/>
          </p:nvSpPr>
          <p:spPr bwMode="auto">
            <a:xfrm>
              <a:off x="934" y="2654"/>
              <a:ext cx="723" cy="46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" name="Freeform 29"/>
            <p:cNvSpPr>
              <a:spLocks noChangeArrowheads="1"/>
            </p:cNvSpPr>
            <p:nvPr/>
          </p:nvSpPr>
          <p:spPr bwMode="auto">
            <a:xfrm>
              <a:off x="1034" y="2889"/>
              <a:ext cx="529" cy="1"/>
            </a:xfrm>
            <a:custGeom>
              <a:avLst/>
              <a:gdLst>
                <a:gd name="T0" fmla="*/ 0 w 1230"/>
                <a:gd name="T1" fmla="*/ 0 h 1"/>
                <a:gd name="T2" fmla="*/ 1230 w 1230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30" h="1">
                  <a:moveTo>
                    <a:pt x="0" y="0"/>
                  </a:moveTo>
                  <a:lnTo>
                    <a:pt x="123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" name="Freeform 30"/>
            <p:cNvSpPr>
              <a:spLocks noChangeArrowheads="1"/>
            </p:cNvSpPr>
            <p:nvPr/>
          </p:nvSpPr>
          <p:spPr bwMode="auto">
            <a:xfrm>
              <a:off x="1298" y="2661"/>
              <a:ext cx="1" cy="456"/>
            </a:xfrm>
            <a:custGeom>
              <a:avLst/>
              <a:gdLst>
                <a:gd name="T0" fmla="*/ 0 w 1"/>
                <a:gd name="T1" fmla="*/ 0 h 990"/>
                <a:gd name="T2" fmla="*/ 0 w 1"/>
                <a:gd name="T3" fmla="*/ 990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990">
                  <a:moveTo>
                    <a:pt x="0" y="0"/>
                  </a:moveTo>
                  <a:lnTo>
                    <a:pt x="0" y="99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" name="Oval 31"/>
            <p:cNvSpPr>
              <a:spLocks noChangeArrowheads="1"/>
            </p:cNvSpPr>
            <p:nvPr/>
          </p:nvSpPr>
          <p:spPr bwMode="auto">
            <a:xfrm>
              <a:off x="1110" y="2713"/>
              <a:ext cx="363" cy="354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" name="Oval 32"/>
            <p:cNvSpPr>
              <a:spLocks noChangeArrowheads="1"/>
            </p:cNvSpPr>
            <p:nvPr/>
          </p:nvSpPr>
          <p:spPr bwMode="auto">
            <a:xfrm>
              <a:off x="1173" y="2781"/>
              <a:ext cx="237" cy="21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" name="Freeform 33"/>
            <p:cNvSpPr>
              <a:spLocks noChangeArrowheads="1"/>
            </p:cNvSpPr>
            <p:nvPr/>
          </p:nvSpPr>
          <p:spPr bwMode="auto">
            <a:xfrm>
              <a:off x="720" y="2892"/>
              <a:ext cx="77" cy="0"/>
            </a:xfrm>
            <a:custGeom>
              <a:avLst/>
              <a:gdLst>
                <a:gd name="T0" fmla="*/ 0 w 120"/>
                <a:gd name="T1" fmla="*/ 0 h 1"/>
                <a:gd name="T2" fmla="*/ 120 w 120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0" h="1">
                  <a:moveTo>
                    <a:pt x="0" y="0"/>
                  </a:moveTo>
                  <a:lnTo>
                    <a:pt x="12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" name="Freeform 34"/>
            <p:cNvSpPr>
              <a:spLocks noChangeArrowheads="1"/>
            </p:cNvSpPr>
            <p:nvPr/>
          </p:nvSpPr>
          <p:spPr bwMode="auto">
            <a:xfrm>
              <a:off x="1794" y="2896"/>
              <a:ext cx="77" cy="0"/>
            </a:xfrm>
            <a:custGeom>
              <a:avLst/>
              <a:gdLst>
                <a:gd name="T0" fmla="*/ 0 w 120"/>
                <a:gd name="T1" fmla="*/ 0 h 1"/>
                <a:gd name="T2" fmla="*/ 120 w 120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0" h="1">
                  <a:moveTo>
                    <a:pt x="0" y="0"/>
                  </a:moveTo>
                  <a:lnTo>
                    <a:pt x="12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" name="Freeform 35"/>
            <p:cNvSpPr>
              <a:spLocks noChangeArrowheads="1"/>
            </p:cNvSpPr>
            <p:nvPr/>
          </p:nvSpPr>
          <p:spPr bwMode="auto">
            <a:xfrm>
              <a:off x="1298" y="1955"/>
              <a:ext cx="1" cy="469"/>
            </a:xfrm>
            <a:custGeom>
              <a:avLst/>
              <a:gdLst>
                <a:gd name="T0" fmla="*/ 0 w 1"/>
                <a:gd name="T1" fmla="*/ 1021 h 1021"/>
                <a:gd name="T2" fmla="*/ 0 w 1"/>
                <a:gd name="T3" fmla="*/ 0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21">
                  <a:moveTo>
                    <a:pt x="0" y="1021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6" name="Freeform 36"/>
            <p:cNvSpPr>
              <a:spLocks noChangeArrowheads="1"/>
            </p:cNvSpPr>
            <p:nvPr/>
          </p:nvSpPr>
          <p:spPr bwMode="auto">
            <a:xfrm>
              <a:off x="831" y="2212"/>
              <a:ext cx="105" cy="1"/>
            </a:xfrm>
            <a:custGeom>
              <a:avLst/>
              <a:gdLst>
                <a:gd name="T0" fmla="*/ 0 w 163"/>
                <a:gd name="T1" fmla="*/ 0 h 1"/>
                <a:gd name="T2" fmla="*/ 163 w 163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63" h="1">
                  <a:moveTo>
                    <a:pt x="0" y="0"/>
                  </a:moveTo>
                  <a:lnTo>
                    <a:pt x="16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" name="Rectangle 37"/>
            <p:cNvSpPr>
              <a:spLocks noChangeArrowheads="1"/>
            </p:cNvSpPr>
            <p:nvPr/>
          </p:nvSpPr>
          <p:spPr bwMode="auto">
            <a:xfrm>
              <a:off x="1181" y="1986"/>
              <a:ext cx="237" cy="40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8" name="Freeform 38"/>
            <p:cNvSpPr>
              <a:spLocks noChangeArrowheads="1"/>
            </p:cNvSpPr>
            <p:nvPr/>
          </p:nvSpPr>
          <p:spPr bwMode="auto">
            <a:xfrm>
              <a:off x="831" y="2386"/>
              <a:ext cx="936" cy="3"/>
            </a:xfrm>
            <a:custGeom>
              <a:avLst/>
              <a:gdLst>
                <a:gd name="T0" fmla="*/ 0 w 1450"/>
                <a:gd name="T1" fmla="*/ 5 h 5"/>
                <a:gd name="T2" fmla="*/ 1450 w 1450"/>
                <a:gd name="T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450" h="5">
                  <a:moveTo>
                    <a:pt x="0" y="5"/>
                  </a:moveTo>
                  <a:lnTo>
                    <a:pt x="145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" name="Freeform 39"/>
            <p:cNvSpPr>
              <a:spLocks noChangeArrowheads="1"/>
            </p:cNvSpPr>
            <p:nvPr/>
          </p:nvSpPr>
          <p:spPr bwMode="auto">
            <a:xfrm>
              <a:off x="831" y="2207"/>
              <a:ext cx="1" cy="191"/>
            </a:xfrm>
            <a:custGeom>
              <a:avLst/>
              <a:gdLst>
                <a:gd name="T0" fmla="*/ 0 w 1"/>
                <a:gd name="T1" fmla="*/ 297 h 297"/>
                <a:gd name="T2" fmla="*/ 0 w 1"/>
                <a:gd name="T3" fmla="*/ 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297">
                  <a:moveTo>
                    <a:pt x="0" y="297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0" name="Freeform 40"/>
            <p:cNvSpPr>
              <a:spLocks noChangeArrowheads="1"/>
            </p:cNvSpPr>
            <p:nvPr/>
          </p:nvSpPr>
          <p:spPr bwMode="auto">
            <a:xfrm>
              <a:off x="1760" y="2212"/>
              <a:ext cx="1" cy="181"/>
            </a:xfrm>
            <a:custGeom>
              <a:avLst/>
              <a:gdLst>
                <a:gd name="T0" fmla="*/ 0 w 1"/>
                <a:gd name="T1" fmla="*/ 279 h 279"/>
                <a:gd name="T2" fmla="*/ 1 w 1"/>
                <a:gd name="T3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279">
                  <a:moveTo>
                    <a:pt x="0" y="279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1" name="Freeform 41"/>
            <p:cNvSpPr>
              <a:spLocks noChangeArrowheads="1"/>
            </p:cNvSpPr>
            <p:nvPr/>
          </p:nvSpPr>
          <p:spPr bwMode="auto">
            <a:xfrm>
              <a:off x="1655" y="2212"/>
              <a:ext cx="112" cy="1"/>
            </a:xfrm>
            <a:custGeom>
              <a:avLst/>
              <a:gdLst>
                <a:gd name="T0" fmla="*/ 173 w 173"/>
                <a:gd name="T1" fmla="*/ 0 h 1"/>
                <a:gd name="T2" fmla="*/ 0 w 173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73" h="1">
                  <a:moveTo>
                    <a:pt x="173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2" name="Freeform 42"/>
            <p:cNvSpPr>
              <a:spLocks noChangeArrowheads="1"/>
            </p:cNvSpPr>
            <p:nvPr/>
          </p:nvSpPr>
          <p:spPr bwMode="auto">
            <a:xfrm>
              <a:off x="936" y="2207"/>
              <a:ext cx="1" cy="102"/>
            </a:xfrm>
            <a:custGeom>
              <a:avLst/>
              <a:gdLst>
                <a:gd name="T0" fmla="*/ 0 w 1"/>
                <a:gd name="T1" fmla="*/ 158 h 158"/>
                <a:gd name="T2" fmla="*/ 0 w 1"/>
                <a:gd name="T3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58">
                  <a:moveTo>
                    <a:pt x="0" y="158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3" name="Freeform 43"/>
            <p:cNvSpPr>
              <a:spLocks noChangeArrowheads="1"/>
            </p:cNvSpPr>
            <p:nvPr/>
          </p:nvSpPr>
          <p:spPr bwMode="auto">
            <a:xfrm>
              <a:off x="937" y="2300"/>
              <a:ext cx="183" cy="4"/>
            </a:xfrm>
            <a:custGeom>
              <a:avLst/>
              <a:gdLst>
                <a:gd name="T0" fmla="*/ 0 w 183"/>
                <a:gd name="T1" fmla="*/ 0 h 4"/>
                <a:gd name="T2" fmla="*/ 183 w 183"/>
                <a:gd name="T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3" h="4">
                  <a:moveTo>
                    <a:pt x="0" y="0"/>
                  </a:moveTo>
                  <a:lnTo>
                    <a:pt x="183" y="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4" name="Freeform 44"/>
            <p:cNvSpPr>
              <a:spLocks noChangeArrowheads="1"/>
            </p:cNvSpPr>
            <p:nvPr/>
          </p:nvSpPr>
          <p:spPr bwMode="auto">
            <a:xfrm>
              <a:off x="1122" y="1986"/>
              <a:ext cx="1" cy="319"/>
            </a:xfrm>
            <a:custGeom>
              <a:avLst/>
              <a:gdLst>
                <a:gd name="T0" fmla="*/ 0 w 1"/>
                <a:gd name="T1" fmla="*/ 494 h 494"/>
                <a:gd name="T2" fmla="*/ 0 w 1"/>
                <a:gd name="T3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494">
                  <a:moveTo>
                    <a:pt x="0" y="494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5" name="Freeform 45"/>
            <p:cNvSpPr>
              <a:spLocks noChangeArrowheads="1"/>
            </p:cNvSpPr>
            <p:nvPr/>
          </p:nvSpPr>
          <p:spPr bwMode="auto">
            <a:xfrm>
              <a:off x="1120" y="1976"/>
              <a:ext cx="380" cy="10"/>
            </a:xfrm>
            <a:custGeom>
              <a:avLst/>
              <a:gdLst>
                <a:gd name="T0" fmla="*/ 0 w 380"/>
                <a:gd name="T1" fmla="*/ 0 h 10"/>
                <a:gd name="T2" fmla="*/ 380 w 380"/>
                <a:gd name="T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80" h="10">
                  <a:moveTo>
                    <a:pt x="0" y="0"/>
                  </a:moveTo>
                  <a:lnTo>
                    <a:pt x="380" y="1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6" name="Freeform 46"/>
            <p:cNvSpPr>
              <a:spLocks noChangeArrowheads="1"/>
            </p:cNvSpPr>
            <p:nvPr/>
          </p:nvSpPr>
          <p:spPr bwMode="auto">
            <a:xfrm>
              <a:off x="1488" y="2292"/>
              <a:ext cx="173" cy="12"/>
            </a:xfrm>
            <a:custGeom>
              <a:avLst/>
              <a:gdLst>
                <a:gd name="T0" fmla="*/ 173 w 173"/>
                <a:gd name="T1" fmla="*/ 0 h 12"/>
                <a:gd name="T2" fmla="*/ 0 w 173"/>
                <a:gd name="T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73" h="12">
                  <a:moveTo>
                    <a:pt x="173" y="0"/>
                  </a:moveTo>
                  <a:lnTo>
                    <a:pt x="0" y="1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7" name="Freeform 47"/>
            <p:cNvSpPr>
              <a:spLocks noChangeArrowheads="1"/>
            </p:cNvSpPr>
            <p:nvPr/>
          </p:nvSpPr>
          <p:spPr bwMode="auto">
            <a:xfrm>
              <a:off x="1486" y="1980"/>
              <a:ext cx="1" cy="325"/>
            </a:xfrm>
            <a:custGeom>
              <a:avLst/>
              <a:gdLst>
                <a:gd name="T0" fmla="*/ 0 w 1"/>
                <a:gd name="T1" fmla="*/ 504 h 504"/>
                <a:gd name="T2" fmla="*/ 0 w 1"/>
                <a:gd name="T3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504">
                  <a:moveTo>
                    <a:pt x="0" y="504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8" name="Freeform 48"/>
            <p:cNvSpPr>
              <a:spLocks noChangeArrowheads="1"/>
            </p:cNvSpPr>
            <p:nvPr/>
          </p:nvSpPr>
          <p:spPr bwMode="auto">
            <a:xfrm>
              <a:off x="1655" y="2212"/>
              <a:ext cx="74" cy="75"/>
            </a:xfrm>
            <a:custGeom>
              <a:avLst/>
              <a:gdLst>
                <a:gd name="T0" fmla="*/ 0 w 115"/>
                <a:gd name="T1" fmla="*/ 116 h 116"/>
                <a:gd name="T2" fmla="*/ 115 w 115"/>
                <a:gd name="T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15" h="116">
                  <a:moveTo>
                    <a:pt x="0" y="116"/>
                  </a:moveTo>
                  <a:lnTo>
                    <a:pt x="11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9" name="Freeform 49"/>
            <p:cNvSpPr>
              <a:spLocks noChangeArrowheads="1"/>
            </p:cNvSpPr>
            <p:nvPr/>
          </p:nvSpPr>
          <p:spPr bwMode="auto">
            <a:xfrm>
              <a:off x="1120" y="2213"/>
              <a:ext cx="56" cy="59"/>
            </a:xfrm>
            <a:custGeom>
              <a:avLst/>
              <a:gdLst>
                <a:gd name="T0" fmla="*/ 0 w 56"/>
                <a:gd name="T1" fmla="*/ 59 h 59"/>
                <a:gd name="T2" fmla="*/ 56 w 56"/>
                <a:gd name="T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6" h="59">
                  <a:moveTo>
                    <a:pt x="0" y="59"/>
                  </a:moveTo>
                  <a:lnTo>
                    <a:pt x="5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0" name="Freeform 50"/>
            <p:cNvSpPr>
              <a:spLocks noChangeArrowheads="1"/>
            </p:cNvSpPr>
            <p:nvPr/>
          </p:nvSpPr>
          <p:spPr bwMode="auto">
            <a:xfrm>
              <a:off x="992" y="2304"/>
              <a:ext cx="88" cy="88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1" name="Freeform 51"/>
            <p:cNvSpPr>
              <a:spLocks noChangeArrowheads="1"/>
            </p:cNvSpPr>
            <p:nvPr/>
          </p:nvSpPr>
          <p:spPr bwMode="auto">
            <a:xfrm>
              <a:off x="1092" y="2304"/>
              <a:ext cx="92" cy="89"/>
            </a:xfrm>
            <a:custGeom>
              <a:avLst/>
              <a:gdLst>
                <a:gd name="T0" fmla="*/ 92 w 92"/>
                <a:gd name="T1" fmla="*/ 0 h 89"/>
                <a:gd name="T2" fmla="*/ 0 w 92"/>
                <a:gd name="T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2" h="89">
                  <a:moveTo>
                    <a:pt x="92" y="0"/>
                  </a:moveTo>
                  <a:lnTo>
                    <a:pt x="0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2" name="Freeform 52"/>
            <p:cNvSpPr>
              <a:spLocks noChangeArrowheads="1"/>
            </p:cNvSpPr>
            <p:nvPr/>
          </p:nvSpPr>
          <p:spPr bwMode="auto">
            <a:xfrm>
              <a:off x="888" y="2300"/>
              <a:ext cx="93" cy="100"/>
            </a:xfrm>
            <a:custGeom>
              <a:avLst/>
              <a:gdLst>
                <a:gd name="T0" fmla="*/ 93 w 93"/>
                <a:gd name="T1" fmla="*/ 0 h 100"/>
                <a:gd name="T2" fmla="*/ 0 w 93"/>
                <a:gd name="T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3" h="100">
                  <a:moveTo>
                    <a:pt x="93" y="0"/>
                  </a:moveTo>
                  <a:lnTo>
                    <a:pt x="0" y="10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3" name="Line 53"/>
            <p:cNvSpPr>
              <a:spLocks noChangeShapeType="1"/>
            </p:cNvSpPr>
            <p:nvPr/>
          </p:nvSpPr>
          <p:spPr bwMode="auto">
            <a:xfrm flipV="1">
              <a:off x="823" y="2209"/>
              <a:ext cx="39" cy="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" name="Freeform 54"/>
            <p:cNvSpPr>
              <a:spLocks noChangeArrowheads="1"/>
            </p:cNvSpPr>
            <p:nvPr/>
          </p:nvSpPr>
          <p:spPr bwMode="auto">
            <a:xfrm>
              <a:off x="831" y="2247"/>
              <a:ext cx="103" cy="107"/>
            </a:xfrm>
            <a:custGeom>
              <a:avLst/>
              <a:gdLst>
                <a:gd name="T0" fmla="*/ 0 w 160"/>
                <a:gd name="T1" fmla="*/ 166 h 166"/>
                <a:gd name="T2" fmla="*/ 160 w 160"/>
                <a:gd name="T3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60" h="166">
                  <a:moveTo>
                    <a:pt x="0" y="166"/>
                  </a:moveTo>
                  <a:lnTo>
                    <a:pt x="16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5" name="Freeform 55"/>
            <p:cNvSpPr>
              <a:spLocks noChangeArrowheads="1"/>
            </p:cNvSpPr>
            <p:nvPr/>
          </p:nvSpPr>
          <p:spPr bwMode="auto">
            <a:xfrm>
              <a:off x="1440" y="2304"/>
              <a:ext cx="88" cy="88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6" name="Freeform 56"/>
            <p:cNvSpPr>
              <a:spLocks noChangeArrowheads="1"/>
            </p:cNvSpPr>
            <p:nvPr/>
          </p:nvSpPr>
          <p:spPr bwMode="auto">
            <a:xfrm>
              <a:off x="1418" y="2216"/>
              <a:ext cx="78" cy="79"/>
            </a:xfrm>
            <a:custGeom>
              <a:avLst/>
              <a:gdLst>
                <a:gd name="T0" fmla="*/ 0 w 78"/>
                <a:gd name="T1" fmla="*/ 79 h 79"/>
                <a:gd name="T2" fmla="*/ 78 w 78"/>
                <a:gd name="T3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8" h="79">
                  <a:moveTo>
                    <a:pt x="0" y="79"/>
                  </a:moveTo>
                  <a:lnTo>
                    <a:pt x="78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7" name="Freeform 57"/>
            <p:cNvSpPr>
              <a:spLocks noChangeArrowheads="1"/>
            </p:cNvSpPr>
            <p:nvPr/>
          </p:nvSpPr>
          <p:spPr bwMode="auto">
            <a:xfrm>
              <a:off x="1410" y="2103"/>
              <a:ext cx="86" cy="93"/>
            </a:xfrm>
            <a:custGeom>
              <a:avLst/>
              <a:gdLst>
                <a:gd name="T0" fmla="*/ 0 w 86"/>
                <a:gd name="T1" fmla="*/ 93 h 93"/>
                <a:gd name="T2" fmla="*/ 86 w 86"/>
                <a:gd name="T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86" h="93">
                  <a:moveTo>
                    <a:pt x="0" y="93"/>
                  </a:moveTo>
                  <a:lnTo>
                    <a:pt x="8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8" name="Freeform 58"/>
            <p:cNvSpPr>
              <a:spLocks noChangeArrowheads="1"/>
            </p:cNvSpPr>
            <p:nvPr/>
          </p:nvSpPr>
          <p:spPr bwMode="auto">
            <a:xfrm>
              <a:off x="1416" y="2008"/>
              <a:ext cx="72" cy="72"/>
            </a:xfrm>
            <a:custGeom>
              <a:avLst/>
              <a:gdLst>
                <a:gd name="T0" fmla="*/ 0 w 72"/>
                <a:gd name="T1" fmla="*/ 72 h 72"/>
                <a:gd name="T2" fmla="*/ 72 w 72"/>
                <a:gd name="T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2" h="72">
                  <a:moveTo>
                    <a:pt x="0" y="72"/>
                  </a:moveTo>
                  <a:lnTo>
                    <a:pt x="7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9" name="Freeform 59"/>
            <p:cNvSpPr>
              <a:spLocks noChangeArrowheads="1"/>
            </p:cNvSpPr>
            <p:nvPr/>
          </p:nvSpPr>
          <p:spPr bwMode="auto">
            <a:xfrm>
              <a:off x="1536" y="2300"/>
              <a:ext cx="100" cy="100"/>
            </a:xfrm>
            <a:custGeom>
              <a:avLst/>
              <a:gdLst>
                <a:gd name="T0" fmla="*/ 0 w 100"/>
                <a:gd name="T1" fmla="*/ 100 h 100"/>
                <a:gd name="T2" fmla="*/ 100 w 100"/>
                <a:gd name="T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00" h="100">
                  <a:moveTo>
                    <a:pt x="0" y="100"/>
                  </a:moveTo>
                  <a:lnTo>
                    <a:pt x="10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0" name="Freeform 60"/>
            <p:cNvSpPr>
              <a:spLocks noChangeArrowheads="1"/>
            </p:cNvSpPr>
            <p:nvPr/>
          </p:nvSpPr>
          <p:spPr bwMode="auto">
            <a:xfrm>
              <a:off x="1654" y="2287"/>
              <a:ext cx="106" cy="106"/>
            </a:xfrm>
            <a:custGeom>
              <a:avLst/>
              <a:gdLst>
                <a:gd name="T0" fmla="*/ 0 w 165"/>
                <a:gd name="T1" fmla="*/ 165 h 165"/>
                <a:gd name="T2" fmla="*/ 165 w 165"/>
                <a:gd name="T3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65" h="165">
                  <a:moveTo>
                    <a:pt x="0" y="165"/>
                  </a:moveTo>
                  <a:lnTo>
                    <a:pt x="16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1" name="Freeform 61"/>
            <p:cNvSpPr>
              <a:spLocks noChangeArrowheads="1"/>
            </p:cNvSpPr>
            <p:nvPr/>
          </p:nvSpPr>
          <p:spPr bwMode="auto">
            <a:xfrm>
              <a:off x="1128" y="2109"/>
              <a:ext cx="56" cy="59"/>
            </a:xfrm>
            <a:custGeom>
              <a:avLst/>
              <a:gdLst>
                <a:gd name="T0" fmla="*/ 0 w 56"/>
                <a:gd name="T1" fmla="*/ 59 h 59"/>
                <a:gd name="T2" fmla="*/ 56 w 56"/>
                <a:gd name="T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6" h="59">
                  <a:moveTo>
                    <a:pt x="0" y="59"/>
                  </a:moveTo>
                  <a:lnTo>
                    <a:pt x="5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2" name="Freeform 62"/>
            <p:cNvSpPr>
              <a:spLocks noChangeArrowheads="1"/>
            </p:cNvSpPr>
            <p:nvPr/>
          </p:nvSpPr>
          <p:spPr bwMode="auto">
            <a:xfrm>
              <a:off x="1136" y="2005"/>
              <a:ext cx="56" cy="59"/>
            </a:xfrm>
            <a:custGeom>
              <a:avLst/>
              <a:gdLst>
                <a:gd name="T0" fmla="*/ 0 w 56"/>
                <a:gd name="T1" fmla="*/ 59 h 59"/>
                <a:gd name="T2" fmla="*/ 56 w 56"/>
                <a:gd name="T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6" h="59">
                  <a:moveTo>
                    <a:pt x="0" y="59"/>
                  </a:moveTo>
                  <a:lnTo>
                    <a:pt x="5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63" name="Group 63"/>
          <p:cNvGrpSpPr>
            <a:grpSpLocks/>
          </p:cNvGrpSpPr>
          <p:nvPr/>
        </p:nvGrpSpPr>
        <p:grpSpPr bwMode="auto">
          <a:xfrm>
            <a:off x="5280025" y="1009650"/>
            <a:ext cx="2387600" cy="3638550"/>
            <a:chOff x="2366" y="1740"/>
            <a:chExt cx="1504" cy="2292"/>
          </a:xfrm>
        </p:grpSpPr>
        <p:grpSp>
          <p:nvGrpSpPr>
            <p:cNvPr id="64" name="Group 64"/>
            <p:cNvGrpSpPr>
              <a:grpSpLocks/>
            </p:cNvGrpSpPr>
            <p:nvPr/>
          </p:nvGrpSpPr>
          <p:grpSpPr bwMode="auto">
            <a:xfrm>
              <a:off x="2544" y="3140"/>
              <a:ext cx="1176" cy="892"/>
              <a:chOff x="2544" y="3140"/>
              <a:chExt cx="1176" cy="892"/>
            </a:xfrm>
          </p:grpSpPr>
          <p:sp>
            <p:nvSpPr>
              <p:cNvPr id="105" name="Freeform 65"/>
              <p:cNvSpPr>
                <a:spLocks noChangeArrowheads="1"/>
              </p:cNvSpPr>
              <p:nvPr/>
            </p:nvSpPr>
            <p:spPr bwMode="auto">
              <a:xfrm>
                <a:off x="2696" y="3168"/>
                <a:ext cx="636" cy="532"/>
              </a:xfrm>
              <a:custGeom>
                <a:avLst/>
                <a:gdLst>
                  <a:gd name="T0" fmla="*/ 0 w 636"/>
                  <a:gd name="T1" fmla="*/ 464 h 532"/>
                  <a:gd name="T2" fmla="*/ 316 w 636"/>
                  <a:gd name="T3" fmla="*/ 232 h 532"/>
                  <a:gd name="T4" fmla="*/ 636 w 636"/>
                  <a:gd name="T5" fmla="*/ 0 h 532"/>
                  <a:gd name="T6" fmla="*/ 636 w 636"/>
                  <a:gd name="T7" fmla="*/ 120 h 532"/>
                  <a:gd name="T8" fmla="*/ 112 w 636"/>
                  <a:gd name="T9" fmla="*/ 532 h 532"/>
                  <a:gd name="T10" fmla="*/ 0 w 636"/>
                  <a:gd name="T11" fmla="*/ 464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6" h="532">
                    <a:moveTo>
                      <a:pt x="0" y="464"/>
                    </a:moveTo>
                    <a:lnTo>
                      <a:pt x="316" y="232"/>
                    </a:lnTo>
                    <a:lnTo>
                      <a:pt x="636" y="0"/>
                    </a:lnTo>
                    <a:lnTo>
                      <a:pt x="636" y="120"/>
                    </a:lnTo>
                    <a:lnTo>
                      <a:pt x="112" y="532"/>
                    </a:lnTo>
                    <a:lnTo>
                      <a:pt x="0" y="464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765E2F"/>
                  </a:gs>
                  <a:gs pos="100000">
                    <a:srgbClr val="FFCC66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6" name="Freeform 66"/>
              <p:cNvSpPr>
                <a:spLocks noChangeArrowheads="1"/>
              </p:cNvSpPr>
              <p:nvPr/>
            </p:nvSpPr>
            <p:spPr bwMode="auto">
              <a:xfrm>
                <a:off x="2544" y="3140"/>
                <a:ext cx="792" cy="696"/>
              </a:xfrm>
              <a:custGeom>
                <a:avLst/>
                <a:gdLst>
                  <a:gd name="T0" fmla="*/ 476 w 792"/>
                  <a:gd name="T1" fmla="*/ 696 h 696"/>
                  <a:gd name="T2" fmla="*/ 0 w 792"/>
                  <a:gd name="T3" fmla="*/ 528 h 696"/>
                  <a:gd name="T4" fmla="*/ 708 w 792"/>
                  <a:gd name="T5" fmla="*/ 0 h 696"/>
                  <a:gd name="T6" fmla="*/ 792 w 792"/>
                  <a:gd name="T7" fmla="*/ 32 h 696"/>
                  <a:gd name="T8" fmla="*/ 176 w 792"/>
                  <a:gd name="T9" fmla="*/ 500 h 696"/>
                  <a:gd name="T10" fmla="*/ 560 w 792"/>
                  <a:gd name="T11" fmla="*/ 640 h 696"/>
                  <a:gd name="T12" fmla="*/ 476 w 792"/>
                  <a:gd name="T13" fmla="*/ 696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2" h="696">
                    <a:moveTo>
                      <a:pt x="476" y="696"/>
                    </a:moveTo>
                    <a:lnTo>
                      <a:pt x="0" y="528"/>
                    </a:lnTo>
                    <a:lnTo>
                      <a:pt x="708" y="0"/>
                    </a:lnTo>
                    <a:lnTo>
                      <a:pt x="792" y="32"/>
                    </a:lnTo>
                    <a:lnTo>
                      <a:pt x="176" y="500"/>
                    </a:lnTo>
                    <a:lnTo>
                      <a:pt x="560" y="640"/>
                    </a:lnTo>
                    <a:lnTo>
                      <a:pt x="476" y="696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005300"/>
                  </a:gs>
                  <a:gs pos="100000">
                    <a:srgbClr val="00B400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7" name="Freeform 67"/>
              <p:cNvSpPr>
                <a:spLocks noChangeArrowheads="1"/>
              </p:cNvSpPr>
              <p:nvPr/>
            </p:nvSpPr>
            <p:spPr bwMode="auto">
              <a:xfrm>
                <a:off x="2804" y="3264"/>
                <a:ext cx="912" cy="632"/>
              </a:xfrm>
              <a:custGeom>
                <a:avLst/>
                <a:gdLst>
                  <a:gd name="T0" fmla="*/ 0 w 912"/>
                  <a:gd name="T1" fmla="*/ 408 h 632"/>
                  <a:gd name="T2" fmla="*/ 528 w 912"/>
                  <a:gd name="T3" fmla="*/ 0 h 632"/>
                  <a:gd name="T4" fmla="*/ 912 w 912"/>
                  <a:gd name="T5" fmla="*/ 148 h 632"/>
                  <a:gd name="T6" fmla="*/ 904 w 912"/>
                  <a:gd name="T7" fmla="*/ 144 h 632"/>
                  <a:gd name="T8" fmla="*/ 284 w 912"/>
                  <a:gd name="T9" fmla="*/ 632 h 632"/>
                  <a:gd name="T10" fmla="*/ 292 w 912"/>
                  <a:gd name="T11" fmla="*/ 512 h 632"/>
                  <a:gd name="T12" fmla="*/ 0 w 912"/>
                  <a:gd name="T13" fmla="*/ 408 h 6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12" h="632">
                    <a:moveTo>
                      <a:pt x="0" y="408"/>
                    </a:moveTo>
                    <a:lnTo>
                      <a:pt x="528" y="0"/>
                    </a:lnTo>
                    <a:lnTo>
                      <a:pt x="912" y="148"/>
                    </a:lnTo>
                    <a:lnTo>
                      <a:pt x="904" y="144"/>
                    </a:lnTo>
                    <a:lnTo>
                      <a:pt x="284" y="632"/>
                    </a:lnTo>
                    <a:lnTo>
                      <a:pt x="292" y="512"/>
                    </a:lnTo>
                    <a:lnTo>
                      <a:pt x="0" y="408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FFFF00"/>
                  </a:gs>
                  <a:gs pos="100000">
                    <a:srgbClr val="AEAE00"/>
                  </a:gs>
                </a:gsLst>
                <a:path path="rect">
                  <a:fillToRect l="100000" t="10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8" name="AutoShape 68"/>
              <p:cNvSpPr>
                <a:spLocks noChangeArrowheads="1"/>
              </p:cNvSpPr>
              <p:nvPr/>
            </p:nvSpPr>
            <p:spPr bwMode="auto">
              <a:xfrm>
                <a:off x="2997" y="3216"/>
                <a:ext cx="294" cy="443"/>
              </a:xfrm>
              <a:prstGeom prst="can">
                <a:avLst>
                  <a:gd name="adj" fmla="val 58989"/>
                </a:avLst>
              </a:prstGeom>
              <a:gradFill rotWithShape="0">
                <a:gsLst>
                  <a:gs pos="0">
                    <a:srgbClr val="762F00"/>
                  </a:gs>
                  <a:gs pos="50000">
                    <a:srgbClr val="FF6600"/>
                  </a:gs>
                  <a:gs pos="100000">
                    <a:srgbClr val="762F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9" name="Oval 69"/>
              <p:cNvSpPr>
                <a:spLocks noChangeArrowheads="1"/>
              </p:cNvSpPr>
              <p:nvPr/>
            </p:nvSpPr>
            <p:spPr bwMode="auto">
              <a:xfrm>
                <a:off x="3043" y="3264"/>
                <a:ext cx="195" cy="70"/>
              </a:xfrm>
              <a:prstGeom prst="ellipse">
                <a:avLst/>
              </a:prstGeom>
              <a:gradFill rotWithShape="0">
                <a:gsLst>
                  <a:gs pos="0">
                    <a:srgbClr val="765E2F"/>
                  </a:gs>
                  <a:gs pos="50000">
                    <a:srgbClr val="FFCC66"/>
                  </a:gs>
                  <a:gs pos="100000">
                    <a:srgbClr val="765E2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0" name="Freeform 70"/>
              <p:cNvSpPr>
                <a:spLocks noChangeArrowheads="1"/>
              </p:cNvSpPr>
              <p:nvPr/>
            </p:nvSpPr>
            <p:spPr bwMode="auto">
              <a:xfrm>
                <a:off x="3004" y="3404"/>
                <a:ext cx="716" cy="628"/>
              </a:xfrm>
              <a:custGeom>
                <a:avLst/>
                <a:gdLst>
                  <a:gd name="T0" fmla="*/ 92 w 716"/>
                  <a:gd name="T1" fmla="*/ 376 h 628"/>
                  <a:gd name="T2" fmla="*/ 92 w 716"/>
                  <a:gd name="T3" fmla="*/ 460 h 628"/>
                  <a:gd name="T4" fmla="*/ 712 w 716"/>
                  <a:gd name="T5" fmla="*/ 0 h 628"/>
                  <a:gd name="T6" fmla="*/ 716 w 716"/>
                  <a:gd name="T7" fmla="*/ 92 h 628"/>
                  <a:gd name="T8" fmla="*/ 0 w 716"/>
                  <a:gd name="T9" fmla="*/ 628 h 628"/>
                  <a:gd name="T10" fmla="*/ 0 w 716"/>
                  <a:gd name="T11" fmla="*/ 432 h 628"/>
                  <a:gd name="T12" fmla="*/ 92 w 716"/>
                  <a:gd name="T13" fmla="*/ 376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6" h="628">
                    <a:moveTo>
                      <a:pt x="92" y="376"/>
                    </a:moveTo>
                    <a:lnTo>
                      <a:pt x="92" y="460"/>
                    </a:lnTo>
                    <a:lnTo>
                      <a:pt x="712" y="0"/>
                    </a:lnTo>
                    <a:lnTo>
                      <a:pt x="716" y="92"/>
                    </a:lnTo>
                    <a:lnTo>
                      <a:pt x="0" y="628"/>
                    </a:lnTo>
                    <a:lnTo>
                      <a:pt x="0" y="432"/>
                    </a:lnTo>
                    <a:lnTo>
                      <a:pt x="92" y="376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008C00"/>
                  </a:gs>
                  <a:gs pos="100000">
                    <a:srgbClr val="00B4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1" name="Freeform 71"/>
              <p:cNvSpPr>
                <a:spLocks noChangeArrowheads="1"/>
              </p:cNvSpPr>
              <p:nvPr/>
            </p:nvSpPr>
            <p:spPr bwMode="auto">
              <a:xfrm>
                <a:off x="2548" y="3668"/>
                <a:ext cx="460" cy="364"/>
              </a:xfrm>
              <a:custGeom>
                <a:avLst/>
                <a:gdLst>
                  <a:gd name="T0" fmla="*/ 0 w 460"/>
                  <a:gd name="T1" fmla="*/ 0 h 364"/>
                  <a:gd name="T2" fmla="*/ 460 w 460"/>
                  <a:gd name="T3" fmla="*/ 160 h 364"/>
                  <a:gd name="T4" fmla="*/ 460 w 460"/>
                  <a:gd name="T5" fmla="*/ 364 h 364"/>
                  <a:gd name="T6" fmla="*/ 0 w 460"/>
                  <a:gd name="T7" fmla="*/ 200 h 364"/>
                  <a:gd name="T8" fmla="*/ 0 w 460"/>
                  <a:gd name="T9" fmla="*/ 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0" h="364">
                    <a:moveTo>
                      <a:pt x="0" y="0"/>
                    </a:moveTo>
                    <a:lnTo>
                      <a:pt x="460" y="160"/>
                    </a:lnTo>
                    <a:lnTo>
                      <a:pt x="460" y="364"/>
                    </a:lnTo>
                    <a:lnTo>
                      <a:pt x="0" y="20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006E00"/>
                  </a:gs>
                  <a:gs pos="100000">
                    <a:srgbClr val="00B4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65" name="Group 72"/>
            <p:cNvGrpSpPr>
              <a:grpSpLocks/>
            </p:cNvGrpSpPr>
            <p:nvPr/>
          </p:nvGrpSpPr>
          <p:grpSpPr bwMode="auto">
            <a:xfrm>
              <a:off x="2366" y="1740"/>
              <a:ext cx="1504" cy="1355"/>
              <a:chOff x="2366" y="1740"/>
              <a:chExt cx="1504" cy="1355"/>
            </a:xfrm>
          </p:grpSpPr>
          <p:sp>
            <p:nvSpPr>
              <p:cNvPr id="66" name="Text Box 73"/>
              <p:cNvSpPr txBox="1">
                <a:spLocks noChangeArrowheads="1"/>
              </p:cNvSpPr>
              <p:nvPr/>
            </p:nvSpPr>
            <p:spPr bwMode="auto">
              <a:xfrm>
                <a:off x="2900" y="1740"/>
                <a:ext cx="43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lang="en-US" altLang="zh-CN" sz="2000" i="1">
                    <a:latin typeface="宋体" panose="02010600030101010101" pitchFamily="2" charset="-122"/>
                  </a:rPr>
                  <a:t>B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－</a:t>
                </a:r>
                <a:r>
                  <a:rPr lang="en-US" altLang="zh-CN" sz="2000" i="1">
                    <a:latin typeface="宋体" panose="02010600030101010101" pitchFamily="2" charset="-122"/>
                  </a:rPr>
                  <a:t>B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Line 74"/>
              <p:cNvSpPr>
                <a:spLocks noChangeShapeType="1"/>
              </p:cNvSpPr>
              <p:nvPr/>
            </p:nvSpPr>
            <p:spPr bwMode="auto">
              <a:xfrm>
                <a:off x="2756" y="2622"/>
                <a:ext cx="0" cy="47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" name="Rectangle 75"/>
              <p:cNvSpPr>
                <a:spLocks noChangeArrowheads="1"/>
              </p:cNvSpPr>
              <p:nvPr/>
            </p:nvSpPr>
            <p:spPr bwMode="auto">
              <a:xfrm>
                <a:off x="2654" y="2513"/>
                <a:ext cx="930" cy="5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9" name="Freeform 76"/>
              <p:cNvSpPr>
                <a:spLocks noChangeArrowheads="1"/>
              </p:cNvSpPr>
              <p:nvPr/>
            </p:nvSpPr>
            <p:spPr bwMode="auto">
              <a:xfrm>
                <a:off x="2857" y="2858"/>
                <a:ext cx="529" cy="1"/>
              </a:xfrm>
              <a:custGeom>
                <a:avLst/>
                <a:gdLst>
                  <a:gd name="T0" fmla="*/ 0 w 1230"/>
                  <a:gd name="T1" fmla="*/ 0 h 1"/>
                  <a:gd name="T2" fmla="*/ 1230 w 1230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230" h="1">
                    <a:moveTo>
                      <a:pt x="0" y="0"/>
                    </a:moveTo>
                    <a:lnTo>
                      <a:pt x="123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0" name="Freeform 77"/>
              <p:cNvSpPr>
                <a:spLocks noChangeArrowheads="1"/>
              </p:cNvSpPr>
              <p:nvPr/>
            </p:nvSpPr>
            <p:spPr bwMode="auto">
              <a:xfrm>
                <a:off x="3121" y="2631"/>
                <a:ext cx="1" cy="455"/>
              </a:xfrm>
              <a:custGeom>
                <a:avLst/>
                <a:gdLst>
                  <a:gd name="T0" fmla="*/ 0 w 1"/>
                  <a:gd name="T1" fmla="*/ 0 h 990"/>
                  <a:gd name="T2" fmla="*/ 0 w 1"/>
                  <a:gd name="T3" fmla="*/ 99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990">
                    <a:moveTo>
                      <a:pt x="0" y="0"/>
                    </a:moveTo>
                    <a:lnTo>
                      <a:pt x="0" y="99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1" name="Oval 78"/>
              <p:cNvSpPr>
                <a:spLocks noChangeArrowheads="1"/>
              </p:cNvSpPr>
              <p:nvPr/>
            </p:nvSpPr>
            <p:spPr bwMode="auto">
              <a:xfrm>
                <a:off x="2934" y="2682"/>
                <a:ext cx="379" cy="354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2" name="Oval 79"/>
              <p:cNvSpPr>
                <a:spLocks noChangeArrowheads="1"/>
              </p:cNvSpPr>
              <p:nvPr/>
            </p:nvSpPr>
            <p:spPr bwMode="auto">
              <a:xfrm>
                <a:off x="3004" y="2749"/>
                <a:ext cx="234" cy="215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3" name="Freeform 80"/>
              <p:cNvSpPr>
                <a:spLocks noChangeArrowheads="1"/>
              </p:cNvSpPr>
              <p:nvPr/>
            </p:nvSpPr>
            <p:spPr bwMode="auto">
              <a:xfrm>
                <a:off x="2751" y="2622"/>
                <a:ext cx="833" cy="1"/>
              </a:xfrm>
              <a:custGeom>
                <a:avLst/>
                <a:gdLst>
                  <a:gd name="T0" fmla="*/ 0 w 833"/>
                  <a:gd name="T1" fmla="*/ 0 h 1"/>
                  <a:gd name="T2" fmla="*/ 833 w 833"/>
                  <a:gd name="T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33" h="1">
                    <a:moveTo>
                      <a:pt x="0" y="0"/>
                    </a:moveTo>
                    <a:lnTo>
                      <a:pt x="833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4" name="Text Box 81"/>
              <p:cNvSpPr txBox="1">
                <a:spLocks noChangeArrowheads="1"/>
              </p:cNvSpPr>
              <p:nvPr/>
            </p:nvSpPr>
            <p:spPr bwMode="auto">
              <a:xfrm>
                <a:off x="2366" y="2749"/>
                <a:ext cx="19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lang="en-US" altLang="zh-CN" sz="2000" i="1">
                    <a:latin typeface="宋体" panose="02010600030101010101" pitchFamily="2" charset="-122"/>
                  </a:rPr>
                  <a:t>B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Text Box 82"/>
              <p:cNvSpPr txBox="1">
                <a:spLocks noChangeArrowheads="1"/>
              </p:cNvSpPr>
              <p:nvPr/>
            </p:nvSpPr>
            <p:spPr bwMode="auto">
              <a:xfrm>
                <a:off x="3716" y="2739"/>
                <a:ext cx="15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lang="en-US" altLang="zh-CN" sz="2000" i="1">
                    <a:latin typeface="宋体" panose="02010600030101010101" pitchFamily="2" charset="-122"/>
                  </a:rPr>
                  <a:t>B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Freeform 83"/>
              <p:cNvSpPr>
                <a:spLocks noChangeArrowheads="1"/>
              </p:cNvSpPr>
              <p:nvPr/>
            </p:nvSpPr>
            <p:spPr bwMode="auto">
              <a:xfrm>
                <a:off x="3615" y="2860"/>
                <a:ext cx="77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7" name="Freeform 84"/>
              <p:cNvSpPr>
                <a:spLocks noChangeArrowheads="1"/>
              </p:cNvSpPr>
              <p:nvPr/>
            </p:nvSpPr>
            <p:spPr bwMode="auto">
              <a:xfrm>
                <a:off x="2557" y="2861"/>
                <a:ext cx="77" cy="0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8" name="Freeform 85"/>
              <p:cNvSpPr>
                <a:spLocks noChangeArrowheads="1"/>
              </p:cNvSpPr>
              <p:nvPr/>
            </p:nvSpPr>
            <p:spPr bwMode="auto">
              <a:xfrm>
                <a:off x="2655" y="2184"/>
                <a:ext cx="104" cy="1"/>
              </a:xfrm>
              <a:custGeom>
                <a:avLst/>
                <a:gdLst>
                  <a:gd name="T0" fmla="*/ 0 w 104"/>
                  <a:gd name="T1" fmla="*/ 0 h 1"/>
                  <a:gd name="T2" fmla="*/ 104 w 104"/>
                  <a:gd name="T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04" h="1">
                    <a:moveTo>
                      <a:pt x="0" y="0"/>
                    </a:moveTo>
                    <a:lnTo>
                      <a:pt x="104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9" name="Freeform 86"/>
              <p:cNvSpPr>
                <a:spLocks noChangeArrowheads="1"/>
              </p:cNvSpPr>
              <p:nvPr/>
            </p:nvSpPr>
            <p:spPr bwMode="auto">
              <a:xfrm>
                <a:off x="3121" y="1924"/>
                <a:ext cx="1" cy="470"/>
              </a:xfrm>
              <a:custGeom>
                <a:avLst/>
                <a:gdLst>
                  <a:gd name="T0" fmla="*/ 0 w 1"/>
                  <a:gd name="T1" fmla="*/ 1021 h 1021"/>
                  <a:gd name="T2" fmla="*/ 0 w 1"/>
                  <a:gd name="T3" fmla="*/ 0 h 10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021">
                    <a:moveTo>
                      <a:pt x="0" y="1021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0" name="Rectangle 87"/>
              <p:cNvSpPr>
                <a:spLocks noChangeArrowheads="1"/>
              </p:cNvSpPr>
              <p:nvPr/>
            </p:nvSpPr>
            <p:spPr bwMode="auto">
              <a:xfrm>
                <a:off x="3004" y="1962"/>
                <a:ext cx="234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1" name="Freeform 88"/>
              <p:cNvSpPr>
                <a:spLocks noChangeArrowheads="1"/>
              </p:cNvSpPr>
              <p:nvPr/>
            </p:nvSpPr>
            <p:spPr bwMode="auto">
              <a:xfrm>
                <a:off x="2650" y="2357"/>
                <a:ext cx="943" cy="1"/>
              </a:xfrm>
              <a:custGeom>
                <a:avLst/>
                <a:gdLst>
                  <a:gd name="T0" fmla="*/ 0 w 1461"/>
                  <a:gd name="T1" fmla="*/ 0 h 1"/>
                  <a:gd name="T2" fmla="*/ 1461 w 146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461" h="1">
                    <a:moveTo>
                      <a:pt x="0" y="0"/>
                    </a:moveTo>
                    <a:lnTo>
                      <a:pt x="146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2" name="Line 89"/>
              <p:cNvSpPr>
                <a:spLocks noChangeShapeType="1"/>
              </p:cNvSpPr>
              <p:nvPr/>
            </p:nvSpPr>
            <p:spPr bwMode="auto">
              <a:xfrm flipV="1">
                <a:off x="2654" y="2181"/>
                <a:ext cx="0" cy="17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" name="Freeform 90"/>
              <p:cNvSpPr>
                <a:spLocks noChangeArrowheads="1"/>
              </p:cNvSpPr>
              <p:nvPr/>
            </p:nvSpPr>
            <p:spPr bwMode="auto">
              <a:xfrm>
                <a:off x="3584" y="2274"/>
                <a:ext cx="0" cy="84"/>
              </a:xfrm>
              <a:custGeom>
                <a:avLst/>
                <a:gdLst>
                  <a:gd name="T0" fmla="*/ 0 w 1"/>
                  <a:gd name="T1" fmla="*/ 130 h 130"/>
                  <a:gd name="T2" fmla="*/ 0 w 1"/>
                  <a:gd name="T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30">
                    <a:moveTo>
                      <a:pt x="0" y="13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4" name="Freeform 91"/>
              <p:cNvSpPr>
                <a:spLocks noChangeArrowheads="1"/>
              </p:cNvSpPr>
              <p:nvPr/>
            </p:nvSpPr>
            <p:spPr bwMode="auto">
              <a:xfrm>
                <a:off x="2759" y="2176"/>
                <a:ext cx="1" cy="98"/>
              </a:xfrm>
              <a:custGeom>
                <a:avLst/>
                <a:gdLst>
                  <a:gd name="T0" fmla="*/ 1 w 1"/>
                  <a:gd name="T1" fmla="*/ 98 h 98"/>
                  <a:gd name="T2" fmla="*/ 0 w 1"/>
                  <a:gd name="T3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98">
                    <a:moveTo>
                      <a:pt x="1" y="98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5" name="Freeform 92"/>
              <p:cNvSpPr>
                <a:spLocks noChangeArrowheads="1"/>
              </p:cNvSpPr>
              <p:nvPr/>
            </p:nvSpPr>
            <p:spPr bwMode="auto">
              <a:xfrm>
                <a:off x="2755" y="2268"/>
                <a:ext cx="189" cy="4"/>
              </a:xfrm>
              <a:custGeom>
                <a:avLst/>
                <a:gdLst>
                  <a:gd name="T0" fmla="*/ 0 w 189"/>
                  <a:gd name="T1" fmla="*/ 0 h 4"/>
                  <a:gd name="T2" fmla="*/ 189 w 189"/>
                  <a:gd name="T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89" h="4">
                    <a:moveTo>
                      <a:pt x="0" y="0"/>
                    </a:moveTo>
                    <a:lnTo>
                      <a:pt x="189" y="4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6" name="Freeform 93"/>
              <p:cNvSpPr>
                <a:spLocks noChangeArrowheads="1"/>
              </p:cNvSpPr>
              <p:nvPr/>
            </p:nvSpPr>
            <p:spPr bwMode="auto">
              <a:xfrm>
                <a:off x="2933" y="1956"/>
                <a:ext cx="1" cy="309"/>
              </a:xfrm>
              <a:custGeom>
                <a:avLst/>
                <a:gdLst>
                  <a:gd name="T0" fmla="*/ 0 w 1"/>
                  <a:gd name="T1" fmla="*/ 309 h 309"/>
                  <a:gd name="T2" fmla="*/ 0 w 1"/>
                  <a:gd name="T3" fmla="*/ 0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09">
                    <a:moveTo>
                      <a:pt x="0" y="309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7" name="Freeform 94"/>
              <p:cNvSpPr>
                <a:spLocks noChangeArrowheads="1"/>
              </p:cNvSpPr>
              <p:nvPr/>
            </p:nvSpPr>
            <p:spPr bwMode="auto">
              <a:xfrm>
                <a:off x="2928" y="1960"/>
                <a:ext cx="395" cy="2"/>
              </a:xfrm>
              <a:custGeom>
                <a:avLst/>
                <a:gdLst>
                  <a:gd name="T0" fmla="*/ 0 w 395"/>
                  <a:gd name="T1" fmla="*/ 0 h 2"/>
                  <a:gd name="T2" fmla="*/ 395 w 395"/>
                  <a:gd name="T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95" h="2">
                    <a:moveTo>
                      <a:pt x="0" y="0"/>
                    </a:moveTo>
                    <a:lnTo>
                      <a:pt x="395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8" name="Freeform 95"/>
              <p:cNvSpPr>
                <a:spLocks noChangeArrowheads="1"/>
              </p:cNvSpPr>
              <p:nvPr/>
            </p:nvSpPr>
            <p:spPr bwMode="auto">
              <a:xfrm>
                <a:off x="3312" y="2268"/>
                <a:ext cx="279" cy="4"/>
              </a:xfrm>
              <a:custGeom>
                <a:avLst/>
                <a:gdLst>
                  <a:gd name="T0" fmla="*/ 279 w 279"/>
                  <a:gd name="T1" fmla="*/ 0 h 4"/>
                  <a:gd name="T2" fmla="*/ 0 w 279"/>
                  <a:gd name="T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9" h="4">
                    <a:moveTo>
                      <a:pt x="279" y="0"/>
                    </a:moveTo>
                    <a:lnTo>
                      <a:pt x="0" y="4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9" name="Freeform 96"/>
              <p:cNvSpPr>
                <a:spLocks noChangeArrowheads="1"/>
              </p:cNvSpPr>
              <p:nvPr/>
            </p:nvSpPr>
            <p:spPr bwMode="auto">
              <a:xfrm>
                <a:off x="3312" y="1968"/>
                <a:ext cx="1" cy="306"/>
              </a:xfrm>
              <a:custGeom>
                <a:avLst/>
                <a:gdLst>
                  <a:gd name="T0" fmla="*/ 0 w 1"/>
                  <a:gd name="T1" fmla="*/ 306 h 306"/>
                  <a:gd name="T2" fmla="*/ 1 w 1"/>
                  <a:gd name="T3" fmla="*/ 0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06">
                    <a:moveTo>
                      <a:pt x="0" y="306"/>
                    </a:move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0" name="Freeform 97"/>
              <p:cNvSpPr>
                <a:spLocks noChangeArrowheads="1"/>
              </p:cNvSpPr>
              <p:nvPr/>
            </p:nvSpPr>
            <p:spPr bwMode="auto">
              <a:xfrm>
                <a:off x="2928" y="1952"/>
                <a:ext cx="80" cy="77"/>
              </a:xfrm>
              <a:custGeom>
                <a:avLst/>
                <a:gdLst>
                  <a:gd name="T0" fmla="*/ 0 w 80"/>
                  <a:gd name="T1" fmla="*/ 77 h 77"/>
                  <a:gd name="T2" fmla="*/ 80 w 80"/>
                  <a:gd name="T3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0" h="77">
                    <a:moveTo>
                      <a:pt x="0" y="77"/>
                    </a:moveTo>
                    <a:lnTo>
                      <a:pt x="8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1" name="Freeform 98"/>
              <p:cNvSpPr>
                <a:spLocks noChangeArrowheads="1"/>
              </p:cNvSpPr>
              <p:nvPr/>
            </p:nvSpPr>
            <p:spPr bwMode="auto">
              <a:xfrm>
                <a:off x="2931" y="2032"/>
                <a:ext cx="77" cy="77"/>
              </a:xfrm>
              <a:custGeom>
                <a:avLst/>
                <a:gdLst>
                  <a:gd name="T0" fmla="*/ 0 w 77"/>
                  <a:gd name="T1" fmla="*/ 77 h 77"/>
                  <a:gd name="T2" fmla="*/ 77 w 77"/>
                  <a:gd name="T3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77" h="77">
                    <a:moveTo>
                      <a:pt x="0" y="77"/>
                    </a:moveTo>
                    <a:lnTo>
                      <a:pt x="77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2" name="Freeform 99"/>
              <p:cNvSpPr>
                <a:spLocks noChangeArrowheads="1"/>
              </p:cNvSpPr>
              <p:nvPr/>
            </p:nvSpPr>
            <p:spPr bwMode="auto">
              <a:xfrm>
                <a:off x="2928" y="2128"/>
                <a:ext cx="80" cy="80"/>
              </a:xfrm>
              <a:custGeom>
                <a:avLst/>
                <a:gdLst>
                  <a:gd name="T0" fmla="*/ 0 w 80"/>
                  <a:gd name="T1" fmla="*/ 80 h 80"/>
                  <a:gd name="T2" fmla="*/ 80 w 80"/>
                  <a:gd name="T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0" h="80">
                    <a:moveTo>
                      <a:pt x="0" y="80"/>
                    </a:moveTo>
                    <a:lnTo>
                      <a:pt x="8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3" name="Freeform 100"/>
              <p:cNvSpPr>
                <a:spLocks noChangeArrowheads="1"/>
              </p:cNvSpPr>
              <p:nvPr/>
            </p:nvSpPr>
            <p:spPr bwMode="auto">
              <a:xfrm>
                <a:off x="2873" y="2232"/>
                <a:ext cx="133" cy="133"/>
              </a:xfrm>
              <a:custGeom>
                <a:avLst/>
                <a:gdLst>
                  <a:gd name="T0" fmla="*/ 133 w 133"/>
                  <a:gd name="T1" fmla="*/ 0 h 133"/>
                  <a:gd name="T2" fmla="*/ 0 w 133"/>
                  <a:gd name="T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3" h="133">
                    <a:moveTo>
                      <a:pt x="133" y="0"/>
                    </a:moveTo>
                    <a:lnTo>
                      <a:pt x="0" y="133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4" name="Freeform 101"/>
              <p:cNvSpPr>
                <a:spLocks noChangeArrowheads="1"/>
              </p:cNvSpPr>
              <p:nvPr/>
            </p:nvSpPr>
            <p:spPr bwMode="auto">
              <a:xfrm>
                <a:off x="2775" y="2268"/>
                <a:ext cx="93" cy="93"/>
              </a:xfrm>
              <a:custGeom>
                <a:avLst/>
                <a:gdLst>
                  <a:gd name="T0" fmla="*/ 93 w 93"/>
                  <a:gd name="T1" fmla="*/ 0 h 93"/>
                  <a:gd name="T2" fmla="*/ 0 w 93"/>
                  <a:gd name="T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3" h="93">
                    <a:moveTo>
                      <a:pt x="93" y="0"/>
                    </a:moveTo>
                    <a:lnTo>
                      <a:pt x="0" y="93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5" name="Freeform 102"/>
              <p:cNvSpPr>
                <a:spLocks noChangeArrowheads="1"/>
              </p:cNvSpPr>
              <p:nvPr/>
            </p:nvSpPr>
            <p:spPr bwMode="auto">
              <a:xfrm>
                <a:off x="2691" y="2265"/>
                <a:ext cx="93" cy="93"/>
              </a:xfrm>
              <a:custGeom>
                <a:avLst/>
                <a:gdLst>
                  <a:gd name="T0" fmla="*/ 93 w 93"/>
                  <a:gd name="T1" fmla="*/ 0 h 93"/>
                  <a:gd name="T2" fmla="*/ 0 w 93"/>
                  <a:gd name="T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3" h="93">
                    <a:moveTo>
                      <a:pt x="93" y="0"/>
                    </a:moveTo>
                    <a:lnTo>
                      <a:pt x="0" y="93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6" name="Freeform 103"/>
              <p:cNvSpPr>
                <a:spLocks noChangeArrowheads="1"/>
              </p:cNvSpPr>
              <p:nvPr/>
            </p:nvSpPr>
            <p:spPr bwMode="auto">
              <a:xfrm>
                <a:off x="2656" y="2200"/>
                <a:ext cx="96" cy="96"/>
              </a:xfrm>
              <a:custGeom>
                <a:avLst/>
                <a:gdLst>
                  <a:gd name="T0" fmla="*/ 96 w 96"/>
                  <a:gd name="T1" fmla="*/ 0 h 96"/>
                  <a:gd name="T2" fmla="*/ 0 w 96"/>
                  <a:gd name="T3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6" h="96">
                    <a:moveTo>
                      <a:pt x="96" y="0"/>
                    </a:moveTo>
                    <a:lnTo>
                      <a:pt x="0" y="9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7" name="Freeform 104"/>
              <p:cNvSpPr>
                <a:spLocks noChangeArrowheads="1"/>
              </p:cNvSpPr>
              <p:nvPr/>
            </p:nvSpPr>
            <p:spPr bwMode="auto">
              <a:xfrm>
                <a:off x="2655" y="2188"/>
                <a:ext cx="27" cy="28"/>
              </a:xfrm>
              <a:custGeom>
                <a:avLst/>
                <a:gdLst>
                  <a:gd name="T0" fmla="*/ 43 w 43"/>
                  <a:gd name="T1" fmla="*/ 0 h 44"/>
                  <a:gd name="T2" fmla="*/ 0 w 43"/>
                  <a:gd name="T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3" h="44">
                    <a:moveTo>
                      <a:pt x="43" y="0"/>
                    </a:moveTo>
                    <a:lnTo>
                      <a:pt x="0" y="4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8" name="Freeform 105"/>
              <p:cNvSpPr>
                <a:spLocks noChangeArrowheads="1"/>
              </p:cNvSpPr>
              <p:nvPr/>
            </p:nvSpPr>
            <p:spPr bwMode="auto">
              <a:xfrm>
                <a:off x="3272" y="2264"/>
                <a:ext cx="96" cy="96"/>
              </a:xfrm>
              <a:custGeom>
                <a:avLst/>
                <a:gdLst>
                  <a:gd name="T0" fmla="*/ 0 w 96"/>
                  <a:gd name="T1" fmla="*/ 96 h 96"/>
                  <a:gd name="T2" fmla="*/ 96 w 96"/>
                  <a:gd name="T3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9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9" name="Freeform 106"/>
              <p:cNvSpPr>
                <a:spLocks noChangeArrowheads="1"/>
              </p:cNvSpPr>
              <p:nvPr/>
            </p:nvSpPr>
            <p:spPr bwMode="auto">
              <a:xfrm>
                <a:off x="3239" y="2206"/>
                <a:ext cx="72" cy="72"/>
              </a:xfrm>
              <a:custGeom>
                <a:avLst/>
                <a:gdLst>
                  <a:gd name="T0" fmla="*/ 0 w 72"/>
                  <a:gd name="T1" fmla="*/ 72 h 72"/>
                  <a:gd name="T2" fmla="*/ 72 w 72"/>
                  <a:gd name="T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72" h="72">
                    <a:moveTo>
                      <a:pt x="0" y="72"/>
                    </a:moveTo>
                    <a:lnTo>
                      <a:pt x="7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0" name="Freeform 107"/>
              <p:cNvSpPr>
                <a:spLocks noChangeArrowheads="1"/>
              </p:cNvSpPr>
              <p:nvPr/>
            </p:nvSpPr>
            <p:spPr bwMode="auto">
              <a:xfrm>
                <a:off x="3243" y="2120"/>
                <a:ext cx="66" cy="67"/>
              </a:xfrm>
              <a:custGeom>
                <a:avLst/>
                <a:gdLst>
                  <a:gd name="T0" fmla="*/ 0 w 66"/>
                  <a:gd name="T1" fmla="*/ 67 h 67"/>
                  <a:gd name="T2" fmla="*/ 66 w 66"/>
                  <a:gd name="T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6" h="67">
                    <a:moveTo>
                      <a:pt x="0" y="67"/>
                    </a:moveTo>
                    <a:lnTo>
                      <a:pt x="6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1" name="Freeform 108"/>
              <p:cNvSpPr>
                <a:spLocks noChangeArrowheads="1"/>
              </p:cNvSpPr>
              <p:nvPr/>
            </p:nvSpPr>
            <p:spPr bwMode="auto">
              <a:xfrm>
                <a:off x="3243" y="2028"/>
                <a:ext cx="69" cy="69"/>
              </a:xfrm>
              <a:custGeom>
                <a:avLst/>
                <a:gdLst>
                  <a:gd name="T0" fmla="*/ 0 w 69"/>
                  <a:gd name="T1" fmla="*/ 69 h 69"/>
                  <a:gd name="T2" fmla="*/ 69 w 69"/>
                  <a:gd name="T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9" h="69">
                    <a:moveTo>
                      <a:pt x="0" y="69"/>
                    </a:moveTo>
                    <a:lnTo>
                      <a:pt x="6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2" name="Freeform 109"/>
              <p:cNvSpPr>
                <a:spLocks noChangeArrowheads="1"/>
              </p:cNvSpPr>
              <p:nvPr/>
            </p:nvSpPr>
            <p:spPr bwMode="auto">
              <a:xfrm>
                <a:off x="3247" y="1965"/>
                <a:ext cx="36" cy="37"/>
              </a:xfrm>
              <a:custGeom>
                <a:avLst/>
                <a:gdLst>
                  <a:gd name="T0" fmla="*/ 0 w 55"/>
                  <a:gd name="T1" fmla="*/ 57 h 57"/>
                  <a:gd name="T2" fmla="*/ 55 w 55"/>
                  <a:gd name="T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5" h="57">
                    <a:moveTo>
                      <a:pt x="0" y="57"/>
                    </a:moveTo>
                    <a:lnTo>
                      <a:pt x="5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3" name="Line 110"/>
              <p:cNvSpPr>
                <a:spLocks noChangeShapeType="1"/>
              </p:cNvSpPr>
              <p:nvPr/>
            </p:nvSpPr>
            <p:spPr bwMode="auto">
              <a:xfrm flipV="1">
                <a:off x="3380" y="2275"/>
                <a:ext cx="78" cy="7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4" name="Freeform 111"/>
              <p:cNvSpPr>
                <a:spLocks noChangeArrowheads="1"/>
              </p:cNvSpPr>
              <p:nvPr/>
            </p:nvSpPr>
            <p:spPr bwMode="auto">
              <a:xfrm>
                <a:off x="3477" y="2268"/>
                <a:ext cx="84" cy="85"/>
              </a:xfrm>
              <a:custGeom>
                <a:avLst/>
                <a:gdLst>
                  <a:gd name="T0" fmla="*/ 0 w 84"/>
                  <a:gd name="T1" fmla="*/ 85 h 85"/>
                  <a:gd name="T2" fmla="*/ 84 w 84"/>
                  <a:gd name="T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4" h="85">
                    <a:moveTo>
                      <a:pt x="0" y="85"/>
                    </a:moveTo>
                    <a:lnTo>
                      <a:pt x="8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grpSp>
        <p:nvGrpSpPr>
          <p:cNvPr id="112" name="Group 112"/>
          <p:cNvGrpSpPr>
            <a:grpSpLocks/>
          </p:cNvGrpSpPr>
          <p:nvPr/>
        </p:nvGrpSpPr>
        <p:grpSpPr bwMode="auto">
          <a:xfrm>
            <a:off x="8016876" y="1003300"/>
            <a:ext cx="2252663" cy="3594100"/>
            <a:chOff x="4090" y="1736"/>
            <a:chExt cx="1419" cy="2264"/>
          </a:xfrm>
        </p:grpSpPr>
        <p:grpSp>
          <p:nvGrpSpPr>
            <p:cNvPr id="113" name="Group 113"/>
            <p:cNvGrpSpPr>
              <a:grpSpLocks/>
            </p:cNvGrpSpPr>
            <p:nvPr/>
          </p:nvGrpSpPr>
          <p:grpSpPr bwMode="auto">
            <a:xfrm>
              <a:off x="4288" y="3140"/>
              <a:ext cx="1164" cy="860"/>
              <a:chOff x="4288" y="3140"/>
              <a:chExt cx="1164" cy="860"/>
            </a:xfrm>
          </p:grpSpPr>
          <p:sp>
            <p:nvSpPr>
              <p:cNvPr id="156" name="Freeform 114"/>
              <p:cNvSpPr>
                <a:spLocks noChangeArrowheads="1"/>
              </p:cNvSpPr>
              <p:nvPr/>
            </p:nvSpPr>
            <p:spPr bwMode="auto">
              <a:xfrm>
                <a:off x="4984" y="3216"/>
                <a:ext cx="120" cy="164"/>
              </a:xfrm>
              <a:custGeom>
                <a:avLst/>
                <a:gdLst>
                  <a:gd name="T0" fmla="*/ 116 w 120"/>
                  <a:gd name="T1" fmla="*/ 52 h 164"/>
                  <a:gd name="T2" fmla="*/ 120 w 120"/>
                  <a:gd name="T3" fmla="*/ 164 h 164"/>
                  <a:gd name="T4" fmla="*/ 0 w 120"/>
                  <a:gd name="T5" fmla="*/ 100 h 164"/>
                  <a:gd name="T6" fmla="*/ 0 w 120"/>
                  <a:gd name="T7" fmla="*/ 0 h 164"/>
                  <a:gd name="T8" fmla="*/ 116 w 120"/>
                  <a:gd name="T9" fmla="*/ 5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116" y="52"/>
                    </a:moveTo>
                    <a:lnTo>
                      <a:pt x="120" y="164"/>
                    </a:lnTo>
                    <a:lnTo>
                      <a:pt x="0" y="100"/>
                    </a:lnTo>
                    <a:lnTo>
                      <a:pt x="0" y="0"/>
                    </a:lnTo>
                    <a:lnTo>
                      <a:pt x="116" y="52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765E2F"/>
                  </a:gs>
                  <a:gs pos="100000">
                    <a:srgbClr val="FFCC66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7" name="Freeform 115"/>
              <p:cNvSpPr>
                <a:spLocks noChangeArrowheads="1"/>
              </p:cNvSpPr>
              <p:nvPr/>
            </p:nvSpPr>
            <p:spPr bwMode="auto">
              <a:xfrm>
                <a:off x="4408" y="3380"/>
                <a:ext cx="360" cy="288"/>
              </a:xfrm>
              <a:custGeom>
                <a:avLst/>
                <a:gdLst>
                  <a:gd name="T0" fmla="*/ 96 w 360"/>
                  <a:gd name="T1" fmla="*/ 288 h 288"/>
                  <a:gd name="T2" fmla="*/ 0 w 360"/>
                  <a:gd name="T3" fmla="*/ 236 h 288"/>
                  <a:gd name="T4" fmla="*/ 348 w 360"/>
                  <a:gd name="T5" fmla="*/ 0 h 288"/>
                  <a:gd name="T6" fmla="*/ 360 w 360"/>
                  <a:gd name="T7" fmla="*/ 112 h 288"/>
                  <a:gd name="T8" fmla="*/ 96 w 360"/>
                  <a:gd name="T9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0" h="288">
                    <a:moveTo>
                      <a:pt x="96" y="288"/>
                    </a:moveTo>
                    <a:lnTo>
                      <a:pt x="0" y="236"/>
                    </a:lnTo>
                    <a:lnTo>
                      <a:pt x="348" y="0"/>
                    </a:lnTo>
                    <a:lnTo>
                      <a:pt x="360" y="112"/>
                    </a:lnTo>
                    <a:lnTo>
                      <a:pt x="96" y="288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765E2F"/>
                  </a:gs>
                  <a:gs pos="50000">
                    <a:srgbClr val="FFCC66"/>
                  </a:gs>
                  <a:gs pos="100000">
                    <a:srgbClr val="765E2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8" name="Line 116"/>
              <p:cNvSpPr>
                <a:spLocks noChangeShapeType="1"/>
              </p:cNvSpPr>
              <p:nvPr/>
            </p:nvSpPr>
            <p:spPr bwMode="auto">
              <a:xfrm>
                <a:off x="4300" y="3831"/>
                <a:ext cx="458" cy="15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9" name="Line 117"/>
              <p:cNvSpPr>
                <a:spLocks noChangeShapeType="1"/>
              </p:cNvSpPr>
              <p:nvPr/>
            </p:nvSpPr>
            <p:spPr bwMode="auto">
              <a:xfrm>
                <a:off x="4756" y="3899"/>
                <a:ext cx="0" cy="8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0" name="Line 118"/>
              <p:cNvSpPr>
                <a:spLocks noChangeShapeType="1"/>
              </p:cNvSpPr>
              <p:nvPr/>
            </p:nvSpPr>
            <p:spPr bwMode="auto">
              <a:xfrm flipV="1">
                <a:off x="4758" y="3405"/>
                <a:ext cx="683" cy="50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" name="Line 119"/>
              <p:cNvSpPr>
                <a:spLocks noChangeShapeType="1"/>
              </p:cNvSpPr>
              <p:nvPr/>
            </p:nvSpPr>
            <p:spPr bwMode="auto">
              <a:xfrm flipV="1">
                <a:off x="4484" y="3662"/>
                <a:ext cx="65" cy="4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2" name="Line 120"/>
              <p:cNvSpPr>
                <a:spLocks noChangeShapeType="1"/>
              </p:cNvSpPr>
              <p:nvPr/>
            </p:nvSpPr>
            <p:spPr bwMode="auto">
              <a:xfrm>
                <a:off x="4483" y="3806"/>
                <a:ext cx="273" cy="9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3" name="Freeform 121"/>
              <p:cNvSpPr>
                <a:spLocks noChangeArrowheads="1"/>
              </p:cNvSpPr>
              <p:nvPr/>
            </p:nvSpPr>
            <p:spPr bwMode="auto">
              <a:xfrm>
                <a:off x="4549" y="3666"/>
                <a:ext cx="1" cy="98"/>
              </a:xfrm>
              <a:custGeom>
                <a:avLst/>
                <a:gdLst>
                  <a:gd name="T0" fmla="*/ 0 w 1"/>
                  <a:gd name="T1" fmla="*/ 0 h 265"/>
                  <a:gd name="T2" fmla="*/ 0 w 1"/>
                  <a:gd name="T3" fmla="*/ 26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265">
                    <a:moveTo>
                      <a:pt x="0" y="0"/>
                    </a:moveTo>
                    <a:lnTo>
                      <a:pt x="0" y="26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4" name="Freeform 122"/>
              <p:cNvSpPr>
                <a:spLocks noChangeArrowheads="1"/>
              </p:cNvSpPr>
              <p:nvPr/>
            </p:nvSpPr>
            <p:spPr bwMode="auto">
              <a:xfrm>
                <a:off x="4298" y="3651"/>
                <a:ext cx="184" cy="58"/>
              </a:xfrm>
              <a:custGeom>
                <a:avLst/>
                <a:gdLst>
                  <a:gd name="T0" fmla="*/ 0 w 630"/>
                  <a:gd name="T1" fmla="*/ 0 h 156"/>
                  <a:gd name="T2" fmla="*/ 630 w 630"/>
                  <a:gd name="T3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30" h="156">
                    <a:moveTo>
                      <a:pt x="0" y="0"/>
                    </a:moveTo>
                    <a:lnTo>
                      <a:pt x="630" y="15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5" name="Freeform 123"/>
              <p:cNvSpPr>
                <a:spLocks noChangeArrowheads="1"/>
              </p:cNvSpPr>
              <p:nvPr/>
            </p:nvSpPr>
            <p:spPr bwMode="auto">
              <a:xfrm>
                <a:off x="5164" y="3214"/>
                <a:ext cx="1" cy="98"/>
              </a:xfrm>
              <a:custGeom>
                <a:avLst/>
                <a:gdLst>
                  <a:gd name="T0" fmla="*/ 0 w 1"/>
                  <a:gd name="T1" fmla="*/ 0 h 265"/>
                  <a:gd name="T2" fmla="*/ 0 w 1"/>
                  <a:gd name="T3" fmla="*/ 26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265">
                    <a:moveTo>
                      <a:pt x="0" y="0"/>
                    </a:moveTo>
                    <a:lnTo>
                      <a:pt x="0" y="26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6" name="Line 124"/>
              <p:cNvSpPr>
                <a:spLocks noChangeShapeType="1"/>
              </p:cNvSpPr>
              <p:nvPr/>
            </p:nvSpPr>
            <p:spPr bwMode="auto">
              <a:xfrm flipV="1">
                <a:off x="4481" y="3761"/>
                <a:ext cx="66" cy="4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7" name="Line 125"/>
              <p:cNvSpPr>
                <a:spLocks noChangeShapeType="1"/>
              </p:cNvSpPr>
              <p:nvPr/>
            </p:nvSpPr>
            <p:spPr bwMode="auto">
              <a:xfrm flipV="1">
                <a:off x="5094" y="3211"/>
                <a:ext cx="66" cy="4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8" name="Freeform 126"/>
              <p:cNvSpPr>
                <a:spLocks noChangeArrowheads="1"/>
              </p:cNvSpPr>
              <p:nvPr/>
            </p:nvSpPr>
            <p:spPr bwMode="auto">
              <a:xfrm>
                <a:off x="4995" y="3223"/>
                <a:ext cx="1" cy="98"/>
              </a:xfrm>
              <a:custGeom>
                <a:avLst/>
                <a:gdLst>
                  <a:gd name="T0" fmla="*/ 0 w 1"/>
                  <a:gd name="T1" fmla="*/ 0 h 265"/>
                  <a:gd name="T2" fmla="*/ 0 w 1"/>
                  <a:gd name="T3" fmla="*/ 26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265">
                    <a:moveTo>
                      <a:pt x="0" y="0"/>
                    </a:moveTo>
                    <a:lnTo>
                      <a:pt x="0" y="26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9" name="Line 127"/>
              <p:cNvSpPr>
                <a:spLocks noChangeShapeType="1"/>
              </p:cNvSpPr>
              <p:nvPr/>
            </p:nvSpPr>
            <p:spPr bwMode="auto">
              <a:xfrm flipH="1">
                <a:off x="5098" y="3305"/>
                <a:ext cx="67" cy="4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" name="Freeform 128"/>
              <p:cNvSpPr>
                <a:spLocks noChangeArrowheads="1"/>
              </p:cNvSpPr>
              <p:nvPr/>
            </p:nvSpPr>
            <p:spPr bwMode="auto">
              <a:xfrm>
                <a:off x="4288" y="3140"/>
                <a:ext cx="892" cy="572"/>
              </a:xfrm>
              <a:custGeom>
                <a:avLst/>
                <a:gdLst>
                  <a:gd name="T0" fmla="*/ 192 w 892"/>
                  <a:gd name="T1" fmla="*/ 572 h 572"/>
                  <a:gd name="T2" fmla="*/ 0 w 892"/>
                  <a:gd name="T3" fmla="*/ 508 h 572"/>
                  <a:gd name="T4" fmla="*/ 696 w 892"/>
                  <a:gd name="T5" fmla="*/ 0 h 572"/>
                  <a:gd name="T6" fmla="*/ 892 w 892"/>
                  <a:gd name="T7" fmla="*/ 68 h 572"/>
                  <a:gd name="T8" fmla="*/ 808 w 892"/>
                  <a:gd name="T9" fmla="*/ 128 h 572"/>
                  <a:gd name="T10" fmla="*/ 700 w 892"/>
                  <a:gd name="T11" fmla="*/ 84 h 572"/>
                  <a:gd name="T12" fmla="*/ 156 w 892"/>
                  <a:gd name="T13" fmla="*/ 480 h 572"/>
                  <a:gd name="T14" fmla="*/ 272 w 892"/>
                  <a:gd name="T15" fmla="*/ 524 h 572"/>
                  <a:gd name="T16" fmla="*/ 192 w 892"/>
                  <a:gd name="T17" fmla="*/ 572 h 5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2" h="572">
                    <a:moveTo>
                      <a:pt x="192" y="572"/>
                    </a:moveTo>
                    <a:lnTo>
                      <a:pt x="0" y="508"/>
                    </a:lnTo>
                    <a:lnTo>
                      <a:pt x="696" y="0"/>
                    </a:lnTo>
                    <a:lnTo>
                      <a:pt x="892" y="68"/>
                    </a:lnTo>
                    <a:lnTo>
                      <a:pt x="808" y="128"/>
                    </a:lnTo>
                    <a:lnTo>
                      <a:pt x="700" y="84"/>
                    </a:lnTo>
                    <a:lnTo>
                      <a:pt x="156" y="480"/>
                    </a:lnTo>
                    <a:lnTo>
                      <a:pt x="272" y="524"/>
                    </a:lnTo>
                    <a:lnTo>
                      <a:pt x="192" y="572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008C00"/>
                  </a:gs>
                  <a:gs pos="100000">
                    <a:srgbClr val="00B400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1" name="Freeform 129"/>
              <p:cNvSpPr>
                <a:spLocks noChangeArrowheads="1"/>
              </p:cNvSpPr>
              <p:nvPr/>
            </p:nvSpPr>
            <p:spPr bwMode="auto">
              <a:xfrm>
                <a:off x="4476" y="3664"/>
                <a:ext cx="84" cy="156"/>
              </a:xfrm>
              <a:custGeom>
                <a:avLst/>
                <a:gdLst>
                  <a:gd name="T0" fmla="*/ 0 w 84"/>
                  <a:gd name="T1" fmla="*/ 48 h 156"/>
                  <a:gd name="T2" fmla="*/ 0 w 84"/>
                  <a:gd name="T3" fmla="*/ 156 h 156"/>
                  <a:gd name="T4" fmla="*/ 84 w 84"/>
                  <a:gd name="T5" fmla="*/ 104 h 156"/>
                  <a:gd name="T6" fmla="*/ 84 w 84"/>
                  <a:gd name="T7" fmla="*/ 0 h 156"/>
                  <a:gd name="T8" fmla="*/ 0 w 84"/>
                  <a:gd name="T9" fmla="*/ 48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156">
                    <a:moveTo>
                      <a:pt x="0" y="48"/>
                    </a:moveTo>
                    <a:lnTo>
                      <a:pt x="0" y="156"/>
                    </a:lnTo>
                    <a:lnTo>
                      <a:pt x="84" y="104"/>
                    </a:lnTo>
                    <a:lnTo>
                      <a:pt x="84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2" name="Freeform 130"/>
              <p:cNvSpPr>
                <a:spLocks noChangeArrowheads="1"/>
              </p:cNvSpPr>
              <p:nvPr/>
            </p:nvSpPr>
            <p:spPr bwMode="auto">
              <a:xfrm>
                <a:off x="5096" y="3208"/>
                <a:ext cx="84" cy="156"/>
              </a:xfrm>
              <a:custGeom>
                <a:avLst/>
                <a:gdLst>
                  <a:gd name="T0" fmla="*/ 0 w 84"/>
                  <a:gd name="T1" fmla="*/ 56 h 156"/>
                  <a:gd name="T2" fmla="*/ 0 w 84"/>
                  <a:gd name="T3" fmla="*/ 156 h 156"/>
                  <a:gd name="T4" fmla="*/ 84 w 84"/>
                  <a:gd name="T5" fmla="*/ 100 h 156"/>
                  <a:gd name="T6" fmla="*/ 84 w 84"/>
                  <a:gd name="T7" fmla="*/ 0 h 156"/>
                  <a:gd name="T8" fmla="*/ 0 w 84"/>
                  <a:gd name="T9" fmla="*/ 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156">
                    <a:moveTo>
                      <a:pt x="0" y="56"/>
                    </a:moveTo>
                    <a:lnTo>
                      <a:pt x="0" y="156"/>
                    </a:lnTo>
                    <a:lnTo>
                      <a:pt x="84" y="100"/>
                    </a:lnTo>
                    <a:lnTo>
                      <a:pt x="84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3" name="Freeform 131"/>
              <p:cNvSpPr>
                <a:spLocks noChangeArrowheads="1"/>
              </p:cNvSpPr>
              <p:nvPr/>
            </p:nvSpPr>
            <p:spPr bwMode="auto">
              <a:xfrm>
                <a:off x="4292" y="3640"/>
                <a:ext cx="468" cy="356"/>
              </a:xfrm>
              <a:custGeom>
                <a:avLst/>
                <a:gdLst>
                  <a:gd name="T0" fmla="*/ 0 w 468"/>
                  <a:gd name="T1" fmla="*/ 0 h 356"/>
                  <a:gd name="T2" fmla="*/ 0 w 468"/>
                  <a:gd name="T3" fmla="*/ 200 h 356"/>
                  <a:gd name="T4" fmla="*/ 468 w 468"/>
                  <a:gd name="T5" fmla="*/ 356 h 356"/>
                  <a:gd name="T6" fmla="*/ 468 w 468"/>
                  <a:gd name="T7" fmla="*/ 256 h 356"/>
                  <a:gd name="T8" fmla="*/ 188 w 468"/>
                  <a:gd name="T9" fmla="*/ 164 h 356"/>
                  <a:gd name="T10" fmla="*/ 188 w 468"/>
                  <a:gd name="T11" fmla="*/ 76 h 356"/>
                  <a:gd name="T12" fmla="*/ 0 w 468"/>
                  <a:gd name="T13" fmla="*/ 0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8" h="356">
                    <a:moveTo>
                      <a:pt x="0" y="0"/>
                    </a:moveTo>
                    <a:lnTo>
                      <a:pt x="0" y="200"/>
                    </a:lnTo>
                    <a:lnTo>
                      <a:pt x="468" y="356"/>
                    </a:lnTo>
                    <a:lnTo>
                      <a:pt x="468" y="256"/>
                    </a:lnTo>
                    <a:lnTo>
                      <a:pt x="188" y="164"/>
                    </a:lnTo>
                    <a:lnTo>
                      <a:pt x="188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009000"/>
                  </a:gs>
                  <a:gs pos="100000">
                    <a:srgbClr val="00B4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4" name="Freeform 132"/>
              <p:cNvSpPr>
                <a:spLocks noChangeArrowheads="1"/>
              </p:cNvSpPr>
              <p:nvPr/>
            </p:nvSpPr>
            <p:spPr bwMode="auto">
              <a:xfrm>
                <a:off x="4484" y="3304"/>
                <a:ext cx="968" cy="596"/>
              </a:xfrm>
              <a:custGeom>
                <a:avLst/>
                <a:gdLst>
                  <a:gd name="T0" fmla="*/ 280 w 968"/>
                  <a:gd name="T1" fmla="*/ 596 h 596"/>
                  <a:gd name="T2" fmla="*/ 0 w 968"/>
                  <a:gd name="T3" fmla="*/ 500 h 596"/>
                  <a:gd name="T4" fmla="*/ 76 w 968"/>
                  <a:gd name="T5" fmla="*/ 456 h 596"/>
                  <a:gd name="T6" fmla="*/ 76 w 968"/>
                  <a:gd name="T7" fmla="*/ 364 h 596"/>
                  <a:gd name="T8" fmla="*/ 36 w 968"/>
                  <a:gd name="T9" fmla="*/ 348 h 596"/>
                  <a:gd name="T10" fmla="*/ 516 w 968"/>
                  <a:gd name="T11" fmla="*/ 12 h 596"/>
                  <a:gd name="T12" fmla="*/ 616 w 968"/>
                  <a:gd name="T13" fmla="*/ 60 h 596"/>
                  <a:gd name="T14" fmla="*/ 700 w 968"/>
                  <a:gd name="T15" fmla="*/ 0 h 596"/>
                  <a:gd name="T16" fmla="*/ 968 w 968"/>
                  <a:gd name="T17" fmla="*/ 96 h 596"/>
                  <a:gd name="T18" fmla="*/ 280 w 968"/>
                  <a:gd name="T19" fmla="*/ 596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8" h="596">
                    <a:moveTo>
                      <a:pt x="280" y="596"/>
                    </a:moveTo>
                    <a:lnTo>
                      <a:pt x="0" y="500"/>
                    </a:lnTo>
                    <a:lnTo>
                      <a:pt x="76" y="456"/>
                    </a:lnTo>
                    <a:lnTo>
                      <a:pt x="76" y="364"/>
                    </a:lnTo>
                    <a:lnTo>
                      <a:pt x="36" y="348"/>
                    </a:lnTo>
                    <a:lnTo>
                      <a:pt x="516" y="12"/>
                    </a:lnTo>
                    <a:lnTo>
                      <a:pt x="616" y="60"/>
                    </a:lnTo>
                    <a:lnTo>
                      <a:pt x="700" y="0"/>
                    </a:lnTo>
                    <a:lnTo>
                      <a:pt x="968" y="96"/>
                    </a:lnTo>
                    <a:lnTo>
                      <a:pt x="280" y="596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FFFF00"/>
                  </a:gs>
                  <a:gs pos="100000">
                    <a:srgbClr val="AEAE00"/>
                  </a:gs>
                </a:gsLst>
                <a:path path="rect">
                  <a:fillToRect l="100000" t="10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5" name="AutoShape 133"/>
              <p:cNvSpPr>
                <a:spLocks noChangeArrowheads="1"/>
              </p:cNvSpPr>
              <p:nvPr/>
            </p:nvSpPr>
            <p:spPr bwMode="auto">
              <a:xfrm>
                <a:off x="4743" y="3204"/>
                <a:ext cx="295" cy="427"/>
              </a:xfrm>
              <a:prstGeom prst="can">
                <a:avLst>
                  <a:gd name="adj" fmla="val 56659"/>
                </a:avLst>
              </a:prstGeom>
              <a:gradFill rotWithShape="0">
                <a:gsLst>
                  <a:gs pos="0">
                    <a:srgbClr val="762F00"/>
                  </a:gs>
                  <a:gs pos="50000">
                    <a:srgbClr val="FF6600"/>
                  </a:gs>
                  <a:gs pos="100000">
                    <a:srgbClr val="762F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6" name="Oval 134"/>
              <p:cNvSpPr>
                <a:spLocks noChangeArrowheads="1"/>
              </p:cNvSpPr>
              <p:nvPr/>
            </p:nvSpPr>
            <p:spPr bwMode="auto">
              <a:xfrm>
                <a:off x="4789" y="3251"/>
                <a:ext cx="195" cy="68"/>
              </a:xfrm>
              <a:prstGeom prst="ellipse">
                <a:avLst/>
              </a:prstGeom>
              <a:gradFill rotWithShape="0">
                <a:gsLst>
                  <a:gs pos="0">
                    <a:srgbClr val="765E2F"/>
                  </a:gs>
                  <a:gs pos="50000">
                    <a:srgbClr val="FFCC66"/>
                  </a:gs>
                  <a:gs pos="100000">
                    <a:srgbClr val="765E2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7" name="Freeform 135"/>
              <p:cNvSpPr>
                <a:spLocks noChangeArrowheads="1"/>
              </p:cNvSpPr>
              <p:nvPr/>
            </p:nvSpPr>
            <p:spPr bwMode="auto">
              <a:xfrm>
                <a:off x="4760" y="3396"/>
                <a:ext cx="688" cy="604"/>
              </a:xfrm>
              <a:custGeom>
                <a:avLst/>
                <a:gdLst>
                  <a:gd name="T0" fmla="*/ 0 w 688"/>
                  <a:gd name="T1" fmla="*/ 496 h 604"/>
                  <a:gd name="T2" fmla="*/ 0 w 688"/>
                  <a:gd name="T3" fmla="*/ 604 h 604"/>
                  <a:gd name="T4" fmla="*/ 688 w 688"/>
                  <a:gd name="T5" fmla="*/ 96 h 604"/>
                  <a:gd name="T6" fmla="*/ 688 w 688"/>
                  <a:gd name="T7" fmla="*/ 0 h 604"/>
                  <a:gd name="T8" fmla="*/ 0 w 688"/>
                  <a:gd name="T9" fmla="*/ 496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8" h="604">
                    <a:moveTo>
                      <a:pt x="0" y="496"/>
                    </a:moveTo>
                    <a:lnTo>
                      <a:pt x="0" y="604"/>
                    </a:lnTo>
                    <a:lnTo>
                      <a:pt x="688" y="96"/>
                    </a:lnTo>
                    <a:lnTo>
                      <a:pt x="688" y="0"/>
                    </a:lnTo>
                    <a:lnTo>
                      <a:pt x="0" y="496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005300"/>
                  </a:gs>
                  <a:gs pos="50000">
                    <a:srgbClr val="00B400"/>
                  </a:gs>
                  <a:gs pos="100000">
                    <a:srgbClr val="0053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14" name="Group 136"/>
            <p:cNvGrpSpPr>
              <a:grpSpLocks/>
            </p:cNvGrpSpPr>
            <p:nvPr/>
          </p:nvGrpSpPr>
          <p:grpSpPr bwMode="auto">
            <a:xfrm>
              <a:off x="4090" y="1736"/>
              <a:ext cx="1419" cy="1337"/>
              <a:chOff x="4090" y="1736"/>
              <a:chExt cx="1419" cy="1337"/>
            </a:xfrm>
          </p:grpSpPr>
          <p:sp>
            <p:nvSpPr>
              <p:cNvPr id="115" name="Rectangle 137"/>
              <p:cNvSpPr>
                <a:spLocks noChangeArrowheads="1"/>
              </p:cNvSpPr>
              <p:nvPr/>
            </p:nvSpPr>
            <p:spPr bwMode="auto">
              <a:xfrm>
                <a:off x="4709" y="1991"/>
                <a:ext cx="206" cy="385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6" name="Freeform 138"/>
              <p:cNvSpPr>
                <a:spLocks noChangeArrowheads="1"/>
              </p:cNvSpPr>
              <p:nvPr/>
            </p:nvSpPr>
            <p:spPr bwMode="auto">
              <a:xfrm>
                <a:off x="4648" y="2307"/>
                <a:ext cx="65" cy="69"/>
              </a:xfrm>
              <a:custGeom>
                <a:avLst/>
                <a:gdLst>
                  <a:gd name="T0" fmla="*/ 0 w 65"/>
                  <a:gd name="T1" fmla="*/ 69 h 69"/>
                  <a:gd name="T2" fmla="*/ 65 w 65"/>
                  <a:gd name="T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5" h="69">
                    <a:moveTo>
                      <a:pt x="0" y="69"/>
                    </a:moveTo>
                    <a:lnTo>
                      <a:pt x="6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7" name="Freeform 139"/>
              <p:cNvSpPr>
                <a:spLocks noChangeArrowheads="1"/>
              </p:cNvSpPr>
              <p:nvPr/>
            </p:nvSpPr>
            <p:spPr bwMode="auto">
              <a:xfrm>
                <a:off x="4356" y="2205"/>
                <a:ext cx="111" cy="1"/>
              </a:xfrm>
              <a:custGeom>
                <a:avLst/>
                <a:gdLst>
                  <a:gd name="T0" fmla="*/ 0 w 111"/>
                  <a:gd name="T1" fmla="*/ 1 h 1"/>
                  <a:gd name="T2" fmla="*/ 111 w 11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11" h="1">
                    <a:moveTo>
                      <a:pt x="0" y="1"/>
                    </a:moveTo>
                    <a:lnTo>
                      <a:pt x="11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8" name="Freeform 140"/>
              <p:cNvSpPr>
                <a:spLocks noChangeArrowheads="1"/>
              </p:cNvSpPr>
              <p:nvPr/>
            </p:nvSpPr>
            <p:spPr bwMode="auto">
              <a:xfrm>
                <a:off x="4360" y="2376"/>
                <a:ext cx="901" cy="0"/>
              </a:xfrm>
              <a:custGeom>
                <a:avLst/>
                <a:gdLst>
                  <a:gd name="T0" fmla="*/ 0 w 1396"/>
                  <a:gd name="T1" fmla="*/ 0 h 1"/>
                  <a:gd name="T2" fmla="*/ 1396 w 1396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96" h="1">
                    <a:moveTo>
                      <a:pt x="0" y="0"/>
                    </a:moveTo>
                    <a:lnTo>
                      <a:pt x="13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9" name="Freeform 141"/>
              <p:cNvSpPr>
                <a:spLocks noChangeArrowheads="1"/>
              </p:cNvSpPr>
              <p:nvPr/>
            </p:nvSpPr>
            <p:spPr bwMode="auto">
              <a:xfrm>
                <a:off x="4362" y="2199"/>
                <a:ext cx="1" cy="186"/>
              </a:xfrm>
              <a:custGeom>
                <a:avLst/>
                <a:gdLst>
                  <a:gd name="T0" fmla="*/ 0 w 1"/>
                  <a:gd name="T1" fmla="*/ 186 h 186"/>
                  <a:gd name="T2" fmla="*/ 0 w 1"/>
                  <a:gd name="T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86">
                    <a:moveTo>
                      <a:pt x="0" y="186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0" name="Freeform 142"/>
              <p:cNvSpPr>
                <a:spLocks noChangeArrowheads="1"/>
              </p:cNvSpPr>
              <p:nvPr/>
            </p:nvSpPr>
            <p:spPr bwMode="auto">
              <a:xfrm>
                <a:off x="5256" y="2202"/>
                <a:ext cx="1" cy="174"/>
              </a:xfrm>
              <a:custGeom>
                <a:avLst/>
                <a:gdLst>
                  <a:gd name="T0" fmla="*/ 1 w 1"/>
                  <a:gd name="T1" fmla="*/ 174 h 174"/>
                  <a:gd name="T2" fmla="*/ 0 w 1"/>
                  <a:gd name="T3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74">
                    <a:moveTo>
                      <a:pt x="1" y="174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1" name="Freeform 143"/>
              <p:cNvSpPr>
                <a:spLocks noChangeArrowheads="1"/>
              </p:cNvSpPr>
              <p:nvPr/>
            </p:nvSpPr>
            <p:spPr bwMode="auto">
              <a:xfrm>
                <a:off x="5153" y="2200"/>
                <a:ext cx="115" cy="1"/>
              </a:xfrm>
              <a:custGeom>
                <a:avLst/>
                <a:gdLst>
                  <a:gd name="T0" fmla="*/ 178 w 178"/>
                  <a:gd name="T1" fmla="*/ 0 h 1"/>
                  <a:gd name="T2" fmla="*/ 0 w 178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78" h="1">
                    <a:moveTo>
                      <a:pt x="17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2" name="Line 144"/>
              <p:cNvSpPr>
                <a:spLocks noChangeShapeType="1"/>
              </p:cNvSpPr>
              <p:nvPr/>
            </p:nvSpPr>
            <p:spPr bwMode="auto">
              <a:xfrm flipV="1">
                <a:off x="4462" y="2206"/>
                <a:ext cx="0" cy="8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" name="Freeform 145"/>
              <p:cNvSpPr>
                <a:spLocks noChangeArrowheads="1"/>
              </p:cNvSpPr>
              <p:nvPr/>
            </p:nvSpPr>
            <p:spPr bwMode="auto">
              <a:xfrm>
                <a:off x="4360" y="2294"/>
                <a:ext cx="290" cy="1"/>
              </a:xfrm>
              <a:custGeom>
                <a:avLst/>
                <a:gdLst>
                  <a:gd name="T0" fmla="*/ 0 w 290"/>
                  <a:gd name="T1" fmla="*/ 0 h 1"/>
                  <a:gd name="T2" fmla="*/ 290 w 290"/>
                  <a:gd name="T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90" h="1">
                    <a:moveTo>
                      <a:pt x="0" y="0"/>
                    </a:moveTo>
                    <a:lnTo>
                      <a:pt x="29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4" name="Freeform 146"/>
              <p:cNvSpPr>
                <a:spLocks noChangeArrowheads="1"/>
              </p:cNvSpPr>
              <p:nvPr/>
            </p:nvSpPr>
            <p:spPr bwMode="auto">
              <a:xfrm>
                <a:off x="4646" y="1985"/>
                <a:ext cx="1" cy="313"/>
              </a:xfrm>
              <a:custGeom>
                <a:avLst/>
                <a:gdLst>
                  <a:gd name="T0" fmla="*/ 1 w 1"/>
                  <a:gd name="T1" fmla="*/ 313 h 313"/>
                  <a:gd name="T2" fmla="*/ 0 w 1"/>
                  <a:gd name="T3" fmla="*/ 0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13">
                    <a:moveTo>
                      <a:pt x="1" y="313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5" name="Freeform 147"/>
              <p:cNvSpPr>
                <a:spLocks noChangeArrowheads="1"/>
              </p:cNvSpPr>
              <p:nvPr/>
            </p:nvSpPr>
            <p:spPr bwMode="auto">
              <a:xfrm>
                <a:off x="4648" y="1991"/>
                <a:ext cx="342" cy="1"/>
              </a:xfrm>
              <a:custGeom>
                <a:avLst/>
                <a:gdLst>
                  <a:gd name="T0" fmla="*/ 0 w 342"/>
                  <a:gd name="T1" fmla="*/ 1 h 1"/>
                  <a:gd name="T2" fmla="*/ 342 w 342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42" h="1">
                    <a:moveTo>
                      <a:pt x="0" y="1"/>
                    </a:moveTo>
                    <a:lnTo>
                      <a:pt x="34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6" name="Freeform 148"/>
              <p:cNvSpPr>
                <a:spLocks noChangeArrowheads="1"/>
              </p:cNvSpPr>
              <p:nvPr/>
            </p:nvSpPr>
            <p:spPr bwMode="auto">
              <a:xfrm>
                <a:off x="4986" y="2294"/>
                <a:ext cx="271" cy="1"/>
              </a:xfrm>
              <a:custGeom>
                <a:avLst/>
                <a:gdLst>
                  <a:gd name="T0" fmla="*/ 271 w 271"/>
                  <a:gd name="T1" fmla="*/ 0 h 1"/>
                  <a:gd name="T2" fmla="*/ 0 w 271"/>
                  <a:gd name="T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1" h="1">
                    <a:moveTo>
                      <a:pt x="271" y="0"/>
                    </a:moveTo>
                    <a:lnTo>
                      <a:pt x="0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7" name="Freeform 149"/>
              <p:cNvSpPr>
                <a:spLocks noChangeArrowheads="1"/>
              </p:cNvSpPr>
              <p:nvPr/>
            </p:nvSpPr>
            <p:spPr bwMode="auto">
              <a:xfrm>
                <a:off x="4978" y="1989"/>
                <a:ext cx="1" cy="311"/>
              </a:xfrm>
              <a:custGeom>
                <a:avLst/>
                <a:gdLst>
                  <a:gd name="T0" fmla="*/ 0 w 1"/>
                  <a:gd name="T1" fmla="*/ 311 h 311"/>
                  <a:gd name="T2" fmla="*/ 0 w 1"/>
                  <a:gd name="T3" fmla="*/ 0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11">
                    <a:moveTo>
                      <a:pt x="0" y="311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8" name="Freeform 150"/>
              <p:cNvSpPr>
                <a:spLocks noChangeArrowheads="1"/>
              </p:cNvSpPr>
              <p:nvPr/>
            </p:nvSpPr>
            <p:spPr bwMode="auto">
              <a:xfrm>
                <a:off x="5160" y="2205"/>
                <a:ext cx="1" cy="89"/>
              </a:xfrm>
              <a:custGeom>
                <a:avLst/>
                <a:gdLst>
                  <a:gd name="T0" fmla="*/ 0 w 1"/>
                  <a:gd name="T1" fmla="*/ 285 h 285"/>
                  <a:gd name="T2" fmla="*/ 0 w 1"/>
                  <a:gd name="T3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285">
                    <a:moveTo>
                      <a:pt x="0" y="285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9" name="Text Box 151"/>
              <p:cNvSpPr txBox="1">
                <a:spLocks noChangeArrowheads="1"/>
              </p:cNvSpPr>
              <p:nvPr/>
            </p:nvSpPr>
            <p:spPr bwMode="auto">
              <a:xfrm>
                <a:off x="4570" y="1736"/>
                <a:ext cx="43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lang="en-US" altLang="zh-CN" sz="2000" i="1">
                    <a:latin typeface="宋体" panose="02010600030101010101" pitchFamily="2" charset="-122"/>
                  </a:rPr>
                  <a:t>C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－</a:t>
                </a:r>
                <a:r>
                  <a:rPr lang="en-US" altLang="zh-CN" sz="2000" i="1">
                    <a:latin typeface="宋体" panose="02010600030101010101" pitchFamily="2" charset="-122"/>
                  </a:rPr>
                  <a:t>C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Freeform 152"/>
              <p:cNvSpPr>
                <a:spLocks noChangeArrowheads="1"/>
              </p:cNvSpPr>
              <p:nvPr/>
            </p:nvSpPr>
            <p:spPr bwMode="auto">
              <a:xfrm>
                <a:off x="4813" y="1945"/>
                <a:ext cx="0" cy="457"/>
              </a:xfrm>
              <a:custGeom>
                <a:avLst/>
                <a:gdLst>
                  <a:gd name="T0" fmla="*/ 0 w 1"/>
                  <a:gd name="T1" fmla="*/ 1021 h 1021"/>
                  <a:gd name="T2" fmla="*/ 0 w 1"/>
                  <a:gd name="T3" fmla="*/ 0 h 10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021">
                    <a:moveTo>
                      <a:pt x="0" y="1021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1" name="Freeform 153"/>
              <p:cNvSpPr>
                <a:spLocks noChangeArrowheads="1"/>
              </p:cNvSpPr>
              <p:nvPr/>
            </p:nvSpPr>
            <p:spPr bwMode="auto">
              <a:xfrm>
                <a:off x="4557" y="2217"/>
                <a:ext cx="153" cy="155"/>
              </a:xfrm>
              <a:custGeom>
                <a:avLst/>
                <a:gdLst>
                  <a:gd name="T0" fmla="*/ 0 w 153"/>
                  <a:gd name="T1" fmla="*/ 155 h 155"/>
                  <a:gd name="T2" fmla="*/ 153 w 153"/>
                  <a:gd name="T3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53" h="155">
                    <a:moveTo>
                      <a:pt x="0" y="155"/>
                    </a:moveTo>
                    <a:lnTo>
                      <a:pt x="153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2" name="Line 154"/>
              <p:cNvSpPr>
                <a:spLocks noChangeShapeType="1"/>
              </p:cNvSpPr>
              <p:nvPr/>
            </p:nvSpPr>
            <p:spPr bwMode="auto">
              <a:xfrm flipV="1">
                <a:off x="4460" y="2294"/>
                <a:ext cx="78" cy="7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" name="Freeform 155"/>
              <p:cNvSpPr>
                <a:spLocks noChangeArrowheads="1"/>
              </p:cNvSpPr>
              <p:nvPr/>
            </p:nvSpPr>
            <p:spPr bwMode="auto">
              <a:xfrm>
                <a:off x="4352" y="2294"/>
                <a:ext cx="79" cy="82"/>
              </a:xfrm>
              <a:custGeom>
                <a:avLst/>
                <a:gdLst>
                  <a:gd name="T0" fmla="*/ 0 w 79"/>
                  <a:gd name="T1" fmla="*/ 82 h 82"/>
                  <a:gd name="T2" fmla="*/ 79 w 79"/>
                  <a:gd name="T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79" h="82">
                    <a:moveTo>
                      <a:pt x="0" y="82"/>
                    </a:moveTo>
                    <a:lnTo>
                      <a:pt x="7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4" name="Line 156"/>
              <p:cNvSpPr>
                <a:spLocks noChangeShapeType="1"/>
              </p:cNvSpPr>
              <p:nvPr/>
            </p:nvSpPr>
            <p:spPr bwMode="auto">
              <a:xfrm flipV="1">
                <a:off x="4638" y="2130"/>
                <a:ext cx="68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5" name="Freeform 157"/>
              <p:cNvSpPr>
                <a:spLocks noChangeArrowheads="1"/>
              </p:cNvSpPr>
              <p:nvPr/>
            </p:nvSpPr>
            <p:spPr bwMode="auto">
              <a:xfrm>
                <a:off x="4644" y="2036"/>
                <a:ext cx="65" cy="67"/>
              </a:xfrm>
              <a:custGeom>
                <a:avLst/>
                <a:gdLst>
                  <a:gd name="T0" fmla="*/ 0 w 65"/>
                  <a:gd name="T1" fmla="*/ 67 h 67"/>
                  <a:gd name="T2" fmla="*/ 65 w 65"/>
                  <a:gd name="T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5" h="67">
                    <a:moveTo>
                      <a:pt x="0" y="67"/>
                    </a:moveTo>
                    <a:lnTo>
                      <a:pt x="6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6" name="Freeform 158"/>
              <p:cNvSpPr>
                <a:spLocks noChangeArrowheads="1"/>
              </p:cNvSpPr>
              <p:nvPr/>
            </p:nvSpPr>
            <p:spPr bwMode="auto">
              <a:xfrm>
                <a:off x="4922" y="2036"/>
                <a:ext cx="58" cy="59"/>
              </a:xfrm>
              <a:custGeom>
                <a:avLst/>
                <a:gdLst>
                  <a:gd name="T0" fmla="*/ 0 w 90"/>
                  <a:gd name="T1" fmla="*/ 91 h 91"/>
                  <a:gd name="T2" fmla="*/ 90 w 90"/>
                  <a:gd name="T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0" h="91">
                    <a:moveTo>
                      <a:pt x="0" y="91"/>
                    </a:moveTo>
                    <a:lnTo>
                      <a:pt x="9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7" name="Freeform 159"/>
              <p:cNvSpPr>
                <a:spLocks noChangeArrowheads="1"/>
              </p:cNvSpPr>
              <p:nvPr/>
            </p:nvSpPr>
            <p:spPr bwMode="auto">
              <a:xfrm>
                <a:off x="4913" y="2130"/>
                <a:ext cx="64" cy="63"/>
              </a:xfrm>
              <a:custGeom>
                <a:avLst/>
                <a:gdLst>
                  <a:gd name="T0" fmla="*/ 0 w 64"/>
                  <a:gd name="T1" fmla="*/ 63 h 63"/>
                  <a:gd name="T2" fmla="*/ 64 w 64"/>
                  <a:gd name="T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4" h="63">
                    <a:moveTo>
                      <a:pt x="0" y="63"/>
                    </a:moveTo>
                    <a:lnTo>
                      <a:pt x="6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8" name="Freeform 160"/>
              <p:cNvSpPr>
                <a:spLocks noChangeArrowheads="1"/>
              </p:cNvSpPr>
              <p:nvPr/>
            </p:nvSpPr>
            <p:spPr bwMode="auto">
              <a:xfrm>
                <a:off x="4912" y="2216"/>
                <a:ext cx="64" cy="80"/>
              </a:xfrm>
              <a:custGeom>
                <a:avLst/>
                <a:gdLst>
                  <a:gd name="T0" fmla="*/ 0 w 64"/>
                  <a:gd name="T1" fmla="*/ 80 h 80"/>
                  <a:gd name="T2" fmla="*/ 64 w 64"/>
                  <a:gd name="T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4" h="80">
                    <a:moveTo>
                      <a:pt x="0" y="80"/>
                    </a:moveTo>
                    <a:lnTo>
                      <a:pt x="6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9" name="Freeform 161"/>
              <p:cNvSpPr>
                <a:spLocks noChangeArrowheads="1"/>
              </p:cNvSpPr>
              <p:nvPr/>
            </p:nvSpPr>
            <p:spPr bwMode="auto">
              <a:xfrm>
                <a:off x="5040" y="2288"/>
                <a:ext cx="88" cy="88"/>
              </a:xfrm>
              <a:custGeom>
                <a:avLst/>
                <a:gdLst>
                  <a:gd name="T0" fmla="*/ 0 w 88"/>
                  <a:gd name="T1" fmla="*/ 88 h 88"/>
                  <a:gd name="T2" fmla="*/ 88 w 88"/>
                  <a:gd name="T3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8" h="88">
                    <a:moveTo>
                      <a:pt x="0" y="88"/>
                    </a:moveTo>
                    <a:lnTo>
                      <a:pt x="88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0" name="Freeform 162"/>
              <p:cNvSpPr>
                <a:spLocks noChangeArrowheads="1"/>
              </p:cNvSpPr>
              <p:nvPr/>
            </p:nvSpPr>
            <p:spPr bwMode="auto">
              <a:xfrm>
                <a:off x="5136" y="2294"/>
                <a:ext cx="80" cy="82"/>
              </a:xfrm>
              <a:custGeom>
                <a:avLst/>
                <a:gdLst>
                  <a:gd name="T0" fmla="*/ 0 w 80"/>
                  <a:gd name="T1" fmla="*/ 82 h 82"/>
                  <a:gd name="T2" fmla="*/ 80 w 80"/>
                  <a:gd name="T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0" h="82">
                    <a:moveTo>
                      <a:pt x="0" y="82"/>
                    </a:moveTo>
                    <a:lnTo>
                      <a:pt x="8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1" name="Freeform 163"/>
              <p:cNvSpPr>
                <a:spLocks noChangeArrowheads="1"/>
              </p:cNvSpPr>
              <p:nvPr/>
            </p:nvSpPr>
            <p:spPr bwMode="auto">
              <a:xfrm>
                <a:off x="4936" y="2296"/>
                <a:ext cx="80" cy="80"/>
              </a:xfrm>
              <a:custGeom>
                <a:avLst/>
                <a:gdLst>
                  <a:gd name="T0" fmla="*/ 0 w 80"/>
                  <a:gd name="T1" fmla="*/ 80 h 80"/>
                  <a:gd name="T2" fmla="*/ 80 w 80"/>
                  <a:gd name="T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0" h="80">
                    <a:moveTo>
                      <a:pt x="0" y="80"/>
                    </a:moveTo>
                    <a:lnTo>
                      <a:pt x="8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2" name="Text Box 164"/>
              <p:cNvSpPr txBox="1">
                <a:spLocks noChangeArrowheads="1"/>
              </p:cNvSpPr>
              <p:nvPr/>
            </p:nvSpPr>
            <p:spPr bwMode="auto">
              <a:xfrm>
                <a:off x="4090" y="2738"/>
                <a:ext cx="18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lang="en-US" altLang="zh-CN" sz="2000" i="1">
                    <a:latin typeface="宋体" panose="02010600030101010101" pitchFamily="2" charset="-122"/>
                  </a:rPr>
                  <a:t>C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3" name="Text Box 165"/>
              <p:cNvSpPr txBox="1">
                <a:spLocks noChangeArrowheads="1"/>
              </p:cNvSpPr>
              <p:nvPr/>
            </p:nvSpPr>
            <p:spPr bwMode="auto">
              <a:xfrm flipH="1">
                <a:off x="5372" y="2714"/>
                <a:ext cx="13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lang="en-US" altLang="zh-CN" sz="2000" i="1">
                    <a:latin typeface="宋体" panose="02010600030101010101" pitchFamily="2" charset="-122"/>
                  </a:rPr>
                  <a:t>C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4" name="Rectangle 166"/>
              <p:cNvSpPr>
                <a:spLocks noChangeArrowheads="1"/>
              </p:cNvSpPr>
              <p:nvPr/>
            </p:nvSpPr>
            <p:spPr bwMode="auto">
              <a:xfrm>
                <a:off x="4362" y="2515"/>
                <a:ext cx="896" cy="55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5" name="Freeform 167"/>
              <p:cNvSpPr>
                <a:spLocks noChangeArrowheads="1"/>
              </p:cNvSpPr>
              <p:nvPr/>
            </p:nvSpPr>
            <p:spPr bwMode="auto">
              <a:xfrm>
                <a:off x="4558" y="2851"/>
                <a:ext cx="510" cy="0"/>
              </a:xfrm>
              <a:custGeom>
                <a:avLst/>
                <a:gdLst>
                  <a:gd name="T0" fmla="*/ 0 w 1230"/>
                  <a:gd name="T1" fmla="*/ 0 h 1"/>
                  <a:gd name="T2" fmla="*/ 1230 w 1230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230" h="1">
                    <a:moveTo>
                      <a:pt x="0" y="0"/>
                    </a:moveTo>
                    <a:lnTo>
                      <a:pt x="123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6" name="Freeform 168"/>
              <p:cNvSpPr>
                <a:spLocks noChangeArrowheads="1"/>
              </p:cNvSpPr>
              <p:nvPr/>
            </p:nvSpPr>
            <p:spPr bwMode="auto">
              <a:xfrm>
                <a:off x="4813" y="2630"/>
                <a:ext cx="0" cy="443"/>
              </a:xfrm>
              <a:custGeom>
                <a:avLst/>
                <a:gdLst>
                  <a:gd name="T0" fmla="*/ 0 w 1"/>
                  <a:gd name="T1" fmla="*/ 0 h 990"/>
                  <a:gd name="T2" fmla="*/ 0 w 1"/>
                  <a:gd name="T3" fmla="*/ 99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990">
                    <a:moveTo>
                      <a:pt x="0" y="0"/>
                    </a:moveTo>
                    <a:lnTo>
                      <a:pt x="0" y="99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7" name="Oval 169"/>
              <p:cNvSpPr>
                <a:spLocks noChangeArrowheads="1"/>
              </p:cNvSpPr>
              <p:nvPr/>
            </p:nvSpPr>
            <p:spPr bwMode="auto">
              <a:xfrm>
                <a:off x="4649" y="2680"/>
                <a:ext cx="331" cy="319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8" name="Oval 170"/>
              <p:cNvSpPr>
                <a:spLocks noChangeArrowheads="1"/>
              </p:cNvSpPr>
              <p:nvPr/>
            </p:nvSpPr>
            <p:spPr bwMode="auto">
              <a:xfrm>
                <a:off x="4709" y="2746"/>
                <a:ext cx="206" cy="186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9" name="Freeform 171"/>
              <p:cNvSpPr>
                <a:spLocks noChangeArrowheads="1"/>
              </p:cNvSpPr>
              <p:nvPr/>
            </p:nvSpPr>
            <p:spPr bwMode="auto">
              <a:xfrm>
                <a:off x="4460" y="2621"/>
                <a:ext cx="1" cy="109"/>
              </a:xfrm>
              <a:custGeom>
                <a:avLst/>
                <a:gdLst>
                  <a:gd name="T0" fmla="*/ 0 w 1"/>
                  <a:gd name="T1" fmla="*/ 0 h 109"/>
                  <a:gd name="T2" fmla="*/ 1 w 1"/>
                  <a:gd name="T3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09">
                    <a:moveTo>
                      <a:pt x="0" y="0"/>
                    </a:moveTo>
                    <a:lnTo>
                      <a:pt x="1" y="10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0" name="Freeform 172"/>
              <p:cNvSpPr>
                <a:spLocks noChangeArrowheads="1"/>
              </p:cNvSpPr>
              <p:nvPr/>
            </p:nvSpPr>
            <p:spPr bwMode="auto">
              <a:xfrm>
                <a:off x="4460" y="2621"/>
                <a:ext cx="708" cy="0"/>
              </a:xfrm>
              <a:custGeom>
                <a:avLst/>
                <a:gdLst>
                  <a:gd name="T0" fmla="*/ 0 w 1096"/>
                  <a:gd name="T1" fmla="*/ 0 h 1"/>
                  <a:gd name="T2" fmla="*/ 1096 w 1096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096" h="1">
                    <a:moveTo>
                      <a:pt x="0" y="0"/>
                    </a:moveTo>
                    <a:lnTo>
                      <a:pt x="109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1" name="Freeform 173"/>
              <p:cNvSpPr>
                <a:spLocks noChangeArrowheads="1"/>
              </p:cNvSpPr>
              <p:nvPr/>
            </p:nvSpPr>
            <p:spPr bwMode="auto">
              <a:xfrm>
                <a:off x="4362" y="2726"/>
                <a:ext cx="101" cy="2"/>
              </a:xfrm>
              <a:custGeom>
                <a:avLst/>
                <a:gdLst>
                  <a:gd name="T0" fmla="*/ 0 w 157"/>
                  <a:gd name="T1" fmla="*/ 0 h 3"/>
                  <a:gd name="T2" fmla="*/ 157 w 157"/>
                  <a:gd name="T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57" h="3">
                    <a:moveTo>
                      <a:pt x="0" y="0"/>
                    </a:moveTo>
                    <a:lnTo>
                      <a:pt x="157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2" name="Line 174"/>
              <p:cNvSpPr>
                <a:spLocks noChangeShapeType="1"/>
              </p:cNvSpPr>
              <p:nvPr/>
            </p:nvSpPr>
            <p:spPr bwMode="auto">
              <a:xfrm>
                <a:off x="5160" y="2621"/>
                <a:ext cx="0" cy="10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3" name="Freeform 175"/>
              <p:cNvSpPr>
                <a:spLocks noChangeArrowheads="1"/>
              </p:cNvSpPr>
              <p:nvPr/>
            </p:nvSpPr>
            <p:spPr bwMode="auto">
              <a:xfrm>
                <a:off x="5154" y="2727"/>
                <a:ext cx="104" cy="1"/>
              </a:xfrm>
              <a:custGeom>
                <a:avLst/>
                <a:gdLst>
                  <a:gd name="T0" fmla="*/ 0 w 162"/>
                  <a:gd name="T1" fmla="*/ 2 h 2"/>
                  <a:gd name="T2" fmla="*/ 162 w 162"/>
                  <a:gd name="T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62" h="2">
                    <a:moveTo>
                      <a:pt x="0" y="2"/>
                    </a:moveTo>
                    <a:lnTo>
                      <a:pt x="16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4" name="Freeform 176"/>
              <p:cNvSpPr>
                <a:spLocks noChangeArrowheads="1"/>
              </p:cNvSpPr>
              <p:nvPr/>
            </p:nvSpPr>
            <p:spPr bwMode="auto">
              <a:xfrm>
                <a:off x="5292" y="2856"/>
                <a:ext cx="77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5" name="Freeform 177"/>
              <p:cNvSpPr>
                <a:spLocks noChangeArrowheads="1"/>
              </p:cNvSpPr>
              <p:nvPr/>
            </p:nvSpPr>
            <p:spPr bwMode="auto">
              <a:xfrm>
                <a:off x="4252" y="2856"/>
                <a:ext cx="77" cy="0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sp>
        <p:nvSpPr>
          <p:cNvPr id="178" name="Rectangle 178"/>
          <p:cNvSpPr>
            <a:spLocks noChangeArrowheads="1"/>
          </p:cNvSpPr>
          <p:nvPr/>
        </p:nvSpPr>
        <p:spPr bwMode="auto">
          <a:xfrm>
            <a:off x="2155825" y="5102225"/>
            <a:ext cx="8255866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000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en-US" altLang="zh-CN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剖切是假想的</a:t>
            </a:r>
            <a:r>
              <a:rPr lang="zh-CN" altLang="en-US" sz="1800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。</a:t>
            </a: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虽然物体的某个图形画成了剖视图，但物</a:t>
            </a:r>
          </a:p>
          <a:p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   体是完整的。所以其他视图应按完整的机件画出。 </a:t>
            </a:r>
          </a:p>
        </p:txBody>
      </p:sp>
    </p:spTree>
    <p:extLst>
      <p:ext uri="{BB962C8B-B14F-4D97-AF65-F5344CB8AC3E}">
        <p14:creationId xmlns:p14="http://schemas.microsoft.com/office/powerpoint/2010/main" val="34091614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" dur="1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78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>
          <a:xfrm>
            <a:off x="933914" y="323533"/>
            <a:ext cx="5011275" cy="622300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28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en-US" altLang="zh-CN" dirty="0"/>
              <a:t>  </a:t>
            </a:r>
            <a:r>
              <a:rPr lang="zh-CN" altLang="en-US" dirty="0"/>
              <a:t>画剖视图应注意的问题</a:t>
            </a:r>
            <a:r>
              <a:rPr lang="en-US" altLang="zh-CN" dirty="0"/>
              <a:t>(</a:t>
            </a:r>
            <a:r>
              <a:rPr lang="zh-CN" altLang="en-US" dirty="0"/>
              <a:t>二</a:t>
            </a:r>
            <a:r>
              <a:rPr lang="en-US" altLang="zh-CN" dirty="0"/>
              <a:t>)</a:t>
            </a: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6596064" y="4145577"/>
            <a:ext cx="481791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49263" indent="-449263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b="0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★</a:t>
            </a:r>
            <a:r>
              <a:rPr lang="en-US" altLang="zh-CN" b="0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 </a:t>
            </a:r>
            <a:r>
              <a:rPr lang="zh-CN" altLang="en-US" b="0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在剖视图中的不可见轮廓线一般省略</a:t>
            </a:r>
            <a:r>
              <a:rPr lang="zh-CN" altLang="en-US" b="0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不画</a:t>
            </a:r>
            <a:r>
              <a:rPr lang="zh-CN" altLang="en-US" b="0" dirty="0"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；对没有表达清楚的结构，允许画少量虚线。</a:t>
            </a:r>
          </a:p>
        </p:txBody>
      </p:sp>
      <p:grpSp>
        <p:nvGrpSpPr>
          <p:cNvPr id="4" name="Group 4"/>
          <p:cNvGrpSpPr>
            <a:grpSpLocks/>
          </p:cNvGrpSpPr>
          <p:nvPr/>
        </p:nvGrpSpPr>
        <p:grpSpPr bwMode="auto">
          <a:xfrm>
            <a:off x="2579688" y="1014413"/>
            <a:ext cx="3181350" cy="2209800"/>
            <a:chOff x="665" y="639"/>
            <a:chExt cx="1669" cy="1160"/>
          </a:xfrm>
        </p:grpSpPr>
        <p:sp>
          <p:nvSpPr>
            <p:cNvPr id="5" name="Arc 5"/>
            <p:cNvSpPr>
              <a:spLocks noChangeArrowheads="1"/>
            </p:cNvSpPr>
            <p:nvPr/>
          </p:nvSpPr>
          <p:spPr bwMode="auto">
            <a:xfrm flipH="1">
              <a:off x="2006" y="778"/>
              <a:ext cx="178" cy="89"/>
            </a:xfrm>
            <a:custGeom>
              <a:avLst/>
              <a:gdLst>
                <a:gd name="T0" fmla="*/ 0 w 43199"/>
                <a:gd name="T1" fmla="*/ 21346 h 21600"/>
                <a:gd name="T2" fmla="*/ 21599 w 43199"/>
                <a:gd name="T3" fmla="*/ 0 h 21600"/>
                <a:gd name="T4" fmla="*/ 43199 w 43199"/>
                <a:gd name="T5" fmla="*/ 21600 h 21600"/>
                <a:gd name="T6" fmla="*/ 0 w 43199"/>
                <a:gd name="T7" fmla="*/ 21346 h 21600"/>
                <a:gd name="T8" fmla="*/ 21599 w 43199"/>
                <a:gd name="T9" fmla="*/ 0 h 21600"/>
                <a:gd name="T10" fmla="*/ 43199 w 43199"/>
                <a:gd name="T11" fmla="*/ 21600 h 21600"/>
                <a:gd name="T12" fmla="*/ 21599 w 43199"/>
                <a:gd name="T13" fmla="*/ 216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199" h="21600" fill="none">
                  <a:moveTo>
                    <a:pt x="0" y="21346"/>
                  </a:moveTo>
                  <a:cubicBezTo>
                    <a:pt x="139" y="9516"/>
                    <a:pt x="9768" y="-1"/>
                    <a:pt x="21599" y="0"/>
                  </a:cubicBezTo>
                  <a:cubicBezTo>
                    <a:pt x="33528" y="0"/>
                    <a:pt x="43199" y="9670"/>
                    <a:pt x="43199" y="21600"/>
                  </a:cubicBezTo>
                </a:path>
                <a:path w="43199" h="21600" stroke="0">
                  <a:moveTo>
                    <a:pt x="0" y="21346"/>
                  </a:moveTo>
                  <a:cubicBezTo>
                    <a:pt x="139" y="9516"/>
                    <a:pt x="9768" y="-1"/>
                    <a:pt x="21599" y="0"/>
                  </a:cubicBezTo>
                  <a:cubicBezTo>
                    <a:pt x="33528" y="0"/>
                    <a:pt x="43199" y="9670"/>
                    <a:pt x="43199" y="21600"/>
                  </a:cubicBezTo>
                  <a:lnTo>
                    <a:pt x="21599" y="21600"/>
                  </a:lnTo>
                  <a:close/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" name="Oval 6"/>
            <p:cNvSpPr>
              <a:spLocks noChangeArrowheads="1"/>
            </p:cNvSpPr>
            <p:nvPr/>
          </p:nvSpPr>
          <p:spPr bwMode="auto">
            <a:xfrm>
              <a:off x="2049" y="822"/>
              <a:ext cx="88" cy="88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>
              <a:off x="1983" y="672"/>
              <a:ext cx="0" cy="457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" name="Line 8"/>
            <p:cNvSpPr>
              <a:spLocks noChangeShapeType="1"/>
            </p:cNvSpPr>
            <p:nvPr/>
          </p:nvSpPr>
          <p:spPr bwMode="auto">
            <a:xfrm>
              <a:off x="2202" y="672"/>
              <a:ext cx="0" cy="457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" name="Line 9"/>
            <p:cNvSpPr>
              <a:spLocks noChangeShapeType="1"/>
            </p:cNvSpPr>
            <p:nvPr/>
          </p:nvSpPr>
          <p:spPr bwMode="auto">
            <a:xfrm>
              <a:off x="1975" y="866"/>
              <a:ext cx="23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" name="Freeform 10"/>
            <p:cNvSpPr>
              <a:spLocks noChangeArrowheads="1"/>
            </p:cNvSpPr>
            <p:nvPr/>
          </p:nvSpPr>
          <p:spPr bwMode="auto">
            <a:xfrm>
              <a:off x="1920" y="672"/>
              <a:ext cx="1" cy="342"/>
            </a:xfrm>
            <a:custGeom>
              <a:avLst/>
              <a:gdLst>
                <a:gd name="T0" fmla="*/ 0 w 1"/>
                <a:gd name="T1" fmla="*/ 0 h 342"/>
                <a:gd name="T2" fmla="*/ 0 w 1"/>
                <a:gd name="T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42">
                  <a:moveTo>
                    <a:pt x="0" y="0"/>
                  </a:moveTo>
                  <a:lnTo>
                    <a:pt x="0" y="34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" name="Line 11"/>
            <p:cNvSpPr>
              <a:spLocks noChangeShapeType="1"/>
            </p:cNvSpPr>
            <p:nvPr/>
          </p:nvSpPr>
          <p:spPr bwMode="auto">
            <a:xfrm>
              <a:off x="2268" y="666"/>
              <a:ext cx="0" cy="34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" name="Rectangle 12"/>
            <p:cNvSpPr>
              <a:spLocks noChangeArrowheads="1"/>
            </p:cNvSpPr>
            <p:nvPr/>
          </p:nvSpPr>
          <p:spPr bwMode="auto">
            <a:xfrm>
              <a:off x="1851" y="1014"/>
              <a:ext cx="483" cy="114"/>
            </a:xfrm>
            <a:prstGeom prst="rect">
              <a:avLst/>
            </a:prstGeom>
            <a:noFill/>
            <a:ln w="254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" name="Arc 13"/>
            <p:cNvSpPr>
              <a:spLocks noChangeArrowheads="1"/>
            </p:cNvSpPr>
            <p:nvPr/>
          </p:nvSpPr>
          <p:spPr bwMode="auto">
            <a:xfrm flipV="1">
              <a:off x="1427" y="1274"/>
              <a:ext cx="285" cy="486"/>
            </a:xfrm>
            <a:custGeom>
              <a:avLst/>
              <a:gdLst>
                <a:gd name="T0" fmla="*/ 938 w 25292"/>
                <a:gd name="T1" fmla="*/ 176 h 43200"/>
                <a:gd name="T2" fmla="*/ 3692 w 25292"/>
                <a:gd name="T3" fmla="*/ 0 h 43200"/>
                <a:gd name="T4" fmla="*/ 25292 w 25292"/>
                <a:gd name="T5" fmla="*/ 21600 h 43200"/>
                <a:gd name="T6" fmla="*/ 3692 w 25292"/>
                <a:gd name="T7" fmla="*/ 43200 h 43200"/>
                <a:gd name="T8" fmla="*/ -1 w 25292"/>
                <a:gd name="T9" fmla="*/ 42882 h 43200"/>
                <a:gd name="T10" fmla="*/ 938 w 25292"/>
                <a:gd name="T11" fmla="*/ 176 h 43200"/>
                <a:gd name="T12" fmla="*/ 3692 w 25292"/>
                <a:gd name="T13" fmla="*/ 0 h 43200"/>
                <a:gd name="T14" fmla="*/ 25292 w 25292"/>
                <a:gd name="T15" fmla="*/ 21600 h 43200"/>
                <a:gd name="T16" fmla="*/ 3692 w 25292"/>
                <a:gd name="T17" fmla="*/ 43200 h 43200"/>
                <a:gd name="T18" fmla="*/ -1 w 25292"/>
                <a:gd name="T19" fmla="*/ 42882 h 43200"/>
                <a:gd name="T20" fmla="*/ 3692 w 25292"/>
                <a:gd name="T21" fmla="*/ 21600 h 43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292" h="43200" fill="none">
                  <a:moveTo>
                    <a:pt x="938" y="176"/>
                  </a:moveTo>
                  <a:cubicBezTo>
                    <a:pt x="1851" y="58"/>
                    <a:pt x="2771" y="-1"/>
                    <a:pt x="3692" y="0"/>
                  </a:cubicBezTo>
                  <a:cubicBezTo>
                    <a:pt x="15621" y="0"/>
                    <a:pt x="25292" y="9670"/>
                    <a:pt x="25292" y="21600"/>
                  </a:cubicBezTo>
                  <a:cubicBezTo>
                    <a:pt x="25292" y="33529"/>
                    <a:pt x="15621" y="43200"/>
                    <a:pt x="3692" y="43200"/>
                  </a:cubicBezTo>
                  <a:cubicBezTo>
                    <a:pt x="2454" y="43200"/>
                    <a:pt x="1219" y="43093"/>
                    <a:pt x="-1" y="42882"/>
                  </a:cubicBezTo>
                </a:path>
                <a:path w="25292" h="43200" stroke="0">
                  <a:moveTo>
                    <a:pt x="938" y="176"/>
                  </a:moveTo>
                  <a:cubicBezTo>
                    <a:pt x="1851" y="58"/>
                    <a:pt x="2771" y="-1"/>
                    <a:pt x="3692" y="0"/>
                  </a:cubicBezTo>
                  <a:cubicBezTo>
                    <a:pt x="15621" y="0"/>
                    <a:pt x="25292" y="9670"/>
                    <a:pt x="25292" y="21600"/>
                  </a:cubicBezTo>
                  <a:cubicBezTo>
                    <a:pt x="25292" y="33529"/>
                    <a:pt x="15621" y="43200"/>
                    <a:pt x="3692" y="43200"/>
                  </a:cubicBezTo>
                  <a:cubicBezTo>
                    <a:pt x="2454" y="43200"/>
                    <a:pt x="1219" y="43093"/>
                    <a:pt x="-1" y="42882"/>
                  </a:cubicBezTo>
                  <a:lnTo>
                    <a:pt x="3692" y="21600"/>
                  </a:lnTo>
                  <a:close/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" name="Oval 14"/>
            <p:cNvSpPr>
              <a:spLocks noChangeArrowheads="1"/>
            </p:cNvSpPr>
            <p:nvPr/>
          </p:nvSpPr>
          <p:spPr bwMode="auto">
            <a:xfrm>
              <a:off x="1368" y="1416"/>
              <a:ext cx="197" cy="197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" name="Oval 15"/>
            <p:cNvSpPr>
              <a:spLocks noChangeArrowheads="1"/>
            </p:cNvSpPr>
            <p:nvPr/>
          </p:nvSpPr>
          <p:spPr bwMode="auto">
            <a:xfrm>
              <a:off x="1294" y="1355"/>
              <a:ext cx="345" cy="329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" name="Oval 16"/>
            <p:cNvSpPr>
              <a:spLocks noChangeArrowheads="1"/>
            </p:cNvSpPr>
            <p:nvPr/>
          </p:nvSpPr>
          <p:spPr bwMode="auto">
            <a:xfrm>
              <a:off x="801" y="1452"/>
              <a:ext cx="139" cy="139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" name="Freeform 17"/>
            <p:cNvSpPr>
              <a:spLocks noChangeArrowheads="1"/>
            </p:cNvSpPr>
            <p:nvPr/>
          </p:nvSpPr>
          <p:spPr bwMode="auto">
            <a:xfrm>
              <a:off x="853" y="1690"/>
              <a:ext cx="587" cy="69"/>
            </a:xfrm>
            <a:custGeom>
              <a:avLst/>
              <a:gdLst>
                <a:gd name="T0" fmla="*/ 0 w 2350"/>
                <a:gd name="T1" fmla="*/ 0 h 300"/>
                <a:gd name="T2" fmla="*/ 2349 w 2350"/>
                <a:gd name="T3" fmla="*/ 300 h 300"/>
                <a:gd name="T4" fmla="*/ 2350 w 2350"/>
                <a:gd name="T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50" h="300">
                  <a:moveTo>
                    <a:pt x="0" y="0"/>
                  </a:moveTo>
                  <a:lnTo>
                    <a:pt x="2349" y="300"/>
                  </a:lnTo>
                  <a:lnTo>
                    <a:pt x="2350" y="30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" name="Freeform 18"/>
            <p:cNvSpPr>
              <a:spLocks noChangeArrowheads="1"/>
            </p:cNvSpPr>
            <p:nvPr/>
          </p:nvSpPr>
          <p:spPr bwMode="auto">
            <a:xfrm>
              <a:off x="853" y="1276"/>
              <a:ext cx="587" cy="70"/>
            </a:xfrm>
            <a:custGeom>
              <a:avLst/>
              <a:gdLst>
                <a:gd name="T0" fmla="*/ 0 w 2350"/>
                <a:gd name="T1" fmla="*/ 301 h 301"/>
                <a:gd name="T2" fmla="*/ 2349 w 2350"/>
                <a:gd name="T3" fmla="*/ 0 h 301"/>
                <a:gd name="T4" fmla="*/ 2350 w 2350"/>
                <a:gd name="T5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50" h="301">
                  <a:moveTo>
                    <a:pt x="0" y="301"/>
                  </a:moveTo>
                  <a:lnTo>
                    <a:pt x="2349" y="0"/>
                  </a:lnTo>
                  <a:lnTo>
                    <a:pt x="2350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" name="Arc 19"/>
            <p:cNvSpPr>
              <a:spLocks noChangeArrowheads="1"/>
            </p:cNvSpPr>
            <p:nvPr/>
          </p:nvSpPr>
          <p:spPr bwMode="auto">
            <a:xfrm flipH="1" flipV="1">
              <a:off x="701" y="1348"/>
              <a:ext cx="173" cy="342"/>
            </a:xfrm>
            <a:custGeom>
              <a:avLst/>
              <a:gdLst>
                <a:gd name="T0" fmla="*/ 3419 w 21600"/>
                <a:gd name="T1" fmla="*/ 0 h 42790"/>
                <a:gd name="T2" fmla="*/ 21600 w 21600"/>
                <a:gd name="T3" fmla="*/ 21328 h 42790"/>
                <a:gd name="T4" fmla="*/ 2434 w 21600"/>
                <a:gd name="T5" fmla="*/ 42790 h 42790"/>
                <a:gd name="T6" fmla="*/ 3419 w 21600"/>
                <a:gd name="T7" fmla="*/ 0 h 42790"/>
                <a:gd name="T8" fmla="*/ 21600 w 21600"/>
                <a:gd name="T9" fmla="*/ 21328 h 42790"/>
                <a:gd name="T10" fmla="*/ 2434 w 21600"/>
                <a:gd name="T11" fmla="*/ 42790 h 42790"/>
                <a:gd name="T12" fmla="*/ 0 w 21600"/>
                <a:gd name="T13" fmla="*/ 21328 h 42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00" h="42790" fill="none">
                  <a:moveTo>
                    <a:pt x="3419" y="0"/>
                  </a:moveTo>
                  <a:cubicBezTo>
                    <a:pt x="13895" y="1680"/>
                    <a:pt x="21600" y="10718"/>
                    <a:pt x="21600" y="21328"/>
                  </a:cubicBezTo>
                  <a:cubicBezTo>
                    <a:pt x="21600" y="32315"/>
                    <a:pt x="13351" y="41552"/>
                    <a:pt x="2434" y="42790"/>
                  </a:cubicBezTo>
                </a:path>
                <a:path w="21600" h="42790" stroke="0">
                  <a:moveTo>
                    <a:pt x="3419" y="0"/>
                  </a:moveTo>
                  <a:cubicBezTo>
                    <a:pt x="13895" y="1680"/>
                    <a:pt x="21600" y="10718"/>
                    <a:pt x="21600" y="21328"/>
                  </a:cubicBezTo>
                  <a:cubicBezTo>
                    <a:pt x="21600" y="32315"/>
                    <a:pt x="13351" y="41552"/>
                    <a:pt x="2434" y="42790"/>
                  </a:cubicBezTo>
                  <a:lnTo>
                    <a:pt x="0" y="21328"/>
                  </a:lnTo>
                  <a:close/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" name="Freeform 20"/>
            <p:cNvSpPr>
              <a:spLocks noChangeArrowheads="1"/>
            </p:cNvSpPr>
            <p:nvPr/>
          </p:nvSpPr>
          <p:spPr bwMode="auto">
            <a:xfrm>
              <a:off x="742" y="966"/>
              <a:ext cx="4" cy="5"/>
            </a:xfrm>
            <a:custGeom>
              <a:avLst/>
              <a:gdLst>
                <a:gd name="T0" fmla="*/ 0 w 19"/>
                <a:gd name="T1" fmla="*/ 18 h 18"/>
                <a:gd name="T2" fmla="*/ 18 w 19"/>
                <a:gd name="T3" fmla="*/ 0 h 18"/>
                <a:gd name="T4" fmla="*/ 19 w 19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8">
                  <a:moveTo>
                    <a:pt x="0" y="18"/>
                  </a:moveTo>
                  <a:lnTo>
                    <a:pt x="18" y="0"/>
                  </a:lnTo>
                  <a:lnTo>
                    <a:pt x="19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" name="Freeform 21"/>
            <p:cNvSpPr>
              <a:spLocks noChangeArrowheads="1"/>
            </p:cNvSpPr>
            <p:nvPr/>
          </p:nvSpPr>
          <p:spPr bwMode="auto">
            <a:xfrm>
              <a:off x="793" y="1122"/>
              <a:ext cx="8" cy="6"/>
            </a:xfrm>
            <a:custGeom>
              <a:avLst/>
              <a:gdLst>
                <a:gd name="T0" fmla="*/ 0 w 30"/>
                <a:gd name="T1" fmla="*/ 30 h 30"/>
                <a:gd name="T2" fmla="*/ 29 w 30"/>
                <a:gd name="T3" fmla="*/ 0 h 30"/>
                <a:gd name="T4" fmla="*/ 30 w 30"/>
                <a:gd name="T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30">
                  <a:moveTo>
                    <a:pt x="0" y="30"/>
                  </a:moveTo>
                  <a:lnTo>
                    <a:pt x="29" y="0"/>
                  </a:lnTo>
                  <a:lnTo>
                    <a:pt x="30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" name="Freeform 22"/>
            <p:cNvSpPr>
              <a:spLocks noChangeArrowheads="1"/>
            </p:cNvSpPr>
            <p:nvPr/>
          </p:nvSpPr>
          <p:spPr bwMode="auto">
            <a:xfrm>
              <a:off x="946" y="966"/>
              <a:ext cx="8" cy="9"/>
            </a:xfrm>
            <a:custGeom>
              <a:avLst/>
              <a:gdLst>
                <a:gd name="T0" fmla="*/ 0 w 34"/>
                <a:gd name="T1" fmla="*/ 35 h 35"/>
                <a:gd name="T2" fmla="*/ 33 w 34"/>
                <a:gd name="T3" fmla="*/ 0 h 35"/>
                <a:gd name="T4" fmla="*/ 34 w 34"/>
                <a:gd name="T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35">
                  <a:moveTo>
                    <a:pt x="0" y="35"/>
                  </a:moveTo>
                  <a:lnTo>
                    <a:pt x="33" y="0"/>
                  </a:lnTo>
                  <a:lnTo>
                    <a:pt x="34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" name="Freeform 23"/>
            <p:cNvSpPr>
              <a:spLocks noChangeArrowheads="1"/>
            </p:cNvSpPr>
            <p:nvPr/>
          </p:nvSpPr>
          <p:spPr bwMode="auto">
            <a:xfrm>
              <a:off x="1578" y="672"/>
              <a:ext cx="15" cy="15"/>
            </a:xfrm>
            <a:custGeom>
              <a:avLst/>
              <a:gdLst>
                <a:gd name="T0" fmla="*/ 0 w 63"/>
                <a:gd name="T1" fmla="*/ 67 h 67"/>
                <a:gd name="T2" fmla="*/ 62 w 63"/>
                <a:gd name="T3" fmla="*/ 0 h 67"/>
                <a:gd name="T4" fmla="*/ 63 w 63"/>
                <a:gd name="T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" h="67">
                  <a:moveTo>
                    <a:pt x="0" y="67"/>
                  </a:moveTo>
                  <a:lnTo>
                    <a:pt x="62" y="0"/>
                  </a:lnTo>
                  <a:lnTo>
                    <a:pt x="63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" name="Freeform 24"/>
            <p:cNvSpPr>
              <a:spLocks noChangeArrowheads="1"/>
            </p:cNvSpPr>
            <p:nvPr/>
          </p:nvSpPr>
          <p:spPr bwMode="auto">
            <a:xfrm>
              <a:off x="1349" y="1118"/>
              <a:ext cx="10" cy="10"/>
            </a:xfrm>
            <a:custGeom>
              <a:avLst/>
              <a:gdLst>
                <a:gd name="T0" fmla="*/ 0 w 42"/>
                <a:gd name="T1" fmla="*/ 45 h 45"/>
                <a:gd name="T2" fmla="*/ 41 w 42"/>
                <a:gd name="T3" fmla="*/ 0 h 45"/>
                <a:gd name="T4" fmla="*/ 42 w 42"/>
                <a:gd name="T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45">
                  <a:moveTo>
                    <a:pt x="0" y="45"/>
                  </a:moveTo>
                  <a:lnTo>
                    <a:pt x="41" y="0"/>
                  </a:lnTo>
                  <a:lnTo>
                    <a:pt x="42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5" name="Freeform 25"/>
            <p:cNvSpPr>
              <a:spLocks noChangeArrowheads="1"/>
            </p:cNvSpPr>
            <p:nvPr/>
          </p:nvSpPr>
          <p:spPr bwMode="auto">
            <a:xfrm>
              <a:off x="1696" y="1114"/>
              <a:ext cx="14" cy="14"/>
            </a:xfrm>
            <a:custGeom>
              <a:avLst/>
              <a:gdLst>
                <a:gd name="T0" fmla="*/ 0 w 56"/>
                <a:gd name="T1" fmla="*/ 61 h 61"/>
                <a:gd name="T2" fmla="*/ 55 w 56"/>
                <a:gd name="T3" fmla="*/ 0 h 61"/>
                <a:gd name="T4" fmla="*/ 56 w 56"/>
                <a:gd name="T5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61">
                  <a:moveTo>
                    <a:pt x="0" y="61"/>
                  </a:moveTo>
                  <a:lnTo>
                    <a:pt x="55" y="0"/>
                  </a:lnTo>
                  <a:lnTo>
                    <a:pt x="56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" name="Freeform 26"/>
            <p:cNvSpPr>
              <a:spLocks noChangeArrowheads="1"/>
            </p:cNvSpPr>
            <p:nvPr/>
          </p:nvSpPr>
          <p:spPr bwMode="auto">
            <a:xfrm>
              <a:off x="1177" y="910"/>
              <a:ext cx="182" cy="1"/>
            </a:xfrm>
            <a:custGeom>
              <a:avLst/>
              <a:gdLst>
                <a:gd name="T0" fmla="*/ 729 w 729"/>
                <a:gd name="T1" fmla="*/ 0 h 1"/>
                <a:gd name="T2" fmla="*/ 0 w 729"/>
                <a:gd name="T3" fmla="*/ 0 h 1"/>
                <a:gd name="T4" fmla="*/ 1 w 72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9" h="1">
                  <a:moveTo>
                    <a:pt x="729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" name="Freeform 27"/>
            <p:cNvSpPr>
              <a:spLocks noChangeArrowheads="1"/>
            </p:cNvSpPr>
            <p:nvPr/>
          </p:nvSpPr>
          <p:spPr bwMode="auto">
            <a:xfrm>
              <a:off x="1177" y="821"/>
              <a:ext cx="182" cy="1"/>
            </a:xfrm>
            <a:custGeom>
              <a:avLst/>
              <a:gdLst>
                <a:gd name="T0" fmla="*/ 729 w 729"/>
                <a:gd name="T1" fmla="*/ 0 h 1"/>
                <a:gd name="T2" fmla="*/ 0 w 729"/>
                <a:gd name="T3" fmla="*/ 0 h 1"/>
                <a:gd name="T4" fmla="*/ 1 w 72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9" h="1">
                  <a:moveTo>
                    <a:pt x="729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" name="Freeform 28"/>
            <p:cNvSpPr>
              <a:spLocks noChangeArrowheads="1"/>
            </p:cNvSpPr>
            <p:nvPr/>
          </p:nvSpPr>
          <p:spPr bwMode="auto">
            <a:xfrm>
              <a:off x="1177" y="777"/>
              <a:ext cx="116" cy="1"/>
            </a:xfrm>
            <a:custGeom>
              <a:avLst/>
              <a:gdLst>
                <a:gd name="T0" fmla="*/ 466 w 466"/>
                <a:gd name="T1" fmla="*/ 0 h 1"/>
                <a:gd name="T2" fmla="*/ 0 w 466"/>
                <a:gd name="T3" fmla="*/ 0 h 1"/>
                <a:gd name="T4" fmla="*/ 1 w 46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6" h="1">
                  <a:moveTo>
                    <a:pt x="466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" name="Freeform 29"/>
            <p:cNvSpPr>
              <a:spLocks noChangeArrowheads="1"/>
            </p:cNvSpPr>
            <p:nvPr/>
          </p:nvSpPr>
          <p:spPr bwMode="auto">
            <a:xfrm>
              <a:off x="1177" y="1606"/>
              <a:ext cx="140" cy="1"/>
            </a:xfrm>
            <a:custGeom>
              <a:avLst/>
              <a:gdLst>
                <a:gd name="T0" fmla="*/ 0 w 561"/>
                <a:gd name="T1" fmla="*/ 0 h 1"/>
                <a:gd name="T2" fmla="*/ 560 w 561"/>
                <a:gd name="T3" fmla="*/ 0 h 1"/>
                <a:gd name="T4" fmla="*/ 561 w 56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1" h="1">
                  <a:moveTo>
                    <a:pt x="0" y="0"/>
                  </a:moveTo>
                  <a:lnTo>
                    <a:pt x="560" y="0"/>
                  </a:lnTo>
                  <a:lnTo>
                    <a:pt x="56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" name="Freeform 30"/>
            <p:cNvSpPr>
              <a:spLocks noChangeArrowheads="1"/>
            </p:cNvSpPr>
            <p:nvPr/>
          </p:nvSpPr>
          <p:spPr bwMode="auto">
            <a:xfrm>
              <a:off x="1177" y="1429"/>
              <a:ext cx="140" cy="1"/>
            </a:xfrm>
            <a:custGeom>
              <a:avLst/>
              <a:gdLst>
                <a:gd name="T0" fmla="*/ 0 w 561"/>
                <a:gd name="T1" fmla="*/ 0 h 1"/>
                <a:gd name="T2" fmla="*/ 560 w 561"/>
                <a:gd name="T3" fmla="*/ 0 h 1"/>
                <a:gd name="T4" fmla="*/ 561 w 56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1" h="1">
                  <a:moveTo>
                    <a:pt x="0" y="0"/>
                  </a:moveTo>
                  <a:lnTo>
                    <a:pt x="560" y="0"/>
                  </a:lnTo>
                  <a:lnTo>
                    <a:pt x="56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" name="Freeform 31"/>
            <p:cNvSpPr>
              <a:spLocks noChangeArrowheads="1"/>
            </p:cNvSpPr>
            <p:nvPr/>
          </p:nvSpPr>
          <p:spPr bwMode="auto">
            <a:xfrm>
              <a:off x="701" y="1128"/>
              <a:ext cx="1009" cy="1"/>
            </a:xfrm>
            <a:custGeom>
              <a:avLst/>
              <a:gdLst>
                <a:gd name="T0" fmla="*/ 4033 w 4033"/>
                <a:gd name="T1" fmla="*/ 0 h 1"/>
                <a:gd name="T2" fmla="*/ 0 w 4033"/>
                <a:gd name="T3" fmla="*/ 0 h 1"/>
                <a:gd name="T4" fmla="*/ 1 w 403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33" h="1">
                  <a:moveTo>
                    <a:pt x="4033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" name="Freeform 32"/>
            <p:cNvSpPr>
              <a:spLocks noChangeArrowheads="1"/>
            </p:cNvSpPr>
            <p:nvPr/>
          </p:nvSpPr>
          <p:spPr bwMode="auto">
            <a:xfrm>
              <a:off x="1177" y="777"/>
              <a:ext cx="1" cy="239"/>
            </a:xfrm>
            <a:custGeom>
              <a:avLst/>
              <a:gdLst>
                <a:gd name="T0" fmla="*/ 0 w 1"/>
                <a:gd name="T1" fmla="*/ 0 h 1034"/>
                <a:gd name="T2" fmla="*/ 0 w 1"/>
                <a:gd name="T3" fmla="*/ 1034 h 1034"/>
                <a:gd name="T4" fmla="*/ 1 w 1"/>
                <a:gd name="T5" fmla="*/ 1034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34">
                  <a:moveTo>
                    <a:pt x="0" y="0"/>
                  </a:moveTo>
                  <a:lnTo>
                    <a:pt x="0" y="1034"/>
                  </a:lnTo>
                  <a:lnTo>
                    <a:pt x="1" y="10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" name="Freeform 33"/>
            <p:cNvSpPr>
              <a:spLocks noChangeArrowheads="1"/>
            </p:cNvSpPr>
            <p:nvPr/>
          </p:nvSpPr>
          <p:spPr bwMode="auto">
            <a:xfrm>
              <a:off x="873" y="1362"/>
              <a:ext cx="1" cy="310"/>
            </a:xfrm>
            <a:custGeom>
              <a:avLst/>
              <a:gdLst>
                <a:gd name="T0" fmla="*/ 0 w 1"/>
                <a:gd name="T1" fmla="*/ 0 h 1347"/>
                <a:gd name="T2" fmla="*/ 0 w 1"/>
                <a:gd name="T3" fmla="*/ 1347 h 1347"/>
                <a:gd name="T4" fmla="*/ 1 w 1"/>
                <a:gd name="T5" fmla="*/ 1347 h 1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47">
                  <a:moveTo>
                    <a:pt x="0" y="0"/>
                  </a:moveTo>
                  <a:lnTo>
                    <a:pt x="0" y="1347"/>
                  </a:lnTo>
                  <a:lnTo>
                    <a:pt x="1" y="1347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34" name="Group 34"/>
            <p:cNvGrpSpPr>
              <a:grpSpLocks/>
            </p:cNvGrpSpPr>
            <p:nvPr/>
          </p:nvGrpSpPr>
          <p:grpSpPr bwMode="auto">
            <a:xfrm>
              <a:off x="701" y="672"/>
              <a:ext cx="1009" cy="456"/>
              <a:chOff x="983" y="1542"/>
              <a:chExt cx="1009" cy="456"/>
            </a:xfrm>
          </p:grpSpPr>
          <p:sp>
            <p:nvSpPr>
              <p:cNvPr id="106" name="Freeform 35"/>
              <p:cNvSpPr>
                <a:spLocks noChangeArrowheads="1"/>
              </p:cNvSpPr>
              <p:nvPr/>
            </p:nvSpPr>
            <p:spPr bwMode="auto">
              <a:xfrm>
                <a:off x="1228" y="1855"/>
                <a:ext cx="59" cy="59"/>
              </a:xfrm>
              <a:custGeom>
                <a:avLst/>
                <a:gdLst>
                  <a:gd name="T0" fmla="*/ 0 w 235"/>
                  <a:gd name="T1" fmla="*/ 255 h 255"/>
                  <a:gd name="T2" fmla="*/ 234 w 235"/>
                  <a:gd name="T3" fmla="*/ 0 h 255"/>
                  <a:gd name="T4" fmla="*/ 235 w 235"/>
                  <a:gd name="T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5" h="255">
                    <a:moveTo>
                      <a:pt x="0" y="255"/>
                    </a:moveTo>
                    <a:lnTo>
                      <a:pt x="234" y="0"/>
                    </a:lnTo>
                    <a:lnTo>
                      <a:pt x="235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7" name="Freeform 36"/>
              <p:cNvSpPr>
                <a:spLocks noChangeArrowheads="1"/>
              </p:cNvSpPr>
              <p:nvPr/>
            </p:nvSpPr>
            <p:spPr bwMode="auto">
              <a:xfrm>
                <a:off x="1519" y="1647"/>
                <a:ext cx="44" cy="44"/>
              </a:xfrm>
              <a:custGeom>
                <a:avLst/>
                <a:gdLst>
                  <a:gd name="T0" fmla="*/ 0 w 177"/>
                  <a:gd name="T1" fmla="*/ 191 h 191"/>
                  <a:gd name="T2" fmla="*/ 176 w 177"/>
                  <a:gd name="T3" fmla="*/ 0 h 191"/>
                  <a:gd name="T4" fmla="*/ 177 w 177"/>
                  <a:gd name="T5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7" h="191">
                    <a:moveTo>
                      <a:pt x="0" y="191"/>
                    </a:moveTo>
                    <a:lnTo>
                      <a:pt x="176" y="0"/>
                    </a:lnTo>
                    <a:lnTo>
                      <a:pt x="177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8" name="Freeform 37"/>
              <p:cNvSpPr>
                <a:spLocks noChangeArrowheads="1"/>
              </p:cNvSpPr>
              <p:nvPr/>
            </p:nvSpPr>
            <p:spPr bwMode="auto">
              <a:xfrm>
                <a:off x="983" y="1851"/>
                <a:ext cx="100" cy="100"/>
              </a:xfrm>
              <a:custGeom>
                <a:avLst/>
                <a:gdLst>
                  <a:gd name="T0" fmla="*/ 0 w 397"/>
                  <a:gd name="T1" fmla="*/ 431 h 431"/>
                  <a:gd name="T2" fmla="*/ 396 w 397"/>
                  <a:gd name="T3" fmla="*/ 0 h 431"/>
                  <a:gd name="T4" fmla="*/ 397 w 397"/>
                  <a:gd name="T5" fmla="*/ 0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7" h="431">
                    <a:moveTo>
                      <a:pt x="0" y="431"/>
                    </a:moveTo>
                    <a:lnTo>
                      <a:pt x="396" y="0"/>
                    </a:lnTo>
                    <a:lnTo>
                      <a:pt x="397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9" name="Freeform 38"/>
              <p:cNvSpPr>
                <a:spLocks noChangeArrowheads="1"/>
              </p:cNvSpPr>
              <p:nvPr/>
            </p:nvSpPr>
            <p:spPr bwMode="auto">
              <a:xfrm>
                <a:off x="1006" y="1921"/>
                <a:ext cx="77" cy="77"/>
              </a:xfrm>
              <a:custGeom>
                <a:avLst/>
                <a:gdLst>
                  <a:gd name="T0" fmla="*/ 0 w 307"/>
                  <a:gd name="T1" fmla="*/ 334 h 334"/>
                  <a:gd name="T2" fmla="*/ 306 w 307"/>
                  <a:gd name="T3" fmla="*/ 0 h 334"/>
                  <a:gd name="T4" fmla="*/ 307 w 307"/>
                  <a:gd name="T5" fmla="*/ 0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7" h="334">
                    <a:moveTo>
                      <a:pt x="0" y="334"/>
                    </a:moveTo>
                    <a:lnTo>
                      <a:pt x="306" y="0"/>
                    </a:lnTo>
                    <a:lnTo>
                      <a:pt x="307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0" name="Freeform 39"/>
              <p:cNvSpPr>
                <a:spLocks noChangeArrowheads="1"/>
              </p:cNvSpPr>
              <p:nvPr/>
            </p:nvSpPr>
            <p:spPr bwMode="auto">
              <a:xfrm>
                <a:off x="1575" y="1542"/>
                <a:ext cx="23" cy="23"/>
              </a:xfrm>
              <a:custGeom>
                <a:avLst/>
                <a:gdLst>
                  <a:gd name="T0" fmla="*/ 0 w 91"/>
                  <a:gd name="T1" fmla="*/ 98 h 98"/>
                  <a:gd name="T2" fmla="*/ 90 w 91"/>
                  <a:gd name="T3" fmla="*/ 0 h 98"/>
                  <a:gd name="T4" fmla="*/ 91 w 91"/>
                  <a:gd name="T5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1" h="98">
                    <a:moveTo>
                      <a:pt x="0" y="98"/>
                    </a:moveTo>
                    <a:lnTo>
                      <a:pt x="90" y="0"/>
                    </a:lnTo>
                    <a:lnTo>
                      <a:pt x="9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1" name="Freeform 40"/>
              <p:cNvSpPr>
                <a:spLocks noChangeArrowheads="1"/>
              </p:cNvSpPr>
              <p:nvPr/>
            </p:nvSpPr>
            <p:spPr bwMode="auto">
              <a:xfrm>
                <a:off x="1459" y="1647"/>
                <a:ext cx="34" cy="35"/>
              </a:xfrm>
              <a:custGeom>
                <a:avLst/>
                <a:gdLst>
                  <a:gd name="T0" fmla="*/ 0 w 140"/>
                  <a:gd name="T1" fmla="*/ 151 h 151"/>
                  <a:gd name="T2" fmla="*/ 139 w 140"/>
                  <a:gd name="T3" fmla="*/ 0 h 151"/>
                  <a:gd name="T4" fmla="*/ 140 w 140"/>
                  <a:gd name="T5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0" h="151">
                    <a:moveTo>
                      <a:pt x="0" y="151"/>
                    </a:moveTo>
                    <a:lnTo>
                      <a:pt x="139" y="0"/>
                    </a:lnTo>
                    <a:lnTo>
                      <a:pt x="14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2" name="Freeform 41"/>
              <p:cNvSpPr>
                <a:spLocks noChangeArrowheads="1"/>
              </p:cNvSpPr>
              <p:nvPr/>
            </p:nvSpPr>
            <p:spPr bwMode="auto">
              <a:xfrm>
                <a:off x="1228" y="1886"/>
                <a:ext cx="98" cy="98"/>
              </a:xfrm>
              <a:custGeom>
                <a:avLst/>
                <a:gdLst>
                  <a:gd name="T0" fmla="*/ 0 w 390"/>
                  <a:gd name="T1" fmla="*/ 424 h 424"/>
                  <a:gd name="T2" fmla="*/ 389 w 390"/>
                  <a:gd name="T3" fmla="*/ 0 h 424"/>
                  <a:gd name="T4" fmla="*/ 390 w 390"/>
                  <a:gd name="T5" fmla="*/ 0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0" h="424">
                    <a:moveTo>
                      <a:pt x="0" y="424"/>
                    </a:moveTo>
                    <a:lnTo>
                      <a:pt x="389" y="0"/>
                    </a:lnTo>
                    <a:lnTo>
                      <a:pt x="39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3" name="Freeform 42"/>
              <p:cNvSpPr>
                <a:spLocks noChangeArrowheads="1"/>
              </p:cNvSpPr>
              <p:nvPr/>
            </p:nvSpPr>
            <p:spPr bwMode="auto">
              <a:xfrm>
                <a:off x="1575" y="1568"/>
                <a:ext cx="66" cy="67"/>
              </a:xfrm>
              <a:custGeom>
                <a:avLst/>
                <a:gdLst>
                  <a:gd name="T0" fmla="*/ 0 w 264"/>
                  <a:gd name="T1" fmla="*/ 285 h 285"/>
                  <a:gd name="T2" fmla="*/ 263 w 264"/>
                  <a:gd name="T3" fmla="*/ 0 h 285"/>
                  <a:gd name="T4" fmla="*/ 264 w 264"/>
                  <a:gd name="T5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4" h="285">
                    <a:moveTo>
                      <a:pt x="0" y="285"/>
                    </a:moveTo>
                    <a:lnTo>
                      <a:pt x="263" y="0"/>
                    </a:lnTo>
                    <a:lnTo>
                      <a:pt x="264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4" name="Freeform 43"/>
              <p:cNvSpPr>
                <a:spLocks noChangeArrowheads="1"/>
              </p:cNvSpPr>
              <p:nvPr/>
            </p:nvSpPr>
            <p:spPr bwMode="auto">
              <a:xfrm>
                <a:off x="1283" y="1886"/>
                <a:ext cx="112" cy="112"/>
              </a:xfrm>
              <a:custGeom>
                <a:avLst/>
                <a:gdLst>
                  <a:gd name="T0" fmla="*/ 0 w 446"/>
                  <a:gd name="T1" fmla="*/ 485 h 485"/>
                  <a:gd name="T2" fmla="*/ 445 w 446"/>
                  <a:gd name="T3" fmla="*/ 0 h 485"/>
                  <a:gd name="T4" fmla="*/ 446 w 446"/>
                  <a:gd name="T5" fmla="*/ 0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6" h="485">
                    <a:moveTo>
                      <a:pt x="0" y="485"/>
                    </a:moveTo>
                    <a:lnTo>
                      <a:pt x="445" y="0"/>
                    </a:lnTo>
                    <a:lnTo>
                      <a:pt x="446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5" name="Freeform 44"/>
              <p:cNvSpPr>
                <a:spLocks noChangeArrowheads="1"/>
              </p:cNvSpPr>
              <p:nvPr/>
            </p:nvSpPr>
            <p:spPr bwMode="auto">
              <a:xfrm>
                <a:off x="1588" y="1639"/>
                <a:ext cx="53" cy="52"/>
              </a:xfrm>
              <a:custGeom>
                <a:avLst/>
                <a:gdLst>
                  <a:gd name="T0" fmla="*/ 0 w 211"/>
                  <a:gd name="T1" fmla="*/ 229 h 229"/>
                  <a:gd name="T2" fmla="*/ 210 w 211"/>
                  <a:gd name="T3" fmla="*/ 0 h 229"/>
                  <a:gd name="T4" fmla="*/ 211 w 211"/>
                  <a:gd name="T5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1" h="229">
                    <a:moveTo>
                      <a:pt x="0" y="229"/>
                    </a:moveTo>
                    <a:lnTo>
                      <a:pt x="210" y="0"/>
                    </a:lnTo>
                    <a:lnTo>
                      <a:pt x="21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6" name="Freeform 45"/>
              <p:cNvSpPr>
                <a:spLocks noChangeArrowheads="1"/>
              </p:cNvSpPr>
              <p:nvPr/>
            </p:nvSpPr>
            <p:spPr bwMode="auto">
              <a:xfrm>
                <a:off x="1459" y="1780"/>
                <a:ext cx="42" cy="42"/>
              </a:xfrm>
              <a:custGeom>
                <a:avLst/>
                <a:gdLst>
                  <a:gd name="T0" fmla="*/ 0 w 170"/>
                  <a:gd name="T1" fmla="*/ 182 h 182"/>
                  <a:gd name="T2" fmla="*/ 169 w 170"/>
                  <a:gd name="T3" fmla="*/ 0 h 182"/>
                  <a:gd name="T4" fmla="*/ 170 w 170"/>
                  <a:gd name="T5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0" h="182">
                    <a:moveTo>
                      <a:pt x="0" y="182"/>
                    </a:moveTo>
                    <a:lnTo>
                      <a:pt x="169" y="0"/>
                    </a:lnTo>
                    <a:lnTo>
                      <a:pt x="17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7" name="Freeform 46"/>
              <p:cNvSpPr>
                <a:spLocks noChangeArrowheads="1"/>
              </p:cNvSpPr>
              <p:nvPr/>
            </p:nvSpPr>
            <p:spPr bwMode="auto">
              <a:xfrm>
                <a:off x="1353" y="1780"/>
                <a:ext cx="217" cy="218"/>
              </a:xfrm>
              <a:custGeom>
                <a:avLst/>
                <a:gdLst>
                  <a:gd name="T0" fmla="*/ 0 w 870"/>
                  <a:gd name="T1" fmla="*/ 946 h 946"/>
                  <a:gd name="T2" fmla="*/ 869 w 870"/>
                  <a:gd name="T3" fmla="*/ 0 h 946"/>
                  <a:gd name="T4" fmla="*/ 870 w 870"/>
                  <a:gd name="T5" fmla="*/ 0 h 9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0" h="946">
                    <a:moveTo>
                      <a:pt x="0" y="946"/>
                    </a:moveTo>
                    <a:lnTo>
                      <a:pt x="869" y="0"/>
                    </a:lnTo>
                    <a:lnTo>
                      <a:pt x="87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8" name="Freeform 47"/>
              <p:cNvSpPr>
                <a:spLocks noChangeArrowheads="1"/>
              </p:cNvSpPr>
              <p:nvPr/>
            </p:nvSpPr>
            <p:spPr bwMode="auto">
              <a:xfrm>
                <a:off x="1422" y="1780"/>
                <a:ext cx="218" cy="218"/>
              </a:xfrm>
              <a:custGeom>
                <a:avLst/>
                <a:gdLst>
                  <a:gd name="T0" fmla="*/ 0 w 870"/>
                  <a:gd name="T1" fmla="*/ 946 h 946"/>
                  <a:gd name="T2" fmla="*/ 869 w 870"/>
                  <a:gd name="T3" fmla="*/ 0 h 946"/>
                  <a:gd name="T4" fmla="*/ 870 w 870"/>
                  <a:gd name="T5" fmla="*/ 0 h 9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0" h="946">
                    <a:moveTo>
                      <a:pt x="0" y="946"/>
                    </a:moveTo>
                    <a:lnTo>
                      <a:pt x="869" y="0"/>
                    </a:lnTo>
                    <a:lnTo>
                      <a:pt x="87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9" name="Freeform 48"/>
              <p:cNvSpPr>
                <a:spLocks noChangeArrowheads="1"/>
              </p:cNvSpPr>
              <p:nvPr/>
            </p:nvSpPr>
            <p:spPr bwMode="auto">
              <a:xfrm>
                <a:off x="1492" y="1848"/>
                <a:ext cx="149" cy="150"/>
              </a:xfrm>
              <a:custGeom>
                <a:avLst/>
                <a:gdLst>
                  <a:gd name="T0" fmla="*/ 0 w 597"/>
                  <a:gd name="T1" fmla="*/ 649 h 649"/>
                  <a:gd name="T2" fmla="*/ 596 w 597"/>
                  <a:gd name="T3" fmla="*/ 0 h 649"/>
                  <a:gd name="T4" fmla="*/ 597 w 597"/>
                  <a:gd name="T5" fmla="*/ 0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7" h="649">
                    <a:moveTo>
                      <a:pt x="0" y="649"/>
                    </a:moveTo>
                    <a:lnTo>
                      <a:pt x="596" y="0"/>
                    </a:lnTo>
                    <a:lnTo>
                      <a:pt x="597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0" name="Freeform 49"/>
              <p:cNvSpPr>
                <a:spLocks noChangeArrowheads="1"/>
              </p:cNvSpPr>
              <p:nvPr/>
            </p:nvSpPr>
            <p:spPr bwMode="auto">
              <a:xfrm>
                <a:off x="1860" y="1561"/>
                <a:ext cx="66" cy="66"/>
              </a:xfrm>
              <a:custGeom>
                <a:avLst/>
                <a:gdLst>
                  <a:gd name="T0" fmla="*/ 0 w 265"/>
                  <a:gd name="T1" fmla="*/ 287 h 287"/>
                  <a:gd name="T2" fmla="*/ 264 w 265"/>
                  <a:gd name="T3" fmla="*/ 0 h 287"/>
                  <a:gd name="T4" fmla="*/ 265 w 265"/>
                  <a:gd name="T5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5" h="287">
                    <a:moveTo>
                      <a:pt x="0" y="287"/>
                    </a:moveTo>
                    <a:lnTo>
                      <a:pt x="264" y="0"/>
                    </a:lnTo>
                    <a:lnTo>
                      <a:pt x="265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1" name="Freeform 50"/>
              <p:cNvSpPr>
                <a:spLocks noChangeArrowheads="1"/>
              </p:cNvSpPr>
              <p:nvPr/>
            </p:nvSpPr>
            <p:spPr bwMode="auto">
              <a:xfrm>
                <a:off x="1561" y="1919"/>
                <a:ext cx="80" cy="79"/>
              </a:xfrm>
              <a:custGeom>
                <a:avLst/>
                <a:gdLst>
                  <a:gd name="T0" fmla="*/ 0 w 319"/>
                  <a:gd name="T1" fmla="*/ 347 h 347"/>
                  <a:gd name="T2" fmla="*/ 318 w 319"/>
                  <a:gd name="T3" fmla="*/ 0 h 347"/>
                  <a:gd name="T4" fmla="*/ 319 w 319"/>
                  <a:gd name="T5" fmla="*/ 0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9" h="347">
                    <a:moveTo>
                      <a:pt x="0" y="347"/>
                    </a:moveTo>
                    <a:lnTo>
                      <a:pt x="318" y="0"/>
                    </a:lnTo>
                    <a:lnTo>
                      <a:pt x="319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2" name="Freeform 51"/>
              <p:cNvSpPr>
                <a:spLocks noChangeArrowheads="1"/>
              </p:cNvSpPr>
              <p:nvPr/>
            </p:nvSpPr>
            <p:spPr bwMode="auto">
              <a:xfrm>
                <a:off x="1860" y="1631"/>
                <a:ext cx="66" cy="67"/>
              </a:xfrm>
              <a:custGeom>
                <a:avLst/>
                <a:gdLst>
                  <a:gd name="T0" fmla="*/ 0 w 265"/>
                  <a:gd name="T1" fmla="*/ 285 h 285"/>
                  <a:gd name="T2" fmla="*/ 264 w 265"/>
                  <a:gd name="T3" fmla="*/ 0 h 285"/>
                  <a:gd name="T4" fmla="*/ 265 w 265"/>
                  <a:gd name="T5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5" h="285">
                    <a:moveTo>
                      <a:pt x="0" y="285"/>
                    </a:moveTo>
                    <a:lnTo>
                      <a:pt x="264" y="0"/>
                    </a:lnTo>
                    <a:lnTo>
                      <a:pt x="265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3" name="Freeform 52"/>
              <p:cNvSpPr>
                <a:spLocks noChangeArrowheads="1"/>
              </p:cNvSpPr>
              <p:nvPr/>
            </p:nvSpPr>
            <p:spPr bwMode="auto">
              <a:xfrm>
                <a:off x="1860" y="1701"/>
                <a:ext cx="66" cy="66"/>
              </a:xfrm>
              <a:custGeom>
                <a:avLst/>
                <a:gdLst>
                  <a:gd name="T0" fmla="*/ 0 w 265"/>
                  <a:gd name="T1" fmla="*/ 287 h 287"/>
                  <a:gd name="T2" fmla="*/ 264 w 265"/>
                  <a:gd name="T3" fmla="*/ 0 h 287"/>
                  <a:gd name="T4" fmla="*/ 265 w 265"/>
                  <a:gd name="T5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5" h="287">
                    <a:moveTo>
                      <a:pt x="0" y="287"/>
                    </a:moveTo>
                    <a:lnTo>
                      <a:pt x="264" y="0"/>
                    </a:lnTo>
                    <a:lnTo>
                      <a:pt x="265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4" name="Freeform 53"/>
              <p:cNvSpPr>
                <a:spLocks noChangeArrowheads="1"/>
              </p:cNvSpPr>
              <p:nvPr/>
            </p:nvSpPr>
            <p:spPr bwMode="auto">
              <a:xfrm>
                <a:off x="1860" y="1771"/>
                <a:ext cx="66" cy="66"/>
              </a:xfrm>
              <a:custGeom>
                <a:avLst/>
                <a:gdLst>
                  <a:gd name="T0" fmla="*/ 0 w 265"/>
                  <a:gd name="T1" fmla="*/ 287 h 287"/>
                  <a:gd name="T2" fmla="*/ 264 w 265"/>
                  <a:gd name="T3" fmla="*/ 0 h 287"/>
                  <a:gd name="T4" fmla="*/ 265 w 265"/>
                  <a:gd name="T5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5" h="287">
                    <a:moveTo>
                      <a:pt x="0" y="287"/>
                    </a:moveTo>
                    <a:lnTo>
                      <a:pt x="264" y="0"/>
                    </a:lnTo>
                    <a:lnTo>
                      <a:pt x="265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5" name="Freeform 54"/>
              <p:cNvSpPr>
                <a:spLocks noChangeArrowheads="1"/>
              </p:cNvSpPr>
              <p:nvPr/>
            </p:nvSpPr>
            <p:spPr bwMode="auto">
              <a:xfrm>
                <a:off x="1860" y="1841"/>
                <a:ext cx="66" cy="66"/>
              </a:xfrm>
              <a:custGeom>
                <a:avLst/>
                <a:gdLst>
                  <a:gd name="T0" fmla="*/ 0 w 265"/>
                  <a:gd name="T1" fmla="*/ 286 h 286"/>
                  <a:gd name="T2" fmla="*/ 264 w 265"/>
                  <a:gd name="T3" fmla="*/ 0 h 286"/>
                  <a:gd name="T4" fmla="*/ 265 w 265"/>
                  <a:gd name="T5" fmla="*/ 0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5" h="286">
                    <a:moveTo>
                      <a:pt x="0" y="286"/>
                    </a:moveTo>
                    <a:lnTo>
                      <a:pt x="264" y="0"/>
                    </a:lnTo>
                    <a:lnTo>
                      <a:pt x="265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6" name="Freeform 55"/>
              <p:cNvSpPr>
                <a:spLocks noChangeArrowheads="1"/>
              </p:cNvSpPr>
              <p:nvPr/>
            </p:nvSpPr>
            <p:spPr bwMode="auto">
              <a:xfrm>
                <a:off x="1860" y="1886"/>
                <a:ext cx="90" cy="91"/>
              </a:xfrm>
              <a:custGeom>
                <a:avLst/>
                <a:gdLst>
                  <a:gd name="T0" fmla="*/ 0 w 363"/>
                  <a:gd name="T1" fmla="*/ 393 h 393"/>
                  <a:gd name="T2" fmla="*/ 362 w 363"/>
                  <a:gd name="T3" fmla="*/ 0 h 393"/>
                  <a:gd name="T4" fmla="*/ 363 w 363"/>
                  <a:gd name="T5" fmla="*/ 0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3" h="393">
                    <a:moveTo>
                      <a:pt x="0" y="393"/>
                    </a:moveTo>
                    <a:lnTo>
                      <a:pt x="362" y="0"/>
                    </a:lnTo>
                    <a:lnTo>
                      <a:pt x="363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7" name="Freeform 56"/>
              <p:cNvSpPr>
                <a:spLocks noChangeArrowheads="1"/>
              </p:cNvSpPr>
              <p:nvPr/>
            </p:nvSpPr>
            <p:spPr bwMode="auto">
              <a:xfrm>
                <a:off x="1908" y="1914"/>
                <a:ext cx="84" cy="84"/>
              </a:xfrm>
              <a:custGeom>
                <a:avLst/>
                <a:gdLst>
                  <a:gd name="T0" fmla="*/ 0 w 334"/>
                  <a:gd name="T1" fmla="*/ 364 h 364"/>
                  <a:gd name="T2" fmla="*/ 333 w 334"/>
                  <a:gd name="T3" fmla="*/ 0 h 364"/>
                  <a:gd name="T4" fmla="*/ 334 w 334"/>
                  <a:gd name="T5" fmla="*/ 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4" h="364">
                    <a:moveTo>
                      <a:pt x="0" y="364"/>
                    </a:moveTo>
                    <a:lnTo>
                      <a:pt x="333" y="0"/>
                    </a:lnTo>
                    <a:lnTo>
                      <a:pt x="334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35" name="Freeform 57"/>
            <p:cNvSpPr>
              <a:spLocks noChangeArrowheads="1"/>
            </p:cNvSpPr>
            <p:nvPr/>
          </p:nvSpPr>
          <p:spPr bwMode="auto">
            <a:xfrm>
              <a:off x="742" y="966"/>
              <a:ext cx="262" cy="1"/>
            </a:xfrm>
            <a:custGeom>
              <a:avLst/>
              <a:gdLst>
                <a:gd name="T0" fmla="*/ 1052 w 1052"/>
                <a:gd name="T1" fmla="*/ 0 h 1"/>
                <a:gd name="T2" fmla="*/ 0 w 1052"/>
                <a:gd name="T3" fmla="*/ 0 h 1"/>
                <a:gd name="T4" fmla="*/ 1 w 105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2" h="1">
                  <a:moveTo>
                    <a:pt x="1052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6" name="Freeform 58"/>
            <p:cNvSpPr>
              <a:spLocks noChangeArrowheads="1"/>
            </p:cNvSpPr>
            <p:nvPr/>
          </p:nvSpPr>
          <p:spPr bwMode="auto">
            <a:xfrm>
              <a:off x="701" y="1016"/>
              <a:ext cx="1" cy="112"/>
            </a:xfrm>
            <a:custGeom>
              <a:avLst/>
              <a:gdLst>
                <a:gd name="T0" fmla="*/ 0 w 1"/>
                <a:gd name="T1" fmla="*/ 485 h 485"/>
                <a:gd name="T2" fmla="*/ 0 w 1"/>
                <a:gd name="T3" fmla="*/ 0 h 485"/>
                <a:gd name="T4" fmla="*/ 1 w 1"/>
                <a:gd name="T5" fmla="*/ 0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85">
                  <a:moveTo>
                    <a:pt x="0" y="48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" name="Freeform 59"/>
            <p:cNvSpPr>
              <a:spLocks noChangeArrowheads="1"/>
            </p:cNvSpPr>
            <p:nvPr/>
          </p:nvSpPr>
          <p:spPr bwMode="auto">
            <a:xfrm>
              <a:off x="800" y="966"/>
              <a:ext cx="1" cy="162"/>
            </a:xfrm>
            <a:custGeom>
              <a:avLst/>
              <a:gdLst>
                <a:gd name="T0" fmla="*/ 0 w 1"/>
                <a:gd name="T1" fmla="*/ 701 h 701"/>
                <a:gd name="T2" fmla="*/ 0 w 1"/>
                <a:gd name="T3" fmla="*/ 0 h 701"/>
                <a:gd name="T4" fmla="*/ 1 w 1"/>
                <a:gd name="T5" fmla="*/ 0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01">
                  <a:moveTo>
                    <a:pt x="0" y="70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8" name="Freeform 60"/>
            <p:cNvSpPr>
              <a:spLocks noChangeArrowheads="1"/>
            </p:cNvSpPr>
            <p:nvPr/>
          </p:nvSpPr>
          <p:spPr bwMode="auto">
            <a:xfrm>
              <a:off x="742" y="966"/>
              <a:ext cx="1" cy="50"/>
            </a:xfrm>
            <a:custGeom>
              <a:avLst/>
              <a:gdLst>
                <a:gd name="T0" fmla="*/ 0 w 1"/>
                <a:gd name="T1" fmla="*/ 216 h 216"/>
                <a:gd name="T2" fmla="*/ 0 w 1"/>
                <a:gd name="T3" fmla="*/ 0 h 216"/>
                <a:gd name="T4" fmla="*/ 1 w 1"/>
                <a:gd name="T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16">
                  <a:moveTo>
                    <a:pt x="0" y="21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" name="Freeform 61"/>
            <p:cNvSpPr>
              <a:spLocks noChangeArrowheads="1"/>
            </p:cNvSpPr>
            <p:nvPr/>
          </p:nvSpPr>
          <p:spPr bwMode="auto">
            <a:xfrm>
              <a:off x="946" y="966"/>
              <a:ext cx="1" cy="162"/>
            </a:xfrm>
            <a:custGeom>
              <a:avLst/>
              <a:gdLst>
                <a:gd name="T0" fmla="*/ 0 w 1"/>
                <a:gd name="T1" fmla="*/ 701 h 701"/>
                <a:gd name="T2" fmla="*/ 0 w 1"/>
                <a:gd name="T3" fmla="*/ 0 h 701"/>
                <a:gd name="T4" fmla="*/ 1 w 1"/>
                <a:gd name="T5" fmla="*/ 0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01">
                  <a:moveTo>
                    <a:pt x="0" y="70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0" name="Freeform 62"/>
            <p:cNvSpPr>
              <a:spLocks noChangeArrowheads="1"/>
            </p:cNvSpPr>
            <p:nvPr/>
          </p:nvSpPr>
          <p:spPr bwMode="auto">
            <a:xfrm>
              <a:off x="1004" y="1016"/>
              <a:ext cx="173" cy="1"/>
            </a:xfrm>
            <a:custGeom>
              <a:avLst/>
              <a:gdLst>
                <a:gd name="T0" fmla="*/ 688 w 688"/>
                <a:gd name="T1" fmla="*/ 0 h 1"/>
                <a:gd name="T2" fmla="*/ 0 w 688"/>
                <a:gd name="T3" fmla="*/ 0 h 1"/>
                <a:gd name="T4" fmla="*/ 1 w 68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8" h="1">
                  <a:moveTo>
                    <a:pt x="688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41" name="Group 63"/>
            <p:cNvGrpSpPr>
              <a:grpSpLocks/>
            </p:cNvGrpSpPr>
            <p:nvPr/>
          </p:nvGrpSpPr>
          <p:grpSpPr bwMode="auto">
            <a:xfrm>
              <a:off x="873" y="928"/>
              <a:ext cx="1" cy="245"/>
              <a:chOff x="1155" y="1798"/>
              <a:chExt cx="1" cy="245"/>
            </a:xfrm>
          </p:grpSpPr>
          <p:sp>
            <p:nvSpPr>
              <p:cNvPr id="103" name="Freeform 64"/>
              <p:cNvSpPr>
                <a:spLocks noChangeArrowheads="1"/>
              </p:cNvSpPr>
              <p:nvPr/>
            </p:nvSpPr>
            <p:spPr bwMode="auto">
              <a:xfrm>
                <a:off x="1155" y="1931"/>
                <a:ext cx="1" cy="8"/>
              </a:xfrm>
              <a:custGeom>
                <a:avLst/>
                <a:gdLst>
                  <a:gd name="T0" fmla="*/ 0 w 1"/>
                  <a:gd name="T1" fmla="*/ 36 h 36"/>
                  <a:gd name="T2" fmla="*/ 0 w 1"/>
                  <a:gd name="T3" fmla="*/ 0 h 36"/>
                  <a:gd name="T4" fmla="*/ 1 w 1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6">
                    <a:moveTo>
                      <a:pt x="0" y="36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4" name="Freeform 65"/>
              <p:cNvSpPr>
                <a:spLocks noChangeArrowheads="1"/>
              </p:cNvSpPr>
              <p:nvPr/>
            </p:nvSpPr>
            <p:spPr bwMode="auto">
              <a:xfrm>
                <a:off x="1155" y="1959"/>
                <a:ext cx="1" cy="84"/>
              </a:xfrm>
              <a:custGeom>
                <a:avLst/>
                <a:gdLst>
                  <a:gd name="T0" fmla="*/ 0 w 1"/>
                  <a:gd name="T1" fmla="*/ 363 h 363"/>
                  <a:gd name="T2" fmla="*/ 0 w 1"/>
                  <a:gd name="T3" fmla="*/ 0 h 363"/>
                  <a:gd name="T4" fmla="*/ 1 w 1"/>
                  <a:gd name="T5" fmla="*/ 0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63">
                    <a:moveTo>
                      <a:pt x="0" y="36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5" name="Freeform 66"/>
              <p:cNvSpPr>
                <a:spLocks noChangeArrowheads="1"/>
              </p:cNvSpPr>
              <p:nvPr/>
            </p:nvSpPr>
            <p:spPr bwMode="auto">
              <a:xfrm>
                <a:off x="1155" y="1798"/>
                <a:ext cx="1" cy="112"/>
              </a:xfrm>
              <a:custGeom>
                <a:avLst/>
                <a:gdLst>
                  <a:gd name="T0" fmla="*/ 0 w 1"/>
                  <a:gd name="T1" fmla="*/ 487 h 487"/>
                  <a:gd name="T2" fmla="*/ 0 w 1"/>
                  <a:gd name="T3" fmla="*/ 0 h 487"/>
                  <a:gd name="T4" fmla="*/ 1 w 1"/>
                  <a:gd name="T5" fmla="*/ 0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87">
                    <a:moveTo>
                      <a:pt x="0" y="48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42" name="Freeform 67"/>
            <p:cNvSpPr>
              <a:spLocks noChangeArrowheads="1"/>
            </p:cNvSpPr>
            <p:nvPr/>
          </p:nvSpPr>
          <p:spPr bwMode="auto">
            <a:xfrm>
              <a:off x="998" y="966"/>
              <a:ext cx="1" cy="50"/>
            </a:xfrm>
            <a:custGeom>
              <a:avLst/>
              <a:gdLst>
                <a:gd name="T0" fmla="*/ 0 w 1"/>
                <a:gd name="T1" fmla="*/ 216 h 216"/>
                <a:gd name="T2" fmla="*/ 0 w 1"/>
                <a:gd name="T3" fmla="*/ 0 h 216"/>
                <a:gd name="T4" fmla="*/ 1 w 1"/>
                <a:gd name="T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16">
                  <a:moveTo>
                    <a:pt x="0" y="21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3" name="Freeform 68"/>
            <p:cNvSpPr>
              <a:spLocks noChangeArrowheads="1"/>
            </p:cNvSpPr>
            <p:nvPr/>
          </p:nvSpPr>
          <p:spPr bwMode="auto">
            <a:xfrm>
              <a:off x="1356" y="816"/>
              <a:ext cx="18" cy="94"/>
            </a:xfrm>
            <a:custGeom>
              <a:avLst/>
              <a:gdLst>
                <a:gd name="T0" fmla="*/ 3 w 18"/>
                <a:gd name="T1" fmla="*/ 94 h 94"/>
                <a:gd name="T2" fmla="*/ 18 w 18"/>
                <a:gd name="T3" fmla="*/ 54 h 94"/>
                <a:gd name="T4" fmla="*/ 0 w 18"/>
                <a:gd name="T5" fmla="*/ 0 h 94"/>
                <a:gd name="T6" fmla="*/ 4 w 18"/>
                <a:gd name="T7" fmla="*/ 5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94">
                  <a:moveTo>
                    <a:pt x="3" y="94"/>
                  </a:moveTo>
                  <a:lnTo>
                    <a:pt x="18" y="54"/>
                  </a:lnTo>
                  <a:lnTo>
                    <a:pt x="0" y="0"/>
                  </a:lnTo>
                  <a:lnTo>
                    <a:pt x="4" y="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4" name="Freeform 69"/>
            <p:cNvSpPr>
              <a:spLocks noChangeArrowheads="1"/>
            </p:cNvSpPr>
            <p:nvPr/>
          </p:nvSpPr>
          <p:spPr bwMode="auto">
            <a:xfrm>
              <a:off x="1578" y="672"/>
              <a:ext cx="1" cy="456"/>
            </a:xfrm>
            <a:custGeom>
              <a:avLst/>
              <a:gdLst>
                <a:gd name="T0" fmla="*/ 0 w 1"/>
                <a:gd name="T1" fmla="*/ 1974 h 1974"/>
                <a:gd name="T2" fmla="*/ 0 w 1"/>
                <a:gd name="T3" fmla="*/ 0 h 1974"/>
                <a:gd name="T4" fmla="*/ 1 w 1"/>
                <a:gd name="T5" fmla="*/ 0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974">
                  <a:moveTo>
                    <a:pt x="0" y="197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5" name="Freeform 70"/>
            <p:cNvSpPr>
              <a:spLocks noChangeArrowheads="1"/>
            </p:cNvSpPr>
            <p:nvPr/>
          </p:nvSpPr>
          <p:spPr bwMode="auto">
            <a:xfrm>
              <a:off x="1644" y="672"/>
              <a:ext cx="1" cy="344"/>
            </a:xfrm>
            <a:custGeom>
              <a:avLst/>
              <a:gdLst>
                <a:gd name="T0" fmla="*/ 0 w 1"/>
                <a:gd name="T1" fmla="*/ 1489 h 1489"/>
                <a:gd name="T2" fmla="*/ 0 w 1"/>
                <a:gd name="T3" fmla="*/ 0 h 1489"/>
                <a:gd name="T4" fmla="*/ 1 w 1"/>
                <a:gd name="T5" fmla="*/ 0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89">
                  <a:moveTo>
                    <a:pt x="0" y="148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46" name="Group 71"/>
            <p:cNvGrpSpPr>
              <a:grpSpLocks/>
            </p:cNvGrpSpPr>
            <p:nvPr/>
          </p:nvGrpSpPr>
          <p:grpSpPr bwMode="auto">
            <a:xfrm>
              <a:off x="1468" y="1229"/>
              <a:ext cx="1" cy="570"/>
              <a:chOff x="1750" y="2099"/>
              <a:chExt cx="1" cy="570"/>
            </a:xfrm>
          </p:grpSpPr>
          <p:sp>
            <p:nvSpPr>
              <p:cNvPr id="100" name="Freeform 72"/>
              <p:cNvSpPr>
                <a:spLocks noChangeArrowheads="1"/>
              </p:cNvSpPr>
              <p:nvPr/>
            </p:nvSpPr>
            <p:spPr bwMode="auto">
              <a:xfrm>
                <a:off x="1750" y="2365"/>
                <a:ext cx="1" cy="304"/>
              </a:xfrm>
              <a:custGeom>
                <a:avLst/>
                <a:gdLst>
                  <a:gd name="T0" fmla="*/ 0 w 1"/>
                  <a:gd name="T1" fmla="*/ 0 h 1318"/>
                  <a:gd name="T2" fmla="*/ 0 w 1"/>
                  <a:gd name="T3" fmla="*/ 1318 h 1318"/>
                  <a:gd name="T4" fmla="*/ 1 w 1"/>
                  <a:gd name="T5" fmla="*/ 1318 h 1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318">
                    <a:moveTo>
                      <a:pt x="0" y="0"/>
                    </a:moveTo>
                    <a:lnTo>
                      <a:pt x="0" y="1318"/>
                    </a:lnTo>
                    <a:lnTo>
                      <a:pt x="1" y="1318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1" name="Freeform 73"/>
              <p:cNvSpPr>
                <a:spLocks noChangeArrowheads="1"/>
              </p:cNvSpPr>
              <p:nvPr/>
            </p:nvSpPr>
            <p:spPr bwMode="auto">
              <a:xfrm>
                <a:off x="1750" y="2099"/>
                <a:ext cx="1" cy="221"/>
              </a:xfrm>
              <a:custGeom>
                <a:avLst/>
                <a:gdLst>
                  <a:gd name="T0" fmla="*/ 0 w 1"/>
                  <a:gd name="T1" fmla="*/ 0 h 954"/>
                  <a:gd name="T2" fmla="*/ 0 w 1"/>
                  <a:gd name="T3" fmla="*/ 954 h 954"/>
                  <a:gd name="T4" fmla="*/ 1 w 1"/>
                  <a:gd name="T5" fmla="*/ 954 h 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54">
                    <a:moveTo>
                      <a:pt x="0" y="0"/>
                    </a:moveTo>
                    <a:lnTo>
                      <a:pt x="0" y="954"/>
                    </a:lnTo>
                    <a:lnTo>
                      <a:pt x="1" y="954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2" name="Freeform 74"/>
              <p:cNvSpPr>
                <a:spLocks noChangeArrowheads="1"/>
              </p:cNvSpPr>
              <p:nvPr/>
            </p:nvSpPr>
            <p:spPr bwMode="auto">
              <a:xfrm>
                <a:off x="1750" y="2333"/>
                <a:ext cx="1" cy="16"/>
              </a:xfrm>
              <a:custGeom>
                <a:avLst/>
                <a:gdLst>
                  <a:gd name="T0" fmla="*/ 0 w 1"/>
                  <a:gd name="T1" fmla="*/ 0 h 71"/>
                  <a:gd name="T2" fmla="*/ 0 w 1"/>
                  <a:gd name="T3" fmla="*/ 71 h 71"/>
                  <a:gd name="T4" fmla="*/ 1 w 1"/>
                  <a:gd name="T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1">
                    <a:moveTo>
                      <a:pt x="0" y="0"/>
                    </a:moveTo>
                    <a:lnTo>
                      <a:pt x="0" y="71"/>
                    </a:lnTo>
                    <a:lnTo>
                      <a:pt x="1" y="71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47" name="Group 75"/>
            <p:cNvGrpSpPr>
              <a:grpSpLocks/>
            </p:cNvGrpSpPr>
            <p:nvPr/>
          </p:nvGrpSpPr>
          <p:grpSpPr bwMode="auto">
            <a:xfrm>
              <a:off x="665" y="1518"/>
              <a:ext cx="1090" cy="1"/>
              <a:chOff x="947" y="2388"/>
              <a:chExt cx="1090" cy="1"/>
            </a:xfrm>
          </p:grpSpPr>
          <p:sp>
            <p:nvSpPr>
              <p:cNvPr id="95" name="Freeform 76"/>
              <p:cNvSpPr>
                <a:spLocks noChangeArrowheads="1"/>
              </p:cNvSpPr>
              <p:nvPr/>
            </p:nvSpPr>
            <p:spPr bwMode="auto">
              <a:xfrm>
                <a:off x="1390" y="2388"/>
                <a:ext cx="396" cy="1"/>
              </a:xfrm>
              <a:custGeom>
                <a:avLst/>
                <a:gdLst>
                  <a:gd name="T0" fmla="*/ 0 w 1581"/>
                  <a:gd name="T1" fmla="*/ 0 h 1"/>
                  <a:gd name="T2" fmla="*/ 1580 w 1581"/>
                  <a:gd name="T3" fmla="*/ 0 h 1"/>
                  <a:gd name="T4" fmla="*/ 1581 w 158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81" h="1">
                    <a:moveTo>
                      <a:pt x="0" y="0"/>
                    </a:moveTo>
                    <a:lnTo>
                      <a:pt x="1580" y="0"/>
                    </a:lnTo>
                    <a:lnTo>
                      <a:pt x="158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6" name="Freeform 77"/>
              <p:cNvSpPr>
                <a:spLocks noChangeArrowheads="1"/>
              </p:cNvSpPr>
              <p:nvPr/>
            </p:nvSpPr>
            <p:spPr bwMode="auto">
              <a:xfrm>
                <a:off x="947" y="2388"/>
                <a:ext cx="395" cy="1"/>
              </a:xfrm>
              <a:custGeom>
                <a:avLst/>
                <a:gdLst>
                  <a:gd name="T0" fmla="*/ 0 w 1580"/>
                  <a:gd name="T1" fmla="*/ 0 h 1"/>
                  <a:gd name="T2" fmla="*/ 1579 w 1580"/>
                  <a:gd name="T3" fmla="*/ 0 h 1"/>
                  <a:gd name="T4" fmla="*/ 1580 w 1580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80" h="1">
                    <a:moveTo>
                      <a:pt x="0" y="0"/>
                    </a:moveTo>
                    <a:lnTo>
                      <a:pt x="1579" y="0"/>
                    </a:lnTo>
                    <a:lnTo>
                      <a:pt x="158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7" name="Freeform 78"/>
              <p:cNvSpPr>
                <a:spLocks noChangeArrowheads="1"/>
              </p:cNvSpPr>
              <p:nvPr/>
            </p:nvSpPr>
            <p:spPr bwMode="auto">
              <a:xfrm>
                <a:off x="1358" y="2388"/>
                <a:ext cx="13" cy="1"/>
              </a:xfrm>
              <a:custGeom>
                <a:avLst/>
                <a:gdLst>
                  <a:gd name="T0" fmla="*/ 0 w 50"/>
                  <a:gd name="T1" fmla="*/ 0 h 1"/>
                  <a:gd name="T2" fmla="*/ 49 w 50"/>
                  <a:gd name="T3" fmla="*/ 0 h 1"/>
                  <a:gd name="T4" fmla="*/ 50 w 50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1">
                    <a:moveTo>
                      <a:pt x="0" y="0"/>
                    </a:moveTo>
                    <a:lnTo>
                      <a:pt x="49" y="0"/>
                    </a:lnTo>
                    <a:lnTo>
                      <a:pt x="5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8" name="Freeform 79"/>
              <p:cNvSpPr>
                <a:spLocks noChangeArrowheads="1"/>
              </p:cNvSpPr>
              <p:nvPr/>
            </p:nvSpPr>
            <p:spPr bwMode="auto">
              <a:xfrm>
                <a:off x="1837" y="2388"/>
                <a:ext cx="200" cy="1"/>
              </a:xfrm>
              <a:custGeom>
                <a:avLst/>
                <a:gdLst>
                  <a:gd name="T0" fmla="*/ 0 w 801"/>
                  <a:gd name="T1" fmla="*/ 0 h 1"/>
                  <a:gd name="T2" fmla="*/ 800 w 801"/>
                  <a:gd name="T3" fmla="*/ 0 h 1"/>
                  <a:gd name="T4" fmla="*/ 801 w 80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01" h="1">
                    <a:moveTo>
                      <a:pt x="0" y="0"/>
                    </a:moveTo>
                    <a:lnTo>
                      <a:pt x="800" y="0"/>
                    </a:lnTo>
                    <a:lnTo>
                      <a:pt x="80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9" name="Freeform 80"/>
              <p:cNvSpPr>
                <a:spLocks noChangeArrowheads="1"/>
              </p:cNvSpPr>
              <p:nvPr/>
            </p:nvSpPr>
            <p:spPr bwMode="auto">
              <a:xfrm>
                <a:off x="1802" y="2388"/>
                <a:ext cx="16" cy="1"/>
              </a:xfrm>
              <a:custGeom>
                <a:avLst/>
                <a:gdLst>
                  <a:gd name="T0" fmla="*/ 0 w 68"/>
                  <a:gd name="T1" fmla="*/ 0 h 1"/>
                  <a:gd name="T2" fmla="*/ 67 w 68"/>
                  <a:gd name="T3" fmla="*/ 0 h 1"/>
                  <a:gd name="T4" fmla="*/ 68 w 68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1">
                    <a:moveTo>
                      <a:pt x="0" y="0"/>
                    </a:moveTo>
                    <a:lnTo>
                      <a:pt x="67" y="0"/>
                    </a:lnTo>
                    <a:lnTo>
                      <a:pt x="68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48" name="Freeform 81"/>
            <p:cNvSpPr>
              <a:spLocks noChangeArrowheads="1"/>
            </p:cNvSpPr>
            <p:nvPr/>
          </p:nvSpPr>
          <p:spPr bwMode="auto">
            <a:xfrm>
              <a:off x="1359" y="910"/>
              <a:ext cx="1" cy="218"/>
            </a:xfrm>
            <a:custGeom>
              <a:avLst/>
              <a:gdLst>
                <a:gd name="T0" fmla="*/ 0 w 1"/>
                <a:gd name="T1" fmla="*/ 946 h 946"/>
                <a:gd name="T2" fmla="*/ 0 w 1"/>
                <a:gd name="T3" fmla="*/ 0 h 946"/>
                <a:gd name="T4" fmla="*/ 1 w 1"/>
                <a:gd name="T5" fmla="*/ 0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46">
                  <a:moveTo>
                    <a:pt x="0" y="94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49" name="Group 82"/>
            <p:cNvGrpSpPr>
              <a:grpSpLocks/>
            </p:cNvGrpSpPr>
            <p:nvPr/>
          </p:nvGrpSpPr>
          <p:grpSpPr bwMode="auto">
            <a:xfrm>
              <a:off x="1293" y="777"/>
              <a:ext cx="24" cy="239"/>
              <a:chOff x="1575" y="1647"/>
              <a:chExt cx="24" cy="239"/>
            </a:xfrm>
          </p:grpSpPr>
          <p:sp>
            <p:nvSpPr>
              <p:cNvPr id="91" name="Freeform 83"/>
              <p:cNvSpPr>
                <a:spLocks noChangeArrowheads="1"/>
              </p:cNvSpPr>
              <p:nvPr/>
            </p:nvSpPr>
            <p:spPr bwMode="auto">
              <a:xfrm>
                <a:off x="1588" y="1698"/>
                <a:ext cx="10" cy="38"/>
              </a:xfrm>
              <a:custGeom>
                <a:avLst/>
                <a:gdLst>
                  <a:gd name="T0" fmla="*/ 41 w 41"/>
                  <a:gd name="T1" fmla="*/ 166 h 166"/>
                  <a:gd name="T2" fmla="*/ 0 w 41"/>
                  <a:gd name="T3" fmla="*/ 0 h 166"/>
                  <a:gd name="T4" fmla="*/ 1 w 41"/>
                  <a:gd name="T5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166">
                    <a:moveTo>
                      <a:pt x="41" y="166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2" name="Freeform 84"/>
              <p:cNvSpPr>
                <a:spLocks noChangeArrowheads="1"/>
              </p:cNvSpPr>
              <p:nvPr/>
            </p:nvSpPr>
            <p:spPr bwMode="auto">
              <a:xfrm>
                <a:off x="1575" y="1647"/>
                <a:ext cx="10" cy="39"/>
              </a:xfrm>
              <a:custGeom>
                <a:avLst/>
                <a:gdLst>
                  <a:gd name="T0" fmla="*/ 41 w 41"/>
                  <a:gd name="T1" fmla="*/ 164 h 164"/>
                  <a:gd name="T2" fmla="*/ 0 w 41"/>
                  <a:gd name="T3" fmla="*/ 0 h 164"/>
                  <a:gd name="T4" fmla="*/ 1 w 41"/>
                  <a:gd name="T5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164">
                    <a:moveTo>
                      <a:pt x="41" y="16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3" name="Freeform 85"/>
              <p:cNvSpPr>
                <a:spLocks noChangeArrowheads="1"/>
              </p:cNvSpPr>
              <p:nvPr/>
            </p:nvSpPr>
            <p:spPr bwMode="auto">
              <a:xfrm>
                <a:off x="1598" y="1821"/>
                <a:ext cx="1" cy="65"/>
              </a:xfrm>
              <a:custGeom>
                <a:avLst/>
                <a:gdLst>
                  <a:gd name="T0" fmla="*/ 0 w 1"/>
                  <a:gd name="T1" fmla="*/ 283 h 283"/>
                  <a:gd name="T2" fmla="*/ 0 w 1"/>
                  <a:gd name="T3" fmla="*/ 0 h 283"/>
                  <a:gd name="T4" fmla="*/ 1 w 1"/>
                  <a:gd name="T5" fmla="*/ 0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83">
                    <a:moveTo>
                      <a:pt x="0" y="28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4" name="Freeform 86"/>
              <p:cNvSpPr>
                <a:spLocks noChangeArrowheads="1"/>
              </p:cNvSpPr>
              <p:nvPr/>
            </p:nvSpPr>
            <p:spPr bwMode="auto">
              <a:xfrm>
                <a:off x="1598" y="1740"/>
                <a:ext cx="1" cy="66"/>
              </a:xfrm>
              <a:custGeom>
                <a:avLst/>
                <a:gdLst>
                  <a:gd name="T0" fmla="*/ 0 w 1"/>
                  <a:gd name="T1" fmla="*/ 282 h 282"/>
                  <a:gd name="T2" fmla="*/ 0 w 1"/>
                  <a:gd name="T3" fmla="*/ 0 h 282"/>
                  <a:gd name="T4" fmla="*/ 1 w 1"/>
                  <a:gd name="T5" fmla="*/ 0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82">
                    <a:moveTo>
                      <a:pt x="0" y="28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50" name="Group 87"/>
            <p:cNvGrpSpPr>
              <a:grpSpLocks/>
            </p:cNvGrpSpPr>
            <p:nvPr/>
          </p:nvGrpSpPr>
          <p:grpSpPr bwMode="auto">
            <a:xfrm>
              <a:off x="1145" y="866"/>
              <a:ext cx="258" cy="1"/>
              <a:chOff x="1427" y="1736"/>
              <a:chExt cx="258" cy="1"/>
            </a:xfrm>
          </p:grpSpPr>
          <p:sp>
            <p:nvSpPr>
              <p:cNvPr id="88" name="Freeform 88"/>
              <p:cNvSpPr>
                <a:spLocks noChangeArrowheads="1"/>
              </p:cNvSpPr>
              <p:nvPr/>
            </p:nvSpPr>
            <p:spPr bwMode="auto">
              <a:xfrm>
                <a:off x="1427" y="1736"/>
                <a:ext cx="99" cy="1"/>
              </a:xfrm>
              <a:custGeom>
                <a:avLst/>
                <a:gdLst>
                  <a:gd name="T0" fmla="*/ 395 w 395"/>
                  <a:gd name="T1" fmla="*/ 0 h 1"/>
                  <a:gd name="T2" fmla="*/ 0 w 395"/>
                  <a:gd name="T3" fmla="*/ 0 h 1"/>
                  <a:gd name="T4" fmla="*/ 1 w 39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5" h="1">
                    <a:moveTo>
                      <a:pt x="395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9" name="Freeform 89"/>
              <p:cNvSpPr>
                <a:spLocks noChangeArrowheads="1"/>
              </p:cNvSpPr>
              <p:nvPr/>
            </p:nvSpPr>
            <p:spPr bwMode="auto">
              <a:xfrm>
                <a:off x="1592" y="1736"/>
                <a:ext cx="93" cy="1"/>
              </a:xfrm>
              <a:custGeom>
                <a:avLst/>
                <a:gdLst>
                  <a:gd name="T0" fmla="*/ 371 w 371"/>
                  <a:gd name="T1" fmla="*/ 0 h 1"/>
                  <a:gd name="T2" fmla="*/ 0 w 371"/>
                  <a:gd name="T3" fmla="*/ 0 h 1"/>
                  <a:gd name="T4" fmla="*/ 1 w 37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1" h="1">
                    <a:moveTo>
                      <a:pt x="371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0" name="Freeform 90"/>
              <p:cNvSpPr>
                <a:spLocks noChangeArrowheads="1"/>
              </p:cNvSpPr>
              <p:nvPr/>
            </p:nvSpPr>
            <p:spPr bwMode="auto">
              <a:xfrm>
                <a:off x="1551" y="1736"/>
                <a:ext cx="16" cy="1"/>
              </a:xfrm>
              <a:custGeom>
                <a:avLst/>
                <a:gdLst>
                  <a:gd name="T0" fmla="*/ 65 w 65"/>
                  <a:gd name="T1" fmla="*/ 0 h 1"/>
                  <a:gd name="T2" fmla="*/ 0 w 65"/>
                  <a:gd name="T3" fmla="*/ 0 h 1"/>
                  <a:gd name="T4" fmla="*/ 1 w 6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5" h="1">
                    <a:moveTo>
                      <a:pt x="65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51" name="Group 91"/>
            <p:cNvGrpSpPr>
              <a:grpSpLocks/>
            </p:cNvGrpSpPr>
            <p:nvPr/>
          </p:nvGrpSpPr>
          <p:grpSpPr bwMode="auto">
            <a:xfrm>
              <a:off x="1468" y="639"/>
              <a:ext cx="1" cy="542"/>
              <a:chOff x="1750" y="1509"/>
              <a:chExt cx="1" cy="542"/>
            </a:xfrm>
          </p:grpSpPr>
          <p:sp>
            <p:nvSpPr>
              <p:cNvPr id="85" name="Freeform 92"/>
              <p:cNvSpPr>
                <a:spLocks noChangeArrowheads="1"/>
              </p:cNvSpPr>
              <p:nvPr/>
            </p:nvSpPr>
            <p:spPr bwMode="auto">
              <a:xfrm>
                <a:off x="1750" y="1509"/>
                <a:ext cx="1" cy="215"/>
              </a:xfrm>
              <a:custGeom>
                <a:avLst/>
                <a:gdLst>
                  <a:gd name="T0" fmla="*/ 0 w 1"/>
                  <a:gd name="T1" fmla="*/ 0 h 929"/>
                  <a:gd name="T2" fmla="*/ 0 w 1"/>
                  <a:gd name="T3" fmla="*/ 929 h 929"/>
                  <a:gd name="T4" fmla="*/ 1 w 1"/>
                  <a:gd name="T5" fmla="*/ 929 h 9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29">
                    <a:moveTo>
                      <a:pt x="0" y="0"/>
                    </a:moveTo>
                    <a:lnTo>
                      <a:pt x="0" y="929"/>
                    </a:lnTo>
                    <a:lnTo>
                      <a:pt x="1" y="929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6" name="Freeform 93"/>
              <p:cNvSpPr>
                <a:spLocks noChangeArrowheads="1"/>
              </p:cNvSpPr>
              <p:nvPr/>
            </p:nvSpPr>
            <p:spPr bwMode="auto">
              <a:xfrm>
                <a:off x="1750" y="1810"/>
                <a:ext cx="1" cy="241"/>
              </a:xfrm>
              <a:custGeom>
                <a:avLst/>
                <a:gdLst>
                  <a:gd name="T0" fmla="*/ 0 w 1"/>
                  <a:gd name="T1" fmla="*/ 0 h 1039"/>
                  <a:gd name="T2" fmla="*/ 0 w 1"/>
                  <a:gd name="T3" fmla="*/ 1039 h 1039"/>
                  <a:gd name="T4" fmla="*/ 1 w 1"/>
                  <a:gd name="T5" fmla="*/ 1039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39">
                    <a:moveTo>
                      <a:pt x="0" y="0"/>
                    </a:moveTo>
                    <a:lnTo>
                      <a:pt x="0" y="1039"/>
                    </a:lnTo>
                    <a:lnTo>
                      <a:pt x="1" y="1039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7" name="Freeform 94"/>
              <p:cNvSpPr>
                <a:spLocks noChangeArrowheads="1"/>
              </p:cNvSpPr>
              <p:nvPr/>
            </p:nvSpPr>
            <p:spPr bwMode="auto">
              <a:xfrm>
                <a:off x="1750" y="1757"/>
                <a:ext cx="1" cy="20"/>
              </a:xfrm>
              <a:custGeom>
                <a:avLst/>
                <a:gdLst>
                  <a:gd name="T0" fmla="*/ 0 w 1"/>
                  <a:gd name="T1" fmla="*/ 0 h 90"/>
                  <a:gd name="T2" fmla="*/ 0 w 1"/>
                  <a:gd name="T3" fmla="*/ 90 h 90"/>
                  <a:gd name="T4" fmla="*/ 1 w 1"/>
                  <a:gd name="T5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0">
                    <a:moveTo>
                      <a:pt x="0" y="0"/>
                    </a:moveTo>
                    <a:lnTo>
                      <a:pt x="0" y="90"/>
                    </a:lnTo>
                    <a:lnTo>
                      <a:pt x="1" y="9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52" name="Freeform 95"/>
            <p:cNvSpPr>
              <a:spLocks noChangeArrowheads="1"/>
            </p:cNvSpPr>
            <p:nvPr/>
          </p:nvSpPr>
          <p:spPr bwMode="auto">
            <a:xfrm>
              <a:off x="1710" y="1016"/>
              <a:ext cx="1" cy="112"/>
            </a:xfrm>
            <a:custGeom>
              <a:avLst/>
              <a:gdLst>
                <a:gd name="T0" fmla="*/ 0 w 1"/>
                <a:gd name="T1" fmla="*/ 485 h 485"/>
                <a:gd name="T2" fmla="*/ 0 w 1"/>
                <a:gd name="T3" fmla="*/ 0 h 485"/>
                <a:gd name="T4" fmla="*/ 1 w 1"/>
                <a:gd name="T5" fmla="*/ 0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85">
                  <a:moveTo>
                    <a:pt x="0" y="48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3" name="Freeform 96"/>
            <p:cNvSpPr>
              <a:spLocks noChangeArrowheads="1"/>
            </p:cNvSpPr>
            <p:nvPr/>
          </p:nvSpPr>
          <p:spPr bwMode="auto">
            <a:xfrm>
              <a:off x="1644" y="1016"/>
              <a:ext cx="66" cy="1"/>
            </a:xfrm>
            <a:custGeom>
              <a:avLst/>
              <a:gdLst>
                <a:gd name="T0" fmla="*/ 263 w 263"/>
                <a:gd name="T1" fmla="*/ 0 h 1"/>
                <a:gd name="T2" fmla="*/ 0 w 263"/>
                <a:gd name="T3" fmla="*/ 0 h 1"/>
                <a:gd name="T4" fmla="*/ 1 w 26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3" h="1">
                  <a:moveTo>
                    <a:pt x="263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4" name="Freeform 97"/>
            <p:cNvSpPr>
              <a:spLocks noChangeArrowheads="1"/>
            </p:cNvSpPr>
            <p:nvPr/>
          </p:nvSpPr>
          <p:spPr bwMode="auto">
            <a:xfrm>
              <a:off x="1961" y="966"/>
              <a:ext cx="263" cy="1"/>
            </a:xfrm>
            <a:custGeom>
              <a:avLst/>
              <a:gdLst>
                <a:gd name="T0" fmla="*/ 0 w 1053"/>
                <a:gd name="T1" fmla="*/ 0 h 1"/>
                <a:gd name="T2" fmla="*/ 1052 w 1053"/>
                <a:gd name="T3" fmla="*/ 0 h 1"/>
                <a:gd name="T4" fmla="*/ 1053 w 105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3" h="1">
                  <a:moveTo>
                    <a:pt x="0" y="0"/>
                  </a:moveTo>
                  <a:lnTo>
                    <a:pt x="1052" y="0"/>
                  </a:lnTo>
                  <a:lnTo>
                    <a:pt x="1053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5" name="Freeform 98"/>
            <p:cNvSpPr>
              <a:spLocks noChangeArrowheads="1"/>
            </p:cNvSpPr>
            <p:nvPr/>
          </p:nvSpPr>
          <p:spPr bwMode="auto">
            <a:xfrm>
              <a:off x="2005" y="866"/>
              <a:ext cx="1" cy="100"/>
            </a:xfrm>
            <a:custGeom>
              <a:avLst/>
              <a:gdLst>
                <a:gd name="T0" fmla="*/ 0 w 1"/>
                <a:gd name="T1" fmla="*/ 0 h 436"/>
                <a:gd name="T2" fmla="*/ 0 w 1"/>
                <a:gd name="T3" fmla="*/ 436 h 436"/>
                <a:gd name="T4" fmla="*/ 1 w 1"/>
                <a:gd name="T5" fmla="*/ 436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36">
                  <a:moveTo>
                    <a:pt x="0" y="0"/>
                  </a:moveTo>
                  <a:lnTo>
                    <a:pt x="0" y="436"/>
                  </a:lnTo>
                  <a:lnTo>
                    <a:pt x="1" y="43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6" name="Freeform 99"/>
            <p:cNvSpPr>
              <a:spLocks noChangeArrowheads="1"/>
            </p:cNvSpPr>
            <p:nvPr/>
          </p:nvSpPr>
          <p:spPr bwMode="auto">
            <a:xfrm>
              <a:off x="2005" y="1001"/>
              <a:ext cx="1" cy="15"/>
            </a:xfrm>
            <a:custGeom>
              <a:avLst/>
              <a:gdLst>
                <a:gd name="T0" fmla="*/ 0 w 1"/>
                <a:gd name="T1" fmla="*/ 0 h 63"/>
                <a:gd name="T2" fmla="*/ 0 w 1"/>
                <a:gd name="T3" fmla="*/ 63 h 63"/>
                <a:gd name="T4" fmla="*/ 1 w 1"/>
                <a:gd name="T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3">
                  <a:moveTo>
                    <a:pt x="0" y="0"/>
                  </a:moveTo>
                  <a:lnTo>
                    <a:pt x="0" y="63"/>
                  </a:lnTo>
                  <a:lnTo>
                    <a:pt x="1" y="63"/>
                  </a:lnTo>
                </a:path>
              </a:pathLst>
            </a:custGeom>
            <a:noFill/>
            <a:ln w="19050">
              <a:solidFill>
                <a:srgbClr val="FF66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7" name="Freeform 100"/>
            <p:cNvSpPr>
              <a:spLocks noChangeArrowheads="1"/>
            </p:cNvSpPr>
            <p:nvPr/>
          </p:nvSpPr>
          <p:spPr bwMode="auto">
            <a:xfrm>
              <a:off x="2005" y="976"/>
              <a:ext cx="1" cy="15"/>
            </a:xfrm>
            <a:custGeom>
              <a:avLst/>
              <a:gdLst>
                <a:gd name="T0" fmla="*/ 0 w 1"/>
                <a:gd name="T1" fmla="*/ 0 h 72"/>
                <a:gd name="T2" fmla="*/ 0 w 1"/>
                <a:gd name="T3" fmla="*/ 72 h 72"/>
                <a:gd name="T4" fmla="*/ 1 w 1"/>
                <a:gd name="T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2">
                  <a:moveTo>
                    <a:pt x="0" y="0"/>
                  </a:moveTo>
                  <a:lnTo>
                    <a:pt x="0" y="72"/>
                  </a:lnTo>
                  <a:lnTo>
                    <a:pt x="1" y="72"/>
                  </a:lnTo>
                </a:path>
              </a:pathLst>
            </a:custGeom>
            <a:noFill/>
            <a:ln w="9525">
              <a:solidFill>
                <a:srgbClr val="FF66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58" name="Group 101"/>
            <p:cNvGrpSpPr>
              <a:grpSpLocks/>
            </p:cNvGrpSpPr>
            <p:nvPr/>
          </p:nvGrpSpPr>
          <p:grpSpPr bwMode="auto">
            <a:xfrm>
              <a:off x="2020" y="966"/>
              <a:ext cx="147" cy="162"/>
              <a:chOff x="2302" y="1836"/>
              <a:chExt cx="147" cy="162"/>
            </a:xfrm>
          </p:grpSpPr>
          <p:sp>
            <p:nvSpPr>
              <p:cNvPr id="81" name="Freeform 102"/>
              <p:cNvSpPr>
                <a:spLocks noChangeArrowheads="1"/>
              </p:cNvSpPr>
              <p:nvPr/>
            </p:nvSpPr>
            <p:spPr bwMode="auto">
              <a:xfrm>
                <a:off x="2302" y="1926"/>
                <a:ext cx="1" cy="72"/>
              </a:xfrm>
              <a:custGeom>
                <a:avLst/>
                <a:gdLst>
                  <a:gd name="T0" fmla="*/ 0 w 1"/>
                  <a:gd name="T1" fmla="*/ 314 h 314"/>
                  <a:gd name="T2" fmla="*/ 0 w 1"/>
                  <a:gd name="T3" fmla="*/ 0 h 314"/>
                  <a:gd name="T4" fmla="*/ 1 w 1"/>
                  <a:gd name="T5" fmla="*/ 0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14">
                    <a:moveTo>
                      <a:pt x="0" y="31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2" name="Freeform 103"/>
              <p:cNvSpPr>
                <a:spLocks noChangeArrowheads="1"/>
              </p:cNvSpPr>
              <p:nvPr/>
            </p:nvSpPr>
            <p:spPr bwMode="auto">
              <a:xfrm>
                <a:off x="2302" y="1836"/>
                <a:ext cx="1" cy="72"/>
              </a:xfrm>
              <a:custGeom>
                <a:avLst/>
                <a:gdLst>
                  <a:gd name="T0" fmla="*/ 0 w 1"/>
                  <a:gd name="T1" fmla="*/ 312 h 312"/>
                  <a:gd name="T2" fmla="*/ 0 w 1"/>
                  <a:gd name="T3" fmla="*/ 0 h 312"/>
                  <a:gd name="T4" fmla="*/ 1 w 1"/>
                  <a:gd name="T5" fmla="*/ 0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12">
                    <a:moveTo>
                      <a:pt x="0" y="31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3" name="Freeform 104"/>
              <p:cNvSpPr>
                <a:spLocks noChangeArrowheads="1"/>
              </p:cNvSpPr>
              <p:nvPr/>
            </p:nvSpPr>
            <p:spPr bwMode="auto">
              <a:xfrm>
                <a:off x="2448" y="1926"/>
                <a:ext cx="1" cy="72"/>
              </a:xfrm>
              <a:custGeom>
                <a:avLst/>
                <a:gdLst>
                  <a:gd name="T0" fmla="*/ 0 w 1"/>
                  <a:gd name="T1" fmla="*/ 314 h 314"/>
                  <a:gd name="T2" fmla="*/ 0 w 1"/>
                  <a:gd name="T3" fmla="*/ 0 h 314"/>
                  <a:gd name="T4" fmla="*/ 1 w 1"/>
                  <a:gd name="T5" fmla="*/ 0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14">
                    <a:moveTo>
                      <a:pt x="0" y="31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4" name="Freeform 105"/>
              <p:cNvSpPr>
                <a:spLocks noChangeArrowheads="1"/>
              </p:cNvSpPr>
              <p:nvPr/>
            </p:nvSpPr>
            <p:spPr bwMode="auto">
              <a:xfrm>
                <a:off x="2448" y="1836"/>
                <a:ext cx="1" cy="72"/>
              </a:xfrm>
              <a:custGeom>
                <a:avLst/>
                <a:gdLst>
                  <a:gd name="T0" fmla="*/ 0 w 1"/>
                  <a:gd name="T1" fmla="*/ 312 h 312"/>
                  <a:gd name="T2" fmla="*/ 0 w 1"/>
                  <a:gd name="T3" fmla="*/ 0 h 312"/>
                  <a:gd name="T4" fmla="*/ 1 w 1"/>
                  <a:gd name="T5" fmla="*/ 0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12">
                    <a:moveTo>
                      <a:pt x="0" y="31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59" name="Freeform 106"/>
            <p:cNvSpPr>
              <a:spLocks noChangeArrowheads="1"/>
            </p:cNvSpPr>
            <p:nvPr/>
          </p:nvSpPr>
          <p:spPr bwMode="auto">
            <a:xfrm>
              <a:off x="2181" y="866"/>
              <a:ext cx="1" cy="100"/>
            </a:xfrm>
            <a:custGeom>
              <a:avLst/>
              <a:gdLst>
                <a:gd name="T0" fmla="*/ 0 w 1"/>
                <a:gd name="T1" fmla="*/ 0 h 436"/>
                <a:gd name="T2" fmla="*/ 0 w 1"/>
                <a:gd name="T3" fmla="*/ 436 h 436"/>
                <a:gd name="T4" fmla="*/ 1 w 1"/>
                <a:gd name="T5" fmla="*/ 436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36">
                  <a:moveTo>
                    <a:pt x="0" y="0"/>
                  </a:moveTo>
                  <a:lnTo>
                    <a:pt x="0" y="436"/>
                  </a:lnTo>
                  <a:lnTo>
                    <a:pt x="1" y="43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0" name="Freeform 107"/>
            <p:cNvSpPr>
              <a:spLocks noChangeArrowheads="1"/>
            </p:cNvSpPr>
            <p:nvPr/>
          </p:nvSpPr>
          <p:spPr bwMode="auto">
            <a:xfrm>
              <a:off x="2181" y="1001"/>
              <a:ext cx="1" cy="15"/>
            </a:xfrm>
            <a:custGeom>
              <a:avLst/>
              <a:gdLst>
                <a:gd name="T0" fmla="*/ 0 w 1"/>
                <a:gd name="T1" fmla="*/ 0 h 69"/>
                <a:gd name="T2" fmla="*/ 0 w 1"/>
                <a:gd name="T3" fmla="*/ 69 h 69"/>
                <a:gd name="T4" fmla="*/ 1 w 1"/>
                <a:gd name="T5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9">
                  <a:moveTo>
                    <a:pt x="0" y="0"/>
                  </a:moveTo>
                  <a:lnTo>
                    <a:pt x="0" y="69"/>
                  </a:lnTo>
                  <a:lnTo>
                    <a:pt x="1" y="69"/>
                  </a:lnTo>
                </a:path>
              </a:pathLst>
            </a:custGeom>
            <a:noFill/>
            <a:ln w="19050">
              <a:solidFill>
                <a:srgbClr val="FF66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1" name="Freeform 108"/>
            <p:cNvSpPr>
              <a:spLocks noChangeArrowheads="1"/>
            </p:cNvSpPr>
            <p:nvPr/>
          </p:nvSpPr>
          <p:spPr bwMode="auto">
            <a:xfrm>
              <a:off x="2181" y="972"/>
              <a:ext cx="1" cy="20"/>
            </a:xfrm>
            <a:custGeom>
              <a:avLst/>
              <a:gdLst>
                <a:gd name="T0" fmla="*/ 0 w 1"/>
                <a:gd name="T1" fmla="*/ 0 h 87"/>
                <a:gd name="T2" fmla="*/ 0 w 1"/>
                <a:gd name="T3" fmla="*/ 87 h 87"/>
                <a:gd name="T4" fmla="*/ 1 w 1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7">
                  <a:moveTo>
                    <a:pt x="0" y="0"/>
                  </a:moveTo>
                  <a:lnTo>
                    <a:pt x="0" y="87"/>
                  </a:lnTo>
                  <a:lnTo>
                    <a:pt x="1" y="87"/>
                  </a:lnTo>
                </a:path>
              </a:pathLst>
            </a:custGeom>
            <a:noFill/>
            <a:ln w="9525">
              <a:solidFill>
                <a:srgbClr val="FF66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2" name="Freeform 109"/>
            <p:cNvSpPr>
              <a:spLocks noChangeArrowheads="1"/>
            </p:cNvSpPr>
            <p:nvPr/>
          </p:nvSpPr>
          <p:spPr bwMode="auto">
            <a:xfrm>
              <a:off x="1293" y="672"/>
              <a:ext cx="351" cy="1"/>
            </a:xfrm>
            <a:custGeom>
              <a:avLst/>
              <a:gdLst>
                <a:gd name="T0" fmla="*/ 1403 w 1403"/>
                <a:gd name="T1" fmla="*/ 0 h 1"/>
                <a:gd name="T2" fmla="*/ 0 w 1403"/>
                <a:gd name="T3" fmla="*/ 0 h 1"/>
                <a:gd name="T4" fmla="*/ 1 w 140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3" h="1">
                  <a:moveTo>
                    <a:pt x="1403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3" name="Freeform 110"/>
            <p:cNvSpPr>
              <a:spLocks noChangeArrowheads="1"/>
            </p:cNvSpPr>
            <p:nvPr/>
          </p:nvSpPr>
          <p:spPr bwMode="auto">
            <a:xfrm>
              <a:off x="1293" y="672"/>
              <a:ext cx="1" cy="105"/>
            </a:xfrm>
            <a:custGeom>
              <a:avLst/>
              <a:gdLst>
                <a:gd name="T0" fmla="*/ 0 w 1"/>
                <a:gd name="T1" fmla="*/ 455 h 455"/>
                <a:gd name="T2" fmla="*/ 0 w 1"/>
                <a:gd name="T3" fmla="*/ 0 h 455"/>
                <a:gd name="T4" fmla="*/ 1 w 1"/>
                <a:gd name="T5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55">
                  <a:moveTo>
                    <a:pt x="0" y="45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4" name="Freeform 111"/>
            <p:cNvSpPr>
              <a:spLocks noChangeArrowheads="1"/>
            </p:cNvSpPr>
            <p:nvPr/>
          </p:nvSpPr>
          <p:spPr bwMode="auto">
            <a:xfrm>
              <a:off x="1356" y="672"/>
              <a:ext cx="4" cy="156"/>
            </a:xfrm>
            <a:custGeom>
              <a:avLst/>
              <a:gdLst>
                <a:gd name="T0" fmla="*/ 0 w 4"/>
                <a:gd name="T1" fmla="*/ 156 h 156"/>
                <a:gd name="T2" fmla="*/ 3 w 4"/>
                <a:gd name="T3" fmla="*/ 0 h 156"/>
                <a:gd name="T4" fmla="*/ 4 w 4"/>
                <a:gd name="T5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56">
                  <a:moveTo>
                    <a:pt x="0" y="156"/>
                  </a:moveTo>
                  <a:lnTo>
                    <a:pt x="3" y="0"/>
                  </a:lnTo>
                  <a:lnTo>
                    <a:pt x="4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5" name="Freeform 112"/>
            <p:cNvSpPr>
              <a:spLocks noChangeArrowheads="1"/>
            </p:cNvSpPr>
            <p:nvPr/>
          </p:nvSpPr>
          <p:spPr bwMode="auto">
            <a:xfrm>
              <a:off x="1917" y="672"/>
              <a:ext cx="351" cy="1"/>
            </a:xfrm>
            <a:custGeom>
              <a:avLst/>
              <a:gdLst>
                <a:gd name="T0" fmla="*/ 0 w 1404"/>
                <a:gd name="T1" fmla="*/ 0 h 1"/>
                <a:gd name="T2" fmla="*/ 1403 w 1404"/>
                <a:gd name="T3" fmla="*/ 0 h 1"/>
                <a:gd name="T4" fmla="*/ 1404 w 140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4" h="1">
                  <a:moveTo>
                    <a:pt x="0" y="0"/>
                  </a:moveTo>
                  <a:lnTo>
                    <a:pt x="1403" y="0"/>
                  </a:lnTo>
                  <a:lnTo>
                    <a:pt x="1404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66" name="Group 113"/>
            <p:cNvGrpSpPr>
              <a:grpSpLocks/>
            </p:cNvGrpSpPr>
            <p:nvPr/>
          </p:nvGrpSpPr>
          <p:grpSpPr bwMode="auto">
            <a:xfrm>
              <a:off x="2093" y="640"/>
              <a:ext cx="1" cy="519"/>
              <a:chOff x="2375" y="1510"/>
              <a:chExt cx="1" cy="519"/>
            </a:xfrm>
          </p:grpSpPr>
          <p:sp>
            <p:nvSpPr>
              <p:cNvPr id="76" name="Freeform 114"/>
              <p:cNvSpPr>
                <a:spLocks noChangeArrowheads="1"/>
              </p:cNvSpPr>
              <p:nvPr/>
            </p:nvSpPr>
            <p:spPr bwMode="auto">
              <a:xfrm>
                <a:off x="2375" y="1627"/>
                <a:ext cx="1" cy="289"/>
              </a:xfrm>
              <a:custGeom>
                <a:avLst/>
                <a:gdLst>
                  <a:gd name="T0" fmla="*/ 0 w 1"/>
                  <a:gd name="T1" fmla="*/ 1250 h 1250"/>
                  <a:gd name="T2" fmla="*/ 0 w 1"/>
                  <a:gd name="T3" fmla="*/ 0 h 1250"/>
                  <a:gd name="T4" fmla="*/ 1 w 1"/>
                  <a:gd name="T5" fmla="*/ 0 h 1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250">
                    <a:moveTo>
                      <a:pt x="0" y="125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7" name="Freeform 115"/>
              <p:cNvSpPr>
                <a:spLocks noChangeArrowheads="1"/>
              </p:cNvSpPr>
              <p:nvPr/>
            </p:nvSpPr>
            <p:spPr bwMode="auto">
              <a:xfrm>
                <a:off x="2375" y="1944"/>
                <a:ext cx="1" cy="85"/>
              </a:xfrm>
              <a:custGeom>
                <a:avLst/>
                <a:gdLst>
                  <a:gd name="T0" fmla="*/ 0 w 1"/>
                  <a:gd name="T1" fmla="*/ 369 h 369"/>
                  <a:gd name="T2" fmla="*/ 0 w 1"/>
                  <a:gd name="T3" fmla="*/ 0 h 369"/>
                  <a:gd name="T4" fmla="*/ 1 w 1"/>
                  <a:gd name="T5" fmla="*/ 0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69">
                    <a:moveTo>
                      <a:pt x="0" y="36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8" name="Freeform 116"/>
              <p:cNvSpPr>
                <a:spLocks noChangeArrowheads="1"/>
              </p:cNvSpPr>
              <p:nvPr/>
            </p:nvSpPr>
            <p:spPr bwMode="auto">
              <a:xfrm>
                <a:off x="2375" y="1928"/>
                <a:ext cx="1" cy="4"/>
              </a:xfrm>
              <a:custGeom>
                <a:avLst/>
                <a:gdLst>
                  <a:gd name="T0" fmla="*/ 0 w 1"/>
                  <a:gd name="T1" fmla="*/ 21 h 21"/>
                  <a:gd name="T2" fmla="*/ 0 w 1"/>
                  <a:gd name="T3" fmla="*/ 0 h 21"/>
                  <a:gd name="T4" fmla="*/ 1 w 1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">
                    <a:moveTo>
                      <a:pt x="0" y="2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9" name="Freeform 117"/>
              <p:cNvSpPr>
                <a:spLocks noChangeArrowheads="1"/>
              </p:cNvSpPr>
              <p:nvPr/>
            </p:nvSpPr>
            <p:spPr bwMode="auto">
              <a:xfrm>
                <a:off x="2375" y="1510"/>
                <a:ext cx="1" cy="86"/>
              </a:xfrm>
              <a:custGeom>
                <a:avLst/>
                <a:gdLst>
                  <a:gd name="T0" fmla="*/ 0 w 1"/>
                  <a:gd name="T1" fmla="*/ 371 h 371"/>
                  <a:gd name="T2" fmla="*/ 0 w 1"/>
                  <a:gd name="T3" fmla="*/ 0 h 371"/>
                  <a:gd name="T4" fmla="*/ 1 w 1"/>
                  <a:gd name="T5" fmla="*/ 0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71">
                    <a:moveTo>
                      <a:pt x="0" y="37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0" name="Freeform 118"/>
              <p:cNvSpPr>
                <a:spLocks noChangeArrowheads="1"/>
              </p:cNvSpPr>
              <p:nvPr/>
            </p:nvSpPr>
            <p:spPr bwMode="auto">
              <a:xfrm>
                <a:off x="2375" y="1607"/>
                <a:ext cx="1" cy="7"/>
              </a:xfrm>
              <a:custGeom>
                <a:avLst/>
                <a:gdLst>
                  <a:gd name="T0" fmla="*/ 0 w 1"/>
                  <a:gd name="T1" fmla="*/ 29 h 29"/>
                  <a:gd name="T2" fmla="*/ 0 w 1"/>
                  <a:gd name="T3" fmla="*/ 0 h 29"/>
                  <a:gd name="T4" fmla="*/ 1 w 1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9">
                    <a:moveTo>
                      <a:pt x="0" y="2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67" name="Line 119"/>
            <p:cNvSpPr>
              <a:spLocks noChangeShapeType="1"/>
            </p:cNvSpPr>
            <p:nvPr/>
          </p:nvSpPr>
          <p:spPr bwMode="auto">
            <a:xfrm>
              <a:off x="701" y="1015"/>
              <a:ext cx="4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" name="Freeform 120"/>
            <p:cNvSpPr>
              <a:spLocks noChangeArrowheads="1"/>
            </p:cNvSpPr>
            <p:nvPr/>
          </p:nvSpPr>
          <p:spPr bwMode="auto">
            <a:xfrm>
              <a:off x="742" y="1014"/>
              <a:ext cx="260" cy="3"/>
            </a:xfrm>
            <a:custGeom>
              <a:avLst/>
              <a:gdLst>
                <a:gd name="T0" fmla="*/ 0 w 260"/>
                <a:gd name="T1" fmla="*/ 3 h 3"/>
                <a:gd name="T2" fmla="*/ 260 w 260"/>
                <a:gd name="T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60" h="3">
                  <a:moveTo>
                    <a:pt x="0" y="3"/>
                  </a:moveTo>
                  <a:lnTo>
                    <a:pt x="260" y="0"/>
                  </a:lnTo>
                </a:path>
              </a:pathLst>
            </a:custGeom>
            <a:noFill/>
            <a:ln w="9525">
              <a:solidFill>
                <a:srgbClr val="FF66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9" name="Line 121"/>
            <p:cNvSpPr>
              <a:spLocks noChangeShapeType="1"/>
            </p:cNvSpPr>
            <p:nvPr/>
          </p:nvSpPr>
          <p:spPr bwMode="auto">
            <a:xfrm>
              <a:off x="1177" y="1014"/>
              <a:ext cx="467" cy="0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" name="Oval 122"/>
            <p:cNvSpPr>
              <a:spLocks noChangeArrowheads="1"/>
            </p:cNvSpPr>
            <p:nvPr/>
          </p:nvSpPr>
          <p:spPr bwMode="auto">
            <a:xfrm>
              <a:off x="752" y="1398"/>
              <a:ext cx="231" cy="242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1" name="Line 123"/>
            <p:cNvSpPr>
              <a:spLocks noChangeShapeType="1"/>
            </p:cNvSpPr>
            <p:nvPr/>
          </p:nvSpPr>
          <p:spPr bwMode="auto">
            <a:xfrm>
              <a:off x="1177" y="1427"/>
              <a:ext cx="0" cy="18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" name="Line 124"/>
            <p:cNvSpPr>
              <a:spLocks noChangeShapeType="1"/>
            </p:cNvSpPr>
            <p:nvPr/>
          </p:nvSpPr>
          <p:spPr bwMode="auto">
            <a:xfrm>
              <a:off x="1178" y="1475"/>
              <a:ext cx="190" cy="0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" name="Line 125"/>
            <p:cNvSpPr>
              <a:spLocks noChangeShapeType="1"/>
            </p:cNvSpPr>
            <p:nvPr/>
          </p:nvSpPr>
          <p:spPr bwMode="auto">
            <a:xfrm>
              <a:off x="1177" y="1562"/>
              <a:ext cx="191" cy="0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" name="Line 126"/>
            <p:cNvSpPr>
              <a:spLocks noChangeShapeType="1"/>
            </p:cNvSpPr>
            <p:nvPr/>
          </p:nvSpPr>
          <p:spPr bwMode="auto">
            <a:xfrm>
              <a:off x="1961" y="966"/>
              <a:ext cx="0" cy="4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" name="Line 127"/>
            <p:cNvSpPr>
              <a:spLocks noChangeShapeType="1"/>
            </p:cNvSpPr>
            <p:nvPr/>
          </p:nvSpPr>
          <p:spPr bwMode="auto">
            <a:xfrm>
              <a:off x="2224" y="956"/>
              <a:ext cx="0" cy="5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8" name="Group 128"/>
          <p:cNvGrpSpPr>
            <a:grpSpLocks/>
          </p:cNvGrpSpPr>
          <p:nvPr/>
        </p:nvGrpSpPr>
        <p:grpSpPr bwMode="auto">
          <a:xfrm>
            <a:off x="6708775" y="1087438"/>
            <a:ext cx="3181350" cy="2209800"/>
            <a:chOff x="2954" y="651"/>
            <a:chExt cx="1669" cy="1160"/>
          </a:xfrm>
        </p:grpSpPr>
        <p:sp>
          <p:nvSpPr>
            <p:cNvPr id="129" name="Arc 129"/>
            <p:cNvSpPr>
              <a:spLocks noChangeArrowheads="1"/>
            </p:cNvSpPr>
            <p:nvPr/>
          </p:nvSpPr>
          <p:spPr bwMode="auto">
            <a:xfrm flipH="1">
              <a:off x="4295" y="790"/>
              <a:ext cx="178" cy="89"/>
            </a:xfrm>
            <a:custGeom>
              <a:avLst/>
              <a:gdLst>
                <a:gd name="T0" fmla="*/ 0 w 43199"/>
                <a:gd name="T1" fmla="*/ 21346 h 21600"/>
                <a:gd name="T2" fmla="*/ 21599 w 43199"/>
                <a:gd name="T3" fmla="*/ 0 h 21600"/>
                <a:gd name="T4" fmla="*/ 43199 w 43199"/>
                <a:gd name="T5" fmla="*/ 21600 h 21600"/>
                <a:gd name="T6" fmla="*/ 0 w 43199"/>
                <a:gd name="T7" fmla="*/ 21346 h 21600"/>
                <a:gd name="T8" fmla="*/ 21599 w 43199"/>
                <a:gd name="T9" fmla="*/ 0 h 21600"/>
                <a:gd name="T10" fmla="*/ 43199 w 43199"/>
                <a:gd name="T11" fmla="*/ 21600 h 21600"/>
                <a:gd name="T12" fmla="*/ 21599 w 43199"/>
                <a:gd name="T13" fmla="*/ 216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199" h="21600" fill="none">
                  <a:moveTo>
                    <a:pt x="0" y="21346"/>
                  </a:moveTo>
                  <a:cubicBezTo>
                    <a:pt x="139" y="9516"/>
                    <a:pt x="9768" y="-1"/>
                    <a:pt x="21599" y="0"/>
                  </a:cubicBezTo>
                  <a:cubicBezTo>
                    <a:pt x="33528" y="0"/>
                    <a:pt x="43199" y="9670"/>
                    <a:pt x="43199" y="21600"/>
                  </a:cubicBezTo>
                </a:path>
                <a:path w="43199" h="21600" stroke="0">
                  <a:moveTo>
                    <a:pt x="0" y="21346"/>
                  </a:moveTo>
                  <a:cubicBezTo>
                    <a:pt x="139" y="9516"/>
                    <a:pt x="9768" y="-1"/>
                    <a:pt x="21599" y="0"/>
                  </a:cubicBezTo>
                  <a:cubicBezTo>
                    <a:pt x="33528" y="0"/>
                    <a:pt x="43199" y="9670"/>
                    <a:pt x="43199" y="21600"/>
                  </a:cubicBezTo>
                  <a:lnTo>
                    <a:pt x="21599" y="21600"/>
                  </a:lnTo>
                  <a:close/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0" name="Oval 130"/>
            <p:cNvSpPr>
              <a:spLocks noChangeArrowheads="1"/>
            </p:cNvSpPr>
            <p:nvPr/>
          </p:nvSpPr>
          <p:spPr bwMode="auto">
            <a:xfrm>
              <a:off x="4338" y="834"/>
              <a:ext cx="88" cy="88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1" name="Line 131"/>
            <p:cNvSpPr>
              <a:spLocks noChangeShapeType="1"/>
            </p:cNvSpPr>
            <p:nvPr/>
          </p:nvSpPr>
          <p:spPr bwMode="auto">
            <a:xfrm>
              <a:off x="4264" y="878"/>
              <a:ext cx="23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" name="Freeform 132"/>
            <p:cNvSpPr>
              <a:spLocks noChangeArrowheads="1"/>
            </p:cNvSpPr>
            <p:nvPr/>
          </p:nvSpPr>
          <p:spPr bwMode="auto">
            <a:xfrm>
              <a:off x="4209" y="684"/>
              <a:ext cx="1" cy="342"/>
            </a:xfrm>
            <a:custGeom>
              <a:avLst/>
              <a:gdLst>
                <a:gd name="T0" fmla="*/ 0 w 1"/>
                <a:gd name="T1" fmla="*/ 0 h 342"/>
                <a:gd name="T2" fmla="*/ 0 w 1"/>
                <a:gd name="T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42">
                  <a:moveTo>
                    <a:pt x="0" y="0"/>
                  </a:moveTo>
                  <a:lnTo>
                    <a:pt x="0" y="34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3" name="Line 133"/>
            <p:cNvSpPr>
              <a:spLocks noChangeShapeType="1"/>
            </p:cNvSpPr>
            <p:nvPr/>
          </p:nvSpPr>
          <p:spPr bwMode="auto">
            <a:xfrm>
              <a:off x="4557" y="678"/>
              <a:ext cx="0" cy="34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" name="Rectangle 134"/>
            <p:cNvSpPr>
              <a:spLocks noChangeArrowheads="1"/>
            </p:cNvSpPr>
            <p:nvPr/>
          </p:nvSpPr>
          <p:spPr bwMode="auto">
            <a:xfrm>
              <a:off x="4140" y="1026"/>
              <a:ext cx="483" cy="114"/>
            </a:xfrm>
            <a:prstGeom prst="rect">
              <a:avLst/>
            </a:prstGeom>
            <a:noFill/>
            <a:ln w="254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5" name="Arc 135"/>
            <p:cNvSpPr>
              <a:spLocks noChangeArrowheads="1"/>
            </p:cNvSpPr>
            <p:nvPr/>
          </p:nvSpPr>
          <p:spPr bwMode="auto">
            <a:xfrm flipV="1">
              <a:off x="3716" y="1286"/>
              <a:ext cx="285" cy="486"/>
            </a:xfrm>
            <a:custGeom>
              <a:avLst/>
              <a:gdLst>
                <a:gd name="T0" fmla="*/ 938 w 25292"/>
                <a:gd name="T1" fmla="*/ 176 h 43200"/>
                <a:gd name="T2" fmla="*/ 3692 w 25292"/>
                <a:gd name="T3" fmla="*/ 0 h 43200"/>
                <a:gd name="T4" fmla="*/ 25292 w 25292"/>
                <a:gd name="T5" fmla="*/ 21600 h 43200"/>
                <a:gd name="T6" fmla="*/ 3692 w 25292"/>
                <a:gd name="T7" fmla="*/ 43200 h 43200"/>
                <a:gd name="T8" fmla="*/ -1 w 25292"/>
                <a:gd name="T9" fmla="*/ 42882 h 43200"/>
                <a:gd name="T10" fmla="*/ 938 w 25292"/>
                <a:gd name="T11" fmla="*/ 176 h 43200"/>
                <a:gd name="T12" fmla="*/ 3692 w 25292"/>
                <a:gd name="T13" fmla="*/ 0 h 43200"/>
                <a:gd name="T14" fmla="*/ 25292 w 25292"/>
                <a:gd name="T15" fmla="*/ 21600 h 43200"/>
                <a:gd name="T16" fmla="*/ 3692 w 25292"/>
                <a:gd name="T17" fmla="*/ 43200 h 43200"/>
                <a:gd name="T18" fmla="*/ -1 w 25292"/>
                <a:gd name="T19" fmla="*/ 42882 h 43200"/>
                <a:gd name="T20" fmla="*/ 3692 w 25292"/>
                <a:gd name="T21" fmla="*/ 21600 h 43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292" h="43200" fill="none">
                  <a:moveTo>
                    <a:pt x="938" y="176"/>
                  </a:moveTo>
                  <a:cubicBezTo>
                    <a:pt x="1851" y="58"/>
                    <a:pt x="2771" y="-1"/>
                    <a:pt x="3692" y="0"/>
                  </a:cubicBezTo>
                  <a:cubicBezTo>
                    <a:pt x="15621" y="0"/>
                    <a:pt x="25292" y="9670"/>
                    <a:pt x="25292" y="21600"/>
                  </a:cubicBezTo>
                  <a:cubicBezTo>
                    <a:pt x="25292" y="33529"/>
                    <a:pt x="15621" y="43200"/>
                    <a:pt x="3692" y="43200"/>
                  </a:cubicBezTo>
                  <a:cubicBezTo>
                    <a:pt x="2454" y="43200"/>
                    <a:pt x="1219" y="43093"/>
                    <a:pt x="-1" y="42882"/>
                  </a:cubicBezTo>
                </a:path>
                <a:path w="25292" h="43200" stroke="0">
                  <a:moveTo>
                    <a:pt x="938" y="176"/>
                  </a:moveTo>
                  <a:cubicBezTo>
                    <a:pt x="1851" y="58"/>
                    <a:pt x="2771" y="-1"/>
                    <a:pt x="3692" y="0"/>
                  </a:cubicBezTo>
                  <a:cubicBezTo>
                    <a:pt x="15621" y="0"/>
                    <a:pt x="25292" y="9670"/>
                    <a:pt x="25292" y="21600"/>
                  </a:cubicBezTo>
                  <a:cubicBezTo>
                    <a:pt x="25292" y="33529"/>
                    <a:pt x="15621" y="43200"/>
                    <a:pt x="3692" y="43200"/>
                  </a:cubicBezTo>
                  <a:cubicBezTo>
                    <a:pt x="2454" y="43200"/>
                    <a:pt x="1219" y="43093"/>
                    <a:pt x="-1" y="42882"/>
                  </a:cubicBezTo>
                  <a:lnTo>
                    <a:pt x="3692" y="21600"/>
                  </a:lnTo>
                  <a:close/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6" name="Oval 136"/>
            <p:cNvSpPr>
              <a:spLocks noChangeArrowheads="1"/>
            </p:cNvSpPr>
            <p:nvPr/>
          </p:nvSpPr>
          <p:spPr bwMode="auto">
            <a:xfrm>
              <a:off x="3657" y="1428"/>
              <a:ext cx="197" cy="197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7" name="Oval 137"/>
            <p:cNvSpPr>
              <a:spLocks noChangeArrowheads="1"/>
            </p:cNvSpPr>
            <p:nvPr/>
          </p:nvSpPr>
          <p:spPr bwMode="auto">
            <a:xfrm>
              <a:off x="3583" y="1367"/>
              <a:ext cx="345" cy="329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8" name="Oval 138"/>
            <p:cNvSpPr>
              <a:spLocks noChangeArrowheads="1"/>
            </p:cNvSpPr>
            <p:nvPr/>
          </p:nvSpPr>
          <p:spPr bwMode="auto">
            <a:xfrm>
              <a:off x="3090" y="1464"/>
              <a:ext cx="139" cy="139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9" name="Freeform 139"/>
            <p:cNvSpPr>
              <a:spLocks noChangeArrowheads="1"/>
            </p:cNvSpPr>
            <p:nvPr/>
          </p:nvSpPr>
          <p:spPr bwMode="auto">
            <a:xfrm>
              <a:off x="3142" y="1702"/>
              <a:ext cx="587" cy="69"/>
            </a:xfrm>
            <a:custGeom>
              <a:avLst/>
              <a:gdLst>
                <a:gd name="T0" fmla="*/ 0 w 2350"/>
                <a:gd name="T1" fmla="*/ 0 h 300"/>
                <a:gd name="T2" fmla="*/ 2349 w 2350"/>
                <a:gd name="T3" fmla="*/ 300 h 300"/>
                <a:gd name="T4" fmla="*/ 2350 w 2350"/>
                <a:gd name="T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50" h="300">
                  <a:moveTo>
                    <a:pt x="0" y="0"/>
                  </a:moveTo>
                  <a:lnTo>
                    <a:pt x="2349" y="300"/>
                  </a:lnTo>
                  <a:lnTo>
                    <a:pt x="2350" y="30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0" name="Freeform 140"/>
            <p:cNvSpPr>
              <a:spLocks noChangeArrowheads="1"/>
            </p:cNvSpPr>
            <p:nvPr/>
          </p:nvSpPr>
          <p:spPr bwMode="auto">
            <a:xfrm>
              <a:off x="3142" y="1288"/>
              <a:ext cx="587" cy="70"/>
            </a:xfrm>
            <a:custGeom>
              <a:avLst/>
              <a:gdLst>
                <a:gd name="T0" fmla="*/ 0 w 2350"/>
                <a:gd name="T1" fmla="*/ 301 h 301"/>
                <a:gd name="T2" fmla="*/ 2349 w 2350"/>
                <a:gd name="T3" fmla="*/ 0 h 301"/>
                <a:gd name="T4" fmla="*/ 2350 w 2350"/>
                <a:gd name="T5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50" h="301">
                  <a:moveTo>
                    <a:pt x="0" y="301"/>
                  </a:moveTo>
                  <a:lnTo>
                    <a:pt x="2349" y="0"/>
                  </a:lnTo>
                  <a:lnTo>
                    <a:pt x="2350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1" name="Arc 141"/>
            <p:cNvSpPr>
              <a:spLocks noChangeArrowheads="1"/>
            </p:cNvSpPr>
            <p:nvPr/>
          </p:nvSpPr>
          <p:spPr bwMode="auto">
            <a:xfrm flipH="1" flipV="1">
              <a:off x="2990" y="1360"/>
              <a:ext cx="173" cy="342"/>
            </a:xfrm>
            <a:custGeom>
              <a:avLst/>
              <a:gdLst>
                <a:gd name="T0" fmla="*/ 3419 w 21600"/>
                <a:gd name="T1" fmla="*/ 0 h 42790"/>
                <a:gd name="T2" fmla="*/ 21600 w 21600"/>
                <a:gd name="T3" fmla="*/ 21328 h 42790"/>
                <a:gd name="T4" fmla="*/ 2434 w 21600"/>
                <a:gd name="T5" fmla="*/ 42790 h 42790"/>
                <a:gd name="T6" fmla="*/ 3419 w 21600"/>
                <a:gd name="T7" fmla="*/ 0 h 42790"/>
                <a:gd name="T8" fmla="*/ 21600 w 21600"/>
                <a:gd name="T9" fmla="*/ 21328 h 42790"/>
                <a:gd name="T10" fmla="*/ 2434 w 21600"/>
                <a:gd name="T11" fmla="*/ 42790 h 42790"/>
                <a:gd name="T12" fmla="*/ 0 w 21600"/>
                <a:gd name="T13" fmla="*/ 21328 h 42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00" h="42790" fill="none">
                  <a:moveTo>
                    <a:pt x="3419" y="0"/>
                  </a:moveTo>
                  <a:cubicBezTo>
                    <a:pt x="13895" y="1680"/>
                    <a:pt x="21600" y="10718"/>
                    <a:pt x="21600" y="21328"/>
                  </a:cubicBezTo>
                  <a:cubicBezTo>
                    <a:pt x="21600" y="32315"/>
                    <a:pt x="13351" y="41552"/>
                    <a:pt x="2434" y="42790"/>
                  </a:cubicBezTo>
                </a:path>
                <a:path w="21600" h="42790" stroke="0">
                  <a:moveTo>
                    <a:pt x="3419" y="0"/>
                  </a:moveTo>
                  <a:cubicBezTo>
                    <a:pt x="13895" y="1680"/>
                    <a:pt x="21600" y="10718"/>
                    <a:pt x="21600" y="21328"/>
                  </a:cubicBezTo>
                  <a:cubicBezTo>
                    <a:pt x="21600" y="32315"/>
                    <a:pt x="13351" y="41552"/>
                    <a:pt x="2434" y="42790"/>
                  </a:cubicBezTo>
                  <a:lnTo>
                    <a:pt x="0" y="21328"/>
                  </a:lnTo>
                  <a:close/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2" name="Freeform 142"/>
            <p:cNvSpPr>
              <a:spLocks noChangeArrowheads="1"/>
            </p:cNvSpPr>
            <p:nvPr/>
          </p:nvSpPr>
          <p:spPr bwMode="auto">
            <a:xfrm>
              <a:off x="3031" y="978"/>
              <a:ext cx="4" cy="5"/>
            </a:xfrm>
            <a:custGeom>
              <a:avLst/>
              <a:gdLst>
                <a:gd name="T0" fmla="*/ 0 w 19"/>
                <a:gd name="T1" fmla="*/ 18 h 18"/>
                <a:gd name="T2" fmla="*/ 18 w 19"/>
                <a:gd name="T3" fmla="*/ 0 h 18"/>
                <a:gd name="T4" fmla="*/ 19 w 19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8">
                  <a:moveTo>
                    <a:pt x="0" y="18"/>
                  </a:moveTo>
                  <a:lnTo>
                    <a:pt x="18" y="0"/>
                  </a:lnTo>
                  <a:lnTo>
                    <a:pt x="19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3" name="Freeform 143"/>
            <p:cNvSpPr>
              <a:spLocks noChangeArrowheads="1"/>
            </p:cNvSpPr>
            <p:nvPr/>
          </p:nvSpPr>
          <p:spPr bwMode="auto">
            <a:xfrm>
              <a:off x="3082" y="1134"/>
              <a:ext cx="8" cy="6"/>
            </a:xfrm>
            <a:custGeom>
              <a:avLst/>
              <a:gdLst>
                <a:gd name="T0" fmla="*/ 0 w 30"/>
                <a:gd name="T1" fmla="*/ 30 h 30"/>
                <a:gd name="T2" fmla="*/ 29 w 30"/>
                <a:gd name="T3" fmla="*/ 0 h 30"/>
                <a:gd name="T4" fmla="*/ 30 w 30"/>
                <a:gd name="T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30">
                  <a:moveTo>
                    <a:pt x="0" y="30"/>
                  </a:moveTo>
                  <a:lnTo>
                    <a:pt x="29" y="0"/>
                  </a:lnTo>
                  <a:lnTo>
                    <a:pt x="30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4" name="Freeform 144"/>
            <p:cNvSpPr>
              <a:spLocks noChangeArrowheads="1"/>
            </p:cNvSpPr>
            <p:nvPr/>
          </p:nvSpPr>
          <p:spPr bwMode="auto">
            <a:xfrm>
              <a:off x="3235" y="978"/>
              <a:ext cx="8" cy="9"/>
            </a:xfrm>
            <a:custGeom>
              <a:avLst/>
              <a:gdLst>
                <a:gd name="T0" fmla="*/ 0 w 34"/>
                <a:gd name="T1" fmla="*/ 35 h 35"/>
                <a:gd name="T2" fmla="*/ 33 w 34"/>
                <a:gd name="T3" fmla="*/ 0 h 35"/>
                <a:gd name="T4" fmla="*/ 34 w 34"/>
                <a:gd name="T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35">
                  <a:moveTo>
                    <a:pt x="0" y="35"/>
                  </a:moveTo>
                  <a:lnTo>
                    <a:pt x="33" y="0"/>
                  </a:lnTo>
                  <a:lnTo>
                    <a:pt x="34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5" name="Freeform 145"/>
            <p:cNvSpPr>
              <a:spLocks noChangeArrowheads="1"/>
            </p:cNvSpPr>
            <p:nvPr/>
          </p:nvSpPr>
          <p:spPr bwMode="auto">
            <a:xfrm>
              <a:off x="3867" y="684"/>
              <a:ext cx="15" cy="15"/>
            </a:xfrm>
            <a:custGeom>
              <a:avLst/>
              <a:gdLst>
                <a:gd name="T0" fmla="*/ 0 w 63"/>
                <a:gd name="T1" fmla="*/ 67 h 67"/>
                <a:gd name="T2" fmla="*/ 62 w 63"/>
                <a:gd name="T3" fmla="*/ 0 h 67"/>
                <a:gd name="T4" fmla="*/ 63 w 63"/>
                <a:gd name="T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" h="67">
                  <a:moveTo>
                    <a:pt x="0" y="67"/>
                  </a:moveTo>
                  <a:lnTo>
                    <a:pt x="62" y="0"/>
                  </a:lnTo>
                  <a:lnTo>
                    <a:pt x="63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6" name="Freeform 146"/>
            <p:cNvSpPr>
              <a:spLocks noChangeArrowheads="1"/>
            </p:cNvSpPr>
            <p:nvPr/>
          </p:nvSpPr>
          <p:spPr bwMode="auto">
            <a:xfrm>
              <a:off x="3638" y="1130"/>
              <a:ext cx="10" cy="10"/>
            </a:xfrm>
            <a:custGeom>
              <a:avLst/>
              <a:gdLst>
                <a:gd name="T0" fmla="*/ 0 w 42"/>
                <a:gd name="T1" fmla="*/ 45 h 45"/>
                <a:gd name="T2" fmla="*/ 41 w 42"/>
                <a:gd name="T3" fmla="*/ 0 h 45"/>
                <a:gd name="T4" fmla="*/ 42 w 42"/>
                <a:gd name="T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45">
                  <a:moveTo>
                    <a:pt x="0" y="45"/>
                  </a:moveTo>
                  <a:lnTo>
                    <a:pt x="41" y="0"/>
                  </a:lnTo>
                  <a:lnTo>
                    <a:pt x="42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7" name="Freeform 147"/>
            <p:cNvSpPr>
              <a:spLocks noChangeArrowheads="1"/>
            </p:cNvSpPr>
            <p:nvPr/>
          </p:nvSpPr>
          <p:spPr bwMode="auto">
            <a:xfrm>
              <a:off x="3985" y="1126"/>
              <a:ext cx="14" cy="14"/>
            </a:xfrm>
            <a:custGeom>
              <a:avLst/>
              <a:gdLst>
                <a:gd name="T0" fmla="*/ 0 w 56"/>
                <a:gd name="T1" fmla="*/ 61 h 61"/>
                <a:gd name="T2" fmla="*/ 55 w 56"/>
                <a:gd name="T3" fmla="*/ 0 h 61"/>
                <a:gd name="T4" fmla="*/ 56 w 56"/>
                <a:gd name="T5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61">
                  <a:moveTo>
                    <a:pt x="0" y="61"/>
                  </a:moveTo>
                  <a:lnTo>
                    <a:pt x="55" y="0"/>
                  </a:lnTo>
                  <a:lnTo>
                    <a:pt x="56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8" name="Freeform 148"/>
            <p:cNvSpPr>
              <a:spLocks noChangeArrowheads="1"/>
            </p:cNvSpPr>
            <p:nvPr/>
          </p:nvSpPr>
          <p:spPr bwMode="auto">
            <a:xfrm>
              <a:off x="3466" y="922"/>
              <a:ext cx="182" cy="1"/>
            </a:xfrm>
            <a:custGeom>
              <a:avLst/>
              <a:gdLst>
                <a:gd name="T0" fmla="*/ 729 w 729"/>
                <a:gd name="T1" fmla="*/ 0 h 1"/>
                <a:gd name="T2" fmla="*/ 0 w 729"/>
                <a:gd name="T3" fmla="*/ 0 h 1"/>
                <a:gd name="T4" fmla="*/ 1 w 72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9" h="1">
                  <a:moveTo>
                    <a:pt x="729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9" name="Freeform 149"/>
            <p:cNvSpPr>
              <a:spLocks noChangeArrowheads="1"/>
            </p:cNvSpPr>
            <p:nvPr/>
          </p:nvSpPr>
          <p:spPr bwMode="auto">
            <a:xfrm>
              <a:off x="3466" y="828"/>
              <a:ext cx="188" cy="5"/>
            </a:xfrm>
            <a:custGeom>
              <a:avLst/>
              <a:gdLst>
                <a:gd name="T0" fmla="*/ 188 w 188"/>
                <a:gd name="T1" fmla="*/ 0 h 5"/>
                <a:gd name="T2" fmla="*/ 0 w 188"/>
                <a:gd name="T3" fmla="*/ 5 h 5"/>
                <a:gd name="T4" fmla="*/ 0 w 188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8" h="5">
                  <a:moveTo>
                    <a:pt x="188" y="0"/>
                  </a:moveTo>
                  <a:lnTo>
                    <a:pt x="0" y="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0" name="Freeform 150"/>
            <p:cNvSpPr>
              <a:spLocks noChangeArrowheads="1"/>
            </p:cNvSpPr>
            <p:nvPr/>
          </p:nvSpPr>
          <p:spPr bwMode="auto">
            <a:xfrm>
              <a:off x="3466" y="789"/>
              <a:ext cx="116" cy="1"/>
            </a:xfrm>
            <a:custGeom>
              <a:avLst/>
              <a:gdLst>
                <a:gd name="T0" fmla="*/ 466 w 466"/>
                <a:gd name="T1" fmla="*/ 0 h 1"/>
                <a:gd name="T2" fmla="*/ 0 w 466"/>
                <a:gd name="T3" fmla="*/ 0 h 1"/>
                <a:gd name="T4" fmla="*/ 1 w 46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6" h="1">
                  <a:moveTo>
                    <a:pt x="466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1" name="Freeform 151"/>
            <p:cNvSpPr>
              <a:spLocks noChangeArrowheads="1"/>
            </p:cNvSpPr>
            <p:nvPr/>
          </p:nvSpPr>
          <p:spPr bwMode="auto">
            <a:xfrm>
              <a:off x="3466" y="1618"/>
              <a:ext cx="140" cy="1"/>
            </a:xfrm>
            <a:custGeom>
              <a:avLst/>
              <a:gdLst>
                <a:gd name="T0" fmla="*/ 0 w 561"/>
                <a:gd name="T1" fmla="*/ 0 h 1"/>
                <a:gd name="T2" fmla="*/ 560 w 561"/>
                <a:gd name="T3" fmla="*/ 0 h 1"/>
                <a:gd name="T4" fmla="*/ 561 w 56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1" h="1">
                  <a:moveTo>
                    <a:pt x="0" y="0"/>
                  </a:moveTo>
                  <a:lnTo>
                    <a:pt x="560" y="0"/>
                  </a:lnTo>
                  <a:lnTo>
                    <a:pt x="56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2" name="Freeform 152"/>
            <p:cNvSpPr>
              <a:spLocks noChangeArrowheads="1"/>
            </p:cNvSpPr>
            <p:nvPr/>
          </p:nvSpPr>
          <p:spPr bwMode="auto">
            <a:xfrm>
              <a:off x="3466" y="1441"/>
              <a:ext cx="140" cy="1"/>
            </a:xfrm>
            <a:custGeom>
              <a:avLst/>
              <a:gdLst>
                <a:gd name="T0" fmla="*/ 0 w 561"/>
                <a:gd name="T1" fmla="*/ 0 h 1"/>
                <a:gd name="T2" fmla="*/ 560 w 561"/>
                <a:gd name="T3" fmla="*/ 0 h 1"/>
                <a:gd name="T4" fmla="*/ 561 w 56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1" h="1">
                  <a:moveTo>
                    <a:pt x="0" y="0"/>
                  </a:moveTo>
                  <a:lnTo>
                    <a:pt x="560" y="0"/>
                  </a:lnTo>
                  <a:lnTo>
                    <a:pt x="56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3" name="Freeform 153"/>
            <p:cNvSpPr>
              <a:spLocks noChangeArrowheads="1"/>
            </p:cNvSpPr>
            <p:nvPr/>
          </p:nvSpPr>
          <p:spPr bwMode="auto">
            <a:xfrm>
              <a:off x="2990" y="1140"/>
              <a:ext cx="1009" cy="1"/>
            </a:xfrm>
            <a:custGeom>
              <a:avLst/>
              <a:gdLst>
                <a:gd name="T0" fmla="*/ 4033 w 4033"/>
                <a:gd name="T1" fmla="*/ 0 h 1"/>
                <a:gd name="T2" fmla="*/ 0 w 4033"/>
                <a:gd name="T3" fmla="*/ 0 h 1"/>
                <a:gd name="T4" fmla="*/ 1 w 403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33" h="1">
                  <a:moveTo>
                    <a:pt x="4033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4" name="Freeform 154"/>
            <p:cNvSpPr>
              <a:spLocks noChangeArrowheads="1"/>
            </p:cNvSpPr>
            <p:nvPr/>
          </p:nvSpPr>
          <p:spPr bwMode="auto">
            <a:xfrm>
              <a:off x="3466" y="789"/>
              <a:ext cx="1" cy="239"/>
            </a:xfrm>
            <a:custGeom>
              <a:avLst/>
              <a:gdLst>
                <a:gd name="T0" fmla="*/ 0 w 1"/>
                <a:gd name="T1" fmla="*/ 0 h 1034"/>
                <a:gd name="T2" fmla="*/ 0 w 1"/>
                <a:gd name="T3" fmla="*/ 1034 h 1034"/>
                <a:gd name="T4" fmla="*/ 1 w 1"/>
                <a:gd name="T5" fmla="*/ 1034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34">
                  <a:moveTo>
                    <a:pt x="0" y="0"/>
                  </a:moveTo>
                  <a:lnTo>
                    <a:pt x="0" y="1034"/>
                  </a:lnTo>
                  <a:lnTo>
                    <a:pt x="1" y="10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5" name="Freeform 155"/>
            <p:cNvSpPr>
              <a:spLocks noChangeArrowheads="1"/>
            </p:cNvSpPr>
            <p:nvPr/>
          </p:nvSpPr>
          <p:spPr bwMode="auto">
            <a:xfrm>
              <a:off x="3162" y="1374"/>
              <a:ext cx="1" cy="310"/>
            </a:xfrm>
            <a:custGeom>
              <a:avLst/>
              <a:gdLst>
                <a:gd name="T0" fmla="*/ 0 w 1"/>
                <a:gd name="T1" fmla="*/ 0 h 1347"/>
                <a:gd name="T2" fmla="*/ 0 w 1"/>
                <a:gd name="T3" fmla="*/ 1347 h 1347"/>
                <a:gd name="T4" fmla="*/ 1 w 1"/>
                <a:gd name="T5" fmla="*/ 1347 h 1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47">
                  <a:moveTo>
                    <a:pt x="0" y="0"/>
                  </a:moveTo>
                  <a:lnTo>
                    <a:pt x="0" y="1347"/>
                  </a:lnTo>
                  <a:lnTo>
                    <a:pt x="1" y="1347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156" name="Group 156"/>
            <p:cNvGrpSpPr>
              <a:grpSpLocks/>
            </p:cNvGrpSpPr>
            <p:nvPr/>
          </p:nvGrpSpPr>
          <p:grpSpPr bwMode="auto">
            <a:xfrm>
              <a:off x="2990" y="684"/>
              <a:ext cx="1009" cy="456"/>
              <a:chOff x="983" y="1542"/>
              <a:chExt cx="1009" cy="456"/>
            </a:xfrm>
          </p:grpSpPr>
          <p:sp>
            <p:nvSpPr>
              <p:cNvPr id="210" name="Freeform 157"/>
              <p:cNvSpPr>
                <a:spLocks noChangeArrowheads="1"/>
              </p:cNvSpPr>
              <p:nvPr/>
            </p:nvSpPr>
            <p:spPr bwMode="auto">
              <a:xfrm>
                <a:off x="1228" y="1855"/>
                <a:ext cx="59" cy="59"/>
              </a:xfrm>
              <a:custGeom>
                <a:avLst/>
                <a:gdLst>
                  <a:gd name="T0" fmla="*/ 0 w 235"/>
                  <a:gd name="T1" fmla="*/ 255 h 255"/>
                  <a:gd name="T2" fmla="*/ 234 w 235"/>
                  <a:gd name="T3" fmla="*/ 0 h 255"/>
                  <a:gd name="T4" fmla="*/ 235 w 235"/>
                  <a:gd name="T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5" h="255">
                    <a:moveTo>
                      <a:pt x="0" y="255"/>
                    </a:moveTo>
                    <a:lnTo>
                      <a:pt x="234" y="0"/>
                    </a:lnTo>
                    <a:lnTo>
                      <a:pt x="235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1" name="Freeform 158"/>
              <p:cNvSpPr>
                <a:spLocks noChangeArrowheads="1"/>
              </p:cNvSpPr>
              <p:nvPr/>
            </p:nvSpPr>
            <p:spPr bwMode="auto">
              <a:xfrm>
                <a:off x="1519" y="1647"/>
                <a:ext cx="44" cy="44"/>
              </a:xfrm>
              <a:custGeom>
                <a:avLst/>
                <a:gdLst>
                  <a:gd name="T0" fmla="*/ 0 w 177"/>
                  <a:gd name="T1" fmla="*/ 191 h 191"/>
                  <a:gd name="T2" fmla="*/ 176 w 177"/>
                  <a:gd name="T3" fmla="*/ 0 h 191"/>
                  <a:gd name="T4" fmla="*/ 177 w 177"/>
                  <a:gd name="T5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7" h="191">
                    <a:moveTo>
                      <a:pt x="0" y="191"/>
                    </a:moveTo>
                    <a:lnTo>
                      <a:pt x="176" y="0"/>
                    </a:lnTo>
                    <a:lnTo>
                      <a:pt x="177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2" name="Freeform 159"/>
              <p:cNvSpPr>
                <a:spLocks noChangeArrowheads="1"/>
              </p:cNvSpPr>
              <p:nvPr/>
            </p:nvSpPr>
            <p:spPr bwMode="auto">
              <a:xfrm>
                <a:off x="983" y="1851"/>
                <a:ext cx="100" cy="100"/>
              </a:xfrm>
              <a:custGeom>
                <a:avLst/>
                <a:gdLst>
                  <a:gd name="T0" fmla="*/ 0 w 397"/>
                  <a:gd name="T1" fmla="*/ 431 h 431"/>
                  <a:gd name="T2" fmla="*/ 396 w 397"/>
                  <a:gd name="T3" fmla="*/ 0 h 431"/>
                  <a:gd name="T4" fmla="*/ 397 w 397"/>
                  <a:gd name="T5" fmla="*/ 0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7" h="431">
                    <a:moveTo>
                      <a:pt x="0" y="431"/>
                    </a:moveTo>
                    <a:lnTo>
                      <a:pt x="396" y="0"/>
                    </a:lnTo>
                    <a:lnTo>
                      <a:pt x="397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3" name="Freeform 160"/>
              <p:cNvSpPr>
                <a:spLocks noChangeArrowheads="1"/>
              </p:cNvSpPr>
              <p:nvPr/>
            </p:nvSpPr>
            <p:spPr bwMode="auto">
              <a:xfrm>
                <a:off x="1006" y="1921"/>
                <a:ext cx="77" cy="77"/>
              </a:xfrm>
              <a:custGeom>
                <a:avLst/>
                <a:gdLst>
                  <a:gd name="T0" fmla="*/ 0 w 307"/>
                  <a:gd name="T1" fmla="*/ 334 h 334"/>
                  <a:gd name="T2" fmla="*/ 306 w 307"/>
                  <a:gd name="T3" fmla="*/ 0 h 334"/>
                  <a:gd name="T4" fmla="*/ 307 w 307"/>
                  <a:gd name="T5" fmla="*/ 0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7" h="334">
                    <a:moveTo>
                      <a:pt x="0" y="334"/>
                    </a:moveTo>
                    <a:lnTo>
                      <a:pt x="306" y="0"/>
                    </a:lnTo>
                    <a:lnTo>
                      <a:pt x="307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4" name="Freeform 161"/>
              <p:cNvSpPr>
                <a:spLocks noChangeArrowheads="1"/>
              </p:cNvSpPr>
              <p:nvPr/>
            </p:nvSpPr>
            <p:spPr bwMode="auto">
              <a:xfrm>
                <a:off x="1575" y="1542"/>
                <a:ext cx="23" cy="23"/>
              </a:xfrm>
              <a:custGeom>
                <a:avLst/>
                <a:gdLst>
                  <a:gd name="T0" fmla="*/ 0 w 91"/>
                  <a:gd name="T1" fmla="*/ 98 h 98"/>
                  <a:gd name="T2" fmla="*/ 90 w 91"/>
                  <a:gd name="T3" fmla="*/ 0 h 98"/>
                  <a:gd name="T4" fmla="*/ 91 w 91"/>
                  <a:gd name="T5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1" h="98">
                    <a:moveTo>
                      <a:pt x="0" y="98"/>
                    </a:moveTo>
                    <a:lnTo>
                      <a:pt x="90" y="0"/>
                    </a:lnTo>
                    <a:lnTo>
                      <a:pt x="9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5" name="Freeform 162"/>
              <p:cNvSpPr>
                <a:spLocks noChangeArrowheads="1"/>
              </p:cNvSpPr>
              <p:nvPr/>
            </p:nvSpPr>
            <p:spPr bwMode="auto">
              <a:xfrm>
                <a:off x="1459" y="1647"/>
                <a:ext cx="34" cy="35"/>
              </a:xfrm>
              <a:custGeom>
                <a:avLst/>
                <a:gdLst>
                  <a:gd name="T0" fmla="*/ 0 w 140"/>
                  <a:gd name="T1" fmla="*/ 151 h 151"/>
                  <a:gd name="T2" fmla="*/ 139 w 140"/>
                  <a:gd name="T3" fmla="*/ 0 h 151"/>
                  <a:gd name="T4" fmla="*/ 140 w 140"/>
                  <a:gd name="T5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0" h="151">
                    <a:moveTo>
                      <a:pt x="0" y="151"/>
                    </a:moveTo>
                    <a:lnTo>
                      <a:pt x="139" y="0"/>
                    </a:lnTo>
                    <a:lnTo>
                      <a:pt x="14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6" name="Freeform 163"/>
              <p:cNvSpPr>
                <a:spLocks noChangeArrowheads="1"/>
              </p:cNvSpPr>
              <p:nvPr/>
            </p:nvSpPr>
            <p:spPr bwMode="auto">
              <a:xfrm>
                <a:off x="1228" y="1886"/>
                <a:ext cx="98" cy="98"/>
              </a:xfrm>
              <a:custGeom>
                <a:avLst/>
                <a:gdLst>
                  <a:gd name="T0" fmla="*/ 0 w 390"/>
                  <a:gd name="T1" fmla="*/ 424 h 424"/>
                  <a:gd name="T2" fmla="*/ 389 w 390"/>
                  <a:gd name="T3" fmla="*/ 0 h 424"/>
                  <a:gd name="T4" fmla="*/ 390 w 390"/>
                  <a:gd name="T5" fmla="*/ 0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0" h="424">
                    <a:moveTo>
                      <a:pt x="0" y="424"/>
                    </a:moveTo>
                    <a:lnTo>
                      <a:pt x="389" y="0"/>
                    </a:lnTo>
                    <a:lnTo>
                      <a:pt x="39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7" name="Freeform 164"/>
              <p:cNvSpPr>
                <a:spLocks noChangeArrowheads="1"/>
              </p:cNvSpPr>
              <p:nvPr/>
            </p:nvSpPr>
            <p:spPr bwMode="auto">
              <a:xfrm>
                <a:off x="1575" y="1568"/>
                <a:ext cx="66" cy="67"/>
              </a:xfrm>
              <a:custGeom>
                <a:avLst/>
                <a:gdLst>
                  <a:gd name="T0" fmla="*/ 0 w 264"/>
                  <a:gd name="T1" fmla="*/ 285 h 285"/>
                  <a:gd name="T2" fmla="*/ 263 w 264"/>
                  <a:gd name="T3" fmla="*/ 0 h 285"/>
                  <a:gd name="T4" fmla="*/ 264 w 264"/>
                  <a:gd name="T5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4" h="285">
                    <a:moveTo>
                      <a:pt x="0" y="285"/>
                    </a:moveTo>
                    <a:lnTo>
                      <a:pt x="263" y="0"/>
                    </a:lnTo>
                    <a:lnTo>
                      <a:pt x="264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8" name="Freeform 165"/>
              <p:cNvSpPr>
                <a:spLocks noChangeArrowheads="1"/>
              </p:cNvSpPr>
              <p:nvPr/>
            </p:nvSpPr>
            <p:spPr bwMode="auto">
              <a:xfrm>
                <a:off x="1283" y="1886"/>
                <a:ext cx="112" cy="112"/>
              </a:xfrm>
              <a:custGeom>
                <a:avLst/>
                <a:gdLst>
                  <a:gd name="T0" fmla="*/ 0 w 446"/>
                  <a:gd name="T1" fmla="*/ 485 h 485"/>
                  <a:gd name="T2" fmla="*/ 445 w 446"/>
                  <a:gd name="T3" fmla="*/ 0 h 485"/>
                  <a:gd name="T4" fmla="*/ 446 w 446"/>
                  <a:gd name="T5" fmla="*/ 0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6" h="485">
                    <a:moveTo>
                      <a:pt x="0" y="485"/>
                    </a:moveTo>
                    <a:lnTo>
                      <a:pt x="445" y="0"/>
                    </a:lnTo>
                    <a:lnTo>
                      <a:pt x="446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9" name="Freeform 166"/>
              <p:cNvSpPr>
                <a:spLocks noChangeArrowheads="1"/>
              </p:cNvSpPr>
              <p:nvPr/>
            </p:nvSpPr>
            <p:spPr bwMode="auto">
              <a:xfrm>
                <a:off x="1588" y="1639"/>
                <a:ext cx="53" cy="52"/>
              </a:xfrm>
              <a:custGeom>
                <a:avLst/>
                <a:gdLst>
                  <a:gd name="T0" fmla="*/ 0 w 211"/>
                  <a:gd name="T1" fmla="*/ 229 h 229"/>
                  <a:gd name="T2" fmla="*/ 210 w 211"/>
                  <a:gd name="T3" fmla="*/ 0 h 229"/>
                  <a:gd name="T4" fmla="*/ 211 w 211"/>
                  <a:gd name="T5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1" h="229">
                    <a:moveTo>
                      <a:pt x="0" y="229"/>
                    </a:moveTo>
                    <a:lnTo>
                      <a:pt x="210" y="0"/>
                    </a:lnTo>
                    <a:lnTo>
                      <a:pt x="21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0" name="Freeform 167"/>
              <p:cNvSpPr>
                <a:spLocks noChangeArrowheads="1"/>
              </p:cNvSpPr>
              <p:nvPr/>
            </p:nvSpPr>
            <p:spPr bwMode="auto">
              <a:xfrm>
                <a:off x="1459" y="1780"/>
                <a:ext cx="42" cy="42"/>
              </a:xfrm>
              <a:custGeom>
                <a:avLst/>
                <a:gdLst>
                  <a:gd name="T0" fmla="*/ 0 w 170"/>
                  <a:gd name="T1" fmla="*/ 182 h 182"/>
                  <a:gd name="T2" fmla="*/ 169 w 170"/>
                  <a:gd name="T3" fmla="*/ 0 h 182"/>
                  <a:gd name="T4" fmla="*/ 170 w 170"/>
                  <a:gd name="T5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0" h="182">
                    <a:moveTo>
                      <a:pt x="0" y="182"/>
                    </a:moveTo>
                    <a:lnTo>
                      <a:pt x="169" y="0"/>
                    </a:lnTo>
                    <a:lnTo>
                      <a:pt x="17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1" name="Freeform 168"/>
              <p:cNvSpPr>
                <a:spLocks noChangeArrowheads="1"/>
              </p:cNvSpPr>
              <p:nvPr/>
            </p:nvSpPr>
            <p:spPr bwMode="auto">
              <a:xfrm>
                <a:off x="1353" y="1780"/>
                <a:ext cx="217" cy="218"/>
              </a:xfrm>
              <a:custGeom>
                <a:avLst/>
                <a:gdLst>
                  <a:gd name="T0" fmla="*/ 0 w 870"/>
                  <a:gd name="T1" fmla="*/ 946 h 946"/>
                  <a:gd name="T2" fmla="*/ 869 w 870"/>
                  <a:gd name="T3" fmla="*/ 0 h 946"/>
                  <a:gd name="T4" fmla="*/ 870 w 870"/>
                  <a:gd name="T5" fmla="*/ 0 h 9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0" h="946">
                    <a:moveTo>
                      <a:pt x="0" y="946"/>
                    </a:moveTo>
                    <a:lnTo>
                      <a:pt x="869" y="0"/>
                    </a:lnTo>
                    <a:lnTo>
                      <a:pt x="87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2" name="Freeform 169"/>
              <p:cNvSpPr>
                <a:spLocks noChangeArrowheads="1"/>
              </p:cNvSpPr>
              <p:nvPr/>
            </p:nvSpPr>
            <p:spPr bwMode="auto">
              <a:xfrm>
                <a:off x="1422" y="1780"/>
                <a:ext cx="218" cy="218"/>
              </a:xfrm>
              <a:custGeom>
                <a:avLst/>
                <a:gdLst>
                  <a:gd name="T0" fmla="*/ 0 w 870"/>
                  <a:gd name="T1" fmla="*/ 946 h 946"/>
                  <a:gd name="T2" fmla="*/ 869 w 870"/>
                  <a:gd name="T3" fmla="*/ 0 h 946"/>
                  <a:gd name="T4" fmla="*/ 870 w 870"/>
                  <a:gd name="T5" fmla="*/ 0 h 9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0" h="946">
                    <a:moveTo>
                      <a:pt x="0" y="946"/>
                    </a:moveTo>
                    <a:lnTo>
                      <a:pt x="869" y="0"/>
                    </a:lnTo>
                    <a:lnTo>
                      <a:pt x="87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3" name="Freeform 170"/>
              <p:cNvSpPr>
                <a:spLocks noChangeArrowheads="1"/>
              </p:cNvSpPr>
              <p:nvPr/>
            </p:nvSpPr>
            <p:spPr bwMode="auto">
              <a:xfrm>
                <a:off x="1492" y="1848"/>
                <a:ext cx="149" cy="150"/>
              </a:xfrm>
              <a:custGeom>
                <a:avLst/>
                <a:gdLst>
                  <a:gd name="T0" fmla="*/ 0 w 597"/>
                  <a:gd name="T1" fmla="*/ 649 h 649"/>
                  <a:gd name="T2" fmla="*/ 596 w 597"/>
                  <a:gd name="T3" fmla="*/ 0 h 649"/>
                  <a:gd name="T4" fmla="*/ 597 w 597"/>
                  <a:gd name="T5" fmla="*/ 0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7" h="649">
                    <a:moveTo>
                      <a:pt x="0" y="649"/>
                    </a:moveTo>
                    <a:lnTo>
                      <a:pt x="596" y="0"/>
                    </a:lnTo>
                    <a:lnTo>
                      <a:pt x="597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4" name="Freeform 171"/>
              <p:cNvSpPr>
                <a:spLocks noChangeArrowheads="1"/>
              </p:cNvSpPr>
              <p:nvPr/>
            </p:nvSpPr>
            <p:spPr bwMode="auto">
              <a:xfrm>
                <a:off x="1860" y="1561"/>
                <a:ext cx="66" cy="66"/>
              </a:xfrm>
              <a:custGeom>
                <a:avLst/>
                <a:gdLst>
                  <a:gd name="T0" fmla="*/ 0 w 265"/>
                  <a:gd name="T1" fmla="*/ 287 h 287"/>
                  <a:gd name="T2" fmla="*/ 264 w 265"/>
                  <a:gd name="T3" fmla="*/ 0 h 287"/>
                  <a:gd name="T4" fmla="*/ 265 w 265"/>
                  <a:gd name="T5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5" h="287">
                    <a:moveTo>
                      <a:pt x="0" y="287"/>
                    </a:moveTo>
                    <a:lnTo>
                      <a:pt x="264" y="0"/>
                    </a:lnTo>
                    <a:lnTo>
                      <a:pt x="265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5" name="Freeform 172"/>
              <p:cNvSpPr>
                <a:spLocks noChangeArrowheads="1"/>
              </p:cNvSpPr>
              <p:nvPr/>
            </p:nvSpPr>
            <p:spPr bwMode="auto">
              <a:xfrm>
                <a:off x="1561" y="1919"/>
                <a:ext cx="80" cy="79"/>
              </a:xfrm>
              <a:custGeom>
                <a:avLst/>
                <a:gdLst>
                  <a:gd name="T0" fmla="*/ 0 w 319"/>
                  <a:gd name="T1" fmla="*/ 347 h 347"/>
                  <a:gd name="T2" fmla="*/ 318 w 319"/>
                  <a:gd name="T3" fmla="*/ 0 h 347"/>
                  <a:gd name="T4" fmla="*/ 319 w 319"/>
                  <a:gd name="T5" fmla="*/ 0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9" h="347">
                    <a:moveTo>
                      <a:pt x="0" y="347"/>
                    </a:moveTo>
                    <a:lnTo>
                      <a:pt x="318" y="0"/>
                    </a:lnTo>
                    <a:lnTo>
                      <a:pt x="319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6" name="Freeform 173"/>
              <p:cNvSpPr>
                <a:spLocks noChangeArrowheads="1"/>
              </p:cNvSpPr>
              <p:nvPr/>
            </p:nvSpPr>
            <p:spPr bwMode="auto">
              <a:xfrm>
                <a:off x="1860" y="1631"/>
                <a:ext cx="66" cy="67"/>
              </a:xfrm>
              <a:custGeom>
                <a:avLst/>
                <a:gdLst>
                  <a:gd name="T0" fmla="*/ 0 w 265"/>
                  <a:gd name="T1" fmla="*/ 285 h 285"/>
                  <a:gd name="T2" fmla="*/ 264 w 265"/>
                  <a:gd name="T3" fmla="*/ 0 h 285"/>
                  <a:gd name="T4" fmla="*/ 265 w 265"/>
                  <a:gd name="T5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5" h="285">
                    <a:moveTo>
                      <a:pt x="0" y="285"/>
                    </a:moveTo>
                    <a:lnTo>
                      <a:pt x="264" y="0"/>
                    </a:lnTo>
                    <a:lnTo>
                      <a:pt x="265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7" name="Freeform 174"/>
              <p:cNvSpPr>
                <a:spLocks noChangeArrowheads="1"/>
              </p:cNvSpPr>
              <p:nvPr/>
            </p:nvSpPr>
            <p:spPr bwMode="auto">
              <a:xfrm>
                <a:off x="1860" y="1701"/>
                <a:ext cx="66" cy="66"/>
              </a:xfrm>
              <a:custGeom>
                <a:avLst/>
                <a:gdLst>
                  <a:gd name="T0" fmla="*/ 0 w 265"/>
                  <a:gd name="T1" fmla="*/ 287 h 287"/>
                  <a:gd name="T2" fmla="*/ 264 w 265"/>
                  <a:gd name="T3" fmla="*/ 0 h 287"/>
                  <a:gd name="T4" fmla="*/ 265 w 265"/>
                  <a:gd name="T5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5" h="287">
                    <a:moveTo>
                      <a:pt x="0" y="287"/>
                    </a:moveTo>
                    <a:lnTo>
                      <a:pt x="264" y="0"/>
                    </a:lnTo>
                    <a:lnTo>
                      <a:pt x="265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8" name="Freeform 175"/>
              <p:cNvSpPr>
                <a:spLocks noChangeArrowheads="1"/>
              </p:cNvSpPr>
              <p:nvPr/>
            </p:nvSpPr>
            <p:spPr bwMode="auto">
              <a:xfrm>
                <a:off x="1860" y="1771"/>
                <a:ext cx="66" cy="66"/>
              </a:xfrm>
              <a:custGeom>
                <a:avLst/>
                <a:gdLst>
                  <a:gd name="T0" fmla="*/ 0 w 265"/>
                  <a:gd name="T1" fmla="*/ 287 h 287"/>
                  <a:gd name="T2" fmla="*/ 264 w 265"/>
                  <a:gd name="T3" fmla="*/ 0 h 287"/>
                  <a:gd name="T4" fmla="*/ 265 w 265"/>
                  <a:gd name="T5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5" h="287">
                    <a:moveTo>
                      <a:pt x="0" y="287"/>
                    </a:moveTo>
                    <a:lnTo>
                      <a:pt x="264" y="0"/>
                    </a:lnTo>
                    <a:lnTo>
                      <a:pt x="265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9" name="Freeform 176"/>
              <p:cNvSpPr>
                <a:spLocks noChangeArrowheads="1"/>
              </p:cNvSpPr>
              <p:nvPr/>
            </p:nvSpPr>
            <p:spPr bwMode="auto">
              <a:xfrm>
                <a:off x="1860" y="1841"/>
                <a:ext cx="66" cy="66"/>
              </a:xfrm>
              <a:custGeom>
                <a:avLst/>
                <a:gdLst>
                  <a:gd name="T0" fmla="*/ 0 w 265"/>
                  <a:gd name="T1" fmla="*/ 286 h 286"/>
                  <a:gd name="T2" fmla="*/ 264 w 265"/>
                  <a:gd name="T3" fmla="*/ 0 h 286"/>
                  <a:gd name="T4" fmla="*/ 265 w 265"/>
                  <a:gd name="T5" fmla="*/ 0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5" h="286">
                    <a:moveTo>
                      <a:pt x="0" y="286"/>
                    </a:moveTo>
                    <a:lnTo>
                      <a:pt x="264" y="0"/>
                    </a:lnTo>
                    <a:lnTo>
                      <a:pt x="265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0" name="Freeform 177"/>
              <p:cNvSpPr>
                <a:spLocks noChangeArrowheads="1"/>
              </p:cNvSpPr>
              <p:nvPr/>
            </p:nvSpPr>
            <p:spPr bwMode="auto">
              <a:xfrm>
                <a:off x="1860" y="1886"/>
                <a:ext cx="90" cy="91"/>
              </a:xfrm>
              <a:custGeom>
                <a:avLst/>
                <a:gdLst>
                  <a:gd name="T0" fmla="*/ 0 w 363"/>
                  <a:gd name="T1" fmla="*/ 393 h 393"/>
                  <a:gd name="T2" fmla="*/ 362 w 363"/>
                  <a:gd name="T3" fmla="*/ 0 h 393"/>
                  <a:gd name="T4" fmla="*/ 363 w 363"/>
                  <a:gd name="T5" fmla="*/ 0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3" h="393">
                    <a:moveTo>
                      <a:pt x="0" y="393"/>
                    </a:moveTo>
                    <a:lnTo>
                      <a:pt x="362" y="0"/>
                    </a:lnTo>
                    <a:lnTo>
                      <a:pt x="363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1" name="Freeform 178"/>
              <p:cNvSpPr>
                <a:spLocks noChangeArrowheads="1"/>
              </p:cNvSpPr>
              <p:nvPr/>
            </p:nvSpPr>
            <p:spPr bwMode="auto">
              <a:xfrm>
                <a:off x="1908" y="1914"/>
                <a:ext cx="84" cy="84"/>
              </a:xfrm>
              <a:custGeom>
                <a:avLst/>
                <a:gdLst>
                  <a:gd name="T0" fmla="*/ 0 w 334"/>
                  <a:gd name="T1" fmla="*/ 364 h 364"/>
                  <a:gd name="T2" fmla="*/ 333 w 334"/>
                  <a:gd name="T3" fmla="*/ 0 h 364"/>
                  <a:gd name="T4" fmla="*/ 334 w 334"/>
                  <a:gd name="T5" fmla="*/ 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4" h="364">
                    <a:moveTo>
                      <a:pt x="0" y="364"/>
                    </a:moveTo>
                    <a:lnTo>
                      <a:pt x="333" y="0"/>
                    </a:lnTo>
                    <a:lnTo>
                      <a:pt x="334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157" name="Freeform 179"/>
            <p:cNvSpPr>
              <a:spLocks noChangeArrowheads="1"/>
            </p:cNvSpPr>
            <p:nvPr/>
          </p:nvSpPr>
          <p:spPr bwMode="auto">
            <a:xfrm>
              <a:off x="3031" y="978"/>
              <a:ext cx="262" cy="1"/>
            </a:xfrm>
            <a:custGeom>
              <a:avLst/>
              <a:gdLst>
                <a:gd name="T0" fmla="*/ 1052 w 1052"/>
                <a:gd name="T1" fmla="*/ 0 h 1"/>
                <a:gd name="T2" fmla="*/ 0 w 1052"/>
                <a:gd name="T3" fmla="*/ 0 h 1"/>
                <a:gd name="T4" fmla="*/ 1 w 105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2" h="1">
                  <a:moveTo>
                    <a:pt x="1052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8" name="Freeform 180"/>
            <p:cNvSpPr>
              <a:spLocks noChangeArrowheads="1"/>
            </p:cNvSpPr>
            <p:nvPr/>
          </p:nvSpPr>
          <p:spPr bwMode="auto">
            <a:xfrm>
              <a:off x="2990" y="1028"/>
              <a:ext cx="1" cy="112"/>
            </a:xfrm>
            <a:custGeom>
              <a:avLst/>
              <a:gdLst>
                <a:gd name="T0" fmla="*/ 0 w 1"/>
                <a:gd name="T1" fmla="*/ 485 h 485"/>
                <a:gd name="T2" fmla="*/ 0 w 1"/>
                <a:gd name="T3" fmla="*/ 0 h 485"/>
                <a:gd name="T4" fmla="*/ 1 w 1"/>
                <a:gd name="T5" fmla="*/ 0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85">
                  <a:moveTo>
                    <a:pt x="0" y="48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9" name="Freeform 181"/>
            <p:cNvSpPr>
              <a:spLocks noChangeArrowheads="1"/>
            </p:cNvSpPr>
            <p:nvPr/>
          </p:nvSpPr>
          <p:spPr bwMode="auto">
            <a:xfrm>
              <a:off x="3089" y="978"/>
              <a:ext cx="1" cy="162"/>
            </a:xfrm>
            <a:custGeom>
              <a:avLst/>
              <a:gdLst>
                <a:gd name="T0" fmla="*/ 0 w 1"/>
                <a:gd name="T1" fmla="*/ 701 h 701"/>
                <a:gd name="T2" fmla="*/ 0 w 1"/>
                <a:gd name="T3" fmla="*/ 0 h 701"/>
                <a:gd name="T4" fmla="*/ 1 w 1"/>
                <a:gd name="T5" fmla="*/ 0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01">
                  <a:moveTo>
                    <a:pt x="0" y="70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0" name="Freeform 182"/>
            <p:cNvSpPr>
              <a:spLocks noChangeArrowheads="1"/>
            </p:cNvSpPr>
            <p:nvPr/>
          </p:nvSpPr>
          <p:spPr bwMode="auto">
            <a:xfrm>
              <a:off x="3031" y="978"/>
              <a:ext cx="1" cy="50"/>
            </a:xfrm>
            <a:custGeom>
              <a:avLst/>
              <a:gdLst>
                <a:gd name="T0" fmla="*/ 0 w 1"/>
                <a:gd name="T1" fmla="*/ 216 h 216"/>
                <a:gd name="T2" fmla="*/ 0 w 1"/>
                <a:gd name="T3" fmla="*/ 0 h 216"/>
                <a:gd name="T4" fmla="*/ 1 w 1"/>
                <a:gd name="T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16">
                  <a:moveTo>
                    <a:pt x="0" y="21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1" name="Freeform 183"/>
            <p:cNvSpPr>
              <a:spLocks noChangeArrowheads="1"/>
            </p:cNvSpPr>
            <p:nvPr/>
          </p:nvSpPr>
          <p:spPr bwMode="auto">
            <a:xfrm>
              <a:off x="3235" y="978"/>
              <a:ext cx="1" cy="162"/>
            </a:xfrm>
            <a:custGeom>
              <a:avLst/>
              <a:gdLst>
                <a:gd name="T0" fmla="*/ 0 w 1"/>
                <a:gd name="T1" fmla="*/ 701 h 701"/>
                <a:gd name="T2" fmla="*/ 0 w 1"/>
                <a:gd name="T3" fmla="*/ 0 h 701"/>
                <a:gd name="T4" fmla="*/ 1 w 1"/>
                <a:gd name="T5" fmla="*/ 0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01">
                  <a:moveTo>
                    <a:pt x="0" y="70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2" name="Freeform 184"/>
            <p:cNvSpPr>
              <a:spLocks noChangeArrowheads="1"/>
            </p:cNvSpPr>
            <p:nvPr/>
          </p:nvSpPr>
          <p:spPr bwMode="auto">
            <a:xfrm>
              <a:off x="3293" y="1028"/>
              <a:ext cx="173" cy="1"/>
            </a:xfrm>
            <a:custGeom>
              <a:avLst/>
              <a:gdLst>
                <a:gd name="T0" fmla="*/ 688 w 688"/>
                <a:gd name="T1" fmla="*/ 0 h 1"/>
                <a:gd name="T2" fmla="*/ 0 w 688"/>
                <a:gd name="T3" fmla="*/ 0 h 1"/>
                <a:gd name="T4" fmla="*/ 1 w 68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8" h="1">
                  <a:moveTo>
                    <a:pt x="688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163" name="Group 185"/>
            <p:cNvGrpSpPr>
              <a:grpSpLocks/>
            </p:cNvGrpSpPr>
            <p:nvPr/>
          </p:nvGrpSpPr>
          <p:grpSpPr bwMode="auto">
            <a:xfrm>
              <a:off x="3162" y="940"/>
              <a:ext cx="1" cy="245"/>
              <a:chOff x="1155" y="1798"/>
              <a:chExt cx="1" cy="245"/>
            </a:xfrm>
          </p:grpSpPr>
          <p:sp>
            <p:nvSpPr>
              <p:cNvPr id="207" name="Freeform 186"/>
              <p:cNvSpPr>
                <a:spLocks noChangeArrowheads="1"/>
              </p:cNvSpPr>
              <p:nvPr/>
            </p:nvSpPr>
            <p:spPr bwMode="auto">
              <a:xfrm>
                <a:off x="1155" y="1931"/>
                <a:ext cx="1" cy="8"/>
              </a:xfrm>
              <a:custGeom>
                <a:avLst/>
                <a:gdLst>
                  <a:gd name="T0" fmla="*/ 0 w 1"/>
                  <a:gd name="T1" fmla="*/ 36 h 36"/>
                  <a:gd name="T2" fmla="*/ 0 w 1"/>
                  <a:gd name="T3" fmla="*/ 0 h 36"/>
                  <a:gd name="T4" fmla="*/ 1 w 1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6">
                    <a:moveTo>
                      <a:pt x="0" y="36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8" name="Freeform 187"/>
              <p:cNvSpPr>
                <a:spLocks noChangeArrowheads="1"/>
              </p:cNvSpPr>
              <p:nvPr/>
            </p:nvSpPr>
            <p:spPr bwMode="auto">
              <a:xfrm>
                <a:off x="1155" y="1959"/>
                <a:ext cx="1" cy="84"/>
              </a:xfrm>
              <a:custGeom>
                <a:avLst/>
                <a:gdLst>
                  <a:gd name="T0" fmla="*/ 0 w 1"/>
                  <a:gd name="T1" fmla="*/ 363 h 363"/>
                  <a:gd name="T2" fmla="*/ 0 w 1"/>
                  <a:gd name="T3" fmla="*/ 0 h 363"/>
                  <a:gd name="T4" fmla="*/ 1 w 1"/>
                  <a:gd name="T5" fmla="*/ 0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63">
                    <a:moveTo>
                      <a:pt x="0" y="36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9" name="Freeform 188"/>
              <p:cNvSpPr>
                <a:spLocks noChangeArrowheads="1"/>
              </p:cNvSpPr>
              <p:nvPr/>
            </p:nvSpPr>
            <p:spPr bwMode="auto">
              <a:xfrm>
                <a:off x="1155" y="1798"/>
                <a:ext cx="1" cy="112"/>
              </a:xfrm>
              <a:custGeom>
                <a:avLst/>
                <a:gdLst>
                  <a:gd name="T0" fmla="*/ 0 w 1"/>
                  <a:gd name="T1" fmla="*/ 487 h 487"/>
                  <a:gd name="T2" fmla="*/ 0 w 1"/>
                  <a:gd name="T3" fmla="*/ 0 h 487"/>
                  <a:gd name="T4" fmla="*/ 1 w 1"/>
                  <a:gd name="T5" fmla="*/ 0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87">
                    <a:moveTo>
                      <a:pt x="0" y="48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164" name="Freeform 189"/>
            <p:cNvSpPr>
              <a:spLocks noChangeArrowheads="1"/>
            </p:cNvSpPr>
            <p:nvPr/>
          </p:nvSpPr>
          <p:spPr bwMode="auto">
            <a:xfrm>
              <a:off x="3287" y="978"/>
              <a:ext cx="1" cy="50"/>
            </a:xfrm>
            <a:custGeom>
              <a:avLst/>
              <a:gdLst>
                <a:gd name="T0" fmla="*/ 0 w 1"/>
                <a:gd name="T1" fmla="*/ 216 h 216"/>
                <a:gd name="T2" fmla="*/ 0 w 1"/>
                <a:gd name="T3" fmla="*/ 0 h 216"/>
                <a:gd name="T4" fmla="*/ 1 w 1"/>
                <a:gd name="T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16">
                  <a:moveTo>
                    <a:pt x="0" y="21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5" name="Freeform 190"/>
            <p:cNvSpPr>
              <a:spLocks noChangeArrowheads="1"/>
            </p:cNvSpPr>
            <p:nvPr/>
          </p:nvSpPr>
          <p:spPr bwMode="auto">
            <a:xfrm>
              <a:off x="3648" y="822"/>
              <a:ext cx="18" cy="100"/>
            </a:xfrm>
            <a:custGeom>
              <a:avLst/>
              <a:gdLst>
                <a:gd name="T0" fmla="*/ 0 w 18"/>
                <a:gd name="T1" fmla="*/ 100 h 100"/>
                <a:gd name="T2" fmla="*/ 18 w 18"/>
                <a:gd name="T3" fmla="*/ 48 h 100"/>
                <a:gd name="T4" fmla="*/ 0 w 18"/>
                <a:gd name="T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0">
                  <a:moveTo>
                    <a:pt x="0" y="100"/>
                  </a:moveTo>
                  <a:lnTo>
                    <a:pt x="18" y="48"/>
                  </a:lnTo>
                  <a:lnTo>
                    <a:pt x="0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6" name="Freeform 191"/>
            <p:cNvSpPr>
              <a:spLocks noChangeArrowheads="1"/>
            </p:cNvSpPr>
            <p:nvPr/>
          </p:nvSpPr>
          <p:spPr bwMode="auto">
            <a:xfrm>
              <a:off x="3867" y="684"/>
              <a:ext cx="1" cy="456"/>
            </a:xfrm>
            <a:custGeom>
              <a:avLst/>
              <a:gdLst>
                <a:gd name="T0" fmla="*/ 0 w 1"/>
                <a:gd name="T1" fmla="*/ 1974 h 1974"/>
                <a:gd name="T2" fmla="*/ 0 w 1"/>
                <a:gd name="T3" fmla="*/ 0 h 1974"/>
                <a:gd name="T4" fmla="*/ 1 w 1"/>
                <a:gd name="T5" fmla="*/ 0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974">
                  <a:moveTo>
                    <a:pt x="0" y="197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7" name="Freeform 192"/>
            <p:cNvSpPr>
              <a:spLocks noChangeArrowheads="1"/>
            </p:cNvSpPr>
            <p:nvPr/>
          </p:nvSpPr>
          <p:spPr bwMode="auto">
            <a:xfrm>
              <a:off x="3933" y="684"/>
              <a:ext cx="1" cy="344"/>
            </a:xfrm>
            <a:custGeom>
              <a:avLst/>
              <a:gdLst>
                <a:gd name="T0" fmla="*/ 0 w 1"/>
                <a:gd name="T1" fmla="*/ 1489 h 1489"/>
                <a:gd name="T2" fmla="*/ 0 w 1"/>
                <a:gd name="T3" fmla="*/ 0 h 1489"/>
                <a:gd name="T4" fmla="*/ 1 w 1"/>
                <a:gd name="T5" fmla="*/ 0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89">
                  <a:moveTo>
                    <a:pt x="0" y="148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168" name="Group 193"/>
            <p:cNvGrpSpPr>
              <a:grpSpLocks/>
            </p:cNvGrpSpPr>
            <p:nvPr/>
          </p:nvGrpSpPr>
          <p:grpSpPr bwMode="auto">
            <a:xfrm>
              <a:off x="3757" y="1241"/>
              <a:ext cx="1" cy="570"/>
              <a:chOff x="1750" y="2099"/>
              <a:chExt cx="1" cy="570"/>
            </a:xfrm>
          </p:grpSpPr>
          <p:sp>
            <p:nvSpPr>
              <p:cNvPr id="204" name="Freeform 194"/>
              <p:cNvSpPr>
                <a:spLocks noChangeArrowheads="1"/>
              </p:cNvSpPr>
              <p:nvPr/>
            </p:nvSpPr>
            <p:spPr bwMode="auto">
              <a:xfrm>
                <a:off x="1750" y="2365"/>
                <a:ext cx="1" cy="304"/>
              </a:xfrm>
              <a:custGeom>
                <a:avLst/>
                <a:gdLst>
                  <a:gd name="T0" fmla="*/ 0 w 1"/>
                  <a:gd name="T1" fmla="*/ 0 h 1318"/>
                  <a:gd name="T2" fmla="*/ 0 w 1"/>
                  <a:gd name="T3" fmla="*/ 1318 h 1318"/>
                  <a:gd name="T4" fmla="*/ 1 w 1"/>
                  <a:gd name="T5" fmla="*/ 1318 h 1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318">
                    <a:moveTo>
                      <a:pt x="0" y="0"/>
                    </a:moveTo>
                    <a:lnTo>
                      <a:pt x="0" y="1318"/>
                    </a:lnTo>
                    <a:lnTo>
                      <a:pt x="1" y="1318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5" name="Freeform 195"/>
              <p:cNvSpPr>
                <a:spLocks noChangeArrowheads="1"/>
              </p:cNvSpPr>
              <p:nvPr/>
            </p:nvSpPr>
            <p:spPr bwMode="auto">
              <a:xfrm>
                <a:off x="1750" y="2099"/>
                <a:ext cx="1" cy="221"/>
              </a:xfrm>
              <a:custGeom>
                <a:avLst/>
                <a:gdLst>
                  <a:gd name="T0" fmla="*/ 0 w 1"/>
                  <a:gd name="T1" fmla="*/ 0 h 954"/>
                  <a:gd name="T2" fmla="*/ 0 w 1"/>
                  <a:gd name="T3" fmla="*/ 954 h 954"/>
                  <a:gd name="T4" fmla="*/ 1 w 1"/>
                  <a:gd name="T5" fmla="*/ 954 h 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54">
                    <a:moveTo>
                      <a:pt x="0" y="0"/>
                    </a:moveTo>
                    <a:lnTo>
                      <a:pt x="0" y="954"/>
                    </a:lnTo>
                    <a:lnTo>
                      <a:pt x="1" y="954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6" name="Freeform 196"/>
              <p:cNvSpPr>
                <a:spLocks noChangeArrowheads="1"/>
              </p:cNvSpPr>
              <p:nvPr/>
            </p:nvSpPr>
            <p:spPr bwMode="auto">
              <a:xfrm>
                <a:off x="1750" y="2333"/>
                <a:ext cx="1" cy="16"/>
              </a:xfrm>
              <a:custGeom>
                <a:avLst/>
                <a:gdLst>
                  <a:gd name="T0" fmla="*/ 0 w 1"/>
                  <a:gd name="T1" fmla="*/ 0 h 71"/>
                  <a:gd name="T2" fmla="*/ 0 w 1"/>
                  <a:gd name="T3" fmla="*/ 71 h 71"/>
                  <a:gd name="T4" fmla="*/ 1 w 1"/>
                  <a:gd name="T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1">
                    <a:moveTo>
                      <a:pt x="0" y="0"/>
                    </a:moveTo>
                    <a:lnTo>
                      <a:pt x="0" y="71"/>
                    </a:lnTo>
                    <a:lnTo>
                      <a:pt x="1" y="71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69" name="Group 197"/>
            <p:cNvGrpSpPr>
              <a:grpSpLocks/>
            </p:cNvGrpSpPr>
            <p:nvPr/>
          </p:nvGrpSpPr>
          <p:grpSpPr bwMode="auto">
            <a:xfrm>
              <a:off x="2954" y="1530"/>
              <a:ext cx="1090" cy="1"/>
              <a:chOff x="947" y="2388"/>
              <a:chExt cx="1090" cy="1"/>
            </a:xfrm>
          </p:grpSpPr>
          <p:sp>
            <p:nvSpPr>
              <p:cNvPr id="199" name="Freeform 198"/>
              <p:cNvSpPr>
                <a:spLocks noChangeArrowheads="1"/>
              </p:cNvSpPr>
              <p:nvPr/>
            </p:nvSpPr>
            <p:spPr bwMode="auto">
              <a:xfrm>
                <a:off x="1390" y="2388"/>
                <a:ext cx="396" cy="1"/>
              </a:xfrm>
              <a:custGeom>
                <a:avLst/>
                <a:gdLst>
                  <a:gd name="T0" fmla="*/ 0 w 1581"/>
                  <a:gd name="T1" fmla="*/ 0 h 1"/>
                  <a:gd name="T2" fmla="*/ 1580 w 1581"/>
                  <a:gd name="T3" fmla="*/ 0 h 1"/>
                  <a:gd name="T4" fmla="*/ 1581 w 158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81" h="1">
                    <a:moveTo>
                      <a:pt x="0" y="0"/>
                    </a:moveTo>
                    <a:lnTo>
                      <a:pt x="1580" y="0"/>
                    </a:lnTo>
                    <a:lnTo>
                      <a:pt x="158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0" name="Freeform 199"/>
              <p:cNvSpPr>
                <a:spLocks noChangeArrowheads="1"/>
              </p:cNvSpPr>
              <p:nvPr/>
            </p:nvSpPr>
            <p:spPr bwMode="auto">
              <a:xfrm>
                <a:off x="947" y="2388"/>
                <a:ext cx="395" cy="1"/>
              </a:xfrm>
              <a:custGeom>
                <a:avLst/>
                <a:gdLst>
                  <a:gd name="T0" fmla="*/ 0 w 1580"/>
                  <a:gd name="T1" fmla="*/ 0 h 1"/>
                  <a:gd name="T2" fmla="*/ 1579 w 1580"/>
                  <a:gd name="T3" fmla="*/ 0 h 1"/>
                  <a:gd name="T4" fmla="*/ 1580 w 1580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80" h="1">
                    <a:moveTo>
                      <a:pt x="0" y="0"/>
                    </a:moveTo>
                    <a:lnTo>
                      <a:pt x="1579" y="0"/>
                    </a:lnTo>
                    <a:lnTo>
                      <a:pt x="158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1" name="Freeform 200"/>
              <p:cNvSpPr>
                <a:spLocks noChangeArrowheads="1"/>
              </p:cNvSpPr>
              <p:nvPr/>
            </p:nvSpPr>
            <p:spPr bwMode="auto">
              <a:xfrm>
                <a:off x="1358" y="2388"/>
                <a:ext cx="13" cy="1"/>
              </a:xfrm>
              <a:custGeom>
                <a:avLst/>
                <a:gdLst>
                  <a:gd name="T0" fmla="*/ 0 w 50"/>
                  <a:gd name="T1" fmla="*/ 0 h 1"/>
                  <a:gd name="T2" fmla="*/ 49 w 50"/>
                  <a:gd name="T3" fmla="*/ 0 h 1"/>
                  <a:gd name="T4" fmla="*/ 50 w 50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1">
                    <a:moveTo>
                      <a:pt x="0" y="0"/>
                    </a:moveTo>
                    <a:lnTo>
                      <a:pt x="49" y="0"/>
                    </a:lnTo>
                    <a:lnTo>
                      <a:pt x="5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2" name="Freeform 201"/>
              <p:cNvSpPr>
                <a:spLocks noChangeArrowheads="1"/>
              </p:cNvSpPr>
              <p:nvPr/>
            </p:nvSpPr>
            <p:spPr bwMode="auto">
              <a:xfrm>
                <a:off x="1837" y="2388"/>
                <a:ext cx="200" cy="1"/>
              </a:xfrm>
              <a:custGeom>
                <a:avLst/>
                <a:gdLst>
                  <a:gd name="T0" fmla="*/ 0 w 801"/>
                  <a:gd name="T1" fmla="*/ 0 h 1"/>
                  <a:gd name="T2" fmla="*/ 800 w 801"/>
                  <a:gd name="T3" fmla="*/ 0 h 1"/>
                  <a:gd name="T4" fmla="*/ 801 w 80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01" h="1">
                    <a:moveTo>
                      <a:pt x="0" y="0"/>
                    </a:moveTo>
                    <a:lnTo>
                      <a:pt x="800" y="0"/>
                    </a:lnTo>
                    <a:lnTo>
                      <a:pt x="80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3" name="Freeform 202"/>
              <p:cNvSpPr>
                <a:spLocks noChangeArrowheads="1"/>
              </p:cNvSpPr>
              <p:nvPr/>
            </p:nvSpPr>
            <p:spPr bwMode="auto">
              <a:xfrm>
                <a:off x="1802" y="2388"/>
                <a:ext cx="16" cy="1"/>
              </a:xfrm>
              <a:custGeom>
                <a:avLst/>
                <a:gdLst>
                  <a:gd name="T0" fmla="*/ 0 w 68"/>
                  <a:gd name="T1" fmla="*/ 0 h 1"/>
                  <a:gd name="T2" fmla="*/ 67 w 68"/>
                  <a:gd name="T3" fmla="*/ 0 h 1"/>
                  <a:gd name="T4" fmla="*/ 68 w 68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1">
                    <a:moveTo>
                      <a:pt x="0" y="0"/>
                    </a:moveTo>
                    <a:lnTo>
                      <a:pt x="67" y="0"/>
                    </a:lnTo>
                    <a:lnTo>
                      <a:pt x="68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170" name="Freeform 203"/>
            <p:cNvSpPr>
              <a:spLocks noChangeArrowheads="1"/>
            </p:cNvSpPr>
            <p:nvPr/>
          </p:nvSpPr>
          <p:spPr bwMode="auto">
            <a:xfrm>
              <a:off x="3648" y="922"/>
              <a:ext cx="1" cy="218"/>
            </a:xfrm>
            <a:custGeom>
              <a:avLst/>
              <a:gdLst>
                <a:gd name="T0" fmla="*/ 0 w 1"/>
                <a:gd name="T1" fmla="*/ 946 h 946"/>
                <a:gd name="T2" fmla="*/ 0 w 1"/>
                <a:gd name="T3" fmla="*/ 0 h 946"/>
                <a:gd name="T4" fmla="*/ 1 w 1"/>
                <a:gd name="T5" fmla="*/ 0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46">
                  <a:moveTo>
                    <a:pt x="0" y="94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171" name="Group 204"/>
            <p:cNvGrpSpPr>
              <a:grpSpLocks/>
            </p:cNvGrpSpPr>
            <p:nvPr/>
          </p:nvGrpSpPr>
          <p:grpSpPr bwMode="auto">
            <a:xfrm>
              <a:off x="3434" y="878"/>
              <a:ext cx="258" cy="1"/>
              <a:chOff x="1427" y="1736"/>
              <a:chExt cx="258" cy="1"/>
            </a:xfrm>
          </p:grpSpPr>
          <p:sp>
            <p:nvSpPr>
              <p:cNvPr id="196" name="Freeform 205"/>
              <p:cNvSpPr>
                <a:spLocks noChangeArrowheads="1"/>
              </p:cNvSpPr>
              <p:nvPr/>
            </p:nvSpPr>
            <p:spPr bwMode="auto">
              <a:xfrm>
                <a:off x="1427" y="1736"/>
                <a:ext cx="99" cy="1"/>
              </a:xfrm>
              <a:custGeom>
                <a:avLst/>
                <a:gdLst>
                  <a:gd name="T0" fmla="*/ 395 w 395"/>
                  <a:gd name="T1" fmla="*/ 0 h 1"/>
                  <a:gd name="T2" fmla="*/ 0 w 395"/>
                  <a:gd name="T3" fmla="*/ 0 h 1"/>
                  <a:gd name="T4" fmla="*/ 1 w 39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5" h="1">
                    <a:moveTo>
                      <a:pt x="395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7" name="Freeform 206"/>
              <p:cNvSpPr>
                <a:spLocks noChangeArrowheads="1"/>
              </p:cNvSpPr>
              <p:nvPr/>
            </p:nvSpPr>
            <p:spPr bwMode="auto">
              <a:xfrm>
                <a:off x="1592" y="1736"/>
                <a:ext cx="93" cy="1"/>
              </a:xfrm>
              <a:custGeom>
                <a:avLst/>
                <a:gdLst>
                  <a:gd name="T0" fmla="*/ 371 w 371"/>
                  <a:gd name="T1" fmla="*/ 0 h 1"/>
                  <a:gd name="T2" fmla="*/ 0 w 371"/>
                  <a:gd name="T3" fmla="*/ 0 h 1"/>
                  <a:gd name="T4" fmla="*/ 1 w 37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1" h="1">
                    <a:moveTo>
                      <a:pt x="371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8" name="Freeform 207"/>
              <p:cNvSpPr>
                <a:spLocks noChangeArrowheads="1"/>
              </p:cNvSpPr>
              <p:nvPr/>
            </p:nvSpPr>
            <p:spPr bwMode="auto">
              <a:xfrm>
                <a:off x="1551" y="1736"/>
                <a:ext cx="16" cy="1"/>
              </a:xfrm>
              <a:custGeom>
                <a:avLst/>
                <a:gdLst>
                  <a:gd name="T0" fmla="*/ 65 w 65"/>
                  <a:gd name="T1" fmla="*/ 0 h 1"/>
                  <a:gd name="T2" fmla="*/ 0 w 65"/>
                  <a:gd name="T3" fmla="*/ 0 h 1"/>
                  <a:gd name="T4" fmla="*/ 1 w 6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5" h="1">
                    <a:moveTo>
                      <a:pt x="65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72" name="Group 208"/>
            <p:cNvGrpSpPr>
              <a:grpSpLocks/>
            </p:cNvGrpSpPr>
            <p:nvPr/>
          </p:nvGrpSpPr>
          <p:grpSpPr bwMode="auto">
            <a:xfrm>
              <a:off x="3757" y="651"/>
              <a:ext cx="1" cy="542"/>
              <a:chOff x="1750" y="1509"/>
              <a:chExt cx="1" cy="542"/>
            </a:xfrm>
          </p:grpSpPr>
          <p:sp>
            <p:nvSpPr>
              <p:cNvPr id="193" name="Freeform 209"/>
              <p:cNvSpPr>
                <a:spLocks noChangeArrowheads="1"/>
              </p:cNvSpPr>
              <p:nvPr/>
            </p:nvSpPr>
            <p:spPr bwMode="auto">
              <a:xfrm>
                <a:off x="1750" y="1509"/>
                <a:ext cx="1" cy="215"/>
              </a:xfrm>
              <a:custGeom>
                <a:avLst/>
                <a:gdLst>
                  <a:gd name="T0" fmla="*/ 0 w 1"/>
                  <a:gd name="T1" fmla="*/ 0 h 929"/>
                  <a:gd name="T2" fmla="*/ 0 w 1"/>
                  <a:gd name="T3" fmla="*/ 929 h 929"/>
                  <a:gd name="T4" fmla="*/ 1 w 1"/>
                  <a:gd name="T5" fmla="*/ 929 h 9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29">
                    <a:moveTo>
                      <a:pt x="0" y="0"/>
                    </a:moveTo>
                    <a:lnTo>
                      <a:pt x="0" y="929"/>
                    </a:lnTo>
                    <a:lnTo>
                      <a:pt x="1" y="929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4" name="Freeform 210"/>
              <p:cNvSpPr>
                <a:spLocks noChangeArrowheads="1"/>
              </p:cNvSpPr>
              <p:nvPr/>
            </p:nvSpPr>
            <p:spPr bwMode="auto">
              <a:xfrm>
                <a:off x="1750" y="1810"/>
                <a:ext cx="1" cy="241"/>
              </a:xfrm>
              <a:custGeom>
                <a:avLst/>
                <a:gdLst>
                  <a:gd name="T0" fmla="*/ 0 w 1"/>
                  <a:gd name="T1" fmla="*/ 0 h 1039"/>
                  <a:gd name="T2" fmla="*/ 0 w 1"/>
                  <a:gd name="T3" fmla="*/ 1039 h 1039"/>
                  <a:gd name="T4" fmla="*/ 1 w 1"/>
                  <a:gd name="T5" fmla="*/ 1039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39">
                    <a:moveTo>
                      <a:pt x="0" y="0"/>
                    </a:moveTo>
                    <a:lnTo>
                      <a:pt x="0" y="1039"/>
                    </a:lnTo>
                    <a:lnTo>
                      <a:pt x="1" y="1039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5" name="Freeform 211"/>
              <p:cNvSpPr>
                <a:spLocks noChangeArrowheads="1"/>
              </p:cNvSpPr>
              <p:nvPr/>
            </p:nvSpPr>
            <p:spPr bwMode="auto">
              <a:xfrm>
                <a:off x="1750" y="1757"/>
                <a:ext cx="1" cy="20"/>
              </a:xfrm>
              <a:custGeom>
                <a:avLst/>
                <a:gdLst>
                  <a:gd name="T0" fmla="*/ 0 w 1"/>
                  <a:gd name="T1" fmla="*/ 0 h 90"/>
                  <a:gd name="T2" fmla="*/ 0 w 1"/>
                  <a:gd name="T3" fmla="*/ 90 h 90"/>
                  <a:gd name="T4" fmla="*/ 1 w 1"/>
                  <a:gd name="T5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0">
                    <a:moveTo>
                      <a:pt x="0" y="0"/>
                    </a:moveTo>
                    <a:lnTo>
                      <a:pt x="0" y="90"/>
                    </a:lnTo>
                    <a:lnTo>
                      <a:pt x="1" y="9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173" name="Freeform 212"/>
            <p:cNvSpPr>
              <a:spLocks noChangeArrowheads="1"/>
            </p:cNvSpPr>
            <p:nvPr/>
          </p:nvSpPr>
          <p:spPr bwMode="auto">
            <a:xfrm>
              <a:off x="3999" y="1028"/>
              <a:ext cx="1" cy="112"/>
            </a:xfrm>
            <a:custGeom>
              <a:avLst/>
              <a:gdLst>
                <a:gd name="T0" fmla="*/ 0 w 1"/>
                <a:gd name="T1" fmla="*/ 485 h 485"/>
                <a:gd name="T2" fmla="*/ 0 w 1"/>
                <a:gd name="T3" fmla="*/ 0 h 485"/>
                <a:gd name="T4" fmla="*/ 1 w 1"/>
                <a:gd name="T5" fmla="*/ 0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85">
                  <a:moveTo>
                    <a:pt x="0" y="48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4" name="Freeform 213"/>
            <p:cNvSpPr>
              <a:spLocks noChangeArrowheads="1"/>
            </p:cNvSpPr>
            <p:nvPr/>
          </p:nvSpPr>
          <p:spPr bwMode="auto">
            <a:xfrm>
              <a:off x="3933" y="1028"/>
              <a:ext cx="66" cy="1"/>
            </a:xfrm>
            <a:custGeom>
              <a:avLst/>
              <a:gdLst>
                <a:gd name="T0" fmla="*/ 263 w 263"/>
                <a:gd name="T1" fmla="*/ 0 h 1"/>
                <a:gd name="T2" fmla="*/ 0 w 263"/>
                <a:gd name="T3" fmla="*/ 0 h 1"/>
                <a:gd name="T4" fmla="*/ 1 w 26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3" h="1">
                  <a:moveTo>
                    <a:pt x="263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5" name="Freeform 214"/>
            <p:cNvSpPr>
              <a:spLocks noChangeArrowheads="1"/>
            </p:cNvSpPr>
            <p:nvPr/>
          </p:nvSpPr>
          <p:spPr bwMode="auto">
            <a:xfrm>
              <a:off x="4250" y="978"/>
              <a:ext cx="263" cy="1"/>
            </a:xfrm>
            <a:custGeom>
              <a:avLst/>
              <a:gdLst>
                <a:gd name="T0" fmla="*/ 0 w 1053"/>
                <a:gd name="T1" fmla="*/ 0 h 1"/>
                <a:gd name="T2" fmla="*/ 1052 w 1053"/>
                <a:gd name="T3" fmla="*/ 0 h 1"/>
                <a:gd name="T4" fmla="*/ 1053 w 105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3" h="1">
                  <a:moveTo>
                    <a:pt x="0" y="0"/>
                  </a:moveTo>
                  <a:lnTo>
                    <a:pt x="1052" y="0"/>
                  </a:lnTo>
                  <a:lnTo>
                    <a:pt x="1053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6" name="Freeform 215"/>
            <p:cNvSpPr>
              <a:spLocks noChangeArrowheads="1"/>
            </p:cNvSpPr>
            <p:nvPr/>
          </p:nvSpPr>
          <p:spPr bwMode="auto">
            <a:xfrm>
              <a:off x="4294" y="878"/>
              <a:ext cx="1" cy="100"/>
            </a:xfrm>
            <a:custGeom>
              <a:avLst/>
              <a:gdLst>
                <a:gd name="T0" fmla="*/ 0 w 1"/>
                <a:gd name="T1" fmla="*/ 0 h 436"/>
                <a:gd name="T2" fmla="*/ 0 w 1"/>
                <a:gd name="T3" fmla="*/ 436 h 436"/>
                <a:gd name="T4" fmla="*/ 1 w 1"/>
                <a:gd name="T5" fmla="*/ 436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36">
                  <a:moveTo>
                    <a:pt x="0" y="0"/>
                  </a:moveTo>
                  <a:lnTo>
                    <a:pt x="0" y="436"/>
                  </a:lnTo>
                  <a:lnTo>
                    <a:pt x="1" y="43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7" name="Freeform 216"/>
            <p:cNvSpPr>
              <a:spLocks noChangeArrowheads="1"/>
            </p:cNvSpPr>
            <p:nvPr/>
          </p:nvSpPr>
          <p:spPr bwMode="auto">
            <a:xfrm>
              <a:off x="4470" y="878"/>
              <a:ext cx="1" cy="100"/>
            </a:xfrm>
            <a:custGeom>
              <a:avLst/>
              <a:gdLst>
                <a:gd name="T0" fmla="*/ 0 w 1"/>
                <a:gd name="T1" fmla="*/ 0 h 436"/>
                <a:gd name="T2" fmla="*/ 0 w 1"/>
                <a:gd name="T3" fmla="*/ 436 h 436"/>
                <a:gd name="T4" fmla="*/ 1 w 1"/>
                <a:gd name="T5" fmla="*/ 436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36">
                  <a:moveTo>
                    <a:pt x="0" y="0"/>
                  </a:moveTo>
                  <a:lnTo>
                    <a:pt x="0" y="436"/>
                  </a:lnTo>
                  <a:lnTo>
                    <a:pt x="1" y="43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8" name="Freeform 217"/>
            <p:cNvSpPr>
              <a:spLocks noChangeArrowheads="1"/>
            </p:cNvSpPr>
            <p:nvPr/>
          </p:nvSpPr>
          <p:spPr bwMode="auto">
            <a:xfrm>
              <a:off x="3582" y="684"/>
              <a:ext cx="351" cy="1"/>
            </a:xfrm>
            <a:custGeom>
              <a:avLst/>
              <a:gdLst>
                <a:gd name="T0" fmla="*/ 1403 w 1403"/>
                <a:gd name="T1" fmla="*/ 0 h 1"/>
                <a:gd name="T2" fmla="*/ 0 w 1403"/>
                <a:gd name="T3" fmla="*/ 0 h 1"/>
                <a:gd name="T4" fmla="*/ 1 w 140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3" h="1">
                  <a:moveTo>
                    <a:pt x="1403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9" name="Freeform 218"/>
            <p:cNvSpPr>
              <a:spLocks noChangeArrowheads="1"/>
            </p:cNvSpPr>
            <p:nvPr/>
          </p:nvSpPr>
          <p:spPr bwMode="auto">
            <a:xfrm>
              <a:off x="3582" y="684"/>
              <a:ext cx="1" cy="105"/>
            </a:xfrm>
            <a:custGeom>
              <a:avLst/>
              <a:gdLst>
                <a:gd name="T0" fmla="*/ 0 w 1"/>
                <a:gd name="T1" fmla="*/ 455 h 455"/>
                <a:gd name="T2" fmla="*/ 0 w 1"/>
                <a:gd name="T3" fmla="*/ 0 h 455"/>
                <a:gd name="T4" fmla="*/ 1 w 1"/>
                <a:gd name="T5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55">
                  <a:moveTo>
                    <a:pt x="0" y="45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0" name="Freeform 219"/>
            <p:cNvSpPr>
              <a:spLocks noChangeArrowheads="1"/>
            </p:cNvSpPr>
            <p:nvPr/>
          </p:nvSpPr>
          <p:spPr bwMode="auto">
            <a:xfrm>
              <a:off x="3648" y="684"/>
              <a:ext cx="1" cy="150"/>
            </a:xfrm>
            <a:custGeom>
              <a:avLst/>
              <a:gdLst>
                <a:gd name="T0" fmla="*/ 0 w 1"/>
                <a:gd name="T1" fmla="*/ 150 h 150"/>
                <a:gd name="T2" fmla="*/ 0 w 1"/>
                <a:gd name="T3" fmla="*/ 0 h 150"/>
                <a:gd name="T4" fmla="*/ 1 w 1"/>
                <a:gd name="T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50">
                  <a:moveTo>
                    <a:pt x="0" y="15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1" name="Freeform 220"/>
            <p:cNvSpPr>
              <a:spLocks noChangeArrowheads="1"/>
            </p:cNvSpPr>
            <p:nvPr/>
          </p:nvSpPr>
          <p:spPr bwMode="auto">
            <a:xfrm>
              <a:off x="4206" y="684"/>
              <a:ext cx="351" cy="1"/>
            </a:xfrm>
            <a:custGeom>
              <a:avLst/>
              <a:gdLst>
                <a:gd name="T0" fmla="*/ 0 w 1404"/>
                <a:gd name="T1" fmla="*/ 0 h 1"/>
                <a:gd name="T2" fmla="*/ 1403 w 1404"/>
                <a:gd name="T3" fmla="*/ 0 h 1"/>
                <a:gd name="T4" fmla="*/ 1404 w 140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4" h="1">
                  <a:moveTo>
                    <a:pt x="0" y="0"/>
                  </a:moveTo>
                  <a:lnTo>
                    <a:pt x="1403" y="0"/>
                  </a:lnTo>
                  <a:lnTo>
                    <a:pt x="1404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182" name="Group 221"/>
            <p:cNvGrpSpPr>
              <a:grpSpLocks/>
            </p:cNvGrpSpPr>
            <p:nvPr/>
          </p:nvGrpSpPr>
          <p:grpSpPr bwMode="auto">
            <a:xfrm>
              <a:off x="4382" y="652"/>
              <a:ext cx="1" cy="519"/>
              <a:chOff x="2375" y="1510"/>
              <a:chExt cx="1" cy="519"/>
            </a:xfrm>
          </p:grpSpPr>
          <p:sp>
            <p:nvSpPr>
              <p:cNvPr id="188" name="Freeform 222"/>
              <p:cNvSpPr>
                <a:spLocks noChangeArrowheads="1"/>
              </p:cNvSpPr>
              <p:nvPr/>
            </p:nvSpPr>
            <p:spPr bwMode="auto">
              <a:xfrm>
                <a:off x="2375" y="1627"/>
                <a:ext cx="1" cy="289"/>
              </a:xfrm>
              <a:custGeom>
                <a:avLst/>
                <a:gdLst>
                  <a:gd name="T0" fmla="*/ 0 w 1"/>
                  <a:gd name="T1" fmla="*/ 1250 h 1250"/>
                  <a:gd name="T2" fmla="*/ 0 w 1"/>
                  <a:gd name="T3" fmla="*/ 0 h 1250"/>
                  <a:gd name="T4" fmla="*/ 1 w 1"/>
                  <a:gd name="T5" fmla="*/ 0 h 1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250">
                    <a:moveTo>
                      <a:pt x="0" y="125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9" name="Freeform 223"/>
              <p:cNvSpPr>
                <a:spLocks noChangeArrowheads="1"/>
              </p:cNvSpPr>
              <p:nvPr/>
            </p:nvSpPr>
            <p:spPr bwMode="auto">
              <a:xfrm>
                <a:off x="2375" y="1944"/>
                <a:ext cx="1" cy="85"/>
              </a:xfrm>
              <a:custGeom>
                <a:avLst/>
                <a:gdLst>
                  <a:gd name="T0" fmla="*/ 0 w 1"/>
                  <a:gd name="T1" fmla="*/ 369 h 369"/>
                  <a:gd name="T2" fmla="*/ 0 w 1"/>
                  <a:gd name="T3" fmla="*/ 0 h 369"/>
                  <a:gd name="T4" fmla="*/ 1 w 1"/>
                  <a:gd name="T5" fmla="*/ 0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69">
                    <a:moveTo>
                      <a:pt x="0" y="36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0" name="Freeform 224"/>
              <p:cNvSpPr>
                <a:spLocks noChangeArrowheads="1"/>
              </p:cNvSpPr>
              <p:nvPr/>
            </p:nvSpPr>
            <p:spPr bwMode="auto">
              <a:xfrm>
                <a:off x="2375" y="1928"/>
                <a:ext cx="1" cy="4"/>
              </a:xfrm>
              <a:custGeom>
                <a:avLst/>
                <a:gdLst>
                  <a:gd name="T0" fmla="*/ 0 w 1"/>
                  <a:gd name="T1" fmla="*/ 21 h 21"/>
                  <a:gd name="T2" fmla="*/ 0 w 1"/>
                  <a:gd name="T3" fmla="*/ 0 h 21"/>
                  <a:gd name="T4" fmla="*/ 1 w 1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">
                    <a:moveTo>
                      <a:pt x="0" y="2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1" name="Freeform 225"/>
              <p:cNvSpPr>
                <a:spLocks noChangeArrowheads="1"/>
              </p:cNvSpPr>
              <p:nvPr/>
            </p:nvSpPr>
            <p:spPr bwMode="auto">
              <a:xfrm>
                <a:off x="2375" y="1510"/>
                <a:ext cx="1" cy="86"/>
              </a:xfrm>
              <a:custGeom>
                <a:avLst/>
                <a:gdLst>
                  <a:gd name="T0" fmla="*/ 0 w 1"/>
                  <a:gd name="T1" fmla="*/ 371 h 371"/>
                  <a:gd name="T2" fmla="*/ 0 w 1"/>
                  <a:gd name="T3" fmla="*/ 0 h 371"/>
                  <a:gd name="T4" fmla="*/ 1 w 1"/>
                  <a:gd name="T5" fmla="*/ 0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71">
                    <a:moveTo>
                      <a:pt x="0" y="37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2" name="Freeform 226"/>
              <p:cNvSpPr>
                <a:spLocks noChangeArrowheads="1"/>
              </p:cNvSpPr>
              <p:nvPr/>
            </p:nvSpPr>
            <p:spPr bwMode="auto">
              <a:xfrm>
                <a:off x="2375" y="1607"/>
                <a:ext cx="1" cy="7"/>
              </a:xfrm>
              <a:custGeom>
                <a:avLst/>
                <a:gdLst>
                  <a:gd name="T0" fmla="*/ 0 w 1"/>
                  <a:gd name="T1" fmla="*/ 29 h 29"/>
                  <a:gd name="T2" fmla="*/ 0 w 1"/>
                  <a:gd name="T3" fmla="*/ 0 h 29"/>
                  <a:gd name="T4" fmla="*/ 1 w 1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9">
                    <a:moveTo>
                      <a:pt x="0" y="2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183" name="Line 227"/>
            <p:cNvSpPr>
              <a:spLocks noChangeShapeType="1"/>
            </p:cNvSpPr>
            <p:nvPr/>
          </p:nvSpPr>
          <p:spPr bwMode="auto">
            <a:xfrm>
              <a:off x="2990" y="1027"/>
              <a:ext cx="4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" name="Oval 228"/>
            <p:cNvSpPr>
              <a:spLocks noChangeArrowheads="1"/>
            </p:cNvSpPr>
            <p:nvPr/>
          </p:nvSpPr>
          <p:spPr bwMode="auto">
            <a:xfrm>
              <a:off x="3041" y="1410"/>
              <a:ext cx="231" cy="242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5" name="Line 229"/>
            <p:cNvSpPr>
              <a:spLocks noChangeShapeType="1"/>
            </p:cNvSpPr>
            <p:nvPr/>
          </p:nvSpPr>
          <p:spPr bwMode="auto">
            <a:xfrm>
              <a:off x="3466" y="1439"/>
              <a:ext cx="0" cy="18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" name="Line 230"/>
            <p:cNvSpPr>
              <a:spLocks noChangeShapeType="1"/>
            </p:cNvSpPr>
            <p:nvPr/>
          </p:nvSpPr>
          <p:spPr bwMode="auto">
            <a:xfrm>
              <a:off x="4250" y="978"/>
              <a:ext cx="0" cy="4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" name="Line 231"/>
            <p:cNvSpPr>
              <a:spLocks noChangeShapeType="1"/>
            </p:cNvSpPr>
            <p:nvPr/>
          </p:nvSpPr>
          <p:spPr bwMode="auto">
            <a:xfrm>
              <a:off x="4513" y="968"/>
              <a:ext cx="0" cy="5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2" name="Group 232"/>
          <p:cNvGrpSpPr>
            <a:grpSpLocks/>
          </p:cNvGrpSpPr>
          <p:nvPr/>
        </p:nvGrpSpPr>
        <p:grpSpPr bwMode="auto">
          <a:xfrm>
            <a:off x="2319339" y="3332164"/>
            <a:ext cx="1916113" cy="3068637"/>
            <a:chOff x="501" y="2099"/>
            <a:chExt cx="1207" cy="1933"/>
          </a:xfrm>
        </p:grpSpPr>
        <p:sp>
          <p:nvSpPr>
            <p:cNvPr id="233" name="Oval 233"/>
            <p:cNvSpPr>
              <a:spLocks noChangeArrowheads="1"/>
            </p:cNvSpPr>
            <p:nvPr/>
          </p:nvSpPr>
          <p:spPr bwMode="auto">
            <a:xfrm>
              <a:off x="615" y="3012"/>
              <a:ext cx="960" cy="965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4" name="Arc 234"/>
            <p:cNvSpPr>
              <a:spLocks noChangeArrowheads="1"/>
            </p:cNvSpPr>
            <p:nvPr/>
          </p:nvSpPr>
          <p:spPr bwMode="auto">
            <a:xfrm flipH="1">
              <a:off x="822" y="3220"/>
              <a:ext cx="276" cy="548"/>
            </a:xfrm>
            <a:custGeom>
              <a:avLst/>
              <a:gdLst>
                <a:gd name="T0" fmla="*/ 316 w 21917"/>
                <a:gd name="T1" fmla="*/ 0 h 43200"/>
                <a:gd name="T2" fmla="*/ 21917 w 21917"/>
                <a:gd name="T3" fmla="*/ 21600 h 43200"/>
                <a:gd name="T4" fmla="*/ 317 w 21917"/>
                <a:gd name="T5" fmla="*/ 43200 h 43200"/>
                <a:gd name="T6" fmla="*/ 0 w 21917"/>
                <a:gd name="T7" fmla="*/ 43197 h 43200"/>
                <a:gd name="T8" fmla="*/ 316 w 21917"/>
                <a:gd name="T9" fmla="*/ 0 h 43200"/>
                <a:gd name="T10" fmla="*/ 21917 w 21917"/>
                <a:gd name="T11" fmla="*/ 21600 h 43200"/>
                <a:gd name="T12" fmla="*/ 317 w 21917"/>
                <a:gd name="T13" fmla="*/ 43200 h 43200"/>
                <a:gd name="T14" fmla="*/ 0 w 21917"/>
                <a:gd name="T15" fmla="*/ 43197 h 43200"/>
                <a:gd name="T16" fmla="*/ 317 w 21917"/>
                <a:gd name="T17" fmla="*/ 21600 h 43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17" h="43200" fill="none">
                  <a:moveTo>
                    <a:pt x="316" y="0"/>
                  </a:moveTo>
                  <a:cubicBezTo>
                    <a:pt x="12246" y="0"/>
                    <a:pt x="21917" y="9670"/>
                    <a:pt x="21917" y="21600"/>
                  </a:cubicBezTo>
                  <a:cubicBezTo>
                    <a:pt x="21917" y="33529"/>
                    <a:pt x="12246" y="43200"/>
                    <a:pt x="317" y="43200"/>
                  </a:cubicBezTo>
                  <a:cubicBezTo>
                    <a:pt x="211" y="43200"/>
                    <a:pt x="105" y="43199"/>
                    <a:pt x="0" y="43197"/>
                  </a:cubicBezTo>
                </a:path>
                <a:path w="21917" h="43200" stroke="0">
                  <a:moveTo>
                    <a:pt x="316" y="0"/>
                  </a:moveTo>
                  <a:cubicBezTo>
                    <a:pt x="12246" y="0"/>
                    <a:pt x="21917" y="9670"/>
                    <a:pt x="21917" y="21600"/>
                  </a:cubicBezTo>
                  <a:cubicBezTo>
                    <a:pt x="21917" y="33529"/>
                    <a:pt x="12246" y="43200"/>
                    <a:pt x="317" y="43200"/>
                  </a:cubicBezTo>
                  <a:cubicBezTo>
                    <a:pt x="211" y="43200"/>
                    <a:pt x="105" y="43199"/>
                    <a:pt x="0" y="43197"/>
                  </a:cubicBezTo>
                  <a:lnTo>
                    <a:pt x="317" y="21600"/>
                  </a:lnTo>
                  <a:close/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5" name="Oval 235"/>
            <p:cNvSpPr>
              <a:spLocks noChangeArrowheads="1"/>
            </p:cNvSpPr>
            <p:nvPr/>
          </p:nvSpPr>
          <p:spPr bwMode="auto">
            <a:xfrm>
              <a:off x="910" y="3314"/>
              <a:ext cx="362" cy="347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6" name="Oval 236"/>
            <p:cNvSpPr>
              <a:spLocks noChangeArrowheads="1"/>
            </p:cNvSpPr>
            <p:nvPr/>
          </p:nvSpPr>
          <p:spPr bwMode="auto">
            <a:xfrm>
              <a:off x="977" y="3382"/>
              <a:ext cx="223" cy="223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7" name="Oval 237"/>
            <p:cNvSpPr>
              <a:spLocks noChangeArrowheads="1"/>
            </p:cNvSpPr>
            <p:nvPr/>
          </p:nvSpPr>
          <p:spPr bwMode="auto">
            <a:xfrm>
              <a:off x="660" y="3436"/>
              <a:ext cx="116" cy="116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8" name="Oval 238"/>
            <p:cNvSpPr>
              <a:spLocks noChangeArrowheads="1"/>
            </p:cNvSpPr>
            <p:nvPr/>
          </p:nvSpPr>
          <p:spPr bwMode="auto">
            <a:xfrm>
              <a:off x="1030" y="3057"/>
              <a:ext cx="116" cy="116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9" name="Oval 239"/>
            <p:cNvSpPr>
              <a:spLocks noChangeArrowheads="1"/>
            </p:cNvSpPr>
            <p:nvPr/>
          </p:nvSpPr>
          <p:spPr bwMode="auto">
            <a:xfrm>
              <a:off x="1030" y="3819"/>
              <a:ext cx="116" cy="116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0" name="Oval 240"/>
            <p:cNvSpPr>
              <a:spLocks noChangeArrowheads="1"/>
            </p:cNvSpPr>
            <p:nvPr/>
          </p:nvSpPr>
          <p:spPr bwMode="auto">
            <a:xfrm>
              <a:off x="1413" y="3435"/>
              <a:ext cx="116" cy="116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1" name="Oval 241"/>
            <p:cNvSpPr>
              <a:spLocks noChangeArrowheads="1"/>
            </p:cNvSpPr>
            <p:nvPr/>
          </p:nvSpPr>
          <p:spPr bwMode="auto">
            <a:xfrm>
              <a:off x="1132" y="2376"/>
              <a:ext cx="96" cy="96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2" name="Arc 242"/>
            <p:cNvSpPr>
              <a:spLocks noChangeArrowheads="1"/>
            </p:cNvSpPr>
            <p:nvPr/>
          </p:nvSpPr>
          <p:spPr bwMode="auto">
            <a:xfrm flipV="1">
              <a:off x="1152" y="2297"/>
              <a:ext cx="162" cy="266"/>
            </a:xfrm>
            <a:custGeom>
              <a:avLst/>
              <a:gdLst>
                <a:gd name="T0" fmla="*/ 4773 w 26374"/>
                <a:gd name="T1" fmla="*/ 0 h 43200"/>
                <a:gd name="T2" fmla="*/ 26374 w 26374"/>
                <a:gd name="T3" fmla="*/ 21600 h 43200"/>
                <a:gd name="T4" fmla="*/ 4774 w 26374"/>
                <a:gd name="T5" fmla="*/ 43200 h 43200"/>
                <a:gd name="T6" fmla="*/ 0 w 26374"/>
                <a:gd name="T7" fmla="*/ 42665 h 43200"/>
                <a:gd name="T8" fmla="*/ 4773 w 26374"/>
                <a:gd name="T9" fmla="*/ 0 h 43200"/>
                <a:gd name="T10" fmla="*/ 26374 w 26374"/>
                <a:gd name="T11" fmla="*/ 21600 h 43200"/>
                <a:gd name="T12" fmla="*/ 4774 w 26374"/>
                <a:gd name="T13" fmla="*/ 43200 h 43200"/>
                <a:gd name="T14" fmla="*/ 0 w 26374"/>
                <a:gd name="T15" fmla="*/ 42665 h 43200"/>
                <a:gd name="T16" fmla="*/ 4774 w 26374"/>
                <a:gd name="T17" fmla="*/ 21600 h 43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374" h="43200" fill="none">
                  <a:moveTo>
                    <a:pt x="4773" y="0"/>
                  </a:moveTo>
                  <a:cubicBezTo>
                    <a:pt x="16703" y="0"/>
                    <a:pt x="26374" y="9670"/>
                    <a:pt x="26374" y="21600"/>
                  </a:cubicBezTo>
                  <a:cubicBezTo>
                    <a:pt x="26374" y="33529"/>
                    <a:pt x="16703" y="43200"/>
                    <a:pt x="4774" y="43200"/>
                  </a:cubicBezTo>
                  <a:cubicBezTo>
                    <a:pt x="3167" y="43200"/>
                    <a:pt x="1566" y="43020"/>
                    <a:pt x="0" y="42665"/>
                  </a:cubicBezTo>
                </a:path>
                <a:path w="26374" h="43200" stroke="0">
                  <a:moveTo>
                    <a:pt x="4773" y="0"/>
                  </a:moveTo>
                  <a:cubicBezTo>
                    <a:pt x="16703" y="0"/>
                    <a:pt x="26374" y="9670"/>
                    <a:pt x="26374" y="21600"/>
                  </a:cubicBezTo>
                  <a:cubicBezTo>
                    <a:pt x="26374" y="33529"/>
                    <a:pt x="16703" y="43200"/>
                    <a:pt x="4774" y="43200"/>
                  </a:cubicBezTo>
                  <a:cubicBezTo>
                    <a:pt x="3167" y="43200"/>
                    <a:pt x="1566" y="43020"/>
                    <a:pt x="0" y="42665"/>
                  </a:cubicBezTo>
                  <a:lnTo>
                    <a:pt x="4774" y="21600"/>
                  </a:lnTo>
                  <a:close/>
                </a:path>
              </a:pathLst>
            </a:custGeom>
            <a:noFill/>
            <a:ln w="9525">
              <a:solidFill>
                <a:srgbClr val="FF66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3" name="Line 243"/>
            <p:cNvSpPr>
              <a:spLocks noChangeShapeType="1"/>
            </p:cNvSpPr>
            <p:nvPr/>
          </p:nvSpPr>
          <p:spPr bwMode="auto">
            <a:xfrm>
              <a:off x="1094" y="2299"/>
              <a:ext cx="87" cy="0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4" name="Line 244"/>
            <p:cNvSpPr>
              <a:spLocks noChangeShapeType="1"/>
            </p:cNvSpPr>
            <p:nvPr/>
          </p:nvSpPr>
          <p:spPr bwMode="auto">
            <a:xfrm>
              <a:off x="1094" y="2563"/>
              <a:ext cx="87" cy="0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" name="Rectangle 245"/>
            <p:cNvSpPr>
              <a:spLocks noChangeArrowheads="1"/>
            </p:cNvSpPr>
            <p:nvPr/>
          </p:nvSpPr>
          <p:spPr bwMode="auto">
            <a:xfrm>
              <a:off x="861" y="2805"/>
              <a:ext cx="45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i="1">
                  <a:latin typeface="Times New Roman" panose="02020603050405020304" pitchFamily="18" charset="0"/>
                </a:rPr>
                <a:t>A</a:t>
              </a:r>
              <a:r>
                <a:rPr lang="zh-CN" altLang="en-US">
                  <a:latin typeface="Times New Roman" panose="02020603050405020304" pitchFamily="18" charset="0"/>
                </a:rPr>
                <a:t>－</a:t>
              </a:r>
              <a:r>
                <a:rPr lang="en-US" altLang="zh-CN" i="1">
                  <a:latin typeface="Times New Roman" panose="02020603050405020304" pitchFamily="18" charset="0"/>
                </a:rPr>
                <a:t>A</a:t>
              </a:r>
              <a:endParaRPr lang="en-US" altLang="zh-CN">
                <a:latin typeface="Times New Roman" panose="02020603050405020304" pitchFamily="18" charset="0"/>
              </a:endParaRPr>
            </a:p>
          </p:txBody>
        </p:sp>
        <p:sp>
          <p:nvSpPr>
            <p:cNvPr id="246" name="Freeform 246"/>
            <p:cNvSpPr>
              <a:spLocks noChangeArrowheads="1"/>
            </p:cNvSpPr>
            <p:nvPr/>
          </p:nvSpPr>
          <p:spPr bwMode="auto">
            <a:xfrm>
              <a:off x="954" y="2243"/>
              <a:ext cx="280" cy="1"/>
            </a:xfrm>
            <a:custGeom>
              <a:avLst/>
              <a:gdLst>
                <a:gd name="T0" fmla="*/ 0 w 1402"/>
                <a:gd name="T1" fmla="*/ 0 h 1"/>
                <a:gd name="T2" fmla="*/ 1401 w 1402"/>
                <a:gd name="T3" fmla="*/ 0 h 1"/>
                <a:gd name="T4" fmla="*/ 1402 w 140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2" h="1">
                  <a:moveTo>
                    <a:pt x="0" y="0"/>
                  </a:moveTo>
                  <a:lnTo>
                    <a:pt x="1401" y="0"/>
                  </a:lnTo>
                  <a:lnTo>
                    <a:pt x="1402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7" name="Freeform 247"/>
            <p:cNvSpPr>
              <a:spLocks noChangeArrowheads="1"/>
            </p:cNvSpPr>
            <p:nvPr/>
          </p:nvSpPr>
          <p:spPr bwMode="auto">
            <a:xfrm>
              <a:off x="954" y="2644"/>
              <a:ext cx="280" cy="1"/>
            </a:xfrm>
            <a:custGeom>
              <a:avLst/>
              <a:gdLst>
                <a:gd name="T0" fmla="*/ 0 w 1402"/>
                <a:gd name="T1" fmla="*/ 0 h 1"/>
                <a:gd name="T2" fmla="*/ 1401 w 1402"/>
                <a:gd name="T3" fmla="*/ 0 h 1"/>
                <a:gd name="T4" fmla="*/ 1402 w 140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2" h="1">
                  <a:moveTo>
                    <a:pt x="0" y="0"/>
                  </a:moveTo>
                  <a:lnTo>
                    <a:pt x="1401" y="0"/>
                  </a:lnTo>
                  <a:lnTo>
                    <a:pt x="1402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8" name="Freeform 248"/>
            <p:cNvSpPr>
              <a:spLocks noChangeArrowheads="1"/>
            </p:cNvSpPr>
            <p:nvPr/>
          </p:nvSpPr>
          <p:spPr bwMode="auto">
            <a:xfrm>
              <a:off x="613" y="2770"/>
              <a:ext cx="963" cy="1"/>
            </a:xfrm>
            <a:custGeom>
              <a:avLst/>
              <a:gdLst>
                <a:gd name="T0" fmla="*/ 0 w 4815"/>
                <a:gd name="T1" fmla="*/ 0 h 1"/>
                <a:gd name="T2" fmla="*/ 4814 w 4815"/>
                <a:gd name="T3" fmla="*/ 0 h 1"/>
                <a:gd name="T4" fmla="*/ 4815 w 481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15" h="1">
                  <a:moveTo>
                    <a:pt x="0" y="0"/>
                  </a:moveTo>
                  <a:lnTo>
                    <a:pt x="4814" y="0"/>
                  </a:lnTo>
                  <a:lnTo>
                    <a:pt x="4815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9" name="Freeform 249"/>
            <p:cNvSpPr>
              <a:spLocks noChangeArrowheads="1"/>
            </p:cNvSpPr>
            <p:nvPr/>
          </p:nvSpPr>
          <p:spPr bwMode="auto">
            <a:xfrm>
              <a:off x="814" y="2150"/>
              <a:ext cx="560" cy="1"/>
            </a:xfrm>
            <a:custGeom>
              <a:avLst/>
              <a:gdLst>
                <a:gd name="T0" fmla="*/ 2798 w 2798"/>
                <a:gd name="T1" fmla="*/ 0 h 1"/>
                <a:gd name="T2" fmla="*/ 0 w 2798"/>
                <a:gd name="T3" fmla="*/ 0 h 1"/>
                <a:gd name="T4" fmla="*/ 1 w 279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98" h="1">
                  <a:moveTo>
                    <a:pt x="2798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50" name="Freeform 250"/>
            <p:cNvSpPr>
              <a:spLocks noChangeArrowheads="1"/>
            </p:cNvSpPr>
            <p:nvPr/>
          </p:nvSpPr>
          <p:spPr bwMode="auto">
            <a:xfrm>
              <a:off x="1033" y="2430"/>
              <a:ext cx="319" cy="1"/>
            </a:xfrm>
            <a:custGeom>
              <a:avLst/>
              <a:gdLst>
                <a:gd name="T0" fmla="*/ 0 w 1593"/>
                <a:gd name="T1" fmla="*/ 0 h 1"/>
                <a:gd name="T2" fmla="*/ 1591 w 1593"/>
                <a:gd name="T3" fmla="*/ 0 h 1"/>
                <a:gd name="T4" fmla="*/ 1593 w 159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3" h="1">
                  <a:moveTo>
                    <a:pt x="0" y="0"/>
                  </a:moveTo>
                  <a:lnTo>
                    <a:pt x="1591" y="0"/>
                  </a:lnTo>
                  <a:lnTo>
                    <a:pt x="1593" y="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51" name="Freeform 251"/>
            <p:cNvSpPr>
              <a:spLocks noChangeArrowheads="1"/>
            </p:cNvSpPr>
            <p:nvPr/>
          </p:nvSpPr>
          <p:spPr bwMode="auto">
            <a:xfrm>
              <a:off x="814" y="2144"/>
              <a:ext cx="8" cy="7"/>
            </a:xfrm>
            <a:custGeom>
              <a:avLst/>
              <a:gdLst>
                <a:gd name="T0" fmla="*/ 0 w 37"/>
                <a:gd name="T1" fmla="*/ 35 h 35"/>
                <a:gd name="T2" fmla="*/ 36 w 37"/>
                <a:gd name="T3" fmla="*/ 0 h 35"/>
                <a:gd name="T4" fmla="*/ 37 w 37"/>
                <a:gd name="T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35">
                  <a:moveTo>
                    <a:pt x="0" y="35"/>
                  </a:moveTo>
                  <a:lnTo>
                    <a:pt x="36" y="0"/>
                  </a:lnTo>
                  <a:lnTo>
                    <a:pt x="37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52" name="Freeform 252"/>
            <p:cNvSpPr>
              <a:spLocks noChangeArrowheads="1"/>
            </p:cNvSpPr>
            <p:nvPr/>
          </p:nvSpPr>
          <p:spPr bwMode="auto">
            <a:xfrm>
              <a:off x="769" y="2616"/>
              <a:ext cx="1" cy="1"/>
            </a:xfrm>
            <a:custGeom>
              <a:avLst/>
              <a:gdLst>
                <a:gd name="T0" fmla="*/ 0 w 3"/>
                <a:gd name="T1" fmla="*/ 2 h 2"/>
                <a:gd name="T2" fmla="*/ 2 w 3"/>
                <a:gd name="T3" fmla="*/ 0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2" y="0"/>
                  </a:lnTo>
                  <a:lnTo>
                    <a:pt x="3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253" name="Group 253"/>
            <p:cNvGrpSpPr>
              <a:grpSpLocks/>
            </p:cNvGrpSpPr>
            <p:nvPr/>
          </p:nvGrpSpPr>
          <p:grpSpPr bwMode="auto">
            <a:xfrm>
              <a:off x="613" y="2144"/>
              <a:ext cx="963" cy="626"/>
              <a:chOff x="1580" y="1289"/>
              <a:chExt cx="963" cy="626"/>
            </a:xfrm>
          </p:grpSpPr>
          <p:sp>
            <p:nvSpPr>
              <p:cNvPr id="348" name="Freeform 254"/>
              <p:cNvSpPr>
                <a:spLocks noChangeArrowheads="1"/>
              </p:cNvSpPr>
              <p:nvPr/>
            </p:nvSpPr>
            <p:spPr bwMode="auto">
              <a:xfrm>
                <a:off x="1781" y="1289"/>
                <a:ext cx="112" cy="112"/>
              </a:xfrm>
              <a:custGeom>
                <a:avLst/>
                <a:gdLst>
                  <a:gd name="T0" fmla="*/ 0 w 560"/>
                  <a:gd name="T1" fmla="*/ 560 h 560"/>
                  <a:gd name="T2" fmla="*/ 559 w 560"/>
                  <a:gd name="T3" fmla="*/ 0 h 560"/>
                  <a:gd name="T4" fmla="*/ 560 w 560"/>
                  <a:gd name="T5" fmla="*/ 0 h 5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0" h="560">
                    <a:moveTo>
                      <a:pt x="0" y="560"/>
                    </a:moveTo>
                    <a:lnTo>
                      <a:pt x="559" y="0"/>
                    </a:lnTo>
                    <a:lnTo>
                      <a:pt x="56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9" name="Freeform 255"/>
              <p:cNvSpPr>
                <a:spLocks noChangeArrowheads="1"/>
              </p:cNvSpPr>
              <p:nvPr/>
            </p:nvSpPr>
            <p:spPr bwMode="auto">
              <a:xfrm>
                <a:off x="1781" y="1343"/>
                <a:ext cx="163" cy="163"/>
              </a:xfrm>
              <a:custGeom>
                <a:avLst/>
                <a:gdLst>
                  <a:gd name="T0" fmla="*/ 0 w 815"/>
                  <a:gd name="T1" fmla="*/ 815 h 815"/>
                  <a:gd name="T2" fmla="*/ 814 w 815"/>
                  <a:gd name="T3" fmla="*/ 0 h 815"/>
                  <a:gd name="T4" fmla="*/ 815 w 815"/>
                  <a:gd name="T5" fmla="*/ 0 h 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5" h="815">
                    <a:moveTo>
                      <a:pt x="0" y="815"/>
                    </a:moveTo>
                    <a:lnTo>
                      <a:pt x="814" y="0"/>
                    </a:lnTo>
                    <a:lnTo>
                      <a:pt x="815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0" name="Freeform 256"/>
              <p:cNvSpPr>
                <a:spLocks noChangeArrowheads="1"/>
              </p:cNvSpPr>
              <p:nvPr/>
            </p:nvSpPr>
            <p:spPr bwMode="auto">
              <a:xfrm>
                <a:off x="1580" y="1774"/>
                <a:ext cx="39" cy="39"/>
              </a:xfrm>
              <a:custGeom>
                <a:avLst/>
                <a:gdLst>
                  <a:gd name="T0" fmla="*/ 0 w 197"/>
                  <a:gd name="T1" fmla="*/ 197 h 197"/>
                  <a:gd name="T2" fmla="*/ 196 w 197"/>
                  <a:gd name="T3" fmla="*/ 0 h 197"/>
                  <a:gd name="T4" fmla="*/ 197 w 197"/>
                  <a:gd name="T5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97">
                    <a:moveTo>
                      <a:pt x="0" y="197"/>
                    </a:moveTo>
                    <a:lnTo>
                      <a:pt x="196" y="0"/>
                    </a:lnTo>
                    <a:lnTo>
                      <a:pt x="197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1" name="Freeform 257"/>
              <p:cNvSpPr>
                <a:spLocks noChangeArrowheads="1"/>
              </p:cNvSpPr>
              <p:nvPr/>
            </p:nvSpPr>
            <p:spPr bwMode="auto">
              <a:xfrm>
                <a:off x="1781" y="1513"/>
                <a:ext cx="98" cy="98"/>
              </a:xfrm>
              <a:custGeom>
                <a:avLst/>
                <a:gdLst>
                  <a:gd name="T0" fmla="*/ 0 w 489"/>
                  <a:gd name="T1" fmla="*/ 489 h 489"/>
                  <a:gd name="T2" fmla="*/ 488 w 489"/>
                  <a:gd name="T3" fmla="*/ 0 h 489"/>
                  <a:gd name="T4" fmla="*/ 489 w 489"/>
                  <a:gd name="T5" fmla="*/ 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9" h="489">
                    <a:moveTo>
                      <a:pt x="0" y="489"/>
                    </a:moveTo>
                    <a:lnTo>
                      <a:pt x="488" y="0"/>
                    </a:lnTo>
                    <a:lnTo>
                      <a:pt x="489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2" name="Freeform 258"/>
              <p:cNvSpPr>
                <a:spLocks noChangeArrowheads="1"/>
              </p:cNvSpPr>
              <p:nvPr/>
            </p:nvSpPr>
            <p:spPr bwMode="auto">
              <a:xfrm>
                <a:off x="1582" y="1879"/>
                <a:ext cx="37" cy="36"/>
              </a:xfrm>
              <a:custGeom>
                <a:avLst/>
                <a:gdLst>
                  <a:gd name="T0" fmla="*/ 0 w 183"/>
                  <a:gd name="T1" fmla="*/ 180 h 180"/>
                  <a:gd name="T2" fmla="*/ 182 w 183"/>
                  <a:gd name="T3" fmla="*/ 0 h 180"/>
                  <a:gd name="T4" fmla="*/ 183 w 183"/>
                  <a:gd name="T5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3" h="180">
                    <a:moveTo>
                      <a:pt x="0" y="180"/>
                    </a:moveTo>
                    <a:lnTo>
                      <a:pt x="182" y="0"/>
                    </a:lnTo>
                    <a:lnTo>
                      <a:pt x="183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3" name="Freeform 259"/>
              <p:cNvSpPr>
                <a:spLocks noChangeArrowheads="1"/>
              </p:cNvSpPr>
              <p:nvPr/>
            </p:nvSpPr>
            <p:spPr bwMode="auto">
              <a:xfrm>
                <a:off x="2178" y="1289"/>
                <a:ext cx="30" cy="30"/>
              </a:xfrm>
              <a:custGeom>
                <a:avLst/>
                <a:gdLst>
                  <a:gd name="T0" fmla="*/ 0 w 149"/>
                  <a:gd name="T1" fmla="*/ 148 h 148"/>
                  <a:gd name="T2" fmla="*/ 148 w 149"/>
                  <a:gd name="T3" fmla="*/ 0 h 148"/>
                  <a:gd name="T4" fmla="*/ 149 w 149"/>
                  <a:gd name="T5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9" h="148">
                    <a:moveTo>
                      <a:pt x="0" y="148"/>
                    </a:moveTo>
                    <a:lnTo>
                      <a:pt x="148" y="0"/>
                    </a:lnTo>
                    <a:lnTo>
                      <a:pt x="149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4" name="Freeform 260"/>
              <p:cNvSpPr>
                <a:spLocks noChangeArrowheads="1"/>
              </p:cNvSpPr>
              <p:nvPr/>
            </p:nvSpPr>
            <p:spPr bwMode="auto">
              <a:xfrm>
                <a:off x="1781" y="1618"/>
                <a:ext cx="98" cy="98"/>
              </a:xfrm>
              <a:custGeom>
                <a:avLst/>
                <a:gdLst>
                  <a:gd name="T0" fmla="*/ 0 w 489"/>
                  <a:gd name="T1" fmla="*/ 488 h 488"/>
                  <a:gd name="T2" fmla="*/ 488 w 489"/>
                  <a:gd name="T3" fmla="*/ 0 h 488"/>
                  <a:gd name="T4" fmla="*/ 489 w 489"/>
                  <a:gd name="T5" fmla="*/ 0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9" h="488">
                    <a:moveTo>
                      <a:pt x="0" y="488"/>
                    </a:moveTo>
                    <a:lnTo>
                      <a:pt x="488" y="0"/>
                    </a:lnTo>
                    <a:lnTo>
                      <a:pt x="489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5" name="Freeform 261"/>
              <p:cNvSpPr>
                <a:spLocks noChangeArrowheads="1"/>
              </p:cNvSpPr>
              <p:nvPr/>
            </p:nvSpPr>
            <p:spPr bwMode="auto">
              <a:xfrm>
                <a:off x="1736" y="1723"/>
                <a:ext cx="143" cy="144"/>
              </a:xfrm>
              <a:custGeom>
                <a:avLst/>
                <a:gdLst>
                  <a:gd name="T0" fmla="*/ 0 w 717"/>
                  <a:gd name="T1" fmla="*/ 717 h 717"/>
                  <a:gd name="T2" fmla="*/ 716 w 717"/>
                  <a:gd name="T3" fmla="*/ 0 h 717"/>
                  <a:gd name="T4" fmla="*/ 717 w 717"/>
                  <a:gd name="T5" fmla="*/ 0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7" h="717">
                    <a:moveTo>
                      <a:pt x="0" y="717"/>
                    </a:moveTo>
                    <a:lnTo>
                      <a:pt x="716" y="0"/>
                    </a:lnTo>
                    <a:lnTo>
                      <a:pt x="717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6" name="Freeform 262"/>
              <p:cNvSpPr>
                <a:spLocks noChangeArrowheads="1"/>
              </p:cNvSpPr>
              <p:nvPr/>
            </p:nvSpPr>
            <p:spPr bwMode="auto">
              <a:xfrm>
                <a:off x="2212" y="1289"/>
                <a:ext cx="101" cy="101"/>
              </a:xfrm>
              <a:custGeom>
                <a:avLst/>
                <a:gdLst>
                  <a:gd name="T0" fmla="*/ 0 w 502"/>
                  <a:gd name="T1" fmla="*/ 503 h 503"/>
                  <a:gd name="T2" fmla="*/ 501 w 502"/>
                  <a:gd name="T3" fmla="*/ 0 h 503"/>
                  <a:gd name="T4" fmla="*/ 502 w 502"/>
                  <a:gd name="T5" fmla="*/ 0 h 5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2" h="503">
                    <a:moveTo>
                      <a:pt x="0" y="503"/>
                    </a:moveTo>
                    <a:lnTo>
                      <a:pt x="501" y="0"/>
                    </a:lnTo>
                    <a:lnTo>
                      <a:pt x="502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7" name="Freeform 263"/>
              <p:cNvSpPr>
                <a:spLocks noChangeArrowheads="1"/>
              </p:cNvSpPr>
              <p:nvPr/>
            </p:nvSpPr>
            <p:spPr bwMode="auto">
              <a:xfrm>
                <a:off x="1792" y="1789"/>
                <a:ext cx="127" cy="126"/>
              </a:xfrm>
              <a:custGeom>
                <a:avLst/>
                <a:gdLst>
                  <a:gd name="T0" fmla="*/ 0 w 632"/>
                  <a:gd name="T1" fmla="*/ 631 h 631"/>
                  <a:gd name="T2" fmla="*/ 631 w 632"/>
                  <a:gd name="T3" fmla="*/ 0 h 631"/>
                  <a:gd name="T4" fmla="*/ 632 w 632"/>
                  <a:gd name="T5" fmla="*/ 0 h 6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32" h="631">
                    <a:moveTo>
                      <a:pt x="0" y="631"/>
                    </a:moveTo>
                    <a:lnTo>
                      <a:pt x="631" y="0"/>
                    </a:lnTo>
                    <a:lnTo>
                      <a:pt x="632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8" name="Freeform 264"/>
              <p:cNvSpPr>
                <a:spLocks noChangeArrowheads="1"/>
              </p:cNvSpPr>
              <p:nvPr/>
            </p:nvSpPr>
            <p:spPr bwMode="auto">
              <a:xfrm>
                <a:off x="2243" y="1366"/>
                <a:ext cx="98" cy="98"/>
              </a:xfrm>
              <a:custGeom>
                <a:avLst/>
                <a:gdLst>
                  <a:gd name="T0" fmla="*/ 0 w 489"/>
                  <a:gd name="T1" fmla="*/ 488 h 488"/>
                  <a:gd name="T2" fmla="*/ 488 w 489"/>
                  <a:gd name="T3" fmla="*/ 0 h 488"/>
                  <a:gd name="T4" fmla="*/ 489 w 489"/>
                  <a:gd name="T5" fmla="*/ 0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9" h="488">
                    <a:moveTo>
                      <a:pt x="0" y="488"/>
                    </a:moveTo>
                    <a:lnTo>
                      <a:pt x="488" y="0"/>
                    </a:lnTo>
                    <a:lnTo>
                      <a:pt x="489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9" name="Freeform 265"/>
              <p:cNvSpPr>
                <a:spLocks noChangeArrowheads="1"/>
              </p:cNvSpPr>
              <p:nvPr/>
            </p:nvSpPr>
            <p:spPr bwMode="auto">
              <a:xfrm>
                <a:off x="1897" y="1868"/>
                <a:ext cx="47" cy="47"/>
              </a:xfrm>
              <a:custGeom>
                <a:avLst/>
                <a:gdLst>
                  <a:gd name="T0" fmla="*/ 0 w 235"/>
                  <a:gd name="T1" fmla="*/ 233 h 233"/>
                  <a:gd name="T2" fmla="*/ 234 w 235"/>
                  <a:gd name="T3" fmla="*/ 0 h 233"/>
                  <a:gd name="T4" fmla="*/ 235 w 235"/>
                  <a:gd name="T5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5" h="233">
                    <a:moveTo>
                      <a:pt x="0" y="233"/>
                    </a:moveTo>
                    <a:lnTo>
                      <a:pt x="234" y="0"/>
                    </a:lnTo>
                    <a:lnTo>
                      <a:pt x="235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0" name="Freeform 266"/>
              <p:cNvSpPr>
                <a:spLocks noChangeArrowheads="1"/>
              </p:cNvSpPr>
              <p:nvPr/>
            </p:nvSpPr>
            <p:spPr bwMode="auto">
              <a:xfrm>
                <a:off x="2243" y="1471"/>
                <a:ext cx="98" cy="98"/>
              </a:xfrm>
              <a:custGeom>
                <a:avLst/>
                <a:gdLst>
                  <a:gd name="T0" fmla="*/ 0 w 489"/>
                  <a:gd name="T1" fmla="*/ 488 h 488"/>
                  <a:gd name="T2" fmla="*/ 488 w 489"/>
                  <a:gd name="T3" fmla="*/ 0 h 488"/>
                  <a:gd name="T4" fmla="*/ 489 w 489"/>
                  <a:gd name="T5" fmla="*/ 0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9" h="488">
                    <a:moveTo>
                      <a:pt x="0" y="488"/>
                    </a:moveTo>
                    <a:lnTo>
                      <a:pt x="488" y="0"/>
                    </a:lnTo>
                    <a:lnTo>
                      <a:pt x="489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1" name="Freeform 267"/>
              <p:cNvSpPr>
                <a:spLocks noChangeArrowheads="1"/>
              </p:cNvSpPr>
              <p:nvPr/>
            </p:nvSpPr>
            <p:spPr bwMode="auto">
              <a:xfrm>
                <a:off x="2243" y="1576"/>
                <a:ext cx="98" cy="97"/>
              </a:xfrm>
              <a:custGeom>
                <a:avLst/>
                <a:gdLst>
                  <a:gd name="T0" fmla="*/ 0 w 489"/>
                  <a:gd name="T1" fmla="*/ 488 h 488"/>
                  <a:gd name="T2" fmla="*/ 488 w 489"/>
                  <a:gd name="T3" fmla="*/ 0 h 488"/>
                  <a:gd name="T4" fmla="*/ 489 w 489"/>
                  <a:gd name="T5" fmla="*/ 0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9" h="488">
                    <a:moveTo>
                      <a:pt x="0" y="488"/>
                    </a:moveTo>
                    <a:lnTo>
                      <a:pt x="488" y="0"/>
                    </a:lnTo>
                    <a:lnTo>
                      <a:pt x="489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2" name="Freeform 268"/>
              <p:cNvSpPr>
                <a:spLocks noChangeArrowheads="1"/>
              </p:cNvSpPr>
              <p:nvPr/>
            </p:nvSpPr>
            <p:spPr bwMode="auto">
              <a:xfrm>
                <a:off x="2178" y="1681"/>
                <a:ext cx="163" cy="163"/>
              </a:xfrm>
              <a:custGeom>
                <a:avLst/>
                <a:gdLst>
                  <a:gd name="T0" fmla="*/ 0 w 814"/>
                  <a:gd name="T1" fmla="*/ 814 h 814"/>
                  <a:gd name="T2" fmla="*/ 813 w 814"/>
                  <a:gd name="T3" fmla="*/ 0 h 814"/>
                  <a:gd name="T4" fmla="*/ 814 w 814"/>
                  <a:gd name="T5" fmla="*/ 0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4" h="814">
                    <a:moveTo>
                      <a:pt x="0" y="814"/>
                    </a:moveTo>
                    <a:lnTo>
                      <a:pt x="813" y="0"/>
                    </a:lnTo>
                    <a:lnTo>
                      <a:pt x="814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3" name="Freeform 269"/>
              <p:cNvSpPr>
                <a:spLocks noChangeArrowheads="1"/>
              </p:cNvSpPr>
              <p:nvPr/>
            </p:nvSpPr>
            <p:spPr bwMode="auto">
              <a:xfrm>
                <a:off x="2212" y="1761"/>
                <a:ext cx="154" cy="154"/>
              </a:xfrm>
              <a:custGeom>
                <a:avLst/>
                <a:gdLst>
                  <a:gd name="T0" fmla="*/ 0 w 769"/>
                  <a:gd name="T1" fmla="*/ 768 h 768"/>
                  <a:gd name="T2" fmla="*/ 768 w 769"/>
                  <a:gd name="T3" fmla="*/ 0 h 768"/>
                  <a:gd name="T4" fmla="*/ 769 w 769"/>
                  <a:gd name="T5" fmla="*/ 0 h 7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69" h="768">
                    <a:moveTo>
                      <a:pt x="0" y="768"/>
                    </a:moveTo>
                    <a:lnTo>
                      <a:pt x="768" y="0"/>
                    </a:lnTo>
                    <a:lnTo>
                      <a:pt x="769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4" name="Freeform 270"/>
              <p:cNvSpPr>
                <a:spLocks noChangeArrowheads="1"/>
              </p:cNvSpPr>
              <p:nvPr/>
            </p:nvSpPr>
            <p:spPr bwMode="auto">
              <a:xfrm>
                <a:off x="2317" y="1845"/>
                <a:ext cx="70" cy="70"/>
              </a:xfrm>
              <a:custGeom>
                <a:avLst/>
                <a:gdLst>
                  <a:gd name="T0" fmla="*/ 0 w 349"/>
                  <a:gd name="T1" fmla="*/ 348 h 348"/>
                  <a:gd name="T2" fmla="*/ 348 w 349"/>
                  <a:gd name="T3" fmla="*/ 0 h 348"/>
                  <a:gd name="T4" fmla="*/ 349 w 349"/>
                  <a:gd name="T5" fmla="*/ 0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9" h="348">
                    <a:moveTo>
                      <a:pt x="0" y="348"/>
                    </a:moveTo>
                    <a:lnTo>
                      <a:pt x="348" y="0"/>
                    </a:lnTo>
                    <a:lnTo>
                      <a:pt x="349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5" name="Freeform 271"/>
              <p:cNvSpPr>
                <a:spLocks noChangeArrowheads="1"/>
              </p:cNvSpPr>
              <p:nvPr/>
            </p:nvSpPr>
            <p:spPr bwMode="auto">
              <a:xfrm>
                <a:off x="2503" y="1794"/>
                <a:ext cx="40" cy="39"/>
              </a:xfrm>
              <a:custGeom>
                <a:avLst/>
                <a:gdLst>
                  <a:gd name="T0" fmla="*/ 0 w 196"/>
                  <a:gd name="T1" fmla="*/ 195 h 195"/>
                  <a:gd name="T2" fmla="*/ 195 w 196"/>
                  <a:gd name="T3" fmla="*/ 0 h 195"/>
                  <a:gd name="T4" fmla="*/ 196 w 196"/>
                  <a:gd name="T5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6" h="195">
                    <a:moveTo>
                      <a:pt x="0" y="195"/>
                    </a:moveTo>
                    <a:lnTo>
                      <a:pt x="195" y="0"/>
                    </a:lnTo>
                    <a:lnTo>
                      <a:pt x="196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6" name="Freeform 272"/>
              <p:cNvSpPr>
                <a:spLocks noChangeArrowheads="1"/>
              </p:cNvSpPr>
              <p:nvPr/>
            </p:nvSpPr>
            <p:spPr bwMode="auto">
              <a:xfrm>
                <a:off x="2526" y="1899"/>
                <a:ext cx="17" cy="16"/>
              </a:xfrm>
              <a:custGeom>
                <a:avLst/>
                <a:gdLst>
                  <a:gd name="T0" fmla="*/ 0 w 81"/>
                  <a:gd name="T1" fmla="*/ 79 h 79"/>
                  <a:gd name="T2" fmla="*/ 80 w 81"/>
                  <a:gd name="T3" fmla="*/ 0 h 79"/>
                  <a:gd name="T4" fmla="*/ 81 w 81"/>
                  <a:gd name="T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" h="79">
                    <a:moveTo>
                      <a:pt x="0" y="79"/>
                    </a:moveTo>
                    <a:lnTo>
                      <a:pt x="80" y="0"/>
                    </a:lnTo>
                    <a:lnTo>
                      <a:pt x="8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254" name="Freeform 273"/>
            <p:cNvSpPr>
              <a:spLocks noChangeArrowheads="1"/>
            </p:cNvSpPr>
            <p:nvPr/>
          </p:nvSpPr>
          <p:spPr bwMode="auto">
            <a:xfrm>
              <a:off x="1063" y="3741"/>
              <a:ext cx="31" cy="31"/>
            </a:xfrm>
            <a:custGeom>
              <a:avLst/>
              <a:gdLst>
                <a:gd name="T0" fmla="*/ 0 w 154"/>
                <a:gd name="T1" fmla="*/ 153 h 153"/>
                <a:gd name="T2" fmla="*/ 153 w 154"/>
                <a:gd name="T3" fmla="*/ 0 h 153"/>
                <a:gd name="T4" fmla="*/ 154 w 154"/>
                <a:gd name="T5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4" h="153">
                  <a:moveTo>
                    <a:pt x="0" y="153"/>
                  </a:moveTo>
                  <a:lnTo>
                    <a:pt x="153" y="0"/>
                  </a:lnTo>
                  <a:lnTo>
                    <a:pt x="154" y="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255" name="Group 274"/>
            <p:cNvGrpSpPr>
              <a:grpSpLocks/>
            </p:cNvGrpSpPr>
            <p:nvPr/>
          </p:nvGrpSpPr>
          <p:grpSpPr bwMode="auto">
            <a:xfrm>
              <a:off x="814" y="3214"/>
              <a:ext cx="558" cy="560"/>
              <a:chOff x="1781" y="2359"/>
              <a:chExt cx="558" cy="560"/>
            </a:xfrm>
          </p:grpSpPr>
          <p:sp>
            <p:nvSpPr>
              <p:cNvPr id="337" name="Freeform 275"/>
              <p:cNvSpPr>
                <a:spLocks noChangeArrowheads="1"/>
              </p:cNvSpPr>
              <p:nvPr/>
            </p:nvSpPr>
            <p:spPr bwMode="auto">
              <a:xfrm>
                <a:off x="1781" y="2361"/>
                <a:ext cx="280" cy="281"/>
              </a:xfrm>
              <a:custGeom>
                <a:avLst/>
                <a:gdLst>
                  <a:gd name="T0" fmla="*/ 0 w 1400"/>
                  <a:gd name="T1" fmla="*/ 1401 h 1401"/>
                  <a:gd name="T2" fmla="*/ 1399 w 1400"/>
                  <a:gd name="T3" fmla="*/ 0 h 1401"/>
                  <a:gd name="T4" fmla="*/ 1400 w 1400"/>
                  <a:gd name="T5" fmla="*/ 0 h 1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00" h="1401">
                    <a:moveTo>
                      <a:pt x="0" y="1401"/>
                    </a:moveTo>
                    <a:lnTo>
                      <a:pt x="1399" y="0"/>
                    </a:lnTo>
                    <a:lnTo>
                      <a:pt x="140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8" name="Freeform 276"/>
              <p:cNvSpPr>
                <a:spLocks noChangeArrowheads="1"/>
              </p:cNvSpPr>
              <p:nvPr/>
            </p:nvSpPr>
            <p:spPr bwMode="auto">
              <a:xfrm>
                <a:off x="1797" y="2648"/>
                <a:ext cx="82" cy="83"/>
              </a:xfrm>
              <a:custGeom>
                <a:avLst/>
                <a:gdLst>
                  <a:gd name="T0" fmla="*/ 0 w 412"/>
                  <a:gd name="T1" fmla="*/ 413 h 413"/>
                  <a:gd name="T2" fmla="*/ 411 w 412"/>
                  <a:gd name="T3" fmla="*/ 0 h 413"/>
                  <a:gd name="T4" fmla="*/ 412 w 412"/>
                  <a:gd name="T5" fmla="*/ 0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2" h="413">
                    <a:moveTo>
                      <a:pt x="0" y="413"/>
                    </a:moveTo>
                    <a:lnTo>
                      <a:pt x="411" y="0"/>
                    </a:lnTo>
                    <a:lnTo>
                      <a:pt x="412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9" name="Freeform 277"/>
              <p:cNvSpPr>
                <a:spLocks noChangeArrowheads="1"/>
              </p:cNvSpPr>
              <p:nvPr/>
            </p:nvSpPr>
            <p:spPr bwMode="auto">
              <a:xfrm>
                <a:off x="1833" y="2730"/>
                <a:ext cx="70" cy="70"/>
              </a:xfrm>
              <a:custGeom>
                <a:avLst/>
                <a:gdLst>
                  <a:gd name="T0" fmla="*/ 0 w 353"/>
                  <a:gd name="T1" fmla="*/ 353 h 353"/>
                  <a:gd name="T2" fmla="*/ 352 w 353"/>
                  <a:gd name="T3" fmla="*/ 0 h 353"/>
                  <a:gd name="T4" fmla="*/ 353 w 353"/>
                  <a:gd name="T5" fmla="*/ 0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3" h="353">
                    <a:moveTo>
                      <a:pt x="0" y="353"/>
                    </a:moveTo>
                    <a:lnTo>
                      <a:pt x="352" y="0"/>
                    </a:lnTo>
                    <a:lnTo>
                      <a:pt x="353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0" name="Freeform 278"/>
              <p:cNvSpPr>
                <a:spLocks noChangeArrowheads="1"/>
              </p:cNvSpPr>
              <p:nvPr/>
            </p:nvSpPr>
            <p:spPr bwMode="auto">
              <a:xfrm>
                <a:off x="2203" y="2359"/>
                <a:ext cx="71" cy="70"/>
              </a:xfrm>
              <a:custGeom>
                <a:avLst/>
                <a:gdLst>
                  <a:gd name="T0" fmla="*/ 0 w 354"/>
                  <a:gd name="T1" fmla="*/ 353 h 353"/>
                  <a:gd name="T2" fmla="*/ 353 w 354"/>
                  <a:gd name="T3" fmla="*/ 0 h 353"/>
                  <a:gd name="T4" fmla="*/ 354 w 354"/>
                  <a:gd name="T5" fmla="*/ 0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4" h="353">
                    <a:moveTo>
                      <a:pt x="0" y="353"/>
                    </a:moveTo>
                    <a:lnTo>
                      <a:pt x="353" y="0"/>
                    </a:lnTo>
                    <a:lnTo>
                      <a:pt x="354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1" name="Freeform 279"/>
              <p:cNvSpPr>
                <a:spLocks noChangeArrowheads="1"/>
              </p:cNvSpPr>
              <p:nvPr/>
            </p:nvSpPr>
            <p:spPr bwMode="auto">
              <a:xfrm>
                <a:off x="1883" y="2785"/>
                <a:ext cx="70" cy="70"/>
              </a:xfrm>
              <a:custGeom>
                <a:avLst/>
                <a:gdLst>
                  <a:gd name="T0" fmla="*/ 0 w 348"/>
                  <a:gd name="T1" fmla="*/ 347 h 347"/>
                  <a:gd name="T2" fmla="*/ 347 w 348"/>
                  <a:gd name="T3" fmla="*/ 0 h 347"/>
                  <a:gd name="T4" fmla="*/ 348 w 348"/>
                  <a:gd name="T5" fmla="*/ 0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8" h="347">
                    <a:moveTo>
                      <a:pt x="0" y="347"/>
                    </a:moveTo>
                    <a:lnTo>
                      <a:pt x="347" y="0"/>
                    </a:lnTo>
                    <a:lnTo>
                      <a:pt x="348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2" name="Freeform 280"/>
              <p:cNvSpPr>
                <a:spLocks noChangeArrowheads="1"/>
              </p:cNvSpPr>
              <p:nvPr/>
            </p:nvSpPr>
            <p:spPr bwMode="auto">
              <a:xfrm>
                <a:off x="2207" y="2457"/>
                <a:ext cx="73" cy="73"/>
              </a:xfrm>
              <a:custGeom>
                <a:avLst/>
                <a:gdLst>
                  <a:gd name="T0" fmla="*/ 0 w 364"/>
                  <a:gd name="T1" fmla="*/ 363 h 363"/>
                  <a:gd name="T2" fmla="*/ 363 w 364"/>
                  <a:gd name="T3" fmla="*/ 0 h 363"/>
                  <a:gd name="T4" fmla="*/ 364 w 364"/>
                  <a:gd name="T5" fmla="*/ 0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4" h="363">
                    <a:moveTo>
                      <a:pt x="0" y="363"/>
                    </a:moveTo>
                    <a:lnTo>
                      <a:pt x="363" y="0"/>
                    </a:lnTo>
                    <a:lnTo>
                      <a:pt x="364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3" name="Freeform 281"/>
              <p:cNvSpPr>
                <a:spLocks noChangeArrowheads="1"/>
              </p:cNvSpPr>
              <p:nvPr/>
            </p:nvSpPr>
            <p:spPr bwMode="auto">
              <a:xfrm>
                <a:off x="1948" y="2818"/>
                <a:ext cx="77" cy="77"/>
              </a:xfrm>
              <a:custGeom>
                <a:avLst/>
                <a:gdLst>
                  <a:gd name="T0" fmla="*/ 0 w 386"/>
                  <a:gd name="T1" fmla="*/ 386 h 386"/>
                  <a:gd name="T2" fmla="*/ 385 w 386"/>
                  <a:gd name="T3" fmla="*/ 0 h 386"/>
                  <a:gd name="T4" fmla="*/ 386 w 386"/>
                  <a:gd name="T5" fmla="*/ 0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6" h="386">
                    <a:moveTo>
                      <a:pt x="0" y="386"/>
                    </a:moveTo>
                    <a:lnTo>
                      <a:pt x="385" y="0"/>
                    </a:lnTo>
                    <a:lnTo>
                      <a:pt x="386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4" name="Freeform 282"/>
              <p:cNvSpPr>
                <a:spLocks noChangeArrowheads="1"/>
              </p:cNvSpPr>
              <p:nvPr/>
            </p:nvSpPr>
            <p:spPr bwMode="auto">
              <a:xfrm>
                <a:off x="2240" y="2525"/>
                <a:ext cx="77" cy="78"/>
              </a:xfrm>
              <a:custGeom>
                <a:avLst/>
                <a:gdLst>
                  <a:gd name="T0" fmla="*/ 0 w 387"/>
                  <a:gd name="T1" fmla="*/ 386 h 386"/>
                  <a:gd name="T2" fmla="*/ 386 w 387"/>
                  <a:gd name="T3" fmla="*/ 0 h 386"/>
                  <a:gd name="T4" fmla="*/ 387 w 387"/>
                  <a:gd name="T5" fmla="*/ 0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7" h="386">
                    <a:moveTo>
                      <a:pt x="0" y="386"/>
                    </a:moveTo>
                    <a:lnTo>
                      <a:pt x="386" y="0"/>
                    </a:lnTo>
                    <a:lnTo>
                      <a:pt x="387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5" name="Freeform 283"/>
              <p:cNvSpPr>
                <a:spLocks noChangeArrowheads="1"/>
              </p:cNvSpPr>
              <p:nvPr/>
            </p:nvSpPr>
            <p:spPr bwMode="auto">
              <a:xfrm>
                <a:off x="2220" y="2608"/>
                <a:ext cx="119" cy="119"/>
              </a:xfrm>
              <a:custGeom>
                <a:avLst/>
                <a:gdLst>
                  <a:gd name="T0" fmla="*/ 0 w 594"/>
                  <a:gd name="T1" fmla="*/ 593 h 593"/>
                  <a:gd name="T2" fmla="*/ 593 w 594"/>
                  <a:gd name="T3" fmla="*/ 0 h 593"/>
                  <a:gd name="T4" fmla="*/ 594 w 594"/>
                  <a:gd name="T5" fmla="*/ 0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4" h="593">
                    <a:moveTo>
                      <a:pt x="0" y="593"/>
                    </a:moveTo>
                    <a:lnTo>
                      <a:pt x="593" y="0"/>
                    </a:lnTo>
                    <a:lnTo>
                      <a:pt x="594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6" name="Freeform 284"/>
              <p:cNvSpPr>
                <a:spLocks noChangeArrowheads="1"/>
              </p:cNvSpPr>
              <p:nvPr/>
            </p:nvSpPr>
            <p:spPr bwMode="auto">
              <a:xfrm>
                <a:off x="2203" y="2725"/>
                <a:ext cx="124" cy="124"/>
              </a:xfrm>
              <a:custGeom>
                <a:avLst/>
                <a:gdLst>
                  <a:gd name="T0" fmla="*/ 0 w 622"/>
                  <a:gd name="T1" fmla="*/ 622 h 622"/>
                  <a:gd name="T2" fmla="*/ 621 w 622"/>
                  <a:gd name="T3" fmla="*/ 0 h 622"/>
                  <a:gd name="T4" fmla="*/ 622 w 622"/>
                  <a:gd name="T5" fmla="*/ 0 h 6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22" h="622">
                    <a:moveTo>
                      <a:pt x="0" y="622"/>
                    </a:moveTo>
                    <a:lnTo>
                      <a:pt x="621" y="0"/>
                    </a:lnTo>
                    <a:lnTo>
                      <a:pt x="622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7" name="Freeform 285"/>
              <p:cNvSpPr>
                <a:spLocks noChangeArrowheads="1"/>
              </p:cNvSpPr>
              <p:nvPr/>
            </p:nvSpPr>
            <p:spPr bwMode="auto">
              <a:xfrm>
                <a:off x="2239" y="2877"/>
                <a:ext cx="41" cy="42"/>
              </a:xfrm>
              <a:custGeom>
                <a:avLst/>
                <a:gdLst>
                  <a:gd name="T0" fmla="*/ 0 w 207"/>
                  <a:gd name="T1" fmla="*/ 207 h 207"/>
                  <a:gd name="T2" fmla="*/ 206 w 207"/>
                  <a:gd name="T3" fmla="*/ 0 h 207"/>
                  <a:gd name="T4" fmla="*/ 207 w 207"/>
                  <a:gd name="T5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7" h="207">
                    <a:moveTo>
                      <a:pt x="0" y="207"/>
                    </a:moveTo>
                    <a:lnTo>
                      <a:pt x="206" y="0"/>
                    </a:lnTo>
                    <a:lnTo>
                      <a:pt x="207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256" name="Rectangle 286"/>
            <p:cNvSpPr>
              <a:spLocks noChangeArrowheads="1"/>
            </p:cNvSpPr>
            <p:nvPr/>
          </p:nvSpPr>
          <p:spPr bwMode="auto">
            <a:xfrm>
              <a:off x="501" y="2272"/>
              <a:ext cx="12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i="1">
                  <a:latin typeface="Times New Roman" panose="02020603050405020304" pitchFamily="18" charset="0"/>
                </a:rPr>
                <a:t>A</a:t>
              </a:r>
              <a:endParaRPr lang="en-US" altLang="zh-CN">
                <a:latin typeface="Times New Roman" panose="02020603050405020304" pitchFamily="18" charset="0"/>
              </a:endParaRPr>
            </a:p>
          </p:txBody>
        </p:sp>
        <p:sp>
          <p:nvSpPr>
            <p:cNvPr id="257" name="Freeform 287"/>
            <p:cNvSpPr>
              <a:spLocks noChangeArrowheads="1"/>
            </p:cNvSpPr>
            <p:nvPr/>
          </p:nvSpPr>
          <p:spPr bwMode="auto">
            <a:xfrm>
              <a:off x="911" y="2285"/>
              <a:ext cx="2" cy="322"/>
            </a:xfrm>
            <a:custGeom>
              <a:avLst/>
              <a:gdLst>
                <a:gd name="T0" fmla="*/ 0 w 2"/>
                <a:gd name="T1" fmla="*/ 322 h 322"/>
                <a:gd name="T2" fmla="*/ 1 w 2"/>
                <a:gd name="T3" fmla="*/ 0 h 322"/>
                <a:gd name="T4" fmla="*/ 2 w 2"/>
                <a:gd name="T5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22">
                  <a:moveTo>
                    <a:pt x="0" y="322"/>
                  </a:moveTo>
                  <a:lnTo>
                    <a:pt x="1" y="0"/>
                  </a:lnTo>
                  <a:lnTo>
                    <a:pt x="2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58" name="Freeform 288"/>
            <p:cNvSpPr>
              <a:spLocks noChangeArrowheads="1"/>
            </p:cNvSpPr>
            <p:nvPr/>
          </p:nvSpPr>
          <p:spPr bwMode="auto">
            <a:xfrm>
              <a:off x="814" y="2144"/>
              <a:ext cx="1" cy="472"/>
            </a:xfrm>
            <a:custGeom>
              <a:avLst/>
              <a:gdLst>
                <a:gd name="T0" fmla="*/ 0 w 1"/>
                <a:gd name="T1" fmla="*/ 2361 h 2361"/>
                <a:gd name="T2" fmla="*/ 0 w 1"/>
                <a:gd name="T3" fmla="*/ 0 h 2361"/>
                <a:gd name="T4" fmla="*/ 1 w 1"/>
                <a:gd name="T5" fmla="*/ 0 h 2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61">
                  <a:moveTo>
                    <a:pt x="0" y="236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59" name="Freeform 289"/>
            <p:cNvSpPr>
              <a:spLocks noChangeArrowheads="1"/>
            </p:cNvSpPr>
            <p:nvPr/>
          </p:nvSpPr>
          <p:spPr bwMode="auto">
            <a:xfrm>
              <a:off x="977" y="2644"/>
              <a:ext cx="1" cy="126"/>
            </a:xfrm>
            <a:custGeom>
              <a:avLst/>
              <a:gdLst>
                <a:gd name="T0" fmla="*/ 0 w 1"/>
                <a:gd name="T1" fmla="*/ 631 h 631"/>
                <a:gd name="T2" fmla="*/ 0 w 1"/>
                <a:gd name="T3" fmla="*/ 0 h 631"/>
                <a:gd name="T4" fmla="*/ 1 w 1"/>
                <a:gd name="T5" fmla="*/ 0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31">
                  <a:moveTo>
                    <a:pt x="0" y="63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0" name="Freeform 290"/>
            <p:cNvSpPr>
              <a:spLocks noChangeArrowheads="1"/>
            </p:cNvSpPr>
            <p:nvPr/>
          </p:nvSpPr>
          <p:spPr bwMode="auto">
            <a:xfrm>
              <a:off x="769" y="2616"/>
              <a:ext cx="1" cy="154"/>
            </a:xfrm>
            <a:custGeom>
              <a:avLst/>
              <a:gdLst>
                <a:gd name="T0" fmla="*/ 0 w 1"/>
                <a:gd name="T1" fmla="*/ 768 h 768"/>
                <a:gd name="T2" fmla="*/ 0 w 1"/>
                <a:gd name="T3" fmla="*/ 0 h 768"/>
                <a:gd name="T4" fmla="*/ 1 w 1"/>
                <a:gd name="T5" fmla="*/ 0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68">
                  <a:moveTo>
                    <a:pt x="0" y="76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1" name="Freeform 291"/>
            <p:cNvSpPr>
              <a:spLocks noChangeArrowheads="1"/>
            </p:cNvSpPr>
            <p:nvPr/>
          </p:nvSpPr>
          <p:spPr bwMode="auto">
            <a:xfrm>
              <a:off x="613" y="2616"/>
              <a:ext cx="1" cy="154"/>
            </a:xfrm>
            <a:custGeom>
              <a:avLst/>
              <a:gdLst>
                <a:gd name="T0" fmla="*/ 0 w 2"/>
                <a:gd name="T1" fmla="*/ 768 h 768"/>
                <a:gd name="T2" fmla="*/ 0 w 2"/>
                <a:gd name="T3" fmla="*/ 0 h 768"/>
                <a:gd name="T4" fmla="*/ 2 w 2"/>
                <a:gd name="T5" fmla="*/ 0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68">
                  <a:moveTo>
                    <a:pt x="0" y="768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2" name="Freeform 292"/>
            <p:cNvSpPr>
              <a:spLocks noChangeArrowheads="1"/>
            </p:cNvSpPr>
            <p:nvPr/>
          </p:nvSpPr>
          <p:spPr bwMode="auto">
            <a:xfrm>
              <a:off x="652" y="2616"/>
              <a:ext cx="1" cy="154"/>
            </a:xfrm>
            <a:custGeom>
              <a:avLst/>
              <a:gdLst>
                <a:gd name="T0" fmla="*/ 0 w 1"/>
                <a:gd name="T1" fmla="*/ 768 h 768"/>
                <a:gd name="T2" fmla="*/ 0 w 1"/>
                <a:gd name="T3" fmla="*/ 0 h 768"/>
                <a:gd name="T4" fmla="*/ 1 w 1"/>
                <a:gd name="T5" fmla="*/ 0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68">
                  <a:moveTo>
                    <a:pt x="0" y="76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3" name="Freeform 293"/>
            <p:cNvSpPr>
              <a:spLocks noChangeArrowheads="1"/>
            </p:cNvSpPr>
            <p:nvPr/>
          </p:nvSpPr>
          <p:spPr bwMode="auto">
            <a:xfrm>
              <a:off x="613" y="2616"/>
              <a:ext cx="201" cy="1"/>
            </a:xfrm>
            <a:custGeom>
              <a:avLst/>
              <a:gdLst>
                <a:gd name="T0" fmla="*/ 0 w 1009"/>
                <a:gd name="T1" fmla="*/ 0 h 1"/>
                <a:gd name="T2" fmla="*/ 1008 w 1009"/>
                <a:gd name="T3" fmla="*/ 0 h 1"/>
                <a:gd name="T4" fmla="*/ 1009 w 100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9" h="1">
                  <a:moveTo>
                    <a:pt x="0" y="0"/>
                  </a:moveTo>
                  <a:lnTo>
                    <a:pt x="1008" y="0"/>
                  </a:lnTo>
                  <a:lnTo>
                    <a:pt x="1009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264" name="Group 294"/>
            <p:cNvGrpSpPr>
              <a:grpSpLocks/>
            </p:cNvGrpSpPr>
            <p:nvPr/>
          </p:nvGrpSpPr>
          <p:grpSpPr bwMode="auto">
            <a:xfrm>
              <a:off x="710" y="2578"/>
              <a:ext cx="1" cy="245"/>
              <a:chOff x="1677" y="1723"/>
              <a:chExt cx="1" cy="245"/>
            </a:xfrm>
          </p:grpSpPr>
          <p:sp>
            <p:nvSpPr>
              <p:cNvPr id="334" name="Freeform 295"/>
              <p:cNvSpPr>
                <a:spLocks noChangeArrowheads="1"/>
              </p:cNvSpPr>
              <p:nvPr/>
            </p:nvSpPr>
            <p:spPr bwMode="auto">
              <a:xfrm>
                <a:off x="1677" y="1882"/>
                <a:ext cx="1" cy="86"/>
              </a:xfrm>
              <a:custGeom>
                <a:avLst/>
                <a:gdLst>
                  <a:gd name="T0" fmla="*/ 0 w 2"/>
                  <a:gd name="T1" fmla="*/ 432 h 432"/>
                  <a:gd name="T2" fmla="*/ 0 w 2"/>
                  <a:gd name="T3" fmla="*/ 0 h 432"/>
                  <a:gd name="T4" fmla="*/ 2 w 2"/>
                  <a:gd name="T5" fmla="*/ 0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32">
                    <a:moveTo>
                      <a:pt x="0" y="432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5" name="Freeform 296"/>
              <p:cNvSpPr>
                <a:spLocks noChangeArrowheads="1"/>
              </p:cNvSpPr>
              <p:nvPr/>
            </p:nvSpPr>
            <p:spPr bwMode="auto">
              <a:xfrm>
                <a:off x="1677" y="1723"/>
                <a:ext cx="1" cy="93"/>
              </a:xfrm>
              <a:custGeom>
                <a:avLst/>
                <a:gdLst>
                  <a:gd name="T0" fmla="*/ 0 w 2"/>
                  <a:gd name="T1" fmla="*/ 466 h 466"/>
                  <a:gd name="T2" fmla="*/ 0 w 2"/>
                  <a:gd name="T3" fmla="*/ 0 h 466"/>
                  <a:gd name="T4" fmla="*/ 2 w 2"/>
                  <a:gd name="T5" fmla="*/ 0 h 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66">
                    <a:moveTo>
                      <a:pt x="0" y="466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6" name="Freeform 297"/>
              <p:cNvSpPr>
                <a:spLocks noChangeArrowheads="1"/>
              </p:cNvSpPr>
              <p:nvPr/>
            </p:nvSpPr>
            <p:spPr bwMode="auto">
              <a:xfrm>
                <a:off x="1677" y="1844"/>
                <a:ext cx="1" cy="10"/>
              </a:xfrm>
              <a:custGeom>
                <a:avLst/>
                <a:gdLst>
                  <a:gd name="T0" fmla="*/ 0 w 2"/>
                  <a:gd name="T1" fmla="*/ 54 h 54"/>
                  <a:gd name="T2" fmla="*/ 0 w 2"/>
                  <a:gd name="T3" fmla="*/ 0 h 54"/>
                  <a:gd name="T4" fmla="*/ 2 w 2"/>
                  <a:gd name="T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4">
                    <a:moveTo>
                      <a:pt x="0" y="54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265" name="Rectangle 298"/>
            <p:cNvSpPr>
              <a:spLocks noChangeArrowheads="1"/>
            </p:cNvSpPr>
            <p:nvPr/>
          </p:nvSpPr>
          <p:spPr bwMode="auto">
            <a:xfrm>
              <a:off x="1579" y="2296"/>
              <a:ext cx="12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i="1">
                  <a:latin typeface="Times New Roman" panose="02020603050405020304" pitchFamily="18" charset="0"/>
                </a:rPr>
                <a:t>A</a:t>
              </a:r>
              <a:endParaRPr lang="en-US" altLang="zh-CN">
                <a:latin typeface="Times New Roman" panose="02020603050405020304" pitchFamily="18" charset="0"/>
              </a:endParaRPr>
            </a:p>
          </p:txBody>
        </p:sp>
        <p:sp>
          <p:nvSpPr>
            <p:cNvPr id="266" name="Freeform 299"/>
            <p:cNvSpPr>
              <a:spLocks noChangeArrowheads="1"/>
            </p:cNvSpPr>
            <p:nvPr/>
          </p:nvSpPr>
          <p:spPr bwMode="auto">
            <a:xfrm>
              <a:off x="631" y="2429"/>
              <a:ext cx="116" cy="1"/>
            </a:xfrm>
            <a:custGeom>
              <a:avLst/>
              <a:gdLst>
                <a:gd name="T0" fmla="*/ 584 w 584"/>
                <a:gd name="T1" fmla="*/ 0 h 1"/>
                <a:gd name="T2" fmla="*/ 0 w 584"/>
                <a:gd name="T3" fmla="*/ 0 h 1"/>
                <a:gd name="T4" fmla="*/ 1 w 58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4" h="1">
                  <a:moveTo>
                    <a:pt x="584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7" name="Freeform 300"/>
            <p:cNvSpPr>
              <a:spLocks noChangeArrowheads="1"/>
            </p:cNvSpPr>
            <p:nvPr/>
          </p:nvSpPr>
          <p:spPr bwMode="auto">
            <a:xfrm>
              <a:off x="912" y="2601"/>
              <a:ext cx="42" cy="43"/>
            </a:xfrm>
            <a:custGeom>
              <a:avLst/>
              <a:gdLst>
                <a:gd name="T0" fmla="*/ 0 w 212"/>
                <a:gd name="T1" fmla="*/ 0 h 211"/>
                <a:gd name="T2" fmla="*/ 62 w 212"/>
                <a:gd name="T3" fmla="*/ 149 h 211"/>
                <a:gd name="T4" fmla="*/ 211 w 212"/>
                <a:gd name="T5" fmla="*/ 211 h 211"/>
                <a:gd name="T6" fmla="*/ 212 w 212"/>
                <a:gd name="T7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" h="211">
                  <a:moveTo>
                    <a:pt x="0" y="0"/>
                  </a:moveTo>
                  <a:lnTo>
                    <a:pt x="62" y="149"/>
                  </a:lnTo>
                  <a:lnTo>
                    <a:pt x="211" y="211"/>
                  </a:lnTo>
                  <a:lnTo>
                    <a:pt x="212" y="211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8" name="Freeform 301"/>
            <p:cNvSpPr>
              <a:spLocks noChangeArrowheads="1"/>
            </p:cNvSpPr>
            <p:nvPr/>
          </p:nvSpPr>
          <p:spPr bwMode="auto">
            <a:xfrm>
              <a:off x="977" y="2144"/>
              <a:ext cx="1" cy="99"/>
            </a:xfrm>
            <a:custGeom>
              <a:avLst/>
              <a:gdLst>
                <a:gd name="T0" fmla="*/ 0 w 1"/>
                <a:gd name="T1" fmla="*/ 494 h 494"/>
                <a:gd name="T2" fmla="*/ 0 w 1"/>
                <a:gd name="T3" fmla="*/ 0 h 494"/>
                <a:gd name="T4" fmla="*/ 1 w 1"/>
                <a:gd name="T5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94">
                  <a:moveTo>
                    <a:pt x="0" y="49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9" name="Freeform 302"/>
            <p:cNvSpPr>
              <a:spLocks noChangeArrowheads="1"/>
            </p:cNvSpPr>
            <p:nvPr/>
          </p:nvSpPr>
          <p:spPr bwMode="auto">
            <a:xfrm>
              <a:off x="912" y="2243"/>
              <a:ext cx="42" cy="42"/>
            </a:xfrm>
            <a:custGeom>
              <a:avLst/>
              <a:gdLst>
                <a:gd name="T0" fmla="*/ 211 w 211"/>
                <a:gd name="T1" fmla="*/ 0 h 210"/>
                <a:gd name="T2" fmla="*/ 62 w 211"/>
                <a:gd name="T3" fmla="*/ 63 h 210"/>
                <a:gd name="T4" fmla="*/ 0 w 211"/>
                <a:gd name="T5" fmla="*/ 210 h 210"/>
                <a:gd name="T6" fmla="*/ 1 w 211"/>
                <a:gd name="T7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210">
                  <a:moveTo>
                    <a:pt x="211" y="0"/>
                  </a:moveTo>
                  <a:lnTo>
                    <a:pt x="62" y="63"/>
                  </a:lnTo>
                  <a:lnTo>
                    <a:pt x="0" y="210"/>
                  </a:lnTo>
                  <a:lnTo>
                    <a:pt x="1" y="2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0" name="Freeform 303"/>
            <p:cNvSpPr>
              <a:spLocks noChangeArrowheads="1"/>
            </p:cNvSpPr>
            <p:nvPr/>
          </p:nvSpPr>
          <p:spPr bwMode="auto">
            <a:xfrm>
              <a:off x="1276" y="2285"/>
              <a:ext cx="1" cy="316"/>
            </a:xfrm>
            <a:custGeom>
              <a:avLst/>
              <a:gdLst>
                <a:gd name="T0" fmla="*/ 0 w 1"/>
                <a:gd name="T1" fmla="*/ 1583 h 1583"/>
                <a:gd name="T2" fmla="*/ 0 w 1"/>
                <a:gd name="T3" fmla="*/ 0 h 1583"/>
                <a:gd name="T4" fmla="*/ 1 w 1"/>
                <a:gd name="T5" fmla="*/ 0 h 1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583">
                  <a:moveTo>
                    <a:pt x="0" y="158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1" name="Freeform 304"/>
            <p:cNvSpPr>
              <a:spLocks noChangeArrowheads="1"/>
            </p:cNvSpPr>
            <p:nvPr/>
          </p:nvSpPr>
          <p:spPr bwMode="auto">
            <a:xfrm>
              <a:off x="1374" y="2144"/>
              <a:ext cx="1" cy="472"/>
            </a:xfrm>
            <a:custGeom>
              <a:avLst/>
              <a:gdLst>
                <a:gd name="T0" fmla="*/ 0 w 1"/>
                <a:gd name="T1" fmla="*/ 2361 h 2361"/>
                <a:gd name="T2" fmla="*/ 0 w 1"/>
                <a:gd name="T3" fmla="*/ 0 h 2361"/>
                <a:gd name="T4" fmla="*/ 1 w 1"/>
                <a:gd name="T5" fmla="*/ 0 h 2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61">
                  <a:moveTo>
                    <a:pt x="0" y="236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2" name="Freeform 305"/>
            <p:cNvSpPr>
              <a:spLocks noChangeArrowheads="1"/>
            </p:cNvSpPr>
            <p:nvPr/>
          </p:nvSpPr>
          <p:spPr bwMode="auto">
            <a:xfrm>
              <a:off x="1313" y="3319"/>
              <a:ext cx="66" cy="349"/>
            </a:xfrm>
            <a:custGeom>
              <a:avLst/>
              <a:gdLst>
                <a:gd name="T0" fmla="*/ 0 w 66"/>
                <a:gd name="T1" fmla="*/ 349 h 349"/>
                <a:gd name="T2" fmla="*/ 30 w 66"/>
                <a:gd name="T3" fmla="*/ 296 h 349"/>
                <a:gd name="T4" fmla="*/ 54 w 66"/>
                <a:gd name="T5" fmla="*/ 237 h 349"/>
                <a:gd name="T6" fmla="*/ 66 w 66"/>
                <a:gd name="T7" fmla="*/ 164 h 349"/>
                <a:gd name="T8" fmla="*/ 54 w 66"/>
                <a:gd name="T9" fmla="*/ 112 h 349"/>
                <a:gd name="T10" fmla="*/ 24 w 66"/>
                <a:gd name="T11" fmla="*/ 50 h 349"/>
                <a:gd name="T12" fmla="*/ 0 w 66"/>
                <a:gd name="T13" fmla="*/ 0 h 349"/>
                <a:gd name="T14" fmla="*/ 0 w 66"/>
                <a:gd name="T15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349">
                  <a:moveTo>
                    <a:pt x="0" y="349"/>
                  </a:moveTo>
                  <a:lnTo>
                    <a:pt x="30" y="296"/>
                  </a:lnTo>
                  <a:lnTo>
                    <a:pt x="54" y="237"/>
                  </a:lnTo>
                  <a:lnTo>
                    <a:pt x="66" y="164"/>
                  </a:lnTo>
                  <a:lnTo>
                    <a:pt x="54" y="112"/>
                  </a:lnTo>
                  <a:lnTo>
                    <a:pt x="24" y="50"/>
                  </a:lnTo>
                  <a:lnTo>
                    <a:pt x="0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273" name="Group 306"/>
            <p:cNvGrpSpPr>
              <a:grpSpLocks/>
            </p:cNvGrpSpPr>
            <p:nvPr/>
          </p:nvGrpSpPr>
          <p:grpSpPr bwMode="auto">
            <a:xfrm>
              <a:off x="560" y="3494"/>
              <a:ext cx="1069" cy="1"/>
              <a:chOff x="1527" y="2639"/>
              <a:chExt cx="1069" cy="1"/>
            </a:xfrm>
          </p:grpSpPr>
          <p:sp>
            <p:nvSpPr>
              <p:cNvPr id="329" name="Freeform 307"/>
              <p:cNvSpPr>
                <a:spLocks noChangeArrowheads="1"/>
              </p:cNvSpPr>
              <p:nvPr/>
            </p:nvSpPr>
            <p:spPr bwMode="auto">
              <a:xfrm>
                <a:off x="1866" y="2639"/>
                <a:ext cx="404" cy="1"/>
              </a:xfrm>
              <a:custGeom>
                <a:avLst/>
                <a:gdLst>
                  <a:gd name="T0" fmla="*/ 0 w 2018"/>
                  <a:gd name="T1" fmla="*/ 0 h 1"/>
                  <a:gd name="T2" fmla="*/ 2017 w 2018"/>
                  <a:gd name="T3" fmla="*/ 0 h 1"/>
                  <a:gd name="T4" fmla="*/ 2018 w 2018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18" h="1">
                    <a:moveTo>
                      <a:pt x="0" y="0"/>
                    </a:moveTo>
                    <a:lnTo>
                      <a:pt x="2017" y="0"/>
                    </a:lnTo>
                    <a:lnTo>
                      <a:pt x="2018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0" name="Freeform 308"/>
              <p:cNvSpPr>
                <a:spLocks noChangeArrowheads="1"/>
              </p:cNvSpPr>
              <p:nvPr/>
            </p:nvSpPr>
            <p:spPr bwMode="auto">
              <a:xfrm>
                <a:off x="1527" y="2639"/>
                <a:ext cx="276" cy="1"/>
              </a:xfrm>
              <a:custGeom>
                <a:avLst/>
                <a:gdLst>
                  <a:gd name="T0" fmla="*/ 0 w 1381"/>
                  <a:gd name="T1" fmla="*/ 0 h 1"/>
                  <a:gd name="T2" fmla="*/ 1380 w 1381"/>
                  <a:gd name="T3" fmla="*/ 0 h 1"/>
                  <a:gd name="T4" fmla="*/ 1381 w 138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81" h="1">
                    <a:moveTo>
                      <a:pt x="0" y="0"/>
                    </a:moveTo>
                    <a:lnTo>
                      <a:pt x="1380" y="0"/>
                    </a:lnTo>
                    <a:lnTo>
                      <a:pt x="138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1" name="Freeform 309"/>
              <p:cNvSpPr>
                <a:spLocks noChangeArrowheads="1"/>
              </p:cNvSpPr>
              <p:nvPr/>
            </p:nvSpPr>
            <p:spPr bwMode="auto">
              <a:xfrm>
                <a:off x="1829" y="2639"/>
                <a:ext cx="8" cy="1"/>
              </a:xfrm>
              <a:custGeom>
                <a:avLst/>
                <a:gdLst>
                  <a:gd name="T0" fmla="*/ 0 w 41"/>
                  <a:gd name="T1" fmla="*/ 0 h 1"/>
                  <a:gd name="T2" fmla="*/ 40 w 41"/>
                  <a:gd name="T3" fmla="*/ 0 h 1"/>
                  <a:gd name="T4" fmla="*/ 41 w 4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1">
                    <a:moveTo>
                      <a:pt x="0" y="0"/>
                    </a:moveTo>
                    <a:lnTo>
                      <a:pt x="40" y="0"/>
                    </a:lnTo>
                    <a:lnTo>
                      <a:pt x="4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2" name="Freeform 310"/>
              <p:cNvSpPr>
                <a:spLocks noChangeArrowheads="1"/>
              </p:cNvSpPr>
              <p:nvPr/>
            </p:nvSpPr>
            <p:spPr bwMode="auto">
              <a:xfrm>
                <a:off x="2325" y="2639"/>
                <a:ext cx="271" cy="1"/>
              </a:xfrm>
              <a:custGeom>
                <a:avLst/>
                <a:gdLst>
                  <a:gd name="T0" fmla="*/ 0 w 1357"/>
                  <a:gd name="T1" fmla="*/ 0 h 1"/>
                  <a:gd name="T2" fmla="*/ 1356 w 1357"/>
                  <a:gd name="T3" fmla="*/ 0 h 1"/>
                  <a:gd name="T4" fmla="*/ 1357 w 1357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57" h="1">
                    <a:moveTo>
                      <a:pt x="0" y="0"/>
                    </a:moveTo>
                    <a:lnTo>
                      <a:pt x="1356" y="0"/>
                    </a:lnTo>
                    <a:lnTo>
                      <a:pt x="1357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3" name="Freeform 311"/>
              <p:cNvSpPr>
                <a:spLocks noChangeArrowheads="1"/>
              </p:cNvSpPr>
              <p:nvPr/>
            </p:nvSpPr>
            <p:spPr bwMode="auto">
              <a:xfrm>
                <a:off x="2290" y="2639"/>
                <a:ext cx="11" cy="1"/>
              </a:xfrm>
              <a:custGeom>
                <a:avLst/>
                <a:gdLst>
                  <a:gd name="T0" fmla="*/ 0 w 54"/>
                  <a:gd name="T1" fmla="*/ 0 h 1"/>
                  <a:gd name="T2" fmla="*/ 53 w 54"/>
                  <a:gd name="T3" fmla="*/ 0 h 1"/>
                  <a:gd name="T4" fmla="*/ 54 w 5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" h="1">
                    <a:moveTo>
                      <a:pt x="0" y="0"/>
                    </a:moveTo>
                    <a:lnTo>
                      <a:pt x="53" y="0"/>
                    </a:lnTo>
                    <a:lnTo>
                      <a:pt x="54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274" name="Freeform 312"/>
            <p:cNvSpPr>
              <a:spLocks noChangeArrowheads="1"/>
            </p:cNvSpPr>
            <p:nvPr/>
          </p:nvSpPr>
          <p:spPr bwMode="auto">
            <a:xfrm>
              <a:off x="1094" y="3768"/>
              <a:ext cx="219" cy="1"/>
            </a:xfrm>
            <a:custGeom>
              <a:avLst/>
              <a:gdLst>
                <a:gd name="T0" fmla="*/ 0 w 1095"/>
                <a:gd name="T1" fmla="*/ 0 h 1"/>
                <a:gd name="T2" fmla="*/ 1094 w 1095"/>
                <a:gd name="T3" fmla="*/ 0 h 1"/>
                <a:gd name="T4" fmla="*/ 1095 w 109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5" h="1">
                  <a:moveTo>
                    <a:pt x="0" y="0"/>
                  </a:moveTo>
                  <a:lnTo>
                    <a:pt x="1094" y="0"/>
                  </a:lnTo>
                  <a:lnTo>
                    <a:pt x="1095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5" name="Freeform 313"/>
            <p:cNvSpPr>
              <a:spLocks noChangeArrowheads="1"/>
            </p:cNvSpPr>
            <p:nvPr/>
          </p:nvSpPr>
          <p:spPr bwMode="auto">
            <a:xfrm>
              <a:off x="1126" y="3673"/>
              <a:ext cx="1" cy="101"/>
            </a:xfrm>
            <a:custGeom>
              <a:avLst/>
              <a:gdLst>
                <a:gd name="T0" fmla="*/ 0 w 1"/>
                <a:gd name="T1" fmla="*/ 0 h 503"/>
                <a:gd name="T2" fmla="*/ 0 w 1"/>
                <a:gd name="T3" fmla="*/ 503 h 503"/>
                <a:gd name="T4" fmla="*/ 1 w 1"/>
                <a:gd name="T5" fmla="*/ 503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03">
                  <a:moveTo>
                    <a:pt x="0" y="0"/>
                  </a:moveTo>
                  <a:lnTo>
                    <a:pt x="0" y="503"/>
                  </a:lnTo>
                  <a:lnTo>
                    <a:pt x="1" y="503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6" name="Freeform 314"/>
            <p:cNvSpPr>
              <a:spLocks noChangeArrowheads="1"/>
            </p:cNvSpPr>
            <p:nvPr/>
          </p:nvSpPr>
          <p:spPr bwMode="auto">
            <a:xfrm>
              <a:off x="1313" y="3668"/>
              <a:ext cx="1" cy="106"/>
            </a:xfrm>
            <a:custGeom>
              <a:avLst/>
              <a:gdLst>
                <a:gd name="T0" fmla="*/ 0 w 1"/>
                <a:gd name="T1" fmla="*/ 0 h 529"/>
                <a:gd name="T2" fmla="*/ 0 w 1"/>
                <a:gd name="T3" fmla="*/ 529 h 529"/>
                <a:gd name="T4" fmla="*/ 1 w 1"/>
                <a:gd name="T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29">
                  <a:moveTo>
                    <a:pt x="0" y="0"/>
                  </a:moveTo>
                  <a:lnTo>
                    <a:pt x="0" y="529"/>
                  </a:lnTo>
                  <a:lnTo>
                    <a:pt x="1" y="52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7" name="Freeform 315"/>
            <p:cNvSpPr>
              <a:spLocks noChangeArrowheads="1"/>
            </p:cNvSpPr>
            <p:nvPr/>
          </p:nvSpPr>
          <p:spPr bwMode="auto">
            <a:xfrm>
              <a:off x="1236" y="3608"/>
              <a:ext cx="1" cy="166"/>
            </a:xfrm>
            <a:custGeom>
              <a:avLst/>
              <a:gdLst>
                <a:gd name="T0" fmla="*/ 0 w 1"/>
                <a:gd name="T1" fmla="*/ 0 h 829"/>
                <a:gd name="T2" fmla="*/ 0 w 1"/>
                <a:gd name="T3" fmla="*/ 829 h 829"/>
                <a:gd name="T4" fmla="*/ 1 w 1"/>
                <a:gd name="T5" fmla="*/ 829 h 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29">
                  <a:moveTo>
                    <a:pt x="0" y="0"/>
                  </a:moveTo>
                  <a:lnTo>
                    <a:pt x="0" y="829"/>
                  </a:lnTo>
                  <a:lnTo>
                    <a:pt x="1" y="82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8" name="Freeform 316"/>
            <p:cNvSpPr>
              <a:spLocks noChangeArrowheads="1"/>
            </p:cNvSpPr>
            <p:nvPr/>
          </p:nvSpPr>
          <p:spPr bwMode="auto">
            <a:xfrm>
              <a:off x="1094" y="3220"/>
              <a:ext cx="219" cy="1"/>
            </a:xfrm>
            <a:custGeom>
              <a:avLst/>
              <a:gdLst>
                <a:gd name="T0" fmla="*/ 0 w 1095"/>
                <a:gd name="T1" fmla="*/ 0 h 1"/>
                <a:gd name="T2" fmla="*/ 1094 w 1095"/>
                <a:gd name="T3" fmla="*/ 0 h 1"/>
                <a:gd name="T4" fmla="*/ 1095 w 109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5" h="1">
                  <a:moveTo>
                    <a:pt x="0" y="0"/>
                  </a:moveTo>
                  <a:lnTo>
                    <a:pt x="1094" y="0"/>
                  </a:lnTo>
                  <a:lnTo>
                    <a:pt x="1095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9" name="Freeform 317"/>
            <p:cNvSpPr>
              <a:spLocks noChangeArrowheads="1"/>
            </p:cNvSpPr>
            <p:nvPr/>
          </p:nvSpPr>
          <p:spPr bwMode="auto">
            <a:xfrm>
              <a:off x="1126" y="3214"/>
              <a:ext cx="1" cy="100"/>
            </a:xfrm>
            <a:custGeom>
              <a:avLst/>
              <a:gdLst>
                <a:gd name="T0" fmla="*/ 0 w 1"/>
                <a:gd name="T1" fmla="*/ 0 h 503"/>
                <a:gd name="T2" fmla="*/ 0 w 1"/>
                <a:gd name="T3" fmla="*/ 503 h 503"/>
                <a:gd name="T4" fmla="*/ 1 w 1"/>
                <a:gd name="T5" fmla="*/ 503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03">
                  <a:moveTo>
                    <a:pt x="0" y="0"/>
                  </a:moveTo>
                  <a:lnTo>
                    <a:pt x="0" y="503"/>
                  </a:lnTo>
                  <a:lnTo>
                    <a:pt x="1" y="503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280" name="Group 318"/>
            <p:cNvGrpSpPr>
              <a:grpSpLocks/>
            </p:cNvGrpSpPr>
            <p:nvPr/>
          </p:nvGrpSpPr>
          <p:grpSpPr bwMode="auto">
            <a:xfrm>
              <a:off x="1181" y="3166"/>
              <a:ext cx="1" cy="654"/>
              <a:chOff x="2148" y="2311"/>
              <a:chExt cx="1" cy="654"/>
            </a:xfrm>
          </p:grpSpPr>
          <p:sp>
            <p:nvSpPr>
              <p:cNvPr id="324" name="Freeform 319"/>
              <p:cNvSpPr>
                <a:spLocks noChangeArrowheads="1"/>
              </p:cNvSpPr>
              <p:nvPr/>
            </p:nvSpPr>
            <p:spPr bwMode="auto">
              <a:xfrm>
                <a:off x="2148" y="2893"/>
                <a:ext cx="1" cy="72"/>
              </a:xfrm>
              <a:custGeom>
                <a:avLst/>
                <a:gdLst>
                  <a:gd name="T0" fmla="*/ 0 w 1"/>
                  <a:gd name="T1" fmla="*/ 0 h 356"/>
                  <a:gd name="T2" fmla="*/ 0 w 1"/>
                  <a:gd name="T3" fmla="*/ 356 h 356"/>
                  <a:gd name="T4" fmla="*/ 1 w 1"/>
                  <a:gd name="T5" fmla="*/ 356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56">
                    <a:moveTo>
                      <a:pt x="0" y="0"/>
                    </a:moveTo>
                    <a:lnTo>
                      <a:pt x="0" y="356"/>
                    </a:lnTo>
                    <a:lnTo>
                      <a:pt x="1" y="356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5" name="Freeform 320"/>
              <p:cNvSpPr>
                <a:spLocks noChangeArrowheads="1"/>
              </p:cNvSpPr>
              <p:nvPr/>
            </p:nvSpPr>
            <p:spPr bwMode="auto">
              <a:xfrm>
                <a:off x="2148" y="2448"/>
                <a:ext cx="1" cy="395"/>
              </a:xfrm>
              <a:custGeom>
                <a:avLst/>
                <a:gdLst>
                  <a:gd name="T0" fmla="*/ 0 w 1"/>
                  <a:gd name="T1" fmla="*/ 0 h 1977"/>
                  <a:gd name="T2" fmla="*/ 0 w 1"/>
                  <a:gd name="T3" fmla="*/ 1977 h 1977"/>
                  <a:gd name="T4" fmla="*/ 1 w 1"/>
                  <a:gd name="T5" fmla="*/ 1977 h 19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977">
                    <a:moveTo>
                      <a:pt x="0" y="0"/>
                    </a:moveTo>
                    <a:lnTo>
                      <a:pt x="0" y="1977"/>
                    </a:lnTo>
                    <a:lnTo>
                      <a:pt x="1" y="1977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6" name="Freeform 321"/>
              <p:cNvSpPr>
                <a:spLocks noChangeArrowheads="1"/>
              </p:cNvSpPr>
              <p:nvPr/>
            </p:nvSpPr>
            <p:spPr bwMode="auto">
              <a:xfrm>
                <a:off x="2148" y="2862"/>
                <a:ext cx="1" cy="10"/>
              </a:xfrm>
              <a:custGeom>
                <a:avLst/>
                <a:gdLst>
                  <a:gd name="T0" fmla="*/ 0 w 1"/>
                  <a:gd name="T1" fmla="*/ 0 h 53"/>
                  <a:gd name="T2" fmla="*/ 0 w 1"/>
                  <a:gd name="T3" fmla="*/ 53 h 53"/>
                  <a:gd name="T4" fmla="*/ 1 w 1"/>
                  <a:gd name="T5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3">
                    <a:moveTo>
                      <a:pt x="0" y="0"/>
                    </a:moveTo>
                    <a:lnTo>
                      <a:pt x="0" y="53"/>
                    </a:lnTo>
                    <a:lnTo>
                      <a:pt x="1" y="53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7" name="Freeform 322"/>
              <p:cNvSpPr>
                <a:spLocks noChangeArrowheads="1"/>
              </p:cNvSpPr>
              <p:nvPr/>
            </p:nvSpPr>
            <p:spPr bwMode="auto">
              <a:xfrm>
                <a:off x="2148" y="2311"/>
                <a:ext cx="1" cy="82"/>
              </a:xfrm>
              <a:custGeom>
                <a:avLst/>
                <a:gdLst>
                  <a:gd name="T0" fmla="*/ 0 w 1"/>
                  <a:gd name="T1" fmla="*/ 0 h 408"/>
                  <a:gd name="T2" fmla="*/ 0 w 1"/>
                  <a:gd name="T3" fmla="*/ 408 h 408"/>
                  <a:gd name="T4" fmla="*/ 1 w 1"/>
                  <a:gd name="T5" fmla="*/ 408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08">
                    <a:moveTo>
                      <a:pt x="0" y="0"/>
                    </a:moveTo>
                    <a:lnTo>
                      <a:pt x="0" y="408"/>
                    </a:lnTo>
                    <a:lnTo>
                      <a:pt x="1" y="408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8" name="Freeform 323"/>
              <p:cNvSpPr>
                <a:spLocks noChangeArrowheads="1"/>
              </p:cNvSpPr>
              <p:nvPr/>
            </p:nvSpPr>
            <p:spPr bwMode="auto">
              <a:xfrm>
                <a:off x="2148" y="2414"/>
                <a:ext cx="1" cy="10"/>
              </a:xfrm>
              <a:custGeom>
                <a:avLst/>
                <a:gdLst>
                  <a:gd name="T0" fmla="*/ 0 w 1"/>
                  <a:gd name="T1" fmla="*/ 0 h 52"/>
                  <a:gd name="T2" fmla="*/ 0 w 1"/>
                  <a:gd name="T3" fmla="*/ 52 h 52"/>
                  <a:gd name="T4" fmla="*/ 1 w 1"/>
                  <a:gd name="T5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2">
                    <a:moveTo>
                      <a:pt x="0" y="0"/>
                    </a:moveTo>
                    <a:lnTo>
                      <a:pt x="0" y="52"/>
                    </a:lnTo>
                    <a:lnTo>
                      <a:pt x="1" y="52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281" name="Freeform 324"/>
            <p:cNvSpPr>
              <a:spLocks noChangeArrowheads="1"/>
            </p:cNvSpPr>
            <p:nvPr/>
          </p:nvSpPr>
          <p:spPr bwMode="auto">
            <a:xfrm>
              <a:off x="1313" y="3214"/>
              <a:ext cx="1" cy="105"/>
            </a:xfrm>
            <a:custGeom>
              <a:avLst/>
              <a:gdLst>
                <a:gd name="T0" fmla="*/ 0 w 1"/>
                <a:gd name="T1" fmla="*/ 0 h 528"/>
                <a:gd name="T2" fmla="*/ 0 w 1"/>
                <a:gd name="T3" fmla="*/ 528 h 528"/>
                <a:gd name="T4" fmla="*/ 1 w 1"/>
                <a:gd name="T5" fmla="*/ 528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28">
                  <a:moveTo>
                    <a:pt x="0" y="0"/>
                  </a:moveTo>
                  <a:lnTo>
                    <a:pt x="0" y="528"/>
                  </a:lnTo>
                  <a:lnTo>
                    <a:pt x="1" y="52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2" name="Freeform 325"/>
            <p:cNvSpPr>
              <a:spLocks noChangeArrowheads="1"/>
            </p:cNvSpPr>
            <p:nvPr/>
          </p:nvSpPr>
          <p:spPr bwMode="auto">
            <a:xfrm>
              <a:off x="1236" y="3214"/>
              <a:ext cx="1" cy="165"/>
            </a:xfrm>
            <a:custGeom>
              <a:avLst/>
              <a:gdLst>
                <a:gd name="T0" fmla="*/ 0 w 1"/>
                <a:gd name="T1" fmla="*/ 0 h 829"/>
                <a:gd name="T2" fmla="*/ 0 w 1"/>
                <a:gd name="T3" fmla="*/ 829 h 829"/>
                <a:gd name="T4" fmla="*/ 1 w 1"/>
                <a:gd name="T5" fmla="*/ 829 h 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29">
                  <a:moveTo>
                    <a:pt x="0" y="0"/>
                  </a:moveTo>
                  <a:lnTo>
                    <a:pt x="0" y="829"/>
                  </a:lnTo>
                  <a:lnTo>
                    <a:pt x="1" y="82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3" name="Freeform 326"/>
            <p:cNvSpPr>
              <a:spLocks noChangeArrowheads="1"/>
            </p:cNvSpPr>
            <p:nvPr/>
          </p:nvSpPr>
          <p:spPr bwMode="auto">
            <a:xfrm>
              <a:off x="1575" y="2616"/>
              <a:ext cx="1" cy="154"/>
            </a:xfrm>
            <a:custGeom>
              <a:avLst/>
              <a:gdLst>
                <a:gd name="T0" fmla="*/ 0 w 1"/>
                <a:gd name="T1" fmla="*/ 768 h 768"/>
                <a:gd name="T2" fmla="*/ 0 w 1"/>
                <a:gd name="T3" fmla="*/ 0 h 768"/>
                <a:gd name="T4" fmla="*/ 1 w 1"/>
                <a:gd name="T5" fmla="*/ 0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68">
                  <a:moveTo>
                    <a:pt x="0" y="76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4" name="Freeform 327"/>
            <p:cNvSpPr>
              <a:spLocks noChangeArrowheads="1"/>
            </p:cNvSpPr>
            <p:nvPr/>
          </p:nvSpPr>
          <p:spPr bwMode="auto">
            <a:xfrm>
              <a:off x="1536" y="2616"/>
              <a:ext cx="1" cy="154"/>
            </a:xfrm>
            <a:custGeom>
              <a:avLst/>
              <a:gdLst>
                <a:gd name="T0" fmla="*/ 0 w 1"/>
                <a:gd name="T1" fmla="*/ 768 h 768"/>
                <a:gd name="T2" fmla="*/ 0 w 1"/>
                <a:gd name="T3" fmla="*/ 0 h 768"/>
                <a:gd name="T4" fmla="*/ 1 w 1"/>
                <a:gd name="T5" fmla="*/ 0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68">
                  <a:moveTo>
                    <a:pt x="0" y="76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5" name="Freeform 328"/>
            <p:cNvSpPr>
              <a:spLocks noChangeArrowheads="1"/>
            </p:cNvSpPr>
            <p:nvPr/>
          </p:nvSpPr>
          <p:spPr bwMode="auto">
            <a:xfrm>
              <a:off x="1419" y="2616"/>
              <a:ext cx="1" cy="154"/>
            </a:xfrm>
            <a:custGeom>
              <a:avLst/>
              <a:gdLst>
                <a:gd name="T0" fmla="*/ 0 w 1"/>
                <a:gd name="T1" fmla="*/ 768 h 768"/>
                <a:gd name="T2" fmla="*/ 0 w 1"/>
                <a:gd name="T3" fmla="*/ 0 h 768"/>
                <a:gd name="T4" fmla="*/ 1 w 1"/>
                <a:gd name="T5" fmla="*/ 0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68">
                  <a:moveTo>
                    <a:pt x="0" y="76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6" name="Freeform 329"/>
            <p:cNvSpPr>
              <a:spLocks noChangeArrowheads="1"/>
            </p:cNvSpPr>
            <p:nvPr/>
          </p:nvSpPr>
          <p:spPr bwMode="auto">
            <a:xfrm>
              <a:off x="1211" y="2644"/>
              <a:ext cx="1" cy="126"/>
            </a:xfrm>
            <a:custGeom>
              <a:avLst/>
              <a:gdLst>
                <a:gd name="T0" fmla="*/ 0 w 1"/>
                <a:gd name="T1" fmla="*/ 631 h 631"/>
                <a:gd name="T2" fmla="*/ 0 w 1"/>
                <a:gd name="T3" fmla="*/ 0 h 631"/>
                <a:gd name="T4" fmla="*/ 1 w 1"/>
                <a:gd name="T5" fmla="*/ 0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31">
                  <a:moveTo>
                    <a:pt x="0" y="63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7" name="Freeform 330"/>
            <p:cNvSpPr>
              <a:spLocks noChangeArrowheads="1"/>
            </p:cNvSpPr>
            <p:nvPr/>
          </p:nvSpPr>
          <p:spPr bwMode="auto">
            <a:xfrm>
              <a:off x="1234" y="2595"/>
              <a:ext cx="43" cy="49"/>
            </a:xfrm>
            <a:custGeom>
              <a:avLst/>
              <a:gdLst>
                <a:gd name="T0" fmla="*/ 0 w 43"/>
                <a:gd name="T1" fmla="*/ 49 h 49"/>
                <a:gd name="T2" fmla="*/ 29 w 43"/>
                <a:gd name="T3" fmla="*/ 36 h 49"/>
                <a:gd name="T4" fmla="*/ 43 w 43"/>
                <a:gd name="T5" fmla="*/ 0 h 49"/>
                <a:gd name="T6" fmla="*/ 42 w 43"/>
                <a:gd name="T7" fmla="*/ 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49">
                  <a:moveTo>
                    <a:pt x="0" y="49"/>
                  </a:moveTo>
                  <a:lnTo>
                    <a:pt x="29" y="36"/>
                  </a:lnTo>
                  <a:lnTo>
                    <a:pt x="43" y="0"/>
                  </a:lnTo>
                  <a:lnTo>
                    <a:pt x="42" y="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8" name="Freeform 331"/>
            <p:cNvSpPr>
              <a:spLocks noChangeArrowheads="1"/>
            </p:cNvSpPr>
            <p:nvPr/>
          </p:nvSpPr>
          <p:spPr bwMode="auto">
            <a:xfrm>
              <a:off x="1374" y="2616"/>
              <a:ext cx="202" cy="1"/>
            </a:xfrm>
            <a:custGeom>
              <a:avLst/>
              <a:gdLst>
                <a:gd name="T0" fmla="*/ 0 w 1009"/>
                <a:gd name="T1" fmla="*/ 0 h 1"/>
                <a:gd name="T2" fmla="*/ 1008 w 1009"/>
                <a:gd name="T3" fmla="*/ 0 h 1"/>
                <a:gd name="T4" fmla="*/ 1009 w 100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9" h="1">
                  <a:moveTo>
                    <a:pt x="0" y="0"/>
                  </a:moveTo>
                  <a:lnTo>
                    <a:pt x="1008" y="0"/>
                  </a:lnTo>
                  <a:lnTo>
                    <a:pt x="1009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289" name="Group 332"/>
            <p:cNvGrpSpPr>
              <a:grpSpLocks/>
            </p:cNvGrpSpPr>
            <p:nvPr/>
          </p:nvGrpSpPr>
          <p:grpSpPr bwMode="auto">
            <a:xfrm>
              <a:off x="1478" y="2584"/>
              <a:ext cx="1" cy="233"/>
              <a:chOff x="2445" y="1729"/>
              <a:chExt cx="1" cy="233"/>
            </a:xfrm>
          </p:grpSpPr>
          <p:sp>
            <p:nvSpPr>
              <p:cNvPr id="321" name="Freeform 333"/>
              <p:cNvSpPr>
                <a:spLocks noChangeArrowheads="1"/>
              </p:cNvSpPr>
              <p:nvPr/>
            </p:nvSpPr>
            <p:spPr bwMode="auto">
              <a:xfrm>
                <a:off x="2445" y="1882"/>
                <a:ext cx="1" cy="80"/>
              </a:xfrm>
              <a:custGeom>
                <a:avLst/>
                <a:gdLst>
                  <a:gd name="T0" fmla="*/ 0 w 1"/>
                  <a:gd name="T1" fmla="*/ 400 h 400"/>
                  <a:gd name="T2" fmla="*/ 0 w 1"/>
                  <a:gd name="T3" fmla="*/ 0 h 400"/>
                  <a:gd name="T4" fmla="*/ 1 w 1"/>
                  <a:gd name="T5" fmla="*/ 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00">
                    <a:moveTo>
                      <a:pt x="0" y="40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2" name="Freeform 334"/>
              <p:cNvSpPr>
                <a:spLocks noChangeArrowheads="1"/>
              </p:cNvSpPr>
              <p:nvPr/>
            </p:nvSpPr>
            <p:spPr bwMode="auto">
              <a:xfrm>
                <a:off x="2445" y="1729"/>
                <a:ext cx="1" cy="87"/>
              </a:xfrm>
              <a:custGeom>
                <a:avLst/>
                <a:gdLst>
                  <a:gd name="T0" fmla="*/ 0 w 1"/>
                  <a:gd name="T1" fmla="*/ 434 h 434"/>
                  <a:gd name="T2" fmla="*/ 0 w 1"/>
                  <a:gd name="T3" fmla="*/ 0 h 434"/>
                  <a:gd name="T4" fmla="*/ 1 w 1"/>
                  <a:gd name="T5" fmla="*/ 0 h 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34">
                    <a:moveTo>
                      <a:pt x="0" y="43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3" name="Freeform 335"/>
              <p:cNvSpPr>
                <a:spLocks noChangeArrowheads="1"/>
              </p:cNvSpPr>
              <p:nvPr/>
            </p:nvSpPr>
            <p:spPr bwMode="auto">
              <a:xfrm>
                <a:off x="2445" y="1844"/>
                <a:ext cx="1" cy="10"/>
              </a:xfrm>
              <a:custGeom>
                <a:avLst/>
                <a:gdLst>
                  <a:gd name="T0" fmla="*/ 0 w 1"/>
                  <a:gd name="T1" fmla="*/ 54 h 54"/>
                  <a:gd name="T2" fmla="*/ 0 w 1"/>
                  <a:gd name="T3" fmla="*/ 0 h 54"/>
                  <a:gd name="T4" fmla="*/ 1 w 1"/>
                  <a:gd name="T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4">
                    <a:moveTo>
                      <a:pt x="0" y="5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290" name="Freeform 336"/>
            <p:cNvSpPr>
              <a:spLocks noChangeArrowheads="1"/>
            </p:cNvSpPr>
            <p:nvPr/>
          </p:nvSpPr>
          <p:spPr bwMode="auto">
            <a:xfrm>
              <a:off x="1440" y="2429"/>
              <a:ext cx="118" cy="1"/>
            </a:xfrm>
            <a:custGeom>
              <a:avLst/>
              <a:gdLst>
                <a:gd name="T0" fmla="*/ 0 w 586"/>
                <a:gd name="T1" fmla="*/ 0 h 1"/>
                <a:gd name="T2" fmla="*/ 585 w 586"/>
                <a:gd name="T3" fmla="*/ 0 h 1"/>
                <a:gd name="T4" fmla="*/ 586 w 58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6" h="1">
                  <a:moveTo>
                    <a:pt x="0" y="0"/>
                  </a:moveTo>
                  <a:lnTo>
                    <a:pt x="585" y="0"/>
                  </a:lnTo>
                  <a:lnTo>
                    <a:pt x="586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1" name="Freeform 337"/>
            <p:cNvSpPr>
              <a:spLocks noChangeArrowheads="1"/>
            </p:cNvSpPr>
            <p:nvPr/>
          </p:nvSpPr>
          <p:spPr bwMode="auto">
            <a:xfrm>
              <a:off x="1211" y="2144"/>
              <a:ext cx="1" cy="99"/>
            </a:xfrm>
            <a:custGeom>
              <a:avLst/>
              <a:gdLst>
                <a:gd name="T0" fmla="*/ 0 w 1"/>
                <a:gd name="T1" fmla="*/ 494 h 494"/>
                <a:gd name="T2" fmla="*/ 0 w 1"/>
                <a:gd name="T3" fmla="*/ 0 h 494"/>
                <a:gd name="T4" fmla="*/ 1 w 1"/>
                <a:gd name="T5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94">
                  <a:moveTo>
                    <a:pt x="0" y="49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292" name="Group 338"/>
            <p:cNvGrpSpPr>
              <a:grpSpLocks/>
            </p:cNvGrpSpPr>
            <p:nvPr/>
          </p:nvGrpSpPr>
          <p:grpSpPr bwMode="auto">
            <a:xfrm>
              <a:off x="1094" y="2099"/>
              <a:ext cx="1" cy="720"/>
              <a:chOff x="2061" y="1244"/>
              <a:chExt cx="1" cy="720"/>
            </a:xfrm>
          </p:grpSpPr>
          <p:sp>
            <p:nvSpPr>
              <p:cNvPr id="316" name="Freeform 339"/>
              <p:cNvSpPr>
                <a:spLocks noChangeArrowheads="1"/>
              </p:cNvSpPr>
              <p:nvPr/>
            </p:nvSpPr>
            <p:spPr bwMode="auto">
              <a:xfrm>
                <a:off x="2061" y="1512"/>
                <a:ext cx="1" cy="11"/>
              </a:xfrm>
              <a:custGeom>
                <a:avLst/>
                <a:gdLst>
                  <a:gd name="T0" fmla="*/ 0 w 1"/>
                  <a:gd name="T1" fmla="*/ 0 h 53"/>
                  <a:gd name="T2" fmla="*/ 0 w 1"/>
                  <a:gd name="T3" fmla="*/ 53 h 53"/>
                  <a:gd name="T4" fmla="*/ 1 w 1"/>
                  <a:gd name="T5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3">
                    <a:moveTo>
                      <a:pt x="0" y="0"/>
                    </a:moveTo>
                    <a:lnTo>
                      <a:pt x="0" y="53"/>
                    </a:lnTo>
                    <a:lnTo>
                      <a:pt x="1" y="53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7" name="Freeform 340"/>
              <p:cNvSpPr>
                <a:spLocks noChangeArrowheads="1"/>
              </p:cNvSpPr>
              <p:nvPr/>
            </p:nvSpPr>
            <p:spPr bwMode="auto">
              <a:xfrm>
                <a:off x="2061" y="1879"/>
                <a:ext cx="1" cy="85"/>
              </a:xfrm>
              <a:custGeom>
                <a:avLst/>
                <a:gdLst>
                  <a:gd name="T0" fmla="*/ 0 w 1"/>
                  <a:gd name="T1" fmla="*/ 0 h 429"/>
                  <a:gd name="T2" fmla="*/ 0 w 1"/>
                  <a:gd name="T3" fmla="*/ 429 h 429"/>
                  <a:gd name="T4" fmla="*/ 1 w 1"/>
                  <a:gd name="T5" fmla="*/ 429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29">
                    <a:moveTo>
                      <a:pt x="0" y="0"/>
                    </a:moveTo>
                    <a:lnTo>
                      <a:pt x="0" y="429"/>
                    </a:lnTo>
                    <a:lnTo>
                      <a:pt x="1" y="429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8" name="Freeform 341"/>
              <p:cNvSpPr>
                <a:spLocks noChangeArrowheads="1"/>
              </p:cNvSpPr>
              <p:nvPr/>
            </p:nvSpPr>
            <p:spPr bwMode="auto">
              <a:xfrm>
                <a:off x="2061" y="1539"/>
                <a:ext cx="1" cy="290"/>
              </a:xfrm>
              <a:custGeom>
                <a:avLst/>
                <a:gdLst>
                  <a:gd name="T0" fmla="*/ 0 w 1"/>
                  <a:gd name="T1" fmla="*/ 0 h 1450"/>
                  <a:gd name="T2" fmla="*/ 0 w 1"/>
                  <a:gd name="T3" fmla="*/ 1450 h 1450"/>
                  <a:gd name="T4" fmla="*/ 1 w 1"/>
                  <a:gd name="T5" fmla="*/ 1450 h 1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450">
                    <a:moveTo>
                      <a:pt x="0" y="0"/>
                    </a:moveTo>
                    <a:lnTo>
                      <a:pt x="0" y="1450"/>
                    </a:lnTo>
                    <a:lnTo>
                      <a:pt x="1" y="145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9" name="Freeform 342"/>
              <p:cNvSpPr>
                <a:spLocks noChangeArrowheads="1"/>
              </p:cNvSpPr>
              <p:nvPr/>
            </p:nvSpPr>
            <p:spPr bwMode="auto">
              <a:xfrm>
                <a:off x="2061" y="1850"/>
                <a:ext cx="1" cy="7"/>
              </a:xfrm>
              <a:custGeom>
                <a:avLst/>
                <a:gdLst>
                  <a:gd name="T0" fmla="*/ 0 w 1"/>
                  <a:gd name="T1" fmla="*/ 0 h 39"/>
                  <a:gd name="T2" fmla="*/ 0 w 1"/>
                  <a:gd name="T3" fmla="*/ 39 h 39"/>
                  <a:gd name="T4" fmla="*/ 1 w 1"/>
                  <a:gd name="T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9">
                    <a:moveTo>
                      <a:pt x="0" y="0"/>
                    </a:moveTo>
                    <a:lnTo>
                      <a:pt x="0" y="39"/>
                    </a:lnTo>
                    <a:lnTo>
                      <a:pt x="1" y="39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0" name="Freeform 343"/>
              <p:cNvSpPr>
                <a:spLocks noChangeArrowheads="1"/>
              </p:cNvSpPr>
              <p:nvPr/>
            </p:nvSpPr>
            <p:spPr bwMode="auto">
              <a:xfrm>
                <a:off x="2061" y="1244"/>
                <a:ext cx="1" cy="252"/>
              </a:xfrm>
              <a:custGeom>
                <a:avLst/>
                <a:gdLst>
                  <a:gd name="T0" fmla="*/ 0 w 1"/>
                  <a:gd name="T1" fmla="*/ 0 h 1261"/>
                  <a:gd name="T2" fmla="*/ 0 w 1"/>
                  <a:gd name="T3" fmla="*/ 1261 h 1261"/>
                  <a:gd name="T4" fmla="*/ 1 w 1"/>
                  <a:gd name="T5" fmla="*/ 1261 h 1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261">
                    <a:moveTo>
                      <a:pt x="0" y="0"/>
                    </a:moveTo>
                    <a:lnTo>
                      <a:pt x="0" y="1261"/>
                    </a:lnTo>
                    <a:lnTo>
                      <a:pt x="1" y="1261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293" name="Group 344"/>
            <p:cNvGrpSpPr>
              <a:grpSpLocks/>
            </p:cNvGrpSpPr>
            <p:nvPr/>
          </p:nvGrpSpPr>
          <p:grpSpPr bwMode="auto">
            <a:xfrm>
              <a:off x="1181" y="2254"/>
              <a:ext cx="1" cy="351"/>
              <a:chOff x="2148" y="1399"/>
              <a:chExt cx="1" cy="351"/>
            </a:xfrm>
          </p:grpSpPr>
          <p:sp>
            <p:nvSpPr>
              <p:cNvPr id="311" name="Freeform 345"/>
              <p:cNvSpPr>
                <a:spLocks noChangeArrowheads="1"/>
              </p:cNvSpPr>
              <p:nvPr/>
            </p:nvSpPr>
            <p:spPr bwMode="auto">
              <a:xfrm>
                <a:off x="2148" y="1499"/>
                <a:ext cx="1" cy="148"/>
              </a:xfrm>
              <a:custGeom>
                <a:avLst/>
                <a:gdLst>
                  <a:gd name="T0" fmla="*/ 0 w 1"/>
                  <a:gd name="T1" fmla="*/ 0 h 739"/>
                  <a:gd name="T2" fmla="*/ 0 w 1"/>
                  <a:gd name="T3" fmla="*/ 739 h 739"/>
                  <a:gd name="T4" fmla="*/ 1 w 1"/>
                  <a:gd name="T5" fmla="*/ 739 h 7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39">
                    <a:moveTo>
                      <a:pt x="0" y="0"/>
                    </a:moveTo>
                    <a:lnTo>
                      <a:pt x="0" y="739"/>
                    </a:lnTo>
                    <a:lnTo>
                      <a:pt x="1" y="739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2" name="Freeform 346"/>
              <p:cNvSpPr>
                <a:spLocks noChangeArrowheads="1"/>
              </p:cNvSpPr>
              <p:nvPr/>
            </p:nvSpPr>
            <p:spPr bwMode="auto">
              <a:xfrm>
                <a:off x="2148" y="1692"/>
                <a:ext cx="1" cy="58"/>
              </a:xfrm>
              <a:custGeom>
                <a:avLst/>
                <a:gdLst>
                  <a:gd name="T0" fmla="*/ 0 w 1"/>
                  <a:gd name="T1" fmla="*/ 0 h 293"/>
                  <a:gd name="T2" fmla="*/ 0 w 1"/>
                  <a:gd name="T3" fmla="*/ 293 h 293"/>
                  <a:gd name="T4" fmla="*/ 1 w 1"/>
                  <a:gd name="T5" fmla="*/ 293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93">
                    <a:moveTo>
                      <a:pt x="0" y="0"/>
                    </a:moveTo>
                    <a:lnTo>
                      <a:pt x="0" y="293"/>
                    </a:lnTo>
                    <a:lnTo>
                      <a:pt x="1" y="293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3" name="Freeform 347"/>
              <p:cNvSpPr>
                <a:spLocks noChangeArrowheads="1"/>
              </p:cNvSpPr>
              <p:nvPr/>
            </p:nvSpPr>
            <p:spPr bwMode="auto">
              <a:xfrm>
                <a:off x="2148" y="1665"/>
                <a:ext cx="1" cy="8"/>
              </a:xfrm>
              <a:custGeom>
                <a:avLst/>
                <a:gdLst>
                  <a:gd name="T0" fmla="*/ 0 w 1"/>
                  <a:gd name="T1" fmla="*/ 0 h 40"/>
                  <a:gd name="T2" fmla="*/ 0 w 1"/>
                  <a:gd name="T3" fmla="*/ 40 h 40"/>
                  <a:gd name="T4" fmla="*/ 1 w 1"/>
                  <a:gd name="T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0">
                    <a:moveTo>
                      <a:pt x="0" y="0"/>
                    </a:moveTo>
                    <a:lnTo>
                      <a:pt x="0" y="40"/>
                    </a:lnTo>
                    <a:lnTo>
                      <a:pt x="1" y="4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4" name="Freeform 348"/>
              <p:cNvSpPr>
                <a:spLocks noChangeArrowheads="1"/>
              </p:cNvSpPr>
              <p:nvPr/>
            </p:nvSpPr>
            <p:spPr bwMode="auto">
              <a:xfrm>
                <a:off x="2148" y="1399"/>
                <a:ext cx="1" cy="63"/>
              </a:xfrm>
              <a:custGeom>
                <a:avLst/>
                <a:gdLst>
                  <a:gd name="T0" fmla="*/ 0 w 1"/>
                  <a:gd name="T1" fmla="*/ 0 h 317"/>
                  <a:gd name="T2" fmla="*/ 0 w 1"/>
                  <a:gd name="T3" fmla="*/ 317 h 317"/>
                  <a:gd name="T4" fmla="*/ 1 w 1"/>
                  <a:gd name="T5" fmla="*/ 317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17">
                    <a:moveTo>
                      <a:pt x="0" y="0"/>
                    </a:moveTo>
                    <a:lnTo>
                      <a:pt x="0" y="317"/>
                    </a:lnTo>
                    <a:lnTo>
                      <a:pt x="1" y="317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5" name="Freeform 349"/>
              <p:cNvSpPr>
                <a:spLocks noChangeArrowheads="1"/>
              </p:cNvSpPr>
              <p:nvPr/>
            </p:nvSpPr>
            <p:spPr bwMode="auto">
              <a:xfrm>
                <a:off x="2148" y="1478"/>
                <a:ext cx="1" cy="5"/>
              </a:xfrm>
              <a:custGeom>
                <a:avLst/>
                <a:gdLst>
                  <a:gd name="T0" fmla="*/ 0 w 1"/>
                  <a:gd name="T1" fmla="*/ 0 h 27"/>
                  <a:gd name="T2" fmla="*/ 0 w 1"/>
                  <a:gd name="T3" fmla="*/ 27 h 27"/>
                  <a:gd name="T4" fmla="*/ 1 w 1"/>
                  <a:gd name="T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7">
                    <a:moveTo>
                      <a:pt x="0" y="0"/>
                    </a:moveTo>
                    <a:lnTo>
                      <a:pt x="0" y="27"/>
                    </a:lnTo>
                    <a:lnTo>
                      <a:pt x="1" y="27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294" name="Freeform 350"/>
            <p:cNvSpPr>
              <a:spLocks noChangeArrowheads="1"/>
            </p:cNvSpPr>
            <p:nvPr/>
          </p:nvSpPr>
          <p:spPr bwMode="auto">
            <a:xfrm>
              <a:off x="1234" y="2243"/>
              <a:ext cx="42" cy="42"/>
            </a:xfrm>
            <a:custGeom>
              <a:avLst/>
              <a:gdLst>
                <a:gd name="T0" fmla="*/ 210 w 210"/>
                <a:gd name="T1" fmla="*/ 210 h 210"/>
                <a:gd name="T2" fmla="*/ 148 w 210"/>
                <a:gd name="T3" fmla="*/ 63 h 210"/>
                <a:gd name="T4" fmla="*/ 0 w 210"/>
                <a:gd name="T5" fmla="*/ 0 h 210"/>
                <a:gd name="T6" fmla="*/ 1 w 210"/>
                <a:gd name="T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0" h="210">
                  <a:moveTo>
                    <a:pt x="210" y="210"/>
                  </a:moveTo>
                  <a:lnTo>
                    <a:pt x="148" y="63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295" name="Group 351"/>
            <p:cNvGrpSpPr>
              <a:grpSpLocks/>
            </p:cNvGrpSpPr>
            <p:nvPr/>
          </p:nvGrpSpPr>
          <p:grpSpPr bwMode="auto">
            <a:xfrm>
              <a:off x="712" y="3111"/>
              <a:ext cx="766" cy="764"/>
              <a:chOff x="1679" y="2256"/>
              <a:chExt cx="766" cy="764"/>
            </a:xfrm>
          </p:grpSpPr>
          <p:sp>
            <p:nvSpPr>
              <p:cNvPr id="303" name="Freeform 352"/>
              <p:cNvSpPr>
                <a:spLocks noChangeArrowheads="1"/>
              </p:cNvSpPr>
              <p:nvPr/>
            </p:nvSpPr>
            <p:spPr bwMode="auto">
              <a:xfrm>
                <a:off x="2344" y="2379"/>
                <a:ext cx="9" cy="11"/>
              </a:xfrm>
              <a:custGeom>
                <a:avLst/>
                <a:gdLst>
                  <a:gd name="T0" fmla="*/ 46 w 46"/>
                  <a:gd name="T1" fmla="*/ 54 h 54"/>
                  <a:gd name="T2" fmla="*/ 0 w 46"/>
                  <a:gd name="T3" fmla="*/ 0 h 54"/>
                  <a:gd name="T4" fmla="*/ 1 w 46"/>
                  <a:gd name="T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54">
                    <a:moveTo>
                      <a:pt x="46" y="5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4" name="Freeform 353"/>
              <p:cNvSpPr>
                <a:spLocks noChangeArrowheads="1"/>
              </p:cNvSpPr>
              <p:nvPr/>
            </p:nvSpPr>
            <p:spPr bwMode="auto">
              <a:xfrm>
                <a:off x="1841" y="2256"/>
                <a:ext cx="487" cy="107"/>
              </a:xfrm>
              <a:custGeom>
                <a:avLst/>
                <a:gdLst>
                  <a:gd name="T0" fmla="*/ 2438 w 2438"/>
                  <a:gd name="T1" fmla="*/ 537 h 537"/>
                  <a:gd name="T2" fmla="*/ 1893 w 2438"/>
                  <a:gd name="T3" fmla="*/ 165 h 537"/>
                  <a:gd name="T4" fmla="*/ 1255 w 2438"/>
                  <a:gd name="T5" fmla="*/ 0 h 537"/>
                  <a:gd name="T6" fmla="*/ 597 w 2438"/>
                  <a:gd name="T7" fmla="*/ 62 h 537"/>
                  <a:gd name="T8" fmla="*/ 0 w 2438"/>
                  <a:gd name="T9" fmla="*/ 342 h 537"/>
                  <a:gd name="T10" fmla="*/ 1 w 2438"/>
                  <a:gd name="T11" fmla="*/ 342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38" h="537">
                    <a:moveTo>
                      <a:pt x="2438" y="537"/>
                    </a:moveTo>
                    <a:lnTo>
                      <a:pt x="1893" y="165"/>
                    </a:lnTo>
                    <a:lnTo>
                      <a:pt x="1255" y="0"/>
                    </a:lnTo>
                    <a:lnTo>
                      <a:pt x="597" y="62"/>
                    </a:lnTo>
                    <a:lnTo>
                      <a:pt x="0" y="342"/>
                    </a:lnTo>
                    <a:lnTo>
                      <a:pt x="1" y="342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5" name="Freeform 354"/>
              <p:cNvSpPr>
                <a:spLocks noChangeArrowheads="1"/>
              </p:cNvSpPr>
              <p:nvPr/>
            </p:nvSpPr>
            <p:spPr bwMode="auto">
              <a:xfrm>
                <a:off x="1805" y="2347"/>
                <a:ext cx="6" cy="6"/>
              </a:xfrm>
              <a:custGeom>
                <a:avLst/>
                <a:gdLst>
                  <a:gd name="T0" fmla="*/ 32 w 32"/>
                  <a:gd name="T1" fmla="*/ 0 h 29"/>
                  <a:gd name="T2" fmla="*/ 0 w 32"/>
                  <a:gd name="T3" fmla="*/ 29 h 29"/>
                  <a:gd name="T4" fmla="*/ 1 w 32"/>
                  <a:gd name="T5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32" y="0"/>
                    </a:moveTo>
                    <a:lnTo>
                      <a:pt x="0" y="29"/>
                    </a:lnTo>
                    <a:lnTo>
                      <a:pt x="1" y="29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6" name="Freeform 355"/>
              <p:cNvSpPr>
                <a:spLocks noChangeArrowheads="1"/>
              </p:cNvSpPr>
              <p:nvPr/>
            </p:nvSpPr>
            <p:spPr bwMode="auto">
              <a:xfrm>
                <a:off x="1679" y="2378"/>
                <a:ext cx="100" cy="471"/>
              </a:xfrm>
              <a:custGeom>
                <a:avLst/>
                <a:gdLst>
                  <a:gd name="T0" fmla="*/ 504 w 504"/>
                  <a:gd name="T1" fmla="*/ 0 h 2358"/>
                  <a:gd name="T2" fmla="*/ 157 w 504"/>
                  <a:gd name="T3" fmla="*/ 530 h 2358"/>
                  <a:gd name="T4" fmla="*/ 0 w 504"/>
                  <a:gd name="T5" fmla="*/ 1145 h 2358"/>
                  <a:gd name="T6" fmla="*/ 52 w 504"/>
                  <a:gd name="T7" fmla="*/ 1777 h 2358"/>
                  <a:gd name="T8" fmla="*/ 307 w 504"/>
                  <a:gd name="T9" fmla="*/ 2358 h 2358"/>
                  <a:gd name="T10" fmla="*/ 308 w 504"/>
                  <a:gd name="T11" fmla="*/ 2358 h 2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4" h="2358">
                    <a:moveTo>
                      <a:pt x="504" y="0"/>
                    </a:moveTo>
                    <a:lnTo>
                      <a:pt x="157" y="530"/>
                    </a:lnTo>
                    <a:lnTo>
                      <a:pt x="0" y="1145"/>
                    </a:lnTo>
                    <a:lnTo>
                      <a:pt x="52" y="1777"/>
                    </a:lnTo>
                    <a:lnTo>
                      <a:pt x="307" y="2358"/>
                    </a:lnTo>
                    <a:lnTo>
                      <a:pt x="308" y="2358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7" name="Freeform 356"/>
              <p:cNvSpPr>
                <a:spLocks noChangeArrowheads="1"/>
              </p:cNvSpPr>
              <p:nvPr/>
            </p:nvSpPr>
            <p:spPr bwMode="auto">
              <a:xfrm>
                <a:off x="1756" y="2872"/>
                <a:ext cx="15" cy="18"/>
              </a:xfrm>
              <a:custGeom>
                <a:avLst/>
                <a:gdLst>
                  <a:gd name="T0" fmla="*/ 0 w 72"/>
                  <a:gd name="T1" fmla="*/ 0 h 87"/>
                  <a:gd name="T2" fmla="*/ 71 w 72"/>
                  <a:gd name="T3" fmla="*/ 87 h 87"/>
                  <a:gd name="T4" fmla="*/ 72 w 72"/>
                  <a:gd name="T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2" h="87">
                    <a:moveTo>
                      <a:pt x="0" y="0"/>
                    </a:moveTo>
                    <a:lnTo>
                      <a:pt x="71" y="87"/>
                    </a:lnTo>
                    <a:lnTo>
                      <a:pt x="72" y="87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8" name="Freeform 357"/>
              <p:cNvSpPr>
                <a:spLocks noChangeArrowheads="1"/>
              </p:cNvSpPr>
              <p:nvPr/>
            </p:nvSpPr>
            <p:spPr bwMode="auto">
              <a:xfrm>
                <a:off x="1789" y="2910"/>
                <a:ext cx="523" cy="110"/>
              </a:xfrm>
              <a:custGeom>
                <a:avLst/>
                <a:gdLst>
                  <a:gd name="T0" fmla="*/ 0 w 2616"/>
                  <a:gd name="T1" fmla="*/ 0 h 551"/>
                  <a:gd name="T2" fmla="*/ 462 w 2616"/>
                  <a:gd name="T3" fmla="*/ 341 h 551"/>
                  <a:gd name="T4" fmla="*/ 1003 w 2616"/>
                  <a:gd name="T5" fmla="*/ 530 h 551"/>
                  <a:gd name="T6" fmla="*/ 1576 w 2616"/>
                  <a:gd name="T7" fmla="*/ 551 h 551"/>
                  <a:gd name="T8" fmla="*/ 2130 w 2616"/>
                  <a:gd name="T9" fmla="*/ 401 h 551"/>
                  <a:gd name="T10" fmla="*/ 2615 w 2616"/>
                  <a:gd name="T11" fmla="*/ 95 h 551"/>
                  <a:gd name="T12" fmla="*/ 2616 w 2616"/>
                  <a:gd name="T13" fmla="*/ 95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16" h="551">
                    <a:moveTo>
                      <a:pt x="0" y="0"/>
                    </a:moveTo>
                    <a:lnTo>
                      <a:pt x="462" y="341"/>
                    </a:lnTo>
                    <a:lnTo>
                      <a:pt x="1003" y="530"/>
                    </a:lnTo>
                    <a:lnTo>
                      <a:pt x="1576" y="551"/>
                    </a:lnTo>
                    <a:lnTo>
                      <a:pt x="2130" y="401"/>
                    </a:lnTo>
                    <a:lnTo>
                      <a:pt x="2615" y="95"/>
                    </a:lnTo>
                    <a:lnTo>
                      <a:pt x="2616" y="95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9" name="Freeform 358"/>
              <p:cNvSpPr>
                <a:spLocks noChangeArrowheads="1"/>
              </p:cNvSpPr>
              <p:nvPr/>
            </p:nvSpPr>
            <p:spPr bwMode="auto">
              <a:xfrm>
                <a:off x="2340" y="2889"/>
                <a:ext cx="13" cy="14"/>
              </a:xfrm>
              <a:custGeom>
                <a:avLst/>
                <a:gdLst>
                  <a:gd name="T0" fmla="*/ 0 w 66"/>
                  <a:gd name="T1" fmla="*/ 71 h 71"/>
                  <a:gd name="T2" fmla="*/ 65 w 66"/>
                  <a:gd name="T3" fmla="*/ 0 h 71"/>
                  <a:gd name="T4" fmla="*/ 66 w 66"/>
                  <a:gd name="T5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6" h="71">
                    <a:moveTo>
                      <a:pt x="0" y="71"/>
                    </a:moveTo>
                    <a:lnTo>
                      <a:pt x="65" y="0"/>
                    </a:lnTo>
                    <a:lnTo>
                      <a:pt x="66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0" name="Freeform 359"/>
              <p:cNvSpPr>
                <a:spLocks noChangeArrowheads="1"/>
              </p:cNvSpPr>
              <p:nvPr/>
            </p:nvSpPr>
            <p:spPr bwMode="auto">
              <a:xfrm>
                <a:off x="2370" y="2410"/>
                <a:ext cx="75" cy="454"/>
              </a:xfrm>
              <a:custGeom>
                <a:avLst/>
                <a:gdLst>
                  <a:gd name="T0" fmla="*/ 11 w 376"/>
                  <a:gd name="T1" fmla="*/ 2270 h 2270"/>
                  <a:gd name="T2" fmla="*/ 284 w 376"/>
                  <a:gd name="T3" fmla="*/ 1731 h 2270"/>
                  <a:gd name="T4" fmla="*/ 376 w 376"/>
                  <a:gd name="T5" fmla="*/ 1133 h 2270"/>
                  <a:gd name="T6" fmla="*/ 279 w 376"/>
                  <a:gd name="T7" fmla="*/ 537 h 2270"/>
                  <a:gd name="T8" fmla="*/ 0 w 376"/>
                  <a:gd name="T9" fmla="*/ 0 h 2270"/>
                  <a:gd name="T10" fmla="*/ 2 w 376"/>
                  <a:gd name="T11" fmla="*/ 0 h 2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6" h="2270">
                    <a:moveTo>
                      <a:pt x="11" y="2270"/>
                    </a:moveTo>
                    <a:lnTo>
                      <a:pt x="284" y="1731"/>
                    </a:lnTo>
                    <a:lnTo>
                      <a:pt x="376" y="1133"/>
                    </a:lnTo>
                    <a:lnTo>
                      <a:pt x="279" y="537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296" name="Group 360"/>
            <p:cNvGrpSpPr>
              <a:grpSpLocks/>
            </p:cNvGrpSpPr>
            <p:nvPr/>
          </p:nvGrpSpPr>
          <p:grpSpPr bwMode="auto">
            <a:xfrm>
              <a:off x="1094" y="2963"/>
              <a:ext cx="1" cy="1069"/>
              <a:chOff x="2061" y="2108"/>
              <a:chExt cx="1" cy="1069"/>
            </a:xfrm>
          </p:grpSpPr>
          <p:sp>
            <p:nvSpPr>
              <p:cNvPr id="297" name="Freeform 361"/>
              <p:cNvSpPr>
                <a:spLocks noChangeArrowheads="1"/>
              </p:cNvSpPr>
              <p:nvPr/>
            </p:nvSpPr>
            <p:spPr bwMode="auto">
              <a:xfrm>
                <a:off x="2061" y="2672"/>
                <a:ext cx="1" cy="228"/>
              </a:xfrm>
              <a:custGeom>
                <a:avLst/>
                <a:gdLst>
                  <a:gd name="T0" fmla="*/ 0 w 1"/>
                  <a:gd name="T1" fmla="*/ 0 h 1139"/>
                  <a:gd name="T2" fmla="*/ 0 w 1"/>
                  <a:gd name="T3" fmla="*/ 1139 h 1139"/>
                  <a:gd name="T4" fmla="*/ 1 w 1"/>
                  <a:gd name="T5" fmla="*/ 1139 h 1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139">
                    <a:moveTo>
                      <a:pt x="0" y="0"/>
                    </a:moveTo>
                    <a:lnTo>
                      <a:pt x="0" y="1139"/>
                    </a:lnTo>
                    <a:lnTo>
                      <a:pt x="1" y="1139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8" name="Freeform 362"/>
              <p:cNvSpPr>
                <a:spLocks noChangeArrowheads="1"/>
              </p:cNvSpPr>
              <p:nvPr/>
            </p:nvSpPr>
            <p:spPr bwMode="auto">
              <a:xfrm>
                <a:off x="2061" y="2471"/>
                <a:ext cx="1" cy="201"/>
              </a:xfrm>
              <a:custGeom>
                <a:avLst/>
                <a:gdLst>
                  <a:gd name="T0" fmla="*/ 0 w 1"/>
                  <a:gd name="T1" fmla="*/ 0 h 1006"/>
                  <a:gd name="T2" fmla="*/ 0 w 1"/>
                  <a:gd name="T3" fmla="*/ 1006 h 1006"/>
                  <a:gd name="T4" fmla="*/ 1 w 1"/>
                  <a:gd name="T5" fmla="*/ 1006 h 10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06">
                    <a:moveTo>
                      <a:pt x="0" y="0"/>
                    </a:moveTo>
                    <a:lnTo>
                      <a:pt x="0" y="1006"/>
                    </a:lnTo>
                    <a:lnTo>
                      <a:pt x="1" y="1006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9" name="Freeform 363"/>
              <p:cNvSpPr>
                <a:spLocks noChangeArrowheads="1"/>
              </p:cNvSpPr>
              <p:nvPr/>
            </p:nvSpPr>
            <p:spPr bwMode="auto">
              <a:xfrm>
                <a:off x="2061" y="2436"/>
                <a:ext cx="1" cy="4"/>
              </a:xfrm>
              <a:custGeom>
                <a:avLst/>
                <a:gdLst>
                  <a:gd name="T0" fmla="*/ 0 w 1"/>
                  <a:gd name="T1" fmla="*/ 0 h 19"/>
                  <a:gd name="T2" fmla="*/ 0 w 1"/>
                  <a:gd name="T3" fmla="*/ 19 h 19"/>
                  <a:gd name="T4" fmla="*/ 1 w 1"/>
                  <a:gd name="T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9">
                    <a:moveTo>
                      <a:pt x="0" y="0"/>
                    </a:moveTo>
                    <a:lnTo>
                      <a:pt x="0" y="19"/>
                    </a:lnTo>
                    <a:lnTo>
                      <a:pt x="1" y="19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0" name="Freeform 364"/>
              <p:cNvSpPr>
                <a:spLocks noChangeArrowheads="1"/>
              </p:cNvSpPr>
              <p:nvPr/>
            </p:nvSpPr>
            <p:spPr bwMode="auto">
              <a:xfrm>
                <a:off x="2061" y="2973"/>
                <a:ext cx="1" cy="204"/>
              </a:xfrm>
              <a:custGeom>
                <a:avLst/>
                <a:gdLst>
                  <a:gd name="T0" fmla="*/ 0 w 1"/>
                  <a:gd name="T1" fmla="*/ 0 h 1018"/>
                  <a:gd name="T2" fmla="*/ 0 w 1"/>
                  <a:gd name="T3" fmla="*/ 1018 h 1018"/>
                  <a:gd name="T4" fmla="*/ 1 w 1"/>
                  <a:gd name="T5" fmla="*/ 1018 h 10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18">
                    <a:moveTo>
                      <a:pt x="0" y="0"/>
                    </a:moveTo>
                    <a:lnTo>
                      <a:pt x="0" y="1018"/>
                    </a:lnTo>
                    <a:lnTo>
                      <a:pt x="1" y="1018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1" name="Freeform 365"/>
              <p:cNvSpPr>
                <a:spLocks noChangeArrowheads="1"/>
              </p:cNvSpPr>
              <p:nvPr/>
            </p:nvSpPr>
            <p:spPr bwMode="auto">
              <a:xfrm>
                <a:off x="2061" y="2927"/>
                <a:ext cx="1" cy="15"/>
              </a:xfrm>
              <a:custGeom>
                <a:avLst/>
                <a:gdLst>
                  <a:gd name="T0" fmla="*/ 0 w 1"/>
                  <a:gd name="T1" fmla="*/ 0 h 78"/>
                  <a:gd name="T2" fmla="*/ 0 w 1"/>
                  <a:gd name="T3" fmla="*/ 78 h 78"/>
                  <a:gd name="T4" fmla="*/ 1 w 1"/>
                  <a:gd name="T5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8">
                    <a:moveTo>
                      <a:pt x="0" y="0"/>
                    </a:moveTo>
                    <a:lnTo>
                      <a:pt x="0" y="78"/>
                    </a:lnTo>
                    <a:lnTo>
                      <a:pt x="1" y="78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2" name="Freeform 366"/>
              <p:cNvSpPr>
                <a:spLocks noChangeArrowheads="1"/>
              </p:cNvSpPr>
              <p:nvPr/>
            </p:nvSpPr>
            <p:spPr bwMode="auto">
              <a:xfrm>
                <a:off x="2061" y="2108"/>
                <a:ext cx="1" cy="305"/>
              </a:xfrm>
              <a:custGeom>
                <a:avLst/>
                <a:gdLst>
                  <a:gd name="T0" fmla="*/ 0 w 1"/>
                  <a:gd name="T1" fmla="*/ 0 h 1523"/>
                  <a:gd name="T2" fmla="*/ 0 w 1"/>
                  <a:gd name="T3" fmla="*/ 1523 h 1523"/>
                  <a:gd name="T4" fmla="*/ 1 w 1"/>
                  <a:gd name="T5" fmla="*/ 1523 h 1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523">
                    <a:moveTo>
                      <a:pt x="0" y="0"/>
                    </a:moveTo>
                    <a:lnTo>
                      <a:pt x="0" y="1523"/>
                    </a:lnTo>
                    <a:lnTo>
                      <a:pt x="1" y="1523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grpSp>
        <p:nvGrpSpPr>
          <p:cNvPr id="367" name="Group 367"/>
          <p:cNvGrpSpPr>
            <a:grpSpLocks/>
          </p:cNvGrpSpPr>
          <p:nvPr/>
        </p:nvGrpSpPr>
        <p:grpSpPr bwMode="auto">
          <a:xfrm>
            <a:off x="4481514" y="4229100"/>
            <a:ext cx="1982787" cy="1879600"/>
            <a:chOff x="4143" y="2296"/>
            <a:chExt cx="1249" cy="1184"/>
          </a:xfrm>
        </p:grpSpPr>
        <p:sp>
          <p:nvSpPr>
            <p:cNvPr id="368" name="Freeform 368"/>
            <p:cNvSpPr>
              <a:spLocks noChangeArrowheads="1"/>
            </p:cNvSpPr>
            <p:nvPr/>
          </p:nvSpPr>
          <p:spPr bwMode="auto">
            <a:xfrm>
              <a:off x="4144" y="2952"/>
              <a:ext cx="1248" cy="528"/>
            </a:xfrm>
            <a:custGeom>
              <a:avLst/>
              <a:gdLst>
                <a:gd name="T0" fmla="*/ 0 w 1517"/>
                <a:gd name="T1" fmla="*/ 0 h 661"/>
                <a:gd name="T2" fmla="*/ 0 w 1517"/>
                <a:gd name="T3" fmla="*/ 206 h 661"/>
                <a:gd name="T4" fmla="*/ 13 w 1517"/>
                <a:gd name="T5" fmla="*/ 275 h 661"/>
                <a:gd name="T6" fmla="*/ 39 w 1517"/>
                <a:gd name="T7" fmla="*/ 337 h 661"/>
                <a:gd name="T8" fmla="*/ 90 w 1517"/>
                <a:gd name="T9" fmla="*/ 410 h 661"/>
                <a:gd name="T10" fmla="*/ 158 w 1517"/>
                <a:gd name="T11" fmla="*/ 477 h 661"/>
                <a:gd name="T12" fmla="*/ 243 w 1517"/>
                <a:gd name="T13" fmla="*/ 535 h 661"/>
                <a:gd name="T14" fmla="*/ 342 w 1517"/>
                <a:gd name="T15" fmla="*/ 584 h 661"/>
                <a:gd name="T16" fmla="*/ 452 w 1517"/>
                <a:gd name="T17" fmla="*/ 622 h 661"/>
                <a:gd name="T18" fmla="*/ 571 w 1517"/>
                <a:gd name="T19" fmla="*/ 648 h 661"/>
                <a:gd name="T20" fmla="*/ 695 w 1517"/>
                <a:gd name="T21" fmla="*/ 661 h 661"/>
                <a:gd name="T22" fmla="*/ 821 w 1517"/>
                <a:gd name="T23" fmla="*/ 661 h 661"/>
                <a:gd name="T24" fmla="*/ 944 w 1517"/>
                <a:gd name="T25" fmla="*/ 648 h 661"/>
                <a:gd name="T26" fmla="*/ 1063 w 1517"/>
                <a:gd name="T27" fmla="*/ 622 h 661"/>
                <a:gd name="T28" fmla="*/ 1174 w 1517"/>
                <a:gd name="T29" fmla="*/ 584 h 661"/>
                <a:gd name="T30" fmla="*/ 1272 w 1517"/>
                <a:gd name="T31" fmla="*/ 535 h 661"/>
                <a:gd name="T32" fmla="*/ 1358 w 1517"/>
                <a:gd name="T33" fmla="*/ 477 h 661"/>
                <a:gd name="T34" fmla="*/ 1426 w 1517"/>
                <a:gd name="T35" fmla="*/ 410 h 661"/>
                <a:gd name="T36" fmla="*/ 1477 w 1517"/>
                <a:gd name="T37" fmla="*/ 337 h 661"/>
                <a:gd name="T38" fmla="*/ 1499 w 1517"/>
                <a:gd name="T39" fmla="*/ 263 h 661"/>
                <a:gd name="T40" fmla="*/ 1511 w 1517"/>
                <a:gd name="T41" fmla="*/ 208 h 661"/>
                <a:gd name="T42" fmla="*/ 1517 w 1517"/>
                <a:gd name="T43" fmla="*/ 151 h 661"/>
                <a:gd name="T44" fmla="*/ 1516 w 1517"/>
                <a:gd name="T45" fmla="*/ 1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17" h="661">
                  <a:moveTo>
                    <a:pt x="0" y="0"/>
                  </a:moveTo>
                  <a:lnTo>
                    <a:pt x="0" y="206"/>
                  </a:lnTo>
                  <a:lnTo>
                    <a:pt x="13" y="275"/>
                  </a:lnTo>
                  <a:lnTo>
                    <a:pt x="39" y="337"/>
                  </a:lnTo>
                  <a:lnTo>
                    <a:pt x="90" y="410"/>
                  </a:lnTo>
                  <a:lnTo>
                    <a:pt x="158" y="477"/>
                  </a:lnTo>
                  <a:lnTo>
                    <a:pt x="243" y="535"/>
                  </a:lnTo>
                  <a:lnTo>
                    <a:pt x="342" y="584"/>
                  </a:lnTo>
                  <a:lnTo>
                    <a:pt x="452" y="622"/>
                  </a:lnTo>
                  <a:lnTo>
                    <a:pt x="571" y="648"/>
                  </a:lnTo>
                  <a:lnTo>
                    <a:pt x="695" y="661"/>
                  </a:lnTo>
                  <a:lnTo>
                    <a:pt x="821" y="661"/>
                  </a:lnTo>
                  <a:lnTo>
                    <a:pt x="944" y="648"/>
                  </a:lnTo>
                  <a:lnTo>
                    <a:pt x="1063" y="622"/>
                  </a:lnTo>
                  <a:lnTo>
                    <a:pt x="1174" y="584"/>
                  </a:lnTo>
                  <a:lnTo>
                    <a:pt x="1272" y="535"/>
                  </a:lnTo>
                  <a:lnTo>
                    <a:pt x="1358" y="477"/>
                  </a:lnTo>
                  <a:lnTo>
                    <a:pt x="1426" y="410"/>
                  </a:lnTo>
                  <a:lnTo>
                    <a:pt x="1477" y="337"/>
                  </a:lnTo>
                  <a:lnTo>
                    <a:pt x="1499" y="263"/>
                  </a:lnTo>
                  <a:lnTo>
                    <a:pt x="1511" y="208"/>
                  </a:lnTo>
                  <a:lnTo>
                    <a:pt x="1517" y="151"/>
                  </a:lnTo>
                  <a:lnTo>
                    <a:pt x="1516" y="15"/>
                  </a:lnTo>
                </a:path>
              </a:pathLst>
            </a:custGeom>
            <a:gradFill rotWithShape="1">
              <a:gsLst>
                <a:gs pos="0">
                  <a:srgbClr val="B00000"/>
                </a:gs>
                <a:gs pos="100000">
                  <a:srgbClr val="DC8E8E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69" name="Freeform 369"/>
            <p:cNvSpPr>
              <a:spLocks noChangeArrowheads="1"/>
            </p:cNvSpPr>
            <p:nvPr/>
          </p:nvSpPr>
          <p:spPr bwMode="auto">
            <a:xfrm>
              <a:off x="4143" y="2650"/>
              <a:ext cx="1248" cy="699"/>
            </a:xfrm>
            <a:custGeom>
              <a:avLst/>
              <a:gdLst>
                <a:gd name="T0" fmla="*/ 3808 w 18289"/>
                <a:gd name="T1" fmla="*/ 0 h 10534"/>
                <a:gd name="T2" fmla="*/ 2638 w 18289"/>
                <a:gd name="T3" fmla="*/ 633 h 10534"/>
                <a:gd name="T4" fmla="*/ 1651 w 18289"/>
                <a:gd name="T5" fmla="*/ 1380 h 10534"/>
                <a:gd name="T6" fmla="*/ 876 w 18289"/>
                <a:gd name="T7" fmla="*/ 2223 h 10534"/>
                <a:gd name="T8" fmla="*/ 333 w 18289"/>
                <a:gd name="T9" fmla="*/ 3134 h 10534"/>
                <a:gd name="T10" fmla="*/ 38 w 18289"/>
                <a:gd name="T11" fmla="*/ 4091 h 10534"/>
                <a:gd name="T12" fmla="*/ 0 w 18289"/>
                <a:gd name="T13" fmla="*/ 5066 h 10534"/>
                <a:gd name="T14" fmla="*/ 219 w 18289"/>
                <a:gd name="T15" fmla="*/ 6030 h 10534"/>
                <a:gd name="T16" fmla="*/ 689 w 18289"/>
                <a:gd name="T17" fmla="*/ 6959 h 10534"/>
                <a:gd name="T18" fmla="*/ 1397 w 18289"/>
                <a:gd name="T19" fmla="*/ 7824 h 10534"/>
                <a:gd name="T20" fmla="*/ 2323 w 18289"/>
                <a:gd name="T21" fmla="*/ 8602 h 10534"/>
                <a:gd name="T22" fmla="*/ 3442 w 18289"/>
                <a:gd name="T23" fmla="*/ 9271 h 10534"/>
                <a:gd name="T24" fmla="*/ 4721 w 18289"/>
                <a:gd name="T25" fmla="*/ 9812 h 10534"/>
                <a:gd name="T26" fmla="*/ 6124 w 18289"/>
                <a:gd name="T27" fmla="*/ 10209 h 10534"/>
                <a:gd name="T28" fmla="*/ 7612 w 18289"/>
                <a:gd name="T29" fmla="*/ 10452 h 10534"/>
                <a:gd name="T30" fmla="*/ 9145 w 18289"/>
                <a:gd name="T31" fmla="*/ 10534 h 10534"/>
                <a:gd name="T32" fmla="*/ 10676 w 18289"/>
                <a:gd name="T33" fmla="*/ 10452 h 10534"/>
                <a:gd name="T34" fmla="*/ 12164 w 18289"/>
                <a:gd name="T35" fmla="*/ 10209 h 10534"/>
                <a:gd name="T36" fmla="*/ 13568 w 18289"/>
                <a:gd name="T37" fmla="*/ 9812 h 10534"/>
                <a:gd name="T38" fmla="*/ 14847 w 18289"/>
                <a:gd name="T39" fmla="*/ 9271 h 10534"/>
                <a:gd name="T40" fmla="*/ 15966 w 18289"/>
                <a:gd name="T41" fmla="*/ 8602 h 10534"/>
                <a:gd name="T42" fmla="*/ 16892 w 18289"/>
                <a:gd name="T43" fmla="*/ 7824 h 10534"/>
                <a:gd name="T44" fmla="*/ 17600 w 18289"/>
                <a:gd name="T45" fmla="*/ 6959 h 10534"/>
                <a:gd name="T46" fmla="*/ 18070 w 18289"/>
                <a:gd name="T47" fmla="*/ 6030 h 10534"/>
                <a:gd name="T48" fmla="*/ 18289 w 18289"/>
                <a:gd name="T49" fmla="*/ 5066 h 10534"/>
                <a:gd name="T50" fmla="*/ 18251 w 18289"/>
                <a:gd name="T51" fmla="*/ 4091 h 10534"/>
                <a:gd name="T52" fmla="*/ 17956 w 18289"/>
                <a:gd name="T53" fmla="*/ 3134 h 10534"/>
                <a:gd name="T54" fmla="*/ 17413 w 18289"/>
                <a:gd name="T55" fmla="*/ 2223 h 10534"/>
                <a:gd name="T56" fmla="*/ 16637 w 18289"/>
                <a:gd name="T57" fmla="*/ 1380 h 10534"/>
                <a:gd name="T58" fmla="*/ 15651 w 18289"/>
                <a:gd name="T59" fmla="*/ 633 h 10534"/>
                <a:gd name="T60" fmla="*/ 14481 w 18289"/>
                <a:gd name="T61" fmla="*/ 0 h 10534"/>
                <a:gd name="T62" fmla="*/ 14482 w 18289"/>
                <a:gd name="T63" fmla="*/ 0 h 10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289" h="10534">
                  <a:moveTo>
                    <a:pt x="3808" y="0"/>
                  </a:moveTo>
                  <a:lnTo>
                    <a:pt x="2638" y="633"/>
                  </a:lnTo>
                  <a:lnTo>
                    <a:pt x="1651" y="1380"/>
                  </a:lnTo>
                  <a:lnTo>
                    <a:pt x="876" y="2223"/>
                  </a:lnTo>
                  <a:lnTo>
                    <a:pt x="333" y="3134"/>
                  </a:lnTo>
                  <a:lnTo>
                    <a:pt x="38" y="4091"/>
                  </a:lnTo>
                  <a:lnTo>
                    <a:pt x="0" y="5066"/>
                  </a:lnTo>
                  <a:lnTo>
                    <a:pt x="219" y="6030"/>
                  </a:lnTo>
                  <a:lnTo>
                    <a:pt x="689" y="6959"/>
                  </a:lnTo>
                  <a:lnTo>
                    <a:pt x="1397" y="7824"/>
                  </a:lnTo>
                  <a:lnTo>
                    <a:pt x="2323" y="8602"/>
                  </a:lnTo>
                  <a:lnTo>
                    <a:pt x="3442" y="9271"/>
                  </a:lnTo>
                  <a:lnTo>
                    <a:pt x="4721" y="9812"/>
                  </a:lnTo>
                  <a:lnTo>
                    <a:pt x="6124" y="10209"/>
                  </a:lnTo>
                  <a:lnTo>
                    <a:pt x="7612" y="10452"/>
                  </a:lnTo>
                  <a:lnTo>
                    <a:pt x="9145" y="10534"/>
                  </a:lnTo>
                  <a:lnTo>
                    <a:pt x="10676" y="10452"/>
                  </a:lnTo>
                  <a:lnTo>
                    <a:pt x="12164" y="10209"/>
                  </a:lnTo>
                  <a:lnTo>
                    <a:pt x="13568" y="9812"/>
                  </a:lnTo>
                  <a:lnTo>
                    <a:pt x="14847" y="9271"/>
                  </a:lnTo>
                  <a:lnTo>
                    <a:pt x="15966" y="8602"/>
                  </a:lnTo>
                  <a:lnTo>
                    <a:pt x="16892" y="7824"/>
                  </a:lnTo>
                  <a:lnTo>
                    <a:pt x="17600" y="6959"/>
                  </a:lnTo>
                  <a:lnTo>
                    <a:pt x="18070" y="6030"/>
                  </a:lnTo>
                  <a:lnTo>
                    <a:pt x="18289" y="5066"/>
                  </a:lnTo>
                  <a:lnTo>
                    <a:pt x="18251" y="4091"/>
                  </a:lnTo>
                  <a:lnTo>
                    <a:pt x="17956" y="3134"/>
                  </a:lnTo>
                  <a:lnTo>
                    <a:pt x="17413" y="2223"/>
                  </a:lnTo>
                  <a:lnTo>
                    <a:pt x="16637" y="1380"/>
                  </a:lnTo>
                  <a:lnTo>
                    <a:pt x="15651" y="633"/>
                  </a:lnTo>
                  <a:lnTo>
                    <a:pt x="14481" y="0"/>
                  </a:lnTo>
                  <a:lnTo>
                    <a:pt x="14482" y="0"/>
                  </a:lnTo>
                </a:path>
              </a:pathLst>
            </a:custGeom>
            <a:gradFill rotWithShape="0">
              <a:gsLst>
                <a:gs pos="0">
                  <a:srgbClr val="6D6D6D"/>
                </a:gs>
                <a:gs pos="100000">
                  <a:srgbClr val="B2B2B2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0" name="Freeform 370"/>
            <p:cNvSpPr>
              <a:spLocks noChangeArrowheads="1"/>
            </p:cNvSpPr>
            <p:nvPr/>
          </p:nvSpPr>
          <p:spPr bwMode="auto">
            <a:xfrm>
              <a:off x="5079" y="2707"/>
              <a:ext cx="137" cy="80"/>
            </a:xfrm>
            <a:custGeom>
              <a:avLst/>
              <a:gdLst>
                <a:gd name="T0" fmla="*/ 334 w 401"/>
                <a:gd name="T1" fmla="*/ 242 h 242"/>
                <a:gd name="T2" fmla="*/ 361 w 401"/>
                <a:gd name="T3" fmla="*/ 221 h 242"/>
                <a:gd name="T4" fmla="*/ 382 w 401"/>
                <a:gd name="T5" fmla="*/ 198 h 242"/>
                <a:gd name="T6" fmla="*/ 396 w 401"/>
                <a:gd name="T7" fmla="*/ 172 h 242"/>
                <a:gd name="T8" fmla="*/ 401 w 401"/>
                <a:gd name="T9" fmla="*/ 145 h 242"/>
                <a:gd name="T10" fmla="*/ 398 w 401"/>
                <a:gd name="T11" fmla="*/ 119 h 242"/>
                <a:gd name="T12" fmla="*/ 388 w 401"/>
                <a:gd name="T13" fmla="*/ 92 h 242"/>
                <a:gd name="T14" fmla="*/ 369 w 401"/>
                <a:gd name="T15" fmla="*/ 68 h 242"/>
                <a:gd name="T16" fmla="*/ 344 w 401"/>
                <a:gd name="T17" fmla="*/ 46 h 242"/>
                <a:gd name="T18" fmla="*/ 313 w 401"/>
                <a:gd name="T19" fmla="*/ 28 h 242"/>
                <a:gd name="T20" fmla="*/ 277 w 401"/>
                <a:gd name="T21" fmla="*/ 14 h 242"/>
                <a:gd name="T22" fmla="*/ 237 w 401"/>
                <a:gd name="T23" fmla="*/ 5 h 242"/>
                <a:gd name="T24" fmla="*/ 195 w 401"/>
                <a:gd name="T25" fmla="*/ 0 h 242"/>
                <a:gd name="T26" fmla="*/ 0 w 401"/>
                <a:gd name="T27" fmla="*/ 48 h 242"/>
                <a:gd name="T28" fmla="*/ 80 w 401"/>
                <a:gd name="T29" fmla="*/ 9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1" h="242">
                  <a:moveTo>
                    <a:pt x="334" y="242"/>
                  </a:moveTo>
                  <a:lnTo>
                    <a:pt x="361" y="221"/>
                  </a:lnTo>
                  <a:lnTo>
                    <a:pt x="382" y="198"/>
                  </a:lnTo>
                  <a:lnTo>
                    <a:pt x="396" y="172"/>
                  </a:lnTo>
                  <a:lnTo>
                    <a:pt x="401" y="145"/>
                  </a:lnTo>
                  <a:lnTo>
                    <a:pt x="398" y="119"/>
                  </a:lnTo>
                  <a:lnTo>
                    <a:pt x="388" y="92"/>
                  </a:lnTo>
                  <a:lnTo>
                    <a:pt x="369" y="68"/>
                  </a:lnTo>
                  <a:lnTo>
                    <a:pt x="344" y="46"/>
                  </a:lnTo>
                  <a:lnTo>
                    <a:pt x="313" y="28"/>
                  </a:lnTo>
                  <a:lnTo>
                    <a:pt x="277" y="14"/>
                  </a:lnTo>
                  <a:lnTo>
                    <a:pt x="237" y="5"/>
                  </a:lnTo>
                  <a:lnTo>
                    <a:pt x="195" y="0"/>
                  </a:lnTo>
                  <a:lnTo>
                    <a:pt x="0" y="48"/>
                  </a:lnTo>
                  <a:lnTo>
                    <a:pt x="80" y="92"/>
                  </a:lnTo>
                </a:path>
              </a:pathLst>
            </a:custGeom>
            <a:gradFill rotWithShape="0">
              <a:gsLst>
                <a:gs pos="0">
                  <a:srgbClr val="76762F"/>
                </a:gs>
                <a:gs pos="50000">
                  <a:srgbClr val="FFFF66"/>
                </a:gs>
                <a:gs pos="100000">
                  <a:srgbClr val="76762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1" name="Freeform 371"/>
            <p:cNvSpPr>
              <a:spLocks noChangeArrowheads="1"/>
            </p:cNvSpPr>
            <p:nvPr/>
          </p:nvSpPr>
          <p:spPr bwMode="auto">
            <a:xfrm>
              <a:off x="4402" y="2506"/>
              <a:ext cx="727" cy="683"/>
            </a:xfrm>
            <a:custGeom>
              <a:avLst/>
              <a:gdLst>
                <a:gd name="T0" fmla="*/ 877 w 1016"/>
                <a:gd name="T1" fmla="*/ 444 h 982"/>
                <a:gd name="T2" fmla="*/ 877 w 1016"/>
                <a:gd name="T3" fmla="*/ 802 h 982"/>
                <a:gd name="T4" fmla="*/ 954 w 1016"/>
                <a:gd name="T5" fmla="*/ 760 h 982"/>
                <a:gd name="T6" fmla="*/ 985 w 1016"/>
                <a:gd name="T7" fmla="*/ 746 h 982"/>
                <a:gd name="T8" fmla="*/ 1006 w 1016"/>
                <a:gd name="T9" fmla="*/ 739 h 982"/>
                <a:gd name="T10" fmla="*/ 989 w 1016"/>
                <a:gd name="T11" fmla="*/ 773 h 982"/>
                <a:gd name="T12" fmla="*/ 954 w 1016"/>
                <a:gd name="T13" fmla="*/ 822 h 982"/>
                <a:gd name="T14" fmla="*/ 916 w 1016"/>
                <a:gd name="T15" fmla="*/ 857 h 982"/>
                <a:gd name="T16" fmla="*/ 846 w 1016"/>
                <a:gd name="T17" fmla="*/ 902 h 982"/>
                <a:gd name="T18" fmla="*/ 798 w 1016"/>
                <a:gd name="T19" fmla="*/ 926 h 982"/>
                <a:gd name="T20" fmla="*/ 732 w 1016"/>
                <a:gd name="T21" fmla="*/ 954 h 982"/>
                <a:gd name="T22" fmla="*/ 635 w 1016"/>
                <a:gd name="T23" fmla="*/ 972 h 982"/>
                <a:gd name="T24" fmla="*/ 527 w 1016"/>
                <a:gd name="T25" fmla="*/ 982 h 982"/>
                <a:gd name="T26" fmla="*/ 444 w 1016"/>
                <a:gd name="T27" fmla="*/ 979 h 982"/>
                <a:gd name="T28" fmla="*/ 361 w 1016"/>
                <a:gd name="T29" fmla="*/ 968 h 982"/>
                <a:gd name="T30" fmla="*/ 291 w 1016"/>
                <a:gd name="T31" fmla="*/ 947 h 982"/>
                <a:gd name="T32" fmla="*/ 246 w 1016"/>
                <a:gd name="T33" fmla="*/ 930 h 982"/>
                <a:gd name="T34" fmla="*/ 191 w 1016"/>
                <a:gd name="T35" fmla="*/ 906 h 982"/>
                <a:gd name="T36" fmla="*/ 153 w 1016"/>
                <a:gd name="T37" fmla="*/ 881 h 982"/>
                <a:gd name="T38" fmla="*/ 114 w 1016"/>
                <a:gd name="T39" fmla="*/ 857 h 982"/>
                <a:gd name="T40" fmla="*/ 83 w 1016"/>
                <a:gd name="T41" fmla="*/ 833 h 982"/>
                <a:gd name="T42" fmla="*/ 55 w 1016"/>
                <a:gd name="T43" fmla="*/ 798 h 982"/>
                <a:gd name="T44" fmla="*/ 28 w 1016"/>
                <a:gd name="T45" fmla="*/ 760 h 982"/>
                <a:gd name="T46" fmla="*/ 10 w 1016"/>
                <a:gd name="T47" fmla="*/ 725 h 982"/>
                <a:gd name="T48" fmla="*/ 3 w 1016"/>
                <a:gd name="T49" fmla="*/ 683 h 982"/>
                <a:gd name="T50" fmla="*/ 0 w 1016"/>
                <a:gd name="T51" fmla="*/ 656 h 982"/>
                <a:gd name="T52" fmla="*/ 3 w 1016"/>
                <a:gd name="T53" fmla="*/ 0 h 982"/>
                <a:gd name="T54" fmla="*/ 1016 w 1016"/>
                <a:gd name="T55" fmla="*/ 16 h 982"/>
                <a:gd name="T56" fmla="*/ 1016 w 1016"/>
                <a:gd name="T57" fmla="*/ 347 h 982"/>
                <a:gd name="T58" fmla="*/ 950 w 1016"/>
                <a:gd name="T59" fmla="*/ 378 h 982"/>
                <a:gd name="T60" fmla="*/ 877 w 1016"/>
                <a:gd name="T61" fmla="*/ 444 h 9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16" h="982">
                  <a:moveTo>
                    <a:pt x="877" y="444"/>
                  </a:moveTo>
                  <a:lnTo>
                    <a:pt x="877" y="802"/>
                  </a:lnTo>
                  <a:lnTo>
                    <a:pt x="954" y="760"/>
                  </a:lnTo>
                  <a:lnTo>
                    <a:pt x="985" y="746"/>
                  </a:lnTo>
                  <a:lnTo>
                    <a:pt x="1006" y="739"/>
                  </a:lnTo>
                  <a:lnTo>
                    <a:pt x="989" y="773"/>
                  </a:lnTo>
                  <a:lnTo>
                    <a:pt x="954" y="822"/>
                  </a:lnTo>
                  <a:lnTo>
                    <a:pt x="916" y="857"/>
                  </a:lnTo>
                  <a:lnTo>
                    <a:pt x="846" y="902"/>
                  </a:lnTo>
                  <a:lnTo>
                    <a:pt x="798" y="926"/>
                  </a:lnTo>
                  <a:lnTo>
                    <a:pt x="732" y="954"/>
                  </a:lnTo>
                  <a:lnTo>
                    <a:pt x="635" y="972"/>
                  </a:lnTo>
                  <a:lnTo>
                    <a:pt x="527" y="982"/>
                  </a:lnTo>
                  <a:lnTo>
                    <a:pt x="444" y="979"/>
                  </a:lnTo>
                  <a:lnTo>
                    <a:pt x="361" y="968"/>
                  </a:lnTo>
                  <a:lnTo>
                    <a:pt x="291" y="947"/>
                  </a:lnTo>
                  <a:lnTo>
                    <a:pt x="246" y="930"/>
                  </a:lnTo>
                  <a:lnTo>
                    <a:pt x="191" y="906"/>
                  </a:lnTo>
                  <a:lnTo>
                    <a:pt x="153" y="881"/>
                  </a:lnTo>
                  <a:lnTo>
                    <a:pt x="114" y="857"/>
                  </a:lnTo>
                  <a:lnTo>
                    <a:pt x="83" y="833"/>
                  </a:lnTo>
                  <a:lnTo>
                    <a:pt x="55" y="798"/>
                  </a:lnTo>
                  <a:lnTo>
                    <a:pt x="28" y="760"/>
                  </a:lnTo>
                  <a:lnTo>
                    <a:pt x="10" y="725"/>
                  </a:lnTo>
                  <a:lnTo>
                    <a:pt x="3" y="683"/>
                  </a:lnTo>
                  <a:lnTo>
                    <a:pt x="0" y="656"/>
                  </a:lnTo>
                  <a:lnTo>
                    <a:pt x="3" y="0"/>
                  </a:lnTo>
                  <a:lnTo>
                    <a:pt x="1016" y="16"/>
                  </a:lnTo>
                  <a:lnTo>
                    <a:pt x="1016" y="347"/>
                  </a:lnTo>
                  <a:lnTo>
                    <a:pt x="950" y="378"/>
                  </a:lnTo>
                  <a:lnTo>
                    <a:pt x="877" y="444"/>
                  </a:lnTo>
                  <a:close/>
                </a:path>
              </a:pathLst>
            </a:custGeom>
            <a:gradFill rotWithShape="1">
              <a:gsLst>
                <a:gs pos="0">
                  <a:srgbClr val="B00000"/>
                </a:gs>
                <a:gs pos="100000">
                  <a:srgbClr val="DC8E8E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2" name="Freeform 372"/>
            <p:cNvSpPr>
              <a:spLocks noChangeArrowheads="1"/>
            </p:cNvSpPr>
            <p:nvPr/>
          </p:nvSpPr>
          <p:spPr bwMode="auto">
            <a:xfrm>
              <a:off x="5032" y="2746"/>
              <a:ext cx="154" cy="68"/>
            </a:xfrm>
            <a:custGeom>
              <a:avLst/>
              <a:gdLst>
                <a:gd name="T0" fmla="*/ 0 w 450"/>
                <a:gd name="T1" fmla="*/ 205 h 205"/>
                <a:gd name="T2" fmla="*/ 38 w 450"/>
                <a:gd name="T3" fmla="*/ 154 h 205"/>
                <a:gd name="T4" fmla="*/ 77 w 450"/>
                <a:gd name="T5" fmla="*/ 116 h 205"/>
                <a:gd name="T6" fmla="*/ 109 w 450"/>
                <a:gd name="T7" fmla="*/ 84 h 205"/>
                <a:gd name="T8" fmla="*/ 147 w 450"/>
                <a:gd name="T9" fmla="*/ 52 h 205"/>
                <a:gd name="T10" fmla="*/ 186 w 450"/>
                <a:gd name="T11" fmla="*/ 32 h 205"/>
                <a:gd name="T12" fmla="*/ 224 w 450"/>
                <a:gd name="T13" fmla="*/ 13 h 205"/>
                <a:gd name="T14" fmla="*/ 288 w 450"/>
                <a:gd name="T15" fmla="*/ 0 h 205"/>
                <a:gd name="T16" fmla="*/ 450 w 450"/>
                <a:gd name="T17" fmla="*/ 96 h 205"/>
                <a:gd name="T18" fmla="*/ 397 w 450"/>
                <a:gd name="T19" fmla="*/ 72 h 205"/>
                <a:gd name="T20" fmla="*/ 330 w 450"/>
                <a:gd name="T21" fmla="*/ 58 h 205"/>
                <a:gd name="T22" fmla="*/ 256 w 450"/>
                <a:gd name="T23" fmla="*/ 71 h 205"/>
                <a:gd name="T24" fmla="*/ 198 w 450"/>
                <a:gd name="T25" fmla="*/ 90 h 205"/>
                <a:gd name="T26" fmla="*/ 141 w 450"/>
                <a:gd name="T27" fmla="*/ 116 h 205"/>
                <a:gd name="T28" fmla="*/ 90 w 450"/>
                <a:gd name="T29" fmla="*/ 148 h 205"/>
                <a:gd name="T30" fmla="*/ 45 w 450"/>
                <a:gd name="T31" fmla="*/ 173 h 205"/>
                <a:gd name="T32" fmla="*/ 0 w 450"/>
                <a:gd name="T33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50" h="205">
                  <a:moveTo>
                    <a:pt x="0" y="205"/>
                  </a:moveTo>
                  <a:lnTo>
                    <a:pt x="38" y="154"/>
                  </a:lnTo>
                  <a:lnTo>
                    <a:pt x="77" y="116"/>
                  </a:lnTo>
                  <a:lnTo>
                    <a:pt x="109" y="84"/>
                  </a:lnTo>
                  <a:lnTo>
                    <a:pt x="147" y="52"/>
                  </a:lnTo>
                  <a:lnTo>
                    <a:pt x="186" y="32"/>
                  </a:lnTo>
                  <a:lnTo>
                    <a:pt x="224" y="13"/>
                  </a:lnTo>
                  <a:lnTo>
                    <a:pt x="288" y="0"/>
                  </a:lnTo>
                  <a:lnTo>
                    <a:pt x="450" y="96"/>
                  </a:lnTo>
                  <a:lnTo>
                    <a:pt x="397" y="72"/>
                  </a:lnTo>
                  <a:lnTo>
                    <a:pt x="330" y="58"/>
                  </a:lnTo>
                  <a:lnTo>
                    <a:pt x="256" y="71"/>
                  </a:lnTo>
                  <a:lnTo>
                    <a:pt x="198" y="90"/>
                  </a:lnTo>
                  <a:lnTo>
                    <a:pt x="141" y="116"/>
                  </a:lnTo>
                  <a:lnTo>
                    <a:pt x="90" y="148"/>
                  </a:lnTo>
                  <a:lnTo>
                    <a:pt x="45" y="173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3" name="Freeform 373"/>
            <p:cNvSpPr>
              <a:spLocks noChangeArrowheads="1"/>
            </p:cNvSpPr>
            <p:nvPr/>
          </p:nvSpPr>
          <p:spPr bwMode="auto">
            <a:xfrm>
              <a:off x="5025" y="2764"/>
              <a:ext cx="191" cy="306"/>
            </a:xfrm>
            <a:custGeom>
              <a:avLst/>
              <a:gdLst>
                <a:gd name="T0" fmla="*/ 0 w 560"/>
                <a:gd name="T1" fmla="*/ 152 h 923"/>
                <a:gd name="T2" fmla="*/ 0 w 560"/>
                <a:gd name="T3" fmla="*/ 923 h 923"/>
                <a:gd name="T4" fmla="*/ 58 w 560"/>
                <a:gd name="T5" fmla="*/ 894 h 923"/>
                <a:gd name="T6" fmla="*/ 138 w 560"/>
                <a:gd name="T7" fmla="*/ 851 h 923"/>
                <a:gd name="T8" fmla="*/ 196 w 560"/>
                <a:gd name="T9" fmla="*/ 814 h 923"/>
                <a:gd name="T10" fmla="*/ 283 w 560"/>
                <a:gd name="T11" fmla="*/ 771 h 923"/>
                <a:gd name="T12" fmla="*/ 342 w 560"/>
                <a:gd name="T13" fmla="*/ 720 h 923"/>
                <a:gd name="T14" fmla="*/ 385 w 560"/>
                <a:gd name="T15" fmla="*/ 669 h 923"/>
                <a:gd name="T16" fmla="*/ 436 w 560"/>
                <a:gd name="T17" fmla="*/ 603 h 923"/>
                <a:gd name="T18" fmla="*/ 494 w 560"/>
                <a:gd name="T19" fmla="*/ 531 h 923"/>
                <a:gd name="T20" fmla="*/ 531 w 560"/>
                <a:gd name="T21" fmla="*/ 429 h 923"/>
                <a:gd name="T22" fmla="*/ 552 w 560"/>
                <a:gd name="T23" fmla="*/ 327 h 923"/>
                <a:gd name="T24" fmla="*/ 560 w 560"/>
                <a:gd name="T25" fmla="*/ 225 h 923"/>
                <a:gd name="T26" fmla="*/ 538 w 560"/>
                <a:gd name="T27" fmla="*/ 131 h 923"/>
                <a:gd name="T28" fmla="*/ 494 w 560"/>
                <a:gd name="T29" fmla="*/ 58 h 923"/>
                <a:gd name="T30" fmla="*/ 436 w 560"/>
                <a:gd name="T31" fmla="*/ 22 h 923"/>
                <a:gd name="T32" fmla="*/ 356 w 560"/>
                <a:gd name="T33" fmla="*/ 0 h 923"/>
                <a:gd name="T34" fmla="*/ 313 w 560"/>
                <a:gd name="T35" fmla="*/ 7 h 923"/>
                <a:gd name="T36" fmla="*/ 247 w 560"/>
                <a:gd name="T37" fmla="*/ 22 h 923"/>
                <a:gd name="T38" fmla="*/ 0 w 560"/>
                <a:gd name="T39" fmla="*/ 152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0" h="923">
                  <a:moveTo>
                    <a:pt x="0" y="152"/>
                  </a:moveTo>
                  <a:lnTo>
                    <a:pt x="0" y="923"/>
                  </a:lnTo>
                  <a:lnTo>
                    <a:pt x="58" y="894"/>
                  </a:lnTo>
                  <a:lnTo>
                    <a:pt x="138" y="851"/>
                  </a:lnTo>
                  <a:lnTo>
                    <a:pt x="196" y="814"/>
                  </a:lnTo>
                  <a:lnTo>
                    <a:pt x="283" y="771"/>
                  </a:lnTo>
                  <a:lnTo>
                    <a:pt x="342" y="720"/>
                  </a:lnTo>
                  <a:lnTo>
                    <a:pt x="385" y="669"/>
                  </a:lnTo>
                  <a:lnTo>
                    <a:pt x="436" y="603"/>
                  </a:lnTo>
                  <a:lnTo>
                    <a:pt x="494" y="531"/>
                  </a:lnTo>
                  <a:lnTo>
                    <a:pt x="531" y="429"/>
                  </a:lnTo>
                  <a:lnTo>
                    <a:pt x="552" y="327"/>
                  </a:lnTo>
                  <a:lnTo>
                    <a:pt x="560" y="225"/>
                  </a:lnTo>
                  <a:lnTo>
                    <a:pt x="538" y="131"/>
                  </a:lnTo>
                  <a:lnTo>
                    <a:pt x="494" y="58"/>
                  </a:lnTo>
                  <a:lnTo>
                    <a:pt x="436" y="22"/>
                  </a:lnTo>
                  <a:lnTo>
                    <a:pt x="356" y="0"/>
                  </a:lnTo>
                  <a:lnTo>
                    <a:pt x="313" y="7"/>
                  </a:lnTo>
                  <a:lnTo>
                    <a:pt x="247" y="22"/>
                  </a:lnTo>
                  <a:lnTo>
                    <a:pt x="0" y="152"/>
                  </a:lnTo>
                  <a:close/>
                </a:path>
              </a:pathLst>
            </a:custGeom>
            <a:gradFill rotWithShape="0">
              <a:gsLst>
                <a:gs pos="0">
                  <a:srgbClr val="6A6A6A"/>
                </a:gs>
                <a:gs pos="100000">
                  <a:srgbClr val="969696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4" name="Freeform 374"/>
            <p:cNvSpPr>
              <a:spLocks noChangeArrowheads="1"/>
            </p:cNvSpPr>
            <p:nvPr/>
          </p:nvSpPr>
          <p:spPr bwMode="auto">
            <a:xfrm>
              <a:off x="4403" y="2296"/>
              <a:ext cx="727" cy="448"/>
            </a:xfrm>
            <a:custGeom>
              <a:avLst/>
              <a:gdLst>
                <a:gd name="T0" fmla="*/ 0 w 1016"/>
                <a:gd name="T1" fmla="*/ 323 h 645"/>
                <a:gd name="T2" fmla="*/ 9 w 1016"/>
                <a:gd name="T3" fmla="*/ 384 h 645"/>
                <a:gd name="T4" fmla="*/ 36 w 1016"/>
                <a:gd name="T5" fmla="*/ 443 h 645"/>
                <a:gd name="T6" fmla="*/ 81 w 1016"/>
                <a:gd name="T7" fmla="*/ 497 h 645"/>
                <a:gd name="T8" fmla="*/ 141 w 1016"/>
                <a:gd name="T9" fmla="*/ 545 h 645"/>
                <a:gd name="T10" fmla="*/ 214 w 1016"/>
                <a:gd name="T11" fmla="*/ 586 h 645"/>
                <a:gd name="T12" fmla="*/ 298 w 1016"/>
                <a:gd name="T13" fmla="*/ 616 h 645"/>
                <a:gd name="T14" fmla="*/ 389 w 1016"/>
                <a:gd name="T15" fmla="*/ 636 h 645"/>
                <a:gd name="T16" fmla="*/ 485 w 1016"/>
                <a:gd name="T17" fmla="*/ 645 h 645"/>
                <a:gd name="T18" fmla="*/ 582 w 1016"/>
                <a:gd name="T19" fmla="*/ 642 h 645"/>
                <a:gd name="T20" fmla="*/ 676 w 1016"/>
                <a:gd name="T21" fmla="*/ 628 h 645"/>
                <a:gd name="T22" fmla="*/ 764 w 1016"/>
                <a:gd name="T23" fmla="*/ 602 h 645"/>
                <a:gd name="T24" fmla="*/ 843 w 1016"/>
                <a:gd name="T25" fmla="*/ 566 h 645"/>
                <a:gd name="T26" fmla="*/ 909 w 1016"/>
                <a:gd name="T27" fmla="*/ 522 h 645"/>
                <a:gd name="T28" fmla="*/ 962 w 1016"/>
                <a:gd name="T29" fmla="*/ 470 h 645"/>
                <a:gd name="T30" fmla="*/ 998 w 1016"/>
                <a:gd name="T31" fmla="*/ 413 h 645"/>
                <a:gd name="T32" fmla="*/ 1016 w 1016"/>
                <a:gd name="T33" fmla="*/ 353 h 645"/>
                <a:gd name="T34" fmla="*/ 1009 w 1016"/>
                <a:gd name="T35" fmla="*/ 288 h 645"/>
                <a:gd name="T36" fmla="*/ 998 w 1016"/>
                <a:gd name="T37" fmla="*/ 232 h 645"/>
                <a:gd name="T38" fmla="*/ 962 w 1016"/>
                <a:gd name="T39" fmla="*/ 175 h 645"/>
                <a:gd name="T40" fmla="*/ 909 w 1016"/>
                <a:gd name="T41" fmla="*/ 123 h 645"/>
                <a:gd name="T42" fmla="*/ 843 w 1016"/>
                <a:gd name="T43" fmla="*/ 79 h 645"/>
                <a:gd name="T44" fmla="*/ 764 w 1016"/>
                <a:gd name="T45" fmla="*/ 43 h 645"/>
                <a:gd name="T46" fmla="*/ 676 w 1016"/>
                <a:gd name="T47" fmla="*/ 17 h 645"/>
                <a:gd name="T48" fmla="*/ 582 w 1016"/>
                <a:gd name="T49" fmla="*/ 3 h 645"/>
                <a:gd name="T50" fmla="*/ 485 w 1016"/>
                <a:gd name="T51" fmla="*/ 0 h 645"/>
                <a:gd name="T52" fmla="*/ 389 w 1016"/>
                <a:gd name="T53" fmla="*/ 9 h 645"/>
                <a:gd name="T54" fmla="*/ 298 w 1016"/>
                <a:gd name="T55" fmla="*/ 29 h 645"/>
                <a:gd name="T56" fmla="*/ 214 w 1016"/>
                <a:gd name="T57" fmla="*/ 60 h 645"/>
                <a:gd name="T58" fmla="*/ 141 w 1016"/>
                <a:gd name="T59" fmla="*/ 100 h 645"/>
                <a:gd name="T60" fmla="*/ 81 w 1016"/>
                <a:gd name="T61" fmla="*/ 148 h 645"/>
                <a:gd name="T62" fmla="*/ 36 w 1016"/>
                <a:gd name="T63" fmla="*/ 203 h 645"/>
                <a:gd name="T64" fmla="*/ 9 w 1016"/>
                <a:gd name="T65" fmla="*/ 261 h 645"/>
                <a:gd name="T66" fmla="*/ 0 w 1016"/>
                <a:gd name="T67" fmla="*/ 323 h 645"/>
                <a:gd name="T68" fmla="*/ 0 w 1016"/>
                <a:gd name="T69" fmla="*/ 323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16" h="645">
                  <a:moveTo>
                    <a:pt x="0" y="323"/>
                  </a:moveTo>
                  <a:lnTo>
                    <a:pt x="9" y="384"/>
                  </a:lnTo>
                  <a:lnTo>
                    <a:pt x="36" y="443"/>
                  </a:lnTo>
                  <a:lnTo>
                    <a:pt x="81" y="497"/>
                  </a:lnTo>
                  <a:lnTo>
                    <a:pt x="141" y="545"/>
                  </a:lnTo>
                  <a:lnTo>
                    <a:pt x="214" y="586"/>
                  </a:lnTo>
                  <a:lnTo>
                    <a:pt x="298" y="616"/>
                  </a:lnTo>
                  <a:lnTo>
                    <a:pt x="389" y="636"/>
                  </a:lnTo>
                  <a:lnTo>
                    <a:pt x="485" y="645"/>
                  </a:lnTo>
                  <a:lnTo>
                    <a:pt x="582" y="642"/>
                  </a:lnTo>
                  <a:lnTo>
                    <a:pt x="676" y="628"/>
                  </a:lnTo>
                  <a:lnTo>
                    <a:pt x="764" y="602"/>
                  </a:lnTo>
                  <a:lnTo>
                    <a:pt x="843" y="566"/>
                  </a:lnTo>
                  <a:lnTo>
                    <a:pt x="909" y="522"/>
                  </a:lnTo>
                  <a:lnTo>
                    <a:pt x="962" y="470"/>
                  </a:lnTo>
                  <a:lnTo>
                    <a:pt x="998" y="413"/>
                  </a:lnTo>
                  <a:lnTo>
                    <a:pt x="1016" y="353"/>
                  </a:lnTo>
                  <a:lnTo>
                    <a:pt x="1009" y="288"/>
                  </a:lnTo>
                  <a:lnTo>
                    <a:pt x="998" y="232"/>
                  </a:lnTo>
                  <a:lnTo>
                    <a:pt x="962" y="175"/>
                  </a:lnTo>
                  <a:lnTo>
                    <a:pt x="909" y="123"/>
                  </a:lnTo>
                  <a:lnTo>
                    <a:pt x="843" y="79"/>
                  </a:lnTo>
                  <a:lnTo>
                    <a:pt x="764" y="43"/>
                  </a:lnTo>
                  <a:lnTo>
                    <a:pt x="676" y="17"/>
                  </a:lnTo>
                  <a:lnTo>
                    <a:pt x="582" y="3"/>
                  </a:lnTo>
                  <a:lnTo>
                    <a:pt x="485" y="0"/>
                  </a:lnTo>
                  <a:lnTo>
                    <a:pt x="389" y="9"/>
                  </a:lnTo>
                  <a:lnTo>
                    <a:pt x="298" y="29"/>
                  </a:lnTo>
                  <a:lnTo>
                    <a:pt x="214" y="60"/>
                  </a:lnTo>
                  <a:lnTo>
                    <a:pt x="141" y="100"/>
                  </a:lnTo>
                  <a:lnTo>
                    <a:pt x="81" y="148"/>
                  </a:lnTo>
                  <a:lnTo>
                    <a:pt x="36" y="203"/>
                  </a:lnTo>
                  <a:lnTo>
                    <a:pt x="9" y="261"/>
                  </a:lnTo>
                  <a:lnTo>
                    <a:pt x="0" y="323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5" name="Freeform 375"/>
            <p:cNvSpPr>
              <a:spLocks noChangeArrowheads="1"/>
            </p:cNvSpPr>
            <p:nvPr/>
          </p:nvSpPr>
          <p:spPr bwMode="auto">
            <a:xfrm>
              <a:off x="4622" y="2426"/>
              <a:ext cx="280" cy="188"/>
            </a:xfrm>
            <a:custGeom>
              <a:avLst/>
              <a:gdLst>
                <a:gd name="T0" fmla="*/ 0 w 4122"/>
                <a:gd name="T1" fmla="*/ 1192 h 2838"/>
                <a:gd name="T2" fmla="*/ 8 w 4122"/>
                <a:gd name="T3" fmla="*/ 1462 h 2838"/>
                <a:gd name="T4" fmla="*/ 90 w 4122"/>
                <a:gd name="T5" fmla="*/ 1729 h 2838"/>
                <a:gd name="T6" fmla="*/ 244 w 4122"/>
                <a:gd name="T7" fmla="*/ 1986 h 2838"/>
                <a:gd name="T8" fmla="*/ 463 w 4122"/>
                <a:gd name="T9" fmla="*/ 2222 h 2838"/>
                <a:gd name="T10" fmla="*/ 740 w 4122"/>
                <a:gd name="T11" fmla="*/ 2430 h 2838"/>
                <a:gd name="T12" fmla="*/ 1064 w 4122"/>
                <a:gd name="T13" fmla="*/ 2600 h 2838"/>
                <a:gd name="T14" fmla="*/ 1425 w 4122"/>
                <a:gd name="T15" fmla="*/ 2728 h 2838"/>
                <a:gd name="T16" fmla="*/ 1808 w 4122"/>
                <a:gd name="T17" fmla="*/ 2808 h 2838"/>
                <a:gd name="T18" fmla="*/ 2200 w 4122"/>
                <a:gd name="T19" fmla="*/ 2838 h 2838"/>
                <a:gd name="T20" fmla="*/ 2587 w 4122"/>
                <a:gd name="T21" fmla="*/ 2816 h 2838"/>
                <a:gd name="T22" fmla="*/ 2955 w 4122"/>
                <a:gd name="T23" fmla="*/ 2744 h 2838"/>
                <a:gd name="T24" fmla="*/ 3291 w 4122"/>
                <a:gd name="T25" fmla="*/ 2625 h 2838"/>
                <a:gd name="T26" fmla="*/ 3582 w 4122"/>
                <a:gd name="T27" fmla="*/ 2460 h 2838"/>
                <a:gd name="T28" fmla="*/ 3818 w 4122"/>
                <a:gd name="T29" fmla="*/ 2259 h 2838"/>
                <a:gd name="T30" fmla="*/ 3990 w 4122"/>
                <a:gd name="T31" fmla="*/ 2027 h 2838"/>
                <a:gd name="T32" fmla="*/ 4093 w 4122"/>
                <a:gd name="T33" fmla="*/ 1774 h 2838"/>
                <a:gd name="T34" fmla="*/ 4122 w 4122"/>
                <a:gd name="T35" fmla="*/ 1506 h 2838"/>
                <a:gd name="T36" fmla="*/ 4077 w 4122"/>
                <a:gd name="T37" fmla="*/ 1237 h 2838"/>
                <a:gd name="T38" fmla="*/ 3958 w 4122"/>
                <a:gd name="T39" fmla="*/ 974 h 2838"/>
                <a:gd name="T40" fmla="*/ 3771 w 4122"/>
                <a:gd name="T41" fmla="*/ 726 h 2838"/>
                <a:gd name="T42" fmla="*/ 3522 w 4122"/>
                <a:gd name="T43" fmla="*/ 503 h 2838"/>
                <a:gd name="T44" fmla="*/ 3220 w 4122"/>
                <a:gd name="T45" fmla="*/ 313 h 2838"/>
                <a:gd name="T46" fmla="*/ 2876 w 4122"/>
                <a:gd name="T47" fmla="*/ 164 h 2838"/>
                <a:gd name="T48" fmla="*/ 2503 w 4122"/>
                <a:gd name="T49" fmla="*/ 60 h 2838"/>
                <a:gd name="T50" fmla="*/ 2113 w 4122"/>
                <a:gd name="T51" fmla="*/ 5 h 2838"/>
                <a:gd name="T52" fmla="*/ 1722 w 4122"/>
                <a:gd name="T53" fmla="*/ 0 h 2838"/>
                <a:gd name="T54" fmla="*/ 1342 w 4122"/>
                <a:gd name="T55" fmla="*/ 47 h 2838"/>
                <a:gd name="T56" fmla="*/ 989 w 4122"/>
                <a:gd name="T57" fmla="*/ 143 h 2838"/>
                <a:gd name="T58" fmla="*/ 674 w 4122"/>
                <a:gd name="T59" fmla="*/ 285 h 2838"/>
                <a:gd name="T60" fmla="*/ 410 w 4122"/>
                <a:gd name="T61" fmla="*/ 469 h 2838"/>
                <a:gd name="T62" fmla="*/ 204 w 4122"/>
                <a:gd name="T63" fmla="*/ 687 h 2838"/>
                <a:gd name="T64" fmla="*/ 66 w 4122"/>
                <a:gd name="T65" fmla="*/ 930 h 2838"/>
                <a:gd name="T66" fmla="*/ 0 w 4122"/>
                <a:gd name="T67" fmla="*/ 1192 h 2838"/>
                <a:gd name="T68" fmla="*/ 1 w 4122"/>
                <a:gd name="T69" fmla="*/ 1192 h 2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22" h="2838">
                  <a:moveTo>
                    <a:pt x="0" y="1192"/>
                  </a:moveTo>
                  <a:lnTo>
                    <a:pt x="8" y="1462"/>
                  </a:lnTo>
                  <a:lnTo>
                    <a:pt x="90" y="1729"/>
                  </a:lnTo>
                  <a:lnTo>
                    <a:pt x="244" y="1986"/>
                  </a:lnTo>
                  <a:lnTo>
                    <a:pt x="463" y="2222"/>
                  </a:lnTo>
                  <a:lnTo>
                    <a:pt x="740" y="2430"/>
                  </a:lnTo>
                  <a:lnTo>
                    <a:pt x="1064" y="2600"/>
                  </a:lnTo>
                  <a:lnTo>
                    <a:pt x="1425" y="2728"/>
                  </a:lnTo>
                  <a:lnTo>
                    <a:pt x="1808" y="2808"/>
                  </a:lnTo>
                  <a:lnTo>
                    <a:pt x="2200" y="2838"/>
                  </a:lnTo>
                  <a:lnTo>
                    <a:pt x="2587" y="2816"/>
                  </a:lnTo>
                  <a:lnTo>
                    <a:pt x="2955" y="2744"/>
                  </a:lnTo>
                  <a:lnTo>
                    <a:pt x="3291" y="2625"/>
                  </a:lnTo>
                  <a:lnTo>
                    <a:pt x="3582" y="2460"/>
                  </a:lnTo>
                  <a:lnTo>
                    <a:pt x="3818" y="2259"/>
                  </a:lnTo>
                  <a:lnTo>
                    <a:pt x="3990" y="2027"/>
                  </a:lnTo>
                  <a:lnTo>
                    <a:pt x="4093" y="1774"/>
                  </a:lnTo>
                  <a:lnTo>
                    <a:pt x="4122" y="1506"/>
                  </a:lnTo>
                  <a:lnTo>
                    <a:pt x="4077" y="1237"/>
                  </a:lnTo>
                  <a:lnTo>
                    <a:pt x="3958" y="974"/>
                  </a:lnTo>
                  <a:lnTo>
                    <a:pt x="3771" y="726"/>
                  </a:lnTo>
                  <a:lnTo>
                    <a:pt x="3522" y="503"/>
                  </a:lnTo>
                  <a:lnTo>
                    <a:pt x="3220" y="313"/>
                  </a:lnTo>
                  <a:lnTo>
                    <a:pt x="2876" y="164"/>
                  </a:lnTo>
                  <a:lnTo>
                    <a:pt x="2503" y="60"/>
                  </a:lnTo>
                  <a:lnTo>
                    <a:pt x="2113" y="5"/>
                  </a:lnTo>
                  <a:lnTo>
                    <a:pt x="1722" y="0"/>
                  </a:lnTo>
                  <a:lnTo>
                    <a:pt x="1342" y="47"/>
                  </a:lnTo>
                  <a:lnTo>
                    <a:pt x="989" y="143"/>
                  </a:lnTo>
                  <a:lnTo>
                    <a:pt x="674" y="285"/>
                  </a:lnTo>
                  <a:lnTo>
                    <a:pt x="410" y="469"/>
                  </a:lnTo>
                  <a:lnTo>
                    <a:pt x="204" y="687"/>
                  </a:lnTo>
                  <a:lnTo>
                    <a:pt x="66" y="930"/>
                  </a:lnTo>
                  <a:lnTo>
                    <a:pt x="0" y="1192"/>
                  </a:lnTo>
                  <a:lnTo>
                    <a:pt x="1" y="1192"/>
                  </a:lnTo>
                </a:path>
              </a:pathLst>
            </a:custGeom>
            <a:gradFill rotWithShape="0">
              <a:gsLst>
                <a:gs pos="0">
                  <a:srgbClr val="76762F"/>
                </a:gs>
                <a:gs pos="50000">
                  <a:srgbClr val="FFFF66"/>
                </a:gs>
                <a:gs pos="100000">
                  <a:srgbClr val="76762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6" name="Freeform 376"/>
            <p:cNvSpPr>
              <a:spLocks noChangeArrowheads="1"/>
            </p:cNvSpPr>
            <p:nvPr/>
          </p:nvSpPr>
          <p:spPr bwMode="auto">
            <a:xfrm>
              <a:off x="4637" y="2514"/>
              <a:ext cx="251" cy="101"/>
            </a:xfrm>
            <a:custGeom>
              <a:avLst/>
              <a:gdLst>
                <a:gd name="T0" fmla="*/ 36 w 305"/>
                <a:gd name="T1" fmla="*/ 87 h 126"/>
                <a:gd name="T2" fmla="*/ 54 w 305"/>
                <a:gd name="T3" fmla="*/ 99 h 126"/>
                <a:gd name="T4" fmla="*/ 70 w 305"/>
                <a:gd name="T5" fmla="*/ 108 h 126"/>
                <a:gd name="T6" fmla="*/ 90 w 305"/>
                <a:gd name="T7" fmla="*/ 114 h 126"/>
                <a:gd name="T8" fmla="*/ 111 w 305"/>
                <a:gd name="T9" fmla="*/ 119 h 126"/>
                <a:gd name="T10" fmla="*/ 138 w 305"/>
                <a:gd name="T11" fmla="*/ 126 h 126"/>
                <a:gd name="T12" fmla="*/ 166 w 305"/>
                <a:gd name="T13" fmla="*/ 126 h 126"/>
                <a:gd name="T14" fmla="*/ 191 w 305"/>
                <a:gd name="T15" fmla="*/ 124 h 126"/>
                <a:gd name="T16" fmla="*/ 217 w 305"/>
                <a:gd name="T17" fmla="*/ 120 h 126"/>
                <a:gd name="T18" fmla="*/ 248 w 305"/>
                <a:gd name="T19" fmla="*/ 114 h 126"/>
                <a:gd name="T20" fmla="*/ 266 w 305"/>
                <a:gd name="T21" fmla="*/ 103 h 126"/>
                <a:gd name="T22" fmla="*/ 290 w 305"/>
                <a:gd name="T23" fmla="*/ 87 h 126"/>
                <a:gd name="T24" fmla="*/ 305 w 305"/>
                <a:gd name="T25" fmla="*/ 68 h 126"/>
                <a:gd name="T26" fmla="*/ 286 w 305"/>
                <a:gd name="T27" fmla="*/ 51 h 126"/>
                <a:gd name="T28" fmla="*/ 265 w 305"/>
                <a:gd name="T29" fmla="*/ 36 h 126"/>
                <a:gd name="T30" fmla="*/ 240 w 305"/>
                <a:gd name="T31" fmla="*/ 22 h 126"/>
                <a:gd name="T32" fmla="*/ 212 w 305"/>
                <a:gd name="T33" fmla="*/ 11 h 126"/>
                <a:gd name="T34" fmla="*/ 183 w 305"/>
                <a:gd name="T35" fmla="*/ 4 h 126"/>
                <a:gd name="T36" fmla="*/ 152 w 305"/>
                <a:gd name="T37" fmla="*/ 0 h 126"/>
                <a:gd name="T38" fmla="*/ 121 w 305"/>
                <a:gd name="T39" fmla="*/ 0 h 126"/>
                <a:gd name="T40" fmla="*/ 92 w 305"/>
                <a:gd name="T41" fmla="*/ 4 h 126"/>
                <a:gd name="T42" fmla="*/ 64 w 305"/>
                <a:gd name="T43" fmla="*/ 12 h 126"/>
                <a:gd name="T44" fmla="*/ 39 w 305"/>
                <a:gd name="T45" fmla="*/ 23 h 126"/>
                <a:gd name="T46" fmla="*/ 18 w 305"/>
                <a:gd name="T47" fmla="*/ 37 h 126"/>
                <a:gd name="T48" fmla="*/ 9 w 305"/>
                <a:gd name="T49" fmla="*/ 44 h 126"/>
                <a:gd name="T50" fmla="*/ 0 w 305"/>
                <a:gd name="T51" fmla="*/ 55 h 126"/>
                <a:gd name="T52" fmla="*/ 17 w 305"/>
                <a:gd name="T53" fmla="*/ 7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26">
                  <a:moveTo>
                    <a:pt x="36" y="87"/>
                  </a:moveTo>
                  <a:lnTo>
                    <a:pt x="54" y="99"/>
                  </a:lnTo>
                  <a:lnTo>
                    <a:pt x="70" y="108"/>
                  </a:lnTo>
                  <a:lnTo>
                    <a:pt x="90" y="114"/>
                  </a:lnTo>
                  <a:lnTo>
                    <a:pt x="111" y="119"/>
                  </a:lnTo>
                  <a:lnTo>
                    <a:pt x="138" y="126"/>
                  </a:lnTo>
                  <a:lnTo>
                    <a:pt x="166" y="126"/>
                  </a:lnTo>
                  <a:lnTo>
                    <a:pt x="191" y="124"/>
                  </a:lnTo>
                  <a:lnTo>
                    <a:pt x="217" y="120"/>
                  </a:lnTo>
                  <a:lnTo>
                    <a:pt x="248" y="114"/>
                  </a:lnTo>
                  <a:lnTo>
                    <a:pt x="266" y="103"/>
                  </a:lnTo>
                  <a:lnTo>
                    <a:pt x="290" y="87"/>
                  </a:lnTo>
                  <a:lnTo>
                    <a:pt x="305" y="68"/>
                  </a:lnTo>
                  <a:lnTo>
                    <a:pt x="286" y="51"/>
                  </a:lnTo>
                  <a:lnTo>
                    <a:pt x="265" y="36"/>
                  </a:lnTo>
                  <a:lnTo>
                    <a:pt x="240" y="22"/>
                  </a:lnTo>
                  <a:lnTo>
                    <a:pt x="212" y="11"/>
                  </a:lnTo>
                  <a:lnTo>
                    <a:pt x="183" y="4"/>
                  </a:lnTo>
                  <a:lnTo>
                    <a:pt x="152" y="0"/>
                  </a:lnTo>
                  <a:lnTo>
                    <a:pt x="121" y="0"/>
                  </a:lnTo>
                  <a:lnTo>
                    <a:pt x="92" y="4"/>
                  </a:lnTo>
                  <a:lnTo>
                    <a:pt x="64" y="12"/>
                  </a:lnTo>
                  <a:lnTo>
                    <a:pt x="39" y="23"/>
                  </a:lnTo>
                  <a:lnTo>
                    <a:pt x="18" y="37"/>
                  </a:lnTo>
                  <a:lnTo>
                    <a:pt x="9" y="44"/>
                  </a:lnTo>
                  <a:lnTo>
                    <a:pt x="0" y="55"/>
                  </a:lnTo>
                  <a:lnTo>
                    <a:pt x="17" y="71"/>
                  </a:lnTo>
                </a:path>
              </a:pathLst>
            </a:custGeom>
            <a:gradFill rotWithShape="0">
              <a:gsLst>
                <a:gs pos="0">
                  <a:srgbClr val="FFCC66"/>
                </a:gs>
                <a:gs pos="100000">
                  <a:srgbClr val="765E2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7" name="Freeform 377"/>
            <p:cNvSpPr>
              <a:spLocks noChangeArrowheads="1"/>
            </p:cNvSpPr>
            <p:nvPr/>
          </p:nvSpPr>
          <p:spPr bwMode="auto">
            <a:xfrm>
              <a:off x="5051" y="2842"/>
              <a:ext cx="99" cy="119"/>
            </a:xfrm>
            <a:custGeom>
              <a:avLst/>
              <a:gdLst>
                <a:gd name="T0" fmla="*/ 1216 w 1451"/>
                <a:gd name="T1" fmla="*/ 54 h 1803"/>
                <a:gd name="T2" fmla="*/ 1105 w 1451"/>
                <a:gd name="T3" fmla="*/ 11 h 1803"/>
                <a:gd name="T4" fmla="*/ 981 w 1451"/>
                <a:gd name="T5" fmla="*/ 0 h 1803"/>
                <a:gd name="T6" fmla="*/ 848 w 1451"/>
                <a:gd name="T7" fmla="*/ 21 h 1803"/>
                <a:gd name="T8" fmla="*/ 710 w 1451"/>
                <a:gd name="T9" fmla="*/ 75 h 1803"/>
                <a:gd name="T10" fmla="*/ 573 w 1451"/>
                <a:gd name="T11" fmla="*/ 157 h 1803"/>
                <a:gd name="T12" fmla="*/ 440 w 1451"/>
                <a:gd name="T13" fmla="*/ 267 h 1803"/>
                <a:gd name="T14" fmla="*/ 319 w 1451"/>
                <a:gd name="T15" fmla="*/ 401 h 1803"/>
                <a:gd name="T16" fmla="*/ 213 w 1451"/>
                <a:gd name="T17" fmla="*/ 552 h 1803"/>
                <a:gd name="T18" fmla="*/ 125 w 1451"/>
                <a:gd name="T19" fmla="*/ 716 h 1803"/>
                <a:gd name="T20" fmla="*/ 59 w 1451"/>
                <a:gd name="T21" fmla="*/ 886 h 1803"/>
                <a:gd name="T22" fmla="*/ 17 w 1451"/>
                <a:gd name="T23" fmla="*/ 1057 h 1803"/>
                <a:gd name="T24" fmla="*/ 0 w 1451"/>
                <a:gd name="T25" fmla="*/ 1222 h 1803"/>
                <a:gd name="T26" fmla="*/ 9 w 1451"/>
                <a:gd name="T27" fmla="*/ 1376 h 1803"/>
                <a:gd name="T28" fmla="*/ 45 w 1451"/>
                <a:gd name="T29" fmla="*/ 1514 h 1803"/>
                <a:gd name="T30" fmla="*/ 106 w 1451"/>
                <a:gd name="T31" fmla="*/ 1628 h 1803"/>
                <a:gd name="T32" fmla="*/ 188 w 1451"/>
                <a:gd name="T33" fmla="*/ 1716 h 1803"/>
                <a:gd name="T34" fmla="*/ 290 w 1451"/>
                <a:gd name="T35" fmla="*/ 1776 h 1803"/>
                <a:gd name="T36" fmla="*/ 408 w 1451"/>
                <a:gd name="T37" fmla="*/ 1803 h 1803"/>
                <a:gd name="T38" fmla="*/ 538 w 1451"/>
                <a:gd name="T39" fmla="*/ 1797 h 1803"/>
                <a:gd name="T40" fmla="*/ 673 w 1451"/>
                <a:gd name="T41" fmla="*/ 1760 h 1803"/>
                <a:gd name="T42" fmla="*/ 812 w 1451"/>
                <a:gd name="T43" fmla="*/ 1691 h 1803"/>
                <a:gd name="T44" fmla="*/ 947 w 1451"/>
                <a:gd name="T45" fmla="*/ 1595 h 1803"/>
                <a:gd name="T46" fmla="*/ 1074 w 1451"/>
                <a:gd name="T47" fmla="*/ 1472 h 1803"/>
                <a:gd name="T48" fmla="*/ 1189 w 1451"/>
                <a:gd name="T49" fmla="*/ 1330 h 1803"/>
                <a:gd name="T50" fmla="*/ 1286 w 1451"/>
                <a:gd name="T51" fmla="*/ 1171 h 1803"/>
                <a:gd name="T52" fmla="*/ 1363 w 1451"/>
                <a:gd name="T53" fmla="*/ 1004 h 1803"/>
                <a:gd name="T54" fmla="*/ 1418 w 1451"/>
                <a:gd name="T55" fmla="*/ 832 h 1803"/>
                <a:gd name="T56" fmla="*/ 1448 w 1451"/>
                <a:gd name="T57" fmla="*/ 663 h 1803"/>
                <a:gd name="T58" fmla="*/ 1451 w 1451"/>
                <a:gd name="T59" fmla="*/ 502 h 1803"/>
                <a:gd name="T60" fmla="*/ 1428 w 1451"/>
                <a:gd name="T61" fmla="*/ 356 h 1803"/>
                <a:gd name="T62" fmla="*/ 1381 w 1451"/>
                <a:gd name="T63" fmla="*/ 231 h 1803"/>
                <a:gd name="T64" fmla="*/ 1308 w 1451"/>
                <a:gd name="T65" fmla="*/ 128 h 1803"/>
                <a:gd name="T66" fmla="*/ 1216 w 1451"/>
                <a:gd name="T67" fmla="*/ 54 h 1803"/>
                <a:gd name="T68" fmla="*/ 1217 w 1451"/>
                <a:gd name="T69" fmla="*/ 5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1" h="1803">
                  <a:moveTo>
                    <a:pt x="1216" y="54"/>
                  </a:moveTo>
                  <a:lnTo>
                    <a:pt x="1105" y="11"/>
                  </a:lnTo>
                  <a:lnTo>
                    <a:pt x="981" y="0"/>
                  </a:lnTo>
                  <a:lnTo>
                    <a:pt x="848" y="21"/>
                  </a:lnTo>
                  <a:lnTo>
                    <a:pt x="710" y="75"/>
                  </a:lnTo>
                  <a:lnTo>
                    <a:pt x="573" y="157"/>
                  </a:lnTo>
                  <a:lnTo>
                    <a:pt x="440" y="267"/>
                  </a:lnTo>
                  <a:lnTo>
                    <a:pt x="319" y="401"/>
                  </a:lnTo>
                  <a:lnTo>
                    <a:pt x="213" y="552"/>
                  </a:lnTo>
                  <a:lnTo>
                    <a:pt x="125" y="716"/>
                  </a:lnTo>
                  <a:lnTo>
                    <a:pt x="59" y="886"/>
                  </a:lnTo>
                  <a:lnTo>
                    <a:pt x="17" y="1057"/>
                  </a:lnTo>
                  <a:lnTo>
                    <a:pt x="0" y="1222"/>
                  </a:lnTo>
                  <a:lnTo>
                    <a:pt x="9" y="1376"/>
                  </a:lnTo>
                  <a:lnTo>
                    <a:pt x="45" y="1514"/>
                  </a:lnTo>
                  <a:lnTo>
                    <a:pt x="106" y="1628"/>
                  </a:lnTo>
                  <a:lnTo>
                    <a:pt x="188" y="1716"/>
                  </a:lnTo>
                  <a:lnTo>
                    <a:pt x="290" y="1776"/>
                  </a:lnTo>
                  <a:lnTo>
                    <a:pt x="408" y="1803"/>
                  </a:lnTo>
                  <a:lnTo>
                    <a:pt x="538" y="1797"/>
                  </a:lnTo>
                  <a:lnTo>
                    <a:pt x="673" y="1760"/>
                  </a:lnTo>
                  <a:lnTo>
                    <a:pt x="812" y="1691"/>
                  </a:lnTo>
                  <a:lnTo>
                    <a:pt x="947" y="1595"/>
                  </a:lnTo>
                  <a:lnTo>
                    <a:pt x="1074" y="1472"/>
                  </a:lnTo>
                  <a:lnTo>
                    <a:pt x="1189" y="1330"/>
                  </a:lnTo>
                  <a:lnTo>
                    <a:pt x="1286" y="1171"/>
                  </a:lnTo>
                  <a:lnTo>
                    <a:pt x="1363" y="1004"/>
                  </a:lnTo>
                  <a:lnTo>
                    <a:pt x="1418" y="832"/>
                  </a:lnTo>
                  <a:lnTo>
                    <a:pt x="1448" y="663"/>
                  </a:lnTo>
                  <a:lnTo>
                    <a:pt x="1451" y="502"/>
                  </a:lnTo>
                  <a:lnTo>
                    <a:pt x="1428" y="356"/>
                  </a:lnTo>
                  <a:lnTo>
                    <a:pt x="1381" y="231"/>
                  </a:lnTo>
                  <a:lnTo>
                    <a:pt x="1308" y="128"/>
                  </a:lnTo>
                  <a:lnTo>
                    <a:pt x="1216" y="54"/>
                  </a:lnTo>
                  <a:lnTo>
                    <a:pt x="1217" y="54"/>
                  </a:lnTo>
                </a:path>
              </a:pathLst>
            </a:custGeom>
            <a:gradFill rotWithShape="0">
              <a:gsLst>
                <a:gs pos="0">
                  <a:srgbClr val="76762F"/>
                </a:gs>
                <a:gs pos="50000">
                  <a:srgbClr val="FFFF66"/>
                </a:gs>
                <a:gs pos="100000">
                  <a:srgbClr val="76762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8" name="Freeform 378"/>
            <p:cNvSpPr>
              <a:spLocks noChangeArrowheads="1"/>
            </p:cNvSpPr>
            <p:nvPr/>
          </p:nvSpPr>
          <p:spPr bwMode="auto">
            <a:xfrm>
              <a:off x="4318" y="3125"/>
              <a:ext cx="152" cy="94"/>
            </a:xfrm>
            <a:custGeom>
              <a:avLst/>
              <a:gdLst>
                <a:gd name="T0" fmla="*/ 0 w 2218"/>
                <a:gd name="T1" fmla="*/ 705 h 1408"/>
                <a:gd name="T2" fmla="*/ 19 w 2218"/>
                <a:gd name="T3" fmla="*/ 838 h 1408"/>
                <a:gd name="T4" fmla="*/ 79 w 2218"/>
                <a:gd name="T5" fmla="*/ 967 h 1408"/>
                <a:gd name="T6" fmla="*/ 176 w 2218"/>
                <a:gd name="T7" fmla="*/ 1086 h 1408"/>
                <a:gd name="T8" fmla="*/ 307 w 2218"/>
                <a:gd name="T9" fmla="*/ 1191 h 1408"/>
                <a:gd name="T10" fmla="*/ 467 w 2218"/>
                <a:gd name="T11" fmla="*/ 1278 h 1408"/>
                <a:gd name="T12" fmla="*/ 650 w 2218"/>
                <a:gd name="T13" fmla="*/ 1346 h 1408"/>
                <a:gd name="T14" fmla="*/ 849 w 2218"/>
                <a:gd name="T15" fmla="*/ 1390 h 1408"/>
                <a:gd name="T16" fmla="*/ 1059 w 2218"/>
                <a:gd name="T17" fmla="*/ 1408 h 1408"/>
                <a:gd name="T18" fmla="*/ 1270 w 2218"/>
                <a:gd name="T19" fmla="*/ 1402 h 1408"/>
                <a:gd name="T20" fmla="*/ 1475 w 2218"/>
                <a:gd name="T21" fmla="*/ 1370 h 1408"/>
                <a:gd name="T22" fmla="*/ 1668 w 2218"/>
                <a:gd name="T23" fmla="*/ 1315 h 1408"/>
                <a:gd name="T24" fmla="*/ 1840 w 2218"/>
                <a:gd name="T25" fmla="*/ 1237 h 1408"/>
                <a:gd name="T26" fmla="*/ 1985 w 2218"/>
                <a:gd name="T27" fmla="*/ 1140 h 1408"/>
                <a:gd name="T28" fmla="*/ 2100 w 2218"/>
                <a:gd name="T29" fmla="*/ 1027 h 1408"/>
                <a:gd name="T30" fmla="*/ 2178 w 2218"/>
                <a:gd name="T31" fmla="*/ 903 h 1408"/>
                <a:gd name="T32" fmla="*/ 2218 w 2218"/>
                <a:gd name="T33" fmla="*/ 772 h 1408"/>
                <a:gd name="T34" fmla="*/ 2218 w 2218"/>
                <a:gd name="T35" fmla="*/ 638 h 1408"/>
                <a:gd name="T36" fmla="*/ 2178 w 2218"/>
                <a:gd name="T37" fmla="*/ 505 h 1408"/>
                <a:gd name="T38" fmla="*/ 2100 w 2218"/>
                <a:gd name="T39" fmla="*/ 381 h 1408"/>
                <a:gd name="T40" fmla="*/ 1985 w 2218"/>
                <a:gd name="T41" fmla="*/ 268 h 1408"/>
                <a:gd name="T42" fmla="*/ 1840 w 2218"/>
                <a:gd name="T43" fmla="*/ 171 h 1408"/>
                <a:gd name="T44" fmla="*/ 1668 w 2218"/>
                <a:gd name="T45" fmla="*/ 94 h 1408"/>
                <a:gd name="T46" fmla="*/ 1475 w 2218"/>
                <a:gd name="T47" fmla="*/ 38 h 1408"/>
                <a:gd name="T48" fmla="*/ 1270 w 2218"/>
                <a:gd name="T49" fmla="*/ 6 h 1408"/>
                <a:gd name="T50" fmla="*/ 1059 w 2218"/>
                <a:gd name="T51" fmla="*/ 0 h 1408"/>
                <a:gd name="T52" fmla="*/ 849 w 2218"/>
                <a:gd name="T53" fmla="*/ 19 h 1408"/>
                <a:gd name="T54" fmla="*/ 650 w 2218"/>
                <a:gd name="T55" fmla="*/ 63 h 1408"/>
                <a:gd name="T56" fmla="*/ 467 w 2218"/>
                <a:gd name="T57" fmla="*/ 130 h 1408"/>
                <a:gd name="T58" fmla="*/ 307 w 2218"/>
                <a:gd name="T59" fmla="*/ 217 h 1408"/>
                <a:gd name="T60" fmla="*/ 176 w 2218"/>
                <a:gd name="T61" fmla="*/ 322 h 1408"/>
                <a:gd name="T62" fmla="*/ 79 w 2218"/>
                <a:gd name="T63" fmla="*/ 443 h 1408"/>
                <a:gd name="T64" fmla="*/ 19 w 2218"/>
                <a:gd name="T65" fmla="*/ 570 h 1408"/>
                <a:gd name="T66" fmla="*/ 0 w 2218"/>
                <a:gd name="T67" fmla="*/ 705 h 1408"/>
                <a:gd name="T68" fmla="*/ 1 w 2218"/>
                <a:gd name="T69" fmla="*/ 705 h 1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18" h="1408">
                  <a:moveTo>
                    <a:pt x="0" y="705"/>
                  </a:moveTo>
                  <a:lnTo>
                    <a:pt x="19" y="838"/>
                  </a:lnTo>
                  <a:lnTo>
                    <a:pt x="79" y="967"/>
                  </a:lnTo>
                  <a:lnTo>
                    <a:pt x="176" y="1086"/>
                  </a:lnTo>
                  <a:lnTo>
                    <a:pt x="307" y="1191"/>
                  </a:lnTo>
                  <a:lnTo>
                    <a:pt x="467" y="1278"/>
                  </a:lnTo>
                  <a:lnTo>
                    <a:pt x="650" y="1346"/>
                  </a:lnTo>
                  <a:lnTo>
                    <a:pt x="849" y="1390"/>
                  </a:lnTo>
                  <a:lnTo>
                    <a:pt x="1059" y="1408"/>
                  </a:lnTo>
                  <a:lnTo>
                    <a:pt x="1270" y="1402"/>
                  </a:lnTo>
                  <a:lnTo>
                    <a:pt x="1475" y="1370"/>
                  </a:lnTo>
                  <a:lnTo>
                    <a:pt x="1668" y="1315"/>
                  </a:lnTo>
                  <a:lnTo>
                    <a:pt x="1840" y="1237"/>
                  </a:lnTo>
                  <a:lnTo>
                    <a:pt x="1985" y="1140"/>
                  </a:lnTo>
                  <a:lnTo>
                    <a:pt x="2100" y="1027"/>
                  </a:lnTo>
                  <a:lnTo>
                    <a:pt x="2178" y="903"/>
                  </a:lnTo>
                  <a:lnTo>
                    <a:pt x="2218" y="772"/>
                  </a:lnTo>
                  <a:lnTo>
                    <a:pt x="2218" y="638"/>
                  </a:lnTo>
                  <a:lnTo>
                    <a:pt x="2178" y="505"/>
                  </a:lnTo>
                  <a:lnTo>
                    <a:pt x="2100" y="381"/>
                  </a:lnTo>
                  <a:lnTo>
                    <a:pt x="1985" y="268"/>
                  </a:lnTo>
                  <a:lnTo>
                    <a:pt x="1840" y="171"/>
                  </a:lnTo>
                  <a:lnTo>
                    <a:pt x="1668" y="94"/>
                  </a:lnTo>
                  <a:lnTo>
                    <a:pt x="1475" y="38"/>
                  </a:lnTo>
                  <a:lnTo>
                    <a:pt x="1270" y="6"/>
                  </a:lnTo>
                  <a:lnTo>
                    <a:pt x="1059" y="0"/>
                  </a:lnTo>
                  <a:lnTo>
                    <a:pt x="849" y="19"/>
                  </a:lnTo>
                  <a:lnTo>
                    <a:pt x="650" y="63"/>
                  </a:lnTo>
                  <a:lnTo>
                    <a:pt x="467" y="130"/>
                  </a:lnTo>
                  <a:lnTo>
                    <a:pt x="307" y="217"/>
                  </a:lnTo>
                  <a:lnTo>
                    <a:pt x="176" y="322"/>
                  </a:lnTo>
                  <a:lnTo>
                    <a:pt x="79" y="443"/>
                  </a:lnTo>
                  <a:lnTo>
                    <a:pt x="19" y="570"/>
                  </a:lnTo>
                  <a:lnTo>
                    <a:pt x="0" y="705"/>
                  </a:lnTo>
                  <a:lnTo>
                    <a:pt x="1" y="705"/>
                  </a:lnTo>
                </a:path>
              </a:pathLst>
            </a:custGeom>
            <a:gradFill rotWithShape="0">
              <a:gsLst>
                <a:gs pos="0">
                  <a:srgbClr val="76762F"/>
                </a:gs>
                <a:gs pos="50000">
                  <a:srgbClr val="FFFF66"/>
                </a:gs>
                <a:gs pos="100000">
                  <a:srgbClr val="76762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9" name="Freeform 379"/>
            <p:cNvSpPr>
              <a:spLocks noChangeArrowheads="1"/>
            </p:cNvSpPr>
            <p:nvPr/>
          </p:nvSpPr>
          <p:spPr bwMode="auto">
            <a:xfrm>
              <a:off x="4318" y="2707"/>
              <a:ext cx="85" cy="93"/>
            </a:xfrm>
            <a:custGeom>
              <a:avLst/>
              <a:gdLst>
                <a:gd name="T0" fmla="*/ 1240 w 1241"/>
                <a:gd name="T1" fmla="*/ 3 h 1407"/>
                <a:gd name="T2" fmla="*/ 1032 w 1241"/>
                <a:gd name="T3" fmla="*/ 0 h 1407"/>
                <a:gd name="T4" fmla="*/ 827 w 1241"/>
                <a:gd name="T5" fmla="*/ 22 h 1407"/>
                <a:gd name="T6" fmla="*/ 631 w 1241"/>
                <a:gd name="T7" fmla="*/ 67 h 1407"/>
                <a:gd name="T8" fmla="*/ 454 w 1241"/>
                <a:gd name="T9" fmla="*/ 135 h 1407"/>
                <a:gd name="T10" fmla="*/ 298 w 1241"/>
                <a:gd name="T11" fmla="*/ 223 h 1407"/>
                <a:gd name="T12" fmla="*/ 171 w 1241"/>
                <a:gd name="T13" fmla="*/ 328 h 1407"/>
                <a:gd name="T14" fmla="*/ 77 w 1241"/>
                <a:gd name="T15" fmla="*/ 446 h 1407"/>
                <a:gd name="T16" fmla="*/ 19 w 1241"/>
                <a:gd name="T17" fmla="*/ 573 h 1407"/>
                <a:gd name="T18" fmla="*/ 0 w 1241"/>
                <a:gd name="T19" fmla="*/ 704 h 1407"/>
                <a:gd name="T20" fmla="*/ 19 w 1241"/>
                <a:gd name="T21" fmla="*/ 835 h 1407"/>
                <a:gd name="T22" fmla="*/ 77 w 1241"/>
                <a:gd name="T23" fmla="*/ 961 h 1407"/>
                <a:gd name="T24" fmla="*/ 171 w 1241"/>
                <a:gd name="T25" fmla="*/ 1079 h 1407"/>
                <a:gd name="T26" fmla="*/ 298 w 1241"/>
                <a:gd name="T27" fmla="*/ 1184 h 1407"/>
                <a:gd name="T28" fmla="*/ 454 w 1241"/>
                <a:gd name="T29" fmla="*/ 1272 h 1407"/>
                <a:gd name="T30" fmla="*/ 631 w 1241"/>
                <a:gd name="T31" fmla="*/ 1340 h 1407"/>
                <a:gd name="T32" fmla="*/ 827 w 1241"/>
                <a:gd name="T33" fmla="*/ 1386 h 1407"/>
                <a:gd name="T34" fmla="*/ 1032 w 1241"/>
                <a:gd name="T35" fmla="*/ 1407 h 1407"/>
                <a:gd name="T36" fmla="*/ 1240 w 1241"/>
                <a:gd name="T37" fmla="*/ 1404 h 1407"/>
                <a:gd name="T38" fmla="*/ 1241 w 1241"/>
                <a:gd name="T39" fmla="*/ 1404 h 1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41" h="1407">
                  <a:moveTo>
                    <a:pt x="1240" y="3"/>
                  </a:moveTo>
                  <a:lnTo>
                    <a:pt x="1032" y="0"/>
                  </a:lnTo>
                  <a:lnTo>
                    <a:pt x="827" y="22"/>
                  </a:lnTo>
                  <a:lnTo>
                    <a:pt x="631" y="67"/>
                  </a:lnTo>
                  <a:lnTo>
                    <a:pt x="454" y="135"/>
                  </a:lnTo>
                  <a:lnTo>
                    <a:pt x="298" y="223"/>
                  </a:lnTo>
                  <a:lnTo>
                    <a:pt x="171" y="328"/>
                  </a:lnTo>
                  <a:lnTo>
                    <a:pt x="77" y="446"/>
                  </a:lnTo>
                  <a:lnTo>
                    <a:pt x="19" y="573"/>
                  </a:lnTo>
                  <a:lnTo>
                    <a:pt x="0" y="704"/>
                  </a:lnTo>
                  <a:lnTo>
                    <a:pt x="19" y="835"/>
                  </a:lnTo>
                  <a:lnTo>
                    <a:pt x="77" y="961"/>
                  </a:lnTo>
                  <a:lnTo>
                    <a:pt x="171" y="1079"/>
                  </a:lnTo>
                  <a:lnTo>
                    <a:pt x="298" y="1184"/>
                  </a:lnTo>
                  <a:lnTo>
                    <a:pt x="454" y="1272"/>
                  </a:lnTo>
                  <a:lnTo>
                    <a:pt x="631" y="1340"/>
                  </a:lnTo>
                  <a:lnTo>
                    <a:pt x="827" y="1386"/>
                  </a:lnTo>
                  <a:lnTo>
                    <a:pt x="1032" y="1407"/>
                  </a:lnTo>
                  <a:lnTo>
                    <a:pt x="1240" y="1404"/>
                  </a:lnTo>
                  <a:lnTo>
                    <a:pt x="1241" y="1404"/>
                  </a:lnTo>
                </a:path>
              </a:pathLst>
            </a:custGeom>
            <a:gradFill rotWithShape="0">
              <a:gsLst>
                <a:gs pos="0">
                  <a:srgbClr val="76762F"/>
                </a:gs>
                <a:gs pos="50000">
                  <a:srgbClr val="FFFF66"/>
                </a:gs>
                <a:gs pos="100000">
                  <a:srgbClr val="76762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80" name="Freeform 380"/>
            <p:cNvSpPr>
              <a:spLocks noChangeArrowheads="1"/>
            </p:cNvSpPr>
            <p:nvPr/>
          </p:nvSpPr>
          <p:spPr bwMode="auto">
            <a:xfrm>
              <a:off x="5065" y="3125"/>
              <a:ext cx="151" cy="94"/>
            </a:xfrm>
            <a:custGeom>
              <a:avLst/>
              <a:gdLst>
                <a:gd name="T0" fmla="*/ 0 w 2219"/>
                <a:gd name="T1" fmla="*/ 705 h 1408"/>
                <a:gd name="T2" fmla="*/ 20 w 2219"/>
                <a:gd name="T3" fmla="*/ 838 h 1408"/>
                <a:gd name="T4" fmla="*/ 80 w 2219"/>
                <a:gd name="T5" fmla="*/ 967 h 1408"/>
                <a:gd name="T6" fmla="*/ 176 w 2219"/>
                <a:gd name="T7" fmla="*/ 1086 h 1408"/>
                <a:gd name="T8" fmla="*/ 307 w 2219"/>
                <a:gd name="T9" fmla="*/ 1191 h 1408"/>
                <a:gd name="T10" fmla="*/ 466 w 2219"/>
                <a:gd name="T11" fmla="*/ 1278 h 1408"/>
                <a:gd name="T12" fmla="*/ 649 w 2219"/>
                <a:gd name="T13" fmla="*/ 1346 h 1408"/>
                <a:gd name="T14" fmla="*/ 850 w 2219"/>
                <a:gd name="T15" fmla="*/ 1390 h 1408"/>
                <a:gd name="T16" fmla="*/ 1059 w 2219"/>
                <a:gd name="T17" fmla="*/ 1408 h 1408"/>
                <a:gd name="T18" fmla="*/ 1270 w 2219"/>
                <a:gd name="T19" fmla="*/ 1402 h 1408"/>
                <a:gd name="T20" fmla="*/ 1475 w 2219"/>
                <a:gd name="T21" fmla="*/ 1370 h 1408"/>
                <a:gd name="T22" fmla="*/ 1667 w 2219"/>
                <a:gd name="T23" fmla="*/ 1315 h 1408"/>
                <a:gd name="T24" fmla="*/ 1840 w 2219"/>
                <a:gd name="T25" fmla="*/ 1237 h 1408"/>
                <a:gd name="T26" fmla="*/ 1986 w 2219"/>
                <a:gd name="T27" fmla="*/ 1140 h 1408"/>
                <a:gd name="T28" fmla="*/ 2100 w 2219"/>
                <a:gd name="T29" fmla="*/ 1027 h 1408"/>
                <a:gd name="T30" fmla="*/ 2179 w 2219"/>
                <a:gd name="T31" fmla="*/ 903 h 1408"/>
                <a:gd name="T32" fmla="*/ 2219 w 2219"/>
                <a:gd name="T33" fmla="*/ 772 h 1408"/>
                <a:gd name="T34" fmla="*/ 2219 w 2219"/>
                <a:gd name="T35" fmla="*/ 638 h 1408"/>
                <a:gd name="T36" fmla="*/ 2179 w 2219"/>
                <a:gd name="T37" fmla="*/ 505 h 1408"/>
                <a:gd name="T38" fmla="*/ 2100 w 2219"/>
                <a:gd name="T39" fmla="*/ 381 h 1408"/>
                <a:gd name="T40" fmla="*/ 1986 w 2219"/>
                <a:gd name="T41" fmla="*/ 268 h 1408"/>
                <a:gd name="T42" fmla="*/ 1840 w 2219"/>
                <a:gd name="T43" fmla="*/ 171 h 1408"/>
                <a:gd name="T44" fmla="*/ 1667 w 2219"/>
                <a:gd name="T45" fmla="*/ 94 h 1408"/>
                <a:gd name="T46" fmla="*/ 1475 w 2219"/>
                <a:gd name="T47" fmla="*/ 38 h 1408"/>
                <a:gd name="T48" fmla="*/ 1270 w 2219"/>
                <a:gd name="T49" fmla="*/ 6 h 1408"/>
                <a:gd name="T50" fmla="*/ 1059 w 2219"/>
                <a:gd name="T51" fmla="*/ 0 h 1408"/>
                <a:gd name="T52" fmla="*/ 850 w 2219"/>
                <a:gd name="T53" fmla="*/ 19 h 1408"/>
                <a:gd name="T54" fmla="*/ 649 w 2219"/>
                <a:gd name="T55" fmla="*/ 63 h 1408"/>
                <a:gd name="T56" fmla="*/ 466 w 2219"/>
                <a:gd name="T57" fmla="*/ 130 h 1408"/>
                <a:gd name="T58" fmla="*/ 307 w 2219"/>
                <a:gd name="T59" fmla="*/ 217 h 1408"/>
                <a:gd name="T60" fmla="*/ 176 w 2219"/>
                <a:gd name="T61" fmla="*/ 322 h 1408"/>
                <a:gd name="T62" fmla="*/ 80 w 2219"/>
                <a:gd name="T63" fmla="*/ 443 h 1408"/>
                <a:gd name="T64" fmla="*/ 20 w 2219"/>
                <a:gd name="T65" fmla="*/ 570 h 1408"/>
                <a:gd name="T66" fmla="*/ 0 w 2219"/>
                <a:gd name="T67" fmla="*/ 705 h 1408"/>
                <a:gd name="T68" fmla="*/ 1 w 2219"/>
                <a:gd name="T69" fmla="*/ 705 h 1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19" h="1408">
                  <a:moveTo>
                    <a:pt x="0" y="705"/>
                  </a:moveTo>
                  <a:lnTo>
                    <a:pt x="20" y="838"/>
                  </a:lnTo>
                  <a:lnTo>
                    <a:pt x="80" y="967"/>
                  </a:lnTo>
                  <a:lnTo>
                    <a:pt x="176" y="1086"/>
                  </a:lnTo>
                  <a:lnTo>
                    <a:pt x="307" y="1191"/>
                  </a:lnTo>
                  <a:lnTo>
                    <a:pt x="466" y="1278"/>
                  </a:lnTo>
                  <a:lnTo>
                    <a:pt x="649" y="1346"/>
                  </a:lnTo>
                  <a:lnTo>
                    <a:pt x="850" y="1390"/>
                  </a:lnTo>
                  <a:lnTo>
                    <a:pt x="1059" y="1408"/>
                  </a:lnTo>
                  <a:lnTo>
                    <a:pt x="1270" y="1402"/>
                  </a:lnTo>
                  <a:lnTo>
                    <a:pt x="1475" y="1370"/>
                  </a:lnTo>
                  <a:lnTo>
                    <a:pt x="1667" y="1315"/>
                  </a:lnTo>
                  <a:lnTo>
                    <a:pt x="1840" y="1237"/>
                  </a:lnTo>
                  <a:lnTo>
                    <a:pt x="1986" y="1140"/>
                  </a:lnTo>
                  <a:lnTo>
                    <a:pt x="2100" y="1027"/>
                  </a:lnTo>
                  <a:lnTo>
                    <a:pt x="2179" y="903"/>
                  </a:lnTo>
                  <a:lnTo>
                    <a:pt x="2219" y="772"/>
                  </a:lnTo>
                  <a:lnTo>
                    <a:pt x="2219" y="638"/>
                  </a:lnTo>
                  <a:lnTo>
                    <a:pt x="2179" y="505"/>
                  </a:lnTo>
                  <a:lnTo>
                    <a:pt x="2100" y="381"/>
                  </a:lnTo>
                  <a:lnTo>
                    <a:pt x="1986" y="268"/>
                  </a:lnTo>
                  <a:lnTo>
                    <a:pt x="1840" y="171"/>
                  </a:lnTo>
                  <a:lnTo>
                    <a:pt x="1667" y="94"/>
                  </a:lnTo>
                  <a:lnTo>
                    <a:pt x="1475" y="38"/>
                  </a:lnTo>
                  <a:lnTo>
                    <a:pt x="1270" y="6"/>
                  </a:lnTo>
                  <a:lnTo>
                    <a:pt x="1059" y="0"/>
                  </a:lnTo>
                  <a:lnTo>
                    <a:pt x="850" y="19"/>
                  </a:lnTo>
                  <a:lnTo>
                    <a:pt x="649" y="63"/>
                  </a:lnTo>
                  <a:lnTo>
                    <a:pt x="466" y="130"/>
                  </a:lnTo>
                  <a:lnTo>
                    <a:pt x="307" y="217"/>
                  </a:lnTo>
                  <a:lnTo>
                    <a:pt x="176" y="322"/>
                  </a:lnTo>
                  <a:lnTo>
                    <a:pt x="80" y="443"/>
                  </a:lnTo>
                  <a:lnTo>
                    <a:pt x="20" y="570"/>
                  </a:lnTo>
                  <a:lnTo>
                    <a:pt x="0" y="705"/>
                  </a:lnTo>
                  <a:lnTo>
                    <a:pt x="1" y="705"/>
                  </a:lnTo>
                </a:path>
              </a:pathLst>
            </a:custGeom>
            <a:gradFill rotWithShape="0">
              <a:gsLst>
                <a:gs pos="0">
                  <a:srgbClr val="76762F"/>
                </a:gs>
                <a:gs pos="50000">
                  <a:srgbClr val="FFFF66"/>
                </a:gs>
                <a:gs pos="100000">
                  <a:srgbClr val="76762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689245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down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down)">
                                      <p:cBhvr>
                                        <p:cTn id="12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7" dur="20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2" dur="10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6"/>
          <p:cNvSpPr txBox="1">
            <a:spLocks noChangeArrowheads="1"/>
          </p:cNvSpPr>
          <p:nvPr/>
        </p:nvSpPr>
        <p:spPr bwMode="auto">
          <a:xfrm>
            <a:off x="1645226" y="958418"/>
            <a:ext cx="86423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2400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剖视图分为</a:t>
            </a:r>
            <a:r>
              <a:rPr lang="zh-CN" altLang="en-US" b="1" dirty="0">
                <a:solidFill>
                  <a:schemeClr val="accent2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全剖视图</a:t>
            </a:r>
            <a:r>
              <a:rPr lang="zh-CN" altLang="en-US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、</a:t>
            </a:r>
            <a:r>
              <a:rPr lang="zh-CN" altLang="en-US" b="1" dirty="0">
                <a:solidFill>
                  <a:srgbClr val="80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半剖视图</a:t>
            </a:r>
            <a:r>
              <a:rPr lang="zh-CN" altLang="en-US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、</a:t>
            </a:r>
            <a:r>
              <a:rPr lang="zh-CN" altLang="en-US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局部剖视图</a:t>
            </a:r>
            <a:r>
              <a:rPr lang="zh-CN" altLang="en-US" sz="2400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三种。</a:t>
            </a:r>
          </a:p>
        </p:txBody>
      </p:sp>
      <p:sp>
        <p:nvSpPr>
          <p:cNvPr id="3" name="矩形 2"/>
          <p:cNvSpPr/>
          <p:nvPr/>
        </p:nvSpPr>
        <p:spPr>
          <a:xfrm>
            <a:off x="619047" y="251428"/>
            <a:ext cx="3877985" cy="646331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>
            <a:spAutoFit/>
          </a:bodyPr>
          <a:lstStyle/>
          <a:p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二、剖视图的种类</a:t>
            </a:r>
          </a:p>
        </p:txBody>
      </p:sp>
      <p:pic>
        <p:nvPicPr>
          <p:cNvPr id="4" name="Picture 2" descr="全剖视图4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8565" y="2301218"/>
            <a:ext cx="2698750" cy="385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ext Box 4"/>
          <p:cNvSpPr txBox="1">
            <a:spLocks noChangeArrowheads="1"/>
          </p:cNvSpPr>
          <p:nvPr/>
        </p:nvSpPr>
        <p:spPr bwMode="auto">
          <a:xfrm>
            <a:off x="1097540" y="1821087"/>
            <a:ext cx="2921000" cy="480131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FontTx/>
              <a:buNone/>
              <a:defRPr sz="2800" b="1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defRPr>
            </a:lvl1pPr>
          </a:lstStyle>
          <a:p>
            <a:r>
              <a:rPr lang="en-US" altLang="zh-CN" dirty="0"/>
              <a:t>1.</a:t>
            </a:r>
            <a:r>
              <a:rPr lang="zh-CN" altLang="en-US" dirty="0"/>
              <a:t>全剖视图</a:t>
            </a:r>
          </a:p>
        </p:txBody>
      </p:sp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1645226" y="5811132"/>
            <a:ext cx="8180387" cy="769441"/>
          </a:xfrm>
          <a:prstGeom prst="rect">
            <a:avLst/>
          </a:prstGeom>
          <a:solidFill>
            <a:srgbClr val="B9FDEB">
              <a:alpha val="20000"/>
            </a:srgbClr>
          </a:solidFill>
          <a:ln w="57150" cmpd="thickThin">
            <a:solidFill>
              <a:srgbClr val="FF9900"/>
            </a:solidFill>
            <a:miter lim="800000"/>
            <a:headEnd type="none" w="sm" len="lg"/>
            <a:tailEnd type="none" w="sm" len="lg"/>
          </a:ln>
        </p:spPr>
        <p:txBody>
          <a:bodyPr>
            <a:spAutoFit/>
          </a:bodyPr>
          <a:lstStyle>
            <a:lvl1pPr indent="536575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0" hangingPunct="0"/>
            <a:r>
              <a:rPr lang="zh-CN" altLang="en-US" sz="2200">
                <a:latin typeface="华文细黑" panose="02010600040101010101" pitchFamily="2" charset="-122"/>
                <a:ea typeface="华文细黑" panose="02010600040101010101" pitchFamily="2" charset="-122"/>
              </a:rPr>
              <a:t>用剖切平面完全地剖开物体所得的剖视图，称为全剖视图。全剖视图主要用于</a:t>
            </a:r>
            <a:r>
              <a:rPr lang="zh-CN" altLang="en-US" sz="220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表达内部结构复杂</a:t>
            </a:r>
            <a:r>
              <a:rPr lang="zh-CN" altLang="en-US" sz="2200">
                <a:latin typeface="华文细黑" panose="02010600040101010101" pitchFamily="2" charset="-122"/>
                <a:ea typeface="华文细黑" panose="02010600040101010101" pitchFamily="2" charset="-122"/>
              </a:rPr>
              <a:t>、</a:t>
            </a:r>
            <a:r>
              <a:rPr lang="zh-CN" altLang="en-US" sz="220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外形比较简单的机件</a:t>
            </a:r>
            <a:r>
              <a:rPr lang="zh-CN" altLang="en-US" sz="2200">
                <a:latin typeface="华文细黑" panose="02010600040101010101" pitchFamily="2" charset="-122"/>
                <a:ea typeface="华文细黑" panose="02010600040101010101" pitchFamily="2" charset="-122"/>
              </a:rPr>
              <a:t>。</a:t>
            </a:r>
          </a:p>
        </p:txBody>
      </p:sp>
      <p:pic>
        <p:nvPicPr>
          <p:cNvPr id="7" name="Picture 6" descr="Snap2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6090" y="2196235"/>
            <a:ext cx="4329112" cy="3519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173164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>
          <a:xfrm>
            <a:off x="337848" y="334161"/>
            <a:ext cx="3448050" cy="480131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FontTx/>
              <a:buNone/>
              <a:defRPr sz="2800" b="1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defRPr>
            </a:lvl1pPr>
          </a:lstStyle>
          <a:p>
            <a:r>
              <a:rPr lang="en-US" altLang="zh-CN" dirty="0"/>
              <a:t> 2.</a:t>
            </a:r>
            <a:r>
              <a:rPr lang="zh-CN" altLang="en-US" dirty="0"/>
              <a:t>半剖视图</a:t>
            </a:r>
          </a:p>
        </p:txBody>
      </p:sp>
      <p:grpSp>
        <p:nvGrpSpPr>
          <p:cNvPr id="260" name="Group 3"/>
          <p:cNvGrpSpPr>
            <a:grpSpLocks noChangeAspect="1"/>
          </p:cNvGrpSpPr>
          <p:nvPr/>
        </p:nvGrpSpPr>
        <p:grpSpPr bwMode="auto">
          <a:xfrm>
            <a:off x="3610697" y="3948112"/>
            <a:ext cx="3784600" cy="373063"/>
            <a:chOff x="267" y="2754"/>
            <a:chExt cx="2981" cy="293"/>
          </a:xfrm>
        </p:grpSpPr>
        <p:sp>
          <p:nvSpPr>
            <p:cNvPr id="261" name="Text Box 4"/>
            <p:cNvSpPr txBox="1">
              <a:spLocks noChangeAspect="1" noChangeArrowheads="1"/>
            </p:cNvSpPr>
            <p:nvPr/>
          </p:nvSpPr>
          <p:spPr bwMode="auto">
            <a:xfrm>
              <a:off x="2972" y="2759"/>
              <a:ext cx="27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62" name="Text Box 5"/>
            <p:cNvSpPr txBox="1">
              <a:spLocks noChangeAspect="1" noChangeArrowheads="1"/>
            </p:cNvSpPr>
            <p:nvPr/>
          </p:nvSpPr>
          <p:spPr bwMode="auto">
            <a:xfrm>
              <a:off x="267" y="2754"/>
              <a:ext cx="27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63" name="Freeform 6"/>
            <p:cNvSpPr>
              <a:spLocks noChangeAspect="1" noChangeArrowheads="1"/>
            </p:cNvSpPr>
            <p:nvPr/>
          </p:nvSpPr>
          <p:spPr bwMode="auto">
            <a:xfrm>
              <a:off x="465" y="2926"/>
              <a:ext cx="150" cy="1"/>
            </a:xfrm>
            <a:custGeom>
              <a:avLst/>
              <a:gdLst>
                <a:gd name="T0" fmla="*/ 0 w 150"/>
                <a:gd name="T1" fmla="*/ 0 h 1"/>
                <a:gd name="T2" fmla="*/ 150 w 150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50" h="1">
                  <a:moveTo>
                    <a:pt x="0" y="0"/>
                  </a:moveTo>
                  <a:lnTo>
                    <a:pt x="15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4" name="Freeform 7"/>
            <p:cNvSpPr>
              <a:spLocks noChangeAspect="1" noChangeArrowheads="1"/>
            </p:cNvSpPr>
            <p:nvPr/>
          </p:nvSpPr>
          <p:spPr bwMode="auto">
            <a:xfrm>
              <a:off x="2880" y="2926"/>
              <a:ext cx="150" cy="1"/>
            </a:xfrm>
            <a:custGeom>
              <a:avLst/>
              <a:gdLst>
                <a:gd name="T0" fmla="*/ 0 w 150"/>
                <a:gd name="T1" fmla="*/ 0 h 1"/>
                <a:gd name="T2" fmla="*/ 150 w 150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50" h="1">
                  <a:moveTo>
                    <a:pt x="0" y="0"/>
                  </a:moveTo>
                  <a:lnTo>
                    <a:pt x="15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5" name="Line 8"/>
            <p:cNvSpPr>
              <a:spLocks noChangeAspect="1" noChangeShapeType="1"/>
            </p:cNvSpPr>
            <p:nvPr/>
          </p:nvSpPr>
          <p:spPr bwMode="auto">
            <a:xfrm flipV="1">
              <a:off x="465" y="2771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" name="Line 9"/>
            <p:cNvSpPr>
              <a:spLocks noChangeAspect="1" noChangeShapeType="1"/>
            </p:cNvSpPr>
            <p:nvPr/>
          </p:nvSpPr>
          <p:spPr bwMode="auto">
            <a:xfrm flipV="1">
              <a:off x="3030" y="2771"/>
              <a:ext cx="0" cy="1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7" name="Group 10"/>
          <p:cNvGrpSpPr>
            <a:grpSpLocks noChangeAspect="1"/>
          </p:cNvGrpSpPr>
          <p:nvPr/>
        </p:nvGrpSpPr>
        <p:grpSpPr bwMode="auto">
          <a:xfrm>
            <a:off x="4206009" y="784225"/>
            <a:ext cx="2522538" cy="2525712"/>
            <a:chOff x="3072" y="326"/>
            <a:chExt cx="1987" cy="1990"/>
          </a:xfrm>
        </p:grpSpPr>
        <p:sp>
          <p:nvSpPr>
            <p:cNvPr id="268" name="Text Box 11"/>
            <p:cNvSpPr txBox="1">
              <a:spLocks noChangeAspect="1" noChangeArrowheads="1"/>
            </p:cNvSpPr>
            <p:nvPr/>
          </p:nvSpPr>
          <p:spPr bwMode="auto">
            <a:xfrm>
              <a:off x="3757" y="326"/>
              <a:ext cx="585" cy="2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800">
                  <a:latin typeface="Times New Roman" panose="02020603050405020304" pitchFamily="18" charset="0"/>
                </a:rPr>
                <a:t>A—A</a:t>
              </a:r>
            </a:p>
          </p:txBody>
        </p:sp>
        <p:grpSp>
          <p:nvGrpSpPr>
            <p:cNvPr id="269" name="Group 12"/>
            <p:cNvGrpSpPr>
              <a:grpSpLocks noChangeAspect="1"/>
            </p:cNvGrpSpPr>
            <p:nvPr/>
          </p:nvGrpSpPr>
          <p:grpSpPr bwMode="auto">
            <a:xfrm>
              <a:off x="3072" y="530"/>
              <a:ext cx="1987" cy="1786"/>
              <a:chOff x="3072" y="530"/>
              <a:chExt cx="1987" cy="1786"/>
            </a:xfrm>
          </p:grpSpPr>
          <p:sp>
            <p:nvSpPr>
              <p:cNvPr id="270" name="Line 13"/>
              <p:cNvSpPr>
                <a:spLocks noChangeAspect="1" noChangeShapeType="1"/>
              </p:cNvSpPr>
              <p:nvPr/>
            </p:nvSpPr>
            <p:spPr bwMode="auto">
              <a:xfrm>
                <a:off x="3237" y="1922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1" name="Line 14"/>
              <p:cNvSpPr>
                <a:spLocks noChangeAspect="1" noChangeShapeType="1"/>
              </p:cNvSpPr>
              <p:nvPr/>
            </p:nvSpPr>
            <p:spPr bwMode="auto">
              <a:xfrm>
                <a:off x="3539" y="633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2" name="Freeform 15"/>
              <p:cNvSpPr>
                <a:spLocks noChangeAspect="1" noChangeArrowheads="1"/>
              </p:cNvSpPr>
              <p:nvPr/>
            </p:nvSpPr>
            <p:spPr bwMode="auto">
              <a:xfrm>
                <a:off x="4053" y="530"/>
                <a:ext cx="1" cy="1786"/>
              </a:xfrm>
              <a:custGeom>
                <a:avLst/>
                <a:gdLst>
                  <a:gd name="T0" fmla="*/ 0 w 1"/>
                  <a:gd name="T1" fmla="*/ 0 h 1786"/>
                  <a:gd name="T2" fmla="*/ 0 w 1"/>
                  <a:gd name="T3" fmla="*/ 1786 h 1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786">
                    <a:moveTo>
                      <a:pt x="0" y="0"/>
                    </a:moveTo>
                    <a:lnTo>
                      <a:pt x="0" y="1786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273" name="Group 16"/>
              <p:cNvGrpSpPr>
                <a:grpSpLocks noChangeAspect="1"/>
              </p:cNvGrpSpPr>
              <p:nvPr/>
            </p:nvGrpSpPr>
            <p:grpSpPr bwMode="auto">
              <a:xfrm>
                <a:off x="3072" y="674"/>
                <a:ext cx="1014" cy="1496"/>
                <a:chOff x="3072" y="674"/>
                <a:chExt cx="1014" cy="1496"/>
              </a:xfrm>
            </p:grpSpPr>
            <p:grpSp>
              <p:nvGrpSpPr>
                <p:cNvPr id="312" name="Group 17"/>
                <p:cNvGrpSpPr>
                  <a:grpSpLocks noChangeAspect="1"/>
                </p:cNvGrpSpPr>
                <p:nvPr/>
              </p:nvGrpSpPr>
              <p:grpSpPr bwMode="auto">
                <a:xfrm>
                  <a:off x="3072" y="674"/>
                  <a:ext cx="1014" cy="1492"/>
                  <a:chOff x="3441" y="1200"/>
                  <a:chExt cx="1014" cy="1492"/>
                </a:xfrm>
              </p:grpSpPr>
              <p:sp>
                <p:nvSpPr>
                  <p:cNvPr id="331" name="Freeform 1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41" y="2689"/>
                    <a:ext cx="990" cy="3"/>
                  </a:xfrm>
                  <a:custGeom>
                    <a:avLst/>
                    <a:gdLst>
                      <a:gd name="T0" fmla="*/ 0 w 990"/>
                      <a:gd name="T1" fmla="*/ 3 h 3"/>
                      <a:gd name="T2" fmla="*/ 990 w 990"/>
                      <a:gd name="T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990" h="3">
                        <a:moveTo>
                          <a:pt x="0" y="3"/>
                        </a:moveTo>
                        <a:lnTo>
                          <a:pt x="99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32" name="Freeform 1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41" y="2491"/>
                    <a:ext cx="594" cy="6"/>
                  </a:xfrm>
                  <a:custGeom>
                    <a:avLst/>
                    <a:gdLst>
                      <a:gd name="T0" fmla="*/ 0 w 594"/>
                      <a:gd name="T1" fmla="*/ 6 h 6"/>
                      <a:gd name="T2" fmla="*/ 594 w 594"/>
                      <a:gd name="T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594" h="6">
                        <a:moveTo>
                          <a:pt x="0" y="6"/>
                        </a:moveTo>
                        <a:lnTo>
                          <a:pt x="594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33" name="Freeform 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71" y="1395"/>
                    <a:ext cx="249" cy="6"/>
                  </a:xfrm>
                  <a:custGeom>
                    <a:avLst/>
                    <a:gdLst>
                      <a:gd name="T0" fmla="*/ 0 w 249"/>
                      <a:gd name="T1" fmla="*/ 6 h 6"/>
                      <a:gd name="T2" fmla="*/ 249 w 249"/>
                      <a:gd name="T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49" h="6">
                        <a:moveTo>
                          <a:pt x="0" y="6"/>
                        </a:moveTo>
                        <a:lnTo>
                          <a:pt x="24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34" name="Line 21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3780" y="1203"/>
                    <a:ext cx="0" cy="192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35" name="Freeform 2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71" y="1206"/>
                    <a:ext cx="660" cy="1"/>
                  </a:xfrm>
                  <a:custGeom>
                    <a:avLst/>
                    <a:gdLst>
                      <a:gd name="T0" fmla="*/ 0 w 660"/>
                      <a:gd name="T1" fmla="*/ 0 h 1"/>
                      <a:gd name="T2" fmla="*/ 660 w 660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660" h="1">
                        <a:moveTo>
                          <a:pt x="0" y="0"/>
                        </a:moveTo>
                        <a:lnTo>
                          <a:pt x="66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36" name="Freeform 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26" y="1390"/>
                    <a:ext cx="1" cy="1111"/>
                  </a:xfrm>
                  <a:custGeom>
                    <a:avLst/>
                    <a:gdLst>
                      <a:gd name="T0" fmla="*/ 0 w 1"/>
                      <a:gd name="T1" fmla="*/ 1111 h 1111"/>
                      <a:gd name="T2" fmla="*/ 0 w 1"/>
                      <a:gd name="T3" fmla="*/ 0 h 1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1111">
                        <a:moveTo>
                          <a:pt x="0" y="1111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37" name="Line 24"/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444" y="2499"/>
                    <a:ext cx="0" cy="192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38" name="Freeform 2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40" y="1200"/>
                    <a:ext cx="1" cy="676"/>
                  </a:xfrm>
                  <a:custGeom>
                    <a:avLst/>
                    <a:gdLst>
                      <a:gd name="T0" fmla="*/ 0 w 1"/>
                      <a:gd name="T1" fmla="*/ 676 h 676"/>
                      <a:gd name="T2" fmla="*/ 0 w 1"/>
                      <a:gd name="T3" fmla="*/ 0 h 6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676">
                        <a:moveTo>
                          <a:pt x="0" y="676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39" name="Freeform 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15" y="1936"/>
                    <a:ext cx="1" cy="750"/>
                  </a:xfrm>
                  <a:custGeom>
                    <a:avLst/>
                    <a:gdLst>
                      <a:gd name="T0" fmla="*/ 0 w 1"/>
                      <a:gd name="T1" fmla="*/ 750 h 750"/>
                      <a:gd name="T2" fmla="*/ 0 w 1"/>
                      <a:gd name="T3" fmla="*/ 0 h 7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750">
                        <a:moveTo>
                          <a:pt x="0" y="75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40" name="Freeform 2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20" y="1936"/>
                    <a:ext cx="196" cy="1"/>
                  </a:xfrm>
                  <a:custGeom>
                    <a:avLst/>
                    <a:gdLst>
                      <a:gd name="T0" fmla="*/ 196 w 196"/>
                      <a:gd name="T1" fmla="*/ 0 h 1"/>
                      <a:gd name="T2" fmla="*/ 0 w 196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96" h="1">
                        <a:moveTo>
                          <a:pt x="196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41" name="Freeform 2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40" y="1876"/>
                    <a:ext cx="90" cy="75"/>
                  </a:xfrm>
                  <a:custGeom>
                    <a:avLst/>
                    <a:gdLst>
                      <a:gd name="T0" fmla="*/ 0 w 90"/>
                      <a:gd name="T1" fmla="*/ 0 h 75"/>
                      <a:gd name="T2" fmla="*/ 90 w 90"/>
                      <a:gd name="T3" fmla="*/ 75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90" h="75">
                        <a:moveTo>
                          <a:pt x="0" y="0"/>
                        </a:moveTo>
                        <a:lnTo>
                          <a:pt x="90" y="75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42" name="Freeform 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40" y="1876"/>
                    <a:ext cx="315" cy="1"/>
                  </a:xfrm>
                  <a:custGeom>
                    <a:avLst/>
                    <a:gdLst>
                      <a:gd name="T0" fmla="*/ 0 w 315"/>
                      <a:gd name="T1" fmla="*/ 0 h 1"/>
                      <a:gd name="T2" fmla="*/ 315 w 315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15" h="1">
                        <a:moveTo>
                          <a:pt x="0" y="0"/>
                        </a:moveTo>
                        <a:lnTo>
                          <a:pt x="315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313" name="Group 30"/>
                <p:cNvGrpSpPr>
                  <a:grpSpLocks noChangeAspect="1"/>
                </p:cNvGrpSpPr>
                <p:nvPr/>
              </p:nvGrpSpPr>
              <p:grpSpPr bwMode="auto">
                <a:xfrm>
                  <a:off x="3072" y="674"/>
                  <a:ext cx="780" cy="1496"/>
                  <a:chOff x="3072" y="674"/>
                  <a:chExt cx="780" cy="1496"/>
                </a:xfrm>
              </p:grpSpPr>
              <p:sp>
                <p:nvSpPr>
                  <p:cNvPr id="314" name="Line 31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3651" y="1369"/>
                    <a:ext cx="121" cy="121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15" name="Line 32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3558" y="674"/>
                    <a:ext cx="192" cy="19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16" name="Line 33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3414" y="674"/>
                    <a:ext cx="192" cy="19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17" name="Freeform 3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14" y="682"/>
                    <a:ext cx="32" cy="40"/>
                  </a:xfrm>
                  <a:custGeom>
                    <a:avLst/>
                    <a:gdLst>
                      <a:gd name="T0" fmla="*/ 0 w 32"/>
                      <a:gd name="T1" fmla="*/ 40 h 40"/>
                      <a:gd name="T2" fmla="*/ 32 w 32"/>
                      <a:gd name="T3" fmla="*/ 0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2" h="40">
                        <a:moveTo>
                          <a:pt x="0" y="40"/>
                        </a:moveTo>
                        <a:lnTo>
                          <a:pt x="32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18" name="Line 35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3651" y="938"/>
                    <a:ext cx="120" cy="12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19" name="Line 36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3651" y="1058"/>
                    <a:ext cx="135" cy="135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20" name="Freeform 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58" y="797"/>
                    <a:ext cx="115" cy="115"/>
                  </a:xfrm>
                  <a:custGeom>
                    <a:avLst/>
                    <a:gdLst>
                      <a:gd name="T0" fmla="*/ 0 w 115"/>
                      <a:gd name="T1" fmla="*/ 115 h 115"/>
                      <a:gd name="T2" fmla="*/ 115 w 115"/>
                      <a:gd name="T3" fmla="*/ 0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15" h="115">
                        <a:moveTo>
                          <a:pt x="0" y="115"/>
                        </a:moveTo>
                        <a:lnTo>
                          <a:pt x="11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21" name="Line 38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3651" y="1226"/>
                    <a:ext cx="120" cy="12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22" name="Line 39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3654" y="1442"/>
                    <a:ext cx="192" cy="19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23" name="Line 40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3654" y="1586"/>
                    <a:ext cx="192" cy="19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24" name="Line 41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3126" y="1973"/>
                    <a:ext cx="180" cy="18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25" name="Line 42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3657" y="1730"/>
                    <a:ext cx="194" cy="194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26" name="Line 43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3414" y="1965"/>
                    <a:ext cx="192" cy="19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27" name="Freeform 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67" y="1965"/>
                    <a:ext cx="195" cy="195"/>
                  </a:xfrm>
                  <a:custGeom>
                    <a:avLst/>
                    <a:gdLst>
                      <a:gd name="T0" fmla="*/ 195 w 195"/>
                      <a:gd name="T1" fmla="*/ 0 h 195"/>
                      <a:gd name="T2" fmla="*/ 0 w 195"/>
                      <a:gd name="T3" fmla="*/ 195 h 1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95" h="195">
                        <a:moveTo>
                          <a:pt x="195" y="0"/>
                        </a:moveTo>
                        <a:lnTo>
                          <a:pt x="0" y="195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28" name="Freeform 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2" y="1959"/>
                    <a:ext cx="105" cy="96"/>
                  </a:xfrm>
                  <a:custGeom>
                    <a:avLst/>
                    <a:gdLst>
                      <a:gd name="T0" fmla="*/ 0 w 105"/>
                      <a:gd name="T1" fmla="*/ 96 h 96"/>
                      <a:gd name="T2" fmla="*/ 105 w 105"/>
                      <a:gd name="T3" fmla="*/ 0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05" h="96">
                        <a:moveTo>
                          <a:pt x="0" y="96"/>
                        </a:moveTo>
                        <a:lnTo>
                          <a:pt x="10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29" name="Freeform 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2" y="1883"/>
                    <a:ext cx="284" cy="287"/>
                  </a:xfrm>
                  <a:custGeom>
                    <a:avLst/>
                    <a:gdLst>
                      <a:gd name="T0" fmla="*/ 0 w 284"/>
                      <a:gd name="T1" fmla="*/ 287 h 287"/>
                      <a:gd name="T2" fmla="*/ 284 w 284"/>
                      <a:gd name="T3" fmla="*/ 0 h 2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84" h="287">
                        <a:moveTo>
                          <a:pt x="0" y="287"/>
                        </a:moveTo>
                        <a:lnTo>
                          <a:pt x="284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30" name="Freeform 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17" y="2025"/>
                    <a:ext cx="135" cy="135"/>
                  </a:xfrm>
                  <a:custGeom>
                    <a:avLst/>
                    <a:gdLst>
                      <a:gd name="T0" fmla="*/ 0 w 135"/>
                      <a:gd name="T1" fmla="*/ 135 h 135"/>
                      <a:gd name="T2" fmla="*/ 135 w 135"/>
                      <a:gd name="T3" fmla="*/ 0 h 1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35" h="135">
                        <a:moveTo>
                          <a:pt x="0" y="135"/>
                        </a:moveTo>
                        <a:lnTo>
                          <a:pt x="13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74" name="Group 48"/>
              <p:cNvGrpSpPr>
                <a:grpSpLocks noChangeAspect="1"/>
              </p:cNvGrpSpPr>
              <p:nvPr/>
            </p:nvGrpSpPr>
            <p:grpSpPr bwMode="auto">
              <a:xfrm>
                <a:off x="3786" y="938"/>
                <a:ext cx="582" cy="219"/>
                <a:chOff x="1473" y="1625"/>
                <a:chExt cx="582" cy="192"/>
              </a:xfrm>
            </p:grpSpPr>
            <p:sp>
              <p:nvSpPr>
                <p:cNvPr id="310" name="Freeform 49"/>
                <p:cNvSpPr>
                  <a:spLocks noChangeAspect="1" noChangeArrowheads="1"/>
                </p:cNvSpPr>
                <p:nvPr/>
              </p:nvSpPr>
              <p:spPr bwMode="auto">
                <a:xfrm>
                  <a:off x="1473" y="1721"/>
                  <a:ext cx="582" cy="1"/>
                </a:xfrm>
                <a:custGeom>
                  <a:avLst/>
                  <a:gdLst>
                    <a:gd name="T0" fmla="*/ 0 w 582"/>
                    <a:gd name="T1" fmla="*/ 0 h 1"/>
                    <a:gd name="T2" fmla="*/ 582 w 582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582" h="1">
                      <a:moveTo>
                        <a:pt x="0" y="0"/>
                      </a:moveTo>
                      <a:lnTo>
                        <a:pt x="582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11" name="Oval 50"/>
                <p:cNvSpPr>
                  <a:spLocks noChangeAspect="1" noChangeArrowheads="1"/>
                </p:cNvSpPr>
                <p:nvPr/>
              </p:nvSpPr>
              <p:spPr bwMode="auto">
                <a:xfrm>
                  <a:off x="1617" y="1625"/>
                  <a:ext cx="240" cy="19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275" name="Group 51"/>
              <p:cNvGrpSpPr>
                <a:grpSpLocks noChangeAspect="1"/>
              </p:cNvGrpSpPr>
              <p:nvPr/>
            </p:nvGrpSpPr>
            <p:grpSpPr bwMode="auto">
              <a:xfrm>
                <a:off x="4054" y="635"/>
                <a:ext cx="1005" cy="1570"/>
                <a:chOff x="4054" y="635"/>
                <a:chExt cx="1005" cy="1570"/>
              </a:xfrm>
            </p:grpSpPr>
            <p:sp>
              <p:nvSpPr>
                <p:cNvPr id="276" name="Freeform 52"/>
                <p:cNvSpPr>
                  <a:spLocks noChangeAspect="1" noChangeArrowheads="1"/>
                </p:cNvSpPr>
                <p:nvPr/>
              </p:nvSpPr>
              <p:spPr bwMode="auto">
                <a:xfrm>
                  <a:off x="4558" y="635"/>
                  <a:ext cx="1" cy="300"/>
                </a:xfrm>
                <a:custGeom>
                  <a:avLst/>
                  <a:gdLst>
                    <a:gd name="T0" fmla="*/ 0 w 1"/>
                    <a:gd name="T1" fmla="*/ 0 h 300"/>
                    <a:gd name="T2" fmla="*/ 0 w 1"/>
                    <a:gd name="T3" fmla="*/ 300 h 3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300">
                      <a:moveTo>
                        <a:pt x="0" y="0"/>
                      </a:moveTo>
                      <a:lnTo>
                        <a:pt x="0" y="30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77" name="Freeform 53"/>
                <p:cNvSpPr>
                  <a:spLocks noChangeAspect="1" noChangeArrowheads="1"/>
                </p:cNvSpPr>
                <p:nvPr/>
              </p:nvSpPr>
              <p:spPr bwMode="auto">
                <a:xfrm>
                  <a:off x="4903" y="1890"/>
                  <a:ext cx="1" cy="315"/>
                </a:xfrm>
                <a:custGeom>
                  <a:avLst/>
                  <a:gdLst>
                    <a:gd name="T0" fmla="*/ 0 w 1"/>
                    <a:gd name="T1" fmla="*/ 0 h 315"/>
                    <a:gd name="T2" fmla="*/ 0 w 1"/>
                    <a:gd name="T3" fmla="*/ 315 h 3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315">
                      <a:moveTo>
                        <a:pt x="0" y="0"/>
                      </a:moveTo>
                      <a:lnTo>
                        <a:pt x="0" y="315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grpSp>
              <p:nvGrpSpPr>
                <p:cNvPr id="278" name="Group 54"/>
                <p:cNvGrpSpPr>
                  <a:grpSpLocks noChangeAspect="1"/>
                </p:cNvGrpSpPr>
                <p:nvPr/>
              </p:nvGrpSpPr>
              <p:grpSpPr bwMode="auto">
                <a:xfrm>
                  <a:off x="4054" y="674"/>
                  <a:ext cx="1005" cy="1501"/>
                  <a:chOff x="4054" y="674"/>
                  <a:chExt cx="1005" cy="1501"/>
                </a:xfrm>
              </p:grpSpPr>
              <p:sp>
                <p:nvSpPr>
                  <p:cNvPr id="298" name="Freeform 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61" y="2170"/>
                    <a:ext cx="998" cy="1"/>
                  </a:xfrm>
                  <a:custGeom>
                    <a:avLst/>
                    <a:gdLst>
                      <a:gd name="T0" fmla="*/ 998 w 998"/>
                      <a:gd name="T1" fmla="*/ 0 h 1"/>
                      <a:gd name="T2" fmla="*/ 0 w 998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998" h="1">
                        <a:moveTo>
                          <a:pt x="998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99" name="Freeform 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60" y="1965"/>
                    <a:ext cx="585" cy="1"/>
                  </a:xfrm>
                  <a:custGeom>
                    <a:avLst/>
                    <a:gdLst>
                      <a:gd name="T0" fmla="*/ 585 w 585"/>
                      <a:gd name="T1" fmla="*/ 0 h 1"/>
                      <a:gd name="T2" fmla="*/ 0 w 585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585" h="1">
                        <a:moveTo>
                          <a:pt x="585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0" name="Freeform 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60" y="869"/>
                    <a:ext cx="248" cy="6"/>
                  </a:xfrm>
                  <a:custGeom>
                    <a:avLst/>
                    <a:gdLst>
                      <a:gd name="T0" fmla="*/ 248 w 248"/>
                      <a:gd name="T1" fmla="*/ 6 h 6"/>
                      <a:gd name="T2" fmla="*/ 0 w 248"/>
                      <a:gd name="T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48" h="6">
                        <a:moveTo>
                          <a:pt x="248" y="6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1" name="Freeform 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00" y="674"/>
                    <a:ext cx="1" cy="195"/>
                  </a:xfrm>
                  <a:custGeom>
                    <a:avLst/>
                    <a:gdLst>
                      <a:gd name="T0" fmla="*/ 0 w 1"/>
                      <a:gd name="T1" fmla="*/ 195 h 195"/>
                      <a:gd name="T2" fmla="*/ 0 w 1"/>
                      <a:gd name="T3" fmla="*/ 0 h 1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195">
                        <a:moveTo>
                          <a:pt x="0" y="195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2" name="Freeform 59"/>
                  <p:cNvSpPr>
                    <a:spLocks noChangeAspect="1" noChangeArrowheads="1"/>
                  </p:cNvSpPr>
                  <p:nvPr/>
                </p:nvSpPr>
                <p:spPr bwMode="auto">
                  <a:xfrm flipH="1">
                    <a:off x="4054" y="680"/>
                    <a:ext cx="660" cy="1"/>
                  </a:xfrm>
                  <a:custGeom>
                    <a:avLst/>
                    <a:gdLst>
                      <a:gd name="T0" fmla="*/ 0 w 660"/>
                      <a:gd name="T1" fmla="*/ 0 h 1"/>
                      <a:gd name="T2" fmla="*/ 660 w 660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660" h="1">
                        <a:moveTo>
                          <a:pt x="0" y="0"/>
                        </a:moveTo>
                        <a:lnTo>
                          <a:pt x="66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3" name="Freeform 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60" y="869"/>
                    <a:ext cx="1" cy="1096"/>
                  </a:xfrm>
                  <a:custGeom>
                    <a:avLst/>
                    <a:gdLst>
                      <a:gd name="T0" fmla="*/ 0 w 1"/>
                      <a:gd name="T1" fmla="*/ 1096 h 1096"/>
                      <a:gd name="T2" fmla="*/ 0 w 1"/>
                      <a:gd name="T3" fmla="*/ 0 h 10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1096">
                        <a:moveTo>
                          <a:pt x="0" y="1096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4" name="Freeform 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45" y="1965"/>
                    <a:ext cx="1" cy="210"/>
                  </a:xfrm>
                  <a:custGeom>
                    <a:avLst/>
                    <a:gdLst>
                      <a:gd name="T0" fmla="*/ 0 w 1"/>
                      <a:gd name="T1" fmla="*/ 0 h 210"/>
                      <a:gd name="T2" fmla="*/ 0 w 1"/>
                      <a:gd name="T3" fmla="*/ 21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210">
                        <a:moveTo>
                          <a:pt x="0" y="0"/>
                        </a:moveTo>
                        <a:lnTo>
                          <a:pt x="0" y="21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5" name="Line 62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4333" y="674"/>
                    <a:ext cx="0" cy="672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06" name="Freeform 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54" y="1350"/>
                    <a:ext cx="286" cy="1"/>
                  </a:xfrm>
                  <a:custGeom>
                    <a:avLst/>
                    <a:gdLst>
                      <a:gd name="T0" fmla="*/ 0 w 286"/>
                      <a:gd name="T1" fmla="*/ 0 h 1"/>
                      <a:gd name="T2" fmla="*/ 286 w 286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86" h="1">
                        <a:moveTo>
                          <a:pt x="0" y="0"/>
                        </a:moveTo>
                        <a:lnTo>
                          <a:pt x="28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7" name="Freeform 6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65" y="1410"/>
                    <a:ext cx="1" cy="750"/>
                  </a:xfrm>
                  <a:custGeom>
                    <a:avLst/>
                    <a:gdLst>
                      <a:gd name="T0" fmla="*/ 0 w 1"/>
                      <a:gd name="T1" fmla="*/ 750 h 750"/>
                      <a:gd name="T2" fmla="*/ 0 w 1"/>
                      <a:gd name="T3" fmla="*/ 0 h 7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750">
                        <a:moveTo>
                          <a:pt x="0" y="75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8" name="Freeform 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65" y="1350"/>
                    <a:ext cx="60" cy="60"/>
                  </a:xfrm>
                  <a:custGeom>
                    <a:avLst/>
                    <a:gdLst>
                      <a:gd name="T0" fmla="*/ 60 w 60"/>
                      <a:gd name="T1" fmla="*/ 0 h 60"/>
                      <a:gd name="T2" fmla="*/ 0 w 60"/>
                      <a:gd name="T3" fmla="*/ 6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60" h="60">
                        <a:moveTo>
                          <a:pt x="60" y="0"/>
                        </a:moveTo>
                        <a:lnTo>
                          <a:pt x="0" y="6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9" name="Freeform 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54" y="1410"/>
                    <a:ext cx="211" cy="1"/>
                  </a:xfrm>
                  <a:custGeom>
                    <a:avLst/>
                    <a:gdLst>
                      <a:gd name="T0" fmla="*/ 211 w 211"/>
                      <a:gd name="T1" fmla="*/ 0 h 1"/>
                      <a:gd name="T2" fmla="*/ 0 w 211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11" h="1">
                        <a:moveTo>
                          <a:pt x="211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279" name="Group 67"/>
                <p:cNvGrpSpPr>
                  <a:grpSpLocks noChangeAspect="1"/>
                </p:cNvGrpSpPr>
                <p:nvPr/>
              </p:nvGrpSpPr>
              <p:grpSpPr bwMode="auto">
                <a:xfrm>
                  <a:off x="4256" y="666"/>
                  <a:ext cx="782" cy="1504"/>
                  <a:chOff x="4256" y="666"/>
                  <a:chExt cx="782" cy="1504"/>
                </a:xfrm>
              </p:grpSpPr>
              <p:sp>
                <p:nvSpPr>
                  <p:cNvPr id="280" name="Line 68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4265" y="1316"/>
                    <a:ext cx="195" cy="195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81" name="Line 69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4265" y="1454"/>
                    <a:ext cx="195" cy="195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82" name="Freeform 7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58" y="1590"/>
                    <a:ext cx="195" cy="195"/>
                  </a:xfrm>
                  <a:custGeom>
                    <a:avLst/>
                    <a:gdLst>
                      <a:gd name="T0" fmla="*/ 0 w 195"/>
                      <a:gd name="T1" fmla="*/ 195 h 195"/>
                      <a:gd name="T2" fmla="*/ 195 w 195"/>
                      <a:gd name="T3" fmla="*/ 0 h 1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95" h="195">
                        <a:moveTo>
                          <a:pt x="0" y="195"/>
                        </a:moveTo>
                        <a:lnTo>
                          <a:pt x="19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83" name="Line 71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4256" y="1730"/>
                    <a:ext cx="195" cy="195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84" name="Line 72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4256" y="1877"/>
                    <a:ext cx="195" cy="195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85" name="Freeform 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01" y="1968"/>
                    <a:ext cx="201" cy="198"/>
                  </a:xfrm>
                  <a:custGeom>
                    <a:avLst/>
                    <a:gdLst>
                      <a:gd name="T0" fmla="*/ 0 w 201"/>
                      <a:gd name="T1" fmla="*/ 198 h 198"/>
                      <a:gd name="T2" fmla="*/ 201 w 201"/>
                      <a:gd name="T3" fmla="*/ 0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01" h="198">
                        <a:moveTo>
                          <a:pt x="0" y="198"/>
                        </a:moveTo>
                        <a:lnTo>
                          <a:pt x="201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86" name="Freeform 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26" y="1968"/>
                    <a:ext cx="201" cy="202"/>
                  </a:xfrm>
                  <a:custGeom>
                    <a:avLst/>
                    <a:gdLst>
                      <a:gd name="T0" fmla="*/ 0 w 201"/>
                      <a:gd name="T1" fmla="*/ 202 h 202"/>
                      <a:gd name="T2" fmla="*/ 201 w 201"/>
                      <a:gd name="T3" fmla="*/ 0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01" h="202">
                        <a:moveTo>
                          <a:pt x="0" y="202"/>
                        </a:moveTo>
                        <a:lnTo>
                          <a:pt x="201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87" name="Freeform 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60" y="1958"/>
                    <a:ext cx="202" cy="202"/>
                  </a:xfrm>
                  <a:custGeom>
                    <a:avLst/>
                    <a:gdLst>
                      <a:gd name="T0" fmla="*/ 0 w 202"/>
                      <a:gd name="T1" fmla="*/ 202 h 202"/>
                      <a:gd name="T2" fmla="*/ 202 w 202"/>
                      <a:gd name="T3" fmla="*/ 0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02" h="202">
                        <a:moveTo>
                          <a:pt x="0" y="202"/>
                        </a:moveTo>
                        <a:lnTo>
                          <a:pt x="202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88" name="Freeform 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90" y="1962"/>
                    <a:ext cx="195" cy="195"/>
                  </a:xfrm>
                  <a:custGeom>
                    <a:avLst/>
                    <a:gdLst>
                      <a:gd name="T0" fmla="*/ 0 w 195"/>
                      <a:gd name="T1" fmla="*/ 195 h 195"/>
                      <a:gd name="T2" fmla="*/ 195 w 195"/>
                      <a:gd name="T3" fmla="*/ 0 h 1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95" h="195">
                        <a:moveTo>
                          <a:pt x="0" y="195"/>
                        </a:moveTo>
                        <a:lnTo>
                          <a:pt x="19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89" name="Freeform 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19" y="1958"/>
                    <a:ext cx="202" cy="202"/>
                  </a:xfrm>
                  <a:custGeom>
                    <a:avLst/>
                    <a:gdLst>
                      <a:gd name="T0" fmla="*/ 0 w 202"/>
                      <a:gd name="T1" fmla="*/ 202 h 202"/>
                      <a:gd name="T2" fmla="*/ 202 w 202"/>
                      <a:gd name="T3" fmla="*/ 0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02" h="202">
                        <a:moveTo>
                          <a:pt x="0" y="202"/>
                        </a:moveTo>
                        <a:lnTo>
                          <a:pt x="202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90" name="Freeform 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49" y="2070"/>
                    <a:ext cx="89" cy="91"/>
                  </a:xfrm>
                  <a:custGeom>
                    <a:avLst/>
                    <a:gdLst>
                      <a:gd name="T0" fmla="*/ 0 w 89"/>
                      <a:gd name="T1" fmla="*/ 91 h 91"/>
                      <a:gd name="T2" fmla="*/ 89 w 89"/>
                      <a:gd name="T3" fmla="*/ 0 h 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89" h="91">
                        <a:moveTo>
                          <a:pt x="0" y="91"/>
                        </a:moveTo>
                        <a:lnTo>
                          <a:pt x="89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91" name="Freeform 7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33" y="1184"/>
                    <a:ext cx="120" cy="117"/>
                  </a:xfrm>
                  <a:custGeom>
                    <a:avLst/>
                    <a:gdLst>
                      <a:gd name="T0" fmla="*/ 0 w 120"/>
                      <a:gd name="T1" fmla="*/ 117 h 117"/>
                      <a:gd name="T2" fmla="*/ 120 w 120"/>
                      <a:gd name="T3" fmla="*/ 0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20" h="117">
                        <a:moveTo>
                          <a:pt x="0" y="117"/>
                        </a:moveTo>
                        <a:lnTo>
                          <a:pt x="120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92" name="Freeform 8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30" y="1037"/>
                    <a:ext cx="134" cy="134"/>
                  </a:xfrm>
                  <a:custGeom>
                    <a:avLst/>
                    <a:gdLst>
                      <a:gd name="T0" fmla="*/ 0 w 134"/>
                      <a:gd name="T1" fmla="*/ 134 h 134"/>
                      <a:gd name="T2" fmla="*/ 134 w 134"/>
                      <a:gd name="T3" fmla="*/ 0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34" h="134">
                        <a:moveTo>
                          <a:pt x="0" y="134"/>
                        </a:moveTo>
                        <a:lnTo>
                          <a:pt x="134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93" name="Freeform 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45" y="896"/>
                    <a:ext cx="120" cy="117"/>
                  </a:xfrm>
                  <a:custGeom>
                    <a:avLst/>
                    <a:gdLst>
                      <a:gd name="T0" fmla="*/ 0 w 120"/>
                      <a:gd name="T1" fmla="*/ 117 h 117"/>
                      <a:gd name="T2" fmla="*/ 120 w 120"/>
                      <a:gd name="T3" fmla="*/ 0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20" h="117">
                        <a:moveTo>
                          <a:pt x="0" y="117"/>
                        </a:moveTo>
                        <a:lnTo>
                          <a:pt x="120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94" name="Line 82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4325" y="680"/>
                    <a:ext cx="234" cy="234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95" name="Line 83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4325" y="666"/>
                    <a:ext cx="128" cy="128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96" name="Line 84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4496" y="670"/>
                    <a:ext cx="194" cy="194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97" name="Freeform 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18" y="797"/>
                    <a:ext cx="76" cy="72"/>
                  </a:xfrm>
                  <a:custGeom>
                    <a:avLst/>
                    <a:gdLst>
                      <a:gd name="T0" fmla="*/ 0 w 76"/>
                      <a:gd name="T1" fmla="*/ 72 h 72"/>
                      <a:gd name="T2" fmla="*/ 76 w 76"/>
                      <a:gd name="T3" fmla="*/ 0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76" h="72">
                        <a:moveTo>
                          <a:pt x="0" y="72"/>
                        </a:moveTo>
                        <a:lnTo>
                          <a:pt x="76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</p:grpSp>
        </p:grpSp>
      </p:grpSp>
      <p:grpSp>
        <p:nvGrpSpPr>
          <p:cNvPr id="343" name="Group 86"/>
          <p:cNvGrpSpPr>
            <a:grpSpLocks/>
          </p:cNvGrpSpPr>
          <p:nvPr/>
        </p:nvGrpSpPr>
        <p:grpSpPr bwMode="auto">
          <a:xfrm>
            <a:off x="4177434" y="993775"/>
            <a:ext cx="2544763" cy="2266950"/>
            <a:chOff x="670" y="641"/>
            <a:chExt cx="1603" cy="1428"/>
          </a:xfrm>
        </p:grpSpPr>
        <p:grpSp>
          <p:nvGrpSpPr>
            <p:cNvPr id="344" name="Group 87"/>
            <p:cNvGrpSpPr>
              <a:grpSpLocks noChangeAspect="1"/>
            </p:cNvGrpSpPr>
            <p:nvPr/>
          </p:nvGrpSpPr>
          <p:grpSpPr bwMode="auto">
            <a:xfrm>
              <a:off x="1265" y="641"/>
              <a:ext cx="465" cy="1428"/>
              <a:chOff x="1473" y="520"/>
              <a:chExt cx="582" cy="1786"/>
            </a:xfrm>
          </p:grpSpPr>
          <p:sp>
            <p:nvSpPr>
              <p:cNvPr id="387" name="Freeform 88"/>
              <p:cNvSpPr>
                <a:spLocks noChangeAspect="1" noChangeArrowheads="1"/>
              </p:cNvSpPr>
              <p:nvPr/>
            </p:nvSpPr>
            <p:spPr bwMode="auto">
              <a:xfrm>
                <a:off x="1740" y="520"/>
                <a:ext cx="1" cy="1786"/>
              </a:xfrm>
              <a:custGeom>
                <a:avLst/>
                <a:gdLst>
                  <a:gd name="T0" fmla="*/ 0 w 1"/>
                  <a:gd name="T1" fmla="*/ 0 h 1786"/>
                  <a:gd name="T2" fmla="*/ 0 w 1"/>
                  <a:gd name="T3" fmla="*/ 1786 h 1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786">
                    <a:moveTo>
                      <a:pt x="0" y="0"/>
                    </a:moveTo>
                    <a:lnTo>
                      <a:pt x="0" y="1786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388" name="Group 89"/>
              <p:cNvGrpSpPr>
                <a:grpSpLocks noChangeAspect="1"/>
              </p:cNvGrpSpPr>
              <p:nvPr/>
            </p:nvGrpSpPr>
            <p:grpSpPr bwMode="auto">
              <a:xfrm>
                <a:off x="1473" y="938"/>
                <a:ext cx="582" cy="216"/>
                <a:chOff x="1473" y="1625"/>
                <a:chExt cx="582" cy="192"/>
              </a:xfrm>
            </p:grpSpPr>
            <p:sp>
              <p:nvSpPr>
                <p:cNvPr id="389" name="Freeform 90"/>
                <p:cNvSpPr>
                  <a:spLocks noChangeAspect="1" noChangeArrowheads="1"/>
                </p:cNvSpPr>
                <p:nvPr/>
              </p:nvSpPr>
              <p:spPr bwMode="auto">
                <a:xfrm>
                  <a:off x="1473" y="1721"/>
                  <a:ext cx="582" cy="1"/>
                </a:xfrm>
                <a:custGeom>
                  <a:avLst/>
                  <a:gdLst>
                    <a:gd name="T0" fmla="*/ 0 w 582"/>
                    <a:gd name="T1" fmla="*/ 0 h 1"/>
                    <a:gd name="T2" fmla="*/ 582 w 582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582" h="1">
                      <a:moveTo>
                        <a:pt x="0" y="0"/>
                      </a:moveTo>
                      <a:lnTo>
                        <a:pt x="582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90" name="Oval 91"/>
                <p:cNvSpPr>
                  <a:spLocks noChangeAspect="1" noChangeArrowheads="1"/>
                </p:cNvSpPr>
                <p:nvPr/>
              </p:nvSpPr>
              <p:spPr bwMode="auto">
                <a:xfrm>
                  <a:off x="1617" y="1625"/>
                  <a:ext cx="240" cy="19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</p:grpSp>
        <p:grpSp>
          <p:nvGrpSpPr>
            <p:cNvPr id="345" name="Group 92"/>
            <p:cNvGrpSpPr>
              <a:grpSpLocks noChangeAspect="1"/>
            </p:cNvGrpSpPr>
            <p:nvPr/>
          </p:nvGrpSpPr>
          <p:grpSpPr bwMode="auto">
            <a:xfrm>
              <a:off x="1232" y="793"/>
              <a:ext cx="460" cy="1190"/>
              <a:chOff x="1440" y="672"/>
              <a:chExt cx="576" cy="1489"/>
            </a:xfrm>
          </p:grpSpPr>
          <p:sp>
            <p:nvSpPr>
              <p:cNvPr id="379" name="Line 93"/>
              <p:cNvSpPr>
                <a:spLocks noChangeAspect="1" noChangeShapeType="1"/>
              </p:cNvSpPr>
              <p:nvPr/>
            </p:nvSpPr>
            <p:spPr bwMode="auto">
              <a:xfrm>
                <a:off x="1440" y="672"/>
                <a:ext cx="0" cy="67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0" name="Line 94"/>
              <p:cNvSpPr>
                <a:spLocks noChangeAspect="1" noChangeShapeType="1"/>
              </p:cNvSpPr>
              <p:nvPr/>
            </p:nvSpPr>
            <p:spPr bwMode="auto">
              <a:xfrm>
                <a:off x="2016" y="672"/>
                <a:ext cx="0" cy="67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" name="Line 95"/>
              <p:cNvSpPr>
                <a:spLocks noChangeAspect="1" noChangeShapeType="1"/>
              </p:cNvSpPr>
              <p:nvPr/>
            </p:nvSpPr>
            <p:spPr bwMode="auto">
              <a:xfrm>
                <a:off x="1440" y="1344"/>
                <a:ext cx="576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" name="Freeform 96"/>
              <p:cNvSpPr>
                <a:spLocks noChangeAspect="1" noChangeArrowheads="1"/>
              </p:cNvSpPr>
              <p:nvPr/>
            </p:nvSpPr>
            <p:spPr bwMode="auto">
              <a:xfrm>
                <a:off x="1536" y="1392"/>
                <a:ext cx="399" cy="3"/>
              </a:xfrm>
              <a:custGeom>
                <a:avLst/>
                <a:gdLst>
                  <a:gd name="T0" fmla="*/ 0 w 399"/>
                  <a:gd name="T1" fmla="*/ 0 h 3"/>
                  <a:gd name="T2" fmla="*/ 399 w 399"/>
                  <a:gd name="T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99" h="3">
                    <a:moveTo>
                      <a:pt x="0" y="0"/>
                    </a:moveTo>
                    <a:lnTo>
                      <a:pt x="399" y="3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3" name="Line 97"/>
              <p:cNvSpPr>
                <a:spLocks noChangeAspect="1" noChangeShapeType="1"/>
              </p:cNvSpPr>
              <p:nvPr/>
            </p:nvSpPr>
            <p:spPr bwMode="auto">
              <a:xfrm>
                <a:off x="1536" y="1392"/>
                <a:ext cx="0" cy="7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4" name="Freeform 98"/>
              <p:cNvSpPr>
                <a:spLocks noChangeAspect="1" noChangeArrowheads="1"/>
              </p:cNvSpPr>
              <p:nvPr/>
            </p:nvSpPr>
            <p:spPr bwMode="auto">
              <a:xfrm>
                <a:off x="1935" y="1410"/>
                <a:ext cx="1" cy="751"/>
              </a:xfrm>
              <a:custGeom>
                <a:avLst/>
                <a:gdLst>
                  <a:gd name="T0" fmla="*/ 0 w 1"/>
                  <a:gd name="T1" fmla="*/ 0 h 751"/>
                  <a:gd name="T2" fmla="*/ 0 w 1"/>
                  <a:gd name="T3" fmla="*/ 751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751">
                    <a:moveTo>
                      <a:pt x="0" y="0"/>
                    </a:moveTo>
                    <a:lnTo>
                      <a:pt x="0" y="751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5" name="Line 99"/>
              <p:cNvSpPr>
                <a:spLocks noChangeAspect="1" noChangeShapeType="1"/>
              </p:cNvSpPr>
              <p:nvPr/>
            </p:nvSpPr>
            <p:spPr bwMode="auto">
              <a:xfrm>
                <a:off x="1440" y="1344"/>
                <a:ext cx="96" cy="55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" name="Line 100"/>
              <p:cNvSpPr>
                <a:spLocks noChangeAspect="1" noChangeShapeType="1"/>
              </p:cNvSpPr>
              <p:nvPr/>
            </p:nvSpPr>
            <p:spPr bwMode="auto">
              <a:xfrm flipH="1">
                <a:off x="1920" y="1344"/>
                <a:ext cx="96" cy="55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46" name="Group 101"/>
            <p:cNvGrpSpPr>
              <a:grpSpLocks noChangeAspect="1"/>
            </p:cNvGrpSpPr>
            <p:nvPr/>
          </p:nvGrpSpPr>
          <p:grpSpPr bwMode="auto">
            <a:xfrm>
              <a:off x="727" y="793"/>
              <a:ext cx="1449" cy="1191"/>
              <a:chOff x="823" y="672"/>
              <a:chExt cx="1810" cy="1488"/>
            </a:xfrm>
          </p:grpSpPr>
          <p:sp>
            <p:nvSpPr>
              <p:cNvPr id="371" name="Line 102"/>
              <p:cNvSpPr>
                <a:spLocks noChangeAspect="1" noChangeShapeType="1"/>
              </p:cNvSpPr>
              <p:nvPr/>
            </p:nvSpPr>
            <p:spPr bwMode="auto">
              <a:xfrm>
                <a:off x="823" y="1968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2" name="Line 103"/>
              <p:cNvSpPr>
                <a:spLocks noChangeAspect="1" noChangeShapeType="1"/>
              </p:cNvSpPr>
              <p:nvPr/>
            </p:nvSpPr>
            <p:spPr bwMode="auto">
              <a:xfrm>
                <a:off x="988" y="1968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3" name="Line 104"/>
              <p:cNvSpPr>
                <a:spLocks noChangeAspect="1" noChangeShapeType="1"/>
              </p:cNvSpPr>
              <p:nvPr/>
            </p:nvSpPr>
            <p:spPr bwMode="auto">
              <a:xfrm>
                <a:off x="2468" y="1968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4" name="Line 105"/>
              <p:cNvSpPr>
                <a:spLocks noChangeAspect="1" noChangeShapeType="1"/>
              </p:cNvSpPr>
              <p:nvPr/>
            </p:nvSpPr>
            <p:spPr bwMode="auto">
              <a:xfrm>
                <a:off x="2633" y="1968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5" name="Line 106"/>
              <p:cNvSpPr>
                <a:spLocks noChangeAspect="1" noChangeShapeType="1"/>
              </p:cNvSpPr>
              <p:nvPr/>
            </p:nvSpPr>
            <p:spPr bwMode="auto">
              <a:xfrm>
                <a:off x="1166" y="672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6" name="Line 107"/>
              <p:cNvSpPr>
                <a:spLocks noChangeAspect="1" noChangeShapeType="1"/>
              </p:cNvSpPr>
              <p:nvPr/>
            </p:nvSpPr>
            <p:spPr bwMode="auto">
              <a:xfrm>
                <a:off x="1296" y="672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7" name="Line 108"/>
              <p:cNvSpPr>
                <a:spLocks noChangeAspect="1" noChangeShapeType="1"/>
              </p:cNvSpPr>
              <p:nvPr/>
            </p:nvSpPr>
            <p:spPr bwMode="auto">
              <a:xfrm>
                <a:off x="2304" y="672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8" name="Line 109"/>
              <p:cNvSpPr>
                <a:spLocks noChangeAspect="1" noChangeShapeType="1"/>
              </p:cNvSpPr>
              <p:nvPr/>
            </p:nvSpPr>
            <p:spPr bwMode="auto">
              <a:xfrm>
                <a:off x="2160" y="672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47" name="Group 110"/>
            <p:cNvGrpSpPr>
              <a:grpSpLocks noChangeAspect="1"/>
            </p:cNvGrpSpPr>
            <p:nvPr/>
          </p:nvGrpSpPr>
          <p:grpSpPr bwMode="auto">
            <a:xfrm>
              <a:off x="1457" y="735"/>
              <a:ext cx="816" cy="1279"/>
              <a:chOff x="1713" y="614"/>
              <a:chExt cx="1020" cy="1598"/>
            </a:xfrm>
          </p:grpSpPr>
          <p:sp>
            <p:nvSpPr>
              <p:cNvPr id="360" name="Freeform 111"/>
              <p:cNvSpPr>
                <a:spLocks noChangeAspect="1" noChangeArrowheads="1"/>
              </p:cNvSpPr>
              <p:nvPr/>
            </p:nvSpPr>
            <p:spPr bwMode="auto">
              <a:xfrm>
                <a:off x="1734" y="2153"/>
                <a:ext cx="999" cy="3"/>
              </a:xfrm>
              <a:custGeom>
                <a:avLst/>
                <a:gdLst>
                  <a:gd name="T0" fmla="*/ 999 w 999"/>
                  <a:gd name="T1" fmla="*/ 3 h 3"/>
                  <a:gd name="T2" fmla="*/ 0 w 999"/>
                  <a:gd name="T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99" h="3">
                    <a:moveTo>
                      <a:pt x="999" y="3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1" name="Freeform 112"/>
              <p:cNvSpPr>
                <a:spLocks noChangeAspect="1" noChangeArrowheads="1"/>
              </p:cNvSpPr>
              <p:nvPr/>
            </p:nvSpPr>
            <p:spPr bwMode="auto">
              <a:xfrm>
                <a:off x="1734" y="1958"/>
                <a:ext cx="999" cy="3"/>
              </a:xfrm>
              <a:custGeom>
                <a:avLst/>
                <a:gdLst>
                  <a:gd name="T0" fmla="*/ 999 w 999"/>
                  <a:gd name="T1" fmla="*/ 3 h 3"/>
                  <a:gd name="T2" fmla="*/ 0 w 999"/>
                  <a:gd name="T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99" h="3">
                    <a:moveTo>
                      <a:pt x="999" y="3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2" name="Freeform 113"/>
              <p:cNvSpPr>
                <a:spLocks noChangeAspect="1" noChangeArrowheads="1"/>
              </p:cNvSpPr>
              <p:nvPr/>
            </p:nvSpPr>
            <p:spPr bwMode="auto">
              <a:xfrm>
                <a:off x="1950" y="865"/>
                <a:ext cx="438" cy="4"/>
              </a:xfrm>
              <a:custGeom>
                <a:avLst/>
                <a:gdLst>
                  <a:gd name="T0" fmla="*/ 438 w 438"/>
                  <a:gd name="T1" fmla="*/ 0 h 4"/>
                  <a:gd name="T2" fmla="*/ 0 w 438"/>
                  <a:gd name="T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38" h="4">
                    <a:moveTo>
                      <a:pt x="438" y="0"/>
                    </a:moveTo>
                    <a:lnTo>
                      <a:pt x="0" y="4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3" name="Freeform 114"/>
              <p:cNvSpPr>
                <a:spLocks noChangeAspect="1" noChangeArrowheads="1"/>
              </p:cNvSpPr>
              <p:nvPr/>
            </p:nvSpPr>
            <p:spPr bwMode="auto">
              <a:xfrm>
                <a:off x="2386" y="667"/>
                <a:ext cx="2" cy="213"/>
              </a:xfrm>
              <a:custGeom>
                <a:avLst/>
                <a:gdLst>
                  <a:gd name="T0" fmla="*/ 2 w 2"/>
                  <a:gd name="T1" fmla="*/ 213 h 213"/>
                  <a:gd name="T2" fmla="*/ 0 w 2"/>
                  <a:gd name="T3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" h="213">
                    <a:moveTo>
                      <a:pt x="2" y="213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4" name="Freeform 115"/>
              <p:cNvSpPr>
                <a:spLocks noChangeAspect="1" noChangeArrowheads="1"/>
              </p:cNvSpPr>
              <p:nvPr/>
            </p:nvSpPr>
            <p:spPr bwMode="auto">
              <a:xfrm>
                <a:off x="1740" y="674"/>
                <a:ext cx="645" cy="1"/>
              </a:xfrm>
              <a:custGeom>
                <a:avLst/>
                <a:gdLst>
                  <a:gd name="T0" fmla="*/ 645 w 645"/>
                  <a:gd name="T1" fmla="*/ 0 h 1"/>
                  <a:gd name="T2" fmla="*/ 0 w 645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45" h="1">
                    <a:moveTo>
                      <a:pt x="645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5" name="Freeform 116"/>
              <p:cNvSpPr>
                <a:spLocks noChangeAspect="1" noChangeArrowheads="1"/>
              </p:cNvSpPr>
              <p:nvPr/>
            </p:nvSpPr>
            <p:spPr bwMode="auto">
              <a:xfrm>
                <a:off x="2133" y="865"/>
                <a:ext cx="1" cy="1111"/>
              </a:xfrm>
              <a:custGeom>
                <a:avLst/>
                <a:gdLst>
                  <a:gd name="T0" fmla="*/ 0 w 1"/>
                  <a:gd name="T1" fmla="*/ 1111 h 1111"/>
                  <a:gd name="T2" fmla="*/ 0 w 1"/>
                  <a:gd name="T3" fmla="*/ 0 h 1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111">
                    <a:moveTo>
                      <a:pt x="0" y="1111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6" name="Arc 117"/>
              <p:cNvSpPr>
                <a:spLocks noChangeAspect="1" noChangeArrowheads="1"/>
              </p:cNvSpPr>
              <p:nvPr/>
            </p:nvSpPr>
            <p:spPr bwMode="auto">
              <a:xfrm flipV="1">
                <a:off x="1713" y="1058"/>
                <a:ext cx="240" cy="192"/>
              </a:xfrm>
              <a:custGeom>
                <a:avLst/>
                <a:gdLst>
                  <a:gd name="T0" fmla="*/ 1346 w 21600"/>
                  <a:gd name="T1" fmla="*/ 0 h 21558"/>
                  <a:gd name="T2" fmla="*/ 21600 w 21600"/>
                  <a:gd name="T3" fmla="*/ 21558 h 21558"/>
                  <a:gd name="T4" fmla="*/ 1346 w 21600"/>
                  <a:gd name="T5" fmla="*/ 0 h 21558"/>
                  <a:gd name="T6" fmla="*/ 21600 w 21600"/>
                  <a:gd name="T7" fmla="*/ 21558 h 21558"/>
                  <a:gd name="T8" fmla="*/ 0 w 21600"/>
                  <a:gd name="T9" fmla="*/ 21558 h 21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600" h="21558" fill="none">
                    <a:moveTo>
                      <a:pt x="1346" y="0"/>
                    </a:moveTo>
                    <a:cubicBezTo>
                      <a:pt x="12731" y="711"/>
                      <a:pt x="21600" y="10151"/>
                      <a:pt x="21600" y="21558"/>
                    </a:cubicBezTo>
                  </a:path>
                  <a:path w="21600" h="21558" stroke="0">
                    <a:moveTo>
                      <a:pt x="1346" y="0"/>
                    </a:moveTo>
                    <a:cubicBezTo>
                      <a:pt x="12731" y="711"/>
                      <a:pt x="21600" y="10151"/>
                      <a:pt x="21600" y="21558"/>
                    </a:cubicBezTo>
                    <a:lnTo>
                      <a:pt x="0" y="21558"/>
                    </a:lnTo>
                    <a:close/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7" name="Freeform 118"/>
              <p:cNvSpPr>
                <a:spLocks noChangeAspect="1" noChangeArrowheads="1"/>
              </p:cNvSpPr>
              <p:nvPr/>
            </p:nvSpPr>
            <p:spPr bwMode="auto">
              <a:xfrm>
                <a:off x="1950" y="869"/>
                <a:ext cx="1" cy="210"/>
              </a:xfrm>
              <a:custGeom>
                <a:avLst/>
                <a:gdLst>
                  <a:gd name="T0" fmla="*/ 0 w 1"/>
                  <a:gd name="T1" fmla="*/ 210 h 210"/>
                  <a:gd name="T2" fmla="*/ 0 w 1"/>
                  <a:gd name="T3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210">
                    <a:moveTo>
                      <a:pt x="0" y="21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8" name="Freeform 119"/>
              <p:cNvSpPr>
                <a:spLocks noChangeAspect="1" noChangeArrowheads="1"/>
              </p:cNvSpPr>
              <p:nvPr/>
            </p:nvSpPr>
            <p:spPr bwMode="auto">
              <a:xfrm>
                <a:off x="2718" y="1976"/>
                <a:ext cx="1" cy="180"/>
              </a:xfrm>
              <a:custGeom>
                <a:avLst/>
                <a:gdLst>
                  <a:gd name="T0" fmla="*/ 0 w 1"/>
                  <a:gd name="T1" fmla="*/ 0 h 180"/>
                  <a:gd name="T2" fmla="*/ 0 w 1"/>
                  <a:gd name="T3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80">
                    <a:moveTo>
                      <a:pt x="0" y="0"/>
                    </a:moveTo>
                    <a:lnTo>
                      <a:pt x="0" y="18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9" name="Freeform 120"/>
              <p:cNvSpPr>
                <a:spLocks noChangeAspect="1" noChangeArrowheads="1"/>
              </p:cNvSpPr>
              <p:nvPr/>
            </p:nvSpPr>
            <p:spPr bwMode="auto">
              <a:xfrm>
                <a:off x="2544" y="1897"/>
                <a:ext cx="1" cy="315"/>
              </a:xfrm>
              <a:custGeom>
                <a:avLst/>
                <a:gdLst>
                  <a:gd name="T0" fmla="*/ 0 w 1"/>
                  <a:gd name="T1" fmla="*/ 0 h 315"/>
                  <a:gd name="T2" fmla="*/ 0 w 1"/>
                  <a:gd name="T3" fmla="*/ 315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15">
                    <a:moveTo>
                      <a:pt x="0" y="0"/>
                    </a:moveTo>
                    <a:lnTo>
                      <a:pt x="0" y="315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0" name="Freeform 121"/>
              <p:cNvSpPr>
                <a:spLocks noChangeAspect="1" noChangeArrowheads="1"/>
              </p:cNvSpPr>
              <p:nvPr/>
            </p:nvSpPr>
            <p:spPr bwMode="auto">
              <a:xfrm>
                <a:off x="2235" y="614"/>
                <a:ext cx="1" cy="300"/>
              </a:xfrm>
              <a:custGeom>
                <a:avLst/>
                <a:gdLst>
                  <a:gd name="T0" fmla="*/ 0 w 1"/>
                  <a:gd name="T1" fmla="*/ 300 h 300"/>
                  <a:gd name="T2" fmla="*/ 0 w 1"/>
                  <a:gd name="T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00">
                    <a:moveTo>
                      <a:pt x="0" y="300"/>
                    </a:move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348" name="Group 122"/>
            <p:cNvGrpSpPr>
              <a:grpSpLocks noChangeAspect="1"/>
            </p:cNvGrpSpPr>
            <p:nvPr/>
          </p:nvGrpSpPr>
          <p:grpSpPr bwMode="auto">
            <a:xfrm>
              <a:off x="670" y="720"/>
              <a:ext cx="809" cy="1310"/>
              <a:chOff x="750" y="810"/>
              <a:chExt cx="1011" cy="1636"/>
            </a:xfrm>
          </p:grpSpPr>
          <p:sp>
            <p:nvSpPr>
              <p:cNvPr id="349" name="Freeform 123"/>
              <p:cNvSpPr>
                <a:spLocks noChangeAspect="1" noChangeArrowheads="1"/>
              </p:cNvSpPr>
              <p:nvPr/>
            </p:nvSpPr>
            <p:spPr bwMode="auto">
              <a:xfrm>
                <a:off x="900" y="2101"/>
                <a:ext cx="1" cy="345"/>
              </a:xfrm>
              <a:custGeom>
                <a:avLst/>
                <a:gdLst>
                  <a:gd name="T0" fmla="*/ 0 w 1"/>
                  <a:gd name="T1" fmla="*/ 0 h 345"/>
                  <a:gd name="T2" fmla="*/ 0 w 1"/>
                  <a:gd name="T3" fmla="*/ 345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45">
                    <a:moveTo>
                      <a:pt x="0" y="0"/>
                    </a:moveTo>
                    <a:lnTo>
                      <a:pt x="0" y="345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0" name="Freeform 124"/>
              <p:cNvSpPr>
                <a:spLocks noChangeAspect="1" noChangeArrowheads="1"/>
              </p:cNvSpPr>
              <p:nvPr/>
            </p:nvSpPr>
            <p:spPr bwMode="auto">
              <a:xfrm>
                <a:off x="750" y="2364"/>
                <a:ext cx="990" cy="3"/>
              </a:xfrm>
              <a:custGeom>
                <a:avLst/>
                <a:gdLst>
                  <a:gd name="T0" fmla="*/ 0 w 990"/>
                  <a:gd name="T1" fmla="*/ 3 h 3"/>
                  <a:gd name="T2" fmla="*/ 990 w 990"/>
                  <a:gd name="T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90" h="3">
                    <a:moveTo>
                      <a:pt x="0" y="3"/>
                    </a:moveTo>
                    <a:lnTo>
                      <a:pt x="99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1" name="Freeform 125"/>
              <p:cNvSpPr>
                <a:spLocks noChangeAspect="1" noChangeArrowheads="1"/>
              </p:cNvSpPr>
              <p:nvPr/>
            </p:nvSpPr>
            <p:spPr bwMode="auto">
              <a:xfrm>
                <a:off x="750" y="2169"/>
                <a:ext cx="990" cy="3"/>
              </a:xfrm>
              <a:custGeom>
                <a:avLst/>
                <a:gdLst>
                  <a:gd name="T0" fmla="*/ 0 w 990"/>
                  <a:gd name="T1" fmla="*/ 3 h 3"/>
                  <a:gd name="T2" fmla="*/ 990 w 990"/>
                  <a:gd name="T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90" h="3">
                    <a:moveTo>
                      <a:pt x="0" y="3"/>
                    </a:moveTo>
                    <a:lnTo>
                      <a:pt x="99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2" name="Freeform 126"/>
              <p:cNvSpPr>
                <a:spLocks noChangeAspect="1" noChangeArrowheads="1"/>
              </p:cNvSpPr>
              <p:nvPr/>
            </p:nvSpPr>
            <p:spPr bwMode="auto">
              <a:xfrm>
                <a:off x="1095" y="1080"/>
                <a:ext cx="420" cy="1"/>
              </a:xfrm>
              <a:custGeom>
                <a:avLst/>
                <a:gdLst>
                  <a:gd name="T0" fmla="*/ 0 w 420"/>
                  <a:gd name="T1" fmla="*/ 0 h 1"/>
                  <a:gd name="T2" fmla="*/ 225 w 420"/>
                  <a:gd name="T3" fmla="*/ 0 h 1"/>
                  <a:gd name="T4" fmla="*/ 420 w 420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0" h="1">
                    <a:moveTo>
                      <a:pt x="0" y="0"/>
                    </a:moveTo>
                    <a:lnTo>
                      <a:pt x="225" y="0"/>
                    </a:lnTo>
                    <a:lnTo>
                      <a:pt x="42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3" name="Freeform 127"/>
              <p:cNvSpPr>
                <a:spLocks noChangeAspect="1" noChangeArrowheads="1"/>
              </p:cNvSpPr>
              <p:nvPr/>
            </p:nvSpPr>
            <p:spPr bwMode="auto">
              <a:xfrm>
                <a:off x="1095" y="885"/>
                <a:ext cx="1" cy="195"/>
              </a:xfrm>
              <a:custGeom>
                <a:avLst/>
                <a:gdLst>
                  <a:gd name="T0" fmla="*/ 0 w 1"/>
                  <a:gd name="T1" fmla="*/ 195 h 195"/>
                  <a:gd name="T2" fmla="*/ 0 w 1"/>
                  <a:gd name="T3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95">
                    <a:moveTo>
                      <a:pt x="0" y="195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4" name="Freeform 128"/>
              <p:cNvSpPr>
                <a:spLocks noChangeAspect="1" noChangeArrowheads="1"/>
              </p:cNvSpPr>
              <p:nvPr/>
            </p:nvSpPr>
            <p:spPr bwMode="auto">
              <a:xfrm>
                <a:off x="1095" y="881"/>
                <a:ext cx="645" cy="4"/>
              </a:xfrm>
              <a:custGeom>
                <a:avLst/>
                <a:gdLst>
                  <a:gd name="T0" fmla="*/ 0 w 645"/>
                  <a:gd name="T1" fmla="*/ 4 h 4"/>
                  <a:gd name="T2" fmla="*/ 645 w 645"/>
                  <a:gd name="T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45" h="4">
                    <a:moveTo>
                      <a:pt x="0" y="4"/>
                    </a:moveTo>
                    <a:lnTo>
                      <a:pt x="64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5" name="Freeform 129"/>
              <p:cNvSpPr>
                <a:spLocks noChangeAspect="1" noChangeArrowheads="1"/>
              </p:cNvSpPr>
              <p:nvPr/>
            </p:nvSpPr>
            <p:spPr bwMode="auto">
              <a:xfrm>
                <a:off x="1335" y="1080"/>
                <a:ext cx="1" cy="1096"/>
              </a:xfrm>
              <a:custGeom>
                <a:avLst/>
                <a:gdLst>
                  <a:gd name="T0" fmla="*/ 0 w 1"/>
                  <a:gd name="T1" fmla="*/ 1096 h 1096"/>
                  <a:gd name="T2" fmla="*/ 0 w 1"/>
                  <a:gd name="T3" fmla="*/ 0 h 10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096">
                    <a:moveTo>
                      <a:pt x="0" y="1096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6" name="Arc 130"/>
              <p:cNvSpPr>
                <a:spLocks noChangeAspect="1" noChangeArrowheads="1"/>
              </p:cNvSpPr>
              <p:nvPr/>
            </p:nvSpPr>
            <p:spPr bwMode="auto">
              <a:xfrm flipH="1" flipV="1">
                <a:off x="1521" y="1269"/>
                <a:ext cx="240" cy="192"/>
              </a:xfrm>
              <a:custGeom>
                <a:avLst/>
                <a:gdLst>
                  <a:gd name="T0" fmla="*/ 1346 w 21600"/>
                  <a:gd name="T1" fmla="*/ 0 h 21558"/>
                  <a:gd name="T2" fmla="*/ 21600 w 21600"/>
                  <a:gd name="T3" fmla="*/ 21558 h 21558"/>
                  <a:gd name="T4" fmla="*/ 1346 w 21600"/>
                  <a:gd name="T5" fmla="*/ 0 h 21558"/>
                  <a:gd name="T6" fmla="*/ 21600 w 21600"/>
                  <a:gd name="T7" fmla="*/ 21558 h 21558"/>
                  <a:gd name="T8" fmla="*/ 0 w 21600"/>
                  <a:gd name="T9" fmla="*/ 21558 h 21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600" h="21558" fill="none">
                    <a:moveTo>
                      <a:pt x="1346" y="0"/>
                    </a:moveTo>
                    <a:cubicBezTo>
                      <a:pt x="12731" y="711"/>
                      <a:pt x="21600" y="10151"/>
                      <a:pt x="21600" y="21558"/>
                    </a:cubicBezTo>
                  </a:path>
                  <a:path w="21600" h="21558" stroke="0">
                    <a:moveTo>
                      <a:pt x="1346" y="0"/>
                    </a:moveTo>
                    <a:cubicBezTo>
                      <a:pt x="12731" y="711"/>
                      <a:pt x="21600" y="10151"/>
                      <a:pt x="21600" y="21558"/>
                    </a:cubicBezTo>
                    <a:lnTo>
                      <a:pt x="0" y="21558"/>
                    </a:lnTo>
                    <a:close/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7" name="Freeform 131"/>
              <p:cNvSpPr>
                <a:spLocks noChangeAspect="1" noChangeArrowheads="1"/>
              </p:cNvSpPr>
              <p:nvPr/>
            </p:nvSpPr>
            <p:spPr bwMode="auto">
              <a:xfrm>
                <a:off x="1515" y="1080"/>
                <a:ext cx="1" cy="210"/>
              </a:xfrm>
              <a:custGeom>
                <a:avLst/>
                <a:gdLst>
                  <a:gd name="T0" fmla="*/ 0 w 1"/>
                  <a:gd name="T1" fmla="*/ 210 h 210"/>
                  <a:gd name="T2" fmla="*/ 0 w 1"/>
                  <a:gd name="T3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210">
                    <a:moveTo>
                      <a:pt x="0" y="21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8" name="Line 132"/>
              <p:cNvSpPr>
                <a:spLocks noChangeAspect="1" noChangeShapeType="1"/>
              </p:cNvSpPr>
              <p:nvPr/>
            </p:nvSpPr>
            <p:spPr bwMode="auto">
              <a:xfrm>
                <a:off x="753" y="2174"/>
                <a:ext cx="0" cy="19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9" name="Freeform 133"/>
              <p:cNvSpPr>
                <a:spLocks noChangeAspect="1" noChangeArrowheads="1"/>
              </p:cNvSpPr>
              <p:nvPr/>
            </p:nvSpPr>
            <p:spPr bwMode="auto">
              <a:xfrm>
                <a:off x="1230" y="810"/>
                <a:ext cx="1" cy="345"/>
              </a:xfrm>
              <a:custGeom>
                <a:avLst/>
                <a:gdLst>
                  <a:gd name="T0" fmla="*/ 0 w 1"/>
                  <a:gd name="T1" fmla="*/ 345 h 345"/>
                  <a:gd name="T2" fmla="*/ 0 w 1"/>
                  <a:gd name="T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45">
                    <a:moveTo>
                      <a:pt x="0" y="345"/>
                    </a:move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grpSp>
        <p:nvGrpSpPr>
          <p:cNvPr id="391" name="Group 134"/>
          <p:cNvGrpSpPr>
            <a:grpSpLocks noChangeAspect="1"/>
          </p:cNvGrpSpPr>
          <p:nvPr/>
        </p:nvGrpSpPr>
        <p:grpSpPr bwMode="auto">
          <a:xfrm>
            <a:off x="4109172" y="3344862"/>
            <a:ext cx="2800350" cy="1695450"/>
            <a:chOff x="675" y="2265"/>
            <a:chExt cx="2205" cy="1335"/>
          </a:xfrm>
        </p:grpSpPr>
        <p:grpSp>
          <p:nvGrpSpPr>
            <p:cNvPr id="392" name="Group 135"/>
            <p:cNvGrpSpPr>
              <a:grpSpLocks noChangeAspect="1"/>
            </p:cNvGrpSpPr>
            <p:nvPr/>
          </p:nvGrpSpPr>
          <p:grpSpPr bwMode="auto">
            <a:xfrm>
              <a:off x="675" y="2265"/>
              <a:ext cx="2205" cy="1335"/>
              <a:chOff x="675" y="2265"/>
              <a:chExt cx="2205" cy="1335"/>
            </a:xfrm>
          </p:grpSpPr>
          <p:sp>
            <p:nvSpPr>
              <p:cNvPr id="397" name="AutoShape 136"/>
              <p:cNvSpPr>
                <a:spLocks noChangeAspect="1" noChangeArrowheads="1"/>
              </p:cNvSpPr>
              <p:nvPr/>
            </p:nvSpPr>
            <p:spPr bwMode="auto">
              <a:xfrm>
                <a:off x="756" y="2354"/>
                <a:ext cx="1965" cy="1152"/>
              </a:xfrm>
              <a:prstGeom prst="roundRect">
                <a:avLst>
                  <a:gd name="adj" fmla="val 13542"/>
                </a:avLst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8" name="AutoShape 137"/>
              <p:cNvSpPr>
                <a:spLocks noChangeAspect="1" noChangeArrowheads="1"/>
              </p:cNvSpPr>
              <p:nvPr/>
            </p:nvSpPr>
            <p:spPr bwMode="auto">
              <a:xfrm>
                <a:off x="1089" y="2494"/>
                <a:ext cx="1296" cy="872"/>
              </a:xfrm>
              <a:prstGeom prst="roundRect">
                <a:avLst>
                  <a:gd name="adj" fmla="val 16667"/>
                </a:avLst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399" name="Group 138"/>
              <p:cNvGrpSpPr>
                <a:grpSpLocks noChangeAspect="1"/>
              </p:cNvGrpSpPr>
              <p:nvPr/>
            </p:nvGrpSpPr>
            <p:grpSpPr bwMode="auto">
              <a:xfrm>
                <a:off x="675" y="2265"/>
                <a:ext cx="2205" cy="1335"/>
                <a:chOff x="675" y="2265"/>
                <a:chExt cx="2205" cy="1335"/>
              </a:xfrm>
            </p:grpSpPr>
            <p:sp>
              <p:nvSpPr>
                <p:cNvPr id="400" name="Freeform 139"/>
                <p:cNvSpPr>
                  <a:spLocks noChangeAspect="1" noChangeArrowheads="1"/>
                </p:cNvSpPr>
                <p:nvPr/>
              </p:nvSpPr>
              <p:spPr bwMode="auto">
                <a:xfrm>
                  <a:off x="675" y="2925"/>
                  <a:ext cx="2205" cy="1"/>
                </a:xfrm>
                <a:custGeom>
                  <a:avLst/>
                  <a:gdLst>
                    <a:gd name="T0" fmla="*/ 0 w 2205"/>
                    <a:gd name="T1" fmla="*/ 0 h 1"/>
                    <a:gd name="T2" fmla="*/ 2205 w 2205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2205" h="1">
                      <a:moveTo>
                        <a:pt x="0" y="0"/>
                      </a:moveTo>
                      <a:lnTo>
                        <a:pt x="2205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01" name="Freeform 140"/>
                <p:cNvSpPr>
                  <a:spLocks noChangeAspect="1" noChangeArrowheads="1"/>
                </p:cNvSpPr>
                <p:nvPr/>
              </p:nvSpPr>
              <p:spPr bwMode="auto">
                <a:xfrm>
                  <a:off x="1740" y="2265"/>
                  <a:ext cx="1" cy="1335"/>
                </a:xfrm>
                <a:custGeom>
                  <a:avLst/>
                  <a:gdLst>
                    <a:gd name="T0" fmla="*/ 0 w 1"/>
                    <a:gd name="T1" fmla="*/ 0 h 1335"/>
                    <a:gd name="T2" fmla="*/ 0 w 1"/>
                    <a:gd name="T3" fmla="*/ 1335 h 13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335">
                      <a:moveTo>
                        <a:pt x="0" y="0"/>
                      </a:moveTo>
                      <a:lnTo>
                        <a:pt x="0" y="1335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02" name="Oval 141"/>
                <p:cNvSpPr>
                  <a:spLocks noChangeAspect="1" noChangeArrowheads="1"/>
                </p:cNvSpPr>
                <p:nvPr/>
              </p:nvSpPr>
              <p:spPr bwMode="auto">
                <a:xfrm>
                  <a:off x="1329" y="2546"/>
                  <a:ext cx="816" cy="768"/>
                </a:xfrm>
                <a:prstGeom prst="ellipse">
                  <a:avLst/>
                </a:pr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03" name="Oval 142"/>
                <p:cNvSpPr>
                  <a:spLocks noChangeAspect="1" noChangeArrowheads="1"/>
                </p:cNvSpPr>
                <p:nvPr/>
              </p:nvSpPr>
              <p:spPr bwMode="auto">
                <a:xfrm>
                  <a:off x="1473" y="2690"/>
                  <a:ext cx="528" cy="480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04" name="Oval 143"/>
                <p:cNvSpPr>
                  <a:spLocks noChangeAspect="1" noChangeArrowheads="1"/>
                </p:cNvSpPr>
                <p:nvPr/>
              </p:nvSpPr>
              <p:spPr bwMode="auto">
                <a:xfrm>
                  <a:off x="1521" y="2738"/>
                  <a:ext cx="432" cy="384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05" name="Line 144"/>
                <p:cNvSpPr>
                  <a:spLocks noChangeAspect="1" noChangeShapeType="1"/>
                </p:cNvSpPr>
                <p:nvPr/>
              </p:nvSpPr>
              <p:spPr bwMode="auto">
                <a:xfrm>
                  <a:off x="1953" y="3266"/>
                  <a:ext cx="0" cy="9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6" name="Line 145"/>
                <p:cNvSpPr>
                  <a:spLocks noChangeAspect="1" noChangeShapeType="1"/>
                </p:cNvSpPr>
                <p:nvPr/>
              </p:nvSpPr>
              <p:spPr bwMode="auto">
                <a:xfrm>
                  <a:off x="1521" y="3266"/>
                  <a:ext cx="0" cy="9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7" name="Line 146"/>
                <p:cNvSpPr>
                  <a:spLocks noChangeAspect="1" noChangeShapeType="1"/>
                </p:cNvSpPr>
                <p:nvPr/>
              </p:nvSpPr>
              <p:spPr bwMode="auto">
                <a:xfrm>
                  <a:off x="1617" y="3170"/>
                  <a:ext cx="0" cy="19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8" name="Line 147"/>
                <p:cNvSpPr>
                  <a:spLocks noChangeAspect="1" noChangeShapeType="1"/>
                </p:cNvSpPr>
                <p:nvPr/>
              </p:nvSpPr>
              <p:spPr bwMode="auto">
                <a:xfrm>
                  <a:off x="1857" y="3170"/>
                  <a:ext cx="0" cy="19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409" name="Group 148"/>
                <p:cNvGrpSpPr>
                  <a:grpSpLocks noChangeAspect="1"/>
                </p:cNvGrpSpPr>
                <p:nvPr/>
              </p:nvGrpSpPr>
              <p:grpSpPr bwMode="auto">
                <a:xfrm>
                  <a:off x="777" y="3243"/>
                  <a:ext cx="282" cy="242"/>
                  <a:chOff x="3795" y="2688"/>
                  <a:chExt cx="285" cy="288"/>
                </a:xfrm>
              </p:grpSpPr>
              <p:sp>
                <p:nvSpPr>
                  <p:cNvPr id="438" name="Line 149"/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936" y="2688"/>
                    <a:ext cx="0" cy="288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9" name="Freeform 1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5" y="2833"/>
                    <a:ext cx="285" cy="3"/>
                  </a:xfrm>
                  <a:custGeom>
                    <a:avLst/>
                    <a:gdLst>
                      <a:gd name="T0" fmla="*/ 0 w 285"/>
                      <a:gd name="T1" fmla="*/ 3 h 3"/>
                      <a:gd name="T2" fmla="*/ 285 w 285"/>
                      <a:gd name="T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85" h="3">
                        <a:moveTo>
                          <a:pt x="0" y="3"/>
                        </a:moveTo>
                        <a:lnTo>
                          <a:pt x="28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40" name="Oval 151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40" y="2736"/>
                    <a:ext cx="192" cy="192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10" name="Group 152"/>
                <p:cNvGrpSpPr>
                  <a:grpSpLocks noChangeAspect="1"/>
                </p:cNvGrpSpPr>
                <p:nvPr/>
              </p:nvGrpSpPr>
              <p:grpSpPr bwMode="auto">
                <a:xfrm>
                  <a:off x="777" y="2381"/>
                  <a:ext cx="282" cy="261"/>
                  <a:chOff x="3795" y="2688"/>
                  <a:chExt cx="285" cy="288"/>
                </a:xfrm>
              </p:grpSpPr>
              <p:sp>
                <p:nvSpPr>
                  <p:cNvPr id="435" name="Line 153"/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936" y="2688"/>
                    <a:ext cx="0" cy="288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6" name="Freeform 15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5" y="2833"/>
                    <a:ext cx="285" cy="3"/>
                  </a:xfrm>
                  <a:custGeom>
                    <a:avLst/>
                    <a:gdLst>
                      <a:gd name="T0" fmla="*/ 0 w 285"/>
                      <a:gd name="T1" fmla="*/ 3 h 3"/>
                      <a:gd name="T2" fmla="*/ 285 w 285"/>
                      <a:gd name="T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85" h="3">
                        <a:moveTo>
                          <a:pt x="0" y="3"/>
                        </a:moveTo>
                        <a:lnTo>
                          <a:pt x="28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37" name="Oval 155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40" y="2736"/>
                    <a:ext cx="192" cy="192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11" name="Group 156"/>
                <p:cNvGrpSpPr>
                  <a:grpSpLocks noChangeAspect="1"/>
                </p:cNvGrpSpPr>
                <p:nvPr/>
              </p:nvGrpSpPr>
              <p:grpSpPr bwMode="auto">
                <a:xfrm>
                  <a:off x="2405" y="3222"/>
                  <a:ext cx="285" cy="263"/>
                  <a:chOff x="3795" y="2688"/>
                  <a:chExt cx="285" cy="288"/>
                </a:xfrm>
              </p:grpSpPr>
              <p:sp>
                <p:nvSpPr>
                  <p:cNvPr id="432" name="Line 157"/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936" y="2688"/>
                    <a:ext cx="0" cy="288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3" name="Freeform 1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5" y="2833"/>
                    <a:ext cx="285" cy="3"/>
                  </a:xfrm>
                  <a:custGeom>
                    <a:avLst/>
                    <a:gdLst>
                      <a:gd name="T0" fmla="*/ 0 w 285"/>
                      <a:gd name="T1" fmla="*/ 3 h 3"/>
                      <a:gd name="T2" fmla="*/ 285 w 285"/>
                      <a:gd name="T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85" h="3">
                        <a:moveTo>
                          <a:pt x="0" y="3"/>
                        </a:moveTo>
                        <a:lnTo>
                          <a:pt x="28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34" name="Oval 159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40" y="2736"/>
                    <a:ext cx="192" cy="192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12" name="Group 160"/>
                <p:cNvGrpSpPr>
                  <a:grpSpLocks noChangeAspect="1"/>
                </p:cNvGrpSpPr>
                <p:nvPr/>
              </p:nvGrpSpPr>
              <p:grpSpPr bwMode="auto">
                <a:xfrm>
                  <a:off x="2390" y="2381"/>
                  <a:ext cx="300" cy="255"/>
                  <a:chOff x="3795" y="2688"/>
                  <a:chExt cx="285" cy="288"/>
                </a:xfrm>
              </p:grpSpPr>
              <p:sp>
                <p:nvSpPr>
                  <p:cNvPr id="429" name="Line 161"/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936" y="2688"/>
                    <a:ext cx="0" cy="288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0" name="Freeform 1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5" y="2833"/>
                    <a:ext cx="285" cy="3"/>
                  </a:xfrm>
                  <a:custGeom>
                    <a:avLst/>
                    <a:gdLst>
                      <a:gd name="T0" fmla="*/ 0 w 285"/>
                      <a:gd name="T1" fmla="*/ 3 h 3"/>
                      <a:gd name="T2" fmla="*/ 285 w 285"/>
                      <a:gd name="T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85" h="3">
                        <a:moveTo>
                          <a:pt x="0" y="3"/>
                        </a:moveTo>
                        <a:lnTo>
                          <a:pt x="28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31" name="Oval 163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40" y="2736"/>
                    <a:ext cx="192" cy="192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13" name="Group 164"/>
                <p:cNvGrpSpPr>
                  <a:grpSpLocks noChangeAspect="1"/>
                </p:cNvGrpSpPr>
                <p:nvPr/>
              </p:nvGrpSpPr>
              <p:grpSpPr bwMode="auto">
                <a:xfrm>
                  <a:off x="1103" y="3108"/>
                  <a:ext cx="269" cy="242"/>
                  <a:chOff x="3825" y="2746"/>
                  <a:chExt cx="255" cy="255"/>
                </a:xfrm>
              </p:grpSpPr>
              <p:sp>
                <p:nvSpPr>
                  <p:cNvPr id="426" name="Freeform 1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60" y="2746"/>
                    <a:ext cx="1" cy="255"/>
                  </a:xfrm>
                  <a:custGeom>
                    <a:avLst/>
                    <a:gdLst>
                      <a:gd name="T0" fmla="*/ 0 w 1"/>
                      <a:gd name="T1" fmla="*/ 0 h 255"/>
                      <a:gd name="T2" fmla="*/ 0 w 1"/>
                      <a:gd name="T3" fmla="*/ 255 h 2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255">
                        <a:moveTo>
                          <a:pt x="0" y="0"/>
                        </a:moveTo>
                        <a:lnTo>
                          <a:pt x="0" y="255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27" name="Freeform 1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25" y="2851"/>
                    <a:ext cx="255" cy="1"/>
                  </a:xfrm>
                  <a:custGeom>
                    <a:avLst/>
                    <a:gdLst>
                      <a:gd name="T0" fmla="*/ 0 w 255"/>
                      <a:gd name="T1" fmla="*/ 0 h 1"/>
                      <a:gd name="T2" fmla="*/ 255 w 255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55" h="1">
                        <a:moveTo>
                          <a:pt x="0" y="0"/>
                        </a:moveTo>
                        <a:lnTo>
                          <a:pt x="25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28" name="Oval 167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88" y="2784"/>
                    <a:ext cx="144" cy="144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14" name="Group 168"/>
                <p:cNvGrpSpPr>
                  <a:grpSpLocks noChangeAspect="1"/>
                </p:cNvGrpSpPr>
                <p:nvPr/>
              </p:nvGrpSpPr>
              <p:grpSpPr bwMode="auto">
                <a:xfrm>
                  <a:off x="1117" y="2544"/>
                  <a:ext cx="255" cy="227"/>
                  <a:chOff x="3825" y="2746"/>
                  <a:chExt cx="255" cy="255"/>
                </a:xfrm>
              </p:grpSpPr>
              <p:sp>
                <p:nvSpPr>
                  <p:cNvPr id="423" name="Freeform 1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60" y="2746"/>
                    <a:ext cx="1" cy="255"/>
                  </a:xfrm>
                  <a:custGeom>
                    <a:avLst/>
                    <a:gdLst>
                      <a:gd name="T0" fmla="*/ 0 w 1"/>
                      <a:gd name="T1" fmla="*/ 0 h 255"/>
                      <a:gd name="T2" fmla="*/ 0 w 1"/>
                      <a:gd name="T3" fmla="*/ 255 h 2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255">
                        <a:moveTo>
                          <a:pt x="0" y="0"/>
                        </a:moveTo>
                        <a:lnTo>
                          <a:pt x="0" y="255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24" name="Freeform 17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25" y="2851"/>
                    <a:ext cx="255" cy="1"/>
                  </a:xfrm>
                  <a:custGeom>
                    <a:avLst/>
                    <a:gdLst>
                      <a:gd name="T0" fmla="*/ 0 w 255"/>
                      <a:gd name="T1" fmla="*/ 0 h 1"/>
                      <a:gd name="T2" fmla="*/ 255 w 255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55" h="1">
                        <a:moveTo>
                          <a:pt x="0" y="0"/>
                        </a:moveTo>
                        <a:lnTo>
                          <a:pt x="25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25" name="Oval 171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88" y="2784"/>
                    <a:ext cx="144" cy="144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15" name="Group 172"/>
                <p:cNvGrpSpPr>
                  <a:grpSpLocks noChangeAspect="1"/>
                </p:cNvGrpSpPr>
                <p:nvPr/>
              </p:nvGrpSpPr>
              <p:grpSpPr bwMode="auto">
                <a:xfrm>
                  <a:off x="2076" y="3122"/>
                  <a:ext cx="255" cy="242"/>
                  <a:chOff x="3825" y="2746"/>
                  <a:chExt cx="255" cy="255"/>
                </a:xfrm>
              </p:grpSpPr>
              <p:sp>
                <p:nvSpPr>
                  <p:cNvPr id="420" name="Freeform 1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60" y="2746"/>
                    <a:ext cx="1" cy="255"/>
                  </a:xfrm>
                  <a:custGeom>
                    <a:avLst/>
                    <a:gdLst>
                      <a:gd name="T0" fmla="*/ 0 w 1"/>
                      <a:gd name="T1" fmla="*/ 0 h 255"/>
                      <a:gd name="T2" fmla="*/ 0 w 1"/>
                      <a:gd name="T3" fmla="*/ 255 h 2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255">
                        <a:moveTo>
                          <a:pt x="0" y="0"/>
                        </a:moveTo>
                        <a:lnTo>
                          <a:pt x="0" y="255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21" name="Freeform 1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25" y="2851"/>
                    <a:ext cx="255" cy="1"/>
                  </a:xfrm>
                  <a:custGeom>
                    <a:avLst/>
                    <a:gdLst>
                      <a:gd name="T0" fmla="*/ 0 w 255"/>
                      <a:gd name="T1" fmla="*/ 0 h 1"/>
                      <a:gd name="T2" fmla="*/ 255 w 255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55" h="1">
                        <a:moveTo>
                          <a:pt x="0" y="0"/>
                        </a:moveTo>
                        <a:lnTo>
                          <a:pt x="25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22" name="Oval 175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88" y="2784"/>
                    <a:ext cx="144" cy="144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16" name="Group 176"/>
                <p:cNvGrpSpPr>
                  <a:grpSpLocks noChangeAspect="1"/>
                </p:cNvGrpSpPr>
                <p:nvPr/>
              </p:nvGrpSpPr>
              <p:grpSpPr bwMode="auto">
                <a:xfrm>
                  <a:off x="2083" y="2544"/>
                  <a:ext cx="255" cy="227"/>
                  <a:chOff x="3825" y="2746"/>
                  <a:chExt cx="255" cy="255"/>
                </a:xfrm>
              </p:grpSpPr>
              <p:sp>
                <p:nvSpPr>
                  <p:cNvPr id="417" name="Freeform 1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60" y="2746"/>
                    <a:ext cx="1" cy="255"/>
                  </a:xfrm>
                  <a:custGeom>
                    <a:avLst/>
                    <a:gdLst>
                      <a:gd name="T0" fmla="*/ 0 w 1"/>
                      <a:gd name="T1" fmla="*/ 0 h 255"/>
                      <a:gd name="T2" fmla="*/ 0 w 1"/>
                      <a:gd name="T3" fmla="*/ 255 h 2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255">
                        <a:moveTo>
                          <a:pt x="0" y="0"/>
                        </a:moveTo>
                        <a:lnTo>
                          <a:pt x="0" y="255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18" name="Freeform 1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25" y="2851"/>
                    <a:ext cx="255" cy="1"/>
                  </a:xfrm>
                  <a:custGeom>
                    <a:avLst/>
                    <a:gdLst>
                      <a:gd name="T0" fmla="*/ 0 w 255"/>
                      <a:gd name="T1" fmla="*/ 0 h 1"/>
                      <a:gd name="T2" fmla="*/ 255 w 255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55" h="1">
                        <a:moveTo>
                          <a:pt x="0" y="0"/>
                        </a:moveTo>
                        <a:lnTo>
                          <a:pt x="25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19" name="Oval 179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88" y="2784"/>
                    <a:ext cx="144" cy="144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393" name="Line 180"/>
            <p:cNvSpPr>
              <a:spLocks noChangeAspect="1" noChangeShapeType="1"/>
            </p:cNvSpPr>
            <p:nvPr/>
          </p:nvSpPr>
          <p:spPr bwMode="auto">
            <a:xfrm>
              <a:off x="1953" y="2491"/>
              <a:ext cx="0" cy="13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" name="Freeform 181"/>
            <p:cNvSpPr>
              <a:spLocks noChangeAspect="1" noChangeArrowheads="1"/>
            </p:cNvSpPr>
            <p:nvPr/>
          </p:nvSpPr>
          <p:spPr bwMode="auto">
            <a:xfrm>
              <a:off x="1857" y="2491"/>
              <a:ext cx="3" cy="240"/>
            </a:xfrm>
            <a:custGeom>
              <a:avLst/>
              <a:gdLst>
                <a:gd name="T0" fmla="*/ 0 w 3"/>
                <a:gd name="T1" fmla="*/ 0 h 240"/>
                <a:gd name="T2" fmla="*/ 3 w 3"/>
                <a:gd name="T3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240">
                  <a:moveTo>
                    <a:pt x="0" y="0"/>
                  </a:moveTo>
                  <a:lnTo>
                    <a:pt x="3" y="24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5" name="Freeform 182"/>
            <p:cNvSpPr>
              <a:spLocks noChangeAspect="1" noChangeArrowheads="1"/>
            </p:cNvSpPr>
            <p:nvPr/>
          </p:nvSpPr>
          <p:spPr bwMode="auto">
            <a:xfrm>
              <a:off x="1617" y="2491"/>
              <a:ext cx="3" cy="240"/>
            </a:xfrm>
            <a:custGeom>
              <a:avLst/>
              <a:gdLst>
                <a:gd name="T0" fmla="*/ 0 w 3"/>
                <a:gd name="T1" fmla="*/ 0 h 240"/>
                <a:gd name="T2" fmla="*/ 3 w 3"/>
                <a:gd name="T3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240">
                  <a:moveTo>
                    <a:pt x="0" y="0"/>
                  </a:moveTo>
                  <a:lnTo>
                    <a:pt x="3" y="24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6" name="Line 183"/>
            <p:cNvSpPr>
              <a:spLocks noChangeAspect="1" noChangeShapeType="1"/>
            </p:cNvSpPr>
            <p:nvPr/>
          </p:nvSpPr>
          <p:spPr bwMode="auto">
            <a:xfrm>
              <a:off x="1536" y="2491"/>
              <a:ext cx="0" cy="10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41" name="Group 184"/>
          <p:cNvGrpSpPr>
            <a:grpSpLocks/>
          </p:cNvGrpSpPr>
          <p:nvPr/>
        </p:nvGrpSpPr>
        <p:grpSpPr bwMode="auto">
          <a:xfrm>
            <a:off x="7115897" y="2062162"/>
            <a:ext cx="3440112" cy="2665413"/>
            <a:chOff x="3289" y="2258"/>
            <a:chExt cx="2167" cy="1679"/>
          </a:xfrm>
        </p:grpSpPr>
        <p:grpSp>
          <p:nvGrpSpPr>
            <p:cNvPr id="442" name="Group 185"/>
            <p:cNvGrpSpPr>
              <a:grpSpLocks/>
            </p:cNvGrpSpPr>
            <p:nvPr/>
          </p:nvGrpSpPr>
          <p:grpSpPr bwMode="auto">
            <a:xfrm>
              <a:off x="3289" y="2258"/>
              <a:ext cx="1166" cy="1094"/>
              <a:chOff x="3289" y="2258"/>
              <a:chExt cx="1166" cy="1094"/>
            </a:xfrm>
          </p:grpSpPr>
          <p:sp>
            <p:nvSpPr>
              <p:cNvPr id="455" name="Freeform 186"/>
              <p:cNvSpPr>
                <a:spLocks noChangeArrowheads="1"/>
              </p:cNvSpPr>
              <p:nvPr/>
            </p:nvSpPr>
            <p:spPr bwMode="auto">
              <a:xfrm>
                <a:off x="3521" y="2413"/>
                <a:ext cx="144" cy="237"/>
              </a:xfrm>
              <a:custGeom>
                <a:avLst/>
                <a:gdLst>
                  <a:gd name="T0" fmla="*/ 3 w 275"/>
                  <a:gd name="T1" fmla="*/ 0 h 454"/>
                  <a:gd name="T2" fmla="*/ 0 w 275"/>
                  <a:gd name="T3" fmla="*/ 147 h 454"/>
                  <a:gd name="T4" fmla="*/ 0 w 275"/>
                  <a:gd name="T5" fmla="*/ 169 h 454"/>
                  <a:gd name="T6" fmla="*/ 9 w 275"/>
                  <a:gd name="T7" fmla="*/ 189 h 454"/>
                  <a:gd name="T8" fmla="*/ 25 w 275"/>
                  <a:gd name="T9" fmla="*/ 205 h 454"/>
                  <a:gd name="T10" fmla="*/ 275 w 275"/>
                  <a:gd name="T11" fmla="*/ 454 h 454"/>
                  <a:gd name="T12" fmla="*/ 275 w 275"/>
                  <a:gd name="T13" fmla="*/ 304 h 454"/>
                  <a:gd name="T14" fmla="*/ 3 w 275"/>
                  <a:gd name="T15" fmla="*/ 0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5" h="454">
                    <a:moveTo>
                      <a:pt x="3" y="0"/>
                    </a:moveTo>
                    <a:lnTo>
                      <a:pt x="0" y="147"/>
                    </a:lnTo>
                    <a:lnTo>
                      <a:pt x="0" y="169"/>
                    </a:lnTo>
                    <a:lnTo>
                      <a:pt x="9" y="189"/>
                    </a:lnTo>
                    <a:lnTo>
                      <a:pt x="25" y="205"/>
                    </a:lnTo>
                    <a:lnTo>
                      <a:pt x="275" y="454"/>
                    </a:lnTo>
                    <a:lnTo>
                      <a:pt x="275" y="304"/>
                    </a:lnTo>
                    <a:lnTo>
                      <a:pt x="3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6A6A6A"/>
                  </a:gs>
                  <a:gs pos="100000">
                    <a:srgbClr val="969696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6" name="Freeform 187"/>
              <p:cNvSpPr>
                <a:spLocks noChangeArrowheads="1"/>
              </p:cNvSpPr>
              <p:nvPr/>
            </p:nvSpPr>
            <p:spPr bwMode="auto">
              <a:xfrm>
                <a:off x="4065" y="2419"/>
                <a:ext cx="385" cy="765"/>
              </a:xfrm>
              <a:custGeom>
                <a:avLst/>
                <a:gdLst>
                  <a:gd name="T0" fmla="*/ 96 w 735"/>
                  <a:gd name="T1" fmla="*/ 62 h 1459"/>
                  <a:gd name="T2" fmla="*/ 101 w 735"/>
                  <a:gd name="T3" fmla="*/ 811 h 1459"/>
                  <a:gd name="T4" fmla="*/ 0 w 735"/>
                  <a:gd name="T5" fmla="*/ 892 h 1459"/>
                  <a:gd name="T6" fmla="*/ 15 w 735"/>
                  <a:gd name="T7" fmla="*/ 1459 h 1459"/>
                  <a:gd name="T8" fmla="*/ 735 w 735"/>
                  <a:gd name="T9" fmla="*/ 1262 h 1459"/>
                  <a:gd name="T10" fmla="*/ 730 w 735"/>
                  <a:gd name="T11" fmla="*/ 1046 h 1459"/>
                  <a:gd name="T12" fmla="*/ 245 w 735"/>
                  <a:gd name="T13" fmla="*/ 1168 h 1459"/>
                  <a:gd name="T14" fmla="*/ 231 w 735"/>
                  <a:gd name="T15" fmla="*/ 172 h 1459"/>
                  <a:gd name="T16" fmla="*/ 351 w 735"/>
                  <a:gd name="T17" fmla="*/ 139 h 1459"/>
                  <a:gd name="T18" fmla="*/ 351 w 735"/>
                  <a:gd name="T19" fmla="*/ 0 h 1459"/>
                  <a:gd name="T20" fmla="*/ 96 w 735"/>
                  <a:gd name="T21" fmla="*/ 62 h 1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35" h="1459">
                    <a:moveTo>
                      <a:pt x="96" y="62"/>
                    </a:moveTo>
                    <a:lnTo>
                      <a:pt x="101" y="811"/>
                    </a:lnTo>
                    <a:lnTo>
                      <a:pt x="0" y="892"/>
                    </a:lnTo>
                    <a:lnTo>
                      <a:pt x="15" y="1459"/>
                    </a:lnTo>
                    <a:lnTo>
                      <a:pt x="735" y="1262"/>
                    </a:lnTo>
                    <a:lnTo>
                      <a:pt x="730" y="1046"/>
                    </a:lnTo>
                    <a:lnTo>
                      <a:pt x="245" y="1168"/>
                    </a:lnTo>
                    <a:lnTo>
                      <a:pt x="231" y="172"/>
                    </a:lnTo>
                    <a:lnTo>
                      <a:pt x="351" y="139"/>
                    </a:lnTo>
                    <a:lnTo>
                      <a:pt x="351" y="0"/>
                    </a:lnTo>
                    <a:lnTo>
                      <a:pt x="96" y="62"/>
                    </a:lnTo>
                    <a:close/>
                  </a:path>
                </a:pathLst>
              </a:cu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7" name="Freeform 188"/>
              <p:cNvSpPr>
                <a:spLocks noChangeArrowheads="1"/>
              </p:cNvSpPr>
              <p:nvPr/>
            </p:nvSpPr>
            <p:spPr bwMode="auto">
              <a:xfrm>
                <a:off x="3682" y="2637"/>
                <a:ext cx="50" cy="526"/>
              </a:xfrm>
              <a:custGeom>
                <a:avLst/>
                <a:gdLst>
                  <a:gd name="T0" fmla="*/ 0 w 95"/>
                  <a:gd name="T1" fmla="*/ 7 h 1004"/>
                  <a:gd name="T2" fmla="*/ 0 w 95"/>
                  <a:gd name="T3" fmla="*/ 814 h 1004"/>
                  <a:gd name="T4" fmla="*/ 15 w 95"/>
                  <a:gd name="T5" fmla="*/ 887 h 1004"/>
                  <a:gd name="T6" fmla="*/ 51 w 95"/>
                  <a:gd name="T7" fmla="*/ 945 h 1004"/>
                  <a:gd name="T8" fmla="*/ 95 w 95"/>
                  <a:gd name="T9" fmla="*/ 1004 h 1004"/>
                  <a:gd name="T10" fmla="*/ 80 w 95"/>
                  <a:gd name="T11" fmla="*/ 0 h 1004"/>
                  <a:gd name="T12" fmla="*/ 0 w 95"/>
                  <a:gd name="T13" fmla="*/ 7 h 10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5" h="1004">
                    <a:moveTo>
                      <a:pt x="0" y="7"/>
                    </a:moveTo>
                    <a:lnTo>
                      <a:pt x="0" y="814"/>
                    </a:lnTo>
                    <a:lnTo>
                      <a:pt x="15" y="887"/>
                    </a:lnTo>
                    <a:lnTo>
                      <a:pt x="51" y="945"/>
                    </a:lnTo>
                    <a:lnTo>
                      <a:pt x="95" y="1004"/>
                    </a:lnTo>
                    <a:lnTo>
                      <a:pt x="80" y="0"/>
                    </a:lnTo>
                    <a:lnTo>
                      <a:pt x="0" y="7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6D6D6D"/>
                  </a:gs>
                  <a:gs pos="100000">
                    <a:srgbClr val="969696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8" name="Freeform 189"/>
              <p:cNvSpPr>
                <a:spLocks noChangeArrowheads="1"/>
              </p:cNvSpPr>
              <p:nvPr/>
            </p:nvSpPr>
            <p:spPr bwMode="auto">
              <a:xfrm>
                <a:off x="4190" y="2753"/>
                <a:ext cx="265" cy="278"/>
              </a:xfrm>
              <a:custGeom>
                <a:avLst/>
                <a:gdLst>
                  <a:gd name="T0" fmla="*/ 0 w 505"/>
                  <a:gd name="T1" fmla="*/ 532 h 532"/>
                  <a:gd name="T2" fmla="*/ 505 w 505"/>
                  <a:gd name="T3" fmla="*/ 400 h 532"/>
                  <a:gd name="T4" fmla="*/ 192 w 505"/>
                  <a:gd name="T5" fmla="*/ 87 h 532"/>
                  <a:gd name="T6" fmla="*/ 166 w 505"/>
                  <a:gd name="T7" fmla="*/ 71 h 532"/>
                  <a:gd name="T8" fmla="*/ 147 w 505"/>
                  <a:gd name="T9" fmla="*/ 55 h 532"/>
                  <a:gd name="T10" fmla="*/ 124 w 505"/>
                  <a:gd name="T11" fmla="*/ 39 h 532"/>
                  <a:gd name="T12" fmla="*/ 92 w 505"/>
                  <a:gd name="T13" fmla="*/ 23 h 532"/>
                  <a:gd name="T14" fmla="*/ 57 w 505"/>
                  <a:gd name="T15" fmla="*/ 13 h 532"/>
                  <a:gd name="T16" fmla="*/ 25 w 505"/>
                  <a:gd name="T17" fmla="*/ 4 h 532"/>
                  <a:gd name="T18" fmla="*/ 0 w 505"/>
                  <a:gd name="T19" fmla="*/ 0 h 532"/>
                  <a:gd name="T20" fmla="*/ 0 w 505"/>
                  <a:gd name="T21" fmla="*/ 532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5" h="532">
                    <a:moveTo>
                      <a:pt x="0" y="532"/>
                    </a:moveTo>
                    <a:lnTo>
                      <a:pt x="505" y="400"/>
                    </a:lnTo>
                    <a:lnTo>
                      <a:pt x="192" y="87"/>
                    </a:lnTo>
                    <a:lnTo>
                      <a:pt x="166" y="71"/>
                    </a:lnTo>
                    <a:lnTo>
                      <a:pt x="147" y="55"/>
                    </a:lnTo>
                    <a:lnTo>
                      <a:pt x="124" y="39"/>
                    </a:lnTo>
                    <a:lnTo>
                      <a:pt x="92" y="23"/>
                    </a:lnTo>
                    <a:lnTo>
                      <a:pt x="57" y="13"/>
                    </a:lnTo>
                    <a:lnTo>
                      <a:pt x="25" y="4"/>
                    </a:lnTo>
                    <a:lnTo>
                      <a:pt x="0" y="0"/>
                    </a:lnTo>
                    <a:lnTo>
                      <a:pt x="0" y="53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5E00"/>
                  </a:gs>
                  <a:gs pos="100000">
                    <a:srgbClr val="00CC00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9" name="Freeform 190"/>
              <p:cNvSpPr>
                <a:spLocks noChangeArrowheads="1"/>
              </p:cNvSpPr>
              <p:nvPr/>
            </p:nvSpPr>
            <p:spPr bwMode="auto">
              <a:xfrm>
                <a:off x="3289" y="3029"/>
                <a:ext cx="181" cy="321"/>
              </a:xfrm>
              <a:custGeom>
                <a:avLst/>
                <a:gdLst>
                  <a:gd name="T0" fmla="*/ 0 w 181"/>
                  <a:gd name="T1" fmla="*/ 0 h 321"/>
                  <a:gd name="T2" fmla="*/ 0 w 181"/>
                  <a:gd name="T3" fmla="*/ 114 h 321"/>
                  <a:gd name="T4" fmla="*/ 2 w 181"/>
                  <a:gd name="T5" fmla="*/ 131 h 321"/>
                  <a:gd name="T6" fmla="*/ 5 w 181"/>
                  <a:gd name="T7" fmla="*/ 141 h 321"/>
                  <a:gd name="T8" fmla="*/ 10 w 181"/>
                  <a:gd name="T9" fmla="*/ 149 h 321"/>
                  <a:gd name="T10" fmla="*/ 20 w 181"/>
                  <a:gd name="T11" fmla="*/ 162 h 321"/>
                  <a:gd name="T12" fmla="*/ 177 w 181"/>
                  <a:gd name="T13" fmla="*/ 321 h 321"/>
                  <a:gd name="T14" fmla="*/ 181 w 181"/>
                  <a:gd name="T15" fmla="*/ 190 h 321"/>
                  <a:gd name="T16" fmla="*/ 0 w 181"/>
                  <a:gd name="T1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1" h="321">
                    <a:moveTo>
                      <a:pt x="0" y="0"/>
                    </a:moveTo>
                    <a:lnTo>
                      <a:pt x="0" y="114"/>
                    </a:lnTo>
                    <a:lnTo>
                      <a:pt x="2" y="131"/>
                    </a:lnTo>
                    <a:lnTo>
                      <a:pt x="5" y="141"/>
                    </a:lnTo>
                    <a:lnTo>
                      <a:pt x="10" y="149"/>
                    </a:lnTo>
                    <a:lnTo>
                      <a:pt x="20" y="162"/>
                    </a:lnTo>
                    <a:lnTo>
                      <a:pt x="177" y="321"/>
                    </a:lnTo>
                    <a:lnTo>
                      <a:pt x="181" y="19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005300"/>
                  </a:gs>
                  <a:gs pos="100000">
                    <a:srgbClr val="00B4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0" name="Freeform 191"/>
              <p:cNvSpPr>
                <a:spLocks noChangeArrowheads="1"/>
              </p:cNvSpPr>
              <p:nvPr/>
            </p:nvSpPr>
            <p:spPr bwMode="auto">
              <a:xfrm>
                <a:off x="3289" y="2875"/>
                <a:ext cx="441" cy="355"/>
              </a:xfrm>
              <a:custGeom>
                <a:avLst/>
                <a:gdLst>
                  <a:gd name="T0" fmla="*/ 752 w 842"/>
                  <a:gd name="T1" fmla="*/ 0 h 678"/>
                  <a:gd name="T2" fmla="*/ 80 w 842"/>
                  <a:gd name="T3" fmla="*/ 182 h 678"/>
                  <a:gd name="T4" fmla="*/ 55 w 842"/>
                  <a:gd name="T5" fmla="*/ 195 h 678"/>
                  <a:gd name="T6" fmla="*/ 35 w 842"/>
                  <a:gd name="T7" fmla="*/ 211 h 678"/>
                  <a:gd name="T8" fmla="*/ 16 w 842"/>
                  <a:gd name="T9" fmla="*/ 227 h 678"/>
                  <a:gd name="T10" fmla="*/ 7 w 842"/>
                  <a:gd name="T11" fmla="*/ 256 h 678"/>
                  <a:gd name="T12" fmla="*/ 0 w 842"/>
                  <a:gd name="T13" fmla="*/ 294 h 678"/>
                  <a:gd name="T14" fmla="*/ 10 w 842"/>
                  <a:gd name="T15" fmla="*/ 330 h 678"/>
                  <a:gd name="T16" fmla="*/ 23 w 842"/>
                  <a:gd name="T17" fmla="*/ 358 h 678"/>
                  <a:gd name="T18" fmla="*/ 342 w 842"/>
                  <a:gd name="T19" fmla="*/ 678 h 678"/>
                  <a:gd name="T20" fmla="*/ 842 w 842"/>
                  <a:gd name="T21" fmla="*/ 538 h 678"/>
                  <a:gd name="T22" fmla="*/ 826 w 842"/>
                  <a:gd name="T23" fmla="*/ 512 h 678"/>
                  <a:gd name="T24" fmla="*/ 791 w 842"/>
                  <a:gd name="T25" fmla="*/ 461 h 678"/>
                  <a:gd name="T26" fmla="*/ 768 w 842"/>
                  <a:gd name="T27" fmla="*/ 416 h 678"/>
                  <a:gd name="T28" fmla="*/ 755 w 842"/>
                  <a:gd name="T29" fmla="*/ 371 h 678"/>
                  <a:gd name="T30" fmla="*/ 752 w 842"/>
                  <a:gd name="T31" fmla="*/ 352 h 678"/>
                  <a:gd name="T32" fmla="*/ 752 w 842"/>
                  <a:gd name="T33" fmla="*/ 0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2" h="678">
                    <a:moveTo>
                      <a:pt x="752" y="0"/>
                    </a:moveTo>
                    <a:lnTo>
                      <a:pt x="80" y="182"/>
                    </a:lnTo>
                    <a:lnTo>
                      <a:pt x="55" y="195"/>
                    </a:lnTo>
                    <a:lnTo>
                      <a:pt x="35" y="211"/>
                    </a:lnTo>
                    <a:lnTo>
                      <a:pt x="16" y="227"/>
                    </a:lnTo>
                    <a:lnTo>
                      <a:pt x="7" y="256"/>
                    </a:lnTo>
                    <a:lnTo>
                      <a:pt x="0" y="294"/>
                    </a:lnTo>
                    <a:lnTo>
                      <a:pt x="10" y="330"/>
                    </a:lnTo>
                    <a:lnTo>
                      <a:pt x="23" y="358"/>
                    </a:lnTo>
                    <a:lnTo>
                      <a:pt x="342" y="678"/>
                    </a:lnTo>
                    <a:lnTo>
                      <a:pt x="842" y="538"/>
                    </a:lnTo>
                    <a:lnTo>
                      <a:pt x="826" y="512"/>
                    </a:lnTo>
                    <a:lnTo>
                      <a:pt x="791" y="461"/>
                    </a:lnTo>
                    <a:lnTo>
                      <a:pt x="768" y="416"/>
                    </a:lnTo>
                    <a:lnTo>
                      <a:pt x="755" y="371"/>
                    </a:lnTo>
                    <a:lnTo>
                      <a:pt x="752" y="352"/>
                    </a:lnTo>
                    <a:lnTo>
                      <a:pt x="752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007B00"/>
                  </a:gs>
                  <a:gs pos="100000">
                    <a:srgbClr val="00B400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1" name="Freeform 192"/>
              <p:cNvSpPr>
                <a:spLocks noChangeArrowheads="1"/>
              </p:cNvSpPr>
              <p:nvPr/>
            </p:nvSpPr>
            <p:spPr bwMode="auto">
              <a:xfrm>
                <a:off x="3521" y="2258"/>
                <a:ext cx="731" cy="317"/>
              </a:xfrm>
              <a:custGeom>
                <a:avLst/>
                <a:gdLst>
                  <a:gd name="T0" fmla="*/ 141 w 731"/>
                  <a:gd name="T1" fmla="*/ 317 h 317"/>
                  <a:gd name="T2" fmla="*/ 277 w 731"/>
                  <a:gd name="T3" fmla="*/ 283 h 317"/>
                  <a:gd name="T4" fmla="*/ 275 w 731"/>
                  <a:gd name="T5" fmla="*/ 269 h 317"/>
                  <a:gd name="T6" fmla="*/ 262 w 731"/>
                  <a:gd name="T7" fmla="*/ 212 h 317"/>
                  <a:gd name="T8" fmla="*/ 360 w 731"/>
                  <a:gd name="T9" fmla="*/ 128 h 317"/>
                  <a:gd name="T10" fmla="*/ 516 w 731"/>
                  <a:gd name="T11" fmla="*/ 156 h 317"/>
                  <a:gd name="T12" fmla="*/ 591 w 731"/>
                  <a:gd name="T13" fmla="*/ 201 h 317"/>
                  <a:gd name="T14" fmla="*/ 731 w 731"/>
                  <a:gd name="T15" fmla="*/ 158 h 317"/>
                  <a:gd name="T16" fmla="*/ 597 w 731"/>
                  <a:gd name="T17" fmla="*/ 25 h 317"/>
                  <a:gd name="T18" fmla="*/ 574 w 731"/>
                  <a:gd name="T19" fmla="*/ 13 h 317"/>
                  <a:gd name="T20" fmla="*/ 556 w 731"/>
                  <a:gd name="T21" fmla="*/ 5 h 317"/>
                  <a:gd name="T22" fmla="*/ 538 w 731"/>
                  <a:gd name="T23" fmla="*/ 0 h 317"/>
                  <a:gd name="T24" fmla="*/ 521 w 731"/>
                  <a:gd name="T25" fmla="*/ 0 h 317"/>
                  <a:gd name="T26" fmla="*/ 501 w 731"/>
                  <a:gd name="T27" fmla="*/ 2 h 317"/>
                  <a:gd name="T28" fmla="*/ 36 w 731"/>
                  <a:gd name="T29" fmla="*/ 126 h 317"/>
                  <a:gd name="T30" fmla="*/ 16 w 731"/>
                  <a:gd name="T31" fmla="*/ 134 h 317"/>
                  <a:gd name="T32" fmla="*/ 0 w 731"/>
                  <a:gd name="T33" fmla="*/ 151 h 317"/>
                  <a:gd name="T34" fmla="*/ 1 w 731"/>
                  <a:gd name="T35" fmla="*/ 169 h 317"/>
                  <a:gd name="T36" fmla="*/ 5 w 731"/>
                  <a:gd name="T37" fmla="*/ 183 h 317"/>
                  <a:gd name="T38" fmla="*/ 141 w 731"/>
                  <a:gd name="T39" fmla="*/ 317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1" h="317">
                    <a:moveTo>
                      <a:pt x="141" y="317"/>
                    </a:moveTo>
                    <a:lnTo>
                      <a:pt x="277" y="283"/>
                    </a:lnTo>
                    <a:lnTo>
                      <a:pt x="275" y="269"/>
                    </a:lnTo>
                    <a:lnTo>
                      <a:pt x="262" y="212"/>
                    </a:lnTo>
                    <a:lnTo>
                      <a:pt x="360" y="128"/>
                    </a:lnTo>
                    <a:lnTo>
                      <a:pt x="516" y="156"/>
                    </a:lnTo>
                    <a:lnTo>
                      <a:pt x="591" y="201"/>
                    </a:lnTo>
                    <a:lnTo>
                      <a:pt x="731" y="158"/>
                    </a:lnTo>
                    <a:lnTo>
                      <a:pt x="597" y="25"/>
                    </a:lnTo>
                    <a:lnTo>
                      <a:pt x="574" y="13"/>
                    </a:lnTo>
                    <a:lnTo>
                      <a:pt x="556" y="5"/>
                    </a:lnTo>
                    <a:lnTo>
                      <a:pt x="538" y="0"/>
                    </a:lnTo>
                    <a:lnTo>
                      <a:pt x="521" y="0"/>
                    </a:lnTo>
                    <a:lnTo>
                      <a:pt x="501" y="2"/>
                    </a:lnTo>
                    <a:lnTo>
                      <a:pt x="36" y="126"/>
                    </a:lnTo>
                    <a:lnTo>
                      <a:pt x="16" y="134"/>
                    </a:lnTo>
                    <a:lnTo>
                      <a:pt x="0" y="151"/>
                    </a:lnTo>
                    <a:lnTo>
                      <a:pt x="1" y="169"/>
                    </a:lnTo>
                    <a:lnTo>
                      <a:pt x="5" y="183"/>
                    </a:lnTo>
                    <a:lnTo>
                      <a:pt x="141" y="317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000600"/>
                  </a:gs>
                  <a:gs pos="50000">
                    <a:srgbClr val="00CC00"/>
                  </a:gs>
                  <a:gs pos="100000">
                    <a:srgbClr val="000600"/>
                  </a:gs>
                </a:gsLst>
                <a:lin ang="27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2" name="Freeform 193"/>
              <p:cNvSpPr>
                <a:spLocks noChangeArrowheads="1"/>
              </p:cNvSpPr>
              <p:nvPr/>
            </p:nvSpPr>
            <p:spPr bwMode="auto">
              <a:xfrm>
                <a:off x="3466" y="2540"/>
                <a:ext cx="382" cy="812"/>
              </a:xfrm>
              <a:custGeom>
                <a:avLst/>
                <a:gdLst>
                  <a:gd name="T0" fmla="*/ 374 w 729"/>
                  <a:gd name="T1" fmla="*/ 72 h 1550"/>
                  <a:gd name="T2" fmla="*/ 374 w 729"/>
                  <a:gd name="T3" fmla="*/ 206 h 1550"/>
                  <a:gd name="T4" fmla="*/ 504 w 729"/>
                  <a:gd name="T5" fmla="*/ 178 h 1550"/>
                  <a:gd name="T6" fmla="*/ 504 w 729"/>
                  <a:gd name="T7" fmla="*/ 1181 h 1550"/>
                  <a:gd name="T8" fmla="*/ 1 w 729"/>
                  <a:gd name="T9" fmla="*/ 1318 h 1550"/>
                  <a:gd name="T10" fmla="*/ 0 w 729"/>
                  <a:gd name="T11" fmla="*/ 1550 h 1550"/>
                  <a:gd name="T12" fmla="*/ 725 w 729"/>
                  <a:gd name="T13" fmla="*/ 1349 h 1550"/>
                  <a:gd name="T14" fmla="*/ 729 w 729"/>
                  <a:gd name="T15" fmla="*/ 782 h 1550"/>
                  <a:gd name="T16" fmla="*/ 638 w 729"/>
                  <a:gd name="T17" fmla="*/ 744 h 1550"/>
                  <a:gd name="T18" fmla="*/ 633 w 729"/>
                  <a:gd name="T19" fmla="*/ 0 h 1550"/>
                  <a:gd name="T20" fmla="*/ 374 w 729"/>
                  <a:gd name="T21" fmla="*/ 72 h 1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29" h="1550">
                    <a:moveTo>
                      <a:pt x="374" y="72"/>
                    </a:moveTo>
                    <a:lnTo>
                      <a:pt x="374" y="206"/>
                    </a:lnTo>
                    <a:lnTo>
                      <a:pt x="504" y="178"/>
                    </a:lnTo>
                    <a:lnTo>
                      <a:pt x="504" y="1181"/>
                    </a:lnTo>
                    <a:lnTo>
                      <a:pt x="1" y="1318"/>
                    </a:lnTo>
                    <a:lnTo>
                      <a:pt x="0" y="1550"/>
                    </a:lnTo>
                    <a:lnTo>
                      <a:pt x="725" y="1349"/>
                    </a:lnTo>
                    <a:lnTo>
                      <a:pt x="729" y="782"/>
                    </a:lnTo>
                    <a:lnTo>
                      <a:pt x="638" y="744"/>
                    </a:lnTo>
                    <a:lnTo>
                      <a:pt x="633" y="0"/>
                    </a:lnTo>
                    <a:lnTo>
                      <a:pt x="374" y="72"/>
                    </a:lnTo>
                    <a:close/>
                  </a:path>
                </a:pathLst>
              </a:cu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3" name="Freeform 194"/>
              <p:cNvSpPr>
                <a:spLocks noChangeArrowheads="1"/>
              </p:cNvSpPr>
              <p:nvPr/>
            </p:nvSpPr>
            <p:spPr bwMode="auto">
              <a:xfrm>
                <a:off x="3819" y="2819"/>
                <a:ext cx="249" cy="365"/>
              </a:xfrm>
              <a:custGeom>
                <a:avLst/>
                <a:gdLst>
                  <a:gd name="T0" fmla="*/ 57 w 475"/>
                  <a:gd name="T1" fmla="*/ 249 h 696"/>
                  <a:gd name="T2" fmla="*/ 57 w 475"/>
                  <a:gd name="T3" fmla="*/ 633 h 696"/>
                  <a:gd name="T4" fmla="*/ 91 w 475"/>
                  <a:gd name="T5" fmla="*/ 614 h 696"/>
                  <a:gd name="T6" fmla="*/ 129 w 475"/>
                  <a:gd name="T7" fmla="*/ 600 h 696"/>
                  <a:gd name="T8" fmla="*/ 173 w 475"/>
                  <a:gd name="T9" fmla="*/ 585 h 696"/>
                  <a:gd name="T10" fmla="*/ 216 w 475"/>
                  <a:gd name="T11" fmla="*/ 585 h 696"/>
                  <a:gd name="T12" fmla="*/ 264 w 475"/>
                  <a:gd name="T13" fmla="*/ 590 h 696"/>
                  <a:gd name="T14" fmla="*/ 302 w 475"/>
                  <a:gd name="T15" fmla="*/ 600 h 696"/>
                  <a:gd name="T16" fmla="*/ 355 w 475"/>
                  <a:gd name="T17" fmla="*/ 614 h 696"/>
                  <a:gd name="T18" fmla="*/ 413 w 475"/>
                  <a:gd name="T19" fmla="*/ 643 h 696"/>
                  <a:gd name="T20" fmla="*/ 446 w 475"/>
                  <a:gd name="T21" fmla="*/ 667 h 696"/>
                  <a:gd name="T22" fmla="*/ 475 w 475"/>
                  <a:gd name="T23" fmla="*/ 696 h 696"/>
                  <a:gd name="T24" fmla="*/ 475 w 475"/>
                  <a:gd name="T25" fmla="*/ 96 h 696"/>
                  <a:gd name="T26" fmla="*/ 422 w 475"/>
                  <a:gd name="T27" fmla="*/ 57 h 696"/>
                  <a:gd name="T28" fmla="*/ 350 w 475"/>
                  <a:gd name="T29" fmla="*/ 24 h 696"/>
                  <a:gd name="T30" fmla="*/ 283 w 475"/>
                  <a:gd name="T31" fmla="*/ 0 h 696"/>
                  <a:gd name="T32" fmla="*/ 221 w 475"/>
                  <a:gd name="T33" fmla="*/ 0 h 696"/>
                  <a:gd name="T34" fmla="*/ 125 w 475"/>
                  <a:gd name="T35" fmla="*/ 0 h 696"/>
                  <a:gd name="T36" fmla="*/ 48 w 475"/>
                  <a:gd name="T37" fmla="*/ 38 h 696"/>
                  <a:gd name="T38" fmla="*/ 0 w 475"/>
                  <a:gd name="T39" fmla="*/ 129 h 696"/>
                  <a:gd name="T40" fmla="*/ 0 w 475"/>
                  <a:gd name="T41" fmla="*/ 211 h 696"/>
                  <a:gd name="T42" fmla="*/ 57 w 475"/>
                  <a:gd name="T43" fmla="*/ 249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75" h="696">
                    <a:moveTo>
                      <a:pt x="57" y="249"/>
                    </a:moveTo>
                    <a:lnTo>
                      <a:pt x="57" y="633"/>
                    </a:lnTo>
                    <a:lnTo>
                      <a:pt x="91" y="614"/>
                    </a:lnTo>
                    <a:lnTo>
                      <a:pt x="129" y="600"/>
                    </a:lnTo>
                    <a:lnTo>
                      <a:pt x="173" y="585"/>
                    </a:lnTo>
                    <a:lnTo>
                      <a:pt x="216" y="585"/>
                    </a:lnTo>
                    <a:lnTo>
                      <a:pt x="264" y="590"/>
                    </a:lnTo>
                    <a:lnTo>
                      <a:pt x="302" y="600"/>
                    </a:lnTo>
                    <a:lnTo>
                      <a:pt x="355" y="614"/>
                    </a:lnTo>
                    <a:lnTo>
                      <a:pt x="413" y="643"/>
                    </a:lnTo>
                    <a:lnTo>
                      <a:pt x="446" y="667"/>
                    </a:lnTo>
                    <a:lnTo>
                      <a:pt x="475" y="696"/>
                    </a:lnTo>
                    <a:lnTo>
                      <a:pt x="475" y="96"/>
                    </a:lnTo>
                    <a:lnTo>
                      <a:pt x="422" y="57"/>
                    </a:lnTo>
                    <a:lnTo>
                      <a:pt x="350" y="24"/>
                    </a:lnTo>
                    <a:lnTo>
                      <a:pt x="283" y="0"/>
                    </a:lnTo>
                    <a:lnTo>
                      <a:pt x="221" y="0"/>
                    </a:lnTo>
                    <a:lnTo>
                      <a:pt x="125" y="0"/>
                    </a:lnTo>
                    <a:lnTo>
                      <a:pt x="48" y="38"/>
                    </a:lnTo>
                    <a:lnTo>
                      <a:pt x="0" y="129"/>
                    </a:lnTo>
                    <a:lnTo>
                      <a:pt x="0" y="211"/>
                    </a:lnTo>
                    <a:lnTo>
                      <a:pt x="57" y="249"/>
                    </a:lnTo>
                    <a:close/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4" name="Freeform 195"/>
              <p:cNvSpPr>
                <a:spLocks noChangeArrowheads="1"/>
              </p:cNvSpPr>
              <p:nvPr/>
            </p:nvSpPr>
            <p:spPr bwMode="auto">
              <a:xfrm>
                <a:off x="3798" y="2754"/>
                <a:ext cx="321" cy="191"/>
              </a:xfrm>
              <a:custGeom>
                <a:avLst/>
                <a:gdLst>
                  <a:gd name="T0" fmla="*/ 53 w 321"/>
                  <a:gd name="T1" fmla="*/ 191 h 191"/>
                  <a:gd name="T2" fmla="*/ 3 w 321"/>
                  <a:gd name="T3" fmla="*/ 173 h 191"/>
                  <a:gd name="T4" fmla="*/ 0 w 321"/>
                  <a:gd name="T5" fmla="*/ 40 h 191"/>
                  <a:gd name="T6" fmla="*/ 19 w 321"/>
                  <a:gd name="T7" fmla="*/ 31 h 191"/>
                  <a:gd name="T8" fmla="*/ 36 w 321"/>
                  <a:gd name="T9" fmla="*/ 18 h 191"/>
                  <a:gd name="T10" fmla="*/ 60 w 321"/>
                  <a:gd name="T11" fmla="*/ 7 h 191"/>
                  <a:gd name="T12" fmla="*/ 103 w 321"/>
                  <a:gd name="T13" fmla="*/ 1 h 191"/>
                  <a:gd name="T14" fmla="*/ 153 w 321"/>
                  <a:gd name="T15" fmla="*/ 1 h 191"/>
                  <a:gd name="T16" fmla="*/ 200 w 321"/>
                  <a:gd name="T17" fmla="*/ 0 h 191"/>
                  <a:gd name="T18" fmla="*/ 241 w 321"/>
                  <a:gd name="T19" fmla="*/ 28 h 191"/>
                  <a:gd name="T20" fmla="*/ 278 w 321"/>
                  <a:gd name="T21" fmla="*/ 44 h 191"/>
                  <a:gd name="T22" fmla="*/ 301 w 321"/>
                  <a:gd name="T23" fmla="*/ 68 h 191"/>
                  <a:gd name="T24" fmla="*/ 321 w 321"/>
                  <a:gd name="T25" fmla="*/ 85 h 191"/>
                  <a:gd name="T26" fmla="*/ 268 w 321"/>
                  <a:gd name="T27" fmla="*/ 135 h 191"/>
                  <a:gd name="T28" fmla="*/ 254 w 321"/>
                  <a:gd name="T29" fmla="*/ 115 h 191"/>
                  <a:gd name="T30" fmla="*/ 227 w 321"/>
                  <a:gd name="T31" fmla="*/ 98 h 191"/>
                  <a:gd name="T32" fmla="*/ 201 w 321"/>
                  <a:gd name="T33" fmla="*/ 88 h 191"/>
                  <a:gd name="T34" fmla="*/ 179 w 321"/>
                  <a:gd name="T35" fmla="*/ 78 h 191"/>
                  <a:gd name="T36" fmla="*/ 153 w 321"/>
                  <a:gd name="T37" fmla="*/ 74 h 191"/>
                  <a:gd name="T38" fmla="*/ 134 w 321"/>
                  <a:gd name="T39" fmla="*/ 73 h 191"/>
                  <a:gd name="T40" fmla="*/ 107 w 321"/>
                  <a:gd name="T41" fmla="*/ 74 h 191"/>
                  <a:gd name="T42" fmla="*/ 80 w 321"/>
                  <a:gd name="T43" fmla="*/ 81 h 191"/>
                  <a:gd name="T44" fmla="*/ 61 w 321"/>
                  <a:gd name="T45" fmla="*/ 90 h 191"/>
                  <a:gd name="T46" fmla="*/ 40 w 321"/>
                  <a:gd name="T47" fmla="*/ 110 h 191"/>
                  <a:gd name="T48" fmla="*/ 29 w 321"/>
                  <a:gd name="T49" fmla="*/ 138 h 191"/>
                  <a:gd name="T50" fmla="*/ 36 w 321"/>
                  <a:gd name="T51" fmla="*/ 164 h 191"/>
                  <a:gd name="T52" fmla="*/ 53 w 321"/>
                  <a:gd name="T53" fmla="*/ 191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1" h="191">
                    <a:moveTo>
                      <a:pt x="53" y="191"/>
                    </a:moveTo>
                    <a:lnTo>
                      <a:pt x="3" y="173"/>
                    </a:lnTo>
                    <a:lnTo>
                      <a:pt x="0" y="40"/>
                    </a:lnTo>
                    <a:lnTo>
                      <a:pt x="19" y="31"/>
                    </a:lnTo>
                    <a:lnTo>
                      <a:pt x="36" y="18"/>
                    </a:lnTo>
                    <a:lnTo>
                      <a:pt x="60" y="7"/>
                    </a:lnTo>
                    <a:lnTo>
                      <a:pt x="103" y="1"/>
                    </a:lnTo>
                    <a:lnTo>
                      <a:pt x="153" y="1"/>
                    </a:lnTo>
                    <a:lnTo>
                      <a:pt x="200" y="0"/>
                    </a:lnTo>
                    <a:lnTo>
                      <a:pt x="241" y="28"/>
                    </a:lnTo>
                    <a:lnTo>
                      <a:pt x="278" y="44"/>
                    </a:lnTo>
                    <a:lnTo>
                      <a:pt x="301" y="68"/>
                    </a:lnTo>
                    <a:lnTo>
                      <a:pt x="321" y="85"/>
                    </a:lnTo>
                    <a:lnTo>
                      <a:pt x="268" y="135"/>
                    </a:lnTo>
                    <a:lnTo>
                      <a:pt x="254" y="115"/>
                    </a:lnTo>
                    <a:lnTo>
                      <a:pt x="227" y="98"/>
                    </a:lnTo>
                    <a:lnTo>
                      <a:pt x="201" y="88"/>
                    </a:lnTo>
                    <a:lnTo>
                      <a:pt x="179" y="78"/>
                    </a:lnTo>
                    <a:lnTo>
                      <a:pt x="153" y="74"/>
                    </a:lnTo>
                    <a:lnTo>
                      <a:pt x="134" y="73"/>
                    </a:lnTo>
                    <a:lnTo>
                      <a:pt x="107" y="74"/>
                    </a:lnTo>
                    <a:lnTo>
                      <a:pt x="80" y="81"/>
                    </a:lnTo>
                    <a:lnTo>
                      <a:pt x="61" y="90"/>
                    </a:lnTo>
                    <a:lnTo>
                      <a:pt x="40" y="110"/>
                    </a:lnTo>
                    <a:lnTo>
                      <a:pt x="29" y="138"/>
                    </a:lnTo>
                    <a:lnTo>
                      <a:pt x="36" y="164"/>
                    </a:lnTo>
                    <a:lnTo>
                      <a:pt x="53" y="191"/>
                    </a:lnTo>
                    <a:close/>
                  </a:path>
                </a:pathLst>
              </a:custGeom>
              <a:solidFill>
                <a:srgbClr val="FF6600"/>
              </a:solidFill>
              <a:ln w="9525">
                <a:solidFill>
                  <a:srgbClr val="FFCC99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5" name="Freeform 196"/>
              <p:cNvSpPr>
                <a:spLocks noChangeArrowheads="1"/>
              </p:cNvSpPr>
              <p:nvPr/>
            </p:nvSpPr>
            <p:spPr bwMode="auto">
              <a:xfrm>
                <a:off x="3770" y="2371"/>
                <a:ext cx="347" cy="472"/>
              </a:xfrm>
              <a:custGeom>
                <a:avLst/>
                <a:gdLst>
                  <a:gd name="T0" fmla="*/ 50 w 661"/>
                  <a:gd name="T1" fmla="*/ 333 h 901"/>
                  <a:gd name="T2" fmla="*/ 36 w 661"/>
                  <a:gd name="T3" fmla="*/ 290 h 901"/>
                  <a:gd name="T4" fmla="*/ 14 w 661"/>
                  <a:gd name="T5" fmla="*/ 239 h 901"/>
                  <a:gd name="T6" fmla="*/ 0 w 661"/>
                  <a:gd name="T7" fmla="*/ 195 h 901"/>
                  <a:gd name="T8" fmla="*/ 7 w 661"/>
                  <a:gd name="T9" fmla="*/ 144 h 901"/>
                  <a:gd name="T10" fmla="*/ 33 w 661"/>
                  <a:gd name="T11" fmla="*/ 93 h 901"/>
                  <a:gd name="T12" fmla="*/ 100 w 661"/>
                  <a:gd name="T13" fmla="*/ 38 h 901"/>
                  <a:gd name="T14" fmla="*/ 170 w 661"/>
                  <a:gd name="T15" fmla="*/ 13 h 901"/>
                  <a:gd name="T16" fmla="*/ 244 w 661"/>
                  <a:gd name="T17" fmla="*/ 3 h 901"/>
                  <a:gd name="T18" fmla="*/ 333 w 661"/>
                  <a:gd name="T19" fmla="*/ 0 h 901"/>
                  <a:gd name="T20" fmla="*/ 404 w 661"/>
                  <a:gd name="T21" fmla="*/ 16 h 901"/>
                  <a:gd name="T22" fmla="*/ 471 w 661"/>
                  <a:gd name="T23" fmla="*/ 38 h 901"/>
                  <a:gd name="T24" fmla="*/ 535 w 661"/>
                  <a:gd name="T25" fmla="*/ 64 h 901"/>
                  <a:gd name="T26" fmla="*/ 596 w 661"/>
                  <a:gd name="T27" fmla="*/ 100 h 901"/>
                  <a:gd name="T28" fmla="*/ 657 w 661"/>
                  <a:gd name="T29" fmla="*/ 163 h 901"/>
                  <a:gd name="T30" fmla="*/ 661 w 661"/>
                  <a:gd name="T31" fmla="*/ 901 h 901"/>
                  <a:gd name="T32" fmla="*/ 605 w 661"/>
                  <a:gd name="T33" fmla="*/ 851 h 901"/>
                  <a:gd name="T34" fmla="*/ 551 w 661"/>
                  <a:gd name="T35" fmla="*/ 809 h 901"/>
                  <a:gd name="T36" fmla="*/ 509 w 661"/>
                  <a:gd name="T37" fmla="*/ 791 h 901"/>
                  <a:gd name="T38" fmla="*/ 447 w 661"/>
                  <a:gd name="T39" fmla="*/ 765 h 901"/>
                  <a:gd name="T40" fmla="*/ 375 w 661"/>
                  <a:gd name="T41" fmla="*/ 745 h 901"/>
                  <a:gd name="T42" fmla="*/ 312 w 661"/>
                  <a:gd name="T43" fmla="*/ 741 h 901"/>
                  <a:gd name="T44" fmla="*/ 232 w 661"/>
                  <a:gd name="T45" fmla="*/ 748 h 901"/>
                  <a:gd name="T46" fmla="*/ 173 w 661"/>
                  <a:gd name="T47" fmla="*/ 758 h 901"/>
                  <a:gd name="T48" fmla="*/ 109 w 661"/>
                  <a:gd name="T49" fmla="*/ 777 h 901"/>
                  <a:gd name="T50" fmla="*/ 58 w 661"/>
                  <a:gd name="T51" fmla="*/ 816 h 901"/>
                  <a:gd name="T52" fmla="*/ 50 w 661"/>
                  <a:gd name="T53" fmla="*/ 333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61" h="901">
                    <a:moveTo>
                      <a:pt x="50" y="333"/>
                    </a:moveTo>
                    <a:lnTo>
                      <a:pt x="36" y="290"/>
                    </a:lnTo>
                    <a:lnTo>
                      <a:pt x="14" y="239"/>
                    </a:lnTo>
                    <a:lnTo>
                      <a:pt x="0" y="195"/>
                    </a:lnTo>
                    <a:lnTo>
                      <a:pt x="7" y="144"/>
                    </a:lnTo>
                    <a:lnTo>
                      <a:pt x="33" y="93"/>
                    </a:lnTo>
                    <a:lnTo>
                      <a:pt x="100" y="38"/>
                    </a:lnTo>
                    <a:lnTo>
                      <a:pt x="170" y="13"/>
                    </a:lnTo>
                    <a:lnTo>
                      <a:pt x="244" y="3"/>
                    </a:lnTo>
                    <a:lnTo>
                      <a:pt x="333" y="0"/>
                    </a:lnTo>
                    <a:lnTo>
                      <a:pt x="404" y="16"/>
                    </a:lnTo>
                    <a:lnTo>
                      <a:pt x="471" y="38"/>
                    </a:lnTo>
                    <a:lnTo>
                      <a:pt x="535" y="64"/>
                    </a:lnTo>
                    <a:lnTo>
                      <a:pt x="596" y="100"/>
                    </a:lnTo>
                    <a:lnTo>
                      <a:pt x="657" y="163"/>
                    </a:lnTo>
                    <a:lnTo>
                      <a:pt x="661" y="901"/>
                    </a:lnTo>
                    <a:lnTo>
                      <a:pt x="605" y="851"/>
                    </a:lnTo>
                    <a:lnTo>
                      <a:pt x="551" y="809"/>
                    </a:lnTo>
                    <a:lnTo>
                      <a:pt x="509" y="791"/>
                    </a:lnTo>
                    <a:lnTo>
                      <a:pt x="447" y="765"/>
                    </a:lnTo>
                    <a:lnTo>
                      <a:pt x="375" y="745"/>
                    </a:lnTo>
                    <a:lnTo>
                      <a:pt x="312" y="741"/>
                    </a:lnTo>
                    <a:lnTo>
                      <a:pt x="232" y="748"/>
                    </a:lnTo>
                    <a:lnTo>
                      <a:pt x="173" y="758"/>
                    </a:lnTo>
                    <a:lnTo>
                      <a:pt x="109" y="777"/>
                    </a:lnTo>
                    <a:lnTo>
                      <a:pt x="58" y="816"/>
                    </a:lnTo>
                    <a:lnTo>
                      <a:pt x="50" y="333"/>
                    </a:lnTo>
                    <a:close/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6" name="Freeform 197"/>
              <p:cNvSpPr>
                <a:spLocks noChangeArrowheads="1"/>
              </p:cNvSpPr>
              <p:nvPr/>
            </p:nvSpPr>
            <p:spPr bwMode="auto">
              <a:xfrm>
                <a:off x="3350" y="3003"/>
                <a:ext cx="115" cy="78"/>
              </a:xfrm>
              <a:custGeom>
                <a:avLst/>
                <a:gdLst>
                  <a:gd name="T0" fmla="*/ 6 w 878"/>
                  <a:gd name="T1" fmla="*/ 182 h 597"/>
                  <a:gd name="T2" fmla="*/ 0 w 878"/>
                  <a:gd name="T3" fmla="*/ 237 h 597"/>
                  <a:gd name="T4" fmla="*/ 9 w 878"/>
                  <a:gd name="T5" fmla="*/ 293 h 597"/>
                  <a:gd name="T6" fmla="*/ 35 w 878"/>
                  <a:gd name="T7" fmla="*/ 349 h 597"/>
                  <a:gd name="T8" fmla="*/ 74 w 878"/>
                  <a:gd name="T9" fmla="*/ 404 h 597"/>
                  <a:gd name="T10" fmla="*/ 128 w 878"/>
                  <a:gd name="T11" fmla="*/ 455 h 597"/>
                  <a:gd name="T12" fmla="*/ 192 w 878"/>
                  <a:gd name="T13" fmla="*/ 501 h 597"/>
                  <a:gd name="T14" fmla="*/ 266 w 878"/>
                  <a:gd name="T15" fmla="*/ 539 h 597"/>
                  <a:gd name="T16" fmla="*/ 346 w 878"/>
                  <a:gd name="T17" fmla="*/ 568 h 597"/>
                  <a:gd name="T18" fmla="*/ 428 w 878"/>
                  <a:gd name="T19" fmla="*/ 588 h 597"/>
                  <a:gd name="T20" fmla="*/ 511 w 878"/>
                  <a:gd name="T21" fmla="*/ 597 h 597"/>
                  <a:gd name="T22" fmla="*/ 593 w 878"/>
                  <a:gd name="T23" fmla="*/ 595 h 597"/>
                  <a:gd name="T24" fmla="*/ 667 w 878"/>
                  <a:gd name="T25" fmla="*/ 582 h 597"/>
                  <a:gd name="T26" fmla="*/ 735 w 878"/>
                  <a:gd name="T27" fmla="*/ 560 h 597"/>
                  <a:gd name="T28" fmla="*/ 791 w 878"/>
                  <a:gd name="T29" fmla="*/ 527 h 597"/>
                  <a:gd name="T30" fmla="*/ 835 w 878"/>
                  <a:gd name="T31" fmla="*/ 487 h 597"/>
                  <a:gd name="T32" fmla="*/ 864 w 878"/>
                  <a:gd name="T33" fmla="*/ 441 h 597"/>
                  <a:gd name="T34" fmla="*/ 878 w 878"/>
                  <a:gd name="T35" fmla="*/ 388 h 597"/>
                  <a:gd name="T36" fmla="*/ 877 w 878"/>
                  <a:gd name="T37" fmla="*/ 333 h 597"/>
                  <a:gd name="T38" fmla="*/ 859 w 878"/>
                  <a:gd name="T39" fmla="*/ 276 h 597"/>
                  <a:gd name="T40" fmla="*/ 826 w 878"/>
                  <a:gd name="T41" fmla="*/ 220 h 597"/>
                  <a:gd name="T42" fmla="*/ 779 w 878"/>
                  <a:gd name="T43" fmla="*/ 167 h 597"/>
                  <a:gd name="T44" fmla="*/ 720 w 878"/>
                  <a:gd name="T45" fmla="*/ 119 h 597"/>
                  <a:gd name="T46" fmla="*/ 651 w 878"/>
                  <a:gd name="T47" fmla="*/ 76 h 597"/>
                  <a:gd name="T48" fmla="*/ 574 w 878"/>
                  <a:gd name="T49" fmla="*/ 43 h 597"/>
                  <a:gd name="T50" fmla="*/ 493 w 878"/>
                  <a:gd name="T51" fmla="*/ 18 h 597"/>
                  <a:gd name="T52" fmla="*/ 409 w 878"/>
                  <a:gd name="T53" fmla="*/ 4 h 597"/>
                  <a:gd name="T54" fmla="*/ 326 w 878"/>
                  <a:gd name="T55" fmla="*/ 0 h 597"/>
                  <a:gd name="T56" fmla="*/ 248 w 878"/>
                  <a:gd name="T57" fmla="*/ 7 h 597"/>
                  <a:gd name="T58" fmla="*/ 177 w 878"/>
                  <a:gd name="T59" fmla="*/ 25 h 597"/>
                  <a:gd name="T60" fmla="*/ 115 w 878"/>
                  <a:gd name="T61" fmla="*/ 52 h 597"/>
                  <a:gd name="T62" fmla="*/ 64 w 878"/>
                  <a:gd name="T63" fmla="*/ 89 h 597"/>
                  <a:gd name="T64" fmla="*/ 28 w 878"/>
                  <a:gd name="T65" fmla="*/ 132 h 597"/>
                  <a:gd name="T66" fmla="*/ 6 w 878"/>
                  <a:gd name="T67" fmla="*/ 182 h 597"/>
                  <a:gd name="T68" fmla="*/ 7 w 878"/>
                  <a:gd name="T69" fmla="*/ 182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8" h="597">
                    <a:moveTo>
                      <a:pt x="6" y="182"/>
                    </a:moveTo>
                    <a:lnTo>
                      <a:pt x="0" y="237"/>
                    </a:lnTo>
                    <a:lnTo>
                      <a:pt x="9" y="293"/>
                    </a:lnTo>
                    <a:lnTo>
                      <a:pt x="35" y="349"/>
                    </a:lnTo>
                    <a:lnTo>
                      <a:pt x="74" y="404"/>
                    </a:lnTo>
                    <a:lnTo>
                      <a:pt x="128" y="455"/>
                    </a:lnTo>
                    <a:lnTo>
                      <a:pt x="192" y="501"/>
                    </a:lnTo>
                    <a:lnTo>
                      <a:pt x="266" y="539"/>
                    </a:lnTo>
                    <a:lnTo>
                      <a:pt x="346" y="568"/>
                    </a:lnTo>
                    <a:lnTo>
                      <a:pt x="428" y="588"/>
                    </a:lnTo>
                    <a:lnTo>
                      <a:pt x="511" y="597"/>
                    </a:lnTo>
                    <a:lnTo>
                      <a:pt x="593" y="595"/>
                    </a:lnTo>
                    <a:lnTo>
                      <a:pt x="667" y="582"/>
                    </a:lnTo>
                    <a:lnTo>
                      <a:pt x="735" y="560"/>
                    </a:lnTo>
                    <a:lnTo>
                      <a:pt x="791" y="527"/>
                    </a:lnTo>
                    <a:lnTo>
                      <a:pt x="835" y="487"/>
                    </a:lnTo>
                    <a:lnTo>
                      <a:pt x="864" y="441"/>
                    </a:lnTo>
                    <a:lnTo>
                      <a:pt x="878" y="388"/>
                    </a:lnTo>
                    <a:lnTo>
                      <a:pt x="877" y="333"/>
                    </a:lnTo>
                    <a:lnTo>
                      <a:pt x="859" y="276"/>
                    </a:lnTo>
                    <a:lnTo>
                      <a:pt x="826" y="220"/>
                    </a:lnTo>
                    <a:lnTo>
                      <a:pt x="779" y="167"/>
                    </a:lnTo>
                    <a:lnTo>
                      <a:pt x="720" y="119"/>
                    </a:lnTo>
                    <a:lnTo>
                      <a:pt x="651" y="76"/>
                    </a:lnTo>
                    <a:lnTo>
                      <a:pt x="574" y="43"/>
                    </a:lnTo>
                    <a:lnTo>
                      <a:pt x="493" y="18"/>
                    </a:lnTo>
                    <a:lnTo>
                      <a:pt x="409" y="4"/>
                    </a:lnTo>
                    <a:lnTo>
                      <a:pt x="326" y="0"/>
                    </a:lnTo>
                    <a:lnTo>
                      <a:pt x="248" y="7"/>
                    </a:lnTo>
                    <a:lnTo>
                      <a:pt x="177" y="25"/>
                    </a:lnTo>
                    <a:lnTo>
                      <a:pt x="115" y="52"/>
                    </a:lnTo>
                    <a:lnTo>
                      <a:pt x="64" y="89"/>
                    </a:lnTo>
                    <a:lnTo>
                      <a:pt x="28" y="132"/>
                    </a:lnTo>
                    <a:lnTo>
                      <a:pt x="6" y="182"/>
                    </a:lnTo>
                    <a:lnTo>
                      <a:pt x="7" y="182"/>
                    </a:lnTo>
                  </a:path>
                </a:pathLst>
              </a:custGeom>
              <a:gradFill rotWithShape="0">
                <a:gsLst>
                  <a:gs pos="0">
                    <a:srgbClr val="454545"/>
                  </a:gs>
                  <a:gs pos="50000">
                    <a:srgbClr val="969696"/>
                  </a:gs>
                  <a:gs pos="100000">
                    <a:srgbClr val="454545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7" name="Freeform 198"/>
              <p:cNvSpPr>
                <a:spLocks noChangeArrowheads="1"/>
              </p:cNvSpPr>
              <p:nvPr/>
            </p:nvSpPr>
            <p:spPr bwMode="auto">
              <a:xfrm>
                <a:off x="3590" y="2413"/>
                <a:ext cx="75" cy="50"/>
              </a:xfrm>
              <a:custGeom>
                <a:avLst/>
                <a:gdLst>
                  <a:gd name="T0" fmla="*/ 4 w 571"/>
                  <a:gd name="T1" fmla="*/ 119 h 388"/>
                  <a:gd name="T2" fmla="*/ 0 w 571"/>
                  <a:gd name="T3" fmla="*/ 154 h 388"/>
                  <a:gd name="T4" fmla="*/ 6 w 571"/>
                  <a:gd name="T5" fmla="*/ 190 h 388"/>
                  <a:gd name="T6" fmla="*/ 23 w 571"/>
                  <a:gd name="T7" fmla="*/ 227 h 388"/>
                  <a:gd name="T8" fmla="*/ 49 w 571"/>
                  <a:gd name="T9" fmla="*/ 262 h 388"/>
                  <a:gd name="T10" fmla="*/ 84 w 571"/>
                  <a:gd name="T11" fmla="*/ 296 h 388"/>
                  <a:gd name="T12" fmla="*/ 125 w 571"/>
                  <a:gd name="T13" fmla="*/ 326 h 388"/>
                  <a:gd name="T14" fmla="*/ 173 w 571"/>
                  <a:gd name="T15" fmla="*/ 350 h 388"/>
                  <a:gd name="T16" fmla="*/ 225 w 571"/>
                  <a:gd name="T17" fmla="*/ 369 h 388"/>
                  <a:gd name="T18" fmla="*/ 278 w 571"/>
                  <a:gd name="T19" fmla="*/ 382 h 388"/>
                  <a:gd name="T20" fmla="*/ 333 w 571"/>
                  <a:gd name="T21" fmla="*/ 388 h 388"/>
                  <a:gd name="T22" fmla="*/ 386 w 571"/>
                  <a:gd name="T23" fmla="*/ 387 h 388"/>
                  <a:gd name="T24" fmla="*/ 435 w 571"/>
                  <a:gd name="T25" fmla="*/ 378 h 388"/>
                  <a:gd name="T26" fmla="*/ 478 w 571"/>
                  <a:gd name="T27" fmla="*/ 364 h 388"/>
                  <a:gd name="T28" fmla="*/ 514 w 571"/>
                  <a:gd name="T29" fmla="*/ 343 h 388"/>
                  <a:gd name="T30" fmla="*/ 543 w 571"/>
                  <a:gd name="T31" fmla="*/ 317 h 388"/>
                  <a:gd name="T32" fmla="*/ 562 w 571"/>
                  <a:gd name="T33" fmla="*/ 286 h 388"/>
                  <a:gd name="T34" fmla="*/ 571 w 571"/>
                  <a:gd name="T35" fmla="*/ 252 h 388"/>
                  <a:gd name="T36" fmla="*/ 570 w 571"/>
                  <a:gd name="T37" fmla="*/ 216 h 388"/>
                  <a:gd name="T38" fmla="*/ 559 w 571"/>
                  <a:gd name="T39" fmla="*/ 180 h 388"/>
                  <a:gd name="T40" fmla="*/ 537 w 571"/>
                  <a:gd name="T41" fmla="*/ 143 h 388"/>
                  <a:gd name="T42" fmla="*/ 507 w 571"/>
                  <a:gd name="T43" fmla="*/ 108 h 388"/>
                  <a:gd name="T44" fmla="*/ 469 w 571"/>
                  <a:gd name="T45" fmla="*/ 77 h 388"/>
                  <a:gd name="T46" fmla="*/ 423 w 571"/>
                  <a:gd name="T47" fmla="*/ 50 h 388"/>
                  <a:gd name="T48" fmla="*/ 374 w 571"/>
                  <a:gd name="T49" fmla="*/ 28 h 388"/>
                  <a:gd name="T50" fmla="*/ 321 w 571"/>
                  <a:gd name="T51" fmla="*/ 12 h 388"/>
                  <a:gd name="T52" fmla="*/ 266 w 571"/>
                  <a:gd name="T53" fmla="*/ 3 h 388"/>
                  <a:gd name="T54" fmla="*/ 212 w 571"/>
                  <a:gd name="T55" fmla="*/ 0 h 388"/>
                  <a:gd name="T56" fmla="*/ 161 w 571"/>
                  <a:gd name="T57" fmla="*/ 5 h 388"/>
                  <a:gd name="T58" fmla="*/ 115 w 571"/>
                  <a:gd name="T59" fmla="*/ 16 h 388"/>
                  <a:gd name="T60" fmla="*/ 75 w 571"/>
                  <a:gd name="T61" fmla="*/ 34 h 388"/>
                  <a:gd name="T62" fmla="*/ 42 w 571"/>
                  <a:gd name="T63" fmla="*/ 58 h 388"/>
                  <a:gd name="T64" fmla="*/ 19 w 571"/>
                  <a:gd name="T65" fmla="*/ 87 h 388"/>
                  <a:gd name="T66" fmla="*/ 4 w 571"/>
                  <a:gd name="T67" fmla="*/ 119 h 388"/>
                  <a:gd name="T68" fmla="*/ 5 w 571"/>
                  <a:gd name="T69" fmla="*/ 119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1" h="388">
                    <a:moveTo>
                      <a:pt x="4" y="119"/>
                    </a:moveTo>
                    <a:lnTo>
                      <a:pt x="0" y="154"/>
                    </a:lnTo>
                    <a:lnTo>
                      <a:pt x="6" y="190"/>
                    </a:lnTo>
                    <a:lnTo>
                      <a:pt x="23" y="227"/>
                    </a:lnTo>
                    <a:lnTo>
                      <a:pt x="49" y="262"/>
                    </a:lnTo>
                    <a:lnTo>
                      <a:pt x="84" y="296"/>
                    </a:lnTo>
                    <a:lnTo>
                      <a:pt x="125" y="326"/>
                    </a:lnTo>
                    <a:lnTo>
                      <a:pt x="173" y="350"/>
                    </a:lnTo>
                    <a:lnTo>
                      <a:pt x="225" y="369"/>
                    </a:lnTo>
                    <a:lnTo>
                      <a:pt x="278" y="382"/>
                    </a:lnTo>
                    <a:lnTo>
                      <a:pt x="333" y="388"/>
                    </a:lnTo>
                    <a:lnTo>
                      <a:pt x="386" y="387"/>
                    </a:lnTo>
                    <a:lnTo>
                      <a:pt x="435" y="378"/>
                    </a:lnTo>
                    <a:lnTo>
                      <a:pt x="478" y="364"/>
                    </a:lnTo>
                    <a:lnTo>
                      <a:pt x="514" y="343"/>
                    </a:lnTo>
                    <a:lnTo>
                      <a:pt x="543" y="317"/>
                    </a:lnTo>
                    <a:lnTo>
                      <a:pt x="562" y="286"/>
                    </a:lnTo>
                    <a:lnTo>
                      <a:pt x="571" y="252"/>
                    </a:lnTo>
                    <a:lnTo>
                      <a:pt x="570" y="216"/>
                    </a:lnTo>
                    <a:lnTo>
                      <a:pt x="559" y="180"/>
                    </a:lnTo>
                    <a:lnTo>
                      <a:pt x="537" y="143"/>
                    </a:lnTo>
                    <a:lnTo>
                      <a:pt x="507" y="108"/>
                    </a:lnTo>
                    <a:lnTo>
                      <a:pt x="469" y="77"/>
                    </a:lnTo>
                    <a:lnTo>
                      <a:pt x="423" y="50"/>
                    </a:lnTo>
                    <a:lnTo>
                      <a:pt x="374" y="28"/>
                    </a:lnTo>
                    <a:lnTo>
                      <a:pt x="321" y="12"/>
                    </a:lnTo>
                    <a:lnTo>
                      <a:pt x="266" y="3"/>
                    </a:lnTo>
                    <a:lnTo>
                      <a:pt x="212" y="0"/>
                    </a:lnTo>
                    <a:lnTo>
                      <a:pt x="161" y="5"/>
                    </a:lnTo>
                    <a:lnTo>
                      <a:pt x="115" y="16"/>
                    </a:lnTo>
                    <a:lnTo>
                      <a:pt x="75" y="34"/>
                    </a:lnTo>
                    <a:lnTo>
                      <a:pt x="42" y="58"/>
                    </a:lnTo>
                    <a:lnTo>
                      <a:pt x="19" y="87"/>
                    </a:lnTo>
                    <a:lnTo>
                      <a:pt x="4" y="119"/>
                    </a:lnTo>
                    <a:lnTo>
                      <a:pt x="5" y="119"/>
                    </a:lnTo>
                  </a:path>
                </a:pathLst>
              </a:custGeom>
              <a:gradFill rotWithShape="0">
                <a:gsLst>
                  <a:gs pos="0">
                    <a:srgbClr val="525252"/>
                  </a:gs>
                  <a:gs pos="50000">
                    <a:srgbClr val="B2B2B2"/>
                  </a:gs>
                  <a:gs pos="100000">
                    <a:srgbClr val="525252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8" name="Freeform 199"/>
              <p:cNvSpPr>
                <a:spLocks noChangeArrowheads="1"/>
              </p:cNvSpPr>
              <p:nvPr/>
            </p:nvSpPr>
            <p:spPr bwMode="auto">
              <a:xfrm>
                <a:off x="3800" y="2485"/>
                <a:ext cx="73" cy="81"/>
              </a:xfrm>
              <a:custGeom>
                <a:avLst/>
                <a:gdLst>
                  <a:gd name="T0" fmla="*/ 4 w 552"/>
                  <a:gd name="T1" fmla="*/ 472 h 615"/>
                  <a:gd name="T2" fmla="*/ 17 w 552"/>
                  <a:gd name="T3" fmla="*/ 520 h 615"/>
                  <a:gd name="T4" fmla="*/ 41 w 552"/>
                  <a:gd name="T5" fmla="*/ 559 h 615"/>
                  <a:gd name="T6" fmla="*/ 74 w 552"/>
                  <a:gd name="T7" fmla="*/ 588 h 615"/>
                  <a:gd name="T8" fmla="*/ 114 w 552"/>
                  <a:gd name="T9" fmla="*/ 608 h 615"/>
                  <a:gd name="T10" fmla="*/ 161 w 552"/>
                  <a:gd name="T11" fmla="*/ 615 h 615"/>
                  <a:gd name="T12" fmla="*/ 213 w 552"/>
                  <a:gd name="T13" fmla="*/ 610 h 615"/>
                  <a:gd name="T14" fmla="*/ 265 w 552"/>
                  <a:gd name="T15" fmla="*/ 594 h 615"/>
                  <a:gd name="T16" fmla="*/ 319 w 552"/>
                  <a:gd name="T17" fmla="*/ 567 h 615"/>
                  <a:gd name="T18" fmla="*/ 372 w 552"/>
                  <a:gd name="T19" fmla="*/ 530 h 615"/>
                  <a:gd name="T20" fmla="*/ 421 w 552"/>
                  <a:gd name="T21" fmla="*/ 485 h 615"/>
                  <a:gd name="T22" fmla="*/ 464 w 552"/>
                  <a:gd name="T23" fmla="*/ 432 h 615"/>
                  <a:gd name="T24" fmla="*/ 499 w 552"/>
                  <a:gd name="T25" fmla="*/ 375 h 615"/>
                  <a:gd name="T26" fmla="*/ 527 w 552"/>
                  <a:gd name="T27" fmla="*/ 315 h 615"/>
                  <a:gd name="T28" fmla="*/ 545 w 552"/>
                  <a:gd name="T29" fmla="*/ 255 h 615"/>
                  <a:gd name="T30" fmla="*/ 552 w 552"/>
                  <a:gd name="T31" fmla="*/ 197 h 615"/>
                  <a:gd name="T32" fmla="*/ 549 w 552"/>
                  <a:gd name="T33" fmla="*/ 143 h 615"/>
                  <a:gd name="T34" fmla="*/ 536 w 552"/>
                  <a:gd name="T35" fmla="*/ 96 h 615"/>
                  <a:gd name="T36" fmla="*/ 512 w 552"/>
                  <a:gd name="T37" fmla="*/ 56 h 615"/>
                  <a:gd name="T38" fmla="*/ 480 w 552"/>
                  <a:gd name="T39" fmla="*/ 27 h 615"/>
                  <a:gd name="T40" fmla="*/ 439 w 552"/>
                  <a:gd name="T41" fmla="*/ 8 h 615"/>
                  <a:gd name="T42" fmla="*/ 393 w 552"/>
                  <a:gd name="T43" fmla="*/ 0 h 615"/>
                  <a:gd name="T44" fmla="*/ 341 w 552"/>
                  <a:gd name="T45" fmla="*/ 4 h 615"/>
                  <a:gd name="T46" fmla="*/ 287 w 552"/>
                  <a:gd name="T47" fmla="*/ 21 h 615"/>
                  <a:gd name="T48" fmla="*/ 233 w 552"/>
                  <a:gd name="T49" fmla="*/ 48 h 615"/>
                  <a:gd name="T50" fmla="*/ 182 w 552"/>
                  <a:gd name="T51" fmla="*/ 84 h 615"/>
                  <a:gd name="T52" fmla="*/ 133 w 552"/>
                  <a:gd name="T53" fmla="*/ 130 h 615"/>
                  <a:gd name="T54" fmla="*/ 89 w 552"/>
                  <a:gd name="T55" fmla="*/ 182 h 615"/>
                  <a:gd name="T56" fmla="*/ 53 w 552"/>
                  <a:gd name="T57" fmla="*/ 239 h 615"/>
                  <a:gd name="T58" fmla="*/ 26 w 552"/>
                  <a:gd name="T59" fmla="*/ 299 h 615"/>
                  <a:gd name="T60" fmla="*/ 8 w 552"/>
                  <a:gd name="T61" fmla="*/ 359 h 615"/>
                  <a:gd name="T62" fmla="*/ 0 w 552"/>
                  <a:gd name="T63" fmla="*/ 417 h 615"/>
                  <a:gd name="T64" fmla="*/ 1 w 552"/>
                  <a:gd name="T65" fmla="*/ 417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52" h="615">
                    <a:moveTo>
                      <a:pt x="4" y="472"/>
                    </a:moveTo>
                    <a:lnTo>
                      <a:pt x="17" y="520"/>
                    </a:lnTo>
                    <a:lnTo>
                      <a:pt x="41" y="559"/>
                    </a:lnTo>
                    <a:lnTo>
                      <a:pt x="74" y="588"/>
                    </a:lnTo>
                    <a:lnTo>
                      <a:pt x="114" y="608"/>
                    </a:lnTo>
                    <a:lnTo>
                      <a:pt x="161" y="615"/>
                    </a:lnTo>
                    <a:lnTo>
                      <a:pt x="213" y="610"/>
                    </a:lnTo>
                    <a:lnTo>
                      <a:pt x="265" y="594"/>
                    </a:lnTo>
                    <a:lnTo>
                      <a:pt x="319" y="567"/>
                    </a:lnTo>
                    <a:lnTo>
                      <a:pt x="372" y="530"/>
                    </a:lnTo>
                    <a:lnTo>
                      <a:pt x="421" y="485"/>
                    </a:lnTo>
                    <a:lnTo>
                      <a:pt x="464" y="432"/>
                    </a:lnTo>
                    <a:lnTo>
                      <a:pt x="499" y="375"/>
                    </a:lnTo>
                    <a:lnTo>
                      <a:pt x="527" y="315"/>
                    </a:lnTo>
                    <a:lnTo>
                      <a:pt x="545" y="255"/>
                    </a:lnTo>
                    <a:lnTo>
                      <a:pt x="552" y="197"/>
                    </a:lnTo>
                    <a:lnTo>
                      <a:pt x="549" y="143"/>
                    </a:lnTo>
                    <a:lnTo>
                      <a:pt x="536" y="96"/>
                    </a:lnTo>
                    <a:lnTo>
                      <a:pt x="512" y="56"/>
                    </a:lnTo>
                    <a:lnTo>
                      <a:pt x="480" y="27"/>
                    </a:lnTo>
                    <a:lnTo>
                      <a:pt x="439" y="8"/>
                    </a:lnTo>
                    <a:lnTo>
                      <a:pt x="393" y="0"/>
                    </a:lnTo>
                    <a:lnTo>
                      <a:pt x="341" y="4"/>
                    </a:lnTo>
                    <a:lnTo>
                      <a:pt x="287" y="21"/>
                    </a:lnTo>
                    <a:lnTo>
                      <a:pt x="233" y="48"/>
                    </a:lnTo>
                    <a:lnTo>
                      <a:pt x="182" y="84"/>
                    </a:lnTo>
                    <a:lnTo>
                      <a:pt x="133" y="130"/>
                    </a:lnTo>
                    <a:lnTo>
                      <a:pt x="89" y="182"/>
                    </a:lnTo>
                    <a:lnTo>
                      <a:pt x="53" y="239"/>
                    </a:lnTo>
                    <a:lnTo>
                      <a:pt x="26" y="299"/>
                    </a:lnTo>
                    <a:lnTo>
                      <a:pt x="8" y="359"/>
                    </a:lnTo>
                    <a:lnTo>
                      <a:pt x="0" y="417"/>
                    </a:lnTo>
                    <a:lnTo>
                      <a:pt x="1" y="417"/>
                    </a:lnTo>
                  </a:path>
                </a:pathLst>
              </a:custGeom>
              <a:gradFill rotWithShape="0">
                <a:gsLst>
                  <a:gs pos="0">
                    <a:srgbClr val="454545"/>
                  </a:gs>
                  <a:gs pos="50000">
                    <a:srgbClr val="969696"/>
                  </a:gs>
                  <a:gs pos="100000">
                    <a:srgbClr val="454545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9" name="Freeform 200"/>
              <p:cNvSpPr>
                <a:spLocks noChangeArrowheads="1"/>
              </p:cNvSpPr>
              <p:nvPr/>
            </p:nvSpPr>
            <p:spPr bwMode="auto">
              <a:xfrm>
                <a:off x="4188" y="2793"/>
                <a:ext cx="59" cy="78"/>
              </a:xfrm>
              <a:custGeom>
                <a:avLst/>
                <a:gdLst>
                  <a:gd name="T0" fmla="*/ 0 w 449"/>
                  <a:gd name="T1" fmla="*/ 582 h 590"/>
                  <a:gd name="T2" fmla="*/ 83 w 449"/>
                  <a:gd name="T3" fmla="*/ 590 h 590"/>
                  <a:gd name="T4" fmla="*/ 163 w 449"/>
                  <a:gd name="T5" fmla="*/ 589 h 590"/>
                  <a:gd name="T6" fmla="*/ 237 w 449"/>
                  <a:gd name="T7" fmla="*/ 577 h 590"/>
                  <a:gd name="T8" fmla="*/ 303 w 449"/>
                  <a:gd name="T9" fmla="*/ 556 h 590"/>
                  <a:gd name="T10" fmla="*/ 359 w 449"/>
                  <a:gd name="T11" fmla="*/ 525 h 590"/>
                  <a:gd name="T12" fmla="*/ 404 w 449"/>
                  <a:gd name="T13" fmla="*/ 485 h 590"/>
                  <a:gd name="T14" fmla="*/ 434 w 449"/>
                  <a:gd name="T15" fmla="*/ 439 h 590"/>
                  <a:gd name="T16" fmla="*/ 449 w 449"/>
                  <a:gd name="T17" fmla="*/ 388 h 590"/>
                  <a:gd name="T18" fmla="*/ 449 w 449"/>
                  <a:gd name="T19" fmla="*/ 333 h 590"/>
                  <a:gd name="T20" fmla="*/ 434 w 449"/>
                  <a:gd name="T21" fmla="*/ 277 h 590"/>
                  <a:gd name="T22" fmla="*/ 404 w 449"/>
                  <a:gd name="T23" fmla="*/ 222 h 590"/>
                  <a:gd name="T24" fmla="*/ 359 w 449"/>
                  <a:gd name="T25" fmla="*/ 169 h 590"/>
                  <a:gd name="T26" fmla="*/ 303 w 449"/>
                  <a:gd name="T27" fmla="*/ 120 h 590"/>
                  <a:gd name="T28" fmla="*/ 237 w 449"/>
                  <a:gd name="T29" fmla="*/ 77 h 590"/>
                  <a:gd name="T30" fmla="*/ 163 w 449"/>
                  <a:gd name="T31" fmla="*/ 42 h 590"/>
                  <a:gd name="T32" fmla="*/ 83 w 449"/>
                  <a:gd name="T33" fmla="*/ 16 h 590"/>
                  <a:gd name="T34" fmla="*/ 0 w 449"/>
                  <a:gd name="T35" fmla="*/ 0 h 590"/>
                  <a:gd name="T36" fmla="*/ 1 w 449"/>
                  <a:gd name="T37" fmla="*/ 0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49" h="590">
                    <a:moveTo>
                      <a:pt x="0" y="582"/>
                    </a:moveTo>
                    <a:lnTo>
                      <a:pt x="83" y="590"/>
                    </a:lnTo>
                    <a:lnTo>
                      <a:pt x="163" y="589"/>
                    </a:lnTo>
                    <a:lnTo>
                      <a:pt x="237" y="577"/>
                    </a:lnTo>
                    <a:lnTo>
                      <a:pt x="303" y="556"/>
                    </a:lnTo>
                    <a:lnTo>
                      <a:pt x="359" y="525"/>
                    </a:lnTo>
                    <a:lnTo>
                      <a:pt x="404" y="485"/>
                    </a:lnTo>
                    <a:lnTo>
                      <a:pt x="434" y="439"/>
                    </a:lnTo>
                    <a:lnTo>
                      <a:pt x="449" y="388"/>
                    </a:lnTo>
                    <a:lnTo>
                      <a:pt x="449" y="333"/>
                    </a:lnTo>
                    <a:lnTo>
                      <a:pt x="434" y="277"/>
                    </a:lnTo>
                    <a:lnTo>
                      <a:pt x="404" y="222"/>
                    </a:lnTo>
                    <a:lnTo>
                      <a:pt x="359" y="169"/>
                    </a:lnTo>
                    <a:lnTo>
                      <a:pt x="303" y="120"/>
                    </a:lnTo>
                    <a:lnTo>
                      <a:pt x="237" y="77"/>
                    </a:lnTo>
                    <a:lnTo>
                      <a:pt x="163" y="42"/>
                    </a:lnTo>
                    <a:lnTo>
                      <a:pt x="83" y="16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gradFill rotWithShape="0">
                <a:gsLst>
                  <a:gs pos="0">
                    <a:srgbClr val="B2B2B2"/>
                  </a:gs>
                  <a:gs pos="100000">
                    <a:srgbClr val="525252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470" name="Group 201"/>
              <p:cNvGrpSpPr>
                <a:grpSpLocks/>
              </p:cNvGrpSpPr>
              <p:nvPr/>
            </p:nvGrpSpPr>
            <p:grpSpPr bwMode="auto">
              <a:xfrm>
                <a:off x="3467" y="2425"/>
                <a:ext cx="982" cy="908"/>
                <a:chOff x="1495" y="549"/>
                <a:chExt cx="1873" cy="1732"/>
              </a:xfrm>
            </p:grpSpPr>
            <p:sp>
              <p:nvSpPr>
                <p:cNvPr id="493" name="Freeform 202"/>
                <p:cNvSpPr>
                  <a:spLocks noChangeArrowheads="1"/>
                </p:cNvSpPr>
                <p:nvPr/>
              </p:nvSpPr>
              <p:spPr bwMode="auto">
                <a:xfrm>
                  <a:off x="1597" y="1993"/>
                  <a:ext cx="226" cy="288"/>
                </a:xfrm>
                <a:custGeom>
                  <a:avLst/>
                  <a:gdLst>
                    <a:gd name="T0" fmla="*/ 0 w 903"/>
                    <a:gd name="T1" fmla="*/ 1155 h 1155"/>
                    <a:gd name="T2" fmla="*/ 902 w 903"/>
                    <a:gd name="T3" fmla="*/ 0 h 1155"/>
                    <a:gd name="T4" fmla="*/ 903 w 903"/>
                    <a:gd name="T5" fmla="*/ 0 h 1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03" h="1155">
                      <a:moveTo>
                        <a:pt x="0" y="1155"/>
                      </a:moveTo>
                      <a:lnTo>
                        <a:pt x="902" y="0"/>
                      </a:lnTo>
                      <a:lnTo>
                        <a:pt x="903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4" name="Freeform 203"/>
                <p:cNvSpPr>
                  <a:spLocks noChangeArrowheads="1"/>
                </p:cNvSpPr>
                <p:nvPr/>
              </p:nvSpPr>
              <p:spPr bwMode="auto">
                <a:xfrm>
                  <a:off x="1495" y="2047"/>
                  <a:ext cx="125" cy="159"/>
                </a:xfrm>
                <a:custGeom>
                  <a:avLst/>
                  <a:gdLst>
                    <a:gd name="T0" fmla="*/ 0 w 498"/>
                    <a:gd name="T1" fmla="*/ 637 h 637"/>
                    <a:gd name="T2" fmla="*/ 497 w 498"/>
                    <a:gd name="T3" fmla="*/ 0 h 637"/>
                    <a:gd name="T4" fmla="*/ 498 w 498"/>
                    <a:gd name="T5" fmla="*/ 0 h 6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98" h="637">
                      <a:moveTo>
                        <a:pt x="0" y="637"/>
                      </a:moveTo>
                      <a:lnTo>
                        <a:pt x="497" y="0"/>
                      </a:lnTo>
                      <a:lnTo>
                        <a:pt x="498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5" name="Freeform 204"/>
                <p:cNvSpPr>
                  <a:spLocks noChangeArrowheads="1"/>
                </p:cNvSpPr>
                <p:nvPr/>
              </p:nvSpPr>
              <p:spPr bwMode="auto">
                <a:xfrm>
                  <a:off x="2642" y="1475"/>
                  <a:ext cx="229" cy="292"/>
                </a:xfrm>
                <a:custGeom>
                  <a:avLst/>
                  <a:gdLst>
                    <a:gd name="T0" fmla="*/ 0 w 914"/>
                    <a:gd name="T1" fmla="*/ 1169 h 1169"/>
                    <a:gd name="T2" fmla="*/ 913 w 914"/>
                    <a:gd name="T3" fmla="*/ 0 h 1169"/>
                    <a:gd name="T4" fmla="*/ 914 w 914"/>
                    <a:gd name="T5" fmla="*/ 0 h 11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14" h="1169">
                      <a:moveTo>
                        <a:pt x="0" y="1169"/>
                      </a:moveTo>
                      <a:lnTo>
                        <a:pt x="913" y="0"/>
                      </a:lnTo>
                      <a:lnTo>
                        <a:pt x="914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6" name="Freeform 205"/>
                <p:cNvSpPr>
                  <a:spLocks noChangeArrowheads="1"/>
                </p:cNvSpPr>
                <p:nvPr/>
              </p:nvSpPr>
              <p:spPr bwMode="auto">
                <a:xfrm>
                  <a:off x="2818" y="1665"/>
                  <a:ext cx="225" cy="289"/>
                </a:xfrm>
                <a:custGeom>
                  <a:avLst/>
                  <a:gdLst>
                    <a:gd name="T0" fmla="*/ 0 w 903"/>
                    <a:gd name="T1" fmla="*/ 1155 h 1155"/>
                    <a:gd name="T2" fmla="*/ 902 w 903"/>
                    <a:gd name="T3" fmla="*/ 0 h 1155"/>
                    <a:gd name="T4" fmla="*/ 903 w 903"/>
                    <a:gd name="T5" fmla="*/ 0 h 1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03" h="1155">
                      <a:moveTo>
                        <a:pt x="0" y="1155"/>
                      </a:moveTo>
                      <a:lnTo>
                        <a:pt x="902" y="0"/>
                      </a:lnTo>
                      <a:lnTo>
                        <a:pt x="903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7" name="Freeform 206"/>
                <p:cNvSpPr>
                  <a:spLocks noChangeArrowheads="1"/>
                </p:cNvSpPr>
                <p:nvPr/>
              </p:nvSpPr>
              <p:spPr bwMode="auto">
                <a:xfrm>
                  <a:off x="1992" y="1530"/>
                  <a:ext cx="192" cy="245"/>
                </a:xfrm>
                <a:custGeom>
                  <a:avLst/>
                  <a:gdLst>
                    <a:gd name="T0" fmla="*/ 0 w 767"/>
                    <a:gd name="T1" fmla="*/ 981 h 981"/>
                    <a:gd name="T2" fmla="*/ 766 w 767"/>
                    <a:gd name="T3" fmla="*/ 0 h 981"/>
                    <a:gd name="T4" fmla="*/ 767 w 767"/>
                    <a:gd name="T5" fmla="*/ 0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767" h="981">
                      <a:moveTo>
                        <a:pt x="0" y="981"/>
                      </a:moveTo>
                      <a:lnTo>
                        <a:pt x="766" y="0"/>
                      </a:lnTo>
                      <a:lnTo>
                        <a:pt x="767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8" name="Freeform 207"/>
                <p:cNvSpPr>
                  <a:spLocks noChangeArrowheads="1"/>
                </p:cNvSpPr>
                <p:nvPr/>
              </p:nvSpPr>
              <p:spPr bwMode="auto">
                <a:xfrm>
                  <a:off x="1801" y="1689"/>
                  <a:ext cx="420" cy="538"/>
                </a:xfrm>
                <a:custGeom>
                  <a:avLst/>
                  <a:gdLst>
                    <a:gd name="T0" fmla="*/ 0 w 1681"/>
                    <a:gd name="T1" fmla="*/ 2152 h 2152"/>
                    <a:gd name="T2" fmla="*/ 1680 w 1681"/>
                    <a:gd name="T3" fmla="*/ 0 h 2152"/>
                    <a:gd name="T4" fmla="*/ 1681 w 1681"/>
                    <a:gd name="T5" fmla="*/ 0 h 2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681" h="2152">
                      <a:moveTo>
                        <a:pt x="0" y="2152"/>
                      </a:moveTo>
                      <a:lnTo>
                        <a:pt x="1680" y="0"/>
                      </a:lnTo>
                      <a:lnTo>
                        <a:pt x="1681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9" name="Freeform 208"/>
                <p:cNvSpPr>
                  <a:spLocks noChangeArrowheads="1"/>
                </p:cNvSpPr>
                <p:nvPr/>
              </p:nvSpPr>
              <p:spPr bwMode="auto">
                <a:xfrm>
                  <a:off x="2004" y="1895"/>
                  <a:ext cx="217" cy="277"/>
                </a:xfrm>
                <a:custGeom>
                  <a:avLst/>
                  <a:gdLst>
                    <a:gd name="T0" fmla="*/ 0 w 868"/>
                    <a:gd name="T1" fmla="*/ 1109 h 1109"/>
                    <a:gd name="T2" fmla="*/ 867 w 868"/>
                    <a:gd name="T3" fmla="*/ 0 h 1109"/>
                    <a:gd name="T4" fmla="*/ 868 w 868"/>
                    <a:gd name="T5" fmla="*/ 0 h 1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68" h="1109">
                      <a:moveTo>
                        <a:pt x="0" y="1109"/>
                      </a:moveTo>
                      <a:lnTo>
                        <a:pt x="867" y="0"/>
                      </a:lnTo>
                      <a:lnTo>
                        <a:pt x="868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00" name="Freeform 209"/>
                <p:cNvSpPr>
                  <a:spLocks noChangeArrowheads="1"/>
                </p:cNvSpPr>
                <p:nvPr/>
              </p:nvSpPr>
              <p:spPr bwMode="auto">
                <a:xfrm>
                  <a:off x="2732" y="549"/>
                  <a:ext cx="218" cy="279"/>
                </a:xfrm>
                <a:custGeom>
                  <a:avLst/>
                  <a:gdLst>
                    <a:gd name="T0" fmla="*/ 0 w 871"/>
                    <a:gd name="T1" fmla="*/ 1113 h 1113"/>
                    <a:gd name="T2" fmla="*/ 870 w 871"/>
                    <a:gd name="T3" fmla="*/ 0 h 1113"/>
                    <a:gd name="T4" fmla="*/ 871 w 871"/>
                    <a:gd name="T5" fmla="*/ 0 h 1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71" h="1113">
                      <a:moveTo>
                        <a:pt x="0" y="1113"/>
                      </a:moveTo>
                      <a:lnTo>
                        <a:pt x="870" y="0"/>
                      </a:lnTo>
                      <a:lnTo>
                        <a:pt x="871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01" name="Freeform 210"/>
                <p:cNvSpPr>
                  <a:spLocks noChangeArrowheads="1"/>
                </p:cNvSpPr>
                <p:nvPr/>
              </p:nvSpPr>
              <p:spPr bwMode="auto">
                <a:xfrm>
                  <a:off x="3021" y="1611"/>
                  <a:ext cx="226" cy="289"/>
                </a:xfrm>
                <a:custGeom>
                  <a:avLst/>
                  <a:gdLst>
                    <a:gd name="T0" fmla="*/ 0 w 902"/>
                    <a:gd name="T1" fmla="*/ 1154 h 1154"/>
                    <a:gd name="T2" fmla="*/ 901 w 902"/>
                    <a:gd name="T3" fmla="*/ 0 h 1154"/>
                    <a:gd name="T4" fmla="*/ 902 w 902"/>
                    <a:gd name="T5" fmla="*/ 0 h 1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02" h="1154">
                      <a:moveTo>
                        <a:pt x="0" y="1154"/>
                      </a:moveTo>
                      <a:lnTo>
                        <a:pt x="901" y="0"/>
                      </a:lnTo>
                      <a:lnTo>
                        <a:pt x="902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02" name="Freeform 211"/>
                <p:cNvSpPr>
                  <a:spLocks noChangeArrowheads="1"/>
                </p:cNvSpPr>
                <p:nvPr/>
              </p:nvSpPr>
              <p:spPr bwMode="auto">
                <a:xfrm>
                  <a:off x="3225" y="1662"/>
                  <a:ext cx="143" cy="183"/>
                </a:xfrm>
                <a:custGeom>
                  <a:avLst/>
                  <a:gdLst>
                    <a:gd name="T0" fmla="*/ 0 w 574"/>
                    <a:gd name="T1" fmla="*/ 733 h 733"/>
                    <a:gd name="T2" fmla="*/ 573 w 574"/>
                    <a:gd name="T3" fmla="*/ 0 h 733"/>
                    <a:gd name="T4" fmla="*/ 574 w 574"/>
                    <a:gd name="T5" fmla="*/ 0 h 7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74" h="733">
                      <a:moveTo>
                        <a:pt x="0" y="733"/>
                      </a:moveTo>
                      <a:lnTo>
                        <a:pt x="573" y="0"/>
                      </a:lnTo>
                      <a:lnTo>
                        <a:pt x="574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03" name="Freeform 212"/>
                <p:cNvSpPr>
                  <a:spLocks noChangeArrowheads="1"/>
                </p:cNvSpPr>
                <p:nvPr/>
              </p:nvSpPr>
              <p:spPr bwMode="auto">
                <a:xfrm>
                  <a:off x="2642" y="1681"/>
                  <a:ext cx="229" cy="292"/>
                </a:xfrm>
                <a:custGeom>
                  <a:avLst/>
                  <a:gdLst>
                    <a:gd name="T0" fmla="*/ 0 w 914"/>
                    <a:gd name="T1" fmla="*/ 1169 h 1169"/>
                    <a:gd name="T2" fmla="*/ 913 w 914"/>
                    <a:gd name="T3" fmla="*/ 0 h 1169"/>
                    <a:gd name="T4" fmla="*/ 914 w 914"/>
                    <a:gd name="T5" fmla="*/ 0 h 11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14" h="1169">
                      <a:moveTo>
                        <a:pt x="0" y="1169"/>
                      </a:moveTo>
                      <a:lnTo>
                        <a:pt x="913" y="0"/>
                      </a:lnTo>
                      <a:lnTo>
                        <a:pt x="914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04" name="Freeform 213"/>
                <p:cNvSpPr>
                  <a:spLocks noChangeArrowheads="1"/>
                </p:cNvSpPr>
                <p:nvPr/>
              </p:nvSpPr>
              <p:spPr bwMode="auto">
                <a:xfrm>
                  <a:off x="1992" y="981"/>
                  <a:ext cx="139" cy="176"/>
                </a:xfrm>
                <a:custGeom>
                  <a:avLst/>
                  <a:gdLst>
                    <a:gd name="T0" fmla="*/ 0 w 553"/>
                    <a:gd name="T1" fmla="*/ 706 h 706"/>
                    <a:gd name="T2" fmla="*/ 552 w 553"/>
                    <a:gd name="T3" fmla="*/ 0 h 706"/>
                    <a:gd name="T4" fmla="*/ 553 w 553"/>
                    <a:gd name="T5" fmla="*/ 0 h 7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53" h="706">
                      <a:moveTo>
                        <a:pt x="0" y="706"/>
                      </a:moveTo>
                      <a:lnTo>
                        <a:pt x="552" y="0"/>
                      </a:lnTo>
                      <a:lnTo>
                        <a:pt x="553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05" name="Freeform 214"/>
                <p:cNvSpPr>
                  <a:spLocks noChangeArrowheads="1"/>
                </p:cNvSpPr>
                <p:nvPr/>
              </p:nvSpPr>
              <p:spPr bwMode="auto">
                <a:xfrm>
                  <a:off x="1992" y="1393"/>
                  <a:ext cx="139" cy="176"/>
                </a:xfrm>
                <a:custGeom>
                  <a:avLst/>
                  <a:gdLst>
                    <a:gd name="T0" fmla="*/ 0 w 553"/>
                    <a:gd name="T1" fmla="*/ 707 h 707"/>
                    <a:gd name="T2" fmla="*/ 552 w 553"/>
                    <a:gd name="T3" fmla="*/ 0 h 707"/>
                    <a:gd name="T4" fmla="*/ 553 w 553"/>
                    <a:gd name="T5" fmla="*/ 0 h 7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53" h="707">
                      <a:moveTo>
                        <a:pt x="0" y="707"/>
                      </a:moveTo>
                      <a:lnTo>
                        <a:pt x="552" y="0"/>
                      </a:lnTo>
                      <a:lnTo>
                        <a:pt x="553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06" name="Freeform 215"/>
                <p:cNvSpPr>
                  <a:spLocks noChangeArrowheads="1"/>
                </p:cNvSpPr>
                <p:nvPr/>
              </p:nvSpPr>
              <p:spPr bwMode="auto">
                <a:xfrm>
                  <a:off x="1992" y="1187"/>
                  <a:ext cx="139" cy="176"/>
                </a:xfrm>
                <a:custGeom>
                  <a:avLst/>
                  <a:gdLst>
                    <a:gd name="T0" fmla="*/ 0 w 553"/>
                    <a:gd name="T1" fmla="*/ 707 h 707"/>
                    <a:gd name="T2" fmla="*/ 552 w 553"/>
                    <a:gd name="T3" fmla="*/ 0 h 707"/>
                    <a:gd name="T4" fmla="*/ 553 w 553"/>
                    <a:gd name="T5" fmla="*/ 0 h 7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53" h="707">
                      <a:moveTo>
                        <a:pt x="0" y="707"/>
                      </a:moveTo>
                      <a:lnTo>
                        <a:pt x="552" y="0"/>
                      </a:lnTo>
                      <a:lnTo>
                        <a:pt x="553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07" name="Freeform 216"/>
                <p:cNvSpPr>
                  <a:spLocks noChangeArrowheads="1"/>
                </p:cNvSpPr>
                <p:nvPr/>
              </p:nvSpPr>
              <p:spPr bwMode="auto">
                <a:xfrm>
                  <a:off x="1992" y="775"/>
                  <a:ext cx="139" cy="176"/>
                </a:xfrm>
                <a:custGeom>
                  <a:avLst/>
                  <a:gdLst>
                    <a:gd name="T0" fmla="*/ 0 w 553"/>
                    <a:gd name="T1" fmla="*/ 707 h 707"/>
                    <a:gd name="T2" fmla="*/ 552 w 553"/>
                    <a:gd name="T3" fmla="*/ 0 h 707"/>
                    <a:gd name="T4" fmla="*/ 553 w 553"/>
                    <a:gd name="T5" fmla="*/ 0 h 7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53" h="707">
                      <a:moveTo>
                        <a:pt x="0" y="707"/>
                      </a:moveTo>
                      <a:lnTo>
                        <a:pt x="552" y="0"/>
                      </a:lnTo>
                      <a:lnTo>
                        <a:pt x="553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08" name="Freeform 217"/>
                <p:cNvSpPr>
                  <a:spLocks noChangeArrowheads="1"/>
                </p:cNvSpPr>
                <p:nvPr/>
              </p:nvSpPr>
              <p:spPr bwMode="auto">
                <a:xfrm>
                  <a:off x="1872" y="822"/>
                  <a:ext cx="61" cy="78"/>
                </a:xfrm>
                <a:custGeom>
                  <a:avLst/>
                  <a:gdLst>
                    <a:gd name="T0" fmla="*/ 0 w 246"/>
                    <a:gd name="T1" fmla="*/ 312 h 312"/>
                    <a:gd name="T2" fmla="*/ 245 w 246"/>
                    <a:gd name="T3" fmla="*/ 0 h 312"/>
                    <a:gd name="T4" fmla="*/ 246 w 246"/>
                    <a:gd name="T5" fmla="*/ 0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46" h="312">
                      <a:moveTo>
                        <a:pt x="0" y="312"/>
                      </a:moveTo>
                      <a:lnTo>
                        <a:pt x="245" y="0"/>
                      </a:lnTo>
                      <a:lnTo>
                        <a:pt x="246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09" name="Freeform 218"/>
                <p:cNvSpPr>
                  <a:spLocks noChangeArrowheads="1"/>
                </p:cNvSpPr>
                <p:nvPr/>
              </p:nvSpPr>
              <p:spPr bwMode="auto">
                <a:xfrm>
                  <a:off x="2732" y="1063"/>
                  <a:ext cx="139" cy="177"/>
                </a:xfrm>
                <a:custGeom>
                  <a:avLst/>
                  <a:gdLst>
                    <a:gd name="T0" fmla="*/ 0 w 553"/>
                    <a:gd name="T1" fmla="*/ 707 h 707"/>
                    <a:gd name="T2" fmla="*/ 552 w 553"/>
                    <a:gd name="T3" fmla="*/ 0 h 707"/>
                    <a:gd name="T4" fmla="*/ 553 w 553"/>
                    <a:gd name="T5" fmla="*/ 0 h 7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53" h="707">
                      <a:moveTo>
                        <a:pt x="0" y="707"/>
                      </a:moveTo>
                      <a:lnTo>
                        <a:pt x="552" y="0"/>
                      </a:lnTo>
                      <a:lnTo>
                        <a:pt x="553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10" name="Freeform 219"/>
                <p:cNvSpPr>
                  <a:spLocks noChangeArrowheads="1"/>
                </p:cNvSpPr>
                <p:nvPr/>
              </p:nvSpPr>
              <p:spPr bwMode="auto">
                <a:xfrm>
                  <a:off x="2642" y="1269"/>
                  <a:ext cx="229" cy="292"/>
                </a:xfrm>
                <a:custGeom>
                  <a:avLst/>
                  <a:gdLst>
                    <a:gd name="T0" fmla="*/ 0 w 914"/>
                    <a:gd name="T1" fmla="*/ 1170 h 1170"/>
                    <a:gd name="T2" fmla="*/ 913 w 914"/>
                    <a:gd name="T3" fmla="*/ 0 h 1170"/>
                    <a:gd name="T4" fmla="*/ 914 w 914"/>
                    <a:gd name="T5" fmla="*/ 0 h 1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14" h="1170">
                      <a:moveTo>
                        <a:pt x="0" y="1170"/>
                      </a:moveTo>
                      <a:lnTo>
                        <a:pt x="913" y="0"/>
                      </a:lnTo>
                      <a:lnTo>
                        <a:pt x="914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11" name="Freeform 220"/>
                <p:cNvSpPr>
                  <a:spLocks noChangeArrowheads="1"/>
                </p:cNvSpPr>
                <p:nvPr/>
              </p:nvSpPr>
              <p:spPr bwMode="auto">
                <a:xfrm>
                  <a:off x="2732" y="857"/>
                  <a:ext cx="139" cy="177"/>
                </a:xfrm>
                <a:custGeom>
                  <a:avLst/>
                  <a:gdLst>
                    <a:gd name="T0" fmla="*/ 0 w 553"/>
                    <a:gd name="T1" fmla="*/ 707 h 707"/>
                    <a:gd name="T2" fmla="*/ 552 w 553"/>
                    <a:gd name="T3" fmla="*/ 0 h 707"/>
                    <a:gd name="T4" fmla="*/ 553 w 553"/>
                    <a:gd name="T5" fmla="*/ 0 h 7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53" h="707">
                      <a:moveTo>
                        <a:pt x="0" y="707"/>
                      </a:moveTo>
                      <a:lnTo>
                        <a:pt x="552" y="0"/>
                      </a:lnTo>
                      <a:lnTo>
                        <a:pt x="553" y="0"/>
                      </a:lnTo>
                    </a:path>
                  </a:pathLst>
                </a:custGeom>
                <a:noFill/>
                <a:ln w="127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sp>
            <p:nvSpPr>
              <p:cNvPr id="471" name="Freeform 221"/>
              <p:cNvSpPr>
                <a:spLocks noChangeArrowheads="1"/>
              </p:cNvSpPr>
              <p:nvPr/>
            </p:nvSpPr>
            <p:spPr bwMode="auto">
              <a:xfrm>
                <a:off x="4017" y="2298"/>
                <a:ext cx="75" cy="51"/>
              </a:xfrm>
              <a:custGeom>
                <a:avLst/>
                <a:gdLst>
                  <a:gd name="T0" fmla="*/ 4 w 571"/>
                  <a:gd name="T1" fmla="*/ 118 h 388"/>
                  <a:gd name="T2" fmla="*/ 0 w 571"/>
                  <a:gd name="T3" fmla="*/ 153 h 388"/>
                  <a:gd name="T4" fmla="*/ 6 w 571"/>
                  <a:gd name="T5" fmla="*/ 191 h 388"/>
                  <a:gd name="T6" fmla="*/ 22 w 571"/>
                  <a:gd name="T7" fmla="*/ 227 h 388"/>
                  <a:gd name="T8" fmla="*/ 48 w 571"/>
                  <a:gd name="T9" fmla="*/ 263 h 388"/>
                  <a:gd name="T10" fmla="*/ 84 w 571"/>
                  <a:gd name="T11" fmla="*/ 296 h 388"/>
                  <a:gd name="T12" fmla="*/ 125 w 571"/>
                  <a:gd name="T13" fmla="*/ 325 h 388"/>
                  <a:gd name="T14" fmla="*/ 173 w 571"/>
                  <a:gd name="T15" fmla="*/ 350 h 388"/>
                  <a:gd name="T16" fmla="*/ 224 w 571"/>
                  <a:gd name="T17" fmla="*/ 369 h 388"/>
                  <a:gd name="T18" fmla="*/ 278 w 571"/>
                  <a:gd name="T19" fmla="*/ 382 h 388"/>
                  <a:gd name="T20" fmla="*/ 333 w 571"/>
                  <a:gd name="T21" fmla="*/ 388 h 388"/>
                  <a:gd name="T22" fmla="*/ 386 w 571"/>
                  <a:gd name="T23" fmla="*/ 387 h 388"/>
                  <a:gd name="T24" fmla="*/ 434 w 571"/>
                  <a:gd name="T25" fmla="*/ 379 h 388"/>
                  <a:gd name="T26" fmla="*/ 478 w 571"/>
                  <a:gd name="T27" fmla="*/ 364 h 388"/>
                  <a:gd name="T28" fmla="*/ 514 w 571"/>
                  <a:gd name="T29" fmla="*/ 343 h 388"/>
                  <a:gd name="T30" fmla="*/ 543 w 571"/>
                  <a:gd name="T31" fmla="*/ 317 h 388"/>
                  <a:gd name="T32" fmla="*/ 562 w 571"/>
                  <a:gd name="T33" fmla="*/ 286 h 388"/>
                  <a:gd name="T34" fmla="*/ 571 w 571"/>
                  <a:gd name="T35" fmla="*/ 253 h 388"/>
                  <a:gd name="T36" fmla="*/ 570 w 571"/>
                  <a:gd name="T37" fmla="*/ 216 h 388"/>
                  <a:gd name="T38" fmla="*/ 559 w 571"/>
                  <a:gd name="T39" fmla="*/ 179 h 388"/>
                  <a:gd name="T40" fmla="*/ 537 w 571"/>
                  <a:gd name="T41" fmla="*/ 143 h 388"/>
                  <a:gd name="T42" fmla="*/ 507 w 571"/>
                  <a:gd name="T43" fmla="*/ 108 h 388"/>
                  <a:gd name="T44" fmla="*/ 469 w 571"/>
                  <a:gd name="T45" fmla="*/ 77 h 388"/>
                  <a:gd name="T46" fmla="*/ 423 w 571"/>
                  <a:gd name="T47" fmla="*/ 50 h 388"/>
                  <a:gd name="T48" fmla="*/ 373 w 571"/>
                  <a:gd name="T49" fmla="*/ 28 h 388"/>
                  <a:gd name="T50" fmla="*/ 321 w 571"/>
                  <a:gd name="T51" fmla="*/ 12 h 388"/>
                  <a:gd name="T52" fmla="*/ 266 w 571"/>
                  <a:gd name="T53" fmla="*/ 2 h 388"/>
                  <a:gd name="T54" fmla="*/ 212 w 571"/>
                  <a:gd name="T55" fmla="*/ 0 h 388"/>
                  <a:gd name="T56" fmla="*/ 161 w 571"/>
                  <a:gd name="T57" fmla="*/ 4 h 388"/>
                  <a:gd name="T58" fmla="*/ 115 w 571"/>
                  <a:gd name="T59" fmla="*/ 16 h 388"/>
                  <a:gd name="T60" fmla="*/ 74 w 571"/>
                  <a:gd name="T61" fmla="*/ 33 h 388"/>
                  <a:gd name="T62" fmla="*/ 42 w 571"/>
                  <a:gd name="T63" fmla="*/ 57 h 388"/>
                  <a:gd name="T64" fmla="*/ 18 w 571"/>
                  <a:gd name="T65" fmla="*/ 86 h 388"/>
                  <a:gd name="T66" fmla="*/ 4 w 571"/>
                  <a:gd name="T67" fmla="*/ 118 h 388"/>
                  <a:gd name="T68" fmla="*/ 5 w 571"/>
                  <a:gd name="T69" fmla="*/ 118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1" h="388">
                    <a:moveTo>
                      <a:pt x="4" y="118"/>
                    </a:moveTo>
                    <a:lnTo>
                      <a:pt x="0" y="153"/>
                    </a:lnTo>
                    <a:lnTo>
                      <a:pt x="6" y="191"/>
                    </a:lnTo>
                    <a:lnTo>
                      <a:pt x="22" y="227"/>
                    </a:lnTo>
                    <a:lnTo>
                      <a:pt x="48" y="263"/>
                    </a:lnTo>
                    <a:lnTo>
                      <a:pt x="84" y="296"/>
                    </a:lnTo>
                    <a:lnTo>
                      <a:pt x="125" y="325"/>
                    </a:lnTo>
                    <a:lnTo>
                      <a:pt x="173" y="350"/>
                    </a:lnTo>
                    <a:lnTo>
                      <a:pt x="224" y="369"/>
                    </a:lnTo>
                    <a:lnTo>
                      <a:pt x="278" y="382"/>
                    </a:lnTo>
                    <a:lnTo>
                      <a:pt x="333" y="388"/>
                    </a:lnTo>
                    <a:lnTo>
                      <a:pt x="386" y="387"/>
                    </a:lnTo>
                    <a:lnTo>
                      <a:pt x="434" y="379"/>
                    </a:lnTo>
                    <a:lnTo>
                      <a:pt x="478" y="364"/>
                    </a:lnTo>
                    <a:lnTo>
                      <a:pt x="514" y="343"/>
                    </a:lnTo>
                    <a:lnTo>
                      <a:pt x="543" y="317"/>
                    </a:lnTo>
                    <a:lnTo>
                      <a:pt x="562" y="286"/>
                    </a:lnTo>
                    <a:lnTo>
                      <a:pt x="571" y="253"/>
                    </a:lnTo>
                    <a:lnTo>
                      <a:pt x="570" y="216"/>
                    </a:lnTo>
                    <a:lnTo>
                      <a:pt x="559" y="179"/>
                    </a:lnTo>
                    <a:lnTo>
                      <a:pt x="537" y="143"/>
                    </a:lnTo>
                    <a:lnTo>
                      <a:pt x="507" y="108"/>
                    </a:lnTo>
                    <a:lnTo>
                      <a:pt x="469" y="77"/>
                    </a:lnTo>
                    <a:lnTo>
                      <a:pt x="423" y="50"/>
                    </a:lnTo>
                    <a:lnTo>
                      <a:pt x="373" y="28"/>
                    </a:lnTo>
                    <a:lnTo>
                      <a:pt x="321" y="12"/>
                    </a:lnTo>
                    <a:lnTo>
                      <a:pt x="266" y="2"/>
                    </a:lnTo>
                    <a:lnTo>
                      <a:pt x="212" y="0"/>
                    </a:lnTo>
                    <a:lnTo>
                      <a:pt x="161" y="4"/>
                    </a:lnTo>
                    <a:lnTo>
                      <a:pt x="115" y="16"/>
                    </a:lnTo>
                    <a:lnTo>
                      <a:pt x="74" y="33"/>
                    </a:lnTo>
                    <a:lnTo>
                      <a:pt x="42" y="57"/>
                    </a:lnTo>
                    <a:lnTo>
                      <a:pt x="18" y="86"/>
                    </a:lnTo>
                    <a:lnTo>
                      <a:pt x="4" y="118"/>
                    </a:lnTo>
                    <a:lnTo>
                      <a:pt x="5" y="118"/>
                    </a:lnTo>
                  </a:path>
                </a:pathLst>
              </a:custGeom>
              <a:gradFill rotWithShape="0">
                <a:gsLst>
                  <a:gs pos="0">
                    <a:srgbClr val="525252"/>
                  </a:gs>
                  <a:gs pos="50000">
                    <a:srgbClr val="B2B2B2"/>
                  </a:gs>
                  <a:gs pos="100000">
                    <a:srgbClr val="525252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472" name="Group 222"/>
              <p:cNvGrpSpPr>
                <a:grpSpLocks/>
              </p:cNvGrpSpPr>
              <p:nvPr/>
            </p:nvGrpSpPr>
            <p:grpSpPr bwMode="auto">
              <a:xfrm>
                <a:off x="3467" y="2420"/>
                <a:ext cx="983" cy="927"/>
                <a:chOff x="3467" y="2420"/>
                <a:chExt cx="983" cy="927"/>
              </a:xfrm>
            </p:grpSpPr>
            <p:sp>
              <p:nvSpPr>
                <p:cNvPr id="473" name="Freeform 223"/>
                <p:cNvSpPr>
                  <a:spLocks noChangeArrowheads="1"/>
                </p:cNvSpPr>
                <p:nvPr/>
              </p:nvSpPr>
              <p:spPr bwMode="auto">
                <a:xfrm>
                  <a:off x="3467" y="3157"/>
                  <a:ext cx="261" cy="71"/>
                </a:xfrm>
                <a:custGeom>
                  <a:avLst/>
                  <a:gdLst>
                    <a:gd name="T0" fmla="*/ 1990 w 1990"/>
                    <a:gd name="T1" fmla="*/ 0 h 534"/>
                    <a:gd name="T2" fmla="*/ 0 w 1990"/>
                    <a:gd name="T3" fmla="*/ 534 h 534"/>
                    <a:gd name="T4" fmla="*/ 1 w 1990"/>
                    <a:gd name="T5" fmla="*/ 534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90" h="534">
                      <a:moveTo>
                        <a:pt x="1990" y="0"/>
                      </a:moveTo>
                      <a:lnTo>
                        <a:pt x="0" y="534"/>
                      </a:lnTo>
                      <a:lnTo>
                        <a:pt x="1" y="534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74" name="Freeform 224"/>
                <p:cNvSpPr>
                  <a:spLocks noChangeArrowheads="1"/>
                </p:cNvSpPr>
                <p:nvPr/>
              </p:nvSpPr>
              <p:spPr bwMode="auto">
                <a:xfrm>
                  <a:off x="3467" y="3245"/>
                  <a:ext cx="381" cy="102"/>
                </a:xfrm>
                <a:custGeom>
                  <a:avLst/>
                  <a:gdLst>
                    <a:gd name="T0" fmla="*/ 2903 w 2903"/>
                    <a:gd name="T1" fmla="*/ 0 h 779"/>
                    <a:gd name="T2" fmla="*/ 0 w 2903"/>
                    <a:gd name="T3" fmla="*/ 779 h 779"/>
                    <a:gd name="T4" fmla="*/ 1 w 2903"/>
                    <a:gd name="T5" fmla="*/ 779 h 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903" h="779">
                      <a:moveTo>
                        <a:pt x="2903" y="0"/>
                      </a:moveTo>
                      <a:lnTo>
                        <a:pt x="0" y="779"/>
                      </a:lnTo>
                      <a:lnTo>
                        <a:pt x="1" y="779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75" name="Freeform 225"/>
                <p:cNvSpPr>
                  <a:spLocks noChangeArrowheads="1"/>
                </p:cNvSpPr>
                <p:nvPr/>
              </p:nvSpPr>
              <p:spPr bwMode="auto">
                <a:xfrm>
                  <a:off x="3467" y="3228"/>
                  <a:ext cx="1" cy="119"/>
                </a:xfrm>
                <a:custGeom>
                  <a:avLst/>
                  <a:gdLst>
                    <a:gd name="T0" fmla="*/ 0 w 1"/>
                    <a:gd name="T1" fmla="*/ 0 h 913"/>
                    <a:gd name="T2" fmla="*/ 0 w 1"/>
                    <a:gd name="T3" fmla="*/ 913 h 913"/>
                    <a:gd name="T4" fmla="*/ 1 w 1"/>
                    <a:gd name="T5" fmla="*/ 913 h 9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913">
                      <a:moveTo>
                        <a:pt x="0" y="0"/>
                      </a:moveTo>
                      <a:lnTo>
                        <a:pt x="0" y="913"/>
                      </a:lnTo>
                      <a:lnTo>
                        <a:pt x="1" y="913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76" name="Freeform 226"/>
                <p:cNvSpPr>
                  <a:spLocks noChangeArrowheads="1"/>
                </p:cNvSpPr>
                <p:nvPr/>
              </p:nvSpPr>
              <p:spPr bwMode="auto">
                <a:xfrm>
                  <a:off x="3848" y="2944"/>
                  <a:ext cx="0" cy="307"/>
                </a:xfrm>
                <a:custGeom>
                  <a:avLst/>
                  <a:gdLst>
                    <a:gd name="T0" fmla="*/ 0 w 1"/>
                    <a:gd name="T1" fmla="*/ 0 h 587"/>
                    <a:gd name="T2" fmla="*/ 1 w 1"/>
                    <a:gd name="T3" fmla="*/ 587 h 587"/>
                    <a:gd name="T4" fmla="*/ 1 w 1"/>
                    <a:gd name="T5" fmla="*/ 568 h 5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87">
                      <a:moveTo>
                        <a:pt x="0" y="0"/>
                      </a:moveTo>
                      <a:lnTo>
                        <a:pt x="1" y="587"/>
                      </a:lnTo>
                      <a:lnTo>
                        <a:pt x="1" y="568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77" name="Freeform 227"/>
                <p:cNvSpPr>
                  <a:spLocks noChangeArrowheads="1"/>
                </p:cNvSpPr>
                <p:nvPr/>
              </p:nvSpPr>
              <p:spPr bwMode="auto">
                <a:xfrm>
                  <a:off x="4068" y="2887"/>
                  <a:ext cx="1" cy="299"/>
                </a:xfrm>
                <a:custGeom>
                  <a:avLst/>
                  <a:gdLst>
                    <a:gd name="T0" fmla="*/ 0 w 1"/>
                    <a:gd name="T1" fmla="*/ 0 h 2282"/>
                    <a:gd name="T2" fmla="*/ 0 w 1"/>
                    <a:gd name="T3" fmla="*/ 2282 h 2282"/>
                    <a:gd name="T4" fmla="*/ 1 w 1"/>
                    <a:gd name="T5" fmla="*/ 2282 h 2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282">
                      <a:moveTo>
                        <a:pt x="0" y="0"/>
                      </a:moveTo>
                      <a:lnTo>
                        <a:pt x="0" y="2282"/>
                      </a:lnTo>
                      <a:lnTo>
                        <a:pt x="1" y="2282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78" name="Freeform 228"/>
                <p:cNvSpPr>
                  <a:spLocks noChangeArrowheads="1"/>
                </p:cNvSpPr>
                <p:nvPr/>
              </p:nvSpPr>
              <p:spPr bwMode="auto">
                <a:xfrm>
                  <a:off x="4188" y="2508"/>
                  <a:ext cx="0" cy="526"/>
                </a:xfrm>
                <a:custGeom>
                  <a:avLst/>
                  <a:gdLst>
                    <a:gd name="T0" fmla="*/ 0 w 1"/>
                    <a:gd name="T1" fmla="*/ 4018 h 4018"/>
                    <a:gd name="T2" fmla="*/ 0 w 1"/>
                    <a:gd name="T3" fmla="*/ 0 h 4018"/>
                    <a:gd name="T4" fmla="*/ 1 w 1"/>
                    <a:gd name="T5" fmla="*/ 0 h 40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4018">
                      <a:moveTo>
                        <a:pt x="0" y="4018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79" name="Freeform 229"/>
                <p:cNvSpPr>
                  <a:spLocks noChangeArrowheads="1"/>
                </p:cNvSpPr>
                <p:nvPr/>
              </p:nvSpPr>
              <p:spPr bwMode="auto">
                <a:xfrm>
                  <a:off x="3728" y="2631"/>
                  <a:ext cx="0" cy="526"/>
                </a:xfrm>
                <a:custGeom>
                  <a:avLst/>
                  <a:gdLst>
                    <a:gd name="T0" fmla="*/ 0 w 1"/>
                    <a:gd name="T1" fmla="*/ 4017 h 4017"/>
                    <a:gd name="T2" fmla="*/ 0 w 1"/>
                    <a:gd name="T3" fmla="*/ 0 h 4017"/>
                    <a:gd name="T4" fmla="*/ 1 w 1"/>
                    <a:gd name="T5" fmla="*/ 0 h 40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4017">
                      <a:moveTo>
                        <a:pt x="0" y="4017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0" name="Freeform 230"/>
                <p:cNvSpPr>
                  <a:spLocks noChangeArrowheads="1"/>
                </p:cNvSpPr>
                <p:nvPr/>
              </p:nvSpPr>
              <p:spPr bwMode="auto">
                <a:xfrm>
                  <a:off x="4240" y="2420"/>
                  <a:ext cx="1" cy="76"/>
                </a:xfrm>
                <a:custGeom>
                  <a:avLst/>
                  <a:gdLst>
                    <a:gd name="T0" fmla="*/ 0 w 1"/>
                    <a:gd name="T1" fmla="*/ 0 h 76"/>
                    <a:gd name="T2" fmla="*/ 0 w 1"/>
                    <a:gd name="T3" fmla="*/ 76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76">
                      <a:moveTo>
                        <a:pt x="0" y="0"/>
                      </a:moveTo>
                      <a:lnTo>
                        <a:pt x="0" y="76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1" name="Freeform 231"/>
                <p:cNvSpPr>
                  <a:spLocks noChangeArrowheads="1"/>
                </p:cNvSpPr>
                <p:nvPr/>
              </p:nvSpPr>
              <p:spPr bwMode="auto">
                <a:xfrm>
                  <a:off x="4116" y="2424"/>
                  <a:ext cx="124" cy="32"/>
                </a:xfrm>
                <a:custGeom>
                  <a:avLst/>
                  <a:gdLst>
                    <a:gd name="T0" fmla="*/ 124 w 124"/>
                    <a:gd name="T1" fmla="*/ 0 h 32"/>
                    <a:gd name="T2" fmla="*/ 0 w 124"/>
                    <a:gd name="T3" fmla="*/ 32 h 32"/>
                    <a:gd name="T4" fmla="*/ 0 w 124"/>
                    <a:gd name="T5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4" h="32">
                      <a:moveTo>
                        <a:pt x="124" y="0"/>
                      </a:moveTo>
                      <a:lnTo>
                        <a:pt x="0" y="32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2" name="Freeform 232"/>
                <p:cNvSpPr>
                  <a:spLocks noChangeArrowheads="1"/>
                </p:cNvSpPr>
                <p:nvPr/>
              </p:nvSpPr>
              <p:spPr bwMode="auto">
                <a:xfrm>
                  <a:off x="4188" y="2964"/>
                  <a:ext cx="261" cy="70"/>
                </a:xfrm>
                <a:custGeom>
                  <a:avLst/>
                  <a:gdLst>
                    <a:gd name="T0" fmla="*/ 1991 w 1991"/>
                    <a:gd name="T1" fmla="*/ 0 h 534"/>
                    <a:gd name="T2" fmla="*/ 0 w 1991"/>
                    <a:gd name="T3" fmla="*/ 534 h 534"/>
                    <a:gd name="T4" fmla="*/ 1 w 1991"/>
                    <a:gd name="T5" fmla="*/ 534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91" h="534">
                      <a:moveTo>
                        <a:pt x="1991" y="0"/>
                      </a:moveTo>
                      <a:lnTo>
                        <a:pt x="0" y="534"/>
                      </a:lnTo>
                      <a:lnTo>
                        <a:pt x="1" y="534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3" name="Freeform 233"/>
                <p:cNvSpPr>
                  <a:spLocks noChangeArrowheads="1"/>
                </p:cNvSpPr>
                <p:nvPr/>
              </p:nvSpPr>
              <p:spPr bwMode="auto">
                <a:xfrm>
                  <a:off x="4068" y="3084"/>
                  <a:ext cx="381" cy="102"/>
                </a:xfrm>
                <a:custGeom>
                  <a:avLst/>
                  <a:gdLst>
                    <a:gd name="T0" fmla="*/ 2904 w 2904"/>
                    <a:gd name="T1" fmla="*/ 0 h 778"/>
                    <a:gd name="T2" fmla="*/ 0 w 2904"/>
                    <a:gd name="T3" fmla="*/ 778 h 778"/>
                    <a:gd name="T4" fmla="*/ 1 w 2904"/>
                    <a:gd name="T5" fmla="*/ 778 h 7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904" h="778">
                      <a:moveTo>
                        <a:pt x="2904" y="0"/>
                      </a:moveTo>
                      <a:lnTo>
                        <a:pt x="0" y="778"/>
                      </a:lnTo>
                      <a:lnTo>
                        <a:pt x="1" y="778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4" name="Freeform 234"/>
                <p:cNvSpPr>
                  <a:spLocks noChangeArrowheads="1"/>
                </p:cNvSpPr>
                <p:nvPr/>
              </p:nvSpPr>
              <p:spPr bwMode="auto">
                <a:xfrm>
                  <a:off x="3800" y="2540"/>
                  <a:ext cx="0" cy="395"/>
                </a:xfrm>
                <a:custGeom>
                  <a:avLst/>
                  <a:gdLst>
                    <a:gd name="T0" fmla="*/ 0 w 1"/>
                    <a:gd name="T1" fmla="*/ 0 h 753"/>
                    <a:gd name="T2" fmla="*/ 1 w 1"/>
                    <a:gd name="T3" fmla="*/ 753 h 753"/>
                    <a:gd name="T4" fmla="*/ 1 w 1"/>
                    <a:gd name="T5" fmla="*/ 742 h 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753">
                      <a:moveTo>
                        <a:pt x="0" y="0"/>
                      </a:moveTo>
                      <a:lnTo>
                        <a:pt x="1" y="753"/>
                      </a:lnTo>
                      <a:lnTo>
                        <a:pt x="1" y="742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5" name="Freeform 235"/>
                <p:cNvSpPr>
                  <a:spLocks noChangeArrowheads="1"/>
                </p:cNvSpPr>
                <p:nvPr/>
              </p:nvSpPr>
              <p:spPr bwMode="auto">
                <a:xfrm>
                  <a:off x="3665" y="2540"/>
                  <a:ext cx="135" cy="36"/>
                </a:xfrm>
                <a:custGeom>
                  <a:avLst/>
                  <a:gdLst>
                    <a:gd name="T0" fmla="*/ 1036 w 1036"/>
                    <a:gd name="T1" fmla="*/ 0 h 278"/>
                    <a:gd name="T2" fmla="*/ 0 w 1036"/>
                    <a:gd name="T3" fmla="*/ 278 h 278"/>
                    <a:gd name="T4" fmla="*/ 1 w 1036"/>
                    <a:gd name="T5" fmla="*/ 278 h 2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36" h="278">
                      <a:moveTo>
                        <a:pt x="1036" y="0"/>
                      </a:moveTo>
                      <a:lnTo>
                        <a:pt x="0" y="278"/>
                      </a:lnTo>
                      <a:lnTo>
                        <a:pt x="1" y="278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6" name="Freeform 236"/>
                <p:cNvSpPr>
                  <a:spLocks noChangeArrowheads="1"/>
                </p:cNvSpPr>
                <p:nvPr/>
              </p:nvSpPr>
              <p:spPr bwMode="auto">
                <a:xfrm>
                  <a:off x="3665" y="2576"/>
                  <a:ext cx="0" cy="72"/>
                </a:xfrm>
                <a:custGeom>
                  <a:avLst/>
                  <a:gdLst>
                    <a:gd name="T0" fmla="*/ 0 w 1"/>
                    <a:gd name="T1" fmla="*/ 0 h 547"/>
                    <a:gd name="T2" fmla="*/ 0 w 1"/>
                    <a:gd name="T3" fmla="*/ 547 h 547"/>
                    <a:gd name="T4" fmla="*/ 1 w 1"/>
                    <a:gd name="T5" fmla="*/ 547 h 5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47">
                      <a:moveTo>
                        <a:pt x="0" y="0"/>
                      </a:moveTo>
                      <a:lnTo>
                        <a:pt x="0" y="547"/>
                      </a:lnTo>
                      <a:lnTo>
                        <a:pt x="1" y="547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7" name="Freeform 237"/>
                <p:cNvSpPr>
                  <a:spLocks noChangeArrowheads="1"/>
                </p:cNvSpPr>
                <p:nvPr/>
              </p:nvSpPr>
              <p:spPr bwMode="auto">
                <a:xfrm>
                  <a:off x="3665" y="2631"/>
                  <a:ext cx="63" cy="17"/>
                </a:xfrm>
                <a:custGeom>
                  <a:avLst/>
                  <a:gdLst>
                    <a:gd name="T0" fmla="*/ 484 w 484"/>
                    <a:gd name="T1" fmla="*/ 0 h 129"/>
                    <a:gd name="T2" fmla="*/ 0 w 484"/>
                    <a:gd name="T3" fmla="*/ 129 h 129"/>
                    <a:gd name="T4" fmla="*/ 1 w 484"/>
                    <a:gd name="T5" fmla="*/ 129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84" h="129">
                      <a:moveTo>
                        <a:pt x="484" y="0"/>
                      </a:moveTo>
                      <a:lnTo>
                        <a:pt x="0" y="129"/>
                      </a:lnTo>
                      <a:lnTo>
                        <a:pt x="1" y="129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8" name="Freeform 238"/>
                <p:cNvSpPr>
                  <a:spLocks noChangeArrowheads="1"/>
                </p:cNvSpPr>
                <p:nvPr/>
              </p:nvSpPr>
              <p:spPr bwMode="auto">
                <a:xfrm>
                  <a:off x="4116" y="2456"/>
                  <a:ext cx="0" cy="388"/>
                </a:xfrm>
                <a:custGeom>
                  <a:avLst/>
                  <a:gdLst>
                    <a:gd name="T0" fmla="*/ 0 w 1"/>
                    <a:gd name="T1" fmla="*/ 0 h 2967"/>
                    <a:gd name="T2" fmla="*/ 0 w 1"/>
                    <a:gd name="T3" fmla="*/ 2967 h 2967"/>
                    <a:gd name="T4" fmla="*/ 1 w 1"/>
                    <a:gd name="T5" fmla="*/ 2967 h 29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967">
                      <a:moveTo>
                        <a:pt x="0" y="0"/>
                      </a:moveTo>
                      <a:lnTo>
                        <a:pt x="0" y="2967"/>
                      </a:lnTo>
                      <a:lnTo>
                        <a:pt x="1" y="2967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9" name="Freeform 239"/>
                <p:cNvSpPr>
                  <a:spLocks noChangeArrowheads="1"/>
                </p:cNvSpPr>
                <p:nvPr/>
              </p:nvSpPr>
              <p:spPr bwMode="auto">
                <a:xfrm>
                  <a:off x="4069" y="2844"/>
                  <a:ext cx="47" cy="42"/>
                </a:xfrm>
                <a:custGeom>
                  <a:avLst/>
                  <a:gdLst>
                    <a:gd name="T0" fmla="*/ 352 w 352"/>
                    <a:gd name="T1" fmla="*/ 0 h 323"/>
                    <a:gd name="T2" fmla="*/ 0 w 352"/>
                    <a:gd name="T3" fmla="*/ 323 h 323"/>
                    <a:gd name="T4" fmla="*/ 1 w 352"/>
                    <a:gd name="T5" fmla="*/ 323 h 3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52" h="323">
                      <a:moveTo>
                        <a:pt x="352" y="0"/>
                      </a:moveTo>
                      <a:lnTo>
                        <a:pt x="0" y="323"/>
                      </a:lnTo>
                      <a:lnTo>
                        <a:pt x="1" y="323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0" name="Freeform 240"/>
                <p:cNvSpPr>
                  <a:spLocks noChangeArrowheads="1"/>
                </p:cNvSpPr>
                <p:nvPr/>
              </p:nvSpPr>
              <p:spPr bwMode="auto">
                <a:xfrm>
                  <a:off x="4188" y="2492"/>
                  <a:ext cx="52" cy="16"/>
                </a:xfrm>
                <a:custGeom>
                  <a:avLst/>
                  <a:gdLst>
                    <a:gd name="T0" fmla="*/ 52 w 52"/>
                    <a:gd name="T1" fmla="*/ 0 h 16"/>
                    <a:gd name="T2" fmla="*/ 0 w 52"/>
                    <a:gd name="T3" fmla="*/ 16 h 16"/>
                    <a:gd name="T4" fmla="*/ 0 w 52"/>
                    <a:gd name="T5" fmla="*/ 16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2" h="16">
                      <a:moveTo>
                        <a:pt x="52" y="0"/>
                      </a:moveTo>
                      <a:lnTo>
                        <a:pt x="0" y="16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1" name="Freeform 241"/>
                <p:cNvSpPr>
                  <a:spLocks noChangeArrowheads="1"/>
                </p:cNvSpPr>
                <p:nvPr/>
              </p:nvSpPr>
              <p:spPr bwMode="auto">
                <a:xfrm>
                  <a:off x="4449" y="2962"/>
                  <a:ext cx="1" cy="126"/>
                </a:xfrm>
                <a:custGeom>
                  <a:avLst/>
                  <a:gdLst>
                    <a:gd name="T0" fmla="*/ 1 w 1"/>
                    <a:gd name="T1" fmla="*/ 0 h 240"/>
                    <a:gd name="T2" fmla="*/ 1 w 1"/>
                    <a:gd name="T3" fmla="*/ 240 h 240"/>
                    <a:gd name="T4" fmla="*/ 0 w 1"/>
                    <a:gd name="T5" fmla="*/ 233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40">
                      <a:moveTo>
                        <a:pt x="1" y="0"/>
                      </a:moveTo>
                      <a:lnTo>
                        <a:pt x="1" y="240"/>
                      </a:lnTo>
                      <a:lnTo>
                        <a:pt x="0" y="233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2" name="Freeform 242"/>
                <p:cNvSpPr>
                  <a:spLocks noChangeArrowheads="1"/>
                </p:cNvSpPr>
                <p:nvPr/>
              </p:nvSpPr>
              <p:spPr bwMode="auto">
                <a:xfrm>
                  <a:off x="3800" y="2929"/>
                  <a:ext cx="48" cy="17"/>
                </a:xfrm>
                <a:custGeom>
                  <a:avLst/>
                  <a:gdLst>
                    <a:gd name="T0" fmla="*/ 0 w 362"/>
                    <a:gd name="T1" fmla="*/ 0 h 131"/>
                    <a:gd name="T2" fmla="*/ 361 w 362"/>
                    <a:gd name="T3" fmla="*/ 131 h 131"/>
                    <a:gd name="T4" fmla="*/ 362 w 362"/>
                    <a:gd name="T5" fmla="*/ 131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62" h="131">
                      <a:moveTo>
                        <a:pt x="0" y="0"/>
                      </a:moveTo>
                      <a:lnTo>
                        <a:pt x="361" y="131"/>
                      </a:lnTo>
                      <a:lnTo>
                        <a:pt x="362" y="131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</p:grpSp>
        <p:grpSp>
          <p:nvGrpSpPr>
            <p:cNvPr id="443" name="Group 243"/>
            <p:cNvGrpSpPr>
              <a:grpSpLocks/>
            </p:cNvGrpSpPr>
            <p:nvPr/>
          </p:nvGrpSpPr>
          <p:grpSpPr bwMode="auto">
            <a:xfrm>
              <a:off x="4297" y="2797"/>
              <a:ext cx="1159" cy="1140"/>
              <a:chOff x="2867" y="1815"/>
              <a:chExt cx="1159" cy="1140"/>
            </a:xfrm>
          </p:grpSpPr>
          <p:sp>
            <p:nvSpPr>
              <p:cNvPr id="444" name="Freeform 244"/>
              <p:cNvSpPr>
                <a:spLocks noChangeArrowheads="1"/>
              </p:cNvSpPr>
              <p:nvPr/>
            </p:nvSpPr>
            <p:spPr bwMode="auto">
              <a:xfrm>
                <a:off x="2867" y="2561"/>
                <a:ext cx="1159" cy="394"/>
              </a:xfrm>
              <a:custGeom>
                <a:avLst/>
                <a:gdLst>
                  <a:gd name="T0" fmla="*/ 0 w 2211"/>
                  <a:gd name="T1" fmla="*/ 115 h 752"/>
                  <a:gd name="T2" fmla="*/ 0 w 2211"/>
                  <a:gd name="T3" fmla="*/ 355 h 752"/>
                  <a:gd name="T4" fmla="*/ 298 w 2211"/>
                  <a:gd name="T5" fmla="*/ 653 h 752"/>
                  <a:gd name="T6" fmla="*/ 336 w 2211"/>
                  <a:gd name="T7" fmla="*/ 681 h 752"/>
                  <a:gd name="T8" fmla="*/ 364 w 2211"/>
                  <a:gd name="T9" fmla="*/ 704 h 752"/>
                  <a:gd name="T10" fmla="*/ 412 w 2211"/>
                  <a:gd name="T11" fmla="*/ 726 h 752"/>
                  <a:gd name="T12" fmla="*/ 454 w 2211"/>
                  <a:gd name="T13" fmla="*/ 742 h 752"/>
                  <a:gd name="T14" fmla="*/ 518 w 2211"/>
                  <a:gd name="T15" fmla="*/ 752 h 752"/>
                  <a:gd name="T16" fmla="*/ 569 w 2211"/>
                  <a:gd name="T17" fmla="*/ 752 h 752"/>
                  <a:gd name="T18" fmla="*/ 614 w 2211"/>
                  <a:gd name="T19" fmla="*/ 745 h 752"/>
                  <a:gd name="T20" fmla="*/ 646 w 2211"/>
                  <a:gd name="T21" fmla="*/ 739 h 752"/>
                  <a:gd name="T22" fmla="*/ 2112 w 2211"/>
                  <a:gd name="T23" fmla="*/ 349 h 752"/>
                  <a:gd name="T24" fmla="*/ 2144 w 2211"/>
                  <a:gd name="T25" fmla="*/ 336 h 752"/>
                  <a:gd name="T26" fmla="*/ 2169 w 2211"/>
                  <a:gd name="T27" fmla="*/ 323 h 752"/>
                  <a:gd name="T28" fmla="*/ 2188 w 2211"/>
                  <a:gd name="T29" fmla="*/ 301 h 752"/>
                  <a:gd name="T30" fmla="*/ 2208 w 2211"/>
                  <a:gd name="T31" fmla="*/ 269 h 752"/>
                  <a:gd name="T32" fmla="*/ 2211 w 2211"/>
                  <a:gd name="T33" fmla="*/ 240 h 752"/>
                  <a:gd name="T34" fmla="*/ 2211 w 2211"/>
                  <a:gd name="T35" fmla="*/ 0 h 752"/>
                  <a:gd name="T36" fmla="*/ 2003 w 2211"/>
                  <a:gd name="T37" fmla="*/ 102 h 752"/>
                  <a:gd name="T38" fmla="*/ 540 w 2211"/>
                  <a:gd name="T39" fmla="*/ 502 h 752"/>
                  <a:gd name="T40" fmla="*/ 361 w 2211"/>
                  <a:gd name="T41" fmla="*/ 441 h 752"/>
                  <a:gd name="T42" fmla="*/ 0 w 2211"/>
                  <a:gd name="T43" fmla="*/ 115 h 7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11" h="752">
                    <a:moveTo>
                      <a:pt x="0" y="115"/>
                    </a:moveTo>
                    <a:lnTo>
                      <a:pt x="0" y="355"/>
                    </a:lnTo>
                    <a:lnTo>
                      <a:pt x="298" y="653"/>
                    </a:lnTo>
                    <a:lnTo>
                      <a:pt x="336" y="681"/>
                    </a:lnTo>
                    <a:lnTo>
                      <a:pt x="364" y="704"/>
                    </a:lnTo>
                    <a:lnTo>
                      <a:pt x="412" y="726"/>
                    </a:lnTo>
                    <a:lnTo>
                      <a:pt x="454" y="742"/>
                    </a:lnTo>
                    <a:lnTo>
                      <a:pt x="518" y="752"/>
                    </a:lnTo>
                    <a:lnTo>
                      <a:pt x="569" y="752"/>
                    </a:lnTo>
                    <a:lnTo>
                      <a:pt x="614" y="745"/>
                    </a:lnTo>
                    <a:lnTo>
                      <a:pt x="646" y="739"/>
                    </a:lnTo>
                    <a:lnTo>
                      <a:pt x="2112" y="349"/>
                    </a:lnTo>
                    <a:lnTo>
                      <a:pt x="2144" y="336"/>
                    </a:lnTo>
                    <a:lnTo>
                      <a:pt x="2169" y="323"/>
                    </a:lnTo>
                    <a:lnTo>
                      <a:pt x="2188" y="301"/>
                    </a:lnTo>
                    <a:lnTo>
                      <a:pt x="2208" y="269"/>
                    </a:lnTo>
                    <a:lnTo>
                      <a:pt x="2211" y="240"/>
                    </a:lnTo>
                    <a:lnTo>
                      <a:pt x="2211" y="0"/>
                    </a:lnTo>
                    <a:lnTo>
                      <a:pt x="2003" y="102"/>
                    </a:lnTo>
                    <a:lnTo>
                      <a:pt x="540" y="502"/>
                    </a:lnTo>
                    <a:lnTo>
                      <a:pt x="361" y="441"/>
                    </a:lnTo>
                    <a:lnTo>
                      <a:pt x="0" y="115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00A300"/>
                  </a:gs>
                  <a:gs pos="50000">
                    <a:srgbClr val="00CC00"/>
                  </a:gs>
                  <a:gs pos="100000">
                    <a:srgbClr val="00A3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5" name="Freeform 245"/>
              <p:cNvSpPr>
                <a:spLocks noChangeArrowheads="1"/>
              </p:cNvSpPr>
              <p:nvPr/>
            </p:nvSpPr>
            <p:spPr bwMode="auto">
              <a:xfrm>
                <a:off x="2869" y="2361"/>
                <a:ext cx="1155" cy="477"/>
              </a:xfrm>
              <a:custGeom>
                <a:avLst/>
                <a:gdLst>
                  <a:gd name="T0" fmla="*/ 0 w 2205"/>
                  <a:gd name="T1" fmla="*/ 502 h 909"/>
                  <a:gd name="T2" fmla="*/ 1872 w 2205"/>
                  <a:gd name="T3" fmla="*/ 0 h 909"/>
                  <a:gd name="T4" fmla="*/ 2182 w 2205"/>
                  <a:gd name="T5" fmla="*/ 314 h 909"/>
                  <a:gd name="T6" fmla="*/ 2195 w 2205"/>
                  <a:gd name="T7" fmla="*/ 336 h 909"/>
                  <a:gd name="T8" fmla="*/ 2201 w 2205"/>
                  <a:gd name="T9" fmla="*/ 355 h 909"/>
                  <a:gd name="T10" fmla="*/ 2205 w 2205"/>
                  <a:gd name="T11" fmla="*/ 384 h 909"/>
                  <a:gd name="T12" fmla="*/ 2195 w 2205"/>
                  <a:gd name="T13" fmla="*/ 416 h 909"/>
                  <a:gd name="T14" fmla="*/ 2185 w 2205"/>
                  <a:gd name="T15" fmla="*/ 445 h 909"/>
                  <a:gd name="T16" fmla="*/ 2163 w 2205"/>
                  <a:gd name="T17" fmla="*/ 474 h 909"/>
                  <a:gd name="T18" fmla="*/ 2134 w 2205"/>
                  <a:gd name="T19" fmla="*/ 490 h 909"/>
                  <a:gd name="T20" fmla="*/ 2109 w 2205"/>
                  <a:gd name="T21" fmla="*/ 499 h 909"/>
                  <a:gd name="T22" fmla="*/ 630 w 2205"/>
                  <a:gd name="T23" fmla="*/ 899 h 909"/>
                  <a:gd name="T24" fmla="*/ 579 w 2205"/>
                  <a:gd name="T25" fmla="*/ 906 h 909"/>
                  <a:gd name="T26" fmla="*/ 521 w 2205"/>
                  <a:gd name="T27" fmla="*/ 909 h 909"/>
                  <a:gd name="T28" fmla="*/ 464 w 2205"/>
                  <a:gd name="T29" fmla="*/ 899 h 909"/>
                  <a:gd name="T30" fmla="*/ 429 w 2205"/>
                  <a:gd name="T31" fmla="*/ 890 h 909"/>
                  <a:gd name="T32" fmla="*/ 384 w 2205"/>
                  <a:gd name="T33" fmla="*/ 870 h 909"/>
                  <a:gd name="T34" fmla="*/ 349 w 2205"/>
                  <a:gd name="T35" fmla="*/ 848 h 909"/>
                  <a:gd name="T36" fmla="*/ 320 w 2205"/>
                  <a:gd name="T37" fmla="*/ 822 h 909"/>
                  <a:gd name="T38" fmla="*/ 297 w 2205"/>
                  <a:gd name="T39" fmla="*/ 803 h 909"/>
                  <a:gd name="T40" fmla="*/ 0 w 2205"/>
                  <a:gd name="T41" fmla="*/ 502 h 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05" h="909">
                    <a:moveTo>
                      <a:pt x="0" y="502"/>
                    </a:moveTo>
                    <a:lnTo>
                      <a:pt x="1872" y="0"/>
                    </a:lnTo>
                    <a:lnTo>
                      <a:pt x="2182" y="314"/>
                    </a:lnTo>
                    <a:lnTo>
                      <a:pt x="2195" y="336"/>
                    </a:lnTo>
                    <a:lnTo>
                      <a:pt x="2201" y="355"/>
                    </a:lnTo>
                    <a:lnTo>
                      <a:pt x="2205" y="384"/>
                    </a:lnTo>
                    <a:lnTo>
                      <a:pt x="2195" y="416"/>
                    </a:lnTo>
                    <a:lnTo>
                      <a:pt x="2185" y="445"/>
                    </a:lnTo>
                    <a:lnTo>
                      <a:pt x="2163" y="474"/>
                    </a:lnTo>
                    <a:lnTo>
                      <a:pt x="2134" y="490"/>
                    </a:lnTo>
                    <a:lnTo>
                      <a:pt x="2109" y="499"/>
                    </a:lnTo>
                    <a:lnTo>
                      <a:pt x="630" y="899"/>
                    </a:lnTo>
                    <a:lnTo>
                      <a:pt x="579" y="906"/>
                    </a:lnTo>
                    <a:lnTo>
                      <a:pt x="521" y="909"/>
                    </a:lnTo>
                    <a:lnTo>
                      <a:pt x="464" y="899"/>
                    </a:lnTo>
                    <a:lnTo>
                      <a:pt x="429" y="890"/>
                    </a:lnTo>
                    <a:lnTo>
                      <a:pt x="384" y="870"/>
                    </a:lnTo>
                    <a:lnTo>
                      <a:pt x="349" y="848"/>
                    </a:lnTo>
                    <a:lnTo>
                      <a:pt x="320" y="822"/>
                    </a:lnTo>
                    <a:lnTo>
                      <a:pt x="297" y="803"/>
                    </a:lnTo>
                    <a:lnTo>
                      <a:pt x="0" y="50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B400"/>
                  </a:gs>
                  <a:gs pos="100000">
                    <a:srgbClr val="008300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6" name="Freeform 246"/>
              <p:cNvSpPr>
                <a:spLocks noChangeArrowheads="1"/>
              </p:cNvSpPr>
              <p:nvPr/>
            </p:nvSpPr>
            <p:spPr bwMode="auto">
              <a:xfrm>
                <a:off x="3127" y="2103"/>
                <a:ext cx="503" cy="568"/>
              </a:xfrm>
              <a:custGeom>
                <a:avLst/>
                <a:gdLst>
                  <a:gd name="T0" fmla="*/ 0 w 960"/>
                  <a:gd name="T1" fmla="*/ 3 h 1085"/>
                  <a:gd name="T2" fmla="*/ 0 w 960"/>
                  <a:gd name="T3" fmla="*/ 867 h 1085"/>
                  <a:gd name="T4" fmla="*/ 22 w 960"/>
                  <a:gd name="T5" fmla="*/ 893 h 1085"/>
                  <a:gd name="T6" fmla="*/ 51 w 960"/>
                  <a:gd name="T7" fmla="*/ 915 h 1085"/>
                  <a:gd name="T8" fmla="*/ 83 w 960"/>
                  <a:gd name="T9" fmla="*/ 935 h 1085"/>
                  <a:gd name="T10" fmla="*/ 108 w 960"/>
                  <a:gd name="T11" fmla="*/ 954 h 1085"/>
                  <a:gd name="T12" fmla="*/ 150 w 960"/>
                  <a:gd name="T13" fmla="*/ 976 h 1085"/>
                  <a:gd name="T14" fmla="*/ 198 w 960"/>
                  <a:gd name="T15" fmla="*/ 999 h 1085"/>
                  <a:gd name="T16" fmla="*/ 252 w 960"/>
                  <a:gd name="T17" fmla="*/ 1024 h 1085"/>
                  <a:gd name="T18" fmla="*/ 294 w 960"/>
                  <a:gd name="T19" fmla="*/ 1043 h 1085"/>
                  <a:gd name="T20" fmla="*/ 358 w 960"/>
                  <a:gd name="T21" fmla="*/ 1063 h 1085"/>
                  <a:gd name="T22" fmla="*/ 422 w 960"/>
                  <a:gd name="T23" fmla="*/ 1075 h 1085"/>
                  <a:gd name="T24" fmla="*/ 470 w 960"/>
                  <a:gd name="T25" fmla="*/ 1082 h 1085"/>
                  <a:gd name="T26" fmla="*/ 531 w 960"/>
                  <a:gd name="T27" fmla="*/ 1085 h 1085"/>
                  <a:gd name="T28" fmla="*/ 585 w 960"/>
                  <a:gd name="T29" fmla="*/ 1082 h 1085"/>
                  <a:gd name="T30" fmla="*/ 640 w 960"/>
                  <a:gd name="T31" fmla="*/ 1079 h 1085"/>
                  <a:gd name="T32" fmla="*/ 707 w 960"/>
                  <a:gd name="T33" fmla="*/ 1069 h 1085"/>
                  <a:gd name="T34" fmla="*/ 752 w 960"/>
                  <a:gd name="T35" fmla="*/ 1056 h 1085"/>
                  <a:gd name="T36" fmla="*/ 793 w 960"/>
                  <a:gd name="T37" fmla="*/ 1043 h 1085"/>
                  <a:gd name="T38" fmla="*/ 841 w 960"/>
                  <a:gd name="T39" fmla="*/ 1024 h 1085"/>
                  <a:gd name="T40" fmla="*/ 870 w 960"/>
                  <a:gd name="T41" fmla="*/ 999 h 1085"/>
                  <a:gd name="T42" fmla="*/ 889 w 960"/>
                  <a:gd name="T43" fmla="*/ 976 h 1085"/>
                  <a:gd name="T44" fmla="*/ 912 w 960"/>
                  <a:gd name="T45" fmla="*/ 941 h 1085"/>
                  <a:gd name="T46" fmla="*/ 931 w 960"/>
                  <a:gd name="T47" fmla="*/ 903 h 1085"/>
                  <a:gd name="T48" fmla="*/ 947 w 960"/>
                  <a:gd name="T49" fmla="*/ 864 h 1085"/>
                  <a:gd name="T50" fmla="*/ 960 w 960"/>
                  <a:gd name="T51" fmla="*/ 800 h 1085"/>
                  <a:gd name="T52" fmla="*/ 960 w 960"/>
                  <a:gd name="T53" fmla="*/ 0 h 1085"/>
                  <a:gd name="T54" fmla="*/ 217 w 960"/>
                  <a:gd name="T55" fmla="*/ 119 h 1085"/>
                  <a:gd name="T56" fmla="*/ 0 w 960"/>
                  <a:gd name="T57" fmla="*/ 3 h 10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60" h="1085">
                    <a:moveTo>
                      <a:pt x="0" y="3"/>
                    </a:moveTo>
                    <a:lnTo>
                      <a:pt x="0" y="867"/>
                    </a:lnTo>
                    <a:lnTo>
                      <a:pt x="22" y="893"/>
                    </a:lnTo>
                    <a:lnTo>
                      <a:pt x="51" y="915"/>
                    </a:lnTo>
                    <a:lnTo>
                      <a:pt x="83" y="935"/>
                    </a:lnTo>
                    <a:lnTo>
                      <a:pt x="108" y="954"/>
                    </a:lnTo>
                    <a:lnTo>
                      <a:pt x="150" y="976"/>
                    </a:lnTo>
                    <a:lnTo>
                      <a:pt x="198" y="999"/>
                    </a:lnTo>
                    <a:lnTo>
                      <a:pt x="252" y="1024"/>
                    </a:lnTo>
                    <a:lnTo>
                      <a:pt x="294" y="1043"/>
                    </a:lnTo>
                    <a:lnTo>
                      <a:pt x="358" y="1063"/>
                    </a:lnTo>
                    <a:lnTo>
                      <a:pt x="422" y="1075"/>
                    </a:lnTo>
                    <a:lnTo>
                      <a:pt x="470" y="1082"/>
                    </a:lnTo>
                    <a:lnTo>
                      <a:pt x="531" y="1085"/>
                    </a:lnTo>
                    <a:lnTo>
                      <a:pt x="585" y="1082"/>
                    </a:lnTo>
                    <a:lnTo>
                      <a:pt x="640" y="1079"/>
                    </a:lnTo>
                    <a:lnTo>
                      <a:pt x="707" y="1069"/>
                    </a:lnTo>
                    <a:lnTo>
                      <a:pt x="752" y="1056"/>
                    </a:lnTo>
                    <a:lnTo>
                      <a:pt x="793" y="1043"/>
                    </a:lnTo>
                    <a:lnTo>
                      <a:pt x="841" y="1024"/>
                    </a:lnTo>
                    <a:lnTo>
                      <a:pt x="870" y="999"/>
                    </a:lnTo>
                    <a:lnTo>
                      <a:pt x="889" y="976"/>
                    </a:lnTo>
                    <a:lnTo>
                      <a:pt x="912" y="941"/>
                    </a:lnTo>
                    <a:lnTo>
                      <a:pt x="931" y="903"/>
                    </a:lnTo>
                    <a:lnTo>
                      <a:pt x="947" y="864"/>
                    </a:lnTo>
                    <a:lnTo>
                      <a:pt x="960" y="800"/>
                    </a:lnTo>
                    <a:lnTo>
                      <a:pt x="960" y="0"/>
                    </a:lnTo>
                    <a:lnTo>
                      <a:pt x="217" y="119"/>
                    </a:lnTo>
                    <a:lnTo>
                      <a:pt x="0" y="3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005300"/>
                  </a:gs>
                  <a:gs pos="50000">
                    <a:srgbClr val="00B400"/>
                  </a:gs>
                  <a:gs pos="100000">
                    <a:srgbClr val="0053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7" name="Freeform 247"/>
              <p:cNvSpPr>
                <a:spLocks noChangeArrowheads="1"/>
              </p:cNvSpPr>
              <p:nvPr/>
            </p:nvSpPr>
            <p:spPr bwMode="auto">
              <a:xfrm>
                <a:off x="3422" y="2151"/>
                <a:ext cx="50" cy="138"/>
              </a:xfrm>
              <a:custGeom>
                <a:avLst/>
                <a:gdLst>
                  <a:gd name="T0" fmla="*/ 0 w 96"/>
                  <a:gd name="T1" fmla="*/ 22 h 262"/>
                  <a:gd name="T2" fmla="*/ 29 w 96"/>
                  <a:gd name="T3" fmla="*/ 42 h 262"/>
                  <a:gd name="T4" fmla="*/ 29 w 96"/>
                  <a:gd name="T5" fmla="*/ 173 h 262"/>
                  <a:gd name="T6" fmla="*/ 35 w 96"/>
                  <a:gd name="T7" fmla="*/ 195 h 262"/>
                  <a:gd name="T8" fmla="*/ 96 w 96"/>
                  <a:gd name="T9" fmla="*/ 262 h 262"/>
                  <a:gd name="T10" fmla="*/ 80 w 96"/>
                  <a:gd name="T11" fmla="*/ 0 h 262"/>
                  <a:gd name="T12" fmla="*/ 0 w 96"/>
                  <a:gd name="T13" fmla="*/ 2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262">
                    <a:moveTo>
                      <a:pt x="0" y="22"/>
                    </a:moveTo>
                    <a:lnTo>
                      <a:pt x="29" y="42"/>
                    </a:lnTo>
                    <a:lnTo>
                      <a:pt x="29" y="173"/>
                    </a:lnTo>
                    <a:lnTo>
                      <a:pt x="35" y="195"/>
                    </a:lnTo>
                    <a:lnTo>
                      <a:pt x="96" y="262"/>
                    </a:lnTo>
                    <a:lnTo>
                      <a:pt x="80" y="0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969696"/>
                  </a:gs>
                  <a:gs pos="100000">
                    <a:srgbClr val="454545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8" name="Freeform 248"/>
              <p:cNvSpPr>
                <a:spLocks noChangeArrowheads="1"/>
              </p:cNvSpPr>
              <p:nvPr/>
            </p:nvSpPr>
            <p:spPr bwMode="auto">
              <a:xfrm>
                <a:off x="3065" y="1975"/>
                <a:ext cx="731" cy="326"/>
              </a:xfrm>
              <a:custGeom>
                <a:avLst/>
                <a:gdLst>
                  <a:gd name="T0" fmla="*/ 0 w 1395"/>
                  <a:gd name="T1" fmla="*/ 0 h 622"/>
                  <a:gd name="T2" fmla="*/ 263 w 1395"/>
                  <a:gd name="T3" fmla="*/ 241 h 622"/>
                  <a:gd name="T4" fmla="*/ 303 w 1395"/>
                  <a:gd name="T5" fmla="*/ 271 h 622"/>
                  <a:gd name="T6" fmla="*/ 375 w 1395"/>
                  <a:gd name="T7" fmla="*/ 291 h 622"/>
                  <a:gd name="T8" fmla="*/ 451 w 1395"/>
                  <a:gd name="T9" fmla="*/ 291 h 622"/>
                  <a:gd name="T10" fmla="*/ 1392 w 1395"/>
                  <a:gd name="T11" fmla="*/ 3 h 622"/>
                  <a:gd name="T12" fmla="*/ 1395 w 1395"/>
                  <a:gd name="T13" fmla="*/ 129 h 622"/>
                  <a:gd name="T14" fmla="*/ 1383 w 1395"/>
                  <a:gd name="T15" fmla="*/ 174 h 622"/>
                  <a:gd name="T16" fmla="*/ 1349 w 1395"/>
                  <a:gd name="T17" fmla="*/ 199 h 622"/>
                  <a:gd name="T18" fmla="*/ 1031 w 1395"/>
                  <a:gd name="T19" fmla="*/ 286 h 622"/>
                  <a:gd name="T20" fmla="*/ 1031 w 1395"/>
                  <a:gd name="T21" fmla="*/ 439 h 622"/>
                  <a:gd name="T22" fmla="*/ 1021 w 1395"/>
                  <a:gd name="T23" fmla="*/ 478 h 622"/>
                  <a:gd name="T24" fmla="*/ 1008 w 1395"/>
                  <a:gd name="T25" fmla="*/ 507 h 622"/>
                  <a:gd name="T26" fmla="*/ 989 w 1395"/>
                  <a:gd name="T27" fmla="*/ 539 h 622"/>
                  <a:gd name="T28" fmla="*/ 963 w 1395"/>
                  <a:gd name="T29" fmla="*/ 567 h 622"/>
                  <a:gd name="T30" fmla="*/ 938 w 1395"/>
                  <a:gd name="T31" fmla="*/ 590 h 622"/>
                  <a:gd name="T32" fmla="*/ 912 w 1395"/>
                  <a:gd name="T33" fmla="*/ 609 h 622"/>
                  <a:gd name="T34" fmla="*/ 869 w 1395"/>
                  <a:gd name="T35" fmla="*/ 622 h 622"/>
                  <a:gd name="T36" fmla="*/ 835 w 1395"/>
                  <a:gd name="T37" fmla="*/ 622 h 622"/>
                  <a:gd name="T38" fmla="*/ 803 w 1395"/>
                  <a:gd name="T39" fmla="*/ 615 h 622"/>
                  <a:gd name="T40" fmla="*/ 778 w 1395"/>
                  <a:gd name="T41" fmla="*/ 593 h 622"/>
                  <a:gd name="T42" fmla="*/ 759 w 1395"/>
                  <a:gd name="T43" fmla="*/ 559 h 622"/>
                  <a:gd name="T44" fmla="*/ 759 w 1395"/>
                  <a:gd name="T45" fmla="*/ 507 h 622"/>
                  <a:gd name="T46" fmla="*/ 759 w 1395"/>
                  <a:gd name="T47" fmla="*/ 395 h 622"/>
                  <a:gd name="T48" fmla="*/ 746 w 1395"/>
                  <a:gd name="T49" fmla="*/ 379 h 622"/>
                  <a:gd name="T50" fmla="*/ 720 w 1395"/>
                  <a:gd name="T51" fmla="*/ 366 h 622"/>
                  <a:gd name="T52" fmla="*/ 447 w 1395"/>
                  <a:gd name="T53" fmla="*/ 435 h 622"/>
                  <a:gd name="T54" fmla="*/ 403 w 1395"/>
                  <a:gd name="T55" fmla="*/ 446 h 622"/>
                  <a:gd name="T56" fmla="*/ 362 w 1395"/>
                  <a:gd name="T57" fmla="*/ 439 h 622"/>
                  <a:gd name="T58" fmla="*/ 327 w 1395"/>
                  <a:gd name="T59" fmla="*/ 430 h 622"/>
                  <a:gd name="T60" fmla="*/ 295 w 1395"/>
                  <a:gd name="T61" fmla="*/ 417 h 622"/>
                  <a:gd name="T62" fmla="*/ 263 w 1395"/>
                  <a:gd name="T63" fmla="*/ 398 h 622"/>
                  <a:gd name="T64" fmla="*/ 0 w 1395"/>
                  <a:gd name="T65" fmla="*/ 135 h 622"/>
                  <a:gd name="T66" fmla="*/ 0 w 1395"/>
                  <a:gd name="T67" fmla="*/ 0 h 6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95" h="622">
                    <a:moveTo>
                      <a:pt x="0" y="0"/>
                    </a:moveTo>
                    <a:lnTo>
                      <a:pt x="263" y="241"/>
                    </a:lnTo>
                    <a:lnTo>
                      <a:pt x="303" y="271"/>
                    </a:lnTo>
                    <a:lnTo>
                      <a:pt x="375" y="291"/>
                    </a:lnTo>
                    <a:lnTo>
                      <a:pt x="451" y="291"/>
                    </a:lnTo>
                    <a:lnTo>
                      <a:pt x="1392" y="3"/>
                    </a:lnTo>
                    <a:lnTo>
                      <a:pt x="1395" y="129"/>
                    </a:lnTo>
                    <a:lnTo>
                      <a:pt x="1383" y="174"/>
                    </a:lnTo>
                    <a:lnTo>
                      <a:pt x="1349" y="199"/>
                    </a:lnTo>
                    <a:lnTo>
                      <a:pt x="1031" y="286"/>
                    </a:lnTo>
                    <a:lnTo>
                      <a:pt x="1031" y="439"/>
                    </a:lnTo>
                    <a:lnTo>
                      <a:pt x="1021" y="478"/>
                    </a:lnTo>
                    <a:lnTo>
                      <a:pt x="1008" y="507"/>
                    </a:lnTo>
                    <a:lnTo>
                      <a:pt x="989" y="539"/>
                    </a:lnTo>
                    <a:lnTo>
                      <a:pt x="963" y="567"/>
                    </a:lnTo>
                    <a:lnTo>
                      <a:pt x="938" y="590"/>
                    </a:lnTo>
                    <a:lnTo>
                      <a:pt x="912" y="609"/>
                    </a:lnTo>
                    <a:lnTo>
                      <a:pt x="869" y="622"/>
                    </a:lnTo>
                    <a:lnTo>
                      <a:pt x="835" y="622"/>
                    </a:lnTo>
                    <a:lnTo>
                      <a:pt x="803" y="615"/>
                    </a:lnTo>
                    <a:lnTo>
                      <a:pt x="778" y="593"/>
                    </a:lnTo>
                    <a:lnTo>
                      <a:pt x="759" y="559"/>
                    </a:lnTo>
                    <a:lnTo>
                      <a:pt x="759" y="507"/>
                    </a:lnTo>
                    <a:lnTo>
                      <a:pt x="759" y="395"/>
                    </a:lnTo>
                    <a:lnTo>
                      <a:pt x="746" y="379"/>
                    </a:lnTo>
                    <a:lnTo>
                      <a:pt x="720" y="366"/>
                    </a:lnTo>
                    <a:lnTo>
                      <a:pt x="447" y="435"/>
                    </a:lnTo>
                    <a:lnTo>
                      <a:pt x="403" y="446"/>
                    </a:lnTo>
                    <a:lnTo>
                      <a:pt x="362" y="439"/>
                    </a:lnTo>
                    <a:lnTo>
                      <a:pt x="327" y="430"/>
                    </a:lnTo>
                    <a:lnTo>
                      <a:pt x="295" y="417"/>
                    </a:lnTo>
                    <a:lnTo>
                      <a:pt x="263" y="398"/>
                    </a:lnTo>
                    <a:lnTo>
                      <a:pt x="0" y="13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007200"/>
                  </a:gs>
                  <a:gs pos="50000">
                    <a:srgbClr val="00B400"/>
                  </a:gs>
                  <a:gs pos="100000">
                    <a:srgbClr val="00720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9" name="Freeform 249"/>
              <p:cNvSpPr>
                <a:spLocks noChangeArrowheads="1"/>
              </p:cNvSpPr>
              <p:nvPr/>
            </p:nvSpPr>
            <p:spPr bwMode="auto">
              <a:xfrm>
                <a:off x="3062" y="1815"/>
                <a:ext cx="732" cy="329"/>
              </a:xfrm>
              <a:custGeom>
                <a:avLst/>
                <a:gdLst>
                  <a:gd name="T0" fmla="*/ 0 w 1397"/>
                  <a:gd name="T1" fmla="*/ 305 h 627"/>
                  <a:gd name="T2" fmla="*/ 260 w 1397"/>
                  <a:gd name="T3" fmla="*/ 235 h 627"/>
                  <a:gd name="T4" fmla="*/ 293 w 1397"/>
                  <a:gd name="T5" fmla="*/ 260 h 627"/>
                  <a:gd name="T6" fmla="*/ 346 w 1397"/>
                  <a:gd name="T7" fmla="*/ 308 h 627"/>
                  <a:gd name="T8" fmla="*/ 389 w 1397"/>
                  <a:gd name="T9" fmla="*/ 332 h 627"/>
                  <a:gd name="T10" fmla="*/ 447 w 1397"/>
                  <a:gd name="T11" fmla="*/ 356 h 627"/>
                  <a:gd name="T12" fmla="*/ 528 w 1397"/>
                  <a:gd name="T13" fmla="*/ 380 h 627"/>
                  <a:gd name="T14" fmla="*/ 610 w 1397"/>
                  <a:gd name="T15" fmla="*/ 399 h 627"/>
                  <a:gd name="T16" fmla="*/ 692 w 1397"/>
                  <a:gd name="T17" fmla="*/ 394 h 627"/>
                  <a:gd name="T18" fmla="*/ 768 w 1397"/>
                  <a:gd name="T19" fmla="*/ 380 h 627"/>
                  <a:gd name="T20" fmla="*/ 812 w 1397"/>
                  <a:gd name="T21" fmla="*/ 360 h 627"/>
                  <a:gd name="T22" fmla="*/ 855 w 1397"/>
                  <a:gd name="T23" fmla="*/ 327 h 627"/>
                  <a:gd name="T24" fmla="*/ 898 w 1397"/>
                  <a:gd name="T25" fmla="*/ 288 h 627"/>
                  <a:gd name="T26" fmla="*/ 922 w 1397"/>
                  <a:gd name="T27" fmla="*/ 245 h 627"/>
                  <a:gd name="T28" fmla="*/ 922 w 1397"/>
                  <a:gd name="T29" fmla="*/ 192 h 627"/>
                  <a:gd name="T30" fmla="*/ 908 w 1397"/>
                  <a:gd name="T31" fmla="*/ 149 h 627"/>
                  <a:gd name="T32" fmla="*/ 893 w 1397"/>
                  <a:gd name="T33" fmla="*/ 116 h 627"/>
                  <a:gd name="T34" fmla="*/ 860 w 1397"/>
                  <a:gd name="T35" fmla="*/ 77 h 627"/>
                  <a:gd name="T36" fmla="*/ 1128 w 1397"/>
                  <a:gd name="T37" fmla="*/ 0 h 627"/>
                  <a:gd name="T38" fmla="*/ 1378 w 1397"/>
                  <a:gd name="T39" fmla="*/ 255 h 627"/>
                  <a:gd name="T40" fmla="*/ 1397 w 1397"/>
                  <a:gd name="T41" fmla="*/ 287 h 627"/>
                  <a:gd name="T42" fmla="*/ 1397 w 1397"/>
                  <a:gd name="T43" fmla="*/ 319 h 627"/>
                  <a:gd name="T44" fmla="*/ 1375 w 1397"/>
                  <a:gd name="T45" fmla="*/ 344 h 627"/>
                  <a:gd name="T46" fmla="*/ 1330 w 1397"/>
                  <a:gd name="T47" fmla="*/ 375 h 627"/>
                  <a:gd name="T48" fmla="*/ 466 w 1397"/>
                  <a:gd name="T49" fmla="*/ 605 h 627"/>
                  <a:gd name="T50" fmla="*/ 418 w 1397"/>
                  <a:gd name="T51" fmla="*/ 617 h 627"/>
                  <a:gd name="T52" fmla="*/ 370 w 1397"/>
                  <a:gd name="T53" fmla="*/ 627 h 627"/>
                  <a:gd name="T54" fmla="*/ 322 w 1397"/>
                  <a:gd name="T55" fmla="*/ 603 h 627"/>
                  <a:gd name="T56" fmla="*/ 293 w 1397"/>
                  <a:gd name="T57" fmla="*/ 579 h 627"/>
                  <a:gd name="T58" fmla="*/ 260 w 1397"/>
                  <a:gd name="T59" fmla="*/ 552 h 627"/>
                  <a:gd name="T60" fmla="*/ 0 w 1397"/>
                  <a:gd name="T61" fmla="*/ 305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97" h="627">
                    <a:moveTo>
                      <a:pt x="0" y="305"/>
                    </a:moveTo>
                    <a:lnTo>
                      <a:pt x="260" y="235"/>
                    </a:lnTo>
                    <a:lnTo>
                      <a:pt x="293" y="260"/>
                    </a:lnTo>
                    <a:lnTo>
                      <a:pt x="346" y="308"/>
                    </a:lnTo>
                    <a:lnTo>
                      <a:pt x="389" y="332"/>
                    </a:lnTo>
                    <a:lnTo>
                      <a:pt x="447" y="356"/>
                    </a:lnTo>
                    <a:lnTo>
                      <a:pt x="528" y="380"/>
                    </a:lnTo>
                    <a:lnTo>
                      <a:pt x="610" y="399"/>
                    </a:lnTo>
                    <a:lnTo>
                      <a:pt x="692" y="394"/>
                    </a:lnTo>
                    <a:lnTo>
                      <a:pt x="768" y="380"/>
                    </a:lnTo>
                    <a:lnTo>
                      <a:pt x="812" y="360"/>
                    </a:lnTo>
                    <a:lnTo>
                      <a:pt x="855" y="327"/>
                    </a:lnTo>
                    <a:lnTo>
                      <a:pt x="898" y="288"/>
                    </a:lnTo>
                    <a:lnTo>
                      <a:pt x="922" y="245"/>
                    </a:lnTo>
                    <a:lnTo>
                      <a:pt x="922" y="192"/>
                    </a:lnTo>
                    <a:lnTo>
                      <a:pt x="908" y="149"/>
                    </a:lnTo>
                    <a:lnTo>
                      <a:pt x="893" y="116"/>
                    </a:lnTo>
                    <a:lnTo>
                      <a:pt x="860" y="77"/>
                    </a:lnTo>
                    <a:lnTo>
                      <a:pt x="1128" y="0"/>
                    </a:lnTo>
                    <a:lnTo>
                      <a:pt x="1378" y="255"/>
                    </a:lnTo>
                    <a:lnTo>
                      <a:pt x="1397" y="287"/>
                    </a:lnTo>
                    <a:lnTo>
                      <a:pt x="1397" y="319"/>
                    </a:lnTo>
                    <a:lnTo>
                      <a:pt x="1375" y="344"/>
                    </a:lnTo>
                    <a:lnTo>
                      <a:pt x="1330" y="375"/>
                    </a:lnTo>
                    <a:lnTo>
                      <a:pt x="466" y="605"/>
                    </a:lnTo>
                    <a:lnTo>
                      <a:pt x="418" y="617"/>
                    </a:lnTo>
                    <a:lnTo>
                      <a:pt x="370" y="627"/>
                    </a:lnTo>
                    <a:lnTo>
                      <a:pt x="322" y="603"/>
                    </a:lnTo>
                    <a:lnTo>
                      <a:pt x="293" y="579"/>
                    </a:lnTo>
                    <a:lnTo>
                      <a:pt x="260" y="552"/>
                    </a:lnTo>
                    <a:lnTo>
                      <a:pt x="0" y="30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CC00"/>
                  </a:gs>
                  <a:gs pos="100000">
                    <a:srgbClr val="005E00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0" name="Freeform 250"/>
              <p:cNvSpPr>
                <a:spLocks noChangeArrowheads="1"/>
              </p:cNvSpPr>
              <p:nvPr/>
            </p:nvSpPr>
            <p:spPr bwMode="auto">
              <a:xfrm>
                <a:off x="3068" y="2718"/>
                <a:ext cx="115" cy="78"/>
              </a:xfrm>
              <a:custGeom>
                <a:avLst/>
                <a:gdLst>
                  <a:gd name="T0" fmla="*/ 6 w 878"/>
                  <a:gd name="T1" fmla="*/ 183 h 597"/>
                  <a:gd name="T2" fmla="*/ 0 w 878"/>
                  <a:gd name="T3" fmla="*/ 237 h 597"/>
                  <a:gd name="T4" fmla="*/ 10 w 878"/>
                  <a:gd name="T5" fmla="*/ 292 h 597"/>
                  <a:gd name="T6" fmla="*/ 35 w 878"/>
                  <a:gd name="T7" fmla="*/ 349 h 597"/>
                  <a:gd name="T8" fmla="*/ 75 w 878"/>
                  <a:gd name="T9" fmla="*/ 404 h 597"/>
                  <a:gd name="T10" fmla="*/ 128 w 878"/>
                  <a:gd name="T11" fmla="*/ 455 h 597"/>
                  <a:gd name="T12" fmla="*/ 192 w 878"/>
                  <a:gd name="T13" fmla="*/ 500 h 597"/>
                  <a:gd name="T14" fmla="*/ 266 w 878"/>
                  <a:gd name="T15" fmla="*/ 539 h 597"/>
                  <a:gd name="T16" fmla="*/ 345 w 878"/>
                  <a:gd name="T17" fmla="*/ 568 h 597"/>
                  <a:gd name="T18" fmla="*/ 428 w 878"/>
                  <a:gd name="T19" fmla="*/ 587 h 597"/>
                  <a:gd name="T20" fmla="*/ 512 w 878"/>
                  <a:gd name="T21" fmla="*/ 597 h 597"/>
                  <a:gd name="T22" fmla="*/ 593 w 878"/>
                  <a:gd name="T23" fmla="*/ 595 h 597"/>
                  <a:gd name="T24" fmla="*/ 668 w 878"/>
                  <a:gd name="T25" fmla="*/ 582 h 597"/>
                  <a:gd name="T26" fmla="*/ 735 w 878"/>
                  <a:gd name="T27" fmla="*/ 559 h 597"/>
                  <a:gd name="T28" fmla="*/ 791 w 878"/>
                  <a:gd name="T29" fmla="*/ 528 h 597"/>
                  <a:gd name="T30" fmla="*/ 835 w 878"/>
                  <a:gd name="T31" fmla="*/ 488 h 597"/>
                  <a:gd name="T32" fmla="*/ 864 w 878"/>
                  <a:gd name="T33" fmla="*/ 440 h 597"/>
                  <a:gd name="T34" fmla="*/ 878 w 878"/>
                  <a:gd name="T35" fmla="*/ 388 h 597"/>
                  <a:gd name="T36" fmla="*/ 876 w 878"/>
                  <a:gd name="T37" fmla="*/ 333 h 597"/>
                  <a:gd name="T38" fmla="*/ 859 w 878"/>
                  <a:gd name="T39" fmla="*/ 276 h 597"/>
                  <a:gd name="T40" fmla="*/ 826 w 878"/>
                  <a:gd name="T41" fmla="*/ 220 h 597"/>
                  <a:gd name="T42" fmla="*/ 779 w 878"/>
                  <a:gd name="T43" fmla="*/ 167 h 597"/>
                  <a:gd name="T44" fmla="*/ 720 w 878"/>
                  <a:gd name="T45" fmla="*/ 119 h 597"/>
                  <a:gd name="T46" fmla="*/ 651 w 878"/>
                  <a:gd name="T47" fmla="*/ 76 h 597"/>
                  <a:gd name="T48" fmla="*/ 574 w 878"/>
                  <a:gd name="T49" fmla="*/ 43 h 597"/>
                  <a:gd name="T50" fmla="*/ 492 w 878"/>
                  <a:gd name="T51" fmla="*/ 18 h 597"/>
                  <a:gd name="T52" fmla="*/ 410 w 878"/>
                  <a:gd name="T53" fmla="*/ 4 h 597"/>
                  <a:gd name="T54" fmla="*/ 327 w 878"/>
                  <a:gd name="T55" fmla="*/ 0 h 597"/>
                  <a:gd name="T56" fmla="*/ 248 w 878"/>
                  <a:gd name="T57" fmla="*/ 7 h 597"/>
                  <a:gd name="T58" fmla="*/ 177 w 878"/>
                  <a:gd name="T59" fmla="*/ 24 h 597"/>
                  <a:gd name="T60" fmla="*/ 114 w 878"/>
                  <a:gd name="T61" fmla="*/ 52 h 597"/>
                  <a:gd name="T62" fmla="*/ 65 w 878"/>
                  <a:gd name="T63" fmla="*/ 89 h 597"/>
                  <a:gd name="T64" fmla="*/ 28 w 878"/>
                  <a:gd name="T65" fmla="*/ 132 h 597"/>
                  <a:gd name="T66" fmla="*/ 6 w 878"/>
                  <a:gd name="T67" fmla="*/ 183 h 597"/>
                  <a:gd name="T68" fmla="*/ 7 w 878"/>
                  <a:gd name="T69" fmla="*/ 183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8" h="597">
                    <a:moveTo>
                      <a:pt x="6" y="183"/>
                    </a:moveTo>
                    <a:lnTo>
                      <a:pt x="0" y="237"/>
                    </a:lnTo>
                    <a:lnTo>
                      <a:pt x="10" y="292"/>
                    </a:lnTo>
                    <a:lnTo>
                      <a:pt x="35" y="349"/>
                    </a:lnTo>
                    <a:lnTo>
                      <a:pt x="75" y="404"/>
                    </a:lnTo>
                    <a:lnTo>
                      <a:pt x="128" y="455"/>
                    </a:lnTo>
                    <a:lnTo>
                      <a:pt x="192" y="500"/>
                    </a:lnTo>
                    <a:lnTo>
                      <a:pt x="266" y="539"/>
                    </a:lnTo>
                    <a:lnTo>
                      <a:pt x="345" y="568"/>
                    </a:lnTo>
                    <a:lnTo>
                      <a:pt x="428" y="587"/>
                    </a:lnTo>
                    <a:lnTo>
                      <a:pt x="512" y="597"/>
                    </a:lnTo>
                    <a:lnTo>
                      <a:pt x="593" y="595"/>
                    </a:lnTo>
                    <a:lnTo>
                      <a:pt x="668" y="582"/>
                    </a:lnTo>
                    <a:lnTo>
                      <a:pt x="735" y="559"/>
                    </a:lnTo>
                    <a:lnTo>
                      <a:pt x="791" y="528"/>
                    </a:lnTo>
                    <a:lnTo>
                      <a:pt x="835" y="488"/>
                    </a:lnTo>
                    <a:lnTo>
                      <a:pt x="864" y="440"/>
                    </a:lnTo>
                    <a:lnTo>
                      <a:pt x="878" y="388"/>
                    </a:lnTo>
                    <a:lnTo>
                      <a:pt x="876" y="333"/>
                    </a:lnTo>
                    <a:lnTo>
                      <a:pt x="859" y="276"/>
                    </a:lnTo>
                    <a:lnTo>
                      <a:pt x="826" y="220"/>
                    </a:lnTo>
                    <a:lnTo>
                      <a:pt x="779" y="167"/>
                    </a:lnTo>
                    <a:lnTo>
                      <a:pt x="720" y="119"/>
                    </a:lnTo>
                    <a:lnTo>
                      <a:pt x="651" y="76"/>
                    </a:lnTo>
                    <a:lnTo>
                      <a:pt x="574" y="43"/>
                    </a:lnTo>
                    <a:lnTo>
                      <a:pt x="492" y="18"/>
                    </a:lnTo>
                    <a:lnTo>
                      <a:pt x="410" y="4"/>
                    </a:lnTo>
                    <a:lnTo>
                      <a:pt x="327" y="0"/>
                    </a:lnTo>
                    <a:lnTo>
                      <a:pt x="248" y="7"/>
                    </a:lnTo>
                    <a:lnTo>
                      <a:pt x="177" y="24"/>
                    </a:lnTo>
                    <a:lnTo>
                      <a:pt x="114" y="52"/>
                    </a:lnTo>
                    <a:lnTo>
                      <a:pt x="65" y="89"/>
                    </a:lnTo>
                    <a:lnTo>
                      <a:pt x="28" y="132"/>
                    </a:lnTo>
                    <a:lnTo>
                      <a:pt x="6" y="183"/>
                    </a:lnTo>
                    <a:lnTo>
                      <a:pt x="7" y="183"/>
                    </a:lnTo>
                  </a:path>
                </a:pathLst>
              </a:custGeom>
              <a:gradFill rotWithShape="0">
                <a:gsLst>
                  <a:gs pos="0">
                    <a:srgbClr val="5C5C5C"/>
                  </a:gs>
                  <a:gs pos="50000">
                    <a:srgbClr val="969696"/>
                  </a:gs>
                  <a:gs pos="100000">
                    <a:srgbClr val="5C5C5C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1" name="Freeform 251"/>
              <p:cNvSpPr>
                <a:spLocks noChangeArrowheads="1"/>
              </p:cNvSpPr>
              <p:nvPr/>
            </p:nvSpPr>
            <p:spPr bwMode="auto">
              <a:xfrm>
                <a:off x="3223" y="2044"/>
                <a:ext cx="75" cy="50"/>
              </a:xfrm>
              <a:custGeom>
                <a:avLst/>
                <a:gdLst>
                  <a:gd name="T0" fmla="*/ 4 w 571"/>
                  <a:gd name="T1" fmla="*/ 118 h 388"/>
                  <a:gd name="T2" fmla="*/ 0 w 571"/>
                  <a:gd name="T3" fmla="*/ 153 h 388"/>
                  <a:gd name="T4" fmla="*/ 7 w 571"/>
                  <a:gd name="T5" fmla="*/ 190 h 388"/>
                  <a:gd name="T6" fmla="*/ 24 w 571"/>
                  <a:gd name="T7" fmla="*/ 226 h 388"/>
                  <a:gd name="T8" fmla="*/ 50 w 571"/>
                  <a:gd name="T9" fmla="*/ 263 h 388"/>
                  <a:gd name="T10" fmla="*/ 84 w 571"/>
                  <a:gd name="T11" fmla="*/ 296 h 388"/>
                  <a:gd name="T12" fmla="*/ 125 w 571"/>
                  <a:gd name="T13" fmla="*/ 325 h 388"/>
                  <a:gd name="T14" fmla="*/ 174 w 571"/>
                  <a:gd name="T15" fmla="*/ 350 h 388"/>
                  <a:gd name="T16" fmla="*/ 226 w 571"/>
                  <a:gd name="T17" fmla="*/ 368 h 388"/>
                  <a:gd name="T18" fmla="*/ 279 w 571"/>
                  <a:gd name="T19" fmla="*/ 382 h 388"/>
                  <a:gd name="T20" fmla="*/ 333 w 571"/>
                  <a:gd name="T21" fmla="*/ 388 h 388"/>
                  <a:gd name="T22" fmla="*/ 386 w 571"/>
                  <a:gd name="T23" fmla="*/ 387 h 388"/>
                  <a:gd name="T24" fmla="*/ 435 w 571"/>
                  <a:gd name="T25" fmla="*/ 379 h 388"/>
                  <a:gd name="T26" fmla="*/ 478 w 571"/>
                  <a:gd name="T27" fmla="*/ 364 h 388"/>
                  <a:gd name="T28" fmla="*/ 515 w 571"/>
                  <a:gd name="T29" fmla="*/ 342 h 388"/>
                  <a:gd name="T30" fmla="*/ 543 w 571"/>
                  <a:gd name="T31" fmla="*/ 316 h 388"/>
                  <a:gd name="T32" fmla="*/ 563 w 571"/>
                  <a:gd name="T33" fmla="*/ 285 h 388"/>
                  <a:gd name="T34" fmla="*/ 571 w 571"/>
                  <a:gd name="T35" fmla="*/ 252 h 388"/>
                  <a:gd name="T36" fmla="*/ 570 w 571"/>
                  <a:gd name="T37" fmla="*/ 216 h 388"/>
                  <a:gd name="T38" fmla="*/ 559 w 571"/>
                  <a:gd name="T39" fmla="*/ 179 h 388"/>
                  <a:gd name="T40" fmla="*/ 538 w 571"/>
                  <a:gd name="T41" fmla="*/ 143 h 388"/>
                  <a:gd name="T42" fmla="*/ 507 w 571"/>
                  <a:gd name="T43" fmla="*/ 107 h 388"/>
                  <a:gd name="T44" fmla="*/ 469 w 571"/>
                  <a:gd name="T45" fmla="*/ 76 h 388"/>
                  <a:gd name="T46" fmla="*/ 424 w 571"/>
                  <a:gd name="T47" fmla="*/ 49 h 388"/>
                  <a:gd name="T48" fmla="*/ 374 w 571"/>
                  <a:gd name="T49" fmla="*/ 28 h 388"/>
                  <a:gd name="T50" fmla="*/ 321 w 571"/>
                  <a:gd name="T51" fmla="*/ 11 h 388"/>
                  <a:gd name="T52" fmla="*/ 266 w 571"/>
                  <a:gd name="T53" fmla="*/ 2 h 388"/>
                  <a:gd name="T54" fmla="*/ 213 w 571"/>
                  <a:gd name="T55" fmla="*/ 0 h 388"/>
                  <a:gd name="T56" fmla="*/ 161 w 571"/>
                  <a:gd name="T57" fmla="*/ 4 h 388"/>
                  <a:gd name="T58" fmla="*/ 116 w 571"/>
                  <a:gd name="T59" fmla="*/ 15 h 388"/>
                  <a:gd name="T60" fmla="*/ 75 w 571"/>
                  <a:gd name="T61" fmla="*/ 33 h 388"/>
                  <a:gd name="T62" fmla="*/ 42 w 571"/>
                  <a:gd name="T63" fmla="*/ 57 h 388"/>
                  <a:gd name="T64" fmla="*/ 19 w 571"/>
                  <a:gd name="T65" fmla="*/ 86 h 388"/>
                  <a:gd name="T66" fmla="*/ 4 w 571"/>
                  <a:gd name="T67" fmla="*/ 118 h 388"/>
                  <a:gd name="T68" fmla="*/ 5 w 571"/>
                  <a:gd name="T69" fmla="*/ 118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1" h="388">
                    <a:moveTo>
                      <a:pt x="4" y="118"/>
                    </a:moveTo>
                    <a:lnTo>
                      <a:pt x="0" y="153"/>
                    </a:lnTo>
                    <a:lnTo>
                      <a:pt x="7" y="190"/>
                    </a:lnTo>
                    <a:lnTo>
                      <a:pt x="24" y="226"/>
                    </a:lnTo>
                    <a:lnTo>
                      <a:pt x="50" y="263"/>
                    </a:lnTo>
                    <a:lnTo>
                      <a:pt x="84" y="296"/>
                    </a:lnTo>
                    <a:lnTo>
                      <a:pt x="125" y="325"/>
                    </a:lnTo>
                    <a:lnTo>
                      <a:pt x="174" y="350"/>
                    </a:lnTo>
                    <a:lnTo>
                      <a:pt x="226" y="368"/>
                    </a:lnTo>
                    <a:lnTo>
                      <a:pt x="279" y="382"/>
                    </a:lnTo>
                    <a:lnTo>
                      <a:pt x="333" y="388"/>
                    </a:lnTo>
                    <a:lnTo>
                      <a:pt x="386" y="387"/>
                    </a:lnTo>
                    <a:lnTo>
                      <a:pt x="435" y="379"/>
                    </a:lnTo>
                    <a:lnTo>
                      <a:pt x="478" y="364"/>
                    </a:lnTo>
                    <a:lnTo>
                      <a:pt x="515" y="342"/>
                    </a:lnTo>
                    <a:lnTo>
                      <a:pt x="543" y="316"/>
                    </a:lnTo>
                    <a:lnTo>
                      <a:pt x="563" y="285"/>
                    </a:lnTo>
                    <a:lnTo>
                      <a:pt x="571" y="252"/>
                    </a:lnTo>
                    <a:lnTo>
                      <a:pt x="570" y="216"/>
                    </a:lnTo>
                    <a:lnTo>
                      <a:pt x="559" y="179"/>
                    </a:lnTo>
                    <a:lnTo>
                      <a:pt x="538" y="143"/>
                    </a:lnTo>
                    <a:lnTo>
                      <a:pt x="507" y="107"/>
                    </a:lnTo>
                    <a:lnTo>
                      <a:pt x="469" y="76"/>
                    </a:lnTo>
                    <a:lnTo>
                      <a:pt x="424" y="49"/>
                    </a:lnTo>
                    <a:lnTo>
                      <a:pt x="374" y="28"/>
                    </a:lnTo>
                    <a:lnTo>
                      <a:pt x="321" y="11"/>
                    </a:lnTo>
                    <a:lnTo>
                      <a:pt x="266" y="2"/>
                    </a:lnTo>
                    <a:lnTo>
                      <a:pt x="213" y="0"/>
                    </a:lnTo>
                    <a:lnTo>
                      <a:pt x="161" y="4"/>
                    </a:lnTo>
                    <a:lnTo>
                      <a:pt x="116" y="15"/>
                    </a:lnTo>
                    <a:lnTo>
                      <a:pt x="75" y="33"/>
                    </a:lnTo>
                    <a:lnTo>
                      <a:pt x="42" y="57"/>
                    </a:lnTo>
                    <a:lnTo>
                      <a:pt x="19" y="86"/>
                    </a:lnTo>
                    <a:lnTo>
                      <a:pt x="4" y="118"/>
                    </a:lnTo>
                    <a:lnTo>
                      <a:pt x="5" y="118"/>
                    </a:lnTo>
                  </a:path>
                </a:pathLst>
              </a:custGeom>
              <a:gradFill rotWithShape="0">
                <a:gsLst>
                  <a:gs pos="0">
                    <a:srgbClr val="525252"/>
                  </a:gs>
                  <a:gs pos="50000">
                    <a:srgbClr val="B2B2B2"/>
                  </a:gs>
                  <a:gs pos="100000">
                    <a:srgbClr val="525252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2" name="Freeform 252"/>
              <p:cNvSpPr>
                <a:spLocks noChangeArrowheads="1"/>
              </p:cNvSpPr>
              <p:nvPr/>
            </p:nvSpPr>
            <p:spPr bwMode="auto">
              <a:xfrm>
                <a:off x="3849" y="2508"/>
                <a:ext cx="116" cy="79"/>
              </a:xfrm>
              <a:custGeom>
                <a:avLst/>
                <a:gdLst>
                  <a:gd name="T0" fmla="*/ 7 w 878"/>
                  <a:gd name="T1" fmla="*/ 182 h 596"/>
                  <a:gd name="T2" fmla="*/ 0 w 878"/>
                  <a:gd name="T3" fmla="*/ 237 h 596"/>
                  <a:gd name="T4" fmla="*/ 10 w 878"/>
                  <a:gd name="T5" fmla="*/ 292 h 596"/>
                  <a:gd name="T6" fmla="*/ 36 w 878"/>
                  <a:gd name="T7" fmla="*/ 349 h 596"/>
                  <a:gd name="T8" fmla="*/ 75 w 878"/>
                  <a:gd name="T9" fmla="*/ 404 h 596"/>
                  <a:gd name="T10" fmla="*/ 129 w 878"/>
                  <a:gd name="T11" fmla="*/ 455 h 596"/>
                  <a:gd name="T12" fmla="*/ 193 w 878"/>
                  <a:gd name="T13" fmla="*/ 500 h 596"/>
                  <a:gd name="T14" fmla="*/ 266 w 878"/>
                  <a:gd name="T15" fmla="*/ 538 h 596"/>
                  <a:gd name="T16" fmla="*/ 346 w 878"/>
                  <a:gd name="T17" fmla="*/ 568 h 596"/>
                  <a:gd name="T18" fmla="*/ 429 w 878"/>
                  <a:gd name="T19" fmla="*/ 587 h 596"/>
                  <a:gd name="T20" fmla="*/ 512 w 878"/>
                  <a:gd name="T21" fmla="*/ 596 h 596"/>
                  <a:gd name="T22" fmla="*/ 593 w 878"/>
                  <a:gd name="T23" fmla="*/ 595 h 596"/>
                  <a:gd name="T24" fmla="*/ 668 w 878"/>
                  <a:gd name="T25" fmla="*/ 582 h 596"/>
                  <a:gd name="T26" fmla="*/ 735 w 878"/>
                  <a:gd name="T27" fmla="*/ 559 h 596"/>
                  <a:gd name="T28" fmla="*/ 791 w 878"/>
                  <a:gd name="T29" fmla="*/ 527 h 596"/>
                  <a:gd name="T30" fmla="*/ 835 w 878"/>
                  <a:gd name="T31" fmla="*/ 487 h 596"/>
                  <a:gd name="T32" fmla="*/ 865 w 878"/>
                  <a:gd name="T33" fmla="*/ 440 h 596"/>
                  <a:gd name="T34" fmla="*/ 878 w 878"/>
                  <a:gd name="T35" fmla="*/ 388 h 596"/>
                  <a:gd name="T36" fmla="*/ 876 w 878"/>
                  <a:gd name="T37" fmla="*/ 332 h 596"/>
                  <a:gd name="T38" fmla="*/ 859 w 878"/>
                  <a:gd name="T39" fmla="*/ 276 h 596"/>
                  <a:gd name="T40" fmla="*/ 826 w 878"/>
                  <a:gd name="T41" fmla="*/ 220 h 596"/>
                  <a:gd name="T42" fmla="*/ 780 w 878"/>
                  <a:gd name="T43" fmla="*/ 166 h 596"/>
                  <a:gd name="T44" fmla="*/ 721 w 878"/>
                  <a:gd name="T45" fmla="*/ 119 h 596"/>
                  <a:gd name="T46" fmla="*/ 652 w 878"/>
                  <a:gd name="T47" fmla="*/ 76 h 596"/>
                  <a:gd name="T48" fmla="*/ 575 w 878"/>
                  <a:gd name="T49" fmla="*/ 42 h 596"/>
                  <a:gd name="T50" fmla="*/ 493 w 878"/>
                  <a:gd name="T51" fmla="*/ 18 h 596"/>
                  <a:gd name="T52" fmla="*/ 409 w 878"/>
                  <a:gd name="T53" fmla="*/ 4 h 596"/>
                  <a:gd name="T54" fmla="*/ 326 w 878"/>
                  <a:gd name="T55" fmla="*/ 0 h 596"/>
                  <a:gd name="T56" fmla="*/ 248 w 878"/>
                  <a:gd name="T57" fmla="*/ 7 h 596"/>
                  <a:gd name="T58" fmla="*/ 176 w 878"/>
                  <a:gd name="T59" fmla="*/ 24 h 596"/>
                  <a:gd name="T60" fmla="*/ 115 w 878"/>
                  <a:gd name="T61" fmla="*/ 51 h 596"/>
                  <a:gd name="T62" fmla="*/ 65 w 878"/>
                  <a:gd name="T63" fmla="*/ 89 h 596"/>
                  <a:gd name="T64" fmla="*/ 28 w 878"/>
                  <a:gd name="T65" fmla="*/ 132 h 596"/>
                  <a:gd name="T66" fmla="*/ 7 w 878"/>
                  <a:gd name="T67" fmla="*/ 182 h 596"/>
                  <a:gd name="T68" fmla="*/ 8 w 878"/>
                  <a:gd name="T69" fmla="*/ 182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8" h="596">
                    <a:moveTo>
                      <a:pt x="7" y="182"/>
                    </a:moveTo>
                    <a:lnTo>
                      <a:pt x="0" y="237"/>
                    </a:lnTo>
                    <a:lnTo>
                      <a:pt x="10" y="292"/>
                    </a:lnTo>
                    <a:lnTo>
                      <a:pt x="36" y="349"/>
                    </a:lnTo>
                    <a:lnTo>
                      <a:pt x="75" y="404"/>
                    </a:lnTo>
                    <a:lnTo>
                      <a:pt x="129" y="455"/>
                    </a:lnTo>
                    <a:lnTo>
                      <a:pt x="193" y="500"/>
                    </a:lnTo>
                    <a:lnTo>
                      <a:pt x="266" y="538"/>
                    </a:lnTo>
                    <a:lnTo>
                      <a:pt x="346" y="568"/>
                    </a:lnTo>
                    <a:lnTo>
                      <a:pt x="429" y="587"/>
                    </a:lnTo>
                    <a:lnTo>
                      <a:pt x="512" y="596"/>
                    </a:lnTo>
                    <a:lnTo>
                      <a:pt x="593" y="595"/>
                    </a:lnTo>
                    <a:lnTo>
                      <a:pt x="668" y="582"/>
                    </a:lnTo>
                    <a:lnTo>
                      <a:pt x="735" y="559"/>
                    </a:lnTo>
                    <a:lnTo>
                      <a:pt x="791" y="527"/>
                    </a:lnTo>
                    <a:lnTo>
                      <a:pt x="835" y="487"/>
                    </a:lnTo>
                    <a:lnTo>
                      <a:pt x="865" y="440"/>
                    </a:lnTo>
                    <a:lnTo>
                      <a:pt x="878" y="388"/>
                    </a:lnTo>
                    <a:lnTo>
                      <a:pt x="876" y="332"/>
                    </a:lnTo>
                    <a:lnTo>
                      <a:pt x="859" y="276"/>
                    </a:lnTo>
                    <a:lnTo>
                      <a:pt x="826" y="220"/>
                    </a:lnTo>
                    <a:lnTo>
                      <a:pt x="780" y="166"/>
                    </a:lnTo>
                    <a:lnTo>
                      <a:pt x="721" y="119"/>
                    </a:lnTo>
                    <a:lnTo>
                      <a:pt x="652" y="76"/>
                    </a:lnTo>
                    <a:lnTo>
                      <a:pt x="575" y="42"/>
                    </a:lnTo>
                    <a:lnTo>
                      <a:pt x="493" y="18"/>
                    </a:lnTo>
                    <a:lnTo>
                      <a:pt x="409" y="4"/>
                    </a:lnTo>
                    <a:lnTo>
                      <a:pt x="326" y="0"/>
                    </a:lnTo>
                    <a:lnTo>
                      <a:pt x="248" y="7"/>
                    </a:lnTo>
                    <a:lnTo>
                      <a:pt x="176" y="24"/>
                    </a:lnTo>
                    <a:lnTo>
                      <a:pt x="115" y="51"/>
                    </a:lnTo>
                    <a:lnTo>
                      <a:pt x="65" y="89"/>
                    </a:lnTo>
                    <a:lnTo>
                      <a:pt x="28" y="132"/>
                    </a:lnTo>
                    <a:lnTo>
                      <a:pt x="7" y="182"/>
                    </a:lnTo>
                    <a:lnTo>
                      <a:pt x="8" y="182"/>
                    </a:lnTo>
                  </a:path>
                </a:pathLst>
              </a:custGeom>
              <a:gradFill rotWithShape="0">
                <a:gsLst>
                  <a:gs pos="0">
                    <a:srgbClr val="5C5C5C"/>
                  </a:gs>
                  <a:gs pos="50000">
                    <a:srgbClr val="969696"/>
                  </a:gs>
                  <a:gs pos="100000">
                    <a:srgbClr val="5C5C5C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3" name="Freeform 253"/>
              <p:cNvSpPr>
                <a:spLocks noChangeArrowheads="1"/>
              </p:cNvSpPr>
              <p:nvPr/>
            </p:nvSpPr>
            <p:spPr bwMode="auto">
              <a:xfrm>
                <a:off x="3497" y="2180"/>
                <a:ext cx="72" cy="80"/>
              </a:xfrm>
              <a:custGeom>
                <a:avLst/>
                <a:gdLst>
                  <a:gd name="T0" fmla="*/ 65 w 552"/>
                  <a:gd name="T1" fmla="*/ 582 h 613"/>
                  <a:gd name="T2" fmla="*/ 102 w 552"/>
                  <a:gd name="T3" fmla="*/ 602 h 613"/>
                  <a:gd name="T4" fmla="*/ 146 w 552"/>
                  <a:gd name="T5" fmla="*/ 613 h 613"/>
                  <a:gd name="T6" fmla="*/ 194 w 552"/>
                  <a:gd name="T7" fmla="*/ 612 h 613"/>
                  <a:gd name="T8" fmla="*/ 246 w 552"/>
                  <a:gd name="T9" fmla="*/ 600 h 613"/>
                  <a:gd name="T10" fmla="*/ 299 w 552"/>
                  <a:gd name="T11" fmla="*/ 577 h 613"/>
                  <a:gd name="T12" fmla="*/ 351 w 552"/>
                  <a:gd name="T13" fmla="*/ 545 h 613"/>
                  <a:gd name="T14" fmla="*/ 399 w 552"/>
                  <a:gd name="T15" fmla="*/ 505 h 613"/>
                  <a:gd name="T16" fmla="*/ 444 w 552"/>
                  <a:gd name="T17" fmla="*/ 456 h 613"/>
                  <a:gd name="T18" fmla="*/ 482 w 552"/>
                  <a:gd name="T19" fmla="*/ 402 h 613"/>
                  <a:gd name="T20" fmla="*/ 513 w 552"/>
                  <a:gd name="T21" fmla="*/ 346 h 613"/>
                  <a:gd name="T22" fmla="*/ 536 w 552"/>
                  <a:gd name="T23" fmla="*/ 288 h 613"/>
                  <a:gd name="T24" fmla="*/ 548 w 552"/>
                  <a:gd name="T25" fmla="*/ 230 h 613"/>
                  <a:gd name="T26" fmla="*/ 552 w 552"/>
                  <a:gd name="T27" fmla="*/ 175 h 613"/>
                  <a:gd name="T28" fmla="*/ 545 w 552"/>
                  <a:gd name="T29" fmla="*/ 125 h 613"/>
                  <a:gd name="T30" fmla="*/ 529 w 552"/>
                  <a:gd name="T31" fmla="*/ 82 h 613"/>
                  <a:gd name="T32" fmla="*/ 503 w 552"/>
                  <a:gd name="T33" fmla="*/ 45 h 613"/>
                  <a:gd name="T34" fmla="*/ 469 w 552"/>
                  <a:gd name="T35" fmla="*/ 20 h 613"/>
                  <a:gd name="T36" fmla="*/ 428 w 552"/>
                  <a:gd name="T37" fmla="*/ 4 h 613"/>
                  <a:gd name="T38" fmla="*/ 382 w 552"/>
                  <a:gd name="T39" fmla="*/ 0 h 613"/>
                  <a:gd name="T40" fmla="*/ 331 w 552"/>
                  <a:gd name="T41" fmla="*/ 6 h 613"/>
                  <a:gd name="T42" fmla="*/ 279 w 552"/>
                  <a:gd name="T43" fmla="*/ 23 h 613"/>
                  <a:gd name="T44" fmla="*/ 227 w 552"/>
                  <a:gd name="T45" fmla="*/ 51 h 613"/>
                  <a:gd name="T46" fmla="*/ 176 w 552"/>
                  <a:gd name="T47" fmla="*/ 87 h 613"/>
                  <a:gd name="T48" fmla="*/ 129 w 552"/>
                  <a:gd name="T49" fmla="*/ 132 h 613"/>
                  <a:gd name="T50" fmla="*/ 88 w 552"/>
                  <a:gd name="T51" fmla="*/ 183 h 613"/>
                  <a:gd name="T52" fmla="*/ 53 w 552"/>
                  <a:gd name="T53" fmla="*/ 238 h 613"/>
                  <a:gd name="T54" fmla="*/ 26 w 552"/>
                  <a:gd name="T55" fmla="*/ 296 h 613"/>
                  <a:gd name="T56" fmla="*/ 8 w 552"/>
                  <a:gd name="T57" fmla="*/ 355 h 613"/>
                  <a:gd name="T58" fmla="*/ 0 w 552"/>
                  <a:gd name="T59" fmla="*/ 411 h 613"/>
                  <a:gd name="T60" fmla="*/ 2 w 552"/>
                  <a:gd name="T61" fmla="*/ 464 h 613"/>
                  <a:gd name="T62" fmla="*/ 13 w 552"/>
                  <a:gd name="T63" fmla="*/ 511 h 613"/>
                  <a:gd name="T64" fmla="*/ 35 w 552"/>
                  <a:gd name="T65" fmla="*/ 550 h 613"/>
                  <a:gd name="T66" fmla="*/ 65 w 552"/>
                  <a:gd name="T67" fmla="*/ 582 h 613"/>
                  <a:gd name="T68" fmla="*/ 66 w 552"/>
                  <a:gd name="T69" fmla="*/ 582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52" h="613">
                    <a:moveTo>
                      <a:pt x="65" y="582"/>
                    </a:moveTo>
                    <a:lnTo>
                      <a:pt x="102" y="602"/>
                    </a:lnTo>
                    <a:lnTo>
                      <a:pt x="146" y="613"/>
                    </a:lnTo>
                    <a:lnTo>
                      <a:pt x="194" y="612"/>
                    </a:lnTo>
                    <a:lnTo>
                      <a:pt x="246" y="600"/>
                    </a:lnTo>
                    <a:lnTo>
                      <a:pt x="299" y="577"/>
                    </a:lnTo>
                    <a:lnTo>
                      <a:pt x="351" y="545"/>
                    </a:lnTo>
                    <a:lnTo>
                      <a:pt x="399" y="505"/>
                    </a:lnTo>
                    <a:lnTo>
                      <a:pt x="444" y="456"/>
                    </a:lnTo>
                    <a:lnTo>
                      <a:pt x="482" y="402"/>
                    </a:lnTo>
                    <a:lnTo>
                      <a:pt x="513" y="346"/>
                    </a:lnTo>
                    <a:lnTo>
                      <a:pt x="536" y="288"/>
                    </a:lnTo>
                    <a:lnTo>
                      <a:pt x="548" y="230"/>
                    </a:lnTo>
                    <a:lnTo>
                      <a:pt x="552" y="175"/>
                    </a:lnTo>
                    <a:lnTo>
                      <a:pt x="545" y="125"/>
                    </a:lnTo>
                    <a:lnTo>
                      <a:pt x="529" y="82"/>
                    </a:lnTo>
                    <a:lnTo>
                      <a:pt x="503" y="45"/>
                    </a:lnTo>
                    <a:lnTo>
                      <a:pt x="469" y="20"/>
                    </a:lnTo>
                    <a:lnTo>
                      <a:pt x="428" y="4"/>
                    </a:lnTo>
                    <a:lnTo>
                      <a:pt x="382" y="0"/>
                    </a:lnTo>
                    <a:lnTo>
                      <a:pt x="331" y="6"/>
                    </a:lnTo>
                    <a:lnTo>
                      <a:pt x="279" y="23"/>
                    </a:lnTo>
                    <a:lnTo>
                      <a:pt x="227" y="51"/>
                    </a:lnTo>
                    <a:lnTo>
                      <a:pt x="176" y="87"/>
                    </a:lnTo>
                    <a:lnTo>
                      <a:pt x="129" y="132"/>
                    </a:lnTo>
                    <a:lnTo>
                      <a:pt x="88" y="183"/>
                    </a:lnTo>
                    <a:lnTo>
                      <a:pt x="53" y="238"/>
                    </a:lnTo>
                    <a:lnTo>
                      <a:pt x="26" y="296"/>
                    </a:lnTo>
                    <a:lnTo>
                      <a:pt x="8" y="355"/>
                    </a:lnTo>
                    <a:lnTo>
                      <a:pt x="0" y="411"/>
                    </a:lnTo>
                    <a:lnTo>
                      <a:pt x="2" y="464"/>
                    </a:lnTo>
                    <a:lnTo>
                      <a:pt x="13" y="511"/>
                    </a:lnTo>
                    <a:lnTo>
                      <a:pt x="35" y="550"/>
                    </a:lnTo>
                    <a:lnTo>
                      <a:pt x="65" y="582"/>
                    </a:lnTo>
                    <a:lnTo>
                      <a:pt x="66" y="582"/>
                    </a:lnTo>
                  </a:path>
                </a:pathLst>
              </a:custGeom>
              <a:gradFill rotWithShape="0">
                <a:gsLst>
                  <a:gs pos="0">
                    <a:srgbClr val="454545"/>
                  </a:gs>
                  <a:gs pos="50000">
                    <a:srgbClr val="969696"/>
                  </a:gs>
                  <a:gs pos="100000">
                    <a:srgbClr val="454545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4" name="Freeform 254"/>
              <p:cNvSpPr>
                <a:spLocks noChangeArrowheads="1"/>
              </p:cNvSpPr>
              <p:nvPr/>
            </p:nvSpPr>
            <p:spPr bwMode="auto">
              <a:xfrm>
                <a:off x="3650" y="1929"/>
                <a:ext cx="75" cy="51"/>
              </a:xfrm>
              <a:custGeom>
                <a:avLst/>
                <a:gdLst>
                  <a:gd name="T0" fmla="*/ 4 w 571"/>
                  <a:gd name="T1" fmla="*/ 119 h 388"/>
                  <a:gd name="T2" fmla="*/ 0 w 571"/>
                  <a:gd name="T3" fmla="*/ 154 h 388"/>
                  <a:gd name="T4" fmla="*/ 7 w 571"/>
                  <a:gd name="T5" fmla="*/ 191 h 388"/>
                  <a:gd name="T6" fmla="*/ 23 w 571"/>
                  <a:gd name="T7" fmla="*/ 228 h 388"/>
                  <a:gd name="T8" fmla="*/ 49 w 571"/>
                  <a:gd name="T9" fmla="*/ 263 h 388"/>
                  <a:gd name="T10" fmla="*/ 83 w 571"/>
                  <a:gd name="T11" fmla="*/ 296 h 388"/>
                  <a:gd name="T12" fmla="*/ 125 w 571"/>
                  <a:gd name="T13" fmla="*/ 326 h 388"/>
                  <a:gd name="T14" fmla="*/ 174 w 571"/>
                  <a:gd name="T15" fmla="*/ 350 h 388"/>
                  <a:gd name="T16" fmla="*/ 225 w 571"/>
                  <a:gd name="T17" fmla="*/ 370 h 388"/>
                  <a:gd name="T18" fmla="*/ 279 w 571"/>
                  <a:gd name="T19" fmla="*/ 382 h 388"/>
                  <a:gd name="T20" fmla="*/ 333 w 571"/>
                  <a:gd name="T21" fmla="*/ 388 h 388"/>
                  <a:gd name="T22" fmla="*/ 386 w 571"/>
                  <a:gd name="T23" fmla="*/ 387 h 388"/>
                  <a:gd name="T24" fmla="*/ 434 w 571"/>
                  <a:gd name="T25" fmla="*/ 379 h 388"/>
                  <a:gd name="T26" fmla="*/ 478 w 571"/>
                  <a:gd name="T27" fmla="*/ 365 h 388"/>
                  <a:gd name="T28" fmla="*/ 515 w 571"/>
                  <a:gd name="T29" fmla="*/ 344 h 388"/>
                  <a:gd name="T30" fmla="*/ 543 w 571"/>
                  <a:gd name="T31" fmla="*/ 317 h 388"/>
                  <a:gd name="T32" fmla="*/ 563 w 571"/>
                  <a:gd name="T33" fmla="*/ 287 h 388"/>
                  <a:gd name="T34" fmla="*/ 571 w 571"/>
                  <a:gd name="T35" fmla="*/ 253 h 388"/>
                  <a:gd name="T36" fmla="*/ 570 w 571"/>
                  <a:gd name="T37" fmla="*/ 217 h 388"/>
                  <a:gd name="T38" fmla="*/ 559 w 571"/>
                  <a:gd name="T39" fmla="*/ 179 h 388"/>
                  <a:gd name="T40" fmla="*/ 538 w 571"/>
                  <a:gd name="T41" fmla="*/ 143 h 388"/>
                  <a:gd name="T42" fmla="*/ 507 w 571"/>
                  <a:gd name="T43" fmla="*/ 109 h 388"/>
                  <a:gd name="T44" fmla="*/ 469 w 571"/>
                  <a:gd name="T45" fmla="*/ 77 h 388"/>
                  <a:gd name="T46" fmla="*/ 424 w 571"/>
                  <a:gd name="T47" fmla="*/ 50 h 388"/>
                  <a:gd name="T48" fmla="*/ 373 w 571"/>
                  <a:gd name="T49" fmla="*/ 28 h 388"/>
                  <a:gd name="T50" fmla="*/ 321 w 571"/>
                  <a:gd name="T51" fmla="*/ 12 h 388"/>
                  <a:gd name="T52" fmla="*/ 267 w 571"/>
                  <a:gd name="T53" fmla="*/ 2 h 388"/>
                  <a:gd name="T54" fmla="*/ 213 w 571"/>
                  <a:gd name="T55" fmla="*/ 0 h 388"/>
                  <a:gd name="T56" fmla="*/ 161 w 571"/>
                  <a:gd name="T57" fmla="*/ 4 h 388"/>
                  <a:gd name="T58" fmla="*/ 116 w 571"/>
                  <a:gd name="T59" fmla="*/ 16 h 388"/>
                  <a:gd name="T60" fmla="*/ 75 w 571"/>
                  <a:gd name="T61" fmla="*/ 34 h 388"/>
                  <a:gd name="T62" fmla="*/ 42 w 571"/>
                  <a:gd name="T63" fmla="*/ 58 h 388"/>
                  <a:gd name="T64" fmla="*/ 18 w 571"/>
                  <a:gd name="T65" fmla="*/ 86 h 388"/>
                  <a:gd name="T66" fmla="*/ 4 w 571"/>
                  <a:gd name="T67" fmla="*/ 119 h 388"/>
                  <a:gd name="T68" fmla="*/ 5 w 571"/>
                  <a:gd name="T69" fmla="*/ 119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1" h="388">
                    <a:moveTo>
                      <a:pt x="4" y="119"/>
                    </a:moveTo>
                    <a:lnTo>
                      <a:pt x="0" y="154"/>
                    </a:lnTo>
                    <a:lnTo>
                      <a:pt x="7" y="191"/>
                    </a:lnTo>
                    <a:lnTo>
                      <a:pt x="23" y="228"/>
                    </a:lnTo>
                    <a:lnTo>
                      <a:pt x="49" y="263"/>
                    </a:lnTo>
                    <a:lnTo>
                      <a:pt x="83" y="296"/>
                    </a:lnTo>
                    <a:lnTo>
                      <a:pt x="125" y="326"/>
                    </a:lnTo>
                    <a:lnTo>
                      <a:pt x="174" y="350"/>
                    </a:lnTo>
                    <a:lnTo>
                      <a:pt x="225" y="370"/>
                    </a:lnTo>
                    <a:lnTo>
                      <a:pt x="279" y="382"/>
                    </a:lnTo>
                    <a:lnTo>
                      <a:pt x="333" y="388"/>
                    </a:lnTo>
                    <a:lnTo>
                      <a:pt x="386" y="387"/>
                    </a:lnTo>
                    <a:lnTo>
                      <a:pt x="434" y="379"/>
                    </a:lnTo>
                    <a:lnTo>
                      <a:pt x="478" y="365"/>
                    </a:lnTo>
                    <a:lnTo>
                      <a:pt x="515" y="344"/>
                    </a:lnTo>
                    <a:lnTo>
                      <a:pt x="543" y="317"/>
                    </a:lnTo>
                    <a:lnTo>
                      <a:pt x="563" y="287"/>
                    </a:lnTo>
                    <a:lnTo>
                      <a:pt x="571" y="253"/>
                    </a:lnTo>
                    <a:lnTo>
                      <a:pt x="570" y="217"/>
                    </a:lnTo>
                    <a:lnTo>
                      <a:pt x="559" y="179"/>
                    </a:lnTo>
                    <a:lnTo>
                      <a:pt x="538" y="143"/>
                    </a:lnTo>
                    <a:lnTo>
                      <a:pt x="507" y="109"/>
                    </a:lnTo>
                    <a:lnTo>
                      <a:pt x="469" y="77"/>
                    </a:lnTo>
                    <a:lnTo>
                      <a:pt x="424" y="50"/>
                    </a:lnTo>
                    <a:lnTo>
                      <a:pt x="373" y="28"/>
                    </a:lnTo>
                    <a:lnTo>
                      <a:pt x="321" y="12"/>
                    </a:lnTo>
                    <a:lnTo>
                      <a:pt x="267" y="2"/>
                    </a:lnTo>
                    <a:lnTo>
                      <a:pt x="213" y="0"/>
                    </a:lnTo>
                    <a:lnTo>
                      <a:pt x="161" y="4"/>
                    </a:lnTo>
                    <a:lnTo>
                      <a:pt x="116" y="16"/>
                    </a:lnTo>
                    <a:lnTo>
                      <a:pt x="75" y="34"/>
                    </a:lnTo>
                    <a:lnTo>
                      <a:pt x="42" y="58"/>
                    </a:lnTo>
                    <a:lnTo>
                      <a:pt x="18" y="86"/>
                    </a:lnTo>
                    <a:lnTo>
                      <a:pt x="4" y="119"/>
                    </a:lnTo>
                    <a:lnTo>
                      <a:pt x="5" y="119"/>
                    </a:lnTo>
                  </a:path>
                </a:pathLst>
              </a:custGeom>
              <a:gradFill rotWithShape="0">
                <a:gsLst>
                  <a:gs pos="0">
                    <a:srgbClr val="525252"/>
                  </a:gs>
                  <a:gs pos="50000">
                    <a:srgbClr val="B2B2B2"/>
                  </a:gs>
                  <a:gs pos="100000">
                    <a:srgbClr val="525252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sp>
        <p:nvSpPr>
          <p:cNvPr id="512" name="AutoShape 255"/>
          <p:cNvSpPr>
            <a:spLocks noChangeArrowheads="1"/>
          </p:cNvSpPr>
          <p:nvPr/>
        </p:nvSpPr>
        <p:spPr bwMode="auto">
          <a:xfrm>
            <a:off x="7469909" y="471487"/>
            <a:ext cx="2641600" cy="1003300"/>
          </a:xfrm>
          <a:prstGeom prst="cloudCallout">
            <a:avLst>
              <a:gd name="adj1" fmla="val -105769"/>
              <a:gd name="adj2" fmla="val 145884"/>
            </a:avLst>
          </a:prstGeom>
          <a:solidFill>
            <a:srgbClr val="CCFFFF"/>
          </a:solidFill>
          <a:ln w="12700">
            <a:solidFill>
              <a:schemeClr val="accent2"/>
            </a:solidFill>
            <a:round/>
            <a:headEnd type="none" w="sm" len="lg"/>
            <a:tailEnd type="none" w="sm" len="lg"/>
          </a:ln>
        </p:spPr>
        <p:txBody>
          <a:bodyPr anchor="ctr"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zh-CN" altLang="en-US" sz="1800">
                <a:latin typeface="华文细黑" panose="02010600040101010101" pitchFamily="2" charset="-122"/>
                <a:ea typeface="华文细黑" panose="02010600040101010101" pitchFamily="2" charset="-122"/>
              </a:rPr>
              <a:t>不能充分表达</a:t>
            </a:r>
            <a:r>
              <a:rPr lang="zh-CN" altLang="en-US" sz="180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外形</a:t>
            </a:r>
          </a:p>
        </p:txBody>
      </p:sp>
      <p:sp>
        <p:nvSpPr>
          <p:cNvPr id="513" name="Text Box 256"/>
          <p:cNvSpPr txBox="1">
            <a:spLocks noChangeArrowheads="1"/>
          </p:cNvSpPr>
          <p:nvPr/>
        </p:nvSpPr>
        <p:spPr bwMode="auto">
          <a:xfrm>
            <a:off x="1754908" y="5700712"/>
            <a:ext cx="8958119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571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524000" indent="-1524000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0" hangingPunct="0"/>
            <a:r>
              <a:rPr lang="en-US" altLang="zh-CN" sz="2000" dirty="0">
                <a:solidFill>
                  <a:srgbClr val="FF00FF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zh-CN" altLang="en-US" sz="20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半剖视图</a:t>
            </a: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：对于对称机件</a:t>
            </a:r>
            <a:r>
              <a:rPr lang="en-US" altLang="zh-CN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,</a:t>
            </a: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在对称平面所垂直的投影面上，可以对称中心线为界，一半画成剖视图，另一半画成视图，此图形称为半剖视图。</a:t>
            </a:r>
            <a:endParaRPr lang="zh-CN" altLang="en-US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514" name="Text Box 257"/>
          <p:cNvSpPr txBox="1">
            <a:spLocks noChangeArrowheads="1"/>
          </p:cNvSpPr>
          <p:nvPr/>
        </p:nvSpPr>
        <p:spPr bwMode="auto">
          <a:xfrm>
            <a:off x="2261322" y="1076325"/>
            <a:ext cx="2082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0" hangingPunct="0"/>
            <a:r>
              <a:rPr lang="zh-CN" altLang="en-US" sz="2000" dirty="0">
                <a:solidFill>
                  <a:srgbClr val="FF505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问题的提出</a:t>
            </a:r>
            <a:endParaRPr lang="zh-CN" altLang="en-US" sz="2000" dirty="0">
              <a:solidFill>
                <a:srgbClr val="3333CC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515" name="Text Box 258"/>
          <p:cNvSpPr txBox="1">
            <a:spLocks noChangeArrowheads="1"/>
          </p:cNvSpPr>
          <p:nvPr/>
        </p:nvSpPr>
        <p:spPr bwMode="auto">
          <a:xfrm>
            <a:off x="1945409" y="5195887"/>
            <a:ext cx="6121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000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解决办法          </a:t>
            </a:r>
            <a:r>
              <a:rPr lang="zh-CN" altLang="en-US" sz="2000" dirty="0">
                <a:solidFill>
                  <a:srgbClr val="0066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根据零件的结构</a:t>
            </a:r>
            <a:r>
              <a:rPr lang="en-US" altLang="zh-CN" sz="2000" dirty="0">
                <a:solidFill>
                  <a:srgbClr val="0066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</a:t>
            </a:r>
            <a:r>
              <a:rPr lang="zh-CN" altLang="en-US" sz="2000" dirty="0">
                <a:solidFill>
                  <a:srgbClr val="0066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可以采用半剖视图</a:t>
            </a:r>
            <a:endParaRPr lang="zh-CN" altLang="en-US" sz="2000" b="0" dirty="0">
              <a:solidFill>
                <a:srgbClr val="006600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2956105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2000" tmFilter="0, 0; .2, .5; .8, .5; 1, 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9" dur="1000" autoRev="1" fill="hold"/>
                                        <p:tgtEl>
                                          <p:spTgt spid="51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" grpId="0" animBg="1"/>
      <p:bldP spid="512" grpId="1" animBg="1"/>
      <p:bldP spid="514" grpId="0"/>
      <p:bldP spid="515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>
          <a:xfrm>
            <a:off x="2851150" y="222250"/>
            <a:ext cx="3257550" cy="495300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838200" indent="-838200"/>
            <a:r>
              <a:rPr lang="zh-CN" altLang="en-US" sz="2800" b="1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半剖视图的形成</a:t>
            </a:r>
          </a:p>
        </p:txBody>
      </p:sp>
      <p:sp>
        <p:nvSpPr>
          <p:cNvPr id="3" name="Line 3"/>
          <p:cNvSpPr>
            <a:spLocks noChangeShapeType="1"/>
          </p:cNvSpPr>
          <p:nvPr/>
        </p:nvSpPr>
        <p:spPr bwMode="auto">
          <a:xfrm>
            <a:off x="5683250" y="3783013"/>
            <a:ext cx="0" cy="2597150"/>
          </a:xfrm>
          <a:prstGeom prst="line">
            <a:avLst/>
          </a:prstGeom>
          <a:noFill/>
          <a:ln w="9525">
            <a:solidFill>
              <a:srgbClr val="FF3300"/>
            </a:solidFill>
            <a:prstDash val="lgDash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" name="AutoShape 4"/>
          <p:cNvSpPr>
            <a:spLocks noChangeArrowheads="1"/>
          </p:cNvSpPr>
          <p:nvPr/>
        </p:nvSpPr>
        <p:spPr bwMode="auto">
          <a:xfrm>
            <a:off x="2908301" y="4787900"/>
            <a:ext cx="1558925" cy="685800"/>
          </a:xfrm>
          <a:prstGeom prst="wedgeRoundRectCallout">
            <a:avLst>
              <a:gd name="adj1" fmla="val 99491"/>
              <a:gd name="adj2" fmla="val 47222"/>
              <a:gd name="adj3" fmla="val 16667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zh-CN" altLang="en-US" sz="160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已表达清楚的</a:t>
            </a:r>
          </a:p>
          <a:p>
            <a:pPr algn="ctr"/>
            <a:r>
              <a:rPr lang="zh-CN" altLang="en-US" sz="160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内形虚线不画</a:t>
            </a:r>
          </a:p>
        </p:txBody>
      </p:sp>
      <p:sp>
        <p:nvSpPr>
          <p:cNvPr id="5" name="Freeform 5"/>
          <p:cNvSpPr>
            <a:spLocks noChangeArrowheads="1"/>
          </p:cNvSpPr>
          <p:nvPr/>
        </p:nvSpPr>
        <p:spPr bwMode="auto">
          <a:xfrm>
            <a:off x="3662364" y="900114"/>
            <a:ext cx="3175" cy="2562225"/>
          </a:xfrm>
          <a:custGeom>
            <a:avLst/>
            <a:gdLst>
              <a:gd name="T0" fmla="*/ 2 w 2"/>
              <a:gd name="T1" fmla="*/ 0 h 1614"/>
              <a:gd name="T2" fmla="*/ 0 w 2"/>
              <a:gd name="T3" fmla="*/ 1614 h 1614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" h="1614">
                <a:moveTo>
                  <a:pt x="2" y="0"/>
                </a:moveTo>
                <a:lnTo>
                  <a:pt x="0" y="1614"/>
                </a:lnTo>
              </a:path>
            </a:pathLst>
          </a:custGeom>
          <a:noFill/>
          <a:ln w="12700">
            <a:solidFill>
              <a:schemeClr val="tx1"/>
            </a:solidFill>
            <a:prstDash val="lgDash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grpSp>
        <p:nvGrpSpPr>
          <p:cNvPr id="6" name="Group 6"/>
          <p:cNvGrpSpPr>
            <a:grpSpLocks/>
          </p:cNvGrpSpPr>
          <p:nvPr/>
        </p:nvGrpSpPr>
        <p:grpSpPr bwMode="auto">
          <a:xfrm>
            <a:off x="3241676" y="1420813"/>
            <a:ext cx="836613" cy="366712"/>
            <a:chOff x="1233" y="903"/>
            <a:chExt cx="527" cy="231"/>
          </a:xfrm>
        </p:grpSpPr>
        <p:sp>
          <p:nvSpPr>
            <p:cNvPr id="7" name="Freeform 7"/>
            <p:cNvSpPr>
              <a:spLocks noChangeArrowheads="1"/>
            </p:cNvSpPr>
            <p:nvPr/>
          </p:nvSpPr>
          <p:spPr bwMode="auto">
            <a:xfrm>
              <a:off x="1233" y="1019"/>
              <a:ext cx="527" cy="7"/>
            </a:xfrm>
            <a:custGeom>
              <a:avLst/>
              <a:gdLst>
                <a:gd name="T0" fmla="*/ 0 w 527"/>
                <a:gd name="T1" fmla="*/ 0 h 7"/>
                <a:gd name="T2" fmla="*/ 527 w 527"/>
                <a:gd name="T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27" h="7">
                  <a:moveTo>
                    <a:pt x="0" y="0"/>
                  </a:moveTo>
                  <a:lnTo>
                    <a:pt x="527" y="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" name="Oval 8"/>
            <p:cNvSpPr>
              <a:spLocks noChangeArrowheads="1"/>
            </p:cNvSpPr>
            <p:nvPr/>
          </p:nvSpPr>
          <p:spPr bwMode="auto">
            <a:xfrm>
              <a:off x="1377" y="903"/>
              <a:ext cx="240" cy="231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9" name="Group 9"/>
          <p:cNvGrpSpPr>
            <a:grpSpLocks/>
          </p:cNvGrpSpPr>
          <p:nvPr/>
        </p:nvGrpSpPr>
        <p:grpSpPr bwMode="auto">
          <a:xfrm>
            <a:off x="3622675" y="915988"/>
            <a:ext cx="1619250" cy="2525712"/>
            <a:chOff x="1473" y="585"/>
            <a:chExt cx="1020" cy="1591"/>
          </a:xfrm>
        </p:grpSpPr>
        <p:sp>
          <p:nvSpPr>
            <p:cNvPr id="10" name="Freeform 10"/>
            <p:cNvSpPr>
              <a:spLocks noChangeArrowheads="1"/>
            </p:cNvSpPr>
            <p:nvPr/>
          </p:nvSpPr>
          <p:spPr bwMode="auto">
            <a:xfrm>
              <a:off x="1494" y="2124"/>
              <a:ext cx="999" cy="3"/>
            </a:xfrm>
            <a:custGeom>
              <a:avLst/>
              <a:gdLst>
                <a:gd name="T0" fmla="*/ 999 w 999"/>
                <a:gd name="T1" fmla="*/ 3 h 3"/>
                <a:gd name="T2" fmla="*/ 0 w 999"/>
                <a:gd name="T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99" h="3">
                  <a:moveTo>
                    <a:pt x="999" y="3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" name="Freeform 11"/>
            <p:cNvSpPr>
              <a:spLocks noChangeArrowheads="1"/>
            </p:cNvSpPr>
            <p:nvPr/>
          </p:nvSpPr>
          <p:spPr bwMode="auto">
            <a:xfrm>
              <a:off x="1494" y="1929"/>
              <a:ext cx="999" cy="3"/>
            </a:xfrm>
            <a:custGeom>
              <a:avLst/>
              <a:gdLst>
                <a:gd name="T0" fmla="*/ 999 w 999"/>
                <a:gd name="T1" fmla="*/ 3 h 3"/>
                <a:gd name="T2" fmla="*/ 0 w 999"/>
                <a:gd name="T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99" h="3">
                  <a:moveTo>
                    <a:pt x="999" y="3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" name="Freeform 12"/>
            <p:cNvSpPr>
              <a:spLocks noChangeArrowheads="1"/>
            </p:cNvSpPr>
            <p:nvPr/>
          </p:nvSpPr>
          <p:spPr bwMode="auto">
            <a:xfrm>
              <a:off x="1702" y="836"/>
              <a:ext cx="453" cy="1"/>
            </a:xfrm>
            <a:custGeom>
              <a:avLst/>
              <a:gdLst>
                <a:gd name="T0" fmla="*/ 453 w 453"/>
                <a:gd name="T1" fmla="*/ 0 h 1"/>
                <a:gd name="T2" fmla="*/ 0 w 453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53" h="1">
                  <a:moveTo>
                    <a:pt x="453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" name="Freeform 13"/>
            <p:cNvSpPr>
              <a:spLocks noChangeArrowheads="1"/>
            </p:cNvSpPr>
            <p:nvPr/>
          </p:nvSpPr>
          <p:spPr bwMode="auto">
            <a:xfrm>
              <a:off x="2145" y="638"/>
              <a:ext cx="1" cy="213"/>
            </a:xfrm>
            <a:custGeom>
              <a:avLst/>
              <a:gdLst>
                <a:gd name="T0" fmla="*/ 0 w 1"/>
                <a:gd name="T1" fmla="*/ 213 h 213"/>
                <a:gd name="T2" fmla="*/ 1 w 1"/>
                <a:gd name="T3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213">
                  <a:moveTo>
                    <a:pt x="0" y="213"/>
                  </a:move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" name="Freeform 14"/>
            <p:cNvSpPr>
              <a:spLocks noChangeArrowheads="1"/>
            </p:cNvSpPr>
            <p:nvPr/>
          </p:nvSpPr>
          <p:spPr bwMode="auto">
            <a:xfrm flipH="1">
              <a:off x="1494" y="641"/>
              <a:ext cx="660" cy="1"/>
            </a:xfrm>
            <a:custGeom>
              <a:avLst/>
              <a:gdLst>
                <a:gd name="T0" fmla="*/ 0 w 660"/>
                <a:gd name="T1" fmla="*/ 0 h 1"/>
                <a:gd name="T2" fmla="*/ 660 w 660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60" h="1">
                  <a:moveTo>
                    <a:pt x="0" y="0"/>
                  </a:moveTo>
                  <a:lnTo>
                    <a:pt x="6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" name="Freeform 15"/>
            <p:cNvSpPr>
              <a:spLocks noChangeArrowheads="1"/>
            </p:cNvSpPr>
            <p:nvPr/>
          </p:nvSpPr>
          <p:spPr bwMode="auto">
            <a:xfrm>
              <a:off x="1893" y="831"/>
              <a:ext cx="1" cy="1111"/>
            </a:xfrm>
            <a:custGeom>
              <a:avLst/>
              <a:gdLst>
                <a:gd name="T0" fmla="*/ 0 w 1"/>
                <a:gd name="T1" fmla="*/ 1111 h 1111"/>
                <a:gd name="T2" fmla="*/ 0 w 1"/>
                <a:gd name="T3" fmla="*/ 0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111">
                  <a:moveTo>
                    <a:pt x="0" y="111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" name="Arc 16"/>
            <p:cNvSpPr>
              <a:spLocks noChangeArrowheads="1"/>
            </p:cNvSpPr>
            <p:nvPr/>
          </p:nvSpPr>
          <p:spPr bwMode="auto">
            <a:xfrm flipV="1">
              <a:off x="1473" y="1029"/>
              <a:ext cx="238" cy="192"/>
            </a:xfrm>
            <a:custGeom>
              <a:avLst/>
              <a:gdLst>
                <a:gd name="T0" fmla="*/ 1346 w 21600"/>
                <a:gd name="T1" fmla="*/ 0 h 21558"/>
                <a:gd name="T2" fmla="*/ 21600 w 21600"/>
                <a:gd name="T3" fmla="*/ 21558 h 21558"/>
                <a:gd name="T4" fmla="*/ 1346 w 21600"/>
                <a:gd name="T5" fmla="*/ 0 h 21558"/>
                <a:gd name="T6" fmla="*/ 21600 w 21600"/>
                <a:gd name="T7" fmla="*/ 21558 h 21558"/>
                <a:gd name="T8" fmla="*/ 0 w 21600"/>
                <a:gd name="T9" fmla="*/ 21558 h 21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00" h="21558" fill="none">
                  <a:moveTo>
                    <a:pt x="1346" y="0"/>
                  </a:moveTo>
                  <a:cubicBezTo>
                    <a:pt x="12731" y="711"/>
                    <a:pt x="21600" y="10151"/>
                    <a:pt x="21600" y="21558"/>
                  </a:cubicBezTo>
                </a:path>
                <a:path w="21600" h="21558" stroke="0">
                  <a:moveTo>
                    <a:pt x="1346" y="0"/>
                  </a:moveTo>
                  <a:cubicBezTo>
                    <a:pt x="12731" y="711"/>
                    <a:pt x="21600" y="10151"/>
                    <a:pt x="21600" y="21558"/>
                  </a:cubicBezTo>
                  <a:lnTo>
                    <a:pt x="0" y="21558"/>
                  </a:lnTo>
                  <a:close/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" name="Freeform 17"/>
            <p:cNvSpPr>
              <a:spLocks noChangeArrowheads="1"/>
            </p:cNvSpPr>
            <p:nvPr/>
          </p:nvSpPr>
          <p:spPr bwMode="auto">
            <a:xfrm>
              <a:off x="1710" y="840"/>
              <a:ext cx="1" cy="210"/>
            </a:xfrm>
            <a:custGeom>
              <a:avLst/>
              <a:gdLst>
                <a:gd name="T0" fmla="*/ 0 w 1"/>
                <a:gd name="T1" fmla="*/ 210 h 210"/>
                <a:gd name="T2" fmla="*/ 0 w 1"/>
                <a:gd name="T3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210">
                  <a:moveTo>
                    <a:pt x="0" y="21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" name="Freeform 18"/>
            <p:cNvSpPr>
              <a:spLocks noChangeArrowheads="1"/>
            </p:cNvSpPr>
            <p:nvPr/>
          </p:nvSpPr>
          <p:spPr bwMode="auto">
            <a:xfrm>
              <a:off x="2477" y="1930"/>
              <a:ext cx="1" cy="197"/>
            </a:xfrm>
            <a:custGeom>
              <a:avLst/>
              <a:gdLst>
                <a:gd name="T0" fmla="*/ 0 w 1"/>
                <a:gd name="T1" fmla="*/ 0 h 197"/>
                <a:gd name="T2" fmla="*/ 1 w 1"/>
                <a:gd name="T3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97">
                  <a:moveTo>
                    <a:pt x="0" y="0"/>
                  </a:moveTo>
                  <a:lnTo>
                    <a:pt x="1" y="19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" name="Freeform 19"/>
            <p:cNvSpPr>
              <a:spLocks noChangeArrowheads="1"/>
            </p:cNvSpPr>
            <p:nvPr/>
          </p:nvSpPr>
          <p:spPr bwMode="auto">
            <a:xfrm>
              <a:off x="2325" y="1861"/>
              <a:ext cx="1" cy="315"/>
            </a:xfrm>
            <a:custGeom>
              <a:avLst/>
              <a:gdLst>
                <a:gd name="T0" fmla="*/ 0 w 1"/>
                <a:gd name="T1" fmla="*/ 0 h 315"/>
                <a:gd name="T2" fmla="*/ 0 w 1"/>
                <a:gd name="T3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15">
                  <a:moveTo>
                    <a:pt x="0" y="0"/>
                  </a:moveTo>
                  <a:lnTo>
                    <a:pt x="0" y="315"/>
                  </a:lnTo>
                </a:path>
              </a:pathLst>
            </a:custGeom>
            <a:noFill/>
            <a:ln w="9525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" name="Freeform 20"/>
            <p:cNvSpPr>
              <a:spLocks noChangeArrowheads="1"/>
            </p:cNvSpPr>
            <p:nvPr/>
          </p:nvSpPr>
          <p:spPr bwMode="auto">
            <a:xfrm>
              <a:off x="1995" y="585"/>
              <a:ext cx="1" cy="300"/>
            </a:xfrm>
            <a:custGeom>
              <a:avLst/>
              <a:gdLst>
                <a:gd name="T0" fmla="*/ 0 w 1"/>
                <a:gd name="T1" fmla="*/ 300 h 300"/>
                <a:gd name="T2" fmla="*/ 0 w 1"/>
                <a:gd name="T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00">
                  <a:moveTo>
                    <a:pt x="0" y="300"/>
                  </a:move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21" name="Group 21"/>
          <p:cNvGrpSpPr>
            <a:grpSpLocks/>
          </p:cNvGrpSpPr>
          <p:nvPr/>
        </p:nvGrpSpPr>
        <p:grpSpPr bwMode="auto">
          <a:xfrm>
            <a:off x="2093914" y="892175"/>
            <a:ext cx="1571625" cy="2597150"/>
            <a:chOff x="510" y="570"/>
            <a:chExt cx="990" cy="1636"/>
          </a:xfrm>
        </p:grpSpPr>
        <p:sp>
          <p:nvSpPr>
            <p:cNvPr id="22" name="Freeform 22"/>
            <p:cNvSpPr>
              <a:spLocks noChangeArrowheads="1"/>
            </p:cNvSpPr>
            <p:nvPr/>
          </p:nvSpPr>
          <p:spPr bwMode="auto">
            <a:xfrm>
              <a:off x="660" y="1861"/>
              <a:ext cx="1" cy="345"/>
            </a:xfrm>
            <a:custGeom>
              <a:avLst/>
              <a:gdLst>
                <a:gd name="T0" fmla="*/ 0 w 1"/>
                <a:gd name="T1" fmla="*/ 0 h 345"/>
                <a:gd name="T2" fmla="*/ 0 w 1"/>
                <a:gd name="T3" fmla="*/ 34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45">
                  <a:moveTo>
                    <a:pt x="0" y="0"/>
                  </a:moveTo>
                  <a:lnTo>
                    <a:pt x="0" y="345"/>
                  </a:lnTo>
                </a:path>
              </a:pathLst>
            </a:custGeom>
            <a:noFill/>
            <a:ln w="9525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" name="Freeform 23"/>
            <p:cNvSpPr>
              <a:spLocks noChangeArrowheads="1"/>
            </p:cNvSpPr>
            <p:nvPr/>
          </p:nvSpPr>
          <p:spPr bwMode="auto">
            <a:xfrm>
              <a:off x="510" y="2124"/>
              <a:ext cx="990" cy="3"/>
            </a:xfrm>
            <a:custGeom>
              <a:avLst/>
              <a:gdLst>
                <a:gd name="T0" fmla="*/ 0 w 990"/>
                <a:gd name="T1" fmla="*/ 3 h 3"/>
                <a:gd name="T2" fmla="*/ 990 w 990"/>
                <a:gd name="T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90" h="3">
                  <a:moveTo>
                    <a:pt x="0" y="3"/>
                  </a:moveTo>
                  <a:lnTo>
                    <a:pt x="99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" name="Freeform 24"/>
            <p:cNvSpPr>
              <a:spLocks noChangeArrowheads="1"/>
            </p:cNvSpPr>
            <p:nvPr/>
          </p:nvSpPr>
          <p:spPr bwMode="auto">
            <a:xfrm>
              <a:off x="510" y="1929"/>
              <a:ext cx="990" cy="3"/>
            </a:xfrm>
            <a:custGeom>
              <a:avLst/>
              <a:gdLst>
                <a:gd name="T0" fmla="*/ 0 w 990"/>
                <a:gd name="T1" fmla="*/ 3 h 3"/>
                <a:gd name="T2" fmla="*/ 990 w 990"/>
                <a:gd name="T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90" h="3">
                  <a:moveTo>
                    <a:pt x="0" y="3"/>
                  </a:moveTo>
                  <a:lnTo>
                    <a:pt x="99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5" name="Freeform 25"/>
            <p:cNvSpPr>
              <a:spLocks noChangeArrowheads="1"/>
            </p:cNvSpPr>
            <p:nvPr/>
          </p:nvSpPr>
          <p:spPr bwMode="auto">
            <a:xfrm>
              <a:off x="855" y="835"/>
              <a:ext cx="431" cy="5"/>
            </a:xfrm>
            <a:custGeom>
              <a:avLst/>
              <a:gdLst>
                <a:gd name="T0" fmla="*/ 0 w 431"/>
                <a:gd name="T1" fmla="*/ 5 h 5"/>
                <a:gd name="T2" fmla="*/ 225 w 431"/>
                <a:gd name="T3" fmla="*/ 5 h 5"/>
                <a:gd name="T4" fmla="*/ 431 w 431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1" h="5">
                  <a:moveTo>
                    <a:pt x="0" y="5"/>
                  </a:moveTo>
                  <a:lnTo>
                    <a:pt x="225" y="5"/>
                  </a:lnTo>
                  <a:lnTo>
                    <a:pt x="43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" name="Freeform 26"/>
            <p:cNvSpPr>
              <a:spLocks noChangeArrowheads="1"/>
            </p:cNvSpPr>
            <p:nvPr/>
          </p:nvSpPr>
          <p:spPr bwMode="auto">
            <a:xfrm>
              <a:off x="854" y="634"/>
              <a:ext cx="1" cy="220"/>
            </a:xfrm>
            <a:custGeom>
              <a:avLst/>
              <a:gdLst>
                <a:gd name="T0" fmla="*/ 0 w 1"/>
                <a:gd name="T1" fmla="*/ 220 h 220"/>
                <a:gd name="T2" fmla="*/ 0 w 1"/>
                <a:gd name="T3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220">
                  <a:moveTo>
                    <a:pt x="0" y="22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" name="Freeform 27"/>
            <p:cNvSpPr>
              <a:spLocks noChangeArrowheads="1"/>
            </p:cNvSpPr>
            <p:nvPr/>
          </p:nvSpPr>
          <p:spPr bwMode="auto">
            <a:xfrm>
              <a:off x="855" y="641"/>
              <a:ext cx="645" cy="4"/>
            </a:xfrm>
            <a:custGeom>
              <a:avLst/>
              <a:gdLst>
                <a:gd name="T0" fmla="*/ 0 w 645"/>
                <a:gd name="T1" fmla="*/ 4 h 4"/>
                <a:gd name="T2" fmla="*/ 645 w 645"/>
                <a:gd name="T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45" h="4">
                  <a:moveTo>
                    <a:pt x="0" y="4"/>
                  </a:moveTo>
                  <a:lnTo>
                    <a:pt x="64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" name="Freeform 28"/>
            <p:cNvSpPr>
              <a:spLocks noChangeArrowheads="1"/>
            </p:cNvSpPr>
            <p:nvPr/>
          </p:nvSpPr>
          <p:spPr bwMode="auto">
            <a:xfrm>
              <a:off x="1095" y="840"/>
              <a:ext cx="1" cy="1096"/>
            </a:xfrm>
            <a:custGeom>
              <a:avLst/>
              <a:gdLst>
                <a:gd name="T0" fmla="*/ 0 w 1"/>
                <a:gd name="T1" fmla="*/ 1096 h 1096"/>
                <a:gd name="T2" fmla="*/ 0 w 1"/>
                <a:gd name="T3" fmla="*/ 0 h 10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96">
                  <a:moveTo>
                    <a:pt x="0" y="1096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" name="Arc 29"/>
            <p:cNvSpPr>
              <a:spLocks noChangeArrowheads="1"/>
            </p:cNvSpPr>
            <p:nvPr/>
          </p:nvSpPr>
          <p:spPr bwMode="auto">
            <a:xfrm flipH="1" flipV="1">
              <a:off x="1286" y="1029"/>
              <a:ext cx="214" cy="192"/>
            </a:xfrm>
            <a:custGeom>
              <a:avLst/>
              <a:gdLst>
                <a:gd name="T0" fmla="*/ 1346 w 21600"/>
                <a:gd name="T1" fmla="*/ 0 h 21558"/>
                <a:gd name="T2" fmla="*/ 21600 w 21600"/>
                <a:gd name="T3" fmla="*/ 21558 h 21558"/>
                <a:gd name="T4" fmla="*/ 1346 w 21600"/>
                <a:gd name="T5" fmla="*/ 0 h 21558"/>
                <a:gd name="T6" fmla="*/ 21600 w 21600"/>
                <a:gd name="T7" fmla="*/ 21558 h 21558"/>
                <a:gd name="T8" fmla="*/ 0 w 21600"/>
                <a:gd name="T9" fmla="*/ 21558 h 21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00" h="21558" fill="none">
                  <a:moveTo>
                    <a:pt x="1346" y="0"/>
                  </a:moveTo>
                  <a:cubicBezTo>
                    <a:pt x="12731" y="711"/>
                    <a:pt x="21600" y="10151"/>
                    <a:pt x="21600" y="21558"/>
                  </a:cubicBezTo>
                </a:path>
                <a:path w="21600" h="21558" stroke="0">
                  <a:moveTo>
                    <a:pt x="1346" y="0"/>
                  </a:moveTo>
                  <a:cubicBezTo>
                    <a:pt x="12731" y="711"/>
                    <a:pt x="21600" y="10151"/>
                    <a:pt x="21600" y="21558"/>
                  </a:cubicBezTo>
                  <a:lnTo>
                    <a:pt x="0" y="21558"/>
                  </a:lnTo>
                  <a:close/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" name="Freeform 30"/>
            <p:cNvSpPr>
              <a:spLocks noChangeArrowheads="1"/>
            </p:cNvSpPr>
            <p:nvPr/>
          </p:nvSpPr>
          <p:spPr bwMode="auto">
            <a:xfrm>
              <a:off x="1280" y="833"/>
              <a:ext cx="1" cy="210"/>
            </a:xfrm>
            <a:custGeom>
              <a:avLst/>
              <a:gdLst>
                <a:gd name="T0" fmla="*/ 0 w 1"/>
                <a:gd name="T1" fmla="*/ 210 h 210"/>
                <a:gd name="T2" fmla="*/ 0 w 1"/>
                <a:gd name="T3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210">
                  <a:moveTo>
                    <a:pt x="0" y="21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" name="Freeform 31"/>
            <p:cNvSpPr>
              <a:spLocks noChangeArrowheads="1"/>
            </p:cNvSpPr>
            <p:nvPr/>
          </p:nvSpPr>
          <p:spPr bwMode="auto">
            <a:xfrm>
              <a:off x="514" y="1925"/>
              <a:ext cx="2" cy="213"/>
            </a:xfrm>
            <a:custGeom>
              <a:avLst/>
              <a:gdLst>
                <a:gd name="T0" fmla="*/ 0 w 2"/>
                <a:gd name="T1" fmla="*/ 0 h 213"/>
                <a:gd name="T2" fmla="*/ 2 w 2"/>
                <a:gd name="T3" fmla="*/ 213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" h="213">
                  <a:moveTo>
                    <a:pt x="0" y="0"/>
                  </a:moveTo>
                  <a:lnTo>
                    <a:pt x="2" y="21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" name="Freeform 32"/>
            <p:cNvSpPr>
              <a:spLocks noChangeArrowheads="1"/>
            </p:cNvSpPr>
            <p:nvPr/>
          </p:nvSpPr>
          <p:spPr bwMode="auto">
            <a:xfrm>
              <a:off x="990" y="570"/>
              <a:ext cx="1" cy="345"/>
            </a:xfrm>
            <a:custGeom>
              <a:avLst/>
              <a:gdLst>
                <a:gd name="T0" fmla="*/ 0 w 1"/>
                <a:gd name="T1" fmla="*/ 345 h 345"/>
                <a:gd name="T2" fmla="*/ 0 w 1"/>
                <a:gd name="T3" fmla="*/ 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45">
                  <a:moveTo>
                    <a:pt x="0" y="345"/>
                  </a:move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33" name="Group 33"/>
          <p:cNvGrpSpPr>
            <a:grpSpLocks/>
          </p:cNvGrpSpPr>
          <p:nvPr/>
        </p:nvGrpSpPr>
        <p:grpSpPr bwMode="auto">
          <a:xfrm>
            <a:off x="5668964" y="3817939"/>
            <a:ext cx="1577975" cy="2562225"/>
            <a:chOff x="2976" y="2287"/>
            <a:chExt cx="994" cy="1614"/>
          </a:xfrm>
        </p:grpSpPr>
        <p:sp>
          <p:nvSpPr>
            <p:cNvPr id="34" name="Freeform 34"/>
            <p:cNvSpPr>
              <a:spLocks noChangeArrowheads="1"/>
            </p:cNvSpPr>
            <p:nvPr/>
          </p:nvSpPr>
          <p:spPr bwMode="auto">
            <a:xfrm flipH="1">
              <a:off x="2976" y="2592"/>
              <a:ext cx="120" cy="210"/>
            </a:xfrm>
            <a:custGeom>
              <a:avLst/>
              <a:gdLst>
                <a:gd name="T0" fmla="*/ 120 w 120"/>
                <a:gd name="T1" fmla="*/ 0 h 210"/>
                <a:gd name="T2" fmla="*/ 30 w 120"/>
                <a:gd name="T3" fmla="*/ 30 h 210"/>
                <a:gd name="T4" fmla="*/ 0 w 120"/>
                <a:gd name="T5" fmla="*/ 105 h 210"/>
                <a:gd name="T6" fmla="*/ 30 w 120"/>
                <a:gd name="T7" fmla="*/ 180 h 210"/>
                <a:gd name="T8" fmla="*/ 120 w 120"/>
                <a:gd name="T9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210">
                  <a:moveTo>
                    <a:pt x="120" y="0"/>
                  </a:moveTo>
                  <a:cubicBezTo>
                    <a:pt x="108" y="5"/>
                    <a:pt x="50" y="12"/>
                    <a:pt x="30" y="30"/>
                  </a:cubicBezTo>
                  <a:cubicBezTo>
                    <a:pt x="10" y="48"/>
                    <a:pt x="0" y="80"/>
                    <a:pt x="0" y="105"/>
                  </a:cubicBezTo>
                  <a:cubicBezTo>
                    <a:pt x="0" y="130"/>
                    <a:pt x="10" y="162"/>
                    <a:pt x="30" y="180"/>
                  </a:cubicBezTo>
                  <a:cubicBezTo>
                    <a:pt x="50" y="198"/>
                    <a:pt x="101" y="204"/>
                    <a:pt x="120" y="210"/>
                  </a:cubicBezTo>
                </a:path>
              </a:pathLst>
            </a:cu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" name="Freeform 35"/>
            <p:cNvSpPr>
              <a:spLocks noChangeArrowheads="1"/>
            </p:cNvSpPr>
            <p:nvPr/>
          </p:nvSpPr>
          <p:spPr bwMode="auto">
            <a:xfrm>
              <a:off x="2977" y="3822"/>
              <a:ext cx="993" cy="4"/>
            </a:xfrm>
            <a:custGeom>
              <a:avLst/>
              <a:gdLst>
                <a:gd name="T0" fmla="*/ 993 w 993"/>
                <a:gd name="T1" fmla="*/ 4 h 4"/>
                <a:gd name="T2" fmla="*/ 0 w 993"/>
                <a:gd name="T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93" h="4">
                  <a:moveTo>
                    <a:pt x="993" y="4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6" name="Freeform 36"/>
            <p:cNvSpPr>
              <a:spLocks noChangeArrowheads="1"/>
            </p:cNvSpPr>
            <p:nvPr/>
          </p:nvSpPr>
          <p:spPr bwMode="auto">
            <a:xfrm>
              <a:off x="3376" y="3622"/>
              <a:ext cx="594" cy="2"/>
            </a:xfrm>
            <a:custGeom>
              <a:avLst/>
              <a:gdLst>
                <a:gd name="T0" fmla="*/ 594 w 594"/>
                <a:gd name="T1" fmla="*/ 0 h 2"/>
                <a:gd name="T2" fmla="*/ 0 w 594"/>
                <a:gd name="T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94" h="2">
                  <a:moveTo>
                    <a:pt x="594" y="0"/>
                  </a:moveTo>
                  <a:lnTo>
                    <a:pt x="0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" name="Freeform 37"/>
            <p:cNvSpPr>
              <a:spLocks noChangeArrowheads="1"/>
            </p:cNvSpPr>
            <p:nvPr/>
          </p:nvSpPr>
          <p:spPr bwMode="auto">
            <a:xfrm>
              <a:off x="3376" y="2524"/>
              <a:ext cx="267" cy="4"/>
            </a:xfrm>
            <a:custGeom>
              <a:avLst/>
              <a:gdLst>
                <a:gd name="T0" fmla="*/ 267 w 267"/>
                <a:gd name="T1" fmla="*/ 0 h 4"/>
                <a:gd name="T2" fmla="*/ 0 w 267"/>
                <a:gd name="T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67" h="4">
                  <a:moveTo>
                    <a:pt x="267" y="0"/>
                  </a:moveTo>
                  <a:lnTo>
                    <a:pt x="0" y="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8" name="Freeform 38"/>
            <p:cNvSpPr>
              <a:spLocks noChangeArrowheads="1"/>
            </p:cNvSpPr>
            <p:nvPr/>
          </p:nvSpPr>
          <p:spPr bwMode="auto">
            <a:xfrm>
              <a:off x="3629" y="2333"/>
              <a:ext cx="1" cy="201"/>
            </a:xfrm>
            <a:custGeom>
              <a:avLst/>
              <a:gdLst>
                <a:gd name="T0" fmla="*/ 0 w 1"/>
                <a:gd name="T1" fmla="*/ 201 h 201"/>
                <a:gd name="T2" fmla="*/ 0 w 1"/>
                <a:gd name="T3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201">
                  <a:moveTo>
                    <a:pt x="0" y="20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" name="Freeform 39"/>
            <p:cNvSpPr>
              <a:spLocks noChangeArrowheads="1"/>
            </p:cNvSpPr>
            <p:nvPr/>
          </p:nvSpPr>
          <p:spPr bwMode="auto">
            <a:xfrm flipH="1">
              <a:off x="2977" y="2339"/>
              <a:ext cx="660" cy="1"/>
            </a:xfrm>
            <a:custGeom>
              <a:avLst/>
              <a:gdLst>
                <a:gd name="T0" fmla="*/ 0 w 660"/>
                <a:gd name="T1" fmla="*/ 0 h 1"/>
                <a:gd name="T2" fmla="*/ 660 w 660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60" h="1">
                  <a:moveTo>
                    <a:pt x="0" y="0"/>
                  </a:moveTo>
                  <a:lnTo>
                    <a:pt x="6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0" name="Freeform 40"/>
            <p:cNvSpPr>
              <a:spLocks noChangeArrowheads="1"/>
            </p:cNvSpPr>
            <p:nvPr/>
          </p:nvSpPr>
          <p:spPr bwMode="auto">
            <a:xfrm>
              <a:off x="3383" y="2528"/>
              <a:ext cx="1" cy="1096"/>
            </a:xfrm>
            <a:custGeom>
              <a:avLst/>
              <a:gdLst>
                <a:gd name="T0" fmla="*/ 0 w 1"/>
                <a:gd name="T1" fmla="*/ 1096 h 1096"/>
                <a:gd name="T2" fmla="*/ 0 w 1"/>
                <a:gd name="T3" fmla="*/ 0 h 10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96">
                  <a:moveTo>
                    <a:pt x="0" y="1096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1" name="Freeform 41"/>
            <p:cNvSpPr>
              <a:spLocks noChangeArrowheads="1"/>
            </p:cNvSpPr>
            <p:nvPr/>
          </p:nvSpPr>
          <p:spPr bwMode="auto">
            <a:xfrm>
              <a:off x="3963" y="3613"/>
              <a:ext cx="2" cy="220"/>
            </a:xfrm>
            <a:custGeom>
              <a:avLst/>
              <a:gdLst>
                <a:gd name="T0" fmla="*/ 2 w 2"/>
                <a:gd name="T1" fmla="*/ 0 h 220"/>
                <a:gd name="T2" fmla="*/ 0 w 2"/>
                <a:gd name="T3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" h="220">
                  <a:moveTo>
                    <a:pt x="2" y="0"/>
                  </a:moveTo>
                  <a:lnTo>
                    <a:pt x="0" y="22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2" name="Freeform 42"/>
            <p:cNvSpPr>
              <a:spLocks noChangeArrowheads="1"/>
            </p:cNvSpPr>
            <p:nvPr/>
          </p:nvSpPr>
          <p:spPr bwMode="auto">
            <a:xfrm>
              <a:off x="3251" y="2342"/>
              <a:ext cx="3" cy="672"/>
            </a:xfrm>
            <a:custGeom>
              <a:avLst/>
              <a:gdLst>
                <a:gd name="T0" fmla="*/ 3 w 3"/>
                <a:gd name="T1" fmla="*/ 672 h 672"/>
                <a:gd name="T2" fmla="*/ 0 w 3"/>
                <a:gd name="T3" fmla="*/ 0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672">
                  <a:moveTo>
                    <a:pt x="3" y="672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3" name="Freeform 43"/>
            <p:cNvSpPr>
              <a:spLocks noChangeArrowheads="1"/>
            </p:cNvSpPr>
            <p:nvPr/>
          </p:nvSpPr>
          <p:spPr bwMode="auto">
            <a:xfrm>
              <a:off x="2977" y="3009"/>
              <a:ext cx="286" cy="1"/>
            </a:xfrm>
            <a:custGeom>
              <a:avLst/>
              <a:gdLst>
                <a:gd name="T0" fmla="*/ 0 w 286"/>
                <a:gd name="T1" fmla="*/ 0 h 1"/>
                <a:gd name="T2" fmla="*/ 286 w 286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86" h="1">
                  <a:moveTo>
                    <a:pt x="0" y="0"/>
                  </a:moveTo>
                  <a:lnTo>
                    <a:pt x="286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4" name="Freeform 44"/>
            <p:cNvSpPr>
              <a:spLocks noChangeArrowheads="1"/>
            </p:cNvSpPr>
            <p:nvPr/>
          </p:nvSpPr>
          <p:spPr bwMode="auto">
            <a:xfrm>
              <a:off x="3188" y="3069"/>
              <a:ext cx="1" cy="750"/>
            </a:xfrm>
            <a:custGeom>
              <a:avLst/>
              <a:gdLst>
                <a:gd name="T0" fmla="*/ 0 w 1"/>
                <a:gd name="T1" fmla="*/ 750 h 750"/>
                <a:gd name="T2" fmla="*/ 0 w 1"/>
                <a:gd name="T3" fmla="*/ 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750">
                  <a:moveTo>
                    <a:pt x="0" y="75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5" name="Freeform 45"/>
            <p:cNvSpPr>
              <a:spLocks noChangeArrowheads="1"/>
            </p:cNvSpPr>
            <p:nvPr/>
          </p:nvSpPr>
          <p:spPr bwMode="auto">
            <a:xfrm>
              <a:off x="3188" y="3009"/>
              <a:ext cx="60" cy="60"/>
            </a:xfrm>
            <a:custGeom>
              <a:avLst/>
              <a:gdLst>
                <a:gd name="T0" fmla="*/ 60 w 60"/>
                <a:gd name="T1" fmla="*/ 0 h 60"/>
                <a:gd name="T2" fmla="*/ 0 w 60"/>
                <a:gd name="T3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0" h="60">
                  <a:moveTo>
                    <a:pt x="60" y="0"/>
                  </a:moveTo>
                  <a:lnTo>
                    <a:pt x="0" y="6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6" name="Freeform 46"/>
            <p:cNvSpPr>
              <a:spLocks noChangeArrowheads="1"/>
            </p:cNvSpPr>
            <p:nvPr/>
          </p:nvSpPr>
          <p:spPr bwMode="auto">
            <a:xfrm>
              <a:off x="2977" y="3069"/>
              <a:ext cx="211" cy="1"/>
            </a:xfrm>
            <a:custGeom>
              <a:avLst/>
              <a:gdLst>
                <a:gd name="T0" fmla="*/ 211 w 211"/>
                <a:gd name="T1" fmla="*/ 0 h 1"/>
                <a:gd name="T2" fmla="*/ 0 w 21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1" h="1">
                  <a:moveTo>
                    <a:pt x="211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7" name="Line 47"/>
            <p:cNvSpPr>
              <a:spLocks noChangeShapeType="1"/>
            </p:cNvSpPr>
            <p:nvPr/>
          </p:nvSpPr>
          <p:spPr bwMode="auto">
            <a:xfrm flipV="1">
              <a:off x="3188" y="2975"/>
              <a:ext cx="195" cy="19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" name="Freeform 48"/>
            <p:cNvSpPr>
              <a:spLocks noChangeArrowheads="1"/>
            </p:cNvSpPr>
            <p:nvPr/>
          </p:nvSpPr>
          <p:spPr bwMode="auto">
            <a:xfrm>
              <a:off x="3178" y="3120"/>
              <a:ext cx="201" cy="202"/>
            </a:xfrm>
            <a:custGeom>
              <a:avLst/>
              <a:gdLst>
                <a:gd name="T0" fmla="*/ 0 w 201"/>
                <a:gd name="T1" fmla="*/ 202 h 202"/>
                <a:gd name="T2" fmla="*/ 201 w 201"/>
                <a:gd name="T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01" h="202">
                  <a:moveTo>
                    <a:pt x="0" y="202"/>
                  </a:moveTo>
                  <a:lnTo>
                    <a:pt x="201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9" name="Freeform 49"/>
            <p:cNvSpPr>
              <a:spLocks noChangeArrowheads="1"/>
            </p:cNvSpPr>
            <p:nvPr/>
          </p:nvSpPr>
          <p:spPr bwMode="auto">
            <a:xfrm>
              <a:off x="3178" y="3264"/>
              <a:ext cx="192" cy="192"/>
            </a:xfrm>
            <a:custGeom>
              <a:avLst/>
              <a:gdLst>
                <a:gd name="T0" fmla="*/ 0 w 192"/>
                <a:gd name="T1" fmla="*/ 192 h 192"/>
                <a:gd name="T2" fmla="*/ 192 w 192"/>
                <a:gd name="T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92" h="192">
                  <a:moveTo>
                    <a:pt x="0" y="192"/>
                  </a:moveTo>
                  <a:lnTo>
                    <a:pt x="19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0" name="Freeform 50"/>
            <p:cNvSpPr>
              <a:spLocks noChangeArrowheads="1"/>
            </p:cNvSpPr>
            <p:nvPr/>
          </p:nvSpPr>
          <p:spPr bwMode="auto">
            <a:xfrm>
              <a:off x="3187" y="3398"/>
              <a:ext cx="192" cy="192"/>
            </a:xfrm>
            <a:custGeom>
              <a:avLst/>
              <a:gdLst>
                <a:gd name="T0" fmla="*/ 0 w 192"/>
                <a:gd name="T1" fmla="*/ 192 h 192"/>
                <a:gd name="T2" fmla="*/ 192 w 192"/>
                <a:gd name="T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92" h="192">
                  <a:moveTo>
                    <a:pt x="0" y="192"/>
                  </a:moveTo>
                  <a:lnTo>
                    <a:pt x="19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1" name="Freeform 51"/>
            <p:cNvSpPr>
              <a:spLocks noChangeArrowheads="1"/>
            </p:cNvSpPr>
            <p:nvPr/>
          </p:nvSpPr>
          <p:spPr bwMode="auto">
            <a:xfrm>
              <a:off x="3179" y="3533"/>
              <a:ext cx="200" cy="199"/>
            </a:xfrm>
            <a:custGeom>
              <a:avLst/>
              <a:gdLst>
                <a:gd name="T0" fmla="*/ 0 w 200"/>
                <a:gd name="T1" fmla="*/ 199 h 199"/>
                <a:gd name="T2" fmla="*/ 200 w 200"/>
                <a:gd name="T3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00" h="199">
                  <a:moveTo>
                    <a:pt x="0" y="199"/>
                  </a:moveTo>
                  <a:lnTo>
                    <a:pt x="20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2" name="Freeform 52"/>
            <p:cNvSpPr>
              <a:spLocks noChangeArrowheads="1"/>
            </p:cNvSpPr>
            <p:nvPr/>
          </p:nvSpPr>
          <p:spPr bwMode="auto">
            <a:xfrm>
              <a:off x="3224" y="3610"/>
              <a:ext cx="213" cy="215"/>
            </a:xfrm>
            <a:custGeom>
              <a:avLst/>
              <a:gdLst>
                <a:gd name="T0" fmla="*/ 0 w 213"/>
                <a:gd name="T1" fmla="*/ 215 h 215"/>
                <a:gd name="T2" fmla="*/ 213 w 213"/>
                <a:gd name="T3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3" h="215">
                  <a:moveTo>
                    <a:pt x="0" y="215"/>
                  </a:moveTo>
                  <a:lnTo>
                    <a:pt x="213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3" name="Freeform 53"/>
            <p:cNvSpPr>
              <a:spLocks noChangeArrowheads="1"/>
            </p:cNvSpPr>
            <p:nvPr/>
          </p:nvSpPr>
          <p:spPr bwMode="auto">
            <a:xfrm>
              <a:off x="3360" y="3619"/>
              <a:ext cx="202" cy="202"/>
            </a:xfrm>
            <a:custGeom>
              <a:avLst/>
              <a:gdLst>
                <a:gd name="T0" fmla="*/ 0 w 202"/>
                <a:gd name="T1" fmla="*/ 202 h 202"/>
                <a:gd name="T2" fmla="*/ 202 w 202"/>
                <a:gd name="T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4" name="Freeform 54"/>
            <p:cNvSpPr>
              <a:spLocks noChangeArrowheads="1"/>
            </p:cNvSpPr>
            <p:nvPr/>
          </p:nvSpPr>
          <p:spPr bwMode="auto">
            <a:xfrm>
              <a:off x="3482" y="3610"/>
              <a:ext cx="214" cy="215"/>
            </a:xfrm>
            <a:custGeom>
              <a:avLst/>
              <a:gdLst>
                <a:gd name="T0" fmla="*/ 0 w 214"/>
                <a:gd name="T1" fmla="*/ 215 h 215"/>
                <a:gd name="T2" fmla="*/ 214 w 214"/>
                <a:gd name="T3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4" h="215">
                  <a:moveTo>
                    <a:pt x="0" y="215"/>
                  </a:moveTo>
                  <a:lnTo>
                    <a:pt x="214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5" name="Freeform 55"/>
            <p:cNvSpPr>
              <a:spLocks noChangeArrowheads="1"/>
            </p:cNvSpPr>
            <p:nvPr/>
          </p:nvSpPr>
          <p:spPr bwMode="auto">
            <a:xfrm>
              <a:off x="3613" y="3621"/>
              <a:ext cx="195" cy="195"/>
            </a:xfrm>
            <a:custGeom>
              <a:avLst/>
              <a:gdLst>
                <a:gd name="T0" fmla="*/ 0 w 195"/>
                <a:gd name="T1" fmla="*/ 195 h 195"/>
                <a:gd name="T2" fmla="*/ 195 w 195"/>
                <a:gd name="T3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95" h="195">
                  <a:moveTo>
                    <a:pt x="0" y="195"/>
                  </a:moveTo>
                  <a:lnTo>
                    <a:pt x="195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6" name="Freeform 56"/>
            <p:cNvSpPr>
              <a:spLocks noChangeArrowheads="1"/>
            </p:cNvSpPr>
            <p:nvPr/>
          </p:nvSpPr>
          <p:spPr bwMode="auto">
            <a:xfrm>
              <a:off x="3734" y="3619"/>
              <a:ext cx="202" cy="202"/>
            </a:xfrm>
            <a:custGeom>
              <a:avLst/>
              <a:gdLst>
                <a:gd name="T0" fmla="*/ 0 w 202"/>
                <a:gd name="T1" fmla="*/ 202 h 202"/>
                <a:gd name="T2" fmla="*/ 202 w 202"/>
                <a:gd name="T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7" name="Freeform 57"/>
            <p:cNvSpPr>
              <a:spLocks noChangeArrowheads="1"/>
            </p:cNvSpPr>
            <p:nvPr/>
          </p:nvSpPr>
          <p:spPr bwMode="auto">
            <a:xfrm>
              <a:off x="3869" y="3729"/>
              <a:ext cx="92" cy="92"/>
            </a:xfrm>
            <a:custGeom>
              <a:avLst/>
              <a:gdLst>
                <a:gd name="T0" fmla="*/ 0 w 92"/>
                <a:gd name="T1" fmla="*/ 92 h 92"/>
                <a:gd name="T2" fmla="*/ 92 w 92"/>
                <a:gd name="T3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2" h="92">
                  <a:moveTo>
                    <a:pt x="0" y="92"/>
                  </a:moveTo>
                  <a:lnTo>
                    <a:pt x="9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8" name="Freeform 58"/>
            <p:cNvSpPr>
              <a:spLocks noChangeArrowheads="1"/>
            </p:cNvSpPr>
            <p:nvPr/>
          </p:nvSpPr>
          <p:spPr bwMode="auto">
            <a:xfrm>
              <a:off x="3256" y="2832"/>
              <a:ext cx="123" cy="128"/>
            </a:xfrm>
            <a:custGeom>
              <a:avLst/>
              <a:gdLst>
                <a:gd name="T0" fmla="*/ 0 w 123"/>
                <a:gd name="T1" fmla="*/ 128 h 128"/>
                <a:gd name="T2" fmla="*/ 123 w 123"/>
                <a:gd name="T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3" h="128">
                  <a:moveTo>
                    <a:pt x="0" y="128"/>
                  </a:moveTo>
                  <a:lnTo>
                    <a:pt x="123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9" name="Freeform 59"/>
            <p:cNvSpPr>
              <a:spLocks noChangeArrowheads="1"/>
            </p:cNvSpPr>
            <p:nvPr/>
          </p:nvSpPr>
          <p:spPr bwMode="auto">
            <a:xfrm>
              <a:off x="3262" y="2699"/>
              <a:ext cx="120" cy="117"/>
            </a:xfrm>
            <a:custGeom>
              <a:avLst/>
              <a:gdLst>
                <a:gd name="T0" fmla="*/ 0 w 120"/>
                <a:gd name="T1" fmla="*/ 117 h 117"/>
                <a:gd name="T2" fmla="*/ 120 w 120"/>
                <a:gd name="T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0" h="117">
                  <a:moveTo>
                    <a:pt x="0" y="117"/>
                  </a:moveTo>
                  <a:lnTo>
                    <a:pt x="12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0" name="Freeform 60"/>
            <p:cNvSpPr>
              <a:spLocks noChangeArrowheads="1"/>
            </p:cNvSpPr>
            <p:nvPr/>
          </p:nvSpPr>
          <p:spPr bwMode="auto">
            <a:xfrm>
              <a:off x="3268" y="2555"/>
              <a:ext cx="120" cy="117"/>
            </a:xfrm>
            <a:custGeom>
              <a:avLst/>
              <a:gdLst>
                <a:gd name="T0" fmla="*/ 0 w 120"/>
                <a:gd name="T1" fmla="*/ 117 h 117"/>
                <a:gd name="T2" fmla="*/ 120 w 120"/>
                <a:gd name="T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0" h="117">
                  <a:moveTo>
                    <a:pt x="0" y="117"/>
                  </a:moveTo>
                  <a:lnTo>
                    <a:pt x="12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1" name="Line 61"/>
            <p:cNvSpPr>
              <a:spLocks noChangeShapeType="1"/>
            </p:cNvSpPr>
            <p:nvPr/>
          </p:nvSpPr>
          <p:spPr bwMode="auto">
            <a:xfrm flipV="1">
              <a:off x="3248" y="2339"/>
              <a:ext cx="234" cy="23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" name="Line 62"/>
            <p:cNvSpPr>
              <a:spLocks noChangeShapeType="1"/>
            </p:cNvSpPr>
            <p:nvPr/>
          </p:nvSpPr>
          <p:spPr bwMode="auto">
            <a:xfrm flipV="1">
              <a:off x="3248" y="2325"/>
              <a:ext cx="128" cy="12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" name="Freeform 63"/>
            <p:cNvSpPr>
              <a:spLocks noChangeArrowheads="1"/>
            </p:cNvSpPr>
            <p:nvPr/>
          </p:nvSpPr>
          <p:spPr bwMode="auto">
            <a:xfrm>
              <a:off x="3419" y="2333"/>
              <a:ext cx="191" cy="190"/>
            </a:xfrm>
            <a:custGeom>
              <a:avLst/>
              <a:gdLst>
                <a:gd name="T0" fmla="*/ 0 w 191"/>
                <a:gd name="T1" fmla="*/ 190 h 190"/>
                <a:gd name="T2" fmla="*/ 191 w 191"/>
                <a:gd name="T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91" h="190">
                  <a:moveTo>
                    <a:pt x="0" y="190"/>
                  </a:moveTo>
                  <a:lnTo>
                    <a:pt x="191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4" name="Freeform 64"/>
            <p:cNvSpPr>
              <a:spLocks noChangeArrowheads="1"/>
            </p:cNvSpPr>
            <p:nvPr/>
          </p:nvSpPr>
          <p:spPr bwMode="auto">
            <a:xfrm>
              <a:off x="3541" y="2458"/>
              <a:ext cx="78" cy="70"/>
            </a:xfrm>
            <a:custGeom>
              <a:avLst/>
              <a:gdLst>
                <a:gd name="T0" fmla="*/ 0 w 78"/>
                <a:gd name="T1" fmla="*/ 70 h 70"/>
                <a:gd name="T2" fmla="*/ 78 w 78"/>
                <a:gd name="T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8" h="70">
                  <a:moveTo>
                    <a:pt x="0" y="70"/>
                  </a:moveTo>
                  <a:lnTo>
                    <a:pt x="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5" name="Freeform 65"/>
            <p:cNvSpPr>
              <a:spLocks noChangeArrowheads="1"/>
            </p:cNvSpPr>
            <p:nvPr/>
          </p:nvSpPr>
          <p:spPr bwMode="auto">
            <a:xfrm>
              <a:off x="3495" y="2287"/>
              <a:ext cx="1" cy="300"/>
            </a:xfrm>
            <a:custGeom>
              <a:avLst/>
              <a:gdLst>
                <a:gd name="T0" fmla="*/ 0 w 1"/>
                <a:gd name="T1" fmla="*/ 0 h 300"/>
                <a:gd name="T2" fmla="*/ 0 w 1"/>
                <a:gd name="T3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00">
                  <a:moveTo>
                    <a:pt x="0" y="0"/>
                  </a:moveTo>
                  <a:lnTo>
                    <a:pt x="0" y="30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6" name="Freeform 66"/>
            <p:cNvSpPr>
              <a:spLocks noChangeArrowheads="1"/>
            </p:cNvSpPr>
            <p:nvPr/>
          </p:nvSpPr>
          <p:spPr bwMode="auto">
            <a:xfrm>
              <a:off x="3825" y="3586"/>
              <a:ext cx="1" cy="315"/>
            </a:xfrm>
            <a:custGeom>
              <a:avLst/>
              <a:gdLst>
                <a:gd name="T0" fmla="*/ 0 w 1"/>
                <a:gd name="T1" fmla="*/ 0 h 315"/>
                <a:gd name="T2" fmla="*/ 0 w 1"/>
                <a:gd name="T3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15">
                  <a:moveTo>
                    <a:pt x="0" y="0"/>
                  </a:moveTo>
                  <a:lnTo>
                    <a:pt x="0" y="315"/>
                  </a:lnTo>
                </a:path>
              </a:pathLst>
            </a:custGeom>
            <a:noFill/>
            <a:ln w="127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sp>
        <p:nvSpPr>
          <p:cNvPr id="67" name="Line 67"/>
          <p:cNvSpPr>
            <a:spLocks noChangeShapeType="1"/>
          </p:cNvSpPr>
          <p:nvPr/>
        </p:nvSpPr>
        <p:spPr bwMode="auto">
          <a:xfrm>
            <a:off x="4540250" y="992188"/>
            <a:ext cx="0" cy="322262"/>
          </a:xfrm>
          <a:prstGeom prst="line">
            <a:avLst/>
          </a:prstGeom>
          <a:noFill/>
          <a:ln w="12700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Line 68"/>
          <p:cNvSpPr>
            <a:spLocks noChangeShapeType="1"/>
          </p:cNvSpPr>
          <p:nvPr/>
        </p:nvSpPr>
        <p:spPr bwMode="auto">
          <a:xfrm>
            <a:off x="4356100" y="1003300"/>
            <a:ext cx="0" cy="311150"/>
          </a:xfrm>
          <a:prstGeom prst="line">
            <a:avLst/>
          </a:prstGeom>
          <a:noFill/>
          <a:ln w="12700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Line 69"/>
          <p:cNvSpPr>
            <a:spLocks noChangeShapeType="1"/>
          </p:cNvSpPr>
          <p:nvPr/>
        </p:nvSpPr>
        <p:spPr bwMode="auto">
          <a:xfrm>
            <a:off x="2762250" y="1003300"/>
            <a:ext cx="0" cy="311150"/>
          </a:xfrm>
          <a:prstGeom prst="line">
            <a:avLst/>
          </a:prstGeom>
          <a:noFill/>
          <a:ln w="12700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Line 70"/>
          <p:cNvSpPr>
            <a:spLocks noChangeShapeType="1"/>
          </p:cNvSpPr>
          <p:nvPr/>
        </p:nvSpPr>
        <p:spPr bwMode="auto">
          <a:xfrm>
            <a:off x="2946400" y="1014414"/>
            <a:ext cx="0" cy="312737"/>
          </a:xfrm>
          <a:prstGeom prst="line">
            <a:avLst/>
          </a:prstGeom>
          <a:noFill/>
          <a:ln w="12700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Line 71"/>
          <p:cNvSpPr>
            <a:spLocks noChangeShapeType="1"/>
          </p:cNvSpPr>
          <p:nvPr/>
        </p:nvSpPr>
        <p:spPr bwMode="auto">
          <a:xfrm>
            <a:off x="5105400" y="3059113"/>
            <a:ext cx="0" cy="322262"/>
          </a:xfrm>
          <a:prstGeom prst="line">
            <a:avLst/>
          </a:prstGeom>
          <a:noFill/>
          <a:ln w="12700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Line 72"/>
          <p:cNvSpPr>
            <a:spLocks noChangeShapeType="1"/>
          </p:cNvSpPr>
          <p:nvPr/>
        </p:nvSpPr>
        <p:spPr bwMode="auto">
          <a:xfrm>
            <a:off x="4851400" y="3059113"/>
            <a:ext cx="0" cy="311150"/>
          </a:xfrm>
          <a:prstGeom prst="line">
            <a:avLst/>
          </a:prstGeom>
          <a:noFill/>
          <a:ln w="12700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Line 73"/>
          <p:cNvSpPr>
            <a:spLocks noChangeShapeType="1"/>
          </p:cNvSpPr>
          <p:nvPr/>
        </p:nvSpPr>
        <p:spPr bwMode="auto">
          <a:xfrm>
            <a:off x="2462213" y="3046414"/>
            <a:ext cx="0" cy="312737"/>
          </a:xfrm>
          <a:prstGeom prst="line">
            <a:avLst/>
          </a:prstGeom>
          <a:noFill/>
          <a:ln w="12700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Line 74"/>
          <p:cNvSpPr>
            <a:spLocks noChangeShapeType="1"/>
          </p:cNvSpPr>
          <p:nvPr/>
        </p:nvSpPr>
        <p:spPr bwMode="auto">
          <a:xfrm>
            <a:off x="2219325" y="3059114"/>
            <a:ext cx="0" cy="300037"/>
          </a:xfrm>
          <a:prstGeom prst="line">
            <a:avLst/>
          </a:prstGeom>
          <a:noFill/>
          <a:ln w="12700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75" name="Group 75"/>
          <p:cNvGrpSpPr>
            <a:grpSpLocks/>
          </p:cNvGrpSpPr>
          <p:nvPr/>
        </p:nvGrpSpPr>
        <p:grpSpPr bwMode="auto">
          <a:xfrm>
            <a:off x="4102101" y="3783013"/>
            <a:ext cx="1914525" cy="2597150"/>
            <a:chOff x="1989" y="2265"/>
            <a:chExt cx="1206" cy="1636"/>
          </a:xfrm>
        </p:grpSpPr>
        <p:sp>
          <p:nvSpPr>
            <p:cNvPr id="76" name="Freeform 76"/>
            <p:cNvSpPr>
              <a:spLocks noChangeArrowheads="1"/>
            </p:cNvSpPr>
            <p:nvPr/>
          </p:nvSpPr>
          <p:spPr bwMode="auto">
            <a:xfrm>
              <a:off x="2865" y="2596"/>
              <a:ext cx="120" cy="210"/>
            </a:xfrm>
            <a:custGeom>
              <a:avLst/>
              <a:gdLst>
                <a:gd name="T0" fmla="*/ 120 w 120"/>
                <a:gd name="T1" fmla="*/ 0 h 210"/>
                <a:gd name="T2" fmla="*/ 30 w 120"/>
                <a:gd name="T3" fmla="*/ 30 h 210"/>
                <a:gd name="T4" fmla="*/ 0 w 120"/>
                <a:gd name="T5" fmla="*/ 105 h 210"/>
                <a:gd name="T6" fmla="*/ 30 w 120"/>
                <a:gd name="T7" fmla="*/ 180 h 210"/>
                <a:gd name="T8" fmla="*/ 120 w 120"/>
                <a:gd name="T9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210">
                  <a:moveTo>
                    <a:pt x="120" y="0"/>
                  </a:moveTo>
                  <a:cubicBezTo>
                    <a:pt x="108" y="5"/>
                    <a:pt x="50" y="12"/>
                    <a:pt x="30" y="30"/>
                  </a:cubicBezTo>
                  <a:cubicBezTo>
                    <a:pt x="10" y="48"/>
                    <a:pt x="0" y="80"/>
                    <a:pt x="0" y="105"/>
                  </a:cubicBezTo>
                  <a:cubicBezTo>
                    <a:pt x="0" y="130"/>
                    <a:pt x="10" y="162"/>
                    <a:pt x="30" y="180"/>
                  </a:cubicBezTo>
                  <a:cubicBezTo>
                    <a:pt x="50" y="198"/>
                    <a:pt x="101" y="204"/>
                    <a:pt x="120" y="210"/>
                  </a:cubicBezTo>
                </a:path>
              </a:pathLst>
            </a:cu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7" name="Freeform 77"/>
            <p:cNvSpPr>
              <a:spLocks noChangeArrowheads="1"/>
            </p:cNvSpPr>
            <p:nvPr/>
          </p:nvSpPr>
          <p:spPr bwMode="auto">
            <a:xfrm>
              <a:off x="2139" y="3556"/>
              <a:ext cx="1" cy="345"/>
            </a:xfrm>
            <a:custGeom>
              <a:avLst/>
              <a:gdLst>
                <a:gd name="T0" fmla="*/ 0 w 1"/>
                <a:gd name="T1" fmla="*/ 0 h 345"/>
                <a:gd name="T2" fmla="*/ 0 w 1"/>
                <a:gd name="T3" fmla="*/ 34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45">
                  <a:moveTo>
                    <a:pt x="0" y="0"/>
                  </a:moveTo>
                  <a:lnTo>
                    <a:pt x="0" y="345"/>
                  </a:lnTo>
                </a:path>
              </a:pathLst>
            </a:custGeom>
            <a:noFill/>
            <a:ln w="9525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8" name="Freeform 78"/>
            <p:cNvSpPr>
              <a:spLocks noChangeArrowheads="1"/>
            </p:cNvSpPr>
            <p:nvPr/>
          </p:nvSpPr>
          <p:spPr bwMode="auto">
            <a:xfrm>
              <a:off x="1989" y="3819"/>
              <a:ext cx="990" cy="3"/>
            </a:xfrm>
            <a:custGeom>
              <a:avLst/>
              <a:gdLst>
                <a:gd name="T0" fmla="*/ 0 w 990"/>
                <a:gd name="T1" fmla="*/ 3 h 3"/>
                <a:gd name="T2" fmla="*/ 990 w 990"/>
                <a:gd name="T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90" h="3">
                  <a:moveTo>
                    <a:pt x="0" y="3"/>
                  </a:moveTo>
                  <a:lnTo>
                    <a:pt x="99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9" name="Freeform 79"/>
            <p:cNvSpPr>
              <a:spLocks noChangeArrowheads="1"/>
            </p:cNvSpPr>
            <p:nvPr/>
          </p:nvSpPr>
          <p:spPr bwMode="auto">
            <a:xfrm>
              <a:off x="1989" y="3624"/>
              <a:ext cx="990" cy="3"/>
            </a:xfrm>
            <a:custGeom>
              <a:avLst/>
              <a:gdLst>
                <a:gd name="T0" fmla="*/ 0 w 990"/>
                <a:gd name="T1" fmla="*/ 3 h 3"/>
                <a:gd name="T2" fmla="*/ 990 w 990"/>
                <a:gd name="T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90" h="3">
                  <a:moveTo>
                    <a:pt x="0" y="3"/>
                  </a:moveTo>
                  <a:lnTo>
                    <a:pt x="99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0" name="Freeform 80"/>
            <p:cNvSpPr>
              <a:spLocks noChangeArrowheads="1"/>
            </p:cNvSpPr>
            <p:nvPr/>
          </p:nvSpPr>
          <p:spPr bwMode="auto">
            <a:xfrm>
              <a:off x="2334" y="2535"/>
              <a:ext cx="429" cy="3"/>
            </a:xfrm>
            <a:custGeom>
              <a:avLst/>
              <a:gdLst>
                <a:gd name="T0" fmla="*/ 0 w 429"/>
                <a:gd name="T1" fmla="*/ 0 h 3"/>
                <a:gd name="T2" fmla="*/ 225 w 429"/>
                <a:gd name="T3" fmla="*/ 0 h 3"/>
                <a:gd name="T4" fmla="*/ 429 w 429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9" h="3">
                  <a:moveTo>
                    <a:pt x="0" y="0"/>
                  </a:moveTo>
                  <a:lnTo>
                    <a:pt x="225" y="0"/>
                  </a:lnTo>
                  <a:lnTo>
                    <a:pt x="429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1" name="Freeform 81"/>
            <p:cNvSpPr>
              <a:spLocks noChangeArrowheads="1"/>
            </p:cNvSpPr>
            <p:nvPr/>
          </p:nvSpPr>
          <p:spPr bwMode="auto">
            <a:xfrm>
              <a:off x="2334" y="2333"/>
              <a:ext cx="1" cy="213"/>
            </a:xfrm>
            <a:custGeom>
              <a:avLst/>
              <a:gdLst>
                <a:gd name="T0" fmla="*/ 0 w 1"/>
                <a:gd name="T1" fmla="*/ 213 h 213"/>
                <a:gd name="T2" fmla="*/ 0 w 1"/>
                <a:gd name="T3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213">
                  <a:moveTo>
                    <a:pt x="0" y="213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2" name="Freeform 82"/>
            <p:cNvSpPr>
              <a:spLocks noChangeArrowheads="1"/>
            </p:cNvSpPr>
            <p:nvPr/>
          </p:nvSpPr>
          <p:spPr bwMode="auto">
            <a:xfrm>
              <a:off x="2334" y="2336"/>
              <a:ext cx="645" cy="4"/>
            </a:xfrm>
            <a:custGeom>
              <a:avLst/>
              <a:gdLst>
                <a:gd name="T0" fmla="*/ 0 w 645"/>
                <a:gd name="T1" fmla="*/ 4 h 4"/>
                <a:gd name="T2" fmla="*/ 645 w 645"/>
                <a:gd name="T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45" h="4">
                  <a:moveTo>
                    <a:pt x="0" y="4"/>
                  </a:moveTo>
                  <a:lnTo>
                    <a:pt x="64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3" name="Freeform 83"/>
            <p:cNvSpPr>
              <a:spLocks noChangeArrowheads="1"/>
            </p:cNvSpPr>
            <p:nvPr/>
          </p:nvSpPr>
          <p:spPr bwMode="auto">
            <a:xfrm>
              <a:off x="2574" y="2535"/>
              <a:ext cx="1" cy="1096"/>
            </a:xfrm>
            <a:custGeom>
              <a:avLst/>
              <a:gdLst>
                <a:gd name="T0" fmla="*/ 0 w 1"/>
                <a:gd name="T1" fmla="*/ 1096 h 1096"/>
                <a:gd name="T2" fmla="*/ 0 w 1"/>
                <a:gd name="T3" fmla="*/ 0 h 10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96">
                  <a:moveTo>
                    <a:pt x="0" y="1096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4" name="Arc 84"/>
            <p:cNvSpPr>
              <a:spLocks noChangeArrowheads="1"/>
            </p:cNvSpPr>
            <p:nvPr/>
          </p:nvSpPr>
          <p:spPr bwMode="auto">
            <a:xfrm flipH="1" flipV="1">
              <a:off x="2760" y="2724"/>
              <a:ext cx="240" cy="192"/>
            </a:xfrm>
            <a:custGeom>
              <a:avLst/>
              <a:gdLst>
                <a:gd name="T0" fmla="*/ 1346 w 21600"/>
                <a:gd name="T1" fmla="*/ 0 h 21558"/>
                <a:gd name="T2" fmla="*/ 21600 w 21600"/>
                <a:gd name="T3" fmla="*/ 21558 h 21558"/>
                <a:gd name="T4" fmla="*/ 1346 w 21600"/>
                <a:gd name="T5" fmla="*/ 0 h 21558"/>
                <a:gd name="T6" fmla="*/ 21600 w 21600"/>
                <a:gd name="T7" fmla="*/ 21558 h 21558"/>
                <a:gd name="T8" fmla="*/ 0 w 21600"/>
                <a:gd name="T9" fmla="*/ 21558 h 21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00" h="21558" fill="none">
                  <a:moveTo>
                    <a:pt x="1346" y="0"/>
                  </a:moveTo>
                  <a:cubicBezTo>
                    <a:pt x="12731" y="711"/>
                    <a:pt x="21600" y="10151"/>
                    <a:pt x="21600" y="21558"/>
                  </a:cubicBezTo>
                </a:path>
                <a:path w="21600" h="21558" stroke="0">
                  <a:moveTo>
                    <a:pt x="1346" y="0"/>
                  </a:moveTo>
                  <a:cubicBezTo>
                    <a:pt x="12731" y="711"/>
                    <a:pt x="21600" y="10151"/>
                    <a:pt x="21600" y="21558"/>
                  </a:cubicBezTo>
                  <a:lnTo>
                    <a:pt x="0" y="21558"/>
                  </a:lnTo>
                  <a:close/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5" name="Freeform 85"/>
            <p:cNvSpPr>
              <a:spLocks noChangeArrowheads="1"/>
            </p:cNvSpPr>
            <p:nvPr/>
          </p:nvSpPr>
          <p:spPr bwMode="auto">
            <a:xfrm>
              <a:off x="2754" y="2535"/>
              <a:ext cx="1" cy="210"/>
            </a:xfrm>
            <a:custGeom>
              <a:avLst/>
              <a:gdLst>
                <a:gd name="T0" fmla="*/ 0 w 1"/>
                <a:gd name="T1" fmla="*/ 210 h 210"/>
                <a:gd name="T2" fmla="*/ 0 w 1"/>
                <a:gd name="T3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210">
                  <a:moveTo>
                    <a:pt x="0" y="21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6" name="Freeform 86"/>
            <p:cNvSpPr>
              <a:spLocks noChangeArrowheads="1"/>
            </p:cNvSpPr>
            <p:nvPr/>
          </p:nvSpPr>
          <p:spPr bwMode="auto">
            <a:xfrm>
              <a:off x="1993" y="3622"/>
              <a:ext cx="1" cy="196"/>
            </a:xfrm>
            <a:custGeom>
              <a:avLst/>
              <a:gdLst>
                <a:gd name="T0" fmla="*/ 0 w 1"/>
                <a:gd name="T1" fmla="*/ 0 h 196"/>
                <a:gd name="T2" fmla="*/ 0 w 1"/>
                <a:gd name="T3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96">
                  <a:moveTo>
                    <a:pt x="0" y="0"/>
                  </a:moveTo>
                  <a:lnTo>
                    <a:pt x="0" y="19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7" name="Freeform 87"/>
            <p:cNvSpPr>
              <a:spLocks noChangeArrowheads="1"/>
            </p:cNvSpPr>
            <p:nvPr/>
          </p:nvSpPr>
          <p:spPr bwMode="auto">
            <a:xfrm>
              <a:off x="2469" y="2265"/>
              <a:ext cx="1" cy="345"/>
            </a:xfrm>
            <a:custGeom>
              <a:avLst/>
              <a:gdLst>
                <a:gd name="T0" fmla="*/ 0 w 1"/>
                <a:gd name="T1" fmla="*/ 345 h 345"/>
                <a:gd name="T2" fmla="*/ 0 w 1"/>
                <a:gd name="T3" fmla="*/ 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45">
                  <a:moveTo>
                    <a:pt x="0" y="345"/>
                  </a:move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8" name="Freeform 88"/>
            <p:cNvSpPr>
              <a:spLocks noChangeArrowheads="1"/>
            </p:cNvSpPr>
            <p:nvPr/>
          </p:nvSpPr>
          <p:spPr bwMode="auto">
            <a:xfrm>
              <a:off x="2715" y="2701"/>
              <a:ext cx="480" cy="1"/>
            </a:xfrm>
            <a:custGeom>
              <a:avLst/>
              <a:gdLst>
                <a:gd name="T0" fmla="*/ 0 w 480"/>
                <a:gd name="T1" fmla="*/ 0 h 1"/>
                <a:gd name="T2" fmla="*/ 480 w 480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80" h="1">
                  <a:moveTo>
                    <a:pt x="0" y="0"/>
                  </a:moveTo>
                  <a:lnTo>
                    <a:pt x="48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9" name="Line 89"/>
            <p:cNvSpPr>
              <a:spLocks noChangeShapeType="1"/>
            </p:cNvSpPr>
            <p:nvPr/>
          </p:nvSpPr>
          <p:spPr bwMode="auto">
            <a:xfrm>
              <a:off x="2058" y="3629"/>
              <a:ext cx="0" cy="1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" name="Line 90"/>
            <p:cNvSpPr>
              <a:spLocks noChangeShapeType="1"/>
            </p:cNvSpPr>
            <p:nvPr/>
          </p:nvSpPr>
          <p:spPr bwMode="auto">
            <a:xfrm>
              <a:off x="2211" y="3622"/>
              <a:ext cx="0" cy="19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" name="Line 91"/>
            <p:cNvSpPr>
              <a:spLocks noChangeShapeType="1"/>
            </p:cNvSpPr>
            <p:nvPr/>
          </p:nvSpPr>
          <p:spPr bwMode="auto">
            <a:xfrm>
              <a:off x="2407" y="2342"/>
              <a:ext cx="0" cy="19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" name="Line 92"/>
            <p:cNvSpPr>
              <a:spLocks noChangeShapeType="1"/>
            </p:cNvSpPr>
            <p:nvPr/>
          </p:nvSpPr>
          <p:spPr bwMode="auto">
            <a:xfrm>
              <a:off x="2538" y="2342"/>
              <a:ext cx="0" cy="20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93" name="AutoShape 93"/>
          <p:cNvSpPr>
            <a:spLocks noChangeArrowheads="1"/>
          </p:cNvSpPr>
          <p:nvPr/>
        </p:nvSpPr>
        <p:spPr bwMode="auto">
          <a:xfrm rot="-1024313">
            <a:off x="2908300" y="3492500"/>
            <a:ext cx="762000" cy="1371600"/>
          </a:xfrm>
          <a:prstGeom prst="curvedRightArrow">
            <a:avLst>
              <a:gd name="adj1" fmla="val 22625"/>
              <a:gd name="adj2" fmla="val 58625"/>
              <a:gd name="adj3" fmla="val 33329"/>
            </a:avLst>
          </a:prstGeom>
          <a:solidFill>
            <a:srgbClr val="FF33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94" name="AutoShape 94"/>
          <p:cNvSpPr>
            <a:spLocks noChangeArrowheads="1"/>
          </p:cNvSpPr>
          <p:nvPr/>
        </p:nvSpPr>
        <p:spPr bwMode="auto">
          <a:xfrm>
            <a:off x="2146300" y="6159500"/>
            <a:ext cx="1600200" cy="381000"/>
          </a:xfrm>
          <a:prstGeom prst="wedgeRoundRectCallout">
            <a:avLst>
              <a:gd name="adj1" fmla="val 140477"/>
              <a:gd name="adj2" fmla="val -190000"/>
              <a:gd name="adj3" fmla="val 16667"/>
            </a:avLst>
          </a:prstGeom>
          <a:solidFill>
            <a:srgbClr val="CC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zh-CN" altLang="en-US" sz="160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一半画视图</a:t>
            </a:r>
          </a:p>
        </p:txBody>
      </p:sp>
      <p:sp>
        <p:nvSpPr>
          <p:cNvPr id="95" name="AutoShape 95"/>
          <p:cNvSpPr>
            <a:spLocks noChangeArrowheads="1"/>
          </p:cNvSpPr>
          <p:nvPr/>
        </p:nvSpPr>
        <p:spPr bwMode="auto">
          <a:xfrm>
            <a:off x="7594600" y="4953000"/>
            <a:ext cx="1752600" cy="457200"/>
          </a:xfrm>
          <a:prstGeom prst="wedgeRoundRectCallout">
            <a:avLst>
              <a:gd name="adj1" fmla="val -136324"/>
              <a:gd name="adj2" fmla="val 111806"/>
              <a:gd name="adj3" fmla="val 16667"/>
            </a:avLst>
          </a:prstGeom>
          <a:solidFill>
            <a:srgbClr val="CC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zh-CN" altLang="en-US" sz="180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一半画剖视图</a:t>
            </a:r>
          </a:p>
        </p:txBody>
      </p:sp>
      <p:sp>
        <p:nvSpPr>
          <p:cNvPr id="96" name="AutoShape 96"/>
          <p:cNvSpPr>
            <a:spLocks noChangeArrowheads="1"/>
          </p:cNvSpPr>
          <p:nvPr/>
        </p:nvSpPr>
        <p:spPr bwMode="auto">
          <a:xfrm rot="1244004" flipH="1">
            <a:off x="7315200" y="3530600"/>
            <a:ext cx="914400" cy="1371600"/>
          </a:xfrm>
          <a:prstGeom prst="curvedRightArrow">
            <a:avLst>
              <a:gd name="adj1" fmla="val 19799"/>
              <a:gd name="adj2" fmla="val 49799"/>
              <a:gd name="adj3" fmla="val 33329"/>
            </a:avLst>
          </a:prstGeom>
          <a:solidFill>
            <a:srgbClr val="FF33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grpSp>
        <p:nvGrpSpPr>
          <p:cNvPr id="97" name="Group 97"/>
          <p:cNvGrpSpPr>
            <a:grpSpLocks/>
          </p:cNvGrpSpPr>
          <p:nvPr/>
        </p:nvGrpSpPr>
        <p:grpSpPr bwMode="auto">
          <a:xfrm>
            <a:off x="5194300" y="3873500"/>
            <a:ext cx="457200" cy="2362200"/>
            <a:chOff x="2112" y="2448"/>
            <a:chExt cx="288" cy="1488"/>
          </a:xfrm>
        </p:grpSpPr>
        <p:sp>
          <p:nvSpPr>
            <p:cNvPr id="98" name="Line 98"/>
            <p:cNvSpPr>
              <a:spLocks noChangeShapeType="1"/>
            </p:cNvSpPr>
            <p:nvPr/>
          </p:nvSpPr>
          <p:spPr bwMode="auto">
            <a:xfrm>
              <a:off x="2112" y="2448"/>
              <a:ext cx="0" cy="672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Line 99"/>
            <p:cNvSpPr>
              <a:spLocks noChangeShapeType="1"/>
            </p:cNvSpPr>
            <p:nvPr/>
          </p:nvSpPr>
          <p:spPr bwMode="auto">
            <a:xfrm>
              <a:off x="2112" y="3120"/>
              <a:ext cx="288" cy="0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" name="Line 100"/>
            <p:cNvSpPr>
              <a:spLocks noChangeShapeType="1"/>
            </p:cNvSpPr>
            <p:nvPr/>
          </p:nvSpPr>
          <p:spPr bwMode="auto">
            <a:xfrm flipH="1">
              <a:off x="2160" y="3180"/>
              <a:ext cx="240" cy="0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" name="Line 101"/>
            <p:cNvSpPr>
              <a:spLocks noChangeShapeType="1"/>
            </p:cNvSpPr>
            <p:nvPr/>
          </p:nvSpPr>
          <p:spPr bwMode="auto">
            <a:xfrm>
              <a:off x="2160" y="3168"/>
              <a:ext cx="0" cy="768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" name="Line 102"/>
            <p:cNvSpPr>
              <a:spLocks noChangeShapeType="1"/>
            </p:cNvSpPr>
            <p:nvPr/>
          </p:nvSpPr>
          <p:spPr bwMode="auto">
            <a:xfrm flipH="1" flipV="1">
              <a:off x="2112" y="3120"/>
              <a:ext cx="48" cy="48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03" name="Group 103"/>
          <p:cNvGrpSpPr>
            <a:grpSpLocks/>
          </p:cNvGrpSpPr>
          <p:nvPr/>
        </p:nvGrpSpPr>
        <p:grpSpPr bwMode="auto">
          <a:xfrm>
            <a:off x="5194300" y="3873500"/>
            <a:ext cx="457200" cy="2362200"/>
            <a:chOff x="2112" y="2448"/>
            <a:chExt cx="288" cy="1488"/>
          </a:xfrm>
        </p:grpSpPr>
        <p:sp>
          <p:nvSpPr>
            <p:cNvPr id="104" name="Line 104"/>
            <p:cNvSpPr>
              <a:spLocks noChangeShapeType="1"/>
            </p:cNvSpPr>
            <p:nvPr/>
          </p:nvSpPr>
          <p:spPr bwMode="auto">
            <a:xfrm>
              <a:off x="2112" y="2448"/>
              <a:ext cx="0" cy="672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" name="Line 105"/>
            <p:cNvSpPr>
              <a:spLocks noChangeShapeType="1"/>
            </p:cNvSpPr>
            <p:nvPr/>
          </p:nvSpPr>
          <p:spPr bwMode="auto">
            <a:xfrm>
              <a:off x="2112" y="3120"/>
              <a:ext cx="288" cy="0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" name="Line 106"/>
            <p:cNvSpPr>
              <a:spLocks noChangeShapeType="1"/>
            </p:cNvSpPr>
            <p:nvPr/>
          </p:nvSpPr>
          <p:spPr bwMode="auto">
            <a:xfrm flipH="1">
              <a:off x="2160" y="3180"/>
              <a:ext cx="240" cy="0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" name="Line 107"/>
            <p:cNvSpPr>
              <a:spLocks noChangeShapeType="1"/>
            </p:cNvSpPr>
            <p:nvPr/>
          </p:nvSpPr>
          <p:spPr bwMode="auto">
            <a:xfrm>
              <a:off x="2160" y="3168"/>
              <a:ext cx="0" cy="768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" name="Line 108"/>
            <p:cNvSpPr>
              <a:spLocks noChangeShapeType="1"/>
            </p:cNvSpPr>
            <p:nvPr/>
          </p:nvSpPr>
          <p:spPr bwMode="auto">
            <a:xfrm flipH="1" flipV="1">
              <a:off x="2112" y="3120"/>
              <a:ext cx="48" cy="48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09" name="Group 109"/>
          <p:cNvGrpSpPr>
            <a:grpSpLocks/>
          </p:cNvGrpSpPr>
          <p:nvPr/>
        </p:nvGrpSpPr>
        <p:grpSpPr bwMode="auto">
          <a:xfrm>
            <a:off x="5194300" y="3873500"/>
            <a:ext cx="457200" cy="2362200"/>
            <a:chOff x="2112" y="2448"/>
            <a:chExt cx="288" cy="1488"/>
          </a:xfrm>
        </p:grpSpPr>
        <p:sp>
          <p:nvSpPr>
            <p:cNvPr id="110" name="Line 110"/>
            <p:cNvSpPr>
              <a:spLocks noChangeShapeType="1"/>
            </p:cNvSpPr>
            <p:nvPr/>
          </p:nvSpPr>
          <p:spPr bwMode="auto">
            <a:xfrm>
              <a:off x="2112" y="2448"/>
              <a:ext cx="0" cy="672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" name="Line 111"/>
            <p:cNvSpPr>
              <a:spLocks noChangeShapeType="1"/>
            </p:cNvSpPr>
            <p:nvPr/>
          </p:nvSpPr>
          <p:spPr bwMode="auto">
            <a:xfrm>
              <a:off x="2112" y="3120"/>
              <a:ext cx="288" cy="0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" name="Line 112"/>
            <p:cNvSpPr>
              <a:spLocks noChangeShapeType="1"/>
            </p:cNvSpPr>
            <p:nvPr/>
          </p:nvSpPr>
          <p:spPr bwMode="auto">
            <a:xfrm flipH="1">
              <a:off x="2160" y="3180"/>
              <a:ext cx="240" cy="0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" name="Line 113"/>
            <p:cNvSpPr>
              <a:spLocks noChangeShapeType="1"/>
            </p:cNvSpPr>
            <p:nvPr/>
          </p:nvSpPr>
          <p:spPr bwMode="auto">
            <a:xfrm>
              <a:off x="2160" y="3168"/>
              <a:ext cx="0" cy="768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" name="Line 114"/>
            <p:cNvSpPr>
              <a:spLocks noChangeShapeType="1"/>
            </p:cNvSpPr>
            <p:nvPr/>
          </p:nvSpPr>
          <p:spPr bwMode="auto">
            <a:xfrm flipH="1" flipV="1">
              <a:off x="2112" y="3120"/>
              <a:ext cx="48" cy="48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" name="Group 115"/>
          <p:cNvGrpSpPr>
            <a:grpSpLocks/>
          </p:cNvGrpSpPr>
          <p:nvPr/>
        </p:nvGrpSpPr>
        <p:grpSpPr bwMode="auto">
          <a:xfrm>
            <a:off x="5451476" y="479426"/>
            <a:ext cx="3154363" cy="3006725"/>
            <a:chOff x="3102" y="310"/>
            <a:chExt cx="1987" cy="1894"/>
          </a:xfrm>
        </p:grpSpPr>
        <p:sp>
          <p:nvSpPr>
            <p:cNvPr id="116" name="Text Box 116"/>
            <p:cNvSpPr txBox="1">
              <a:spLocks noChangeArrowheads="1"/>
            </p:cNvSpPr>
            <p:nvPr/>
          </p:nvSpPr>
          <p:spPr bwMode="auto">
            <a:xfrm>
              <a:off x="3846" y="310"/>
              <a:ext cx="4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800">
                  <a:latin typeface="Times New Roman" panose="02020603050405020304" pitchFamily="18" charset="0"/>
                </a:rPr>
                <a:t>A—A</a:t>
              </a:r>
            </a:p>
          </p:txBody>
        </p:sp>
        <p:grpSp>
          <p:nvGrpSpPr>
            <p:cNvPr id="117" name="Group 117"/>
            <p:cNvGrpSpPr>
              <a:grpSpLocks/>
            </p:cNvGrpSpPr>
            <p:nvPr/>
          </p:nvGrpSpPr>
          <p:grpSpPr bwMode="auto">
            <a:xfrm>
              <a:off x="3102" y="569"/>
              <a:ext cx="1987" cy="1635"/>
              <a:chOff x="3102" y="569"/>
              <a:chExt cx="1987" cy="1635"/>
            </a:xfrm>
          </p:grpSpPr>
          <p:sp>
            <p:nvSpPr>
              <p:cNvPr id="118" name="Line 118"/>
              <p:cNvSpPr>
                <a:spLocks noChangeShapeType="1"/>
              </p:cNvSpPr>
              <p:nvPr/>
            </p:nvSpPr>
            <p:spPr bwMode="auto">
              <a:xfrm>
                <a:off x="3260" y="1877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" name="Line 119"/>
              <p:cNvSpPr>
                <a:spLocks noChangeShapeType="1"/>
              </p:cNvSpPr>
              <p:nvPr/>
            </p:nvSpPr>
            <p:spPr bwMode="auto">
              <a:xfrm>
                <a:off x="3569" y="588"/>
                <a:ext cx="0" cy="28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" name="Freeform 120"/>
              <p:cNvSpPr>
                <a:spLocks noChangeArrowheads="1"/>
              </p:cNvSpPr>
              <p:nvPr/>
            </p:nvSpPr>
            <p:spPr bwMode="auto">
              <a:xfrm>
                <a:off x="4080" y="569"/>
                <a:ext cx="3" cy="1635"/>
              </a:xfrm>
              <a:custGeom>
                <a:avLst/>
                <a:gdLst>
                  <a:gd name="T0" fmla="*/ 3 w 3"/>
                  <a:gd name="T1" fmla="*/ 0 h 1635"/>
                  <a:gd name="T2" fmla="*/ 0 w 3"/>
                  <a:gd name="T3" fmla="*/ 1635 h 1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635">
                    <a:moveTo>
                      <a:pt x="3" y="0"/>
                    </a:moveTo>
                    <a:lnTo>
                      <a:pt x="0" y="1635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121" name="Group 121"/>
              <p:cNvGrpSpPr>
                <a:grpSpLocks/>
              </p:cNvGrpSpPr>
              <p:nvPr/>
            </p:nvGrpSpPr>
            <p:grpSpPr bwMode="auto">
              <a:xfrm>
                <a:off x="3102" y="629"/>
                <a:ext cx="1014" cy="1502"/>
                <a:chOff x="3102" y="629"/>
                <a:chExt cx="1014" cy="1502"/>
              </a:xfrm>
            </p:grpSpPr>
            <p:grpSp>
              <p:nvGrpSpPr>
                <p:cNvPr id="160" name="Group 122"/>
                <p:cNvGrpSpPr>
                  <a:grpSpLocks/>
                </p:cNvGrpSpPr>
                <p:nvPr/>
              </p:nvGrpSpPr>
              <p:grpSpPr bwMode="auto">
                <a:xfrm>
                  <a:off x="3102" y="629"/>
                  <a:ext cx="1014" cy="1502"/>
                  <a:chOff x="3102" y="629"/>
                  <a:chExt cx="1014" cy="1502"/>
                </a:xfrm>
              </p:grpSpPr>
              <p:sp>
                <p:nvSpPr>
                  <p:cNvPr id="179" name="Freeform 123"/>
                  <p:cNvSpPr>
                    <a:spLocks noChangeArrowheads="1"/>
                  </p:cNvSpPr>
                  <p:nvPr/>
                </p:nvSpPr>
                <p:spPr bwMode="auto">
                  <a:xfrm>
                    <a:off x="3102" y="2118"/>
                    <a:ext cx="990" cy="3"/>
                  </a:xfrm>
                  <a:custGeom>
                    <a:avLst/>
                    <a:gdLst>
                      <a:gd name="T0" fmla="*/ 0 w 990"/>
                      <a:gd name="T1" fmla="*/ 3 h 3"/>
                      <a:gd name="T2" fmla="*/ 990 w 990"/>
                      <a:gd name="T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990" h="3">
                        <a:moveTo>
                          <a:pt x="0" y="3"/>
                        </a:moveTo>
                        <a:lnTo>
                          <a:pt x="99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0" name="Freeform 124"/>
                  <p:cNvSpPr>
                    <a:spLocks noChangeArrowheads="1"/>
                  </p:cNvSpPr>
                  <p:nvPr/>
                </p:nvSpPr>
                <p:spPr bwMode="auto">
                  <a:xfrm>
                    <a:off x="3102" y="1920"/>
                    <a:ext cx="594" cy="6"/>
                  </a:xfrm>
                  <a:custGeom>
                    <a:avLst/>
                    <a:gdLst>
                      <a:gd name="T0" fmla="*/ 0 w 594"/>
                      <a:gd name="T1" fmla="*/ 6 h 6"/>
                      <a:gd name="T2" fmla="*/ 594 w 594"/>
                      <a:gd name="T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594" h="6">
                        <a:moveTo>
                          <a:pt x="0" y="6"/>
                        </a:moveTo>
                        <a:lnTo>
                          <a:pt x="594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1" name="Freeform 125"/>
                  <p:cNvSpPr>
                    <a:spLocks noChangeArrowheads="1"/>
                  </p:cNvSpPr>
                  <p:nvPr/>
                </p:nvSpPr>
                <p:spPr bwMode="auto">
                  <a:xfrm>
                    <a:off x="3432" y="824"/>
                    <a:ext cx="249" cy="6"/>
                  </a:xfrm>
                  <a:custGeom>
                    <a:avLst/>
                    <a:gdLst>
                      <a:gd name="T0" fmla="*/ 0 w 249"/>
                      <a:gd name="T1" fmla="*/ 6 h 6"/>
                      <a:gd name="T2" fmla="*/ 249 w 249"/>
                      <a:gd name="T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49" h="6">
                        <a:moveTo>
                          <a:pt x="0" y="6"/>
                        </a:moveTo>
                        <a:lnTo>
                          <a:pt x="24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2" name="Line 12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41" y="632"/>
                    <a:ext cx="0" cy="192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83" name="Freeform 127"/>
                  <p:cNvSpPr>
                    <a:spLocks noChangeArrowheads="1"/>
                  </p:cNvSpPr>
                  <p:nvPr/>
                </p:nvSpPr>
                <p:spPr bwMode="auto">
                  <a:xfrm>
                    <a:off x="3432" y="635"/>
                    <a:ext cx="660" cy="1"/>
                  </a:xfrm>
                  <a:custGeom>
                    <a:avLst/>
                    <a:gdLst>
                      <a:gd name="T0" fmla="*/ 0 w 660"/>
                      <a:gd name="T1" fmla="*/ 0 h 1"/>
                      <a:gd name="T2" fmla="*/ 660 w 660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660" h="1">
                        <a:moveTo>
                          <a:pt x="0" y="0"/>
                        </a:moveTo>
                        <a:lnTo>
                          <a:pt x="66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4" name="Freeform 128"/>
                  <p:cNvSpPr>
                    <a:spLocks noChangeArrowheads="1"/>
                  </p:cNvSpPr>
                  <p:nvPr/>
                </p:nvSpPr>
                <p:spPr bwMode="auto">
                  <a:xfrm>
                    <a:off x="3687" y="819"/>
                    <a:ext cx="1" cy="1116"/>
                  </a:xfrm>
                  <a:custGeom>
                    <a:avLst/>
                    <a:gdLst>
                      <a:gd name="T0" fmla="*/ 0 w 1"/>
                      <a:gd name="T1" fmla="*/ 1116 h 1116"/>
                      <a:gd name="T2" fmla="*/ 0 w 1"/>
                      <a:gd name="T3" fmla="*/ 0 h 11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1116">
                        <a:moveTo>
                          <a:pt x="0" y="1116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5" name="Freeform 129"/>
                  <p:cNvSpPr>
                    <a:spLocks noChangeArrowheads="1"/>
                  </p:cNvSpPr>
                  <p:nvPr/>
                </p:nvSpPr>
                <p:spPr bwMode="auto">
                  <a:xfrm>
                    <a:off x="3105" y="1921"/>
                    <a:ext cx="1" cy="210"/>
                  </a:xfrm>
                  <a:custGeom>
                    <a:avLst/>
                    <a:gdLst>
                      <a:gd name="T0" fmla="*/ 0 w 1"/>
                      <a:gd name="T1" fmla="*/ 0 h 210"/>
                      <a:gd name="T2" fmla="*/ 0 w 1"/>
                      <a:gd name="T3" fmla="*/ 21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210">
                        <a:moveTo>
                          <a:pt x="0" y="0"/>
                        </a:moveTo>
                        <a:lnTo>
                          <a:pt x="0" y="21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6" name="Freeform 130"/>
                  <p:cNvSpPr>
                    <a:spLocks noChangeArrowheads="1"/>
                  </p:cNvSpPr>
                  <p:nvPr/>
                </p:nvSpPr>
                <p:spPr bwMode="auto">
                  <a:xfrm>
                    <a:off x="3801" y="629"/>
                    <a:ext cx="2" cy="687"/>
                  </a:xfrm>
                  <a:custGeom>
                    <a:avLst/>
                    <a:gdLst>
                      <a:gd name="T0" fmla="*/ 2 w 2"/>
                      <a:gd name="T1" fmla="*/ 687 h 687"/>
                      <a:gd name="T2" fmla="*/ 0 w 2"/>
                      <a:gd name="T3" fmla="*/ 0 h 6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" h="687">
                        <a:moveTo>
                          <a:pt x="2" y="687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7" name="Freeform 131"/>
                  <p:cNvSpPr>
                    <a:spLocks noChangeArrowheads="1"/>
                  </p:cNvSpPr>
                  <p:nvPr/>
                </p:nvSpPr>
                <p:spPr bwMode="auto">
                  <a:xfrm>
                    <a:off x="3876" y="1365"/>
                    <a:ext cx="1" cy="750"/>
                  </a:xfrm>
                  <a:custGeom>
                    <a:avLst/>
                    <a:gdLst>
                      <a:gd name="T0" fmla="*/ 0 w 1"/>
                      <a:gd name="T1" fmla="*/ 750 h 750"/>
                      <a:gd name="T2" fmla="*/ 0 w 1"/>
                      <a:gd name="T3" fmla="*/ 0 h 7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750">
                        <a:moveTo>
                          <a:pt x="0" y="75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8" name="Freeform 132"/>
                  <p:cNvSpPr>
                    <a:spLocks noChangeArrowheads="1"/>
                  </p:cNvSpPr>
                  <p:nvPr/>
                </p:nvSpPr>
                <p:spPr bwMode="auto">
                  <a:xfrm>
                    <a:off x="3881" y="1365"/>
                    <a:ext cx="196" cy="1"/>
                  </a:xfrm>
                  <a:custGeom>
                    <a:avLst/>
                    <a:gdLst>
                      <a:gd name="T0" fmla="*/ 196 w 196"/>
                      <a:gd name="T1" fmla="*/ 0 h 1"/>
                      <a:gd name="T2" fmla="*/ 0 w 196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96" h="1">
                        <a:moveTo>
                          <a:pt x="196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9" name="Freeform 133"/>
                  <p:cNvSpPr>
                    <a:spLocks noChangeArrowheads="1"/>
                  </p:cNvSpPr>
                  <p:nvPr/>
                </p:nvSpPr>
                <p:spPr bwMode="auto">
                  <a:xfrm>
                    <a:off x="3801" y="1305"/>
                    <a:ext cx="90" cy="75"/>
                  </a:xfrm>
                  <a:custGeom>
                    <a:avLst/>
                    <a:gdLst>
                      <a:gd name="T0" fmla="*/ 0 w 90"/>
                      <a:gd name="T1" fmla="*/ 0 h 75"/>
                      <a:gd name="T2" fmla="*/ 90 w 90"/>
                      <a:gd name="T3" fmla="*/ 75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90" h="75">
                        <a:moveTo>
                          <a:pt x="0" y="0"/>
                        </a:moveTo>
                        <a:lnTo>
                          <a:pt x="90" y="75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90" name="Freeform 134"/>
                  <p:cNvSpPr>
                    <a:spLocks noChangeArrowheads="1"/>
                  </p:cNvSpPr>
                  <p:nvPr/>
                </p:nvSpPr>
                <p:spPr bwMode="auto">
                  <a:xfrm>
                    <a:off x="3801" y="1305"/>
                    <a:ext cx="315" cy="1"/>
                  </a:xfrm>
                  <a:custGeom>
                    <a:avLst/>
                    <a:gdLst>
                      <a:gd name="T0" fmla="*/ 0 w 315"/>
                      <a:gd name="T1" fmla="*/ 0 h 1"/>
                      <a:gd name="T2" fmla="*/ 315 w 315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15" h="1">
                        <a:moveTo>
                          <a:pt x="0" y="0"/>
                        </a:moveTo>
                        <a:lnTo>
                          <a:pt x="315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161" name="Group 135"/>
                <p:cNvGrpSpPr>
                  <a:grpSpLocks/>
                </p:cNvGrpSpPr>
                <p:nvPr/>
              </p:nvGrpSpPr>
              <p:grpSpPr bwMode="auto">
                <a:xfrm>
                  <a:off x="3102" y="629"/>
                  <a:ext cx="780" cy="1496"/>
                  <a:chOff x="3072" y="674"/>
                  <a:chExt cx="780" cy="1496"/>
                </a:xfrm>
              </p:grpSpPr>
              <p:sp>
                <p:nvSpPr>
                  <p:cNvPr id="162" name="Line 13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51" y="1369"/>
                    <a:ext cx="121" cy="121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3" name="Line 13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58" y="674"/>
                    <a:ext cx="192" cy="19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4" name="Line 13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14" y="674"/>
                    <a:ext cx="192" cy="19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5" name="Freeform 139"/>
                  <p:cNvSpPr>
                    <a:spLocks noChangeArrowheads="1"/>
                  </p:cNvSpPr>
                  <p:nvPr/>
                </p:nvSpPr>
                <p:spPr bwMode="auto">
                  <a:xfrm>
                    <a:off x="3414" y="682"/>
                    <a:ext cx="32" cy="40"/>
                  </a:xfrm>
                  <a:custGeom>
                    <a:avLst/>
                    <a:gdLst>
                      <a:gd name="T0" fmla="*/ 0 w 32"/>
                      <a:gd name="T1" fmla="*/ 40 h 40"/>
                      <a:gd name="T2" fmla="*/ 32 w 32"/>
                      <a:gd name="T3" fmla="*/ 0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2" h="40">
                        <a:moveTo>
                          <a:pt x="0" y="40"/>
                        </a:moveTo>
                        <a:lnTo>
                          <a:pt x="32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66" name="Line 14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51" y="938"/>
                    <a:ext cx="120" cy="12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7" name="Line 14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51" y="1058"/>
                    <a:ext cx="135" cy="135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8" name="Freeform 142"/>
                  <p:cNvSpPr>
                    <a:spLocks noChangeArrowheads="1"/>
                  </p:cNvSpPr>
                  <p:nvPr/>
                </p:nvSpPr>
                <p:spPr bwMode="auto">
                  <a:xfrm>
                    <a:off x="3658" y="797"/>
                    <a:ext cx="115" cy="115"/>
                  </a:xfrm>
                  <a:custGeom>
                    <a:avLst/>
                    <a:gdLst>
                      <a:gd name="T0" fmla="*/ 0 w 115"/>
                      <a:gd name="T1" fmla="*/ 115 h 115"/>
                      <a:gd name="T2" fmla="*/ 115 w 115"/>
                      <a:gd name="T3" fmla="*/ 0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15" h="115">
                        <a:moveTo>
                          <a:pt x="0" y="115"/>
                        </a:moveTo>
                        <a:lnTo>
                          <a:pt x="11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69" name="Line 14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51" y="1226"/>
                    <a:ext cx="120" cy="12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0" name="Line 14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54" y="1442"/>
                    <a:ext cx="192" cy="19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1" name="Line 14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54" y="1586"/>
                    <a:ext cx="192" cy="19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2" name="Line 14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26" y="1973"/>
                    <a:ext cx="180" cy="18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3" name="Line 14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57" y="1730"/>
                    <a:ext cx="194" cy="194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4" name="Line 14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414" y="1965"/>
                    <a:ext cx="192" cy="19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5" name="Freeform 149"/>
                  <p:cNvSpPr>
                    <a:spLocks noChangeArrowheads="1"/>
                  </p:cNvSpPr>
                  <p:nvPr/>
                </p:nvSpPr>
                <p:spPr bwMode="auto">
                  <a:xfrm>
                    <a:off x="3267" y="1965"/>
                    <a:ext cx="195" cy="195"/>
                  </a:xfrm>
                  <a:custGeom>
                    <a:avLst/>
                    <a:gdLst>
                      <a:gd name="T0" fmla="*/ 195 w 195"/>
                      <a:gd name="T1" fmla="*/ 0 h 195"/>
                      <a:gd name="T2" fmla="*/ 0 w 195"/>
                      <a:gd name="T3" fmla="*/ 195 h 1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95" h="195">
                        <a:moveTo>
                          <a:pt x="195" y="0"/>
                        </a:moveTo>
                        <a:lnTo>
                          <a:pt x="0" y="195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6" name="Freeform 150"/>
                  <p:cNvSpPr>
                    <a:spLocks noChangeArrowheads="1"/>
                  </p:cNvSpPr>
                  <p:nvPr/>
                </p:nvSpPr>
                <p:spPr bwMode="auto">
                  <a:xfrm>
                    <a:off x="3072" y="1959"/>
                    <a:ext cx="105" cy="96"/>
                  </a:xfrm>
                  <a:custGeom>
                    <a:avLst/>
                    <a:gdLst>
                      <a:gd name="T0" fmla="*/ 0 w 105"/>
                      <a:gd name="T1" fmla="*/ 96 h 96"/>
                      <a:gd name="T2" fmla="*/ 105 w 105"/>
                      <a:gd name="T3" fmla="*/ 0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05" h="96">
                        <a:moveTo>
                          <a:pt x="0" y="96"/>
                        </a:moveTo>
                        <a:lnTo>
                          <a:pt x="10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7" name="Freeform 151"/>
                  <p:cNvSpPr>
                    <a:spLocks noChangeArrowheads="1"/>
                  </p:cNvSpPr>
                  <p:nvPr/>
                </p:nvSpPr>
                <p:spPr bwMode="auto">
                  <a:xfrm>
                    <a:off x="3562" y="1883"/>
                    <a:ext cx="284" cy="287"/>
                  </a:xfrm>
                  <a:custGeom>
                    <a:avLst/>
                    <a:gdLst>
                      <a:gd name="T0" fmla="*/ 0 w 284"/>
                      <a:gd name="T1" fmla="*/ 287 h 287"/>
                      <a:gd name="T2" fmla="*/ 284 w 284"/>
                      <a:gd name="T3" fmla="*/ 0 h 2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84" h="287">
                        <a:moveTo>
                          <a:pt x="0" y="287"/>
                        </a:moveTo>
                        <a:lnTo>
                          <a:pt x="284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8" name="Freeform 152"/>
                  <p:cNvSpPr>
                    <a:spLocks noChangeArrowheads="1"/>
                  </p:cNvSpPr>
                  <p:nvPr/>
                </p:nvSpPr>
                <p:spPr bwMode="auto">
                  <a:xfrm>
                    <a:off x="3717" y="2025"/>
                    <a:ext cx="135" cy="135"/>
                  </a:xfrm>
                  <a:custGeom>
                    <a:avLst/>
                    <a:gdLst>
                      <a:gd name="T0" fmla="*/ 0 w 135"/>
                      <a:gd name="T1" fmla="*/ 135 h 135"/>
                      <a:gd name="T2" fmla="*/ 135 w 135"/>
                      <a:gd name="T3" fmla="*/ 0 h 1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35" h="135">
                        <a:moveTo>
                          <a:pt x="0" y="135"/>
                        </a:moveTo>
                        <a:lnTo>
                          <a:pt x="13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22" name="Group 153"/>
              <p:cNvGrpSpPr>
                <a:grpSpLocks/>
              </p:cNvGrpSpPr>
              <p:nvPr/>
            </p:nvGrpSpPr>
            <p:grpSpPr bwMode="auto">
              <a:xfrm>
                <a:off x="3816" y="893"/>
                <a:ext cx="582" cy="219"/>
                <a:chOff x="1473" y="1625"/>
                <a:chExt cx="582" cy="192"/>
              </a:xfrm>
            </p:grpSpPr>
            <p:sp>
              <p:nvSpPr>
                <p:cNvPr id="158" name="Freeform 154"/>
                <p:cNvSpPr>
                  <a:spLocks noChangeArrowheads="1"/>
                </p:cNvSpPr>
                <p:nvPr/>
              </p:nvSpPr>
              <p:spPr bwMode="auto">
                <a:xfrm>
                  <a:off x="1473" y="1721"/>
                  <a:ext cx="582" cy="1"/>
                </a:xfrm>
                <a:custGeom>
                  <a:avLst/>
                  <a:gdLst>
                    <a:gd name="T0" fmla="*/ 0 w 582"/>
                    <a:gd name="T1" fmla="*/ 0 h 1"/>
                    <a:gd name="T2" fmla="*/ 582 w 582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582" h="1">
                      <a:moveTo>
                        <a:pt x="0" y="0"/>
                      </a:moveTo>
                      <a:lnTo>
                        <a:pt x="582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9" name="Oval 155"/>
                <p:cNvSpPr>
                  <a:spLocks noChangeArrowheads="1"/>
                </p:cNvSpPr>
                <p:nvPr/>
              </p:nvSpPr>
              <p:spPr bwMode="auto">
                <a:xfrm>
                  <a:off x="1617" y="1625"/>
                  <a:ext cx="240" cy="19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123" name="Group 156"/>
              <p:cNvGrpSpPr>
                <a:grpSpLocks/>
              </p:cNvGrpSpPr>
              <p:nvPr/>
            </p:nvGrpSpPr>
            <p:grpSpPr bwMode="auto">
              <a:xfrm>
                <a:off x="4084" y="583"/>
                <a:ext cx="1005" cy="1598"/>
                <a:chOff x="4084" y="583"/>
                <a:chExt cx="1005" cy="1598"/>
              </a:xfrm>
            </p:grpSpPr>
            <p:sp>
              <p:nvSpPr>
                <p:cNvPr id="124" name="Freeform 157"/>
                <p:cNvSpPr>
                  <a:spLocks noChangeArrowheads="1"/>
                </p:cNvSpPr>
                <p:nvPr/>
              </p:nvSpPr>
              <p:spPr bwMode="auto">
                <a:xfrm>
                  <a:off x="4588" y="583"/>
                  <a:ext cx="1" cy="300"/>
                </a:xfrm>
                <a:custGeom>
                  <a:avLst/>
                  <a:gdLst>
                    <a:gd name="T0" fmla="*/ 0 w 1"/>
                    <a:gd name="T1" fmla="*/ 0 h 300"/>
                    <a:gd name="T2" fmla="*/ 0 w 1"/>
                    <a:gd name="T3" fmla="*/ 300 h 3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300">
                      <a:moveTo>
                        <a:pt x="0" y="0"/>
                      </a:moveTo>
                      <a:lnTo>
                        <a:pt x="0" y="30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25" name="Freeform 158"/>
                <p:cNvSpPr>
                  <a:spLocks noChangeArrowheads="1"/>
                </p:cNvSpPr>
                <p:nvPr/>
              </p:nvSpPr>
              <p:spPr bwMode="auto">
                <a:xfrm>
                  <a:off x="4933" y="1866"/>
                  <a:ext cx="1" cy="315"/>
                </a:xfrm>
                <a:custGeom>
                  <a:avLst/>
                  <a:gdLst>
                    <a:gd name="T0" fmla="*/ 0 w 1"/>
                    <a:gd name="T1" fmla="*/ 0 h 315"/>
                    <a:gd name="T2" fmla="*/ 0 w 1"/>
                    <a:gd name="T3" fmla="*/ 315 h 3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315">
                      <a:moveTo>
                        <a:pt x="0" y="0"/>
                      </a:moveTo>
                      <a:lnTo>
                        <a:pt x="0" y="315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grpSp>
              <p:nvGrpSpPr>
                <p:cNvPr id="126" name="Group 159"/>
                <p:cNvGrpSpPr>
                  <a:grpSpLocks/>
                </p:cNvGrpSpPr>
                <p:nvPr/>
              </p:nvGrpSpPr>
              <p:grpSpPr bwMode="auto">
                <a:xfrm>
                  <a:off x="4084" y="625"/>
                  <a:ext cx="1005" cy="1505"/>
                  <a:chOff x="4084" y="625"/>
                  <a:chExt cx="1005" cy="1505"/>
                </a:xfrm>
              </p:grpSpPr>
              <p:sp>
                <p:nvSpPr>
                  <p:cNvPr id="146" name="Freeform 160"/>
                  <p:cNvSpPr>
                    <a:spLocks noChangeArrowheads="1"/>
                  </p:cNvSpPr>
                  <p:nvPr/>
                </p:nvSpPr>
                <p:spPr bwMode="auto">
                  <a:xfrm>
                    <a:off x="4091" y="2125"/>
                    <a:ext cx="998" cy="1"/>
                  </a:xfrm>
                  <a:custGeom>
                    <a:avLst/>
                    <a:gdLst>
                      <a:gd name="T0" fmla="*/ 998 w 998"/>
                      <a:gd name="T1" fmla="*/ 0 h 1"/>
                      <a:gd name="T2" fmla="*/ 0 w 998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998" h="1">
                        <a:moveTo>
                          <a:pt x="998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47" name="Freeform 161"/>
                  <p:cNvSpPr>
                    <a:spLocks noChangeArrowheads="1"/>
                  </p:cNvSpPr>
                  <p:nvPr/>
                </p:nvSpPr>
                <p:spPr bwMode="auto">
                  <a:xfrm>
                    <a:off x="4483" y="1920"/>
                    <a:ext cx="600" cy="1"/>
                  </a:xfrm>
                  <a:custGeom>
                    <a:avLst/>
                    <a:gdLst>
                      <a:gd name="T0" fmla="*/ 600 w 600"/>
                      <a:gd name="T1" fmla="*/ 0 h 1"/>
                      <a:gd name="T2" fmla="*/ 0 w 600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600" h="1">
                        <a:moveTo>
                          <a:pt x="600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48" name="Freeform 162"/>
                  <p:cNvSpPr>
                    <a:spLocks noChangeArrowheads="1"/>
                  </p:cNvSpPr>
                  <p:nvPr/>
                </p:nvSpPr>
                <p:spPr bwMode="auto">
                  <a:xfrm>
                    <a:off x="4490" y="824"/>
                    <a:ext cx="248" cy="6"/>
                  </a:xfrm>
                  <a:custGeom>
                    <a:avLst/>
                    <a:gdLst>
                      <a:gd name="T0" fmla="*/ 248 w 248"/>
                      <a:gd name="T1" fmla="*/ 6 h 6"/>
                      <a:gd name="T2" fmla="*/ 0 w 248"/>
                      <a:gd name="T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48" h="6">
                        <a:moveTo>
                          <a:pt x="248" y="6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49" name="Freeform 163"/>
                  <p:cNvSpPr>
                    <a:spLocks noChangeArrowheads="1"/>
                  </p:cNvSpPr>
                  <p:nvPr/>
                </p:nvSpPr>
                <p:spPr bwMode="auto">
                  <a:xfrm>
                    <a:off x="4727" y="625"/>
                    <a:ext cx="1" cy="211"/>
                  </a:xfrm>
                  <a:custGeom>
                    <a:avLst/>
                    <a:gdLst>
                      <a:gd name="T0" fmla="*/ 0 w 1"/>
                      <a:gd name="T1" fmla="*/ 211 h 211"/>
                      <a:gd name="T2" fmla="*/ 0 w 1"/>
                      <a:gd name="T3" fmla="*/ 0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211">
                        <a:moveTo>
                          <a:pt x="0" y="211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0" name="Freeform 164"/>
                  <p:cNvSpPr>
                    <a:spLocks noChangeArrowheads="1"/>
                  </p:cNvSpPr>
                  <p:nvPr/>
                </p:nvSpPr>
                <p:spPr bwMode="auto">
                  <a:xfrm>
                    <a:off x="4084" y="633"/>
                    <a:ext cx="650" cy="2"/>
                  </a:xfrm>
                  <a:custGeom>
                    <a:avLst/>
                    <a:gdLst>
                      <a:gd name="T0" fmla="*/ 650 w 650"/>
                      <a:gd name="T1" fmla="*/ 0 h 2"/>
                      <a:gd name="T2" fmla="*/ 0 w 650"/>
                      <a:gd name="T3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650" h="2">
                        <a:moveTo>
                          <a:pt x="650" y="0"/>
                        </a:moveTo>
                        <a:lnTo>
                          <a:pt x="0" y="2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1" name="Freeform 165"/>
                  <p:cNvSpPr>
                    <a:spLocks noChangeArrowheads="1"/>
                  </p:cNvSpPr>
                  <p:nvPr/>
                </p:nvSpPr>
                <p:spPr bwMode="auto">
                  <a:xfrm>
                    <a:off x="4487" y="824"/>
                    <a:ext cx="3" cy="1111"/>
                  </a:xfrm>
                  <a:custGeom>
                    <a:avLst/>
                    <a:gdLst>
                      <a:gd name="T0" fmla="*/ 0 w 3"/>
                      <a:gd name="T1" fmla="*/ 1111 h 1111"/>
                      <a:gd name="T2" fmla="*/ 3 w 3"/>
                      <a:gd name="T3" fmla="*/ 0 h 1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" h="1111">
                        <a:moveTo>
                          <a:pt x="0" y="1111"/>
                        </a:moveTo>
                        <a:lnTo>
                          <a:pt x="3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2" name="Freeform 166"/>
                  <p:cNvSpPr>
                    <a:spLocks noChangeArrowheads="1"/>
                  </p:cNvSpPr>
                  <p:nvPr/>
                </p:nvSpPr>
                <p:spPr bwMode="auto">
                  <a:xfrm>
                    <a:off x="5075" y="1920"/>
                    <a:ext cx="1" cy="210"/>
                  </a:xfrm>
                  <a:custGeom>
                    <a:avLst/>
                    <a:gdLst>
                      <a:gd name="T0" fmla="*/ 0 w 1"/>
                      <a:gd name="T1" fmla="*/ 0 h 210"/>
                      <a:gd name="T2" fmla="*/ 0 w 1"/>
                      <a:gd name="T3" fmla="*/ 21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210">
                        <a:moveTo>
                          <a:pt x="0" y="0"/>
                        </a:moveTo>
                        <a:lnTo>
                          <a:pt x="0" y="21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3" name="Line 16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63" y="629"/>
                    <a:ext cx="0" cy="672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4" name="Freeform 168"/>
                  <p:cNvSpPr>
                    <a:spLocks noChangeArrowheads="1"/>
                  </p:cNvSpPr>
                  <p:nvPr/>
                </p:nvSpPr>
                <p:spPr bwMode="auto">
                  <a:xfrm>
                    <a:off x="4084" y="1305"/>
                    <a:ext cx="286" cy="1"/>
                  </a:xfrm>
                  <a:custGeom>
                    <a:avLst/>
                    <a:gdLst>
                      <a:gd name="T0" fmla="*/ 0 w 286"/>
                      <a:gd name="T1" fmla="*/ 0 h 1"/>
                      <a:gd name="T2" fmla="*/ 286 w 286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86" h="1">
                        <a:moveTo>
                          <a:pt x="0" y="0"/>
                        </a:moveTo>
                        <a:lnTo>
                          <a:pt x="28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5" name="Freeform 169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1365"/>
                    <a:ext cx="1" cy="750"/>
                  </a:xfrm>
                  <a:custGeom>
                    <a:avLst/>
                    <a:gdLst>
                      <a:gd name="T0" fmla="*/ 0 w 1"/>
                      <a:gd name="T1" fmla="*/ 750 h 750"/>
                      <a:gd name="T2" fmla="*/ 0 w 1"/>
                      <a:gd name="T3" fmla="*/ 0 h 7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750">
                        <a:moveTo>
                          <a:pt x="0" y="75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6" name="Freeform 170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1305"/>
                    <a:ext cx="60" cy="60"/>
                  </a:xfrm>
                  <a:custGeom>
                    <a:avLst/>
                    <a:gdLst>
                      <a:gd name="T0" fmla="*/ 60 w 60"/>
                      <a:gd name="T1" fmla="*/ 0 h 60"/>
                      <a:gd name="T2" fmla="*/ 0 w 60"/>
                      <a:gd name="T3" fmla="*/ 6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60" h="60">
                        <a:moveTo>
                          <a:pt x="60" y="0"/>
                        </a:moveTo>
                        <a:lnTo>
                          <a:pt x="0" y="6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7" name="Freeform 171"/>
                  <p:cNvSpPr>
                    <a:spLocks noChangeArrowheads="1"/>
                  </p:cNvSpPr>
                  <p:nvPr/>
                </p:nvSpPr>
                <p:spPr bwMode="auto">
                  <a:xfrm>
                    <a:off x="4084" y="1365"/>
                    <a:ext cx="211" cy="1"/>
                  </a:xfrm>
                  <a:custGeom>
                    <a:avLst/>
                    <a:gdLst>
                      <a:gd name="T0" fmla="*/ 211 w 211"/>
                      <a:gd name="T1" fmla="*/ 0 h 1"/>
                      <a:gd name="T2" fmla="*/ 0 w 211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11" h="1">
                        <a:moveTo>
                          <a:pt x="211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127" name="Group 172"/>
                <p:cNvGrpSpPr>
                  <a:grpSpLocks/>
                </p:cNvGrpSpPr>
                <p:nvPr/>
              </p:nvGrpSpPr>
              <p:grpSpPr bwMode="auto">
                <a:xfrm>
                  <a:off x="4286" y="621"/>
                  <a:ext cx="782" cy="1504"/>
                  <a:chOff x="4256" y="666"/>
                  <a:chExt cx="782" cy="1504"/>
                </a:xfrm>
              </p:grpSpPr>
              <p:sp>
                <p:nvSpPr>
                  <p:cNvPr id="128" name="Line 17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65" y="1316"/>
                    <a:ext cx="195" cy="195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9" name="Line 1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65" y="1454"/>
                    <a:ext cx="195" cy="195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0" name="Freeform 175"/>
                  <p:cNvSpPr>
                    <a:spLocks noChangeArrowheads="1"/>
                  </p:cNvSpPr>
                  <p:nvPr/>
                </p:nvSpPr>
                <p:spPr bwMode="auto">
                  <a:xfrm>
                    <a:off x="4258" y="1590"/>
                    <a:ext cx="195" cy="195"/>
                  </a:xfrm>
                  <a:custGeom>
                    <a:avLst/>
                    <a:gdLst>
                      <a:gd name="T0" fmla="*/ 0 w 195"/>
                      <a:gd name="T1" fmla="*/ 195 h 195"/>
                      <a:gd name="T2" fmla="*/ 195 w 195"/>
                      <a:gd name="T3" fmla="*/ 0 h 1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95" h="195">
                        <a:moveTo>
                          <a:pt x="0" y="195"/>
                        </a:moveTo>
                        <a:lnTo>
                          <a:pt x="19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31" name="Line 17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56" y="1730"/>
                    <a:ext cx="195" cy="195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" name="Line 17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56" y="1877"/>
                    <a:ext cx="195" cy="195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" name="Freeform 178"/>
                  <p:cNvSpPr>
                    <a:spLocks noChangeArrowheads="1"/>
                  </p:cNvSpPr>
                  <p:nvPr/>
                </p:nvSpPr>
                <p:spPr bwMode="auto">
                  <a:xfrm>
                    <a:off x="4301" y="1968"/>
                    <a:ext cx="201" cy="198"/>
                  </a:xfrm>
                  <a:custGeom>
                    <a:avLst/>
                    <a:gdLst>
                      <a:gd name="T0" fmla="*/ 0 w 201"/>
                      <a:gd name="T1" fmla="*/ 198 h 198"/>
                      <a:gd name="T2" fmla="*/ 201 w 201"/>
                      <a:gd name="T3" fmla="*/ 0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01" h="198">
                        <a:moveTo>
                          <a:pt x="0" y="198"/>
                        </a:moveTo>
                        <a:lnTo>
                          <a:pt x="201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34" name="Freeform 179"/>
                  <p:cNvSpPr>
                    <a:spLocks noChangeArrowheads="1"/>
                  </p:cNvSpPr>
                  <p:nvPr/>
                </p:nvSpPr>
                <p:spPr bwMode="auto">
                  <a:xfrm>
                    <a:off x="4426" y="1968"/>
                    <a:ext cx="201" cy="202"/>
                  </a:xfrm>
                  <a:custGeom>
                    <a:avLst/>
                    <a:gdLst>
                      <a:gd name="T0" fmla="*/ 0 w 201"/>
                      <a:gd name="T1" fmla="*/ 202 h 202"/>
                      <a:gd name="T2" fmla="*/ 201 w 201"/>
                      <a:gd name="T3" fmla="*/ 0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01" h="202">
                        <a:moveTo>
                          <a:pt x="0" y="202"/>
                        </a:moveTo>
                        <a:lnTo>
                          <a:pt x="201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35" name="Freeform 180"/>
                  <p:cNvSpPr>
                    <a:spLocks noChangeArrowheads="1"/>
                  </p:cNvSpPr>
                  <p:nvPr/>
                </p:nvSpPr>
                <p:spPr bwMode="auto">
                  <a:xfrm>
                    <a:off x="4560" y="1958"/>
                    <a:ext cx="202" cy="202"/>
                  </a:xfrm>
                  <a:custGeom>
                    <a:avLst/>
                    <a:gdLst>
                      <a:gd name="T0" fmla="*/ 0 w 202"/>
                      <a:gd name="T1" fmla="*/ 202 h 202"/>
                      <a:gd name="T2" fmla="*/ 202 w 202"/>
                      <a:gd name="T3" fmla="*/ 0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02" h="202">
                        <a:moveTo>
                          <a:pt x="0" y="202"/>
                        </a:moveTo>
                        <a:lnTo>
                          <a:pt x="202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36" name="Freeform 181"/>
                  <p:cNvSpPr>
                    <a:spLocks noChangeArrowheads="1"/>
                  </p:cNvSpPr>
                  <p:nvPr/>
                </p:nvSpPr>
                <p:spPr bwMode="auto">
                  <a:xfrm>
                    <a:off x="4690" y="1962"/>
                    <a:ext cx="195" cy="195"/>
                  </a:xfrm>
                  <a:custGeom>
                    <a:avLst/>
                    <a:gdLst>
                      <a:gd name="T0" fmla="*/ 0 w 195"/>
                      <a:gd name="T1" fmla="*/ 195 h 195"/>
                      <a:gd name="T2" fmla="*/ 195 w 195"/>
                      <a:gd name="T3" fmla="*/ 0 h 1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95" h="195">
                        <a:moveTo>
                          <a:pt x="0" y="195"/>
                        </a:moveTo>
                        <a:lnTo>
                          <a:pt x="19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37" name="Freeform 182"/>
                  <p:cNvSpPr>
                    <a:spLocks noChangeArrowheads="1"/>
                  </p:cNvSpPr>
                  <p:nvPr/>
                </p:nvSpPr>
                <p:spPr bwMode="auto">
                  <a:xfrm>
                    <a:off x="4819" y="1958"/>
                    <a:ext cx="202" cy="202"/>
                  </a:xfrm>
                  <a:custGeom>
                    <a:avLst/>
                    <a:gdLst>
                      <a:gd name="T0" fmla="*/ 0 w 202"/>
                      <a:gd name="T1" fmla="*/ 202 h 202"/>
                      <a:gd name="T2" fmla="*/ 202 w 202"/>
                      <a:gd name="T3" fmla="*/ 0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02" h="202">
                        <a:moveTo>
                          <a:pt x="0" y="202"/>
                        </a:moveTo>
                        <a:lnTo>
                          <a:pt x="202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38" name="Freeform 183"/>
                  <p:cNvSpPr>
                    <a:spLocks noChangeArrowheads="1"/>
                  </p:cNvSpPr>
                  <p:nvPr/>
                </p:nvSpPr>
                <p:spPr bwMode="auto">
                  <a:xfrm>
                    <a:off x="4949" y="2070"/>
                    <a:ext cx="89" cy="91"/>
                  </a:xfrm>
                  <a:custGeom>
                    <a:avLst/>
                    <a:gdLst>
                      <a:gd name="T0" fmla="*/ 0 w 89"/>
                      <a:gd name="T1" fmla="*/ 91 h 91"/>
                      <a:gd name="T2" fmla="*/ 89 w 89"/>
                      <a:gd name="T3" fmla="*/ 0 h 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89" h="91">
                        <a:moveTo>
                          <a:pt x="0" y="91"/>
                        </a:moveTo>
                        <a:lnTo>
                          <a:pt x="89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39" name="Freeform 184"/>
                  <p:cNvSpPr>
                    <a:spLocks noChangeArrowheads="1"/>
                  </p:cNvSpPr>
                  <p:nvPr/>
                </p:nvSpPr>
                <p:spPr bwMode="auto">
                  <a:xfrm>
                    <a:off x="4333" y="1184"/>
                    <a:ext cx="120" cy="117"/>
                  </a:xfrm>
                  <a:custGeom>
                    <a:avLst/>
                    <a:gdLst>
                      <a:gd name="T0" fmla="*/ 0 w 120"/>
                      <a:gd name="T1" fmla="*/ 117 h 117"/>
                      <a:gd name="T2" fmla="*/ 120 w 120"/>
                      <a:gd name="T3" fmla="*/ 0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20" h="117">
                        <a:moveTo>
                          <a:pt x="0" y="117"/>
                        </a:moveTo>
                        <a:lnTo>
                          <a:pt x="120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40" name="Freeform 185"/>
                  <p:cNvSpPr>
                    <a:spLocks noChangeArrowheads="1"/>
                  </p:cNvSpPr>
                  <p:nvPr/>
                </p:nvSpPr>
                <p:spPr bwMode="auto">
                  <a:xfrm>
                    <a:off x="4330" y="1037"/>
                    <a:ext cx="134" cy="134"/>
                  </a:xfrm>
                  <a:custGeom>
                    <a:avLst/>
                    <a:gdLst>
                      <a:gd name="T0" fmla="*/ 0 w 134"/>
                      <a:gd name="T1" fmla="*/ 134 h 134"/>
                      <a:gd name="T2" fmla="*/ 134 w 134"/>
                      <a:gd name="T3" fmla="*/ 0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34" h="134">
                        <a:moveTo>
                          <a:pt x="0" y="134"/>
                        </a:moveTo>
                        <a:lnTo>
                          <a:pt x="134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41" name="Freeform 186"/>
                  <p:cNvSpPr>
                    <a:spLocks noChangeArrowheads="1"/>
                  </p:cNvSpPr>
                  <p:nvPr/>
                </p:nvSpPr>
                <p:spPr bwMode="auto">
                  <a:xfrm>
                    <a:off x="4345" y="896"/>
                    <a:ext cx="120" cy="117"/>
                  </a:xfrm>
                  <a:custGeom>
                    <a:avLst/>
                    <a:gdLst>
                      <a:gd name="T0" fmla="*/ 0 w 120"/>
                      <a:gd name="T1" fmla="*/ 117 h 117"/>
                      <a:gd name="T2" fmla="*/ 120 w 120"/>
                      <a:gd name="T3" fmla="*/ 0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20" h="117">
                        <a:moveTo>
                          <a:pt x="0" y="117"/>
                        </a:moveTo>
                        <a:lnTo>
                          <a:pt x="120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42" name="Line 18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25" y="680"/>
                    <a:ext cx="234" cy="234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3" name="Line 18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25" y="666"/>
                    <a:ext cx="128" cy="128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4" name="Line 1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96" y="670"/>
                    <a:ext cx="194" cy="194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5" name="Freeform 190"/>
                  <p:cNvSpPr>
                    <a:spLocks noChangeArrowheads="1"/>
                  </p:cNvSpPr>
                  <p:nvPr/>
                </p:nvSpPr>
                <p:spPr bwMode="auto">
                  <a:xfrm>
                    <a:off x="4618" y="797"/>
                    <a:ext cx="76" cy="72"/>
                  </a:xfrm>
                  <a:custGeom>
                    <a:avLst/>
                    <a:gdLst>
                      <a:gd name="T0" fmla="*/ 0 w 76"/>
                      <a:gd name="T1" fmla="*/ 72 h 72"/>
                      <a:gd name="T2" fmla="*/ 76 w 76"/>
                      <a:gd name="T3" fmla="*/ 0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76" h="72">
                        <a:moveTo>
                          <a:pt x="0" y="72"/>
                        </a:moveTo>
                        <a:lnTo>
                          <a:pt x="76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24179375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"/>
                            </p:stCondLst>
                            <p:childTnLst>
                              <p:par>
                                <p:cTn id="50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500"/>
                            </p:stCondLst>
                            <p:childTnLst>
                              <p:par>
                                <p:cTn id="53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93" grpId="0" animBg="1"/>
      <p:bldP spid="9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5" name="Group 2"/>
          <p:cNvGrpSpPr>
            <a:grpSpLocks/>
          </p:cNvGrpSpPr>
          <p:nvPr/>
        </p:nvGrpSpPr>
        <p:grpSpPr bwMode="auto">
          <a:xfrm>
            <a:off x="2043978" y="1112044"/>
            <a:ext cx="2544763" cy="2266950"/>
            <a:chOff x="670" y="641"/>
            <a:chExt cx="1603" cy="1428"/>
          </a:xfrm>
        </p:grpSpPr>
        <p:grpSp>
          <p:nvGrpSpPr>
            <p:cNvPr id="336" name="Group 3"/>
            <p:cNvGrpSpPr>
              <a:grpSpLocks noChangeAspect="1"/>
            </p:cNvGrpSpPr>
            <p:nvPr/>
          </p:nvGrpSpPr>
          <p:grpSpPr bwMode="auto">
            <a:xfrm>
              <a:off x="1265" y="641"/>
              <a:ext cx="465" cy="1428"/>
              <a:chOff x="1473" y="520"/>
              <a:chExt cx="582" cy="1786"/>
            </a:xfrm>
          </p:grpSpPr>
          <p:sp>
            <p:nvSpPr>
              <p:cNvPr id="379" name="Freeform 4"/>
              <p:cNvSpPr>
                <a:spLocks noChangeAspect="1" noChangeArrowheads="1"/>
              </p:cNvSpPr>
              <p:nvPr/>
            </p:nvSpPr>
            <p:spPr bwMode="auto">
              <a:xfrm>
                <a:off x="1740" y="520"/>
                <a:ext cx="1" cy="1786"/>
              </a:xfrm>
              <a:custGeom>
                <a:avLst/>
                <a:gdLst>
                  <a:gd name="T0" fmla="*/ 0 w 1"/>
                  <a:gd name="T1" fmla="*/ 0 h 1786"/>
                  <a:gd name="T2" fmla="*/ 0 w 1"/>
                  <a:gd name="T3" fmla="*/ 1786 h 1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786">
                    <a:moveTo>
                      <a:pt x="0" y="0"/>
                    </a:moveTo>
                    <a:lnTo>
                      <a:pt x="0" y="1786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380" name="Group 5"/>
              <p:cNvGrpSpPr>
                <a:grpSpLocks noChangeAspect="1"/>
              </p:cNvGrpSpPr>
              <p:nvPr/>
            </p:nvGrpSpPr>
            <p:grpSpPr bwMode="auto">
              <a:xfrm>
                <a:off x="1473" y="938"/>
                <a:ext cx="582" cy="216"/>
                <a:chOff x="1473" y="1625"/>
                <a:chExt cx="582" cy="192"/>
              </a:xfrm>
            </p:grpSpPr>
            <p:sp>
              <p:nvSpPr>
                <p:cNvPr id="381" name="Freeform 6"/>
                <p:cNvSpPr>
                  <a:spLocks noChangeAspect="1" noChangeArrowheads="1"/>
                </p:cNvSpPr>
                <p:nvPr/>
              </p:nvSpPr>
              <p:spPr bwMode="auto">
                <a:xfrm>
                  <a:off x="1473" y="1721"/>
                  <a:ext cx="582" cy="1"/>
                </a:xfrm>
                <a:custGeom>
                  <a:avLst/>
                  <a:gdLst>
                    <a:gd name="T0" fmla="*/ 0 w 582"/>
                    <a:gd name="T1" fmla="*/ 0 h 1"/>
                    <a:gd name="T2" fmla="*/ 582 w 582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582" h="1">
                      <a:moveTo>
                        <a:pt x="0" y="0"/>
                      </a:moveTo>
                      <a:lnTo>
                        <a:pt x="582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82" name="Oval 7"/>
                <p:cNvSpPr>
                  <a:spLocks noChangeAspect="1" noChangeArrowheads="1"/>
                </p:cNvSpPr>
                <p:nvPr/>
              </p:nvSpPr>
              <p:spPr bwMode="auto">
                <a:xfrm>
                  <a:off x="1617" y="1625"/>
                  <a:ext cx="240" cy="19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</p:grpSp>
        <p:grpSp>
          <p:nvGrpSpPr>
            <p:cNvPr id="337" name="Group 8"/>
            <p:cNvGrpSpPr>
              <a:grpSpLocks noChangeAspect="1"/>
            </p:cNvGrpSpPr>
            <p:nvPr/>
          </p:nvGrpSpPr>
          <p:grpSpPr bwMode="auto">
            <a:xfrm>
              <a:off x="1232" y="793"/>
              <a:ext cx="460" cy="1190"/>
              <a:chOff x="1440" y="672"/>
              <a:chExt cx="576" cy="1489"/>
            </a:xfrm>
          </p:grpSpPr>
          <p:sp>
            <p:nvSpPr>
              <p:cNvPr id="371" name="Line 9"/>
              <p:cNvSpPr>
                <a:spLocks noChangeAspect="1" noChangeShapeType="1"/>
              </p:cNvSpPr>
              <p:nvPr/>
            </p:nvSpPr>
            <p:spPr bwMode="auto">
              <a:xfrm>
                <a:off x="1440" y="672"/>
                <a:ext cx="0" cy="67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2" name="Line 10"/>
              <p:cNvSpPr>
                <a:spLocks noChangeAspect="1" noChangeShapeType="1"/>
              </p:cNvSpPr>
              <p:nvPr/>
            </p:nvSpPr>
            <p:spPr bwMode="auto">
              <a:xfrm>
                <a:off x="2016" y="672"/>
                <a:ext cx="0" cy="67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3" name="Line 11"/>
              <p:cNvSpPr>
                <a:spLocks noChangeAspect="1" noChangeShapeType="1"/>
              </p:cNvSpPr>
              <p:nvPr/>
            </p:nvSpPr>
            <p:spPr bwMode="auto">
              <a:xfrm>
                <a:off x="1440" y="1344"/>
                <a:ext cx="576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4" name="Freeform 12"/>
              <p:cNvSpPr>
                <a:spLocks noChangeAspect="1" noChangeArrowheads="1"/>
              </p:cNvSpPr>
              <p:nvPr/>
            </p:nvSpPr>
            <p:spPr bwMode="auto">
              <a:xfrm>
                <a:off x="1536" y="1392"/>
                <a:ext cx="399" cy="3"/>
              </a:xfrm>
              <a:custGeom>
                <a:avLst/>
                <a:gdLst>
                  <a:gd name="T0" fmla="*/ 0 w 399"/>
                  <a:gd name="T1" fmla="*/ 0 h 3"/>
                  <a:gd name="T2" fmla="*/ 399 w 399"/>
                  <a:gd name="T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99" h="3">
                    <a:moveTo>
                      <a:pt x="0" y="0"/>
                    </a:moveTo>
                    <a:lnTo>
                      <a:pt x="399" y="3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5" name="Line 13"/>
              <p:cNvSpPr>
                <a:spLocks noChangeAspect="1" noChangeShapeType="1"/>
              </p:cNvSpPr>
              <p:nvPr/>
            </p:nvSpPr>
            <p:spPr bwMode="auto">
              <a:xfrm>
                <a:off x="1536" y="1392"/>
                <a:ext cx="0" cy="7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6" name="Freeform 14"/>
              <p:cNvSpPr>
                <a:spLocks noChangeAspect="1" noChangeArrowheads="1"/>
              </p:cNvSpPr>
              <p:nvPr/>
            </p:nvSpPr>
            <p:spPr bwMode="auto">
              <a:xfrm>
                <a:off x="1935" y="1410"/>
                <a:ext cx="1" cy="751"/>
              </a:xfrm>
              <a:custGeom>
                <a:avLst/>
                <a:gdLst>
                  <a:gd name="T0" fmla="*/ 0 w 1"/>
                  <a:gd name="T1" fmla="*/ 0 h 751"/>
                  <a:gd name="T2" fmla="*/ 0 w 1"/>
                  <a:gd name="T3" fmla="*/ 751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751">
                    <a:moveTo>
                      <a:pt x="0" y="0"/>
                    </a:moveTo>
                    <a:lnTo>
                      <a:pt x="0" y="751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7" name="Line 15"/>
              <p:cNvSpPr>
                <a:spLocks noChangeAspect="1" noChangeShapeType="1"/>
              </p:cNvSpPr>
              <p:nvPr/>
            </p:nvSpPr>
            <p:spPr bwMode="auto">
              <a:xfrm>
                <a:off x="1440" y="1344"/>
                <a:ext cx="96" cy="55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8" name="Line 16"/>
              <p:cNvSpPr>
                <a:spLocks noChangeAspect="1" noChangeShapeType="1"/>
              </p:cNvSpPr>
              <p:nvPr/>
            </p:nvSpPr>
            <p:spPr bwMode="auto">
              <a:xfrm flipH="1">
                <a:off x="1920" y="1344"/>
                <a:ext cx="96" cy="55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38" name="Group 17"/>
            <p:cNvGrpSpPr>
              <a:grpSpLocks noChangeAspect="1"/>
            </p:cNvGrpSpPr>
            <p:nvPr/>
          </p:nvGrpSpPr>
          <p:grpSpPr bwMode="auto">
            <a:xfrm>
              <a:off x="727" y="793"/>
              <a:ext cx="1449" cy="1191"/>
              <a:chOff x="823" y="672"/>
              <a:chExt cx="1810" cy="1488"/>
            </a:xfrm>
          </p:grpSpPr>
          <p:sp>
            <p:nvSpPr>
              <p:cNvPr id="363" name="Line 18"/>
              <p:cNvSpPr>
                <a:spLocks noChangeAspect="1" noChangeShapeType="1"/>
              </p:cNvSpPr>
              <p:nvPr/>
            </p:nvSpPr>
            <p:spPr bwMode="auto">
              <a:xfrm>
                <a:off x="823" y="1968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4" name="Line 19"/>
              <p:cNvSpPr>
                <a:spLocks noChangeAspect="1" noChangeShapeType="1"/>
              </p:cNvSpPr>
              <p:nvPr/>
            </p:nvSpPr>
            <p:spPr bwMode="auto">
              <a:xfrm>
                <a:off x="988" y="1968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" name="Line 20"/>
              <p:cNvSpPr>
                <a:spLocks noChangeAspect="1" noChangeShapeType="1"/>
              </p:cNvSpPr>
              <p:nvPr/>
            </p:nvSpPr>
            <p:spPr bwMode="auto">
              <a:xfrm>
                <a:off x="2468" y="1968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6" name="Line 21"/>
              <p:cNvSpPr>
                <a:spLocks noChangeAspect="1" noChangeShapeType="1"/>
              </p:cNvSpPr>
              <p:nvPr/>
            </p:nvSpPr>
            <p:spPr bwMode="auto">
              <a:xfrm>
                <a:off x="2633" y="1968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7" name="Line 22"/>
              <p:cNvSpPr>
                <a:spLocks noChangeAspect="1" noChangeShapeType="1"/>
              </p:cNvSpPr>
              <p:nvPr/>
            </p:nvSpPr>
            <p:spPr bwMode="auto">
              <a:xfrm>
                <a:off x="1166" y="672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8" name="Line 23"/>
              <p:cNvSpPr>
                <a:spLocks noChangeAspect="1" noChangeShapeType="1"/>
              </p:cNvSpPr>
              <p:nvPr/>
            </p:nvSpPr>
            <p:spPr bwMode="auto">
              <a:xfrm>
                <a:off x="1296" y="672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9" name="Line 24"/>
              <p:cNvSpPr>
                <a:spLocks noChangeAspect="1" noChangeShapeType="1"/>
              </p:cNvSpPr>
              <p:nvPr/>
            </p:nvSpPr>
            <p:spPr bwMode="auto">
              <a:xfrm>
                <a:off x="2304" y="672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0" name="Line 25"/>
              <p:cNvSpPr>
                <a:spLocks noChangeAspect="1" noChangeShapeType="1"/>
              </p:cNvSpPr>
              <p:nvPr/>
            </p:nvSpPr>
            <p:spPr bwMode="auto">
              <a:xfrm>
                <a:off x="2160" y="672"/>
                <a:ext cx="0" cy="19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39" name="Group 26"/>
            <p:cNvGrpSpPr>
              <a:grpSpLocks noChangeAspect="1"/>
            </p:cNvGrpSpPr>
            <p:nvPr/>
          </p:nvGrpSpPr>
          <p:grpSpPr bwMode="auto">
            <a:xfrm>
              <a:off x="1457" y="735"/>
              <a:ext cx="816" cy="1279"/>
              <a:chOff x="1713" y="614"/>
              <a:chExt cx="1020" cy="1598"/>
            </a:xfrm>
          </p:grpSpPr>
          <p:sp>
            <p:nvSpPr>
              <p:cNvPr id="352" name="Freeform 27"/>
              <p:cNvSpPr>
                <a:spLocks noChangeAspect="1" noChangeArrowheads="1"/>
              </p:cNvSpPr>
              <p:nvPr/>
            </p:nvSpPr>
            <p:spPr bwMode="auto">
              <a:xfrm>
                <a:off x="1734" y="2153"/>
                <a:ext cx="999" cy="3"/>
              </a:xfrm>
              <a:custGeom>
                <a:avLst/>
                <a:gdLst>
                  <a:gd name="T0" fmla="*/ 999 w 999"/>
                  <a:gd name="T1" fmla="*/ 3 h 3"/>
                  <a:gd name="T2" fmla="*/ 0 w 999"/>
                  <a:gd name="T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99" h="3">
                    <a:moveTo>
                      <a:pt x="999" y="3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3" name="Freeform 28"/>
              <p:cNvSpPr>
                <a:spLocks noChangeAspect="1" noChangeArrowheads="1"/>
              </p:cNvSpPr>
              <p:nvPr/>
            </p:nvSpPr>
            <p:spPr bwMode="auto">
              <a:xfrm>
                <a:off x="1734" y="1958"/>
                <a:ext cx="999" cy="3"/>
              </a:xfrm>
              <a:custGeom>
                <a:avLst/>
                <a:gdLst>
                  <a:gd name="T0" fmla="*/ 999 w 999"/>
                  <a:gd name="T1" fmla="*/ 3 h 3"/>
                  <a:gd name="T2" fmla="*/ 0 w 999"/>
                  <a:gd name="T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99" h="3">
                    <a:moveTo>
                      <a:pt x="999" y="3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4" name="Freeform 29"/>
              <p:cNvSpPr>
                <a:spLocks noChangeAspect="1" noChangeArrowheads="1"/>
              </p:cNvSpPr>
              <p:nvPr/>
            </p:nvSpPr>
            <p:spPr bwMode="auto">
              <a:xfrm>
                <a:off x="1950" y="865"/>
                <a:ext cx="438" cy="4"/>
              </a:xfrm>
              <a:custGeom>
                <a:avLst/>
                <a:gdLst>
                  <a:gd name="T0" fmla="*/ 438 w 438"/>
                  <a:gd name="T1" fmla="*/ 0 h 4"/>
                  <a:gd name="T2" fmla="*/ 0 w 438"/>
                  <a:gd name="T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38" h="4">
                    <a:moveTo>
                      <a:pt x="438" y="0"/>
                    </a:moveTo>
                    <a:lnTo>
                      <a:pt x="0" y="4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5" name="Freeform 30"/>
              <p:cNvSpPr>
                <a:spLocks noChangeAspect="1" noChangeArrowheads="1"/>
              </p:cNvSpPr>
              <p:nvPr/>
            </p:nvSpPr>
            <p:spPr bwMode="auto">
              <a:xfrm>
                <a:off x="2386" y="667"/>
                <a:ext cx="2" cy="213"/>
              </a:xfrm>
              <a:custGeom>
                <a:avLst/>
                <a:gdLst>
                  <a:gd name="T0" fmla="*/ 2 w 2"/>
                  <a:gd name="T1" fmla="*/ 213 h 213"/>
                  <a:gd name="T2" fmla="*/ 0 w 2"/>
                  <a:gd name="T3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" h="213">
                    <a:moveTo>
                      <a:pt x="2" y="213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6" name="Freeform 31"/>
              <p:cNvSpPr>
                <a:spLocks noChangeAspect="1" noChangeArrowheads="1"/>
              </p:cNvSpPr>
              <p:nvPr/>
            </p:nvSpPr>
            <p:spPr bwMode="auto">
              <a:xfrm>
                <a:off x="1740" y="674"/>
                <a:ext cx="645" cy="1"/>
              </a:xfrm>
              <a:custGeom>
                <a:avLst/>
                <a:gdLst>
                  <a:gd name="T0" fmla="*/ 645 w 645"/>
                  <a:gd name="T1" fmla="*/ 0 h 1"/>
                  <a:gd name="T2" fmla="*/ 0 w 645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45" h="1">
                    <a:moveTo>
                      <a:pt x="645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7" name="Freeform 32"/>
              <p:cNvSpPr>
                <a:spLocks noChangeAspect="1" noChangeArrowheads="1"/>
              </p:cNvSpPr>
              <p:nvPr/>
            </p:nvSpPr>
            <p:spPr bwMode="auto">
              <a:xfrm>
                <a:off x="2133" y="865"/>
                <a:ext cx="1" cy="1111"/>
              </a:xfrm>
              <a:custGeom>
                <a:avLst/>
                <a:gdLst>
                  <a:gd name="T0" fmla="*/ 0 w 1"/>
                  <a:gd name="T1" fmla="*/ 1111 h 1111"/>
                  <a:gd name="T2" fmla="*/ 0 w 1"/>
                  <a:gd name="T3" fmla="*/ 0 h 1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111">
                    <a:moveTo>
                      <a:pt x="0" y="1111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8" name="Arc 33"/>
              <p:cNvSpPr>
                <a:spLocks noChangeAspect="1" noChangeArrowheads="1"/>
              </p:cNvSpPr>
              <p:nvPr/>
            </p:nvSpPr>
            <p:spPr bwMode="auto">
              <a:xfrm flipV="1">
                <a:off x="1713" y="1058"/>
                <a:ext cx="240" cy="192"/>
              </a:xfrm>
              <a:custGeom>
                <a:avLst/>
                <a:gdLst>
                  <a:gd name="T0" fmla="*/ 1346 w 21600"/>
                  <a:gd name="T1" fmla="*/ 0 h 21558"/>
                  <a:gd name="T2" fmla="*/ 21600 w 21600"/>
                  <a:gd name="T3" fmla="*/ 21558 h 21558"/>
                  <a:gd name="T4" fmla="*/ 1346 w 21600"/>
                  <a:gd name="T5" fmla="*/ 0 h 21558"/>
                  <a:gd name="T6" fmla="*/ 21600 w 21600"/>
                  <a:gd name="T7" fmla="*/ 21558 h 21558"/>
                  <a:gd name="T8" fmla="*/ 0 w 21600"/>
                  <a:gd name="T9" fmla="*/ 21558 h 21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600" h="21558" fill="none">
                    <a:moveTo>
                      <a:pt x="1346" y="0"/>
                    </a:moveTo>
                    <a:cubicBezTo>
                      <a:pt x="12731" y="711"/>
                      <a:pt x="21600" y="10151"/>
                      <a:pt x="21600" y="21558"/>
                    </a:cubicBezTo>
                  </a:path>
                  <a:path w="21600" h="21558" stroke="0">
                    <a:moveTo>
                      <a:pt x="1346" y="0"/>
                    </a:moveTo>
                    <a:cubicBezTo>
                      <a:pt x="12731" y="711"/>
                      <a:pt x="21600" y="10151"/>
                      <a:pt x="21600" y="21558"/>
                    </a:cubicBezTo>
                    <a:lnTo>
                      <a:pt x="0" y="21558"/>
                    </a:lnTo>
                    <a:close/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9" name="Freeform 34"/>
              <p:cNvSpPr>
                <a:spLocks noChangeAspect="1" noChangeArrowheads="1"/>
              </p:cNvSpPr>
              <p:nvPr/>
            </p:nvSpPr>
            <p:spPr bwMode="auto">
              <a:xfrm>
                <a:off x="1950" y="869"/>
                <a:ext cx="1" cy="210"/>
              </a:xfrm>
              <a:custGeom>
                <a:avLst/>
                <a:gdLst>
                  <a:gd name="T0" fmla="*/ 0 w 1"/>
                  <a:gd name="T1" fmla="*/ 210 h 210"/>
                  <a:gd name="T2" fmla="*/ 0 w 1"/>
                  <a:gd name="T3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210">
                    <a:moveTo>
                      <a:pt x="0" y="21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0" name="Freeform 35"/>
              <p:cNvSpPr>
                <a:spLocks noChangeAspect="1" noChangeArrowheads="1"/>
              </p:cNvSpPr>
              <p:nvPr/>
            </p:nvSpPr>
            <p:spPr bwMode="auto">
              <a:xfrm>
                <a:off x="2718" y="1976"/>
                <a:ext cx="1" cy="180"/>
              </a:xfrm>
              <a:custGeom>
                <a:avLst/>
                <a:gdLst>
                  <a:gd name="T0" fmla="*/ 0 w 1"/>
                  <a:gd name="T1" fmla="*/ 0 h 180"/>
                  <a:gd name="T2" fmla="*/ 0 w 1"/>
                  <a:gd name="T3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80">
                    <a:moveTo>
                      <a:pt x="0" y="0"/>
                    </a:moveTo>
                    <a:lnTo>
                      <a:pt x="0" y="18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1" name="Freeform 36"/>
              <p:cNvSpPr>
                <a:spLocks noChangeAspect="1" noChangeArrowheads="1"/>
              </p:cNvSpPr>
              <p:nvPr/>
            </p:nvSpPr>
            <p:spPr bwMode="auto">
              <a:xfrm>
                <a:off x="2544" y="1897"/>
                <a:ext cx="1" cy="315"/>
              </a:xfrm>
              <a:custGeom>
                <a:avLst/>
                <a:gdLst>
                  <a:gd name="T0" fmla="*/ 0 w 1"/>
                  <a:gd name="T1" fmla="*/ 0 h 315"/>
                  <a:gd name="T2" fmla="*/ 0 w 1"/>
                  <a:gd name="T3" fmla="*/ 315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15">
                    <a:moveTo>
                      <a:pt x="0" y="0"/>
                    </a:moveTo>
                    <a:lnTo>
                      <a:pt x="0" y="315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2" name="Freeform 37"/>
              <p:cNvSpPr>
                <a:spLocks noChangeAspect="1" noChangeArrowheads="1"/>
              </p:cNvSpPr>
              <p:nvPr/>
            </p:nvSpPr>
            <p:spPr bwMode="auto">
              <a:xfrm>
                <a:off x="2235" y="614"/>
                <a:ext cx="1" cy="300"/>
              </a:xfrm>
              <a:custGeom>
                <a:avLst/>
                <a:gdLst>
                  <a:gd name="T0" fmla="*/ 0 w 1"/>
                  <a:gd name="T1" fmla="*/ 300 h 300"/>
                  <a:gd name="T2" fmla="*/ 0 w 1"/>
                  <a:gd name="T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00">
                    <a:moveTo>
                      <a:pt x="0" y="300"/>
                    </a:move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340" name="Group 38"/>
            <p:cNvGrpSpPr>
              <a:grpSpLocks noChangeAspect="1"/>
            </p:cNvGrpSpPr>
            <p:nvPr/>
          </p:nvGrpSpPr>
          <p:grpSpPr bwMode="auto">
            <a:xfrm>
              <a:off x="670" y="720"/>
              <a:ext cx="809" cy="1310"/>
              <a:chOff x="750" y="810"/>
              <a:chExt cx="1011" cy="1636"/>
            </a:xfrm>
          </p:grpSpPr>
          <p:sp>
            <p:nvSpPr>
              <p:cNvPr id="341" name="Freeform 39"/>
              <p:cNvSpPr>
                <a:spLocks noChangeAspect="1" noChangeArrowheads="1"/>
              </p:cNvSpPr>
              <p:nvPr/>
            </p:nvSpPr>
            <p:spPr bwMode="auto">
              <a:xfrm>
                <a:off x="900" y="2101"/>
                <a:ext cx="1" cy="345"/>
              </a:xfrm>
              <a:custGeom>
                <a:avLst/>
                <a:gdLst>
                  <a:gd name="T0" fmla="*/ 0 w 1"/>
                  <a:gd name="T1" fmla="*/ 0 h 345"/>
                  <a:gd name="T2" fmla="*/ 0 w 1"/>
                  <a:gd name="T3" fmla="*/ 345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45">
                    <a:moveTo>
                      <a:pt x="0" y="0"/>
                    </a:moveTo>
                    <a:lnTo>
                      <a:pt x="0" y="345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2" name="Freeform 40"/>
              <p:cNvSpPr>
                <a:spLocks noChangeAspect="1" noChangeArrowheads="1"/>
              </p:cNvSpPr>
              <p:nvPr/>
            </p:nvSpPr>
            <p:spPr bwMode="auto">
              <a:xfrm>
                <a:off x="750" y="2364"/>
                <a:ext cx="990" cy="3"/>
              </a:xfrm>
              <a:custGeom>
                <a:avLst/>
                <a:gdLst>
                  <a:gd name="T0" fmla="*/ 0 w 990"/>
                  <a:gd name="T1" fmla="*/ 3 h 3"/>
                  <a:gd name="T2" fmla="*/ 990 w 990"/>
                  <a:gd name="T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90" h="3">
                    <a:moveTo>
                      <a:pt x="0" y="3"/>
                    </a:moveTo>
                    <a:lnTo>
                      <a:pt x="99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3" name="Freeform 41"/>
              <p:cNvSpPr>
                <a:spLocks noChangeAspect="1" noChangeArrowheads="1"/>
              </p:cNvSpPr>
              <p:nvPr/>
            </p:nvSpPr>
            <p:spPr bwMode="auto">
              <a:xfrm>
                <a:off x="750" y="2169"/>
                <a:ext cx="990" cy="3"/>
              </a:xfrm>
              <a:custGeom>
                <a:avLst/>
                <a:gdLst>
                  <a:gd name="T0" fmla="*/ 0 w 990"/>
                  <a:gd name="T1" fmla="*/ 3 h 3"/>
                  <a:gd name="T2" fmla="*/ 990 w 990"/>
                  <a:gd name="T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90" h="3">
                    <a:moveTo>
                      <a:pt x="0" y="3"/>
                    </a:moveTo>
                    <a:lnTo>
                      <a:pt x="99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4" name="Freeform 42"/>
              <p:cNvSpPr>
                <a:spLocks noChangeAspect="1" noChangeArrowheads="1"/>
              </p:cNvSpPr>
              <p:nvPr/>
            </p:nvSpPr>
            <p:spPr bwMode="auto">
              <a:xfrm>
                <a:off x="1095" y="1080"/>
                <a:ext cx="420" cy="1"/>
              </a:xfrm>
              <a:custGeom>
                <a:avLst/>
                <a:gdLst>
                  <a:gd name="T0" fmla="*/ 0 w 420"/>
                  <a:gd name="T1" fmla="*/ 0 h 1"/>
                  <a:gd name="T2" fmla="*/ 225 w 420"/>
                  <a:gd name="T3" fmla="*/ 0 h 1"/>
                  <a:gd name="T4" fmla="*/ 420 w 420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0" h="1">
                    <a:moveTo>
                      <a:pt x="0" y="0"/>
                    </a:moveTo>
                    <a:lnTo>
                      <a:pt x="225" y="0"/>
                    </a:lnTo>
                    <a:lnTo>
                      <a:pt x="42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5" name="Freeform 43"/>
              <p:cNvSpPr>
                <a:spLocks noChangeAspect="1" noChangeArrowheads="1"/>
              </p:cNvSpPr>
              <p:nvPr/>
            </p:nvSpPr>
            <p:spPr bwMode="auto">
              <a:xfrm>
                <a:off x="1095" y="885"/>
                <a:ext cx="1" cy="195"/>
              </a:xfrm>
              <a:custGeom>
                <a:avLst/>
                <a:gdLst>
                  <a:gd name="T0" fmla="*/ 0 w 1"/>
                  <a:gd name="T1" fmla="*/ 195 h 195"/>
                  <a:gd name="T2" fmla="*/ 0 w 1"/>
                  <a:gd name="T3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95">
                    <a:moveTo>
                      <a:pt x="0" y="195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6" name="Freeform 44"/>
              <p:cNvSpPr>
                <a:spLocks noChangeAspect="1" noChangeArrowheads="1"/>
              </p:cNvSpPr>
              <p:nvPr/>
            </p:nvSpPr>
            <p:spPr bwMode="auto">
              <a:xfrm>
                <a:off x="1095" y="881"/>
                <a:ext cx="645" cy="4"/>
              </a:xfrm>
              <a:custGeom>
                <a:avLst/>
                <a:gdLst>
                  <a:gd name="T0" fmla="*/ 0 w 645"/>
                  <a:gd name="T1" fmla="*/ 4 h 4"/>
                  <a:gd name="T2" fmla="*/ 645 w 645"/>
                  <a:gd name="T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45" h="4">
                    <a:moveTo>
                      <a:pt x="0" y="4"/>
                    </a:moveTo>
                    <a:lnTo>
                      <a:pt x="64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7" name="Freeform 45"/>
              <p:cNvSpPr>
                <a:spLocks noChangeAspect="1" noChangeArrowheads="1"/>
              </p:cNvSpPr>
              <p:nvPr/>
            </p:nvSpPr>
            <p:spPr bwMode="auto">
              <a:xfrm>
                <a:off x="1335" y="1080"/>
                <a:ext cx="1" cy="1096"/>
              </a:xfrm>
              <a:custGeom>
                <a:avLst/>
                <a:gdLst>
                  <a:gd name="T0" fmla="*/ 0 w 1"/>
                  <a:gd name="T1" fmla="*/ 1096 h 1096"/>
                  <a:gd name="T2" fmla="*/ 0 w 1"/>
                  <a:gd name="T3" fmla="*/ 0 h 10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096">
                    <a:moveTo>
                      <a:pt x="0" y="1096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8" name="Arc 46"/>
              <p:cNvSpPr>
                <a:spLocks noChangeAspect="1" noChangeArrowheads="1"/>
              </p:cNvSpPr>
              <p:nvPr/>
            </p:nvSpPr>
            <p:spPr bwMode="auto">
              <a:xfrm flipH="1" flipV="1">
                <a:off x="1521" y="1269"/>
                <a:ext cx="240" cy="192"/>
              </a:xfrm>
              <a:custGeom>
                <a:avLst/>
                <a:gdLst>
                  <a:gd name="T0" fmla="*/ 1346 w 21600"/>
                  <a:gd name="T1" fmla="*/ 0 h 21558"/>
                  <a:gd name="T2" fmla="*/ 21600 w 21600"/>
                  <a:gd name="T3" fmla="*/ 21558 h 21558"/>
                  <a:gd name="T4" fmla="*/ 1346 w 21600"/>
                  <a:gd name="T5" fmla="*/ 0 h 21558"/>
                  <a:gd name="T6" fmla="*/ 21600 w 21600"/>
                  <a:gd name="T7" fmla="*/ 21558 h 21558"/>
                  <a:gd name="T8" fmla="*/ 0 w 21600"/>
                  <a:gd name="T9" fmla="*/ 21558 h 21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600" h="21558" fill="none">
                    <a:moveTo>
                      <a:pt x="1346" y="0"/>
                    </a:moveTo>
                    <a:cubicBezTo>
                      <a:pt x="12731" y="711"/>
                      <a:pt x="21600" y="10151"/>
                      <a:pt x="21600" y="21558"/>
                    </a:cubicBezTo>
                  </a:path>
                  <a:path w="21600" h="21558" stroke="0">
                    <a:moveTo>
                      <a:pt x="1346" y="0"/>
                    </a:moveTo>
                    <a:cubicBezTo>
                      <a:pt x="12731" y="711"/>
                      <a:pt x="21600" y="10151"/>
                      <a:pt x="21600" y="21558"/>
                    </a:cubicBezTo>
                    <a:lnTo>
                      <a:pt x="0" y="21558"/>
                    </a:lnTo>
                    <a:close/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9" name="Freeform 47"/>
              <p:cNvSpPr>
                <a:spLocks noChangeAspect="1" noChangeArrowheads="1"/>
              </p:cNvSpPr>
              <p:nvPr/>
            </p:nvSpPr>
            <p:spPr bwMode="auto">
              <a:xfrm>
                <a:off x="1515" y="1080"/>
                <a:ext cx="1" cy="210"/>
              </a:xfrm>
              <a:custGeom>
                <a:avLst/>
                <a:gdLst>
                  <a:gd name="T0" fmla="*/ 0 w 1"/>
                  <a:gd name="T1" fmla="*/ 210 h 210"/>
                  <a:gd name="T2" fmla="*/ 0 w 1"/>
                  <a:gd name="T3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210">
                    <a:moveTo>
                      <a:pt x="0" y="21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0" name="Line 48"/>
              <p:cNvSpPr>
                <a:spLocks noChangeAspect="1" noChangeShapeType="1"/>
              </p:cNvSpPr>
              <p:nvPr/>
            </p:nvSpPr>
            <p:spPr bwMode="auto">
              <a:xfrm>
                <a:off x="753" y="2174"/>
                <a:ext cx="0" cy="19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1" name="Freeform 49"/>
              <p:cNvSpPr>
                <a:spLocks noChangeAspect="1" noChangeArrowheads="1"/>
              </p:cNvSpPr>
              <p:nvPr/>
            </p:nvSpPr>
            <p:spPr bwMode="auto">
              <a:xfrm>
                <a:off x="1230" y="810"/>
                <a:ext cx="1" cy="345"/>
              </a:xfrm>
              <a:custGeom>
                <a:avLst/>
                <a:gdLst>
                  <a:gd name="T0" fmla="*/ 0 w 1"/>
                  <a:gd name="T1" fmla="*/ 345 h 345"/>
                  <a:gd name="T2" fmla="*/ 0 w 1"/>
                  <a:gd name="T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45">
                    <a:moveTo>
                      <a:pt x="0" y="345"/>
                    </a:move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grpSp>
        <p:nvGrpSpPr>
          <p:cNvPr id="383" name="Group 50"/>
          <p:cNvGrpSpPr>
            <a:grpSpLocks noChangeAspect="1"/>
          </p:cNvGrpSpPr>
          <p:nvPr/>
        </p:nvGrpSpPr>
        <p:grpSpPr bwMode="auto">
          <a:xfrm>
            <a:off x="2247178" y="1629569"/>
            <a:ext cx="2060575" cy="396875"/>
            <a:chOff x="714" y="996"/>
            <a:chExt cx="1622" cy="312"/>
          </a:xfrm>
        </p:grpSpPr>
        <p:sp>
          <p:nvSpPr>
            <p:cNvPr id="384" name="Text Box 51"/>
            <p:cNvSpPr txBox="1">
              <a:spLocks noChangeAspect="1" noChangeArrowheads="1"/>
            </p:cNvSpPr>
            <p:nvPr/>
          </p:nvSpPr>
          <p:spPr bwMode="auto">
            <a:xfrm>
              <a:off x="714" y="996"/>
              <a:ext cx="278" cy="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2000" i="1">
                  <a:latin typeface="Times New Roman" panose="02020603050405020304" pitchFamily="18" charset="0"/>
                </a:rPr>
                <a:t>B</a:t>
              </a:r>
            </a:p>
          </p:txBody>
        </p:sp>
        <p:sp>
          <p:nvSpPr>
            <p:cNvPr id="385" name="Text Box 52"/>
            <p:cNvSpPr txBox="1">
              <a:spLocks noChangeAspect="1" noChangeArrowheads="1"/>
            </p:cNvSpPr>
            <p:nvPr/>
          </p:nvSpPr>
          <p:spPr bwMode="auto">
            <a:xfrm>
              <a:off x="2058" y="996"/>
              <a:ext cx="278" cy="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2000" i="1">
                  <a:latin typeface="Times New Roman" panose="02020603050405020304" pitchFamily="18" charset="0"/>
                </a:rPr>
                <a:t>B</a:t>
              </a:r>
            </a:p>
          </p:txBody>
        </p:sp>
      </p:grpSp>
      <p:grpSp>
        <p:nvGrpSpPr>
          <p:cNvPr id="386" name="Group 53"/>
          <p:cNvGrpSpPr>
            <a:grpSpLocks noChangeAspect="1"/>
          </p:cNvGrpSpPr>
          <p:nvPr/>
        </p:nvGrpSpPr>
        <p:grpSpPr bwMode="auto">
          <a:xfrm>
            <a:off x="1945553" y="3747294"/>
            <a:ext cx="2800350" cy="1695450"/>
            <a:chOff x="675" y="2265"/>
            <a:chExt cx="2205" cy="1335"/>
          </a:xfrm>
        </p:grpSpPr>
        <p:grpSp>
          <p:nvGrpSpPr>
            <p:cNvPr id="387" name="Group 54"/>
            <p:cNvGrpSpPr>
              <a:grpSpLocks noChangeAspect="1"/>
            </p:cNvGrpSpPr>
            <p:nvPr/>
          </p:nvGrpSpPr>
          <p:grpSpPr bwMode="auto">
            <a:xfrm>
              <a:off x="675" y="2265"/>
              <a:ext cx="2205" cy="1335"/>
              <a:chOff x="675" y="2265"/>
              <a:chExt cx="2205" cy="1335"/>
            </a:xfrm>
          </p:grpSpPr>
          <p:sp>
            <p:nvSpPr>
              <p:cNvPr id="392" name="AutoShape 55"/>
              <p:cNvSpPr>
                <a:spLocks noChangeAspect="1" noChangeArrowheads="1"/>
              </p:cNvSpPr>
              <p:nvPr/>
            </p:nvSpPr>
            <p:spPr bwMode="auto">
              <a:xfrm>
                <a:off x="756" y="2354"/>
                <a:ext cx="1965" cy="1152"/>
              </a:xfrm>
              <a:prstGeom prst="roundRect">
                <a:avLst>
                  <a:gd name="adj" fmla="val 13542"/>
                </a:avLst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3" name="AutoShape 56"/>
              <p:cNvSpPr>
                <a:spLocks noChangeAspect="1" noChangeArrowheads="1"/>
              </p:cNvSpPr>
              <p:nvPr/>
            </p:nvSpPr>
            <p:spPr bwMode="auto">
              <a:xfrm>
                <a:off x="1089" y="2494"/>
                <a:ext cx="1296" cy="872"/>
              </a:xfrm>
              <a:prstGeom prst="roundRect">
                <a:avLst>
                  <a:gd name="adj" fmla="val 16667"/>
                </a:avLst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394" name="Group 57"/>
              <p:cNvGrpSpPr>
                <a:grpSpLocks noChangeAspect="1"/>
              </p:cNvGrpSpPr>
              <p:nvPr/>
            </p:nvGrpSpPr>
            <p:grpSpPr bwMode="auto">
              <a:xfrm>
                <a:off x="675" y="2265"/>
                <a:ext cx="2205" cy="1335"/>
                <a:chOff x="675" y="2265"/>
                <a:chExt cx="2205" cy="1335"/>
              </a:xfrm>
            </p:grpSpPr>
            <p:sp>
              <p:nvSpPr>
                <p:cNvPr id="395" name="Freeform 58"/>
                <p:cNvSpPr>
                  <a:spLocks noChangeAspect="1" noChangeArrowheads="1"/>
                </p:cNvSpPr>
                <p:nvPr/>
              </p:nvSpPr>
              <p:spPr bwMode="auto">
                <a:xfrm>
                  <a:off x="675" y="2925"/>
                  <a:ext cx="2205" cy="1"/>
                </a:xfrm>
                <a:custGeom>
                  <a:avLst/>
                  <a:gdLst>
                    <a:gd name="T0" fmla="*/ 0 w 2205"/>
                    <a:gd name="T1" fmla="*/ 0 h 1"/>
                    <a:gd name="T2" fmla="*/ 2205 w 2205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2205" h="1">
                      <a:moveTo>
                        <a:pt x="0" y="0"/>
                      </a:moveTo>
                      <a:lnTo>
                        <a:pt x="2205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96" name="Freeform 59"/>
                <p:cNvSpPr>
                  <a:spLocks noChangeAspect="1" noChangeArrowheads="1"/>
                </p:cNvSpPr>
                <p:nvPr/>
              </p:nvSpPr>
              <p:spPr bwMode="auto">
                <a:xfrm>
                  <a:off x="1740" y="2265"/>
                  <a:ext cx="1" cy="1335"/>
                </a:xfrm>
                <a:custGeom>
                  <a:avLst/>
                  <a:gdLst>
                    <a:gd name="T0" fmla="*/ 0 w 1"/>
                    <a:gd name="T1" fmla="*/ 0 h 1335"/>
                    <a:gd name="T2" fmla="*/ 0 w 1"/>
                    <a:gd name="T3" fmla="*/ 1335 h 13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335">
                      <a:moveTo>
                        <a:pt x="0" y="0"/>
                      </a:moveTo>
                      <a:lnTo>
                        <a:pt x="0" y="1335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97" name="Oval 60"/>
                <p:cNvSpPr>
                  <a:spLocks noChangeAspect="1" noChangeArrowheads="1"/>
                </p:cNvSpPr>
                <p:nvPr/>
              </p:nvSpPr>
              <p:spPr bwMode="auto">
                <a:xfrm>
                  <a:off x="1329" y="2546"/>
                  <a:ext cx="816" cy="768"/>
                </a:xfrm>
                <a:prstGeom prst="ellipse">
                  <a:avLst/>
                </a:pr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98" name="Oval 61"/>
                <p:cNvSpPr>
                  <a:spLocks noChangeAspect="1" noChangeArrowheads="1"/>
                </p:cNvSpPr>
                <p:nvPr/>
              </p:nvSpPr>
              <p:spPr bwMode="auto">
                <a:xfrm>
                  <a:off x="1473" y="2690"/>
                  <a:ext cx="528" cy="480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99" name="Oval 62"/>
                <p:cNvSpPr>
                  <a:spLocks noChangeAspect="1" noChangeArrowheads="1"/>
                </p:cNvSpPr>
                <p:nvPr/>
              </p:nvSpPr>
              <p:spPr bwMode="auto">
                <a:xfrm>
                  <a:off x="1521" y="2738"/>
                  <a:ext cx="432" cy="384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00" name="Line 63"/>
                <p:cNvSpPr>
                  <a:spLocks noChangeAspect="1" noChangeShapeType="1"/>
                </p:cNvSpPr>
                <p:nvPr/>
              </p:nvSpPr>
              <p:spPr bwMode="auto">
                <a:xfrm>
                  <a:off x="1953" y="3266"/>
                  <a:ext cx="0" cy="9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1" name="Line 64"/>
                <p:cNvSpPr>
                  <a:spLocks noChangeAspect="1" noChangeShapeType="1"/>
                </p:cNvSpPr>
                <p:nvPr/>
              </p:nvSpPr>
              <p:spPr bwMode="auto">
                <a:xfrm>
                  <a:off x="1521" y="3266"/>
                  <a:ext cx="0" cy="9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2" name="Line 65"/>
                <p:cNvSpPr>
                  <a:spLocks noChangeAspect="1" noChangeShapeType="1"/>
                </p:cNvSpPr>
                <p:nvPr/>
              </p:nvSpPr>
              <p:spPr bwMode="auto">
                <a:xfrm>
                  <a:off x="1617" y="3170"/>
                  <a:ext cx="0" cy="19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3" name="Line 66"/>
                <p:cNvSpPr>
                  <a:spLocks noChangeAspect="1" noChangeShapeType="1"/>
                </p:cNvSpPr>
                <p:nvPr/>
              </p:nvSpPr>
              <p:spPr bwMode="auto">
                <a:xfrm>
                  <a:off x="1857" y="3170"/>
                  <a:ext cx="0" cy="19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404" name="Group 67"/>
                <p:cNvGrpSpPr>
                  <a:grpSpLocks noChangeAspect="1"/>
                </p:cNvGrpSpPr>
                <p:nvPr/>
              </p:nvGrpSpPr>
              <p:grpSpPr bwMode="auto">
                <a:xfrm>
                  <a:off x="777" y="3243"/>
                  <a:ext cx="282" cy="242"/>
                  <a:chOff x="3795" y="2688"/>
                  <a:chExt cx="285" cy="288"/>
                </a:xfrm>
              </p:grpSpPr>
              <p:sp>
                <p:nvSpPr>
                  <p:cNvPr id="433" name="Line 68"/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936" y="2688"/>
                    <a:ext cx="0" cy="288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4" name="Freeform 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5" y="2833"/>
                    <a:ext cx="285" cy="3"/>
                  </a:xfrm>
                  <a:custGeom>
                    <a:avLst/>
                    <a:gdLst>
                      <a:gd name="T0" fmla="*/ 0 w 285"/>
                      <a:gd name="T1" fmla="*/ 3 h 3"/>
                      <a:gd name="T2" fmla="*/ 285 w 285"/>
                      <a:gd name="T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85" h="3">
                        <a:moveTo>
                          <a:pt x="0" y="3"/>
                        </a:moveTo>
                        <a:lnTo>
                          <a:pt x="28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35" name="Oval 70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40" y="2736"/>
                    <a:ext cx="192" cy="192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05" name="Group 71"/>
                <p:cNvGrpSpPr>
                  <a:grpSpLocks noChangeAspect="1"/>
                </p:cNvGrpSpPr>
                <p:nvPr/>
              </p:nvGrpSpPr>
              <p:grpSpPr bwMode="auto">
                <a:xfrm>
                  <a:off x="777" y="2381"/>
                  <a:ext cx="282" cy="261"/>
                  <a:chOff x="3795" y="2688"/>
                  <a:chExt cx="285" cy="288"/>
                </a:xfrm>
              </p:grpSpPr>
              <p:sp>
                <p:nvSpPr>
                  <p:cNvPr id="430" name="Line 72"/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936" y="2688"/>
                    <a:ext cx="0" cy="288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1" name="Freeform 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5" y="2833"/>
                    <a:ext cx="285" cy="3"/>
                  </a:xfrm>
                  <a:custGeom>
                    <a:avLst/>
                    <a:gdLst>
                      <a:gd name="T0" fmla="*/ 0 w 285"/>
                      <a:gd name="T1" fmla="*/ 3 h 3"/>
                      <a:gd name="T2" fmla="*/ 285 w 285"/>
                      <a:gd name="T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85" h="3">
                        <a:moveTo>
                          <a:pt x="0" y="3"/>
                        </a:moveTo>
                        <a:lnTo>
                          <a:pt x="28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32" name="Oval 74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40" y="2736"/>
                    <a:ext cx="192" cy="192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06" name="Group 75"/>
                <p:cNvGrpSpPr>
                  <a:grpSpLocks noChangeAspect="1"/>
                </p:cNvGrpSpPr>
                <p:nvPr/>
              </p:nvGrpSpPr>
              <p:grpSpPr bwMode="auto">
                <a:xfrm>
                  <a:off x="2405" y="3222"/>
                  <a:ext cx="285" cy="263"/>
                  <a:chOff x="3795" y="2688"/>
                  <a:chExt cx="285" cy="288"/>
                </a:xfrm>
              </p:grpSpPr>
              <p:sp>
                <p:nvSpPr>
                  <p:cNvPr id="427" name="Line 76"/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936" y="2688"/>
                    <a:ext cx="0" cy="288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8" name="Freeform 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5" y="2833"/>
                    <a:ext cx="285" cy="3"/>
                  </a:xfrm>
                  <a:custGeom>
                    <a:avLst/>
                    <a:gdLst>
                      <a:gd name="T0" fmla="*/ 0 w 285"/>
                      <a:gd name="T1" fmla="*/ 3 h 3"/>
                      <a:gd name="T2" fmla="*/ 285 w 285"/>
                      <a:gd name="T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85" h="3">
                        <a:moveTo>
                          <a:pt x="0" y="3"/>
                        </a:moveTo>
                        <a:lnTo>
                          <a:pt x="28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29" name="Oval 78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40" y="2736"/>
                    <a:ext cx="192" cy="192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07" name="Group 79"/>
                <p:cNvGrpSpPr>
                  <a:grpSpLocks noChangeAspect="1"/>
                </p:cNvGrpSpPr>
                <p:nvPr/>
              </p:nvGrpSpPr>
              <p:grpSpPr bwMode="auto">
                <a:xfrm>
                  <a:off x="2390" y="2381"/>
                  <a:ext cx="300" cy="255"/>
                  <a:chOff x="3795" y="2688"/>
                  <a:chExt cx="285" cy="288"/>
                </a:xfrm>
              </p:grpSpPr>
              <p:sp>
                <p:nvSpPr>
                  <p:cNvPr id="424" name="Line 80"/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3936" y="2688"/>
                    <a:ext cx="0" cy="288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5" name="Freeform 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5" y="2833"/>
                    <a:ext cx="285" cy="3"/>
                  </a:xfrm>
                  <a:custGeom>
                    <a:avLst/>
                    <a:gdLst>
                      <a:gd name="T0" fmla="*/ 0 w 285"/>
                      <a:gd name="T1" fmla="*/ 3 h 3"/>
                      <a:gd name="T2" fmla="*/ 285 w 285"/>
                      <a:gd name="T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85" h="3">
                        <a:moveTo>
                          <a:pt x="0" y="3"/>
                        </a:moveTo>
                        <a:lnTo>
                          <a:pt x="28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26" name="Oval 82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40" y="2736"/>
                    <a:ext cx="192" cy="192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08" name="Group 83"/>
                <p:cNvGrpSpPr>
                  <a:grpSpLocks noChangeAspect="1"/>
                </p:cNvGrpSpPr>
                <p:nvPr/>
              </p:nvGrpSpPr>
              <p:grpSpPr bwMode="auto">
                <a:xfrm>
                  <a:off x="1103" y="3108"/>
                  <a:ext cx="269" cy="242"/>
                  <a:chOff x="3825" y="2746"/>
                  <a:chExt cx="255" cy="255"/>
                </a:xfrm>
              </p:grpSpPr>
              <p:sp>
                <p:nvSpPr>
                  <p:cNvPr id="421" name="Freeform 8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60" y="2746"/>
                    <a:ext cx="1" cy="255"/>
                  </a:xfrm>
                  <a:custGeom>
                    <a:avLst/>
                    <a:gdLst>
                      <a:gd name="T0" fmla="*/ 0 w 1"/>
                      <a:gd name="T1" fmla="*/ 0 h 255"/>
                      <a:gd name="T2" fmla="*/ 0 w 1"/>
                      <a:gd name="T3" fmla="*/ 255 h 2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255">
                        <a:moveTo>
                          <a:pt x="0" y="0"/>
                        </a:moveTo>
                        <a:lnTo>
                          <a:pt x="0" y="255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22" name="Freeform 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25" y="2851"/>
                    <a:ext cx="255" cy="1"/>
                  </a:xfrm>
                  <a:custGeom>
                    <a:avLst/>
                    <a:gdLst>
                      <a:gd name="T0" fmla="*/ 0 w 255"/>
                      <a:gd name="T1" fmla="*/ 0 h 1"/>
                      <a:gd name="T2" fmla="*/ 255 w 255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55" h="1">
                        <a:moveTo>
                          <a:pt x="0" y="0"/>
                        </a:moveTo>
                        <a:lnTo>
                          <a:pt x="25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23" name="Oval 86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88" y="2784"/>
                    <a:ext cx="144" cy="144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09" name="Group 87"/>
                <p:cNvGrpSpPr>
                  <a:grpSpLocks noChangeAspect="1"/>
                </p:cNvGrpSpPr>
                <p:nvPr/>
              </p:nvGrpSpPr>
              <p:grpSpPr bwMode="auto">
                <a:xfrm>
                  <a:off x="1117" y="2544"/>
                  <a:ext cx="255" cy="227"/>
                  <a:chOff x="3825" y="2746"/>
                  <a:chExt cx="255" cy="255"/>
                </a:xfrm>
              </p:grpSpPr>
              <p:sp>
                <p:nvSpPr>
                  <p:cNvPr id="418" name="Freeform 8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60" y="2746"/>
                    <a:ext cx="1" cy="255"/>
                  </a:xfrm>
                  <a:custGeom>
                    <a:avLst/>
                    <a:gdLst>
                      <a:gd name="T0" fmla="*/ 0 w 1"/>
                      <a:gd name="T1" fmla="*/ 0 h 255"/>
                      <a:gd name="T2" fmla="*/ 0 w 1"/>
                      <a:gd name="T3" fmla="*/ 255 h 2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255">
                        <a:moveTo>
                          <a:pt x="0" y="0"/>
                        </a:moveTo>
                        <a:lnTo>
                          <a:pt x="0" y="255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19" name="Freeform 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25" y="2851"/>
                    <a:ext cx="255" cy="1"/>
                  </a:xfrm>
                  <a:custGeom>
                    <a:avLst/>
                    <a:gdLst>
                      <a:gd name="T0" fmla="*/ 0 w 255"/>
                      <a:gd name="T1" fmla="*/ 0 h 1"/>
                      <a:gd name="T2" fmla="*/ 255 w 255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55" h="1">
                        <a:moveTo>
                          <a:pt x="0" y="0"/>
                        </a:moveTo>
                        <a:lnTo>
                          <a:pt x="25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20" name="Oval 90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88" y="2784"/>
                    <a:ext cx="144" cy="144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10" name="Group 91"/>
                <p:cNvGrpSpPr>
                  <a:grpSpLocks noChangeAspect="1"/>
                </p:cNvGrpSpPr>
                <p:nvPr/>
              </p:nvGrpSpPr>
              <p:grpSpPr bwMode="auto">
                <a:xfrm>
                  <a:off x="2076" y="3122"/>
                  <a:ext cx="255" cy="242"/>
                  <a:chOff x="3825" y="2746"/>
                  <a:chExt cx="255" cy="255"/>
                </a:xfrm>
              </p:grpSpPr>
              <p:sp>
                <p:nvSpPr>
                  <p:cNvPr id="415" name="Freeform 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60" y="2746"/>
                    <a:ext cx="1" cy="255"/>
                  </a:xfrm>
                  <a:custGeom>
                    <a:avLst/>
                    <a:gdLst>
                      <a:gd name="T0" fmla="*/ 0 w 1"/>
                      <a:gd name="T1" fmla="*/ 0 h 255"/>
                      <a:gd name="T2" fmla="*/ 0 w 1"/>
                      <a:gd name="T3" fmla="*/ 255 h 2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255">
                        <a:moveTo>
                          <a:pt x="0" y="0"/>
                        </a:moveTo>
                        <a:lnTo>
                          <a:pt x="0" y="255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16" name="Freeform 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25" y="2851"/>
                    <a:ext cx="255" cy="1"/>
                  </a:xfrm>
                  <a:custGeom>
                    <a:avLst/>
                    <a:gdLst>
                      <a:gd name="T0" fmla="*/ 0 w 255"/>
                      <a:gd name="T1" fmla="*/ 0 h 1"/>
                      <a:gd name="T2" fmla="*/ 255 w 255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55" h="1">
                        <a:moveTo>
                          <a:pt x="0" y="0"/>
                        </a:moveTo>
                        <a:lnTo>
                          <a:pt x="25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17" name="Oval 94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88" y="2784"/>
                    <a:ext cx="144" cy="144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11" name="Group 95"/>
                <p:cNvGrpSpPr>
                  <a:grpSpLocks noChangeAspect="1"/>
                </p:cNvGrpSpPr>
                <p:nvPr/>
              </p:nvGrpSpPr>
              <p:grpSpPr bwMode="auto">
                <a:xfrm>
                  <a:off x="2083" y="2544"/>
                  <a:ext cx="255" cy="227"/>
                  <a:chOff x="3825" y="2746"/>
                  <a:chExt cx="255" cy="255"/>
                </a:xfrm>
              </p:grpSpPr>
              <p:sp>
                <p:nvSpPr>
                  <p:cNvPr id="412" name="Freeform 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60" y="2746"/>
                    <a:ext cx="1" cy="255"/>
                  </a:xfrm>
                  <a:custGeom>
                    <a:avLst/>
                    <a:gdLst>
                      <a:gd name="T0" fmla="*/ 0 w 1"/>
                      <a:gd name="T1" fmla="*/ 0 h 255"/>
                      <a:gd name="T2" fmla="*/ 0 w 1"/>
                      <a:gd name="T3" fmla="*/ 255 h 2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255">
                        <a:moveTo>
                          <a:pt x="0" y="0"/>
                        </a:moveTo>
                        <a:lnTo>
                          <a:pt x="0" y="255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13" name="Freeform 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25" y="2851"/>
                    <a:ext cx="255" cy="1"/>
                  </a:xfrm>
                  <a:custGeom>
                    <a:avLst/>
                    <a:gdLst>
                      <a:gd name="T0" fmla="*/ 0 w 255"/>
                      <a:gd name="T1" fmla="*/ 0 h 1"/>
                      <a:gd name="T2" fmla="*/ 255 w 255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55" h="1">
                        <a:moveTo>
                          <a:pt x="0" y="0"/>
                        </a:moveTo>
                        <a:lnTo>
                          <a:pt x="255" y="0"/>
                        </a:lnTo>
                      </a:path>
                    </a:pathLst>
                  </a:cu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14" name="Oval 98"/>
                  <p:cNvSpPr>
                    <a:spLocks noChangeAspect="1" noChangeArrowheads="1"/>
                  </p:cNvSpPr>
                  <p:nvPr/>
                </p:nvSpPr>
                <p:spPr bwMode="auto">
                  <a:xfrm rot="-5400000">
                    <a:off x="3888" y="2784"/>
                    <a:ext cx="144" cy="144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388" name="Line 99"/>
            <p:cNvSpPr>
              <a:spLocks noChangeAspect="1" noChangeShapeType="1"/>
            </p:cNvSpPr>
            <p:nvPr/>
          </p:nvSpPr>
          <p:spPr bwMode="auto">
            <a:xfrm>
              <a:off x="1953" y="2491"/>
              <a:ext cx="0" cy="13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" name="Freeform 100"/>
            <p:cNvSpPr>
              <a:spLocks noChangeAspect="1" noChangeArrowheads="1"/>
            </p:cNvSpPr>
            <p:nvPr/>
          </p:nvSpPr>
          <p:spPr bwMode="auto">
            <a:xfrm>
              <a:off x="1857" y="2491"/>
              <a:ext cx="3" cy="240"/>
            </a:xfrm>
            <a:custGeom>
              <a:avLst/>
              <a:gdLst>
                <a:gd name="T0" fmla="*/ 0 w 3"/>
                <a:gd name="T1" fmla="*/ 0 h 240"/>
                <a:gd name="T2" fmla="*/ 3 w 3"/>
                <a:gd name="T3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240">
                  <a:moveTo>
                    <a:pt x="0" y="0"/>
                  </a:moveTo>
                  <a:lnTo>
                    <a:pt x="3" y="24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0" name="Freeform 101"/>
            <p:cNvSpPr>
              <a:spLocks noChangeAspect="1" noChangeArrowheads="1"/>
            </p:cNvSpPr>
            <p:nvPr/>
          </p:nvSpPr>
          <p:spPr bwMode="auto">
            <a:xfrm>
              <a:off x="1617" y="2491"/>
              <a:ext cx="3" cy="240"/>
            </a:xfrm>
            <a:custGeom>
              <a:avLst/>
              <a:gdLst>
                <a:gd name="T0" fmla="*/ 0 w 3"/>
                <a:gd name="T1" fmla="*/ 0 h 240"/>
                <a:gd name="T2" fmla="*/ 3 w 3"/>
                <a:gd name="T3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240">
                  <a:moveTo>
                    <a:pt x="0" y="0"/>
                  </a:moveTo>
                  <a:lnTo>
                    <a:pt x="3" y="24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1" name="Line 102"/>
            <p:cNvSpPr>
              <a:spLocks noChangeAspect="1" noChangeShapeType="1"/>
            </p:cNvSpPr>
            <p:nvPr/>
          </p:nvSpPr>
          <p:spPr bwMode="auto">
            <a:xfrm>
              <a:off x="1536" y="2491"/>
              <a:ext cx="0" cy="10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6" name="Group 103"/>
          <p:cNvGrpSpPr>
            <a:grpSpLocks/>
          </p:cNvGrpSpPr>
          <p:nvPr/>
        </p:nvGrpSpPr>
        <p:grpSpPr bwMode="auto">
          <a:xfrm>
            <a:off x="2566266" y="1785144"/>
            <a:ext cx="1463675" cy="193675"/>
            <a:chOff x="967" y="1049"/>
            <a:chExt cx="922" cy="122"/>
          </a:xfrm>
        </p:grpSpPr>
        <p:grpSp>
          <p:nvGrpSpPr>
            <p:cNvPr id="437" name="Group 104"/>
            <p:cNvGrpSpPr>
              <a:grpSpLocks noChangeAspect="1"/>
            </p:cNvGrpSpPr>
            <p:nvPr/>
          </p:nvGrpSpPr>
          <p:grpSpPr bwMode="auto">
            <a:xfrm>
              <a:off x="967" y="1049"/>
              <a:ext cx="922" cy="2"/>
              <a:chOff x="942" y="1152"/>
              <a:chExt cx="1152" cy="2"/>
            </a:xfrm>
          </p:grpSpPr>
          <p:sp>
            <p:nvSpPr>
              <p:cNvPr id="441" name="Line 105"/>
              <p:cNvSpPr>
                <a:spLocks noChangeAspect="1" noChangeShapeType="1"/>
              </p:cNvSpPr>
              <p:nvPr/>
            </p:nvSpPr>
            <p:spPr bwMode="auto">
              <a:xfrm>
                <a:off x="942" y="1152"/>
                <a:ext cx="14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" name="Line 106"/>
              <p:cNvSpPr>
                <a:spLocks noChangeAspect="1" noChangeShapeType="1"/>
              </p:cNvSpPr>
              <p:nvPr/>
            </p:nvSpPr>
            <p:spPr bwMode="auto">
              <a:xfrm>
                <a:off x="1964" y="1154"/>
                <a:ext cx="13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8" name="Group 107"/>
            <p:cNvGrpSpPr>
              <a:grpSpLocks noChangeAspect="1"/>
            </p:cNvGrpSpPr>
            <p:nvPr/>
          </p:nvGrpSpPr>
          <p:grpSpPr bwMode="auto">
            <a:xfrm>
              <a:off x="967" y="1054"/>
              <a:ext cx="916" cy="117"/>
              <a:chOff x="942" y="1149"/>
              <a:chExt cx="1145" cy="146"/>
            </a:xfrm>
          </p:grpSpPr>
          <p:sp>
            <p:nvSpPr>
              <p:cNvPr id="439" name="Line 108"/>
              <p:cNvSpPr>
                <a:spLocks noChangeAspect="1" noChangeShapeType="1"/>
              </p:cNvSpPr>
              <p:nvPr/>
            </p:nvSpPr>
            <p:spPr bwMode="auto">
              <a:xfrm>
                <a:off x="942" y="1149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sm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" name="Line 109"/>
              <p:cNvSpPr>
                <a:spLocks noChangeAspect="1" noChangeShapeType="1"/>
              </p:cNvSpPr>
              <p:nvPr/>
            </p:nvSpPr>
            <p:spPr bwMode="auto">
              <a:xfrm>
                <a:off x="2087" y="1156"/>
                <a:ext cx="0" cy="13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sm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443" name="Text Box 110"/>
          <p:cNvSpPr txBox="1">
            <a:spLocks noChangeAspect="1" noChangeArrowheads="1"/>
          </p:cNvSpPr>
          <p:nvPr/>
        </p:nvSpPr>
        <p:spPr bwMode="auto">
          <a:xfrm>
            <a:off x="2931390" y="790488"/>
            <a:ext cx="7461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sz="1800" i="1" dirty="0">
                <a:latin typeface="Times New Roman" panose="02020603050405020304" pitchFamily="18" charset="0"/>
              </a:rPr>
              <a:t>A</a:t>
            </a:r>
            <a:r>
              <a:rPr lang="zh-CN" altLang="en-US" sz="1800" i="1" dirty="0">
                <a:latin typeface="Times New Roman" panose="02020603050405020304" pitchFamily="18" charset="0"/>
              </a:rPr>
              <a:t>－</a:t>
            </a:r>
            <a:r>
              <a:rPr lang="en-US" altLang="zh-CN" sz="1800" i="1" dirty="0">
                <a:latin typeface="Times New Roman" panose="02020603050405020304" pitchFamily="18" charset="0"/>
              </a:rPr>
              <a:t>A</a:t>
            </a:r>
          </a:p>
        </p:txBody>
      </p:sp>
      <p:grpSp>
        <p:nvGrpSpPr>
          <p:cNvPr id="444" name="Group 111"/>
          <p:cNvGrpSpPr>
            <a:grpSpLocks/>
          </p:cNvGrpSpPr>
          <p:nvPr/>
        </p:nvGrpSpPr>
        <p:grpSpPr bwMode="auto">
          <a:xfrm>
            <a:off x="2045566" y="1235869"/>
            <a:ext cx="2525712" cy="2114550"/>
            <a:chOff x="2583" y="2783"/>
            <a:chExt cx="1591" cy="1332"/>
          </a:xfrm>
        </p:grpSpPr>
        <p:sp>
          <p:nvSpPr>
            <p:cNvPr id="445" name="Freeform 112"/>
            <p:cNvSpPr>
              <a:spLocks noChangeAspect="1" noChangeArrowheads="1"/>
            </p:cNvSpPr>
            <p:nvPr/>
          </p:nvSpPr>
          <p:spPr bwMode="auto">
            <a:xfrm>
              <a:off x="3380" y="2783"/>
              <a:ext cx="0" cy="1332"/>
            </a:xfrm>
            <a:custGeom>
              <a:avLst/>
              <a:gdLst>
                <a:gd name="T0" fmla="*/ 0 w 1"/>
                <a:gd name="T1" fmla="*/ 0 h 1665"/>
                <a:gd name="T2" fmla="*/ 0 w 1"/>
                <a:gd name="T3" fmla="*/ 1665 h 1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665">
                  <a:moveTo>
                    <a:pt x="0" y="0"/>
                  </a:moveTo>
                  <a:lnTo>
                    <a:pt x="0" y="1665"/>
                  </a:lnTo>
                </a:path>
              </a:pathLst>
            </a:custGeom>
            <a:noFill/>
            <a:ln w="12700">
              <a:solidFill>
                <a:srgbClr val="3366FF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446" name="Group 113"/>
            <p:cNvGrpSpPr>
              <a:grpSpLocks noChangeAspect="1"/>
            </p:cNvGrpSpPr>
            <p:nvPr/>
          </p:nvGrpSpPr>
          <p:grpSpPr bwMode="auto">
            <a:xfrm>
              <a:off x="2583" y="2783"/>
              <a:ext cx="1591" cy="1308"/>
              <a:chOff x="534" y="720"/>
              <a:chExt cx="1989" cy="1636"/>
            </a:xfrm>
          </p:grpSpPr>
          <p:sp>
            <p:nvSpPr>
              <p:cNvPr id="447" name="Line 114"/>
              <p:cNvSpPr>
                <a:spLocks noChangeAspect="1" noChangeShapeType="1"/>
              </p:cNvSpPr>
              <p:nvPr/>
            </p:nvSpPr>
            <p:spPr bwMode="auto">
              <a:xfrm>
                <a:off x="2013" y="735"/>
                <a:ext cx="0" cy="325"/>
              </a:xfrm>
              <a:prstGeom prst="line">
                <a:avLst/>
              </a:prstGeom>
              <a:noFill/>
              <a:ln w="12700">
                <a:solidFill>
                  <a:srgbClr val="3366FF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448" name="Group 115"/>
              <p:cNvGrpSpPr>
                <a:grpSpLocks noChangeAspect="1"/>
              </p:cNvGrpSpPr>
              <p:nvPr/>
            </p:nvGrpSpPr>
            <p:grpSpPr bwMode="auto">
              <a:xfrm>
                <a:off x="1724" y="784"/>
                <a:ext cx="791" cy="1496"/>
                <a:chOff x="1724" y="784"/>
                <a:chExt cx="791" cy="1496"/>
              </a:xfrm>
            </p:grpSpPr>
            <p:sp>
              <p:nvSpPr>
                <p:cNvPr id="479" name="Line 116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733" y="1430"/>
                  <a:ext cx="195" cy="195"/>
                </a:xfrm>
                <a:prstGeom prst="line">
                  <a:avLst/>
                </a:pr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0" name="Freeform 117"/>
                <p:cNvSpPr>
                  <a:spLocks noChangeAspect="1" noChangeArrowheads="1"/>
                </p:cNvSpPr>
                <p:nvPr/>
              </p:nvSpPr>
              <p:spPr bwMode="auto">
                <a:xfrm>
                  <a:off x="1728" y="1569"/>
                  <a:ext cx="200" cy="197"/>
                </a:xfrm>
                <a:custGeom>
                  <a:avLst/>
                  <a:gdLst>
                    <a:gd name="T0" fmla="*/ 0 w 200"/>
                    <a:gd name="T1" fmla="*/ 197 h 197"/>
                    <a:gd name="T2" fmla="*/ 200 w 200"/>
                    <a:gd name="T3" fmla="*/ 0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200" h="197">
                      <a:moveTo>
                        <a:pt x="0" y="197"/>
                      </a:moveTo>
                      <a:lnTo>
                        <a:pt x="200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1" name="Freeform 118"/>
                <p:cNvSpPr>
                  <a:spLocks noChangeAspect="1" noChangeArrowheads="1"/>
                </p:cNvSpPr>
                <p:nvPr/>
              </p:nvSpPr>
              <p:spPr bwMode="auto">
                <a:xfrm>
                  <a:off x="1738" y="1699"/>
                  <a:ext cx="192" cy="192"/>
                </a:xfrm>
                <a:custGeom>
                  <a:avLst/>
                  <a:gdLst>
                    <a:gd name="T0" fmla="*/ 0 w 192"/>
                    <a:gd name="T1" fmla="*/ 192 h 192"/>
                    <a:gd name="T2" fmla="*/ 192 w 192"/>
                    <a:gd name="T3" fmla="*/ 0 h 1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92" h="192">
                      <a:moveTo>
                        <a:pt x="0" y="192"/>
                      </a:moveTo>
                      <a:lnTo>
                        <a:pt x="192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2" name="Line 119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724" y="1844"/>
                  <a:ext cx="195" cy="195"/>
                </a:xfrm>
                <a:prstGeom prst="line">
                  <a:avLst/>
                </a:pr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3" name="Line 120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724" y="1991"/>
                  <a:ext cx="195" cy="195"/>
                </a:xfrm>
                <a:prstGeom prst="line">
                  <a:avLst/>
                </a:pr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4" name="Freeform 121"/>
                <p:cNvSpPr>
                  <a:spLocks noChangeAspect="1" noChangeArrowheads="1"/>
                </p:cNvSpPr>
                <p:nvPr/>
              </p:nvSpPr>
              <p:spPr bwMode="auto">
                <a:xfrm>
                  <a:off x="1769" y="2083"/>
                  <a:ext cx="189" cy="197"/>
                </a:xfrm>
                <a:custGeom>
                  <a:avLst/>
                  <a:gdLst>
                    <a:gd name="T0" fmla="*/ 0 w 189"/>
                    <a:gd name="T1" fmla="*/ 197 h 197"/>
                    <a:gd name="T2" fmla="*/ 189 w 189"/>
                    <a:gd name="T3" fmla="*/ 0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89" h="197">
                      <a:moveTo>
                        <a:pt x="0" y="197"/>
                      </a:moveTo>
                      <a:lnTo>
                        <a:pt x="189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5" name="Freeform 122"/>
                <p:cNvSpPr>
                  <a:spLocks noChangeAspect="1" noChangeArrowheads="1"/>
                </p:cNvSpPr>
                <p:nvPr/>
              </p:nvSpPr>
              <p:spPr bwMode="auto">
                <a:xfrm>
                  <a:off x="1891" y="2079"/>
                  <a:ext cx="195" cy="195"/>
                </a:xfrm>
                <a:custGeom>
                  <a:avLst/>
                  <a:gdLst>
                    <a:gd name="T0" fmla="*/ 0 w 195"/>
                    <a:gd name="T1" fmla="*/ 195 h 195"/>
                    <a:gd name="T2" fmla="*/ 195 w 195"/>
                    <a:gd name="T3" fmla="*/ 0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95" h="195">
                      <a:moveTo>
                        <a:pt x="0" y="195"/>
                      </a:moveTo>
                      <a:lnTo>
                        <a:pt x="195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6" name="Freeform 123"/>
                <p:cNvSpPr>
                  <a:spLocks noChangeAspect="1" noChangeArrowheads="1"/>
                </p:cNvSpPr>
                <p:nvPr/>
              </p:nvSpPr>
              <p:spPr bwMode="auto">
                <a:xfrm>
                  <a:off x="2017" y="2085"/>
                  <a:ext cx="195" cy="195"/>
                </a:xfrm>
                <a:custGeom>
                  <a:avLst/>
                  <a:gdLst>
                    <a:gd name="T0" fmla="*/ 0 w 195"/>
                    <a:gd name="T1" fmla="*/ 195 h 195"/>
                    <a:gd name="T2" fmla="*/ 195 w 195"/>
                    <a:gd name="T3" fmla="*/ 0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95" h="195">
                      <a:moveTo>
                        <a:pt x="0" y="195"/>
                      </a:moveTo>
                      <a:lnTo>
                        <a:pt x="195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7" name="Freeform 124"/>
                <p:cNvSpPr>
                  <a:spLocks noChangeAspect="1" noChangeArrowheads="1"/>
                </p:cNvSpPr>
                <p:nvPr/>
              </p:nvSpPr>
              <p:spPr bwMode="auto">
                <a:xfrm>
                  <a:off x="2158" y="2076"/>
                  <a:ext cx="195" cy="195"/>
                </a:xfrm>
                <a:custGeom>
                  <a:avLst/>
                  <a:gdLst>
                    <a:gd name="T0" fmla="*/ 0 w 195"/>
                    <a:gd name="T1" fmla="*/ 195 h 195"/>
                    <a:gd name="T2" fmla="*/ 195 w 195"/>
                    <a:gd name="T3" fmla="*/ 0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95" h="195">
                      <a:moveTo>
                        <a:pt x="0" y="195"/>
                      </a:moveTo>
                      <a:lnTo>
                        <a:pt x="195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8" name="Freeform 125"/>
                <p:cNvSpPr>
                  <a:spLocks noChangeAspect="1" noChangeArrowheads="1"/>
                </p:cNvSpPr>
                <p:nvPr/>
              </p:nvSpPr>
              <p:spPr bwMode="auto">
                <a:xfrm>
                  <a:off x="2284" y="2082"/>
                  <a:ext cx="195" cy="195"/>
                </a:xfrm>
                <a:custGeom>
                  <a:avLst/>
                  <a:gdLst>
                    <a:gd name="T0" fmla="*/ 0 w 195"/>
                    <a:gd name="T1" fmla="*/ 195 h 195"/>
                    <a:gd name="T2" fmla="*/ 195 w 195"/>
                    <a:gd name="T3" fmla="*/ 0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95" h="195">
                      <a:moveTo>
                        <a:pt x="0" y="195"/>
                      </a:moveTo>
                      <a:lnTo>
                        <a:pt x="195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9" name="Freeform 126"/>
                <p:cNvSpPr>
                  <a:spLocks noChangeAspect="1" noChangeArrowheads="1"/>
                </p:cNvSpPr>
                <p:nvPr/>
              </p:nvSpPr>
              <p:spPr bwMode="auto">
                <a:xfrm>
                  <a:off x="2417" y="2179"/>
                  <a:ext cx="98" cy="96"/>
                </a:xfrm>
                <a:custGeom>
                  <a:avLst/>
                  <a:gdLst>
                    <a:gd name="T0" fmla="*/ 0 w 98"/>
                    <a:gd name="T1" fmla="*/ 96 h 96"/>
                    <a:gd name="T2" fmla="*/ 98 w 98"/>
                    <a:gd name="T3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98" h="96">
                      <a:moveTo>
                        <a:pt x="0" y="96"/>
                      </a:moveTo>
                      <a:lnTo>
                        <a:pt x="98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0" name="Freeform 127"/>
                <p:cNvSpPr>
                  <a:spLocks noChangeAspect="1" noChangeArrowheads="1"/>
                </p:cNvSpPr>
                <p:nvPr/>
              </p:nvSpPr>
              <p:spPr bwMode="auto">
                <a:xfrm>
                  <a:off x="1801" y="1296"/>
                  <a:ext cx="119" cy="119"/>
                </a:xfrm>
                <a:custGeom>
                  <a:avLst/>
                  <a:gdLst>
                    <a:gd name="T0" fmla="*/ 0 w 119"/>
                    <a:gd name="T1" fmla="*/ 119 h 119"/>
                    <a:gd name="T2" fmla="*/ 119 w 119"/>
                    <a:gd name="T3" fmla="*/ 0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19" h="119">
                      <a:moveTo>
                        <a:pt x="0" y="119"/>
                      </a:moveTo>
                      <a:lnTo>
                        <a:pt x="119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1" name="Freeform 128"/>
                <p:cNvSpPr>
                  <a:spLocks noChangeAspect="1" noChangeArrowheads="1"/>
                </p:cNvSpPr>
                <p:nvPr/>
              </p:nvSpPr>
              <p:spPr bwMode="auto">
                <a:xfrm>
                  <a:off x="1807" y="1152"/>
                  <a:ext cx="113" cy="119"/>
                </a:xfrm>
                <a:custGeom>
                  <a:avLst/>
                  <a:gdLst>
                    <a:gd name="T0" fmla="*/ 0 w 113"/>
                    <a:gd name="T1" fmla="*/ 119 h 119"/>
                    <a:gd name="T2" fmla="*/ 113 w 113"/>
                    <a:gd name="T3" fmla="*/ 0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13" h="119">
                      <a:moveTo>
                        <a:pt x="0" y="119"/>
                      </a:moveTo>
                      <a:lnTo>
                        <a:pt x="113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2" name="Freeform 129"/>
                <p:cNvSpPr>
                  <a:spLocks noChangeAspect="1" noChangeArrowheads="1"/>
                </p:cNvSpPr>
                <p:nvPr/>
              </p:nvSpPr>
              <p:spPr bwMode="auto">
                <a:xfrm>
                  <a:off x="1795" y="1008"/>
                  <a:ext cx="135" cy="134"/>
                </a:xfrm>
                <a:custGeom>
                  <a:avLst/>
                  <a:gdLst>
                    <a:gd name="T0" fmla="*/ 0 w 135"/>
                    <a:gd name="T1" fmla="*/ 134 h 134"/>
                    <a:gd name="T2" fmla="*/ 135 w 135"/>
                    <a:gd name="T3" fmla="*/ 0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35" h="134">
                      <a:moveTo>
                        <a:pt x="0" y="134"/>
                      </a:moveTo>
                      <a:lnTo>
                        <a:pt x="135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3" name="Freeform 130"/>
                <p:cNvSpPr>
                  <a:spLocks noChangeAspect="1" noChangeArrowheads="1"/>
                </p:cNvSpPr>
                <p:nvPr/>
              </p:nvSpPr>
              <p:spPr bwMode="auto">
                <a:xfrm>
                  <a:off x="1805" y="797"/>
                  <a:ext cx="221" cy="221"/>
                </a:xfrm>
                <a:custGeom>
                  <a:avLst/>
                  <a:gdLst>
                    <a:gd name="T0" fmla="*/ 0 w 221"/>
                    <a:gd name="T1" fmla="*/ 221 h 221"/>
                    <a:gd name="T2" fmla="*/ 221 w 221"/>
                    <a:gd name="T3" fmla="*/ 0 h 2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221" h="221">
                      <a:moveTo>
                        <a:pt x="0" y="221"/>
                      </a:moveTo>
                      <a:lnTo>
                        <a:pt x="221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4" name="Freeform 131"/>
                <p:cNvSpPr>
                  <a:spLocks noChangeAspect="1" noChangeArrowheads="1"/>
                </p:cNvSpPr>
                <p:nvPr/>
              </p:nvSpPr>
              <p:spPr bwMode="auto">
                <a:xfrm>
                  <a:off x="1805" y="787"/>
                  <a:ext cx="115" cy="115"/>
                </a:xfrm>
                <a:custGeom>
                  <a:avLst/>
                  <a:gdLst>
                    <a:gd name="T0" fmla="*/ 0 w 115"/>
                    <a:gd name="T1" fmla="*/ 115 h 115"/>
                    <a:gd name="T2" fmla="*/ 115 w 115"/>
                    <a:gd name="T3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15" h="115">
                      <a:moveTo>
                        <a:pt x="0" y="115"/>
                      </a:moveTo>
                      <a:lnTo>
                        <a:pt x="115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5" name="Line 132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964" y="784"/>
                  <a:ext cx="194" cy="194"/>
                </a:xfrm>
                <a:prstGeom prst="line">
                  <a:avLst/>
                </a:pr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96" name="Freeform 133"/>
                <p:cNvSpPr>
                  <a:spLocks noChangeAspect="1" noChangeArrowheads="1"/>
                </p:cNvSpPr>
                <p:nvPr/>
              </p:nvSpPr>
              <p:spPr bwMode="auto">
                <a:xfrm>
                  <a:off x="2083" y="912"/>
                  <a:ext cx="96" cy="77"/>
                </a:xfrm>
                <a:custGeom>
                  <a:avLst/>
                  <a:gdLst>
                    <a:gd name="T0" fmla="*/ 0 w 96"/>
                    <a:gd name="T1" fmla="*/ 77 h 77"/>
                    <a:gd name="T2" fmla="*/ 96 w 96"/>
                    <a:gd name="T3" fmla="*/ 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96" h="77">
                      <a:moveTo>
                        <a:pt x="0" y="77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449" name="Group 134"/>
              <p:cNvGrpSpPr>
                <a:grpSpLocks noChangeAspect="1"/>
              </p:cNvGrpSpPr>
              <p:nvPr/>
            </p:nvGrpSpPr>
            <p:grpSpPr bwMode="auto">
              <a:xfrm>
                <a:off x="534" y="720"/>
                <a:ext cx="1989" cy="1636"/>
                <a:chOff x="534" y="720"/>
                <a:chExt cx="1989" cy="1636"/>
              </a:xfrm>
            </p:grpSpPr>
            <p:grpSp>
              <p:nvGrpSpPr>
                <p:cNvPr id="450" name="Group 135"/>
                <p:cNvGrpSpPr>
                  <a:grpSpLocks noChangeAspect="1"/>
                </p:cNvGrpSpPr>
                <p:nvPr/>
              </p:nvGrpSpPr>
              <p:grpSpPr bwMode="auto">
                <a:xfrm>
                  <a:off x="534" y="720"/>
                  <a:ext cx="1011" cy="1636"/>
                  <a:chOff x="534" y="720"/>
                  <a:chExt cx="1011" cy="1636"/>
                </a:xfrm>
              </p:grpSpPr>
              <p:sp>
                <p:nvSpPr>
                  <p:cNvPr id="468" name="Freeform 1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8" y="2011"/>
                    <a:ext cx="1" cy="345"/>
                  </a:xfrm>
                  <a:custGeom>
                    <a:avLst/>
                    <a:gdLst>
                      <a:gd name="T0" fmla="*/ 0 w 1"/>
                      <a:gd name="T1" fmla="*/ 0 h 345"/>
                      <a:gd name="T2" fmla="*/ 0 w 1"/>
                      <a:gd name="T3" fmla="*/ 345 h 3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345">
                        <a:moveTo>
                          <a:pt x="0" y="0"/>
                        </a:moveTo>
                        <a:lnTo>
                          <a:pt x="0" y="345"/>
                        </a:lnTo>
                      </a:path>
                    </a:pathLst>
                  </a:custGeom>
                  <a:noFill/>
                  <a:ln w="9525">
                    <a:solidFill>
                      <a:srgbClr val="3366FF"/>
                    </a:solidFill>
                    <a:prstDash val="lgDashDot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69" name="Freeform 1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34" y="2274"/>
                    <a:ext cx="990" cy="3"/>
                  </a:xfrm>
                  <a:custGeom>
                    <a:avLst/>
                    <a:gdLst>
                      <a:gd name="T0" fmla="*/ 0 w 990"/>
                      <a:gd name="T1" fmla="*/ 3 h 3"/>
                      <a:gd name="T2" fmla="*/ 990 w 990"/>
                      <a:gd name="T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990" h="3">
                        <a:moveTo>
                          <a:pt x="0" y="3"/>
                        </a:moveTo>
                        <a:lnTo>
                          <a:pt x="990" y="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70" name="Freeform 1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41" y="2079"/>
                    <a:ext cx="990" cy="3"/>
                  </a:xfrm>
                  <a:custGeom>
                    <a:avLst/>
                    <a:gdLst>
                      <a:gd name="T0" fmla="*/ 0 w 990"/>
                      <a:gd name="T1" fmla="*/ 3 h 3"/>
                      <a:gd name="T2" fmla="*/ 990 w 990"/>
                      <a:gd name="T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990" h="3">
                        <a:moveTo>
                          <a:pt x="0" y="3"/>
                        </a:moveTo>
                        <a:lnTo>
                          <a:pt x="990" y="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71" name="Freeform 1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72" y="989"/>
                    <a:ext cx="437" cy="1"/>
                  </a:xfrm>
                  <a:custGeom>
                    <a:avLst/>
                    <a:gdLst>
                      <a:gd name="T0" fmla="*/ 0 w 437"/>
                      <a:gd name="T1" fmla="*/ 1 h 1"/>
                      <a:gd name="T2" fmla="*/ 225 w 437"/>
                      <a:gd name="T3" fmla="*/ 1 h 1"/>
                      <a:gd name="T4" fmla="*/ 437 w 437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37" h="1">
                        <a:moveTo>
                          <a:pt x="0" y="1"/>
                        </a:moveTo>
                        <a:lnTo>
                          <a:pt x="225" y="1"/>
                        </a:lnTo>
                        <a:lnTo>
                          <a:pt x="437" y="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72" name="Freeform 14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79" y="795"/>
                    <a:ext cx="1" cy="195"/>
                  </a:xfrm>
                  <a:custGeom>
                    <a:avLst/>
                    <a:gdLst>
                      <a:gd name="T0" fmla="*/ 0 w 1"/>
                      <a:gd name="T1" fmla="*/ 195 h 195"/>
                      <a:gd name="T2" fmla="*/ 0 w 1"/>
                      <a:gd name="T3" fmla="*/ 0 h 1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195">
                        <a:moveTo>
                          <a:pt x="0" y="195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73" name="Freeform 1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79" y="791"/>
                    <a:ext cx="645" cy="4"/>
                  </a:xfrm>
                  <a:custGeom>
                    <a:avLst/>
                    <a:gdLst>
                      <a:gd name="T0" fmla="*/ 0 w 645"/>
                      <a:gd name="T1" fmla="*/ 4 h 4"/>
                      <a:gd name="T2" fmla="*/ 645 w 645"/>
                      <a:gd name="T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645" h="4">
                        <a:moveTo>
                          <a:pt x="0" y="4"/>
                        </a:moveTo>
                        <a:lnTo>
                          <a:pt x="645" y="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74" name="Freeform 1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19" y="990"/>
                    <a:ext cx="1" cy="1096"/>
                  </a:xfrm>
                  <a:custGeom>
                    <a:avLst/>
                    <a:gdLst>
                      <a:gd name="T0" fmla="*/ 0 w 1"/>
                      <a:gd name="T1" fmla="*/ 1096 h 1096"/>
                      <a:gd name="T2" fmla="*/ 0 w 1"/>
                      <a:gd name="T3" fmla="*/ 0 h 10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1096">
                        <a:moveTo>
                          <a:pt x="0" y="1096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75" name="Arc 143"/>
                  <p:cNvSpPr>
                    <a:spLocks noChangeAspect="1" noChangeArrowheads="1"/>
                  </p:cNvSpPr>
                  <p:nvPr/>
                </p:nvSpPr>
                <p:spPr bwMode="auto">
                  <a:xfrm flipH="1" flipV="1">
                    <a:off x="1305" y="1179"/>
                    <a:ext cx="240" cy="192"/>
                  </a:xfrm>
                  <a:custGeom>
                    <a:avLst/>
                    <a:gdLst>
                      <a:gd name="T0" fmla="*/ 1346 w 21600"/>
                      <a:gd name="T1" fmla="*/ 0 h 21558"/>
                      <a:gd name="T2" fmla="*/ 21600 w 21600"/>
                      <a:gd name="T3" fmla="*/ 21558 h 21558"/>
                      <a:gd name="T4" fmla="*/ 1346 w 21600"/>
                      <a:gd name="T5" fmla="*/ 0 h 21558"/>
                      <a:gd name="T6" fmla="*/ 21600 w 21600"/>
                      <a:gd name="T7" fmla="*/ 21558 h 21558"/>
                      <a:gd name="T8" fmla="*/ 0 w 21600"/>
                      <a:gd name="T9" fmla="*/ 21558 h 215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600" h="21558" fill="none">
                        <a:moveTo>
                          <a:pt x="1346" y="0"/>
                        </a:moveTo>
                        <a:cubicBezTo>
                          <a:pt x="12731" y="711"/>
                          <a:pt x="21600" y="10151"/>
                          <a:pt x="21600" y="21558"/>
                        </a:cubicBezTo>
                      </a:path>
                      <a:path w="21600" h="21558" stroke="0">
                        <a:moveTo>
                          <a:pt x="1346" y="0"/>
                        </a:moveTo>
                        <a:cubicBezTo>
                          <a:pt x="12731" y="711"/>
                          <a:pt x="21600" y="10151"/>
                          <a:pt x="21600" y="21558"/>
                        </a:cubicBezTo>
                        <a:lnTo>
                          <a:pt x="0" y="21558"/>
                        </a:lnTo>
                        <a:close/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76" name="Freeform 1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99" y="990"/>
                    <a:ext cx="1" cy="210"/>
                  </a:xfrm>
                  <a:custGeom>
                    <a:avLst/>
                    <a:gdLst>
                      <a:gd name="T0" fmla="*/ 0 w 1"/>
                      <a:gd name="T1" fmla="*/ 210 h 210"/>
                      <a:gd name="T2" fmla="*/ 0 w 1"/>
                      <a:gd name="T3" fmla="*/ 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210">
                        <a:moveTo>
                          <a:pt x="0" y="21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77" name="Line 145"/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537" y="2084"/>
                    <a:ext cx="0" cy="192"/>
                  </a:xfrm>
                  <a:prstGeom prst="line">
                    <a:avLst/>
                  </a:pr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Freeform 1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14" y="720"/>
                    <a:ext cx="1" cy="345"/>
                  </a:xfrm>
                  <a:custGeom>
                    <a:avLst/>
                    <a:gdLst>
                      <a:gd name="T0" fmla="*/ 0 w 1"/>
                      <a:gd name="T1" fmla="*/ 345 h 345"/>
                      <a:gd name="T2" fmla="*/ 0 w 1"/>
                      <a:gd name="T3" fmla="*/ 0 h 3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345">
                        <a:moveTo>
                          <a:pt x="0" y="345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3366FF"/>
                    </a:solidFill>
                    <a:prstDash val="lgDashDot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51" name="Group 147"/>
                <p:cNvGrpSpPr>
                  <a:grpSpLocks noChangeAspect="1"/>
                </p:cNvGrpSpPr>
                <p:nvPr/>
              </p:nvGrpSpPr>
              <p:grpSpPr bwMode="auto">
                <a:xfrm>
                  <a:off x="1269" y="1046"/>
                  <a:ext cx="582" cy="222"/>
                  <a:chOff x="1473" y="1625"/>
                  <a:chExt cx="582" cy="192"/>
                </a:xfrm>
              </p:grpSpPr>
              <p:sp>
                <p:nvSpPr>
                  <p:cNvPr id="466" name="Freeform 1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73" y="1721"/>
                    <a:ext cx="582" cy="1"/>
                  </a:xfrm>
                  <a:custGeom>
                    <a:avLst/>
                    <a:gdLst>
                      <a:gd name="T0" fmla="*/ 0 w 582"/>
                      <a:gd name="T1" fmla="*/ 0 h 1"/>
                      <a:gd name="T2" fmla="*/ 582 w 582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582" h="1">
                        <a:moveTo>
                          <a:pt x="0" y="0"/>
                        </a:moveTo>
                        <a:lnTo>
                          <a:pt x="582" y="0"/>
                        </a:lnTo>
                      </a:path>
                    </a:pathLst>
                  </a:custGeom>
                  <a:noFill/>
                  <a:ln w="12700">
                    <a:solidFill>
                      <a:srgbClr val="3366FF"/>
                    </a:solidFill>
                    <a:prstDash val="lgDashDot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67" name="Oval 1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17" y="1625"/>
                    <a:ext cx="240" cy="192"/>
                  </a:xfrm>
                  <a:prstGeom prst="ellipse">
                    <a:avLst/>
                  </a:pr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452" name="Group 150"/>
                <p:cNvGrpSpPr>
                  <a:grpSpLocks noChangeAspect="1"/>
                </p:cNvGrpSpPr>
                <p:nvPr/>
              </p:nvGrpSpPr>
              <p:grpSpPr bwMode="auto">
                <a:xfrm>
                  <a:off x="1515" y="788"/>
                  <a:ext cx="1008" cy="1553"/>
                  <a:chOff x="1515" y="788"/>
                  <a:chExt cx="1008" cy="1553"/>
                </a:xfrm>
              </p:grpSpPr>
              <p:sp>
                <p:nvSpPr>
                  <p:cNvPr id="453" name="Freeform 15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22" y="2274"/>
                    <a:ext cx="991" cy="3"/>
                  </a:xfrm>
                  <a:custGeom>
                    <a:avLst/>
                    <a:gdLst>
                      <a:gd name="T0" fmla="*/ 991 w 991"/>
                      <a:gd name="T1" fmla="*/ 0 h 3"/>
                      <a:gd name="T2" fmla="*/ 0 w 991"/>
                      <a:gd name="T3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991" h="3">
                        <a:moveTo>
                          <a:pt x="991" y="0"/>
                        </a:moveTo>
                        <a:lnTo>
                          <a:pt x="0" y="3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54" name="Freeform 15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21" y="2079"/>
                    <a:ext cx="602" cy="1"/>
                  </a:xfrm>
                  <a:custGeom>
                    <a:avLst/>
                    <a:gdLst>
                      <a:gd name="T0" fmla="*/ 602 w 602"/>
                      <a:gd name="T1" fmla="*/ 1 h 1"/>
                      <a:gd name="T2" fmla="*/ 0 w 602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602" h="1">
                        <a:moveTo>
                          <a:pt x="602" y="1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55" name="Freeform 1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28" y="983"/>
                    <a:ext cx="248" cy="6"/>
                  </a:xfrm>
                  <a:custGeom>
                    <a:avLst/>
                    <a:gdLst>
                      <a:gd name="T0" fmla="*/ 248 w 248"/>
                      <a:gd name="T1" fmla="*/ 6 h 6"/>
                      <a:gd name="T2" fmla="*/ 0 w 248"/>
                      <a:gd name="T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48" h="6">
                        <a:moveTo>
                          <a:pt x="248" y="6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56" name="Freeform 15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67" y="788"/>
                    <a:ext cx="1" cy="208"/>
                  </a:xfrm>
                  <a:custGeom>
                    <a:avLst/>
                    <a:gdLst>
                      <a:gd name="T0" fmla="*/ 0 w 1"/>
                      <a:gd name="T1" fmla="*/ 208 h 208"/>
                      <a:gd name="T2" fmla="*/ 1 w 1"/>
                      <a:gd name="T3" fmla="*/ 0 h 2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208">
                        <a:moveTo>
                          <a:pt x="0" y="208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57" name="Freeform 1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5" y="795"/>
                    <a:ext cx="660" cy="1"/>
                  </a:xfrm>
                  <a:custGeom>
                    <a:avLst/>
                    <a:gdLst>
                      <a:gd name="T0" fmla="*/ 660 w 660"/>
                      <a:gd name="T1" fmla="*/ 0 h 1"/>
                      <a:gd name="T2" fmla="*/ 0 w 660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660" h="1">
                        <a:moveTo>
                          <a:pt x="660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58" name="Freeform 1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28" y="983"/>
                    <a:ext cx="1" cy="1096"/>
                  </a:xfrm>
                  <a:custGeom>
                    <a:avLst/>
                    <a:gdLst>
                      <a:gd name="T0" fmla="*/ 0 w 1"/>
                      <a:gd name="T1" fmla="*/ 1096 h 1096"/>
                      <a:gd name="T2" fmla="*/ 0 w 1"/>
                      <a:gd name="T3" fmla="*/ 0 h 10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1096">
                        <a:moveTo>
                          <a:pt x="0" y="1096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59" name="Freeform 1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13" y="2079"/>
                    <a:ext cx="1" cy="210"/>
                  </a:xfrm>
                  <a:custGeom>
                    <a:avLst/>
                    <a:gdLst>
                      <a:gd name="T0" fmla="*/ 0 w 1"/>
                      <a:gd name="T1" fmla="*/ 0 h 210"/>
                      <a:gd name="T2" fmla="*/ 0 w 1"/>
                      <a:gd name="T3" fmla="*/ 21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210">
                        <a:moveTo>
                          <a:pt x="0" y="0"/>
                        </a:moveTo>
                        <a:lnTo>
                          <a:pt x="0" y="21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60" name="Line 158"/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1801" y="795"/>
                    <a:ext cx="0" cy="672"/>
                  </a:xfrm>
                  <a:prstGeom prst="line">
                    <a:avLst/>
                  </a:pr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Freeform 1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29" y="1457"/>
                    <a:ext cx="286" cy="1"/>
                  </a:xfrm>
                  <a:custGeom>
                    <a:avLst/>
                    <a:gdLst>
                      <a:gd name="T0" fmla="*/ 0 w 286"/>
                      <a:gd name="T1" fmla="*/ 0 h 1"/>
                      <a:gd name="T2" fmla="*/ 286 w 286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86" h="1">
                        <a:moveTo>
                          <a:pt x="0" y="0"/>
                        </a:moveTo>
                        <a:lnTo>
                          <a:pt x="286" y="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62" name="Freeform 1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33" y="1524"/>
                    <a:ext cx="1" cy="750"/>
                  </a:xfrm>
                  <a:custGeom>
                    <a:avLst/>
                    <a:gdLst>
                      <a:gd name="T0" fmla="*/ 0 w 1"/>
                      <a:gd name="T1" fmla="*/ 750 h 750"/>
                      <a:gd name="T2" fmla="*/ 0 w 1"/>
                      <a:gd name="T3" fmla="*/ 0 h 7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1" h="750">
                        <a:moveTo>
                          <a:pt x="0" y="75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63" name="Freeform 1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33" y="1464"/>
                    <a:ext cx="60" cy="60"/>
                  </a:xfrm>
                  <a:custGeom>
                    <a:avLst/>
                    <a:gdLst>
                      <a:gd name="T0" fmla="*/ 60 w 60"/>
                      <a:gd name="T1" fmla="*/ 0 h 60"/>
                      <a:gd name="T2" fmla="*/ 0 w 60"/>
                      <a:gd name="T3" fmla="*/ 60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60" h="60">
                        <a:moveTo>
                          <a:pt x="60" y="0"/>
                        </a:moveTo>
                        <a:lnTo>
                          <a:pt x="0" y="6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64" name="Freeform 1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29" y="1524"/>
                    <a:ext cx="211" cy="1"/>
                  </a:xfrm>
                  <a:custGeom>
                    <a:avLst/>
                    <a:gdLst>
                      <a:gd name="T0" fmla="*/ 211 w 211"/>
                      <a:gd name="T1" fmla="*/ 0 h 1"/>
                      <a:gd name="T2" fmla="*/ 0 w 211"/>
                      <a:gd name="T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211" h="1">
                        <a:moveTo>
                          <a:pt x="211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>
                    <a:solidFill>
                      <a:srgbClr val="3366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65" name="Line 163"/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2318" y="2024"/>
                    <a:ext cx="0" cy="317"/>
                  </a:xfrm>
                  <a:prstGeom prst="line">
                    <a:avLst/>
                  </a:prstGeom>
                  <a:noFill/>
                  <a:ln w="12700">
                    <a:solidFill>
                      <a:srgbClr val="3366FF"/>
                    </a:solidFill>
                    <a:prstDash val="lgDashDot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</p:grpSp>
      </p:grpSp>
      <p:grpSp>
        <p:nvGrpSpPr>
          <p:cNvPr id="497" name="Group 164"/>
          <p:cNvGrpSpPr>
            <a:grpSpLocks/>
          </p:cNvGrpSpPr>
          <p:nvPr/>
        </p:nvGrpSpPr>
        <p:grpSpPr bwMode="auto">
          <a:xfrm>
            <a:off x="1951903" y="3661569"/>
            <a:ext cx="2800350" cy="1868487"/>
            <a:chOff x="3052" y="2791"/>
            <a:chExt cx="1764" cy="1177"/>
          </a:xfrm>
        </p:grpSpPr>
        <p:sp>
          <p:nvSpPr>
            <p:cNvPr id="498" name="Freeform 165"/>
            <p:cNvSpPr>
              <a:spLocks noChangeAspect="1" noChangeArrowheads="1"/>
            </p:cNvSpPr>
            <p:nvPr/>
          </p:nvSpPr>
          <p:spPr bwMode="auto">
            <a:xfrm>
              <a:off x="3904" y="2791"/>
              <a:ext cx="1" cy="1177"/>
            </a:xfrm>
            <a:custGeom>
              <a:avLst/>
              <a:gdLst>
                <a:gd name="T0" fmla="*/ 0 w 1"/>
                <a:gd name="T1" fmla="*/ 0 h 1335"/>
                <a:gd name="T2" fmla="*/ 0 w 1"/>
                <a:gd name="T3" fmla="*/ 1335 h 1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335">
                  <a:moveTo>
                    <a:pt x="0" y="0"/>
                  </a:moveTo>
                  <a:lnTo>
                    <a:pt x="0" y="1335"/>
                  </a:lnTo>
                </a:path>
              </a:pathLst>
            </a:custGeom>
            <a:noFill/>
            <a:ln w="12700">
              <a:solidFill>
                <a:srgbClr val="3366FF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499" name="Group 166"/>
            <p:cNvGrpSpPr>
              <a:grpSpLocks/>
            </p:cNvGrpSpPr>
            <p:nvPr/>
          </p:nvGrpSpPr>
          <p:grpSpPr bwMode="auto">
            <a:xfrm>
              <a:off x="3052" y="2869"/>
              <a:ext cx="1764" cy="1016"/>
              <a:chOff x="3052" y="2869"/>
              <a:chExt cx="1764" cy="1016"/>
            </a:xfrm>
          </p:grpSpPr>
          <p:sp>
            <p:nvSpPr>
              <p:cNvPr id="500" name="Arc 167"/>
              <p:cNvSpPr>
                <a:spLocks noChangeAspect="1" noChangeArrowheads="1"/>
              </p:cNvSpPr>
              <p:nvPr/>
            </p:nvSpPr>
            <p:spPr bwMode="auto">
              <a:xfrm flipH="1" flipV="1">
                <a:off x="3558" y="3376"/>
                <a:ext cx="354" cy="297"/>
              </a:xfrm>
              <a:custGeom>
                <a:avLst/>
                <a:gdLst>
                  <a:gd name="T0" fmla="*/ 10516 w 21600"/>
                  <a:gd name="T1" fmla="*/ 0 h 18867"/>
                  <a:gd name="T2" fmla="*/ 21600 w 21600"/>
                  <a:gd name="T3" fmla="*/ 18867 h 18867"/>
                  <a:gd name="T4" fmla="*/ 10516 w 21600"/>
                  <a:gd name="T5" fmla="*/ 0 h 18867"/>
                  <a:gd name="T6" fmla="*/ 21600 w 21600"/>
                  <a:gd name="T7" fmla="*/ 18867 h 18867"/>
                  <a:gd name="T8" fmla="*/ 0 w 21600"/>
                  <a:gd name="T9" fmla="*/ 18867 h 188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600" h="18867" fill="none">
                    <a:moveTo>
                      <a:pt x="10516" y="0"/>
                    </a:moveTo>
                    <a:cubicBezTo>
                      <a:pt x="17359" y="3814"/>
                      <a:pt x="21600" y="11033"/>
                      <a:pt x="21600" y="18867"/>
                    </a:cubicBezTo>
                  </a:path>
                  <a:path w="21600" h="18867" stroke="0">
                    <a:moveTo>
                      <a:pt x="10516" y="0"/>
                    </a:moveTo>
                    <a:cubicBezTo>
                      <a:pt x="17359" y="3814"/>
                      <a:pt x="21600" y="11033"/>
                      <a:pt x="21600" y="18867"/>
                    </a:cubicBezTo>
                    <a:lnTo>
                      <a:pt x="0" y="18867"/>
                    </a:lnTo>
                    <a:close/>
                  </a:path>
                </a:pathLst>
              </a:custGeom>
              <a:noFill/>
              <a:ln w="381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1" name="AutoShape 168"/>
              <p:cNvSpPr>
                <a:spLocks noChangeAspect="1" noChangeArrowheads="1"/>
              </p:cNvSpPr>
              <p:nvPr/>
            </p:nvSpPr>
            <p:spPr bwMode="auto">
              <a:xfrm>
                <a:off x="3117" y="2869"/>
                <a:ext cx="1572" cy="1016"/>
              </a:xfrm>
              <a:prstGeom prst="roundRect">
                <a:avLst>
                  <a:gd name="adj" fmla="val 13542"/>
                </a:avLst>
              </a:prstGeom>
              <a:noFill/>
              <a:ln w="381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2" name="AutoShape 169"/>
              <p:cNvSpPr>
                <a:spLocks noChangeAspect="1" noChangeArrowheads="1"/>
              </p:cNvSpPr>
              <p:nvPr/>
            </p:nvSpPr>
            <p:spPr bwMode="auto">
              <a:xfrm>
                <a:off x="3384" y="2993"/>
                <a:ext cx="1036" cy="769"/>
              </a:xfrm>
              <a:prstGeom prst="roundRect">
                <a:avLst>
                  <a:gd name="adj" fmla="val 16667"/>
                </a:avLst>
              </a:prstGeom>
              <a:noFill/>
              <a:ln w="381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3" name="Freeform 170"/>
              <p:cNvSpPr>
                <a:spLocks noChangeAspect="1" noChangeArrowheads="1"/>
              </p:cNvSpPr>
              <p:nvPr/>
            </p:nvSpPr>
            <p:spPr bwMode="auto">
              <a:xfrm>
                <a:off x="3052" y="3373"/>
                <a:ext cx="1764" cy="1"/>
              </a:xfrm>
              <a:custGeom>
                <a:avLst/>
                <a:gdLst>
                  <a:gd name="T0" fmla="*/ 0 w 2205"/>
                  <a:gd name="T1" fmla="*/ 0 h 1"/>
                  <a:gd name="T2" fmla="*/ 2205 w 2205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205" h="1">
                    <a:moveTo>
                      <a:pt x="0" y="0"/>
                    </a:moveTo>
                    <a:lnTo>
                      <a:pt x="2205" y="0"/>
                    </a:lnTo>
                  </a:path>
                </a:pathLst>
              </a:custGeom>
              <a:noFill/>
              <a:ln w="12700">
                <a:solidFill>
                  <a:srgbClr val="3366FF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4" name="Oval 171"/>
              <p:cNvSpPr>
                <a:spLocks noChangeAspect="1" noChangeArrowheads="1"/>
              </p:cNvSpPr>
              <p:nvPr/>
            </p:nvSpPr>
            <p:spPr bwMode="auto">
              <a:xfrm>
                <a:off x="3691" y="3166"/>
                <a:ext cx="422" cy="423"/>
              </a:xfrm>
              <a:prstGeom prst="ellipse">
                <a:avLst/>
              </a:prstGeom>
              <a:noFill/>
              <a:ln w="381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5" name="Oval 172"/>
              <p:cNvSpPr>
                <a:spLocks noChangeAspect="1" noChangeArrowheads="1"/>
              </p:cNvSpPr>
              <p:nvPr/>
            </p:nvSpPr>
            <p:spPr bwMode="auto">
              <a:xfrm>
                <a:off x="3729" y="3208"/>
                <a:ext cx="346" cy="339"/>
              </a:xfrm>
              <a:prstGeom prst="ellipse">
                <a:avLst/>
              </a:prstGeom>
              <a:noFill/>
              <a:ln w="381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506" name="Group 173"/>
              <p:cNvGrpSpPr>
                <a:grpSpLocks noChangeAspect="1"/>
              </p:cNvGrpSpPr>
              <p:nvPr/>
            </p:nvGrpSpPr>
            <p:grpSpPr bwMode="auto">
              <a:xfrm>
                <a:off x="3134" y="3653"/>
                <a:ext cx="226" cy="214"/>
                <a:chOff x="3795" y="2688"/>
                <a:chExt cx="285" cy="288"/>
              </a:xfrm>
            </p:grpSpPr>
            <p:sp>
              <p:nvSpPr>
                <p:cNvPr id="548" name="Line 174"/>
                <p:cNvSpPr>
                  <a:spLocks noChangeAspect="1" noChangeShapeType="1"/>
                </p:cNvSpPr>
                <p:nvPr/>
              </p:nvSpPr>
              <p:spPr bwMode="auto">
                <a:xfrm>
                  <a:off x="3936" y="2688"/>
                  <a:ext cx="0" cy="288"/>
                </a:xfrm>
                <a:prstGeom prst="line">
                  <a:avLst/>
                </a:pr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49" name="Freeform 175"/>
                <p:cNvSpPr>
                  <a:spLocks noChangeAspect="1" noChangeArrowheads="1"/>
                </p:cNvSpPr>
                <p:nvPr/>
              </p:nvSpPr>
              <p:spPr bwMode="auto">
                <a:xfrm>
                  <a:off x="3795" y="2833"/>
                  <a:ext cx="285" cy="3"/>
                </a:xfrm>
                <a:custGeom>
                  <a:avLst/>
                  <a:gdLst>
                    <a:gd name="T0" fmla="*/ 0 w 285"/>
                    <a:gd name="T1" fmla="*/ 3 h 3"/>
                    <a:gd name="T2" fmla="*/ 285 w 285"/>
                    <a:gd name="T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285" h="3">
                      <a:moveTo>
                        <a:pt x="0" y="3"/>
                      </a:moveTo>
                      <a:lnTo>
                        <a:pt x="285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50" name="Oval 176"/>
                <p:cNvSpPr>
                  <a:spLocks noChangeAspect="1" noChangeArrowheads="1"/>
                </p:cNvSpPr>
                <p:nvPr/>
              </p:nvSpPr>
              <p:spPr bwMode="auto">
                <a:xfrm rot="-5400000">
                  <a:off x="3840" y="2736"/>
                  <a:ext cx="192" cy="192"/>
                </a:xfrm>
                <a:prstGeom prst="ellipse">
                  <a:avLst/>
                </a:prstGeom>
                <a:noFill/>
                <a:ln w="381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507" name="Group 177"/>
              <p:cNvGrpSpPr>
                <a:grpSpLocks noChangeAspect="1"/>
              </p:cNvGrpSpPr>
              <p:nvPr/>
            </p:nvGrpSpPr>
            <p:grpSpPr bwMode="auto">
              <a:xfrm>
                <a:off x="3134" y="2893"/>
                <a:ext cx="226" cy="230"/>
                <a:chOff x="3795" y="2688"/>
                <a:chExt cx="285" cy="288"/>
              </a:xfrm>
            </p:grpSpPr>
            <p:sp>
              <p:nvSpPr>
                <p:cNvPr id="545" name="Line 178"/>
                <p:cNvSpPr>
                  <a:spLocks noChangeAspect="1" noChangeShapeType="1"/>
                </p:cNvSpPr>
                <p:nvPr/>
              </p:nvSpPr>
              <p:spPr bwMode="auto">
                <a:xfrm>
                  <a:off x="3936" y="2688"/>
                  <a:ext cx="0" cy="288"/>
                </a:xfrm>
                <a:prstGeom prst="line">
                  <a:avLst/>
                </a:pr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46" name="Freeform 179"/>
                <p:cNvSpPr>
                  <a:spLocks noChangeAspect="1" noChangeArrowheads="1"/>
                </p:cNvSpPr>
                <p:nvPr/>
              </p:nvSpPr>
              <p:spPr bwMode="auto">
                <a:xfrm>
                  <a:off x="3795" y="2833"/>
                  <a:ext cx="285" cy="3"/>
                </a:xfrm>
                <a:custGeom>
                  <a:avLst/>
                  <a:gdLst>
                    <a:gd name="T0" fmla="*/ 0 w 285"/>
                    <a:gd name="T1" fmla="*/ 3 h 3"/>
                    <a:gd name="T2" fmla="*/ 285 w 285"/>
                    <a:gd name="T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285" h="3">
                      <a:moveTo>
                        <a:pt x="0" y="3"/>
                      </a:moveTo>
                      <a:lnTo>
                        <a:pt x="285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47" name="Oval 180"/>
                <p:cNvSpPr>
                  <a:spLocks noChangeAspect="1" noChangeArrowheads="1"/>
                </p:cNvSpPr>
                <p:nvPr/>
              </p:nvSpPr>
              <p:spPr bwMode="auto">
                <a:xfrm rot="-5400000">
                  <a:off x="3840" y="2736"/>
                  <a:ext cx="192" cy="192"/>
                </a:xfrm>
                <a:prstGeom prst="ellipse">
                  <a:avLst/>
                </a:prstGeom>
                <a:noFill/>
                <a:ln w="381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508" name="Group 181"/>
              <p:cNvGrpSpPr>
                <a:grpSpLocks noChangeAspect="1"/>
              </p:cNvGrpSpPr>
              <p:nvPr/>
            </p:nvGrpSpPr>
            <p:grpSpPr bwMode="auto">
              <a:xfrm>
                <a:off x="4436" y="3635"/>
                <a:ext cx="228" cy="232"/>
                <a:chOff x="3795" y="2688"/>
                <a:chExt cx="285" cy="288"/>
              </a:xfrm>
            </p:grpSpPr>
            <p:sp>
              <p:nvSpPr>
                <p:cNvPr id="542" name="Line 182"/>
                <p:cNvSpPr>
                  <a:spLocks noChangeAspect="1" noChangeShapeType="1"/>
                </p:cNvSpPr>
                <p:nvPr/>
              </p:nvSpPr>
              <p:spPr bwMode="auto">
                <a:xfrm>
                  <a:off x="3936" y="2688"/>
                  <a:ext cx="0" cy="288"/>
                </a:xfrm>
                <a:prstGeom prst="line">
                  <a:avLst/>
                </a:pr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43" name="Freeform 183"/>
                <p:cNvSpPr>
                  <a:spLocks noChangeAspect="1" noChangeArrowheads="1"/>
                </p:cNvSpPr>
                <p:nvPr/>
              </p:nvSpPr>
              <p:spPr bwMode="auto">
                <a:xfrm>
                  <a:off x="3795" y="2833"/>
                  <a:ext cx="285" cy="3"/>
                </a:xfrm>
                <a:custGeom>
                  <a:avLst/>
                  <a:gdLst>
                    <a:gd name="T0" fmla="*/ 0 w 285"/>
                    <a:gd name="T1" fmla="*/ 3 h 3"/>
                    <a:gd name="T2" fmla="*/ 285 w 285"/>
                    <a:gd name="T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285" h="3">
                      <a:moveTo>
                        <a:pt x="0" y="3"/>
                      </a:moveTo>
                      <a:lnTo>
                        <a:pt x="285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44" name="Oval 184"/>
                <p:cNvSpPr>
                  <a:spLocks noChangeAspect="1" noChangeArrowheads="1"/>
                </p:cNvSpPr>
                <p:nvPr/>
              </p:nvSpPr>
              <p:spPr bwMode="auto">
                <a:xfrm rot="-5400000">
                  <a:off x="3840" y="2736"/>
                  <a:ext cx="192" cy="192"/>
                </a:xfrm>
                <a:prstGeom prst="ellipse">
                  <a:avLst/>
                </a:prstGeom>
                <a:noFill/>
                <a:ln w="381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509" name="Group 185"/>
              <p:cNvGrpSpPr>
                <a:grpSpLocks noChangeAspect="1"/>
              </p:cNvGrpSpPr>
              <p:nvPr/>
            </p:nvGrpSpPr>
            <p:grpSpPr bwMode="auto">
              <a:xfrm>
                <a:off x="4424" y="2893"/>
                <a:ext cx="240" cy="225"/>
                <a:chOff x="3795" y="2688"/>
                <a:chExt cx="285" cy="288"/>
              </a:xfrm>
            </p:grpSpPr>
            <p:sp>
              <p:nvSpPr>
                <p:cNvPr id="539" name="Line 186"/>
                <p:cNvSpPr>
                  <a:spLocks noChangeAspect="1" noChangeShapeType="1"/>
                </p:cNvSpPr>
                <p:nvPr/>
              </p:nvSpPr>
              <p:spPr bwMode="auto">
                <a:xfrm>
                  <a:off x="3936" y="2688"/>
                  <a:ext cx="0" cy="288"/>
                </a:xfrm>
                <a:prstGeom prst="line">
                  <a:avLst/>
                </a:pr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40" name="Freeform 187"/>
                <p:cNvSpPr>
                  <a:spLocks noChangeAspect="1" noChangeArrowheads="1"/>
                </p:cNvSpPr>
                <p:nvPr/>
              </p:nvSpPr>
              <p:spPr bwMode="auto">
                <a:xfrm>
                  <a:off x="3795" y="2833"/>
                  <a:ext cx="285" cy="3"/>
                </a:xfrm>
                <a:custGeom>
                  <a:avLst/>
                  <a:gdLst>
                    <a:gd name="T0" fmla="*/ 0 w 285"/>
                    <a:gd name="T1" fmla="*/ 3 h 3"/>
                    <a:gd name="T2" fmla="*/ 285 w 285"/>
                    <a:gd name="T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285" h="3">
                      <a:moveTo>
                        <a:pt x="0" y="3"/>
                      </a:moveTo>
                      <a:lnTo>
                        <a:pt x="285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41" name="Oval 188"/>
                <p:cNvSpPr>
                  <a:spLocks noChangeAspect="1" noChangeArrowheads="1"/>
                </p:cNvSpPr>
                <p:nvPr/>
              </p:nvSpPr>
              <p:spPr bwMode="auto">
                <a:xfrm rot="-5400000">
                  <a:off x="3840" y="2736"/>
                  <a:ext cx="192" cy="192"/>
                </a:xfrm>
                <a:prstGeom prst="ellipse">
                  <a:avLst/>
                </a:prstGeom>
                <a:noFill/>
                <a:ln w="381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510" name="Group 189"/>
              <p:cNvGrpSpPr>
                <a:grpSpLocks noChangeAspect="1"/>
              </p:cNvGrpSpPr>
              <p:nvPr/>
            </p:nvGrpSpPr>
            <p:grpSpPr bwMode="auto">
              <a:xfrm>
                <a:off x="3395" y="3534"/>
                <a:ext cx="215" cy="214"/>
                <a:chOff x="3825" y="2746"/>
                <a:chExt cx="255" cy="255"/>
              </a:xfrm>
            </p:grpSpPr>
            <p:sp>
              <p:nvSpPr>
                <p:cNvPr id="536" name="Freeform 190"/>
                <p:cNvSpPr>
                  <a:spLocks noChangeAspect="1" noChangeArrowheads="1"/>
                </p:cNvSpPr>
                <p:nvPr/>
              </p:nvSpPr>
              <p:spPr bwMode="auto">
                <a:xfrm>
                  <a:off x="3960" y="2746"/>
                  <a:ext cx="1" cy="255"/>
                </a:xfrm>
                <a:custGeom>
                  <a:avLst/>
                  <a:gdLst>
                    <a:gd name="T0" fmla="*/ 0 w 1"/>
                    <a:gd name="T1" fmla="*/ 0 h 255"/>
                    <a:gd name="T2" fmla="*/ 0 w 1"/>
                    <a:gd name="T3" fmla="*/ 255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255">
                      <a:moveTo>
                        <a:pt x="0" y="0"/>
                      </a:moveTo>
                      <a:lnTo>
                        <a:pt x="0" y="255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37" name="Freeform 191"/>
                <p:cNvSpPr>
                  <a:spLocks noChangeAspect="1" noChangeArrowheads="1"/>
                </p:cNvSpPr>
                <p:nvPr/>
              </p:nvSpPr>
              <p:spPr bwMode="auto">
                <a:xfrm>
                  <a:off x="3825" y="2851"/>
                  <a:ext cx="255" cy="1"/>
                </a:xfrm>
                <a:custGeom>
                  <a:avLst/>
                  <a:gdLst>
                    <a:gd name="T0" fmla="*/ 0 w 255"/>
                    <a:gd name="T1" fmla="*/ 0 h 1"/>
                    <a:gd name="T2" fmla="*/ 255 w 255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255" h="1">
                      <a:moveTo>
                        <a:pt x="0" y="0"/>
                      </a:moveTo>
                      <a:lnTo>
                        <a:pt x="255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38" name="Oval 192"/>
                <p:cNvSpPr>
                  <a:spLocks noChangeAspect="1" noChangeArrowheads="1"/>
                </p:cNvSpPr>
                <p:nvPr/>
              </p:nvSpPr>
              <p:spPr bwMode="auto">
                <a:xfrm rot="-5400000">
                  <a:off x="3888" y="2784"/>
                  <a:ext cx="144" cy="144"/>
                </a:xfrm>
                <a:prstGeom prst="ellipse">
                  <a:avLst/>
                </a:prstGeom>
                <a:noFill/>
                <a:ln w="381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511" name="Group 193"/>
              <p:cNvGrpSpPr>
                <a:grpSpLocks noChangeAspect="1"/>
              </p:cNvGrpSpPr>
              <p:nvPr/>
            </p:nvGrpSpPr>
            <p:grpSpPr bwMode="auto">
              <a:xfrm>
                <a:off x="3406" y="3037"/>
                <a:ext cx="204" cy="200"/>
                <a:chOff x="3825" y="2746"/>
                <a:chExt cx="255" cy="255"/>
              </a:xfrm>
            </p:grpSpPr>
            <p:sp>
              <p:nvSpPr>
                <p:cNvPr id="533" name="Freeform 194"/>
                <p:cNvSpPr>
                  <a:spLocks noChangeAspect="1" noChangeArrowheads="1"/>
                </p:cNvSpPr>
                <p:nvPr/>
              </p:nvSpPr>
              <p:spPr bwMode="auto">
                <a:xfrm>
                  <a:off x="3960" y="2746"/>
                  <a:ext cx="1" cy="255"/>
                </a:xfrm>
                <a:custGeom>
                  <a:avLst/>
                  <a:gdLst>
                    <a:gd name="T0" fmla="*/ 0 w 1"/>
                    <a:gd name="T1" fmla="*/ 0 h 255"/>
                    <a:gd name="T2" fmla="*/ 0 w 1"/>
                    <a:gd name="T3" fmla="*/ 255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255">
                      <a:moveTo>
                        <a:pt x="0" y="0"/>
                      </a:moveTo>
                      <a:lnTo>
                        <a:pt x="0" y="255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34" name="Freeform 195"/>
                <p:cNvSpPr>
                  <a:spLocks noChangeAspect="1" noChangeArrowheads="1"/>
                </p:cNvSpPr>
                <p:nvPr/>
              </p:nvSpPr>
              <p:spPr bwMode="auto">
                <a:xfrm>
                  <a:off x="3825" y="2851"/>
                  <a:ext cx="255" cy="1"/>
                </a:xfrm>
                <a:custGeom>
                  <a:avLst/>
                  <a:gdLst>
                    <a:gd name="T0" fmla="*/ 0 w 255"/>
                    <a:gd name="T1" fmla="*/ 0 h 1"/>
                    <a:gd name="T2" fmla="*/ 255 w 255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255" h="1">
                      <a:moveTo>
                        <a:pt x="0" y="0"/>
                      </a:moveTo>
                      <a:lnTo>
                        <a:pt x="255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35" name="Oval 196"/>
                <p:cNvSpPr>
                  <a:spLocks noChangeAspect="1" noChangeArrowheads="1"/>
                </p:cNvSpPr>
                <p:nvPr/>
              </p:nvSpPr>
              <p:spPr bwMode="auto">
                <a:xfrm rot="-5400000">
                  <a:off x="3888" y="2784"/>
                  <a:ext cx="144" cy="144"/>
                </a:xfrm>
                <a:prstGeom prst="ellipse">
                  <a:avLst/>
                </a:prstGeom>
                <a:noFill/>
                <a:ln w="381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512" name="Group 197"/>
              <p:cNvGrpSpPr>
                <a:grpSpLocks noChangeAspect="1"/>
              </p:cNvGrpSpPr>
              <p:nvPr/>
            </p:nvGrpSpPr>
            <p:grpSpPr bwMode="auto">
              <a:xfrm>
                <a:off x="4173" y="3547"/>
                <a:ext cx="204" cy="213"/>
                <a:chOff x="3825" y="2746"/>
                <a:chExt cx="255" cy="255"/>
              </a:xfrm>
            </p:grpSpPr>
            <p:sp>
              <p:nvSpPr>
                <p:cNvPr id="530" name="Freeform 198"/>
                <p:cNvSpPr>
                  <a:spLocks noChangeAspect="1" noChangeArrowheads="1"/>
                </p:cNvSpPr>
                <p:nvPr/>
              </p:nvSpPr>
              <p:spPr bwMode="auto">
                <a:xfrm>
                  <a:off x="3960" y="2746"/>
                  <a:ext cx="1" cy="255"/>
                </a:xfrm>
                <a:custGeom>
                  <a:avLst/>
                  <a:gdLst>
                    <a:gd name="T0" fmla="*/ 0 w 1"/>
                    <a:gd name="T1" fmla="*/ 0 h 255"/>
                    <a:gd name="T2" fmla="*/ 0 w 1"/>
                    <a:gd name="T3" fmla="*/ 255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255">
                      <a:moveTo>
                        <a:pt x="0" y="0"/>
                      </a:moveTo>
                      <a:lnTo>
                        <a:pt x="0" y="255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31" name="Freeform 199"/>
                <p:cNvSpPr>
                  <a:spLocks noChangeAspect="1" noChangeArrowheads="1"/>
                </p:cNvSpPr>
                <p:nvPr/>
              </p:nvSpPr>
              <p:spPr bwMode="auto">
                <a:xfrm>
                  <a:off x="3825" y="2851"/>
                  <a:ext cx="255" cy="1"/>
                </a:xfrm>
                <a:custGeom>
                  <a:avLst/>
                  <a:gdLst>
                    <a:gd name="T0" fmla="*/ 0 w 255"/>
                    <a:gd name="T1" fmla="*/ 0 h 1"/>
                    <a:gd name="T2" fmla="*/ 255 w 255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255" h="1">
                      <a:moveTo>
                        <a:pt x="0" y="0"/>
                      </a:moveTo>
                      <a:lnTo>
                        <a:pt x="255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32" name="Oval 200"/>
                <p:cNvSpPr>
                  <a:spLocks noChangeAspect="1" noChangeArrowheads="1"/>
                </p:cNvSpPr>
                <p:nvPr/>
              </p:nvSpPr>
              <p:spPr bwMode="auto">
                <a:xfrm rot="-5400000">
                  <a:off x="3888" y="2784"/>
                  <a:ext cx="144" cy="144"/>
                </a:xfrm>
                <a:prstGeom prst="ellipse">
                  <a:avLst/>
                </a:prstGeom>
                <a:noFill/>
                <a:ln w="381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513" name="Group 201"/>
              <p:cNvGrpSpPr>
                <a:grpSpLocks noChangeAspect="1"/>
              </p:cNvGrpSpPr>
              <p:nvPr/>
            </p:nvGrpSpPr>
            <p:grpSpPr bwMode="auto">
              <a:xfrm>
                <a:off x="4179" y="3037"/>
                <a:ext cx="203" cy="200"/>
                <a:chOff x="3825" y="2746"/>
                <a:chExt cx="255" cy="255"/>
              </a:xfrm>
            </p:grpSpPr>
            <p:sp>
              <p:nvSpPr>
                <p:cNvPr id="527" name="Freeform 202"/>
                <p:cNvSpPr>
                  <a:spLocks noChangeAspect="1" noChangeArrowheads="1"/>
                </p:cNvSpPr>
                <p:nvPr/>
              </p:nvSpPr>
              <p:spPr bwMode="auto">
                <a:xfrm>
                  <a:off x="3960" y="2746"/>
                  <a:ext cx="1" cy="255"/>
                </a:xfrm>
                <a:custGeom>
                  <a:avLst/>
                  <a:gdLst>
                    <a:gd name="T0" fmla="*/ 0 w 1"/>
                    <a:gd name="T1" fmla="*/ 0 h 255"/>
                    <a:gd name="T2" fmla="*/ 0 w 1"/>
                    <a:gd name="T3" fmla="*/ 255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255">
                      <a:moveTo>
                        <a:pt x="0" y="0"/>
                      </a:moveTo>
                      <a:lnTo>
                        <a:pt x="0" y="255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28" name="Freeform 203"/>
                <p:cNvSpPr>
                  <a:spLocks noChangeAspect="1" noChangeArrowheads="1"/>
                </p:cNvSpPr>
                <p:nvPr/>
              </p:nvSpPr>
              <p:spPr bwMode="auto">
                <a:xfrm>
                  <a:off x="3825" y="2851"/>
                  <a:ext cx="255" cy="1"/>
                </a:xfrm>
                <a:custGeom>
                  <a:avLst/>
                  <a:gdLst>
                    <a:gd name="T0" fmla="*/ 0 w 255"/>
                    <a:gd name="T1" fmla="*/ 0 h 1"/>
                    <a:gd name="T2" fmla="*/ 255 w 255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255" h="1">
                      <a:moveTo>
                        <a:pt x="0" y="0"/>
                      </a:moveTo>
                      <a:lnTo>
                        <a:pt x="255" y="0"/>
                      </a:lnTo>
                    </a:path>
                  </a:pathLst>
                </a:cu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29" name="Oval 204"/>
                <p:cNvSpPr>
                  <a:spLocks noChangeAspect="1" noChangeArrowheads="1"/>
                </p:cNvSpPr>
                <p:nvPr/>
              </p:nvSpPr>
              <p:spPr bwMode="auto">
                <a:xfrm rot="-5400000">
                  <a:off x="3888" y="2784"/>
                  <a:ext cx="144" cy="144"/>
                </a:xfrm>
                <a:prstGeom prst="ellipse">
                  <a:avLst/>
                </a:prstGeom>
                <a:noFill/>
                <a:ln w="381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sp>
            <p:nvSpPr>
              <p:cNvPr id="514" name="Line 205"/>
              <p:cNvSpPr>
                <a:spLocks noChangeAspect="1" noChangeShapeType="1"/>
              </p:cNvSpPr>
              <p:nvPr/>
            </p:nvSpPr>
            <p:spPr bwMode="auto">
              <a:xfrm>
                <a:off x="4080" y="3675"/>
                <a:ext cx="0" cy="85"/>
              </a:xfrm>
              <a:prstGeom prst="line">
                <a:avLst/>
              </a:prstGeom>
              <a:noFill/>
              <a:ln w="38100">
                <a:solidFill>
                  <a:srgbClr val="3366FF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5" name="Freeform 206"/>
              <p:cNvSpPr>
                <a:spLocks noChangeAspect="1" noChangeArrowheads="1"/>
              </p:cNvSpPr>
              <p:nvPr/>
            </p:nvSpPr>
            <p:spPr bwMode="auto">
              <a:xfrm>
                <a:off x="3733" y="3666"/>
                <a:ext cx="2" cy="86"/>
              </a:xfrm>
              <a:custGeom>
                <a:avLst/>
                <a:gdLst>
                  <a:gd name="T0" fmla="*/ 2 w 2"/>
                  <a:gd name="T1" fmla="*/ 0 h 97"/>
                  <a:gd name="T2" fmla="*/ 0 w 2"/>
                  <a:gd name="T3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" h="97">
                    <a:moveTo>
                      <a:pt x="2" y="0"/>
                    </a:moveTo>
                    <a:lnTo>
                      <a:pt x="0" y="97"/>
                    </a:lnTo>
                  </a:path>
                </a:pathLst>
              </a:custGeom>
              <a:noFill/>
              <a:ln w="38100">
                <a:solidFill>
                  <a:srgbClr val="3366FF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6" name="Freeform 207"/>
              <p:cNvSpPr>
                <a:spLocks noChangeAspect="1" noChangeArrowheads="1"/>
              </p:cNvSpPr>
              <p:nvPr/>
            </p:nvSpPr>
            <p:spPr bwMode="auto">
              <a:xfrm>
                <a:off x="3574" y="3380"/>
                <a:ext cx="54" cy="58"/>
              </a:xfrm>
              <a:custGeom>
                <a:avLst/>
                <a:gdLst>
                  <a:gd name="T0" fmla="*/ 0 w 68"/>
                  <a:gd name="T1" fmla="*/ 66 h 66"/>
                  <a:gd name="T2" fmla="*/ 68 w 68"/>
                  <a:gd name="T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8" h="66">
                    <a:moveTo>
                      <a:pt x="0" y="66"/>
                    </a:moveTo>
                    <a:lnTo>
                      <a:pt x="68" y="0"/>
                    </a:lnTo>
                  </a:path>
                </a:pathLst>
              </a:custGeom>
              <a:noFill/>
              <a:ln w="127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7" name="Freeform 208"/>
              <p:cNvSpPr>
                <a:spLocks noChangeAspect="1" noChangeArrowheads="1"/>
              </p:cNvSpPr>
              <p:nvPr/>
            </p:nvSpPr>
            <p:spPr bwMode="auto">
              <a:xfrm>
                <a:off x="3815" y="3572"/>
                <a:ext cx="0" cy="180"/>
              </a:xfrm>
              <a:custGeom>
                <a:avLst/>
                <a:gdLst>
                  <a:gd name="T0" fmla="*/ 0 w 1"/>
                  <a:gd name="T1" fmla="*/ 0 h 204"/>
                  <a:gd name="T2" fmla="*/ 0 w 1"/>
                  <a:gd name="T3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204">
                    <a:moveTo>
                      <a:pt x="0" y="0"/>
                    </a:moveTo>
                    <a:lnTo>
                      <a:pt x="0" y="204"/>
                    </a:lnTo>
                  </a:path>
                </a:pathLst>
              </a:custGeom>
              <a:noFill/>
              <a:ln w="381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8" name="Freeform 209"/>
              <p:cNvSpPr>
                <a:spLocks noChangeAspect="1" noChangeArrowheads="1"/>
              </p:cNvSpPr>
              <p:nvPr/>
            </p:nvSpPr>
            <p:spPr bwMode="auto">
              <a:xfrm>
                <a:off x="3995" y="3470"/>
                <a:ext cx="250" cy="275"/>
              </a:xfrm>
              <a:custGeom>
                <a:avLst/>
                <a:gdLst>
                  <a:gd name="T0" fmla="*/ 0 w 313"/>
                  <a:gd name="T1" fmla="*/ 312 h 312"/>
                  <a:gd name="T2" fmla="*/ 313 w 313"/>
                  <a:gd name="T3" fmla="*/ 0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13" h="312">
                    <a:moveTo>
                      <a:pt x="0" y="312"/>
                    </a:moveTo>
                    <a:lnTo>
                      <a:pt x="313" y="0"/>
                    </a:lnTo>
                  </a:path>
                </a:pathLst>
              </a:custGeom>
              <a:noFill/>
              <a:ln w="127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9" name="Freeform 210"/>
              <p:cNvSpPr>
                <a:spLocks noChangeAspect="1" noChangeArrowheads="1"/>
              </p:cNvSpPr>
              <p:nvPr/>
            </p:nvSpPr>
            <p:spPr bwMode="auto">
              <a:xfrm>
                <a:off x="3995" y="3572"/>
                <a:ext cx="0" cy="186"/>
              </a:xfrm>
              <a:custGeom>
                <a:avLst/>
                <a:gdLst>
                  <a:gd name="T0" fmla="*/ 0 w 1"/>
                  <a:gd name="T1" fmla="*/ 0 h 211"/>
                  <a:gd name="T2" fmla="*/ 1 w 1"/>
                  <a:gd name="T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211">
                    <a:moveTo>
                      <a:pt x="0" y="0"/>
                    </a:moveTo>
                    <a:lnTo>
                      <a:pt x="1" y="211"/>
                    </a:lnTo>
                  </a:path>
                </a:pathLst>
              </a:custGeom>
              <a:noFill/>
              <a:ln w="381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20" name="Freeform 211"/>
              <p:cNvSpPr>
                <a:spLocks noChangeAspect="1" noChangeArrowheads="1"/>
              </p:cNvSpPr>
              <p:nvPr/>
            </p:nvSpPr>
            <p:spPr bwMode="auto">
              <a:xfrm>
                <a:off x="3726" y="3745"/>
                <a:ext cx="364" cy="2"/>
              </a:xfrm>
              <a:custGeom>
                <a:avLst/>
                <a:gdLst>
                  <a:gd name="T0" fmla="*/ 0 w 455"/>
                  <a:gd name="T1" fmla="*/ 2 h 2"/>
                  <a:gd name="T2" fmla="*/ 455 w 455"/>
                  <a:gd name="T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55" h="2">
                    <a:moveTo>
                      <a:pt x="0" y="2"/>
                    </a:moveTo>
                    <a:lnTo>
                      <a:pt x="455" y="0"/>
                    </a:lnTo>
                  </a:path>
                </a:pathLst>
              </a:custGeom>
              <a:noFill/>
              <a:ln w="381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21" name="Freeform 212"/>
              <p:cNvSpPr>
                <a:spLocks noChangeAspect="1" noChangeArrowheads="1"/>
              </p:cNvSpPr>
              <p:nvPr/>
            </p:nvSpPr>
            <p:spPr bwMode="auto">
              <a:xfrm>
                <a:off x="3598" y="3431"/>
                <a:ext cx="94" cy="100"/>
              </a:xfrm>
              <a:custGeom>
                <a:avLst/>
                <a:gdLst>
                  <a:gd name="T0" fmla="*/ 0 w 118"/>
                  <a:gd name="T1" fmla="*/ 113 h 113"/>
                  <a:gd name="T2" fmla="*/ 118 w 118"/>
                  <a:gd name="T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18" h="113">
                    <a:moveTo>
                      <a:pt x="0" y="113"/>
                    </a:moveTo>
                    <a:lnTo>
                      <a:pt x="118" y="0"/>
                    </a:lnTo>
                  </a:path>
                </a:pathLst>
              </a:custGeom>
              <a:noFill/>
              <a:ln w="127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22" name="Freeform 213"/>
              <p:cNvSpPr>
                <a:spLocks noChangeAspect="1" noChangeArrowheads="1"/>
              </p:cNvSpPr>
              <p:nvPr/>
            </p:nvSpPr>
            <p:spPr bwMode="auto">
              <a:xfrm>
                <a:off x="3646" y="3508"/>
                <a:ext cx="87" cy="96"/>
              </a:xfrm>
              <a:custGeom>
                <a:avLst/>
                <a:gdLst>
                  <a:gd name="T0" fmla="*/ 0 w 109"/>
                  <a:gd name="T1" fmla="*/ 109 h 109"/>
                  <a:gd name="T2" fmla="*/ 109 w 109"/>
                  <a:gd name="T3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09" h="109">
                    <a:moveTo>
                      <a:pt x="0" y="109"/>
                    </a:moveTo>
                    <a:lnTo>
                      <a:pt x="109" y="0"/>
                    </a:lnTo>
                  </a:path>
                </a:pathLst>
              </a:custGeom>
              <a:noFill/>
              <a:ln w="127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23" name="Freeform 214"/>
              <p:cNvSpPr>
                <a:spLocks noChangeAspect="1" noChangeArrowheads="1"/>
              </p:cNvSpPr>
              <p:nvPr/>
            </p:nvSpPr>
            <p:spPr bwMode="auto">
              <a:xfrm>
                <a:off x="3718" y="3566"/>
                <a:ext cx="73" cy="85"/>
              </a:xfrm>
              <a:custGeom>
                <a:avLst/>
                <a:gdLst>
                  <a:gd name="T0" fmla="*/ 0 w 92"/>
                  <a:gd name="T1" fmla="*/ 96 h 96"/>
                  <a:gd name="T2" fmla="*/ 92 w 92"/>
                  <a:gd name="T3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2" h="96">
                    <a:moveTo>
                      <a:pt x="0" y="96"/>
                    </a:moveTo>
                    <a:lnTo>
                      <a:pt x="92" y="0"/>
                    </a:lnTo>
                  </a:path>
                </a:pathLst>
              </a:custGeom>
              <a:noFill/>
              <a:ln w="127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24" name="Freeform 215"/>
              <p:cNvSpPr>
                <a:spLocks noChangeAspect="1" noChangeArrowheads="1"/>
              </p:cNvSpPr>
              <p:nvPr/>
            </p:nvSpPr>
            <p:spPr bwMode="auto">
              <a:xfrm>
                <a:off x="3739" y="3668"/>
                <a:ext cx="73" cy="77"/>
              </a:xfrm>
              <a:custGeom>
                <a:avLst/>
                <a:gdLst>
                  <a:gd name="T0" fmla="*/ 0 w 92"/>
                  <a:gd name="T1" fmla="*/ 87 h 87"/>
                  <a:gd name="T2" fmla="*/ 92 w 92"/>
                  <a:gd name="T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2" h="87">
                    <a:moveTo>
                      <a:pt x="0" y="87"/>
                    </a:moveTo>
                    <a:lnTo>
                      <a:pt x="92" y="0"/>
                    </a:lnTo>
                  </a:path>
                </a:pathLst>
              </a:custGeom>
              <a:noFill/>
              <a:ln w="127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25" name="Freeform 216"/>
              <p:cNvSpPr>
                <a:spLocks noChangeAspect="1" noChangeArrowheads="1"/>
              </p:cNvSpPr>
              <p:nvPr/>
            </p:nvSpPr>
            <p:spPr bwMode="auto">
              <a:xfrm>
                <a:off x="3995" y="3367"/>
                <a:ext cx="227" cy="250"/>
              </a:xfrm>
              <a:custGeom>
                <a:avLst/>
                <a:gdLst>
                  <a:gd name="T0" fmla="*/ 0 w 284"/>
                  <a:gd name="T1" fmla="*/ 284 h 284"/>
                  <a:gd name="T2" fmla="*/ 284 w 284"/>
                  <a:gd name="T3" fmla="*/ 0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84" h="284">
                    <a:moveTo>
                      <a:pt x="0" y="284"/>
                    </a:moveTo>
                    <a:lnTo>
                      <a:pt x="284" y="0"/>
                    </a:lnTo>
                  </a:path>
                </a:pathLst>
              </a:custGeom>
              <a:noFill/>
              <a:ln w="127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26" name="Arc 217"/>
              <p:cNvSpPr>
                <a:spLocks noChangeAspect="1" noChangeArrowheads="1"/>
              </p:cNvSpPr>
              <p:nvPr/>
            </p:nvSpPr>
            <p:spPr bwMode="auto">
              <a:xfrm flipV="1">
                <a:off x="3903" y="3373"/>
                <a:ext cx="355" cy="293"/>
              </a:xfrm>
              <a:custGeom>
                <a:avLst/>
                <a:gdLst>
                  <a:gd name="T0" fmla="*/ 10516 w 21600"/>
                  <a:gd name="T1" fmla="*/ 0 h 18867"/>
                  <a:gd name="T2" fmla="*/ 21600 w 21600"/>
                  <a:gd name="T3" fmla="*/ 18867 h 18867"/>
                  <a:gd name="T4" fmla="*/ 10516 w 21600"/>
                  <a:gd name="T5" fmla="*/ 0 h 18867"/>
                  <a:gd name="T6" fmla="*/ 21600 w 21600"/>
                  <a:gd name="T7" fmla="*/ 18867 h 18867"/>
                  <a:gd name="T8" fmla="*/ 0 w 21600"/>
                  <a:gd name="T9" fmla="*/ 18867 h 188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600" h="18867" fill="none">
                    <a:moveTo>
                      <a:pt x="10516" y="0"/>
                    </a:moveTo>
                    <a:cubicBezTo>
                      <a:pt x="17359" y="3814"/>
                      <a:pt x="21600" y="11033"/>
                      <a:pt x="21600" y="18867"/>
                    </a:cubicBezTo>
                  </a:path>
                  <a:path w="21600" h="18867" stroke="0">
                    <a:moveTo>
                      <a:pt x="10516" y="0"/>
                    </a:moveTo>
                    <a:cubicBezTo>
                      <a:pt x="17359" y="3814"/>
                      <a:pt x="21600" y="11033"/>
                      <a:pt x="21600" y="18867"/>
                    </a:cubicBezTo>
                    <a:lnTo>
                      <a:pt x="0" y="18867"/>
                    </a:lnTo>
                    <a:close/>
                  </a:path>
                </a:pathLst>
              </a:custGeom>
              <a:noFill/>
              <a:ln w="38100">
                <a:solidFill>
                  <a:srgbClr val="33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sp>
        <p:nvSpPr>
          <p:cNvPr id="551" name="Text Box 218"/>
          <p:cNvSpPr txBox="1">
            <a:spLocks noChangeAspect="1" noChangeArrowheads="1"/>
          </p:cNvSpPr>
          <p:nvPr/>
        </p:nvSpPr>
        <p:spPr bwMode="auto">
          <a:xfrm>
            <a:off x="2612303" y="3345656"/>
            <a:ext cx="1363663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sz="2000" i="1">
                <a:latin typeface="Times New Roman" panose="02020603050405020304" pitchFamily="18" charset="0"/>
              </a:rPr>
              <a:t>B</a:t>
            </a:r>
            <a:r>
              <a:rPr lang="zh-CN" altLang="en-US" sz="2000" i="1">
                <a:latin typeface="Times New Roman" panose="02020603050405020304" pitchFamily="18" charset="0"/>
              </a:rPr>
              <a:t>－</a:t>
            </a:r>
            <a:r>
              <a:rPr lang="en-US" altLang="zh-CN" sz="2000" i="1">
                <a:latin typeface="Times New Roman" panose="02020603050405020304" pitchFamily="18" charset="0"/>
              </a:rPr>
              <a:t>B</a:t>
            </a:r>
          </a:p>
        </p:txBody>
      </p:sp>
      <p:grpSp>
        <p:nvGrpSpPr>
          <p:cNvPr id="552" name="Group 219"/>
          <p:cNvGrpSpPr>
            <a:grpSpLocks/>
          </p:cNvGrpSpPr>
          <p:nvPr/>
        </p:nvGrpSpPr>
        <p:grpSpPr bwMode="auto">
          <a:xfrm>
            <a:off x="1674091" y="4380706"/>
            <a:ext cx="3163887" cy="214313"/>
            <a:chOff x="405" y="2684"/>
            <a:chExt cx="1993" cy="135"/>
          </a:xfrm>
        </p:grpSpPr>
        <p:sp>
          <p:nvSpPr>
            <p:cNvPr id="553" name="Line 220"/>
            <p:cNvSpPr>
              <a:spLocks noChangeAspect="1" noChangeShapeType="1"/>
            </p:cNvSpPr>
            <p:nvPr/>
          </p:nvSpPr>
          <p:spPr bwMode="auto">
            <a:xfrm>
              <a:off x="2294" y="2818"/>
              <a:ext cx="1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4" name="Line 221"/>
            <p:cNvSpPr>
              <a:spLocks noChangeAspect="1" noChangeShapeType="1"/>
            </p:cNvSpPr>
            <p:nvPr/>
          </p:nvSpPr>
          <p:spPr bwMode="auto">
            <a:xfrm>
              <a:off x="405" y="2819"/>
              <a:ext cx="1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5" name="Line 222"/>
            <p:cNvSpPr>
              <a:spLocks noChangeAspect="1" noChangeShapeType="1"/>
            </p:cNvSpPr>
            <p:nvPr/>
          </p:nvSpPr>
          <p:spPr bwMode="auto">
            <a:xfrm flipV="1">
              <a:off x="2393" y="2702"/>
              <a:ext cx="0" cy="11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6" name="Line 223"/>
            <p:cNvSpPr>
              <a:spLocks noChangeAspect="1" noChangeShapeType="1"/>
            </p:cNvSpPr>
            <p:nvPr/>
          </p:nvSpPr>
          <p:spPr bwMode="auto">
            <a:xfrm flipV="1">
              <a:off x="409" y="2684"/>
              <a:ext cx="0" cy="13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57" name="Group 224"/>
          <p:cNvGrpSpPr>
            <a:grpSpLocks/>
          </p:cNvGrpSpPr>
          <p:nvPr/>
        </p:nvGrpSpPr>
        <p:grpSpPr bwMode="auto">
          <a:xfrm>
            <a:off x="1305791" y="4328319"/>
            <a:ext cx="3859212" cy="444500"/>
            <a:chOff x="173" y="2651"/>
            <a:chExt cx="2431" cy="280"/>
          </a:xfrm>
        </p:grpSpPr>
        <p:sp>
          <p:nvSpPr>
            <p:cNvPr id="558" name="Text Box 225"/>
            <p:cNvSpPr txBox="1">
              <a:spLocks noChangeAspect="1" noChangeArrowheads="1"/>
            </p:cNvSpPr>
            <p:nvPr/>
          </p:nvSpPr>
          <p:spPr bwMode="auto">
            <a:xfrm>
              <a:off x="173" y="2651"/>
              <a:ext cx="22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2000" i="1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559" name="Text Box 226"/>
            <p:cNvSpPr txBox="1">
              <a:spLocks noChangeAspect="1" noChangeArrowheads="1"/>
            </p:cNvSpPr>
            <p:nvPr/>
          </p:nvSpPr>
          <p:spPr bwMode="auto">
            <a:xfrm>
              <a:off x="2381" y="2681"/>
              <a:ext cx="22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2000" i="1">
                  <a:latin typeface="Times New Roman" panose="02020603050405020304" pitchFamily="18" charset="0"/>
                </a:rPr>
                <a:t>A</a:t>
              </a:r>
            </a:p>
          </p:txBody>
        </p:sp>
      </p:grpSp>
      <p:sp>
        <p:nvSpPr>
          <p:cNvPr id="560" name="Text Box 227"/>
          <p:cNvSpPr txBox="1">
            <a:spLocks noChangeArrowheads="1"/>
          </p:cNvSpPr>
          <p:nvPr/>
        </p:nvSpPr>
        <p:spPr bwMode="auto">
          <a:xfrm>
            <a:off x="1016000" y="341313"/>
            <a:ext cx="8595591" cy="480131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28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zh-CN" altLang="en-US" sz="2400" dirty="0"/>
              <a:t>半剖视图适用于内、外形都需要表达，且具有对称面的物体。</a:t>
            </a:r>
          </a:p>
        </p:txBody>
      </p:sp>
      <p:grpSp>
        <p:nvGrpSpPr>
          <p:cNvPr id="564" name="Group 231"/>
          <p:cNvGrpSpPr>
            <a:grpSpLocks/>
          </p:cNvGrpSpPr>
          <p:nvPr/>
        </p:nvGrpSpPr>
        <p:grpSpPr bwMode="auto">
          <a:xfrm>
            <a:off x="5930178" y="1413669"/>
            <a:ext cx="3681413" cy="3741737"/>
            <a:chOff x="2438" y="887"/>
            <a:chExt cx="2319" cy="2357"/>
          </a:xfrm>
        </p:grpSpPr>
        <p:sp>
          <p:nvSpPr>
            <p:cNvPr id="565" name="Line 232"/>
            <p:cNvSpPr>
              <a:spLocks noChangeShapeType="1"/>
            </p:cNvSpPr>
            <p:nvPr/>
          </p:nvSpPr>
          <p:spPr bwMode="auto">
            <a:xfrm flipV="1">
              <a:off x="4458" y="1527"/>
              <a:ext cx="1" cy="141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6" name="Line 233"/>
            <p:cNvSpPr>
              <a:spLocks noChangeShapeType="1"/>
            </p:cNvSpPr>
            <p:nvPr/>
          </p:nvSpPr>
          <p:spPr bwMode="auto">
            <a:xfrm flipV="1">
              <a:off x="4458" y="1789"/>
              <a:ext cx="1" cy="170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" name="Line 234"/>
            <p:cNvSpPr>
              <a:spLocks noChangeShapeType="1"/>
            </p:cNvSpPr>
            <p:nvPr/>
          </p:nvSpPr>
          <p:spPr bwMode="auto">
            <a:xfrm flipV="1">
              <a:off x="4458" y="1710"/>
              <a:ext cx="1" cy="42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" name="Line 235"/>
            <p:cNvSpPr>
              <a:spLocks noChangeShapeType="1"/>
            </p:cNvSpPr>
            <p:nvPr/>
          </p:nvSpPr>
          <p:spPr bwMode="auto">
            <a:xfrm flipV="1">
              <a:off x="2738" y="1527"/>
              <a:ext cx="1" cy="141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9" name="Line 236"/>
            <p:cNvSpPr>
              <a:spLocks noChangeShapeType="1"/>
            </p:cNvSpPr>
            <p:nvPr/>
          </p:nvSpPr>
          <p:spPr bwMode="auto">
            <a:xfrm flipV="1">
              <a:off x="2738" y="1710"/>
              <a:ext cx="1" cy="42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0" name="Line 237"/>
            <p:cNvSpPr>
              <a:spLocks noChangeShapeType="1"/>
            </p:cNvSpPr>
            <p:nvPr/>
          </p:nvSpPr>
          <p:spPr bwMode="auto">
            <a:xfrm flipV="1">
              <a:off x="2738" y="1789"/>
              <a:ext cx="1" cy="170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1" name="Line 238"/>
            <p:cNvSpPr>
              <a:spLocks noChangeShapeType="1"/>
            </p:cNvSpPr>
            <p:nvPr/>
          </p:nvSpPr>
          <p:spPr bwMode="auto">
            <a:xfrm flipV="1">
              <a:off x="3598" y="1236"/>
              <a:ext cx="1" cy="38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2" name="Line 239"/>
            <p:cNvSpPr>
              <a:spLocks noChangeShapeType="1"/>
            </p:cNvSpPr>
            <p:nvPr/>
          </p:nvSpPr>
          <p:spPr bwMode="auto">
            <a:xfrm flipV="1">
              <a:off x="3598" y="887"/>
              <a:ext cx="1" cy="308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" name="Line 240"/>
            <p:cNvSpPr>
              <a:spLocks noChangeShapeType="1"/>
            </p:cNvSpPr>
            <p:nvPr/>
          </p:nvSpPr>
          <p:spPr bwMode="auto">
            <a:xfrm flipV="1">
              <a:off x="3598" y="1660"/>
              <a:ext cx="1" cy="38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" name="Line 241"/>
            <p:cNvSpPr>
              <a:spLocks noChangeShapeType="1"/>
            </p:cNvSpPr>
            <p:nvPr/>
          </p:nvSpPr>
          <p:spPr bwMode="auto">
            <a:xfrm flipV="1">
              <a:off x="3598" y="1315"/>
              <a:ext cx="1" cy="304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" name="Line 242"/>
            <p:cNvSpPr>
              <a:spLocks noChangeShapeType="1"/>
            </p:cNvSpPr>
            <p:nvPr/>
          </p:nvSpPr>
          <p:spPr bwMode="auto">
            <a:xfrm flipV="1">
              <a:off x="3598" y="1739"/>
              <a:ext cx="1" cy="262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" name="Line 243"/>
            <p:cNvSpPr>
              <a:spLocks noChangeShapeType="1"/>
            </p:cNvSpPr>
            <p:nvPr/>
          </p:nvSpPr>
          <p:spPr bwMode="auto">
            <a:xfrm flipV="1">
              <a:off x="4458" y="2429"/>
              <a:ext cx="1" cy="603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" name="Line 244"/>
            <p:cNvSpPr>
              <a:spLocks noChangeShapeType="1"/>
            </p:cNvSpPr>
            <p:nvPr/>
          </p:nvSpPr>
          <p:spPr bwMode="auto">
            <a:xfrm>
              <a:off x="4113" y="2728"/>
              <a:ext cx="38" cy="1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8" name="Line 245"/>
            <p:cNvSpPr>
              <a:spLocks noChangeShapeType="1"/>
            </p:cNvSpPr>
            <p:nvPr/>
          </p:nvSpPr>
          <p:spPr bwMode="auto">
            <a:xfrm>
              <a:off x="4192" y="2728"/>
              <a:ext cx="565" cy="1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9" name="Line 246"/>
            <p:cNvSpPr>
              <a:spLocks noChangeShapeType="1"/>
            </p:cNvSpPr>
            <p:nvPr/>
          </p:nvSpPr>
          <p:spPr bwMode="auto">
            <a:xfrm>
              <a:off x="3598" y="2728"/>
              <a:ext cx="478" cy="1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0" name="Line 247"/>
            <p:cNvSpPr>
              <a:spLocks noChangeShapeType="1"/>
            </p:cNvSpPr>
            <p:nvPr/>
          </p:nvSpPr>
          <p:spPr bwMode="auto">
            <a:xfrm flipH="1">
              <a:off x="2438" y="2728"/>
              <a:ext cx="566" cy="1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1" name="Line 248"/>
            <p:cNvSpPr>
              <a:spLocks noChangeShapeType="1"/>
            </p:cNvSpPr>
            <p:nvPr/>
          </p:nvSpPr>
          <p:spPr bwMode="auto">
            <a:xfrm flipH="1">
              <a:off x="3045" y="2728"/>
              <a:ext cx="38" cy="1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2" name="Line 249"/>
            <p:cNvSpPr>
              <a:spLocks noChangeShapeType="1"/>
            </p:cNvSpPr>
            <p:nvPr/>
          </p:nvSpPr>
          <p:spPr bwMode="auto">
            <a:xfrm flipH="1">
              <a:off x="3120" y="2728"/>
              <a:ext cx="478" cy="1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" name="Line 250"/>
            <p:cNvSpPr>
              <a:spLocks noChangeShapeType="1"/>
            </p:cNvSpPr>
            <p:nvPr/>
          </p:nvSpPr>
          <p:spPr bwMode="auto">
            <a:xfrm flipV="1">
              <a:off x="3598" y="2840"/>
              <a:ext cx="1" cy="46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" name="Line 251"/>
            <p:cNvSpPr>
              <a:spLocks noChangeShapeType="1"/>
            </p:cNvSpPr>
            <p:nvPr/>
          </p:nvSpPr>
          <p:spPr bwMode="auto">
            <a:xfrm flipV="1">
              <a:off x="3598" y="2217"/>
              <a:ext cx="1" cy="582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" name="Line 252"/>
            <p:cNvSpPr>
              <a:spLocks noChangeShapeType="1"/>
            </p:cNvSpPr>
            <p:nvPr/>
          </p:nvSpPr>
          <p:spPr bwMode="auto">
            <a:xfrm flipV="1">
              <a:off x="3598" y="2932"/>
              <a:ext cx="1" cy="312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6" name="Line 253"/>
            <p:cNvSpPr>
              <a:spLocks noChangeShapeType="1"/>
            </p:cNvSpPr>
            <p:nvPr/>
          </p:nvSpPr>
          <p:spPr bwMode="auto">
            <a:xfrm flipV="1">
              <a:off x="2738" y="2429"/>
              <a:ext cx="1" cy="603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7" name="Oval 254"/>
            <p:cNvSpPr>
              <a:spLocks noChangeArrowheads="1"/>
            </p:cNvSpPr>
            <p:nvPr/>
          </p:nvSpPr>
          <p:spPr bwMode="auto">
            <a:xfrm>
              <a:off x="3170" y="2300"/>
              <a:ext cx="856" cy="860"/>
            </a:xfrm>
            <a:prstGeom prst="ellips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88" name="Oval 255"/>
            <p:cNvSpPr>
              <a:spLocks noChangeArrowheads="1"/>
            </p:cNvSpPr>
            <p:nvPr/>
          </p:nvSpPr>
          <p:spPr bwMode="auto">
            <a:xfrm>
              <a:off x="3340" y="2475"/>
              <a:ext cx="516" cy="511"/>
            </a:xfrm>
            <a:prstGeom prst="ellips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89" name="Oval 256"/>
            <p:cNvSpPr>
              <a:spLocks noChangeArrowheads="1"/>
            </p:cNvSpPr>
            <p:nvPr/>
          </p:nvSpPr>
          <p:spPr bwMode="auto">
            <a:xfrm>
              <a:off x="3211" y="2346"/>
              <a:ext cx="773" cy="769"/>
            </a:xfrm>
            <a:prstGeom prst="ellips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90" name="Oval 257"/>
            <p:cNvSpPr>
              <a:spLocks noChangeArrowheads="1"/>
            </p:cNvSpPr>
            <p:nvPr/>
          </p:nvSpPr>
          <p:spPr bwMode="auto">
            <a:xfrm>
              <a:off x="4371" y="2645"/>
              <a:ext cx="170" cy="170"/>
            </a:xfrm>
            <a:prstGeom prst="ellips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91" name="Oval 258"/>
            <p:cNvSpPr>
              <a:spLocks noChangeArrowheads="1"/>
            </p:cNvSpPr>
            <p:nvPr/>
          </p:nvSpPr>
          <p:spPr bwMode="auto">
            <a:xfrm>
              <a:off x="4329" y="2604"/>
              <a:ext cx="258" cy="253"/>
            </a:xfrm>
            <a:prstGeom prst="ellips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92" name="Line 259"/>
            <p:cNvSpPr>
              <a:spLocks noChangeShapeType="1"/>
            </p:cNvSpPr>
            <p:nvPr/>
          </p:nvSpPr>
          <p:spPr bwMode="auto">
            <a:xfrm>
              <a:off x="3706" y="2317"/>
              <a:ext cx="802" cy="208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3" name="Line 260"/>
            <p:cNvSpPr>
              <a:spLocks noChangeShapeType="1"/>
            </p:cNvSpPr>
            <p:nvPr/>
          </p:nvSpPr>
          <p:spPr bwMode="auto">
            <a:xfrm flipV="1">
              <a:off x="3706" y="2936"/>
              <a:ext cx="802" cy="208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" name="Line 261"/>
            <p:cNvSpPr>
              <a:spLocks noChangeShapeType="1"/>
            </p:cNvSpPr>
            <p:nvPr/>
          </p:nvSpPr>
          <p:spPr bwMode="auto">
            <a:xfrm flipV="1">
              <a:off x="3706" y="2936"/>
              <a:ext cx="802" cy="208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" name="Line 262"/>
            <p:cNvSpPr>
              <a:spLocks noChangeShapeType="1"/>
            </p:cNvSpPr>
            <p:nvPr/>
          </p:nvSpPr>
          <p:spPr bwMode="auto">
            <a:xfrm>
              <a:off x="3706" y="2317"/>
              <a:ext cx="802" cy="208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" name="Oval 263"/>
            <p:cNvSpPr>
              <a:spLocks noChangeArrowheads="1"/>
            </p:cNvSpPr>
            <p:nvPr/>
          </p:nvSpPr>
          <p:spPr bwMode="auto">
            <a:xfrm>
              <a:off x="4371" y="2645"/>
              <a:ext cx="170" cy="170"/>
            </a:xfrm>
            <a:prstGeom prst="ellips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97" name="Oval 264"/>
            <p:cNvSpPr>
              <a:spLocks noChangeArrowheads="1"/>
            </p:cNvSpPr>
            <p:nvPr/>
          </p:nvSpPr>
          <p:spPr bwMode="auto">
            <a:xfrm>
              <a:off x="4329" y="2604"/>
              <a:ext cx="258" cy="253"/>
            </a:xfrm>
            <a:prstGeom prst="ellips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98" name="Line 265"/>
            <p:cNvSpPr>
              <a:spLocks noChangeShapeType="1"/>
            </p:cNvSpPr>
            <p:nvPr/>
          </p:nvSpPr>
          <p:spPr bwMode="auto">
            <a:xfrm flipH="1">
              <a:off x="2688" y="2317"/>
              <a:ext cx="802" cy="208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9" name="Line 266"/>
            <p:cNvSpPr>
              <a:spLocks noChangeShapeType="1"/>
            </p:cNvSpPr>
            <p:nvPr/>
          </p:nvSpPr>
          <p:spPr bwMode="auto">
            <a:xfrm flipH="1" flipV="1">
              <a:off x="2688" y="2936"/>
              <a:ext cx="802" cy="208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0" name="Oval 267"/>
            <p:cNvSpPr>
              <a:spLocks noChangeArrowheads="1"/>
            </p:cNvSpPr>
            <p:nvPr/>
          </p:nvSpPr>
          <p:spPr bwMode="auto">
            <a:xfrm>
              <a:off x="2654" y="2645"/>
              <a:ext cx="171" cy="170"/>
            </a:xfrm>
            <a:prstGeom prst="ellips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01" name="Oval 268"/>
            <p:cNvSpPr>
              <a:spLocks noChangeArrowheads="1"/>
            </p:cNvSpPr>
            <p:nvPr/>
          </p:nvSpPr>
          <p:spPr bwMode="auto">
            <a:xfrm>
              <a:off x="2609" y="2604"/>
              <a:ext cx="257" cy="253"/>
            </a:xfrm>
            <a:prstGeom prst="ellips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02" name="Oval 269"/>
            <p:cNvSpPr>
              <a:spLocks noChangeArrowheads="1"/>
            </p:cNvSpPr>
            <p:nvPr/>
          </p:nvSpPr>
          <p:spPr bwMode="auto">
            <a:xfrm>
              <a:off x="2654" y="2645"/>
              <a:ext cx="171" cy="170"/>
            </a:xfrm>
            <a:prstGeom prst="ellips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03" name="Oval 270"/>
            <p:cNvSpPr>
              <a:spLocks noChangeArrowheads="1"/>
            </p:cNvSpPr>
            <p:nvPr/>
          </p:nvSpPr>
          <p:spPr bwMode="auto">
            <a:xfrm>
              <a:off x="2609" y="2604"/>
              <a:ext cx="257" cy="253"/>
            </a:xfrm>
            <a:prstGeom prst="ellips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04" name="Line 271"/>
            <p:cNvSpPr>
              <a:spLocks noChangeShapeType="1"/>
            </p:cNvSpPr>
            <p:nvPr/>
          </p:nvSpPr>
          <p:spPr bwMode="auto">
            <a:xfrm>
              <a:off x="3856" y="1016"/>
              <a:ext cx="1" cy="856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5" name="Line 272"/>
            <p:cNvSpPr>
              <a:spLocks noChangeShapeType="1"/>
            </p:cNvSpPr>
            <p:nvPr/>
          </p:nvSpPr>
          <p:spPr bwMode="auto">
            <a:xfrm>
              <a:off x="3340" y="1872"/>
              <a:ext cx="516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6" name="Line 273"/>
            <p:cNvSpPr>
              <a:spLocks noChangeShapeType="1"/>
            </p:cNvSpPr>
            <p:nvPr/>
          </p:nvSpPr>
          <p:spPr bwMode="auto">
            <a:xfrm>
              <a:off x="4371" y="1872"/>
              <a:ext cx="170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7" name="Line 274"/>
            <p:cNvSpPr>
              <a:spLocks noChangeShapeType="1"/>
            </p:cNvSpPr>
            <p:nvPr/>
          </p:nvSpPr>
          <p:spPr bwMode="auto">
            <a:xfrm flipV="1">
              <a:off x="4541" y="1614"/>
              <a:ext cx="1" cy="258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8" name="Line 275"/>
            <p:cNvSpPr>
              <a:spLocks noChangeShapeType="1"/>
            </p:cNvSpPr>
            <p:nvPr/>
          </p:nvSpPr>
          <p:spPr bwMode="auto">
            <a:xfrm>
              <a:off x="4329" y="1614"/>
              <a:ext cx="258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9" name="Line 276"/>
            <p:cNvSpPr>
              <a:spLocks noChangeShapeType="1"/>
            </p:cNvSpPr>
            <p:nvPr/>
          </p:nvSpPr>
          <p:spPr bwMode="auto">
            <a:xfrm>
              <a:off x="3170" y="1872"/>
              <a:ext cx="1500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0" name="Line 277"/>
            <p:cNvSpPr>
              <a:spLocks noChangeShapeType="1"/>
            </p:cNvSpPr>
            <p:nvPr/>
          </p:nvSpPr>
          <p:spPr bwMode="auto">
            <a:xfrm flipH="1">
              <a:off x="2654" y="1872"/>
              <a:ext cx="171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1" name="Line 278"/>
            <p:cNvSpPr>
              <a:spLocks noChangeShapeType="1"/>
            </p:cNvSpPr>
            <p:nvPr/>
          </p:nvSpPr>
          <p:spPr bwMode="auto">
            <a:xfrm flipH="1">
              <a:off x="2609" y="1614"/>
              <a:ext cx="257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2" name="Line 279"/>
            <p:cNvSpPr>
              <a:spLocks noChangeShapeType="1"/>
            </p:cNvSpPr>
            <p:nvPr/>
          </p:nvSpPr>
          <p:spPr bwMode="auto">
            <a:xfrm flipH="1">
              <a:off x="2526" y="1872"/>
              <a:ext cx="1500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3" name="Line 280"/>
            <p:cNvSpPr>
              <a:spLocks noChangeShapeType="1"/>
            </p:cNvSpPr>
            <p:nvPr/>
          </p:nvSpPr>
          <p:spPr bwMode="auto">
            <a:xfrm flipV="1">
              <a:off x="3195" y="1249"/>
              <a:ext cx="1" cy="407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" name="Line 281"/>
            <p:cNvSpPr>
              <a:spLocks noChangeShapeType="1"/>
            </p:cNvSpPr>
            <p:nvPr/>
          </p:nvSpPr>
          <p:spPr bwMode="auto">
            <a:xfrm flipH="1">
              <a:off x="2937" y="1249"/>
              <a:ext cx="258" cy="407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" name="Line 282"/>
            <p:cNvSpPr>
              <a:spLocks noChangeShapeType="1"/>
            </p:cNvSpPr>
            <p:nvPr/>
          </p:nvSpPr>
          <p:spPr bwMode="auto">
            <a:xfrm>
              <a:off x="2937" y="2666"/>
              <a:ext cx="237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6" name="Line 283"/>
            <p:cNvSpPr>
              <a:spLocks noChangeShapeType="1"/>
            </p:cNvSpPr>
            <p:nvPr/>
          </p:nvSpPr>
          <p:spPr bwMode="auto">
            <a:xfrm>
              <a:off x="2937" y="2795"/>
              <a:ext cx="237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7" name="Freeform 284"/>
            <p:cNvSpPr>
              <a:spLocks noChangeArrowheads="1"/>
            </p:cNvSpPr>
            <p:nvPr/>
          </p:nvSpPr>
          <p:spPr bwMode="auto">
            <a:xfrm>
              <a:off x="2526" y="2525"/>
              <a:ext cx="162" cy="411"/>
            </a:xfrm>
            <a:custGeom>
              <a:avLst/>
              <a:gdLst>
                <a:gd name="T0" fmla="*/ 39 w 39"/>
                <a:gd name="T1" fmla="*/ 0 h 99"/>
                <a:gd name="T2" fmla="*/ 29 w 39"/>
                <a:gd name="T3" fmla="*/ 3 h 99"/>
                <a:gd name="T4" fmla="*/ 21 w 39"/>
                <a:gd name="T5" fmla="*/ 8 h 99"/>
                <a:gd name="T6" fmla="*/ 14 w 39"/>
                <a:gd name="T7" fmla="*/ 14 h 99"/>
                <a:gd name="T8" fmla="*/ 8 w 39"/>
                <a:gd name="T9" fmla="*/ 22 h 99"/>
                <a:gd name="T10" fmla="*/ 3 w 39"/>
                <a:gd name="T11" fmla="*/ 30 h 99"/>
                <a:gd name="T12" fmla="*/ 1 w 39"/>
                <a:gd name="T13" fmla="*/ 40 h 99"/>
                <a:gd name="T14" fmla="*/ 0 w 39"/>
                <a:gd name="T15" fmla="*/ 49 h 99"/>
                <a:gd name="T16" fmla="*/ 1 w 39"/>
                <a:gd name="T17" fmla="*/ 59 h 99"/>
                <a:gd name="T18" fmla="*/ 3 w 39"/>
                <a:gd name="T19" fmla="*/ 68 h 99"/>
                <a:gd name="T20" fmla="*/ 8 w 39"/>
                <a:gd name="T21" fmla="*/ 77 h 99"/>
                <a:gd name="T22" fmla="*/ 14 w 39"/>
                <a:gd name="T23" fmla="*/ 85 h 99"/>
                <a:gd name="T24" fmla="*/ 21 w 39"/>
                <a:gd name="T25" fmla="*/ 91 h 99"/>
                <a:gd name="T26" fmla="*/ 29 w 39"/>
                <a:gd name="T27" fmla="*/ 96 h 99"/>
                <a:gd name="T28" fmla="*/ 39 w 39"/>
                <a:gd name="T2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" h="99">
                  <a:moveTo>
                    <a:pt x="39" y="0"/>
                  </a:moveTo>
                  <a:lnTo>
                    <a:pt x="29" y="3"/>
                  </a:lnTo>
                  <a:lnTo>
                    <a:pt x="21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3" y="30"/>
                  </a:lnTo>
                  <a:lnTo>
                    <a:pt x="1" y="40"/>
                  </a:lnTo>
                  <a:lnTo>
                    <a:pt x="0" y="49"/>
                  </a:lnTo>
                  <a:lnTo>
                    <a:pt x="1" y="59"/>
                  </a:lnTo>
                  <a:lnTo>
                    <a:pt x="3" y="68"/>
                  </a:lnTo>
                  <a:lnTo>
                    <a:pt x="8" y="77"/>
                  </a:lnTo>
                  <a:lnTo>
                    <a:pt x="14" y="85"/>
                  </a:lnTo>
                  <a:lnTo>
                    <a:pt x="21" y="91"/>
                  </a:lnTo>
                  <a:lnTo>
                    <a:pt x="29" y="96"/>
                  </a:lnTo>
                  <a:lnTo>
                    <a:pt x="39" y="99"/>
                  </a:lnTo>
                </a:path>
              </a:pathLst>
            </a:cu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18" name="Line 285"/>
            <p:cNvSpPr>
              <a:spLocks noChangeShapeType="1"/>
            </p:cNvSpPr>
            <p:nvPr/>
          </p:nvSpPr>
          <p:spPr bwMode="auto">
            <a:xfrm flipV="1">
              <a:off x="3170" y="1058"/>
              <a:ext cx="1" cy="232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9" name="Line 286"/>
            <p:cNvSpPr>
              <a:spLocks noChangeShapeType="1"/>
            </p:cNvSpPr>
            <p:nvPr/>
          </p:nvSpPr>
          <p:spPr bwMode="auto">
            <a:xfrm flipV="1">
              <a:off x="3170" y="1016"/>
              <a:ext cx="41" cy="42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0" name="Line 287"/>
            <p:cNvSpPr>
              <a:spLocks noChangeShapeType="1"/>
            </p:cNvSpPr>
            <p:nvPr/>
          </p:nvSpPr>
          <p:spPr bwMode="auto">
            <a:xfrm>
              <a:off x="3211" y="1016"/>
              <a:ext cx="773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1" name="Line 288"/>
            <p:cNvSpPr>
              <a:spLocks noChangeShapeType="1"/>
            </p:cNvSpPr>
            <p:nvPr/>
          </p:nvSpPr>
          <p:spPr bwMode="auto">
            <a:xfrm>
              <a:off x="3984" y="1016"/>
              <a:ext cx="42" cy="42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2" name="Line 289"/>
            <p:cNvSpPr>
              <a:spLocks noChangeShapeType="1"/>
            </p:cNvSpPr>
            <p:nvPr/>
          </p:nvSpPr>
          <p:spPr bwMode="auto">
            <a:xfrm>
              <a:off x="3170" y="1058"/>
              <a:ext cx="428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3" name="Line 290"/>
            <p:cNvSpPr>
              <a:spLocks noChangeShapeType="1"/>
            </p:cNvSpPr>
            <p:nvPr/>
          </p:nvSpPr>
          <p:spPr bwMode="auto">
            <a:xfrm>
              <a:off x="2937" y="2687"/>
              <a:ext cx="1" cy="9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" name="Freeform 291"/>
            <p:cNvSpPr>
              <a:spLocks noChangeArrowheads="1"/>
            </p:cNvSpPr>
            <p:nvPr/>
          </p:nvSpPr>
          <p:spPr bwMode="auto">
            <a:xfrm>
              <a:off x="2920" y="2653"/>
              <a:ext cx="17" cy="13"/>
            </a:xfrm>
            <a:custGeom>
              <a:avLst/>
              <a:gdLst>
                <a:gd name="T0" fmla="*/ 0 w 4"/>
                <a:gd name="T1" fmla="*/ 0 h 3"/>
                <a:gd name="T2" fmla="*/ 2 w 4"/>
                <a:gd name="T3" fmla="*/ 2 h 3"/>
                <a:gd name="T4" fmla="*/ 4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lnTo>
                    <a:pt x="2" y="2"/>
                  </a:lnTo>
                  <a:lnTo>
                    <a:pt x="4" y="3"/>
                  </a:lnTo>
                </a:path>
              </a:pathLst>
            </a:cu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25" name="Freeform 292"/>
            <p:cNvSpPr>
              <a:spLocks noChangeArrowheads="1"/>
            </p:cNvSpPr>
            <p:nvPr/>
          </p:nvSpPr>
          <p:spPr bwMode="auto">
            <a:xfrm>
              <a:off x="2920" y="2795"/>
              <a:ext cx="17" cy="12"/>
            </a:xfrm>
            <a:custGeom>
              <a:avLst/>
              <a:gdLst>
                <a:gd name="T0" fmla="*/ 4 w 4"/>
                <a:gd name="T1" fmla="*/ 0 h 3"/>
                <a:gd name="T2" fmla="*/ 2 w 4"/>
                <a:gd name="T3" fmla="*/ 1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lnTo>
                    <a:pt x="2" y="1"/>
                  </a:lnTo>
                  <a:lnTo>
                    <a:pt x="0" y="3"/>
                  </a:lnTo>
                </a:path>
              </a:pathLst>
            </a:cu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26" name="Line 293"/>
            <p:cNvSpPr>
              <a:spLocks noChangeShapeType="1"/>
            </p:cNvSpPr>
            <p:nvPr/>
          </p:nvSpPr>
          <p:spPr bwMode="auto">
            <a:xfrm flipH="1">
              <a:off x="4022" y="2666"/>
              <a:ext cx="237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7" name="Freeform 294"/>
            <p:cNvSpPr>
              <a:spLocks noChangeArrowheads="1"/>
            </p:cNvSpPr>
            <p:nvPr/>
          </p:nvSpPr>
          <p:spPr bwMode="auto">
            <a:xfrm>
              <a:off x="4259" y="2653"/>
              <a:ext cx="16" cy="13"/>
            </a:xfrm>
            <a:custGeom>
              <a:avLst/>
              <a:gdLst>
                <a:gd name="T0" fmla="*/ 0 w 4"/>
                <a:gd name="T1" fmla="*/ 3 h 3"/>
                <a:gd name="T2" fmla="*/ 2 w 4"/>
                <a:gd name="T3" fmla="*/ 2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lnTo>
                    <a:pt x="2" y="2"/>
                  </a:lnTo>
                  <a:lnTo>
                    <a:pt x="4" y="0"/>
                  </a:lnTo>
                </a:path>
              </a:pathLst>
            </a:cu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28" name="Line 295"/>
            <p:cNvSpPr>
              <a:spLocks noChangeShapeType="1"/>
            </p:cNvSpPr>
            <p:nvPr/>
          </p:nvSpPr>
          <p:spPr bwMode="auto">
            <a:xfrm flipH="1">
              <a:off x="4022" y="2795"/>
              <a:ext cx="237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9" name="Freeform 296"/>
            <p:cNvSpPr>
              <a:spLocks noChangeArrowheads="1"/>
            </p:cNvSpPr>
            <p:nvPr/>
          </p:nvSpPr>
          <p:spPr bwMode="auto">
            <a:xfrm>
              <a:off x="4259" y="2795"/>
              <a:ext cx="16" cy="12"/>
            </a:xfrm>
            <a:custGeom>
              <a:avLst/>
              <a:gdLst>
                <a:gd name="T0" fmla="*/ 4 w 4"/>
                <a:gd name="T1" fmla="*/ 3 h 3"/>
                <a:gd name="T2" fmla="*/ 2 w 4"/>
                <a:gd name="T3" fmla="*/ 1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lnTo>
                    <a:pt x="2" y="1"/>
                  </a:lnTo>
                  <a:lnTo>
                    <a:pt x="0" y="0"/>
                  </a:lnTo>
                </a:path>
              </a:pathLst>
            </a:cu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30" name="Line 297"/>
            <p:cNvSpPr>
              <a:spLocks noChangeShapeType="1"/>
            </p:cNvSpPr>
            <p:nvPr/>
          </p:nvSpPr>
          <p:spPr bwMode="auto">
            <a:xfrm>
              <a:off x="4259" y="2687"/>
              <a:ext cx="1" cy="9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1" name="Freeform 298"/>
            <p:cNvSpPr>
              <a:spLocks noChangeArrowheads="1"/>
            </p:cNvSpPr>
            <p:nvPr/>
          </p:nvSpPr>
          <p:spPr bwMode="auto">
            <a:xfrm>
              <a:off x="4508" y="2525"/>
              <a:ext cx="162" cy="411"/>
            </a:xfrm>
            <a:custGeom>
              <a:avLst/>
              <a:gdLst>
                <a:gd name="T0" fmla="*/ 0 w 39"/>
                <a:gd name="T1" fmla="*/ 99 h 99"/>
                <a:gd name="T2" fmla="*/ 10 w 39"/>
                <a:gd name="T3" fmla="*/ 96 h 99"/>
                <a:gd name="T4" fmla="*/ 18 w 39"/>
                <a:gd name="T5" fmla="*/ 91 h 99"/>
                <a:gd name="T6" fmla="*/ 25 w 39"/>
                <a:gd name="T7" fmla="*/ 85 h 99"/>
                <a:gd name="T8" fmla="*/ 31 w 39"/>
                <a:gd name="T9" fmla="*/ 77 h 99"/>
                <a:gd name="T10" fmla="*/ 36 w 39"/>
                <a:gd name="T11" fmla="*/ 68 h 99"/>
                <a:gd name="T12" fmla="*/ 38 w 39"/>
                <a:gd name="T13" fmla="*/ 59 h 99"/>
                <a:gd name="T14" fmla="*/ 39 w 39"/>
                <a:gd name="T15" fmla="*/ 49 h 99"/>
                <a:gd name="T16" fmla="*/ 38 w 39"/>
                <a:gd name="T17" fmla="*/ 40 h 99"/>
                <a:gd name="T18" fmla="*/ 36 w 39"/>
                <a:gd name="T19" fmla="*/ 30 h 99"/>
                <a:gd name="T20" fmla="*/ 31 w 39"/>
                <a:gd name="T21" fmla="*/ 22 h 99"/>
                <a:gd name="T22" fmla="*/ 25 w 39"/>
                <a:gd name="T23" fmla="*/ 14 h 99"/>
                <a:gd name="T24" fmla="*/ 18 w 39"/>
                <a:gd name="T25" fmla="*/ 8 h 99"/>
                <a:gd name="T26" fmla="*/ 10 w 39"/>
                <a:gd name="T27" fmla="*/ 3 h 99"/>
                <a:gd name="T28" fmla="*/ 0 w 39"/>
                <a:gd name="T29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" h="99">
                  <a:moveTo>
                    <a:pt x="0" y="99"/>
                  </a:moveTo>
                  <a:lnTo>
                    <a:pt x="10" y="96"/>
                  </a:lnTo>
                  <a:lnTo>
                    <a:pt x="18" y="91"/>
                  </a:lnTo>
                  <a:lnTo>
                    <a:pt x="25" y="85"/>
                  </a:lnTo>
                  <a:lnTo>
                    <a:pt x="31" y="77"/>
                  </a:lnTo>
                  <a:lnTo>
                    <a:pt x="36" y="68"/>
                  </a:lnTo>
                  <a:lnTo>
                    <a:pt x="38" y="59"/>
                  </a:lnTo>
                  <a:lnTo>
                    <a:pt x="39" y="49"/>
                  </a:lnTo>
                  <a:lnTo>
                    <a:pt x="38" y="40"/>
                  </a:lnTo>
                  <a:lnTo>
                    <a:pt x="36" y="30"/>
                  </a:lnTo>
                  <a:lnTo>
                    <a:pt x="31" y="22"/>
                  </a:lnTo>
                  <a:lnTo>
                    <a:pt x="25" y="14"/>
                  </a:lnTo>
                  <a:lnTo>
                    <a:pt x="18" y="8"/>
                  </a:lnTo>
                  <a:lnTo>
                    <a:pt x="10" y="3"/>
                  </a:lnTo>
                  <a:lnTo>
                    <a:pt x="0" y="0"/>
                  </a:lnTo>
                </a:path>
              </a:pathLst>
            </a:cu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32" name="Line 299"/>
            <p:cNvSpPr>
              <a:spLocks noChangeShapeType="1"/>
            </p:cNvSpPr>
            <p:nvPr/>
          </p:nvSpPr>
          <p:spPr bwMode="auto">
            <a:xfrm flipV="1">
              <a:off x="4026" y="1058"/>
              <a:ext cx="1" cy="598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3" name="Line 300"/>
            <p:cNvSpPr>
              <a:spLocks noChangeShapeType="1"/>
            </p:cNvSpPr>
            <p:nvPr/>
          </p:nvSpPr>
          <p:spPr bwMode="auto">
            <a:xfrm>
              <a:off x="4026" y="1290"/>
              <a:ext cx="233" cy="366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4" name="Line 301"/>
            <p:cNvSpPr>
              <a:spLocks noChangeShapeType="1"/>
            </p:cNvSpPr>
            <p:nvPr/>
          </p:nvSpPr>
          <p:spPr bwMode="auto">
            <a:xfrm flipV="1">
              <a:off x="4371" y="1614"/>
              <a:ext cx="1" cy="258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" name="Line 302"/>
            <p:cNvSpPr>
              <a:spLocks noChangeShapeType="1"/>
            </p:cNvSpPr>
            <p:nvPr/>
          </p:nvSpPr>
          <p:spPr bwMode="auto">
            <a:xfrm>
              <a:off x="4329" y="1614"/>
              <a:ext cx="1" cy="9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" name="Line 303"/>
            <p:cNvSpPr>
              <a:spLocks noChangeShapeType="1"/>
            </p:cNvSpPr>
            <p:nvPr/>
          </p:nvSpPr>
          <p:spPr bwMode="auto">
            <a:xfrm>
              <a:off x="4026" y="1656"/>
              <a:ext cx="266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7" name="Freeform 304"/>
            <p:cNvSpPr>
              <a:spLocks noChangeArrowheads="1"/>
            </p:cNvSpPr>
            <p:nvPr/>
          </p:nvSpPr>
          <p:spPr bwMode="auto">
            <a:xfrm>
              <a:off x="4292" y="1623"/>
              <a:ext cx="37" cy="33"/>
            </a:xfrm>
            <a:custGeom>
              <a:avLst/>
              <a:gdLst>
                <a:gd name="T0" fmla="*/ 0 w 9"/>
                <a:gd name="T1" fmla="*/ 8 h 8"/>
                <a:gd name="T2" fmla="*/ 4 w 9"/>
                <a:gd name="T3" fmla="*/ 7 h 8"/>
                <a:gd name="T4" fmla="*/ 7 w 9"/>
                <a:gd name="T5" fmla="*/ 4 h 8"/>
                <a:gd name="T6" fmla="*/ 9 w 9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lnTo>
                    <a:pt x="4" y="7"/>
                  </a:lnTo>
                  <a:lnTo>
                    <a:pt x="7" y="4"/>
                  </a:lnTo>
                  <a:lnTo>
                    <a:pt x="9" y="0"/>
                  </a:lnTo>
                </a:path>
              </a:pathLst>
            </a:cu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38" name="Line 305"/>
            <p:cNvSpPr>
              <a:spLocks noChangeShapeType="1"/>
            </p:cNvSpPr>
            <p:nvPr/>
          </p:nvSpPr>
          <p:spPr bwMode="auto">
            <a:xfrm>
              <a:off x="4587" y="1614"/>
              <a:ext cx="1" cy="9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9" name="Freeform 306"/>
            <p:cNvSpPr>
              <a:spLocks noChangeArrowheads="1"/>
            </p:cNvSpPr>
            <p:nvPr/>
          </p:nvSpPr>
          <p:spPr bwMode="auto">
            <a:xfrm>
              <a:off x="4587" y="1623"/>
              <a:ext cx="33" cy="33"/>
            </a:xfrm>
            <a:custGeom>
              <a:avLst/>
              <a:gdLst>
                <a:gd name="T0" fmla="*/ 0 w 8"/>
                <a:gd name="T1" fmla="*/ 0 h 8"/>
                <a:gd name="T2" fmla="*/ 1 w 8"/>
                <a:gd name="T3" fmla="*/ 4 h 8"/>
                <a:gd name="T4" fmla="*/ 4 w 8"/>
                <a:gd name="T5" fmla="*/ 7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1" y="4"/>
                  </a:lnTo>
                  <a:lnTo>
                    <a:pt x="4" y="7"/>
                  </a:lnTo>
                  <a:lnTo>
                    <a:pt x="8" y="8"/>
                  </a:lnTo>
                </a:path>
              </a:pathLst>
            </a:cu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40" name="Line 307"/>
            <p:cNvSpPr>
              <a:spLocks noChangeShapeType="1"/>
            </p:cNvSpPr>
            <p:nvPr/>
          </p:nvSpPr>
          <p:spPr bwMode="auto">
            <a:xfrm>
              <a:off x="2609" y="1614"/>
              <a:ext cx="1" cy="9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1" name="Freeform 308"/>
            <p:cNvSpPr>
              <a:spLocks noChangeArrowheads="1"/>
            </p:cNvSpPr>
            <p:nvPr/>
          </p:nvSpPr>
          <p:spPr bwMode="auto">
            <a:xfrm>
              <a:off x="2576" y="1623"/>
              <a:ext cx="33" cy="33"/>
            </a:xfrm>
            <a:custGeom>
              <a:avLst/>
              <a:gdLst>
                <a:gd name="T0" fmla="*/ 0 w 8"/>
                <a:gd name="T1" fmla="*/ 8 h 8"/>
                <a:gd name="T2" fmla="*/ 4 w 8"/>
                <a:gd name="T3" fmla="*/ 7 h 8"/>
                <a:gd name="T4" fmla="*/ 7 w 8"/>
                <a:gd name="T5" fmla="*/ 4 h 8"/>
                <a:gd name="T6" fmla="*/ 8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4" y="7"/>
                  </a:lnTo>
                  <a:lnTo>
                    <a:pt x="7" y="4"/>
                  </a:lnTo>
                  <a:lnTo>
                    <a:pt x="8" y="0"/>
                  </a:lnTo>
                </a:path>
              </a:pathLst>
            </a:cu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42" name="Line 309"/>
            <p:cNvSpPr>
              <a:spLocks noChangeShapeType="1"/>
            </p:cNvSpPr>
            <p:nvPr/>
          </p:nvSpPr>
          <p:spPr bwMode="auto">
            <a:xfrm>
              <a:off x="2866" y="1614"/>
              <a:ext cx="1" cy="9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3" name="Freeform 310"/>
            <p:cNvSpPr>
              <a:spLocks noChangeArrowheads="1"/>
            </p:cNvSpPr>
            <p:nvPr/>
          </p:nvSpPr>
          <p:spPr bwMode="auto">
            <a:xfrm>
              <a:off x="2866" y="1623"/>
              <a:ext cx="38" cy="33"/>
            </a:xfrm>
            <a:custGeom>
              <a:avLst/>
              <a:gdLst>
                <a:gd name="T0" fmla="*/ 0 w 9"/>
                <a:gd name="T1" fmla="*/ 0 h 8"/>
                <a:gd name="T2" fmla="*/ 2 w 9"/>
                <a:gd name="T3" fmla="*/ 4 h 8"/>
                <a:gd name="T4" fmla="*/ 5 w 9"/>
                <a:gd name="T5" fmla="*/ 7 h 8"/>
                <a:gd name="T6" fmla="*/ 9 w 9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lnTo>
                    <a:pt x="2" y="4"/>
                  </a:lnTo>
                  <a:lnTo>
                    <a:pt x="5" y="7"/>
                  </a:lnTo>
                  <a:lnTo>
                    <a:pt x="9" y="8"/>
                  </a:lnTo>
                </a:path>
              </a:pathLst>
            </a:cu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44" name="Freeform 311"/>
            <p:cNvSpPr>
              <a:spLocks noChangeArrowheads="1"/>
            </p:cNvSpPr>
            <p:nvPr/>
          </p:nvSpPr>
          <p:spPr bwMode="auto">
            <a:xfrm>
              <a:off x="3452" y="1639"/>
              <a:ext cx="38" cy="17"/>
            </a:xfrm>
            <a:custGeom>
              <a:avLst/>
              <a:gdLst>
                <a:gd name="T0" fmla="*/ 0 w 9"/>
                <a:gd name="T1" fmla="*/ 4 h 4"/>
                <a:gd name="T2" fmla="*/ 5 w 9"/>
                <a:gd name="T3" fmla="*/ 3 h 4"/>
                <a:gd name="T4" fmla="*/ 9 w 9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lnTo>
                    <a:pt x="5" y="3"/>
                  </a:lnTo>
                  <a:lnTo>
                    <a:pt x="9" y="0"/>
                  </a:lnTo>
                </a:path>
              </a:pathLst>
            </a:cu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45" name="Line 312"/>
            <p:cNvSpPr>
              <a:spLocks noChangeShapeType="1"/>
            </p:cNvSpPr>
            <p:nvPr/>
          </p:nvSpPr>
          <p:spPr bwMode="auto">
            <a:xfrm flipH="1">
              <a:off x="2567" y="1656"/>
              <a:ext cx="894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6" name="Line 313"/>
            <p:cNvSpPr>
              <a:spLocks noChangeShapeType="1"/>
            </p:cNvSpPr>
            <p:nvPr/>
          </p:nvSpPr>
          <p:spPr bwMode="auto">
            <a:xfrm flipV="1">
              <a:off x="2526" y="1702"/>
              <a:ext cx="1" cy="170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7" name="Freeform 314"/>
            <p:cNvSpPr>
              <a:spLocks noChangeArrowheads="1"/>
            </p:cNvSpPr>
            <p:nvPr/>
          </p:nvSpPr>
          <p:spPr bwMode="auto">
            <a:xfrm>
              <a:off x="2526" y="1656"/>
              <a:ext cx="41" cy="46"/>
            </a:xfrm>
            <a:custGeom>
              <a:avLst/>
              <a:gdLst>
                <a:gd name="T0" fmla="*/ 10 w 10"/>
                <a:gd name="T1" fmla="*/ 0 h 11"/>
                <a:gd name="T2" fmla="*/ 5 w 10"/>
                <a:gd name="T3" fmla="*/ 2 h 11"/>
                <a:gd name="T4" fmla="*/ 1 w 10"/>
                <a:gd name="T5" fmla="*/ 6 h 11"/>
                <a:gd name="T6" fmla="*/ 0 w 10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lnTo>
                    <a:pt x="5" y="2"/>
                  </a:lnTo>
                  <a:lnTo>
                    <a:pt x="1" y="6"/>
                  </a:lnTo>
                  <a:lnTo>
                    <a:pt x="0" y="11"/>
                  </a:lnTo>
                </a:path>
              </a:pathLst>
            </a:cu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48" name="Line 315"/>
            <p:cNvSpPr>
              <a:spLocks noChangeShapeType="1"/>
            </p:cNvSpPr>
            <p:nvPr/>
          </p:nvSpPr>
          <p:spPr bwMode="auto">
            <a:xfrm>
              <a:off x="4620" y="1656"/>
              <a:ext cx="8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" name="Line 316"/>
            <p:cNvSpPr>
              <a:spLocks noChangeShapeType="1"/>
            </p:cNvSpPr>
            <p:nvPr/>
          </p:nvSpPr>
          <p:spPr bwMode="auto">
            <a:xfrm flipV="1">
              <a:off x="4670" y="1702"/>
              <a:ext cx="1" cy="170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0" name="Freeform 317"/>
            <p:cNvSpPr>
              <a:spLocks noChangeArrowheads="1"/>
            </p:cNvSpPr>
            <p:nvPr/>
          </p:nvSpPr>
          <p:spPr bwMode="auto">
            <a:xfrm>
              <a:off x="4628" y="1656"/>
              <a:ext cx="42" cy="46"/>
            </a:xfrm>
            <a:custGeom>
              <a:avLst/>
              <a:gdLst>
                <a:gd name="T0" fmla="*/ 10 w 10"/>
                <a:gd name="T1" fmla="*/ 11 h 11"/>
                <a:gd name="T2" fmla="*/ 9 w 10"/>
                <a:gd name="T3" fmla="*/ 6 h 11"/>
                <a:gd name="T4" fmla="*/ 5 w 10"/>
                <a:gd name="T5" fmla="*/ 2 h 11"/>
                <a:gd name="T6" fmla="*/ 0 w 10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lnTo>
                    <a:pt x="9" y="6"/>
                  </a:lnTo>
                  <a:lnTo>
                    <a:pt x="5" y="2"/>
                  </a:lnTo>
                  <a:lnTo>
                    <a:pt x="0" y="0"/>
                  </a:lnTo>
                </a:path>
              </a:pathLst>
            </a:cu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51" name="Line 318"/>
            <p:cNvSpPr>
              <a:spLocks noChangeShapeType="1"/>
            </p:cNvSpPr>
            <p:nvPr/>
          </p:nvSpPr>
          <p:spPr bwMode="auto">
            <a:xfrm>
              <a:off x="3910" y="1016"/>
              <a:ext cx="1" cy="212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2" name="Line 319"/>
            <p:cNvSpPr>
              <a:spLocks noChangeShapeType="1"/>
            </p:cNvSpPr>
            <p:nvPr/>
          </p:nvSpPr>
          <p:spPr bwMode="auto">
            <a:xfrm flipH="1">
              <a:off x="3856" y="1228"/>
              <a:ext cx="54" cy="33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" name="Line 320"/>
            <p:cNvSpPr>
              <a:spLocks noChangeShapeType="1"/>
            </p:cNvSpPr>
            <p:nvPr/>
          </p:nvSpPr>
          <p:spPr bwMode="auto">
            <a:xfrm>
              <a:off x="3856" y="1228"/>
              <a:ext cx="54" cy="1"/>
            </a:xfrm>
            <a:prstGeom prst="line">
              <a:avLst/>
            </a:pr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" name="Line 321"/>
            <p:cNvSpPr>
              <a:spLocks noChangeShapeType="1"/>
            </p:cNvSpPr>
            <p:nvPr/>
          </p:nvSpPr>
          <p:spPr bwMode="auto">
            <a:xfrm flipV="1">
              <a:off x="3972" y="1656"/>
              <a:ext cx="212" cy="216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" name="Line 322"/>
            <p:cNvSpPr>
              <a:spLocks noChangeShapeType="1"/>
            </p:cNvSpPr>
            <p:nvPr/>
          </p:nvSpPr>
          <p:spPr bwMode="auto">
            <a:xfrm flipV="1">
              <a:off x="3856" y="1656"/>
              <a:ext cx="207" cy="212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" name="Line 323"/>
            <p:cNvSpPr>
              <a:spLocks noChangeShapeType="1"/>
            </p:cNvSpPr>
            <p:nvPr/>
          </p:nvSpPr>
          <p:spPr bwMode="auto">
            <a:xfrm flipV="1">
              <a:off x="3856" y="1573"/>
              <a:ext cx="170" cy="170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" name="Line 324"/>
            <p:cNvSpPr>
              <a:spLocks noChangeShapeType="1"/>
            </p:cNvSpPr>
            <p:nvPr/>
          </p:nvSpPr>
          <p:spPr bwMode="auto">
            <a:xfrm flipV="1">
              <a:off x="3856" y="1452"/>
              <a:ext cx="170" cy="171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8" name="Line 325"/>
            <p:cNvSpPr>
              <a:spLocks noChangeShapeType="1"/>
            </p:cNvSpPr>
            <p:nvPr/>
          </p:nvSpPr>
          <p:spPr bwMode="auto">
            <a:xfrm flipV="1">
              <a:off x="3856" y="1332"/>
              <a:ext cx="170" cy="170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9" name="Line 326"/>
            <p:cNvSpPr>
              <a:spLocks noChangeShapeType="1"/>
            </p:cNvSpPr>
            <p:nvPr/>
          </p:nvSpPr>
          <p:spPr bwMode="auto">
            <a:xfrm flipV="1">
              <a:off x="3856" y="1211"/>
              <a:ext cx="170" cy="171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0" name="Line 327"/>
            <p:cNvSpPr>
              <a:spLocks noChangeShapeType="1"/>
            </p:cNvSpPr>
            <p:nvPr/>
          </p:nvSpPr>
          <p:spPr bwMode="auto">
            <a:xfrm flipV="1">
              <a:off x="3910" y="1087"/>
              <a:ext cx="116" cy="120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1" name="Line 328"/>
            <p:cNvSpPr>
              <a:spLocks noChangeShapeType="1"/>
            </p:cNvSpPr>
            <p:nvPr/>
          </p:nvSpPr>
          <p:spPr bwMode="auto">
            <a:xfrm flipV="1">
              <a:off x="3910" y="1016"/>
              <a:ext cx="70" cy="71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2" name="Line 329"/>
            <p:cNvSpPr>
              <a:spLocks noChangeShapeType="1"/>
            </p:cNvSpPr>
            <p:nvPr/>
          </p:nvSpPr>
          <p:spPr bwMode="auto">
            <a:xfrm flipV="1">
              <a:off x="4092" y="1652"/>
              <a:ext cx="221" cy="220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3" name="Line 330"/>
            <p:cNvSpPr>
              <a:spLocks noChangeShapeType="1"/>
            </p:cNvSpPr>
            <p:nvPr/>
          </p:nvSpPr>
          <p:spPr bwMode="auto">
            <a:xfrm flipV="1">
              <a:off x="4321" y="1614"/>
              <a:ext cx="29" cy="3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4" name="Line 331"/>
            <p:cNvSpPr>
              <a:spLocks noChangeShapeType="1"/>
            </p:cNvSpPr>
            <p:nvPr/>
          </p:nvSpPr>
          <p:spPr bwMode="auto">
            <a:xfrm flipV="1">
              <a:off x="4213" y="1714"/>
              <a:ext cx="158" cy="158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" name="Line 332"/>
            <p:cNvSpPr>
              <a:spLocks noChangeShapeType="1"/>
            </p:cNvSpPr>
            <p:nvPr/>
          </p:nvSpPr>
          <p:spPr bwMode="auto">
            <a:xfrm flipV="1">
              <a:off x="4333" y="1839"/>
              <a:ext cx="38" cy="33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" name="Line 333"/>
            <p:cNvSpPr>
              <a:spLocks noChangeShapeType="1"/>
            </p:cNvSpPr>
            <p:nvPr/>
          </p:nvSpPr>
          <p:spPr bwMode="auto">
            <a:xfrm flipV="1">
              <a:off x="4541" y="1623"/>
              <a:ext cx="46" cy="41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7" name="Line 334"/>
            <p:cNvSpPr>
              <a:spLocks noChangeShapeType="1"/>
            </p:cNvSpPr>
            <p:nvPr/>
          </p:nvSpPr>
          <p:spPr bwMode="auto">
            <a:xfrm flipV="1">
              <a:off x="4541" y="1668"/>
              <a:ext cx="117" cy="117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8" name="Line 335"/>
            <p:cNvSpPr>
              <a:spLocks noChangeShapeType="1"/>
            </p:cNvSpPr>
            <p:nvPr/>
          </p:nvSpPr>
          <p:spPr bwMode="auto">
            <a:xfrm flipV="1">
              <a:off x="4579" y="1781"/>
              <a:ext cx="91" cy="91"/>
            </a:xfrm>
            <a:prstGeom prst="line">
              <a:avLst/>
            </a:prstGeom>
            <a:noFill/>
            <a:ln w="63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9" name="Freeform 336"/>
            <p:cNvSpPr>
              <a:spLocks noChangeArrowheads="1"/>
            </p:cNvSpPr>
            <p:nvPr/>
          </p:nvSpPr>
          <p:spPr bwMode="auto">
            <a:xfrm>
              <a:off x="3851" y="2678"/>
              <a:ext cx="59" cy="104"/>
            </a:xfrm>
            <a:custGeom>
              <a:avLst/>
              <a:gdLst>
                <a:gd name="T0" fmla="*/ 0 w 14"/>
                <a:gd name="T1" fmla="*/ 25 h 25"/>
                <a:gd name="T2" fmla="*/ 7 w 14"/>
                <a:gd name="T3" fmla="*/ 24 h 25"/>
                <a:gd name="T4" fmla="*/ 12 w 14"/>
                <a:gd name="T5" fmla="*/ 19 h 25"/>
                <a:gd name="T6" fmla="*/ 14 w 14"/>
                <a:gd name="T7" fmla="*/ 12 h 25"/>
                <a:gd name="T8" fmla="*/ 12 w 14"/>
                <a:gd name="T9" fmla="*/ 6 h 25"/>
                <a:gd name="T10" fmla="*/ 7 w 14"/>
                <a:gd name="T11" fmla="*/ 1 h 25"/>
                <a:gd name="T12" fmla="*/ 0 w 14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5">
                  <a:moveTo>
                    <a:pt x="0" y="25"/>
                  </a:moveTo>
                  <a:lnTo>
                    <a:pt x="7" y="24"/>
                  </a:lnTo>
                  <a:lnTo>
                    <a:pt x="12" y="19"/>
                  </a:lnTo>
                  <a:lnTo>
                    <a:pt x="14" y="12"/>
                  </a:lnTo>
                  <a:lnTo>
                    <a:pt x="12" y="6"/>
                  </a:lnTo>
                  <a:lnTo>
                    <a:pt x="7" y="1"/>
                  </a:lnTo>
                  <a:lnTo>
                    <a:pt x="0" y="0"/>
                  </a:lnTo>
                </a:path>
              </a:pathLst>
            </a:custGeom>
            <a:noFill/>
            <a:ln w="333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sp>
        <p:nvSpPr>
          <p:cNvPr id="670" name="Text Box 337"/>
          <p:cNvSpPr txBox="1">
            <a:spLocks noChangeArrowheads="1"/>
          </p:cNvSpPr>
          <p:nvPr/>
        </p:nvSpPr>
        <p:spPr bwMode="auto">
          <a:xfrm>
            <a:off x="914400" y="6052401"/>
            <a:ext cx="97579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indent="536575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当物体形状</a:t>
            </a:r>
            <a:r>
              <a:rPr lang="zh-CN" altLang="en-US" sz="2000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接近对称</a:t>
            </a: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且不对称部分已有图形表达清楚时，也可用半剖视图。</a:t>
            </a:r>
          </a:p>
        </p:txBody>
      </p:sp>
    </p:spTree>
    <p:extLst>
      <p:ext uri="{BB962C8B-B14F-4D97-AF65-F5344CB8AC3E}">
        <p14:creationId xmlns:p14="http://schemas.microsoft.com/office/powerpoint/2010/main" val="692913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20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" dur="10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20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5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5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20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20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3" grpId="0"/>
      <p:bldP spid="551" grpId="0"/>
      <p:bldP spid="670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68" t="7629" r="3137" b="6792"/>
          <a:stretch>
            <a:fillRect/>
          </a:stretch>
        </p:blipFill>
        <p:spPr bwMode="auto">
          <a:xfrm>
            <a:off x="2170114" y="863600"/>
            <a:ext cx="7862887" cy="532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846859" y="412750"/>
            <a:ext cx="4438650" cy="480131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/>
          <a:p>
            <a:pPr marL="838200" indent="-838200">
              <a:lnSpc>
                <a:spcPct val="90000"/>
              </a:lnSpc>
              <a:spcBef>
                <a:spcPct val="0"/>
              </a:spcBef>
            </a:pPr>
            <a:r>
              <a:rPr lang="en-US" altLang="zh-CN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3.</a:t>
            </a:r>
            <a:r>
              <a:rPr lang="zh-CN" altLang="en-US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局部剖视图</a:t>
            </a:r>
          </a:p>
        </p:txBody>
      </p:sp>
      <p:sp>
        <p:nvSpPr>
          <p:cNvPr id="4" name="AutoShape 4"/>
          <p:cNvSpPr>
            <a:spLocks noChangeArrowheads="1"/>
          </p:cNvSpPr>
          <p:nvPr/>
        </p:nvSpPr>
        <p:spPr bwMode="auto">
          <a:xfrm>
            <a:off x="2044700" y="1093788"/>
            <a:ext cx="3340100" cy="1041400"/>
          </a:xfrm>
          <a:prstGeom prst="cloudCallout">
            <a:avLst>
              <a:gd name="adj1" fmla="val 92917"/>
              <a:gd name="adj2" fmla="val 39329"/>
            </a:avLst>
          </a:prstGeom>
          <a:gradFill rotWithShape="1">
            <a:gsLst>
              <a:gs pos="0">
                <a:srgbClr val="99CCFF"/>
              </a:gs>
              <a:gs pos="100000">
                <a:srgbClr val="F2F9FF"/>
              </a:gs>
            </a:gsLst>
            <a:lin ang="5400000" scaled="1"/>
          </a:gradFill>
          <a:ln w="25400">
            <a:solidFill>
              <a:srgbClr val="00CCFF"/>
            </a:solidFill>
            <a:round/>
            <a:headEnd/>
            <a:tailEnd/>
          </a:ln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0" hangingPunct="0"/>
            <a:r>
              <a:rPr lang="zh-CN" altLang="en-US" sz="2800" dirty="0">
                <a:solidFill>
                  <a:srgbClr val="FF010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问题的提出</a:t>
            </a:r>
          </a:p>
        </p:txBody>
      </p:sp>
    </p:spTree>
    <p:extLst>
      <p:ext uri="{BB962C8B-B14F-4D97-AF65-F5344CB8AC3E}">
        <p14:creationId xmlns:p14="http://schemas.microsoft.com/office/powerpoint/2010/main" val="3072372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>
          <a:xfrm>
            <a:off x="1688898" y="353051"/>
            <a:ext cx="3783673" cy="577850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24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zh-CN" altLang="en-US" dirty="0"/>
              <a:t>局部剖视图的形成和画法</a:t>
            </a:r>
          </a:p>
        </p:txBody>
      </p:sp>
      <p:grpSp>
        <p:nvGrpSpPr>
          <p:cNvPr id="3" name="Group 3"/>
          <p:cNvGrpSpPr>
            <a:grpSpLocks/>
          </p:cNvGrpSpPr>
          <p:nvPr/>
        </p:nvGrpSpPr>
        <p:grpSpPr bwMode="auto">
          <a:xfrm>
            <a:off x="6445250" y="836613"/>
            <a:ext cx="2801938" cy="1778000"/>
            <a:chOff x="2678" y="182"/>
            <a:chExt cx="3015" cy="1914"/>
          </a:xfrm>
        </p:grpSpPr>
        <p:grpSp>
          <p:nvGrpSpPr>
            <p:cNvPr id="4" name="Group 4"/>
            <p:cNvGrpSpPr>
              <a:grpSpLocks/>
            </p:cNvGrpSpPr>
            <p:nvPr/>
          </p:nvGrpSpPr>
          <p:grpSpPr bwMode="auto">
            <a:xfrm>
              <a:off x="2678" y="261"/>
              <a:ext cx="3013" cy="1783"/>
              <a:chOff x="2678" y="261"/>
              <a:chExt cx="3013" cy="1783"/>
            </a:xfrm>
          </p:grpSpPr>
          <p:sp>
            <p:nvSpPr>
              <p:cNvPr id="60" name="Freeform 5"/>
              <p:cNvSpPr>
                <a:spLocks noChangeArrowheads="1"/>
              </p:cNvSpPr>
              <p:nvPr/>
            </p:nvSpPr>
            <p:spPr bwMode="auto">
              <a:xfrm>
                <a:off x="3531" y="380"/>
                <a:ext cx="24" cy="24"/>
              </a:xfrm>
              <a:custGeom>
                <a:avLst/>
                <a:gdLst>
                  <a:gd name="T0" fmla="*/ 0 w 121"/>
                  <a:gd name="T1" fmla="*/ 121 h 121"/>
                  <a:gd name="T2" fmla="*/ 120 w 121"/>
                  <a:gd name="T3" fmla="*/ 0 h 121"/>
                  <a:gd name="T4" fmla="*/ 121 w 121"/>
                  <a:gd name="T5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1" h="121">
                    <a:moveTo>
                      <a:pt x="0" y="121"/>
                    </a:moveTo>
                    <a:lnTo>
                      <a:pt x="120" y="0"/>
                    </a:lnTo>
                    <a:lnTo>
                      <a:pt x="12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1" name="Freeform 6"/>
              <p:cNvSpPr>
                <a:spLocks noChangeArrowheads="1"/>
              </p:cNvSpPr>
              <p:nvPr/>
            </p:nvSpPr>
            <p:spPr bwMode="auto">
              <a:xfrm>
                <a:off x="3629" y="261"/>
                <a:ext cx="45" cy="45"/>
              </a:xfrm>
              <a:custGeom>
                <a:avLst/>
                <a:gdLst>
                  <a:gd name="T0" fmla="*/ 0 w 221"/>
                  <a:gd name="T1" fmla="*/ 219 h 219"/>
                  <a:gd name="T2" fmla="*/ 220 w 221"/>
                  <a:gd name="T3" fmla="*/ 0 h 219"/>
                  <a:gd name="T4" fmla="*/ 221 w 221"/>
                  <a:gd name="T5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1" h="219">
                    <a:moveTo>
                      <a:pt x="0" y="219"/>
                    </a:moveTo>
                    <a:lnTo>
                      <a:pt x="220" y="0"/>
                    </a:lnTo>
                    <a:lnTo>
                      <a:pt x="22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2" name="Freeform 7"/>
              <p:cNvSpPr>
                <a:spLocks noChangeArrowheads="1"/>
              </p:cNvSpPr>
              <p:nvPr/>
            </p:nvSpPr>
            <p:spPr bwMode="auto">
              <a:xfrm>
                <a:off x="3600" y="288"/>
                <a:ext cx="188" cy="186"/>
              </a:xfrm>
              <a:custGeom>
                <a:avLst/>
                <a:gdLst>
                  <a:gd name="T0" fmla="*/ 0 w 921"/>
                  <a:gd name="T1" fmla="*/ 919 h 919"/>
                  <a:gd name="T2" fmla="*/ 920 w 921"/>
                  <a:gd name="T3" fmla="*/ 0 h 919"/>
                  <a:gd name="T4" fmla="*/ 921 w 921"/>
                  <a:gd name="T5" fmla="*/ 0 h 9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21" h="919">
                    <a:moveTo>
                      <a:pt x="0" y="919"/>
                    </a:moveTo>
                    <a:lnTo>
                      <a:pt x="920" y="0"/>
                    </a:lnTo>
                    <a:lnTo>
                      <a:pt x="92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3" name="Freeform 8"/>
              <p:cNvSpPr>
                <a:spLocks noChangeArrowheads="1"/>
              </p:cNvSpPr>
              <p:nvPr/>
            </p:nvSpPr>
            <p:spPr bwMode="auto">
              <a:xfrm>
                <a:off x="3676" y="427"/>
                <a:ext cx="112" cy="111"/>
              </a:xfrm>
              <a:custGeom>
                <a:avLst/>
                <a:gdLst>
                  <a:gd name="T0" fmla="*/ 0 w 548"/>
                  <a:gd name="T1" fmla="*/ 547 h 547"/>
                  <a:gd name="T2" fmla="*/ 547 w 548"/>
                  <a:gd name="T3" fmla="*/ 0 h 547"/>
                  <a:gd name="T4" fmla="*/ 548 w 548"/>
                  <a:gd name="T5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8" h="547">
                    <a:moveTo>
                      <a:pt x="0" y="547"/>
                    </a:moveTo>
                    <a:lnTo>
                      <a:pt x="547" y="0"/>
                    </a:lnTo>
                    <a:lnTo>
                      <a:pt x="548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4" name="Freeform 9"/>
              <p:cNvSpPr>
                <a:spLocks noChangeArrowheads="1"/>
              </p:cNvSpPr>
              <p:nvPr/>
            </p:nvSpPr>
            <p:spPr bwMode="auto">
              <a:xfrm>
                <a:off x="4581" y="261"/>
                <a:ext cx="74" cy="74"/>
              </a:xfrm>
              <a:custGeom>
                <a:avLst/>
                <a:gdLst>
                  <a:gd name="T0" fmla="*/ 0 w 366"/>
                  <a:gd name="T1" fmla="*/ 365 h 365"/>
                  <a:gd name="T2" fmla="*/ 365 w 366"/>
                  <a:gd name="T3" fmla="*/ 0 h 365"/>
                  <a:gd name="T4" fmla="*/ 366 w 366"/>
                  <a:gd name="T5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6" h="365">
                    <a:moveTo>
                      <a:pt x="0" y="365"/>
                    </a:moveTo>
                    <a:lnTo>
                      <a:pt x="365" y="0"/>
                    </a:lnTo>
                    <a:lnTo>
                      <a:pt x="366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5" name="Freeform 10"/>
              <p:cNvSpPr>
                <a:spLocks noChangeArrowheads="1"/>
              </p:cNvSpPr>
              <p:nvPr/>
            </p:nvSpPr>
            <p:spPr bwMode="auto">
              <a:xfrm>
                <a:off x="4581" y="317"/>
                <a:ext cx="159" cy="159"/>
              </a:xfrm>
              <a:custGeom>
                <a:avLst/>
                <a:gdLst>
                  <a:gd name="T0" fmla="*/ 0 w 781"/>
                  <a:gd name="T1" fmla="*/ 780 h 780"/>
                  <a:gd name="T2" fmla="*/ 780 w 781"/>
                  <a:gd name="T3" fmla="*/ 0 h 780"/>
                  <a:gd name="T4" fmla="*/ 781 w 781"/>
                  <a:gd name="T5" fmla="*/ 0 h 7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81" h="780">
                    <a:moveTo>
                      <a:pt x="0" y="780"/>
                    </a:moveTo>
                    <a:lnTo>
                      <a:pt x="780" y="0"/>
                    </a:lnTo>
                    <a:lnTo>
                      <a:pt x="78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6" name="Freeform 11"/>
              <p:cNvSpPr>
                <a:spLocks noChangeArrowheads="1"/>
              </p:cNvSpPr>
              <p:nvPr/>
            </p:nvSpPr>
            <p:spPr bwMode="auto">
              <a:xfrm>
                <a:off x="4659" y="380"/>
                <a:ext cx="157" cy="158"/>
              </a:xfrm>
              <a:custGeom>
                <a:avLst/>
                <a:gdLst>
                  <a:gd name="T0" fmla="*/ 0 w 779"/>
                  <a:gd name="T1" fmla="*/ 781 h 781"/>
                  <a:gd name="T2" fmla="*/ 778 w 779"/>
                  <a:gd name="T3" fmla="*/ 0 h 781"/>
                  <a:gd name="T4" fmla="*/ 779 w 779"/>
                  <a:gd name="T5" fmla="*/ 0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79" h="781">
                    <a:moveTo>
                      <a:pt x="0" y="781"/>
                    </a:moveTo>
                    <a:lnTo>
                      <a:pt x="778" y="0"/>
                    </a:lnTo>
                    <a:lnTo>
                      <a:pt x="779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7" name="Freeform 12"/>
              <p:cNvSpPr>
                <a:spLocks noChangeArrowheads="1"/>
              </p:cNvSpPr>
              <p:nvPr/>
            </p:nvSpPr>
            <p:spPr bwMode="auto">
              <a:xfrm>
                <a:off x="4798" y="380"/>
                <a:ext cx="159" cy="158"/>
              </a:xfrm>
              <a:custGeom>
                <a:avLst/>
                <a:gdLst>
                  <a:gd name="T0" fmla="*/ 0 w 780"/>
                  <a:gd name="T1" fmla="*/ 781 h 781"/>
                  <a:gd name="T2" fmla="*/ 779 w 780"/>
                  <a:gd name="T3" fmla="*/ 0 h 781"/>
                  <a:gd name="T4" fmla="*/ 780 w 780"/>
                  <a:gd name="T5" fmla="*/ 0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80" h="781">
                    <a:moveTo>
                      <a:pt x="0" y="781"/>
                    </a:moveTo>
                    <a:lnTo>
                      <a:pt x="779" y="0"/>
                    </a:lnTo>
                    <a:lnTo>
                      <a:pt x="780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8" name="Freeform 13"/>
              <p:cNvSpPr>
                <a:spLocks noChangeArrowheads="1"/>
              </p:cNvSpPr>
              <p:nvPr/>
            </p:nvSpPr>
            <p:spPr bwMode="auto">
              <a:xfrm>
                <a:off x="4939" y="397"/>
                <a:ext cx="141" cy="141"/>
              </a:xfrm>
              <a:custGeom>
                <a:avLst/>
                <a:gdLst>
                  <a:gd name="T0" fmla="*/ 0 w 693"/>
                  <a:gd name="T1" fmla="*/ 694 h 694"/>
                  <a:gd name="T2" fmla="*/ 692 w 693"/>
                  <a:gd name="T3" fmla="*/ 0 h 694"/>
                  <a:gd name="T4" fmla="*/ 693 w 693"/>
                  <a:gd name="T5" fmla="*/ 0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93" h="694">
                    <a:moveTo>
                      <a:pt x="0" y="694"/>
                    </a:moveTo>
                    <a:lnTo>
                      <a:pt x="692" y="0"/>
                    </a:lnTo>
                    <a:lnTo>
                      <a:pt x="693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9" name="Freeform 14"/>
              <p:cNvSpPr>
                <a:spLocks noChangeArrowheads="1"/>
              </p:cNvSpPr>
              <p:nvPr/>
            </p:nvSpPr>
            <p:spPr bwMode="auto">
              <a:xfrm>
                <a:off x="4977" y="483"/>
                <a:ext cx="159" cy="156"/>
              </a:xfrm>
              <a:custGeom>
                <a:avLst/>
                <a:gdLst>
                  <a:gd name="T0" fmla="*/ 0 w 776"/>
                  <a:gd name="T1" fmla="*/ 774 h 774"/>
                  <a:gd name="T2" fmla="*/ 775 w 776"/>
                  <a:gd name="T3" fmla="*/ 0 h 774"/>
                  <a:gd name="T4" fmla="*/ 776 w 776"/>
                  <a:gd name="T5" fmla="*/ 0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76" h="774">
                    <a:moveTo>
                      <a:pt x="0" y="774"/>
                    </a:moveTo>
                    <a:lnTo>
                      <a:pt x="775" y="0"/>
                    </a:lnTo>
                    <a:lnTo>
                      <a:pt x="776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0" name="Freeform 15"/>
              <p:cNvSpPr>
                <a:spLocks noChangeArrowheads="1"/>
              </p:cNvSpPr>
              <p:nvPr/>
            </p:nvSpPr>
            <p:spPr bwMode="auto">
              <a:xfrm>
                <a:off x="4977" y="621"/>
                <a:ext cx="159" cy="159"/>
              </a:xfrm>
              <a:custGeom>
                <a:avLst/>
                <a:gdLst>
                  <a:gd name="T0" fmla="*/ 0 w 781"/>
                  <a:gd name="T1" fmla="*/ 781 h 781"/>
                  <a:gd name="T2" fmla="*/ 780 w 781"/>
                  <a:gd name="T3" fmla="*/ 0 h 781"/>
                  <a:gd name="T4" fmla="*/ 781 w 781"/>
                  <a:gd name="T5" fmla="*/ 0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81" h="781">
                    <a:moveTo>
                      <a:pt x="0" y="781"/>
                    </a:moveTo>
                    <a:lnTo>
                      <a:pt x="780" y="0"/>
                    </a:lnTo>
                    <a:lnTo>
                      <a:pt x="78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1" name="Freeform 16"/>
              <p:cNvSpPr>
                <a:spLocks noChangeArrowheads="1"/>
              </p:cNvSpPr>
              <p:nvPr/>
            </p:nvSpPr>
            <p:spPr bwMode="auto">
              <a:xfrm>
                <a:off x="4977" y="762"/>
                <a:ext cx="159" cy="157"/>
              </a:xfrm>
              <a:custGeom>
                <a:avLst/>
                <a:gdLst>
                  <a:gd name="T0" fmla="*/ 0 w 781"/>
                  <a:gd name="T1" fmla="*/ 780 h 780"/>
                  <a:gd name="T2" fmla="*/ 780 w 781"/>
                  <a:gd name="T3" fmla="*/ 0 h 780"/>
                  <a:gd name="T4" fmla="*/ 781 w 781"/>
                  <a:gd name="T5" fmla="*/ 0 h 7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81" h="780">
                    <a:moveTo>
                      <a:pt x="0" y="780"/>
                    </a:moveTo>
                    <a:lnTo>
                      <a:pt x="780" y="0"/>
                    </a:lnTo>
                    <a:lnTo>
                      <a:pt x="78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2" name="Freeform 17"/>
              <p:cNvSpPr>
                <a:spLocks noChangeArrowheads="1"/>
              </p:cNvSpPr>
              <p:nvPr/>
            </p:nvSpPr>
            <p:spPr bwMode="auto">
              <a:xfrm>
                <a:off x="4977" y="901"/>
                <a:ext cx="159" cy="159"/>
              </a:xfrm>
              <a:custGeom>
                <a:avLst/>
                <a:gdLst>
                  <a:gd name="T0" fmla="*/ 0 w 781"/>
                  <a:gd name="T1" fmla="*/ 781 h 781"/>
                  <a:gd name="T2" fmla="*/ 780 w 781"/>
                  <a:gd name="T3" fmla="*/ 0 h 781"/>
                  <a:gd name="T4" fmla="*/ 781 w 781"/>
                  <a:gd name="T5" fmla="*/ 0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81" h="781">
                    <a:moveTo>
                      <a:pt x="0" y="781"/>
                    </a:moveTo>
                    <a:lnTo>
                      <a:pt x="780" y="0"/>
                    </a:lnTo>
                    <a:lnTo>
                      <a:pt x="78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3" name="Freeform 18"/>
              <p:cNvSpPr>
                <a:spLocks noChangeArrowheads="1"/>
              </p:cNvSpPr>
              <p:nvPr/>
            </p:nvSpPr>
            <p:spPr bwMode="auto">
              <a:xfrm>
                <a:off x="4977" y="1042"/>
                <a:ext cx="159" cy="159"/>
              </a:xfrm>
              <a:custGeom>
                <a:avLst/>
                <a:gdLst>
                  <a:gd name="T0" fmla="*/ 0 w 781"/>
                  <a:gd name="T1" fmla="*/ 780 h 780"/>
                  <a:gd name="T2" fmla="*/ 780 w 781"/>
                  <a:gd name="T3" fmla="*/ 0 h 780"/>
                  <a:gd name="T4" fmla="*/ 781 w 781"/>
                  <a:gd name="T5" fmla="*/ 0 h 7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81" h="780">
                    <a:moveTo>
                      <a:pt x="0" y="780"/>
                    </a:moveTo>
                    <a:lnTo>
                      <a:pt x="780" y="0"/>
                    </a:lnTo>
                    <a:lnTo>
                      <a:pt x="78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4" name="Freeform 19"/>
              <p:cNvSpPr>
                <a:spLocks noChangeArrowheads="1"/>
              </p:cNvSpPr>
              <p:nvPr/>
            </p:nvSpPr>
            <p:spPr bwMode="auto">
              <a:xfrm>
                <a:off x="4977" y="1183"/>
                <a:ext cx="159" cy="159"/>
              </a:xfrm>
              <a:custGeom>
                <a:avLst/>
                <a:gdLst>
                  <a:gd name="T0" fmla="*/ 0 w 781"/>
                  <a:gd name="T1" fmla="*/ 781 h 781"/>
                  <a:gd name="T2" fmla="*/ 780 w 781"/>
                  <a:gd name="T3" fmla="*/ 0 h 781"/>
                  <a:gd name="T4" fmla="*/ 781 w 781"/>
                  <a:gd name="T5" fmla="*/ 0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81" h="781">
                    <a:moveTo>
                      <a:pt x="0" y="781"/>
                    </a:moveTo>
                    <a:lnTo>
                      <a:pt x="780" y="0"/>
                    </a:lnTo>
                    <a:lnTo>
                      <a:pt x="78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5" name="Freeform 20"/>
              <p:cNvSpPr>
                <a:spLocks noChangeArrowheads="1"/>
              </p:cNvSpPr>
              <p:nvPr/>
            </p:nvSpPr>
            <p:spPr bwMode="auto">
              <a:xfrm>
                <a:off x="4977" y="1322"/>
                <a:ext cx="159" cy="159"/>
              </a:xfrm>
              <a:custGeom>
                <a:avLst/>
                <a:gdLst>
                  <a:gd name="T0" fmla="*/ 0 w 781"/>
                  <a:gd name="T1" fmla="*/ 779 h 779"/>
                  <a:gd name="T2" fmla="*/ 780 w 781"/>
                  <a:gd name="T3" fmla="*/ 0 h 779"/>
                  <a:gd name="T4" fmla="*/ 781 w 781"/>
                  <a:gd name="T5" fmla="*/ 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81" h="779">
                    <a:moveTo>
                      <a:pt x="0" y="779"/>
                    </a:moveTo>
                    <a:lnTo>
                      <a:pt x="780" y="0"/>
                    </a:lnTo>
                    <a:lnTo>
                      <a:pt x="78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6" name="Freeform 21"/>
              <p:cNvSpPr>
                <a:spLocks noChangeArrowheads="1"/>
              </p:cNvSpPr>
              <p:nvPr/>
            </p:nvSpPr>
            <p:spPr bwMode="auto">
              <a:xfrm>
                <a:off x="4977" y="1463"/>
                <a:ext cx="159" cy="158"/>
              </a:xfrm>
              <a:custGeom>
                <a:avLst/>
                <a:gdLst>
                  <a:gd name="T0" fmla="*/ 0 w 781"/>
                  <a:gd name="T1" fmla="*/ 780 h 780"/>
                  <a:gd name="T2" fmla="*/ 780 w 781"/>
                  <a:gd name="T3" fmla="*/ 0 h 780"/>
                  <a:gd name="T4" fmla="*/ 781 w 781"/>
                  <a:gd name="T5" fmla="*/ 0 h 7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81" h="780">
                    <a:moveTo>
                      <a:pt x="0" y="780"/>
                    </a:moveTo>
                    <a:lnTo>
                      <a:pt x="780" y="0"/>
                    </a:lnTo>
                    <a:lnTo>
                      <a:pt x="78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7" name="Freeform 22"/>
              <p:cNvSpPr>
                <a:spLocks noChangeArrowheads="1"/>
              </p:cNvSpPr>
              <p:nvPr/>
            </p:nvSpPr>
            <p:spPr bwMode="auto">
              <a:xfrm>
                <a:off x="4977" y="1604"/>
                <a:ext cx="159" cy="156"/>
              </a:xfrm>
              <a:custGeom>
                <a:avLst/>
                <a:gdLst>
                  <a:gd name="T0" fmla="*/ 0 w 781"/>
                  <a:gd name="T1" fmla="*/ 779 h 779"/>
                  <a:gd name="T2" fmla="*/ 780 w 781"/>
                  <a:gd name="T3" fmla="*/ 0 h 779"/>
                  <a:gd name="T4" fmla="*/ 781 w 781"/>
                  <a:gd name="T5" fmla="*/ 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81" h="779">
                    <a:moveTo>
                      <a:pt x="0" y="779"/>
                    </a:moveTo>
                    <a:lnTo>
                      <a:pt x="780" y="0"/>
                    </a:lnTo>
                    <a:lnTo>
                      <a:pt x="78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8" name="Freeform 23"/>
              <p:cNvSpPr>
                <a:spLocks noChangeArrowheads="1"/>
              </p:cNvSpPr>
              <p:nvPr/>
            </p:nvSpPr>
            <p:spPr bwMode="auto">
              <a:xfrm>
                <a:off x="4977" y="1740"/>
                <a:ext cx="161" cy="161"/>
              </a:xfrm>
              <a:custGeom>
                <a:avLst/>
                <a:gdLst>
                  <a:gd name="T0" fmla="*/ 0 w 791"/>
                  <a:gd name="T1" fmla="*/ 791 h 791"/>
                  <a:gd name="T2" fmla="*/ 790 w 791"/>
                  <a:gd name="T3" fmla="*/ 0 h 791"/>
                  <a:gd name="T4" fmla="*/ 791 w 791"/>
                  <a:gd name="T5" fmla="*/ 0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91" h="791">
                    <a:moveTo>
                      <a:pt x="0" y="791"/>
                    </a:moveTo>
                    <a:lnTo>
                      <a:pt x="790" y="0"/>
                    </a:lnTo>
                    <a:lnTo>
                      <a:pt x="79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9" name="Freeform 24"/>
              <p:cNvSpPr>
                <a:spLocks noChangeArrowheads="1"/>
              </p:cNvSpPr>
              <p:nvPr/>
            </p:nvSpPr>
            <p:spPr bwMode="auto">
              <a:xfrm>
                <a:off x="4977" y="1767"/>
                <a:ext cx="275" cy="275"/>
              </a:xfrm>
              <a:custGeom>
                <a:avLst/>
                <a:gdLst>
                  <a:gd name="T0" fmla="*/ 0 w 1348"/>
                  <a:gd name="T1" fmla="*/ 1347 h 1347"/>
                  <a:gd name="T2" fmla="*/ 1347 w 1348"/>
                  <a:gd name="T3" fmla="*/ 0 h 1347"/>
                  <a:gd name="T4" fmla="*/ 1348 w 1348"/>
                  <a:gd name="T5" fmla="*/ 0 h 1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48" h="1347">
                    <a:moveTo>
                      <a:pt x="0" y="1347"/>
                    </a:moveTo>
                    <a:lnTo>
                      <a:pt x="1347" y="0"/>
                    </a:lnTo>
                    <a:lnTo>
                      <a:pt x="1348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0" name="Freeform 25"/>
              <p:cNvSpPr>
                <a:spLocks noChangeArrowheads="1"/>
              </p:cNvSpPr>
              <p:nvPr/>
            </p:nvSpPr>
            <p:spPr bwMode="auto">
              <a:xfrm>
                <a:off x="5113" y="1767"/>
                <a:ext cx="278" cy="277"/>
              </a:xfrm>
              <a:custGeom>
                <a:avLst/>
                <a:gdLst>
                  <a:gd name="T0" fmla="*/ 0 w 1366"/>
                  <a:gd name="T1" fmla="*/ 1364 h 1364"/>
                  <a:gd name="T2" fmla="*/ 1365 w 1366"/>
                  <a:gd name="T3" fmla="*/ 0 h 1364"/>
                  <a:gd name="T4" fmla="*/ 1366 w 1366"/>
                  <a:gd name="T5" fmla="*/ 0 h 1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66" h="1364">
                    <a:moveTo>
                      <a:pt x="0" y="1364"/>
                    </a:moveTo>
                    <a:lnTo>
                      <a:pt x="1365" y="0"/>
                    </a:lnTo>
                    <a:lnTo>
                      <a:pt x="1366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1" name="Freeform 26"/>
              <p:cNvSpPr>
                <a:spLocks noChangeArrowheads="1"/>
              </p:cNvSpPr>
              <p:nvPr/>
            </p:nvSpPr>
            <p:spPr bwMode="auto">
              <a:xfrm>
                <a:off x="5254" y="1767"/>
                <a:ext cx="278" cy="277"/>
              </a:xfrm>
              <a:custGeom>
                <a:avLst/>
                <a:gdLst>
                  <a:gd name="T0" fmla="*/ 0 w 1366"/>
                  <a:gd name="T1" fmla="*/ 1364 h 1364"/>
                  <a:gd name="T2" fmla="*/ 686 w 1366"/>
                  <a:gd name="T3" fmla="*/ 679 h 1364"/>
                  <a:gd name="T4" fmla="*/ 1365 w 1366"/>
                  <a:gd name="T5" fmla="*/ 0 h 1364"/>
                  <a:gd name="T6" fmla="*/ 1366 w 1366"/>
                  <a:gd name="T7" fmla="*/ 0 h 1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66" h="1364">
                    <a:moveTo>
                      <a:pt x="0" y="1364"/>
                    </a:moveTo>
                    <a:lnTo>
                      <a:pt x="686" y="679"/>
                    </a:lnTo>
                    <a:lnTo>
                      <a:pt x="1365" y="0"/>
                    </a:lnTo>
                    <a:lnTo>
                      <a:pt x="1366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2" name="Freeform 27"/>
              <p:cNvSpPr>
                <a:spLocks noChangeArrowheads="1"/>
              </p:cNvSpPr>
              <p:nvPr/>
            </p:nvSpPr>
            <p:spPr bwMode="auto">
              <a:xfrm>
                <a:off x="5393" y="1783"/>
                <a:ext cx="264" cy="261"/>
              </a:xfrm>
              <a:custGeom>
                <a:avLst/>
                <a:gdLst>
                  <a:gd name="T0" fmla="*/ 0 w 1294"/>
                  <a:gd name="T1" fmla="*/ 1293 h 1293"/>
                  <a:gd name="T2" fmla="*/ 1293 w 1294"/>
                  <a:gd name="T3" fmla="*/ 0 h 1293"/>
                  <a:gd name="T4" fmla="*/ 1294 w 1294"/>
                  <a:gd name="T5" fmla="*/ 0 h 1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94" h="1293">
                    <a:moveTo>
                      <a:pt x="0" y="1293"/>
                    </a:moveTo>
                    <a:lnTo>
                      <a:pt x="1293" y="0"/>
                    </a:lnTo>
                    <a:lnTo>
                      <a:pt x="1294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3" name="Freeform 28"/>
              <p:cNvSpPr>
                <a:spLocks noChangeArrowheads="1"/>
              </p:cNvSpPr>
              <p:nvPr/>
            </p:nvSpPr>
            <p:spPr bwMode="auto">
              <a:xfrm>
                <a:off x="5534" y="1888"/>
                <a:ext cx="157" cy="156"/>
              </a:xfrm>
              <a:custGeom>
                <a:avLst/>
                <a:gdLst>
                  <a:gd name="T0" fmla="*/ 0 w 770"/>
                  <a:gd name="T1" fmla="*/ 769 h 769"/>
                  <a:gd name="T2" fmla="*/ 769 w 770"/>
                  <a:gd name="T3" fmla="*/ 0 h 769"/>
                  <a:gd name="T4" fmla="*/ 770 w 770"/>
                  <a:gd name="T5" fmla="*/ 0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70" h="769">
                    <a:moveTo>
                      <a:pt x="0" y="769"/>
                    </a:moveTo>
                    <a:lnTo>
                      <a:pt x="769" y="0"/>
                    </a:lnTo>
                    <a:lnTo>
                      <a:pt x="770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4" name="Freeform 29"/>
              <p:cNvSpPr>
                <a:spLocks noChangeArrowheads="1"/>
              </p:cNvSpPr>
              <p:nvPr/>
            </p:nvSpPr>
            <p:spPr bwMode="auto">
              <a:xfrm>
                <a:off x="5675" y="2029"/>
                <a:ext cx="16" cy="15"/>
              </a:xfrm>
              <a:custGeom>
                <a:avLst/>
                <a:gdLst>
                  <a:gd name="T0" fmla="*/ 0 w 81"/>
                  <a:gd name="T1" fmla="*/ 80 h 80"/>
                  <a:gd name="T2" fmla="*/ 80 w 81"/>
                  <a:gd name="T3" fmla="*/ 0 h 80"/>
                  <a:gd name="T4" fmla="*/ 81 w 81"/>
                  <a:gd name="T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" h="80">
                    <a:moveTo>
                      <a:pt x="0" y="80"/>
                    </a:moveTo>
                    <a:lnTo>
                      <a:pt x="80" y="0"/>
                    </a:lnTo>
                    <a:lnTo>
                      <a:pt x="8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5" name="Freeform 30"/>
              <p:cNvSpPr>
                <a:spLocks noChangeArrowheads="1"/>
              </p:cNvSpPr>
              <p:nvPr/>
            </p:nvSpPr>
            <p:spPr bwMode="auto">
              <a:xfrm>
                <a:off x="2687" y="1778"/>
                <a:ext cx="31" cy="29"/>
              </a:xfrm>
              <a:custGeom>
                <a:avLst/>
                <a:gdLst>
                  <a:gd name="T0" fmla="*/ 0 w 145"/>
                  <a:gd name="T1" fmla="*/ 142 h 142"/>
                  <a:gd name="T2" fmla="*/ 144 w 145"/>
                  <a:gd name="T3" fmla="*/ 0 h 142"/>
                  <a:gd name="T4" fmla="*/ 145 w 145"/>
                  <a:gd name="T5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5" h="142">
                    <a:moveTo>
                      <a:pt x="0" y="142"/>
                    </a:moveTo>
                    <a:lnTo>
                      <a:pt x="144" y="0"/>
                    </a:lnTo>
                    <a:lnTo>
                      <a:pt x="145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6" name="Freeform 31"/>
              <p:cNvSpPr>
                <a:spLocks noChangeArrowheads="1"/>
              </p:cNvSpPr>
              <p:nvPr/>
            </p:nvSpPr>
            <p:spPr bwMode="auto">
              <a:xfrm>
                <a:off x="2678" y="1767"/>
                <a:ext cx="190" cy="192"/>
              </a:xfrm>
              <a:custGeom>
                <a:avLst/>
                <a:gdLst>
                  <a:gd name="T0" fmla="*/ 0 w 936"/>
                  <a:gd name="T1" fmla="*/ 937 h 937"/>
                  <a:gd name="T2" fmla="*/ 935 w 936"/>
                  <a:gd name="T3" fmla="*/ 0 h 937"/>
                  <a:gd name="T4" fmla="*/ 936 w 936"/>
                  <a:gd name="T5" fmla="*/ 0 h 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36" h="937">
                    <a:moveTo>
                      <a:pt x="0" y="937"/>
                    </a:moveTo>
                    <a:lnTo>
                      <a:pt x="935" y="0"/>
                    </a:lnTo>
                    <a:lnTo>
                      <a:pt x="936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7" name="Freeform 32"/>
              <p:cNvSpPr>
                <a:spLocks noChangeArrowheads="1"/>
              </p:cNvSpPr>
              <p:nvPr/>
            </p:nvSpPr>
            <p:spPr bwMode="auto">
              <a:xfrm>
                <a:off x="2732" y="1901"/>
                <a:ext cx="143" cy="143"/>
              </a:xfrm>
              <a:custGeom>
                <a:avLst/>
                <a:gdLst>
                  <a:gd name="T0" fmla="*/ 0 w 713"/>
                  <a:gd name="T1" fmla="*/ 713 h 713"/>
                  <a:gd name="T2" fmla="*/ 712 w 713"/>
                  <a:gd name="T3" fmla="*/ 0 h 713"/>
                  <a:gd name="T4" fmla="*/ 713 w 713"/>
                  <a:gd name="T5" fmla="*/ 0 h 7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3" h="713">
                    <a:moveTo>
                      <a:pt x="0" y="713"/>
                    </a:moveTo>
                    <a:lnTo>
                      <a:pt x="712" y="0"/>
                    </a:lnTo>
                    <a:lnTo>
                      <a:pt x="713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8" name="Freeform 33"/>
              <p:cNvSpPr>
                <a:spLocks noChangeArrowheads="1"/>
              </p:cNvSpPr>
              <p:nvPr/>
            </p:nvSpPr>
            <p:spPr bwMode="auto">
              <a:xfrm>
                <a:off x="2871" y="2040"/>
                <a:ext cx="4" cy="4"/>
              </a:xfrm>
              <a:custGeom>
                <a:avLst/>
                <a:gdLst>
                  <a:gd name="T0" fmla="*/ 0 w 25"/>
                  <a:gd name="T1" fmla="*/ 23 h 23"/>
                  <a:gd name="T2" fmla="*/ 24 w 25"/>
                  <a:gd name="T3" fmla="*/ 0 h 23"/>
                  <a:gd name="T4" fmla="*/ 25 w 25"/>
                  <a:gd name="T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3">
                    <a:moveTo>
                      <a:pt x="0" y="23"/>
                    </a:moveTo>
                    <a:lnTo>
                      <a:pt x="24" y="0"/>
                    </a:lnTo>
                    <a:lnTo>
                      <a:pt x="25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9" name="Freeform 34"/>
              <p:cNvSpPr>
                <a:spLocks noChangeArrowheads="1"/>
              </p:cNvSpPr>
              <p:nvPr/>
            </p:nvSpPr>
            <p:spPr bwMode="auto">
              <a:xfrm>
                <a:off x="3074" y="1767"/>
                <a:ext cx="74" cy="76"/>
              </a:xfrm>
              <a:custGeom>
                <a:avLst/>
                <a:gdLst>
                  <a:gd name="T0" fmla="*/ 0 w 366"/>
                  <a:gd name="T1" fmla="*/ 365 h 365"/>
                  <a:gd name="T2" fmla="*/ 365 w 366"/>
                  <a:gd name="T3" fmla="*/ 0 h 365"/>
                  <a:gd name="T4" fmla="*/ 366 w 366"/>
                  <a:gd name="T5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6" h="365">
                    <a:moveTo>
                      <a:pt x="0" y="365"/>
                    </a:moveTo>
                    <a:lnTo>
                      <a:pt x="365" y="0"/>
                    </a:lnTo>
                    <a:lnTo>
                      <a:pt x="366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0" name="Freeform 35"/>
              <p:cNvSpPr>
                <a:spLocks noChangeArrowheads="1"/>
              </p:cNvSpPr>
              <p:nvPr/>
            </p:nvSpPr>
            <p:spPr bwMode="auto">
              <a:xfrm>
                <a:off x="3074" y="1879"/>
                <a:ext cx="103" cy="103"/>
              </a:xfrm>
              <a:custGeom>
                <a:avLst/>
                <a:gdLst>
                  <a:gd name="T0" fmla="*/ 0 w 504"/>
                  <a:gd name="T1" fmla="*/ 504 h 504"/>
                  <a:gd name="T2" fmla="*/ 503 w 504"/>
                  <a:gd name="T3" fmla="*/ 0 h 504"/>
                  <a:gd name="T4" fmla="*/ 504 w 504"/>
                  <a:gd name="T5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4" h="504">
                    <a:moveTo>
                      <a:pt x="0" y="504"/>
                    </a:moveTo>
                    <a:lnTo>
                      <a:pt x="503" y="0"/>
                    </a:lnTo>
                    <a:lnTo>
                      <a:pt x="504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1" name="Freeform 36"/>
              <p:cNvSpPr>
                <a:spLocks noChangeArrowheads="1"/>
              </p:cNvSpPr>
              <p:nvPr/>
            </p:nvSpPr>
            <p:spPr bwMode="auto">
              <a:xfrm>
                <a:off x="3150" y="1997"/>
                <a:ext cx="50" cy="47"/>
              </a:xfrm>
              <a:custGeom>
                <a:avLst/>
                <a:gdLst>
                  <a:gd name="T0" fmla="*/ 0 w 238"/>
                  <a:gd name="T1" fmla="*/ 237 h 237"/>
                  <a:gd name="T2" fmla="*/ 237 w 238"/>
                  <a:gd name="T3" fmla="*/ 0 h 237"/>
                  <a:gd name="T4" fmla="*/ 238 w 238"/>
                  <a:gd name="T5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8" h="237">
                    <a:moveTo>
                      <a:pt x="0" y="237"/>
                    </a:moveTo>
                    <a:lnTo>
                      <a:pt x="237" y="0"/>
                    </a:lnTo>
                    <a:lnTo>
                      <a:pt x="238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5" name="Group 37"/>
            <p:cNvGrpSpPr>
              <a:grpSpLocks/>
            </p:cNvGrpSpPr>
            <p:nvPr/>
          </p:nvGrpSpPr>
          <p:grpSpPr bwMode="auto">
            <a:xfrm>
              <a:off x="2678" y="182"/>
              <a:ext cx="3015" cy="1914"/>
              <a:chOff x="3072" y="301"/>
              <a:chExt cx="2489" cy="1581"/>
            </a:xfrm>
          </p:grpSpPr>
          <p:sp>
            <p:nvSpPr>
              <p:cNvPr id="6" name="Freeform 38"/>
              <p:cNvSpPr>
                <a:spLocks noChangeArrowheads="1"/>
              </p:cNvSpPr>
              <p:nvPr/>
            </p:nvSpPr>
            <p:spPr bwMode="auto">
              <a:xfrm>
                <a:off x="4315" y="301"/>
                <a:ext cx="2" cy="128"/>
              </a:xfrm>
              <a:custGeom>
                <a:avLst/>
                <a:gdLst>
                  <a:gd name="T0" fmla="*/ 0 w 1"/>
                  <a:gd name="T1" fmla="*/ 0 h 753"/>
                  <a:gd name="T2" fmla="*/ 0 w 1"/>
                  <a:gd name="T3" fmla="*/ 753 h 753"/>
                  <a:gd name="T4" fmla="*/ 1 w 1"/>
                  <a:gd name="T5" fmla="*/ 753 h 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53">
                    <a:moveTo>
                      <a:pt x="0" y="0"/>
                    </a:moveTo>
                    <a:lnTo>
                      <a:pt x="0" y="753"/>
                    </a:lnTo>
                    <a:lnTo>
                      <a:pt x="1" y="753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" name="Freeform 39"/>
              <p:cNvSpPr>
                <a:spLocks noChangeArrowheads="1"/>
              </p:cNvSpPr>
              <p:nvPr/>
            </p:nvSpPr>
            <p:spPr bwMode="auto">
              <a:xfrm>
                <a:off x="4315" y="477"/>
                <a:ext cx="2" cy="50"/>
              </a:xfrm>
              <a:custGeom>
                <a:avLst/>
                <a:gdLst>
                  <a:gd name="T0" fmla="*/ 0 w 1"/>
                  <a:gd name="T1" fmla="*/ 0 h 292"/>
                  <a:gd name="T2" fmla="*/ 0 w 1"/>
                  <a:gd name="T3" fmla="*/ 292 h 292"/>
                  <a:gd name="T4" fmla="*/ 1 w 1"/>
                  <a:gd name="T5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92">
                    <a:moveTo>
                      <a:pt x="0" y="0"/>
                    </a:moveTo>
                    <a:lnTo>
                      <a:pt x="0" y="292"/>
                    </a:lnTo>
                    <a:lnTo>
                      <a:pt x="1" y="292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" name="Freeform 40"/>
              <p:cNvSpPr>
                <a:spLocks noChangeArrowheads="1"/>
              </p:cNvSpPr>
              <p:nvPr/>
            </p:nvSpPr>
            <p:spPr bwMode="auto">
              <a:xfrm>
                <a:off x="4315" y="576"/>
                <a:ext cx="2" cy="244"/>
              </a:xfrm>
              <a:custGeom>
                <a:avLst/>
                <a:gdLst>
                  <a:gd name="T0" fmla="*/ 0 w 1"/>
                  <a:gd name="T1" fmla="*/ 0 h 1462"/>
                  <a:gd name="T2" fmla="*/ 0 w 1"/>
                  <a:gd name="T3" fmla="*/ 1462 h 1462"/>
                  <a:gd name="T4" fmla="*/ 1 w 1"/>
                  <a:gd name="T5" fmla="*/ 1462 h 1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462">
                    <a:moveTo>
                      <a:pt x="0" y="0"/>
                    </a:moveTo>
                    <a:lnTo>
                      <a:pt x="0" y="1462"/>
                    </a:lnTo>
                    <a:lnTo>
                      <a:pt x="1" y="1462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" name="Freeform 41"/>
              <p:cNvSpPr>
                <a:spLocks noChangeArrowheads="1"/>
              </p:cNvSpPr>
              <p:nvPr/>
            </p:nvSpPr>
            <p:spPr bwMode="auto">
              <a:xfrm>
                <a:off x="4315" y="870"/>
                <a:ext cx="2" cy="50"/>
              </a:xfrm>
              <a:custGeom>
                <a:avLst/>
                <a:gdLst>
                  <a:gd name="T0" fmla="*/ 0 w 1"/>
                  <a:gd name="T1" fmla="*/ 0 h 292"/>
                  <a:gd name="T2" fmla="*/ 0 w 1"/>
                  <a:gd name="T3" fmla="*/ 292 h 292"/>
                  <a:gd name="T4" fmla="*/ 1 w 1"/>
                  <a:gd name="T5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92">
                    <a:moveTo>
                      <a:pt x="0" y="0"/>
                    </a:moveTo>
                    <a:lnTo>
                      <a:pt x="0" y="292"/>
                    </a:lnTo>
                    <a:lnTo>
                      <a:pt x="1" y="292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" name="Freeform 42"/>
              <p:cNvSpPr>
                <a:spLocks noChangeArrowheads="1"/>
              </p:cNvSpPr>
              <p:nvPr/>
            </p:nvSpPr>
            <p:spPr bwMode="auto">
              <a:xfrm>
                <a:off x="4315" y="968"/>
                <a:ext cx="2" cy="246"/>
              </a:xfrm>
              <a:custGeom>
                <a:avLst/>
                <a:gdLst>
                  <a:gd name="T0" fmla="*/ 0 w 1"/>
                  <a:gd name="T1" fmla="*/ 0 h 1463"/>
                  <a:gd name="T2" fmla="*/ 0 w 1"/>
                  <a:gd name="T3" fmla="*/ 1463 h 1463"/>
                  <a:gd name="T4" fmla="*/ 1 w 1"/>
                  <a:gd name="T5" fmla="*/ 146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463">
                    <a:moveTo>
                      <a:pt x="0" y="0"/>
                    </a:moveTo>
                    <a:lnTo>
                      <a:pt x="0" y="1463"/>
                    </a:lnTo>
                    <a:lnTo>
                      <a:pt x="1" y="1463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" name="Freeform 43"/>
              <p:cNvSpPr>
                <a:spLocks noChangeArrowheads="1"/>
              </p:cNvSpPr>
              <p:nvPr/>
            </p:nvSpPr>
            <p:spPr bwMode="auto">
              <a:xfrm>
                <a:off x="4315" y="1264"/>
                <a:ext cx="2" cy="48"/>
              </a:xfrm>
              <a:custGeom>
                <a:avLst/>
                <a:gdLst>
                  <a:gd name="T0" fmla="*/ 0 w 1"/>
                  <a:gd name="T1" fmla="*/ 0 h 292"/>
                  <a:gd name="T2" fmla="*/ 0 w 1"/>
                  <a:gd name="T3" fmla="*/ 292 h 292"/>
                  <a:gd name="T4" fmla="*/ 1 w 1"/>
                  <a:gd name="T5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92">
                    <a:moveTo>
                      <a:pt x="0" y="0"/>
                    </a:moveTo>
                    <a:lnTo>
                      <a:pt x="0" y="292"/>
                    </a:lnTo>
                    <a:lnTo>
                      <a:pt x="1" y="292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" name="Freeform 44"/>
              <p:cNvSpPr>
                <a:spLocks noChangeArrowheads="1"/>
              </p:cNvSpPr>
              <p:nvPr/>
            </p:nvSpPr>
            <p:spPr bwMode="auto">
              <a:xfrm>
                <a:off x="4315" y="1362"/>
                <a:ext cx="2" cy="246"/>
              </a:xfrm>
              <a:custGeom>
                <a:avLst/>
                <a:gdLst>
                  <a:gd name="T0" fmla="*/ 0 w 1"/>
                  <a:gd name="T1" fmla="*/ 0 h 1463"/>
                  <a:gd name="T2" fmla="*/ 0 w 1"/>
                  <a:gd name="T3" fmla="*/ 1463 h 1463"/>
                  <a:gd name="T4" fmla="*/ 1 w 1"/>
                  <a:gd name="T5" fmla="*/ 146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463">
                    <a:moveTo>
                      <a:pt x="0" y="0"/>
                    </a:moveTo>
                    <a:lnTo>
                      <a:pt x="0" y="1463"/>
                    </a:lnTo>
                    <a:lnTo>
                      <a:pt x="1" y="1463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" name="Freeform 45"/>
              <p:cNvSpPr>
                <a:spLocks noChangeArrowheads="1"/>
              </p:cNvSpPr>
              <p:nvPr/>
            </p:nvSpPr>
            <p:spPr bwMode="auto">
              <a:xfrm>
                <a:off x="4315" y="1656"/>
                <a:ext cx="2" cy="50"/>
              </a:xfrm>
              <a:custGeom>
                <a:avLst/>
                <a:gdLst>
                  <a:gd name="T0" fmla="*/ 0 w 1"/>
                  <a:gd name="T1" fmla="*/ 0 h 293"/>
                  <a:gd name="T2" fmla="*/ 0 w 1"/>
                  <a:gd name="T3" fmla="*/ 293 h 293"/>
                  <a:gd name="T4" fmla="*/ 1 w 1"/>
                  <a:gd name="T5" fmla="*/ 293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93">
                    <a:moveTo>
                      <a:pt x="0" y="0"/>
                    </a:moveTo>
                    <a:lnTo>
                      <a:pt x="0" y="293"/>
                    </a:lnTo>
                    <a:lnTo>
                      <a:pt x="1" y="293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" name="Freeform 46"/>
              <p:cNvSpPr>
                <a:spLocks noChangeArrowheads="1"/>
              </p:cNvSpPr>
              <p:nvPr/>
            </p:nvSpPr>
            <p:spPr bwMode="auto">
              <a:xfrm>
                <a:off x="4315" y="1756"/>
                <a:ext cx="2" cy="126"/>
              </a:xfrm>
              <a:custGeom>
                <a:avLst/>
                <a:gdLst>
                  <a:gd name="T0" fmla="*/ 0 w 1"/>
                  <a:gd name="T1" fmla="*/ 0 h 753"/>
                  <a:gd name="T2" fmla="*/ 0 w 1"/>
                  <a:gd name="T3" fmla="*/ 753 h 753"/>
                  <a:gd name="T4" fmla="*/ 1 w 1"/>
                  <a:gd name="T5" fmla="*/ 753 h 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53">
                    <a:moveTo>
                      <a:pt x="0" y="0"/>
                    </a:moveTo>
                    <a:lnTo>
                      <a:pt x="0" y="753"/>
                    </a:lnTo>
                    <a:lnTo>
                      <a:pt x="1" y="753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" name="Freeform 47"/>
              <p:cNvSpPr>
                <a:spLocks noChangeArrowheads="1"/>
              </p:cNvSpPr>
              <p:nvPr/>
            </p:nvSpPr>
            <p:spPr bwMode="auto">
              <a:xfrm>
                <a:off x="3693" y="1512"/>
                <a:ext cx="159" cy="2"/>
              </a:xfrm>
              <a:custGeom>
                <a:avLst/>
                <a:gdLst>
                  <a:gd name="T0" fmla="*/ 0 w 940"/>
                  <a:gd name="T1" fmla="*/ 0 h 2"/>
                  <a:gd name="T2" fmla="*/ 939 w 940"/>
                  <a:gd name="T3" fmla="*/ 0 h 2"/>
                  <a:gd name="T4" fmla="*/ 940 w 94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40" h="2">
                    <a:moveTo>
                      <a:pt x="0" y="0"/>
                    </a:moveTo>
                    <a:lnTo>
                      <a:pt x="939" y="0"/>
                    </a:lnTo>
                    <a:lnTo>
                      <a:pt x="940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" name="Freeform 48"/>
              <p:cNvSpPr>
                <a:spLocks noChangeArrowheads="1"/>
              </p:cNvSpPr>
              <p:nvPr/>
            </p:nvSpPr>
            <p:spPr bwMode="auto">
              <a:xfrm>
                <a:off x="3900" y="1512"/>
                <a:ext cx="50" cy="2"/>
              </a:xfrm>
              <a:custGeom>
                <a:avLst/>
                <a:gdLst>
                  <a:gd name="T0" fmla="*/ 0 w 293"/>
                  <a:gd name="T1" fmla="*/ 0 h 2"/>
                  <a:gd name="T2" fmla="*/ 292 w 293"/>
                  <a:gd name="T3" fmla="*/ 0 h 2"/>
                  <a:gd name="T4" fmla="*/ 293 w 29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3" h="2">
                    <a:moveTo>
                      <a:pt x="0" y="0"/>
                    </a:moveTo>
                    <a:lnTo>
                      <a:pt x="292" y="0"/>
                    </a:lnTo>
                    <a:lnTo>
                      <a:pt x="293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" name="Freeform 49"/>
              <p:cNvSpPr>
                <a:spLocks noChangeArrowheads="1"/>
              </p:cNvSpPr>
              <p:nvPr/>
            </p:nvSpPr>
            <p:spPr bwMode="auto">
              <a:xfrm>
                <a:off x="3998" y="1512"/>
                <a:ext cx="158" cy="2"/>
              </a:xfrm>
              <a:custGeom>
                <a:avLst/>
                <a:gdLst>
                  <a:gd name="T0" fmla="*/ 0 w 940"/>
                  <a:gd name="T1" fmla="*/ 0 h 2"/>
                  <a:gd name="T2" fmla="*/ 939 w 940"/>
                  <a:gd name="T3" fmla="*/ 0 h 2"/>
                  <a:gd name="T4" fmla="*/ 940 w 94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40" h="2">
                    <a:moveTo>
                      <a:pt x="0" y="0"/>
                    </a:moveTo>
                    <a:lnTo>
                      <a:pt x="939" y="0"/>
                    </a:lnTo>
                    <a:lnTo>
                      <a:pt x="940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" name="Freeform 50"/>
              <p:cNvSpPr>
                <a:spLocks noChangeArrowheads="1"/>
              </p:cNvSpPr>
              <p:nvPr/>
            </p:nvSpPr>
            <p:spPr bwMode="auto">
              <a:xfrm>
                <a:off x="3318" y="1575"/>
                <a:ext cx="2" cy="295"/>
              </a:xfrm>
              <a:custGeom>
                <a:avLst/>
                <a:gdLst>
                  <a:gd name="T0" fmla="*/ 0 w 1"/>
                  <a:gd name="T1" fmla="*/ 0 h 1770"/>
                  <a:gd name="T2" fmla="*/ 0 w 1"/>
                  <a:gd name="T3" fmla="*/ 1770 h 1770"/>
                  <a:gd name="T4" fmla="*/ 1 w 1"/>
                  <a:gd name="T5" fmla="*/ 1770 h 1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770">
                    <a:moveTo>
                      <a:pt x="0" y="0"/>
                    </a:moveTo>
                    <a:lnTo>
                      <a:pt x="0" y="1770"/>
                    </a:lnTo>
                    <a:lnTo>
                      <a:pt x="1" y="177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" name="Freeform 51"/>
              <p:cNvSpPr>
                <a:spLocks noChangeArrowheads="1"/>
              </p:cNvSpPr>
              <p:nvPr/>
            </p:nvSpPr>
            <p:spPr bwMode="auto">
              <a:xfrm>
                <a:off x="3922" y="1584"/>
                <a:ext cx="2" cy="157"/>
              </a:xfrm>
              <a:custGeom>
                <a:avLst/>
                <a:gdLst>
                  <a:gd name="T0" fmla="*/ 0 w 1"/>
                  <a:gd name="T1" fmla="*/ 938 h 938"/>
                  <a:gd name="T2" fmla="*/ 0 w 1"/>
                  <a:gd name="T3" fmla="*/ 0 h 938"/>
                  <a:gd name="T4" fmla="*/ 1 w 1"/>
                  <a:gd name="T5" fmla="*/ 0 h 9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38">
                    <a:moveTo>
                      <a:pt x="0" y="938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" name="Freeform 52"/>
              <p:cNvSpPr>
                <a:spLocks noChangeArrowheads="1"/>
              </p:cNvSpPr>
              <p:nvPr/>
            </p:nvSpPr>
            <p:spPr bwMode="auto">
              <a:xfrm>
                <a:off x="3922" y="1486"/>
                <a:ext cx="2" cy="48"/>
              </a:xfrm>
              <a:custGeom>
                <a:avLst/>
                <a:gdLst>
                  <a:gd name="T0" fmla="*/ 0 w 1"/>
                  <a:gd name="T1" fmla="*/ 291 h 291"/>
                  <a:gd name="T2" fmla="*/ 0 w 1"/>
                  <a:gd name="T3" fmla="*/ 0 h 291"/>
                  <a:gd name="T4" fmla="*/ 1 w 1"/>
                  <a:gd name="T5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91">
                    <a:moveTo>
                      <a:pt x="0" y="29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" name="Freeform 53"/>
              <p:cNvSpPr>
                <a:spLocks noChangeArrowheads="1"/>
              </p:cNvSpPr>
              <p:nvPr/>
            </p:nvSpPr>
            <p:spPr bwMode="auto">
              <a:xfrm>
                <a:off x="3922" y="1279"/>
                <a:ext cx="2" cy="157"/>
              </a:xfrm>
              <a:custGeom>
                <a:avLst/>
                <a:gdLst>
                  <a:gd name="T0" fmla="*/ 0 w 1"/>
                  <a:gd name="T1" fmla="*/ 938 h 938"/>
                  <a:gd name="T2" fmla="*/ 0 w 1"/>
                  <a:gd name="T3" fmla="*/ 0 h 938"/>
                  <a:gd name="T4" fmla="*/ 1 w 1"/>
                  <a:gd name="T5" fmla="*/ 0 h 9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38">
                    <a:moveTo>
                      <a:pt x="0" y="938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" name="Freeform 54"/>
              <p:cNvSpPr>
                <a:spLocks noChangeArrowheads="1"/>
              </p:cNvSpPr>
              <p:nvPr/>
            </p:nvSpPr>
            <p:spPr bwMode="auto">
              <a:xfrm>
                <a:off x="5313" y="1584"/>
                <a:ext cx="2" cy="298"/>
              </a:xfrm>
              <a:custGeom>
                <a:avLst/>
                <a:gdLst>
                  <a:gd name="T0" fmla="*/ 0 w 1"/>
                  <a:gd name="T1" fmla="*/ 0 h 1771"/>
                  <a:gd name="T2" fmla="*/ 0 w 1"/>
                  <a:gd name="T3" fmla="*/ 1771 h 1771"/>
                  <a:gd name="T4" fmla="*/ 1 w 1"/>
                  <a:gd name="T5" fmla="*/ 1771 h 17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771">
                    <a:moveTo>
                      <a:pt x="0" y="0"/>
                    </a:moveTo>
                    <a:lnTo>
                      <a:pt x="0" y="1771"/>
                    </a:lnTo>
                    <a:lnTo>
                      <a:pt x="1" y="1771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" name="Freeform 55"/>
              <p:cNvSpPr>
                <a:spLocks noChangeArrowheads="1"/>
              </p:cNvSpPr>
              <p:nvPr/>
            </p:nvSpPr>
            <p:spPr bwMode="auto">
              <a:xfrm>
                <a:off x="3754" y="464"/>
                <a:ext cx="861" cy="1375"/>
              </a:xfrm>
              <a:custGeom>
                <a:avLst/>
                <a:gdLst>
                  <a:gd name="T0" fmla="*/ 0 w 5118"/>
                  <a:gd name="T1" fmla="*/ 0 h 8189"/>
                  <a:gd name="T2" fmla="*/ 860 w 5118"/>
                  <a:gd name="T3" fmla="*/ 881 h 8189"/>
                  <a:gd name="T4" fmla="*/ 1256 w 5118"/>
                  <a:gd name="T5" fmla="*/ 1347 h 8189"/>
                  <a:gd name="T6" fmla="*/ 1619 w 5118"/>
                  <a:gd name="T7" fmla="*/ 1839 h 8189"/>
                  <a:gd name="T8" fmla="*/ 2296 w 5118"/>
                  <a:gd name="T9" fmla="*/ 2862 h 8189"/>
                  <a:gd name="T10" fmla="*/ 2700 w 5118"/>
                  <a:gd name="T11" fmla="*/ 3332 h 8189"/>
                  <a:gd name="T12" fmla="*/ 3160 w 5118"/>
                  <a:gd name="T13" fmla="*/ 3760 h 8189"/>
                  <a:gd name="T14" fmla="*/ 3573 w 5118"/>
                  <a:gd name="T15" fmla="*/ 4211 h 8189"/>
                  <a:gd name="T16" fmla="*/ 3725 w 5118"/>
                  <a:gd name="T17" fmla="*/ 4467 h 8189"/>
                  <a:gd name="T18" fmla="*/ 3831 w 5118"/>
                  <a:gd name="T19" fmla="*/ 4748 h 8189"/>
                  <a:gd name="T20" fmla="*/ 3988 w 5118"/>
                  <a:gd name="T21" fmla="*/ 5349 h 8189"/>
                  <a:gd name="T22" fmla="*/ 4203 w 5118"/>
                  <a:gd name="T23" fmla="*/ 5930 h 8189"/>
                  <a:gd name="T24" fmla="*/ 4768 w 5118"/>
                  <a:gd name="T25" fmla="*/ 7022 h 8189"/>
                  <a:gd name="T26" fmla="*/ 4982 w 5118"/>
                  <a:gd name="T27" fmla="*/ 7591 h 8189"/>
                  <a:gd name="T28" fmla="*/ 5117 w 5118"/>
                  <a:gd name="T29" fmla="*/ 8189 h 8189"/>
                  <a:gd name="T30" fmla="*/ 5118 w 5118"/>
                  <a:gd name="T31" fmla="*/ 8189 h 8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118" h="8189">
                    <a:moveTo>
                      <a:pt x="0" y="0"/>
                    </a:moveTo>
                    <a:lnTo>
                      <a:pt x="860" y="881"/>
                    </a:lnTo>
                    <a:lnTo>
                      <a:pt x="1256" y="1347"/>
                    </a:lnTo>
                    <a:lnTo>
                      <a:pt x="1619" y="1839"/>
                    </a:lnTo>
                    <a:lnTo>
                      <a:pt x="2296" y="2862"/>
                    </a:lnTo>
                    <a:lnTo>
                      <a:pt x="2700" y="3332"/>
                    </a:lnTo>
                    <a:lnTo>
                      <a:pt x="3160" y="3760"/>
                    </a:lnTo>
                    <a:lnTo>
                      <a:pt x="3573" y="4211"/>
                    </a:lnTo>
                    <a:lnTo>
                      <a:pt x="3725" y="4467"/>
                    </a:lnTo>
                    <a:lnTo>
                      <a:pt x="3831" y="4748"/>
                    </a:lnTo>
                    <a:lnTo>
                      <a:pt x="3988" y="5349"/>
                    </a:lnTo>
                    <a:lnTo>
                      <a:pt x="4203" y="5930"/>
                    </a:lnTo>
                    <a:lnTo>
                      <a:pt x="4768" y="7022"/>
                    </a:lnTo>
                    <a:lnTo>
                      <a:pt x="4982" y="7591"/>
                    </a:lnTo>
                    <a:lnTo>
                      <a:pt x="5117" y="8189"/>
                    </a:lnTo>
                    <a:lnTo>
                      <a:pt x="5118" y="8189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" name="Freeform 56"/>
              <p:cNvSpPr>
                <a:spLocks noChangeArrowheads="1"/>
              </p:cNvSpPr>
              <p:nvPr/>
            </p:nvSpPr>
            <p:spPr bwMode="auto">
              <a:xfrm>
                <a:off x="3478" y="1610"/>
                <a:ext cx="32" cy="229"/>
              </a:xfrm>
              <a:custGeom>
                <a:avLst/>
                <a:gdLst>
                  <a:gd name="T0" fmla="*/ 0 w 184"/>
                  <a:gd name="T1" fmla="*/ 0 h 1364"/>
                  <a:gd name="T2" fmla="*/ 36 w 184"/>
                  <a:gd name="T3" fmla="*/ 700 h 1364"/>
                  <a:gd name="T4" fmla="*/ 183 w 184"/>
                  <a:gd name="T5" fmla="*/ 1364 h 1364"/>
                  <a:gd name="T6" fmla="*/ 184 w 184"/>
                  <a:gd name="T7" fmla="*/ 1364 h 1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4" h="1364">
                    <a:moveTo>
                      <a:pt x="0" y="0"/>
                    </a:moveTo>
                    <a:lnTo>
                      <a:pt x="36" y="700"/>
                    </a:lnTo>
                    <a:lnTo>
                      <a:pt x="183" y="1364"/>
                    </a:lnTo>
                    <a:lnTo>
                      <a:pt x="184" y="1364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25" name="Group 57"/>
              <p:cNvGrpSpPr>
                <a:grpSpLocks/>
              </p:cNvGrpSpPr>
              <p:nvPr/>
            </p:nvGrpSpPr>
            <p:grpSpPr bwMode="auto">
              <a:xfrm>
                <a:off x="3072" y="366"/>
                <a:ext cx="2489" cy="1475"/>
                <a:chOff x="3072" y="366"/>
                <a:chExt cx="2489" cy="1475"/>
              </a:xfrm>
            </p:grpSpPr>
            <p:sp>
              <p:nvSpPr>
                <p:cNvPr id="26" name="Freeform 58"/>
                <p:cNvSpPr>
                  <a:spLocks noChangeArrowheads="1"/>
                </p:cNvSpPr>
                <p:nvPr/>
              </p:nvSpPr>
              <p:spPr bwMode="auto">
                <a:xfrm>
                  <a:off x="4142" y="1610"/>
                  <a:ext cx="397" cy="2"/>
                </a:xfrm>
                <a:custGeom>
                  <a:avLst/>
                  <a:gdLst>
                    <a:gd name="T0" fmla="*/ 2364 w 2364"/>
                    <a:gd name="T1" fmla="*/ 0 h 2"/>
                    <a:gd name="T2" fmla="*/ 0 w 2364"/>
                    <a:gd name="T3" fmla="*/ 0 h 2"/>
                    <a:gd name="T4" fmla="*/ 1 w 2364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364" h="2">
                      <a:moveTo>
                        <a:pt x="2364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7" name="Freeform 59"/>
                <p:cNvSpPr>
                  <a:spLocks noChangeArrowheads="1"/>
                </p:cNvSpPr>
                <p:nvPr/>
              </p:nvSpPr>
              <p:spPr bwMode="auto">
                <a:xfrm>
                  <a:off x="3318" y="1839"/>
                  <a:ext cx="1995" cy="2"/>
                </a:xfrm>
                <a:custGeom>
                  <a:avLst/>
                  <a:gdLst>
                    <a:gd name="T0" fmla="*/ 0 w 11886"/>
                    <a:gd name="T1" fmla="*/ 0 h 2"/>
                    <a:gd name="T2" fmla="*/ 11885 w 11886"/>
                    <a:gd name="T3" fmla="*/ 0 h 2"/>
                    <a:gd name="T4" fmla="*/ 11886 w 11886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886" h="2">
                      <a:moveTo>
                        <a:pt x="0" y="0"/>
                      </a:moveTo>
                      <a:lnTo>
                        <a:pt x="11885" y="0"/>
                      </a:lnTo>
                      <a:lnTo>
                        <a:pt x="11886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8" name="Freeform 60"/>
                <p:cNvSpPr>
                  <a:spLocks noChangeArrowheads="1"/>
                </p:cNvSpPr>
                <p:nvPr/>
              </p:nvSpPr>
              <p:spPr bwMode="auto">
                <a:xfrm>
                  <a:off x="5003" y="464"/>
                  <a:ext cx="98" cy="98"/>
                </a:xfrm>
                <a:custGeom>
                  <a:avLst/>
                  <a:gdLst>
                    <a:gd name="T0" fmla="*/ 585 w 585"/>
                    <a:gd name="T1" fmla="*/ 585 h 585"/>
                    <a:gd name="T2" fmla="*/ 506 w 585"/>
                    <a:gd name="T3" fmla="*/ 293 h 585"/>
                    <a:gd name="T4" fmla="*/ 293 w 585"/>
                    <a:gd name="T5" fmla="*/ 79 h 585"/>
                    <a:gd name="T6" fmla="*/ 0 w 585"/>
                    <a:gd name="T7" fmla="*/ 0 h 585"/>
                    <a:gd name="T8" fmla="*/ 1 w 585"/>
                    <a:gd name="T9" fmla="*/ 0 h 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5" h="585">
                      <a:moveTo>
                        <a:pt x="585" y="585"/>
                      </a:moveTo>
                      <a:lnTo>
                        <a:pt x="506" y="293"/>
                      </a:lnTo>
                      <a:lnTo>
                        <a:pt x="293" y="79"/>
                      </a:ln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9" name="Freeform 61"/>
                <p:cNvSpPr>
                  <a:spLocks noChangeArrowheads="1"/>
                </p:cNvSpPr>
                <p:nvPr/>
              </p:nvSpPr>
              <p:spPr bwMode="auto">
                <a:xfrm>
                  <a:off x="3137" y="1610"/>
                  <a:ext cx="181" cy="2"/>
                </a:xfrm>
                <a:custGeom>
                  <a:avLst/>
                  <a:gdLst>
                    <a:gd name="T0" fmla="*/ 0 w 1074"/>
                    <a:gd name="T1" fmla="*/ 0 h 2"/>
                    <a:gd name="T2" fmla="*/ 1073 w 1074"/>
                    <a:gd name="T3" fmla="*/ 0 h 2"/>
                    <a:gd name="T4" fmla="*/ 1074 w 1074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74" h="2">
                      <a:moveTo>
                        <a:pt x="0" y="0"/>
                      </a:moveTo>
                      <a:lnTo>
                        <a:pt x="1073" y="0"/>
                      </a:lnTo>
                      <a:lnTo>
                        <a:pt x="1074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0" name="Freeform 62"/>
                <p:cNvSpPr>
                  <a:spLocks noChangeArrowheads="1"/>
                </p:cNvSpPr>
                <p:nvPr/>
              </p:nvSpPr>
              <p:spPr bwMode="auto">
                <a:xfrm>
                  <a:off x="3072" y="1839"/>
                  <a:ext cx="246" cy="2"/>
                </a:xfrm>
                <a:custGeom>
                  <a:avLst/>
                  <a:gdLst>
                    <a:gd name="T0" fmla="*/ 1461 w 1461"/>
                    <a:gd name="T1" fmla="*/ 0 h 2"/>
                    <a:gd name="T2" fmla="*/ 0 w 1461"/>
                    <a:gd name="T3" fmla="*/ 0 h 2"/>
                    <a:gd name="T4" fmla="*/ 1 w 146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461" h="2">
                      <a:moveTo>
                        <a:pt x="1461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1" name="Freeform 63"/>
                <p:cNvSpPr>
                  <a:spLocks noChangeArrowheads="1"/>
                </p:cNvSpPr>
                <p:nvPr/>
              </p:nvSpPr>
              <p:spPr bwMode="auto">
                <a:xfrm>
                  <a:off x="3072" y="1610"/>
                  <a:ext cx="65" cy="66"/>
                </a:xfrm>
                <a:custGeom>
                  <a:avLst/>
                  <a:gdLst>
                    <a:gd name="T0" fmla="*/ 388 w 388"/>
                    <a:gd name="T1" fmla="*/ 0 h 390"/>
                    <a:gd name="T2" fmla="*/ 113 w 388"/>
                    <a:gd name="T3" fmla="*/ 115 h 390"/>
                    <a:gd name="T4" fmla="*/ 0 w 388"/>
                    <a:gd name="T5" fmla="*/ 390 h 390"/>
                    <a:gd name="T6" fmla="*/ 1 w 388"/>
                    <a:gd name="T7" fmla="*/ 390 h 3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88" h="390">
                      <a:moveTo>
                        <a:pt x="388" y="0"/>
                      </a:moveTo>
                      <a:lnTo>
                        <a:pt x="113" y="115"/>
                      </a:lnTo>
                      <a:lnTo>
                        <a:pt x="0" y="390"/>
                      </a:lnTo>
                      <a:lnTo>
                        <a:pt x="1" y="39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2" name="Freeform 64"/>
                <p:cNvSpPr>
                  <a:spLocks noChangeArrowheads="1"/>
                </p:cNvSpPr>
                <p:nvPr/>
              </p:nvSpPr>
              <p:spPr bwMode="auto">
                <a:xfrm>
                  <a:off x="3235" y="1610"/>
                  <a:ext cx="1" cy="229"/>
                </a:xfrm>
                <a:custGeom>
                  <a:avLst/>
                  <a:gdLst>
                    <a:gd name="T0" fmla="*/ 0 w 1"/>
                    <a:gd name="T1" fmla="*/ 0 h 1364"/>
                    <a:gd name="T2" fmla="*/ 0 w 1"/>
                    <a:gd name="T3" fmla="*/ 1364 h 1364"/>
                    <a:gd name="T4" fmla="*/ 1 w 1"/>
                    <a:gd name="T5" fmla="*/ 1364 h 1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364">
                      <a:moveTo>
                        <a:pt x="0" y="0"/>
                      </a:moveTo>
                      <a:lnTo>
                        <a:pt x="0" y="1364"/>
                      </a:lnTo>
                      <a:lnTo>
                        <a:pt x="1" y="1364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3" name="Freeform 65"/>
                <p:cNvSpPr>
                  <a:spLocks noChangeArrowheads="1"/>
                </p:cNvSpPr>
                <p:nvPr/>
              </p:nvSpPr>
              <p:spPr bwMode="auto">
                <a:xfrm>
                  <a:off x="3072" y="1676"/>
                  <a:ext cx="2" cy="163"/>
                </a:xfrm>
                <a:custGeom>
                  <a:avLst/>
                  <a:gdLst>
                    <a:gd name="T0" fmla="*/ 0 w 1"/>
                    <a:gd name="T1" fmla="*/ 0 h 974"/>
                    <a:gd name="T2" fmla="*/ 0 w 1"/>
                    <a:gd name="T3" fmla="*/ 974 h 974"/>
                    <a:gd name="T4" fmla="*/ 1 w 1"/>
                    <a:gd name="T5" fmla="*/ 974 h 9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974">
                      <a:moveTo>
                        <a:pt x="0" y="0"/>
                      </a:moveTo>
                      <a:lnTo>
                        <a:pt x="0" y="974"/>
                      </a:lnTo>
                      <a:lnTo>
                        <a:pt x="1" y="974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4" name="Freeform 66"/>
                <p:cNvSpPr>
                  <a:spLocks noChangeArrowheads="1"/>
                </p:cNvSpPr>
                <p:nvPr/>
              </p:nvSpPr>
              <p:spPr bwMode="auto">
                <a:xfrm>
                  <a:off x="4643" y="366"/>
                  <a:ext cx="1" cy="229"/>
                </a:xfrm>
                <a:custGeom>
                  <a:avLst/>
                  <a:gdLst>
                    <a:gd name="T0" fmla="*/ 0 w 1"/>
                    <a:gd name="T1" fmla="*/ 1365 h 1365"/>
                    <a:gd name="T2" fmla="*/ 0 w 1"/>
                    <a:gd name="T3" fmla="*/ 0 h 1365"/>
                    <a:gd name="T4" fmla="*/ 1 w 1"/>
                    <a:gd name="T5" fmla="*/ 0 h 13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365">
                      <a:moveTo>
                        <a:pt x="0" y="1365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5" name="Freeform 67"/>
                <p:cNvSpPr>
                  <a:spLocks noChangeArrowheads="1"/>
                </p:cNvSpPr>
                <p:nvPr/>
              </p:nvSpPr>
              <p:spPr bwMode="auto">
                <a:xfrm>
                  <a:off x="3989" y="366"/>
                  <a:ext cx="1" cy="229"/>
                </a:xfrm>
                <a:custGeom>
                  <a:avLst/>
                  <a:gdLst>
                    <a:gd name="T0" fmla="*/ 0 w 1"/>
                    <a:gd name="T1" fmla="*/ 1365 h 1365"/>
                    <a:gd name="T2" fmla="*/ 0 w 1"/>
                    <a:gd name="T3" fmla="*/ 0 h 1365"/>
                    <a:gd name="T4" fmla="*/ 1 w 1"/>
                    <a:gd name="T5" fmla="*/ 0 h 13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365">
                      <a:moveTo>
                        <a:pt x="0" y="1365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6" name="Freeform 68"/>
                <p:cNvSpPr>
                  <a:spLocks noChangeArrowheads="1"/>
                </p:cNvSpPr>
                <p:nvPr/>
              </p:nvSpPr>
              <p:spPr bwMode="auto">
                <a:xfrm>
                  <a:off x="3530" y="464"/>
                  <a:ext cx="98" cy="98"/>
                </a:xfrm>
                <a:custGeom>
                  <a:avLst/>
                  <a:gdLst>
                    <a:gd name="T0" fmla="*/ 585 w 585"/>
                    <a:gd name="T1" fmla="*/ 0 h 585"/>
                    <a:gd name="T2" fmla="*/ 292 w 585"/>
                    <a:gd name="T3" fmla="*/ 79 h 585"/>
                    <a:gd name="T4" fmla="*/ 79 w 585"/>
                    <a:gd name="T5" fmla="*/ 293 h 585"/>
                    <a:gd name="T6" fmla="*/ 0 w 585"/>
                    <a:gd name="T7" fmla="*/ 585 h 585"/>
                    <a:gd name="T8" fmla="*/ 1 w 585"/>
                    <a:gd name="T9" fmla="*/ 585 h 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5" h="585">
                      <a:moveTo>
                        <a:pt x="585" y="0"/>
                      </a:moveTo>
                      <a:lnTo>
                        <a:pt x="292" y="79"/>
                      </a:lnTo>
                      <a:lnTo>
                        <a:pt x="79" y="293"/>
                      </a:lnTo>
                      <a:lnTo>
                        <a:pt x="0" y="585"/>
                      </a:lnTo>
                      <a:lnTo>
                        <a:pt x="1" y="585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7" name="Freeform 69"/>
                <p:cNvSpPr>
                  <a:spLocks noChangeArrowheads="1"/>
                </p:cNvSpPr>
                <p:nvPr/>
              </p:nvSpPr>
              <p:spPr bwMode="auto">
                <a:xfrm>
                  <a:off x="3883" y="595"/>
                  <a:ext cx="1087" cy="2"/>
                </a:xfrm>
                <a:custGeom>
                  <a:avLst/>
                  <a:gdLst>
                    <a:gd name="T0" fmla="*/ 6465 w 6465"/>
                    <a:gd name="T1" fmla="*/ 0 h 2"/>
                    <a:gd name="T2" fmla="*/ 0 w 6465"/>
                    <a:gd name="T3" fmla="*/ 0 h 2"/>
                    <a:gd name="T4" fmla="*/ 1 w 6465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465" h="2">
                      <a:moveTo>
                        <a:pt x="6465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8" name="Freeform 70"/>
                <p:cNvSpPr>
                  <a:spLocks noChangeArrowheads="1"/>
                </p:cNvSpPr>
                <p:nvPr/>
              </p:nvSpPr>
              <p:spPr bwMode="auto">
                <a:xfrm>
                  <a:off x="3530" y="562"/>
                  <a:ext cx="2" cy="1016"/>
                </a:xfrm>
                <a:custGeom>
                  <a:avLst/>
                  <a:gdLst>
                    <a:gd name="T0" fmla="*/ 0 w 1"/>
                    <a:gd name="T1" fmla="*/ 0 h 6045"/>
                    <a:gd name="T2" fmla="*/ 0 w 1"/>
                    <a:gd name="T3" fmla="*/ 6045 h 6045"/>
                    <a:gd name="T4" fmla="*/ 1 w 1"/>
                    <a:gd name="T5" fmla="*/ 6045 h 60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6045">
                      <a:moveTo>
                        <a:pt x="0" y="0"/>
                      </a:moveTo>
                      <a:lnTo>
                        <a:pt x="0" y="6045"/>
                      </a:lnTo>
                      <a:lnTo>
                        <a:pt x="1" y="6045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9" name="Freeform 71"/>
                <p:cNvSpPr>
                  <a:spLocks noChangeArrowheads="1"/>
                </p:cNvSpPr>
                <p:nvPr/>
              </p:nvSpPr>
              <p:spPr bwMode="auto">
                <a:xfrm>
                  <a:off x="3704" y="1569"/>
                  <a:ext cx="31" cy="41"/>
                </a:xfrm>
                <a:custGeom>
                  <a:avLst/>
                  <a:gdLst>
                    <a:gd name="T0" fmla="*/ 0 w 187"/>
                    <a:gd name="T1" fmla="*/ 250 h 250"/>
                    <a:gd name="T2" fmla="*/ 155 w 187"/>
                    <a:gd name="T3" fmla="*/ 172 h 250"/>
                    <a:gd name="T4" fmla="*/ 186 w 187"/>
                    <a:gd name="T5" fmla="*/ 0 h 250"/>
                    <a:gd name="T6" fmla="*/ 187 w 187"/>
                    <a:gd name="T7" fmla="*/ 0 h 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7" h="250">
                      <a:moveTo>
                        <a:pt x="0" y="250"/>
                      </a:moveTo>
                      <a:lnTo>
                        <a:pt x="155" y="172"/>
                      </a:lnTo>
                      <a:lnTo>
                        <a:pt x="186" y="0"/>
                      </a:lnTo>
                      <a:lnTo>
                        <a:pt x="187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0" name="Freeform 72"/>
                <p:cNvSpPr>
                  <a:spLocks noChangeArrowheads="1"/>
                </p:cNvSpPr>
                <p:nvPr/>
              </p:nvSpPr>
              <p:spPr bwMode="auto">
                <a:xfrm>
                  <a:off x="3497" y="1578"/>
                  <a:ext cx="33" cy="32"/>
                </a:xfrm>
                <a:custGeom>
                  <a:avLst/>
                  <a:gdLst>
                    <a:gd name="T0" fmla="*/ 0 w 196"/>
                    <a:gd name="T1" fmla="*/ 195 h 195"/>
                    <a:gd name="T2" fmla="*/ 138 w 196"/>
                    <a:gd name="T3" fmla="*/ 138 h 195"/>
                    <a:gd name="T4" fmla="*/ 195 w 196"/>
                    <a:gd name="T5" fmla="*/ 0 h 195"/>
                    <a:gd name="T6" fmla="*/ 196 w 196"/>
                    <a:gd name="T7" fmla="*/ 0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96" h="195">
                      <a:moveTo>
                        <a:pt x="0" y="195"/>
                      </a:moveTo>
                      <a:lnTo>
                        <a:pt x="138" y="138"/>
                      </a:lnTo>
                      <a:lnTo>
                        <a:pt x="195" y="0"/>
                      </a:lnTo>
                      <a:lnTo>
                        <a:pt x="196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1" name="Freeform 73"/>
                <p:cNvSpPr>
                  <a:spLocks noChangeArrowheads="1"/>
                </p:cNvSpPr>
                <p:nvPr/>
              </p:nvSpPr>
              <p:spPr bwMode="auto">
                <a:xfrm>
                  <a:off x="3318" y="1610"/>
                  <a:ext cx="386" cy="2"/>
                </a:xfrm>
                <a:custGeom>
                  <a:avLst/>
                  <a:gdLst>
                    <a:gd name="T0" fmla="*/ 2298 w 2298"/>
                    <a:gd name="T1" fmla="*/ 0 h 2"/>
                    <a:gd name="T2" fmla="*/ 0 w 2298"/>
                    <a:gd name="T3" fmla="*/ 0 h 2"/>
                    <a:gd name="T4" fmla="*/ 1 w 2298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298" h="2">
                      <a:moveTo>
                        <a:pt x="2298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2" name="Freeform 74"/>
                <p:cNvSpPr>
                  <a:spLocks noChangeArrowheads="1"/>
                </p:cNvSpPr>
                <p:nvPr/>
              </p:nvSpPr>
              <p:spPr bwMode="auto">
                <a:xfrm>
                  <a:off x="3399" y="1610"/>
                  <a:ext cx="2" cy="229"/>
                </a:xfrm>
                <a:custGeom>
                  <a:avLst/>
                  <a:gdLst>
                    <a:gd name="T0" fmla="*/ 0 w 1"/>
                    <a:gd name="T1" fmla="*/ 1364 h 1364"/>
                    <a:gd name="T2" fmla="*/ 0 w 1"/>
                    <a:gd name="T3" fmla="*/ 0 h 1364"/>
                    <a:gd name="T4" fmla="*/ 1 w 1"/>
                    <a:gd name="T5" fmla="*/ 0 h 1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364">
                      <a:moveTo>
                        <a:pt x="0" y="1364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3" name="Freeform 75"/>
                <p:cNvSpPr>
                  <a:spLocks noChangeArrowheads="1"/>
                </p:cNvSpPr>
                <p:nvPr/>
              </p:nvSpPr>
              <p:spPr bwMode="auto">
                <a:xfrm>
                  <a:off x="4110" y="1569"/>
                  <a:ext cx="32" cy="41"/>
                </a:xfrm>
                <a:custGeom>
                  <a:avLst/>
                  <a:gdLst>
                    <a:gd name="T0" fmla="*/ 0 w 188"/>
                    <a:gd name="T1" fmla="*/ 0 h 250"/>
                    <a:gd name="T2" fmla="*/ 30 w 188"/>
                    <a:gd name="T3" fmla="*/ 172 h 250"/>
                    <a:gd name="T4" fmla="*/ 187 w 188"/>
                    <a:gd name="T5" fmla="*/ 250 h 250"/>
                    <a:gd name="T6" fmla="*/ 188 w 188"/>
                    <a:gd name="T7" fmla="*/ 250 h 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8" h="250">
                      <a:moveTo>
                        <a:pt x="0" y="0"/>
                      </a:moveTo>
                      <a:lnTo>
                        <a:pt x="30" y="172"/>
                      </a:lnTo>
                      <a:lnTo>
                        <a:pt x="187" y="250"/>
                      </a:lnTo>
                      <a:lnTo>
                        <a:pt x="188" y="25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4" name="Freeform 76"/>
                <p:cNvSpPr>
                  <a:spLocks noChangeArrowheads="1"/>
                </p:cNvSpPr>
                <p:nvPr/>
              </p:nvSpPr>
              <p:spPr bwMode="auto">
                <a:xfrm>
                  <a:off x="3726" y="1316"/>
                  <a:ext cx="394" cy="394"/>
                </a:xfrm>
                <a:custGeom>
                  <a:avLst/>
                  <a:gdLst>
                    <a:gd name="T0" fmla="*/ 2339 w 2340"/>
                    <a:gd name="T1" fmla="*/ 1170 h 2340"/>
                    <a:gd name="T2" fmla="*/ 2250 w 2340"/>
                    <a:gd name="T3" fmla="*/ 723 h 2340"/>
                    <a:gd name="T4" fmla="*/ 1996 w 2340"/>
                    <a:gd name="T5" fmla="*/ 343 h 2340"/>
                    <a:gd name="T6" fmla="*/ 1617 w 2340"/>
                    <a:gd name="T7" fmla="*/ 90 h 2340"/>
                    <a:gd name="T8" fmla="*/ 1169 w 2340"/>
                    <a:gd name="T9" fmla="*/ 0 h 2340"/>
                    <a:gd name="T10" fmla="*/ 722 w 2340"/>
                    <a:gd name="T11" fmla="*/ 90 h 2340"/>
                    <a:gd name="T12" fmla="*/ 343 w 2340"/>
                    <a:gd name="T13" fmla="*/ 343 h 2340"/>
                    <a:gd name="T14" fmla="*/ 89 w 2340"/>
                    <a:gd name="T15" fmla="*/ 723 h 2340"/>
                    <a:gd name="T16" fmla="*/ 0 w 2340"/>
                    <a:gd name="T17" fmla="*/ 1170 h 2340"/>
                    <a:gd name="T18" fmla="*/ 89 w 2340"/>
                    <a:gd name="T19" fmla="*/ 1618 h 2340"/>
                    <a:gd name="T20" fmla="*/ 343 w 2340"/>
                    <a:gd name="T21" fmla="*/ 1997 h 2340"/>
                    <a:gd name="T22" fmla="*/ 722 w 2340"/>
                    <a:gd name="T23" fmla="*/ 2251 h 2340"/>
                    <a:gd name="T24" fmla="*/ 1169 w 2340"/>
                    <a:gd name="T25" fmla="*/ 2340 h 2340"/>
                    <a:gd name="T26" fmla="*/ 1617 w 2340"/>
                    <a:gd name="T27" fmla="*/ 2251 h 2340"/>
                    <a:gd name="T28" fmla="*/ 1996 w 2340"/>
                    <a:gd name="T29" fmla="*/ 1997 h 2340"/>
                    <a:gd name="T30" fmla="*/ 2250 w 2340"/>
                    <a:gd name="T31" fmla="*/ 1618 h 2340"/>
                    <a:gd name="T32" fmla="*/ 2339 w 2340"/>
                    <a:gd name="T33" fmla="*/ 1170 h 2340"/>
                    <a:gd name="T34" fmla="*/ 2340 w 2340"/>
                    <a:gd name="T35" fmla="*/ 1170 h 2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340" h="2340">
                      <a:moveTo>
                        <a:pt x="2339" y="1170"/>
                      </a:moveTo>
                      <a:lnTo>
                        <a:pt x="2250" y="723"/>
                      </a:lnTo>
                      <a:lnTo>
                        <a:pt x="1996" y="343"/>
                      </a:lnTo>
                      <a:lnTo>
                        <a:pt x="1617" y="90"/>
                      </a:lnTo>
                      <a:lnTo>
                        <a:pt x="1169" y="0"/>
                      </a:lnTo>
                      <a:lnTo>
                        <a:pt x="722" y="90"/>
                      </a:lnTo>
                      <a:lnTo>
                        <a:pt x="343" y="343"/>
                      </a:lnTo>
                      <a:lnTo>
                        <a:pt x="89" y="723"/>
                      </a:lnTo>
                      <a:lnTo>
                        <a:pt x="0" y="1170"/>
                      </a:lnTo>
                      <a:lnTo>
                        <a:pt x="89" y="1618"/>
                      </a:lnTo>
                      <a:lnTo>
                        <a:pt x="343" y="1997"/>
                      </a:lnTo>
                      <a:lnTo>
                        <a:pt x="722" y="2251"/>
                      </a:lnTo>
                      <a:lnTo>
                        <a:pt x="1169" y="2340"/>
                      </a:lnTo>
                      <a:lnTo>
                        <a:pt x="1617" y="2251"/>
                      </a:lnTo>
                      <a:lnTo>
                        <a:pt x="1996" y="1997"/>
                      </a:lnTo>
                      <a:lnTo>
                        <a:pt x="2250" y="1618"/>
                      </a:lnTo>
                      <a:lnTo>
                        <a:pt x="2339" y="1170"/>
                      </a:lnTo>
                      <a:lnTo>
                        <a:pt x="2340" y="117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5" name="Freeform 77"/>
                <p:cNvSpPr>
                  <a:spLocks noChangeArrowheads="1"/>
                </p:cNvSpPr>
                <p:nvPr/>
              </p:nvSpPr>
              <p:spPr bwMode="auto">
                <a:xfrm>
                  <a:off x="3841" y="1431"/>
                  <a:ext cx="164" cy="162"/>
                </a:xfrm>
                <a:custGeom>
                  <a:avLst/>
                  <a:gdLst>
                    <a:gd name="T0" fmla="*/ 975 w 976"/>
                    <a:gd name="T1" fmla="*/ 487 h 974"/>
                    <a:gd name="T2" fmla="*/ 832 w 976"/>
                    <a:gd name="T3" fmla="*/ 142 h 974"/>
                    <a:gd name="T4" fmla="*/ 487 w 976"/>
                    <a:gd name="T5" fmla="*/ 0 h 974"/>
                    <a:gd name="T6" fmla="*/ 143 w 976"/>
                    <a:gd name="T7" fmla="*/ 142 h 974"/>
                    <a:gd name="T8" fmla="*/ 0 w 976"/>
                    <a:gd name="T9" fmla="*/ 487 h 974"/>
                    <a:gd name="T10" fmla="*/ 143 w 976"/>
                    <a:gd name="T11" fmla="*/ 832 h 974"/>
                    <a:gd name="T12" fmla="*/ 487 w 976"/>
                    <a:gd name="T13" fmla="*/ 974 h 974"/>
                    <a:gd name="T14" fmla="*/ 832 w 976"/>
                    <a:gd name="T15" fmla="*/ 832 h 974"/>
                    <a:gd name="T16" fmla="*/ 975 w 976"/>
                    <a:gd name="T17" fmla="*/ 487 h 974"/>
                    <a:gd name="T18" fmla="*/ 976 w 976"/>
                    <a:gd name="T19" fmla="*/ 487 h 9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76" h="974">
                      <a:moveTo>
                        <a:pt x="975" y="487"/>
                      </a:moveTo>
                      <a:lnTo>
                        <a:pt x="832" y="142"/>
                      </a:lnTo>
                      <a:lnTo>
                        <a:pt x="487" y="0"/>
                      </a:lnTo>
                      <a:lnTo>
                        <a:pt x="143" y="142"/>
                      </a:lnTo>
                      <a:lnTo>
                        <a:pt x="0" y="487"/>
                      </a:lnTo>
                      <a:lnTo>
                        <a:pt x="143" y="832"/>
                      </a:lnTo>
                      <a:lnTo>
                        <a:pt x="487" y="974"/>
                      </a:lnTo>
                      <a:lnTo>
                        <a:pt x="832" y="832"/>
                      </a:lnTo>
                      <a:lnTo>
                        <a:pt x="975" y="487"/>
                      </a:lnTo>
                      <a:lnTo>
                        <a:pt x="976" y="487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6" name="Freeform 78"/>
                <p:cNvSpPr>
                  <a:spLocks noChangeArrowheads="1"/>
                </p:cNvSpPr>
                <p:nvPr/>
              </p:nvSpPr>
              <p:spPr bwMode="auto">
                <a:xfrm>
                  <a:off x="4970" y="595"/>
                  <a:ext cx="2" cy="1244"/>
                </a:xfrm>
                <a:custGeom>
                  <a:avLst/>
                  <a:gdLst>
                    <a:gd name="T0" fmla="*/ 0 w 1"/>
                    <a:gd name="T1" fmla="*/ 0 h 7408"/>
                    <a:gd name="T2" fmla="*/ 0 w 1"/>
                    <a:gd name="T3" fmla="*/ 7408 h 7408"/>
                    <a:gd name="T4" fmla="*/ 1 w 1"/>
                    <a:gd name="T5" fmla="*/ 7408 h 7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7408">
                      <a:moveTo>
                        <a:pt x="0" y="0"/>
                      </a:moveTo>
                      <a:lnTo>
                        <a:pt x="0" y="7408"/>
                      </a:lnTo>
                      <a:lnTo>
                        <a:pt x="1" y="7408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7" name="Freeform 79"/>
                <p:cNvSpPr>
                  <a:spLocks noChangeArrowheads="1"/>
                </p:cNvSpPr>
                <p:nvPr/>
              </p:nvSpPr>
              <p:spPr bwMode="auto">
                <a:xfrm>
                  <a:off x="3922" y="366"/>
                  <a:ext cx="785" cy="2"/>
                </a:xfrm>
                <a:custGeom>
                  <a:avLst/>
                  <a:gdLst>
                    <a:gd name="T0" fmla="*/ 4677 w 4677"/>
                    <a:gd name="T1" fmla="*/ 0 h 2"/>
                    <a:gd name="T2" fmla="*/ 0 w 4677"/>
                    <a:gd name="T3" fmla="*/ 0 h 2"/>
                    <a:gd name="T4" fmla="*/ 1 w 4677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677" h="2">
                      <a:moveTo>
                        <a:pt x="4677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" name="Freeform 80"/>
                <p:cNvSpPr>
                  <a:spLocks noChangeArrowheads="1"/>
                </p:cNvSpPr>
                <p:nvPr/>
              </p:nvSpPr>
              <p:spPr bwMode="auto">
                <a:xfrm>
                  <a:off x="4774" y="464"/>
                  <a:ext cx="229" cy="2"/>
                </a:xfrm>
                <a:custGeom>
                  <a:avLst/>
                  <a:gdLst>
                    <a:gd name="T0" fmla="*/ 1363 w 1363"/>
                    <a:gd name="T1" fmla="*/ 0 h 2"/>
                    <a:gd name="T2" fmla="*/ 0 w 1363"/>
                    <a:gd name="T3" fmla="*/ 0 h 2"/>
                    <a:gd name="T4" fmla="*/ 1 w 1363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363" h="2">
                      <a:moveTo>
                        <a:pt x="1363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" name="Freeform 81"/>
                <p:cNvSpPr>
                  <a:spLocks noChangeArrowheads="1"/>
                </p:cNvSpPr>
                <p:nvPr/>
              </p:nvSpPr>
              <p:spPr bwMode="auto">
                <a:xfrm>
                  <a:off x="3857" y="366"/>
                  <a:ext cx="2" cy="98"/>
                </a:xfrm>
                <a:custGeom>
                  <a:avLst/>
                  <a:gdLst>
                    <a:gd name="T0" fmla="*/ 0 w 1"/>
                    <a:gd name="T1" fmla="*/ 0 h 584"/>
                    <a:gd name="T2" fmla="*/ 0 w 1"/>
                    <a:gd name="T3" fmla="*/ 584 h 584"/>
                    <a:gd name="T4" fmla="*/ 1 w 1"/>
                    <a:gd name="T5" fmla="*/ 584 h 5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84">
                      <a:moveTo>
                        <a:pt x="0" y="0"/>
                      </a:moveTo>
                      <a:lnTo>
                        <a:pt x="0" y="584"/>
                      </a:lnTo>
                      <a:lnTo>
                        <a:pt x="1" y="584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0" name="Freeform 82"/>
                <p:cNvSpPr>
                  <a:spLocks noChangeArrowheads="1"/>
                </p:cNvSpPr>
                <p:nvPr/>
              </p:nvSpPr>
              <p:spPr bwMode="auto">
                <a:xfrm>
                  <a:off x="3857" y="366"/>
                  <a:ext cx="65" cy="2"/>
                </a:xfrm>
                <a:custGeom>
                  <a:avLst/>
                  <a:gdLst>
                    <a:gd name="T0" fmla="*/ 0 w 391"/>
                    <a:gd name="T1" fmla="*/ 0 h 2"/>
                    <a:gd name="T2" fmla="*/ 390 w 391"/>
                    <a:gd name="T3" fmla="*/ 0 h 2"/>
                    <a:gd name="T4" fmla="*/ 391 w 39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91" h="2">
                      <a:moveTo>
                        <a:pt x="0" y="0"/>
                      </a:moveTo>
                      <a:lnTo>
                        <a:pt x="390" y="0"/>
                      </a:lnTo>
                      <a:lnTo>
                        <a:pt x="39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1" name="Freeform 83"/>
                <p:cNvSpPr>
                  <a:spLocks noChangeArrowheads="1"/>
                </p:cNvSpPr>
                <p:nvPr/>
              </p:nvSpPr>
              <p:spPr bwMode="auto">
                <a:xfrm>
                  <a:off x="4774" y="366"/>
                  <a:ext cx="2" cy="98"/>
                </a:xfrm>
                <a:custGeom>
                  <a:avLst/>
                  <a:gdLst>
                    <a:gd name="T0" fmla="*/ 0 w 1"/>
                    <a:gd name="T1" fmla="*/ 584 h 584"/>
                    <a:gd name="T2" fmla="*/ 0 w 1"/>
                    <a:gd name="T3" fmla="*/ 0 h 584"/>
                    <a:gd name="T4" fmla="*/ 1 w 1"/>
                    <a:gd name="T5" fmla="*/ 0 h 5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84">
                      <a:moveTo>
                        <a:pt x="0" y="584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2" name="Freeform 84"/>
                <p:cNvSpPr>
                  <a:spLocks noChangeArrowheads="1"/>
                </p:cNvSpPr>
                <p:nvPr/>
              </p:nvSpPr>
              <p:spPr bwMode="auto">
                <a:xfrm>
                  <a:off x="4707" y="366"/>
                  <a:ext cx="67" cy="2"/>
                </a:xfrm>
                <a:custGeom>
                  <a:avLst/>
                  <a:gdLst>
                    <a:gd name="T0" fmla="*/ 0 w 391"/>
                    <a:gd name="T1" fmla="*/ 0 h 2"/>
                    <a:gd name="T2" fmla="*/ 390 w 391"/>
                    <a:gd name="T3" fmla="*/ 0 h 2"/>
                    <a:gd name="T4" fmla="*/ 391 w 39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91" h="2">
                      <a:moveTo>
                        <a:pt x="0" y="0"/>
                      </a:moveTo>
                      <a:lnTo>
                        <a:pt x="390" y="0"/>
                      </a:lnTo>
                      <a:lnTo>
                        <a:pt x="39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3" name="Freeform 85"/>
                <p:cNvSpPr>
                  <a:spLocks noChangeArrowheads="1"/>
                </p:cNvSpPr>
                <p:nvPr/>
              </p:nvSpPr>
              <p:spPr bwMode="auto">
                <a:xfrm>
                  <a:off x="5101" y="562"/>
                  <a:ext cx="2" cy="1016"/>
                </a:xfrm>
                <a:custGeom>
                  <a:avLst/>
                  <a:gdLst>
                    <a:gd name="T0" fmla="*/ 0 w 1"/>
                    <a:gd name="T1" fmla="*/ 6045 h 6045"/>
                    <a:gd name="T2" fmla="*/ 0 w 1"/>
                    <a:gd name="T3" fmla="*/ 0 h 6045"/>
                    <a:gd name="T4" fmla="*/ 1 w 1"/>
                    <a:gd name="T5" fmla="*/ 0 h 60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6045">
                      <a:moveTo>
                        <a:pt x="0" y="6045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4" name="Freeform 86"/>
                <p:cNvSpPr>
                  <a:spLocks noChangeArrowheads="1"/>
                </p:cNvSpPr>
                <p:nvPr/>
              </p:nvSpPr>
              <p:spPr bwMode="auto">
                <a:xfrm>
                  <a:off x="5134" y="1610"/>
                  <a:ext cx="360" cy="2"/>
                </a:xfrm>
                <a:custGeom>
                  <a:avLst/>
                  <a:gdLst>
                    <a:gd name="T0" fmla="*/ 0 w 2145"/>
                    <a:gd name="T1" fmla="*/ 0 h 2"/>
                    <a:gd name="T2" fmla="*/ 2144 w 2145"/>
                    <a:gd name="T3" fmla="*/ 0 h 2"/>
                    <a:gd name="T4" fmla="*/ 2145 w 2145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45" h="2">
                      <a:moveTo>
                        <a:pt x="0" y="0"/>
                      </a:moveTo>
                      <a:lnTo>
                        <a:pt x="2144" y="0"/>
                      </a:lnTo>
                      <a:lnTo>
                        <a:pt x="2145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5" name="Freeform 87"/>
                <p:cNvSpPr>
                  <a:spLocks noChangeArrowheads="1"/>
                </p:cNvSpPr>
                <p:nvPr/>
              </p:nvSpPr>
              <p:spPr bwMode="auto">
                <a:xfrm>
                  <a:off x="5313" y="1839"/>
                  <a:ext cx="246" cy="2"/>
                </a:xfrm>
                <a:custGeom>
                  <a:avLst/>
                  <a:gdLst>
                    <a:gd name="T0" fmla="*/ 1461 w 1461"/>
                    <a:gd name="T1" fmla="*/ 0 h 2"/>
                    <a:gd name="T2" fmla="*/ 0 w 1461"/>
                    <a:gd name="T3" fmla="*/ 0 h 2"/>
                    <a:gd name="T4" fmla="*/ 1 w 146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461" h="2">
                      <a:moveTo>
                        <a:pt x="1461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6" name="Freeform 88"/>
                <p:cNvSpPr>
                  <a:spLocks noChangeArrowheads="1"/>
                </p:cNvSpPr>
                <p:nvPr/>
              </p:nvSpPr>
              <p:spPr bwMode="auto">
                <a:xfrm>
                  <a:off x="5101" y="1578"/>
                  <a:ext cx="33" cy="32"/>
                </a:xfrm>
                <a:custGeom>
                  <a:avLst/>
                  <a:gdLst>
                    <a:gd name="T0" fmla="*/ 0 w 196"/>
                    <a:gd name="T1" fmla="*/ 0 h 195"/>
                    <a:gd name="T2" fmla="*/ 57 w 196"/>
                    <a:gd name="T3" fmla="*/ 138 h 195"/>
                    <a:gd name="T4" fmla="*/ 195 w 196"/>
                    <a:gd name="T5" fmla="*/ 195 h 195"/>
                    <a:gd name="T6" fmla="*/ 196 w 196"/>
                    <a:gd name="T7" fmla="*/ 195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96" h="195">
                      <a:moveTo>
                        <a:pt x="0" y="0"/>
                      </a:moveTo>
                      <a:lnTo>
                        <a:pt x="57" y="138"/>
                      </a:lnTo>
                      <a:lnTo>
                        <a:pt x="195" y="195"/>
                      </a:lnTo>
                      <a:lnTo>
                        <a:pt x="196" y="195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7" name="Freeform 89"/>
                <p:cNvSpPr>
                  <a:spLocks noChangeArrowheads="1"/>
                </p:cNvSpPr>
                <p:nvPr/>
              </p:nvSpPr>
              <p:spPr bwMode="auto">
                <a:xfrm>
                  <a:off x="5494" y="1610"/>
                  <a:ext cx="65" cy="66"/>
                </a:xfrm>
                <a:custGeom>
                  <a:avLst/>
                  <a:gdLst>
                    <a:gd name="T0" fmla="*/ 388 w 388"/>
                    <a:gd name="T1" fmla="*/ 390 h 390"/>
                    <a:gd name="T2" fmla="*/ 275 w 388"/>
                    <a:gd name="T3" fmla="*/ 115 h 390"/>
                    <a:gd name="T4" fmla="*/ 0 w 388"/>
                    <a:gd name="T5" fmla="*/ 0 h 390"/>
                    <a:gd name="T6" fmla="*/ 1 w 388"/>
                    <a:gd name="T7" fmla="*/ 0 h 3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88" h="390">
                      <a:moveTo>
                        <a:pt x="388" y="390"/>
                      </a:moveTo>
                      <a:lnTo>
                        <a:pt x="275" y="115"/>
                      </a:ln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8" name="Freeform 90"/>
                <p:cNvSpPr>
                  <a:spLocks noChangeArrowheads="1"/>
                </p:cNvSpPr>
                <p:nvPr/>
              </p:nvSpPr>
              <p:spPr bwMode="auto">
                <a:xfrm>
                  <a:off x="5559" y="1676"/>
                  <a:ext cx="2" cy="163"/>
                </a:xfrm>
                <a:custGeom>
                  <a:avLst/>
                  <a:gdLst>
                    <a:gd name="T0" fmla="*/ 0 w 1"/>
                    <a:gd name="T1" fmla="*/ 974 h 974"/>
                    <a:gd name="T2" fmla="*/ 0 w 1"/>
                    <a:gd name="T3" fmla="*/ 0 h 974"/>
                    <a:gd name="T4" fmla="*/ 1 w 1"/>
                    <a:gd name="T5" fmla="*/ 0 h 9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974">
                      <a:moveTo>
                        <a:pt x="0" y="974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9" name="Freeform 91"/>
                <p:cNvSpPr>
                  <a:spLocks noChangeArrowheads="1"/>
                </p:cNvSpPr>
                <p:nvPr/>
              </p:nvSpPr>
              <p:spPr bwMode="auto">
                <a:xfrm>
                  <a:off x="3628" y="464"/>
                  <a:ext cx="229" cy="2"/>
                </a:xfrm>
                <a:custGeom>
                  <a:avLst/>
                  <a:gdLst>
                    <a:gd name="T0" fmla="*/ 1363 w 1363"/>
                    <a:gd name="T1" fmla="*/ 0 h 2"/>
                    <a:gd name="T2" fmla="*/ 0 w 1363"/>
                    <a:gd name="T3" fmla="*/ 0 h 2"/>
                    <a:gd name="T4" fmla="*/ 1 w 1363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363" h="2">
                      <a:moveTo>
                        <a:pt x="1363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</p:grpSp>
      </p:grpSp>
      <p:grpSp>
        <p:nvGrpSpPr>
          <p:cNvPr id="92" name="Group 92"/>
          <p:cNvGrpSpPr>
            <a:grpSpLocks/>
          </p:cNvGrpSpPr>
          <p:nvPr/>
        </p:nvGrpSpPr>
        <p:grpSpPr bwMode="auto">
          <a:xfrm>
            <a:off x="2298700" y="920751"/>
            <a:ext cx="3206750" cy="2987675"/>
            <a:chOff x="0" y="0"/>
            <a:chExt cx="2640" cy="2460"/>
          </a:xfrm>
        </p:grpSpPr>
        <p:pic>
          <p:nvPicPr>
            <p:cNvPr id="93" name="Picture 9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" y="0"/>
              <a:ext cx="1959" cy="17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" name="Picture 9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785"/>
              <a:ext cx="1254" cy="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5" name="Group 95"/>
          <p:cNvGrpSpPr>
            <a:grpSpLocks/>
          </p:cNvGrpSpPr>
          <p:nvPr/>
        </p:nvGrpSpPr>
        <p:grpSpPr bwMode="auto">
          <a:xfrm>
            <a:off x="4025900" y="2714625"/>
            <a:ext cx="1136650" cy="438150"/>
            <a:chOff x="1572" y="1536"/>
            <a:chExt cx="936" cy="360"/>
          </a:xfrm>
        </p:grpSpPr>
        <p:sp>
          <p:nvSpPr>
            <p:cNvPr id="96" name="Line 96"/>
            <p:cNvSpPr>
              <a:spLocks noChangeShapeType="1"/>
            </p:cNvSpPr>
            <p:nvPr/>
          </p:nvSpPr>
          <p:spPr bwMode="auto">
            <a:xfrm flipV="1">
              <a:off x="1572" y="1536"/>
              <a:ext cx="300" cy="2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97" name="Text Box 97"/>
            <p:cNvSpPr txBox="1">
              <a:spLocks noChangeArrowheads="1"/>
            </p:cNvSpPr>
            <p:nvPr/>
          </p:nvSpPr>
          <p:spPr bwMode="auto">
            <a:xfrm>
              <a:off x="1596" y="1620"/>
              <a:ext cx="912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zh-CN" altLang="en-US" sz="1600" dirty="0">
                  <a:solidFill>
                    <a:srgbClr val="FF0000"/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rPr>
                <a:t>投影方向</a:t>
              </a:r>
            </a:p>
          </p:txBody>
        </p:sp>
      </p:grpSp>
      <p:grpSp>
        <p:nvGrpSpPr>
          <p:cNvPr id="98" name="Group 98"/>
          <p:cNvGrpSpPr>
            <a:grpSpLocks/>
          </p:cNvGrpSpPr>
          <p:nvPr/>
        </p:nvGrpSpPr>
        <p:grpSpPr bwMode="auto">
          <a:xfrm>
            <a:off x="4110699" y="3116260"/>
            <a:ext cx="1106487" cy="386708"/>
            <a:chOff x="1224" y="2222"/>
            <a:chExt cx="911" cy="318"/>
          </a:xfrm>
        </p:grpSpPr>
        <p:sp>
          <p:nvSpPr>
            <p:cNvPr id="99" name="Line 99"/>
            <p:cNvSpPr>
              <a:spLocks noChangeShapeType="1"/>
            </p:cNvSpPr>
            <p:nvPr/>
          </p:nvSpPr>
          <p:spPr bwMode="auto">
            <a:xfrm>
              <a:off x="1324" y="2222"/>
              <a:ext cx="2" cy="31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100" name="Text Box 100"/>
            <p:cNvSpPr txBox="1">
              <a:spLocks noChangeArrowheads="1"/>
            </p:cNvSpPr>
            <p:nvPr/>
          </p:nvSpPr>
          <p:spPr bwMode="auto">
            <a:xfrm>
              <a:off x="1224" y="2263"/>
              <a:ext cx="911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zh-CN" altLang="en-US" sz="1600" dirty="0">
                  <a:solidFill>
                    <a:srgbClr val="FF3300"/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rPr>
                <a:t>投影方向</a:t>
              </a:r>
            </a:p>
          </p:txBody>
        </p:sp>
      </p:grpSp>
      <p:grpSp>
        <p:nvGrpSpPr>
          <p:cNvPr id="101" name="Group 101"/>
          <p:cNvGrpSpPr>
            <a:grpSpLocks/>
          </p:cNvGrpSpPr>
          <p:nvPr/>
        </p:nvGrpSpPr>
        <p:grpSpPr bwMode="auto">
          <a:xfrm>
            <a:off x="2957514" y="3436938"/>
            <a:ext cx="2949575" cy="2112962"/>
            <a:chOff x="2650" y="1125"/>
            <a:chExt cx="2687" cy="1926"/>
          </a:xfrm>
        </p:grpSpPr>
        <p:pic>
          <p:nvPicPr>
            <p:cNvPr id="102" name="Picture 10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50" y="1573"/>
              <a:ext cx="700" cy="1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103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9" y="1125"/>
              <a:ext cx="2058" cy="19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4" name="Text Box 107"/>
          <p:cNvSpPr txBox="1">
            <a:spLocks noChangeArrowheads="1"/>
          </p:cNvSpPr>
          <p:nvPr/>
        </p:nvSpPr>
        <p:spPr bwMode="auto">
          <a:xfrm>
            <a:off x="2133600" y="5543550"/>
            <a:ext cx="81280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571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0" hangingPunct="0">
              <a:spcBef>
                <a:spcPct val="50000"/>
              </a:spcBef>
            </a:pPr>
            <a:r>
              <a:rPr lang="en-US" altLang="zh-CN" sz="220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zh-CN" altLang="en-US" sz="2200">
                <a:latin typeface="华文细黑" panose="02010600040101010101" pitchFamily="2" charset="-122"/>
                <a:ea typeface="华文细黑" panose="02010600040101010101" pitchFamily="2" charset="-122"/>
              </a:rPr>
              <a:t>用剖切平面</a:t>
            </a:r>
            <a:r>
              <a:rPr lang="zh-CN" altLang="en-US" sz="220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局部</a:t>
            </a:r>
            <a:r>
              <a:rPr lang="zh-CN" altLang="en-US" sz="2200">
                <a:latin typeface="华文细黑" panose="02010600040101010101" pitchFamily="2" charset="-122"/>
                <a:ea typeface="华文细黑" panose="02010600040101010101" pitchFamily="2" charset="-122"/>
              </a:rPr>
              <a:t>地剖开物体所得的剖视图，称为</a:t>
            </a:r>
            <a:r>
              <a:rPr lang="zh-CN" altLang="en-US" sz="2200">
                <a:solidFill>
                  <a:srgbClr val="FF010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局部剖视图</a:t>
            </a:r>
            <a:r>
              <a:rPr lang="zh-CN" altLang="en-US" sz="2200">
                <a:latin typeface="华文细黑" panose="02010600040101010101" pitchFamily="2" charset="-122"/>
                <a:ea typeface="华文细黑" panose="02010600040101010101" pitchFamily="2" charset="-122"/>
              </a:rPr>
              <a:t>。</a:t>
            </a:r>
          </a:p>
        </p:txBody>
      </p:sp>
      <p:sp>
        <p:nvSpPr>
          <p:cNvPr id="105" name="Text Box 108"/>
          <p:cNvSpPr txBox="1">
            <a:spLocks noChangeArrowheads="1"/>
          </p:cNvSpPr>
          <p:nvPr/>
        </p:nvSpPr>
        <p:spPr bwMode="auto">
          <a:xfrm>
            <a:off x="2146300" y="5900739"/>
            <a:ext cx="812800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571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0" hangingPunct="0">
              <a:spcBef>
                <a:spcPct val="50000"/>
              </a:spcBef>
            </a:pPr>
            <a:r>
              <a:rPr lang="en-US" altLang="zh-CN" sz="220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zh-CN" altLang="en-US" sz="2200">
                <a:latin typeface="华文细黑" panose="02010600040101010101" pitchFamily="2" charset="-122"/>
                <a:ea typeface="华文细黑" panose="02010600040101010101" pitchFamily="2" charset="-122"/>
              </a:rPr>
              <a:t>局部剖视图主要用于表达</a:t>
            </a:r>
            <a:r>
              <a:rPr lang="zh-CN" altLang="en-US" sz="2200">
                <a:solidFill>
                  <a:schemeClr val="hlink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不宜采用全剖和半剖</a:t>
            </a:r>
            <a:r>
              <a:rPr lang="zh-CN" altLang="en-US" sz="2200">
                <a:latin typeface="华文细黑" panose="02010600040101010101" pitchFamily="2" charset="-122"/>
                <a:ea typeface="华文细黑" panose="02010600040101010101" pitchFamily="2" charset="-122"/>
              </a:rPr>
              <a:t>视图的机件。</a:t>
            </a:r>
          </a:p>
        </p:txBody>
      </p:sp>
      <p:grpSp>
        <p:nvGrpSpPr>
          <p:cNvPr id="106" name="Group 109"/>
          <p:cNvGrpSpPr>
            <a:grpSpLocks/>
          </p:cNvGrpSpPr>
          <p:nvPr/>
        </p:nvGrpSpPr>
        <p:grpSpPr bwMode="auto">
          <a:xfrm>
            <a:off x="6345238" y="3538539"/>
            <a:ext cx="2933700" cy="1641475"/>
            <a:chOff x="3037" y="2229"/>
            <a:chExt cx="1848" cy="1034"/>
          </a:xfrm>
        </p:grpSpPr>
        <p:grpSp>
          <p:nvGrpSpPr>
            <p:cNvPr id="107" name="Group 110"/>
            <p:cNvGrpSpPr>
              <a:grpSpLocks/>
            </p:cNvGrpSpPr>
            <p:nvPr/>
          </p:nvGrpSpPr>
          <p:grpSpPr bwMode="auto">
            <a:xfrm>
              <a:off x="3405" y="2786"/>
              <a:ext cx="517" cy="455"/>
              <a:chOff x="3233" y="3506"/>
              <a:chExt cx="882" cy="776"/>
            </a:xfrm>
          </p:grpSpPr>
          <p:sp>
            <p:nvSpPr>
              <p:cNvPr id="186" name="Freeform 111"/>
              <p:cNvSpPr>
                <a:spLocks noChangeArrowheads="1"/>
              </p:cNvSpPr>
              <p:nvPr/>
            </p:nvSpPr>
            <p:spPr bwMode="auto">
              <a:xfrm>
                <a:off x="3233" y="3506"/>
                <a:ext cx="141" cy="141"/>
              </a:xfrm>
              <a:custGeom>
                <a:avLst/>
                <a:gdLst>
                  <a:gd name="T0" fmla="*/ 0 w 694"/>
                  <a:gd name="T1" fmla="*/ 694 h 694"/>
                  <a:gd name="T2" fmla="*/ 693 w 694"/>
                  <a:gd name="T3" fmla="*/ 0 h 694"/>
                  <a:gd name="T4" fmla="*/ 694 w 694"/>
                  <a:gd name="T5" fmla="*/ 0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94" h="694">
                    <a:moveTo>
                      <a:pt x="0" y="694"/>
                    </a:moveTo>
                    <a:lnTo>
                      <a:pt x="693" y="0"/>
                    </a:lnTo>
                    <a:lnTo>
                      <a:pt x="694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7" name="Freeform 112"/>
              <p:cNvSpPr>
                <a:spLocks noChangeArrowheads="1"/>
              </p:cNvSpPr>
              <p:nvPr/>
            </p:nvSpPr>
            <p:spPr bwMode="auto">
              <a:xfrm>
                <a:off x="3233" y="3629"/>
                <a:ext cx="159" cy="158"/>
              </a:xfrm>
              <a:custGeom>
                <a:avLst/>
                <a:gdLst>
                  <a:gd name="T0" fmla="*/ 0 w 781"/>
                  <a:gd name="T1" fmla="*/ 780 h 780"/>
                  <a:gd name="T2" fmla="*/ 780 w 781"/>
                  <a:gd name="T3" fmla="*/ 0 h 780"/>
                  <a:gd name="T4" fmla="*/ 781 w 781"/>
                  <a:gd name="T5" fmla="*/ 0 h 7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81" h="780">
                    <a:moveTo>
                      <a:pt x="0" y="780"/>
                    </a:moveTo>
                    <a:lnTo>
                      <a:pt x="780" y="0"/>
                    </a:lnTo>
                    <a:lnTo>
                      <a:pt x="78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8" name="Freeform 113"/>
              <p:cNvSpPr>
                <a:spLocks noChangeArrowheads="1"/>
              </p:cNvSpPr>
              <p:nvPr/>
            </p:nvSpPr>
            <p:spPr bwMode="auto">
              <a:xfrm>
                <a:off x="3238" y="3770"/>
                <a:ext cx="154" cy="152"/>
              </a:xfrm>
              <a:custGeom>
                <a:avLst/>
                <a:gdLst>
                  <a:gd name="T0" fmla="*/ 0 w 753"/>
                  <a:gd name="T1" fmla="*/ 752 h 752"/>
                  <a:gd name="T2" fmla="*/ 752 w 753"/>
                  <a:gd name="T3" fmla="*/ 0 h 752"/>
                  <a:gd name="T4" fmla="*/ 753 w 753"/>
                  <a:gd name="T5" fmla="*/ 0 h 7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53" h="752">
                    <a:moveTo>
                      <a:pt x="0" y="752"/>
                    </a:moveTo>
                    <a:lnTo>
                      <a:pt x="752" y="0"/>
                    </a:lnTo>
                    <a:lnTo>
                      <a:pt x="753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9" name="Freeform 114"/>
              <p:cNvSpPr>
                <a:spLocks noChangeArrowheads="1"/>
              </p:cNvSpPr>
              <p:nvPr/>
            </p:nvSpPr>
            <p:spPr bwMode="auto">
              <a:xfrm>
                <a:off x="3305" y="3843"/>
                <a:ext cx="152" cy="153"/>
              </a:xfrm>
              <a:custGeom>
                <a:avLst/>
                <a:gdLst>
                  <a:gd name="T0" fmla="*/ 0 w 742"/>
                  <a:gd name="T1" fmla="*/ 741 h 741"/>
                  <a:gd name="T2" fmla="*/ 740 w 742"/>
                  <a:gd name="T3" fmla="*/ 0 h 741"/>
                  <a:gd name="T4" fmla="*/ 742 w 742"/>
                  <a:gd name="T5" fmla="*/ 0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42" h="741">
                    <a:moveTo>
                      <a:pt x="0" y="741"/>
                    </a:moveTo>
                    <a:lnTo>
                      <a:pt x="740" y="0"/>
                    </a:lnTo>
                    <a:lnTo>
                      <a:pt x="742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0" name="Freeform 115"/>
              <p:cNvSpPr>
                <a:spLocks noChangeArrowheads="1"/>
              </p:cNvSpPr>
              <p:nvPr/>
            </p:nvSpPr>
            <p:spPr bwMode="auto">
              <a:xfrm>
                <a:off x="3435" y="3846"/>
                <a:ext cx="159" cy="159"/>
              </a:xfrm>
              <a:custGeom>
                <a:avLst/>
                <a:gdLst>
                  <a:gd name="T0" fmla="*/ 0 w 782"/>
                  <a:gd name="T1" fmla="*/ 781 h 781"/>
                  <a:gd name="T2" fmla="*/ 781 w 782"/>
                  <a:gd name="T3" fmla="*/ 0 h 781"/>
                  <a:gd name="T4" fmla="*/ 782 w 782"/>
                  <a:gd name="T5" fmla="*/ 0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82" h="781">
                    <a:moveTo>
                      <a:pt x="0" y="781"/>
                    </a:moveTo>
                    <a:lnTo>
                      <a:pt x="781" y="0"/>
                    </a:lnTo>
                    <a:lnTo>
                      <a:pt x="782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1" name="Freeform 116"/>
              <p:cNvSpPr>
                <a:spLocks noChangeArrowheads="1"/>
              </p:cNvSpPr>
              <p:nvPr/>
            </p:nvSpPr>
            <p:spPr bwMode="auto">
              <a:xfrm>
                <a:off x="3470" y="3971"/>
                <a:ext cx="139" cy="139"/>
              </a:xfrm>
              <a:custGeom>
                <a:avLst/>
                <a:gdLst>
                  <a:gd name="T0" fmla="*/ 0 w 683"/>
                  <a:gd name="T1" fmla="*/ 683 h 683"/>
                  <a:gd name="T2" fmla="*/ 682 w 683"/>
                  <a:gd name="T3" fmla="*/ 0 h 683"/>
                  <a:gd name="T4" fmla="*/ 683 w 683"/>
                  <a:gd name="T5" fmla="*/ 0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3" h="683">
                    <a:moveTo>
                      <a:pt x="0" y="683"/>
                    </a:moveTo>
                    <a:lnTo>
                      <a:pt x="682" y="0"/>
                    </a:lnTo>
                    <a:lnTo>
                      <a:pt x="683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2" name="Freeform 117"/>
              <p:cNvSpPr>
                <a:spLocks noChangeArrowheads="1"/>
              </p:cNvSpPr>
              <p:nvPr/>
            </p:nvSpPr>
            <p:spPr bwMode="auto">
              <a:xfrm>
                <a:off x="3470" y="4112"/>
                <a:ext cx="139" cy="139"/>
              </a:xfrm>
              <a:custGeom>
                <a:avLst/>
                <a:gdLst>
                  <a:gd name="T0" fmla="*/ 0 w 683"/>
                  <a:gd name="T1" fmla="*/ 682 h 682"/>
                  <a:gd name="T2" fmla="*/ 682 w 683"/>
                  <a:gd name="T3" fmla="*/ 0 h 682"/>
                  <a:gd name="T4" fmla="*/ 683 w 683"/>
                  <a:gd name="T5" fmla="*/ 0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3" h="682">
                    <a:moveTo>
                      <a:pt x="0" y="682"/>
                    </a:moveTo>
                    <a:lnTo>
                      <a:pt x="682" y="0"/>
                    </a:lnTo>
                    <a:lnTo>
                      <a:pt x="683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3" name="Freeform 118"/>
              <p:cNvSpPr>
                <a:spLocks noChangeArrowheads="1"/>
              </p:cNvSpPr>
              <p:nvPr/>
            </p:nvSpPr>
            <p:spPr bwMode="auto">
              <a:xfrm>
                <a:off x="3808" y="3846"/>
                <a:ext cx="68" cy="67"/>
              </a:xfrm>
              <a:custGeom>
                <a:avLst/>
                <a:gdLst>
                  <a:gd name="T0" fmla="*/ 0 w 331"/>
                  <a:gd name="T1" fmla="*/ 331 h 331"/>
                  <a:gd name="T2" fmla="*/ 330 w 331"/>
                  <a:gd name="T3" fmla="*/ 0 h 331"/>
                  <a:gd name="T4" fmla="*/ 331 w 331"/>
                  <a:gd name="T5" fmla="*/ 0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1" h="331">
                    <a:moveTo>
                      <a:pt x="0" y="331"/>
                    </a:moveTo>
                    <a:lnTo>
                      <a:pt x="330" y="0"/>
                    </a:lnTo>
                    <a:lnTo>
                      <a:pt x="33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4" name="Freeform 119"/>
              <p:cNvSpPr>
                <a:spLocks noChangeArrowheads="1"/>
              </p:cNvSpPr>
              <p:nvPr/>
            </p:nvSpPr>
            <p:spPr bwMode="auto">
              <a:xfrm>
                <a:off x="3578" y="4251"/>
                <a:ext cx="31" cy="31"/>
              </a:xfrm>
              <a:custGeom>
                <a:avLst/>
                <a:gdLst>
                  <a:gd name="T0" fmla="*/ 0 w 150"/>
                  <a:gd name="T1" fmla="*/ 150 h 150"/>
                  <a:gd name="T2" fmla="*/ 149 w 150"/>
                  <a:gd name="T3" fmla="*/ 0 h 150"/>
                  <a:gd name="T4" fmla="*/ 150 w 150"/>
                  <a:gd name="T5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0" h="150">
                    <a:moveTo>
                      <a:pt x="0" y="150"/>
                    </a:moveTo>
                    <a:lnTo>
                      <a:pt x="149" y="0"/>
                    </a:lnTo>
                    <a:lnTo>
                      <a:pt x="150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5" name="Freeform 120"/>
              <p:cNvSpPr>
                <a:spLocks noChangeArrowheads="1"/>
              </p:cNvSpPr>
              <p:nvPr/>
            </p:nvSpPr>
            <p:spPr bwMode="auto">
              <a:xfrm>
                <a:off x="3808" y="3846"/>
                <a:ext cx="206" cy="208"/>
              </a:xfrm>
              <a:custGeom>
                <a:avLst/>
                <a:gdLst>
                  <a:gd name="T0" fmla="*/ 0 w 1020"/>
                  <a:gd name="T1" fmla="*/ 1021 h 1021"/>
                  <a:gd name="T2" fmla="*/ 1019 w 1020"/>
                  <a:gd name="T3" fmla="*/ 0 h 1021"/>
                  <a:gd name="T4" fmla="*/ 1020 w 1020"/>
                  <a:gd name="T5" fmla="*/ 0 h 10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0" h="1021">
                    <a:moveTo>
                      <a:pt x="0" y="1021"/>
                    </a:moveTo>
                    <a:lnTo>
                      <a:pt x="1019" y="0"/>
                    </a:lnTo>
                    <a:lnTo>
                      <a:pt x="1020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6" name="Freeform 121"/>
              <p:cNvSpPr>
                <a:spLocks noChangeArrowheads="1"/>
              </p:cNvSpPr>
              <p:nvPr/>
            </p:nvSpPr>
            <p:spPr bwMode="auto">
              <a:xfrm>
                <a:off x="3808" y="4054"/>
                <a:ext cx="139" cy="138"/>
              </a:xfrm>
              <a:custGeom>
                <a:avLst/>
                <a:gdLst>
                  <a:gd name="T0" fmla="*/ 0 w 683"/>
                  <a:gd name="T1" fmla="*/ 681 h 681"/>
                  <a:gd name="T2" fmla="*/ 682 w 683"/>
                  <a:gd name="T3" fmla="*/ 0 h 681"/>
                  <a:gd name="T4" fmla="*/ 683 w 683"/>
                  <a:gd name="T5" fmla="*/ 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3" h="681">
                    <a:moveTo>
                      <a:pt x="0" y="681"/>
                    </a:moveTo>
                    <a:lnTo>
                      <a:pt x="682" y="0"/>
                    </a:lnTo>
                    <a:lnTo>
                      <a:pt x="683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7" name="Freeform 122"/>
              <p:cNvSpPr>
                <a:spLocks noChangeArrowheads="1"/>
              </p:cNvSpPr>
              <p:nvPr/>
            </p:nvSpPr>
            <p:spPr bwMode="auto">
              <a:xfrm>
                <a:off x="3996" y="3886"/>
                <a:ext cx="119" cy="119"/>
              </a:xfrm>
              <a:custGeom>
                <a:avLst/>
                <a:gdLst>
                  <a:gd name="T0" fmla="*/ 0 w 586"/>
                  <a:gd name="T1" fmla="*/ 585 h 585"/>
                  <a:gd name="T2" fmla="*/ 585 w 586"/>
                  <a:gd name="T3" fmla="*/ 0 h 585"/>
                  <a:gd name="T4" fmla="*/ 586 w 586"/>
                  <a:gd name="T5" fmla="*/ 0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6" h="585">
                    <a:moveTo>
                      <a:pt x="0" y="585"/>
                    </a:moveTo>
                    <a:lnTo>
                      <a:pt x="585" y="0"/>
                    </a:lnTo>
                    <a:lnTo>
                      <a:pt x="586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8" name="Freeform 123"/>
              <p:cNvSpPr>
                <a:spLocks noChangeArrowheads="1"/>
              </p:cNvSpPr>
              <p:nvPr/>
            </p:nvSpPr>
            <p:spPr bwMode="auto">
              <a:xfrm>
                <a:off x="3860" y="4195"/>
                <a:ext cx="87" cy="87"/>
              </a:xfrm>
              <a:custGeom>
                <a:avLst/>
                <a:gdLst>
                  <a:gd name="T0" fmla="*/ 0 w 429"/>
                  <a:gd name="T1" fmla="*/ 428 h 428"/>
                  <a:gd name="T2" fmla="*/ 428 w 429"/>
                  <a:gd name="T3" fmla="*/ 0 h 428"/>
                  <a:gd name="T4" fmla="*/ 429 w 429"/>
                  <a:gd name="T5" fmla="*/ 0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9" h="428">
                    <a:moveTo>
                      <a:pt x="0" y="428"/>
                    </a:moveTo>
                    <a:lnTo>
                      <a:pt x="428" y="0"/>
                    </a:lnTo>
                    <a:lnTo>
                      <a:pt x="429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108" name="Freeform 124"/>
            <p:cNvSpPr>
              <a:spLocks noChangeArrowheads="1"/>
            </p:cNvSpPr>
            <p:nvPr/>
          </p:nvSpPr>
          <p:spPr bwMode="auto">
            <a:xfrm>
              <a:off x="4710" y="2730"/>
              <a:ext cx="175" cy="1"/>
            </a:xfrm>
            <a:custGeom>
              <a:avLst/>
              <a:gdLst>
                <a:gd name="T0" fmla="*/ 1470 w 1470"/>
                <a:gd name="T1" fmla="*/ 0 h 1"/>
                <a:gd name="T2" fmla="*/ 0 w 1470"/>
                <a:gd name="T3" fmla="*/ 0 h 1"/>
                <a:gd name="T4" fmla="*/ 1 w 147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70" h="1">
                  <a:moveTo>
                    <a:pt x="1470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9" name="Freeform 125"/>
            <p:cNvSpPr>
              <a:spLocks noChangeArrowheads="1"/>
            </p:cNvSpPr>
            <p:nvPr/>
          </p:nvSpPr>
          <p:spPr bwMode="auto">
            <a:xfrm>
              <a:off x="4640" y="2730"/>
              <a:ext cx="35" cy="1"/>
            </a:xfrm>
            <a:custGeom>
              <a:avLst/>
              <a:gdLst>
                <a:gd name="T0" fmla="*/ 292 w 292"/>
                <a:gd name="T1" fmla="*/ 0 h 1"/>
                <a:gd name="T2" fmla="*/ 0 w 292"/>
                <a:gd name="T3" fmla="*/ 0 h 1"/>
                <a:gd name="T4" fmla="*/ 2 w 29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2" h="1">
                  <a:moveTo>
                    <a:pt x="292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0" name="Freeform 126"/>
            <p:cNvSpPr>
              <a:spLocks noChangeArrowheads="1"/>
            </p:cNvSpPr>
            <p:nvPr/>
          </p:nvSpPr>
          <p:spPr bwMode="auto">
            <a:xfrm>
              <a:off x="4432" y="2730"/>
              <a:ext cx="173" cy="1"/>
            </a:xfrm>
            <a:custGeom>
              <a:avLst/>
              <a:gdLst>
                <a:gd name="T0" fmla="*/ 1462 w 1462"/>
                <a:gd name="T1" fmla="*/ 0 h 1"/>
                <a:gd name="T2" fmla="*/ 0 w 1462"/>
                <a:gd name="T3" fmla="*/ 0 h 1"/>
                <a:gd name="T4" fmla="*/ 1 w 146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2" h="1">
                  <a:moveTo>
                    <a:pt x="1462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1" name="Freeform 127"/>
            <p:cNvSpPr>
              <a:spLocks noChangeArrowheads="1"/>
            </p:cNvSpPr>
            <p:nvPr/>
          </p:nvSpPr>
          <p:spPr bwMode="auto">
            <a:xfrm>
              <a:off x="4362" y="2730"/>
              <a:ext cx="34" cy="1"/>
            </a:xfrm>
            <a:custGeom>
              <a:avLst/>
              <a:gdLst>
                <a:gd name="T0" fmla="*/ 292 w 292"/>
                <a:gd name="T1" fmla="*/ 0 h 1"/>
                <a:gd name="T2" fmla="*/ 0 w 292"/>
                <a:gd name="T3" fmla="*/ 0 h 1"/>
                <a:gd name="T4" fmla="*/ 1 w 29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2" h="1">
                  <a:moveTo>
                    <a:pt x="292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2" name="Freeform 128"/>
            <p:cNvSpPr>
              <a:spLocks noChangeArrowheads="1"/>
            </p:cNvSpPr>
            <p:nvPr/>
          </p:nvSpPr>
          <p:spPr bwMode="auto">
            <a:xfrm>
              <a:off x="4152" y="2730"/>
              <a:ext cx="175" cy="1"/>
            </a:xfrm>
            <a:custGeom>
              <a:avLst/>
              <a:gdLst>
                <a:gd name="T0" fmla="*/ 1462 w 1462"/>
                <a:gd name="T1" fmla="*/ 0 h 1"/>
                <a:gd name="T2" fmla="*/ 0 w 1462"/>
                <a:gd name="T3" fmla="*/ 0 h 1"/>
                <a:gd name="T4" fmla="*/ 2 w 146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2" h="1">
                  <a:moveTo>
                    <a:pt x="1462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3" name="Freeform 129"/>
            <p:cNvSpPr>
              <a:spLocks noChangeArrowheads="1"/>
            </p:cNvSpPr>
            <p:nvPr/>
          </p:nvSpPr>
          <p:spPr bwMode="auto">
            <a:xfrm>
              <a:off x="4083" y="2730"/>
              <a:ext cx="35" cy="1"/>
            </a:xfrm>
            <a:custGeom>
              <a:avLst/>
              <a:gdLst>
                <a:gd name="T0" fmla="*/ 293 w 293"/>
                <a:gd name="T1" fmla="*/ 0 h 1"/>
                <a:gd name="T2" fmla="*/ 0 w 293"/>
                <a:gd name="T3" fmla="*/ 0 h 1"/>
                <a:gd name="T4" fmla="*/ 1 w 29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3" h="1">
                  <a:moveTo>
                    <a:pt x="293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4" name="Freeform 130"/>
            <p:cNvSpPr>
              <a:spLocks noChangeArrowheads="1"/>
            </p:cNvSpPr>
            <p:nvPr/>
          </p:nvSpPr>
          <p:spPr bwMode="auto">
            <a:xfrm>
              <a:off x="3875" y="2730"/>
              <a:ext cx="174" cy="1"/>
            </a:xfrm>
            <a:custGeom>
              <a:avLst/>
              <a:gdLst>
                <a:gd name="T0" fmla="*/ 1461 w 1461"/>
                <a:gd name="T1" fmla="*/ 0 h 1"/>
                <a:gd name="T2" fmla="*/ 0 w 1461"/>
                <a:gd name="T3" fmla="*/ 0 h 1"/>
                <a:gd name="T4" fmla="*/ 1 w 146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1" h="1">
                  <a:moveTo>
                    <a:pt x="146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5" name="Freeform 131"/>
            <p:cNvSpPr>
              <a:spLocks noChangeArrowheads="1"/>
            </p:cNvSpPr>
            <p:nvPr/>
          </p:nvSpPr>
          <p:spPr bwMode="auto">
            <a:xfrm>
              <a:off x="3805" y="2730"/>
              <a:ext cx="34" cy="1"/>
            </a:xfrm>
            <a:custGeom>
              <a:avLst/>
              <a:gdLst>
                <a:gd name="T0" fmla="*/ 292 w 292"/>
                <a:gd name="T1" fmla="*/ 0 h 1"/>
                <a:gd name="T2" fmla="*/ 0 w 292"/>
                <a:gd name="T3" fmla="*/ 0 h 1"/>
                <a:gd name="T4" fmla="*/ 1 w 29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2" h="1">
                  <a:moveTo>
                    <a:pt x="292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6" name="Freeform 132"/>
            <p:cNvSpPr>
              <a:spLocks noChangeArrowheads="1"/>
            </p:cNvSpPr>
            <p:nvPr/>
          </p:nvSpPr>
          <p:spPr bwMode="auto">
            <a:xfrm>
              <a:off x="3595" y="2730"/>
              <a:ext cx="175" cy="1"/>
            </a:xfrm>
            <a:custGeom>
              <a:avLst/>
              <a:gdLst>
                <a:gd name="T0" fmla="*/ 1461 w 1461"/>
                <a:gd name="T1" fmla="*/ 0 h 1"/>
                <a:gd name="T2" fmla="*/ 0 w 1461"/>
                <a:gd name="T3" fmla="*/ 0 h 1"/>
                <a:gd name="T4" fmla="*/ 1 w 146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1" h="1">
                  <a:moveTo>
                    <a:pt x="146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7" name="Freeform 133"/>
            <p:cNvSpPr>
              <a:spLocks noChangeArrowheads="1"/>
            </p:cNvSpPr>
            <p:nvPr/>
          </p:nvSpPr>
          <p:spPr bwMode="auto">
            <a:xfrm>
              <a:off x="3526" y="2730"/>
              <a:ext cx="35" cy="1"/>
            </a:xfrm>
            <a:custGeom>
              <a:avLst/>
              <a:gdLst>
                <a:gd name="T0" fmla="*/ 293 w 293"/>
                <a:gd name="T1" fmla="*/ 0 h 1"/>
                <a:gd name="T2" fmla="*/ 0 w 293"/>
                <a:gd name="T3" fmla="*/ 0 h 1"/>
                <a:gd name="T4" fmla="*/ 1 w 29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3" h="1">
                  <a:moveTo>
                    <a:pt x="293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8" name="Freeform 134"/>
            <p:cNvSpPr>
              <a:spLocks noChangeArrowheads="1"/>
            </p:cNvSpPr>
            <p:nvPr/>
          </p:nvSpPr>
          <p:spPr bwMode="auto">
            <a:xfrm>
              <a:off x="3317" y="2730"/>
              <a:ext cx="175" cy="1"/>
            </a:xfrm>
            <a:custGeom>
              <a:avLst/>
              <a:gdLst>
                <a:gd name="T0" fmla="*/ 1461 w 1461"/>
                <a:gd name="T1" fmla="*/ 0 h 1"/>
                <a:gd name="T2" fmla="*/ 0 w 1461"/>
                <a:gd name="T3" fmla="*/ 0 h 1"/>
                <a:gd name="T4" fmla="*/ 1 w 146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1" h="1">
                  <a:moveTo>
                    <a:pt x="146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9" name="Freeform 135"/>
            <p:cNvSpPr>
              <a:spLocks noChangeArrowheads="1"/>
            </p:cNvSpPr>
            <p:nvPr/>
          </p:nvSpPr>
          <p:spPr bwMode="auto">
            <a:xfrm>
              <a:off x="3248" y="2730"/>
              <a:ext cx="34" cy="1"/>
            </a:xfrm>
            <a:custGeom>
              <a:avLst/>
              <a:gdLst>
                <a:gd name="T0" fmla="*/ 293 w 293"/>
                <a:gd name="T1" fmla="*/ 0 h 1"/>
                <a:gd name="T2" fmla="*/ 0 w 293"/>
                <a:gd name="T3" fmla="*/ 0 h 1"/>
                <a:gd name="T4" fmla="*/ 1 w 29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3" h="1">
                  <a:moveTo>
                    <a:pt x="293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0" name="Freeform 136"/>
            <p:cNvSpPr>
              <a:spLocks noChangeArrowheads="1"/>
            </p:cNvSpPr>
            <p:nvPr/>
          </p:nvSpPr>
          <p:spPr bwMode="auto">
            <a:xfrm>
              <a:off x="3037" y="2730"/>
              <a:ext cx="176" cy="1"/>
            </a:xfrm>
            <a:custGeom>
              <a:avLst/>
              <a:gdLst>
                <a:gd name="T0" fmla="*/ 1470 w 1470"/>
                <a:gd name="T1" fmla="*/ 0 h 1"/>
                <a:gd name="T2" fmla="*/ 0 w 1470"/>
                <a:gd name="T3" fmla="*/ 0 h 1"/>
                <a:gd name="T4" fmla="*/ 1 w 147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70" h="1">
                  <a:moveTo>
                    <a:pt x="1470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1" name="Freeform 137"/>
            <p:cNvSpPr>
              <a:spLocks noChangeArrowheads="1"/>
            </p:cNvSpPr>
            <p:nvPr/>
          </p:nvSpPr>
          <p:spPr bwMode="auto">
            <a:xfrm>
              <a:off x="3175" y="3021"/>
              <a:ext cx="157" cy="1"/>
            </a:xfrm>
            <a:custGeom>
              <a:avLst/>
              <a:gdLst>
                <a:gd name="T0" fmla="*/ 0 w 1313"/>
                <a:gd name="T1" fmla="*/ 0 h 1"/>
                <a:gd name="T2" fmla="*/ 1312 w 1313"/>
                <a:gd name="T3" fmla="*/ 0 h 1"/>
                <a:gd name="T4" fmla="*/ 1313 w 131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13" h="1">
                  <a:moveTo>
                    <a:pt x="0" y="0"/>
                  </a:moveTo>
                  <a:lnTo>
                    <a:pt x="1312" y="0"/>
                  </a:lnTo>
                  <a:lnTo>
                    <a:pt x="1313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2" name="Freeform 138"/>
            <p:cNvSpPr>
              <a:spLocks noChangeArrowheads="1"/>
            </p:cNvSpPr>
            <p:nvPr/>
          </p:nvSpPr>
          <p:spPr bwMode="auto">
            <a:xfrm>
              <a:off x="3175" y="2439"/>
              <a:ext cx="157" cy="1"/>
            </a:xfrm>
            <a:custGeom>
              <a:avLst/>
              <a:gdLst>
                <a:gd name="T0" fmla="*/ 0 w 1313"/>
                <a:gd name="T1" fmla="*/ 0 h 1"/>
                <a:gd name="T2" fmla="*/ 1312 w 1313"/>
                <a:gd name="T3" fmla="*/ 0 h 1"/>
                <a:gd name="T4" fmla="*/ 1313 w 131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13" h="1">
                  <a:moveTo>
                    <a:pt x="0" y="0"/>
                  </a:moveTo>
                  <a:lnTo>
                    <a:pt x="1312" y="0"/>
                  </a:lnTo>
                  <a:lnTo>
                    <a:pt x="1313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3" name="Freeform 139"/>
            <p:cNvSpPr>
              <a:spLocks noChangeArrowheads="1"/>
            </p:cNvSpPr>
            <p:nvPr/>
          </p:nvSpPr>
          <p:spPr bwMode="auto">
            <a:xfrm>
              <a:off x="3683" y="2936"/>
              <a:ext cx="2" cy="111"/>
            </a:xfrm>
            <a:custGeom>
              <a:avLst/>
              <a:gdLst>
                <a:gd name="T0" fmla="*/ 0 w 1"/>
                <a:gd name="T1" fmla="*/ 0 h 935"/>
                <a:gd name="T2" fmla="*/ 0 w 1"/>
                <a:gd name="T3" fmla="*/ 935 h 935"/>
                <a:gd name="T4" fmla="*/ 1 w 1"/>
                <a:gd name="T5" fmla="*/ 935 h 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35">
                  <a:moveTo>
                    <a:pt x="0" y="0"/>
                  </a:moveTo>
                  <a:lnTo>
                    <a:pt x="0" y="935"/>
                  </a:lnTo>
                  <a:lnTo>
                    <a:pt x="1" y="935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4" name="Freeform 140"/>
            <p:cNvSpPr>
              <a:spLocks noChangeArrowheads="1"/>
            </p:cNvSpPr>
            <p:nvPr/>
          </p:nvSpPr>
          <p:spPr bwMode="auto">
            <a:xfrm>
              <a:off x="3683" y="3081"/>
              <a:ext cx="2" cy="35"/>
            </a:xfrm>
            <a:custGeom>
              <a:avLst/>
              <a:gdLst>
                <a:gd name="T0" fmla="*/ 0 w 1"/>
                <a:gd name="T1" fmla="*/ 0 h 292"/>
                <a:gd name="T2" fmla="*/ 0 w 1"/>
                <a:gd name="T3" fmla="*/ 292 h 292"/>
                <a:gd name="T4" fmla="*/ 1 w 1"/>
                <a:gd name="T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2">
                  <a:moveTo>
                    <a:pt x="0" y="0"/>
                  </a:moveTo>
                  <a:lnTo>
                    <a:pt x="0" y="292"/>
                  </a:lnTo>
                  <a:lnTo>
                    <a:pt x="1" y="292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5" name="Freeform 141"/>
            <p:cNvSpPr>
              <a:spLocks noChangeArrowheads="1"/>
            </p:cNvSpPr>
            <p:nvPr/>
          </p:nvSpPr>
          <p:spPr bwMode="auto">
            <a:xfrm>
              <a:off x="3683" y="3152"/>
              <a:ext cx="2" cy="111"/>
            </a:xfrm>
            <a:custGeom>
              <a:avLst/>
              <a:gdLst>
                <a:gd name="T0" fmla="*/ 0 w 1"/>
                <a:gd name="T1" fmla="*/ 0 h 935"/>
                <a:gd name="T2" fmla="*/ 0 w 1"/>
                <a:gd name="T3" fmla="*/ 935 h 935"/>
                <a:gd name="T4" fmla="*/ 1 w 1"/>
                <a:gd name="T5" fmla="*/ 935 h 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35">
                  <a:moveTo>
                    <a:pt x="0" y="0"/>
                  </a:moveTo>
                  <a:lnTo>
                    <a:pt x="0" y="935"/>
                  </a:lnTo>
                  <a:lnTo>
                    <a:pt x="1" y="935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6" name="Freeform 142"/>
            <p:cNvSpPr>
              <a:spLocks noChangeArrowheads="1"/>
            </p:cNvSpPr>
            <p:nvPr/>
          </p:nvSpPr>
          <p:spPr bwMode="auto">
            <a:xfrm>
              <a:off x="3962" y="2229"/>
              <a:ext cx="1" cy="164"/>
            </a:xfrm>
            <a:custGeom>
              <a:avLst/>
              <a:gdLst>
                <a:gd name="T0" fmla="*/ 0 w 1"/>
                <a:gd name="T1" fmla="*/ 0 h 1374"/>
                <a:gd name="T2" fmla="*/ 0 w 1"/>
                <a:gd name="T3" fmla="*/ 1374 h 1374"/>
                <a:gd name="T4" fmla="*/ 1 w 1"/>
                <a:gd name="T5" fmla="*/ 1374 h 1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74">
                  <a:moveTo>
                    <a:pt x="0" y="0"/>
                  </a:moveTo>
                  <a:lnTo>
                    <a:pt x="0" y="1374"/>
                  </a:lnTo>
                  <a:lnTo>
                    <a:pt x="1" y="1374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7" name="Freeform 143"/>
            <p:cNvSpPr>
              <a:spLocks noChangeArrowheads="1"/>
            </p:cNvSpPr>
            <p:nvPr/>
          </p:nvSpPr>
          <p:spPr bwMode="auto">
            <a:xfrm>
              <a:off x="3962" y="2428"/>
              <a:ext cx="1" cy="35"/>
            </a:xfrm>
            <a:custGeom>
              <a:avLst/>
              <a:gdLst>
                <a:gd name="T0" fmla="*/ 0 w 1"/>
                <a:gd name="T1" fmla="*/ 0 h 292"/>
                <a:gd name="T2" fmla="*/ 0 w 1"/>
                <a:gd name="T3" fmla="*/ 292 h 292"/>
                <a:gd name="T4" fmla="*/ 1 w 1"/>
                <a:gd name="T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2">
                  <a:moveTo>
                    <a:pt x="0" y="0"/>
                  </a:moveTo>
                  <a:lnTo>
                    <a:pt x="0" y="292"/>
                  </a:lnTo>
                  <a:lnTo>
                    <a:pt x="1" y="292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8" name="Freeform 144"/>
            <p:cNvSpPr>
              <a:spLocks noChangeArrowheads="1"/>
            </p:cNvSpPr>
            <p:nvPr/>
          </p:nvSpPr>
          <p:spPr bwMode="auto">
            <a:xfrm>
              <a:off x="3962" y="2498"/>
              <a:ext cx="1" cy="174"/>
            </a:xfrm>
            <a:custGeom>
              <a:avLst/>
              <a:gdLst>
                <a:gd name="T0" fmla="*/ 0 w 1"/>
                <a:gd name="T1" fmla="*/ 0 h 1462"/>
                <a:gd name="T2" fmla="*/ 0 w 1"/>
                <a:gd name="T3" fmla="*/ 1462 h 1462"/>
                <a:gd name="T4" fmla="*/ 1 w 1"/>
                <a:gd name="T5" fmla="*/ 1462 h 1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62">
                  <a:moveTo>
                    <a:pt x="0" y="0"/>
                  </a:moveTo>
                  <a:lnTo>
                    <a:pt x="0" y="1462"/>
                  </a:lnTo>
                  <a:lnTo>
                    <a:pt x="1" y="1462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9" name="Freeform 145"/>
            <p:cNvSpPr>
              <a:spLocks noChangeArrowheads="1"/>
            </p:cNvSpPr>
            <p:nvPr/>
          </p:nvSpPr>
          <p:spPr bwMode="auto">
            <a:xfrm>
              <a:off x="3962" y="2707"/>
              <a:ext cx="1" cy="34"/>
            </a:xfrm>
            <a:custGeom>
              <a:avLst/>
              <a:gdLst>
                <a:gd name="T0" fmla="*/ 0 w 1"/>
                <a:gd name="T1" fmla="*/ 0 h 292"/>
                <a:gd name="T2" fmla="*/ 0 w 1"/>
                <a:gd name="T3" fmla="*/ 292 h 292"/>
                <a:gd name="T4" fmla="*/ 1 w 1"/>
                <a:gd name="T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2">
                  <a:moveTo>
                    <a:pt x="0" y="0"/>
                  </a:moveTo>
                  <a:lnTo>
                    <a:pt x="0" y="292"/>
                  </a:lnTo>
                  <a:lnTo>
                    <a:pt x="1" y="292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0" name="Freeform 146"/>
            <p:cNvSpPr>
              <a:spLocks noChangeArrowheads="1"/>
            </p:cNvSpPr>
            <p:nvPr/>
          </p:nvSpPr>
          <p:spPr bwMode="auto">
            <a:xfrm>
              <a:off x="3962" y="2777"/>
              <a:ext cx="1" cy="174"/>
            </a:xfrm>
            <a:custGeom>
              <a:avLst/>
              <a:gdLst>
                <a:gd name="T0" fmla="*/ 0 w 1"/>
                <a:gd name="T1" fmla="*/ 0 h 1462"/>
                <a:gd name="T2" fmla="*/ 0 w 1"/>
                <a:gd name="T3" fmla="*/ 1462 h 1462"/>
                <a:gd name="T4" fmla="*/ 1 w 1"/>
                <a:gd name="T5" fmla="*/ 1462 h 1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62">
                  <a:moveTo>
                    <a:pt x="0" y="0"/>
                  </a:moveTo>
                  <a:lnTo>
                    <a:pt x="0" y="1462"/>
                  </a:lnTo>
                  <a:lnTo>
                    <a:pt x="1" y="1462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1" name="Freeform 147"/>
            <p:cNvSpPr>
              <a:spLocks noChangeArrowheads="1"/>
            </p:cNvSpPr>
            <p:nvPr/>
          </p:nvSpPr>
          <p:spPr bwMode="auto">
            <a:xfrm>
              <a:off x="3962" y="2985"/>
              <a:ext cx="1" cy="36"/>
            </a:xfrm>
            <a:custGeom>
              <a:avLst/>
              <a:gdLst>
                <a:gd name="T0" fmla="*/ 0 w 1"/>
                <a:gd name="T1" fmla="*/ 0 h 293"/>
                <a:gd name="T2" fmla="*/ 0 w 1"/>
                <a:gd name="T3" fmla="*/ 293 h 293"/>
                <a:gd name="T4" fmla="*/ 1 w 1"/>
                <a:gd name="T5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3">
                  <a:moveTo>
                    <a:pt x="0" y="0"/>
                  </a:moveTo>
                  <a:lnTo>
                    <a:pt x="0" y="293"/>
                  </a:lnTo>
                  <a:lnTo>
                    <a:pt x="1" y="293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2" name="Freeform 148"/>
            <p:cNvSpPr>
              <a:spLocks noChangeArrowheads="1"/>
            </p:cNvSpPr>
            <p:nvPr/>
          </p:nvSpPr>
          <p:spPr bwMode="auto">
            <a:xfrm>
              <a:off x="3962" y="3056"/>
              <a:ext cx="1" cy="162"/>
            </a:xfrm>
            <a:custGeom>
              <a:avLst/>
              <a:gdLst>
                <a:gd name="T0" fmla="*/ 0 w 1"/>
                <a:gd name="T1" fmla="*/ 0 h 1372"/>
                <a:gd name="T2" fmla="*/ 0 w 1"/>
                <a:gd name="T3" fmla="*/ 1372 h 1372"/>
                <a:gd name="T4" fmla="*/ 1 w 1"/>
                <a:gd name="T5" fmla="*/ 1372 h 1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72">
                  <a:moveTo>
                    <a:pt x="0" y="0"/>
                  </a:moveTo>
                  <a:lnTo>
                    <a:pt x="0" y="1372"/>
                  </a:lnTo>
                  <a:lnTo>
                    <a:pt x="1" y="1372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3" name="Freeform 149"/>
            <p:cNvSpPr>
              <a:spLocks noChangeArrowheads="1"/>
            </p:cNvSpPr>
            <p:nvPr/>
          </p:nvSpPr>
          <p:spPr bwMode="auto">
            <a:xfrm>
              <a:off x="3255" y="2942"/>
              <a:ext cx="1" cy="156"/>
            </a:xfrm>
            <a:custGeom>
              <a:avLst/>
              <a:gdLst>
                <a:gd name="T0" fmla="*/ 0 w 1"/>
                <a:gd name="T1" fmla="*/ 1313 h 1313"/>
                <a:gd name="T2" fmla="*/ 0 w 1"/>
                <a:gd name="T3" fmla="*/ 0 h 1313"/>
                <a:gd name="T4" fmla="*/ 1 w 1"/>
                <a:gd name="T5" fmla="*/ 0 h 1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13">
                  <a:moveTo>
                    <a:pt x="0" y="131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4" name="Freeform 150"/>
            <p:cNvSpPr>
              <a:spLocks noChangeArrowheads="1"/>
            </p:cNvSpPr>
            <p:nvPr/>
          </p:nvSpPr>
          <p:spPr bwMode="auto">
            <a:xfrm>
              <a:off x="3255" y="2360"/>
              <a:ext cx="1" cy="157"/>
            </a:xfrm>
            <a:custGeom>
              <a:avLst/>
              <a:gdLst>
                <a:gd name="T0" fmla="*/ 0 w 1"/>
                <a:gd name="T1" fmla="*/ 1314 h 1314"/>
                <a:gd name="T2" fmla="*/ 0 w 1"/>
                <a:gd name="T3" fmla="*/ 0 h 1314"/>
                <a:gd name="T4" fmla="*/ 1 w 1"/>
                <a:gd name="T5" fmla="*/ 0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14">
                  <a:moveTo>
                    <a:pt x="0" y="131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5" name="Freeform 151"/>
            <p:cNvSpPr>
              <a:spLocks noChangeArrowheads="1"/>
            </p:cNvSpPr>
            <p:nvPr/>
          </p:nvSpPr>
          <p:spPr bwMode="auto">
            <a:xfrm>
              <a:off x="4670" y="2942"/>
              <a:ext cx="1" cy="156"/>
            </a:xfrm>
            <a:custGeom>
              <a:avLst/>
              <a:gdLst>
                <a:gd name="T0" fmla="*/ 0 w 1"/>
                <a:gd name="T1" fmla="*/ 1313 h 1313"/>
                <a:gd name="T2" fmla="*/ 0 w 1"/>
                <a:gd name="T3" fmla="*/ 0 h 1313"/>
                <a:gd name="T4" fmla="*/ 1 w 1"/>
                <a:gd name="T5" fmla="*/ 0 h 1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13">
                  <a:moveTo>
                    <a:pt x="0" y="131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6" name="Freeform 152"/>
            <p:cNvSpPr>
              <a:spLocks noChangeArrowheads="1"/>
            </p:cNvSpPr>
            <p:nvPr/>
          </p:nvSpPr>
          <p:spPr bwMode="auto">
            <a:xfrm>
              <a:off x="4591" y="3021"/>
              <a:ext cx="156" cy="1"/>
            </a:xfrm>
            <a:custGeom>
              <a:avLst/>
              <a:gdLst>
                <a:gd name="T0" fmla="*/ 0 w 1314"/>
                <a:gd name="T1" fmla="*/ 0 h 1"/>
                <a:gd name="T2" fmla="*/ 1313 w 1314"/>
                <a:gd name="T3" fmla="*/ 0 h 1"/>
                <a:gd name="T4" fmla="*/ 1314 w 131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14" h="1">
                  <a:moveTo>
                    <a:pt x="0" y="0"/>
                  </a:moveTo>
                  <a:lnTo>
                    <a:pt x="1313" y="0"/>
                  </a:lnTo>
                  <a:lnTo>
                    <a:pt x="1314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7" name="Freeform 153"/>
            <p:cNvSpPr>
              <a:spLocks noChangeArrowheads="1"/>
            </p:cNvSpPr>
            <p:nvPr/>
          </p:nvSpPr>
          <p:spPr bwMode="auto">
            <a:xfrm>
              <a:off x="4591" y="2439"/>
              <a:ext cx="156" cy="1"/>
            </a:xfrm>
            <a:custGeom>
              <a:avLst/>
              <a:gdLst>
                <a:gd name="T0" fmla="*/ 0 w 1314"/>
                <a:gd name="T1" fmla="*/ 0 h 1"/>
                <a:gd name="T2" fmla="*/ 1313 w 1314"/>
                <a:gd name="T3" fmla="*/ 0 h 1"/>
                <a:gd name="T4" fmla="*/ 1314 w 131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14" h="1">
                  <a:moveTo>
                    <a:pt x="0" y="0"/>
                  </a:moveTo>
                  <a:lnTo>
                    <a:pt x="1313" y="0"/>
                  </a:lnTo>
                  <a:lnTo>
                    <a:pt x="1314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8" name="Freeform 154"/>
            <p:cNvSpPr>
              <a:spLocks noChangeArrowheads="1"/>
            </p:cNvSpPr>
            <p:nvPr/>
          </p:nvSpPr>
          <p:spPr bwMode="auto">
            <a:xfrm>
              <a:off x="4670" y="2360"/>
              <a:ext cx="1" cy="157"/>
            </a:xfrm>
            <a:custGeom>
              <a:avLst/>
              <a:gdLst>
                <a:gd name="T0" fmla="*/ 0 w 1"/>
                <a:gd name="T1" fmla="*/ 1314 h 1314"/>
                <a:gd name="T2" fmla="*/ 0 w 1"/>
                <a:gd name="T3" fmla="*/ 0 h 1314"/>
                <a:gd name="T4" fmla="*/ 1 w 1"/>
                <a:gd name="T5" fmla="*/ 0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14">
                  <a:moveTo>
                    <a:pt x="0" y="131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9" name="Freeform 155"/>
            <p:cNvSpPr>
              <a:spLocks noChangeArrowheads="1"/>
            </p:cNvSpPr>
            <p:nvPr/>
          </p:nvSpPr>
          <p:spPr bwMode="auto">
            <a:xfrm flipV="1">
              <a:off x="3405" y="2743"/>
              <a:ext cx="316" cy="29"/>
            </a:xfrm>
            <a:custGeom>
              <a:avLst/>
              <a:gdLst>
                <a:gd name="T0" fmla="*/ 0 w 4398"/>
                <a:gd name="T1" fmla="*/ 356 h 2767"/>
                <a:gd name="T2" fmla="*/ 790 w 4398"/>
                <a:gd name="T3" fmla="*/ 306 h 2767"/>
                <a:gd name="T4" fmla="*/ 1631 w 4398"/>
                <a:gd name="T5" fmla="*/ 192 h 2767"/>
                <a:gd name="T6" fmla="*/ 2510 w 4398"/>
                <a:gd name="T7" fmla="*/ 37 h 2767"/>
                <a:gd name="T8" fmla="*/ 2928 w 4398"/>
                <a:gd name="T9" fmla="*/ 0 h 2767"/>
                <a:gd name="T10" fmla="*/ 3306 w 4398"/>
                <a:gd name="T11" fmla="*/ 30 h 2767"/>
                <a:gd name="T12" fmla="*/ 3627 w 4398"/>
                <a:gd name="T13" fmla="*/ 153 h 2767"/>
                <a:gd name="T14" fmla="*/ 3874 w 4398"/>
                <a:gd name="T15" fmla="*/ 393 h 2767"/>
                <a:gd name="T16" fmla="*/ 4051 w 4398"/>
                <a:gd name="T17" fmla="*/ 733 h 2767"/>
                <a:gd name="T18" fmla="*/ 4175 w 4398"/>
                <a:gd name="T19" fmla="*/ 1136 h 2767"/>
                <a:gd name="T20" fmla="*/ 4316 w 4398"/>
                <a:gd name="T21" fmla="*/ 1982 h 2767"/>
                <a:gd name="T22" fmla="*/ 4396 w 4398"/>
                <a:gd name="T23" fmla="*/ 2767 h 2767"/>
                <a:gd name="T24" fmla="*/ 4398 w 4398"/>
                <a:gd name="T25" fmla="*/ 2767 h 2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98" h="2767">
                  <a:moveTo>
                    <a:pt x="0" y="356"/>
                  </a:moveTo>
                  <a:lnTo>
                    <a:pt x="790" y="306"/>
                  </a:lnTo>
                  <a:lnTo>
                    <a:pt x="1631" y="192"/>
                  </a:lnTo>
                  <a:lnTo>
                    <a:pt x="2510" y="37"/>
                  </a:lnTo>
                  <a:lnTo>
                    <a:pt x="2928" y="0"/>
                  </a:lnTo>
                  <a:lnTo>
                    <a:pt x="3306" y="30"/>
                  </a:lnTo>
                  <a:lnTo>
                    <a:pt x="3627" y="153"/>
                  </a:lnTo>
                  <a:lnTo>
                    <a:pt x="3874" y="393"/>
                  </a:lnTo>
                  <a:lnTo>
                    <a:pt x="4051" y="733"/>
                  </a:lnTo>
                  <a:lnTo>
                    <a:pt x="4175" y="1136"/>
                  </a:lnTo>
                  <a:lnTo>
                    <a:pt x="4316" y="1982"/>
                  </a:lnTo>
                  <a:lnTo>
                    <a:pt x="4396" y="2767"/>
                  </a:lnTo>
                  <a:lnTo>
                    <a:pt x="4398" y="2767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0" name="Freeform 156"/>
            <p:cNvSpPr>
              <a:spLocks noChangeArrowheads="1"/>
            </p:cNvSpPr>
            <p:nvPr/>
          </p:nvSpPr>
          <p:spPr bwMode="auto">
            <a:xfrm>
              <a:off x="3255" y="2266"/>
              <a:ext cx="1415" cy="1"/>
            </a:xfrm>
            <a:custGeom>
              <a:avLst/>
              <a:gdLst>
                <a:gd name="T0" fmla="*/ 11885 w 11885"/>
                <a:gd name="T1" fmla="*/ 0 h 1"/>
                <a:gd name="T2" fmla="*/ 0 w 11885"/>
                <a:gd name="T3" fmla="*/ 0 h 1"/>
                <a:gd name="T4" fmla="*/ 1 w 1188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885" h="1">
                  <a:moveTo>
                    <a:pt x="11885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1" name="Freeform 157"/>
            <p:cNvSpPr>
              <a:spLocks noChangeArrowheads="1"/>
            </p:cNvSpPr>
            <p:nvPr/>
          </p:nvSpPr>
          <p:spPr bwMode="auto">
            <a:xfrm>
              <a:off x="3839" y="3195"/>
              <a:ext cx="831" cy="1"/>
            </a:xfrm>
            <a:custGeom>
              <a:avLst/>
              <a:gdLst>
                <a:gd name="T0" fmla="*/ 0 w 6974"/>
                <a:gd name="T1" fmla="*/ 0 h 1"/>
                <a:gd name="T2" fmla="*/ 6973 w 6974"/>
                <a:gd name="T3" fmla="*/ 0 h 1"/>
                <a:gd name="T4" fmla="*/ 6974 w 697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74" h="1">
                  <a:moveTo>
                    <a:pt x="0" y="0"/>
                  </a:moveTo>
                  <a:lnTo>
                    <a:pt x="6973" y="0"/>
                  </a:lnTo>
                  <a:lnTo>
                    <a:pt x="6974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2" name="Freeform 158"/>
            <p:cNvSpPr>
              <a:spLocks noChangeArrowheads="1"/>
            </p:cNvSpPr>
            <p:nvPr/>
          </p:nvSpPr>
          <p:spPr bwMode="auto">
            <a:xfrm>
              <a:off x="4450" y="2382"/>
              <a:ext cx="70" cy="69"/>
            </a:xfrm>
            <a:custGeom>
              <a:avLst/>
              <a:gdLst>
                <a:gd name="T0" fmla="*/ 585 w 585"/>
                <a:gd name="T1" fmla="*/ 586 h 586"/>
                <a:gd name="T2" fmla="*/ 506 w 585"/>
                <a:gd name="T3" fmla="*/ 293 h 586"/>
                <a:gd name="T4" fmla="*/ 293 w 585"/>
                <a:gd name="T5" fmla="*/ 78 h 586"/>
                <a:gd name="T6" fmla="*/ 0 w 585"/>
                <a:gd name="T7" fmla="*/ 0 h 586"/>
                <a:gd name="T8" fmla="*/ 1 w 585"/>
                <a:gd name="T9" fmla="*/ 0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5" h="586">
                  <a:moveTo>
                    <a:pt x="585" y="586"/>
                  </a:moveTo>
                  <a:lnTo>
                    <a:pt x="506" y="293"/>
                  </a:lnTo>
                  <a:lnTo>
                    <a:pt x="293" y="78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3" name="Freeform 159"/>
            <p:cNvSpPr>
              <a:spLocks noChangeArrowheads="1"/>
            </p:cNvSpPr>
            <p:nvPr/>
          </p:nvSpPr>
          <p:spPr bwMode="auto">
            <a:xfrm>
              <a:off x="4450" y="3009"/>
              <a:ext cx="70" cy="69"/>
            </a:xfrm>
            <a:custGeom>
              <a:avLst/>
              <a:gdLst>
                <a:gd name="T0" fmla="*/ 0 w 586"/>
                <a:gd name="T1" fmla="*/ 585 h 585"/>
                <a:gd name="T2" fmla="*/ 293 w 586"/>
                <a:gd name="T3" fmla="*/ 507 h 585"/>
                <a:gd name="T4" fmla="*/ 506 w 586"/>
                <a:gd name="T5" fmla="*/ 292 h 585"/>
                <a:gd name="T6" fmla="*/ 585 w 586"/>
                <a:gd name="T7" fmla="*/ 0 h 585"/>
                <a:gd name="T8" fmla="*/ 586 w 586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6" h="585">
                  <a:moveTo>
                    <a:pt x="0" y="585"/>
                  </a:moveTo>
                  <a:lnTo>
                    <a:pt x="293" y="507"/>
                  </a:lnTo>
                  <a:lnTo>
                    <a:pt x="506" y="292"/>
                  </a:lnTo>
                  <a:lnTo>
                    <a:pt x="585" y="0"/>
                  </a:lnTo>
                  <a:lnTo>
                    <a:pt x="586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4" name="Freeform 160"/>
            <p:cNvSpPr>
              <a:spLocks noChangeArrowheads="1"/>
            </p:cNvSpPr>
            <p:nvPr/>
          </p:nvSpPr>
          <p:spPr bwMode="auto">
            <a:xfrm>
              <a:off x="3080" y="2266"/>
              <a:ext cx="175" cy="173"/>
            </a:xfrm>
            <a:custGeom>
              <a:avLst/>
              <a:gdLst>
                <a:gd name="T0" fmla="*/ 1461 w 1461"/>
                <a:gd name="T1" fmla="*/ 0 h 1462"/>
                <a:gd name="T2" fmla="*/ 901 w 1461"/>
                <a:gd name="T3" fmla="*/ 111 h 1462"/>
                <a:gd name="T4" fmla="*/ 428 w 1461"/>
                <a:gd name="T5" fmla="*/ 427 h 1462"/>
                <a:gd name="T6" fmla="*/ 110 w 1461"/>
                <a:gd name="T7" fmla="*/ 902 h 1462"/>
                <a:gd name="T8" fmla="*/ 0 w 1461"/>
                <a:gd name="T9" fmla="*/ 1462 h 1462"/>
                <a:gd name="T10" fmla="*/ 1 w 1461"/>
                <a:gd name="T11" fmla="*/ 1462 h 1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1" h="1462">
                  <a:moveTo>
                    <a:pt x="1461" y="0"/>
                  </a:moveTo>
                  <a:lnTo>
                    <a:pt x="901" y="111"/>
                  </a:lnTo>
                  <a:lnTo>
                    <a:pt x="428" y="427"/>
                  </a:lnTo>
                  <a:lnTo>
                    <a:pt x="110" y="902"/>
                  </a:lnTo>
                  <a:lnTo>
                    <a:pt x="0" y="1462"/>
                  </a:lnTo>
                  <a:lnTo>
                    <a:pt x="1" y="1462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5" name="Freeform 161"/>
            <p:cNvSpPr>
              <a:spLocks noChangeArrowheads="1"/>
            </p:cNvSpPr>
            <p:nvPr/>
          </p:nvSpPr>
          <p:spPr bwMode="auto">
            <a:xfrm>
              <a:off x="3080" y="3021"/>
              <a:ext cx="175" cy="174"/>
            </a:xfrm>
            <a:custGeom>
              <a:avLst/>
              <a:gdLst>
                <a:gd name="T0" fmla="*/ 0 w 1462"/>
                <a:gd name="T1" fmla="*/ 0 h 1462"/>
                <a:gd name="T2" fmla="*/ 110 w 1462"/>
                <a:gd name="T3" fmla="*/ 560 h 1462"/>
                <a:gd name="T4" fmla="*/ 428 w 1462"/>
                <a:gd name="T5" fmla="*/ 1034 h 1462"/>
                <a:gd name="T6" fmla="*/ 901 w 1462"/>
                <a:gd name="T7" fmla="*/ 1350 h 1462"/>
                <a:gd name="T8" fmla="*/ 1461 w 1462"/>
                <a:gd name="T9" fmla="*/ 1462 h 1462"/>
                <a:gd name="T10" fmla="*/ 1462 w 1462"/>
                <a:gd name="T11" fmla="*/ 1462 h 1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2" h="1462">
                  <a:moveTo>
                    <a:pt x="0" y="0"/>
                  </a:moveTo>
                  <a:lnTo>
                    <a:pt x="110" y="560"/>
                  </a:lnTo>
                  <a:lnTo>
                    <a:pt x="428" y="1034"/>
                  </a:lnTo>
                  <a:lnTo>
                    <a:pt x="901" y="1350"/>
                  </a:lnTo>
                  <a:lnTo>
                    <a:pt x="1461" y="1462"/>
                  </a:lnTo>
                  <a:lnTo>
                    <a:pt x="1462" y="1462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6" name="Freeform 162"/>
            <p:cNvSpPr>
              <a:spLocks noChangeArrowheads="1"/>
            </p:cNvSpPr>
            <p:nvPr/>
          </p:nvSpPr>
          <p:spPr bwMode="auto">
            <a:xfrm>
              <a:off x="3196" y="2382"/>
              <a:ext cx="116" cy="116"/>
            </a:xfrm>
            <a:custGeom>
              <a:avLst/>
              <a:gdLst>
                <a:gd name="T0" fmla="*/ 975 w 976"/>
                <a:gd name="T1" fmla="*/ 488 h 976"/>
                <a:gd name="T2" fmla="*/ 832 w 976"/>
                <a:gd name="T3" fmla="*/ 143 h 976"/>
                <a:gd name="T4" fmla="*/ 488 w 976"/>
                <a:gd name="T5" fmla="*/ 0 h 976"/>
                <a:gd name="T6" fmla="*/ 143 w 976"/>
                <a:gd name="T7" fmla="*/ 143 h 976"/>
                <a:gd name="T8" fmla="*/ 0 w 976"/>
                <a:gd name="T9" fmla="*/ 488 h 976"/>
                <a:gd name="T10" fmla="*/ 143 w 976"/>
                <a:gd name="T11" fmla="*/ 832 h 976"/>
                <a:gd name="T12" fmla="*/ 488 w 976"/>
                <a:gd name="T13" fmla="*/ 976 h 976"/>
                <a:gd name="T14" fmla="*/ 832 w 976"/>
                <a:gd name="T15" fmla="*/ 832 h 976"/>
                <a:gd name="T16" fmla="*/ 975 w 976"/>
                <a:gd name="T17" fmla="*/ 488 h 976"/>
                <a:gd name="T18" fmla="*/ 976 w 976"/>
                <a:gd name="T19" fmla="*/ 488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6" h="976">
                  <a:moveTo>
                    <a:pt x="975" y="488"/>
                  </a:moveTo>
                  <a:lnTo>
                    <a:pt x="832" y="143"/>
                  </a:lnTo>
                  <a:lnTo>
                    <a:pt x="488" y="0"/>
                  </a:lnTo>
                  <a:lnTo>
                    <a:pt x="143" y="143"/>
                  </a:lnTo>
                  <a:lnTo>
                    <a:pt x="0" y="488"/>
                  </a:lnTo>
                  <a:lnTo>
                    <a:pt x="143" y="832"/>
                  </a:lnTo>
                  <a:lnTo>
                    <a:pt x="488" y="976"/>
                  </a:lnTo>
                  <a:lnTo>
                    <a:pt x="832" y="832"/>
                  </a:lnTo>
                  <a:lnTo>
                    <a:pt x="975" y="488"/>
                  </a:lnTo>
                  <a:lnTo>
                    <a:pt x="976" y="488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7" name="Freeform 163"/>
            <p:cNvSpPr>
              <a:spLocks noChangeArrowheads="1"/>
            </p:cNvSpPr>
            <p:nvPr/>
          </p:nvSpPr>
          <p:spPr bwMode="auto">
            <a:xfrm>
              <a:off x="3196" y="2961"/>
              <a:ext cx="116" cy="117"/>
            </a:xfrm>
            <a:custGeom>
              <a:avLst/>
              <a:gdLst>
                <a:gd name="T0" fmla="*/ 975 w 976"/>
                <a:gd name="T1" fmla="*/ 488 h 975"/>
                <a:gd name="T2" fmla="*/ 832 w 976"/>
                <a:gd name="T3" fmla="*/ 143 h 975"/>
                <a:gd name="T4" fmla="*/ 488 w 976"/>
                <a:gd name="T5" fmla="*/ 0 h 975"/>
                <a:gd name="T6" fmla="*/ 143 w 976"/>
                <a:gd name="T7" fmla="*/ 143 h 975"/>
                <a:gd name="T8" fmla="*/ 0 w 976"/>
                <a:gd name="T9" fmla="*/ 488 h 975"/>
                <a:gd name="T10" fmla="*/ 143 w 976"/>
                <a:gd name="T11" fmla="*/ 832 h 975"/>
                <a:gd name="T12" fmla="*/ 488 w 976"/>
                <a:gd name="T13" fmla="*/ 975 h 975"/>
                <a:gd name="T14" fmla="*/ 832 w 976"/>
                <a:gd name="T15" fmla="*/ 832 h 975"/>
                <a:gd name="T16" fmla="*/ 975 w 976"/>
                <a:gd name="T17" fmla="*/ 488 h 975"/>
                <a:gd name="T18" fmla="*/ 976 w 976"/>
                <a:gd name="T19" fmla="*/ 488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6" h="975">
                  <a:moveTo>
                    <a:pt x="975" y="488"/>
                  </a:moveTo>
                  <a:lnTo>
                    <a:pt x="832" y="143"/>
                  </a:lnTo>
                  <a:lnTo>
                    <a:pt x="488" y="0"/>
                  </a:lnTo>
                  <a:lnTo>
                    <a:pt x="143" y="143"/>
                  </a:lnTo>
                  <a:lnTo>
                    <a:pt x="0" y="488"/>
                  </a:lnTo>
                  <a:lnTo>
                    <a:pt x="143" y="832"/>
                  </a:lnTo>
                  <a:lnTo>
                    <a:pt x="488" y="975"/>
                  </a:lnTo>
                  <a:lnTo>
                    <a:pt x="832" y="832"/>
                  </a:lnTo>
                  <a:lnTo>
                    <a:pt x="975" y="488"/>
                  </a:lnTo>
                  <a:lnTo>
                    <a:pt x="976" y="488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8" name="Freeform 164"/>
            <p:cNvSpPr>
              <a:spLocks noChangeArrowheads="1"/>
            </p:cNvSpPr>
            <p:nvPr/>
          </p:nvSpPr>
          <p:spPr bwMode="auto">
            <a:xfrm>
              <a:off x="3080" y="2439"/>
              <a:ext cx="1" cy="582"/>
            </a:xfrm>
            <a:custGeom>
              <a:avLst/>
              <a:gdLst>
                <a:gd name="T0" fmla="*/ 0 w 1"/>
                <a:gd name="T1" fmla="*/ 0 h 4875"/>
                <a:gd name="T2" fmla="*/ 0 w 1"/>
                <a:gd name="T3" fmla="*/ 4875 h 4875"/>
                <a:gd name="T4" fmla="*/ 1 w 1"/>
                <a:gd name="T5" fmla="*/ 4875 h 4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875">
                  <a:moveTo>
                    <a:pt x="0" y="0"/>
                  </a:moveTo>
                  <a:lnTo>
                    <a:pt x="0" y="4875"/>
                  </a:lnTo>
                  <a:lnTo>
                    <a:pt x="1" y="4875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9" name="Freeform 165"/>
            <p:cNvSpPr>
              <a:spLocks noChangeArrowheads="1"/>
            </p:cNvSpPr>
            <p:nvPr/>
          </p:nvSpPr>
          <p:spPr bwMode="auto">
            <a:xfrm>
              <a:off x="3824" y="3078"/>
              <a:ext cx="22" cy="24"/>
            </a:xfrm>
            <a:custGeom>
              <a:avLst/>
              <a:gdLst>
                <a:gd name="T0" fmla="*/ 194 w 194"/>
                <a:gd name="T1" fmla="*/ 0 h 195"/>
                <a:gd name="T2" fmla="*/ 56 w 194"/>
                <a:gd name="T3" fmla="*/ 57 h 195"/>
                <a:gd name="T4" fmla="*/ 0 w 194"/>
                <a:gd name="T5" fmla="*/ 195 h 195"/>
                <a:gd name="T6" fmla="*/ 1 w 194"/>
                <a:gd name="T7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4" h="195">
                  <a:moveTo>
                    <a:pt x="194" y="0"/>
                  </a:moveTo>
                  <a:lnTo>
                    <a:pt x="56" y="57"/>
                  </a:lnTo>
                  <a:lnTo>
                    <a:pt x="0" y="195"/>
                  </a:lnTo>
                  <a:lnTo>
                    <a:pt x="1" y="195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0" name="Freeform 166"/>
            <p:cNvSpPr>
              <a:spLocks noChangeArrowheads="1"/>
            </p:cNvSpPr>
            <p:nvPr/>
          </p:nvSpPr>
          <p:spPr bwMode="auto">
            <a:xfrm>
              <a:off x="3521" y="3078"/>
              <a:ext cx="23" cy="24"/>
            </a:xfrm>
            <a:custGeom>
              <a:avLst/>
              <a:gdLst>
                <a:gd name="T0" fmla="*/ 194 w 194"/>
                <a:gd name="T1" fmla="*/ 195 h 195"/>
                <a:gd name="T2" fmla="*/ 137 w 194"/>
                <a:gd name="T3" fmla="*/ 57 h 195"/>
                <a:gd name="T4" fmla="*/ 0 w 194"/>
                <a:gd name="T5" fmla="*/ 0 h 195"/>
                <a:gd name="T6" fmla="*/ 1 w 194"/>
                <a:gd name="T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4" h="195">
                  <a:moveTo>
                    <a:pt x="194" y="195"/>
                  </a:moveTo>
                  <a:lnTo>
                    <a:pt x="137" y="57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1" name="Freeform 167"/>
            <p:cNvSpPr>
              <a:spLocks noChangeArrowheads="1"/>
            </p:cNvSpPr>
            <p:nvPr/>
          </p:nvSpPr>
          <p:spPr bwMode="auto">
            <a:xfrm>
              <a:off x="3405" y="3009"/>
              <a:ext cx="69" cy="69"/>
            </a:xfrm>
            <a:custGeom>
              <a:avLst/>
              <a:gdLst>
                <a:gd name="T0" fmla="*/ 0 w 586"/>
                <a:gd name="T1" fmla="*/ 0 h 585"/>
                <a:gd name="T2" fmla="*/ 79 w 586"/>
                <a:gd name="T3" fmla="*/ 292 h 585"/>
                <a:gd name="T4" fmla="*/ 292 w 586"/>
                <a:gd name="T5" fmla="*/ 507 h 585"/>
                <a:gd name="T6" fmla="*/ 585 w 586"/>
                <a:gd name="T7" fmla="*/ 585 h 585"/>
                <a:gd name="T8" fmla="*/ 586 w 586"/>
                <a:gd name="T9" fmla="*/ 585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6" h="585">
                  <a:moveTo>
                    <a:pt x="0" y="0"/>
                  </a:moveTo>
                  <a:lnTo>
                    <a:pt x="79" y="292"/>
                  </a:lnTo>
                  <a:lnTo>
                    <a:pt x="292" y="507"/>
                  </a:lnTo>
                  <a:lnTo>
                    <a:pt x="585" y="585"/>
                  </a:lnTo>
                  <a:lnTo>
                    <a:pt x="586" y="585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2" name="Freeform 168"/>
            <p:cNvSpPr>
              <a:spLocks noChangeArrowheads="1"/>
            </p:cNvSpPr>
            <p:nvPr/>
          </p:nvSpPr>
          <p:spPr bwMode="auto">
            <a:xfrm>
              <a:off x="3626" y="2985"/>
              <a:ext cx="1" cy="256"/>
            </a:xfrm>
            <a:custGeom>
              <a:avLst/>
              <a:gdLst>
                <a:gd name="T0" fmla="*/ 0 w 1"/>
                <a:gd name="T1" fmla="*/ 0 h 2145"/>
                <a:gd name="T2" fmla="*/ 0 w 1"/>
                <a:gd name="T3" fmla="*/ 2145 h 2145"/>
                <a:gd name="T4" fmla="*/ 1 w 1"/>
                <a:gd name="T5" fmla="*/ 2145 h 2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145">
                  <a:moveTo>
                    <a:pt x="0" y="0"/>
                  </a:moveTo>
                  <a:lnTo>
                    <a:pt x="0" y="2145"/>
                  </a:lnTo>
                  <a:lnTo>
                    <a:pt x="1" y="2145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3" name="Freeform 169"/>
            <p:cNvSpPr>
              <a:spLocks noChangeArrowheads="1"/>
            </p:cNvSpPr>
            <p:nvPr/>
          </p:nvSpPr>
          <p:spPr bwMode="auto">
            <a:xfrm>
              <a:off x="3742" y="2985"/>
              <a:ext cx="1" cy="256"/>
            </a:xfrm>
            <a:custGeom>
              <a:avLst/>
              <a:gdLst>
                <a:gd name="T0" fmla="*/ 0 w 1"/>
                <a:gd name="T1" fmla="*/ 2145 h 2145"/>
                <a:gd name="T2" fmla="*/ 0 w 1"/>
                <a:gd name="T3" fmla="*/ 0 h 2145"/>
                <a:gd name="T4" fmla="*/ 1 w 1"/>
                <a:gd name="T5" fmla="*/ 0 h 2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145">
                  <a:moveTo>
                    <a:pt x="0" y="214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4" name="Freeform 170"/>
            <p:cNvSpPr>
              <a:spLocks noChangeArrowheads="1"/>
            </p:cNvSpPr>
            <p:nvPr/>
          </p:nvSpPr>
          <p:spPr bwMode="auto">
            <a:xfrm>
              <a:off x="3528" y="3195"/>
              <a:ext cx="16" cy="1"/>
            </a:xfrm>
            <a:custGeom>
              <a:avLst/>
              <a:gdLst>
                <a:gd name="T0" fmla="*/ 0 w 138"/>
                <a:gd name="T1" fmla="*/ 0 h 1"/>
                <a:gd name="T2" fmla="*/ 137 w 138"/>
                <a:gd name="T3" fmla="*/ 0 h 1"/>
                <a:gd name="T4" fmla="*/ 138 w 13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" h="1">
                  <a:moveTo>
                    <a:pt x="0" y="0"/>
                  </a:moveTo>
                  <a:lnTo>
                    <a:pt x="137" y="0"/>
                  </a:lnTo>
                  <a:lnTo>
                    <a:pt x="138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5" name="Freeform 171"/>
            <p:cNvSpPr>
              <a:spLocks noChangeArrowheads="1"/>
            </p:cNvSpPr>
            <p:nvPr/>
          </p:nvSpPr>
          <p:spPr bwMode="auto">
            <a:xfrm>
              <a:off x="3255" y="3195"/>
              <a:ext cx="273" cy="1"/>
            </a:xfrm>
            <a:custGeom>
              <a:avLst/>
              <a:gdLst>
                <a:gd name="T0" fmla="*/ 0 w 2299"/>
                <a:gd name="T1" fmla="*/ 0 h 1"/>
                <a:gd name="T2" fmla="*/ 2298 w 2299"/>
                <a:gd name="T3" fmla="*/ 0 h 1"/>
                <a:gd name="T4" fmla="*/ 2299 w 229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99" h="1">
                  <a:moveTo>
                    <a:pt x="0" y="0"/>
                  </a:moveTo>
                  <a:lnTo>
                    <a:pt x="2298" y="0"/>
                  </a:lnTo>
                  <a:lnTo>
                    <a:pt x="2299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6" name="Freeform 172"/>
            <p:cNvSpPr>
              <a:spLocks noChangeArrowheads="1"/>
            </p:cNvSpPr>
            <p:nvPr/>
          </p:nvSpPr>
          <p:spPr bwMode="auto">
            <a:xfrm>
              <a:off x="3544" y="3241"/>
              <a:ext cx="280" cy="1"/>
            </a:xfrm>
            <a:custGeom>
              <a:avLst/>
              <a:gdLst>
                <a:gd name="T0" fmla="*/ 2339 w 2339"/>
                <a:gd name="T1" fmla="*/ 0 h 1"/>
                <a:gd name="T2" fmla="*/ 0 w 2339"/>
                <a:gd name="T3" fmla="*/ 0 h 1"/>
                <a:gd name="T4" fmla="*/ 1 w 23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39" h="1">
                  <a:moveTo>
                    <a:pt x="2339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7" name="Freeform 173"/>
            <p:cNvSpPr>
              <a:spLocks noChangeArrowheads="1"/>
            </p:cNvSpPr>
            <p:nvPr/>
          </p:nvSpPr>
          <p:spPr bwMode="auto">
            <a:xfrm>
              <a:off x="3544" y="3102"/>
              <a:ext cx="1" cy="139"/>
            </a:xfrm>
            <a:custGeom>
              <a:avLst/>
              <a:gdLst>
                <a:gd name="T0" fmla="*/ 0 w 1"/>
                <a:gd name="T1" fmla="*/ 0 h 1170"/>
                <a:gd name="T2" fmla="*/ 0 w 1"/>
                <a:gd name="T3" fmla="*/ 1170 h 1170"/>
                <a:gd name="T4" fmla="*/ 1 w 1"/>
                <a:gd name="T5" fmla="*/ 1170 h 1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170">
                  <a:moveTo>
                    <a:pt x="0" y="0"/>
                  </a:moveTo>
                  <a:lnTo>
                    <a:pt x="0" y="1170"/>
                  </a:lnTo>
                  <a:lnTo>
                    <a:pt x="1" y="117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8" name="Freeform 174"/>
            <p:cNvSpPr>
              <a:spLocks noChangeArrowheads="1"/>
            </p:cNvSpPr>
            <p:nvPr/>
          </p:nvSpPr>
          <p:spPr bwMode="auto">
            <a:xfrm>
              <a:off x="3824" y="3102"/>
              <a:ext cx="1" cy="139"/>
            </a:xfrm>
            <a:custGeom>
              <a:avLst/>
              <a:gdLst>
                <a:gd name="T0" fmla="*/ 0 w 1"/>
                <a:gd name="T1" fmla="*/ 1170 h 1170"/>
                <a:gd name="T2" fmla="*/ 0 w 1"/>
                <a:gd name="T3" fmla="*/ 0 h 1170"/>
                <a:gd name="T4" fmla="*/ 1 w 1"/>
                <a:gd name="T5" fmla="*/ 0 h 1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170">
                  <a:moveTo>
                    <a:pt x="0" y="117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9" name="Freeform 175"/>
            <p:cNvSpPr>
              <a:spLocks noChangeArrowheads="1"/>
            </p:cNvSpPr>
            <p:nvPr/>
          </p:nvSpPr>
          <p:spPr bwMode="auto">
            <a:xfrm>
              <a:off x="3824" y="3195"/>
              <a:ext cx="15" cy="1"/>
            </a:xfrm>
            <a:custGeom>
              <a:avLst/>
              <a:gdLst>
                <a:gd name="T0" fmla="*/ 0 w 139"/>
                <a:gd name="T1" fmla="*/ 0 h 1"/>
                <a:gd name="T2" fmla="*/ 138 w 139"/>
                <a:gd name="T3" fmla="*/ 0 h 1"/>
                <a:gd name="T4" fmla="*/ 139 w 1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9" h="1">
                  <a:moveTo>
                    <a:pt x="0" y="0"/>
                  </a:moveTo>
                  <a:lnTo>
                    <a:pt x="138" y="0"/>
                  </a:lnTo>
                  <a:lnTo>
                    <a:pt x="139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0" name="Freeform 176"/>
            <p:cNvSpPr>
              <a:spLocks noChangeArrowheads="1"/>
            </p:cNvSpPr>
            <p:nvPr/>
          </p:nvSpPr>
          <p:spPr bwMode="auto">
            <a:xfrm>
              <a:off x="3731" y="2579"/>
              <a:ext cx="464" cy="2"/>
            </a:xfrm>
            <a:custGeom>
              <a:avLst/>
              <a:gdLst>
                <a:gd name="T0" fmla="*/ 0 w 3898"/>
                <a:gd name="T1" fmla="*/ 0 h 2"/>
                <a:gd name="T2" fmla="*/ 3897 w 3898"/>
                <a:gd name="T3" fmla="*/ 0 h 2"/>
                <a:gd name="T4" fmla="*/ 3898 w 389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98" h="2">
                  <a:moveTo>
                    <a:pt x="0" y="0"/>
                  </a:moveTo>
                  <a:lnTo>
                    <a:pt x="3897" y="0"/>
                  </a:lnTo>
                  <a:lnTo>
                    <a:pt x="3898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1" name="Freeform 177"/>
            <p:cNvSpPr>
              <a:spLocks noChangeArrowheads="1"/>
            </p:cNvSpPr>
            <p:nvPr/>
          </p:nvSpPr>
          <p:spPr bwMode="auto">
            <a:xfrm>
              <a:off x="3683" y="2486"/>
              <a:ext cx="558" cy="1"/>
            </a:xfrm>
            <a:custGeom>
              <a:avLst/>
              <a:gdLst>
                <a:gd name="T0" fmla="*/ 0 w 4678"/>
                <a:gd name="T1" fmla="*/ 0 h 1"/>
                <a:gd name="T2" fmla="*/ 4677 w 4678"/>
                <a:gd name="T3" fmla="*/ 0 h 1"/>
                <a:gd name="T4" fmla="*/ 4678 w 467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78" h="1">
                  <a:moveTo>
                    <a:pt x="0" y="0"/>
                  </a:moveTo>
                  <a:lnTo>
                    <a:pt x="4677" y="0"/>
                  </a:lnTo>
                  <a:lnTo>
                    <a:pt x="4678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2" name="Freeform 178"/>
            <p:cNvSpPr>
              <a:spLocks noChangeArrowheads="1"/>
            </p:cNvSpPr>
            <p:nvPr/>
          </p:nvSpPr>
          <p:spPr bwMode="auto">
            <a:xfrm>
              <a:off x="3474" y="2382"/>
              <a:ext cx="976" cy="1"/>
            </a:xfrm>
            <a:custGeom>
              <a:avLst/>
              <a:gdLst>
                <a:gd name="T0" fmla="*/ 8183 w 8183"/>
                <a:gd name="T1" fmla="*/ 0 h 1"/>
                <a:gd name="T2" fmla="*/ 0 w 8183"/>
                <a:gd name="T3" fmla="*/ 0 h 1"/>
                <a:gd name="T4" fmla="*/ 1 w 818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183" h="1">
                  <a:moveTo>
                    <a:pt x="8183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3" name="Freeform 179"/>
            <p:cNvSpPr>
              <a:spLocks noChangeArrowheads="1"/>
            </p:cNvSpPr>
            <p:nvPr/>
          </p:nvSpPr>
          <p:spPr bwMode="auto">
            <a:xfrm>
              <a:off x="3902" y="2881"/>
              <a:ext cx="293" cy="1"/>
            </a:xfrm>
            <a:custGeom>
              <a:avLst/>
              <a:gdLst>
                <a:gd name="T0" fmla="*/ 2457 w 2457"/>
                <a:gd name="T1" fmla="*/ 0 h 1"/>
                <a:gd name="T2" fmla="*/ 0 w 2457"/>
                <a:gd name="T3" fmla="*/ 0 h 1"/>
                <a:gd name="T4" fmla="*/ 1 w 245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57" h="1">
                  <a:moveTo>
                    <a:pt x="2457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4" name="Freeform 180"/>
            <p:cNvSpPr>
              <a:spLocks noChangeArrowheads="1"/>
            </p:cNvSpPr>
            <p:nvPr/>
          </p:nvSpPr>
          <p:spPr bwMode="auto">
            <a:xfrm>
              <a:off x="3918" y="2973"/>
              <a:ext cx="322" cy="2"/>
            </a:xfrm>
            <a:custGeom>
              <a:avLst/>
              <a:gdLst>
                <a:gd name="T0" fmla="*/ 2710 w 2710"/>
                <a:gd name="T1" fmla="*/ 0 h 2"/>
                <a:gd name="T2" fmla="*/ 0 w 2710"/>
                <a:gd name="T3" fmla="*/ 0 h 2"/>
                <a:gd name="T4" fmla="*/ 1 w 2710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10" h="2">
                  <a:moveTo>
                    <a:pt x="2710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5" name="Freeform 181"/>
            <p:cNvSpPr>
              <a:spLocks noChangeArrowheads="1"/>
            </p:cNvSpPr>
            <p:nvPr/>
          </p:nvSpPr>
          <p:spPr bwMode="auto">
            <a:xfrm>
              <a:off x="3474" y="3078"/>
              <a:ext cx="47" cy="2"/>
            </a:xfrm>
            <a:custGeom>
              <a:avLst/>
              <a:gdLst>
                <a:gd name="T0" fmla="*/ 0 w 391"/>
                <a:gd name="T1" fmla="*/ 0 h 2"/>
                <a:gd name="T2" fmla="*/ 390 w 391"/>
                <a:gd name="T3" fmla="*/ 0 h 2"/>
                <a:gd name="T4" fmla="*/ 391 w 39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1" h="2">
                  <a:moveTo>
                    <a:pt x="0" y="0"/>
                  </a:moveTo>
                  <a:lnTo>
                    <a:pt x="390" y="0"/>
                  </a:lnTo>
                  <a:lnTo>
                    <a:pt x="39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6" name="Freeform 182"/>
            <p:cNvSpPr>
              <a:spLocks noChangeArrowheads="1"/>
            </p:cNvSpPr>
            <p:nvPr/>
          </p:nvSpPr>
          <p:spPr bwMode="auto">
            <a:xfrm>
              <a:off x="3544" y="2985"/>
              <a:ext cx="375" cy="2"/>
            </a:xfrm>
            <a:custGeom>
              <a:avLst/>
              <a:gdLst>
                <a:gd name="T0" fmla="*/ 3148 w 3148"/>
                <a:gd name="T1" fmla="*/ 0 h 2"/>
                <a:gd name="T2" fmla="*/ 0 w 3148"/>
                <a:gd name="T3" fmla="*/ 0 h 2"/>
                <a:gd name="T4" fmla="*/ 1 w 314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48" h="2">
                  <a:moveTo>
                    <a:pt x="3148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7" name="Freeform 183"/>
            <p:cNvSpPr>
              <a:spLocks noChangeArrowheads="1"/>
            </p:cNvSpPr>
            <p:nvPr/>
          </p:nvSpPr>
          <p:spPr bwMode="auto">
            <a:xfrm>
              <a:off x="3637" y="2532"/>
              <a:ext cx="27" cy="248"/>
            </a:xfrm>
            <a:custGeom>
              <a:avLst/>
              <a:gdLst>
                <a:gd name="T0" fmla="*/ 0 w 1"/>
                <a:gd name="T1" fmla="*/ 1948 h 1948"/>
                <a:gd name="T2" fmla="*/ 0 w 1"/>
                <a:gd name="T3" fmla="*/ 0 h 1948"/>
                <a:gd name="T4" fmla="*/ 1 w 1"/>
                <a:gd name="T5" fmla="*/ 0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948">
                  <a:moveTo>
                    <a:pt x="0" y="194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8" name="Freeform 184"/>
            <p:cNvSpPr>
              <a:spLocks noChangeArrowheads="1"/>
            </p:cNvSpPr>
            <p:nvPr/>
          </p:nvSpPr>
          <p:spPr bwMode="auto">
            <a:xfrm>
              <a:off x="3405" y="2451"/>
              <a:ext cx="1" cy="558"/>
            </a:xfrm>
            <a:custGeom>
              <a:avLst/>
              <a:gdLst>
                <a:gd name="T0" fmla="*/ 0 w 1"/>
                <a:gd name="T1" fmla="*/ 0 h 4679"/>
                <a:gd name="T2" fmla="*/ 0 w 1"/>
                <a:gd name="T3" fmla="*/ 4679 h 4679"/>
                <a:gd name="T4" fmla="*/ 1 w 1"/>
                <a:gd name="T5" fmla="*/ 4679 h 4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679">
                  <a:moveTo>
                    <a:pt x="0" y="0"/>
                  </a:moveTo>
                  <a:lnTo>
                    <a:pt x="0" y="4679"/>
                  </a:lnTo>
                  <a:lnTo>
                    <a:pt x="1" y="4679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9" name="Freeform 185"/>
            <p:cNvSpPr>
              <a:spLocks noChangeArrowheads="1"/>
            </p:cNvSpPr>
            <p:nvPr/>
          </p:nvSpPr>
          <p:spPr bwMode="auto">
            <a:xfrm>
              <a:off x="3498" y="2769"/>
              <a:ext cx="27" cy="170"/>
            </a:xfrm>
            <a:custGeom>
              <a:avLst/>
              <a:gdLst>
                <a:gd name="T0" fmla="*/ 0 w 1"/>
                <a:gd name="T1" fmla="*/ 1290 h 1290"/>
                <a:gd name="T2" fmla="*/ 0 w 1"/>
                <a:gd name="T3" fmla="*/ 0 h 1290"/>
                <a:gd name="T4" fmla="*/ 1 w 1"/>
                <a:gd name="T5" fmla="*/ 0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90">
                  <a:moveTo>
                    <a:pt x="0" y="129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0" name="Freeform 186"/>
            <p:cNvSpPr>
              <a:spLocks noChangeArrowheads="1"/>
            </p:cNvSpPr>
            <p:nvPr/>
          </p:nvSpPr>
          <p:spPr bwMode="auto">
            <a:xfrm>
              <a:off x="3498" y="2939"/>
              <a:ext cx="46" cy="46"/>
            </a:xfrm>
            <a:custGeom>
              <a:avLst/>
              <a:gdLst>
                <a:gd name="T0" fmla="*/ 0 w 390"/>
                <a:gd name="T1" fmla="*/ 0 h 390"/>
                <a:gd name="T2" fmla="*/ 113 w 390"/>
                <a:gd name="T3" fmla="*/ 276 h 390"/>
                <a:gd name="T4" fmla="*/ 389 w 390"/>
                <a:gd name="T5" fmla="*/ 390 h 390"/>
                <a:gd name="T6" fmla="*/ 390 w 390"/>
                <a:gd name="T7" fmla="*/ 39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0" h="390">
                  <a:moveTo>
                    <a:pt x="0" y="0"/>
                  </a:moveTo>
                  <a:lnTo>
                    <a:pt x="113" y="276"/>
                  </a:lnTo>
                  <a:lnTo>
                    <a:pt x="389" y="390"/>
                  </a:lnTo>
                  <a:lnTo>
                    <a:pt x="390" y="39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1" name="Freeform 187"/>
            <p:cNvSpPr>
              <a:spLocks noChangeArrowheads="1"/>
            </p:cNvSpPr>
            <p:nvPr/>
          </p:nvSpPr>
          <p:spPr bwMode="auto">
            <a:xfrm>
              <a:off x="3731" y="2579"/>
              <a:ext cx="0" cy="170"/>
            </a:xfrm>
            <a:custGeom>
              <a:avLst/>
              <a:gdLst>
                <a:gd name="T0" fmla="*/ 0 w 1"/>
                <a:gd name="T1" fmla="*/ 1438 h 1438"/>
                <a:gd name="T2" fmla="*/ 0 w 1"/>
                <a:gd name="T3" fmla="*/ 0 h 1438"/>
                <a:gd name="T4" fmla="*/ 1 w 1"/>
                <a:gd name="T5" fmla="*/ 0 h 1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38">
                  <a:moveTo>
                    <a:pt x="0" y="143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2" name="Freeform 188"/>
            <p:cNvSpPr>
              <a:spLocks noChangeArrowheads="1"/>
            </p:cNvSpPr>
            <p:nvPr/>
          </p:nvSpPr>
          <p:spPr bwMode="auto">
            <a:xfrm>
              <a:off x="3405" y="2382"/>
              <a:ext cx="69" cy="69"/>
            </a:xfrm>
            <a:custGeom>
              <a:avLst/>
              <a:gdLst>
                <a:gd name="T0" fmla="*/ 585 w 585"/>
                <a:gd name="T1" fmla="*/ 0 h 586"/>
                <a:gd name="T2" fmla="*/ 292 w 585"/>
                <a:gd name="T3" fmla="*/ 78 h 586"/>
                <a:gd name="T4" fmla="*/ 79 w 585"/>
                <a:gd name="T5" fmla="*/ 293 h 586"/>
                <a:gd name="T6" fmla="*/ 0 w 585"/>
                <a:gd name="T7" fmla="*/ 586 h 586"/>
                <a:gd name="T8" fmla="*/ 1 w 585"/>
                <a:gd name="T9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5" h="586">
                  <a:moveTo>
                    <a:pt x="585" y="0"/>
                  </a:moveTo>
                  <a:lnTo>
                    <a:pt x="292" y="78"/>
                  </a:lnTo>
                  <a:lnTo>
                    <a:pt x="79" y="293"/>
                  </a:lnTo>
                  <a:lnTo>
                    <a:pt x="0" y="586"/>
                  </a:lnTo>
                  <a:lnTo>
                    <a:pt x="1" y="586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3" name="Freeform 189"/>
            <p:cNvSpPr>
              <a:spLocks noChangeArrowheads="1"/>
            </p:cNvSpPr>
            <p:nvPr/>
          </p:nvSpPr>
          <p:spPr bwMode="auto">
            <a:xfrm>
              <a:off x="3637" y="2486"/>
              <a:ext cx="46" cy="46"/>
            </a:xfrm>
            <a:custGeom>
              <a:avLst/>
              <a:gdLst>
                <a:gd name="T0" fmla="*/ 390 w 390"/>
                <a:gd name="T1" fmla="*/ 0 h 389"/>
                <a:gd name="T2" fmla="*/ 115 w 390"/>
                <a:gd name="T3" fmla="*/ 114 h 389"/>
                <a:gd name="T4" fmla="*/ 0 w 390"/>
                <a:gd name="T5" fmla="*/ 389 h 389"/>
                <a:gd name="T6" fmla="*/ 1 w 390"/>
                <a:gd name="T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0" h="389">
                  <a:moveTo>
                    <a:pt x="390" y="0"/>
                  </a:moveTo>
                  <a:lnTo>
                    <a:pt x="115" y="114"/>
                  </a:lnTo>
                  <a:lnTo>
                    <a:pt x="0" y="389"/>
                  </a:lnTo>
                  <a:lnTo>
                    <a:pt x="1" y="389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4" name="Freeform 190"/>
            <p:cNvSpPr>
              <a:spLocks noChangeArrowheads="1"/>
            </p:cNvSpPr>
            <p:nvPr/>
          </p:nvSpPr>
          <p:spPr bwMode="auto">
            <a:xfrm>
              <a:off x="4288" y="2532"/>
              <a:ext cx="1" cy="395"/>
            </a:xfrm>
            <a:custGeom>
              <a:avLst/>
              <a:gdLst>
                <a:gd name="T0" fmla="*/ 0 w 1"/>
                <a:gd name="T1" fmla="*/ 0 h 3316"/>
                <a:gd name="T2" fmla="*/ 0 w 1"/>
                <a:gd name="T3" fmla="*/ 3316 h 3316"/>
                <a:gd name="T4" fmla="*/ 1 w 1"/>
                <a:gd name="T5" fmla="*/ 3316 h 3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316">
                  <a:moveTo>
                    <a:pt x="0" y="0"/>
                  </a:moveTo>
                  <a:lnTo>
                    <a:pt x="0" y="3316"/>
                  </a:lnTo>
                  <a:lnTo>
                    <a:pt x="1" y="3316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5" name="Freeform 191"/>
            <p:cNvSpPr>
              <a:spLocks noChangeArrowheads="1"/>
            </p:cNvSpPr>
            <p:nvPr/>
          </p:nvSpPr>
          <p:spPr bwMode="auto">
            <a:xfrm>
              <a:off x="4195" y="2579"/>
              <a:ext cx="0" cy="302"/>
            </a:xfrm>
            <a:custGeom>
              <a:avLst/>
              <a:gdLst>
                <a:gd name="T0" fmla="*/ 0 w 1"/>
                <a:gd name="T1" fmla="*/ 0 h 2536"/>
                <a:gd name="T2" fmla="*/ 0 w 1"/>
                <a:gd name="T3" fmla="*/ 2536 h 2536"/>
                <a:gd name="T4" fmla="*/ 1 w 1"/>
                <a:gd name="T5" fmla="*/ 2536 h 2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36">
                  <a:moveTo>
                    <a:pt x="0" y="0"/>
                  </a:moveTo>
                  <a:lnTo>
                    <a:pt x="0" y="2536"/>
                  </a:lnTo>
                  <a:lnTo>
                    <a:pt x="1" y="2536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6" name="Freeform 192"/>
            <p:cNvSpPr>
              <a:spLocks noChangeArrowheads="1"/>
            </p:cNvSpPr>
            <p:nvPr/>
          </p:nvSpPr>
          <p:spPr bwMode="auto">
            <a:xfrm>
              <a:off x="4240" y="2927"/>
              <a:ext cx="48" cy="46"/>
            </a:xfrm>
            <a:custGeom>
              <a:avLst/>
              <a:gdLst>
                <a:gd name="T0" fmla="*/ 0 w 391"/>
                <a:gd name="T1" fmla="*/ 390 h 390"/>
                <a:gd name="T2" fmla="*/ 275 w 391"/>
                <a:gd name="T3" fmla="*/ 275 h 390"/>
                <a:gd name="T4" fmla="*/ 390 w 391"/>
                <a:gd name="T5" fmla="*/ 0 h 390"/>
                <a:gd name="T6" fmla="*/ 391 w 391"/>
                <a:gd name="T7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1" h="390">
                  <a:moveTo>
                    <a:pt x="0" y="390"/>
                  </a:moveTo>
                  <a:lnTo>
                    <a:pt x="275" y="275"/>
                  </a:lnTo>
                  <a:lnTo>
                    <a:pt x="390" y="0"/>
                  </a:lnTo>
                  <a:lnTo>
                    <a:pt x="39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7" name="Freeform 193"/>
            <p:cNvSpPr>
              <a:spLocks noChangeArrowheads="1"/>
            </p:cNvSpPr>
            <p:nvPr/>
          </p:nvSpPr>
          <p:spPr bwMode="auto">
            <a:xfrm>
              <a:off x="4240" y="2486"/>
              <a:ext cx="48" cy="46"/>
            </a:xfrm>
            <a:custGeom>
              <a:avLst/>
              <a:gdLst>
                <a:gd name="T0" fmla="*/ 390 w 390"/>
                <a:gd name="T1" fmla="*/ 389 h 389"/>
                <a:gd name="T2" fmla="*/ 275 w 390"/>
                <a:gd name="T3" fmla="*/ 114 h 389"/>
                <a:gd name="T4" fmla="*/ 0 w 390"/>
                <a:gd name="T5" fmla="*/ 0 h 389"/>
                <a:gd name="T6" fmla="*/ 1 w 390"/>
                <a:gd name="T7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0" h="389">
                  <a:moveTo>
                    <a:pt x="390" y="389"/>
                  </a:moveTo>
                  <a:lnTo>
                    <a:pt x="275" y="114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8" name="Freeform 194"/>
            <p:cNvSpPr>
              <a:spLocks noChangeArrowheads="1"/>
            </p:cNvSpPr>
            <p:nvPr/>
          </p:nvSpPr>
          <p:spPr bwMode="auto">
            <a:xfrm>
              <a:off x="4670" y="3021"/>
              <a:ext cx="175" cy="174"/>
            </a:xfrm>
            <a:custGeom>
              <a:avLst/>
              <a:gdLst>
                <a:gd name="T0" fmla="*/ 0 w 1462"/>
                <a:gd name="T1" fmla="*/ 1462 h 1462"/>
                <a:gd name="T2" fmla="*/ 560 w 1462"/>
                <a:gd name="T3" fmla="*/ 1350 h 1462"/>
                <a:gd name="T4" fmla="*/ 1033 w 1462"/>
                <a:gd name="T5" fmla="*/ 1034 h 1462"/>
                <a:gd name="T6" fmla="*/ 1351 w 1462"/>
                <a:gd name="T7" fmla="*/ 560 h 1462"/>
                <a:gd name="T8" fmla="*/ 1461 w 1462"/>
                <a:gd name="T9" fmla="*/ 0 h 1462"/>
                <a:gd name="T10" fmla="*/ 1462 w 1462"/>
                <a:gd name="T11" fmla="*/ 0 h 1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2" h="1462">
                  <a:moveTo>
                    <a:pt x="0" y="1462"/>
                  </a:moveTo>
                  <a:lnTo>
                    <a:pt x="560" y="1350"/>
                  </a:lnTo>
                  <a:lnTo>
                    <a:pt x="1033" y="1034"/>
                  </a:lnTo>
                  <a:lnTo>
                    <a:pt x="1351" y="560"/>
                  </a:lnTo>
                  <a:lnTo>
                    <a:pt x="1461" y="0"/>
                  </a:lnTo>
                  <a:lnTo>
                    <a:pt x="1462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9" name="Freeform 195"/>
            <p:cNvSpPr>
              <a:spLocks noChangeArrowheads="1"/>
            </p:cNvSpPr>
            <p:nvPr/>
          </p:nvSpPr>
          <p:spPr bwMode="auto">
            <a:xfrm>
              <a:off x="4845" y="2439"/>
              <a:ext cx="1" cy="582"/>
            </a:xfrm>
            <a:custGeom>
              <a:avLst/>
              <a:gdLst>
                <a:gd name="T0" fmla="*/ 0 w 1"/>
                <a:gd name="T1" fmla="*/ 4875 h 4875"/>
                <a:gd name="T2" fmla="*/ 0 w 1"/>
                <a:gd name="T3" fmla="*/ 0 h 4875"/>
                <a:gd name="T4" fmla="*/ 1 w 1"/>
                <a:gd name="T5" fmla="*/ 0 h 4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875">
                  <a:moveTo>
                    <a:pt x="0" y="487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0" name="Freeform 196"/>
            <p:cNvSpPr>
              <a:spLocks noChangeArrowheads="1"/>
            </p:cNvSpPr>
            <p:nvPr/>
          </p:nvSpPr>
          <p:spPr bwMode="auto">
            <a:xfrm>
              <a:off x="4520" y="2451"/>
              <a:ext cx="1" cy="558"/>
            </a:xfrm>
            <a:custGeom>
              <a:avLst/>
              <a:gdLst>
                <a:gd name="T0" fmla="*/ 0 w 1"/>
                <a:gd name="T1" fmla="*/ 4679 h 4679"/>
                <a:gd name="T2" fmla="*/ 0 w 1"/>
                <a:gd name="T3" fmla="*/ 0 h 4679"/>
                <a:gd name="T4" fmla="*/ 1 w 1"/>
                <a:gd name="T5" fmla="*/ 0 h 4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679">
                  <a:moveTo>
                    <a:pt x="0" y="467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1" name="Freeform 197"/>
            <p:cNvSpPr>
              <a:spLocks noChangeArrowheads="1"/>
            </p:cNvSpPr>
            <p:nvPr/>
          </p:nvSpPr>
          <p:spPr bwMode="auto">
            <a:xfrm>
              <a:off x="4613" y="2961"/>
              <a:ext cx="117" cy="117"/>
            </a:xfrm>
            <a:custGeom>
              <a:avLst/>
              <a:gdLst>
                <a:gd name="T0" fmla="*/ 975 w 976"/>
                <a:gd name="T1" fmla="*/ 488 h 975"/>
                <a:gd name="T2" fmla="*/ 831 w 976"/>
                <a:gd name="T3" fmla="*/ 143 h 975"/>
                <a:gd name="T4" fmla="*/ 487 w 976"/>
                <a:gd name="T5" fmla="*/ 0 h 975"/>
                <a:gd name="T6" fmla="*/ 143 w 976"/>
                <a:gd name="T7" fmla="*/ 143 h 975"/>
                <a:gd name="T8" fmla="*/ 0 w 976"/>
                <a:gd name="T9" fmla="*/ 488 h 975"/>
                <a:gd name="T10" fmla="*/ 143 w 976"/>
                <a:gd name="T11" fmla="*/ 832 h 975"/>
                <a:gd name="T12" fmla="*/ 487 w 976"/>
                <a:gd name="T13" fmla="*/ 975 h 975"/>
                <a:gd name="T14" fmla="*/ 831 w 976"/>
                <a:gd name="T15" fmla="*/ 832 h 975"/>
                <a:gd name="T16" fmla="*/ 975 w 976"/>
                <a:gd name="T17" fmla="*/ 488 h 975"/>
                <a:gd name="T18" fmla="*/ 976 w 976"/>
                <a:gd name="T19" fmla="*/ 488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6" h="975">
                  <a:moveTo>
                    <a:pt x="975" y="488"/>
                  </a:moveTo>
                  <a:lnTo>
                    <a:pt x="831" y="143"/>
                  </a:lnTo>
                  <a:lnTo>
                    <a:pt x="487" y="0"/>
                  </a:lnTo>
                  <a:lnTo>
                    <a:pt x="143" y="143"/>
                  </a:lnTo>
                  <a:lnTo>
                    <a:pt x="0" y="488"/>
                  </a:lnTo>
                  <a:lnTo>
                    <a:pt x="143" y="832"/>
                  </a:lnTo>
                  <a:lnTo>
                    <a:pt x="487" y="975"/>
                  </a:lnTo>
                  <a:lnTo>
                    <a:pt x="831" y="832"/>
                  </a:lnTo>
                  <a:lnTo>
                    <a:pt x="975" y="488"/>
                  </a:lnTo>
                  <a:lnTo>
                    <a:pt x="976" y="488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2" name="Freeform 198"/>
            <p:cNvSpPr>
              <a:spLocks noChangeArrowheads="1"/>
            </p:cNvSpPr>
            <p:nvPr/>
          </p:nvSpPr>
          <p:spPr bwMode="auto">
            <a:xfrm>
              <a:off x="4670" y="2266"/>
              <a:ext cx="175" cy="173"/>
            </a:xfrm>
            <a:custGeom>
              <a:avLst/>
              <a:gdLst>
                <a:gd name="T0" fmla="*/ 1461 w 1461"/>
                <a:gd name="T1" fmla="*/ 1462 h 1462"/>
                <a:gd name="T2" fmla="*/ 1351 w 1461"/>
                <a:gd name="T3" fmla="*/ 902 h 1462"/>
                <a:gd name="T4" fmla="*/ 1033 w 1461"/>
                <a:gd name="T5" fmla="*/ 427 h 1462"/>
                <a:gd name="T6" fmla="*/ 560 w 1461"/>
                <a:gd name="T7" fmla="*/ 111 h 1462"/>
                <a:gd name="T8" fmla="*/ 0 w 1461"/>
                <a:gd name="T9" fmla="*/ 0 h 1462"/>
                <a:gd name="T10" fmla="*/ 1 w 1461"/>
                <a:gd name="T11" fmla="*/ 0 h 1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1" h="1462">
                  <a:moveTo>
                    <a:pt x="1461" y="1462"/>
                  </a:moveTo>
                  <a:lnTo>
                    <a:pt x="1351" y="902"/>
                  </a:lnTo>
                  <a:lnTo>
                    <a:pt x="1033" y="427"/>
                  </a:lnTo>
                  <a:lnTo>
                    <a:pt x="560" y="11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3" name="Freeform 199"/>
            <p:cNvSpPr>
              <a:spLocks noChangeArrowheads="1"/>
            </p:cNvSpPr>
            <p:nvPr/>
          </p:nvSpPr>
          <p:spPr bwMode="auto">
            <a:xfrm>
              <a:off x="4613" y="2382"/>
              <a:ext cx="117" cy="116"/>
            </a:xfrm>
            <a:custGeom>
              <a:avLst/>
              <a:gdLst>
                <a:gd name="T0" fmla="*/ 975 w 976"/>
                <a:gd name="T1" fmla="*/ 488 h 976"/>
                <a:gd name="T2" fmla="*/ 831 w 976"/>
                <a:gd name="T3" fmla="*/ 143 h 976"/>
                <a:gd name="T4" fmla="*/ 487 w 976"/>
                <a:gd name="T5" fmla="*/ 0 h 976"/>
                <a:gd name="T6" fmla="*/ 143 w 976"/>
                <a:gd name="T7" fmla="*/ 143 h 976"/>
                <a:gd name="T8" fmla="*/ 0 w 976"/>
                <a:gd name="T9" fmla="*/ 488 h 976"/>
                <a:gd name="T10" fmla="*/ 143 w 976"/>
                <a:gd name="T11" fmla="*/ 832 h 976"/>
                <a:gd name="T12" fmla="*/ 487 w 976"/>
                <a:gd name="T13" fmla="*/ 976 h 976"/>
                <a:gd name="T14" fmla="*/ 831 w 976"/>
                <a:gd name="T15" fmla="*/ 832 h 976"/>
                <a:gd name="T16" fmla="*/ 975 w 976"/>
                <a:gd name="T17" fmla="*/ 488 h 976"/>
                <a:gd name="T18" fmla="*/ 976 w 976"/>
                <a:gd name="T19" fmla="*/ 488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6" h="976">
                  <a:moveTo>
                    <a:pt x="975" y="488"/>
                  </a:moveTo>
                  <a:lnTo>
                    <a:pt x="831" y="143"/>
                  </a:lnTo>
                  <a:lnTo>
                    <a:pt x="487" y="0"/>
                  </a:lnTo>
                  <a:lnTo>
                    <a:pt x="143" y="143"/>
                  </a:lnTo>
                  <a:lnTo>
                    <a:pt x="0" y="488"/>
                  </a:lnTo>
                  <a:lnTo>
                    <a:pt x="143" y="832"/>
                  </a:lnTo>
                  <a:lnTo>
                    <a:pt x="487" y="976"/>
                  </a:lnTo>
                  <a:lnTo>
                    <a:pt x="831" y="832"/>
                  </a:lnTo>
                  <a:lnTo>
                    <a:pt x="975" y="488"/>
                  </a:lnTo>
                  <a:lnTo>
                    <a:pt x="976" y="488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4" name="Freeform 200"/>
            <p:cNvSpPr>
              <a:spLocks noChangeArrowheads="1"/>
            </p:cNvSpPr>
            <p:nvPr/>
          </p:nvSpPr>
          <p:spPr bwMode="auto">
            <a:xfrm>
              <a:off x="3846" y="3078"/>
              <a:ext cx="604" cy="2"/>
            </a:xfrm>
            <a:custGeom>
              <a:avLst/>
              <a:gdLst>
                <a:gd name="T0" fmla="*/ 0 w 5067"/>
                <a:gd name="T1" fmla="*/ 0 h 2"/>
                <a:gd name="T2" fmla="*/ 5066 w 5067"/>
                <a:gd name="T3" fmla="*/ 0 h 2"/>
                <a:gd name="T4" fmla="*/ 5067 w 5067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67" h="2">
                  <a:moveTo>
                    <a:pt x="0" y="0"/>
                  </a:moveTo>
                  <a:lnTo>
                    <a:pt x="5066" y="0"/>
                  </a:lnTo>
                  <a:lnTo>
                    <a:pt x="5067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5" name="Freeform 201"/>
            <p:cNvSpPr>
              <a:spLocks noChangeArrowheads="1"/>
            </p:cNvSpPr>
            <p:nvPr/>
          </p:nvSpPr>
          <p:spPr bwMode="auto">
            <a:xfrm>
              <a:off x="3887" y="2869"/>
              <a:ext cx="27" cy="202"/>
            </a:xfrm>
            <a:custGeom>
              <a:avLst/>
              <a:gdLst>
                <a:gd name="T0" fmla="*/ 0 w 4398"/>
                <a:gd name="T1" fmla="*/ 356 h 2767"/>
                <a:gd name="T2" fmla="*/ 790 w 4398"/>
                <a:gd name="T3" fmla="*/ 306 h 2767"/>
                <a:gd name="T4" fmla="*/ 1631 w 4398"/>
                <a:gd name="T5" fmla="*/ 192 h 2767"/>
                <a:gd name="T6" fmla="*/ 2510 w 4398"/>
                <a:gd name="T7" fmla="*/ 37 h 2767"/>
                <a:gd name="T8" fmla="*/ 2928 w 4398"/>
                <a:gd name="T9" fmla="*/ 0 h 2767"/>
                <a:gd name="T10" fmla="*/ 3306 w 4398"/>
                <a:gd name="T11" fmla="*/ 30 h 2767"/>
                <a:gd name="T12" fmla="*/ 3627 w 4398"/>
                <a:gd name="T13" fmla="*/ 153 h 2767"/>
                <a:gd name="T14" fmla="*/ 3874 w 4398"/>
                <a:gd name="T15" fmla="*/ 393 h 2767"/>
                <a:gd name="T16" fmla="*/ 4051 w 4398"/>
                <a:gd name="T17" fmla="*/ 733 h 2767"/>
                <a:gd name="T18" fmla="*/ 4175 w 4398"/>
                <a:gd name="T19" fmla="*/ 1136 h 2767"/>
                <a:gd name="T20" fmla="*/ 4316 w 4398"/>
                <a:gd name="T21" fmla="*/ 1982 h 2767"/>
                <a:gd name="T22" fmla="*/ 4396 w 4398"/>
                <a:gd name="T23" fmla="*/ 2767 h 2767"/>
                <a:gd name="T24" fmla="*/ 4398 w 4398"/>
                <a:gd name="T25" fmla="*/ 2767 h 2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98" h="2767">
                  <a:moveTo>
                    <a:pt x="0" y="356"/>
                  </a:moveTo>
                  <a:lnTo>
                    <a:pt x="790" y="306"/>
                  </a:lnTo>
                  <a:lnTo>
                    <a:pt x="1631" y="192"/>
                  </a:lnTo>
                  <a:lnTo>
                    <a:pt x="2510" y="37"/>
                  </a:lnTo>
                  <a:lnTo>
                    <a:pt x="2928" y="0"/>
                  </a:lnTo>
                  <a:lnTo>
                    <a:pt x="3306" y="30"/>
                  </a:lnTo>
                  <a:lnTo>
                    <a:pt x="3627" y="153"/>
                  </a:lnTo>
                  <a:lnTo>
                    <a:pt x="3874" y="393"/>
                  </a:lnTo>
                  <a:lnTo>
                    <a:pt x="4051" y="733"/>
                  </a:lnTo>
                  <a:lnTo>
                    <a:pt x="4175" y="1136"/>
                  </a:lnTo>
                  <a:lnTo>
                    <a:pt x="4316" y="1982"/>
                  </a:lnTo>
                  <a:lnTo>
                    <a:pt x="4396" y="2767"/>
                  </a:lnTo>
                  <a:lnTo>
                    <a:pt x="4398" y="2767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2500910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2" dur="2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/>
      <p:bldP spid="105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ChangeArrowheads="1"/>
          </p:cNvSpPr>
          <p:nvPr/>
        </p:nvSpPr>
        <p:spPr bwMode="auto">
          <a:xfrm>
            <a:off x="836685" y="321469"/>
            <a:ext cx="3437659" cy="476250"/>
          </a:xfrm>
          <a:prstGeom prst="rect">
            <a:avLst/>
          </a:prstGeom>
          <a:solidFill>
            <a:srgbClr val="0000FF"/>
          </a:solidFill>
        </p:spPr>
        <p:txBody>
          <a:bodyPr/>
          <a:lstStyle/>
          <a:p>
            <a:pPr marL="838200" indent="-838200">
              <a:lnSpc>
                <a:spcPct val="90000"/>
              </a:lnSpc>
              <a:spcBef>
                <a:spcPct val="0"/>
              </a:spcBef>
            </a:pPr>
            <a:r>
              <a:rPr lang="zh-CN" altLang="en-US" sz="24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rPr>
              <a:t>局部剖视图的适用范围</a:t>
            </a: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2532064" y="5518151"/>
            <a:ext cx="732313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63538" indent="-363538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zh-CN" sz="1800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Symbol" panose="05050102010706020507" pitchFamily="18" charset="2"/>
              </a:rPr>
              <a:t>★  </a:t>
            </a:r>
            <a:r>
              <a:rPr lang="zh-CN" altLang="en-US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因对称机件的轮廓线与中心线重合而不能采用半剖视图时，采用局部剖视图。</a:t>
            </a:r>
          </a:p>
        </p:txBody>
      </p:sp>
      <p:grpSp>
        <p:nvGrpSpPr>
          <p:cNvPr id="4" name="Group 4"/>
          <p:cNvGrpSpPr>
            <a:grpSpLocks/>
          </p:cNvGrpSpPr>
          <p:nvPr/>
        </p:nvGrpSpPr>
        <p:grpSpPr bwMode="auto">
          <a:xfrm>
            <a:off x="6845303" y="814388"/>
            <a:ext cx="1722439" cy="4475162"/>
            <a:chOff x="3352" y="513"/>
            <a:chExt cx="1085" cy="2819"/>
          </a:xfrm>
        </p:grpSpPr>
        <p:sp>
          <p:nvSpPr>
            <p:cNvPr id="5" name="Freeform 5"/>
            <p:cNvSpPr>
              <a:spLocks noChangeArrowheads="1"/>
            </p:cNvSpPr>
            <p:nvPr/>
          </p:nvSpPr>
          <p:spPr bwMode="auto">
            <a:xfrm>
              <a:off x="3947" y="1334"/>
              <a:ext cx="77" cy="206"/>
            </a:xfrm>
            <a:custGeom>
              <a:avLst/>
              <a:gdLst>
                <a:gd name="T0" fmla="*/ 0 w 77"/>
                <a:gd name="T1" fmla="*/ 0 h 206"/>
                <a:gd name="T2" fmla="*/ 5 w 77"/>
                <a:gd name="T3" fmla="*/ 9 h 206"/>
                <a:gd name="T4" fmla="*/ 10 w 77"/>
                <a:gd name="T5" fmla="*/ 19 h 206"/>
                <a:gd name="T6" fmla="*/ 10 w 77"/>
                <a:gd name="T7" fmla="*/ 29 h 206"/>
                <a:gd name="T8" fmla="*/ 15 w 77"/>
                <a:gd name="T9" fmla="*/ 33 h 206"/>
                <a:gd name="T10" fmla="*/ 15 w 77"/>
                <a:gd name="T11" fmla="*/ 43 h 206"/>
                <a:gd name="T12" fmla="*/ 19 w 77"/>
                <a:gd name="T13" fmla="*/ 53 h 206"/>
                <a:gd name="T14" fmla="*/ 19 w 77"/>
                <a:gd name="T15" fmla="*/ 62 h 206"/>
                <a:gd name="T16" fmla="*/ 24 w 77"/>
                <a:gd name="T17" fmla="*/ 72 h 206"/>
                <a:gd name="T18" fmla="*/ 29 w 77"/>
                <a:gd name="T19" fmla="*/ 77 h 206"/>
                <a:gd name="T20" fmla="*/ 29 w 77"/>
                <a:gd name="T21" fmla="*/ 86 h 206"/>
                <a:gd name="T22" fmla="*/ 34 w 77"/>
                <a:gd name="T23" fmla="*/ 96 h 206"/>
                <a:gd name="T24" fmla="*/ 34 w 77"/>
                <a:gd name="T25" fmla="*/ 105 h 206"/>
                <a:gd name="T26" fmla="*/ 39 w 77"/>
                <a:gd name="T27" fmla="*/ 110 h 206"/>
                <a:gd name="T28" fmla="*/ 43 w 77"/>
                <a:gd name="T29" fmla="*/ 120 h 206"/>
                <a:gd name="T30" fmla="*/ 43 w 77"/>
                <a:gd name="T31" fmla="*/ 129 h 206"/>
                <a:gd name="T32" fmla="*/ 48 w 77"/>
                <a:gd name="T33" fmla="*/ 139 h 206"/>
                <a:gd name="T34" fmla="*/ 53 w 77"/>
                <a:gd name="T35" fmla="*/ 149 h 206"/>
                <a:gd name="T36" fmla="*/ 53 w 77"/>
                <a:gd name="T37" fmla="*/ 153 h 206"/>
                <a:gd name="T38" fmla="*/ 58 w 77"/>
                <a:gd name="T39" fmla="*/ 163 h 206"/>
                <a:gd name="T40" fmla="*/ 63 w 77"/>
                <a:gd name="T41" fmla="*/ 173 h 206"/>
                <a:gd name="T42" fmla="*/ 63 w 77"/>
                <a:gd name="T43" fmla="*/ 173 h 206"/>
                <a:gd name="T44" fmla="*/ 63 w 77"/>
                <a:gd name="T45" fmla="*/ 177 h 206"/>
                <a:gd name="T46" fmla="*/ 63 w 77"/>
                <a:gd name="T47" fmla="*/ 177 h 206"/>
                <a:gd name="T48" fmla="*/ 63 w 77"/>
                <a:gd name="T49" fmla="*/ 177 h 206"/>
                <a:gd name="T50" fmla="*/ 63 w 77"/>
                <a:gd name="T51" fmla="*/ 182 h 206"/>
                <a:gd name="T52" fmla="*/ 67 w 77"/>
                <a:gd name="T53" fmla="*/ 182 h 206"/>
                <a:gd name="T54" fmla="*/ 67 w 77"/>
                <a:gd name="T55" fmla="*/ 182 h 206"/>
                <a:gd name="T56" fmla="*/ 67 w 77"/>
                <a:gd name="T57" fmla="*/ 187 h 206"/>
                <a:gd name="T58" fmla="*/ 67 w 77"/>
                <a:gd name="T59" fmla="*/ 187 h 206"/>
                <a:gd name="T60" fmla="*/ 67 w 77"/>
                <a:gd name="T61" fmla="*/ 192 h 206"/>
                <a:gd name="T62" fmla="*/ 67 w 77"/>
                <a:gd name="T63" fmla="*/ 192 h 206"/>
                <a:gd name="T64" fmla="*/ 72 w 77"/>
                <a:gd name="T65" fmla="*/ 192 h 206"/>
                <a:gd name="T66" fmla="*/ 72 w 77"/>
                <a:gd name="T67" fmla="*/ 197 h 206"/>
                <a:gd name="T68" fmla="*/ 72 w 77"/>
                <a:gd name="T69" fmla="*/ 197 h 206"/>
                <a:gd name="T70" fmla="*/ 72 w 77"/>
                <a:gd name="T71" fmla="*/ 197 h 206"/>
                <a:gd name="T72" fmla="*/ 72 w 77"/>
                <a:gd name="T73" fmla="*/ 201 h 206"/>
                <a:gd name="T74" fmla="*/ 72 w 77"/>
                <a:gd name="T75" fmla="*/ 201 h 206"/>
                <a:gd name="T76" fmla="*/ 72 w 77"/>
                <a:gd name="T77" fmla="*/ 201 h 206"/>
                <a:gd name="T78" fmla="*/ 77 w 77"/>
                <a:gd name="T79" fmla="*/ 206 h 206"/>
                <a:gd name="T80" fmla="*/ 77 w 77"/>
                <a:gd name="T81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206">
                  <a:moveTo>
                    <a:pt x="0" y="0"/>
                  </a:moveTo>
                  <a:lnTo>
                    <a:pt x="5" y="9"/>
                  </a:lnTo>
                  <a:lnTo>
                    <a:pt x="10" y="19"/>
                  </a:lnTo>
                  <a:lnTo>
                    <a:pt x="10" y="29"/>
                  </a:lnTo>
                  <a:lnTo>
                    <a:pt x="15" y="33"/>
                  </a:lnTo>
                  <a:lnTo>
                    <a:pt x="15" y="43"/>
                  </a:lnTo>
                  <a:lnTo>
                    <a:pt x="19" y="53"/>
                  </a:lnTo>
                  <a:lnTo>
                    <a:pt x="19" y="62"/>
                  </a:lnTo>
                  <a:lnTo>
                    <a:pt x="24" y="72"/>
                  </a:lnTo>
                  <a:lnTo>
                    <a:pt x="29" y="77"/>
                  </a:lnTo>
                  <a:lnTo>
                    <a:pt x="29" y="86"/>
                  </a:lnTo>
                  <a:lnTo>
                    <a:pt x="34" y="96"/>
                  </a:lnTo>
                  <a:lnTo>
                    <a:pt x="34" y="105"/>
                  </a:lnTo>
                  <a:lnTo>
                    <a:pt x="39" y="110"/>
                  </a:lnTo>
                  <a:lnTo>
                    <a:pt x="43" y="120"/>
                  </a:lnTo>
                  <a:lnTo>
                    <a:pt x="43" y="129"/>
                  </a:lnTo>
                  <a:lnTo>
                    <a:pt x="48" y="139"/>
                  </a:lnTo>
                  <a:lnTo>
                    <a:pt x="53" y="149"/>
                  </a:lnTo>
                  <a:lnTo>
                    <a:pt x="53" y="153"/>
                  </a:lnTo>
                  <a:lnTo>
                    <a:pt x="58" y="163"/>
                  </a:lnTo>
                  <a:lnTo>
                    <a:pt x="63" y="173"/>
                  </a:lnTo>
                  <a:lnTo>
                    <a:pt x="63" y="177"/>
                  </a:lnTo>
                  <a:lnTo>
                    <a:pt x="63" y="182"/>
                  </a:lnTo>
                  <a:lnTo>
                    <a:pt x="67" y="182"/>
                  </a:lnTo>
                  <a:lnTo>
                    <a:pt x="67" y="187"/>
                  </a:lnTo>
                  <a:lnTo>
                    <a:pt x="67" y="192"/>
                  </a:lnTo>
                  <a:lnTo>
                    <a:pt x="72" y="192"/>
                  </a:lnTo>
                  <a:lnTo>
                    <a:pt x="72" y="197"/>
                  </a:lnTo>
                  <a:lnTo>
                    <a:pt x="72" y="201"/>
                  </a:lnTo>
                  <a:lnTo>
                    <a:pt x="77" y="206"/>
                  </a:lnTo>
                </a:path>
              </a:pathLst>
            </a:cu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" name="Freeform 6"/>
            <p:cNvSpPr>
              <a:spLocks noChangeArrowheads="1"/>
            </p:cNvSpPr>
            <p:nvPr/>
          </p:nvSpPr>
          <p:spPr bwMode="auto">
            <a:xfrm>
              <a:off x="3693" y="590"/>
              <a:ext cx="187" cy="533"/>
            </a:xfrm>
            <a:custGeom>
              <a:avLst/>
              <a:gdLst>
                <a:gd name="T0" fmla="*/ 0 w 187"/>
                <a:gd name="T1" fmla="*/ 5 h 533"/>
                <a:gd name="T2" fmla="*/ 0 w 187"/>
                <a:gd name="T3" fmla="*/ 14 h 533"/>
                <a:gd name="T4" fmla="*/ 5 w 187"/>
                <a:gd name="T5" fmla="*/ 24 h 533"/>
                <a:gd name="T6" fmla="*/ 5 w 187"/>
                <a:gd name="T7" fmla="*/ 29 h 533"/>
                <a:gd name="T8" fmla="*/ 5 w 187"/>
                <a:gd name="T9" fmla="*/ 38 h 533"/>
                <a:gd name="T10" fmla="*/ 5 w 187"/>
                <a:gd name="T11" fmla="*/ 48 h 533"/>
                <a:gd name="T12" fmla="*/ 9 w 187"/>
                <a:gd name="T13" fmla="*/ 58 h 533"/>
                <a:gd name="T14" fmla="*/ 9 w 187"/>
                <a:gd name="T15" fmla="*/ 67 h 533"/>
                <a:gd name="T16" fmla="*/ 9 w 187"/>
                <a:gd name="T17" fmla="*/ 77 h 533"/>
                <a:gd name="T18" fmla="*/ 9 w 187"/>
                <a:gd name="T19" fmla="*/ 86 h 533"/>
                <a:gd name="T20" fmla="*/ 9 w 187"/>
                <a:gd name="T21" fmla="*/ 96 h 533"/>
                <a:gd name="T22" fmla="*/ 9 w 187"/>
                <a:gd name="T23" fmla="*/ 106 h 533"/>
                <a:gd name="T24" fmla="*/ 14 w 187"/>
                <a:gd name="T25" fmla="*/ 115 h 533"/>
                <a:gd name="T26" fmla="*/ 14 w 187"/>
                <a:gd name="T27" fmla="*/ 125 h 533"/>
                <a:gd name="T28" fmla="*/ 14 w 187"/>
                <a:gd name="T29" fmla="*/ 134 h 533"/>
                <a:gd name="T30" fmla="*/ 14 w 187"/>
                <a:gd name="T31" fmla="*/ 144 h 533"/>
                <a:gd name="T32" fmla="*/ 19 w 187"/>
                <a:gd name="T33" fmla="*/ 154 h 533"/>
                <a:gd name="T34" fmla="*/ 19 w 187"/>
                <a:gd name="T35" fmla="*/ 163 h 533"/>
                <a:gd name="T36" fmla="*/ 19 w 187"/>
                <a:gd name="T37" fmla="*/ 173 h 533"/>
                <a:gd name="T38" fmla="*/ 24 w 187"/>
                <a:gd name="T39" fmla="*/ 182 h 533"/>
                <a:gd name="T40" fmla="*/ 29 w 187"/>
                <a:gd name="T41" fmla="*/ 192 h 533"/>
                <a:gd name="T42" fmla="*/ 29 w 187"/>
                <a:gd name="T43" fmla="*/ 202 h 533"/>
                <a:gd name="T44" fmla="*/ 33 w 187"/>
                <a:gd name="T45" fmla="*/ 211 h 533"/>
                <a:gd name="T46" fmla="*/ 38 w 187"/>
                <a:gd name="T47" fmla="*/ 221 h 533"/>
                <a:gd name="T48" fmla="*/ 43 w 187"/>
                <a:gd name="T49" fmla="*/ 230 h 533"/>
                <a:gd name="T50" fmla="*/ 48 w 187"/>
                <a:gd name="T51" fmla="*/ 240 h 533"/>
                <a:gd name="T52" fmla="*/ 53 w 187"/>
                <a:gd name="T53" fmla="*/ 250 h 533"/>
                <a:gd name="T54" fmla="*/ 57 w 187"/>
                <a:gd name="T55" fmla="*/ 259 h 533"/>
                <a:gd name="T56" fmla="*/ 62 w 187"/>
                <a:gd name="T57" fmla="*/ 269 h 533"/>
                <a:gd name="T58" fmla="*/ 67 w 187"/>
                <a:gd name="T59" fmla="*/ 274 h 533"/>
                <a:gd name="T60" fmla="*/ 77 w 187"/>
                <a:gd name="T61" fmla="*/ 288 h 533"/>
                <a:gd name="T62" fmla="*/ 86 w 187"/>
                <a:gd name="T63" fmla="*/ 312 h 533"/>
                <a:gd name="T64" fmla="*/ 96 w 187"/>
                <a:gd name="T65" fmla="*/ 331 h 533"/>
                <a:gd name="T66" fmla="*/ 105 w 187"/>
                <a:gd name="T67" fmla="*/ 350 h 533"/>
                <a:gd name="T68" fmla="*/ 120 w 187"/>
                <a:gd name="T69" fmla="*/ 370 h 533"/>
                <a:gd name="T70" fmla="*/ 129 w 187"/>
                <a:gd name="T71" fmla="*/ 389 h 533"/>
                <a:gd name="T72" fmla="*/ 139 w 187"/>
                <a:gd name="T73" fmla="*/ 413 h 533"/>
                <a:gd name="T74" fmla="*/ 149 w 187"/>
                <a:gd name="T75" fmla="*/ 432 h 533"/>
                <a:gd name="T76" fmla="*/ 158 w 187"/>
                <a:gd name="T77" fmla="*/ 451 h 533"/>
                <a:gd name="T78" fmla="*/ 168 w 187"/>
                <a:gd name="T79" fmla="*/ 475 h 533"/>
                <a:gd name="T80" fmla="*/ 173 w 187"/>
                <a:gd name="T81" fmla="*/ 485 h 533"/>
                <a:gd name="T82" fmla="*/ 173 w 187"/>
                <a:gd name="T83" fmla="*/ 489 h 533"/>
                <a:gd name="T84" fmla="*/ 173 w 187"/>
                <a:gd name="T85" fmla="*/ 494 h 533"/>
                <a:gd name="T86" fmla="*/ 177 w 187"/>
                <a:gd name="T87" fmla="*/ 499 h 533"/>
                <a:gd name="T88" fmla="*/ 177 w 187"/>
                <a:gd name="T89" fmla="*/ 504 h 533"/>
                <a:gd name="T90" fmla="*/ 182 w 187"/>
                <a:gd name="T91" fmla="*/ 509 h 533"/>
                <a:gd name="T92" fmla="*/ 182 w 187"/>
                <a:gd name="T93" fmla="*/ 513 h 533"/>
                <a:gd name="T94" fmla="*/ 182 w 187"/>
                <a:gd name="T95" fmla="*/ 518 h 533"/>
                <a:gd name="T96" fmla="*/ 187 w 187"/>
                <a:gd name="T97" fmla="*/ 523 h 533"/>
                <a:gd name="T98" fmla="*/ 187 w 187"/>
                <a:gd name="T99" fmla="*/ 52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7" h="533">
                  <a:moveTo>
                    <a:pt x="0" y="0"/>
                  </a:moveTo>
                  <a:lnTo>
                    <a:pt x="0" y="5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9"/>
                  </a:lnTo>
                  <a:lnTo>
                    <a:pt x="5" y="24"/>
                  </a:lnTo>
                  <a:lnTo>
                    <a:pt x="5" y="29"/>
                  </a:lnTo>
                  <a:lnTo>
                    <a:pt x="5" y="34"/>
                  </a:lnTo>
                  <a:lnTo>
                    <a:pt x="5" y="38"/>
                  </a:lnTo>
                  <a:lnTo>
                    <a:pt x="5" y="43"/>
                  </a:lnTo>
                  <a:lnTo>
                    <a:pt x="5" y="48"/>
                  </a:lnTo>
                  <a:lnTo>
                    <a:pt x="5" y="53"/>
                  </a:lnTo>
                  <a:lnTo>
                    <a:pt x="9" y="58"/>
                  </a:lnTo>
                  <a:lnTo>
                    <a:pt x="9" y="62"/>
                  </a:lnTo>
                  <a:lnTo>
                    <a:pt x="9" y="67"/>
                  </a:lnTo>
                  <a:lnTo>
                    <a:pt x="9" y="72"/>
                  </a:lnTo>
                  <a:lnTo>
                    <a:pt x="9" y="77"/>
                  </a:lnTo>
                  <a:lnTo>
                    <a:pt x="9" y="82"/>
                  </a:lnTo>
                  <a:lnTo>
                    <a:pt x="9" y="86"/>
                  </a:lnTo>
                  <a:lnTo>
                    <a:pt x="9" y="91"/>
                  </a:lnTo>
                  <a:lnTo>
                    <a:pt x="9" y="96"/>
                  </a:lnTo>
                  <a:lnTo>
                    <a:pt x="9" y="101"/>
                  </a:lnTo>
                  <a:lnTo>
                    <a:pt x="9" y="106"/>
                  </a:lnTo>
                  <a:lnTo>
                    <a:pt x="9" y="110"/>
                  </a:lnTo>
                  <a:lnTo>
                    <a:pt x="14" y="115"/>
                  </a:lnTo>
                  <a:lnTo>
                    <a:pt x="14" y="120"/>
                  </a:lnTo>
                  <a:lnTo>
                    <a:pt x="14" y="125"/>
                  </a:lnTo>
                  <a:lnTo>
                    <a:pt x="14" y="130"/>
                  </a:lnTo>
                  <a:lnTo>
                    <a:pt x="14" y="134"/>
                  </a:lnTo>
                  <a:lnTo>
                    <a:pt x="14" y="139"/>
                  </a:lnTo>
                  <a:lnTo>
                    <a:pt x="14" y="144"/>
                  </a:lnTo>
                  <a:lnTo>
                    <a:pt x="14" y="149"/>
                  </a:lnTo>
                  <a:lnTo>
                    <a:pt x="19" y="154"/>
                  </a:lnTo>
                  <a:lnTo>
                    <a:pt x="19" y="158"/>
                  </a:lnTo>
                  <a:lnTo>
                    <a:pt x="19" y="163"/>
                  </a:lnTo>
                  <a:lnTo>
                    <a:pt x="19" y="168"/>
                  </a:lnTo>
                  <a:lnTo>
                    <a:pt x="19" y="173"/>
                  </a:lnTo>
                  <a:lnTo>
                    <a:pt x="24" y="178"/>
                  </a:lnTo>
                  <a:lnTo>
                    <a:pt x="24" y="182"/>
                  </a:lnTo>
                  <a:lnTo>
                    <a:pt x="24" y="187"/>
                  </a:lnTo>
                  <a:lnTo>
                    <a:pt x="29" y="192"/>
                  </a:lnTo>
                  <a:lnTo>
                    <a:pt x="29" y="197"/>
                  </a:lnTo>
                  <a:lnTo>
                    <a:pt x="29" y="202"/>
                  </a:lnTo>
                  <a:lnTo>
                    <a:pt x="33" y="206"/>
                  </a:lnTo>
                  <a:lnTo>
                    <a:pt x="33" y="211"/>
                  </a:lnTo>
                  <a:lnTo>
                    <a:pt x="33" y="216"/>
                  </a:lnTo>
                  <a:lnTo>
                    <a:pt x="38" y="221"/>
                  </a:lnTo>
                  <a:lnTo>
                    <a:pt x="38" y="226"/>
                  </a:lnTo>
                  <a:lnTo>
                    <a:pt x="43" y="230"/>
                  </a:lnTo>
                  <a:lnTo>
                    <a:pt x="43" y="235"/>
                  </a:lnTo>
                  <a:lnTo>
                    <a:pt x="48" y="240"/>
                  </a:lnTo>
                  <a:lnTo>
                    <a:pt x="48" y="245"/>
                  </a:lnTo>
                  <a:lnTo>
                    <a:pt x="53" y="250"/>
                  </a:lnTo>
                  <a:lnTo>
                    <a:pt x="53" y="254"/>
                  </a:lnTo>
                  <a:lnTo>
                    <a:pt x="57" y="259"/>
                  </a:lnTo>
                  <a:lnTo>
                    <a:pt x="57" y="264"/>
                  </a:lnTo>
                  <a:lnTo>
                    <a:pt x="62" y="269"/>
                  </a:lnTo>
                  <a:lnTo>
                    <a:pt x="62" y="274"/>
                  </a:lnTo>
                  <a:lnTo>
                    <a:pt x="67" y="274"/>
                  </a:lnTo>
                  <a:lnTo>
                    <a:pt x="67" y="278"/>
                  </a:lnTo>
                  <a:lnTo>
                    <a:pt x="77" y="288"/>
                  </a:lnTo>
                  <a:lnTo>
                    <a:pt x="81" y="302"/>
                  </a:lnTo>
                  <a:lnTo>
                    <a:pt x="86" y="312"/>
                  </a:lnTo>
                  <a:lnTo>
                    <a:pt x="91" y="322"/>
                  </a:lnTo>
                  <a:lnTo>
                    <a:pt x="96" y="331"/>
                  </a:lnTo>
                  <a:lnTo>
                    <a:pt x="101" y="341"/>
                  </a:lnTo>
                  <a:lnTo>
                    <a:pt x="105" y="350"/>
                  </a:lnTo>
                  <a:lnTo>
                    <a:pt x="110" y="360"/>
                  </a:lnTo>
                  <a:lnTo>
                    <a:pt x="120" y="370"/>
                  </a:lnTo>
                  <a:lnTo>
                    <a:pt x="125" y="379"/>
                  </a:lnTo>
                  <a:lnTo>
                    <a:pt x="129" y="389"/>
                  </a:lnTo>
                  <a:lnTo>
                    <a:pt x="134" y="403"/>
                  </a:lnTo>
                  <a:lnTo>
                    <a:pt x="139" y="413"/>
                  </a:lnTo>
                  <a:lnTo>
                    <a:pt x="144" y="422"/>
                  </a:lnTo>
                  <a:lnTo>
                    <a:pt x="149" y="432"/>
                  </a:lnTo>
                  <a:lnTo>
                    <a:pt x="153" y="442"/>
                  </a:lnTo>
                  <a:lnTo>
                    <a:pt x="158" y="451"/>
                  </a:lnTo>
                  <a:lnTo>
                    <a:pt x="163" y="466"/>
                  </a:lnTo>
                  <a:lnTo>
                    <a:pt x="168" y="475"/>
                  </a:lnTo>
                  <a:lnTo>
                    <a:pt x="168" y="485"/>
                  </a:lnTo>
                  <a:lnTo>
                    <a:pt x="173" y="485"/>
                  </a:lnTo>
                  <a:lnTo>
                    <a:pt x="173" y="489"/>
                  </a:lnTo>
                  <a:lnTo>
                    <a:pt x="173" y="494"/>
                  </a:lnTo>
                  <a:lnTo>
                    <a:pt x="177" y="499"/>
                  </a:lnTo>
                  <a:lnTo>
                    <a:pt x="177" y="504"/>
                  </a:lnTo>
                  <a:lnTo>
                    <a:pt x="177" y="509"/>
                  </a:lnTo>
                  <a:lnTo>
                    <a:pt x="182" y="509"/>
                  </a:lnTo>
                  <a:lnTo>
                    <a:pt x="182" y="513"/>
                  </a:lnTo>
                  <a:lnTo>
                    <a:pt x="182" y="518"/>
                  </a:lnTo>
                  <a:lnTo>
                    <a:pt x="187" y="523"/>
                  </a:lnTo>
                  <a:lnTo>
                    <a:pt x="187" y="528"/>
                  </a:lnTo>
                  <a:lnTo>
                    <a:pt x="187" y="533"/>
                  </a:lnTo>
                </a:path>
              </a:pathLst>
            </a:cu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 flipV="1">
              <a:off x="3664" y="1300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" name="Line 8"/>
            <p:cNvSpPr>
              <a:spLocks noChangeShapeType="1"/>
            </p:cNvSpPr>
            <p:nvPr/>
          </p:nvSpPr>
          <p:spPr bwMode="auto">
            <a:xfrm flipV="1">
              <a:off x="3664" y="1271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" name="Line 9"/>
            <p:cNvSpPr>
              <a:spLocks noChangeShapeType="1"/>
            </p:cNvSpPr>
            <p:nvPr/>
          </p:nvSpPr>
          <p:spPr bwMode="auto">
            <a:xfrm flipV="1">
              <a:off x="3664" y="1132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" name="Line 10"/>
            <p:cNvSpPr>
              <a:spLocks noChangeShapeType="1"/>
            </p:cNvSpPr>
            <p:nvPr/>
          </p:nvSpPr>
          <p:spPr bwMode="auto">
            <a:xfrm flipV="1">
              <a:off x="3664" y="1103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" name="Line 11"/>
            <p:cNvSpPr>
              <a:spLocks noChangeShapeType="1"/>
            </p:cNvSpPr>
            <p:nvPr/>
          </p:nvSpPr>
          <p:spPr bwMode="auto">
            <a:xfrm flipV="1">
              <a:off x="3664" y="1046"/>
              <a:ext cx="1" cy="43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 flipV="1">
              <a:off x="4120" y="1075"/>
              <a:ext cx="245" cy="249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 flipV="1">
              <a:off x="4120" y="969"/>
              <a:ext cx="245" cy="245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" name="Line 14"/>
            <p:cNvSpPr>
              <a:spLocks noChangeShapeType="1"/>
            </p:cNvSpPr>
            <p:nvPr/>
          </p:nvSpPr>
          <p:spPr bwMode="auto">
            <a:xfrm flipV="1">
              <a:off x="4120" y="969"/>
              <a:ext cx="134" cy="139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 flipV="1">
              <a:off x="4269" y="859"/>
              <a:ext cx="96" cy="101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" name="Line 16"/>
            <p:cNvSpPr>
              <a:spLocks noChangeShapeType="1"/>
            </p:cNvSpPr>
            <p:nvPr/>
          </p:nvSpPr>
          <p:spPr bwMode="auto">
            <a:xfrm flipV="1">
              <a:off x="4120" y="969"/>
              <a:ext cx="29" cy="29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" name="Line 17"/>
            <p:cNvSpPr>
              <a:spLocks noChangeShapeType="1"/>
            </p:cNvSpPr>
            <p:nvPr/>
          </p:nvSpPr>
          <p:spPr bwMode="auto">
            <a:xfrm flipV="1">
              <a:off x="4269" y="753"/>
              <a:ext cx="96" cy="96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" name="Line 18"/>
            <p:cNvSpPr>
              <a:spLocks noChangeShapeType="1"/>
            </p:cNvSpPr>
            <p:nvPr/>
          </p:nvSpPr>
          <p:spPr bwMode="auto">
            <a:xfrm flipV="1">
              <a:off x="4269" y="643"/>
              <a:ext cx="96" cy="101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 flipV="1">
              <a:off x="4269" y="590"/>
              <a:ext cx="43" cy="43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" name="Line 20"/>
            <p:cNvSpPr>
              <a:spLocks noChangeShapeType="1"/>
            </p:cNvSpPr>
            <p:nvPr/>
          </p:nvSpPr>
          <p:spPr bwMode="auto">
            <a:xfrm flipV="1">
              <a:off x="4120" y="1180"/>
              <a:ext cx="245" cy="250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" name="Line 21"/>
            <p:cNvSpPr>
              <a:spLocks noChangeShapeType="1"/>
            </p:cNvSpPr>
            <p:nvPr/>
          </p:nvSpPr>
          <p:spPr bwMode="auto">
            <a:xfrm flipV="1">
              <a:off x="4120" y="1291"/>
              <a:ext cx="245" cy="244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" name="Line 22"/>
            <p:cNvSpPr>
              <a:spLocks noChangeShapeType="1"/>
            </p:cNvSpPr>
            <p:nvPr/>
          </p:nvSpPr>
          <p:spPr bwMode="auto">
            <a:xfrm flipV="1">
              <a:off x="4225" y="1396"/>
              <a:ext cx="140" cy="144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" name="Line 23"/>
            <p:cNvSpPr>
              <a:spLocks noChangeShapeType="1"/>
            </p:cNvSpPr>
            <p:nvPr/>
          </p:nvSpPr>
          <p:spPr bwMode="auto">
            <a:xfrm flipV="1">
              <a:off x="4331" y="1507"/>
              <a:ext cx="34" cy="33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" name="Line 24"/>
            <p:cNvSpPr>
              <a:spLocks noChangeShapeType="1"/>
            </p:cNvSpPr>
            <p:nvPr/>
          </p:nvSpPr>
          <p:spPr bwMode="auto">
            <a:xfrm flipV="1">
              <a:off x="3525" y="2495"/>
              <a:ext cx="173" cy="178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" name="Line 25"/>
            <p:cNvSpPr>
              <a:spLocks noChangeShapeType="1"/>
            </p:cNvSpPr>
            <p:nvPr/>
          </p:nvSpPr>
          <p:spPr bwMode="auto">
            <a:xfrm flipV="1">
              <a:off x="3477" y="2419"/>
              <a:ext cx="192" cy="187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" name="Line 26"/>
            <p:cNvSpPr>
              <a:spLocks noChangeShapeType="1"/>
            </p:cNvSpPr>
            <p:nvPr/>
          </p:nvSpPr>
          <p:spPr bwMode="auto">
            <a:xfrm flipV="1">
              <a:off x="3443" y="2308"/>
              <a:ext cx="226" cy="226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" name="Line 27"/>
            <p:cNvSpPr>
              <a:spLocks noChangeShapeType="1"/>
            </p:cNvSpPr>
            <p:nvPr/>
          </p:nvSpPr>
          <p:spPr bwMode="auto">
            <a:xfrm flipV="1">
              <a:off x="3419" y="2097"/>
              <a:ext cx="355" cy="350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" name="Line 28"/>
            <p:cNvSpPr>
              <a:spLocks noChangeShapeType="1"/>
            </p:cNvSpPr>
            <p:nvPr/>
          </p:nvSpPr>
          <p:spPr bwMode="auto">
            <a:xfrm flipV="1">
              <a:off x="3414" y="1987"/>
              <a:ext cx="360" cy="360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" name="Line 29"/>
            <p:cNvSpPr>
              <a:spLocks noChangeShapeType="1"/>
            </p:cNvSpPr>
            <p:nvPr/>
          </p:nvSpPr>
          <p:spPr bwMode="auto">
            <a:xfrm flipV="1">
              <a:off x="3438" y="1919"/>
              <a:ext cx="298" cy="298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" name="Line 30"/>
            <p:cNvSpPr>
              <a:spLocks noChangeShapeType="1"/>
            </p:cNvSpPr>
            <p:nvPr/>
          </p:nvSpPr>
          <p:spPr bwMode="auto">
            <a:xfrm flipV="1">
              <a:off x="3549" y="2548"/>
              <a:ext cx="201" cy="206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" name="Line 31"/>
            <p:cNvSpPr>
              <a:spLocks noChangeShapeType="1"/>
            </p:cNvSpPr>
            <p:nvPr/>
          </p:nvSpPr>
          <p:spPr bwMode="auto">
            <a:xfrm flipV="1">
              <a:off x="3549" y="2634"/>
              <a:ext cx="225" cy="226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" name="Line 32"/>
            <p:cNvSpPr>
              <a:spLocks noChangeShapeType="1"/>
            </p:cNvSpPr>
            <p:nvPr/>
          </p:nvSpPr>
          <p:spPr bwMode="auto">
            <a:xfrm flipV="1">
              <a:off x="3578" y="2894"/>
              <a:ext cx="48" cy="48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" name="Line 33"/>
            <p:cNvSpPr>
              <a:spLocks noChangeShapeType="1"/>
            </p:cNvSpPr>
            <p:nvPr/>
          </p:nvSpPr>
          <p:spPr bwMode="auto">
            <a:xfrm flipV="1">
              <a:off x="3693" y="2740"/>
              <a:ext cx="81" cy="82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" name="Line 34"/>
            <p:cNvSpPr>
              <a:spLocks noChangeShapeType="1"/>
            </p:cNvSpPr>
            <p:nvPr/>
          </p:nvSpPr>
          <p:spPr bwMode="auto">
            <a:xfrm flipV="1">
              <a:off x="3702" y="2850"/>
              <a:ext cx="72" cy="72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" name="Line 35"/>
            <p:cNvSpPr>
              <a:spLocks noChangeShapeType="1"/>
            </p:cNvSpPr>
            <p:nvPr/>
          </p:nvSpPr>
          <p:spPr bwMode="auto">
            <a:xfrm flipV="1">
              <a:off x="3890" y="590"/>
              <a:ext cx="1" cy="379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" name="Line 36"/>
            <p:cNvSpPr>
              <a:spLocks noChangeShapeType="1"/>
            </p:cNvSpPr>
            <p:nvPr/>
          </p:nvSpPr>
          <p:spPr bwMode="auto">
            <a:xfrm flipV="1">
              <a:off x="3664" y="2870"/>
              <a:ext cx="1" cy="12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" name="Line 37"/>
            <p:cNvSpPr>
              <a:spLocks noChangeShapeType="1"/>
            </p:cNvSpPr>
            <p:nvPr/>
          </p:nvSpPr>
          <p:spPr bwMode="auto">
            <a:xfrm flipV="1">
              <a:off x="3664" y="2841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" name="Line 38"/>
            <p:cNvSpPr>
              <a:spLocks noChangeShapeType="1"/>
            </p:cNvSpPr>
            <p:nvPr/>
          </p:nvSpPr>
          <p:spPr bwMode="auto">
            <a:xfrm flipV="1">
              <a:off x="3664" y="2745"/>
              <a:ext cx="1" cy="8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" name="Line 39"/>
            <p:cNvSpPr>
              <a:spLocks noChangeShapeType="1"/>
            </p:cNvSpPr>
            <p:nvPr/>
          </p:nvSpPr>
          <p:spPr bwMode="auto">
            <a:xfrm flipV="1">
              <a:off x="4120" y="2870"/>
              <a:ext cx="1" cy="12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" name="Line 40"/>
            <p:cNvSpPr>
              <a:spLocks noChangeShapeType="1"/>
            </p:cNvSpPr>
            <p:nvPr/>
          </p:nvSpPr>
          <p:spPr bwMode="auto">
            <a:xfrm flipV="1">
              <a:off x="4120" y="2841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" name="Line 41"/>
            <p:cNvSpPr>
              <a:spLocks noChangeShapeType="1"/>
            </p:cNvSpPr>
            <p:nvPr/>
          </p:nvSpPr>
          <p:spPr bwMode="auto">
            <a:xfrm flipV="1">
              <a:off x="4120" y="2745"/>
              <a:ext cx="1" cy="8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" name="Line 42"/>
            <p:cNvSpPr>
              <a:spLocks noChangeShapeType="1"/>
            </p:cNvSpPr>
            <p:nvPr/>
          </p:nvSpPr>
          <p:spPr bwMode="auto">
            <a:xfrm flipV="1">
              <a:off x="3890" y="2870"/>
              <a:ext cx="1" cy="12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" name="Line 43"/>
            <p:cNvSpPr>
              <a:spLocks noChangeShapeType="1"/>
            </p:cNvSpPr>
            <p:nvPr/>
          </p:nvSpPr>
          <p:spPr bwMode="auto">
            <a:xfrm flipV="1">
              <a:off x="3890" y="2841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" name="Line 44"/>
            <p:cNvSpPr>
              <a:spLocks noChangeShapeType="1"/>
            </p:cNvSpPr>
            <p:nvPr/>
          </p:nvSpPr>
          <p:spPr bwMode="auto">
            <a:xfrm flipV="1">
              <a:off x="3890" y="2702"/>
              <a:ext cx="1" cy="12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" name="Line 45"/>
            <p:cNvSpPr>
              <a:spLocks noChangeShapeType="1"/>
            </p:cNvSpPr>
            <p:nvPr/>
          </p:nvSpPr>
          <p:spPr bwMode="auto">
            <a:xfrm flipV="1">
              <a:off x="3890" y="2673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" name="Line 46"/>
            <p:cNvSpPr>
              <a:spLocks noChangeShapeType="1"/>
            </p:cNvSpPr>
            <p:nvPr/>
          </p:nvSpPr>
          <p:spPr bwMode="auto">
            <a:xfrm flipV="1">
              <a:off x="3890" y="2534"/>
              <a:ext cx="1" cy="12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" name="Line 47"/>
            <p:cNvSpPr>
              <a:spLocks noChangeShapeType="1"/>
            </p:cNvSpPr>
            <p:nvPr/>
          </p:nvSpPr>
          <p:spPr bwMode="auto">
            <a:xfrm flipV="1">
              <a:off x="3890" y="2505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" name="Line 48"/>
            <p:cNvSpPr>
              <a:spLocks noChangeShapeType="1"/>
            </p:cNvSpPr>
            <p:nvPr/>
          </p:nvSpPr>
          <p:spPr bwMode="auto">
            <a:xfrm flipV="1">
              <a:off x="3890" y="2366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" name="Line 49"/>
            <p:cNvSpPr>
              <a:spLocks noChangeShapeType="1"/>
            </p:cNvSpPr>
            <p:nvPr/>
          </p:nvSpPr>
          <p:spPr bwMode="auto">
            <a:xfrm flipV="1">
              <a:off x="3890" y="2337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" name="Line 50"/>
            <p:cNvSpPr>
              <a:spLocks noChangeShapeType="1"/>
            </p:cNvSpPr>
            <p:nvPr/>
          </p:nvSpPr>
          <p:spPr bwMode="auto">
            <a:xfrm flipV="1">
              <a:off x="3890" y="2198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" name="Line 51"/>
            <p:cNvSpPr>
              <a:spLocks noChangeShapeType="1"/>
            </p:cNvSpPr>
            <p:nvPr/>
          </p:nvSpPr>
          <p:spPr bwMode="auto">
            <a:xfrm flipV="1">
              <a:off x="3890" y="2169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" name="Line 52"/>
            <p:cNvSpPr>
              <a:spLocks noChangeShapeType="1"/>
            </p:cNvSpPr>
            <p:nvPr/>
          </p:nvSpPr>
          <p:spPr bwMode="auto">
            <a:xfrm flipV="1">
              <a:off x="3890" y="2030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" name="Line 53"/>
            <p:cNvSpPr>
              <a:spLocks noChangeShapeType="1"/>
            </p:cNvSpPr>
            <p:nvPr/>
          </p:nvSpPr>
          <p:spPr bwMode="auto">
            <a:xfrm flipV="1">
              <a:off x="3890" y="2001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" name="Line 54"/>
            <p:cNvSpPr>
              <a:spLocks noChangeShapeType="1"/>
            </p:cNvSpPr>
            <p:nvPr/>
          </p:nvSpPr>
          <p:spPr bwMode="auto">
            <a:xfrm flipV="1">
              <a:off x="3890" y="1862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" name="Line 55"/>
            <p:cNvSpPr>
              <a:spLocks noChangeShapeType="1"/>
            </p:cNvSpPr>
            <p:nvPr/>
          </p:nvSpPr>
          <p:spPr bwMode="auto">
            <a:xfrm flipV="1">
              <a:off x="3890" y="1838"/>
              <a:ext cx="1" cy="9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" name="Line 56"/>
            <p:cNvSpPr>
              <a:spLocks noChangeShapeType="1"/>
            </p:cNvSpPr>
            <p:nvPr/>
          </p:nvSpPr>
          <p:spPr bwMode="auto">
            <a:xfrm>
              <a:off x="3352" y="2371"/>
              <a:ext cx="12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" name="Line 57"/>
            <p:cNvSpPr>
              <a:spLocks noChangeShapeType="1"/>
            </p:cNvSpPr>
            <p:nvPr/>
          </p:nvSpPr>
          <p:spPr bwMode="auto">
            <a:xfrm>
              <a:off x="3491" y="2371"/>
              <a:ext cx="1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" name="Line 58"/>
            <p:cNvSpPr>
              <a:spLocks noChangeShapeType="1"/>
            </p:cNvSpPr>
            <p:nvPr/>
          </p:nvSpPr>
          <p:spPr bwMode="auto">
            <a:xfrm>
              <a:off x="3520" y="2371"/>
              <a:ext cx="12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" name="Line 59"/>
            <p:cNvSpPr>
              <a:spLocks noChangeShapeType="1"/>
            </p:cNvSpPr>
            <p:nvPr/>
          </p:nvSpPr>
          <p:spPr bwMode="auto">
            <a:xfrm>
              <a:off x="3659" y="2371"/>
              <a:ext cx="1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" name="Line 60"/>
            <p:cNvSpPr>
              <a:spLocks noChangeShapeType="1"/>
            </p:cNvSpPr>
            <p:nvPr/>
          </p:nvSpPr>
          <p:spPr bwMode="auto">
            <a:xfrm>
              <a:off x="3688" y="2371"/>
              <a:ext cx="12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" name="Line 61"/>
            <p:cNvSpPr>
              <a:spLocks noChangeShapeType="1"/>
            </p:cNvSpPr>
            <p:nvPr/>
          </p:nvSpPr>
          <p:spPr bwMode="auto">
            <a:xfrm>
              <a:off x="3827" y="2371"/>
              <a:ext cx="1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" name="Line 62"/>
            <p:cNvSpPr>
              <a:spLocks noChangeShapeType="1"/>
            </p:cNvSpPr>
            <p:nvPr/>
          </p:nvSpPr>
          <p:spPr bwMode="auto">
            <a:xfrm>
              <a:off x="3856" y="2371"/>
              <a:ext cx="12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" name="Line 63"/>
            <p:cNvSpPr>
              <a:spLocks noChangeShapeType="1"/>
            </p:cNvSpPr>
            <p:nvPr/>
          </p:nvSpPr>
          <p:spPr bwMode="auto">
            <a:xfrm>
              <a:off x="3995" y="2371"/>
              <a:ext cx="1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" name="Line 64"/>
            <p:cNvSpPr>
              <a:spLocks noChangeShapeType="1"/>
            </p:cNvSpPr>
            <p:nvPr/>
          </p:nvSpPr>
          <p:spPr bwMode="auto">
            <a:xfrm>
              <a:off x="4024" y="2371"/>
              <a:ext cx="12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" name="Line 65"/>
            <p:cNvSpPr>
              <a:spLocks noChangeShapeType="1"/>
            </p:cNvSpPr>
            <p:nvPr/>
          </p:nvSpPr>
          <p:spPr bwMode="auto">
            <a:xfrm>
              <a:off x="4163" y="2371"/>
              <a:ext cx="14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" name="Line 66"/>
            <p:cNvSpPr>
              <a:spLocks noChangeShapeType="1"/>
            </p:cNvSpPr>
            <p:nvPr/>
          </p:nvSpPr>
          <p:spPr bwMode="auto">
            <a:xfrm>
              <a:off x="4192" y="2371"/>
              <a:ext cx="12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" name="Line 67"/>
            <p:cNvSpPr>
              <a:spLocks noChangeShapeType="1"/>
            </p:cNvSpPr>
            <p:nvPr/>
          </p:nvSpPr>
          <p:spPr bwMode="auto">
            <a:xfrm>
              <a:off x="4331" y="2371"/>
              <a:ext cx="14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" name="Line 68"/>
            <p:cNvSpPr>
              <a:spLocks noChangeShapeType="1"/>
            </p:cNvSpPr>
            <p:nvPr/>
          </p:nvSpPr>
          <p:spPr bwMode="auto">
            <a:xfrm>
              <a:off x="4360" y="2371"/>
              <a:ext cx="77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" name="Line 69"/>
            <p:cNvSpPr>
              <a:spLocks noChangeShapeType="1"/>
            </p:cNvSpPr>
            <p:nvPr/>
          </p:nvSpPr>
          <p:spPr bwMode="auto">
            <a:xfrm flipV="1">
              <a:off x="3890" y="1478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" name="Line 70"/>
            <p:cNvSpPr>
              <a:spLocks noChangeShapeType="1"/>
            </p:cNvSpPr>
            <p:nvPr/>
          </p:nvSpPr>
          <p:spPr bwMode="auto">
            <a:xfrm flipV="1">
              <a:off x="3890" y="1449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" name="Line 71"/>
            <p:cNvSpPr>
              <a:spLocks noChangeShapeType="1"/>
            </p:cNvSpPr>
            <p:nvPr/>
          </p:nvSpPr>
          <p:spPr bwMode="auto">
            <a:xfrm flipV="1">
              <a:off x="3890" y="1310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" name="Line 72"/>
            <p:cNvSpPr>
              <a:spLocks noChangeShapeType="1"/>
            </p:cNvSpPr>
            <p:nvPr/>
          </p:nvSpPr>
          <p:spPr bwMode="auto">
            <a:xfrm flipV="1">
              <a:off x="3890" y="1281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" name="Line 73"/>
            <p:cNvSpPr>
              <a:spLocks noChangeShapeType="1"/>
            </p:cNvSpPr>
            <p:nvPr/>
          </p:nvSpPr>
          <p:spPr bwMode="auto">
            <a:xfrm flipV="1">
              <a:off x="3890" y="1142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" name="Line 74"/>
            <p:cNvSpPr>
              <a:spLocks noChangeShapeType="1"/>
            </p:cNvSpPr>
            <p:nvPr/>
          </p:nvSpPr>
          <p:spPr bwMode="auto">
            <a:xfrm flipV="1">
              <a:off x="3890" y="1113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" name="Line 75"/>
            <p:cNvSpPr>
              <a:spLocks noChangeShapeType="1"/>
            </p:cNvSpPr>
            <p:nvPr/>
          </p:nvSpPr>
          <p:spPr bwMode="auto">
            <a:xfrm flipV="1">
              <a:off x="3890" y="974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" name="Line 76"/>
            <p:cNvSpPr>
              <a:spLocks noChangeShapeType="1"/>
            </p:cNvSpPr>
            <p:nvPr/>
          </p:nvSpPr>
          <p:spPr bwMode="auto">
            <a:xfrm flipV="1">
              <a:off x="3890" y="945"/>
              <a:ext cx="1" cy="1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" name="Line 77"/>
            <p:cNvSpPr>
              <a:spLocks noChangeShapeType="1"/>
            </p:cNvSpPr>
            <p:nvPr/>
          </p:nvSpPr>
          <p:spPr bwMode="auto">
            <a:xfrm flipV="1">
              <a:off x="3890" y="806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" name="Line 78"/>
            <p:cNvSpPr>
              <a:spLocks noChangeShapeType="1"/>
            </p:cNvSpPr>
            <p:nvPr/>
          </p:nvSpPr>
          <p:spPr bwMode="auto">
            <a:xfrm flipV="1">
              <a:off x="3890" y="777"/>
              <a:ext cx="1" cy="1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" name="Line 79"/>
            <p:cNvSpPr>
              <a:spLocks noChangeShapeType="1"/>
            </p:cNvSpPr>
            <p:nvPr/>
          </p:nvSpPr>
          <p:spPr bwMode="auto">
            <a:xfrm flipV="1">
              <a:off x="3890" y="638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" name="Line 80"/>
            <p:cNvSpPr>
              <a:spLocks noChangeShapeType="1"/>
            </p:cNvSpPr>
            <p:nvPr/>
          </p:nvSpPr>
          <p:spPr bwMode="auto">
            <a:xfrm flipV="1">
              <a:off x="3890" y="609"/>
              <a:ext cx="1" cy="1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" name="Line 81"/>
            <p:cNvSpPr>
              <a:spLocks noChangeShapeType="1"/>
            </p:cNvSpPr>
            <p:nvPr/>
          </p:nvSpPr>
          <p:spPr bwMode="auto">
            <a:xfrm flipV="1">
              <a:off x="3890" y="513"/>
              <a:ext cx="1" cy="82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" name="Line 82"/>
            <p:cNvSpPr>
              <a:spLocks noChangeShapeType="1"/>
            </p:cNvSpPr>
            <p:nvPr/>
          </p:nvSpPr>
          <p:spPr bwMode="auto">
            <a:xfrm>
              <a:off x="3477" y="1238"/>
              <a:ext cx="12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" name="Line 83"/>
            <p:cNvSpPr>
              <a:spLocks noChangeShapeType="1"/>
            </p:cNvSpPr>
            <p:nvPr/>
          </p:nvSpPr>
          <p:spPr bwMode="auto">
            <a:xfrm>
              <a:off x="3616" y="1238"/>
              <a:ext cx="14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" name="Line 84"/>
            <p:cNvSpPr>
              <a:spLocks noChangeShapeType="1"/>
            </p:cNvSpPr>
            <p:nvPr/>
          </p:nvSpPr>
          <p:spPr bwMode="auto">
            <a:xfrm>
              <a:off x="3645" y="1238"/>
              <a:ext cx="12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" name="Line 85"/>
            <p:cNvSpPr>
              <a:spLocks noChangeShapeType="1"/>
            </p:cNvSpPr>
            <p:nvPr/>
          </p:nvSpPr>
          <p:spPr bwMode="auto">
            <a:xfrm>
              <a:off x="3784" y="1238"/>
              <a:ext cx="14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" name="Line 86"/>
            <p:cNvSpPr>
              <a:spLocks noChangeShapeType="1"/>
            </p:cNvSpPr>
            <p:nvPr/>
          </p:nvSpPr>
          <p:spPr bwMode="auto">
            <a:xfrm>
              <a:off x="3813" y="1238"/>
              <a:ext cx="12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" name="Line 87"/>
            <p:cNvSpPr>
              <a:spLocks noChangeShapeType="1"/>
            </p:cNvSpPr>
            <p:nvPr/>
          </p:nvSpPr>
          <p:spPr bwMode="auto">
            <a:xfrm>
              <a:off x="3952" y="1238"/>
              <a:ext cx="14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" name="Line 88"/>
            <p:cNvSpPr>
              <a:spLocks noChangeShapeType="1"/>
            </p:cNvSpPr>
            <p:nvPr/>
          </p:nvSpPr>
          <p:spPr bwMode="auto">
            <a:xfrm>
              <a:off x="3981" y="1238"/>
              <a:ext cx="86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" name="Line 89"/>
            <p:cNvSpPr>
              <a:spLocks noChangeShapeType="1"/>
            </p:cNvSpPr>
            <p:nvPr/>
          </p:nvSpPr>
          <p:spPr bwMode="auto">
            <a:xfrm flipV="1">
              <a:off x="3414" y="590"/>
              <a:ext cx="1" cy="9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" name="Line 90"/>
            <p:cNvSpPr>
              <a:spLocks noChangeShapeType="1"/>
            </p:cNvSpPr>
            <p:nvPr/>
          </p:nvSpPr>
          <p:spPr bwMode="auto">
            <a:xfrm>
              <a:off x="3414" y="590"/>
              <a:ext cx="951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" name="Line 91"/>
            <p:cNvSpPr>
              <a:spLocks noChangeShapeType="1"/>
            </p:cNvSpPr>
            <p:nvPr/>
          </p:nvSpPr>
          <p:spPr bwMode="auto">
            <a:xfrm flipV="1">
              <a:off x="4269" y="590"/>
              <a:ext cx="1" cy="3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" name="Line 92"/>
            <p:cNvSpPr>
              <a:spLocks noChangeShapeType="1"/>
            </p:cNvSpPr>
            <p:nvPr/>
          </p:nvSpPr>
          <p:spPr bwMode="auto">
            <a:xfrm>
              <a:off x="3818" y="969"/>
              <a:ext cx="451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" name="Line 93"/>
            <p:cNvSpPr>
              <a:spLocks noChangeShapeType="1"/>
            </p:cNvSpPr>
            <p:nvPr/>
          </p:nvSpPr>
          <p:spPr bwMode="auto">
            <a:xfrm>
              <a:off x="4120" y="969"/>
              <a:ext cx="1" cy="5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" name="Line 94"/>
            <p:cNvSpPr>
              <a:spLocks noChangeShapeType="1"/>
            </p:cNvSpPr>
            <p:nvPr/>
          </p:nvSpPr>
          <p:spPr bwMode="auto">
            <a:xfrm flipV="1">
              <a:off x="4365" y="590"/>
              <a:ext cx="1" cy="9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Line 95"/>
            <p:cNvSpPr>
              <a:spLocks noChangeShapeType="1"/>
            </p:cNvSpPr>
            <p:nvPr/>
          </p:nvSpPr>
          <p:spPr bwMode="auto">
            <a:xfrm>
              <a:off x="3414" y="1540"/>
              <a:ext cx="951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" name="Line 96"/>
            <p:cNvSpPr>
              <a:spLocks noChangeShapeType="1"/>
            </p:cNvSpPr>
            <p:nvPr/>
          </p:nvSpPr>
          <p:spPr bwMode="auto">
            <a:xfrm>
              <a:off x="3626" y="1343"/>
              <a:ext cx="201" cy="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Line 97"/>
            <p:cNvSpPr>
              <a:spLocks noChangeShapeType="1"/>
            </p:cNvSpPr>
            <p:nvPr/>
          </p:nvSpPr>
          <p:spPr bwMode="auto">
            <a:xfrm flipV="1">
              <a:off x="3626" y="1056"/>
              <a:ext cx="201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Oval 98"/>
            <p:cNvSpPr>
              <a:spLocks noChangeArrowheads="1"/>
            </p:cNvSpPr>
            <p:nvPr/>
          </p:nvSpPr>
          <p:spPr bwMode="auto">
            <a:xfrm>
              <a:off x="3626" y="1199"/>
              <a:ext cx="76" cy="77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9" name="Freeform 99"/>
            <p:cNvSpPr>
              <a:spLocks noChangeArrowheads="1"/>
            </p:cNvSpPr>
            <p:nvPr/>
          </p:nvSpPr>
          <p:spPr bwMode="auto">
            <a:xfrm>
              <a:off x="3549" y="1127"/>
              <a:ext cx="77" cy="216"/>
            </a:xfrm>
            <a:custGeom>
              <a:avLst/>
              <a:gdLst>
                <a:gd name="T0" fmla="*/ 16 w 16"/>
                <a:gd name="T1" fmla="*/ 0 h 45"/>
                <a:gd name="T2" fmla="*/ 10 w 16"/>
                <a:gd name="T3" fmla="*/ 3 h 45"/>
                <a:gd name="T4" fmla="*/ 6 w 16"/>
                <a:gd name="T5" fmla="*/ 7 h 45"/>
                <a:gd name="T6" fmla="*/ 3 w 16"/>
                <a:gd name="T7" fmla="*/ 11 h 45"/>
                <a:gd name="T8" fmla="*/ 1 w 16"/>
                <a:gd name="T9" fmla="*/ 17 h 45"/>
                <a:gd name="T10" fmla="*/ 0 w 16"/>
                <a:gd name="T11" fmla="*/ 23 h 45"/>
                <a:gd name="T12" fmla="*/ 1 w 16"/>
                <a:gd name="T13" fmla="*/ 28 h 45"/>
                <a:gd name="T14" fmla="*/ 3 w 16"/>
                <a:gd name="T15" fmla="*/ 34 h 45"/>
                <a:gd name="T16" fmla="*/ 6 w 16"/>
                <a:gd name="T17" fmla="*/ 39 h 45"/>
                <a:gd name="T18" fmla="*/ 10 w 16"/>
                <a:gd name="T19" fmla="*/ 43 h 45"/>
                <a:gd name="T20" fmla="*/ 16 w 16"/>
                <a:gd name="T21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lnTo>
                    <a:pt x="10" y="3"/>
                  </a:lnTo>
                  <a:lnTo>
                    <a:pt x="6" y="7"/>
                  </a:lnTo>
                  <a:lnTo>
                    <a:pt x="3" y="11"/>
                  </a:lnTo>
                  <a:lnTo>
                    <a:pt x="1" y="17"/>
                  </a:lnTo>
                  <a:lnTo>
                    <a:pt x="0" y="23"/>
                  </a:lnTo>
                  <a:lnTo>
                    <a:pt x="1" y="28"/>
                  </a:lnTo>
                  <a:lnTo>
                    <a:pt x="3" y="34"/>
                  </a:lnTo>
                  <a:lnTo>
                    <a:pt x="6" y="39"/>
                  </a:lnTo>
                  <a:lnTo>
                    <a:pt x="10" y="43"/>
                  </a:lnTo>
                  <a:lnTo>
                    <a:pt x="16" y="45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0" name="Oval 100"/>
            <p:cNvSpPr>
              <a:spLocks noChangeArrowheads="1"/>
            </p:cNvSpPr>
            <p:nvPr/>
          </p:nvSpPr>
          <p:spPr bwMode="auto">
            <a:xfrm>
              <a:off x="3774" y="1123"/>
              <a:ext cx="231" cy="225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1" name="Freeform 101"/>
            <p:cNvSpPr>
              <a:spLocks noChangeArrowheads="1"/>
            </p:cNvSpPr>
            <p:nvPr/>
          </p:nvSpPr>
          <p:spPr bwMode="auto">
            <a:xfrm>
              <a:off x="3827" y="1051"/>
              <a:ext cx="24" cy="5"/>
            </a:xfrm>
            <a:custGeom>
              <a:avLst/>
              <a:gdLst>
                <a:gd name="T0" fmla="*/ 5 w 5"/>
                <a:gd name="T1" fmla="*/ 0 h 1"/>
                <a:gd name="T2" fmla="*/ 5 w 5"/>
                <a:gd name="T3" fmla="*/ 0 h 1"/>
                <a:gd name="T4" fmla="*/ 4 w 5"/>
                <a:gd name="T5" fmla="*/ 0 h 1"/>
                <a:gd name="T6" fmla="*/ 4 w 5"/>
                <a:gd name="T7" fmla="*/ 0 h 1"/>
                <a:gd name="T8" fmla="*/ 3 w 5"/>
                <a:gd name="T9" fmla="*/ 0 h 1"/>
                <a:gd name="T10" fmla="*/ 3 w 5"/>
                <a:gd name="T11" fmla="*/ 0 h 1"/>
                <a:gd name="T12" fmla="*/ 2 w 5"/>
                <a:gd name="T13" fmla="*/ 1 h 1"/>
                <a:gd name="T14" fmla="*/ 2 w 5"/>
                <a:gd name="T15" fmla="*/ 1 h 1"/>
                <a:gd name="T16" fmla="*/ 1 w 5"/>
                <a:gd name="T17" fmla="*/ 1 h 1"/>
                <a:gd name="T18" fmla="*/ 1 w 5"/>
                <a:gd name="T19" fmla="*/ 1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2" name="Freeform 102"/>
            <p:cNvSpPr>
              <a:spLocks noChangeArrowheads="1"/>
            </p:cNvSpPr>
            <p:nvPr/>
          </p:nvSpPr>
          <p:spPr bwMode="auto">
            <a:xfrm>
              <a:off x="3827" y="1406"/>
              <a:ext cx="144" cy="19"/>
            </a:xfrm>
            <a:custGeom>
              <a:avLst/>
              <a:gdLst>
                <a:gd name="T0" fmla="*/ 0 w 30"/>
                <a:gd name="T1" fmla="*/ 2 h 4"/>
                <a:gd name="T2" fmla="*/ 3 w 30"/>
                <a:gd name="T3" fmla="*/ 3 h 4"/>
                <a:gd name="T4" fmla="*/ 6 w 30"/>
                <a:gd name="T5" fmla="*/ 4 h 4"/>
                <a:gd name="T6" fmla="*/ 9 w 30"/>
                <a:gd name="T7" fmla="*/ 4 h 4"/>
                <a:gd name="T8" fmla="*/ 12 w 30"/>
                <a:gd name="T9" fmla="*/ 4 h 4"/>
                <a:gd name="T10" fmla="*/ 15 w 30"/>
                <a:gd name="T11" fmla="*/ 4 h 4"/>
                <a:gd name="T12" fmla="*/ 18 w 30"/>
                <a:gd name="T13" fmla="*/ 4 h 4"/>
                <a:gd name="T14" fmla="*/ 21 w 30"/>
                <a:gd name="T15" fmla="*/ 3 h 4"/>
                <a:gd name="T16" fmla="*/ 24 w 30"/>
                <a:gd name="T17" fmla="*/ 3 h 4"/>
                <a:gd name="T18" fmla="*/ 27 w 30"/>
                <a:gd name="T19" fmla="*/ 2 h 4"/>
                <a:gd name="T20" fmla="*/ 30 w 30"/>
                <a:gd name="T2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4">
                  <a:moveTo>
                    <a:pt x="0" y="2"/>
                  </a:moveTo>
                  <a:lnTo>
                    <a:pt x="3" y="3"/>
                  </a:lnTo>
                  <a:lnTo>
                    <a:pt x="6" y="4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5" y="4"/>
                  </a:lnTo>
                  <a:lnTo>
                    <a:pt x="18" y="4"/>
                  </a:lnTo>
                  <a:lnTo>
                    <a:pt x="21" y="3"/>
                  </a:lnTo>
                  <a:lnTo>
                    <a:pt x="24" y="3"/>
                  </a:lnTo>
                  <a:lnTo>
                    <a:pt x="27" y="2"/>
                  </a:lnTo>
                  <a:lnTo>
                    <a:pt x="30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3" name="Freeform 103"/>
            <p:cNvSpPr>
              <a:spLocks noChangeArrowheads="1"/>
            </p:cNvSpPr>
            <p:nvPr/>
          </p:nvSpPr>
          <p:spPr bwMode="auto">
            <a:xfrm>
              <a:off x="3414" y="1895"/>
              <a:ext cx="951" cy="951"/>
            </a:xfrm>
            <a:custGeom>
              <a:avLst/>
              <a:gdLst>
                <a:gd name="T0" fmla="*/ 99 w 198"/>
                <a:gd name="T1" fmla="*/ 198 h 198"/>
                <a:gd name="T2" fmla="*/ 126 w 198"/>
                <a:gd name="T3" fmla="*/ 194 h 198"/>
                <a:gd name="T4" fmla="*/ 151 w 198"/>
                <a:gd name="T5" fmla="*/ 183 h 198"/>
                <a:gd name="T6" fmla="*/ 172 w 198"/>
                <a:gd name="T7" fmla="*/ 166 h 198"/>
                <a:gd name="T8" fmla="*/ 187 w 198"/>
                <a:gd name="T9" fmla="*/ 144 h 198"/>
                <a:gd name="T10" fmla="*/ 196 w 198"/>
                <a:gd name="T11" fmla="*/ 118 h 198"/>
                <a:gd name="T12" fmla="*/ 198 w 198"/>
                <a:gd name="T13" fmla="*/ 91 h 198"/>
                <a:gd name="T14" fmla="*/ 192 w 198"/>
                <a:gd name="T15" fmla="*/ 65 h 198"/>
                <a:gd name="T16" fmla="*/ 180 w 198"/>
                <a:gd name="T17" fmla="*/ 41 h 198"/>
                <a:gd name="T18" fmla="*/ 161 w 198"/>
                <a:gd name="T19" fmla="*/ 21 h 198"/>
                <a:gd name="T20" fmla="*/ 138 w 198"/>
                <a:gd name="T21" fmla="*/ 8 h 198"/>
                <a:gd name="T22" fmla="*/ 112 w 198"/>
                <a:gd name="T23" fmla="*/ 0 h 198"/>
                <a:gd name="T24" fmla="*/ 85 w 198"/>
                <a:gd name="T25" fmla="*/ 1 h 198"/>
                <a:gd name="T26" fmla="*/ 59 w 198"/>
                <a:gd name="T27" fmla="*/ 8 h 198"/>
                <a:gd name="T28" fmla="*/ 36 w 198"/>
                <a:gd name="T29" fmla="*/ 23 h 198"/>
                <a:gd name="T30" fmla="*/ 18 w 198"/>
                <a:gd name="T31" fmla="*/ 43 h 198"/>
                <a:gd name="T32" fmla="*/ 5 w 198"/>
                <a:gd name="T33" fmla="*/ 67 h 198"/>
                <a:gd name="T34" fmla="*/ 0 w 198"/>
                <a:gd name="T35" fmla="*/ 93 h 198"/>
                <a:gd name="T36" fmla="*/ 2 w 198"/>
                <a:gd name="T37" fmla="*/ 120 h 198"/>
                <a:gd name="T38" fmla="*/ 12 w 198"/>
                <a:gd name="T39" fmla="*/ 146 h 198"/>
                <a:gd name="T40" fmla="*/ 28 w 198"/>
                <a:gd name="T41" fmla="*/ 167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98" h="198">
                  <a:moveTo>
                    <a:pt x="99" y="198"/>
                  </a:moveTo>
                  <a:lnTo>
                    <a:pt x="126" y="194"/>
                  </a:lnTo>
                  <a:lnTo>
                    <a:pt x="151" y="183"/>
                  </a:lnTo>
                  <a:lnTo>
                    <a:pt x="172" y="166"/>
                  </a:lnTo>
                  <a:lnTo>
                    <a:pt x="187" y="144"/>
                  </a:lnTo>
                  <a:lnTo>
                    <a:pt x="196" y="118"/>
                  </a:lnTo>
                  <a:lnTo>
                    <a:pt x="198" y="91"/>
                  </a:lnTo>
                  <a:lnTo>
                    <a:pt x="192" y="65"/>
                  </a:lnTo>
                  <a:lnTo>
                    <a:pt x="180" y="41"/>
                  </a:lnTo>
                  <a:lnTo>
                    <a:pt x="161" y="21"/>
                  </a:lnTo>
                  <a:lnTo>
                    <a:pt x="138" y="8"/>
                  </a:lnTo>
                  <a:lnTo>
                    <a:pt x="112" y="0"/>
                  </a:lnTo>
                  <a:lnTo>
                    <a:pt x="85" y="1"/>
                  </a:lnTo>
                  <a:lnTo>
                    <a:pt x="59" y="8"/>
                  </a:lnTo>
                  <a:lnTo>
                    <a:pt x="36" y="23"/>
                  </a:lnTo>
                  <a:lnTo>
                    <a:pt x="18" y="43"/>
                  </a:lnTo>
                  <a:lnTo>
                    <a:pt x="5" y="67"/>
                  </a:lnTo>
                  <a:lnTo>
                    <a:pt x="0" y="93"/>
                  </a:lnTo>
                  <a:lnTo>
                    <a:pt x="2" y="120"/>
                  </a:lnTo>
                  <a:lnTo>
                    <a:pt x="12" y="146"/>
                  </a:lnTo>
                  <a:lnTo>
                    <a:pt x="28" y="167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4" name="Line 104"/>
            <p:cNvSpPr>
              <a:spLocks noChangeShapeType="1"/>
            </p:cNvSpPr>
            <p:nvPr/>
          </p:nvSpPr>
          <p:spPr bwMode="auto">
            <a:xfrm>
              <a:off x="3890" y="1991"/>
              <a:ext cx="379" cy="38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" name="Line 105"/>
            <p:cNvSpPr>
              <a:spLocks noChangeShapeType="1"/>
            </p:cNvSpPr>
            <p:nvPr/>
          </p:nvSpPr>
          <p:spPr bwMode="auto">
            <a:xfrm flipH="1">
              <a:off x="3890" y="2371"/>
              <a:ext cx="379" cy="3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" name="Oval 106"/>
            <p:cNvSpPr>
              <a:spLocks noChangeArrowheads="1"/>
            </p:cNvSpPr>
            <p:nvPr/>
          </p:nvSpPr>
          <p:spPr bwMode="auto">
            <a:xfrm>
              <a:off x="3664" y="2140"/>
              <a:ext cx="456" cy="456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7" name="Line 107"/>
            <p:cNvSpPr>
              <a:spLocks noChangeShapeType="1"/>
            </p:cNvSpPr>
            <p:nvPr/>
          </p:nvSpPr>
          <p:spPr bwMode="auto">
            <a:xfrm>
              <a:off x="3774" y="1910"/>
              <a:ext cx="1" cy="2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" name="Line 108"/>
            <p:cNvSpPr>
              <a:spLocks noChangeShapeType="1"/>
            </p:cNvSpPr>
            <p:nvPr/>
          </p:nvSpPr>
          <p:spPr bwMode="auto">
            <a:xfrm>
              <a:off x="3774" y="2567"/>
              <a:ext cx="1" cy="3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" name="Line 109"/>
            <p:cNvSpPr>
              <a:spLocks noChangeShapeType="1"/>
            </p:cNvSpPr>
            <p:nvPr/>
          </p:nvSpPr>
          <p:spPr bwMode="auto">
            <a:xfrm>
              <a:off x="3549" y="2697"/>
              <a:ext cx="1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" name="Line 110"/>
            <p:cNvSpPr>
              <a:spLocks noChangeShapeType="1"/>
            </p:cNvSpPr>
            <p:nvPr/>
          </p:nvSpPr>
          <p:spPr bwMode="auto">
            <a:xfrm>
              <a:off x="4235" y="2697"/>
              <a:ext cx="1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" name="Line 111"/>
            <p:cNvSpPr>
              <a:spLocks noChangeShapeType="1"/>
            </p:cNvSpPr>
            <p:nvPr/>
          </p:nvSpPr>
          <p:spPr bwMode="auto">
            <a:xfrm>
              <a:off x="3549" y="2942"/>
              <a:ext cx="686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" name="Line 112"/>
            <p:cNvSpPr>
              <a:spLocks noChangeShapeType="1"/>
            </p:cNvSpPr>
            <p:nvPr/>
          </p:nvSpPr>
          <p:spPr bwMode="auto">
            <a:xfrm>
              <a:off x="3626" y="2826"/>
              <a:ext cx="76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" name="Line 113"/>
            <p:cNvSpPr>
              <a:spLocks noChangeShapeType="1"/>
            </p:cNvSpPr>
            <p:nvPr/>
          </p:nvSpPr>
          <p:spPr bwMode="auto">
            <a:xfrm>
              <a:off x="3626" y="2826"/>
              <a:ext cx="1" cy="1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" name="Line 114"/>
            <p:cNvSpPr>
              <a:spLocks noChangeShapeType="1"/>
            </p:cNvSpPr>
            <p:nvPr/>
          </p:nvSpPr>
          <p:spPr bwMode="auto">
            <a:xfrm>
              <a:off x="3702" y="2826"/>
              <a:ext cx="1" cy="1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" name="Line 115"/>
            <p:cNvSpPr>
              <a:spLocks noChangeShapeType="1"/>
            </p:cNvSpPr>
            <p:nvPr/>
          </p:nvSpPr>
          <p:spPr bwMode="auto">
            <a:xfrm flipH="1" flipV="1">
              <a:off x="3664" y="2802"/>
              <a:ext cx="38" cy="2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" name="Line 116"/>
            <p:cNvSpPr>
              <a:spLocks noChangeShapeType="1"/>
            </p:cNvSpPr>
            <p:nvPr/>
          </p:nvSpPr>
          <p:spPr bwMode="auto">
            <a:xfrm flipV="1">
              <a:off x="3626" y="2802"/>
              <a:ext cx="38" cy="2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" name="Rectangle 117"/>
            <p:cNvSpPr>
              <a:spLocks noChangeArrowheads="1"/>
            </p:cNvSpPr>
            <p:nvPr/>
          </p:nvSpPr>
          <p:spPr bwMode="auto">
            <a:xfrm>
              <a:off x="3445" y="3099"/>
              <a:ext cx="96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zh-CN" altLang="en-US" dirty="0">
                  <a:solidFill>
                    <a:srgbClr val="FF0000"/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rPr>
                <a:t>局部表达好</a:t>
              </a:r>
            </a:p>
          </p:txBody>
        </p:sp>
      </p:grpSp>
      <p:grpSp>
        <p:nvGrpSpPr>
          <p:cNvPr id="123" name="Group 123"/>
          <p:cNvGrpSpPr>
            <a:grpSpLocks/>
          </p:cNvGrpSpPr>
          <p:nvPr/>
        </p:nvGrpSpPr>
        <p:grpSpPr bwMode="auto">
          <a:xfrm>
            <a:off x="3622677" y="814388"/>
            <a:ext cx="2154239" cy="4484687"/>
            <a:chOff x="1322" y="513"/>
            <a:chExt cx="1357" cy="2825"/>
          </a:xfrm>
        </p:grpSpPr>
        <p:sp>
          <p:nvSpPr>
            <p:cNvPr id="124" name="Line 124"/>
            <p:cNvSpPr>
              <a:spLocks noChangeShapeType="1"/>
            </p:cNvSpPr>
            <p:nvPr/>
          </p:nvSpPr>
          <p:spPr bwMode="auto">
            <a:xfrm>
              <a:off x="1769" y="1540"/>
              <a:ext cx="45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" name="Line 125"/>
            <p:cNvSpPr>
              <a:spLocks noChangeShapeType="1"/>
            </p:cNvSpPr>
            <p:nvPr/>
          </p:nvSpPr>
          <p:spPr bwMode="auto">
            <a:xfrm flipV="1">
              <a:off x="1769" y="1300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" name="Line 126"/>
            <p:cNvSpPr>
              <a:spLocks noChangeShapeType="1"/>
            </p:cNvSpPr>
            <p:nvPr/>
          </p:nvSpPr>
          <p:spPr bwMode="auto">
            <a:xfrm flipV="1">
              <a:off x="1769" y="1271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" name="Line 127"/>
            <p:cNvSpPr>
              <a:spLocks noChangeShapeType="1"/>
            </p:cNvSpPr>
            <p:nvPr/>
          </p:nvSpPr>
          <p:spPr bwMode="auto">
            <a:xfrm flipV="1">
              <a:off x="1769" y="1132"/>
              <a:ext cx="1" cy="12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" name="Line 128"/>
            <p:cNvSpPr>
              <a:spLocks noChangeShapeType="1"/>
            </p:cNvSpPr>
            <p:nvPr/>
          </p:nvSpPr>
          <p:spPr bwMode="auto">
            <a:xfrm flipV="1">
              <a:off x="1769" y="1103"/>
              <a:ext cx="1" cy="15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" name="Line 129"/>
            <p:cNvSpPr>
              <a:spLocks noChangeShapeType="1"/>
            </p:cNvSpPr>
            <p:nvPr/>
          </p:nvSpPr>
          <p:spPr bwMode="auto">
            <a:xfrm flipV="1">
              <a:off x="1769" y="1046"/>
              <a:ext cx="1" cy="43"/>
            </a:xfrm>
            <a:prstGeom prst="line">
              <a:avLst/>
            </a:prstGeom>
            <a:noFill/>
            <a:ln w="79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" name="Line 130"/>
            <p:cNvSpPr>
              <a:spLocks noChangeShapeType="1"/>
            </p:cNvSpPr>
            <p:nvPr/>
          </p:nvSpPr>
          <p:spPr bwMode="auto">
            <a:xfrm flipV="1">
              <a:off x="2224" y="1032"/>
              <a:ext cx="245" cy="249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" name="Line 131"/>
            <p:cNvSpPr>
              <a:spLocks noChangeShapeType="1"/>
            </p:cNvSpPr>
            <p:nvPr/>
          </p:nvSpPr>
          <p:spPr bwMode="auto">
            <a:xfrm flipV="1">
              <a:off x="2224" y="926"/>
              <a:ext cx="245" cy="245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" name="Line 132"/>
            <p:cNvSpPr>
              <a:spLocks noChangeShapeType="1"/>
            </p:cNvSpPr>
            <p:nvPr/>
          </p:nvSpPr>
          <p:spPr bwMode="auto">
            <a:xfrm flipV="1">
              <a:off x="2224" y="969"/>
              <a:ext cx="92" cy="96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" name="Line 133"/>
            <p:cNvSpPr>
              <a:spLocks noChangeShapeType="1"/>
            </p:cNvSpPr>
            <p:nvPr/>
          </p:nvSpPr>
          <p:spPr bwMode="auto">
            <a:xfrm flipV="1">
              <a:off x="2373" y="816"/>
              <a:ext cx="96" cy="100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" name="Line 134"/>
            <p:cNvSpPr>
              <a:spLocks noChangeShapeType="1"/>
            </p:cNvSpPr>
            <p:nvPr/>
          </p:nvSpPr>
          <p:spPr bwMode="auto">
            <a:xfrm flipV="1">
              <a:off x="2373" y="710"/>
              <a:ext cx="96" cy="96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" name="Line 135"/>
            <p:cNvSpPr>
              <a:spLocks noChangeShapeType="1"/>
            </p:cNvSpPr>
            <p:nvPr/>
          </p:nvSpPr>
          <p:spPr bwMode="auto">
            <a:xfrm flipV="1">
              <a:off x="2373" y="600"/>
              <a:ext cx="96" cy="100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" name="Line 136"/>
            <p:cNvSpPr>
              <a:spLocks noChangeShapeType="1"/>
            </p:cNvSpPr>
            <p:nvPr/>
          </p:nvSpPr>
          <p:spPr bwMode="auto">
            <a:xfrm flipV="1">
              <a:off x="2373" y="590"/>
              <a:ext cx="1" cy="5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" name="Line 137"/>
            <p:cNvSpPr>
              <a:spLocks noChangeShapeType="1"/>
            </p:cNvSpPr>
            <p:nvPr/>
          </p:nvSpPr>
          <p:spPr bwMode="auto">
            <a:xfrm flipV="1">
              <a:off x="2224" y="1137"/>
              <a:ext cx="245" cy="250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" name="Line 138"/>
            <p:cNvSpPr>
              <a:spLocks noChangeShapeType="1"/>
            </p:cNvSpPr>
            <p:nvPr/>
          </p:nvSpPr>
          <p:spPr bwMode="auto">
            <a:xfrm flipV="1">
              <a:off x="2224" y="1247"/>
              <a:ext cx="245" cy="245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" name="Line 139"/>
            <p:cNvSpPr>
              <a:spLocks noChangeShapeType="1"/>
            </p:cNvSpPr>
            <p:nvPr/>
          </p:nvSpPr>
          <p:spPr bwMode="auto">
            <a:xfrm flipV="1">
              <a:off x="2287" y="1353"/>
              <a:ext cx="182" cy="187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" name="Line 140"/>
            <p:cNvSpPr>
              <a:spLocks noChangeShapeType="1"/>
            </p:cNvSpPr>
            <p:nvPr/>
          </p:nvSpPr>
          <p:spPr bwMode="auto">
            <a:xfrm flipV="1">
              <a:off x="2392" y="1463"/>
              <a:ext cx="77" cy="77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" name="Line 141"/>
            <p:cNvSpPr>
              <a:spLocks noChangeShapeType="1"/>
            </p:cNvSpPr>
            <p:nvPr/>
          </p:nvSpPr>
          <p:spPr bwMode="auto">
            <a:xfrm flipV="1">
              <a:off x="1653" y="2529"/>
              <a:ext cx="183" cy="182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" name="Line 142"/>
            <p:cNvSpPr>
              <a:spLocks noChangeShapeType="1"/>
            </p:cNvSpPr>
            <p:nvPr/>
          </p:nvSpPr>
          <p:spPr bwMode="auto">
            <a:xfrm flipV="1">
              <a:off x="1610" y="2467"/>
              <a:ext cx="178" cy="182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" name="Line 143"/>
            <p:cNvSpPr>
              <a:spLocks noChangeShapeType="1"/>
            </p:cNvSpPr>
            <p:nvPr/>
          </p:nvSpPr>
          <p:spPr bwMode="auto">
            <a:xfrm flipV="1">
              <a:off x="1567" y="2380"/>
              <a:ext cx="202" cy="202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" name="Line 144"/>
            <p:cNvSpPr>
              <a:spLocks noChangeShapeType="1"/>
            </p:cNvSpPr>
            <p:nvPr/>
          </p:nvSpPr>
          <p:spPr bwMode="auto">
            <a:xfrm flipV="1">
              <a:off x="1538" y="2159"/>
              <a:ext cx="346" cy="341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" name="Line 145"/>
            <p:cNvSpPr>
              <a:spLocks noChangeShapeType="1"/>
            </p:cNvSpPr>
            <p:nvPr/>
          </p:nvSpPr>
          <p:spPr bwMode="auto">
            <a:xfrm flipV="1">
              <a:off x="1524" y="2054"/>
              <a:ext cx="360" cy="360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" name="Line 146"/>
            <p:cNvSpPr>
              <a:spLocks noChangeShapeType="1"/>
            </p:cNvSpPr>
            <p:nvPr/>
          </p:nvSpPr>
          <p:spPr bwMode="auto">
            <a:xfrm flipV="1">
              <a:off x="1524" y="1943"/>
              <a:ext cx="360" cy="360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" name="Line 147"/>
            <p:cNvSpPr>
              <a:spLocks noChangeShapeType="1"/>
            </p:cNvSpPr>
            <p:nvPr/>
          </p:nvSpPr>
          <p:spPr bwMode="auto">
            <a:xfrm flipV="1">
              <a:off x="1581" y="1953"/>
              <a:ext cx="183" cy="187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" name="Line 148"/>
            <p:cNvSpPr>
              <a:spLocks noChangeShapeType="1"/>
            </p:cNvSpPr>
            <p:nvPr/>
          </p:nvSpPr>
          <p:spPr bwMode="auto">
            <a:xfrm flipV="1">
              <a:off x="1653" y="2591"/>
              <a:ext cx="231" cy="226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" name="Line 149"/>
            <p:cNvSpPr>
              <a:spLocks noChangeShapeType="1"/>
            </p:cNvSpPr>
            <p:nvPr/>
          </p:nvSpPr>
          <p:spPr bwMode="auto">
            <a:xfrm flipV="1">
              <a:off x="1653" y="2850"/>
              <a:ext cx="77" cy="77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0" name="Line 150"/>
            <p:cNvSpPr>
              <a:spLocks noChangeShapeType="1"/>
            </p:cNvSpPr>
            <p:nvPr/>
          </p:nvSpPr>
          <p:spPr bwMode="auto">
            <a:xfrm flipV="1">
              <a:off x="1773" y="2697"/>
              <a:ext cx="111" cy="110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" name="Line 151"/>
            <p:cNvSpPr>
              <a:spLocks noChangeShapeType="1"/>
            </p:cNvSpPr>
            <p:nvPr/>
          </p:nvSpPr>
          <p:spPr bwMode="auto">
            <a:xfrm flipV="1">
              <a:off x="1807" y="2807"/>
              <a:ext cx="77" cy="72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" name="Line 152"/>
            <p:cNvSpPr>
              <a:spLocks noChangeShapeType="1"/>
            </p:cNvSpPr>
            <p:nvPr/>
          </p:nvSpPr>
          <p:spPr bwMode="auto">
            <a:xfrm flipV="1">
              <a:off x="1855" y="2913"/>
              <a:ext cx="29" cy="29"/>
            </a:xfrm>
            <a:prstGeom prst="line">
              <a:avLst/>
            </a:prstGeom>
            <a:noFill/>
            <a:ln w="7938">
              <a:solidFill>
                <a:srgbClr val="0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" name="Line 153"/>
            <p:cNvSpPr>
              <a:spLocks noChangeShapeType="1"/>
            </p:cNvSpPr>
            <p:nvPr/>
          </p:nvSpPr>
          <p:spPr bwMode="auto">
            <a:xfrm flipV="1">
              <a:off x="1994" y="590"/>
              <a:ext cx="1" cy="379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" name="Line 154"/>
            <p:cNvSpPr>
              <a:spLocks noChangeShapeType="1"/>
            </p:cNvSpPr>
            <p:nvPr/>
          </p:nvSpPr>
          <p:spPr bwMode="auto">
            <a:xfrm>
              <a:off x="1888" y="782"/>
              <a:ext cx="15" cy="29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" name="Line 155"/>
            <p:cNvSpPr>
              <a:spLocks noChangeShapeType="1"/>
            </p:cNvSpPr>
            <p:nvPr/>
          </p:nvSpPr>
          <p:spPr bwMode="auto">
            <a:xfrm>
              <a:off x="1888" y="782"/>
              <a:ext cx="106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" name="Line 156"/>
            <p:cNvSpPr>
              <a:spLocks noChangeShapeType="1"/>
            </p:cNvSpPr>
            <p:nvPr/>
          </p:nvSpPr>
          <p:spPr bwMode="auto">
            <a:xfrm flipH="1" flipV="1">
              <a:off x="1922" y="844"/>
              <a:ext cx="14" cy="29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" name="Line 157"/>
            <p:cNvSpPr>
              <a:spLocks noChangeShapeType="1"/>
            </p:cNvSpPr>
            <p:nvPr/>
          </p:nvSpPr>
          <p:spPr bwMode="auto">
            <a:xfrm flipV="1">
              <a:off x="1936" y="782"/>
              <a:ext cx="58" cy="9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" name="Line 158"/>
            <p:cNvSpPr>
              <a:spLocks noChangeShapeType="1"/>
            </p:cNvSpPr>
            <p:nvPr/>
          </p:nvSpPr>
          <p:spPr bwMode="auto">
            <a:xfrm flipV="1">
              <a:off x="1793" y="811"/>
              <a:ext cx="110" cy="62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9" name="Line 159"/>
            <p:cNvSpPr>
              <a:spLocks noChangeShapeType="1"/>
            </p:cNvSpPr>
            <p:nvPr/>
          </p:nvSpPr>
          <p:spPr bwMode="auto">
            <a:xfrm>
              <a:off x="1793" y="873"/>
              <a:ext cx="9" cy="19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" name="Line 160"/>
            <p:cNvSpPr>
              <a:spLocks noChangeShapeType="1"/>
            </p:cNvSpPr>
            <p:nvPr/>
          </p:nvSpPr>
          <p:spPr bwMode="auto">
            <a:xfrm flipH="1" flipV="1">
              <a:off x="1802" y="892"/>
              <a:ext cx="10" cy="1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" name="Line 161"/>
            <p:cNvSpPr>
              <a:spLocks noChangeShapeType="1"/>
            </p:cNvSpPr>
            <p:nvPr/>
          </p:nvSpPr>
          <p:spPr bwMode="auto">
            <a:xfrm flipV="1">
              <a:off x="1812" y="844"/>
              <a:ext cx="110" cy="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2" name="Line 162"/>
            <p:cNvSpPr>
              <a:spLocks noChangeShapeType="1"/>
            </p:cNvSpPr>
            <p:nvPr/>
          </p:nvSpPr>
          <p:spPr bwMode="auto">
            <a:xfrm>
              <a:off x="1457" y="2371"/>
              <a:ext cx="124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" name="Line 163"/>
            <p:cNvSpPr>
              <a:spLocks noChangeShapeType="1"/>
            </p:cNvSpPr>
            <p:nvPr/>
          </p:nvSpPr>
          <p:spPr bwMode="auto">
            <a:xfrm>
              <a:off x="1596" y="2371"/>
              <a:ext cx="14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" name="Line 164"/>
            <p:cNvSpPr>
              <a:spLocks noChangeShapeType="1"/>
            </p:cNvSpPr>
            <p:nvPr/>
          </p:nvSpPr>
          <p:spPr bwMode="auto">
            <a:xfrm>
              <a:off x="1625" y="2371"/>
              <a:ext cx="124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" name="Line 165"/>
            <p:cNvSpPr>
              <a:spLocks noChangeShapeType="1"/>
            </p:cNvSpPr>
            <p:nvPr/>
          </p:nvSpPr>
          <p:spPr bwMode="auto">
            <a:xfrm>
              <a:off x="1764" y="2371"/>
              <a:ext cx="14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" name="Line 166"/>
            <p:cNvSpPr>
              <a:spLocks noChangeShapeType="1"/>
            </p:cNvSpPr>
            <p:nvPr/>
          </p:nvSpPr>
          <p:spPr bwMode="auto">
            <a:xfrm>
              <a:off x="1793" y="2371"/>
              <a:ext cx="124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" name="Line 167"/>
            <p:cNvSpPr>
              <a:spLocks noChangeShapeType="1"/>
            </p:cNvSpPr>
            <p:nvPr/>
          </p:nvSpPr>
          <p:spPr bwMode="auto">
            <a:xfrm>
              <a:off x="1932" y="2371"/>
              <a:ext cx="14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" name="Line 168"/>
            <p:cNvSpPr>
              <a:spLocks noChangeShapeType="1"/>
            </p:cNvSpPr>
            <p:nvPr/>
          </p:nvSpPr>
          <p:spPr bwMode="auto">
            <a:xfrm>
              <a:off x="1960" y="2371"/>
              <a:ext cx="12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" name="Line 169"/>
            <p:cNvSpPr>
              <a:spLocks noChangeShapeType="1"/>
            </p:cNvSpPr>
            <p:nvPr/>
          </p:nvSpPr>
          <p:spPr bwMode="auto">
            <a:xfrm>
              <a:off x="2100" y="2371"/>
              <a:ext cx="14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" name="Line 170"/>
            <p:cNvSpPr>
              <a:spLocks noChangeShapeType="1"/>
            </p:cNvSpPr>
            <p:nvPr/>
          </p:nvSpPr>
          <p:spPr bwMode="auto">
            <a:xfrm>
              <a:off x="2128" y="2371"/>
              <a:ext cx="12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1" name="Line 171"/>
            <p:cNvSpPr>
              <a:spLocks noChangeShapeType="1"/>
            </p:cNvSpPr>
            <p:nvPr/>
          </p:nvSpPr>
          <p:spPr bwMode="auto">
            <a:xfrm>
              <a:off x="2268" y="2371"/>
              <a:ext cx="14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2" name="Line 172"/>
            <p:cNvSpPr>
              <a:spLocks noChangeShapeType="1"/>
            </p:cNvSpPr>
            <p:nvPr/>
          </p:nvSpPr>
          <p:spPr bwMode="auto">
            <a:xfrm>
              <a:off x="2296" y="2371"/>
              <a:ext cx="12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3" name="Line 173"/>
            <p:cNvSpPr>
              <a:spLocks noChangeShapeType="1"/>
            </p:cNvSpPr>
            <p:nvPr/>
          </p:nvSpPr>
          <p:spPr bwMode="auto">
            <a:xfrm>
              <a:off x="2436" y="2371"/>
              <a:ext cx="14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" name="Line 174"/>
            <p:cNvSpPr>
              <a:spLocks noChangeShapeType="1"/>
            </p:cNvSpPr>
            <p:nvPr/>
          </p:nvSpPr>
          <p:spPr bwMode="auto">
            <a:xfrm>
              <a:off x="2464" y="2371"/>
              <a:ext cx="77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" name="Line 175"/>
            <p:cNvSpPr>
              <a:spLocks noChangeShapeType="1"/>
            </p:cNvSpPr>
            <p:nvPr/>
          </p:nvSpPr>
          <p:spPr bwMode="auto">
            <a:xfrm flipV="1">
              <a:off x="1994" y="2870"/>
              <a:ext cx="1" cy="12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6" name="Line 176"/>
            <p:cNvSpPr>
              <a:spLocks noChangeShapeType="1"/>
            </p:cNvSpPr>
            <p:nvPr/>
          </p:nvSpPr>
          <p:spPr bwMode="auto">
            <a:xfrm flipV="1">
              <a:off x="1994" y="2841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7" name="Line 177"/>
            <p:cNvSpPr>
              <a:spLocks noChangeShapeType="1"/>
            </p:cNvSpPr>
            <p:nvPr/>
          </p:nvSpPr>
          <p:spPr bwMode="auto">
            <a:xfrm flipV="1">
              <a:off x="1994" y="2702"/>
              <a:ext cx="1" cy="12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8" name="Line 178"/>
            <p:cNvSpPr>
              <a:spLocks noChangeShapeType="1"/>
            </p:cNvSpPr>
            <p:nvPr/>
          </p:nvSpPr>
          <p:spPr bwMode="auto">
            <a:xfrm flipV="1">
              <a:off x="1994" y="2673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9" name="Line 179"/>
            <p:cNvSpPr>
              <a:spLocks noChangeShapeType="1"/>
            </p:cNvSpPr>
            <p:nvPr/>
          </p:nvSpPr>
          <p:spPr bwMode="auto">
            <a:xfrm flipV="1">
              <a:off x="1994" y="2534"/>
              <a:ext cx="1" cy="12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0" name="Line 180"/>
            <p:cNvSpPr>
              <a:spLocks noChangeShapeType="1"/>
            </p:cNvSpPr>
            <p:nvPr/>
          </p:nvSpPr>
          <p:spPr bwMode="auto">
            <a:xfrm flipV="1">
              <a:off x="1994" y="2505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1" name="Line 181"/>
            <p:cNvSpPr>
              <a:spLocks noChangeShapeType="1"/>
            </p:cNvSpPr>
            <p:nvPr/>
          </p:nvSpPr>
          <p:spPr bwMode="auto">
            <a:xfrm flipV="1">
              <a:off x="1994" y="2366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" name="Line 182"/>
            <p:cNvSpPr>
              <a:spLocks noChangeShapeType="1"/>
            </p:cNvSpPr>
            <p:nvPr/>
          </p:nvSpPr>
          <p:spPr bwMode="auto">
            <a:xfrm flipV="1">
              <a:off x="1994" y="2337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" name="Line 183"/>
            <p:cNvSpPr>
              <a:spLocks noChangeShapeType="1"/>
            </p:cNvSpPr>
            <p:nvPr/>
          </p:nvSpPr>
          <p:spPr bwMode="auto">
            <a:xfrm flipV="1">
              <a:off x="1994" y="2198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" name="Line 184"/>
            <p:cNvSpPr>
              <a:spLocks noChangeShapeType="1"/>
            </p:cNvSpPr>
            <p:nvPr/>
          </p:nvSpPr>
          <p:spPr bwMode="auto">
            <a:xfrm flipV="1">
              <a:off x="1994" y="2169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" name="Line 185"/>
            <p:cNvSpPr>
              <a:spLocks noChangeShapeType="1"/>
            </p:cNvSpPr>
            <p:nvPr/>
          </p:nvSpPr>
          <p:spPr bwMode="auto">
            <a:xfrm flipV="1">
              <a:off x="1994" y="2030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" name="Line 186"/>
            <p:cNvSpPr>
              <a:spLocks noChangeShapeType="1"/>
            </p:cNvSpPr>
            <p:nvPr/>
          </p:nvSpPr>
          <p:spPr bwMode="auto">
            <a:xfrm flipV="1">
              <a:off x="1994" y="2001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" name="Line 187"/>
            <p:cNvSpPr>
              <a:spLocks noChangeShapeType="1"/>
            </p:cNvSpPr>
            <p:nvPr/>
          </p:nvSpPr>
          <p:spPr bwMode="auto">
            <a:xfrm flipV="1">
              <a:off x="1994" y="1862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8" name="Line 188"/>
            <p:cNvSpPr>
              <a:spLocks noChangeShapeType="1"/>
            </p:cNvSpPr>
            <p:nvPr/>
          </p:nvSpPr>
          <p:spPr bwMode="auto">
            <a:xfrm flipV="1">
              <a:off x="1994" y="1478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" name="Line 189"/>
            <p:cNvSpPr>
              <a:spLocks noChangeShapeType="1"/>
            </p:cNvSpPr>
            <p:nvPr/>
          </p:nvSpPr>
          <p:spPr bwMode="auto">
            <a:xfrm flipV="1">
              <a:off x="1994" y="1449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0" name="Line 190"/>
            <p:cNvSpPr>
              <a:spLocks noChangeShapeType="1"/>
            </p:cNvSpPr>
            <p:nvPr/>
          </p:nvSpPr>
          <p:spPr bwMode="auto">
            <a:xfrm flipV="1">
              <a:off x="1994" y="1310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" name="Line 191"/>
            <p:cNvSpPr>
              <a:spLocks noChangeShapeType="1"/>
            </p:cNvSpPr>
            <p:nvPr/>
          </p:nvSpPr>
          <p:spPr bwMode="auto">
            <a:xfrm flipV="1">
              <a:off x="1994" y="1281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2" name="Line 192"/>
            <p:cNvSpPr>
              <a:spLocks noChangeShapeType="1"/>
            </p:cNvSpPr>
            <p:nvPr/>
          </p:nvSpPr>
          <p:spPr bwMode="auto">
            <a:xfrm flipV="1">
              <a:off x="1994" y="1142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3" name="Line 193"/>
            <p:cNvSpPr>
              <a:spLocks noChangeShapeType="1"/>
            </p:cNvSpPr>
            <p:nvPr/>
          </p:nvSpPr>
          <p:spPr bwMode="auto">
            <a:xfrm flipV="1">
              <a:off x="1994" y="1113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" name="Line 194"/>
            <p:cNvSpPr>
              <a:spLocks noChangeShapeType="1"/>
            </p:cNvSpPr>
            <p:nvPr/>
          </p:nvSpPr>
          <p:spPr bwMode="auto">
            <a:xfrm flipV="1">
              <a:off x="1994" y="974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" name="Line 195"/>
            <p:cNvSpPr>
              <a:spLocks noChangeShapeType="1"/>
            </p:cNvSpPr>
            <p:nvPr/>
          </p:nvSpPr>
          <p:spPr bwMode="auto">
            <a:xfrm flipV="1">
              <a:off x="1994" y="945"/>
              <a:ext cx="1" cy="1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" name="Line 196"/>
            <p:cNvSpPr>
              <a:spLocks noChangeShapeType="1"/>
            </p:cNvSpPr>
            <p:nvPr/>
          </p:nvSpPr>
          <p:spPr bwMode="auto">
            <a:xfrm flipV="1">
              <a:off x="1994" y="806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7" name="Line 197"/>
            <p:cNvSpPr>
              <a:spLocks noChangeShapeType="1"/>
            </p:cNvSpPr>
            <p:nvPr/>
          </p:nvSpPr>
          <p:spPr bwMode="auto">
            <a:xfrm flipV="1">
              <a:off x="1994" y="777"/>
              <a:ext cx="1" cy="1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" name="Line 198"/>
            <p:cNvSpPr>
              <a:spLocks noChangeShapeType="1"/>
            </p:cNvSpPr>
            <p:nvPr/>
          </p:nvSpPr>
          <p:spPr bwMode="auto">
            <a:xfrm flipV="1">
              <a:off x="1994" y="638"/>
              <a:ext cx="1" cy="12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" name="Line 199"/>
            <p:cNvSpPr>
              <a:spLocks noChangeShapeType="1"/>
            </p:cNvSpPr>
            <p:nvPr/>
          </p:nvSpPr>
          <p:spPr bwMode="auto">
            <a:xfrm flipV="1">
              <a:off x="1994" y="609"/>
              <a:ext cx="1" cy="1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0" name="Line 200"/>
            <p:cNvSpPr>
              <a:spLocks noChangeShapeType="1"/>
            </p:cNvSpPr>
            <p:nvPr/>
          </p:nvSpPr>
          <p:spPr bwMode="auto">
            <a:xfrm flipV="1">
              <a:off x="1994" y="513"/>
              <a:ext cx="1" cy="82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1" name="Line 201"/>
            <p:cNvSpPr>
              <a:spLocks noChangeShapeType="1"/>
            </p:cNvSpPr>
            <p:nvPr/>
          </p:nvSpPr>
          <p:spPr bwMode="auto">
            <a:xfrm>
              <a:off x="1581" y="1238"/>
              <a:ext cx="12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2" name="Line 202"/>
            <p:cNvSpPr>
              <a:spLocks noChangeShapeType="1"/>
            </p:cNvSpPr>
            <p:nvPr/>
          </p:nvSpPr>
          <p:spPr bwMode="auto">
            <a:xfrm>
              <a:off x="1721" y="1238"/>
              <a:ext cx="14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3" name="Line 203"/>
            <p:cNvSpPr>
              <a:spLocks noChangeShapeType="1"/>
            </p:cNvSpPr>
            <p:nvPr/>
          </p:nvSpPr>
          <p:spPr bwMode="auto">
            <a:xfrm>
              <a:off x="1749" y="1238"/>
              <a:ext cx="12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" name="Line 204"/>
            <p:cNvSpPr>
              <a:spLocks noChangeShapeType="1"/>
            </p:cNvSpPr>
            <p:nvPr/>
          </p:nvSpPr>
          <p:spPr bwMode="auto">
            <a:xfrm>
              <a:off x="1888" y="1238"/>
              <a:ext cx="1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" name="Line 205"/>
            <p:cNvSpPr>
              <a:spLocks noChangeShapeType="1"/>
            </p:cNvSpPr>
            <p:nvPr/>
          </p:nvSpPr>
          <p:spPr bwMode="auto">
            <a:xfrm>
              <a:off x="1917" y="1238"/>
              <a:ext cx="12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" name="Line 206"/>
            <p:cNvSpPr>
              <a:spLocks noChangeShapeType="1"/>
            </p:cNvSpPr>
            <p:nvPr/>
          </p:nvSpPr>
          <p:spPr bwMode="auto">
            <a:xfrm>
              <a:off x="2056" y="1238"/>
              <a:ext cx="5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" name="Line 207"/>
            <p:cNvSpPr>
              <a:spLocks noChangeShapeType="1"/>
            </p:cNvSpPr>
            <p:nvPr/>
          </p:nvSpPr>
          <p:spPr bwMode="auto">
            <a:xfrm flipV="1">
              <a:off x="1769" y="2870"/>
              <a:ext cx="1" cy="12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8" name="Line 208"/>
            <p:cNvSpPr>
              <a:spLocks noChangeShapeType="1"/>
            </p:cNvSpPr>
            <p:nvPr/>
          </p:nvSpPr>
          <p:spPr bwMode="auto">
            <a:xfrm flipV="1">
              <a:off x="1769" y="2841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9" name="Line 209"/>
            <p:cNvSpPr>
              <a:spLocks noChangeShapeType="1"/>
            </p:cNvSpPr>
            <p:nvPr/>
          </p:nvSpPr>
          <p:spPr bwMode="auto">
            <a:xfrm flipV="1">
              <a:off x="1769" y="2745"/>
              <a:ext cx="1" cy="8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0" name="Line 210"/>
            <p:cNvSpPr>
              <a:spLocks noChangeShapeType="1"/>
            </p:cNvSpPr>
            <p:nvPr/>
          </p:nvSpPr>
          <p:spPr bwMode="auto">
            <a:xfrm flipV="1">
              <a:off x="2224" y="2870"/>
              <a:ext cx="1" cy="12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" name="Line 211"/>
            <p:cNvSpPr>
              <a:spLocks noChangeShapeType="1"/>
            </p:cNvSpPr>
            <p:nvPr/>
          </p:nvSpPr>
          <p:spPr bwMode="auto">
            <a:xfrm flipV="1">
              <a:off x="2224" y="2841"/>
              <a:ext cx="1" cy="14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" name="Line 212"/>
            <p:cNvSpPr>
              <a:spLocks noChangeShapeType="1"/>
            </p:cNvSpPr>
            <p:nvPr/>
          </p:nvSpPr>
          <p:spPr bwMode="auto">
            <a:xfrm flipV="1">
              <a:off x="2224" y="2745"/>
              <a:ext cx="1" cy="8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" name="Line 213"/>
            <p:cNvSpPr>
              <a:spLocks noChangeShapeType="1"/>
            </p:cNvSpPr>
            <p:nvPr/>
          </p:nvSpPr>
          <p:spPr bwMode="auto">
            <a:xfrm flipV="1">
              <a:off x="1519" y="590"/>
              <a:ext cx="1" cy="9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4" name="Line 214"/>
            <p:cNvSpPr>
              <a:spLocks noChangeShapeType="1"/>
            </p:cNvSpPr>
            <p:nvPr/>
          </p:nvSpPr>
          <p:spPr bwMode="auto">
            <a:xfrm>
              <a:off x="1519" y="590"/>
              <a:ext cx="950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" name="Line 215"/>
            <p:cNvSpPr>
              <a:spLocks noChangeShapeType="1"/>
            </p:cNvSpPr>
            <p:nvPr/>
          </p:nvSpPr>
          <p:spPr bwMode="auto">
            <a:xfrm flipV="1">
              <a:off x="2373" y="590"/>
              <a:ext cx="1" cy="3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" name="Line 216"/>
            <p:cNvSpPr>
              <a:spLocks noChangeShapeType="1"/>
            </p:cNvSpPr>
            <p:nvPr/>
          </p:nvSpPr>
          <p:spPr bwMode="auto">
            <a:xfrm flipV="1">
              <a:off x="2469" y="590"/>
              <a:ext cx="1" cy="9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" name="Line 217"/>
            <p:cNvSpPr>
              <a:spLocks noChangeShapeType="1"/>
            </p:cNvSpPr>
            <p:nvPr/>
          </p:nvSpPr>
          <p:spPr bwMode="auto">
            <a:xfrm>
              <a:off x="2224" y="969"/>
              <a:ext cx="1" cy="5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8" name="Line 218"/>
            <p:cNvSpPr>
              <a:spLocks noChangeShapeType="1"/>
            </p:cNvSpPr>
            <p:nvPr/>
          </p:nvSpPr>
          <p:spPr bwMode="auto">
            <a:xfrm flipV="1">
              <a:off x="1730" y="1056"/>
              <a:ext cx="202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9" name="Freeform 219"/>
            <p:cNvSpPr>
              <a:spLocks noChangeArrowheads="1"/>
            </p:cNvSpPr>
            <p:nvPr/>
          </p:nvSpPr>
          <p:spPr bwMode="auto">
            <a:xfrm>
              <a:off x="1932" y="1046"/>
              <a:ext cx="62" cy="10"/>
            </a:xfrm>
            <a:custGeom>
              <a:avLst/>
              <a:gdLst>
                <a:gd name="T0" fmla="*/ 13 w 13"/>
                <a:gd name="T1" fmla="*/ 0 h 2"/>
                <a:gd name="T2" fmla="*/ 12 w 13"/>
                <a:gd name="T3" fmla="*/ 0 h 2"/>
                <a:gd name="T4" fmla="*/ 11 w 13"/>
                <a:gd name="T5" fmla="*/ 0 h 2"/>
                <a:gd name="T6" fmla="*/ 9 w 13"/>
                <a:gd name="T7" fmla="*/ 0 h 2"/>
                <a:gd name="T8" fmla="*/ 8 w 13"/>
                <a:gd name="T9" fmla="*/ 0 h 2"/>
                <a:gd name="T10" fmla="*/ 7 w 13"/>
                <a:gd name="T11" fmla="*/ 1 h 2"/>
                <a:gd name="T12" fmla="*/ 5 w 13"/>
                <a:gd name="T13" fmla="*/ 1 h 2"/>
                <a:gd name="T14" fmla="*/ 4 w 13"/>
                <a:gd name="T15" fmla="*/ 1 h 2"/>
                <a:gd name="T16" fmla="*/ 3 w 13"/>
                <a:gd name="T17" fmla="*/ 1 h 2"/>
                <a:gd name="T18" fmla="*/ 1 w 13"/>
                <a:gd name="T19" fmla="*/ 2 h 2"/>
                <a:gd name="T20" fmla="*/ 0 w 13"/>
                <a:gd name="T2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">
                  <a:moveTo>
                    <a:pt x="13" y="0"/>
                  </a:move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2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0" name="Freeform 220"/>
            <p:cNvSpPr>
              <a:spLocks noChangeArrowheads="1"/>
            </p:cNvSpPr>
            <p:nvPr/>
          </p:nvSpPr>
          <p:spPr bwMode="auto">
            <a:xfrm>
              <a:off x="1884" y="1123"/>
              <a:ext cx="110" cy="225"/>
            </a:xfrm>
            <a:custGeom>
              <a:avLst/>
              <a:gdLst>
                <a:gd name="T0" fmla="*/ 23 w 23"/>
                <a:gd name="T1" fmla="*/ 0 h 47"/>
                <a:gd name="T2" fmla="*/ 16 w 23"/>
                <a:gd name="T3" fmla="*/ 1 h 47"/>
                <a:gd name="T4" fmla="*/ 9 w 23"/>
                <a:gd name="T5" fmla="*/ 4 h 47"/>
                <a:gd name="T6" fmla="*/ 4 w 23"/>
                <a:gd name="T7" fmla="*/ 10 h 47"/>
                <a:gd name="T8" fmla="*/ 1 w 23"/>
                <a:gd name="T9" fmla="*/ 16 h 47"/>
                <a:gd name="T10" fmla="*/ 0 w 23"/>
                <a:gd name="T11" fmla="*/ 24 h 47"/>
                <a:gd name="T12" fmla="*/ 1 w 23"/>
                <a:gd name="T13" fmla="*/ 31 h 47"/>
                <a:gd name="T14" fmla="*/ 4 w 23"/>
                <a:gd name="T15" fmla="*/ 38 h 47"/>
                <a:gd name="T16" fmla="*/ 9 w 23"/>
                <a:gd name="T17" fmla="*/ 43 h 47"/>
                <a:gd name="T18" fmla="*/ 16 w 23"/>
                <a:gd name="T19" fmla="*/ 46 h 47"/>
                <a:gd name="T20" fmla="*/ 23 w 23"/>
                <a:gd name="T21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47">
                  <a:moveTo>
                    <a:pt x="23" y="0"/>
                  </a:moveTo>
                  <a:lnTo>
                    <a:pt x="16" y="1"/>
                  </a:lnTo>
                  <a:lnTo>
                    <a:pt x="9" y="4"/>
                  </a:lnTo>
                  <a:lnTo>
                    <a:pt x="4" y="10"/>
                  </a:lnTo>
                  <a:lnTo>
                    <a:pt x="1" y="16"/>
                  </a:lnTo>
                  <a:lnTo>
                    <a:pt x="0" y="24"/>
                  </a:lnTo>
                  <a:lnTo>
                    <a:pt x="1" y="31"/>
                  </a:lnTo>
                  <a:lnTo>
                    <a:pt x="4" y="38"/>
                  </a:lnTo>
                  <a:lnTo>
                    <a:pt x="9" y="43"/>
                  </a:lnTo>
                  <a:lnTo>
                    <a:pt x="16" y="46"/>
                  </a:lnTo>
                  <a:lnTo>
                    <a:pt x="23" y="47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1" name="Oval 221"/>
            <p:cNvSpPr>
              <a:spLocks noChangeArrowheads="1"/>
            </p:cNvSpPr>
            <p:nvPr/>
          </p:nvSpPr>
          <p:spPr bwMode="auto">
            <a:xfrm>
              <a:off x="1730" y="1199"/>
              <a:ext cx="77" cy="77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2" name="Freeform 222"/>
            <p:cNvSpPr>
              <a:spLocks noChangeArrowheads="1"/>
            </p:cNvSpPr>
            <p:nvPr/>
          </p:nvSpPr>
          <p:spPr bwMode="auto">
            <a:xfrm>
              <a:off x="1653" y="1127"/>
              <a:ext cx="77" cy="216"/>
            </a:xfrm>
            <a:custGeom>
              <a:avLst/>
              <a:gdLst>
                <a:gd name="T0" fmla="*/ 16 w 16"/>
                <a:gd name="T1" fmla="*/ 0 h 45"/>
                <a:gd name="T2" fmla="*/ 11 w 16"/>
                <a:gd name="T3" fmla="*/ 3 h 45"/>
                <a:gd name="T4" fmla="*/ 6 w 16"/>
                <a:gd name="T5" fmla="*/ 7 h 45"/>
                <a:gd name="T6" fmla="*/ 3 w 16"/>
                <a:gd name="T7" fmla="*/ 11 h 45"/>
                <a:gd name="T8" fmla="*/ 1 w 16"/>
                <a:gd name="T9" fmla="*/ 17 h 45"/>
                <a:gd name="T10" fmla="*/ 0 w 16"/>
                <a:gd name="T11" fmla="*/ 23 h 45"/>
                <a:gd name="T12" fmla="*/ 1 w 16"/>
                <a:gd name="T13" fmla="*/ 28 h 45"/>
                <a:gd name="T14" fmla="*/ 3 w 16"/>
                <a:gd name="T15" fmla="*/ 34 h 45"/>
                <a:gd name="T16" fmla="*/ 6 w 16"/>
                <a:gd name="T17" fmla="*/ 39 h 45"/>
                <a:gd name="T18" fmla="*/ 11 w 16"/>
                <a:gd name="T19" fmla="*/ 43 h 45"/>
                <a:gd name="T20" fmla="*/ 16 w 16"/>
                <a:gd name="T21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lnTo>
                    <a:pt x="11" y="3"/>
                  </a:lnTo>
                  <a:lnTo>
                    <a:pt x="6" y="7"/>
                  </a:lnTo>
                  <a:lnTo>
                    <a:pt x="3" y="11"/>
                  </a:lnTo>
                  <a:lnTo>
                    <a:pt x="1" y="17"/>
                  </a:lnTo>
                  <a:lnTo>
                    <a:pt x="0" y="23"/>
                  </a:lnTo>
                  <a:lnTo>
                    <a:pt x="1" y="28"/>
                  </a:lnTo>
                  <a:lnTo>
                    <a:pt x="3" y="34"/>
                  </a:lnTo>
                  <a:lnTo>
                    <a:pt x="6" y="39"/>
                  </a:lnTo>
                  <a:lnTo>
                    <a:pt x="11" y="43"/>
                  </a:lnTo>
                  <a:lnTo>
                    <a:pt x="16" y="45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3" name="Line 223"/>
            <p:cNvSpPr>
              <a:spLocks noChangeShapeType="1"/>
            </p:cNvSpPr>
            <p:nvPr/>
          </p:nvSpPr>
          <p:spPr bwMode="auto">
            <a:xfrm>
              <a:off x="1730" y="1343"/>
              <a:ext cx="202" cy="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4" name="Freeform 224"/>
            <p:cNvSpPr>
              <a:spLocks noChangeArrowheads="1"/>
            </p:cNvSpPr>
            <p:nvPr/>
          </p:nvSpPr>
          <p:spPr bwMode="auto">
            <a:xfrm>
              <a:off x="1932" y="1415"/>
              <a:ext cx="62" cy="10"/>
            </a:xfrm>
            <a:custGeom>
              <a:avLst/>
              <a:gdLst>
                <a:gd name="T0" fmla="*/ 0 w 13"/>
                <a:gd name="T1" fmla="*/ 0 h 2"/>
                <a:gd name="T2" fmla="*/ 1 w 13"/>
                <a:gd name="T3" fmla="*/ 0 h 2"/>
                <a:gd name="T4" fmla="*/ 3 w 13"/>
                <a:gd name="T5" fmla="*/ 1 h 2"/>
                <a:gd name="T6" fmla="*/ 4 w 13"/>
                <a:gd name="T7" fmla="*/ 1 h 2"/>
                <a:gd name="T8" fmla="*/ 5 w 13"/>
                <a:gd name="T9" fmla="*/ 2 h 2"/>
                <a:gd name="T10" fmla="*/ 7 w 13"/>
                <a:gd name="T11" fmla="*/ 2 h 2"/>
                <a:gd name="T12" fmla="*/ 8 w 13"/>
                <a:gd name="T13" fmla="*/ 2 h 2"/>
                <a:gd name="T14" fmla="*/ 9 w 13"/>
                <a:gd name="T15" fmla="*/ 2 h 2"/>
                <a:gd name="T16" fmla="*/ 11 w 13"/>
                <a:gd name="T17" fmla="*/ 2 h 2"/>
                <a:gd name="T18" fmla="*/ 12 w 13"/>
                <a:gd name="T19" fmla="*/ 2 h 2"/>
                <a:gd name="T20" fmla="*/ 13 w 13"/>
                <a:gd name="T2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lnTo>
                    <a:pt x="1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5" name="Line 225"/>
            <p:cNvSpPr>
              <a:spLocks noChangeShapeType="1"/>
            </p:cNvSpPr>
            <p:nvPr/>
          </p:nvSpPr>
          <p:spPr bwMode="auto">
            <a:xfrm>
              <a:off x="1519" y="1540"/>
              <a:ext cx="950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6" name="Line 226"/>
            <p:cNvSpPr>
              <a:spLocks noChangeShapeType="1"/>
            </p:cNvSpPr>
            <p:nvPr/>
          </p:nvSpPr>
          <p:spPr bwMode="auto">
            <a:xfrm>
              <a:off x="1994" y="969"/>
              <a:ext cx="379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7" name="Freeform 227"/>
            <p:cNvSpPr>
              <a:spLocks noChangeArrowheads="1"/>
            </p:cNvSpPr>
            <p:nvPr/>
          </p:nvSpPr>
          <p:spPr bwMode="auto">
            <a:xfrm>
              <a:off x="1519" y="1895"/>
              <a:ext cx="950" cy="951"/>
            </a:xfrm>
            <a:custGeom>
              <a:avLst/>
              <a:gdLst>
                <a:gd name="T0" fmla="*/ 99 w 198"/>
                <a:gd name="T1" fmla="*/ 198 h 198"/>
                <a:gd name="T2" fmla="*/ 126 w 198"/>
                <a:gd name="T3" fmla="*/ 194 h 198"/>
                <a:gd name="T4" fmla="*/ 151 w 198"/>
                <a:gd name="T5" fmla="*/ 183 h 198"/>
                <a:gd name="T6" fmla="*/ 172 w 198"/>
                <a:gd name="T7" fmla="*/ 166 h 198"/>
                <a:gd name="T8" fmla="*/ 187 w 198"/>
                <a:gd name="T9" fmla="*/ 144 h 198"/>
                <a:gd name="T10" fmla="*/ 196 w 198"/>
                <a:gd name="T11" fmla="*/ 118 h 198"/>
                <a:gd name="T12" fmla="*/ 198 w 198"/>
                <a:gd name="T13" fmla="*/ 91 h 198"/>
                <a:gd name="T14" fmla="*/ 193 w 198"/>
                <a:gd name="T15" fmla="*/ 65 h 198"/>
                <a:gd name="T16" fmla="*/ 180 w 198"/>
                <a:gd name="T17" fmla="*/ 41 h 198"/>
                <a:gd name="T18" fmla="*/ 161 w 198"/>
                <a:gd name="T19" fmla="*/ 21 h 198"/>
                <a:gd name="T20" fmla="*/ 138 w 198"/>
                <a:gd name="T21" fmla="*/ 8 h 198"/>
                <a:gd name="T22" fmla="*/ 112 w 198"/>
                <a:gd name="T23" fmla="*/ 0 h 198"/>
                <a:gd name="T24" fmla="*/ 85 w 198"/>
                <a:gd name="T25" fmla="*/ 1 h 198"/>
                <a:gd name="T26" fmla="*/ 59 w 198"/>
                <a:gd name="T27" fmla="*/ 8 h 198"/>
                <a:gd name="T28" fmla="*/ 36 w 198"/>
                <a:gd name="T29" fmla="*/ 23 h 198"/>
                <a:gd name="T30" fmla="*/ 18 w 198"/>
                <a:gd name="T31" fmla="*/ 43 h 198"/>
                <a:gd name="T32" fmla="*/ 5 w 198"/>
                <a:gd name="T33" fmla="*/ 67 h 198"/>
                <a:gd name="T34" fmla="*/ 0 w 198"/>
                <a:gd name="T35" fmla="*/ 93 h 198"/>
                <a:gd name="T36" fmla="*/ 3 w 198"/>
                <a:gd name="T37" fmla="*/ 120 h 198"/>
                <a:gd name="T38" fmla="*/ 12 w 198"/>
                <a:gd name="T39" fmla="*/ 146 h 198"/>
                <a:gd name="T40" fmla="*/ 28 w 198"/>
                <a:gd name="T41" fmla="*/ 167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98" h="198">
                  <a:moveTo>
                    <a:pt x="99" y="198"/>
                  </a:moveTo>
                  <a:lnTo>
                    <a:pt x="126" y="194"/>
                  </a:lnTo>
                  <a:lnTo>
                    <a:pt x="151" y="183"/>
                  </a:lnTo>
                  <a:lnTo>
                    <a:pt x="172" y="166"/>
                  </a:lnTo>
                  <a:lnTo>
                    <a:pt x="187" y="144"/>
                  </a:lnTo>
                  <a:lnTo>
                    <a:pt x="196" y="118"/>
                  </a:lnTo>
                  <a:lnTo>
                    <a:pt x="198" y="91"/>
                  </a:lnTo>
                  <a:lnTo>
                    <a:pt x="193" y="65"/>
                  </a:lnTo>
                  <a:lnTo>
                    <a:pt x="180" y="41"/>
                  </a:lnTo>
                  <a:lnTo>
                    <a:pt x="161" y="21"/>
                  </a:lnTo>
                  <a:lnTo>
                    <a:pt x="138" y="8"/>
                  </a:lnTo>
                  <a:lnTo>
                    <a:pt x="112" y="0"/>
                  </a:lnTo>
                  <a:lnTo>
                    <a:pt x="85" y="1"/>
                  </a:lnTo>
                  <a:lnTo>
                    <a:pt x="59" y="8"/>
                  </a:lnTo>
                  <a:lnTo>
                    <a:pt x="36" y="23"/>
                  </a:lnTo>
                  <a:lnTo>
                    <a:pt x="18" y="43"/>
                  </a:lnTo>
                  <a:lnTo>
                    <a:pt x="5" y="67"/>
                  </a:lnTo>
                  <a:lnTo>
                    <a:pt x="0" y="93"/>
                  </a:lnTo>
                  <a:lnTo>
                    <a:pt x="3" y="120"/>
                  </a:lnTo>
                  <a:lnTo>
                    <a:pt x="12" y="146"/>
                  </a:lnTo>
                  <a:lnTo>
                    <a:pt x="28" y="167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8" name="Line 228"/>
            <p:cNvSpPr>
              <a:spLocks noChangeShapeType="1"/>
            </p:cNvSpPr>
            <p:nvPr/>
          </p:nvSpPr>
          <p:spPr bwMode="auto">
            <a:xfrm>
              <a:off x="1994" y="1991"/>
              <a:ext cx="379" cy="38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9" name="Line 229"/>
            <p:cNvSpPr>
              <a:spLocks noChangeShapeType="1"/>
            </p:cNvSpPr>
            <p:nvPr/>
          </p:nvSpPr>
          <p:spPr bwMode="auto">
            <a:xfrm flipH="1">
              <a:off x="1994" y="2371"/>
              <a:ext cx="379" cy="3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0" name="Oval 230"/>
            <p:cNvSpPr>
              <a:spLocks noChangeArrowheads="1"/>
            </p:cNvSpPr>
            <p:nvPr/>
          </p:nvSpPr>
          <p:spPr bwMode="auto">
            <a:xfrm>
              <a:off x="1769" y="2140"/>
              <a:ext cx="455" cy="456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1" name="Line 231"/>
            <p:cNvSpPr>
              <a:spLocks noChangeShapeType="1"/>
            </p:cNvSpPr>
            <p:nvPr/>
          </p:nvSpPr>
          <p:spPr bwMode="auto">
            <a:xfrm>
              <a:off x="1884" y="1910"/>
              <a:ext cx="1" cy="2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2" name="Line 232"/>
            <p:cNvSpPr>
              <a:spLocks noChangeShapeType="1"/>
            </p:cNvSpPr>
            <p:nvPr/>
          </p:nvSpPr>
          <p:spPr bwMode="auto">
            <a:xfrm>
              <a:off x="1884" y="2567"/>
              <a:ext cx="1" cy="3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3" name="Line 233"/>
            <p:cNvSpPr>
              <a:spLocks noChangeShapeType="1"/>
            </p:cNvSpPr>
            <p:nvPr/>
          </p:nvSpPr>
          <p:spPr bwMode="auto">
            <a:xfrm>
              <a:off x="2340" y="2697"/>
              <a:ext cx="1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4" name="Line 234"/>
            <p:cNvSpPr>
              <a:spLocks noChangeShapeType="1"/>
            </p:cNvSpPr>
            <p:nvPr/>
          </p:nvSpPr>
          <p:spPr bwMode="auto">
            <a:xfrm>
              <a:off x="1653" y="2697"/>
              <a:ext cx="1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" name="Line 235"/>
            <p:cNvSpPr>
              <a:spLocks noChangeShapeType="1"/>
            </p:cNvSpPr>
            <p:nvPr/>
          </p:nvSpPr>
          <p:spPr bwMode="auto">
            <a:xfrm>
              <a:off x="1653" y="2942"/>
              <a:ext cx="687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" name="Line 236"/>
            <p:cNvSpPr>
              <a:spLocks noChangeShapeType="1"/>
            </p:cNvSpPr>
            <p:nvPr/>
          </p:nvSpPr>
          <p:spPr bwMode="auto">
            <a:xfrm>
              <a:off x="1730" y="2826"/>
              <a:ext cx="77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" name="Line 237"/>
            <p:cNvSpPr>
              <a:spLocks noChangeShapeType="1"/>
            </p:cNvSpPr>
            <p:nvPr/>
          </p:nvSpPr>
          <p:spPr bwMode="auto">
            <a:xfrm>
              <a:off x="1730" y="2826"/>
              <a:ext cx="1" cy="1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8" name="Line 238"/>
            <p:cNvSpPr>
              <a:spLocks noChangeShapeType="1"/>
            </p:cNvSpPr>
            <p:nvPr/>
          </p:nvSpPr>
          <p:spPr bwMode="auto">
            <a:xfrm>
              <a:off x="1807" y="2826"/>
              <a:ext cx="1" cy="1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9" name="Line 239"/>
            <p:cNvSpPr>
              <a:spLocks noChangeShapeType="1"/>
            </p:cNvSpPr>
            <p:nvPr/>
          </p:nvSpPr>
          <p:spPr bwMode="auto">
            <a:xfrm flipH="1" flipV="1">
              <a:off x="1769" y="2802"/>
              <a:ext cx="38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" name="Line 240"/>
            <p:cNvSpPr>
              <a:spLocks noChangeShapeType="1"/>
            </p:cNvSpPr>
            <p:nvPr/>
          </p:nvSpPr>
          <p:spPr bwMode="auto">
            <a:xfrm flipV="1">
              <a:off x="1730" y="2802"/>
              <a:ext cx="39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1" name="Rectangle 241"/>
            <p:cNvSpPr>
              <a:spLocks noChangeArrowheads="1"/>
            </p:cNvSpPr>
            <p:nvPr/>
          </p:nvSpPr>
          <p:spPr bwMode="auto">
            <a:xfrm>
              <a:off x="1733" y="3105"/>
              <a:ext cx="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endParaRPr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2" name="Rectangle 242"/>
            <p:cNvSpPr>
              <a:spLocks noChangeArrowheads="1"/>
            </p:cNvSpPr>
            <p:nvPr/>
          </p:nvSpPr>
          <p:spPr bwMode="auto">
            <a:xfrm>
              <a:off x="1867" y="3105"/>
              <a:ext cx="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endParaRPr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3" name="Rectangle 243"/>
            <p:cNvSpPr>
              <a:spLocks noChangeArrowheads="1"/>
            </p:cNvSpPr>
            <p:nvPr/>
          </p:nvSpPr>
          <p:spPr bwMode="auto">
            <a:xfrm>
              <a:off x="1322" y="3105"/>
              <a:ext cx="1357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zh-CN" altLang="en-US" dirty="0">
                  <a:solidFill>
                    <a:srgbClr val="FF0000"/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rPr>
                <a:t>半剖表达不合适</a:t>
              </a:r>
            </a:p>
          </p:txBody>
        </p:sp>
        <p:sp>
          <p:nvSpPr>
            <p:cNvPr id="244" name="Rectangle 244"/>
            <p:cNvSpPr>
              <a:spLocks noChangeArrowheads="1"/>
            </p:cNvSpPr>
            <p:nvPr/>
          </p:nvSpPr>
          <p:spPr bwMode="auto">
            <a:xfrm>
              <a:off x="2136" y="3105"/>
              <a:ext cx="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endParaRPr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5" name="Rectangle 245"/>
            <p:cNvSpPr>
              <a:spLocks noChangeArrowheads="1"/>
            </p:cNvSpPr>
            <p:nvPr/>
          </p:nvSpPr>
          <p:spPr bwMode="auto">
            <a:xfrm>
              <a:off x="2274" y="3105"/>
              <a:ext cx="0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endParaRPr lang="zh-CN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" name="Rectangle 246"/>
            <p:cNvSpPr>
              <a:spLocks noChangeArrowheads="1"/>
            </p:cNvSpPr>
            <p:nvPr/>
          </p:nvSpPr>
          <p:spPr bwMode="auto">
            <a:xfrm>
              <a:off x="2410" y="3105"/>
              <a:ext cx="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endParaRPr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7" name="Rectangle 247"/>
            <p:cNvSpPr>
              <a:spLocks noChangeArrowheads="1"/>
            </p:cNvSpPr>
            <p:nvPr/>
          </p:nvSpPr>
          <p:spPr bwMode="auto">
            <a:xfrm>
              <a:off x="2544" y="3105"/>
              <a:ext cx="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endParaRPr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353907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ChangeArrowheads="1"/>
          </p:cNvSpPr>
          <p:nvPr/>
        </p:nvSpPr>
        <p:spPr bwMode="auto">
          <a:xfrm>
            <a:off x="2729707" y="542927"/>
            <a:ext cx="3355182" cy="514350"/>
          </a:xfrm>
          <a:prstGeom prst="rect">
            <a:avLst/>
          </a:prstGeom>
          <a:solidFill>
            <a:srgbClr val="0000FF"/>
          </a:solidFill>
        </p:spPr>
        <p:txBody>
          <a:bodyPr/>
          <a:lstStyle/>
          <a:p>
            <a:pPr marL="838200" indent="-838200">
              <a:lnSpc>
                <a:spcPct val="90000"/>
              </a:lnSpc>
              <a:spcBef>
                <a:spcPct val="0"/>
              </a:spcBef>
            </a:pPr>
            <a:r>
              <a:rPr lang="zh-CN" altLang="en-US" sz="24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rPr>
              <a:t>局部剖视图的适用范围</a:t>
            </a: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2460625" y="5106989"/>
            <a:ext cx="840826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63538" indent="-363538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zh-CN" sz="1800" dirty="0">
                <a:solidFill>
                  <a:srgbClr val="FF0000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★</a:t>
            </a:r>
            <a:r>
              <a:rPr lang="en-US" altLang="zh-CN" sz="1800" dirty="0">
                <a:latin typeface="Arial" panose="020B0604020202020204" pitchFamily="34" charset="0"/>
                <a:sym typeface="Symbol" panose="05050102010706020507" pitchFamily="18" charset="2"/>
              </a:rPr>
              <a:t>  </a:t>
            </a:r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当轴、手柄等实心杆件上有孔、键槽时，采用局部剖视图。 </a:t>
            </a:r>
          </a:p>
        </p:txBody>
      </p:sp>
      <p:sp>
        <p:nvSpPr>
          <p:cNvPr id="4" name="Line 4"/>
          <p:cNvSpPr>
            <a:spLocks noChangeShapeType="1"/>
          </p:cNvSpPr>
          <p:nvPr/>
        </p:nvSpPr>
        <p:spPr bwMode="auto">
          <a:xfrm>
            <a:off x="3951289" y="2697164"/>
            <a:ext cx="22225" cy="90487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" name="Line 5"/>
          <p:cNvSpPr>
            <a:spLocks noChangeShapeType="1"/>
          </p:cNvSpPr>
          <p:nvPr/>
        </p:nvSpPr>
        <p:spPr bwMode="auto">
          <a:xfrm flipH="1">
            <a:off x="3951289" y="2787651"/>
            <a:ext cx="22225" cy="61913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" name="Line 6"/>
          <p:cNvSpPr>
            <a:spLocks noChangeShapeType="1"/>
          </p:cNvSpPr>
          <p:nvPr/>
        </p:nvSpPr>
        <p:spPr bwMode="auto">
          <a:xfrm flipH="1">
            <a:off x="3935414" y="2849564"/>
            <a:ext cx="15875" cy="6032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Line 7"/>
          <p:cNvSpPr>
            <a:spLocks noChangeShapeType="1"/>
          </p:cNvSpPr>
          <p:nvPr/>
        </p:nvSpPr>
        <p:spPr bwMode="auto">
          <a:xfrm>
            <a:off x="3935413" y="2909889"/>
            <a:ext cx="31750" cy="46037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Line 8"/>
          <p:cNvSpPr>
            <a:spLocks noChangeShapeType="1"/>
          </p:cNvSpPr>
          <p:nvPr/>
        </p:nvSpPr>
        <p:spPr bwMode="auto">
          <a:xfrm>
            <a:off x="3967164" y="2955926"/>
            <a:ext cx="1587" cy="6032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Line 9"/>
          <p:cNvSpPr>
            <a:spLocks noChangeShapeType="1"/>
          </p:cNvSpPr>
          <p:nvPr/>
        </p:nvSpPr>
        <p:spPr bwMode="auto">
          <a:xfrm>
            <a:off x="3967163" y="3016251"/>
            <a:ext cx="30162" cy="5397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Line 10"/>
          <p:cNvSpPr>
            <a:spLocks noChangeShapeType="1"/>
          </p:cNvSpPr>
          <p:nvPr/>
        </p:nvSpPr>
        <p:spPr bwMode="auto">
          <a:xfrm>
            <a:off x="3997325" y="3070226"/>
            <a:ext cx="1588" cy="106363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Line 11"/>
          <p:cNvSpPr>
            <a:spLocks noChangeShapeType="1"/>
          </p:cNvSpPr>
          <p:nvPr/>
        </p:nvSpPr>
        <p:spPr bwMode="auto">
          <a:xfrm flipH="1">
            <a:off x="3989389" y="3176589"/>
            <a:ext cx="7937" cy="6032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Line 12"/>
          <p:cNvSpPr>
            <a:spLocks noChangeShapeType="1"/>
          </p:cNvSpPr>
          <p:nvPr/>
        </p:nvSpPr>
        <p:spPr bwMode="auto">
          <a:xfrm>
            <a:off x="3989389" y="3236913"/>
            <a:ext cx="7937" cy="61912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Line 13"/>
          <p:cNvSpPr>
            <a:spLocks noChangeShapeType="1"/>
          </p:cNvSpPr>
          <p:nvPr/>
        </p:nvSpPr>
        <p:spPr bwMode="auto">
          <a:xfrm flipH="1">
            <a:off x="3973513" y="3298825"/>
            <a:ext cx="23812" cy="8413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Line 14"/>
          <p:cNvSpPr>
            <a:spLocks noChangeShapeType="1"/>
          </p:cNvSpPr>
          <p:nvPr/>
        </p:nvSpPr>
        <p:spPr bwMode="auto">
          <a:xfrm flipH="1">
            <a:off x="3951289" y="3382963"/>
            <a:ext cx="22225" cy="44450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Line 15"/>
          <p:cNvSpPr>
            <a:spLocks noChangeShapeType="1"/>
          </p:cNvSpPr>
          <p:nvPr/>
        </p:nvSpPr>
        <p:spPr bwMode="auto">
          <a:xfrm>
            <a:off x="3951289" y="3427414"/>
            <a:ext cx="1587" cy="5397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Line 16"/>
          <p:cNvSpPr>
            <a:spLocks noChangeShapeType="1"/>
          </p:cNvSpPr>
          <p:nvPr/>
        </p:nvSpPr>
        <p:spPr bwMode="auto">
          <a:xfrm>
            <a:off x="3951288" y="3481389"/>
            <a:ext cx="38100" cy="46037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Line 17"/>
          <p:cNvSpPr>
            <a:spLocks noChangeShapeType="1"/>
          </p:cNvSpPr>
          <p:nvPr/>
        </p:nvSpPr>
        <p:spPr bwMode="auto">
          <a:xfrm flipV="1">
            <a:off x="3060700" y="3168650"/>
            <a:ext cx="425450" cy="427038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Line 18"/>
          <p:cNvSpPr>
            <a:spLocks noChangeShapeType="1"/>
          </p:cNvSpPr>
          <p:nvPr/>
        </p:nvSpPr>
        <p:spPr bwMode="auto">
          <a:xfrm flipV="1">
            <a:off x="3814764" y="2705101"/>
            <a:ext cx="136525" cy="136525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Line 19"/>
          <p:cNvSpPr>
            <a:spLocks noChangeShapeType="1"/>
          </p:cNvSpPr>
          <p:nvPr/>
        </p:nvSpPr>
        <p:spPr bwMode="auto">
          <a:xfrm flipV="1">
            <a:off x="3060700" y="2933700"/>
            <a:ext cx="425450" cy="433388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Line 20"/>
          <p:cNvSpPr>
            <a:spLocks noChangeShapeType="1"/>
          </p:cNvSpPr>
          <p:nvPr/>
        </p:nvSpPr>
        <p:spPr bwMode="auto">
          <a:xfrm flipV="1">
            <a:off x="3814764" y="2520951"/>
            <a:ext cx="90487" cy="92075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Line 21"/>
          <p:cNvSpPr>
            <a:spLocks noChangeShapeType="1"/>
          </p:cNvSpPr>
          <p:nvPr/>
        </p:nvSpPr>
        <p:spPr bwMode="auto">
          <a:xfrm flipV="1">
            <a:off x="3060700" y="2705100"/>
            <a:ext cx="425450" cy="433388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Line 22"/>
          <p:cNvSpPr>
            <a:spLocks noChangeShapeType="1"/>
          </p:cNvSpPr>
          <p:nvPr/>
        </p:nvSpPr>
        <p:spPr bwMode="auto">
          <a:xfrm flipV="1">
            <a:off x="3060701" y="2520950"/>
            <a:ext cx="379413" cy="388938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Line 23"/>
          <p:cNvSpPr>
            <a:spLocks noChangeShapeType="1"/>
          </p:cNvSpPr>
          <p:nvPr/>
        </p:nvSpPr>
        <p:spPr bwMode="auto">
          <a:xfrm flipV="1">
            <a:off x="3060700" y="2520950"/>
            <a:ext cx="152400" cy="160338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Line 24"/>
          <p:cNvSpPr>
            <a:spLocks noChangeShapeType="1"/>
          </p:cNvSpPr>
          <p:nvPr/>
        </p:nvSpPr>
        <p:spPr bwMode="auto">
          <a:xfrm flipV="1">
            <a:off x="3113088" y="3397251"/>
            <a:ext cx="373062" cy="373063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Line 25"/>
          <p:cNvSpPr>
            <a:spLocks noChangeShapeType="1"/>
          </p:cNvSpPr>
          <p:nvPr/>
        </p:nvSpPr>
        <p:spPr bwMode="auto">
          <a:xfrm flipV="1">
            <a:off x="3814764" y="2933701"/>
            <a:ext cx="136525" cy="136525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Line 26"/>
          <p:cNvSpPr>
            <a:spLocks noChangeShapeType="1"/>
          </p:cNvSpPr>
          <p:nvPr/>
        </p:nvSpPr>
        <p:spPr bwMode="auto">
          <a:xfrm flipV="1">
            <a:off x="3295650" y="3625850"/>
            <a:ext cx="190500" cy="198438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Line 27"/>
          <p:cNvSpPr>
            <a:spLocks noChangeShapeType="1"/>
          </p:cNvSpPr>
          <p:nvPr/>
        </p:nvSpPr>
        <p:spPr bwMode="auto">
          <a:xfrm flipV="1">
            <a:off x="3814763" y="3124201"/>
            <a:ext cx="182562" cy="174625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Line 28"/>
          <p:cNvSpPr>
            <a:spLocks noChangeShapeType="1"/>
          </p:cNvSpPr>
          <p:nvPr/>
        </p:nvSpPr>
        <p:spPr bwMode="auto">
          <a:xfrm flipV="1">
            <a:off x="3814764" y="3359151"/>
            <a:ext cx="166687" cy="168275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Line 29"/>
          <p:cNvSpPr>
            <a:spLocks noChangeShapeType="1"/>
          </p:cNvSpPr>
          <p:nvPr/>
        </p:nvSpPr>
        <p:spPr bwMode="auto">
          <a:xfrm flipV="1">
            <a:off x="3814764" y="3587751"/>
            <a:ext cx="166687" cy="168275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Line 30"/>
          <p:cNvSpPr>
            <a:spLocks noChangeShapeType="1"/>
          </p:cNvSpPr>
          <p:nvPr/>
        </p:nvSpPr>
        <p:spPr bwMode="auto">
          <a:xfrm flipV="1">
            <a:off x="3981451" y="3802064"/>
            <a:ext cx="15875" cy="22225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Line 31"/>
          <p:cNvSpPr>
            <a:spLocks noChangeShapeType="1"/>
          </p:cNvSpPr>
          <p:nvPr/>
        </p:nvSpPr>
        <p:spPr bwMode="auto">
          <a:xfrm>
            <a:off x="2832100" y="3176589"/>
            <a:ext cx="196850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Line 32"/>
          <p:cNvSpPr>
            <a:spLocks noChangeShapeType="1"/>
          </p:cNvSpPr>
          <p:nvPr/>
        </p:nvSpPr>
        <p:spPr bwMode="auto">
          <a:xfrm>
            <a:off x="3052764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Line 33"/>
          <p:cNvSpPr>
            <a:spLocks noChangeShapeType="1"/>
          </p:cNvSpPr>
          <p:nvPr/>
        </p:nvSpPr>
        <p:spPr bwMode="auto">
          <a:xfrm>
            <a:off x="3098800" y="3176589"/>
            <a:ext cx="196850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Line 34"/>
          <p:cNvSpPr>
            <a:spLocks noChangeShapeType="1"/>
          </p:cNvSpPr>
          <p:nvPr/>
        </p:nvSpPr>
        <p:spPr bwMode="auto">
          <a:xfrm>
            <a:off x="3319464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Line 35"/>
          <p:cNvSpPr>
            <a:spLocks noChangeShapeType="1"/>
          </p:cNvSpPr>
          <p:nvPr/>
        </p:nvSpPr>
        <p:spPr bwMode="auto">
          <a:xfrm>
            <a:off x="33639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Line 36"/>
          <p:cNvSpPr>
            <a:spLocks noChangeShapeType="1"/>
          </p:cNvSpPr>
          <p:nvPr/>
        </p:nvSpPr>
        <p:spPr bwMode="auto">
          <a:xfrm>
            <a:off x="3586164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Line 37"/>
          <p:cNvSpPr>
            <a:spLocks noChangeShapeType="1"/>
          </p:cNvSpPr>
          <p:nvPr/>
        </p:nvSpPr>
        <p:spPr bwMode="auto">
          <a:xfrm>
            <a:off x="36306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Line 38"/>
          <p:cNvSpPr>
            <a:spLocks noChangeShapeType="1"/>
          </p:cNvSpPr>
          <p:nvPr/>
        </p:nvSpPr>
        <p:spPr bwMode="auto">
          <a:xfrm>
            <a:off x="3852864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Line 39"/>
          <p:cNvSpPr>
            <a:spLocks noChangeShapeType="1"/>
          </p:cNvSpPr>
          <p:nvPr/>
        </p:nvSpPr>
        <p:spPr bwMode="auto">
          <a:xfrm>
            <a:off x="38973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Line 40"/>
          <p:cNvSpPr>
            <a:spLocks noChangeShapeType="1"/>
          </p:cNvSpPr>
          <p:nvPr/>
        </p:nvSpPr>
        <p:spPr bwMode="auto">
          <a:xfrm>
            <a:off x="4119564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Line 41"/>
          <p:cNvSpPr>
            <a:spLocks noChangeShapeType="1"/>
          </p:cNvSpPr>
          <p:nvPr/>
        </p:nvSpPr>
        <p:spPr bwMode="auto">
          <a:xfrm>
            <a:off x="41640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Line 42"/>
          <p:cNvSpPr>
            <a:spLocks noChangeShapeType="1"/>
          </p:cNvSpPr>
          <p:nvPr/>
        </p:nvSpPr>
        <p:spPr bwMode="auto">
          <a:xfrm>
            <a:off x="4386264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Line 43"/>
          <p:cNvSpPr>
            <a:spLocks noChangeShapeType="1"/>
          </p:cNvSpPr>
          <p:nvPr/>
        </p:nvSpPr>
        <p:spPr bwMode="auto">
          <a:xfrm>
            <a:off x="44307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Line 44"/>
          <p:cNvSpPr>
            <a:spLocks noChangeShapeType="1"/>
          </p:cNvSpPr>
          <p:nvPr/>
        </p:nvSpPr>
        <p:spPr bwMode="auto">
          <a:xfrm>
            <a:off x="4651376" y="3176589"/>
            <a:ext cx="23813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Line 45"/>
          <p:cNvSpPr>
            <a:spLocks noChangeShapeType="1"/>
          </p:cNvSpPr>
          <p:nvPr/>
        </p:nvSpPr>
        <p:spPr bwMode="auto">
          <a:xfrm>
            <a:off x="46974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Line 46"/>
          <p:cNvSpPr>
            <a:spLocks noChangeShapeType="1"/>
          </p:cNvSpPr>
          <p:nvPr/>
        </p:nvSpPr>
        <p:spPr bwMode="auto">
          <a:xfrm>
            <a:off x="4918076" y="3176589"/>
            <a:ext cx="23813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Line 47"/>
          <p:cNvSpPr>
            <a:spLocks noChangeShapeType="1"/>
          </p:cNvSpPr>
          <p:nvPr/>
        </p:nvSpPr>
        <p:spPr bwMode="auto">
          <a:xfrm>
            <a:off x="49641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Line 48"/>
          <p:cNvSpPr>
            <a:spLocks noChangeShapeType="1"/>
          </p:cNvSpPr>
          <p:nvPr/>
        </p:nvSpPr>
        <p:spPr bwMode="auto">
          <a:xfrm>
            <a:off x="5184776" y="3176589"/>
            <a:ext cx="23813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Line 49"/>
          <p:cNvSpPr>
            <a:spLocks noChangeShapeType="1"/>
          </p:cNvSpPr>
          <p:nvPr/>
        </p:nvSpPr>
        <p:spPr bwMode="auto">
          <a:xfrm>
            <a:off x="52308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Line 50"/>
          <p:cNvSpPr>
            <a:spLocks noChangeShapeType="1"/>
          </p:cNvSpPr>
          <p:nvPr/>
        </p:nvSpPr>
        <p:spPr bwMode="auto">
          <a:xfrm>
            <a:off x="5451476" y="3176589"/>
            <a:ext cx="23813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Line 51"/>
          <p:cNvSpPr>
            <a:spLocks noChangeShapeType="1"/>
          </p:cNvSpPr>
          <p:nvPr/>
        </p:nvSpPr>
        <p:spPr bwMode="auto">
          <a:xfrm>
            <a:off x="54975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Line 52"/>
          <p:cNvSpPr>
            <a:spLocks noChangeShapeType="1"/>
          </p:cNvSpPr>
          <p:nvPr/>
        </p:nvSpPr>
        <p:spPr bwMode="auto">
          <a:xfrm>
            <a:off x="5718176" y="3176589"/>
            <a:ext cx="23813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Line 53"/>
          <p:cNvSpPr>
            <a:spLocks noChangeShapeType="1"/>
          </p:cNvSpPr>
          <p:nvPr/>
        </p:nvSpPr>
        <p:spPr bwMode="auto">
          <a:xfrm>
            <a:off x="57642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Line 54"/>
          <p:cNvSpPr>
            <a:spLocks noChangeShapeType="1"/>
          </p:cNvSpPr>
          <p:nvPr/>
        </p:nvSpPr>
        <p:spPr bwMode="auto">
          <a:xfrm>
            <a:off x="5984876" y="3176589"/>
            <a:ext cx="23813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Line 55"/>
          <p:cNvSpPr>
            <a:spLocks noChangeShapeType="1"/>
          </p:cNvSpPr>
          <p:nvPr/>
        </p:nvSpPr>
        <p:spPr bwMode="auto">
          <a:xfrm>
            <a:off x="60309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Line 56"/>
          <p:cNvSpPr>
            <a:spLocks noChangeShapeType="1"/>
          </p:cNvSpPr>
          <p:nvPr/>
        </p:nvSpPr>
        <p:spPr bwMode="auto">
          <a:xfrm>
            <a:off x="6251576" y="3176589"/>
            <a:ext cx="23813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Line 57"/>
          <p:cNvSpPr>
            <a:spLocks noChangeShapeType="1"/>
          </p:cNvSpPr>
          <p:nvPr/>
        </p:nvSpPr>
        <p:spPr bwMode="auto">
          <a:xfrm>
            <a:off x="62976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Line 58"/>
          <p:cNvSpPr>
            <a:spLocks noChangeShapeType="1"/>
          </p:cNvSpPr>
          <p:nvPr/>
        </p:nvSpPr>
        <p:spPr bwMode="auto">
          <a:xfrm>
            <a:off x="6518276" y="3176589"/>
            <a:ext cx="23813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Line 59"/>
          <p:cNvSpPr>
            <a:spLocks noChangeShapeType="1"/>
          </p:cNvSpPr>
          <p:nvPr/>
        </p:nvSpPr>
        <p:spPr bwMode="auto">
          <a:xfrm>
            <a:off x="65643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Line 60"/>
          <p:cNvSpPr>
            <a:spLocks noChangeShapeType="1"/>
          </p:cNvSpPr>
          <p:nvPr/>
        </p:nvSpPr>
        <p:spPr bwMode="auto">
          <a:xfrm>
            <a:off x="6784976" y="3176589"/>
            <a:ext cx="23813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Line 61"/>
          <p:cNvSpPr>
            <a:spLocks noChangeShapeType="1"/>
          </p:cNvSpPr>
          <p:nvPr/>
        </p:nvSpPr>
        <p:spPr bwMode="auto">
          <a:xfrm>
            <a:off x="68310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Line 62"/>
          <p:cNvSpPr>
            <a:spLocks noChangeShapeType="1"/>
          </p:cNvSpPr>
          <p:nvPr/>
        </p:nvSpPr>
        <p:spPr bwMode="auto">
          <a:xfrm>
            <a:off x="7051676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Line 63"/>
          <p:cNvSpPr>
            <a:spLocks noChangeShapeType="1"/>
          </p:cNvSpPr>
          <p:nvPr/>
        </p:nvSpPr>
        <p:spPr bwMode="auto">
          <a:xfrm>
            <a:off x="70977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Line 64"/>
          <p:cNvSpPr>
            <a:spLocks noChangeShapeType="1"/>
          </p:cNvSpPr>
          <p:nvPr/>
        </p:nvSpPr>
        <p:spPr bwMode="auto">
          <a:xfrm>
            <a:off x="7318376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Line 65"/>
          <p:cNvSpPr>
            <a:spLocks noChangeShapeType="1"/>
          </p:cNvSpPr>
          <p:nvPr/>
        </p:nvSpPr>
        <p:spPr bwMode="auto">
          <a:xfrm>
            <a:off x="73644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Line 66"/>
          <p:cNvSpPr>
            <a:spLocks noChangeShapeType="1"/>
          </p:cNvSpPr>
          <p:nvPr/>
        </p:nvSpPr>
        <p:spPr bwMode="auto">
          <a:xfrm>
            <a:off x="7585076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Line 67"/>
          <p:cNvSpPr>
            <a:spLocks noChangeShapeType="1"/>
          </p:cNvSpPr>
          <p:nvPr/>
        </p:nvSpPr>
        <p:spPr bwMode="auto">
          <a:xfrm>
            <a:off x="7631114" y="3176589"/>
            <a:ext cx="198437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Line 68"/>
          <p:cNvSpPr>
            <a:spLocks noChangeShapeType="1"/>
          </p:cNvSpPr>
          <p:nvPr/>
        </p:nvSpPr>
        <p:spPr bwMode="auto">
          <a:xfrm>
            <a:off x="7851776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Line 69"/>
          <p:cNvSpPr>
            <a:spLocks noChangeShapeType="1"/>
          </p:cNvSpPr>
          <p:nvPr/>
        </p:nvSpPr>
        <p:spPr bwMode="auto">
          <a:xfrm>
            <a:off x="7897813" y="3176589"/>
            <a:ext cx="196850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Line 70"/>
          <p:cNvSpPr>
            <a:spLocks noChangeShapeType="1"/>
          </p:cNvSpPr>
          <p:nvPr/>
        </p:nvSpPr>
        <p:spPr bwMode="auto">
          <a:xfrm>
            <a:off x="8118476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Line 71"/>
          <p:cNvSpPr>
            <a:spLocks noChangeShapeType="1"/>
          </p:cNvSpPr>
          <p:nvPr/>
        </p:nvSpPr>
        <p:spPr bwMode="auto">
          <a:xfrm>
            <a:off x="8164513" y="3176589"/>
            <a:ext cx="196850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Line 72"/>
          <p:cNvSpPr>
            <a:spLocks noChangeShapeType="1"/>
          </p:cNvSpPr>
          <p:nvPr/>
        </p:nvSpPr>
        <p:spPr bwMode="auto">
          <a:xfrm>
            <a:off x="8385176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Line 73"/>
          <p:cNvSpPr>
            <a:spLocks noChangeShapeType="1"/>
          </p:cNvSpPr>
          <p:nvPr/>
        </p:nvSpPr>
        <p:spPr bwMode="auto">
          <a:xfrm>
            <a:off x="8431213" y="3176589"/>
            <a:ext cx="196850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Line 74"/>
          <p:cNvSpPr>
            <a:spLocks noChangeShapeType="1"/>
          </p:cNvSpPr>
          <p:nvPr/>
        </p:nvSpPr>
        <p:spPr bwMode="auto">
          <a:xfrm>
            <a:off x="8651876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Line 75"/>
          <p:cNvSpPr>
            <a:spLocks noChangeShapeType="1"/>
          </p:cNvSpPr>
          <p:nvPr/>
        </p:nvSpPr>
        <p:spPr bwMode="auto">
          <a:xfrm>
            <a:off x="8697913" y="3176589"/>
            <a:ext cx="196850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Line 76"/>
          <p:cNvSpPr>
            <a:spLocks noChangeShapeType="1"/>
          </p:cNvSpPr>
          <p:nvPr/>
        </p:nvSpPr>
        <p:spPr bwMode="auto">
          <a:xfrm>
            <a:off x="8918576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Line 77"/>
          <p:cNvSpPr>
            <a:spLocks noChangeShapeType="1"/>
          </p:cNvSpPr>
          <p:nvPr/>
        </p:nvSpPr>
        <p:spPr bwMode="auto">
          <a:xfrm>
            <a:off x="8964613" y="3176589"/>
            <a:ext cx="196850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Line 78"/>
          <p:cNvSpPr>
            <a:spLocks noChangeShapeType="1"/>
          </p:cNvSpPr>
          <p:nvPr/>
        </p:nvSpPr>
        <p:spPr bwMode="auto">
          <a:xfrm>
            <a:off x="9185276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Line 79"/>
          <p:cNvSpPr>
            <a:spLocks noChangeShapeType="1"/>
          </p:cNvSpPr>
          <p:nvPr/>
        </p:nvSpPr>
        <p:spPr bwMode="auto">
          <a:xfrm>
            <a:off x="9229725" y="3176589"/>
            <a:ext cx="198438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Line 80"/>
          <p:cNvSpPr>
            <a:spLocks noChangeShapeType="1"/>
          </p:cNvSpPr>
          <p:nvPr/>
        </p:nvSpPr>
        <p:spPr bwMode="auto">
          <a:xfrm>
            <a:off x="9451976" y="3176589"/>
            <a:ext cx="22225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Line 81"/>
          <p:cNvSpPr>
            <a:spLocks noChangeShapeType="1"/>
          </p:cNvSpPr>
          <p:nvPr/>
        </p:nvSpPr>
        <p:spPr bwMode="auto">
          <a:xfrm>
            <a:off x="9496426" y="3176589"/>
            <a:ext cx="100013" cy="1587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Line 82"/>
          <p:cNvSpPr>
            <a:spLocks noChangeShapeType="1"/>
          </p:cNvSpPr>
          <p:nvPr/>
        </p:nvSpPr>
        <p:spPr bwMode="auto">
          <a:xfrm>
            <a:off x="3654425" y="2408238"/>
            <a:ext cx="1588" cy="196850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3" name="Line 83"/>
          <p:cNvSpPr>
            <a:spLocks noChangeShapeType="1"/>
          </p:cNvSpPr>
          <p:nvPr/>
        </p:nvSpPr>
        <p:spPr bwMode="auto">
          <a:xfrm>
            <a:off x="3654425" y="2628901"/>
            <a:ext cx="1588" cy="22225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Line 84"/>
          <p:cNvSpPr>
            <a:spLocks noChangeShapeType="1"/>
          </p:cNvSpPr>
          <p:nvPr/>
        </p:nvSpPr>
        <p:spPr bwMode="auto">
          <a:xfrm>
            <a:off x="3654425" y="2673350"/>
            <a:ext cx="1588" cy="198438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Line 85"/>
          <p:cNvSpPr>
            <a:spLocks noChangeShapeType="1"/>
          </p:cNvSpPr>
          <p:nvPr/>
        </p:nvSpPr>
        <p:spPr bwMode="auto">
          <a:xfrm>
            <a:off x="3654425" y="2895601"/>
            <a:ext cx="1588" cy="22225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" name="Line 86"/>
          <p:cNvSpPr>
            <a:spLocks noChangeShapeType="1"/>
          </p:cNvSpPr>
          <p:nvPr/>
        </p:nvSpPr>
        <p:spPr bwMode="auto">
          <a:xfrm>
            <a:off x="3654425" y="2940050"/>
            <a:ext cx="1588" cy="198438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7" name="Line 87"/>
          <p:cNvSpPr>
            <a:spLocks noChangeShapeType="1"/>
          </p:cNvSpPr>
          <p:nvPr/>
        </p:nvSpPr>
        <p:spPr bwMode="auto">
          <a:xfrm>
            <a:off x="3654425" y="3162301"/>
            <a:ext cx="1588" cy="22225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" name="Line 88"/>
          <p:cNvSpPr>
            <a:spLocks noChangeShapeType="1"/>
          </p:cNvSpPr>
          <p:nvPr/>
        </p:nvSpPr>
        <p:spPr bwMode="auto">
          <a:xfrm>
            <a:off x="3654425" y="3206750"/>
            <a:ext cx="1588" cy="198438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9" name="Line 89"/>
          <p:cNvSpPr>
            <a:spLocks noChangeShapeType="1"/>
          </p:cNvSpPr>
          <p:nvPr/>
        </p:nvSpPr>
        <p:spPr bwMode="auto">
          <a:xfrm>
            <a:off x="3654425" y="3427413"/>
            <a:ext cx="1588" cy="23812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" name="Line 90"/>
          <p:cNvSpPr>
            <a:spLocks noChangeShapeType="1"/>
          </p:cNvSpPr>
          <p:nvPr/>
        </p:nvSpPr>
        <p:spPr bwMode="auto">
          <a:xfrm>
            <a:off x="3654425" y="3473450"/>
            <a:ext cx="1588" cy="198438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1" name="Line 91"/>
          <p:cNvSpPr>
            <a:spLocks noChangeShapeType="1"/>
          </p:cNvSpPr>
          <p:nvPr/>
        </p:nvSpPr>
        <p:spPr bwMode="auto">
          <a:xfrm>
            <a:off x="3654425" y="3694113"/>
            <a:ext cx="1588" cy="23812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" name="Line 92"/>
          <p:cNvSpPr>
            <a:spLocks noChangeShapeType="1"/>
          </p:cNvSpPr>
          <p:nvPr/>
        </p:nvSpPr>
        <p:spPr bwMode="auto">
          <a:xfrm>
            <a:off x="3654425" y="3740150"/>
            <a:ext cx="1588" cy="198438"/>
          </a:xfrm>
          <a:prstGeom prst="line">
            <a:avLst/>
          </a:prstGeom>
          <a:noFill/>
          <a:ln w="79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3" name="Line 93"/>
          <p:cNvSpPr>
            <a:spLocks noChangeShapeType="1"/>
          </p:cNvSpPr>
          <p:nvPr/>
        </p:nvSpPr>
        <p:spPr bwMode="auto">
          <a:xfrm>
            <a:off x="4713289" y="2179639"/>
            <a:ext cx="1587" cy="90487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" name="Line 94"/>
          <p:cNvSpPr>
            <a:spLocks noChangeShapeType="1"/>
          </p:cNvSpPr>
          <p:nvPr/>
        </p:nvSpPr>
        <p:spPr bwMode="auto">
          <a:xfrm>
            <a:off x="4713289" y="2270126"/>
            <a:ext cx="22225" cy="106363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5" name="Line 95"/>
          <p:cNvSpPr>
            <a:spLocks noChangeShapeType="1"/>
          </p:cNvSpPr>
          <p:nvPr/>
        </p:nvSpPr>
        <p:spPr bwMode="auto">
          <a:xfrm>
            <a:off x="4735514" y="2376488"/>
            <a:ext cx="53975" cy="69850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6" name="Line 96"/>
          <p:cNvSpPr>
            <a:spLocks noChangeShapeType="1"/>
          </p:cNvSpPr>
          <p:nvPr/>
        </p:nvSpPr>
        <p:spPr bwMode="auto">
          <a:xfrm>
            <a:off x="4789489" y="2446338"/>
            <a:ext cx="1587" cy="82550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7" name="Line 97"/>
          <p:cNvSpPr>
            <a:spLocks noChangeShapeType="1"/>
          </p:cNvSpPr>
          <p:nvPr/>
        </p:nvSpPr>
        <p:spPr bwMode="auto">
          <a:xfrm>
            <a:off x="4789488" y="2528888"/>
            <a:ext cx="68262" cy="23812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" name="Line 98"/>
          <p:cNvSpPr>
            <a:spLocks noChangeShapeType="1"/>
          </p:cNvSpPr>
          <p:nvPr/>
        </p:nvSpPr>
        <p:spPr bwMode="auto">
          <a:xfrm>
            <a:off x="4857751" y="2552700"/>
            <a:ext cx="22225" cy="120650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9" name="Line 99"/>
          <p:cNvSpPr>
            <a:spLocks noChangeShapeType="1"/>
          </p:cNvSpPr>
          <p:nvPr/>
        </p:nvSpPr>
        <p:spPr bwMode="auto">
          <a:xfrm>
            <a:off x="4879975" y="2673350"/>
            <a:ext cx="46038" cy="69850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" name="Line 100"/>
          <p:cNvSpPr>
            <a:spLocks noChangeShapeType="1"/>
          </p:cNvSpPr>
          <p:nvPr/>
        </p:nvSpPr>
        <p:spPr bwMode="auto">
          <a:xfrm>
            <a:off x="4926013" y="2743200"/>
            <a:ext cx="30162" cy="76200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1" name="Line 101"/>
          <p:cNvSpPr>
            <a:spLocks noChangeShapeType="1"/>
          </p:cNvSpPr>
          <p:nvPr/>
        </p:nvSpPr>
        <p:spPr bwMode="auto">
          <a:xfrm>
            <a:off x="4956176" y="2819401"/>
            <a:ext cx="130175" cy="6032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" name="Line 102"/>
          <p:cNvSpPr>
            <a:spLocks noChangeShapeType="1"/>
          </p:cNvSpPr>
          <p:nvPr/>
        </p:nvSpPr>
        <p:spPr bwMode="auto">
          <a:xfrm>
            <a:off x="5086351" y="2879725"/>
            <a:ext cx="68263" cy="38100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3" name="Line 103"/>
          <p:cNvSpPr>
            <a:spLocks noChangeShapeType="1"/>
          </p:cNvSpPr>
          <p:nvPr/>
        </p:nvSpPr>
        <p:spPr bwMode="auto">
          <a:xfrm>
            <a:off x="5154614" y="2917826"/>
            <a:ext cx="46037" cy="5397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" name="Line 104"/>
          <p:cNvSpPr>
            <a:spLocks noChangeShapeType="1"/>
          </p:cNvSpPr>
          <p:nvPr/>
        </p:nvSpPr>
        <p:spPr bwMode="auto">
          <a:xfrm>
            <a:off x="5200651" y="2971800"/>
            <a:ext cx="98425" cy="158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5" name="Line 105"/>
          <p:cNvSpPr>
            <a:spLocks noChangeShapeType="1"/>
          </p:cNvSpPr>
          <p:nvPr/>
        </p:nvSpPr>
        <p:spPr bwMode="auto">
          <a:xfrm>
            <a:off x="5299076" y="2971800"/>
            <a:ext cx="100013" cy="38100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" name="Line 106"/>
          <p:cNvSpPr>
            <a:spLocks noChangeShapeType="1"/>
          </p:cNvSpPr>
          <p:nvPr/>
        </p:nvSpPr>
        <p:spPr bwMode="auto">
          <a:xfrm flipV="1">
            <a:off x="5399089" y="2986088"/>
            <a:ext cx="60325" cy="23812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7" name="Line 107"/>
          <p:cNvSpPr>
            <a:spLocks noChangeShapeType="1"/>
          </p:cNvSpPr>
          <p:nvPr/>
        </p:nvSpPr>
        <p:spPr bwMode="auto">
          <a:xfrm>
            <a:off x="5459414" y="2986088"/>
            <a:ext cx="92075" cy="23812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" name="Line 108"/>
          <p:cNvSpPr>
            <a:spLocks noChangeShapeType="1"/>
          </p:cNvSpPr>
          <p:nvPr/>
        </p:nvSpPr>
        <p:spPr bwMode="auto">
          <a:xfrm>
            <a:off x="5551488" y="3009900"/>
            <a:ext cx="144462" cy="1428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9" name="Line 109"/>
          <p:cNvSpPr>
            <a:spLocks noChangeShapeType="1"/>
          </p:cNvSpPr>
          <p:nvPr/>
        </p:nvSpPr>
        <p:spPr bwMode="auto">
          <a:xfrm flipV="1">
            <a:off x="5695950" y="2971800"/>
            <a:ext cx="76200" cy="5238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" name="Line 110"/>
          <p:cNvSpPr>
            <a:spLocks noChangeShapeType="1"/>
          </p:cNvSpPr>
          <p:nvPr/>
        </p:nvSpPr>
        <p:spPr bwMode="auto">
          <a:xfrm>
            <a:off x="5772150" y="2971800"/>
            <a:ext cx="76200" cy="1428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1" name="Line 111"/>
          <p:cNvSpPr>
            <a:spLocks noChangeShapeType="1"/>
          </p:cNvSpPr>
          <p:nvPr/>
        </p:nvSpPr>
        <p:spPr bwMode="auto">
          <a:xfrm flipV="1">
            <a:off x="5848350" y="2978150"/>
            <a:ext cx="128588" cy="793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" name="Line 112"/>
          <p:cNvSpPr>
            <a:spLocks noChangeShapeType="1"/>
          </p:cNvSpPr>
          <p:nvPr/>
        </p:nvSpPr>
        <p:spPr bwMode="auto">
          <a:xfrm flipV="1">
            <a:off x="5976939" y="2933700"/>
            <a:ext cx="15875" cy="44450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" name="Line 113"/>
          <p:cNvSpPr>
            <a:spLocks noChangeShapeType="1"/>
          </p:cNvSpPr>
          <p:nvPr/>
        </p:nvSpPr>
        <p:spPr bwMode="auto">
          <a:xfrm>
            <a:off x="5992814" y="2933700"/>
            <a:ext cx="92075" cy="158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" name="Line 114"/>
          <p:cNvSpPr>
            <a:spLocks noChangeShapeType="1"/>
          </p:cNvSpPr>
          <p:nvPr/>
        </p:nvSpPr>
        <p:spPr bwMode="auto">
          <a:xfrm flipV="1">
            <a:off x="6084889" y="2895600"/>
            <a:ext cx="60325" cy="38100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5" name="Line 115"/>
          <p:cNvSpPr>
            <a:spLocks noChangeShapeType="1"/>
          </p:cNvSpPr>
          <p:nvPr/>
        </p:nvSpPr>
        <p:spPr bwMode="auto">
          <a:xfrm flipV="1">
            <a:off x="6145213" y="2871788"/>
            <a:ext cx="68262" cy="23812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6" name="Line 116"/>
          <p:cNvSpPr>
            <a:spLocks noChangeShapeType="1"/>
          </p:cNvSpPr>
          <p:nvPr/>
        </p:nvSpPr>
        <p:spPr bwMode="auto">
          <a:xfrm flipV="1">
            <a:off x="6213476" y="2819400"/>
            <a:ext cx="23813" cy="5238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7" name="Line 117"/>
          <p:cNvSpPr>
            <a:spLocks noChangeShapeType="1"/>
          </p:cNvSpPr>
          <p:nvPr/>
        </p:nvSpPr>
        <p:spPr bwMode="auto">
          <a:xfrm flipV="1">
            <a:off x="6237289" y="2765426"/>
            <a:ext cx="60325" cy="5397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8" name="Line 118"/>
          <p:cNvSpPr>
            <a:spLocks noChangeShapeType="1"/>
          </p:cNvSpPr>
          <p:nvPr/>
        </p:nvSpPr>
        <p:spPr bwMode="auto">
          <a:xfrm flipV="1">
            <a:off x="6297614" y="2697163"/>
            <a:ext cx="46037" cy="68262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9" name="Line 119"/>
          <p:cNvSpPr>
            <a:spLocks noChangeShapeType="1"/>
          </p:cNvSpPr>
          <p:nvPr/>
        </p:nvSpPr>
        <p:spPr bwMode="auto">
          <a:xfrm flipV="1">
            <a:off x="6343651" y="2643189"/>
            <a:ext cx="60325" cy="5397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Line 120"/>
          <p:cNvSpPr>
            <a:spLocks noChangeShapeType="1"/>
          </p:cNvSpPr>
          <p:nvPr/>
        </p:nvSpPr>
        <p:spPr bwMode="auto">
          <a:xfrm flipV="1">
            <a:off x="6403976" y="2544764"/>
            <a:ext cx="23813" cy="9842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1" name="Line 121"/>
          <p:cNvSpPr>
            <a:spLocks noChangeShapeType="1"/>
          </p:cNvSpPr>
          <p:nvPr/>
        </p:nvSpPr>
        <p:spPr bwMode="auto">
          <a:xfrm flipV="1">
            <a:off x="6427788" y="2452689"/>
            <a:ext cx="44450" cy="9207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2" name="Line 122"/>
          <p:cNvSpPr>
            <a:spLocks noChangeShapeType="1"/>
          </p:cNvSpPr>
          <p:nvPr/>
        </p:nvSpPr>
        <p:spPr bwMode="auto">
          <a:xfrm flipV="1">
            <a:off x="6472239" y="2392364"/>
            <a:ext cx="7937" cy="6032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" name="Line 123"/>
          <p:cNvSpPr>
            <a:spLocks noChangeShapeType="1"/>
          </p:cNvSpPr>
          <p:nvPr/>
        </p:nvSpPr>
        <p:spPr bwMode="auto">
          <a:xfrm flipV="1">
            <a:off x="6480176" y="2346325"/>
            <a:ext cx="53975" cy="4603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4" name="Line 124"/>
          <p:cNvSpPr>
            <a:spLocks noChangeShapeType="1"/>
          </p:cNvSpPr>
          <p:nvPr/>
        </p:nvSpPr>
        <p:spPr bwMode="auto">
          <a:xfrm flipV="1">
            <a:off x="6534150" y="2286001"/>
            <a:ext cx="14288" cy="6032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5" name="Line 125"/>
          <p:cNvSpPr>
            <a:spLocks noChangeShapeType="1"/>
          </p:cNvSpPr>
          <p:nvPr/>
        </p:nvSpPr>
        <p:spPr bwMode="auto">
          <a:xfrm flipV="1">
            <a:off x="6548439" y="2224088"/>
            <a:ext cx="15875" cy="61912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6" name="Line 126"/>
          <p:cNvSpPr>
            <a:spLocks noChangeShapeType="1"/>
          </p:cNvSpPr>
          <p:nvPr/>
        </p:nvSpPr>
        <p:spPr bwMode="auto">
          <a:xfrm flipV="1">
            <a:off x="6564314" y="2171700"/>
            <a:ext cx="7937" cy="5238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7" name="Line 127"/>
          <p:cNvSpPr>
            <a:spLocks noChangeShapeType="1"/>
          </p:cNvSpPr>
          <p:nvPr/>
        </p:nvSpPr>
        <p:spPr bwMode="auto">
          <a:xfrm flipV="1">
            <a:off x="6572250" y="2155826"/>
            <a:ext cx="52388" cy="1587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" name="Line 128"/>
          <p:cNvSpPr>
            <a:spLocks noChangeShapeType="1"/>
          </p:cNvSpPr>
          <p:nvPr/>
        </p:nvSpPr>
        <p:spPr bwMode="auto">
          <a:xfrm flipV="1">
            <a:off x="6624639" y="2095501"/>
            <a:ext cx="1587" cy="6032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9" name="Line 129"/>
          <p:cNvSpPr>
            <a:spLocks noChangeShapeType="1"/>
          </p:cNvSpPr>
          <p:nvPr/>
        </p:nvSpPr>
        <p:spPr bwMode="auto">
          <a:xfrm>
            <a:off x="4683126" y="2095500"/>
            <a:ext cx="30163" cy="8413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" name="Line 130"/>
          <p:cNvSpPr>
            <a:spLocks noChangeShapeType="1"/>
          </p:cNvSpPr>
          <p:nvPr/>
        </p:nvSpPr>
        <p:spPr bwMode="auto">
          <a:xfrm flipV="1">
            <a:off x="4979988" y="2605088"/>
            <a:ext cx="220662" cy="220662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1" name="Line 131"/>
          <p:cNvSpPr>
            <a:spLocks noChangeShapeType="1"/>
          </p:cNvSpPr>
          <p:nvPr/>
        </p:nvSpPr>
        <p:spPr bwMode="auto">
          <a:xfrm flipV="1">
            <a:off x="4887914" y="2490789"/>
            <a:ext cx="198437" cy="198437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" name="Line 132"/>
          <p:cNvSpPr>
            <a:spLocks noChangeShapeType="1"/>
          </p:cNvSpPr>
          <p:nvPr/>
        </p:nvSpPr>
        <p:spPr bwMode="auto">
          <a:xfrm flipV="1">
            <a:off x="4811713" y="2346325"/>
            <a:ext cx="190500" cy="190500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" name="Line 133"/>
          <p:cNvSpPr>
            <a:spLocks noChangeShapeType="1"/>
          </p:cNvSpPr>
          <p:nvPr/>
        </p:nvSpPr>
        <p:spPr bwMode="auto">
          <a:xfrm flipV="1">
            <a:off x="4735513" y="2163764"/>
            <a:ext cx="220662" cy="212725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" name="Line 134"/>
          <p:cNvSpPr>
            <a:spLocks noChangeShapeType="1"/>
          </p:cNvSpPr>
          <p:nvPr/>
        </p:nvSpPr>
        <p:spPr bwMode="auto">
          <a:xfrm flipV="1">
            <a:off x="4713289" y="2095500"/>
            <a:ext cx="84137" cy="84138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5" name="Line 135"/>
          <p:cNvSpPr>
            <a:spLocks noChangeShapeType="1"/>
          </p:cNvSpPr>
          <p:nvPr/>
        </p:nvSpPr>
        <p:spPr bwMode="auto">
          <a:xfrm flipV="1">
            <a:off x="5124451" y="2689226"/>
            <a:ext cx="220663" cy="212725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6" name="Line 136"/>
          <p:cNvSpPr>
            <a:spLocks noChangeShapeType="1"/>
          </p:cNvSpPr>
          <p:nvPr/>
        </p:nvSpPr>
        <p:spPr bwMode="auto">
          <a:xfrm flipV="1">
            <a:off x="5284789" y="2735264"/>
            <a:ext cx="242887" cy="236537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7" name="Line 137"/>
          <p:cNvSpPr>
            <a:spLocks noChangeShapeType="1"/>
          </p:cNvSpPr>
          <p:nvPr/>
        </p:nvSpPr>
        <p:spPr bwMode="auto">
          <a:xfrm flipV="1">
            <a:off x="5497514" y="2719389"/>
            <a:ext cx="274637" cy="274637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8" name="Line 138"/>
          <p:cNvSpPr>
            <a:spLocks noChangeShapeType="1"/>
          </p:cNvSpPr>
          <p:nvPr/>
        </p:nvSpPr>
        <p:spPr bwMode="auto">
          <a:xfrm flipV="1">
            <a:off x="6221414" y="2095501"/>
            <a:ext cx="174625" cy="174625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9" name="Line 139"/>
          <p:cNvSpPr>
            <a:spLocks noChangeShapeType="1"/>
          </p:cNvSpPr>
          <p:nvPr/>
        </p:nvSpPr>
        <p:spPr bwMode="auto">
          <a:xfrm flipV="1">
            <a:off x="5695950" y="2095500"/>
            <a:ext cx="928688" cy="928688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0" name="Line 140"/>
          <p:cNvSpPr>
            <a:spLocks noChangeShapeType="1"/>
          </p:cNvSpPr>
          <p:nvPr/>
        </p:nvSpPr>
        <p:spPr bwMode="auto">
          <a:xfrm flipV="1">
            <a:off x="5970588" y="2971800"/>
            <a:ext cx="6350" cy="6350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1" name="Line 141"/>
          <p:cNvSpPr>
            <a:spLocks noChangeShapeType="1"/>
          </p:cNvSpPr>
          <p:nvPr/>
        </p:nvSpPr>
        <p:spPr bwMode="auto">
          <a:xfrm flipV="1">
            <a:off x="6015039" y="2506664"/>
            <a:ext cx="427037" cy="427037"/>
          </a:xfrm>
          <a:prstGeom prst="line">
            <a:avLst/>
          </a:prstGeom>
          <a:noFill/>
          <a:ln w="7938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2" name="Line 142"/>
          <p:cNvSpPr>
            <a:spLocks noChangeShapeType="1"/>
          </p:cNvSpPr>
          <p:nvPr/>
        </p:nvSpPr>
        <p:spPr bwMode="auto">
          <a:xfrm>
            <a:off x="4956176" y="2179639"/>
            <a:ext cx="1287463" cy="1587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" name="Freeform 143"/>
          <p:cNvSpPr>
            <a:spLocks noChangeArrowheads="1"/>
          </p:cNvSpPr>
          <p:nvPr/>
        </p:nvSpPr>
        <p:spPr bwMode="auto">
          <a:xfrm>
            <a:off x="4949826" y="2095500"/>
            <a:ext cx="1293813" cy="647700"/>
          </a:xfrm>
          <a:custGeom>
            <a:avLst/>
            <a:gdLst>
              <a:gd name="T0" fmla="*/ 0 w 170"/>
              <a:gd name="T1" fmla="*/ 0 h 85"/>
              <a:gd name="T2" fmla="*/ 3 w 170"/>
              <a:gd name="T3" fmla="*/ 22 h 85"/>
              <a:gd name="T4" fmla="*/ 11 w 170"/>
              <a:gd name="T5" fmla="*/ 42 h 85"/>
              <a:gd name="T6" fmla="*/ 25 w 170"/>
              <a:gd name="T7" fmla="*/ 60 h 85"/>
              <a:gd name="T8" fmla="*/ 43 w 170"/>
              <a:gd name="T9" fmla="*/ 73 h 85"/>
              <a:gd name="T10" fmla="*/ 63 w 170"/>
              <a:gd name="T11" fmla="*/ 82 h 85"/>
              <a:gd name="T12" fmla="*/ 85 w 170"/>
              <a:gd name="T13" fmla="*/ 85 h 85"/>
              <a:gd name="T14" fmla="*/ 107 w 170"/>
              <a:gd name="T15" fmla="*/ 82 h 85"/>
              <a:gd name="T16" fmla="*/ 128 w 170"/>
              <a:gd name="T17" fmla="*/ 73 h 85"/>
              <a:gd name="T18" fmla="*/ 145 w 170"/>
              <a:gd name="T19" fmla="*/ 60 h 85"/>
              <a:gd name="T20" fmla="*/ 159 w 170"/>
              <a:gd name="T21" fmla="*/ 42 h 85"/>
              <a:gd name="T22" fmla="*/ 167 w 170"/>
              <a:gd name="T23" fmla="*/ 22 h 85"/>
              <a:gd name="T24" fmla="*/ 170 w 170"/>
              <a:gd name="T25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70" h="85">
                <a:moveTo>
                  <a:pt x="0" y="0"/>
                </a:moveTo>
                <a:lnTo>
                  <a:pt x="3" y="22"/>
                </a:lnTo>
                <a:lnTo>
                  <a:pt x="11" y="42"/>
                </a:lnTo>
                <a:lnTo>
                  <a:pt x="25" y="60"/>
                </a:lnTo>
                <a:lnTo>
                  <a:pt x="43" y="73"/>
                </a:lnTo>
                <a:lnTo>
                  <a:pt x="63" y="82"/>
                </a:lnTo>
                <a:lnTo>
                  <a:pt x="85" y="85"/>
                </a:lnTo>
                <a:lnTo>
                  <a:pt x="107" y="82"/>
                </a:lnTo>
                <a:lnTo>
                  <a:pt x="128" y="73"/>
                </a:lnTo>
                <a:lnTo>
                  <a:pt x="145" y="60"/>
                </a:lnTo>
                <a:lnTo>
                  <a:pt x="159" y="42"/>
                </a:lnTo>
                <a:lnTo>
                  <a:pt x="167" y="22"/>
                </a:lnTo>
                <a:lnTo>
                  <a:pt x="170" y="0"/>
                </a:lnTo>
              </a:path>
            </a:pathLst>
          </a:cu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44" name="Line 144"/>
          <p:cNvSpPr>
            <a:spLocks noChangeShapeType="1"/>
          </p:cNvSpPr>
          <p:nvPr/>
        </p:nvSpPr>
        <p:spPr bwMode="auto">
          <a:xfrm>
            <a:off x="6243638" y="2095500"/>
            <a:ext cx="709612" cy="1588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5" name="Line 145"/>
          <p:cNvSpPr>
            <a:spLocks noChangeShapeType="1"/>
          </p:cNvSpPr>
          <p:nvPr/>
        </p:nvSpPr>
        <p:spPr bwMode="auto">
          <a:xfrm>
            <a:off x="4248151" y="2095500"/>
            <a:ext cx="701675" cy="1588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6" name="Line 146"/>
          <p:cNvSpPr>
            <a:spLocks noChangeShapeType="1"/>
          </p:cNvSpPr>
          <p:nvPr/>
        </p:nvSpPr>
        <p:spPr bwMode="auto">
          <a:xfrm>
            <a:off x="4248150" y="2095501"/>
            <a:ext cx="1588" cy="2155825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7" name="Line 147"/>
          <p:cNvSpPr>
            <a:spLocks noChangeShapeType="1"/>
          </p:cNvSpPr>
          <p:nvPr/>
        </p:nvSpPr>
        <p:spPr bwMode="auto">
          <a:xfrm>
            <a:off x="3814764" y="2520950"/>
            <a:ext cx="433387" cy="1588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8" name="Line 148"/>
          <p:cNvSpPr>
            <a:spLocks noChangeShapeType="1"/>
          </p:cNvSpPr>
          <p:nvPr/>
        </p:nvSpPr>
        <p:spPr bwMode="auto">
          <a:xfrm flipV="1">
            <a:off x="3060701" y="2520950"/>
            <a:ext cx="106363" cy="114300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9" name="Freeform 149"/>
          <p:cNvSpPr>
            <a:spLocks noChangeArrowheads="1"/>
          </p:cNvSpPr>
          <p:nvPr/>
        </p:nvSpPr>
        <p:spPr bwMode="auto">
          <a:xfrm>
            <a:off x="3486151" y="2520950"/>
            <a:ext cx="328613" cy="38100"/>
          </a:xfrm>
          <a:custGeom>
            <a:avLst/>
            <a:gdLst>
              <a:gd name="T0" fmla="*/ 0 w 43"/>
              <a:gd name="T1" fmla="*/ 0 h 5"/>
              <a:gd name="T2" fmla="*/ 4 w 43"/>
              <a:gd name="T3" fmla="*/ 2 h 5"/>
              <a:gd name="T4" fmla="*/ 7 w 43"/>
              <a:gd name="T5" fmla="*/ 3 h 5"/>
              <a:gd name="T6" fmla="*/ 11 w 43"/>
              <a:gd name="T7" fmla="*/ 4 h 5"/>
              <a:gd name="T8" fmla="*/ 14 w 43"/>
              <a:gd name="T9" fmla="*/ 4 h 5"/>
              <a:gd name="T10" fmla="*/ 18 w 43"/>
              <a:gd name="T11" fmla="*/ 5 h 5"/>
              <a:gd name="T12" fmla="*/ 22 w 43"/>
              <a:gd name="T13" fmla="*/ 5 h 5"/>
              <a:gd name="T14" fmla="*/ 25 w 43"/>
              <a:gd name="T15" fmla="*/ 5 h 5"/>
              <a:gd name="T16" fmla="*/ 29 w 43"/>
              <a:gd name="T17" fmla="*/ 4 h 5"/>
              <a:gd name="T18" fmla="*/ 33 w 43"/>
              <a:gd name="T19" fmla="*/ 4 h 5"/>
              <a:gd name="T20" fmla="*/ 36 w 43"/>
              <a:gd name="T21" fmla="*/ 3 h 5"/>
              <a:gd name="T22" fmla="*/ 40 w 43"/>
              <a:gd name="T23" fmla="*/ 2 h 5"/>
              <a:gd name="T24" fmla="*/ 43 w 43"/>
              <a:gd name="T25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3" h="5">
                <a:moveTo>
                  <a:pt x="0" y="0"/>
                </a:moveTo>
                <a:lnTo>
                  <a:pt x="4" y="2"/>
                </a:lnTo>
                <a:lnTo>
                  <a:pt x="7" y="3"/>
                </a:lnTo>
                <a:lnTo>
                  <a:pt x="11" y="4"/>
                </a:lnTo>
                <a:lnTo>
                  <a:pt x="14" y="4"/>
                </a:lnTo>
                <a:lnTo>
                  <a:pt x="18" y="5"/>
                </a:lnTo>
                <a:lnTo>
                  <a:pt x="22" y="5"/>
                </a:lnTo>
                <a:lnTo>
                  <a:pt x="25" y="5"/>
                </a:lnTo>
                <a:lnTo>
                  <a:pt x="29" y="4"/>
                </a:lnTo>
                <a:lnTo>
                  <a:pt x="33" y="4"/>
                </a:lnTo>
                <a:lnTo>
                  <a:pt x="36" y="3"/>
                </a:lnTo>
                <a:lnTo>
                  <a:pt x="40" y="2"/>
                </a:lnTo>
                <a:lnTo>
                  <a:pt x="43" y="0"/>
                </a:lnTo>
              </a:path>
            </a:pathLst>
          </a:cu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50" name="Line 150"/>
          <p:cNvSpPr>
            <a:spLocks noChangeShapeType="1"/>
          </p:cNvSpPr>
          <p:nvPr/>
        </p:nvSpPr>
        <p:spPr bwMode="auto">
          <a:xfrm>
            <a:off x="3167064" y="2520950"/>
            <a:ext cx="319087" cy="1588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1" name="Line 151"/>
          <p:cNvSpPr>
            <a:spLocks noChangeShapeType="1"/>
          </p:cNvSpPr>
          <p:nvPr/>
        </p:nvSpPr>
        <p:spPr bwMode="auto">
          <a:xfrm>
            <a:off x="3060700" y="2635250"/>
            <a:ext cx="1588" cy="1074738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2" name="Line 152"/>
          <p:cNvSpPr>
            <a:spLocks noChangeShapeType="1"/>
          </p:cNvSpPr>
          <p:nvPr/>
        </p:nvSpPr>
        <p:spPr bwMode="auto">
          <a:xfrm>
            <a:off x="3060701" y="3709988"/>
            <a:ext cx="106363" cy="114300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" name="Freeform 153"/>
          <p:cNvSpPr>
            <a:spLocks noChangeArrowheads="1"/>
          </p:cNvSpPr>
          <p:nvPr/>
        </p:nvSpPr>
        <p:spPr bwMode="auto">
          <a:xfrm>
            <a:off x="3486151" y="3786188"/>
            <a:ext cx="328613" cy="38100"/>
          </a:xfrm>
          <a:custGeom>
            <a:avLst/>
            <a:gdLst>
              <a:gd name="T0" fmla="*/ 43 w 43"/>
              <a:gd name="T1" fmla="*/ 5 h 5"/>
              <a:gd name="T2" fmla="*/ 40 w 43"/>
              <a:gd name="T3" fmla="*/ 3 h 5"/>
              <a:gd name="T4" fmla="*/ 36 w 43"/>
              <a:gd name="T5" fmla="*/ 2 h 5"/>
              <a:gd name="T6" fmla="*/ 33 w 43"/>
              <a:gd name="T7" fmla="*/ 1 h 5"/>
              <a:gd name="T8" fmla="*/ 29 w 43"/>
              <a:gd name="T9" fmla="*/ 1 h 5"/>
              <a:gd name="T10" fmla="*/ 25 w 43"/>
              <a:gd name="T11" fmla="*/ 0 h 5"/>
              <a:gd name="T12" fmla="*/ 22 w 43"/>
              <a:gd name="T13" fmla="*/ 0 h 5"/>
              <a:gd name="T14" fmla="*/ 18 w 43"/>
              <a:gd name="T15" fmla="*/ 0 h 5"/>
              <a:gd name="T16" fmla="*/ 14 w 43"/>
              <a:gd name="T17" fmla="*/ 1 h 5"/>
              <a:gd name="T18" fmla="*/ 11 w 43"/>
              <a:gd name="T19" fmla="*/ 1 h 5"/>
              <a:gd name="T20" fmla="*/ 7 w 43"/>
              <a:gd name="T21" fmla="*/ 2 h 5"/>
              <a:gd name="T22" fmla="*/ 4 w 43"/>
              <a:gd name="T23" fmla="*/ 3 h 5"/>
              <a:gd name="T24" fmla="*/ 0 w 43"/>
              <a:gd name="T25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3" h="5">
                <a:moveTo>
                  <a:pt x="43" y="5"/>
                </a:moveTo>
                <a:lnTo>
                  <a:pt x="40" y="3"/>
                </a:lnTo>
                <a:lnTo>
                  <a:pt x="36" y="2"/>
                </a:lnTo>
                <a:lnTo>
                  <a:pt x="33" y="1"/>
                </a:lnTo>
                <a:lnTo>
                  <a:pt x="29" y="1"/>
                </a:lnTo>
                <a:lnTo>
                  <a:pt x="25" y="0"/>
                </a:lnTo>
                <a:lnTo>
                  <a:pt x="22" y="0"/>
                </a:lnTo>
                <a:lnTo>
                  <a:pt x="18" y="0"/>
                </a:lnTo>
                <a:lnTo>
                  <a:pt x="14" y="1"/>
                </a:lnTo>
                <a:lnTo>
                  <a:pt x="11" y="1"/>
                </a:lnTo>
                <a:lnTo>
                  <a:pt x="7" y="2"/>
                </a:lnTo>
                <a:lnTo>
                  <a:pt x="4" y="3"/>
                </a:lnTo>
                <a:lnTo>
                  <a:pt x="0" y="5"/>
                </a:lnTo>
              </a:path>
            </a:pathLst>
          </a:cu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54" name="Line 154"/>
          <p:cNvSpPr>
            <a:spLocks noChangeShapeType="1"/>
          </p:cNvSpPr>
          <p:nvPr/>
        </p:nvSpPr>
        <p:spPr bwMode="auto">
          <a:xfrm>
            <a:off x="3167064" y="3824289"/>
            <a:ext cx="319087" cy="1587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5" name="Line 155"/>
          <p:cNvSpPr>
            <a:spLocks noChangeShapeType="1"/>
          </p:cNvSpPr>
          <p:nvPr/>
        </p:nvSpPr>
        <p:spPr bwMode="auto">
          <a:xfrm>
            <a:off x="3814764" y="3824289"/>
            <a:ext cx="433387" cy="1587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6" name="Line 156"/>
          <p:cNvSpPr>
            <a:spLocks noChangeShapeType="1"/>
          </p:cNvSpPr>
          <p:nvPr/>
        </p:nvSpPr>
        <p:spPr bwMode="auto">
          <a:xfrm>
            <a:off x="4248150" y="4251325"/>
            <a:ext cx="2705100" cy="1588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7" name="Line 157"/>
          <p:cNvSpPr>
            <a:spLocks noChangeShapeType="1"/>
          </p:cNvSpPr>
          <p:nvPr/>
        </p:nvSpPr>
        <p:spPr bwMode="auto">
          <a:xfrm>
            <a:off x="6953250" y="2095501"/>
            <a:ext cx="1588" cy="2155825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8" name="Line 158"/>
          <p:cNvSpPr>
            <a:spLocks noChangeShapeType="1"/>
          </p:cNvSpPr>
          <p:nvPr/>
        </p:nvSpPr>
        <p:spPr bwMode="auto">
          <a:xfrm>
            <a:off x="6953251" y="2362200"/>
            <a:ext cx="2155825" cy="1588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9" name="Line 159"/>
          <p:cNvSpPr>
            <a:spLocks noChangeShapeType="1"/>
          </p:cNvSpPr>
          <p:nvPr/>
        </p:nvSpPr>
        <p:spPr bwMode="auto">
          <a:xfrm>
            <a:off x="6953251" y="3984625"/>
            <a:ext cx="2155825" cy="1588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" name="Line 160"/>
          <p:cNvSpPr>
            <a:spLocks noChangeShapeType="1"/>
          </p:cNvSpPr>
          <p:nvPr/>
        </p:nvSpPr>
        <p:spPr bwMode="auto">
          <a:xfrm>
            <a:off x="9109075" y="2362201"/>
            <a:ext cx="1588" cy="1622425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1" name="Line 161"/>
          <p:cNvSpPr>
            <a:spLocks noChangeShapeType="1"/>
          </p:cNvSpPr>
          <p:nvPr/>
        </p:nvSpPr>
        <p:spPr bwMode="auto">
          <a:xfrm>
            <a:off x="9109075" y="2362201"/>
            <a:ext cx="166688" cy="106363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2" name="Line 162"/>
          <p:cNvSpPr>
            <a:spLocks noChangeShapeType="1"/>
          </p:cNvSpPr>
          <p:nvPr/>
        </p:nvSpPr>
        <p:spPr bwMode="auto">
          <a:xfrm flipV="1">
            <a:off x="9109075" y="3876675"/>
            <a:ext cx="166688" cy="107950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3" name="Line 163"/>
          <p:cNvSpPr>
            <a:spLocks noChangeShapeType="1"/>
          </p:cNvSpPr>
          <p:nvPr/>
        </p:nvSpPr>
        <p:spPr bwMode="auto">
          <a:xfrm>
            <a:off x="9275764" y="2468563"/>
            <a:ext cx="1587" cy="1408112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" name="Line 164"/>
          <p:cNvSpPr>
            <a:spLocks noChangeShapeType="1"/>
          </p:cNvSpPr>
          <p:nvPr/>
        </p:nvSpPr>
        <p:spPr bwMode="auto">
          <a:xfrm>
            <a:off x="3486150" y="2520950"/>
            <a:ext cx="1588" cy="1303338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5" name="Line 165"/>
          <p:cNvSpPr>
            <a:spLocks noChangeShapeType="1"/>
          </p:cNvSpPr>
          <p:nvPr/>
        </p:nvSpPr>
        <p:spPr bwMode="auto">
          <a:xfrm>
            <a:off x="3814764" y="2520950"/>
            <a:ext cx="1587" cy="1303338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6" name="Line 166"/>
          <p:cNvSpPr>
            <a:spLocks noChangeShapeType="1"/>
          </p:cNvSpPr>
          <p:nvPr/>
        </p:nvSpPr>
        <p:spPr bwMode="auto">
          <a:xfrm>
            <a:off x="3929064" y="2574926"/>
            <a:ext cx="22225" cy="6032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7" name="Line 167"/>
          <p:cNvSpPr>
            <a:spLocks noChangeShapeType="1"/>
          </p:cNvSpPr>
          <p:nvPr/>
        </p:nvSpPr>
        <p:spPr bwMode="auto">
          <a:xfrm>
            <a:off x="3951289" y="2635251"/>
            <a:ext cx="1587" cy="61913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8" name="Line 168"/>
          <p:cNvSpPr>
            <a:spLocks noChangeShapeType="1"/>
          </p:cNvSpPr>
          <p:nvPr/>
        </p:nvSpPr>
        <p:spPr bwMode="auto">
          <a:xfrm>
            <a:off x="3929064" y="2520951"/>
            <a:ext cx="1587" cy="5397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9" name="Line 169"/>
          <p:cNvSpPr>
            <a:spLocks noChangeShapeType="1"/>
          </p:cNvSpPr>
          <p:nvPr/>
        </p:nvSpPr>
        <p:spPr bwMode="auto">
          <a:xfrm flipH="1">
            <a:off x="3981450" y="3527425"/>
            <a:ext cx="7938" cy="4603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0" name="Line 170"/>
          <p:cNvSpPr>
            <a:spLocks noChangeShapeType="1"/>
          </p:cNvSpPr>
          <p:nvPr/>
        </p:nvSpPr>
        <p:spPr bwMode="auto">
          <a:xfrm>
            <a:off x="3981450" y="3573463"/>
            <a:ext cx="1588" cy="68262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1" name="Line 171"/>
          <p:cNvSpPr>
            <a:spLocks noChangeShapeType="1"/>
          </p:cNvSpPr>
          <p:nvPr/>
        </p:nvSpPr>
        <p:spPr bwMode="auto">
          <a:xfrm flipH="1">
            <a:off x="3951288" y="3641725"/>
            <a:ext cx="30162" cy="4603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2" name="Line 172"/>
          <p:cNvSpPr>
            <a:spLocks noChangeShapeType="1"/>
          </p:cNvSpPr>
          <p:nvPr/>
        </p:nvSpPr>
        <p:spPr bwMode="auto">
          <a:xfrm>
            <a:off x="3951289" y="3687763"/>
            <a:ext cx="22225" cy="44450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3" name="Line 173"/>
          <p:cNvSpPr>
            <a:spLocks noChangeShapeType="1"/>
          </p:cNvSpPr>
          <p:nvPr/>
        </p:nvSpPr>
        <p:spPr bwMode="auto">
          <a:xfrm>
            <a:off x="3973513" y="3732214"/>
            <a:ext cx="23812" cy="46037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" name="Line 174"/>
          <p:cNvSpPr>
            <a:spLocks noChangeShapeType="1"/>
          </p:cNvSpPr>
          <p:nvPr/>
        </p:nvSpPr>
        <p:spPr bwMode="auto">
          <a:xfrm>
            <a:off x="3997325" y="3778250"/>
            <a:ext cx="1588" cy="4603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43112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>
          <a:xfrm>
            <a:off x="2165222" y="400673"/>
            <a:ext cx="6985000" cy="419100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24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zh-CN" altLang="en-US" dirty="0"/>
              <a:t>局部剖视图中内、外形之间分界线的画法</a:t>
            </a:r>
          </a:p>
        </p:txBody>
      </p:sp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6926263" y="4302125"/>
            <a:ext cx="6985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zh-CN" altLang="en-US" sz="180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错误</a:t>
            </a:r>
            <a:endParaRPr lang="zh-CN" altLang="en-US" sz="180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4" name="Group 4"/>
          <p:cNvGrpSpPr>
            <a:grpSpLocks noChangeAspect="1"/>
          </p:cNvGrpSpPr>
          <p:nvPr/>
        </p:nvGrpSpPr>
        <p:grpSpPr bwMode="auto">
          <a:xfrm>
            <a:off x="6613526" y="1092200"/>
            <a:ext cx="1349375" cy="3068638"/>
            <a:chOff x="1670" y="676"/>
            <a:chExt cx="1048" cy="2384"/>
          </a:xfrm>
        </p:grpSpPr>
        <p:grpSp>
          <p:nvGrpSpPr>
            <p:cNvPr id="5" name="Group 5"/>
            <p:cNvGrpSpPr>
              <a:grpSpLocks noChangeAspect="1"/>
            </p:cNvGrpSpPr>
            <p:nvPr/>
          </p:nvGrpSpPr>
          <p:grpSpPr bwMode="auto">
            <a:xfrm>
              <a:off x="1670" y="679"/>
              <a:ext cx="1048" cy="2381"/>
              <a:chOff x="1229" y="367"/>
              <a:chExt cx="1664" cy="3781"/>
            </a:xfrm>
          </p:grpSpPr>
          <p:sp>
            <p:nvSpPr>
              <p:cNvPr id="49" name="Freeform 6"/>
              <p:cNvSpPr>
                <a:spLocks noChangeAspect="1" noChangeArrowheads="1"/>
              </p:cNvSpPr>
              <p:nvPr/>
            </p:nvSpPr>
            <p:spPr bwMode="auto">
              <a:xfrm>
                <a:off x="2060" y="2232"/>
                <a:ext cx="2" cy="142"/>
              </a:xfrm>
              <a:custGeom>
                <a:avLst/>
                <a:gdLst>
                  <a:gd name="T0" fmla="*/ 0 w 1"/>
                  <a:gd name="T1" fmla="*/ 0 h 652"/>
                  <a:gd name="T2" fmla="*/ 0 w 1"/>
                  <a:gd name="T3" fmla="*/ 652 h 652"/>
                  <a:gd name="T4" fmla="*/ 1 w 1"/>
                  <a:gd name="T5" fmla="*/ 652 h 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52">
                    <a:moveTo>
                      <a:pt x="0" y="0"/>
                    </a:moveTo>
                    <a:lnTo>
                      <a:pt x="0" y="652"/>
                    </a:lnTo>
                    <a:lnTo>
                      <a:pt x="1" y="652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" name="Freeform 7"/>
              <p:cNvSpPr>
                <a:spLocks noChangeAspect="1" noChangeArrowheads="1"/>
              </p:cNvSpPr>
              <p:nvPr/>
            </p:nvSpPr>
            <p:spPr bwMode="auto">
              <a:xfrm>
                <a:off x="2060" y="2421"/>
                <a:ext cx="2" cy="48"/>
              </a:xfrm>
              <a:custGeom>
                <a:avLst/>
                <a:gdLst>
                  <a:gd name="T0" fmla="*/ 0 w 1"/>
                  <a:gd name="T1" fmla="*/ 0 h 212"/>
                  <a:gd name="T2" fmla="*/ 0 w 1"/>
                  <a:gd name="T3" fmla="*/ 212 h 212"/>
                  <a:gd name="T4" fmla="*/ 1 w 1"/>
                  <a:gd name="T5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2">
                    <a:moveTo>
                      <a:pt x="0" y="0"/>
                    </a:moveTo>
                    <a:lnTo>
                      <a:pt x="0" y="212"/>
                    </a:lnTo>
                    <a:lnTo>
                      <a:pt x="1" y="212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" name="Freeform 8"/>
              <p:cNvSpPr>
                <a:spLocks noChangeAspect="1" noChangeArrowheads="1"/>
              </p:cNvSpPr>
              <p:nvPr/>
            </p:nvSpPr>
            <p:spPr bwMode="auto">
              <a:xfrm>
                <a:off x="2060" y="2514"/>
                <a:ext cx="2" cy="233"/>
              </a:xfrm>
              <a:custGeom>
                <a:avLst/>
                <a:gdLst>
                  <a:gd name="T0" fmla="*/ 0 w 1"/>
                  <a:gd name="T1" fmla="*/ 0 h 1063"/>
                  <a:gd name="T2" fmla="*/ 0 w 1"/>
                  <a:gd name="T3" fmla="*/ 1063 h 1063"/>
                  <a:gd name="T4" fmla="*/ 1 w 1"/>
                  <a:gd name="T5" fmla="*/ 1063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63">
                    <a:moveTo>
                      <a:pt x="0" y="0"/>
                    </a:moveTo>
                    <a:lnTo>
                      <a:pt x="0" y="1063"/>
                    </a:lnTo>
                    <a:lnTo>
                      <a:pt x="1" y="106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2" name="Freeform 9"/>
              <p:cNvSpPr>
                <a:spLocks noChangeAspect="1" noChangeArrowheads="1"/>
              </p:cNvSpPr>
              <p:nvPr/>
            </p:nvSpPr>
            <p:spPr bwMode="auto">
              <a:xfrm>
                <a:off x="2060" y="2795"/>
                <a:ext cx="2" cy="45"/>
              </a:xfrm>
              <a:custGeom>
                <a:avLst/>
                <a:gdLst>
                  <a:gd name="T0" fmla="*/ 0 w 1"/>
                  <a:gd name="T1" fmla="*/ 0 h 213"/>
                  <a:gd name="T2" fmla="*/ 0 w 1"/>
                  <a:gd name="T3" fmla="*/ 213 h 213"/>
                  <a:gd name="T4" fmla="*/ 1 w 1"/>
                  <a:gd name="T5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3">
                    <a:moveTo>
                      <a:pt x="0" y="0"/>
                    </a:moveTo>
                    <a:lnTo>
                      <a:pt x="0" y="213"/>
                    </a:lnTo>
                    <a:lnTo>
                      <a:pt x="1" y="21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3" name="Freeform 10"/>
              <p:cNvSpPr>
                <a:spLocks noChangeAspect="1" noChangeArrowheads="1"/>
              </p:cNvSpPr>
              <p:nvPr/>
            </p:nvSpPr>
            <p:spPr bwMode="auto">
              <a:xfrm>
                <a:off x="2060" y="2888"/>
                <a:ext cx="2" cy="233"/>
              </a:xfrm>
              <a:custGeom>
                <a:avLst/>
                <a:gdLst>
                  <a:gd name="T0" fmla="*/ 0 w 1"/>
                  <a:gd name="T1" fmla="*/ 0 h 1063"/>
                  <a:gd name="T2" fmla="*/ 0 w 1"/>
                  <a:gd name="T3" fmla="*/ 1063 h 1063"/>
                  <a:gd name="T4" fmla="*/ 1 w 1"/>
                  <a:gd name="T5" fmla="*/ 1063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63">
                    <a:moveTo>
                      <a:pt x="0" y="0"/>
                    </a:moveTo>
                    <a:lnTo>
                      <a:pt x="0" y="1063"/>
                    </a:lnTo>
                    <a:lnTo>
                      <a:pt x="1" y="106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4" name="Freeform 11"/>
              <p:cNvSpPr>
                <a:spLocks noChangeAspect="1" noChangeArrowheads="1"/>
              </p:cNvSpPr>
              <p:nvPr/>
            </p:nvSpPr>
            <p:spPr bwMode="auto">
              <a:xfrm>
                <a:off x="2060" y="3166"/>
                <a:ext cx="2" cy="48"/>
              </a:xfrm>
              <a:custGeom>
                <a:avLst/>
                <a:gdLst>
                  <a:gd name="T0" fmla="*/ 0 w 1"/>
                  <a:gd name="T1" fmla="*/ 0 h 212"/>
                  <a:gd name="T2" fmla="*/ 0 w 1"/>
                  <a:gd name="T3" fmla="*/ 212 h 212"/>
                  <a:gd name="T4" fmla="*/ 1 w 1"/>
                  <a:gd name="T5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2">
                    <a:moveTo>
                      <a:pt x="0" y="0"/>
                    </a:moveTo>
                    <a:lnTo>
                      <a:pt x="0" y="212"/>
                    </a:lnTo>
                    <a:lnTo>
                      <a:pt x="1" y="212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5" name="Freeform 12"/>
              <p:cNvSpPr>
                <a:spLocks noChangeAspect="1" noChangeArrowheads="1"/>
              </p:cNvSpPr>
              <p:nvPr/>
            </p:nvSpPr>
            <p:spPr bwMode="auto">
              <a:xfrm>
                <a:off x="2060" y="3259"/>
                <a:ext cx="2" cy="233"/>
              </a:xfrm>
              <a:custGeom>
                <a:avLst/>
                <a:gdLst>
                  <a:gd name="T0" fmla="*/ 0 w 1"/>
                  <a:gd name="T1" fmla="*/ 0 h 1063"/>
                  <a:gd name="T2" fmla="*/ 0 w 1"/>
                  <a:gd name="T3" fmla="*/ 1063 h 1063"/>
                  <a:gd name="T4" fmla="*/ 1 w 1"/>
                  <a:gd name="T5" fmla="*/ 1063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63">
                    <a:moveTo>
                      <a:pt x="0" y="0"/>
                    </a:moveTo>
                    <a:lnTo>
                      <a:pt x="0" y="1063"/>
                    </a:lnTo>
                    <a:lnTo>
                      <a:pt x="1" y="106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6" name="Freeform 13"/>
              <p:cNvSpPr>
                <a:spLocks noChangeAspect="1" noChangeArrowheads="1"/>
              </p:cNvSpPr>
              <p:nvPr/>
            </p:nvSpPr>
            <p:spPr bwMode="auto">
              <a:xfrm>
                <a:off x="2060" y="3540"/>
                <a:ext cx="2" cy="45"/>
              </a:xfrm>
              <a:custGeom>
                <a:avLst/>
                <a:gdLst>
                  <a:gd name="T0" fmla="*/ 0 w 1"/>
                  <a:gd name="T1" fmla="*/ 0 h 213"/>
                  <a:gd name="T2" fmla="*/ 0 w 1"/>
                  <a:gd name="T3" fmla="*/ 213 h 213"/>
                  <a:gd name="T4" fmla="*/ 1 w 1"/>
                  <a:gd name="T5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3">
                    <a:moveTo>
                      <a:pt x="0" y="0"/>
                    </a:moveTo>
                    <a:lnTo>
                      <a:pt x="0" y="213"/>
                    </a:lnTo>
                    <a:lnTo>
                      <a:pt x="1" y="21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7" name="Freeform 14"/>
              <p:cNvSpPr>
                <a:spLocks noChangeAspect="1" noChangeArrowheads="1"/>
              </p:cNvSpPr>
              <p:nvPr/>
            </p:nvSpPr>
            <p:spPr bwMode="auto">
              <a:xfrm>
                <a:off x="2060" y="3633"/>
                <a:ext cx="2" cy="233"/>
              </a:xfrm>
              <a:custGeom>
                <a:avLst/>
                <a:gdLst>
                  <a:gd name="T0" fmla="*/ 0 w 1"/>
                  <a:gd name="T1" fmla="*/ 0 h 1063"/>
                  <a:gd name="T2" fmla="*/ 0 w 1"/>
                  <a:gd name="T3" fmla="*/ 1063 h 1063"/>
                  <a:gd name="T4" fmla="*/ 1 w 1"/>
                  <a:gd name="T5" fmla="*/ 1063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63">
                    <a:moveTo>
                      <a:pt x="0" y="0"/>
                    </a:moveTo>
                    <a:lnTo>
                      <a:pt x="0" y="1063"/>
                    </a:lnTo>
                    <a:lnTo>
                      <a:pt x="1" y="106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8" name="Freeform 15"/>
              <p:cNvSpPr>
                <a:spLocks noChangeAspect="1" noChangeArrowheads="1"/>
              </p:cNvSpPr>
              <p:nvPr/>
            </p:nvSpPr>
            <p:spPr bwMode="auto">
              <a:xfrm>
                <a:off x="2060" y="3911"/>
                <a:ext cx="2" cy="48"/>
              </a:xfrm>
              <a:custGeom>
                <a:avLst/>
                <a:gdLst>
                  <a:gd name="T0" fmla="*/ 0 w 1"/>
                  <a:gd name="T1" fmla="*/ 0 h 213"/>
                  <a:gd name="T2" fmla="*/ 0 w 1"/>
                  <a:gd name="T3" fmla="*/ 213 h 213"/>
                  <a:gd name="T4" fmla="*/ 1 w 1"/>
                  <a:gd name="T5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3">
                    <a:moveTo>
                      <a:pt x="0" y="0"/>
                    </a:moveTo>
                    <a:lnTo>
                      <a:pt x="0" y="213"/>
                    </a:lnTo>
                    <a:lnTo>
                      <a:pt x="1" y="21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9" name="Freeform 16"/>
              <p:cNvSpPr>
                <a:spLocks noChangeAspect="1" noChangeArrowheads="1"/>
              </p:cNvSpPr>
              <p:nvPr/>
            </p:nvSpPr>
            <p:spPr bwMode="auto">
              <a:xfrm>
                <a:off x="2060" y="4006"/>
                <a:ext cx="2" cy="142"/>
              </a:xfrm>
              <a:custGeom>
                <a:avLst/>
                <a:gdLst>
                  <a:gd name="T0" fmla="*/ 0 w 1"/>
                  <a:gd name="T1" fmla="*/ 0 h 653"/>
                  <a:gd name="T2" fmla="*/ 0 w 1"/>
                  <a:gd name="T3" fmla="*/ 653 h 653"/>
                  <a:gd name="T4" fmla="*/ 1 w 1"/>
                  <a:gd name="T5" fmla="*/ 653 h 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53">
                    <a:moveTo>
                      <a:pt x="0" y="0"/>
                    </a:moveTo>
                    <a:lnTo>
                      <a:pt x="0" y="653"/>
                    </a:lnTo>
                    <a:lnTo>
                      <a:pt x="1" y="65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0" name="Freeform 17"/>
              <p:cNvSpPr>
                <a:spLocks noChangeAspect="1" noChangeArrowheads="1"/>
              </p:cNvSpPr>
              <p:nvPr/>
            </p:nvSpPr>
            <p:spPr bwMode="auto">
              <a:xfrm>
                <a:off x="1229" y="3063"/>
                <a:ext cx="203" cy="2"/>
              </a:xfrm>
              <a:custGeom>
                <a:avLst/>
                <a:gdLst>
                  <a:gd name="T0" fmla="*/ 0 w 927"/>
                  <a:gd name="T1" fmla="*/ 0 h 2"/>
                  <a:gd name="T2" fmla="*/ 926 w 927"/>
                  <a:gd name="T3" fmla="*/ 0 h 2"/>
                  <a:gd name="T4" fmla="*/ 927 w 927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27" h="2">
                    <a:moveTo>
                      <a:pt x="0" y="0"/>
                    </a:moveTo>
                    <a:lnTo>
                      <a:pt x="926" y="0"/>
                    </a:lnTo>
                    <a:lnTo>
                      <a:pt x="927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1" name="Freeform 18"/>
              <p:cNvSpPr>
                <a:spLocks noChangeAspect="1" noChangeArrowheads="1"/>
              </p:cNvSpPr>
              <p:nvPr/>
            </p:nvSpPr>
            <p:spPr bwMode="auto">
              <a:xfrm>
                <a:off x="1478" y="3063"/>
                <a:ext cx="47" cy="2"/>
              </a:xfrm>
              <a:custGeom>
                <a:avLst/>
                <a:gdLst>
                  <a:gd name="T0" fmla="*/ 0 w 214"/>
                  <a:gd name="T1" fmla="*/ 0 h 2"/>
                  <a:gd name="T2" fmla="*/ 213 w 214"/>
                  <a:gd name="T3" fmla="*/ 0 h 2"/>
                  <a:gd name="T4" fmla="*/ 214 w 21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4" h="2">
                    <a:moveTo>
                      <a:pt x="0" y="0"/>
                    </a:moveTo>
                    <a:lnTo>
                      <a:pt x="213" y="0"/>
                    </a:lnTo>
                    <a:lnTo>
                      <a:pt x="214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2" name="Freeform 19"/>
              <p:cNvSpPr>
                <a:spLocks noChangeAspect="1" noChangeArrowheads="1"/>
              </p:cNvSpPr>
              <p:nvPr/>
            </p:nvSpPr>
            <p:spPr bwMode="auto">
              <a:xfrm>
                <a:off x="1571" y="3063"/>
                <a:ext cx="233" cy="2"/>
              </a:xfrm>
              <a:custGeom>
                <a:avLst/>
                <a:gdLst>
                  <a:gd name="T0" fmla="*/ 0 w 1064"/>
                  <a:gd name="T1" fmla="*/ 0 h 2"/>
                  <a:gd name="T2" fmla="*/ 1063 w 1064"/>
                  <a:gd name="T3" fmla="*/ 0 h 2"/>
                  <a:gd name="T4" fmla="*/ 1064 w 106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4" h="2">
                    <a:moveTo>
                      <a:pt x="0" y="0"/>
                    </a:moveTo>
                    <a:lnTo>
                      <a:pt x="1063" y="0"/>
                    </a:lnTo>
                    <a:lnTo>
                      <a:pt x="1064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3" name="Freeform 20"/>
              <p:cNvSpPr>
                <a:spLocks noChangeAspect="1" noChangeArrowheads="1"/>
              </p:cNvSpPr>
              <p:nvPr/>
            </p:nvSpPr>
            <p:spPr bwMode="auto">
              <a:xfrm>
                <a:off x="1851" y="3063"/>
                <a:ext cx="46" cy="2"/>
              </a:xfrm>
              <a:custGeom>
                <a:avLst/>
                <a:gdLst>
                  <a:gd name="T0" fmla="*/ 0 w 214"/>
                  <a:gd name="T1" fmla="*/ 0 h 2"/>
                  <a:gd name="T2" fmla="*/ 213 w 214"/>
                  <a:gd name="T3" fmla="*/ 0 h 2"/>
                  <a:gd name="T4" fmla="*/ 214 w 21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4" h="2">
                    <a:moveTo>
                      <a:pt x="0" y="0"/>
                    </a:moveTo>
                    <a:lnTo>
                      <a:pt x="213" y="0"/>
                    </a:lnTo>
                    <a:lnTo>
                      <a:pt x="214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4" name="Freeform 21"/>
              <p:cNvSpPr>
                <a:spLocks noChangeAspect="1" noChangeArrowheads="1"/>
              </p:cNvSpPr>
              <p:nvPr/>
            </p:nvSpPr>
            <p:spPr bwMode="auto">
              <a:xfrm>
                <a:off x="1944" y="3063"/>
                <a:ext cx="233" cy="2"/>
              </a:xfrm>
              <a:custGeom>
                <a:avLst/>
                <a:gdLst>
                  <a:gd name="T0" fmla="*/ 0 w 1063"/>
                  <a:gd name="T1" fmla="*/ 0 h 2"/>
                  <a:gd name="T2" fmla="*/ 1062 w 1063"/>
                  <a:gd name="T3" fmla="*/ 0 h 2"/>
                  <a:gd name="T4" fmla="*/ 1063 w 106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3" h="2">
                    <a:moveTo>
                      <a:pt x="0" y="0"/>
                    </a:moveTo>
                    <a:lnTo>
                      <a:pt x="1062" y="0"/>
                    </a:lnTo>
                    <a:lnTo>
                      <a:pt x="1063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5" name="Freeform 22"/>
              <p:cNvSpPr>
                <a:spLocks noChangeAspect="1" noChangeArrowheads="1"/>
              </p:cNvSpPr>
              <p:nvPr/>
            </p:nvSpPr>
            <p:spPr bwMode="auto">
              <a:xfrm>
                <a:off x="2223" y="3063"/>
                <a:ext cx="47" cy="2"/>
              </a:xfrm>
              <a:custGeom>
                <a:avLst/>
                <a:gdLst>
                  <a:gd name="T0" fmla="*/ 0 w 213"/>
                  <a:gd name="T1" fmla="*/ 0 h 2"/>
                  <a:gd name="T2" fmla="*/ 212 w 213"/>
                  <a:gd name="T3" fmla="*/ 0 h 2"/>
                  <a:gd name="T4" fmla="*/ 213 w 21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3" h="2">
                    <a:moveTo>
                      <a:pt x="0" y="0"/>
                    </a:moveTo>
                    <a:lnTo>
                      <a:pt x="212" y="0"/>
                    </a:lnTo>
                    <a:lnTo>
                      <a:pt x="213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6" name="Freeform 23"/>
              <p:cNvSpPr>
                <a:spLocks noChangeAspect="1" noChangeArrowheads="1"/>
              </p:cNvSpPr>
              <p:nvPr/>
            </p:nvSpPr>
            <p:spPr bwMode="auto">
              <a:xfrm>
                <a:off x="2316" y="3063"/>
                <a:ext cx="233" cy="2"/>
              </a:xfrm>
              <a:custGeom>
                <a:avLst/>
                <a:gdLst>
                  <a:gd name="T0" fmla="*/ 0 w 1062"/>
                  <a:gd name="T1" fmla="*/ 0 h 2"/>
                  <a:gd name="T2" fmla="*/ 1061 w 1062"/>
                  <a:gd name="T3" fmla="*/ 0 h 2"/>
                  <a:gd name="T4" fmla="*/ 1062 w 106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2" h="2">
                    <a:moveTo>
                      <a:pt x="0" y="0"/>
                    </a:moveTo>
                    <a:lnTo>
                      <a:pt x="1061" y="0"/>
                    </a:lnTo>
                    <a:lnTo>
                      <a:pt x="1062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7" name="Freeform 24"/>
              <p:cNvSpPr>
                <a:spLocks noChangeAspect="1" noChangeArrowheads="1"/>
              </p:cNvSpPr>
              <p:nvPr/>
            </p:nvSpPr>
            <p:spPr bwMode="auto">
              <a:xfrm>
                <a:off x="2596" y="3063"/>
                <a:ext cx="46" cy="2"/>
              </a:xfrm>
              <a:custGeom>
                <a:avLst/>
                <a:gdLst>
                  <a:gd name="T0" fmla="*/ 0 w 213"/>
                  <a:gd name="T1" fmla="*/ 0 h 2"/>
                  <a:gd name="T2" fmla="*/ 212 w 213"/>
                  <a:gd name="T3" fmla="*/ 0 h 2"/>
                  <a:gd name="T4" fmla="*/ 213 w 21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3" h="2">
                    <a:moveTo>
                      <a:pt x="0" y="0"/>
                    </a:moveTo>
                    <a:lnTo>
                      <a:pt x="212" y="0"/>
                    </a:lnTo>
                    <a:lnTo>
                      <a:pt x="213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8" name="Freeform 25"/>
              <p:cNvSpPr>
                <a:spLocks noChangeAspect="1" noChangeArrowheads="1"/>
              </p:cNvSpPr>
              <p:nvPr/>
            </p:nvSpPr>
            <p:spPr bwMode="auto">
              <a:xfrm>
                <a:off x="2689" y="3063"/>
                <a:ext cx="204" cy="2"/>
              </a:xfrm>
              <a:custGeom>
                <a:avLst/>
                <a:gdLst>
                  <a:gd name="T0" fmla="*/ 0 w 927"/>
                  <a:gd name="T1" fmla="*/ 0 h 2"/>
                  <a:gd name="T2" fmla="*/ 926 w 927"/>
                  <a:gd name="T3" fmla="*/ 0 h 2"/>
                  <a:gd name="T4" fmla="*/ 927 w 927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27" h="2">
                    <a:moveTo>
                      <a:pt x="0" y="0"/>
                    </a:moveTo>
                    <a:lnTo>
                      <a:pt x="926" y="0"/>
                    </a:lnTo>
                    <a:lnTo>
                      <a:pt x="927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9" name="Freeform 26"/>
              <p:cNvSpPr>
                <a:spLocks noChangeAspect="1" noChangeArrowheads="1"/>
              </p:cNvSpPr>
              <p:nvPr/>
            </p:nvSpPr>
            <p:spPr bwMode="auto">
              <a:xfrm>
                <a:off x="2060" y="367"/>
                <a:ext cx="2" cy="259"/>
              </a:xfrm>
              <a:custGeom>
                <a:avLst/>
                <a:gdLst>
                  <a:gd name="T0" fmla="*/ 0 w 1"/>
                  <a:gd name="T1" fmla="*/ 0 h 1182"/>
                  <a:gd name="T2" fmla="*/ 0 w 1"/>
                  <a:gd name="T3" fmla="*/ 1182 h 1182"/>
                  <a:gd name="T4" fmla="*/ 1 w 1"/>
                  <a:gd name="T5" fmla="*/ 1182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182">
                    <a:moveTo>
                      <a:pt x="0" y="0"/>
                    </a:moveTo>
                    <a:lnTo>
                      <a:pt x="0" y="1182"/>
                    </a:lnTo>
                    <a:lnTo>
                      <a:pt x="1" y="1182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0" name="Freeform 27"/>
              <p:cNvSpPr>
                <a:spLocks noChangeAspect="1" noChangeArrowheads="1"/>
              </p:cNvSpPr>
              <p:nvPr/>
            </p:nvSpPr>
            <p:spPr bwMode="auto">
              <a:xfrm>
                <a:off x="2060" y="672"/>
                <a:ext cx="2" cy="47"/>
              </a:xfrm>
              <a:custGeom>
                <a:avLst/>
                <a:gdLst>
                  <a:gd name="T0" fmla="*/ 0 w 1"/>
                  <a:gd name="T1" fmla="*/ 0 h 212"/>
                  <a:gd name="T2" fmla="*/ 0 w 1"/>
                  <a:gd name="T3" fmla="*/ 212 h 212"/>
                  <a:gd name="T4" fmla="*/ 1 w 1"/>
                  <a:gd name="T5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2">
                    <a:moveTo>
                      <a:pt x="0" y="0"/>
                    </a:moveTo>
                    <a:lnTo>
                      <a:pt x="0" y="212"/>
                    </a:lnTo>
                    <a:lnTo>
                      <a:pt x="1" y="212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1" name="Freeform 28"/>
              <p:cNvSpPr>
                <a:spLocks noChangeAspect="1" noChangeArrowheads="1"/>
              </p:cNvSpPr>
              <p:nvPr/>
            </p:nvSpPr>
            <p:spPr bwMode="auto">
              <a:xfrm>
                <a:off x="2060" y="764"/>
                <a:ext cx="2" cy="234"/>
              </a:xfrm>
              <a:custGeom>
                <a:avLst/>
                <a:gdLst>
                  <a:gd name="T0" fmla="*/ 0 w 1"/>
                  <a:gd name="T1" fmla="*/ 0 h 1064"/>
                  <a:gd name="T2" fmla="*/ 0 w 1"/>
                  <a:gd name="T3" fmla="*/ 1064 h 1064"/>
                  <a:gd name="T4" fmla="*/ 1 w 1"/>
                  <a:gd name="T5" fmla="*/ 106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64">
                    <a:moveTo>
                      <a:pt x="0" y="0"/>
                    </a:moveTo>
                    <a:lnTo>
                      <a:pt x="0" y="1064"/>
                    </a:lnTo>
                    <a:lnTo>
                      <a:pt x="1" y="1064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2" name="Freeform 29"/>
              <p:cNvSpPr>
                <a:spLocks noChangeAspect="1" noChangeArrowheads="1"/>
              </p:cNvSpPr>
              <p:nvPr/>
            </p:nvSpPr>
            <p:spPr bwMode="auto">
              <a:xfrm>
                <a:off x="2060" y="1045"/>
                <a:ext cx="2" cy="46"/>
              </a:xfrm>
              <a:custGeom>
                <a:avLst/>
                <a:gdLst>
                  <a:gd name="T0" fmla="*/ 0 w 1"/>
                  <a:gd name="T1" fmla="*/ 0 h 212"/>
                  <a:gd name="T2" fmla="*/ 0 w 1"/>
                  <a:gd name="T3" fmla="*/ 212 h 212"/>
                  <a:gd name="T4" fmla="*/ 1 w 1"/>
                  <a:gd name="T5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2">
                    <a:moveTo>
                      <a:pt x="0" y="0"/>
                    </a:moveTo>
                    <a:lnTo>
                      <a:pt x="0" y="212"/>
                    </a:lnTo>
                    <a:lnTo>
                      <a:pt x="1" y="212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3" name="Freeform 30"/>
              <p:cNvSpPr>
                <a:spLocks noChangeAspect="1" noChangeArrowheads="1"/>
              </p:cNvSpPr>
              <p:nvPr/>
            </p:nvSpPr>
            <p:spPr bwMode="auto">
              <a:xfrm>
                <a:off x="2060" y="1138"/>
                <a:ext cx="2" cy="233"/>
              </a:xfrm>
              <a:custGeom>
                <a:avLst/>
                <a:gdLst>
                  <a:gd name="T0" fmla="*/ 0 w 1"/>
                  <a:gd name="T1" fmla="*/ 0 h 1063"/>
                  <a:gd name="T2" fmla="*/ 0 w 1"/>
                  <a:gd name="T3" fmla="*/ 1063 h 1063"/>
                  <a:gd name="T4" fmla="*/ 1 w 1"/>
                  <a:gd name="T5" fmla="*/ 1063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63">
                    <a:moveTo>
                      <a:pt x="0" y="0"/>
                    </a:moveTo>
                    <a:lnTo>
                      <a:pt x="0" y="1063"/>
                    </a:lnTo>
                    <a:lnTo>
                      <a:pt x="1" y="106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4" name="Freeform 31"/>
              <p:cNvSpPr>
                <a:spLocks noChangeAspect="1" noChangeArrowheads="1"/>
              </p:cNvSpPr>
              <p:nvPr/>
            </p:nvSpPr>
            <p:spPr bwMode="auto">
              <a:xfrm>
                <a:off x="2060" y="1417"/>
                <a:ext cx="2" cy="47"/>
              </a:xfrm>
              <a:custGeom>
                <a:avLst/>
                <a:gdLst>
                  <a:gd name="T0" fmla="*/ 0 w 1"/>
                  <a:gd name="T1" fmla="*/ 0 h 213"/>
                  <a:gd name="T2" fmla="*/ 0 w 1"/>
                  <a:gd name="T3" fmla="*/ 213 h 213"/>
                  <a:gd name="T4" fmla="*/ 1 w 1"/>
                  <a:gd name="T5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3">
                    <a:moveTo>
                      <a:pt x="0" y="0"/>
                    </a:moveTo>
                    <a:lnTo>
                      <a:pt x="0" y="213"/>
                    </a:lnTo>
                    <a:lnTo>
                      <a:pt x="1" y="21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5" name="Freeform 32"/>
              <p:cNvSpPr>
                <a:spLocks noChangeAspect="1" noChangeArrowheads="1"/>
              </p:cNvSpPr>
              <p:nvPr/>
            </p:nvSpPr>
            <p:spPr bwMode="auto">
              <a:xfrm>
                <a:off x="2060" y="1511"/>
                <a:ext cx="2" cy="233"/>
              </a:xfrm>
              <a:custGeom>
                <a:avLst/>
                <a:gdLst>
                  <a:gd name="T0" fmla="*/ 0 w 1"/>
                  <a:gd name="T1" fmla="*/ 0 h 1063"/>
                  <a:gd name="T2" fmla="*/ 0 w 1"/>
                  <a:gd name="T3" fmla="*/ 1063 h 1063"/>
                  <a:gd name="T4" fmla="*/ 1 w 1"/>
                  <a:gd name="T5" fmla="*/ 1063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63">
                    <a:moveTo>
                      <a:pt x="0" y="0"/>
                    </a:moveTo>
                    <a:lnTo>
                      <a:pt x="0" y="1063"/>
                    </a:lnTo>
                    <a:lnTo>
                      <a:pt x="1" y="106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6" name="Freeform 33"/>
              <p:cNvSpPr>
                <a:spLocks noChangeAspect="1" noChangeArrowheads="1"/>
              </p:cNvSpPr>
              <p:nvPr/>
            </p:nvSpPr>
            <p:spPr bwMode="auto">
              <a:xfrm>
                <a:off x="2060" y="1790"/>
                <a:ext cx="2" cy="47"/>
              </a:xfrm>
              <a:custGeom>
                <a:avLst/>
                <a:gdLst>
                  <a:gd name="T0" fmla="*/ 0 w 1"/>
                  <a:gd name="T1" fmla="*/ 0 h 212"/>
                  <a:gd name="T2" fmla="*/ 0 w 1"/>
                  <a:gd name="T3" fmla="*/ 212 h 212"/>
                  <a:gd name="T4" fmla="*/ 1 w 1"/>
                  <a:gd name="T5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2">
                    <a:moveTo>
                      <a:pt x="0" y="0"/>
                    </a:moveTo>
                    <a:lnTo>
                      <a:pt x="0" y="212"/>
                    </a:lnTo>
                    <a:lnTo>
                      <a:pt x="1" y="212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7" name="Freeform 34"/>
              <p:cNvSpPr>
                <a:spLocks noChangeAspect="1" noChangeArrowheads="1"/>
              </p:cNvSpPr>
              <p:nvPr/>
            </p:nvSpPr>
            <p:spPr bwMode="auto">
              <a:xfrm>
                <a:off x="2060" y="1883"/>
                <a:ext cx="2" cy="259"/>
              </a:xfrm>
              <a:custGeom>
                <a:avLst/>
                <a:gdLst>
                  <a:gd name="T0" fmla="*/ 0 w 1"/>
                  <a:gd name="T1" fmla="*/ 0 h 1181"/>
                  <a:gd name="T2" fmla="*/ 0 w 1"/>
                  <a:gd name="T3" fmla="*/ 1181 h 1181"/>
                  <a:gd name="T4" fmla="*/ 1 w 1"/>
                  <a:gd name="T5" fmla="*/ 118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181">
                    <a:moveTo>
                      <a:pt x="0" y="0"/>
                    </a:moveTo>
                    <a:lnTo>
                      <a:pt x="0" y="1181"/>
                    </a:lnTo>
                    <a:lnTo>
                      <a:pt x="1" y="1181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8" name="Freeform 35"/>
              <p:cNvSpPr>
                <a:spLocks noChangeAspect="1" noChangeArrowheads="1"/>
              </p:cNvSpPr>
              <p:nvPr/>
            </p:nvSpPr>
            <p:spPr bwMode="auto">
              <a:xfrm>
                <a:off x="2382" y="1176"/>
                <a:ext cx="186" cy="2"/>
              </a:xfrm>
              <a:custGeom>
                <a:avLst/>
                <a:gdLst>
                  <a:gd name="T0" fmla="*/ 848 w 848"/>
                  <a:gd name="T1" fmla="*/ 0 h 2"/>
                  <a:gd name="T2" fmla="*/ 0 w 848"/>
                  <a:gd name="T3" fmla="*/ 0 h 2"/>
                  <a:gd name="T4" fmla="*/ 1 w 848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48" h="2">
                    <a:moveTo>
                      <a:pt x="848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9" name="Freeform 36"/>
              <p:cNvSpPr>
                <a:spLocks noChangeAspect="1" noChangeArrowheads="1"/>
              </p:cNvSpPr>
              <p:nvPr/>
            </p:nvSpPr>
            <p:spPr bwMode="auto">
              <a:xfrm>
                <a:off x="2290" y="1176"/>
                <a:ext cx="47" cy="2"/>
              </a:xfrm>
              <a:custGeom>
                <a:avLst/>
                <a:gdLst>
                  <a:gd name="T0" fmla="*/ 213 w 213"/>
                  <a:gd name="T1" fmla="*/ 0 h 2"/>
                  <a:gd name="T2" fmla="*/ 0 w 213"/>
                  <a:gd name="T3" fmla="*/ 0 h 2"/>
                  <a:gd name="T4" fmla="*/ 1 w 21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3" h="2">
                    <a:moveTo>
                      <a:pt x="213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0" name="Freeform 37"/>
              <p:cNvSpPr>
                <a:spLocks noChangeAspect="1" noChangeArrowheads="1"/>
              </p:cNvSpPr>
              <p:nvPr/>
            </p:nvSpPr>
            <p:spPr bwMode="auto">
              <a:xfrm>
                <a:off x="2011" y="1176"/>
                <a:ext cx="233" cy="2"/>
              </a:xfrm>
              <a:custGeom>
                <a:avLst/>
                <a:gdLst>
                  <a:gd name="T0" fmla="*/ 1063 w 1063"/>
                  <a:gd name="T1" fmla="*/ 0 h 2"/>
                  <a:gd name="T2" fmla="*/ 0 w 1063"/>
                  <a:gd name="T3" fmla="*/ 0 h 2"/>
                  <a:gd name="T4" fmla="*/ 1 w 106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3" h="2">
                    <a:moveTo>
                      <a:pt x="1063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1" name="Freeform 38"/>
              <p:cNvSpPr>
                <a:spLocks noChangeAspect="1" noChangeArrowheads="1"/>
              </p:cNvSpPr>
              <p:nvPr/>
            </p:nvSpPr>
            <p:spPr bwMode="auto">
              <a:xfrm>
                <a:off x="1918" y="1176"/>
                <a:ext cx="45" cy="2"/>
              </a:xfrm>
              <a:custGeom>
                <a:avLst/>
                <a:gdLst>
                  <a:gd name="T0" fmla="*/ 213 w 213"/>
                  <a:gd name="T1" fmla="*/ 0 h 2"/>
                  <a:gd name="T2" fmla="*/ 0 w 213"/>
                  <a:gd name="T3" fmla="*/ 0 h 2"/>
                  <a:gd name="T4" fmla="*/ 1 w 21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3" h="2">
                    <a:moveTo>
                      <a:pt x="213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2" name="Freeform 39"/>
              <p:cNvSpPr>
                <a:spLocks noChangeAspect="1" noChangeArrowheads="1"/>
              </p:cNvSpPr>
              <p:nvPr/>
            </p:nvSpPr>
            <p:spPr bwMode="auto">
              <a:xfrm>
                <a:off x="1685" y="1176"/>
                <a:ext cx="186" cy="2"/>
              </a:xfrm>
              <a:custGeom>
                <a:avLst/>
                <a:gdLst>
                  <a:gd name="T0" fmla="*/ 848 w 848"/>
                  <a:gd name="T1" fmla="*/ 0 h 2"/>
                  <a:gd name="T2" fmla="*/ 0 w 848"/>
                  <a:gd name="T3" fmla="*/ 0 h 2"/>
                  <a:gd name="T4" fmla="*/ 1 w 848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48" h="2">
                    <a:moveTo>
                      <a:pt x="848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6" name="Group 40"/>
            <p:cNvGrpSpPr>
              <a:grpSpLocks noChangeAspect="1"/>
            </p:cNvGrpSpPr>
            <p:nvPr/>
          </p:nvGrpSpPr>
          <p:grpSpPr bwMode="auto">
            <a:xfrm>
              <a:off x="1731" y="737"/>
              <a:ext cx="924" cy="2237"/>
              <a:chOff x="1327" y="459"/>
              <a:chExt cx="1467" cy="3552"/>
            </a:xfrm>
          </p:grpSpPr>
          <p:sp>
            <p:nvSpPr>
              <p:cNvPr id="33" name="Freeform 41"/>
              <p:cNvSpPr>
                <a:spLocks noChangeAspect="1" noChangeArrowheads="1"/>
              </p:cNvSpPr>
              <p:nvPr/>
            </p:nvSpPr>
            <p:spPr bwMode="auto">
              <a:xfrm>
                <a:off x="1331" y="2333"/>
                <a:ext cx="1460" cy="1336"/>
              </a:xfrm>
              <a:custGeom>
                <a:avLst/>
                <a:gdLst>
                  <a:gd name="T0" fmla="*/ 5225 w 6666"/>
                  <a:gd name="T1" fmla="*/ 6089 h 6089"/>
                  <a:gd name="T2" fmla="*/ 5783 w 6666"/>
                  <a:gd name="T3" fmla="*/ 5607 h 6089"/>
                  <a:gd name="T4" fmla="*/ 6223 w 6666"/>
                  <a:gd name="T5" fmla="*/ 5015 h 6089"/>
                  <a:gd name="T6" fmla="*/ 6522 w 6666"/>
                  <a:gd name="T7" fmla="*/ 4340 h 6089"/>
                  <a:gd name="T8" fmla="*/ 6666 w 6666"/>
                  <a:gd name="T9" fmla="*/ 3616 h 6089"/>
                  <a:gd name="T10" fmla="*/ 6648 w 6666"/>
                  <a:gd name="T11" fmla="*/ 2878 h 6089"/>
                  <a:gd name="T12" fmla="*/ 6469 w 6666"/>
                  <a:gd name="T13" fmla="*/ 2162 h 6089"/>
                  <a:gd name="T14" fmla="*/ 6137 w 6666"/>
                  <a:gd name="T15" fmla="*/ 1502 h 6089"/>
                  <a:gd name="T16" fmla="*/ 5669 w 6666"/>
                  <a:gd name="T17" fmla="*/ 932 h 6089"/>
                  <a:gd name="T18" fmla="*/ 5088 w 6666"/>
                  <a:gd name="T19" fmla="*/ 478 h 6089"/>
                  <a:gd name="T20" fmla="*/ 4421 w 6666"/>
                  <a:gd name="T21" fmla="*/ 162 h 6089"/>
                  <a:gd name="T22" fmla="*/ 3702 w 6666"/>
                  <a:gd name="T23" fmla="*/ 0 h 6089"/>
                  <a:gd name="T24" fmla="*/ 2964 w 6666"/>
                  <a:gd name="T25" fmla="*/ 0 h 6089"/>
                  <a:gd name="T26" fmla="*/ 2244 w 6666"/>
                  <a:gd name="T27" fmla="*/ 162 h 6089"/>
                  <a:gd name="T28" fmla="*/ 1577 w 6666"/>
                  <a:gd name="T29" fmla="*/ 478 h 6089"/>
                  <a:gd name="T30" fmla="*/ 996 w 6666"/>
                  <a:gd name="T31" fmla="*/ 932 h 6089"/>
                  <a:gd name="T32" fmla="*/ 528 w 6666"/>
                  <a:gd name="T33" fmla="*/ 1502 h 6089"/>
                  <a:gd name="T34" fmla="*/ 197 w 6666"/>
                  <a:gd name="T35" fmla="*/ 2162 h 6089"/>
                  <a:gd name="T36" fmla="*/ 17 w 6666"/>
                  <a:gd name="T37" fmla="*/ 2878 h 6089"/>
                  <a:gd name="T38" fmla="*/ 0 w 6666"/>
                  <a:gd name="T39" fmla="*/ 3616 h 6089"/>
                  <a:gd name="T40" fmla="*/ 144 w 6666"/>
                  <a:gd name="T41" fmla="*/ 4340 h 6089"/>
                  <a:gd name="T42" fmla="*/ 443 w 6666"/>
                  <a:gd name="T43" fmla="*/ 5015 h 6089"/>
                  <a:gd name="T44" fmla="*/ 883 w 6666"/>
                  <a:gd name="T45" fmla="*/ 5607 h 6089"/>
                  <a:gd name="T46" fmla="*/ 1441 w 6666"/>
                  <a:gd name="T47" fmla="*/ 6089 h 6089"/>
                  <a:gd name="T48" fmla="*/ 1442 w 6666"/>
                  <a:gd name="T49" fmla="*/ 6089 h 60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6" h="6089">
                    <a:moveTo>
                      <a:pt x="5225" y="6089"/>
                    </a:moveTo>
                    <a:lnTo>
                      <a:pt x="5783" y="5607"/>
                    </a:lnTo>
                    <a:lnTo>
                      <a:pt x="6223" y="5015"/>
                    </a:lnTo>
                    <a:lnTo>
                      <a:pt x="6522" y="4340"/>
                    </a:lnTo>
                    <a:lnTo>
                      <a:pt x="6666" y="3616"/>
                    </a:lnTo>
                    <a:lnTo>
                      <a:pt x="6648" y="2878"/>
                    </a:lnTo>
                    <a:lnTo>
                      <a:pt x="6469" y="2162"/>
                    </a:lnTo>
                    <a:lnTo>
                      <a:pt x="6137" y="1502"/>
                    </a:lnTo>
                    <a:lnTo>
                      <a:pt x="5669" y="932"/>
                    </a:lnTo>
                    <a:lnTo>
                      <a:pt x="5088" y="478"/>
                    </a:lnTo>
                    <a:lnTo>
                      <a:pt x="4421" y="162"/>
                    </a:lnTo>
                    <a:lnTo>
                      <a:pt x="3702" y="0"/>
                    </a:lnTo>
                    <a:lnTo>
                      <a:pt x="2964" y="0"/>
                    </a:lnTo>
                    <a:lnTo>
                      <a:pt x="2244" y="162"/>
                    </a:lnTo>
                    <a:lnTo>
                      <a:pt x="1577" y="478"/>
                    </a:lnTo>
                    <a:lnTo>
                      <a:pt x="996" y="932"/>
                    </a:lnTo>
                    <a:lnTo>
                      <a:pt x="528" y="1502"/>
                    </a:lnTo>
                    <a:lnTo>
                      <a:pt x="197" y="2162"/>
                    </a:lnTo>
                    <a:lnTo>
                      <a:pt x="17" y="2878"/>
                    </a:lnTo>
                    <a:lnTo>
                      <a:pt x="0" y="3616"/>
                    </a:lnTo>
                    <a:lnTo>
                      <a:pt x="144" y="4340"/>
                    </a:lnTo>
                    <a:lnTo>
                      <a:pt x="443" y="5015"/>
                    </a:lnTo>
                    <a:lnTo>
                      <a:pt x="883" y="5607"/>
                    </a:lnTo>
                    <a:lnTo>
                      <a:pt x="1441" y="6089"/>
                    </a:lnTo>
                    <a:lnTo>
                      <a:pt x="1442" y="608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" name="Freeform 42"/>
              <p:cNvSpPr>
                <a:spLocks noChangeAspect="1" noChangeArrowheads="1"/>
              </p:cNvSpPr>
              <p:nvPr/>
            </p:nvSpPr>
            <p:spPr bwMode="auto">
              <a:xfrm>
                <a:off x="1581" y="3333"/>
                <a:ext cx="957" cy="280"/>
              </a:xfrm>
              <a:custGeom>
                <a:avLst/>
                <a:gdLst>
                  <a:gd name="T0" fmla="*/ 0 w 4369"/>
                  <a:gd name="T1" fmla="*/ 0 h 1279"/>
                  <a:gd name="T2" fmla="*/ 396 w 4369"/>
                  <a:gd name="T3" fmla="*/ 528 h 1279"/>
                  <a:gd name="T4" fmla="*/ 917 w 4369"/>
                  <a:gd name="T5" fmla="*/ 934 h 1279"/>
                  <a:gd name="T6" fmla="*/ 1526 w 4369"/>
                  <a:gd name="T7" fmla="*/ 1190 h 1279"/>
                  <a:gd name="T8" fmla="*/ 2181 w 4369"/>
                  <a:gd name="T9" fmla="*/ 1279 h 1279"/>
                  <a:gd name="T10" fmla="*/ 2836 w 4369"/>
                  <a:gd name="T11" fmla="*/ 1193 h 1279"/>
                  <a:gd name="T12" fmla="*/ 3446 w 4369"/>
                  <a:gd name="T13" fmla="*/ 940 h 1279"/>
                  <a:gd name="T14" fmla="*/ 3969 w 4369"/>
                  <a:gd name="T15" fmla="*/ 536 h 1279"/>
                  <a:gd name="T16" fmla="*/ 4368 w 4369"/>
                  <a:gd name="T17" fmla="*/ 10 h 1279"/>
                  <a:gd name="T18" fmla="*/ 4369 w 4369"/>
                  <a:gd name="T19" fmla="*/ 10 h 1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369" h="1279">
                    <a:moveTo>
                      <a:pt x="0" y="0"/>
                    </a:moveTo>
                    <a:lnTo>
                      <a:pt x="396" y="528"/>
                    </a:lnTo>
                    <a:lnTo>
                      <a:pt x="917" y="934"/>
                    </a:lnTo>
                    <a:lnTo>
                      <a:pt x="1526" y="1190"/>
                    </a:lnTo>
                    <a:lnTo>
                      <a:pt x="2181" y="1279"/>
                    </a:lnTo>
                    <a:lnTo>
                      <a:pt x="2836" y="1193"/>
                    </a:lnTo>
                    <a:lnTo>
                      <a:pt x="3446" y="940"/>
                    </a:lnTo>
                    <a:lnTo>
                      <a:pt x="3969" y="536"/>
                    </a:lnTo>
                    <a:lnTo>
                      <a:pt x="4368" y="10"/>
                    </a:lnTo>
                    <a:lnTo>
                      <a:pt x="4369" y="1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" name="Freeform 43"/>
              <p:cNvSpPr>
                <a:spLocks noChangeAspect="1" noChangeArrowheads="1"/>
              </p:cNvSpPr>
              <p:nvPr/>
            </p:nvSpPr>
            <p:spPr bwMode="auto">
              <a:xfrm>
                <a:off x="1828" y="3562"/>
                <a:ext cx="2" cy="447"/>
              </a:xfrm>
              <a:custGeom>
                <a:avLst/>
                <a:gdLst>
                  <a:gd name="T0" fmla="*/ 0 w 1"/>
                  <a:gd name="T1" fmla="*/ 0 h 2042"/>
                  <a:gd name="T2" fmla="*/ 0 w 1"/>
                  <a:gd name="T3" fmla="*/ 2042 h 2042"/>
                  <a:gd name="T4" fmla="*/ 1 w 1"/>
                  <a:gd name="T5" fmla="*/ 2042 h 20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042">
                    <a:moveTo>
                      <a:pt x="0" y="0"/>
                    </a:moveTo>
                    <a:lnTo>
                      <a:pt x="0" y="2042"/>
                    </a:lnTo>
                    <a:lnTo>
                      <a:pt x="1" y="204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" name="Freeform 44"/>
              <p:cNvSpPr>
                <a:spLocks noChangeAspect="1" noChangeArrowheads="1"/>
              </p:cNvSpPr>
              <p:nvPr/>
            </p:nvSpPr>
            <p:spPr bwMode="auto">
              <a:xfrm>
                <a:off x="1646" y="4009"/>
                <a:ext cx="414" cy="2"/>
              </a:xfrm>
              <a:custGeom>
                <a:avLst/>
                <a:gdLst>
                  <a:gd name="T0" fmla="*/ 0 w 1893"/>
                  <a:gd name="T1" fmla="*/ 0 h 2"/>
                  <a:gd name="T2" fmla="*/ 1892 w 1893"/>
                  <a:gd name="T3" fmla="*/ 0 h 2"/>
                  <a:gd name="T4" fmla="*/ 1893 w 189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93" h="2">
                    <a:moveTo>
                      <a:pt x="0" y="0"/>
                    </a:moveTo>
                    <a:lnTo>
                      <a:pt x="1892" y="0"/>
                    </a:lnTo>
                    <a:lnTo>
                      <a:pt x="1893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" name="Freeform 45"/>
              <p:cNvSpPr>
                <a:spLocks noChangeAspect="1" noChangeArrowheads="1"/>
              </p:cNvSpPr>
              <p:nvPr/>
            </p:nvSpPr>
            <p:spPr bwMode="auto">
              <a:xfrm>
                <a:off x="1646" y="3669"/>
                <a:ext cx="2" cy="340"/>
              </a:xfrm>
              <a:custGeom>
                <a:avLst/>
                <a:gdLst>
                  <a:gd name="T0" fmla="*/ 0 w 1"/>
                  <a:gd name="T1" fmla="*/ 0 h 1559"/>
                  <a:gd name="T2" fmla="*/ 0 w 1"/>
                  <a:gd name="T3" fmla="*/ 1559 h 1559"/>
                  <a:gd name="T4" fmla="*/ 1 w 1"/>
                  <a:gd name="T5" fmla="*/ 1559 h 1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559">
                    <a:moveTo>
                      <a:pt x="0" y="0"/>
                    </a:moveTo>
                    <a:lnTo>
                      <a:pt x="0" y="1559"/>
                    </a:lnTo>
                    <a:lnTo>
                      <a:pt x="1" y="155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" name="Freeform 46"/>
              <p:cNvSpPr>
                <a:spLocks noChangeAspect="1" noChangeArrowheads="1"/>
              </p:cNvSpPr>
              <p:nvPr/>
            </p:nvSpPr>
            <p:spPr bwMode="auto">
              <a:xfrm>
                <a:off x="2291" y="3562"/>
                <a:ext cx="2" cy="447"/>
              </a:xfrm>
              <a:custGeom>
                <a:avLst/>
                <a:gdLst>
                  <a:gd name="T0" fmla="*/ 0 w 1"/>
                  <a:gd name="T1" fmla="*/ 0 h 2042"/>
                  <a:gd name="T2" fmla="*/ 0 w 1"/>
                  <a:gd name="T3" fmla="*/ 2042 h 2042"/>
                  <a:gd name="T4" fmla="*/ 1 w 1"/>
                  <a:gd name="T5" fmla="*/ 2042 h 20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042">
                    <a:moveTo>
                      <a:pt x="0" y="0"/>
                    </a:moveTo>
                    <a:lnTo>
                      <a:pt x="0" y="2042"/>
                    </a:lnTo>
                    <a:lnTo>
                      <a:pt x="1" y="204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" name="Freeform 47"/>
              <p:cNvSpPr>
                <a:spLocks noChangeAspect="1" noChangeArrowheads="1"/>
              </p:cNvSpPr>
              <p:nvPr/>
            </p:nvSpPr>
            <p:spPr bwMode="auto">
              <a:xfrm>
                <a:off x="2475" y="3669"/>
                <a:ext cx="2" cy="340"/>
              </a:xfrm>
              <a:custGeom>
                <a:avLst/>
                <a:gdLst>
                  <a:gd name="T0" fmla="*/ 0 w 1"/>
                  <a:gd name="T1" fmla="*/ 0 h 1559"/>
                  <a:gd name="T2" fmla="*/ 0 w 1"/>
                  <a:gd name="T3" fmla="*/ 1559 h 1559"/>
                  <a:gd name="T4" fmla="*/ 1 w 1"/>
                  <a:gd name="T5" fmla="*/ 1559 h 1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559">
                    <a:moveTo>
                      <a:pt x="0" y="0"/>
                    </a:moveTo>
                    <a:lnTo>
                      <a:pt x="0" y="1559"/>
                    </a:lnTo>
                    <a:lnTo>
                      <a:pt x="1" y="155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0" name="Freeform 48"/>
              <p:cNvSpPr>
                <a:spLocks noChangeAspect="1" noChangeArrowheads="1"/>
              </p:cNvSpPr>
              <p:nvPr/>
            </p:nvSpPr>
            <p:spPr bwMode="auto">
              <a:xfrm>
                <a:off x="2060" y="4009"/>
                <a:ext cx="415" cy="2"/>
              </a:xfrm>
              <a:custGeom>
                <a:avLst/>
                <a:gdLst>
                  <a:gd name="T0" fmla="*/ 1892 w 1892"/>
                  <a:gd name="T1" fmla="*/ 0 h 2"/>
                  <a:gd name="T2" fmla="*/ 0 w 1892"/>
                  <a:gd name="T3" fmla="*/ 0 h 2"/>
                  <a:gd name="T4" fmla="*/ 1 w 189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92" h="2">
                    <a:moveTo>
                      <a:pt x="189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" name="Freeform 49"/>
              <p:cNvSpPr>
                <a:spLocks noChangeAspect="1" noChangeArrowheads="1"/>
              </p:cNvSpPr>
              <p:nvPr/>
            </p:nvSpPr>
            <p:spPr bwMode="auto">
              <a:xfrm>
                <a:off x="1327" y="459"/>
                <a:ext cx="2" cy="1555"/>
              </a:xfrm>
              <a:custGeom>
                <a:avLst/>
                <a:gdLst>
                  <a:gd name="T0" fmla="*/ 0 w 1"/>
                  <a:gd name="T1" fmla="*/ 7095 h 7095"/>
                  <a:gd name="T2" fmla="*/ 0 w 1"/>
                  <a:gd name="T3" fmla="*/ 0 h 7095"/>
                  <a:gd name="T4" fmla="*/ 1 w 1"/>
                  <a:gd name="T5" fmla="*/ 0 h 70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095">
                    <a:moveTo>
                      <a:pt x="0" y="7095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" name="Freeform 50"/>
              <p:cNvSpPr>
                <a:spLocks noChangeAspect="1" noChangeArrowheads="1"/>
              </p:cNvSpPr>
              <p:nvPr/>
            </p:nvSpPr>
            <p:spPr bwMode="auto">
              <a:xfrm>
                <a:off x="1327" y="459"/>
                <a:ext cx="1467" cy="2"/>
              </a:xfrm>
              <a:custGeom>
                <a:avLst/>
                <a:gdLst>
                  <a:gd name="T0" fmla="*/ 0 w 6692"/>
                  <a:gd name="T1" fmla="*/ 0 h 2"/>
                  <a:gd name="T2" fmla="*/ 6691 w 6692"/>
                  <a:gd name="T3" fmla="*/ 0 h 2"/>
                  <a:gd name="T4" fmla="*/ 6692 w 669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692" h="2">
                    <a:moveTo>
                      <a:pt x="0" y="0"/>
                    </a:moveTo>
                    <a:lnTo>
                      <a:pt x="6691" y="0"/>
                    </a:lnTo>
                    <a:lnTo>
                      <a:pt x="669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" name="Freeform 51"/>
              <p:cNvSpPr>
                <a:spLocks noChangeAspect="1" noChangeArrowheads="1"/>
              </p:cNvSpPr>
              <p:nvPr/>
            </p:nvSpPr>
            <p:spPr bwMode="auto">
              <a:xfrm>
                <a:off x="2793" y="459"/>
                <a:ext cx="1" cy="1555"/>
              </a:xfrm>
              <a:custGeom>
                <a:avLst/>
                <a:gdLst>
                  <a:gd name="T0" fmla="*/ 0 w 1"/>
                  <a:gd name="T1" fmla="*/ 7095 h 7095"/>
                  <a:gd name="T2" fmla="*/ 0 w 1"/>
                  <a:gd name="T3" fmla="*/ 0 h 7095"/>
                  <a:gd name="T4" fmla="*/ 1 w 1"/>
                  <a:gd name="T5" fmla="*/ 0 h 70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095">
                    <a:moveTo>
                      <a:pt x="0" y="7095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" name="Freeform 52"/>
              <p:cNvSpPr>
                <a:spLocks noChangeAspect="1" noChangeArrowheads="1"/>
              </p:cNvSpPr>
              <p:nvPr/>
            </p:nvSpPr>
            <p:spPr bwMode="auto">
              <a:xfrm>
                <a:off x="1327" y="2014"/>
                <a:ext cx="1467" cy="2"/>
              </a:xfrm>
              <a:custGeom>
                <a:avLst/>
                <a:gdLst>
                  <a:gd name="T0" fmla="*/ 0 w 6692"/>
                  <a:gd name="T1" fmla="*/ 0 h 2"/>
                  <a:gd name="T2" fmla="*/ 6691 w 6692"/>
                  <a:gd name="T3" fmla="*/ 0 h 2"/>
                  <a:gd name="T4" fmla="*/ 6692 w 669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692" h="2">
                    <a:moveTo>
                      <a:pt x="0" y="0"/>
                    </a:moveTo>
                    <a:lnTo>
                      <a:pt x="6691" y="0"/>
                    </a:lnTo>
                    <a:lnTo>
                      <a:pt x="669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" name="Freeform 53"/>
              <p:cNvSpPr>
                <a:spLocks noChangeAspect="1" noChangeArrowheads="1"/>
              </p:cNvSpPr>
              <p:nvPr/>
            </p:nvSpPr>
            <p:spPr bwMode="auto">
              <a:xfrm>
                <a:off x="1799" y="762"/>
                <a:ext cx="675" cy="828"/>
              </a:xfrm>
              <a:custGeom>
                <a:avLst/>
                <a:gdLst>
                  <a:gd name="T0" fmla="*/ 801 w 3079"/>
                  <a:gd name="T1" fmla="*/ 3741 h 3773"/>
                  <a:gd name="T2" fmla="*/ 1384 w 3079"/>
                  <a:gd name="T3" fmla="*/ 3773 h 3773"/>
                  <a:gd name="T4" fmla="*/ 1950 w 3079"/>
                  <a:gd name="T5" fmla="*/ 3625 h 3773"/>
                  <a:gd name="T6" fmla="*/ 2444 w 3079"/>
                  <a:gd name="T7" fmla="*/ 3311 h 3773"/>
                  <a:gd name="T8" fmla="*/ 2817 w 3079"/>
                  <a:gd name="T9" fmla="*/ 2862 h 3773"/>
                  <a:gd name="T10" fmla="*/ 3036 w 3079"/>
                  <a:gd name="T11" fmla="*/ 2318 h 3773"/>
                  <a:gd name="T12" fmla="*/ 3079 w 3079"/>
                  <a:gd name="T13" fmla="*/ 1735 h 3773"/>
                  <a:gd name="T14" fmla="*/ 2942 w 3079"/>
                  <a:gd name="T15" fmla="*/ 1166 h 3773"/>
                  <a:gd name="T16" fmla="*/ 2638 w 3079"/>
                  <a:gd name="T17" fmla="*/ 666 h 3773"/>
                  <a:gd name="T18" fmla="*/ 2196 w 3079"/>
                  <a:gd name="T19" fmla="*/ 283 h 3773"/>
                  <a:gd name="T20" fmla="*/ 1658 w 3079"/>
                  <a:gd name="T21" fmla="*/ 54 h 3773"/>
                  <a:gd name="T22" fmla="*/ 1076 w 3079"/>
                  <a:gd name="T23" fmla="*/ 0 h 3773"/>
                  <a:gd name="T24" fmla="*/ 506 w 3079"/>
                  <a:gd name="T25" fmla="*/ 126 h 3773"/>
                  <a:gd name="T26" fmla="*/ 0 w 3079"/>
                  <a:gd name="T27" fmla="*/ 421 h 3773"/>
                  <a:gd name="T28" fmla="*/ 1 w 3079"/>
                  <a:gd name="T29" fmla="*/ 421 h 37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79" h="3773">
                    <a:moveTo>
                      <a:pt x="801" y="3741"/>
                    </a:moveTo>
                    <a:lnTo>
                      <a:pt x="1384" y="3773"/>
                    </a:lnTo>
                    <a:lnTo>
                      <a:pt x="1950" y="3625"/>
                    </a:lnTo>
                    <a:lnTo>
                      <a:pt x="2444" y="3311"/>
                    </a:lnTo>
                    <a:lnTo>
                      <a:pt x="2817" y="2862"/>
                    </a:lnTo>
                    <a:lnTo>
                      <a:pt x="3036" y="2318"/>
                    </a:lnTo>
                    <a:lnTo>
                      <a:pt x="3079" y="1735"/>
                    </a:lnTo>
                    <a:lnTo>
                      <a:pt x="2942" y="1166"/>
                    </a:lnTo>
                    <a:lnTo>
                      <a:pt x="2638" y="666"/>
                    </a:lnTo>
                    <a:lnTo>
                      <a:pt x="2196" y="283"/>
                    </a:lnTo>
                    <a:lnTo>
                      <a:pt x="1658" y="54"/>
                    </a:lnTo>
                    <a:lnTo>
                      <a:pt x="1076" y="0"/>
                    </a:lnTo>
                    <a:lnTo>
                      <a:pt x="506" y="126"/>
                    </a:lnTo>
                    <a:lnTo>
                      <a:pt x="0" y="421"/>
                    </a:lnTo>
                    <a:lnTo>
                      <a:pt x="1" y="42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" name="Freeform 54"/>
              <p:cNvSpPr>
                <a:spLocks noChangeAspect="1" noChangeArrowheads="1"/>
              </p:cNvSpPr>
              <p:nvPr/>
            </p:nvSpPr>
            <p:spPr bwMode="auto">
              <a:xfrm>
                <a:off x="1870" y="948"/>
                <a:ext cx="418" cy="458"/>
              </a:xfrm>
              <a:custGeom>
                <a:avLst/>
                <a:gdLst>
                  <a:gd name="T0" fmla="*/ 337 w 1905"/>
                  <a:gd name="T1" fmla="*/ 1952 h 2083"/>
                  <a:gd name="T2" fmla="*/ 719 w 1905"/>
                  <a:gd name="T3" fmla="*/ 2083 h 2083"/>
                  <a:gd name="T4" fmla="*/ 1123 w 1905"/>
                  <a:gd name="T5" fmla="*/ 2062 h 2083"/>
                  <a:gd name="T6" fmla="*/ 1488 w 1905"/>
                  <a:gd name="T7" fmla="*/ 1889 h 2083"/>
                  <a:gd name="T8" fmla="*/ 1763 w 1905"/>
                  <a:gd name="T9" fmla="*/ 1592 h 2083"/>
                  <a:gd name="T10" fmla="*/ 1905 w 1905"/>
                  <a:gd name="T11" fmla="*/ 1213 h 2083"/>
                  <a:gd name="T12" fmla="*/ 1895 w 1905"/>
                  <a:gd name="T13" fmla="*/ 809 h 2083"/>
                  <a:gd name="T14" fmla="*/ 1734 w 1905"/>
                  <a:gd name="T15" fmla="*/ 438 h 2083"/>
                  <a:gd name="T16" fmla="*/ 1444 w 1905"/>
                  <a:gd name="T17" fmla="*/ 155 h 2083"/>
                  <a:gd name="T18" fmla="*/ 1071 w 1905"/>
                  <a:gd name="T19" fmla="*/ 2 h 2083"/>
                  <a:gd name="T20" fmla="*/ 666 w 1905"/>
                  <a:gd name="T21" fmla="*/ 0 h 2083"/>
                  <a:gd name="T22" fmla="*/ 291 w 1905"/>
                  <a:gd name="T23" fmla="*/ 151 h 2083"/>
                  <a:gd name="T24" fmla="*/ 0 w 1905"/>
                  <a:gd name="T25" fmla="*/ 432 h 2083"/>
                  <a:gd name="T26" fmla="*/ 1 w 1905"/>
                  <a:gd name="T27" fmla="*/ 432 h 20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05" h="2083">
                    <a:moveTo>
                      <a:pt x="337" y="1952"/>
                    </a:moveTo>
                    <a:lnTo>
                      <a:pt x="719" y="2083"/>
                    </a:lnTo>
                    <a:lnTo>
                      <a:pt x="1123" y="2062"/>
                    </a:lnTo>
                    <a:lnTo>
                      <a:pt x="1488" y="1889"/>
                    </a:lnTo>
                    <a:lnTo>
                      <a:pt x="1763" y="1592"/>
                    </a:lnTo>
                    <a:lnTo>
                      <a:pt x="1905" y="1213"/>
                    </a:lnTo>
                    <a:lnTo>
                      <a:pt x="1895" y="809"/>
                    </a:lnTo>
                    <a:lnTo>
                      <a:pt x="1734" y="438"/>
                    </a:lnTo>
                    <a:lnTo>
                      <a:pt x="1444" y="155"/>
                    </a:lnTo>
                    <a:lnTo>
                      <a:pt x="1071" y="2"/>
                    </a:lnTo>
                    <a:lnTo>
                      <a:pt x="666" y="0"/>
                    </a:lnTo>
                    <a:lnTo>
                      <a:pt x="291" y="151"/>
                    </a:lnTo>
                    <a:lnTo>
                      <a:pt x="0" y="432"/>
                    </a:lnTo>
                    <a:lnTo>
                      <a:pt x="1" y="43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7" name="Freeform 55"/>
              <p:cNvSpPr>
                <a:spLocks noChangeAspect="1" noChangeArrowheads="1"/>
              </p:cNvSpPr>
              <p:nvPr/>
            </p:nvSpPr>
            <p:spPr bwMode="auto">
              <a:xfrm>
                <a:off x="1511" y="643"/>
                <a:ext cx="2" cy="1371"/>
              </a:xfrm>
              <a:custGeom>
                <a:avLst/>
                <a:gdLst>
                  <a:gd name="T0" fmla="*/ 0 w 1"/>
                  <a:gd name="T1" fmla="*/ 6258 h 6258"/>
                  <a:gd name="T2" fmla="*/ 0 w 1"/>
                  <a:gd name="T3" fmla="*/ 0 h 6258"/>
                  <a:gd name="T4" fmla="*/ 1 w 1"/>
                  <a:gd name="T5" fmla="*/ 0 h 6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258">
                    <a:moveTo>
                      <a:pt x="0" y="6258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" name="Freeform 56"/>
              <p:cNvSpPr>
                <a:spLocks noChangeAspect="1" noChangeArrowheads="1"/>
              </p:cNvSpPr>
              <p:nvPr/>
            </p:nvSpPr>
            <p:spPr bwMode="auto">
              <a:xfrm>
                <a:off x="1511" y="643"/>
                <a:ext cx="224" cy="2"/>
              </a:xfrm>
              <a:custGeom>
                <a:avLst/>
                <a:gdLst>
                  <a:gd name="T0" fmla="*/ 0 w 1027"/>
                  <a:gd name="T1" fmla="*/ 0 h 2"/>
                  <a:gd name="T2" fmla="*/ 1026 w 1027"/>
                  <a:gd name="T3" fmla="*/ 0 h 2"/>
                  <a:gd name="T4" fmla="*/ 1027 w 1027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7" h="2">
                    <a:moveTo>
                      <a:pt x="0" y="0"/>
                    </a:moveTo>
                    <a:lnTo>
                      <a:pt x="1026" y="0"/>
                    </a:lnTo>
                    <a:lnTo>
                      <a:pt x="102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7" name="Group 57"/>
            <p:cNvGrpSpPr>
              <a:grpSpLocks noChangeAspect="1"/>
            </p:cNvGrpSpPr>
            <p:nvPr/>
          </p:nvGrpSpPr>
          <p:grpSpPr bwMode="auto">
            <a:xfrm>
              <a:off x="1731" y="676"/>
              <a:ext cx="887" cy="2297"/>
              <a:chOff x="1327" y="363"/>
              <a:chExt cx="1408" cy="3646"/>
            </a:xfrm>
          </p:grpSpPr>
          <p:sp>
            <p:nvSpPr>
              <p:cNvPr id="8" name="Freeform 58"/>
              <p:cNvSpPr>
                <a:spLocks noChangeAspect="1" noChangeArrowheads="1"/>
              </p:cNvSpPr>
              <p:nvPr/>
            </p:nvSpPr>
            <p:spPr bwMode="auto">
              <a:xfrm>
                <a:off x="1656" y="363"/>
                <a:ext cx="565" cy="1843"/>
              </a:xfrm>
              <a:custGeom>
                <a:avLst/>
                <a:gdLst>
                  <a:gd name="T0" fmla="*/ 0 w 565"/>
                  <a:gd name="T1" fmla="*/ 0 h 1843"/>
                  <a:gd name="T2" fmla="*/ 72 w 565"/>
                  <a:gd name="T3" fmla="*/ 249 h 1843"/>
                  <a:gd name="T4" fmla="*/ 125 w 565"/>
                  <a:gd name="T5" fmla="*/ 464 h 1843"/>
                  <a:gd name="T6" fmla="*/ 222 w 565"/>
                  <a:gd name="T7" fmla="*/ 689 h 1843"/>
                  <a:gd name="T8" fmla="*/ 288 w 565"/>
                  <a:gd name="T9" fmla="*/ 1023 h 1843"/>
                  <a:gd name="T10" fmla="*/ 318 w 565"/>
                  <a:gd name="T11" fmla="*/ 1233 h 1843"/>
                  <a:gd name="T12" fmla="*/ 447 w 565"/>
                  <a:gd name="T13" fmla="*/ 1631 h 1843"/>
                  <a:gd name="T14" fmla="*/ 499 w 565"/>
                  <a:gd name="T15" fmla="*/ 1741 h 1843"/>
                  <a:gd name="T16" fmla="*/ 565 w 565"/>
                  <a:gd name="T17" fmla="*/ 1843 h 1843"/>
                  <a:gd name="T18" fmla="*/ 565 w 565"/>
                  <a:gd name="T19" fmla="*/ 1843 h 1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5" h="1843">
                    <a:moveTo>
                      <a:pt x="0" y="0"/>
                    </a:moveTo>
                    <a:lnTo>
                      <a:pt x="72" y="249"/>
                    </a:lnTo>
                    <a:lnTo>
                      <a:pt x="125" y="464"/>
                    </a:lnTo>
                    <a:lnTo>
                      <a:pt x="222" y="689"/>
                    </a:lnTo>
                    <a:lnTo>
                      <a:pt x="288" y="1023"/>
                    </a:lnTo>
                    <a:lnTo>
                      <a:pt x="318" y="1233"/>
                    </a:lnTo>
                    <a:lnTo>
                      <a:pt x="447" y="1631"/>
                    </a:lnTo>
                    <a:lnTo>
                      <a:pt x="499" y="1741"/>
                    </a:lnTo>
                    <a:lnTo>
                      <a:pt x="565" y="1843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" name="Freeform 59"/>
              <p:cNvSpPr>
                <a:spLocks noChangeAspect="1" noChangeArrowheads="1"/>
              </p:cNvSpPr>
              <p:nvPr/>
            </p:nvSpPr>
            <p:spPr bwMode="auto">
              <a:xfrm>
                <a:off x="1387" y="3332"/>
                <a:ext cx="194" cy="20"/>
              </a:xfrm>
              <a:custGeom>
                <a:avLst/>
                <a:gdLst>
                  <a:gd name="T0" fmla="*/ 0 w 891"/>
                  <a:gd name="T1" fmla="*/ 84 h 84"/>
                  <a:gd name="T2" fmla="*/ 890 w 891"/>
                  <a:gd name="T3" fmla="*/ 0 h 84"/>
                  <a:gd name="T4" fmla="*/ 891 w 891"/>
                  <a:gd name="T5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91" h="84">
                    <a:moveTo>
                      <a:pt x="0" y="84"/>
                    </a:moveTo>
                    <a:lnTo>
                      <a:pt x="890" y="0"/>
                    </a:lnTo>
                    <a:lnTo>
                      <a:pt x="891" y="0"/>
                    </a:lnTo>
                  </a:path>
                </a:pathLst>
              </a:custGeom>
              <a:noFill/>
              <a:ln w="127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" name="Freeform 60"/>
              <p:cNvSpPr>
                <a:spLocks noChangeAspect="1" noChangeArrowheads="1"/>
              </p:cNvSpPr>
              <p:nvPr/>
            </p:nvSpPr>
            <p:spPr bwMode="auto">
              <a:xfrm>
                <a:off x="2538" y="3336"/>
                <a:ext cx="197" cy="16"/>
              </a:xfrm>
              <a:custGeom>
                <a:avLst/>
                <a:gdLst>
                  <a:gd name="T0" fmla="*/ 0 w 895"/>
                  <a:gd name="T1" fmla="*/ 0 h 77"/>
                  <a:gd name="T2" fmla="*/ 894 w 895"/>
                  <a:gd name="T3" fmla="*/ 77 h 77"/>
                  <a:gd name="T4" fmla="*/ 895 w 895"/>
                  <a:gd name="T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95" h="77">
                    <a:moveTo>
                      <a:pt x="0" y="0"/>
                    </a:moveTo>
                    <a:lnTo>
                      <a:pt x="894" y="77"/>
                    </a:lnTo>
                    <a:lnTo>
                      <a:pt x="895" y="77"/>
                    </a:lnTo>
                  </a:path>
                </a:pathLst>
              </a:custGeom>
              <a:noFill/>
              <a:ln w="127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" name="Freeform 61"/>
              <p:cNvSpPr>
                <a:spLocks noChangeAspect="1" noChangeArrowheads="1"/>
              </p:cNvSpPr>
              <p:nvPr/>
            </p:nvSpPr>
            <p:spPr bwMode="auto">
              <a:xfrm>
                <a:off x="1327" y="459"/>
                <a:ext cx="146" cy="146"/>
              </a:xfrm>
              <a:custGeom>
                <a:avLst/>
                <a:gdLst>
                  <a:gd name="T0" fmla="*/ 0 w 660"/>
                  <a:gd name="T1" fmla="*/ 660 h 660"/>
                  <a:gd name="T2" fmla="*/ 659 w 660"/>
                  <a:gd name="T3" fmla="*/ 0 h 660"/>
                  <a:gd name="T4" fmla="*/ 660 w 660"/>
                  <a:gd name="T5" fmla="*/ 0 h 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60" h="660">
                    <a:moveTo>
                      <a:pt x="0" y="660"/>
                    </a:moveTo>
                    <a:lnTo>
                      <a:pt x="659" y="0"/>
                    </a:lnTo>
                    <a:lnTo>
                      <a:pt x="660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" name="Freeform 62"/>
              <p:cNvSpPr>
                <a:spLocks noChangeAspect="1" noChangeArrowheads="1"/>
              </p:cNvSpPr>
              <p:nvPr/>
            </p:nvSpPr>
            <p:spPr bwMode="auto">
              <a:xfrm>
                <a:off x="1327" y="459"/>
                <a:ext cx="309" cy="310"/>
              </a:xfrm>
              <a:custGeom>
                <a:avLst/>
                <a:gdLst>
                  <a:gd name="T0" fmla="*/ 0 w 1410"/>
                  <a:gd name="T1" fmla="*/ 1412 h 1412"/>
                  <a:gd name="T2" fmla="*/ 1409 w 1410"/>
                  <a:gd name="T3" fmla="*/ 0 h 1412"/>
                  <a:gd name="T4" fmla="*/ 1410 w 1410"/>
                  <a:gd name="T5" fmla="*/ 0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10" h="1412">
                    <a:moveTo>
                      <a:pt x="0" y="1412"/>
                    </a:moveTo>
                    <a:lnTo>
                      <a:pt x="1409" y="0"/>
                    </a:lnTo>
                    <a:lnTo>
                      <a:pt x="1410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" name="Freeform 63"/>
              <p:cNvSpPr>
                <a:spLocks noChangeAspect="1" noChangeArrowheads="1"/>
              </p:cNvSpPr>
              <p:nvPr/>
            </p:nvSpPr>
            <p:spPr bwMode="auto">
              <a:xfrm>
                <a:off x="1327" y="750"/>
                <a:ext cx="184" cy="184"/>
              </a:xfrm>
              <a:custGeom>
                <a:avLst/>
                <a:gdLst>
                  <a:gd name="T0" fmla="*/ 0 w 836"/>
                  <a:gd name="T1" fmla="*/ 837 h 837"/>
                  <a:gd name="T2" fmla="*/ 835 w 836"/>
                  <a:gd name="T3" fmla="*/ 0 h 837"/>
                  <a:gd name="T4" fmla="*/ 836 w 836"/>
                  <a:gd name="T5" fmla="*/ 0 h 8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6" h="837">
                    <a:moveTo>
                      <a:pt x="0" y="837"/>
                    </a:moveTo>
                    <a:lnTo>
                      <a:pt x="835" y="0"/>
                    </a:lnTo>
                    <a:lnTo>
                      <a:pt x="836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" name="Freeform 64"/>
              <p:cNvSpPr>
                <a:spLocks noChangeAspect="1" noChangeArrowheads="1"/>
              </p:cNvSpPr>
              <p:nvPr/>
            </p:nvSpPr>
            <p:spPr bwMode="auto">
              <a:xfrm>
                <a:off x="1618" y="545"/>
                <a:ext cx="98" cy="98"/>
              </a:xfrm>
              <a:custGeom>
                <a:avLst/>
                <a:gdLst>
                  <a:gd name="T0" fmla="*/ 0 w 451"/>
                  <a:gd name="T1" fmla="*/ 451 h 451"/>
                  <a:gd name="T2" fmla="*/ 450 w 451"/>
                  <a:gd name="T3" fmla="*/ 0 h 451"/>
                  <a:gd name="T4" fmla="*/ 451 w 451"/>
                  <a:gd name="T5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1" h="451">
                    <a:moveTo>
                      <a:pt x="0" y="451"/>
                    </a:moveTo>
                    <a:lnTo>
                      <a:pt x="450" y="0"/>
                    </a:lnTo>
                    <a:lnTo>
                      <a:pt x="451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" name="Freeform 65"/>
              <p:cNvSpPr>
                <a:spLocks noChangeAspect="1" noChangeArrowheads="1"/>
              </p:cNvSpPr>
              <p:nvPr/>
            </p:nvSpPr>
            <p:spPr bwMode="auto">
              <a:xfrm>
                <a:off x="1327" y="915"/>
                <a:ext cx="184" cy="184"/>
              </a:xfrm>
              <a:custGeom>
                <a:avLst/>
                <a:gdLst>
                  <a:gd name="T0" fmla="*/ 0 w 836"/>
                  <a:gd name="T1" fmla="*/ 837 h 837"/>
                  <a:gd name="T2" fmla="*/ 835 w 836"/>
                  <a:gd name="T3" fmla="*/ 0 h 837"/>
                  <a:gd name="T4" fmla="*/ 836 w 836"/>
                  <a:gd name="T5" fmla="*/ 0 h 8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6" h="837">
                    <a:moveTo>
                      <a:pt x="0" y="837"/>
                    </a:moveTo>
                    <a:lnTo>
                      <a:pt x="835" y="0"/>
                    </a:lnTo>
                    <a:lnTo>
                      <a:pt x="836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" name="Freeform 66"/>
              <p:cNvSpPr>
                <a:spLocks noChangeAspect="1" noChangeArrowheads="1"/>
              </p:cNvSpPr>
              <p:nvPr/>
            </p:nvSpPr>
            <p:spPr bwMode="auto">
              <a:xfrm>
                <a:off x="1327" y="1080"/>
                <a:ext cx="184" cy="184"/>
              </a:xfrm>
              <a:custGeom>
                <a:avLst/>
                <a:gdLst>
                  <a:gd name="T0" fmla="*/ 0 w 836"/>
                  <a:gd name="T1" fmla="*/ 838 h 838"/>
                  <a:gd name="T2" fmla="*/ 835 w 836"/>
                  <a:gd name="T3" fmla="*/ 0 h 838"/>
                  <a:gd name="T4" fmla="*/ 836 w 836"/>
                  <a:gd name="T5" fmla="*/ 0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6" h="838">
                    <a:moveTo>
                      <a:pt x="0" y="838"/>
                    </a:moveTo>
                    <a:lnTo>
                      <a:pt x="835" y="0"/>
                    </a:lnTo>
                    <a:lnTo>
                      <a:pt x="836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" name="Freeform 67"/>
              <p:cNvSpPr>
                <a:spLocks noChangeAspect="1" noChangeArrowheads="1"/>
              </p:cNvSpPr>
              <p:nvPr/>
            </p:nvSpPr>
            <p:spPr bwMode="auto">
              <a:xfrm>
                <a:off x="1327" y="1244"/>
                <a:ext cx="184" cy="184"/>
              </a:xfrm>
              <a:custGeom>
                <a:avLst/>
                <a:gdLst>
                  <a:gd name="T0" fmla="*/ 0 w 836"/>
                  <a:gd name="T1" fmla="*/ 837 h 837"/>
                  <a:gd name="T2" fmla="*/ 835 w 836"/>
                  <a:gd name="T3" fmla="*/ 0 h 837"/>
                  <a:gd name="T4" fmla="*/ 836 w 836"/>
                  <a:gd name="T5" fmla="*/ 0 h 8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6" h="837">
                    <a:moveTo>
                      <a:pt x="0" y="837"/>
                    </a:moveTo>
                    <a:lnTo>
                      <a:pt x="835" y="0"/>
                    </a:lnTo>
                    <a:lnTo>
                      <a:pt x="836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" name="Freeform 68"/>
              <p:cNvSpPr>
                <a:spLocks noChangeAspect="1" noChangeArrowheads="1"/>
              </p:cNvSpPr>
              <p:nvPr/>
            </p:nvSpPr>
            <p:spPr bwMode="auto">
              <a:xfrm>
                <a:off x="1327" y="1409"/>
                <a:ext cx="184" cy="184"/>
              </a:xfrm>
              <a:custGeom>
                <a:avLst/>
                <a:gdLst>
                  <a:gd name="T0" fmla="*/ 0 w 836"/>
                  <a:gd name="T1" fmla="*/ 836 h 836"/>
                  <a:gd name="T2" fmla="*/ 835 w 836"/>
                  <a:gd name="T3" fmla="*/ 0 h 836"/>
                  <a:gd name="T4" fmla="*/ 836 w 836"/>
                  <a:gd name="T5" fmla="*/ 0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6" h="836">
                    <a:moveTo>
                      <a:pt x="0" y="836"/>
                    </a:moveTo>
                    <a:lnTo>
                      <a:pt x="835" y="0"/>
                    </a:lnTo>
                    <a:lnTo>
                      <a:pt x="836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" name="Freeform 69"/>
              <p:cNvSpPr>
                <a:spLocks noChangeAspect="1" noChangeArrowheads="1"/>
              </p:cNvSpPr>
              <p:nvPr/>
            </p:nvSpPr>
            <p:spPr bwMode="auto">
              <a:xfrm>
                <a:off x="1327" y="1574"/>
                <a:ext cx="184" cy="182"/>
              </a:xfrm>
              <a:custGeom>
                <a:avLst/>
                <a:gdLst>
                  <a:gd name="T0" fmla="*/ 0 w 836"/>
                  <a:gd name="T1" fmla="*/ 837 h 837"/>
                  <a:gd name="T2" fmla="*/ 835 w 836"/>
                  <a:gd name="T3" fmla="*/ 0 h 837"/>
                  <a:gd name="T4" fmla="*/ 836 w 836"/>
                  <a:gd name="T5" fmla="*/ 0 h 8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6" h="837">
                    <a:moveTo>
                      <a:pt x="0" y="837"/>
                    </a:moveTo>
                    <a:lnTo>
                      <a:pt x="835" y="0"/>
                    </a:lnTo>
                    <a:lnTo>
                      <a:pt x="836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" name="Freeform 70"/>
              <p:cNvSpPr>
                <a:spLocks noChangeAspect="1" noChangeArrowheads="1"/>
              </p:cNvSpPr>
              <p:nvPr/>
            </p:nvSpPr>
            <p:spPr bwMode="auto">
              <a:xfrm>
                <a:off x="1327" y="1739"/>
                <a:ext cx="184" cy="182"/>
              </a:xfrm>
              <a:custGeom>
                <a:avLst/>
                <a:gdLst>
                  <a:gd name="T0" fmla="*/ 0 w 836"/>
                  <a:gd name="T1" fmla="*/ 836 h 836"/>
                  <a:gd name="T2" fmla="*/ 835 w 836"/>
                  <a:gd name="T3" fmla="*/ 0 h 836"/>
                  <a:gd name="T4" fmla="*/ 836 w 836"/>
                  <a:gd name="T5" fmla="*/ 0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6" h="836">
                    <a:moveTo>
                      <a:pt x="0" y="836"/>
                    </a:moveTo>
                    <a:lnTo>
                      <a:pt x="835" y="0"/>
                    </a:lnTo>
                    <a:lnTo>
                      <a:pt x="836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" name="Freeform 71"/>
              <p:cNvSpPr>
                <a:spLocks noChangeAspect="1" noChangeArrowheads="1"/>
              </p:cNvSpPr>
              <p:nvPr/>
            </p:nvSpPr>
            <p:spPr bwMode="auto">
              <a:xfrm>
                <a:off x="1399" y="1904"/>
                <a:ext cx="112" cy="110"/>
              </a:xfrm>
              <a:custGeom>
                <a:avLst/>
                <a:gdLst>
                  <a:gd name="T0" fmla="*/ 0 w 506"/>
                  <a:gd name="T1" fmla="*/ 506 h 506"/>
                  <a:gd name="T2" fmla="*/ 505 w 506"/>
                  <a:gd name="T3" fmla="*/ 0 h 506"/>
                  <a:gd name="T4" fmla="*/ 506 w 506"/>
                  <a:gd name="T5" fmla="*/ 0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6" h="506">
                    <a:moveTo>
                      <a:pt x="0" y="506"/>
                    </a:moveTo>
                    <a:lnTo>
                      <a:pt x="505" y="0"/>
                    </a:lnTo>
                    <a:lnTo>
                      <a:pt x="506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" name="Freeform 72"/>
              <p:cNvSpPr>
                <a:spLocks noChangeAspect="1" noChangeArrowheads="1"/>
              </p:cNvSpPr>
              <p:nvPr/>
            </p:nvSpPr>
            <p:spPr bwMode="auto">
              <a:xfrm>
                <a:off x="1441" y="3334"/>
                <a:ext cx="121" cy="121"/>
              </a:xfrm>
              <a:custGeom>
                <a:avLst/>
                <a:gdLst>
                  <a:gd name="T0" fmla="*/ 0 w 554"/>
                  <a:gd name="T1" fmla="*/ 554 h 554"/>
                  <a:gd name="T2" fmla="*/ 553 w 554"/>
                  <a:gd name="T3" fmla="*/ 0 h 554"/>
                  <a:gd name="T4" fmla="*/ 554 w 554"/>
                  <a:gd name="T5" fmla="*/ 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54" h="554">
                    <a:moveTo>
                      <a:pt x="0" y="554"/>
                    </a:moveTo>
                    <a:lnTo>
                      <a:pt x="553" y="0"/>
                    </a:lnTo>
                    <a:lnTo>
                      <a:pt x="554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" name="Freeform 73"/>
              <p:cNvSpPr>
                <a:spLocks noChangeAspect="1" noChangeArrowheads="1"/>
              </p:cNvSpPr>
              <p:nvPr/>
            </p:nvSpPr>
            <p:spPr bwMode="auto">
              <a:xfrm>
                <a:off x="1511" y="3420"/>
                <a:ext cx="130" cy="130"/>
              </a:xfrm>
              <a:custGeom>
                <a:avLst/>
                <a:gdLst>
                  <a:gd name="T0" fmla="*/ 0 w 594"/>
                  <a:gd name="T1" fmla="*/ 593 h 593"/>
                  <a:gd name="T2" fmla="*/ 593 w 594"/>
                  <a:gd name="T3" fmla="*/ 0 h 593"/>
                  <a:gd name="T4" fmla="*/ 594 w 594"/>
                  <a:gd name="T5" fmla="*/ 0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4" h="593">
                    <a:moveTo>
                      <a:pt x="0" y="593"/>
                    </a:moveTo>
                    <a:lnTo>
                      <a:pt x="593" y="0"/>
                    </a:lnTo>
                    <a:lnTo>
                      <a:pt x="594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" name="Freeform 74"/>
              <p:cNvSpPr>
                <a:spLocks noChangeAspect="1" noChangeArrowheads="1"/>
              </p:cNvSpPr>
              <p:nvPr/>
            </p:nvSpPr>
            <p:spPr bwMode="auto">
              <a:xfrm>
                <a:off x="1595" y="3501"/>
                <a:ext cx="132" cy="129"/>
              </a:xfrm>
              <a:custGeom>
                <a:avLst/>
                <a:gdLst>
                  <a:gd name="T0" fmla="*/ 0 w 597"/>
                  <a:gd name="T1" fmla="*/ 596 h 596"/>
                  <a:gd name="T2" fmla="*/ 596 w 597"/>
                  <a:gd name="T3" fmla="*/ 0 h 596"/>
                  <a:gd name="T4" fmla="*/ 597 w 597"/>
                  <a:gd name="T5" fmla="*/ 0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7" h="596">
                    <a:moveTo>
                      <a:pt x="0" y="596"/>
                    </a:moveTo>
                    <a:lnTo>
                      <a:pt x="596" y="0"/>
                    </a:lnTo>
                    <a:lnTo>
                      <a:pt x="597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" name="Freeform 75"/>
              <p:cNvSpPr>
                <a:spLocks noChangeAspect="1" noChangeArrowheads="1"/>
              </p:cNvSpPr>
              <p:nvPr/>
            </p:nvSpPr>
            <p:spPr bwMode="auto">
              <a:xfrm>
                <a:off x="1646" y="3562"/>
                <a:ext cx="182" cy="182"/>
              </a:xfrm>
              <a:custGeom>
                <a:avLst/>
                <a:gdLst>
                  <a:gd name="T0" fmla="*/ 0 w 834"/>
                  <a:gd name="T1" fmla="*/ 834 h 834"/>
                  <a:gd name="T2" fmla="*/ 833 w 834"/>
                  <a:gd name="T3" fmla="*/ 0 h 834"/>
                  <a:gd name="T4" fmla="*/ 834 w 834"/>
                  <a:gd name="T5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4" h="834">
                    <a:moveTo>
                      <a:pt x="0" y="834"/>
                    </a:moveTo>
                    <a:lnTo>
                      <a:pt x="833" y="0"/>
                    </a:lnTo>
                    <a:lnTo>
                      <a:pt x="834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" name="Freeform 76"/>
              <p:cNvSpPr>
                <a:spLocks noChangeAspect="1" noChangeArrowheads="1"/>
              </p:cNvSpPr>
              <p:nvPr/>
            </p:nvSpPr>
            <p:spPr bwMode="auto">
              <a:xfrm>
                <a:off x="1646" y="3725"/>
                <a:ext cx="182" cy="184"/>
              </a:xfrm>
              <a:custGeom>
                <a:avLst/>
                <a:gdLst>
                  <a:gd name="T0" fmla="*/ 0 w 838"/>
                  <a:gd name="T1" fmla="*/ 837 h 837"/>
                  <a:gd name="T2" fmla="*/ 837 w 838"/>
                  <a:gd name="T3" fmla="*/ 0 h 837"/>
                  <a:gd name="T4" fmla="*/ 838 w 838"/>
                  <a:gd name="T5" fmla="*/ 0 h 8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8" h="837">
                    <a:moveTo>
                      <a:pt x="0" y="837"/>
                    </a:moveTo>
                    <a:lnTo>
                      <a:pt x="837" y="0"/>
                    </a:lnTo>
                    <a:lnTo>
                      <a:pt x="838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" name="Freeform 77"/>
              <p:cNvSpPr>
                <a:spLocks noChangeAspect="1" noChangeArrowheads="1"/>
              </p:cNvSpPr>
              <p:nvPr/>
            </p:nvSpPr>
            <p:spPr bwMode="auto">
              <a:xfrm>
                <a:off x="1709" y="3890"/>
                <a:ext cx="119" cy="119"/>
              </a:xfrm>
              <a:custGeom>
                <a:avLst/>
                <a:gdLst>
                  <a:gd name="T0" fmla="*/ 0 w 545"/>
                  <a:gd name="T1" fmla="*/ 544 h 544"/>
                  <a:gd name="T2" fmla="*/ 544 w 545"/>
                  <a:gd name="T3" fmla="*/ 0 h 544"/>
                  <a:gd name="T4" fmla="*/ 545 w 545"/>
                  <a:gd name="T5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5" h="544">
                    <a:moveTo>
                      <a:pt x="0" y="544"/>
                    </a:moveTo>
                    <a:lnTo>
                      <a:pt x="544" y="0"/>
                    </a:lnTo>
                    <a:lnTo>
                      <a:pt x="545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" name="Freeform 78"/>
              <p:cNvSpPr>
                <a:spLocks noChangeAspect="1" noChangeArrowheads="1"/>
              </p:cNvSpPr>
              <p:nvPr/>
            </p:nvSpPr>
            <p:spPr bwMode="auto">
              <a:xfrm>
                <a:off x="2291" y="3525"/>
                <a:ext cx="67" cy="67"/>
              </a:xfrm>
              <a:custGeom>
                <a:avLst/>
                <a:gdLst>
                  <a:gd name="T0" fmla="*/ 0 w 305"/>
                  <a:gd name="T1" fmla="*/ 304 h 304"/>
                  <a:gd name="T2" fmla="*/ 304 w 305"/>
                  <a:gd name="T3" fmla="*/ 0 h 304"/>
                  <a:gd name="T4" fmla="*/ 305 w 305"/>
                  <a:gd name="T5" fmla="*/ 0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5" h="304">
                    <a:moveTo>
                      <a:pt x="0" y="304"/>
                    </a:moveTo>
                    <a:lnTo>
                      <a:pt x="304" y="0"/>
                    </a:lnTo>
                    <a:lnTo>
                      <a:pt x="305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" name="Freeform 79"/>
              <p:cNvSpPr>
                <a:spLocks noChangeAspect="1" noChangeArrowheads="1"/>
              </p:cNvSpPr>
              <p:nvPr/>
            </p:nvSpPr>
            <p:spPr bwMode="auto">
              <a:xfrm>
                <a:off x="2523" y="3336"/>
                <a:ext cx="24" cy="26"/>
              </a:xfrm>
              <a:custGeom>
                <a:avLst/>
                <a:gdLst>
                  <a:gd name="T0" fmla="*/ 0 w 113"/>
                  <a:gd name="T1" fmla="*/ 112 h 112"/>
                  <a:gd name="T2" fmla="*/ 112 w 113"/>
                  <a:gd name="T3" fmla="*/ 0 h 112"/>
                  <a:gd name="T4" fmla="*/ 113 w 113"/>
                  <a:gd name="T5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3" h="112">
                    <a:moveTo>
                      <a:pt x="0" y="112"/>
                    </a:moveTo>
                    <a:lnTo>
                      <a:pt x="112" y="0"/>
                    </a:lnTo>
                    <a:lnTo>
                      <a:pt x="113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" name="Freeform 80"/>
              <p:cNvSpPr>
                <a:spLocks noChangeAspect="1" noChangeArrowheads="1"/>
              </p:cNvSpPr>
              <p:nvPr/>
            </p:nvSpPr>
            <p:spPr bwMode="auto">
              <a:xfrm>
                <a:off x="2291" y="3352"/>
                <a:ext cx="407" cy="405"/>
              </a:xfrm>
              <a:custGeom>
                <a:avLst/>
                <a:gdLst>
                  <a:gd name="T0" fmla="*/ 0 w 1851"/>
                  <a:gd name="T1" fmla="*/ 1852 h 1852"/>
                  <a:gd name="T2" fmla="*/ 1850 w 1851"/>
                  <a:gd name="T3" fmla="*/ 0 h 1852"/>
                  <a:gd name="T4" fmla="*/ 1851 w 1851"/>
                  <a:gd name="T5" fmla="*/ 0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51" h="1852">
                    <a:moveTo>
                      <a:pt x="0" y="1852"/>
                    </a:moveTo>
                    <a:lnTo>
                      <a:pt x="1850" y="0"/>
                    </a:lnTo>
                    <a:lnTo>
                      <a:pt x="1851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" name="Freeform 81"/>
              <p:cNvSpPr>
                <a:spLocks noChangeAspect="1" noChangeArrowheads="1"/>
              </p:cNvSpPr>
              <p:nvPr/>
            </p:nvSpPr>
            <p:spPr bwMode="auto">
              <a:xfrm>
                <a:off x="2291" y="3739"/>
                <a:ext cx="184" cy="182"/>
              </a:xfrm>
              <a:custGeom>
                <a:avLst/>
                <a:gdLst>
                  <a:gd name="T0" fmla="*/ 0 w 838"/>
                  <a:gd name="T1" fmla="*/ 838 h 838"/>
                  <a:gd name="T2" fmla="*/ 837 w 838"/>
                  <a:gd name="T3" fmla="*/ 0 h 838"/>
                  <a:gd name="T4" fmla="*/ 838 w 838"/>
                  <a:gd name="T5" fmla="*/ 0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8" h="838">
                    <a:moveTo>
                      <a:pt x="0" y="838"/>
                    </a:moveTo>
                    <a:lnTo>
                      <a:pt x="837" y="0"/>
                    </a:lnTo>
                    <a:lnTo>
                      <a:pt x="838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" name="Freeform 82"/>
              <p:cNvSpPr>
                <a:spLocks noChangeAspect="1" noChangeArrowheads="1"/>
              </p:cNvSpPr>
              <p:nvPr/>
            </p:nvSpPr>
            <p:spPr bwMode="auto">
              <a:xfrm>
                <a:off x="2368" y="3904"/>
                <a:ext cx="107" cy="105"/>
              </a:xfrm>
              <a:custGeom>
                <a:avLst/>
                <a:gdLst>
                  <a:gd name="T0" fmla="*/ 0 w 488"/>
                  <a:gd name="T1" fmla="*/ 487 h 487"/>
                  <a:gd name="T2" fmla="*/ 487 w 488"/>
                  <a:gd name="T3" fmla="*/ 0 h 487"/>
                  <a:gd name="T4" fmla="*/ 488 w 488"/>
                  <a:gd name="T5" fmla="*/ 0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8" h="487">
                    <a:moveTo>
                      <a:pt x="0" y="487"/>
                    </a:moveTo>
                    <a:lnTo>
                      <a:pt x="487" y="0"/>
                    </a:lnTo>
                    <a:lnTo>
                      <a:pt x="488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sp>
        <p:nvSpPr>
          <p:cNvPr id="83" name="Rectangle 83"/>
          <p:cNvSpPr>
            <a:spLocks noChangeArrowheads="1"/>
          </p:cNvSpPr>
          <p:nvPr/>
        </p:nvSpPr>
        <p:spPr bwMode="auto">
          <a:xfrm>
            <a:off x="8953501" y="4252914"/>
            <a:ext cx="752475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zh-CN" altLang="en-US" sz="180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正确</a:t>
            </a:r>
            <a:endParaRPr lang="zh-CN" altLang="en-US" sz="180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4" name="Group 84"/>
          <p:cNvGrpSpPr>
            <a:grpSpLocks noChangeAspect="1"/>
          </p:cNvGrpSpPr>
          <p:nvPr/>
        </p:nvGrpSpPr>
        <p:grpSpPr bwMode="auto">
          <a:xfrm>
            <a:off x="8567739" y="1054100"/>
            <a:ext cx="1450975" cy="3073400"/>
            <a:chOff x="3169" y="672"/>
            <a:chExt cx="1048" cy="2388"/>
          </a:xfrm>
        </p:grpSpPr>
        <p:grpSp>
          <p:nvGrpSpPr>
            <p:cNvPr id="85" name="Group 85"/>
            <p:cNvGrpSpPr>
              <a:grpSpLocks noChangeAspect="1"/>
            </p:cNvGrpSpPr>
            <p:nvPr/>
          </p:nvGrpSpPr>
          <p:grpSpPr bwMode="auto">
            <a:xfrm>
              <a:off x="3169" y="672"/>
              <a:ext cx="1048" cy="2388"/>
              <a:chOff x="3609" y="356"/>
              <a:chExt cx="1664" cy="3792"/>
            </a:xfrm>
          </p:grpSpPr>
          <p:sp>
            <p:nvSpPr>
              <p:cNvPr id="130" name="Freeform 86"/>
              <p:cNvSpPr>
                <a:spLocks noChangeAspect="1" noChangeArrowheads="1"/>
              </p:cNvSpPr>
              <p:nvPr/>
            </p:nvSpPr>
            <p:spPr bwMode="auto">
              <a:xfrm>
                <a:off x="4440" y="2232"/>
                <a:ext cx="2" cy="142"/>
              </a:xfrm>
              <a:custGeom>
                <a:avLst/>
                <a:gdLst>
                  <a:gd name="T0" fmla="*/ 0 w 1"/>
                  <a:gd name="T1" fmla="*/ 0 h 652"/>
                  <a:gd name="T2" fmla="*/ 0 w 1"/>
                  <a:gd name="T3" fmla="*/ 652 h 652"/>
                  <a:gd name="T4" fmla="*/ 1 w 1"/>
                  <a:gd name="T5" fmla="*/ 652 h 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52">
                    <a:moveTo>
                      <a:pt x="0" y="0"/>
                    </a:moveTo>
                    <a:lnTo>
                      <a:pt x="0" y="652"/>
                    </a:lnTo>
                    <a:lnTo>
                      <a:pt x="1" y="652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1" name="Freeform 87"/>
              <p:cNvSpPr>
                <a:spLocks noChangeAspect="1" noChangeArrowheads="1"/>
              </p:cNvSpPr>
              <p:nvPr/>
            </p:nvSpPr>
            <p:spPr bwMode="auto">
              <a:xfrm>
                <a:off x="4440" y="2421"/>
                <a:ext cx="2" cy="48"/>
              </a:xfrm>
              <a:custGeom>
                <a:avLst/>
                <a:gdLst>
                  <a:gd name="T0" fmla="*/ 0 w 1"/>
                  <a:gd name="T1" fmla="*/ 0 h 212"/>
                  <a:gd name="T2" fmla="*/ 0 w 1"/>
                  <a:gd name="T3" fmla="*/ 212 h 212"/>
                  <a:gd name="T4" fmla="*/ 1 w 1"/>
                  <a:gd name="T5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2">
                    <a:moveTo>
                      <a:pt x="0" y="0"/>
                    </a:moveTo>
                    <a:lnTo>
                      <a:pt x="0" y="212"/>
                    </a:lnTo>
                    <a:lnTo>
                      <a:pt x="1" y="212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2" name="Freeform 88"/>
              <p:cNvSpPr>
                <a:spLocks noChangeAspect="1" noChangeArrowheads="1"/>
              </p:cNvSpPr>
              <p:nvPr/>
            </p:nvSpPr>
            <p:spPr bwMode="auto">
              <a:xfrm>
                <a:off x="4440" y="2514"/>
                <a:ext cx="2" cy="233"/>
              </a:xfrm>
              <a:custGeom>
                <a:avLst/>
                <a:gdLst>
                  <a:gd name="T0" fmla="*/ 0 w 1"/>
                  <a:gd name="T1" fmla="*/ 0 h 1063"/>
                  <a:gd name="T2" fmla="*/ 0 w 1"/>
                  <a:gd name="T3" fmla="*/ 1063 h 1063"/>
                  <a:gd name="T4" fmla="*/ 1 w 1"/>
                  <a:gd name="T5" fmla="*/ 1063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63">
                    <a:moveTo>
                      <a:pt x="0" y="0"/>
                    </a:moveTo>
                    <a:lnTo>
                      <a:pt x="0" y="1063"/>
                    </a:lnTo>
                    <a:lnTo>
                      <a:pt x="1" y="106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3" name="Freeform 89"/>
              <p:cNvSpPr>
                <a:spLocks noChangeAspect="1" noChangeArrowheads="1"/>
              </p:cNvSpPr>
              <p:nvPr/>
            </p:nvSpPr>
            <p:spPr bwMode="auto">
              <a:xfrm>
                <a:off x="4440" y="2795"/>
                <a:ext cx="2" cy="45"/>
              </a:xfrm>
              <a:custGeom>
                <a:avLst/>
                <a:gdLst>
                  <a:gd name="T0" fmla="*/ 0 w 1"/>
                  <a:gd name="T1" fmla="*/ 0 h 213"/>
                  <a:gd name="T2" fmla="*/ 0 w 1"/>
                  <a:gd name="T3" fmla="*/ 213 h 213"/>
                  <a:gd name="T4" fmla="*/ 1 w 1"/>
                  <a:gd name="T5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3">
                    <a:moveTo>
                      <a:pt x="0" y="0"/>
                    </a:moveTo>
                    <a:lnTo>
                      <a:pt x="0" y="213"/>
                    </a:lnTo>
                    <a:lnTo>
                      <a:pt x="1" y="21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4" name="Freeform 90"/>
              <p:cNvSpPr>
                <a:spLocks noChangeAspect="1" noChangeArrowheads="1"/>
              </p:cNvSpPr>
              <p:nvPr/>
            </p:nvSpPr>
            <p:spPr bwMode="auto">
              <a:xfrm>
                <a:off x="4440" y="2888"/>
                <a:ext cx="2" cy="233"/>
              </a:xfrm>
              <a:custGeom>
                <a:avLst/>
                <a:gdLst>
                  <a:gd name="T0" fmla="*/ 0 w 1"/>
                  <a:gd name="T1" fmla="*/ 0 h 1063"/>
                  <a:gd name="T2" fmla="*/ 0 w 1"/>
                  <a:gd name="T3" fmla="*/ 1063 h 1063"/>
                  <a:gd name="T4" fmla="*/ 1 w 1"/>
                  <a:gd name="T5" fmla="*/ 1063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63">
                    <a:moveTo>
                      <a:pt x="0" y="0"/>
                    </a:moveTo>
                    <a:lnTo>
                      <a:pt x="0" y="1063"/>
                    </a:lnTo>
                    <a:lnTo>
                      <a:pt x="1" y="106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5" name="Freeform 91"/>
              <p:cNvSpPr>
                <a:spLocks noChangeAspect="1" noChangeArrowheads="1"/>
              </p:cNvSpPr>
              <p:nvPr/>
            </p:nvSpPr>
            <p:spPr bwMode="auto">
              <a:xfrm>
                <a:off x="4440" y="3166"/>
                <a:ext cx="2" cy="48"/>
              </a:xfrm>
              <a:custGeom>
                <a:avLst/>
                <a:gdLst>
                  <a:gd name="T0" fmla="*/ 0 w 1"/>
                  <a:gd name="T1" fmla="*/ 0 h 212"/>
                  <a:gd name="T2" fmla="*/ 0 w 1"/>
                  <a:gd name="T3" fmla="*/ 212 h 212"/>
                  <a:gd name="T4" fmla="*/ 1 w 1"/>
                  <a:gd name="T5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2">
                    <a:moveTo>
                      <a:pt x="0" y="0"/>
                    </a:moveTo>
                    <a:lnTo>
                      <a:pt x="0" y="212"/>
                    </a:lnTo>
                    <a:lnTo>
                      <a:pt x="1" y="212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6" name="Freeform 92"/>
              <p:cNvSpPr>
                <a:spLocks noChangeAspect="1" noChangeArrowheads="1"/>
              </p:cNvSpPr>
              <p:nvPr/>
            </p:nvSpPr>
            <p:spPr bwMode="auto">
              <a:xfrm>
                <a:off x="4440" y="3259"/>
                <a:ext cx="2" cy="233"/>
              </a:xfrm>
              <a:custGeom>
                <a:avLst/>
                <a:gdLst>
                  <a:gd name="T0" fmla="*/ 0 w 1"/>
                  <a:gd name="T1" fmla="*/ 0 h 1063"/>
                  <a:gd name="T2" fmla="*/ 0 w 1"/>
                  <a:gd name="T3" fmla="*/ 1063 h 1063"/>
                  <a:gd name="T4" fmla="*/ 1 w 1"/>
                  <a:gd name="T5" fmla="*/ 1063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63">
                    <a:moveTo>
                      <a:pt x="0" y="0"/>
                    </a:moveTo>
                    <a:lnTo>
                      <a:pt x="0" y="1063"/>
                    </a:lnTo>
                    <a:lnTo>
                      <a:pt x="1" y="106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7" name="Freeform 93"/>
              <p:cNvSpPr>
                <a:spLocks noChangeAspect="1" noChangeArrowheads="1"/>
              </p:cNvSpPr>
              <p:nvPr/>
            </p:nvSpPr>
            <p:spPr bwMode="auto">
              <a:xfrm>
                <a:off x="4440" y="3540"/>
                <a:ext cx="2" cy="45"/>
              </a:xfrm>
              <a:custGeom>
                <a:avLst/>
                <a:gdLst>
                  <a:gd name="T0" fmla="*/ 0 w 1"/>
                  <a:gd name="T1" fmla="*/ 0 h 213"/>
                  <a:gd name="T2" fmla="*/ 0 w 1"/>
                  <a:gd name="T3" fmla="*/ 213 h 213"/>
                  <a:gd name="T4" fmla="*/ 1 w 1"/>
                  <a:gd name="T5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3">
                    <a:moveTo>
                      <a:pt x="0" y="0"/>
                    </a:moveTo>
                    <a:lnTo>
                      <a:pt x="0" y="213"/>
                    </a:lnTo>
                    <a:lnTo>
                      <a:pt x="1" y="21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8" name="Freeform 94"/>
              <p:cNvSpPr>
                <a:spLocks noChangeAspect="1" noChangeArrowheads="1"/>
              </p:cNvSpPr>
              <p:nvPr/>
            </p:nvSpPr>
            <p:spPr bwMode="auto">
              <a:xfrm>
                <a:off x="4440" y="3633"/>
                <a:ext cx="2" cy="233"/>
              </a:xfrm>
              <a:custGeom>
                <a:avLst/>
                <a:gdLst>
                  <a:gd name="T0" fmla="*/ 0 w 1"/>
                  <a:gd name="T1" fmla="*/ 0 h 1063"/>
                  <a:gd name="T2" fmla="*/ 0 w 1"/>
                  <a:gd name="T3" fmla="*/ 1063 h 1063"/>
                  <a:gd name="T4" fmla="*/ 1 w 1"/>
                  <a:gd name="T5" fmla="*/ 1063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63">
                    <a:moveTo>
                      <a:pt x="0" y="0"/>
                    </a:moveTo>
                    <a:lnTo>
                      <a:pt x="0" y="1063"/>
                    </a:lnTo>
                    <a:lnTo>
                      <a:pt x="1" y="106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9" name="Freeform 95"/>
              <p:cNvSpPr>
                <a:spLocks noChangeAspect="1" noChangeArrowheads="1"/>
              </p:cNvSpPr>
              <p:nvPr/>
            </p:nvSpPr>
            <p:spPr bwMode="auto">
              <a:xfrm>
                <a:off x="4440" y="3911"/>
                <a:ext cx="2" cy="48"/>
              </a:xfrm>
              <a:custGeom>
                <a:avLst/>
                <a:gdLst>
                  <a:gd name="T0" fmla="*/ 0 w 1"/>
                  <a:gd name="T1" fmla="*/ 0 h 213"/>
                  <a:gd name="T2" fmla="*/ 0 w 1"/>
                  <a:gd name="T3" fmla="*/ 213 h 213"/>
                  <a:gd name="T4" fmla="*/ 1 w 1"/>
                  <a:gd name="T5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3">
                    <a:moveTo>
                      <a:pt x="0" y="0"/>
                    </a:moveTo>
                    <a:lnTo>
                      <a:pt x="0" y="213"/>
                    </a:lnTo>
                    <a:lnTo>
                      <a:pt x="1" y="21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0" name="Freeform 96"/>
              <p:cNvSpPr>
                <a:spLocks noChangeAspect="1" noChangeArrowheads="1"/>
              </p:cNvSpPr>
              <p:nvPr/>
            </p:nvSpPr>
            <p:spPr bwMode="auto">
              <a:xfrm>
                <a:off x="4440" y="4006"/>
                <a:ext cx="2" cy="142"/>
              </a:xfrm>
              <a:custGeom>
                <a:avLst/>
                <a:gdLst>
                  <a:gd name="T0" fmla="*/ 0 w 1"/>
                  <a:gd name="T1" fmla="*/ 0 h 653"/>
                  <a:gd name="T2" fmla="*/ 0 w 1"/>
                  <a:gd name="T3" fmla="*/ 653 h 653"/>
                  <a:gd name="T4" fmla="*/ 1 w 1"/>
                  <a:gd name="T5" fmla="*/ 653 h 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53">
                    <a:moveTo>
                      <a:pt x="0" y="0"/>
                    </a:moveTo>
                    <a:lnTo>
                      <a:pt x="0" y="653"/>
                    </a:lnTo>
                    <a:lnTo>
                      <a:pt x="1" y="65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1" name="Freeform 97"/>
              <p:cNvSpPr>
                <a:spLocks noChangeAspect="1" noChangeArrowheads="1"/>
              </p:cNvSpPr>
              <p:nvPr/>
            </p:nvSpPr>
            <p:spPr bwMode="auto">
              <a:xfrm>
                <a:off x="4440" y="356"/>
                <a:ext cx="2" cy="265"/>
              </a:xfrm>
              <a:custGeom>
                <a:avLst/>
                <a:gdLst>
                  <a:gd name="T0" fmla="*/ 0 w 1"/>
                  <a:gd name="T1" fmla="*/ 0 h 1206"/>
                  <a:gd name="T2" fmla="*/ 0 w 1"/>
                  <a:gd name="T3" fmla="*/ 1206 h 1206"/>
                  <a:gd name="T4" fmla="*/ 1 w 1"/>
                  <a:gd name="T5" fmla="*/ 1206 h 1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206">
                    <a:moveTo>
                      <a:pt x="0" y="0"/>
                    </a:moveTo>
                    <a:lnTo>
                      <a:pt x="0" y="1206"/>
                    </a:lnTo>
                    <a:lnTo>
                      <a:pt x="1" y="1206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2" name="Freeform 98"/>
              <p:cNvSpPr>
                <a:spLocks noChangeAspect="1" noChangeArrowheads="1"/>
              </p:cNvSpPr>
              <p:nvPr/>
            </p:nvSpPr>
            <p:spPr bwMode="auto">
              <a:xfrm>
                <a:off x="4440" y="666"/>
                <a:ext cx="2" cy="48"/>
              </a:xfrm>
              <a:custGeom>
                <a:avLst/>
                <a:gdLst>
                  <a:gd name="T0" fmla="*/ 0 w 1"/>
                  <a:gd name="T1" fmla="*/ 0 h 212"/>
                  <a:gd name="T2" fmla="*/ 0 w 1"/>
                  <a:gd name="T3" fmla="*/ 212 h 212"/>
                  <a:gd name="T4" fmla="*/ 1 w 1"/>
                  <a:gd name="T5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2">
                    <a:moveTo>
                      <a:pt x="0" y="0"/>
                    </a:moveTo>
                    <a:lnTo>
                      <a:pt x="0" y="212"/>
                    </a:lnTo>
                    <a:lnTo>
                      <a:pt x="1" y="212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3" name="Freeform 99"/>
              <p:cNvSpPr>
                <a:spLocks noChangeAspect="1" noChangeArrowheads="1"/>
              </p:cNvSpPr>
              <p:nvPr/>
            </p:nvSpPr>
            <p:spPr bwMode="auto">
              <a:xfrm>
                <a:off x="4440" y="759"/>
                <a:ext cx="2" cy="233"/>
              </a:xfrm>
              <a:custGeom>
                <a:avLst/>
                <a:gdLst>
                  <a:gd name="T0" fmla="*/ 0 w 1"/>
                  <a:gd name="T1" fmla="*/ 0 h 1063"/>
                  <a:gd name="T2" fmla="*/ 0 w 1"/>
                  <a:gd name="T3" fmla="*/ 1063 h 1063"/>
                  <a:gd name="T4" fmla="*/ 1 w 1"/>
                  <a:gd name="T5" fmla="*/ 1063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63">
                    <a:moveTo>
                      <a:pt x="0" y="0"/>
                    </a:moveTo>
                    <a:lnTo>
                      <a:pt x="0" y="1063"/>
                    </a:lnTo>
                    <a:lnTo>
                      <a:pt x="1" y="106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4" name="Freeform 100"/>
              <p:cNvSpPr>
                <a:spLocks noChangeAspect="1" noChangeArrowheads="1"/>
              </p:cNvSpPr>
              <p:nvPr/>
            </p:nvSpPr>
            <p:spPr bwMode="auto">
              <a:xfrm>
                <a:off x="4440" y="1040"/>
                <a:ext cx="2" cy="45"/>
              </a:xfrm>
              <a:custGeom>
                <a:avLst/>
                <a:gdLst>
                  <a:gd name="T0" fmla="*/ 0 w 1"/>
                  <a:gd name="T1" fmla="*/ 0 h 213"/>
                  <a:gd name="T2" fmla="*/ 0 w 1"/>
                  <a:gd name="T3" fmla="*/ 213 h 213"/>
                  <a:gd name="T4" fmla="*/ 1 w 1"/>
                  <a:gd name="T5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3">
                    <a:moveTo>
                      <a:pt x="0" y="0"/>
                    </a:moveTo>
                    <a:lnTo>
                      <a:pt x="0" y="213"/>
                    </a:lnTo>
                    <a:lnTo>
                      <a:pt x="1" y="21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5" name="Freeform 101"/>
              <p:cNvSpPr>
                <a:spLocks noChangeAspect="1" noChangeArrowheads="1"/>
              </p:cNvSpPr>
              <p:nvPr/>
            </p:nvSpPr>
            <p:spPr bwMode="auto">
              <a:xfrm>
                <a:off x="4440" y="1133"/>
                <a:ext cx="2" cy="233"/>
              </a:xfrm>
              <a:custGeom>
                <a:avLst/>
                <a:gdLst>
                  <a:gd name="T0" fmla="*/ 0 w 1"/>
                  <a:gd name="T1" fmla="*/ 0 h 1063"/>
                  <a:gd name="T2" fmla="*/ 0 w 1"/>
                  <a:gd name="T3" fmla="*/ 1063 h 1063"/>
                  <a:gd name="T4" fmla="*/ 1 w 1"/>
                  <a:gd name="T5" fmla="*/ 1063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63">
                    <a:moveTo>
                      <a:pt x="0" y="0"/>
                    </a:moveTo>
                    <a:lnTo>
                      <a:pt x="0" y="1063"/>
                    </a:lnTo>
                    <a:lnTo>
                      <a:pt x="1" y="106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6" name="Freeform 102"/>
              <p:cNvSpPr>
                <a:spLocks noChangeAspect="1" noChangeArrowheads="1"/>
              </p:cNvSpPr>
              <p:nvPr/>
            </p:nvSpPr>
            <p:spPr bwMode="auto">
              <a:xfrm>
                <a:off x="4440" y="1411"/>
                <a:ext cx="2" cy="48"/>
              </a:xfrm>
              <a:custGeom>
                <a:avLst/>
                <a:gdLst>
                  <a:gd name="T0" fmla="*/ 0 w 1"/>
                  <a:gd name="T1" fmla="*/ 0 h 212"/>
                  <a:gd name="T2" fmla="*/ 0 w 1"/>
                  <a:gd name="T3" fmla="*/ 212 h 212"/>
                  <a:gd name="T4" fmla="*/ 1 w 1"/>
                  <a:gd name="T5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2">
                    <a:moveTo>
                      <a:pt x="0" y="0"/>
                    </a:moveTo>
                    <a:lnTo>
                      <a:pt x="0" y="212"/>
                    </a:lnTo>
                    <a:lnTo>
                      <a:pt x="1" y="212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7" name="Freeform 103"/>
              <p:cNvSpPr>
                <a:spLocks noChangeAspect="1" noChangeArrowheads="1"/>
              </p:cNvSpPr>
              <p:nvPr/>
            </p:nvSpPr>
            <p:spPr bwMode="auto">
              <a:xfrm>
                <a:off x="4440" y="1506"/>
                <a:ext cx="2" cy="231"/>
              </a:xfrm>
              <a:custGeom>
                <a:avLst/>
                <a:gdLst>
                  <a:gd name="T0" fmla="*/ 0 w 1"/>
                  <a:gd name="T1" fmla="*/ 0 h 1063"/>
                  <a:gd name="T2" fmla="*/ 0 w 1"/>
                  <a:gd name="T3" fmla="*/ 1063 h 1063"/>
                  <a:gd name="T4" fmla="*/ 1 w 1"/>
                  <a:gd name="T5" fmla="*/ 1063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63">
                    <a:moveTo>
                      <a:pt x="0" y="0"/>
                    </a:moveTo>
                    <a:lnTo>
                      <a:pt x="0" y="1063"/>
                    </a:lnTo>
                    <a:lnTo>
                      <a:pt x="1" y="1063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8" name="Freeform 104"/>
              <p:cNvSpPr>
                <a:spLocks noChangeAspect="1" noChangeArrowheads="1"/>
              </p:cNvSpPr>
              <p:nvPr/>
            </p:nvSpPr>
            <p:spPr bwMode="auto">
              <a:xfrm>
                <a:off x="4440" y="1785"/>
                <a:ext cx="2" cy="47"/>
              </a:xfrm>
              <a:custGeom>
                <a:avLst/>
                <a:gdLst>
                  <a:gd name="T0" fmla="*/ 0 w 1"/>
                  <a:gd name="T1" fmla="*/ 0 h 214"/>
                  <a:gd name="T2" fmla="*/ 0 w 1"/>
                  <a:gd name="T3" fmla="*/ 214 h 214"/>
                  <a:gd name="T4" fmla="*/ 1 w 1"/>
                  <a:gd name="T5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14">
                    <a:moveTo>
                      <a:pt x="0" y="0"/>
                    </a:moveTo>
                    <a:lnTo>
                      <a:pt x="0" y="214"/>
                    </a:lnTo>
                    <a:lnTo>
                      <a:pt x="1" y="214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9" name="Freeform 105"/>
              <p:cNvSpPr>
                <a:spLocks noChangeAspect="1" noChangeArrowheads="1"/>
              </p:cNvSpPr>
              <p:nvPr/>
            </p:nvSpPr>
            <p:spPr bwMode="auto">
              <a:xfrm>
                <a:off x="4440" y="1878"/>
                <a:ext cx="2" cy="264"/>
              </a:xfrm>
              <a:custGeom>
                <a:avLst/>
                <a:gdLst>
                  <a:gd name="T0" fmla="*/ 0 w 1"/>
                  <a:gd name="T1" fmla="*/ 0 h 1205"/>
                  <a:gd name="T2" fmla="*/ 0 w 1"/>
                  <a:gd name="T3" fmla="*/ 1205 h 1205"/>
                  <a:gd name="T4" fmla="*/ 1 w 1"/>
                  <a:gd name="T5" fmla="*/ 1205 h 1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205">
                    <a:moveTo>
                      <a:pt x="0" y="0"/>
                    </a:moveTo>
                    <a:lnTo>
                      <a:pt x="0" y="1205"/>
                    </a:lnTo>
                    <a:lnTo>
                      <a:pt x="1" y="1205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0" name="Freeform 106"/>
              <p:cNvSpPr>
                <a:spLocks noChangeAspect="1" noChangeArrowheads="1"/>
              </p:cNvSpPr>
              <p:nvPr/>
            </p:nvSpPr>
            <p:spPr bwMode="auto">
              <a:xfrm>
                <a:off x="3609" y="3063"/>
                <a:ext cx="204" cy="2"/>
              </a:xfrm>
              <a:custGeom>
                <a:avLst/>
                <a:gdLst>
                  <a:gd name="T0" fmla="*/ 0 w 927"/>
                  <a:gd name="T1" fmla="*/ 0 h 2"/>
                  <a:gd name="T2" fmla="*/ 926 w 927"/>
                  <a:gd name="T3" fmla="*/ 0 h 2"/>
                  <a:gd name="T4" fmla="*/ 927 w 927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27" h="2">
                    <a:moveTo>
                      <a:pt x="0" y="0"/>
                    </a:moveTo>
                    <a:lnTo>
                      <a:pt x="926" y="0"/>
                    </a:lnTo>
                    <a:lnTo>
                      <a:pt x="927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1" name="Freeform 107"/>
              <p:cNvSpPr>
                <a:spLocks noChangeAspect="1" noChangeArrowheads="1"/>
              </p:cNvSpPr>
              <p:nvPr/>
            </p:nvSpPr>
            <p:spPr bwMode="auto">
              <a:xfrm>
                <a:off x="3858" y="3063"/>
                <a:ext cx="48" cy="2"/>
              </a:xfrm>
              <a:custGeom>
                <a:avLst/>
                <a:gdLst>
                  <a:gd name="T0" fmla="*/ 0 w 214"/>
                  <a:gd name="T1" fmla="*/ 0 h 2"/>
                  <a:gd name="T2" fmla="*/ 213 w 214"/>
                  <a:gd name="T3" fmla="*/ 0 h 2"/>
                  <a:gd name="T4" fmla="*/ 214 w 21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4" h="2">
                    <a:moveTo>
                      <a:pt x="0" y="0"/>
                    </a:moveTo>
                    <a:lnTo>
                      <a:pt x="213" y="0"/>
                    </a:lnTo>
                    <a:lnTo>
                      <a:pt x="214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2" name="Freeform 108"/>
              <p:cNvSpPr>
                <a:spLocks noChangeAspect="1" noChangeArrowheads="1"/>
              </p:cNvSpPr>
              <p:nvPr/>
            </p:nvSpPr>
            <p:spPr bwMode="auto">
              <a:xfrm>
                <a:off x="3951" y="3063"/>
                <a:ext cx="233" cy="2"/>
              </a:xfrm>
              <a:custGeom>
                <a:avLst/>
                <a:gdLst>
                  <a:gd name="T0" fmla="*/ 0 w 1063"/>
                  <a:gd name="T1" fmla="*/ 0 h 2"/>
                  <a:gd name="T2" fmla="*/ 1062 w 1063"/>
                  <a:gd name="T3" fmla="*/ 0 h 2"/>
                  <a:gd name="T4" fmla="*/ 1063 w 106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3" h="2">
                    <a:moveTo>
                      <a:pt x="0" y="0"/>
                    </a:moveTo>
                    <a:lnTo>
                      <a:pt x="1062" y="0"/>
                    </a:lnTo>
                    <a:lnTo>
                      <a:pt x="1063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3" name="Freeform 109"/>
              <p:cNvSpPr>
                <a:spLocks noChangeAspect="1" noChangeArrowheads="1"/>
              </p:cNvSpPr>
              <p:nvPr/>
            </p:nvSpPr>
            <p:spPr bwMode="auto">
              <a:xfrm>
                <a:off x="4232" y="3063"/>
                <a:ext cx="45" cy="2"/>
              </a:xfrm>
              <a:custGeom>
                <a:avLst/>
                <a:gdLst>
                  <a:gd name="T0" fmla="*/ 0 w 213"/>
                  <a:gd name="T1" fmla="*/ 0 h 2"/>
                  <a:gd name="T2" fmla="*/ 212 w 213"/>
                  <a:gd name="T3" fmla="*/ 0 h 2"/>
                  <a:gd name="T4" fmla="*/ 213 w 21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3" h="2">
                    <a:moveTo>
                      <a:pt x="0" y="0"/>
                    </a:moveTo>
                    <a:lnTo>
                      <a:pt x="212" y="0"/>
                    </a:lnTo>
                    <a:lnTo>
                      <a:pt x="213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4" name="Freeform 110"/>
              <p:cNvSpPr>
                <a:spLocks noChangeAspect="1" noChangeArrowheads="1"/>
              </p:cNvSpPr>
              <p:nvPr/>
            </p:nvSpPr>
            <p:spPr bwMode="auto">
              <a:xfrm>
                <a:off x="4325" y="3063"/>
                <a:ext cx="233" cy="2"/>
              </a:xfrm>
              <a:custGeom>
                <a:avLst/>
                <a:gdLst>
                  <a:gd name="T0" fmla="*/ 0 w 1063"/>
                  <a:gd name="T1" fmla="*/ 0 h 2"/>
                  <a:gd name="T2" fmla="*/ 1062 w 1063"/>
                  <a:gd name="T3" fmla="*/ 0 h 2"/>
                  <a:gd name="T4" fmla="*/ 1063 w 106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3" h="2">
                    <a:moveTo>
                      <a:pt x="0" y="0"/>
                    </a:moveTo>
                    <a:lnTo>
                      <a:pt x="1062" y="0"/>
                    </a:lnTo>
                    <a:lnTo>
                      <a:pt x="1063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5" name="Freeform 111"/>
              <p:cNvSpPr>
                <a:spLocks noChangeAspect="1" noChangeArrowheads="1"/>
              </p:cNvSpPr>
              <p:nvPr/>
            </p:nvSpPr>
            <p:spPr bwMode="auto">
              <a:xfrm>
                <a:off x="4603" y="3063"/>
                <a:ext cx="48" cy="2"/>
              </a:xfrm>
              <a:custGeom>
                <a:avLst/>
                <a:gdLst>
                  <a:gd name="T0" fmla="*/ 0 w 213"/>
                  <a:gd name="T1" fmla="*/ 0 h 2"/>
                  <a:gd name="T2" fmla="*/ 212 w 213"/>
                  <a:gd name="T3" fmla="*/ 0 h 2"/>
                  <a:gd name="T4" fmla="*/ 213 w 21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3" h="2">
                    <a:moveTo>
                      <a:pt x="0" y="0"/>
                    </a:moveTo>
                    <a:lnTo>
                      <a:pt x="212" y="0"/>
                    </a:lnTo>
                    <a:lnTo>
                      <a:pt x="213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6" name="Freeform 112"/>
              <p:cNvSpPr>
                <a:spLocks noChangeAspect="1" noChangeArrowheads="1"/>
              </p:cNvSpPr>
              <p:nvPr/>
            </p:nvSpPr>
            <p:spPr bwMode="auto">
              <a:xfrm>
                <a:off x="4696" y="3063"/>
                <a:ext cx="233" cy="2"/>
              </a:xfrm>
              <a:custGeom>
                <a:avLst/>
                <a:gdLst>
                  <a:gd name="T0" fmla="*/ 0 w 1062"/>
                  <a:gd name="T1" fmla="*/ 0 h 2"/>
                  <a:gd name="T2" fmla="*/ 1061 w 1062"/>
                  <a:gd name="T3" fmla="*/ 0 h 2"/>
                  <a:gd name="T4" fmla="*/ 1062 w 106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2" h="2">
                    <a:moveTo>
                      <a:pt x="0" y="0"/>
                    </a:moveTo>
                    <a:lnTo>
                      <a:pt x="1061" y="0"/>
                    </a:lnTo>
                    <a:lnTo>
                      <a:pt x="1062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7" name="Freeform 113"/>
              <p:cNvSpPr>
                <a:spLocks noChangeAspect="1" noChangeArrowheads="1"/>
              </p:cNvSpPr>
              <p:nvPr/>
            </p:nvSpPr>
            <p:spPr bwMode="auto">
              <a:xfrm>
                <a:off x="4975" y="3063"/>
                <a:ext cx="47" cy="2"/>
              </a:xfrm>
              <a:custGeom>
                <a:avLst/>
                <a:gdLst>
                  <a:gd name="T0" fmla="*/ 0 w 213"/>
                  <a:gd name="T1" fmla="*/ 0 h 2"/>
                  <a:gd name="T2" fmla="*/ 212 w 213"/>
                  <a:gd name="T3" fmla="*/ 0 h 2"/>
                  <a:gd name="T4" fmla="*/ 213 w 21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3" h="2">
                    <a:moveTo>
                      <a:pt x="0" y="0"/>
                    </a:moveTo>
                    <a:lnTo>
                      <a:pt x="212" y="0"/>
                    </a:lnTo>
                    <a:lnTo>
                      <a:pt x="213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8" name="Freeform 114"/>
              <p:cNvSpPr>
                <a:spLocks noChangeAspect="1" noChangeArrowheads="1"/>
              </p:cNvSpPr>
              <p:nvPr/>
            </p:nvSpPr>
            <p:spPr bwMode="auto">
              <a:xfrm>
                <a:off x="5070" y="3063"/>
                <a:ext cx="203" cy="2"/>
              </a:xfrm>
              <a:custGeom>
                <a:avLst/>
                <a:gdLst>
                  <a:gd name="T0" fmla="*/ 0 w 927"/>
                  <a:gd name="T1" fmla="*/ 0 h 2"/>
                  <a:gd name="T2" fmla="*/ 926 w 927"/>
                  <a:gd name="T3" fmla="*/ 0 h 2"/>
                  <a:gd name="T4" fmla="*/ 927 w 927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27" h="2">
                    <a:moveTo>
                      <a:pt x="0" y="0"/>
                    </a:moveTo>
                    <a:lnTo>
                      <a:pt x="926" y="0"/>
                    </a:lnTo>
                    <a:lnTo>
                      <a:pt x="927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9" name="Freeform 115"/>
              <p:cNvSpPr>
                <a:spLocks noChangeAspect="1" noChangeArrowheads="1"/>
              </p:cNvSpPr>
              <p:nvPr/>
            </p:nvSpPr>
            <p:spPr bwMode="auto">
              <a:xfrm>
                <a:off x="4745" y="1176"/>
                <a:ext cx="202" cy="2"/>
              </a:xfrm>
              <a:custGeom>
                <a:avLst/>
                <a:gdLst>
                  <a:gd name="T0" fmla="*/ 921 w 921"/>
                  <a:gd name="T1" fmla="*/ 0 h 2"/>
                  <a:gd name="T2" fmla="*/ 0 w 921"/>
                  <a:gd name="T3" fmla="*/ 0 h 2"/>
                  <a:gd name="T4" fmla="*/ 1 w 92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21" h="2">
                    <a:moveTo>
                      <a:pt x="921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0" name="Freeform 116"/>
              <p:cNvSpPr>
                <a:spLocks noChangeAspect="1" noChangeArrowheads="1"/>
              </p:cNvSpPr>
              <p:nvPr/>
            </p:nvSpPr>
            <p:spPr bwMode="auto">
              <a:xfrm>
                <a:off x="4652" y="1176"/>
                <a:ext cx="46" cy="2"/>
              </a:xfrm>
              <a:custGeom>
                <a:avLst/>
                <a:gdLst>
                  <a:gd name="T0" fmla="*/ 213 w 213"/>
                  <a:gd name="T1" fmla="*/ 0 h 2"/>
                  <a:gd name="T2" fmla="*/ 0 w 213"/>
                  <a:gd name="T3" fmla="*/ 0 h 2"/>
                  <a:gd name="T4" fmla="*/ 1 w 21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3" h="2">
                    <a:moveTo>
                      <a:pt x="213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1" name="Freeform 117"/>
              <p:cNvSpPr>
                <a:spLocks noChangeAspect="1" noChangeArrowheads="1"/>
              </p:cNvSpPr>
              <p:nvPr/>
            </p:nvSpPr>
            <p:spPr bwMode="auto">
              <a:xfrm>
                <a:off x="4372" y="1176"/>
                <a:ext cx="233" cy="2"/>
              </a:xfrm>
              <a:custGeom>
                <a:avLst/>
                <a:gdLst>
                  <a:gd name="T0" fmla="*/ 1062 w 1062"/>
                  <a:gd name="T1" fmla="*/ 0 h 2"/>
                  <a:gd name="T2" fmla="*/ 0 w 1062"/>
                  <a:gd name="T3" fmla="*/ 0 h 2"/>
                  <a:gd name="T4" fmla="*/ 1 w 106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2" h="2">
                    <a:moveTo>
                      <a:pt x="106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2" name="Freeform 118"/>
              <p:cNvSpPr>
                <a:spLocks noChangeAspect="1" noChangeArrowheads="1"/>
              </p:cNvSpPr>
              <p:nvPr/>
            </p:nvSpPr>
            <p:spPr bwMode="auto">
              <a:xfrm>
                <a:off x="4279" y="1176"/>
                <a:ext cx="47" cy="2"/>
              </a:xfrm>
              <a:custGeom>
                <a:avLst/>
                <a:gdLst>
                  <a:gd name="T0" fmla="*/ 212 w 212"/>
                  <a:gd name="T1" fmla="*/ 0 h 2"/>
                  <a:gd name="T2" fmla="*/ 0 w 212"/>
                  <a:gd name="T3" fmla="*/ 0 h 2"/>
                  <a:gd name="T4" fmla="*/ 1 w 21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2" h="2">
                    <a:moveTo>
                      <a:pt x="21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3" name="Freeform 119"/>
              <p:cNvSpPr>
                <a:spLocks noChangeAspect="1" noChangeArrowheads="1"/>
              </p:cNvSpPr>
              <p:nvPr/>
            </p:nvSpPr>
            <p:spPr bwMode="auto">
              <a:xfrm>
                <a:off x="4032" y="1176"/>
                <a:ext cx="202" cy="2"/>
              </a:xfrm>
              <a:custGeom>
                <a:avLst/>
                <a:gdLst>
                  <a:gd name="T0" fmla="*/ 919 w 919"/>
                  <a:gd name="T1" fmla="*/ 0 h 2"/>
                  <a:gd name="T2" fmla="*/ 0 w 919"/>
                  <a:gd name="T3" fmla="*/ 0 h 2"/>
                  <a:gd name="T4" fmla="*/ 1 w 919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19" h="2">
                    <a:moveTo>
                      <a:pt x="919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86" name="Group 120"/>
            <p:cNvGrpSpPr>
              <a:grpSpLocks noChangeAspect="1"/>
            </p:cNvGrpSpPr>
            <p:nvPr/>
          </p:nvGrpSpPr>
          <p:grpSpPr bwMode="auto">
            <a:xfrm>
              <a:off x="3231" y="737"/>
              <a:ext cx="924" cy="2237"/>
              <a:chOff x="3708" y="459"/>
              <a:chExt cx="1467" cy="3552"/>
            </a:xfrm>
          </p:grpSpPr>
          <p:sp>
            <p:nvSpPr>
              <p:cNvPr id="114" name="Freeform 121"/>
              <p:cNvSpPr>
                <a:spLocks noChangeAspect="1" noChangeArrowheads="1"/>
              </p:cNvSpPr>
              <p:nvPr/>
            </p:nvSpPr>
            <p:spPr bwMode="auto">
              <a:xfrm>
                <a:off x="3709" y="2333"/>
                <a:ext cx="1462" cy="1336"/>
              </a:xfrm>
              <a:custGeom>
                <a:avLst/>
                <a:gdLst>
                  <a:gd name="T0" fmla="*/ 5225 w 6666"/>
                  <a:gd name="T1" fmla="*/ 6089 h 6089"/>
                  <a:gd name="T2" fmla="*/ 5784 w 6666"/>
                  <a:gd name="T3" fmla="*/ 5607 h 6089"/>
                  <a:gd name="T4" fmla="*/ 6223 w 6666"/>
                  <a:gd name="T5" fmla="*/ 5015 h 6089"/>
                  <a:gd name="T6" fmla="*/ 6522 w 6666"/>
                  <a:gd name="T7" fmla="*/ 4340 h 6089"/>
                  <a:gd name="T8" fmla="*/ 6666 w 6666"/>
                  <a:gd name="T9" fmla="*/ 3616 h 6089"/>
                  <a:gd name="T10" fmla="*/ 6648 w 6666"/>
                  <a:gd name="T11" fmla="*/ 2878 h 6089"/>
                  <a:gd name="T12" fmla="*/ 6469 w 6666"/>
                  <a:gd name="T13" fmla="*/ 2162 h 6089"/>
                  <a:gd name="T14" fmla="*/ 6137 w 6666"/>
                  <a:gd name="T15" fmla="*/ 1502 h 6089"/>
                  <a:gd name="T16" fmla="*/ 5669 w 6666"/>
                  <a:gd name="T17" fmla="*/ 932 h 6089"/>
                  <a:gd name="T18" fmla="*/ 5088 w 6666"/>
                  <a:gd name="T19" fmla="*/ 478 h 6089"/>
                  <a:gd name="T20" fmla="*/ 4421 w 6666"/>
                  <a:gd name="T21" fmla="*/ 162 h 6089"/>
                  <a:gd name="T22" fmla="*/ 3702 w 6666"/>
                  <a:gd name="T23" fmla="*/ 0 h 6089"/>
                  <a:gd name="T24" fmla="*/ 2964 w 6666"/>
                  <a:gd name="T25" fmla="*/ 0 h 6089"/>
                  <a:gd name="T26" fmla="*/ 2244 w 6666"/>
                  <a:gd name="T27" fmla="*/ 162 h 6089"/>
                  <a:gd name="T28" fmla="*/ 1578 w 6666"/>
                  <a:gd name="T29" fmla="*/ 478 h 6089"/>
                  <a:gd name="T30" fmla="*/ 996 w 6666"/>
                  <a:gd name="T31" fmla="*/ 932 h 6089"/>
                  <a:gd name="T32" fmla="*/ 528 w 6666"/>
                  <a:gd name="T33" fmla="*/ 1502 h 6089"/>
                  <a:gd name="T34" fmla="*/ 197 w 6666"/>
                  <a:gd name="T35" fmla="*/ 2162 h 6089"/>
                  <a:gd name="T36" fmla="*/ 17 w 6666"/>
                  <a:gd name="T37" fmla="*/ 2878 h 6089"/>
                  <a:gd name="T38" fmla="*/ 0 w 6666"/>
                  <a:gd name="T39" fmla="*/ 3616 h 6089"/>
                  <a:gd name="T40" fmla="*/ 144 w 6666"/>
                  <a:gd name="T41" fmla="*/ 4340 h 6089"/>
                  <a:gd name="T42" fmla="*/ 443 w 6666"/>
                  <a:gd name="T43" fmla="*/ 5015 h 6089"/>
                  <a:gd name="T44" fmla="*/ 882 w 6666"/>
                  <a:gd name="T45" fmla="*/ 5607 h 6089"/>
                  <a:gd name="T46" fmla="*/ 1441 w 6666"/>
                  <a:gd name="T47" fmla="*/ 6089 h 6089"/>
                  <a:gd name="T48" fmla="*/ 1442 w 6666"/>
                  <a:gd name="T49" fmla="*/ 6089 h 60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6" h="6089">
                    <a:moveTo>
                      <a:pt x="5225" y="6089"/>
                    </a:moveTo>
                    <a:lnTo>
                      <a:pt x="5784" y="5607"/>
                    </a:lnTo>
                    <a:lnTo>
                      <a:pt x="6223" y="5015"/>
                    </a:lnTo>
                    <a:lnTo>
                      <a:pt x="6522" y="4340"/>
                    </a:lnTo>
                    <a:lnTo>
                      <a:pt x="6666" y="3616"/>
                    </a:lnTo>
                    <a:lnTo>
                      <a:pt x="6648" y="2878"/>
                    </a:lnTo>
                    <a:lnTo>
                      <a:pt x="6469" y="2162"/>
                    </a:lnTo>
                    <a:lnTo>
                      <a:pt x="6137" y="1502"/>
                    </a:lnTo>
                    <a:lnTo>
                      <a:pt x="5669" y="932"/>
                    </a:lnTo>
                    <a:lnTo>
                      <a:pt x="5088" y="478"/>
                    </a:lnTo>
                    <a:lnTo>
                      <a:pt x="4421" y="162"/>
                    </a:lnTo>
                    <a:lnTo>
                      <a:pt x="3702" y="0"/>
                    </a:lnTo>
                    <a:lnTo>
                      <a:pt x="2964" y="0"/>
                    </a:lnTo>
                    <a:lnTo>
                      <a:pt x="2244" y="162"/>
                    </a:lnTo>
                    <a:lnTo>
                      <a:pt x="1578" y="478"/>
                    </a:lnTo>
                    <a:lnTo>
                      <a:pt x="996" y="932"/>
                    </a:lnTo>
                    <a:lnTo>
                      <a:pt x="528" y="1502"/>
                    </a:lnTo>
                    <a:lnTo>
                      <a:pt x="197" y="2162"/>
                    </a:lnTo>
                    <a:lnTo>
                      <a:pt x="17" y="2878"/>
                    </a:lnTo>
                    <a:lnTo>
                      <a:pt x="0" y="3616"/>
                    </a:lnTo>
                    <a:lnTo>
                      <a:pt x="144" y="4340"/>
                    </a:lnTo>
                    <a:lnTo>
                      <a:pt x="443" y="5015"/>
                    </a:lnTo>
                    <a:lnTo>
                      <a:pt x="882" y="5607"/>
                    </a:lnTo>
                    <a:lnTo>
                      <a:pt x="1441" y="6089"/>
                    </a:lnTo>
                    <a:lnTo>
                      <a:pt x="1442" y="608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5" name="Freeform 122"/>
              <p:cNvSpPr>
                <a:spLocks noChangeAspect="1" noChangeArrowheads="1"/>
              </p:cNvSpPr>
              <p:nvPr/>
            </p:nvSpPr>
            <p:spPr bwMode="auto">
              <a:xfrm>
                <a:off x="4027" y="3669"/>
                <a:ext cx="1" cy="340"/>
              </a:xfrm>
              <a:custGeom>
                <a:avLst/>
                <a:gdLst>
                  <a:gd name="T0" fmla="*/ 0 w 1"/>
                  <a:gd name="T1" fmla="*/ 0 h 1559"/>
                  <a:gd name="T2" fmla="*/ 0 w 1"/>
                  <a:gd name="T3" fmla="*/ 1559 h 1559"/>
                  <a:gd name="T4" fmla="*/ 1 w 1"/>
                  <a:gd name="T5" fmla="*/ 1559 h 1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559">
                    <a:moveTo>
                      <a:pt x="0" y="0"/>
                    </a:moveTo>
                    <a:lnTo>
                      <a:pt x="0" y="1559"/>
                    </a:lnTo>
                    <a:lnTo>
                      <a:pt x="1" y="155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6" name="Freeform 123"/>
              <p:cNvSpPr>
                <a:spLocks noChangeAspect="1" noChangeArrowheads="1"/>
              </p:cNvSpPr>
              <p:nvPr/>
            </p:nvSpPr>
            <p:spPr bwMode="auto">
              <a:xfrm>
                <a:off x="4209" y="3562"/>
                <a:ext cx="2" cy="447"/>
              </a:xfrm>
              <a:custGeom>
                <a:avLst/>
                <a:gdLst>
                  <a:gd name="T0" fmla="*/ 0 w 1"/>
                  <a:gd name="T1" fmla="*/ 0 h 2042"/>
                  <a:gd name="T2" fmla="*/ 0 w 1"/>
                  <a:gd name="T3" fmla="*/ 2042 h 2042"/>
                  <a:gd name="T4" fmla="*/ 1 w 1"/>
                  <a:gd name="T5" fmla="*/ 2042 h 20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042">
                    <a:moveTo>
                      <a:pt x="0" y="0"/>
                    </a:moveTo>
                    <a:lnTo>
                      <a:pt x="0" y="2042"/>
                    </a:lnTo>
                    <a:lnTo>
                      <a:pt x="1" y="204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7" name="Freeform 124"/>
              <p:cNvSpPr>
                <a:spLocks noChangeAspect="1" noChangeArrowheads="1"/>
              </p:cNvSpPr>
              <p:nvPr/>
            </p:nvSpPr>
            <p:spPr bwMode="auto">
              <a:xfrm>
                <a:off x="4672" y="3562"/>
                <a:ext cx="2" cy="447"/>
              </a:xfrm>
              <a:custGeom>
                <a:avLst/>
                <a:gdLst>
                  <a:gd name="T0" fmla="*/ 0 w 1"/>
                  <a:gd name="T1" fmla="*/ 0 h 2042"/>
                  <a:gd name="T2" fmla="*/ 0 w 1"/>
                  <a:gd name="T3" fmla="*/ 2042 h 2042"/>
                  <a:gd name="T4" fmla="*/ 1 w 1"/>
                  <a:gd name="T5" fmla="*/ 2042 h 20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042">
                    <a:moveTo>
                      <a:pt x="0" y="0"/>
                    </a:moveTo>
                    <a:lnTo>
                      <a:pt x="0" y="2042"/>
                    </a:lnTo>
                    <a:lnTo>
                      <a:pt x="1" y="204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8" name="Freeform 125"/>
              <p:cNvSpPr>
                <a:spLocks noChangeAspect="1" noChangeArrowheads="1"/>
              </p:cNvSpPr>
              <p:nvPr/>
            </p:nvSpPr>
            <p:spPr bwMode="auto">
              <a:xfrm>
                <a:off x="4856" y="3669"/>
                <a:ext cx="2" cy="340"/>
              </a:xfrm>
              <a:custGeom>
                <a:avLst/>
                <a:gdLst>
                  <a:gd name="T0" fmla="*/ 0 w 1"/>
                  <a:gd name="T1" fmla="*/ 0 h 1559"/>
                  <a:gd name="T2" fmla="*/ 0 w 1"/>
                  <a:gd name="T3" fmla="*/ 1559 h 1559"/>
                  <a:gd name="T4" fmla="*/ 1 w 1"/>
                  <a:gd name="T5" fmla="*/ 1559 h 1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559">
                    <a:moveTo>
                      <a:pt x="0" y="0"/>
                    </a:moveTo>
                    <a:lnTo>
                      <a:pt x="0" y="1559"/>
                    </a:lnTo>
                    <a:lnTo>
                      <a:pt x="1" y="155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9" name="Freeform 126"/>
              <p:cNvSpPr>
                <a:spLocks noChangeAspect="1" noChangeArrowheads="1"/>
              </p:cNvSpPr>
              <p:nvPr/>
            </p:nvSpPr>
            <p:spPr bwMode="auto">
              <a:xfrm>
                <a:off x="4027" y="4009"/>
                <a:ext cx="413" cy="2"/>
              </a:xfrm>
              <a:custGeom>
                <a:avLst/>
                <a:gdLst>
                  <a:gd name="T0" fmla="*/ 0 w 1893"/>
                  <a:gd name="T1" fmla="*/ 0 h 2"/>
                  <a:gd name="T2" fmla="*/ 1892 w 1893"/>
                  <a:gd name="T3" fmla="*/ 0 h 2"/>
                  <a:gd name="T4" fmla="*/ 1893 w 189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93" h="2">
                    <a:moveTo>
                      <a:pt x="0" y="0"/>
                    </a:moveTo>
                    <a:lnTo>
                      <a:pt x="1892" y="0"/>
                    </a:lnTo>
                    <a:lnTo>
                      <a:pt x="1893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0" name="Freeform 127"/>
              <p:cNvSpPr>
                <a:spLocks noChangeAspect="1" noChangeArrowheads="1"/>
              </p:cNvSpPr>
              <p:nvPr/>
            </p:nvSpPr>
            <p:spPr bwMode="auto">
              <a:xfrm>
                <a:off x="4440" y="4009"/>
                <a:ext cx="416" cy="2"/>
              </a:xfrm>
              <a:custGeom>
                <a:avLst/>
                <a:gdLst>
                  <a:gd name="T0" fmla="*/ 1892 w 1892"/>
                  <a:gd name="T1" fmla="*/ 0 h 2"/>
                  <a:gd name="T2" fmla="*/ 0 w 1892"/>
                  <a:gd name="T3" fmla="*/ 0 h 2"/>
                  <a:gd name="T4" fmla="*/ 1 w 189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92" h="2">
                    <a:moveTo>
                      <a:pt x="189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1" name="Freeform 128"/>
              <p:cNvSpPr>
                <a:spLocks noChangeAspect="1" noChangeArrowheads="1"/>
              </p:cNvSpPr>
              <p:nvPr/>
            </p:nvSpPr>
            <p:spPr bwMode="auto">
              <a:xfrm>
                <a:off x="3708" y="459"/>
                <a:ext cx="1" cy="1555"/>
              </a:xfrm>
              <a:custGeom>
                <a:avLst/>
                <a:gdLst>
                  <a:gd name="T0" fmla="*/ 0 w 1"/>
                  <a:gd name="T1" fmla="*/ 7095 h 7095"/>
                  <a:gd name="T2" fmla="*/ 0 w 1"/>
                  <a:gd name="T3" fmla="*/ 0 h 7095"/>
                  <a:gd name="T4" fmla="*/ 1 w 1"/>
                  <a:gd name="T5" fmla="*/ 0 h 70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095">
                    <a:moveTo>
                      <a:pt x="0" y="7095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2" name="Freeform 129"/>
              <p:cNvSpPr>
                <a:spLocks noChangeAspect="1" noChangeArrowheads="1"/>
              </p:cNvSpPr>
              <p:nvPr/>
            </p:nvSpPr>
            <p:spPr bwMode="auto">
              <a:xfrm>
                <a:off x="3892" y="643"/>
                <a:ext cx="2" cy="1371"/>
              </a:xfrm>
              <a:custGeom>
                <a:avLst/>
                <a:gdLst>
                  <a:gd name="T0" fmla="*/ 0 w 1"/>
                  <a:gd name="T1" fmla="*/ 6258 h 6258"/>
                  <a:gd name="T2" fmla="*/ 0 w 1"/>
                  <a:gd name="T3" fmla="*/ 0 h 6258"/>
                  <a:gd name="T4" fmla="*/ 1 w 1"/>
                  <a:gd name="T5" fmla="*/ 0 h 6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258">
                    <a:moveTo>
                      <a:pt x="0" y="6258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3" name="Freeform 130"/>
              <p:cNvSpPr>
                <a:spLocks noChangeAspect="1" noChangeArrowheads="1"/>
              </p:cNvSpPr>
              <p:nvPr/>
            </p:nvSpPr>
            <p:spPr bwMode="auto">
              <a:xfrm>
                <a:off x="4179" y="762"/>
                <a:ext cx="675" cy="828"/>
              </a:xfrm>
              <a:custGeom>
                <a:avLst/>
                <a:gdLst>
                  <a:gd name="T0" fmla="*/ 801 w 3079"/>
                  <a:gd name="T1" fmla="*/ 3741 h 3773"/>
                  <a:gd name="T2" fmla="*/ 1384 w 3079"/>
                  <a:gd name="T3" fmla="*/ 3773 h 3773"/>
                  <a:gd name="T4" fmla="*/ 1950 w 3079"/>
                  <a:gd name="T5" fmla="*/ 3625 h 3773"/>
                  <a:gd name="T6" fmla="*/ 2443 w 3079"/>
                  <a:gd name="T7" fmla="*/ 3311 h 3773"/>
                  <a:gd name="T8" fmla="*/ 2817 w 3079"/>
                  <a:gd name="T9" fmla="*/ 2862 h 3773"/>
                  <a:gd name="T10" fmla="*/ 3036 w 3079"/>
                  <a:gd name="T11" fmla="*/ 2318 h 3773"/>
                  <a:gd name="T12" fmla="*/ 3079 w 3079"/>
                  <a:gd name="T13" fmla="*/ 1735 h 3773"/>
                  <a:gd name="T14" fmla="*/ 2942 w 3079"/>
                  <a:gd name="T15" fmla="*/ 1166 h 3773"/>
                  <a:gd name="T16" fmla="*/ 2639 w 3079"/>
                  <a:gd name="T17" fmla="*/ 666 h 3773"/>
                  <a:gd name="T18" fmla="*/ 2196 w 3079"/>
                  <a:gd name="T19" fmla="*/ 283 h 3773"/>
                  <a:gd name="T20" fmla="*/ 1658 w 3079"/>
                  <a:gd name="T21" fmla="*/ 54 h 3773"/>
                  <a:gd name="T22" fmla="*/ 1076 w 3079"/>
                  <a:gd name="T23" fmla="*/ 0 h 3773"/>
                  <a:gd name="T24" fmla="*/ 506 w 3079"/>
                  <a:gd name="T25" fmla="*/ 126 h 3773"/>
                  <a:gd name="T26" fmla="*/ 0 w 3079"/>
                  <a:gd name="T27" fmla="*/ 421 h 3773"/>
                  <a:gd name="T28" fmla="*/ 1 w 3079"/>
                  <a:gd name="T29" fmla="*/ 421 h 37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79" h="3773">
                    <a:moveTo>
                      <a:pt x="801" y="3741"/>
                    </a:moveTo>
                    <a:lnTo>
                      <a:pt x="1384" y="3773"/>
                    </a:lnTo>
                    <a:lnTo>
                      <a:pt x="1950" y="3625"/>
                    </a:lnTo>
                    <a:lnTo>
                      <a:pt x="2443" y="3311"/>
                    </a:lnTo>
                    <a:lnTo>
                      <a:pt x="2817" y="2862"/>
                    </a:lnTo>
                    <a:lnTo>
                      <a:pt x="3036" y="2318"/>
                    </a:lnTo>
                    <a:lnTo>
                      <a:pt x="3079" y="1735"/>
                    </a:lnTo>
                    <a:lnTo>
                      <a:pt x="2942" y="1166"/>
                    </a:lnTo>
                    <a:lnTo>
                      <a:pt x="2639" y="666"/>
                    </a:lnTo>
                    <a:lnTo>
                      <a:pt x="2196" y="283"/>
                    </a:lnTo>
                    <a:lnTo>
                      <a:pt x="1658" y="54"/>
                    </a:lnTo>
                    <a:lnTo>
                      <a:pt x="1076" y="0"/>
                    </a:lnTo>
                    <a:lnTo>
                      <a:pt x="506" y="126"/>
                    </a:lnTo>
                    <a:lnTo>
                      <a:pt x="0" y="421"/>
                    </a:lnTo>
                    <a:lnTo>
                      <a:pt x="1" y="42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4" name="Freeform 131"/>
              <p:cNvSpPr>
                <a:spLocks noChangeAspect="1" noChangeArrowheads="1"/>
              </p:cNvSpPr>
              <p:nvPr/>
            </p:nvSpPr>
            <p:spPr bwMode="auto">
              <a:xfrm>
                <a:off x="5173" y="459"/>
                <a:ext cx="2" cy="1555"/>
              </a:xfrm>
              <a:custGeom>
                <a:avLst/>
                <a:gdLst>
                  <a:gd name="T0" fmla="*/ 0 w 1"/>
                  <a:gd name="T1" fmla="*/ 7095 h 7095"/>
                  <a:gd name="T2" fmla="*/ 0 w 1"/>
                  <a:gd name="T3" fmla="*/ 0 h 7095"/>
                  <a:gd name="T4" fmla="*/ 1 w 1"/>
                  <a:gd name="T5" fmla="*/ 0 h 70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095">
                    <a:moveTo>
                      <a:pt x="0" y="7095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5" name="Freeform 132"/>
              <p:cNvSpPr>
                <a:spLocks noChangeAspect="1" noChangeArrowheads="1"/>
              </p:cNvSpPr>
              <p:nvPr/>
            </p:nvSpPr>
            <p:spPr bwMode="auto">
              <a:xfrm>
                <a:off x="3962" y="3322"/>
                <a:ext cx="964" cy="291"/>
              </a:xfrm>
              <a:custGeom>
                <a:avLst/>
                <a:gdLst>
                  <a:gd name="T0" fmla="*/ 0 w 4403"/>
                  <a:gd name="T1" fmla="*/ 53 h 1332"/>
                  <a:gd name="T2" fmla="*/ 404 w 4403"/>
                  <a:gd name="T3" fmla="*/ 587 h 1332"/>
                  <a:gd name="T4" fmla="*/ 933 w 4403"/>
                  <a:gd name="T5" fmla="*/ 996 h 1332"/>
                  <a:gd name="T6" fmla="*/ 1552 w 4403"/>
                  <a:gd name="T7" fmla="*/ 1251 h 1332"/>
                  <a:gd name="T8" fmla="*/ 2217 w 4403"/>
                  <a:gd name="T9" fmla="*/ 1332 h 1332"/>
                  <a:gd name="T10" fmla="*/ 2879 w 4403"/>
                  <a:gd name="T11" fmla="*/ 1235 h 1332"/>
                  <a:gd name="T12" fmla="*/ 3492 w 4403"/>
                  <a:gd name="T13" fmla="*/ 966 h 1332"/>
                  <a:gd name="T14" fmla="*/ 4012 w 4403"/>
                  <a:gd name="T15" fmla="*/ 544 h 1332"/>
                  <a:gd name="T16" fmla="*/ 4402 w 4403"/>
                  <a:gd name="T17" fmla="*/ 0 h 1332"/>
                  <a:gd name="T18" fmla="*/ 4403 w 4403"/>
                  <a:gd name="T19" fmla="*/ 0 h 1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03" h="1332">
                    <a:moveTo>
                      <a:pt x="0" y="53"/>
                    </a:moveTo>
                    <a:lnTo>
                      <a:pt x="404" y="587"/>
                    </a:lnTo>
                    <a:lnTo>
                      <a:pt x="933" y="996"/>
                    </a:lnTo>
                    <a:lnTo>
                      <a:pt x="1552" y="1251"/>
                    </a:lnTo>
                    <a:lnTo>
                      <a:pt x="2217" y="1332"/>
                    </a:lnTo>
                    <a:lnTo>
                      <a:pt x="2879" y="1235"/>
                    </a:lnTo>
                    <a:lnTo>
                      <a:pt x="3492" y="966"/>
                    </a:lnTo>
                    <a:lnTo>
                      <a:pt x="4012" y="544"/>
                    </a:lnTo>
                    <a:lnTo>
                      <a:pt x="4402" y="0"/>
                    </a:lnTo>
                    <a:lnTo>
                      <a:pt x="4403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6" name="Freeform 133"/>
              <p:cNvSpPr>
                <a:spLocks noChangeAspect="1" noChangeArrowheads="1"/>
              </p:cNvSpPr>
              <p:nvPr/>
            </p:nvSpPr>
            <p:spPr bwMode="auto">
              <a:xfrm>
                <a:off x="3708" y="2014"/>
                <a:ext cx="1465" cy="2"/>
              </a:xfrm>
              <a:custGeom>
                <a:avLst/>
                <a:gdLst>
                  <a:gd name="T0" fmla="*/ 0 w 6692"/>
                  <a:gd name="T1" fmla="*/ 0 h 2"/>
                  <a:gd name="T2" fmla="*/ 6691 w 6692"/>
                  <a:gd name="T3" fmla="*/ 0 h 2"/>
                  <a:gd name="T4" fmla="*/ 6692 w 669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692" h="2">
                    <a:moveTo>
                      <a:pt x="0" y="0"/>
                    </a:moveTo>
                    <a:lnTo>
                      <a:pt x="6691" y="0"/>
                    </a:lnTo>
                    <a:lnTo>
                      <a:pt x="669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7" name="Freeform 134"/>
              <p:cNvSpPr>
                <a:spLocks noChangeAspect="1" noChangeArrowheads="1"/>
              </p:cNvSpPr>
              <p:nvPr/>
            </p:nvSpPr>
            <p:spPr bwMode="auto">
              <a:xfrm>
                <a:off x="3708" y="459"/>
                <a:ext cx="1465" cy="2"/>
              </a:xfrm>
              <a:custGeom>
                <a:avLst/>
                <a:gdLst>
                  <a:gd name="T0" fmla="*/ 0 w 6692"/>
                  <a:gd name="T1" fmla="*/ 0 h 2"/>
                  <a:gd name="T2" fmla="*/ 6691 w 6692"/>
                  <a:gd name="T3" fmla="*/ 0 h 2"/>
                  <a:gd name="T4" fmla="*/ 6692 w 669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692" h="2">
                    <a:moveTo>
                      <a:pt x="0" y="0"/>
                    </a:moveTo>
                    <a:lnTo>
                      <a:pt x="6691" y="0"/>
                    </a:lnTo>
                    <a:lnTo>
                      <a:pt x="669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8" name="Freeform 135"/>
              <p:cNvSpPr>
                <a:spLocks noChangeAspect="1" noChangeArrowheads="1"/>
              </p:cNvSpPr>
              <p:nvPr/>
            </p:nvSpPr>
            <p:spPr bwMode="auto">
              <a:xfrm>
                <a:off x="4251" y="948"/>
                <a:ext cx="417" cy="458"/>
              </a:xfrm>
              <a:custGeom>
                <a:avLst/>
                <a:gdLst>
                  <a:gd name="T0" fmla="*/ 337 w 1905"/>
                  <a:gd name="T1" fmla="*/ 1952 h 2083"/>
                  <a:gd name="T2" fmla="*/ 719 w 1905"/>
                  <a:gd name="T3" fmla="*/ 2083 h 2083"/>
                  <a:gd name="T4" fmla="*/ 1123 w 1905"/>
                  <a:gd name="T5" fmla="*/ 2062 h 2083"/>
                  <a:gd name="T6" fmla="*/ 1488 w 1905"/>
                  <a:gd name="T7" fmla="*/ 1889 h 2083"/>
                  <a:gd name="T8" fmla="*/ 1763 w 1905"/>
                  <a:gd name="T9" fmla="*/ 1592 h 2083"/>
                  <a:gd name="T10" fmla="*/ 1905 w 1905"/>
                  <a:gd name="T11" fmla="*/ 1213 h 2083"/>
                  <a:gd name="T12" fmla="*/ 1895 w 1905"/>
                  <a:gd name="T13" fmla="*/ 809 h 2083"/>
                  <a:gd name="T14" fmla="*/ 1733 w 1905"/>
                  <a:gd name="T15" fmla="*/ 438 h 2083"/>
                  <a:gd name="T16" fmla="*/ 1445 w 1905"/>
                  <a:gd name="T17" fmla="*/ 155 h 2083"/>
                  <a:gd name="T18" fmla="*/ 1070 w 1905"/>
                  <a:gd name="T19" fmla="*/ 2 h 2083"/>
                  <a:gd name="T20" fmla="*/ 667 w 1905"/>
                  <a:gd name="T21" fmla="*/ 0 h 2083"/>
                  <a:gd name="T22" fmla="*/ 291 w 1905"/>
                  <a:gd name="T23" fmla="*/ 151 h 2083"/>
                  <a:gd name="T24" fmla="*/ 0 w 1905"/>
                  <a:gd name="T25" fmla="*/ 432 h 2083"/>
                  <a:gd name="T26" fmla="*/ 1 w 1905"/>
                  <a:gd name="T27" fmla="*/ 432 h 20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05" h="2083">
                    <a:moveTo>
                      <a:pt x="337" y="1952"/>
                    </a:moveTo>
                    <a:lnTo>
                      <a:pt x="719" y="2083"/>
                    </a:lnTo>
                    <a:lnTo>
                      <a:pt x="1123" y="2062"/>
                    </a:lnTo>
                    <a:lnTo>
                      <a:pt x="1488" y="1889"/>
                    </a:lnTo>
                    <a:lnTo>
                      <a:pt x="1763" y="1592"/>
                    </a:lnTo>
                    <a:lnTo>
                      <a:pt x="1905" y="1213"/>
                    </a:lnTo>
                    <a:lnTo>
                      <a:pt x="1895" y="809"/>
                    </a:lnTo>
                    <a:lnTo>
                      <a:pt x="1733" y="438"/>
                    </a:lnTo>
                    <a:lnTo>
                      <a:pt x="1445" y="155"/>
                    </a:lnTo>
                    <a:lnTo>
                      <a:pt x="1070" y="2"/>
                    </a:lnTo>
                    <a:lnTo>
                      <a:pt x="667" y="0"/>
                    </a:lnTo>
                    <a:lnTo>
                      <a:pt x="291" y="151"/>
                    </a:lnTo>
                    <a:lnTo>
                      <a:pt x="0" y="432"/>
                    </a:lnTo>
                    <a:lnTo>
                      <a:pt x="1" y="43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9" name="Freeform 136"/>
              <p:cNvSpPr>
                <a:spLocks noChangeAspect="1" noChangeArrowheads="1"/>
              </p:cNvSpPr>
              <p:nvPr/>
            </p:nvSpPr>
            <p:spPr bwMode="auto">
              <a:xfrm>
                <a:off x="3892" y="643"/>
                <a:ext cx="224" cy="2"/>
              </a:xfrm>
              <a:custGeom>
                <a:avLst/>
                <a:gdLst>
                  <a:gd name="T0" fmla="*/ 0 w 1026"/>
                  <a:gd name="T1" fmla="*/ 0 h 2"/>
                  <a:gd name="T2" fmla="*/ 1025 w 1026"/>
                  <a:gd name="T3" fmla="*/ 0 h 2"/>
                  <a:gd name="T4" fmla="*/ 1026 w 102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6" h="2">
                    <a:moveTo>
                      <a:pt x="0" y="0"/>
                    </a:moveTo>
                    <a:lnTo>
                      <a:pt x="1025" y="0"/>
                    </a:lnTo>
                    <a:lnTo>
                      <a:pt x="1026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87" name="Group 137"/>
            <p:cNvGrpSpPr>
              <a:grpSpLocks noChangeAspect="1"/>
            </p:cNvGrpSpPr>
            <p:nvPr/>
          </p:nvGrpSpPr>
          <p:grpSpPr bwMode="auto">
            <a:xfrm>
              <a:off x="3231" y="737"/>
              <a:ext cx="884" cy="2236"/>
              <a:chOff x="3708" y="459"/>
              <a:chExt cx="1404" cy="3550"/>
            </a:xfrm>
          </p:grpSpPr>
          <p:sp>
            <p:nvSpPr>
              <p:cNvPr id="88" name="Freeform 138"/>
              <p:cNvSpPr>
                <a:spLocks noChangeAspect="1" noChangeArrowheads="1"/>
              </p:cNvSpPr>
              <p:nvPr/>
            </p:nvSpPr>
            <p:spPr bwMode="auto">
              <a:xfrm>
                <a:off x="3708" y="459"/>
                <a:ext cx="144" cy="146"/>
              </a:xfrm>
              <a:custGeom>
                <a:avLst/>
                <a:gdLst>
                  <a:gd name="T0" fmla="*/ 0 w 660"/>
                  <a:gd name="T1" fmla="*/ 660 h 660"/>
                  <a:gd name="T2" fmla="*/ 658 w 660"/>
                  <a:gd name="T3" fmla="*/ 0 h 660"/>
                  <a:gd name="T4" fmla="*/ 660 w 660"/>
                  <a:gd name="T5" fmla="*/ 0 h 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60" h="660">
                    <a:moveTo>
                      <a:pt x="0" y="660"/>
                    </a:moveTo>
                    <a:lnTo>
                      <a:pt x="658" y="0"/>
                    </a:lnTo>
                    <a:lnTo>
                      <a:pt x="660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9" name="Freeform 139"/>
              <p:cNvSpPr>
                <a:spLocks noChangeAspect="1" noChangeArrowheads="1"/>
              </p:cNvSpPr>
              <p:nvPr/>
            </p:nvSpPr>
            <p:spPr bwMode="auto">
              <a:xfrm>
                <a:off x="3708" y="459"/>
                <a:ext cx="308" cy="310"/>
              </a:xfrm>
              <a:custGeom>
                <a:avLst/>
                <a:gdLst>
                  <a:gd name="T0" fmla="*/ 0 w 1410"/>
                  <a:gd name="T1" fmla="*/ 1412 h 1412"/>
                  <a:gd name="T2" fmla="*/ 1409 w 1410"/>
                  <a:gd name="T3" fmla="*/ 0 h 1412"/>
                  <a:gd name="T4" fmla="*/ 1410 w 1410"/>
                  <a:gd name="T5" fmla="*/ 0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10" h="1412">
                    <a:moveTo>
                      <a:pt x="0" y="1412"/>
                    </a:moveTo>
                    <a:lnTo>
                      <a:pt x="1409" y="0"/>
                    </a:lnTo>
                    <a:lnTo>
                      <a:pt x="1410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0" name="Freeform 140"/>
              <p:cNvSpPr>
                <a:spLocks noChangeAspect="1" noChangeArrowheads="1"/>
              </p:cNvSpPr>
              <p:nvPr/>
            </p:nvSpPr>
            <p:spPr bwMode="auto">
              <a:xfrm>
                <a:off x="3708" y="750"/>
                <a:ext cx="184" cy="184"/>
              </a:xfrm>
              <a:custGeom>
                <a:avLst/>
                <a:gdLst>
                  <a:gd name="T0" fmla="*/ 0 w 837"/>
                  <a:gd name="T1" fmla="*/ 837 h 837"/>
                  <a:gd name="T2" fmla="*/ 836 w 837"/>
                  <a:gd name="T3" fmla="*/ 0 h 837"/>
                  <a:gd name="T4" fmla="*/ 837 w 837"/>
                  <a:gd name="T5" fmla="*/ 0 h 8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7" h="837">
                    <a:moveTo>
                      <a:pt x="0" y="837"/>
                    </a:moveTo>
                    <a:lnTo>
                      <a:pt x="836" y="0"/>
                    </a:lnTo>
                    <a:lnTo>
                      <a:pt x="837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1" name="Freeform 141"/>
              <p:cNvSpPr>
                <a:spLocks noChangeAspect="1" noChangeArrowheads="1"/>
              </p:cNvSpPr>
              <p:nvPr/>
            </p:nvSpPr>
            <p:spPr bwMode="auto">
              <a:xfrm>
                <a:off x="3999" y="545"/>
                <a:ext cx="98" cy="98"/>
              </a:xfrm>
              <a:custGeom>
                <a:avLst/>
                <a:gdLst>
                  <a:gd name="T0" fmla="*/ 0 w 451"/>
                  <a:gd name="T1" fmla="*/ 451 h 451"/>
                  <a:gd name="T2" fmla="*/ 450 w 451"/>
                  <a:gd name="T3" fmla="*/ 0 h 451"/>
                  <a:gd name="T4" fmla="*/ 451 w 451"/>
                  <a:gd name="T5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1" h="451">
                    <a:moveTo>
                      <a:pt x="0" y="451"/>
                    </a:moveTo>
                    <a:lnTo>
                      <a:pt x="450" y="0"/>
                    </a:lnTo>
                    <a:lnTo>
                      <a:pt x="451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2" name="Freeform 142"/>
              <p:cNvSpPr>
                <a:spLocks noChangeAspect="1" noChangeArrowheads="1"/>
              </p:cNvSpPr>
              <p:nvPr/>
            </p:nvSpPr>
            <p:spPr bwMode="auto">
              <a:xfrm>
                <a:off x="3708" y="915"/>
                <a:ext cx="184" cy="184"/>
              </a:xfrm>
              <a:custGeom>
                <a:avLst/>
                <a:gdLst>
                  <a:gd name="T0" fmla="*/ 0 w 837"/>
                  <a:gd name="T1" fmla="*/ 837 h 837"/>
                  <a:gd name="T2" fmla="*/ 836 w 837"/>
                  <a:gd name="T3" fmla="*/ 0 h 837"/>
                  <a:gd name="T4" fmla="*/ 837 w 837"/>
                  <a:gd name="T5" fmla="*/ 0 h 8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7" h="837">
                    <a:moveTo>
                      <a:pt x="0" y="837"/>
                    </a:moveTo>
                    <a:lnTo>
                      <a:pt x="836" y="0"/>
                    </a:lnTo>
                    <a:lnTo>
                      <a:pt x="837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3" name="Freeform 143"/>
              <p:cNvSpPr>
                <a:spLocks noChangeAspect="1" noChangeArrowheads="1"/>
              </p:cNvSpPr>
              <p:nvPr/>
            </p:nvSpPr>
            <p:spPr bwMode="auto">
              <a:xfrm>
                <a:off x="3708" y="1080"/>
                <a:ext cx="184" cy="184"/>
              </a:xfrm>
              <a:custGeom>
                <a:avLst/>
                <a:gdLst>
                  <a:gd name="T0" fmla="*/ 0 w 837"/>
                  <a:gd name="T1" fmla="*/ 838 h 838"/>
                  <a:gd name="T2" fmla="*/ 836 w 837"/>
                  <a:gd name="T3" fmla="*/ 0 h 838"/>
                  <a:gd name="T4" fmla="*/ 837 w 837"/>
                  <a:gd name="T5" fmla="*/ 0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7" h="838">
                    <a:moveTo>
                      <a:pt x="0" y="838"/>
                    </a:moveTo>
                    <a:lnTo>
                      <a:pt x="836" y="0"/>
                    </a:lnTo>
                    <a:lnTo>
                      <a:pt x="837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4" name="Freeform 144"/>
              <p:cNvSpPr>
                <a:spLocks noChangeAspect="1" noChangeArrowheads="1"/>
              </p:cNvSpPr>
              <p:nvPr/>
            </p:nvSpPr>
            <p:spPr bwMode="auto">
              <a:xfrm>
                <a:off x="3708" y="1244"/>
                <a:ext cx="184" cy="184"/>
              </a:xfrm>
              <a:custGeom>
                <a:avLst/>
                <a:gdLst>
                  <a:gd name="T0" fmla="*/ 0 w 837"/>
                  <a:gd name="T1" fmla="*/ 837 h 837"/>
                  <a:gd name="T2" fmla="*/ 836 w 837"/>
                  <a:gd name="T3" fmla="*/ 0 h 837"/>
                  <a:gd name="T4" fmla="*/ 837 w 837"/>
                  <a:gd name="T5" fmla="*/ 0 h 8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7" h="837">
                    <a:moveTo>
                      <a:pt x="0" y="837"/>
                    </a:moveTo>
                    <a:lnTo>
                      <a:pt x="836" y="0"/>
                    </a:lnTo>
                    <a:lnTo>
                      <a:pt x="837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5" name="Freeform 145"/>
              <p:cNvSpPr>
                <a:spLocks noChangeAspect="1" noChangeArrowheads="1"/>
              </p:cNvSpPr>
              <p:nvPr/>
            </p:nvSpPr>
            <p:spPr bwMode="auto">
              <a:xfrm>
                <a:off x="3708" y="1409"/>
                <a:ext cx="184" cy="184"/>
              </a:xfrm>
              <a:custGeom>
                <a:avLst/>
                <a:gdLst>
                  <a:gd name="T0" fmla="*/ 0 w 837"/>
                  <a:gd name="T1" fmla="*/ 836 h 836"/>
                  <a:gd name="T2" fmla="*/ 836 w 837"/>
                  <a:gd name="T3" fmla="*/ 0 h 836"/>
                  <a:gd name="T4" fmla="*/ 837 w 837"/>
                  <a:gd name="T5" fmla="*/ 0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7" h="836">
                    <a:moveTo>
                      <a:pt x="0" y="836"/>
                    </a:moveTo>
                    <a:lnTo>
                      <a:pt x="836" y="0"/>
                    </a:lnTo>
                    <a:lnTo>
                      <a:pt x="837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6" name="Freeform 146"/>
              <p:cNvSpPr>
                <a:spLocks noChangeAspect="1" noChangeArrowheads="1"/>
              </p:cNvSpPr>
              <p:nvPr/>
            </p:nvSpPr>
            <p:spPr bwMode="auto">
              <a:xfrm>
                <a:off x="3708" y="1574"/>
                <a:ext cx="184" cy="182"/>
              </a:xfrm>
              <a:custGeom>
                <a:avLst/>
                <a:gdLst>
                  <a:gd name="T0" fmla="*/ 0 w 837"/>
                  <a:gd name="T1" fmla="*/ 837 h 837"/>
                  <a:gd name="T2" fmla="*/ 836 w 837"/>
                  <a:gd name="T3" fmla="*/ 0 h 837"/>
                  <a:gd name="T4" fmla="*/ 837 w 837"/>
                  <a:gd name="T5" fmla="*/ 0 h 8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7" h="837">
                    <a:moveTo>
                      <a:pt x="0" y="837"/>
                    </a:moveTo>
                    <a:lnTo>
                      <a:pt x="836" y="0"/>
                    </a:lnTo>
                    <a:lnTo>
                      <a:pt x="837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7" name="Freeform 147"/>
              <p:cNvSpPr>
                <a:spLocks noChangeAspect="1" noChangeArrowheads="1"/>
              </p:cNvSpPr>
              <p:nvPr/>
            </p:nvSpPr>
            <p:spPr bwMode="auto">
              <a:xfrm>
                <a:off x="3708" y="1739"/>
                <a:ext cx="184" cy="182"/>
              </a:xfrm>
              <a:custGeom>
                <a:avLst/>
                <a:gdLst>
                  <a:gd name="T0" fmla="*/ 0 w 837"/>
                  <a:gd name="T1" fmla="*/ 836 h 836"/>
                  <a:gd name="T2" fmla="*/ 836 w 837"/>
                  <a:gd name="T3" fmla="*/ 0 h 836"/>
                  <a:gd name="T4" fmla="*/ 837 w 837"/>
                  <a:gd name="T5" fmla="*/ 0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7" h="836">
                    <a:moveTo>
                      <a:pt x="0" y="836"/>
                    </a:moveTo>
                    <a:lnTo>
                      <a:pt x="836" y="0"/>
                    </a:lnTo>
                    <a:lnTo>
                      <a:pt x="837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8" name="Freeform 148"/>
              <p:cNvSpPr>
                <a:spLocks noChangeAspect="1" noChangeArrowheads="1"/>
              </p:cNvSpPr>
              <p:nvPr/>
            </p:nvSpPr>
            <p:spPr bwMode="auto">
              <a:xfrm>
                <a:off x="3780" y="1904"/>
                <a:ext cx="112" cy="110"/>
              </a:xfrm>
              <a:custGeom>
                <a:avLst/>
                <a:gdLst>
                  <a:gd name="T0" fmla="*/ 0 w 507"/>
                  <a:gd name="T1" fmla="*/ 506 h 506"/>
                  <a:gd name="T2" fmla="*/ 506 w 507"/>
                  <a:gd name="T3" fmla="*/ 0 h 506"/>
                  <a:gd name="T4" fmla="*/ 507 w 507"/>
                  <a:gd name="T5" fmla="*/ 0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7" h="506">
                    <a:moveTo>
                      <a:pt x="0" y="506"/>
                    </a:moveTo>
                    <a:lnTo>
                      <a:pt x="506" y="0"/>
                    </a:lnTo>
                    <a:lnTo>
                      <a:pt x="507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9" name="Freeform 149"/>
              <p:cNvSpPr>
                <a:spLocks noChangeAspect="1" noChangeArrowheads="1"/>
              </p:cNvSpPr>
              <p:nvPr/>
            </p:nvSpPr>
            <p:spPr bwMode="auto">
              <a:xfrm>
                <a:off x="4085" y="459"/>
                <a:ext cx="166" cy="584"/>
              </a:xfrm>
              <a:custGeom>
                <a:avLst/>
                <a:gdLst>
                  <a:gd name="T0" fmla="*/ 0 w 761"/>
                  <a:gd name="T1" fmla="*/ 0 h 2666"/>
                  <a:gd name="T2" fmla="*/ 109 w 761"/>
                  <a:gd name="T3" fmla="*/ 687 h 2666"/>
                  <a:gd name="T4" fmla="*/ 278 w 761"/>
                  <a:gd name="T5" fmla="*/ 1358 h 2666"/>
                  <a:gd name="T6" fmla="*/ 760 w 761"/>
                  <a:gd name="T7" fmla="*/ 2666 h 2666"/>
                  <a:gd name="T8" fmla="*/ 761 w 761"/>
                  <a:gd name="T9" fmla="*/ 2666 h 2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1" h="2666">
                    <a:moveTo>
                      <a:pt x="0" y="0"/>
                    </a:moveTo>
                    <a:lnTo>
                      <a:pt x="109" y="687"/>
                    </a:lnTo>
                    <a:lnTo>
                      <a:pt x="278" y="1358"/>
                    </a:lnTo>
                    <a:lnTo>
                      <a:pt x="760" y="2666"/>
                    </a:lnTo>
                    <a:lnTo>
                      <a:pt x="761" y="2666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0" name="Freeform 150"/>
              <p:cNvSpPr>
                <a:spLocks noChangeAspect="1" noChangeArrowheads="1"/>
              </p:cNvSpPr>
              <p:nvPr/>
            </p:nvSpPr>
            <p:spPr bwMode="auto">
              <a:xfrm>
                <a:off x="3767" y="3332"/>
                <a:ext cx="195" cy="20"/>
              </a:xfrm>
              <a:custGeom>
                <a:avLst/>
                <a:gdLst>
                  <a:gd name="T0" fmla="*/ 0 w 891"/>
                  <a:gd name="T1" fmla="*/ 84 h 84"/>
                  <a:gd name="T2" fmla="*/ 890 w 891"/>
                  <a:gd name="T3" fmla="*/ 0 h 84"/>
                  <a:gd name="T4" fmla="*/ 891 w 891"/>
                  <a:gd name="T5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91" h="84">
                    <a:moveTo>
                      <a:pt x="0" y="84"/>
                    </a:moveTo>
                    <a:lnTo>
                      <a:pt x="890" y="0"/>
                    </a:lnTo>
                    <a:lnTo>
                      <a:pt x="891" y="0"/>
                    </a:lnTo>
                  </a:path>
                </a:pathLst>
              </a:custGeom>
              <a:noFill/>
              <a:ln w="127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1" name="Freeform 151"/>
              <p:cNvSpPr>
                <a:spLocks noChangeAspect="1" noChangeArrowheads="1"/>
              </p:cNvSpPr>
              <p:nvPr/>
            </p:nvSpPr>
            <p:spPr bwMode="auto">
              <a:xfrm>
                <a:off x="4325" y="1376"/>
                <a:ext cx="180" cy="638"/>
              </a:xfrm>
              <a:custGeom>
                <a:avLst/>
                <a:gdLst>
                  <a:gd name="T0" fmla="*/ 0 w 825"/>
                  <a:gd name="T1" fmla="*/ 0 h 2909"/>
                  <a:gd name="T2" fmla="*/ 254 w 825"/>
                  <a:gd name="T3" fmla="*/ 1521 h 2909"/>
                  <a:gd name="T4" fmla="*/ 482 w 825"/>
                  <a:gd name="T5" fmla="*/ 2246 h 2909"/>
                  <a:gd name="T6" fmla="*/ 824 w 825"/>
                  <a:gd name="T7" fmla="*/ 2909 h 2909"/>
                  <a:gd name="T8" fmla="*/ 825 w 825"/>
                  <a:gd name="T9" fmla="*/ 2909 h 2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5" h="2909">
                    <a:moveTo>
                      <a:pt x="0" y="0"/>
                    </a:moveTo>
                    <a:lnTo>
                      <a:pt x="254" y="1521"/>
                    </a:lnTo>
                    <a:lnTo>
                      <a:pt x="482" y="2246"/>
                    </a:lnTo>
                    <a:lnTo>
                      <a:pt x="824" y="2909"/>
                    </a:lnTo>
                    <a:lnTo>
                      <a:pt x="825" y="2909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2" name="Freeform 152"/>
              <p:cNvSpPr>
                <a:spLocks noChangeAspect="1" noChangeArrowheads="1"/>
              </p:cNvSpPr>
              <p:nvPr/>
            </p:nvSpPr>
            <p:spPr bwMode="auto">
              <a:xfrm>
                <a:off x="3962" y="3304"/>
                <a:ext cx="1150" cy="56"/>
              </a:xfrm>
              <a:custGeom>
                <a:avLst/>
                <a:gdLst>
                  <a:gd name="T0" fmla="*/ 0 w 5250"/>
                  <a:gd name="T1" fmla="*/ 134 h 259"/>
                  <a:gd name="T2" fmla="*/ 663 w 5250"/>
                  <a:gd name="T3" fmla="*/ 219 h 259"/>
                  <a:gd name="T4" fmla="*/ 994 w 5250"/>
                  <a:gd name="T5" fmla="*/ 248 h 259"/>
                  <a:gd name="T6" fmla="*/ 1324 w 5250"/>
                  <a:gd name="T7" fmla="*/ 259 h 259"/>
                  <a:gd name="T8" fmla="*/ 1652 w 5250"/>
                  <a:gd name="T9" fmla="*/ 248 h 259"/>
                  <a:gd name="T10" fmla="*/ 1979 w 5250"/>
                  <a:gd name="T11" fmla="*/ 209 h 259"/>
                  <a:gd name="T12" fmla="*/ 2629 w 5250"/>
                  <a:gd name="T13" fmla="*/ 85 h 259"/>
                  <a:gd name="T14" fmla="*/ 2956 w 5250"/>
                  <a:gd name="T15" fmla="*/ 29 h 259"/>
                  <a:gd name="T16" fmla="*/ 3285 w 5250"/>
                  <a:gd name="T17" fmla="*/ 0 h 259"/>
                  <a:gd name="T18" fmla="*/ 3616 w 5250"/>
                  <a:gd name="T19" fmla="*/ 0 h 259"/>
                  <a:gd name="T20" fmla="*/ 3946 w 5250"/>
                  <a:gd name="T21" fmla="*/ 22 h 259"/>
                  <a:gd name="T22" fmla="*/ 4274 w 5250"/>
                  <a:gd name="T23" fmla="*/ 62 h 259"/>
                  <a:gd name="T24" fmla="*/ 4600 w 5250"/>
                  <a:gd name="T25" fmla="*/ 115 h 259"/>
                  <a:gd name="T26" fmla="*/ 5249 w 5250"/>
                  <a:gd name="T27" fmla="*/ 251 h 259"/>
                  <a:gd name="T28" fmla="*/ 5250 w 5250"/>
                  <a:gd name="T29" fmla="*/ 25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50" h="259">
                    <a:moveTo>
                      <a:pt x="0" y="134"/>
                    </a:moveTo>
                    <a:lnTo>
                      <a:pt x="663" y="219"/>
                    </a:lnTo>
                    <a:lnTo>
                      <a:pt x="994" y="248"/>
                    </a:lnTo>
                    <a:lnTo>
                      <a:pt x="1324" y="259"/>
                    </a:lnTo>
                    <a:lnTo>
                      <a:pt x="1652" y="248"/>
                    </a:lnTo>
                    <a:lnTo>
                      <a:pt x="1979" y="209"/>
                    </a:lnTo>
                    <a:lnTo>
                      <a:pt x="2629" y="85"/>
                    </a:lnTo>
                    <a:lnTo>
                      <a:pt x="2956" y="29"/>
                    </a:lnTo>
                    <a:lnTo>
                      <a:pt x="3285" y="0"/>
                    </a:lnTo>
                    <a:lnTo>
                      <a:pt x="3616" y="0"/>
                    </a:lnTo>
                    <a:lnTo>
                      <a:pt x="3946" y="22"/>
                    </a:lnTo>
                    <a:lnTo>
                      <a:pt x="4274" y="62"/>
                    </a:lnTo>
                    <a:lnTo>
                      <a:pt x="4600" y="115"/>
                    </a:lnTo>
                    <a:lnTo>
                      <a:pt x="5249" y="251"/>
                    </a:lnTo>
                    <a:lnTo>
                      <a:pt x="5250" y="251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3" name="Freeform 153"/>
              <p:cNvSpPr>
                <a:spLocks noChangeAspect="1" noChangeArrowheads="1"/>
              </p:cNvSpPr>
              <p:nvPr/>
            </p:nvSpPr>
            <p:spPr bwMode="auto">
              <a:xfrm>
                <a:off x="3794" y="3341"/>
                <a:ext cx="66" cy="67"/>
              </a:xfrm>
              <a:custGeom>
                <a:avLst/>
                <a:gdLst>
                  <a:gd name="T0" fmla="*/ 0 w 304"/>
                  <a:gd name="T1" fmla="*/ 304 h 304"/>
                  <a:gd name="T2" fmla="*/ 303 w 304"/>
                  <a:gd name="T3" fmla="*/ 0 h 304"/>
                  <a:gd name="T4" fmla="*/ 304 w 304"/>
                  <a:gd name="T5" fmla="*/ 0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4" h="304">
                    <a:moveTo>
                      <a:pt x="0" y="304"/>
                    </a:moveTo>
                    <a:lnTo>
                      <a:pt x="303" y="0"/>
                    </a:lnTo>
                    <a:lnTo>
                      <a:pt x="304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4" name="Freeform 154"/>
              <p:cNvSpPr>
                <a:spLocks noChangeAspect="1" noChangeArrowheads="1"/>
              </p:cNvSpPr>
              <p:nvPr/>
            </p:nvSpPr>
            <p:spPr bwMode="auto">
              <a:xfrm>
                <a:off x="3857" y="3376"/>
                <a:ext cx="131" cy="132"/>
              </a:xfrm>
              <a:custGeom>
                <a:avLst/>
                <a:gdLst>
                  <a:gd name="T0" fmla="*/ 0 w 600"/>
                  <a:gd name="T1" fmla="*/ 598 h 598"/>
                  <a:gd name="T2" fmla="*/ 599 w 600"/>
                  <a:gd name="T3" fmla="*/ 0 h 598"/>
                  <a:gd name="T4" fmla="*/ 600 w 600"/>
                  <a:gd name="T5" fmla="*/ 0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0" h="598">
                    <a:moveTo>
                      <a:pt x="0" y="598"/>
                    </a:moveTo>
                    <a:lnTo>
                      <a:pt x="599" y="0"/>
                    </a:lnTo>
                    <a:lnTo>
                      <a:pt x="600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5" name="Freeform 155"/>
              <p:cNvSpPr>
                <a:spLocks noChangeAspect="1" noChangeArrowheads="1"/>
              </p:cNvSpPr>
              <p:nvPr/>
            </p:nvSpPr>
            <p:spPr bwMode="auto">
              <a:xfrm>
                <a:off x="3936" y="3466"/>
                <a:ext cx="129" cy="129"/>
              </a:xfrm>
              <a:custGeom>
                <a:avLst/>
                <a:gdLst>
                  <a:gd name="T0" fmla="*/ 0 w 593"/>
                  <a:gd name="T1" fmla="*/ 592 h 592"/>
                  <a:gd name="T2" fmla="*/ 592 w 593"/>
                  <a:gd name="T3" fmla="*/ 0 h 592"/>
                  <a:gd name="T4" fmla="*/ 593 w 593"/>
                  <a:gd name="T5" fmla="*/ 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3" h="592">
                    <a:moveTo>
                      <a:pt x="0" y="592"/>
                    </a:moveTo>
                    <a:lnTo>
                      <a:pt x="592" y="0"/>
                    </a:lnTo>
                    <a:lnTo>
                      <a:pt x="593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6" name="Freeform 156"/>
              <p:cNvSpPr>
                <a:spLocks noChangeAspect="1" noChangeArrowheads="1"/>
              </p:cNvSpPr>
              <p:nvPr/>
            </p:nvSpPr>
            <p:spPr bwMode="auto">
              <a:xfrm>
                <a:off x="4027" y="3536"/>
                <a:ext cx="131" cy="133"/>
              </a:xfrm>
              <a:custGeom>
                <a:avLst/>
                <a:gdLst>
                  <a:gd name="T0" fmla="*/ 0 w 606"/>
                  <a:gd name="T1" fmla="*/ 605 h 605"/>
                  <a:gd name="T2" fmla="*/ 605 w 606"/>
                  <a:gd name="T3" fmla="*/ 0 h 605"/>
                  <a:gd name="T4" fmla="*/ 606 w 606"/>
                  <a:gd name="T5" fmla="*/ 0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6" h="605">
                    <a:moveTo>
                      <a:pt x="0" y="605"/>
                    </a:moveTo>
                    <a:lnTo>
                      <a:pt x="605" y="0"/>
                    </a:lnTo>
                    <a:lnTo>
                      <a:pt x="606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7" name="Freeform 157"/>
              <p:cNvSpPr>
                <a:spLocks noChangeAspect="1" noChangeArrowheads="1"/>
              </p:cNvSpPr>
              <p:nvPr/>
            </p:nvSpPr>
            <p:spPr bwMode="auto">
              <a:xfrm>
                <a:off x="4027" y="3650"/>
                <a:ext cx="182" cy="184"/>
              </a:xfrm>
              <a:custGeom>
                <a:avLst/>
                <a:gdLst>
                  <a:gd name="T0" fmla="*/ 0 w 838"/>
                  <a:gd name="T1" fmla="*/ 837 h 837"/>
                  <a:gd name="T2" fmla="*/ 837 w 838"/>
                  <a:gd name="T3" fmla="*/ 0 h 837"/>
                  <a:gd name="T4" fmla="*/ 838 w 838"/>
                  <a:gd name="T5" fmla="*/ 0 h 8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8" h="837">
                    <a:moveTo>
                      <a:pt x="0" y="837"/>
                    </a:moveTo>
                    <a:lnTo>
                      <a:pt x="837" y="0"/>
                    </a:lnTo>
                    <a:lnTo>
                      <a:pt x="838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8" name="Freeform 158"/>
              <p:cNvSpPr>
                <a:spLocks noChangeAspect="1" noChangeArrowheads="1"/>
              </p:cNvSpPr>
              <p:nvPr/>
            </p:nvSpPr>
            <p:spPr bwMode="auto">
              <a:xfrm>
                <a:off x="4027" y="3814"/>
                <a:ext cx="182" cy="184"/>
              </a:xfrm>
              <a:custGeom>
                <a:avLst/>
                <a:gdLst>
                  <a:gd name="T0" fmla="*/ 0 w 838"/>
                  <a:gd name="T1" fmla="*/ 838 h 838"/>
                  <a:gd name="T2" fmla="*/ 837 w 838"/>
                  <a:gd name="T3" fmla="*/ 0 h 838"/>
                  <a:gd name="T4" fmla="*/ 838 w 838"/>
                  <a:gd name="T5" fmla="*/ 0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8" h="838">
                    <a:moveTo>
                      <a:pt x="0" y="838"/>
                    </a:moveTo>
                    <a:lnTo>
                      <a:pt x="837" y="0"/>
                    </a:lnTo>
                    <a:lnTo>
                      <a:pt x="838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9" name="Freeform 159"/>
              <p:cNvSpPr>
                <a:spLocks noChangeAspect="1" noChangeArrowheads="1"/>
              </p:cNvSpPr>
              <p:nvPr/>
            </p:nvSpPr>
            <p:spPr bwMode="auto">
              <a:xfrm>
                <a:off x="4179" y="3979"/>
                <a:ext cx="30" cy="30"/>
              </a:xfrm>
              <a:custGeom>
                <a:avLst/>
                <a:gdLst>
                  <a:gd name="T0" fmla="*/ 0 w 142"/>
                  <a:gd name="T1" fmla="*/ 141 h 141"/>
                  <a:gd name="T2" fmla="*/ 141 w 142"/>
                  <a:gd name="T3" fmla="*/ 0 h 141"/>
                  <a:gd name="T4" fmla="*/ 142 w 142"/>
                  <a:gd name="T5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2" h="141">
                    <a:moveTo>
                      <a:pt x="0" y="141"/>
                    </a:moveTo>
                    <a:lnTo>
                      <a:pt x="141" y="0"/>
                    </a:lnTo>
                    <a:lnTo>
                      <a:pt x="142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0" name="Freeform 160"/>
              <p:cNvSpPr>
                <a:spLocks noChangeAspect="1" noChangeArrowheads="1"/>
              </p:cNvSpPr>
              <p:nvPr/>
            </p:nvSpPr>
            <p:spPr bwMode="auto">
              <a:xfrm>
                <a:off x="4672" y="3338"/>
                <a:ext cx="344" cy="343"/>
              </a:xfrm>
              <a:custGeom>
                <a:avLst/>
                <a:gdLst>
                  <a:gd name="T0" fmla="*/ 0 w 1565"/>
                  <a:gd name="T1" fmla="*/ 1566 h 1566"/>
                  <a:gd name="T2" fmla="*/ 1564 w 1565"/>
                  <a:gd name="T3" fmla="*/ 0 h 1566"/>
                  <a:gd name="T4" fmla="*/ 1565 w 1565"/>
                  <a:gd name="T5" fmla="*/ 0 h 1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65" h="1566">
                    <a:moveTo>
                      <a:pt x="0" y="1566"/>
                    </a:moveTo>
                    <a:lnTo>
                      <a:pt x="1564" y="0"/>
                    </a:lnTo>
                    <a:lnTo>
                      <a:pt x="1565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1" name="Freeform 161"/>
              <p:cNvSpPr>
                <a:spLocks noChangeAspect="1" noChangeArrowheads="1"/>
              </p:cNvSpPr>
              <p:nvPr/>
            </p:nvSpPr>
            <p:spPr bwMode="auto">
              <a:xfrm>
                <a:off x="4672" y="3460"/>
                <a:ext cx="386" cy="386"/>
              </a:xfrm>
              <a:custGeom>
                <a:avLst/>
                <a:gdLst>
                  <a:gd name="T0" fmla="*/ 0 w 1761"/>
                  <a:gd name="T1" fmla="*/ 1760 h 1760"/>
                  <a:gd name="T2" fmla="*/ 1760 w 1761"/>
                  <a:gd name="T3" fmla="*/ 0 h 1760"/>
                  <a:gd name="T4" fmla="*/ 1761 w 1761"/>
                  <a:gd name="T5" fmla="*/ 0 h 17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61" h="1760">
                    <a:moveTo>
                      <a:pt x="0" y="1760"/>
                    </a:moveTo>
                    <a:lnTo>
                      <a:pt x="1760" y="0"/>
                    </a:lnTo>
                    <a:lnTo>
                      <a:pt x="1761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2" name="Freeform 162"/>
              <p:cNvSpPr>
                <a:spLocks noChangeAspect="1" noChangeArrowheads="1"/>
              </p:cNvSpPr>
              <p:nvPr/>
            </p:nvSpPr>
            <p:spPr bwMode="auto">
              <a:xfrm>
                <a:off x="4672" y="3827"/>
                <a:ext cx="184" cy="182"/>
              </a:xfrm>
              <a:custGeom>
                <a:avLst/>
                <a:gdLst>
                  <a:gd name="T0" fmla="*/ 0 w 836"/>
                  <a:gd name="T1" fmla="*/ 834 h 834"/>
                  <a:gd name="T2" fmla="*/ 835 w 836"/>
                  <a:gd name="T3" fmla="*/ 0 h 834"/>
                  <a:gd name="T4" fmla="*/ 836 w 836"/>
                  <a:gd name="T5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6" h="834">
                    <a:moveTo>
                      <a:pt x="0" y="834"/>
                    </a:moveTo>
                    <a:lnTo>
                      <a:pt x="835" y="0"/>
                    </a:lnTo>
                    <a:lnTo>
                      <a:pt x="836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3" name="Freeform 163"/>
              <p:cNvSpPr>
                <a:spLocks noChangeAspect="1" noChangeArrowheads="1"/>
              </p:cNvSpPr>
              <p:nvPr/>
            </p:nvSpPr>
            <p:spPr bwMode="auto">
              <a:xfrm>
                <a:off x="4837" y="3991"/>
                <a:ext cx="19" cy="18"/>
              </a:xfrm>
              <a:custGeom>
                <a:avLst/>
                <a:gdLst>
                  <a:gd name="T0" fmla="*/ 0 w 85"/>
                  <a:gd name="T1" fmla="*/ 83 h 83"/>
                  <a:gd name="T2" fmla="*/ 84 w 85"/>
                  <a:gd name="T3" fmla="*/ 0 h 83"/>
                  <a:gd name="T4" fmla="*/ 85 w 85"/>
                  <a:gd name="T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" h="83">
                    <a:moveTo>
                      <a:pt x="0" y="83"/>
                    </a:moveTo>
                    <a:lnTo>
                      <a:pt x="84" y="0"/>
                    </a:lnTo>
                    <a:lnTo>
                      <a:pt x="85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sp>
        <p:nvSpPr>
          <p:cNvPr id="164" name="Text Box 164"/>
          <p:cNvSpPr txBox="1">
            <a:spLocks noChangeArrowheads="1"/>
          </p:cNvSpPr>
          <p:nvPr/>
        </p:nvSpPr>
        <p:spPr bwMode="auto">
          <a:xfrm>
            <a:off x="1917701" y="4965701"/>
            <a:ext cx="85137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63538" indent="-363538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00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en-US" altLang="zh-CN" sz="2000"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zh-CN" altLang="en-US" sz="2000">
                <a:solidFill>
                  <a:srgbClr val="FF00FF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波浪线</a:t>
            </a:r>
            <a:r>
              <a:rPr lang="zh-CN" altLang="en-US" sz="2000">
                <a:latin typeface="华文细黑" panose="02010600040101010101" pitchFamily="2" charset="-122"/>
                <a:ea typeface="华文细黑" panose="02010600040101010101" pitchFamily="2" charset="-122"/>
              </a:rPr>
              <a:t>不要与图形中其他图线重合，也不要画在其他图线的延长线上。</a:t>
            </a:r>
            <a:endParaRPr lang="zh-CN" altLang="en-US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65" name="Text Box 168"/>
          <p:cNvSpPr txBox="1">
            <a:spLocks noChangeArrowheads="1"/>
          </p:cNvSpPr>
          <p:nvPr/>
        </p:nvSpPr>
        <p:spPr bwMode="auto">
          <a:xfrm>
            <a:off x="1905000" y="5503864"/>
            <a:ext cx="823753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63538" indent="-363538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00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en-US" altLang="zh-CN" sz="2000"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zh-CN" altLang="en-US" sz="2000">
                <a:solidFill>
                  <a:srgbClr val="FF00FF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波浪线</a:t>
            </a:r>
            <a:r>
              <a:rPr lang="zh-CN" altLang="en-US" sz="2000">
                <a:latin typeface="华文细黑" panose="02010600040101010101" pitchFamily="2" charset="-122"/>
                <a:ea typeface="华文细黑" panose="02010600040101010101" pitchFamily="2" charset="-122"/>
              </a:rPr>
              <a:t>只能画在机件表面的实体部分，不得</a:t>
            </a:r>
            <a:r>
              <a:rPr lang="zh-CN" altLang="en-US" sz="2000">
                <a:solidFill>
                  <a:srgbClr val="FF00FF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穿越孔或槽</a:t>
            </a:r>
            <a:r>
              <a:rPr lang="zh-CN" altLang="en-US" sz="2000">
                <a:latin typeface="华文细黑" panose="02010600040101010101" pitchFamily="2" charset="-122"/>
                <a:ea typeface="华文细黑" panose="02010600040101010101" pitchFamily="2" charset="-122"/>
              </a:rPr>
              <a:t>，也得不超出图形之外。</a:t>
            </a:r>
          </a:p>
        </p:txBody>
      </p:sp>
      <p:grpSp>
        <p:nvGrpSpPr>
          <p:cNvPr id="166" name="Group 169"/>
          <p:cNvGrpSpPr>
            <a:grpSpLocks/>
          </p:cNvGrpSpPr>
          <p:nvPr/>
        </p:nvGrpSpPr>
        <p:grpSpPr bwMode="auto">
          <a:xfrm>
            <a:off x="2328863" y="2806700"/>
            <a:ext cx="2711450" cy="1441450"/>
            <a:chOff x="2963" y="520"/>
            <a:chExt cx="1708" cy="908"/>
          </a:xfrm>
        </p:grpSpPr>
        <p:sp>
          <p:nvSpPr>
            <p:cNvPr id="167" name="Line 170"/>
            <p:cNvSpPr>
              <a:spLocks noChangeShapeType="1"/>
            </p:cNvSpPr>
            <p:nvPr/>
          </p:nvSpPr>
          <p:spPr bwMode="auto">
            <a:xfrm flipH="1" flipV="1">
              <a:off x="3065" y="1222"/>
              <a:ext cx="105" cy="101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" name="Line 171"/>
            <p:cNvSpPr>
              <a:spLocks noChangeShapeType="1"/>
            </p:cNvSpPr>
            <p:nvPr/>
          </p:nvSpPr>
          <p:spPr bwMode="auto">
            <a:xfrm>
              <a:off x="3170" y="1323"/>
              <a:ext cx="826" cy="1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" name="Line 172"/>
            <p:cNvSpPr>
              <a:spLocks noChangeShapeType="1"/>
            </p:cNvSpPr>
            <p:nvPr/>
          </p:nvSpPr>
          <p:spPr bwMode="auto">
            <a:xfrm>
              <a:off x="4098" y="726"/>
              <a:ext cx="1" cy="496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" name="Line 173"/>
            <p:cNvSpPr>
              <a:spLocks noChangeShapeType="1"/>
            </p:cNvSpPr>
            <p:nvPr/>
          </p:nvSpPr>
          <p:spPr bwMode="auto">
            <a:xfrm>
              <a:off x="3996" y="621"/>
              <a:ext cx="102" cy="105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1" name="Line 174"/>
            <p:cNvSpPr>
              <a:spLocks noChangeShapeType="1"/>
            </p:cNvSpPr>
            <p:nvPr/>
          </p:nvSpPr>
          <p:spPr bwMode="auto">
            <a:xfrm flipV="1">
              <a:off x="3996" y="1222"/>
              <a:ext cx="102" cy="101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2" name="Line 175"/>
            <p:cNvSpPr>
              <a:spLocks noChangeShapeType="1"/>
            </p:cNvSpPr>
            <p:nvPr/>
          </p:nvSpPr>
          <p:spPr bwMode="auto">
            <a:xfrm>
              <a:off x="3996" y="621"/>
              <a:ext cx="1" cy="702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3" name="Line 176"/>
            <p:cNvSpPr>
              <a:spLocks noChangeShapeType="1"/>
            </p:cNvSpPr>
            <p:nvPr/>
          </p:nvSpPr>
          <p:spPr bwMode="auto">
            <a:xfrm>
              <a:off x="3065" y="828"/>
              <a:ext cx="187" cy="1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" name="Line 177"/>
            <p:cNvSpPr>
              <a:spLocks noChangeShapeType="1"/>
            </p:cNvSpPr>
            <p:nvPr/>
          </p:nvSpPr>
          <p:spPr bwMode="auto">
            <a:xfrm>
              <a:off x="3252" y="621"/>
              <a:ext cx="1" cy="207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" name="Line 178"/>
            <p:cNvSpPr>
              <a:spLocks noChangeShapeType="1"/>
            </p:cNvSpPr>
            <p:nvPr/>
          </p:nvSpPr>
          <p:spPr bwMode="auto">
            <a:xfrm flipV="1">
              <a:off x="3170" y="828"/>
              <a:ext cx="1" cy="495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6" name="Line 179"/>
            <p:cNvSpPr>
              <a:spLocks noChangeShapeType="1"/>
            </p:cNvSpPr>
            <p:nvPr/>
          </p:nvSpPr>
          <p:spPr bwMode="auto">
            <a:xfrm>
              <a:off x="3065" y="828"/>
              <a:ext cx="1" cy="394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7" name="Line 180"/>
            <p:cNvSpPr>
              <a:spLocks noChangeShapeType="1"/>
            </p:cNvSpPr>
            <p:nvPr/>
          </p:nvSpPr>
          <p:spPr bwMode="auto">
            <a:xfrm>
              <a:off x="3252" y="621"/>
              <a:ext cx="744" cy="1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8" name="Line 181"/>
            <p:cNvSpPr>
              <a:spLocks noChangeShapeType="1"/>
            </p:cNvSpPr>
            <p:nvPr/>
          </p:nvSpPr>
          <p:spPr bwMode="auto">
            <a:xfrm>
              <a:off x="3685" y="621"/>
              <a:ext cx="1" cy="702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9" name="Line 182"/>
            <p:cNvSpPr>
              <a:spLocks noChangeShapeType="1"/>
            </p:cNvSpPr>
            <p:nvPr/>
          </p:nvSpPr>
          <p:spPr bwMode="auto">
            <a:xfrm>
              <a:off x="3478" y="621"/>
              <a:ext cx="1" cy="702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0" name="Freeform 183"/>
            <p:cNvSpPr>
              <a:spLocks noChangeArrowheads="1"/>
            </p:cNvSpPr>
            <p:nvPr/>
          </p:nvSpPr>
          <p:spPr bwMode="auto">
            <a:xfrm>
              <a:off x="4453" y="726"/>
              <a:ext cx="58" cy="246"/>
            </a:xfrm>
            <a:custGeom>
              <a:avLst/>
              <a:gdLst>
                <a:gd name="T0" fmla="*/ 15 w 15"/>
                <a:gd name="T1" fmla="*/ 0 h 63"/>
                <a:gd name="T2" fmla="*/ 9 w 15"/>
                <a:gd name="T3" fmla="*/ 6 h 63"/>
                <a:gd name="T4" fmla="*/ 4 w 15"/>
                <a:gd name="T5" fmla="*/ 14 h 63"/>
                <a:gd name="T6" fmla="*/ 1 w 15"/>
                <a:gd name="T7" fmla="*/ 22 h 63"/>
                <a:gd name="T8" fmla="*/ 0 w 15"/>
                <a:gd name="T9" fmla="*/ 31 h 63"/>
                <a:gd name="T10" fmla="*/ 1 w 15"/>
                <a:gd name="T11" fmla="*/ 40 h 63"/>
                <a:gd name="T12" fmla="*/ 4 w 15"/>
                <a:gd name="T13" fmla="*/ 49 h 63"/>
                <a:gd name="T14" fmla="*/ 9 w 15"/>
                <a:gd name="T15" fmla="*/ 57 h 63"/>
                <a:gd name="T16" fmla="*/ 15 w 15"/>
                <a:gd name="T17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63">
                  <a:moveTo>
                    <a:pt x="15" y="0"/>
                  </a:moveTo>
                  <a:lnTo>
                    <a:pt x="9" y="6"/>
                  </a:lnTo>
                  <a:lnTo>
                    <a:pt x="4" y="14"/>
                  </a:lnTo>
                  <a:lnTo>
                    <a:pt x="1" y="22"/>
                  </a:lnTo>
                  <a:lnTo>
                    <a:pt x="0" y="31"/>
                  </a:lnTo>
                  <a:lnTo>
                    <a:pt x="1" y="40"/>
                  </a:lnTo>
                  <a:lnTo>
                    <a:pt x="4" y="49"/>
                  </a:lnTo>
                  <a:lnTo>
                    <a:pt x="9" y="57"/>
                  </a:lnTo>
                  <a:lnTo>
                    <a:pt x="15" y="63"/>
                  </a:lnTo>
                </a:path>
              </a:pathLst>
            </a:cu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1" name="Freeform 184"/>
            <p:cNvSpPr>
              <a:spLocks noChangeArrowheads="1"/>
            </p:cNvSpPr>
            <p:nvPr/>
          </p:nvSpPr>
          <p:spPr bwMode="auto">
            <a:xfrm>
              <a:off x="4511" y="972"/>
              <a:ext cx="66" cy="250"/>
            </a:xfrm>
            <a:custGeom>
              <a:avLst/>
              <a:gdLst>
                <a:gd name="T0" fmla="*/ 0 w 17"/>
                <a:gd name="T1" fmla="*/ 64 h 64"/>
                <a:gd name="T2" fmla="*/ 7 w 17"/>
                <a:gd name="T3" fmla="*/ 58 h 64"/>
                <a:gd name="T4" fmla="*/ 13 w 17"/>
                <a:gd name="T5" fmla="*/ 50 h 64"/>
                <a:gd name="T6" fmla="*/ 16 w 17"/>
                <a:gd name="T7" fmla="*/ 41 h 64"/>
                <a:gd name="T8" fmla="*/ 17 w 17"/>
                <a:gd name="T9" fmla="*/ 32 h 64"/>
                <a:gd name="T10" fmla="*/ 16 w 17"/>
                <a:gd name="T11" fmla="*/ 23 h 64"/>
                <a:gd name="T12" fmla="*/ 13 w 17"/>
                <a:gd name="T13" fmla="*/ 14 h 64"/>
                <a:gd name="T14" fmla="*/ 7 w 17"/>
                <a:gd name="T15" fmla="*/ 6 h 64"/>
                <a:gd name="T16" fmla="*/ 0 w 17"/>
                <a:gd name="T1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64">
                  <a:moveTo>
                    <a:pt x="0" y="64"/>
                  </a:moveTo>
                  <a:lnTo>
                    <a:pt x="7" y="58"/>
                  </a:lnTo>
                  <a:lnTo>
                    <a:pt x="13" y="50"/>
                  </a:lnTo>
                  <a:lnTo>
                    <a:pt x="16" y="41"/>
                  </a:lnTo>
                  <a:lnTo>
                    <a:pt x="17" y="32"/>
                  </a:lnTo>
                  <a:lnTo>
                    <a:pt x="16" y="23"/>
                  </a:lnTo>
                  <a:lnTo>
                    <a:pt x="13" y="14"/>
                  </a:lnTo>
                  <a:lnTo>
                    <a:pt x="7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2" name="Freeform 185"/>
            <p:cNvSpPr>
              <a:spLocks noChangeArrowheads="1"/>
            </p:cNvSpPr>
            <p:nvPr/>
          </p:nvSpPr>
          <p:spPr bwMode="auto">
            <a:xfrm>
              <a:off x="4511" y="726"/>
              <a:ext cx="58" cy="246"/>
            </a:xfrm>
            <a:custGeom>
              <a:avLst/>
              <a:gdLst>
                <a:gd name="T0" fmla="*/ 0 w 15"/>
                <a:gd name="T1" fmla="*/ 63 h 63"/>
                <a:gd name="T2" fmla="*/ 6 w 15"/>
                <a:gd name="T3" fmla="*/ 57 h 63"/>
                <a:gd name="T4" fmla="*/ 11 w 15"/>
                <a:gd name="T5" fmla="*/ 49 h 63"/>
                <a:gd name="T6" fmla="*/ 14 w 15"/>
                <a:gd name="T7" fmla="*/ 40 h 63"/>
                <a:gd name="T8" fmla="*/ 15 w 15"/>
                <a:gd name="T9" fmla="*/ 31 h 63"/>
                <a:gd name="T10" fmla="*/ 14 w 15"/>
                <a:gd name="T11" fmla="*/ 22 h 63"/>
                <a:gd name="T12" fmla="*/ 11 w 15"/>
                <a:gd name="T13" fmla="*/ 14 h 63"/>
                <a:gd name="T14" fmla="*/ 6 w 15"/>
                <a:gd name="T15" fmla="*/ 6 h 63"/>
                <a:gd name="T16" fmla="*/ 0 w 15"/>
                <a:gd name="T1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63">
                  <a:moveTo>
                    <a:pt x="0" y="63"/>
                  </a:moveTo>
                  <a:lnTo>
                    <a:pt x="6" y="57"/>
                  </a:lnTo>
                  <a:lnTo>
                    <a:pt x="11" y="49"/>
                  </a:lnTo>
                  <a:lnTo>
                    <a:pt x="14" y="40"/>
                  </a:lnTo>
                  <a:lnTo>
                    <a:pt x="15" y="31"/>
                  </a:lnTo>
                  <a:lnTo>
                    <a:pt x="14" y="22"/>
                  </a:lnTo>
                  <a:lnTo>
                    <a:pt x="11" y="14"/>
                  </a:lnTo>
                  <a:lnTo>
                    <a:pt x="6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3" name="Line 186"/>
            <p:cNvSpPr>
              <a:spLocks noChangeShapeType="1"/>
            </p:cNvSpPr>
            <p:nvPr/>
          </p:nvSpPr>
          <p:spPr bwMode="auto">
            <a:xfrm>
              <a:off x="4098" y="726"/>
              <a:ext cx="413" cy="1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" name="Line 187"/>
            <p:cNvSpPr>
              <a:spLocks noChangeShapeType="1"/>
            </p:cNvSpPr>
            <p:nvPr/>
          </p:nvSpPr>
          <p:spPr bwMode="auto">
            <a:xfrm>
              <a:off x="4098" y="1222"/>
              <a:ext cx="413" cy="1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" name="Freeform 188"/>
            <p:cNvSpPr>
              <a:spLocks noChangeArrowheads="1"/>
            </p:cNvSpPr>
            <p:nvPr/>
          </p:nvSpPr>
          <p:spPr bwMode="auto">
            <a:xfrm>
              <a:off x="3774" y="621"/>
              <a:ext cx="51" cy="702"/>
            </a:xfrm>
            <a:custGeom>
              <a:avLst/>
              <a:gdLst>
                <a:gd name="T0" fmla="*/ 47 w 51"/>
                <a:gd name="T1" fmla="*/ 12 h 702"/>
                <a:gd name="T2" fmla="*/ 39 w 51"/>
                <a:gd name="T3" fmla="*/ 27 h 702"/>
                <a:gd name="T4" fmla="*/ 35 w 51"/>
                <a:gd name="T5" fmla="*/ 43 h 702"/>
                <a:gd name="T6" fmla="*/ 28 w 51"/>
                <a:gd name="T7" fmla="*/ 62 h 702"/>
                <a:gd name="T8" fmla="*/ 24 w 51"/>
                <a:gd name="T9" fmla="*/ 78 h 702"/>
                <a:gd name="T10" fmla="*/ 16 w 51"/>
                <a:gd name="T11" fmla="*/ 94 h 702"/>
                <a:gd name="T12" fmla="*/ 12 w 51"/>
                <a:gd name="T13" fmla="*/ 113 h 702"/>
                <a:gd name="T14" fmla="*/ 8 w 51"/>
                <a:gd name="T15" fmla="*/ 129 h 702"/>
                <a:gd name="T16" fmla="*/ 8 w 51"/>
                <a:gd name="T17" fmla="*/ 148 h 702"/>
                <a:gd name="T18" fmla="*/ 12 w 51"/>
                <a:gd name="T19" fmla="*/ 164 h 702"/>
                <a:gd name="T20" fmla="*/ 16 w 51"/>
                <a:gd name="T21" fmla="*/ 179 h 702"/>
                <a:gd name="T22" fmla="*/ 16 w 51"/>
                <a:gd name="T23" fmla="*/ 191 h 702"/>
                <a:gd name="T24" fmla="*/ 20 w 51"/>
                <a:gd name="T25" fmla="*/ 207 h 702"/>
                <a:gd name="T26" fmla="*/ 20 w 51"/>
                <a:gd name="T27" fmla="*/ 218 h 702"/>
                <a:gd name="T28" fmla="*/ 20 w 51"/>
                <a:gd name="T29" fmla="*/ 234 h 702"/>
                <a:gd name="T30" fmla="*/ 16 w 51"/>
                <a:gd name="T31" fmla="*/ 250 h 702"/>
                <a:gd name="T32" fmla="*/ 12 w 51"/>
                <a:gd name="T33" fmla="*/ 261 h 702"/>
                <a:gd name="T34" fmla="*/ 8 w 51"/>
                <a:gd name="T35" fmla="*/ 277 h 702"/>
                <a:gd name="T36" fmla="*/ 8 w 51"/>
                <a:gd name="T37" fmla="*/ 289 h 702"/>
                <a:gd name="T38" fmla="*/ 4 w 51"/>
                <a:gd name="T39" fmla="*/ 304 h 702"/>
                <a:gd name="T40" fmla="*/ 8 w 51"/>
                <a:gd name="T41" fmla="*/ 316 h 702"/>
                <a:gd name="T42" fmla="*/ 12 w 51"/>
                <a:gd name="T43" fmla="*/ 331 h 702"/>
                <a:gd name="T44" fmla="*/ 16 w 51"/>
                <a:gd name="T45" fmla="*/ 343 h 702"/>
                <a:gd name="T46" fmla="*/ 16 w 51"/>
                <a:gd name="T47" fmla="*/ 359 h 702"/>
                <a:gd name="T48" fmla="*/ 20 w 51"/>
                <a:gd name="T49" fmla="*/ 370 h 702"/>
                <a:gd name="T50" fmla="*/ 20 w 51"/>
                <a:gd name="T51" fmla="*/ 382 h 702"/>
                <a:gd name="T52" fmla="*/ 20 w 51"/>
                <a:gd name="T53" fmla="*/ 394 h 702"/>
                <a:gd name="T54" fmla="*/ 20 w 51"/>
                <a:gd name="T55" fmla="*/ 406 h 702"/>
                <a:gd name="T56" fmla="*/ 16 w 51"/>
                <a:gd name="T57" fmla="*/ 417 h 702"/>
                <a:gd name="T58" fmla="*/ 12 w 51"/>
                <a:gd name="T59" fmla="*/ 429 h 702"/>
                <a:gd name="T60" fmla="*/ 8 w 51"/>
                <a:gd name="T61" fmla="*/ 441 h 702"/>
                <a:gd name="T62" fmla="*/ 4 w 51"/>
                <a:gd name="T63" fmla="*/ 452 h 702"/>
                <a:gd name="T64" fmla="*/ 0 w 51"/>
                <a:gd name="T65" fmla="*/ 464 h 702"/>
                <a:gd name="T66" fmla="*/ 0 w 51"/>
                <a:gd name="T67" fmla="*/ 480 h 702"/>
                <a:gd name="T68" fmla="*/ 0 w 51"/>
                <a:gd name="T69" fmla="*/ 491 h 702"/>
                <a:gd name="T70" fmla="*/ 4 w 51"/>
                <a:gd name="T71" fmla="*/ 503 h 702"/>
                <a:gd name="T72" fmla="*/ 8 w 51"/>
                <a:gd name="T73" fmla="*/ 519 h 702"/>
                <a:gd name="T74" fmla="*/ 12 w 51"/>
                <a:gd name="T75" fmla="*/ 538 h 702"/>
                <a:gd name="T76" fmla="*/ 16 w 51"/>
                <a:gd name="T77" fmla="*/ 558 h 702"/>
                <a:gd name="T78" fmla="*/ 20 w 51"/>
                <a:gd name="T79" fmla="*/ 577 h 702"/>
                <a:gd name="T80" fmla="*/ 20 w 51"/>
                <a:gd name="T81" fmla="*/ 597 h 702"/>
                <a:gd name="T82" fmla="*/ 16 w 51"/>
                <a:gd name="T83" fmla="*/ 616 h 702"/>
                <a:gd name="T84" fmla="*/ 16 w 51"/>
                <a:gd name="T85" fmla="*/ 636 h 702"/>
                <a:gd name="T86" fmla="*/ 12 w 51"/>
                <a:gd name="T87" fmla="*/ 655 h 702"/>
                <a:gd name="T88" fmla="*/ 8 w 51"/>
                <a:gd name="T89" fmla="*/ 675 h 702"/>
                <a:gd name="T90" fmla="*/ 8 w 51"/>
                <a:gd name="T91" fmla="*/ 694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702">
                  <a:moveTo>
                    <a:pt x="51" y="0"/>
                  </a:moveTo>
                  <a:lnTo>
                    <a:pt x="47" y="4"/>
                  </a:lnTo>
                  <a:lnTo>
                    <a:pt x="47" y="12"/>
                  </a:lnTo>
                  <a:lnTo>
                    <a:pt x="43" y="16"/>
                  </a:lnTo>
                  <a:lnTo>
                    <a:pt x="43" y="23"/>
                  </a:lnTo>
                  <a:lnTo>
                    <a:pt x="39" y="27"/>
                  </a:lnTo>
                  <a:lnTo>
                    <a:pt x="39" y="35"/>
                  </a:lnTo>
                  <a:lnTo>
                    <a:pt x="35" y="39"/>
                  </a:lnTo>
                  <a:lnTo>
                    <a:pt x="35" y="43"/>
                  </a:lnTo>
                  <a:lnTo>
                    <a:pt x="31" y="51"/>
                  </a:lnTo>
                  <a:lnTo>
                    <a:pt x="31" y="55"/>
                  </a:lnTo>
                  <a:lnTo>
                    <a:pt x="28" y="62"/>
                  </a:lnTo>
                  <a:lnTo>
                    <a:pt x="28" y="66"/>
                  </a:lnTo>
                  <a:lnTo>
                    <a:pt x="24" y="74"/>
                  </a:lnTo>
                  <a:lnTo>
                    <a:pt x="24" y="78"/>
                  </a:lnTo>
                  <a:lnTo>
                    <a:pt x="20" y="82"/>
                  </a:lnTo>
                  <a:lnTo>
                    <a:pt x="20" y="90"/>
                  </a:lnTo>
                  <a:lnTo>
                    <a:pt x="16" y="94"/>
                  </a:lnTo>
                  <a:lnTo>
                    <a:pt x="16" y="101"/>
                  </a:lnTo>
                  <a:lnTo>
                    <a:pt x="12" y="105"/>
                  </a:lnTo>
                  <a:lnTo>
                    <a:pt x="12" y="113"/>
                  </a:lnTo>
                  <a:lnTo>
                    <a:pt x="12" y="117"/>
                  </a:lnTo>
                  <a:lnTo>
                    <a:pt x="12" y="125"/>
                  </a:lnTo>
                  <a:lnTo>
                    <a:pt x="8" y="129"/>
                  </a:lnTo>
                  <a:lnTo>
                    <a:pt x="8" y="136"/>
                  </a:lnTo>
                  <a:lnTo>
                    <a:pt x="8" y="140"/>
                  </a:lnTo>
                  <a:lnTo>
                    <a:pt x="8" y="148"/>
                  </a:lnTo>
                  <a:lnTo>
                    <a:pt x="8" y="152"/>
                  </a:lnTo>
                  <a:lnTo>
                    <a:pt x="12" y="160"/>
                  </a:lnTo>
                  <a:lnTo>
                    <a:pt x="12" y="164"/>
                  </a:lnTo>
                  <a:lnTo>
                    <a:pt x="12" y="172"/>
                  </a:lnTo>
                  <a:lnTo>
                    <a:pt x="12" y="175"/>
                  </a:lnTo>
                  <a:lnTo>
                    <a:pt x="16" y="179"/>
                  </a:lnTo>
                  <a:lnTo>
                    <a:pt x="16" y="183"/>
                  </a:lnTo>
                  <a:lnTo>
                    <a:pt x="16" y="187"/>
                  </a:lnTo>
                  <a:lnTo>
                    <a:pt x="16" y="191"/>
                  </a:lnTo>
                  <a:lnTo>
                    <a:pt x="20" y="199"/>
                  </a:lnTo>
                  <a:lnTo>
                    <a:pt x="20" y="203"/>
                  </a:lnTo>
                  <a:lnTo>
                    <a:pt x="20" y="207"/>
                  </a:lnTo>
                  <a:lnTo>
                    <a:pt x="20" y="211"/>
                  </a:lnTo>
                  <a:lnTo>
                    <a:pt x="20" y="214"/>
                  </a:lnTo>
                  <a:lnTo>
                    <a:pt x="20" y="218"/>
                  </a:lnTo>
                  <a:lnTo>
                    <a:pt x="20" y="226"/>
                  </a:lnTo>
                  <a:lnTo>
                    <a:pt x="20" y="230"/>
                  </a:lnTo>
                  <a:lnTo>
                    <a:pt x="20" y="234"/>
                  </a:lnTo>
                  <a:lnTo>
                    <a:pt x="16" y="238"/>
                  </a:lnTo>
                  <a:lnTo>
                    <a:pt x="16" y="242"/>
                  </a:lnTo>
                  <a:lnTo>
                    <a:pt x="16" y="250"/>
                  </a:lnTo>
                  <a:lnTo>
                    <a:pt x="16" y="253"/>
                  </a:lnTo>
                  <a:lnTo>
                    <a:pt x="12" y="257"/>
                  </a:lnTo>
                  <a:lnTo>
                    <a:pt x="12" y="261"/>
                  </a:lnTo>
                  <a:lnTo>
                    <a:pt x="12" y="265"/>
                  </a:lnTo>
                  <a:lnTo>
                    <a:pt x="8" y="269"/>
                  </a:lnTo>
                  <a:lnTo>
                    <a:pt x="8" y="277"/>
                  </a:lnTo>
                  <a:lnTo>
                    <a:pt x="8" y="281"/>
                  </a:lnTo>
                  <a:lnTo>
                    <a:pt x="8" y="285"/>
                  </a:lnTo>
                  <a:lnTo>
                    <a:pt x="8" y="289"/>
                  </a:lnTo>
                  <a:lnTo>
                    <a:pt x="4" y="292"/>
                  </a:lnTo>
                  <a:lnTo>
                    <a:pt x="4" y="300"/>
                  </a:lnTo>
                  <a:lnTo>
                    <a:pt x="4" y="304"/>
                  </a:lnTo>
                  <a:lnTo>
                    <a:pt x="4" y="308"/>
                  </a:lnTo>
                  <a:lnTo>
                    <a:pt x="8" y="312"/>
                  </a:lnTo>
                  <a:lnTo>
                    <a:pt x="8" y="316"/>
                  </a:lnTo>
                  <a:lnTo>
                    <a:pt x="8" y="320"/>
                  </a:lnTo>
                  <a:lnTo>
                    <a:pt x="8" y="328"/>
                  </a:lnTo>
                  <a:lnTo>
                    <a:pt x="12" y="331"/>
                  </a:lnTo>
                  <a:lnTo>
                    <a:pt x="12" y="335"/>
                  </a:lnTo>
                  <a:lnTo>
                    <a:pt x="12" y="339"/>
                  </a:lnTo>
                  <a:lnTo>
                    <a:pt x="16" y="343"/>
                  </a:lnTo>
                  <a:lnTo>
                    <a:pt x="16" y="347"/>
                  </a:lnTo>
                  <a:lnTo>
                    <a:pt x="16" y="351"/>
                  </a:lnTo>
                  <a:lnTo>
                    <a:pt x="16" y="359"/>
                  </a:lnTo>
                  <a:lnTo>
                    <a:pt x="20" y="363"/>
                  </a:lnTo>
                  <a:lnTo>
                    <a:pt x="20" y="367"/>
                  </a:lnTo>
                  <a:lnTo>
                    <a:pt x="20" y="370"/>
                  </a:lnTo>
                  <a:lnTo>
                    <a:pt x="20" y="374"/>
                  </a:lnTo>
                  <a:lnTo>
                    <a:pt x="20" y="378"/>
                  </a:lnTo>
                  <a:lnTo>
                    <a:pt x="20" y="382"/>
                  </a:lnTo>
                  <a:lnTo>
                    <a:pt x="20" y="386"/>
                  </a:lnTo>
                  <a:lnTo>
                    <a:pt x="20" y="390"/>
                  </a:lnTo>
                  <a:lnTo>
                    <a:pt x="20" y="394"/>
                  </a:lnTo>
                  <a:lnTo>
                    <a:pt x="20" y="398"/>
                  </a:lnTo>
                  <a:lnTo>
                    <a:pt x="20" y="402"/>
                  </a:lnTo>
                  <a:lnTo>
                    <a:pt x="20" y="406"/>
                  </a:lnTo>
                  <a:lnTo>
                    <a:pt x="16" y="409"/>
                  </a:lnTo>
                  <a:lnTo>
                    <a:pt x="16" y="413"/>
                  </a:lnTo>
                  <a:lnTo>
                    <a:pt x="16" y="417"/>
                  </a:lnTo>
                  <a:lnTo>
                    <a:pt x="12" y="421"/>
                  </a:lnTo>
                  <a:lnTo>
                    <a:pt x="12" y="425"/>
                  </a:lnTo>
                  <a:lnTo>
                    <a:pt x="12" y="429"/>
                  </a:lnTo>
                  <a:lnTo>
                    <a:pt x="8" y="433"/>
                  </a:lnTo>
                  <a:lnTo>
                    <a:pt x="8" y="437"/>
                  </a:lnTo>
                  <a:lnTo>
                    <a:pt x="8" y="441"/>
                  </a:lnTo>
                  <a:lnTo>
                    <a:pt x="4" y="445"/>
                  </a:lnTo>
                  <a:lnTo>
                    <a:pt x="4" y="448"/>
                  </a:lnTo>
                  <a:lnTo>
                    <a:pt x="4" y="452"/>
                  </a:lnTo>
                  <a:lnTo>
                    <a:pt x="0" y="456"/>
                  </a:lnTo>
                  <a:lnTo>
                    <a:pt x="0" y="460"/>
                  </a:lnTo>
                  <a:lnTo>
                    <a:pt x="0" y="464"/>
                  </a:lnTo>
                  <a:lnTo>
                    <a:pt x="0" y="468"/>
                  </a:lnTo>
                  <a:lnTo>
                    <a:pt x="0" y="472"/>
                  </a:lnTo>
                  <a:lnTo>
                    <a:pt x="0" y="480"/>
                  </a:lnTo>
                  <a:lnTo>
                    <a:pt x="0" y="484"/>
                  </a:lnTo>
                  <a:lnTo>
                    <a:pt x="0" y="487"/>
                  </a:lnTo>
                  <a:lnTo>
                    <a:pt x="0" y="491"/>
                  </a:lnTo>
                  <a:lnTo>
                    <a:pt x="4" y="495"/>
                  </a:lnTo>
                  <a:lnTo>
                    <a:pt x="4" y="499"/>
                  </a:lnTo>
                  <a:lnTo>
                    <a:pt x="4" y="503"/>
                  </a:lnTo>
                  <a:lnTo>
                    <a:pt x="4" y="507"/>
                  </a:lnTo>
                  <a:lnTo>
                    <a:pt x="8" y="511"/>
                  </a:lnTo>
                  <a:lnTo>
                    <a:pt x="8" y="519"/>
                  </a:lnTo>
                  <a:lnTo>
                    <a:pt x="8" y="523"/>
                  </a:lnTo>
                  <a:lnTo>
                    <a:pt x="12" y="530"/>
                  </a:lnTo>
                  <a:lnTo>
                    <a:pt x="12" y="538"/>
                  </a:lnTo>
                  <a:lnTo>
                    <a:pt x="16" y="542"/>
                  </a:lnTo>
                  <a:lnTo>
                    <a:pt x="16" y="550"/>
                  </a:lnTo>
                  <a:lnTo>
                    <a:pt x="16" y="558"/>
                  </a:lnTo>
                  <a:lnTo>
                    <a:pt x="16" y="562"/>
                  </a:lnTo>
                  <a:lnTo>
                    <a:pt x="16" y="569"/>
                  </a:lnTo>
                  <a:lnTo>
                    <a:pt x="20" y="577"/>
                  </a:lnTo>
                  <a:lnTo>
                    <a:pt x="20" y="581"/>
                  </a:lnTo>
                  <a:lnTo>
                    <a:pt x="20" y="589"/>
                  </a:lnTo>
                  <a:lnTo>
                    <a:pt x="20" y="597"/>
                  </a:lnTo>
                  <a:lnTo>
                    <a:pt x="16" y="604"/>
                  </a:lnTo>
                  <a:lnTo>
                    <a:pt x="16" y="608"/>
                  </a:lnTo>
                  <a:lnTo>
                    <a:pt x="16" y="616"/>
                  </a:lnTo>
                  <a:lnTo>
                    <a:pt x="16" y="624"/>
                  </a:lnTo>
                  <a:lnTo>
                    <a:pt x="16" y="628"/>
                  </a:lnTo>
                  <a:lnTo>
                    <a:pt x="16" y="636"/>
                  </a:lnTo>
                  <a:lnTo>
                    <a:pt x="12" y="643"/>
                  </a:lnTo>
                  <a:lnTo>
                    <a:pt x="12" y="651"/>
                  </a:lnTo>
                  <a:lnTo>
                    <a:pt x="12" y="655"/>
                  </a:lnTo>
                  <a:lnTo>
                    <a:pt x="12" y="663"/>
                  </a:lnTo>
                  <a:lnTo>
                    <a:pt x="8" y="671"/>
                  </a:lnTo>
                  <a:lnTo>
                    <a:pt x="8" y="675"/>
                  </a:lnTo>
                  <a:lnTo>
                    <a:pt x="8" y="682"/>
                  </a:lnTo>
                  <a:lnTo>
                    <a:pt x="8" y="690"/>
                  </a:lnTo>
                  <a:lnTo>
                    <a:pt x="8" y="694"/>
                  </a:lnTo>
                  <a:lnTo>
                    <a:pt x="8" y="702"/>
                  </a:lnTo>
                </a:path>
              </a:pathLst>
            </a:cu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6" name="Freeform 189"/>
            <p:cNvSpPr>
              <a:spLocks noChangeArrowheads="1"/>
            </p:cNvSpPr>
            <p:nvPr/>
          </p:nvSpPr>
          <p:spPr bwMode="auto">
            <a:xfrm>
              <a:off x="3330" y="621"/>
              <a:ext cx="50" cy="702"/>
            </a:xfrm>
            <a:custGeom>
              <a:avLst/>
              <a:gdLst>
                <a:gd name="T0" fmla="*/ 47 w 50"/>
                <a:gd name="T1" fmla="*/ 12 h 702"/>
                <a:gd name="T2" fmla="*/ 43 w 50"/>
                <a:gd name="T3" fmla="*/ 27 h 702"/>
                <a:gd name="T4" fmla="*/ 39 w 50"/>
                <a:gd name="T5" fmla="*/ 43 h 702"/>
                <a:gd name="T6" fmla="*/ 35 w 50"/>
                <a:gd name="T7" fmla="*/ 62 h 702"/>
                <a:gd name="T8" fmla="*/ 35 w 50"/>
                <a:gd name="T9" fmla="*/ 78 h 702"/>
                <a:gd name="T10" fmla="*/ 35 w 50"/>
                <a:gd name="T11" fmla="*/ 97 h 702"/>
                <a:gd name="T12" fmla="*/ 39 w 50"/>
                <a:gd name="T13" fmla="*/ 113 h 702"/>
                <a:gd name="T14" fmla="*/ 43 w 50"/>
                <a:gd name="T15" fmla="*/ 133 h 702"/>
                <a:gd name="T16" fmla="*/ 43 w 50"/>
                <a:gd name="T17" fmla="*/ 144 h 702"/>
                <a:gd name="T18" fmla="*/ 47 w 50"/>
                <a:gd name="T19" fmla="*/ 156 h 702"/>
                <a:gd name="T20" fmla="*/ 47 w 50"/>
                <a:gd name="T21" fmla="*/ 172 h 702"/>
                <a:gd name="T22" fmla="*/ 47 w 50"/>
                <a:gd name="T23" fmla="*/ 183 h 702"/>
                <a:gd name="T24" fmla="*/ 43 w 50"/>
                <a:gd name="T25" fmla="*/ 195 h 702"/>
                <a:gd name="T26" fmla="*/ 39 w 50"/>
                <a:gd name="T27" fmla="*/ 207 h 702"/>
                <a:gd name="T28" fmla="*/ 35 w 50"/>
                <a:gd name="T29" fmla="*/ 222 h 702"/>
                <a:gd name="T30" fmla="*/ 27 w 50"/>
                <a:gd name="T31" fmla="*/ 234 h 702"/>
                <a:gd name="T32" fmla="*/ 27 w 50"/>
                <a:gd name="T33" fmla="*/ 246 h 702"/>
                <a:gd name="T34" fmla="*/ 23 w 50"/>
                <a:gd name="T35" fmla="*/ 257 h 702"/>
                <a:gd name="T36" fmla="*/ 23 w 50"/>
                <a:gd name="T37" fmla="*/ 273 h 702"/>
                <a:gd name="T38" fmla="*/ 23 w 50"/>
                <a:gd name="T39" fmla="*/ 285 h 702"/>
                <a:gd name="T40" fmla="*/ 27 w 50"/>
                <a:gd name="T41" fmla="*/ 296 h 702"/>
                <a:gd name="T42" fmla="*/ 31 w 50"/>
                <a:gd name="T43" fmla="*/ 312 h 702"/>
                <a:gd name="T44" fmla="*/ 35 w 50"/>
                <a:gd name="T45" fmla="*/ 328 h 702"/>
                <a:gd name="T46" fmla="*/ 35 w 50"/>
                <a:gd name="T47" fmla="*/ 343 h 702"/>
                <a:gd name="T48" fmla="*/ 35 w 50"/>
                <a:gd name="T49" fmla="*/ 359 h 702"/>
                <a:gd name="T50" fmla="*/ 31 w 50"/>
                <a:gd name="T51" fmla="*/ 370 h 702"/>
                <a:gd name="T52" fmla="*/ 27 w 50"/>
                <a:gd name="T53" fmla="*/ 386 h 702"/>
                <a:gd name="T54" fmla="*/ 23 w 50"/>
                <a:gd name="T55" fmla="*/ 402 h 702"/>
                <a:gd name="T56" fmla="*/ 19 w 50"/>
                <a:gd name="T57" fmla="*/ 417 h 702"/>
                <a:gd name="T58" fmla="*/ 15 w 50"/>
                <a:gd name="T59" fmla="*/ 433 h 702"/>
                <a:gd name="T60" fmla="*/ 15 w 50"/>
                <a:gd name="T61" fmla="*/ 448 h 702"/>
                <a:gd name="T62" fmla="*/ 15 w 50"/>
                <a:gd name="T63" fmla="*/ 460 h 702"/>
                <a:gd name="T64" fmla="*/ 15 w 50"/>
                <a:gd name="T65" fmla="*/ 476 h 702"/>
                <a:gd name="T66" fmla="*/ 19 w 50"/>
                <a:gd name="T67" fmla="*/ 491 h 702"/>
                <a:gd name="T68" fmla="*/ 19 w 50"/>
                <a:gd name="T69" fmla="*/ 507 h 702"/>
                <a:gd name="T70" fmla="*/ 23 w 50"/>
                <a:gd name="T71" fmla="*/ 519 h 702"/>
                <a:gd name="T72" fmla="*/ 23 w 50"/>
                <a:gd name="T73" fmla="*/ 526 h 702"/>
                <a:gd name="T74" fmla="*/ 23 w 50"/>
                <a:gd name="T75" fmla="*/ 538 h 702"/>
                <a:gd name="T76" fmla="*/ 23 w 50"/>
                <a:gd name="T77" fmla="*/ 550 h 702"/>
                <a:gd name="T78" fmla="*/ 19 w 50"/>
                <a:gd name="T79" fmla="*/ 558 h 702"/>
                <a:gd name="T80" fmla="*/ 12 w 50"/>
                <a:gd name="T81" fmla="*/ 569 h 702"/>
                <a:gd name="T82" fmla="*/ 8 w 50"/>
                <a:gd name="T83" fmla="*/ 581 h 702"/>
                <a:gd name="T84" fmla="*/ 4 w 50"/>
                <a:gd name="T85" fmla="*/ 589 h 702"/>
                <a:gd name="T86" fmla="*/ 0 w 50"/>
                <a:gd name="T87" fmla="*/ 601 h 702"/>
                <a:gd name="T88" fmla="*/ 0 w 50"/>
                <a:gd name="T89" fmla="*/ 608 h 702"/>
                <a:gd name="T90" fmla="*/ 0 w 50"/>
                <a:gd name="T91" fmla="*/ 620 h 702"/>
                <a:gd name="T92" fmla="*/ 0 w 50"/>
                <a:gd name="T93" fmla="*/ 632 h 702"/>
                <a:gd name="T94" fmla="*/ 4 w 50"/>
                <a:gd name="T95" fmla="*/ 643 h 702"/>
                <a:gd name="T96" fmla="*/ 8 w 50"/>
                <a:gd name="T97" fmla="*/ 651 h 702"/>
                <a:gd name="T98" fmla="*/ 12 w 50"/>
                <a:gd name="T99" fmla="*/ 659 h 702"/>
                <a:gd name="T100" fmla="*/ 12 w 50"/>
                <a:gd name="T101" fmla="*/ 667 h 702"/>
                <a:gd name="T102" fmla="*/ 12 w 50"/>
                <a:gd name="T103" fmla="*/ 678 h 702"/>
                <a:gd name="T104" fmla="*/ 12 w 50"/>
                <a:gd name="T105" fmla="*/ 686 h 702"/>
                <a:gd name="T106" fmla="*/ 8 w 50"/>
                <a:gd name="T107" fmla="*/ 694 h 702"/>
                <a:gd name="T108" fmla="*/ 4 w 50"/>
                <a:gd name="T109" fmla="*/ 702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0" h="702">
                  <a:moveTo>
                    <a:pt x="50" y="0"/>
                  </a:moveTo>
                  <a:lnTo>
                    <a:pt x="47" y="4"/>
                  </a:lnTo>
                  <a:lnTo>
                    <a:pt x="47" y="12"/>
                  </a:lnTo>
                  <a:lnTo>
                    <a:pt x="47" y="16"/>
                  </a:lnTo>
                  <a:lnTo>
                    <a:pt x="43" y="23"/>
                  </a:lnTo>
                  <a:lnTo>
                    <a:pt x="43" y="27"/>
                  </a:lnTo>
                  <a:lnTo>
                    <a:pt x="43" y="35"/>
                  </a:lnTo>
                  <a:lnTo>
                    <a:pt x="39" y="39"/>
                  </a:lnTo>
                  <a:lnTo>
                    <a:pt x="39" y="43"/>
                  </a:lnTo>
                  <a:lnTo>
                    <a:pt x="39" y="51"/>
                  </a:lnTo>
                  <a:lnTo>
                    <a:pt x="35" y="55"/>
                  </a:lnTo>
                  <a:lnTo>
                    <a:pt x="35" y="62"/>
                  </a:lnTo>
                  <a:lnTo>
                    <a:pt x="35" y="66"/>
                  </a:lnTo>
                  <a:lnTo>
                    <a:pt x="35" y="74"/>
                  </a:lnTo>
                  <a:lnTo>
                    <a:pt x="35" y="78"/>
                  </a:lnTo>
                  <a:lnTo>
                    <a:pt x="35" y="86"/>
                  </a:lnTo>
                  <a:lnTo>
                    <a:pt x="35" y="90"/>
                  </a:lnTo>
                  <a:lnTo>
                    <a:pt x="35" y="97"/>
                  </a:lnTo>
                  <a:lnTo>
                    <a:pt x="35" y="101"/>
                  </a:lnTo>
                  <a:lnTo>
                    <a:pt x="39" y="109"/>
                  </a:lnTo>
                  <a:lnTo>
                    <a:pt x="39" y="113"/>
                  </a:lnTo>
                  <a:lnTo>
                    <a:pt x="39" y="121"/>
                  </a:lnTo>
                  <a:lnTo>
                    <a:pt x="39" y="125"/>
                  </a:lnTo>
                  <a:lnTo>
                    <a:pt x="43" y="133"/>
                  </a:lnTo>
                  <a:lnTo>
                    <a:pt x="43" y="136"/>
                  </a:lnTo>
                  <a:lnTo>
                    <a:pt x="43" y="140"/>
                  </a:lnTo>
                  <a:lnTo>
                    <a:pt x="43" y="144"/>
                  </a:lnTo>
                  <a:lnTo>
                    <a:pt x="43" y="148"/>
                  </a:lnTo>
                  <a:lnTo>
                    <a:pt x="47" y="152"/>
                  </a:lnTo>
                  <a:lnTo>
                    <a:pt x="47" y="156"/>
                  </a:lnTo>
                  <a:lnTo>
                    <a:pt x="47" y="160"/>
                  </a:lnTo>
                  <a:lnTo>
                    <a:pt x="47" y="168"/>
                  </a:lnTo>
                  <a:lnTo>
                    <a:pt x="47" y="172"/>
                  </a:lnTo>
                  <a:lnTo>
                    <a:pt x="47" y="175"/>
                  </a:lnTo>
                  <a:lnTo>
                    <a:pt x="47" y="179"/>
                  </a:lnTo>
                  <a:lnTo>
                    <a:pt x="47" y="183"/>
                  </a:lnTo>
                  <a:lnTo>
                    <a:pt x="43" y="187"/>
                  </a:lnTo>
                  <a:lnTo>
                    <a:pt x="43" y="191"/>
                  </a:lnTo>
                  <a:lnTo>
                    <a:pt x="43" y="195"/>
                  </a:lnTo>
                  <a:lnTo>
                    <a:pt x="43" y="199"/>
                  </a:lnTo>
                  <a:lnTo>
                    <a:pt x="39" y="203"/>
                  </a:lnTo>
                  <a:lnTo>
                    <a:pt x="39" y="207"/>
                  </a:lnTo>
                  <a:lnTo>
                    <a:pt x="35" y="211"/>
                  </a:lnTo>
                  <a:lnTo>
                    <a:pt x="35" y="218"/>
                  </a:lnTo>
                  <a:lnTo>
                    <a:pt x="35" y="222"/>
                  </a:lnTo>
                  <a:lnTo>
                    <a:pt x="31" y="226"/>
                  </a:lnTo>
                  <a:lnTo>
                    <a:pt x="31" y="230"/>
                  </a:lnTo>
                  <a:lnTo>
                    <a:pt x="27" y="234"/>
                  </a:lnTo>
                  <a:lnTo>
                    <a:pt x="27" y="238"/>
                  </a:lnTo>
                  <a:lnTo>
                    <a:pt x="27" y="242"/>
                  </a:lnTo>
                  <a:lnTo>
                    <a:pt x="27" y="246"/>
                  </a:lnTo>
                  <a:lnTo>
                    <a:pt x="23" y="250"/>
                  </a:lnTo>
                  <a:lnTo>
                    <a:pt x="23" y="253"/>
                  </a:lnTo>
                  <a:lnTo>
                    <a:pt x="23" y="257"/>
                  </a:lnTo>
                  <a:lnTo>
                    <a:pt x="23" y="261"/>
                  </a:lnTo>
                  <a:lnTo>
                    <a:pt x="23" y="265"/>
                  </a:lnTo>
                  <a:lnTo>
                    <a:pt x="23" y="273"/>
                  </a:lnTo>
                  <a:lnTo>
                    <a:pt x="23" y="277"/>
                  </a:lnTo>
                  <a:lnTo>
                    <a:pt x="23" y="281"/>
                  </a:lnTo>
                  <a:lnTo>
                    <a:pt x="23" y="285"/>
                  </a:lnTo>
                  <a:lnTo>
                    <a:pt x="27" y="289"/>
                  </a:lnTo>
                  <a:lnTo>
                    <a:pt x="27" y="292"/>
                  </a:lnTo>
                  <a:lnTo>
                    <a:pt x="27" y="296"/>
                  </a:lnTo>
                  <a:lnTo>
                    <a:pt x="27" y="300"/>
                  </a:lnTo>
                  <a:lnTo>
                    <a:pt x="31" y="308"/>
                  </a:lnTo>
                  <a:lnTo>
                    <a:pt x="31" y="312"/>
                  </a:lnTo>
                  <a:lnTo>
                    <a:pt x="31" y="316"/>
                  </a:lnTo>
                  <a:lnTo>
                    <a:pt x="31" y="324"/>
                  </a:lnTo>
                  <a:lnTo>
                    <a:pt x="35" y="328"/>
                  </a:lnTo>
                  <a:lnTo>
                    <a:pt x="35" y="331"/>
                  </a:lnTo>
                  <a:lnTo>
                    <a:pt x="35" y="335"/>
                  </a:lnTo>
                  <a:lnTo>
                    <a:pt x="35" y="343"/>
                  </a:lnTo>
                  <a:lnTo>
                    <a:pt x="35" y="347"/>
                  </a:lnTo>
                  <a:lnTo>
                    <a:pt x="35" y="351"/>
                  </a:lnTo>
                  <a:lnTo>
                    <a:pt x="35" y="359"/>
                  </a:lnTo>
                  <a:lnTo>
                    <a:pt x="35" y="363"/>
                  </a:lnTo>
                  <a:lnTo>
                    <a:pt x="31" y="367"/>
                  </a:lnTo>
                  <a:lnTo>
                    <a:pt x="31" y="370"/>
                  </a:lnTo>
                  <a:lnTo>
                    <a:pt x="31" y="378"/>
                  </a:lnTo>
                  <a:lnTo>
                    <a:pt x="31" y="382"/>
                  </a:lnTo>
                  <a:lnTo>
                    <a:pt x="27" y="386"/>
                  </a:lnTo>
                  <a:lnTo>
                    <a:pt x="27" y="394"/>
                  </a:lnTo>
                  <a:lnTo>
                    <a:pt x="27" y="398"/>
                  </a:lnTo>
                  <a:lnTo>
                    <a:pt x="23" y="402"/>
                  </a:lnTo>
                  <a:lnTo>
                    <a:pt x="23" y="406"/>
                  </a:lnTo>
                  <a:lnTo>
                    <a:pt x="23" y="413"/>
                  </a:lnTo>
                  <a:lnTo>
                    <a:pt x="19" y="417"/>
                  </a:lnTo>
                  <a:lnTo>
                    <a:pt x="19" y="421"/>
                  </a:lnTo>
                  <a:lnTo>
                    <a:pt x="19" y="425"/>
                  </a:lnTo>
                  <a:lnTo>
                    <a:pt x="15" y="433"/>
                  </a:lnTo>
                  <a:lnTo>
                    <a:pt x="15" y="437"/>
                  </a:lnTo>
                  <a:lnTo>
                    <a:pt x="15" y="441"/>
                  </a:lnTo>
                  <a:lnTo>
                    <a:pt x="15" y="448"/>
                  </a:lnTo>
                  <a:lnTo>
                    <a:pt x="15" y="452"/>
                  </a:lnTo>
                  <a:lnTo>
                    <a:pt x="15" y="456"/>
                  </a:lnTo>
                  <a:lnTo>
                    <a:pt x="15" y="460"/>
                  </a:lnTo>
                  <a:lnTo>
                    <a:pt x="15" y="468"/>
                  </a:lnTo>
                  <a:lnTo>
                    <a:pt x="15" y="472"/>
                  </a:lnTo>
                  <a:lnTo>
                    <a:pt x="15" y="476"/>
                  </a:lnTo>
                  <a:lnTo>
                    <a:pt x="15" y="484"/>
                  </a:lnTo>
                  <a:lnTo>
                    <a:pt x="15" y="487"/>
                  </a:lnTo>
                  <a:lnTo>
                    <a:pt x="19" y="491"/>
                  </a:lnTo>
                  <a:lnTo>
                    <a:pt x="19" y="495"/>
                  </a:lnTo>
                  <a:lnTo>
                    <a:pt x="19" y="503"/>
                  </a:lnTo>
                  <a:lnTo>
                    <a:pt x="19" y="507"/>
                  </a:lnTo>
                  <a:lnTo>
                    <a:pt x="23" y="511"/>
                  </a:lnTo>
                  <a:lnTo>
                    <a:pt x="23" y="515"/>
                  </a:lnTo>
                  <a:lnTo>
                    <a:pt x="23" y="519"/>
                  </a:lnTo>
                  <a:lnTo>
                    <a:pt x="23" y="523"/>
                  </a:lnTo>
                  <a:lnTo>
                    <a:pt x="23" y="526"/>
                  </a:lnTo>
                  <a:lnTo>
                    <a:pt x="23" y="530"/>
                  </a:lnTo>
                  <a:lnTo>
                    <a:pt x="23" y="534"/>
                  </a:lnTo>
                  <a:lnTo>
                    <a:pt x="23" y="538"/>
                  </a:lnTo>
                  <a:lnTo>
                    <a:pt x="23" y="542"/>
                  </a:lnTo>
                  <a:lnTo>
                    <a:pt x="23" y="546"/>
                  </a:lnTo>
                  <a:lnTo>
                    <a:pt x="23" y="550"/>
                  </a:lnTo>
                  <a:lnTo>
                    <a:pt x="19" y="554"/>
                  </a:lnTo>
                  <a:lnTo>
                    <a:pt x="19" y="558"/>
                  </a:lnTo>
                  <a:lnTo>
                    <a:pt x="15" y="562"/>
                  </a:lnTo>
                  <a:lnTo>
                    <a:pt x="15" y="565"/>
                  </a:lnTo>
                  <a:lnTo>
                    <a:pt x="12" y="569"/>
                  </a:lnTo>
                  <a:lnTo>
                    <a:pt x="12" y="573"/>
                  </a:lnTo>
                  <a:lnTo>
                    <a:pt x="12" y="577"/>
                  </a:lnTo>
                  <a:lnTo>
                    <a:pt x="8" y="581"/>
                  </a:lnTo>
                  <a:lnTo>
                    <a:pt x="4" y="585"/>
                  </a:lnTo>
                  <a:lnTo>
                    <a:pt x="4" y="589"/>
                  </a:lnTo>
                  <a:lnTo>
                    <a:pt x="4" y="593"/>
                  </a:lnTo>
                  <a:lnTo>
                    <a:pt x="0" y="597"/>
                  </a:lnTo>
                  <a:lnTo>
                    <a:pt x="0" y="601"/>
                  </a:lnTo>
                  <a:lnTo>
                    <a:pt x="0" y="604"/>
                  </a:lnTo>
                  <a:lnTo>
                    <a:pt x="0" y="608"/>
                  </a:lnTo>
                  <a:lnTo>
                    <a:pt x="0" y="612"/>
                  </a:lnTo>
                  <a:lnTo>
                    <a:pt x="0" y="616"/>
                  </a:lnTo>
                  <a:lnTo>
                    <a:pt x="0" y="620"/>
                  </a:lnTo>
                  <a:lnTo>
                    <a:pt x="0" y="624"/>
                  </a:lnTo>
                  <a:lnTo>
                    <a:pt x="0" y="628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0" y="639"/>
                  </a:lnTo>
                  <a:lnTo>
                    <a:pt x="4" y="643"/>
                  </a:lnTo>
                  <a:lnTo>
                    <a:pt x="4" y="647"/>
                  </a:lnTo>
                  <a:lnTo>
                    <a:pt x="8" y="651"/>
                  </a:lnTo>
                  <a:lnTo>
                    <a:pt x="8" y="655"/>
                  </a:lnTo>
                  <a:lnTo>
                    <a:pt x="8" y="659"/>
                  </a:lnTo>
                  <a:lnTo>
                    <a:pt x="12" y="659"/>
                  </a:lnTo>
                  <a:lnTo>
                    <a:pt x="12" y="663"/>
                  </a:lnTo>
                  <a:lnTo>
                    <a:pt x="12" y="667"/>
                  </a:lnTo>
                  <a:lnTo>
                    <a:pt x="12" y="671"/>
                  </a:lnTo>
                  <a:lnTo>
                    <a:pt x="12" y="675"/>
                  </a:lnTo>
                  <a:lnTo>
                    <a:pt x="12" y="678"/>
                  </a:lnTo>
                  <a:lnTo>
                    <a:pt x="12" y="682"/>
                  </a:lnTo>
                  <a:lnTo>
                    <a:pt x="12" y="686"/>
                  </a:lnTo>
                  <a:lnTo>
                    <a:pt x="8" y="690"/>
                  </a:lnTo>
                  <a:lnTo>
                    <a:pt x="8" y="694"/>
                  </a:lnTo>
                  <a:lnTo>
                    <a:pt x="8" y="698"/>
                  </a:lnTo>
                  <a:lnTo>
                    <a:pt x="4" y="702"/>
                  </a:lnTo>
                </a:path>
              </a:pathLst>
            </a:cu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7" name="Line 190"/>
            <p:cNvSpPr>
              <a:spLocks noChangeShapeType="1"/>
            </p:cNvSpPr>
            <p:nvPr/>
          </p:nvSpPr>
          <p:spPr bwMode="auto">
            <a:xfrm flipV="1">
              <a:off x="3685" y="1015"/>
              <a:ext cx="109" cy="109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8" name="Line 191"/>
            <p:cNvSpPr>
              <a:spLocks noChangeShapeType="1"/>
            </p:cNvSpPr>
            <p:nvPr/>
          </p:nvSpPr>
          <p:spPr bwMode="auto">
            <a:xfrm flipV="1">
              <a:off x="3369" y="1214"/>
              <a:ext cx="109" cy="109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" name="Line 192"/>
            <p:cNvSpPr>
              <a:spLocks noChangeShapeType="1"/>
            </p:cNvSpPr>
            <p:nvPr/>
          </p:nvSpPr>
          <p:spPr bwMode="auto">
            <a:xfrm flipV="1">
              <a:off x="3685" y="972"/>
              <a:ext cx="35" cy="3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0" name="Line 193"/>
            <p:cNvSpPr>
              <a:spLocks noChangeShapeType="1"/>
            </p:cNvSpPr>
            <p:nvPr/>
          </p:nvSpPr>
          <p:spPr bwMode="auto">
            <a:xfrm flipV="1">
              <a:off x="3720" y="913"/>
              <a:ext cx="62" cy="59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" name="Line 194"/>
            <p:cNvSpPr>
              <a:spLocks noChangeShapeType="1"/>
            </p:cNvSpPr>
            <p:nvPr/>
          </p:nvSpPr>
          <p:spPr bwMode="auto">
            <a:xfrm flipV="1">
              <a:off x="3330" y="1097"/>
              <a:ext cx="148" cy="152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2" name="Line 195"/>
            <p:cNvSpPr>
              <a:spLocks noChangeShapeType="1"/>
            </p:cNvSpPr>
            <p:nvPr/>
          </p:nvSpPr>
          <p:spPr bwMode="auto">
            <a:xfrm flipV="1">
              <a:off x="3685" y="789"/>
              <a:ext cx="101" cy="10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3" name="Line 196"/>
            <p:cNvSpPr>
              <a:spLocks noChangeShapeType="1"/>
            </p:cNvSpPr>
            <p:nvPr/>
          </p:nvSpPr>
          <p:spPr bwMode="auto">
            <a:xfrm flipV="1">
              <a:off x="3349" y="980"/>
              <a:ext cx="129" cy="132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" name="Line 197"/>
            <p:cNvSpPr>
              <a:spLocks noChangeShapeType="1"/>
            </p:cNvSpPr>
            <p:nvPr/>
          </p:nvSpPr>
          <p:spPr bwMode="auto">
            <a:xfrm flipV="1">
              <a:off x="3685" y="640"/>
              <a:ext cx="132" cy="13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" name="Line 198"/>
            <p:cNvSpPr>
              <a:spLocks noChangeShapeType="1"/>
            </p:cNvSpPr>
            <p:nvPr/>
          </p:nvSpPr>
          <p:spPr bwMode="auto">
            <a:xfrm flipV="1">
              <a:off x="3365" y="972"/>
              <a:ext cx="4" cy="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" name="Line 199"/>
            <p:cNvSpPr>
              <a:spLocks noChangeShapeType="1"/>
            </p:cNvSpPr>
            <p:nvPr/>
          </p:nvSpPr>
          <p:spPr bwMode="auto">
            <a:xfrm flipV="1">
              <a:off x="3369" y="863"/>
              <a:ext cx="109" cy="109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7" name="Line 200"/>
            <p:cNvSpPr>
              <a:spLocks noChangeShapeType="1"/>
            </p:cNvSpPr>
            <p:nvPr/>
          </p:nvSpPr>
          <p:spPr bwMode="auto">
            <a:xfrm flipV="1">
              <a:off x="3685" y="621"/>
              <a:ext cx="35" cy="3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" name="Line 201"/>
            <p:cNvSpPr>
              <a:spLocks noChangeShapeType="1"/>
            </p:cNvSpPr>
            <p:nvPr/>
          </p:nvSpPr>
          <p:spPr bwMode="auto">
            <a:xfrm flipV="1">
              <a:off x="3353" y="746"/>
              <a:ext cx="125" cy="12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" name="Line 202"/>
            <p:cNvSpPr>
              <a:spLocks noChangeShapeType="1"/>
            </p:cNvSpPr>
            <p:nvPr/>
          </p:nvSpPr>
          <p:spPr bwMode="auto">
            <a:xfrm flipV="1">
              <a:off x="3369" y="629"/>
              <a:ext cx="109" cy="11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0" name="Line 203"/>
            <p:cNvSpPr>
              <a:spLocks noChangeShapeType="1"/>
            </p:cNvSpPr>
            <p:nvPr/>
          </p:nvSpPr>
          <p:spPr bwMode="auto">
            <a:xfrm flipV="1">
              <a:off x="3685" y="1144"/>
              <a:ext cx="97" cy="9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1" name="Line 204"/>
            <p:cNvSpPr>
              <a:spLocks noChangeShapeType="1"/>
            </p:cNvSpPr>
            <p:nvPr/>
          </p:nvSpPr>
          <p:spPr bwMode="auto">
            <a:xfrm flipV="1">
              <a:off x="3720" y="1257"/>
              <a:ext cx="70" cy="66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2" name="Line 205"/>
            <p:cNvSpPr>
              <a:spLocks noChangeShapeType="1"/>
            </p:cNvSpPr>
            <p:nvPr/>
          </p:nvSpPr>
          <p:spPr bwMode="auto">
            <a:xfrm flipV="1">
              <a:off x="4456" y="746"/>
              <a:ext cx="74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3" name="Line 206"/>
            <p:cNvSpPr>
              <a:spLocks noChangeShapeType="1"/>
            </p:cNvSpPr>
            <p:nvPr/>
          </p:nvSpPr>
          <p:spPr bwMode="auto">
            <a:xfrm flipV="1">
              <a:off x="4472" y="828"/>
              <a:ext cx="94" cy="9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" name="Line 207"/>
            <p:cNvSpPr>
              <a:spLocks noChangeShapeType="1"/>
            </p:cNvSpPr>
            <p:nvPr/>
          </p:nvSpPr>
          <p:spPr bwMode="auto">
            <a:xfrm>
              <a:off x="4203" y="972"/>
              <a:ext cx="39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" name="Line 208"/>
            <p:cNvSpPr>
              <a:spLocks noChangeShapeType="1"/>
            </p:cNvSpPr>
            <p:nvPr/>
          </p:nvSpPr>
          <p:spPr bwMode="auto">
            <a:xfrm>
              <a:off x="4285" y="972"/>
              <a:ext cx="386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" name="Line 209"/>
            <p:cNvSpPr>
              <a:spLocks noChangeShapeType="1"/>
            </p:cNvSpPr>
            <p:nvPr/>
          </p:nvSpPr>
          <p:spPr bwMode="auto">
            <a:xfrm>
              <a:off x="2963" y="972"/>
              <a:ext cx="25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" name="Line 210"/>
            <p:cNvSpPr>
              <a:spLocks noChangeShapeType="1"/>
            </p:cNvSpPr>
            <p:nvPr/>
          </p:nvSpPr>
          <p:spPr bwMode="auto">
            <a:xfrm>
              <a:off x="3583" y="520"/>
              <a:ext cx="1" cy="24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8" name="Line 211"/>
            <p:cNvSpPr>
              <a:spLocks noChangeShapeType="1"/>
            </p:cNvSpPr>
            <p:nvPr/>
          </p:nvSpPr>
          <p:spPr bwMode="auto">
            <a:xfrm>
              <a:off x="3583" y="808"/>
              <a:ext cx="1" cy="39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9" name="Line 212"/>
            <p:cNvSpPr>
              <a:spLocks noChangeShapeType="1"/>
            </p:cNvSpPr>
            <p:nvPr/>
          </p:nvSpPr>
          <p:spPr bwMode="auto">
            <a:xfrm>
              <a:off x="3583" y="890"/>
              <a:ext cx="1" cy="82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0" name="Line 213"/>
            <p:cNvSpPr>
              <a:spLocks noChangeShapeType="1"/>
            </p:cNvSpPr>
            <p:nvPr/>
          </p:nvSpPr>
          <p:spPr bwMode="auto">
            <a:xfrm flipV="1">
              <a:off x="3583" y="972"/>
              <a:ext cx="1" cy="82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" name="Line 214"/>
            <p:cNvSpPr>
              <a:spLocks noChangeShapeType="1"/>
            </p:cNvSpPr>
            <p:nvPr/>
          </p:nvSpPr>
          <p:spPr bwMode="auto">
            <a:xfrm flipV="1">
              <a:off x="3583" y="1097"/>
              <a:ext cx="1" cy="39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" name="Line 215"/>
            <p:cNvSpPr>
              <a:spLocks noChangeShapeType="1"/>
            </p:cNvSpPr>
            <p:nvPr/>
          </p:nvSpPr>
          <p:spPr bwMode="auto">
            <a:xfrm flipV="1">
              <a:off x="3583" y="1179"/>
              <a:ext cx="1" cy="249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" name="Line 216"/>
            <p:cNvSpPr>
              <a:spLocks noChangeShapeType="1"/>
            </p:cNvSpPr>
            <p:nvPr/>
          </p:nvSpPr>
          <p:spPr bwMode="auto">
            <a:xfrm>
              <a:off x="3322" y="972"/>
              <a:ext cx="838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4" name="Line 217"/>
            <p:cNvSpPr>
              <a:spLocks noChangeShapeType="1"/>
            </p:cNvSpPr>
            <p:nvPr/>
          </p:nvSpPr>
          <p:spPr bwMode="auto">
            <a:xfrm>
              <a:off x="3240" y="972"/>
              <a:ext cx="47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5" name="Group 218"/>
          <p:cNvGrpSpPr>
            <a:grpSpLocks/>
          </p:cNvGrpSpPr>
          <p:nvPr/>
        </p:nvGrpSpPr>
        <p:grpSpPr bwMode="auto">
          <a:xfrm>
            <a:off x="2328863" y="898525"/>
            <a:ext cx="2711450" cy="1443038"/>
            <a:chOff x="2963" y="1822"/>
            <a:chExt cx="1708" cy="909"/>
          </a:xfrm>
        </p:grpSpPr>
        <p:sp>
          <p:nvSpPr>
            <p:cNvPr id="216" name="Line 219"/>
            <p:cNvSpPr>
              <a:spLocks noChangeShapeType="1"/>
            </p:cNvSpPr>
            <p:nvPr/>
          </p:nvSpPr>
          <p:spPr bwMode="auto">
            <a:xfrm flipH="1" flipV="1">
              <a:off x="3065" y="2524"/>
              <a:ext cx="105" cy="105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" name="Line 220"/>
            <p:cNvSpPr>
              <a:spLocks noChangeShapeType="1"/>
            </p:cNvSpPr>
            <p:nvPr/>
          </p:nvSpPr>
          <p:spPr bwMode="auto">
            <a:xfrm>
              <a:off x="3170" y="2629"/>
              <a:ext cx="826" cy="1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8" name="Line 221"/>
            <p:cNvSpPr>
              <a:spLocks noChangeShapeType="1"/>
            </p:cNvSpPr>
            <p:nvPr/>
          </p:nvSpPr>
          <p:spPr bwMode="auto">
            <a:xfrm>
              <a:off x="4098" y="2029"/>
              <a:ext cx="1" cy="495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9" name="Line 222"/>
            <p:cNvSpPr>
              <a:spLocks noChangeShapeType="1"/>
            </p:cNvSpPr>
            <p:nvPr/>
          </p:nvSpPr>
          <p:spPr bwMode="auto">
            <a:xfrm>
              <a:off x="3996" y="1927"/>
              <a:ext cx="102" cy="102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0" name="Line 223"/>
            <p:cNvSpPr>
              <a:spLocks noChangeShapeType="1"/>
            </p:cNvSpPr>
            <p:nvPr/>
          </p:nvSpPr>
          <p:spPr bwMode="auto">
            <a:xfrm flipV="1">
              <a:off x="3996" y="2524"/>
              <a:ext cx="102" cy="105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1" name="Line 224"/>
            <p:cNvSpPr>
              <a:spLocks noChangeShapeType="1"/>
            </p:cNvSpPr>
            <p:nvPr/>
          </p:nvSpPr>
          <p:spPr bwMode="auto">
            <a:xfrm>
              <a:off x="3996" y="1927"/>
              <a:ext cx="1" cy="702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2" name="Line 225"/>
            <p:cNvSpPr>
              <a:spLocks noChangeShapeType="1"/>
            </p:cNvSpPr>
            <p:nvPr/>
          </p:nvSpPr>
          <p:spPr bwMode="auto">
            <a:xfrm>
              <a:off x="3065" y="2134"/>
              <a:ext cx="187" cy="1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3" name="Line 226"/>
            <p:cNvSpPr>
              <a:spLocks noChangeShapeType="1"/>
            </p:cNvSpPr>
            <p:nvPr/>
          </p:nvSpPr>
          <p:spPr bwMode="auto">
            <a:xfrm>
              <a:off x="3252" y="1927"/>
              <a:ext cx="1" cy="207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4" name="Line 227"/>
            <p:cNvSpPr>
              <a:spLocks noChangeShapeType="1"/>
            </p:cNvSpPr>
            <p:nvPr/>
          </p:nvSpPr>
          <p:spPr bwMode="auto">
            <a:xfrm flipV="1">
              <a:off x="3170" y="2134"/>
              <a:ext cx="1" cy="495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" name="Line 228"/>
            <p:cNvSpPr>
              <a:spLocks noChangeShapeType="1"/>
            </p:cNvSpPr>
            <p:nvPr/>
          </p:nvSpPr>
          <p:spPr bwMode="auto">
            <a:xfrm>
              <a:off x="3065" y="2134"/>
              <a:ext cx="1" cy="390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6" name="Line 229"/>
            <p:cNvSpPr>
              <a:spLocks noChangeShapeType="1"/>
            </p:cNvSpPr>
            <p:nvPr/>
          </p:nvSpPr>
          <p:spPr bwMode="auto">
            <a:xfrm>
              <a:off x="3252" y="1927"/>
              <a:ext cx="744" cy="1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7" name="Line 230"/>
            <p:cNvSpPr>
              <a:spLocks noChangeShapeType="1"/>
            </p:cNvSpPr>
            <p:nvPr/>
          </p:nvSpPr>
          <p:spPr bwMode="auto">
            <a:xfrm>
              <a:off x="3685" y="1927"/>
              <a:ext cx="1" cy="702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8" name="Line 231"/>
            <p:cNvSpPr>
              <a:spLocks noChangeShapeType="1"/>
            </p:cNvSpPr>
            <p:nvPr/>
          </p:nvSpPr>
          <p:spPr bwMode="auto">
            <a:xfrm>
              <a:off x="3478" y="1927"/>
              <a:ext cx="1" cy="702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9" name="Freeform 232"/>
            <p:cNvSpPr>
              <a:spLocks noChangeArrowheads="1"/>
            </p:cNvSpPr>
            <p:nvPr/>
          </p:nvSpPr>
          <p:spPr bwMode="auto">
            <a:xfrm>
              <a:off x="4453" y="2029"/>
              <a:ext cx="58" cy="249"/>
            </a:xfrm>
            <a:custGeom>
              <a:avLst/>
              <a:gdLst>
                <a:gd name="T0" fmla="*/ 15 w 15"/>
                <a:gd name="T1" fmla="*/ 0 h 64"/>
                <a:gd name="T2" fmla="*/ 9 w 15"/>
                <a:gd name="T3" fmla="*/ 7 h 64"/>
                <a:gd name="T4" fmla="*/ 4 w 15"/>
                <a:gd name="T5" fmla="*/ 15 h 64"/>
                <a:gd name="T6" fmla="*/ 1 w 15"/>
                <a:gd name="T7" fmla="*/ 23 h 64"/>
                <a:gd name="T8" fmla="*/ 0 w 15"/>
                <a:gd name="T9" fmla="*/ 32 h 64"/>
                <a:gd name="T10" fmla="*/ 1 w 15"/>
                <a:gd name="T11" fmla="*/ 41 h 64"/>
                <a:gd name="T12" fmla="*/ 4 w 15"/>
                <a:gd name="T13" fmla="*/ 50 h 64"/>
                <a:gd name="T14" fmla="*/ 9 w 15"/>
                <a:gd name="T15" fmla="*/ 57 h 64"/>
                <a:gd name="T16" fmla="*/ 15 w 15"/>
                <a:gd name="T1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64">
                  <a:moveTo>
                    <a:pt x="15" y="0"/>
                  </a:moveTo>
                  <a:lnTo>
                    <a:pt x="9" y="7"/>
                  </a:lnTo>
                  <a:lnTo>
                    <a:pt x="4" y="15"/>
                  </a:lnTo>
                  <a:lnTo>
                    <a:pt x="1" y="23"/>
                  </a:lnTo>
                  <a:lnTo>
                    <a:pt x="0" y="32"/>
                  </a:lnTo>
                  <a:lnTo>
                    <a:pt x="1" y="41"/>
                  </a:lnTo>
                  <a:lnTo>
                    <a:pt x="4" y="50"/>
                  </a:lnTo>
                  <a:lnTo>
                    <a:pt x="9" y="57"/>
                  </a:lnTo>
                  <a:lnTo>
                    <a:pt x="15" y="64"/>
                  </a:lnTo>
                </a:path>
              </a:pathLst>
            </a:cu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0" name="Freeform 233"/>
            <p:cNvSpPr>
              <a:spLocks noChangeArrowheads="1"/>
            </p:cNvSpPr>
            <p:nvPr/>
          </p:nvSpPr>
          <p:spPr bwMode="auto">
            <a:xfrm>
              <a:off x="4511" y="2278"/>
              <a:ext cx="66" cy="246"/>
            </a:xfrm>
            <a:custGeom>
              <a:avLst/>
              <a:gdLst>
                <a:gd name="T0" fmla="*/ 0 w 17"/>
                <a:gd name="T1" fmla="*/ 63 h 63"/>
                <a:gd name="T2" fmla="*/ 7 w 17"/>
                <a:gd name="T3" fmla="*/ 57 h 63"/>
                <a:gd name="T4" fmla="*/ 13 w 17"/>
                <a:gd name="T5" fmla="*/ 50 h 63"/>
                <a:gd name="T6" fmla="*/ 16 w 17"/>
                <a:gd name="T7" fmla="*/ 41 h 63"/>
                <a:gd name="T8" fmla="*/ 17 w 17"/>
                <a:gd name="T9" fmla="*/ 32 h 63"/>
                <a:gd name="T10" fmla="*/ 16 w 17"/>
                <a:gd name="T11" fmla="*/ 22 h 63"/>
                <a:gd name="T12" fmla="*/ 13 w 17"/>
                <a:gd name="T13" fmla="*/ 14 h 63"/>
                <a:gd name="T14" fmla="*/ 7 w 17"/>
                <a:gd name="T15" fmla="*/ 6 h 63"/>
                <a:gd name="T16" fmla="*/ 0 w 17"/>
                <a:gd name="T1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63">
                  <a:moveTo>
                    <a:pt x="0" y="63"/>
                  </a:moveTo>
                  <a:lnTo>
                    <a:pt x="7" y="57"/>
                  </a:lnTo>
                  <a:lnTo>
                    <a:pt x="13" y="50"/>
                  </a:lnTo>
                  <a:lnTo>
                    <a:pt x="16" y="41"/>
                  </a:lnTo>
                  <a:lnTo>
                    <a:pt x="17" y="32"/>
                  </a:lnTo>
                  <a:lnTo>
                    <a:pt x="16" y="22"/>
                  </a:lnTo>
                  <a:lnTo>
                    <a:pt x="13" y="14"/>
                  </a:lnTo>
                  <a:lnTo>
                    <a:pt x="7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1" name="Freeform 234"/>
            <p:cNvSpPr>
              <a:spLocks noChangeArrowheads="1"/>
            </p:cNvSpPr>
            <p:nvPr/>
          </p:nvSpPr>
          <p:spPr bwMode="auto">
            <a:xfrm>
              <a:off x="4511" y="2029"/>
              <a:ext cx="58" cy="249"/>
            </a:xfrm>
            <a:custGeom>
              <a:avLst/>
              <a:gdLst>
                <a:gd name="T0" fmla="*/ 0 w 15"/>
                <a:gd name="T1" fmla="*/ 64 h 64"/>
                <a:gd name="T2" fmla="*/ 6 w 15"/>
                <a:gd name="T3" fmla="*/ 57 h 64"/>
                <a:gd name="T4" fmla="*/ 11 w 15"/>
                <a:gd name="T5" fmla="*/ 50 h 64"/>
                <a:gd name="T6" fmla="*/ 14 w 15"/>
                <a:gd name="T7" fmla="*/ 41 h 64"/>
                <a:gd name="T8" fmla="*/ 15 w 15"/>
                <a:gd name="T9" fmla="*/ 32 h 64"/>
                <a:gd name="T10" fmla="*/ 14 w 15"/>
                <a:gd name="T11" fmla="*/ 23 h 64"/>
                <a:gd name="T12" fmla="*/ 11 w 15"/>
                <a:gd name="T13" fmla="*/ 15 h 64"/>
                <a:gd name="T14" fmla="*/ 6 w 15"/>
                <a:gd name="T15" fmla="*/ 7 h 64"/>
                <a:gd name="T16" fmla="*/ 0 w 15"/>
                <a:gd name="T1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64">
                  <a:moveTo>
                    <a:pt x="0" y="64"/>
                  </a:moveTo>
                  <a:lnTo>
                    <a:pt x="6" y="57"/>
                  </a:lnTo>
                  <a:lnTo>
                    <a:pt x="11" y="50"/>
                  </a:lnTo>
                  <a:lnTo>
                    <a:pt x="14" y="41"/>
                  </a:lnTo>
                  <a:lnTo>
                    <a:pt x="15" y="32"/>
                  </a:lnTo>
                  <a:lnTo>
                    <a:pt x="14" y="23"/>
                  </a:lnTo>
                  <a:lnTo>
                    <a:pt x="11" y="15"/>
                  </a:lnTo>
                  <a:lnTo>
                    <a:pt x="6" y="7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2" name="Line 235"/>
            <p:cNvSpPr>
              <a:spLocks noChangeShapeType="1"/>
            </p:cNvSpPr>
            <p:nvPr/>
          </p:nvSpPr>
          <p:spPr bwMode="auto">
            <a:xfrm>
              <a:off x="4098" y="2029"/>
              <a:ext cx="413" cy="1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3" name="Line 236"/>
            <p:cNvSpPr>
              <a:spLocks noChangeShapeType="1"/>
            </p:cNvSpPr>
            <p:nvPr/>
          </p:nvSpPr>
          <p:spPr bwMode="auto">
            <a:xfrm>
              <a:off x="4098" y="2524"/>
              <a:ext cx="413" cy="1"/>
            </a:xfrm>
            <a:prstGeom prst="line">
              <a:avLst/>
            </a:prstGeom>
            <a:noFill/>
            <a:ln w="301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4" name="Line 237"/>
            <p:cNvSpPr>
              <a:spLocks noChangeShapeType="1"/>
            </p:cNvSpPr>
            <p:nvPr/>
          </p:nvSpPr>
          <p:spPr bwMode="auto">
            <a:xfrm>
              <a:off x="4203" y="2278"/>
              <a:ext cx="39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" name="Line 238"/>
            <p:cNvSpPr>
              <a:spLocks noChangeShapeType="1"/>
            </p:cNvSpPr>
            <p:nvPr/>
          </p:nvSpPr>
          <p:spPr bwMode="auto">
            <a:xfrm>
              <a:off x="4285" y="2278"/>
              <a:ext cx="386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" name="Line 239"/>
            <p:cNvSpPr>
              <a:spLocks noChangeShapeType="1"/>
            </p:cNvSpPr>
            <p:nvPr/>
          </p:nvSpPr>
          <p:spPr bwMode="auto">
            <a:xfrm>
              <a:off x="3583" y="1822"/>
              <a:ext cx="1" cy="25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" name="Line 240"/>
            <p:cNvSpPr>
              <a:spLocks noChangeShapeType="1"/>
            </p:cNvSpPr>
            <p:nvPr/>
          </p:nvSpPr>
          <p:spPr bwMode="auto">
            <a:xfrm>
              <a:off x="3583" y="2114"/>
              <a:ext cx="1" cy="39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8" name="Line 241"/>
            <p:cNvSpPr>
              <a:spLocks noChangeShapeType="1"/>
            </p:cNvSpPr>
            <p:nvPr/>
          </p:nvSpPr>
          <p:spPr bwMode="auto">
            <a:xfrm>
              <a:off x="3583" y="2196"/>
              <a:ext cx="1" cy="82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9" name="Line 242"/>
            <p:cNvSpPr>
              <a:spLocks noChangeShapeType="1"/>
            </p:cNvSpPr>
            <p:nvPr/>
          </p:nvSpPr>
          <p:spPr bwMode="auto">
            <a:xfrm flipV="1">
              <a:off x="3583" y="2278"/>
              <a:ext cx="1" cy="82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" name="Line 243"/>
            <p:cNvSpPr>
              <a:spLocks noChangeShapeType="1"/>
            </p:cNvSpPr>
            <p:nvPr/>
          </p:nvSpPr>
          <p:spPr bwMode="auto">
            <a:xfrm flipV="1">
              <a:off x="3583" y="2403"/>
              <a:ext cx="1" cy="39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1" name="Line 244"/>
            <p:cNvSpPr>
              <a:spLocks noChangeShapeType="1"/>
            </p:cNvSpPr>
            <p:nvPr/>
          </p:nvSpPr>
          <p:spPr bwMode="auto">
            <a:xfrm flipV="1">
              <a:off x="3583" y="2485"/>
              <a:ext cx="1" cy="246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2" name="Freeform 245"/>
            <p:cNvSpPr>
              <a:spLocks noChangeArrowheads="1"/>
            </p:cNvSpPr>
            <p:nvPr/>
          </p:nvSpPr>
          <p:spPr bwMode="auto">
            <a:xfrm>
              <a:off x="3252" y="2134"/>
              <a:ext cx="54" cy="495"/>
            </a:xfrm>
            <a:custGeom>
              <a:avLst/>
              <a:gdLst>
                <a:gd name="T0" fmla="*/ 4 w 54"/>
                <a:gd name="T1" fmla="*/ 4 h 495"/>
                <a:gd name="T2" fmla="*/ 8 w 54"/>
                <a:gd name="T3" fmla="*/ 16 h 495"/>
                <a:gd name="T4" fmla="*/ 12 w 54"/>
                <a:gd name="T5" fmla="*/ 27 h 495"/>
                <a:gd name="T6" fmla="*/ 15 w 54"/>
                <a:gd name="T7" fmla="*/ 35 h 495"/>
                <a:gd name="T8" fmla="*/ 19 w 54"/>
                <a:gd name="T9" fmla="*/ 47 h 495"/>
                <a:gd name="T10" fmla="*/ 19 w 54"/>
                <a:gd name="T11" fmla="*/ 58 h 495"/>
                <a:gd name="T12" fmla="*/ 19 w 54"/>
                <a:gd name="T13" fmla="*/ 70 h 495"/>
                <a:gd name="T14" fmla="*/ 23 w 54"/>
                <a:gd name="T15" fmla="*/ 82 h 495"/>
                <a:gd name="T16" fmla="*/ 23 w 54"/>
                <a:gd name="T17" fmla="*/ 94 h 495"/>
                <a:gd name="T18" fmla="*/ 23 w 54"/>
                <a:gd name="T19" fmla="*/ 105 h 495"/>
                <a:gd name="T20" fmla="*/ 23 w 54"/>
                <a:gd name="T21" fmla="*/ 117 h 495"/>
                <a:gd name="T22" fmla="*/ 23 w 54"/>
                <a:gd name="T23" fmla="*/ 129 h 495"/>
                <a:gd name="T24" fmla="*/ 23 w 54"/>
                <a:gd name="T25" fmla="*/ 140 h 495"/>
                <a:gd name="T26" fmla="*/ 23 w 54"/>
                <a:gd name="T27" fmla="*/ 152 h 495"/>
                <a:gd name="T28" fmla="*/ 23 w 54"/>
                <a:gd name="T29" fmla="*/ 164 h 495"/>
                <a:gd name="T30" fmla="*/ 27 w 54"/>
                <a:gd name="T31" fmla="*/ 175 h 495"/>
                <a:gd name="T32" fmla="*/ 31 w 54"/>
                <a:gd name="T33" fmla="*/ 187 h 495"/>
                <a:gd name="T34" fmla="*/ 35 w 54"/>
                <a:gd name="T35" fmla="*/ 195 h 495"/>
                <a:gd name="T36" fmla="*/ 39 w 54"/>
                <a:gd name="T37" fmla="*/ 207 h 495"/>
                <a:gd name="T38" fmla="*/ 43 w 54"/>
                <a:gd name="T39" fmla="*/ 218 h 495"/>
                <a:gd name="T40" fmla="*/ 47 w 54"/>
                <a:gd name="T41" fmla="*/ 234 h 495"/>
                <a:gd name="T42" fmla="*/ 51 w 54"/>
                <a:gd name="T43" fmla="*/ 250 h 495"/>
                <a:gd name="T44" fmla="*/ 54 w 54"/>
                <a:gd name="T45" fmla="*/ 269 h 495"/>
                <a:gd name="T46" fmla="*/ 54 w 54"/>
                <a:gd name="T47" fmla="*/ 289 h 495"/>
                <a:gd name="T48" fmla="*/ 51 w 54"/>
                <a:gd name="T49" fmla="*/ 308 h 495"/>
                <a:gd name="T50" fmla="*/ 51 w 54"/>
                <a:gd name="T51" fmla="*/ 328 h 495"/>
                <a:gd name="T52" fmla="*/ 51 w 54"/>
                <a:gd name="T53" fmla="*/ 343 h 495"/>
                <a:gd name="T54" fmla="*/ 47 w 54"/>
                <a:gd name="T55" fmla="*/ 363 h 495"/>
                <a:gd name="T56" fmla="*/ 47 w 54"/>
                <a:gd name="T57" fmla="*/ 382 h 495"/>
                <a:gd name="T58" fmla="*/ 43 w 54"/>
                <a:gd name="T59" fmla="*/ 402 h 495"/>
                <a:gd name="T60" fmla="*/ 39 w 54"/>
                <a:gd name="T61" fmla="*/ 421 h 495"/>
                <a:gd name="T62" fmla="*/ 39 w 54"/>
                <a:gd name="T63" fmla="*/ 437 h 495"/>
                <a:gd name="T64" fmla="*/ 35 w 54"/>
                <a:gd name="T65" fmla="*/ 456 h 495"/>
                <a:gd name="T66" fmla="*/ 31 w 54"/>
                <a:gd name="T67" fmla="*/ 476 h 495"/>
                <a:gd name="T68" fmla="*/ 31 w 54"/>
                <a:gd name="T69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" h="495">
                  <a:moveTo>
                    <a:pt x="0" y="0"/>
                  </a:moveTo>
                  <a:lnTo>
                    <a:pt x="4" y="4"/>
                  </a:lnTo>
                  <a:lnTo>
                    <a:pt x="4" y="8"/>
                  </a:lnTo>
                  <a:lnTo>
                    <a:pt x="8" y="16"/>
                  </a:lnTo>
                  <a:lnTo>
                    <a:pt x="8" y="19"/>
                  </a:lnTo>
                  <a:lnTo>
                    <a:pt x="12" y="27"/>
                  </a:lnTo>
                  <a:lnTo>
                    <a:pt x="12" y="31"/>
                  </a:lnTo>
                  <a:lnTo>
                    <a:pt x="15" y="35"/>
                  </a:lnTo>
                  <a:lnTo>
                    <a:pt x="15" y="43"/>
                  </a:lnTo>
                  <a:lnTo>
                    <a:pt x="19" y="47"/>
                  </a:lnTo>
                  <a:lnTo>
                    <a:pt x="19" y="55"/>
                  </a:lnTo>
                  <a:lnTo>
                    <a:pt x="19" y="58"/>
                  </a:lnTo>
                  <a:lnTo>
                    <a:pt x="19" y="66"/>
                  </a:lnTo>
                  <a:lnTo>
                    <a:pt x="19" y="70"/>
                  </a:lnTo>
                  <a:lnTo>
                    <a:pt x="23" y="78"/>
                  </a:lnTo>
                  <a:lnTo>
                    <a:pt x="23" y="82"/>
                  </a:lnTo>
                  <a:lnTo>
                    <a:pt x="23" y="90"/>
                  </a:lnTo>
                  <a:lnTo>
                    <a:pt x="23" y="94"/>
                  </a:lnTo>
                  <a:lnTo>
                    <a:pt x="23" y="101"/>
                  </a:lnTo>
                  <a:lnTo>
                    <a:pt x="23" y="105"/>
                  </a:lnTo>
                  <a:lnTo>
                    <a:pt x="23" y="113"/>
                  </a:lnTo>
                  <a:lnTo>
                    <a:pt x="23" y="117"/>
                  </a:lnTo>
                  <a:lnTo>
                    <a:pt x="23" y="125"/>
                  </a:lnTo>
                  <a:lnTo>
                    <a:pt x="23" y="129"/>
                  </a:lnTo>
                  <a:lnTo>
                    <a:pt x="23" y="136"/>
                  </a:lnTo>
                  <a:lnTo>
                    <a:pt x="23" y="140"/>
                  </a:lnTo>
                  <a:lnTo>
                    <a:pt x="23" y="144"/>
                  </a:lnTo>
                  <a:lnTo>
                    <a:pt x="23" y="152"/>
                  </a:lnTo>
                  <a:lnTo>
                    <a:pt x="23" y="156"/>
                  </a:lnTo>
                  <a:lnTo>
                    <a:pt x="23" y="164"/>
                  </a:lnTo>
                  <a:lnTo>
                    <a:pt x="27" y="168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87"/>
                  </a:lnTo>
                  <a:lnTo>
                    <a:pt x="31" y="191"/>
                  </a:lnTo>
                  <a:lnTo>
                    <a:pt x="35" y="195"/>
                  </a:lnTo>
                  <a:lnTo>
                    <a:pt x="39" y="203"/>
                  </a:lnTo>
                  <a:lnTo>
                    <a:pt x="39" y="207"/>
                  </a:lnTo>
                  <a:lnTo>
                    <a:pt x="43" y="211"/>
                  </a:lnTo>
                  <a:lnTo>
                    <a:pt x="43" y="218"/>
                  </a:lnTo>
                  <a:lnTo>
                    <a:pt x="47" y="222"/>
                  </a:lnTo>
                  <a:lnTo>
                    <a:pt x="47" y="234"/>
                  </a:lnTo>
                  <a:lnTo>
                    <a:pt x="51" y="242"/>
                  </a:lnTo>
                  <a:lnTo>
                    <a:pt x="51" y="250"/>
                  </a:lnTo>
                  <a:lnTo>
                    <a:pt x="51" y="261"/>
                  </a:lnTo>
                  <a:lnTo>
                    <a:pt x="54" y="269"/>
                  </a:lnTo>
                  <a:lnTo>
                    <a:pt x="54" y="281"/>
                  </a:lnTo>
                  <a:lnTo>
                    <a:pt x="54" y="289"/>
                  </a:lnTo>
                  <a:lnTo>
                    <a:pt x="51" y="296"/>
                  </a:lnTo>
                  <a:lnTo>
                    <a:pt x="51" y="308"/>
                  </a:lnTo>
                  <a:lnTo>
                    <a:pt x="51" y="316"/>
                  </a:lnTo>
                  <a:lnTo>
                    <a:pt x="51" y="328"/>
                  </a:lnTo>
                  <a:lnTo>
                    <a:pt x="51" y="335"/>
                  </a:lnTo>
                  <a:lnTo>
                    <a:pt x="51" y="343"/>
                  </a:lnTo>
                  <a:lnTo>
                    <a:pt x="47" y="355"/>
                  </a:lnTo>
                  <a:lnTo>
                    <a:pt x="47" y="363"/>
                  </a:lnTo>
                  <a:lnTo>
                    <a:pt x="47" y="374"/>
                  </a:lnTo>
                  <a:lnTo>
                    <a:pt x="47" y="382"/>
                  </a:lnTo>
                  <a:lnTo>
                    <a:pt x="43" y="390"/>
                  </a:lnTo>
                  <a:lnTo>
                    <a:pt x="43" y="402"/>
                  </a:lnTo>
                  <a:lnTo>
                    <a:pt x="43" y="409"/>
                  </a:lnTo>
                  <a:lnTo>
                    <a:pt x="39" y="421"/>
                  </a:lnTo>
                  <a:lnTo>
                    <a:pt x="39" y="429"/>
                  </a:lnTo>
                  <a:lnTo>
                    <a:pt x="39" y="437"/>
                  </a:lnTo>
                  <a:lnTo>
                    <a:pt x="35" y="448"/>
                  </a:lnTo>
                  <a:lnTo>
                    <a:pt x="35" y="456"/>
                  </a:lnTo>
                  <a:lnTo>
                    <a:pt x="35" y="468"/>
                  </a:lnTo>
                  <a:lnTo>
                    <a:pt x="31" y="476"/>
                  </a:lnTo>
                  <a:lnTo>
                    <a:pt x="31" y="484"/>
                  </a:lnTo>
                  <a:lnTo>
                    <a:pt x="31" y="495"/>
                  </a:lnTo>
                </a:path>
              </a:pathLst>
            </a:cu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3" name="Line 246"/>
            <p:cNvSpPr>
              <a:spLocks noChangeShapeType="1"/>
            </p:cNvSpPr>
            <p:nvPr/>
          </p:nvSpPr>
          <p:spPr bwMode="auto">
            <a:xfrm flipV="1">
              <a:off x="3291" y="2442"/>
              <a:ext cx="187" cy="18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4" name="Line 247"/>
            <p:cNvSpPr>
              <a:spLocks noChangeShapeType="1"/>
            </p:cNvSpPr>
            <p:nvPr/>
          </p:nvSpPr>
          <p:spPr bwMode="auto">
            <a:xfrm flipV="1">
              <a:off x="3685" y="1927"/>
              <a:ext cx="308" cy="30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" name="Line 248"/>
            <p:cNvSpPr>
              <a:spLocks noChangeShapeType="1"/>
            </p:cNvSpPr>
            <p:nvPr/>
          </p:nvSpPr>
          <p:spPr bwMode="auto">
            <a:xfrm flipV="1">
              <a:off x="3299" y="2325"/>
              <a:ext cx="179" cy="179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" name="Line 249"/>
            <p:cNvSpPr>
              <a:spLocks noChangeShapeType="1"/>
            </p:cNvSpPr>
            <p:nvPr/>
          </p:nvSpPr>
          <p:spPr bwMode="auto">
            <a:xfrm flipV="1">
              <a:off x="3685" y="1927"/>
              <a:ext cx="191" cy="19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7" name="Line 250"/>
            <p:cNvSpPr>
              <a:spLocks noChangeShapeType="1"/>
            </p:cNvSpPr>
            <p:nvPr/>
          </p:nvSpPr>
          <p:spPr bwMode="auto">
            <a:xfrm flipV="1">
              <a:off x="3303" y="2208"/>
              <a:ext cx="175" cy="176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8" name="Line 251"/>
            <p:cNvSpPr>
              <a:spLocks noChangeShapeType="1"/>
            </p:cNvSpPr>
            <p:nvPr/>
          </p:nvSpPr>
          <p:spPr bwMode="auto">
            <a:xfrm flipV="1">
              <a:off x="3685" y="1927"/>
              <a:ext cx="74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9" name="Line 252"/>
            <p:cNvSpPr>
              <a:spLocks noChangeShapeType="1"/>
            </p:cNvSpPr>
            <p:nvPr/>
          </p:nvSpPr>
          <p:spPr bwMode="auto">
            <a:xfrm flipV="1">
              <a:off x="3275" y="2091"/>
              <a:ext cx="203" cy="20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0" name="Line 253"/>
            <p:cNvSpPr>
              <a:spLocks noChangeShapeType="1"/>
            </p:cNvSpPr>
            <p:nvPr/>
          </p:nvSpPr>
          <p:spPr bwMode="auto">
            <a:xfrm flipV="1">
              <a:off x="3271" y="1974"/>
              <a:ext cx="207" cy="20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1" name="Line 254"/>
            <p:cNvSpPr>
              <a:spLocks noChangeShapeType="1"/>
            </p:cNvSpPr>
            <p:nvPr/>
          </p:nvSpPr>
          <p:spPr bwMode="auto">
            <a:xfrm flipV="1">
              <a:off x="3252" y="1927"/>
              <a:ext cx="156" cy="156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" name="Line 255"/>
            <p:cNvSpPr>
              <a:spLocks noChangeShapeType="1"/>
            </p:cNvSpPr>
            <p:nvPr/>
          </p:nvSpPr>
          <p:spPr bwMode="auto">
            <a:xfrm flipV="1">
              <a:off x="3252" y="1927"/>
              <a:ext cx="39" cy="39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3" name="Line 256"/>
            <p:cNvSpPr>
              <a:spLocks noChangeShapeType="1"/>
            </p:cNvSpPr>
            <p:nvPr/>
          </p:nvSpPr>
          <p:spPr bwMode="auto">
            <a:xfrm flipV="1">
              <a:off x="3408" y="2559"/>
              <a:ext cx="70" cy="7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4" name="Line 257"/>
            <p:cNvSpPr>
              <a:spLocks noChangeShapeType="1"/>
            </p:cNvSpPr>
            <p:nvPr/>
          </p:nvSpPr>
          <p:spPr bwMode="auto">
            <a:xfrm flipV="1">
              <a:off x="3685" y="2278"/>
              <a:ext cx="74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5" name="Line 258"/>
            <p:cNvSpPr>
              <a:spLocks noChangeShapeType="1"/>
            </p:cNvSpPr>
            <p:nvPr/>
          </p:nvSpPr>
          <p:spPr bwMode="auto">
            <a:xfrm flipV="1">
              <a:off x="3759" y="2040"/>
              <a:ext cx="237" cy="23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" name="Line 259"/>
            <p:cNvSpPr>
              <a:spLocks noChangeShapeType="1"/>
            </p:cNvSpPr>
            <p:nvPr/>
          </p:nvSpPr>
          <p:spPr bwMode="auto">
            <a:xfrm flipV="1">
              <a:off x="3685" y="2278"/>
              <a:ext cx="191" cy="19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" name="Line 260"/>
            <p:cNvSpPr>
              <a:spLocks noChangeShapeType="1"/>
            </p:cNvSpPr>
            <p:nvPr/>
          </p:nvSpPr>
          <p:spPr bwMode="auto">
            <a:xfrm flipV="1">
              <a:off x="3876" y="2157"/>
              <a:ext cx="120" cy="12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8" name="Line 261"/>
            <p:cNvSpPr>
              <a:spLocks noChangeShapeType="1"/>
            </p:cNvSpPr>
            <p:nvPr/>
          </p:nvSpPr>
          <p:spPr bwMode="auto">
            <a:xfrm flipV="1">
              <a:off x="3685" y="2278"/>
              <a:ext cx="308" cy="30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" name="Line 262"/>
            <p:cNvSpPr>
              <a:spLocks noChangeShapeType="1"/>
            </p:cNvSpPr>
            <p:nvPr/>
          </p:nvSpPr>
          <p:spPr bwMode="auto">
            <a:xfrm flipV="1">
              <a:off x="3993" y="2274"/>
              <a:ext cx="3" cy="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" name="Line 263"/>
            <p:cNvSpPr>
              <a:spLocks noChangeShapeType="1"/>
            </p:cNvSpPr>
            <p:nvPr/>
          </p:nvSpPr>
          <p:spPr bwMode="auto">
            <a:xfrm flipV="1">
              <a:off x="3759" y="2391"/>
              <a:ext cx="237" cy="23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" name="Line 264"/>
            <p:cNvSpPr>
              <a:spLocks noChangeShapeType="1"/>
            </p:cNvSpPr>
            <p:nvPr/>
          </p:nvSpPr>
          <p:spPr bwMode="auto">
            <a:xfrm flipV="1">
              <a:off x="3876" y="2508"/>
              <a:ext cx="120" cy="12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" name="Line 265"/>
            <p:cNvSpPr>
              <a:spLocks noChangeShapeType="1"/>
            </p:cNvSpPr>
            <p:nvPr/>
          </p:nvSpPr>
          <p:spPr bwMode="auto">
            <a:xfrm flipV="1">
              <a:off x="3993" y="2625"/>
              <a:ext cx="3" cy="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" name="Line 266"/>
            <p:cNvSpPr>
              <a:spLocks noChangeShapeType="1"/>
            </p:cNvSpPr>
            <p:nvPr/>
          </p:nvSpPr>
          <p:spPr bwMode="auto">
            <a:xfrm flipV="1">
              <a:off x="4456" y="2072"/>
              <a:ext cx="90" cy="9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" name="Line 267"/>
            <p:cNvSpPr>
              <a:spLocks noChangeShapeType="1"/>
            </p:cNvSpPr>
            <p:nvPr/>
          </p:nvSpPr>
          <p:spPr bwMode="auto">
            <a:xfrm flipV="1">
              <a:off x="4488" y="2169"/>
              <a:ext cx="78" cy="82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5" name="Line 268"/>
            <p:cNvSpPr>
              <a:spLocks noChangeShapeType="1"/>
            </p:cNvSpPr>
            <p:nvPr/>
          </p:nvSpPr>
          <p:spPr bwMode="auto">
            <a:xfrm>
              <a:off x="2963" y="2278"/>
              <a:ext cx="351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" name="Line 269"/>
            <p:cNvSpPr>
              <a:spLocks noChangeShapeType="1"/>
            </p:cNvSpPr>
            <p:nvPr/>
          </p:nvSpPr>
          <p:spPr bwMode="auto">
            <a:xfrm>
              <a:off x="3396" y="2278"/>
              <a:ext cx="764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" name="Line 270"/>
            <p:cNvSpPr>
              <a:spLocks noChangeShapeType="1"/>
            </p:cNvSpPr>
            <p:nvPr/>
          </p:nvSpPr>
          <p:spPr bwMode="auto">
            <a:xfrm flipH="1">
              <a:off x="3338" y="2278"/>
              <a:ext cx="31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8" name="Rectangle 271"/>
          <p:cNvSpPr>
            <a:spLocks noChangeArrowheads="1"/>
          </p:cNvSpPr>
          <p:nvPr/>
        </p:nvSpPr>
        <p:spPr bwMode="auto">
          <a:xfrm>
            <a:off x="2998789" y="4559300"/>
            <a:ext cx="75247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zh-CN" altLang="en-US" sz="180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正确</a:t>
            </a:r>
            <a:endParaRPr lang="zh-CN" altLang="en-US" sz="180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69" name="Rectangle 272"/>
          <p:cNvSpPr>
            <a:spLocks noChangeArrowheads="1"/>
          </p:cNvSpPr>
          <p:nvPr/>
        </p:nvSpPr>
        <p:spPr bwMode="auto">
          <a:xfrm>
            <a:off x="2965450" y="2398714"/>
            <a:ext cx="6985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zh-CN" altLang="en-US" sz="1800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错误</a:t>
            </a:r>
            <a:endParaRPr lang="zh-CN" altLang="en-US" sz="18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1098901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83" grpId="0" build="p"/>
      <p:bldP spid="164" grpId="0"/>
      <p:bldP spid="165" grpId="0"/>
      <p:bldP spid="268" grpId="0" build="p"/>
      <p:bldP spid="269" grpId="0" build="p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>
          <a:xfrm>
            <a:off x="977109" y="1418649"/>
            <a:ext cx="2327274" cy="792739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FontTx/>
              <a:buNone/>
              <a:defRPr sz="2800" b="1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defRPr>
            </a:lvl1pPr>
          </a:lstStyle>
          <a:p>
            <a:r>
              <a:rPr lang="en-US" altLang="zh-CN" dirty="0"/>
              <a:t>1.</a:t>
            </a:r>
            <a:r>
              <a:rPr lang="zh-CN" altLang="en-US" dirty="0"/>
              <a:t>单一剖切面</a:t>
            </a:r>
          </a:p>
        </p:txBody>
      </p:sp>
      <p:grpSp>
        <p:nvGrpSpPr>
          <p:cNvPr id="3" name="Group 3"/>
          <p:cNvGrpSpPr>
            <a:grpSpLocks/>
          </p:cNvGrpSpPr>
          <p:nvPr/>
        </p:nvGrpSpPr>
        <p:grpSpPr bwMode="auto">
          <a:xfrm>
            <a:off x="9881687" y="3887793"/>
            <a:ext cx="1049338" cy="369888"/>
            <a:chOff x="4372" y="2298"/>
            <a:chExt cx="661" cy="233"/>
          </a:xfrm>
        </p:grpSpPr>
        <p:sp>
          <p:nvSpPr>
            <p:cNvPr id="4" name="Arc 4"/>
            <p:cNvSpPr>
              <a:spLocks noChangeArrowheads="1"/>
            </p:cNvSpPr>
            <p:nvPr/>
          </p:nvSpPr>
          <p:spPr bwMode="auto">
            <a:xfrm rot="5400000" flipH="1">
              <a:off x="4871" y="2316"/>
              <a:ext cx="110" cy="214"/>
            </a:xfrm>
            <a:custGeom>
              <a:avLst/>
              <a:gdLst>
                <a:gd name="T0" fmla="*/ 365 w 21966"/>
                <a:gd name="T1" fmla="*/ 0 h 43200"/>
                <a:gd name="T2" fmla="*/ 21966 w 21966"/>
                <a:gd name="T3" fmla="*/ 21600 h 43200"/>
                <a:gd name="T4" fmla="*/ 366 w 21966"/>
                <a:gd name="T5" fmla="*/ 43200 h 43200"/>
                <a:gd name="T6" fmla="*/ 0 w 21966"/>
                <a:gd name="T7" fmla="*/ 43196 h 43200"/>
                <a:gd name="T8" fmla="*/ 365 w 21966"/>
                <a:gd name="T9" fmla="*/ 0 h 43200"/>
                <a:gd name="T10" fmla="*/ 21966 w 21966"/>
                <a:gd name="T11" fmla="*/ 21600 h 43200"/>
                <a:gd name="T12" fmla="*/ 366 w 21966"/>
                <a:gd name="T13" fmla="*/ 43200 h 43200"/>
                <a:gd name="T14" fmla="*/ 0 w 21966"/>
                <a:gd name="T15" fmla="*/ 43196 h 43200"/>
                <a:gd name="T16" fmla="*/ 366 w 21966"/>
                <a:gd name="T17" fmla="*/ 21600 h 43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66" h="43200" fill="none">
                  <a:moveTo>
                    <a:pt x="365" y="0"/>
                  </a:moveTo>
                  <a:cubicBezTo>
                    <a:pt x="12295" y="0"/>
                    <a:pt x="21966" y="9670"/>
                    <a:pt x="21966" y="21600"/>
                  </a:cubicBezTo>
                  <a:cubicBezTo>
                    <a:pt x="21966" y="33529"/>
                    <a:pt x="12295" y="43200"/>
                    <a:pt x="366" y="43200"/>
                  </a:cubicBezTo>
                  <a:cubicBezTo>
                    <a:pt x="243" y="43200"/>
                    <a:pt x="121" y="43198"/>
                    <a:pt x="0" y="43196"/>
                  </a:cubicBezTo>
                </a:path>
                <a:path w="21966" h="43200" stroke="0">
                  <a:moveTo>
                    <a:pt x="365" y="0"/>
                  </a:moveTo>
                  <a:cubicBezTo>
                    <a:pt x="12295" y="0"/>
                    <a:pt x="21966" y="9670"/>
                    <a:pt x="21966" y="21600"/>
                  </a:cubicBezTo>
                  <a:cubicBezTo>
                    <a:pt x="21966" y="33529"/>
                    <a:pt x="12295" y="43200"/>
                    <a:pt x="366" y="43200"/>
                  </a:cubicBezTo>
                  <a:cubicBezTo>
                    <a:pt x="243" y="43200"/>
                    <a:pt x="121" y="43198"/>
                    <a:pt x="0" y="43196"/>
                  </a:cubicBezTo>
                  <a:lnTo>
                    <a:pt x="366" y="21600"/>
                  </a:lnTo>
                  <a:close/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" name="Rectangle 5"/>
            <p:cNvSpPr>
              <a:spLocks noChangeArrowheads="1"/>
            </p:cNvSpPr>
            <p:nvPr/>
          </p:nvSpPr>
          <p:spPr bwMode="auto">
            <a:xfrm>
              <a:off x="4372" y="2298"/>
              <a:ext cx="45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i="1">
                  <a:solidFill>
                    <a:srgbClr val="FF0000"/>
                  </a:solidFill>
                  <a:latin typeface="Times New Roman" panose="02020603050405020304" pitchFamily="18" charset="0"/>
                </a:rPr>
                <a:t>A</a:t>
              </a:r>
              <a:r>
                <a:rPr lang="zh-CN" altLang="en-US">
                  <a:solidFill>
                    <a:srgbClr val="FF0000"/>
                  </a:solidFill>
                  <a:latin typeface="Times New Roman" panose="02020603050405020304" pitchFamily="18" charset="0"/>
                </a:rPr>
                <a:t>－</a:t>
              </a:r>
              <a:r>
                <a:rPr lang="en-US" altLang="zh-CN" i="1">
                  <a:solidFill>
                    <a:srgbClr val="FF0000"/>
                  </a:solidFill>
                  <a:latin typeface="Times New Roman" panose="02020603050405020304" pitchFamily="18" charset="0"/>
                </a:rPr>
                <a:t>A</a:t>
              </a:r>
              <a:endParaRPr lang="en-US" altLang="zh-CN">
                <a:solidFill>
                  <a:srgbClr val="FF0000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6" name="Group 6"/>
          <p:cNvGrpSpPr>
            <a:grpSpLocks/>
          </p:cNvGrpSpPr>
          <p:nvPr/>
        </p:nvGrpSpPr>
        <p:grpSpPr bwMode="auto">
          <a:xfrm>
            <a:off x="9729284" y="4310063"/>
            <a:ext cx="1579563" cy="1595438"/>
            <a:chOff x="4584" y="2564"/>
            <a:chExt cx="995" cy="1005"/>
          </a:xfrm>
        </p:grpSpPr>
        <p:sp>
          <p:nvSpPr>
            <p:cNvPr id="7" name="Freeform 7"/>
            <p:cNvSpPr>
              <a:spLocks noChangeArrowheads="1"/>
            </p:cNvSpPr>
            <p:nvPr/>
          </p:nvSpPr>
          <p:spPr bwMode="auto">
            <a:xfrm>
              <a:off x="4584" y="3057"/>
              <a:ext cx="315" cy="1"/>
            </a:xfrm>
            <a:custGeom>
              <a:avLst/>
              <a:gdLst>
                <a:gd name="T0" fmla="*/ 0 w 946"/>
                <a:gd name="T1" fmla="*/ 0 h 1"/>
                <a:gd name="T2" fmla="*/ 945 w 946"/>
                <a:gd name="T3" fmla="*/ 0 h 1"/>
                <a:gd name="T4" fmla="*/ 946 w 94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6" h="1">
                  <a:moveTo>
                    <a:pt x="0" y="0"/>
                  </a:moveTo>
                  <a:lnTo>
                    <a:pt x="945" y="0"/>
                  </a:lnTo>
                  <a:lnTo>
                    <a:pt x="946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" name="Arc 8"/>
            <p:cNvSpPr>
              <a:spLocks noChangeArrowheads="1"/>
            </p:cNvSpPr>
            <p:nvPr/>
          </p:nvSpPr>
          <p:spPr bwMode="auto">
            <a:xfrm flipV="1">
              <a:off x="4767" y="2719"/>
              <a:ext cx="648" cy="672"/>
            </a:xfrm>
            <a:custGeom>
              <a:avLst/>
              <a:gdLst>
                <a:gd name="T0" fmla="*/ 310 w 41665"/>
                <a:gd name="T1" fmla="*/ 12865 h 43200"/>
                <a:gd name="T2" fmla="*/ 20065 w 41665"/>
                <a:gd name="T3" fmla="*/ 0 h 43200"/>
                <a:gd name="T4" fmla="*/ 41665 w 41665"/>
                <a:gd name="T5" fmla="*/ 21600 h 43200"/>
                <a:gd name="T6" fmla="*/ 20065 w 41665"/>
                <a:gd name="T7" fmla="*/ 43200 h 43200"/>
                <a:gd name="T8" fmla="*/ 0 w 41665"/>
                <a:gd name="T9" fmla="*/ 29597 h 43200"/>
                <a:gd name="T10" fmla="*/ 310 w 41665"/>
                <a:gd name="T11" fmla="*/ 12865 h 43200"/>
                <a:gd name="T12" fmla="*/ 20065 w 41665"/>
                <a:gd name="T13" fmla="*/ 0 h 43200"/>
                <a:gd name="T14" fmla="*/ 41665 w 41665"/>
                <a:gd name="T15" fmla="*/ 21600 h 43200"/>
                <a:gd name="T16" fmla="*/ 20065 w 41665"/>
                <a:gd name="T17" fmla="*/ 43200 h 43200"/>
                <a:gd name="T18" fmla="*/ 0 w 41665"/>
                <a:gd name="T19" fmla="*/ 29597 h 43200"/>
                <a:gd name="T20" fmla="*/ 20065 w 41665"/>
                <a:gd name="T21" fmla="*/ 21600 h 43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665" h="43200" fill="none">
                  <a:moveTo>
                    <a:pt x="310" y="12865"/>
                  </a:moveTo>
                  <a:cubicBezTo>
                    <a:pt x="3768" y="5044"/>
                    <a:pt x="11514" y="-1"/>
                    <a:pt x="20065" y="0"/>
                  </a:cubicBezTo>
                  <a:cubicBezTo>
                    <a:pt x="31994" y="0"/>
                    <a:pt x="41665" y="9670"/>
                    <a:pt x="41665" y="21600"/>
                  </a:cubicBezTo>
                  <a:cubicBezTo>
                    <a:pt x="41665" y="33529"/>
                    <a:pt x="31994" y="43200"/>
                    <a:pt x="20065" y="43200"/>
                  </a:cubicBezTo>
                  <a:cubicBezTo>
                    <a:pt x="11223" y="43200"/>
                    <a:pt x="3274" y="37811"/>
                    <a:pt x="0" y="29597"/>
                  </a:cubicBezTo>
                </a:path>
                <a:path w="41665" h="43200" stroke="0">
                  <a:moveTo>
                    <a:pt x="310" y="12865"/>
                  </a:moveTo>
                  <a:cubicBezTo>
                    <a:pt x="3768" y="5044"/>
                    <a:pt x="11514" y="-1"/>
                    <a:pt x="20065" y="0"/>
                  </a:cubicBezTo>
                  <a:cubicBezTo>
                    <a:pt x="31994" y="0"/>
                    <a:pt x="41665" y="9670"/>
                    <a:pt x="41665" y="21600"/>
                  </a:cubicBezTo>
                  <a:cubicBezTo>
                    <a:pt x="41665" y="33529"/>
                    <a:pt x="31994" y="43200"/>
                    <a:pt x="20065" y="43200"/>
                  </a:cubicBezTo>
                  <a:cubicBezTo>
                    <a:pt x="11223" y="43200"/>
                    <a:pt x="3274" y="37811"/>
                    <a:pt x="0" y="29597"/>
                  </a:cubicBezTo>
                  <a:lnTo>
                    <a:pt x="20065" y="21600"/>
                  </a:lnTo>
                  <a:close/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" name="Oval 9"/>
            <p:cNvSpPr>
              <a:spLocks noChangeArrowheads="1"/>
            </p:cNvSpPr>
            <p:nvPr/>
          </p:nvSpPr>
          <p:spPr bwMode="auto">
            <a:xfrm>
              <a:off x="4823" y="2796"/>
              <a:ext cx="516" cy="525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" name="AutoShape 10"/>
            <p:cNvSpPr>
              <a:spLocks noChangeArrowheads="1"/>
            </p:cNvSpPr>
            <p:nvPr/>
          </p:nvSpPr>
          <p:spPr bwMode="auto">
            <a:xfrm>
              <a:off x="4652" y="2624"/>
              <a:ext cx="865" cy="867"/>
            </a:xfrm>
            <a:prstGeom prst="roundRect">
              <a:avLst>
                <a:gd name="adj" fmla="val 16667"/>
              </a:avLst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" name="Freeform 11"/>
            <p:cNvSpPr>
              <a:spLocks noChangeArrowheads="1"/>
            </p:cNvSpPr>
            <p:nvPr/>
          </p:nvSpPr>
          <p:spPr bwMode="auto">
            <a:xfrm>
              <a:off x="5084" y="2564"/>
              <a:ext cx="1" cy="595"/>
            </a:xfrm>
            <a:custGeom>
              <a:avLst/>
              <a:gdLst>
                <a:gd name="T0" fmla="*/ 0 w 1"/>
                <a:gd name="T1" fmla="*/ 0 h 1784"/>
                <a:gd name="T2" fmla="*/ 0 w 1"/>
                <a:gd name="T3" fmla="*/ 1784 h 1784"/>
                <a:gd name="T4" fmla="*/ 1 w 1"/>
                <a:gd name="T5" fmla="*/ 1784 h 1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784">
                  <a:moveTo>
                    <a:pt x="0" y="0"/>
                  </a:moveTo>
                  <a:lnTo>
                    <a:pt x="0" y="1784"/>
                  </a:lnTo>
                  <a:lnTo>
                    <a:pt x="1" y="1784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" name="Freeform 12"/>
            <p:cNvSpPr>
              <a:spLocks noChangeArrowheads="1"/>
            </p:cNvSpPr>
            <p:nvPr/>
          </p:nvSpPr>
          <p:spPr bwMode="auto">
            <a:xfrm>
              <a:off x="5024" y="3057"/>
              <a:ext cx="555" cy="1"/>
            </a:xfrm>
            <a:custGeom>
              <a:avLst/>
              <a:gdLst>
                <a:gd name="T0" fmla="*/ 0 w 1665"/>
                <a:gd name="T1" fmla="*/ 0 h 1"/>
                <a:gd name="T2" fmla="*/ 1664 w 1665"/>
                <a:gd name="T3" fmla="*/ 0 h 1"/>
                <a:gd name="T4" fmla="*/ 1665 w 166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5" h="1">
                  <a:moveTo>
                    <a:pt x="0" y="0"/>
                  </a:moveTo>
                  <a:lnTo>
                    <a:pt x="1664" y="0"/>
                  </a:lnTo>
                  <a:lnTo>
                    <a:pt x="1665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" name="Freeform 13"/>
            <p:cNvSpPr>
              <a:spLocks noChangeArrowheads="1"/>
            </p:cNvSpPr>
            <p:nvPr/>
          </p:nvSpPr>
          <p:spPr bwMode="auto">
            <a:xfrm>
              <a:off x="4669" y="3373"/>
              <a:ext cx="220" cy="1"/>
            </a:xfrm>
            <a:custGeom>
              <a:avLst/>
              <a:gdLst>
                <a:gd name="T0" fmla="*/ 0 w 661"/>
                <a:gd name="T1" fmla="*/ 0 h 1"/>
                <a:gd name="T2" fmla="*/ 660 w 661"/>
                <a:gd name="T3" fmla="*/ 0 h 1"/>
                <a:gd name="T4" fmla="*/ 661 w 66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1" h="1">
                  <a:moveTo>
                    <a:pt x="0" y="0"/>
                  </a:moveTo>
                  <a:lnTo>
                    <a:pt x="660" y="0"/>
                  </a:lnTo>
                  <a:lnTo>
                    <a:pt x="661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" name="Freeform 14"/>
            <p:cNvSpPr>
              <a:spLocks noChangeArrowheads="1"/>
            </p:cNvSpPr>
            <p:nvPr/>
          </p:nvSpPr>
          <p:spPr bwMode="auto">
            <a:xfrm>
              <a:off x="4768" y="3273"/>
              <a:ext cx="1" cy="199"/>
            </a:xfrm>
            <a:custGeom>
              <a:avLst/>
              <a:gdLst>
                <a:gd name="T0" fmla="*/ 0 w 1"/>
                <a:gd name="T1" fmla="*/ 0 h 598"/>
                <a:gd name="T2" fmla="*/ 0 w 1"/>
                <a:gd name="T3" fmla="*/ 598 h 598"/>
                <a:gd name="T4" fmla="*/ 1 w 1"/>
                <a:gd name="T5" fmla="*/ 598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98">
                  <a:moveTo>
                    <a:pt x="0" y="0"/>
                  </a:moveTo>
                  <a:lnTo>
                    <a:pt x="0" y="598"/>
                  </a:lnTo>
                  <a:lnTo>
                    <a:pt x="1" y="598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" name="Freeform 15"/>
            <p:cNvSpPr>
              <a:spLocks noChangeArrowheads="1"/>
            </p:cNvSpPr>
            <p:nvPr/>
          </p:nvSpPr>
          <p:spPr bwMode="auto">
            <a:xfrm>
              <a:off x="4718" y="3323"/>
              <a:ext cx="100" cy="100"/>
            </a:xfrm>
            <a:custGeom>
              <a:avLst/>
              <a:gdLst>
                <a:gd name="T0" fmla="*/ 299 w 300"/>
                <a:gd name="T1" fmla="*/ 150 h 299"/>
                <a:gd name="T2" fmla="*/ 254 w 300"/>
                <a:gd name="T3" fmla="*/ 44 h 299"/>
                <a:gd name="T4" fmla="*/ 149 w 300"/>
                <a:gd name="T5" fmla="*/ 0 h 299"/>
                <a:gd name="T6" fmla="*/ 43 w 300"/>
                <a:gd name="T7" fmla="*/ 44 h 299"/>
                <a:gd name="T8" fmla="*/ 0 w 300"/>
                <a:gd name="T9" fmla="*/ 150 h 299"/>
                <a:gd name="T10" fmla="*/ 43 w 300"/>
                <a:gd name="T11" fmla="*/ 256 h 299"/>
                <a:gd name="T12" fmla="*/ 149 w 300"/>
                <a:gd name="T13" fmla="*/ 299 h 299"/>
                <a:gd name="T14" fmla="*/ 254 w 300"/>
                <a:gd name="T15" fmla="*/ 256 h 299"/>
                <a:gd name="T16" fmla="*/ 299 w 300"/>
                <a:gd name="T17" fmla="*/ 150 h 299"/>
                <a:gd name="T18" fmla="*/ 300 w 300"/>
                <a:gd name="T19" fmla="*/ 15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0" h="299">
                  <a:moveTo>
                    <a:pt x="299" y="150"/>
                  </a:moveTo>
                  <a:lnTo>
                    <a:pt x="254" y="44"/>
                  </a:lnTo>
                  <a:lnTo>
                    <a:pt x="149" y="0"/>
                  </a:lnTo>
                  <a:lnTo>
                    <a:pt x="43" y="44"/>
                  </a:lnTo>
                  <a:lnTo>
                    <a:pt x="0" y="150"/>
                  </a:lnTo>
                  <a:lnTo>
                    <a:pt x="43" y="256"/>
                  </a:lnTo>
                  <a:lnTo>
                    <a:pt x="149" y="299"/>
                  </a:lnTo>
                  <a:lnTo>
                    <a:pt x="254" y="256"/>
                  </a:lnTo>
                  <a:lnTo>
                    <a:pt x="299" y="150"/>
                  </a:lnTo>
                  <a:lnTo>
                    <a:pt x="300" y="15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" name="Freeform 16"/>
            <p:cNvSpPr>
              <a:spLocks noChangeArrowheads="1"/>
            </p:cNvSpPr>
            <p:nvPr/>
          </p:nvSpPr>
          <p:spPr bwMode="auto">
            <a:xfrm>
              <a:off x="4651" y="3176"/>
              <a:ext cx="100" cy="1"/>
            </a:xfrm>
            <a:custGeom>
              <a:avLst/>
              <a:gdLst>
                <a:gd name="T0" fmla="*/ 0 w 299"/>
                <a:gd name="T1" fmla="*/ 0 h 1"/>
                <a:gd name="T2" fmla="*/ 298 w 299"/>
                <a:gd name="T3" fmla="*/ 0 h 1"/>
                <a:gd name="T4" fmla="*/ 299 w 29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9" h="1">
                  <a:moveTo>
                    <a:pt x="0" y="0"/>
                  </a:moveTo>
                  <a:lnTo>
                    <a:pt x="298" y="0"/>
                  </a:lnTo>
                  <a:lnTo>
                    <a:pt x="299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" name="Freeform 17"/>
            <p:cNvSpPr>
              <a:spLocks noChangeArrowheads="1"/>
            </p:cNvSpPr>
            <p:nvPr/>
          </p:nvSpPr>
          <p:spPr bwMode="auto">
            <a:xfrm>
              <a:off x="4751" y="3176"/>
              <a:ext cx="30" cy="19"/>
            </a:xfrm>
            <a:custGeom>
              <a:avLst/>
              <a:gdLst>
                <a:gd name="T0" fmla="*/ 92 w 92"/>
                <a:gd name="T1" fmla="*/ 58 h 58"/>
                <a:gd name="T2" fmla="*/ 0 w 92"/>
                <a:gd name="T3" fmla="*/ 0 h 58"/>
                <a:gd name="T4" fmla="*/ 1 w 92"/>
                <a:gd name="T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2" h="58">
                  <a:moveTo>
                    <a:pt x="92" y="5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" name="Freeform 18"/>
            <p:cNvSpPr>
              <a:spLocks noChangeArrowheads="1"/>
            </p:cNvSpPr>
            <p:nvPr/>
          </p:nvSpPr>
          <p:spPr bwMode="auto">
            <a:xfrm>
              <a:off x="4651" y="3122"/>
              <a:ext cx="175" cy="1"/>
            </a:xfrm>
            <a:custGeom>
              <a:avLst/>
              <a:gdLst>
                <a:gd name="T0" fmla="*/ 0 w 525"/>
                <a:gd name="T1" fmla="*/ 0 h 1"/>
                <a:gd name="T2" fmla="*/ 524 w 525"/>
                <a:gd name="T3" fmla="*/ 0 h 1"/>
                <a:gd name="T4" fmla="*/ 525 w 52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5" h="1">
                  <a:moveTo>
                    <a:pt x="0" y="0"/>
                  </a:moveTo>
                  <a:lnTo>
                    <a:pt x="524" y="0"/>
                  </a:lnTo>
                  <a:lnTo>
                    <a:pt x="525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" name="Freeform 19"/>
            <p:cNvSpPr>
              <a:spLocks noChangeArrowheads="1"/>
            </p:cNvSpPr>
            <p:nvPr/>
          </p:nvSpPr>
          <p:spPr bwMode="auto">
            <a:xfrm>
              <a:off x="4651" y="3122"/>
              <a:ext cx="7" cy="7"/>
            </a:xfrm>
            <a:custGeom>
              <a:avLst/>
              <a:gdLst>
                <a:gd name="T0" fmla="*/ 0 w 20"/>
                <a:gd name="T1" fmla="*/ 19 h 19"/>
                <a:gd name="T2" fmla="*/ 19 w 20"/>
                <a:gd name="T3" fmla="*/ 0 h 19"/>
                <a:gd name="T4" fmla="*/ 20 w 20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9">
                  <a:moveTo>
                    <a:pt x="0" y="19"/>
                  </a:moveTo>
                  <a:lnTo>
                    <a:pt x="19" y="0"/>
                  </a:lnTo>
                  <a:lnTo>
                    <a:pt x="20" y="0"/>
                  </a:lnTo>
                </a:path>
              </a:pathLst>
            </a:custGeom>
            <a:noFill/>
            <a:ln w="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" name="Freeform 20"/>
            <p:cNvSpPr>
              <a:spLocks noChangeArrowheads="1"/>
            </p:cNvSpPr>
            <p:nvPr/>
          </p:nvSpPr>
          <p:spPr bwMode="auto">
            <a:xfrm>
              <a:off x="5084" y="3267"/>
              <a:ext cx="1" cy="302"/>
            </a:xfrm>
            <a:custGeom>
              <a:avLst/>
              <a:gdLst>
                <a:gd name="T0" fmla="*/ 0 w 1"/>
                <a:gd name="T1" fmla="*/ 0 h 905"/>
                <a:gd name="T2" fmla="*/ 0 w 1"/>
                <a:gd name="T3" fmla="*/ 905 h 905"/>
                <a:gd name="T4" fmla="*/ 1 w 1"/>
                <a:gd name="T5" fmla="*/ 905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05">
                  <a:moveTo>
                    <a:pt x="0" y="0"/>
                  </a:moveTo>
                  <a:lnTo>
                    <a:pt x="0" y="905"/>
                  </a:lnTo>
                  <a:lnTo>
                    <a:pt x="1" y="905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" name="Freeform 21"/>
            <p:cNvSpPr>
              <a:spLocks noChangeArrowheads="1"/>
            </p:cNvSpPr>
            <p:nvPr/>
          </p:nvSpPr>
          <p:spPr bwMode="auto">
            <a:xfrm>
              <a:off x="4951" y="3057"/>
              <a:ext cx="25" cy="1"/>
            </a:xfrm>
            <a:custGeom>
              <a:avLst/>
              <a:gdLst>
                <a:gd name="T0" fmla="*/ 0 w 75"/>
                <a:gd name="T1" fmla="*/ 0 h 1"/>
                <a:gd name="T2" fmla="*/ 74 w 75"/>
                <a:gd name="T3" fmla="*/ 0 h 1"/>
                <a:gd name="T4" fmla="*/ 75 w 7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" h="1">
                  <a:moveTo>
                    <a:pt x="0" y="0"/>
                  </a:moveTo>
                  <a:lnTo>
                    <a:pt x="74" y="0"/>
                  </a:lnTo>
                  <a:lnTo>
                    <a:pt x="75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" name="Freeform 22"/>
            <p:cNvSpPr>
              <a:spLocks noChangeArrowheads="1"/>
            </p:cNvSpPr>
            <p:nvPr/>
          </p:nvSpPr>
          <p:spPr bwMode="auto">
            <a:xfrm>
              <a:off x="5084" y="3204"/>
              <a:ext cx="1" cy="21"/>
            </a:xfrm>
            <a:custGeom>
              <a:avLst/>
              <a:gdLst>
                <a:gd name="T0" fmla="*/ 0 w 1"/>
                <a:gd name="T1" fmla="*/ 0 h 64"/>
                <a:gd name="T2" fmla="*/ 0 w 1"/>
                <a:gd name="T3" fmla="*/ 64 h 64"/>
                <a:gd name="T4" fmla="*/ 1 w 1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4">
                  <a:moveTo>
                    <a:pt x="0" y="0"/>
                  </a:moveTo>
                  <a:lnTo>
                    <a:pt x="0" y="64"/>
                  </a:lnTo>
                  <a:lnTo>
                    <a:pt x="1" y="64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" name="Freeform 23"/>
            <p:cNvSpPr>
              <a:spLocks noChangeArrowheads="1"/>
            </p:cNvSpPr>
            <p:nvPr/>
          </p:nvSpPr>
          <p:spPr bwMode="auto">
            <a:xfrm>
              <a:off x="5400" y="3282"/>
              <a:ext cx="1" cy="184"/>
            </a:xfrm>
            <a:custGeom>
              <a:avLst/>
              <a:gdLst>
                <a:gd name="T0" fmla="*/ 0 w 2"/>
                <a:gd name="T1" fmla="*/ 0 h 551"/>
                <a:gd name="T2" fmla="*/ 0 w 2"/>
                <a:gd name="T3" fmla="*/ 551 h 551"/>
                <a:gd name="T4" fmla="*/ 2 w 2"/>
                <a:gd name="T5" fmla="*/ 55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51">
                  <a:moveTo>
                    <a:pt x="0" y="0"/>
                  </a:moveTo>
                  <a:lnTo>
                    <a:pt x="0" y="551"/>
                  </a:lnTo>
                  <a:lnTo>
                    <a:pt x="2" y="551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" name="Freeform 24"/>
            <p:cNvSpPr>
              <a:spLocks noChangeArrowheads="1"/>
            </p:cNvSpPr>
            <p:nvPr/>
          </p:nvSpPr>
          <p:spPr bwMode="auto">
            <a:xfrm>
              <a:off x="5314" y="3373"/>
              <a:ext cx="174" cy="1"/>
            </a:xfrm>
            <a:custGeom>
              <a:avLst/>
              <a:gdLst>
                <a:gd name="T0" fmla="*/ 0 w 522"/>
                <a:gd name="T1" fmla="*/ 0 h 1"/>
                <a:gd name="T2" fmla="*/ 521 w 522"/>
                <a:gd name="T3" fmla="*/ 0 h 1"/>
                <a:gd name="T4" fmla="*/ 522 w 52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2" h="1">
                  <a:moveTo>
                    <a:pt x="0" y="0"/>
                  </a:moveTo>
                  <a:lnTo>
                    <a:pt x="521" y="0"/>
                  </a:lnTo>
                  <a:lnTo>
                    <a:pt x="522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5" name="Freeform 25"/>
            <p:cNvSpPr>
              <a:spLocks noChangeArrowheads="1"/>
            </p:cNvSpPr>
            <p:nvPr/>
          </p:nvSpPr>
          <p:spPr bwMode="auto">
            <a:xfrm>
              <a:off x="5350" y="3323"/>
              <a:ext cx="101" cy="100"/>
            </a:xfrm>
            <a:custGeom>
              <a:avLst/>
              <a:gdLst>
                <a:gd name="T0" fmla="*/ 300 w 301"/>
                <a:gd name="T1" fmla="*/ 150 h 299"/>
                <a:gd name="T2" fmla="*/ 256 w 301"/>
                <a:gd name="T3" fmla="*/ 44 h 299"/>
                <a:gd name="T4" fmla="*/ 149 w 301"/>
                <a:gd name="T5" fmla="*/ 0 h 299"/>
                <a:gd name="T6" fmla="*/ 44 w 301"/>
                <a:gd name="T7" fmla="*/ 44 h 299"/>
                <a:gd name="T8" fmla="*/ 0 w 301"/>
                <a:gd name="T9" fmla="*/ 150 h 299"/>
                <a:gd name="T10" fmla="*/ 44 w 301"/>
                <a:gd name="T11" fmla="*/ 256 h 299"/>
                <a:gd name="T12" fmla="*/ 149 w 301"/>
                <a:gd name="T13" fmla="*/ 299 h 299"/>
                <a:gd name="T14" fmla="*/ 256 w 301"/>
                <a:gd name="T15" fmla="*/ 256 h 299"/>
                <a:gd name="T16" fmla="*/ 300 w 301"/>
                <a:gd name="T17" fmla="*/ 150 h 299"/>
                <a:gd name="T18" fmla="*/ 301 w 301"/>
                <a:gd name="T19" fmla="*/ 15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1" h="299">
                  <a:moveTo>
                    <a:pt x="300" y="150"/>
                  </a:moveTo>
                  <a:lnTo>
                    <a:pt x="256" y="44"/>
                  </a:lnTo>
                  <a:lnTo>
                    <a:pt x="149" y="0"/>
                  </a:lnTo>
                  <a:lnTo>
                    <a:pt x="44" y="44"/>
                  </a:lnTo>
                  <a:lnTo>
                    <a:pt x="0" y="150"/>
                  </a:lnTo>
                  <a:lnTo>
                    <a:pt x="44" y="256"/>
                  </a:lnTo>
                  <a:lnTo>
                    <a:pt x="149" y="299"/>
                  </a:lnTo>
                  <a:lnTo>
                    <a:pt x="256" y="256"/>
                  </a:lnTo>
                  <a:lnTo>
                    <a:pt x="300" y="150"/>
                  </a:lnTo>
                  <a:lnTo>
                    <a:pt x="301" y="15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" name="Freeform 26"/>
            <p:cNvSpPr>
              <a:spLocks noChangeArrowheads="1"/>
            </p:cNvSpPr>
            <p:nvPr/>
          </p:nvSpPr>
          <p:spPr bwMode="auto">
            <a:xfrm>
              <a:off x="4685" y="2740"/>
              <a:ext cx="183" cy="1"/>
            </a:xfrm>
            <a:custGeom>
              <a:avLst/>
              <a:gdLst>
                <a:gd name="T0" fmla="*/ 0 w 548"/>
                <a:gd name="T1" fmla="*/ 0 h 1"/>
                <a:gd name="T2" fmla="*/ 547 w 548"/>
                <a:gd name="T3" fmla="*/ 0 h 1"/>
                <a:gd name="T4" fmla="*/ 548 w 54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8" h="1">
                  <a:moveTo>
                    <a:pt x="0" y="0"/>
                  </a:moveTo>
                  <a:lnTo>
                    <a:pt x="547" y="0"/>
                  </a:lnTo>
                  <a:lnTo>
                    <a:pt x="548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" name="Freeform 27"/>
            <p:cNvSpPr>
              <a:spLocks noChangeArrowheads="1"/>
            </p:cNvSpPr>
            <p:nvPr/>
          </p:nvSpPr>
          <p:spPr bwMode="auto">
            <a:xfrm>
              <a:off x="4768" y="2654"/>
              <a:ext cx="1" cy="181"/>
            </a:xfrm>
            <a:custGeom>
              <a:avLst/>
              <a:gdLst>
                <a:gd name="T0" fmla="*/ 0 w 1"/>
                <a:gd name="T1" fmla="*/ 0 h 543"/>
                <a:gd name="T2" fmla="*/ 0 w 1"/>
                <a:gd name="T3" fmla="*/ 543 h 543"/>
                <a:gd name="T4" fmla="*/ 1 w 1"/>
                <a:gd name="T5" fmla="*/ 543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43">
                  <a:moveTo>
                    <a:pt x="0" y="0"/>
                  </a:moveTo>
                  <a:lnTo>
                    <a:pt x="0" y="543"/>
                  </a:lnTo>
                  <a:lnTo>
                    <a:pt x="1" y="543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" name="Freeform 28"/>
            <p:cNvSpPr>
              <a:spLocks noChangeArrowheads="1"/>
            </p:cNvSpPr>
            <p:nvPr/>
          </p:nvSpPr>
          <p:spPr bwMode="auto">
            <a:xfrm>
              <a:off x="4718" y="2690"/>
              <a:ext cx="100" cy="100"/>
            </a:xfrm>
            <a:custGeom>
              <a:avLst/>
              <a:gdLst>
                <a:gd name="T0" fmla="*/ 299 w 300"/>
                <a:gd name="T1" fmla="*/ 150 h 300"/>
                <a:gd name="T2" fmla="*/ 254 w 300"/>
                <a:gd name="T3" fmla="*/ 43 h 300"/>
                <a:gd name="T4" fmla="*/ 149 w 300"/>
                <a:gd name="T5" fmla="*/ 0 h 300"/>
                <a:gd name="T6" fmla="*/ 43 w 300"/>
                <a:gd name="T7" fmla="*/ 43 h 300"/>
                <a:gd name="T8" fmla="*/ 0 w 300"/>
                <a:gd name="T9" fmla="*/ 150 h 300"/>
                <a:gd name="T10" fmla="*/ 43 w 300"/>
                <a:gd name="T11" fmla="*/ 256 h 300"/>
                <a:gd name="T12" fmla="*/ 149 w 300"/>
                <a:gd name="T13" fmla="*/ 300 h 300"/>
                <a:gd name="T14" fmla="*/ 254 w 300"/>
                <a:gd name="T15" fmla="*/ 256 h 300"/>
                <a:gd name="T16" fmla="*/ 299 w 300"/>
                <a:gd name="T17" fmla="*/ 150 h 300"/>
                <a:gd name="T18" fmla="*/ 300 w 300"/>
                <a:gd name="T19" fmla="*/ 15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0" h="300">
                  <a:moveTo>
                    <a:pt x="299" y="150"/>
                  </a:moveTo>
                  <a:lnTo>
                    <a:pt x="254" y="43"/>
                  </a:lnTo>
                  <a:lnTo>
                    <a:pt x="149" y="0"/>
                  </a:lnTo>
                  <a:lnTo>
                    <a:pt x="43" y="43"/>
                  </a:lnTo>
                  <a:lnTo>
                    <a:pt x="0" y="150"/>
                  </a:lnTo>
                  <a:lnTo>
                    <a:pt x="43" y="256"/>
                  </a:lnTo>
                  <a:lnTo>
                    <a:pt x="149" y="300"/>
                  </a:lnTo>
                  <a:lnTo>
                    <a:pt x="254" y="256"/>
                  </a:lnTo>
                  <a:lnTo>
                    <a:pt x="299" y="150"/>
                  </a:lnTo>
                  <a:lnTo>
                    <a:pt x="300" y="15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" name="Freeform 29"/>
            <p:cNvSpPr>
              <a:spLocks noChangeArrowheads="1"/>
            </p:cNvSpPr>
            <p:nvPr/>
          </p:nvSpPr>
          <p:spPr bwMode="auto">
            <a:xfrm>
              <a:off x="4651" y="2938"/>
              <a:ext cx="100" cy="1"/>
            </a:xfrm>
            <a:custGeom>
              <a:avLst/>
              <a:gdLst>
                <a:gd name="T0" fmla="*/ 0 w 299"/>
                <a:gd name="T1" fmla="*/ 0 h 1"/>
                <a:gd name="T2" fmla="*/ 298 w 299"/>
                <a:gd name="T3" fmla="*/ 0 h 1"/>
                <a:gd name="T4" fmla="*/ 299 w 29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9" h="1">
                  <a:moveTo>
                    <a:pt x="0" y="0"/>
                  </a:moveTo>
                  <a:lnTo>
                    <a:pt x="298" y="0"/>
                  </a:lnTo>
                  <a:lnTo>
                    <a:pt x="299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" name="Freeform 30"/>
            <p:cNvSpPr>
              <a:spLocks noChangeArrowheads="1"/>
            </p:cNvSpPr>
            <p:nvPr/>
          </p:nvSpPr>
          <p:spPr bwMode="auto">
            <a:xfrm>
              <a:off x="4651" y="2991"/>
              <a:ext cx="175" cy="1"/>
            </a:xfrm>
            <a:custGeom>
              <a:avLst/>
              <a:gdLst>
                <a:gd name="T0" fmla="*/ 0 w 525"/>
                <a:gd name="T1" fmla="*/ 0 h 1"/>
                <a:gd name="T2" fmla="*/ 524 w 525"/>
                <a:gd name="T3" fmla="*/ 0 h 1"/>
                <a:gd name="T4" fmla="*/ 525 w 52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5" h="1">
                  <a:moveTo>
                    <a:pt x="0" y="0"/>
                  </a:moveTo>
                  <a:lnTo>
                    <a:pt x="524" y="0"/>
                  </a:lnTo>
                  <a:lnTo>
                    <a:pt x="525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" name="Freeform 31"/>
            <p:cNvSpPr>
              <a:spLocks noChangeArrowheads="1"/>
            </p:cNvSpPr>
            <p:nvPr/>
          </p:nvSpPr>
          <p:spPr bwMode="auto">
            <a:xfrm>
              <a:off x="4651" y="2938"/>
              <a:ext cx="12" cy="11"/>
            </a:xfrm>
            <a:custGeom>
              <a:avLst/>
              <a:gdLst>
                <a:gd name="T0" fmla="*/ 0 w 34"/>
                <a:gd name="T1" fmla="*/ 33 h 33"/>
                <a:gd name="T2" fmla="*/ 33 w 34"/>
                <a:gd name="T3" fmla="*/ 0 h 33"/>
                <a:gd name="T4" fmla="*/ 34 w 34"/>
                <a:gd name="T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33">
                  <a:moveTo>
                    <a:pt x="0" y="33"/>
                  </a:moveTo>
                  <a:lnTo>
                    <a:pt x="33" y="0"/>
                  </a:lnTo>
                  <a:lnTo>
                    <a:pt x="34" y="0"/>
                  </a:lnTo>
                </a:path>
              </a:pathLst>
            </a:custGeom>
            <a:noFill/>
            <a:ln w="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" name="Freeform 32"/>
            <p:cNvSpPr>
              <a:spLocks noChangeArrowheads="1"/>
            </p:cNvSpPr>
            <p:nvPr/>
          </p:nvSpPr>
          <p:spPr bwMode="auto">
            <a:xfrm>
              <a:off x="4751" y="2919"/>
              <a:ext cx="31" cy="19"/>
            </a:xfrm>
            <a:custGeom>
              <a:avLst/>
              <a:gdLst>
                <a:gd name="T0" fmla="*/ 0 w 93"/>
                <a:gd name="T1" fmla="*/ 58 h 58"/>
                <a:gd name="T2" fmla="*/ 92 w 93"/>
                <a:gd name="T3" fmla="*/ 0 h 58"/>
                <a:gd name="T4" fmla="*/ 93 w 93"/>
                <a:gd name="T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3" h="58">
                  <a:moveTo>
                    <a:pt x="0" y="58"/>
                  </a:moveTo>
                  <a:lnTo>
                    <a:pt x="92" y="0"/>
                  </a:lnTo>
                  <a:lnTo>
                    <a:pt x="93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" name="Freeform 33"/>
            <p:cNvSpPr>
              <a:spLocks noChangeArrowheads="1"/>
            </p:cNvSpPr>
            <p:nvPr/>
          </p:nvSpPr>
          <p:spPr bwMode="auto">
            <a:xfrm>
              <a:off x="5400" y="2650"/>
              <a:ext cx="1" cy="181"/>
            </a:xfrm>
            <a:custGeom>
              <a:avLst/>
              <a:gdLst>
                <a:gd name="T0" fmla="*/ 0 w 2"/>
                <a:gd name="T1" fmla="*/ 0 h 543"/>
                <a:gd name="T2" fmla="*/ 0 w 2"/>
                <a:gd name="T3" fmla="*/ 543 h 543"/>
                <a:gd name="T4" fmla="*/ 2 w 2"/>
                <a:gd name="T5" fmla="*/ 543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43">
                  <a:moveTo>
                    <a:pt x="0" y="0"/>
                  </a:moveTo>
                  <a:lnTo>
                    <a:pt x="0" y="543"/>
                  </a:lnTo>
                  <a:lnTo>
                    <a:pt x="2" y="543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" name="Freeform 34"/>
            <p:cNvSpPr>
              <a:spLocks noChangeArrowheads="1"/>
            </p:cNvSpPr>
            <p:nvPr/>
          </p:nvSpPr>
          <p:spPr bwMode="auto">
            <a:xfrm>
              <a:off x="5350" y="2690"/>
              <a:ext cx="101" cy="100"/>
            </a:xfrm>
            <a:custGeom>
              <a:avLst/>
              <a:gdLst>
                <a:gd name="T0" fmla="*/ 300 w 301"/>
                <a:gd name="T1" fmla="*/ 150 h 300"/>
                <a:gd name="T2" fmla="*/ 256 w 301"/>
                <a:gd name="T3" fmla="*/ 43 h 300"/>
                <a:gd name="T4" fmla="*/ 149 w 301"/>
                <a:gd name="T5" fmla="*/ 0 h 300"/>
                <a:gd name="T6" fmla="*/ 44 w 301"/>
                <a:gd name="T7" fmla="*/ 43 h 300"/>
                <a:gd name="T8" fmla="*/ 0 w 301"/>
                <a:gd name="T9" fmla="*/ 150 h 300"/>
                <a:gd name="T10" fmla="*/ 44 w 301"/>
                <a:gd name="T11" fmla="*/ 256 h 300"/>
                <a:gd name="T12" fmla="*/ 149 w 301"/>
                <a:gd name="T13" fmla="*/ 300 h 300"/>
                <a:gd name="T14" fmla="*/ 256 w 301"/>
                <a:gd name="T15" fmla="*/ 256 h 300"/>
                <a:gd name="T16" fmla="*/ 300 w 301"/>
                <a:gd name="T17" fmla="*/ 150 h 300"/>
                <a:gd name="T18" fmla="*/ 301 w 301"/>
                <a:gd name="T19" fmla="*/ 15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1" h="300">
                  <a:moveTo>
                    <a:pt x="300" y="150"/>
                  </a:moveTo>
                  <a:lnTo>
                    <a:pt x="256" y="43"/>
                  </a:lnTo>
                  <a:lnTo>
                    <a:pt x="149" y="0"/>
                  </a:lnTo>
                  <a:lnTo>
                    <a:pt x="44" y="43"/>
                  </a:lnTo>
                  <a:lnTo>
                    <a:pt x="0" y="150"/>
                  </a:lnTo>
                  <a:lnTo>
                    <a:pt x="44" y="256"/>
                  </a:lnTo>
                  <a:lnTo>
                    <a:pt x="149" y="300"/>
                  </a:lnTo>
                  <a:lnTo>
                    <a:pt x="256" y="256"/>
                  </a:lnTo>
                  <a:lnTo>
                    <a:pt x="300" y="150"/>
                  </a:lnTo>
                  <a:lnTo>
                    <a:pt x="301" y="15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" name="Freeform 35"/>
            <p:cNvSpPr>
              <a:spLocks noChangeArrowheads="1"/>
            </p:cNvSpPr>
            <p:nvPr/>
          </p:nvSpPr>
          <p:spPr bwMode="auto">
            <a:xfrm>
              <a:off x="5312" y="2740"/>
              <a:ext cx="176" cy="1"/>
            </a:xfrm>
            <a:custGeom>
              <a:avLst/>
              <a:gdLst>
                <a:gd name="T0" fmla="*/ 0 w 528"/>
                <a:gd name="T1" fmla="*/ 0 h 1"/>
                <a:gd name="T2" fmla="*/ 527 w 528"/>
                <a:gd name="T3" fmla="*/ 0 h 1"/>
                <a:gd name="T4" fmla="*/ 528 w 52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8" h="1">
                  <a:moveTo>
                    <a:pt x="0" y="0"/>
                  </a:moveTo>
                  <a:lnTo>
                    <a:pt x="527" y="0"/>
                  </a:lnTo>
                  <a:lnTo>
                    <a:pt x="528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36" name="Group 36"/>
            <p:cNvGrpSpPr>
              <a:grpSpLocks/>
            </p:cNvGrpSpPr>
            <p:nvPr/>
          </p:nvGrpSpPr>
          <p:grpSpPr bwMode="auto">
            <a:xfrm>
              <a:off x="4694" y="2725"/>
              <a:ext cx="722" cy="664"/>
              <a:chOff x="4386" y="2725"/>
              <a:chExt cx="722" cy="664"/>
            </a:xfrm>
          </p:grpSpPr>
          <p:sp>
            <p:nvSpPr>
              <p:cNvPr id="37" name="Freeform 37"/>
              <p:cNvSpPr>
                <a:spLocks noChangeArrowheads="1"/>
              </p:cNvSpPr>
              <p:nvPr/>
            </p:nvSpPr>
            <p:spPr bwMode="auto">
              <a:xfrm>
                <a:off x="4924" y="3205"/>
                <a:ext cx="151" cy="150"/>
              </a:xfrm>
              <a:custGeom>
                <a:avLst/>
                <a:gdLst>
                  <a:gd name="T0" fmla="*/ 0 w 451"/>
                  <a:gd name="T1" fmla="*/ 450 h 450"/>
                  <a:gd name="T2" fmla="*/ 449 w 451"/>
                  <a:gd name="T3" fmla="*/ 0 h 450"/>
                  <a:gd name="T4" fmla="*/ 451 w 451"/>
                  <a:gd name="T5" fmla="*/ 0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1" h="450">
                    <a:moveTo>
                      <a:pt x="0" y="450"/>
                    </a:moveTo>
                    <a:lnTo>
                      <a:pt x="449" y="0"/>
                    </a:lnTo>
                    <a:lnTo>
                      <a:pt x="451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" name="Freeform 38"/>
              <p:cNvSpPr>
                <a:spLocks noChangeArrowheads="1"/>
              </p:cNvSpPr>
              <p:nvPr/>
            </p:nvSpPr>
            <p:spPr bwMode="auto">
              <a:xfrm>
                <a:off x="4499" y="3194"/>
                <a:ext cx="49" cy="48"/>
              </a:xfrm>
              <a:custGeom>
                <a:avLst/>
                <a:gdLst>
                  <a:gd name="T0" fmla="*/ 0 w 146"/>
                  <a:gd name="T1" fmla="*/ 145 h 145"/>
                  <a:gd name="T2" fmla="*/ 145 w 146"/>
                  <a:gd name="T3" fmla="*/ 0 h 145"/>
                  <a:gd name="T4" fmla="*/ 146 w 146"/>
                  <a:gd name="T5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6" h="145">
                    <a:moveTo>
                      <a:pt x="0" y="145"/>
                    </a:moveTo>
                    <a:lnTo>
                      <a:pt x="145" y="0"/>
                    </a:lnTo>
                    <a:lnTo>
                      <a:pt x="146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" name="Freeform 39"/>
              <p:cNvSpPr>
                <a:spLocks noChangeArrowheads="1"/>
              </p:cNvSpPr>
              <p:nvPr/>
            </p:nvSpPr>
            <p:spPr bwMode="auto">
              <a:xfrm>
                <a:off x="4466" y="3131"/>
                <a:ext cx="54" cy="54"/>
              </a:xfrm>
              <a:custGeom>
                <a:avLst/>
                <a:gdLst>
                  <a:gd name="T0" fmla="*/ 0 w 163"/>
                  <a:gd name="T1" fmla="*/ 162 h 162"/>
                  <a:gd name="T2" fmla="*/ 162 w 163"/>
                  <a:gd name="T3" fmla="*/ 0 h 162"/>
                  <a:gd name="T4" fmla="*/ 163 w 163"/>
                  <a:gd name="T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3" h="162">
                    <a:moveTo>
                      <a:pt x="0" y="162"/>
                    </a:moveTo>
                    <a:lnTo>
                      <a:pt x="162" y="0"/>
                    </a:lnTo>
                    <a:lnTo>
                      <a:pt x="163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0" name="Freeform 40"/>
              <p:cNvSpPr>
                <a:spLocks noChangeArrowheads="1"/>
              </p:cNvSpPr>
              <p:nvPr/>
            </p:nvSpPr>
            <p:spPr bwMode="auto">
              <a:xfrm>
                <a:off x="4386" y="3122"/>
                <a:ext cx="54" cy="54"/>
              </a:xfrm>
              <a:custGeom>
                <a:avLst/>
                <a:gdLst>
                  <a:gd name="T0" fmla="*/ 0 w 161"/>
                  <a:gd name="T1" fmla="*/ 160 h 160"/>
                  <a:gd name="T2" fmla="*/ 160 w 161"/>
                  <a:gd name="T3" fmla="*/ 0 h 160"/>
                  <a:gd name="T4" fmla="*/ 161 w 161"/>
                  <a:gd name="T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1" h="160">
                    <a:moveTo>
                      <a:pt x="0" y="160"/>
                    </a:moveTo>
                    <a:lnTo>
                      <a:pt x="160" y="0"/>
                    </a:lnTo>
                    <a:lnTo>
                      <a:pt x="161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" name="Freeform 41"/>
              <p:cNvSpPr>
                <a:spLocks noChangeArrowheads="1"/>
              </p:cNvSpPr>
              <p:nvPr/>
            </p:nvSpPr>
            <p:spPr bwMode="auto">
              <a:xfrm>
                <a:off x="4801" y="3296"/>
                <a:ext cx="93" cy="93"/>
              </a:xfrm>
              <a:custGeom>
                <a:avLst/>
                <a:gdLst>
                  <a:gd name="T0" fmla="*/ 0 w 280"/>
                  <a:gd name="T1" fmla="*/ 280 h 280"/>
                  <a:gd name="T2" fmla="*/ 279 w 280"/>
                  <a:gd name="T3" fmla="*/ 0 h 280"/>
                  <a:gd name="T4" fmla="*/ 280 w 280"/>
                  <a:gd name="T5" fmla="*/ 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0" h="280">
                    <a:moveTo>
                      <a:pt x="0" y="280"/>
                    </a:moveTo>
                    <a:lnTo>
                      <a:pt x="279" y="0"/>
                    </a:lnTo>
                    <a:lnTo>
                      <a:pt x="280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" name="Freeform 42"/>
              <p:cNvSpPr>
                <a:spLocks noChangeArrowheads="1"/>
              </p:cNvSpPr>
              <p:nvPr/>
            </p:nvSpPr>
            <p:spPr bwMode="auto">
              <a:xfrm>
                <a:off x="4588" y="3284"/>
                <a:ext cx="49" cy="48"/>
              </a:xfrm>
              <a:custGeom>
                <a:avLst/>
                <a:gdLst>
                  <a:gd name="T0" fmla="*/ 0 w 146"/>
                  <a:gd name="T1" fmla="*/ 144 h 144"/>
                  <a:gd name="T2" fmla="*/ 145 w 146"/>
                  <a:gd name="T3" fmla="*/ 0 h 144"/>
                  <a:gd name="T4" fmla="*/ 146 w 146"/>
                  <a:gd name="T5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6" h="144">
                    <a:moveTo>
                      <a:pt x="0" y="144"/>
                    </a:moveTo>
                    <a:lnTo>
                      <a:pt x="145" y="0"/>
                    </a:lnTo>
                    <a:lnTo>
                      <a:pt x="146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" name="Freeform 43"/>
              <p:cNvSpPr>
                <a:spLocks noChangeArrowheads="1"/>
              </p:cNvSpPr>
              <p:nvPr/>
            </p:nvSpPr>
            <p:spPr bwMode="auto">
              <a:xfrm>
                <a:off x="4716" y="3323"/>
                <a:ext cx="61" cy="62"/>
              </a:xfrm>
              <a:custGeom>
                <a:avLst/>
                <a:gdLst>
                  <a:gd name="T0" fmla="*/ 0 w 184"/>
                  <a:gd name="T1" fmla="*/ 184 h 184"/>
                  <a:gd name="T2" fmla="*/ 183 w 184"/>
                  <a:gd name="T3" fmla="*/ 0 h 184"/>
                  <a:gd name="T4" fmla="*/ 184 w 184"/>
                  <a:gd name="T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4" h="184">
                    <a:moveTo>
                      <a:pt x="0" y="184"/>
                    </a:moveTo>
                    <a:lnTo>
                      <a:pt x="183" y="0"/>
                    </a:lnTo>
                    <a:lnTo>
                      <a:pt x="184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" name="Freeform 44"/>
              <p:cNvSpPr>
                <a:spLocks noChangeArrowheads="1"/>
              </p:cNvSpPr>
              <p:nvPr/>
            </p:nvSpPr>
            <p:spPr bwMode="auto">
              <a:xfrm>
                <a:off x="4646" y="3312"/>
                <a:ext cx="53" cy="52"/>
              </a:xfrm>
              <a:custGeom>
                <a:avLst/>
                <a:gdLst>
                  <a:gd name="T0" fmla="*/ 0 w 157"/>
                  <a:gd name="T1" fmla="*/ 155 h 155"/>
                  <a:gd name="T2" fmla="*/ 156 w 157"/>
                  <a:gd name="T3" fmla="*/ 0 h 155"/>
                  <a:gd name="T4" fmla="*/ 157 w 157"/>
                  <a:gd name="T5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7" h="155">
                    <a:moveTo>
                      <a:pt x="0" y="155"/>
                    </a:moveTo>
                    <a:lnTo>
                      <a:pt x="156" y="0"/>
                    </a:lnTo>
                    <a:lnTo>
                      <a:pt x="157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" name="Freeform 45"/>
              <p:cNvSpPr>
                <a:spLocks noChangeArrowheads="1"/>
              </p:cNvSpPr>
              <p:nvPr/>
            </p:nvSpPr>
            <p:spPr bwMode="auto">
              <a:xfrm>
                <a:off x="4539" y="3244"/>
                <a:ext cx="48" cy="47"/>
              </a:xfrm>
              <a:custGeom>
                <a:avLst/>
                <a:gdLst>
                  <a:gd name="T0" fmla="*/ 0 w 143"/>
                  <a:gd name="T1" fmla="*/ 141 h 141"/>
                  <a:gd name="T2" fmla="*/ 142 w 143"/>
                  <a:gd name="T3" fmla="*/ 0 h 141"/>
                  <a:gd name="T4" fmla="*/ 143 w 143"/>
                  <a:gd name="T5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3" h="141">
                    <a:moveTo>
                      <a:pt x="0" y="141"/>
                    </a:moveTo>
                    <a:lnTo>
                      <a:pt x="142" y="0"/>
                    </a:lnTo>
                    <a:lnTo>
                      <a:pt x="143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" name="Freeform 46"/>
              <p:cNvSpPr>
                <a:spLocks noChangeArrowheads="1"/>
              </p:cNvSpPr>
              <p:nvPr/>
            </p:nvSpPr>
            <p:spPr bwMode="auto">
              <a:xfrm>
                <a:off x="5015" y="3082"/>
                <a:ext cx="93" cy="92"/>
              </a:xfrm>
              <a:custGeom>
                <a:avLst/>
                <a:gdLst>
                  <a:gd name="T0" fmla="*/ 0 w 280"/>
                  <a:gd name="T1" fmla="*/ 278 h 278"/>
                  <a:gd name="T2" fmla="*/ 279 w 280"/>
                  <a:gd name="T3" fmla="*/ 0 h 278"/>
                  <a:gd name="T4" fmla="*/ 280 w 280"/>
                  <a:gd name="T5" fmla="*/ 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0" h="278">
                    <a:moveTo>
                      <a:pt x="0" y="278"/>
                    </a:moveTo>
                    <a:lnTo>
                      <a:pt x="279" y="0"/>
                    </a:lnTo>
                    <a:lnTo>
                      <a:pt x="280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7" name="Freeform 47"/>
              <p:cNvSpPr>
                <a:spLocks noChangeArrowheads="1"/>
              </p:cNvSpPr>
              <p:nvPr/>
            </p:nvSpPr>
            <p:spPr bwMode="auto">
              <a:xfrm>
                <a:off x="5042" y="2996"/>
                <a:ext cx="62" cy="61"/>
              </a:xfrm>
              <a:custGeom>
                <a:avLst/>
                <a:gdLst>
                  <a:gd name="T0" fmla="*/ 0 w 184"/>
                  <a:gd name="T1" fmla="*/ 183 h 183"/>
                  <a:gd name="T2" fmla="*/ 183 w 184"/>
                  <a:gd name="T3" fmla="*/ 0 h 183"/>
                  <a:gd name="T4" fmla="*/ 184 w 184"/>
                  <a:gd name="T5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4" h="183">
                    <a:moveTo>
                      <a:pt x="0" y="183"/>
                    </a:moveTo>
                    <a:lnTo>
                      <a:pt x="183" y="0"/>
                    </a:lnTo>
                    <a:lnTo>
                      <a:pt x="184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" name="Freeform 48"/>
              <p:cNvSpPr>
                <a:spLocks noChangeArrowheads="1"/>
              </p:cNvSpPr>
              <p:nvPr/>
            </p:nvSpPr>
            <p:spPr bwMode="auto">
              <a:xfrm>
                <a:off x="4913" y="2780"/>
                <a:ext cx="48" cy="48"/>
              </a:xfrm>
              <a:custGeom>
                <a:avLst/>
                <a:gdLst>
                  <a:gd name="T0" fmla="*/ 0 w 145"/>
                  <a:gd name="T1" fmla="*/ 145 h 145"/>
                  <a:gd name="T2" fmla="*/ 144 w 145"/>
                  <a:gd name="T3" fmla="*/ 0 h 145"/>
                  <a:gd name="T4" fmla="*/ 145 w 145"/>
                  <a:gd name="T5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5" h="145">
                    <a:moveTo>
                      <a:pt x="0" y="145"/>
                    </a:moveTo>
                    <a:lnTo>
                      <a:pt x="144" y="0"/>
                    </a:lnTo>
                    <a:lnTo>
                      <a:pt x="145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9" name="Freeform 49"/>
              <p:cNvSpPr>
                <a:spLocks noChangeArrowheads="1"/>
              </p:cNvSpPr>
              <p:nvPr/>
            </p:nvSpPr>
            <p:spPr bwMode="auto">
              <a:xfrm>
                <a:off x="4480" y="2930"/>
                <a:ext cx="62" cy="61"/>
              </a:xfrm>
              <a:custGeom>
                <a:avLst/>
                <a:gdLst>
                  <a:gd name="T0" fmla="*/ 0 w 185"/>
                  <a:gd name="T1" fmla="*/ 184 h 184"/>
                  <a:gd name="T2" fmla="*/ 184 w 185"/>
                  <a:gd name="T3" fmla="*/ 0 h 184"/>
                  <a:gd name="T4" fmla="*/ 185 w 185"/>
                  <a:gd name="T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5" h="184">
                    <a:moveTo>
                      <a:pt x="0" y="184"/>
                    </a:moveTo>
                    <a:lnTo>
                      <a:pt x="184" y="0"/>
                    </a:lnTo>
                    <a:lnTo>
                      <a:pt x="185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" name="Freeform 50"/>
              <p:cNvSpPr>
                <a:spLocks noChangeArrowheads="1"/>
              </p:cNvSpPr>
              <p:nvPr/>
            </p:nvSpPr>
            <p:spPr bwMode="auto">
              <a:xfrm>
                <a:off x="4483" y="2763"/>
                <a:ext cx="136" cy="136"/>
              </a:xfrm>
              <a:custGeom>
                <a:avLst/>
                <a:gdLst>
                  <a:gd name="T0" fmla="*/ 0 w 410"/>
                  <a:gd name="T1" fmla="*/ 409 h 409"/>
                  <a:gd name="T2" fmla="*/ 409 w 410"/>
                  <a:gd name="T3" fmla="*/ 0 h 409"/>
                  <a:gd name="T4" fmla="*/ 410 w 410"/>
                  <a:gd name="T5" fmla="*/ 0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0" h="409">
                    <a:moveTo>
                      <a:pt x="0" y="409"/>
                    </a:moveTo>
                    <a:lnTo>
                      <a:pt x="409" y="0"/>
                    </a:lnTo>
                    <a:lnTo>
                      <a:pt x="410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" name="Freeform 51"/>
              <p:cNvSpPr>
                <a:spLocks noChangeArrowheads="1"/>
              </p:cNvSpPr>
              <p:nvPr/>
            </p:nvSpPr>
            <p:spPr bwMode="auto">
              <a:xfrm>
                <a:off x="4391" y="2938"/>
                <a:ext cx="53" cy="53"/>
              </a:xfrm>
              <a:custGeom>
                <a:avLst/>
                <a:gdLst>
                  <a:gd name="T0" fmla="*/ 0 w 161"/>
                  <a:gd name="T1" fmla="*/ 160 h 160"/>
                  <a:gd name="T2" fmla="*/ 160 w 161"/>
                  <a:gd name="T3" fmla="*/ 0 h 160"/>
                  <a:gd name="T4" fmla="*/ 161 w 161"/>
                  <a:gd name="T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1" h="160">
                    <a:moveTo>
                      <a:pt x="0" y="160"/>
                    </a:moveTo>
                    <a:lnTo>
                      <a:pt x="160" y="0"/>
                    </a:lnTo>
                    <a:lnTo>
                      <a:pt x="161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2" name="Freeform 52"/>
              <p:cNvSpPr>
                <a:spLocks noChangeArrowheads="1"/>
              </p:cNvSpPr>
              <p:nvPr/>
            </p:nvSpPr>
            <p:spPr bwMode="auto">
              <a:xfrm>
                <a:off x="4649" y="2725"/>
                <a:ext cx="98" cy="97"/>
              </a:xfrm>
              <a:custGeom>
                <a:avLst/>
                <a:gdLst>
                  <a:gd name="T0" fmla="*/ 0 w 294"/>
                  <a:gd name="T1" fmla="*/ 291 h 291"/>
                  <a:gd name="T2" fmla="*/ 293 w 294"/>
                  <a:gd name="T3" fmla="*/ 0 h 291"/>
                  <a:gd name="T4" fmla="*/ 294 w 294"/>
                  <a:gd name="T5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4" h="291">
                    <a:moveTo>
                      <a:pt x="0" y="291"/>
                    </a:moveTo>
                    <a:lnTo>
                      <a:pt x="293" y="0"/>
                    </a:lnTo>
                    <a:lnTo>
                      <a:pt x="294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3" name="Freeform 53"/>
              <p:cNvSpPr>
                <a:spLocks noChangeArrowheads="1"/>
              </p:cNvSpPr>
              <p:nvPr/>
            </p:nvSpPr>
            <p:spPr bwMode="auto">
              <a:xfrm>
                <a:off x="4771" y="2728"/>
                <a:ext cx="62" cy="62"/>
              </a:xfrm>
              <a:custGeom>
                <a:avLst/>
                <a:gdLst>
                  <a:gd name="T0" fmla="*/ 0 w 187"/>
                  <a:gd name="T1" fmla="*/ 186 h 186"/>
                  <a:gd name="T2" fmla="*/ 186 w 187"/>
                  <a:gd name="T3" fmla="*/ 0 h 186"/>
                  <a:gd name="T4" fmla="*/ 187 w 187"/>
                  <a:gd name="T5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7" h="186">
                    <a:moveTo>
                      <a:pt x="0" y="186"/>
                    </a:moveTo>
                    <a:lnTo>
                      <a:pt x="186" y="0"/>
                    </a:lnTo>
                    <a:lnTo>
                      <a:pt x="187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4" name="Freeform 54"/>
              <p:cNvSpPr>
                <a:spLocks noChangeArrowheads="1"/>
              </p:cNvSpPr>
              <p:nvPr/>
            </p:nvSpPr>
            <p:spPr bwMode="auto">
              <a:xfrm>
                <a:off x="4850" y="2749"/>
                <a:ext cx="53" cy="52"/>
              </a:xfrm>
              <a:custGeom>
                <a:avLst/>
                <a:gdLst>
                  <a:gd name="T0" fmla="*/ 0 w 157"/>
                  <a:gd name="T1" fmla="*/ 156 h 156"/>
                  <a:gd name="T2" fmla="*/ 156 w 157"/>
                  <a:gd name="T3" fmla="*/ 0 h 156"/>
                  <a:gd name="T4" fmla="*/ 157 w 157"/>
                  <a:gd name="T5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7" h="156">
                    <a:moveTo>
                      <a:pt x="0" y="156"/>
                    </a:moveTo>
                    <a:lnTo>
                      <a:pt x="156" y="0"/>
                    </a:lnTo>
                    <a:lnTo>
                      <a:pt x="157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5" name="Freeform 55"/>
              <p:cNvSpPr>
                <a:spLocks noChangeArrowheads="1"/>
              </p:cNvSpPr>
              <p:nvPr/>
            </p:nvSpPr>
            <p:spPr bwMode="auto">
              <a:xfrm>
                <a:off x="4963" y="2820"/>
                <a:ext cx="48" cy="47"/>
              </a:xfrm>
              <a:custGeom>
                <a:avLst/>
                <a:gdLst>
                  <a:gd name="T0" fmla="*/ 0 w 142"/>
                  <a:gd name="T1" fmla="*/ 140 h 140"/>
                  <a:gd name="T2" fmla="*/ 141 w 142"/>
                  <a:gd name="T3" fmla="*/ 0 h 140"/>
                  <a:gd name="T4" fmla="*/ 142 w 142"/>
                  <a:gd name="T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2" h="140">
                    <a:moveTo>
                      <a:pt x="0" y="140"/>
                    </a:moveTo>
                    <a:lnTo>
                      <a:pt x="141" y="0"/>
                    </a:lnTo>
                    <a:lnTo>
                      <a:pt x="142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6" name="Freeform 56"/>
              <p:cNvSpPr>
                <a:spLocks noChangeArrowheads="1"/>
              </p:cNvSpPr>
              <p:nvPr/>
            </p:nvSpPr>
            <p:spPr bwMode="auto">
              <a:xfrm>
                <a:off x="5031" y="2927"/>
                <a:ext cx="52" cy="52"/>
              </a:xfrm>
              <a:custGeom>
                <a:avLst/>
                <a:gdLst>
                  <a:gd name="T0" fmla="*/ 0 w 156"/>
                  <a:gd name="T1" fmla="*/ 156 h 156"/>
                  <a:gd name="T2" fmla="*/ 155 w 156"/>
                  <a:gd name="T3" fmla="*/ 0 h 156"/>
                  <a:gd name="T4" fmla="*/ 156 w 156"/>
                  <a:gd name="T5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6" h="156">
                    <a:moveTo>
                      <a:pt x="0" y="156"/>
                    </a:moveTo>
                    <a:lnTo>
                      <a:pt x="155" y="0"/>
                    </a:lnTo>
                    <a:lnTo>
                      <a:pt x="156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7" name="Freeform 57"/>
              <p:cNvSpPr>
                <a:spLocks noChangeArrowheads="1"/>
              </p:cNvSpPr>
              <p:nvPr/>
            </p:nvSpPr>
            <p:spPr bwMode="auto">
              <a:xfrm>
                <a:off x="5003" y="2869"/>
                <a:ext cx="48" cy="48"/>
              </a:xfrm>
              <a:custGeom>
                <a:avLst/>
                <a:gdLst>
                  <a:gd name="T0" fmla="*/ 0 w 145"/>
                  <a:gd name="T1" fmla="*/ 144 h 144"/>
                  <a:gd name="T2" fmla="*/ 144 w 145"/>
                  <a:gd name="T3" fmla="*/ 0 h 144"/>
                  <a:gd name="T4" fmla="*/ 145 w 145"/>
                  <a:gd name="T5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5" h="144">
                    <a:moveTo>
                      <a:pt x="0" y="144"/>
                    </a:moveTo>
                    <a:lnTo>
                      <a:pt x="144" y="0"/>
                    </a:lnTo>
                    <a:lnTo>
                      <a:pt x="145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grpSp>
        <p:nvGrpSpPr>
          <p:cNvPr id="58" name="Group 58"/>
          <p:cNvGrpSpPr>
            <a:grpSpLocks/>
          </p:cNvGrpSpPr>
          <p:nvPr/>
        </p:nvGrpSpPr>
        <p:grpSpPr bwMode="auto">
          <a:xfrm>
            <a:off x="8935533" y="1779588"/>
            <a:ext cx="1728788" cy="1733550"/>
            <a:chOff x="1635" y="624"/>
            <a:chExt cx="1089" cy="1092"/>
          </a:xfrm>
        </p:grpSpPr>
        <p:sp>
          <p:nvSpPr>
            <p:cNvPr id="59" name="Arc 59"/>
            <p:cNvSpPr>
              <a:spLocks noChangeArrowheads="1"/>
            </p:cNvSpPr>
            <p:nvPr/>
          </p:nvSpPr>
          <p:spPr bwMode="auto">
            <a:xfrm flipH="1" flipV="1">
              <a:off x="1843" y="836"/>
              <a:ext cx="664" cy="664"/>
            </a:xfrm>
            <a:custGeom>
              <a:avLst/>
              <a:gdLst>
                <a:gd name="T0" fmla="*/ 33546 w 43200"/>
                <a:gd name="T1" fmla="*/ 39595 h 43200"/>
                <a:gd name="T2" fmla="*/ 21600 w 43200"/>
                <a:gd name="T3" fmla="*/ 43200 h 43200"/>
                <a:gd name="T4" fmla="*/ 0 w 43200"/>
                <a:gd name="T5" fmla="*/ 21600 h 43200"/>
                <a:gd name="T6" fmla="*/ 21600 w 43200"/>
                <a:gd name="T7" fmla="*/ 0 h 43200"/>
                <a:gd name="T8" fmla="*/ 43200 w 43200"/>
                <a:gd name="T9" fmla="*/ 21600 h 43200"/>
                <a:gd name="T10" fmla="*/ 42977 w 43200"/>
                <a:gd name="T11" fmla="*/ 24689 h 43200"/>
                <a:gd name="T12" fmla="*/ 33546 w 43200"/>
                <a:gd name="T13" fmla="*/ 39595 h 43200"/>
                <a:gd name="T14" fmla="*/ 21600 w 43200"/>
                <a:gd name="T15" fmla="*/ 43200 h 43200"/>
                <a:gd name="T16" fmla="*/ 0 w 43200"/>
                <a:gd name="T17" fmla="*/ 21600 h 43200"/>
                <a:gd name="T18" fmla="*/ 21600 w 43200"/>
                <a:gd name="T19" fmla="*/ 0 h 43200"/>
                <a:gd name="T20" fmla="*/ 43200 w 43200"/>
                <a:gd name="T21" fmla="*/ 21600 h 43200"/>
                <a:gd name="T22" fmla="*/ 42977 w 43200"/>
                <a:gd name="T23" fmla="*/ 24689 h 43200"/>
                <a:gd name="T24" fmla="*/ 21600 w 43200"/>
                <a:gd name="T25" fmla="*/ 21600 h 43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200" h="43200" fill="none">
                  <a:moveTo>
                    <a:pt x="33546" y="39595"/>
                  </a:moveTo>
                  <a:cubicBezTo>
                    <a:pt x="30005" y="41946"/>
                    <a:pt x="25850" y="43199"/>
                    <a:pt x="21600" y="43200"/>
                  </a:cubicBezTo>
                  <a:cubicBezTo>
                    <a:pt x="9670" y="43200"/>
                    <a:pt x="0" y="33529"/>
                    <a:pt x="0" y="21600"/>
                  </a:cubicBezTo>
                  <a:cubicBezTo>
                    <a:pt x="0" y="9670"/>
                    <a:pt x="9670" y="0"/>
                    <a:pt x="21600" y="0"/>
                  </a:cubicBezTo>
                  <a:cubicBezTo>
                    <a:pt x="33529" y="0"/>
                    <a:pt x="43200" y="9670"/>
                    <a:pt x="43200" y="21600"/>
                  </a:cubicBezTo>
                  <a:cubicBezTo>
                    <a:pt x="43200" y="22633"/>
                    <a:pt x="43125" y="23666"/>
                    <a:pt x="42977" y="24689"/>
                  </a:cubicBezTo>
                </a:path>
                <a:path w="43200" h="43200" stroke="0">
                  <a:moveTo>
                    <a:pt x="33546" y="39595"/>
                  </a:moveTo>
                  <a:cubicBezTo>
                    <a:pt x="30005" y="41946"/>
                    <a:pt x="25850" y="43199"/>
                    <a:pt x="21600" y="43200"/>
                  </a:cubicBezTo>
                  <a:cubicBezTo>
                    <a:pt x="9670" y="43200"/>
                    <a:pt x="0" y="33529"/>
                    <a:pt x="0" y="21600"/>
                  </a:cubicBezTo>
                  <a:cubicBezTo>
                    <a:pt x="0" y="9670"/>
                    <a:pt x="9670" y="0"/>
                    <a:pt x="21600" y="0"/>
                  </a:cubicBezTo>
                  <a:cubicBezTo>
                    <a:pt x="33529" y="0"/>
                    <a:pt x="43200" y="9670"/>
                    <a:pt x="43200" y="21600"/>
                  </a:cubicBezTo>
                  <a:cubicBezTo>
                    <a:pt x="43200" y="22633"/>
                    <a:pt x="43125" y="23666"/>
                    <a:pt x="42977" y="24689"/>
                  </a:cubicBezTo>
                  <a:lnTo>
                    <a:pt x="21600" y="21600"/>
                  </a:lnTo>
                  <a:close/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0" name="Oval 60"/>
            <p:cNvSpPr>
              <a:spLocks noChangeArrowheads="1"/>
            </p:cNvSpPr>
            <p:nvPr/>
          </p:nvSpPr>
          <p:spPr bwMode="auto">
            <a:xfrm>
              <a:off x="1918" y="903"/>
              <a:ext cx="517" cy="522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1" name="Oval 61"/>
            <p:cNvSpPr>
              <a:spLocks noChangeArrowheads="1"/>
            </p:cNvSpPr>
            <p:nvPr/>
          </p:nvSpPr>
          <p:spPr bwMode="auto">
            <a:xfrm>
              <a:off x="1695" y="1232"/>
              <a:ext cx="98" cy="92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2" name="Freeform 62"/>
            <p:cNvSpPr>
              <a:spLocks noChangeArrowheads="1"/>
            </p:cNvSpPr>
            <p:nvPr/>
          </p:nvSpPr>
          <p:spPr bwMode="auto">
            <a:xfrm>
              <a:off x="1635" y="1227"/>
              <a:ext cx="54" cy="159"/>
            </a:xfrm>
            <a:custGeom>
              <a:avLst/>
              <a:gdLst>
                <a:gd name="T0" fmla="*/ 34 w 163"/>
                <a:gd name="T1" fmla="*/ 0 h 478"/>
                <a:gd name="T2" fmla="*/ 0 w 163"/>
                <a:gd name="T3" fmla="*/ 265 h 478"/>
                <a:gd name="T4" fmla="*/ 162 w 163"/>
                <a:gd name="T5" fmla="*/ 478 h 478"/>
                <a:gd name="T6" fmla="*/ 163 w 163"/>
                <a:gd name="T7" fmla="*/ 478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478">
                  <a:moveTo>
                    <a:pt x="34" y="0"/>
                  </a:moveTo>
                  <a:lnTo>
                    <a:pt x="0" y="265"/>
                  </a:lnTo>
                  <a:lnTo>
                    <a:pt x="162" y="478"/>
                  </a:lnTo>
                  <a:lnTo>
                    <a:pt x="163" y="478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3" name="Freeform 63"/>
            <p:cNvSpPr>
              <a:spLocks noChangeArrowheads="1"/>
            </p:cNvSpPr>
            <p:nvPr/>
          </p:nvSpPr>
          <p:spPr bwMode="auto">
            <a:xfrm>
              <a:off x="1646" y="1227"/>
              <a:ext cx="206" cy="119"/>
            </a:xfrm>
            <a:custGeom>
              <a:avLst/>
              <a:gdLst>
                <a:gd name="T0" fmla="*/ 0 w 618"/>
                <a:gd name="T1" fmla="*/ 0 h 357"/>
                <a:gd name="T2" fmla="*/ 617 w 618"/>
                <a:gd name="T3" fmla="*/ 357 h 357"/>
                <a:gd name="T4" fmla="*/ 618 w 618"/>
                <a:gd name="T5" fmla="*/ 357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357">
                  <a:moveTo>
                    <a:pt x="0" y="0"/>
                  </a:moveTo>
                  <a:lnTo>
                    <a:pt x="617" y="357"/>
                  </a:lnTo>
                  <a:lnTo>
                    <a:pt x="618" y="357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4" name="Freeform 64"/>
            <p:cNvSpPr>
              <a:spLocks noChangeArrowheads="1"/>
            </p:cNvSpPr>
            <p:nvPr/>
          </p:nvSpPr>
          <p:spPr bwMode="auto">
            <a:xfrm>
              <a:off x="1646" y="678"/>
              <a:ext cx="316" cy="549"/>
            </a:xfrm>
            <a:custGeom>
              <a:avLst/>
              <a:gdLst>
                <a:gd name="T0" fmla="*/ 949 w 949"/>
                <a:gd name="T1" fmla="*/ 0 h 1645"/>
                <a:gd name="T2" fmla="*/ 0 w 949"/>
                <a:gd name="T3" fmla="*/ 1645 h 1645"/>
                <a:gd name="T4" fmla="*/ 1 w 949"/>
                <a:gd name="T5" fmla="*/ 1645 h 1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9" h="1645">
                  <a:moveTo>
                    <a:pt x="949" y="0"/>
                  </a:moveTo>
                  <a:lnTo>
                    <a:pt x="0" y="1645"/>
                  </a:lnTo>
                  <a:lnTo>
                    <a:pt x="1" y="1645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5" name="Freeform 65"/>
            <p:cNvSpPr>
              <a:spLocks noChangeArrowheads="1"/>
            </p:cNvSpPr>
            <p:nvPr/>
          </p:nvSpPr>
          <p:spPr bwMode="auto">
            <a:xfrm>
              <a:off x="2520" y="1000"/>
              <a:ext cx="167" cy="97"/>
            </a:xfrm>
            <a:custGeom>
              <a:avLst/>
              <a:gdLst>
                <a:gd name="T0" fmla="*/ 0 w 503"/>
                <a:gd name="T1" fmla="*/ 0 h 289"/>
                <a:gd name="T2" fmla="*/ 502 w 503"/>
                <a:gd name="T3" fmla="*/ 289 h 289"/>
                <a:gd name="T4" fmla="*/ 503 w 503"/>
                <a:gd name="T5" fmla="*/ 28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3" h="289">
                  <a:moveTo>
                    <a:pt x="0" y="0"/>
                  </a:moveTo>
                  <a:lnTo>
                    <a:pt x="502" y="289"/>
                  </a:lnTo>
                  <a:lnTo>
                    <a:pt x="503" y="289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6" name="Freeform 66"/>
            <p:cNvSpPr>
              <a:spLocks noChangeArrowheads="1"/>
            </p:cNvSpPr>
            <p:nvPr/>
          </p:nvSpPr>
          <p:spPr bwMode="auto">
            <a:xfrm>
              <a:off x="2122" y="636"/>
              <a:ext cx="548" cy="316"/>
            </a:xfrm>
            <a:custGeom>
              <a:avLst/>
              <a:gdLst>
                <a:gd name="T0" fmla="*/ 0 w 1644"/>
                <a:gd name="T1" fmla="*/ 0 h 949"/>
                <a:gd name="T2" fmla="*/ 1643 w 1644"/>
                <a:gd name="T3" fmla="*/ 949 h 949"/>
                <a:gd name="T4" fmla="*/ 1644 w 1644"/>
                <a:gd name="T5" fmla="*/ 949 h 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44" h="949">
                  <a:moveTo>
                    <a:pt x="0" y="0"/>
                  </a:moveTo>
                  <a:lnTo>
                    <a:pt x="1643" y="949"/>
                  </a:lnTo>
                  <a:lnTo>
                    <a:pt x="1644" y="949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7" name="Freeform 67"/>
            <p:cNvSpPr>
              <a:spLocks noChangeArrowheads="1"/>
            </p:cNvSpPr>
            <p:nvPr/>
          </p:nvSpPr>
          <p:spPr bwMode="auto">
            <a:xfrm>
              <a:off x="2396" y="1098"/>
              <a:ext cx="322" cy="562"/>
            </a:xfrm>
            <a:custGeom>
              <a:avLst/>
              <a:gdLst>
                <a:gd name="T0" fmla="*/ 322 w 322"/>
                <a:gd name="T1" fmla="*/ 0 h 562"/>
                <a:gd name="T2" fmla="*/ 0 w 322"/>
                <a:gd name="T3" fmla="*/ 562 h 562"/>
                <a:gd name="T4" fmla="*/ 0 w 322"/>
                <a:gd name="T5" fmla="*/ 562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2" h="562">
                  <a:moveTo>
                    <a:pt x="322" y="0"/>
                  </a:moveTo>
                  <a:lnTo>
                    <a:pt x="0" y="562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8" name="Freeform 68"/>
            <p:cNvSpPr>
              <a:spLocks noChangeArrowheads="1"/>
            </p:cNvSpPr>
            <p:nvPr/>
          </p:nvSpPr>
          <p:spPr bwMode="auto">
            <a:xfrm>
              <a:off x="1689" y="1386"/>
              <a:ext cx="548" cy="317"/>
            </a:xfrm>
            <a:custGeom>
              <a:avLst/>
              <a:gdLst>
                <a:gd name="T0" fmla="*/ 0 w 1645"/>
                <a:gd name="T1" fmla="*/ 0 h 950"/>
                <a:gd name="T2" fmla="*/ 1644 w 1645"/>
                <a:gd name="T3" fmla="*/ 950 h 950"/>
                <a:gd name="T4" fmla="*/ 1645 w 1645"/>
                <a:gd name="T5" fmla="*/ 950 h 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45" h="950">
                  <a:moveTo>
                    <a:pt x="0" y="0"/>
                  </a:moveTo>
                  <a:lnTo>
                    <a:pt x="1644" y="950"/>
                  </a:lnTo>
                  <a:lnTo>
                    <a:pt x="1645" y="95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9" name="Freeform 69"/>
            <p:cNvSpPr>
              <a:spLocks noChangeArrowheads="1"/>
            </p:cNvSpPr>
            <p:nvPr/>
          </p:nvSpPr>
          <p:spPr bwMode="auto">
            <a:xfrm>
              <a:off x="1689" y="1198"/>
              <a:ext cx="108" cy="188"/>
            </a:xfrm>
            <a:custGeom>
              <a:avLst/>
              <a:gdLst>
                <a:gd name="T0" fmla="*/ 325 w 325"/>
                <a:gd name="T1" fmla="*/ 0 h 564"/>
                <a:gd name="T2" fmla="*/ 0 w 325"/>
                <a:gd name="T3" fmla="*/ 564 h 564"/>
                <a:gd name="T4" fmla="*/ 1 w 325"/>
                <a:gd name="T5" fmla="*/ 564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5" h="564">
                  <a:moveTo>
                    <a:pt x="325" y="0"/>
                  </a:moveTo>
                  <a:lnTo>
                    <a:pt x="0" y="564"/>
                  </a:lnTo>
                  <a:lnTo>
                    <a:pt x="1" y="564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0" name="Freeform 70"/>
            <p:cNvSpPr>
              <a:spLocks noChangeArrowheads="1"/>
            </p:cNvSpPr>
            <p:nvPr/>
          </p:nvSpPr>
          <p:spPr bwMode="auto">
            <a:xfrm>
              <a:off x="2249" y="1522"/>
              <a:ext cx="91" cy="159"/>
            </a:xfrm>
            <a:custGeom>
              <a:avLst/>
              <a:gdLst>
                <a:gd name="T0" fmla="*/ 275 w 275"/>
                <a:gd name="T1" fmla="*/ 0 h 477"/>
                <a:gd name="T2" fmla="*/ 0 w 275"/>
                <a:gd name="T3" fmla="*/ 477 h 477"/>
                <a:gd name="T4" fmla="*/ 2 w 275"/>
                <a:gd name="T5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5" h="477">
                  <a:moveTo>
                    <a:pt x="275" y="0"/>
                  </a:moveTo>
                  <a:lnTo>
                    <a:pt x="0" y="477"/>
                  </a:lnTo>
                  <a:lnTo>
                    <a:pt x="2" y="477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1" name="Freeform 71"/>
            <p:cNvSpPr>
              <a:spLocks noChangeArrowheads="1"/>
            </p:cNvSpPr>
            <p:nvPr/>
          </p:nvSpPr>
          <p:spPr bwMode="auto">
            <a:xfrm>
              <a:off x="2220" y="1558"/>
              <a:ext cx="151" cy="87"/>
            </a:xfrm>
            <a:custGeom>
              <a:avLst/>
              <a:gdLst>
                <a:gd name="T0" fmla="*/ 0 w 452"/>
                <a:gd name="T1" fmla="*/ 0 h 261"/>
                <a:gd name="T2" fmla="*/ 451 w 452"/>
                <a:gd name="T3" fmla="*/ 261 h 261"/>
                <a:gd name="T4" fmla="*/ 452 w 452"/>
                <a:gd name="T5" fmla="*/ 2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2" h="261">
                  <a:moveTo>
                    <a:pt x="0" y="0"/>
                  </a:moveTo>
                  <a:lnTo>
                    <a:pt x="451" y="261"/>
                  </a:lnTo>
                  <a:lnTo>
                    <a:pt x="452" y="261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2" name="Freeform 72"/>
            <p:cNvSpPr>
              <a:spLocks noChangeArrowheads="1"/>
            </p:cNvSpPr>
            <p:nvPr/>
          </p:nvSpPr>
          <p:spPr bwMode="auto">
            <a:xfrm>
              <a:off x="2245" y="1551"/>
              <a:ext cx="100" cy="100"/>
            </a:xfrm>
            <a:custGeom>
              <a:avLst/>
              <a:gdLst>
                <a:gd name="T0" fmla="*/ 300 w 301"/>
                <a:gd name="T1" fmla="*/ 150 h 300"/>
                <a:gd name="T2" fmla="*/ 256 w 301"/>
                <a:gd name="T3" fmla="*/ 45 h 300"/>
                <a:gd name="T4" fmla="*/ 150 w 301"/>
                <a:gd name="T5" fmla="*/ 0 h 300"/>
                <a:gd name="T6" fmla="*/ 44 w 301"/>
                <a:gd name="T7" fmla="*/ 45 h 300"/>
                <a:gd name="T8" fmla="*/ 0 w 301"/>
                <a:gd name="T9" fmla="*/ 150 h 300"/>
                <a:gd name="T10" fmla="*/ 44 w 301"/>
                <a:gd name="T11" fmla="*/ 256 h 300"/>
                <a:gd name="T12" fmla="*/ 150 w 301"/>
                <a:gd name="T13" fmla="*/ 300 h 300"/>
                <a:gd name="T14" fmla="*/ 256 w 301"/>
                <a:gd name="T15" fmla="*/ 256 h 300"/>
                <a:gd name="T16" fmla="*/ 300 w 301"/>
                <a:gd name="T17" fmla="*/ 150 h 300"/>
                <a:gd name="T18" fmla="*/ 301 w 301"/>
                <a:gd name="T19" fmla="*/ 15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1" h="300">
                  <a:moveTo>
                    <a:pt x="300" y="150"/>
                  </a:moveTo>
                  <a:lnTo>
                    <a:pt x="256" y="45"/>
                  </a:lnTo>
                  <a:lnTo>
                    <a:pt x="150" y="0"/>
                  </a:lnTo>
                  <a:lnTo>
                    <a:pt x="44" y="45"/>
                  </a:lnTo>
                  <a:lnTo>
                    <a:pt x="0" y="150"/>
                  </a:lnTo>
                  <a:lnTo>
                    <a:pt x="44" y="256"/>
                  </a:lnTo>
                  <a:lnTo>
                    <a:pt x="150" y="300"/>
                  </a:lnTo>
                  <a:lnTo>
                    <a:pt x="256" y="256"/>
                  </a:lnTo>
                  <a:lnTo>
                    <a:pt x="300" y="150"/>
                  </a:lnTo>
                  <a:lnTo>
                    <a:pt x="301" y="15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3" name="Freeform 73"/>
            <p:cNvSpPr>
              <a:spLocks noChangeArrowheads="1"/>
            </p:cNvSpPr>
            <p:nvPr/>
          </p:nvSpPr>
          <p:spPr bwMode="auto">
            <a:xfrm>
              <a:off x="2237" y="1662"/>
              <a:ext cx="163" cy="54"/>
            </a:xfrm>
            <a:custGeom>
              <a:avLst/>
              <a:gdLst>
                <a:gd name="T0" fmla="*/ 0 w 163"/>
                <a:gd name="T1" fmla="*/ 41 h 54"/>
                <a:gd name="T2" fmla="*/ 67 w 163"/>
                <a:gd name="T3" fmla="*/ 54 h 54"/>
                <a:gd name="T4" fmla="*/ 115 w 163"/>
                <a:gd name="T5" fmla="*/ 42 h 54"/>
                <a:gd name="T6" fmla="*/ 163 w 163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54">
                  <a:moveTo>
                    <a:pt x="0" y="41"/>
                  </a:moveTo>
                  <a:lnTo>
                    <a:pt x="67" y="54"/>
                  </a:lnTo>
                  <a:lnTo>
                    <a:pt x="115" y="42"/>
                  </a:lnTo>
                  <a:lnTo>
                    <a:pt x="163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74" name="Group 74"/>
            <p:cNvGrpSpPr>
              <a:grpSpLocks/>
            </p:cNvGrpSpPr>
            <p:nvPr/>
          </p:nvGrpSpPr>
          <p:grpSpPr bwMode="auto">
            <a:xfrm>
              <a:off x="1745" y="721"/>
              <a:ext cx="863" cy="891"/>
              <a:chOff x="1745" y="721"/>
              <a:chExt cx="863" cy="891"/>
            </a:xfrm>
          </p:grpSpPr>
          <p:sp>
            <p:nvSpPr>
              <p:cNvPr id="111" name="Freeform 75"/>
              <p:cNvSpPr>
                <a:spLocks noChangeArrowheads="1"/>
              </p:cNvSpPr>
              <p:nvPr/>
            </p:nvSpPr>
            <p:spPr bwMode="auto">
              <a:xfrm>
                <a:off x="2354" y="1270"/>
                <a:ext cx="254" cy="147"/>
              </a:xfrm>
              <a:custGeom>
                <a:avLst/>
                <a:gdLst>
                  <a:gd name="T0" fmla="*/ 0 w 762"/>
                  <a:gd name="T1" fmla="*/ 0 h 439"/>
                  <a:gd name="T2" fmla="*/ 760 w 762"/>
                  <a:gd name="T3" fmla="*/ 439 h 439"/>
                  <a:gd name="T4" fmla="*/ 762 w 762"/>
                  <a:gd name="T5" fmla="*/ 439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62" h="439">
                    <a:moveTo>
                      <a:pt x="0" y="0"/>
                    </a:moveTo>
                    <a:lnTo>
                      <a:pt x="760" y="439"/>
                    </a:lnTo>
                    <a:lnTo>
                      <a:pt x="762" y="439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2" name="Freeform 76"/>
              <p:cNvSpPr>
                <a:spLocks noChangeArrowheads="1"/>
              </p:cNvSpPr>
              <p:nvPr/>
            </p:nvSpPr>
            <p:spPr bwMode="auto">
              <a:xfrm>
                <a:off x="2139" y="721"/>
                <a:ext cx="299" cy="518"/>
              </a:xfrm>
              <a:custGeom>
                <a:avLst/>
                <a:gdLst>
                  <a:gd name="T0" fmla="*/ 896 w 896"/>
                  <a:gd name="T1" fmla="*/ 0 h 1553"/>
                  <a:gd name="T2" fmla="*/ 0 w 896"/>
                  <a:gd name="T3" fmla="*/ 1553 h 1553"/>
                  <a:gd name="T4" fmla="*/ 1 w 896"/>
                  <a:gd name="T5" fmla="*/ 1553 h 15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96" h="1553">
                    <a:moveTo>
                      <a:pt x="896" y="0"/>
                    </a:moveTo>
                    <a:lnTo>
                      <a:pt x="0" y="1553"/>
                    </a:lnTo>
                    <a:lnTo>
                      <a:pt x="1" y="1553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3" name="Freeform 77"/>
              <p:cNvSpPr>
                <a:spLocks noChangeArrowheads="1"/>
              </p:cNvSpPr>
              <p:nvPr/>
            </p:nvSpPr>
            <p:spPr bwMode="auto">
              <a:xfrm>
                <a:off x="1745" y="919"/>
                <a:ext cx="510" cy="293"/>
              </a:xfrm>
              <a:custGeom>
                <a:avLst/>
                <a:gdLst>
                  <a:gd name="T0" fmla="*/ 0 w 1528"/>
                  <a:gd name="T1" fmla="*/ 0 h 881"/>
                  <a:gd name="T2" fmla="*/ 1527 w 1528"/>
                  <a:gd name="T3" fmla="*/ 881 h 881"/>
                  <a:gd name="T4" fmla="*/ 1528 w 1528"/>
                  <a:gd name="T5" fmla="*/ 881 h 8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8" h="881">
                    <a:moveTo>
                      <a:pt x="0" y="0"/>
                    </a:moveTo>
                    <a:lnTo>
                      <a:pt x="1527" y="881"/>
                    </a:lnTo>
                    <a:lnTo>
                      <a:pt x="1528" y="881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4" name="Freeform 78"/>
              <p:cNvSpPr>
                <a:spLocks noChangeArrowheads="1"/>
              </p:cNvSpPr>
              <p:nvPr/>
            </p:nvSpPr>
            <p:spPr bwMode="auto">
              <a:xfrm>
                <a:off x="1923" y="1320"/>
                <a:ext cx="169" cy="292"/>
              </a:xfrm>
              <a:custGeom>
                <a:avLst/>
                <a:gdLst>
                  <a:gd name="T0" fmla="*/ 506 w 506"/>
                  <a:gd name="T1" fmla="*/ 0 h 876"/>
                  <a:gd name="T2" fmla="*/ 0 w 506"/>
                  <a:gd name="T3" fmla="*/ 876 h 876"/>
                  <a:gd name="T4" fmla="*/ 1 w 506"/>
                  <a:gd name="T5" fmla="*/ 876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6" h="876">
                    <a:moveTo>
                      <a:pt x="506" y="0"/>
                    </a:moveTo>
                    <a:lnTo>
                      <a:pt x="0" y="876"/>
                    </a:lnTo>
                    <a:lnTo>
                      <a:pt x="1" y="876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5" name="Freeform 79"/>
              <p:cNvSpPr>
                <a:spLocks noChangeArrowheads="1"/>
              </p:cNvSpPr>
              <p:nvPr/>
            </p:nvSpPr>
            <p:spPr bwMode="auto">
              <a:xfrm>
                <a:off x="2111" y="1270"/>
                <a:ext cx="10" cy="17"/>
              </a:xfrm>
              <a:custGeom>
                <a:avLst/>
                <a:gdLst>
                  <a:gd name="T0" fmla="*/ 29 w 29"/>
                  <a:gd name="T1" fmla="*/ 0 h 51"/>
                  <a:gd name="T2" fmla="*/ 0 w 29"/>
                  <a:gd name="T3" fmla="*/ 51 h 51"/>
                  <a:gd name="T4" fmla="*/ 1 w 29"/>
                  <a:gd name="T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1">
                    <a:moveTo>
                      <a:pt x="29" y="0"/>
                    </a:moveTo>
                    <a:lnTo>
                      <a:pt x="0" y="51"/>
                    </a:lnTo>
                    <a:lnTo>
                      <a:pt x="1" y="51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6" name="Freeform 80"/>
              <p:cNvSpPr>
                <a:spLocks noChangeArrowheads="1"/>
              </p:cNvSpPr>
              <p:nvPr/>
            </p:nvSpPr>
            <p:spPr bwMode="auto">
              <a:xfrm>
                <a:off x="2291" y="1234"/>
                <a:ext cx="18" cy="10"/>
              </a:xfrm>
              <a:custGeom>
                <a:avLst/>
                <a:gdLst>
                  <a:gd name="T0" fmla="*/ 0 w 53"/>
                  <a:gd name="T1" fmla="*/ 0 h 29"/>
                  <a:gd name="T2" fmla="*/ 52 w 53"/>
                  <a:gd name="T3" fmla="*/ 29 h 29"/>
                  <a:gd name="T4" fmla="*/ 53 w 53"/>
                  <a:gd name="T5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" h="29">
                    <a:moveTo>
                      <a:pt x="0" y="0"/>
                    </a:moveTo>
                    <a:lnTo>
                      <a:pt x="52" y="29"/>
                    </a:lnTo>
                    <a:lnTo>
                      <a:pt x="53" y="29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75" name="Freeform 81"/>
            <p:cNvSpPr>
              <a:spLocks noChangeArrowheads="1"/>
            </p:cNvSpPr>
            <p:nvPr/>
          </p:nvSpPr>
          <p:spPr bwMode="auto">
            <a:xfrm>
              <a:off x="2013" y="686"/>
              <a:ext cx="100" cy="101"/>
            </a:xfrm>
            <a:custGeom>
              <a:avLst/>
              <a:gdLst>
                <a:gd name="T0" fmla="*/ 299 w 300"/>
                <a:gd name="T1" fmla="*/ 150 h 301"/>
                <a:gd name="T2" fmla="*/ 256 w 300"/>
                <a:gd name="T3" fmla="*/ 45 h 301"/>
                <a:gd name="T4" fmla="*/ 150 w 300"/>
                <a:gd name="T5" fmla="*/ 0 h 301"/>
                <a:gd name="T6" fmla="*/ 44 w 300"/>
                <a:gd name="T7" fmla="*/ 45 h 301"/>
                <a:gd name="T8" fmla="*/ 0 w 300"/>
                <a:gd name="T9" fmla="*/ 150 h 301"/>
                <a:gd name="T10" fmla="*/ 44 w 300"/>
                <a:gd name="T11" fmla="*/ 256 h 301"/>
                <a:gd name="T12" fmla="*/ 150 w 300"/>
                <a:gd name="T13" fmla="*/ 301 h 301"/>
                <a:gd name="T14" fmla="*/ 256 w 300"/>
                <a:gd name="T15" fmla="*/ 256 h 301"/>
                <a:gd name="T16" fmla="*/ 299 w 300"/>
                <a:gd name="T17" fmla="*/ 150 h 301"/>
                <a:gd name="T18" fmla="*/ 300 w 300"/>
                <a:gd name="T19" fmla="*/ 15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0" h="301">
                  <a:moveTo>
                    <a:pt x="299" y="150"/>
                  </a:moveTo>
                  <a:lnTo>
                    <a:pt x="256" y="45"/>
                  </a:lnTo>
                  <a:lnTo>
                    <a:pt x="150" y="0"/>
                  </a:lnTo>
                  <a:lnTo>
                    <a:pt x="44" y="45"/>
                  </a:lnTo>
                  <a:lnTo>
                    <a:pt x="0" y="150"/>
                  </a:lnTo>
                  <a:lnTo>
                    <a:pt x="44" y="256"/>
                  </a:lnTo>
                  <a:lnTo>
                    <a:pt x="150" y="301"/>
                  </a:lnTo>
                  <a:lnTo>
                    <a:pt x="256" y="256"/>
                  </a:lnTo>
                  <a:lnTo>
                    <a:pt x="299" y="150"/>
                  </a:lnTo>
                  <a:lnTo>
                    <a:pt x="300" y="15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6" name="Freeform 82"/>
            <p:cNvSpPr>
              <a:spLocks noChangeArrowheads="1"/>
            </p:cNvSpPr>
            <p:nvPr/>
          </p:nvSpPr>
          <p:spPr bwMode="auto">
            <a:xfrm>
              <a:off x="1962" y="624"/>
              <a:ext cx="160" cy="54"/>
            </a:xfrm>
            <a:custGeom>
              <a:avLst/>
              <a:gdLst>
                <a:gd name="T0" fmla="*/ 478 w 478"/>
                <a:gd name="T1" fmla="*/ 36 h 164"/>
                <a:gd name="T2" fmla="*/ 212 w 478"/>
                <a:gd name="T3" fmla="*/ 0 h 164"/>
                <a:gd name="T4" fmla="*/ 0 w 478"/>
                <a:gd name="T5" fmla="*/ 164 h 164"/>
                <a:gd name="T6" fmla="*/ 1 w 478"/>
                <a:gd name="T7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8" h="164">
                  <a:moveTo>
                    <a:pt x="478" y="36"/>
                  </a:moveTo>
                  <a:lnTo>
                    <a:pt x="212" y="0"/>
                  </a:lnTo>
                  <a:lnTo>
                    <a:pt x="0" y="164"/>
                  </a:lnTo>
                  <a:lnTo>
                    <a:pt x="1" y="164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7" name="Freeform 83"/>
            <p:cNvSpPr>
              <a:spLocks noChangeArrowheads="1"/>
            </p:cNvSpPr>
            <p:nvPr/>
          </p:nvSpPr>
          <p:spPr bwMode="auto">
            <a:xfrm>
              <a:off x="1992" y="695"/>
              <a:ext cx="158" cy="92"/>
            </a:xfrm>
            <a:custGeom>
              <a:avLst/>
              <a:gdLst>
                <a:gd name="T0" fmla="*/ 0 w 475"/>
                <a:gd name="T1" fmla="*/ 0 h 274"/>
                <a:gd name="T2" fmla="*/ 473 w 475"/>
                <a:gd name="T3" fmla="*/ 274 h 274"/>
                <a:gd name="T4" fmla="*/ 475 w 475"/>
                <a:gd name="T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5" h="274">
                  <a:moveTo>
                    <a:pt x="0" y="0"/>
                  </a:moveTo>
                  <a:lnTo>
                    <a:pt x="473" y="274"/>
                  </a:lnTo>
                  <a:lnTo>
                    <a:pt x="475" y="274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8" name="Freeform 84"/>
            <p:cNvSpPr>
              <a:spLocks noChangeArrowheads="1"/>
            </p:cNvSpPr>
            <p:nvPr/>
          </p:nvSpPr>
          <p:spPr bwMode="auto">
            <a:xfrm>
              <a:off x="1864" y="850"/>
              <a:ext cx="86" cy="50"/>
            </a:xfrm>
            <a:custGeom>
              <a:avLst/>
              <a:gdLst>
                <a:gd name="T0" fmla="*/ 0 w 260"/>
                <a:gd name="T1" fmla="*/ 0 h 150"/>
                <a:gd name="T2" fmla="*/ 259 w 260"/>
                <a:gd name="T3" fmla="*/ 150 h 150"/>
                <a:gd name="T4" fmla="*/ 260 w 260"/>
                <a:gd name="T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0" h="150">
                  <a:moveTo>
                    <a:pt x="0" y="0"/>
                  </a:moveTo>
                  <a:lnTo>
                    <a:pt x="259" y="150"/>
                  </a:lnTo>
                  <a:lnTo>
                    <a:pt x="260" y="15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9" name="Freeform 85"/>
            <p:cNvSpPr>
              <a:spLocks noChangeArrowheads="1"/>
            </p:cNvSpPr>
            <p:nvPr/>
          </p:nvSpPr>
          <p:spPr bwMode="auto">
            <a:xfrm>
              <a:off x="1771" y="1009"/>
              <a:ext cx="152" cy="87"/>
            </a:xfrm>
            <a:custGeom>
              <a:avLst/>
              <a:gdLst>
                <a:gd name="T0" fmla="*/ 0 w 455"/>
                <a:gd name="T1" fmla="*/ 0 h 261"/>
                <a:gd name="T2" fmla="*/ 454 w 455"/>
                <a:gd name="T3" fmla="*/ 261 h 261"/>
                <a:gd name="T4" fmla="*/ 455 w 455"/>
                <a:gd name="T5" fmla="*/ 2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5" h="261">
                  <a:moveTo>
                    <a:pt x="0" y="0"/>
                  </a:moveTo>
                  <a:lnTo>
                    <a:pt x="454" y="261"/>
                  </a:lnTo>
                  <a:lnTo>
                    <a:pt x="455" y="261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0" name="Freeform 86"/>
            <p:cNvSpPr>
              <a:spLocks noChangeArrowheads="1"/>
            </p:cNvSpPr>
            <p:nvPr/>
          </p:nvSpPr>
          <p:spPr bwMode="auto">
            <a:xfrm>
              <a:off x="1745" y="1055"/>
              <a:ext cx="87" cy="50"/>
            </a:xfrm>
            <a:custGeom>
              <a:avLst/>
              <a:gdLst>
                <a:gd name="T0" fmla="*/ 0 w 261"/>
                <a:gd name="T1" fmla="*/ 0 h 149"/>
                <a:gd name="T2" fmla="*/ 259 w 261"/>
                <a:gd name="T3" fmla="*/ 149 h 149"/>
                <a:gd name="T4" fmla="*/ 261 w 261"/>
                <a:gd name="T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1" h="149">
                  <a:moveTo>
                    <a:pt x="0" y="0"/>
                  </a:moveTo>
                  <a:lnTo>
                    <a:pt x="259" y="149"/>
                  </a:lnTo>
                  <a:lnTo>
                    <a:pt x="261" y="149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1" name="Freeform 87"/>
            <p:cNvSpPr>
              <a:spLocks noChangeArrowheads="1"/>
            </p:cNvSpPr>
            <p:nvPr/>
          </p:nvSpPr>
          <p:spPr bwMode="auto">
            <a:xfrm>
              <a:off x="1831" y="1105"/>
              <a:ext cx="17" cy="32"/>
            </a:xfrm>
            <a:custGeom>
              <a:avLst/>
              <a:gdLst>
                <a:gd name="T0" fmla="*/ 50 w 50"/>
                <a:gd name="T1" fmla="*/ 96 h 96"/>
                <a:gd name="T2" fmla="*/ 0 w 50"/>
                <a:gd name="T3" fmla="*/ 0 h 96"/>
                <a:gd name="T4" fmla="*/ 2 w 50"/>
                <a:gd name="T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96">
                  <a:moveTo>
                    <a:pt x="50" y="96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2" name="Freeform 88"/>
            <p:cNvSpPr>
              <a:spLocks noChangeArrowheads="1"/>
            </p:cNvSpPr>
            <p:nvPr/>
          </p:nvSpPr>
          <p:spPr bwMode="auto">
            <a:xfrm>
              <a:off x="1950" y="898"/>
              <a:ext cx="36" cy="2"/>
            </a:xfrm>
            <a:custGeom>
              <a:avLst/>
              <a:gdLst>
                <a:gd name="T0" fmla="*/ 0 w 109"/>
                <a:gd name="T1" fmla="*/ 6 h 6"/>
                <a:gd name="T2" fmla="*/ 108 w 109"/>
                <a:gd name="T3" fmla="*/ 0 h 6"/>
                <a:gd name="T4" fmla="*/ 109 w 109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" h="6">
                  <a:moveTo>
                    <a:pt x="0" y="6"/>
                  </a:moveTo>
                  <a:lnTo>
                    <a:pt x="108" y="0"/>
                  </a:lnTo>
                  <a:lnTo>
                    <a:pt x="109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3" name="Freeform 89"/>
            <p:cNvSpPr>
              <a:spLocks noChangeArrowheads="1"/>
            </p:cNvSpPr>
            <p:nvPr/>
          </p:nvSpPr>
          <p:spPr bwMode="auto">
            <a:xfrm>
              <a:off x="2016" y="662"/>
              <a:ext cx="90" cy="157"/>
            </a:xfrm>
            <a:custGeom>
              <a:avLst/>
              <a:gdLst>
                <a:gd name="T0" fmla="*/ 271 w 271"/>
                <a:gd name="T1" fmla="*/ 0 h 470"/>
                <a:gd name="T2" fmla="*/ 0 w 271"/>
                <a:gd name="T3" fmla="*/ 470 h 470"/>
                <a:gd name="T4" fmla="*/ 1 w 271"/>
                <a:gd name="T5" fmla="*/ 47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1" h="470">
                  <a:moveTo>
                    <a:pt x="271" y="0"/>
                  </a:moveTo>
                  <a:lnTo>
                    <a:pt x="0" y="470"/>
                  </a:lnTo>
                  <a:lnTo>
                    <a:pt x="1" y="47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4" name="Freeform 90"/>
            <p:cNvSpPr>
              <a:spLocks noChangeArrowheads="1"/>
            </p:cNvSpPr>
            <p:nvPr/>
          </p:nvSpPr>
          <p:spPr bwMode="auto">
            <a:xfrm>
              <a:off x="1837" y="896"/>
              <a:ext cx="152" cy="87"/>
            </a:xfrm>
            <a:custGeom>
              <a:avLst/>
              <a:gdLst>
                <a:gd name="T0" fmla="*/ 0 w 455"/>
                <a:gd name="T1" fmla="*/ 0 h 262"/>
                <a:gd name="T2" fmla="*/ 453 w 455"/>
                <a:gd name="T3" fmla="*/ 262 h 262"/>
                <a:gd name="T4" fmla="*/ 455 w 455"/>
                <a:gd name="T5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5" h="262">
                  <a:moveTo>
                    <a:pt x="0" y="0"/>
                  </a:moveTo>
                  <a:lnTo>
                    <a:pt x="453" y="262"/>
                  </a:lnTo>
                  <a:lnTo>
                    <a:pt x="455" y="262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85" name="Group 91"/>
            <p:cNvGrpSpPr>
              <a:grpSpLocks/>
            </p:cNvGrpSpPr>
            <p:nvPr/>
          </p:nvGrpSpPr>
          <p:grpSpPr bwMode="auto">
            <a:xfrm>
              <a:off x="1789" y="837"/>
              <a:ext cx="723" cy="665"/>
              <a:chOff x="1789" y="837"/>
              <a:chExt cx="723" cy="665"/>
            </a:xfrm>
          </p:grpSpPr>
          <p:sp>
            <p:nvSpPr>
              <p:cNvPr id="89" name="Freeform 92"/>
              <p:cNvSpPr>
                <a:spLocks noChangeArrowheads="1"/>
              </p:cNvSpPr>
              <p:nvPr/>
            </p:nvSpPr>
            <p:spPr bwMode="auto">
              <a:xfrm>
                <a:off x="1867" y="874"/>
                <a:ext cx="39" cy="39"/>
              </a:xfrm>
              <a:custGeom>
                <a:avLst/>
                <a:gdLst>
                  <a:gd name="T0" fmla="*/ 0 w 118"/>
                  <a:gd name="T1" fmla="*/ 117 h 117"/>
                  <a:gd name="T2" fmla="*/ 117 w 118"/>
                  <a:gd name="T3" fmla="*/ 0 h 117"/>
                  <a:gd name="T4" fmla="*/ 118 w 118"/>
                  <a:gd name="T5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8" h="117">
                    <a:moveTo>
                      <a:pt x="0" y="117"/>
                    </a:moveTo>
                    <a:lnTo>
                      <a:pt x="117" y="0"/>
                    </a:lnTo>
                    <a:lnTo>
                      <a:pt x="118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0" name="Freeform 93"/>
              <p:cNvSpPr>
                <a:spLocks noChangeArrowheads="1"/>
              </p:cNvSpPr>
              <p:nvPr/>
            </p:nvSpPr>
            <p:spPr bwMode="auto">
              <a:xfrm>
                <a:off x="2435" y="1165"/>
                <a:ext cx="77" cy="77"/>
              </a:xfrm>
              <a:custGeom>
                <a:avLst/>
                <a:gdLst>
                  <a:gd name="T0" fmla="*/ 0 w 231"/>
                  <a:gd name="T1" fmla="*/ 230 h 230"/>
                  <a:gd name="T2" fmla="*/ 230 w 231"/>
                  <a:gd name="T3" fmla="*/ 0 h 230"/>
                  <a:gd name="T4" fmla="*/ 231 w 231"/>
                  <a:gd name="T5" fmla="*/ 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1" h="230">
                    <a:moveTo>
                      <a:pt x="0" y="230"/>
                    </a:moveTo>
                    <a:lnTo>
                      <a:pt x="230" y="0"/>
                    </a:lnTo>
                    <a:lnTo>
                      <a:pt x="231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1" name="Freeform 94"/>
              <p:cNvSpPr>
                <a:spLocks noChangeArrowheads="1"/>
              </p:cNvSpPr>
              <p:nvPr/>
            </p:nvSpPr>
            <p:spPr bwMode="auto">
              <a:xfrm>
                <a:off x="1848" y="1134"/>
                <a:ext cx="67" cy="67"/>
              </a:xfrm>
              <a:custGeom>
                <a:avLst/>
                <a:gdLst>
                  <a:gd name="T0" fmla="*/ 0 w 203"/>
                  <a:gd name="T1" fmla="*/ 202 h 202"/>
                  <a:gd name="T2" fmla="*/ 202 w 203"/>
                  <a:gd name="T3" fmla="*/ 0 h 202"/>
                  <a:gd name="T4" fmla="*/ 203 w 203"/>
                  <a:gd name="T5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3" h="202">
                    <a:moveTo>
                      <a:pt x="0" y="202"/>
                    </a:moveTo>
                    <a:lnTo>
                      <a:pt x="202" y="0"/>
                    </a:lnTo>
                    <a:lnTo>
                      <a:pt x="203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2" name="Freeform 95"/>
              <p:cNvSpPr>
                <a:spLocks noChangeArrowheads="1"/>
              </p:cNvSpPr>
              <p:nvPr/>
            </p:nvSpPr>
            <p:spPr bwMode="auto">
              <a:xfrm>
                <a:off x="2096" y="1434"/>
                <a:ext cx="57" cy="58"/>
              </a:xfrm>
              <a:custGeom>
                <a:avLst/>
                <a:gdLst>
                  <a:gd name="T0" fmla="*/ 0 w 173"/>
                  <a:gd name="T1" fmla="*/ 172 h 172"/>
                  <a:gd name="T2" fmla="*/ 172 w 173"/>
                  <a:gd name="T3" fmla="*/ 0 h 172"/>
                  <a:gd name="T4" fmla="*/ 173 w 173"/>
                  <a:gd name="T5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3" h="172">
                    <a:moveTo>
                      <a:pt x="0" y="172"/>
                    </a:moveTo>
                    <a:lnTo>
                      <a:pt x="172" y="0"/>
                    </a:lnTo>
                    <a:lnTo>
                      <a:pt x="173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3" name="Freeform 96"/>
              <p:cNvSpPr>
                <a:spLocks noChangeArrowheads="1"/>
              </p:cNvSpPr>
              <p:nvPr/>
            </p:nvSpPr>
            <p:spPr bwMode="auto">
              <a:xfrm>
                <a:off x="1891" y="1288"/>
                <a:ext cx="50" cy="49"/>
              </a:xfrm>
              <a:custGeom>
                <a:avLst/>
                <a:gdLst>
                  <a:gd name="T0" fmla="*/ 0 w 149"/>
                  <a:gd name="T1" fmla="*/ 147 h 147"/>
                  <a:gd name="T2" fmla="*/ 148 w 149"/>
                  <a:gd name="T3" fmla="*/ 0 h 147"/>
                  <a:gd name="T4" fmla="*/ 149 w 149"/>
                  <a:gd name="T5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9" h="147">
                    <a:moveTo>
                      <a:pt x="0" y="147"/>
                    </a:moveTo>
                    <a:lnTo>
                      <a:pt x="148" y="0"/>
                    </a:lnTo>
                    <a:lnTo>
                      <a:pt x="149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4" name="Freeform 97"/>
              <p:cNvSpPr>
                <a:spLocks noChangeArrowheads="1"/>
              </p:cNvSpPr>
              <p:nvPr/>
            </p:nvSpPr>
            <p:spPr bwMode="auto">
              <a:xfrm>
                <a:off x="1864" y="1221"/>
                <a:ext cx="54" cy="54"/>
              </a:xfrm>
              <a:custGeom>
                <a:avLst/>
                <a:gdLst>
                  <a:gd name="T0" fmla="*/ 0 w 164"/>
                  <a:gd name="T1" fmla="*/ 163 h 163"/>
                  <a:gd name="T2" fmla="*/ 163 w 164"/>
                  <a:gd name="T3" fmla="*/ 0 h 163"/>
                  <a:gd name="T4" fmla="*/ 164 w 164"/>
                  <a:gd name="T5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4" h="163">
                    <a:moveTo>
                      <a:pt x="0" y="163"/>
                    </a:moveTo>
                    <a:lnTo>
                      <a:pt x="163" y="0"/>
                    </a:lnTo>
                    <a:lnTo>
                      <a:pt x="164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5" name="Freeform 98"/>
              <p:cNvSpPr>
                <a:spLocks noChangeArrowheads="1"/>
              </p:cNvSpPr>
              <p:nvPr/>
            </p:nvSpPr>
            <p:spPr bwMode="auto">
              <a:xfrm>
                <a:off x="1975" y="1385"/>
                <a:ext cx="48" cy="48"/>
              </a:xfrm>
              <a:custGeom>
                <a:avLst/>
                <a:gdLst>
                  <a:gd name="T0" fmla="*/ 0 w 143"/>
                  <a:gd name="T1" fmla="*/ 143 h 143"/>
                  <a:gd name="T2" fmla="*/ 142 w 143"/>
                  <a:gd name="T3" fmla="*/ 0 h 143"/>
                  <a:gd name="T4" fmla="*/ 143 w 143"/>
                  <a:gd name="T5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3" h="143">
                    <a:moveTo>
                      <a:pt x="0" y="143"/>
                    </a:moveTo>
                    <a:lnTo>
                      <a:pt x="142" y="0"/>
                    </a:lnTo>
                    <a:lnTo>
                      <a:pt x="143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6" name="Freeform 99"/>
              <p:cNvSpPr>
                <a:spLocks noChangeArrowheads="1"/>
              </p:cNvSpPr>
              <p:nvPr/>
            </p:nvSpPr>
            <p:spPr bwMode="auto">
              <a:xfrm>
                <a:off x="1929" y="1342"/>
                <a:ext cx="48" cy="47"/>
              </a:xfrm>
              <a:custGeom>
                <a:avLst/>
                <a:gdLst>
                  <a:gd name="T0" fmla="*/ 0 w 143"/>
                  <a:gd name="T1" fmla="*/ 141 h 141"/>
                  <a:gd name="T2" fmla="*/ 142 w 143"/>
                  <a:gd name="T3" fmla="*/ 0 h 141"/>
                  <a:gd name="T4" fmla="*/ 143 w 143"/>
                  <a:gd name="T5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3" h="141">
                    <a:moveTo>
                      <a:pt x="0" y="141"/>
                    </a:moveTo>
                    <a:lnTo>
                      <a:pt x="142" y="0"/>
                    </a:lnTo>
                    <a:lnTo>
                      <a:pt x="143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7" name="Freeform 100"/>
              <p:cNvSpPr>
                <a:spLocks noChangeArrowheads="1"/>
              </p:cNvSpPr>
              <p:nvPr/>
            </p:nvSpPr>
            <p:spPr bwMode="auto">
              <a:xfrm>
                <a:off x="2030" y="1417"/>
                <a:ext cx="51" cy="50"/>
              </a:xfrm>
              <a:custGeom>
                <a:avLst/>
                <a:gdLst>
                  <a:gd name="T0" fmla="*/ 0 w 152"/>
                  <a:gd name="T1" fmla="*/ 152 h 152"/>
                  <a:gd name="T2" fmla="*/ 151 w 152"/>
                  <a:gd name="T3" fmla="*/ 0 h 152"/>
                  <a:gd name="T4" fmla="*/ 152 w 152"/>
                  <a:gd name="T5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" h="152">
                    <a:moveTo>
                      <a:pt x="0" y="152"/>
                    </a:moveTo>
                    <a:lnTo>
                      <a:pt x="151" y="0"/>
                    </a:lnTo>
                    <a:lnTo>
                      <a:pt x="152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8" name="Freeform 101"/>
              <p:cNvSpPr>
                <a:spLocks noChangeArrowheads="1"/>
              </p:cNvSpPr>
              <p:nvPr/>
            </p:nvSpPr>
            <p:spPr bwMode="auto">
              <a:xfrm>
                <a:off x="2280" y="1270"/>
                <a:ext cx="217" cy="217"/>
              </a:xfrm>
              <a:custGeom>
                <a:avLst/>
                <a:gdLst>
                  <a:gd name="T0" fmla="*/ 0 w 650"/>
                  <a:gd name="T1" fmla="*/ 649 h 649"/>
                  <a:gd name="T2" fmla="*/ 649 w 650"/>
                  <a:gd name="T3" fmla="*/ 0 h 649"/>
                  <a:gd name="T4" fmla="*/ 650 w 650"/>
                  <a:gd name="T5" fmla="*/ 0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50" h="649">
                    <a:moveTo>
                      <a:pt x="0" y="649"/>
                    </a:moveTo>
                    <a:lnTo>
                      <a:pt x="649" y="0"/>
                    </a:lnTo>
                    <a:lnTo>
                      <a:pt x="650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9" name="Freeform 102"/>
              <p:cNvSpPr>
                <a:spLocks noChangeArrowheads="1"/>
              </p:cNvSpPr>
              <p:nvPr/>
            </p:nvSpPr>
            <p:spPr bwMode="auto">
              <a:xfrm>
                <a:off x="2175" y="1425"/>
                <a:ext cx="77" cy="77"/>
              </a:xfrm>
              <a:custGeom>
                <a:avLst/>
                <a:gdLst>
                  <a:gd name="T0" fmla="*/ 0 w 231"/>
                  <a:gd name="T1" fmla="*/ 230 h 230"/>
                  <a:gd name="T2" fmla="*/ 230 w 231"/>
                  <a:gd name="T3" fmla="*/ 0 h 230"/>
                  <a:gd name="T4" fmla="*/ 231 w 231"/>
                  <a:gd name="T5" fmla="*/ 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1" h="230">
                    <a:moveTo>
                      <a:pt x="0" y="230"/>
                    </a:moveTo>
                    <a:lnTo>
                      <a:pt x="230" y="0"/>
                    </a:lnTo>
                    <a:lnTo>
                      <a:pt x="231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0" name="Freeform 103"/>
              <p:cNvSpPr>
                <a:spLocks noChangeArrowheads="1"/>
              </p:cNvSpPr>
              <p:nvPr/>
            </p:nvSpPr>
            <p:spPr bwMode="auto">
              <a:xfrm>
                <a:off x="1981" y="842"/>
                <a:ext cx="137" cy="136"/>
              </a:xfrm>
              <a:custGeom>
                <a:avLst/>
                <a:gdLst>
                  <a:gd name="T0" fmla="*/ 0 w 411"/>
                  <a:gd name="T1" fmla="*/ 410 h 410"/>
                  <a:gd name="T2" fmla="*/ 410 w 411"/>
                  <a:gd name="T3" fmla="*/ 0 h 410"/>
                  <a:gd name="T4" fmla="*/ 411 w 411"/>
                  <a:gd name="T5" fmla="*/ 0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1" h="410">
                    <a:moveTo>
                      <a:pt x="0" y="410"/>
                    </a:moveTo>
                    <a:lnTo>
                      <a:pt x="410" y="0"/>
                    </a:lnTo>
                    <a:lnTo>
                      <a:pt x="411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1" name="Freeform 104"/>
              <p:cNvSpPr>
                <a:spLocks noChangeArrowheads="1"/>
              </p:cNvSpPr>
              <p:nvPr/>
            </p:nvSpPr>
            <p:spPr bwMode="auto">
              <a:xfrm>
                <a:off x="1843" y="1074"/>
                <a:ext cx="42" cy="42"/>
              </a:xfrm>
              <a:custGeom>
                <a:avLst/>
                <a:gdLst>
                  <a:gd name="T0" fmla="*/ 0 w 126"/>
                  <a:gd name="T1" fmla="*/ 126 h 126"/>
                  <a:gd name="T2" fmla="*/ 125 w 126"/>
                  <a:gd name="T3" fmla="*/ 0 h 126"/>
                  <a:gd name="T4" fmla="*/ 126 w 126"/>
                  <a:gd name="T5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6" h="126">
                    <a:moveTo>
                      <a:pt x="0" y="126"/>
                    </a:moveTo>
                    <a:lnTo>
                      <a:pt x="125" y="0"/>
                    </a:lnTo>
                    <a:lnTo>
                      <a:pt x="126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2" name="Freeform 105"/>
              <p:cNvSpPr>
                <a:spLocks noChangeArrowheads="1"/>
              </p:cNvSpPr>
              <p:nvPr/>
            </p:nvSpPr>
            <p:spPr bwMode="auto">
              <a:xfrm>
                <a:off x="1789" y="1042"/>
                <a:ext cx="39" cy="39"/>
              </a:xfrm>
              <a:custGeom>
                <a:avLst/>
                <a:gdLst>
                  <a:gd name="T0" fmla="*/ 0 w 118"/>
                  <a:gd name="T1" fmla="*/ 117 h 117"/>
                  <a:gd name="T2" fmla="*/ 117 w 118"/>
                  <a:gd name="T3" fmla="*/ 0 h 117"/>
                  <a:gd name="T4" fmla="*/ 118 w 118"/>
                  <a:gd name="T5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8" h="117">
                    <a:moveTo>
                      <a:pt x="0" y="117"/>
                    </a:moveTo>
                    <a:lnTo>
                      <a:pt x="117" y="0"/>
                    </a:lnTo>
                    <a:lnTo>
                      <a:pt x="118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3" name="Freeform 106"/>
              <p:cNvSpPr>
                <a:spLocks noChangeArrowheads="1"/>
              </p:cNvSpPr>
              <p:nvPr/>
            </p:nvSpPr>
            <p:spPr bwMode="auto">
              <a:xfrm>
                <a:off x="1924" y="904"/>
                <a:ext cx="42" cy="42"/>
              </a:xfrm>
              <a:custGeom>
                <a:avLst/>
                <a:gdLst>
                  <a:gd name="T0" fmla="*/ 0 w 126"/>
                  <a:gd name="T1" fmla="*/ 125 h 125"/>
                  <a:gd name="T2" fmla="*/ 125 w 126"/>
                  <a:gd name="T3" fmla="*/ 0 h 125"/>
                  <a:gd name="T4" fmla="*/ 126 w 126"/>
                  <a:gd name="T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6" h="125">
                    <a:moveTo>
                      <a:pt x="0" y="125"/>
                    </a:moveTo>
                    <a:lnTo>
                      <a:pt x="125" y="0"/>
                    </a:lnTo>
                    <a:lnTo>
                      <a:pt x="126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4" name="Freeform 107"/>
              <p:cNvSpPr>
                <a:spLocks noChangeArrowheads="1"/>
              </p:cNvSpPr>
              <p:nvPr/>
            </p:nvSpPr>
            <p:spPr bwMode="auto">
              <a:xfrm>
                <a:off x="2231" y="853"/>
                <a:ext cx="55" cy="54"/>
              </a:xfrm>
              <a:custGeom>
                <a:avLst/>
                <a:gdLst>
                  <a:gd name="T0" fmla="*/ 0 w 165"/>
                  <a:gd name="T1" fmla="*/ 163 h 163"/>
                  <a:gd name="T2" fmla="*/ 164 w 165"/>
                  <a:gd name="T3" fmla="*/ 0 h 163"/>
                  <a:gd name="T4" fmla="*/ 165 w 165"/>
                  <a:gd name="T5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163">
                    <a:moveTo>
                      <a:pt x="0" y="163"/>
                    </a:moveTo>
                    <a:lnTo>
                      <a:pt x="164" y="0"/>
                    </a:lnTo>
                    <a:lnTo>
                      <a:pt x="165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5" name="Freeform 108"/>
              <p:cNvSpPr>
                <a:spLocks noChangeArrowheads="1"/>
              </p:cNvSpPr>
              <p:nvPr/>
            </p:nvSpPr>
            <p:spPr bwMode="auto">
              <a:xfrm>
                <a:off x="2144" y="837"/>
                <a:ext cx="68" cy="68"/>
              </a:xfrm>
              <a:custGeom>
                <a:avLst/>
                <a:gdLst>
                  <a:gd name="T0" fmla="*/ 0 w 204"/>
                  <a:gd name="T1" fmla="*/ 203 h 203"/>
                  <a:gd name="T2" fmla="*/ 203 w 204"/>
                  <a:gd name="T3" fmla="*/ 0 h 203"/>
                  <a:gd name="T4" fmla="*/ 204 w 204"/>
                  <a:gd name="T5" fmla="*/ 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4" h="203">
                    <a:moveTo>
                      <a:pt x="0" y="203"/>
                    </a:moveTo>
                    <a:lnTo>
                      <a:pt x="203" y="0"/>
                    </a:lnTo>
                    <a:lnTo>
                      <a:pt x="204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6" name="Freeform 109"/>
              <p:cNvSpPr>
                <a:spLocks noChangeArrowheads="1"/>
              </p:cNvSpPr>
              <p:nvPr/>
            </p:nvSpPr>
            <p:spPr bwMode="auto">
              <a:xfrm>
                <a:off x="2298" y="881"/>
                <a:ext cx="49" cy="50"/>
              </a:xfrm>
              <a:custGeom>
                <a:avLst/>
                <a:gdLst>
                  <a:gd name="T0" fmla="*/ 0 w 148"/>
                  <a:gd name="T1" fmla="*/ 148 h 148"/>
                  <a:gd name="T2" fmla="*/ 147 w 148"/>
                  <a:gd name="T3" fmla="*/ 0 h 148"/>
                  <a:gd name="T4" fmla="*/ 148 w 148"/>
                  <a:gd name="T5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8" h="148">
                    <a:moveTo>
                      <a:pt x="0" y="148"/>
                    </a:moveTo>
                    <a:lnTo>
                      <a:pt x="147" y="0"/>
                    </a:lnTo>
                    <a:lnTo>
                      <a:pt x="148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7" name="Freeform 110"/>
              <p:cNvSpPr>
                <a:spLocks noChangeArrowheads="1"/>
              </p:cNvSpPr>
              <p:nvPr/>
            </p:nvSpPr>
            <p:spPr bwMode="auto">
              <a:xfrm>
                <a:off x="2427" y="1020"/>
                <a:ext cx="50" cy="51"/>
              </a:xfrm>
              <a:custGeom>
                <a:avLst/>
                <a:gdLst>
                  <a:gd name="T0" fmla="*/ 0 w 152"/>
                  <a:gd name="T1" fmla="*/ 152 h 152"/>
                  <a:gd name="T2" fmla="*/ 151 w 152"/>
                  <a:gd name="T3" fmla="*/ 0 h 152"/>
                  <a:gd name="T4" fmla="*/ 152 w 152"/>
                  <a:gd name="T5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" h="152">
                    <a:moveTo>
                      <a:pt x="0" y="152"/>
                    </a:moveTo>
                    <a:lnTo>
                      <a:pt x="151" y="0"/>
                    </a:lnTo>
                    <a:lnTo>
                      <a:pt x="152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8" name="Freeform 111"/>
              <p:cNvSpPr>
                <a:spLocks noChangeArrowheads="1"/>
              </p:cNvSpPr>
              <p:nvPr/>
            </p:nvSpPr>
            <p:spPr bwMode="auto">
              <a:xfrm>
                <a:off x="2444" y="1086"/>
                <a:ext cx="58" cy="57"/>
              </a:xfrm>
              <a:custGeom>
                <a:avLst/>
                <a:gdLst>
                  <a:gd name="T0" fmla="*/ 0 w 174"/>
                  <a:gd name="T1" fmla="*/ 172 h 172"/>
                  <a:gd name="T2" fmla="*/ 173 w 174"/>
                  <a:gd name="T3" fmla="*/ 0 h 172"/>
                  <a:gd name="T4" fmla="*/ 174 w 174"/>
                  <a:gd name="T5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4" h="172">
                    <a:moveTo>
                      <a:pt x="0" y="172"/>
                    </a:moveTo>
                    <a:lnTo>
                      <a:pt x="173" y="0"/>
                    </a:lnTo>
                    <a:lnTo>
                      <a:pt x="174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9" name="Freeform 112"/>
              <p:cNvSpPr>
                <a:spLocks noChangeArrowheads="1"/>
              </p:cNvSpPr>
              <p:nvPr/>
            </p:nvSpPr>
            <p:spPr bwMode="auto">
              <a:xfrm>
                <a:off x="2395" y="965"/>
                <a:ext cx="48" cy="48"/>
              </a:xfrm>
              <a:custGeom>
                <a:avLst/>
                <a:gdLst>
                  <a:gd name="T0" fmla="*/ 0 w 145"/>
                  <a:gd name="T1" fmla="*/ 143 h 143"/>
                  <a:gd name="T2" fmla="*/ 144 w 145"/>
                  <a:gd name="T3" fmla="*/ 0 h 143"/>
                  <a:gd name="T4" fmla="*/ 145 w 145"/>
                  <a:gd name="T5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5" h="143">
                    <a:moveTo>
                      <a:pt x="0" y="143"/>
                    </a:moveTo>
                    <a:lnTo>
                      <a:pt x="144" y="0"/>
                    </a:lnTo>
                    <a:lnTo>
                      <a:pt x="145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0" name="Freeform 113"/>
              <p:cNvSpPr>
                <a:spLocks noChangeArrowheads="1"/>
              </p:cNvSpPr>
              <p:nvPr/>
            </p:nvSpPr>
            <p:spPr bwMode="auto">
              <a:xfrm>
                <a:off x="2352" y="919"/>
                <a:ext cx="47" cy="47"/>
              </a:xfrm>
              <a:custGeom>
                <a:avLst/>
                <a:gdLst>
                  <a:gd name="T0" fmla="*/ 0 w 143"/>
                  <a:gd name="T1" fmla="*/ 142 h 142"/>
                  <a:gd name="T2" fmla="*/ 142 w 143"/>
                  <a:gd name="T3" fmla="*/ 0 h 142"/>
                  <a:gd name="T4" fmla="*/ 143 w 143"/>
                  <a:gd name="T5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3" h="142">
                    <a:moveTo>
                      <a:pt x="0" y="142"/>
                    </a:moveTo>
                    <a:lnTo>
                      <a:pt x="142" y="0"/>
                    </a:lnTo>
                    <a:lnTo>
                      <a:pt x="143" y="0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86" name="Freeform 114"/>
            <p:cNvSpPr>
              <a:spLocks noChangeArrowheads="1"/>
            </p:cNvSpPr>
            <p:nvPr/>
          </p:nvSpPr>
          <p:spPr bwMode="auto">
            <a:xfrm>
              <a:off x="2561" y="1003"/>
              <a:ext cx="100" cy="100"/>
            </a:xfrm>
            <a:custGeom>
              <a:avLst/>
              <a:gdLst>
                <a:gd name="T0" fmla="*/ 299 w 300"/>
                <a:gd name="T1" fmla="*/ 150 h 300"/>
                <a:gd name="T2" fmla="*/ 255 w 300"/>
                <a:gd name="T3" fmla="*/ 44 h 300"/>
                <a:gd name="T4" fmla="*/ 149 w 300"/>
                <a:gd name="T5" fmla="*/ 0 h 300"/>
                <a:gd name="T6" fmla="*/ 43 w 300"/>
                <a:gd name="T7" fmla="*/ 44 h 300"/>
                <a:gd name="T8" fmla="*/ 0 w 300"/>
                <a:gd name="T9" fmla="*/ 150 h 300"/>
                <a:gd name="T10" fmla="*/ 43 w 300"/>
                <a:gd name="T11" fmla="*/ 256 h 300"/>
                <a:gd name="T12" fmla="*/ 149 w 300"/>
                <a:gd name="T13" fmla="*/ 300 h 300"/>
                <a:gd name="T14" fmla="*/ 255 w 300"/>
                <a:gd name="T15" fmla="*/ 256 h 300"/>
                <a:gd name="T16" fmla="*/ 299 w 300"/>
                <a:gd name="T17" fmla="*/ 150 h 300"/>
                <a:gd name="T18" fmla="*/ 300 w 300"/>
                <a:gd name="T19" fmla="*/ 15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0" h="300">
                  <a:moveTo>
                    <a:pt x="299" y="150"/>
                  </a:moveTo>
                  <a:lnTo>
                    <a:pt x="255" y="44"/>
                  </a:lnTo>
                  <a:lnTo>
                    <a:pt x="149" y="0"/>
                  </a:lnTo>
                  <a:lnTo>
                    <a:pt x="43" y="44"/>
                  </a:lnTo>
                  <a:lnTo>
                    <a:pt x="0" y="150"/>
                  </a:lnTo>
                  <a:lnTo>
                    <a:pt x="43" y="256"/>
                  </a:lnTo>
                  <a:lnTo>
                    <a:pt x="149" y="300"/>
                  </a:lnTo>
                  <a:lnTo>
                    <a:pt x="255" y="256"/>
                  </a:lnTo>
                  <a:lnTo>
                    <a:pt x="299" y="150"/>
                  </a:lnTo>
                  <a:lnTo>
                    <a:pt x="300" y="15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7" name="Freeform 115"/>
            <p:cNvSpPr>
              <a:spLocks noChangeArrowheads="1"/>
            </p:cNvSpPr>
            <p:nvPr/>
          </p:nvSpPr>
          <p:spPr bwMode="auto">
            <a:xfrm>
              <a:off x="2669" y="952"/>
              <a:ext cx="55" cy="160"/>
            </a:xfrm>
            <a:custGeom>
              <a:avLst/>
              <a:gdLst>
                <a:gd name="T0" fmla="*/ 129 w 163"/>
                <a:gd name="T1" fmla="*/ 479 h 479"/>
                <a:gd name="T2" fmla="*/ 163 w 163"/>
                <a:gd name="T3" fmla="*/ 213 h 479"/>
                <a:gd name="T4" fmla="*/ 0 w 163"/>
                <a:gd name="T5" fmla="*/ 0 h 479"/>
                <a:gd name="T6" fmla="*/ 1 w 163"/>
                <a:gd name="T7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479">
                  <a:moveTo>
                    <a:pt x="129" y="479"/>
                  </a:moveTo>
                  <a:lnTo>
                    <a:pt x="163" y="213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8" name="Freeform 116"/>
            <p:cNvSpPr>
              <a:spLocks noChangeArrowheads="1"/>
            </p:cNvSpPr>
            <p:nvPr/>
          </p:nvSpPr>
          <p:spPr bwMode="auto">
            <a:xfrm>
              <a:off x="2566" y="974"/>
              <a:ext cx="90" cy="157"/>
            </a:xfrm>
            <a:custGeom>
              <a:avLst/>
              <a:gdLst>
                <a:gd name="T0" fmla="*/ 271 w 271"/>
                <a:gd name="T1" fmla="*/ 0 h 471"/>
                <a:gd name="T2" fmla="*/ 0 w 271"/>
                <a:gd name="T3" fmla="*/ 471 h 471"/>
                <a:gd name="T4" fmla="*/ 1 w 271"/>
                <a:gd name="T5" fmla="*/ 471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1" h="471">
                  <a:moveTo>
                    <a:pt x="271" y="0"/>
                  </a:moveTo>
                  <a:lnTo>
                    <a:pt x="0" y="471"/>
                  </a:lnTo>
                  <a:lnTo>
                    <a:pt x="1" y="471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sp>
        <p:nvSpPr>
          <p:cNvPr id="117" name="Rectangle 117"/>
          <p:cNvSpPr>
            <a:spLocks noChangeArrowheads="1"/>
          </p:cNvSpPr>
          <p:nvPr/>
        </p:nvSpPr>
        <p:spPr bwMode="auto">
          <a:xfrm>
            <a:off x="9301146" y="1272660"/>
            <a:ext cx="71974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i="1" dirty="0">
                <a:solidFill>
                  <a:srgbClr val="FF0000"/>
                </a:solidFill>
                <a:latin typeface="Times New Roman" panose="02020603050405020304" pitchFamily="18" charset="0"/>
              </a:rPr>
              <a:t>A</a:t>
            </a:r>
            <a:r>
              <a:rPr lang="zh-CN" altLang="en-US" i="1" dirty="0">
                <a:solidFill>
                  <a:srgbClr val="FF0000"/>
                </a:solidFill>
                <a:latin typeface="Times New Roman" panose="02020603050405020304" pitchFamily="18" charset="0"/>
              </a:rPr>
              <a:t>－</a:t>
            </a:r>
            <a:r>
              <a:rPr lang="en-US" altLang="zh-CN" i="1" dirty="0">
                <a:solidFill>
                  <a:srgbClr val="FF0000"/>
                </a:solidFill>
                <a:latin typeface="Times New Roman" panose="02020603050405020304" pitchFamily="18" charset="0"/>
              </a:rPr>
              <a:t>A</a:t>
            </a:r>
          </a:p>
        </p:txBody>
      </p:sp>
      <p:sp>
        <p:nvSpPr>
          <p:cNvPr id="118" name="Text Box 118"/>
          <p:cNvSpPr txBox="1">
            <a:spLocks noChangeArrowheads="1"/>
          </p:cNvSpPr>
          <p:nvPr/>
        </p:nvSpPr>
        <p:spPr bwMode="auto">
          <a:xfrm>
            <a:off x="554765" y="2281942"/>
            <a:ext cx="2738822" cy="1200329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marL="457200" indent="-457200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0" hangingPunct="0">
              <a:spcBef>
                <a:spcPct val="30000"/>
              </a:spcBef>
            </a:pPr>
            <a:r>
              <a:rPr lang="zh-CN" altLang="en-US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           </a:t>
            </a:r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采用投影面垂直面剖切获得的全剖视图。</a:t>
            </a:r>
          </a:p>
        </p:txBody>
      </p:sp>
      <p:sp>
        <p:nvSpPr>
          <p:cNvPr id="119" name="Rectangle 119"/>
          <p:cNvSpPr>
            <a:spLocks noChangeArrowheads="1"/>
          </p:cNvSpPr>
          <p:nvPr/>
        </p:nvSpPr>
        <p:spPr bwMode="auto">
          <a:xfrm>
            <a:off x="4590241" y="1054101"/>
            <a:ext cx="71974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i="1">
                <a:latin typeface="Times New Roman" panose="02020603050405020304" pitchFamily="18" charset="0"/>
              </a:rPr>
              <a:t>A</a:t>
            </a:r>
            <a:r>
              <a:rPr lang="zh-CN" altLang="en-US" i="1">
                <a:latin typeface="Times New Roman" panose="02020603050405020304" pitchFamily="18" charset="0"/>
              </a:rPr>
              <a:t>－</a:t>
            </a:r>
            <a:r>
              <a:rPr lang="en-US" altLang="zh-CN" i="1">
                <a:latin typeface="Times New Roman" panose="02020603050405020304" pitchFamily="18" charset="0"/>
              </a:rPr>
              <a:t>A</a:t>
            </a:r>
          </a:p>
        </p:txBody>
      </p:sp>
      <p:sp>
        <p:nvSpPr>
          <p:cNvPr id="120" name="Line 120"/>
          <p:cNvSpPr>
            <a:spLocks noChangeShapeType="1"/>
          </p:cNvSpPr>
          <p:nvPr/>
        </p:nvSpPr>
        <p:spPr bwMode="auto">
          <a:xfrm>
            <a:off x="7811583" y="3843338"/>
            <a:ext cx="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21" name="Group 121"/>
          <p:cNvGrpSpPr>
            <a:grpSpLocks/>
          </p:cNvGrpSpPr>
          <p:nvPr/>
        </p:nvGrpSpPr>
        <p:grpSpPr bwMode="auto">
          <a:xfrm>
            <a:off x="4292097" y="1344613"/>
            <a:ext cx="1728787" cy="1733550"/>
            <a:chOff x="1635" y="624"/>
            <a:chExt cx="1089" cy="1092"/>
          </a:xfrm>
        </p:grpSpPr>
        <p:sp>
          <p:nvSpPr>
            <p:cNvPr id="122" name="Arc 122"/>
            <p:cNvSpPr>
              <a:spLocks noChangeArrowheads="1"/>
            </p:cNvSpPr>
            <p:nvPr/>
          </p:nvSpPr>
          <p:spPr bwMode="auto">
            <a:xfrm flipH="1" flipV="1">
              <a:off x="1843" y="836"/>
              <a:ext cx="664" cy="664"/>
            </a:xfrm>
            <a:custGeom>
              <a:avLst/>
              <a:gdLst>
                <a:gd name="T0" fmla="*/ 33546 w 43200"/>
                <a:gd name="T1" fmla="*/ 39595 h 43200"/>
                <a:gd name="T2" fmla="*/ 21600 w 43200"/>
                <a:gd name="T3" fmla="*/ 43200 h 43200"/>
                <a:gd name="T4" fmla="*/ 0 w 43200"/>
                <a:gd name="T5" fmla="*/ 21600 h 43200"/>
                <a:gd name="T6" fmla="*/ 21600 w 43200"/>
                <a:gd name="T7" fmla="*/ 0 h 43200"/>
                <a:gd name="T8" fmla="*/ 43200 w 43200"/>
                <a:gd name="T9" fmla="*/ 21600 h 43200"/>
                <a:gd name="T10" fmla="*/ 42977 w 43200"/>
                <a:gd name="T11" fmla="*/ 24689 h 43200"/>
                <a:gd name="T12" fmla="*/ 33546 w 43200"/>
                <a:gd name="T13" fmla="*/ 39595 h 43200"/>
                <a:gd name="T14" fmla="*/ 21600 w 43200"/>
                <a:gd name="T15" fmla="*/ 43200 h 43200"/>
                <a:gd name="T16" fmla="*/ 0 w 43200"/>
                <a:gd name="T17" fmla="*/ 21600 h 43200"/>
                <a:gd name="T18" fmla="*/ 21600 w 43200"/>
                <a:gd name="T19" fmla="*/ 0 h 43200"/>
                <a:gd name="T20" fmla="*/ 43200 w 43200"/>
                <a:gd name="T21" fmla="*/ 21600 h 43200"/>
                <a:gd name="T22" fmla="*/ 42977 w 43200"/>
                <a:gd name="T23" fmla="*/ 24689 h 43200"/>
                <a:gd name="T24" fmla="*/ 21600 w 43200"/>
                <a:gd name="T25" fmla="*/ 21600 h 43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200" h="43200" fill="none">
                  <a:moveTo>
                    <a:pt x="33546" y="39595"/>
                  </a:moveTo>
                  <a:cubicBezTo>
                    <a:pt x="30005" y="41946"/>
                    <a:pt x="25850" y="43199"/>
                    <a:pt x="21600" y="43200"/>
                  </a:cubicBezTo>
                  <a:cubicBezTo>
                    <a:pt x="9670" y="43200"/>
                    <a:pt x="0" y="33529"/>
                    <a:pt x="0" y="21600"/>
                  </a:cubicBezTo>
                  <a:cubicBezTo>
                    <a:pt x="0" y="9670"/>
                    <a:pt x="9670" y="0"/>
                    <a:pt x="21600" y="0"/>
                  </a:cubicBezTo>
                  <a:cubicBezTo>
                    <a:pt x="33529" y="0"/>
                    <a:pt x="43200" y="9670"/>
                    <a:pt x="43200" y="21600"/>
                  </a:cubicBezTo>
                  <a:cubicBezTo>
                    <a:pt x="43200" y="22633"/>
                    <a:pt x="43125" y="23666"/>
                    <a:pt x="42977" y="24689"/>
                  </a:cubicBezTo>
                </a:path>
                <a:path w="43200" h="43200" stroke="0">
                  <a:moveTo>
                    <a:pt x="33546" y="39595"/>
                  </a:moveTo>
                  <a:cubicBezTo>
                    <a:pt x="30005" y="41946"/>
                    <a:pt x="25850" y="43199"/>
                    <a:pt x="21600" y="43200"/>
                  </a:cubicBezTo>
                  <a:cubicBezTo>
                    <a:pt x="9670" y="43200"/>
                    <a:pt x="0" y="33529"/>
                    <a:pt x="0" y="21600"/>
                  </a:cubicBezTo>
                  <a:cubicBezTo>
                    <a:pt x="0" y="9670"/>
                    <a:pt x="9670" y="0"/>
                    <a:pt x="21600" y="0"/>
                  </a:cubicBezTo>
                  <a:cubicBezTo>
                    <a:pt x="33529" y="0"/>
                    <a:pt x="43200" y="9670"/>
                    <a:pt x="43200" y="21600"/>
                  </a:cubicBezTo>
                  <a:cubicBezTo>
                    <a:pt x="43200" y="22633"/>
                    <a:pt x="43125" y="23666"/>
                    <a:pt x="42977" y="24689"/>
                  </a:cubicBezTo>
                  <a:lnTo>
                    <a:pt x="21600" y="21600"/>
                  </a:lnTo>
                  <a:close/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3" name="Oval 123"/>
            <p:cNvSpPr>
              <a:spLocks noChangeArrowheads="1"/>
            </p:cNvSpPr>
            <p:nvPr/>
          </p:nvSpPr>
          <p:spPr bwMode="auto">
            <a:xfrm>
              <a:off x="1918" y="903"/>
              <a:ext cx="517" cy="522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4" name="Oval 124"/>
            <p:cNvSpPr>
              <a:spLocks noChangeArrowheads="1"/>
            </p:cNvSpPr>
            <p:nvPr/>
          </p:nvSpPr>
          <p:spPr bwMode="auto">
            <a:xfrm>
              <a:off x="1695" y="1232"/>
              <a:ext cx="98" cy="92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5" name="Freeform 125"/>
            <p:cNvSpPr>
              <a:spLocks noChangeArrowheads="1"/>
            </p:cNvSpPr>
            <p:nvPr/>
          </p:nvSpPr>
          <p:spPr bwMode="auto">
            <a:xfrm>
              <a:off x="1635" y="1227"/>
              <a:ext cx="54" cy="159"/>
            </a:xfrm>
            <a:custGeom>
              <a:avLst/>
              <a:gdLst>
                <a:gd name="T0" fmla="*/ 34 w 163"/>
                <a:gd name="T1" fmla="*/ 0 h 478"/>
                <a:gd name="T2" fmla="*/ 0 w 163"/>
                <a:gd name="T3" fmla="*/ 265 h 478"/>
                <a:gd name="T4" fmla="*/ 162 w 163"/>
                <a:gd name="T5" fmla="*/ 478 h 478"/>
                <a:gd name="T6" fmla="*/ 163 w 163"/>
                <a:gd name="T7" fmla="*/ 478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478">
                  <a:moveTo>
                    <a:pt x="34" y="0"/>
                  </a:moveTo>
                  <a:lnTo>
                    <a:pt x="0" y="265"/>
                  </a:lnTo>
                  <a:lnTo>
                    <a:pt x="162" y="478"/>
                  </a:lnTo>
                  <a:lnTo>
                    <a:pt x="163" y="47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6" name="Freeform 126"/>
            <p:cNvSpPr>
              <a:spLocks noChangeArrowheads="1"/>
            </p:cNvSpPr>
            <p:nvPr/>
          </p:nvSpPr>
          <p:spPr bwMode="auto">
            <a:xfrm>
              <a:off x="1646" y="1227"/>
              <a:ext cx="206" cy="119"/>
            </a:xfrm>
            <a:custGeom>
              <a:avLst/>
              <a:gdLst>
                <a:gd name="T0" fmla="*/ 0 w 618"/>
                <a:gd name="T1" fmla="*/ 0 h 357"/>
                <a:gd name="T2" fmla="*/ 617 w 618"/>
                <a:gd name="T3" fmla="*/ 357 h 357"/>
                <a:gd name="T4" fmla="*/ 618 w 618"/>
                <a:gd name="T5" fmla="*/ 357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357">
                  <a:moveTo>
                    <a:pt x="0" y="0"/>
                  </a:moveTo>
                  <a:lnTo>
                    <a:pt x="617" y="357"/>
                  </a:lnTo>
                  <a:lnTo>
                    <a:pt x="618" y="35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7" name="Freeform 127"/>
            <p:cNvSpPr>
              <a:spLocks noChangeArrowheads="1"/>
            </p:cNvSpPr>
            <p:nvPr/>
          </p:nvSpPr>
          <p:spPr bwMode="auto">
            <a:xfrm>
              <a:off x="1646" y="678"/>
              <a:ext cx="316" cy="549"/>
            </a:xfrm>
            <a:custGeom>
              <a:avLst/>
              <a:gdLst>
                <a:gd name="T0" fmla="*/ 949 w 949"/>
                <a:gd name="T1" fmla="*/ 0 h 1645"/>
                <a:gd name="T2" fmla="*/ 0 w 949"/>
                <a:gd name="T3" fmla="*/ 1645 h 1645"/>
                <a:gd name="T4" fmla="*/ 1 w 949"/>
                <a:gd name="T5" fmla="*/ 1645 h 1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9" h="1645">
                  <a:moveTo>
                    <a:pt x="949" y="0"/>
                  </a:moveTo>
                  <a:lnTo>
                    <a:pt x="0" y="1645"/>
                  </a:lnTo>
                  <a:lnTo>
                    <a:pt x="1" y="1645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8" name="Freeform 128"/>
            <p:cNvSpPr>
              <a:spLocks noChangeArrowheads="1"/>
            </p:cNvSpPr>
            <p:nvPr/>
          </p:nvSpPr>
          <p:spPr bwMode="auto">
            <a:xfrm>
              <a:off x="2520" y="1000"/>
              <a:ext cx="167" cy="97"/>
            </a:xfrm>
            <a:custGeom>
              <a:avLst/>
              <a:gdLst>
                <a:gd name="T0" fmla="*/ 0 w 503"/>
                <a:gd name="T1" fmla="*/ 0 h 289"/>
                <a:gd name="T2" fmla="*/ 502 w 503"/>
                <a:gd name="T3" fmla="*/ 289 h 289"/>
                <a:gd name="T4" fmla="*/ 503 w 503"/>
                <a:gd name="T5" fmla="*/ 28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3" h="289">
                  <a:moveTo>
                    <a:pt x="0" y="0"/>
                  </a:moveTo>
                  <a:lnTo>
                    <a:pt x="502" y="289"/>
                  </a:lnTo>
                  <a:lnTo>
                    <a:pt x="503" y="2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9" name="Freeform 129"/>
            <p:cNvSpPr>
              <a:spLocks noChangeArrowheads="1"/>
            </p:cNvSpPr>
            <p:nvPr/>
          </p:nvSpPr>
          <p:spPr bwMode="auto">
            <a:xfrm>
              <a:off x="2122" y="636"/>
              <a:ext cx="548" cy="316"/>
            </a:xfrm>
            <a:custGeom>
              <a:avLst/>
              <a:gdLst>
                <a:gd name="T0" fmla="*/ 0 w 1644"/>
                <a:gd name="T1" fmla="*/ 0 h 949"/>
                <a:gd name="T2" fmla="*/ 1643 w 1644"/>
                <a:gd name="T3" fmla="*/ 949 h 949"/>
                <a:gd name="T4" fmla="*/ 1644 w 1644"/>
                <a:gd name="T5" fmla="*/ 949 h 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44" h="949">
                  <a:moveTo>
                    <a:pt x="0" y="0"/>
                  </a:moveTo>
                  <a:lnTo>
                    <a:pt x="1643" y="949"/>
                  </a:lnTo>
                  <a:lnTo>
                    <a:pt x="1644" y="94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0" name="Freeform 130"/>
            <p:cNvSpPr>
              <a:spLocks noChangeArrowheads="1"/>
            </p:cNvSpPr>
            <p:nvPr/>
          </p:nvSpPr>
          <p:spPr bwMode="auto">
            <a:xfrm>
              <a:off x="2396" y="1098"/>
              <a:ext cx="322" cy="562"/>
            </a:xfrm>
            <a:custGeom>
              <a:avLst/>
              <a:gdLst>
                <a:gd name="T0" fmla="*/ 322 w 322"/>
                <a:gd name="T1" fmla="*/ 0 h 562"/>
                <a:gd name="T2" fmla="*/ 0 w 322"/>
                <a:gd name="T3" fmla="*/ 562 h 562"/>
                <a:gd name="T4" fmla="*/ 0 w 322"/>
                <a:gd name="T5" fmla="*/ 562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2" h="562">
                  <a:moveTo>
                    <a:pt x="322" y="0"/>
                  </a:moveTo>
                  <a:lnTo>
                    <a:pt x="0" y="56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1" name="Freeform 131"/>
            <p:cNvSpPr>
              <a:spLocks noChangeArrowheads="1"/>
            </p:cNvSpPr>
            <p:nvPr/>
          </p:nvSpPr>
          <p:spPr bwMode="auto">
            <a:xfrm>
              <a:off x="1689" y="1386"/>
              <a:ext cx="548" cy="317"/>
            </a:xfrm>
            <a:custGeom>
              <a:avLst/>
              <a:gdLst>
                <a:gd name="T0" fmla="*/ 0 w 1645"/>
                <a:gd name="T1" fmla="*/ 0 h 950"/>
                <a:gd name="T2" fmla="*/ 1644 w 1645"/>
                <a:gd name="T3" fmla="*/ 950 h 950"/>
                <a:gd name="T4" fmla="*/ 1645 w 1645"/>
                <a:gd name="T5" fmla="*/ 950 h 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45" h="950">
                  <a:moveTo>
                    <a:pt x="0" y="0"/>
                  </a:moveTo>
                  <a:lnTo>
                    <a:pt x="1644" y="950"/>
                  </a:lnTo>
                  <a:lnTo>
                    <a:pt x="1645" y="9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2" name="Freeform 132"/>
            <p:cNvSpPr>
              <a:spLocks noChangeArrowheads="1"/>
            </p:cNvSpPr>
            <p:nvPr/>
          </p:nvSpPr>
          <p:spPr bwMode="auto">
            <a:xfrm>
              <a:off x="1689" y="1198"/>
              <a:ext cx="108" cy="188"/>
            </a:xfrm>
            <a:custGeom>
              <a:avLst/>
              <a:gdLst>
                <a:gd name="T0" fmla="*/ 325 w 325"/>
                <a:gd name="T1" fmla="*/ 0 h 564"/>
                <a:gd name="T2" fmla="*/ 0 w 325"/>
                <a:gd name="T3" fmla="*/ 564 h 564"/>
                <a:gd name="T4" fmla="*/ 1 w 325"/>
                <a:gd name="T5" fmla="*/ 564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5" h="564">
                  <a:moveTo>
                    <a:pt x="325" y="0"/>
                  </a:moveTo>
                  <a:lnTo>
                    <a:pt x="0" y="564"/>
                  </a:lnTo>
                  <a:lnTo>
                    <a:pt x="1" y="56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3" name="Freeform 133"/>
            <p:cNvSpPr>
              <a:spLocks noChangeArrowheads="1"/>
            </p:cNvSpPr>
            <p:nvPr/>
          </p:nvSpPr>
          <p:spPr bwMode="auto">
            <a:xfrm>
              <a:off x="2249" y="1522"/>
              <a:ext cx="91" cy="159"/>
            </a:xfrm>
            <a:custGeom>
              <a:avLst/>
              <a:gdLst>
                <a:gd name="T0" fmla="*/ 275 w 275"/>
                <a:gd name="T1" fmla="*/ 0 h 477"/>
                <a:gd name="T2" fmla="*/ 0 w 275"/>
                <a:gd name="T3" fmla="*/ 477 h 477"/>
                <a:gd name="T4" fmla="*/ 2 w 275"/>
                <a:gd name="T5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5" h="477">
                  <a:moveTo>
                    <a:pt x="275" y="0"/>
                  </a:moveTo>
                  <a:lnTo>
                    <a:pt x="0" y="477"/>
                  </a:lnTo>
                  <a:lnTo>
                    <a:pt x="2" y="47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4" name="Freeform 134"/>
            <p:cNvSpPr>
              <a:spLocks noChangeArrowheads="1"/>
            </p:cNvSpPr>
            <p:nvPr/>
          </p:nvSpPr>
          <p:spPr bwMode="auto">
            <a:xfrm>
              <a:off x="2220" y="1558"/>
              <a:ext cx="151" cy="87"/>
            </a:xfrm>
            <a:custGeom>
              <a:avLst/>
              <a:gdLst>
                <a:gd name="T0" fmla="*/ 0 w 452"/>
                <a:gd name="T1" fmla="*/ 0 h 261"/>
                <a:gd name="T2" fmla="*/ 451 w 452"/>
                <a:gd name="T3" fmla="*/ 261 h 261"/>
                <a:gd name="T4" fmla="*/ 452 w 452"/>
                <a:gd name="T5" fmla="*/ 2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2" h="261">
                  <a:moveTo>
                    <a:pt x="0" y="0"/>
                  </a:moveTo>
                  <a:lnTo>
                    <a:pt x="451" y="261"/>
                  </a:lnTo>
                  <a:lnTo>
                    <a:pt x="452" y="26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5" name="Freeform 135"/>
            <p:cNvSpPr>
              <a:spLocks noChangeArrowheads="1"/>
            </p:cNvSpPr>
            <p:nvPr/>
          </p:nvSpPr>
          <p:spPr bwMode="auto">
            <a:xfrm>
              <a:off x="2245" y="1551"/>
              <a:ext cx="100" cy="100"/>
            </a:xfrm>
            <a:custGeom>
              <a:avLst/>
              <a:gdLst>
                <a:gd name="T0" fmla="*/ 300 w 301"/>
                <a:gd name="T1" fmla="*/ 150 h 300"/>
                <a:gd name="T2" fmla="*/ 256 w 301"/>
                <a:gd name="T3" fmla="*/ 45 h 300"/>
                <a:gd name="T4" fmla="*/ 150 w 301"/>
                <a:gd name="T5" fmla="*/ 0 h 300"/>
                <a:gd name="T6" fmla="*/ 44 w 301"/>
                <a:gd name="T7" fmla="*/ 45 h 300"/>
                <a:gd name="T8" fmla="*/ 0 w 301"/>
                <a:gd name="T9" fmla="*/ 150 h 300"/>
                <a:gd name="T10" fmla="*/ 44 w 301"/>
                <a:gd name="T11" fmla="*/ 256 h 300"/>
                <a:gd name="T12" fmla="*/ 150 w 301"/>
                <a:gd name="T13" fmla="*/ 300 h 300"/>
                <a:gd name="T14" fmla="*/ 256 w 301"/>
                <a:gd name="T15" fmla="*/ 256 h 300"/>
                <a:gd name="T16" fmla="*/ 300 w 301"/>
                <a:gd name="T17" fmla="*/ 150 h 300"/>
                <a:gd name="T18" fmla="*/ 301 w 301"/>
                <a:gd name="T19" fmla="*/ 15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1" h="300">
                  <a:moveTo>
                    <a:pt x="300" y="150"/>
                  </a:moveTo>
                  <a:lnTo>
                    <a:pt x="256" y="45"/>
                  </a:lnTo>
                  <a:lnTo>
                    <a:pt x="150" y="0"/>
                  </a:lnTo>
                  <a:lnTo>
                    <a:pt x="44" y="45"/>
                  </a:lnTo>
                  <a:lnTo>
                    <a:pt x="0" y="150"/>
                  </a:lnTo>
                  <a:lnTo>
                    <a:pt x="44" y="256"/>
                  </a:lnTo>
                  <a:lnTo>
                    <a:pt x="150" y="300"/>
                  </a:lnTo>
                  <a:lnTo>
                    <a:pt x="256" y="256"/>
                  </a:lnTo>
                  <a:lnTo>
                    <a:pt x="300" y="150"/>
                  </a:lnTo>
                  <a:lnTo>
                    <a:pt x="301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6" name="Freeform 136"/>
            <p:cNvSpPr>
              <a:spLocks noChangeArrowheads="1"/>
            </p:cNvSpPr>
            <p:nvPr/>
          </p:nvSpPr>
          <p:spPr bwMode="auto">
            <a:xfrm>
              <a:off x="2237" y="1662"/>
              <a:ext cx="163" cy="54"/>
            </a:xfrm>
            <a:custGeom>
              <a:avLst/>
              <a:gdLst>
                <a:gd name="T0" fmla="*/ 0 w 163"/>
                <a:gd name="T1" fmla="*/ 41 h 54"/>
                <a:gd name="T2" fmla="*/ 67 w 163"/>
                <a:gd name="T3" fmla="*/ 54 h 54"/>
                <a:gd name="T4" fmla="*/ 115 w 163"/>
                <a:gd name="T5" fmla="*/ 42 h 54"/>
                <a:gd name="T6" fmla="*/ 163 w 163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54">
                  <a:moveTo>
                    <a:pt x="0" y="41"/>
                  </a:moveTo>
                  <a:lnTo>
                    <a:pt x="67" y="54"/>
                  </a:lnTo>
                  <a:lnTo>
                    <a:pt x="115" y="42"/>
                  </a:lnTo>
                  <a:lnTo>
                    <a:pt x="16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137" name="Group 137"/>
            <p:cNvGrpSpPr>
              <a:grpSpLocks/>
            </p:cNvGrpSpPr>
            <p:nvPr/>
          </p:nvGrpSpPr>
          <p:grpSpPr bwMode="auto">
            <a:xfrm>
              <a:off x="1745" y="721"/>
              <a:ext cx="863" cy="891"/>
              <a:chOff x="1745" y="721"/>
              <a:chExt cx="863" cy="891"/>
            </a:xfrm>
          </p:grpSpPr>
          <p:sp>
            <p:nvSpPr>
              <p:cNvPr id="174" name="Freeform 138"/>
              <p:cNvSpPr>
                <a:spLocks noChangeArrowheads="1"/>
              </p:cNvSpPr>
              <p:nvPr/>
            </p:nvSpPr>
            <p:spPr bwMode="auto">
              <a:xfrm>
                <a:off x="2354" y="1270"/>
                <a:ext cx="254" cy="147"/>
              </a:xfrm>
              <a:custGeom>
                <a:avLst/>
                <a:gdLst>
                  <a:gd name="T0" fmla="*/ 0 w 762"/>
                  <a:gd name="T1" fmla="*/ 0 h 439"/>
                  <a:gd name="T2" fmla="*/ 760 w 762"/>
                  <a:gd name="T3" fmla="*/ 439 h 439"/>
                  <a:gd name="T4" fmla="*/ 762 w 762"/>
                  <a:gd name="T5" fmla="*/ 439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62" h="439">
                    <a:moveTo>
                      <a:pt x="0" y="0"/>
                    </a:moveTo>
                    <a:lnTo>
                      <a:pt x="760" y="439"/>
                    </a:lnTo>
                    <a:lnTo>
                      <a:pt x="762" y="43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5" name="Freeform 139"/>
              <p:cNvSpPr>
                <a:spLocks noChangeArrowheads="1"/>
              </p:cNvSpPr>
              <p:nvPr/>
            </p:nvSpPr>
            <p:spPr bwMode="auto">
              <a:xfrm>
                <a:off x="2139" y="721"/>
                <a:ext cx="299" cy="518"/>
              </a:xfrm>
              <a:custGeom>
                <a:avLst/>
                <a:gdLst>
                  <a:gd name="T0" fmla="*/ 896 w 896"/>
                  <a:gd name="T1" fmla="*/ 0 h 1553"/>
                  <a:gd name="T2" fmla="*/ 0 w 896"/>
                  <a:gd name="T3" fmla="*/ 1553 h 1553"/>
                  <a:gd name="T4" fmla="*/ 1 w 896"/>
                  <a:gd name="T5" fmla="*/ 1553 h 15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96" h="1553">
                    <a:moveTo>
                      <a:pt x="896" y="0"/>
                    </a:moveTo>
                    <a:lnTo>
                      <a:pt x="0" y="1553"/>
                    </a:lnTo>
                    <a:lnTo>
                      <a:pt x="1" y="1553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6" name="Freeform 140"/>
              <p:cNvSpPr>
                <a:spLocks noChangeArrowheads="1"/>
              </p:cNvSpPr>
              <p:nvPr/>
            </p:nvSpPr>
            <p:spPr bwMode="auto">
              <a:xfrm>
                <a:off x="1745" y="919"/>
                <a:ext cx="510" cy="293"/>
              </a:xfrm>
              <a:custGeom>
                <a:avLst/>
                <a:gdLst>
                  <a:gd name="T0" fmla="*/ 0 w 1528"/>
                  <a:gd name="T1" fmla="*/ 0 h 881"/>
                  <a:gd name="T2" fmla="*/ 1527 w 1528"/>
                  <a:gd name="T3" fmla="*/ 881 h 881"/>
                  <a:gd name="T4" fmla="*/ 1528 w 1528"/>
                  <a:gd name="T5" fmla="*/ 881 h 8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8" h="881">
                    <a:moveTo>
                      <a:pt x="0" y="0"/>
                    </a:moveTo>
                    <a:lnTo>
                      <a:pt x="1527" y="881"/>
                    </a:lnTo>
                    <a:lnTo>
                      <a:pt x="1528" y="88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7" name="Freeform 141"/>
              <p:cNvSpPr>
                <a:spLocks noChangeArrowheads="1"/>
              </p:cNvSpPr>
              <p:nvPr/>
            </p:nvSpPr>
            <p:spPr bwMode="auto">
              <a:xfrm>
                <a:off x="1923" y="1320"/>
                <a:ext cx="169" cy="292"/>
              </a:xfrm>
              <a:custGeom>
                <a:avLst/>
                <a:gdLst>
                  <a:gd name="T0" fmla="*/ 506 w 506"/>
                  <a:gd name="T1" fmla="*/ 0 h 876"/>
                  <a:gd name="T2" fmla="*/ 0 w 506"/>
                  <a:gd name="T3" fmla="*/ 876 h 876"/>
                  <a:gd name="T4" fmla="*/ 1 w 506"/>
                  <a:gd name="T5" fmla="*/ 876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6" h="876">
                    <a:moveTo>
                      <a:pt x="506" y="0"/>
                    </a:moveTo>
                    <a:lnTo>
                      <a:pt x="0" y="876"/>
                    </a:lnTo>
                    <a:lnTo>
                      <a:pt x="1" y="87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8" name="Freeform 142"/>
              <p:cNvSpPr>
                <a:spLocks noChangeArrowheads="1"/>
              </p:cNvSpPr>
              <p:nvPr/>
            </p:nvSpPr>
            <p:spPr bwMode="auto">
              <a:xfrm>
                <a:off x="2111" y="1270"/>
                <a:ext cx="10" cy="17"/>
              </a:xfrm>
              <a:custGeom>
                <a:avLst/>
                <a:gdLst>
                  <a:gd name="T0" fmla="*/ 29 w 29"/>
                  <a:gd name="T1" fmla="*/ 0 h 51"/>
                  <a:gd name="T2" fmla="*/ 0 w 29"/>
                  <a:gd name="T3" fmla="*/ 51 h 51"/>
                  <a:gd name="T4" fmla="*/ 1 w 29"/>
                  <a:gd name="T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1">
                    <a:moveTo>
                      <a:pt x="29" y="0"/>
                    </a:moveTo>
                    <a:lnTo>
                      <a:pt x="0" y="51"/>
                    </a:lnTo>
                    <a:lnTo>
                      <a:pt x="1" y="5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9" name="Freeform 143"/>
              <p:cNvSpPr>
                <a:spLocks noChangeArrowheads="1"/>
              </p:cNvSpPr>
              <p:nvPr/>
            </p:nvSpPr>
            <p:spPr bwMode="auto">
              <a:xfrm>
                <a:off x="2291" y="1234"/>
                <a:ext cx="18" cy="10"/>
              </a:xfrm>
              <a:custGeom>
                <a:avLst/>
                <a:gdLst>
                  <a:gd name="T0" fmla="*/ 0 w 53"/>
                  <a:gd name="T1" fmla="*/ 0 h 29"/>
                  <a:gd name="T2" fmla="*/ 52 w 53"/>
                  <a:gd name="T3" fmla="*/ 29 h 29"/>
                  <a:gd name="T4" fmla="*/ 53 w 53"/>
                  <a:gd name="T5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" h="29">
                    <a:moveTo>
                      <a:pt x="0" y="0"/>
                    </a:moveTo>
                    <a:lnTo>
                      <a:pt x="52" y="29"/>
                    </a:lnTo>
                    <a:lnTo>
                      <a:pt x="53" y="2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138" name="Freeform 144"/>
            <p:cNvSpPr>
              <a:spLocks noChangeArrowheads="1"/>
            </p:cNvSpPr>
            <p:nvPr/>
          </p:nvSpPr>
          <p:spPr bwMode="auto">
            <a:xfrm>
              <a:off x="2013" y="686"/>
              <a:ext cx="100" cy="101"/>
            </a:xfrm>
            <a:custGeom>
              <a:avLst/>
              <a:gdLst>
                <a:gd name="T0" fmla="*/ 299 w 300"/>
                <a:gd name="T1" fmla="*/ 150 h 301"/>
                <a:gd name="T2" fmla="*/ 256 w 300"/>
                <a:gd name="T3" fmla="*/ 45 h 301"/>
                <a:gd name="T4" fmla="*/ 150 w 300"/>
                <a:gd name="T5" fmla="*/ 0 h 301"/>
                <a:gd name="T6" fmla="*/ 44 w 300"/>
                <a:gd name="T7" fmla="*/ 45 h 301"/>
                <a:gd name="T8" fmla="*/ 0 w 300"/>
                <a:gd name="T9" fmla="*/ 150 h 301"/>
                <a:gd name="T10" fmla="*/ 44 w 300"/>
                <a:gd name="T11" fmla="*/ 256 h 301"/>
                <a:gd name="T12" fmla="*/ 150 w 300"/>
                <a:gd name="T13" fmla="*/ 301 h 301"/>
                <a:gd name="T14" fmla="*/ 256 w 300"/>
                <a:gd name="T15" fmla="*/ 256 h 301"/>
                <a:gd name="T16" fmla="*/ 299 w 300"/>
                <a:gd name="T17" fmla="*/ 150 h 301"/>
                <a:gd name="T18" fmla="*/ 300 w 300"/>
                <a:gd name="T19" fmla="*/ 15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0" h="301">
                  <a:moveTo>
                    <a:pt x="299" y="150"/>
                  </a:moveTo>
                  <a:lnTo>
                    <a:pt x="256" y="45"/>
                  </a:lnTo>
                  <a:lnTo>
                    <a:pt x="150" y="0"/>
                  </a:lnTo>
                  <a:lnTo>
                    <a:pt x="44" y="45"/>
                  </a:lnTo>
                  <a:lnTo>
                    <a:pt x="0" y="150"/>
                  </a:lnTo>
                  <a:lnTo>
                    <a:pt x="44" y="256"/>
                  </a:lnTo>
                  <a:lnTo>
                    <a:pt x="150" y="301"/>
                  </a:lnTo>
                  <a:lnTo>
                    <a:pt x="256" y="256"/>
                  </a:lnTo>
                  <a:lnTo>
                    <a:pt x="299" y="150"/>
                  </a:lnTo>
                  <a:lnTo>
                    <a:pt x="30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9" name="Freeform 145"/>
            <p:cNvSpPr>
              <a:spLocks noChangeArrowheads="1"/>
            </p:cNvSpPr>
            <p:nvPr/>
          </p:nvSpPr>
          <p:spPr bwMode="auto">
            <a:xfrm>
              <a:off x="1962" y="624"/>
              <a:ext cx="160" cy="54"/>
            </a:xfrm>
            <a:custGeom>
              <a:avLst/>
              <a:gdLst>
                <a:gd name="T0" fmla="*/ 478 w 478"/>
                <a:gd name="T1" fmla="*/ 36 h 164"/>
                <a:gd name="T2" fmla="*/ 212 w 478"/>
                <a:gd name="T3" fmla="*/ 0 h 164"/>
                <a:gd name="T4" fmla="*/ 0 w 478"/>
                <a:gd name="T5" fmla="*/ 164 h 164"/>
                <a:gd name="T6" fmla="*/ 1 w 478"/>
                <a:gd name="T7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8" h="164">
                  <a:moveTo>
                    <a:pt x="478" y="36"/>
                  </a:moveTo>
                  <a:lnTo>
                    <a:pt x="212" y="0"/>
                  </a:lnTo>
                  <a:lnTo>
                    <a:pt x="0" y="164"/>
                  </a:lnTo>
                  <a:lnTo>
                    <a:pt x="1" y="16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0" name="Freeform 146"/>
            <p:cNvSpPr>
              <a:spLocks noChangeArrowheads="1"/>
            </p:cNvSpPr>
            <p:nvPr/>
          </p:nvSpPr>
          <p:spPr bwMode="auto">
            <a:xfrm>
              <a:off x="1992" y="695"/>
              <a:ext cx="158" cy="92"/>
            </a:xfrm>
            <a:custGeom>
              <a:avLst/>
              <a:gdLst>
                <a:gd name="T0" fmla="*/ 0 w 475"/>
                <a:gd name="T1" fmla="*/ 0 h 274"/>
                <a:gd name="T2" fmla="*/ 473 w 475"/>
                <a:gd name="T3" fmla="*/ 274 h 274"/>
                <a:gd name="T4" fmla="*/ 475 w 475"/>
                <a:gd name="T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5" h="274">
                  <a:moveTo>
                    <a:pt x="0" y="0"/>
                  </a:moveTo>
                  <a:lnTo>
                    <a:pt x="473" y="274"/>
                  </a:lnTo>
                  <a:lnTo>
                    <a:pt x="475" y="27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1" name="Freeform 147"/>
            <p:cNvSpPr>
              <a:spLocks noChangeArrowheads="1"/>
            </p:cNvSpPr>
            <p:nvPr/>
          </p:nvSpPr>
          <p:spPr bwMode="auto">
            <a:xfrm>
              <a:off x="1864" y="850"/>
              <a:ext cx="86" cy="50"/>
            </a:xfrm>
            <a:custGeom>
              <a:avLst/>
              <a:gdLst>
                <a:gd name="T0" fmla="*/ 0 w 260"/>
                <a:gd name="T1" fmla="*/ 0 h 150"/>
                <a:gd name="T2" fmla="*/ 259 w 260"/>
                <a:gd name="T3" fmla="*/ 150 h 150"/>
                <a:gd name="T4" fmla="*/ 260 w 260"/>
                <a:gd name="T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0" h="150">
                  <a:moveTo>
                    <a:pt x="0" y="0"/>
                  </a:moveTo>
                  <a:lnTo>
                    <a:pt x="259" y="150"/>
                  </a:lnTo>
                  <a:lnTo>
                    <a:pt x="26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2" name="Freeform 148"/>
            <p:cNvSpPr>
              <a:spLocks noChangeArrowheads="1"/>
            </p:cNvSpPr>
            <p:nvPr/>
          </p:nvSpPr>
          <p:spPr bwMode="auto">
            <a:xfrm>
              <a:off x="1771" y="1009"/>
              <a:ext cx="152" cy="87"/>
            </a:xfrm>
            <a:custGeom>
              <a:avLst/>
              <a:gdLst>
                <a:gd name="T0" fmla="*/ 0 w 455"/>
                <a:gd name="T1" fmla="*/ 0 h 261"/>
                <a:gd name="T2" fmla="*/ 454 w 455"/>
                <a:gd name="T3" fmla="*/ 261 h 261"/>
                <a:gd name="T4" fmla="*/ 455 w 455"/>
                <a:gd name="T5" fmla="*/ 2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5" h="261">
                  <a:moveTo>
                    <a:pt x="0" y="0"/>
                  </a:moveTo>
                  <a:lnTo>
                    <a:pt x="454" y="261"/>
                  </a:lnTo>
                  <a:lnTo>
                    <a:pt x="455" y="26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3" name="Freeform 149"/>
            <p:cNvSpPr>
              <a:spLocks noChangeArrowheads="1"/>
            </p:cNvSpPr>
            <p:nvPr/>
          </p:nvSpPr>
          <p:spPr bwMode="auto">
            <a:xfrm>
              <a:off x="1745" y="1055"/>
              <a:ext cx="87" cy="50"/>
            </a:xfrm>
            <a:custGeom>
              <a:avLst/>
              <a:gdLst>
                <a:gd name="T0" fmla="*/ 0 w 261"/>
                <a:gd name="T1" fmla="*/ 0 h 149"/>
                <a:gd name="T2" fmla="*/ 259 w 261"/>
                <a:gd name="T3" fmla="*/ 149 h 149"/>
                <a:gd name="T4" fmla="*/ 261 w 261"/>
                <a:gd name="T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1" h="149">
                  <a:moveTo>
                    <a:pt x="0" y="0"/>
                  </a:moveTo>
                  <a:lnTo>
                    <a:pt x="259" y="149"/>
                  </a:lnTo>
                  <a:lnTo>
                    <a:pt x="261" y="14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4" name="Freeform 150"/>
            <p:cNvSpPr>
              <a:spLocks noChangeArrowheads="1"/>
            </p:cNvSpPr>
            <p:nvPr/>
          </p:nvSpPr>
          <p:spPr bwMode="auto">
            <a:xfrm>
              <a:off x="1831" y="1105"/>
              <a:ext cx="17" cy="32"/>
            </a:xfrm>
            <a:custGeom>
              <a:avLst/>
              <a:gdLst>
                <a:gd name="T0" fmla="*/ 50 w 50"/>
                <a:gd name="T1" fmla="*/ 96 h 96"/>
                <a:gd name="T2" fmla="*/ 0 w 50"/>
                <a:gd name="T3" fmla="*/ 0 h 96"/>
                <a:gd name="T4" fmla="*/ 2 w 50"/>
                <a:gd name="T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96">
                  <a:moveTo>
                    <a:pt x="50" y="96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5" name="Freeform 151"/>
            <p:cNvSpPr>
              <a:spLocks noChangeArrowheads="1"/>
            </p:cNvSpPr>
            <p:nvPr/>
          </p:nvSpPr>
          <p:spPr bwMode="auto">
            <a:xfrm>
              <a:off x="1950" y="898"/>
              <a:ext cx="36" cy="2"/>
            </a:xfrm>
            <a:custGeom>
              <a:avLst/>
              <a:gdLst>
                <a:gd name="T0" fmla="*/ 0 w 109"/>
                <a:gd name="T1" fmla="*/ 6 h 6"/>
                <a:gd name="T2" fmla="*/ 108 w 109"/>
                <a:gd name="T3" fmla="*/ 0 h 6"/>
                <a:gd name="T4" fmla="*/ 109 w 109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" h="6">
                  <a:moveTo>
                    <a:pt x="0" y="6"/>
                  </a:moveTo>
                  <a:lnTo>
                    <a:pt x="108" y="0"/>
                  </a:lnTo>
                  <a:lnTo>
                    <a:pt x="10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6" name="Freeform 152"/>
            <p:cNvSpPr>
              <a:spLocks noChangeArrowheads="1"/>
            </p:cNvSpPr>
            <p:nvPr/>
          </p:nvSpPr>
          <p:spPr bwMode="auto">
            <a:xfrm>
              <a:off x="2016" y="662"/>
              <a:ext cx="90" cy="157"/>
            </a:xfrm>
            <a:custGeom>
              <a:avLst/>
              <a:gdLst>
                <a:gd name="T0" fmla="*/ 271 w 271"/>
                <a:gd name="T1" fmla="*/ 0 h 470"/>
                <a:gd name="T2" fmla="*/ 0 w 271"/>
                <a:gd name="T3" fmla="*/ 470 h 470"/>
                <a:gd name="T4" fmla="*/ 1 w 271"/>
                <a:gd name="T5" fmla="*/ 47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1" h="470">
                  <a:moveTo>
                    <a:pt x="271" y="0"/>
                  </a:moveTo>
                  <a:lnTo>
                    <a:pt x="0" y="470"/>
                  </a:lnTo>
                  <a:lnTo>
                    <a:pt x="1" y="47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7" name="Freeform 153"/>
            <p:cNvSpPr>
              <a:spLocks noChangeArrowheads="1"/>
            </p:cNvSpPr>
            <p:nvPr/>
          </p:nvSpPr>
          <p:spPr bwMode="auto">
            <a:xfrm>
              <a:off x="1837" y="896"/>
              <a:ext cx="152" cy="87"/>
            </a:xfrm>
            <a:custGeom>
              <a:avLst/>
              <a:gdLst>
                <a:gd name="T0" fmla="*/ 0 w 455"/>
                <a:gd name="T1" fmla="*/ 0 h 262"/>
                <a:gd name="T2" fmla="*/ 453 w 455"/>
                <a:gd name="T3" fmla="*/ 262 h 262"/>
                <a:gd name="T4" fmla="*/ 455 w 455"/>
                <a:gd name="T5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5" h="262">
                  <a:moveTo>
                    <a:pt x="0" y="0"/>
                  </a:moveTo>
                  <a:lnTo>
                    <a:pt x="453" y="262"/>
                  </a:lnTo>
                  <a:lnTo>
                    <a:pt x="455" y="26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148" name="Group 154"/>
            <p:cNvGrpSpPr>
              <a:grpSpLocks/>
            </p:cNvGrpSpPr>
            <p:nvPr/>
          </p:nvGrpSpPr>
          <p:grpSpPr bwMode="auto">
            <a:xfrm>
              <a:off x="1789" y="837"/>
              <a:ext cx="723" cy="665"/>
              <a:chOff x="1789" y="837"/>
              <a:chExt cx="723" cy="665"/>
            </a:xfrm>
          </p:grpSpPr>
          <p:sp>
            <p:nvSpPr>
              <p:cNvPr id="152" name="Freeform 155"/>
              <p:cNvSpPr>
                <a:spLocks noChangeArrowheads="1"/>
              </p:cNvSpPr>
              <p:nvPr/>
            </p:nvSpPr>
            <p:spPr bwMode="auto">
              <a:xfrm>
                <a:off x="1867" y="874"/>
                <a:ext cx="39" cy="39"/>
              </a:xfrm>
              <a:custGeom>
                <a:avLst/>
                <a:gdLst>
                  <a:gd name="T0" fmla="*/ 0 w 118"/>
                  <a:gd name="T1" fmla="*/ 117 h 117"/>
                  <a:gd name="T2" fmla="*/ 117 w 118"/>
                  <a:gd name="T3" fmla="*/ 0 h 117"/>
                  <a:gd name="T4" fmla="*/ 118 w 118"/>
                  <a:gd name="T5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8" h="117">
                    <a:moveTo>
                      <a:pt x="0" y="117"/>
                    </a:moveTo>
                    <a:lnTo>
                      <a:pt x="117" y="0"/>
                    </a:lnTo>
                    <a:lnTo>
                      <a:pt x="118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3" name="Freeform 156"/>
              <p:cNvSpPr>
                <a:spLocks noChangeArrowheads="1"/>
              </p:cNvSpPr>
              <p:nvPr/>
            </p:nvSpPr>
            <p:spPr bwMode="auto">
              <a:xfrm>
                <a:off x="2435" y="1165"/>
                <a:ext cx="77" cy="77"/>
              </a:xfrm>
              <a:custGeom>
                <a:avLst/>
                <a:gdLst>
                  <a:gd name="T0" fmla="*/ 0 w 231"/>
                  <a:gd name="T1" fmla="*/ 230 h 230"/>
                  <a:gd name="T2" fmla="*/ 230 w 231"/>
                  <a:gd name="T3" fmla="*/ 0 h 230"/>
                  <a:gd name="T4" fmla="*/ 231 w 231"/>
                  <a:gd name="T5" fmla="*/ 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1" h="230">
                    <a:moveTo>
                      <a:pt x="0" y="230"/>
                    </a:moveTo>
                    <a:lnTo>
                      <a:pt x="230" y="0"/>
                    </a:lnTo>
                    <a:lnTo>
                      <a:pt x="23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4" name="Freeform 157"/>
              <p:cNvSpPr>
                <a:spLocks noChangeArrowheads="1"/>
              </p:cNvSpPr>
              <p:nvPr/>
            </p:nvSpPr>
            <p:spPr bwMode="auto">
              <a:xfrm>
                <a:off x="1848" y="1134"/>
                <a:ext cx="67" cy="67"/>
              </a:xfrm>
              <a:custGeom>
                <a:avLst/>
                <a:gdLst>
                  <a:gd name="T0" fmla="*/ 0 w 203"/>
                  <a:gd name="T1" fmla="*/ 202 h 202"/>
                  <a:gd name="T2" fmla="*/ 202 w 203"/>
                  <a:gd name="T3" fmla="*/ 0 h 202"/>
                  <a:gd name="T4" fmla="*/ 203 w 203"/>
                  <a:gd name="T5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3" h="202">
                    <a:moveTo>
                      <a:pt x="0" y="202"/>
                    </a:moveTo>
                    <a:lnTo>
                      <a:pt x="202" y="0"/>
                    </a:lnTo>
                    <a:lnTo>
                      <a:pt x="203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5" name="Freeform 158"/>
              <p:cNvSpPr>
                <a:spLocks noChangeArrowheads="1"/>
              </p:cNvSpPr>
              <p:nvPr/>
            </p:nvSpPr>
            <p:spPr bwMode="auto">
              <a:xfrm>
                <a:off x="2096" y="1434"/>
                <a:ext cx="57" cy="58"/>
              </a:xfrm>
              <a:custGeom>
                <a:avLst/>
                <a:gdLst>
                  <a:gd name="T0" fmla="*/ 0 w 173"/>
                  <a:gd name="T1" fmla="*/ 172 h 172"/>
                  <a:gd name="T2" fmla="*/ 172 w 173"/>
                  <a:gd name="T3" fmla="*/ 0 h 172"/>
                  <a:gd name="T4" fmla="*/ 173 w 173"/>
                  <a:gd name="T5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3" h="172">
                    <a:moveTo>
                      <a:pt x="0" y="172"/>
                    </a:moveTo>
                    <a:lnTo>
                      <a:pt x="172" y="0"/>
                    </a:lnTo>
                    <a:lnTo>
                      <a:pt x="173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6" name="Freeform 159"/>
              <p:cNvSpPr>
                <a:spLocks noChangeArrowheads="1"/>
              </p:cNvSpPr>
              <p:nvPr/>
            </p:nvSpPr>
            <p:spPr bwMode="auto">
              <a:xfrm>
                <a:off x="1891" y="1288"/>
                <a:ext cx="50" cy="49"/>
              </a:xfrm>
              <a:custGeom>
                <a:avLst/>
                <a:gdLst>
                  <a:gd name="T0" fmla="*/ 0 w 149"/>
                  <a:gd name="T1" fmla="*/ 147 h 147"/>
                  <a:gd name="T2" fmla="*/ 148 w 149"/>
                  <a:gd name="T3" fmla="*/ 0 h 147"/>
                  <a:gd name="T4" fmla="*/ 149 w 149"/>
                  <a:gd name="T5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9" h="147">
                    <a:moveTo>
                      <a:pt x="0" y="147"/>
                    </a:moveTo>
                    <a:lnTo>
                      <a:pt x="148" y="0"/>
                    </a:lnTo>
                    <a:lnTo>
                      <a:pt x="14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7" name="Freeform 160"/>
              <p:cNvSpPr>
                <a:spLocks noChangeArrowheads="1"/>
              </p:cNvSpPr>
              <p:nvPr/>
            </p:nvSpPr>
            <p:spPr bwMode="auto">
              <a:xfrm>
                <a:off x="1864" y="1221"/>
                <a:ext cx="54" cy="54"/>
              </a:xfrm>
              <a:custGeom>
                <a:avLst/>
                <a:gdLst>
                  <a:gd name="T0" fmla="*/ 0 w 164"/>
                  <a:gd name="T1" fmla="*/ 163 h 163"/>
                  <a:gd name="T2" fmla="*/ 163 w 164"/>
                  <a:gd name="T3" fmla="*/ 0 h 163"/>
                  <a:gd name="T4" fmla="*/ 164 w 164"/>
                  <a:gd name="T5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4" h="163">
                    <a:moveTo>
                      <a:pt x="0" y="163"/>
                    </a:moveTo>
                    <a:lnTo>
                      <a:pt x="163" y="0"/>
                    </a:lnTo>
                    <a:lnTo>
                      <a:pt x="16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8" name="Freeform 161"/>
              <p:cNvSpPr>
                <a:spLocks noChangeArrowheads="1"/>
              </p:cNvSpPr>
              <p:nvPr/>
            </p:nvSpPr>
            <p:spPr bwMode="auto">
              <a:xfrm>
                <a:off x="1975" y="1385"/>
                <a:ext cx="48" cy="48"/>
              </a:xfrm>
              <a:custGeom>
                <a:avLst/>
                <a:gdLst>
                  <a:gd name="T0" fmla="*/ 0 w 143"/>
                  <a:gd name="T1" fmla="*/ 143 h 143"/>
                  <a:gd name="T2" fmla="*/ 142 w 143"/>
                  <a:gd name="T3" fmla="*/ 0 h 143"/>
                  <a:gd name="T4" fmla="*/ 143 w 143"/>
                  <a:gd name="T5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3" h="143">
                    <a:moveTo>
                      <a:pt x="0" y="143"/>
                    </a:moveTo>
                    <a:lnTo>
                      <a:pt x="142" y="0"/>
                    </a:lnTo>
                    <a:lnTo>
                      <a:pt x="143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9" name="Freeform 162"/>
              <p:cNvSpPr>
                <a:spLocks noChangeArrowheads="1"/>
              </p:cNvSpPr>
              <p:nvPr/>
            </p:nvSpPr>
            <p:spPr bwMode="auto">
              <a:xfrm>
                <a:off x="1929" y="1342"/>
                <a:ext cx="48" cy="47"/>
              </a:xfrm>
              <a:custGeom>
                <a:avLst/>
                <a:gdLst>
                  <a:gd name="T0" fmla="*/ 0 w 143"/>
                  <a:gd name="T1" fmla="*/ 141 h 141"/>
                  <a:gd name="T2" fmla="*/ 142 w 143"/>
                  <a:gd name="T3" fmla="*/ 0 h 141"/>
                  <a:gd name="T4" fmla="*/ 143 w 143"/>
                  <a:gd name="T5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3" h="141">
                    <a:moveTo>
                      <a:pt x="0" y="141"/>
                    </a:moveTo>
                    <a:lnTo>
                      <a:pt x="142" y="0"/>
                    </a:lnTo>
                    <a:lnTo>
                      <a:pt x="143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0" name="Freeform 163"/>
              <p:cNvSpPr>
                <a:spLocks noChangeArrowheads="1"/>
              </p:cNvSpPr>
              <p:nvPr/>
            </p:nvSpPr>
            <p:spPr bwMode="auto">
              <a:xfrm>
                <a:off x="2030" y="1417"/>
                <a:ext cx="51" cy="50"/>
              </a:xfrm>
              <a:custGeom>
                <a:avLst/>
                <a:gdLst>
                  <a:gd name="T0" fmla="*/ 0 w 152"/>
                  <a:gd name="T1" fmla="*/ 152 h 152"/>
                  <a:gd name="T2" fmla="*/ 151 w 152"/>
                  <a:gd name="T3" fmla="*/ 0 h 152"/>
                  <a:gd name="T4" fmla="*/ 152 w 152"/>
                  <a:gd name="T5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" h="152">
                    <a:moveTo>
                      <a:pt x="0" y="152"/>
                    </a:moveTo>
                    <a:lnTo>
                      <a:pt x="151" y="0"/>
                    </a:lnTo>
                    <a:lnTo>
                      <a:pt x="15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1" name="Freeform 164"/>
              <p:cNvSpPr>
                <a:spLocks noChangeArrowheads="1"/>
              </p:cNvSpPr>
              <p:nvPr/>
            </p:nvSpPr>
            <p:spPr bwMode="auto">
              <a:xfrm>
                <a:off x="2280" y="1270"/>
                <a:ext cx="217" cy="217"/>
              </a:xfrm>
              <a:custGeom>
                <a:avLst/>
                <a:gdLst>
                  <a:gd name="T0" fmla="*/ 0 w 650"/>
                  <a:gd name="T1" fmla="*/ 649 h 649"/>
                  <a:gd name="T2" fmla="*/ 649 w 650"/>
                  <a:gd name="T3" fmla="*/ 0 h 649"/>
                  <a:gd name="T4" fmla="*/ 650 w 650"/>
                  <a:gd name="T5" fmla="*/ 0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50" h="649">
                    <a:moveTo>
                      <a:pt x="0" y="649"/>
                    </a:moveTo>
                    <a:lnTo>
                      <a:pt x="649" y="0"/>
                    </a:lnTo>
                    <a:lnTo>
                      <a:pt x="65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2" name="Freeform 165"/>
              <p:cNvSpPr>
                <a:spLocks noChangeArrowheads="1"/>
              </p:cNvSpPr>
              <p:nvPr/>
            </p:nvSpPr>
            <p:spPr bwMode="auto">
              <a:xfrm>
                <a:off x="2175" y="1425"/>
                <a:ext cx="77" cy="77"/>
              </a:xfrm>
              <a:custGeom>
                <a:avLst/>
                <a:gdLst>
                  <a:gd name="T0" fmla="*/ 0 w 231"/>
                  <a:gd name="T1" fmla="*/ 230 h 230"/>
                  <a:gd name="T2" fmla="*/ 230 w 231"/>
                  <a:gd name="T3" fmla="*/ 0 h 230"/>
                  <a:gd name="T4" fmla="*/ 231 w 231"/>
                  <a:gd name="T5" fmla="*/ 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1" h="230">
                    <a:moveTo>
                      <a:pt x="0" y="230"/>
                    </a:moveTo>
                    <a:lnTo>
                      <a:pt x="230" y="0"/>
                    </a:lnTo>
                    <a:lnTo>
                      <a:pt x="23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3" name="Freeform 166"/>
              <p:cNvSpPr>
                <a:spLocks noChangeArrowheads="1"/>
              </p:cNvSpPr>
              <p:nvPr/>
            </p:nvSpPr>
            <p:spPr bwMode="auto">
              <a:xfrm>
                <a:off x="1981" y="842"/>
                <a:ext cx="137" cy="136"/>
              </a:xfrm>
              <a:custGeom>
                <a:avLst/>
                <a:gdLst>
                  <a:gd name="T0" fmla="*/ 0 w 411"/>
                  <a:gd name="T1" fmla="*/ 410 h 410"/>
                  <a:gd name="T2" fmla="*/ 410 w 411"/>
                  <a:gd name="T3" fmla="*/ 0 h 410"/>
                  <a:gd name="T4" fmla="*/ 411 w 411"/>
                  <a:gd name="T5" fmla="*/ 0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1" h="410">
                    <a:moveTo>
                      <a:pt x="0" y="410"/>
                    </a:moveTo>
                    <a:lnTo>
                      <a:pt x="410" y="0"/>
                    </a:lnTo>
                    <a:lnTo>
                      <a:pt x="41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4" name="Freeform 167"/>
              <p:cNvSpPr>
                <a:spLocks noChangeArrowheads="1"/>
              </p:cNvSpPr>
              <p:nvPr/>
            </p:nvSpPr>
            <p:spPr bwMode="auto">
              <a:xfrm>
                <a:off x="1843" y="1074"/>
                <a:ext cx="42" cy="42"/>
              </a:xfrm>
              <a:custGeom>
                <a:avLst/>
                <a:gdLst>
                  <a:gd name="T0" fmla="*/ 0 w 126"/>
                  <a:gd name="T1" fmla="*/ 126 h 126"/>
                  <a:gd name="T2" fmla="*/ 125 w 126"/>
                  <a:gd name="T3" fmla="*/ 0 h 126"/>
                  <a:gd name="T4" fmla="*/ 126 w 126"/>
                  <a:gd name="T5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6" h="126">
                    <a:moveTo>
                      <a:pt x="0" y="126"/>
                    </a:moveTo>
                    <a:lnTo>
                      <a:pt x="125" y="0"/>
                    </a:lnTo>
                    <a:lnTo>
                      <a:pt x="12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5" name="Freeform 168"/>
              <p:cNvSpPr>
                <a:spLocks noChangeArrowheads="1"/>
              </p:cNvSpPr>
              <p:nvPr/>
            </p:nvSpPr>
            <p:spPr bwMode="auto">
              <a:xfrm>
                <a:off x="1789" y="1042"/>
                <a:ext cx="39" cy="39"/>
              </a:xfrm>
              <a:custGeom>
                <a:avLst/>
                <a:gdLst>
                  <a:gd name="T0" fmla="*/ 0 w 118"/>
                  <a:gd name="T1" fmla="*/ 117 h 117"/>
                  <a:gd name="T2" fmla="*/ 117 w 118"/>
                  <a:gd name="T3" fmla="*/ 0 h 117"/>
                  <a:gd name="T4" fmla="*/ 118 w 118"/>
                  <a:gd name="T5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8" h="117">
                    <a:moveTo>
                      <a:pt x="0" y="117"/>
                    </a:moveTo>
                    <a:lnTo>
                      <a:pt x="117" y="0"/>
                    </a:lnTo>
                    <a:lnTo>
                      <a:pt x="118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6" name="Freeform 169"/>
              <p:cNvSpPr>
                <a:spLocks noChangeArrowheads="1"/>
              </p:cNvSpPr>
              <p:nvPr/>
            </p:nvSpPr>
            <p:spPr bwMode="auto">
              <a:xfrm>
                <a:off x="1924" y="904"/>
                <a:ext cx="42" cy="42"/>
              </a:xfrm>
              <a:custGeom>
                <a:avLst/>
                <a:gdLst>
                  <a:gd name="T0" fmla="*/ 0 w 126"/>
                  <a:gd name="T1" fmla="*/ 125 h 125"/>
                  <a:gd name="T2" fmla="*/ 125 w 126"/>
                  <a:gd name="T3" fmla="*/ 0 h 125"/>
                  <a:gd name="T4" fmla="*/ 126 w 126"/>
                  <a:gd name="T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6" h="125">
                    <a:moveTo>
                      <a:pt x="0" y="125"/>
                    </a:moveTo>
                    <a:lnTo>
                      <a:pt x="125" y="0"/>
                    </a:lnTo>
                    <a:lnTo>
                      <a:pt x="12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7" name="Freeform 170"/>
              <p:cNvSpPr>
                <a:spLocks noChangeArrowheads="1"/>
              </p:cNvSpPr>
              <p:nvPr/>
            </p:nvSpPr>
            <p:spPr bwMode="auto">
              <a:xfrm>
                <a:off x="2231" y="853"/>
                <a:ext cx="55" cy="54"/>
              </a:xfrm>
              <a:custGeom>
                <a:avLst/>
                <a:gdLst>
                  <a:gd name="T0" fmla="*/ 0 w 165"/>
                  <a:gd name="T1" fmla="*/ 163 h 163"/>
                  <a:gd name="T2" fmla="*/ 164 w 165"/>
                  <a:gd name="T3" fmla="*/ 0 h 163"/>
                  <a:gd name="T4" fmla="*/ 165 w 165"/>
                  <a:gd name="T5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163">
                    <a:moveTo>
                      <a:pt x="0" y="163"/>
                    </a:moveTo>
                    <a:lnTo>
                      <a:pt x="164" y="0"/>
                    </a:lnTo>
                    <a:lnTo>
                      <a:pt x="16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8" name="Freeform 171"/>
              <p:cNvSpPr>
                <a:spLocks noChangeArrowheads="1"/>
              </p:cNvSpPr>
              <p:nvPr/>
            </p:nvSpPr>
            <p:spPr bwMode="auto">
              <a:xfrm>
                <a:off x="2144" y="837"/>
                <a:ext cx="68" cy="68"/>
              </a:xfrm>
              <a:custGeom>
                <a:avLst/>
                <a:gdLst>
                  <a:gd name="T0" fmla="*/ 0 w 204"/>
                  <a:gd name="T1" fmla="*/ 203 h 203"/>
                  <a:gd name="T2" fmla="*/ 203 w 204"/>
                  <a:gd name="T3" fmla="*/ 0 h 203"/>
                  <a:gd name="T4" fmla="*/ 204 w 204"/>
                  <a:gd name="T5" fmla="*/ 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4" h="203">
                    <a:moveTo>
                      <a:pt x="0" y="203"/>
                    </a:moveTo>
                    <a:lnTo>
                      <a:pt x="203" y="0"/>
                    </a:lnTo>
                    <a:lnTo>
                      <a:pt x="20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9" name="Freeform 172"/>
              <p:cNvSpPr>
                <a:spLocks noChangeArrowheads="1"/>
              </p:cNvSpPr>
              <p:nvPr/>
            </p:nvSpPr>
            <p:spPr bwMode="auto">
              <a:xfrm>
                <a:off x="2298" y="881"/>
                <a:ext cx="49" cy="50"/>
              </a:xfrm>
              <a:custGeom>
                <a:avLst/>
                <a:gdLst>
                  <a:gd name="T0" fmla="*/ 0 w 148"/>
                  <a:gd name="T1" fmla="*/ 148 h 148"/>
                  <a:gd name="T2" fmla="*/ 147 w 148"/>
                  <a:gd name="T3" fmla="*/ 0 h 148"/>
                  <a:gd name="T4" fmla="*/ 148 w 148"/>
                  <a:gd name="T5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8" h="148">
                    <a:moveTo>
                      <a:pt x="0" y="148"/>
                    </a:moveTo>
                    <a:lnTo>
                      <a:pt x="147" y="0"/>
                    </a:lnTo>
                    <a:lnTo>
                      <a:pt x="148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0" name="Freeform 173"/>
              <p:cNvSpPr>
                <a:spLocks noChangeArrowheads="1"/>
              </p:cNvSpPr>
              <p:nvPr/>
            </p:nvSpPr>
            <p:spPr bwMode="auto">
              <a:xfrm>
                <a:off x="2427" y="1020"/>
                <a:ext cx="50" cy="51"/>
              </a:xfrm>
              <a:custGeom>
                <a:avLst/>
                <a:gdLst>
                  <a:gd name="T0" fmla="*/ 0 w 152"/>
                  <a:gd name="T1" fmla="*/ 152 h 152"/>
                  <a:gd name="T2" fmla="*/ 151 w 152"/>
                  <a:gd name="T3" fmla="*/ 0 h 152"/>
                  <a:gd name="T4" fmla="*/ 152 w 152"/>
                  <a:gd name="T5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" h="152">
                    <a:moveTo>
                      <a:pt x="0" y="152"/>
                    </a:moveTo>
                    <a:lnTo>
                      <a:pt x="151" y="0"/>
                    </a:lnTo>
                    <a:lnTo>
                      <a:pt x="15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1" name="Freeform 174"/>
              <p:cNvSpPr>
                <a:spLocks noChangeArrowheads="1"/>
              </p:cNvSpPr>
              <p:nvPr/>
            </p:nvSpPr>
            <p:spPr bwMode="auto">
              <a:xfrm>
                <a:off x="2444" y="1086"/>
                <a:ext cx="58" cy="57"/>
              </a:xfrm>
              <a:custGeom>
                <a:avLst/>
                <a:gdLst>
                  <a:gd name="T0" fmla="*/ 0 w 174"/>
                  <a:gd name="T1" fmla="*/ 172 h 172"/>
                  <a:gd name="T2" fmla="*/ 173 w 174"/>
                  <a:gd name="T3" fmla="*/ 0 h 172"/>
                  <a:gd name="T4" fmla="*/ 174 w 174"/>
                  <a:gd name="T5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4" h="172">
                    <a:moveTo>
                      <a:pt x="0" y="172"/>
                    </a:moveTo>
                    <a:lnTo>
                      <a:pt x="173" y="0"/>
                    </a:lnTo>
                    <a:lnTo>
                      <a:pt x="17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2" name="Freeform 175"/>
              <p:cNvSpPr>
                <a:spLocks noChangeArrowheads="1"/>
              </p:cNvSpPr>
              <p:nvPr/>
            </p:nvSpPr>
            <p:spPr bwMode="auto">
              <a:xfrm>
                <a:off x="2395" y="965"/>
                <a:ext cx="48" cy="48"/>
              </a:xfrm>
              <a:custGeom>
                <a:avLst/>
                <a:gdLst>
                  <a:gd name="T0" fmla="*/ 0 w 145"/>
                  <a:gd name="T1" fmla="*/ 143 h 143"/>
                  <a:gd name="T2" fmla="*/ 144 w 145"/>
                  <a:gd name="T3" fmla="*/ 0 h 143"/>
                  <a:gd name="T4" fmla="*/ 145 w 145"/>
                  <a:gd name="T5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5" h="143">
                    <a:moveTo>
                      <a:pt x="0" y="143"/>
                    </a:moveTo>
                    <a:lnTo>
                      <a:pt x="144" y="0"/>
                    </a:lnTo>
                    <a:lnTo>
                      <a:pt x="14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3" name="Freeform 176"/>
              <p:cNvSpPr>
                <a:spLocks noChangeArrowheads="1"/>
              </p:cNvSpPr>
              <p:nvPr/>
            </p:nvSpPr>
            <p:spPr bwMode="auto">
              <a:xfrm>
                <a:off x="2352" y="919"/>
                <a:ext cx="47" cy="47"/>
              </a:xfrm>
              <a:custGeom>
                <a:avLst/>
                <a:gdLst>
                  <a:gd name="T0" fmla="*/ 0 w 143"/>
                  <a:gd name="T1" fmla="*/ 142 h 142"/>
                  <a:gd name="T2" fmla="*/ 142 w 143"/>
                  <a:gd name="T3" fmla="*/ 0 h 142"/>
                  <a:gd name="T4" fmla="*/ 143 w 143"/>
                  <a:gd name="T5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3" h="142">
                    <a:moveTo>
                      <a:pt x="0" y="142"/>
                    </a:moveTo>
                    <a:lnTo>
                      <a:pt x="142" y="0"/>
                    </a:lnTo>
                    <a:lnTo>
                      <a:pt x="143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149" name="Freeform 177"/>
            <p:cNvSpPr>
              <a:spLocks noChangeArrowheads="1"/>
            </p:cNvSpPr>
            <p:nvPr/>
          </p:nvSpPr>
          <p:spPr bwMode="auto">
            <a:xfrm>
              <a:off x="2561" y="1003"/>
              <a:ext cx="100" cy="100"/>
            </a:xfrm>
            <a:custGeom>
              <a:avLst/>
              <a:gdLst>
                <a:gd name="T0" fmla="*/ 299 w 300"/>
                <a:gd name="T1" fmla="*/ 150 h 300"/>
                <a:gd name="T2" fmla="*/ 255 w 300"/>
                <a:gd name="T3" fmla="*/ 44 h 300"/>
                <a:gd name="T4" fmla="*/ 149 w 300"/>
                <a:gd name="T5" fmla="*/ 0 h 300"/>
                <a:gd name="T6" fmla="*/ 43 w 300"/>
                <a:gd name="T7" fmla="*/ 44 h 300"/>
                <a:gd name="T8" fmla="*/ 0 w 300"/>
                <a:gd name="T9" fmla="*/ 150 h 300"/>
                <a:gd name="T10" fmla="*/ 43 w 300"/>
                <a:gd name="T11" fmla="*/ 256 h 300"/>
                <a:gd name="T12" fmla="*/ 149 w 300"/>
                <a:gd name="T13" fmla="*/ 300 h 300"/>
                <a:gd name="T14" fmla="*/ 255 w 300"/>
                <a:gd name="T15" fmla="*/ 256 h 300"/>
                <a:gd name="T16" fmla="*/ 299 w 300"/>
                <a:gd name="T17" fmla="*/ 150 h 300"/>
                <a:gd name="T18" fmla="*/ 300 w 300"/>
                <a:gd name="T19" fmla="*/ 15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0" h="300">
                  <a:moveTo>
                    <a:pt x="299" y="150"/>
                  </a:moveTo>
                  <a:lnTo>
                    <a:pt x="255" y="44"/>
                  </a:lnTo>
                  <a:lnTo>
                    <a:pt x="149" y="0"/>
                  </a:lnTo>
                  <a:lnTo>
                    <a:pt x="43" y="44"/>
                  </a:lnTo>
                  <a:lnTo>
                    <a:pt x="0" y="150"/>
                  </a:lnTo>
                  <a:lnTo>
                    <a:pt x="43" y="256"/>
                  </a:lnTo>
                  <a:lnTo>
                    <a:pt x="149" y="300"/>
                  </a:lnTo>
                  <a:lnTo>
                    <a:pt x="255" y="256"/>
                  </a:lnTo>
                  <a:lnTo>
                    <a:pt x="299" y="150"/>
                  </a:lnTo>
                  <a:lnTo>
                    <a:pt x="300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0" name="Freeform 178"/>
            <p:cNvSpPr>
              <a:spLocks noChangeArrowheads="1"/>
            </p:cNvSpPr>
            <p:nvPr/>
          </p:nvSpPr>
          <p:spPr bwMode="auto">
            <a:xfrm>
              <a:off x="2669" y="952"/>
              <a:ext cx="55" cy="160"/>
            </a:xfrm>
            <a:custGeom>
              <a:avLst/>
              <a:gdLst>
                <a:gd name="T0" fmla="*/ 129 w 163"/>
                <a:gd name="T1" fmla="*/ 479 h 479"/>
                <a:gd name="T2" fmla="*/ 163 w 163"/>
                <a:gd name="T3" fmla="*/ 213 h 479"/>
                <a:gd name="T4" fmla="*/ 0 w 163"/>
                <a:gd name="T5" fmla="*/ 0 h 479"/>
                <a:gd name="T6" fmla="*/ 1 w 163"/>
                <a:gd name="T7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479">
                  <a:moveTo>
                    <a:pt x="129" y="479"/>
                  </a:moveTo>
                  <a:lnTo>
                    <a:pt x="163" y="213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1" name="Freeform 179"/>
            <p:cNvSpPr>
              <a:spLocks noChangeArrowheads="1"/>
            </p:cNvSpPr>
            <p:nvPr/>
          </p:nvSpPr>
          <p:spPr bwMode="auto">
            <a:xfrm>
              <a:off x="2566" y="974"/>
              <a:ext cx="90" cy="157"/>
            </a:xfrm>
            <a:custGeom>
              <a:avLst/>
              <a:gdLst>
                <a:gd name="T0" fmla="*/ 271 w 271"/>
                <a:gd name="T1" fmla="*/ 0 h 471"/>
                <a:gd name="T2" fmla="*/ 0 w 271"/>
                <a:gd name="T3" fmla="*/ 471 h 471"/>
                <a:gd name="T4" fmla="*/ 1 w 271"/>
                <a:gd name="T5" fmla="*/ 471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1" h="471">
                  <a:moveTo>
                    <a:pt x="271" y="0"/>
                  </a:moveTo>
                  <a:lnTo>
                    <a:pt x="0" y="471"/>
                  </a:lnTo>
                  <a:lnTo>
                    <a:pt x="1" y="47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180" name="Group 180"/>
          <p:cNvGrpSpPr>
            <a:grpSpLocks/>
          </p:cNvGrpSpPr>
          <p:nvPr/>
        </p:nvGrpSpPr>
        <p:grpSpPr bwMode="auto">
          <a:xfrm>
            <a:off x="5614483" y="1660526"/>
            <a:ext cx="1219199" cy="2232024"/>
            <a:chOff x="2776" y="823"/>
            <a:chExt cx="768" cy="1406"/>
          </a:xfrm>
        </p:grpSpPr>
        <p:sp>
          <p:nvSpPr>
            <p:cNvPr id="181" name="Rectangle 181"/>
            <p:cNvSpPr>
              <a:spLocks noChangeArrowheads="1"/>
            </p:cNvSpPr>
            <p:nvPr/>
          </p:nvSpPr>
          <p:spPr bwMode="auto">
            <a:xfrm>
              <a:off x="3415" y="823"/>
              <a:ext cx="12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i="1">
                  <a:latin typeface="Times New Roman" panose="02020603050405020304" pitchFamily="18" charset="0"/>
                </a:rPr>
                <a:t>A</a:t>
              </a:r>
              <a:endParaRPr lang="en-US" altLang="zh-CN">
                <a:latin typeface="Times New Roman" panose="02020603050405020304" pitchFamily="18" charset="0"/>
              </a:endParaRPr>
            </a:p>
          </p:txBody>
        </p:sp>
        <p:sp>
          <p:nvSpPr>
            <p:cNvPr id="182" name="Rectangle 182"/>
            <p:cNvSpPr>
              <a:spLocks noChangeArrowheads="1"/>
            </p:cNvSpPr>
            <p:nvPr/>
          </p:nvSpPr>
          <p:spPr bwMode="auto">
            <a:xfrm>
              <a:off x="2776" y="1996"/>
              <a:ext cx="12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i="1">
                  <a:latin typeface="Times New Roman" panose="02020603050405020304" pitchFamily="18" charset="0"/>
                </a:rPr>
                <a:t>A</a:t>
              </a:r>
              <a:endParaRPr lang="en-US" altLang="zh-CN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83" name="Group 183"/>
          <p:cNvGrpSpPr>
            <a:grpSpLocks/>
          </p:cNvGrpSpPr>
          <p:nvPr/>
        </p:nvGrpSpPr>
        <p:grpSpPr bwMode="auto">
          <a:xfrm>
            <a:off x="5616072" y="1966914"/>
            <a:ext cx="1146175" cy="1679575"/>
            <a:chOff x="2777" y="1016"/>
            <a:chExt cx="722" cy="1058"/>
          </a:xfrm>
        </p:grpSpPr>
        <p:sp>
          <p:nvSpPr>
            <p:cNvPr id="184" name="Freeform 184"/>
            <p:cNvSpPr>
              <a:spLocks noChangeArrowheads="1"/>
            </p:cNvSpPr>
            <p:nvPr/>
          </p:nvSpPr>
          <p:spPr bwMode="auto">
            <a:xfrm>
              <a:off x="3424" y="1113"/>
              <a:ext cx="74" cy="128"/>
            </a:xfrm>
            <a:custGeom>
              <a:avLst/>
              <a:gdLst>
                <a:gd name="T0" fmla="*/ 222 w 222"/>
                <a:gd name="T1" fmla="*/ 0 h 384"/>
                <a:gd name="T2" fmla="*/ 0 w 222"/>
                <a:gd name="T3" fmla="*/ 384 h 384"/>
                <a:gd name="T4" fmla="*/ 1 w 222"/>
                <a:gd name="T5" fmla="*/ 384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2" h="384">
                  <a:moveTo>
                    <a:pt x="222" y="0"/>
                  </a:moveTo>
                  <a:lnTo>
                    <a:pt x="0" y="384"/>
                  </a:lnTo>
                  <a:lnTo>
                    <a:pt x="1" y="38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5" name="Freeform 185"/>
            <p:cNvSpPr>
              <a:spLocks noChangeArrowheads="1"/>
            </p:cNvSpPr>
            <p:nvPr/>
          </p:nvSpPr>
          <p:spPr bwMode="auto">
            <a:xfrm>
              <a:off x="3331" y="1016"/>
              <a:ext cx="168" cy="97"/>
            </a:xfrm>
            <a:custGeom>
              <a:avLst/>
              <a:gdLst>
                <a:gd name="T0" fmla="*/ 0 w 502"/>
                <a:gd name="T1" fmla="*/ 0 h 289"/>
                <a:gd name="T2" fmla="*/ 501 w 502"/>
                <a:gd name="T3" fmla="*/ 289 h 289"/>
                <a:gd name="T4" fmla="*/ 502 w 502"/>
                <a:gd name="T5" fmla="*/ 28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2" h="289">
                  <a:moveTo>
                    <a:pt x="0" y="0"/>
                  </a:moveTo>
                  <a:lnTo>
                    <a:pt x="501" y="289"/>
                  </a:lnTo>
                  <a:lnTo>
                    <a:pt x="502" y="2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6" name="Freeform 186"/>
            <p:cNvSpPr>
              <a:spLocks noChangeArrowheads="1"/>
            </p:cNvSpPr>
            <p:nvPr/>
          </p:nvSpPr>
          <p:spPr bwMode="auto">
            <a:xfrm>
              <a:off x="3331" y="1016"/>
              <a:ext cx="121" cy="87"/>
            </a:xfrm>
            <a:custGeom>
              <a:avLst/>
              <a:gdLst>
                <a:gd name="T0" fmla="*/ 361 w 361"/>
                <a:gd name="T1" fmla="*/ 260 h 260"/>
                <a:gd name="T2" fmla="*/ 0 w 361"/>
                <a:gd name="T3" fmla="*/ 0 h 260"/>
                <a:gd name="T4" fmla="*/ 1 w 361"/>
                <a:gd name="T5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1" h="260">
                  <a:moveTo>
                    <a:pt x="361" y="26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7" name="Freeform 187"/>
            <p:cNvSpPr>
              <a:spLocks noChangeArrowheads="1"/>
            </p:cNvSpPr>
            <p:nvPr/>
          </p:nvSpPr>
          <p:spPr bwMode="auto">
            <a:xfrm>
              <a:off x="3331" y="1016"/>
              <a:ext cx="138" cy="61"/>
            </a:xfrm>
            <a:custGeom>
              <a:avLst/>
              <a:gdLst>
                <a:gd name="T0" fmla="*/ 0 w 414"/>
                <a:gd name="T1" fmla="*/ 0 h 182"/>
                <a:gd name="T2" fmla="*/ 413 w 414"/>
                <a:gd name="T3" fmla="*/ 182 h 182"/>
                <a:gd name="T4" fmla="*/ 414 w 414"/>
                <a:gd name="T5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4" h="182">
                  <a:moveTo>
                    <a:pt x="0" y="0"/>
                  </a:moveTo>
                  <a:lnTo>
                    <a:pt x="413" y="182"/>
                  </a:lnTo>
                  <a:lnTo>
                    <a:pt x="414" y="182"/>
                  </a:lnTo>
                </a:path>
              </a:pathLst>
            </a:cu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8" name="Freeform 188"/>
            <p:cNvSpPr>
              <a:spLocks noChangeArrowheads="1"/>
            </p:cNvSpPr>
            <p:nvPr/>
          </p:nvSpPr>
          <p:spPr bwMode="auto">
            <a:xfrm>
              <a:off x="3452" y="1077"/>
              <a:ext cx="17" cy="26"/>
            </a:xfrm>
            <a:custGeom>
              <a:avLst/>
              <a:gdLst>
                <a:gd name="T0" fmla="*/ 52 w 52"/>
                <a:gd name="T1" fmla="*/ 0 h 78"/>
                <a:gd name="T2" fmla="*/ 0 w 52"/>
                <a:gd name="T3" fmla="*/ 78 h 78"/>
                <a:gd name="T4" fmla="*/ 1 w 52"/>
                <a:gd name="T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" h="78">
                  <a:moveTo>
                    <a:pt x="52" y="0"/>
                  </a:moveTo>
                  <a:lnTo>
                    <a:pt x="0" y="78"/>
                  </a:lnTo>
                  <a:lnTo>
                    <a:pt x="1" y="78"/>
                  </a:lnTo>
                </a:path>
              </a:pathLst>
            </a:cu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9" name="Freeform 189"/>
            <p:cNvSpPr>
              <a:spLocks noChangeArrowheads="1"/>
            </p:cNvSpPr>
            <p:nvPr/>
          </p:nvSpPr>
          <p:spPr bwMode="auto">
            <a:xfrm>
              <a:off x="3331" y="1016"/>
              <a:ext cx="138" cy="61"/>
            </a:xfrm>
            <a:custGeom>
              <a:avLst/>
              <a:gdLst>
                <a:gd name="T0" fmla="*/ 258 w 413"/>
                <a:gd name="T1" fmla="*/ 146 h 182"/>
                <a:gd name="T2" fmla="*/ 0 w 413"/>
                <a:gd name="T3" fmla="*/ 0 h 182"/>
                <a:gd name="T4" fmla="*/ 413 w 413"/>
                <a:gd name="T5" fmla="*/ 182 h 182"/>
                <a:gd name="T6" fmla="*/ 258 w 413"/>
                <a:gd name="T7" fmla="*/ 146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3" h="182">
                  <a:moveTo>
                    <a:pt x="258" y="146"/>
                  </a:moveTo>
                  <a:lnTo>
                    <a:pt x="0" y="0"/>
                  </a:lnTo>
                  <a:lnTo>
                    <a:pt x="413" y="182"/>
                  </a:lnTo>
                  <a:lnTo>
                    <a:pt x="258" y="146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0" name="Freeform 190"/>
            <p:cNvSpPr>
              <a:spLocks noChangeArrowheads="1"/>
            </p:cNvSpPr>
            <p:nvPr/>
          </p:nvSpPr>
          <p:spPr bwMode="auto">
            <a:xfrm>
              <a:off x="3331" y="1016"/>
              <a:ext cx="138" cy="61"/>
            </a:xfrm>
            <a:custGeom>
              <a:avLst/>
              <a:gdLst>
                <a:gd name="T0" fmla="*/ 258 w 413"/>
                <a:gd name="T1" fmla="*/ 146 h 182"/>
                <a:gd name="T2" fmla="*/ 0 w 413"/>
                <a:gd name="T3" fmla="*/ 0 h 182"/>
                <a:gd name="T4" fmla="*/ 413 w 413"/>
                <a:gd name="T5" fmla="*/ 182 h 182"/>
                <a:gd name="T6" fmla="*/ 258 w 413"/>
                <a:gd name="T7" fmla="*/ 146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3" h="182">
                  <a:moveTo>
                    <a:pt x="258" y="146"/>
                  </a:moveTo>
                  <a:lnTo>
                    <a:pt x="0" y="0"/>
                  </a:lnTo>
                  <a:lnTo>
                    <a:pt x="413" y="182"/>
                  </a:lnTo>
                  <a:lnTo>
                    <a:pt x="258" y="146"/>
                  </a:lnTo>
                </a:path>
              </a:pathLst>
            </a:cu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1" name="Freeform 191"/>
            <p:cNvSpPr>
              <a:spLocks noChangeArrowheads="1"/>
            </p:cNvSpPr>
            <p:nvPr/>
          </p:nvSpPr>
          <p:spPr bwMode="auto">
            <a:xfrm>
              <a:off x="3417" y="1065"/>
              <a:ext cx="52" cy="38"/>
            </a:xfrm>
            <a:custGeom>
              <a:avLst/>
              <a:gdLst>
                <a:gd name="T0" fmla="*/ 0 w 155"/>
                <a:gd name="T1" fmla="*/ 0 h 114"/>
                <a:gd name="T2" fmla="*/ 155 w 155"/>
                <a:gd name="T3" fmla="*/ 36 h 114"/>
                <a:gd name="T4" fmla="*/ 103 w 155"/>
                <a:gd name="T5" fmla="*/ 114 h 114"/>
                <a:gd name="T6" fmla="*/ 0 w 155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114">
                  <a:moveTo>
                    <a:pt x="0" y="0"/>
                  </a:moveTo>
                  <a:lnTo>
                    <a:pt x="155" y="36"/>
                  </a:lnTo>
                  <a:lnTo>
                    <a:pt x="103" y="1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2" name="Freeform 192"/>
            <p:cNvSpPr>
              <a:spLocks noChangeArrowheads="1"/>
            </p:cNvSpPr>
            <p:nvPr/>
          </p:nvSpPr>
          <p:spPr bwMode="auto">
            <a:xfrm>
              <a:off x="3417" y="1065"/>
              <a:ext cx="52" cy="38"/>
            </a:xfrm>
            <a:custGeom>
              <a:avLst/>
              <a:gdLst>
                <a:gd name="T0" fmla="*/ 0 w 155"/>
                <a:gd name="T1" fmla="*/ 0 h 114"/>
                <a:gd name="T2" fmla="*/ 155 w 155"/>
                <a:gd name="T3" fmla="*/ 36 h 114"/>
                <a:gd name="T4" fmla="*/ 103 w 155"/>
                <a:gd name="T5" fmla="*/ 114 h 114"/>
                <a:gd name="T6" fmla="*/ 0 w 155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114">
                  <a:moveTo>
                    <a:pt x="0" y="0"/>
                  </a:moveTo>
                  <a:lnTo>
                    <a:pt x="155" y="36"/>
                  </a:lnTo>
                  <a:lnTo>
                    <a:pt x="103" y="114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3" name="Freeform 193"/>
            <p:cNvSpPr>
              <a:spLocks noChangeArrowheads="1"/>
            </p:cNvSpPr>
            <p:nvPr/>
          </p:nvSpPr>
          <p:spPr bwMode="auto">
            <a:xfrm>
              <a:off x="3331" y="1016"/>
              <a:ext cx="121" cy="87"/>
            </a:xfrm>
            <a:custGeom>
              <a:avLst/>
              <a:gdLst>
                <a:gd name="T0" fmla="*/ 258 w 361"/>
                <a:gd name="T1" fmla="*/ 146 h 260"/>
                <a:gd name="T2" fmla="*/ 361 w 361"/>
                <a:gd name="T3" fmla="*/ 260 h 260"/>
                <a:gd name="T4" fmla="*/ 0 w 361"/>
                <a:gd name="T5" fmla="*/ 0 h 260"/>
                <a:gd name="T6" fmla="*/ 258 w 361"/>
                <a:gd name="T7" fmla="*/ 14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1" h="260">
                  <a:moveTo>
                    <a:pt x="258" y="146"/>
                  </a:moveTo>
                  <a:lnTo>
                    <a:pt x="361" y="260"/>
                  </a:lnTo>
                  <a:lnTo>
                    <a:pt x="0" y="0"/>
                  </a:lnTo>
                  <a:lnTo>
                    <a:pt x="258" y="146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194"/>
            <p:cNvSpPr>
              <a:spLocks noChangeArrowheads="1"/>
            </p:cNvSpPr>
            <p:nvPr/>
          </p:nvSpPr>
          <p:spPr bwMode="auto">
            <a:xfrm>
              <a:off x="3331" y="1016"/>
              <a:ext cx="121" cy="87"/>
            </a:xfrm>
            <a:custGeom>
              <a:avLst/>
              <a:gdLst>
                <a:gd name="T0" fmla="*/ 258 w 361"/>
                <a:gd name="T1" fmla="*/ 146 h 260"/>
                <a:gd name="T2" fmla="*/ 361 w 361"/>
                <a:gd name="T3" fmla="*/ 260 h 260"/>
                <a:gd name="T4" fmla="*/ 0 w 361"/>
                <a:gd name="T5" fmla="*/ 0 h 260"/>
                <a:gd name="T6" fmla="*/ 258 w 361"/>
                <a:gd name="T7" fmla="*/ 14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1" h="260">
                  <a:moveTo>
                    <a:pt x="258" y="146"/>
                  </a:moveTo>
                  <a:lnTo>
                    <a:pt x="361" y="260"/>
                  </a:lnTo>
                  <a:lnTo>
                    <a:pt x="0" y="0"/>
                  </a:lnTo>
                  <a:lnTo>
                    <a:pt x="258" y="146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195"/>
            <p:cNvSpPr>
              <a:spLocks noChangeArrowheads="1"/>
            </p:cNvSpPr>
            <p:nvPr/>
          </p:nvSpPr>
          <p:spPr bwMode="auto">
            <a:xfrm>
              <a:off x="2777" y="1977"/>
              <a:ext cx="137" cy="61"/>
            </a:xfrm>
            <a:custGeom>
              <a:avLst/>
              <a:gdLst>
                <a:gd name="T0" fmla="*/ 258 w 413"/>
                <a:gd name="T1" fmla="*/ 148 h 182"/>
                <a:gd name="T2" fmla="*/ 0 w 413"/>
                <a:gd name="T3" fmla="*/ 0 h 182"/>
                <a:gd name="T4" fmla="*/ 413 w 413"/>
                <a:gd name="T5" fmla="*/ 182 h 182"/>
                <a:gd name="T6" fmla="*/ 258 w 413"/>
                <a:gd name="T7" fmla="*/ 14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3" h="182">
                  <a:moveTo>
                    <a:pt x="258" y="148"/>
                  </a:moveTo>
                  <a:lnTo>
                    <a:pt x="0" y="0"/>
                  </a:lnTo>
                  <a:lnTo>
                    <a:pt x="413" y="182"/>
                  </a:lnTo>
                  <a:lnTo>
                    <a:pt x="258" y="148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196"/>
            <p:cNvSpPr>
              <a:spLocks noChangeArrowheads="1"/>
            </p:cNvSpPr>
            <p:nvPr/>
          </p:nvSpPr>
          <p:spPr bwMode="auto">
            <a:xfrm>
              <a:off x="2777" y="1977"/>
              <a:ext cx="137" cy="61"/>
            </a:xfrm>
            <a:custGeom>
              <a:avLst/>
              <a:gdLst>
                <a:gd name="T0" fmla="*/ 258 w 413"/>
                <a:gd name="T1" fmla="*/ 148 h 182"/>
                <a:gd name="T2" fmla="*/ 0 w 413"/>
                <a:gd name="T3" fmla="*/ 0 h 182"/>
                <a:gd name="T4" fmla="*/ 413 w 413"/>
                <a:gd name="T5" fmla="*/ 182 h 182"/>
                <a:gd name="T6" fmla="*/ 258 w 413"/>
                <a:gd name="T7" fmla="*/ 14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3" h="182">
                  <a:moveTo>
                    <a:pt x="258" y="148"/>
                  </a:moveTo>
                  <a:lnTo>
                    <a:pt x="0" y="0"/>
                  </a:lnTo>
                  <a:lnTo>
                    <a:pt x="413" y="182"/>
                  </a:lnTo>
                  <a:lnTo>
                    <a:pt x="258" y="148"/>
                  </a:lnTo>
                </a:path>
              </a:pathLst>
            </a:custGeom>
            <a:solidFill>
              <a:schemeClr val="tx1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197"/>
            <p:cNvSpPr>
              <a:spLocks noChangeArrowheads="1"/>
            </p:cNvSpPr>
            <p:nvPr/>
          </p:nvSpPr>
          <p:spPr bwMode="auto">
            <a:xfrm>
              <a:off x="2863" y="2027"/>
              <a:ext cx="51" cy="37"/>
            </a:xfrm>
            <a:custGeom>
              <a:avLst/>
              <a:gdLst>
                <a:gd name="T0" fmla="*/ 0 w 155"/>
                <a:gd name="T1" fmla="*/ 0 h 112"/>
                <a:gd name="T2" fmla="*/ 155 w 155"/>
                <a:gd name="T3" fmla="*/ 34 h 112"/>
                <a:gd name="T4" fmla="*/ 102 w 155"/>
                <a:gd name="T5" fmla="*/ 112 h 112"/>
                <a:gd name="T6" fmla="*/ 0 w 155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112">
                  <a:moveTo>
                    <a:pt x="0" y="0"/>
                  </a:moveTo>
                  <a:lnTo>
                    <a:pt x="155" y="34"/>
                  </a:lnTo>
                  <a:lnTo>
                    <a:pt x="102" y="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198"/>
            <p:cNvSpPr>
              <a:spLocks noChangeArrowheads="1"/>
            </p:cNvSpPr>
            <p:nvPr/>
          </p:nvSpPr>
          <p:spPr bwMode="auto">
            <a:xfrm>
              <a:off x="2863" y="2027"/>
              <a:ext cx="51" cy="37"/>
            </a:xfrm>
            <a:custGeom>
              <a:avLst/>
              <a:gdLst>
                <a:gd name="T0" fmla="*/ 0 w 155"/>
                <a:gd name="T1" fmla="*/ 0 h 112"/>
                <a:gd name="T2" fmla="*/ 155 w 155"/>
                <a:gd name="T3" fmla="*/ 34 h 112"/>
                <a:gd name="T4" fmla="*/ 102 w 155"/>
                <a:gd name="T5" fmla="*/ 112 h 112"/>
                <a:gd name="T6" fmla="*/ 0 w 155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112">
                  <a:moveTo>
                    <a:pt x="0" y="0"/>
                  </a:moveTo>
                  <a:lnTo>
                    <a:pt x="155" y="34"/>
                  </a:lnTo>
                  <a:lnTo>
                    <a:pt x="102" y="112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199"/>
            <p:cNvSpPr>
              <a:spLocks noChangeArrowheads="1"/>
            </p:cNvSpPr>
            <p:nvPr/>
          </p:nvSpPr>
          <p:spPr bwMode="auto">
            <a:xfrm>
              <a:off x="2777" y="1977"/>
              <a:ext cx="120" cy="87"/>
            </a:xfrm>
            <a:custGeom>
              <a:avLst/>
              <a:gdLst>
                <a:gd name="T0" fmla="*/ 258 w 360"/>
                <a:gd name="T1" fmla="*/ 148 h 260"/>
                <a:gd name="T2" fmla="*/ 360 w 360"/>
                <a:gd name="T3" fmla="*/ 260 h 260"/>
                <a:gd name="T4" fmla="*/ 0 w 360"/>
                <a:gd name="T5" fmla="*/ 0 h 260"/>
                <a:gd name="T6" fmla="*/ 258 w 360"/>
                <a:gd name="T7" fmla="*/ 1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0" h="260">
                  <a:moveTo>
                    <a:pt x="258" y="148"/>
                  </a:moveTo>
                  <a:lnTo>
                    <a:pt x="360" y="260"/>
                  </a:lnTo>
                  <a:lnTo>
                    <a:pt x="0" y="0"/>
                  </a:lnTo>
                  <a:lnTo>
                    <a:pt x="258" y="148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200"/>
            <p:cNvSpPr>
              <a:spLocks noChangeArrowheads="1"/>
            </p:cNvSpPr>
            <p:nvPr/>
          </p:nvSpPr>
          <p:spPr bwMode="auto">
            <a:xfrm>
              <a:off x="2777" y="1977"/>
              <a:ext cx="120" cy="87"/>
            </a:xfrm>
            <a:custGeom>
              <a:avLst/>
              <a:gdLst>
                <a:gd name="T0" fmla="*/ 258 w 360"/>
                <a:gd name="T1" fmla="*/ 148 h 260"/>
                <a:gd name="T2" fmla="*/ 360 w 360"/>
                <a:gd name="T3" fmla="*/ 260 h 260"/>
                <a:gd name="T4" fmla="*/ 0 w 360"/>
                <a:gd name="T5" fmla="*/ 0 h 260"/>
                <a:gd name="T6" fmla="*/ 258 w 360"/>
                <a:gd name="T7" fmla="*/ 1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0" h="260">
                  <a:moveTo>
                    <a:pt x="258" y="148"/>
                  </a:moveTo>
                  <a:lnTo>
                    <a:pt x="360" y="260"/>
                  </a:lnTo>
                  <a:lnTo>
                    <a:pt x="0" y="0"/>
                  </a:lnTo>
                  <a:lnTo>
                    <a:pt x="258" y="148"/>
                  </a:lnTo>
                </a:path>
              </a:pathLst>
            </a:custGeom>
            <a:solidFill>
              <a:schemeClr val="tx1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201"/>
            <p:cNvSpPr>
              <a:spLocks noChangeArrowheads="1"/>
            </p:cNvSpPr>
            <p:nvPr/>
          </p:nvSpPr>
          <p:spPr bwMode="auto">
            <a:xfrm>
              <a:off x="2777" y="1977"/>
              <a:ext cx="167" cy="97"/>
            </a:xfrm>
            <a:custGeom>
              <a:avLst/>
              <a:gdLst>
                <a:gd name="T0" fmla="*/ 0 w 503"/>
                <a:gd name="T1" fmla="*/ 0 h 289"/>
                <a:gd name="T2" fmla="*/ 502 w 503"/>
                <a:gd name="T3" fmla="*/ 289 h 289"/>
                <a:gd name="T4" fmla="*/ 503 w 503"/>
                <a:gd name="T5" fmla="*/ 28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3" h="289">
                  <a:moveTo>
                    <a:pt x="0" y="0"/>
                  </a:moveTo>
                  <a:lnTo>
                    <a:pt x="502" y="289"/>
                  </a:lnTo>
                  <a:lnTo>
                    <a:pt x="503" y="289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202"/>
            <p:cNvSpPr>
              <a:spLocks noChangeArrowheads="1"/>
            </p:cNvSpPr>
            <p:nvPr/>
          </p:nvSpPr>
          <p:spPr bwMode="auto">
            <a:xfrm>
              <a:off x="2777" y="1977"/>
              <a:ext cx="120" cy="87"/>
            </a:xfrm>
            <a:custGeom>
              <a:avLst/>
              <a:gdLst>
                <a:gd name="T0" fmla="*/ 360 w 360"/>
                <a:gd name="T1" fmla="*/ 260 h 260"/>
                <a:gd name="T2" fmla="*/ 0 w 360"/>
                <a:gd name="T3" fmla="*/ 0 h 260"/>
                <a:gd name="T4" fmla="*/ 2 w 360"/>
                <a:gd name="T5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0" h="260">
                  <a:moveTo>
                    <a:pt x="360" y="26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solidFill>
              <a:schemeClr val="tx1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203"/>
            <p:cNvSpPr>
              <a:spLocks noChangeArrowheads="1"/>
            </p:cNvSpPr>
            <p:nvPr/>
          </p:nvSpPr>
          <p:spPr bwMode="auto">
            <a:xfrm>
              <a:off x="2777" y="1977"/>
              <a:ext cx="138" cy="61"/>
            </a:xfrm>
            <a:custGeom>
              <a:avLst/>
              <a:gdLst>
                <a:gd name="T0" fmla="*/ 0 w 414"/>
                <a:gd name="T1" fmla="*/ 0 h 182"/>
                <a:gd name="T2" fmla="*/ 413 w 414"/>
                <a:gd name="T3" fmla="*/ 182 h 182"/>
                <a:gd name="T4" fmla="*/ 414 w 414"/>
                <a:gd name="T5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4" h="182">
                  <a:moveTo>
                    <a:pt x="0" y="0"/>
                  </a:moveTo>
                  <a:lnTo>
                    <a:pt x="413" y="182"/>
                  </a:lnTo>
                  <a:lnTo>
                    <a:pt x="414" y="182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4" name="Freeform 204"/>
            <p:cNvSpPr>
              <a:spLocks noChangeArrowheads="1"/>
            </p:cNvSpPr>
            <p:nvPr/>
          </p:nvSpPr>
          <p:spPr bwMode="auto">
            <a:xfrm>
              <a:off x="2897" y="2038"/>
              <a:ext cx="17" cy="26"/>
            </a:xfrm>
            <a:custGeom>
              <a:avLst/>
              <a:gdLst>
                <a:gd name="T0" fmla="*/ 53 w 53"/>
                <a:gd name="T1" fmla="*/ 0 h 78"/>
                <a:gd name="T2" fmla="*/ 0 w 53"/>
                <a:gd name="T3" fmla="*/ 78 h 78"/>
                <a:gd name="T4" fmla="*/ 1 w 53"/>
                <a:gd name="T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3" h="78">
                  <a:moveTo>
                    <a:pt x="53" y="0"/>
                  </a:moveTo>
                  <a:lnTo>
                    <a:pt x="0" y="78"/>
                  </a:lnTo>
                  <a:lnTo>
                    <a:pt x="1" y="78"/>
                  </a:lnTo>
                </a:path>
              </a:pathLst>
            </a:custGeom>
            <a:solidFill>
              <a:schemeClr val="tx1"/>
            </a:solidFill>
            <a:ln w="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5" name="Freeform 205"/>
            <p:cNvSpPr>
              <a:spLocks noChangeArrowheads="1"/>
            </p:cNvSpPr>
            <p:nvPr/>
          </p:nvSpPr>
          <p:spPr bwMode="auto">
            <a:xfrm>
              <a:off x="2944" y="1946"/>
              <a:ext cx="74" cy="128"/>
            </a:xfrm>
            <a:custGeom>
              <a:avLst/>
              <a:gdLst>
                <a:gd name="T0" fmla="*/ 0 w 222"/>
                <a:gd name="T1" fmla="*/ 384 h 384"/>
                <a:gd name="T2" fmla="*/ 221 w 222"/>
                <a:gd name="T3" fmla="*/ 0 h 384"/>
                <a:gd name="T4" fmla="*/ 222 w 222"/>
                <a:gd name="T5" fmla="*/ 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2" h="384">
                  <a:moveTo>
                    <a:pt x="0" y="384"/>
                  </a:moveTo>
                  <a:lnTo>
                    <a:pt x="221" y="0"/>
                  </a:lnTo>
                  <a:lnTo>
                    <a:pt x="2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206" name="Group 206"/>
          <p:cNvGrpSpPr>
            <a:grpSpLocks/>
          </p:cNvGrpSpPr>
          <p:nvPr/>
        </p:nvGrpSpPr>
        <p:grpSpPr bwMode="auto">
          <a:xfrm>
            <a:off x="4163509" y="2135188"/>
            <a:ext cx="4373563" cy="4445000"/>
            <a:chOff x="1862" y="1122"/>
            <a:chExt cx="2755" cy="2800"/>
          </a:xfrm>
        </p:grpSpPr>
        <p:grpSp>
          <p:nvGrpSpPr>
            <p:cNvPr id="207" name="Group 207"/>
            <p:cNvGrpSpPr>
              <a:grpSpLocks/>
            </p:cNvGrpSpPr>
            <p:nvPr/>
          </p:nvGrpSpPr>
          <p:grpSpPr bwMode="auto">
            <a:xfrm>
              <a:off x="3209" y="2805"/>
              <a:ext cx="1408" cy="1117"/>
              <a:chOff x="2901" y="2805"/>
              <a:chExt cx="1408" cy="1117"/>
            </a:xfrm>
          </p:grpSpPr>
          <p:sp>
            <p:nvSpPr>
              <p:cNvPr id="284" name="Oval 208"/>
              <p:cNvSpPr>
                <a:spLocks noChangeArrowheads="1"/>
              </p:cNvSpPr>
              <p:nvPr/>
            </p:nvSpPr>
            <p:spPr bwMode="auto">
              <a:xfrm>
                <a:off x="3209" y="3092"/>
                <a:ext cx="528" cy="519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5" name="Oval 209"/>
              <p:cNvSpPr>
                <a:spLocks noChangeArrowheads="1"/>
              </p:cNvSpPr>
              <p:nvPr/>
            </p:nvSpPr>
            <p:spPr bwMode="auto">
              <a:xfrm>
                <a:off x="3144" y="3020"/>
                <a:ext cx="655" cy="656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6" name="Oval 210"/>
              <p:cNvSpPr>
                <a:spLocks noChangeArrowheads="1"/>
              </p:cNvSpPr>
              <p:nvPr/>
            </p:nvSpPr>
            <p:spPr bwMode="auto">
              <a:xfrm>
                <a:off x="2972" y="2848"/>
                <a:ext cx="999" cy="992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7" name="Freeform 211"/>
              <p:cNvSpPr>
                <a:spLocks noChangeArrowheads="1"/>
              </p:cNvSpPr>
              <p:nvPr/>
            </p:nvSpPr>
            <p:spPr bwMode="auto">
              <a:xfrm>
                <a:off x="3224" y="2932"/>
                <a:ext cx="528" cy="109"/>
              </a:xfrm>
              <a:custGeom>
                <a:avLst/>
                <a:gdLst>
                  <a:gd name="T0" fmla="*/ 528 w 528"/>
                  <a:gd name="T1" fmla="*/ 109 h 109"/>
                  <a:gd name="T2" fmla="*/ 436 w 528"/>
                  <a:gd name="T3" fmla="*/ 48 h 109"/>
                  <a:gd name="T4" fmla="*/ 363 w 528"/>
                  <a:gd name="T5" fmla="*/ 16 h 109"/>
                  <a:gd name="T6" fmla="*/ 252 w 528"/>
                  <a:gd name="T7" fmla="*/ 0 h 109"/>
                  <a:gd name="T8" fmla="*/ 174 w 528"/>
                  <a:gd name="T9" fmla="*/ 6 h 109"/>
                  <a:gd name="T10" fmla="*/ 96 w 528"/>
                  <a:gd name="T11" fmla="*/ 28 h 109"/>
                  <a:gd name="T12" fmla="*/ 0 w 528"/>
                  <a:gd name="T13" fmla="*/ 80 h 109"/>
                  <a:gd name="T14" fmla="*/ 0 w 528"/>
                  <a:gd name="T15" fmla="*/ 8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8" h="109">
                    <a:moveTo>
                      <a:pt x="528" y="109"/>
                    </a:moveTo>
                    <a:lnTo>
                      <a:pt x="436" y="48"/>
                    </a:lnTo>
                    <a:lnTo>
                      <a:pt x="363" y="16"/>
                    </a:lnTo>
                    <a:lnTo>
                      <a:pt x="252" y="0"/>
                    </a:lnTo>
                    <a:lnTo>
                      <a:pt x="174" y="6"/>
                    </a:lnTo>
                    <a:lnTo>
                      <a:pt x="96" y="28"/>
                    </a:lnTo>
                    <a:lnTo>
                      <a:pt x="0" y="8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8" name="Freeform 212"/>
              <p:cNvSpPr>
                <a:spLocks noChangeArrowheads="1"/>
              </p:cNvSpPr>
              <p:nvPr/>
            </p:nvSpPr>
            <p:spPr bwMode="auto">
              <a:xfrm>
                <a:off x="3249" y="3691"/>
                <a:ext cx="464" cy="73"/>
              </a:xfrm>
              <a:custGeom>
                <a:avLst/>
                <a:gdLst>
                  <a:gd name="T0" fmla="*/ 0 w 464"/>
                  <a:gd name="T1" fmla="*/ 5 h 73"/>
                  <a:gd name="T2" fmla="*/ 63 w 464"/>
                  <a:gd name="T3" fmla="*/ 41 h 73"/>
                  <a:gd name="T4" fmla="*/ 151 w 464"/>
                  <a:gd name="T5" fmla="*/ 67 h 73"/>
                  <a:gd name="T6" fmla="*/ 219 w 464"/>
                  <a:gd name="T7" fmla="*/ 73 h 73"/>
                  <a:gd name="T8" fmla="*/ 314 w 464"/>
                  <a:gd name="T9" fmla="*/ 65 h 73"/>
                  <a:gd name="T10" fmla="*/ 391 w 464"/>
                  <a:gd name="T11" fmla="*/ 37 h 73"/>
                  <a:gd name="T12" fmla="*/ 464 w 464"/>
                  <a:gd name="T13" fmla="*/ 0 h 73"/>
                  <a:gd name="T14" fmla="*/ 464 w 464"/>
                  <a:gd name="T1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4" h="73">
                    <a:moveTo>
                      <a:pt x="0" y="5"/>
                    </a:moveTo>
                    <a:lnTo>
                      <a:pt x="63" y="41"/>
                    </a:lnTo>
                    <a:lnTo>
                      <a:pt x="151" y="67"/>
                    </a:lnTo>
                    <a:lnTo>
                      <a:pt x="219" y="73"/>
                    </a:lnTo>
                    <a:lnTo>
                      <a:pt x="314" y="65"/>
                    </a:lnTo>
                    <a:lnTo>
                      <a:pt x="391" y="37"/>
                    </a:lnTo>
                    <a:lnTo>
                      <a:pt x="46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9" name="Freeform 213"/>
              <p:cNvSpPr>
                <a:spLocks noChangeArrowheads="1"/>
              </p:cNvSpPr>
              <p:nvPr/>
            </p:nvSpPr>
            <p:spPr bwMode="auto">
              <a:xfrm>
                <a:off x="3378" y="3348"/>
                <a:ext cx="669" cy="1"/>
              </a:xfrm>
              <a:custGeom>
                <a:avLst/>
                <a:gdLst>
                  <a:gd name="T0" fmla="*/ 0 w 2006"/>
                  <a:gd name="T1" fmla="*/ 0 h 1"/>
                  <a:gd name="T2" fmla="*/ 2005 w 2006"/>
                  <a:gd name="T3" fmla="*/ 0 h 1"/>
                  <a:gd name="T4" fmla="*/ 2006 w 2006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06" h="1">
                    <a:moveTo>
                      <a:pt x="0" y="0"/>
                    </a:moveTo>
                    <a:lnTo>
                      <a:pt x="2005" y="0"/>
                    </a:lnTo>
                    <a:lnTo>
                      <a:pt x="200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0" name="Freeform 214"/>
              <p:cNvSpPr>
                <a:spLocks noChangeArrowheads="1"/>
              </p:cNvSpPr>
              <p:nvPr/>
            </p:nvSpPr>
            <p:spPr bwMode="auto">
              <a:xfrm>
                <a:off x="3176" y="3053"/>
                <a:ext cx="141" cy="141"/>
              </a:xfrm>
              <a:custGeom>
                <a:avLst/>
                <a:gdLst>
                  <a:gd name="T0" fmla="*/ 0 w 424"/>
                  <a:gd name="T1" fmla="*/ 424 h 424"/>
                  <a:gd name="T2" fmla="*/ 423 w 424"/>
                  <a:gd name="T3" fmla="*/ 0 h 424"/>
                  <a:gd name="T4" fmla="*/ 424 w 424"/>
                  <a:gd name="T5" fmla="*/ 0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4" h="424">
                    <a:moveTo>
                      <a:pt x="0" y="424"/>
                    </a:moveTo>
                    <a:lnTo>
                      <a:pt x="423" y="0"/>
                    </a:lnTo>
                    <a:lnTo>
                      <a:pt x="42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1" name="Freeform 215"/>
              <p:cNvSpPr>
                <a:spLocks noChangeArrowheads="1"/>
              </p:cNvSpPr>
              <p:nvPr/>
            </p:nvSpPr>
            <p:spPr bwMode="auto">
              <a:xfrm>
                <a:off x="3139" y="3224"/>
                <a:ext cx="96" cy="97"/>
              </a:xfrm>
              <a:custGeom>
                <a:avLst/>
                <a:gdLst>
                  <a:gd name="T0" fmla="*/ 0 w 288"/>
                  <a:gd name="T1" fmla="*/ 289 h 289"/>
                  <a:gd name="T2" fmla="*/ 287 w 288"/>
                  <a:gd name="T3" fmla="*/ 0 h 289"/>
                  <a:gd name="T4" fmla="*/ 288 w 288"/>
                  <a:gd name="T5" fmla="*/ 0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8" h="289">
                    <a:moveTo>
                      <a:pt x="0" y="289"/>
                    </a:moveTo>
                    <a:lnTo>
                      <a:pt x="287" y="0"/>
                    </a:lnTo>
                    <a:lnTo>
                      <a:pt x="288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2" name="Freeform 216"/>
              <p:cNvSpPr>
                <a:spLocks noChangeArrowheads="1"/>
              </p:cNvSpPr>
              <p:nvPr/>
            </p:nvSpPr>
            <p:spPr bwMode="auto">
              <a:xfrm>
                <a:off x="3347" y="3016"/>
                <a:ext cx="97" cy="96"/>
              </a:xfrm>
              <a:custGeom>
                <a:avLst/>
                <a:gdLst>
                  <a:gd name="T0" fmla="*/ 0 w 290"/>
                  <a:gd name="T1" fmla="*/ 287 h 287"/>
                  <a:gd name="T2" fmla="*/ 288 w 290"/>
                  <a:gd name="T3" fmla="*/ 0 h 287"/>
                  <a:gd name="T4" fmla="*/ 290 w 290"/>
                  <a:gd name="T5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0" h="287">
                    <a:moveTo>
                      <a:pt x="0" y="287"/>
                    </a:moveTo>
                    <a:lnTo>
                      <a:pt x="288" y="0"/>
                    </a:lnTo>
                    <a:lnTo>
                      <a:pt x="29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3" name="Freeform 217"/>
              <p:cNvSpPr>
                <a:spLocks noChangeArrowheads="1"/>
              </p:cNvSpPr>
              <p:nvPr/>
            </p:nvSpPr>
            <p:spPr bwMode="auto">
              <a:xfrm>
                <a:off x="3143" y="3345"/>
                <a:ext cx="62" cy="61"/>
              </a:xfrm>
              <a:custGeom>
                <a:avLst/>
                <a:gdLst>
                  <a:gd name="T0" fmla="*/ 0 w 185"/>
                  <a:gd name="T1" fmla="*/ 185 h 185"/>
                  <a:gd name="T2" fmla="*/ 184 w 185"/>
                  <a:gd name="T3" fmla="*/ 0 h 185"/>
                  <a:gd name="T4" fmla="*/ 185 w 185"/>
                  <a:gd name="T5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5" h="185">
                    <a:moveTo>
                      <a:pt x="0" y="185"/>
                    </a:moveTo>
                    <a:lnTo>
                      <a:pt x="184" y="0"/>
                    </a:lnTo>
                    <a:lnTo>
                      <a:pt x="18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4" name="Freeform 218"/>
              <p:cNvSpPr>
                <a:spLocks noChangeArrowheads="1"/>
              </p:cNvSpPr>
              <p:nvPr/>
            </p:nvSpPr>
            <p:spPr bwMode="auto">
              <a:xfrm>
                <a:off x="3467" y="3020"/>
                <a:ext cx="62" cy="62"/>
              </a:xfrm>
              <a:custGeom>
                <a:avLst/>
                <a:gdLst>
                  <a:gd name="T0" fmla="*/ 0 w 186"/>
                  <a:gd name="T1" fmla="*/ 185 h 185"/>
                  <a:gd name="T2" fmla="*/ 185 w 186"/>
                  <a:gd name="T3" fmla="*/ 0 h 185"/>
                  <a:gd name="T4" fmla="*/ 186 w 186"/>
                  <a:gd name="T5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6" h="185">
                    <a:moveTo>
                      <a:pt x="0" y="185"/>
                    </a:moveTo>
                    <a:lnTo>
                      <a:pt x="185" y="0"/>
                    </a:lnTo>
                    <a:lnTo>
                      <a:pt x="18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5" name="Freeform 219"/>
              <p:cNvSpPr>
                <a:spLocks noChangeArrowheads="1"/>
              </p:cNvSpPr>
              <p:nvPr/>
            </p:nvSpPr>
            <p:spPr bwMode="auto">
              <a:xfrm>
                <a:off x="3163" y="3424"/>
                <a:ext cx="53" cy="52"/>
              </a:xfrm>
              <a:custGeom>
                <a:avLst/>
                <a:gdLst>
                  <a:gd name="T0" fmla="*/ 0 w 158"/>
                  <a:gd name="T1" fmla="*/ 156 h 156"/>
                  <a:gd name="T2" fmla="*/ 157 w 158"/>
                  <a:gd name="T3" fmla="*/ 0 h 156"/>
                  <a:gd name="T4" fmla="*/ 158 w 158"/>
                  <a:gd name="T5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8" h="156">
                    <a:moveTo>
                      <a:pt x="0" y="156"/>
                    </a:moveTo>
                    <a:lnTo>
                      <a:pt x="157" y="0"/>
                    </a:lnTo>
                    <a:lnTo>
                      <a:pt x="158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6" name="Freeform 220"/>
              <p:cNvSpPr>
                <a:spLocks noChangeArrowheads="1"/>
              </p:cNvSpPr>
              <p:nvPr/>
            </p:nvSpPr>
            <p:spPr bwMode="auto">
              <a:xfrm>
                <a:off x="3546" y="3040"/>
                <a:ext cx="53" cy="52"/>
              </a:xfrm>
              <a:custGeom>
                <a:avLst/>
                <a:gdLst>
                  <a:gd name="T0" fmla="*/ 0 w 158"/>
                  <a:gd name="T1" fmla="*/ 156 h 156"/>
                  <a:gd name="T2" fmla="*/ 157 w 158"/>
                  <a:gd name="T3" fmla="*/ 0 h 156"/>
                  <a:gd name="T4" fmla="*/ 158 w 158"/>
                  <a:gd name="T5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8" h="156">
                    <a:moveTo>
                      <a:pt x="0" y="156"/>
                    </a:moveTo>
                    <a:lnTo>
                      <a:pt x="157" y="0"/>
                    </a:lnTo>
                    <a:lnTo>
                      <a:pt x="158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7" name="Freeform 221"/>
              <p:cNvSpPr>
                <a:spLocks noChangeArrowheads="1"/>
              </p:cNvSpPr>
              <p:nvPr/>
            </p:nvSpPr>
            <p:spPr bwMode="auto">
              <a:xfrm>
                <a:off x="3194" y="3486"/>
                <a:ext cx="49" cy="48"/>
              </a:xfrm>
              <a:custGeom>
                <a:avLst/>
                <a:gdLst>
                  <a:gd name="T0" fmla="*/ 0 w 146"/>
                  <a:gd name="T1" fmla="*/ 145 h 145"/>
                  <a:gd name="T2" fmla="*/ 145 w 146"/>
                  <a:gd name="T3" fmla="*/ 0 h 145"/>
                  <a:gd name="T4" fmla="*/ 146 w 146"/>
                  <a:gd name="T5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6" h="145">
                    <a:moveTo>
                      <a:pt x="0" y="145"/>
                    </a:moveTo>
                    <a:lnTo>
                      <a:pt x="145" y="0"/>
                    </a:lnTo>
                    <a:lnTo>
                      <a:pt x="14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8" name="Freeform 222"/>
              <p:cNvSpPr>
                <a:spLocks noChangeArrowheads="1"/>
              </p:cNvSpPr>
              <p:nvPr/>
            </p:nvSpPr>
            <p:spPr bwMode="auto">
              <a:xfrm>
                <a:off x="3608" y="3072"/>
                <a:ext cx="49" cy="48"/>
              </a:xfrm>
              <a:custGeom>
                <a:avLst/>
                <a:gdLst>
                  <a:gd name="T0" fmla="*/ 0 w 146"/>
                  <a:gd name="T1" fmla="*/ 144 h 144"/>
                  <a:gd name="T2" fmla="*/ 145 w 146"/>
                  <a:gd name="T3" fmla="*/ 0 h 144"/>
                  <a:gd name="T4" fmla="*/ 146 w 146"/>
                  <a:gd name="T5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6" h="144">
                    <a:moveTo>
                      <a:pt x="0" y="144"/>
                    </a:moveTo>
                    <a:lnTo>
                      <a:pt x="145" y="0"/>
                    </a:lnTo>
                    <a:lnTo>
                      <a:pt x="14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9" name="Freeform 223"/>
              <p:cNvSpPr>
                <a:spLocks noChangeArrowheads="1"/>
              </p:cNvSpPr>
              <p:nvPr/>
            </p:nvSpPr>
            <p:spPr bwMode="auto">
              <a:xfrm>
                <a:off x="3235" y="3536"/>
                <a:ext cx="47" cy="47"/>
              </a:xfrm>
              <a:custGeom>
                <a:avLst/>
                <a:gdLst>
                  <a:gd name="T0" fmla="*/ 0 w 142"/>
                  <a:gd name="T1" fmla="*/ 141 h 141"/>
                  <a:gd name="T2" fmla="*/ 141 w 142"/>
                  <a:gd name="T3" fmla="*/ 0 h 141"/>
                  <a:gd name="T4" fmla="*/ 142 w 142"/>
                  <a:gd name="T5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2" h="141">
                    <a:moveTo>
                      <a:pt x="0" y="141"/>
                    </a:moveTo>
                    <a:lnTo>
                      <a:pt x="141" y="0"/>
                    </a:lnTo>
                    <a:lnTo>
                      <a:pt x="14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0" name="Freeform 224"/>
              <p:cNvSpPr>
                <a:spLocks noChangeArrowheads="1"/>
              </p:cNvSpPr>
              <p:nvPr/>
            </p:nvSpPr>
            <p:spPr bwMode="auto">
              <a:xfrm>
                <a:off x="3659" y="3112"/>
                <a:ext cx="47" cy="47"/>
              </a:xfrm>
              <a:custGeom>
                <a:avLst/>
                <a:gdLst>
                  <a:gd name="T0" fmla="*/ 0 w 141"/>
                  <a:gd name="T1" fmla="*/ 142 h 142"/>
                  <a:gd name="T2" fmla="*/ 140 w 141"/>
                  <a:gd name="T3" fmla="*/ 0 h 142"/>
                  <a:gd name="T4" fmla="*/ 141 w 141"/>
                  <a:gd name="T5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1" h="142">
                    <a:moveTo>
                      <a:pt x="0" y="142"/>
                    </a:moveTo>
                    <a:lnTo>
                      <a:pt x="140" y="0"/>
                    </a:lnTo>
                    <a:lnTo>
                      <a:pt x="14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1" name="Freeform 225"/>
              <p:cNvSpPr>
                <a:spLocks noChangeArrowheads="1"/>
              </p:cNvSpPr>
              <p:nvPr/>
            </p:nvSpPr>
            <p:spPr bwMode="auto">
              <a:xfrm>
                <a:off x="3284" y="3576"/>
                <a:ext cx="49" cy="48"/>
              </a:xfrm>
              <a:custGeom>
                <a:avLst/>
                <a:gdLst>
                  <a:gd name="T0" fmla="*/ 0 w 146"/>
                  <a:gd name="T1" fmla="*/ 145 h 145"/>
                  <a:gd name="T2" fmla="*/ 145 w 146"/>
                  <a:gd name="T3" fmla="*/ 0 h 145"/>
                  <a:gd name="T4" fmla="*/ 146 w 146"/>
                  <a:gd name="T5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6" h="145">
                    <a:moveTo>
                      <a:pt x="0" y="145"/>
                    </a:moveTo>
                    <a:lnTo>
                      <a:pt x="145" y="0"/>
                    </a:lnTo>
                    <a:lnTo>
                      <a:pt x="14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2" name="Freeform 226"/>
              <p:cNvSpPr>
                <a:spLocks noChangeArrowheads="1"/>
              </p:cNvSpPr>
              <p:nvPr/>
            </p:nvSpPr>
            <p:spPr bwMode="auto">
              <a:xfrm>
                <a:off x="3698" y="3161"/>
                <a:ext cx="49" cy="49"/>
              </a:xfrm>
              <a:custGeom>
                <a:avLst/>
                <a:gdLst>
                  <a:gd name="T0" fmla="*/ 0 w 146"/>
                  <a:gd name="T1" fmla="*/ 145 h 145"/>
                  <a:gd name="T2" fmla="*/ 145 w 146"/>
                  <a:gd name="T3" fmla="*/ 0 h 145"/>
                  <a:gd name="T4" fmla="*/ 146 w 146"/>
                  <a:gd name="T5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6" h="145">
                    <a:moveTo>
                      <a:pt x="0" y="145"/>
                    </a:moveTo>
                    <a:lnTo>
                      <a:pt x="145" y="0"/>
                    </a:lnTo>
                    <a:lnTo>
                      <a:pt x="14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3" name="Freeform 227"/>
              <p:cNvSpPr>
                <a:spLocks noChangeArrowheads="1"/>
              </p:cNvSpPr>
              <p:nvPr/>
            </p:nvSpPr>
            <p:spPr bwMode="auto">
              <a:xfrm>
                <a:off x="3342" y="3603"/>
                <a:ext cx="53" cy="53"/>
              </a:xfrm>
              <a:custGeom>
                <a:avLst/>
                <a:gdLst>
                  <a:gd name="T0" fmla="*/ 0 w 157"/>
                  <a:gd name="T1" fmla="*/ 157 h 157"/>
                  <a:gd name="T2" fmla="*/ 156 w 157"/>
                  <a:gd name="T3" fmla="*/ 0 h 157"/>
                  <a:gd name="T4" fmla="*/ 157 w 157"/>
                  <a:gd name="T5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7" h="157">
                    <a:moveTo>
                      <a:pt x="0" y="157"/>
                    </a:moveTo>
                    <a:lnTo>
                      <a:pt x="156" y="0"/>
                    </a:lnTo>
                    <a:lnTo>
                      <a:pt x="157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4" name="Freeform 228"/>
              <p:cNvSpPr>
                <a:spLocks noChangeArrowheads="1"/>
              </p:cNvSpPr>
              <p:nvPr/>
            </p:nvSpPr>
            <p:spPr bwMode="auto">
              <a:xfrm>
                <a:off x="3726" y="3219"/>
                <a:ext cx="52" cy="53"/>
              </a:xfrm>
              <a:custGeom>
                <a:avLst/>
                <a:gdLst>
                  <a:gd name="T0" fmla="*/ 0 w 158"/>
                  <a:gd name="T1" fmla="*/ 157 h 157"/>
                  <a:gd name="T2" fmla="*/ 157 w 158"/>
                  <a:gd name="T3" fmla="*/ 0 h 157"/>
                  <a:gd name="T4" fmla="*/ 158 w 158"/>
                  <a:gd name="T5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8" h="157">
                    <a:moveTo>
                      <a:pt x="0" y="157"/>
                    </a:moveTo>
                    <a:lnTo>
                      <a:pt x="157" y="0"/>
                    </a:lnTo>
                    <a:lnTo>
                      <a:pt x="158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5" name="Freeform 229"/>
              <p:cNvSpPr>
                <a:spLocks noChangeArrowheads="1"/>
              </p:cNvSpPr>
              <p:nvPr/>
            </p:nvSpPr>
            <p:spPr bwMode="auto">
              <a:xfrm>
                <a:off x="3411" y="3615"/>
                <a:ext cx="62" cy="61"/>
              </a:xfrm>
              <a:custGeom>
                <a:avLst/>
                <a:gdLst>
                  <a:gd name="T0" fmla="*/ 0 w 185"/>
                  <a:gd name="T1" fmla="*/ 185 h 185"/>
                  <a:gd name="T2" fmla="*/ 184 w 185"/>
                  <a:gd name="T3" fmla="*/ 0 h 185"/>
                  <a:gd name="T4" fmla="*/ 185 w 185"/>
                  <a:gd name="T5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5" h="185">
                    <a:moveTo>
                      <a:pt x="0" y="185"/>
                    </a:moveTo>
                    <a:lnTo>
                      <a:pt x="184" y="0"/>
                    </a:lnTo>
                    <a:lnTo>
                      <a:pt x="18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6" name="Freeform 230"/>
              <p:cNvSpPr>
                <a:spLocks noChangeArrowheads="1"/>
              </p:cNvSpPr>
              <p:nvPr/>
            </p:nvSpPr>
            <p:spPr bwMode="auto">
              <a:xfrm>
                <a:off x="3737" y="3289"/>
                <a:ext cx="62" cy="61"/>
              </a:xfrm>
              <a:custGeom>
                <a:avLst/>
                <a:gdLst>
                  <a:gd name="T0" fmla="*/ 0 w 185"/>
                  <a:gd name="T1" fmla="*/ 183 h 183"/>
                  <a:gd name="T2" fmla="*/ 184 w 185"/>
                  <a:gd name="T3" fmla="*/ 0 h 183"/>
                  <a:gd name="T4" fmla="*/ 185 w 185"/>
                  <a:gd name="T5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5" h="183">
                    <a:moveTo>
                      <a:pt x="0" y="183"/>
                    </a:moveTo>
                    <a:lnTo>
                      <a:pt x="184" y="0"/>
                    </a:lnTo>
                    <a:lnTo>
                      <a:pt x="18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7" name="Freeform 231"/>
              <p:cNvSpPr>
                <a:spLocks noChangeArrowheads="1"/>
              </p:cNvSpPr>
              <p:nvPr/>
            </p:nvSpPr>
            <p:spPr bwMode="auto">
              <a:xfrm>
                <a:off x="3497" y="3586"/>
                <a:ext cx="95" cy="95"/>
              </a:xfrm>
              <a:custGeom>
                <a:avLst/>
                <a:gdLst>
                  <a:gd name="T0" fmla="*/ 0 w 285"/>
                  <a:gd name="T1" fmla="*/ 284 h 284"/>
                  <a:gd name="T2" fmla="*/ 283 w 285"/>
                  <a:gd name="T3" fmla="*/ 0 h 284"/>
                  <a:gd name="T4" fmla="*/ 285 w 285"/>
                  <a:gd name="T5" fmla="*/ 0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5" h="284">
                    <a:moveTo>
                      <a:pt x="0" y="284"/>
                    </a:moveTo>
                    <a:lnTo>
                      <a:pt x="283" y="0"/>
                    </a:lnTo>
                    <a:lnTo>
                      <a:pt x="28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8" name="Freeform 232"/>
              <p:cNvSpPr>
                <a:spLocks noChangeArrowheads="1"/>
              </p:cNvSpPr>
              <p:nvPr/>
            </p:nvSpPr>
            <p:spPr bwMode="auto">
              <a:xfrm>
                <a:off x="3708" y="3374"/>
                <a:ext cx="95" cy="95"/>
              </a:xfrm>
              <a:custGeom>
                <a:avLst/>
                <a:gdLst>
                  <a:gd name="T0" fmla="*/ 0 w 285"/>
                  <a:gd name="T1" fmla="*/ 284 h 284"/>
                  <a:gd name="T2" fmla="*/ 284 w 285"/>
                  <a:gd name="T3" fmla="*/ 0 h 284"/>
                  <a:gd name="T4" fmla="*/ 285 w 285"/>
                  <a:gd name="T5" fmla="*/ 0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5" h="284">
                    <a:moveTo>
                      <a:pt x="0" y="284"/>
                    </a:moveTo>
                    <a:lnTo>
                      <a:pt x="284" y="0"/>
                    </a:lnTo>
                    <a:lnTo>
                      <a:pt x="28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9" name="Freeform 233"/>
              <p:cNvSpPr>
                <a:spLocks noChangeArrowheads="1"/>
              </p:cNvSpPr>
              <p:nvPr/>
            </p:nvSpPr>
            <p:spPr bwMode="auto">
              <a:xfrm>
                <a:off x="3622" y="3499"/>
                <a:ext cx="146" cy="146"/>
              </a:xfrm>
              <a:custGeom>
                <a:avLst/>
                <a:gdLst>
                  <a:gd name="T0" fmla="*/ 0 w 438"/>
                  <a:gd name="T1" fmla="*/ 438 h 438"/>
                  <a:gd name="T2" fmla="*/ 437 w 438"/>
                  <a:gd name="T3" fmla="*/ 0 h 438"/>
                  <a:gd name="T4" fmla="*/ 438 w 438"/>
                  <a:gd name="T5" fmla="*/ 0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8" h="438">
                    <a:moveTo>
                      <a:pt x="0" y="438"/>
                    </a:moveTo>
                    <a:lnTo>
                      <a:pt x="437" y="0"/>
                    </a:lnTo>
                    <a:lnTo>
                      <a:pt x="438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0" name="Freeform 234"/>
              <p:cNvSpPr>
                <a:spLocks noChangeArrowheads="1"/>
              </p:cNvSpPr>
              <p:nvPr/>
            </p:nvSpPr>
            <p:spPr bwMode="auto">
              <a:xfrm>
                <a:off x="3052" y="3093"/>
                <a:ext cx="102" cy="525"/>
              </a:xfrm>
              <a:custGeom>
                <a:avLst/>
                <a:gdLst>
                  <a:gd name="T0" fmla="*/ 90 w 102"/>
                  <a:gd name="T1" fmla="*/ 0 h 525"/>
                  <a:gd name="T2" fmla="*/ 36 w 102"/>
                  <a:gd name="T3" fmla="*/ 83 h 525"/>
                  <a:gd name="T4" fmla="*/ 11 w 102"/>
                  <a:gd name="T5" fmla="*/ 171 h 525"/>
                  <a:gd name="T6" fmla="*/ 0 w 102"/>
                  <a:gd name="T7" fmla="*/ 259 h 525"/>
                  <a:gd name="T8" fmla="*/ 15 w 102"/>
                  <a:gd name="T9" fmla="*/ 358 h 525"/>
                  <a:gd name="T10" fmla="*/ 44 w 102"/>
                  <a:gd name="T11" fmla="*/ 443 h 525"/>
                  <a:gd name="T12" fmla="*/ 102 w 102"/>
                  <a:gd name="T13" fmla="*/ 525 h 525"/>
                  <a:gd name="T14" fmla="*/ 102 w 102"/>
                  <a:gd name="T15" fmla="*/ 525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2" h="525">
                    <a:moveTo>
                      <a:pt x="90" y="0"/>
                    </a:moveTo>
                    <a:lnTo>
                      <a:pt x="36" y="83"/>
                    </a:lnTo>
                    <a:lnTo>
                      <a:pt x="11" y="171"/>
                    </a:lnTo>
                    <a:lnTo>
                      <a:pt x="0" y="259"/>
                    </a:lnTo>
                    <a:lnTo>
                      <a:pt x="15" y="358"/>
                    </a:lnTo>
                    <a:lnTo>
                      <a:pt x="44" y="443"/>
                    </a:lnTo>
                    <a:lnTo>
                      <a:pt x="102" y="525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1" name="Freeform 235"/>
              <p:cNvSpPr>
                <a:spLocks noChangeArrowheads="1"/>
              </p:cNvSpPr>
              <p:nvPr/>
            </p:nvSpPr>
            <p:spPr bwMode="auto">
              <a:xfrm>
                <a:off x="3184" y="3650"/>
                <a:ext cx="17" cy="15"/>
              </a:xfrm>
              <a:custGeom>
                <a:avLst/>
                <a:gdLst>
                  <a:gd name="T0" fmla="*/ 0 w 51"/>
                  <a:gd name="T1" fmla="*/ 0 h 45"/>
                  <a:gd name="T2" fmla="*/ 49 w 51"/>
                  <a:gd name="T3" fmla="*/ 45 h 45"/>
                  <a:gd name="T4" fmla="*/ 51 w 51"/>
                  <a:gd name="T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45">
                    <a:moveTo>
                      <a:pt x="0" y="0"/>
                    </a:moveTo>
                    <a:lnTo>
                      <a:pt x="49" y="45"/>
                    </a:lnTo>
                    <a:lnTo>
                      <a:pt x="51" y="45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2" name="Freeform 236"/>
              <p:cNvSpPr>
                <a:spLocks noChangeArrowheads="1"/>
              </p:cNvSpPr>
              <p:nvPr/>
            </p:nvSpPr>
            <p:spPr bwMode="auto">
              <a:xfrm>
                <a:off x="2901" y="3348"/>
                <a:ext cx="362" cy="1"/>
              </a:xfrm>
              <a:custGeom>
                <a:avLst/>
                <a:gdLst>
                  <a:gd name="T0" fmla="*/ 0 w 1085"/>
                  <a:gd name="T1" fmla="*/ 0 h 1"/>
                  <a:gd name="T2" fmla="*/ 1084 w 1085"/>
                  <a:gd name="T3" fmla="*/ 0 h 1"/>
                  <a:gd name="T4" fmla="*/ 1085 w 108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85" h="1">
                    <a:moveTo>
                      <a:pt x="0" y="0"/>
                    </a:moveTo>
                    <a:lnTo>
                      <a:pt x="1084" y="0"/>
                    </a:lnTo>
                    <a:lnTo>
                      <a:pt x="108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3" name="Freeform 237"/>
              <p:cNvSpPr>
                <a:spLocks noChangeArrowheads="1"/>
              </p:cNvSpPr>
              <p:nvPr/>
            </p:nvSpPr>
            <p:spPr bwMode="auto">
              <a:xfrm>
                <a:off x="3011" y="3305"/>
                <a:ext cx="87" cy="86"/>
              </a:xfrm>
              <a:custGeom>
                <a:avLst/>
                <a:gdLst>
                  <a:gd name="T0" fmla="*/ 261 w 262"/>
                  <a:gd name="T1" fmla="*/ 131 h 260"/>
                  <a:gd name="T2" fmla="*/ 223 w 262"/>
                  <a:gd name="T3" fmla="*/ 39 h 260"/>
                  <a:gd name="T4" fmla="*/ 131 w 262"/>
                  <a:gd name="T5" fmla="*/ 0 h 260"/>
                  <a:gd name="T6" fmla="*/ 39 w 262"/>
                  <a:gd name="T7" fmla="*/ 39 h 260"/>
                  <a:gd name="T8" fmla="*/ 0 w 262"/>
                  <a:gd name="T9" fmla="*/ 131 h 260"/>
                  <a:gd name="T10" fmla="*/ 39 w 262"/>
                  <a:gd name="T11" fmla="*/ 223 h 260"/>
                  <a:gd name="T12" fmla="*/ 131 w 262"/>
                  <a:gd name="T13" fmla="*/ 260 h 260"/>
                  <a:gd name="T14" fmla="*/ 223 w 262"/>
                  <a:gd name="T15" fmla="*/ 223 h 260"/>
                  <a:gd name="T16" fmla="*/ 261 w 262"/>
                  <a:gd name="T17" fmla="*/ 131 h 260"/>
                  <a:gd name="T18" fmla="*/ 262 w 262"/>
                  <a:gd name="T19" fmla="*/ 131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2" h="260">
                    <a:moveTo>
                      <a:pt x="261" y="131"/>
                    </a:moveTo>
                    <a:lnTo>
                      <a:pt x="223" y="39"/>
                    </a:lnTo>
                    <a:lnTo>
                      <a:pt x="131" y="0"/>
                    </a:lnTo>
                    <a:lnTo>
                      <a:pt x="39" y="39"/>
                    </a:lnTo>
                    <a:lnTo>
                      <a:pt x="0" y="131"/>
                    </a:lnTo>
                    <a:lnTo>
                      <a:pt x="39" y="223"/>
                    </a:lnTo>
                    <a:lnTo>
                      <a:pt x="131" y="260"/>
                    </a:lnTo>
                    <a:lnTo>
                      <a:pt x="223" y="223"/>
                    </a:lnTo>
                    <a:lnTo>
                      <a:pt x="261" y="131"/>
                    </a:lnTo>
                    <a:lnTo>
                      <a:pt x="262" y="13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4" name="Freeform 238"/>
              <p:cNvSpPr>
                <a:spLocks noChangeArrowheads="1"/>
              </p:cNvSpPr>
              <p:nvPr/>
            </p:nvSpPr>
            <p:spPr bwMode="auto">
              <a:xfrm>
                <a:off x="3311" y="3348"/>
                <a:ext cx="25" cy="1"/>
              </a:xfrm>
              <a:custGeom>
                <a:avLst/>
                <a:gdLst>
                  <a:gd name="T0" fmla="*/ 0 w 75"/>
                  <a:gd name="T1" fmla="*/ 0 h 1"/>
                  <a:gd name="T2" fmla="*/ 74 w 75"/>
                  <a:gd name="T3" fmla="*/ 0 h 1"/>
                  <a:gd name="T4" fmla="*/ 75 w 7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5" h="1">
                    <a:moveTo>
                      <a:pt x="0" y="0"/>
                    </a:moveTo>
                    <a:lnTo>
                      <a:pt x="74" y="0"/>
                    </a:lnTo>
                    <a:lnTo>
                      <a:pt x="7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5" name="Freeform 239"/>
              <p:cNvSpPr>
                <a:spLocks noChangeArrowheads="1"/>
              </p:cNvSpPr>
              <p:nvPr/>
            </p:nvSpPr>
            <p:spPr bwMode="auto">
              <a:xfrm>
                <a:off x="3176" y="3041"/>
                <a:ext cx="14" cy="14"/>
              </a:xfrm>
              <a:custGeom>
                <a:avLst/>
                <a:gdLst>
                  <a:gd name="T0" fmla="*/ 42 w 42"/>
                  <a:gd name="T1" fmla="*/ 0 h 41"/>
                  <a:gd name="T2" fmla="*/ 0 w 42"/>
                  <a:gd name="T3" fmla="*/ 41 h 41"/>
                  <a:gd name="T4" fmla="*/ 1 w 42"/>
                  <a:gd name="T5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41">
                    <a:moveTo>
                      <a:pt x="42" y="0"/>
                    </a:moveTo>
                    <a:lnTo>
                      <a:pt x="0" y="41"/>
                    </a:lnTo>
                    <a:lnTo>
                      <a:pt x="1" y="4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6" name="Freeform 240"/>
              <p:cNvSpPr>
                <a:spLocks noChangeArrowheads="1"/>
              </p:cNvSpPr>
              <p:nvPr/>
            </p:nvSpPr>
            <p:spPr bwMode="auto">
              <a:xfrm>
                <a:off x="3471" y="2805"/>
                <a:ext cx="1" cy="385"/>
              </a:xfrm>
              <a:custGeom>
                <a:avLst/>
                <a:gdLst>
                  <a:gd name="T0" fmla="*/ 0 w 1"/>
                  <a:gd name="T1" fmla="*/ 1155 h 1155"/>
                  <a:gd name="T2" fmla="*/ 0 w 1"/>
                  <a:gd name="T3" fmla="*/ 0 h 1155"/>
                  <a:gd name="T4" fmla="*/ 1 w 1"/>
                  <a:gd name="T5" fmla="*/ 0 h 1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155">
                    <a:moveTo>
                      <a:pt x="0" y="1155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7" name="Freeform 241"/>
              <p:cNvSpPr>
                <a:spLocks noChangeArrowheads="1"/>
              </p:cNvSpPr>
              <p:nvPr/>
            </p:nvSpPr>
            <p:spPr bwMode="auto">
              <a:xfrm>
                <a:off x="3794" y="3132"/>
                <a:ext cx="94" cy="479"/>
              </a:xfrm>
              <a:custGeom>
                <a:avLst/>
                <a:gdLst>
                  <a:gd name="T0" fmla="*/ 0 w 94"/>
                  <a:gd name="T1" fmla="*/ 479 h 479"/>
                  <a:gd name="T2" fmla="*/ 54 w 94"/>
                  <a:gd name="T3" fmla="*/ 404 h 479"/>
                  <a:gd name="T4" fmla="*/ 77 w 94"/>
                  <a:gd name="T5" fmla="*/ 329 h 479"/>
                  <a:gd name="T6" fmla="*/ 94 w 94"/>
                  <a:gd name="T7" fmla="*/ 216 h 479"/>
                  <a:gd name="T8" fmla="*/ 89 w 94"/>
                  <a:gd name="T9" fmla="*/ 160 h 479"/>
                  <a:gd name="T10" fmla="*/ 74 w 94"/>
                  <a:gd name="T11" fmla="*/ 92 h 479"/>
                  <a:gd name="T12" fmla="*/ 33 w 94"/>
                  <a:gd name="T13" fmla="*/ 0 h 479"/>
                  <a:gd name="T14" fmla="*/ 33 w 94"/>
                  <a:gd name="T15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4" h="479">
                    <a:moveTo>
                      <a:pt x="0" y="479"/>
                    </a:moveTo>
                    <a:lnTo>
                      <a:pt x="54" y="404"/>
                    </a:lnTo>
                    <a:lnTo>
                      <a:pt x="77" y="329"/>
                    </a:lnTo>
                    <a:lnTo>
                      <a:pt x="94" y="216"/>
                    </a:lnTo>
                    <a:lnTo>
                      <a:pt x="89" y="160"/>
                    </a:lnTo>
                    <a:lnTo>
                      <a:pt x="74" y="92"/>
                    </a:lnTo>
                    <a:lnTo>
                      <a:pt x="33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8" name="Freeform 242"/>
              <p:cNvSpPr>
                <a:spLocks noChangeArrowheads="1"/>
              </p:cNvSpPr>
              <p:nvPr/>
            </p:nvSpPr>
            <p:spPr bwMode="auto">
              <a:xfrm>
                <a:off x="3471" y="3285"/>
                <a:ext cx="1" cy="637"/>
              </a:xfrm>
              <a:custGeom>
                <a:avLst/>
                <a:gdLst>
                  <a:gd name="T0" fmla="*/ 0 w 1"/>
                  <a:gd name="T1" fmla="*/ 1911 h 1911"/>
                  <a:gd name="T2" fmla="*/ 0 w 1"/>
                  <a:gd name="T3" fmla="*/ 0 h 1911"/>
                  <a:gd name="T4" fmla="*/ 1 w 1"/>
                  <a:gd name="T5" fmla="*/ 0 h 1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911">
                    <a:moveTo>
                      <a:pt x="0" y="191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9" name="Freeform 243"/>
              <p:cNvSpPr>
                <a:spLocks noChangeArrowheads="1"/>
              </p:cNvSpPr>
              <p:nvPr/>
            </p:nvSpPr>
            <p:spPr bwMode="auto">
              <a:xfrm>
                <a:off x="3427" y="3722"/>
                <a:ext cx="87" cy="86"/>
              </a:xfrm>
              <a:custGeom>
                <a:avLst/>
                <a:gdLst>
                  <a:gd name="T0" fmla="*/ 260 w 261"/>
                  <a:gd name="T1" fmla="*/ 129 h 259"/>
                  <a:gd name="T2" fmla="*/ 221 w 261"/>
                  <a:gd name="T3" fmla="*/ 37 h 259"/>
                  <a:gd name="T4" fmla="*/ 130 w 261"/>
                  <a:gd name="T5" fmla="*/ 0 h 259"/>
                  <a:gd name="T6" fmla="*/ 38 w 261"/>
                  <a:gd name="T7" fmla="*/ 37 h 259"/>
                  <a:gd name="T8" fmla="*/ 0 w 261"/>
                  <a:gd name="T9" fmla="*/ 129 h 259"/>
                  <a:gd name="T10" fmla="*/ 38 w 261"/>
                  <a:gd name="T11" fmla="*/ 221 h 259"/>
                  <a:gd name="T12" fmla="*/ 130 w 261"/>
                  <a:gd name="T13" fmla="*/ 259 h 259"/>
                  <a:gd name="T14" fmla="*/ 221 w 261"/>
                  <a:gd name="T15" fmla="*/ 221 h 259"/>
                  <a:gd name="T16" fmla="*/ 260 w 261"/>
                  <a:gd name="T17" fmla="*/ 129 h 259"/>
                  <a:gd name="T18" fmla="*/ 261 w 261"/>
                  <a:gd name="T19" fmla="*/ 129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1" h="259">
                    <a:moveTo>
                      <a:pt x="260" y="129"/>
                    </a:moveTo>
                    <a:lnTo>
                      <a:pt x="221" y="37"/>
                    </a:lnTo>
                    <a:lnTo>
                      <a:pt x="130" y="0"/>
                    </a:lnTo>
                    <a:lnTo>
                      <a:pt x="38" y="37"/>
                    </a:lnTo>
                    <a:lnTo>
                      <a:pt x="0" y="129"/>
                    </a:lnTo>
                    <a:lnTo>
                      <a:pt x="38" y="221"/>
                    </a:lnTo>
                    <a:lnTo>
                      <a:pt x="130" y="259"/>
                    </a:lnTo>
                    <a:lnTo>
                      <a:pt x="221" y="221"/>
                    </a:lnTo>
                    <a:lnTo>
                      <a:pt x="260" y="129"/>
                    </a:lnTo>
                    <a:lnTo>
                      <a:pt x="261" y="12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0" name="Rectangle 244"/>
              <p:cNvSpPr>
                <a:spLocks noChangeArrowheads="1"/>
              </p:cNvSpPr>
              <p:nvPr/>
            </p:nvSpPr>
            <p:spPr bwMode="auto">
              <a:xfrm>
                <a:off x="3856" y="3662"/>
                <a:ext cx="453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lang="en-US" altLang="zh-CN" i="1">
                    <a:latin typeface="Times New Roman" panose="02020603050405020304" pitchFamily="18" charset="0"/>
                  </a:rPr>
                  <a:t>B</a:t>
                </a:r>
                <a:r>
                  <a:rPr lang="zh-CN" altLang="en-US">
                    <a:latin typeface="Times New Roman" panose="02020603050405020304" pitchFamily="18" charset="0"/>
                  </a:rPr>
                  <a:t>－</a:t>
                </a:r>
                <a:r>
                  <a:rPr lang="en-US" altLang="zh-CN" i="1">
                    <a:latin typeface="Times New Roman" panose="02020603050405020304" pitchFamily="18" charset="0"/>
                  </a:rPr>
                  <a:t>B</a:t>
                </a:r>
                <a:endParaRPr lang="en-US" altLang="zh-CN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1" name="Freeform 245"/>
              <p:cNvSpPr>
                <a:spLocks noChangeArrowheads="1"/>
              </p:cNvSpPr>
              <p:nvPr/>
            </p:nvSpPr>
            <p:spPr bwMode="auto">
              <a:xfrm>
                <a:off x="3738" y="3652"/>
                <a:ext cx="18" cy="15"/>
              </a:xfrm>
              <a:custGeom>
                <a:avLst/>
                <a:gdLst>
                  <a:gd name="T0" fmla="*/ 0 w 53"/>
                  <a:gd name="T1" fmla="*/ 46 h 46"/>
                  <a:gd name="T2" fmla="*/ 52 w 53"/>
                  <a:gd name="T3" fmla="*/ 0 h 46"/>
                  <a:gd name="T4" fmla="*/ 53 w 53"/>
                  <a:gd name="T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" h="46">
                    <a:moveTo>
                      <a:pt x="0" y="46"/>
                    </a:moveTo>
                    <a:lnTo>
                      <a:pt x="52" y="0"/>
                    </a:lnTo>
                    <a:lnTo>
                      <a:pt x="53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2" name="Freeform 246"/>
              <p:cNvSpPr>
                <a:spLocks noChangeArrowheads="1"/>
              </p:cNvSpPr>
              <p:nvPr/>
            </p:nvSpPr>
            <p:spPr bwMode="auto">
              <a:xfrm>
                <a:off x="3471" y="3222"/>
                <a:ext cx="1" cy="21"/>
              </a:xfrm>
              <a:custGeom>
                <a:avLst/>
                <a:gdLst>
                  <a:gd name="T0" fmla="*/ 0 w 1"/>
                  <a:gd name="T1" fmla="*/ 62 h 62"/>
                  <a:gd name="T2" fmla="*/ 0 w 1"/>
                  <a:gd name="T3" fmla="*/ 0 h 62"/>
                  <a:gd name="T4" fmla="*/ 1 w 1"/>
                  <a:gd name="T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2">
                    <a:moveTo>
                      <a:pt x="0" y="6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3" name="Freeform 247"/>
              <p:cNvSpPr>
                <a:spLocks noChangeArrowheads="1"/>
              </p:cNvSpPr>
              <p:nvPr/>
            </p:nvSpPr>
            <p:spPr bwMode="auto">
              <a:xfrm>
                <a:off x="3784" y="3075"/>
                <a:ext cx="15" cy="17"/>
              </a:xfrm>
              <a:custGeom>
                <a:avLst/>
                <a:gdLst>
                  <a:gd name="T0" fmla="*/ 44 w 44"/>
                  <a:gd name="T1" fmla="*/ 53 h 53"/>
                  <a:gd name="T2" fmla="*/ 0 w 44"/>
                  <a:gd name="T3" fmla="*/ 0 h 53"/>
                  <a:gd name="T4" fmla="*/ 2 w 44"/>
                  <a:gd name="T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53">
                    <a:moveTo>
                      <a:pt x="44" y="53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4" name="Freeform 248"/>
              <p:cNvSpPr>
                <a:spLocks noChangeArrowheads="1"/>
              </p:cNvSpPr>
              <p:nvPr/>
            </p:nvSpPr>
            <p:spPr bwMode="auto">
              <a:xfrm>
                <a:off x="3844" y="3305"/>
                <a:ext cx="87" cy="86"/>
              </a:xfrm>
              <a:custGeom>
                <a:avLst/>
                <a:gdLst>
                  <a:gd name="T0" fmla="*/ 260 w 261"/>
                  <a:gd name="T1" fmla="*/ 131 h 260"/>
                  <a:gd name="T2" fmla="*/ 221 w 261"/>
                  <a:gd name="T3" fmla="*/ 39 h 260"/>
                  <a:gd name="T4" fmla="*/ 129 w 261"/>
                  <a:gd name="T5" fmla="*/ 0 h 260"/>
                  <a:gd name="T6" fmla="*/ 37 w 261"/>
                  <a:gd name="T7" fmla="*/ 39 h 260"/>
                  <a:gd name="T8" fmla="*/ 0 w 261"/>
                  <a:gd name="T9" fmla="*/ 131 h 260"/>
                  <a:gd name="T10" fmla="*/ 37 w 261"/>
                  <a:gd name="T11" fmla="*/ 223 h 260"/>
                  <a:gd name="T12" fmla="*/ 129 w 261"/>
                  <a:gd name="T13" fmla="*/ 260 h 260"/>
                  <a:gd name="T14" fmla="*/ 221 w 261"/>
                  <a:gd name="T15" fmla="*/ 223 h 260"/>
                  <a:gd name="T16" fmla="*/ 260 w 261"/>
                  <a:gd name="T17" fmla="*/ 131 h 260"/>
                  <a:gd name="T18" fmla="*/ 261 w 261"/>
                  <a:gd name="T19" fmla="*/ 131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1" h="260">
                    <a:moveTo>
                      <a:pt x="260" y="131"/>
                    </a:moveTo>
                    <a:lnTo>
                      <a:pt x="221" y="39"/>
                    </a:lnTo>
                    <a:lnTo>
                      <a:pt x="129" y="0"/>
                    </a:lnTo>
                    <a:lnTo>
                      <a:pt x="37" y="39"/>
                    </a:lnTo>
                    <a:lnTo>
                      <a:pt x="0" y="131"/>
                    </a:lnTo>
                    <a:lnTo>
                      <a:pt x="37" y="223"/>
                    </a:lnTo>
                    <a:lnTo>
                      <a:pt x="129" y="260"/>
                    </a:lnTo>
                    <a:lnTo>
                      <a:pt x="221" y="223"/>
                    </a:lnTo>
                    <a:lnTo>
                      <a:pt x="260" y="131"/>
                    </a:lnTo>
                    <a:lnTo>
                      <a:pt x="261" y="13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5" name="Freeform 249"/>
              <p:cNvSpPr>
                <a:spLocks noChangeArrowheads="1"/>
              </p:cNvSpPr>
              <p:nvPr/>
            </p:nvSpPr>
            <p:spPr bwMode="auto">
              <a:xfrm>
                <a:off x="3427" y="2888"/>
                <a:ext cx="87" cy="87"/>
              </a:xfrm>
              <a:custGeom>
                <a:avLst/>
                <a:gdLst>
                  <a:gd name="T0" fmla="*/ 260 w 261"/>
                  <a:gd name="T1" fmla="*/ 129 h 260"/>
                  <a:gd name="T2" fmla="*/ 221 w 261"/>
                  <a:gd name="T3" fmla="*/ 38 h 260"/>
                  <a:gd name="T4" fmla="*/ 130 w 261"/>
                  <a:gd name="T5" fmla="*/ 0 h 260"/>
                  <a:gd name="T6" fmla="*/ 38 w 261"/>
                  <a:gd name="T7" fmla="*/ 38 h 260"/>
                  <a:gd name="T8" fmla="*/ 0 w 261"/>
                  <a:gd name="T9" fmla="*/ 129 h 260"/>
                  <a:gd name="T10" fmla="*/ 38 w 261"/>
                  <a:gd name="T11" fmla="*/ 222 h 260"/>
                  <a:gd name="T12" fmla="*/ 130 w 261"/>
                  <a:gd name="T13" fmla="*/ 260 h 260"/>
                  <a:gd name="T14" fmla="*/ 221 w 261"/>
                  <a:gd name="T15" fmla="*/ 222 h 260"/>
                  <a:gd name="T16" fmla="*/ 260 w 261"/>
                  <a:gd name="T17" fmla="*/ 129 h 260"/>
                  <a:gd name="T18" fmla="*/ 261 w 261"/>
                  <a:gd name="T19" fmla="*/ 129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1" h="260">
                    <a:moveTo>
                      <a:pt x="260" y="129"/>
                    </a:moveTo>
                    <a:lnTo>
                      <a:pt x="221" y="38"/>
                    </a:lnTo>
                    <a:lnTo>
                      <a:pt x="130" y="0"/>
                    </a:lnTo>
                    <a:lnTo>
                      <a:pt x="38" y="38"/>
                    </a:lnTo>
                    <a:lnTo>
                      <a:pt x="0" y="129"/>
                    </a:lnTo>
                    <a:lnTo>
                      <a:pt x="38" y="222"/>
                    </a:lnTo>
                    <a:lnTo>
                      <a:pt x="130" y="260"/>
                    </a:lnTo>
                    <a:lnTo>
                      <a:pt x="221" y="222"/>
                    </a:lnTo>
                    <a:lnTo>
                      <a:pt x="260" y="129"/>
                    </a:lnTo>
                    <a:lnTo>
                      <a:pt x="261" y="12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208" name="Group 250"/>
            <p:cNvGrpSpPr>
              <a:grpSpLocks/>
            </p:cNvGrpSpPr>
            <p:nvPr/>
          </p:nvGrpSpPr>
          <p:grpSpPr bwMode="auto">
            <a:xfrm>
              <a:off x="2839" y="1122"/>
              <a:ext cx="1682" cy="1659"/>
              <a:chOff x="2531" y="1122"/>
              <a:chExt cx="1682" cy="1659"/>
            </a:xfrm>
          </p:grpSpPr>
          <p:sp>
            <p:nvSpPr>
              <p:cNvPr id="224" name="Freeform 251"/>
              <p:cNvSpPr>
                <a:spLocks noChangeArrowheads="1"/>
              </p:cNvSpPr>
              <p:nvPr/>
            </p:nvSpPr>
            <p:spPr bwMode="auto">
              <a:xfrm>
                <a:off x="2640" y="1680"/>
                <a:ext cx="930" cy="1044"/>
              </a:xfrm>
              <a:custGeom>
                <a:avLst/>
                <a:gdLst>
                  <a:gd name="T0" fmla="*/ 0 w 930"/>
                  <a:gd name="T1" fmla="*/ 0 h 1044"/>
                  <a:gd name="T2" fmla="*/ 132 w 930"/>
                  <a:gd name="T3" fmla="*/ 42 h 1044"/>
                  <a:gd name="T4" fmla="*/ 270 w 930"/>
                  <a:gd name="T5" fmla="*/ 150 h 1044"/>
                  <a:gd name="T6" fmla="*/ 540 w 930"/>
                  <a:gd name="T7" fmla="*/ 276 h 1044"/>
                  <a:gd name="T8" fmla="*/ 666 w 930"/>
                  <a:gd name="T9" fmla="*/ 468 h 1044"/>
                  <a:gd name="T10" fmla="*/ 828 w 930"/>
                  <a:gd name="T11" fmla="*/ 636 h 1044"/>
                  <a:gd name="T12" fmla="*/ 870 w 930"/>
                  <a:gd name="T13" fmla="*/ 828 h 1044"/>
                  <a:gd name="T14" fmla="*/ 918 w 930"/>
                  <a:gd name="T15" fmla="*/ 948 h 1044"/>
                  <a:gd name="T16" fmla="*/ 930 w 930"/>
                  <a:gd name="T17" fmla="*/ 1044 h 10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0" h="1044">
                    <a:moveTo>
                      <a:pt x="0" y="0"/>
                    </a:moveTo>
                    <a:cubicBezTo>
                      <a:pt x="22" y="8"/>
                      <a:pt x="87" y="17"/>
                      <a:pt x="132" y="42"/>
                    </a:cubicBezTo>
                    <a:cubicBezTo>
                      <a:pt x="177" y="67"/>
                      <a:pt x="202" y="111"/>
                      <a:pt x="270" y="150"/>
                    </a:cubicBezTo>
                    <a:cubicBezTo>
                      <a:pt x="338" y="189"/>
                      <a:pt x="474" y="223"/>
                      <a:pt x="540" y="276"/>
                    </a:cubicBezTo>
                    <a:cubicBezTo>
                      <a:pt x="606" y="329"/>
                      <a:pt x="618" y="408"/>
                      <a:pt x="666" y="468"/>
                    </a:cubicBezTo>
                    <a:cubicBezTo>
                      <a:pt x="714" y="528"/>
                      <a:pt x="794" y="576"/>
                      <a:pt x="828" y="636"/>
                    </a:cubicBezTo>
                    <a:cubicBezTo>
                      <a:pt x="862" y="696"/>
                      <a:pt x="855" y="776"/>
                      <a:pt x="870" y="828"/>
                    </a:cubicBezTo>
                    <a:cubicBezTo>
                      <a:pt x="885" y="880"/>
                      <a:pt x="908" y="912"/>
                      <a:pt x="918" y="948"/>
                    </a:cubicBezTo>
                    <a:cubicBezTo>
                      <a:pt x="928" y="984"/>
                      <a:pt x="928" y="1024"/>
                      <a:pt x="930" y="1044"/>
                    </a:cubicBez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5" name="Freeform 252"/>
              <p:cNvSpPr>
                <a:spLocks noChangeArrowheads="1"/>
              </p:cNvSpPr>
              <p:nvPr/>
            </p:nvSpPr>
            <p:spPr bwMode="auto">
              <a:xfrm>
                <a:off x="3236" y="1849"/>
                <a:ext cx="13" cy="15"/>
              </a:xfrm>
              <a:custGeom>
                <a:avLst/>
                <a:gdLst>
                  <a:gd name="T0" fmla="*/ 37 w 37"/>
                  <a:gd name="T1" fmla="*/ 46 h 46"/>
                  <a:gd name="T2" fmla="*/ 0 w 37"/>
                  <a:gd name="T3" fmla="*/ 0 h 46"/>
                  <a:gd name="T4" fmla="*/ 2 w 37"/>
                  <a:gd name="T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" h="46">
                    <a:moveTo>
                      <a:pt x="37" y="46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6" name="Oval 253"/>
              <p:cNvSpPr>
                <a:spLocks noChangeArrowheads="1"/>
              </p:cNvSpPr>
              <p:nvPr/>
            </p:nvSpPr>
            <p:spPr bwMode="auto">
              <a:xfrm>
                <a:off x="2844" y="1530"/>
                <a:ext cx="125" cy="125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7" name="Freeform 254"/>
              <p:cNvSpPr>
                <a:spLocks noChangeArrowheads="1"/>
              </p:cNvSpPr>
              <p:nvPr/>
            </p:nvSpPr>
            <p:spPr bwMode="auto">
              <a:xfrm>
                <a:off x="2971" y="2658"/>
                <a:ext cx="1" cy="66"/>
              </a:xfrm>
              <a:custGeom>
                <a:avLst/>
                <a:gdLst>
                  <a:gd name="T0" fmla="*/ 0 w 1"/>
                  <a:gd name="T1" fmla="*/ 199 h 199"/>
                  <a:gd name="T2" fmla="*/ 0 w 1"/>
                  <a:gd name="T3" fmla="*/ 0 h 199"/>
                  <a:gd name="T4" fmla="*/ 1 w 1"/>
                  <a:gd name="T5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99">
                    <a:moveTo>
                      <a:pt x="0" y="19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8" name="Freeform 255"/>
              <p:cNvSpPr>
                <a:spLocks noChangeArrowheads="1"/>
              </p:cNvSpPr>
              <p:nvPr/>
            </p:nvSpPr>
            <p:spPr bwMode="auto">
              <a:xfrm>
                <a:off x="2769" y="1846"/>
                <a:ext cx="49" cy="49"/>
              </a:xfrm>
              <a:custGeom>
                <a:avLst/>
                <a:gdLst>
                  <a:gd name="T0" fmla="*/ 0 w 148"/>
                  <a:gd name="T1" fmla="*/ 145 h 145"/>
                  <a:gd name="T2" fmla="*/ 147 w 148"/>
                  <a:gd name="T3" fmla="*/ 0 h 145"/>
                  <a:gd name="T4" fmla="*/ 148 w 148"/>
                  <a:gd name="T5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8" h="145">
                    <a:moveTo>
                      <a:pt x="0" y="145"/>
                    </a:moveTo>
                    <a:lnTo>
                      <a:pt x="147" y="0"/>
                    </a:lnTo>
                    <a:lnTo>
                      <a:pt x="148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9" name="Freeform 256"/>
              <p:cNvSpPr>
                <a:spLocks noChangeArrowheads="1"/>
              </p:cNvSpPr>
              <p:nvPr/>
            </p:nvSpPr>
            <p:spPr bwMode="auto">
              <a:xfrm>
                <a:off x="2971" y="2658"/>
                <a:ext cx="23" cy="22"/>
              </a:xfrm>
              <a:custGeom>
                <a:avLst/>
                <a:gdLst>
                  <a:gd name="T0" fmla="*/ 0 w 69"/>
                  <a:gd name="T1" fmla="*/ 67 h 67"/>
                  <a:gd name="T2" fmla="*/ 68 w 69"/>
                  <a:gd name="T3" fmla="*/ 0 h 67"/>
                  <a:gd name="T4" fmla="*/ 69 w 69"/>
                  <a:gd name="T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9" h="67">
                    <a:moveTo>
                      <a:pt x="0" y="67"/>
                    </a:moveTo>
                    <a:lnTo>
                      <a:pt x="68" y="0"/>
                    </a:lnTo>
                    <a:lnTo>
                      <a:pt x="69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0" name="Freeform 257"/>
              <p:cNvSpPr>
                <a:spLocks noChangeArrowheads="1"/>
              </p:cNvSpPr>
              <p:nvPr/>
            </p:nvSpPr>
            <p:spPr bwMode="auto">
              <a:xfrm>
                <a:off x="2805" y="1915"/>
                <a:ext cx="333" cy="578"/>
              </a:xfrm>
              <a:custGeom>
                <a:avLst/>
                <a:gdLst>
                  <a:gd name="T0" fmla="*/ 999 w 999"/>
                  <a:gd name="T1" fmla="*/ 1732 h 1732"/>
                  <a:gd name="T2" fmla="*/ 878 w 999"/>
                  <a:gd name="T3" fmla="*/ 1047 h 1732"/>
                  <a:gd name="T4" fmla="*/ 532 w 999"/>
                  <a:gd name="T5" fmla="*/ 446 h 1732"/>
                  <a:gd name="T6" fmla="*/ 0 w 999"/>
                  <a:gd name="T7" fmla="*/ 0 h 1732"/>
                  <a:gd name="T8" fmla="*/ 1 w 999"/>
                  <a:gd name="T9" fmla="*/ 0 h 1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9" h="1732">
                    <a:moveTo>
                      <a:pt x="999" y="1732"/>
                    </a:moveTo>
                    <a:lnTo>
                      <a:pt x="878" y="1047"/>
                    </a:lnTo>
                    <a:lnTo>
                      <a:pt x="532" y="446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1" name="Freeform 258"/>
              <p:cNvSpPr>
                <a:spLocks noChangeArrowheads="1"/>
              </p:cNvSpPr>
              <p:nvPr/>
            </p:nvSpPr>
            <p:spPr bwMode="auto">
              <a:xfrm>
                <a:off x="2884" y="2526"/>
                <a:ext cx="148" cy="1"/>
              </a:xfrm>
              <a:custGeom>
                <a:avLst/>
                <a:gdLst>
                  <a:gd name="T0" fmla="*/ 0 w 445"/>
                  <a:gd name="T1" fmla="*/ 0 h 1"/>
                  <a:gd name="T2" fmla="*/ 444 w 445"/>
                  <a:gd name="T3" fmla="*/ 0 h 1"/>
                  <a:gd name="T4" fmla="*/ 445 w 44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5" h="1">
                    <a:moveTo>
                      <a:pt x="0" y="0"/>
                    </a:moveTo>
                    <a:lnTo>
                      <a:pt x="444" y="0"/>
                    </a:lnTo>
                    <a:lnTo>
                      <a:pt x="445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2" name="Freeform 259"/>
              <p:cNvSpPr>
                <a:spLocks noChangeArrowheads="1"/>
              </p:cNvSpPr>
              <p:nvPr/>
            </p:nvSpPr>
            <p:spPr bwMode="auto">
              <a:xfrm>
                <a:off x="2639" y="1820"/>
                <a:ext cx="166" cy="95"/>
              </a:xfrm>
              <a:custGeom>
                <a:avLst/>
                <a:gdLst>
                  <a:gd name="T0" fmla="*/ 0 w 498"/>
                  <a:gd name="T1" fmla="*/ 0 h 287"/>
                  <a:gd name="T2" fmla="*/ 497 w 498"/>
                  <a:gd name="T3" fmla="*/ 287 h 287"/>
                  <a:gd name="T4" fmla="*/ 498 w 498"/>
                  <a:gd name="T5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8" h="287">
                    <a:moveTo>
                      <a:pt x="0" y="0"/>
                    </a:moveTo>
                    <a:lnTo>
                      <a:pt x="497" y="287"/>
                    </a:lnTo>
                    <a:lnTo>
                      <a:pt x="498" y="287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3" name="Freeform 260"/>
              <p:cNvSpPr>
                <a:spLocks noChangeArrowheads="1"/>
              </p:cNvSpPr>
              <p:nvPr/>
            </p:nvSpPr>
            <p:spPr bwMode="auto">
              <a:xfrm>
                <a:off x="2606" y="1820"/>
                <a:ext cx="33" cy="57"/>
              </a:xfrm>
              <a:custGeom>
                <a:avLst/>
                <a:gdLst>
                  <a:gd name="T0" fmla="*/ 0 w 101"/>
                  <a:gd name="T1" fmla="*/ 173 h 173"/>
                  <a:gd name="T2" fmla="*/ 100 w 101"/>
                  <a:gd name="T3" fmla="*/ 0 h 173"/>
                  <a:gd name="T4" fmla="*/ 101 w 101"/>
                  <a:gd name="T5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1" h="173">
                    <a:moveTo>
                      <a:pt x="0" y="173"/>
                    </a:moveTo>
                    <a:lnTo>
                      <a:pt x="100" y="0"/>
                    </a:lnTo>
                    <a:lnTo>
                      <a:pt x="10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4" name="Line 261"/>
              <p:cNvSpPr>
                <a:spLocks noChangeShapeType="1"/>
              </p:cNvSpPr>
              <p:nvPr/>
            </p:nvSpPr>
            <p:spPr bwMode="auto">
              <a:xfrm flipV="1">
                <a:off x="2531" y="1122"/>
                <a:ext cx="433" cy="7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" name="Arc 262"/>
              <p:cNvSpPr>
                <a:spLocks noChangeArrowheads="1"/>
              </p:cNvSpPr>
              <p:nvPr/>
            </p:nvSpPr>
            <p:spPr bwMode="auto">
              <a:xfrm flipV="1">
                <a:off x="2837" y="1490"/>
                <a:ext cx="184" cy="220"/>
              </a:xfrm>
              <a:custGeom>
                <a:avLst/>
                <a:gdLst>
                  <a:gd name="T0" fmla="*/ -1 w 33135"/>
                  <a:gd name="T1" fmla="*/ 3337 h 39615"/>
                  <a:gd name="T2" fmla="*/ 11535 w 33135"/>
                  <a:gd name="T3" fmla="*/ 0 h 39615"/>
                  <a:gd name="T4" fmla="*/ 33135 w 33135"/>
                  <a:gd name="T5" fmla="*/ 21600 h 39615"/>
                  <a:gd name="T6" fmla="*/ 23452 w 33135"/>
                  <a:gd name="T7" fmla="*/ 39615 h 39615"/>
                  <a:gd name="T8" fmla="*/ -1 w 33135"/>
                  <a:gd name="T9" fmla="*/ 3337 h 39615"/>
                  <a:gd name="T10" fmla="*/ 11535 w 33135"/>
                  <a:gd name="T11" fmla="*/ 0 h 39615"/>
                  <a:gd name="T12" fmla="*/ 33135 w 33135"/>
                  <a:gd name="T13" fmla="*/ 21600 h 39615"/>
                  <a:gd name="T14" fmla="*/ 23452 w 33135"/>
                  <a:gd name="T15" fmla="*/ 39615 h 39615"/>
                  <a:gd name="T16" fmla="*/ 11535 w 33135"/>
                  <a:gd name="T17" fmla="*/ 21600 h 39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135" h="39615" fill="none">
                    <a:moveTo>
                      <a:pt x="-1" y="3337"/>
                    </a:moveTo>
                    <a:cubicBezTo>
                      <a:pt x="3452" y="1157"/>
                      <a:pt x="7451" y="-1"/>
                      <a:pt x="11535" y="0"/>
                    </a:cubicBezTo>
                    <a:cubicBezTo>
                      <a:pt x="23464" y="0"/>
                      <a:pt x="33135" y="9670"/>
                      <a:pt x="33135" y="21600"/>
                    </a:cubicBezTo>
                    <a:cubicBezTo>
                      <a:pt x="33135" y="28849"/>
                      <a:pt x="29498" y="35615"/>
                      <a:pt x="23452" y="39615"/>
                    </a:cubicBezTo>
                  </a:path>
                  <a:path w="33135" h="39615" stroke="0">
                    <a:moveTo>
                      <a:pt x="-1" y="3337"/>
                    </a:moveTo>
                    <a:cubicBezTo>
                      <a:pt x="3452" y="1157"/>
                      <a:pt x="7451" y="-1"/>
                      <a:pt x="11535" y="0"/>
                    </a:cubicBezTo>
                    <a:cubicBezTo>
                      <a:pt x="23464" y="0"/>
                      <a:pt x="33135" y="9670"/>
                      <a:pt x="33135" y="21600"/>
                    </a:cubicBezTo>
                    <a:cubicBezTo>
                      <a:pt x="33135" y="28849"/>
                      <a:pt x="29498" y="35615"/>
                      <a:pt x="23452" y="39615"/>
                    </a:cubicBezTo>
                    <a:lnTo>
                      <a:pt x="11535" y="21600"/>
                    </a:lnTo>
                    <a:close/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6" name="Freeform 263"/>
              <p:cNvSpPr>
                <a:spLocks noChangeArrowheads="1"/>
              </p:cNvSpPr>
              <p:nvPr/>
            </p:nvSpPr>
            <p:spPr bwMode="auto">
              <a:xfrm>
                <a:off x="3273" y="1896"/>
                <a:ext cx="182" cy="422"/>
              </a:xfrm>
              <a:custGeom>
                <a:avLst/>
                <a:gdLst>
                  <a:gd name="T0" fmla="*/ 182 w 182"/>
                  <a:gd name="T1" fmla="*/ 422 h 422"/>
                  <a:gd name="T2" fmla="*/ 177 w 182"/>
                  <a:gd name="T3" fmla="*/ 312 h 422"/>
                  <a:gd name="T4" fmla="*/ 129 w 182"/>
                  <a:gd name="T5" fmla="*/ 186 h 422"/>
                  <a:gd name="T6" fmla="*/ 75 w 182"/>
                  <a:gd name="T7" fmla="*/ 84 h 422"/>
                  <a:gd name="T8" fmla="*/ 0 w 182"/>
                  <a:gd name="T9" fmla="*/ 0 h 422"/>
                  <a:gd name="T10" fmla="*/ 0 w 182"/>
                  <a:gd name="T11" fmla="*/ 0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2" h="422">
                    <a:moveTo>
                      <a:pt x="182" y="422"/>
                    </a:moveTo>
                    <a:lnTo>
                      <a:pt x="177" y="312"/>
                    </a:lnTo>
                    <a:lnTo>
                      <a:pt x="129" y="186"/>
                    </a:lnTo>
                    <a:lnTo>
                      <a:pt x="75" y="84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7" name="Freeform 264"/>
              <p:cNvSpPr>
                <a:spLocks noChangeArrowheads="1"/>
              </p:cNvSpPr>
              <p:nvPr/>
            </p:nvSpPr>
            <p:spPr bwMode="auto">
              <a:xfrm>
                <a:off x="2971" y="2724"/>
                <a:ext cx="1000" cy="1"/>
              </a:xfrm>
              <a:custGeom>
                <a:avLst/>
                <a:gdLst>
                  <a:gd name="T0" fmla="*/ 0 w 2999"/>
                  <a:gd name="T1" fmla="*/ 0 h 1"/>
                  <a:gd name="T2" fmla="*/ 2998 w 2999"/>
                  <a:gd name="T3" fmla="*/ 0 h 1"/>
                  <a:gd name="T4" fmla="*/ 2999 w 2999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99" h="1">
                    <a:moveTo>
                      <a:pt x="0" y="0"/>
                    </a:moveTo>
                    <a:lnTo>
                      <a:pt x="2998" y="0"/>
                    </a:lnTo>
                    <a:lnTo>
                      <a:pt x="299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8" name="Freeform 265"/>
              <p:cNvSpPr>
                <a:spLocks noChangeArrowheads="1"/>
              </p:cNvSpPr>
              <p:nvPr/>
            </p:nvSpPr>
            <p:spPr bwMode="auto">
              <a:xfrm>
                <a:off x="3138" y="1338"/>
                <a:ext cx="666" cy="1155"/>
              </a:xfrm>
              <a:custGeom>
                <a:avLst/>
                <a:gdLst>
                  <a:gd name="T0" fmla="*/ 1998 w 1998"/>
                  <a:gd name="T1" fmla="*/ 3463 h 3463"/>
                  <a:gd name="T2" fmla="*/ 1910 w 1998"/>
                  <a:gd name="T3" fmla="*/ 2632 h 3463"/>
                  <a:gd name="T4" fmla="*/ 1652 w 1998"/>
                  <a:gd name="T5" fmla="*/ 1836 h 3463"/>
                  <a:gd name="T6" fmla="*/ 1235 w 1998"/>
                  <a:gd name="T7" fmla="*/ 1112 h 3463"/>
                  <a:gd name="T8" fmla="*/ 676 w 1998"/>
                  <a:gd name="T9" fmla="*/ 491 h 3463"/>
                  <a:gd name="T10" fmla="*/ 0 w 1998"/>
                  <a:gd name="T11" fmla="*/ 0 h 3463"/>
                  <a:gd name="T12" fmla="*/ 2 w 1998"/>
                  <a:gd name="T13" fmla="*/ 0 h 3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98" h="3463">
                    <a:moveTo>
                      <a:pt x="1998" y="3463"/>
                    </a:moveTo>
                    <a:lnTo>
                      <a:pt x="1910" y="2632"/>
                    </a:lnTo>
                    <a:lnTo>
                      <a:pt x="1652" y="1836"/>
                    </a:lnTo>
                    <a:lnTo>
                      <a:pt x="1235" y="1112"/>
                    </a:lnTo>
                    <a:lnTo>
                      <a:pt x="676" y="491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9" name="Freeform 266"/>
              <p:cNvSpPr>
                <a:spLocks noChangeArrowheads="1"/>
              </p:cNvSpPr>
              <p:nvPr/>
            </p:nvSpPr>
            <p:spPr bwMode="auto">
              <a:xfrm>
                <a:off x="2971" y="1627"/>
                <a:ext cx="238" cy="191"/>
              </a:xfrm>
              <a:custGeom>
                <a:avLst/>
                <a:gdLst>
                  <a:gd name="T0" fmla="*/ 713 w 713"/>
                  <a:gd name="T1" fmla="*/ 573 h 573"/>
                  <a:gd name="T2" fmla="*/ 0 w 713"/>
                  <a:gd name="T3" fmla="*/ 0 h 573"/>
                  <a:gd name="T4" fmla="*/ 1 w 713"/>
                  <a:gd name="T5" fmla="*/ 0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3" h="573">
                    <a:moveTo>
                      <a:pt x="713" y="57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0" name="Freeform 267"/>
              <p:cNvSpPr>
                <a:spLocks noChangeArrowheads="1"/>
              </p:cNvSpPr>
              <p:nvPr/>
            </p:nvSpPr>
            <p:spPr bwMode="auto">
              <a:xfrm>
                <a:off x="3196" y="2716"/>
                <a:ext cx="9" cy="8"/>
              </a:xfrm>
              <a:custGeom>
                <a:avLst/>
                <a:gdLst>
                  <a:gd name="T0" fmla="*/ 0 w 26"/>
                  <a:gd name="T1" fmla="*/ 24 h 24"/>
                  <a:gd name="T2" fmla="*/ 25 w 26"/>
                  <a:gd name="T3" fmla="*/ 0 h 24"/>
                  <a:gd name="T4" fmla="*/ 26 w 26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4">
                    <a:moveTo>
                      <a:pt x="0" y="24"/>
                    </a:moveTo>
                    <a:lnTo>
                      <a:pt x="25" y="0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1" name="Rectangle 268"/>
              <p:cNvSpPr>
                <a:spLocks noChangeArrowheads="1"/>
              </p:cNvSpPr>
              <p:nvPr/>
            </p:nvSpPr>
            <p:spPr bwMode="auto">
              <a:xfrm>
                <a:off x="2726" y="2400"/>
                <a:ext cx="129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lang="en-US" altLang="zh-CN" i="1">
                    <a:latin typeface="Times New Roman" panose="02020603050405020304" pitchFamily="18" charset="0"/>
                  </a:rPr>
                  <a:t>B</a:t>
                </a:r>
                <a:endParaRPr lang="en-US" altLang="zh-CN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2" name="Freeform 269"/>
              <p:cNvSpPr>
                <a:spLocks noChangeArrowheads="1"/>
              </p:cNvSpPr>
              <p:nvPr/>
            </p:nvSpPr>
            <p:spPr bwMode="auto">
              <a:xfrm>
                <a:off x="2531" y="1873"/>
                <a:ext cx="30" cy="16"/>
              </a:xfrm>
              <a:custGeom>
                <a:avLst/>
                <a:gdLst>
                  <a:gd name="T0" fmla="*/ 0 w 88"/>
                  <a:gd name="T1" fmla="*/ 0 h 49"/>
                  <a:gd name="T2" fmla="*/ 87 w 88"/>
                  <a:gd name="T3" fmla="*/ 49 h 49"/>
                  <a:gd name="T4" fmla="*/ 88 w 88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8" h="49">
                    <a:moveTo>
                      <a:pt x="0" y="0"/>
                    </a:moveTo>
                    <a:lnTo>
                      <a:pt x="87" y="49"/>
                    </a:lnTo>
                    <a:lnTo>
                      <a:pt x="88" y="4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3" name="Freeform 270"/>
              <p:cNvSpPr>
                <a:spLocks noChangeArrowheads="1"/>
              </p:cNvSpPr>
              <p:nvPr/>
            </p:nvSpPr>
            <p:spPr bwMode="auto">
              <a:xfrm>
                <a:off x="3204" y="2493"/>
                <a:ext cx="1" cy="231"/>
              </a:xfrm>
              <a:custGeom>
                <a:avLst/>
                <a:gdLst>
                  <a:gd name="T0" fmla="*/ 0 w 1"/>
                  <a:gd name="T1" fmla="*/ 695 h 695"/>
                  <a:gd name="T2" fmla="*/ 0 w 1"/>
                  <a:gd name="T3" fmla="*/ 0 h 695"/>
                  <a:gd name="T4" fmla="*/ 1 w 1"/>
                  <a:gd name="T5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95">
                    <a:moveTo>
                      <a:pt x="0" y="695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4" name="Freeform 271"/>
              <p:cNvSpPr>
                <a:spLocks noChangeArrowheads="1"/>
              </p:cNvSpPr>
              <p:nvPr/>
            </p:nvSpPr>
            <p:spPr bwMode="auto">
              <a:xfrm>
                <a:off x="3138" y="2493"/>
                <a:ext cx="1" cy="165"/>
              </a:xfrm>
              <a:custGeom>
                <a:avLst/>
                <a:gdLst>
                  <a:gd name="T0" fmla="*/ 0 w 2"/>
                  <a:gd name="T1" fmla="*/ 496 h 496"/>
                  <a:gd name="T2" fmla="*/ 0 w 2"/>
                  <a:gd name="T3" fmla="*/ 0 h 496"/>
                  <a:gd name="T4" fmla="*/ 2 w 2"/>
                  <a:gd name="T5" fmla="*/ 0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96">
                    <a:moveTo>
                      <a:pt x="0" y="496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5" name="Freeform 272"/>
              <p:cNvSpPr>
                <a:spLocks noChangeArrowheads="1"/>
              </p:cNvSpPr>
              <p:nvPr/>
            </p:nvSpPr>
            <p:spPr bwMode="auto">
              <a:xfrm>
                <a:off x="2971" y="2658"/>
                <a:ext cx="167" cy="1"/>
              </a:xfrm>
              <a:custGeom>
                <a:avLst/>
                <a:gdLst>
                  <a:gd name="T0" fmla="*/ 0 w 502"/>
                  <a:gd name="T1" fmla="*/ 0 h 1"/>
                  <a:gd name="T2" fmla="*/ 500 w 502"/>
                  <a:gd name="T3" fmla="*/ 0 h 1"/>
                  <a:gd name="T4" fmla="*/ 502 w 50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2" h="1">
                    <a:moveTo>
                      <a:pt x="0" y="0"/>
                    </a:moveTo>
                    <a:lnTo>
                      <a:pt x="500" y="0"/>
                    </a:lnTo>
                    <a:lnTo>
                      <a:pt x="50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6" name="Freeform 273"/>
              <p:cNvSpPr>
                <a:spLocks noChangeArrowheads="1"/>
              </p:cNvSpPr>
              <p:nvPr/>
            </p:nvSpPr>
            <p:spPr bwMode="auto">
              <a:xfrm>
                <a:off x="2560" y="1877"/>
                <a:ext cx="46" cy="16"/>
              </a:xfrm>
              <a:custGeom>
                <a:avLst/>
                <a:gdLst>
                  <a:gd name="T0" fmla="*/ 0 w 137"/>
                  <a:gd name="T1" fmla="*/ 36 h 46"/>
                  <a:gd name="T2" fmla="*/ 75 w 137"/>
                  <a:gd name="T3" fmla="*/ 46 h 46"/>
                  <a:gd name="T4" fmla="*/ 136 w 137"/>
                  <a:gd name="T5" fmla="*/ 0 h 46"/>
                  <a:gd name="T6" fmla="*/ 137 w 137"/>
                  <a:gd name="T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7" h="46">
                    <a:moveTo>
                      <a:pt x="0" y="36"/>
                    </a:moveTo>
                    <a:lnTo>
                      <a:pt x="75" y="46"/>
                    </a:lnTo>
                    <a:lnTo>
                      <a:pt x="136" y="0"/>
                    </a:lnTo>
                    <a:lnTo>
                      <a:pt x="137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7" name="Freeform 274"/>
              <p:cNvSpPr>
                <a:spLocks noChangeArrowheads="1"/>
              </p:cNvSpPr>
              <p:nvPr/>
            </p:nvSpPr>
            <p:spPr bwMode="auto">
              <a:xfrm>
                <a:off x="2993" y="1139"/>
                <a:ext cx="16" cy="46"/>
              </a:xfrm>
              <a:custGeom>
                <a:avLst/>
                <a:gdLst>
                  <a:gd name="T0" fmla="*/ 37 w 47"/>
                  <a:gd name="T1" fmla="*/ 136 h 136"/>
                  <a:gd name="T2" fmla="*/ 47 w 47"/>
                  <a:gd name="T3" fmla="*/ 60 h 136"/>
                  <a:gd name="T4" fmla="*/ 0 w 47"/>
                  <a:gd name="T5" fmla="*/ 0 h 136"/>
                  <a:gd name="T6" fmla="*/ 1 w 47"/>
                  <a:gd name="T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36">
                    <a:moveTo>
                      <a:pt x="37" y="136"/>
                    </a:moveTo>
                    <a:lnTo>
                      <a:pt x="47" y="60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8" name="Freeform 275"/>
              <p:cNvSpPr>
                <a:spLocks noChangeArrowheads="1"/>
              </p:cNvSpPr>
              <p:nvPr/>
            </p:nvSpPr>
            <p:spPr bwMode="auto">
              <a:xfrm>
                <a:off x="2675" y="1456"/>
                <a:ext cx="296" cy="171"/>
              </a:xfrm>
              <a:custGeom>
                <a:avLst/>
                <a:gdLst>
                  <a:gd name="T0" fmla="*/ 0 w 890"/>
                  <a:gd name="T1" fmla="*/ 0 h 513"/>
                  <a:gd name="T2" fmla="*/ 889 w 890"/>
                  <a:gd name="T3" fmla="*/ 513 h 513"/>
                  <a:gd name="T4" fmla="*/ 890 w 890"/>
                  <a:gd name="T5" fmla="*/ 513 h 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90" h="513">
                    <a:moveTo>
                      <a:pt x="0" y="0"/>
                    </a:moveTo>
                    <a:lnTo>
                      <a:pt x="889" y="513"/>
                    </a:lnTo>
                    <a:lnTo>
                      <a:pt x="890" y="513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9" name="Freeform 276"/>
              <p:cNvSpPr>
                <a:spLocks noChangeArrowheads="1"/>
              </p:cNvSpPr>
              <p:nvPr/>
            </p:nvSpPr>
            <p:spPr bwMode="auto">
              <a:xfrm>
                <a:off x="2834" y="1452"/>
                <a:ext cx="152" cy="264"/>
              </a:xfrm>
              <a:custGeom>
                <a:avLst/>
                <a:gdLst>
                  <a:gd name="T0" fmla="*/ 457 w 457"/>
                  <a:gd name="T1" fmla="*/ 0 h 792"/>
                  <a:gd name="T2" fmla="*/ 0 w 457"/>
                  <a:gd name="T3" fmla="*/ 792 h 792"/>
                  <a:gd name="T4" fmla="*/ 1 w 457"/>
                  <a:gd name="T5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7" h="792">
                    <a:moveTo>
                      <a:pt x="457" y="0"/>
                    </a:moveTo>
                    <a:lnTo>
                      <a:pt x="0" y="792"/>
                    </a:lnTo>
                    <a:lnTo>
                      <a:pt x="1" y="79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0" name="Freeform 277"/>
              <p:cNvSpPr>
                <a:spLocks noChangeArrowheads="1"/>
              </p:cNvSpPr>
              <p:nvPr/>
            </p:nvSpPr>
            <p:spPr bwMode="auto">
              <a:xfrm>
                <a:off x="2881" y="1185"/>
                <a:ext cx="124" cy="214"/>
              </a:xfrm>
              <a:custGeom>
                <a:avLst/>
                <a:gdLst>
                  <a:gd name="T0" fmla="*/ 372 w 372"/>
                  <a:gd name="T1" fmla="*/ 0 h 643"/>
                  <a:gd name="T2" fmla="*/ 0 w 372"/>
                  <a:gd name="T3" fmla="*/ 643 h 643"/>
                  <a:gd name="T4" fmla="*/ 1 w 372"/>
                  <a:gd name="T5" fmla="*/ 643 h 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2" h="643">
                    <a:moveTo>
                      <a:pt x="372" y="0"/>
                    </a:moveTo>
                    <a:lnTo>
                      <a:pt x="0" y="643"/>
                    </a:lnTo>
                    <a:lnTo>
                      <a:pt x="1" y="64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1" name="Freeform 278"/>
              <p:cNvSpPr>
                <a:spLocks noChangeArrowheads="1"/>
              </p:cNvSpPr>
              <p:nvPr/>
            </p:nvSpPr>
            <p:spPr bwMode="auto">
              <a:xfrm>
                <a:off x="2894" y="1445"/>
                <a:ext cx="72" cy="41"/>
              </a:xfrm>
              <a:custGeom>
                <a:avLst/>
                <a:gdLst>
                  <a:gd name="T0" fmla="*/ 0 w 217"/>
                  <a:gd name="T1" fmla="*/ 0 h 124"/>
                  <a:gd name="T2" fmla="*/ 216 w 217"/>
                  <a:gd name="T3" fmla="*/ 124 h 124"/>
                  <a:gd name="T4" fmla="*/ 217 w 217"/>
                  <a:gd name="T5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7" h="124">
                    <a:moveTo>
                      <a:pt x="0" y="0"/>
                    </a:moveTo>
                    <a:lnTo>
                      <a:pt x="216" y="124"/>
                    </a:lnTo>
                    <a:lnTo>
                      <a:pt x="217" y="124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2" name="Freeform 279"/>
              <p:cNvSpPr>
                <a:spLocks noChangeArrowheads="1"/>
              </p:cNvSpPr>
              <p:nvPr/>
            </p:nvSpPr>
            <p:spPr bwMode="auto">
              <a:xfrm>
                <a:off x="2878" y="1399"/>
                <a:ext cx="16" cy="46"/>
              </a:xfrm>
              <a:custGeom>
                <a:avLst/>
                <a:gdLst>
                  <a:gd name="T0" fmla="*/ 9 w 47"/>
                  <a:gd name="T1" fmla="*/ 0 h 138"/>
                  <a:gd name="T2" fmla="*/ 0 w 47"/>
                  <a:gd name="T3" fmla="*/ 76 h 138"/>
                  <a:gd name="T4" fmla="*/ 46 w 47"/>
                  <a:gd name="T5" fmla="*/ 138 h 138"/>
                  <a:gd name="T6" fmla="*/ 47 w 47"/>
                  <a:gd name="T7" fmla="*/ 1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38">
                    <a:moveTo>
                      <a:pt x="9" y="0"/>
                    </a:moveTo>
                    <a:lnTo>
                      <a:pt x="0" y="76"/>
                    </a:lnTo>
                    <a:lnTo>
                      <a:pt x="46" y="138"/>
                    </a:lnTo>
                    <a:lnTo>
                      <a:pt x="47" y="138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3" name="Freeform 280"/>
              <p:cNvSpPr>
                <a:spLocks noChangeArrowheads="1"/>
              </p:cNvSpPr>
              <p:nvPr/>
            </p:nvSpPr>
            <p:spPr bwMode="auto">
              <a:xfrm>
                <a:off x="2972" y="1242"/>
                <a:ext cx="166" cy="96"/>
              </a:xfrm>
              <a:custGeom>
                <a:avLst/>
                <a:gdLst>
                  <a:gd name="T0" fmla="*/ 0 w 499"/>
                  <a:gd name="T1" fmla="*/ 0 h 288"/>
                  <a:gd name="T2" fmla="*/ 497 w 499"/>
                  <a:gd name="T3" fmla="*/ 288 h 288"/>
                  <a:gd name="T4" fmla="*/ 499 w 499"/>
                  <a:gd name="T5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9" h="288">
                    <a:moveTo>
                      <a:pt x="0" y="0"/>
                    </a:moveTo>
                    <a:lnTo>
                      <a:pt x="497" y="288"/>
                    </a:lnTo>
                    <a:lnTo>
                      <a:pt x="499" y="288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4" name="Freeform 281"/>
              <p:cNvSpPr>
                <a:spLocks noChangeArrowheads="1"/>
              </p:cNvSpPr>
              <p:nvPr/>
            </p:nvSpPr>
            <p:spPr bwMode="auto">
              <a:xfrm>
                <a:off x="2964" y="1122"/>
                <a:ext cx="29" cy="17"/>
              </a:xfrm>
              <a:custGeom>
                <a:avLst/>
                <a:gdLst>
                  <a:gd name="T0" fmla="*/ 0 w 87"/>
                  <a:gd name="T1" fmla="*/ 0 h 51"/>
                  <a:gd name="T2" fmla="*/ 86 w 87"/>
                  <a:gd name="T3" fmla="*/ 51 h 51"/>
                  <a:gd name="T4" fmla="*/ 87 w 87"/>
                  <a:gd name="T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" h="51">
                    <a:moveTo>
                      <a:pt x="0" y="0"/>
                    </a:moveTo>
                    <a:lnTo>
                      <a:pt x="86" y="51"/>
                    </a:lnTo>
                    <a:lnTo>
                      <a:pt x="87" y="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5" name="Freeform 282"/>
              <p:cNvSpPr>
                <a:spLocks noChangeArrowheads="1"/>
              </p:cNvSpPr>
              <p:nvPr/>
            </p:nvSpPr>
            <p:spPr bwMode="auto">
              <a:xfrm>
                <a:off x="3566" y="2658"/>
                <a:ext cx="405" cy="1"/>
              </a:xfrm>
              <a:custGeom>
                <a:avLst/>
                <a:gdLst>
                  <a:gd name="T0" fmla="*/ 0 w 1214"/>
                  <a:gd name="T1" fmla="*/ 0 h 1"/>
                  <a:gd name="T2" fmla="*/ 1213 w 1214"/>
                  <a:gd name="T3" fmla="*/ 0 h 1"/>
                  <a:gd name="T4" fmla="*/ 1214 w 121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14" h="1">
                    <a:moveTo>
                      <a:pt x="0" y="0"/>
                    </a:moveTo>
                    <a:lnTo>
                      <a:pt x="1213" y="0"/>
                    </a:lnTo>
                    <a:lnTo>
                      <a:pt x="1214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6" name="Freeform 283"/>
              <p:cNvSpPr>
                <a:spLocks noChangeArrowheads="1"/>
              </p:cNvSpPr>
              <p:nvPr/>
            </p:nvSpPr>
            <p:spPr bwMode="auto">
              <a:xfrm>
                <a:off x="3468" y="2436"/>
                <a:ext cx="3" cy="345"/>
              </a:xfrm>
              <a:custGeom>
                <a:avLst/>
                <a:gdLst>
                  <a:gd name="T0" fmla="*/ 3 w 3"/>
                  <a:gd name="T1" fmla="*/ 345 h 345"/>
                  <a:gd name="T2" fmla="*/ 0 w 3"/>
                  <a:gd name="T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345">
                    <a:moveTo>
                      <a:pt x="3" y="345"/>
                    </a:move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7" name="Rectangle 284"/>
              <p:cNvSpPr>
                <a:spLocks noChangeArrowheads="1"/>
              </p:cNvSpPr>
              <p:nvPr/>
            </p:nvSpPr>
            <p:spPr bwMode="auto">
              <a:xfrm>
                <a:off x="4084" y="2400"/>
                <a:ext cx="129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lang="en-US" altLang="zh-CN" i="1">
                    <a:latin typeface="Times New Roman" panose="02020603050405020304" pitchFamily="18" charset="0"/>
                  </a:rPr>
                  <a:t>B</a:t>
                </a:r>
                <a:endParaRPr lang="en-US" altLang="zh-CN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" name="Freeform 285"/>
              <p:cNvSpPr>
                <a:spLocks noChangeArrowheads="1"/>
              </p:cNvSpPr>
              <p:nvPr/>
            </p:nvSpPr>
            <p:spPr bwMode="auto">
              <a:xfrm>
                <a:off x="3804" y="2493"/>
                <a:ext cx="1" cy="165"/>
              </a:xfrm>
              <a:custGeom>
                <a:avLst/>
                <a:gdLst>
                  <a:gd name="T0" fmla="*/ 0 w 1"/>
                  <a:gd name="T1" fmla="*/ 496 h 496"/>
                  <a:gd name="T2" fmla="*/ 0 w 1"/>
                  <a:gd name="T3" fmla="*/ 0 h 496"/>
                  <a:gd name="T4" fmla="*/ 1 w 1"/>
                  <a:gd name="T5" fmla="*/ 0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96">
                    <a:moveTo>
                      <a:pt x="0" y="496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9" name="Freeform 286"/>
              <p:cNvSpPr>
                <a:spLocks noChangeArrowheads="1"/>
              </p:cNvSpPr>
              <p:nvPr/>
            </p:nvSpPr>
            <p:spPr bwMode="auto">
              <a:xfrm>
                <a:off x="3970" y="2658"/>
                <a:ext cx="1" cy="66"/>
              </a:xfrm>
              <a:custGeom>
                <a:avLst/>
                <a:gdLst>
                  <a:gd name="T0" fmla="*/ 0 w 1"/>
                  <a:gd name="T1" fmla="*/ 199 h 199"/>
                  <a:gd name="T2" fmla="*/ 0 w 1"/>
                  <a:gd name="T3" fmla="*/ 0 h 199"/>
                  <a:gd name="T4" fmla="*/ 1 w 1"/>
                  <a:gd name="T5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99">
                    <a:moveTo>
                      <a:pt x="0" y="19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0" name="Freeform 287"/>
              <p:cNvSpPr>
                <a:spLocks noChangeArrowheads="1"/>
              </p:cNvSpPr>
              <p:nvPr/>
            </p:nvSpPr>
            <p:spPr bwMode="auto">
              <a:xfrm>
                <a:off x="3909" y="2526"/>
                <a:ext cx="148" cy="1"/>
              </a:xfrm>
              <a:custGeom>
                <a:avLst/>
                <a:gdLst>
                  <a:gd name="T0" fmla="*/ 444 w 444"/>
                  <a:gd name="T1" fmla="*/ 0 h 1"/>
                  <a:gd name="T2" fmla="*/ 0 w 444"/>
                  <a:gd name="T3" fmla="*/ 0 h 1"/>
                  <a:gd name="T4" fmla="*/ 1 w 44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4" h="1">
                    <a:moveTo>
                      <a:pt x="444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1" name="Freeform 288"/>
              <p:cNvSpPr>
                <a:spLocks noChangeArrowheads="1"/>
              </p:cNvSpPr>
              <p:nvPr/>
            </p:nvSpPr>
            <p:spPr bwMode="auto">
              <a:xfrm>
                <a:off x="3462" y="2361"/>
                <a:ext cx="3" cy="23"/>
              </a:xfrm>
              <a:custGeom>
                <a:avLst/>
                <a:gdLst>
                  <a:gd name="T0" fmla="*/ 8 w 8"/>
                  <a:gd name="T1" fmla="*/ 69 h 69"/>
                  <a:gd name="T2" fmla="*/ 0 w 8"/>
                  <a:gd name="T3" fmla="*/ 0 h 69"/>
                  <a:gd name="T4" fmla="*/ 1 w 8"/>
                  <a:gd name="T5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9">
                    <a:moveTo>
                      <a:pt x="8" y="6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2" name="Freeform 289"/>
              <p:cNvSpPr>
                <a:spLocks noChangeArrowheads="1"/>
              </p:cNvSpPr>
              <p:nvPr/>
            </p:nvSpPr>
            <p:spPr bwMode="auto">
              <a:xfrm>
                <a:off x="2544" y="1748"/>
                <a:ext cx="104" cy="103"/>
              </a:xfrm>
              <a:custGeom>
                <a:avLst/>
                <a:gdLst>
                  <a:gd name="T0" fmla="*/ 0 w 312"/>
                  <a:gd name="T1" fmla="*/ 310 h 310"/>
                  <a:gd name="T2" fmla="*/ 311 w 312"/>
                  <a:gd name="T3" fmla="*/ 0 h 310"/>
                  <a:gd name="T4" fmla="*/ 312 w 312"/>
                  <a:gd name="T5" fmla="*/ 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2" h="310">
                    <a:moveTo>
                      <a:pt x="0" y="310"/>
                    </a:moveTo>
                    <a:lnTo>
                      <a:pt x="311" y="0"/>
                    </a:lnTo>
                    <a:lnTo>
                      <a:pt x="31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3" name="Freeform 290"/>
              <p:cNvSpPr>
                <a:spLocks noChangeArrowheads="1"/>
              </p:cNvSpPr>
              <p:nvPr/>
            </p:nvSpPr>
            <p:spPr bwMode="auto">
              <a:xfrm>
                <a:off x="2655" y="1780"/>
                <a:ext cx="50" cy="49"/>
              </a:xfrm>
              <a:custGeom>
                <a:avLst/>
                <a:gdLst>
                  <a:gd name="T0" fmla="*/ 0 w 148"/>
                  <a:gd name="T1" fmla="*/ 146 h 146"/>
                  <a:gd name="T2" fmla="*/ 147 w 148"/>
                  <a:gd name="T3" fmla="*/ 0 h 146"/>
                  <a:gd name="T4" fmla="*/ 148 w 148"/>
                  <a:gd name="T5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8" h="146">
                    <a:moveTo>
                      <a:pt x="0" y="146"/>
                    </a:moveTo>
                    <a:lnTo>
                      <a:pt x="147" y="0"/>
                    </a:lnTo>
                    <a:lnTo>
                      <a:pt x="148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4" name="Freeform 291"/>
              <p:cNvSpPr>
                <a:spLocks noChangeArrowheads="1"/>
              </p:cNvSpPr>
              <p:nvPr/>
            </p:nvSpPr>
            <p:spPr bwMode="auto">
              <a:xfrm>
                <a:off x="2712" y="1813"/>
                <a:ext cx="50" cy="49"/>
              </a:xfrm>
              <a:custGeom>
                <a:avLst/>
                <a:gdLst>
                  <a:gd name="T0" fmla="*/ 0 w 148"/>
                  <a:gd name="T1" fmla="*/ 147 h 147"/>
                  <a:gd name="T2" fmla="*/ 147 w 148"/>
                  <a:gd name="T3" fmla="*/ 0 h 147"/>
                  <a:gd name="T4" fmla="*/ 148 w 148"/>
                  <a:gd name="T5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8" h="147">
                    <a:moveTo>
                      <a:pt x="0" y="147"/>
                    </a:moveTo>
                    <a:lnTo>
                      <a:pt x="147" y="0"/>
                    </a:lnTo>
                    <a:lnTo>
                      <a:pt x="148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5" name="Freeform 292"/>
              <p:cNvSpPr>
                <a:spLocks noChangeArrowheads="1"/>
              </p:cNvSpPr>
              <p:nvPr/>
            </p:nvSpPr>
            <p:spPr bwMode="auto">
              <a:xfrm>
                <a:off x="2826" y="1880"/>
                <a:ext cx="48" cy="48"/>
              </a:xfrm>
              <a:custGeom>
                <a:avLst/>
                <a:gdLst>
                  <a:gd name="T0" fmla="*/ 0 w 146"/>
                  <a:gd name="T1" fmla="*/ 145 h 145"/>
                  <a:gd name="T2" fmla="*/ 145 w 146"/>
                  <a:gd name="T3" fmla="*/ 0 h 145"/>
                  <a:gd name="T4" fmla="*/ 146 w 146"/>
                  <a:gd name="T5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6" h="145">
                    <a:moveTo>
                      <a:pt x="0" y="145"/>
                    </a:moveTo>
                    <a:lnTo>
                      <a:pt x="145" y="0"/>
                    </a:lnTo>
                    <a:lnTo>
                      <a:pt x="14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6" name="Freeform 293"/>
              <p:cNvSpPr>
                <a:spLocks noChangeArrowheads="1"/>
              </p:cNvSpPr>
              <p:nvPr/>
            </p:nvSpPr>
            <p:spPr bwMode="auto">
              <a:xfrm>
                <a:off x="2879" y="1917"/>
                <a:ext cx="47" cy="48"/>
              </a:xfrm>
              <a:custGeom>
                <a:avLst/>
                <a:gdLst>
                  <a:gd name="T0" fmla="*/ 0 w 143"/>
                  <a:gd name="T1" fmla="*/ 143 h 143"/>
                  <a:gd name="T2" fmla="*/ 142 w 143"/>
                  <a:gd name="T3" fmla="*/ 0 h 143"/>
                  <a:gd name="T4" fmla="*/ 143 w 143"/>
                  <a:gd name="T5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3" h="143">
                    <a:moveTo>
                      <a:pt x="0" y="143"/>
                    </a:moveTo>
                    <a:lnTo>
                      <a:pt x="142" y="0"/>
                    </a:lnTo>
                    <a:lnTo>
                      <a:pt x="143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7" name="Freeform 294"/>
              <p:cNvSpPr>
                <a:spLocks noChangeArrowheads="1"/>
              </p:cNvSpPr>
              <p:nvPr/>
            </p:nvSpPr>
            <p:spPr bwMode="auto">
              <a:xfrm>
                <a:off x="2927" y="1959"/>
                <a:ext cx="48" cy="47"/>
              </a:xfrm>
              <a:custGeom>
                <a:avLst/>
                <a:gdLst>
                  <a:gd name="T0" fmla="*/ 0 w 142"/>
                  <a:gd name="T1" fmla="*/ 141 h 141"/>
                  <a:gd name="T2" fmla="*/ 141 w 142"/>
                  <a:gd name="T3" fmla="*/ 0 h 141"/>
                  <a:gd name="T4" fmla="*/ 142 w 142"/>
                  <a:gd name="T5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2" h="141">
                    <a:moveTo>
                      <a:pt x="0" y="141"/>
                    </a:moveTo>
                    <a:lnTo>
                      <a:pt x="141" y="0"/>
                    </a:lnTo>
                    <a:lnTo>
                      <a:pt x="142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8" name="Freeform 295"/>
              <p:cNvSpPr>
                <a:spLocks noChangeArrowheads="1"/>
              </p:cNvSpPr>
              <p:nvPr/>
            </p:nvSpPr>
            <p:spPr bwMode="auto">
              <a:xfrm>
                <a:off x="2971" y="2005"/>
                <a:ext cx="48" cy="47"/>
              </a:xfrm>
              <a:custGeom>
                <a:avLst/>
                <a:gdLst>
                  <a:gd name="T0" fmla="*/ 0 w 143"/>
                  <a:gd name="T1" fmla="*/ 141 h 141"/>
                  <a:gd name="T2" fmla="*/ 142 w 143"/>
                  <a:gd name="T3" fmla="*/ 0 h 141"/>
                  <a:gd name="T4" fmla="*/ 143 w 143"/>
                  <a:gd name="T5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3" h="141">
                    <a:moveTo>
                      <a:pt x="0" y="141"/>
                    </a:moveTo>
                    <a:lnTo>
                      <a:pt x="142" y="0"/>
                    </a:lnTo>
                    <a:lnTo>
                      <a:pt x="143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9" name="Freeform 296"/>
              <p:cNvSpPr>
                <a:spLocks noChangeArrowheads="1"/>
              </p:cNvSpPr>
              <p:nvPr/>
            </p:nvSpPr>
            <p:spPr bwMode="auto">
              <a:xfrm>
                <a:off x="3011" y="2054"/>
                <a:ext cx="48" cy="48"/>
              </a:xfrm>
              <a:custGeom>
                <a:avLst/>
                <a:gdLst>
                  <a:gd name="T0" fmla="*/ 0 w 144"/>
                  <a:gd name="T1" fmla="*/ 143 h 143"/>
                  <a:gd name="T2" fmla="*/ 143 w 144"/>
                  <a:gd name="T3" fmla="*/ 0 h 143"/>
                  <a:gd name="T4" fmla="*/ 144 w 144"/>
                  <a:gd name="T5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4" h="143">
                    <a:moveTo>
                      <a:pt x="0" y="143"/>
                    </a:moveTo>
                    <a:lnTo>
                      <a:pt x="143" y="0"/>
                    </a:lnTo>
                    <a:lnTo>
                      <a:pt x="14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0" name="Freeform 297"/>
              <p:cNvSpPr>
                <a:spLocks noChangeArrowheads="1"/>
              </p:cNvSpPr>
              <p:nvPr/>
            </p:nvSpPr>
            <p:spPr bwMode="auto">
              <a:xfrm>
                <a:off x="3047" y="2108"/>
                <a:ext cx="48" cy="48"/>
              </a:xfrm>
              <a:custGeom>
                <a:avLst/>
                <a:gdLst>
                  <a:gd name="T0" fmla="*/ 0 w 146"/>
                  <a:gd name="T1" fmla="*/ 145 h 145"/>
                  <a:gd name="T2" fmla="*/ 145 w 146"/>
                  <a:gd name="T3" fmla="*/ 0 h 145"/>
                  <a:gd name="T4" fmla="*/ 146 w 146"/>
                  <a:gd name="T5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6" h="145">
                    <a:moveTo>
                      <a:pt x="0" y="145"/>
                    </a:moveTo>
                    <a:lnTo>
                      <a:pt x="145" y="0"/>
                    </a:lnTo>
                    <a:lnTo>
                      <a:pt x="14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1" name="Freeform 298"/>
              <p:cNvSpPr>
                <a:spLocks noChangeArrowheads="1"/>
              </p:cNvSpPr>
              <p:nvPr/>
            </p:nvSpPr>
            <p:spPr bwMode="auto">
              <a:xfrm>
                <a:off x="3077" y="2165"/>
                <a:ext cx="50" cy="50"/>
              </a:xfrm>
              <a:custGeom>
                <a:avLst/>
                <a:gdLst>
                  <a:gd name="T0" fmla="*/ 0 w 150"/>
                  <a:gd name="T1" fmla="*/ 151 h 151"/>
                  <a:gd name="T2" fmla="*/ 149 w 150"/>
                  <a:gd name="T3" fmla="*/ 0 h 151"/>
                  <a:gd name="T4" fmla="*/ 150 w 150"/>
                  <a:gd name="T5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0" h="151">
                    <a:moveTo>
                      <a:pt x="0" y="151"/>
                    </a:moveTo>
                    <a:lnTo>
                      <a:pt x="149" y="0"/>
                    </a:lnTo>
                    <a:lnTo>
                      <a:pt x="15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2" name="Freeform 299"/>
              <p:cNvSpPr>
                <a:spLocks noChangeArrowheads="1"/>
              </p:cNvSpPr>
              <p:nvPr/>
            </p:nvSpPr>
            <p:spPr bwMode="auto">
              <a:xfrm>
                <a:off x="3103" y="2227"/>
                <a:ext cx="52" cy="52"/>
              </a:xfrm>
              <a:custGeom>
                <a:avLst/>
                <a:gdLst>
                  <a:gd name="T0" fmla="*/ 0 w 156"/>
                  <a:gd name="T1" fmla="*/ 156 h 156"/>
                  <a:gd name="T2" fmla="*/ 155 w 156"/>
                  <a:gd name="T3" fmla="*/ 0 h 156"/>
                  <a:gd name="T4" fmla="*/ 156 w 156"/>
                  <a:gd name="T5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6" h="156">
                    <a:moveTo>
                      <a:pt x="0" y="156"/>
                    </a:moveTo>
                    <a:lnTo>
                      <a:pt x="155" y="0"/>
                    </a:lnTo>
                    <a:lnTo>
                      <a:pt x="156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3" name="Freeform 300"/>
              <p:cNvSpPr>
                <a:spLocks noChangeArrowheads="1"/>
              </p:cNvSpPr>
              <p:nvPr/>
            </p:nvSpPr>
            <p:spPr bwMode="auto">
              <a:xfrm>
                <a:off x="3122" y="2295"/>
                <a:ext cx="55" cy="54"/>
              </a:xfrm>
              <a:custGeom>
                <a:avLst/>
                <a:gdLst>
                  <a:gd name="T0" fmla="*/ 0 w 165"/>
                  <a:gd name="T1" fmla="*/ 164 h 164"/>
                  <a:gd name="T2" fmla="*/ 164 w 165"/>
                  <a:gd name="T3" fmla="*/ 0 h 164"/>
                  <a:gd name="T4" fmla="*/ 165 w 165"/>
                  <a:gd name="T5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164">
                    <a:moveTo>
                      <a:pt x="0" y="164"/>
                    </a:moveTo>
                    <a:lnTo>
                      <a:pt x="164" y="0"/>
                    </a:lnTo>
                    <a:lnTo>
                      <a:pt x="165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4" name="Freeform 301"/>
              <p:cNvSpPr>
                <a:spLocks noChangeArrowheads="1"/>
              </p:cNvSpPr>
              <p:nvPr/>
            </p:nvSpPr>
            <p:spPr bwMode="auto">
              <a:xfrm>
                <a:off x="3135" y="2368"/>
                <a:ext cx="59" cy="59"/>
              </a:xfrm>
              <a:custGeom>
                <a:avLst/>
                <a:gdLst>
                  <a:gd name="T0" fmla="*/ 0 w 178"/>
                  <a:gd name="T1" fmla="*/ 179 h 179"/>
                  <a:gd name="T2" fmla="*/ 177 w 178"/>
                  <a:gd name="T3" fmla="*/ 0 h 179"/>
                  <a:gd name="T4" fmla="*/ 178 w 178"/>
                  <a:gd name="T5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8" h="179">
                    <a:moveTo>
                      <a:pt x="0" y="179"/>
                    </a:moveTo>
                    <a:lnTo>
                      <a:pt x="177" y="0"/>
                    </a:lnTo>
                    <a:lnTo>
                      <a:pt x="178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5" name="Freeform 302"/>
              <p:cNvSpPr>
                <a:spLocks noChangeArrowheads="1"/>
              </p:cNvSpPr>
              <p:nvPr/>
            </p:nvSpPr>
            <p:spPr bwMode="auto">
              <a:xfrm>
                <a:off x="3138" y="2448"/>
                <a:ext cx="65" cy="66"/>
              </a:xfrm>
              <a:custGeom>
                <a:avLst/>
                <a:gdLst>
                  <a:gd name="T0" fmla="*/ 0 w 197"/>
                  <a:gd name="T1" fmla="*/ 196 h 196"/>
                  <a:gd name="T2" fmla="*/ 196 w 197"/>
                  <a:gd name="T3" fmla="*/ 0 h 196"/>
                  <a:gd name="T4" fmla="*/ 197 w 197"/>
                  <a:gd name="T5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96">
                    <a:moveTo>
                      <a:pt x="0" y="196"/>
                    </a:moveTo>
                    <a:lnTo>
                      <a:pt x="196" y="0"/>
                    </a:lnTo>
                    <a:lnTo>
                      <a:pt x="197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6" name="Freeform 303"/>
              <p:cNvSpPr>
                <a:spLocks noChangeArrowheads="1"/>
              </p:cNvSpPr>
              <p:nvPr/>
            </p:nvSpPr>
            <p:spPr bwMode="auto">
              <a:xfrm>
                <a:off x="3017" y="2658"/>
                <a:ext cx="67" cy="66"/>
              </a:xfrm>
              <a:custGeom>
                <a:avLst/>
                <a:gdLst>
                  <a:gd name="T0" fmla="*/ 0 w 200"/>
                  <a:gd name="T1" fmla="*/ 199 h 199"/>
                  <a:gd name="T2" fmla="*/ 199 w 200"/>
                  <a:gd name="T3" fmla="*/ 0 h 199"/>
                  <a:gd name="T4" fmla="*/ 200 w 200"/>
                  <a:gd name="T5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0" h="199">
                    <a:moveTo>
                      <a:pt x="0" y="199"/>
                    </a:moveTo>
                    <a:lnTo>
                      <a:pt x="199" y="0"/>
                    </a:lnTo>
                    <a:lnTo>
                      <a:pt x="20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7" name="Freeform 304"/>
              <p:cNvSpPr>
                <a:spLocks noChangeArrowheads="1"/>
              </p:cNvSpPr>
              <p:nvPr/>
            </p:nvSpPr>
            <p:spPr bwMode="auto">
              <a:xfrm>
                <a:off x="3138" y="2537"/>
                <a:ext cx="67" cy="67"/>
              </a:xfrm>
              <a:custGeom>
                <a:avLst/>
                <a:gdLst>
                  <a:gd name="T0" fmla="*/ 0 w 201"/>
                  <a:gd name="T1" fmla="*/ 201 h 201"/>
                  <a:gd name="T2" fmla="*/ 200 w 201"/>
                  <a:gd name="T3" fmla="*/ 0 h 201"/>
                  <a:gd name="T4" fmla="*/ 201 w 201"/>
                  <a:gd name="T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1" h="201">
                    <a:moveTo>
                      <a:pt x="0" y="201"/>
                    </a:moveTo>
                    <a:lnTo>
                      <a:pt x="200" y="0"/>
                    </a:lnTo>
                    <a:lnTo>
                      <a:pt x="201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8" name="Freeform 305"/>
              <p:cNvSpPr>
                <a:spLocks noChangeArrowheads="1"/>
              </p:cNvSpPr>
              <p:nvPr/>
            </p:nvSpPr>
            <p:spPr bwMode="auto">
              <a:xfrm>
                <a:off x="3107" y="2627"/>
                <a:ext cx="98" cy="97"/>
              </a:xfrm>
              <a:custGeom>
                <a:avLst/>
                <a:gdLst>
                  <a:gd name="T0" fmla="*/ 0 w 294"/>
                  <a:gd name="T1" fmla="*/ 293 h 293"/>
                  <a:gd name="T2" fmla="*/ 293 w 294"/>
                  <a:gd name="T3" fmla="*/ 0 h 293"/>
                  <a:gd name="T4" fmla="*/ 294 w 294"/>
                  <a:gd name="T5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4" h="293">
                    <a:moveTo>
                      <a:pt x="0" y="293"/>
                    </a:moveTo>
                    <a:lnTo>
                      <a:pt x="293" y="0"/>
                    </a:lnTo>
                    <a:lnTo>
                      <a:pt x="29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9" name="Freeform 306"/>
              <p:cNvSpPr>
                <a:spLocks noChangeArrowheads="1"/>
              </p:cNvSpPr>
              <p:nvPr/>
            </p:nvSpPr>
            <p:spPr bwMode="auto">
              <a:xfrm>
                <a:off x="2615" y="1729"/>
                <a:ext cx="223" cy="129"/>
              </a:xfrm>
              <a:custGeom>
                <a:avLst/>
                <a:gdLst>
                  <a:gd name="T0" fmla="*/ 0 w 671"/>
                  <a:gd name="T1" fmla="*/ 0 h 387"/>
                  <a:gd name="T2" fmla="*/ 670 w 671"/>
                  <a:gd name="T3" fmla="*/ 387 h 387"/>
                  <a:gd name="T4" fmla="*/ 671 w 671"/>
                  <a:gd name="T5" fmla="*/ 387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71" h="387">
                    <a:moveTo>
                      <a:pt x="0" y="0"/>
                    </a:moveTo>
                    <a:lnTo>
                      <a:pt x="670" y="387"/>
                    </a:lnTo>
                    <a:lnTo>
                      <a:pt x="671" y="387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0" name="Freeform 307"/>
              <p:cNvSpPr>
                <a:spLocks noChangeArrowheads="1"/>
              </p:cNvSpPr>
              <p:nvPr/>
            </p:nvSpPr>
            <p:spPr bwMode="auto">
              <a:xfrm>
                <a:off x="2838" y="1858"/>
                <a:ext cx="366" cy="635"/>
              </a:xfrm>
              <a:custGeom>
                <a:avLst/>
                <a:gdLst>
                  <a:gd name="T0" fmla="*/ 1099 w 1099"/>
                  <a:gd name="T1" fmla="*/ 1905 h 1905"/>
                  <a:gd name="T2" fmla="*/ 966 w 1099"/>
                  <a:gd name="T3" fmla="*/ 1152 h 1905"/>
                  <a:gd name="T4" fmla="*/ 585 w 1099"/>
                  <a:gd name="T5" fmla="*/ 490 h 1905"/>
                  <a:gd name="T6" fmla="*/ 0 w 1099"/>
                  <a:gd name="T7" fmla="*/ 0 h 1905"/>
                  <a:gd name="T8" fmla="*/ 1 w 1099"/>
                  <a:gd name="T9" fmla="*/ 0 h 1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99" h="1905">
                    <a:moveTo>
                      <a:pt x="1099" y="1905"/>
                    </a:moveTo>
                    <a:lnTo>
                      <a:pt x="966" y="1152"/>
                    </a:lnTo>
                    <a:lnTo>
                      <a:pt x="585" y="490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1" name="Freeform 308"/>
              <p:cNvSpPr>
                <a:spLocks noChangeArrowheads="1"/>
              </p:cNvSpPr>
              <p:nvPr/>
            </p:nvSpPr>
            <p:spPr bwMode="auto">
              <a:xfrm>
                <a:off x="2730" y="1647"/>
                <a:ext cx="45" cy="16"/>
              </a:xfrm>
              <a:custGeom>
                <a:avLst/>
                <a:gdLst>
                  <a:gd name="T0" fmla="*/ 136 w 136"/>
                  <a:gd name="T1" fmla="*/ 9 h 46"/>
                  <a:gd name="T2" fmla="*/ 60 w 136"/>
                  <a:gd name="T3" fmla="*/ 0 h 46"/>
                  <a:gd name="T4" fmla="*/ 0 w 136"/>
                  <a:gd name="T5" fmla="*/ 46 h 46"/>
                  <a:gd name="T6" fmla="*/ 1 w 136"/>
                  <a:gd name="T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6" h="46">
                    <a:moveTo>
                      <a:pt x="136" y="9"/>
                    </a:moveTo>
                    <a:lnTo>
                      <a:pt x="60" y="0"/>
                    </a:lnTo>
                    <a:lnTo>
                      <a:pt x="0" y="46"/>
                    </a:lnTo>
                    <a:lnTo>
                      <a:pt x="1" y="46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2" name="Freeform 309"/>
              <p:cNvSpPr>
                <a:spLocks noChangeArrowheads="1"/>
              </p:cNvSpPr>
              <p:nvPr/>
            </p:nvSpPr>
            <p:spPr bwMode="auto">
              <a:xfrm>
                <a:off x="2710" y="1663"/>
                <a:ext cx="20" cy="33"/>
              </a:xfrm>
              <a:custGeom>
                <a:avLst/>
                <a:gdLst>
                  <a:gd name="T0" fmla="*/ 0 w 60"/>
                  <a:gd name="T1" fmla="*/ 100 h 100"/>
                  <a:gd name="T2" fmla="*/ 59 w 60"/>
                  <a:gd name="T3" fmla="*/ 0 h 100"/>
                  <a:gd name="T4" fmla="*/ 60 w 60"/>
                  <a:gd name="T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" h="100">
                    <a:moveTo>
                      <a:pt x="0" y="100"/>
                    </a:moveTo>
                    <a:lnTo>
                      <a:pt x="59" y="0"/>
                    </a:lnTo>
                    <a:lnTo>
                      <a:pt x="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3" name="Freeform 310"/>
              <p:cNvSpPr>
                <a:spLocks noChangeArrowheads="1"/>
              </p:cNvSpPr>
              <p:nvPr/>
            </p:nvSpPr>
            <p:spPr bwMode="auto">
              <a:xfrm>
                <a:off x="2775" y="1650"/>
                <a:ext cx="72" cy="42"/>
              </a:xfrm>
              <a:custGeom>
                <a:avLst/>
                <a:gdLst>
                  <a:gd name="T0" fmla="*/ 0 w 217"/>
                  <a:gd name="T1" fmla="*/ 0 h 125"/>
                  <a:gd name="T2" fmla="*/ 216 w 217"/>
                  <a:gd name="T3" fmla="*/ 125 h 125"/>
                  <a:gd name="T4" fmla="*/ 217 w 217"/>
                  <a:gd name="T5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7" h="125">
                    <a:moveTo>
                      <a:pt x="0" y="0"/>
                    </a:moveTo>
                    <a:lnTo>
                      <a:pt x="216" y="125"/>
                    </a:lnTo>
                    <a:lnTo>
                      <a:pt x="217" y="12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209" name="Group 311"/>
            <p:cNvGrpSpPr>
              <a:grpSpLocks/>
            </p:cNvGrpSpPr>
            <p:nvPr/>
          </p:nvGrpSpPr>
          <p:grpSpPr bwMode="auto">
            <a:xfrm>
              <a:off x="1862" y="2318"/>
              <a:ext cx="1320" cy="1520"/>
              <a:chOff x="1862" y="2318"/>
              <a:chExt cx="1320" cy="1520"/>
            </a:xfrm>
          </p:grpSpPr>
          <p:sp>
            <p:nvSpPr>
              <p:cNvPr id="210" name="Freeform 312"/>
              <p:cNvSpPr/>
              <p:nvPr/>
            </p:nvSpPr>
            <p:spPr bwMode="auto">
              <a:xfrm>
                <a:off x="2306" y="3507"/>
                <a:ext cx="876" cy="331"/>
              </a:xfrm>
              <a:custGeom>
                <a:avLst/>
                <a:gdLst/>
                <a:ahLst/>
                <a:cxnLst>
                  <a:cxn ang="0">
                    <a:pos x="0" y="14"/>
                  </a:cxn>
                  <a:cxn ang="0">
                    <a:pos x="0" y="167"/>
                  </a:cxn>
                  <a:cxn ang="0">
                    <a:pos x="15" y="262"/>
                  </a:cxn>
                  <a:cxn ang="0">
                    <a:pos x="44" y="320"/>
                  </a:cxn>
                  <a:cxn ang="0">
                    <a:pos x="80" y="385"/>
                  </a:cxn>
                  <a:cxn ang="0">
                    <a:pos x="142" y="466"/>
                  </a:cxn>
                  <a:cxn ang="0">
                    <a:pos x="218" y="540"/>
                  </a:cxn>
                  <a:cxn ang="0">
                    <a:pos x="309" y="606"/>
                  </a:cxn>
                  <a:cxn ang="0">
                    <a:pos x="412" y="664"/>
                  </a:cxn>
                  <a:cxn ang="0">
                    <a:pos x="527" y="714"/>
                  </a:cxn>
                  <a:cxn ang="0">
                    <a:pos x="650" y="753"/>
                  </a:cxn>
                  <a:cxn ang="0">
                    <a:pos x="781" y="783"/>
                  </a:cxn>
                  <a:cxn ang="0">
                    <a:pos x="916" y="801"/>
                  </a:cxn>
                  <a:cxn ang="0">
                    <a:pos x="1054" y="808"/>
                  </a:cxn>
                  <a:cxn ang="0">
                    <a:pos x="1193" y="803"/>
                  </a:cxn>
                  <a:cxn ang="0">
                    <a:pos x="1329" y="788"/>
                  </a:cxn>
                  <a:cxn ang="0">
                    <a:pos x="1461" y="761"/>
                  </a:cxn>
                  <a:cxn ang="0">
                    <a:pos x="1586" y="724"/>
                  </a:cxn>
                  <a:cxn ang="0">
                    <a:pos x="1703" y="677"/>
                  </a:cxn>
                  <a:cxn ang="0">
                    <a:pos x="1809" y="620"/>
                  </a:cxn>
                  <a:cxn ang="0">
                    <a:pos x="1903" y="555"/>
                  </a:cxn>
                  <a:cxn ang="0">
                    <a:pos x="1983" y="484"/>
                  </a:cxn>
                  <a:cxn ang="0">
                    <a:pos x="2047" y="406"/>
                  </a:cxn>
                  <a:cxn ang="0">
                    <a:pos x="2095" y="324"/>
                  </a:cxn>
                  <a:cxn ang="0">
                    <a:pos x="2126" y="238"/>
                  </a:cxn>
                  <a:cxn ang="0">
                    <a:pos x="2139" y="151"/>
                  </a:cxn>
                  <a:cxn ang="0">
                    <a:pos x="2138" y="0"/>
                  </a:cxn>
                  <a:cxn ang="0">
                    <a:pos x="2134" y="63"/>
                  </a:cxn>
                </a:cxnLst>
                <a:rect l="0" t="0" r="r" b="b"/>
                <a:pathLst>
                  <a:path w="2139" h="808">
                    <a:moveTo>
                      <a:pt x="0" y="14"/>
                    </a:moveTo>
                    <a:lnTo>
                      <a:pt x="0" y="167"/>
                    </a:lnTo>
                    <a:lnTo>
                      <a:pt x="15" y="262"/>
                    </a:lnTo>
                    <a:lnTo>
                      <a:pt x="44" y="320"/>
                    </a:lnTo>
                    <a:lnTo>
                      <a:pt x="80" y="385"/>
                    </a:lnTo>
                    <a:lnTo>
                      <a:pt x="142" y="466"/>
                    </a:lnTo>
                    <a:lnTo>
                      <a:pt x="218" y="540"/>
                    </a:lnTo>
                    <a:lnTo>
                      <a:pt x="309" y="606"/>
                    </a:lnTo>
                    <a:lnTo>
                      <a:pt x="412" y="664"/>
                    </a:lnTo>
                    <a:lnTo>
                      <a:pt x="527" y="714"/>
                    </a:lnTo>
                    <a:lnTo>
                      <a:pt x="650" y="753"/>
                    </a:lnTo>
                    <a:lnTo>
                      <a:pt x="781" y="783"/>
                    </a:lnTo>
                    <a:lnTo>
                      <a:pt x="916" y="801"/>
                    </a:lnTo>
                    <a:lnTo>
                      <a:pt x="1054" y="808"/>
                    </a:lnTo>
                    <a:lnTo>
                      <a:pt x="1193" y="803"/>
                    </a:lnTo>
                    <a:lnTo>
                      <a:pt x="1329" y="788"/>
                    </a:lnTo>
                    <a:lnTo>
                      <a:pt x="1461" y="761"/>
                    </a:lnTo>
                    <a:lnTo>
                      <a:pt x="1586" y="724"/>
                    </a:lnTo>
                    <a:lnTo>
                      <a:pt x="1703" y="677"/>
                    </a:lnTo>
                    <a:lnTo>
                      <a:pt x="1809" y="620"/>
                    </a:lnTo>
                    <a:lnTo>
                      <a:pt x="1903" y="555"/>
                    </a:lnTo>
                    <a:lnTo>
                      <a:pt x="1983" y="484"/>
                    </a:lnTo>
                    <a:lnTo>
                      <a:pt x="2047" y="406"/>
                    </a:lnTo>
                    <a:lnTo>
                      <a:pt x="2095" y="324"/>
                    </a:lnTo>
                    <a:lnTo>
                      <a:pt x="2126" y="238"/>
                    </a:lnTo>
                    <a:lnTo>
                      <a:pt x="2139" y="151"/>
                    </a:lnTo>
                    <a:lnTo>
                      <a:pt x="2138" y="0"/>
                    </a:lnTo>
                    <a:lnTo>
                      <a:pt x="2134" y="63"/>
                    </a:lnTo>
                  </a:path>
                </a:pathLst>
              </a:custGeom>
              <a:gradFill rotWithShape="0">
                <a:gsLst>
                  <a:gs pos="0">
                    <a:schemeClr val="folHlink">
                      <a:gamma/>
                      <a:shade val="31373"/>
                      <a:invGamma/>
                    </a:schemeClr>
                  </a:gs>
                  <a:gs pos="50000">
                    <a:schemeClr val="folHlink"/>
                  </a:gs>
                  <a:gs pos="100000">
                    <a:schemeClr val="folHlink">
                      <a:gamma/>
                      <a:shade val="31373"/>
                      <a:invGamma/>
                    </a:schemeClr>
                  </a:gs>
                </a:gsLst>
                <a:lin ang="0" scaled="1"/>
              </a:gradFill>
              <a:ln w="0">
                <a:noFill/>
                <a:prstDash val="solid"/>
                <a:round/>
              </a:ln>
            </p:spPr>
            <p:txBody>
              <a:bodyPr/>
              <a:lstStyle/>
              <a:p>
                <a:pPr>
                  <a:buFontTx/>
                  <a:buNone/>
                  <a:defRPr/>
                </a:pPr>
                <a:endParaRPr kumimoji="1" lang="zh-CN" altLang="en-US"/>
              </a:p>
            </p:txBody>
          </p:sp>
          <p:sp>
            <p:nvSpPr>
              <p:cNvPr id="211" name="Freeform 313"/>
              <p:cNvSpPr>
                <a:spLocks noChangeArrowheads="1"/>
              </p:cNvSpPr>
              <p:nvPr/>
            </p:nvSpPr>
            <p:spPr bwMode="auto">
              <a:xfrm>
                <a:off x="2307" y="3302"/>
                <a:ext cx="874" cy="481"/>
              </a:xfrm>
              <a:custGeom>
                <a:avLst/>
                <a:gdLst>
                  <a:gd name="T0" fmla="*/ 1763 w 10682"/>
                  <a:gd name="T1" fmla="*/ 0 h 5868"/>
                  <a:gd name="T2" fmla="*/ 1175 w 10682"/>
                  <a:gd name="T3" fmla="*/ 390 h 5868"/>
                  <a:gd name="T4" fmla="*/ 693 w 10682"/>
                  <a:gd name="T5" fmla="*/ 834 h 5868"/>
                  <a:gd name="T6" fmla="*/ 332 w 10682"/>
                  <a:gd name="T7" fmla="*/ 1321 h 5868"/>
                  <a:gd name="T8" fmla="*/ 98 w 10682"/>
                  <a:gd name="T9" fmla="*/ 1839 h 5868"/>
                  <a:gd name="T10" fmla="*/ 0 w 10682"/>
                  <a:gd name="T11" fmla="*/ 2374 h 5868"/>
                  <a:gd name="T12" fmla="*/ 40 w 10682"/>
                  <a:gd name="T13" fmla="*/ 2912 h 5868"/>
                  <a:gd name="T14" fmla="*/ 215 w 10682"/>
                  <a:gd name="T15" fmla="*/ 3439 h 5868"/>
                  <a:gd name="T16" fmla="*/ 522 w 10682"/>
                  <a:gd name="T17" fmla="*/ 3944 h 5868"/>
                  <a:gd name="T18" fmla="*/ 953 w 10682"/>
                  <a:gd name="T19" fmla="*/ 4411 h 5868"/>
                  <a:gd name="T20" fmla="*/ 1497 w 10682"/>
                  <a:gd name="T21" fmla="*/ 4828 h 5868"/>
                  <a:gd name="T22" fmla="*/ 2139 w 10682"/>
                  <a:gd name="T23" fmla="*/ 5187 h 5868"/>
                  <a:gd name="T24" fmla="*/ 2864 w 10682"/>
                  <a:gd name="T25" fmla="*/ 5477 h 5868"/>
                  <a:gd name="T26" fmla="*/ 3653 w 10682"/>
                  <a:gd name="T27" fmla="*/ 5691 h 5868"/>
                  <a:gd name="T28" fmla="*/ 4485 w 10682"/>
                  <a:gd name="T29" fmla="*/ 5822 h 5868"/>
                  <a:gd name="T30" fmla="*/ 5339 w 10682"/>
                  <a:gd name="T31" fmla="*/ 5868 h 5868"/>
                  <a:gd name="T32" fmla="*/ 6193 w 10682"/>
                  <a:gd name="T33" fmla="*/ 5828 h 5868"/>
                  <a:gd name="T34" fmla="*/ 7025 w 10682"/>
                  <a:gd name="T35" fmla="*/ 5702 h 5868"/>
                  <a:gd name="T36" fmla="*/ 7814 w 10682"/>
                  <a:gd name="T37" fmla="*/ 5494 h 5868"/>
                  <a:gd name="T38" fmla="*/ 8540 w 10682"/>
                  <a:gd name="T39" fmla="*/ 5211 h 5868"/>
                  <a:gd name="T40" fmla="*/ 9182 w 10682"/>
                  <a:gd name="T41" fmla="*/ 4857 h 5868"/>
                  <a:gd name="T42" fmla="*/ 9727 w 10682"/>
                  <a:gd name="T43" fmla="*/ 4442 h 5868"/>
                  <a:gd name="T44" fmla="*/ 10159 w 10682"/>
                  <a:gd name="T45" fmla="*/ 3979 h 5868"/>
                  <a:gd name="T46" fmla="*/ 10466 w 10682"/>
                  <a:gd name="T47" fmla="*/ 3476 h 5868"/>
                  <a:gd name="T48" fmla="*/ 10642 w 10682"/>
                  <a:gd name="T49" fmla="*/ 2950 h 5868"/>
                  <a:gd name="T50" fmla="*/ 10682 w 10682"/>
                  <a:gd name="T51" fmla="*/ 2412 h 5868"/>
                  <a:gd name="T52" fmla="*/ 10584 w 10682"/>
                  <a:gd name="T53" fmla="*/ 1877 h 5868"/>
                  <a:gd name="T54" fmla="*/ 10352 w 10682"/>
                  <a:gd name="T55" fmla="*/ 1357 h 5868"/>
                  <a:gd name="T56" fmla="*/ 9991 w 10682"/>
                  <a:gd name="T57" fmla="*/ 868 h 5868"/>
                  <a:gd name="T58" fmla="*/ 9510 w 10682"/>
                  <a:gd name="T59" fmla="*/ 420 h 5868"/>
                  <a:gd name="T60" fmla="*/ 8922 w 10682"/>
                  <a:gd name="T61" fmla="*/ 26 h 5868"/>
                  <a:gd name="T62" fmla="*/ 8923 w 10682"/>
                  <a:gd name="T63" fmla="*/ 26 h 5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682" h="5868">
                    <a:moveTo>
                      <a:pt x="1763" y="0"/>
                    </a:moveTo>
                    <a:lnTo>
                      <a:pt x="1175" y="390"/>
                    </a:lnTo>
                    <a:lnTo>
                      <a:pt x="693" y="834"/>
                    </a:lnTo>
                    <a:lnTo>
                      <a:pt x="332" y="1321"/>
                    </a:lnTo>
                    <a:lnTo>
                      <a:pt x="98" y="1839"/>
                    </a:lnTo>
                    <a:lnTo>
                      <a:pt x="0" y="2374"/>
                    </a:lnTo>
                    <a:lnTo>
                      <a:pt x="40" y="2912"/>
                    </a:lnTo>
                    <a:lnTo>
                      <a:pt x="215" y="3439"/>
                    </a:lnTo>
                    <a:lnTo>
                      <a:pt x="522" y="3944"/>
                    </a:lnTo>
                    <a:lnTo>
                      <a:pt x="953" y="4411"/>
                    </a:lnTo>
                    <a:lnTo>
                      <a:pt x="1497" y="4828"/>
                    </a:lnTo>
                    <a:lnTo>
                      <a:pt x="2139" y="5187"/>
                    </a:lnTo>
                    <a:lnTo>
                      <a:pt x="2864" y="5477"/>
                    </a:lnTo>
                    <a:lnTo>
                      <a:pt x="3653" y="5691"/>
                    </a:lnTo>
                    <a:lnTo>
                      <a:pt x="4485" y="5822"/>
                    </a:lnTo>
                    <a:lnTo>
                      <a:pt x="5339" y="5868"/>
                    </a:lnTo>
                    <a:lnTo>
                      <a:pt x="6193" y="5828"/>
                    </a:lnTo>
                    <a:lnTo>
                      <a:pt x="7025" y="5702"/>
                    </a:lnTo>
                    <a:lnTo>
                      <a:pt x="7814" y="5494"/>
                    </a:lnTo>
                    <a:lnTo>
                      <a:pt x="8540" y="5211"/>
                    </a:lnTo>
                    <a:lnTo>
                      <a:pt x="9182" y="4857"/>
                    </a:lnTo>
                    <a:lnTo>
                      <a:pt x="9727" y="4442"/>
                    </a:lnTo>
                    <a:lnTo>
                      <a:pt x="10159" y="3979"/>
                    </a:lnTo>
                    <a:lnTo>
                      <a:pt x="10466" y="3476"/>
                    </a:lnTo>
                    <a:lnTo>
                      <a:pt x="10642" y="2950"/>
                    </a:lnTo>
                    <a:lnTo>
                      <a:pt x="10682" y="2412"/>
                    </a:lnTo>
                    <a:lnTo>
                      <a:pt x="10584" y="1877"/>
                    </a:lnTo>
                    <a:lnTo>
                      <a:pt x="10352" y="1357"/>
                    </a:lnTo>
                    <a:lnTo>
                      <a:pt x="9991" y="868"/>
                    </a:lnTo>
                    <a:lnTo>
                      <a:pt x="9510" y="420"/>
                    </a:lnTo>
                    <a:lnTo>
                      <a:pt x="8922" y="26"/>
                    </a:lnTo>
                    <a:lnTo>
                      <a:pt x="8923" y="26"/>
                    </a:lnTo>
                  </a:path>
                </a:pathLst>
              </a:custGeom>
              <a:gradFill rotWithShape="0">
                <a:gsLst>
                  <a:gs pos="0">
                    <a:srgbClr val="6D6D6D"/>
                  </a:gs>
                  <a:gs pos="100000">
                    <a:srgbClr val="C0C0C0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2" name="Freeform 314"/>
              <p:cNvSpPr>
                <a:spLocks noChangeArrowheads="1"/>
              </p:cNvSpPr>
              <p:nvPr/>
            </p:nvSpPr>
            <p:spPr bwMode="auto">
              <a:xfrm>
                <a:off x="2345" y="2637"/>
                <a:ext cx="693" cy="1061"/>
              </a:xfrm>
              <a:custGeom>
                <a:avLst/>
                <a:gdLst>
                  <a:gd name="T0" fmla="*/ 0 w 1694"/>
                  <a:gd name="T1" fmla="*/ 1382 h 2589"/>
                  <a:gd name="T2" fmla="*/ 116 w 1694"/>
                  <a:gd name="T3" fmla="*/ 1411 h 2589"/>
                  <a:gd name="T4" fmla="*/ 175 w 1694"/>
                  <a:gd name="T5" fmla="*/ 1462 h 2589"/>
                  <a:gd name="T6" fmla="*/ 218 w 1694"/>
                  <a:gd name="T7" fmla="*/ 1527 h 2589"/>
                  <a:gd name="T8" fmla="*/ 255 w 1694"/>
                  <a:gd name="T9" fmla="*/ 1607 h 2589"/>
                  <a:gd name="T10" fmla="*/ 262 w 1694"/>
                  <a:gd name="T11" fmla="*/ 1716 h 2589"/>
                  <a:gd name="T12" fmla="*/ 262 w 1694"/>
                  <a:gd name="T13" fmla="*/ 2138 h 2589"/>
                  <a:gd name="T14" fmla="*/ 276 w 1694"/>
                  <a:gd name="T15" fmla="*/ 2255 h 2589"/>
                  <a:gd name="T16" fmla="*/ 313 w 1694"/>
                  <a:gd name="T17" fmla="*/ 2320 h 2589"/>
                  <a:gd name="T18" fmla="*/ 364 w 1694"/>
                  <a:gd name="T19" fmla="*/ 2386 h 2589"/>
                  <a:gd name="T20" fmla="*/ 415 w 1694"/>
                  <a:gd name="T21" fmla="*/ 2429 h 2589"/>
                  <a:gd name="T22" fmla="*/ 545 w 1694"/>
                  <a:gd name="T23" fmla="*/ 2509 h 2589"/>
                  <a:gd name="T24" fmla="*/ 647 w 1694"/>
                  <a:gd name="T25" fmla="*/ 2553 h 2589"/>
                  <a:gd name="T26" fmla="*/ 785 w 1694"/>
                  <a:gd name="T27" fmla="*/ 2582 h 2589"/>
                  <a:gd name="T28" fmla="*/ 938 w 1694"/>
                  <a:gd name="T29" fmla="*/ 2589 h 2589"/>
                  <a:gd name="T30" fmla="*/ 1091 w 1694"/>
                  <a:gd name="T31" fmla="*/ 2582 h 2589"/>
                  <a:gd name="T32" fmla="*/ 1229 w 1694"/>
                  <a:gd name="T33" fmla="*/ 2575 h 2589"/>
                  <a:gd name="T34" fmla="*/ 1367 w 1694"/>
                  <a:gd name="T35" fmla="*/ 2538 h 2589"/>
                  <a:gd name="T36" fmla="*/ 1491 w 1694"/>
                  <a:gd name="T37" fmla="*/ 2473 h 2589"/>
                  <a:gd name="T38" fmla="*/ 1578 w 1694"/>
                  <a:gd name="T39" fmla="*/ 2407 h 2589"/>
                  <a:gd name="T40" fmla="*/ 1658 w 1694"/>
                  <a:gd name="T41" fmla="*/ 2320 h 2589"/>
                  <a:gd name="T42" fmla="*/ 1687 w 1694"/>
                  <a:gd name="T43" fmla="*/ 2196 h 2589"/>
                  <a:gd name="T44" fmla="*/ 1694 w 1694"/>
                  <a:gd name="T45" fmla="*/ 2124 h 2589"/>
                  <a:gd name="T46" fmla="*/ 1694 w 1694"/>
                  <a:gd name="T47" fmla="*/ 1578 h 2589"/>
                  <a:gd name="T48" fmla="*/ 1673 w 1694"/>
                  <a:gd name="T49" fmla="*/ 1433 h 2589"/>
                  <a:gd name="T50" fmla="*/ 1651 w 1694"/>
                  <a:gd name="T51" fmla="*/ 1258 h 2589"/>
                  <a:gd name="T52" fmla="*/ 1607 w 1694"/>
                  <a:gd name="T53" fmla="*/ 1091 h 2589"/>
                  <a:gd name="T54" fmla="*/ 1534 w 1694"/>
                  <a:gd name="T55" fmla="*/ 902 h 2589"/>
                  <a:gd name="T56" fmla="*/ 1447 w 1694"/>
                  <a:gd name="T57" fmla="*/ 749 h 2589"/>
                  <a:gd name="T58" fmla="*/ 1367 w 1694"/>
                  <a:gd name="T59" fmla="*/ 655 h 2589"/>
                  <a:gd name="T60" fmla="*/ 1280 w 1694"/>
                  <a:gd name="T61" fmla="*/ 545 h 2589"/>
                  <a:gd name="T62" fmla="*/ 1149 w 1694"/>
                  <a:gd name="T63" fmla="*/ 422 h 2589"/>
                  <a:gd name="T64" fmla="*/ 1025 w 1694"/>
                  <a:gd name="T65" fmla="*/ 313 h 2589"/>
                  <a:gd name="T66" fmla="*/ 604 w 1694"/>
                  <a:gd name="T67" fmla="*/ 0 h 2589"/>
                  <a:gd name="T68" fmla="*/ 0 w 1694"/>
                  <a:gd name="T69" fmla="*/ 1382 h 2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94" h="2589">
                    <a:moveTo>
                      <a:pt x="0" y="1382"/>
                    </a:moveTo>
                    <a:lnTo>
                      <a:pt x="116" y="1411"/>
                    </a:lnTo>
                    <a:lnTo>
                      <a:pt x="175" y="1462"/>
                    </a:lnTo>
                    <a:lnTo>
                      <a:pt x="218" y="1527"/>
                    </a:lnTo>
                    <a:lnTo>
                      <a:pt x="255" y="1607"/>
                    </a:lnTo>
                    <a:lnTo>
                      <a:pt x="262" y="1716"/>
                    </a:lnTo>
                    <a:lnTo>
                      <a:pt x="262" y="2138"/>
                    </a:lnTo>
                    <a:lnTo>
                      <a:pt x="276" y="2255"/>
                    </a:lnTo>
                    <a:lnTo>
                      <a:pt x="313" y="2320"/>
                    </a:lnTo>
                    <a:lnTo>
                      <a:pt x="364" y="2386"/>
                    </a:lnTo>
                    <a:lnTo>
                      <a:pt x="415" y="2429"/>
                    </a:lnTo>
                    <a:lnTo>
                      <a:pt x="545" y="2509"/>
                    </a:lnTo>
                    <a:lnTo>
                      <a:pt x="647" y="2553"/>
                    </a:lnTo>
                    <a:lnTo>
                      <a:pt x="785" y="2582"/>
                    </a:lnTo>
                    <a:lnTo>
                      <a:pt x="938" y="2589"/>
                    </a:lnTo>
                    <a:lnTo>
                      <a:pt x="1091" y="2582"/>
                    </a:lnTo>
                    <a:lnTo>
                      <a:pt x="1229" y="2575"/>
                    </a:lnTo>
                    <a:lnTo>
                      <a:pt x="1367" y="2538"/>
                    </a:lnTo>
                    <a:lnTo>
                      <a:pt x="1491" y="2473"/>
                    </a:lnTo>
                    <a:lnTo>
                      <a:pt x="1578" y="2407"/>
                    </a:lnTo>
                    <a:lnTo>
                      <a:pt x="1658" y="2320"/>
                    </a:lnTo>
                    <a:lnTo>
                      <a:pt x="1687" y="2196"/>
                    </a:lnTo>
                    <a:lnTo>
                      <a:pt x="1694" y="2124"/>
                    </a:lnTo>
                    <a:lnTo>
                      <a:pt x="1694" y="1578"/>
                    </a:lnTo>
                    <a:lnTo>
                      <a:pt x="1673" y="1433"/>
                    </a:lnTo>
                    <a:lnTo>
                      <a:pt x="1651" y="1258"/>
                    </a:lnTo>
                    <a:lnTo>
                      <a:pt x="1607" y="1091"/>
                    </a:lnTo>
                    <a:lnTo>
                      <a:pt x="1534" y="902"/>
                    </a:lnTo>
                    <a:lnTo>
                      <a:pt x="1447" y="749"/>
                    </a:lnTo>
                    <a:lnTo>
                      <a:pt x="1367" y="655"/>
                    </a:lnTo>
                    <a:lnTo>
                      <a:pt x="1280" y="545"/>
                    </a:lnTo>
                    <a:lnTo>
                      <a:pt x="1149" y="422"/>
                    </a:lnTo>
                    <a:lnTo>
                      <a:pt x="1025" y="313"/>
                    </a:lnTo>
                    <a:lnTo>
                      <a:pt x="604" y="0"/>
                    </a:lnTo>
                    <a:lnTo>
                      <a:pt x="0" y="1382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454545"/>
                  </a:gs>
                  <a:gs pos="50000">
                    <a:srgbClr val="969696"/>
                  </a:gs>
                  <a:gs pos="100000">
                    <a:srgbClr val="454545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3" name="Freeform 315"/>
              <p:cNvSpPr>
                <a:spLocks noChangeArrowheads="1"/>
              </p:cNvSpPr>
              <p:nvPr/>
            </p:nvSpPr>
            <p:spPr bwMode="auto">
              <a:xfrm>
                <a:off x="2523" y="2815"/>
                <a:ext cx="143" cy="185"/>
              </a:xfrm>
              <a:custGeom>
                <a:avLst/>
                <a:gdLst>
                  <a:gd name="T0" fmla="*/ 349 w 349"/>
                  <a:gd name="T1" fmla="*/ 451 h 451"/>
                  <a:gd name="T2" fmla="*/ 328 w 349"/>
                  <a:gd name="T3" fmla="*/ 320 h 451"/>
                  <a:gd name="T4" fmla="*/ 298 w 349"/>
                  <a:gd name="T5" fmla="*/ 248 h 451"/>
                  <a:gd name="T6" fmla="*/ 240 w 349"/>
                  <a:gd name="T7" fmla="*/ 204 h 451"/>
                  <a:gd name="T8" fmla="*/ 88 w 349"/>
                  <a:gd name="T9" fmla="*/ 109 h 451"/>
                  <a:gd name="T10" fmla="*/ 66 w 349"/>
                  <a:gd name="T11" fmla="*/ 51 h 451"/>
                  <a:gd name="T12" fmla="*/ 51 w 349"/>
                  <a:gd name="T13" fmla="*/ 0 h 451"/>
                  <a:gd name="T14" fmla="*/ 0 w 349"/>
                  <a:gd name="T15" fmla="*/ 124 h 451"/>
                  <a:gd name="T16" fmla="*/ 51 w 349"/>
                  <a:gd name="T17" fmla="*/ 233 h 451"/>
                  <a:gd name="T18" fmla="*/ 349 w 349"/>
                  <a:gd name="T19" fmla="*/ 451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9" h="451">
                    <a:moveTo>
                      <a:pt x="349" y="451"/>
                    </a:moveTo>
                    <a:lnTo>
                      <a:pt x="328" y="320"/>
                    </a:lnTo>
                    <a:lnTo>
                      <a:pt x="298" y="248"/>
                    </a:lnTo>
                    <a:lnTo>
                      <a:pt x="240" y="204"/>
                    </a:lnTo>
                    <a:lnTo>
                      <a:pt x="88" y="109"/>
                    </a:lnTo>
                    <a:lnTo>
                      <a:pt x="66" y="51"/>
                    </a:lnTo>
                    <a:lnTo>
                      <a:pt x="51" y="0"/>
                    </a:lnTo>
                    <a:lnTo>
                      <a:pt x="0" y="124"/>
                    </a:lnTo>
                    <a:lnTo>
                      <a:pt x="51" y="233"/>
                    </a:lnTo>
                    <a:lnTo>
                      <a:pt x="349" y="451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4" name="Freeform 316"/>
              <p:cNvSpPr/>
              <p:nvPr/>
            </p:nvSpPr>
            <p:spPr bwMode="auto">
              <a:xfrm>
                <a:off x="2113" y="2318"/>
                <a:ext cx="553" cy="939"/>
              </a:xfrm>
              <a:custGeom>
                <a:avLst/>
                <a:gdLst/>
                <a:ahLst/>
                <a:cxnLst>
                  <a:cxn ang="0">
                    <a:pos x="0" y="52"/>
                  </a:cxn>
                  <a:cxn ang="0">
                    <a:pos x="22" y="22"/>
                  </a:cxn>
                  <a:cxn ang="0">
                    <a:pos x="51" y="4"/>
                  </a:cxn>
                  <a:cxn ang="0">
                    <a:pos x="92" y="0"/>
                  </a:cxn>
                  <a:cxn ang="0">
                    <a:pos x="121" y="15"/>
                  </a:cxn>
                  <a:cxn ang="0">
                    <a:pos x="583" y="323"/>
                  </a:cxn>
                  <a:cxn ang="0">
                    <a:pos x="609" y="356"/>
                  </a:cxn>
                  <a:cxn ang="0">
                    <a:pos x="620" y="389"/>
                  </a:cxn>
                  <a:cxn ang="0">
                    <a:pos x="616" y="433"/>
                  </a:cxn>
                  <a:cxn ang="0">
                    <a:pos x="601" y="481"/>
                  </a:cxn>
                  <a:cxn ang="0">
                    <a:pos x="583" y="522"/>
                  </a:cxn>
                  <a:cxn ang="0">
                    <a:pos x="561" y="569"/>
                  </a:cxn>
                  <a:cxn ang="0">
                    <a:pos x="543" y="624"/>
                  </a:cxn>
                  <a:cxn ang="0">
                    <a:pos x="528" y="665"/>
                  </a:cxn>
                  <a:cxn ang="0">
                    <a:pos x="536" y="694"/>
                  </a:cxn>
                  <a:cxn ang="0">
                    <a:pos x="561" y="713"/>
                  </a:cxn>
                  <a:cxn ang="0">
                    <a:pos x="601" y="734"/>
                  </a:cxn>
                  <a:cxn ang="0">
                    <a:pos x="627" y="753"/>
                  </a:cxn>
                  <a:cxn ang="0">
                    <a:pos x="653" y="768"/>
                  </a:cxn>
                  <a:cxn ang="0">
                    <a:pos x="667" y="789"/>
                  </a:cxn>
                  <a:cxn ang="0">
                    <a:pos x="682" y="815"/>
                  </a:cxn>
                  <a:cxn ang="0">
                    <a:pos x="682" y="852"/>
                  </a:cxn>
                  <a:cxn ang="0">
                    <a:pos x="668" y="891"/>
                  </a:cxn>
                  <a:cxn ang="0">
                    <a:pos x="637" y="912"/>
                  </a:cxn>
                  <a:cxn ang="0">
                    <a:pos x="601" y="926"/>
                  </a:cxn>
                  <a:cxn ang="0">
                    <a:pos x="564" y="922"/>
                  </a:cxn>
                  <a:cxn ang="0">
                    <a:pos x="528" y="915"/>
                  </a:cxn>
                  <a:cxn ang="0">
                    <a:pos x="499" y="907"/>
                  </a:cxn>
                  <a:cxn ang="0">
                    <a:pos x="462" y="900"/>
                  </a:cxn>
                  <a:cxn ang="0">
                    <a:pos x="436" y="907"/>
                  </a:cxn>
                  <a:cxn ang="0">
                    <a:pos x="411" y="918"/>
                  </a:cxn>
                  <a:cxn ang="0">
                    <a:pos x="400" y="936"/>
                  </a:cxn>
                  <a:cxn ang="0">
                    <a:pos x="315" y="1131"/>
                  </a:cxn>
                  <a:cxn ang="0">
                    <a:pos x="294" y="1146"/>
                  </a:cxn>
                  <a:cxn ang="0">
                    <a:pos x="275" y="1153"/>
                  </a:cxn>
                  <a:cxn ang="0">
                    <a:pos x="249" y="1157"/>
                  </a:cxn>
                  <a:cxn ang="0">
                    <a:pos x="228" y="1157"/>
                  </a:cxn>
                  <a:cxn ang="0">
                    <a:pos x="150" y="1128"/>
                  </a:cxn>
                  <a:cxn ang="0">
                    <a:pos x="506" y="367"/>
                  </a:cxn>
                  <a:cxn ang="0">
                    <a:pos x="0" y="52"/>
                  </a:cxn>
                </a:cxnLst>
                <a:rect l="0" t="0" r="r" b="b"/>
                <a:pathLst>
                  <a:path w="682" h="1157">
                    <a:moveTo>
                      <a:pt x="0" y="52"/>
                    </a:moveTo>
                    <a:lnTo>
                      <a:pt x="22" y="22"/>
                    </a:lnTo>
                    <a:lnTo>
                      <a:pt x="51" y="4"/>
                    </a:lnTo>
                    <a:lnTo>
                      <a:pt x="92" y="0"/>
                    </a:lnTo>
                    <a:lnTo>
                      <a:pt x="121" y="15"/>
                    </a:lnTo>
                    <a:lnTo>
                      <a:pt x="583" y="323"/>
                    </a:lnTo>
                    <a:lnTo>
                      <a:pt x="609" y="356"/>
                    </a:lnTo>
                    <a:lnTo>
                      <a:pt x="620" y="389"/>
                    </a:lnTo>
                    <a:lnTo>
                      <a:pt x="616" y="433"/>
                    </a:lnTo>
                    <a:lnTo>
                      <a:pt x="601" y="481"/>
                    </a:lnTo>
                    <a:lnTo>
                      <a:pt x="583" y="522"/>
                    </a:lnTo>
                    <a:lnTo>
                      <a:pt x="561" y="569"/>
                    </a:lnTo>
                    <a:lnTo>
                      <a:pt x="543" y="624"/>
                    </a:lnTo>
                    <a:lnTo>
                      <a:pt x="528" y="665"/>
                    </a:lnTo>
                    <a:lnTo>
                      <a:pt x="536" y="694"/>
                    </a:lnTo>
                    <a:lnTo>
                      <a:pt x="561" y="713"/>
                    </a:lnTo>
                    <a:lnTo>
                      <a:pt x="601" y="734"/>
                    </a:lnTo>
                    <a:lnTo>
                      <a:pt x="627" y="753"/>
                    </a:lnTo>
                    <a:lnTo>
                      <a:pt x="653" y="768"/>
                    </a:lnTo>
                    <a:lnTo>
                      <a:pt x="667" y="789"/>
                    </a:lnTo>
                    <a:lnTo>
                      <a:pt x="682" y="815"/>
                    </a:lnTo>
                    <a:lnTo>
                      <a:pt x="682" y="852"/>
                    </a:lnTo>
                    <a:lnTo>
                      <a:pt x="668" y="891"/>
                    </a:lnTo>
                    <a:lnTo>
                      <a:pt x="637" y="912"/>
                    </a:lnTo>
                    <a:lnTo>
                      <a:pt x="601" y="926"/>
                    </a:lnTo>
                    <a:lnTo>
                      <a:pt x="564" y="922"/>
                    </a:lnTo>
                    <a:lnTo>
                      <a:pt x="528" y="915"/>
                    </a:lnTo>
                    <a:lnTo>
                      <a:pt x="499" y="907"/>
                    </a:lnTo>
                    <a:lnTo>
                      <a:pt x="462" y="900"/>
                    </a:lnTo>
                    <a:lnTo>
                      <a:pt x="436" y="907"/>
                    </a:lnTo>
                    <a:lnTo>
                      <a:pt x="411" y="918"/>
                    </a:lnTo>
                    <a:lnTo>
                      <a:pt x="400" y="936"/>
                    </a:lnTo>
                    <a:lnTo>
                      <a:pt x="315" y="1131"/>
                    </a:lnTo>
                    <a:lnTo>
                      <a:pt x="294" y="1146"/>
                    </a:lnTo>
                    <a:lnTo>
                      <a:pt x="275" y="1153"/>
                    </a:lnTo>
                    <a:lnTo>
                      <a:pt x="249" y="1157"/>
                    </a:lnTo>
                    <a:lnTo>
                      <a:pt x="228" y="1157"/>
                    </a:lnTo>
                    <a:lnTo>
                      <a:pt x="150" y="1128"/>
                    </a:lnTo>
                    <a:lnTo>
                      <a:pt x="506" y="367"/>
                    </a:lnTo>
                    <a:lnTo>
                      <a:pt x="0" y="5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folHlink">
                      <a:gamma/>
                      <a:shade val="46275"/>
                      <a:invGamma/>
                    </a:schemeClr>
                  </a:gs>
                  <a:gs pos="100000">
                    <a:schemeClr val="folHlink"/>
                  </a:gs>
                </a:gsLst>
                <a:lin ang="5400000" scaled="1"/>
              </a:gra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none" anchor="ctr"/>
              <a:lstStyle/>
              <a:p>
                <a:pPr>
                  <a:buFontTx/>
                  <a:buNone/>
                  <a:defRPr/>
                </a:pPr>
                <a:endParaRPr kumimoji="1" lang="zh-CN" altLang="en-US"/>
              </a:p>
            </p:txBody>
          </p:sp>
          <p:sp>
            <p:nvSpPr>
              <p:cNvPr id="215" name="Freeform 317"/>
              <p:cNvSpPr>
                <a:spLocks noChangeArrowheads="1"/>
              </p:cNvSpPr>
              <p:nvPr/>
            </p:nvSpPr>
            <p:spPr bwMode="auto">
              <a:xfrm>
                <a:off x="1862" y="2347"/>
                <a:ext cx="686" cy="889"/>
              </a:xfrm>
              <a:custGeom>
                <a:avLst/>
                <a:gdLst>
                  <a:gd name="T0" fmla="*/ 29 w 1673"/>
                  <a:gd name="T1" fmla="*/ 1353 h 2168"/>
                  <a:gd name="T2" fmla="*/ 596 w 1673"/>
                  <a:gd name="T3" fmla="*/ 44 h 2168"/>
                  <a:gd name="T4" fmla="*/ 640 w 1673"/>
                  <a:gd name="T5" fmla="*/ 22 h 2168"/>
                  <a:gd name="T6" fmla="*/ 684 w 1673"/>
                  <a:gd name="T7" fmla="*/ 0 h 2168"/>
                  <a:gd name="T8" fmla="*/ 734 w 1673"/>
                  <a:gd name="T9" fmla="*/ 0 h 2168"/>
                  <a:gd name="T10" fmla="*/ 793 w 1673"/>
                  <a:gd name="T11" fmla="*/ 22 h 2168"/>
                  <a:gd name="T12" fmla="*/ 1585 w 1673"/>
                  <a:gd name="T13" fmla="*/ 539 h 2168"/>
                  <a:gd name="T14" fmla="*/ 1636 w 1673"/>
                  <a:gd name="T15" fmla="*/ 597 h 2168"/>
                  <a:gd name="T16" fmla="*/ 1665 w 1673"/>
                  <a:gd name="T17" fmla="*/ 670 h 2168"/>
                  <a:gd name="T18" fmla="*/ 1673 w 1673"/>
                  <a:gd name="T19" fmla="*/ 721 h 2168"/>
                  <a:gd name="T20" fmla="*/ 1665 w 1673"/>
                  <a:gd name="T21" fmla="*/ 786 h 2168"/>
                  <a:gd name="T22" fmla="*/ 1105 w 1673"/>
                  <a:gd name="T23" fmla="*/ 2066 h 2168"/>
                  <a:gd name="T24" fmla="*/ 1054 w 1673"/>
                  <a:gd name="T25" fmla="*/ 2139 h 2168"/>
                  <a:gd name="T26" fmla="*/ 1011 w 1673"/>
                  <a:gd name="T27" fmla="*/ 2168 h 2168"/>
                  <a:gd name="T28" fmla="*/ 902 w 1673"/>
                  <a:gd name="T29" fmla="*/ 2161 h 2168"/>
                  <a:gd name="T30" fmla="*/ 94 w 1673"/>
                  <a:gd name="T31" fmla="*/ 1615 h 2168"/>
                  <a:gd name="T32" fmla="*/ 58 w 1673"/>
                  <a:gd name="T33" fmla="*/ 1579 h 2168"/>
                  <a:gd name="T34" fmla="*/ 22 w 1673"/>
                  <a:gd name="T35" fmla="*/ 1521 h 2168"/>
                  <a:gd name="T36" fmla="*/ 0 w 1673"/>
                  <a:gd name="T37" fmla="*/ 1455 h 2168"/>
                  <a:gd name="T38" fmla="*/ 7 w 1673"/>
                  <a:gd name="T39" fmla="*/ 1397 h 2168"/>
                  <a:gd name="T40" fmla="*/ 29 w 1673"/>
                  <a:gd name="T41" fmla="*/ 1353 h 2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73" h="2168">
                    <a:moveTo>
                      <a:pt x="29" y="1353"/>
                    </a:moveTo>
                    <a:lnTo>
                      <a:pt x="596" y="44"/>
                    </a:lnTo>
                    <a:lnTo>
                      <a:pt x="640" y="22"/>
                    </a:lnTo>
                    <a:lnTo>
                      <a:pt x="684" y="0"/>
                    </a:lnTo>
                    <a:lnTo>
                      <a:pt x="734" y="0"/>
                    </a:lnTo>
                    <a:lnTo>
                      <a:pt x="793" y="22"/>
                    </a:lnTo>
                    <a:lnTo>
                      <a:pt x="1585" y="539"/>
                    </a:lnTo>
                    <a:lnTo>
                      <a:pt x="1636" y="597"/>
                    </a:lnTo>
                    <a:lnTo>
                      <a:pt x="1665" y="670"/>
                    </a:lnTo>
                    <a:lnTo>
                      <a:pt x="1673" y="721"/>
                    </a:lnTo>
                    <a:lnTo>
                      <a:pt x="1665" y="786"/>
                    </a:lnTo>
                    <a:lnTo>
                      <a:pt x="1105" y="2066"/>
                    </a:lnTo>
                    <a:lnTo>
                      <a:pt x="1054" y="2139"/>
                    </a:lnTo>
                    <a:lnTo>
                      <a:pt x="1011" y="2168"/>
                    </a:lnTo>
                    <a:lnTo>
                      <a:pt x="902" y="2161"/>
                    </a:lnTo>
                    <a:lnTo>
                      <a:pt x="94" y="1615"/>
                    </a:lnTo>
                    <a:lnTo>
                      <a:pt x="58" y="1579"/>
                    </a:lnTo>
                    <a:lnTo>
                      <a:pt x="22" y="1521"/>
                    </a:lnTo>
                    <a:lnTo>
                      <a:pt x="0" y="1455"/>
                    </a:lnTo>
                    <a:lnTo>
                      <a:pt x="7" y="1397"/>
                    </a:lnTo>
                    <a:lnTo>
                      <a:pt x="29" y="1353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6" name="Freeform 318"/>
              <p:cNvSpPr/>
              <p:nvPr/>
            </p:nvSpPr>
            <p:spPr bwMode="auto">
              <a:xfrm>
                <a:off x="2033" y="2557"/>
                <a:ext cx="334" cy="450"/>
              </a:xfrm>
              <a:custGeom>
                <a:avLst/>
                <a:gdLst/>
                <a:ahLst/>
                <a:cxnLst>
                  <a:cxn ang="0">
                    <a:pos x="3192" y="99"/>
                  </a:cxn>
                  <a:cxn ang="0">
                    <a:pos x="2924" y="18"/>
                  </a:cxn>
                  <a:cxn ang="0">
                    <a:pos x="2634" y="0"/>
                  </a:cxn>
                  <a:cxn ang="0">
                    <a:pos x="2329" y="47"/>
                  </a:cxn>
                  <a:cxn ang="0">
                    <a:pos x="2018" y="158"/>
                  </a:cxn>
                  <a:cxn ang="0">
                    <a:pos x="1708" y="328"/>
                  </a:cxn>
                  <a:cxn ang="0">
                    <a:pos x="1404" y="556"/>
                  </a:cxn>
                  <a:cxn ang="0">
                    <a:pos x="1116" y="835"/>
                  </a:cxn>
                  <a:cxn ang="0">
                    <a:pos x="850" y="1159"/>
                  </a:cxn>
                  <a:cxn ang="0">
                    <a:pos x="611" y="1519"/>
                  </a:cxn>
                  <a:cxn ang="0">
                    <a:pos x="405" y="1908"/>
                  </a:cxn>
                  <a:cxn ang="0">
                    <a:pos x="238" y="2318"/>
                  </a:cxn>
                  <a:cxn ang="0">
                    <a:pos x="113" y="2736"/>
                  </a:cxn>
                  <a:cxn ang="0">
                    <a:pos x="33" y="3155"/>
                  </a:cxn>
                  <a:cxn ang="0">
                    <a:pos x="0" y="3565"/>
                  </a:cxn>
                  <a:cxn ang="0">
                    <a:pos x="15" y="3955"/>
                  </a:cxn>
                  <a:cxn ang="0">
                    <a:pos x="77" y="4316"/>
                  </a:cxn>
                  <a:cxn ang="0">
                    <a:pos x="184" y="4641"/>
                  </a:cxn>
                  <a:cxn ang="0">
                    <a:pos x="336" y="4923"/>
                  </a:cxn>
                  <a:cxn ang="0">
                    <a:pos x="527" y="5152"/>
                  </a:cxn>
                  <a:cxn ang="0">
                    <a:pos x="754" y="5324"/>
                  </a:cxn>
                  <a:cxn ang="0">
                    <a:pos x="1010" y="5437"/>
                  </a:cxn>
                  <a:cxn ang="0">
                    <a:pos x="1290" y="5486"/>
                  </a:cxn>
                  <a:cxn ang="0">
                    <a:pos x="1588" y="5471"/>
                  </a:cxn>
                  <a:cxn ang="0">
                    <a:pos x="1898" y="5392"/>
                  </a:cxn>
                  <a:cxn ang="0">
                    <a:pos x="2209" y="5251"/>
                  </a:cxn>
                  <a:cxn ang="0">
                    <a:pos x="2517" y="5051"/>
                  </a:cxn>
                  <a:cxn ang="0">
                    <a:pos x="2813" y="4797"/>
                  </a:cxn>
                  <a:cxn ang="0">
                    <a:pos x="3092" y="4495"/>
                  </a:cxn>
                  <a:cxn ang="0">
                    <a:pos x="3345" y="4152"/>
                  </a:cxn>
                  <a:cxn ang="0">
                    <a:pos x="3567" y="3776"/>
                  </a:cxn>
                  <a:cxn ang="0">
                    <a:pos x="3755" y="3375"/>
                  </a:cxn>
                  <a:cxn ang="0">
                    <a:pos x="3901" y="2960"/>
                  </a:cxn>
                  <a:cxn ang="0">
                    <a:pos x="4004" y="2540"/>
                  </a:cxn>
                  <a:cxn ang="0">
                    <a:pos x="4061" y="2125"/>
                  </a:cxn>
                  <a:cxn ang="0">
                    <a:pos x="4070" y="1724"/>
                  </a:cxn>
                  <a:cxn ang="0">
                    <a:pos x="4031" y="1347"/>
                  </a:cxn>
                  <a:cxn ang="0">
                    <a:pos x="3947" y="1002"/>
                  </a:cxn>
                  <a:cxn ang="0">
                    <a:pos x="3817" y="698"/>
                  </a:cxn>
                  <a:cxn ang="0">
                    <a:pos x="3645" y="443"/>
                  </a:cxn>
                  <a:cxn ang="0">
                    <a:pos x="3435" y="241"/>
                  </a:cxn>
                  <a:cxn ang="0">
                    <a:pos x="3192" y="99"/>
                  </a:cxn>
                  <a:cxn ang="0">
                    <a:pos x="3194" y="99"/>
                  </a:cxn>
                </a:cxnLst>
                <a:rect l="0" t="0" r="r" b="b"/>
                <a:pathLst>
                  <a:path w="4070" h="5486">
                    <a:moveTo>
                      <a:pt x="3192" y="99"/>
                    </a:moveTo>
                    <a:lnTo>
                      <a:pt x="2924" y="18"/>
                    </a:lnTo>
                    <a:lnTo>
                      <a:pt x="2634" y="0"/>
                    </a:lnTo>
                    <a:lnTo>
                      <a:pt x="2329" y="47"/>
                    </a:lnTo>
                    <a:lnTo>
                      <a:pt x="2018" y="158"/>
                    </a:lnTo>
                    <a:lnTo>
                      <a:pt x="1708" y="328"/>
                    </a:lnTo>
                    <a:lnTo>
                      <a:pt x="1404" y="556"/>
                    </a:lnTo>
                    <a:lnTo>
                      <a:pt x="1116" y="835"/>
                    </a:lnTo>
                    <a:lnTo>
                      <a:pt x="850" y="1159"/>
                    </a:lnTo>
                    <a:lnTo>
                      <a:pt x="611" y="1519"/>
                    </a:lnTo>
                    <a:lnTo>
                      <a:pt x="405" y="1908"/>
                    </a:lnTo>
                    <a:lnTo>
                      <a:pt x="238" y="2318"/>
                    </a:lnTo>
                    <a:lnTo>
                      <a:pt x="113" y="2736"/>
                    </a:lnTo>
                    <a:lnTo>
                      <a:pt x="33" y="3155"/>
                    </a:lnTo>
                    <a:lnTo>
                      <a:pt x="0" y="3565"/>
                    </a:lnTo>
                    <a:lnTo>
                      <a:pt x="15" y="3955"/>
                    </a:lnTo>
                    <a:lnTo>
                      <a:pt x="77" y="4316"/>
                    </a:lnTo>
                    <a:lnTo>
                      <a:pt x="184" y="4641"/>
                    </a:lnTo>
                    <a:lnTo>
                      <a:pt x="336" y="4923"/>
                    </a:lnTo>
                    <a:lnTo>
                      <a:pt x="527" y="5152"/>
                    </a:lnTo>
                    <a:lnTo>
                      <a:pt x="754" y="5324"/>
                    </a:lnTo>
                    <a:lnTo>
                      <a:pt x="1010" y="5437"/>
                    </a:lnTo>
                    <a:lnTo>
                      <a:pt x="1290" y="5486"/>
                    </a:lnTo>
                    <a:lnTo>
                      <a:pt x="1588" y="5471"/>
                    </a:lnTo>
                    <a:lnTo>
                      <a:pt x="1898" y="5392"/>
                    </a:lnTo>
                    <a:lnTo>
                      <a:pt x="2209" y="5251"/>
                    </a:lnTo>
                    <a:lnTo>
                      <a:pt x="2517" y="5051"/>
                    </a:lnTo>
                    <a:lnTo>
                      <a:pt x="2813" y="4797"/>
                    </a:lnTo>
                    <a:lnTo>
                      <a:pt x="3092" y="4495"/>
                    </a:lnTo>
                    <a:lnTo>
                      <a:pt x="3345" y="4152"/>
                    </a:lnTo>
                    <a:lnTo>
                      <a:pt x="3567" y="3776"/>
                    </a:lnTo>
                    <a:lnTo>
                      <a:pt x="3755" y="3375"/>
                    </a:lnTo>
                    <a:lnTo>
                      <a:pt x="3901" y="2960"/>
                    </a:lnTo>
                    <a:lnTo>
                      <a:pt x="4004" y="2540"/>
                    </a:lnTo>
                    <a:lnTo>
                      <a:pt x="4061" y="2125"/>
                    </a:lnTo>
                    <a:lnTo>
                      <a:pt x="4070" y="1724"/>
                    </a:lnTo>
                    <a:lnTo>
                      <a:pt x="4031" y="1347"/>
                    </a:lnTo>
                    <a:lnTo>
                      <a:pt x="3947" y="1002"/>
                    </a:lnTo>
                    <a:lnTo>
                      <a:pt x="3817" y="698"/>
                    </a:lnTo>
                    <a:lnTo>
                      <a:pt x="3645" y="443"/>
                    </a:lnTo>
                    <a:lnTo>
                      <a:pt x="3435" y="241"/>
                    </a:lnTo>
                    <a:lnTo>
                      <a:pt x="3192" y="99"/>
                    </a:lnTo>
                    <a:lnTo>
                      <a:pt x="3194" y="99"/>
                    </a:lnTo>
                  </a:path>
                </a:pathLst>
              </a:custGeom>
              <a:gradFill rotWithShape="0">
                <a:gsLst>
                  <a:gs pos="0">
                    <a:schemeClr val="folHlink">
                      <a:gamma/>
                      <a:shade val="46275"/>
                      <a:invGamma/>
                    </a:schemeClr>
                  </a:gs>
                  <a:gs pos="50000">
                    <a:schemeClr val="folHlink"/>
                  </a:gs>
                  <a:gs pos="100000">
                    <a:schemeClr val="folHlink">
                      <a:gamma/>
                      <a:shade val="46275"/>
                      <a:invGamma/>
                    </a:schemeClr>
                  </a:gs>
                </a:gsLst>
                <a:lin ang="18900000" scaled="1"/>
              </a:gradFill>
              <a:ln w="0">
                <a:noFill/>
                <a:prstDash val="solid"/>
                <a:round/>
              </a:ln>
            </p:spPr>
            <p:txBody>
              <a:bodyPr/>
              <a:lstStyle/>
              <a:p>
                <a:pPr>
                  <a:buFontTx/>
                  <a:buNone/>
                  <a:defRPr/>
                </a:pPr>
                <a:endParaRPr kumimoji="1" lang="zh-CN" altLang="en-US"/>
              </a:p>
            </p:txBody>
          </p:sp>
          <p:sp>
            <p:nvSpPr>
              <p:cNvPr id="217" name="Freeform 319"/>
              <p:cNvSpPr>
                <a:spLocks noChangeArrowheads="1"/>
              </p:cNvSpPr>
              <p:nvPr/>
            </p:nvSpPr>
            <p:spPr bwMode="auto">
              <a:xfrm>
                <a:off x="2440" y="3638"/>
                <a:ext cx="78" cy="50"/>
              </a:xfrm>
              <a:custGeom>
                <a:avLst/>
                <a:gdLst>
                  <a:gd name="T0" fmla="*/ 0 w 946"/>
                  <a:gd name="T1" fmla="*/ 299 h 598"/>
                  <a:gd name="T2" fmla="*/ 5 w 946"/>
                  <a:gd name="T3" fmla="*/ 339 h 598"/>
                  <a:gd name="T4" fmla="*/ 18 w 946"/>
                  <a:gd name="T5" fmla="*/ 380 h 598"/>
                  <a:gd name="T6" fmla="*/ 40 w 946"/>
                  <a:gd name="T7" fmla="*/ 418 h 598"/>
                  <a:gd name="T8" fmla="*/ 69 w 946"/>
                  <a:gd name="T9" fmla="*/ 454 h 598"/>
                  <a:gd name="T10" fmla="*/ 106 w 946"/>
                  <a:gd name="T11" fmla="*/ 488 h 598"/>
                  <a:gd name="T12" fmla="*/ 150 w 946"/>
                  <a:gd name="T13" fmla="*/ 518 h 598"/>
                  <a:gd name="T14" fmla="*/ 201 w 946"/>
                  <a:gd name="T15" fmla="*/ 544 h 598"/>
                  <a:gd name="T16" fmla="*/ 256 w 946"/>
                  <a:gd name="T17" fmla="*/ 565 h 598"/>
                  <a:gd name="T18" fmla="*/ 315 w 946"/>
                  <a:gd name="T19" fmla="*/ 582 h 598"/>
                  <a:gd name="T20" fmla="*/ 377 w 946"/>
                  <a:gd name="T21" fmla="*/ 592 h 598"/>
                  <a:gd name="T22" fmla="*/ 441 w 946"/>
                  <a:gd name="T23" fmla="*/ 598 h 598"/>
                  <a:gd name="T24" fmla="*/ 506 w 946"/>
                  <a:gd name="T25" fmla="*/ 598 h 598"/>
                  <a:gd name="T26" fmla="*/ 569 w 946"/>
                  <a:gd name="T27" fmla="*/ 592 h 598"/>
                  <a:gd name="T28" fmla="*/ 631 w 946"/>
                  <a:gd name="T29" fmla="*/ 582 h 598"/>
                  <a:gd name="T30" fmla="*/ 691 w 946"/>
                  <a:gd name="T31" fmla="*/ 565 h 598"/>
                  <a:gd name="T32" fmla="*/ 746 w 946"/>
                  <a:gd name="T33" fmla="*/ 544 h 598"/>
                  <a:gd name="T34" fmla="*/ 796 w 946"/>
                  <a:gd name="T35" fmla="*/ 518 h 598"/>
                  <a:gd name="T36" fmla="*/ 840 w 946"/>
                  <a:gd name="T37" fmla="*/ 488 h 598"/>
                  <a:gd name="T38" fmla="*/ 877 w 946"/>
                  <a:gd name="T39" fmla="*/ 454 h 598"/>
                  <a:gd name="T40" fmla="*/ 906 w 946"/>
                  <a:gd name="T41" fmla="*/ 418 h 598"/>
                  <a:gd name="T42" fmla="*/ 928 w 946"/>
                  <a:gd name="T43" fmla="*/ 380 h 598"/>
                  <a:gd name="T44" fmla="*/ 941 w 946"/>
                  <a:gd name="T45" fmla="*/ 339 h 598"/>
                  <a:gd name="T46" fmla="*/ 946 w 946"/>
                  <a:gd name="T47" fmla="*/ 299 h 598"/>
                  <a:gd name="T48" fmla="*/ 941 w 946"/>
                  <a:gd name="T49" fmla="*/ 258 h 598"/>
                  <a:gd name="T50" fmla="*/ 928 w 946"/>
                  <a:gd name="T51" fmla="*/ 217 h 598"/>
                  <a:gd name="T52" fmla="*/ 906 w 946"/>
                  <a:gd name="T53" fmla="*/ 179 h 598"/>
                  <a:gd name="T54" fmla="*/ 877 w 946"/>
                  <a:gd name="T55" fmla="*/ 143 h 598"/>
                  <a:gd name="T56" fmla="*/ 840 w 946"/>
                  <a:gd name="T57" fmla="*/ 109 h 598"/>
                  <a:gd name="T58" fmla="*/ 796 w 946"/>
                  <a:gd name="T59" fmla="*/ 80 h 598"/>
                  <a:gd name="T60" fmla="*/ 746 w 946"/>
                  <a:gd name="T61" fmla="*/ 54 h 598"/>
                  <a:gd name="T62" fmla="*/ 691 w 946"/>
                  <a:gd name="T63" fmla="*/ 32 h 598"/>
                  <a:gd name="T64" fmla="*/ 631 w 946"/>
                  <a:gd name="T65" fmla="*/ 17 h 598"/>
                  <a:gd name="T66" fmla="*/ 569 w 946"/>
                  <a:gd name="T67" fmla="*/ 5 h 598"/>
                  <a:gd name="T68" fmla="*/ 506 w 946"/>
                  <a:gd name="T69" fmla="*/ 0 h 598"/>
                  <a:gd name="T70" fmla="*/ 441 w 946"/>
                  <a:gd name="T71" fmla="*/ 0 h 598"/>
                  <a:gd name="T72" fmla="*/ 377 w 946"/>
                  <a:gd name="T73" fmla="*/ 5 h 598"/>
                  <a:gd name="T74" fmla="*/ 315 w 946"/>
                  <a:gd name="T75" fmla="*/ 17 h 598"/>
                  <a:gd name="T76" fmla="*/ 256 w 946"/>
                  <a:gd name="T77" fmla="*/ 32 h 598"/>
                  <a:gd name="T78" fmla="*/ 201 w 946"/>
                  <a:gd name="T79" fmla="*/ 54 h 598"/>
                  <a:gd name="T80" fmla="*/ 150 w 946"/>
                  <a:gd name="T81" fmla="*/ 80 h 598"/>
                  <a:gd name="T82" fmla="*/ 106 w 946"/>
                  <a:gd name="T83" fmla="*/ 109 h 598"/>
                  <a:gd name="T84" fmla="*/ 69 w 946"/>
                  <a:gd name="T85" fmla="*/ 143 h 598"/>
                  <a:gd name="T86" fmla="*/ 40 w 946"/>
                  <a:gd name="T87" fmla="*/ 179 h 598"/>
                  <a:gd name="T88" fmla="*/ 18 w 946"/>
                  <a:gd name="T89" fmla="*/ 217 h 598"/>
                  <a:gd name="T90" fmla="*/ 5 w 946"/>
                  <a:gd name="T91" fmla="*/ 258 h 598"/>
                  <a:gd name="T92" fmla="*/ 0 w 946"/>
                  <a:gd name="T93" fmla="*/ 299 h 598"/>
                  <a:gd name="T94" fmla="*/ 1 w 946"/>
                  <a:gd name="T95" fmla="*/ 299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46" h="598">
                    <a:moveTo>
                      <a:pt x="0" y="299"/>
                    </a:moveTo>
                    <a:lnTo>
                      <a:pt x="5" y="339"/>
                    </a:lnTo>
                    <a:lnTo>
                      <a:pt x="18" y="380"/>
                    </a:lnTo>
                    <a:lnTo>
                      <a:pt x="40" y="418"/>
                    </a:lnTo>
                    <a:lnTo>
                      <a:pt x="69" y="454"/>
                    </a:lnTo>
                    <a:lnTo>
                      <a:pt x="106" y="488"/>
                    </a:lnTo>
                    <a:lnTo>
                      <a:pt x="150" y="518"/>
                    </a:lnTo>
                    <a:lnTo>
                      <a:pt x="201" y="544"/>
                    </a:lnTo>
                    <a:lnTo>
                      <a:pt x="256" y="565"/>
                    </a:lnTo>
                    <a:lnTo>
                      <a:pt x="315" y="582"/>
                    </a:lnTo>
                    <a:lnTo>
                      <a:pt x="377" y="592"/>
                    </a:lnTo>
                    <a:lnTo>
                      <a:pt x="441" y="598"/>
                    </a:lnTo>
                    <a:lnTo>
                      <a:pt x="506" y="598"/>
                    </a:lnTo>
                    <a:lnTo>
                      <a:pt x="569" y="592"/>
                    </a:lnTo>
                    <a:lnTo>
                      <a:pt x="631" y="582"/>
                    </a:lnTo>
                    <a:lnTo>
                      <a:pt x="691" y="565"/>
                    </a:lnTo>
                    <a:lnTo>
                      <a:pt x="746" y="544"/>
                    </a:lnTo>
                    <a:lnTo>
                      <a:pt x="796" y="518"/>
                    </a:lnTo>
                    <a:lnTo>
                      <a:pt x="840" y="488"/>
                    </a:lnTo>
                    <a:lnTo>
                      <a:pt x="877" y="454"/>
                    </a:lnTo>
                    <a:lnTo>
                      <a:pt x="906" y="418"/>
                    </a:lnTo>
                    <a:lnTo>
                      <a:pt x="928" y="380"/>
                    </a:lnTo>
                    <a:lnTo>
                      <a:pt x="941" y="339"/>
                    </a:lnTo>
                    <a:lnTo>
                      <a:pt x="946" y="299"/>
                    </a:lnTo>
                    <a:lnTo>
                      <a:pt x="941" y="258"/>
                    </a:lnTo>
                    <a:lnTo>
                      <a:pt x="928" y="217"/>
                    </a:lnTo>
                    <a:lnTo>
                      <a:pt x="906" y="179"/>
                    </a:lnTo>
                    <a:lnTo>
                      <a:pt x="877" y="143"/>
                    </a:lnTo>
                    <a:lnTo>
                      <a:pt x="840" y="109"/>
                    </a:lnTo>
                    <a:lnTo>
                      <a:pt x="796" y="80"/>
                    </a:lnTo>
                    <a:lnTo>
                      <a:pt x="746" y="54"/>
                    </a:lnTo>
                    <a:lnTo>
                      <a:pt x="691" y="32"/>
                    </a:lnTo>
                    <a:lnTo>
                      <a:pt x="631" y="17"/>
                    </a:lnTo>
                    <a:lnTo>
                      <a:pt x="569" y="5"/>
                    </a:lnTo>
                    <a:lnTo>
                      <a:pt x="506" y="0"/>
                    </a:lnTo>
                    <a:lnTo>
                      <a:pt x="441" y="0"/>
                    </a:lnTo>
                    <a:lnTo>
                      <a:pt x="377" y="5"/>
                    </a:lnTo>
                    <a:lnTo>
                      <a:pt x="315" y="17"/>
                    </a:lnTo>
                    <a:lnTo>
                      <a:pt x="256" y="32"/>
                    </a:lnTo>
                    <a:lnTo>
                      <a:pt x="201" y="54"/>
                    </a:lnTo>
                    <a:lnTo>
                      <a:pt x="150" y="80"/>
                    </a:lnTo>
                    <a:lnTo>
                      <a:pt x="106" y="109"/>
                    </a:lnTo>
                    <a:lnTo>
                      <a:pt x="69" y="143"/>
                    </a:lnTo>
                    <a:lnTo>
                      <a:pt x="40" y="179"/>
                    </a:lnTo>
                    <a:lnTo>
                      <a:pt x="18" y="217"/>
                    </a:lnTo>
                    <a:lnTo>
                      <a:pt x="5" y="258"/>
                    </a:lnTo>
                    <a:lnTo>
                      <a:pt x="0" y="299"/>
                    </a:lnTo>
                    <a:lnTo>
                      <a:pt x="1" y="299"/>
                    </a:lnTo>
                  </a:path>
                </a:pathLst>
              </a:custGeom>
              <a:gradFill rotWithShape="0">
                <a:gsLst>
                  <a:gs pos="0">
                    <a:srgbClr val="454545"/>
                  </a:gs>
                  <a:gs pos="50000">
                    <a:srgbClr val="969696"/>
                  </a:gs>
                  <a:gs pos="100000">
                    <a:srgbClr val="454545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8" name="Freeform 320"/>
              <p:cNvSpPr>
                <a:spLocks noChangeArrowheads="1"/>
              </p:cNvSpPr>
              <p:nvPr/>
            </p:nvSpPr>
            <p:spPr bwMode="auto">
              <a:xfrm rot="1656335">
                <a:off x="2523" y="2957"/>
                <a:ext cx="101" cy="67"/>
              </a:xfrm>
              <a:custGeom>
                <a:avLst/>
                <a:gdLst>
                  <a:gd name="T0" fmla="*/ 5 w 1227"/>
                  <a:gd name="T1" fmla="*/ 523 h 828"/>
                  <a:gd name="T2" fmla="*/ 21 w 1227"/>
                  <a:gd name="T3" fmla="*/ 580 h 828"/>
                  <a:gd name="T4" fmla="*/ 51 w 1227"/>
                  <a:gd name="T5" fmla="*/ 633 h 828"/>
                  <a:gd name="T6" fmla="*/ 93 w 1227"/>
                  <a:gd name="T7" fmla="*/ 682 h 828"/>
                  <a:gd name="T8" fmla="*/ 144 w 1227"/>
                  <a:gd name="T9" fmla="*/ 725 h 828"/>
                  <a:gd name="T10" fmla="*/ 208 w 1227"/>
                  <a:gd name="T11" fmla="*/ 761 h 828"/>
                  <a:gd name="T12" fmla="*/ 279 w 1227"/>
                  <a:gd name="T13" fmla="*/ 790 h 828"/>
                  <a:gd name="T14" fmla="*/ 358 w 1227"/>
                  <a:gd name="T15" fmla="*/ 811 h 828"/>
                  <a:gd name="T16" fmla="*/ 441 w 1227"/>
                  <a:gd name="T17" fmla="*/ 823 h 828"/>
                  <a:gd name="T18" fmla="*/ 529 w 1227"/>
                  <a:gd name="T19" fmla="*/ 828 h 828"/>
                  <a:gd name="T20" fmla="*/ 619 w 1227"/>
                  <a:gd name="T21" fmla="*/ 822 h 828"/>
                  <a:gd name="T22" fmla="*/ 708 w 1227"/>
                  <a:gd name="T23" fmla="*/ 808 h 828"/>
                  <a:gd name="T24" fmla="*/ 796 w 1227"/>
                  <a:gd name="T25" fmla="*/ 786 h 828"/>
                  <a:gd name="T26" fmla="*/ 878 w 1227"/>
                  <a:gd name="T27" fmla="*/ 755 h 828"/>
                  <a:gd name="T28" fmla="*/ 956 w 1227"/>
                  <a:gd name="T29" fmla="*/ 718 h 828"/>
                  <a:gd name="T30" fmla="*/ 1027 w 1227"/>
                  <a:gd name="T31" fmla="*/ 674 h 828"/>
                  <a:gd name="T32" fmla="*/ 1089 w 1227"/>
                  <a:gd name="T33" fmla="*/ 624 h 828"/>
                  <a:gd name="T34" fmla="*/ 1140 w 1227"/>
                  <a:gd name="T35" fmla="*/ 570 h 828"/>
                  <a:gd name="T36" fmla="*/ 1181 w 1227"/>
                  <a:gd name="T37" fmla="*/ 513 h 828"/>
                  <a:gd name="T38" fmla="*/ 1209 w 1227"/>
                  <a:gd name="T39" fmla="*/ 453 h 828"/>
                  <a:gd name="T40" fmla="*/ 1225 w 1227"/>
                  <a:gd name="T41" fmla="*/ 393 h 828"/>
                  <a:gd name="T42" fmla="*/ 1227 w 1227"/>
                  <a:gd name="T43" fmla="*/ 333 h 828"/>
                  <a:gd name="T44" fmla="*/ 1217 w 1227"/>
                  <a:gd name="T45" fmla="*/ 274 h 828"/>
                  <a:gd name="T46" fmla="*/ 1193 w 1227"/>
                  <a:gd name="T47" fmla="*/ 219 h 828"/>
                  <a:gd name="T48" fmla="*/ 1158 w 1227"/>
                  <a:gd name="T49" fmla="*/ 168 h 828"/>
                  <a:gd name="T50" fmla="*/ 1111 w 1227"/>
                  <a:gd name="T51" fmla="*/ 122 h 828"/>
                  <a:gd name="T52" fmla="*/ 1053 w 1227"/>
                  <a:gd name="T53" fmla="*/ 83 h 828"/>
                  <a:gd name="T54" fmla="*/ 985 w 1227"/>
                  <a:gd name="T55" fmla="*/ 50 h 828"/>
                  <a:gd name="T56" fmla="*/ 911 w 1227"/>
                  <a:gd name="T57" fmla="*/ 25 h 828"/>
                  <a:gd name="T58" fmla="*/ 829 w 1227"/>
                  <a:gd name="T59" fmla="*/ 8 h 828"/>
                  <a:gd name="T60" fmla="*/ 743 w 1227"/>
                  <a:gd name="T61" fmla="*/ 0 h 828"/>
                  <a:gd name="T62" fmla="*/ 655 w 1227"/>
                  <a:gd name="T63" fmla="*/ 1 h 828"/>
                  <a:gd name="T64" fmla="*/ 564 w 1227"/>
                  <a:gd name="T65" fmla="*/ 10 h 828"/>
                  <a:gd name="T66" fmla="*/ 476 w 1227"/>
                  <a:gd name="T67" fmla="*/ 28 h 828"/>
                  <a:gd name="T68" fmla="*/ 391 w 1227"/>
                  <a:gd name="T69" fmla="*/ 56 h 828"/>
                  <a:gd name="T70" fmla="*/ 309 w 1227"/>
                  <a:gd name="T71" fmla="*/ 89 h 828"/>
                  <a:gd name="T72" fmla="*/ 235 w 1227"/>
                  <a:gd name="T73" fmla="*/ 130 h 828"/>
                  <a:gd name="T74" fmla="*/ 169 w 1227"/>
                  <a:gd name="T75" fmla="*/ 176 h 828"/>
                  <a:gd name="T76" fmla="*/ 112 w 1227"/>
                  <a:gd name="T77" fmla="*/ 228 h 828"/>
                  <a:gd name="T78" fmla="*/ 65 w 1227"/>
                  <a:gd name="T79" fmla="*/ 285 h 828"/>
                  <a:gd name="T80" fmla="*/ 32 w 1227"/>
                  <a:gd name="T81" fmla="*/ 343 h 828"/>
                  <a:gd name="T82" fmla="*/ 9 w 1227"/>
                  <a:gd name="T83" fmla="*/ 403 h 828"/>
                  <a:gd name="T84" fmla="*/ 0 w 1227"/>
                  <a:gd name="T85" fmla="*/ 464 h 828"/>
                  <a:gd name="T86" fmla="*/ 5 w 1227"/>
                  <a:gd name="T87" fmla="*/ 523 h 828"/>
                  <a:gd name="T88" fmla="*/ 6 w 1227"/>
                  <a:gd name="T89" fmla="*/ 523 h 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27" h="828">
                    <a:moveTo>
                      <a:pt x="5" y="523"/>
                    </a:moveTo>
                    <a:lnTo>
                      <a:pt x="21" y="580"/>
                    </a:lnTo>
                    <a:lnTo>
                      <a:pt x="51" y="633"/>
                    </a:lnTo>
                    <a:lnTo>
                      <a:pt x="93" y="682"/>
                    </a:lnTo>
                    <a:lnTo>
                      <a:pt x="144" y="725"/>
                    </a:lnTo>
                    <a:lnTo>
                      <a:pt x="208" y="761"/>
                    </a:lnTo>
                    <a:lnTo>
                      <a:pt x="279" y="790"/>
                    </a:lnTo>
                    <a:lnTo>
                      <a:pt x="358" y="811"/>
                    </a:lnTo>
                    <a:lnTo>
                      <a:pt x="441" y="823"/>
                    </a:lnTo>
                    <a:lnTo>
                      <a:pt x="529" y="828"/>
                    </a:lnTo>
                    <a:lnTo>
                      <a:pt x="619" y="822"/>
                    </a:lnTo>
                    <a:lnTo>
                      <a:pt x="708" y="808"/>
                    </a:lnTo>
                    <a:lnTo>
                      <a:pt x="796" y="786"/>
                    </a:lnTo>
                    <a:lnTo>
                      <a:pt x="878" y="755"/>
                    </a:lnTo>
                    <a:lnTo>
                      <a:pt x="956" y="718"/>
                    </a:lnTo>
                    <a:lnTo>
                      <a:pt x="1027" y="674"/>
                    </a:lnTo>
                    <a:lnTo>
                      <a:pt x="1089" y="624"/>
                    </a:lnTo>
                    <a:lnTo>
                      <a:pt x="1140" y="570"/>
                    </a:lnTo>
                    <a:lnTo>
                      <a:pt x="1181" y="513"/>
                    </a:lnTo>
                    <a:lnTo>
                      <a:pt x="1209" y="453"/>
                    </a:lnTo>
                    <a:lnTo>
                      <a:pt x="1225" y="393"/>
                    </a:lnTo>
                    <a:lnTo>
                      <a:pt x="1227" y="333"/>
                    </a:lnTo>
                    <a:lnTo>
                      <a:pt x="1217" y="274"/>
                    </a:lnTo>
                    <a:lnTo>
                      <a:pt x="1193" y="219"/>
                    </a:lnTo>
                    <a:lnTo>
                      <a:pt x="1158" y="168"/>
                    </a:lnTo>
                    <a:lnTo>
                      <a:pt x="1111" y="122"/>
                    </a:lnTo>
                    <a:lnTo>
                      <a:pt x="1053" y="83"/>
                    </a:lnTo>
                    <a:lnTo>
                      <a:pt x="985" y="50"/>
                    </a:lnTo>
                    <a:lnTo>
                      <a:pt x="911" y="25"/>
                    </a:lnTo>
                    <a:lnTo>
                      <a:pt x="829" y="8"/>
                    </a:lnTo>
                    <a:lnTo>
                      <a:pt x="743" y="0"/>
                    </a:lnTo>
                    <a:lnTo>
                      <a:pt x="655" y="1"/>
                    </a:lnTo>
                    <a:lnTo>
                      <a:pt x="564" y="10"/>
                    </a:lnTo>
                    <a:lnTo>
                      <a:pt x="476" y="28"/>
                    </a:lnTo>
                    <a:lnTo>
                      <a:pt x="391" y="56"/>
                    </a:lnTo>
                    <a:lnTo>
                      <a:pt x="309" y="89"/>
                    </a:lnTo>
                    <a:lnTo>
                      <a:pt x="235" y="130"/>
                    </a:lnTo>
                    <a:lnTo>
                      <a:pt x="169" y="176"/>
                    </a:lnTo>
                    <a:lnTo>
                      <a:pt x="112" y="228"/>
                    </a:lnTo>
                    <a:lnTo>
                      <a:pt x="65" y="285"/>
                    </a:lnTo>
                    <a:lnTo>
                      <a:pt x="32" y="343"/>
                    </a:lnTo>
                    <a:lnTo>
                      <a:pt x="9" y="403"/>
                    </a:lnTo>
                    <a:lnTo>
                      <a:pt x="0" y="464"/>
                    </a:lnTo>
                    <a:lnTo>
                      <a:pt x="5" y="523"/>
                    </a:lnTo>
                    <a:lnTo>
                      <a:pt x="6" y="523"/>
                    </a:lnTo>
                  </a:path>
                </a:pathLst>
              </a:custGeom>
              <a:gradFill rotWithShape="0">
                <a:gsLst>
                  <a:gs pos="0">
                    <a:srgbClr val="454545"/>
                  </a:gs>
                  <a:gs pos="50000">
                    <a:srgbClr val="969696"/>
                  </a:gs>
                  <a:gs pos="100000">
                    <a:srgbClr val="454545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9" name="Freeform 321"/>
              <p:cNvSpPr>
                <a:spLocks noChangeArrowheads="1"/>
              </p:cNvSpPr>
              <p:nvPr/>
            </p:nvSpPr>
            <p:spPr bwMode="auto">
              <a:xfrm>
                <a:off x="2125" y="2411"/>
                <a:ext cx="66" cy="89"/>
              </a:xfrm>
              <a:custGeom>
                <a:avLst/>
                <a:gdLst>
                  <a:gd name="T0" fmla="*/ 639 w 814"/>
                  <a:gd name="T1" fmla="*/ 20 h 1097"/>
                  <a:gd name="T2" fmla="*/ 584 w 814"/>
                  <a:gd name="T3" fmla="*/ 3 h 1097"/>
                  <a:gd name="T4" fmla="*/ 526 w 814"/>
                  <a:gd name="T5" fmla="*/ 0 h 1097"/>
                  <a:gd name="T6" fmla="*/ 466 w 814"/>
                  <a:gd name="T7" fmla="*/ 10 h 1097"/>
                  <a:gd name="T8" fmla="*/ 403 w 814"/>
                  <a:gd name="T9" fmla="*/ 31 h 1097"/>
                  <a:gd name="T10" fmla="*/ 341 w 814"/>
                  <a:gd name="T11" fmla="*/ 65 h 1097"/>
                  <a:gd name="T12" fmla="*/ 281 w 814"/>
                  <a:gd name="T13" fmla="*/ 111 h 1097"/>
                  <a:gd name="T14" fmla="*/ 223 w 814"/>
                  <a:gd name="T15" fmla="*/ 167 h 1097"/>
                  <a:gd name="T16" fmla="*/ 169 w 814"/>
                  <a:gd name="T17" fmla="*/ 231 h 1097"/>
                  <a:gd name="T18" fmla="*/ 122 w 814"/>
                  <a:gd name="T19" fmla="*/ 303 h 1097"/>
                  <a:gd name="T20" fmla="*/ 81 w 814"/>
                  <a:gd name="T21" fmla="*/ 381 h 1097"/>
                  <a:gd name="T22" fmla="*/ 47 w 814"/>
                  <a:gd name="T23" fmla="*/ 463 h 1097"/>
                  <a:gd name="T24" fmla="*/ 22 w 814"/>
                  <a:gd name="T25" fmla="*/ 547 h 1097"/>
                  <a:gd name="T26" fmla="*/ 6 w 814"/>
                  <a:gd name="T27" fmla="*/ 630 h 1097"/>
                  <a:gd name="T28" fmla="*/ 0 w 814"/>
                  <a:gd name="T29" fmla="*/ 713 h 1097"/>
                  <a:gd name="T30" fmla="*/ 2 w 814"/>
                  <a:gd name="T31" fmla="*/ 791 h 1097"/>
                  <a:gd name="T32" fmla="*/ 14 w 814"/>
                  <a:gd name="T33" fmla="*/ 863 h 1097"/>
                  <a:gd name="T34" fmla="*/ 37 w 814"/>
                  <a:gd name="T35" fmla="*/ 928 h 1097"/>
                  <a:gd name="T36" fmla="*/ 66 w 814"/>
                  <a:gd name="T37" fmla="*/ 984 h 1097"/>
                  <a:gd name="T38" fmla="*/ 105 w 814"/>
                  <a:gd name="T39" fmla="*/ 1030 h 1097"/>
                  <a:gd name="T40" fmla="*/ 150 w 814"/>
                  <a:gd name="T41" fmla="*/ 1065 h 1097"/>
                  <a:gd name="T42" fmla="*/ 202 w 814"/>
                  <a:gd name="T43" fmla="*/ 1088 h 1097"/>
                  <a:gd name="T44" fmla="*/ 258 w 814"/>
                  <a:gd name="T45" fmla="*/ 1097 h 1097"/>
                  <a:gd name="T46" fmla="*/ 317 w 814"/>
                  <a:gd name="T47" fmla="*/ 1094 h 1097"/>
                  <a:gd name="T48" fmla="*/ 379 w 814"/>
                  <a:gd name="T49" fmla="*/ 1079 h 1097"/>
                  <a:gd name="T50" fmla="*/ 441 w 814"/>
                  <a:gd name="T51" fmla="*/ 1050 h 1097"/>
                  <a:gd name="T52" fmla="*/ 503 w 814"/>
                  <a:gd name="T53" fmla="*/ 1010 h 1097"/>
                  <a:gd name="T54" fmla="*/ 562 w 814"/>
                  <a:gd name="T55" fmla="*/ 959 h 1097"/>
                  <a:gd name="T56" fmla="*/ 618 w 814"/>
                  <a:gd name="T57" fmla="*/ 899 h 1097"/>
                  <a:gd name="T58" fmla="*/ 668 w 814"/>
                  <a:gd name="T59" fmla="*/ 830 h 1097"/>
                  <a:gd name="T60" fmla="*/ 713 w 814"/>
                  <a:gd name="T61" fmla="*/ 755 h 1097"/>
                  <a:gd name="T62" fmla="*/ 750 w 814"/>
                  <a:gd name="T63" fmla="*/ 674 h 1097"/>
                  <a:gd name="T64" fmla="*/ 780 w 814"/>
                  <a:gd name="T65" fmla="*/ 592 h 1097"/>
                  <a:gd name="T66" fmla="*/ 800 w 814"/>
                  <a:gd name="T67" fmla="*/ 507 h 1097"/>
                  <a:gd name="T68" fmla="*/ 811 w 814"/>
                  <a:gd name="T69" fmla="*/ 425 h 1097"/>
                  <a:gd name="T70" fmla="*/ 814 w 814"/>
                  <a:gd name="T71" fmla="*/ 345 h 1097"/>
                  <a:gd name="T72" fmla="*/ 806 w 814"/>
                  <a:gd name="T73" fmla="*/ 269 h 1097"/>
                  <a:gd name="T74" fmla="*/ 789 w 814"/>
                  <a:gd name="T75" fmla="*/ 200 h 1097"/>
                  <a:gd name="T76" fmla="*/ 763 w 814"/>
                  <a:gd name="T77" fmla="*/ 140 h 1097"/>
                  <a:gd name="T78" fmla="*/ 729 w 814"/>
                  <a:gd name="T79" fmla="*/ 89 h 1097"/>
                  <a:gd name="T80" fmla="*/ 686 w 814"/>
                  <a:gd name="T81" fmla="*/ 48 h 1097"/>
                  <a:gd name="T82" fmla="*/ 639 w 814"/>
                  <a:gd name="T83" fmla="*/ 20 h 1097"/>
                  <a:gd name="T84" fmla="*/ 640 w 814"/>
                  <a:gd name="T85" fmla="*/ 20 h 10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14" h="1097">
                    <a:moveTo>
                      <a:pt x="639" y="20"/>
                    </a:moveTo>
                    <a:lnTo>
                      <a:pt x="584" y="3"/>
                    </a:lnTo>
                    <a:lnTo>
                      <a:pt x="526" y="0"/>
                    </a:lnTo>
                    <a:lnTo>
                      <a:pt x="466" y="10"/>
                    </a:lnTo>
                    <a:lnTo>
                      <a:pt x="403" y="31"/>
                    </a:lnTo>
                    <a:lnTo>
                      <a:pt x="341" y="65"/>
                    </a:lnTo>
                    <a:lnTo>
                      <a:pt x="281" y="111"/>
                    </a:lnTo>
                    <a:lnTo>
                      <a:pt x="223" y="167"/>
                    </a:lnTo>
                    <a:lnTo>
                      <a:pt x="169" y="231"/>
                    </a:lnTo>
                    <a:lnTo>
                      <a:pt x="122" y="303"/>
                    </a:lnTo>
                    <a:lnTo>
                      <a:pt x="81" y="381"/>
                    </a:lnTo>
                    <a:lnTo>
                      <a:pt x="47" y="463"/>
                    </a:lnTo>
                    <a:lnTo>
                      <a:pt x="22" y="547"/>
                    </a:lnTo>
                    <a:lnTo>
                      <a:pt x="6" y="630"/>
                    </a:lnTo>
                    <a:lnTo>
                      <a:pt x="0" y="713"/>
                    </a:lnTo>
                    <a:lnTo>
                      <a:pt x="2" y="791"/>
                    </a:lnTo>
                    <a:lnTo>
                      <a:pt x="14" y="863"/>
                    </a:lnTo>
                    <a:lnTo>
                      <a:pt x="37" y="928"/>
                    </a:lnTo>
                    <a:lnTo>
                      <a:pt x="66" y="984"/>
                    </a:lnTo>
                    <a:lnTo>
                      <a:pt x="105" y="1030"/>
                    </a:lnTo>
                    <a:lnTo>
                      <a:pt x="150" y="1065"/>
                    </a:lnTo>
                    <a:lnTo>
                      <a:pt x="202" y="1088"/>
                    </a:lnTo>
                    <a:lnTo>
                      <a:pt x="258" y="1097"/>
                    </a:lnTo>
                    <a:lnTo>
                      <a:pt x="317" y="1094"/>
                    </a:lnTo>
                    <a:lnTo>
                      <a:pt x="379" y="1079"/>
                    </a:lnTo>
                    <a:lnTo>
                      <a:pt x="441" y="1050"/>
                    </a:lnTo>
                    <a:lnTo>
                      <a:pt x="503" y="1010"/>
                    </a:lnTo>
                    <a:lnTo>
                      <a:pt x="562" y="959"/>
                    </a:lnTo>
                    <a:lnTo>
                      <a:pt x="618" y="899"/>
                    </a:lnTo>
                    <a:lnTo>
                      <a:pt x="668" y="830"/>
                    </a:lnTo>
                    <a:lnTo>
                      <a:pt x="713" y="755"/>
                    </a:lnTo>
                    <a:lnTo>
                      <a:pt x="750" y="674"/>
                    </a:lnTo>
                    <a:lnTo>
                      <a:pt x="780" y="592"/>
                    </a:lnTo>
                    <a:lnTo>
                      <a:pt x="800" y="507"/>
                    </a:lnTo>
                    <a:lnTo>
                      <a:pt x="811" y="425"/>
                    </a:lnTo>
                    <a:lnTo>
                      <a:pt x="814" y="345"/>
                    </a:lnTo>
                    <a:lnTo>
                      <a:pt x="806" y="269"/>
                    </a:lnTo>
                    <a:lnTo>
                      <a:pt x="789" y="200"/>
                    </a:lnTo>
                    <a:lnTo>
                      <a:pt x="763" y="140"/>
                    </a:lnTo>
                    <a:lnTo>
                      <a:pt x="729" y="89"/>
                    </a:lnTo>
                    <a:lnTo>
                      <a:pt x="686" y="48"/>
                    </a:lnTo>
                    <a:lnTo>
                      <a:pt x="639" y="20"/>
                    </a:lnTo>
                    <a:lnTo>
                      <a:pt x="640" y="20"/>
                    </a:lnTo>
                  </a:path>
                </a:pathLst>
              </a:custGeom>
              <a:gradFill rotWithShape="0">
                <a:gsLst>
                  <a:gs pos="0">
                    <a:srgbClr val="454545"/>
                  </a:gs>
                  <a:gs pos="50000">
                    <a:srgbClr val="969696"/>
                  </a:gs>
                  <a:gs pos="100000">
                    <a:srgbClr val="454545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0" name="Freeform 322"/>
              <p:cNvSpPr>
                <a:spLocks noChangeArrowheads="1"/>
              </p:cNvSpPr>
              <p:nvPr/>
            </p:nvSpPr>
            <p:spPr bwMode="auto">
              <a:xfrm>
                <a:off x="2220" y="3079"/>
                <a:ext cx="67" cy="89"/>
              </a:xfrm>
              <a:custGeom>
                <a:avLst/>
                <a:gdLst>
                  <a:gd name="T0" fmla="*/ 639 w 814"/>
                  <a:gd name="T1" fmla="*/ 20 h 1097"/>
                  <a:gd name="T2" fmla="*/ 584 w 814"/>
                  <a:gd name="T3" fmla="*/ 3 h 1097"/>
                  <a:gd name="T4" fmla="*/ 526 w 814"/>
                  <a:gd name="T5" fmla="*/ 0 h 1097"/>
                  <a:gd name="T6" fmla="*/ 466 w 814"/>
                  <a:gd name="T7" fmla="*/ 10 h 1097"/>
                  <a:gd name="T8" fmla="*/ 403 w 814"/>
                  <a:gd name="T9" fmla="*/ 31 h 1097"/>
                  <a:gd name="T10" fmla="*/ 341 w 814"/>
                  <a:gd name="T11" fmla="*/ 65 h 1097"/>
                  <a:gd name="T12" fmla="*/ 281 w 814"/>
                  <a:gd name="T13" fmla="*/ 111 h 1097"/>
                  <a:gd name="T14" fmla="*/ 223 w 814"/>
                  <a:gd name="T15" fmla="*/ 167 h 1097"/>
                  <a:gd name="T16" fmla="*/ 169 w 814"/>
                  <a:gd name="T17" fmla="*/ 231 h 1097"/>
                  <a:gd name="T18" fmla="*/ 122 w 814"/>
                  <a:gd name="T19" fmla="*/ 303 h 1097"/>
                  <a:gd name="T20" fmla="*/ 81 w 814"/>
                  <a:gd name="T21" fmla="*/ 381 h 1097"/>
                  <a:gd name="T22" fmla="*/ 47 w 814"/>
                  <a:gd name="T23" fmla="*/ 463 h 1097"/>
                  <a:gd name="T24" fmla="*/ 22 w 814"/>
                  <a:gd name="T25" fmla="*/ 547 h 1097"/>
                  <a:gd name="T26" fmla="*/ 6 w 814"/>
                  <a:gd name="T27" fmla="*/ 630 h 1097"/>
                  <a:gd name="T28" fmla="*/ 0 w 814"/>
                  <a:gd name="T29" fmla="*/ 713 h 1097"/>
                  <a:gd name="T30" fmla="*/ 2 w 814"/>
                  <a:gd name="T31" fmla="*/ 791 h 1097"/>
                  <a:gd name="T32" fmla="*/ 14 w 814"/>
                  <a:gd name="T33" fmla="*/ 863 h 1097"/>
                  <a:gd name="T34" fmla="*/ 37 w 814"/>
                  <a:gd name="T35" fmla="*/ 928 h 1097"/>
                  <a:gd name="T36" fmla="*/ 66 w 814"/>
                  <a:gd name="T37" fmla="*/ 984 h 1097"/>
                  <a:gd name="T38" fmla="*/ 105 w 814"/>
                  <a:gd name="T39" fmla="*/ 1030 h 1097"/>
                  <a:gd name="T40" fmla="*/ 150 w 814"/>
                  <a:gd name="T41" fmla="*/ 1065 h 1097"/>
                  <a:gd name="T42" fmla="*/ 202 w 814"/>
                  <a:gd name="T43" fmla="*/ 1088 h 1097"/>
                  <a:gd name="T44" fmla="*/ 258 w 814"/>
                  <a:gd name="T45" fmla="*/ 1097 h 1097"/>
                  <a:gd name="T46" fmla="*/ 317 w 814"/>
                  <a:gd name="T47" fmla="*/ 1094 h 1097"/>
                  <a:gd name="T48" fmla="*/ 379 w 814"/>
                  <a:gd name="T49" fmla="*/ 1079 h 1097"/>
                  <a:gd name="T50" fmla="*/ 441 w 814"/>
                  <a:gd name="T51" fmla="*/ 1050 h 1097"/>
                  <a:gd name="T52" fmla="*/ 503 w 814"/>
                  <a:gd name="T53" fmla="*/ 1010 h 1097"/>
                  <a:gd name="T54" fmla="*/ 562 w 814"/>
                  <a:gd name="T55" fmla="*/ 959 h 1097"/>
                  <a:gd name="T56" fmla="*/ 618 w 814"/>
                  <a:gd name="T57" fmla="*/ 899 h 1097"/>
                  <a:gd name="T58" fmla="*/ 668 w 814"/>
                  <a:gd name="T59" fmla="*/ 830 h 1097"/>
                  <a:gd name="T60" fmla="*/ 713 w 814"/>
                  <a:gd name="T61" fmla="*/ 755 h 1097"/>
                  <a:gd name="T62" fmla="*/ 750 w 814"/>
                  <a:gd name="T63" fmla="*/ 674 h 1097"/>
                  <a:gd name="T64" fmla="*/ 780 w 814"/>
                  <a:gd name="T65" fmla="*/ 592 h 1097"/>
                  <a:gd name="T66" fmla="*/ 800 w 814"/>
                  <a:gd name="T67" fmla="*/ 507 h 1097"/>
                  <a:gd name="T68" fmla="*/ 811 w 814"/>
                  <a:gd name="T69" fmla="*/ 425 h 1097"/>
                  <a:gd name="T70" fmla="*/ 814 w 814"/>
                  <a:gd name="T71" fmla="*/ 345 h 1097"/>
                  <a:gd name="T72" fmla="*/ 806 w 814"/>
                  <a:gd name="T73" fmla="*/ 269 h 1097"/>
                  <a:gd name="T74" fmla="*/ 789 w 814"/>
                  <a:gd name="T75" fmla="*/ 200 h 1097"/>
                  <a:gd name="T76" fmla="*/ 763 w 814"/>
                  <a:gd name="T77" fmla="*/ 140 h 1097"/>
                  <a:gd name="T78" fmla="*/ 729 w 814"/>
                  <a:gd name="T79" fmla="*/ 89 h 1097"/>
                  <a:gd name="T80" fmla="*/ 686 w 814"/>
                  <a:gd name="T81" fmla="*/ 48 h 1097"/>
                  <a:gd name="T82" fmla="*/ 639 w 814"/>
                  <a:gd name="T83" fmla="*/ 20 h 1097"/>
                  <a:gd name="T84" fmla="*/ 640 w 814"/>
                  <a:gd name="T85" fmla="*/ 20 h 10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14" h="1097">
                    <a:moveTo>
                      <a:pt x="639" y="20"/>
                    </a:moveTo>
                    <a:lnTo>
                      <a:pt x="584" y="3"/>
                    </a:lnTo>
                    <a:lnTo>
                      <a:pt x="526" y="0"/>
                    </a:lnTo>
                    <a:lnTo>
                      <a:pt x="466" y="10"/>
                    </a:lnTo>
                    <a:lnTo>
                      <a:pt x="403" y="31"/>
                    </a:lnTo>
                    <a:lnTo>
                      <a:pt x="341" y="65"/>
                    </a:lnTo>
                    <a:lnTo>
                      <a:pt x="281" y="111"/>
                    </a:lnTo>
                    <a:lnTo>
                      <a:pt x="223" y="167"/>
                    </a:lnTo>
                    <a:lnTo>
                      <a:pt x="169" y="231"/>
                    </a:lnTo>
                    <a:lnTo>
                      <a:pt x="122" y="303"/>
                    </a:lnTo>
                    <a:lnTo>
                      <a:pt x="81" y="381"/>
                    </a:lnTo>
                    <a:lnTo>
                      <a:pt x="47" y="463"/>
                    </a:lnTo>
                    <a:lnTo>
                      <a:pt x="22" y="547"/>
                    </a:lnTo>
                    <a:lnTo>
                      <a:pt x="6" y="630"/>
                    </a:lnTo>
                    <a:lnTo>
                      <a:pt x="0" y="713"/>
                    </a:lnTo>
                    <a:lnTo>
                      <a:pt x="2" y="791"/>
                    </a:lnTo>
                    <a:lnTo>
                      <a:pt x="14" y="863"/>
                    </a:lnTo>
                    <a:lnTo>
                      <a:pt x="37" y="928"/>
                    </a:lnTo>
                    <a:lnTo>
                      <a:pt x="66" y="984"/>
                    </a:lnTo>
                    <a:lnTo>
                      <a:pt x="105" y="1030"/>
                    </a:lnTo>
                    <a:lnTo>
                      <a:pt x="150" y="1065"/>
                    </a:lnTo>
                    <a:lnTo>
                      <a:pt x="202" y="1088"/>
                    </a:lnTo>
                    <a:lnTo>
                      <a:pt x="258" y="1097"/>
                    </a:lnTo>
                    <a:lnTo>
                      <a:pt x="317" y="1094"/>
                    </a:lnTo>
                    <a:lnTo>
                      <a:pt x="379" y="1079"/>
                    </a:lnTo>
                    <a:lnTo>
                      <a:pt x="441" y="1050"/>
                    </a:lnTo>
                    <a:lnTo>
                      <a:pt x="503" y="1010"/>
                    </a:lnTo>
                    <a:lnTo>
                      <a:pt x="562" y="959"/>
                    </a:lnTo>
                    <a:lnTo>
                      <a:pt x="618" y="899"/>
                    </a:lnTo>
                    <a:lnTo>
                      <a:pt x="668" y="830"/>
                    </a:lnTo>
                    <a:lnTo>
                      <a:pt x="713" y="755"/>
                    </a:lnTo>
                    <a:lnTo>
                      <a:pt x="750" y="674"/>
                    </a:lnTo>
                    <a:lnTo>
                      <a:pt x="780" y="592"/>
                    </a:lnTo>
                    <a:lnTo>
                      <a:pt x="800" y="507"/>
                    </a:lnTo>
                    <a:lnTo>
                      <a:pt x="811" y="425"/>
                    </a:lnTo>
                    <a:lnTo>
                      <a:pt x="814" y="345"/>
                    </a:lnTo>
                    <a:lnTo>
                      <a:pt x="806" y="269"/>
                    </a:lnTo>
                    <a:lnTo>
                      <a:pt x="789" y="200"/>
                    </a:lnTo>
                    <a:lnTo>
                      <a:pt x="763" y="140"/>
                    </a:lnTo>
                    <a:lnTo>
                      <a:pt x="729" y="89"/>
                    </a:lnTo>
                    <a:lnTo>
                      <a:pt x="686" y="48"/>
                    </a:lnTo>
                    <a:lnTo>
                      <a:pt x="639" y="20"/>
                    </a:lnTo>
                    <a:lnTo>
                      <a:pt x="640" y="20"/>
                    </a:lnTo>
                  </a:path>
                </a:pathLst>
              </a:custGeom>
              <a:gradFill rotWithShape="0">
                <a:gsLst>
                  <a:gs pos="0">
                    <a:srgbClr val="454545"/>
                  </a:gs>
                  <a:gs pos="50000">
                    <a:srgbClr val="969696"/>
                  </a:gs>
                  <a:gs pos="100000">
                    <a:srgbClr val="454545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1" name="Freeform 323"/>
              <p:cNvSpPr>
                <a:spLocks noChangeArrowheads="1"/>
              </p:cNvSpPr>
              <p:nvPr/>
            </p:nvSpPr>
            <p:spPr bwMode="auto">
              <a:xfrm>
                <a:off x="1919" y="2878"/>
                <a:ext cx="66" cy="89"/>
              </a:xfrm>
              <a:custGeom>
                <a:avLst/>
                <a:gdLst>
                  <a:gd name="T0" fmla="*/ 639 w 814"/>
                  <a:gd name="T1" fmla="*/ 20 h 1097"/>
                  <a:gd name="T2" fmla="*/ 584 w 814"/>
                  <a:gd name="T3" fmla="*/ 3 h 1097"/>
                  <a:gd name="T4" fmla="*/ 526 w 814"/>
                  <a:gd name="T5" fmla="*/ 0 h 1097"/>
                  <a:gd name="T6" fmla="*/ 466 w 814"/>
                  <a:gd name="T7" fmla="*/ 10 h 1097"/>
                  <a:gd name="T8" fmla="*/ 403 w 814"/>
                  <a:gd name="T9" fmla="*/ 31 h 1097"/>
                  <a:gd name="T10" fmla="*/ 341 w 814"/>
                  <a:gd name="T11" fmla="*/ 65 h 1097"/>
                  <a:gd name="T12" fmla="*/ 281 w 814"/>
                  <a:gd name="T13" fmla="*/ 111 h 1097"/>
                  <a:gd name="T14" fmla="*/ 223 w 814"/>
                  <a:gd name="T15" fmla="*/ 167 h 1097"/>
                  <a:gd name="T16" fmla="*/ 169 w 814"/>
                  <a:gd name="T17" fmla="*/ 231 h 1097"/>
                  <a:gd name="T18" fmla="*/ 122 w 814"/>
                  <a:gd name="T19" fmla="*/ 303 h 1097"/>
                  <a:gd name="T20" fmla="*/ 81 w 814"/>
                  <a:gd name="T21" fmla="*/ 381 h 1097"/>
                  <a:gd name="T22" fmla="*/ 47 w 814"/>
                  <a:gd name="T23" fmla="*/ 463 h 1097"/>
                  <a:gd name="T24" fmla="*/ 22 w 814"/>
                  <a:gd name="T25" fmla="*/ 547 h 1097"/>
                  <a:gd name="T26" fmla="*/ 6 w 814"/>
                  <a:gd name="T27" fmla="*/ 630 h 1097"/>
                  <a:gd name="T28" fmla="*/ 0 w 814"/>
                  <a:gd name="T29" fmla="*/ 713 h 1097"/>
                  <a:gd name="T30" fmla="*/ 2 w 814"/>
                  <a:gd name="T31" fmla="*/ 791 h 1097"/>
                  <a:gd name="T32" fmla="*/ 14 w 814"/>
                  <a:gd name="T33" fmla="*/ 863 h 1097"/>
                  <a:gd name="T34" fmla="*/ 37 w 814"/>
                  <a:gd name="T35" fmla="*/ 928 h 1097"/>
                  <a:gd name="T36" fmla="*/ 66 w 814"/>
                  <a:gd name="T37" fmla="*/ 984 h 1097"/>
                  <a:gd name="T38" fmla="*/ 105 w 814"/>
                  <a:gd name="T39" fmla="*/ 1030 h 1097"/>
                  <a:gd name="T40" fmla="*/ 150 w 814"/>
                  <a:gd name="T41" fmla="*/ 1065 h 1097"/>
                  <a:gd name="T42" fmla="*/ 202 w 814"/>
                  <a:gd name="T43" fmla="*/ 1088 h 1097"/>
                  <a:gd name="T44" fmla="*/ 258 w 814"/>
                  <a:gd name="T45" fmla="*/ 1097 h 1097"/>
                  <a:gd name="T46" fmla="*/ 317 w 814"/>
                  <a:gd name="T47" fmla="*/ 1094 h 1097"/>
                  <a:gd name="T48" fmla="*/ 379 w 814"/>
                  <a:gd name="T49" fmla="*/ 1079 h 1097"/>
                  <a:gd name="T50" fmla="*/ 441 w 814"/>
                  <a:gd name="T51" fmla="*/ 1050 h 1097"/>
                  <a:gd name="T52" fmla="*/ 503 w 814"/>
                  <a:gd name="T53" fmla="*/ 1010 h 1097"/>
                  <a:gd name="T54" fmla="*/ 562 w 814"/>
                  <a:gd name="T55" fmla="*/ 959 h 1097"/>
                  <a:gd name="T56" fmla="*/ 618 w 814"/>
                  <a:gd name="T57" fmla="*/ 899 h 1097"/>
                  <a:gd name="T58" fmla="*/ 668 w 814"/>
                  <a:gd name="T59" fmla="*/ 830 h 1097"/>
                  <a:gd name="T60" fmla="*/ 713 w 814"/>
                  <a:gd name="T61" fmla="*/ 755 h 1097"/>
                  <a:gd name="T62" fmla="*/ 750 w 814"/>
                  <a:gd name="T63" fmla="*/ 674 h 1097"/>
                  <a:gd name="T64" fmla="*/ 780 w 814"/>
                  <a:gd name="T65" fmla="*/ 592 h 1097"/>
                  <a:gd name="T66" fmla="*/ 800 w 814"/>
                  <a:gd name="T67" fmla="*/ 507 h 1097"/>
                  <a:gd name="T68" fmla="*/ 811 w 814"/>
                  <a:gd name="T69" fmla="*/ 425 h 1097"/>
                  <a:gd name="T70" fmla="*/ 814 w 814"/>
                  <a:gd name="T71" fmla="*/ 345 h 1097"/>
                  <a:gd name="T72" fmla="*/ 806 w 814"/>
                  <a:gd name="T73" fmla="*/ 269 h 1097"/>
                  <a:gd name="T74" fmla="*/ 789 w 814"/>
                  <a:gd name="T75" fmla="*/ 200 h 1097"/>
                  <a:gd name="T76" fmla="*/ 763 w 814"/>
                  <a:gd name="T77" fmla="*/ 140 h 1097"/>
                  <a:gd name="T78" fmla="*/ 729 w 814"/>
                  <a:gd name="T79" fmla="*/ 89 h 1097"/>
                  <a:gd name="T80" fmla="*/ 686 w 814"/>
                  <a:gd name="T81" fmla="*/ 48 h 1097"/>
                  <a:gd name="T82" fmla="*/ 639 w 814"/>
                  <a:gd name="T83" fmla="*/ 20 h 1097"/>
                  <a:gd name="T84" fmla="*/ 640 w 814"/>
                  <a:gd name="T85" fmla="*/ 20 h 10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14" h="1097">
                    <a:moveTo>
                      <a:pt x="639" y="20"/>
                    </a:moveTo>
                    <a:lnTo>
                      <a:pt x="584" y="3"/>
                    </a:lnTo>
                    <a:lnTo>
                      <a:pt x="526" y="0"/>
                    </a:lnTo>
                    <a:lnTo>
                      <a:pt x="466" y="10"/>
                    </a:lnTo>
                    <a:lnTo>
                      <a:pt x="403" y="31"/>
                    </a:lnTo>
                    <a:lnTo>
                      <a:pt x="341" y="65"/>
                    </a:lnTo>
                    <a:lnTo>
                      <a:pt x="281" y="111"/>
                    </a:lnTo>
                    <a:lnTo>
                      <a:pt x="223" y="167"/>
                    </a:lnTo>
                    <a:lnTo>
                      <a:pt x="169" y="231"/>
                    </a:lnTo>
                    <a:lnTo>
                      <a:pt x="122" y="303"/>
                    </a:lnTo>
                    <a:lnTo>
                      <a:pt x="81" y="381"/>
                    </a:lnTo>
                    <a:lnTo>
                      <a:pt x="47" y="463"/>
                    </a:lnTo>
                    <a:lnTo>
                      <a:pt x="22" y="547"/>
                    </a:lnTo>
                    <a:lnTo>
                      <a:pt x="6" y="630"/>
                    </a:lnTo>
                    <a:lnTo>
                      <a:pt x="0" y="713"/>
                    </a:lnTo>
                    <a:lnTo>
                      <a:pt x="2" y="791"/>
                    </a:lnTo>
                    <a:lnTo>
                      <a:pt x="14" y="863"/>
                    </a:lnTo>
                    <a:lnTo>
                      <a:pt x="37" y="928"/>
                    </a:lnTo>
                    <a:lnTo>
                      <a:pt x="66" y="984"/>
                    </a:lnTo>
                    <a:lnTo>
                      <a:pt x="105" y="1030"/>
                    </a:lnTo>
                    <a:lnTo>
                      <a:pt x="150" y="1065"/>
                    </a:lnTo>
                    <a:lnTo>
                      <a:pt x="202" y="1088"/>
                    </a:lnTo>
                    <a:lnTo>
                      <a:pt x="258" y="1097"/>
                    </a:lnTo>
                    <a:lnTo>
                      <a:pt x="317" y="1094"/>
                    </a:lnTo>
                    <a:lnTo>
                      <a:pt x="379" y="1079"/>
                    </a:lnTo>
                    <a:lnTo>
                      <a:pt x="441" y="1050"/>
                    </a:lnTo>
                    <a:lnTo>
                      <a:pt x="503" y="1010"/>
                    </a:lnTo>
                    <a:lnTo>
                      <a:pt x="562" y="959"/>
                    </a:lnTo>
                    <a:lnTo>
                      <a:pt x="618" y="899"/>
                    </a:lnTo>
                    <a:lnTo>
                      <a:pt x="668" y="830"/>
                    </a:lnTo>
                    <a:lnTo>
                      <a:pt x="713" y="755"/>
                    </a:lnTo>
                    <a:lnTo>
                      <a:pt x="750" y="674"/>
                    </a:lnTo>
                    <a:lnTo>
                      <a:pt x="780" y="592"/>
                    </a:lnTo>
                    <a:lnTo>
                      <a:pt x="800" y="507"/>
                    </a:lnTo>
                    <a:lnTo>
                      <a:pt x="811" y="425"/>
                    </a:lnTo>
                    <a:lnTo>
                      <a:pt x="814" y="345"/>
                    </a:lnTo>
                    <a:lnTo>
                      <a:pt x="806" y="269"/>
                    </a:lnTo>
                    <a:lnTo>
                      <a:pt x="789" y="200"/>
                    </a:lnTo>
                    <a:lnTo>
                      <a:pt x="763" y="140"/>
                    </a:lnTo>
                    <a:lnTo>
                      <a:pt x="729" y="89"/>
                    </a:lnTo>
                    <a:lnTo>
                      <a:pt x="686" y="48"/>
                    </a:lnTo>
                    <a:lnTo>
                      <a:pt x="639" y="20"/>
                    </a:lnTo>
                    <a:lnTo>
                      <a:pt x="640" y="20"/>
                    </a:lnTo>
                  </a:path>
                </a:pathLst>
              </a:custGeom>
              <a:gradFill rotWithShape="0">
                <a:gsLst>
                  <a:gs pos="0">
                    <a:srgbClr val="454545"/>
                  </a:gs>
                  <a:gs pos="50000">
                    <a:srgbClr val="969696"/>
                  </a:gs>
                  <a:gs pos="100000">
                    <a:srgbClr val="454545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2" name="Freeform 324"/>
              <p:cNvSpPr>
                <a:spLocks noChangeArrowheads="1"/>
              </p:cNvSpPr>
              <p:nvPr/>
            </p:nvSpPr>
            <p:spPr bwMode="auto">
              <a:xfrm>
                <a:off x="2424" y="2612"/>
                <a:ext cx="68" cy="90"/>
              </a:xfrm>
              <a:custGeom>
                <a:avLst/>
                <a:gdLst>
                  <a:gd name="T0" fmla="*/ 639 w 814"/>
                  <a:gd name="T1" fmla="*/ 20 h 1097"/>
                  <a:gd name="T2" fmla="*/ 584 w 814"/>
                  <a:gd name="T3" fmla="*/ 3 h 1097"/>
                  <a:gd name="T4" fmla="*/ 526 w 814"/>
                  <a:gd name="T5" fmla="*/ 0 h 1097"/>
                  <a:gd name="T6" fmla="*/ 466 w 814"/>
                  <a:gd name="T7" fmla="*/ 10 h 1097"/>
                  <a:gd name="T8" fmla="*/ 403 w 814"/>
                  <a:gd name="T9" fmla="*/ 31 h 1097"/>
                  <a:gd name="T10" fmla="*/ 341 w 814"/>
                  <a:gd name="T11" fmla="*/ 65 h 1097"/>
                  <a:gd name="T12" fmla="*/ 281 w 814"/>
                  <a:gd name="T13" fmla="*/ 111 h 1097"/>
                  <a:gd name="T14" fmla="*/ 223 w 814"/>
                  <a:gd name="T15" fmla="*/ 167 h 1097"/>
                  <a:gd name="T16" fmla="*/ 169 w 814"/>
                  <a:gd name="T17" fmla="*/ 231 h 1097"/>
                  <a:gd name="T18" fmla="*/ 122 w 814"/>
                  <a:gd name="T19" fmla="*/ 303 h 1097"/>
                  <a:gd name="T20" fmla="*/ 81 w 814"/>
                  <a:gd name="T21" fmla="*/ 381 h 1097"/>
                  <a:gd name="T22" fmla="*/ 47 w 814"/>
                  <a:gd name="T23" fmla="*/ 463 h 1097"/>
                  <a:gd name="T24" fmla="*/ 22 w 814"/>
                  <a:gd name="T25" fmla="*/ 547 h 1097"/>
                  <a:gd name="T26" fmla="*/ 6 w 814"/>
                  <a:gd name="T27" fmla="*/ 630 h 1097"/>
                  <a:gd name="T28" fmla="*/ 0 w 814"/>
                  <a:gd name="T29" fmla="*/ 713 h 1097"/>
                  <a:gd name="T30" fmla="*/ 2 w 814"/>
                  <a:gd name="T31" fmla="*/ 791 h 1097"/>
                  <a:gd name="T32" fmla="*/ 14 w 814"/>
                  <a:gd name="T33" fmla="*/ 863 h 1097"/>
                  <a:gd name="T34" fmla="*/ 37 w 814"/>
                  <a:gd name="T35" fmla="*/ 928 h 1097"/>
                  <a:gd name="T36" fmla="*/ 66 w 814"/>
                  <a:gd name="T37" fmla="*/ 984 h 1097"/>
                  <a:gd name="T38" fmla="*/ 105 w 814"/>
                  <a:gd name="T39" fmla="*/ 1030 h 1097"/>
                  <a:gd name="T40" fmla="*/ 150 w 814"/>
                  <a:gd name="T41" fmla="*/ 1065 h 1097"/>
                  <a:gd name="T42" fmla="*/ 202 w 814"/>
                  <a:gd name="T43" fmla="*/ 1088 h 1097"/>
                  <a:gd name="T44" fmla="*/ 258 w 814"/>
                  <a:gd name="T45" fmla="*/ 1097 h 1097"/>
                  <a:gd name="T46" fmla="*/ 317 w 814"/>
                  <a:gd name="T47" fmla="*/ 1094 h 1097"/>
                  <a:gd name="T48" fmla="*/ 379 w 814"/>
                  <a:gd name="T49" fmla="*/ 1079 h 1097"/>
                  <a:gd name="T50" fmla="*/ 441 w 814"/>
                  <a:gd name="T51" fmla="*/ 1050 h 1097"/>
                  <a:gd name="T52" fmla="*/ 503 w 814"/>
                  <a:gd name="T53" fmla="*/ 1010 h 1097"/>
                  <a:gd name="T54" fmla="*/ 562 w 814"/>
                  <a:gd name="T55" fmla="*/ 959 h 1097"/>
                  <a:gd name="T56" fmla="*/ 618 w 814"/>
                  <a:gd name="T57" fmla="*/ 899 h 1097"/>
                  <a:gd name="T58" fmla="*/ 668 w 814"/>
                  <a:gd name="T59" fmla="*/ 830 h 1097"/>
                  <a:gd name="T60" fmla="*/ 713 w 814"/>
                  <a:gd name="T61" fmla="*/ 755 h 1097"/>
                  <a:gd name="T62" fmla="*/ 750 w 814"/>
                  <a:gd name="T63" fmla="*/ 674 h 1097"/>
                  <a:gd name="T64" fmla="*/ 780 w 814"/>
                  <a:gd name="T65" fmla="*/ 592 h 1097"/>
                  <a:gd name="T66" fmla="*/ 800 w 814"/>
                  <a:gd name="T67" fmla="*/ 507 h 1097"/>
                  <a:gd name="T68" fmla="*/ 811 w 814"/>
                  <a:gd name="T69" fmla="*/ 425 h 1097"/>
                  <a:gd name="T70" fmla="*/ 814 w 814"/>
                  <a:gd name="T71" fmla="*/ 345 h 1097"/>
                  <a:gd name="T72" fmla="*/ 806 w 814"/>
                  <a:gd name="T73" fmla="*/ 269 h 1097"/>
                  <a:gd name="T74" fmla="*/ 789 w 814"/>
                  <a:gd name="T75" fmla="*/ 200 h 1097"/>
                  <a:gd name="T76" fmla="*/ 763 w 814"/>
                  <a:gd name="T77" fmla="*/ 140 h 1097"/>
                  <a:gd name="T78" fmla="*/ 729 w 814"/>
                  <a:gd name="T79" fmla="*/ 89 h 1097"/>
                  <a:gd name="T80" fmla="*/ 686 w 814"/>
                  <a:gd name="T81" fmla="*/ 48 h 1097"/>
                  <a:gd name="T82" fmla="*/ 639 w 814"/>
                  <a:gd name="T83" fmla="*/ 20 h 1097"/>
                  <a:gd name="T84" fmla="*/ 640 w 814"/>
                  <a:gd name="T85" fmla="*/ 20 h 10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14" h="1097">
                    <a:moveTo>
                      <a:pt x="639" y="20"/>
                    </a:moveTo>
                    <a:lnTo>
                      <a:pt x="584" y="3"/>
                    </a:lnTo>
                    <a:lnTo>
                      <a:pt x="526" y="0"/>
                    </a:lnTo>
                    <a:lnTo>
                      <a:pt x="466" y="10"/>
                    </a:lnTo>
                    <a:lnTo>
                      <a:pt x="403" y="31"/>
                    </a:lnTo>
                    <a:lnTo>
                      <a:pt x="341" y="65"/>
                    </a:lnTo>
                    <a:lnTo>
                      <a:pt x="281" y="111"/>
                    </a:lnTo>
                    <a:lnTo>
                      <a:pt x="223" y="167"/>
                    </a:lnTo>
                    <a:lnTo>
                      <a:pt x="169" y="231"/>
                    </a:lnTo>
                    <a:lnTo>
                      <a:pt x="122" y="303"/>
                    </a:lnTo>
                    <a:lnTo>
                      <a:pt x="81" y="381"/>
                    </a:lnTo>
                    <a:lnTo>
                      <a:pt x="47" y="463"/>
                    </a:lnTo>
                    <a:lnTo>
                      <a:pt x="22" y="547"/>
                    </a:lnTo>
                    <a:lnTo>
                      <a:pt x="6" y="630"/>
                    </a:lnTo>
                    <a:lnTo>
                      <a:pt x="0" y="713"/>
                    </a:lnTo>
                    <a:lnTo>
                      <a:pt x="2" y="791"/>
                    </a:lnTo>
                    <a:lnTo>
                      <a:pt x="14" y="863"/>
                    </a:lnTo>
                    <a:lnTo>
                      <a:pt x="37" y="928"/>
                    </a:lnTo>
                    <a:lnTo>
                      <a:pt x="66" y="984"/>
                    </a:lnTo>
                    <a:lnTo>
                      <a:pt x="105" y="1030"/>
                    </a:lnTo>
                    <a:lnTo>
                      <a:pt x="150" y="1065"/>
                    </a:lnTo>
                    <a:lnTo>
                      <a:pt x="202" y="1088"/>
                    </a:lnTo>
                    <a:lnTo>
                      <a:pt x="258" y="1097"/>
                    </a:lnTo>
                    <a:lnTo>
                      <a:pt x="317" y="1094"/>
                    </a:lnTo>
                    <a:lnTo>
                      <a:pt x="379" y="1079"/>
                    </a:lnTo>
                    <a:lnTo>
                      <a:pt x="441" y="1050"/>
                    </a:lnTo>
                    <a:lnTo>
                      <a:pt x="503" y="1010"/>
                    </a:lnTo>
                    <a:lnTo>
                      <a:pt x="562" y="959"/>
                    </a:lnTo>
                    <a:lnTo>
                      <a:pt x="618" y="899"/>
                    </a:lnTo>
                    <a:lnTo>
                      <a:pt x="668" y="830"/>
                    </a:lnTo>
                    <a:lnTo>
                      <a:pt x="713" y="755"/>
                    </a:lnTo>
                    <a:lnTo>
                      <a:pt x="750" y="674"/>
                    </a:lnTo>
                    <a:lnTo>
                      <a:pt x="780" y="592"/>
                    </a:lnTo>
                    <a:lnTo>
                      <a:pt x="800" y="507"/>
                    </a:lnTo>
                    <a:lnTo>
                      <a:pt x="811" y="425"/>
                    </a:lnTo>
                    <a:lnTo>
                      <a:pt x="814" y="345"/>
                    </a:lnTo>
                    <a:lnTo>
                      <a:pt x="806" y="269"/>
                    </a:lnTo>
                    <a:lnTo>
                      <a:pt x="789" y="200"/>
                    </a:lnTo>
                    <a:lnTo>
                      <a:pt x="763" y="140"/>
                    </a:lnTo>
                    <a:lnTo>
                      <a:pt x="729" y="89"/>
                    </a:lnTo>
                    <a:lnTo>
                      <a:pt x="686" y="48"/>
                    </a:lnTo>
                    <a:lnTo>
                      <a:pt x="639" y="20"/>
                    </a:lnTo>
                    <a:lnTo>
                      <a:pt x="640" y="20"/>
                    </a:lnTo>
                  </a:path>
                </a:pathLst>
              </a:custGeom>
              <a:gradFill rotWithShape="0">
                <a:gsLst>
                  <a:gs pos="0">
                    <a:srgbClr val="454545"/>
                  </a:gs>
                  <a:gs pos="50000">
                    <a:srgbClr val="969696"/>
                  </a:gs>
                  <a:gs pos="100000">
                    <a:srgbClr val="454545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3" name="Freeform 325"/>
              <p:cNvSpPr>
                <a:spLocks noChangeArrowheads="1"/>
              </p:cNvSpPr>
              <p:nvPr/>
            </p:nvSpPr>
            <p:spPr bwMode="auto">
              <a:xfrm>
                <a:off x="2971" y="3639"/>
                <a:ext cx="77" cy="50"/>
              </a:xfrm>
              <a:custGeom>
                <a:avLst/>
                <a:gdLst>
                  <a:gd name="T0" fmla="*/ 0 w 946"/>
                  <a:gd name="T1" fmla="*/ 299 h 598"/>
                  <a:gd name="T2" fmla="*/ 5 w 946"/>
                  <a:gd name="T3" fmla="*/ 339 h 598"/>
                  <a:gd name="T4" fmla="*/ 18 w 946"/>
                  <a:gd name="T5" fmla="*/ 380 h 598"/>
                  <a:gd name="T6" fmla="*/ 40 w 946"/>
                  <a:gd name="T7" fmla="*/ 418 h 598"/>
                  <a:gd name="T8" fmla="*/ 69 w 946"/>
                  <a:gd name="T9" fmla="*/ 454 h 598"/>
                  <a:gd name="T10" fmla="*/ 106 w 946"/>
                  <a:gd name="T11" fmla="*/ 488 h 598"/>
                  <a:gd name="T12" fmla="*/ 150 w 946"/>
                  <a:gd name="T13" fmla="*/ 518 h 598"/>
                  <a:gd name="T14" fmla="*/ 201 w 946"/>
                  <a:gd name="T15" fmla="*/ 544 h 598"/>
                  <a:gd name="T16" fmla="*/ 256 w 946"/>
                  <a:gd name="T17" fmla="*/ 565 h 598"/>
                  <a:gd name="T18" fmla="*/ 315 w 946"/>
                  <a:gd name="T19" fmla="*/ 582 h 598"/>
                  <a:gd name="T20" fmla="*/ 377 w 946"/>
                  <a:gd name="T21" fmla="*/ 592 h 598"/>
                  <a:gd name="T22" fmla="*/ 441 w 946"/>
                  <a:gd name="T23" fmla="*/ 598 h 598"/>
                  <a:gd name="T24" fmla="*/ 506 w 946"/>
                  <a:gd name="T25" fmla="*/ 598 h 598"/>
                  <a:gd name="T26" fmla="*/ 569 w 946"/>
                  <a:gd name="T27" fmla="*/ 592 h 598"/>
                  <a:gd name="T28" fmla="*/ 631 w 946"/>
                  <a:gd name="T29" fmla="*/ 582 h 598"/>
                  <a:gd name="T30" fmla="*/ 691 w 946"/>
                  <a:gd name="T31" fmla="*/ 565 h 598"/>
                  <a:gd name="T32" fmla="*/ 746 w 946"/>
                  <a:gd name="T33" fmla="*/ 544 h 598"/>
                  <a:gd name="T34" fmla="*/ 796 w 946"/>
                  <a:gd name="T35" fmla="*/ 518 h 598"/>
                  <a:gd name="T36" fmla="*/ 840 w 946"/>
                  <a:gd name="T37" fmla="*/ 488 h 598"/>
                  <a:gd name="T38" fmla="*/ 877 w 946"/>
                  <a:gd name="T39" fmla="*/ 454 h 598"/>
                  <a:gd name="T40" fmla="*/ 906 w 946"/>
                  <a:gd name="T41" fmla="*/ 418 h 598"/>
                  <a:gd name="T42" fmla="*/ 928 w 946"/>
                  <a:gd name="T43" fmla="*/ 380 h 598"/>
                  <a:gd name="T44" fmla="*/ 941 w 946"/>
                  <a:gd name="T45" fmla="*/ 339 h 598"/>
                  <a:gd name="T46" fmla="*/ 946 w 946"/>
                  <a:gd name="T47" fmla="*/ 299 h 598"/>
                  <a:gd name="T48" fmla="*/ 941 w 946"/>
                  <a:gd name="T49" fmla="*/ 258 h 598"/>
                  <a:gd name="T50" fmla="*/ 928 w 946"/>
                  <a:gd name="T51" fmla="*/ 217 h 598"/>
                  <a:gd name="T52" fmla="*/ 906 w 946"/>
                  <a:gd name="T53" fmla="*/ 179 h 598"/>
                  <a:gd name="T54" fmla="*/ 877 w 946"/>
                  <a:gd name="T55" fmla="*/ 143 h 598"/>
                  <a:gd name="T56" fmla="*/ 840 w 946"/>
                  <a:gd name="T57" fmla="*/ 109 h 598"/>
                  <a:gd name="T58" fmla="*/ 796 w 946"/>
                  <a:gd name="T59" fmla="*/ 80 h 598"/>
                  <a:gd name="T60" fmla="*/ 746 w 946"/>
                  <a:gd name="T61" fmla="*/ 54 h 598"/>
                  <a:gd name="T62" fmla="*/ 691 w 946"/>
                  <a:gd name="T63" fmla="*/ 32 h 598"/>
                  <a:gd name="T64" fmla="*/ 631 w 946"/>
                  <a:gd name="T65" fmla="*/ 17 h 598"/>
                  <a:gd name="T66" fmla="*/ 569 w 946"/>
                  <a:gd name="T67" fmla="*/ 5 h 598"/>
                  <a:gd name="T68" fmla="*/ 506 w 946"/>
                  <a:gd name="T69" fmla="*/ 0 h 598"/>
                  <a:gd name="T70" fmla="*/ 441 w 946"/>
                  <a:gd name="T71" fmla="*/ 0 h 598"/>
                  <a:gd name="T72" fmla="*/ 377 w 946"/>
                  <a:gd name="T73" fmla="*/ 5 h 598"/>
                  <a:gd name="T74" fmla="*/ 315 w 946"/>
                  <a:gd name="T75" fmla="*/ 17 h 598"/>
                  <a:gd name="T76" fmla="*/ 256 w 946"/>
                  <a:gd name="T77" fmla="*/ 32 h 598"/>
                  <a:gd name="T78" fmla="*/ 201 w 946"/>
                  <a:gd name="T79" fmla="*/ 54 h 598"/>
                  <a:gd name="T80" fmla="*/ 150 w 946"/>
                  <a:gd name="T81" fmla="*/ 80 h 598"/>
                  <a:gd name="T82" fmla="*/ 106 w 946"/>
                  <a:gd name="T83" fmla="*/ 109 h 598"/>
                  <a:gd name="T84" fmla="*/ 69 w 946"/>
                  <a:gd name="T85" fmla="*/ 143 h 598"/>
                  <a:gd name="T86" fmla="*/ 40 w 946"/>
                  <a:gd name="T87" fmla="*/ 179 h 598"/>
                  <a:gd name="T88" fmla="*/ 18 w 946"/>
                  <a:gd name="T89" fmla="*/ 217 h 598"/>
                  <a:gd name="T90" fmla="*/ 5 w 946"/>
                  <a:gd name="T91" fmla="*/ 258 h 598"/>
                  <a:gd name="T92" fmla="*/ 0 w 946"/>
                  <a:gd name="T93" fmla="*/ 299 h 598"/>
                  <a:gd name="T94" fmla="*/ 1 w 946"/>
                  <a:gd name="T95" fmla="*/ 299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46" h="598">
                    <a:moveTo>
                      <a:pt x="0" y="299"/>
                    </a:moveTo>
                    <a:lnTo>
                      <a:pt x="5" y="339"/>
                    </a:lnTo>
                    <a:lnTo>
                      <a:pt x="18" y="380"/>
                    </a:lnTo>
                    <a:lnTo>
                      <a:pt x="40" y="418"/>
                    </a:lnTo>
                    <a:lnTo>
                      <a:pt x="69" y="454"/>
                    </a:lnTo>
                    <a:lnTo>
                      <a:pt x="106" y="488"/>
                    </a:lnTo>
                    <a:lnTo>
                      <a:pt x="150" y="518"/>
                    </a:lnTo>
                    <a:lnTo>
                      <a:pt x="201" y="544"/>
                    </a:lnTo>
                    <a:lnTo>
                      <a:pt x="256" y="565"/>
                    </a:lnTo>
                    <a:lnTo>
                      <a:pt x="315" y="582"/>
                    </a:lnTo>
                    <a:lnTo>
                      <a:pt x="377" y="592"/>
                    </a:lnTo>
                    <a:lnTo>
                      <a:pt x="441" y="598"/>
                    </a:lnTo>
                    <a:lnTo>
                      <a:pt x="506" y="598"/>
                    </a:lnTo>
                    <a:lnTo>
                      <a:pt x="569" y="592"/>
                    </a:lnTo>
                    <a:lnTo>
                      <a:pt x="631" y="582"/>
                    </a:lnTo>
                    <a:lnTo>
                      <a:pt x="691" y="565"/>
                    </a:lnTo>
                    <a:lnTo>
                      <a:pt x="746" y="544"/>
                    </a:lnTo>
                    <a:lnTo>
                      <a:pt x="796" y="518"/>
                    </a:lnTo>
                    <a:lnTo>
                      <a:pt x="840" y="488"/>
                    </a:lnTo>
                    <a:lnTo>
                      <a:pt x="877" y="454"/>
                    </a:lnTo>
                    <a:lnTo>
                      <a:pt x="906" y="418"/>
                    </a:lnTo>
                    <a:lnTo>
                      <a:pt x="928" y="380"/>
                    </a:lnTo>
                    <a:lnTo>
                      <a:pt x="941" y="339"/>
                    </a:lnTo>
                    <a:lnTo>
                      <a:pt x="946" y="299"/>
                    </a:lnTo>
                    <a:lnTo>
                      <a:pt x="941" y="258"/>
                    </a:lnTo>
                    <a:lnTo>
                      <a:pt x="928" y="217"/>
                    </a:lnTo>
                    <a:lnTo>
                      <a:pt x="906" y="179"/>
                    </a:lnTo>
                    <a:lnTo>
                      <a:pt x="877" y="143"/>
                    </a:lnTo>
                    <a:lnTo>
                      <a:pt x="840" y="109"/>
                    </a:lnTo>
                    <a:lnTo>
                      <a:pt x="796" y="80"/>
                    </a:lnTo>
                    <a:lnTo>
                      <a:pt x="746" y="54"/>
                    </a:lnTo>
                    <a:lnTo>
                      <a:pt x="691" y="32"/>
                    </a:lnTo>
                    <a:lnTo>
                      <a:pt x="631" y="17"/>
                    </a:lnTo>
                    <a:lnTo>
                      <a:pt x="569" y="5"/>
                    </a:lnTo>
                    <a:lnTo>
                      <a:pt x="506" y="0"/>
                    </a:lnTo>
                    <a:lnTo>
                      <a:pt x="441" y="0"/>
                    </a:lnTo>
                    <a:lnTo>
                      <a:pt x="377" y="5"/>
                    </a:lnTo>
                    <a:lnTo>
                      <a:pt x="315" y="17"/>
                    </a:lnTo>
                    <a:lnTo>
                      <a:pt x="256" y="32"/>
                    </a:lnTo>
                    <a:lnTo>
                      <a:pt x="201" y="54"/>
                    </a:lnTo>
                    <a:lnTo>
                      <a:pt x="150" y="80"/>
                    </a:lnTo>
                    <a:lnTo>
                      <a:pt x="106" y="109"/>
                    </a:lnTo>
                    <a:lnTo>
                      <a:pt x="69" y="143"/>
                    </a:lnTo>
                    <a:lnTo>
                      <a:pt x="40" y="179"/>
                    </a:lnTo>
                    <a:lnTo>
                      <a:pt x="18" y="217"/>
                    </a:lnTo>
                    <a:lnTo>
                      <a:pt x="5" y="258"/>
                    </a:lnTo>
                    <a:lnTo>
                      <a:pt x="0" y="299"/>
                    </a:lnTo>
                    <a:lnTo>
                      <a:pt x="1" y="299"/>
                    </a:lnTo>
                  </a:path>
                </a:pathLst>
              </a:custGeom>
              <a:gradFill rotWithShape="0">
                <a:gsLst>
                  <a:gs pos="0">
                    <a:srgbClr val="454545"/>
                  </a:gs>
                  <a:gs pos="50000">
                    <a:srgbClr val="969696"/>
                  </a:gs>
                  <a:gs pos="100000">
                    <a:srgbClr val="454545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sp>
        <p:nvSpPr>
          <p:cNvPr id="326" name="Rectangle 326"/>
          <p:cNvSpPr>
            <a:spLocks noChangeArrowheads="1"/>
          </p:cNvSpPr>
          <p:nvPr/>
        </p:nvSpPr>
        <p:spPr bwMode="auto">
          <a:xfrm>
            <a:off x="643487" y="268178"/>
            <a:ext cx="4014240" cy="646331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>
            <a:spAutoFit/>
          </a:bodyPr>
          <a:lstStyle/>
          <a:p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三、</a:t>
            </a:r>
            <a:r>
              <a:rPr lang="en-US" altLang="zh-CN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剖切面的种类</a:t>
            </a:r>
          </a:p>
        </p:txBody>
      </p:sp>
    </p:spTree>
    <p:extLst>
      <p:ext uri="{BB962C8B-B14F-4D97-AF65-F5344CB8AC3E}">
        <p14:creationId xmlns:p14="http://schemas.microsoft.com/office/powerpoint/2010/main" val="274029532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>
          <a:xfrm>
            <a:off x="856458" y="325439"/>
            <a:ext cx="4583112" cy="522287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FontTx/>
              <a:buNone/>
              <a:defRPr sz="2800" b="1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defRPr>
            </a:lvl1pPr>
          </a:lstStyle>
          <a:p>
            <a:r>
              <a:rPr lang="en-US" altLang="zh-CN" dirty="0"/>
              <a:t>2.</a:t>
            </a:r>
            <a:r>
              <a:rPr lang="zh-CN" altLang="en-US" dirty="0"/>
              <a:t>几个平行的剖切平面</a:t>
            </a:r>
          </a:p>
        </p:txBody>
      </p:sp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2105621" y="4337050"/>
            <a:ext cx="20518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i="1">
                <a:solidFill>
                  <a:schemeClr val="tx2"/>
                </a:solidFill>
                <a:latin typeface="Times New Roman" panose="02020603050405020304" pitchFamily="18" charset="0"/>
              </a:rPr>
              <a:t>A</a:t>
            </a:r>
            <a:endParaRPr lang="en-US" altLang="zh-CN">
              <a:solidFill>
                <a:schemeClr val="tx2"/>
              </a:solidFill>
              <a:latin typeface="Times New Roman" panose="02020603050405020304" pitchFamily="18" charset="0"/>
            </a:endParaRPr>
          </a:p>
        </p:txBody>
      </p:sp>
      <p:sp>
        <p:nvSpPr>
          <p:cNvPr id="4" name="Rectangle 4"/>
          <p:cNvSpPr>
            <a:spLocks noChangeArrowheads="1"/>
          </p:cNvSpPr>
          <p:nvPr/>
        </p:nvSpPr>
        <p:spPr bwMode="auto">
          <a:xfrm>
            <a:off x="3566121" y="3648075"/>
            <a:ext cx="20518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i="1">
                <a:solidFill>
                  <a:schemeClr val="tx2"/>
                </a:solidFill>
                <a:latin typeface="Times New Roman" panose="02020603050405020304" pitchFamily="18" charset="0"/>
              </a:rPr>
              <a:t>A</a:t>
            </a:r>
          </a:p>
        </p:txBody>
      </p:sp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3578821" y="4530725"/>
            <a:ext cx="20518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i="1">
                <a:solidFill>
                  <a:schemeClr val="tx2"/>
                </a:solidFill>
                <a:latin typeface="Times New Roman" panose="02020603050405020304" pitchFamily="18" charset="0"/>
              </a:rPr>
              <a:t>A</a:t>
            </a:r>
            <a:endParaRPr lang="en-US" altLang="zh-CN">
              <a:solidFill>
                <a:schemeClr val="tx2"/>
              </a:solidFill>
              <a:latin typeface="Times New Roman" panose="02020603050405020304" pitchFamily="18" charset="0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5606058" y="3732213"/>
            <a:ext cx="20518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i="1">
                <a:solidFill>
                  <a:schemeClr val="tx2"/>
                </a:solidFill>
                <a:latin typeface="Times New Roman" panose="02020603050405020304" pitchFamily="18" charset="0"/>
              </a:rPr>
              <a:t>A</a:t>
            </a:r>
            <a:endParaRPr lang="en-US" altLang="zh-CN">
              <a:solidFill>
                <a:schemeClr val="tx2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7" name="Group 7"/>
          <p:cNvGrpSpPr>
            <a:grpSpLocks/>
          </p:cNvGrpSpPr>
          <p:nvPr/>
        </p:nvGrpSpPr>
        <p:grpSpPr bwMode="auto">
          <a:xfrm>
            <a:off x="2379663" y="3713163"/>
            <a:ext cx="3117850" cy="957262"/>
            <a:chOff x="833" y="1834"/>
            <a:chExt cx="1964" cy="603"/>
          </a:xfrm>
        </p:grpSpPr>
        <p:sp>
          <p:nvSpPr>
            <p:cNvPr id="8" name="Freeform 8"/>
            <p:cNvSpPr>
              <a:spLocks noChangeArrowheads="1"/>
            </p:cNvSpPr>
            <p:nvPr/>
          </p:nvSpPr>
          <p:spPr bwMode="auto">
            <a:xfrm>
              <a:off x="2689" y="2045"/>
              <a:ext cx="107" cy="1"/>
            </a:xfrm>
            <a:custGeom>
              <a:avLst/>
              <a:gdLst>
                <a:gd name="T0" fmla="*/ 0 w 322"/>
                <a:gd name="T1" fmla="*/ 0 h 1"/>
                <a:gd name="T2" fmla="*/ 321 w 322"/>
                <a:gd name="T3" fmla="*/ 0 h 1"/>
                <a:gd name="T4" fmla="*/ 322 w 32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2" h="1">
                  <a:moveTo>
                    <a:pt x="0" y="0"/>
                  </a:moveTo>
                  <a:lnTo>
                    <a:pt x="321" y="0"/>
                  </a:lnTo>
                  <a:lnTo>
                    <a:pt x="3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" name="Freeform 9"/>
            <p:cNvSpPr>
              <a:spLocks noChangeArrowheads="1"/>
            </p:cNvSpPr>
            <p:nvPr/>
          </p:nvSpPr>
          <p:spPr bwMode="auto">
            <a:xfrm>
              <a:off x="833" y="2436"/>
              <a:ext cx="104" cy="1"/>
            </a:xfrm>
            <a:custGeom>
              <a:avLst/>
              <a:gdLst>
                <a:gd name="T0" fmla="*/ 314 w 314"/>
                <a:gd name="T1" fmla="*/ 0 h 1"/>
                <a:gd name="T2" fmla="*/ 0 w 314"/>
                <a:gd name="T3" fmla="*/ 0 h 1"/>
                <a:gd name="T4" fmla="*/ 2 w 31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4" h="1">
                  <a:moveTo>
                    <a:pt x="314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" name="Freeform 10"/>
            <p:cNvSpPr>
              <a:spLocks noChangeArrowheads="1"/>
            </p:cNvSpPr>
            <p:nvPr/>
          </p:nvSpPr>
          <p:spPr bwMode="auto">
            <a:xfrm>
              <a:off x="833" y="2223"/>
              <a:ext cx="1" cy="213"/>
            </a:xfrm>
            <a:custGeom>
              <a:avLst/>
              <a:gdLst>
                <a:gd name="T0" fmla="*/ 0 w 2"/>
                <a:gd name="T1" fmla="*/ 637 h 637"/>
                <a:gd name="T2" fmla="*/ 0 w 2"/>
                <a:gd name="T3" fmla="*/ 0 h 637"/>
                <a:gd name="T4" fmla="*/ 2 w 2"/>
                <a:gd name="T5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637">
                  <a:moveTo>
                    <a:pt x="0" y="637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 type="none" w="sm" len="lg"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" name="Freeform 11"/>
            <p:cNvSpPr>
              <a:spLocks noChangeArrowheads="1"/>
            </p:cNvSpPr>
            <p:nvPr/>
          </p:nvSpPr>
          <p:spPr bwMode="auto">
            <a:xfrm>
              <a:off x="1492" y="2436"/>
              <a:ext cx="91" cy="1"/>
            </a:xfrm>
            <a:custGeom>
              <a:avLst/>
              <a:gdLst>
                <a:gd name="T0" fmla="*/ 0 w 274"/>
                <a:gd name="T1" fmla="*/ 0 h 1"/>
                <a:gd name="T2" fmla="*/ 273 w 274"/>
                <a:gd name="T3" fmla="*/ 0 h 1"/>
                <a:gd name="T4" fmla="*/ 274 w 27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4" h="1">
                  <a:moveTo>
                    <a:pt x="0" y="0"/>
                  </a:moveTo>
                  <a:lnTo>
                    <a:pt x="273" y="0"/>
                  </a:lnTo>
                  <a:lnTo>
                    <a:pt x="27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" name="Freeform 12"/>
            <p:cNvSpPr>
              <a:spLocks noChangeArrowheads="1"/>
            </p:cNvSpPr>
            <p:nvPr/>
          </p:nvSpPr>
          <p:spPr bwMode="auto">
            <a:xfrm>
              <a:off x="1583" y="2353"/>
              <a:ext cx="1" cy="83"/>
            </a:xfrm>
            <a:custGeom>
              <a:avLst/>
              <a:gdLst>
                <a:gd name="T0" fmla="*/ 0 w 1"/>
                <a:gd name="T1" fmla="*/ 248 h 248"/>
                <a:gd name="T2" fmla="*/ 0 w 1"/>
                <a:gd name="T3" fmla="*/ 0 h 248"/>
                <a:gd name="T4" fmla="*/ 1 w 1"/>
                <a:gd name="T5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48">
                  <a:moveTo>
                    <a:pt x="0" y="24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" name="Freeform 13"/>
            <p:cNvSpPr>
              <a:spLocks noChangeArrowheads="1"/>
            </p:cNvSpPr>
            <p:nvPr/>
          </p:nvSpPr>
          <p:spPr bwMode="auto">
            <a:xfrm>
              <a:off x="1583" y="2044"/>
              <a:ext cx="1" cy="77"/>
            </a:xfrm>
            <a:custGeom>
              <a:avLst/>
              <a:gdLst>
                <a:gd name="T0" fmla="*/ 0 w 1"/>
                <a:gd name="T1" fmla="*/ 229 h 229"/>
                <a:gd name="T2" fmla="*/ 0 w 1"/>
                <a:gd name="T3" fmla="*/ 0 h 229"/>
                <a:gd name="T4" fmla="*/ 1 w 1"/>
                <a:gd name="T5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29">
                  <a:moveTo>
                    <a:pt x="0" y="22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" name="Freeform 14"/>
            <p:cNvSpPr>
              <a:spLocks noChangeArrowheads="1"/>
            </p:cNvSpPr>
            <p:nvPr/>
          </p:nvSpPr>
          <p:spPr bwMode="auto">
            <a:xfrm>
              <a:off x="1583" y="2044"/>
              <a:ext cx="65" cy="1"/>
            </a:xfrm>
            <a:custGeom>
              <a:avLst/>
              <a:gdLst>
                <a:gd name="T0" fmla="*/ 0 w 197"/>
                <a:gd name="T1" fmla="*/ 0 h 2"/>
                <a:gd name="T2" fmla="*/ 196 w 197"/>
                <a:gd name="T3" fmla="*/ 2 h 2"/>
                <a:gd name="T4" fmla="*/ 197 w 197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2">
                  <a:moveTo>
                    <a:pt x="0" y="0"/>
                  </a:moveTo>
                  <a:lnTo>
                    <a:pt x="196" y="2"/>
                  </a:lnTo>
                  <a:lnTo>
                    <a:pt x="197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" name="Freeform 15"/>
            <p:cNvSpPr>
              <a:spLocks noChangeArrowheads="1"/>
            </p:cNvSpPr>
            <p:nvPr/>
          </p:nvSpPr>
          <p:spPr bwMode="auto">
            <a:xfrm>
              <a:off x="2796" y="1834"/>
              <a:ext cx="1" cy="211"/>
            </a:xfrm>
            <a:custGeom>
              <a:avLst/>
              <a:gdLst>
                <a:gd name="T0" fmla="*/ 0 w 1"/>
                <a:gd name="T1" fmla="*/ 635 h 635"/>
                <a:gd name="T2" fmla="*/ 0 w 1"/>
                <a:gd name="T3" fmla="*/ 0 h 635"/>
                <a:gd name="T4" fmla="*/ 1 w 1"/>
                <a:gd name="T5" fmla="*/ 0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35">
                  <a:moveTo>
                    <a:pt x="0" y="63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16" name="Group 16"/>
          <p:cNvGrpSpPr>
            <a:grpSpLocks/>
          </p:cNvGrpSpPr>
          <p:nvPr/>
        </p:nvGrpSpPr>
        <p:grpSpPr bwMode="auto">
          <a:xfrm>
            <a:off x="2617789" y="1666875"/>
            <a:ext cx="2543175" cy="1347788"/>
            <a:chOff x="983" y="424"/>
            <a:chExt cx="1602" cy="849"/>
          </a:xfrm>
        </p:grpSpPr>
        <p:sp>
          <p:nvSpPr>
            <p:cNvPr id="17" name="Freeform 17"/>
            <p:cNvSpPr>
              <a:spLocks noChangeArrowheads="1"/>
            </p:cNvSpPr>
            <p:nvPr/>
          </p:nvSpPr>
          <p:spPr bwMode="auto">
            <a:xfrm>
              <a:off x="1734" y="1091"/>
              <a:ext cx="139" cy="139"/>
            </a:xfrm>
            <a:custGeom>
              <a:avLst/>
              <a:gdLst>
                <a:gd name="T0" fmla="*/ 0 w 418"/>
                <a:gd name="T1" fmla="*/ 418 h 418"/>
                <a:gd name="T2" fmla="*/ 417 w 418"/>
                <a:gd name="T3" fmla="*/ 0 h 418"/>
                <a:gd name="T4" fmla="*/ 418 w 418"/>
                <a:gd name="T5" fmla="*/ 0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8" h="418">
                  <a:moveTo>
                    <a:pt x="0" y="418"/>
                  </a:moveTo>
                  <a:lnTo>
                    <a:pt x="417" y="0"/>
                  </a:lnTo>
                  <a:lnTo>
                    <a:pt x="418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" name="Freeform 18"/>
            <p:cNvSpPr>
              <a:spLocks noChangeArrowheads="1"/>
            </p:cNvSpPr>
            <p:nvPr/>
          </p:nvSpPr>
          <p:spPr bwMode="auto">
            <a:xfrm>
              <a:off x="983" y="976"/>
              <a:ext cx="54" cy="54"/>
            </a:xfrm>
            <a:custGeom>
              <a:avLst/>
              <a:gdLst>
                <a:gd name="T0" fmla="*/ 0 w 162"/>
                <a:gd name="T1" fmla="*/ 162 h 162"/>
                <a:gd name="T2" fmla="*/ 161 w 162"/>
                <a:gd name="T3" fmla="*/ 0 h 162"/>
                <a:gd name="T4" fmla="*/ 162 w 162"/>
                <a:gd name="T5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2" h="162">
                  <a:moveTo>
                    <a:pt x="0" y="162"/>
                  </a:moveTo>
                  <a:lnTo>
                    <a:pt x="161" y="0"/>
                  </a:lnTo>
                  <a:lnTo>
                    <a:pt x="16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" name="Freeform 19"/>
            <p:cNvSpPr>
              <a:spLocks noChangeArrowheads="1"/>
            </p:cNvSpPr>
            <p:nvPr/>
          </p:nvSpPr>
          <p:spPr bwMode="auto">
            <a:xfrm>
              <a:off x="983" y="1093"/>
              <a:ext cx="127" cy="127"/>
            </a:xfrm>
            <a:custGeom>
              <a:avLst/>
              <a:gdLst>
                <a:gd name="T0" fmla="*/ 0 w 382"/>
                <a:gd name="T1" fmla="*/ 382 h 382"/>
                <a:gd name="T2" fmla="*/ 381 w 382"/>
                <a:gd name="T3" fmla="*/ 0 h 382"/>
                <a:gd name="T4" fmla="*/ 382 w 382"/>
                <a:gd name="T5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382">
                  <a:moveTo>
                    <a:pt x="0" y="382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" name="Freeform 20"/>
            <p:cNvSpPr>
              <a:spLocks noChangeArrowheads="1"/>
            </p:cNvSpPr>
            <p:nvPr/>
          </p:nvSpPr>
          <p:spPr bwMode="auto">
            <a:xfrm>
              <a:off x="1724" y="424"/>
              <a:ext cx="54" cy="54"/>
            </a:xfrm>
            <a:custGeom>
              <a:avLst/>
              <a:gdLst>
                <a:gd name="T0" fmla="*/ 0 w 162"/>
                <a:gd name="T1" fmla="*/ 161 h 161"/>
                <a:gd name="T2" fmla="*/ 161 w 162"/>
                <a:gd name="T3" fmla="*/ 0 h 161"/>
                <a:gd name="T4" fmla="*/ 162 w 162"/>
                <a:gd name="T5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2" h="161">
                  <a:moveTo>
                    <a:pt x="0" y="161"/>
                  </a:moveTo>
                  <a:lnTo>
                    <a:pt x="161" y="0"/>
                  </a:lnTo>
                  <a:lnTo>
                    <a:pt x="16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" name="Freeform 21"/>
            <p:cNvSpPr>
              <a:spLocks noChangeArrowheads="1"/>
            </p:cNvSpPr>
            <p:nvPr/>
          </p:nvSpPr>
          <p:spPr bwMode="auto">
            <a:xfrm>
              <a:off x="1120" y="1241"/>
              <a:ext cx="32" cy="32"/>
            </a:xfrm>
            <a:custGeom>
              <a:avLst/>
              <a:gdLst>
                <a:gd name="T0" fmla="*/ 0 w 97"/>
                <a:gd name="T1" fmla="*/ 96 h 96"/>
                <a:gd name="T2" fmla="*/ 95 w 97"/>
                <a:gd name="T3" fmla="*/ 0 h 96"/>
                <a:gd name="T4" fmla="*/ 97 w 97"/>
                <a:gd name="T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96">
                  <a:moveTo>
                    <a:pt x="0" y="96"/>
                  </a:moveTo>
                  <a:lnTo>
                    <a:pt x="95" y="0"/>
                  </a:lnTo>
                  <a:lnTo>
                    <a:pt x="97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" name="Freeform 22"/>
            <p:cNvSpPr>
              <a:spLocks noChangeArrowheads="1"/>
            </p:cNvSpPr>
            <p:nvPr/>
          </p:nvSpPr>
          <p:spPr bwMode="auto">
            <a:xfrm>
              <a:off x="1724" y="520"/>
              <a:ext cx="149" cy="148"/>
            </a:xfrm>
            <a:custGeom>
              <a:avLst/>
              <a:gdLst>
                <a:gd name="T0" fmla="*/ 0 w 447"/>
                <a:gd name="T1" fmla="*/ 445 h 445"/>
                <a:gd name="T2" fmla="*/ 446 w 447"/>
                <a:gd name="T3" fmla="*/ 0 h 445"/>
                <a:gd name="T4" fmla="*/ 447 w 447"/>
                <a:gd name="T5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7" h="445">
                  <a:moveTo>
                    <a:pt x="0" y="445"/>
                  </a:moveTo>
                  <a:lnTo>
                    <a:pt x="446" y="0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" name="Freeform 23"/>
            <p:cNvSpPr>
              <a:spLocks noChangeArrowheads="1"/>
            </p:cNvSpPr>
            <p:nvPr/>
          </p:nvSpPr>
          <p:spPr bwMode="auto">
            <a:xfrm>
              <a:off x="1385" y="976"/>
              <a:ext cx="33" cy="32"/>
            </a:xfrm>
            <a:custGeom>
              <a:avLst/>
              <a:gdLst>
                <a:gd name="T0" fmla="*/ 0 w 98"/>
                <a:gd name="T1" fmla="*/ 96 h 96"/>
                <a:gd name="T2" fmla="*/ 96 w 98"/>
                <a:gd name="T3" fmla="*/ 0 h 96"/>
                <a:gd name="T4" fmla="*/ 98 w 98"/>
                <a:gd name="T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96">
                  <a:moveTo>
                    <a:pt x="0" y="96"/>
                  </a:moveTo>
                  <a:lnTo>
                    <a:pt x="96" y="0"/>
                  </a:lnTo>
                  <a:lnTo>
                    <a:pt x="98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" name="Freeform 24"/>
            <p:cNvSpPr>
              <a:spLocks noChangeArrowheads="1"/>
            </p:cNvSpPr>
            <p:nvPr/>
          </p:nvSpPr>
          <p:spPr bwMode="auto">
            <a:xfrm>
              <a:off x="1322" y="976"/>
              <a:ext cx="286" cy="286"/>
            </a:xfrm>
            <a:custGeom>
              <a:avLst/>
              <a:gdLst>
                <a:gd name="T0" fmla="*/ 0 w 858"/>
                <a:gd name="T1" fmla="*/ 858 h 858"/>
                <a:gd name="T2" fmla="*/ 857 w 858"/>
                <a:gd name="T3" fmla="*/ 0 h 858"/>
                <a:gd name="T4" fmla="*/ 858 w 858"/>
                <a:gd name="T5" fmla="*/ 0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8" h="858">
                  <a:moveTo>
                    <a:pt x="0" y="858"/>
                  </a:moveTo>
                  <a:lnTo>
                    <a:pt x="857" y="0"/>
                  </a:lnTo>
                  <a:lnTo>
                    <a:pt x="858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5" name="Freeform 25"/>
            <p:cNvSpPr>
              <a:spLocks noChangeArrowheads="1"/>
            </p:cNvSpPr>
            <p:nvPr/>
          </p:nvSpPr>
          <p:spPr bwMode="auto">
            <a:xfrm>
              <a:off x="1724" y="710"/>
              <a:ext cx="149" cy="149"/>
            </a:xfrm>
            <a:custGeom>
              <a:avLst/>
              <a:gdLst>
                <a:gd name="T0" fmla="*/ 0 w 447"/>
                <a:gd name="T1" fmla="*/ 446 h 446"/>
                <a:gd name="T2" fmla="*/ 446 w 447"/>
                <a:gd name="T3" fmla="*/ 0 h 446"/>
                <a:gd name="T4" fmla="*/ 447 w 447"/>
                <a:gd name="T5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7" h="446">
                  <a:moveTo>
                    <a:pt x="0" y="446"/>
                  </a:moveTo>
                  <a:lnTo>
                    <a:pt x="446" y="0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" name="Freeform 26"/>
            <p:cNvSpPr>
              <a:spLocks noChangeArrowheads="1"/>
            </p:cNvSpPr>
            <p:nvPr/>
          </p:nvSpPr>
          <p:spPr bwMode="auto">
            <a:xfrm>
              <a:off x="1501" y="901"/>
              <a:ext cx="372" cy="372"/>
            </a:xfrm>
            <a:custGeom>
              <a:avLst/>
              <a:gdLst>
                <a:gd name="T0" fmla="*/ 0 w 1116"/>
                <a:gd name="T1" fmla="*/ 1116 h 1116"/>
                <a:gd name="T2" fmla="*/ 1115 w 1116"/>
                <a:gd name="T3" fmla="*/ 0 h 1116"/>
                <a:gd name="T4" fmla="*/ 1116 w 1116"/>
                <a:gd name="T5" fmla="*/ 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16" h="1116">
                  <a:moveTo>
                    <a:pt x="0" y="1116"/>
                  </a:moveTo>
                  <a:lnTo>
                    <a:pt x="1115" y="0"/>
                  </a:lnTo>
                  <a:lnTo>
                    <a:pt x="1116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" name="Freeform 27"/>
            <p:cNvSpPr>
              <a:spLocks noChangeArrowheads="1"/>
            </p:cNvSpPr>
            <p:nvPr/>
          </p:nvSpPr>
          <p:spPr bwMode="auto">
            <a:xfrm>
              <a:off x="2297" y="518"/>
              <a:ext cx="148" cy="149"/>
            </a:xfrm>
            <a:custGeom>
              <a:avLst/>
              <a:gdLst>
                <a:gd name="T0" fmla="*/ 0 w 445"/>
                <a:gd name="T1" fmla="*/ 446 h 446"/>
                <a:gd name="T2" fmla="*/ 444 w 445"/>
                <a:gd name="T3" fmla="*/ 0 h 446"/>
                <a:gd name="T4" fmla="*/ 445 w 445"/>
                <a:gd name="T5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5" h="446">
                  <a:moveTo>
                    <a:pt x="0" y="446"/>
                  </a:moveTo>
                  <a:lnTo>
                    <a:pt x="444" y="0"/>
                  </a:lnTo>
                  <a:lnTo>
                    <a:pt x="44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" name="Freeform 28"/>
            <p:cNvSpPr>
              <a:spLocks noChangeArrowheads="1"/>
            </p:cNvSpPr>
            <p:nvPr/>
          </p:nvSpPr>
          <p:spPr bwMode="auto">
            <a:xfrm>
              <a:off x="2297" y="709"/>
              <a:ext cx="148" cy="148"/>
            </a:xfrm>
            <a:custGeom>
              <a:avLst/>
              <a:gdLst>
                <a:gd name="T0" fmla="*/ 0 w 445"/>
                <a:gd name="T1" fmla="*/ 446 h 446"/>
                <a:gd name="T2" fmla="*/ 444 w 445"/>
                <a:gd name="T3" fmla="*/ 0 h 446"/>
                <a:gd name="T4" fmla="*/ 445 w 445"/>
                <a:gd name="T5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5" h="446">
                  <a:moveTo>
                    <a:pt x="0" y="446"/>
                  </a:moveTo>
                  <a:lnTo>
                    <a:pt x="444" y="0"/>
                  </a:lnTo>
                  <a:lnTo>
                    <a:pt x="44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" name="Freeform 29"/>
            <p:cNvSpPr>
              <a:spLocks noChangeArrowheads="1"/>
            </p:cNvSpPr>
            <p:nvPr/>
          </p:nvSpPr>
          <p:spPr bwMode="auto">
            <a:xfrm>
              <a:off x="2443" y="780"/>
              <a:ext cx="121" cy="121"/>
            </a:xfrm>
            <a:custGeom>
              <a:avLst/>
              <a:gdLst>
                <a:gd name="T0" fmla="*/ 0 w 365"/>
                <a:gd name="T1" fmla="*/ 363 h 363"/>
                <a:gd name="T2" fmla="*/ 364 w 365"/>
                <a:gd name="T3" fmla="*/ 0 h 363"/>
                <a:gd name="T4" fmla="*/ 365 w 365"/>
                <a:gd name="T5" fmla="*/ 0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5" h="363">
                  <a:moveTo>
                    <a:pt x="0" y="363"/>
                  </a:moveTo>
                  <a:lnTo>
                    <a:pt x="364" y="0"/>
                  </a:lnTo>
                  <a:lnTo>
                    <a:pt x="36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" name="Freeform 30"/>
            <p:cNvSpPr>
              <a:spLocks noChangeArrowheads="1"/>
            </p:cNvSpPr>
            <p:nvPr/>
          </p:nvSpPr>
          <p:spPr bwMode="auto">
            <a:xfrm>
              <a:off x="2322" y="1071"/>
              <a:ext cx="142" cy="142"/>
            </a:xfrm>
            <a:custGeom>
              <a:avLst/>
              <a:gdLst>
                <a:gd name="T0" fmla="*/ 0 w 427"/>
                <a:gd name="T1" fmla="*/ 427 h 427"/>
                <a:gd name="T2" fmla="*/ 426 w 427"/>
                <a:gd name="T3" fmla="*/ 0 h 427"/>
                <a:gd name="T4" fmla="*/ 427 w 427"/>
                <a:gd name="T5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7" h="427">
                  <a:moveTo>
                    <a:pt x="0" y="427"/>
                  </a:moveTo>
                  <a:lnTo>
                    <a:pt x="426" y="0"/>
                  </a:lnTo>
                  <a:lnTo>
                    <a:pt x="427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" name="Freeform 31"/>
            <p:cNvSpPr>
              <a:spLocks noChangeArrowheads="1"/>
            </p:cNvSpPr>
            <p:nvPr/>
          </p:nvSpPr>
          <p:spPr bwMode="auto">
            <a:xfrm>
              <a:off x="2495" y="1141"/>
              <a:ext cx="90" cy="89"/>
            </a:xfrm>
            <a:custGeom>
              <a:avLst/>
              <a:gdLst>
                <a:gd name="T0" fmla="*/ 0 w 270"/>
                <a:gd name="T1" fmla="*/ 269 h 269"/>
                <a:gd name="T2" fmla="*/ 269 w 270"/>
                <a:gd name="T3" fmla="*/ 0 h 269"/>
                <a:gd name="T4" fmla="*/ 270 w 270"/>
                <a:gd name="T5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0" h="269">
                  <a:moveTo>
                    <a:pt x="0" y="269"/>
                  </a:moveTo>
                  <a:lnTo>
                    <a:pt x="269" y="0"/>
                  </a:lnTo>
                  <a:lnTo>
                    <a:pt x="27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32" name="Group 32"/>
          <p:cNvGrpSpPr>
            <a:grpSpLocks/>
          </p:cNvGrpSpPr>
          <p:nvPr/>
        </p:nvGrpSpPr>
        <p:grpSpPr bwMode="auto">
          <a:xfrm>
            <a:off x="2784475" y="1666875"/>
            <a:ext cx="2376488" cy="1347788"/>
            <a:chOff x="715" y="703"/>
            <a:chExt cx="1497" cy="849"/>
          </a:xfrm>
        </p:grpSpPr>
        <p:sp>
          <p:nvSpPr>
            <p:cNvPr id="33" name="Freeform 33"/>
            <p:cNvSpPr>
              <a:spLocks noChangeArrowheads="1"/>
            </p:cNvSpPr>
            <p:nvPr/>
          </p:nvSpPr>
          <p:spPr bwMode="auto">
            <a:xfrm>
              <a:off x="1924" y="746"/>
              <a:ext cx="1" cy="434"/>
            </a:xfrm>
            <a:custGeom>
              <a:avLst/>
              <a:gdLst>
                <a:gd name="T0" fmla="*/ 0 w 1"/>
                <a:gd name="T1" fmla="*/ 1303 h 1303"/>
                <a:gd name="T2" fmla="*/ 0 w 1"/>
                <a:gd name="T3" fmla="*/ 0 h 1303"/>
                <a:gd name="T4" fmla="*/ 1 w 1"/>
                <a:gd name="T5" fmla="*/ 0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03">
                  <a:moveTo>
                    <a:pt x="0" y="130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" name="Freeform 34"/>
            <p:cNvSpPr>
              <a:spLocks noChangeArrowheads="1"/>
            </p:cNvSpPr>
            <p:nvPr/>
          </p:nvSpPr>
          <p:spPr bwMode="auto">
            <a:xfrm>
              <a:off x="1500" y="746"/>
              <a:ext cx="1" cy="754"/>
            </a:xfrm>
            <a:custGeom>
              <a:avLst/>
              <a:gdLst>
                <a:gd name="T0" fmla="*/ 0 w 1"/>
                <a:gd name="T1" fmla="*/ 754 h 754"/>
                <a:gd name="T2" fmla="*/ 0 w 1"/>
                <a:gd name="T3" fmla="*/ 0 h 754"/>
                <a:gd name="T4" fmla="*/ 1 w 1"/>
                <a:gd name="T5" fmla="*/ 0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54">
                  <a:moveTo>
                    <a:pt x="0" y="75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" name="Freeform 35"/>
            <p:cNvSpPr>
              <a:spLocks noChangeArrowheads="1"/>
            </p:cNvSpPr>
            <p:nvPr/>
          </p:nvSpPr>
          <p:spPr bwMode="auto">
            <a:xfrm>
              <a:off x="779" y="1372"/>
              <a:ext cx="1" cy="180"/>
            </a:xfrm>
            <a:custGeom>
              <a:avLst/>
              <a:gdLst>
                <a:gd name="T0" fmla="*/ 0 w 2"/>
                <a:gd name="T1" fmla="*/ 540 h 540"/>
                <a:gd name="T2" fmla="*/ 0 w 2"/>
                <a:gd name="T3" fmla="*/ 0 h 540"/>
                <a:gd name="T4" fmla="*/ 2 w 2"/>
                <a:gd name="T5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40">
                  <a:moveTo>
                    <a:pt x="0" y="54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6" name="Freeform 36"/>
            <p:cNvSpPr>
              <a:spLocks noChangeArrowheads="1"/>
            </p:cNvSpPr>
            <p:nvPr/>
          </p:nvSpPr>
          <p:spPr bwMode="auto">
            <a:xfrm>
              <a:off x="949" y="1372"/>
              <a:ext cx="1" cy="180"/>
            </a:xfrm>
            <a:custGeom>
              <a:avLst/>
              <a:gdLst>
                <a:gd name="T0" fmla="*/ 0 w 1"/>
                <a:gd name="T1" fmla="*/ 540 h 540"/>
                <a:gd name="T2" fmla="*/ 0 w 1"/>
                <a:gd name="T3" fmla="*/ 0 h 540"/>
                <a:gd name="T4" fmla="*/ 1 w 1"/>
                <a:gd name="T5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40">
                  <a:moveTo>
                    <a:pt x="0" y="54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" name="Freeform 37"/>
            <p:cNvSpPr>
              <a:spLocks noChangeArrowheads="1"/>
            </p:cNvSpPr>
            <p:nvPr/>
          </p:nvSpPr>
          <p:spPr bwMode="auto">
            <a:xfrm>
              <a:off x="715" y="1372"/>
              <a:ext cx="297" cy="1"/>
            </a:xfrm>
            <a:custGeom>
              <a:avLst/>
              <a:gdLst>
                <a:gd name="T0" fmla="*/ 0 w 891"/>
                <a:gd name="T1" fmla="*/ 0 h 1"/>
                <a:gd name="T2" fmla="*/ 890 w 891"/>
                <a:gd name="T3" fmla="*/ 0 h 1"/>
                <a:gd name="T4" fmla="*/ 891 w 89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1" h="1">
                  <a:moveTo>
                    <a:pt x="0" y="0"/>
                  </a:moveTo>
                  <a:lnTo>
                    <a:pt x="890" y="0"/>
                  </a:lnTo>
                  <a:lnTo>
                    <a:pt x="89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8" name="Freeform 38"/>
            <p:cNvSpPr>
              <a:spLocks noChangeArrowheads="1"/>
            </p:cNvSpPr>
            <p:nvPr/>
          </p:nvSpPr>
          <p:spPr bwMode="auto">
            <a:xfrm>
              <a:off x="715" y="1255"/>
              <a:ext cx="1" cy="117"/>
            </a:xfrm>
            <a:custGeom>
              <a:avLst/>
              <a:gdLst>
                <a:gd name="T0" fmla="*/ 0 w 1"/>
                <a:gd name="T1" fmla="*/ 351 h 351"/>
                <a:gd name="T2" fmla="*/ 0 w 1"/>
                <a:gd name="T3" fmla="*/ 0 h 351"/>
                <a:gd name="T4" fmla="*/ 1 w 1"/>
                <a:gd name="T5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51">
                  <a:moveTo>
                    <a:pt x="0" y="35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" name="Freeform 39"/>
            <p:cNvSpPr>
              <a:spLocks noChangeArrowheads="1"/>
            </p:cNvSpPr>
            <p:nvPr/>
          </p:nvSpPr>
          <p:spPr bwMode="auto">
            <a:xfrm>
              <a:off x="1012" y="1255"/>
              <a:ext cx="1" cy="117"/>
            </a:xfrm>
            <a:custGeom>
              <a:avLst/>
              <a:gdLst>
                <a:gd name="T0" fmla="*/ 0 w 1"/>
                <a:gd name="T1" fmla="*/ 351 h 351"/>
                <a:gd name="T2" fmla="*/ 0 w 1"/>
                <a:gd name="T3" fmla="*/ 0 h 351"/>
                <a:gd name="T4" fmla="*/ 1 w 1"/>
                <a:gd name="T5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51">
                  <a:moveTo>
                    <a:pt x="0" y="35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0" name="Freeform 40"/>
            <p:cNvSpPr>
              <a:spLocks noChangeArrowheads="1"/>
            </p:cNvSpPr>
            <p:nvPr/>
          </p:nvSpPr>
          <p:spPr bwMode="auto">
            <a:xfrm>
              <a:off x="1924" y="1350"/>
              <a:ext cx="288" cy="1"/>
            </a:xfrm>
            <a:custGeom>
              <a:avLst/>
              <a:gdLst>
                <a:gd name="T0" fmla="*/ 864 w 864"/>
                <a:gd name="T1" fmla="*/ 0 h 1"/>
                <a:gd name="T2" fmla="*/ 0 w 864"/>
                <a:gd name="T3" fmla="*/ 0 h 1"/>
                <a:gd name="T4" fmla="*/ 1 w 86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4" h="1">
                  <a:moveTo>
                    <a:pt x="864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1" name="Freeform 41"/>
            <p:cNvSpPr>
              <a:spLocks noChangeArrowheads="1"/>
            </p:cNvSpPr>
            <p:nvPr/>
          </p:nvSpPr>
          <p:spPr bwMode="auto">
            <a:xfrm>
              <a:off x="1911" y="1179"/>
              <a:ext cx="301" cy="1"/>
            </a:xfrm>
            <a:custGeom>
              <a:avLst/>
              <a:gdLst>
                <a:gd name="T0" fmla="*/ 301 w 301"/>
                <a:gd name="T1" fmla="*/ 1 h 1"/>
                <a:gd name="T2" fmla="*/ 0 w 30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01" h="1">
                  <a:moveTo>
                    <a:pt x="301" y="1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2" name="Freeform 42"/>
            <p:cNvSpPr>
              <a:spLocks noChangeArrowheads="1"/>
            </p:cNvSpPr>
            <p:nvPr/>
          </p:nvSpPr>
          <p:spPr bwMode="auto">
            <a:xfrm>
              <a:off x="1906" y="1180"/>
              <a:ext cx="18" cy="170"/>
            </a:xfrm>
            <a:custGeom>
              <a:avLst/>
              <a:gdLst>
                <a:gd name="T0" fmla="*/ 54 w 55"/>
                <a:gd name="T1" fmla="*/ 0 h 509"/>
                <a:gd name="T2" fmla="*/ 0 w 55"/>
                <a:gd name="T3" fmla="*/ 255 h 509"/>
                <a:gd name="T4" fmla="*/ 54 w 55"/>
                <a:gd name="T5" fmla="*/ 509 h 509"/>
                <a:gd name="T6" fmla="*/ 55 w 55"/>
                <a:gd name="T7" fmla="*/ 509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509">
                  <a:moveTo>
                    <a:pt x="54" y="0"/>
                  </a:moveTo>
                  <a:lnTo>
                    <a:pt x="0" y="255"/>
                  </a:lnTo>
                  <a:lnTo>
                    <a:pt x="54" y="509"/>
                  </a:lnTo>
                  <a:lnTo>
                    <a:pt x="55" y="50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3" name="Freeform 43"/>
            <p:cNvSpPr>
              <a:spLocks noChangeArrowheads="1"/>
            </p:cNvSpPr>
            <p:nvPr/>
          </p:nvSpPr>
          <p:spPr bwMode="auto">
            <a:xfrm>
              <a:off x="1922" y="1350"/>
              <a:ext cx="3" cy="150"/>
            </a:xfrm>
            <a:custGeom>
              <a:avLst/>
              <a:gdLst>
                <a:gd name="T0" fmla="*/ 0 w 3"/>
                <a:gd name="T1" fmla="*/ 150 h 150"/>
                <a:gd name="T2" fmla="*/ 2 w 3"/>
                <a:gd name="T3" fmla="*/ 0 h 150"/>
                <a:gd name="T4" fmla="*/ 3 w 3"/>
                <a:gd name="T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50">
                  <a:moveTo>
                    <a:pt x="0" y="150"/>
                  </a:moveTo>
                  <a:lnTo>
                    <a:pt x="2" y="0"/>
                  </a:lnTo>
                  <a:lnTo>
                    <a:pt x="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4" name="Freeform 44"/>
            <p:cNvSpPr>
              <a:spLocks noChangeArrowheads="1"/>
            </p:cNvSpPr>
            <p:nvPr/>
          </p:nvSpPr>
          <p:spPr bwMode="auto">
            <a:xfrm>
              <a:off x="1500" y="746"/>
              <a:ext cx="424" cy="1"/>
            </a:xfrm>
            <a:custGeom>
              <a:avLst/>
              <a:gdLst>
                <a:gd name="T0" fmla="*/ 0 w 1273"/>
                <a:gd name="T1" fmla="*/ 0 h 1"/>
                <a:gd name="T2" fmla="*/ 1272 w 1273"/>
                <a:gd name="T3" fmla="*/ 0 h 1"/>
                <a:gd name="T4" fmla="*/ 1273 w 127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73" h="1">
                  <a:moveTo>
                    <a:pt x="0" y="0"/>
                  </a:moveTo>
                  <a:lnTo>
                    <a:pt x="1272" y="0"/>
                  </a:lnTo>
                  <a:lnTo>
                    <a:pt x="127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5" name="Freeform 45"/>
            <p:cNvSpPr>
              <a:spLocks noChangeArrowheads="1"/>
            </p:cNvSpPr>
            <p:nvPr/>
          </p:nvSpPr>
          <p:spPr bwMode="auto">
            <a:xfrm>
              <a:off x="1457" y="703"/>
              <a:ext cx="43" cy="43"/>
            </a:xfrm>
            <a:custGeom>
              <a:avLst/>
              <a:gdLst>
                <a:gd name="T0" fmla="*/ 0 w 128"/>
                <a:gd name="T1" fmla="*/ 0 h 128"/>
                <a:gd name="T2" fmla="*/ 127 w 128"/>
                <a:gd name="T3" fmla="*/ 128 h 128"/>
                <a:gd name="T4" fmla="*/ 128 w 128"/>
                <a:gd name="T5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8" h="128">
                  <a:moveTo>
                    <a:pt x="0" y="0"/>
                  </a:moveTo>
                  <a:lnTo>
                    <a:pt x="127" y="128"/>
                  </a:lnTo>
                  <a:lnTo>
                    <a:pt x="128" y="12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6" name="Freeform 46"/>
            <p:cNvSpPr>
              <a:spLocks noChangeArrowheads="1"/>
            </p:cNvSpPr>
            <p:nvPr/>
          </p:nvSpPr>
          <p:spPr bwMode="auto">
            <a:xfrm>
              <a:off x="1924" y="703"/>
              <a:ext cx="42" cy="43"/>
            </a:xfrm>
            <a:custGeom>
              <a:avLst/>
              <a:gdLst>
                <a:gd name="T0" fmla="*/ 0 w 128"/>
                <a:gd name="T1" fmla="*/ 128 h 128"/>
                <a:gd name="T2" fmla="*/ 127 w 128"/>
                <a:gd name="T3" fmla="*/ 0 h 128"/>
                <a:gd name="T4" fmla="*/ 128 w 128"/>
                <a:gd name="T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8" h="128">
                  <a:moveTo>
                    <a:pt x="0" y="128"/>
                  </a:moveTo>
                  <a:lnTo>
                    <a:pt x="127" y="0"/>
                  </a:lnTo>
                  <a:lnTo>
                    <a:pt x="12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47" name="Group 47"/>
          <p:cNvGrpSpPr>
            <a:grpSpLocks/>
          </p:cNvGrpSpPr>
          <p:nvPr/>
        </p:nvGrpSpPr>
        <p:grpSpPr bwMode="auto">
          <a:xfrm>
            <a:off x="2614614" y="3365500"/>
            <a:ext cx="2657475" cy="1728788"/>
            <a:chOff x="981" y="1615"/>
            <a:chExt cx="1674" cy="1089"/>
          </a:xfrm>
        </p:grpSpPr>
        <p:sp>
          <p:nvSpPr>
            <p:cNvPr id="48" name="Freeform 48"/>
            <p:cNvSpPr>
              <a:spLocks noChangeArrowheads="1"/>
            </p:cNvSpPr>
            <p:nvPr/>
          </p:nvSpPr>
          <p:spPr bwMode="auto">
            <a:xfrm>
              <a:off x="1670" y="2045"/>
              <a:ext cx="467" cy="1"/>
            </a:xfrm>
            <a:custGeom>
              <a:avLst/>
              <a:gdLst>
                <a:gd name="T0" fmla="*/ 0 w 1400"/>
                <a:gd name="T1" fmla="*/ 0 h 1"/>
                <a:gd name="T2" fmla="*/ 1399 w 1400"/>
                <a:gd name="T3" fmla="*/ 0 h 1"/>
                <a:gd name="T4" fmla="*/ 1400 w 140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0" h="1">
                  <a:moveTo>
                    <a:pt x="0" y="0"/>
                  </a:moveTo>
                  <a:lnTo>
                    <a:pt x="1399" y="0"/>
                  </a:lnTo>
                  <a:lnTo>
                    <a:pt x="140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9" name="Freeform 49"/>
            <p:cNvSpPr>
              <a:spLocks noChangeArrowheads="1"/>
            </p:cNvSpPr>
            <p:nvPr/>
          </p:nvSpPr>
          <p:spPr bwMode="auto">
            <a:xfrm>
              <a:off x="2186" y="2045"/>
              <a:ext cx="23" cy="1"/>
            </a:xfrm>
            <a:custGeom>
              <a:avLst/>
              <a:gdLst>
                <a:gd name="T0" fmla="*/ 0 w 69"/>
                <a:gd name="T1" fmla="*/ 0 h 1"/>
                <a:gd name="T2" fmla="*/ 68 w 69"/>
                <a:gd name="T3" fmla="*/ 0 h 1"/>
                <a:gd name="T4" fmla="*/ 69 w 6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" h="1">
                  <a:moveTo>
                    <a:pt x="0" y="0"/>
                  </a:moveTo>
                  <a:lnTo>
                    <a:pt x="68" y="0"/>
                  </a:lnTo>
                  <a:lnTo>
                    <a:pt x="6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0" name="Freeform 50"/>
            <p:cNvSpPr>
              <a:spLocks noChangeArrowheads="1"/>
            </p:cNvSpPr>
            <p:nvPr/>
          </p:nvSpPr>
          <p:spPr bwMode="auto">
            <a:xfrm>
              <a:off x="2250" y="2045"/>
              <a:ext cx="405" cy="1"/>
            </a:xfrm>
            <a:custGeom>
              <a:avLst/>
              <a:gdLst>
                <a:gd name="T0" fmla="*/ 0 w 1215"/>
                <a:gd name="T1" fmla="*/ 0 h 1"/>
                <a:gd name="T2" fmla="*/ 1213 w 1215"/>
                <a:gd name="T3" fmla="*/ 0 h 1"/>
                <a:gd name="T4" fmla="*/ 1215 w 121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15" h="1">
                  <a:moveTo>
                    <a:pt x="0" y="0"/>
                  </a:moveTo>
                  <a:lnTo>
                    <a:pt x="1213" y="0"/>
                  </a:lnTo>
                  <a:lnTo>
                    <a:pt x="121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1" name="Oval 51"/>
            <p:cNvSpPr>
              <a:spLocks noChangeArrowheads="1"/>
            </p:cNvSpPr>
            <p:nvPr/>
          </p:nvSpPr>
          <p:spPr bwMode="auto">
            <a:xfrm>
              <a:off x="1089" y="2287"/>
              <a:ext cx="295" cy="292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2" name="Oval 52"/>
            <p:cNvSpPr>
              <a:spLocks noChangeArrowheads="1"/>
            </p:cNvSpPr>
            <p:nvPr/>
          </p:nvSpPr>
          <p:spPr bwMode="auto">
            <a:xfrm>
              <a:off x="1153" y="2353"/>
              <a:ext cx="164" cy="164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3" name="Oval 53"/>
            <p:cNvSpPr>
              <a:spLocks noChangeArrowheads="1"/>
            </p:cNvSpPr>
            <p:nvPr/>
          </p:nvSpPr>
          <p:spPr bwMode="auto">
            <a:xfrm>
              <a:off x="1725" y="1686"/>
              <a:ext cx="718" cy="720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4" name="Oval 54"/>
            <p:cNvSpPr>
              <a:spLocks noChangeArrowheads="1"/>
            </p:cNvSpPr>
            <p:nvPr/>
          </p:nvSpPr>
          <p:spPr bwMode="auto">
            <a:xfrm>
              <a:off x="1873" y="1836"/>
              <a:ext cx="424" cy="419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5" name="Oval 55"/>
            <p:cNvSpPr>
              <a:spLocks noChangeArrowheads="1"/>
            </p:cNvSpPr>
            <p:nvPr/>
          </p:nvSpPr>
          <p:spPr bwMode="auto">
            <a:xfrm>
              <a:off x="1830" y="1798"/>
              <a:ext cx="509" cy="502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6" name="Freeform 56"/>
            <p:cNvSpPr>
              <a:spLocks noChangeArrowheads="1"/>
            </p:cNvSpPr>
            <p:nvPr/>
          </p:nvSpPr>
          <p:spPr bwMode="auto">
            <a:xfrm>
              <a:off x="1237" y="1758"/>
              <a:ext cx="1" cy="386"/>
            </a:xfrm>
            <a:custGeom>
              <a:avLst/>
              <a:gdLst>
                <a:gd name="T0" fmla="*/ 0 w 1"/>
                <a:gd name="T1" fmla="*/ 0 h 1156"/>
                <a:gd name="T2" fmla="*/ 0 w 1"/>
                <a:gd name="T3" fmla="*/ 1156 h 1156"/>
                <a:gd name="T4" fmla="*/ 1 w 1"/>
                <a:gd name="T5" fmla="*/ 1156 h 1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156">
                  <a:moveTo>
                    <a:pt x="0" y="0"/>
                  </a:moveTo>
                  <a:lnTo>
                    <a:pt x="0" y="1156"/>
                  </a:lnTo>
                  <a:lnTo>
                    <a:pt x="1" y="11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7" name="Freeform 57"/>
            <p:cNvSpPr>
              <a:spLocks noChangeArrowheads="1"/>
            </p:cNvSpPr>
            <p:nvPr/>
          </p:nvSpPr>
          <p:spPr bwMode="auto">
            <a:xfrm>
              <a:off x="2585" y="1876"/>
              <a:ext cx="1" cy="339"/>
            </a:xfrm>
            <a:custGeom>
              <a:avLst/>
              <a:gdLst>
                <a:gd name="T0" fmla="*/ 0 w 1"/>
                <a:gd name="T1" fmla="*/ 0 h 1018"/>
                <a:gd name="T2" fmla="*/ 0 w 1"/>
                <a:gd name="T3" fmla="*/ 1018 h 1018"/>
                <a:gd name="T4" fmla="*/ 1 w 1"/>
                <a:gd name="T5" fmla="*/ 1018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18">
                  <a:moveTo>
                    <a:pt x="0" y="0"/>
                  </a:moveTo>
                  <a:lnTo>
                    <a:pt x="0" y="1018"/>
                  </a:lnTo>
                  <a:lnTo>
                    <a:pt x="1" y="101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58" name="Group 58"/>
            <p:cNvGrpSpPr>
              <a:grpSpLocks/>
            </p:cNvGrpSpPr>
            <p:nvPr/>
          </p:nvGrpSpPr>
          <p:grpSpPr bwMode="auto">
            <a:xfrm>
              <a:off x="1534" y="1685"/>
              <a:ext cx="1" cy="1018"/>
              <a:chOff x="1534" y="1685"/>
              <a:chExt cx="1" cy="1018"/>
            </a:xfrm>
          </p:grpSpPr>
          <p:sp>
            <p:nvSpPr>
              <p:cNvPr id="78" name="Freeform 59"/>
              <p:cNvSpPr>
                <a:spLocks noChangeArrowheads="1"/>
              </p:cNvSpPr>
              <p:nvPr/>
            </p:nvSpPr>
            <p:spPr bwMode="auto">
              <a:xfrm>
                <a:off x="1534" y="1685"/>
                <a:ext cx="1" cy="112"/>
              </a:xfrm>
              <a:custGeom>
                <a:avLst/>
                <a:gdLst>
                  <a:gd name="T0" fmla="*/ 0 w 1"/>
                  <a:gd name="T1" fmla="*/ 0 h 336"/>
                  <a:gd name="T2" fmla="*/ 0 w 1"/>
                  <a:gd name="T3" fmla="*/ 336 h 336"/>
                  <a:gd name="T4" fmla="*/ 1 w 1"/>
                  <a:gd name="T5" fmla="*/ 33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36">
                    <a:moveTo>
                      <a:pt x="0" y="0"/>
                    </a:moveTo>
                    <a:lnTo>
                      <a:pt x="0" y="336"/>
                    </a:lnTo>
                    <a:lnTo>
                      <a:pt x="1" y="33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9" name="Freeform 60"/>
              <p:cNvSpPr>
                <a:spLocks noChangeArrowheads="1"/>
              </p:cNvSpPr>
              <p:nvPr/>
            </p:nvSpPr>
            <p:spPr bwMode="auto">
              <a:xfrm>
                <a:off x="1534" y="1828"/>
                <a:ext cx="1" cy="122"/>
              </a:xfrm>
              <a:custGeom>
                <a:avLst/>
                <a:gdLst>
                  <a:gd name="T0" fmla="*/ 0 w 1"/>
                  <a:gd name="T1" fmla="*/ 0 h 367"/>
                  <a:gd name="T2" fmla="*/ 0 w 1"/>
                  <a:gd name="T3" fmla="*/ 367 h 367"/>
                  <a:gd name="T4" fmla="*/ 1 w 1"/>
                  <a:gd name="T5" fmla="*/ 367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67">
                    <a:moveTo>
                      <a:pt x="0" y="0"/>
                    </a:moveTo>
                    <a:lnTo>
                      <a:pt x="0" y="367"/>
                    </a:lnTo>
                    <a:lnTo>
                      <a:pt x="1" y="36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0" name="Freeform 61"/>
              <p:cNvSpPr>
                <a:spLocks noChangeArrowheads="1"/>
              </p:cNvSpPr>
              <p:nvPr/>
            </p:nvSpPr>
            <p:spPr bwMode="auto">
              <a:xfrm>
                <a:off x="1534" y="1980"/>
                <a:ext cx="1" cy="122"/>
              </a:xfrm>
              <a:custGeom>
                <a:avLst/>
                <a:gdLst>
                  <a:gd name="T0" fmla="*/ 0 w 1"/>
                  <a:gd name="T1" fmla="*/ 0 h 366"/>
                  <a:gd name="T2" fmla="*/ 0 w 1"/>
                  <a:gd name="T3" fmla="*/ 366 h 366"/>
                  <a:gd name="T4" fmla="*/ 1 w 1"/>
                  <a:gd name="T5" fmla="*/ 366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66">
                    <a:moveTo>
                      <a:pt x="0" y="0"/>
                    </a:moveTo>
                    <a:lnTo>
                      <a:pt x="0" y="366"/>
                    </a:lnTo>
                    <a:lnTo>
                      <a:pt x="1" y="36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1" name="Freeform 62"/>
              <p:cNvSpPr>
                <a:spLocks noChangeArrowheads="1"/>
              </p:cNvSpPr>
              <p:nvPr/>
            </p:nvSpPr>
            <p:spPr bwMode="auto">
              <a:xfrm>
                <a:off x="1534" y="2133"/>
                <a:ext cx="1" cy="122"/>
              </a:xfrm>
              <a:custGeom>
                <a:avLst/>
                <a:gdLst>
                  <a:gd name="T0" fmla="*/ 0 w 1"/>
                  <a:gd name="T1" fmla="*/ 0 h 367"/>
                  <a:gd name="T2" fmla="*/ 0 w 1"/>
                  <a:gd name="T3" fmla="*/ 367 h 367"/>
                  <a:gd name="T4" fmla="*/ 1 w 1"/>
                  <a:gd name="T5" fmla="*/ 367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67">
                    <a:moveTo>
                      <a:pt x="0" y="0"/>
                    </a:moveTo>
                    <a:lnTo>
                      <a:pt x="0" y="367"/>
                    </a:lnTo>
                    <a:lnTo>
                      <a:pt x="1" y="36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2" name="Freeform 63"/>
              <p:cNvSpPr>
                <a:spLocks noChangeArrowheads="1"/>
              </p:cNvSpPr>
              <p:nvPr/>
            </p:nvSpPr>
            <p:spPr bwMode="auto">
              <a:xfrm>
                <a:off x="1534" y="2286"/>
                <a:ext cx="1" cy="122"/>
              </a:xfrm>
              <a:custGeom>
                <a:avLst/>
                <a:gdLst>
                  <a:gd name="T0" fmla="*/ 0 w 1"/>
                  <a:gd name="T1" fmla="*/ 0 h 366"/>
                  <a:gd name="T2" fmla="*/ 0 w 1"/>
                  <a:gd name="T3" fmla="*/ 366 h 366"/>
                  <a:gd name="T4" fmla="*/ 1 w 1"/>
                  <a:gd name="T5" fmla="*/ 366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66">
                    <a:moveTo>
                      <a:pt x="0" y="0"/>
                    </a:moveTo>
                    <a:lnTo>
                      <a:pt x="0" y="366"/>
                    </a:lnTo>
                    <a:lnTo>
                      <a:pt x="1" y="36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3" name="Freeform 64"/>
              <p:cNvSpPr>
                <a:spLocks noChangeArrowheads="1"/>
              </p:cNvSpPr>
              <p:nvPr/>
            </p:nvSpPr>
            <p:spPr bwMode="auto">
              <a:xfrm>
                <a:off x="1534" y="2438"/>
                <a:ext cx="1" cy="123"/>
              </a:xfrm>
              <a:custGeom>
                <a:avLst/>
                <a:gdLst>
                  <a:gd name="T0" fmla="*/ 0 w 1"/>
                  <a:gd name="T1" fmla="*/ 0 h 367"/>
                  <a:gd name="T2" fmla="*/ 0 w 1"/>
                  <a:gd name="T3" fmla="*/ 367 h 367"/>
                  <a:gd name="T4" fmla="*/ 1 w 1"/>
                  <a:gd name="T5" fmla="*/ 367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67">
                    <a:moveTo>
                      <a:pt x="0" y="0"/>
                    </a:moveTo>
                    <a:lnTo>
                      <a:pt x="0" y="367"/>
                    </a:lnTo>
                    <a:lnTo>
                      <a:pt x="1" y="36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4" name="Freeform 65"/>
              <p:cNvSpPr>
                <a:spLocks noChangeArrowheads="1"/>
              </p:cNvSpPr>
              <p:nvPr/>
            </p:nvSpPr>
            <p:spPr bwMode="auto">
              <a:xfrm>
                <a:off x="1534" y="2591"/>
                <a:ext cx="1" cy="112"/>
              </a:xfrm>
              <a:custGeom>
                <a:avLst/>
                <a:gdLst>
                  <a:gd name="T0" fmla="*/ 0 w 1"/>
                  <a:gd name="T1" fmla="*/ 0 h 337"/>
                  <a:gd name="T2" fmla="*/ 0 w 1"/>
                  <a:gd name="T3" fmla="*/ 337 h 337"/>
                  <a:gd name="T4" fmla="*/ 1 w 1"/>
                  <a:gd name="T5" fmla="*/ 337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37">
                    <a:moveTo>
                      <a:pt x="0" y="0"/>
                    </a:moveTo>
                    <a:lnTo>
                      <a:pt x="0" y="337"/>
                    </a:lnTo>
                    <a:lnTo>
                      <a:pt x="1" y="33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59" name="Freeform 66"/>
            <p:cNvSpPr>
              <a:spLocks noChangeArrowheads="1"/>
            </p:cNvSpPr>
            <p:nvPr/>
          </p:nvSpPr>
          <p:spPr bwMode="auto">
            <a:xfrm>
              <a:off x="983" y="1727"/>
              <a:ext cx="1" cy="933"/>
            </a:xfrm>
            <a:custGeom>
              <a:avLst/>
              <a:gdLst>
                <a:gd name="T0" fmla="*/ 0 w 1"/>
                <a:gd name="T1" fmla="*/ 0 h 2799"/>
                <a:gd name="T2" fmla="*/ 0 w 1"/>
                <a:gd name="T3" fmla="*/ 2799 h 2799"/>
                <a:gd name="T4" fmla="*/ 1 w 1"/>
                <a:gd name="T5" fmla="*/ 2799 h 2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99">
                  <a:moveTo>
                    <a:pt x="0" y="0"/>
                  </a:moveTo>
                  <a:lnTo>
                    <a:pt x="0" y="2799"/>
                  </a:lnTo>
                  <a:lnTo>
                    <a:pt x="1" y="279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0" name="Freeform 67"/>
            <p:cNvSpPr>
              <a:spLocks noChangeArrowheads="1"/>
            </p:cNvSpPr>
            <p:nvPr/>
          </p:nvSpPr>
          <p:spPr bwMode="auto">
            <a:xfrm>
              <a:off x="1534" y="2372"/>
              <a:ext cx="704" cy="331"/>
            </a:xfrm>
            <a:custGeom>
              <a:avLst/>
              <a:gdLst>
                <a:gd name="T0" fmla="*/ 0 w 2114"/>
                <a:gd name="T1" fmla="*/ 995 h 995"/>
                <a:gd name="T2" fmla="*/ 2112 w 2114"/>
                <a:gd name="T3" fmla="*/ 0 h 995"/>
                <a:gd name="T4" fmla="*/ 2114 w 2114"/>
                <a:gd name="T5" fmla="*/ 0 h 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4" h="995">
                  <a:moveTo>
                    <a:pt x="0" y="995"/>
                  </a:moveTo>
                  <a:lnTo>
                    <a:pt x="2112" y="0"/>
                  </a:lnTo>
                  <a:lnTo>
                    <a:pt x="211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1" name="Freeform 68"/>
            <p:cNvSpPr>
              <a:spLocks noChangeArrowheads="1"/>
            </p:cNvSpPr>
            <p:nvPr/>
          </p:nvSpPr>
          <p:spPr bwMode="auto">
            <a:xfrm>
              <a:off x="1236" y="2246"/>
              <a:ext cx="1" cy="394"/>
            </a:xfrm>
            <a:custGeom>
              <a:avLst/>
              <a:gdLst>
                <a:gd name="T0" fmla="*/ 1 w 1"/>
                <a:gd name="T1" fmla="*/ 0 h 394"/>
                <a:gd name="T2" fmla="*/ 0 w 1"/>
                <a:gd name="T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94">
                  <a:moveTo>
                    <a:pt x="1" y="0"/>
                  </a:moveTo>
                  <a:lnTo>
                    <a:pt x="0" y="39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2" name="Freeform 69"/>
            <p:cNvSpPr>
              <a:spLocks noChangeArrowheads="1"/>
            </p:cNvSpPr>
            <p:nvPr/>
          </p:nvSpPr>
          <p:spPr bwMode="auto">
            <a:xfrm>
              <a:off x="1025" y="2703"/>
              <a:ext cx="509" cy="1"/>
            </a:xfrm>
            <a:custGeom>
              <a:avLst/>
              <a:gdLst>
                <a:gd name="T0" fmla="*/ 1526 w 1526"/>
                <a:gd name="T1" fmla="*/ 0 h 1"/>
                <a:gd name="T2" fmla="*/ 0 w 1526"/>
                <a:gd name="T3" fmla="*/ 0 h 1"/>
                <a:gd name="T4" fmla="*/ 1 w 152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6" h="1">
                  <a:moveTo>
                    <a:pt x="1526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3" name="Freeform 70"/>
            <p:cNvSpPr>
              <a:spLocks noChangeArrowheads="1"/>
            </p:cNvSpPr>
            <p:nvPr/>
          </p:nvSpPr>
          <p:spPr bwMode="auto">
            <a:xfrm>
              <a:off x="981" y="2649"/>
              <a:ext cx="44" cy="54"/>
            </a:xfrm>
            <a:custGeom>
              <a:avLst/>
              <a:gdLst>
                <a:gd name="T0" fmla="*/ 0 w 44"/>
                <a:gd name="T1" fmla="*/ 0 h 54"/>
                <a:gd name="T2" fmla="*/ 9 w 44"/>
                <a:gd name="T3" fmla="*/ 39 h 54"/>
                <a:gd name="T4" fmla="*/ 44 w 44"/>
                <a:gd name="T5" fmla="*/ 54 h 54"/>
                <a:gd name="T6" fmla="*/ 44 w 44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54">
                  <a:moveTo>
                    <a:pt x="0" y="0"/>
                  </a:moveTo>
                  <a:lnTo>
                    <a:pt x="9" y="39"/>
                  </a:lnTo>
                  <a:lnTo>
                    <a:pt x="44" y="5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4" name="Freeform 71"/>
            <p:cNvSpPr>
              <a:spLocks noChangeArrowheads="1"/>
            </p:cNvSpPr>
            <p:nvPr/>
          </p:nvSpPr>
          <p:spPr bwMode="auto">
            <a:xfrm>
              <a:off x="1043" y="2436"/>
              <a:ext cx="407" cy="1"/>
            </a:xfrm>
            <a:custGeom>
              <a:avLst/>
              <a:gdLst>
                <a:gd name="T0" fmla="*/ 0 w 1220"/>
                <a:gd name="T1" fmla="*/ 0 h 1"/>
                <a:gd name="T2" fmla="*/ 1219 w 1220"/>
                <a:gd name="T3" fmla="*/ 0 h 1"/>
                <a:gd name="T4" fmla="*/ 1220 w 122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0" h="1">
                  <a:moveTo>
                    <a:pt x="0" y="0"/>
                  </a:moveTo>
                  <a:lnTo>
                    <a:pt x="1219" y="0"/>
                  </a:lnTo>
                  <a:lnTo>
                    <a:pt x="122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5" name="Freeform 72"/>
            <p:cNvSpPr>
              <a:spLocks noChangeArrowheads="1"/>
            </p:cNvSpPr>
            <p:nvPr/>
          </p:nvSpPr>
          <p:spPr bwMode="auto">
            <a:xfrm>
              <a:off x="1026" y="1962"/>
              <a:ext cx="424" cy="1"/>
            </a:xfrm>
            <a:custGeom>
              <a:avLst/>
              <a:gdLst>
                <a:gd name="T0" fmla="*/ 0 w 1271"/>
                <a:gd name="T1" fmla="*/ 0 h 1"/>
                <a:gd name="T2" fmla="*/ 1270 w 1271"/>
                <a:gd name="T3" fmla="*/ 0 h 1"/>
                <a:gd name="T4" fmla="*/ 1271 w 127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71" h="1">
                  <a:moveTo>
                    <a:pt x="0" y="0"/>
                  </a:moveTo>
                  <a:lnTo>
                    <a:pt x="1270" y="0"/>
                  </a:lnTo>
                  <a:lnTo>
                    <a:pt x="127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66" name="Group 73"/>
            <p:cNvGrpSpPr>
              <a:grpSpLocks/>
            </p:cNvGrpSpPr>
            <p:nvPr/>
          </p:nvGrpSpPr>
          <p:grpSpPr bwMode="auto">
            <a:xfrm>
              <a:off x="2085" y="1615"/>
              <a:ext cx="1" cy="871"/>
              <a:chOff x="2085" y="1615"/>
              <a:chExt cx="1" cy="871"/>
            </a:xfrm>
          </p:grpSpPr>
          <p:sp>
            <p:nvSpPr>
              <p:cNvPr id="75" name="Freeform 74"/>
              <p:cNvSpPr>
                <a:spLocks noChangeArrowheads="1"/>
              </p:cNvSpPr>
              <p:nvPr/>
            </p:nvSpPr>
            <p:spPr bwMode="auto">
              <a:xfrm>
                <a:off x="2085" y="1615"/>
                <a:ext cx="1" cy="490"/>
              </a:xfrm>
              <a:custGeom>
                <a:avLst/>
                <a:gdLst>
                  <a:gd name="T0" fmla="*/ 0 w 1"/>
                  <a:gd name="T1" fmla="*/ 0 h 1472"/>
                  <a:gd name="T2" fmla="*/ 0 w 1"/>
                  <a:gd name="T3" fmla="*/ 1472 h 1472"/>
                  <a:gd name="T4" fmla="*/ 1 w 1"/>
                  <a:gd name="T5" fmla="*/ 1472 h 1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472">
                    <a:moveTo>
                      <a:pt x="0" y="0"/>
                    </a:moveTo>
                    <a:lnTo>
                      <a:pt x="0" y="1472"/>
                    </a:lnTo>
                    <a:lnTo>
                      <a:pt x="1" y="147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6" name="Freeform 75"/>
              <p:cNvSpPr>
                <a:spLocks noChangeArrowheads="1"/>
              </p:cNvSpPr>
              <p:nvPr/>
            </p:nvSpPr>
            <p:spPr bwMode="auto">
              <a:xfrm>
                <a:off x="2085" y="2208"/>
                <a:ext cx="1" cy="278"/>
              </a:xfrm>
              <a:custGeom>
                <a:avLst/>
                <a:gdLst>
                  <a:gd name="T0" fmla="*/ 0 w 1"/>
                  <a:gd name="T1" fmla="*/ 0 h 834"/>
                  <a:gd name="T2" fmla="*/ 0 w 1"/>
                  <a:gd name="T3" fmla="*/ 834 h 834"/>
                  <a:gd name="T4" fmla="*/ 1 w 1"/>
                  <a:gd name="T5" fmla="*/ 834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834">
                    <a:moveTo>
                      <a:pt x="0" y="0"/>
                    </a:moveTo>
                    <a:lnTo>
                      <a:pt x="0" y="834"/>
                    </a:lnTo>
                    <a:lnTo>
                      <a:pt x="1" y="83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7" name="Freeform 76"/>
              <p:cNvSpPr>
                <a:spLocks noChangeArrowheads="1"/>
              </p:cNvSpPr>
              <p:nvPr/>
            </p:nvSpPr>
            <p:spPr bwMode="auto">
              <a:xfrm>
                <a:off x="2085" y="2147"/>
                <a:ext cx="1" cy="19"/>
              </a:xfrm>
              <a:custGeom>
                <a:avLst/>
                <a:gdLst>
                  <a:gd name="T0" fmla="*/ 0 w 1"/>
                  <a:gd name="T1" fmla="*/ 0 h 56"/>
                  <a:gd name="T2" fmla="*/ 0 w 1"/>
                  <a:gd name="T3" fmla="*/ 56 h 56"/>
                  <a:gd name="T4" fmla="*/ 1 w 1"/>
                  <a:gd name="T5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6">
                    <a:moveTo>
                      <a:pt x="0" y="0"/>
                    </a:moveTo>
                    <a:lnTo>
                      <a:pt x="0" y="56"/>
                    </a:lnTo>
                    <a:lnTo>
                      <a:pt x="1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67" name="Freeform 77"/>
            <p:cNvSpPr>
              <a:spLocks noChangeArrowheads="1"/>
            </p:cNvSpPr>
            <p:nvPr/>
          </p:nvSpPr>
          <p:spPr bwMode="auto">
            <a:xfrm>
              <a:off x="2542" y="2193"/>
              <a:ext cx="44" cy="65"/>
            </a:xfrm>
            <a:custGeom>
              <a:avLst/>
              <a:gdLst>
                <a:gd name="T0" fmla="*/ 0 w 44"/>
                <a:gd name="T1" fmla="*/ 65 h 65"/>
                <a:gd name="T2" fmla="*/ 30 w 44"/>
                <a:gd name="T3" fmla="*/ 53 h 65"/>
                <a:gd name="T4" fmla="*/ 41 w 44"/>
                <a:gd name="T5" fmla="*/ 33 h 65"/>
                <a:gd name="T6" fmla="*/ 44 w 44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65">
                  <a:moveTo>
                    <a:pt x="0" y="65"/>
                  </a:moveTo>
                  <a:lnTo>
                    <a:pt x="30" y="53"/>
                  </a:lnTo>
                  <a:lnTo>
                    <a:pt x="41" y="33"/>
                  </a:lnTo>
                  <a:lnTo>
                    <a:pt x="4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8" name="Freeform 78"/>
            <p:cNvSpPr>
              <a:spLocks noChangeArrowheads="1"/>
            </p:cNvSpPr>
            <p:nvPr/>
          </p:nvSpPr>
          <p:spPr bwMode="auto">
            <a:xfrm>
              <a:off x="2376" y="2258"/>
              <a:ext cx="167" cy="1"/>
            </a:xfrm>
            <a:custGeom>
              <a:avLst/>
              <a:gdLst>
                <a:gd name="T0" fmla="*/ 0 w 501"/>
                <a:gd name="T1" fmla="*/ 0 h 1"/>
                <a:gd name="T2" fmla="*/ 500 w 501"/>
                <a:gd name="T3" fmla="*/ 0 h 1"/>
                <a:gd name="T4" fmla="*/ 501 w 50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1" h="1">
                  <a:moveTo>
                    <a:pt x="0" y="0"/>
                  </a:moveTo>
                  <a:lnTo>
                    <a:pt x="500" y="0"/>
                  </a:lnTo>
                  <a:lnTo>
                    <a:pt x="50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9" name="Freeform 79"/>
            <p:cNvSpPr>
              <a:spLocks noChangeArrowheads="1"/>
            </p:cNvSpPr>
            <p:nvPr/>
          </p:nvSpPr>
          <p:spPr bwMode="auto">
            <a:xfrm>
              <a:off x="1025" y="1685"/>
              <a:ext cx="1060" cy="1"/>
            </a:xfrm>
            <a:custGeom>
              <a:avLst/>
              <a:gdLst>
                <a:gd name="T0" fmla="*/ 3179 w 3179"/>
                <a:gd name="T1" fmla="*/ 0 h 1"/>
                <a:gd name="T2" fmla="*/ 0 w 3179"/>
                <a:gd name="T3" fmla="*/ 0 h 1"/>
                <a:gd name="T4" fmla="*/ 1 w 317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79" h="1">
                  <a:moveTo>
                    <a:pt x="3179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0" name="Freeform 80"/>
            <p:cNvSpPr>
              <a:spLocks noChangeArrowheads="1"/>
            </p:cNvSpPr>
            <p:nvPr/>
          </p:nvSpPr>
          <p:spPr bwMode="auto">
            <a:xfrm>
              <a:off x="983" y="1685"/>
              <a:ext cx="42" cy="42"/>
            </a:xfrm>
            <a:custGeom>
              <a:avLst/>
              <a:gdLst>
                <a:gd name="T0" fmla="*/ 127 w 127"/>
                <a:gd name="T1" fmla="*/ 0 h 127"/>
                <a:gd name="T2" fmla="*/ 36 w 127"/>
                <a:gd name="T3" fmla="*/ 38 h 127"/>
                <a:gd name="T4" fmla="*/ 0 w 127"/>
                <a:gd name="T5" fmla="*/ 127 h 127"/>
                <a:gd name="T6" fmla="*/ 1 w 127"/>
                <a:gd name="T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127">
                  <a:moveTo>
                    <a:pt x="127" y="0"/>
                  </a:moveTo>
                  <a:lnTo>
                    <a:pt x="36" y="38"/>
                  </a:lnTo>
                  <a:lnTo>
                    <a:pt x="0" y="127"/>
                  </a:lnTo>
                  <a:lnTo>
                    <a:pt x="1" y="12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1" name="Freeform 81"/>
            <p:cNvSpPr>
              <a:spLocks noChangeArrowheads="1"/>
            </p:cNvSpPr>
            <p:nvPr/>
          </p:nvSpPr>
          <p:spPr bwMode="auto">
            <a:xfrm>
              <a:off x="2376" y="1834"/>
              <a:ext cx="167" cy="1"/>
            </a:xfrm>
            <a:custGeom>
              <a:avLst/>
              <a:gdLst>
                <a:gd name="T0" fmla="*/ 0 w 501"/>
                <a:gd name="T1" fmla="*/ 0 h 1"/>
                <a:gd name="T2" fmla="*/ 500 w 501"/>
                <a:gd name="T3" fmla="*/ 0 h 1"/>
                <a:gd name="T4" fmla="*/ 501 w 50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1" h="1">
                  <a:moveTo>
                    <a:pt x="0" y="0"/>
                  </a:moveTo>
                  <a:lnTo>
                    <a:pt x="500" y="0"/>
                  </a:lnTo>
                  <a:lnTo>
                    <a:pt x="50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2" name="Freeform 82"/>
            <p:cNvSpPr>
              <a:spLocks noChangeArrowheads="1"/>
            </p:cNvSpPr>
            <p:nvPr/>
          </p:nvSpPr>
          <p:spPr bwMode="auto">
            <a:xfrm>
              <a:off x="2535" y="1830"/>
              <a:ext cx="50" cy="46"/>
            </a:xfrm>
            <a:custGeom>
              <a:avLst/>
              <a:gdLst>
                <a:gd name="T0" fmla="*/ 50 w 50"/>
                <a:gd name="T1" fmla="*/ 46 h 46"/>
                <a:gd name="T2" fmla="*/ 37 w 50"/>
                <a:gd name="T3" fmla="*/ 16 h 46"/>
                <a:gd name="T4" fmla="*/ 21 w 50"/>
                <a:gd name="T5" fmla="*/ 3 h 46"/>
                <a:gd name="T6" fmla="*/ 0 w 50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46">
                  <a:moveTo>
                    <a:pt x="50" y="46"/>
                  </a:moveTo>
                  <a:lnTo>
                    <a:pt x="37" y="16"/>
                  </a:lnTo>
                  <a:lnTo>
                    <a:pt x="21" y="3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3" name="Oval 83"/>
            <p:cNvSpPr>
              <a:spLocks noChangeArrowheads="1"/>
            </p:cNvSpPr>
            <p:nvPr/>
          </p:nvSpPr>
          <p:spPr bwMode="auto">
            <a:xfrm>
              <a:off x="1088" y="1813"/>
              <a:ext cx="295" cy="292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4" name="Oval 84"/>
            <p:cNvSpPr>
              <a:spLocks noChangeArrowheads="1"/>
            </p:cNvSpPr>
            <p:nvPr/>
          </p:nvSpPr>
          <p:spPr bwMode="auto">
            <a:xfrm>
              <a:off x="1155" y="1876"/>
              <a:ext cx="164" cy="164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85" name="Group 85"/>
          <p:cNvGrpSpPr>
            <a:grpSpLocks/>
          </p:cNvGrpSpPr>
          <p:nvPr/>
        </p:nvGrpSpPr>
        <p:grpSpPr bwMode="auto">
          <a:xfrm>
            <a:off x="2617788" y="1538288"/>
            <a:ext cx="4260850" cy="1649412"/>
            <a:chOff x="983" y="343"/>
            <a:chExt cx="2684" cy="1039"/>
          </a:xfrm>
        </p:grpSpPr>
        <p:sp>
          <p:nvSpPr>
            <p:cNvPr id="86" name="Freeform 86"/>
            <p:cNvSpPr>
              <a:spLocks noChangeArrowheads="1"/>
            </p:cNvSpPr>
            <p:nvPr/>
          </p:nvSpPr>
          <p:spPr bwMode="auto">
            <a:xfrm>
              <a:off x="2085" y="343"/>
              <a:ext cx="1" cy="481"/>
            </a:xfrm>
            <a:custGeom>
              <a:avLst/>
              <a:gdLst>
                <a:gd name="T0" fmla="*/ 0 w 1"/>
                <a:gd name="T1" fmla="*/ 0 h 1442"/>
                <a:gd name="T2" fmla="*/ 0 w 1"/>
                <a:gd name="T3" fmla="*/ 1442 h 1442"/>
                <a:gd name="T4" fmla="*/ 1 w 1"/>
                <a:gd name="T5" fmla="*/ 1442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42">
                  <a:moveTo>
                    <a:pt x="0" y="0"/>
                  </a:moveTo>
                  <a:lnTo>
                    <a:pt x="0" y="1442"/>
                  </a:lnTo>
                  <a:lnTo>
                    <a:pt x="1" y="144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7" name="Freeform 87"/>
            <p:cNvSpPr>
              <a:spLocks noChangeArrowheads="1"/>
            </p:cNvSpPr>
            <p:nvPr/>
          </p:nvSpPr>
          <p:spPr bwMode="auto">
            <a:xfrm>
              <a:off x="2085" y="961"/>
              <a:ext cx="1" cy="381"/>
            </a:xfrm>
            <a:custGeom>
              <a:avLst/>
              <a:gdLst>
                <a:gd name="T0" fmla="*/ 0 w 1"/>
                <a:gd name="T1" fmla="*/ 0 h 1143"/>
                <a:gd name="T2" fmla="*/ 0 w 1"/>
                <a:gd name="T3" fmla="*/ 1143 h 1143"/>
                <a:gd name="T4" fmla="*/ 1 w 1"/>
                <a:gd name="T5" fmla="*/ 1143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143">
                  <a:moveTo>
                    <a:pt x="0" y="0"/>
                  </a:moveTo>
                  <a:lnTo>
                    <a:pt x="0" y="1143"/>
                  </a:lnTo>
                  <a:lnTo>
                    <a:pt x="1" y="1143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8" name="Freeform 88"/>
            <p:cNvSpPr>
              <a:spLocks noChangeArrowheads="1"/>
            </p:cNvSpPr>
            <p:nvPr/>
          </p:nvSpPr>
          <p:spPr bwMode="auto">
            <a:xfrm>
              <a:off x="2085" y="873"/>
              <a:ext cx="1" cy="31"/>
            </a:xfrm>
            <a:custGeom>
              <a:avLst/>
              <a:gdLst>
                <a:gd name="T0" fmla="*/ 0 w 1"/>
                <a:gd name="T1" fmla="*/ 0 h 92"/>
                <a:gd name="T2" fmla="*/ 0 w 1"/>
                <a:gd name="T3" fmla="*/ 92 h 92"/>
                <a:gd name="T4" fmla="*/ 1 w 1"/>
                <a:gd name="T5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2">
                  <a:moveTo>
                    <a:pt x="0" y="0"/>
                  </a:moveTo>
                  <a:lnTo>
                    <a:pt x="0" y="92"/>
                  </a:lnTo>
                  <a:lnTo>
                    <a:pt x="1" y="9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9" name="Freeform 89"/>
            <p:cNvSpPr>
              <a:spLocks noChangeArrowheads="1"/>
            </p:cNvSpPr>
            <p:nvPr/>
          </p:nvSpPr>
          <p:spPr bwMode="auto">
            <a:xfrm>
              <a:off x="1237" y="1219"/>
              <a:ext cx="1" cy="163"/>
            </a:xfrm>
            <a:custGeom>
              <a:avLst/>
              <a:gdLst>
                <a:gd name="T0" fmla="*/ 0 w 1"/>
                <a:gd name="T1" fmla="*/ 0 h 489"/>
                <a:gd name="T2" fmla="*/ 0 w 1"/>
                <a:gd name="T3" fmla="*/ 489 h 489"/>
                <a:gd name="T4" fmla="*/ 1 w 1"/>
                <a:gd name="T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89">
                  <a:moveTo>
                    <a:pt x="0" y="0"/>
                  </a:moveTo>
                  <a:lnTo>
                    <a:pt x="0" y="489"/>
                  </a:lnTo>
                  <a:lnTo>
                    <a:pt x="1" y="4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0" name="Freeform 90"/>
            <p:cNvSpPr>
              <a:spLocks noChangeArrowheads="1"/>
            </p:cNvSpPr>
            <p:nvPr/>
          </p:nvSpPr>
          <p:spPr bwMode="auto">
            <a:xfrm>
              <a:off x="1237" y="915"/>
              <a:ext cx="1" cy="229"/>
            </a:xfrm>
            <a:custGeom>
              <a:avLst/>
              <a:gdLst>
                <a:gd name="T0" fmla="*/ 0 w 1"/>
                <a:gd name="T1" fmla="*/ 0 h 686"/>
                <a:gd name="T2" fmla="*/ 0 w 1"/>
                <a:gd name="T3" fmla="*/ 686 h 686"/>
                <a:gd name="T4" fmla="*/ 1 w 1"/>
                <a:gd name="T5" fmla="*/ 686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86">
                  <a:moveTo>
                    <a:pt x="0" y="0"/>
                  </a:moveTo>
                  <a:lnTo>
                    <a:pt x="0" y="686"/>
                  </a:lnTo>
                  <a:lnTo>
                    <a:pt x="1" y="68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1" name="Freeform 91"/>
            <p:cNvSpPr>
              <a:spLocks noChangeArrowheads="1"/>
            </p:cNvSpPr>
            <p:nvPr/>
          </p:nvSpPr>
          <p:spPr bwMode="auto">
            <a:xfrm>
              <a:off x="1237" y="1174"/>
              <a:ext cx="1" cy="19"/>
            </a:xfrm>
            <a:custGeom>
              <a:avLst/>
              <a:gdLst>
                <a:gd name="T0" fmla="*/ 0 w 1"/>
                <a:gd name="T1" fmla="*/ 0 h 58"/>
                <a:gd name="T2" fmla="*/ 0 w 1"/>
                <a:gd name="T3" fmla="*/ 58 h 58"/>
                <a:gd name="T4" fmla="*/ 1 w 1"/>
                <a:gd name="T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8">
                  <a:moveTo>
                    <a:pt x="0" y="0"/>
                  </a:moveTo>
                  <a:lnTo>
                    <a:pt x="0" y="58"/>
                  </a:lnTo>
                  <a:lnTo>
                    <a:pt x="1" y="5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2" name="Freeform 92"/>
            <p:cNvSpPr>
              <a:spLocks noChangeArrowheads="1"/>
            </p:cNvSpPr>
            <p:nvPr/>
          </p:nvSpPr>
          <p:spPr bwMode="auto">
            <a:xfrm>
              <a:off x="2237" y="986"/>
              <a:ext cx="145" cy="1"/>
            </a:xfrm>
            <a:custGeom>
              <a:avLst/>
              <a:gdLst>
                <a:gd name="T0" fmla="*/ 0 w 435"/>
                <a:gd name="T1" fmla="*/ 0 h 1"/>
                <a:gd name="T2" fmla="*/ 434 w 435"/>
                <a:gd name="T3" fmla="*/ 0 h 1"/>
                <a:gd name="T4" fmla="*/ 435 w 4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5" h="1">
                  <a:moveTo>
                    <a:pt x="0" y="0"/>
                  </a:moveTo>
                  <a:lnTo>
                    <a:pt x="434" y="0"/>
                  </a:lnTo>
                  <a:lnTo>
                    <a:pt x="43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3" name="Freeform 93"/>
            <p:cNvSpPr>
              <a:spLocks noChangeArrowheads="1"/>
            </p:cNvSpPr>
            <p:nvPr/>
          </p:nvSpPr>
          <p:spPr bwMode="auto">
            <a:xfrm>
              <a:off x="2423" y="986"/>
              <a:ext cx="19" cy="1"/>
            </a:xfrm>
            <a:custGeom>
              <a:avLst/>
              <a:gdLst>
                <a:gd name="T0" fmla="*/ 0 w 59"/>
                <a:gd name="T1" fmla="*/ 0 h 1"/>
                <a:gd name="T2" fmla="*/ 58 w 59"/>
                <a:gd name="T3" fmla="*/ 0 h 1"/>
                <a:gd name="T4" fmla="*/ 59 w 5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" h="1">
                  <a:moveTo>
                    <a:pt x="0" y="0"/>
                  </a:moveTo>
                  <a:lnTo>
                    <a:pt x="58" y="0"/>
                  </a:lnTo>
                  <a:lnTo>
                    <a:pt x="5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4" name="Freeform 94"/>
            <p:cNvSpPr>
              <a:spLocks noChangeArrowheads="1"/>
            </p:cNvSpPr>
            <p:nvPr/>
          </p:nvSpPr>
          <p:spPr bwMode="auto">
            <a:xfrm>
              <a:off x="2468" y="986"/>
              <a:ext cx="177" cy="1"/>
            </a:xfrm>
            <a:custGeom>
              <a:avLst/>
              <a:gdLst>
                <a:gd name="T0" fmla="*/ 0 w 531"/>
                <a:gd name="T1" fmla="*/ 0 h 1"/>
                <a:gd name="T2" fmla="*/ 530 w 531"/>
                <a:gd name="T3" fmla="*/ 0 h 1"/>
                <a:gd name="T4" fmla="*/ 531 w 53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31" h="1">
                  <a:moveTo>
                    <a:pt x="0" y="0"/>
                  </a:moveTo>
                  <a:lnTo>
                    <a:pt x="530" y="0"/>
                  </a:lnTo>
                  <a:lnTo>
                    <a:pt x="53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5" name="Arc 95"/>
            <p:cNvSpPr>
              <a:spLocks noChangeArrowheads="1"/>
            </p:cNvSpPr>
            <p:nvPr/>
          </p:nvSpPr>
          <p:spPr bwMode="auto">
            <a:xfrm>
              <a:off x="3169" y="777"/>
              <a:ext cx="424" cy="220"/>
            </a:xfrm>
            <a:custGeom>
              <a:avLst/>
              <a:gdLst>
                <a:gd name="T0" fmla="*/ 16 w 43200"/>
                <a:gd name="T1" fmla="*/ 22446 h 22446"/>
                <a:gd name="T2" fmla="*/ 0 w 43200"/>
                <a:gd name="T3" fmla="*/ 21600 h 22446"/>
                <a:gd name="T4" fmla="*/ 21600 w 43200"/>
                <a:gd name="T5" fmla="*/ 0 h 22446"/>
                <a:gd name="T6" fmla="*/ 43200 w 43200"/>
                <a:gd name="T7" fmla="*/ 21599 h 22446"/>
                <a:gd name="T8" fmla="*/ 16 w 43200"/>
                <a:gd name="T9" fmla="*/ 22446 h 22446"/>
                <a:gd name="T10" fmla="*/ 0 w 43200"/>
                <a:gd name="T11" fmla="*/ 21600 h 22446"/>
                <a:gd name="T12" fmla="*/ 21600 w 43200"/>
                <a:gd name="T13" fmla="*/ 0 h 22446"/>
                <a:gd name="T14" fmla="*/ 43200 w 43200"/>
                <a:gd name="T15" fmla="*/ 21599 h 22446"/>
                <a:gd name="T16" fmla="*/ 21600 w 43200"/>
                <a:gd name="T17" fmla="*/ 21600 h 22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200" h="22446" fill="none">
                  <a:moveTo>
                    <a:pt x="16" y="22446"/>
                  </a:moveTo>
                  <a:cubicBezTo>
                    <a:pt x="5" y="22164"/>
                    <a:pt x="0" y="21882"/>
                    <a:pt x="0" y="21600"/>
                  </a:cubicBezTo>
                  <a:cubicBezTo>
                    <a:pt x="0" y="9670"/>
                    <a:pt x="9670" y="0"/>
                    <a:pt x="21600" y="0"/>
                  </a:cubicBezTo>
                  <a:cubicBezTo>
                    <a:pt x="33529" y="-1"/>
                    <a:pt x="43199" y="9670"/>
                    <a:pt x="43200" y="21599"/>
                  </a:cubicBezTo>
                </a:path>
                <a:path w="43200" h="22446" stroke="0">
                  <a:moveTo>
                    <a:pt x="16" y="22446"/>
                  </a:moveTo>
                  <a:cubicBezTo>
                    <a:pt x="5" y="22164"/>
                    <a:pt x="0" y="21882"/>
                    <a:pt x="0" y="21600"/>
                  </a:cubicBezTo>
                  <a:cubicBezTo>
                    <a:pt x="0" y="9670"/>
                    <a:pt x="9670" y="0"/>
                    <a:pt x="21600" y="0"/>
                  </a:cubicBezTo>
                  <a:cubicBezTo>
                    <a:pt x="33529" y="-1"/>
                    <a:pt x="43199" y="9670"/>
                    <a:pt x="43200" y="21599"/>
                  </a:cubicBezTo>
                  <a:lnTo>
                    <a:pt x="21600" y="21600"/>
                  </a:lnTo>
                  <a:close/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6" name="Oval 96"/>
            <p:cNvSpPr>
              <a:spLocks noChangeArrowheads="1"/>
            </p:cNvSpPr>
            <p:nvPr/>
          </p:nvSpPr>
          <p:spPr bwMode="auto">
            <a:xfrm>
              <a:off x="3294" y="904"/>
              <a:ext cx="170" cy="1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7" name="Freeform 97"/>
            <p:cNvSpPr>
              <a:spLocks noChangeArrowheads="1"/>
            </p:cNvSpPr>
            <p:nvPr/>
          </p:nvSpPr>
          <p:spPr bwMode="auto">
            <a:xfrm>
              <a:off x="1724" y="424"/>
              <a:ext cx="1" cy="516"/>
            </a:xfrm>
            <a:custGeom>
              <a:avLst/>
              <a:gdLst>
                <a:gd name="T0" fmla="*/ 0 w 1"/>
                <a:gd name="T1" fmla="*/ 516 h 516"/>
                <a:gd name="T2" fmla="*/ 0 w 1"/>
                <a:gd name="T3" fmla="*/ 0 h 516"/>
                <a:gd name="T4" fmla="*/ 1 w 1"/>
                <a:gd name="T5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16">
                  <a:moveTo>
                    <a:pt x="0" y="51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8" name="Freeform 98"/>
            <p:cNvSpPr>
              <a:spLocks noChangeArrowheads="1"/>
            </p:cNvSpPr>
            <p:nvPr/>
          </p:nvSpPr>
          <p:spPr bwMode="auto">
            <a:xfrm>
              <a:off x="2444" y="420"/>
              <a:ext cx="2" cy="320"/>
            </a:xfrm>
            <a:custGeom>
              <a:avLst/>
              <a:gdLst>
                <a:gd name="T0" fmla="*/ 0 w 2"/>
                <a:gd name="T1" fmla="*/ 320 h 320"/>
                <a:gd name="T2" fmla="*/ 0 w 2"/>
                <a:gd name="T3" fmla="*/ 0 h 320"/>
                <a:gd name="T4" fmla="*/ 2 w 2"/>
                <a:gd name="T5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20">
                  <a:moveTo>
                    <a:pt x="0" y="32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9" name="Freeform 99"/>
            <p:cNvSpPr>
              <a:spLocks noChangeArrowheads="1"/>
            </p:cNvSpPr>
            <p:nvPr/>
          </p:nvSpPr>
          <p:spPr bwMode="auto">
            <a:xfrm>
              <a:off x="1576" y="1230"/>
              <a:ext cx="967" cy="1"/>
            </a:xfrm>
            <a:custGeom>
              <a:avLst/>
              <a:gdLst>
                <a:gd name="T0" fmla="*/ 0 w 2900"/>
                <a:gd name="T1" fmla="*/ 0 h 1"/>
                <a:gd name="T2" fmla="*/ 2899 w 2900"/>
                <a:gd name="T3" fmla="*/ 0 h 1"/>
                <a:gd name="T4" fmla="*/ 2900 w 290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00" h="1">
                  <a:moveTo>
                    <a:pt x="0" y="0"/>
                  </a:moveTo>
                  <a:lnTo>
                    <a:pt x="2899" y="0"/>
                  </a:lnTo>
                  <a:lnTo>
                    <a:pt x="290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0" name="Freeform 100"/>
            <p:cNvSpPr>
              <a:spLocks noChangeArrowheads="1"/>
            </p:cNvSpPr>
            <p:nvPr/>
          </p:nvSpPr>
          <p:spPr bwMode="auto">
            <a:xfrm>
              <a:off x="983" y="1018"/>
              <a:ext cx="1" cy="255"/>
            </a:xfrm>
            <a:custGeom>
              <a:avLst/>
              <a:gdLst>
                <a:gd name="T0" fmla="*/ 0 w 1"/>
                <a:gd name="T1" fmla="*/ 764 h 764"/>
                <a:gd name="T2" fmla="*/ 0 w 1"/>
                <a:gd name="T3" fmla="*/ 0 h 764"/>
                <a:gd name="T4" fmla="*/ 1 w 1"/>
                <a:gd name="T5" fmla="*/ 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64">
                  <a:moveTo>
                    <a:pt x="0" y="76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1" name="Freeform 101"/>
            <p:cNvSpPr>
              <a:spLocks noChangeArrowheads="1"/>
            </p:cNvSpPr>
            <p:nvPr/>
          </p:nvSpPr>
          <p:spPr bwMode="auto">
            <a:xfrm>
              <a:off x="983" y="1273"/>
              <a:ext cx="551" cy="1"/>
            </a:xfrm>
            <a:custGeom>
              <a:avLst/>
              <a:gdLst>
                <a:gd name="T0" fmla="*/ 0 w 1654"/>
                <a:gd name="T1" fmla="*/ 0 h 1"/>
                <a:gd name="T2" fmla="*/ 1653 w 1654"/>
                <a:gd name="T3" fmla="*/ 0 h 1"/>
                <a:gd name="T4" fmla="*/ 1654 w 165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54" h="1">
                  <a:moveTo>
                    <a:pt x="0" y="0"/>
                  </a:moveTo>
                  <a:lnTo>
                    <a:pt x="1653" y="0"/>
                  </a:lnTo>
                  <a:lnTo>
                    <a:pt x="165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2" name="Freeform 102"/>
            <p:cNvSpPr>
              <a:spLocks noChangeArrowheads="1"/>
            </p:cNvSpPr>
            <p:nvPr/>
          </p:nvSpPr>
          <p:spPr bwMode="auto">
            <a:xfrm>
              <a:off x="1524" y="1230"/>
              <a:ext cx="52" cy="38"/>
            </a:xfrm>
            <a:custGeom>
              <a:avLst/>
              <a:gdLst>
                <a:gd name="T0" fmla="*/ 52 w 52"/>
                <a:gd name="T1" fmla="*/ 0 h 38"/>
                <a:gd name="T2" fmla="*/ 32 w 52"/>
                <a:gd name="T3" fmla="*/ 6 h 38"/>
                <a:gd name="T4" fmla="*/ 16 w 52"/>
                <a:gd name="T5" fmla="*/ 18 h 38"/>
                <a:gd name="T6" fmla="*/ 0 w 52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38">
                  <a:moveTo>
                    <a:pt x="52" y="0"/>
                  </a:moveTo>
                  <a:lnTo>
                    <a:pt x="32" y="6"/>
                  </a:lnTo>
                  <a:lnTo>
                    <a:pt x="16" y="18"/>
                  </a:lnTo>
                  <a:lnTo>
                    <a:pt x="0" y="3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3" name="Freeform 103"/>
            <p:cNvSpPr>
              <a:spLocks noChangeArrowheads="1"/>
            </p:cNvSpPr>
            <p:nvPr/>
          </p:nvSpPr>
          <p:spPr bwMode="auto">
            <a:xfrm>
              <a:off x="1025" y="972"/>
              <a:ext cx="667" cy="4"/>
            </a:xfrm>
            <a:custGeom>
              <a:avLst/>
              <a:gdLst>
                <a:gd name="T0" fmla="*/ 0 w 667"/>
                <a:gd name="T1" fmla="*/ 4 h 4"/>
                <a:gd name="T2" fmla="*/ 667 w 667"/>
                <a:gd name="T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67" h="4">
                  <a:moveTo>
                    <a:pt x="0" y="4"/>
                  </a:moveTo>
                  <a:lnTo>
                    <a:pt x="66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4" name="Freeform 104"/>
            <p:cNvSpPr>
              <a:spLocks noChangeArrowheads="1"/>
            </p:cNvSpPr>
            <p:nvPr/>
          </p:nvSpPr>
          <p:spPr bwMode="auto">
            <a:xfrm>
              <a:off x="984" y="972"/>
              <a:ext cx="45" cy="60"/>
            </a:xfrm>
            <a:custGeom>
              <a:avLst/>
              <a:gdLst>
                <a:gd name="T0" fmla="*/ 45 w 45"/>
                <a:gd name="T1" fmla="*/ 0 h 60"/>
                <a:gd name="T2" fmla="*/ 15 w 45"/>
                <a:gd name="T3" fmla="*/ 12 h 60"/>
                <a:gd name="T4" fmla="*/ 0 w 45"/>
                <a:gd name="T5" fmla="*/ 28 h 60"/>
                <a:gd name="T6" fmla="*/ 0 w 45"/>
                <a:gd name="T7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60">
                  <a:moveTo>
                    <a:pt x="45" y="0"/>
                  </a:moveTo>
                  <a:lnTo>
                    <a:pt x="15" y="12"/>
                  </a:lnTo>
                  <a:lnTo>
                    <a:pt x="0" y="28"/>
                  </a:lnTo>
                  <a:lnTo>
                    <a:pt x="0" y="6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5" name="Freeform 105"/>
            <p:cNvSpPr>
              <a:spLocks noChangeArrowheads="1"/>
            </p:cNvSpPr>
            <p:nvPr/>
          </p:nvSpPr>
          <p:spPr bwMode="auto">
            <a:xfrm>
              <a:off x="1682" y="933"/>
              <a:ext cx="42" cy="43"/>
            </a:xfrm>
            <a:custGeom>
              <a:avLst/>
              <a:gdLst>
                <a:gd name="T0" fmla="*/ 0 w 128"/>
                <a:gd name="T1" fmla="*/ 127 h 127"/>
                <a:gd name="T2" fmla="*/ 91 w 128"/>
                <a:gd name="T3" fmla="*/ 89 h 127"/>
                <a:gd name="T4" fmla="*/ 127 w 128"/>
                <a:gd name="T5" fmla="*/ 0 h 127"/>
                <a:gd name="T6" fmla="*/ 128 w 128"/>
                <a:gd name="T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127">
                  <a:moveTo>
                    <a:pt x="0" y="127"/>
                  </a:moveTo>
                  <a:lnTo>
                    <a:pt x="91" y="89"/>
                  </a:lnTo>
                  <a:lnTo>
                    <a:pt x="127" y="0"/>
                  </a:lnTo>
                  <a:lnTo>
                    <a:pt x="12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6" name="Freeform 106"/>
            <p:cNvSpPr>
              <a:spLocks noChangeArrowheads="1"/>
            </p:cNvSpPr>
            <p:nvPr/>
          </p:nvSpPr>
          <p:spPr bwMode="auto">
            <a:xfrm>
              <a:off x="2542" y="1164"/>
              <a:ext cx="42" cy="66"/>
            </a:xfrm>
            <a:custGeom>
              <a:avLst/>
              <a:gdLst>
                <a:gd name="T0" fmla="*/ 0 w 42"/>
                <a:gd name="T1" fmla="*/ 66 h 66"/>
                <a:gd name="T2" fmla="*/ 30 w 42"/>
                <a:gd name="T3" fmla="*/ 53 h 66"/>
                <a:gd name="T4" fmla="*/ 38 w 42"/>
                <a:gd name="T5" fmla="*/ 28 h 66"/>
                <a:gd name="T6" fmla="*/ 42 w 42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66">
                  <a:moveTo>
                    <a:pt x="0" y="66"/>
                  </a:moveTo>
                  <a:lnTo>
                    <a:pt x="30" y="53"/>
                  </a:lnTo>
                  <a:lnTo>
                    <a:pt x="38" y="28"/>
                  </a:lnTo>
                  <a:lnTo>
                    <a:pt x="4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7" name="Freeform 107"/>
            <p:cNvSpPr>
              <a:spLocks noChangeArrowheads="1"/>
            </p:cNvSpPr>
            <p:nvPr/>
          </p:nvSpPr>
          <p:spPr bwMode="auto">
            <a:xfrm>
              <a:off x="2585" y="817"/>
              <a:ext cx="1" cy="371"/>
            </a:xfrm>
            <a:custGeom>
              <a:avLst/>
              <a:gdLst>
                <a:gd name="T0" fmla="*/ 0 w 1"/>
                <a:gd name="T1" fmla="*/ 1114 h 1114"/>
                <a:gd name="T2" fmla="*/ 0 w 1"/>
                <a:gd name="T3" fmla="*/ 0 h 1114"/>
                <a:gd name="T4" fmla="*/ 1 w 1"/>
                <a:gd name="T5" fmla="*/ 0 h 1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114">
                  <a:moveTo>
                    <a:pt x="0" y="111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8" name="Freeform 108"/>
            <p:cNvSpPr>
              <a:spLocks noChangeArrowheads="1"/>
            </p:cNvSpPr>
            <p:nvPr/>
          </p:nvSpPr>
          <p:spPr bwMode="auto">
            <a:xfrm>
              <a:off x="2445" y="732"/>
              <a:ext cx="51" cy="44"/>
            </a:xfrm>
            <a:custGeom>
              <a:avLst/>
              <a:gdLst>
                <a:gd name="T0" fmla="*/ 0 w 51"/>
                <a:gd name="T1" fmla="*/ 0 h 44"/>
                <a:gd name="T2" fmla="*/ 12 w 51"/>
                <a:gd name="T3" fmla="*/ 30 h 44"/>
                <a:gd name="T4" fmla="*/ 27 w 51"/>
                <a:gd name="T5" fmla="*/ 36 h 44"/>
                <a:gd name="T6" fmla="*/ 51 w 51"/>
                <a:gd name="T7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44">
                  <a:moveTo>
                    <a:pt x="0" y="0"/>
                  </a:moveTo>
                  <a:lnTo>
                    <a:pt x="12" y="30"/>
                  </a:lnTo>
                  <a:lnTo>
                    <a:pt x="27" y="36"/>
                  </a:lnTo>
                  <a:lnTo>
                    <a:pt x="51" y="4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9" name="Freeform 109"/>
            <p:cNvSpPr>
              <a:spLocks noChangeArrowheads="1"/>
            </p:cNvSpPr>
            <p:nvPr/>
          </p:nvSpPr>
          <p:spPr bwMode="auto">
            <a:xfrm>
              <a:off x="2542" y="774"/>
              <a:ext cx="43" cy="43"/>
            </a:xfrm>
            <a:custGeom>
              <a:avLst/>
              <a:gdLst>
                <a:gd name="T0" fmla="*/ 127 w 127"/>
                <a:gd name="T1" fmla="*/ 127 h 127"/>
                <a:gd name="T2" fmla="*/ 89 w 127"/>
                <a:gd name="T3" fmla="*/ 36 h 127"/>
                <a:gd name="T4" fmla="*/ 0 w 127"/>
                <a:gd name="T5" fmla="*/ 0 h 127"/>
                <a:gd name="T6" fmla="*/ 1 w 127"/>
                <a:gd name="T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127">
                  <a:moveTo>
                    <a:pt x="127" y="127"/>
                  </a:moveTo>
                  <a:lnTo>
                    <a:pt x="89" y="36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0" name="Freeform 110"/>
            <p:cNvSpPr>
              <a:spLocks noChangeArrowheads="1"/>
            </p:cNvSpPr>
            <p:nvPr/>
          </p:nvSpPr>
          <p:spPr bwMode="auto">
            <a:xfrm>
              <a:off x="2487" y="774"/>
              <a:ext cx="65" cy="6"/>
            </a:xfrm>
            <a:custGeom>
              <a:avLst/>
              <a:gdLst>
                <a:gd name="T0" fmla="*/ 65 w 65"/>
                <a:gd name="T1" fmla="*/ 6 h 6"/>
                <a:gd name="T2" fmla="*/ 0 w 65"/>
                <a:gd name="T3" fmla="*/ 0 h 6"/>
                <a:gd name="T4" fmla="*/ 0 w 65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6">
                  <a:moveTo>
                    <a:pt x="65" y="6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1" name="Freeform 111"/>
            <p:cNvSpPr>
              <a:spLocks noChangeArrowheads="1"/>
            </p:cNvSpPr>
            <p:nvPr/>
          </p:nvSpPr>
          <p:spPr bwMode="auto">
            <a:xfrm>
              <a:off x="3548" y="1188"/>
              <a:ext cx="43" cy="42"/>
            </a:xfrm>
            <a:custGeom>
              <a:avLst/>
              <a:gdLst>
                <a:gd name="T0" fmla="*/ 0 w 128"/>
                <a:gd name="T1" fmla="*/ 127 h 127"/>
                <a:gd name="T2" fmla="*/ 89 w 128"/>
                <a:gd name="T3" fmla="*/ 89 h 127"/>
                <a:gd name="T4" fmla="*/ 127 w 128"/>
                <a:gd name="T5" fmla="*/ 0 h 127"/>
                <a:gd name="T6" fmla="*/ 128 w 128"/>
                <a:gd name="T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127">
                  <a:moveTo>
                    <a:pt x="0" y="127"/>
                  </a:moveTo>
                  <a:lnTo>
                    <a:pt x="89" y="89"/>
                  </a:lnTo>
                  <a:lnTo>
                    <a:pt x="127" y="0"/>
                  </a:lnTo>
                  <a:lnTo>
                    <a:pt x="12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2" name="Freeform 112"/>
            <p:cNvSpPr>
              <a:spLocks noChangeArrowheads="1"/>
            </p:cNvSpPr>
            <p:nvPr/>
          </p:nvSpPr>
          <p:spPr bwMode="auto">
            <a:xfrm>
              <a:off x="3167" y="1188"/>
              <a:ext cx="42" cy="42"/>
            </a:xfrm>
            <a:custGeom>
              <a:avLst/>
              <a:gdLst>
                <a:gd name="T0" fmla="*/ 0 w 128"/>
                <a:gd name="T1" fmla="*/ 0 h 127"/>
                <a:gd name="T2" fmla="*/ 38 w 128"/>
                <a:gd name="T3" fmla="*/ 89 h 127"/>
                <a:gd name="T4" fmla="*/ 127 w 128"/>
                <a:gd name="T5" fmla="*/ 127 h 127"/>
                <a:gd name="T6" fmla="*/ 128 w 128"/>
                <a:gd name="T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127">
                  <a:moveTo>
                    <a:pt x="0" y="0"/>
                  </a:moveTo>
                  <a:lnTo>
                    <a:pt x="38" y="89"/>
                  </a:lnTo>
                  <a:lnTo>
                    <a:pt x="127" y="127"/>
                  </a:lnTo>
                  <a:lnTo>
                    <a:pt x="128" y="12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3" name="Freeform 113"/>
            <p:cNvSpPr>
              <a:spLocks noChangeArrowheads="1"/>
            </p:cNvSpPr>
            <p:nvPr/>
          </p:nvSpPr>
          <p:spPr bwMode="auto">
            <a:xfrm>
              <a:off x="3379" y="698"/>
              <a:ext cx="1" cy="610"/>
            </a:xfrm>
            <a:custGeom>
              <a:avLst/>
              <a:gdLst>
                <a:gd name="T0" fmla="*/ 0 w 1"/>
                <a:gd name="T1" fmla="*/ 0 h 1828"/>
                <a:gd name="T2" fmla="*/ 0 w 1"/>
                <a:gd name="T3" fmla="*/ 1828 h 1828"/>
                <a:gd name="T4" fmla="*/ 1 w 1"/>
                <a:gd name="T5" fmla="*/ 1828 h 1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828">
                  <a:moveTo>
                    <a:pt x="0" y="0"/>
                  </a:moveTo>
                  <a:lnTo>
                    <a:pt x="0" y="1828"/>
                  </a:lnTo>
                  <a:lnTo>
                    <a:pt x="1" y="182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4" name="Freeform 114"/>
            <p:cNvSpPr>
              <a:spLocks noChangeArrowheads="1"/>
            </p:cNvSpPr>
            <p:nvPr/>
          </p:nvSpPr>
          <p:spPr bwMode="auto">
            <a:xfrm>
              <a:off x="3205" y="1224"/>
              <a:ext cx="343" cy="6"/>
            </a:xfrm>
            <a:custGeom>
              <a:avLst/>
              <a:gdLst>
                <a:gd name="T0" fmla="*/ 0 w 343"/>
                <a:gd name="T1" fmla="*/ 6 h 6"/>
                <a:gd name="T2" fmla="*/ 343 w 343"/>
                <a:gd name="T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43" h="6">
                  <a:moveTo>
                    <a:pt x="0" y="6"/>
                  </a:moveTo>
                  <a:lnTo>
                    <a:pt x="34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5" name="Freeform 115"/>
            <p:cNvSpPr>
              <a:spLocks noChangeArrowheads="1"/>
            </p:cNvSpPr>
            <p:nvPr/>
          </p:nvSpPr>
          <p:spPr bwMode="auto">
            <a:xfrm>
              <a:off x="3091" y="986"/>
              <a:ext cx="576" cy="1"/>
            </a:xfrm>
            <a:custGeom>
              <a:avLst/>
              <a:gdLst>
                <a:gd name="T0" fmla="*/ 0 w 1729"/>
                <a:gd name="T1" fmla="*/ 0 h 1"/>
                <a:gd name="T2" fmla="*/ 1728 w 1729"/>
                <a:gd name="T3" fmla="*/ 0 h 1"/>
                <a:gd name="T4" fmla="*/ 1729 w 172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29" h="1">
                  <a:moveTo>
                    <a:pt x="0" y="0"/>
                  </a:moveTo>
                  <a:lnTo>
                    <a:pt x="1728" y="0"/>
                  </a:lnTo>
                  <a:lnTo>
                    <a:pt x="172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6" name="Rectangle 116"/>
            <p:cNvSpPr>
              <a:spLocks noChangeArrowheads="1"/>
            </p:cNvSpPr>
            <p:nvPr/>
          </p:nvSpPr>
          <p:spPr bwMode="auto">
            <a:xfrm>
              <a:off x="2869" y="758"/>
              <a:ext cx="12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i="1">
                  <a:solidFill>
                    <a:schemeClr val="tx2"/>
                  </a:solidFill>
                  <a:latin typeface="Times New Roman" panose="02020603050405020304" pitchFamily="18" charset="0"/>
                </a:rPr>
                <a:t>B</a:t>
              </a:r>
              <a:endParaRPr lang="en-US" altLang="zh-CN">
                <a:solidFill>
                  <a:schemeClr val="tx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7" name="Rectangle 117"/>
            <p:cNvSpPr>
              <a:spLocks noChangeArrowheads="1"/>
            </p:cNvSpPr>
            <p:nvPr/>
          </p:nvSpPr>
          <p:spPr bwMode="auto">
            <a:xfrm>
              <a:off x="3318" y="453"/>
              <a:ext cx="12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i="1">
                  <a:solidFill>
                    <a:schemeClr val="tx2"/>
                  </a:solidFill>
                  <a:latin typeface="Times New Roman" panose="02020603050405020304" pitchFamily="18" charset="0"/>
                </a:rPr>
                <a:t>B</a:t>
              </a:r>
              <a:endParaRPr lang="en-US" altLang="zh-CN">
                <a:solidFill>
                  <a:schemeClr val="tx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8" name="Freeform 118"/>
            <p:cNvSpPr>
              <a:spLocks noChangeArrowheads="1"/>
            </p:cNvSpPr>
            <p:nvPr/>
          </p:nvSpPr>
          <p:spPr bwMode="auto">
            <a:xfrm>
              <a:off x="3167" y="986"/>
              <a:ext cx="1" cy="210"/>
            </a:xfrm>
            <a:custGeom>
              <a:avLst/>
              <a:gdLst>
                <a:gd name="T0" fmla="*/ 0 w 1"/>
                <a:gd name="T1" fmla="*/ 0 h 210"/>
                <a:gd name="T2" fmla="*/ 1 w 1"/>
                <a:gd name="T3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210">
                  <a:moveTo>
                    <a:pt x="0" y="0"/>
                  </a:moveTo>
                  <a:lnTo>
                    <a:pt x="1" y="21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9" name="Freeform 119"/>
            <p:cNvSpPr>
              <a:spLocks noChangeArrowheads="1"/>
            </p:cNvSpPr>
            <p:nvPr/>
          </p:nvSpPr>
          <p:spPr bwMode="auto">
            <a:xfrm>
              <a:off x="3592" y="988"/>
              <a:ext cx="1" cy="212"/>
            </a:xfrm>
            <a:custGeom>
              <a:avLst/>
              <a:gdLst>
                <a:gd name="T0" fmla="*/ 0 w 1"/>
                <a:gd name="T1" fmla="*/ 0 h 212"/>
                <a:gd name="T2" fmla="*/ 0 w 1"/>
                <a:gd name="T3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212">
                  <a:moveTo>
                    <a:pt x="0" y="0"/>
                  </a:moveTo>
                  <a:lnTo>
                    <a:pt x="0" y="21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0" name="Freeform 120"/>
            <p:cNvSpPr>
              <a:spLocks noChangeArrowheads="1"/>
            </p:cNvSpPr>
            <p:nvPr/>
          </p:nvSpPr>
          <p:spPr bwMode="auto">
            <a:xfrm>
              <a:off x="1720" y="420"/>
              <a:ext cx="724" cy="4"/>
            </a:xfrm>
            <a:custGeom>
              <a:avLst/>
              <a:gdLst>
                <a:gd name="T0" fmla="*/ 0 w 724"/>
                <a:gd name="T1" fmla="*/ 4 h 4"/>
                <a:gd name="T2" fmla="*/ 724 w 724"/>
                <a:gd name="T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24" h="4">
                  <a:moveTo>
                    <a:pt x="0" y="4"/>
                  </a:moveTo>
                  <a:lnTo>
                    <a:pt x="72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1" name="Freeform 121"/>
            <p:cNvSpPr>
              <a:spLocks noChangeArrowheads="1"/>
            </p:cNvSpPr>
            <p:nvPr/>
          </p:nvSpPr>
          <p:spPr bwMode="auto">
            <a:xfrm>
              <a:off x="2685" y="986"/>
              <a:ext cx="297" cy="1"/>
            </a:xfrm>
            <a:custGeom>
              <a:avLst/>
              <a:gdLst>
                <a:gd name="T0" fmla="*/ 0 w 891"/>
                <a:gd name="T1" fmla="*/ 0 h 1"/>
                <a:gd name="T2" fmla="*/ 890 w 891"/>
                <a:gd name="T3" fmla="*/ 0 h 1"/>
                <a:gd name="T4" fmla="*/ 891 w 89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1" h="1">
                  <a:moveTo>
                    <a:pt x="0" y="0"/>
                  </a:moveTo>
                  <a:lnTo>
                    <a:pt x="890" y="0"/>
                  </a:lnTo>
                  <a:lnTo>
                    <a:pt x="89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 type="triangle" w="sm" len="lg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sp>
        <p:nvSpPr>
          <p:cNvPr id="122" name="Text Box 122"/>
          <p:cNvSpPr txBox="1">
            <a:spLocks noChangeArrowheads="1"/>
          </p:cNvSpPr>
          <p:nvPr/>
        </p:nvSpPr>
        <p:spPr bwMode="auto">
          <a:xfrm>
            <a:off x="2097088" y="5719763"/>
            <a:ext cx="83042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0" hangingPunct="0">
              <a:spcBef>
                <a:spcPct val="50000"/>
              </a:spcBef>
            </a:pPr>
            <a:r>
              <a:rPr lang="en-US" altLang="zh-CN" dirty="0">
                <a:solidFill>
                  <a:schemeClr val="hlink"/>
                </a:solidFill>
                <a:latin typeface="楷体_GB2312" panose="02010600030101010101" charset="-122"/>
                <a:ea typeface="楷体_GB2312" panose="02010600030101010101" charset="-122"/>
              </a:rPr>
              <a:t>★</a:t>
            </a:r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当机件的内腔层次较多时，常采用几个平行的剖切平面。 </a:t>
            </a:r>
          </a:p>
        </p:txBody>
      </p:sp>
      <p:sp>
        <p:nvSpPr>
          <p:cNvPr id="123" name="Freeform 123"/>
          <p:cNvSpPr>
            <a:spLocks noChangeArrowheads="1"/>
          </p:cNvSpPr>
          <p:nvPr/>
        </p:nvSpPr>
        <p:spPr bwMode="auto">
          <a:xfrm>
            <a:off x="8902700" y="1522413"/>
            <a:ext cx="1485900" cy="1604962"/>
          </a:xfrm>
          <a:custGeom>
            <a:avLst/>
            <a:gdLst>
              <a:gd name="T0" fmla="*/ 0 w 936"/>
              <a:gd name="T1" fmla="*/ 901 h 1011"/>
              <a:gd name="T2" fmla="*/ 0 w 936"/>
              <a:gd name="T3" fmla="*/ 0 h 1011"/>
              <a:gd name="T4" fmla="*/ 936 w 936"/>
              <a:gd name="T5" fmla="*/ 127 h 1011"/>
              <a:gd name="T6" fmla="*/ 936 w 936"/>
              <a:gd name="T7" fmla="*/ 1011 h 1011"/>
              <a:gd name="T8" fmla="*/ 0 w 936"/>
              <a:gd name="T9" fmla="*/ 901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36" h="1011">
                <a:moveTo>
                  <a:pt x="0" y="901"/>
                </a:moveTo>
                <a:lnTo>
                  <a:pt x="0" y="0"/>
                </a:lnTo>
                <a:lnTo>
                  <a:pt x="936" y="127"/>
                </a:lnTo>
                <a:lnTo>
                  <a:pt x="936" y="1011"/>
                </a:lnTo>
                <a:lnTo>
                  <a:pt x="0" y="901"/>
                </a:lnTo>
                <a:close/>
              </a:path>
            </a:pathLst>
          </a:custGeom>
          <a:solidFill>
            <a:srgbClr val="66FFFF">
              <a:alpha val="30196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24" name="Freeform 124"/>
          <p:cNvSpPr>
            <a:spLocks noChangeArrowheads="1"/>
          </p:cNvSpPr>
          <p:nvPr/>
        </p:nvSpPr>
        <p:spPr bwMode="auto">
          <a:xfrm>
            <a:off x="8597900" y="1514475"/>
            <a:ext cx="304800" cy="1733550"/>
          </a:xfrm>
          <a:custGeom>
            <a:avLst/>
            <a:gdLst>
              <a:gd name="T0" fmla="*/ 192 w 192"/>
              <a:gd name="T1" fmla="*/ 0 h 1092"/>
              <a:gd name="T2" fmla="*/ 192 w 192"/>
              <a:gd name="T3" fmla="*/ 908 h 1092"/>
              <a:gd name="T4" fmla="*/ 0 w 192"/>
              <a:gd name="T5" fmla="*/ 1092 h 1092"/>
              <a:gd name="T6" fmla="*/ 0 w 192"/>
              <a:gd name="T7" fmla="*/ 184 h 1092"/>
              <a:gd name="T8" fmla="*/ 192 w 192"/>
              <a:gd name="T9" fmla="*/ 0 h 10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2" h="1092">
                <a:moveTo>
                  <a:pt x="192" y="0"/>
                </a:moveTo>
                <a:lnTo>
                  <a:pt x="192" y="908"/>
                </a:lnTo>
                <a:lnTo>
                  <a:pt x="0" y="1092"/>
                </a:lnTo>
                <a:lnTo>
                  <a:pt x="0" y="184"/>
                </a:lnTo>
                <a:lnTo>
                  <a:pt x="192" y="0"/>
                </a:lnTo>
                <a:close/>
              </a:path>
            </a:pathLst>
          </a:custGeom>
          <a:solidFill>
            <a:srgbClr val="CCFF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25" name="Freeform 125"/>
          <p:cNvSpPr>
            <a:spLocks noChangeArrowheads="1"/>
          </p:cNvSpPr>
          <p:nvPr/>
        </p:nvSpPr>
        <p:spPr bwMode="auto">
          <a:xfrm>
            <a:off x="7664450" y="1698625"/>
            <a:ext cx="946150" cy="1549400"/>
          </a:xfrm>
          <a:custGeom>
            <a:avLst/>
            <a:gdLst>
              <a:gd name="T0" fmla="*/ 596 w 596"/>
              <a:gd name="T1" fmla="*/ 72 h 976"/>
              <a:gd name="T2" fmla="*/ 596 w 596"/>
              <a:gd name="T3" fmla="*/ 976 h 976"/>
              <a:gd name="T4" fmla="*/ 0 w 596"/>
              <a:gd name="T5" fmla="*/ 924 h 976"/>
              <a:gd name="T6" fmla="*/ 0 w 596"/>
              <a:gd name="T7" fmla="*/ 0 h 976"/>
              <a:gd name="T8" fmla="*/ 596 w 596"/>
              <a:gd name="T9" fmla="*/ 72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96" h="976">
                <a:moveTo>
                  <a:pt x="596" y="72"/>
                </a:moveTo>
                <a:lnTo>
                  <a:pt x="596" y="976"/>
                </a:lnTo>
                <a:lnTo>
                  <a:pt x="0" y="924"/>
                </a:lnTo>
                <a:lnTo>
                  <a:pt x="0" y="0"/>
                </a:lnTo>
                <a:lnTo>
                  <a:pt x="596" y="72"/>
                </a:lnTo>
                <a:close/>
              </a:path>
            </a:pathLst>
          </a:custGeom>
          <a:solidFill>
            <a:srgbClr val="66FF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grpSp>
        <p:nvGrpSpPr>
          <p:cNvPr id="126" name="Group 126"/>
          <p:cNvGrpSpPr>
            <a:grpSpLocks/>
          </p:cNvGrpSpPr>
          <p:nvPr/>
        </p:nvGrpSpPr>
        <p:grpSpPr bwMode="auto">
          <a:xfrm>
            <a:off x="7077075" y="1522414"/>
            <a:ext cx="3308350" cy="3552825"/>
            <a:chOff x="3419" y="612"/>
            <a:chExt cx="2084" cy="2238"/>
          </a:xfrm>
        </p:grpSpPr>
        <p:grpSp>
          <p:nvGrpSpPr>
            <p:cNvPr id="127" name="Group 127"/>
            <p:cNvGrpSpPr>
              <a:grpSpLocks/>
            </p:cNvGrpSpPr>
            <p:nvPr/>
          </p:nvGrpSpPr>
          <p:grpSpPr bwMode="auto">
            <a:xfrm>
              <a:off x="3419" y="739"/>
              <a:ext cx="2042" cy="2111"/>
              <a:chOff x="3419" y="739"/>
              <a:chExt cx="2042" cy="2111"/>
            </a:xfrm>
          </p:grpSpPr>
          <p:grpSp>
            <p:nvGrpSpPr>
              <p:cNvPr id="138" name="Group 128"/>
              <p:cNvGrpSpPr>
                <a:grpSpLocks/>
              </p:cNvGrpSpPr>
              <p:nvPr/>
            </p:nvGrpSpPr>
            <p:grpSpPr bwMode="auto">
              <a:xfrm>
                <a:off x="3419" y="1901"/>
                <a:ext cx="1622" cy="949"/>
                <a:chOff x="3419" y="1901"/>
                <a:chExt cx="1622" cy="949"/>
              </a:xfrm>
            </p:grpSpPr>
            <p:sp>
              <p:nvSpPr>
                <p:cNvPr id="212" name="Freeform 129"/>
                <p:cNvSpPr>
                  <a:spLocks noChangeArrowheads="1"/>
                </p:cNvSpPr>
                <p:nvPr/>
              </p:nvSpPr>
              <p:spPr bwMode="auto">
                <a:xfrm>
                  <a:off x="3427" y="2322"/>
                  <a:ext cx="1321" cy="324"/>
                </a:xfrm>
                <a:custGeom>
                  <a:avLst/>
                  <a:gdLst>
                    <a:gd name="T0" fmla="*/ 1321 w 1321"/>
                    <a:gd name="T1" fmla="*/ 192 h 324"/>
                    <a:gd name="T2" fmla="*/ 445 w 1321"/>
                    <a:gd name="T3" fmla="*/ 324 h 324"/>
                    <a:gd name="T4" fmla="*/ 40 w 1321"/>
                    <a:gd name="T5" fmla="*/ 294 h 324"/>
                    <a:gd name="T6" fmla="*/ 0 w 1321"/>
                    <a:gd name="T7" fmla="*/ 246 h 324"/>
                    <a:gd name="T8" fmla="*/ 0 w 1321"/>
                    <a:gd name="T9" fmla="*/ 214 h 324"/>
                    <a:gd name="T10" fmla="*/ 165 w 1321"/>
                    <a:gd name="T11" fmla="*/ 82 h 324"/>
                    <a:gd name="T12" fmla="*/ 228 w 1321"/>
                    <a:gd name="T13" fmla="*/ 91 h 324"/>
                    <a:gd name="T14" fmla="*/ 228 w 1321"/>
                    <a:gd name="T15" fmla="*/ 121 h 324"/>
                    <a:gd name="T16" fmla="*/ 249 w 1321"/>
                    <a:gd name="T17" fmla="*/ 135 h 324"/>
                    <a:gd name="T18" fmla="*/ 279 w 1321"/>
                    <a:gd name="T19" fmla="*/ 145 h 324"/>
                    <a:gd name="T20" fmla="*/ 329 w 1321"/>
                    <a:gd name="T21" fmla="*/ 152 h 324"/>
                    <a:gd name="T22" fmla="*/ 376 w 1321"/>
                    <a:gd name="T23" fmla="*/ 149 h 324"/>
                    <a:gd name="T24" fmla="*/ 426 w 1321"/>
                    <a:gd name="T25" fmla="*/ 145 h 324"/>
                    <a:gd name="T26" fmla="*/ 463 w 1321"/>
                    <a:gd name="T27" fmla="*/ 135 h 324"/>
                    <a:gd name="T28" fmla="*/ 480 w 1321"/>
                    <a:gd name="T29" fmla="*/ 121 h 324"/>
                    <a:gd name="T30" fmla="*/ 621 w 1321"/>
                    <a:gd name="T31" fmla="*/ 142 h 324"/>
                    <a:gd name="T32" fmla="*/ 793 w 1321"/>
                    <a:gd name="T33" fmla="*/ 0 h 324"/>
                    <a:gd name="T34" fmla="*/ 955 w 1321"/>
                    <a:gd name="T35" fmla="*/ 18 h 324"/>
                    <a:gd name="T36" fmla="*/ 1321 w 1321"/>
                    <a:gd name="T37" fmla="*/ 192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321" h="324">
                      <a:moveTo>
                        <a:pt x="1321" y="192"/>
                      </a:moveTo>
                      <a:lnTo>
                        <a:pt x="445" y="324"/>
                      </a:lnTo>
                      <a:lnTo>
                        <a:pt x="40" y="294"/>
                      </a:lnTo>
                      <a:lnTo>
                        <a:pt x="0" y="246"/>
                      </a:lnTo>
                      <a:lnTo>
                        <a:pt x="0" y="214"/>
                      </a:lnTo>
                      <a:lnTo>
                        <a:pt x="165" y="82"/>
                      </a:lnTo>
                      <a:lnTo>
                        <a:pt x="228" y="91"/>
                      </a:lnTo>
                      <a:lnTo>
                        <a:pt x="228" y="121"/>
                      </a:lnTo>
                      <a:lnTo>
                        <a:pt x="249" y="135"/>
                      </a:lnTo>
                      <a:lnTo>
                        <a:pt x="279" y="145"/>
                      </a:lnTo>
                      <a:lnTo>
                        <a:pt x="329" y="152"/>
                      </a:lnTo>
                      <a:lnTo>
                        <a:pt x="376" y="149"/>
                      </a:lnTo>
                      <a:lnTo>
                        <a:pt x="426" y="145"/>
                      </a:lnTo>
                      <a:lnTo>
                        <a:pt x="463" y="135"/>
                      </a:lnTo>
                      <a:lnTo>
                        <a:pt x="480" y="121"/>
                      </a:lnTo>
                      <a:lnTo>
                        <a:pt x="621" y="142"/>
                      </a:lnTo>
                      <a:lnTo>
                        <a:pt x="793" y="0"/>
                      </a:lnTo>
                      <a:lnTo>
                        <a:pt x="955" y="18"/>
                      </a:lnTo>
                      <a:lnTo>
                        <a:pt x="1321" y="1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454545"/>
                    </a:gs>
                    <a:gs pos="100000">
                      <a:srgbClr val="969696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13" name="Freeform 130"/>
                <p:cNvSpPr>
                  <a:spLocks noChangeArrowheads="1"/>
                </p:cNvSpPr>
                <p:nvPr/>
              </p:nvSpPr>
              <p:spPr bwMode="auto">
                <a:xfrm>
                  <a:off x="4830" y="2206"/>
                  <a:ext cx="211" cy="491"/>
                </a:xfrm>
                <a:custGeom>
                  <a:avLst/>
                  <a:gdLst>
                    <a:gd name="T0" fmla="*/ 211 w 211"/>
                    <a:gd name="T1" fmla="*/ 27 h 491"/>
                    <a:gd name="T2" fmla="*/ 80 w 211"/>
                    <a:gd name="T3" fmla="*/ 0 h 491"/>
                    <a:gd name="T4" fmla="*/ 60 w 211"/>
                    <a:gd name="T5" fmla="*/ 27 h 491"/>
                    <a:gd name="T6" fmla="*/ 47 w 211"/>
                    <a:gd name="T7" fmla="*/ 47 h 491"/>
                    <a:gd name="T8" fmla="*/ 23 w 211"/>
                    <a:gd name="T9" fmla="*/ 97 h 491"/>
                    <a:gd name="T10" fmla="*/ 3 w 211"/>
                    <a:gd name="T11" fmla="*/ 168 h 491"/>
                    <a:gd name="T12" fmla="*/ 0 w 211"/>
                    <a:gd name="T13" fmla="*/ 282 h 491"/>
                    <a:gd name="T14" fmla="*/ 14 w 211"/>
                    <a:gd name="T15" fmla="*/ 470 h 491"/>
                    <a:gd name="T16" fmla="*/ 117 w 211"/>
                    <a:gd name="T17" fmla="*/ 491 h 491"/>
                    <a:gd name="T18" fmla="*/ 120 w 211"/>
                    <a:gd name="T19" fmla="*/ 353 h 491"/>
                    <a:gd name="T20" fmla="*/ 140 w 211"/>
                    <a:gd name="T21" fmla="*/ 138 h 491"/>
                    <a:gd name="T22" fmla="*/ 211 w 211"/>
                    <a:gd name="T23" fmla="*/ 27 h 4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11" h="491">
                      <a:moveTo>
                        <a:pt x="211" y="27"/>
                      </a:moveTo>
                      <a:lnTo>
                        <a:pt x="80" y="0"/>
                      </a:lnTo>
                      <a:lnTo>
                        <a:pt x="60" y="27"/>
                      </a:lnTo>
                      <a:lnTo>
                        <a:pt x="47" y="47"/>
                      </a:lnTo>
                      <a:lnTo>
                        <a:pt x="23" y="97"/>
                      </a:lnTo>
                      <a:lnTo>
                        <a:pt x="3" y="168"/>
                      </a:lnTo>
                      <a:lnTo>
                        <a:pt x="0" y="282"/>
                      </a:lnTo>
                      <a:lnTo>
                        <a:pt x="14" y="470"/>
                      </a:lnTo>
                      <a:lnTo>
                        <a:pt x="117" y="491"/>
                      </a:lnTo>
                      <a:lnTo>
                        <a:pt x="120" y="353"/>
                      </a:lnTo>
                      <a:lnTo>
                        <a:pt x="140" y="138"/>
                      </a:lnTo>
                      <a:lnTo>
                        <a:pt x="211" y="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636363"/>
                    </a:gs>
                    <a:gs pos="100000">
                      <a:srgbClr val="969696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14" name="Freeform 131"/>
                <p:cNvSpPr>
                  <a:spLocks noChangeArrowheads="1"/>
                </p:cNvSpPr>
                <p:nvPr/>
              </p:nvSpPr>
              <p:spPr bwMode="auto">
                <a:xfrm>
                  <a:off x="4383" y="1915"/>
                  <a:ext cx="91" cy="90"/>
                </a:xfrm>
                <a:custGeom>
                  <a:avLst/>
                  <a:gdLst>
                    <a:gd name="T0" fmla="*/ 34 w 130"/>
                    <a:gd name="T1" fmla="*/ 0 h 129"/>
                    <a:gd name="T2" fmla="*/ 0 w 130"/>
                    <a:gd name="T3" fmla="*/ 19 h 129"/>
                    <a:gd name="T4" fmla="*/ 10 w 130"/>
                    <a:gd name="T5" fmla="*/ 62 h 129"/>
                    <a:gd name="T6" fmla="*/ 39 w 130"/>
                    <a:gd name="T7" fmla="*/ 96 h 129"/>
                    <a:gd name="T8" fmla="*/ 72 w 130"/>
                    <a:gd name="T9" fmla="*/ 124 h 129"/>
                    <a:gd name="T10" fmla="*/ 106 w 130"/>
                    <a:gd name="T11" fmla="*/ 129 h 129"/>
                    <a:gd name="T12" fmla="*/ 82 w 130"/>
                    <a:gd name="T13" fmla="*/ 96 h 129"/>
                    <a:gd name="T14" fmla="*/ 96 w 130"/>
                    <a:gd name="T15" fmla="*/ 57 h 129"/>
                    <a:gd name="T16" fmla="*/ 130 w 130"/>
                    <a:gd name="T17" fmla="*/ 38 h 129"/>
                    <a:gd name="T18" fmla="*/ 34 w 130"/>
                    <a:gd name="T19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0" h="129">
                      <a:moveTo>
                        <a:pt x="34" y="0"/>
                      </a:moveTo>
                      <a:lnTo>
                        <a:pt x="0" y="19"/>
                      </a:lnTo>
                      <a:lnTo>
                        <a:pt x="10" y="62"/>
                      </a:lnTo>
                      <a:lnTo>
                        <a:pt x="39" y="96"/>
                      </a:lnTo>
                      <a:lnTo>
                        <a:pt x="72" y="124"/>
                      </a:lnTo>
                      <a:lnTo>
                        <a:pt x="106" y="129"/>
                      </a:lnTo>
                      <a:lnTo>
                        <a:pt x="82" y="96"/>
                      </a:lnTo>
                      <a:lnTo>
                        <a:pt x="96" y="57"/>
                      </a:lnTo>
                      <a:lnTo>
                        <a:pt x="130" y="38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15" name="Freeform 132"/>
                <p:cNvSpPr>
                  <a:spLocks noChangeArrowheads="1"/>
                </p:cNvSpPr>
                <p:nvPr/>
              </p:nvSpPr>
              <p:spPr bwMode="auto">
                <a:xfrm>
                  <a:off x="4303" y="1901"/>
                  <a:ext cx="614" cy="165"/>
                </a:xfrm>
                <a:custGeom>
                  <a:avLst/>
                  <a:gdLst>
                    <a:gd name="T0" fmla="*/ 19 w 878"/>
                    <a:gd name="T1" fmla="*/ 0 h 236"/>
                    <a:gd name="T2" fmla="*/ 144 w 878"/>
                    <a:gd name="T3" fmla="*/ 24 h 236"/>
                    <a:gd name="T4" fmla="*/ 134 w 878"/>
                    <a:gd name="T5" fmla="*/ 48 h 236"/>
                    <a:gd name="T6" fmla="*/ 144 w 878"/>
                    <a:gd name="T7" fmla="*/ 87 h 236"/>
                    <a:gd name="T8" fmla="*/ 187 w 878"/>
                    <a:gd name="T9" fmla="*/ 116 h 236"/>
                    <a:gd name="T10" fmla="*/ 230 w 878"/>
                    <a:gd name="T11" fmla="*/ 130 h 236"/>
                    <a:gd name="T12" fmla="*/ 274 w 878"/>
                    <a:gd name="T13" fmla="*/ 149 h 236"/>
                    <a:gd name="T14" fmla="*/ 336 w 878"/>
                    <a:gd name="T15" fmla="*/ 149 h 236"/>
                    <a:gd name="T16" fmla="*/ 408 w 878"/>
                    <a:gd name="T17" fmla="*/ 159 h 236"/>
                    <a:gd name="T18" fmla="*/ 475 w 878"/>
                    <a:gd name="T19" fmla="*/ 159 h 236"/>
                    <a:gd name="T20" fmla="*/ 542 w 878"/>
                    <a:gd name="T21" fmla="*/ 154 h 236"/>
                    <a:gd name="T22" fmla="*/ 605 w 878"/>
                    <a:gd name="T23" fmla="*/ 149 h 236"/>
                    <a:gd name="T24" fmla="*/ 677 w 878"/>
                    <a:gd name="T25" fmla="*/ 140 h 236"/>
                    <a:gd name="T26" fmla="*/ 730 w 878"/>
                    <a:gd name="T27" fmla="*/ 111 h 236"/>
                    <a:gd name="T28" fmla="*/ 754 w 878"/>
                    <a:gd name="T29" fmla="*/ 87 h 236"/>
                    <a:gd name="T30" fmla="*/ 878 w 878"/>
                    <a:gd name="T31" fmla="*/ 111 h 236"/>
                    <a:gd name="T32" fmla="*/ 830 w 878"/>
                    <a:gd name="T33" fmla="*/ 159 h 236"/>
                    <a:gd name="T34" fmla="*/ 682 w 878"/>
                    <a:gd name="T35" fmla="*/ 216 h 236"/>
                    <a:gd name="T36" fmla="*/ 422 w 878"/>
                    <a:gd name="T37" fmla="*/ 236 h 236"/>
                    <a:gd name="T38" fmla="*/ 197 w 878"/>
                    <a:gd name="T39" fmla="*/ 221 h 236"/>
                    <a:gd name="T40" fmla="*/ 34 w 878"/>
                    <a:gd name="T41" fmla="*/ 164 h 236"/>
                    <a:gd name="T42" fmla="*/ 0 w 878"/>
                    <a:gd name="T43" fmla="*/ 77 h 236"/>
                    <a:gd name="T44" fmla="*/ 5 w 878"/>
                    <a:gd name="T45" fmla="*/ 29 h 236"/>
                    <a:gd name="T46" fmla="*/ 19 w 878"/>
                    <a:gd name="T47" fmla="*/ 0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8" h="236">
                      <a:moveTo>
                        <a:pt x="19" y="0"/>
                      </a:moveTo>
                      <a:lnTo>
                        <a:pt x="144" y="24"/>
                      </a:lnTo>
                      <a:lnTo>
                        <a:pt x="134" y="48"/>
                      </a:lnTo>
                      <a:lnTo>
                        <a:pt x="144" y="87"/>
                      </a:lnTo>
                      <a:lnTo>
                        <a:pt x="187" y="116"/>
                      </a:lnTo>
                      <a:lnTo>
                        <a:pt x="230" y="130"/>
                      </a:lnTo>
                      <a:lnTo>
                        <a:pt x="274" y="149"/>
                      </a:lnTo>
                      <a:lnTo>
                        <a:pt x="336" y="149"/>
                      </a:lnTo>
                      <a:lnTo>
                        <a:pt x="408" y="159"/>
                      </a:lnTo>
                      <a:lnTo>
                        <a:pt x="475" y="159"/>
                      </a:lnTo>
                      <a:lnTo>
                        <a:pt x="542" y="154"/>
                      </a:lnTo>
                      <a:lnTo>
                        <a:pt x="605" y="149"/>
                      </a:lnTo>
                      <a:lnTo>
                        <a:pt x="677" y="140"/>
                      </a:lnTo>
                      <a:lnTo>
                        <a:pt x="730" y="111"/>
                      </a:lnTo>
                      <a:lnTo>
                        <a:pt x="754" y="87"/>
                      </a:lnTo>
                      <a:lnTo>
                        <a:pt x="878" y="111"/>
                      </a:lnTo>
                      <a:lnTo>
                        <a:pt x="830" y="159"/>
                      </a:lnTo>
                      <a:lnTo>
                        <a:pt x="682" y="216"/>
                      </a:lnTo>
                      <a:lnTo>
                        <a:pt x="422" y="236"/>
                      </a:lnTo>
                      <a:lnTo>
                        <a:pt x="197" y="221"/>
                      </a:lnTo>
                      <a:lnTo>
                        <a:pt x="34" y="164"/>
                      </a:lnTo>
                      <a:lnTo>
                        <a:pt x="0" y="77"/>
                      </a:lnTo>
                      <a:lnTo>
                        <a:pt x="5" y="2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16" name="Freeform 133"/>
                <p:cNvSpPr>
                  <a:spLocks noChangeArrowheads="1"/>
                </p:cNvSpPr>
                <p:nvPr/>
              </p:nvSpPr>
              <p:spPr bwMode="auto">
                <a:xfrm>
                  <a:off x="4304" y="1952"/>
                  <a:ext cx="610" cy="748"/>
                </a:xfrm>
                <a:custGeom>
                  <a:avLst/>
                  <a:gdLst>
                    <a:gd name="T0" fmla="*/ 0 w 610"/>
                    <a:gd name="T1" fmla="*/ 0 h 748"/>
                    <a:gd name="T2" fmla="*/ 33 w 610"/>
                    <a:gd name="T3" fmla="*/ 33 h 748"/>
                    <a:gd name="T4" fmla="*/ 71 w 610"/>
                    <a:gd name="T5" fmla="*/ 56 h 748"/>
                    <a:gd name="T6" fmla="*/ 143 w 610"/>
                    <a:gd name="T7" fmla="*/ 80 h 748"/>
                    <a:gd name="T8" fmla="*/ 217 w 610"/>
                    <a:gd name="T9" fmla="*/ 90 h 748"/>
                    <a:gd name="T10" fmla="*/ 314 w 610"/>
                    <a:gd name="T11" fmla="*/ 97 h 748"/>
                    <a:gd name="T12" fmla="*/ 388 w 610"/>
                    <a:gd name="T13" fmla="*/ 90 h 748"/>
                    <a:gd name="T14" fmla="*/ 456 w 610"/>
                    <a:gd name="T15" fmla="*/ 87 h 748"/>
                    <a:gd name="T16" fmla="*/ 523 w 610"/>
                    <a:gd name="T17" fmla="*/ 71 h 748"/>
                    <a:gd name="T18" fmla="*/ 564 w 610"/>
                    <a:gd name="T19" fmla="*/ 56 h 748"/>
                    <a:gd name="T20" fmla="*/ 609 w 610"/>
                    <a:gd name="T21" fmla="*/ 31 h 748"/>
                    <a:gd name="T22" fmla="*/ 610 w 610"/>
                    <a:gd name="T23" fmla="*/ 265 h 748"/>
                    <a:gd name="T24" fmla="*/ 590 w 610"/>
                    <a:gd name="T25" fmla="*/ 295 h 748"/>
                    <a:gd name="T26" fmla="*/ 569 w 610"/>
                    <a:gd name="T27" fmla="*/ 331 h 748"/>
                    <a:gd name="T28" fmla="*/ 560 w 610"/>
                    <a:gd name="T29" fmla="*/ 372 h 748"/>
                    <a:gd name="T30" fmla="*/ 553 w 610"/>
                    <a:gd name="T31" fmla="*/ 412 h 748"/>
                    <a:gd name="T32" fmla="*/ 543 w 610"/>
                    <a:gd name="T33" fmla="*/ 446 h 748"/>
                    <a:gd name="T34" fmla="*/ 540 w 610"/>
                    <a:gd name="T35" fmla="*/ 724 h 748"/>
                    <a:gd name="T36" fmla="*/ 509 w 610"/>
                    <a:gd name="T37" fmla="*/ 748 h 748"/>
                    <a:gd name="T38" fmla="*/ 444 w 610"/>
                    <a:gd name="T39" fmla="*/ 748 h 748"/>
                    <a:gd name="T40" fmla="*/ 444 w 610"/>
                    <a:gd name="T41" fmla="*/ 556 h 748"/>
                    <a:gd name="T42" fmla="*/ 437 w 610"/>
                    <a:gd name="T43" fmla="*/ 560 h 748"/>
                    <a:gd name="T44" fmla="*/ 396 w 610"/>
                    <a:gd name="T45" fmla="*/ 560 h 748"/>
                    <a:gd name="T46" fmla="*/ 344 w 610"/>
                    <a:gd name="T47" fmla="*/ 567 h 748"/>
                    <a:gd name="T48" fmla="*/ 284 w 610"/>
                    <a:gd name="T49" fmla="*/ 570 h 748"/>
                    <a:gd name="T50" fmla="*/ 223 w 610"/>
                    <a:gd name="T51" fmla="*/ 560 h 748"/>
                    <a:gd name="T52" fmla="*/ 167 w 610"/>
                    <a:gd name="T53" fmla="*/ 553 h 748"/>
                    <a:gd name="T54" fmla="*/ 103 w 610"/>
                    <a:gd name="T55" fmla="*/ 543 h 748"/>
                    <a:gd name="T56" fmla="*/ 59 w 610"/>
                    <a:gd name="T57" fmla="*/ 526 h 748"/>
                    <a:gd name="T58" fmla="*/ 16 w 610"/>
                    <a:gd name="T59" fmla="*/ 500 h 748"/>
                    <a:gd name="T60" fmla="*/ 0 w 610"/>
                    <a:gd name="T61" fmla="*/ 463 h 748"/>
                    <a:gd name="T62" fmla="*/ 0 w 610"/>
                    <a:gd name="T63" fmla="*/ 0 h 7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610" h="748">
                      <a:moveTo>
                        <a:pt x="0" y="0"/>
                      </a:moveTo>
                      <a:lnTo>
                        <a:pt x="33" y="33"/>
                      </a:lnTo>
                      <a:lnTo>
                        <a:pt x="71" y="56"/>
                      </a:lnTo>
                      <a:lnTo>
                        <a:pt x="143" y="80"/>
                      </a:lnTo>
                      <a:lnTo>
                        <a:pt x="217" y="90"/>
                      </a:lnTo>
                      <a:lnTo>
                        <a:pt x="314" y="97"/>
                      </a:lnTo>
                      <a:lnTo>
                        <a:pt x="388" y="90"/>
                      </a:lnTo>
                      <a:lnTo>
                        <a:pt x="456" y="87"/>
                      </a:lnTo>
                      <a:lnTo>
                        <a:pt x="523" y="71"/>
                      </a:lnTo>
                      <a:lnTo>
                        <a:pt x="564" y="56"/>
                      </a:lnTo>
                      <a:lnTo>
                        <a:pt x="609" y="31"/>
                      </a:lnTo>
                      <a:lnTo>
                        <a:pt x="610" y="265"/>
                      </a:lnTo>
                      <a:lnTo>
                        <a:pt x="590" y="295"/>
                      </a:lnTo>
                      <a:lnTo>
                        <a:pt x="569" y="331"/>
                      </a:lnTo>
                      <a:lnTo>
                        <a:pt x="560" y="372"/>
                      </a:lnTo>
                      <a:lnTo>
                        <a:pt x="553" y="412"/>
                      </a:lnTo>
                      <a:lnTo>
                        <a:pt x="543" y="446"/>
                      </a:lnTo>
                      <a:lnTo>
                        <a:pt x="540" y="724"/>
                      </a:lnTo>
                      <a:lnTo>
                        <a:pt x="509" y="748"/>
                      </a:lnTo>
                      <a:lnTo>
                        <a:pt x="444" y="748"/>
                      </a:lnTo>
                      <a:lnTo>
                        <a:pt x="444" y="556"/>
                      </a:lnTo>
                      <a:lnTo>
                        <a:pt x="437" y="560"/>
                      </a:lnTo>
                      <a:lnTo>
                        <a:pt x="396" y="560"/>
                      </a:lnTo>
                      <a:lnTo>
                        <a:pt x="344" y="567"/>
                      </a:lnTo>
                      <a:lnTo>
                        <a:pt x="284" y="570"/>
                      </a:lnTo>
                      <a:lnTo>
                        <a:pt x="223" y="560"/>
                      </a:lnTo>
                      <a:lnTo>
                        <a:pt x="167" y="553"/>
                      </a:lnTo>
                      <a:lnTo>
                        <a:pt x="103" y="543"/>
                      </a:lnTo>
                      <a:lnTo>
                        <a:pt x="59" y="526"/>
                      </a:lnTo>
                      <a:lnTo>
                        <a:pt x="16" y="500"/>
                      </a:lnTo>
                      <a:lnTo>
                        <a:pt x="0" y="4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525252"/>
                    </a:gs>
                    <a:gs pos="50000">
                      <a:srgbClr val="B2B2B2"/>
                    </a:gs>
                    <a:gs pos="100000">
                      <a:srgbClr val="525252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17" name="Freeform 134"/>
                <p:cNvSpPr>
                  <a:spLocks noChangeArrowheads="1"/>
                </p:cNvSpPr>
                <p:nvPr/>
              </p:nvSpPr>
              <p:spPr bwMode="auto">
                <a:xfrm>
                  <a:off x="4947" y="2230"/>
                  <a:ext cx="94" cy="474"/>
                </a:xfrm>
                <a:custGeom>
                  <a:avLst/>
                  <a:gdLst>
                    <a:gd name="T0" fmla="*/ 134 w 134"/>
                    <a:gd name="T1" fmla="*/ 0 h 677"/>
                    <a:gd name="T2" fmla="*/ 100 w 134"/>
                    <a:gd name="T3" fmla="*/ 19 h 677"/>
                    <a:gd name="T4" fmla="*/ 72 w 134"/>
                    <a:gd name="T5" fmla="*/ 48 h 677"/>
                    <a:gd name="T6" fmla="*/ 48 w 134"/>
                    <a:gd name="T7" fmla="*/ 72 h 677"/>
                    <a:gd name="T8" fmla="*/ 33 w 134"/>
                    <a:gd name="T9" fmla="*/ 101 h 677"/>
                    <a:gd name="T10" fmla="*/ 9 w 134"/>
                    <a:gd name="T11" fmla="*/ 163 h 677"/>
                    <a:gd name="T12" fmla="*/ 0 w 134"/>
                    <a:gd name="T13" fmla="*/ 221 h 677"/>
                    <a:gd name="T14" fmla="*/ 0 w 134"/>
                    <a:gd name="T15" fmla="*/ 677 h 677"/>
                    <a:gd name="T16" fmla="*/ 134 w 134"/>
                    <a:gd name="T17" fmla="*/ 561 h 677"/>
                    <a:gd name="T18" fmla="*/ 134 w 134"/>
                    <a:gd name="T19" fmla="*/ 369 h 677"/>
                    <a:gd name="T20" fmla="*/ 105 w 134"/>
                    <a:gd name="T21" fmla="*/ 365 h 677"/>
                    <a:gd name="T22" fmla="*/ 91 w 134"/>
                    <a:gd name="T23" fmla="*/ 341 h 677"/>
                    <a:gd name="T24" fmla="*/ 81 w 134"/>
                    <a:gd name="T25" fmla="*/ 293 h 677"/>
                    <a:gd name="T26" fmla="*/ 86 w 134"/>
                    <a:gd name="T27" fmla="*/ 240 h 677"/>
                    <a:gd name="T28" fmla="*/ 100 w 134"/>
                    <a:gd name="T29" fmla="*/ 197 h 677"/>
                    <a:gd name="T30" fmla="*/ 134 w 134"/>
                    <a:gd name="T31" fmla="*/ 153 h 677"/>
                    <a:gd name="T32" fmla="*/ 134 w 134"/>
                    <a:gd name="T33" fmla="*/ 0 h 6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4" h="677">
                      <a:moveTo>
                        <a:pt x="134" y="0"/>
                      </a:moveTo>
                      <a:lnTo>
                        <a:pt x="100" y="19"/>
                      </a:lnTo>
                      <a:lnTo>
                        <a:pt x="72" y="48"/>
                      </a:lnTo>
                      <a:lnTo>
                        <a:pt x="48" y="72"/>
                      </a:lnTo>
                      <a:lnTo>
                        <a:pt x="33" y="101"/>
                      </a:lnTo>
                      <a:lnTo>
                        <a:pt x="9" y="163"/>
                      </a:lnTo>
                      <a:lnTo>
                        <a:pt x="0" y="221"/>
                      </a:lnTo>
                      <a:lnTo>
                        <a:pt x="0" y="677"/>
                      </a:lnTo>
                      <a:lnTo>
                        <a:pt x="134" y="561"/>
                      </a:lnTo>
                      <a:lnTo>
                        <a:pt x="134" y="369"/>
                      </a:lnTo>
                      <a:lnTo>
                        <a:pt x="105" y="365"/>
                      </a:lnTo>
                      <a:lnTo>
                        <a:pt x="91" y="341"/>
                      </a:lnTo>
                      <a:lnTo>
                        <a:pt x="81" y="293"/>
                      </a:lnTo>
                      <a:lnTo>
                        <a:pt x="86" y="240"/>
                      </a:lnTo>
                      <a:lnTo>
                        <a:pt x="100" y="197"/>
                      </a:lnTo>
                      <a:lnTo>
                        <a:pt x="134" y="153"/>
                      </a:lnTo>
                      <a:lnTo>
                        <a:pt x="134" y="0"/>
                      </a:lnTo>
                      <a:close/>
                    </a:path>
                  </a:pathLst>
                </a:custGeom>
                <a:solidFill>
                  <a:schemeClr val="fol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18" name="Freeform 135"/>
                <p:cNvSpPr>
                  <a:spLocks noChangeArrowheads="1"/>
                </p:cNvSpPr>
                <p:nvPr/>
              </p:nvSpPr>
              <p:spPr bwMode="auto">
                <a:xfrm>
                  <a:off x="3419" y="2548"/>
                  <a:ext cx="450" cy="302"/>
                </a:xfrm>
                <a:custGeom>
                  <a:avLst/>
                  <a:gdLst>
                    <a:gd name="T0" fmla="*/ 0 w 450"/>
                    <a:gd name="T1" fmla="*/ 0 h 302"/>
                    <a:gd name="T2" fmla="*/ 450 w 450"/>
                    <a:gd name="T3" fmla="*/ 67 h 302"/>
                    <a:gd name="T4" fmla="*/ 450 w 450"/>
                    <a:gd name="T5" fmla="*/ 302 h 302"/>
                    <a:gd name="T6" fmla="*/ 56 w 450"/>
                    <a:gd name="T7" fmla="*/ 236 h 302"/>
                    <a:gd name="T8" fmla="*/ 20 w 450"/>
                    <a:gd name="T9" fmla="*/ 216 h 302"/>
                    <a:gd name="T10" fmla="*/ 0 w 450"/>
                    <a:gd name="T11" fmla="*/ 188 h 302"/>
                    <a:gd name="T12" fmla="*/ 0 w 450"/>
                    <a:gd name="T13" fmla="*/ 0 h 3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0" h="302">
                      <a:moveTo>
                        <a:pt x="0" y="0"/>
                      </a:moveTo>
                      <a:lnTo>
                        <a:pt x="450" y="67"/>
                      </a:lnTo>
                      <a:lnTo>
                        <a:pt x="450" y="302"/>
                      </a:lnTo>
                      <a:lnTo>
                        <a:pt x="56" y="236"/>
                      </a:lnTo>
                      <a:lnTo>
                        <a:pt x="20" y="216"/>
                      </a:lnTo>
                      <a:lnTo>
                        <a:pt x="0" y="1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797979"/>
                    </a:gs>
                    <a:gs pos="100000">
                      <a:srgbClr val="B2B2B2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19" name="Freeform 136"/>
                <p:cNvSpPr>
                  <a:spLocks noChangeArrowheads="1"/>
                </p:cNvSpPr>
                <p:nvPr/>
              </p:nvSpPr>
              <p:spPr bwMode="auto">
                <a:xfrm>
                  <a:off x="3866" y="2496"/>
                  <a:ext cx="894" cy="354"/>
                </a:xfrm>
                <a:custGeom>
                  <a:avLst/>
                  <a:gdLst>
                    <a:gd name="T0" fmla="*/ 0 w 894"/>
                    <a:gd name="T1" fmla="*/ 120 h 354"/>
                    <a:gd name="T2" fmla="*/ 54 w 894"/>
                    <a:gd name="T3" fmla="*/ 114 h 354"/>
                    <a:gd name="T4" fmla="*/ 102 w 894"/>
                    <a:gd name="T5" fmla="*/ 108 h 354"/>
                    <a:gd name="T6" fmla="*/ 894 w 894"/>
                    <a:gd name="T7" fmla="*/ 0 h 354"/>
                    <a:gd name="T8" fmla="*/ 894 w 894"/>
                    <a:gd name="T9" fmla="*/ 198 h 354"/>
                    <a:gd name="T10" fmla="*/ 90 w 894"/>
                    <a:gd name="T11" fmla="*/ 304 h 354"/>
                    <a:gd name="T12" fmla="*/ 54 w 894"/>
                    <a:gd name="T13" fmla="*/ 308 h 354"/>
                    <a:gd name="T14" fmla="*/ 26 w 894"/>
                    <a:gd name="T15" fmla="*/ 320 h 354"/>
                    <a:gd name="T16" fmla="*/ 0 w 894"/>
                    <a:gd name="T17" fmla="*/ 354 h 354"/>
                    <a:gd name="T18" fmla="*/ 0 w 894"/>
                    <a:gd name="T19" fmla="*/ 120 h 3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94" h="354">
                      <a:moveTo>
                        <a:pt x="0" y="120"/>
                      </a:moveTo>
                      <a:lnTo>
                        <a:pt x="54" y="114"/>
                      </a:lnTo>
                      <a:lnTo>
                        <a:pt x="102" y="108"/>
                      </a:lnTo>
                      <a:lnTo>
                        <a:pt x="894" y="0"/>
                      </a:lnTo>
                      <a:lnTo>
                        <a:pt x="894" y="198"/>
                      </a:lnTo>
                      <a:lnTo>
                        <a:pt x="90" y="304"/>
                      </a:lnTo>
                      <a:lnTo>
                        <a:pt x="54" y="308"/>
                      </a:lnTo>
                      <a:lnTo>
                        <a:pt x="26" y="320"/>
                      </a:lnTo>
                      <a:lnTo>
                        <a:pt x="0" y="354"/>
                      </a:lnTo>
                      <a:lnTo>
                        <a:pt x="0" y="12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B2B2B2"/>
                    </a:gs>
                    <a:gs pos="100000">
                      <a:srgbClr val="7E7E7E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139" name="Group 137"/>
              <p:cNvGrpSpPr>
                <a:grpSpLocks/>
              </p:cNvGrpSpPr>
              <p:nvPr/>
            </p:nvGrpSpPr>
            <p:grpSpPr bwMode="auto">
              <a:xfrm>
                <a:off x="3884" y="739"/>
                <a:ext cx="1577" cy="895"/>
                <a:chOff x="2652" y="1627"/>
                <a:chExt cx="1577" cy="895"/>
              </a:xfrm>
            </p:grpSpPr>
            <p:sp>
              <p:nvSpPr>
                <p:cNvPr id="140" name="Freeform 138"/>
                <p:cNvSpPr>
                  <a:spLocks noChangeArrowheads="1"/>
                </p:cNvSpPr>
                <p:nvPr/>
              </p:nvSpPr>
              <p:spPr bwMode="auto">
                <a:xfrm>
                  <a:off x="4026" y="1728"/>
                  <a:ext cx="18" cy="284"/>
                </a:xfrm>
                <a:custGeom>
                  <a:avLst/>
                  <a:gdLst>
                    <a:gd name="T0" fmla="*/ 26 w 26"/>
                    <a:gd name="T1" fmla="*/ 0 h 406"/>
                    <a:gd name="T2" fmla="*/ 26 w 26"/>
                    <a:gd name="T3" fmla="*/ 406 h 406"/>
                    <a:gd name="T4" fmla="*/ 0 w 26"/>
                    <a:gd name="T5" fmla="*/ 406 h 406"/>
                    <a:gd name="T6" fmla="*/ 0 w 26"/>
                    <a:gd name="T7" fmla="*/ 35 h 406"/>
                    <a:gd name="T8" fmla="*/ 26 w 26"/>
                    <a:gd name="T9" fmla="*/ 0 h 4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" h="406">
                      <a:moveTo>
                        <a:pt x="26" y="0"/>
                      </a:moveTo>
                      <a:lnTo>
                        <a:pt x="26" y="406"/>
                      </a:lnTo>
                      <a:lnTo>
                        <a:pt x="0" y="406"/>
                      </a:lnTo>
                      <a:lnTo>
                        <a:pt x="0" y="35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1" name="Freeform 139"/>
                <p:cNvSpPr>
                  <a:spLocks noChangeArrowheads="1"/>
                </p:cNvSpPr>
                <p:nvPr/>
              </p:nvSpPr>
              <p:spPr bwMode="auto">
                <a:xfrm>
                  <a:off x="4142" y="2014"/>
                  <a:ext cx="87" cy="384"/>
                </a:xfrm>
                <a:custGeom>
                  <a:avLst/>
                  <a:gdLst>
                    <a:gd name="T0" fmla="*/ 0 w 125"/>
                    <a:gd name="T1" fmla="*/ 0 h 549"/>
                    <a:gd name="T2" fmla="*/ 29 w 125"/>
                    <a:gd name="T3" fmla="*/ 2 h 549"/>
                    <a:gd name="T4" fmla="*/ 53 w 125"/>
                    <a:gd name="T5" fmla="*/ 12 h 549"/>
                    <a:gd name="T6" fmla="*/ 86 w 125"/>
                    <a:gd name="T7" fmla="*/ 33 h 549"/>
                    <a:gd name="T8" fmla="*/ 106 w 125"/>
                    <a:gd name="T9" fmla="*/ 79 h 549"/>
                    <a:gd name="T10" fmla="*/ 118 w 125"/>
                    <a:gd name="T11" fmla="*/ 115 h 549"/>
                    <a:gd name="T12" fmla="*/ 125 w 125"/>
                    <a:gd name="T13" fmla="*/ 153 h 549"/>
                    <a:gd name="T14" fmla="*/ 125 w 125"/>
                    <a:gd name="T15" fmla="*/ 199 h 549"/>
                    <a:gd name="T16" fmla="*/ 125 w 125"/>
                    <a:gd name="T17" fmla="*/ 444 h 549"/>
                    <a:gd name="T18" fmla="*/ 0 w 125"/>
                    <a:gd name="T19" fmla="*/ 549 h 549"/>
                    <a:gd name="T20" fmla="*/ 0 w 125"/>
                    <a:gd name="T21" fmla="*/ 0 h 5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5" h="549">
                      <a:moveTo>
                        <a:pt x="0" y="0"/>
                      </a:moveTo>
                      <a:lnTo>
                        <a:pt x="29" y="2"/>
                      </a:lnTo>
                      <a:lnTo>
                        <a:pt x="53" y="12"/>
                      </a:lnTo>
                      <a:lnTo>
                        <a:pt x="86" y="33"/>
                      </a:lnTo>
                      <a:lnTo>
                        <a:pt x="106" y="79"/>
                      </a:lnTo>
                      <a:lnTo>
                        <a:pt x="118" y="115"/>
                      </a:lnTo>
                      <a:lnTo>
                        <a:pt x="125" y="153"/>
                      </a:lnTo>
                      <a:lnTo>
                        <a:pt x="125" y="199"/>
                      </a:lnTo>
                      <a:lnTo>
                        <a:pt x="125" y="444"/>
                      </a:lnTo>
                      <a:lnTo>
                        <a:pt x="0" y="54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969696"/>
                    </a:gs>
                    <a:gs pos="100000">
                      <a:srgbClr val="707070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2" name="Freeform 140"/>
                <p:cNvSpPr>
                  <a:spLocks noChangeArrowheads="1"/>
                </p:cNvSpPr>
                <p:nvPr/>
              </p:nvSpPr>
              <p:spPr bwMode="auto">
                <a:xfrm>
                  <a:off x="3900" y="2247"/>
                  <a:ext cx="244" cy="147"/>
                </a:xfrm>
                <a:custGeom>
                  <a:avLst/>
                  <a:gdLst>
                    <a:gd name="T0" fmla="*/ 7 w 349"/>
                    <a:gd name="T1" fmla="*/ 0 h 211"/>
                    <a:gd name="T2" fmla="*/ 349 w 349"/>
                    <a:gd name="T3" fmla="*/ 29 h 211"/>
                    <a:gd name="T4" fmla="*/ 335 w 349"/>
                    <a:gd name="T5" fmla="*/ 211 h 211"/>
                    <a:gd name="T6" fmla="*/ 0 w 349"/>
                    <a:gd name="T7" fmla="*/ 167 h 211"/>
                    <a:gd name="T8" fmla="*/ 7 w 349"/>
                    <a:gd name="T9" fmla="*/ 0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9" h="211">
                      <a:moveTo>
                        <a:pt x="7" y="0"/>
                      </a:moveTo>
                      <a:lnTo>
                        <a:pt x="349" y="29"/>
                      </a:lnTo>
                      <a:lnTo>
                        <a:pt x="335" y="211"/>
                      </a:lnTo>
                      <a:lnTo>
                        <a:pt x="0" y="167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3" name="Freeform 141"/>
                <p:cNvSpPr>
                  <a:spLocks noChangeArrowheads="1"/>
                </p:cNvSpPr>
                <p:nvPr/>
              </p:nvSpPr>
              <p:spPr bwMode="auto">
                <a:xfrm>
                  <a:off x="3910" y="1758"/>
                  <a:ext cx="224" cy="366"/>
                </a:xfrm>
                <a:custGeom>
                  <a:avLst/>
                  <a:gdLst>
                    <a:gd name="T0" fmla="*/ 0 w 320"/>
                    <a:gd name="T1" fmla="*/ 43 h 523"/>
                    <a:gd name="T2" fmla="*/ 0 w 320"/>
                    <a:gd name="T3" fmla="*/ 487 h 523"/>
                    <a:gd name="T4" fmla="*/ 320 w 320"/>
                    <a:gd name="T5" fmla="*/ 523 h 523"/>
                    <a:gd name="T6" fmla="*/ 320 w 320"/>
                    <a:gd name="T7" fmla="*/ 371 h 523"/>
                    <a:gd name="T8" fmla="*/ 160 w 320"/>
                    <a:gd name="T9" fmla="*/ 356 h 523"/>
                    <a:gd name="T10" fmla="*/ 152 w 320"/>
                    <a:gd name="T11" fmla="*/ 7 h 523"/>
                    <a:gd name="T12" fmla="*/ 43 w 320"/>
                    <a:gd name="T13" fmla="*/ 0 h 523"/>
                    <a:gd name="T14" fmla="*/ 0 w 320"/>
                    <a:gd name="T15" fmla="*/ 43 h 5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20" h="523">
                      <a:moveTo>
                        <a:pt x="0" y="43"/>
                      </a:moveTo>
                      <a:lnTo>
                        <a:pt x="0" y="487"/>
                      </a:lnTo>
                      <a:lnTo>
                        <a:pt x="320" y="523"/>
                      </a:lnTo>
                      <a:lnTo>
                        <a:pt x="320" y="371"/>
                      </a:lnTo>
                      <a:lnTo>
                        <a:pt x="160" y="356"/>
                      </a:lnTo>
                      <a:lnTo>
                        <a:pt x="152" y="7"/>
                      </a:lnTo>
                      <a:lnTo>
                        <a:pt x="43" y="0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4" name="Freeform 142"/>
                <p:cNvSpPr>
                  <a:spLocks noChangeArrowheads="1"/>
                </p:cNvSpPr>
                <p:nvPr/>
              </p:nvSpPr>
              <p:spPr bwMode="auto">
                <a:xfrm>
                  <a:off x="3335" y="1703"/>
                  <a:ext cx="219" cy="635"/>
                </a:xfrm>
                <a:custGeom>
                  <a:avLst/>
                  <a:gdLst>
                    <a:gd name="T0" fmla="*/ 138 w 313"/>
                    <a:gd name="T1" fmla="*/ 0 h 909"/>
                    <a:gd name="T2" fmla="*/ 138 w 313"/>
                    <a:gd name="T3" fmla="*/ 589 h 909"/>
                    <a:gd name="T4" fmla="*/ 0 w 313"/>
                    <a:gd name="T5" fmla="*/ 582 h 909"/>
                    <a:gd name="T6" fmla="*/ 0 w 313"/>
                    <a:gd name="T7" fmla="*/ 872 h 909"/>
                    <a:gd name="T8" fmla="*/ 313 w 313"/>
                    <a:gd name="T9" fmla="*/ 909 h 909"/>
                    <a:gd name="T10" fmla="*/ 313 w 313"/>
                    <a:gd name="T11" fmla="*/ 65 h 909"/>
                    <a:gd name="T12" fmla="*/ 262 w 313"/>
                    <a:gd name="T13" fmla="*/ 7 h 909"/>
                    <a:gd name="T14" fmla="*/ 138 w 313"/>
                    <a:gd name="T15" fmla="*/ 0 h 9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13" h="909">
                      <a:moveTo>
                        <a:pt x="138" y="0"/>
                      </a:moveTo>
                      <a:lnTo>
                        <a:pt x="138" y="589"/>
                      </a:lnTo>
                      <a:lnTo>
                        <a:pt x="0" y="582"/>
                      </a:lnTo>
                      <a:lnTo>
                        <a:pt x="0" y="872"/>
                      </a:lnTo>
                      <a:lnTo>
                        <a:pt x="313" y="909"/>
                      </a:lnTo>
                      <a:lnTo>
                        <a:pt x="313" y="65"/>
                      </a:lnTo>
                      <a:lnTo>
                        <a:pt x="262" y="7"/>
                      </a:lnTo>
                      <a:lnTo>
                        <a:pt x="138" y="0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5" name="Freeform 143"/>
                <p:cNvSpPr>
                  <a:spLocks noChangeArrowheads="1"/>
                </p:cNvSpPr>
                <p:nvPr/>
              </p:nvSpPr>
              <p:spPr bwMode="auto">
                <a:xfrm>
                  <a:off x="2652" y="1877"/>
                  <a:ext cx="780" cy="493"/>
                </a:xfrm>
                <a:custGeom>
                  <a:avLst/>
                  <a:gdLst>
                    <a:gd name="T0" fmla="*/ 0 w 780"/>
                    <a:gd name="T1" fmla="*/ 355 h 493"/>
                    <a:gd name="T2" fmla="*/ 406 w 780"/>
                    <a:gd name="T3" fmla="*/ 0 h 493"/>
                    <a:gd name="T4" fmla="*/ 775 w 780"/>
                    <a:gd name="T5" fmla="*/ 49 h 493"/>
                    <a:gd name="T6" fmla="*/ 780 w 780"/>
                    <a:gd name="T7" fmla="*/ 242 h 493"/>
                    <a:gd name="T8" fmla="*/ 683 w 780"/>
                    <a:gd name="T9" fmla="*/ 242 h 493"/>
                    <a:gd name="T10" fmla="*/ 392 w 780"/>
                    <a:gd name="T11" fmla="*/ 493 h 493"/>
                    <a:gd name="T12" fmla="*/ 0 w 780"/>
                    <a:gd name="T13" fmla="*/ 355 h 4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80" h="493">
                      <a:moveTo>
                        <a:pt x="0" y="355"/>
                      </a:moveTo>
                      <a:lnTo>
                        <a:pt x="406" y="0"/>
                      </a:lnTo>
                      <a:lnTo>
                        <a:pt x="775" y="49"/>
                      </a:lnTo>
                      <a:lnTo>
                        <a:pt x="780" y="242"/>
                      </a:lnTo>
                      <a:lnTo>
                        <a:pt x="683" y="242"/>
                      </a:lnTo>
                      <a:lnTo>
                        <a:pt x="392" y="493"/>
                      </a:lnTo>
                      <a:lnTo>
                        <a:pt x="0" y="35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555555"/>
                    </a:gs>
                    <a:gs pos="100000">
                      <a:srgbClr val="969696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6" name="Freeform 144"/>
                <p:cNvSpPr>
                  <a:spLocks noChangeArrowheads="1"/>
                </p:cNvSpPr>
                <p:nvPr/>
              </p:nvSpPr>
              <p:spPr bwMode="auto">
                <a:xfrm>
                  <a:off x="3899" y="2095"/>
                  <a:ext cx="282" cy="174"/>
                </a:xfrm>
                <a:custGeom>
                  <a:avLst/>
                  <a:gdLst>
                    <a:gd name="T0" fmla="*/ 0 w 403"/>
                    <a:gd name="T1" fmla="*/ 0 h 249"/>
                    <a:gd name="T2" fmla="*/ 6 w 403"/>
                    <a:gd name="T3" fmla="*/ 214 h 249"/>
                    <a:gd name="T4" fmla="*/ 349 w 403"/>
                    <a:gd name="T5" fmla="*/ 249 h 249"/>
                    <a:gd name="T6" fmla="*/ 374 w 403"/>
                    <a:gd name="T7" fmla="*/ 230 h 249"/>
                    <a:gd name="T8" fmla="*/ 387 w 403"/>
                    <a:gd name="T9" fmla="*/ 205 h 249"/>
                    <a:gd name="T10" fmla="*/ 397 w 403"/>
                    <a:gd name="T11" fmla="*/ 169 h 249"/>
                    <a:gd name="T12" fmla="*/ 403 w 403"/>
                    <a:gd name="T13" fmla="*/ 137 h 249"/>
                    <a:gd name="T14" fmla="*/ 397 w 403"/>
                    <a:gd name="T15" fmla="*/ 99 h 249"/>
                    <a:gd name="T16" fmla="*/ 390 w 403"/>
                    <a:gd name="T17" fmla="*/ 73 h 249"/>
                    <a:gd name="T18" fmla="*/ 381 w 403"/>
                    <a:gd name="T19" fmla="*/ 48 h 249"/>
                    <a:gd name="T20" fmla="*/ 352 w 403"/>
                    <a:gd name="T21" fmla="*/ 35 h 249"/>
                    <a:gd name="T22" fmla="*/ 0 w 403"/>
                    <a:gd name="T23" fmla="*/ 0 h 2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03" h="249">
                      <a:moveTo>
                        <a:pt x="0" y="0"/>
                      </a:moveTo>
                      <a:lnTo>
                        <a:pt x="6" y="214"/>
                      </a:lnTo>
                      <a:lnTo>
                        <a:pt x="349" y="249"/>
                      </a:lnTo>
                      <a:lnTo>
                        <a:pt x="374" y="230"/>
                      </a:lnTo>
                      <a:lnTo>
                        <a:pt x="387" y="205"/>
                      </a:lnTo>
                      <a:lnTo>
                        <a:pt x="397" y="169"/>
                      </a:lnTo>
                      <a:lnTo>
                        <a:pt x="403" y="137"/>
                      </a:lnTo>
                      <a:lnTo>
                        <a:pt x="397" y="99"/>
                      </a:lnTo>
                      <a:lnTo>
                        <a:pt x="390" y="73"/>
                      </a:lnTo>
                      <a:lnTo>
                        <a:pt x="381" y="48"/>
                      </a:lnTo>
                      <a:lnTo>
                        <a:pt x="352" y="3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595959"/>
                    </a:gs>
                    <a:gs pos="50000">
                      <a:srgbClr val="C0C0C0"/>
                    </a:gs>
                    <a:gs pos="100000">
                      <a:srgbClr val="595959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7" name="Freeform 145"/>
                <p:cNvSpPr>
                  <a:spLocks noChangeArrowheads="1"/>
                </p:cNvSpPr>
                <p:nvPr/>
              </p:nvSpPr>
              <p:spPr bwMode="auto">
                <a:xfrm>
                  <a:off x="3433" y="1627"/>
                  <a:ext cx="610" cy="141"/>
                </a:xfrm>
                <a:custGeom>
                  <a:avLst/>
                  <a:gdLst>
                    <a:gd name="T0" fmla="*/ 5071 w 5238"/>
                    <a:gd name="T1" fmla="*/ 1206 h 1206"/>
                    <a:gd name="T2" fmla="*/ 5206 w 5238"/>
                    <a:gd name="T3" fmla="*/ 1036 h 1206"/>
                    <a:gd name="T4" fmla="*/ 5238 w 5238"/>
                    <a:gd name="T5" fmla="*/ 861 h 1206"/>
                    <a:gd name="T6" fmla="*/ 5166 w 5238"/>
                    <a:gd name="T7" fmla="*/ 688 h 1206"/>
                    <a:gd name="T8" fmla="*/ 4994 w 5238"/>
                    <a:gd name="T9" fmla="*/ 522 h 1206"/>
                    <a:gd name="T10" fmla="*/ 4727 w 5238"/>
                    <a:gd name="T11" fmla="*/ 370 h 1206"/>
                    <a:gd name="T12" fmla="*/ 4375 w 5238"/>
                    <a:gd name="T13" fmla="*/ 239 h 1206"/>
                    <a:gd name="T14" fmla="*/ 3954 w 5238"/>
                    <a:gd name="T15" fmla="*/ 132 h 1206"/>
                    <a:gd name="T16" fmla="*/ 3477 w 5238"/>
                    <a:gd name="T17" fmla="*/ 55 h 1206"/>
                    <a:gd name="T18" fmla="*/ 2964 w 5238"/>
                    <a:gd name="T19" fmla="*/ 11 h 1206"/>
                    <a:gd name="T20" fmla="*/ 2435 w 5238"/>
                    <a:gd name="T21" fmla="*/ 0 h 1206"/>
                    <a:gd name="T22" fmla="*/ 1910 w 5238"/>
                    <a:gd name="T23" fmla="*/ 24 h 1206"/>
                    <a:gd name="T24" fmla="*/ 1408 w 5238"/>
                    <a:gd name="T25" fmla="*/ 81 h 1206"/>
                    <a:gd name="T26" fmla="*/ 951 w 5238"/>
                    <a:gd name="T27" fmla="*/ 169 h 1206"/>
                    <a:gd name="T28" fmla="*/ 554 w 5238"/>
                    <a:gd name="T29" fmla="*/ 286 h 1206"/>
                    <a:gd name="T30" fmla="*/ 233 w 5238"/>
                    <a:gd name="T31" fmla="*/ 425 h 1206"/>
                    <a:gd name="T32" fmla="*/ 0 w 5238"/>
                    <a:gd name="T33" fmla="*/ 583 h 1206"/>
                    <a:gd name="T34" fmla="*/ 1 w 5238"/>
                    <a:gd name="T35" fmla="*/ 583 h 1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5238" h="1206">
                      <a:moveTo>
                        <a:pt x="5071" y="1206"/>
                      </a:moveTo>
                      <a:lnTo>
                        <a:pt x="5206" y="1036"/>
                      </a:lnTo>
                      <a:lnTo>
                        <a:pt x="5238" y="861"/>
                      </a:lnTo>
                      <a:lnTo>
                        <a:pt x="5166" y="688"/>
                      </a:lnTo>
                      <a:lnTo>
                        <a:pt x="4994" y="522"/>
                      </a:lnTo>
                      <a:lnTo>
                        <a:pt x="4727" y="370"/>
                      </a:lnTo>
                      <a:lnTo>
                        <a:pt x="4375" y="239"/>
                      </a:lnTo>
                      <a:lnTo>
                        <a:pt x="3954" y="132"/>
                      </a:lnTo>
                      <a:lnTo>
                        <a:pt x="3477" y="55"/>
                      </a:lnTo>
                      <a:lnTo>
                        <a:pt x="2964" y="11"/>
                      </a:lnTo>
                      <a:lnTo>
                        <a:pt x="2435" y="0"/>
                      </a:lnTo>
                      <a:lnTo>
                        <a:pt x="1910" y="24"/>
                      </a:lnTo>
                      <a:lnTo>
                        <a:pt x="1408" y="81"/>
                      </a:lnTo>
                      <a:lnTo>
                        <a:pt x="951" y="169"/>
                      </a:lnTo>
                      <a:lnTo>
                        <a:pt x="554" y="286"/>
                      </a:lnTo>
                      <a:lnTo>
                        <a:pt x="233" y="425"/>
                      </a:lnTo>
                      <a:lnTo>
                        <a:pt x="0" y="583"/>
                      </a:lnTo>
                      <a:lnTo>
                        <a:pt x="1" y="583"/>
                      </a:lnTo>
                    </a:path>
                  </a:pathLst>
                </a:custGeom>
                <a:solidFill>
                  <a:srgbClr val="C0C0C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8" name="Freeform 146"/>
                <p:cNvSpPr>
                  <a:spLocks noChangeArrowheads="1"/>
                </p:cNvSpPr>
                <p:nvPr/>
              </p:nvSpPr>
              <p:spPr bwMode="auto">
                <a:xfrm>
                  <a:off x="3556" y="1694"/>
                  <a:ext cx="386" cy="653"/>
                </a:xfrm>
                <a:custGeom>
                  <a:avLst/>
                  <a:gdLst>
                    <a:gd name="T0" fmla="*/ 0 w 551"/>
                    <a:gd name="T1" fmla="*/ 77 h 934"/>
                    <a:gd name="T2" fmla="*/ 0 w 551"/>
                    <a:gd name="T3" fmla="*/ 934 h 934"/>
                    <a:gd name="T4" fmla="*/ 26 w 551"/>
                    <a:gd name="T5" fmla="*/ 909 h 934"/>
                    <a:gd name="T6" fmla="*/ 64 w 551"/>
                    <a:gd name="T7" fmla="*/ 893 h 934"/>
                    <a:gd name="T8" fmla="*/ 103 w 551"/>
                    <a:gd name="T9" fmla="*/ 880 h 934"/>
                    <a:gd name="T10" fmla="*/ 144 w 551"/>
                    <a:gd name="T11" fmla="*/ 870 h 934"/>
                    <a:gd name="T12" fmla="*/ 202 w 551"/>
                    <a:gd name="T13" fmla="*/ 864 h 934"/>
                    <a:gd name="T14" fmla="*/ 272 w 551"/>
                    <a:gd name="T15" fmla="*/ 861 h 934"/>
                    <a:gd name="T16" fmla="*/ 327 w 551"/>
                    <a:gd name="T17" fmla="*/ 867 h 934"/>
                    <a:gd name="T18" fmla="*/ 384 w 551"/>
                    <a:gd name="T19" fmla="*/ 877 h 934"/>
                    <a:gd name="T20" fmla="*/ 455 w 551"/>
                    <a:gd name="T21" fmla="*/ 899 h 934"/>
                    <a:gd name="T22" fmla="*/ 496 w 551"/>
                    <a:gd name="T23" fmla="*/ 918 h 934"/>
                    <a:gd name="T24" fmla="*/ 496 w 551"/>
                    <a:gd name="T25" fmla="*/ 778 h 934"/>
                    <a:gd name="T26" fmla="*/ 525 w 551"/>
                    <a:gd name="T27" fmla="*/ 762 h 934"/>
                    <a:gd name="T28" fmla="*/ 538 w 551"/>
                    <a:gd name="T29" fmla="*/ 726 h 934"/>
                    <a:gd name="T30" fmla="*/ 544 w 551"/>
                    <a:gd name="T31" fmla="*/ 691 h 934"/>
                    <a:gd name="T32" fmla="*/ 551 w 551"/>
                    <a:gd name="T33" fmla="*/ 650 h 934"/>
                    <a:gd name="T34" fmla="*/ 541 w 551"/>
                    <a:gd name="T35" fmla="*/ 608 h 934"/>
                    <a:gd name="T36" fmla="*/ 522 w 551"/>
                    <a:gd name="T37" fmla="*/ 570 h 934"/>
                    <a:gd name="T38" fmla="*/ 493 w 551"/>
                    <a:gd name="T39" fmla="*/ 566 h 934"/>
                    <a:gd name="T40" fmla="*/ 493 w 551"/>
                    <a:gd name="T41" fmla="*/ 118 h 934"/>
                    <a:gd name="T42" fmla="*/ 509 w 551"/>
                    <a:gd name="T43" fmla="*/ 64 h 934"/>
                    <a:gd name="T44" fmla="*/ 391 w 551"/>
                    <a:gd name="T45" fmla="*/ 13 h 934"/>
                    <a:gd name="T46" fmla="*/ 183 w 551"/>
                    <a:gd name="T47" fmla="*/ 0 h 934"/>
                    <a:gd name="T48" fmla="*/ 39 w 551"/>
                    <a:gd name="T49" fmla="*/ 22 h 934"/>
                    <a:gd name="T50" fmla="*/ 0 w 551"/>
                    <a:gd name="T51" fmla="*/ 77 h 9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551" h="934">
                      <a:moveTo>
                        <a:pt x="0" y="77"/>
                      </a:moveTo>
                      <a:lnTo>
                        <a:pt x="0" y="934"/>
                      </a:lnTo>
                      <a:lnTo>
                        <a:pt x="26" y="909"/>
                      </a:lnTo>
                      <a:lnTo>
                        <a:pt x="64" y="893"/>
                      </a:lnTo>
                      <a:lnTo>
                        <a:pt x="103" y="880"/>
                      </a:lnTo>
                      <a:lnTo>
                        <a:pt x="144" y="870"/>
                      </a:lnTo>
                      <a:lnTo>
                        <a:pt x="202" y="864"/>
                      </a:lnTo>
                      <a:lnTo>
                        <a:pt x="272" y="861"/>
                      </a:lnTo>
                      <a:lnTo>
                        <a:pt x="327" y="867"/>
                      </a:lnTo>
                      <a:lnTo>
                        <a:pt x="384" y="877"/>
                      </a:lnTo>
                      <a:lnTo>
                        <a:pt x="455" y="899"/>
                      </a:lnTo>
                      <a:lnTo>
                        <a:pt x="496" y="918"/>
                      </a:lnTo>
                      <a:lnTo>
                        <a:pt x="496" y="778"/>
                      </a:lnTo>
                      <a:lnTo>
                        <a:pt x="525" y="762"/>
                      </a:lnTo>
                      <a:lnTo>
                        <a:pt x="538" y="726"/>
                      </a:lnTo>
                      <a:lnTo>
                        <a:pt x="544" y="691"/>
                      </a:lnTo>
                      <a:lnTo>
                        <a:pt x="551" y="650"/>
                      </a:lnTo>
                      <a:lnTo>
                        <a:pt x="541" y="608"/>
                      </a:lnTo>
                      <a:lnTo>
                        <a:pt x="522" y="570"/>
                      </a:lnTo>
                      <a:lnTo>
                        <a:pt x="493" y="566"/>
                      </a:lnTo>
                      <a:lnTo>
                        <a:pt x="493" y="118"/>
                      </a:lnTo>
                      <a:lnTo>
                        <a:pt x="509" y="64"/>
                      </a:lnTo>
                      <a:lnTo>
                        <a:pt x="391" y="13"/>
                      </a:lnTo>
                      <a:lnTo>
                        <a:pt x="183" y="0"/>
                      </a:lnTo>
                      <a:lnTo>
                        <a:pt x="39" y="22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595959"/>
                    </a:gs>
                    <a:gs pos="50000">
                      <a:srgbClr val="C0C0C0"/>
                    </a:gs>
                    <a:gs pos="100000">
                      <a:srgbClr val="595959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9" name="Freeform 147"/>
                <p:cNvSpPr>
                  <a:spLocks noChangeArrowheads="1"/>
                </p:cNvSpPr>
                <p:nvPr/>
              </p:nvSpPr>
              <p:spPr bwMode="auto">
                <a:xfrm>
                  <a:off x="2991" y="1982"/>
                  <a:ext cx="265" cy="88"/>
                </a:xfrm>
                <a:custGeom>
                  <a:avLst/>
                  <a:gdLst>
                    <a:gd name="T0" fmla="*/ 0 w 2267"/>
                    <a:gd name="T1" fmla="*/ 376 h 751"/>
                    <a:gd name="T2" fmla="*/ 20 w 2267"/>
                    <a:gd name="T3" fmla="*/ 447 h 751"/>
                    <a:gd name="T4" fmla="*/ 82 w 2267"/>
                    <a:gd name="T5" fmla="*/ 516 h 751"/>
                    <a:gd name="T6" fmla="*/ 181 w 2267"/>
                    <a:gd name="T7" fmla="*/ 579 h 751"/>
                    <a:gd name="T8" fmla="*/ 314 w 2267"/>
                    <a:gd name="T9" fmla="*/ 635 h 751"/>
                    <a:gd name="T10" fmla="*/ 477 w 2267"/>
                    <a:gd name="T11" fmla="*/ 682 h 751"/>
                    <a:gd name="T12" fmla="*/ 664 w 2267"/>
                    <a:gd name="T13" fmla="*/ 718 h 751"/>
                    <a:gd name="T14" fmla="*/ 868 w 2267"/>
                    <a:gd name="T15" fmla="*/ 741 h 751"/>
                    <a:gd name="T16" fmla="*/ 1083 w 2267"/>
                    <a:gd name="T17" fmla="*/ 751 h 751"/>
                    <a:gd name="T18" fmla="*/ 1298 w 2267"/>
                    <a:gd name="T19" fmla="*/ 748 h 751"/>
                    <a:gd name="T20" fmla="*/ 1508 w 2267"/>
                    <a:gd name="T21" fmla="*/ 731 h 751"/>
                    <a:gd name="T22" fmla="*/ 1704 w 2267"/>
                    <a:gd name="T23" fmla="*/ 701 h 751"/>
                    <a:gd name="T24" fmla="*/ 1880 w 2267"/>
                    <a:gd name="T25" fmla="*/ 659 h 751"/>
                    <a:gd name="T26" fmla="*/ 2029 w 2267"/>
                    <a:gd name="T27" fmla="*/ 608 h 751"/>
                    <a:gd name="T28" fmla="*/ 2146 w 2267"/>
                    <a:gd name="T29" fmla="*/ 548 h 751"/>
                    <a:gd name="T30" fmla="*/ 2226 w 2267"/>
                    <a:gd name="T31" fmla="*/ 482 h 751"/>
                    <a:gd name="T32" fmla="*/ 2267 w 2267"/>
                    <a:gd name="T33" fmla="*/ 411 h 751"/>
                    <a:gd name="T34" fmla="*/ 2267 w 2267"/>
                    <a:gd name="T35" fmla="*/ 340 h 751"/>
                    <a:gd name="T36" fmla="*/ 2226 w 2267"/>
                    <a:gd name="T37" fmla="*/ 270 h 751"/>
                    <a:gd name="T38" fmla="*/ 2146 w 2267"/>
                    <a:gd name="T39" fmla="*/ 204 h 751"/>
                    <a:gd name="T40" fmla="*/ 2029 w 2267"/>
                    <a:gd name="T41" fmla="*/ 143 h 751"/>
                    <a:gd name="T42" fmla="*/ 1880 w 2267"/>
                    <a:gd name="T43" fmla="*/ 92 h 751"/>
                    <a:gd name="T44" fmla="*/ 1704 w 2267"/>
                    <a:gd name="T45" fmla="*/ 50 h 751"/>
                    <a:gd name="T46" fmla="*/ 1508 w 2267"/>
                    <a:gd name="T47" fmla="*/ 20 h 751"/>
                    <a:gd name="T48" fmla="*/ 1298 w 2267"/>
                    <a:gd name="T49" fmla="*/ 3 h 751"/>
                    <a:gd name="T50" fmla="*/ 1083 w 2267"/>
                    <a:gd name="T51" fmla="*/ 0 h 751"/>
                    <a:gd name="T52" fmla="*/ 868 w 2267"/>
                    <a:gd name="T53" fmla="*/ 10 h 751"/>
                    <a:gd name="T54" fmla="*/ 664 w 2267"/>
                    <a:gd name="T55" fmla="*/ 34 h 751"/>
                    <a:gd name="T56" fmla="*/ 477 w 2267"/>
                    <a:gd name="T57" fmla="*/ 69 h 751"/>
                    <a:gd name="T58" fmla="*/ 314 w 2267"/>
                    <a:gd name="T59" fmla="*/ 117 h 751"/>
                    <a:gd name="T60" fmla="*/ 181 w 2267"/>
                    <a:gd name="T61" fmla="*/ 173 h 751"/>
                    <a:gd name="T62" fmla="*/ 82 w 2267"/>
                    <a:gd name="T63" fmla="*/ 237 h 751"/>
                    <a:gd name="T64" fmla="*/ 20 w 2267"/>
                    <a:gd name="T65" fmla="*/ 305 h 751"/>
                    <a:gd name="T66" fmla="*/ 0 w 2267"/>
                    <a:gd name="T67" fmla="*/ 376 h 751"/>
                    <a:gd name="T68" fmla="*/ 1 w 2267"/>
                    <a:gd name="T69" fmla="*/ 376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267" h="751">
                      <a:moveTo>
                        <a:pt x="0" y="376"/>
                      </a:moveTo>
                      <a:lnTo>
                        <a:pt x="20" y="447"/>
                      </a:lnTo>
                      <a:lnTo>
                        <a:pt x="82" y="516"/>
                      </a:lnTo>
                      <a:lnTo>
                        <a:pt x="181" y="579"/>
                      </a:lnTo>
                      <a:lnTo>
                        <a:pt x="314" y="635"/>
                      </a:lnTo>
                      <a:lnTo>
                        <a:pt x="477" y="682"/>
                      </a:lnTo>
                      <a:lnTo>
                        <a:pt x="664" y="718"/>
                      </a:lnTo>
                      <a:lnTo>
                        <a:pt x="868" y="741"/>
                      </a:lnTo>
                      <a:lnTo>
                        <a:pt x="1083" y="751"/>
                      </a:lnTo>
                      <a:lnTo>
                        <a:pt x="1298" y="748"/>
                      </a:lnTo>
                      <a:lnTo>
                        <a:pt x="1508" y="731"/>
                      </a:lnTo>
                      <a:lnTo>
                        <a:pt x="1704" y="701"/>
                      </a:lnTo>
                      <a:lnTo>
                        <a:pt x="1880" y="659"/>
                      </a:lnTo>
                      <a:lnTo>
                        <a:pt x="2029" y="608"/>
                      </a:lnTo>
                      <a:lnTo>
                        <a:pt x="2146" y="548"/>
                      </a:lnTo>
                      <a:lnTo>
                        <a:pt x="2226" y="482"/>
                      </a:lnTo>
                      <a:lnTo>
                        <a:pt x="2267" y="411"/>
                      </a:lnTo>
                      <a:lnTo>
                        <a:pt x="2267" y="340"/>
                      </a:lnTo>
                      <a:lnTo>
                        <a:pt x="2226" y="270"/>
                      </a:lnTo>
                      <a:lnTo>
                        <a:pt x="2146" y="204"/>
                      </a:lnTo>
                      <a:lnTo>
                        <a:pt x="2029" y="143"/>
                      </a:lnTo>
                      <a:lnTo>
                        <a:pt x="1880" y="92"/>
                      </a:lnTo>
                      <a:lnTo>
                        <a:pt x="1704" y="50"/>
                      </a:lnTo>
                      <a:lnTo>
                        <a:pt x="1508" y="20"/>
                      </a:lnTo>
                      <a:lnTo>
                        <a:pt x="1298" y="3"/>
                      </a:lnTo>
                      <a:lnTo>
                        <a:pt x="1083" y="0"/>
                      </a:lnTo>
                      <a:lnTo>
                        <a:pt x="868" y="10"/>
                      </a:lnTo>
                      <a:lnTo>
                        <a:pt x="664" y="34"/>
                      </a:lnTo>
                      <a:lnTo>
                        <a:pt x="477" y="69"/>
                      </a:lnTo>
                      <a:lnTo>
                        <a:pt x="314" y="117"/>
                      </a:lnTo>
                      <a:lnTo>
                        <a:pt x="181" y="173"/>
                      </a:lnTo>
                      <a:lnTo>
                        <a:pt x="82" y="237"/>
                      </a:lnTo>
                      <a:lnTo>
                        <a:pt x="20" y="305"/>
                      </a:lnTo>
                      <a:lnTo>
                        <a:pt x="0" y="376"/>
                      </a:lnTo>
                      <a:lnTo>
                        <a:pt x="1" y="376"/>
                      </a:lnTo>
                    </a:path>
                  </a:pathLst>
                </a:custGeom>
                <a:gradFill rotWithShape="0">
                  <a:gsLst>
                    <a:gs pos="0">
                      <a:srgbClr val="595959"/>
                    </a:gs>
                    <a:gs pos="50000">
                      <a:srgbClr val="C0C0C0"/>
                    </a:gs>
                    <a:gs pos="100000">
                      <a:srgbClr val="595959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0" name="Freeform 148"/>
                <p:cNvSpPr>
                  <a:spLocks noChangeArrowheads="1"/>
                </p:cNvSpPr>
                <p:nvPr/>
              </p:nvSpPr>
              <p:spPr bwMode="auto">
                <a:xfrm>
                  <a:off x="3046" y="2050"/>
                  <a:ext cx="159" cy="21"/>
                </a:xfrm>
                <a:custGeom>
                  <a:avLst/>
                  <a:gdLst>
                    <a:gd name="T0" fmla="*/ 0 w 228"/>
                    <a:gd name="T1" fmla="*/ 16 h 31"/>
                    <a:gd name="T2" fmla="*/ 41 w 228"/>
                    <a:gd name="T3" fmla="*/ 7 h 31"/>
                    <a:gd name="T4" fmla="*/ 70 w 228"/>
                    <a:gd name="T5" fmla="*/ 2 h 31"/>
                    <a:gd name="T6" fmla="*/ 94 w 228"/>
                    <a:gd name="T7" fmla="*/ 0 h 31"/>
                    <a:gd name="T8" fmla="*/ 120 w 228"/>
                    <a:gd name="T9" fmla="*/ 0 h 31"/>
                    <a:gd name="T10" fmla="*/ 147 w 228"/>
                    <a:gd name="T11" fmla="*/ 0 h 31"/>
                    <a:gd name="T12" fmla="*/ 171 w 228"/>
                    <a:gd name="T13" fmla="*/ 7 h 31"/>
                    <a:gd name="T14" fmla="*/ 192 w 228"/>
                    <a:gd name="T15" fmla="*/ 7 h 31"/>
                    <a:gd name="T16" fmla="*/ 211 w 228"/>
                    <a:gd name="T17" fmla="*/ 12 h 31"/>
                    <a:gd name="T18" fmla="*/ 228 w 228"/>
                    <a:gd name="T19" fmla="*/ 16 h 31"/>
                    <a:gd name="T20" fmla="*/ 195 w 228"/>
                    <a:gd name="T21" fmla="*/ 24 h 31"/>
                    <a:gd name="T22" fmla="*/ 168 w 228"/>
                    <a:gd name="T23" fmla="*/ 28 h 31"/>
                    <a:gd name="T24" fmla="*/ 135 w 228"/>
                    <a:gd name="T25" fmla="*/ 31 h 31"/>
                    <a:gd name="T26" fmla="*/ 99 w 228"/>
                    <a:gd name="T27" fmla="*/ 31 h 31"/>
                    <a:gd name="T28" fmla="*/ 58 w 228"/>
                    <a:gd name="T29" fmla="*/ 28 h 31"/>
                    <a:gd name="T30" fmla="*/ 27 w 228"/>
                    <a:gd name="T31" fmla="*/ 24 h 31"/>
                    <a:gd name="T32" fmla="*/ 0 w 228"/>
                    <a:gd name="T33" fmla="*/ 16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28" h="31">
                      <a:moveTo>
                        <a:pt x="0" y="16"/>
                      </a:moveTo>
                      <a:lnTo>
                        <a:pt x="41" y="7"/>
                      </a:lnTo>
                      <a:lnTo>
                        <a:pt x="70" y="2"/>
                      </a:lnTo>
                      <a:lnTo>
                        <a:pt x="94" y="0"/>
                      </a:lnTo>
                      <a:lnTo>
                        <a:pt x="120" y="0"/>
                      </a:lnTo>
                      <a:lnTo>
                        <a:pt x="147" y="0"/>
                      </a:lnTo>
                      <a:lnTo>
                        <a:pt x="171" y="7"/>
                      </a:lnTo>
                      <a:lnTo>
                        <a:pt x="192" y="7"/>
                      </a:lnTo>
                      <a:lnTo>
                        <a:pt x="211" y="12"/>
                      </a:lnTo>
                      <a:lnTo>
                        <a:pt x="228" y="16"/>
                      </a:lnTo>
                      <a:lnTo>
                        <a:pt x="195" y="24"/>
                      </a:lnTo>
                      <a:lnTo>
                        <a:pt x="168" y="28"/>
                      </a:lnTo>
                      <a:lnTo>
                        <a:pt x="135" y="31"/>
                      </a:lnTo>
                      <a:lnTo>
                        <a:pt x="99" y="31"/>
                      </a:lnTo>
                      <a:lnTo>
                        <a:pt x="58" y="28"/>
                      </a:lnTo>
                      <a:lnTo>
                        <a:pt x="27" y="24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1" name="Freeform 149"/>
                <p:cNvSpPr>
                  <a:spLocks noChangeArrowheads="1"/>
                </p:cNvSpPr>
                <p:nvPr/>
              </p:nvSpPr>
              <p:spPr bwMode="auto">
                <a:xfrm>
                  <a:off x="3517" y="1659"/>
                  <a:ext cx="438" cy="118"/>
                </a:xfrm>
                <a:custGeom>
                  <a:avLst/>
                  <a:gdLst>
                    <a:gd name="T0" fmla="*/ 0 w 626"/>
                    <a:gd name="T1" fmla="*/ 63 h 168"/>
                    <a:gd name="T2" fmla="*/ 43 w 626"/>
                    <a:gd name="T3" fmla="*/ 39 h 168"/>
                    <a:gd name="T4" fmla="*/ 82 w 626"/>
                    <a:gd name="T5" fmla="*/ 29 h 168"/>
                    <a:gd name="T6" fmla="*/ 135 w 626"/>
                    <a:gd name="T7" fmla="*/ 15 h 168"/>
                    <a:gd name="T8" fmla="*/ 207 w 626"/>
                    <a:gd name="T9" fmla="*/ 5 h 168"/>
                    <a:gd name="T10" fmla="*/ 269 w 626"/>
                    <a:gd name="T11" fmla="*/ 0 h 168"/>
                    <a:gd name="T12" fmla="*/ 341 w 626"/>
                    <a:gd name="T13" fmla="*/ 0 h 168"/>
                    <a:gd name="T14" fmla="*/ 408 w 626"/>
                    <a:gd name="T15" fmla="*/ 5 h 168"/>
                    <a:gd name="T16" fmla="*/ 479 w 626"/>
                    <a:gd name="T17" fmla="*/ 18 h 168"/>
                    <a:gd name="T18" fmla="*/ 530 w 626"/>
                    <a:gd name="T19" fmla="*/ 28 h 168"/>
                    <a:gd name="T20" fmla="*/ 567 w 626"/>
                    <a:gd name="T21" fmla="*/ 44 h 168"/>
                    <a:gd name="T22" fmla="*/ 610 w 626"/>
                    <a:gd name="T23" fmla="*/ 77 h 168"/>
                    <a:gd name="T24" fmla="*/ 626 w 626"/>
                    <a:gd name="T25" fmla="*/ 98 h 168"/>
                    <a:gd name="T26" fmla="*/ 605 w 626"/>
                    <a:gd name="T27" fmla="*/ 135 h 168"/>
                    <a:gd name="T28" fmla="*/ 549 w 626"/>
                    <a:gd name="T29" fmla="*/ 168 h 168"/>
                    <a:gd name="T30" fmla="*/ 547 w 626"/>
                    <a:gd name="T31" fmla="*/ 135 h 168"/>
                    <a:gd name="T32" fmla="*/ 509 w 626"/>
                    <a:gd name="T33" fmla="*/ 106 h 168"/>
                    <a:gd name="T34" fmla="*/ 466 w 626"/>
                    <a:gd name="T35" fmla="*/ 92 h 168"/>
                    <a:gd name="T36" fmla="*/ 392 w 626"/>
                    <a:gd name="T37" fmla="*/ 76 h 168"/>
                    <a:gd name="T38" fmla="*/ 331 w 626"/>
                    <a:gd name="T39" fmla="*/ 69 h 168"/>
                    <a:gd name="T40" fmla="*/ 264 w 626"/>
                    <a:gd name="T41" fmla="*/ 68 h 168"/>
                    <a:gd name="T42" fmla="*/ 210 w 626"/>
                    <a:gd name="T43" fmla="*/ 76 h 168"/>
                    <a:gd name="T44" fmla="*/ 149 w 626"/>
                    <a:gd name="T45" fmla="*/ 92 h 168"/>
                    <a:gd name="T46" fmla="*/ 101 w 626"/>
                    <a:gd name="T47" fmla="*/ 101 h 168"/>
                    <a:gd name="T48" fmla="*/ 58 w 626"/>
                    <a:gd name="T49" fmla="*/ 130 h 168"/>
                    <a:gd name="T50" fmla="*/ 0 w 626"/>
                    <a:gd name="T51" fmla="*/ 63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626" h="168">
                      <a:moveTo>
                        <a:pt x="0" y="63"/>
                      </a:moveTo>
                      <a:lnTo>
                        <a:pt x="43" y="39"/>
                      </a:lnTo>
                      <a:lnTo>
                        <a:pt x="82" y="29"/>
                      </a:lnTo>
                      <a:lnTo>
                        <a:pt x="135" y="15"/>
                      </a:lnTo>
                      <a:lnTo>
                        <a:pt x="207" y="5"/>
                      </a:lnTo>
                      <a:lnTo>
                        <a:pt x="269" y="0"/>
                      </a:lnTo>
                      <a:lnTo>
                        <a:pt x="341" y="0"/>
                      </a:lnTo>
                      <a:lnTo>
                        <a:pt x="408" y="5"/>
                      </a:lnTo>
                      <a:lnTo>
                        <a:pt x="479" y="18"/>
                      </a:lnTo>
                      <a:lnTo>
                        <a:pt x="530" y="28"/>
                      </a:lnTo>
                      <a:lnTo>
                        <a:pt x="567" y="44"/>
                      </a:lnTo>
                      <a:lnTo>
                        <a:pt x="610" y="77"/>
                      </a:lnTo>
                      <a:lnTo>
                        <a:pt x="626" y="98"/>
                      </a:lnTo>
                      <a:lnTo>
                        <a:pt x="605" y="135"/>
                      </a:lnTo>
                      <a:lnTo>
                        <a:pt x="549" y="168"/>
                      </a:lnTo>
                      <a:lnTo>
                        <a:pt x="547" y="135"/>
                      </a:lnTo>
                      <a:lnTo>
                        <a:pt x="509" y="106"/>
                      </a:lnTo>
                      <a:lnTo>
                        <a:pt x="466" y="92"/>
                      </a:lnTo>
                      <a:lnTo>
                        <a:pt x="392" y="76"/>
                      </a:lnTo>
                      <a:lnTo>
                        <a:pt x="331" y="69"/>
                      </a:lnTo>
                      <a:lnTo>
                        <a:pt x="264" y="68"/>
                      </a:lnTo>
                      <a:lnTo>
                        <a:pt x="210" y="76"/>
                      </a:lnTo>
                      <a:lnTo>
                        <a:pt x="149" y="92"/>
                      </a:lnTo>
                      <a:lnTo>
                        <a:pt x="101" y="101"/>
                      </a:lnTo>
                      <a:lnTo>
                        <a:pt x="58" y="130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2" name="Freeform 150"/>
                <p:cNvSpPr>
                  <a:spLocks noChangeArrowheads="1"/>
                </p:cNvSpPr>
                <p:nvPr/>
              </p:nvSpPr>
              <p:spPr bwMode="auto">
                <a:xfrm>
                  <a:off x="3126" y="2107"/>
                  <a:ext cx="214" cy="395"/>
                </a:xfrm>
                <a:custGeom>
                  <a:avLst/>
                  <a:gdLst>
                    <a:gd name="T0" fmla="*/ 0 w 214"/>
                    <a:gd name="T1" fmla="*/ 179 h 395"/>
                    <a:gd name="T2" fmla="*/ 0 w 214"/>
                    <a:gd name="T3" fmla="*/ 395 h 395"/>
                    <a:gd name="T4" fmla="*/ 214 w 214"/>
                    <a:gd name="T5" fmla="*/ 204 h 395"/>
                    <a:gd name="T6" fmla="*/ 214 w 214"/>
                    <a:gd name="T7" fmla="*/ 0 h 395"/>
                    <a:gd name="T8" fmla="*/ 0 w 214"/>
                    <a:gd name="T9" fmla="*/ 179 h 3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4" h="395">
                      <a:moveTo>
                        <a:pt x="0" y="179"/>
                      </a:moveTo>
                      <a:lnTo>
                        <a:pt x="0" y="395"/>
                      </a:lnTo>
                      <a:lnTo>
                        <a:pt x="214" y="204"/>
                      </a:lnTo>
                      <a:lnTo>
                        <a:pt x="214" y="0"/>
                      </a:lnTo>
                      <a:lnTo>
                        <a:pt x="0" y="179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3" name="Freeform 151"/>
                <p:cNvSpPr>
                  <a:spLocks noChangeArrowheads="1"/>
                </p:cNvSpPr>
                <p:nvPr/>
              </p:nvSpPr>
              <p:spPr bwMode="auto">
                <a:xfrm>
                  <a:off x="3558" y="1750"/>
                  <a:ext cx="0" cy="590"/>
                </a:xfrm>
                <a:custGeom>
                  <a:avLst/>
                  <a:gdLst>
                    <a:gd name="T0" fmla="*/ 0 w 1"/>
                    <a:gd name="T1" fmla="*/ 5068 h 5068"/>
                    <a:gd name="T2" fmla="*/ 0 w 1"/>
                    <a:gd name="T3" fmla="*/ 0 h 5068"/>
                    <a:gd name="T4" fmla="*/ 1 w 1"/>
                    <a:gd name="T5" fmla="*/ 0 h 50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068">
                      <a:moveTo>
                        <a:pt x="0" y="5068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4" name="Freeform 152"/>
                <p:cNvSpPr>
                  <a:spLocks noChangeArrowheads="1"/>
                </p:cNvSpPr>
                <p:nvPr/>
              </p:nvSpPr>
              <p:spPr bwMode="auto">
                <a:xfrm>
                  <a:off x="3333" y="2309"/>
                  <a:ext cx="225" cy="31"/>
                </a:xfrm>
                <a:custGeom>
                  <a:avLst/>
                  <a:gdLst>
                    <a:gd name="T0" fmla="*/ 0 w 1928"/>
                    <a:gd name="T1" fmla="*/ 0 h 271"/>
                    <a:gd name="T2" fmla="*/ 1927 w 1928"/>
                    <a:gd name="T3" fmla="*/ 271 h 271"/>
                    <a:gd name="T4" fmla="*/ 1928 w 1928"/>
                    <a:gd name="T5" fmla="*/ 271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28" h="271">
                      <a:moveTo>
                        <a:pt x="0" y="0"/>
                      </a:moveTo>
                      <a:lnTo>
                        <a:pt x="1927" y="271"/>
                      </a:lnTo>
                      <a:lnTo>
                        <a:pt x="1928" y="271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5" name="Freeform 153"/>
                <p:cNvSpPr>
                  <a:spLocks noChangeArrowheads="1"/>
                </p:cNvSpPr>
                <p:nvPr/>
              </p:nvSpPr>
              <p:spPr bwMode="auto">
                <a:xfrm>
                  <a:off x="3433" y="1696"/>
                  <a:ext cx="87" cy="10"/>
                </a:xfrm>
                <a:custGeom>
                  <a:avLst/>
                  <a:gdLst>
                    <a:gd name="T0" fmla="*/ 0 w 749"/>
                    <a:gd name="T1" fmla="*/ 0 h 92"/>
                    <a:gd name="T2" fmla="*/ 748 w 749"/>
                    <a:gd name="T3" fmla="*/ 92 h 92"/>
                    <a:gd name="T4" fmla="*/ 749 w 749"/>
                    <a:gd name="T5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749" h="92">
                      <a:moveTo>
                        <a:pt x="0" y="0"/>
                      </a:moveTo>
                      <a:lnTo>
                        <a:pt x="748" y="92"/>
                      </a:lnTo>
                      <a:lnTo>
                        <a:pt x="749" y="92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6" name="Freeform 154"/>
                <p:cNvSpPr>
                  <a:spLocks noChangeArrowheads="1"/>
                </p:cNvSpPr>
                <p:nvPr/>
              </p:nvSpPr>
              <p:spPr bwMode="auto">
                <a:xfrm>
                  <a:off x="3433" y="1696"/>
                  <a:ext cx="0" cy="424"/>
                </a:xfrm>
                <a:custGeom>
                  <a:avLst/>
                  <a:gdLst>
                    <a:gd name="T0" fmla="*/ 0 w 1"/>
                    <a:gd name="T1" fmla="*/ 0 h 3638"/>
                    <a:gd name="T2" fmla="*/ 0 w 1"/>
                    <a:gd name="T3" fmla="*/ 3638 h 3638"/>
                    <a:gd name="T4" fmla="*/ 1 w 1"/>
                    <a:gd name="T5" fmla="*/ 3638 h 36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638">
                      <a:moveTo>
                        <a:pt x="0" y="0"/>
                      </a:moveTo>
                      <a:lnTo>
                        <a:pt x="0" y="3638"/>
                      </a:lnTo>
                      <a:lnTo>
                        <a:pt x="1" y="3638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7" name="Freeform 155"/>
                <p:cNvSpPr>
                  <a:spLocks noChangeArrowheads="1"/>
                </p:cNvSpPr>
                <p:nvPr/>
              </p:nvSpPr>
              <p:spPr bwMode="auto">
                <a:xfrm>
                  <a:off x="3333" y="2108"/>
                  <a:ext cx="100" cy="12"/>
                </a:xfrm>
                <a:custGeom>
                  <a:avLst/>
                  <a:gdLst>
                    <a:gd name="T0" fmla="*/ 0 w 854"/>
                    <a:gd name="T1" fmla="*/ 0 h 105"/>
                    <a:gd name="T2" fmla="*/ 853 w 854"/>
                    <a:gd name="T3" fmla="*/ 105 h 105"/>
                    <a:gd name="T4" fmla="*/ 854 w 854"/>
                    <a:gd name="T5" fmla="*/ 105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54" h="105">
                      <a:moveTo>
                        <a:pt x="0" y="0"/>
                      </a:moveTo>
                      <a:lnTo>
                        <a:pt x="853" y="105"/>
                      </a:lnTo>
                      <a:lnTo>
                        <a:pt x="854" y="105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8" name="Freeform 156"/>
                <p:cNvSpPr>
                  <a:spLocks noChangeArrowheads="1"/>
                </p:cNvSpPr>
                <p:nvPr/>
              </p:nvSpPr>
              <p:spPr bwMode="auto">
                <a:xfrm>
                  <a:off x="3520" y="1706"/>
                  <a:ext cx="38" cy="44"/>
                </a:xfrm>
                <a:custGeom>
                  <a:avLst/>
                  <a:gdLst>
                    <a:gd name="T0" fmla="*/ 0 w 327"/>
                    <a:gd name="T1" fmla="*/ 0 h 375"/>
                    <a:gd name="T2" fmla="*/ 326 w 327"/>
                    <a:gd name="T3" fmla="*/ 375 h 375"/>
                    <a:gd name="T4" fmla="*/ 327 w 327"/>
                    <a:gd name="T5" fmla="*/ 375 h 3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7" h="375">
                      <a:moveTo>
                        <a:pt x="0" y="0"/>
                      </a:moveTo>
                      <a:lnTo>
                        <a:pt x="326" y="375"/>
                      </a:lnTo>
                      <a:lnTo>
                        <a:pt x="327" y="375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9" name="Freeform 157"/>
                <p:cNvSpPr>
                  <a:spLocks noChangeArrowheads="1"/>
                </p:cNvSpPr>
                <p:nvPr/>
              </p:nvSpPr>
              <p:spPr bwMode="auto">
                <a:xfrm>
                  <a:off x="3903" y="2240"/>
                  <a:ext cx="239" cy="30"/>
                </a:xfrm>
                <a:custGeom>
                  <a:avLst/>
                  <a:gdLst>
                    <a:gd name="T0" fmla="*/ 0 w 2044"/>
                    <a:gd name="T1" fmla="*/ 0 h 251"/>
                    <a:gd name="T2" fmla="*/ 2042 w 2044"/>
                    <a:gd name="T3" fmla="*/ 251 h 251"/>
                    <a:gd name="T4" fmla="*/ 2044 w 2044"/>
                    <a:gd name="T5" fmla="*/ 251 h 2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044" h="251">
                      <a:moveTo>
                        <a:pt x="0" y="0"/>
                      </a:moveTo>
                      <a:lnTo>
                        <a:pt x="2042" y="251"/>
                      </a:lnTo>
                      <a:lnTo>
                        <a:pt x="2044" y="251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60" name="Freeform 158"/>
                <p:cNvSpPr>
                  <a:spLocks noChangeArrowheads="1"/>
                </p:cNvSpPr>
                <p:nvPr/>
              </p:nvSpPr>
              <p:spPr bwMode="auto">
                <a:xfrm>
                  <a:off x="3903" y="2240"/>
                  <a:ext cx="1" cy="131"/>
                </a:xfrm>
                <a:custGeom>
                  <a:avLst/>
                  <a:gdLst>
                    <a:gd name="T0" fmla="*/ 0 w 1"/>
                    <a:gd name="T1" fmla="*/ 187 h 187"/>
                    <a:gd name="T2" fmla="*/ 0 w 1"/>
                    <a:gd name="T3" fmla="*/ 0 h 187"/>
                    <a:gd name="T4" fmla="*/ 1 w 1"/>
                    <a:gd name="T5" fmla="*/ 0 h 1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87">
                      <a:moveTo>
                        <a:pt x="0" y="187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61" name="Freeform 159"/>
                <p:cNvSpPr>
                  <a:spLocks noChangeArrowheads="1"/>
                </p:cNvSpPr>
                <p:nvPr/>
              </p:nvSpPr>
              <p:spPr bwMode="auto">
                <a:xfrm>
                  <a:off x="3903" y="2365"/>
                  <a:ext cx="239" cy="29"/>
                </a:xfrm>
                <a:custGeom>
                  <a:avLst/>
                  <a:gdLst>
                    <a:gd name="T0" fmla="*/ 0 w 2044"/>
                    <a:gd name="T1" fmla="*/ 0 h 251"/>
                    <a:gd name="T2" fmla="*/ 2042 w 2044"/>
                    <a:gd name="T3" fmla="*/ 251 h 251"/>
                    <a:gd name="T4" fmla="*/ 2044 w 2044"/>
                    <a:gd name="T5" fmla="*/ 251 h 2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044" h="251">
                      <a:moveTo>
                        <a:pt x="0" y="0"/>
                      </a:moveTo>
                      <a:lnTo>
                        <a:pt x="2042" y="251"/>
                      </a:lnTo>
                      <a:lnTo>
                        <a:pt x="2044" y="251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62" name="Freeform 160"/>
                <p:cNvSpPr>
                  <a:spLocks noChangeArrowheads="1"/>
                </p:cNvSpPr>
                <p:nvPr/>
              </p:nvSpPr>
              <p:spPr bwMode="auto">
                <a:xfrm>
                  <a:off x="4141" y="2270"/>
                  <a:ext cx="1" cy="128"/>
                </a:xfrm>
                <a:custGeom>
                  <a:avLst/>
                  <a:gdLst>
                    <a:gd name="T0" fmla="*/ 0 w 2"/>
                    <a:gd name="T1" fmla="*/ 0 h 1098"/>
                    <a:gd name="T2" fmla="*/ 0 w 2"/>
                    <a:gd name="T3" fmla="*/ 1098 h 1098"/>
                    <a:gd name="T4" fmla="*/ 2 w 2"/>
                    <a:gd name="T5" fmla="*/ 1098 h 10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098">
                      <a:moveTo>
                        <a:pt x="0" y="0"/>
                      </a:moveTo>
                      <a:lnTo>
                        <a:pt x="0" y="1098"/>
                      </a:lnTo>
                      <a:lnTo>
                        <a:pt x="2" y="1098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63" name="Freeform 161"/>
                <p:cNvSpPr>
                  <a:spLocks noChangeArrowheads="1"/>
                </p:cNvSpPr>
                <p:nvPr/>
              </p:nvSpPr>
              <p:spPr bwMode="auto">
                <a:xfrm>
                  <a:off x="3903" y="1777"/>
                  <a:ext cx="1" cy="319"/>
                </a:xfrm>
                <a:custGeom>
                  <a:avLst/>
                  <a:gdLst>
                    <a:gd name="T0" fmla="*/ 0 w 1"/>
                    <a:gd name="T1" fmla="*/ 2737 h 2737"/>
                    <a:gd name="T2" fmla="*/ 0 w 1"/>
                    <a:gd name="T3" fmla="*/ 0 h 2737"/>
                    <a:gd name="T4" fmla="*/ 1 w 1"/>
                    <a:gd name="T5" fmla="*/ 0 h 27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737">
                      <a:moveTo>
                        <a:pt x="0" y="2737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64" name="Freeform 162"/>
                <p:cNvSpPr>
                  <a:spLocks noChangeArrowheads="1"/>
                </p:cNvSpPr>
                <p:nvPr/>
              </p:nvSpPr>
              <p:spPr bwMode="auto">
                <a:xfrm>
                  <a:off x="4024" y="1768"/>
                  <a:ext cx="0" cy="241"/>
                </a:xfrm>
                <a:custGeom>
                  <a:avLst/>
                  <a:gdLst>
                    <a:gd name="T0" fmla="*/ 0 w 1"/>
                    <a:gd name="T1" fmla="*/ 0 h 345"/>
                    <a:gd name="T2" fmla="*/ 1 w 1"/>
                    <a:gd name="T3" fmla="*/ 345 h 345"/>
                    <a:gd name="T4" fmla="*/ 1 w 1"/>
                    <a:gd name="T5" fmla="*/ 342 h 3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45">
                      <a:moveTo>
                        <a:pt x="0" y="0"/>
                      </a:moveTo>
                      <a:lnTo>
                        <a:pt x="1" y="345"/>
                      </a:lnTo>
                      <a:lnTo>
                        <a:pt x="1" y="342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65" name="Freeform 163"/>
                <p:cNvSpPr>
                  <a:spLocks noChangeArrowheads="1"/>
                </p:cNvSpPr>
                <p:nvPr/>
              </p:nvSpPr>
              <p:spPr bwMode="auto">
                <a:xfrm>
                  <a:off x="3903" y="2096"/>
                  <a:ext cx="239" cy="29"/>
                </a:xfrm>
                <a:custGeom>
                  <a:avLst/>
                  <a:gdLst>
                    <a:gd name="T0" fmla="*/ 0 w 2044"/>
                    <a:gd name="T1" fmla="*/ 0 h 251"/>
                    <a:gd name="T2" fmla="*/ 2042 w 2044"/>
                    <a:gd name="T3" fmla="*/ 251 h 251"/>
                    <a:gd name="T4" fmla="*/ 2044 w 2044"/>
                    <a:gd name="T5" fmla="*/ 251 h 2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044" h="251">
                      <a:moveTo>
                        <a:pt x="0" y="0"/>
                      </a:moveTo>
                      <a:lnTo>
                        <a:pt x="2042" y="251"/>
                      </a:lnTo>
                      <a:lnTo>
                        <a:pt x="2044" y="251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66" name="Freeform 164"/>
                <p:cNvSpPr>
                  <a:spLocks noChangeArrowheads="1"/>
                </p:cNvSpPr>
                <p:nvPr/>
              </p:nvSpPr>
              <p:spPr bwMode="auto">
                <a:xfrm>
                  <a:off x="4024" y="2007"/>
                  <a:ext cx="118" cy="15"/>
                </a:xfrm>
                <a:custGeom>
                  <a:avLst/>
                  <a:gdLst>
                    <a:gd name="T0" fmla="*/ 0 w 1010"/>
                    <a:gd name="T1" fmla="*/ 0 h 124"/>
                    <a:gd name="T2" fmla="*/ 1008 w 1010"/>
                    <a:gd name="T3" fmla="*/ 124 h 124"/>
                    <a:gd name="T4" fmla="*/ 1010 w 1010"/>
                    <a:gd name="T5" fmla="*/ 124 h 1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10" h="124">
                      <a:moveTo>
                        <a:pt x="0" y="0"/>
                      </a:moveTo>
                      <a:lnTo>
                        <a:pt x="1008" y="124"/>
                      </a:lnTo>
                      <a:lnTo>
                        <a:pt x="1010" y="124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67" name="Freeform 165"/>
                <p:cNvSpPr>
                  <a:spLocks noChangeArrowheads="1"/>
                </p:cNvSpPr>
                <p:nvPr/>
              </p:nvSpPr>
              <p:spPr bwMode="auto">
                <a:xfrm>
                  <a:off x="4141" y="2022"/>
                  <a:ext cx="1" cy="103"/>
                </a:xfrm>
                <a:custGeom>
                  <a:avLst/>
                  <a:gdLst>
                    <a:gd name="T0" fmla="*/ 0 w 2"/>
                    <a:gd name="T1" fmla="*/ 892 h 892"/>
                    <a:gd name="T2" fmla="*/ 0 w 2"/>
                    <a:gd name="T3" fmla="*/ 0 h 892"/>
                    <a:gd name="T4" fmla="*/ 2 w 2"/>
                    <a:gd name="T5" fmla="*/ 0 h 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892">
                      <a:moveTo>
                        <a:pt x="0" y="892"/>
                      </a:moveTo>
                      <a:lnTo>
                        <a:pt x="0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68" name="Freeform 166"/>
                <p:cNvSpPr>
                  <a:spLocks noChangeArrowheads="1"/>
                </p:cNvSpPr>
                <p:nvPr/>
              </p:nvSpPr>
              <p:spPr bwMode="auto">
                <a:xfrm>
                  <a:off x="3937" y="1758"/>
                  <a:ext cx="87" cy="10"/>
                </a:xfrm>
                <a:custGeom>
                  <a:avLst/>
                  <a:gdLst>
                    <a:gd name="T0" fmla="*/ 0 w 749"/>
                    <a:gd name="T1" fmla="*/ 0 h 92"/>
                    <a:gd name="T2" fmla="*/ 748 w 749"/>
                    <a:gd name="T3" fmla="*/ 92 h 92"/>
                    <a:gd name="T4" fmla="*/ 749 w 749"/>
                    <a:gd name="T5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749" h="92">
                      <a:moveTo>
                        <a:pt x="0" y="0"/>
                      </a:moveTo>
                      <a:lnTo>
                        <a:pt x="748" y="92"/>
                      </a:lnTo>
                      <a:lnTo>
                        <a:pt x="749" y="92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69" name="Freeform 167"/>
                <p:cNvSpPr>
                  <a:spLocks noChangeArrowheads="1"/>
                </p:cNvSpPr>
                <p:nvPr/>
              </p:nvSpPr>
              <p:spPr bwMode="auto">
                <a:xfrm>
                  <a:off x="3903" y="1758"/>
                  <a:ext cx="34" cy="19"/>
                </a:xfrm>
                <a:custGeom>
                  <a:avLst/>
                  <a:gdLst>
                    <a:gd name="T0" fmla="*/ 286 w 286"/>
                    <a:gd name="T1" fmla="*/ 0 h 169"/>
                    <a:gd name="T2" fmla="*/ 0 w 286"/>
                    <a:gd name="T3" fmla="*/ 169 h 169"/>
                    <a:gd name="T4" fmla="*/ 1 w 286"/>
                    <a:gd name="T5" fmla="*/ 169 h 1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86" h="169">
                      <a:moveTo>
                        <a:pt x="286" y="0"/>
                      </a:moveTo>
                      <a:lnTo>
                        <a:pt x="0" y="169"/>
                      </a:lnTo>
                      <a:lnTo>
                        <a:pt x="1" y="169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70" name="Freeform 168"/>
                <p:cNvSpPr>
                  <a:spLocks noChangeArrowheads="1"/>
                </p:cNvSpPr>
                <p:nvPr/>
              </p:nvSpPr>
              <p:spPr bwMode="auto">
                <a:xfrm>
                  <a:off x="3333" y="2154"/>
                  <a:ext cx="225" cy="146"/>
                </a:xfrm>
                <a:custGeom>
                  <a:avLst/>
                  <a:gdLst>
                    <a:gd name="T0" fmla="*/ 1927 w 1927"/>
                    <a:gd name="T1" fmla="*/ 1251 h 1251"/>
                    <a:gd name="T2" fmla="*/ 0 w 1927"/>
                    <a:gd name="T3" fmla="*/ 0 h 1251"/>
                    <a:gd name="T4" fmla="*/ 1 w 1927"/>
                    <a:gd name="T5" fmla="*/ 0 h 12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27" h="1251">
                      <a:moveTo>
                        <a:pt x="1927" y="1251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71" name="Freeform 169"/>
                <p:cNvSpPr>
                  <a:spLocks noChangeArrowheads="1"/>
                </p:cNvSpPr>
                <p:nvPr/>
              </p:nvSpPr>
              <p:spPr bwMode="auto">
                <a:xfrm>
                  <a:off x="3333" y="2247"/>
                  <a:ext cx="123" cy="79"/>
                </a:xfrm>
                <a:custGeom>
                  <a:avLst/>
                  <a:gdLst>
                    <a:gd name="T0" fmla="*/ 1049 w 1049"/>
                    <a:gd name="T1" fmla="*/ 683 h 683"/>
                    <a:gd name="T2" fmla="*/ 0 w 1049"/>
                    <a:gd name="T3" fmla="*/ 0 h 683"/>
                    <a:gd name="T4" fmla="*/ 1 w 1049"/>
                    <a:gd name="T5" fmla="*/ 0 h 6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49" h="683">
                      <a:moveTo>
                        <a:pt x="1049" y="683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72" name="Freeform 170"/>
                <p:cNvSpPr>
                  <a:spLocks noChangeArrowheads="1"/>
                </p:cNvSpPr>
                <p:nvPr/>
              </p:nvSpPr>
              <p:spPr bwMode="auto">
                <a:xfrm>
                  <a:off x="3432" y="1754"/>
                  <a:ext cx="126" cy="82"/>
                </a:xfrm>
                <a:custGeom>
                  <a:avLst/>
                  <a:gdLst>
                    <a:gd name="T0" fmla="*/ 1074 w 1074"/>
                    <a:gd name="T1" fmla="*/ 698 h 698"/>
                    <a:gd name="T2" fmla="*/ 0 w 1074"/>
                    <a:gd name="T3" fmla="*/ 0 h 698"/>
                    <a:gd name="T4" fmla="*/ 1 w 1074"/>
                    <a:gd name="T5" fmla="*/ 0 h 6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74" h="698">
                      <a:moveTo>
                        <a:pt x="1074" y="698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73" name="Freeform 171"/>
                <p:cNvSpPr>
                  <a:spLocks noChangeArrowheads="1"/>
                </p:cNvSpPr>
                <p:nvPr/>
              </p:nvSpPr>
              <p:spPr bwMode="auto">
                <a:xfrm>
                  <a:off x="3432" y="1847"/>
                  <a:ext cx="126" cy="81"/>
                </a:xfrm>
                <a:custGeom>
                  <a:avLst/>
                  <a:gdLst>
                    <a:gd name="T0" fmla="*/ 1074 w 1074"/>
                    <a:gd name="T1" fmla="*/ 698 h 698"/>
                    <a:gd name="T2" fmla="*/ 0 w 1074"/>
                    <a:gd name="T3" fmla="*/ 0 h 698"/>
                    <a:gd name="T4" fmla="*/ 1 w 1074"/>
                    <a:gd name="T5" fmla="*/ 0 h 6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74" h="698">
                      <a:moveTo>
                        <a:pt x="1074" y="698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74" name="Freeform 172"/>
                <p:cNvSpPr>
                  <a:spLocks noChangeArrowheads="1"/>
                </p:cNvSpPr>
                <p:nvPr/>
              </p:nvSpPr>
              <p:spPr bwMode="auto">
                <a:xfrm>
                  <a:off x="3432" y="1940"/>
                  <a:ext cx="126" cy="81"/>
                </a:xfrm>
                <a:custGeom>
                  <a:avLst/>
                  <a:gdLst>
                    <a:gd name="T0" fmla="*/ 1074 w 1074"/>
                    <a:gd name="T1" fmla="*/ 698 h 698"/>
                    <a:gd name="T2" fmla="*/ 0 w 1074"/>
                    <a:gd name="T3" fmla="*/ 0 h 698"/>
                    <a:gd name="T4" fmla="*/ 1 w 1074"/>
                    <a:gd name="T5" fmla="*/ 0 h 6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74" h="698">
                      <a:moveTo>
                        <a:pt x="1074" y="698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75" name="Freeform 173"/>
                <p:cNvSpPr>
                  <a:spLocks noChangeArrowheads="1"/>
                </p:cNvSpPr>
                <p:nvPr/>
              </p:nvSpPr>
              <p:spPr bwMode="auto">
                <a:xfrm>
                  <a:off x="3432" y="2032"/>
                  <a:ext cx="126" cy="82"/>
                </a:xfrm>
                <a:custGeom>
                  <a:avLst/>
                  <a:gdLst>
                    <a:gd name="T0" fmla="*/ 1074 w 1074"/>
                    <a:gd name="T1" fmla="*/ 698 h 698"/>
                    <a:gd name="T2" fmla="*/ 0 w 1074"/>
                    <a:gd name="T3" fmla="*/ 0 h 698"/>
                    <a:gd name="T4" fmla="*/ 1 w 1074"/>
                    <a:gd name="T5" fmla="*/ 0 h 6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74" h="698">
                      <a:moveTo>
                        <a:pt x="1074" y="698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76" name="Freeform 174"/>
                <p:cNvSpPr>
                  <a:spLocks noChangeArrowheads="1"/>
                </p:cNvSpPr>
                <p:nvPr/>
              </p:nvSpPr>
              <p:spPr bwMode="auto">
                <a:xfrm>
                  <a:off x="3421" y="2118"/>
                  <a:ext cx="137" cy="89"/>
                </a:xfrm>
                <a:custGeom>
                  <a:avLst/>
                  <a:gdLst>
                    <a:gd name="T0" fmla="*/ 1177 w 1177"/>
                    <a:gd name="T1" fmla="*/ 765 h 765"/>
                    <a:gd name="T2" fmla="*/ 0 w 1177"/>
                    <a:gd name="T3" fmla="*/ 0 h 765"/>
                    <a:gd name="T4" fmla="*/ 2 w 1177"/>
                    <a:gd name="T5" fmla="*/ 0 h 7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7" h="765">
                      <a:moveTo>
                        <a:pt x="1177" y="765"/>
                      </a:moveTo>
                      <a:lnTo>
                        <a:pt x="0" y="0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77" name="Freeform 175"/>
                <p:cNvSpPr>
                  <a:spLocks noChangeArrowheads="1"/>
                </p:cNvSpPr>
                <p:nvPr/>
              </p:nvSpPr>
              <p:spPr bwMode="auto">
                <a:xfrm>
                  <a:off x="4070" y="2261"/>
                  <a:ext cx="71" cy="46"/>
                </a:xfrm>
                <a:custGeom>
                  <a:avLst/>
                  <a:gdLst>
                    <a:gd name="T0" fmla="*/ 617 w 617"/>
                    <a:gd name="T1" fmla="*/ 401 h 401"/>
                    <a:gd name="T2" fmla="*/ 0 w 617"/>
                    <a:gd name="T3" fmla="*/ 0 h 401"/>
                    <a:gd name="T4" fmla="*/ 2 w 617"/>
                    <a:gd name="T5" fmla="*/ 0 h 4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17" h="401">
                      <a:moveTo>
                        <a:pt x="617" y="401"/>
                      </a:moveTo>
                      <a:lnTo>
                        <a:pt x="0" y="0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78" name="Freeform 176"/>
                <p:cNvSpPr>
                  <a:spLocks noChangeArrowheads="1"/>
                </p:cNvSpPr>
                <p:nvPr/>
              </p:nvSpPr>
              <p:spPr bwMode="auto">
                <a:xfrm>
                  <a:off x="3903" y="2246"/>
                  <a:ext cx="233" cy="151"/>
                </a:xfrm>
                <a:custGeom>
                  <a:avLst/>
                  <a:gdLst>
                    <a:gd name="T0" fmla="*/ 1999 w 1999"/>
                    <a:gd name="T1" fmla="*/ 1299 h 1299"/>
                    <a:gd name="T2" fmla="*/ 0 w 1999"/>
                    <a:gd name="T3" fmla="*/ 0 h 1299"/>
                    <a:gd name="T4" fmla="*/ 1 w 1999"/>
                    <a:gd name="T5" fmla="*/ 0 h 12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99" h="1299">
                      <a:moveTo>
                        <a:pt x="1999" y="1299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79" name="Freeform 177"/>
                <p:cNvSpPr>
                  <a:spLocks noChangeArrowheads="1"/>
                </p:cNvSpPr>
                <p:nvPr/>
              </p:nvSpPr>
              <p:spPr bwMode="auto">
                <a:xfrm>
                  <a:off x="3903" y="2339"/>
                  <a:ext cx="57" cy="36"/>
                </a:xfrm>
                <a:custGeom>
                  <a:avLst/>
                  <a:gdLst>
                    <a:gd name="T0" fmla="*/ 488 w 488"/>
                    <a:gd name="T1" fmla="*/ 316 h 316"/>
                    <a:gd name="T2" fmla="*/ 0 w 488"/>
                    <a:gd name="T3" fmla="*/ 0 h 316"/>
                    <a:gd name="T4" fmla="*/ 1 w 488"/>
                    <a:gd name="T5" fmla="*/ 0 h 3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88" h="316">
                      <a:moveTo>
                        <a:pt x="488" y="316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0" name="Freeform 178"/>
                <p:cNvSpPr>
                  <a:spLocks noChangeArrowheads="1"/>
                </p:cNvSpPr>
                <p:nvPr/>
              </p:nvSpPr>
              <p:spPr bwMode="auto">
                <a:xfrm>
                  <a:off x="3903" y="1874"/>
                  <a:ext cx="120" cy="79"/>
                </a:xfrm>
                <a:custGeom>
                  <a:avLst/>
                  <a:gdLst>
                    <a:gd name="T0" fmla="*/ 1034 w 1034"/>
                    <a:gd name="T1" fmla="*/ 672 h 672"/>
                    <a:gd name="T2" fmla="*/ 0 w 1034"/>
                    <a:gd name="T3" fmla="*/ 0 h 672"/>
                    <a:gd name="T4" fmla="*/ 1 w 1034"/>
                    <a:gd name="T5" fmla="*/ 0 h 6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34" h="672">
                      <a:moveTo>
                        <a:pt x="1034" y="672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1" name="Freeform 179"/>
                <p:cNvSpPr>
                  <a:spLocks noChangeArrowheads="1"/>
                </p:cNvSpPr>
                <p:nvPr/>
              </p:nvSpPr>
              <p:spPr bwMode="auto">
                <a:xfrm>
                  <a:off x="3903" y="1967"/>
                  <a:ext cx="238" cy="155"/>
                </a:xfrm>
                <a:custGeom>
                  <a:avLst/>
                  <a:gdLst>
                    <a:gd name="T0" fmla="*/ 2042 w 2042"/>
                    <a:gd name="T1" fmla="*/ 1327 h 1327"/>
                    <a:gd name="T2" fmla="*/ 0 w 2042"/>
                    <a:gd name="T3" fmla="*/ 0 h 1327"/>
                    <a:gd name="T4" fmla="*/ 1 w 2042"/>
                    <a:gd name="T5" fmla="*/ 0 h 13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042" h="1327">
                      <a:moveTo>
                        <a:pt x="2042" y="1327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2" name="Freeform 180"/>
                <p:cNvSpPr>
                  <a:spLocks noChangeArrowheads="1"/>
                </p:cNvSpPr>
                <p:nvPr/>
              </p:nvSpPr>
              <p:spPr bwMode="auto">
                <a:xfrm>
                  <a:off x="3903" y="2060"/>
                  <a:ext cx="68" cy="44"/>
                </a:xfrm>
                <a:custGeom>
                  <a:avLst/>
                  <a:gdLst>
                    <a:gd name="T0" fmla="*/ 580 w 580"/>
                    <a:gd name="T1" fmla="*/ 377 h 377"/>
                    <a:gd name="T2" fmla="*/ 0 w 580"/>
                    <a:gd name="T3" fmla="*/ 0 h 377"/>
                    <a:gd name="T4" fmla="*/ 1 w 580"/>
                    <a:gd name="T5" fmla="*/ 0 h 3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80" h="377">
                      <a:moveTo>
                        <a:pt x="580" y="377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3" name="Freeform 181"/>
                <p:cNvSpPr>
                  <a:spLocks noChangeArrowheads="1"/>
                </p:cNvSpPr>
                <p:nvPr/>
              </p:nvSpPr>
              <p:spPr bwMode="auto">
                <a:xfrm>
                  <a:off x="3903" y="1782"/>
                  <a:ext cx="120" cy="78"/>
                </a:xfrm>
                <a:custGeom>
                  <a:avLst/>
                  <a:gdLst>
                    <a:gd name="T0" fmla="*/ 1034 w 1034"/>
                    <a:gd name="T1" fmla="*/ 672 h 672"/>
                    <a:gd name="T2" fmla="*/ 0 w 1034"/>
                    <a:gd name="T3" fmla="*/ 0 h 672"/>
                    <a:gd name="T4" fmla="*/ 1 w 1034"/>
                    <a:gd name="T5" fmla="*/ 0 h 6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34" h="672">
                      <a:moveTo>
                        <a:pt x="1034" y="672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4" name="Freeform 182"/>
                <p:cNvSpPr>
                  <a:spLocks noChangeArrowheads="1"/>
                </p:cNvSpPr>
                <p:nvPr/>
              </p:nvSpPr>
              <p:spPr bwMode="auto">
                <a:xfrm>
                  <a:off x="2749" y="2304"/>
                  <a:ext cx="250" cy="65"/>
                </a:xfrm>
                <a:custGeom>
                  <a:avLst/>
                  <a:gdLst>
                    <a:gd name="T0" fmla="*/ 3 w 358"/>
                    <a:gd name="T1" fmla="*/ 38 h 93"/>
                    <a:gd name="T2" fmla="*/ 28 w 358"/>
                    <a:gd name="T3" fmla="*/ 24 h 93"/>
                    <a:gd name="T4" fmla="*/ 115 w 358"/>
                    <a:gd name="T5" fmla="*/ 2 h 93"/>
                    <a:gd name="T6" fmla="*/ 273 w 358"/>
                    <a:gd name="T7" fmla="*/ 0 h 93"/>
                    <a:gd name="T8" fmla="*/ 347 w 358"/>
                    <a:gd name="T9" fmla="*/ 22 h 93"/>
                    <a:gd name="T10" fmla="*/ 358 w 358"/>
                    <a:gd name="T11" fmla="*/ 29 h 93"/>
                    <a:gd name="T12" fmla="*/ 352 w 358"/>
                    <a:gd name="T13" fmla="*/ 93 h 93"/>
                    <a:gd name="T14" fmla="*/ 252 w 358"/>
                    <a:gd name="T15" fmla="*/ 82 h 93"/>
                    <a:gd name="T16" fmla="*/ 0 w 358"/>
                    <a:gd name="T17" fmla="*/ 50 h 93"/>
                    <a:gd name="T18" fmla="*/ 3 w 358"/>
                    <a:gd name="T19" fmla="*/ 38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58" h="93">
                      <a:moveTo>
                        <a:pt x="3" y="38"/>
                      </a:moveTo>
                      <a:lnTo>
                        <a:pt x="28" y="24"/>
                      </a:lnTo>
                      <a:lnTo>
                        <a:pt x="115" y="2"/>
                      </a:lnTo>
                      <a:lnTo>
                        <a:pt x="273" y="0"/>
                      </a:lnTo>
                      <a:lnTo>
                        <a:pt x="347" y="22"/>
                      </a:lnTo>
                      <a:lnTo>
                        <a:pt x="358" y="29"/>
                      </a:lnTo>
                      <a:lnTo>
                        <a:pt x="352" y="93"/>
                      </a:lnTo>
                      <a:lnTo>
                        <a:pt x="252" y="82"/>
                      </a:lnTo>
                      <a:lnTo>
                        <a:pt x="0" y="50"/>
                      </a:lnTo>
                      <a:lnTo>
                        <a:pt x="3" y="38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5" name="Freeform 183"/>
                <p:cNvSpPr>
                  <a:spLocks noChangeArrowheads="1"/>
                </p:cNvSpPr>
                <p:nvPr/>
              </p:nvSpPr>
              <p:spPr bwMode="auto">
                <a:xfrm>
                  <a:off x="2921" y="2263"/>
                  <a:ext cx="218" cy="259"/>
                </a:xfrm>
                <a:custGeom>
                  <a:avLst/>
                  <a:gdLst>
                    <a:gd name="T0" fmla="*/ 77 w 218"/>
                    <a:gd name="T1" fmla="*/ 0 h 259"/>
                    <a:gd name="T2" fmla="*/ 80 w 218"/>
                    <a:gd name="T3" fmla="*/ 98 h 259"/>
                    <a:gd name="T4" fmla="*/ 0 w 218"/>
                    <a:gd name="T5" fmla="*/ 95 h 259"/>
                    <a:gd name="T6" fmla="*/ 0 w 218"/>
                    <a:gd name="T7" fmla="*/ 239 h 259"/>
                    <a:gd name="T8" fmla="*/ 194 w 218"/>
                    <a:gd name="T9" fmla="*/ 259 h 259"/>
                    <a:gd name="T10" fmla="*/ 218 w 218"/>
                    <a:gd name="T11" fmla="*/ 222 h 259"/>
                    <a:gd name="T12" fmla="*/ 217 w 218"/>
                    <a:gd name="T13" fmla="*/ 17 h 259"/>
                    <a:gd name="T14" fmla="*/ 77 w 218"/>
                    <a:gd name="T15" fmla="*/ 0 h 2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18" h="259">
                      <a:moveTo>
                        <a:pt x="77" y="0"/>
                      </a:moveTo>
                      <a:lnTo>
                        <a:pt x="80" y="98"/>
                      </a:lnTo>
                      <a:lnTo>
                        <a:pt x="0" y="95"/>
                      </a:lnTo>
                      <a:lnTo>
                        <a:pt x="0" y="239"/>
                      </a:lnTo>
                      <a:lnTo>
                        <a:pt x="194" y="259"/>
                      </a:lnTo>
                      <a:lnTo>
                        <a:pt x="218" y="222"/>
                      </a:lnTo>
                      <a:lnTo>
                        <a:pt x="217" y="17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6" name="Freeform 184"/>
                <p:cNvSpPr>
                  <a:spLocks noChangeArrowheads="1"/>
                </p:cNvSpPr>
                <p:nvPr/>
              </p:nvSpPr>
              <p:spPr bwMode="auto">
                <a:xfrm>
                  <a:off x="2665" y="2223"/>
                  <a:ext cx="160" cy="255"/>
                </a:xfrm>
                <a:custGeom>
                  <a:avLst/>
                  <a:gdLst>
                    <a:gd name="T0" fmla="*/ 0 w 228"/>
                    <a:gd name="T1" fmla="*/ 0 h 364"/>
                    <a:gd name="T2" fmla="*/ 112 w 228"/>
                    <a:gd name="T3" fmla="*/ 15 h 364"/>
                    <a:gd name="T4" fmla="*/ 119 w 228"/>
                    <a:gd name="T5" fmla="*/ 160 h 364"/>
                    <a:gd name="T6" fmla="*/ 228 w 228"/>
                    <a:gd name="T7" fmla="*/ 182 h 364"/>
                    <a:gd name="T8" fmla="*/ 214 w 228"/>
                    <a:gd name="T9" fmla="*/ 364 h 364"/>
                    <a:gd name="T10" fmla="*/ 0 w 228"/>
                    <a:gd name="T11" fmla="*/ 341 h 364"/>
                    <a:gd name="T12" fmla="*/ 0 w 228"/>
                    <a:gd name="T13" fmla="*/ 0 h 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28" h="364">
                      <a:moveTo>
                        <a:pt x="0" y="0"/>
                      </a:moveTo>
                      <a:lnTo>
                        <a:pt x="112" y="15"/>
                      </a:lnTo>
                      <a:lnTo>
                        <a:pt x="119" y="160"/>
                      </a:lnTo>
                      <a:lnTo>
                        <a:pt x="228" y="182"/>
                      </a:lnTo>
                      <a:lnTo>
                        <a:pt x="214" y="364"/>
                      </a:lnTo>
                      <a:lnTo>
                        <a:pt x="0" y="34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7" name="Freeform 185"/>
                <p:cNvSpPr>
                  <a:spLocks noChangeArrowheads="1"/>
                </p:cNvSpPr>
                <p:nvPr/>
              </p:nvSpPr>
              <p:spPr bwMode="auto">
                <a:xfrm>
                  <a:off x="2824" y="2334"/>
                  <a:ext cx="104" cy="153"/>
                </a:xfrm>
                <a:custGeom>
                  <a:avLst/>
                  <a:gdLst>
                    <a:gd name="T0" fmla="*/ 0 w 150"/>
                    <a:gd name="T1" fmla="*/ 17 h 219"/>
                    <a:gd name="T2" fmla="*/ 19 w 150"/>
                    <a:gd name="T3" fmla="*/ 12 h 219"/>
                    <a:gd name="T4" fmla="*/ 38 w 150"/>
                    <a:gd name="T5" fmla="*/ 5 h 219"/>
                    <a:gd name="T6" fmla="*/ 56 w 150"/>
                    <a:gd name="T7" fmla="*/ 2 h 219"/>
                    <a:gd name="T8" fmla="*/ 73 w 150"/>
                    <a:gd name="T9" fmla="*/ 0 h 219"/>
                    <a:gd name="T10" fmla="*/ 93 w 150"/>
                    <a:gd name="T11" fmla="*/ 0 h 219"/>
                    <a:gd name="T12" fmla="*/ 115 w 150"/>
                    <a:gd name="T13" fmla="*/ 3 h 219"/>
                    <a:gd name="T14" fmla="*/ 141 w 150"/>
                    <a:gd name="T15" fmla="*/ 11 h 219"/>
                    <a:gd name="T16" fmla="*/ 150 w 150"/>
                    <a:gd name="T17" fmla="*/ 23 h 219"/>
                    <a:gd name="T18" fmla="*/ 145 w 150"/>
                    <a:gd name="T19" fmla="*/ 40 h 219"/>
                    <a:gd name="T20" fmla="*/ 139 w 150"/>
                    <a:gd name="T21" fmla="*/ 219 h 219"/>
                    <a:gd name="T22" fmla="*/ 121 w 150"/>
                    <a:gd name="T23" fmla="*/ 207 h 219"/>
                    <a:gd name="T24" fmla="*/ 91 w 150"/>
                    <a:gd name="T25" fmla="*/ 202 h 219"/>
                    <a:gd name="T26" fmla="*/ 67 w 150"/>
                    <a:gd name="T27" fmla="*/ 200 h 219"/>
                    <a:gd name="T28" fmla="*/ 45 w 150"/>
                    <a:gd name="T29" fmla="*/ 203 h 219"/>
                    <a:gd name="T30" fmla="*/ 19 w 150"/>
                    <a:gd name="T31" fmla="*/ 209 h 219"/>
                    <a:gd name="T32" fmla="*/ 2 w 150"/>
                    <a:gd name="T33" fmla="*/ 214 h 219"/>
                    <a:gd name="T34" fmla="*/ 0 w 150"/>
                    <a:gd name="T35" fmla="*/ 17 h 2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50" h="219">
                      <a:moveTo>
                        <a:pt x="0" y="17"/>
                      </a:moveTo>
                      <a:lnTo>
                        <a:pt x="19" y="12"/>
                      </a:lnTo>
                      <a:lnTo>
                        <a:pt x="38" y="5"/>
                      </a:lnTo>
                      <a:lnTo>
                        <a:pt x="56" y="2"/>
                      </a:lnTo>
                      <a:lnTo>
                        <a:pt x="73" y="0"/>
                      </a:lnTo>
                      <a:lnTo>
                        <a:pt x="93" y="0"/>
                      </a:lnTo>
                      <a:lnTo>
                        <a:pt x="115" y="3"/>
                      </a:lnTo>
                      <a:lnTo>
                        <a:pt x="141" y="11"/>
                      </a:lnTo>
                      <a:lnTo>
                        <a:pt x="150" y="23"/>
                      </a:lnTo>
                      <a:lnTo>
                        <a:pt x="145" y="40"/>
                      </a:lnTo>
                      <a:lnTo>
                        <a:pt x="139" y="219"/>
                      </a:lnTo>
                      <a:lnTo>
                        <a:pt x="121" y="207"/>
                      </a:lnTo>
                      <a:lnTo>
                        <a:pt x="91" y="202"/>
                      </a:lnTo>
                      <a:lnTo>
                        <a:pt x="67" y="200"/>
                      </a:lnTo>
                      <a:lnTo>
                        <a:pt x="45" y="203"/>
                      </a:lnTo>
                      <a:lnTo>
                        <a:pt x="19" y="209"/>
                      </a:lnTo>
                      <a:lnTo>
                        <a:pt x="2" y="214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595959"/>
                    </a:gs>
                    <a:gs pos="50000">
                      <a:srgbClr val="C0C0C0"/>
                    </a:gs>
                    <a:gs pos="100000">
                      <a:srgbClr val="595959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8" name="Freeform 186"/>
                <p:cNvSpPr>
                  <a:spLocks noChangeArrowheads="1"/>
                </p:cNvSpPr>
                <p:nvPr/>
              </p:nvSpPr>
              <p:spPr bwMode="auto">
                <a:xfrm>
                  <a:off x="2752" y="2202"/>
                  <a:ext cx="256" cy="134"/>
                </a:xfrm>
                <a:custGeom>
                  <a:avLst/>
                  <a:gdLst>
                    <a:gd name="T0" fmla="*/ 0 w 367"/>
                    <a:gd name="T1" fmla="*/ 43 h 192"/>
                    <a:gd name="T2" fmla="*/ 0 w 367"/>
                    <a:gd name="T3" fmla="*/ 192 h 192"/>
                    <a:gd name="T4" fmla="*/ 36 w 367"/>
                    <a:gd name="T5" fmla="*/ 175 h 192"/>
                    <a:gd name="T6" fmla="*/ 91 w 367"/>
                    <a:gd name="T7" fmla="*/ 160 h 192"/>
                    <a:gd name="T8" fmla="*/ 146 w 367"/>
                    <a:gd name="T9" fmla="*/ 156 h 192"/>
                    <a:gd name="T10" fmla="*/ 213 w 367"/>
                    <a:gd name="T11" fmla="*/ 156 h 192"/>
                    <a:gd name="T12" fmla="*/ 297 w 367"/>
                    <a:gd name="T13" fmla="*/ 168 h 192"/>
                    <a:gd name="T14" fmla="*/ 355 w 367"/>
                    <a:gd name="T15" fmla="*/ 192 h 192"/>
                    <a:gd name="T16" fmla="*/ 355 w 367"/>
                    <a:gd name="T17" fmla="*/ 91 h 192"/>
                    <a:gd name="T18" fmla="*/ 364 w 367"/>
                    <a:gd name="T19" fmla="*/ 76 h 192"/>
                    <a:gd name="T20" fmla="*/ 367 w 367"/>
                    <a:gd name="T21" fmla="*/ 55 h 192"/>
                    <a:gd name="T22" fmla="*/ 343 w 367"/>
                    <a:gd name="T23" fmla="*/ 31 h 192"/>
                    <a:gd name="T24" fmla="*/ 309 w 367"/>
                    <a:gd name="T25" fmla="*/ 16 h 192"/>
                    <a:gd name="T26" fmla="*/ 228 w 367"/>
                    <a:gd name="T27" fmla="*/ 2 h 192"/>
                    <a:gd name="T28" fmla="*/ 163 w 367"/>
                    <a:gd name="T29" fmla="*/ 0 h 192"/>
                    <a:gd name="T30" fmla="*/ 84 w 367"/>
                    <a:gd name="T31" fmla="*/ 7 h 192"/>
                    <a:gd name="T32" fmla="*/ 33 w 367"/>
                    <a:gd name="T33" fmla="*/ 24 h 192"/>
                    <a:gd name="T34" fmla="*/ 0 w 367"/>
                    <a:gd name="T35" fmla="*/ 43 h 1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67" h="192">
                      <a:moveTo>
                        <a:pt x="0" y="43"/>
                      </a:moveTo>
                      <a:lnTo>
                        <a:pt x="0" y="192"/>
                      </a:lnTo>
                      <a:lnTo>
                        <a:pt x="36" y="175"/>
                      </a:lnTo>
                      <a:lnTo>
                        <a:pt x="91" y="160"/>
                      </a:lnTo>
                      <a:lnTo>
                        <a:pt x="146" y="156"/>
                      </a:lnTo>
                      <a:lnTo>
                        <a:pt x="213" y="156"/>
                      </a:lnTo>
                      <a:lnTo>
                        <a:pt x="297" y="168"/>
                      </a:lnTo>
                      <a:lnTo>
                        <a:pt x="355" y="192"/>
                      </a:lnTo>
                      <a:lnTo>
                        <a:pt x="355" y="91"/>
                      </a:lnTo>
                      <a:lnTo>
                        <a:pt x="364" y="76"/>
                      </a:lnTo>
                      <a:lnTo>
                        <a:pt x="367" y="55"/>
                      </a:lnTo>
                      <a:lnTo>
                        <a:pt x="343" y="31"/>
                      </a:lnTo>
                      <a:lnTo>
                        <a:pt x="309" y="16"/>
                      </a:lnTo>
                      <a:lnTo>
                        <a:pt x="228" y="2"/>
                      </a:lnTo>
                      <a:lnTo>
                        <a:pt x="163" y="0"/>
                      </a:lnTo>
                      <a:lnTo>
                        <a:pt x="84" y="7"/>
                      </a:lnTo>
                      <a:lnTo>
                        <a:pt x="33" y="2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rgbClr val="595959"/>
                    </a:gs>
                    <a:gs pos="50000">
                      <a:srgbClr val="C0C0C0"/>
                    </a:gs>
                    <a:gs pos="100000">
                      <a:srgbClr val="595959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9" name="Freeform 187"/>
                <p:cNvSpPr>
                  <a:spLocks noChangeArrowheads="1"/>
                </p:cNvSpPr>
                <p:nvPr/>
              </p:nvSpPr>
              <p:spPr bwMode="auto">
                <a:xfrm>
                  <a:off x="3118" y="2481"/>
                  <a:ext cx="24" cy="34"/>
                </a:xfrm>
                <a:custGeom>
                  <a:avLst/>
                  <a:gdLst>
                    <a:gd name="T0" fmla="*/ 214 w 214"/>
                    <a:gd name="T1" fmla="*/ 0 h 288"/>
                    <a:gd name="T2" fmla="*/ 59 w 214"/>
                    <a:gd name="T3" fmla="*/ 109 h 288"/>
                    <a:gd name="T4" fmla="*/ 0 w 214"/>
                    <a:gd name="T5" fmla="*/ 288 h 288"/>
                    <a:gd name="T6" fmla="*/ 1 w 214"/>
                    <a:gd name="T7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4" h="288">
                      <a:moveTo>
                        <a:pt x="214" y="0"/>
                      </a:moveTo>
                      <a:lnTo>
                        <a:pt x="59" y="109"/>
                      </a:lnTo>
                      <a:lnTo>
                        <a:pt x="0" y="288"/>
                      </a:lnTo>
                      <a:lnTo>
                        <a:pt x="1" y="288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0" name="Freeform 188"/>
                <p:cNvSpPr>
                  <a:spLocks noChangeArrowheads="1"/>
                </p:cNvSpPr>
                <p:nvPr/>
              </p:nvSpPr>
              <p:spPr bwMode="auto">
                <a:xfrm>
                  <a:off x="2924" y="2498"/>
                  <a:ext cx="194" cy="24"/>
                </a:xfrm>
                <a:custGeom>
                  <a:avLst/>
                  <a:gdLst>
                    <a:gd name="T0" fmla="*/ 0 w 1660"/>
                    <a:gd name="T1" fmla="*/ 0 h 203"/>
                    <a:gd name="T2" fmla="*/ 1659 w 1660"/>
                    <a:gd name="T3" fmla="*/ 203 h 203"/>
                    <a:gd name="T4" fmla="*/ 1660 w 1660"/>
                    <a:gd name="T5" fmla="*/ 203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660" h="203">
                      <a:moveTo>
                        <a:pt x="0" y="0"/>
                      </a:moveTo>
                      <a:lnTo>
                        <a:pt x="1659" y="203"/>
                      </a:lnTo>
                      <a:lnTo>
                        <a:pt x="1660" y="203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1" name="Freeform 189"/>
                <p:cNvSpPr>
                  <a:spLocks noChangeArrowheads="1"/>
                </p:cNvSpPr>
                <p:nvPr/>
              </p:nvSpPr>
              <p:spPr bwMode="auto">
                <a:xfrm>
                  <a:off x="2999" y="2263"/>
                  <a:ext cx="144" cy="17"/>
                </a:xfrm>
                <a:custGeom>
                  <a:avLst/>
                  <a:gdLst>
                    <a:gd name="T0" fmla="*/ 0 w 1236"/>
                    <a:gd name="T1" fmla="*/ 0 h 151"/>
                    <a:gd name="T2" fmla="*/ 1235 w 1236"/>
                    <a:gd name="T3" fmla="*/ 151 h 151"/>
                    <a:gd name="T4" fmla="*/ 1236 w 1236"/>
                    <a:gd name="T5" fmla="*/ 151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36" h="151">
                      <a:moveTo>
                        <a:pt x="0" y="0"/>
                      </a:moveTo>
                      <a:lnTo>
                        <a:pt x="1235" y="151"/>
                      </a:lnTo>
                      <a:lnTo>
                        <a:pt x="1236" y="151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2" name="Freeform 190"/>
                <p:cNvSpPr>
                  <a:spLocks noChangeArrowheads="1"/>
                </p:cNvSpPr>
                <p:nvPr/>
              </p:nvSpPr>
              <p:spPr bwMode="auto">
                <a:xfrm>
                  <a:off x="2924" y="2358"/>
                  <a:ext cx="1" cy="147"/>
                </a:xfrm>
                <a:custGeom>
                  <a:avLst/>
                  <a:gdLst>
                    <a:gd name="T0" fmla="*/ 0 w 1"/>
                    <a:gd name="T1" fmla="*/ 0 h 210"/>
                    <a:gd name="T2" fmla="*/ 0 w 1"/>
                    <a:gd name="T3" fmla="*/ 210 h 210"/>
                    <a:gd name="T4" fmla="*/ 1 w 1"/>
                    <a:gd name="T5" fmla="*/ 20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10">
                      <a:moveTo>
                        <a:pt x="0" y="0"/>
                      </a:moveTo>
                      <a:lnTo>
                        <a:pt x="0" y="210"/>
                      </a:lnTo>
                      <a:lnTo>
                        <a:pt x="1" y="200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3" name="Freeform 191"/>
                <p:cNvSpPr>
                  <a:spLocks noChangeArrowheads="1"/>
                </p:cNvSpPr>
                <p:nvPr/>
              </p:nvSpPr>
              <p:spPr bwMode="auto">
                <a:xfrm>
                  <a:off x="2825" y="2346"/>
                  <a:ext cx="0" cy="140"/>
                </a:xfrm>
                <a:custGeom>
                  <a:avLst/>
                  <a:gdLst>
                    <a:gd name="T0" fmla="*/ 0 w 1"/>
                    <a:gd name="T1" fmla="*/ 0 h 1201"/>
                    <a:gd name="T2" fmla="*/ 0 w 1"/>
                    <a:gd name="T3" fmla="*/ 1201 h 1201"/>
                    <a:gd name="T4" fmla="*/ 1 w 1"/>
                    <a:gd name="T5" fmla="*/ 1201 h 1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201">
                      <a:moveTo>
                        <a:pt x="0" y="0"/>
                      </a:moveTo>
                      <a:lnTo>
                        <a:pt x="0" y="1201"/>
                      </a:lnTo>
                      <a:lnTo>
                        <a:pt x="1" y="1201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4" name="Freeform 192"/>
                <p:cNvSpPr>
                  <a:spLocks noChangeArrowheads="1"/>
                </p:cNvSpPr>
                <p:nvPr/>
              </p:nvSpPr>
              <p:spPr bwMode="auto">
                <a:xfrm>
                  <a:off x="2999" y="2263"/>
                  <a:ext cx="0" cy="105"/>
                </a:xfrm>
                <a:custGeom>
                  <a:avLst/>
                  <a:gdLst>
                    <a:gd name="T0" fmla="*/ 0 w 1"/>
                    <a:gd name="T1" fmla="*/ 0 h 901"/>
                    <a:gd name="T2" fmla="*/ 0 w 1"/>
                    <a:gd name="T3" fmla="*/ 901 h 901"/>
                    <a:gd name="T4" fmla="*/ 1 w 1"/>
                    <a:gd name="T5" fmla="*/ 901 h 9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901">
                      <a:moveTo>
                        <a:pt x="0" y="0"/>
                      </a:moveTo>
                      <a:lnTo>
                        <a:pt x="0" y="901"/>
                      </a:lnTo>
                      <a:lnTo>
                        <a:pt x="1" y="901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5" name="Freeform 193"/>
                <p:cNvSpPr>
                  <a:spLocks noChangeArrowheads="1"/>
                </p:cNvSpPr>
                <p:nvPr/>
              </p:nvSpPr>
              <p:spPr bwMode="auto">
                <a:xfrm>
                  <a:off x="2924" y="2352"/>
                  <a:ext cx="75" cy="10"/>
                </a:xfrm>
                <a:custGeom>
                  <a:avLst/>
                  <a:gdLst>
                    <a:gd name="T0" fmla="*/ 0 w 639"/>
                    <a:gd name="T1" fmla="*/ 0 h 78"/>
                    <a:gd name="T2" fmla="*/ 638 w 639"/>
                    <a:gd name="T3" fmla="*/ 78 h 78"/>
                    <a:gd name="T4" fmla="*/ 639 w 639"/>
                    <a:gd name="T5" fmla="*/ 78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39" h="78">
                      <a:moveTo>
                        <a:pt x="0" y="0"/>
                      </a:moveTo>
                      <a:lnTo>
                        <a:pt x="638" y="78"/>
                      </a:lnTo>
                      <a:lnTo>
                        <a:pt x="639" y="78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6" name="Freeform 194"/>
                <p:cNvSpPr>
                  <a:spLocks noChangeArrowheads="1"/>
                </p:cNvSpPr>
                <p:nvPr/>
              </p:nvSpPr>
              <p:spPr bwMode="auto">
                <a:xfrm>
                  <a:off x="3118" y="2515"/>
                  <a:ext cx="0" cy="7"/>
                </a:xfrm>
                <a:custGeom>
                  <a:avLst/>
                  <a:gdLst>
                    <a:gd name="T0" fmla="*/ 0 w 1"/>
                    <a:gd name="T1" fmla="*/ 0 h 57"/>
                    <a:gd name="T2" fmla="*/ 0 w 1"/>
                    <a:gd name="T3" fmla="*/ 57 h 57"/>
                    <a:gd name="T4" fmla="*/ 1 w 1"/>
                    <a:gd name="T5" fmla="*/ 5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7">
                      <a:moveTo>
                        <a:pt x="0" y="0"/>
                      </a:moveTo>
                      <a:lnTo>
                        <a:pt x="0" y="57"/>
                      </a:lnTo>
                      <a:lnTo>
                        <a:pt x="1" y="57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grpSp>
              <p:nvGrpSpPr>
                <p:cNvPr id="197" name="Group 195"/>
                <p:cNvGrpSpPr>
                  <a:grpSpLocks/>
                </p:cNvGrpSpPr>
                <p:nvPr/>
              </p:nvGrpSpPr>
              <p:grpSpPr bwMode="auto">
                <a:xfrm>
                  <a:off x="2666" y="2223"/>
                  <a:ext cx="476" cy="288"/>
                  <a:chOff x="2561" y="2307"/>
                  <a:chExt cx="476" cy="288"/>
                </a:xfrm>
              </p:grpSpPr>
              <p:sp>
                <p:nvSpPr>
                  <p:cNvPr id="205" name="Freeform 196"/>
                  <p:cNvSpPr>
                    <a:spLocks noChangeArrowheads="1"/>
                  </p:cNvSpPr>
                  <p:nvPr/>
                </p:nvSpPr>
                <p:spPr bwMode="auto">
                  <a:xfrm>
                    <a:off x="2894" y="2429"/>
                    <a:ext cx="143" cy="94"/>
                  </a:xfrm>
                  <a:custGeom>
                    <a:avLst/>
                    <a:gdLst>
                      <a:gd name="T0" fmla="*/ 1235 w 1235"/>
                      <a:gd name="T1" fmla="*/ 803 h 803"/>
                      <a:gd name="T2" fmla="*/ 0 w 1235"/>
                      <a:gd name="T3" fmla="*/ 0 h 803"/>
                      <a:gd name="T4" fmla="*/ 1 w 1235"/>
                      <a:gd name="T5" fmla="*/ 0 h 8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35" h="803">
                        <a:moveTo>
                          <a:pt x="1235" y="803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06" name="Freeform 197"/>
                  <p:cNvSpPr>
                    <a:spLocks noChangeArrowheads="1"/>
                  </p:cNvSpPr>
                  <p:nvPr/>
                </p:nvSpPr>
                <p:spPr bwMode="auto">
                  <a:xfrm>
                    <a:off x="2921" y="2349"/>
                    <a:ext cx="116" cy="77"/>
                  </a:xfrm>
                  <a:custGeom>
                    <a:avLst/>
                    <a:gdLst>
                      <a:gd name="T0" fmla="*/ 1003 w 1003"/>
                      <a:gd name="T1" fmla="*/ 653 h 653"/>
                      <a:gd name="T2" fmla="*/ 0 w 1003"/>
                      <a:gd name="T3" fmla="*/ 0 h 653"/>
                      <a:gd name="T4" fmla="*/ 1 w 1003"/>
                      <a:gd name="T5" fmla="*/ 0 h 6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03" h="653">
                        <a:moveTo>
                          <a:pt x="1003" y="653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07" name="Freeform 198"/>
                  <p:cNvSpPr>
                    <a:spLocks noChangeArrowheads="1"/>
                  </p:cNvSpPr>
                  <p:nvPr/>
                </p:nvSpPr>
                <p:spPr bwMode="auto">
                  <a:xfrm>
                    <a:off x="2819" y="2470"/>
                    <a:ext cx="194" cy="125"/>
                  </a:xfrm>
                  <a:custGeom>
                    <a:avLst/>
                    <a:gdLst>
                      <a:gd name="T0" fmla="*/ 1660 w 1660"/>
                      <a:gd name="T1" fmla="*/ 1079 h 1079"/>
                      <a:gd name="T2" fmla="*/ 0 w 1660"/>
                      <a:gd name="T3" fmla="*/ 0 h 1079"/>
                      <a:gd name="T4" fmla="*/ 1 w 1660"/>
                      <a:gd name="T5" fmla="*/ 0 h 10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60" h="1079">
                        <a:moveTo>
                          <a:pt x="1660" y="1079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08" name="Freeform 199"/>
                  <p:cNvSpPr>
                    <a:spLocks noChangeArrowheads="1"/>
                  </p:cNvSpPr>
                  <p:nvPr/>
                </p:nvSpPr>
                <p:spPr bwMode="auto">
                  <a:xfrm>
                    <a:off x="2819" y="2562"/>
                    <a:ext cx="39" cy="25"/>
                  </a:xfrm>
                  <a:custGeom>
                    <a:avLst/>
                    <a:gdLst>
                      <a:gd name="T0" fmla="*/ 328 w 328"/>
                      <a:gd name="T1" fmla="*/ 214 h 214"/>
                      <a:gd name="T2" fmla="*/ 0 w 328"/>
                      <a:gd name="T3" fmla="*/ 0 h 214"/>
                      <a:gd name="T4" fmla="*/ 1 w 328"/>
                      <a:gd name="T5" fmla="*/ 0 h 2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28" h="214">
                        <a:moveTo>
                          <a:pt x="328" y="214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09" name="Freeform 200"/>
                  <p:cNvSpPr>
                    <a:spLocks noChangeArrowheads="1"/>
                  </p:cNvSpPr>
                  <p:nvPr/>
                </p:nvSpPr>
                <p:spPr bwMode="auto">
                  <a:xfrm>
                    <a:off x="2561" y="2394"/>
                    <a:ext cx="159" cy="104"/>
                  </a:xfrm>
                  <a:custGeom>
                    <a:avLst/>
                    <a:gdLst>
                      <a:gd name="T0" fmla="*/ 1363 w 1363"/>
                      <a:gd name="T1" fmla="*/ 886 h 886"/>
                      <a:gd name="T2" fmla="*/ 0 w 1363"/>
                      <a:gd name="T3" fmla="*/ 0 h 886"/>
                      <a:gd name="T4" fmla="*/ 1 w 1363"/>
                      <a:gd name="T5" fmla="*/ 0 h 8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363" h="886">
                        <a:moveTo>
                          <a:pt x="1363" y="886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10" name="Freeform 201"/>
                  <p:cNvSpPr>
                    <a:spLocks noChangeArrowheads="1"/>
                  </p:cNvSpPr>
                  <p:nvPr/>
                </p:nvSpPr>
                <p:spPr bwMode="auto">
                  <a:xfrm>
                    <a:off x="2561" y="2487"/>
                    <a:ext cx="120" cy="79"/>
                  </a:xfrm>
                  <a:custGeom>
                    <a:avLst/>
                    <a:gdLst>
                      <a:gd name="T0" fmla="*/ 1033 w 1033"/>
                      <a:gd name="T1" fmla="*/ 671 h 671"/>
                      <a:gd name="T2" fmla="*/ 0 w 1033"/>
                      <a:gd name="T3" fmla="*/ 0 h 671"/>
                      <a:gd name="T4" fmla="*/ 1 w 1033"/>
                      <a:gd name="T5" fmla="*/ 0 h 6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33" h="671">
                        <a:moveTo>
                          <a:pt x="1033" y="67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11" name="Freeform 202"/>
                  <p:cNvSpPr>
                    <a:spLocks noChangeArrowheads="1"/>
                  </p:cNvSpPr>
                  <p:nvPr/>
                </p:nvSpPr>
                <p:spPr bwMode="auto">
                  <a:xfrm>
                    <a:off x="2569" y="2307"/>
                    <a:ext cx="77" cy="49"/>
                  </a:xfrm>
                  <a:custGeom>
                    <a:avLst/>
                    <a:gdLst>
                      <a:gd name="T0" fmla="*/ 659 w 659"/>
                      <a:gd name="T1" fmla="*/ 427 h 427"/>
                      <a:gd name="T2" fmla="*/ 0 w 659"/>
                      <a:gd name="T3" fmla="*/ 0 h 427"/>
                      <a:gd name="T4" fmla="*/ 1 w 659"/>
                      <a:gd name="T5" fmla="*/ 0 h 4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59" h="427">
                        <a:moveTo>
                          <a:pt x="659" y="427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198" name="Group 203"/>
                <p:cNvGrpSpPr>
                  <a:grpSpLocks/>
                </p:cNvGrpSpPr>
                <p:nvPr/>
              </p:nvGrpSpPr>
              <p:grpSpPr bwMode="auto">
                <a:xfrm>
                  <a:off x="2660" y="2224"/>
                  <a:ext cx="160" cy="254"/>
                  <a:chOff x="2560" y="2302"/>
                  <a:chExt cx="160" cy="254"/>
                </a:xfrm>
              </p:grpSpPr>
              <p:sp>
                <p:nvSpPr>
                  <p:cNvPr id="201" name="Freeform 204"/>
                  <p:cNvSpPr>
                    <a:spLocks noChangeArrowheads="1"/>
                  </p:cNvSpPr>
                  <p:nvPr/>
                </p:nvSpPr>
                <p:spPr bwMode="auto">
                  <a:xfrm>
                    <a:off x="2560" y="2302"/>
                    <a:ext cx="1" cy="254"/>
                  </a:xfrm>
                  <a:custGeom>
                    <a:avLst/>
                    <a:gdLst>
                      <a:gd name="T0" fmla="*/ 1 w 2"/>
                      <a:gd name="T1" fmla="*/ 0 h 363"/>
                      <a:gd name="T2" fmla="*/ 0 w 2"/>
                      <a:gd name="T3" fmla="*/ 363 h 363"/>
                      <a:gd name="T4" fmla="*/ 2 w 2"/>
                      <a:gd name="T5" fmla="*/ 351 h 3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63">
                        <a:moveTo>
                          <a:pt x="1" y="0"/>
                        </a:moveTo>
                        <a:lnTo>
                          <a:pt x="0" y="363"/>
                        </a:lnTo>
                        <a:lnTo>
                          <a:pt x="2" y="351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02" name="Freeform 205"/>
                  <p:cNvSpPr>
                    <a:spLocks noChangeArrowheads="1"/>
                  </p:cNvSpPr>
                  <p:nvPr/>
                </p:nvSpPr>
                <p:spPr bwMode="auto">
                  <a:xfrm>
                    <a:off x="2561" y="2305"/>
                    <a:ext cx="84" cy="11"/>
                  </a:xfrm>
                  <a:custGeom>
                    <a:avLst/>
                    <a:gdLst>
                      <a:gd name="T0" fmla="*/ 0 w 724"/>
                      <a:gd name="T1" fmla="*/ 0 h 89"/>
                      <a:gd name="T2" fmla="*/ 723 w 724"/>
                      <a:gd name="T3" fmla="*/ 89 h 89"/>
                      <a:gd name="T4" fmla="*/ 724 w 724"/>
                      <a:gd name="T5" fmla="*/ 89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24" h="89">
                        <a:moveTo>
                          <a:pt x="0" y="0"/>
                        </a:moveTo>
                        <a:lnTo>
                          <a:pt x="723" y="89"/>
                        </a:lnTo>
                        <a:lnTo>
                          <a:pt x="724" y="89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03" name="Freeform 206"/>
                  <p:cNvSpPr>
                    <a:spLocks noChangeArrowheads="1"/>
                  </p:cNvSpPr>
                  <p:nvPr/>
                </p:nvSpPr>
                <p:spPr bwMode="auto">
                  <a:xfrm>
                    <a:off x="2645" y="2316"/>
                    <a:ext cx="1" cy="105"/>
                  </a:xfrm>
                  <a:custGeom>
                    <a:avLst/>
                    <a:gdLst>
                      <a:gd name="T0" fmla="*/ 0 w 1"/>
                      <a:gd name="T1" fmla="*/ 0 h 900"/>
                      <a:gd name="T2" fmla="*/ 0 w 1"/>
                      <a:gd name="T3" fmla="*/ 900 h 900"/>
                      <a:gd name="T4" fmla="*/ 1 w 1"/>
                      <a:gd name="T5" fmla="*/ 900 h 9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900">
                        <a:moveTo>
                          <a:pt x="0" y="0"/>
                        </a:moveTo>
                        <a:lnTo>
                          <a:pt x="0" y="900"/>
                        </a:lnTo>
                        <a:lnTo>
                          <a:pt x="1" y="900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04" name="Freeform 207"/>
                  <p:cNvSpPr>
                    <a:spLocks noChangeArrowheads="1"/>
                  </p:cNvSpPr>
                  <p:nvPr/>
                </p:nvSpPr>
                <p:spPr bwMode="auto">
                  <a:xfrm>
                    <a:off x="2645" y="2421"/>
                    <a:ext cx="75" cy="9"/>
                  </a:xfrm>
                  <a:custGeom>
                    <a:avLst/>
                    <a:gdLst>
                      <a:gd name="T0" fmla="*/ 0 w 641"/>
                      <a:gd name="T1" fmla="*/ 0 h 79"/>
                      <a:gd name="T2" fmla="*/ 640 w 641"/>
                      <a:gd name="T3" fmla="*/ 79 h 79"/>
                      <a:gd name="T4" fmla="*/ 641 w 641"/>
                      <a:gd name="T5" fmla="*/ 79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41" h="79">
                        <a:moveTo>
                          <a:pt x="0" y="0"/>
                        </a:moveTo>
                        <a:lnTo>
                          <a:pt x="640" y="79"/>
                        </a:lnTo>
                        <a:lnTo>
                          <a:pt x="641" y="79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sp>
              <p:nvSpPr>
                <p:cNvPr id="199" name="Freeform 208"/>
                <p:cNvSpPr>
                  <a:spLocks noChangeArrowheads="1"/>
                </p:cNvSpPr>
                <p:nvPr/>
              </p:nvSpPr>
              <p:spPr bwMode="auto">
                <a:xfrm>
                  <a:off x="2663" y="2467"/>
                  <a:ext cx="159" cy="19"/>
                </a:xfrm>
                <a:custGeom>
                  <a:avLst/>
                  <a:gdLst>
                    <a:gd name="T0" fmla="*/ 0 w 1364"/>
                    <a:gd name="T1" fmla="*/ 0 h 167"/>
                    <a:gd name="T2" fmla="*/ 1363 w 1364"/>
                    <a:gd name="T3" fmla="*/ 167 h 167"/>
                    <a:gd name="T4" fmla="*/ 1364 w 1364"/>
                    <a:gd name="T5" fmla="*/ 167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364" h="167">
                      <a:moveTo>
                        <a:pt x="0" y="0"/>
                      </a:moveTo>
                      <a:lnTo>
                        <a:pt x="1363" y="167"/>
                      </a:lnTo>
                      <a:lnTo>
                        <a:pt x="1364" y="167"/>
                      </a:lnTo>
                    </a:path>
                  </a:pathLst>
                </a:custGeom>
                <a:solidFill>
                  <a:schemeClr val="accent1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00" name="Freeform 209"/>
                <p:cNvSpPr>
                  <a:spLocks noChangeArrowheads="1"/>
                </p:cNvSpPr>
                <p:nvPr/>
              </p:nvSpPr>
              <p:spPr bwMode="auto">
                <a:xfrm>
                  <a:off x="4039" y="2007"/>
                  <a:ext cx="120" cy="14"/>
                </a:xfrm>
                <a:custGeom>
                  <a:avLst/>
                  <a:gdLst>
                    <a:gd name="T0" fmla="*/ 0 w 1032"/>
                    <a:gd name="T1" fmla="*/ 0 h 122"/>
                    <a:gd name="T2" fmla="*/ 1031 w 1032"/>
                    <a:gd name="T3" fmla="*/ 122 h 122"/>
                    <a:gd name="T4" fmla="*/ 1032 w 1032"/>
                    <a:gd name="T5" fmla="*/ 122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32" h="122">
                      <a:moveTo>
                        <a:pt x="0" y="0"/>
                      </a:moveTo>
                      <a:lnTo>
                        <a:pt x="1031" y="122"/>
                      </a:lnTo>
                      <a:lnTo>
                        <a:pt x="1032" y="122"/>
                      </a:lnTo>
                    </a:path>
                  </a:pathLst>
                </a:custGeom>
                <a:solidFill>
                  <a:schemeClr val="bg2"/>
                </a:solidFill>
                <a:ln w="2857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</p:grpSp>
        <p:grpSp>
          <p:nvGrpSpPr>
            <p:cNvPr id="128" name="Group 210"/>
            <p:cNvGrpSpPr>
              <a:grpSpLocks/>
            </p:cNvGrpSpPr>
            <p:nvPr/>
          </p:nvGrpSpPr>
          <p:grpSpPr bwMode="auto">
            <a:xfrm>
              <a:off x="3787" y="612"/>
              <a:ext cx="1716" cy="1091"/>
              <a:chOff x="3787" y="612"/>
              <a:chExt cx="1716" cy="1091"/>
            </a:xfrm>
          </p:grpSpPr>
          <p:sp>
            <p:nvSpPr>
              <p:cNvPr id="129" name="Line 211"/>
              <p:cNvSpPr>
                <a:spLocks noChangeShapeType="1"/>
              </p:cNvSpPr>
              <p:nvPr/>
            </p:nvSpPr>
            <p:spPr bwMode="auto">
              <a:xfrm flipH="1">
                <a:off x="4372" y="1506"/>
                <a:ext cx="197" cy="197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" name="Line 212"/>
              <p:cNvSpPr>
                <a:spLocks noChangeShapeType="1"/>
              </p:cNvSpPr>
              <p:nvPr/>
            </p:nvSpPr>
            <p:spPr bwMode="auto">
              <a:xfrm flipV="1">
                <a:off x="4377" y="794"/>
                <a:ext cx="0" cy="909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" name="Line 213"/>
              <p:cNvSpPr>
                <a:spLocks noChangeShapeType="1"/>
              </p:cNvSpPr>
              <p:nvPr/>
            </p:nvSpPr>
            <p:spPr bwMode="auto">
              <a:xfrm flipH="1">
                <a:off x="4377" y="612"/>
                <a:ext cx="189" cy="189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" name="Line 214"/>
              <p:cNvSpPr>
                <a:spLocks noChangeShapeType="1"/>
              </p:cNvSpPr>
              <p:nvPr/>
            </p:nvSpPr>
            <p:spPr bwMode="auto">
              <a:xfrm flipH="1" flipV="1">
                <a:off x="3790" y="727"/>
                <a:ext cx="582" cy="67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" name="Line 215"/>
              <p:cNvSpPr>
                <a:spLocks noChangeShapeType="1"/>
              </p:cNvSpPr>
              <p:nvPr/>
            </p:nvSpPr>
            <p:spPr bwMode="auto">
              <a:xfrm>
                <a:off x="3787" y="723"/>
                <a:ext cx="0" cy="927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4" name="Line 216"/>
              <p:cNvSpPr>
                <a:spLocks noChangeShapeType="1"/>
              </p:cNvSpPr>
              <p:nvPr/>
            </p:nvSpPr>
            <p:spPr bwMode="auto">
              <a:xfrm>
                <a:off x="3791" y="1646"/>
                <a:ext cx="586" cy="57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5" name="Freeform 217"/>
              <p:cNvSpPr>
                <a:spLocks noChangeArrowheads="1"/>
              </p:cNvSpPr>
              <p:nvPr/>
            </p:nvSpPr>
            <p:spPr bwMode="auto">
              <a:xfrm>
                <a:off x="4567" y="612"/>
                <a:ext cx="936" cy="1011"/>
              </a:xfrm>
              <a:custGeom>
                <a:avLst/>
                <a:gdLst>
                  <a:gd name="T0" fmla="*/ 0 w 936"/>
                  <a:gd name="T1" fmla="*/ 901 h 1011"/>
                  <a:gd name="T2" fmla="*/ 0 w 936"/>
                  <a:gd name="T3" fmla="*/ 0 h 1011"/>
                  <a:gd name="T4" fmla="*/ 936 w 936"/>
                  <a:gd name="T5" fmla="*/ 127 h 1011"/>
                  <a:gd name="T6" fmla="*/ 936 w 936"/>
                  <a:gd name="T7" fmla="*/ 1011 h 1011"/>
                  <a:gd name="T8" fmla="*/ 0 w 936"/>
                  <a:gd name="T9" fmla="*/ 901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36" h="1011">
                    <a:moveTo>
                      <a:pt x="0" y="901"/>
                    </a:moveTo>
                    <a:lnTo>
                      <a:pt x="0" y="0"/>
                    </a:lnTo>
                    <a:lnTo>
                      <a:pt x="936" y="127"/>
                    </a:lnTo>
                    <a:lnTo>
                      <a:pt x="936" y="1011"/>
                    </a:lnTo>
                    <a:lnTo>
                      <a:pt x="0" y="901"/>
                    </a:lnTo>
                    <a:close/>
                  </a:path>
                </a:pathLst>
              </a:custGeom>
              <a:noFill/>
              <a:ln w="9525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6" name="Rectangle 218"/>
              <p:cNvSpPr>
                <a:spLocks noChangeArrowheads="1"/>
              </p:cNvSpPr>
              <p:nvPr/>
            </p:nvSpPr>
            <p:spPr bwMode="auto">
              <a:xfrm>
                <a:off x="5354" y="702"/>
                <a:ext cx="129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0" hangingPunct="0"/>
                <a:r>
                  <a:rPr lang="en-US" altLang="zh-CN" i="1">
                    <a:solidFill>
                      <a:schemeClr val="tx2"/>
                    </a:solidFill>
                    <a:latin typeface="Times New Roman" panose="02020603050405020304" pitchFamily="18" charset="0"/>
                  </a:rPr>
                  <a:t>A</a:t>
                </a:r>
                <a:endParaRPr lang="en-US" altLang="zh-CN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7" name="Rectangle 219"/>
              <p:cNvSpPr>
                <a:spLocks noChangeArrowheads="1"/>
              </p:cNvSpPr>
              <p:nvPr/>
            </p:nvSpPr>
            <p:spPr bwMode="auto">
              <a:xfrm>
                <a:off x="3791" y="723"/>
                <a:ext cx="129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0" hangingPunct="0"/>
                <a:r>
                  <a:rPr lang="en-US" altLang="zh-CN" i="1">
                    <a:solidFill>
                      <a:schemeClr val="tx2"/>
                    </a:solidFill>
                    <a:latin typeface="Times New Roman" panose="02020603050405020304" pitchFamily="18" charset="0"/>
                  </a:rPr>
                  <a:t>A</a:t>
                </a:r>
                <a:endParaRPr lang="en-US" altLang="zh-CN" b="0">
                  <a:latin typeface="Times New Roman" panose="02020603050405020304" pitchFamily="18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9244846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>
          <a:xfrm>
            <a:off x="828677" y="395289"/>
            <a:ext cx="3160712" cy="519113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24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zh-CN" altLang="en-US" dirty="0"/>
              <a:t>画图时应注意的问题</a:t>
            </a:r>
          </a:p>
        </p:txBody>
      </p:sp>
      <p:grpSp>
        <p:nvGrpSpPr>
          <p:cNvPr id="3" name="Group 3"/>
          <p:cNvGrpSpPr>
            <a:grpSpLocks/>
          </p:cNvGrpSpPr>
          <p:nvPr/>
        </p:nvGrpSpPr>
        <p:grpSpPr bwMode="auto">
          <a:xfrm>
            <a:off x="2214563" y="3892550"/>
            <a:ext cx="3705226" cy="1728788"/>
            <a:chOff x="307" y="2652"/>
            <a:chExt cx="2334" cy="1089"/>
          </a:xfrm>
        </p:grpSpPr>
        <p:sp>
          <p:nvSpPr>
            <p:cNvPr id="4" name="Rectangle 4"/>
            <p:cNvSpPr>
              <a:spLocks noChangeArrowheads="1"/>
            </p:cNvSpPr>
            <p:nvPr/>
          </p:nvSpPr>
          <p:spPr bwMode="auto">
            <a:xfrm>
              <a:off x="307" y="3264"/>
              <a:ext cx="12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i="1">
                  <a:solidFill>
                    <a:schemeClr val="tx2"/>
                  </a:solidFill>
                  <a:latin typeface="Times New Roman" panose="02020603050405020304" pitchFamily="18" charset="0"/>
                </a:rPr>
                <a:t>A</a:t>
              </a:r>
              <a:endParaRPr lang="en-US" altLang="zh-CN">
                <a:solidFill>
                  <a:schemeClr val="tx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" name="Rectangle 5"/>
            <p:cNvSpPr>
              <a:spLocks noChangeArrowheads="1"/>
            </p:cNvSpPr>
            <p:nvPr/>
          </p:nvSpPr>
          <p:spPr bwMode="auto">
            <a:xfrm>
              <a:off x="1227" y="2830"/>
              <a:ext cx="12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i="1">
                  <a:solidFill>
                    <a:schemeClr val="tx2"/>
                  </a:solidFill>
                  <a:latin typeface="Times New Roman" panose="02020603050405020304" pitchFamily="18" charset="0"/>
                </a:rPr>
                <a:t>A</a:t>
              </a:r>
              <a:endParaRPr lang="en-US" altLang="zh-CN">
                <a:solidFill>
                  <a:schemeClr val="tx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1169" y="3408"/>
              <a:ext cx="12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i="1">
                  <a:solidFill>
                    <a:schemeClr val="tx2"/>
                  </a:solidFill>
                  <a:latin typeface="Times New Roman" panose="02020603050405020304" pitchFamily="18" charset="0"/>
                </a:rPr>
                <a:t>A</a:t>
              </a:r>
              <a:endParaRPr lang="en-US" altLang="zh-CN">
                <a:solidFill>
                  <a:schemeClr val="tx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2512" y="2883"/>
              <a:ext cx="12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i="1">
                  <a:solidFill>
                    <a:schemeClr val="tx2"/>
                  </a:solidFill>
                  <a:latin typeface="Times New Roman" panose="02020603050405020304" pitchFamily="18" charset="0"/>
                </a:rPr>
                <a:t>A</a:t>
              </a:r>
              <a:endParaRPr lang="en-US" altLang="zh-CN">
                <a:solidFill>
                  <a:schemeClr val="tx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" name="Freeform 8"/>
            <p:cNvSpPr>
              <a:spLocks noChangeArrowheads="1"/>
            </p:cNvSpPr>
            <p:nvPr/>
          </p:nvSpPr>
          <p:spPr bwMode="auto">
            <a:xfrm>
              <a:off x="2336" y="3082"/>
              <a:ext cx="107" cy="1"/>
            </a:xfrm>
            <a:custGeom>
              <a:avLst/>
              <a:gdLst>
                <a:gd name="T0" fmla="*/ 0 w 322"/>
                <a:gd name="T1" fmla="*/ 0 h 1"/>
                <a:gd name="T2" fmla="*/ 321 w 322"/>
                <a:gd name="T3" fmla="*/ 0 h 1"/>
                <a:gd name="T4" fmla="*/ 322 w 32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2" h="1">
                  <a:moveTo>
                    <a:pt x="0" y="0"/>
                  </a:moveTo>
                  <a:lnTo>
                    <a:pt x="321" y="0"/>
                  </a:lnTo>
                  <a:lnTo>
                    <a:pt x="3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" name="Freeform 9"/>
            <p:cNvSpPr>
              <a:spLocks noChangeArrowheads="1"/>
            </p:cNvSpPr>
            <p:nvPr/>
          </p:nvSpPr>
          <p:spPr bwMode="auto">
            <a:xfrm>
              <a:off x="480" y="3473"/>
              <a:ext cx="104" cy="1"/>
            </a:xfrm>
            <a:custGeom>
              <a:avLst/>
              <a:gdLst>
                <a:gd name="T0" fmla="*/ 314 w 314"/>
                <a:gd name="T1" fmla="*/ 0 h 1"/>
                <a:gd name="T2" fmla="*/ 0 w 314"/>
                <a:gd name="T3" fmla="*/ 0 h 1"/>
                <a:gd name="T4" fmla="*/ 2 w 31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4" h="1">
                  <a:moveTo>
                    <a:pt x="314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" name="Freeform 10"/>
            <p:cNvSpPr>
              <a:spLocks noChangeArrowheads="1"/>
            </p:cNvSpPr>
            <p:nvPr/>
          </p:nvSpPr>
          <p:spPr bwMode="auto">
            <a:xfrm>
              <a:off x="480" y="3260"/>
              <a:ext cx="1" cy="213"/>
            </a:xfrm>
            <a:custGeom>
              <a:avLst/>
              <a:gdLst>
                <a:gd name="T0" fmla="*/ 0 w 2"/>
                <a:gd name="T1" fmla="*/ 637 h 637"/>
                <a:gd name="T2" fmla="*/ 0 w 2"/>
                <a:gd name="T3" fmla="*/ 0 h 637"/>
                <a:gd name="T4" fmla="*/ 2 w 2"/>
                <a:gd name="T5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637">
                  <a:moveTo>
                    <a:pt x="0" y="637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 type="none" w="sm" len="lg"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" name="Freeform 11"/>
            <p:cNvSpPr>
              <a:spLocks noChangeArrowheads="1"/>
            </p:cNvSpPr>
            <p:nvPr/>
          </p:nvSpPr>
          <p:spPr bwMode="auto">
            <a:xfrm>
              <a:off x="1139" y="3473"/>
              <a:ext cx="91" cy="1"/>
            </a:xfrm>
            <a:custGeom>
              <a:avLst/>
              <a:gdLst>
                <a:gd name="T0" fmla="*/ 0 w 274"/>
                <a:gd name="T1" fmla="*/ 0 h 1"/>
                <a:gd name="T2" fmla="*/ 273 w 274"/>
                <a:gd name="T3" fmla="*/ 0 h 1"/>
                <a:gd name="T4" fmla="*/ 274 w 27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4" h="1">
                  <a:moveTo>
                    <a:pt x="0" y="0"/>
                  </a:moveTo>
                  <a:lnTo>
                    <a:pt x="273" y="0"/>
                  </a:lnTo>
                  <a:lnTo>
                    <a:pt x="27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" name="Freeform 12"/>
            <p:cNvSpPr>
              <a:spLocks noChangeArrowheads="1"/>
            </p:cNvSpPr>
            <p:nvPr/>
          </p:nvSpPr>
          <p:spPr bwMode="auto">
            <a:xfrm>
              <a:off x="1230" y="3390"/>
              <a:ext cx="1" cy="83"/>
            </a:xfrm>
            <a:custGeom>
              <a:avLst/>
              <a:gdLst>
                <a:gd name="T0" fmla="*/ 0 w 1"/>
                <a:gd name="T1" fmla="*/ 248 h 248"/>
                <a:gd name="T2" fmla="*/ 0 w 1"/>
                <a:gd name="T3" fmla="*/ 0 h 248"/>
                <a:gd name="T4" fmla="*/ 1 w 1"/>
                <a:gd name="T5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48">
                  <a:moveTo>
                    <a:pt x="0" y="24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" name="Freeform 13"/>
            <p:cNvSpPr>
              <a:spLocks noChangeArrowheads="1"/>
            </p:cNvSpPr>
            <p:nvPr/>
          </p:nvSpPr>
          <p:spPr bwMode="auto">
            <a:xfrm>
              <a:off x="1230" y="3081"/>
              <a:ext cx="1" cy="77"/>
            </a:xfrm>
            <a:custGeom>
              <a:avLst/>
              <a:gdLst>
                <a:gd name="T0" fmla="*/ 0 w 1"/>
                <a:gd name="T1" fmla="*/ 229 h 229"/>
                <a:gd name="T2" fmla="*/ 0 w 1"/>
                <a:gd name="T3" fmla="*/ 0 h 229"/>
                <a:gd name="T4" fmla="*/ 1 w 1"/>
                <a:gd name="T5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29">
                  <a:moveTo>
                    <a:pt x="0" y="22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" name="Freeform 14"/>
            <p:cNvSpPr>
              <a:spLocks noChangeArrowheads="1"/>
            </p:cNvSpPr>
            <p:nvPr/>
          </p:nvSpPr>
          <p:spPr bwMode="auto">
            <a:xfrm>
              <a:off x="1230" y="3081"/>
              <a:ext cx="65" cy="1"/>
            </a:xfrm>
            <a:custGeom>
              <a:avLst/>
              <a:gdLst>
                <a:gd name="T0" fmla="*/ 0 w 197"/>
                <a:gd name="T1" fmla="*/ 0 h 2"/>
                <a:gd name="T2" fmla="*/ 196 w 197"/>
                <a:gd name="T3" fmla="*/ 2 h 2"/>
                <a:gd name="T4" fmla="*/ 197 w 197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2">
                  <a:moveTo>
                    <a:pt x="0" y="0"/>
                  </a:moveTo>
                  <a:lnTo>
                    <a:pt x="196" y="2"/>
                  </a:lnTo>
                  <a:lnTo>
                    <a:pt x="197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" name="Freeform 15"/>
            <p:cNvSpPr>
              <a:spLocks noChangeArrowheads="1"/>
            </p:cNvSpPr>
            <p:nvPr/>
          </p:nvSpPr>
          <p:spPr bwMode="auto">
            <a:xfrm>
              <a:off x="2443" y="2871"/>
              <a:ext cx="1" cy="211"/>
            </a:xfrm>
            <a:custGeom>
              <a:avLst/>
              <a:gdLst>
                <a:gd name="T0" fmla="*/ 0 w 1"/>
                <a:gd name="T1" fmla="*/ 635 h 635"/>
                <a:gd name="T2" fmla="*/ 0 w 1"/>
                <a:gd name="T3" fmla="*/ 0 h 635"/>
                <a:gd name="T4" fmla="*/ 1 w 1"/>
                <a:gd name="T5" fmla="*/ 0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35">
                  <a:moveTo>
                    <a:pt x="0" y="63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" name="Freeform 16"/>
            <p:cNvSpPr>
              <a:spLocks noChangeArrowheads="1"/>
            </p:cNvSpPr>
            <p:nvPr/>
          </p:nvSpPr>
          <p:spPr bwMode="auto">
            <a:xfrm>
              <a:off x="1317" y="3082"/>
              <a:ext cx="467" cy="1"/>
            </a:xfrm>
            <a:custGeom>
              <a:avLst/>
              <a:gdLst>
                <a:gd name="T0" fmla="*/ 0 w 1400"/>
                <a:gd name="T1" fmla="*/ 0 h 1"/>
                <a:gd name="T2" fmla="*/ 1399 w 1400"/>
                <a:gd name="T3" fmla="*/ 0 h 1"/>
                <a:gd name="T4" fmla="*/ 1400 w 140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0" h="1">
                  <a:moveTo>
                    <a:pt x="0" y="0"/>
                  </a:moveTo>
                  <a:lnTo>
                    <a:pt x="1399" y="0"/>
                  </a:lnTo>
                  <a:lnTo>
                    <a:pt x="140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" name="Freeform 17"/>
            <p:cNvSpPr>
              <a:spLocks noChangeArrowheads="1"/>
            </p:cNvSpPr>
            <p:nvPr/>
          </p:nvSpPr>
          <p:spPr bwMode="auto">
            <a:xfrm>
              <a:off x="1833" y="3082"/>
              <a:ext cx="23" cy="1"/>
            </a:xfrm>
            <a:custGeom>
              <a:avLst/>
              <a:gdLst>
                <a:gd name="T0" fmla="*/ 0 w 69"/>
                <a:gd name="T1" fmla="*/ 0 h 1"/>
                <a:gd name="T2" fmla="*/ 68 w 69"/>
                <a:gd name="T3" fmla="*/ 0 h 1"/>
                <a:gd name="T4" fmla="*/ 69 w 6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" h="1">
                  <a:moveTo>
                    <a:pt x="0" y="0"/>
                  </a:moveTo>
                  <a:lnTo>
                    <a:pt x="68" y="0"/>
                  </a:lnTo>
                  <a:lnTo>
                    <a:pt x="69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" name="Freeform 18"/>
            <p:cNvSpPr>
              <a:spLocks noChangeArrowheads="1"/>
            </p:cNvSpPr>
            <p:nvPr/>
          </p:nvSpPr>
          <p:spPr bwMode="auto">
            <a:xfrm>
              <a:off x="1897" y="3082"/>
              <a:ext cx="405" cy="1"/>
            </a:xfrm>
            <a:custGeom>
              <a:avLst/>
              <a:gdLst>
                <a:gd name="T0" fmla="*/ 0 w 1215"/>
                <a:gd name="T1" fmla="*/ 0 h 1"/>
                <a:gd name="T2" fmla="*/ 1213 w 1215"/>
                <a:gd name="T3" fmla="*/ 0 h 1"/>
                <a:gd name="T4" fmla="*/ 1215 w 121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15" h="1">
                  <a:moveTo>
                    <a:pt x="0" y="0"/>
                  </a:moveTo>
                  <a:lnTo>
                    <a:pt x="1213" y="0"/>
                  </a:lnTo>
                  <a:lnTo>
                    <a:pt x="1215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" name="Oval 19"/>
            <p:cNvSpPr>
              <a:spLocks noChangeArrowheads="1"/>
            </p:cNvSpPr>
            <p:nvPr/>
          </p:nvSpPr>
          <p:spPr bwMode="auto">
            <a:xfrm>
              <a:off x="736" y="3324"/>
              <a:ext cx="295" cy="292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" name="Oval 20"/>
            <p:cNvSpPr>
              <a:spLocks noChangeArrowheads="1"/>
            </p:cNvSpPr>
            <p:nvPr/>
          </p:nvSpPr>
          <p:spPr bwMode="auto">
            <a:xfrm>
              <a:off x="800" y="3390"/>
              <a:ext cx="164" cy="164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" name="Oval 21"/>
            <p:cNvSpPr>
              <a:spLocks noChangeArrowheads="1"/>
            </p:cNvSpPr>
            <p:nvPr/>
          </p:nvSpPr>
          <p:spPr bwMode="auto">
            <a:xfrm>
              <a:off x="1372" y="2723"/>
              <a:ext cx="718" cy="720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" name="Oval 22"/>
            <p:cNvSpPr>
              <a:spLocks noChangeArrowheads="1"/>
            </p:cNvSpPr>
            <p:nvPr/>
          </p:nvSpPr>
          <p:spPr bwMode="auto">
            <a:xfrm>
              <a:off x="1520" y="2873"/>
              <a:ext cx="424" cy="419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" name="Oval 23"/>
            <p:cNvSpPr>
              <a:spLocks noChangeArrowheads="1"/>
            </p:cNvSpPr>
            <p:nvPr/>
          </p:nvSpPr>
          <p:spPr bwMode="auto">
            <a:xfrm>
              <a:off x="1477" y="2835"/>
              <a:ext cx="509" cy="502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" name="Freeform 24"/>
            <p:cNvSpPr>
              <a:spLocks noChangeArrowheads="1"/>
            </p:cNvSpPr>
            <p:nvPr/>
          </p:nvSpPr>
          <p:spPr bwMode="auto">
            <a:xfrm>
              <a:off x="884" y="2795"/>
              <a:ext cx="1" cy="386"/>
            </a:xfrm>
            <a:custGeom>
              <a:avLst/>
              <a:gdLst>
                <a:gd name="T0" fmla="*/ 0 w 1"/>
                <a:gd name="T1" fmla="*/ 0 h 1156"/>
                <a:gd name="T2" fmla="*/ 0 w 1"/>
                <a:gd name="T3" fmla="*/ 1156 h 1156"/>
                <a:gd name="T4" fmla="*/ 1 w 1"/>
                <a:gd name="T5" fmla="*/ 1156 h 1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156">
                  <a:moveTo>
                    <a:pt x="0" y="0"/>
                  </a:moveTo>
                  <a:lnTo>
                    <a:pt x="0" y="1156"/>
                  </a:lnTo>
                  <a:lnTo>
                    <a:pt x="1" y="11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5" name="Freeform 25"/>
            <p:cNvSpPr>
              <a:spLocks noChangeArrowheads="1"/>
            </p:cNvSpPr>
            <p:nvPr/>
          </p:nvSpPr>
          <p:spPr bwMode="auto">
            <a:xfrm>
              <a:off x="2232" y="2913"/>
              <a:ext cx="1" cy="339"/>
            </a:xfrm>
            <a:custGeom>
              <a:avLst/>
              <a:gdLst>
                <a:gd name="T0" fmla="*/ 0 w 1"/>
                <a:gd name="T1" fmla="*/ 0 h 1018"/>
                <a:gd name="T2" fmla="*/ 0 w 1"/>
                <a:gd name="T3" fmla="*/ 1018 h 1018"/>
                <a:gd name="T4" fmla="*/ 1 w 1"/>
                <a:gd name="T5" fmla="*/ 1018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18">
                  <a:moveTo>
                    <a:pt x="0" y="0"/>
                  </a:moveTo>
                  <a:lnTo>
                    <a:pt x="0" y="1018"/>
                  </a:lnTo>
                  <a:lnTo>
                    <a:pt x="1" y="101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" name="Freeform 26"/>
            <p:cNvSpPr>
              <a:spLocks noChangeArrowheads="1"/>
            </p:cNvSpPr>
            <p:nvPr/>
          </p:nvSpPr>
          <p:spPr bwMode="auto">
            <a:xfrm>
              <a:off x="1181" y="2722"/>
              <a:ext cx="1" cy="112"/>
            </a:xfrm>
            <a:custGeom>
              <a:avLst/>
              <a:gdLst>
                <a:gd name="T0" fmla="*/ 0 w 1"/>
                <a:gd name="T1" fmla="*/ 0 h 336"/>
                <a:gd name="T2" fmla="*/ 0 w 1"/>
                <a:gd name="T3" fmla="*/ 336 h 336"/>
                <a:gd name="T4" fmla="*/ 1 w 1"/>
                <a:gd name="T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36">
                  <a:moveTo>
                    <a:pt x="0" y="0"/>
                  </a:moveTo>
                  <a:lnTo>
                    <a:pt x="0" y="336"/>
                  </a:lnTo>
                  <a:lnTo>
                    <a:pt x="1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" name="Freeform 27"/>
            <p:cNvSpPr>
              <a:spLocks noChangeArrowheads="1"/>
            </p:cNvSpPr>
            <p:nvPr/>
          </p:nvSpPr>
          <p:spPr bwMode="auto">
            <a:xfrm>
              <a:off x="1181" y="2865"/>
              <a:ext cx="1" cy="122"/>
            </a:xfrm>
            <a:custGeom>
              <a:avLst/>
              <a:gdLst>
                <a:gd name="T0" fmla="*/ 0 w 1"/>
                <a:gd name="T1" fmla="*/ 0 h 367"/>
                <a:gd name="T2" fmla="*/ 0 w 1"/>
                <a:gd name="T3" fmla="*/ 367 h 367"/>
                <a:gd name="T4" fmla="*/ 1 w 1"/>
                <a:gd name="T5" fmla="*/ 367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67">
                  <a:moveTo>
                    <a:pt x="0" y="0"/>
                  </a:moveTo>
                  <a:lnTo>
                    <a:pt x="0" y="367"/>
                  </a:lnTo>
                  <a:lnTo>
                    <a:pt x="1" y="36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" name="Freeform 28"/>
            <p:cNvSpPr>
              <a:spLocks noChangeArrowheads="1"/>
            </p:cNvSpPr>
            <p:nvPr/>
          </p:nvSpPr>
          <p:spPr bwMode="auto">
            <a:xfrm>
              <a:off x="1181" y="3017"/>
              <a:ext cx="1" cy="122"/>
            </a:xfrm>
            <a:custGeom>
              <a:avLst/>
              <a:gdLst>
                <a:gd name="T0" fmla="*/ 0 w 1"/>
                <a:gd name="T1" fmla="*/ 0 h 366"/>
                <a:gd name="T2" fmla="*/ 0 w 1"/>
                <a:gd name="T3" fmla="*/ 366 h 366"/>
                <a:gd name="T4" fmla="*/ 1 w 1"/>
                <a:gd name="T5" fmla="*/ 366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66">
                  <a:moveTo>
                    <a:pt x="0" y="0"/>
                  </a:moveTo>
                  <a:lnTo>
                    <a:pt x="0" y="366"/>
                  </a:lnTo>
                  <a:lnTo>
                    <a:pt x="1" y="36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" name="Freeform 29"/>
            <p:cNvSpPr>
              <a:spLocks noChangeArrowheads="1"/>
            </p:cNvSpPr>
            <p:nvPr/>
          </p:nvSpPr>
          <p:spPr bwMode="auto">
            <a:xfrm>
              <a:off x="1181" y="3170"/>
              <a:ext cx="1" cy="122"/>
            </a:xfrm>
            <a:custGeom>
              <a:avLst/>
              <a:gdLst>
                <a:gd name="T0" fmla="*/ 0 w 1"/>
                <a:gd name="T1" fmla="*/ 0 h 367"/>
                <a:gd name="T2" fmla="*/ 0 w 1"/>
                <a:gd name="T3" fmla="*/ 367 h 367"/>
                <a:gd name="T4" fmla="*/ 1 w 1"/>
                <a:gd name="T5" fmla="*/ 367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67">
                  <a:moveTo>
                    <a:pt x="0" y="0"/>
                  </a:moveTo>
                  <a:lnTo>
                    <a:pt x="0" y="367"/>
                  </a:lnTo>
                  <a:lnTo>
                    <a:pt x="1" y="36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" name="Freeform 30"/>
            <p:cNvSpPr>
              <a:spLocks noChangeArrowheads="1"/>
            </p:cNvSpPr>
            <p:nvPr/>
          </p:nvSpPr>
          <p:spPr bwMode="auto">
            <a:xfrm>
              <a:off x="1181" y="3323"/>
              <a:ext cx="1" cy="122"/>
            </a:xfrm>
            <a:custGeom>
              <a:avLst/>
              <a:gdLst>
                <a:gd name="T0" fmla="*/ 0 w 1"/>
                <a:gd name="T1" fmla="*/ 0 h 366"/>
                <a:gd name="T2" fmla="*/ 0 w 1"/>
                <a:gd name="T3" fmla="*/ 366 h 366"/>
                <a:gd name="T4" fmla="*/ 1 w 1"/>
                <a:gd name="T5" fmla="*/ 366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66">
                  <a:moveTo>
                    <a:pt x="0" y="0"/>
                  </a:moveTo>
                  <a:lnTo>
                    <a:pt x="0" y="366"/>
                  </a:lnTo>
                  <a:lnTo>
                    <a:pt x="1" y="36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" name="Freeform 31"/>
            <p:cNvSpPr>
              <a:spLocks noChangeArrowheads="1"/>
            </p:cNvSpPr>
            <p:nvPr/>
          </p:nvSpPr>
          <p:spPr bwMode="auto">
            <a:xfrm>
              <a:off x="1181" y="3475"/>
              <a:ext cx="1" cy="123"/>
            </a:xfrm>
            <a:custGeom>
              <a:avLst/>
              <a:gdLst>
                <a:gd name="T0" fmla="*/ 0 w 1"/>
                <a:gd name="T1" fmla="*/ 0 h 367"/>
                <a:gd name="T2" fmla="*/ 0 w 1"/>
                <a:gd name="T3" fmla="*/ 367 h 367"/>
                <a:gd name="T4" fmla="*/ 1 w 1"/>
                <a:gd name="T5" fmla="*/ 367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67">
                  <a:moveTo>
                    <a:pt x="0" y="0"/>
                  </a:moveTo>
                  <a:lnTo>
                    <a:pt x="0" y="367"/>
                  </a:lnTo>
                  <a:lnTo>
                    <a:pt x="1" y="36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" name="Freeform 32"/>
            <p:cNvSpPr>
              <a:spLocks noChangeArrowheads="1"/>
            </p:cNvSpPr>
            <p:nvPr/>
          </p:nvSpPr>
          <p:spPr bwMode="auto">
            <a:xfrm>
              <a:off x="1181" y="3628"/>
              <a:ext cx="1" cy="112"/>
            </a:xfrm>
            <a:custGeom>
              <a:avLst/>
              <a:gdLst>
                <a:gd name="T0" fmla="*/ 0 w 1"/>
                <a:gd name="T1" fmla="*/ 0 h 337"/>
                <a:gd name="T2" fmla="*/ 0 w 1"/>
                <a:gd name="T3" fmla="*/ 337 h 337"/>
                <a:gd name="T4" fmla="*/ 1 w 1"/>
                <a:gd name="T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37">
                  <a:moveTo>
                    <a:pt x="0" y="0"/>
                  </a:moveTo>
                  <a:lnTo>
                    <a:pt x="0" y="337"/>
                  </a:lnTo>
                  <a:lnTo>
                    <a:pt x="1" y="33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" name="Freeform 33"/>
            <p:cNvSpPr>
              <a:spLocks noChangeArrowheads="1"/>
            </p:cNvSpPr>
            <p:nvPr/>
          </p:nvSpPr>
          <p:spPr bwMode="auto">
            <a:xfrm>
              <a:off x="630" y="2764"/>
              <a:ext cx="1" cy="933"/>
            </a:xfrm>
            <a:custGeom>
              <a:avLst/>
              <a:gdLst>
                <a:gd name="T0" fmla="*/ 0 w 1"/>
                <a:gd name="T1" fmla="*/ 0 h 2799"/>
                <a:gd name="T2" fmla="*/ 0 w 1"/>
                <a:gd name="T3" fmla="*/ 2799 h 2799"/>
                <a:gd name="T4" fmla="*/ 1 w 1"/>
                <a:gd name="T5" fmla="*/ 2799 h 2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99">
                  <a:moveTo>
                    <a:pt x="0" y="0"/>
                  </a:moveTo>
                  <a:lnTo>
                    <a:pt x="0" y="2799"/>
                  </a:lnTo>
                  <a:lnTo>
                    <a:pt x="1" y="279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" name="Freeform 34"/>
            <p:cNvSpPr>
              <a:spLocks noChangeArrowheads="1"/>
            </p:cNvSpPr>
            <p:nvPr/>
          </p:nvSpPr>
          <p:spPr bwMode="auto">
            <a:xfrm>
              <a:off x="1181" y="3409"/>
              <a:ext cx="704" cy="331"/>
            </a:xfrm>
            <a:custGeom>
              <a:avLst/>
              <a:gdLst>
                <a:gd name="T0" fmla="*/ 0 w 2114"/>
                <a:gd name="T1" fmla="*/ 995 h 995"/>
                <a:gd name="T2" fmla="*/ 2112 w 2114"/>
                <a:gd name="T3" fmla="*/ 0 h 995"/>
                <a:gd name="T4" fmla="*/ 2114 w 2114"/>
                <a:gd name="T5" fmla="*/ 0 h 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4" h="995">
                  <a:moveTo>
                    <a:pt x="0" y="995"/>
                  </a:moveTo>
                  <a:lnTo>
                    <a:pt x="2112" y="0"/>
                  </a:lnTo>
                  <a:lnTo>
                    <a:pt x="211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" name="Freeform 35"/>
            <p:cNvSpPr>
              <a:spLocks noChangeArrowheads="1"/>
            </p:cNvSpPr>
            <p:nvPr/>
          </p:nvSpPr>
          <p:spPr bwMode="auto">
            <a:xfrm>
              <a:off x="883" y="3283"/>
              <a:ext cx="1" cy="394"/>
            </a:xfrm>
            <a:custGeom>
              <a:avLst/>
              <a:gdLst>
                <a:gd name="T0" fmla="*/ 1 w 1"/>
                <a:gd name="T1" fmla="*/ 0 h 394"/>
                <a:gd name="T2" fmla="*/ 0 w 1"/>
                <a:gd name="T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94">
                  <a:moveTo>
                    <a:pt x="1" y="0"/>
                  </a:moveTo>
                  <a:lnTo>
                    <a:pt x="0" y="39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6" name="Freeform 36"/>
            <p:cNvSpPr>
              <a:spLocks noChangeArrowheads="1"/>
            </p:cNvSpPr>
            <p:nvPr/>
          </p:nvSpPr>
          <p:spPr bwMode="auto">
            <a:xfrm>
              <a:off x="672" y="3740"/>
              <a:ext cx="509" cy="1"/>
            </a:xfrm>
            <a:custGeom>
              <a:avLst/>
              <a:gdLst>
                <a:gd name="T0" fmla="*/ 1526 w 1526"/>
                <a:gd name="T1" fmla="*/ 0 h 1"/>
                <a:gd name="T2" fmla="*/ 0 w 1526"/>
                <a:gd name="T3" fmla="*/ 0 h 1"/>
                <a:gd name="T4" fmla="*/ 1 w 152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6" h="1">
                  <a:moveTo>
                    <a:pt x="1526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" name="Freeform 37"/>
            <p:cNvSpPr>
              <a:spLocks noChangeArrowheads="1"/>
            </p:cNvSpPr>
            <p:nvPr/>
          </p:nvSpPr>
          <p:spPr bwMode="auto">
            <a:xfrm>
              <a:off x="628" y="3686"/>
              <a:ext cx="44" cy="54"/>
            </a:xfrm>
            <a:custGeom>
              <a:avLst/>
              <a:gdLst>
                <a:gd name="T0" fmla="*/ 0 w 44"/>
                <a:gd name="T1" fmla="*/ 0 h 54"/>
                <a:gd name="T2" fmla="*/ 9 w 44"/>
                <a:gd name="T3" fmla="*/ 39 h 54"/>
                <a:gd name="T4" fmla="*/ 44 w 44"/>
                <a:gd name="T5" fmla="*/ 54 h 54"/>
                <a:gd name="T6" fmla="*/ 44 w 44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54">
                  <a:moveTo>
                    <a:pt x="0" y="0"/>
                  </a:moveTo>
                  <a:lnTo>
                    <a:pt x="9" y="39"/>
                  </a:lnTo>
                  <a:lnTo>
                    <a:pt x="44" y="5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8" name="Freeform 38"/>
            <p:cNvSpPr>
              <a:spLocks noChangeArrowheads="1"/>
            </p:cNvSpPr>
            <p:nvPr/>
          </p:nvSpPr>
          <p:spPr bwMode="auto">
            <a:xfrm>
              <a:off x="690" y="3473"/>
              <a:ext cx="407" cy="1"/>
            </a:xfrm>
            <a:custGeom>
              <a:avLst/>
              <a:gdLst>
                <a:gd name="T0" fmla="*/ 0 w 1220"/>
                <a:gd name="T1" fmla="*/ 0 h 1"/>
                <a:gd name="T2" fmla="*/ 1219 w 1220"/>
                <a:gd name="T3" fmla="*/ 0 h 1"/>
                <a:gd name="T4" fmla="*/ 1220 w 122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0" h="1">
                  <a:moveTo>
                    <a:pt x="0" y="0"/>
                  </a:moveTo>
                  <a:lnTo>
                    <a:pt x="1219" y="0"/>
                  </a:lnTo>
                  <a:lnTo>
                    <a:pt x="122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" name="Freeform 39"/>
            <p:cNvSpPr>
              <a:spLocks noChangeArrowheads="1"/>
            </p:cNvSpPr>
            <p:nvPr/>
          </p:nvSpPr>
          <p:spPr bwMode="auto">
            <a:xfrm>
              <a:off x="673" y="2999"/>
              <a:ext cx="424" cy="1"/>
            </a:xfrm>
            <a:custGeom>
              <a:avLst/>
              <a:gdLst>
                <a:gd name="T0" fmla="*/ 0 w 1271"/>
                <a:gd name="T1" fmla="*/ 0 h 1"/>
                <a:gd name="T2" fmla="*/ 1270 w 1271"/>
                <a:gd name="T3" fmla="*/ 0 h 1"/>
                <a:gd name="T4" fmla="*/ 1271 w 127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71" h="1">
                  <a:moveTo>
                    <a:pt x="0" y="0"/>
                  </a:moveTo>
                  <a:lnTo>
                    <a:pt x="1270" y="0"/>
                  </a:lnTo>
                  <a:lnTo>
                    <a:pt x="127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0" name="Freeform 40"/>
            <p:cNvSpPr>
              <a:spLocks noChangeArrowheads="1"/>
            </p:cNvSpPr>
            <p:nvPr/>
          </p:nvSpPr>
          <p:spPr bwMode="auto">
            <a:xfrm>
              <a:off x="1732" y="2652"/>
              <a:ext cx="1" cy="490"/>
            </a:xfrm>
            <a:custGeom>
              <a:avLst/>
              <a:gdLst>
                <a:gd name="T0" fmla="*/ 0 w 1"/>
                <a:gd name="T1" fmla="*/ 0 h 1472"/>
                <a:gd name="T2" fmla="*/ 0 w 1"/>
                <a:gd name="T3" fmla="*/ 1472 h 1472"/>
                <a:gd name="T4" fmla="*/ 1 w 1"/>
                <a:gd name="T5" fmla="*/ 1472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72">
                  <a:moveTo>
                    <a:pt x="0" y="0"/>
                  </a:moveTo>
                  <a:lnTo>
                    <a:pt x="0" y="1472"/>
                  </a:lnTo>
                  <a:lnTo>
                    <a:pt x="1" y="147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1" name="Freeform 41"/>
            <p:cNvSpPr>
              <a:spLocks noChangeArrowheads="1"/>
            </p:cNvSpPr>
            <p:nvPr/>
          </p:nvSpPr>
          <p:spPr bwMode="auto">
            <a:xfrm>
              <a:off x="1732" y="3245"/>
              <a:ext cx="1" cy="278"/>
            </a:xfrm>
            <a:custGeom>
              <a:avLst/>
              <a:gdLst>
                <a:gd name="T0" fmla="*/ 0 w 1"/>
                <a:gd name="T1" fmla="*/ 0 h 834"/>
                <a:gd name="T2" fmla="*/ 0 w 1"/>
                <a:gd name="T3" fmla="*/ 834 h 834"/>
                <a:gd name="T4" fmla="*/ 1 w 1"/>
                <a:gd name="T5" fmla="*/ 834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34">
                  <a:moveTo>
                    <a:pt x="0" y="0"/>
                  </a:moveTo>
                  <a:lnTo>
                    <a:pt x="0" y="834"/>
                  </a:lnTo>
                  <a:lnTo>
                    <a:pt x="1" y="83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2" name="Freeform 42"/>
            <p:cNvSpPr>
              <a:spLocks noChangeArrowheads="1"/>
            </p:cNvSpPr>
            <p:nvPr/>
          </p:nvSpPr>
          <p:spPr bwMode="auto">
            <a:xfrm>
              <a:off x="1732" y="3184"/>
              <a:ext cx="1" cy="19"/>
            </a:xfrm>
            <a:custGeom>
              <a:avLst/>
              <a:gdLst>
                <a:gd name="T0" fmla="*/ 0 w 1"/>
                <a:gd name="T1" fmla="*/ 0 h 56"/>
                <a:gd name="T2" fmla="*/ 0 w 1"/>
                <a:gd name="T3" fmla="*/ 56 h 56"/>
                <a:gd name="T4" fmla="*/ 1 w 1"/>
                <a:gd name="T5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6">
                  <a:moveTo>
                    <a:pt x="0" y="0"/>
                  </a:moveTo>
                  <a:lnTo>
                    <a:pt x="0" y="56"/>
                  </a:lnTo>
                  <a:lnTo>
                    <a:pt x="1" y="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3" name="Freeform 43"/>
            <p:cNvSpPr>
              <a:spLocks noChangeArrowheads="1"/>
            </p:cNvSpPr>
            <p:nvPr/>
          </p:nvSpPr>
          <p:spPr bwMode="auto">
            <a:xfrm>
              <a:off x="2189" y="3230"/>
              <a:ext cx="44" cy="65"/>
            </a:xfrm>
            <a:custGeom>
              <a:avLst/>
              <a:gdLst>
                <a:gd name="T0" fmla="*/ 0 w 44"/>
                <a:gd name="T1" fmla="*/ 65 h 65"/>
                <a:gd name="T2" fmla="*/ 30 w 44"/>
                <a:gd name="T3" fmla="*/ 53 h 65"/>
                <a:gd name="T4" fmla="*/ 41 w 44"/>
                <a:gd name="T5" fmla="*/ 33 h 65"/>
                <a:gd name="T6" fmla="*/ 44 w 44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65">
                  <a:moveTo>
                    <a:pt x="0" y="65"/>
                  </a:moveTo>
                  <a:lnTo>
                    <a:pt x="30" y="53"/>
                  </a:lnTo>
                  <a:lnTo>
                    <a:pt x="41" y="33"/>
                  </a:lnTo>
                  <a:lnTo>
                    <a:pt x="4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4" name="Freeform 44"/>
            <p:cNvSpPr>
              <a:spLocks noChangeArrowheads="1"/>
            </p:cNvSpPr>
            <p:nvPr/>
          </p:nvSpPr>
          <p:spPr bwMode="auto">
            <a:xfrm>
              <a:off x="2023" y="3295"/>
              <a:ext cx="167" cy="1"/>
            </a:xfrm>
            <a:custGeom>
              <a:avLst/>
              <a:gdLst>
                <a:gd name="T0" fmla="*/ 0 w 501"/>
                <a:gd name="T1" fmla="*/ 0 h 1"/>
                <a:gd name="T2" fmla="*/ 500 w 501"/>
                <a:gd name="T3" fmla="*/ 0 h 1"/>
                <a:gd name="T4" fmla="*/ 501 w 50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1" h="1">
                  <a:moveTo>
                    <a:pt x="0" y="0"/>
                  </a:moveTo>
                  <a:lnTo>
                    <a:pt x="500" y="0"/>
                  </a:lnTo>
                  <a:lnTo>
                    <a:pt x="50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5" name="Freeform 45"/>
            <p:cNvSpPr>
              <a:spLocks noChangeArrowheads="1"/>
            </p:cNvSpPr>
            <p:nvPr/>
          </p:nvSpPr>
          <p:spPr bwMode="auto">
            <a:xfrm>
              <a:off x="672" y="2722"/>
              <a:ext cx="1060" cy="1"/>
            </a:xfrm>
            <a:custGeom>
              <a:avLst/>
              <a:gdLst>
                <a:gd name="T0" fmla="*/ 3179 w 3179"/>
                <a:gd name="T1" fmla="*/ 0 h 1"/>
                <a:gd name="T2" fmla="*/ 0 w 3179"/>
                <a:gd name="T3" fmla="*/ 0 h 1"/>
                <a:gd name="T4" fmla="*/ 1 w 317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79" h="1">
                  <a:moveTo>
                    <a:pt x="3179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6" name="Freeform 46"/>
            <p:cNvSpPr>
              <a:spLocks noChangeArrowheads="1"/>
            </p:cNvSpPr>
            <p:nvPr/>
          </p:nvSpPr>
          <p:spPr bwMode="auto">
            <a:xfrm>
              <a:off x="630" y="2722"/>
              <a:ext cx="42" cy="42"/>
            </a:xfrm>
            <a:custGeom>
              <a:avLst/>
              <a:gdLst>
                <a:gd name="T0" fmla="*/ 127 w 127"/>
                <a:gd name="T1" fmla="*/ 0 h 127"/>
                <a:gd name="T2" fmla="*/ 36 w 127"/>
                <a:gd name="T3" fmla="*/ 38 h 127"/>
                <a:gd name="T4" fmla="*/ 0 w 127"/>
                <a:gd name="T5" fmla="*/ 127 h 127"/>
                <a:gd name="T6" fmla="*/ 1 w 127"/>
                <a:gd name="T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127">
                  <a:moveTo>
                    <a:pt x="127" y="0"/>
                  </a:moveTo>
                  <a:lnTo>
                    <a:pt x="36" y="38"/>
                  </a:lnTo>
                  <a:lnTo>
                    <a:pt x="0" y="127"/>
                  </a:lnTo>
                  <a:lnTo>
                    <a:pt x="1" y="12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7" name="Freeform 47"/>
            <p:cNvSpPr>
              <a:spLocks noChangeArrowheads="1"/>
            </p:cNvSpPr>
            <p:nvPr/>
          </p:nvSpPr>
          <p:spPr bwMode="auto">
            <a:xfrm>
              <a:off x="2023" y="2871"/>
              <a:ext cx="167" cy="1"/>
            </a:xfrm>
            <a:custGeom>
              <a:avLst/>
              <a:gdLst>
                <a:gd name="T0" fmla="*/ 0 w 501"/>
                <a:gd name="T1" fmla="*/ 0 h 1"/>
                <a:gd name="T2" fmla="*/ 500 w 501"/>
                <a:gd name="T3" fmla="*/ 0 h 1"/>
                <a:gd name="T4" fmla="*/ 501 w 50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1" h="1">
                  <a:moveTo>
                    <a:pt x="0" y="0"/>
                  </a:moveTo>
                  <a:lnTo>
                    <a:pt x="500" y="0"/>
                  </a:lnTo>
                  <a:lnTo>
                    <a:pt x="50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8" name="Freeform 48"/>
            <p:cNvSpPr>
              <a:spLocks noChangeArrowheads="1"/>
            </p:cNvSpPr>
            <p:nvPr/>
          </p:nvSpPr>
          <p:spPr bwMode="auto">
            <a:xfrm>
              <a:off x="2182" y="2867"/>
              <a:ext cx="50" cy="46"/>
            </a:xfrm>
            <a:custGeom>
              <a:avLst/>
              <a:gdLst>
                <a:gd name="T0" fmla="*/ 50 w 50"/>
                <a:gd name="T1" fmla="*/ 46 h 46"/>
                <a:gd name="T2" fmla="*/ 37 w 50"/>
                <a:gd name="T3" fmla="*/ 16 h 46"/>
                <a:gd name="T4" fmla="*/ 21 w 50"/>
                <a:gd name="T5" fmla="*/ 3 h 46"/>
                <a:gd name="T6" fmla="*/ 0 w 50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46">
                  <a:moveTo>
                    <a:pt x="50" y="46"/>
                  </a:moveTo>
                  <a:lnTo>
                    <a:pt x="37" y="16"/>
                  </a:lnTo>
                  <a:lnTo>
                    <a:pt x="21" y="3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9" name="Oval 49"/>
            <p:cNvSpPr>
              <a:spLocks noChangeArrowheads="1"/>
            </p:cNvSpPr>
            <p:nvPr/>
          </p:nvSpPr>
          <p:spPr bwMode="auto">
            <a:xfrm>
              <a:off x="735" y="2850"/>
              <a:ext cx="295" cy="292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0" name="Oval 50"/>
            <p:cNvSpPr>
              <a:spLocks noChangeArrowheads="1"/>
            </p:cNvSpPr>
            <p:nvPr/>
          </p:nvSpPr>
          <p:spPr bwMode="auto">
            <a:xfrm>
              <a:off x="802" y="2913"/>
              <a:ext cx="164" cy="164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sp>
        <p:nvSpPr>
          <p:cNvPr id="51" name="Rectangle 51"/>
          <p:cNvSpPr>
            <a:spLocks noChangeArrowheads="1"/>
          </p:cNvSpPr>
          <p:nvPr/>
        </p:nvSpPr>
        <p:spPr bwMode="auto">
          <a:xfrm>
            <a:off x="3943350" y="1543050"/>
            <a:ext cx="96678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i="1">
                <a:solidFill>
                  <a:schemeClr val="tx2"/>
                </a:solidFill>
                <a:latin typeface="Times New Roman" panose="02020603050405020304" pitchFamily="18" charset="0"/>
              </a:rPr>
              <a:t>A</a:t>
            </a:r>
            <a:r>
              <a:rPr lang="zh-CN" altLang="en-US">
                <a:solidFill>
                  <a:schemeClr val="tx2"/>
                </a:solidFill>
                <a:latin typeface="Times New Roman" panose="02020603050405020304" pitchFamily="18" charset="0"/>
              </a:rPr>
              <a:t>－</a:t>
            </a:r>
            <a:r>
              <a:rPr lang="en-US" altLang="zh-CN" i="1">
                <a:solidFill>
                  <a:schemeClr val="tx2"/>
                </a:solidFill>
                <a:latin typeface="Times New Roman" panose="02020603050405020304" pitchFamily="18" charset="0"/>
              </a:rPr>
              <a:t>A</a:t>
            </a:r>
            <a:endParaRPr lang="en-US" altLang="zh-CN">
              <a:solidFill>
                <a:schemeClr val="tx2"/>
              </a:solidFill>
              <a:latin typeface="Times New Roman" panose="02020603050405020304" pitchFamily="18" charset="0"/>
            </a:endParaRPr>
          </a:p>
        </p:txBody>
      </p:sp>
      <p:sp>
        <p:nvSpPr>
          <p:cNvPr id="52" name="Freeform 52"/>
          <p:cNvSpPr>
            <a:spLocks noChangeArrowheads="1"/>
          </p:cNvSpPr>
          <p:nvPr/>
        </p:nvSpPr>
        <p:spPr bwMode="auto">
          <a:xfrm>
            <a:off x="4813300" y="2174876"/>
            <a:ext cx="1588" cy="688975"/>
          </a:xfrm>
          <a:custGeom>
            <a:avLst/>
            <a:gdLst>
              <a:gd name="T0" fmla="*/ 0 w 1"/>
              <a:gd name="T1" fmla="*/ 1303 h 1303"/>
              <a:gd name="T2" fmla="*/ 0 w 1"/>
              <a:gd name="T3" fmla="*/ 0 h 1303"/>
              <a:gd name="T4" fmla="*/ 1 w 1"/>
              <a:gd name="T5" fmla="*/ 0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303">
                <a:moveTo>
                  <a:pt x="0" y="1303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53" name="Freeform 53"/>
          <p:cNvSpPr>
            <a:spLocks noChangeArrowheads="1"/>
          </p:cNvSpPr>
          <p:nvPr/>
        </p:nvSpPr>
        <p:spPr bwMode="auto">
          <a:xfrm>
            <a:off x="4133850" y="2165351"/>
            <a:ext cx="7938" cy="1236663"/>
          </a:xfrm>
          <a:custGeom>
            <a:avLst/>
            <a:gdLst>
              <a:gd name="T0" fmla="*/ 0 w 5"/>
              <a:gd name="T1" fmla="*/ 779 h 779"/>
              <a:gd name="T2" fmla="*/ 0 w 5"/>
              <a:gd name="T3" fmla="*/ 0 h 779"/>
              <a:gd name="T4" fmla="*/ 5 w 5"/>
              <a:gd name="T5" fmla="*/ 6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" h="779">
                <a:moveTo>
                  <a:pt x="0" y="779"/>
                </a:moveTo>
                <a:lnTo>
                  <a:pt x="0" y="0"/>
                </a:lnTo>
                <a:lnTo>
                  <a:pt x="5" y="6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54" name="Freeform 54"/>
          <p:cNvSpPr>
            <a:spLocks noChangeArrowheads="1"/>
          </p:cNvSpPr>
          <p:nvPr/>
        </p:nvSpPr>
        <p:spPr bwMode="auto">
          <a:xfrm>
            <a:off x="2995614" y="3168650"/>
            <a:ext cx="1587" cy="285750"/>
          </a:xfrm>
          <a:custGeom>
            <a:avLst/>
            <a:gdLst>
              <a:gd name="T0" fmla="*/ 0 w 2"/>
              <a:gd name="T1" fmla="*/ 540 h 540"/>
              <a:gd name="T2" fmla="*/ 0 w 2"/>
              <a:gd name="T3" fmla="*/ 0 h 540"/>
              <a:gd name="T4" fmla="*/ 2 w 2"/>
              <a:gd name="T5" fmla="*/ 0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540">
                <a:moveTo>
                  <a:pt x="0" y="540"/>
                </a:moveTo>
                <a:lnTo>
                  <a:pt x="0" y="0"/>
                </a:lnTo>
                <a:lnTo>
                  <a:pt x="2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55" name="Freeform 55"/>
          <p:cNvSpPr>
            <a:spLocks noChangeArrowheads="1"/>
          </p:cNvSpPr>
          <p:nvPr/>
        </p:nvSpPr>
        <p:spPr bwMode="auto">
          <a:xfrm>
            <a:off x="3265489" y="3168650"/>
            <a:ext cx="1587" cy="285750"/>
          </a:xfrm>
          <a:custGeom>
            <a:avLst/>
            <a:gdLst>
              <a:gd name="T0" fmla="*/ 0 w 1"/>
              <a:gd name="T1" fmla="*/ 540 h 540"/>
              <a:gd name="T2" fmla="*/ 0 w 1"/>
              <a:gd name="T3" fmla="*/ 0 h 540"/>
              <a:gd name="T4" fmla="*/ 1 w 1"/>
              <a:gd name="T5" fmla="*/ 0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540">
                <a:moveTo>
                  <a:pt x="0" y="54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56" name="Freeform 56"/>
          <p:cNvSpPr>
            <a:spLocks noChangeArrowheads="1"/>
          </p:cNvSpPr>
          <p:nvPr/>
        </p:nvSpPr>
        <p:spPr bwMode="auto">
          <a:xfrm>
            <a:off x="2894014" y="3168650"/>
            <a:ext cx="471487" cy="1588"/>
          </a:xfrm>
          <a:custGeom>
            <a:avLst/>
            <a:gdLst>
              <a:gd name="T0" fmla="*/ 0 w 891"/>
              <a:gd name="T1" fmla="*/ 0 h 1588"/>
              <a:gd name="T2" fmla="*/ 890 w 891"/>
              <a:gd name="T3" fmla="*/ 0 h 1588"/>
              <a:gd name="T4" fmla="*/ 891 w 891"/>
              <a:gd name="T5" fmla="*/ 0 h 1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91" h="1588">
                <a:moveTo>
                  <a:pt x="0" y="0"/>
                </a:moveTo>
                <a:lnTo>
                  <a:pt x="890" y="0"/>
                </a:lnTo>
                <a:lnTo>
                  <a:pt x="891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57" name="Freeform 57"/>
          <p:cNvSpPr>
            <a:spLocks noChangeArrowheads="1"/>
          </p:cNvSpPr>
          <p:nvPr/>
        </p:nvSpPr>
        <p:spPr bwMode="auto">
          <a:xfrm>
            <a:off x="2894014" y="2982914"/>
            <a:ext cx="1587" cy="185737"/>
          </a:xfrm>
          <a:custGeom>
            <a:avLst/>
            <a:gdLst>
              <a:gd name="T0" fmla="*/ 0 w 1"/>
              <a:gd name="T1" fmla="*/ 351 h 351"/>
              <a:gd name="T2" fmla="*/ 0 w 1"/>
              <a:gd name="T3" fmla="*/ 0 h 351"/>
              <a:gd name="T4" fmla="*/ 1 w 1"/>
              <a:gd name="T5" fmla="*/ 0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351">
                <a:moveTo>
                  <a:pt x="0" y="35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58" name="Freeform 58"/>
          <p:cNvSpPr>
            <a:spLocks noChangeArrowheads="1"/>
          </p:cNvSpPr>
          <p:nvPr/>
        </p:nvSpPr>
        <p:spPr bwMode="auto">
          <a:xfrm>
            <a:off x="3365500" y="2982914"/>
            <a:ext cx="1588" cy="185737"/>
          </a:xfrm>
          <a:custGeom>
            <a:avLst/>
            <a:gdLst>
              <a:gd name="T0" fmla="*/ 0 w 1"/>
              <a:gd name="T1" fmla="*/ 351 h 351"/>
              <a:gd name="T2" fmla="*/ 0 w 1"/>
              <a:gd name="T3" fmla="*/ 0 h 351"/>
              <a:gd name="T4" fmla="*/ 1 w 1"/>
              <a:gd name="T5" fmla="*/ 0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351">
                <a:moveTo>
                  <a:pt x="0" y="35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59" name="Freeform 59"/>
          <p:cNvSpPr>
            <a:spLocks noChangeArrowheads="1"/>
          </p:cNvSpPr>
          <p:nvPr/>
        </p:nvSpPr>
        <p:spPr bwMode="auto">
          <a:xfrm>
            <a:off x="4813300" y="3133725"/>
            <a:ext cx="457200" cy="1588"/>
          </a:xfrm>
          <a:custGeom>
            <a:avLst/>
            <a:gdLst>
              <a:gd name="T0" fmla="*/ 864 w 864"/>
              <a:gd name="T1" fmla="*/ 0 h 1588"/>
              <a:gd name="T2" fmla="*/ 0 w 864"/>
              <a:gd name="T3" fmla="*/ 0 h 1588"/>
              <a:gd name="T4" fmla="*/ 1 w 864"/>
              <a:gd name="T5" fmla="*/ 0 h 1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64" h="1588">
                <a:moveTo>
                  <a:pt x="864" y="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60" name="Freeform 60"/>
          <p:cNvSpPr>
            <a:spLocks noChangeArrowheads="1"/>
          </p:cNvSpPr>
          <p:nvPr/>
        </p:nvSpPr>
        <p:spPr bwMode="auto">
          <a:xfrm>
            <a:off x="4792664" y="2862264"/>
            <a:ext cx="477837" cy="1587"/>
          </a:xfrm>
          <a:custGeom>
            <a:avLst/>
            <a:gdLst>
              <a:gd name="T0" fmla="*/ 301 w 301"/>
              <a:gd name="T1" fmla="*/ 1 h 1"/>
              <a:gd name="T2" fmla="*/ 0 w 301"/>
              <a:gd name="T3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301" h="1">
                <a:moveTo>
                  <a:pt x="301" y="1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61" name="Freeform 61"/>
          <p:cNvSpPr>
            <a:spLocks noChangeArrowheads="1"/>
          </p:cNvSpPr>
          <p:nvPr/>
        </p:nvSpPr>
        <p:spPr bwMode="auto">
          <a:xfrm>
            <a:off x="4784726" y="2863851"/>
            <a:ext cx="28575" cy="269875"/>
          </a:xfrm>
          <a:custGeom>
            <a:avLst/>
            <a:gdLst>
              <a:gd name="T0" fmla="*/ 54 w 55"/>
              <a:gd name="T1" fmla="*/ 0 h 509"/>
              <a:gd name="T2" fmla="*/ 0 w 55"/>
              <a:gd name="T3" fmla="*/ 255 h 509"/>
              <a:gd name="T4" fmla="*/ 54 w 55"/>
              <a:gd name="T5" fmla="*/ 509 h 509"/>
              <a:gd name="T6" fmla="*/ 55 w 55"/>
              <a:gd name="T7" fmla="*/ 50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5" h="509">
                <a:moveTo>
                  <a:pt x="54" y="0"/>
                </a:moveTo>
                <a:lnTo>
                  <a:pt x="0" y="255"/>
                </a:lnTo>
                <a:lnTo>
                  <a:pt x="54" y="509"/>
                </a:lnTo>
                <a:lnTo>
                  <a:pt x="55" y="509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62" name="Freeform 62"/>
          <p:cNvSpPr>
            <a:spLocks noChangeArrowheads="1"/>
          </p:cNvSpPr>
          <p:nvPr/>
        </p:nvSpPr>
        <p:spPr bwMode="auto">
          <a:xfrm>
            <a:off x="4813300" y="3133726"/>
            <a:ext cx="1588" cy="257175"/>
          </a:xfrm>
          <a:custGeom>
            <a:avLst/>
            <a:gdLst>
              <a:gd name="T0" fmla="*/ 0 w 1"/>
              <a:gd name="T1" fmla="*/ 162 h 162"/>
              <a:gd name="T2" fmla="*/ 0 w 1"/>
              <a:gd name="T3" fmla="*/ 2 h 162"/>
              <a:gd name="T4" fmla="*/ 1 w 1"/>
              <a:gd name="T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62">
                <a:moveTo>
                  <a:pt x="0" y="162"/>
                </a:moveTo>
                <a:lnTo>
                  <a:pt x="0" y="2"/>
                </a:lnTo>
                <a:lnTo>
                  <a:pt x="1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63" name="Freeform 63"/>
          <p:cNvSpPr>
            <a:spLocks noChangeArrowheads="1"/>
          </p:cNvSpPr>
          <p:nvPr/>
        </p:nvSpPr>
        <p:spPr bwMode="auto">
          <a:xfrm>
            <a:off x="4140200" y="2174875"/>
            <a:ext cx="673100" cy="1588"/>
          </a:xfrm>
          <a:custGeom>
            <a:avLst/>
            <a:gdLst>
              <a:gd name="T0" fmla="*/ 0 w 1273"/>
              <a:gd name="T1" fmla="*/ 0 h 1588"/>
              <a:gd name="T2" fmla="*/ 1272 w 1273"/>
              <a:gd name="T3" fmla="*/ 0 h 1588"/>
              <a:gd name="T4" fmla="*/ 1273 w 1273"/>
              <a:gd name="T5" fmla="*/ 0 h 1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73" h="1588">
                <a:moveTo>
                  <a:pt x="0" y="0"/>
                </a:moveTo>
                <a:lnTo>
                  <a:pt x="1272" y="0"/>
                </a:lnTo>
                <a:lnTo>
                  <a:pt x="1273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64" name="Freeform 64"/>
          <p:cNvSpPr>
            <a:spLocks noChangeArrowheads="1"/>
          </p:cNvSpPr>
          <p:nvPr/>
        </p:nvSpPr>
        <p:spPr bwMode="auto">
          <a:xfrm>
            <a:off x="4071938" y="2106613"/>
            <a:ext cx="68262" cy="68262"/>
          </a:xfrm>
          <a:custGeom>
            <a:avLst/>
            <a:gdLst>
              <a:gd name="T0" fmla="*/ 0 w 128"/>
              <a:gd name="T1" fmla="*/ 0 h 128"/>
              <a:gd name="T2" fmla="*/ 127 w 128"/>
              <a:gd name="T3" fmla="*/ 128 h 128"/>
              <a:gd name="T4" fmla="*/ 128 w 128"/>
              <a:gd name="T5" fmla="*/ 12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8" h="128">
                <a:moveTo>
                  <a:pt x="0" y="0"/>
                </a:moveTo>
                <a:lnTo>
                  <a:pt x="127" y="128"/>
                </a:lnTo>
                <a:lnTo>
                  <a:pt x="128" y="128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65" name="Freeform 65"/>
          <p:cNvSpPr>
            <a:spLocks noChangeArrowheads="1"/>
          </p:cNvSpPr>
          <p:nvPr/>
        </p:nvSpPr>
        <p:spPr bwMode="auto">
          <a:xfrm>
            <a:off x="4813301" y="2106613"/>
            <a:ext cx="66675" cy="68262"/>
          </a:xfrm>
          <a:custGeom>
            <a:avLst/>
            <a:gdLst>
              <a:gd name="T0" fmla="*/ 0 w 128"/>
              <a:gd name="T1" fmla="*/ 128 h 128"/>
              <a:gd name="T2" fmla="*/ 127 w 128"/>
              <a:gd name="T3" fmla="*/ 0 h 128"/>
              <a:gd name="T4" fmla="*/ 128 w 128"/>
              <a:gd name="T5" fmla="*/ 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8" h="128">
                <a:moveTo>
                  <a:pt x="0" y="128"/>
                </a:moveTo>
                <a:lnTo>
                  <a:pt x="127" y="0"/>
                </a:lnTo>
                <a:lnTo>
                  <a:pt x="128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66" name="Freeform 66"/>
          <p:cNvSpPr>
            <a:spLocks noChangeArrowheads="1"/>
          </p:cNvSpPr>
          <p:nvPr/>
        </p:nvSpPr>
        <p:spPr bwMode="auto">
          <a:xfrm>
            <a:off x="3919538" y="3165476"/>
            <a:ext cx="220662" cy="220663"/>
          </a:xfrm>
          <a:custGeom>
            <a:avLst/>
            <a:gdLst>
              <a:gd name="T0" fmla="*/ 0 w 418"/>
              <a:gd name="T1" fmla="*/ 418 h 418"/>
              <a:gd name="T2" fmla="*/ 417 w 418"/>
              <a:gd name="T3" fmla="*/ 0 h 418"/>
              <a:gd name="T4" fmla="*/ 418 w 418"/>
              <a:gd name="T5" fmla="*/ 0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18" h="418">
                <a:moveTo>
                  <a:pt x="0" y="418"/>
                </a:moveTo>
                <a:lnTo>
                  <a:pt x="417" y="0"/>
                </a:lnTo>
                <a:lnTo>
                  <a:pt x="418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67" name="Freeform 67"/>
          <p:cNvSpPr>
            <a:spLocks noChangeArrowheads="1"/>
          </p:cNvSpPr>
          <p:nvPr/>
        </p:nvSpPr>
        <p:spPr bwMode="auto">
          <a:xfrm>
            <a:off x="2727326" y="2982914"/>
            <a:ext cx="85725" cy="85725"/>
          </a:xfrm>
          <a:custGeom>
            <a:avLst/>
            <a:gdLst>
              <a:gd name="T0" fmla="*/ 0 w 162"/>
              <a:gd name="T1" fmla="*/ 162 h 162"/>
              <a:gd name="T2" fmla="*/ 161 w 162"/>
              <a:gd name="T3" fmla="*/ 0 h 162"/>
              <a:gd name="T4" fmla="*/ 162 w 162"/>
              <a:gd name="T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2" h="162">
                <a:moveTo>
                  <a:pt x="0" y="162"/>
                </a:moveTo>
                <a:lnTo>
                  <a:pt x="161" y="0"/>
                </a:lnTo>
                <a:lnTo>
                  <a:pt x="162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68" name="Freeform 68"/>
          <p:cNvSpPr>
            <a:spLocks noChangeArrowheads="1"/>
          </p:cNvSpPr>
          <p:nvPr/>
        </p:nvSpPr>
        <p:spPr bwMode="auto">
          <a:xfrm>
            <a:off x="2727326" y="3168651"/>
            <a:ext cx="201613" cy="201613"/>
          </a:xfrm>
          <a:custGeom>
            <a:avLst/>
            <a:gdLst>
              <a:gd name="T0" fmla="*/ 0 w 382"/>
              <a:gd name="T1" fmla="*/ 382 h 382"/>
              <a:gd name="T2" fmla="*/ 381 w 382"/>
              <a:gd name="T3" fmla="*/ 0 h 382"/>
              <a:gd name="T4" fmla="*/ 382 w 382"/>
              <a:gd name="T5" fmla="*/ 0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2" h="382">
                <a:moveTo>
                  <a:pt x="0" y="382"/>
                </a:moveTo>
                <a:lnTo>
                  <a:pt x="381" y="0"/>
                </a:lnTo>
                <a:lnTo>
                  <a:pt x="382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69" name="Freeform 69"/>
          <p:cNvSpPr>
            <a:spLocks noChangeArrowheads="1"/>
          </p:cNvSpPr>
          <p:nvPr/>
        </p:nvSpPr>
        <p:spPr bwMode="auto">
          <a:xfrm>
            <a:off x="3903664" y="2106614"/>
            <a:ext cx="85725" cy="85725"/>
          </a:xfrm>
          <a:custGeom>
            <a:avLst/>
            <a:gdLst>
              <a:gd name="T0" fmla="*/ 0 w 162"/>
              <a:gd name="T1" fmla="*/ 161 h 161"/>
              <a:gd name="T2" fmla="*/ 161 w 162"/>
              <a:gd name="T3" fmla="*/ 0 h 161"/>
              <a:gd name="T4" fmla="*/ 162 w 162"/>
              <a:gd name="T5" fmla="*/ 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2" h="161">
                <a:moveTo>
                  <a:pt x="0" y="161"/>
                </a:moveTo>
                <a:lnTo>
                  <a:pt x="161" y="0"/>
                </a:lnTo>
                <a:lnTo>
                  <a:pt x="162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70" name="Freeform 70"/>
          <p:cNvSpPr>
            <a:spLocks noChangeArrowheads="1"/>
          </p:cNvSpPr>
          <p:nvPr/>
        </p:nvSpPr>
        <p:spPr bwMode="auto">
          <a:xfrm>
            <a:off x="2944813" y="3403600"/>
            <a:ext cx="50800" cy="50800"/>
          </a:xfrm>
          <a:custGeom>
            <a:avLst/>
            <a:gdLst>
              <a:gd name="T0" fmla="*/ 0 w 97"/>
              <a:gd name="T1" fmla="*/ 96 h 96"/>
              <a:gd name="T2" fmla="*/ 95 w 97"/>
              <a:gd name="T3" fmla="*/ 0 h 96"/>
              <a:gd name="T4" fmla="*/ 97 w 97"/>
              <a:gd name="T5" fmla="*/ 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" h="96">
                <a:moveTo>
                  <a:pt x="0" y="96"/>
                </a:moveTo>
                <a:lnTo>
                  <a:pt x="95" y="0"/>
                </a:lnTo>
                <a:lnTo>
                  <a:pt x="97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71" name="Freeform 71"/>
          <p:cNvSpPr>
            <a:spLocks noChangeArrowheads="1"/>
          </p:cNvSpPr>
          <p:nvPr/>
        </p:nvSpPr>
        <p:spPr bwMode="auto">
          <a:xfrm>
            <a:off x="3903664" y="2259013"/>
            <a:ext cx="236537" cy="234950"/>
          </a:xfrm>
          <a:custGeom>
            <a:avLst/>
            <a:gdLst>
              <a:gd name="T0" fmla="*/ 0 w 447"/>
              <a:gd name="T1" fmla="*/ 445 h 445"/>
              <a:gd name="T2" fmla="*/ 446 w 447"/>
              <a:gd name="T3" fmla="*/ 0 h 445"/>
              <a:gd name="T4" fmla="*/ 447 w 447"/>
              <a:gd name="T5" fmla="*/ 0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47" h="445">
                <a:moveTo>
                  <a:pt x="0" y="445"/>
                </a:moveTo>
                <a:lnTo>
                  <a:pt x="446" y="0"/>
                </a:lnTo>
                <a:lnTo>
                  <a:pt x="447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72" name="Freeform 72"/>
          <p:cNvSpPr>
            <a:spLocks noChangeArrowheads="1"/>
          </p:cNvSpPr>
          <p:nvPr/>
        </p:nvSpPr>
        <p:spPr bwMode="auto">
          <a:xfrm>
            <a:off x="3365500" y="2982913"/>
            <a:ext cx="52388" cy="50800"/>
          </a:xfrm>
          <a:custGeom>
            <a:avLst/>
            <a:gdLst>
              <a:gd name="T0" fmla="*/ 0 w 98"/>
              <a:gd name="T1" fmla="*/ 96 h 96"/>
              <a:gd name="T2" fmla="*/ 96 w 98"/>
              <a:gd name="T3" fmla="*/ 0 h 96"/>
              <a:gd name="T4" fmla="*/ 98 w 98"/>
              <a:gd name="T5" fmla="*/ 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" h="96">
                <a:moveTo>
                  <a:pt x="0" y="96"/>
                </a:moveTo>
                <a:lnTo>
                  <a:pt x="96" y="0"/>
                </a:lnTo>
                <a:lnTo>
                  <a:pt x="98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73" name="Freeform 73"/>
          <p:cNvSpPr>
            <a:spLocks noChangeArrowheads="1"/>
          </p:cNvSpPr>
          <p:nvPr/>
        </p:nvSpPr>
        <p:spPr bwMode="auto">
          <a:xfrm>
            <a:off x="3265489" y="2982914"/>
            <a:ext cx="454025" cy="454025"/>
          </a:xfrm>
          <a:custGeom>
            <a:avLst/>
            <a:gdLst>
              <a:gd name="T0" fmla="*/ 0 w 858"/>
              <a:gd name="T1" fmla="*/ 858 h 858"/>
              <a:gd name="T2" fmla="*/ 857 w 858"/>
              <a:gd name="T3" fmla="*/ 0 h 858"/>
              <a:gd name="T4" fmla="*/ 858 w 858"/>
              <a:gd name="T5" fmla="*/ 0 h 8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58" h="858">
                <a:moveTo>
                  <a:pt x="0" y="858"/>
                </a:moveTo>
                <a:lnTo>
                  <a:pt x="857" y="0"/>
                </a:lnTo>
                <a:lnTo>
                  <a:pt x="858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74" name="Freeform 74"/>
          <p:cNvSpPr>
            <a:spLocks noChangeArrowheads="1"/>
          </p:cNvSpPr>
          <p:nvPr/>
        </p:nvSpPr>
        <p:spPr bwMode="auto">
          <a:xfrm>
            <a:off x="3903664" y="2560639"/>
            <a:ext cx="236537" cy="236537"/>
          </a:xfrm>
          <a:custGeom>
            <a:avLst/>
            <a:gdLst>
              <a:gd name="T0" fmla="*/ 0 w 447"/>
              <a:gd name="T1" fmla="*/ 446 h 446"/>
              <a:gd name="T2" fmla="*/ 446 w 447"/>
              <a:gd name="T3" fmla="*/ 0 h 446"/>
              <a:gd name="T4" fmla="*/ 447 w 447"/>
              <a:gd name="T5" fmla="*/ 0 h 4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47" h="446">
                <a:moveTo>
                  <a:pt x="0" y="446"/>
                </a:moveTo>
                <a:lnTo>
                  <a:pt x="446" y="0"/>
                </a:lnTo>
                <a:lnTo>
                  <a:pt x="447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75" name="Freeform 75"/>
          <p:cNvSpPr>
            <a:spLocks noChangeArrowheads="1"/>
          </p:cNvSpPr>
          <p:nvPr/>
        </p:nvSpPr>
        <p:spPr bwMode="auto">
          <a:xfrm>
            <a:off x="3549650" y="2863850"/>
            <a:ext cx="590550" cy="590550"/>
          </a:xfrm>
          <a:custGeom>
            <a:avLst/>
            <a:gdLst>
              <a:gd name="T0" fmla="*/ 0 w 1116"/>
              <a:gd name="T1" fmla="*/ 1116 h 1116"/>
              <a:gd name="T2" fmla="*/ 1115 w 1116"/>
              <a:gd name="T3" fmla="*/ 0 h 1116"/>
              <a:gd name="T4" fmla="*/ 1116 w 1116"/>
              <a:gd name="T5" fmla="*/ 0 h 1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16" h="1116">
                <a:moveTo>
                  <a:pt x="0" y="1116"/>
                </a:moveTo>
                <a:lnTo>
                  <a:pt x="1115" y="0"/>
                </a:lnTo>
                <a:lnTo>
                  <a:pt x="1116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76" name="Freeform 76"/>
          <p:cNvSpPr>
            <a:spLocks noChangeArrowheads="1"/>
          </p:cNvSpPr>
          <p:nvPr/>
        </p:nvSpPr>
        <p:spPr bwMode="auto">
          <a:xfrm>
            <a:off x="4813300" y="2255839"/>
            <a:ext cx="234950" cy="236537"/>
          </a:xfrm>
          <a:custGeom>
            <a:avLst/>
            <a:gdLst>
              <a:gd name="T0" fmla="*/ 0 w 445"/>
              <a:gd name="T1" fmla="*/ 446 h 446"/>
              <a:gd name="T2" fmla="*/ 444 w 445"/>
              <a:gd name="T3" fmla="*/ 0 h 446"/>
              <a:gd name="T4" fmla="*/ 445 w 445"/>
              <a:gd name="T5" fmla="*/ 0 h 4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45" h="446">
                <a:moveTo>
                  <a:pt x="0" y="446"/>
                </a:moveTo>
                <a:lnTo>
                  <a:pt x="444" y="0"/>
                </a:lnTo>
                <a:lnTo>
                  <a:pt x="445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77" name="Freeform 77"/>
          <p:cNvSpPr>
            <a:spLocks noChangeArrowheads="1"/>
          </p:cNvSpPr>
          <p:nvPr/>
        </p:nvSpPr>
        <p:spPr bwMode="auto">
          <a:xfrm>
            <a:off x="4813300" y="2559050"/>
            <a:ext cx="234950" cy="234950"/>
          </a:xfrm>
          <a:custGeom>
            <a:avLst/>
            <a:gdLst>
              <a:gd name="T0" fmla="*/ 0 w 445"/>
              <a:gd name="T1" fmla="*/ 446 h 446"/>
              <a:gd name="T2" fmla="*/ 444 w 445"/>
              <a:gd name="T3" fmla="*/ 0 h 446"/>
              <a:gd name="T4" fmla="*/ 445 w 445"/>
              <a:gd name="T5" fmla="*/ 0 h 4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45" h="446">
                <a:moveTo>
                  <a:pt x="0" y="446"/>
                </a:moveTo>
                <a:lnTo>
                  <a:pt x="444" y="0"/>
                </a:lnTo>
                <a:lnTo>
                  <a:pt x="445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78" name="Freeform 78"/>
          <p:cNvSpPr>
            <a:spLocks noChangeArrowheads="1"/>
          </p:cNvSpPr>
          <p:nvPr/>
        </p:nvSpPr>
        <p:spPr bwMode="auto">
          <a:xfrm>
            <a:off x="5045075" y="2671764"/>
            <a:ext cx="192088" cy="192087"/>
          </a:xfrm>
          <a:custGeom>
            <a:avLst/>
            <a:gdLst>
              <a:gd name="T0" fmla="*/ 0 w 365"/>
              <a:gd name="T1" fmla="*/ 363 h 363"/>
              <a:gd name="T2" fmla="*/ 364 w 365"/>
              <a:gd name="T3" fmla="*/ 0 h 363"/>
              <a:gd name="T4" fmla="*/ 365 w 365"/>
              <a:gd name="T5" fmla="*/ 0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5" h="363">
                <a:moveTo>
                  <a:pt x="0" y="363"/>
                </a:moveTo>
                <a:lnTo>
                  <a:pt x="364" y="0"/>
                </a:lnTo>
                <a:lnTo>
                  <a:pt x="365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79" name="Freeform 79"/>
          <p:cNvSpPr>
            <a:spLocks noChangeArrowheads="1"/>
          </p:cNvSpPr>
          <p:nvPr/>
        </p:nvSpPr>
        <p:spPr bwMode="auto">
          <a:xfrm>
            <a:off x="4852989" y="3133726"/>
            <a:ext cx="225425" cy="225425"/>
          </a:xfrm>
          <a:custGeom>
            <a:avLst/>
            <a:gdLst>
              <a:gd name="T0" fmla="*/ 0 w 427"/>
              <a:gd name="T1" fmla="*/ 427 h 427"/>
              <a:gd name="T2" fmla="*/ 426 w 427"/>
              <a:gd name="T3" fmla="*/ 0 h 427"/>
              <a:gd name="T4" fmla="*/ 427 w 427"/>
              <a:gd name="T5" fmla="*/ 0 h 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27" h="427">
                <a:moveTo>
                  <a:pt x="0" y="427"/>
                </a:moveTo>
                <a:lnTo>
                  <a:pt x="426" y="0"/>
                </a:lnTo>
                <a:lnTo>
                  <a:pt x="427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80" name="Freeform 80"/>
          <p:cNvSpPr>
            <a:spLocks noChangeArrowheads="1"/>
          </p:cNvSpPr>
          <p:nvPr/>
        </p:nvSpPr>
        <p:spPr bwMode="auto">
          <a:xfrm>
            <a:off x="5127626" y="3244850"/>
            <a:ext cx="142875" cy="141288"/>
          </a:xfrm>
          <a:custGeom>
            <a:avLst/>
            <a:gdLst>
              <a:gd name="T0" fmla="*/ 0 w 270"/>
              <a:gd name="T1" fmla="*/ 269 h 269"/>
              <a:gd name="T2" fmla="*/ 269 w 270"/>
              <a:gd name="T3" fmla="*/ 0 h 269"/>
              <a:gd name="T4" fmla="*/ 270 w 270"/>
              <a:gd name="T5" fmla="*/ 0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70" h="269">
                <a:moveTo>
                  <a:pt x="0" y="269"/>
                </a:moveTo>
                <a:lnTo>
                  <a:pt x="269" y="0"/>
                </a:lnTo>
                <a:lnTo>
                  <a:pt x="27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81" name="Freeform 81"/>
          <p:cNvSpPr>
            <a:spLocks noChangeArrowheads="1"/>
          </p:cNvSpPr>
          <p:nvPr/>
        </p:nvSpPr>
        <p:spPr bwMode="auto">
          <a:xfrm>
            <a:off x="4476750" y="1978025"/>
            <a:ext cx="1588" cy="763588"/>
          </a:xfrm>
          <a:custGeom>
            <a:avLst/>
            <a:gdLst>
              <a:gd name="T0" fmla="*/ 0 w 1"/>
              <a:gd name="T1" fmla="*/ 0 h 1442"/>
              <a:gd name="T2" fmla="*/ 0 w 1"/>
              <a:gd name="T3" fmla="*/ 1442 h 1442"/>
              <a:gd name="T4" fmla="*/ 1 w 1"/>
              <a:gd name="T5" fmla="*/ 1442 h 14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442">
                <a:moveTo>
                  <a:pt x="0" y="0"/>
                </a:moveTo>
                <a:lnTo>
                  <a:pt x="0" y="1442"/>
                </a:lnTo>
                <a:lnTo>
                  <a:pt x="1" y="144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82" name="Freeform 82"/>
          <p:cNvSpPr>
            <a:spLocks noChangeArrowheads="1"/>
          </p:cNvSpPr>
          <p:nvPr/>
        </p:nvSpPr>
        <p:spPr bwMode="auto">
          <a:xfrm>
            <a:off x="4476750" y="2959100"/>
            <a:ext cx="1588" cy="604838"/>
          </a:xfrm>
          <a:custGeom>
            <a:avLst/>
            <a:gdLst>
              <a:gd name="T0" fmla="*/ 0 w 1"/>
              <a:gd name="T1" fmla="*/ 0 h 1143"/>
              <a:gd name="T2" fmla="*/ 0 w 1"/>
              <a:gd name="T3" fmla="*/ 1143 h 1143"/>
              <a:gd name="T4" fmla="*/ 1 w 1"/>
              <a:gd name="T5" fmla="*/ 1143 h 1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143">
                <a:moveTo>
                  <a:pt x="0" y="0"/>
                </a:moveTo>
                <a:lnTo>
                  <a:pt x="0" y="1143"/>
                </a:lnTo>
                <a:lnTo>
                  <a:pt x="1" y="1143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83" name="Freeform 83"/>
          <p:cNvSpPr>
            <a:spLocks noChangeArrowheads="1"/>
          </p:cNvSpPr>
          <p:nvPr/>
        </p:nvSpPr>
        <p:spPr bwMode="auto">
          <a:xfrm>
            <a:off x="4476750" y="2819401"/>
            <a:ext cx="1588" cy="49213"/>
          </a:xfrm>
          <a:custGeom>
            <a:avLst/>
            <a:gdLst>
              <a:gd name="T0" fmla="*/ 0 w 1"/>
              <a:gd name="T1" fmla="*/ 0 h 92"/>
              <a:gd name="T2" fmla="*/ 0 w 1"/>
              <a:gd name="T3" fmla="*/ 92 h 92"/>
              <a:gd name="T4" fmla="*/ 1 w 1"/>
              <a:gd name="T5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92">
                <a:moveTo>
                  <a:pt x="0" y="0"/>
                </a:moveTo>
                <a:lnTo>
                  <a:pt x="0" y="92"/>
                </a:lnTo>
                <a:lnTo>
                  <a:pt x="1" y="9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84" name="Freeform 84"/>
          <p:cNvSpPr>
            <a:spLocks noChangeArrowheads="1"/>
          </p:cNvSpPr>
          <p:nvPr/>
        </p:nvSpPr>
        <p:spPr bwMode="auto">
          <a:xfrm>
            <a:off x="3130550" y="3368676"/>
            <a:ext cx="1588" cy="258763"/>
          </a:xfrm>
          <a:custGeom>
            <a:avLst/>
            <a:gdLst>
              <a:gd name="T0" fmla="*/ 0 w 1"/>
              <a:gd name="T1" fmla="*/ 0 h 489"/>
              <a:gd name="T2" fmla="*/ 0 w 1"/>
              <a:gd name="T3" fmla="*/ 489 h 489"/>
              <a:gd name="T4" fmla="*/ 1 w 1"/>
              <a:gd name="T5" fmla="*/ 489 h 4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489">
                <a:moveTo>
                  <a:pt x="0" y="0"/>
                </a:moveTo>
                <a:lnTo>
                  <a:pt x="0" y="489"/>
                </a:lnTo>
                <a:lnTo>
                  <a:pt x="1" y="48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85" name="Freeform 85"/>
          <p:cNvSpPr>
            <a:spLocks noChangeArrowheads="1"/>
          </p:cNvSpPr>
          <p:nvPr/>
        </p:nvSpPr>
        <p:spPr bwMode="auto">
          <a:xfrm>
            <a:off x="3130550" y="2886075"/>
            <a:ext cx="1588" cy="363538"/>
          </a:xfrm>
          <a:custGeom>
            <a:avLst/>
            <a:gdLst>
              <a:gd name="T0" fmla="*/ 0 w 1"/>
              <a:gd name="T1" fmla="*/ 0 h 686"/>
              <a:gd name="T2" fmla="*/ 0 w 1"/>
              <a:gd name="T3" fmla="*/ 686 h 686"/>
              <a:gd name="T4" fmla="*/ 1 w 1"/>
              <a:gd name="T5" fmla="*/ 686 h 6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686">
                <a:moveTo>
                  <a:pt x="0" y="0"/>
                </a:moveTo>
                <a:lnTo>
                  <a:pt x="0" y="686"/>
                </a:lnTo>
                <a:lnTo>
                  <a:pt x="1" y="686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86" name="Freeform 86"/>
          <p:cNvSpPr>
            <a:spLocks noChangeArrowheads="1"/>
          </p:cNvSpPr>
          <p:nvPr/>
        </p:nvSpPr>
        <p:spPr bwMode="auto">
          <a:xfrm>
            <a:off x="3130550" y="3297238"/>
            <a:ext cx="1588" cy="30162"/>
          </a:xfrm>
          <a:custGeom>
            <a:avLst/>
            <a:gdLst>
              <a:gd name="T0" fmla="*/ 0 w 1"/>
              <a:gd name="T1" fmla="*/ 0 h 58"/>
              <a:gd name="T2" fmla="*/ 0 w 1"/>
              <a:gd name="T3" fmla="*/ 58 h 58"/>
              <a:gd name="T4" fmla="*/ 1 w 1"/>
              <a:gd name="T5" fmla="*/ 5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58">
                <a:moveTo>
                  <a:pt x="0" y="0"/>
                </a:moveTo>
                <a:lnTo>
                  <a:pt x="0" y="58"/>
                </a:lnTo>
                <a:lnTo>
                  <a:pt x="1" y="58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87" name="Freeform 87"/>
          <p:cNvSpPr>
            <a:spLocks noChangeArrowheads="1"/>
          </p:cNvSpPr>
          <p:nvPr/>
        </p:nvSpPr>
        <p:spPr bwMode="auto">
          <a:xfrm>
            <a:off x="4718050" y="2998789"/>
            <a:ext cx="230188" cy="1587"/>
          </a:xfrm>
          <a:custGeom>
            <a:avLst/>
            <a:gdLst>
              <a:gd name="T0" fmla="*/ 0 w 435"/>
              <a:gd name="T1" fmla="*/ 0 h 1587"/>
              <a:gd name="T2" fmla="*/ 434 w 435"/>
              <a:gd name="T3" fmla="*/ 0 h 1587"/>
              <a:gd name="T4" fmla="*/ 435 w 435"/>
              <a:gd name="T5" fmla="*/ 0 h 1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35" h="1587">
                <a:moveTo>
                  <a:pt x="0" y="0"/>
                </a:moveTo>
                <a:lnTo>
                  <a:pt x="434" y="0"/>
                </a:lnTo>
                <a:lnTo>
                  <a:pt x="435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88" name="Freeform 88"/>
          <p:cNvSpPr>
            <a:spLocks noChangeArrowheads="1"/>
          </p:cNvSpPr>
          <p:nvPr/>
        </p:nvSpPr>
        <p:spPr bwMode="auto">
          <a:xfrm>
            <a:off x="5013326" y="2998789"/>
            <a:ext cx="30163" cy="1587"/>
          </a:xfrm>
          <a:custGeom>
            <a:avLst/>
            <a:gdLst>
              <a:gd name="T0" fmla="*/ 0 w 59"/>
              <a:gd name="T1" fmla="*/ 0 h 1587"/>
              <a:gd name="T2" fmla="*/ 58 w 59"/>
              <a:gd name="T3" fmla="*/ 0 h 1587"/>
              <a:gd name="T4" fmla="*/ 59 w 59"/>
              <a:gd name="T5" fmla="*/ 0 h 1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9" h="1587">
                <a:moveTo>
                  <a:pt x="0" y="0"/>
                </a:moveTo>
                <a:lnTo>
                  <a:pt x="58" y="0"/>
                </a:lnTo>
                <a:lnTo>
                  <a:pt x="59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89" name="Freeform 89"/>
          <p:cNvSpPr>
            <a:spLocks noChangeArrowheads="1"/>
          </p:cNvSpPr>
          <p:nvPr/>
        </p:nvSpPr>
        <p:spPr bwMode="auto">
          <a:xfrm>
            <a:off x="5084764" y="2998789"/>
            <a:ext cx="280987" cy="1587"/>
          </a:xfrm>
          <a:custGeom>
            <a:avLst/>
            <a:gdLst>
              <a:gd name="T0" fmla="*/ 0 w 531"/>
              <a:gd name="T1" fmla="*/ 0 h 1587"/>
              <a:gd name="T2" fmla="*/ 530 w 531"/>
              <a:gd name="T3" fmla="*/ 0 h 1587"/>
              <a:gd name="T4" fmla="*/ 531 w 531"/>
              <a:gd name="T5" fmla="*/ 0 h 1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31" h="1587">
                <a:moveTo>
                  <a:pt x="0" y="0"/>
                </a:moveTo>
                <a:lnTo>
                  <a:pt x="530" y="0"/>
                </a:lnTo>
                <a:lnTo>
                  <a:pt x="531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90" name="Arc 90"/>
          <p:cNvSpPr>
            <a:spLocks noChangeArrowheads="1"/>
          </p:cNvSpPr>
          <p:nvPr/>
        </p:nvSpPr>
        <p:spPr bwMode="auto">
          <a:xfrm>
            <a:off x="6197600" y="2667000"/>
            <a:ext cx="673100" cy="349250"/>
          </a:xfrm>
          <a:custGeom>
            <a:avLst/>
            <a:gdLst>
              <a:gd name="T0" fmla="*/ 16 w 43200"/>
              <a:gd name="T1" fmla="*/ 22446 h 22446"/>
              <a:gd name="T2" fmla="*/ 0 w 43200"/>
              <a:gd name="T3" fmla="*/ 21600 h 22446"/>
              <a:gd name="T4" fmla="*/ 21600 w 43200"/>
              <a:gd name="T5" fmla="*/ 0 h 22446"/>
              <a:gd name="T6" fmla="*/ 43200 w 43200"/>
              <a:gd name="T7" fmla="*/ 21599 h 22446"/>
              <a:gd name="T8" fmla="*/ 16 w 43200"/>
              <a:gd name="T9" fmla="*/ 22446 h 22446"/>
              <a:gd name="T10" fmla="*/ 0 w 43200"/>
              <a:gd name="T11" fmla="*/ 21600 h 22446"/>
              <a:gd name="T12" fmla="*/ 21600 w 43200"/>
              <a:gd name="T13" fmla="*/ 0 h 22446"/>
              <a:gd name="T14" fmla="*/ 43200 w 43200"/>
              <a:gd name="T15" fmla="*/ 21599 h 22446"/>
              <a:gd name="T16" fmla="*/ 21600 w 43200"/>
              <a:gd name="T17" fmla="*/ 21600 h 224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3200" h="22446" fill="none">
                <a:moveTo>
                  <a:pt x="16" y="22446"/>
                </a:moveTo>
                <a:cubicBezTo>
                  <a:pt x="5" y="22164"/>
                  <a:pt x="0" y="21882"/>
                  <a:pt x="0" y="21600"/>
                </a:cubicBezTo>
                <a:cubicBezTo>
                  <a:pt x="0" y="9670"/>
                  <a:pt x="9670" y="0"/>
                  <a:pt x="21600" y="0"/>
                </a:cubicBezTo>
                <a:cubicBezTo>
                  <a:pt x="33529" y="-1"/>
                  <a:pt x="43199" y="9670"/>
                  <a:pt x="43200" y="21599"/>
                </a:cubicBezTo>
              </a:path>
              <a:path w="43200" h="22446" stroke="0">
                <a:moveTo>
                  <a:pt x="16" y="22446"/>
                </a:moveTo>
                <a:cubicBezTo>
                  <a:pt x="5" y="22164"/>
                  <a:pt x="0" y="21882"/>
                  <a:pt x="0" y="21600"/>
                </a:cubicBezTo>
                <a:cubicBezTo>
                  <a:pt x="0" y="9670"/>
                  <a:pt x="9670" y="0"/>
                  <a:pt x="21600" y="0"/>
                </a:cubicBezTo>
                <a:cubicBezTo>
                  <a:pt x="33529" y="-1"/>
                  <a:pt x="43199" y="9670"/>
                  <a:pt x="43200" y="21599"/>
                </a:cubicBezTo>
                <a:lnTo>
                  <a:pt x="21600" y="21600"/>
                </a:lnTo>
                <a:close/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91" name="Oval 91"/>
          <p:cNvSpPr>
            <a:spLocks noChangeArrowheads="1"/>
          </p:cNvSpPr>
          <p:nvPr/>
        </p:nvSpPr>
        <p:spPr bwMode="auto">
          <a:xfrm>
            <a:off x="6396039" y="2868613"/>
            <a:ext cx="269875" cy="266700"/>
          </a:xfrm>
          <a:prstGeom prst="ellips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92" name="Freeform 92"/>
          <p:cNvSpPr>
            <a:spLocks noChangeArrowheads="1"/>
          </p:cNvSpPr>
          <p:nvPr/>
        </p:nvSpPr>
        <p:spPr bwMode="auto">
          <a:xfrm>
            <a:off x="3903664" y="2106613"/>
            <a:ext cx="1587" cy="819150"/>
          </a:xfrm>
          <a:custGeom>
            <a:avLst/>
            <a:gdLst>
              <a:gd name="T0" fmla="*/ 0 w 1"/>
              <a:gd name="T1" fmla="*/ 516 h 516"/>
              <a:gd name="T2" fmla="*/ 0 w 1"/>
              <a:gd name="T3" fmla="*/ 0 h 516"/>
              <a:gd name="T4" fmla="*/ 1 w 1"/>
              <a:gd name="T5" fmla="*/ 0 h 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516">
                <a:moveTo>
                  <a:pt x="0" y="516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93" name="Freeform 93"/>
          <p:cNvSpPr>
            <a:spLocks noChangeArrowheads="1"/>
          </p:cNvSpPr>
          <p:nvPr/>
        </p:nvSpPr>
        <p:spPr bwMode="auto">
          <a:xfrm>
            <a:off x="5046664" y="2100263"/>
            <a:ext cx="3175" cy="508000"/>
          </a:xfrm>
          <a:custGeom>
            <a:avLst/>
            <a:gdLst>
              <a:gd name="T0" fmla="*/ 0 w 2"/>
              <a:gd name="T1" fmla="*/ 320 h 320"/>
              <a:gd name="T2" fmla="*/ 0 w 2"/>
              <a:gd name="T3" fmla="*/ 0 h 320"/>
              <a:gd name="T4" fmla="*/ 2 w 2"/>
              <a:gd name="T5" fmla="*/ 0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320">
                <a:moveTo>
                  <a:pt x="0" y="320"/>
                </a:moveTo>
                <a:lnTo>
                  <a:pt x="0" y="0"/>
                </a:lnTo>
                <a:lnTo>
                  <a:pt x="2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94" name="Freeform 94"/>
          <p:cNvSpPr>
            <a:spLocks noChangeArrowheads="1"/>
          </p:cNvSpPr>
          <p:nvPr/>
        </p:nvSpPr>
        <p:spPr bwMode="auto">
          <a:xfrm>
            <a:off x="3668713" y="3386139"/>
            <a:ext cx="1535112" cy="1587"/>
          </a:xfrm>
          <a:custGeom>
            <a:avLst/>
            <a:gdLst>
              <a:gd name="T0" fmla="*/ 0 w 2900"/>
              <a:gd name="T1" fmla="*/ 0 h 1587"/>
              <a:gd name="T2" fmla="*/ 2899 w 2900"/>
              <a:gd name="T3" fmla="*/ 0 h 1587"/>
              <a:gd name="T4" fmla="*/ 2900 w 2900"/>
              <a:gd name="T5" fmla="*/ 0 h 1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900" h="1587">
                <a:moveTo>
                  <a:pt x="0" y="0"/>
                </a:moveTo>
                <a:lnTo>
                  <a:pt x="2899" y="0"/>
                </a:lnTo>
                <a:lnTo>
                  <a:pt x="2900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95" name="Freeform 95"/>
          <p:cNvSpPr>
            <a:spLocks noChangeArrowheads="1"/>
          </p:cNvSpPr>
          <p:nvPr/>
        </p:nvSpPr>
        <p:spPr bwMode="auto">
          <a:xfrm>
            <a:off x="2727325" y="3049588"/>
            <a:ext cx="1588" cy="404812"/>
          </a:xfrm>
          <a:custGeom>
            <a:avLst/>
            <a:gdLst>
              <a:gd name="T0" fmla="*/ 0 w 1"/>
              <a:gd name="T1" fmla="*/ 764 h 764"/>
              <a:gd name="T2" fmla="*/ 0 w 1"/>
              <a:gd name="T3" fmla="*/ 0 h 764"/>
              <a:gd name="T4" fmla="*/ 1 w 1"/>
              <a:gd name="T5" fmla="*/ 0 h 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764">
                <a:moveTo>
                  <a:pt x="0" y="764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96" name="Freeform 96"/>
          <p:cNvSpPr>
            <a:spLocks noChangeArrowheads="1"/>
          </p:cNvSpPr>
          <p:nvPr/>
        </p:nvSpPr>
        <p:spPr bwMode="auto">
          <a:xfrm>
            <a:off x="2727326" y="3454400"/>
            <a:ext cx="874713" cy="1588"/>
          </a:xfrm>
          <a:custGeom>
            <a:avLst/>
            <a:gdLst>
              <a:gd name="T0" fmla="*/ 0 w 1654"/>
              <a:gd name="T1" fmla="*/ 0 h 1588"/>
              <a:gd name="T2" fmla="*/ 1653 w 1654"/>
              <a:gd name="T3" fmla="*/ 0 h 1588"/>
              <a:gd name="T4" fmla="*/ 1654 w 1654"/>
              <a:gd name="T5" fmla="*/ 0 h 1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54" h="1588">
                <a:moveTo>
                  <a:pt x="0" y="0"/>
                </a:moveTo>
                <a:lnTo>
                  <a:pt x="1653" y="0"/>
                </a:lnTo>
                <a:lnTo>
                  <a:pt x="1654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97" name="Freeform 97"/>
          <p:cNvSpPr>
            <a:spLocks noChangeArrowheads="1"/>
          </p:cNvSpPr>
          <p:nvPr/>
        </p:nvSpPr>
        <p:spPr bwMode="auto">
          <a:xfrm>
            <a:off x="3586163" y="3386139"/>
            <a:ext cx="82550" cy="60325"/>
          </a:xfrm>
          <a:custGeom>
            <a:avLst/>
            <a:gdLst>
              <a:gd name="T0" fmla="*/ 52 w 52"/>
              <a:gd name="T1" fmla="*/ 0 h 38"/>
              <a:gd name="T2" fmla="*/ 32 w 52"/>
              <a:gd name="T3" fmla="*/ 6 h 38"/>
              <a:gd name="T4" fmla="*/ 16 w 52"/>
              <a:gd name="T5" fmla="*/ 18 h 38"/>
              <a:gd name="T6" fmla="*/ 0 w 52"/>
              <a:gd name="T7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2" h="38">
                <a:moveTo>
                  <a:pt x="52" y="0"/>
                </a:moveTo>
                <a:lnTo>
                  <a:pt x="32" y="6"/>
                </a:lnTo>
                <a:lnTo>
                  <a:pt x="16" y="18"/>
                </a:lnTo>
                <a:lnTo>
                  <a:pt x="0" y="38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98" name="Freeform 98"/>
          <p:cNvSpPr>
            <a:spLocks noChangeArrowheads="1"/>
          </p:cNvSpPr>
          <p:nvPr/>
        </p:nvSpPr>
        <p:spPr bwMode="auto">
          <a:xfrm>
            <a:off x="2794001" y="2976563"/>
            <a:ext cx="1058863" cy="6350"/>
          </a:xfrm>
          <a:custGeom>
            <a:avLst/>
            <a:gdLst>
              <a:gd name="T0" fmla="*/ 0 w 667"/>
              <a:gd name="T1" fmla="*/ 4 h 4"/>
              <a:gd name="T2" fmla="*/ 667 w 667"/>
              <a:gd name="T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667" h="4">
                <a:moveTo>
                  <a:pt x="0" y="4"/>
                </a:moveTo>
                <a:lnTo>
                  <a:pt x="667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99" name="Freeform 99"/>
          <p:cNvSpPr>
            <a:spLocks noChangeArrowheads="1"/>
          </p:cNvSpPr>
          <p:nvPr/>
        </p:nvSpPr>
        <p:spPr bwMode="auto">
          <a:xfrm>
            <a:off x="2728914" y="2976563"/>
            <a:ext cx="71437" cy="95250"/>
          </a:xfrm>
          <a:custGeom>
            <a:avLst/>
            <a:gdLst>
              <a:gd name="T0" fmla="*/ 45 w 45"/>
              <a:gd name="T1" fmla="*/ 0 h 60"/>
              <a:gd name="T2" fmla="*/ 15 w 45"/>
              <a:gd name="T3" fmla="*/ 12 h 60"/>
              <a:gd name="T4" fmla="*/ 0 w 45"/>
              <a:gd name="T5" fmla="*/ 28 h 60"/>
              <a:gd name="T6" fmla="*/ 0 w 45"/>
              <a:gd name="T7" fmla="*/ 6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5" h="60">
                <a:moveTo>
                  <a:pt x="45" y="0"/>
                </a:moveTo>
                <a:lnTo>
                  <a:pt x="15" y="12"/>
                </a:lnTo>
                <a:lnTo>
                  <a:pt x="0" y="28"/>
                </a:lnTo>
                <a:lnTo>
                  <a:pt x="0" y="6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00" name="Freeform 100"/>
          <p:cNvSpPr>
            <a:spLocks noChangeArrowheads="1"/>
          </p:cNvSpPr>
          <p:nvPr/>
        </p:nvSpPr>
        <p:spPr bwMode="auto">
          <a:xfrm>
            <a:off x="3836989" y="2914651"/>
            <a:ext cx="66675" cy="68263"/>
          </a:xfrm>
          <a:custGeom>
            <a:avLst/>
            <a:gdLst>
              <a:gd name="T0" fmla="*/ 0 w 128"/>
              <a:gd name="T1" fmla="*/ 127 h 127"/>
              <a:gd name="T2" fmla="*/ 91 w 128"/>
              <a:gd name="T3" fmla="*/ 89 h 127"/>
              <a:gd name="T4" fmla="*/ 127 w 128"/>
              <a:gd name="T5" fmla="*/ 0 h 127"/>
              <a:gd name="T6" fmla="*/ 128 w 128"/>
              <a:gd name="T7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8" h="127">
                <a:moveTo>
                  <a:pt x="0" y="127"/>
                </a:moveTo>
                <a:lnTo>
                  <a:pt x="91" y="89"/>
                </a:lnTo>
                <a:lnTo>
                  <a:pt x="127" y="0"/>
                </a:lnTo>
                <a:lnTo>
                  <a:pt x="128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01" name="Freeform 101"/>
          <p:cNvSpPr>
            <a:spLocks noChangeArrowheads="1"/>
          </p:cNvSpPr>
          <p:nvPr/>
        </p:nvSpPr>
        <p:spPr bwMode="auto">
          <a:xfrm>
            <a:off x="5202239" y="3281364"/>
            <a:ext cx="66675" cy="104775"/>
          </a:xfrm>
          <a:custGeom>
            <a:avLst/>
            <a:gdLst>
              <a:gd name="T0" fmla="*/ 0 w 42"/>
              <a:gd name="T1" fmla="*/ 66 h 66"/>
              <a:gd name="T2" fmla="*/ 30 w 42"/>
              <a:gd name="T3" fmla="*/ 53 h 66"/>
              <a:gd name="T4" fmla="*/ 38 w 42"/>
              <a:gd name="T5" fmla="*/ 28 h 66"/>
              <a:gd name="T6" fmla="*/ 42 w 42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2" h="66">
                <a:moveTo>
                  <a:pt x="0" y="66"/>
                </a:moveTo>
                <a:lnTo>
                  <a:pt x="30" y="53"/>
                </a:lnTo>
                <a:lnTo>
                  <a:pt x="38" y="28"/>
                </a:lnTo>
                <a:lnTo>
                  <a:pt x="42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02" name="Freeform 102"/>
          <p:cNvSpPr>
            <a:spLocks noChangeArrowheads="1"/>
          </p:cNvSpPr>
          <p:nvPr/>
        </p:nvSpPr>
        <p:spPr bwMode="auto">
          <a:xfrm>
            <a:off x="5270500" y="2730501"/>
            <a:ext cx="1588" cy="588963"/>
          </a:xfrm>
          <a:custGeom>
            <a:avLst/>
            <a:gdLst>
              <a:gd name="T0" fmla="*/ 0 w 1"/>
              <a:gd name="T1" fmla="*/ 1114 h 1114"/>
              <a:gd name="T2" fmla="*/ 0 w 1"/>
              <a:gd name="T3" fmla="*/ 0 h 1114"/>
              <a:gd name="T4" fmla="*/ 1 w 1"/>
              <a:gd name="T5" fmla="*/ 0 h 1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114">
                <a:moveTo>
                  <a:pt x="0" y="1114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03" name="Freeform 103"/>
          <p:cNvSpPr>
            <a:spLocks noChangeArrowheads="1"/>
          </p:cNvSpPr>
          <p:nvPr/>
        </p:nvSpPr>
        <p:spPr bwMode="auto">
          <a:xfrm>
            <a:off x="5048251" y="2595563"/>
            <a:ext cx="80963" cy="69850"/>
          </a:xfrm>
          <a:custGeom>
            <a:avLst/>
            <a:gdLst>
              <a:gd name="T0" fmla="*/ 0 w 51"/>
              <a:gd name="T1" fmla="*/ 0 h 44"/>
              <a:gd name="T2" fmla="*/ 12 w 51"/>
              <a:gd name="T3" fmla="*/ 30 h 44"/>
              <a:gd name="T4" fmla="*/ 27 w 51"/>
              <a:gd name="T5" fmla="*/ 36 h 44"/>
              <a:gd name="T6" fmla="*/ 51 w 51"/>
              <a:gd name="T7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1" h="44">
                <a:moveTo>
                  <a:pt x="0" y="0"/>
                </a:moveTo>
                <a:lnTo>
                  <a:pt x="12" y="30"/>
                </a:lnTo>
                <a:lnTo>
                  <a:pt x="27" y="36"/>
                </a:lnTo>
                <a:lnTo>
                  <a:pt x="51" y="44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04" name="Freeform 104"/>
          <p:cNvSpPr>
            <a:spLocks noChangeArrowheads="1"/>
          </p:cNvSpPr>
          <p:nvPr/>
        </p:nvSpPr>
        <p:spPr bwMode="auto">
          <a:xfrm>
            <a:off x="5202238" y="2662238"/>
            <a:ext cx="68262" cy="68262"/>
          </a:xfrm>
          <a:custGeom>
            <a:avLst/>
            <a:gdLst>
              <a:gd name="T0" fmla="*/ 127 w 127"/>
              <a:gd name="T1" fmla="*/ 127 h 127"/>
              <a:gd name="T2" fmla="*/ 89 w 127"/>
              <a:gd name="T3" fmla="*/ 36 h 127"/>
              <a:gd name="T4" fmla="*/ 0 w 127"/>
              <a:gd name="T5" fmla="*/ 0 h 127"/>
              <a:gd name="T6" fmla="*/ 1 w 127"/>
              <a:gd name="T7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7" h="127">
                <a:moveTo>
                  <a:pt x="127" y="127"/>
                </a:moveTo>
                <a:lnTo>
                  <a:pt x="89" y="36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05" name="Freeform 105"/>
          <p:cNvSpPr>
            <a:spLocks noChangeArrowheads="1"/>
          </p:cNvSpPr>
          <p:nvPr/>
        </p:nvSpPr>
        <p:spPr bwMode="auto">
          <a:xfrm>
            <a:off x="5114925" y="2662239"/>
            <a:ext cx="103188" cy="9525"/>
          </a:xfrm>
          <a:custGeom>
            <a:avLst/>
            <a:gdLst>
              <a:gd name="T0" fmla="*/ 65 w 65"/>
              <a:gd name="T1" fmla="*/ 6 h 6"/>
              <a:gd name="T2" fmla="*/ 0 w 65"/>
              <a:gd name="T3" fmla="*/ 0 h 6"/>
              <a:gd name="T4" fmla="*/ 0 w 65"/>
              <a:gd name="T5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5" h="6">
                <a:moveTo>
                  <a:pt x="65" y="6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06" name="Freeform 106"/>
          <p:cNvSpPr>
            <a:spLocks noChangeArrowheads="1"/>
          </p:cNvSpPr>
          <p:nvPr/>
        </p:nvSpPr>
        <p:spPr bwMode="auto">
          <a:xfrm>
            <a:off x="6799263" y="3319464"/>
            <a:ext cx="68262" cy="66675"/>
          </a:xfrm>
          <a:custGeom>
            <a:avLst/>
            <a:gdLst>
              <a:gd name="T0" fmla="*/ 0 w 128"/>
              <a:gd name="T1" fmla="*/ 127 h 127"/>
              <a:gd name="T2" fmla="*/ 89 w 128"/>
              <a:gd name="T3" fmla="*/ 89 h 127"/>
              <a:gd name="T4" fmla="*/ 127 w 128"/>
              <a:gd name="T5" fmla="*/ 0 h 127"/>
              <a:gd name="T6" fmla="*/ 128 w 128"/>
              <a:gd name="T7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8" h="127">
                <a:moveTo>
                  <a:pt x="0" y="127"/>
                </a:moveTo>
                <a:lnTo>
                  <a:pt x="89" y="89"/>
                </a:lnTo>
                <a:lnTo>
                  <a:pt x="127" y="0"/>
                </a:lnTo>
                <a:lnTo>
                  <a:pt x="128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07" name="Freeform 107"/>
          <p:cNvSpPr>
            <a:spLocks noChangeArrowheads="1"/>
          </p:cNvSpPr>
          <p:nvPr/>
        </p:nvSpPr>
        <p:spPr bwMode="auto">
          <a:xfrm>
            <a:off x="6194426" y="3319464"/>
            <a:ext cx="66675" cy="66675"/>
          </a:xfrm>
          <a:custGeom>
            <a:avLst/>
            <a:gdLst>
              <a:gd name="T0" fmla="*/ 0 w 128"/>
              <a:gd name="T1" fmla="*/ 0 h 127"/>
              <a:gd name="T2" fmla="*/ 38 w 128"/>
              <a:gd name="T3" fmla="*/ 89 h 127"/>
              <a:gd name="T4" fmla="*/ 127 w 128"/>
              <a:gd name="T5" fmla="*/ 127 h 127"/>
              <a:gd name="T6" fmla="*/ 128 w 128"/>
              <a:gd name="T7" fmla="*/ 127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8" h="127">
                <a:moveTo>
                  <a:pt x="0" y="0"/>
                </a:moveTo>
                <a:lnTo>
                  <a:pt x="38" y="89"/>
                </a:lnTo>
                <a:lnTo>
                  <a:pt x="127" y="127"/>
                </a:lnTo>
                <a:lnTo>
                  <a:pt x="128" y="127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08" name="Freeform 108"/>
          <p:cNvSpPr>
            <a:spLocks noChangeArrowheads="1"/>
          </p:cNvSpPr>
          <p:nvPr/>
        </p:nvSpPr>
        <p:spPr bwMode="auto">
          <a:xfrm>
            <a:off x="6530975" y="2541589"/>
            <a:ext cx="1588" cy="968375"/>
          </a:xfrm>
          <a:custGeom>
            <a:avLst/>
            <a:gdLst>
              <a:gd name="T0" fmla="*/ 0 w 1"/>
              <a:gd name="T1" fmla="*/ 0 h 1828"/>
              <a:gd name="T2" fmla="*/ 0 w 1"/>
              <a:gd name="T3" fmla="*/ 1828 h 1828"/>
              <a:gd name="T4" fmla="*/ 1 w 1"/>
              <a:gd name="T5" fmla="*/ 1828 h 18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828">
                <a:moveTo>
                  <a:pt x="0" y="0"/>
                </a:moveTo>
                <a:lnTo>
                  <a:pt x="0" y="1828"/>
                </a:lnTo>
                <a:lnTo>
                  <a:pt x="1" y="1828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09" name="Freeform 109"/>
          <p:cNvSpPr>
            <a:spLocks noChangeArrowheads="1"/>
          </p:cNvSpPr>
          <p:nvPr/>
        </p:nvSpPr>
        <p:spPr bwMode="auto">
          <a:xfrm>
            <a:off x="6254751" y="3376614"/>
            <a:ext cx="544513" cy="9525"/>
          </a:xfrm>
          <a:custGeom>
            <a:avLst/>
            <a:gdLst>
              <a:gd name="T0" fmla="*/ 0 w 343"/>
              <a:gd name="T1" fmla="*/ 6 h 6"/>
              <a:gd name="T2" fmla="*/ 343 w 343"/>
              <a:gd name="T3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343" h="6">
                <a:moveTo>
                  <a:pt x="0" y="6"/>
                </a:moveTo>
                <a:lnTo>
                  <a:pt x="343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10" name="Freeform 110"/>
          <p:cNvSpPr>
            <a:spLocks noChangeArrowheads="1"/>
          </p:cNvSpPr>
          <p:nvPr/>
        </p:nvSpPr>
        <p:spPr bwMode="auto">
          <a:xfrm>
            <a:off x="6073775" y="2998789"/>
            <a:ext cx="914400" cy="1587"/>
          </a:xfrm>
          <a:custGeom>
            <a:avLst/>
            <a:gdLst>
              <a:gd name="T0" fmla="*/ 0 w 1729"/>
              <a:gd name="T1" fmla="*/ 0 h 1587"/>
              <a:gd name="T2" fmla="*/ 1728 w 1729"/>
              <a:gd name="T3" fmla="*/ 0 h 1587"/>
              <a:gd name="T4" fmla="*/ 1729 w 1729"/>
              <a:gd name="T5" fmla="*/ 0 h 1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29" h="1587">
                <a:moveTo>
                  <a:pt x="0" y="0"/>
                </a:moveTo>
                <a:lnTo>
                  <a:pt x="1728" y="0"/>
                </a:lnTo>
                <a:lnTo>
                  <a:pt x="1729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11" name="Rectangle 111"/>
          <p:cNvSpPr>
            <a:spLocks noChangeArrowheads="1"/>
          </p:cNvSpPr>
          <p:nvPr/>
        </p:nvSpPr>
        <p:spPr bwMode="auto">
          <a:xfrm>
            <a:off x="5721946" y="2636838"/>
            <a:ext cx="20518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i="1">
                <a:solidFill>
                  <a:schemeClr val="tx2"/>
                </a:solidFill>
                <a:latin typeface="Times New Roman" panose="02020603050405020304" pitchFamily="18" charset="0"/>
              </a:rPr>
              <a:t>B</a:t>
            </a:r>
            <a:endParaRPr lang="en-US" altLang="zh-CN">
              <a:solidFill>
                <a:schemeClr val="tx2"/>
              </a:solidFill>
              <a:latin typeface="Times New Roman" panose="02020603050405020304" pitchFamily="18" charset="0"/>
            </a:endParaRPr>
          </a:p>
        </p:txBody>
      </p:sp>
      <p:sp>
        <p:nvSpPr>
          <p:cNvPr id="112" name="Rectangle 112"/>
          <p:cNvSpPr>
            <a:spLocks noChangeArrowheads="1"/>
          </p:cNvSpPr>
          <p:nvPr/>
        </p:nvSpPr>
        <p:spPr bwMode="auto">
          <a:xfrm>
            <a:off x="6434733" y="2152650"/>
            <a:ext cx="20518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i="1">
                <a:solidFill>
                  <a:schemeClr val="tx2"/>
                </a:solidFill>
                <a:latin typeface="Times New Roman" panose="02020603050405020304" pitchFamily="18" charset="0"/>
              </a:rPr>
              <a:t>B</a:t>
            </a:r>
            <a:endParaRPr lang="en-US" altLang="zh-CN">
              <a:solidFill>
                <a:schemeClr val="tx2"/>
              </a:solidFill>
              <a:latin typeface="Times New Roman" panose="02020603050405020304" pitchFamily="18" charset="0"/>
            </a:endParaRPr>
          </a:p>
        </p:txBody>
      </p:sp>
      <p:sp>
        <p:nvSpPr>
          <p:cNvPr id="113" name="Freeform 113"/>
          <p:cNvSpPr>
            <a:spLocks noChangeArrowheads="1"/>
          </p:cNvSpPr>
          <p:nvPr/>
        </p:nvSpPr>
        <p:spPr bwMode="auto">
          <a:xfrm>
            <a:off x="6194425" y="2998789"/>
            <a:ext cx="1588" cy="333375"/>
          </a:xfrm>
          <a:custGeom>
            <a:avLst/>
            <a:gdLst>
              <a:gd name="T0" fmla="*/ 0 w 1"/>
              <a:gd name="T1" fmla="*/ 0 h 210"/>
              <a:gd name="T2" fmla="*/ 1 w 1"/>
              <a:gd name="T3" fmla="*/ 210 h 210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1" h="210">
                <a:moveTo>
                  <a:pt x="0" y="0"/>
                </a:moveTo>
                <a:lnTo>
                  <a:pt x="1" y="21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14" name="Freeform 114"/>
          <p:cNvSpPr>
            <a:spLocks noChangeArrowheads="1"/>
          </p:cNvSpPr>
          <p:nvPr/>
        </p:nvSpPr>
        <p:spPr bwMode="auto">
          <a:xfrm>
            <a:off x="6869114" y="3001963"/>
            <a:ext cx="1587" cy="336550"/>
          </a:xfrm>
          <a:custGeom>
            <a:avLst/>
            <a:gdLst>
              <a:gd name="T0" fmla="*/ 0 w 1"/>
              <a:gd name="T1" fmla="*/ 0 h 212"/>
              <a:gd name="T2" fmla="*/ 0 w 1"/>
              <a:gd name="T3" fmla="*/ 212 h 212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1" h="212">
                <a:moveTo>
                  <a:pt x="0" y="0"/>
                </a:moveTo>
                <a:lnTo>
                  <a:pt x="0" y="212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15" name="Freeform 115"/>
          <p:cNvSpPr>
            <a:spLocks noChangeArrowheads="1"/>
          </p:cNvSpPr>
          <p:nvPr/>
        </p:nvSpPr>
        <p:spPr bwMode="auto">
          <a:xfrm>
            <a:off x="3897313" y="2100263"/>
            <a:ext cx="1149350" cy="6350"/>
          </a:xfrm>
          <a:custGeom>
            <a:avLst/>
            <a:gdLst>
              <a:gd name="T0" fmla="*/ 0 w 724"/>
              <a:gd name="T1" fmla="*/ 4 h 4"/>
              <a:gd name="T2" fmla="*/ 724 w 724"/>
              <a:gd name="T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724" h="4">
                <a:moveTo>
                  <a:pt x="0" y="4"/>
                </a:moveTo>
                <a:lnTo>
                  <a:pt x="724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16" name="Freeform 116"/>
          <p:cNvSpPr>
            <a:spLocks noChangeArrowheads="1"/>
          </p:cNvSpPr>
          <p:nvPr/>
        </p:nvSpPr>
        <p:spPr bwMode="auto">
          <a:xfrm>
            <a:off x="5429250" y="2998789"/>
            <a:ext cx="471488" cy="1587"/>
          </a:xfrm>
          <a:custGeom>
            <a:avLst/>
            <a:gdLst>
              <a:gd name="T0" fmla="*/ 0 w 891"/>
              <a:gd name="T1" fmla="*/ 0 h 1587"/>
              <a:gd name="T2" fmla="*/ 890 w 891"/>
              <a:gd name="T3" fmla="*/ 0 h 1587"/>
              <a:gd name="T4" fmla="*/ 891 w 891"/>
              <a:gd name="T5" fmla="*/ 0 h 1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91" h="1587">
                <a:moveTo>
                  <a:pt x="0" y="0"/>
                </a:moveTo>
                <a:lnTo>
                  <a:pt x="890" y="0"/>
                </a:lnTo>
                <a:lnTo>
                  <a:pt x="891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 type="triangle" w="sm" len="lg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17" name="Text Box 117"/>
          <p:cNvSpPr txBox="1">
            <a:spLocks noChangeArrowheads="1"/>
          </p:cNvSpPr>
          <p:nvPr/>
        </p:nvSpPr>
        <p:spPr bwMode="auto">
          <a:xfrm>
            <a:off x="2154239" y="909638"/>
            <a:ext cx="75390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 </a:t>
            </a:r>
            <a:r>
              <a:rPr lang="zh-CN" altLang="en-US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剖切平面的转折处，不允许与图形的轮廓线重合。</a:t>
            </a:r>
            <a:r>
              <a:rPr lang="zh-CN" altLang="en-US" dirty="0">
                <a:solidFill>
                  <a:srgbClr val="57542F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</a:p>
        </p:txBody>
      </p:sp>
      <p:grpSp>
        <p:nvGrpSpPr>
          <p:cNvPr id="118" name="Group 118"/>
          <p:cNvGrpSpPr>
            <a:grpSpLocks/>
          </p:cNvGrpSpPr>
          <p:nvPr/>
        </p:nvGrpSpPr>
        <p:grpSpPr bwMode="auto">
          <a:xfrm>
            <a:off x="3762375" y="4567238"/>
            <a:ext cx="247650" cy="628650"/>
            <a:chOff x="2032" y="3006"/>
            <a:chExt cx="156" cy="396"/>
          </a:xfrm>
        </p:grpSpPr>
        <p:sp>
          <p:nvSpPr>
            <p:cNvPr id="119" name="Line 119"/>
            <p:cNvSpPr>
              <a:spLocks noChangeShapeType="1"/>
            </p:cNvSpPr>
            <p:nvPr/>
          </p:nvSpPr>
          <p:spPr bwMode="auto">
            <a:xfrm>
              <a:off x="2032" y="3402"/>
              <a:ext cx="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" name="Line 120"/>
            <p:cNvSpPr>
              <a:spLocks noChangeShapeType="1"/>
            </p:cNvSpPr>
            <p:nvPr/>
          </p:nvSpPr>
          <p:spPr bwMode="auto">
            <a:xfrm flipV="1">
              <a:off x="2123" y="3315"/>
              <a:ext cx="0" cy="8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" name="Line 121"/>
            <p:cNvSpPr>
              <a:spLocks noChangeShapeType="1"/>
            </p:cNvSpPr>
            <p:nvPr/>
          </p:nvSpPr>
          <p:spPr bwMode="auto">
            <a:xfrm>
              <a:off x="2116" y="3006"/>
              <a:ext cx="7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" name="Line 122"/>
            <p:cNvSpPr>
              <a:spLocks noChangeShapeType="1"/>
            </p:cNvSpPr>
            <p:nvPr/>
          </p:nvSpPr>
          <p:spPr bwMode="auto">
            <a:xfrm>
              <a:off x="2123" y="3011"/>
              <a:ext cx="0" cy="8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3" name="Text Box 123"/>
          <p:cNvSpPr txBox="1">
            <a:spLocks noChangeArrowheads="1"/>
          </p:cNvSpPr>
          <p:nvPr/>
        </p:nvSpPr>
        <p:spPr bwMode="auto">
          <a:xfrm>
            <a:off x="2154238" y="5916613"/>
            <a:ext cx="61595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 </a:t>
            </a:r>
            <a:r>
              <a:rPr lang="zh-CN" altLang="en-US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在剖视图上不要画出转折界线的投影线。</a:t>
            </a:r>
          </a:p>
        </p:txBody>
      </p:sp>
      <p:grpSp>
        <p:nvGrpSpPr>
          <p:cNvPr id="124" name="Group 124"/>
          <p:cNvGrpSpPr>
            <a:grpSpLocks/>
          </p:cNvGrpSpPr>
          <p:nvPr/>
        </p:nvGrpSpPr>
        <p:grpSpPr bwMode="auto">
          <a:xfrm>
            <a:off x="3679825" y="2976563"/>
            <a:ext cx="0" cy="1600200"/>
            <a:chOff x="2123" y="2004"/>
            <a:chExt cx="0" cy="1008"/>
          </a:xfrm>
        </p:grpSpPr>
        <p:sp>
          <p:nvSpPr>
            <p:cNvPr id="125" name="Line 125"/>
            <p:cNvSpPr>
              <a:spLocks noChangeShapeType="1"/>
            </p:cNvSpPr>
            <p:nvPr/>
          </p:nvSpPr>
          <p:spPr bwMode="auto">
            <a:xfrm flipV="1">
              <a:off x="2123" y="2256"/>
              <a:ext cx="0" cy="756"/>
            </a:xfrm>
            <a:prstGeom prst="line">
              <a:avLst/>
            </a:prstGeom>
            <a:noFill/>
            <a:ln w="9525">
              <a:solidFill>
                <a:srgbClr val="99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" name="Line 126"/>
            <p:cNvSpPr>
              <a:spLocks noChangeShapeType="1"/>
            </p:cNvSpPr>
            <p:nvPr/>
          </p:nvSpPr>
          <p:spPr bwMode="auto">
            <a:xfrm flipV="1">
              <a:off x="2123" y="2004"/>
              <a:ext cx="0" cy="25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7" name="Text Box 127"/>
          <p:cNvSpPr txBox="1">
            <a:spLocks noChangeArrowheads="1"/>
          </p:cNvSpPr>
          <p:nvPr/>
        </p:nvSpPr>
        <p:spPr bwMode="auto">
          <a:xfrm>
            <a:off x="3430589" y="2949575"/>
            <a:ext cx="4921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>
                <a:solidFill>
                  <a:srgbClr val="FF0000"/>
                </a:solidFill>
                <a:latin typeface="Times New Roman" panose="02020603050405020304" pitchFamily="18" charset="0"/>
              </a:rPr>
              <a:t>×</a:t>
            </a:r>
          </a:p>
        </p:txBody>
      </p:sp>
      <p:grpSp>
        <p:nvGrpSpPr>
          <p:cNvPr id="128" name="Group 128"/>
          <p:cNvGrpSpPr>
            <a:grpSpLocks/>
          </p:cNvGrpSpPr>
          <p:nvPr/>
        </p:nvGrpSpPr>
        <p:grpSpPr bwMode="auto">
          <a:xfrm>
            <a:off x="7065964" y="2119313"/>
            <a:ext cx="3311525" cy="3560762"/>
            <a:chOff x="3419" y="607"/>
            <a:chExt cx="2086" cy="2243"/>
          </a:xfrm>
        </p:grpSpPr>
        <p:sp>
          <p:nvSpPr>
            <p:cNvPr id="129" name="Freeform 129"/>
            <p:cNvSpPr>
              <a:spLocks noChangeArrowheads="1"/>
            </p:cNvSpPr>
            <p:nvPr/>
          </p:nvSpPr>
          <p:spPr bwMode="auto">
            <a:xfrm>
              <a:off x="4569" y="612"/>
              <a:ext cx="936" cy="1011"/>
            </a:xfrm>
            <a:custGeom>
              <a:avLst/>
              <a:gdLst>
                <a:gd name="T0" fmla="*/ 0 w 936"/>
                <a:gd name="T1" fmla="*/ 901 h 1011"/>
                <a:gd name="T2" fmla="*/ 0 w 936"/>
                <a:gd name="T3" fmla="*/ 0 h 1011"/>
                <a:gd name="T4" fmla="*/ 936 w 936"/>
                <a:gd name="T5" fmla="*/ 127 h 1011"/>
                <a:gd name="T6" fmla="*/ 936 w 936"/>
                <a:gd name="T7" fmla="*/ 1011 h 1011"/>
                <a:gd name="T8" fmla="*/ 0 w 936"/>
                <a:gd name="T9" fmla="*/ 901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6" h="1011">
                  <a:moveTo>
                    <a:pt x="0" y="901"/>
                  </a:moveTo>
                  <a:lnTo>
                    <a:pt x="0" y="0"/>
                  </a:lnTo>
                  <a:lnTo>
                    <a:pt x="936" y="127"/>
                  </a:lnTo>
                  <a:lnTo>
                    <a:pt x="936" y="1011"/>
                  </a:lnTo>
                  <a:lnTo>
                    <a:pt x="0" y="901"/>
                  </a:lnTo>
                  <a:close/>
                </a:path>
              </a:pathLst>
            </a:custGeom>
            <a:solidFill>
              <a:srgbClr val="CCCC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0" name="Freeform 130"/>
            <p:cNvSpPr>
              <a:spLocks noChangeArrowheads="1"/>
            </p:cNvSpPr>
            <p:nvPr/>
          </p:nvSpPr>
          <p:spPr bwMode="auto">
            <a:xfrm>
              <a:off x="4377" y="607"/>
              <a:ext cx="192" cy="1092"/>
            </a:xfrm>
            <a:custGeom>
              <a:avLst/>
              <a:gdLst>
                <a:gd name="T0" fmla="*/ 192 w 192"/>
                <a:gd name="T1" fmla="*/ 0 h 1092"/>
                <a:gd name="T2" fmla="*/ 192 w 192"/>
                <a:gd name="T3" fmla="*/ 908 h 1092"/>
                <a:gd name="T4" fmla="*/ 0 w 192"/>
                <a:gd name="T5" fmla="*/ 1092 h 1092"/>
                <a:gd name="T6" fmla="*/ 0 w 192"/>
                <a:gd name="T7" fmla="*/ 184 h 1092"/>
                <a:gd name="T8" fmla="*/ 192 w 192"/>
                <a:gd name="T9" fmla="*/ 0 h 1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2" h="1092">
                  <a:moveTo>
                    <a:pt x="192" y="0"/>
                  </a:moveTo>
                  <a:lnTo>
                    <a:pt x="192" y="908"/>
                  </a:lnTo>
                  <a:lnTo>
                    <a:pt x="0" y="1092"/>
                  </a:lnTo>
                  <a:lnTo>
                    <a:pt x="0" y="184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66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1" name="Freeform 131"/>
            <p:cNvSpPr>
              <a:spLocks noChangeArrowheads="1"/>
            </p:cNvSpPr>
            <p:nvPr/>
          </p:nvSpPr>
          <p:spPr bwMode="auto">
            <a:xfrm>
              <a:off x="3789" y="723"/>
              <a:ext cx="596" cy="976"/>
            </a:xfrm>
            <a:custGeom>
              <a:avLst/>
              <a:gdLst>
                <a:gd name="T0" fmla="*/ 596 w 596"/>
                <a:gd name="T1" fmla="*/ 72 h 976"/>
                <a:gd name="T2" fmla="*/ 596 w 596"/>
                <a:gd name="T3" fmla="*/ 976 h 976"/>
                <a:gd name="T4" fmla="*/ 0 w 596"/>
                <a:gd name="T5" fmla="*/ 924 h 976"/>
                <a:gd name="T6" fmla="*/ 0 w 596"/>
                <a:gd name="T7" fmla="*/ 0 h 976"/>
                <a:gd name="T8" fmla="*/ 596 w 596"/>
                <a:gd name="T9" fmla="*/ 72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6" h="976">
                  <a:moveTo>
                    <a:pt x="596" y="72"/>
                  </a:moveTo>
                  <a:lnTo>
                    <a:pt x="596" y="976"/>
                  </a:lnTo>
                  <a:lnTo>
                    <a:pt x="0" y="924"/>
                  </a:lnTo>
                  <a:lnTo>
                    <a:pt x="0" y="0"/>
                  </a:lnTo>
                  <a:lnTo>
                    <a:pt x="596" y="72"/>
                  </a:lnTo>
                  <a:close/>
                </a:path>
              </a:pathLst>
            </a:custGeom>
            <a:solidFill>
              <a:srgbClr val="66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132" name="Group 132"/>
            <p:cNvGrpSpPr>
              <a:grpSpLocks/>
            </p:cNvGrpSpPr>
            <p:nvPr/>
          </p:nvGrpSpPr>
          <p:grpSpPr bwMode="auto">
            <a:xfrm>
              <a:off x="3419" y="612"/>
              <a:ext cx="2084" cy="2238"/>
              <a:chOff x="3419" y="612"/>
              <a:chExt cx="2084" cy="2238"/>
            </a:xfrm>
          </p:grpSpPr>
          <p:grpSp>
            <p:nvGrpSpPr>
              <p:cNvPr id="133" name="Group 133"/>
              <p:cNvGrpSpPr>
                <a:grpSpLocks/>
              </p:cNvGrpSpPr>
              <p:nvPr/>
            </p:nvGrpSpPr>
            <p:grpSpPr bwMode="auto">
              <a:xfrm>
                <a:off x="3419" y="739"/>
                <a:ext cx="2042" cy="2111"/>
                <a:chOff x="3419" y="739"/>
                <a:chExt cx="2042" cy="2111"/>
              </a:xfrm>
            </p:grpSpPr>
            <p:grpSp>
              <p:nvGrpSpPr>
                <p:cNvPr id="144" name="Group 134"/>
                <p:cNvGrpSpPr>
                  <a:grpSpLocks/>
                </p:cNvGrpSpPr>
                <p:nvPr/>
              </p:nvGrpSpPr>
              <p:grpSpPr bwMode="auto">
                <a:xfrm>
                  <a:off x="3419" y="1901"/>
                  <a:ext cx="1622" cy="949"/>
                  <a:chOff x="3419" y="1901"/>
                  <a:chExt cx="1622" cy="949"/>
                </a:xfrm>
              </p:grpSpPr>
              <p:sp>
                <p:nvSpPr>
                  <p:cNvPr id="218" name="Freeform 135"/>
                  <p:cNvSpPr>
                    <a:spLocks noChangeArrowheads="1"/>
                  </p:cNvSpPr>
                  <p:nvPr/>
                </p:nvSpPr>
                <p:spPr bwMode="auto">
                  <a:xfrm>
                    <a:off x="3427" y="2322"/>
                    <a:ext cx="1321" cy="324"/>
                  </a:xfrm>
                  <a:custGeom>
                    <a:avLst/>
                    <a:gdLst>
                      <a:gd name="T0" fmla="*/ 1321 w 1321"/>
                      <a:gd name="T1" fmla="*/ 192 h 324"/>
                      <a:gd name="T2" fmla="*/ 445 w 1321"/>
                      <a:gd name="T3" fmla="*/ 324 h 324"/>
                      <a:gd name="T4" fmla="*/ 40 w 1321"/>
                      <a:gd name="T5" fmla="*/ 294 h 324"/>
                      <a:gd name="T6" fmla="*/ 0 w 1321"/>
                      <a:gd name="T7" fmla="*/ 246 h 324"/>
                      <a:gd name="T8" fmla="*/ 0 w 1321"/>
                      <a:gd name="T9" fmla="*/ 214 h 324"/>
                      <a:gd name="T10" fmla="*/ 165 w 1321"/>
                      <a:gd name="T11" fmla="*/ 82 h 324"/>
                      <a:gd name="T12" fmla="*/ 228 w 1321"/>
                      <a:gd name="T13" fmla="*/ 91 h 324"/>
                      <a:gd name="T14" fmla="*/ 228 w 1321"/>
                      <a:gd name="T15" fmla="*/ 121 h 324"/>
                      <a:gd name="T16" fmla="*/ 249 w 1321"/>
                      <a:gd name="T17" fmla="*/ 135 h 324"/>
                      <a:gd name="T18" fmla="*/ 279 w 1321"/>
                      <a:gd name="T19" fmla="*/ 145 h 324"/>
                      <a:gd name="T20" fmla="*/ 329 w 1321"/>
                      <a:gd name="T21" fmla="*/ 152 h 324"/>
                      <a:gd name="T22" fmla="*/ 376 w 1321"/>
                      <a:gd name="T23" fmla="*/ 149 h 324"/>
                      <a:gd name="T24" fmla="*/ 426 w 1321"/>
                      <a:gd name="T25" fmla="*/ 145 h 324"/>
                      <a:gd name="T26" fmla="*/ 463 w 1321"/>
                      <a:gd name="T27" fmla="*/ 135 h 324"/>
                      <a:gd name="T28" fmla="*/ 480 w 1321"/>
                      <a:gd name="T29" fmla="*/ 121 h 324"/>
                      <a:gd name="T30" fmla="*/ 621 w 1321"/>
                      <a:gd name="T31" fmla="*/ 142 h 324"/>
                      <a:gd name="T32" fmla="*/ 793 w 1321"/>
                      <a:gd name="T33" fmla="*/ 0 h 324"/>
                      <a:gd name="T34" fmla="*/ 955 w 1321"/>
                      <a:gd name="T35" fmla="*/ 18 h 324"/>
                      <a:gd name="T36" fmla="*/ 1321 w 1321"/>
                      <a:gd name="T37" fmla="*/ 192 h 3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1321" h="324">
                        <a:moveTo>
                          <a:pt x="1321" y="192"/>
                        </a:moveTo>
                        <a:lnTo>
                          <a:pt x="445" y="324"/>
                        </a:lnTo>
                        <a:lnTo>
                          <a:pt x="40" y="294"/>
                        </a:lnTo>
                        <a:lnTo>
                          <a:pt x="0" y="246"/>
                        </a:lnTo>
                        <a:lnTo>
                          <a:pt x="0" y="214"/>
                        </a:lnTo>
                        <a:lnTo>
                          <a:pt x="165" y="82"/>
                        </a:lnTo>
                        <a:lnTo>
                          <a:pt x="228" y="91"/>
                        </a:lnTo>
                        <a:lnTo>
                          <a:pt x="228" y="121"/>
                        </a:lnTo>
                        <a:lnTo>
                          <a:pt x="249" y="135"/>
                        </a:lnTo>
                        <a:lnTo>
                          <a:pt x="279" y="145"/>
                        </a:lnTo>
                        <a:lnTo>
                          <a:pt x="329" y="152"/>
                        </a:lnTo>
                        <a:lnTo>
                          <a:pt x="376" y="149"/>
                        </a:lnTo>
                        <a:lnTo>
                          <a:pt x="426" y="145"/>
                        </a:lnTo>
                        <a:lnTo>
                          <a:pt x="463" y="135"/>
                        </a:lnTo>
                        <a:lnTo>
                          <a:pt x="480" y="121"/>
                        </a:lnTo>
                        <a:lnTo>
                          <a:pt x="621" y="142"/>
                        </a:lnTo>
                        <a:lnTo>
                          <a:pt x="793" y="0"/>
                        </a:lnTo>
                        <a:lnTo>
                          <a:pt x="955" y="18"/>
                        </a:lnTo>
                        <a:lnTo>
                          <a:pt x="1321" y="192"/>
                        </a:lnTo>
                        <a:close/>
                      </a:path>
                    </a:pathLst>
                  </a:custGeom>
                  <a:gradFill rotWithShape="0">
                    <a:gsLst>
                      <a:gs pos="0">
                        <a:srgbClr val="454545"/>
                      </a:gs>
                      <a:gs pos="100000">
                        <a:srgbClr val="969696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19" name="Freeform 136"/>
                  <p:cNvSpPr>
                    <a:spLocks noChangeArrowheads="1"/>
                  </p:cNvSpPr>
                  <p:nvPr/>
                </p:nvSpPr>
                <p:spPr bwMode="auto">
                  <a:xfrm>
                    <a:off x="4830" y="2206"/>
                    <a:ext cx="211" cy="491"/>
                  </a:xfrm>
                  <a:custGeom>
                    <a:avLst/>
                    <a:gdLst>
                      <a:gd name="T0" fmla="*/ 211 w 211"/>
                      <a:gd name="T1" fmla="*/ 27 h 491"/>
                      <a:gd name="T2" fmla="*/ 80 w 211"/>
                      <a:gd name="T3" fmla="*/ 0 h 491"/>
                      <a:gd name="T4" fmla="*/ 60 w 211"/>
                      <a:gd name="T5" fmla="*/ 27 h 491"/>
                      <a:gd name="T6" fmla="*/ 47 w 211"/>
                      <a:gd name="T7" fmla="*/ 47 h 491"/>
                      <a:gd name="T8" fmla="*/ 23 w 211"/>
                      <a:gd name="T9" fmla="*/ 97 h 491"/>
                      <a:gd name="T10" fmla="*/ 3 w 211"/>
                      <a:gd name="T11" fmla="*/ 168 h 491"/>
                      <a:gd name="T12" fmla="*/ 0 w 211"/>
                      <a:gd name="T13" fmla="*/ 282 h 491"/>
                      <a:gd name="T14" fmla="*/ 14 w 211"/>
                      <a:gd name="T15" fmla="*/ 470 h 491"/>
                      <a:gd name="T16" fmla="*/ 117 w 211"/>
                      <a:gd name="T17" fmla="*/ 491 h 491"/>
                      <a:gd name="T18" fmla="*/ 120 w 211"/>
                      <a:gd name="T19" fmla="*/ 353 h 491"/>
                      <a:gd name="T20" fmla="*/ 140 w 211"/>
                      <a:gd name="T21" fmla="*/ 138 h 491"/>
                      <a:gd name="T22" fmla="*/ 211 w 211"/>
                      <a:gd name="T23" fmla="*/ 27 h 4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11" h="491">
                        <a:moveTo>
                          <a:pt x="211" y="27"/>
                        </a:moveTo>
                        <a:lnTo>
                          <a:pt x="80" y="0"/>
                        </a:lnTo>
                        <a:lnTo>
                          <a:pt x="60" y="27"/>
                        </a:lnTo>
                        <a:lnTo>
                          <a:pt x="47" y="47"/>
                        </a:lnTo>
                        <a:lnTo>
                          <a:pt x="23" y="97"/>
                        </a:lnTo>
                        <a:lnTo>
                          <a:pt x="3" y="168"/>
                        </a:lnTo>
                        <a:lnTo>
                          <a:pt x="0" y="282"/>
                        </a:lnTo>
                        <a:lnTo>
                          <a:pt x="14" y="470"/>
                        </a:lnTo>
                        <a:lnTo>
                          <a:pt x="117" y="491"/>
                        </a:lnTo>
                        <a:lnTo>
                          <a:pt x="120" y="353"/>
                        </a:lnTo>
                        <a:lnTo>
                          <a:pt x="140" y="138"/>
                        </a:lnTo>
                        <a:lnTo>
                          <a:pt x="211" y="27"/>
                        </a:lnTo>
                        <a:close/>
                      </a:path>
                    </a:pathLst>
                  </a:custGeom>
                  <a:gradFill rotWithShape="0">
                    <a:gsLst>
                      <a:gs pos="0">
                        <a:srgbClr val="636363"/>
                      </a:gs>
                      <a:gs pos="100000">
                        <a:srgbClr val="969696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20" name="Freeform 137"/>
                  <p:cNvSpPr>
                    <a:spLocks noChangeArrowheads="1"/>
                  </p:cNvSpPr>
                  <p:nvPr/>
                </p:nvSpPr>
                <p:spPr bwMode="auto">
                  <a:xfrm>
                    <a:off x="4383" y="1915"/>
                    <a:ext cx="91" cy="90"/>
                  </a:xfrm>
                  <a:custGeom>
                    <a:avLst/>
                    <a:gdLst>
                      <a:gd name="T0" fmla="*/ 34 w 130"/>
                      <a:gd name="T1" fmla="*/ 0 h 129"/>
                      <a:gd name="T2" fmla="*/ 0 w 130"/>
                      <a:gd name="T3" fmla="*/ 19 h 129"/>
                      <a:gd name="T4" fmla="*/ 10 w 130"/>
                      <a:gd name="T5" fmla="*/ 62 h 129"/>
                      <a:gd name="T6" fmla="*/ 39 w 130"/>
                      <a:gd name="T7" fmla="*/ 96 h 129"/>
                      <a:gd name="T8" fmla="*/ 72 w 130"/>
                      <a:gd name="T9" fmla="*/ 124 h 129"/>
                      <a:gd name="T10" fmla="*/ 106 w 130"/>
                      <a:gd name="T11" fmla="*/ 129 h 129"/>
                      <a:gd name="T12" fmla="*/ 82 w 130"/>
                      <a:gd name="T13" fmla="*/ 96 h 129"/>
                      <a:gd name="T14" fmla="*/ 96 w 130"/>
                      <a:gd name="T15" fmla="*/ 57 h 129"/>
                      <a:gd name="T16" fmla="*/ 130 w 130"/>
                      <a:gd name="T17" fmla="*/ 38 h 129"/>
                      <a:gd name="T18" fmla="*/ 34 w 130"/>
                      <a:gd name="T19" fmla="*/ 0 h 1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30" h="129">
                        <a:moveTo>
                          <a:pt x="34" y="0"/>
                        </a:moveTo>
                        <a:lnTo>
                          <a:pt x="0" y="19"/>
                        </a:lnTo>
                        <a:lnTo>
                          <a:pt x="10" y="62"/>
                        </a:lnTo>
                        <a:lnTo>
                          <a:pt x="39" y="96"/>
                        </a:lnTo>
                        <a:lnTo>
                          <a:pt x="72" y="124"/>
                        </a:lnTo>
                        <a:lnTo>
                          <a:pt x="106" y="129"/>
                        </a:lnTo>
                        <a:lnTo>
                          <a:pt x="82" y="96"/>
                        </a:lnTo>
                        <a:lnTo>
                          <a:pt x="96" y="57"/>
                        </a:lnTo>
                        <a:lnTo>
                          <a:pt x="130" y="38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21" name="Freeform 138"/>
                  <p:cNvSpPr>
                    <a:spLocks noChangeArrowheads="1"/>
                  </p:cNvSpPr>
                  <p:nvPr/>
                </p:nvSpPr>
                <p:spPr bwMode="auto">
                  <a:xfrm>
                    <a:off x="4303" y="1901"/>
                    <a:ext cx="614" cy="165"/>
                  </a:xfrm>
                  <a:custGeom>
                    <a:avLst/>
                    <a:gdLst>
                      <a:gd name="T0" fmla="*/ 19 w 878"/>
                      <a:gd name="T1" fmla="*/ 0 h 236"/>
                      <a:gd name="T2" fmla="*/ 144 w 878"/>
                      <a:gd name="T3" fmla="*/ 24 h 236"/>
                      <a:gd name="T4" fmla="*/ 134 w 878"/>
                      <a:gd name="T5" fmla="*/ 48 h 236"/>
                      <a:gd name="T6" fmla="*/ 144 w 878"/>
                      <a:gd name="T7" fmla="*/ 87 h 236"/>
                      <a:gd name="T8" fmla="*/ 187 w 878"/>
                      <a:gd name="T9" fmla="*/ 116 h 236"/>
                      <a:gd name="T10" fmla="*/ 230 w 878"/>
                      <a:gd name="T11" fmla="*/ 130 h 236"/>
                      <a:gd name="T12" fmla="*/ 274 w 878"/>
                      <a:gd name="T13" fmla="*/ 149 h 236"/>
                      <a:gd name="T14" fmla="*/ 336 w 878"/>
                      <a:gd name="T15" fmla="*/ 149 h 236"/>
                      <a:gd name="T16" fmla="*/ 408 w 878"/>
                      <a:gd name="T17" fmla="*/ 159 h 236"/>
                      <a:gd name="T18" fmla="*/ 475 w 878"/>
                      <a:gd name="T19" fmla="*/ 159 h 236"/>
                      <a:gd name="T20" fmla="*/ 542 w 878"/>
                      <a:gd name="T21" fmla="*/ 154 h 236"/>
                      <a:gd name="T22" fmla="*/ 605 w 878"/>
                      <a:gd name="T23" fmla="*/ 149 h 236"/>
                      <a:gd name="T24" fmla="*/ 677 w 878"/>
                      <a:gd name="T25" fmla="*/ 140 h 236"/>
                      <a:gd name="T26" fmla="*/ 730 w 878"/>
                      <a:gd name="T27" fmla="*/ 111 h 236"/>
                      <a:gd name="T28" fmla="*/ 754 w 878"/>
                      <a:gd name="T29" fmla="*/ 87 h 236"/>
                      <a:gd name="T30" fmla="*/ 878 w 878"/>
                      <a:gd name="T31" fmla="*/ 111 h 236"/>
                      <a:gd name="T32" fmla="*/ 830 w 878"/>
                      <a:gd name="T33" fmla="*/ 159 h 236"/>
                      <a:gd name="T34" fmla="*/ 682 w 878"/>
                      <a:gd name="T35" fmla="*/ 216 h 236"/>
                      <a:gd name="T36" fmla="*/ 422 w 878"/>
                      <a:gd name="T37" fmla="*/ 236 h 236"/>
                      <a:gd name="T38" fmla="*/ 197 w 878"/>
                      <a:gd name="T39" fmla="*/ 221 h 236"/>
                      <a:gd name="T40" fmla="*/ 34 w 878"/>
                      <a:gd name="T41" fmla="*/ 164 h 236"/>
                      <a:gd name="T42" fmla="*/ 0 w 878"/>
                      <a:gd name="T43" fmla="*/ 77 h 236"/>
                      <a:gd name="T44" fmla="*/ 5 w 878"/>
                      <a:gd name="T45" fmla="*/ 29 h 236"/>
                      <a:gd name="T46" fmla="*/ 19 w 878"/>
                      <a:gd name="T47" fmla="*/ 0 h 2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878" h="236">
                        <a:moveTo>
                          <a:pt x="19" y="0"/>
                        </a:moveTo>
                        <a:lnTo>
                          <a:pt x="144" y="24"/>
                        </a:lnTo>
                        <a:lnTo>
                          <a:pt x="134" y="48"/>
                        </a:lnTo>
                        <a:lnTo>
                          <a:pt x="144" y="87"/>
                        </a:lnTo>
                        <a:lnTo>
                          <a:pt x="187" y="116"/>
                        </a:lnTo>
                        <a:lnTo>
                          <a:pt x="230" y="130"/>
                        </a:lnTo>
                        <a:lnTo>
                          <a:pt x="274" y="149"/>
                        </a:lnTo>
                        <a:lnTo>
                          <a:pt x="336" y="149"/>
                        </a:lnTo>
                        <a:lnTo>
                          <a:pt x="408" y="159"/>
                        </a:lnTo>
                        <a:lnTo>
                          <a:pt x="475" y="159"/>
                        </a:lnTo>
                        <a:lnTo>
                          <a:pt x="542" y="154"/>
                        </a:lnTo>
                        <a:lnTo>
                          <a:pt x="605" y="149"/>
                        </a:lnTo>
                        <a:lnTo>
                          <a:pt x="677" y="140"/>
                        </a:lnTo>
                        <a:lnTo>
                          <a:pt x="730" y="111"/>
                        </a:lnTo>
                        <a:lnTo>
                          <a:pt x="754" y="87"/>
                        </a:lnTo>
                        <a:lnTo>
                          <a:pt x="878" y="111"/>
                        </a:lnTo>
                        <a:lnTo>
                          <a:pt x="830" y="159"/>
                        </a:lnTo>
                        <a:lnTo>
                          <a:pt x="682" y="216"/>
                        </a:lnTo>
                        <a:lnTo>
                          <a:pt x="422" y="236"/>
                        </a:lnTo>
                        <a:lnTo>
                          <a:pt x="197" y="221"/>
                        </a:lnTo>
                        <a:lnTo>
                          <a:pt x="34" y="164"/>
                        </a:lnTo>
                        <a:lnTo>
                          <a:pt x="0" y="77"/>
                        </a:lnTo>
                        <a:lnTo>
                          <a:pt x="5" y="29"/>
                        </a:lnTo>
                        <a:lnTo>
                          <a:pt x="19" y="0"/>
                        </a:lnTo>
                        <a:close/>
                      </a:path>
                    </a:pathLst>
                  </a:custGeom>
                  <a:solidFill>
                    <a:srgbClr val="B2B2B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22" name="Freeform 139"/>
                  <p:cNvSpPr>
                    <a:spLocks noChangeArrowheads="1"/>
                  </p:cNvSpPr>
                  <p:nvPr/>
                </p:nvSpPr>
                <p:spPr bwMode="auto">
                  <a:xfrm>
                    <a:off x="4304" y="1952"/>
                    <a:ext cx="610" cy="748"/>
                  </a:xfrm>
                  <a:custGeom>
                    <a:avLst/>
                    <a:gdLst>
                      <a:gd name="T0" fmla="*/ 0 w 610"/>
                      <a:gd name="T1" fmla="*/ 0 h 748"/>
                      <a:gd name="T2" fmla="*/ 33 w 610"/>
                      <a:gd name="T3" fmla="*/ 33 h 748"/>
                      <a:gd name="T4" fmla="*/ 71 w 610"/>
                      <a:gd name="T5" fmla="*/ 56 h 748"/>
                      <a:gd name="T6" fmla="*/ 143 w 610"/>
                      <a:gd name="T7" fmla="*/ 80 h 748"/>
                      <a:gd name="T8" fmla="*/ 217 w 610"/>
                      <a:gd name="T9" fmla="*/ 90 h 748"/>
                      <a:gd name="T10" fmla="*/ 314 w 610"/>
                      <a:gd name="T11" fmla="*/ 97 h 748"/>
                      <a:gd name="T12" fmla="*/ 388 w 610"/>
                      <a:gd name="T13" fmla="*/ 90 h 748"/>
                      <a:gd name="T14" fmla="*/ 456 w 610"/>
                      <a:gd name="T15" fmla="*/ 87 h 748"/>
                      <a:gd name="T16" fmla="*/ 523 w 610"/>
                      <a:gd name="T17" fmla="*/ 71 h 748"/>
                      <a:gd name="T18" fmla="*/ 564 w 610"/>
                      <a:gd name="T19" fmla="*/ 56 h 748"/>
                      <a:gd name="T20" fmla="*/ 609 w 610"/>
                      <a:gd name="T21" fmla="*/ 31 h 748"/>
                      <a:gd name="T22" fmla="*/ 610 w 610"/>
                      <a:gd name="T23" fmla="*/ 265 h 748"/>
                      <a:gd name="T24" fmla="*/ 590 w 610"/>
                      <a:gd name="T25" fmla="*/ 295 h 748"/>
                      <a:gd name="T26" fmla="*/ 569 w 610"/>
                      <a:gd name="T27" fmla="*/ 331 h 748"/>
                      <a:gd name="T28" fmla="*/ 560 w 610"/>
                      <a:gd name="T29" fmla="*/ 372 h 748"/>
                      <a:gd name="T30" fmla="*/ 553 w 610"/>
                      <a:gd name="T31" fmla="*/ 412 h 748"/>
                      <a:gd name="T32" fmla="*/ 543 w 610"/>
                      <a:gd name="T33" fmla="*/ 446 h 748"/>
                      <a:gd name="T34" fmla="*/ 540 w 610"/>
                      <a:gd name="T35" fmla="*/ 724 h 748"/>
                      <a:gd name="T36" fmla="*/ 509 w 610"/>
                      <a:gd name="T37" fmla="*/ 748 h 748"/>
                      <a:gd name="T38" fmla="*/ 444 w 610"/>
                      <a:gd name="T39" fmla="*/ 748 h 748"/>
                      <a:gd name="T40" fmla="*/ 444 w 610"/>
                      <a:gd name="T41" fmla="*/ 556 h 748"/>
                      <a:gd name="T42" fmla="*/ 437 w 610"/>
                      <a:gd name="T43" fmla="*/ 560 h 748"/>
                      <a:gd name="T44" fmla="*/ 396 w 610"/>
                      <a:gd name="T45" fmla="*/ 560 h 748"/>
                      <a:gd name="T46" fmla="*/ 344 w 610"/>
                      <a:gd name="T47" fmla="*/ 567 h 748"/>
                      <a:gd name="T48" fmla="*/ 284 w 610"/>
                      <a:gd name="T49" fmla="*/ 570 h 748"/>
                      <a:gd name="T50" fmla="*/ 223 w 610"/>
                      <a:gd name="T51" fmla="*/ 560 h 748"/>
                      <a:gd name="T52" fmla="*/ 167 w 610"/>
                      <a:gd name="T53" fmla="*/ 553 h 748"/>
                      <a:gd name="T54" fmla="*/ 103 w 610"/>
                      <a:gd name="T55" fmla="*/ 543 h 748"/>
                      <a:gd name="T56" fmla="*/ 59 w 610"/>
                      <a:gd name="T57" fmla="*/ 526 h 748"/>
                      <a:gd name="T58" fmla="*/ 16 w 610"/>
                      <a:gd name="T59" fmla="*/ 500 h 748"/>
                      <a:gd name="T60" fmla="*/ 0 w 610"/>
                      <a:gd name="T61" fmla="*/ 463 h 748"/>
                      <a:gd name="T62" fmla="*/ 0 w 610"/>
                      <a:gd name="T63" fmla="*/ 0 h 7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610" h="748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71" y="56"/>
                        </a:lnTo>
                        <a:lnTo>
                          <a:pt x="143" y="80"/>
                        </a:lnTo>
                        <a:lnTo>
                          <a:pt x="217" y="90"/>
                        </a:lnTo>
                        <a:lnTo>
                          <a:pt x="314" y="97"/>
                        </a:lnTo>
                        <a:lnTo>
                          <a:pt x="388" y="90"/>
                        </a:lnTo>
                        <a:lnTo>
                          <a:pt x="456" y="87"/>
                        </a:lnTo>
                        <a:lnTo>
                          <a:pt x="523" y="71"/>
                        </a:lnTo>
                        <a:lnTo>
                          <a:pt x="564" y="56"/>
                        </a:lnTo>
                        <a:lnTo>
                          <a:pt x="609" y="31"/>
                        </a:lnTo>
                        <a:lnTo>
                          <a:pt x="610" y="265"/>
                        </a:lnTo>
                        <a:lnTo>
                          <a:pt x="590" y="295"/>
                        </a:lnTo>
                        <a:lnTo>
                          <a:pt x="569" y="331"/>
                        </a:lnTo>
                        <a:lnTo>
                          <a:pt x="560" y="372"/>
                        </a:lnTo>
                        <a:lnTo>
                          <a:pt x="553" y="412"/>
                        </a:lnTo>
                        <a:lnTo>
                          <a:pt x="543" y="446"/>
                        </a:lnTo>
                        <a:lnTo>
                          <a:pt x="540" y="724"/>
                        </a:lnTo>
                        <a:lnTo>
                          <a:pt x="509" y="748"/>
                        </a:lnTo>
                        <a:lnTo>
                          <a:pt x="444" y="748"/>
                        </a:lnTo>
                        <a:lnTo>
                          <a:pt x="444" y="556"/>
                        </a:lnTo>
                        <a:lnTo>
                          <a:pt x="437" y="560"/>
                        </a:lnTo>
                        <a:lnTo>
                          <a:pt x="396" y="560"/>
                        </a:lnTo>
                        <a:lnTo>
                          <a:pt x="344" y="567"/>
                        </a:lnTo>
                        <a:lnTo>
                          <a:pt x="284" y="570"/>
                        </a:lnTo>
                        <a:lnTo>
                          <a:pt x="223" y="560"/>
                        </a:lnTo>
                        <a:lnTo>
                          <a:pt x="167" y="553"/>
                        </a:lnTo>
                        <a:lnTo>
                          <a:pt x="103" y="543"/>
                        </a:lnTo>
                        <a:lnTo>
                          <a:pt x="59" y="526"/>
                        </a:lnTo>
                        <a:lnTo>
                          <a:pt x="16" y="500"/>
                        </a:lnTo>
                        <a:lnTo>
                          <a:pt x="0" y="4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0">
                    <a:gsLst>
                      <a:gs pos="0">
                        <a:srgbClr val="525252"/>
                      </a:gs>
                      <a:gs pos="50000">
                        <a:srgbClr val="B2B2B2"/>
                      </a:gs>
                      <a:gs pos="100000">
                        <a:srgbClr val="525252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23" name="Freeform 140"/>
                  <p:cNvSpPr>
                    <a:spLocks noChangeArrowheads="1"/>
                  </p:cNvSpPr>
                  <p:nvPr/>
                </p:nvSpPr>
                <p:spPr bwMode="auto">
                  <a:xfrm>
                    <a:off x="4947" y="2230"/>
                    <a:ext cx="94" cy="474"/>
                  </a:xfrm>
                  <a:custGeom>
                    <a:avLst/>
                    <a:gdLst>
                      <a:gd name="T0" fmla="*/ 134 w 134"/>
                      <a:gd name="T1" fmla="*/ 0 h 677"/>
                      <a:gd name="T2" fmla="*/ 100 w 134"/>
                      <a:gd name="T3" fmla="*/ 19 h 677"/>
                      <a:gd name="T4" fmla="*/ 72 w 134"/>
                      <a:gd name="T5" fmla="*/ 48 h 677"/>
                      <a:gd name="T6" fmla="*/ 48 w 134"/>
                      <a:gd name="T7" fmla="*/ 72 h 677"/>
                      <a:gd name="T8" fmla="*/ 33 w 134"/>
                      <a:gd name="T9" fmla="*/ 101 h 677"/>
                      <a:gd name="T10" fmla="*/ 9 w 134"/>
                      <a:gd name="T11" fmla="*/ 163 h 677"/>
                      <a:gd name="T12" fmla="*/ 0 w 134"/>
                      <a:gd name="T13" fmla="*/ 221 h 677"/>
                      <a:gd name="T14" fmla="*/ 0 w 134"/>
                      <a:gd name="T15" fmla="*/ 677 h 677"/>
                      <a:gd name="T16" fmla="*/ 134 w 134"/>
                      <a:gd name="T17" fmla="*/ 561 h 677"/>
                      <a:gd name="T18" fmla="*/ 134 w 134"/>
                      <a:gd name="T19" fmla="*/ 369 h 677"/>
                      <a:gd name="T20" fmla="*/ 105 w 134"/>
                      <a:gd name="T21" fmla="*/ 365 h 677"/>
                      <a:gd name="T22" fmla="*/ 91 w 134"/>
                      <a:gd name="T23" fmla="*/ 341 h 677"/>
                      <a:gd name="T24" fmla="*/ 81 w 134"/>
                      <a:gd name="T25" fmla="*/ 293 h 677"/>
                      <a:gd name="T26" fmla="*/ 86 w 134"/>
                      <a:gd name="T27" fmla="*/ 240 h 677"/>
                      <a:gd name="T28" fmla="*/ 100 w 134"/>
                      <a:gd name="T29" fmla="*/ 197 h 677"/>
                      <a:gd name="T30" fmla="*/ 134 w 134"/>
                      <a:gd name="T31" fmla="*/ 153 h 677"/>
                      <a:gd name="T32" fmla="*/ 134 w 134"/>
                      <a:gd name="T33" fmla="*/ 0 h 6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34" h="677">
                        <a:moveTo>
                          <a:pt x="134" y="0"/>
                        </a:moveTo>
                        <a:lnTo>
                          <a:pt x="100" y="19"/>
                        </a:lnTo>
                        <a:lnTo>
                          <a:pt x="72" y="48"/>
                        </a:lnTo>
                        <a:lnTo>
                          <a:pt x="48" y="72"/>
                        </a:lnTo>
                        <a:lnTo>
                          <a:pt x="33" y="101"/>
                        </a:lnTo>
                        <a:lnTo>
                          <a:pt x="9" y="163"/>
                        </a:lnTo>
                        <a:lnTo>
                          <a:pt x="0" y="221"/>
                        </a:lnTo>
                        <a:lnTo>
                          <a:pt x="0" y="677"/>
                        </a:lnTo>
                        <a:lnTo>
                          <a:pt x="134" y="561"/>
                        </a:lnTo>
                        <a:lnTo>
                          <a:pt x="134" y="369"/>
                        </a:lnTo>
                        <a:lnTo>
                          <a:pt x="105" y="365"/>
                        </a:lnTo>
                        <a:lnTo>
                          <a:pt x="91" y="341"/>
                        </a:lnTo>
                        <a:lnTo>
                          <a:pt x="81" y="293"/>
                        </a:lnTo>
                        <a:lnTo>
                          <a:pt x="86" y="240"/>
                        </a:lnTo>
                        <a:lnTo>
                          <a:pt x="100" y="197"/>
                        </a:lnTo>
                        <a:lnTo>
                          <a:pt x="134" y="153"/>
                        </a:lnTo>
                        <a:lnTo>
                          <a:pt x="134" y="0"/>
                        </a:lnTo>
                        <a:close/>
                      </a:path>
                    </a:pathLst>
                  </a:custGeom>
                  <a:solidFill>
                    <a:schemeClr val="folHlink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24" name="Freeform 141"/>
                  <p:cNvSpPr>
                    <a:spLocks noChangeArrowheads="1"/>
                  </p:cNvSpPr>
                  <p:nvPr/>
                </p:nvSpPr>
                <p:spPr bwMode="auto">
                  <a:xfrm>
                    <a:off x="3419" y="2548"/>
                    <a:ext cx="450" cy="302"/>
                  </a:xfrm>
                  <a:custGeom>
                    <a:avLst/>
                    <a:gdLst>
                      <a:gd name="T0" fmla="*/ 0 w 450"/>
                      <a:gd name="T1" fmla="*/ 0 h 302"/>
                      <a:gd name="T2" fmla="*/ 450 w 450"/>
                      <a:gd name="T3" fmla="*/ 67 h 302"/>
                      <a:gd name="T4" fmla="*/ 450 w 450"/>
                      <a:gd name="T5" fmla="*/ 302 h 302"/>
                      <a:gd name="T6" fmla="*/ 56 w 450"/>
                      <a:gd name="T7" fmla="*/ 236 h 302"/>
                      <a:gd name="T8" fmla="*/ 20 w 450"/>
                      <a:gd name="T9" fmla="*/ 216 h 302"/>
                      <a:gd name="T10" fmla="*/ 0 w 450"/>
                      <a:gd name="T11" fmla="*/ 188 h 302"/>
                      <a:gd name="T12" fmla="*/ 0 w 450"/>
                      <a:gd name="T13" fmla="*/ 0 h 3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50" h="302">
                        <a:moveTo>
                          <a:pt x="0" y="0"/>
                        </a:moveTo>
                        <a:lnTo>
                          <a:pt x="450" y="67"/>
                        </a:lnTo>
                        <a:lnTo>
                          <a:pt x="450" y="302"/>
                        </a:lnTo>
                        <a:lnTo>
                          <a:pt x="56" y="236"/>
                        </a:lnTo>
                        <a:lnTo>
                          <a:pt x="20" y="216"/>
                        </a:lnTo>
                        <a:lnTo>
                          <a:pt x="0" y="18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0">
                    <a:gsLst>
                      <a:gs pos="0">
                        <a:srgbClr val="797979"/>
                      </a:gs>
                      <a:gs pos="100000">
                        <a:srgbClr val="B2B2B2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25" name="Freeform 142"/>
                  <p:cNvSpPr>
                    <a:spLocks noChangeArrowheads="1"/>
                  </p:cNvSpPr>
                  <p:nvPr/>
                </p:nvSpPr>
                <p:spPr bwMode="auto">
                  <a:xfrm>
                    <a:off x="3866" y="2496"/>
                    <a:ext cx="894" cy="354"/>
                  </a:xfrm>
                  <a:custGeom>
                    <a:avLst/>
                    <a:gdLst>
                      <a:gd name="T0" fmla="*/ 0 w 894"/>
                      <a:gd name="T1" fmla="*/ 120 h 354"/>
                      <a:gd name="T2" fmla="*/ 54 w 894"/>
                      <a:gd name="T3" fmla="*/ 114 h 354"/>
                      <a:gd name="T4" fmla="*/ 102 w 894"/>
                      <a:gd name="T5" fmla="*/ 108 h 354"/>
                      <a:gd name="T6" fmla="*/ 894 w 894"/>
                      <a:gd name="T7" fmla="*/ 0 h 354"/>
                      <a:gd name="T8" fmla="*/ 894 w 894"/>
                      <a:gd name="T9" fmla="*/ 198 h 354"/>
                      <a:gd name="T10" fmla="*/ 90 w 894"/>
                      <a:gd name="T11" fmla="*/ 304 h 354"/>
                      <a:gd name="T12" fmla="*/ 54 w 894"/>
                      <a:gd name="T13" fmla="*/ 308 h 354"/>
                      <a:gd name="T14" fmla="*/ 26 w 894"/>
                      <a:gd name="T15" fmla="*/ 320 h 354"/>
                      <a:gd name="T16" fmla="*/ 0 w 894"/>
                      <a:gd name="T17" fmla="*/ 354 h 354"/>
                      <a:gd name="T18" fmla="*/ 0 w 894"/>
                      <a:gd name="T19" fmla="*/ 120 h 3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894" h="354">
                        <a:moveTo>
                          <a:pt x="0" y="120"/>
                        </a:moveTo>
                        <a:lnTo>
                          <a:pt x="54" y="114"/>
                        </a:lnTo>
                        <a:lnTo>
                          <a:pt x="102" y="108"/>
                        </a:lnTo>
                        <a:lnTo>
                          <a:pt x="894" y="0"/>
                        </a:lnTo>
                        <a:lnTo>
                          <a:pt x="894" y="198"/>
                        </a:lnTo>
                        <a:lnTo>
                          <a:pt x="90" y="304"/>
                        </a:lnTo>
                        <a:lnTo>
                          <a:pt x="54" y="308"/>
                        </a:lnTo>
                        <a:lnTo>
                          <a:pt x="26" y="320"/>
                        </a:lnTo>
                        <a:lnTo>
                          <a:pt x="0" y="354"/>
                        </a:lnTo>
                        <a:lnTo>
                          <a:pt x="0" y="120"/>
                        </a:lnTo>
                        <a:close/>
                      </a:path>
                    </a:pathLst>
                  </a:custGeom>
                  <a:gradFill rotWithShape="0">
                    <a:gsLst>
                      <a:gs pos="0">
                        <a:srgbClr val="B2B2B2"/>
                      </a:gs>
                      <a:gs pos="100000">
                        <a:srgbClr val="7E7E7E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145" name="Group 143"/>
                <p:cNvGrpSpPr>
                  <a:grpSpLocks/>
                </p:cNvGrpSpPr>
                <p:nvPr/>
              </p:nvGrpSpPr>
              <p:grpSpPr bwMode="auto">
                <a:xfrm>
                  <a:off x="3884" y="739"/>
                  <a:ext cx="1577" cy="895"/>
                  <a:chOff x="2652" y="1627"/>
                  <a:chExt cx="1577" cy="895"/>
                </a:xfrm>
              </p:grpSpPr>
              <p:sp>
                <p:nvSpPr>
                  <p:cNvPr id="146" name="Freeform 144"/>
                  <p:cNvSpPr>
                    <a:spLocks noChangeArrowheads="1"/>
                  </p:cNvSpPr>
                  <p:nvPr/>
                </p:nvSpPr>
                <p:spPr bwMode="auto">
                  <a:xfrm>
                    <a:off x="4026" y="1728"/>
                    <a:ext cx="18" cy="284"/>
                  </a:xfrm>
                  <a:custGeom>
                    <a:avLst/>
                    <a:gdLst>
                      <a:gd name="T0" fmla="*/ 26 w 26"/>
                      <a:gd name="T1" fmla="*/ 0 h 406"/>
                      <a:gd name="T2" fmla="*/ 26 w 26"/>
                      <a:gd name="T3" fmla="*/ 406 h 406"/>
                      <a:gd name="T4" fmla="*/ 0 w 26"/>
                      <a:gd name="T5" fmla="*/ 406 h 406"/>
                      <a:gd name="T6" fmla="*/ 0 w 26"/>
                      <a:gd name="T7" fmla="*/ 35 h 406"/>
                      <a:gd name="T8" fmla="*/ 26 w 26"/>
                      <a:gd name="T9" fmla="*/ 0 h 4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" h="406">
                        <a:moveTo>
                          <a:pt x="26" y="0"/>
                        </a:moveTo>
                        <a:lnTo>
                          <a:pt x="26" y="406"/>
                        </a:lnTo>
                        <a:lnTo>
                          <a:pt x="0" y="406"/>
                        </a:lnTo>
                        <a:lnTo>
                          <a:pt x="0" y="35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47" name="Freeform 145"/>
                  <p:cNvSpPr>
                    <a:spLocks noChangeArrowheads="1"/>
                  </p:cNvSpPr>
                  <p:nvPr/>
                </p:nvSpPr>
                <p:spPr bwMode="auto">
                  <a:xfrm>
                    <a:off x="4142" y="2014"/>
                    <a:ext cx="87" cy="384"/>
                  </a:xfrm>
                  <a:custGeom>
                    <a:avLst/>
                    <a:gdLst>
                      <a:gd name="T0" fmla="*/ 0 w 125"/>
                      <a:gd name="T1" fmla="*/ 0 h 549"/>
                      <a:gd name="T2" fmla="*/ 29 w 125"/>
                      <a:gd name="T3" fmla="*/ 2 h 549"/>
                      <a:gd name="T4" fmla="*/ 53 w 125"/>
                      <a:gd name="T5" fmla="*/ 12 h 549"/>
                      <a:gd name="T6" fmla="*/ 86 w 125"/>
                      <a:gd name="T7" fmla="*/ 33 h 549"/>
                      <a:gd name="T8" fmla="*/ 106 w 125"/>
                      <a:gd name="T9" fmla="*/ 79 h 549"/>
                      <a:gd name="T10" fmla="*/ 118 w 125"/>
                      <a:gd name="T11" fmla="*/ 115 h 549"/>
                      <a:gd name="T12" fmla="*/ 125 w 125"/>
                      <a:gd name="T13" fmla="*/ 153 h 549"/>
                      <a:gd name="T14" fmla="*/ 125 w 125"/>
                      <a:gd name="T15" fmla="*/ 199 h 549"/>
                      <a:gd name="T16" fmla="*/ 125 w 125"/>
                      <a:gd name="T17" fmla="*/ 444 h 549"/>
                      <a:gd name="T18" fmla="*/ 0 w 125"/>
                      <a:gd name="T19" fmla="*/ 549 h 549"/>
                      <a:gd name="T20" fmla="*/ 0 w 125"/>
                      <a:gd name="T21" fmla="*/ 0 h 5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5" h="549">
                        <a:moveTo>
                          <a:pt x="0" y="0"/>
                        </a:moveTo>
                        <a:lnTo>
                          <a:pt x="29" y="2"/>
                        </a:lnTo>
                        <a:lnTo>
                          <a:pt x="53" y="12"/>
                        </a:lnTo>
                        <a:lnTo>
                          <a:pt x="86" y="33"/>
                        </a:lnTo>
                        <a:lnTo>
                          <a:pt x="106" y="79"/>
                        </a:lnTo>
                        <a:lnTo>
                          <a:pt x="118" y="115"/>
                        </a:lnTo>
                        <a:lnTo>
                          <a:pt x="125" y="153"/>
                        </a:lnTo>
                        <a:lnTo>
                          <a:pt x="125" y="199"/>
                        </a:lnTo>
                        <a:lnTo>
                          <a:pt x="125" y="444"/>
                        </a:lnTo>
                        <a:lnTo>
                          <a:pt x="0" y="54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0">
                    <a:gsLst>
                      <a:gs pos="0">
                        <a:srgbClr val="969696"/>
                      </a:gs>
                      <a:gs pos="100000">
                        <a:srgbClr val="707070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48" name="Freeform 146"/>
                  <p:cNvSpPr>
                    <a:spLocks noChangeArrowheads="1"/>
                  </p:cNvSpPr>
                  <p:nvPr/>
                </p:nvSpPr>
                <p:spPr bwMode="auto">
                  <a:xfrm>
                    <a:off x="3900" y="2247"/>
                    <a:ext cx="244" cy="147"/>
                  </a:xfrm>
                  <a:custGeom>
                    <a:avLst/>
                    <a:gdLst>
                      <a:gd name="T0" fmla="*/ 7 w 349"/>
                      <a:gd name="T1" fmla="*/ 0 h 211"/>
                      <a:gd name="T2" fmla="*/ 349 w 349"/>
                      <a:gd name="T3" fmla="*/ 29 h 211"/>
                      <a:gd name="T4" fmla="*/ 335 w 349"/>
                      <a:gd name="T5" fmla="*/ 211 h 211"/>
                      <a:gd name="T6" fmla="*/ 0 w 349"/>
                      <a:gd name="T7" fmla="*/ 167 h 211"/>
                      <a:gd name="T8" fmla="*/ 7 w 349"/>
                      <a:gd name="T9" fmla="*/ 0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49" h="211">
                        <a:moveTo>
                          <a:pt x="7" y="0"/>
                        </a:moveTo>
                        <a:lnTo>
                          <a:pt x="349" y="29"/>
                        </a:lnTo>
                        <a:lnTo>
                          <a:pt x="335" y="211"/>
                        </a:lnTo>
                        <a:lnTo>
                          <a:pt x="0" y="167"/>
                        </a:ln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49" name="Freeform 147"/>
                  <p:cNvSpPr>
                    <a:spLocks noChangeArrowheads="1"/>
                  </p:cNvSpPr>
                  <p:nvPr/>
                </p:nvSpPr>
                <p:spPr bwMode="auto">
                  <a:xfrm>
                    <a:off x="3910" y="1758"/>
                    <a:ext cx="224" cy="366"/>
                  </a:xfrm>
                  <a:custGeom>
                    <a:avLst/>
                    <a:gdLst>
                      <a:gd name="T0" fmla="*/ 0 w 320"/>
                      <a:gd name="T1" fmla="*/ 43 h 523"/>
                      <a:gd name="T2" fmla="*/ 0 w 320"/>
                      <a:gd name="T3" fmla="*/ 487 h 523"/>
                      <a:gd name="T4" fmla="*/ 320 w 320"/>
                      <a:gd name="T5" fmla="*/ 523 h 523"/>
                      <a:gd name="T6" fmla="*/ 320 w 320"/>
                      <a:gd name="T7" fmla="*/ 371 h 523"/>
                      <a:gd name="T8" fmla="*/ 160 w 320"/>
                      <a:gd name="T9" fmla="*/ 356 h 523"/>
                      <a:gd name="T10" fmla="*/ 152 w 320"/>
                      <a:gd name="T11" fmla="*/ 7 h 523"/>
                      <a:gd name="T12" fmla="*/ 43 w 320"/>
                      <a:gd name="T13" fmla="*/ 0 h 523"/>
                      <a:gd name="T14" fmla="*/ 0 w 320"/>
                      <a:gd name="T15" fmla="*/ 43 h 5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20" h="523">
                        <a:moveTo>
                          <a:pt x="0" y="43"/>
                        </a:moveTo>
                        <a:lnTo>
                          <a:pt x="0" y="487"/>
                        </a:lnTo>
                        <a:lnTo>
                          <a:pt x="320" y="523"/>
                        </a:lnTo>
                        <a:lnTo>
                          <a:pt x="320" y="371"/>
                        </a:lnTo>
                        <a:lnTo>
                          <a:pt x="160" y="356"/>
                        </a:lnTo>
                        <a:lnTo>
                          <a:pt x="152" y="7"/>
                        </a:lnTo>
                        <a:lnTo>
                          <a:pt x="43" y="0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0" name="Freeform 148"/>
                  <p:cNvSpPr>
                    <a:spLocks noChangeArrowheads="1"/>
                  </p:cNvSpPr>
                  <p:nvPr/>
                </p:nvSpPr>
                <p:spPr bwMode="auto">
                  <a:xfrm>
                    <a:off x="3335" y="1703"/>
                    <a:ext cx="219" cy="635"/>
                  </a:xfrm>
                  <a:custGeom>
                    <a:avLst/>
                    <a:gdLst>
                      <a:gd name="T0" fmla="*/ 138 w 313"/>
                      <a:gd name="T1" fmla="*/ 0 h 909"/>
                      <a:gd name="T2" fmla="*/ 138 w 313"/>
                      <a:gd name="T3" fmla="*/ 589 h 909"/>
                      <a:gd name="T4" fmla="*/ 0 w 313"/>
                      <a:gd name="T5" fmla="*/ 582 h 909"/>
                      <a:gd name="T6" fmla="*/ 0 w 313"/>
                      <a:gd name="T7" fmla="*/ 872 h 909"/>
                      <a:gd name="T8" fmla="*/ 313 w 313"/>
                      <a:gd name="T9" fmla="*/ 909 h 909"/>
                      <a:gd name="T10" fmla="*/ 313 w 313"/>
                      <a:gd name="T11" fmla="*/ 65 h 909"/>
                      <a:gd name="T12" fmla="*/ 262 w 313"/>
                      <a:gd name="T13" fmla="*/ 7 h 909"/>
                      <a:gd name="T14" fmla="*/ 138 w 313"/>
                      <a:gd name="T15" fmla="*/ 0 h 9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13" h="909">
                        <a:moveTo>
                          <a:pt x="138" y="0"/>
                        </a:moveTo>
                        <a:lnTo>
                          <a:pt x="138" y="589"/>
                        </a:lnTo>
                        <a:lnTo>
                          <a:pt x="0" y="582"/>
                        </a:lnTo>
                        <a:lnTo>
                          <a:pt x="0" y="872"/>
                        </a:lnTo>
                        <a:lnTo>
                          <a:pt x="313" y="909"/>
                        </a:lnTo>
                        <a:lnTo>
                          <a:pt x="313" y="65"/>
                        </a:lnTo>
                        <a:lnTo>
                          <a:pt x="262" y="7"/>
                        </a:lnTo>
                        <a:lnTo>
                          <a:pt x="138" y="0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1" name="Freeform 149"/>
                  <p:cNvSpPr>
                    <a:spLocks noChangeArrowheads="1"/>
                  </p:cNvSpPr>
                  <p:nvPr/>
                </p:nvSpPr>
                <p:spPr bwMode="auto">
                  <a:xfrm>
                    <a:off x="2652" y="1877"/>
                    <a:ext cx="780" cy="493"/>
                  </a:xfrm>
                  <a:custGeom>
                    <a:avLst/>
                    <a:gdLst>
                      <a:gd name="T0" fmla="*/ 0 w 780"/>
                      <a:gd name="T1" fmla="*/ 355 h 493"/>
                      <a:gd name="T2" fmla="*/ 406 w 780"/>
                      <a:gd name="T3" fmla="*/ 0 h 493"/>
                      <a:gd name="T4" fmla="*/ 775 w 780"/>
                      <a:gd name="T5" fmla="*/ 49 h 493"/>
                      <a:gd name="T6" fmla="*/ 780 w 780"/>
                      <a:gd name="T7" fmla="*/ 242 h 493"/>
                      <a:gd name="T8" fmla="*/ 683 w 780"/>
                      <a:gd name="T9" fmla="*/ 242 h 493"/>
                      <a:gd name="T10" fmla="*/ 392 w 780"/>
                      <a:gd name="T11" fmla="*/ 493 h 493"/>
                      <a:gd name="T12" fmla="*/ 0 w 780"/>
                      <a:gd name="T13" fmla="*/ 355 h 4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80" h="493">
                        <a:moveTo>
                          <a:pt x="0" y="355"/>
                        </a:moveTo>
                        <a:lnTo>
                          <a:pt x="406" y="0"/>
                        </a:lnTo>
                        <a:lnTo>
                          <a:pt x="775" y="49"/>
                        </a:lnTo>
                        <a:lnTo>
                          <a:pt x="780" y="242"/>
                        </a:lnTo>
                        <a:lnTo>
                          <a:pt x="683" y="242"/>
                        </a:lnTo>
                        <a:lnTo>
                          <a:pt x="392" y="493"/>
                        </a:lnTo>
                        <a:lnTo>
                          <a:pt x="0" y="355"/>
                        </a:lnTo>
                        <a:close/>
                      </a:path>
                    </a:pathLst>
                  </a:custGeom>
                  <a:gradFill rotWithShape="0">
                    <a:gsLst>
                      <a:gs pos="0">
                        <a:srgbClr val="555555"/>
                      </a:gs>
                      <a:gs pos="100000">
                        <a:srgbClr val="969696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2" name="Freeform 150"/>
                  <p:cNvSpPr>
                    <a:spLocks noChangeArrowheads="1"/>
                  </p:cNvSpPr>
                  <p:nvPr/>
                </p:nvSpPr>
                <p:spPr bwMode="auto">
                  <a:xfrm>
                    <a:off x="3899" y="2095"/>
                    <a:ext cx="282" cy="174"/>
                  </a:xfrm>
                  <a:custGeom>
                    <a:avLst/>
                    <a:gdLst>
                      <a:gd name="T0" fmla="*/ 0 w 403"/>
                      <a:gd name="T1" fmla="*/ 0 h 249"/>
                      <a:gd name="T2" fmla="*/ 6 w 403"/>
                      <a:gd name="T3" fmla="*/ 214 h 249"/>
                      <a:gd name="T4" fmla="*/ 349 w 403"/>
                      <a:gd name="T5" fmla="*/ 249 h 249"/>
                      <a:gd name="T6" fmla="*/ 374 w 403"/>
                      <a:gd name="T7" fmla="*/ 230 h 249"/>
                      <a:gd name="T8" fmla="*/ 387 w 403"/>
                      <a:gd name="T9" fmla="*/ 205 h 249"/>
                      <a:gd name="T10" fmla="*/ 397 w 403"/>
                      <a:gd name="T11" fmla="*/ 169 h 249"/>
                      <a:gd name="T12" fmla="*/ 403 w 403"/>
                      <a:gd name="T13" fmla="*/ 137 h 249"/>
                      <a:gd name="T14" fmla="*/ 397 w 403"/>
                      <a:gd name="T15" fmla="*/ 99 h 249"/>
                      <a:gd name="T16" fmla="*/ 390 w 403"/>
                      <a:gd name="T17" fmla="*/ 73 h 249"/>
                      <a:gd name="T18" fmla="*/ 381 w 403"/>
                      <a:gd name="T19" fmla="*/ 48 h 249"/>
                      <a:gd name="T20" fmla="*/ 352 w 403"/>
                      <a:gd name="T21" fmla="*/ 35 h 249"/>
                      <a:gd name="T22" fmla="*/ 0 w 403"/>
                      <a:gd name="T23" fmla="*/ 0 h 2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03" h="249">
                        <a:moveTo>
                          <a:pt x="0" y="0"/>
                        </a:moveTo>
                        <a:lnTo>
                          <a:pt x="6" y="214"/>
                        </a:lnTo>
                        <a:lnTo>
                          <a:pt x="349" y="249"/>
                        </a:lnTo>
                        <a:lnTo>
                          <a:pt x="374" y="230"/>
                        </a:lnTo>
                        <a:lnTo>
                          <a:pt x="387" y="205"/>
                        </a:lnTo>
                        <a:lnTo>
                          <a:pt x="397" y="169"/>
                        </a:lnTo>
                        <a:lnTo>
                          <a:pt x="403" y="137"/>
                        </a:lnTo>
                        <a:lnTo>
                          <a:pt x="397" y="99"/>
                        </a:lnTo>
                        <a:lnTo>
                          <a:pt x="390" y="73"/>
                        </a:lnTo>
                        <a:lnTo>
                          <a:pt x="381" y="48"/>
                        </a:lnTo>
                        <a:lnTo>
                          <a:pt x="352" y="3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0">
                    <a:gsLst>
                      <a:gs pos="0">
                        <a:srgbClr val="595959"/>
                      </a:gs>
                      <a:gs pos="50000">
                        <a:srgbClr val="C0C0C0"/>
                      </a:gs>
                      <a:gs pos="100000">
                        <a:srgbClr val="595959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3" name="Freeform 151"/>
                  <p:cNvSpPr>
                    <a:spLocks noChangeArrowheads="1"/>
                  </p:cNvSpPr>
                  <p:nvPr/>
                </p:nvSpPr>
                <p:spPr bwMode="auto">
                  <a:xfrm>
                    <a:off x="3433" y="1627"/>
                    <a:ext cx="610" cy="141"/>
                  </a:xfrm>
                  <a:custGeom>
                    <a:avLst/>
                    <a:gdLst>
                      <a:gd name="T0" fmla="*/ 5071 w 5238"/>
                      <a:gd name="T1" fmla="*/ 1206 h 1206"/>
                      <a:gd name="T2" fmla="*/ 5206 w 5238"/>
                      <a:gd name="T3" fmla="*/ 1036 h 1206"/>
                      <a:gd name="T4" fmla="*/ 5238 w 5238"/>
                      <a:gd name="T5" fmla="*/ 861 h 1206"/>
                      <a:gd name="T6" fmla="*/ 5166 w 5238"/>
                      <a:gd name="T7" fmla="*/ 688 h 1206"/>
                      <a:gd name="T8" fmla="*/ 4994 w 5238"/>
                      <a:gd name="T9" fmla="*/ 522 h 1206"/>
                      <a:gd name="T10" fmla="*/ 4727 w 5238"/>
                      <a:gd name="T11" fmla="*/ 370 h 1206"/>
                      <a:gd name="T12" fmla="*/ 4375 w 5238"/>
                      <a:gd name="T13" fmla="*/ 239 h 1206"/>
                      <a:gd name="T14" fmla="*/ 3954 w 5238"/>
                      <a:gd name="T15" fmla="*/ 132 h 1206"/>
                      <a:gd name="T16" fmla="*/ 3477 w 5238"/>
                      <a:gd name="T17" fmla="*/ 55 h 1206"/>
                      <a:gd name="T18" fmla="*/ 2964 w 5238"/>
                      <a:gd name="T19" fmla="*/ 11 h 1206"/>
                      <a:gd name="T20" fmla="*/ 2435 w 5238"/>
                      <a:gd name="T21" fmla="*/ 0 h 1206"/>
                      <a:gd name="T22" fmla="*/ 1910 w 5238"/>
                      <a:gd name="T23" fmla="*/ 24 h 1206"/>
                      <a:gd name="T24" fmla="*/ 1408 w 5238"/>
                      <a:gd name="T25" fmla="*/ 81 h 1206"/>
                      <a:gd name="T26" fmla="*/ 951 w 5238"/>
                      <a:gd name="T27" fmla="*/ 169 h 1206"/>
                      <a:gd name="T28" fmla="*/ 554 w 5238"/>
                      <a:gd name="T29" fmla="*/ 286 h 1206"/>
                      <a:gd name="T30" fmla="*/ 233 w 5238"/>
                      <a:gd name="T31" fmla="*/ 425 h 1206"/>
                      <a:gd name="T32" fmla="*/ 0 w 5238"/>
                      <a:gd name="T33" fmla="*/ 583 h 1206"/>
                      <a:gd name="T34" fmla="*/ 1 w 5238"/>
                      <a:gd name="T35" fmla="*/ 583 h 1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5238" h="1206">
                        <a:moveTo>
                          <a:pt x="5071" y="1206"/>
                        </a:moveTo>
                        <a:lnTo>
                          <a:pt x="5206" y="1036"/>
                        </a:lnTo>
                        <a:lnTo>
                          <a:pt x="5238" y="861"/>
                        </a:lnTo>
                        <a:lnTo>
                          <a:pt x="5166" y="688"/>
                        </a:lnTo>
                        <a:lnTo>
                          <a:pt x="4994" y="522"/>
                        </a:lnTo>
                        <a:lnTo>
                          <a:pt x="4727" y="370"/>
                        </a:lnTo>
                        <a:lnTo>
                          <a:pt x="4375" y="239"/>
                        </a:lnTo>
                        <a:lnTo>
                          <a:pt x="3954" y="132"/>
                        </a:lnTo>
                        <a:lnTo>
                          <a:pt x="3477" y="55"/>
                        </a:lnTo>
                        <a:lnTo>
                          <a:pt x="2964" y="11"/>
                        </a:lnTo>
                        <a:lnTo>
                          <a:pt x="2435" y="0"/>
                        </a:lnTo>
                        <a:lnTo>
                          <a:pt x="1910" y="24"/>
                        </a:lnTo>
                        <a:lnTo>
                          <a:pt x="1408" y="81"/>
                        </a:lnTo>
                        <a:lnTo>
                          <a:pt x="951" y="169"/>
                        </a:lnTo>
                        <a:lnTo>
                          <a:pt x="554" y="286"/>
                        </a:lnTo>
                        <a:lnTo>
                          <a:pt x="233" y="425"/>
                        </a:lnTo>
                        <a:lnTo>
                          <a:pt x="0" y="583"/>
                        </a:lnTo>
                        <a:lnTo>
                          <a:pt x="1" y="583"/>
                        </a:lnTo>
                      </a:path>
                    </a:pathLst>
                  </a:custGeom>
                  <a:solidFill>
                    <a:srgbClr val="C0C0C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4" name="Freeform 152"/>
                  <p:cNvSpPr>
                    <a:spLocks noChangeArrowheads="1"/>
                  </p:cNvSpPr>
                  <p:nvPr/>
                </p:nvSpPr>
                <p:spPr bwMode="auto">
                  <a:xfrm>
                    <a:off x="3556" y="1694"/>
                    <a:ext cx="386" cy="653"/>
                  </a:xfrm>
                  <a:custGeom>
                    <a:avLst/>
                    <a:gdLst>
                      <a:gd name="T0" fmla="*/ 0 w 551"/>
                      <a:gd name="T1" fmla="*/ 77 h 934"/>
                      <a:gd name="T2" fmla="*/ 0 w 551"/>
                      <a:gd name="T3" fmla="*/ 934 h 934"/>
                      <a:gd name="T4" fmla="*/ 26 w 551"/>
                      <a:gd name="T5" fmla="*/ 909 h 934"/>
                      <a:gd name="T6" fmla="*/ 64 w 551"/>
                      <a:gd name="T7" fmla="*/ 893 h 934"/>
                      <a:gd name="T8" fmla="*/ 103 w 551"/>
                      <a:gd name="T9" fmla="*/ 880 h 934"/>
                      <a:gd name="T10" fmla="*/ 144 w 551"/>
                      <a:gd name="T11" fmla="*/ 870 h 934"/>
                      <a:gd name="T12" fmla="*/ 202 w 551"/>
                      <a:gd name="T13" fmla="*/ 864 h 934"/>
                      <a:gd name="T14" fmla="*/ 272 w 551"/>
                      <a:gd name="T15" fmla="*/ 861 h 934"/>
                      <a:gd name="T16" fmla="*/ 327 w 551"/>
                      <a:gd name="T17" fmla="*/ 867 h 934"/>
                      <a:gd name="T18" fmla="*/ 384 w 551"/>
                      <a:gd name="T19" fmla="*/ 877 h 934"/>
                      <a:gd name="T20" fmla="*/ 455 w 551"/>
                      <a:gd name="T21" fmla="*/ 899 h 934"/>
                      <a:gd name="T22" fmla="*/ 496 w 551"/>
                      <a:gd name="T23" fmla="*/ 918 h 934"/>
                      <a:gd name="T24" fmla="*/ 496 w 551"/>
                      <a:gd name="T25" fmla="*/ 778 h 934"/>
                      <a:gd name="T26" fmla="*/ 525 w 551"/>
                      <a:gd name="T27" fmla="*/ 762 h 934"/>
                      <a:gd name="T28" fmla="*/ 538 w 551"/>
                      <a:gd name="T29" fmla="*/ 726 h 934"/>
                      <a:gd name="T30" fmla="*/ 544 w 551"/>
                      <a:gd name="T31" fmla="*/ 691 h 934"/>
                      <a:gd name="T32" fmla="*/ 551 w 551"/>
                      <a:gd name="T33" fmla="*/ 650 h 934"/>
                      <a:gd name="T34" fmla="*/ 541 w 551"/>
                      <a:gd name="T35" fmla="*/ 608 h 934"/>
                      <a:gd name="T36" fmla="*/ 522 w 551"/>
                      <a:gd name="T37" fmla="*/ 570 h 934"/>
                      <a:gd name="T38" fmla="*/ 493 w 551"/>
                      <a:gd name="T39" fmla="*/ 566 h 934"/>
                      <a:gd name="T40" fmla="*/ 493 w 551"/>
                      <a:gd name="T41" fmla="*/ 118 h 934"/>
                      <a:gd name="T42" fmla="*/ 509 w 551"/>
                      <a:gd name="T43" fmla="*/ 64 h 934"/>
                      <a:gd name="T44" fmla="*/ 391 w 551"/>
                      <a:gd name="T45" fmla="*/ 13 h 934"/>
                      <a:gd name="T46" fmla="*/ 183 w 551"/>
                      <a:gd name="T47" fmla="*/ 0 h 934"/>
                      <a:gd name="T48" fmla="*/ 39 w 551"/>
                      <a:gd name="T49" fmla="*/ 22 h 934"/>
                      <a:gd name="T50" fmla="*/ 0 w 551"/>
                      <a:gd name="T51" fmla="*/ 77 h 9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551" h="934">
                        <a:moveTo>
                          <a:pt x="0" y="77"/>
                        </a:moveTo>
                        <a:lnTo>
                          <a:pt x="0" y="934"/>
                        </a:lnTo>
                        <a:lnTo>
                          <a:pt x="26" y="909"/>
                        </a:lnTo>
                        <a:lnTo>
                          <a:pt x="64" y="893"/>
                        </a:lnTo>
                        <a:lnTo>
                          <a:pt x="103" y="880"/>
                        </a:lnTo>
                        <a:lnTo>
                          <a:pt x="144" y="870"/>
                        </a:lnTo>
                        <a:lnTo>
                          <a:pt x="202" y="864"/>
                        </a:lnTo>
                        <a:lnTo>
                          <a:pt x="272" y="861"/>
                        </a:lnTo>
                        <a:lnTo>
                          <a:pt x="327" y="867"/>
                        </a:lnTo>
                        <a:lnTo>
                          <a:pt x="384" y="877"/>
                        </a:lnTo>
                        <a:lnTo>
                          <a:pt x="455" y="899"/>
                        </a:lnTo>
                        <a:lnTo>
                          <a:pt x="496" y="918"/>
                        </a:lnTo>
                        <a:lnTo>
                          <a:pt x="496" y="778"/>
                        </a:lnTo>
                        <a:lnTo>
                          <a:pt x="525" y="762"/>
                        </a:lnTo>
                        <a:lnTo>
                          <a:pt x="538" y="726"/>
                        </a:lnTo>
                        <a:lnTo>
                          <a:pt x="544" y="691"/>
                        </a:lnTo>
                        <a:lnTo>
                          <a:pt x="551" y="650"/>
                        </a:lnTo>
                        <a:lnTo>
                          <a:pt x="541" y="608"/>
                        </a:lnTo>
                        <a:lnTo>
                          <a:pt x="522" y="570"/>
                        </a:lnTo>
                        <a:lnTo>
                          <a:pt x="493" y="566"/>
                        </a:lnTo>
                        <a:lnTo>
                          <a:pt x="493" y="118"/>
                        </a:lnTo>
                        <a:lnTo>
                          <a:pt x="509" y="64"/>
                        </a:lnTo>
                        <a:lnTo>
                          <a:pt x="391" y="13"/>
                        </a:lnTo>
                        <a:lnTo>
                          <a:pt x="183" y="0"/>
                        </a:lnTo>
                        <a:lnTo>
                          <a:pt x="39" y="22"/>
                        </a:lnTo>
                        <a:lnTo>
                          <a:pt x="0" y="77"/>
                        </a:lnTo>
                        <a:close/>
                      </a:path>
                    </a:pathLst>
                  </a:custGeom>
                  <a:gradFill rotWithShape="0">
                    <a:gsLst>
                      <a:gs pos="0">
                        <a:srgbClr val="595959"/>
                      </a:gs>
                      <a:gs pos="50000">
                        <a:srgbClr val="C0C0C0"/>
                      </a:gs>
                      <a:gs pos="100000">
                        <a:srgbClr val="595959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5" name="Freeform 153"/>
                  <p:cNvSpPr>
                    <a:spLocks noChangeArrowheads="1"/>
                  </p:cNvSpPr>
                  <p:nvPr/>
                </p:nvSpPr>
                <p:spPr bwMode="auto">
                  <a:xfrm>
                    <a:off x="2991" y="1982"/>
                    <a:ext cx="265" cy="88"/>
                  </a:xfrm>
                  <a:custGeom>
                    <a:avLst/>
                    <a:gdLst>
                      <a:gd name="T0" fmla="*/ 0 w 2267"/>
                      <a:gd name="T1" fmla="*/ 376 h 751"/>
                      <a:gd name="T2" fmla="*/ 20 w 2267"/>
                      <a:gd name="T3" fmla="*/ 447 h 751"/>
                      <a:gd name="T4" fmla="*/ 82 w 2267"/>
                      <a:gd name="T5" fmla="*/ 516 h 751"/>
                      <a:gd name="T6" fmla="*/ 181 w 2267"/>
                      <a:gd name="T7" fmla="*/ 579 h 751"/>
                      <a:gd name="T8" fmla="*/ 314 w 2267"/>
                      <a:gd name="T9" fmla="*/ 635 h 751"/>
                      <a:gd name="T10" fmla="*/ 477 w 2267"/>
                      <a:gd name="T11" fmla="*/ 682 h 751"/>
                      <a:gd name="T12" fmla="*/ 664 w 2267"/>
                      <a:gd name="T13" fmla="*/ 718 h 751"/>
                      <a:gd name="T14" fmla="*/ 868 w 2267"/>
                      <a:gd name="T15" fmla="*/ 741 h 751"/>
                      <a:gd name="T16" fmla="*/ 1083 w 2267"/>
                      <a:gd name="T17" fmla="*/ 751 h 751"/>
                      <a:gd name="T18" fmla="*/ 1298 w 2267"/>
                      <a:gd name="T19" fmla="*/ 748 h 751"/>
                      <a:gd name="T20" fmla="*/ 1508 w 2267"/>
                      <a:gd name="T21" fmla="*/ 731 h 751"/>
                      <a:gd name="T22" fmla="*/ 1704 w 2267"/>
                      <a:gd name="T23" fmla="*/ 701 h 751"/>
                      <a:gd name="T24" fmla="*/ 1880 w 2267"/>
                      <a:gd name="T25" fmla="*/ 659 h 751"/>
                      <a:gd name="T26" fmla="*/ 2029 w 2267"/>
                      <a:gd name="T27" fmla="*/ 608 h 751"/>
                      <a:gd name="T28" fmla="*/ 2146 w 2267"/>
                      <a:gd name="T29" fmla="*/ 548 h 751"/>
                      <a:gd name="T30" fmla="*/ 2226 w 2267"/>
                      <a:gd name="T31" fmla="*/ 482 h 751"/>
                      <a:gd name="T32" fmla="*/ 2267 w 2267"/>
                      <a:gd name="T33" fmla="*/ 411 h 751"/>
                      <a:gd name="T34" fmla="*/ 2267 w 2267"/>
                      <a:gd name="T35" fmla="*/ 340 h 751"/>
                      <a:gd name="T36" fmla="*/ 2226 w 2267"/>
                      <a:gd name="T37" fmla="*/ 270 h 751"/>
                      <a:gd name="T38" fmla="*/ 2146 w 2267"/>
                      <a:gd name="T39" fmla="*/ 204 h 751"/>
                      <a:gd name="T40" fmla="*/ 2029 w 2267"/>
                      <a:gd name="T41" fmla="*/ 143 h 751"/>
                      <a:gd name="T42" fmla="*/ 1880 w 2267"/>
                      <a:gd name="T43" fmla="*/ 92 h 751"/>
                      <a:gd name="T44" fmla="*/ 1704 w 2267"/>
                      <a:gd name="T45" fmla="*/ 50 h 751"/>
                      <a:gd name="T46" fmla="*/ 1508 w 2267"/>
                      <a:gd name="T47" fmla="*/ 20 h 751"/>
                      <a:gd name="T48" fmla="*/ 1298 w 2267"/>
                      <a:gd name="T49" fmla="*/ 3 h 751"/>
                      <a:gd name="T50" fmla="*/ 1083 w 2267"/>
                      <a:gd name="T51" fmla="*/ 0 h 751"/>
                      <a:gd name="T52" fmla="*/ 868 w 2267"/>
                      <a:gd name="T53" fmla="*/ 10 h 751"/>
                      <a:gd name="T54" fmla="*/ 664 w 2267"/>
                      <a:gd name="T55" fmla="*/ 34 h 751"/>
                      <a:gd name="T56" fmla="*/ 477 w 2267"/>
                      <a:gd name="T57" fmla="*/ 69 h 751"/>
                      <a:gd name="T58" fmla="*/ 314 w 2267"/>
                      <a:gd name="T59" fmla="*/ 117 h 751"/>
                      <a:gd name="T60" fmla="*/ 181 w 2267"/>
                      <a:gd name="T61" fmla="*/ 173 h 751"/>
                      <a:gd name="T62" fmla="*/ 82 w 2267"/>
                      <a:gd name="T63" fmla="*/ 237 h 751"/>
                      <a:gd name="T64" fmla="*/ 20 w 2267"/>
                      <a:gd name="T65" fmla="*/ 305 h 751"/>
                      <a:gd name="T66" fmla="*/ 0 w 2267"/>
                      <a:gd name="T67" fmla="*/ 376 h 751"/>
                      <a:gd name="T68" fmla="*/ 1 w 2267"/>
                      <a:gd name="T69" fmla="*/ 376 h 7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267" h="751">
                        <a:moveTo>
                          <a:pt x="0" y="376"/>
                        </a:moveTo>
                        <a:lnTo>
                          <a:pt x="20" y="447"/>
                        </a:lnTo>
                        <a:lnTo>
                          <a:pt x="82" y="516"/>
                        </a:lnTo>
                        <a:lnTo>
                          <a:pt x="181" y="579"/>
                        </a:lnTo>
                        <a:lnTo>
                          <a:pt x="314" y="635"/>
                        </a:lnTo>
                        <a:lnTo>
                          <a:pt x="477" y="682"/>
                        </a:lnTo>
                        <a:lnTo>
                          <a:pt x="664" y="718"/>
                        </a:lnTo>
                        <a:lnTo>
                          <a:pt x="868" y="741"/>
                        </a:lnTo>
                        <a:lnTo>
                          <a:pt x="1083" y="751"/>
                        </a:lnTo>
                        <a:lnTo>
                          <a:pt x="1298" y="748"/>
                        </a:lnTo>
                        <a:lnTo>
                          <a:pt x="1508" y="731"/>
                        </a:lnTo>
                        <a:lnTo>
                          <a:pt x="1704" y="701"/>
                        </a:lnTo>
                        <a:lnTo>
                          <a:pt x="1880" y="659"/>
                        </a:lnTo>
                        <a:lnTo>
                          <a:pt x="2029" y="608"/>
                        </a:lnTo>
                        <a:lnTo>
                          <a:pt x="2146" y="548"/>
                        </a:lnTo>
                        <a:lnTo>
                          <a:pt x="2226" y="482"/>
                        </a:lnTo>
                        <a:lnTo>
                          <a:pt x="2267" y="411"/>
                        </a:lnTo>
                        <a:lnTo>
                          <a:pt x="2267" y="340"/>
                        </a:lnTo>
                        <a:lnTo>
                          <a:pt x="2226" y="270"/>
                        </a:lnTo>
                        <a:lnTo>
                          <a:pt x="2146" y="204"/>
                        </a:lnTo>
                        <a:lnTo>
                          <a:pt x="2029" y="143"/>
                        </a:lnTo>
                        <a:lnTo>
                          <a:pt x="1880" y="92"/>
                        </a:lnTo>
                        <a:lnTo>
                          <a:pt x="1704" y="50"/>
                        </a:lnTo>
                        <a:lnTo>
                          <a:pt x="1508" y="20"/>
                        </a:lnTo>
                        <a:lnTo>
                          <a:pt x="1298" y="3"/>
                        </a:lnTo>
                        <a:lnTo>
                          <a:pt x="1083" y="0"/>
                        </a:lnTo>
                        <a:lnTo>
                          <a:pt x="868" y="10"/>
                        </a:lnTo>
                        <a:lnTo>
                          <a:pt x="664" y="34"/>
                        </a:lnTo>
                        <a:lnTo>
                          <a:pt x="477" y="69"/>
                        </a:lnTo>
                        <a:lnTo>
                          <a:pt x="314" y="117"/>
                        </a:lnTo>
                        <a:lnTo>
                          <a:pt x="181" y="173"/>
                        </a:lnTo>
                        <a:lnTo>
                          <a:pt x="82" y="237"/>
                        </a:lnTo>
                        <a:lnTo>
                          <a:pt x="20" y="305"/>
                        </a:lnTo>
                        <a:lnTo>
                          <a:pt x="0" y="376"/>
                        </a:lnTo>
                        <a:lnTo>
                          <a:pt x="1" y="376"/>
                        </a:lnTo>
                      </a:path>
                    </a:pathLst>
                  </a:custGeom>
                  <a:gradFill rotWithShape="0">
                    <a:gsLst>
                      <a:gs pos="0">
                        <a:srgbClr val="595959"/>
                      </a:gs>
                      <a:gs pos="50000">
                        <a:srgbClr val="C0C0C0"/>
                      </a:gs>
                      <a:gs pos="100000">
                        <a:srgbClr val="595959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6" name="Freeform 154"/>
                  <p:cNvSpPr>
                    <a:spLocks noChangeArrowheads="1"/>
                  </p:cNvSpPr>
                  <p:nvPr/>
                </p:nvSpPr>
                <p:spPr bwMode="auto">
                  <a:xfrm>
                    <a:off x="3046" y="2050"/>
                    <a:ext cx="159" cy="21"/>
                  </a:xfrm>
                  <a:custGeom>
                    <a:avLst/>
                    <a:gdLst>
                      <a:gd name="T0" fmla="*/ 0 w 228"/>
                      <a:gd name="T1" fmla="*/ 16 h 31"/>
                      <a:gd name="T2" fmla="*/ 41 w 228"/>
                      <a:gd name="T3" fmla="*/ 7 h 31"/>
                      <a:gd name="T4" fmla="*/ 70 w 228"/>
                      <a:gd name="T5" fmla="*/ 2 h 31"/>
                      <a:gd name="T6" fmla="*/ 94 w 228"/>
                      <a:gd name="T7" fmla="*/ 0 h 31"/>
                      <a:gd name="T8" fmla="*/ 120 w 228"/>
                      <a:gd name="T9" fmla="*/ 0 h 31"/>
                      <a:gd name="T10" fmla="*/ 147 w 228"/>
                      <a:gd name="T11" fmla="*/ 0 h 31"/>
                      <a:gd name="T12" fmla="*/ 171 w 228"/>
                      <a:gd name="T13" fmla="*/ 7 h 31"/>
                      <a:gd name="T14" fmla="*/ 192 w 228"/>
                      <a:gd name="T15" fmla="*/ 7 h 31"/>
                      <a:gd name="T16" fmla="*/ 211 w 228"/>
                      <a:gd name="T17" fmla="*/ 12 h 31"/>
                      <a:gd name="T18" fmla="*/ 228 w 228"/>
                      <a:gd name="T19" fmla="*/ 16 h 31"/>
                      <a:gd name="T20" fmla="*/ 195 w 228"/>
                      <a:gd name="T21" fmla="*/ 24 h 31"/>
                      <a:gd name="T22" fmla="*/ 168 w 228"/>
                      <a:gd name="T23" fmla="*/ 28 h 31"/>
                      <a:gd name="T24" fmla="*/ 135 w 228"/>
                      <a:gd name="T25" fmla="*/ 31 h 31"/>
                      <a:gd name="T26" fmla="*/ 99 w 228"/>
                      <a:gd name="T27" fmla="*/ 31 h 31"/>
                      <a:gd name="T28" fmla="*/ 58 w 228"/>
                      <a:gd name="T29" fmla="*/ 28 h 31"/>
                      <a:gd name="T30" fmla="*/ 27 w 228"/>
                      <a:gd name="T31" fmla="*/ 24 h 31"/>
                      <a:gd name="T32" fmla="*/ 0 w 228"/>
                      <a:gd name="T33" fmla="*/ 16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28" h="31">
                        <a:moveTo>
                          <a:pt x="0" y="16"/>
                        </a:moveTo>
                        <a:lnTo>
                          <a:pt x="41" y="7"/>
                        </a:lnTo>
                        <a:lnTo>
                          <a:pt x="70" y="2"/>
                        </a:lnTo>
                        <a:lnTo>
                          <a:pt x="94" y="0"/>
                        </a:lnTo>
                        <a:lnTo>
                          <a:pt x="120" y="0"/>
                        </a:lnTo>
                        <a:lnTo>
                          <a:pt x="147" y="0"/>
                        </a:lnTo>
                        <a:lnTo>
                          <a:pt x="171" y="7"/>
                        </a:lnTo>
                        <a:lnTo>
                          <a:pt x="192" y="7"/>
                        </a:lnTo>
                        <a:lnTo>
                          <a:pt x="211" y="12"/>
                        </a:lnTo>
                        <a:lnTo>
                          <a:pt x="228" y="16"/>
                        </a:lnTo>
                        <a:lnTo>
                          <a:pt x="195" y="24"/>
                        </a:lnTo>
                        <a:lnTo>
                          <a:pt x="168" y="28"/>
                        </a:lnTo>
                        <a:lnTo>
                          <a:pt x="135" y="31"/>
                        </a:lnTo>
                        <a:lnTo>
                          <a:pt x="99" y="31"/>
                        </a:lnTo>
                        <a:lnTo>
                          <a:pt x="58" y="28"/>
                        </a:lnTo>
                        <a:lnTo>
                          <a:pt x="27" y="24"/>
                        </a:ln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7" name="Freeform 155"/>
                  <p:cNvSpPr>
                    <a:spLocks noChangeArrowheads="1"/>
                  </p:cNvSpPr>
                  <p:nvPr/>
                </p:nvSpPr>
                <p:spPr bwMode="auto">
                  <a:xfrm>
                    <a:off x="3517" y="1659"/>
                    <a:ext cx="438" cy="118"/>
                  </a:xfrm>
                  <a:custGeom>
                    <a:avLst/>
                    <a:gdLst>
                      <a:gd name="T0" fmla="*/ 0 w 626"/>
                      <a:gd name="T1" fmla="*/ 63 h 168"/>
                      <a:gd name="T2" fmla="*/ 43 w 626"/>
                      <a:gd name="T3" fmla="*/ 39 h 168"/>
                      <a:gd name="T4" fmla="*/ 82 w 626"/>
                      <a:gd name="T5" fmla="*/ 29 h 168"/>
                      <a:gd name="T6" fmla="*/ 135 w 626"/>
                      <a:gd name="T7" fmla="*/ 15 h 168"/>
                      <a:gd name="T8" fmla="*/ 207 w 626"/>
                      <a:gd name="T9" fmla="*/ 5 h 168"/>
                      <a:gd name="T10" fmla="*/ 269 w 626"/>
                      <a:gd name="T11" fmla="*/ 0 h 168"/>
                      <a:gd name="T12" fmla="*/ 341 w 626"/>
                      <a:gd name="T13" fmla="*/ 0 h 168"/>
                      <a:gd name="T14" fmla="*/ 408 w 626"/>
                      <a:gd name="T15" fmla="*/ 5 h 168"/>
                      <a:gd name="T16" fmla="*/ 479 w 626"/>
                      <a:gd name="T17" fmla="*/ 18 h 168"/>
                      <a:gd name="T18" fmla="*/ 530 w 626"/>
                      <a:gd name="T19" fmla="*/ 28 h 168"/>
                      <a:gd name="T20" fmla="*/ 567 w 626"/>
                      <a:gd name="T21" fmla="*/ 44 h 168"/>
                      <a:gd name="T22" fmla="*/ 610 w 626"/>
                      <a:gd name="T23" fmla="*/ 77 h 168"/>
                      <a:gd name="T24" fmla="*/ 626 w 626"/>
                      <a:gd name="T25" fmla="*/ 98 h 168"/>
                      <a:gd name="T26" fmla="*/ 605 w 626"/>
                      <a:gd name="T27" fmla="*/ 135 h 168"/>
                      <a:gd name="T28" fmla="*/ 549 w 626"/>
                      <a:gd name="T29" fmla="*/ 168 h 168"/>
                      <a:gd name="T30" fmla="*/ 547 w 626"/>
                      <a:gd name="T31" fmla="*/ 135 h 168"/>
                      <a:gd name="T32" fmla="*/ 509 w 626"/>
                      <a:gd name="T33" fmla="*/ 106 h 168"/>
                      <a:gd name="T34" fmla="*/ 466 w 626"/>
                      <a:gd name="T35" fmla="*/ 92 h 168"/>
                      <a:gd name="T36" fmla="*/ 392 w 626"/>
                      <a:gd name="T37" fmla="*/ 76 h 168"/>
                      <a:gd name="T38" fmla="*/ 331 w 626"/>
                      <a:gd name="T39" fmla="*/ 69 h 168"/>
                      <a:gd name="T40" fmla="*/ 264 w 626"/>
                      <a:gd name="T41" fmla="*/ 68 h 168"/>
                      <a:gd name="T42" fmla="*/ 210 w 626"/>
                      <a:gd name="T43" fmla="*/ 76 h 168"/>
                      <a:gd name="T44" fmla="*/ 149 w 626"/>
                      <a:gd name="T45" fmla="*/ 92 h 168"/>
                      <a:gd name="T46" fmla="*/ 101 w 626"/>
                      <a:gd name="T47" fmla="*/ 101 h 168"/>
                      <a:gd name="T48" fmla="*/ 58 w 626"/>
                      <a:gd name="T49" fmla="*/ 130 h 168"/>
                      <a:gd name="T50" fmla="*/ 0 w 626"/>
                      <a:gd name="T51" fmla="*/ 63 h 1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26" h="168">
                        <a:moveTo>
                          <a:pt x="0" y="63"/>
                        </a:moveTo>
                        <a:lnTo>
                          <a:pt x="43" y="39"/>
                        </a:lnTo>
                        <a:lnTo>
                          <a:pt x="82" y="29"/>
                        </a:lnTo>
                        <a:lnTo>
                          <a:pt x="135" y="15"/>
                        </a:lnTo>
                        <a:lnTo>
                          <a:pt x="207" y="5"/>
                        </a:lnTo>
                        <a:lnTo>
                          <a:pt x="269" y="0"/>
                        </a:lnTo>
                        <a:lnTo>
                          <a:pt x="341" y="0"/>
                        </a:lnTo>
                        <a:lnTo>
                          <a:pt x="408" y="5"/>
                        </a:lnTo>
                        <a:lnTo>
                          <a:pt x="479" y="18"/>
                        </a:lnTo>
                        <a:lnTo>
                          <a:pt x="530" y="28"/>
                        </a:lnTo>
                        <a:lnTo>
                          <a:pt x="567" y="44"/>
                        </a:lnTo>
                        <a:lnTo>
                          <a:pt x="610" y="77"/>
                        </a:lnTo>
                        <a:lnTo>
                          <a:pt x="626" y="98"/>
                        </a:lnTo>
                        <a:lnTo>
                          <a:pt x="605" y="135"/>
                        </a:lnTo>
                        <a:lnTo>
                          <a:pt x="549" y="168"/>
                        </a:lnTo>
                        <a:lnTo>
                          <a:pt x="547" y="135"/>
                        </a:lnTo>
                        <a:lnTo>
                          <a:pt x="509" y="106"/>
                        </a:lnTo>
                        <a:lnTo>
                          <a:pt x="466" y="92"/>
                        </a:lnTo>
                        <a:lnTo>
                          <a:pt x="392" y="76"/>
                        </a:lnTo>
                        <a:lnTo>
                          <a:pt x="331" y="69"/>
                        </a:lnTo>
                        <a:lnTo>
                          <a:pt x="264" y="68"/>
                        </a:lnTo>
                        <a:lnTo>
                          <a:pt x="210" y="76"/>
                        </a:lnTo>
                        <a:lnTo>
                          <a:pt x="149" y="92"/>
                        </a:lnTo>
                        <a:lnTo>
                          <a:pt x="101" y="101"/>
                        </a:lnTo>
                        <a:lnTo>
                          <a:pt x="58" y="130"/>
                        </a:lnTo>
                        <a:lnTo>
                          <a:pt x="0" y="63"/>
                        </a:lnTo>
                        <a:close/>
                      </a:path>
                    </a:pathLst>
                  </a:custGeom>
                  <a:solidFill>
                    <a:srgbClr val="B2B2B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8" name="Freeform 156"/>
                  <p:cNvSpPr>
                    <a:spLocks noChangeArrowheads="1"/>
                  </p:cNvSpPr>
                  <p:nvPr/>
                </p:nvSpPr>
                <p:spPr bwMode="auto">
                  <a:xfrm>
                    <a:off x="3126" y="2107"/>
                    <a:ext cx="214" cy="395"/>
                  </a:xfrm>
                  <a:custGeom>
                    <a:avLst/>
                    <a:gdLst>
                      <a:gd name="T0" fmla="*/ 0 w 214"/>
                      <a:gd name="T1" fmla="*/ 179 h 395"/>
                      <a:gd name="T2" fmla="*/ 0 w 214"/>
                      <a:gd name="T3" fmla="*/ 395 h 395"/>
                      <a:gd name="T4" fmla="*/ 214 w 214"/>
                      <a:gd name="T5" fmla="*/ 204 h 395"/>
                      <a:gd name="T6" fmla="*/ 214 w 214"/>
                      <a:gd name="T7" fmla="*/ 0 h 395"/>
                      <a:gd name="T8" fmla="*/ 0 w 214"/>
                      <a:gd name="T9" fmla="*/ 179 h 3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4" h="395">
                        <a:moveTo>
                          <a:pt x="0" y="179"/>
                        </a:moveTo>
                        <a:lnTo>
                          <a:pt x="0" y="395"/>
                        </a:lnTo>
                        <a:lnTo>
                          <a:pt x="214" y="204"/>
                        </a:lnTo>
                        <a:lnTo>
                          <a:pt x="214" y="0"/>
                        </a:lnTo>
                        <a:lnTo>
                          <a:pt x="0" y="179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59" name="Freeform 157"/>
                  <p:cNvSpPr>
                    <a:spLocks noChangeArrowheads="1"/>
                  </p:cNvSpPr>
                  <p:nvPr/>
                </p:nvSpPr>
                <p:spPr bwMode="auto">
                  <a:xfrm>
                    <a:off x="3558" y="1750"/>
                    <a:ext cx="0" cy="590"/>
                  </a:xfrm>
                  <a:custGeom>
                    <a:avLst/>
                    <a:gdLst>
                      <a:gd name="T0" fmla="*/ 0 w 1"/>
                      <a:gd name="T1" fmla="*/ 5068 h 5068"/>
                      <a:gd name="T2" fmla="*/ 0 w 1"/>
                      <a:gd name="T3" fmla="*/ 0 h 5068"/>
                      <a:gd name="T4" fmla="*/ 1 w 1"/>
                      <a:gd name="T5" fmla="*/ 0 h 50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068">
                        <a:moveTo>
                          <a:pt x="0" y="5068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60" name="Freeform 158"/>
                  <p:cNvSpPr>
                    <a:spLocks noChangeArrowheads="1"/>
                  </p:cNvSpPr>
                  <p:nvPr/>
                </p:nvSpPr>
                <p:spPr bwMode="auto">
                  <a:xfrm>
                    <a:off x="3333" y="2309"/>
                    <a:ext cx="225" cy="31"/>
                  </a:xfrm>
                  <a:custGeom>
                    <a:avLst/>
                    <a:gdLst>
                      <a:gd name="T0" fmla="*/ 0 w 1928"/>
                      <a:gd name="T1" fmla="*/ 0 h 271"/>
                      <a:gd name="T2" fmla="*/ 1927 w 1928"/>
                      <a:gd name="T3" fmla="*/ 271 h 271"/>
                      <a:gd name="T4" fmla="*/ 1928 w 1928"/>
                      <a:gd name="T5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28" h="271">
                        <a:moveTo>
                          <a:pt x="0" y="0"/>
                        </a:moveTo>
                        <a:lnTo>
                          <a:pt x="1927" y="271"/>
                        </a:lnTo>
                        <a:lnTo>
                          <a:pt x="1928" y="271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61" name="Freeform 159"/>
                  <p:cNvSpPr>
                    <a:spLocks noChangeArrowheads="1"/>
                  </p:cNvSpPr>
                  <p:nvPr/>
                </p:nvSpPr>
                <p:spPr bwMode="auto">
                  <a:xfrm>
                    <a:off x="3433" y="1696"/>
                    <a:ext cx="87" cy="10"/>
                  </a:xfrm>
                  <a:custGeom>
                    <a:avLst/>
                    <a:gdLst>
                      <a:gd name="T0" fmla="*/ 0 w 749"/>
                      <a:gd name="T1" fmla="*/ 0 h 92"/>
                      <a:gd name="T2" fmla="*/ 748 w 749"/>
                      <a:gd name="T3" fmla="*/ 92 h 92"/>
                      <a:gd name="T4" fmla="*/ 749 w 749"/>
                      <a:gd name="T5" fmla="*/ 92 h 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49" h="92">
                        <a:moveTo>
                          <a:pt x="0" y="0"/>
                        </a:moveTo>
                        <a:lnTo>
                          <a:pt x="748" y="92"/>
                        </a:lnTo>
                        <a:lnTo>
                          <a:pt x="749" y="92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62" name="Freeform 160"/>
                  <p:cNvSpPr>
                    <a:spLocks noChangeArrowheads="1"/>
                  </p:cNvSpPr>
                  <p:nvPr/>
                </p:nvSpPr>
                <p:spPr bwMode="auto">
                  <a:xfrm>
                    <a:off x="3433" y="1696"/>
                    <a:ext cx="0" cy="424"/>
                  </a:xfrm>
                  <a:custGeom>
                    <a:avLst/>
                    <a:gdLst>
                      <a:gd name="T0" fmla="*/ 0 w 1"/>
                      <a:gd name="T1" fmla="*/ 0 h 3638"/>
                      <a:gd name="T2" fmla="*/ 0 w 1"/>
                      <a:gd name="T3" fmla="*/ 3638 h 3638"/>
                      <a:gd name="T4" fmla="*/ 1 w 1"/>
                      <a:gd name="T5" fmla="*/ 3638 h 36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638">
                        <a:moveTo>
                          <a:pt x="0" y="0"/>
                        </a:moveTo>
                        <a:lnTo>
                          <a:pt x="0" y="3638"/>
                        </a:lnTo>
                        <a:lnTo>
                          <a:pt x="1" y="3638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63" name="Freeform 161"/>
                  <p:cNvSpPr>
                    <a:spLocks noChangeArrowheads="1"/>
                  </p:cNvSpPr>
                  <p:nvPr/>
                </p:nvSpPr>
                <p:spPr bwMode="auto">
                  <a:xfrm>
                    <a:off x="3333" y="2108"/>
                    <a:ext cx="100" cy="12"/>
                  </a:xfrm>
                  <a:custGeom>
                    <a:avLst/>
                    <a:gdLst>
                      <a:gd name="T0" fmla="*/ 0 w 854"/>
                      <a:gd name="T1" fmla="*/ 0 h 105"/>
                      <a:gd name="T2" fmla="*/ 853 w 854"/>
                      <a:gd name="T3" fmla="*/ 105 h 105"/>
                      <a:gd name="T4" fmla="*/ 854 w 854"/>
                      <a:gd name="T5" fmla="*/ 105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54" h="105">
                        <a:moveTo>
                          <a:pt x="0" y="0"/>
                        </a:moveTo>
                        <a:lnTo>
                          <a:pt x="853" y="105"/>
                        </a:lnTo>
                        <a:lnTo>
                          <a:pt x="854" y="105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64" name="Freeform 162"/>
                  <p:cNvSpPr>
                    <a:spLocks noChangeArrowheads="1"/>
                  </p:cNvSpPr>
                  <p:nvPr/>
                </p:nvSpPr>
                <p:spPr bwMode="auto">
                  <a:xfrm>
                    <a:off x="3520" y="1706"/>
                    <a:ext cx="38" cy="44"/>
                  </a:xfrm>
                  <a:custGeom>
                    <a:avLst/>
                    <a:gdLst>
                      <a:gd name="T0" fmla="*/ 0 w 327"/>
                      <a:gd name="T1" fmla="*/ 0 h 375"/>
                      <a:gd name="T2" fmla="*/ 326 w 327"/>
                      <a:gd name="T3" fmla="*/ 375 h 375"/>
                      <a:gd name="T4" fmla="*/ 327 w 327"/>
                      <a:gd name="T5" fmla="*/ 375 h 3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27" h="375">
                        <a:moveTo>
                          <a:pt x="0" y="0"/>
                        </a:moveTo>
                        <a:lnTo>
                          <a:pt x="326" y="375"/>
                        </a:lnTo>
                        <a:lnTo>
                          <a:pt x="327" y="375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65" name="Freeform 163"/>
                  <p:cNvSpPr>
                    <a:spLocks noChangeArrowheads="1"/>
                  </p:cNvSpPr>
                  <p:nvPr/>
                </p:nvSpPr>
                <p:spPr bwMode="auto">
                  <a:xfrm>
                    <a:off x="3903" y="2240"/>
                    <a:ext cx="239" cy="30"/>
                  </a:xfrm>
                  <a:custGeom>
                    <a:avLst/>
                    <a:gdLst>
                      <a:gd name="T0" fmla="*/ 0 w 2044"/>
                      <a:gd name="T1" fmla="*/ 0 h 251"/>
                      <a:gd name="T2" fmla="*/ 2042 w 2044"/>
                      <a:gd name="T3" fmla="*/ 251 h 251"/>
                      <a:gd name="T4" fmla="*/ 2044 w 2044"/>
                      <a:gd name="T5" fmla="*/ 251 h 2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044" h="251">
                        <a:moveTo>
                          <a:pt x="0" y="0"/>
                        </a:moveTo>
                        <a:lnTo>
                          <a:pt x="2042" y="251"/>
                        </a:lnTo>
                        <a:lnTo>
                          <a:pt x="2044" y="251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66" name="Freeform 164"/>
                  <p:cNvSpPr>
                    <a:spLocks noChangeArrowheads="1"/>
                  </p:cNvSpPr>
                  <p:nvPr/>
                </p:nvSpPr>
                <p:spPr bwMode="auto">
                  <a:xfrm>
                    <a:off x="3903" y="2240"/>
                    <a:ext cx="1" cy="131"/>
                  </a:xfrm>
                  <a:custGeom>
                    <a:avLst/>
                    <a:gdLst>
                      <a:gd name="T0" fmla="*/ 0 w 1"/>
                      <a:gd name="T1" fmla="*/ 187 h 187"/>
                      <a:gd name="T2" fmla="*/ 0 w 1"/>
                      <a:gd name="T3" fmla="*/ 0 h 187"/>
                      <a:gd name="T4" fmla="*/ 1 w 1"/>
                      <a:gd name="T5" fmla="*/ 0 h 1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87">
                        <a:moveTo>
                          <a:pt x="0" y="187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67" name="Freeform 165"/>
                  <p:cNvSpPr>
                    <a:spLocks noChangeArrowheads="1"/>
                  </p:cNvSpPr>
                  <p:nvPr/>
                </p:nvSpPr>
                <p:spPr bwMode="auto">
                  <a:xfrm>
                    <a:off x="3903" y="2365"/>
                    <a:ext cx="239" cy="29"/>
                  </a:xfrm>
                  <a:custGeom>
                    <a:avLst/>
                    <a:gdLst>
                      <a:gd name="T0" fmla="*/ 0 w 2044"/>
                      <a:gd name="T1" fmla="*/ 0 h 251"/>
                      <a:gd name="T2" fmla="*/ 2042 w 2044"/>
                      <a:gd name="T3" fmla="*/ 251 h 251"/>
                      <a:gd name="T4" fmla="*/ 2044 w 2044"/>
                      <a:gd name="T5" fmla="*/ 251 h 2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044" h="251">
                        <a:moveTo>
                          <a:pt x="0" y="0"/>
                        </a:moveTo>
                        <a:lnTo>
                          <a:pt x="2042" y="251"/>
                        </a:lnTo>
                        <a:lnTo>
                          <a:pt x="2044" y="251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68" name="Freeform 166"/>
                  <p:cNvSpPr>
                    <a:spLocks noChangeArrowheads="1"/>
                  </p:cNvSpPr>
                  <p:nvPr/>
                </p:nvSpPr>
                <p:spPr bwMode="auto">
                  <a:xfrm>
                    <a:off x="4141" y="2270"/>
                    <a:ext cx="1" cy="128"/>
                  </a:xfrm>
                  <a:custGeom>
                    <a:avLst/>
                    <a:gdLst>
                      <a:gd name="T0" fmla="*/ 0 w 2"/>
                      <a:gd name="T1" fmla="*/ 0 h 1098"/>
                      <a:gd name="T2" fmla="*/ 0 w 2"/>
                      <a:gd name="T3" fmla="*/ 1098 h 1098"/>
                      <a:gd name="T4" fmla="*/ 2 w 2"/>
                      <a:gd name="T5" fmla="*/ 1098 h 10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098">
                        <a:moveTo>
                          <a:pt x="0" y="0"/>
                        </a:moveTo>
                        <a:lnTo>
                          <a:pt x="0" y="1098"/>
                        </a:lnTo>
                        <a:lnTo>
                          <a:pt x="2" y="1098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69" name="Freeform 167"/>
                  <p:cNvSpPr>
                    <a:spLocks noChangeArrowheads="1"/>
                  </p:cNvSpPr>
                  <p:nvPr/>
                </p:nvSpPr>
                <p:spPr bwMode="auto">
                  <a:xfrm>
                    <a:off x="3903" y="1777"/>
                    <a:ext cx="1" cy="319"/>
                  </a:xfrm>
                  <a:custGeom>
                    <a:avLst/>
                    <a:gdLst>
                      <a:gd name="T0" fmla="*/ 0 w 1"/>
                      <a:gd name="T1" fmla="*/ 2737 h 2737"/>
                      <a:gd name="T2" fmla="*/ 0 w 1"/>
                      <a:gd name="T3" fmla="*/ 0 h 2737"/>
                      <a:gd name="T4" fmla="*/ 1 w 1"/>
                      <a:gd name="T5" fmla="*/ 0 h 27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737">
                        <a:moveTo>
                          <a:pt x="0" y="2737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0" name="Freeform 168"/>
                  <p:cNvSpPr>
                    <a:spLocks noChangeArrowheads="1"/>
                  </p:cNvSpPr>
                  <p:nvPr/>
                </p:nvSpPr>
                <p:spPr bwMode="auto">
                  <a:xfrm>
                    <a:off x="4024" y="1768"/>
                    <a:ext cx="0" cy="241"/>
                  </a:xfrm>
                  <a:custGeom>
                    <a:avLst/>
                    <a:gdLst>
                      <a:gd name="T0" fmla="*/ 0 w 1"/>
                      <a:gd name="T1" fmla="*/ 0 h 345"/>
                      <a:gd name="T2" fmla="*/ 1 w 1"/>
                      <a:gd name="T3" fmla="*/ 345 h 345"/>
                      <a:gd name="T4" fmla="*/ 1 w 1"/>
                      <a:gd name="T5" fmla="*/ 342 h 3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45">
                        <a:moveTo>
                          <a:pt x="0" y="0"/>
                        </a:moveTo>
                        <a:lnTo>
                          <a:pt x="1" y="345"/>
                        </a:lnTo>
                        <a:lnTo>
                          <a:pt x="1" y="342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1" name="Freeform 169"/>
                  <p:cNvSpPr>
                    <a:spLocks noChangeArrowheads="1"/>
                  </p:cNvSpPr>
                  <p:nvPr/>
                </p:nvSpPr>
                <p:spPr bwMode="auto">
                  <a:xfrm>
                    <a:off x="3903" y="2096"/>
                    <a:ext cx="239" cy="29"/>
                  </a:xfrm>
                  <a:custGeom>
                    <a:avLst/>
                    <a:gdLst>
                      <a:gd name="T0" fmla="*/ 0 w 2044"/>
                      <a:gd name="T1" fmla="*/ 0 h 251"/>
                      <a:gd name="T2" fmla="*/ 2042 w 2044"/>
                      <a:gd name="T3" fmla="*/ 251 h 251"/>
                      <a:gd name="T4" fmla="*/ 2044 w 2044"/>
                      <a:gd name="T5" fmla="*/ 251 h 2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044" h="251">
                        <a:moveTo>
                          <a:pt x="0" y="0"/>
                        </a:moveTo>
                        <a:lnTo>
                          <a:pt x="2042" y="251"/>
                        </a:lnTo>
                        <a:lnTo>
                          <a:pt x="2044" y="251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2" name="Freeform 170"/>
                  <p:cNvSpPr>
                    <a:spLocks noChangeArrowheads="1"/>
                  </p:cNvSpPr>
                  <p:nvPr/>
                </p:nvSpPr>
                <p:spPr bwMode="auto">
                  <a:xfrm>
                    <a:off x="4024" y="2007"/>
                    <a:ext cx="118" cy="15"/>
                  </a:xfrm>
                  <a:custGeom>
                    <a:avLst/>
                    <a:gdLst>
                      <a:gd name="T0" fmla="*/ 0 w 1010"/>
                      <a:gd name="T1" fmla="*/ 0 h 124"/>
                      <a:gd name="T2" fmla="*/ 1008 w 1010"/>
                      <a:gd name="T3" fmla="*/ 124 h 124"/>
                      <a:gd name="T4" fmla="*/ 1010 w 1010"/>
                      <a:gd name="T5" fmla="*/ 124 h 1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10" h="124">
                        <a:moveTo>
                          <a:pt x="0" y="0"/>
                        </a:moveTo>
                        <a:lnTo>
                          <a:pt x="1008" y="124"/>
                        </a:lnTo>
                        <a:lnTo>
                          <a:pt x="1010" y="124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3" name="Freeform 171"/>
                  <p:cNvSpPr>
                    <a:spLocks noChangeArrowheads="1"/>
                  </p:cNvSpPr>
                  <p:nvPr/>
                </p:nvSpPr>
                <p:spPr bwMode="auto">
                  <a:xfrm>
                    <a:off x="4141" y="2022"/>
                    <a:ext cx="1" cy="103"/>
                  </a:xfrm>
                  <a:custGeom>
                    <a:avLst/>
                    <a:gdLst>
                      <a:gd name="T0" fmla="*/ 0 w 2"/>
                      <a:gd name="T1" fmla="*/ 892 h 892"/>
                      <a:gd name="T2" fmla="*/ 0 w 2"/>
                      <a:gd name="T3" fmla="*/ 0 h 892"/>
                      <a:gd name="T4" fmla="*/ 2 w 2"/>
                      <a:gd name="T5" fmla="*/ 0 h 8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892">
                        <a:moveTo>
                          <a:pt x="0" y="892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4" name="Freeform 172"/>
                  <p:cNvSpPr>
                    <a:spLocks noChangeArrowheads="1"/>
                  </p:cNvSpPr>
                  <p:nvPr/>
                </p:nvSpPr>
                <p:spPr bwMode="auto">
                  <a:xfrm>
                    <a:off x="3937" y="1758"/>
                    <a:ext cx="87" cy="10"/>
                  </a:xfrm>
                  <a:custGeom>
                    <a:avLst/>
                    <a:gdLst>
                      <a:gd name="T0" fmla="*/ 0 w 749"/>
                      <a:gd name="T1" fmla="*/ 0 h 92"/>
                      <a:gd name="T2" fmla="*/ 748 w 749"/>
                      <a:gd name="T3" fmla="*/ 92 h 92"/>
                      <a:gd name="T4" fmla="*/ 749 w 749"/>
                      <a:gd name="T5" fmla="*/ 92 h 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49" h="92">
                        <a:moveTo>
                          <a:pt x="0" y="0"/>
                        </a:moveTo>
                        <a:lnTo>
                          <a:pt x="748" y="92"/>
                        </a:lnTo>
                        <a:lnTo>
                          <a:pt x="749" y="92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5" name="Freeform 173"/>
                  <p:cNvSpPr>
                    <a:spLocks noChangeArrowheads="1"/>
                  </p:cNvSpPr>
                  <p:nvPr/>
                </p:nvSpPr>
                <p:spPr bwMode="auto">
                  <a:xfrm>
                    <a:off x="3903" y="1758"/>
                    <a:ext cx="34" cy="19"/>
                  </a:xfrm>
                  <a:custGeom>
                    <a:avLst/>
                    <a:gdLst>
                      <a:gd name="T0" fmla="*/ 286 w 286"/>
                      <a:gd name="T1" fmla="*/ 0 h 169"/>
                      <a:gd name="T2" fmla="*/ 0 w 286"/>
                      <a:gd name="T3" fmla="*/ 169 h 169"/>
                      <a:gd name="T4" fmla="*/ 1 w 286"/>
                      <a:gd name="T5" fmla="*/ 16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86" h="169">
                        <a:moveTo>
                          <a:pt x="286" y="0"/>
                        </a:moveTo>
                        <a:lnTo>
                          <a:pt x="0" y="169"/>
                        </a:lnTo>
                        <a:lnTo>
                          <a:pt x="1" y="169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6" name="Freeform 174"/>
                  <p:cNvSpPr>
                    <a:spLocks noChangeArrowheads="1"/>
                  </p:cNvSpPr>
                  <p:nvPr/>
                </p:nvSpPr>
                <p:spPr bwMode="auto">
                  <a:xfrm>
                    <a:off x="3333" y="2154"/>
                    <a:ext cx="225" cy="146"/>
                  </a:xfrm>
                  <a:custGeom>
                    <a:avLst/>
                    <a:gdLst>
                      <a:gd name="T0" fmla="*/ 1927 w 1927"/>
                      <a:gd name="T1" fmla="*/ 1251 h 1251"/>
                      <a:gd name="T2" fmla="*/ 0 w 1927"/>
                      <a:gd name="T3" fmla="*/ 0 h 1251"/>
                      <a:gd name="T4" fmla="*/ 1 w 1927"/>
                      <a:gd name="T5" fmla="*/ 0 h 12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27" h="1251">
                        <a:moveTo>
                          <a:pt x="1927" y="125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7" name="Freeform 175"/>
                  <p:cNvSpPr>
                    <a:spLocks noChangeArrowheads="1"/>
                  </p:cNvSpPr>
                  <p:nvPr/>
                </p:nvSpPr>
                <p:spPr bwMode="auto">
                  <a:xfrm>
                    <a:off x="3333" y="2247"/>
                    <a:ext cx="123" cy="79"/>
                  </a:xfrm>
                  <a:custGeom>
                    <a:avLst/>
                    <a:gdLst>
                      <a:gd name="T0" fmla="*/ 1049 w 1049"/>
                      <a:gd name="T1" fmla="*/ 683 h 683"/>
                      <a:gd name="T2" fmla="*/ 0 w 1049"/>
                      <a:gd name="T3" fmla="*/ 0 h 683"/>
                      <a:gd name="T4" fmla="*/ 1 w 1049"/>
                      <a:gd name="T5" fmla="*/ 0 h 6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49" h="683">
                        <a:moveTo>
                          <a:pt x="1049" y="683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8" name="Freeform 176"/>
                  <p:cNvSpPr>
                    <a:spLocks noChangeArrowheads="1"/>
                  </p:cNvSpPr>
                  <p:nvPr/>
                </p:nvSpPr>
                <p:spPr bwMode="auto">
                  <a:xfrm>
                    <a:off x="3432" y="1754"/>
                    <a:ext cx="126" cy="82"/>
                  </a:xfrm>
                  <a:custGeom>
                    <a:avLst/>
                    <a:gdLst>
                      <a:gd name="T0" fmla="*/ 1074 w 1074"/>
                      <a:gd name="T1" fmla="*/ 698 h 698"/>
                      <a:gd name="T2" fmla="*/ 0 w 1074"/>
                      <a:gd name="T3" fmla="*/ 0 h 698"/>
                      <a:gd name="T4" fmla="*/ 1 w 1074"/>
                      <a:gd name="T5" fmla="*/ 0 h 6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74" h="698">
                        <a:moveTo>
                          <a:pt x="1074" y="698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9" name="Freeform 177"/>
                  <p:cNvSpPr>
                    <a:spLocks noChangeArrowheads="1"/>
                  </p:cNvSpPr>
                  <p:nvPr/>
                </p:nvSpPr>
                <p:spPr bwMode="auto">
                  <a:xfrm>
                    <a:off x="3432" y="1847"/>
                    <a:ext cx="126" cy="81"/>
                  </a:xfrm>
                  <a:custGeom>
                    <a:avLst/>
                    <a:gdLst>
                      <a:gd name="T0" fmla="*/ 1074 w 1074"/>
                      <a:gd name="T1" fmla="*/ 698 h 698"/>
                      <a:gd name="T2" fmla="*/ 0 w 1074"/>
                      <a:gd name="T3" fmla="*/ 0 h 698"/>
                      <a:gd name="T4" fmla="*/ 1 w 1074"/>
                      <a:gd name="T5" fmla="*/ 0 h 6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74" h="698">
                        <a:moveTo>
                          <a:pt x="1074" y="698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0" name="Freeform 178"/>
                  <p:cNvSpPr>
                    <a:spLocks noChangeArrowheads="1"/>
                  </p:cNvSpPr>
                  <p:nvPr/>
                </p:nvSpPr>
                <p:spPr bwMode="auto">
                  <a:xfrm>
                    <a:off x="3432" y="1940"/>
                    <a:ext cx="126" cy="81"/>
                  </a:xfrm>
                  <a:custGeom>
                    <a:avLst/>
                    <a:gdLst>
                      <a:gd name="T0" fmla="*/ 1074 w 1074"/>
                      <a:gd name="T1" fmla="*/ 698 h 698"/>
                      <a:gd name="T2" fmla="*/ 0 w 1074"/>
                      <a:gd name="T3" fmla="*/ 0 h 698"/>
                      <a:gd name="T4" fmla="*/ 1 w 1074"/>
                      <a:gd name="T5" fmla="*/ 0 h 6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74" h="698">
                        <a:moveTo>
                          <a:pt x="1074" y="698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1" name="Freeform 179"/>
                  <p:cNvSpPr>
                    <a:spLocks noChangeArrowheads="1"/>
                  </p:cNvSpPr>
                  <p:nvPr/>
                </p:nvSpPr>
                <p:spPr bwMode="auto">
                  <a:xfrm>
                    <a:off x="3432" y="2032"/>
                    <a:ext cx="126" cy="82"/>
                  </a:xfrm>
                  <a:custGeom>
                    <a:avLst/>
                    <a:gdLst>
                      <a:gd name="T0" fmla="*/ 1074 w 1074"/>
                      <a:gd name="T1" fmla="*/ 698 h 698"/>
                      <a:gd name="T2" fmla="*/ 0 w 1074"/>
                      <a:gd name="T3" fmla="*/ 0 h 698"/>
                      <a:gd name="T4" fmla="*/ 1 w 1074"/>
                      <a:gd name="T5" fmla="*/ 0 h 6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74" h="698">
                        <a:moveTo>
                          <a:pt x="1074" y="698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2" name="Freeform 180"/>
                  <p:cNvSpPr>
                    <a:spLocks noChangeArrowheads="1"/>
                  </p:cNvSpPr>
                  <p:nvPr/>
                </p:nvSpPr>
                <p:spPr bwMode="auto">
                  <a:xfrm>
                    <a:off x="3421" y="2118"/>
                    <a:ext cx="137" cy="89"/>
                  </a:xfrm>
                  <a:custGeom>
                    <a:avLst/>
                    <a:gdLst>
                      <a:gd name="T0" fmla="*/ 1177 w 1177"/>
                      <a:gd name="T1" fmla="*/ 765 h 765"/>
                      <a:gd name="T2" fmla="*/ 0 w 1177"/>
                      <a:gd name="T3" fmla="*/ 0 h 765"/>
                      <a:gd name="T4" fmla="*/ 2 w 1177"/>
                      <a:gd name="T5" fmla="*/ 0 h 7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7" h="765">
                        <a:moveTo>
                          <a:pt x="1177" y="765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3" name="Freeform 181"/>
                  <p:cNvSpPr>
                    <a:spLocks noChangeArrowheads="1"/>
                  </p:cNvSpPr>
                  <p:nvPr/>
                </p:nvSpPr>
                <p:spPr bwMode="auto">
                  <a:xfrm>
                    <a:off x="4070" y="2261"/>
                    <a:ext cx="71" cy="46"/>
                  </a:xfrm>
                  <a:custGeom>
                    <a:avLst/>
                    <a:gdLst>
                      <a:gd name="T0" fmla="*/ 617 w 617"/>
                      <a:gd name="T1" fmla="*/ 401 h 401"/>
                      <a:gd name="T2" fmla="*/ 0 w 617"/>
                      <a:gd name="T3" fmla="*/ 0 h 401"/>
                      <a:gd name="T4" fmla="*/ 2 w 617"/>
                      <a:gd name="T5" fmla="*/ 0 h 4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17" h="401">
                        <a:moveTo>
                          <a:pt x="617" y="401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4" name="Freeform 182"/>
                  <p:cNvSpPr>
                    <a:spLocks noChangeArrowheads="1"/>
                  </p:cNvSpPr>
                  <p:nvPr/>
                </p:nvSpPr>
                <p:spPr bwMode="auto">
                  <a:xfrm>
                    <a:off x="3903" y="2246"/>
                    <a:ext cx="233" cy="151"/>
                  </a:xfrm>
                  <a:custGeom>
                    <a:avLst/>
                    <a:gdLst>
                      <a:gd name="T0" fmla="*/ 1999 w 1999"/>
                      <a:gd name="T1" fmla="*/ 1299 h 1299"/>
                      <a:gd name="T2" fmla="*/ 0 w 1999"/>
                      <a:gd name="T3" fmla="*/ 0 h 1299"/>
                      <a:gd name="T4" fmla="*/ 1 w 1999"/>
                      <a:gd name="T5" fmla="*/ 0 h 12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99" h="1299">
                        <a:moveTo>
                          <a:pt x="1999" y="1299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5" name="Freeform 183"/>
                  <p:cNvSpPr>
                    <a:spLocks noChangeArrowheads="1"/>
                  </p:cNvSpPr>
                  <p:nvPr/>
                </p:nvSpPr>
                <p:spPr bwMode="auto">
                  <a:xfrm>
                    <a:off x="3903" y="2339"/>
                    <a:ext cx="57" cy="36"/>
                  </a:xfrm>
                  <a:custGeom>
                    <a:avLst/>
                    <a:gdLst>
                      <a:gd name="T0" fmla="*/ 488 w 488"/>
                      <a:gd name="T1" fmla="*/ 316 h 316"/>
                      <a:gd name="T2" fmla="*/ 0 w 488"/>
                      <a:gd name="T3" fmla="*/ 0 h 316"/>
                      <a:gd name="T4" fmla="*/ 1 w 488"/>
                      <a:gd name="T5" fmla="*/ 0 h 3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88" h="316">
                        <a:moveTo>
                          <a:pt x="488" y="316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6" name="Freeform 184"/>
                  <p:cNvSpPr>
                    <a:spLocks noChangeArrowheads="1"/>
                  </p:cNvSpPr>
                  <p:nvPr/>
                </p:nvSpPr>
                <p:spPr bwMode="auto">
                  <a:xfrm>
                    <a:off x="3903" y="1874"/>
                    <a:ext cx="120" cy="79"/>
                  </a:xfrm>
                  <a:custGeom>
                    <a:avLst/>
                    <a:gdLst>
                      <a:gd name="T0" fmla="*/ 1034 w 1034"/>
                      <a:gd name="T1" fmla="*/ 672 h 672"/>
                      <a:gd name="T2" fmla="*/ 0 w 1034"/>
                      <a:gd name="T3" fmla="*/ 0 h 672"/>
                      <a:gd name="T4" fmla="*/ 1 w 1034"/>
                      <a:gd name="T5" fmla="*/ 0 h 6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34" h="672">
                        <a:moveTo>
                          <a:pt x="1034" y="672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7" name="Freeform 185"/>
                  <p:cNvSpPr>
                    <a:spLocks noChangeArrowheads="1"/>
                  </p:cNvSpPr>
                  <p:nvPr/>
                </p:nvSpPr>
                <p:spPr bwMode="auto">
                  <a:xfrm>
                    <a:off x="3903" y="1967"/>
                    <a:ext cx="238" cy="155"/>
                  </a:xfrm>
                  <a:custGeom>
                    <a:avLst/>
                    <a:gdLst>
                      <a:gd name="T0" fmla="*/ 2042 w 2042"/>
                      <a:gd name="T1" fmla="*/ 1327 h 1327"/>
                      <a:gd name="T2" fmla="*/ 0 w 2042"/>
                      <a:gd name="T3" fmla="*/ 0 h 1327"/>
                      <a:gd name="T4" fmla="*/ 1 w 2042"/>
                      <a:gd name="T5" fmla="*/ 0 h 13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042" h="1327">
                        <a:moveTo>
                          <a:pt x="2042" y="1327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8" name="Freeform 186"/>
                  <p:cNvSpPr>
                    <a:spLocks noChangeArrowheads="1"/>
                  </p:cNvSpPr>
                  <p:nvPr/>
                </p:nvSpPr>
                <p:spPr bwMode="auto">
                  <a:xfrm>
                    <a:off x="3903" y="2060"/>
                    <a:ext cx="68" cy="44"/>
                  </a:xfrm>
                  <a:custGeom>
                    <a:avLst/>
                    <a:gdLst>
                      <a:gd name="T0" fmla="*/ 580 w 580"/>
                      <a:gd name="T1" fmla="*/ 377 h 377"/>
                      <a:gd name="T2" fmla="*/ 0 w 580"/>
                      <a:gd name="T3" fmla="*/ 0 h 377"/>
                      <a:gd name="T4" fmla="*/ 1 w 580"/>
                      <a:gd name="T5" fmla="*/ 0 h 3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80" h="377">
                        <a:moveTo>
                          <a:pt x="580" y="377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89" name="Freeform 187"/>
                  <p:cNvSpPr>
                    <a:spLocks noChangeArrowheads="1"/>
                  </p:cNvSpPr>
                  <p:nvPr/>
                </p:nvSpPr>
                <p:spPr bwMode="auto">
                  <a:xfrm>
                    <a:off x="3903" y="1782"/>
                    <a:ext cx="120" cy="78"/>
                  </a:xfrm>
                  <a:custGeom>
                    <a:avLst/>
                    <a:gdLst>
                      <a:gd name="T0" fmla="*/ 1034 w 1034"/>
                      <a:gd name="T1" fmla="*/ 672 h 672"/>
                      <a:gd name="T2" fmla="*/ 0 w 1034"/>
                      <a:gd name="T3" fmla="*/ 0 h 672"/>
                      <a:gd name="T4" fmla="*/ 1 w 1034"/>
                      <a:gd name="T5" fmla="*/ 0 h 6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34" h="672">
                        <a:moveTo>
                          <a:pt x="1034" y="672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90" name="Freeform 188"/>
                  <p:cNvSpPr>
                    <a:spLocks noChangeArrowheads="1"/>
                  </p:cNvSpPr>
                  <p:nvPr/>
                </p:nvSpPr>
                <p:spPr bwMode="auto">
                  <a:xfrm>
                    <a:off x="2749" y="2304"/>
                    <a:ext cx="250" cy="65"/>
                  </a:xfrm>
                  <a:custGeom>
                    <a:avLst/>
                    <a:gdLst>
                      <a:gd name="T0" fmla="*/ 3 w 358"/>
                      <a:gd name="T1" fmla="*/ 38 h 93"/>
                      <a:gd name="T2" fmla="*/ 28 w 358"/>
                      <a:gd name="T3" fmla="*/ 24 h 93"/>
                      <a:gd name="T4" fmla="*/ 115 w 358"/>
                      <a:gd name="T5" fmla="*/ 2 h 93"/>
                      <a:gd name="T6" fmla="*/ 273 w 358"/>
                      <a:gd name="T7" fmla="*/ 0 h 93"/>
                      <a:gd name="T8" fmla="*/ 347 w 358"/>
                      <a:gd name="T9" fmla="*/ 22 h 93"/>
                      <a:gd name="T10" fmla="*/ 358 w 358"/>
                      <a:gd name="T11" fmla="*/ 29 h 93"/>
                      <a:gd name="T12" fmla="*/ 352 w 358"/>
                      <a:gd name="T13" fmla="*/ 93 h 93"/>
                      <a:gd name="T14" fmla="*/ 252 w 358"/>
                      <a:gd name="T15" fmla="*/ 82 h 93"/>
                      <a:gd name="T16" fmla="*/ 0 w 358"/>
                      <a:gd name="T17" fmla="*/ 50 h 93"/>
                      <a:gd name="T18" fmla="*/ 3 w 358"/>
                      <a:gd name="T19" fmla="*/ 38 h 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58" h="93">
                        <a:moveTo>
                          <a:pt x="3" y="38"/>
                        </a:moveTo>
                        <a:lnTo>
                          <a:pt x="28" y="24"/>
                        </a:lnTo>
                        <a:lnTo>
                          <a:pt x="115" y="2"/>
                        </a:lnTo>
                        <a:lnTo>
                          <a:pt x="273" y="0"/>
                        </a:lnTo>
                        <a:lnTo>
                          <a:pt x="347" y="22"/>
                        </a:lnTo>
                        <a:lnTo>
                          <a:pt x="358" y="29"/>
                        </a:lnTo>
                        <a:lnTo>
                          <a:pt x="352" y="93"/>
                        </a:lnTo>
                        <a:lnTo>
                          <a:pt x="252" y="82"/>
                        </a:lnTo>
                        <a:lnTo>
                          <a:pt x="0" y="50"/>
                        </a:lnTo>
                        <a:lnTo>
                          <a:pt x="3" y="38"/>
                        </a:lnTo>
                        <a:close/>
                      </a:path>
                    </a:pathLst>
                  </a:custGeom>
                  <a:solidFill>
                    <a:srgbClr val="B2B2B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91" name="Freeform 189"/>
                  <p:cNvSpPr>
                    <a:spLocks noChangeArrowheads="1"/>
                  </p:cNvSpPr>
                  <p:nvPr/>
                </p:nvSpPr>
                <p:spPr bwMode="auto">
                  <a:xfrm>
                    <a:off x="2921" y="2263"/>
                    <a:ext cx="218" cy="259"/>
                  </a:xfrm>
                  <a:custGeom>
                    <a:avLst/>
                    <a:gdLst>
                      <a:gd name="T0" fmla="*/ 77 w 218"/>
                      <a:gd name="T1" fmla="*/ 0 h 259"/>
                      <a:gd name="T2" fmla="*/ 80 w 218"/>
                      <a:gd name="T3" fmla="*/ 98 h 259"/>
                      <a:gd name="T4" fmla="*/ 0 w 218"/>
                      <a:gd name="T5" fmla="*/ 95 h 259"/>
                      <a:gd name="T6" fmla="*/ 0 w 218"/>
                      <a:gd name="T7" fmla="*/ 239 h 259"/>
                      <a:gd name="T8" fmla="*/ 194 w 218"/>
                      <a:gd name="T9" fmla="*/ 259 h 259"/>
                      <a:gd name="T10" fmla="*/ 218 w 218"/>
                      <a:gd name="T11" fmla="*/ 222 h 259"/>
                      <a:gd name="T12" fmla="*/ 217 w 218"/>
                      <a:gd name="T13" fmla="*/ 17 h 259"/>
                      <a:gd name="T14" fmla="*/ 77 w 218"/>
                      <a:gd name="T15" fmla="*/ 0 h 2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18" h="259">
                        <a:moveTo>
                          <a:pt x="77" y="0"/>
                        </a:moveTo>
                        <a:lnTo>
                          <a:pt x="80" y="98"/>
                        </a:lnTo>
                        <a:lnTo>
                          <a:pt x="0" y="95"/>
                        </a:lnTo>
                        <a:lnTo>
                          <a:pt x="0" y="239"/>
                        </a:lnTo>
                        <a:lnTo>
                          <a:pt x="194" y="259"/>
                        </a:lnTo>
                        <a:lnTo>
                          <a:pt x="218" y="222"/>
                        </a:lnTo>
                        <a:lnTo>
                          <a:pt x="217" y="1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92" name="Freeform 190"/>
                  <p:cNvSpPr>
                    <a:spLocks noChangeArrowheads="1"/>
                  </p:cNvSpPr>
                  <p:nvPr/>
                </p:nvSpPr>
                <p:spPr bwMode="auto">
                  <a:xfrm>
                    <a:off x="2665" y="2223"/>
                    <a:ext cx="160" cy="255"/>
                  </a:xfrm>
                  <a:custGeom>
                    <a:avLst/>
                    <a:gdLst>
                      <a:gd name="T0" fmla="*/ 0 w 228"/>
                      <a:gd name="T1" fmla="*/ 0 h 364"/>
                      <a:gd name="T2" fmla="*/ 112 w 228"/>
                      <a:gd name="T3" fmla="*/ 15 h 364"/>
                      <a:gd name="T4" fmla="*/ 119 w 228"/>
                      <a:gd name="T5" fmla="*/ 160 h 364"/>
                      <a:gd name="T6" fmla="*/ 228 w 228"/>
                      <a:gd name="T7" fmla="*/ 182 h 364"/>
                      <a:gd name="T8" fmla="*/ 214 w 228"/>
                      <a:gd name="T9" fmla="*/ 364 h 364"/>
                      <a:gd name="T10" fmla="*/ 0 w 228"/>
                      <a:gd name="T11" fmla="*/ 341 h 364"/>
                      <a:gd name="T12" fmla="*/ 0 w 228"/>
                      <a:gd name="T13" fmla="*/ 0 h 3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28" h="364">
                        <a:moveTo>
                          <a:pt x="0" y="0"/>
                        </a:moveTo>
                        <a:lnTo>
                          <a:pt x="112" y="15"/>
                        </a:lnTo>
                        <a:lnTo>
                          <a:pt x="119" y="160"/>
                        </a:lnTo>
                        <a:lnTo>
                          <a:pt x="228" y="182"/>
                        </a:lnTo>
                        <a:lnTo>
                          <a:pt x="214" y="364"/>
                        </a:lnTo>
                        <a:lnTo>
                          <a:pt x="0" y="3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93" name="Freeform 191"/>
                  <p:cNvSpPr>
                    <a:spLocks noChangeArrowheads="1"/>
                  </p:cNvSpPr>
                  <p:nvPr/>
                </p:nvSpPr>
                <p:spPr bwMode="auto">
                  <a:xfrm>
                    <a:off x="2824" y="2334"/>
                    <a:ext cx="104" cy="153"/>
                  </a:xfrm>
                  <a:custGeom>
                    <a:avLst/>
                    <a:gdLst>
                      <a:gd name="T0" fmla="*/ 0 w 150"/>
                      <a:gd name="T1" fmla="*/ 17 h 219"/>
                      <a:gd name="T2" fmla="*/ 19 w 150"/>
                      <a:gd name="T3" fmla="*/ 12 h 219"/>
                      <a:gd name="T4" fmla="*/ 38 w 150"/>
                      <a:gd name="T5" fmla="*/ 5 h 219"/>
                      <a:gd name="T6" fmla="*/ 56 w 150"/>
                      <a:gd name="T7" fmla="*/ 2 h 219"/>
                      <a:gd name="T8" fmla="*/ 73 w 150"/>
                      <a:gd name="T9" fmla="*/ 0 h 219"/>
                      <a:gd name="T10" fmla="*/ 93 w 150"/>
                      <a:gd name="T11" fmla="*/ 0 h 219"/>
                      <a:gd name="T12" fmla="*/ 115 w 150"/>
                      <a:gd name="T13" fmla="*/ 3 h 219"/>
                      <a:gd name="T14" fmla="*/ 141 w 150"/>
                      <a:gd name="T15" fmla="*/ 11 h 219"/>
                      <a:gd name="T16" fmla="*/ 150 w 150"/>
                      <a:gd name="T17" fmla="*/ 23 h 219"/>
                      <a:gd name="T18" fmla="*/ 145 w 150"/>
                      <a:gd name="T19" fmla="*/ 40 h 219"/>
                      <a:gd name="T20" fmla="*/ 139 w 150"/>
                      <a:gd name="T21" fmla="*/ 219 h 219"/>
                      <a:gd name="T22" fmla="*/ 121 w 150"/>
                      <a:gd name="T23" fmla="*/ 207 h 219"/>
                      <a:gd name="T24" fmla="*/ 91 w 150"/>
                      <a:gd name="T25" fmla="*/ 202 h 219"/>
                      <a:gd name="T26" fmla="*/ 67 w 150"/>
                      <a:gd name="T27" fmla="*/ 200 h 219"/>
                      <a:gd name="T28" fmla="*/ 45 w 150"/>
                      <a:gd name="T29" fmla="*/ 203 h 219"/>
                      <a:gd name="T30" fmla="*/ 19 w 150"/>
                      <a:gd name="T31" fmla="*/ 209 h 219"/>
                      <a:gd name="T32" fmla="*/ 2 w 150"/>
                      <a:gd name="T33" fmla="*/ 214 h 219"/>
                      <a:gd name="T34" fmla="*/ 0 w 150"/>
                      <a:gd name="T35" fmla="*/ 17 h 2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50" h="219">
                        <a:moveTo>
                          <a:pt x="0" y="17"/>
                        </a:moveTo>
                        <a:lnTo>
                          <a:pt x="19" y="12"/>
                        </a:lnTo>
                        <a:lnTo>
                          <a:pt x="38" y="5"/>
                        </a:lnTo>
                        <a:lnTo>
                          <a:pt x="56" y="2"/>
                        </a:lnTo>
                        <a:lnTo>
                          <a:pt x="73" y="0"/>
                        </a:lnTo>
                        <a:lnTo>
                          <a:pt x="93" y="0"/>
                        </a:lnTo>
                        <a:lnTo>
                          <a:pt x="115" y="3"/>
                        </a:lnTo>
                        <a:lnTo>
                          <a:pt x="141" y="11"/>
                        </a:lnTo>
                        <a:lnTo>
                          <a:pt x="150" y="23"/>
                        </a:lnTo>
                        <a:lnTo>
                          <a:pt x="145" y="40"/>
                        </a:lnTo>
                        <a:lnTo>
                          <a:pt x="139" y="219"/>
                        </a:lnTo>
                        <a:lnTo>
                          <a:pt x="121" y="207"/>
                        </a:lnTo>
                        <a:lnTo>
                          <a:pt x="91" y="202"/>
                        </a:lnTo>
                        <a:lnTo>
                          <a:pt x="67" y="200"/>
                        </a:lnTo>
                        <a:lnTo>
                          <a:pt x="45" y="203"/>
                        </a:lnTo>
                        <a:lnTo>
                          <a:pt x="19" y="209"/>
                        </a:lnTo>
                        <a:lnTo>
                          <a:pt x="2" y="214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gradFill rotWithShape="0">
                    <a:gsLst>
                      <a:gs pos="0">
                        <a:srgbClr val="595959"/>
                      </a:gs>
                      <a:gs pos="50000">
                        <a:srgbClr val="C0C0C0"/>
                      </a:gs>
                      <a:gs pos="100000">
                        <a:srgbClr val="595959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94" name="Freeform 192"/>
                  <p:cNvSpPr>
                    <a:spLocks noChangeArrowheads="1"/>
                  </p:cNvSpPr>
                  <p:nvPr/>
                </p:nvSpPr>
                <p:spPr bwMode="auto">
                  <a:xfrm>
                    <a:off x="2752" y="2202"/>
                    <a:ext cx="256" cy="134"/>
                  </a:xfrm>
                  <a:custGeom>
                    <a:avLst/>
                    <a:gdLst>
                      <a:gd name="T0" fmla="*/ 0 w 367"/>
                      <a:gd name="T1" fmla="*/ 43 h 192"/>
                      <a:gd name="T2" fmla="*/ 0 w 367"/>
                      <a:gd name="T3" fmla="*/ 192 h 192"/>
                      <a:gd name="T4" fmla="*/ 36 w 367"/>
                      <a:gd name="T5" fmla="*/ 175 h 192"/>
                      <a:gd name="T6" fmla="*/ 91 w 367"/>
                      <a:gd name="T7" fmla="*/ 160 h 192"/>
                      <a:gd name="T8" fmla="*/ 146 w 367"/>
                      <a:gd name="T9" fmla="*/ 156 h 192"/>
                      <a:gd name="T10" fmla="*/ 213 w 367"/>
                      <a:gd name="T11" fmla="*/ 156 h 192"/>
                      <a:gd name="T12" fmla="*/ 297 w 367"/>
                      <a:gd name="T13" fmla="*/ 168 h 192"/>
                      <a:gd name="T14" fmla="*/ 355 w 367"/>
                      <a:gd name="T15" fmla="*/ 192 h 192"/>
                      <a:gd name="T16" fmla="*/ 355 w 367"/>
                      <a:gd name="T17" fmla="*/ 91 h 192"/>
                      <a:gd name="T18" fmla="*/ 364 w 367"/>
                      <a:gd name="T19" fmla="*/ 76 h 192"/>
                      <a:gd name="T20" fmla="*/ 367 w 367"/>
                      <a:gd name="T21" fmla="*/ 55 h 192"/>
                      <a:gd name="T22" fmla="*/ 343 w 367"/>
                      <a:gd name="T23" fmla="*/ 31 h 192"/>
                      <a:gd name="T24" fmla="*/ 309 w 367"/>
                      <a:gd name="T25" fmla="*/ 16 h 192"/>
                      <a:gd name="T26" fmla="*/ 228 w 367"/>
                      <a:gd name="T27" fmla="*/ 2 h 192"/>
                      <a:gd name="T28" fmla="*/ 163 w 367"/>
                      <a:gd name="T29" fmla="*/ 0 h 192"/>
                      <a:gd name="T30" fmla="*/ 84 w 367"/>
                      <a:gd name="T31" fmla="*/ 7 h 192"/>
                      <a:gd name="T32" fmla="*/ 33 w 367"/>
                      <a:gd name="T33" fmla="*/ 24 h 192"/>
                      <a:gd name="T34" fmla="*/ 0 w 367"/>
                      <a:gd name="T35" fmla="*/ 43 h 1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67" h="192">
                        <a:moveTo>
                          <a:pt x="0" y="43"/>
                        </a:moveTo>
                        <a:lnTo>
                          <a:pt x="0" y="192"/>
                        </a:lnTo>
                        <a:lnTo>
                          <a:pt x="36" y="175"/>
                        </a:lnTo>
                        <a:lnTo>
                          <a:pt x="91" y="160"/>
                        </a:lnTo>
                        <a:lnTo>
                          <a:pt x="146" y="156"/>
                        </a:lnTo>
                        <a:lnTo>
                          <a:pt x="213" y="156"/>
                        </a:lnTo>
                        <a:lnTo>
                          <a:pt x="297" y="168"/>
                        </a:lnTo>
                        <a:lnTo>
                          <a:pt x="355" y="192"/>
                        </a:lnTo>
                        <a:lnTo>
                          <a:pt x="355" y="91"/>
                        </a:lnTo>
                        <a:lnTo>
                          <a:pt x="364" y="76"/>
                        </a:lnTo>
                        <a:lnTo>
                          <a:pt x="367" y="55"/>
                        </a:lnTo>
                        <a:lnTo>
                          <a:pt x="343" y="31"/>
                        </a:lnTo>
                        <a:lnTo>
                          <a:pt x="309" y="16"/>
                        </a:lnTo>
                        <a:lnTo>
                          <a:pt x="228" y="2"/>
                        </a:lnTo>
                        <a:lnTo>
                          <a:pt x="163" y="0"/>
                        </a:lnTo>
                        <a:lnTo>
                          <a:pt x="84" y="7"/>
                        </a:lnTo>
                        <a:lnTo>
                          <a:pt x="33" y="24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gradFill rotWithShape="0">
                    <a:gsLst>
                      <a:gs pos="0">
                        <a:srgbClr val="595959"/>
                      </a:gs>
                      <a:gs pos="50000">
                        <a:srgbClr val="C0C0C0"/>
                      </a:gs>
                      <a:gs pos="100000">
                        <a:srgbClr val="595959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95" name="Freeform 193"/>
                  <p:cNvSpPr>
                    <a:spLocks noChangeArrowheads="1"/>
                  </p:cNvSpPr>
                  <p:nvPr/>
                </p:nvSpPr>
                <p:spPr bwMode="auto">
                  <a:xfrm>
                    <a:off x="3118" y="2481"/>
                    <a:ext cx="24" cy="34"/>
                  </a:xfrm>
                  <a:custGeom>
                    <a:avLst/>
                    <a:gdLst>
                      <a:gd name="T0" fmla="*/ 214 w 214"/>
                      <a:gd name="T1" fmla="*/ 0 h 288"/>
                      <a:gd name="T2" fmla="*/ 59 w 214"/>
                      <a:gd name="T3" fmla="*/ 109 h 288"/>
                      <a:gd name="T4" fmla="*/ 0 w 214"/>
                      <a:gd name="T5" fmla="*/ 288 h 288"/>
                      <a:gd name="T6" fmla="*/ 1 w 214"/>
                      <a:gd name="T7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14" h="288">
                        <a:moveTo>
                          <a:pt x="214" y="0"/>
                        </a:moveTo>
                        <a:lnTo>
                          <a:pt x="59" y="109"/>
                        </a:lnTo>
                        <a:lnTo>
                          <a:pt x="0" y="288"/>
                        </a:lnTo>
                        <a:lnTo>
                          <a:pt x="1" y="288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96" name="Freeform 194"/>
                  <p:cNvSpPr>
                    <a:spLocks noChangeArrowheads="1"/>
                  </p:cNvSpPr>
                  <p:nvPr/>
                </p:nvSpPr>
                <p:spPr bwMode="auto">
                  <a:xfrm>
                    <a:off x="2924" y="2498"/>
                    <a:ext cx="194" cy="24"/>
                  </a:xfrm>
                  <a:custGeom>
                    <a:avLst/>
                    <a:gdLst>
                      <a:gd name="T0" fmla="*/ 0 w 1660"/>
                      <a:gd name="T1" fmla="*/ 0 h 203"/>
                      <a:gd name="T2" fmla="*/ 1659 w 1660"/>
                      <a:gd name="T3" fmla="*/ 203 h 203"/>
                      <a:gd name="T4" fmla="*/ 1660 w 1660"/>
                      <a:gd name="T5" fmla="*/ 203 h 2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60" h="203">
                        <a:moveTo>
                          <a:pt x="0" y="0"/>
                        </a:moveTo>
                        <a:lnTo>
                          <a:pt x="1659" y="203"/>
                        </a:lnTo>
                        <a:lnTo>
                          <a:pt x="1660" y="203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97" name="Freeform 195"/>
                  <p:cNvSpPr>
                    <a:spLocks noChangeArrowheads="1"/>
                  </p:cNvSpPr>
                  <p:nvPr/>
                </p:nvSpPr>
                <p:spPr bwMode="auto">
                  <a:xfrm>
                    <a:off x="2999" y="2263"/>
                    <a:ext cx="144" cy="17"/>
                  </a:xfrm>
                  <a:custGeom>
                    <a:avLst/>
                    <a:gdLst>
                      <a:gd name="T0" fmla="*/ 0 w 1236"/>
                      <a:gd name="T1" fmla="*/ 0 h 151"/>
                      <a:gd name="T2" fmla="*/ 1235 w 1236"/>
                      <a:gd name="T3" fmla="*/ 151 h 151"/>
                      <a:gd name="T4" fmla="*/ 1236 w 1236"/>
                      <a:gd name="T5" fmla="*/ 151 h 1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36" h="151">
                        <a:moveTo>
                          <a:pt x="0" y="0"/>
                        </a:moveTo>
                        <a:lnTo>
                          <a:pt x="1235" y="151"/>
                        </a:lnTo>
                        <a:lnTo>
                          <a:pt x="1236" y="151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98" name="Freeform 196"/>
                  <p:cNvSpPr>
                    <a:spLocks noChangeArrowheads="1"/>
                  </p:cNvSpPr>
                  <p:nvPr/>
                </p:nvSpPr>
                <p:spPr bwMode="auto">
                  <a:xfrm>
                    <a:off x="2924" y="2358"/>
                    <a:ext cx="1" cy="147"/>
                  </a:xfrm>
                  <a:custGeom>
                    <a:avLst/>
                    <a:gdLst>
                      <a:gd name="T0" fmla="*/ 0 w 1"/>
                      <a:gd name="T1" fmla="*/ 0 h 210"/>
                      <a:gd name="T2" fmla="*/ 0 w 1"/>
                      <a:gd name="T3" fmla="*/ 210 h 210"/>
                      <a:gd name="T4" fmla="*/ 1 w 1"/>
                      <a:gd name="T5" fmla="*/ 20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10">
                        <a:moveTo>
                          <a:pt x="0" y="0"/>
                        </a:moveTo>
                        <a:lnTo>
                          <a:pt x="0" y="210"/>
                        </a:lnTo>
                        <a:lnTo>
                          <a:pt x="1" y="200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99" name="Freeform 197"/>
                  <p:cNvSpPr>
                    <a:spLocks noChangeArrowheads="1"/>
                  </p:cNvSpPr>
                  <p:nvPr/>
                </p:nvSpPr>
                <p:spPr bwMode="auto">
                  <a:xfrm>
                    <a:off x="2825" y="2346"/>
                    <a:ext cx="0" cy="140"/>
                  </a:xfrm>
                  <a:custGeom>
                    <a:avLst/>
                    <a:gdLst>
                      <a:gd name="T0" fmla="*/ 0 w 1"/>
                      <a:gd name="T1" fmla="*/ 0 h 1201"/>
                      <a:gd name="T2" fmla="*/ 0 w 1"/>
                      <a:gd name="T3" fmla="*/ 1201 h 1201"/>
                      <a:gd name="T4" fmla="*/ 1 w 1"/>
                      <a:gd name="T5" fmla="*/ 1201 h 12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201">
                        <a:moveTo>
                          <a:pt x="0" y="0"/>
                        </a:moveTo>
                        <a:lnTo>
                          <a:pt x="0" y="1201"/>
                        </a:lnTo>
                        <a:lnTo>
                          <a:pt x="1" y="1201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00" name="Freeform 198"/>
                  <p:cNvSpPr>
                    <a:spLocks noChangeArrowheads="1"/>
                  </p:cNvSpPr>
                  <p:nvPr/>
                </p:nvSpPr>
                <p:spPr bwMode="auto">
                  <a:xfrm>
                    <a:off x="2999" y="2263"/>
                    <a:ext cx="0" cy="105"/>
                  </a:xfrm>
                  <a:custGeom>
                    <a:avLst/>
                    <a:gdLst>
                      <a:gd name="T0" fmla="*/ 0 w 1"/>
                      <a:gd name="T1" fmla="*/ 0 h 901"/>
                      <a:gd name="T2" fmla="*/ 0 w 1"/>
                      <a:gd name="T3" fmla="*/ 901 h 901"/>
                      <a:gd name="T4" fmla="*/ 1 w 1"/>
                      <a:gd name="T5" fmla="*/ 901 h 9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901">
                        <a:moveTo>
                          <a:pt x="0" y="0"/>
                        </a:moveTo>
                        <a:lnTo>
                          <a:pt x="0" y="901"/>
                        </a:lnTo>
                        <a:lnTo>
                          <a:pt x="1" y="901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01" name="Freeform 199"/>
                  <p:cNvSpPr>
                    <a:spLocks noChangeArrowheads="1"/>
                  </p:cNvSpPr>
                  <p:nvPr/>
                </p:nvSpPr>
                <p:spPr bwMode="auto">
                  <a:xfrm>
                    <a:off x="2924" y="2352"/>
                    <a:ext cx="75" cy="10"/>
                  </a:xfrm>
                  <a:custGeom>
                    <a:avLst/>
                    <a:gdLst>
                      <a:gd name="T0" fmla="*/ 0 w 639"/>
                      <a:gd name="T1" fmla="*/ 0 h 78"/>
                      <a:gd name="T2" fmla="*/ 638 w 639"/>
                      <a:gd name="T3" fmla="*/ 78 h 78"/>
                      <a:gd name="T4" fmla="*/ 639 w 639"/>
                      <a:gd name="T5" fmla="*/ 78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39" h="78">
                        <a:moveTo>
                          <a:pt x="0" y="0"/>
                        </a:moveTo>
                        <a:lnTo>
                          <a:pt x="638" y="78"/>
                        </a:lnTo>
                        <a:lnTo>
                          <a:pt x="639" y="78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02" name="Freeform 200"/>
                  <p:cNvSpPr>
                    <a:spLocks noChangeArrowheads="1"/>
                  </p:cNvSpPr>
                  <p:nvPr/>
                </p:nvSpPr>
                <p:spPr bwMode="auto">
                  <a:xfrm>
                    <a:off x="3118" y="2515"/>
                    <a:ext cx="0" cy="7"/>
                  </a:xfrm>
                  <a:custGeom>
                    <a:avLst/>
                    <a:gdLst>
                      <a:gd name="T0" fmla="*/ 0 w 1"/>
                      <a:gd name="T1" fmla="*/ 0 h 57"/>
                      <a:gd name="T2" fmla="*/ 0 w 1"/>
                      <a:gd name="T3" fmla="*/ 57 h 57"/>
                      <a:gd name="T4" fmla="*/ 1 w 1"/>
                      <a:gd name="T5" fmla="*/ 57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7">
                        <a:moveTo>
                          <a:pt x="0" y="0"/>
                        </a:moveTo>
                        <a:lnTo>
                          <a:pt x="0" y="57"/>
                        </a:lnTo>
                        <a:lnTo>
                          <a:pt x="1" y="57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grpSp>
                <p:nvGrpSpPr>
                  <p:cNvPr id="203" name="Group 201"/>
                  <p:cNvGrpSpPr>
                    <a:grpSpLocks/>
                  </p:cNvGrpSpPr>
                  <p:nvPr/>
                </p:nvGrpSpPr>
                <p:grpSpPr bwMode="auto">
                  <a:xfrm>
                    <a:off x="2666" y="2223"/>
                    <a:ext cx="476" cy="288"/>
                    <a:chOff x="2561" y="2307"/>
                    <a:chExt cx="476" cy="288"/>
                  </a:xfrm>
                </p:grpSpPr>
                <p:sp>
                  <p:nvSpPr>
                    <p:cNvPr id="211" name="Freeform 20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94" y="2429"/>
                      <a:ext cx="143" cy="94"/>
                    </a:xfrm>
                    <a:custGeom>
                      <a:avLst/>
                      <a:gdLst>
                        <a:gd name="T0" fmla="*/ 1235 w 1235"/>
                        <a:gd name="T1" fmla="*/ 803 h 803"/>
                        <a:gd name="T2" fmla="*/ 0 w 1235"/>
                        <a:gd name="T3" fmla="*/ 0 h 803"/>
                        <a:gd name="T4" fmla="*/ 1 w 1235"/>
                        <a:gd name="T5" fmla="*/ 0 h 80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235" h="803">
                          <a:moveTo>
                            <a:pt x="1235" y="803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12" name="Freeform 20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21" y="2349"/>
                      <a:ext cx="116" cy="77"/>
                    </a:xfrm>
                    <a:custGeom>
                      <a:avLst/>
                      <a:gdLst>
                        <a:gd name="T0" fmla="*/ 1003 w 1003"/>
                        <a:gd name="T1" fmla="*/ 653 h 653"/>
                        <a:gd name="T2" fmla="*/ 0 w 1003"/>
                        <a:gd name="T3" fmla="*/ 0 h 653"/>
                        <a:gd name="T4" fmla="*/ 1 w 1003"/>
                        <a:gd name="T5" fmla="*/ 0 h 65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003" h="653">
                          <a:moveTo>
                            <a:pt x="1003" y="653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13" name="Freeform 20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19" y="2470"/>
                      <a:ext cx="194" cy="125"/>
                    </a:xfrm>
                    <a:custGeom>
                      <a:avLst/>
                      <a:gdLst>
                        <a:gd name="T0" fmla="*/ 1660 w 1660"/>
                        <a:gd name="T1" fmla="*/ 1079 h 1079"/>
                        <a:gd name="T2" fmla="*/ 0 w 1660"/>
                        <a:gd name="T3" fmla="*/ 0 h 1079"/>
                        <a:gd name="T4" fmla="*/ 1 w 1660"/>
                        <a:gd name="T5" fmla="*/ 0 h 10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660" h="1079">
                          <a:moveTo>
                            <a:pt x="1660" y="1079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14" name="Freeform 20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19" y="2562"/>
                      <a:ext cx="39" cy="25"/>
                    </a:xfrm>
                    <a:custGeom>
                      <a:avLst/>
                      <a:gdLst>
                        <a:gd name="T0" fmla="*/ 328 w 328"/>
                        <a:gd name="T1" fmla="*/ 214 h 214"/>
                        <a:gd name="T2" fmla="*/ 0 w 328"/>
                        <a:gd name="T3" fmla="*/ 0 h 214"/>
                        <a:gd name="T4" fmla="*/ 1 w 328"/>
                        <a:gd name="T5" fmla="*/ 0 h 21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328" h="214">
                          <a:moveTo>
                            <a:pt x="328" y="214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15" name="Freeform 20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61" y="2394"/>
                      <a:ext cx="159" cy="104"/>
                    </a:xfrm>
                    <a:custGeom>
                      <a:avLst/>
                      <a:gdLst>
                        <a:gd name="T0" fmla="*/ 1363 w 1363"/>
                        <a:gd name="T1" fmla="*/ 886 h 886"/>
                        <a:gd name="T2" fmla="*/ 0 w 1363"/>
                        <a:gd name="T3" fmla="*/ 0 h 886"/>
                        <a:gd name="T4" fmla="*/ 1 w 1363"/>
                        <a:gd name="T5" fmla="*/ 0 h 88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363" h="886">
                          <a:moveTo>
                            <a:pt x="1363" y="886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16" name="Freeform 2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61" y="2487"/>
                      <a:ext cx="120" cy="79"/>
                    </a:xfrm>
                    <a:custGeom>
                      <a:avLst/>
                      <a:gdLst>
                        <a:gd name="T0" fmla="*/ 1033 w 1033"/>
                        <a:gd name="T1" fmla="*/ 671 h 671"/>
                        <a:gd name="T2" fmla="*/ 0 w 1033"/>
                        <a:gd name="T3" fmla="*/ 0 h 671"/>
                        <a:gd name="T4" fmla="*/ 1 w 1033"/>
                        <a:gd name="T5" fmla="*/ 0 h 67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033" h="671">
                          <a:moveTo>
                            <a:pt x="1033" y="671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17" name="Freeform 20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69" y="2307"/>
                      <a:ext cx="77" cy="49"/>
                    </a:xfrm>
                    <a:custGeom>
                      <a:avLst/>
                      <a:gdLst>
                        <a:gd name="T0" fmla="*/ 659 w 659"/>
                        <a:gd name="T1" fmla="*/ 427 h 427"/>
                        <a:gd name="T2" fmla="*/ 0 w 659"/>
                        <a:gd name="T3" fmla="*/ 0 h 427"/>
                        <a:gd name="T4" fmla="*/ 1 w 659"/>
                        <a:gd name="T5" fmla="*/ 0 h 42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659" h="427">
                          <a:moveTo>
                            <a:pt x="659" y="427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204" name="Group 209"/>
                  <p:cNvGrpSpPr>
                    <a:grpSpLocks/>
                  </p:cNvGrpSpPr>
                  <p:nvPr/>
                </p:nvGrpSpPr>
                <p:grpSpPr bwMode="auto">
                  <a:xfrm>
                    <a:off x="2660" y="2224"/>
                    <a:ext cx="160" cy="254"/>
                    <a:chOff x="2560" y="2302"/>
                    <a:chExt cx="160" cy="254"/>
                  </a:xfrm>
                </p:grpSpPr>
                <p:sp>
                  <p:nvSpPr>
                    <p:cNvPr id="207" name="Freeform 2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60" y="2302"/>
                      <a:ext cx="1" cy="254"/>
                    </a:xfrm>
                    <a:custGeom>
                      <a:avLst/>
                      <a:gdLst>
                        <a:gd name="T0" fmla="*/ 1 w 2"/>
                        <a:gd name="T1" fmla="*/ 0 h 363"/>
                        <a:gd name="T2" fmla="*/ 0 w 2"/>
                        <a:gd name="T3" fmla="*/ 363 h 363"/>
                        <a:gd name="T4" fmla="*/ 2 w 2"/>
                        <a:gd name="T5" fmla="*/ 351 h 3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" h="363">
                          <a:moveTo>
                            <a:pt x="1" y="0"/>
                          </a:moveTo>
                          <a:lnTo>
                            <a:pt x="0" y="363"/>
                          </a:lnTo>
                          <a:lnTo>
                            <a:pt x="2" y="351"/>
                          </a:lnTo>
                        </a:path>
                      </a:pathLst>
                    </a:custGeom>
                    <a:solidFill>
                      <a:schemeClr val="accent1"/>
                    </a:solidFill>
                    <a:ln w="2857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08" name="Freeform 2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61" y="2305"/>
                      <a:ext cx="84" cy="11"/>
                    </a:xfrm>
                    <a:custGeom>
                      <a:avLst/>
                      <a:gdLst>
                        <a:gd name="T0" fmla="*/ 0 w 724"/>
                        <a:gd name="T1" fmla="*/ 0 h 89"/>
                        <a:gd name="T2" fmla="*/ 723 w 724"/>
                        <a:gd name="T3" fmla="*/ 89 h 89"/>
                        <a:gd name="T4" fmla="*/ 724 w 724"/>
                        <a:gd name="T5" fmla="*/ 89 h 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724" h="89">
                          <a:moveTo>
                            <a:pt x="0" y="0"/>
                          </a:moveTo>
                          <a:lnTo>
                            <a:pt x="723" y="89"/>
                          </a:lnTo>
                          <a:lnTo>
                            <a:pt x="724" y="89"/>
                          </a:lnTo>
                        </a:path>
                      </a:pathLst>
                    </a:custGeom>
                    <a:solidFill>
                      <a:schemeClr val="accent1"/>
                    </a:solidFill>
                    <a:ln w="2857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09" name="Freeform 21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45" y="2316"/>
                      <a:ext cx="1" cy="105"/>
                    </a:xfrm>
                    <a:custGeom>
                      <a:avLst/>
                      <a:gdLst>
                        <a:gd name="T0" fmla="*/ 0 w 1"/>
                        <a:gd name="T1" fmla="*/ 0 h 900"/>
                        <a:gd name="T2" fmla="*/ 0 w 1"/>
                        <a:gd name="T3" fmla="*/ 900 h 900"/>
                        <a:gd name="T4" fmla="*/ 1 w 1"/>
                        <a:gd name="T5" fmla="*/ 900 h 9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" h="900">
                          <a:moveTo>
                            <a:pt x="0" y="0"/>
                          </a:moveTo>
                          <a:lnTo>
                            <a:pt x="0" y="900"/>
                          </a:lnTo>
                          <a:lnTo>
                            <a:pt x="1" y="900"/>
                          </a:lnTo>
                        </a:path>
                      </a:pathLst>
                    </a:custGeom>
                    <a:solidFill>
                      <a:schemeClr val="accent1"/>
                    </a:solidFill>
                    <a:ln w="2857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10" name="Freeform 21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45" y="2421"/>
                      <a:ext cx="75" cy="9"/>
                    </a:xfrm>
                    <a:custGeom>
                      <a:avLst/>
                      <a:gdLst>
                        <a:gd name="T0" fmla="*/ 0 w 641"/>
                        <a:gd name="T1" fmla="*/ 0 h 79"/>
                        <a:gd name="T2" fmla="*/ 640 w 641"/>
                        <a:gd name="T3" fmla="*/ 79 h 79"/>
                        <a:gd name="T4" fmla="*/ 641 w 641"/>
                        <a:gd name="T5" fmla="*/ 79 h 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641" h="79">
                          <a:moveTo>
                            <a:pt x="0" y="0"/>
                          </a:moveTo>
                          <a:lnTo>
                            <a:pt x="640" y="79"/>
                          </a:lnTo>
                          <a:lnTo>
                            <a:pt x="641" y="79"/>
                          </a:lnTo>
                        </a:path>
                      </a:pathLst>
                    </a:custGeom>
                    <a:solidFill>
                      <a:schemeClr val="accent1"/>
                    </a:solidFill>
                    <a:ln w="2857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05" name="Freeform 214"/>
                  <p:cNvSpPr>
                    <a:spLocks noChangeArrowheads="1"/>
                  </p:cNvSpPr>
                  <p:nvPr/>
                </p:nvSpPr>
                <p:spPr bwMode="auto">
                  <a:xfrm>
                    <a:off x="2663" y="2467"/>
                    <a:ext cx="159" cy="19"/>
                  </a:xfrm>
                  <a:custGeom>
                    <a:avLst/>
                    <a:gdLst>
                      <a:gd name="T0" fmla="*/ 0 w 1364"/>
                      <a:gd name="T1" fmla="*/ 0 h 167"/>
                      <a:gd name="T2" fmla="*/ 1363 w 1364"/>
                      <a:gd name="T3" fmla="*/ 167 h 167"/>
                      <a:gd name="T4" fmla="*/ 1364 w 1364"/>
                      <a:gd name="T5" fmla="*/ 167 h 1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364" h="167">
                        <a:moveTo>
                          <a:pt x="0" y="0"/>
                        </a:moveTo>
                        <a:lnTo>
                          <a:pt x="1363" y="167"/>
                        </a:lnTo>
                        <a:lnTo>
                          <a:pt x="1364" y="167"/>
                        </a:lnTo>
                      </a:path>
                    </a:pathLst>
                  </a:custGeom>
                  <a:solidFill>
                    <a:schemeClr val="accent1"/>
                  </a:solidFill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06" name="Freeform 215"/>
                  <p:cNvSpPr>
                    <a:spLocks noChangeArrowheads="1"/>
                  </p:cNvSpPr>
                  <p:nvPr/>
                </p:nvSpPr>
                <p:spPr bwMode="auto">
                  <a:xfrm>
                    <a:off x="4039" y="2007"/>
                    <a:ext cx="120" cy="14"/>
                  </a:xfrm>
                  <a:custGeom>
                    <a:avLst/>
                    <a:gdLst>
                      <a:gd name="T0" fmla="*/ 0 w 1032"/>
                      <a:gd name="T1" fmla="*/ 0 h 122"/>
                      <a:gd name="T2" fmla="*/ 1031 w 1032"/>
                      <a:gd name="T3" fmla="*/ 122 h 122"/>
                      <a:gd name="T4" fmla="*/ 1032 w 1032"/>
                      <a:gd name="T5" fmla="*/ 122 h 1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32" h="122">
                        <a:moveTo>
                          <a:pt x="0" y="0"/>
                        </a:moveTo>
                        <a:lnTo>
                          <a:pt x="1031" y="122"/>
                        </a:lnTo>
                        <a:lnTo>
                          <a:pt x="1032" y="122"/>
                        </a:lnTo>
                      </a:path>
                    </a:pathLst>
                  </a:custGeom>
                  <a:solidFill>
                    <a:schemeClr val="bg2"/>
                  </a:solidFill>
                  <a:ln w="28575">
                    <a:solidFill>
                      <a:schemeClr val="bg2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4" name="Group 216"/>
              <p:cNvGrpSpPr>
                <a:grpSpLocks/>
              </p:cNvGrpSpPr>
              <p:nvPr/>
            </p:nvGrpSpPr>
            <p:grpSpPr bwMode="auto">
              <a:xfrm>
                <a:off x="3787" y="612"/>
                <a:ext cx="1716" cy="1091"/>
                <a:chOff x="3787" y="612"/>
                <a:chExt cx="1716" cy="1091"/>
              </a:xfrm>
            </p:grpSpPr>
            <p:sp>
              <p:nvSpPr>
                <p:cNvPr id="135" name="Line 217"/>
                <p:cNvSpPr>
                  <a:spLocks noChangeShapeType="1"/>
                </p:cNvSpPr>
                <p:nvPr/>
              </p:nvSpPr>
              <p:spPr bwMode="auto">
                <a:xfrm flipH="1">
                  <a:off x="4372" y="1506"/>
                  <a:ext cx="197" cy="197"/>
                </a:xfrm>
                <a:prstGeom prst="line">
                  <a:avLst/>
                </a:pr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6" name="Line 218"/>
                <p:cNvSpPr>
                  <a:spLocks noChangeShapeType="1"/>
                </p:cNvSpPr>
                <p:nvPr/>
              </p:nvSpPr>
              <p:spPr bwMode="auto">
                <a:xfrm flipV="1">
                  <a:off x="4377" y="794"/>
                  <a:ext cx="0" cy="909"/>
                </a:xfrm>
                <a:prstGeom prst="line">
                  <a:avLst/>
                </a:pr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7" name="Line 219"/>
                <p:cNvSpPr>
                  <a:spLocks noChangeShapeType="1"/>
                </p:cNvSpPr>
                <p:nvPr/>
              </p:nvSpPr>
              <p:spPr bwMode="auto">
                <a:xfrm flipH="1">
                  <a:off x="4377" y="612"/>
                  <a:ext cx="189" cy="189"/>
                </a:xfrm>
                <a:prstGeom prst="line">
                  <a:avLst/>
                </a:pr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8" name="Line 220"/>
                <p:cNvSpPr>
                  <a:spLocks noChangeShapeType="1"/>
                </p:cNvSpPr>
                <p:nvPr/>
              </p:nvSpPr>
              <p:spPr bwMode="auto">
                <a:xfrm flipH="1" flipV="1">
                  <a:off x="3790" y="727"/>
                  <a:ext cx="582" cy="67"/>
                </a:xfrm>
                <a:prstGeom prst="line">
                  <a:avLst/>
                </a:pr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9" name="Line 221"/>
                <p:cNvSpPr>
                  <a:spLocks noChangeShapeType="1"/>
                </p:cNvSpPr>
                <p:nvPr/>
              </p:nvSpPr>
              <p:spPr bwMode="auto">
                <a:xfrm>
                  <a:off x="3787" y="723"/>
                  <a:ext cx="0" cy="927"/>
                </a:xfrm>
                <a:prstGeom prst="line">
                  <a:avLst/>
                </a:pr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0" name="Line 222"/>
                <p:cNvSpPr>
                  <a:spLocks noChangeShapeType="1"/>
                </p:cNvSpPr>
                <p:nvPr/>
              </p:nvSpPr>
              <p:spPr bwMode="auto">
                <a:xfrm>
                  <a:off x="3791" y="1646"/>
                  <a:ext cx="586" cy="57"/>
                </a:xfrm>
                <a:prstGeom prst="line">
                  <a:avLst/>
                </a:pr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1" name="Freeform 223"/>
                <p:cNvSpPr>
                  <a:spLocks noChangeArrowheads="1"/>
                </p:cNvSpPr>
                <p:nvPr/>
              </p:nvSpPr>
              <p:spPr bwMode="auto">
                <a:xfrm>
                  <a:off x="4567" y="612"/>
                  <a:ext cx="936" cy="1011"/>
                </a:xfrm>
                <a:custGeom>
                  <a:avLst/>
                  <a:gdLst>
                    <a:gd name="T0" fmla="*/ 0 w 936"/>
                    <a:gd name="T1" fmla="*/ 901 h 1011"/>
                    <a:gd name="T2" fmla="*/ 0 w 936"/>
                    <a:gd name="T3" fmla="*/ 0 h 1011"/>
                    <a:gd name="T4" fmla="*/ 936 w 936"/>
                    <a:gd name="T5" fmla="*/ 127 h 1011"/>
                    <a:gd name="T6" fmla="*/ 936 w 936"/>
                    <a:gd name="T7" fmla="*/ 1011 h 1011"/>
                    <a:gd name="T8" fmla="*/ 0 w 936"/>
                    <a:gd name="T9" fmla="*/ 901 h 10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6" h="1011">
                      <a:moveTo>
                        <a:pt x="0" y="901"/>
                      </a:moveTo>
                      <a:lnTo>
                        <a:pt x="0" y="0"/>
                      </a:lnTo>
                      <a:lnTo>
                        <a:pt x="936" y="127"/>
                      </a:lnTo>
                      <a:lnTo>
                        <a:pt x="936" y="1011"/>
                      </a:lnTo>
                      <a:lnTo>
                        <a:pt x="0" y="901"/>
                      </a:lnTo>
                      <a:close/>
                    </a:path>
                  </a:pathLst>
                </a:custGeom>
                <a:solidFill>
                  <a:srgbClr val="66FFFF">
                    <a:alpha val="50195"/>
                  </a:srgbClr>
                </a:solidFill>
                <a:ln w="9525">
                  <a:solidFill>
                    <a:schemeClr val="accent2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2" name="Rectangle 224"/>
                <p:cNvSpPr>
                  <a:spLocks noChangeArrowheads="1"/>
                </p:cNvSpPr>
                <p:nvPr/>
              </p:nvSpPr>
              <p:spPr bwMode="auto">
                <a:xfrm>
                  <a:off x="5354" y="702"/>
                  <a:ext cx="129" cy="23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0" hangingPunct="0"/>
                  <a:r>
                    <a:rPr lang="en-US" altLang="zh-CN" i="1">
                      <a:solidFill>
                        <a:schemeClr val="tx2"/>
                      </a:solidFill>
                      <a:latin typeface="Times New Roman" panose="02020603050405020304" pitchFamily="18" charset="0"/>
                    </a:rPr>
                    <a:t>A</a:t>
                  </a:r>
                  <a:endParaRPr lang="en-US" altLang="zh-CN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3" name="Rectangle 225"/>
                <p:cNvSpPr>
                  <a:spLocks noChangeArrowheads="1"/>
                </p:cNvSpPr>
                <p:nvPr/>
              </p:nvSpPr>
              <p:spPr bwMode="auto">
                <a:xfrm>
                  <a:off x="3791" y="723"/>
                  <a:ext cx="129" cy="23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0" hangingPunct="0"/>
                  <a:r>
                    <a:rPr lang="en-US" altLang="zh-CN" i="1">
                      <a:solidFill>
                        <a:schemeClr val="tx2"/>
                      </a:solidFill>
                      <a:latin typeface="Times New Roman" panose="02020603050405020304" pitchFamily="18" charset="0"/>
                    </a:rPr>
                    <a:t>A</a:t>
                  </a:r>
                  <a:endParaRPr lang="en-US" altLang="zh-CN" b="0">
                    <a:latin typeface="Times New Roman" panose="02020603050405020304" pitchFamily="18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2176324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75"/>
                                        <p:tgtEl>
                                          <p:spTgt spid="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9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" grpId="0" build="p"/>
      <p:bldP spid="127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>
          <a:xfrm>
            <a:off x="462757" y="345883"/>
            <a:ext cx="4275137" cy="528637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FontTx/>
              <a:buNone/>
              <a:defRPr sz="2800" b="1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defRPr>
            </a:lvl1pPr>
          </a:lstStyle>
          <a:p>
            <a:r>
              <a:rPr lang="en-US" altLang="zh-CN" dirty="0"/>
              <a:t>3.</a:t>
            </a:r>
            <a:r>
              <a:rPr lang="zh-CN" altLang="en-US" dirty="0"/>
              <a:t>几个相交的剖切面</a:t>
            </a:r>
          </a:p>
        </p:txBody>
      </p:sp>
      <p:pic>
        <p:nvPicPr>
          <p:cNvPr id="3" name="Picture 3">
            <a:hlinkClick r:id="" action="ppaction://noaction"/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0638" y="998538"/>
            <a:ext cx="4030662" cy="2957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Group 4"/>
          <p:cNvGrpSpPr>
            <a:grpSpLocks/>
          </p:cNvGrpSpPr>
          <p:nvPr/>
        </p:nvGrpSpPr>
        <p:grpSpPr bwMode="auto">
          <a:xfrm>
            <a:off x="6729413" y="1722439"/>
            <a:ext cx="3562350" cy="2028825"/>
            <a:chOff x="856" y="1248"/>
            <a:chExt cx="3860" cy="2200"/>
          </a:xfrm>
        </p:grpSpPr>
        <p:sp>
          <p:nvSpPr>
            <p:cNvPr id="5" name="Freeform 5" descr="浅色竖线"/>
            <p:cNvSpPr>
              <a:spLocks noChangeArrowheads="1"/>
            </p:cNvSpPr>
            <p:nvPr/>
          </p:nvSpPr>
          <p:spPr bwMode="auto">
            <a:xfrm>
              <a:off x="4444" y="1248"/>
              <a:ext cx="272" cy="380"/>
            </a:xfrm>
            <a:custGeom>
              <a:avLst/>
              <a:gdLst>
                <a:gd name="T0" fmla="*/ 116 w 272"/>
                <a:gd name="T1" fmla="*/ 0 h 380"/>
                <a:gd name="T2" fmla="*/ 0 w 272"/>
                <a:gd name="T3" fmla="*/ 100 h 380"/>
                <a:gd name="T4" fmla="*/ 156 w 272"/>
                <a:gd name="T5" fmla="*/ 380 h 380"/>
                <a:gd name="T6" fmla="*/ 272 w 272"/>
                <a:gd name="T7" fmla="*/ 280 h 380"/>
                <a:gd name="T8" fmla="*/ 116 w 272"/>
                <a:gd name="T9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80">
                  <a:moveTo>
                    <a:pt x="116" y="0"/>
                  </a:moveTo>
                  <a:lnTo>
                    <a:pt x="0" y="100"/>
                  </a:lnTo>
                  <a:lnTo>
                    <a:pt x="156" y="380"/>
                  </a:lnTo>
                  <a:lnTo>
                    <a:pt x="272" y="280"/>
                  </a:lnTo>
                  <a:lnTo>
                    <a:pt x="116" y="0"/>
                  </a:lnTo>
                  <a:close/>
                </a:path>
              </a:pathLst>
            </a:custGeom>
            <a:pattFill prst="ltVert">
              <a:fgClr>
                <a:schemeClr val="tx1"/>
              </a:fgClr>
              <a:bgClr>
                <a:srgbClr val="EED972"/>
              </a:bgClr>
            </a:patt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" name="Freeform 6" descr="浅色竖线"/>
            <p:cNvSpPr>
              <a:spLocks noChangeArrowheads="1"/>
            </p:cNvSpPr>
            <p:nvPr/>
          </p:nvSpPr>
          <p:spPr bwMode="auto">
            <a:xfrm>
              <a:off x="3102" y="1572"/>
              <a:ext cx="1258" cy="1386"/>
            </a:xfrm>
            <a:custGeom>
              <a:avLst/>
              <a:gdLst>
                <a:gd name="T0" fmla="*/ 0 w 1258"/>
                <a:gd name="T1" fmla="*/ 894 h 1386"/>
                <a:gd name="T2" fmla="*/ 264 w 1258"/>
                <a:gd name="T3" fmla="*/ 1386 h 1386"/>
                <a:gd name="T4" fmla="*/ 420 w 1258"/>
                <a:gd name="T5" fmla="*/ 1284 h 1386"/>
                <a:gd name="T6" fmla="*/ 324 w 1258"/>
                <a:gd name="T7" fmla="*/ 1098 h 1386"/>
                <a:gd name="T8" fmla="*/ 1116 w 1258"/>
                <a:gd name="T9" fmla="*/ 294 h 1386"/>
                <a:gd name="T10" fmla="*/ 1158 w 1258"/>
                <a:gd name="T11" fmla="*/ 384 h 1386"/>
                <a:gd name="T12" fmla="*/ 1258 w 1258"/>
                <a:gd name="T13" fmla="*/ 292 h 1386"/>
                <a:gd name="T14" fmla="*/ 1098 w 1258"/>
                <a:gd name="T15" fmla="*/ 0 h 1386"/>
                <a:gd name="T16" fmla="*/ 1002 w 1258"/>
                <a:gd name="T17" fmla="*/ 90 h 1386"/>
                <a:gd name="T18" fmla="*/ 1056 w 1258"/>
                <a:gd name="T19" fmla="*/ 180 h 1386"/>
                <a:gd name="T20" fmla="*/ 240 w 1258"/>
                <a:gd name="T21" fmla="*/ 972 h 1386"/>
                <a:gd name="T22" fmla="*/ 144 w 1258"/>
                <a:gd name="T23" fmla="*/ 780 h 1386"/>
                <a:gd name="T24" fmla="*/ 0 w 1258"/>
                <a:gd name="T25" fmla="*/ 894 h 1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8" h="1386">
                  <a:moveTo>
                    <a:pt x="0" y="894"/>
                  </a:moveTo>
                  <a:lnTo>
                    <a:pt x="264" y="1386"/>
                  </a:lnTo>
                  <a:lnTo>
                    <a:pt x="420" y="1284"/>
                  </a:lnTo>
                  <a:lnTo>
                    <a:pt x="324" y="1098"/>
                  </a:lnTo>
                  <a:lnTo>
                    <a:pt x="1116" y="294"/>
                  </a:lnTo>
                  <a:lnTo>
                    <a:pt x="1158" y="384"/>
                  </a:lnTo>
                  <a:lnTo>
                    <a:pt x="1258" y="292"/>
                  </a:lnTo>
                  <a:lnTo>
                    <a:pt x="1098" y="0"/>
                  </a:lnTo>
                  <a:lnTo>
                    <a:pt x="1002" y="90"/>
                  </a:lnTo>
                  <a:lnTo>
                    <a:pt x="1056" y="180"/>
                  </a:lnTo>
                  <a:lnTo>
                    <a:pt x="240" y="972"/>
                  </a:lnTo>
                  <a:lnTo>
                    <a:pt x="144" y="780"/>
                  </a:lnTo>
                  <a:lnTo>
                    <a:pt x="0" y="894"/>
                  </a:lnTo>
                  <a:close/>
                </a:path>
              </a:pathLst>
            </a:custGeom>
            <a:pattFill prst="ltVert">
              <a:fgClr>
                <a:schemeClr val="tx1"/>
              </a:fgClr>
              <a:bgClr>
                <a:srgbClr val="EED972"/>
              </a:bgClr>
            </a:patt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" name="Freeform 7" descr="浅色竖线"/>
            <p:cNvSpPr>
              <a:spLocks noChangeArrowheads="1"/>
            </p:cNvSpPr>
            <p:nvPr/>
          </p:nvSpPr>
          <p:spPr bwMode="auto">
            <a:xfrm>
              <a:off x="856" y="3116"/>
              <a:ext cx="308" cy="332"/>
            </a:xfrm>
            <a:custGeom>
              <a:avLst/>
              <a:gdLst>
                <a:gd name="T0" fmla="*/ 0 w 308"/>
                <a:gd name="T1" fmla="*/ 28 h 332"/>
                <a:gd name="T2" fmla="*/ 168 w 308"/>
                <a:gd name="T3" fmla="*/ 332 h 332"/>
                <a:gd name="T4" fmla="*/ 308 w 308"/>
                <a:gd name="T5" fmla="*/ 300 h 332"/>
                <a:gd name="T6" fmla="*/ 148 w 308"/>
                <a:gd name="T7" fmla="*/ 0 h 332"/>
                <a:gd name="T8" fmla="*/ 0 w 308"/>
                <a:gd name="T9" fmla="*/ 28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332">
                  <a:moveTo>
                    <a:pt x="0" y="28"/>
                  </a:moveTo>
                  <a:lnTo>
                    <a:pt x="168" y="332"/>
                  </a:lnTo>
                  <a:lnTo>
                    <a:pt x="308" y="300"/>
                  </a:lnTo>
                  <a:lnTo>
                    <a:pt x="148" y="0"/>
                  </a:lnTo>
                  <a:lnTo>
                    <a:pt x="0" y="28"/>
                  </a:lnTo>
                  <a:close/>
                </a:path>
              </a:pathLst>
            </a:custGeom>
            <a:pattFill prst="ltVert">
              <a:fgClr>
                <a:schemeClr val="tx1"/>
              </a:fgClr>
              <a:bgClr>
                <a:srgbClr val="EED972"/>
              </a:bgClr>
            </a:patt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" name="Freeform 8" descr="浅色竖线"/>
            <p:cNvSpPr>
              <a:spLocks noChangeArrowheads="1"/>
            </p:cNvSpPr>
            <p:nvPr/>
          </p:nvSpPr>
          <p:spPr bwMode="auto">
            <a:xfrm>
              <a:off x="1328" y="2700"/>
              <a:ext cx="1636" cy="644"/>
            </a:xfrm>
            <a:custGeom>
              <a:avLst/>
              <a:gdLst>
                <a:gd name="T0" fmla="*/ 0 w 1636"/>
                <a:gd name="T1" fmla="*/ 348 h 644"/>
                <a:gd name="T2" fmla="*/ 160 w 1636"/>
                <a:gd name="T3" fmla="*/ 644 h 644"/>
                <a:gd name="T4" fmla="*/ 304 w 1636"/>
                <a:gd name="T5" fmla="*/ 612 h 644"/>
                <a:gd name="T6" fmla="*/ 256 w 1636"/>
                <a:gd name="T7" fmla="*/ 516 h 644"/>
                <a:gd name="T8" fmla="*/ 1348 w 1636"/>
                <a:gd name="T9" fmla="*/ 356 h 644"/>
                <a:gd name="T10" fmla="*/ 1440 w 1636"/>
                <a:gd name="T11" fmla="*/ 524 h 644"/>
                <a:gd name="T12" fmla="*/ 1636 w 1636"/>
                <a:gd name="T13" fmla="*/ 512 h 644"/>
                <a:gd name="T14" fmla="*/ 1364 w 1636"/>
                <a:gd name="T15" fmla="*/ 0 h 644"/>
                <a:gd name="T16" fmla="*/ 1188 w 1636"/>
                <a:gd name="T17" fmla="*/ 24 h 644"/>
                <a:gd name="T18" fmla="*/ 1300 w 1636"/>
                <a:gd name="T19" fmla="*/ 228 h 644"/>
                <a:gd name="T20" fmla="*/ 204 w 1636"/>
                <a:gd name="T21" fmla="*/ 396 h 644"/>
                <a:gd name="T22" fmla="*/ 160 w 1636"/>
                <a:gd name="T23" fmla="*/ 324 h 644"/>
                <a:gd name="T24" fmla="*/ 0 w 1636"/>
                <a:gd name="T25" fmla="*/ 348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36" h="644">
                  <a:moveTo>
                    <a:pt x="0" y="348"/>
                  </a:moveTo>
                  <a:lnTo>
                    <a:pt x="160" y="644"/>
                  </a:lnTo>
                  <a:lnTo>
                    <a:pt x="304" y="612"/>
                  </a:lnTo>
                  <a:lnTo>
                    <a:pt x="256" y="516"/>
                  </a:lnTo>
                  <a:lnTo>
                    <a:pt x="1348" y="356"/>
                  </a:lnTo>
                  <a:lnTo>
                    <a:pt x="1440" y="524"/>
                  </a:lnTo>
                  <a:lnTo>
                    <a:pt x="1636" y="512"/>
                  </a:lnTo>
                  <a:lnTo>
                    <a:pt x="1364" y="0"/>
                  </a:lnTo>
                  <a:lnTo>
                    <a:pt x="1188" y="24"/>
                  </a:lnTo>
                  <a:lnTo>
                    <a:pt x="1300" y="228"/>
                  </a:lnTo>
                  <a:lnTo>
                    <a:pt x="204" y="396"/>
                  </a:lnTo>
                  <a:lnTo>
                    <a:pt x="160" y="324"/>
                  </a:lnTo>
                  <a:lnTo>
                    <a:pt x="0" y="348"/>
                  </a:lnTo>
                  <a:close/>
                </a:path>
              </a:pathLst>
            </a:custGeom>
            <a:pattFill prst="ltVert">
              <a:fgClr>
                <a:schemeClr val="tx1"/>
              </a:fgClr>
              <a:bgClr>
                <a:srgbClr val="EED972"/>
              </a:bgClr>
            </a:patt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9" name="Group 9"/>
          <p:cNvGrpSpPr>
            <a:grpSpLocks/>
          </p:cNvGrpSpPr>
          <p:nvPr/>
        </p:nvGrpSpPr>
        <p:grpSpPr bwMode="auto">
          <a:xfrm>
            <a:off x="2195514" y="3973514"/>
            <a:ext cx="4410075" cy="960437"/>
            <a:chOff x="2776" y="2083"/>
            <a:chExt cx="2778" cy="605"/>
          </a:xfrm>
        </p:grpSpPr>
        <p:sp>
          <p:nvSpPr>
            <p:cNvPr id="10" name="Freeform 10"/>
            <p:cNvSpPr>
              <a:spLocks noChangeArrowheads="1"/>
            </p:cNvSpPr>
            <p:nvPr/>
          </p:nvSpPr>
          <p:spPr bwMode="auto">
            <a:xfrm>
              <a:off x="3865" y="2609"/>
              <a:ext cx="598" cy="20"/>
            </a:xfrm>
            <a:custGeom>
              <a:avLst/>
              <a:gdLst>
                <a:gd name="T0" fmla="*/ 1794 w 1794"/>
                <a:gd name="T1" fmla="*/ 2 h 61"/>
                <a:gd name="T2" fmla="*/ 0 w 1794"/>
                <a:gd name="T3" fmla="*/ 0 h 61"/>
                <a:gd name="T4" fmla="*/ 0 w 1794"/>
                <a:gd name="T5" fmla="*/ 60 h 61"/>
                <a:gd name="T6" fmla="*/ 1794 w 1794"/>
                <a:gd name="T7" fmla="*/ 61 h 61"/>
                <a:gd name="T8" fmla="*/ 1794 w 1794"/>
                <a:gd name="T9" fmla="*/ 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94" h="61">
                  <a:moveTo>
                    <a:pt x="1794" y="2"/>
                  </a:moveTo>
                  <a:lnTo>
                    <a:pt x="0" y="0"/>
                  </a:lnTo>
                  <a:lnTo>
                    <a:pt x="0" y="60"/>
                  </a:lnTo>
                  <a:lnTo>
                    <a:pt x="1794" y="61"/>
                  </a:lnTo>
                  <a:lnTo>
                    <a:pt x="1794" y="2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" name="Rectangle 11"/>
            <p:cNvSpPr>
              <a:spLocks noChangeArrowheads="1"/>
            </p:cNvSpPr>
            <p:nvPr/>
          </p:nvSpPr>
          <p:spPr bwMode="auto">
            <a:xfrm>
              <a:off x="3984" y="2161"/>
              <a:ext cx="362" cy="20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" name="Rectangle 12"/>
            <p:cNvSpPr>
              <a:spLocks noChangeArrowheads="1"/>
            </p:cNvSpPr>
            <p:nvPr/>
          </p:nvSpPr>
          <p:spPr bwMode="auto">
            <a:xfrm>
              <a:off x="3014" y="2393"/>
              <a:ext cx="7" cy="175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" name="Rectangle 13"/>
            <p:cNvSpPr>
              <a:spLocks noChangeArrowheads="1"/>
            </p:cNvSpPr>
            <p:nvPr/>
          </p:nvSpPr>
          <p:spPr bwMode="auto">
            <a:xfrm>
              <a:off x="3014" y="2350"/>
              <a:ext cx="7" cy="21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" name="Rectangle 14"/>
            <p:cNvSpPr>
              <a:spLocks noChangeArrowheads="1"/>
            </p:cNvSpPr>
            <p:nvPr/>
          </p:nvSpPr>
          <p:spPr bwMode="auto">
            <a:xfrm>
              <a:off x="3014" y="2170"/>
              <a:ext cx="7" cy="159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 flipV="1">
              <a:off x="3943" y="2578"/>
              <a:ext cx="41" cy="41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" name="Line 16"/>
            <p:cNvSpPr>
              <a:spLocks noChangeShapeType="1"/>
            </p:cNvSpPr>
            <p:nvPr/>
          </p:nvSpPr>
          <p:spPr bwMode="auto">
            <a:xfrm flipV="1">
              <a:off x="3877" y="2512"/>
              <a:ext cx="107" cy="107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" name="Line 17"/>
            <p:cNvSpPr>
              <a:spLocks noChangeShapeType="1"/>
            </p:cNvSpPr>
            <p:nvPr/>
          </p:nvSpPr>
          <p:spPr bwMode="auto">
            <a:xfrm flipV="1">
              <a:off x="3865" y="2447"/>
              <a:ext cx="119" cy="118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" name="Line 18"/>
            <p:cNvSpPr>
              <a:spLocks noChangeShapeType="1"/>
            </p:cNvSpPr>
            <p:nvPr/>
          </p:nvSpPr>
          <p:spPr bwMode="auto">
            <a:xfrm flipV="1">
              <a:off x="3866" y="2381"/>
              <a:ext cx="118" cy="118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 flipV="1">
              <a:off x="3867" y="2316"/>
              <a:ext cx="117" cy="117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" name="Line 20"/>
            <p:cNvSpPr>
              <a:spLocks noChangeShapeType="1"/>
            </p:cNvSpPr>
            <p:nvPr/>
          </p:nvSpPr>
          <p:spPr bwMode="auto">
            <a:xfrm flipV="1">
              <a:off x="3810" y="2250"/>
              <a:ext cx="174" cy="174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" name="Line 21"/>
            <p:cNvSpPr>
              <a:spLocks noChangeShapeType="1"/>
            </p:cNvSpPr>
            <p:nvPr/>
          </p:nvSpPr>
          <p:spPr bwMode="auto">
            <a:xfrm flipV="1">
              <a:off x="3865" y="2185"/>
              <a:ext cx="119" cy="118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" name="Line 22"/>
            <p:cNvSpPr>
              <a:spLocks noChangeShapeType="1"/>
            </p:cNvSpPr>
            <p:nvPr/>
          </p:nvSpPr>
          <p:spPr bwMode="auto">
            <a:xfrm flipV="1">
              <a:off x="3744" y="2364"/>
              <a:ext cx="60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" name="Line 23"/>
            <p:cNvSpPr>
              <a:spLocks noChangeShapeType="1"/>
            </p:cNvSpPr>
            <p:nvPr/>
          </p:nvSpPr>
          <p:spPr bwMode="auto">
            <a:xfrm flipV="1">
              <a:off x="3865" y="2171"/>
              <a:ext cx="67" cy="67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" name="Line 24"/>
            <p:cNvSpPr>
              <a:spLocks noChangeShapeType="1"/>
            </p:cNvSpPr>
            <p:nvPr/>
          </p:nvSpPr>
          <p:spPr bwMode="auto">
            <a:xfrm flipV="1">
              <a:off x="3678" y="2364"/>
              <a:ext cx="60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" name="Line 25"/>
            <p:cNvSpPr>
              <a:spLocks noChangeShapeType="1"/>
            </p:cNvSpPr>
            <p:nvPr/>
          </p:nvSpPr>
          <p:spPr bwMode="auto">
            <a:xfrm flipV="1">
              <a:off x="3865" y="2171"/>
              <a:ext cx="1" cy="1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" name="Line 26"/>
            <p:cNvSpPr>
              <a:spLocks noChangeShapeType="1"/>
            </p:cNvSpPr>
            <p:nvPr/>
          </p:nvSpPr>
          <p:spPr bwMode="auto">
            <a:xfrm flipV="1">
              <a:off x="3613" y="2364"/>
              <a:ext cx="59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" name="Line 27"/>
            <p:cNvSpPr>
              <a:spLocks noChangeShapeType="1"/>
            </p:cNvSpPr>
            <p:nvPr/>
          </p:nvSpPr>
          <p:spPr bwMode="auto">
            <a:xfrm flipV="1">
              <a:off x="3547" y="2364"/>
              <a:ext cx="60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" name="Line 28"/>
            <p:cNvSpPr>
              <a:spLocks noChangeShapeType="1"/>
            </p:cNvSpPr>
            <p:nvPr/>
          </p:nvSpPr>
          <p:spPr bwMode="auto">
            <a:xfrm flipV="1">
              <a:off x="3481" y="2364"/>
              <a:ext cx="60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" name="Line 29"/>
            <p:cNvSpPr>
              <a:spLocks noChangeShapeType="1"/>
            </p:cNvSpPr>
            <p:nvPr/>
          </p:nvSpPr>
          <p:spPr bwMode="auto">
            <a:xfrm flipV="1">
              <a:off x="3415" y="2364"/>
              <a:ext cx="60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" name="Line 30"/>
            <p:cNvSpPr>
              <a:spLocks noChangeShapeType="1"/>
            </p:cNvSpPr>
            <p:nvPr/>
          </p:nvSpPr>
          <p:spPr bwMode="auto">
            <a:xfrm flipV="1">
              <a:off x="3350" y="2364"/>
              <a:ext cx="60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" name="Line 31"/>
            <p:cNvSpPr>
              <a:spLocks noChangeShapeType="1"/>
            </p:cNvSpPr>
            <p:nvPr/>
          </p:nvSpPr>
          <p:spPr bwMode="auto">
            <a:xfrm flipV="1">
              <a:off x="3284" y="2364"/>
              <a:ext cx="60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" name="Line 32"/>
            <p:cNvSpPr>
              <a:spLocks noChangeShapeType="1"/>
            </p:cNvSpPr>
            <p:nvPr/>
          </p:nvSpPr>
          <p:spPr bwMode="auto">
            <a:xfrm flipV="1">
              <a:off x="3207" y="2456"/>
              <a:ext cx="45" cy="44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" name="Line 33"/>
            <p:cNvSpPr>
              <a:spLocks noChangeShapeType="1"/>
            </p:cNvSpPr>
            <p:nvPr/>
          </p:nvSpPr>
          <p:spPr bwMode="auto">
            <a:xfrm flipV="1">
              <a:off x="3161" y="2364"/>
              <a:ext cx="117" cy="117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" name="Line 34"/>
            <p:cNvSpPr>
              <a:spLocks noChangeShapeType="1"/>
            </p:cNvSpPr>
            <p:nvPr/>
          </p:nvSpPr>
          <p:spPr bwMode="auto">
            <a:xfrm flipV="1">
              <a:off x="3161" y="2324"/>
              <a:ext cx="91" cy="91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" name="Line 35"/>
            <p:cNvSpPr>
              <a:spLocks noChangeShapeType="1"/>
            </p:cNvSpPr>
            <p:nvPr/>
          </p:nvSpPr>
          <p:spPr bwMode="auto">
            <a:xfrm flipV="1">
              <a:off x="3161" y="2289"/>
              <a:ext cx="62" cy="61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" name="Line 36"/>
            <p:cNvSpPr>
              <a:spLocks noChangeShapeType="1"/>
            </p:cNvSpPr>
            <p:nvPr/>
          </p:nvSpPr>
          <p:spPr bwMode="auto">
            <a:xfrm flipV="1">
              <a:off x="2813" y="2441"/>
              <a:ext cx="60" cy="59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" name="Line 37"/>
            <p:cNvSpPr>
              <a:spLocks noChangeShapeType="1"/>
            </p:cNvSpPr>
            <p:nvPr/>
          </p:nvSpPr>
          <p:spPr bwMode="auto">
            <a:xfrm flipV="1">
              <a:off x="2786" y="2375"/>
              <a:ext cx="87" cy="87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" name="Line 38"/>
            <p:cNvSpPr>
              <a:spLocks noChangeShapeType="1"/>
            </p:cNvSpPr>
            <p:nvPr/>
          </p:nvSpPr>
          <p:spPr bwMode="auto">
            <a:xfrm flipV="1">
              <a:off x="2786" y="2309"/>
              <a:ext cx="87" cy="87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" name="Line 39"/>
            <p:cNvSpPr>
              <a:spLocks noChangeShapeType="1"/>
            </p:cNvSpPr>
            <p:nvPr/>
          </p:nvSpPr>
          <p:spPr bwMode="auto">
            <a:xfrm flipV="1">
              <a:off x="2786" y="2289"/>
              <a:ext cx="42" cy="42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" name="Rectangle 40"/>
            <p:cNvSpPr>
              <a:spLocks noChangeArrowheads="1"/>
            </p:cNvSpPr>
            <p:nvPr/>
          </p:nvSpPr>
          <p:spPr bwMode="auto">
            <a:xfrm>
              <a:off x="3242" y="2289"/>
              <a:ext cx="20" cy="75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1" name="Rectangle 41"/>
            <p:cNvSpPr>
              <a:spLocks noChangeArrowheads="1"/>
            </p:cNvSpPr>
            <p:nvPr/>
          </p:nvSpPr>
          <p:spPr bwMode="auto">
            <a:xfrm>
              <a:off x="3974" y="2171"/>
              <a:ext cx="20" cy="448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2" name="Rectangle 42"/>
            <p:cNvSpPr>
              <a:spLocks noChangeArrowheads="1"/>
            </p:cNvSpPr>
            <p:nvPr/>
          </p:nvSpPr>
          <p:spPr bwMode="auto">
            <a:xfrm>
              <a:off x="3855" y="2171"/>
              <a:ext cx="20" cy="193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3" name="Rectangle 43"/>
            <p:cNvSpPr>
              <a:spLocks noChangeArrowheads="1"/>
            </p:cNvSpPr>
            <p:nvPr/>
          </p:nvSpPr>
          <p:spPr bwMode="auto">
            <a:xfrm>
              <a:off x="3151" y="2289"/>
              <a:ext cx="20" cy="211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4" name="Rectangle 44"/>
            <p:cNvSpPr>
              <a:spLocks noChangeArrowheads="1"/>
            </p:cNvSpPr>
            <p:nvPr/>
          </p:nvSpPr>
          <p:spPr bwMode="auto">
            <a:xfrm>
              <a:off x="2863" y="2289"/>
              <a:ext cx="20" cy="211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5" name="Rectangle 45"/>
            <p:cNvSpPr>
              <a:spLocks noChangeArrowheads="1"/>
            </p:cNvSpPr>
            <p:nvPr/>
          </p:nvSpPr>
          <p:spPr bwMode="auto">
            <a:xfrm>
              <a:off x="2776" y="2289"/>
              <a:ext cx="20" cy="211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6" name="Rectangle 46"/>
            <p:cNvSpPr>
              <a:spLocks noChangeArrowheads="1"/>
            </p:cNvSpPr>
            <p:nvPr/>
          </p:nvSpPr>
          <p:spPr bwMode="auto">
            <a:xfrm>
              <a:off x="3017" y="2490"/>
              <a:ext cx="235" cy="20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7" name="Rectangle 47"/>
            <p:cNvSpPr>
              <a:spLocks noChangeArrowheads="1"/>
            </p:cNvSpPr>
            <p:nvPr/>
          </p:nvSpPr>
          <p:spPr bwMode="auto">
            <a:xfrm>
              <a:off x="2786" y="2490"/>
              <a:ext cx="231" cy="20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8" name="Freeform 48"/>
            <p:cNvSpPr>
              <a:spLocks noChangeArrowheads="1"/>
            </p:cNvSpPr>
            <p:nvPr/>
          </p:nvSpPr>
          <p:spPr bwMode="auto">
            <a:xfrm>
              <a:off x="3252" y="2491"/>
              <a:ext cx="617" cy="138"/>
            </a:xfrm>
            <a:custGeom>
              <a:avLst/>
              <a:gdLst>
                <a:gd name="T0" fmla="*/ 1850 w 1850"/>
                <a:gd name="T1" fmla="*/ 356 h 415"/>
                <a:gd name="T2" fmla="*/ 11 w 1850"/>
                <a:gd name="T3" fmla="*/ 0 h 415"/>
                <a:gd name="T4" fmla="*/ 0 w 1850"/>
                <a:gd name="T5" fmla="*/ 59 h 415"/>
                <a:gd name="T6" fmla="*/ 1839 w 1850"/>
                <a:gd name="T7" fmla="*/ 415 h 415"/>
                <a:gd name="T8" fmla="*/ 1850 w 1850"/>
                <a:gd name="T9" fmla="*/ 35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50" h="415">
                  <a:moveTo>
                    <a:pt x="1850" y="356"/>
                  </a:moveTo>
                  <a:lnTo>
                    <a:pt x="11" y="0"/>
                  </a:lnTo>
                  <a:lnTo>
                    <a:pt x="0" y="59"/>
                  </a:lnTo>
                  <a:lnTo>
                    <a:pt x="1839" y="415"/>
                  </a:lnTo>
                  <a:lnTo>
                    <a:pt x="1850" y="356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9" name="Rectangle 49"/>
            <p:cNvSpPr>
              <a:spLocks noChangeArrowheads="1"/>
            </p:cNvSpPr>
            <p:nvPr/>
          </p:nvSpPr>
          <p:spPr bwMode="auto">
            <a:xfrm>
              <a:off x="3252" y="2414"/>
              <a:ext cx="615" cy="20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0" name="Rectangle 50"/>
            <p:cNvSpPr>
              <a:spLocks noChangeArrowheads="1"/>
            </p:cNvSpPr>
            <p:nvPr/>
          </p:nvSpPr>
          <p:spPr bwMode="auto">
            <a:xfrm>
              <a:off x="3252" y="2354"/>
              <a:ext cx="613" cy="20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1" name="Rectangle 51"/>
            <p:cNvSpPr>
              <a:spLocks noChangeArrowheads="1"/>
            </p:cNvSpPr>
            <p:nvPr/>
          </p:nvSpPr>
          <p:spPr bwMode="auto">
            <a:xfrm>
              <a:off x="3242" y="2424"/>
              <a:ext cx="20" cy="76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2" name="Freeform 52"/>
            <p:cNvSpPr>
              <a:spLocks noChangeArrowheads="1"/>
            </p:cNvSpPr>
            <p:nvPr/>
          </p:nvSpPr>
          <p:spPr bwMode="auto">
            <a:xfrm>
              <a:off x="3855" y="2424"/>
              <a:ext cx="22" cy="195"/>
            </a:xfrm>
            <a:custGeom>
              <a:avLst/>
              <a:gdLst>
                <a:gd name="T0" fmla="*/ 8 w 67"/>
                <a:gd name="T1" fmla="*/ 0 h 584"/>
                <a:gd name="T2" fmla="*/ 0 w 67"/>
                <a:gd name="T3" fmla="*/ 584 h 584"/>
                <a:gd name="T4" fmla="*/ 60 w 67"/>
                <a:gd name="T5" fmla="*/ 584 h 584"/>
                <a:gd name="T6" fmla="*/ 67 w 67"/>
                <a:gd name="T7" fmla="*/ 0 h 584"/>
                <a:gd name="T8" fmla="*/ 8 w 67"/>
                <a:gd name="T9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584">
                  <a:moveTo>
                    <a:pt x="8" y="0"/>
                  </a:moveTo>
                  <a:lnTo>
                    <a:pt x="0" y="584"/>
                  </a:lnTo>
                  <a:lnTo>
                    <a:pt x="60" y="584"/>
                  </a:lnTo>
                  <a:lnTo>
                    <a:pt x="67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3" name="Rectangle 53"/>
            <p:cNvSpPr>
              <a:spLocks noChangeArrowheads="1"/>
            </p:cNvSpPr>
            <p:nvPr/>
          </p:nvSpPr>
          <p:spPr bwMode="auto">
            <a:xfrm>
              <a:off x="2786" y="2279"/>
              <a:ext cx="466" cy="19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4" name="Freeform 54"/>
            <p:cNvSpPr>
              <a:spLocks noChangeArrowheads="1"/>
            </p:cNvSpPr>
            <p:nvPr/>
          </p:nvSpPr>
          <p:spPr bwMode="auto">
            <a:xfrm>
              <a:off x="3250" y="2160"/>
              <a:ext cx="625" cy="138"/>
            </a:xfrm>
            <a:custGeom>
              <a:avLst/>
              <a:gdLst>
                <a:gd name="T0" fmla="*/ 1864 w 1875"/>
                <a:gd name="T1" fmla="*/ 0 h 414"/>
                <a:gd name="T2" fmla="*/ 0 w 1875"/>
                <a:gd name="T3" fmla="*/ 357 h 414"/>
                <a:gd name="T4" fmla="*/ 12 w 1875"/>
                <a:gd name="T5" fmla="*/ 414 h 414"/>
                <a:gd name="T6" fmla="*/ 1875 w 1875"/>
                <a:gd name="T7" fmla="*/ 58 h 414"/>
                <a:gd name="T8" fmla="*/ 1864 w 1875"/>
                <a:gd name="T9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5" h="414">
                  <a:moveTo>
                    <a:pt x="1864" y="0"/>
                  </a:moveTo>
                  <a:lnTo>
                    <a:pt x="0" y="357"/>
                  </a:lnTo>
                  <a:lnTo>
                    <a:pt x="12" y="414"/>
                  </a:lnTo>
                  <a:lnTo>
                    <a:pt x="1875" y="58"/>
                  </a:lnTo>
                  <a:lnTo>
                    <a:pt x="1864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5" name="Freeform 55"/>
            <p:cNvSpPr>
              <a:spLocks noChangeArrowheads="1"/>
            </p:cNvSpPr>
            <p:nvPr/>
          </p:nvSpPr>
          <p:spPr bwMode="auto">
            <a:xfrm>
              <a:off x="3865" y="2161"/>
              <a:ext cx="119" cy="20"/>
            </a:xfrm>
            <a:custGeom>
              <a:avLst/>
              <a:gdLst>
                <a:gd name="T0" fmla="*/ 357 w 357"/>
                <a:gd name="T1" fmla="*/ 0 h 62"/>
                <a:gd name="T2" fmla="*/ 0 w 357"/>
                <a:gd name="T3" fmla="*/ 2 h 62"/>
                <a:gd name="T4" fmla="*/ 0 w 357"/>
                <a:gd name="T5" fmla="*/ 62 h 62"/>
                <a:gd name="T6" fmla="*/ 357 w 357"/>
                <a:gd name="T7" fmla="*/ 60 h 62"/>
                <a:gd name="T8" fmla="*/ 357 w 357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7" h="62">
                  <a:moveTo>
                    <a:pt x="357" y="0"/>
                  </a:moveTo>
                  <a:lnTo>
                    <a:pt x="0" y="2"/>
                  </a:lnTo>
                  <a:lnTo>
                    <a:pt x="0" y="62"/>
                  </a:lnTo>
                  <a:lnTo>
                    <a:pt x="357" y="60"/>
                  </a:lnTo>
                  <a:lnTo>
                    <a:pt x="357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6" name="Freeform 56"/>
            <p:cNvSpPr>
              <a:spLocks noChangeArrowheads="1"/>
            </p:cNvSpPr>
            <p:nvPr/>
          </p:nvSpPr>
          <p:spPr bwMode="auto">
            <a:xfrm>
              <a:off x="4313" y="2436"/>
              <a:ext cx="3" cy="16"/>
            </a:xfrm>
            <a:custGeom>
              <a:avLst/>
              <a:gdLst>
                <a:gd name="T0" fmla="*/ 8 w 8"/>
                <a:gd name="T1" fmla="*/ 47 h 48"/>
                <a:gd name="T2" fmla="*/ 4 w 8"/>
                <a:gd name="T3" fmla="*/ 0 h 48"/>
                <a:gd name="T4" fmla="*/ 0 w 8"/>
                <a:gd name="T5" fmla="*/ 0 h 48"/>
                <a:gd name="T6" fmla="*/ 3 w 8"/>
                <a:gd name="T7" fmla="*/ 48 h 48"/>
                <a:gd name="T8" fmla="*/ 6 w 8"/>
                <a:gd name="T9" fmla="*/ 48 h 48"/>
                <a:gd name="T10" fmla="*/ 8 w 8"/>
                <a:gd name="T11" fmla="*/ 47 h 48"/>
                <a:gd name="T12" fmla="*/ 6 w 8"/>
                <a:gd name="T13" fmla="*/ 48 h 48"/>
                <a:gd name="T14" fmla="*/ 7 w 8"/>
                <a:gd name="T15" fmla="*/ 48 h 48"/>
                <a:gd name="T16" fmla="*/ 8 w 8"/>
                <a:gd name="T17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8">
                  <a:moveTo>
                    <a:pt x="8" y="47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3" y="48"/>
                  </a:lnTo>
                  <a:lnTo>
                    <a:pt x="6" y="48"/>
                  </a:lnTo>
                  <a:lnTo>
                    <a:pt x="8" y="47"/>
                  </a:lnTo>
                  <a:lnTo>
                    <a:pt x="6" y="48"/>
                  </a:lnTo>
                  <a:lnTo>
                    <a:pt x="7" y="48"/>
                  </a:lnTo>
                  <a:lnTo>
                    <a:pt x="8" y="4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7" name="Freeform 57"/>
            <p:cNvSpPr>
              <a:spLocks noChangeArrowheads="1"/>
            </p:cNvSpPr>
            <p:nvPr/>
          </p:nvSpPr>
          <p:spPr bwMode="auto">
            <a:xfrm>
              <a:off x="4314" y="2436"/>
              <a:ext cx="4" cy="16"/>
            </a:xfrm>
            <a:custGeom>
              <a:avLst/>
              <a:gdLst>
                <a:gd name="T0" fmla="*/ 12 w 12"/>
                <a:gd name="T1" fmla="*/ 47 h 47"/>
                <a:gd name="T2" fmla="*/ 3 w 12"/>
                <a:gd name="T3" fmla="*/ 0 h 47"/>
                <a:gd name="T4" fmla="*/ 0 w 12"/>
                <a:gd name="T5" fmla="*/ 0 h 47"/>
                <a:gd name="T6" fmla="*/ 6 w 12"/>
                <a:gd name="T7" fmla="*/ 47 h 47"/>
                <a:gd name="T8" fmla="*/ 10 w 12"/>
                <a:gd name="T9" fmla="*/ 47 h 47"/>
                <a:gd name="T10" fmla="*/ 12 w 12"/>
                <a:gd name="T11" fmla="*/ 47 h 47"/>
                <a:gd name="T12" fmla="*/ 10 w 12"/>
                <a:gd name="T13" fmla="*/ 47 h 47"/>
                <a:gd name="T14" fmla="*/ 10 w 12"/>
                <a:gd name="T15" fmla="*/ 47 h 47"/>
                <a:gd name="T16" fmla="*/ 12 w 12"/>
                <a:gd name="T1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47">
                  <a:moveTo>
                    <a:pt x="12" y="47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6" y="47"/>
                  </a:lnTo>
                  <a:lnTo>
                    <a:pt x="10" y="47"/>
                  </a:lnTo>
                  <a:lnTo>
                    <a:pt x="12" y="47"/>
                  </a:lnTo>
                  <a:lnTo>
                    <a:pt x="10" y="47"/>
                  </a:lnTo>
                  <a:lnTo>
                    <a:pt x="12" y="4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8" name="Freeform 58"/>
            <p:cNvSpPr>
              <a:spLocks noChangeArrowheads="1"/>
            </p:cNvSpPr>
            <p:nvPr/>
          </p:nvSpPr>
          <p:spPr bwMode="auto">
            <a:xfrm>
              <a:off x="4314" y="2436"/>
              <a:ext cx="6" cy="16"/>
            </a:xfrm>
            <a:custGeom>
              <a:avLst/>
              <a:gdLst>
                <a:gd name="T0" fmla="*/ 18 w 18"/>
                <a:gd name="T1" fmla="*/ 46 h 48"/>
                <a:gd name="T2" fmla="*/ 4 w 18"/>
                <a:gd name="T3" fmla="*/ 0 h 48"/>
                <a:gd name="T4" fmla="*/ 0 w 18"/>
                <a:gd name="T5" fmla="*/ 1 h 48"/>
                <a:gd name="T6" fmla="*/ 11 w 18"/>
                <a:gd name="T7" fmla="*/ 48 h 48"/>
                <a:gd name="T8" fmla="*/ 14 w 18"/>
                <a:gd name="T9" fmla="*/ 47 h 48"/>
                <a:gd name="T10" fmla="*/ 18 w 18"/>
                <a:gd name="T11" fmla="*/ 46 h 48"/>
                <a:gd name="T12" fmla="*/ 14 w 18"/>
                <a:gd name="T13" fmla="*/ 47 h 48"/>
                <a:gd name="T14" fmla="*/ 16 w 18"/>
                <a:gd name="T15" fmla="*/ 47 h 48"/>
                <a:gd name="T16" fmla="*/ 18 w 18"/>
                <a:gd name="T17" fmla="*/ 4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8">
                  <a:moveTo>
                    <a:pt x="18" y="46"/>
                  </a:moveTo>
                  <a:lnTo>
                    <a:pt x="4" y="0"/>
                  </a:lnTo>
                  <a:lnTo>
                    <a:pt x="0" y="1"/>
                  </a:lnTo>
                  <a:lnTo>
                    <a:pt x="11" y="48"/>
                  </a:lnTo>
                  <a:lnTo>
                    <a:pt x="14" y="47"/>
                  </a:lnTo>
                  <a:lnTo>
                    <a:pt x="18" y="46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8" y="46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9" name="Freeform 59"/>
            <p:cNvSpPr>
              <a:spLocks noChangeArrowheads="1"/>
            </p:cNvSpPr>
            <p:nvPr/>
          </p:nvSpPr>
          <p:spPr bwMode="auto">
            <a:xfrm>
              <a:off x="4314" y="2436"/>
              <a:ext cx="8" cy="15"/>
            </a:xfrm>
            <a:custGeom>
              <a:avLst/>
              <a:gdLst>
                <a:gd name="T0" fmla="*/ 22 w 22"/>
                <a:gd name="T1" fmla="*/ 44 h 46"/>
                <a:gd name="T2" fmla="*/ 4 w 22"/>
                <a:gd name="T3" fmla="*/ 0 h 46"/>
                <a:gd name="T4" fmla="*/ 0 w 22"/>
                <a:gd name="T5" fmla="*/ 1 h 46"/>
                <a:gd name="T6" fmla="*/ 17 w 22"/>
                <a:gd name="T7" fmla="*/ 46 h 46"/>
                <a:gd name="T8" fmla="*/ 20 w 22"/>
                <a:gd name="T9" fmla="*/ 45 h 46"/>
                <a:gd name="T10" fmla="*/ 22 w 22"/>
                <a:gd name="T11" fmla="*/ 44 h 46"/>
                <a:gd name="T12" fmla="*/ 20 w 22"/>
                <a:gd name="T13" fmla="*/ 45 h 46"/>
                <a:gd name="T14" fmla="*/ 21 w 22"/>
                <a:gd name="T15" fmla="*/ 44 h 46"/>
                <a:gd name="T16" fmla="*/ 22 w 22"/>
                <a:gd name="T17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46">
                  <a:moveTo>
                    <a:pt x="22" y="44"/>
                  </a:moveTo>
                  <a:lnTo>
                    <a:pt x="4" y="0"/>
                  </a:lnTo>
                  <a:lnTo>
                    <a:pt x="0" y="1"/>
                  </a:lnTo>
                  <a:lnTo>
                    <a:pt x="17" y="46"/>
                  </a:lnTo>
                  <a:lnTo>
                    <a:pt x="20" y="45"/>
                  </a:lnTo>
                  <a:lnTo>
                    <a:pt x="22" y="44"/>
                  </a:lnTo>
                  <a:lnTo>
                    <a:pt x="20" y="45"/>
                  </a:lnTo>
                  <a:lnTo>
                    <a:pt x="21" y="44"/>
                  </a:lnTo>
                  <a:lnTo>
                    <a:pt x="22" y="44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0" name="Freeform 60"/>
            <p:cNvSpPr>
              <a:spLocks noChangeArrowheads="1"/>
            </p:cNvSpPr>
            <p:nvPr/>
          </p:nvSpPr>
          <p:spPr bwMode="auto">
            <a:xfrm>
              <a:off x="4315" y="2435"/>
              <a:ext cx="8" cy="15"/>
            </a:xfrm>
            <a:custGeom>
              <a:avLst/>
              <a:gdLst>
                <a:gd name="T0" fmla="*/ 25 w 25"/>
                <a:gd name="T1" fmla="*/ 43 h 45"/>
                <a:gd name="T2" fmla="*/ 3 w 25"/>
                <a:gd name="T3" fmla="*/ 0 h 45"/>
                <a:gd name="T4" fmla="*/ 0 w 25"/>
                <a:gd name="T5" fmla="*/ 2 h 45"/>
                <a:gd name="T6" fmla="*/ 20 w 25"/>
                <a:gd name="T7" fmla="*/ 45 h 45"/>
                <a:gd name="T8" fmla="*/ 23 w 25"/>
                <a:gd name="T9" fmla="*/ 44 h 45"/>
                <a:gd name="T10" fmla="*/ 25 w 25"/>
                <a:gd name="T11" fmla="*/ 43 h 45"/>
                <a:gd name="T12" fmla="*/ 23 w 25"/>
                <a:gd name="T13" fmla="*/ 44 h 45"/>
                <a:gd name="T14" fmla="*/ 24 w 25"/>
                <a:gd name="T15" fmla="*/ 43 h 45"/>
                <a:gd name="T16" fmla="*/ 25 w 25"/>
                <a:gd name="T17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45">
                  <a:moveTo>
                    <a:pt x="25" y="43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5" y="43"/>
                  </a:lnTo>
                  <a:lnTo>
                    <a:pt x="23" y="44"/>
                  </a:lnTo>
                  <a:lnTo>
                    <a:pt x="24" y="43"/>
                  </a:lnTo>
                  <a:lnTo>
                    <a:pt x="25" y="43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1" name="Freeform 61"/>
            <p:cNvSpPr>
              <a:spLocks noChangeArrowheads="1"/>
            </p:cNvSpPr>
            <p:nvPr/>
          </p:nvSpPr>
          <p:spPr bwMode="auto">
            <a:xfrm>
              <a:off x="4316" y="2435"/>
              <a:ext cx="9" cy="15"/>
            </a:xfrm>
            <a:custGeom>
              <a:avLst/>
              <a:gdLst>
                <a:gd name="T0" fmla="*/ 28 w 28"/>
                <a:gd name="T1" fmla="*/ 41 h 44"/>
                <a:gd name="T2" fmla="*/ 3 w 28"/>
                <a:gd name="T3" fmla="*/ 0 h 44"/>
                <a:gd name="T4" fmla="*/ 0 w 28"/>
                <a:gd name="T5" fmla="*/ 2 h 44"/>
                <a:gd name="T6" fmla="*/ 23 w 28"/>
                <a:gd name="T7" fmla="*/ 44 h 44"/>
                <a:gd name="T8" fmla="*/ 26 w 28"/>
                <a:gd name="T9" fmla="*/ 42 h 44"/>
                <a:gd name="T10" fmla="*/ 28 w 28"/>
                <a:gd name="T11" fmla="*/ 41 h 44"/>
                <a:gd name="T12" fmla="*/ 26 w 28"/>
                <a:gd name="T13" fmla="*/ 42 h 44"/>
                <a:gd name="T14" fmla="*/ 27 w 28"/>
                <a:gd name="T15" fmla="*/ 41 h 44"/>
                <a:gd name="T16" fmla="*/ 28 w 28"/>
                <a:gd name="T17" fmla="*/ 4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44">
                  <a:moveTo>
                    <a:pt x="28" y="41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23" y="44"/>
                  </a:lnTo>
                  <a:lnTo>
                    <a:pt x="26" y="42"/>
                  </a:lnTo>
                  <a:lnTo>
                    <a:pt x="28" y="41"/>
                  </a:lnTo>
                  <a:lnTo>
                    <a:pt x="26" y="42"/>
                  </a:lnTo>
                  <a:lnTo>
                    <a:pt x="27" y="41"/>
                  </a:lnTo>
                  <a:lnTo>
                    <a:pt x="28" y="41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2" name="Freeform 62"/>
            <p:cNvSpPr>
              <a:spLocks noChangeArrowheads="1"/>
            </p:cNvSpPr>
            <p:nvPr/>
          </p:nvSpPr>
          <p:spPr bwMode="auto">
            <a:xfrm>
              <a:off x="4316" y="2435"/>
              <a:ext cx="11" cy="14"/>
            </a:xfrm>
            <a:custGeom>
              <a:avLst/>
              <a:gdLst>
                <a:gd name="T0" fmla="*/ 31 w 31"/>
                <a:gd name="T1" fmla="*/ 39 h 42"/>
                <a:gd name="T2" fmla="*/ 3 w 31"/>
                <a:gd name="T3" fmla="*/ 0 h 42"/>
                <a:gd name="T4" fmla="*/ 0 w 31"/>
                <a:gd name="T5" fmla="*/ 2 h 42"/>
                <a:gd name="T6" fmla="*/ 26 w 31"/>
                <a:gd name="T7" fmla="*/ 42 h 42"/>
                <a:gd name="T8" fmla="*/ 30 w 31"/>
                <a:gd name="T9" fmla="*/ 40 h 42"/>
                <a:gd name="T10" fmla="*/ 31 w 31"/>
                <a:gd name="T11" fmla="*/ 39 h 42"/>
                <a:gd name="T12" fmla="*/ 30 w 31"/>
                <a:gd name="T13" fmla="*/ 40 h 42"/>
                <a:gd name="T14" fmla="*/ 30 w 31"/>
                <a:gd name="T15" fmla="*/ 39 h 42"/>
                <a:gd name="T16" fmla="*/ 31 w 31"/>
                <a:gd name="T17" fmla="*/ 3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42">
                  <a:moveTo>
                    <a:pt x="31" y="39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26" y="42"/>
                  </a:lnTo>
                  <a:lnTo>
                    <a:pt x="30" y="40"/>
                  </a:lnTo>
                  <a:lnTo>
                    <a:pt x="31" y="39"/>
                  </a:lnTo>
                  <a:lnTo>
                    <a:pt x="30" y="40"/>
                  </a:lnTo>
                  <a:lnTo>
                    <a:pt x="30" y="39"/>
                  </a:lnTo>
                  <a:lnTo>
                    <a:pt x="31" y="39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3" name="Freeform 63"/>
            <p:cNvSpPr>
              <a:spLocks noChangeArrowheads="1"/>
            </p:cNvSpPr>
            <p:nvPr/>
          </p:nvSpPr>
          <p:spPr bwMode="auto">
            <a:xfrm>
              <a:off x="4317" y="2434"/>
              <a:ext cx="11" cy="14"/>
            </a:xfrm>
            <a:custGeom>
              <a:avLst/>
              <a:gdLst>
                <a:gd name="T0" fmla="*/ 34 w 34"/>
                <a:gd name="T1" fmla="*/ 37 h 41"/>
                <a:gd name="T2" fmla="*/ 3 w 34"/>
                <a:gd name="T3" fmla="*/ 0 h 41"/>
                <a:gd name="T4" fmla="*/ 0 w 34"/>
                <a:gd name="T5" fmla="*/ 3 h 41"/>
                <a:gd name="T6" fmla="*/ 29 w 34"/>
                <a:gd name="T7" fmla="*/ 41 h 41"/>
                <a:gd name="T8" fmla="*/ 32 w 34"/>
                <a:gd name="T9" fmla="*/ 38 h 41"/>
                <a:gd name="T10" fmla="*/ 34 w 34"/>
                <a:gd name="T11" fmla="*/ 37 h 41"/>
                <a:gd name="T12" fmla="*/ 32 w 34"/>
                <a:gd name="T13" fmla="*/ 38 h 41"/>
                <a:gd name="T14" fmla="*/ 33 w 34"/>
                <a:gd name="T15" fmla="*/ 38 h 41"/>
                <a:gd name="T16" fmla="*/ 34 w 34"/>
                <a:gd name="T17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41">
                  <a:moveTo>
                    <a:pt x="34" y="37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29" y="41"/>
                  </a:lnTo>
                  <a:lnTo>
                    <a:pt x="32" y="38"/>
                  </a:lnTo>
                  <a:lnTo>
                    <a:pt x="34" y="37"/>
                  </a:lnTo>
                  <a:lnTo>
                    <a:pt x="32" y="38"/>
                  </a:lnTo>
                  <a:lnTo>
                    <a:pt x="33" y="38"/>
                  </a:lnTo>
                  <a:lnTo>
                    <a:pt x="34" y="3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4" name="Freeform 64"/>
            <p:cNvSpPr>
              <a:spLocks noChangeArrowheads="1"/>
            </p:cNvSpPr>
            <p:nvPr/>
          </p:nvSpPr>
          <p:spPr bwMode="auto">
            <a:xfrm>
              <a:off x="4317" y="2434"/>
              <a:ext cx="13" cy="12"/>
            </a:xfrm>
            <a:custGeom>
              <a:avLst/>
              <a:gdLst>
                <a:gd name="T0" fmla="*/ 37 w 37"/>
                <a:gd name="T1" fmla="*/ 34 h 38"/>
                <a:gd name="T2" fmla="*/ 3 w 37"/>
                <a:gd name="T3" fmla="*/ 0 h 38"/>
                <a:gd name="T4" fmla="*/ 0 w 37"/>
                <a:gd name="T5" fmla="*/ 3 h 38"/>
                <a:gd name="T6" fmla="*/ 33 w 37"/>
                <a:gd name="T7" fmla="*/ 38 h 38"/>
                <a:gd name="T8" fmla="*/ 36 w 37"/>
                <a:gd name="T9" fmla="*/ 34 h 38"/>
                <a:gd name="T10" fmla="*/ 37 w 37"/>
                <a:gd name="T11" fmla="*/ 34 h 38"/>
                <a:gd name="T12" fmla="*/ 36 w 37"/>
                <a:gd name="T13" fmla="*/ 34 h 38"/>
                <a:gd name="T14" fmla="*/ 37 w 37"/>
                <a:gd name="T15" fmla="*/ 34 h 38"/>
                <a:gd name="T16" fmla="*/ 37 w 37"/>
                <a:gd name="T17" fmla="*/ 3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8">
                  <a:moveTo>
                    <a:pt x="37" y="34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33" y="38"/>
                  </a:lnTo>
                  <a:lnTo>
                    <a:pt x="36" y="34"/>
                  </a:lnTo>
                  <a:lnTo>
                    <a:pt x="37" y="34"/>
                  </a:lnTo>
                  <a:lnTo>
                    <a:pt x="36" y="34"/>
                  </a:lnTo>
                  <a:lnTo>
                    <a:pt x="37" y="34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5" name="Freeform 65"/>
            <p:cNvSpPr>
              <a:spLocks noChangeArrowheads="1"/>
            </p:cNvSpPr>
            <p:nvPr/>
          </p:nvSpPr>
          <p:spPr bwMode="auto">
            <a:xfrm>
              <a:off x="4318" y="2433"/>
              <a:ext cx="13" cy="12"/>
            </a:xfrm>
            <a:custGeom>
              <a:avLst/>
              <a:gdLst>
                <a:gd name="T0" fmla="*/ 38 w 38"/>
                <a:gd name="T1" fmla="*/ 32 h 37"/>
                <a:gd name="T2" fmla="*/ 4 w 38"/>
                <a:gd name="T3" fmla="*/ 0 h 37"/>
                <a:gd name="T4" fmla="*/ 0 w 38"/>
                <a:gd name="T5" fmla="*/ 3 h 37"/>
                <a:gd name="T6" fmla="*/ 34 w 38"/>
                <a:gd name="T7" fmla="*/ 37 h 37"/>
                <a:gd name="T8" fmla="*/ 37 w 38"/>
                <a:gd name="T9" fmla="*/ 34 h 37"/>
                <a:gd name="T10" fmla="*/ 38 w 38"/>
                <a:gd name="T11" fmla="*/ 32 h 37"/>
                <a:gd name="T12" fmla="*/ 37 w 38"/>
                <a:gd name="T13" fmla="*/ 34 h 37"/>
                <a:gd name="T14" fmla="*/ 37 w 38"/>
                <a:gd name="T15" fmla="*/ 33 h 37"/>
                <a:gd name="T16" fmla="*/ 38 w 38"/>
                <a:gd name="T1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37">
                  <a:moveTo>
                    <a:pt x="38" y="32"/>
                  </a:moveTo>
                  <a:lnTo>
                    <a:pt x="4" y="0"/>
                  </a:lnTo>
                  <a:lnTo>
                    <a:pt x="0" y="3"/>
                  </a:lnTo>
                  <a:lnTo>
                    <a:pt x="34" y="37"/>
                  </a:lnTo>
                  <a:lnTo>
                    <a:pt x="37" y="34"/>
                  </a:lnTo>
                  <a:lnTo>
                    <a:pt x="38" y="32"/>
                  </a:lnTo>
                  <a:lnTo>
                    <a:pt x="37" y="34"/>
                  </a:lnTo>
                  <a:lnTo>
                    <a:pt x="37" y="33"/>
                  </a:lnTo>
                  <a:lnTo>
                    <a:pt x="38" y="32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6" name="Freeform 66"/>
            <p:cNvSpPr>
              <a:spLocks noChangeArrowheads="1"/>
            </p:cNvSpPr>
            <p:nvPr/>
          </p:nvSpPr>
          <p:spPr bwMode="auto">
            <a:xfrm>
              <a:off x="4319" y="2432"/>
              <a:ext cx="14" cy="11"/>
            </a:xfrm>
            <a:custGeom>
              <a:avLst/>
              <a:gdLst>
                <a:gd name="T0" fmla="*/ 40 w 40"/>
                <a:gd name="T1" fmla="*/ 31 h 35"/>
                <a:gd name="T2" fmla="*/ 3 w 40"/>
                <a:gd name="T3" fmla="*/ 0 h 35"/>
                <a:gd name="T4" fmla="*/ 0 w 40"/>
                <a:gd name="T5" fmla="*/ 4 h 35"/>
                <a:gd name="T6" fmla="*/ 35 w 40"/>
                <a:gd name="T7" fmla="*/ 35 h 35"/>
                <a:gd name="T8" fmla="*/ 39 w 40"/>
                <a:gd name="T9" fmla="*/ 32 h 35"/>
                <a:gd name="T10" fmla="*/ 40 w 40"/>
                <a:gd name="T11" fmla="*/ 31 h 35"/>
                <a:gd name="T12" fmla="*/ 39 w 40"/>
                <a:gd name="T13" fmla="*/ 32 h 35"/>
                <a:gd name="T14" fmla="*/ 39 w 40"/>
                <a:gd name="T15" fmla="*/ 32 h 35"/>
                <a:gd name="T16" fmla="*/ 40 w 40"/>
                <a:gd name="T17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35">
                  <a:moveTo>
                    <a:pt x="40" y="31"/>
                  </a:moveTo>
                  <a:lnTo>
                    <a:pt x="3" y="0"/>
                  </a:lnTo>
                  <a:lnTo>
                    <a:pt x="0" y="4"/>
                  </a:lnTo>
                  <a:lnTo>
                    <a:pt x="35" y="35"/>
                  </a:lnTo>
                  <a:lnTo>
                    <a:pt x="39" y="32"/>
                  </a:lnTo>
                  <a:lnTo>
                    <a:pt x="40" y="31"/>
                  </a:lnTo>
                  <a:lnTo>
                    <a:pt x="39" y="32"/>
                  </a:lnTo>
                  <a:lnTo>
                    <a:pt x="40" y="31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7" name="Freeform 67"/>
            <p:cNvSpPr>
              <a:spLocks noChangeArrowheads="1"/>
            </p:cNvSpPr>
            <p:nvPr/>
          </p:nvSpPr>
          <p:spPr bwMode="auto">
            <a:xfrm>
              <a:off x="4320" y="2431"/>
              <a:ext cx="14" cy="11"/>
            </a:xfrm>
            <a:custGeom>
              <a:avLst/>
              <a:gdLst>
                <a:gd name="T0" fmla="*/ 42 w 42"/>
                <a:gd name="T1" fmla="*/ 29 h 34"/>
                <a:gd name="T2" fmla="*/ 3 w 42"/>
                <a:gd name="T3" fmla="*/ 0 h 34"/>
                <a:gd name="T4" fmla="*/ 0 w 42"/>
                <a:gd name="T5" fmla="*/ 5 h 34"/>
                <a:gd name="T6" fmla="*/ 38 w 42"/>
                <a:gd name="T7" fmla="*/ 34 h 34"/>
                <a:gd name="T8" fmla="*/ 41 w 42"/>
                <a:gd name="T9" fmla="*/ 30 h 34"/>
                <a:gd name="T10" fmla="*/ 42 w 42"/>
                <a:gd name="T11" fmla="*/ 29 h 34"/>
                <a:gd name="T12" fmla="*/ 41 w 42"/>
                <a:gd name="T13" fmla="*/ 30 h 34"/>
                <a:gd name="T14" fmla="*/ 41 w 42"/>
                <a:gd name="T15" fmla="*/ 30 h 34"/>
                <a:gd name="T16" fmla="*/ 42 w 42"/>
                <a:gd name="T17" fmla="*/ 2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34">
                  <a:moveTo>
                    <a:pt x="42" y="29"/>
                  </a:moveTo>
                  <a:lnTo>
                    <a:pt x="3" y="0"/>
                  </a:lnTo>
                  <a:lnTo>
                    <a:pt x="0" y="5"/>
                  </a:lnTo>
                  <a:lnTo>
                    <a:pt x="38" y="34"/>
                  </a:lnTo>
                  <a:lnTo>
                    <a:pt x="41" y="30"/>
                  </a:lnTo>
                  <a:lnTo>
                    <a:pt x="42" y="29"/>
                  </a:lnTo>
                  <a:lnTo>
                    <a:pt x="41" y="30"/>
                  </a:lnTo>
                  <a:lnTo>
                    <a:pt x="42" y="29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8" name="Freeform 68"/>
            <p:cNvSpPr>
              <a:spLocks noChangeArrowheads="1"/>
            </p:cNvSpPr>
            <p:nvPr/>
          </p:nvSpPr>
          <p:spPr bwMode="auto">
            <a:xfrm>
              <a:off x="4321" y="2430"/>
              <a:ext cx="14" cy="10"/>
            </a:xfrm>
            <a:custGeom>
              <a:avLst/>
              <a:gdLst>
                <a:gd name="T0" fmla="*/ 43 w 43"/>
                <a:gd name="T1" fmla="*/ 26 h 32"/>
                <a:gd name="T2" fmla="*/ 3 w 43"/>
                <a:gd name="T3" fmla="*/ 0 h 32"/>
                <a:gd name="T4" fmla="*/ 0 w 43"/>
                <a:gd name="T5" fmla="*/ 4 h 32"/>
                <a:gd name="T6" fmla="*/ 40 w 43"/>
                <a:gd name="T7" fmla="*/ 32 h 32"/>
                <a:gd name="T8" fmla="*/ 42 w 43"/>
                <a:gd name="T9" fmla="*/ 27 h 32"/>
                <a:gd name="T10" fmla="*/ 43 w 43"/>
                <a:gd name="T11" fmla="*/ 26 h 32"/>
                <a:gd name="T12" fmla="*/ 42 w 43"/>
                <a:gd name="T13" fmla="*/ 27 h 32"/>
                <a:gd name="T14" fmla="*/ 43 w 43"/>
                <a:gd name="T15" fmla="*/ 27 h 32"/>
                <a:gd name="T16" fmla="*/ 43 w 43"/>
                <a:gd name="T17" fmla="*/ 2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32">
                  <a:moveTo>
                    <a:pt x="43" y="26"/>
                  </a:moveTo>
                  <a:lnTo>
                    <a:pt x="3" y="0"/>
                  </a:lnTo>
                  <a:lnTo>
                    <a:pt x="0" y="4"/>
                  </a:lnTo>
                  <a:lnTo>
                    <a:pt x="40" y="32"/>
                  </a:lnTo>
                  <a:lnTo>
                    <a:pt x="42" y="27"/>
                  </a:lnTo>
                  <a:lnTo>
                    <a:pt x="43" y="26"/>
                  </a:lnTo>
                  <a:lnTo>
                    <a:pt x="42" y="27"/>
                  </a:lnTo>
                  <a:lnTo>
                    <a:pt x="43" y="27"/>
                  </a:lnTo>
                  <a:lnTo>
                    <a:pt x="43" y="26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9" name="Freeform 69"/>
            <p:cNvSpPr>
              <a:spLocks noChangeArrowheads="1"/>
            </p:cNvSpPr>
            <p:nvPr/>
          </p:nvSpPr>
          <p:spPr bwMode="auto">
            <a:xfrm>
              <a:off x="4322" y="2429"/>
              <a:ext cx="14" cy="9"/>
            </a:xfrm>
            <a:custGeom>
              <a:avLst/>
              <a:gdLst>
                <a:gd name="T0" fmla="*/ 43 w 43"/>
                <a:gd name="T1" fmla="*/ 25 h 29"/>
                <a:gd name="T2" fmla="*/ 2 w 43"/>
                <a:gd name="T3" fmla="*/ 0 h 29"/>
                <a:gd name="T4" fmla="*/ 0 w 43"/>
                <a:gd name="T5" fmla="*/ 4 h 29"/>
                <a:gd name="T6" fmla="*/ 40 w 43"/>
                <a:gd name="T7" fmla="*/ 29 h 29"/>
                <a:gd name="T8" fmla="*/ 43 w 43"/>
                <a:gd name="T9" fmla="*/ 25 h 29"/>
                <a:gd name="T10" fmla="*/ 43 w 43"/>
                <a:gd name="T11" fmla="*/ 25 h 29"/>
                <a:gd name="T12" fmla="*/ 43 w 43"/>
                <a:gd name="T13" fmla="*/ 25 h 29"/>
                <a:gd name="T14" fmla="*/ 43 w 43"/>
                <a:gd name="T15" fmla="*/ 25 h 29"/>
                <a:gd name="T16" fmla="*/ 43 w 43"/>
                <a:gd name="T17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29">
                  <a:moveTo>
                    <a:pt x="43" y="25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40" y="29"/>
                  </a:lnTo>
                  <a:lnTo>
                    <a:pt x="43" y="25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0" name="Freeform 70"/>
            <p:cNvSpPr>
              <a:spLocks noChangeArrowheads="1"/>
            </p:cNvSpPr>
            <p:nvPr/>
          </p:nvSpPr>
          <p:spPr bwMode="auto">
            <a:xfrm>
              <a:off x="4322" y="2427"/>
              <a:ext cx="15" cy="10"/>
            </a:xfrm>
            <a:custGeom>
              <a:avLst/>
              <a:gdLst>
                <a:gd name="T0" fmla="*/ 44 w 44"/>
                <a:gd name="T1" fmla="*/ 23 h 29"/>
                <a:gd name="T2" fmla="*/ 3 w 44"/>
                <a:gd name="T3" fmla="*/ 0 h 29"/>
                <a:gd name="T4" fmla="*/ 0 w 44"/>
                <a:gd name="T5" fmla="*/ 4 h 29"/>
                <a:gd name="T6" fmla="*/ 41 w 44"/>
                <a:gd name="T7" fmla="*/ 29 h 29"/>
                <a:gd name="T8" fmla="*/ 44 w 44"/>
                <a:gd name="T9" fmla="*/ 24 h 29"/>
                <a:gd name="T10" fmla="*/ 44 w 44"/>
                <a:gd name="T11" fmla="*/ 23 h 29"/>
                <a:gd name="T12" fmla="*/ 44 w 44"/>
                <a:gd name="T13" fmla="*/ 24 h 29"/>
                <a:gd name="T14" fmla="*/ 44 w 44"/>
                <a:gd name="T15" fmla="*/ 24 h 29"/>
                <a:gd name="T16" fmla="*/ 44 w 44"/>
                <a:gd name="T17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9">
                  <a:moveTo>
                    <a:pt x="44" y="23"/>
                  </a:moveTo>
                  <a:lnTo>
                    <a:pt x="3" y="0"/>
                  </a:lnTo>
                  <a:lnTo>
                    <a:pt x="0" y="4"/>
                  </a:lnTo>
                  <a:lnTo>
                    <a:pt x="41" y="29"/>
                  </a:lnTo>
                  <a:lnTo>
                    <a:pt x="44" y="24"/>
                  </a:lnTo>
                  <a:lnTo>
                    <a:pt x="44" y="23"/>
                  </a:lnTo>
                  <a:lnTo>
                    <a:pt x="44" y="24"/>
                  </a:lnTo>
                  <a:lnTo>
                    <a:pt x="44" y="23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1" name="Freeform 71"/>
            <p:cNvSpPr>
              <a:spLocks noChangeArrowheads="1"/>
            </p:cNvSpPr>
            <p:nvPr/>
          </p:nvSpPr>
          <p:spPr bwMode="auto">
            <a:xfrm>
              <a:off x="4323" y="2426"/>
              <a:ext cx="15" cy="9"/>
            </a:xfrm>
            <a:custGeom>
              <a:avLst/>
              <a:gdLst>
                <a:gd name="T0" fmla="*/ 45 w 45"/>
                <a:gd name="T1" fmla="*/ 21 h 27"/>
                <a:gd name="T2" fmla="*/ 3 w 45"/>
                <a:gd name="T3" fmla="*/ 0 h 27"/>
                <a:gd name="T4" fmla="*/ 0 w 45"/>
                <a:gd name="T5" fmla="*/ 5 h 27"/>
                <a:gd name="T6" fmla="*/ 42 w 45"/>
                <a:gd name="T7" fmla="*/ 27 h 27"/>
                <a:gd name="T8" fmla="*/ 45 w 45"/>
                <a:gd name="T9" fmla="*/ 22 h 27"/>
                <a:gd name="T10" fmla="*/ 45 w 45"/>
                <a:gd name="T11" fmla="*/ 21 h 27"/>
                <a:gd name="T12" fmla="*/ 45 w 45"/>
                <a:gd name="T13" fmla="*/ 22 h 27"/>
                <a:gd name="T14" fmla="*/ 45 w 45"/>
                <a:gd name="T15" fmla="*/ 22 h 27"/>
                <a:gd name="T16" fmla="*/ 45 w 45"/>
                <a:gd name="T17" fmla="*/ 2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27">
                  <a:moveTo>
                    <a:pt x="45" y="21"/>
                  </a:moveTo>
                  <a:lnTo>
                    <a:pt x="3" y="0"/>
                  </a:lnTo>
                  <a:lnTo>
                    <a:pt x="0" y="5"/>
                  </a:lnTo>
                  <a:lnTo>
                    <a:pt x="42" y="27"/>
                  </a:lnTo>
                  <a:lnTo>
                    <a:pt x="45" y="22"/>
                  </a:lnTo>
                  <a:lnTo>
                    <a:pt x="45" y="21"/>
                  </a:lnTo>
                  <a:lnTo>
                    <a:pt x="45" y="22"/>
                  </a:lnTo>
                  <a:lnTo>
                    <a:pt x="45" y="21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2" name="Freeform 72"/>
            <p:cNvSpPr>
              <a:spLocks noChangeArrowheads="1"/>
            </p:cNvSpPr>
            <p:nvPr/>
          </p:nvSpPr>
          <p:spPr bwMode="auto">
            <a:xfrm>
              <a:off x="4324" y="2424"/>
              <a:ext cx="15" cy="9"/>
            </a:xfrm>
            <a:custGeom>
              <a:avLst/>
              <a:gdLst>
                <a:gd name="T0" fmla="*/ 47 w 47"/>
                <a:gd name="T1" fmla="*/ 20 h 26"/>
                <a:gd name="T2" fmla="*/ 2 w 47"/>
                <a:gd name="T3" fmla="*/ 0 h 26"/>
                <a:gd name="T4" fmla="*/ 0 w 47"/>
                <a:gd name="T5" fmla="*/ 6 h 26"/>
                <a:gd name="T6" fmla="*/ 43 w 47"/>
                <a:gd name="T7" fmla="*/ 26 h 26"/>
                <a:gd name="T8" fmla="*/ 47 w 47"/>
                <a:gd name="T9" fmla="*/ 20 h 26"/>
                <a:gd name="T10" fmla="*/ 47 w 47"/>
                <a:gd name="T11" fmla="*/ 20 h 26"/>
                <a:gd name="T12" fmla="*/ 47 w 47"/>
                <a:gd name="T13" fmla="*/ 20 h 26"/>
                <a:gd name="T14" fmla="*/ 47 w 47"/>
                <a:gd name="T15" fmla="*/ 20 h 26"/>
                <a:gd name="T16" fmla="*/ 47 w 47"/>
                <a:gd name="T17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6">
                  <a:moveTo>
                    <a:pt x="47" y="2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43" y="26"/>
                  </a:lnTo>
                  <a:lnTo>
                    <a:pt x="47" y="2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3" name="Freeform 73"/>
            <p:cNvSpPr>
              <a:spLocks noChangeArrowheads="1"/>
            </p:cNvSpPr>
            <p:nvPr/>
          </p:nvSpPr>
          <p:spPr bwMode="auto">
            <a:xfrm>
              <a:off x="4324" y="2423"/>
              <a:ext cx="16" cy="8"/>
            </a:xfrm>
            <a:custGeom>
              <a:avLst/>
              <a:gdLst>
                <a:gd name="T0" fmla="*/ 48 w 48"/>
                <a:gd name="T1" fmla="*/ 18 h 25"/>
                <a:gd name="T2" fmla="*/ 4 w 48"/>
                <a:gd name="T3" fmla="*/ 0 h 25"/>
                <a:gd name="T4" fmla="*/ 0 w 48"/>
                <a:gd name="T5" fmla="*/ 5 h 25"/>
                <a:gd name="T6" fmla="*/ 45 w 48"/>
                <a:gd name="T7" fmla="*/ 25 h 25"/>
                <a:gd name="T8" fmla="*/ 47 w 48"/>
                <a:gd name="T9" fmla="*/ 19 h 25"/>
                <a:gd name="T10" fmla="*/ 48 w 48"/>
                <a:gd name="T11" fmla="*/ 18 h 25"/>
                <a:gd name="T12" fmla="*/ 47 w 48"/>
                <a:gd name="T13" fmla="*/ 19 h 25"/>
                <a:gd name="T14" fmla="*/ 48 w 48"/>
                <a:gd name="T15" fmla="*/ 19 h 25"/>
                <a:gd name="T16" fmla="*/ 48 w 48"/>
                <a:gd name="T17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25">
                  <a:moveTo>
                    <a:pt x="48" y="18"/>
                  </a:moveTo>
                  <a:lnTo>
                    <a:pt x="4" y="0"/>
                  </a:lnTo>
                  <a:lnTo>
                    <a:pt x="0" y="5"/>
                  </a:lnTo>
                  <a:lnTo>
                    <a:pt x="45" y="25"/>
                  </a:lnTo>
                  <a:lnTo>
                    <a:pt x="47" y="19"/>
                  </a:lnTo>
                  <a:lnTo>
                    <a:pt x="48" y="18"/>
                  </a:lnTo>
                  <a:lnTo>
                    <a:pt x="47" y="19"/>
                  </a:lnTo>
                  <a:lnTo>
                    <a:pt x="48" y="19"/>
                  </a:lnTo>
                  <a:lnTo>
                    <a:pt x="48" y="18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4" name="Freeform 74"/>
            <p:cNvSpPr>
              <a:spLocks noChangeArrowheads="1"/>
            </p:cNvSpPr>
            <p:nvPr/>
          </p:nvSpPr>
          <p:spPr bwMode="auto">
            <a:xfrm>
              <a:off x="4325" y="2421"/>
              <a:ext cx="16" cy="8"/>
            </a:xfrm>
            <a:custGeom>
              <a:avLst/>
              <a:gdLst>
                <a:gd name="T0" fmla="*/ 3 w 48"/>
                <a:gd name="T1" fmla="*/ 0 h 22"/>
                <a:gd name="T2" fmla="*/ 3 w 48"/>
                <a:gd name="T3" fmla="*/ 0 h 22"/>
                <a:gd name="T4" fmla="*/ 0 w 48"/>
                <a:gd name="T5" fmla="*/ 5 h 22"/>
                <a:gd name="T6" fmla="*/ 46 w 48"/>
                <a:gd name="T7" fmla="*/ 22 h 22"/>
                <a:gd name="T8" fmla="*/ 48 w 48"/>
                <a:gd name="T9" fmla="*/ 17 h 22"/>
                <a:gd name="T10" fmla="*/ 3 w 48"/>
                <a:gd name="T11" fmla="*/ 0 h 22"/>
                <a:gd name="T12" fmla="*/ 3 w 48"/>
                <a:gd name="T13" fmla="*/ 0 h 22"/>
                <a:gd name="T14" fmla="*/ 3 w 48"/>
                <a:gd name="T15" fmla="*/ 0 h 22"/>
                <a:gd name="T16" fmla="*/ 3 w 48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22">
                  <a:moveTo>
                    <a:pt x="3" y="0"/>
                  </a:moveTo>
                  <a:lnTo>
                    <a:pt x="3" y="0"/>
                  </a:lnTo>
                  <a:lnTo>
                    <a:pt x="0" y="5"/>
                  </a:lnTo>
                  <a:lnTo>
                    <a:pt x="46" y="22"/>
                  </a:lnTo>
                  <a:lnTo>
                    <a:pt x="48" y="1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5" name="Freeform 75"/>
            <p:cNvSpPr>
              <a:spLocks noChangeArrowheads="1"/>
            </p:cNvSpPr>
            <p:nvPr/>
          </p:nvSpPr>
          <p:spPr bwMode="auto">
            <a:xfrm>
              <a:off x="4326" y="2419"/>
              <a:ext cx="16" cy="8"/>
            </a:xfrm>
            <a:custGeom>
              <a:avLst/>
              <a:gdLst>
                <a:gd name="T0" fmla="*/ 47 w 47"/>
                <a:gd name="T1" fmla="*/ 15 h 23"/>
                <a:gd name="T2" fmla="*/ 2 w 47"/>
                <a:gd name="T3" fmla="*/ 0 h 23"/>
                <a:gd name="T4" fmla="*/ 0 w 47"/>
                <a:gd name="T5" fmla="*/ 6 h 23"/>
                <a:gd name="T6" fmla="*/ 45 w 47"/>
                <a:gd name="T7" fmla="*/ 23 h 23"/>
                <a:gd name="T8" fmla="*/ 47 w 47"/>
                <a:gd name="T9" fmla="*/ 16 h 23"/>
                <a:gd name="T10" fmla="*/ 47 w 47"/>
                <a:gd name="T11" fmla="*/ 15 h 23"/>
                <a:gd name="T12" fmla="*/ 47 w 47"/>
                <a:gd name="T13" fmla="*/ 16 h 23"/>
                <a:gd name="T14" fmla="*/ 47 w 47"/>
                <a:gd name="T15" fmla="*/ 15 h 23"/>
                <a:gd name="T16" fmla="*/ 47 w 47"/>
                <a:gd name="T17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3">
                  <a:moveTo>
                    <a:pt x="47" y="15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45" y="23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47" y="16"/>
                  </a:lnTo>
                  <a:lnTo>
                    <a:pt x="47" y="15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6" name="Freeform 76"/>
            <p:cNvSpPr>
              <a:spLocks noChangeArrowheads="1"/>
            </p:cNvSpPr>
            <p:nvPr/>
          </p:nvSpPr>
          <p:spPr bwMode="auto">
            <a:xfrm>
              <a:off x="4327" y="2418"/>
              <a:ext cx="15" cy="6"/>
            </a:xfrm>
            <a:custGeom>
              <a:avLst/>
              <a:gdLst>
                <a:gd name="T0" fmla="*/ 47 w 47"/>
                <a:gd name="T1" fmla="*/ 13 h 20"/>
                <a:gd name="T2" fmla="*/ 2 w 47"/>
                <a:gd name="T3" fmla="*/ 0 h 20"/>
                <a:gd name="T4" fmla="*/ 0 w 47"/>
                <a:gd name="T5" fmla="*/ 7 h 20"/>
                <a:gd name="T6" fmla="*/ 45 w 47"/>
                <a:gd name="T7" fmla="*/ 20 h 20"/>
                <a:gd name="T8" fmla="*/ 47 w 47"/>
                <a:gd name="T9" fmla="*/ 14 h 20"/>
                <a:gd name="T10" fmla="*/ 47 w 47"/>
                <a:gd name="T11" fmla="*/ 13 h 20"/>
                <a:gd name="T12" fmla="*/ 47 w 47"/>
                <a:gd name="T13" fmla="*/ 14 h 20"/>
                <a:gd name="T14" fmla="*/ 47 w 47"/>
                <a:gd name="T15" fmla="*/ 14 h 20"/>
                <a:gd name="T16" fmla="*/ 47 w 47"/>
                <a:gd name="T17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0">
                  <a:moveTo>
                    <a:pt x="47" y="13"/>
                  </a:moveTo>
                  <a:lnTo>
                    <a:pt x="2" y="0"/>
                  </a:lnTo>
                  <a:lnTo>
                    <a:pt x="0" y="7"/>
                  </a:lnTo>
                  <a:lnTo>
                    <a:pt x="45" y="20"/>
                  </a:lnTo>
                  <a:lnTo>
                    <a:pt x="47" y="14"/>
                  </a:lnTo>
                  <a:lnTo>
                    <a:pt x="47" y="13"/>
                  </a:lnTo>
                  <a:lnTo>
                    <a:pt x="47" y="14"/>
                  </a:lnTo>
                  <a:lnTo>
                    <a:pt x="47" y="13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7" name="Freeform 77"/>
            <p:cNvSpPr>
              <a:spLocks noChangeArrowheads="1"/>
            </p:cNvSpPr>
            <p:nvPr/>
          </p:nvSpPr>
          <p:spPr bwMode="auto">
            <a:xfrm>
              <a:off x="4327" y="2416"/>
              <a:ext cx="16" cy="6"/>
            </a:xfrm>
            <a:custGeom>
              <a:avLst/>
              <a:gdLst>
                <a:gd name="T0" fmla="*/ 47 w 47"/>
                <a:gd name="T1" fmla="*/ 13 h 19"/>
                <a:gd name="T2" fmla="*/ 1 w 47"/>
                <a:gd name="T3" fmla="*/ 0 h 19"/>
                <a:gd name="T4" fmla="*/ 0 w 47"/>
                <a:gd name="T5" fmla="*/ 6 h 19"/>
                <a:gd name="T6" fmla="*/ 45 w 47"/>
                <a:gd name="T7" fmla="*/ 19 h 19"/>
                <a:gd name="T8" fmla="*/ 47 w 47"/>
                <a:gd name="T9" fmla="*/ 13 h 19"/>
                <a:gd name="T10" fmla="*/ 47 w 47"/>
                <a:gd name="T11" fmla="*/ 13 h 19"/>
                <a:gd name="T12" fmla="*/ 47 w 47"/>
                <a:gd name="T13" fmla="*/ 13 h 19"/>
                <a:gd name="T14" fmla="*/ 47 w 47"/>
                <a:gd name="T15" fmla="*/ 13 h 19"/>
                <a:gd name="T16" fmla="*/ 47 w 47"/>
                <a:gd name="T17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9">
                  <a:moveTo>
                    <a:pt x="47" y="13"/>
                  </a:moveTo>
                  <a:lnTo>
                    <a:pt x="1" y="0"/>
                  </a:lnTo>
                  <a:lnTo>
                    <a:pt x="0" y="6"/>
                  </a:lnTo>
                  <a:lnTo>
                    <a:pt x="45" y="19"/>
                  </a:lnTo>
                  <a:lnTo>
                    <a:pt x="47" y="13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8" name="Freeform 78"/>
            <p:cNvSpPr>
              <a:spLocks noChangeArrowheads="1"/>
            </p:cNvSpPr>
            <p:nvPr/>
          </p:nvSpPr>
          <p:spPr bwMode="auto">
            <a:xfrm>
              <a:off x="4328" y="2414"/>
              <a:ext cx="16" cy="6"/>
            </a:xfrm>
            <a:custGeom>
              <a:avLst/>
              <a:gdLst>
                <a:gd name="T0" fmla="*/ 48 w 48"/>
                <a:gd name="T1" fmla="*/ 11 h 19"/>
                <a:gd name="T2" fmla="*/ 2 w 48"/>
                <a:gd name="T3" fmla="*/ 0 h 19"/>
                <a:gd name="T4" fmla="*/ 0 w 48"/>
                <a:gd name="T5" fmla="*/ 7 h 19"/>
                <a:gd name="T6" fmla="*/ 46 w 48"/>
                <a:gd name="T7" fmla="*/ 19 h 19"/>
                <a:gd name="T8" fmla="*/ 48 w 48"/>
                <a:gd name="T9" fmla="*/ 11 h 19"/>
                <a:gd name="T10" fmla="*/ 48 w 48"/>
                <a:gd name="T11" fmla="*/ 11 h 19"/>
                <a:gd name="T12" fmla="*/ 48 w 48"/>
                <a:gd name="T13" fmla="*/ 11 h 19"/>
                <a:gd name="T14" fmla="*/ 48 w 48"/>
                <a:gd name="T15" fmla="*/ 11 h 19"/>
                <a:gd name="T16" fmla="*/ 48 w 48"/>
                <a:gd name="T1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9">
                  <a:moveTo>
                    <a:pt x="48" y="11"/>
                  </a:moveTo>
                  <a:lnTo>
                    <a:pt x="2" y="0"/>
                  </a:lnTo>
                  <a:lnTo>
                    <a:pt x="0" y="7"/>
                  </a:lnTo>
                  <a:lnTo>
                    <a:pt x="46" y="19"/>
                  </a:lnTo>
                  <a:lnTo>
                    <a:pt x="48" y="11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9" name="Freeform 79"/>
            <p:cNvSpPr>
              <a:spLocks noChangeArrowheads="1"/>
            </p:cNvSpPr>
            <p:nvPr/>
          </p:nvSpPr>
          <p:spPr bwMode="auto">
            <a:xfrm>
              <a:off x="4328" y="2412"/>
              <a:ext cx="16" cy="5"/>
            </a:xfrm>
            <a:custGeom>
              <a:avLst/>
              <a:gdLst>
                <a:gd name="T0" fmla="*/ 48 w 48"/>
                <a:gd name="T1" fmla="*/ 9 h 16"/>
                <a:gd name="T2" fmla="*/ 2 w 48"/>
                <a:gd name="T3" fmla="*/ 0 h 16"/>
                <a:gd name="T4" fmla="*/ 0 w 48"/>
                <a:gd name="T5" fmla="*/ 6 h 16"/>
                <a:gd name="T6" fmla="*/ 47 w 48"/>
                <a:gd name="T7" fmla="*/ 16 h 16"/>
                <a:gd name="T8" fmla="*/ 48 w 48"/>
                <a:gd name="T9" fmla="*/ 9 h 16"/>
                <a:gd name="T10" fmla="*/ 48 w 48"/>
                <a:gd name="T11" fmla="*/ 9 h 16"/>
                <a:gd name="T12" fmla="*/ 48 w 48"/>
                <a:gd name="T13" fmla="*/ 9 h 16"/>
                <a:gd name="T14" fmla="*/ 48 w 48"/>
                <a:gd name="T15" fmla="*/ 9 h 16"/>
                <a:gd name="T16" fmla="*/ 48 w 48"/>
                <a:gd name="T17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6">
                  <a:moveTo>
                    <a:pt x="48" y="9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47" y="16"/>
                  </a:lnTo>
                  <a:lnTo>
                    <a:pt x="48" y="9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0" name="Freeform 80"/>
            <p:cNvSpPr>
              <a:spLocks noChangeArrowheads="1"/>
            </p:cNvSpPr>
            <p:nvPr/>
          </p:nvSpPr>
          <p:spPr bwMode="auto">
            <a:xfrm>
              <a:off x="4329" y="2410"/>
              <a:ext cx="16" cy="5"/>
            </a:xfrm>
            <a:custGeom>
              <a:avLst/>
              <a:gdLst>
                <a:gd name="T0" fmla="*/ 48 w 48"/>
                <a:gd name="T1" fmla="*/ 9 h 16"/>
                <a:gd name="T2" fmla="*/ 1 w 48"/>
                <a:gd name="T3" fmla="*/ 0 h 16"/>
                <a:gd name="T4" fmla="*/ 0 w 48"/>
                <a:gd name="T5" fmla="*/ 7 h 16"/>
                <a:gd name="T6" fmla="*/ 46 w 48"/>
                <a:gd name="T7" fmla="*/ 16 h 16"/>
                <a:gd name="T8" fmla="*/ 48 w 48"/>
                <a:gd name="T9" fmla="*/ 9 h 16"/>
                <a:gd name="T10" fmla="*/ 48 w 48"/>
                <a:gd name="T11" fmla="*/ 9 h 16"/>
                <a:gd name="T12" fmla="*/ 48 w 48"/>
                <a:gd name="T13" fmla="*/ 9 h 16"/>
                <a:gd name="T14" fmla="*/ 48 w 48"/>
                <a:gd name="T15" fmla="*/ 9 h 16"/>
                <a:gd name="T16" fmla="*/ 48 w 48"/>
                <a:gd name="T17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6">
                  <a:moveTo>
                    <a:pt x="48" y="9"/>
                  </a:moveTo>
                  <a:lnTo>
                    <a:pt x="1" y="0"/>
                  </a:lnTo>
                  <a:lnTo>
                    <a:pt x="0" y="7"/>
                  </a:lnTo>
                  <a:lnTo>
                    <a:pt x="46" y="16"/>
                  </a:lnTo>
                  <a:lnTo>
                    <a:pt x="48" y="9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1" name="Freeform 81"/>
            <p:cNvSpPr>
              <a:spLocks noChangeArrowheads="1"/>
            </p:cNvSpPr>
            <p:nvPr/>
          </p:nvSpPr>
          <p:spPr bwMode="auto">
            <a:xfrm>
              <a:off x="4329" y="2408"/>
              <a:ext cx="16" cy="5"/>
            </a:xfrm>
            <a:custGeom>
              <a:avLst/>
              <a:gdLst>
                <a:gd name="T0" fmla="*/ 48 w 48"/>
                <a:gd name="T1" fmla="*/ 7 h 15"/>
                <a:gd name="T2" fmla="*/ 1 w 48"/>
                <a:gd name="T3" fmla="*/ 0 h 15"/>
                <a:gd name="T4" fmla="*/ 0 w 48"/>
                <a:gd name="T5" fmla="*/ 6 h 15"/>
                <a:gd name="T6" fmla="*/ 47 w 48"/>
                <a:gd name="T7" fmla="*/ 15 h 15"/>
                <a:gd name="T8" fmla="*/ 48 w 48"/>
                <a:gd name="T9" fmla="*/ 7 h 15"/>
                <a:gd name="T10" fmla="*/ 48 w 48"/>
                <a:gd name="T11" fmla="*/ 7 h 15"/>
                <a:gd name="T12" fmla="*/ 48 w 48"/>
                <a:gd name="T13" fmla="*/ 7 h 15"/>
                <a:gd name="T14" fmla="*/ 48 w 48"/>
                <a:gd name="T15" fmla="*/ 7 h 15"/>
                <a:gd name="T16" fmla="*/ 48 w 48"/>
                <a:gd name="T17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5">
                  <a:moveTo>
                    <a:pt x="48" y="7"/>
                  </a:moveTo>
                  <a:lnTo>
                    <a:pt x="1" y="0"/>
                  </a:lnTo>
                  <a:lnTo>
                    <a:pt x="0" y="6"/>
                  </a:lnTo>
                  <a:lnTo>
                    <a:pt x="47" y="15"/>
                  </a:lnTo>
                  <a:lnTo>
                    <a:pt x="48" y="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2" name="Freeform 82"/>
            <p:cNvSpPr>
              <a:spLocks noChangeArrowheads="1"/>
            </p:cNvSpPr>
            <p:nvPr/>
          </p:nvSpPr>
          <p:spPr bwMode="auto">
            <a:xfrm>
              <a:off x="4329" y="2406"/>
              <a:ext cx="17" cy="4"/>
            </a:xfrm>
            <a:custGeom>
              <a:avLst/>
              <a:gdLst>
                <a:gd name="T0" fmla="*/ 49 w 49"/>
                <a:gd name="T1" fmla="*/ 5 h 13"/>
                <a:gd name="T2" fmla="*/ 1 w 49"/>
                <a:gd name="T3" fmla="*/ 0 h 13"/>
                <a:gd name="T4" fmla="*/ 0 w 49"/>
                <a:gd name="T5" fmla="*/ 6 h 13"/>
                <a:gd name="T6" fmla="*/ 47 w 49"/>
                <a:gd name="T7" fmla="*/ 13 h 13"/>
                <a:gd name="T8" fmla="*/ 49 w 49"/>
                <a:gd name="T9" fmla="*/ 6 h 13"/>
                <a:gd name="T10" fmla="*/ 49 w 49"/>
                <a:gd name="T11" fmla="*/ 5 h 13"/>
                <a:gd name="T12" fmla="*/ 49 w 49"/>
                <a:gd name="T13" fmla="*/ 6 h 13"/>
                <a:gd name="T14" fmla="*/ 49 w 49"/>
                <a:gd name="T15" fmla="*/ 5 h 13"/>
                <a:gd name="T16" fmla="*/ 49 w 49"/>
                <a:gd name="T17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3">
                  <a:moveTo>
                    <a:pt x="49" y="5"/>
                  </a:moveTo>
                  <a:lnTo>
                    <a:pt x="1" y="0"/>
                  </a:lnTo>
                  <a:lnTo>
                    <a:pt x="0" y="6"/>
                  </a:lnTo>
                  <a:lnTo>
                    <a:pt x="47" y="13"/>
                  </a:lnTo>
                  <a:lnTo>
                    <a:pt x="49" y="6"/>
                  </a:lnTo>
                  <a:lnTo>
                    <a:pt x="49" y="5"/>
                  </a:lnTo>
                  <a:lnTo>
                    <a:pt x="49" y="6"/>
                  </a:lnTo>
                  <a:lnTo>
                    <a:pt x="49" y="5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3" name="Freeform 83"/>
            <p:cNvSpPr>
              <a:spLocks noChangeArrowheads="1"/>
            </p:cNvSpPr>
            <p:nvPr/>
          </p:nvSpPr>
          <p:spPr bwMode="auto">
            <a:xfrm>
              <a:off x="4330" y="2403"/>
              <a:ext cx="16" cy="4"/>
            </a:xfrm>
            <a:custGeom>
              <a:avLst/>
              <a:gdLst>
                <a:gd name="T0" fmla="*/ 49 w 49"/>
                <a:gd name="T1" fmla="*/ 5 h 12"/>
                <a:gd name="T2" fmla="*/ 1 w 49"/>
                <a:gd name="T3" fmla="*/ 0 h 12"/>
                <a:gd name="T4" fmla="*/ 0 w 49"/>
                <a:gd name="T5" fmla="*/ 7 h 12"/>
                <a:gd name="T6" fmla="*/ 48 w 49"/>
                <a:gd name="T7" fmla="*/ 12 h 12"/>
                <a:gd name="T8" fmla="*/ 49 w 49"/>
                <a:gd name="T9" fmla="*/ 5 h 12"/>
                <a:gd name="T10" fmla="*/ 49 w 49"/>
                <a:gd name="T11" fmla="*/ 5 h 12"/>
                <a:gd name="T12" fmla="*/ 49 w 49"/>
                <a:gd name="T13" fmla="*/ 5 h 12"/>
                <a:gd name="T14" fmla="*/ 49 w 49"/>
                <a:gd name="T15" fmla="*/ 5 h 12"/>
                <a:gd name="T16" fmla="*/ 49 w 49"/>
                <a:gd name="T1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2">
                  <a:moveTo>
                    <a:pt x="49" y="5"/>
                  </a:moveTo>
                  <a:lnTo>
                    <a:pt x="1" y="0"/>
                  </a:lnTo>
                  <a:lnTo>
                    <a:pt x="0" y="7"/>
                  </a:lnTo>
                  <a:lnTo>
                    <a:pt x="48" y="12"/>
                  </a:lnTo>
                  <a:lnTo>
                    <a:pt x="49" y="5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4" name="Freeform 84"/>
            <p:cNvSpPr>
              <a:spLocks noChangeArrowheads="1"/>
            </p:cNvSpPr>
            <p:nvPr/>
          </p:nvSpPr>
          <p:spPr bwMode="auto">
            <a:xfrm>
              <a:off x="4330" y="2401"/>
              <a:ext cx="16" cy="4"/>
            </a:xfrm>
            <a:custGeom>
              <a:avLst/>
              <a:gdLst>
                <a:gd name="T0" fmla="*/ 49 w 49"/>
                <a:gd name="T1" fmla="*/ 4 h 12"/>
                <a:gd name="T2" fmla="*/ 1 w 49"/>
                <a:gd name="T3" fmla="*/ 0 h 12"/>
                <a:gd name="T4" fmla="*/ 0 w 49"/>
                <a:gd name="T5" fmla="*/ 7 h 12"/>
                <a:gd name="T6" fmla="*/ 49 w 49"/>
                <a:gd name="T7" fmla="*/ 12 h 12"/>
                <a:gd name="T8" fmla="*/ 49 w 49"/>
                <a:gd name="T9" fmla="*/ 4 h 12"/>
                <a:gd name="T10" fmla="*/ 49 w 49"/>
                <a:gd name="T11" fmla="*/ 4 h 12"/>
                <a:gd name="T12" fmla="*/ 49 w 49"/>
                <a:gd name="T13" fmla="*/ 4 h 12"/>
                <a:gd name="T14" fmla="*/ 49 w 49"/>
                <a:gd name="T15" fmla="*/ 4 h 12"/>
                <a:gd name="T16" fmla="*/ 49 w 49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2">
                  <a:moveTo>
                    <a:pt x="49" y="4"/>
                  </a:moveTo>
                  <a:lnTo>
                    <a:pt x="1" y="0"/>
                  </a:lnTo>
                  <a:lnTo>
                    <a:pt x="0" y="7"/>
                  </a:lnTo>
                  <a:lnTo>
                    <a:pt x="49" y="12"/>
                  </a:lnTo>
                  <a:lnTo>
                    <a:pt x="49" y="4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5" name="Freeform 85"/>
            <p:cNvSpPr>
              <a:spLocks noChangeArrowheads="1"/>
            </p:cNvSpPr>
            <p:nvPr/>
          </p:nvSpPr>
          <p:spPr bwMode="auto">
            <a:xfrm>
              <a:off x="4330" y="2399"/>
              <a:ext cx="16" cy="3"/>
            </a:xfrm>
            <a:custGeom>
              <a:avLst/>
              <a:gdLst>
                <a:gd name="T0" fmla="*/ 49 w 49"/>
                <a:gd name="T1" fmla="*/ 2 h 10"/>
                <a:gd name="T2" fmla="*/ 0 w 49"/>
                <a:gd name="T3" fmla="*/ 0 h 10"/>
                <a:gd name="T4" fmla="*/ 0 w 49"/>
                <a:gd name="T5" fmla="*/ 7 h 10"/>
                <a:gd name="T6" fmla="*/ 48 w 49"/>
                <a:gd name="T7" fmla="*/ 10 h 10"/>
                <a:gd name="T8" fmla="*/ 49 w 49"/>
                <a:gd name="T9" fmla="*/ 3 h 10"/>
                <a:gd name="T10" fmla="*/ 49 w 49"/>
                <a:gd name="T11" fmla="*/ 2 h 10"/>
                <a:gd name="T12" fmla="*/ 49 w 49"/>
                <a:gd name="T13" fmla="*/ 3 h 10"/>
                <a:gd name="T14" fmla="*/ 49 w 49"/>
                <a:gd name="T15" fmla="*/ 2 h 10"/>
                <a:gd name="T16" fmla="*/ 49 w 49"/>
                <a:gd name="T1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0">
                  <a:moveTo>
                    <a:pt x="49" y="2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8" y="10"/>
                  </a:lnTo>
                  <a:lnTo>
                    <a:pt x="49" y="3"/>
                  </a:lnTo>
                  <a:lnTo>
                    <a:pt x="49" y="2"/>
                  </a:lnTo>
                  <a:lnTo>
                    <a:pt x="49" y="3"/>
                  </a:lnTo>
                  <a:lnTo>
                    <a:pt x="49" y="2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6" name="Freeform 86"/>
            <p:cNvSpPr>
              <a:spLocks noChangeArrowheads="1"/>
            </p:cNvSpPr>
            <p:nvPr/>
          </p:nvSpPr>
          <p:spPr bwMode="auto">
            <a:xfrm>
              <a:off x="4330" y="2396"/>
              <a:ext cx="16" cy="4"/>
            </a:xfrm>
            <a:custGeom>
              <a:avLst/>
              <a:gdLst>
                <a:gd name="T0" fmla="*/ 49 w 49"/>
                <a:gd name="T1" fmla="*/ 1 h 10"/>
                <a:gd name="T2" fmla="*/ 1 w 49"/>
                <a:gd name="T3" fmla="*/ 0 h 10"/>
                <a:gd name="T4" fmla="*/ 0 w 49"/>
                <a:gd name="T5" fmla="*/ 8 h 10"/>
                <a:gd name="T6" fmla="*/ 49 w 49"/>
                <a:gd name="T7" fmla="*/ 10 h 10"/>
                <a:gd name="T8" fmla="*/ 49 w 49"/>
                <a:gd name="T9" fmla="*/ 3 h 10"/>
                <a:gd name="T10" fmla="*/ 49 w 49"/>
                <a:gd name="T11" fmla="*/ 1 h 10"/>
                <a:gd name="T12" fmla="*/ 49 w 49"/>
                <a:gd name="T13" fmla="*/ 3 h 10"/>
                <a:gd name="T14" fmla="*/ 49 w 49"/>
                <a:gd name="T15" fmla="*/ 3 h 10"/>
                <a:gd name="T16" fmla="*/ 49 w 49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0">
                  <a:moveTo>
                    <a:pt x="49" y="1"/>
                  </a:moveTo>
                  <a:lnTo>
                    <a:pt x="1" y="0"/>
                  </a:lnTo>
                  <a:lnTo>
                    <a:pt x="0" y="8"/>
                  </a:lnTo>
                  <a:lnTo>
                    <a:pt x="49" y="10"/>
                  </a:lnTo>
                  <a:lnTo>
                    <a:pt x="49" y="3"/>
                  </a:lnTo>
                  <a:lnTo>
                    <a:pt x="49" y="1"/>
                  </a:lnTo>
                  <a:lnTo>
                    <a:pt x="49" y="3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7" name="Freeform 87"/>
            <p:cNvSpPr>
              <a:spLocks noChangeArrowheads="1"/>
            </p:cNvSpPr>
            <p:nvPr/>
          </p:nvSpPr>
          <p:spPr bwMode="auto">
            <a:xfrm>
              <a:off x="4330" y="2394"/>
              <a:ext cx="16" cy="3"/>
            </a:xfrm>
            <a:custGeom>
              <a:avLst/>
              <a:gdLst>
                <a:gd name="T0" fmla="*/ 48 w 48"/>
                <a:gd name="T1" fmla="*/ 0 h 7"/>
                <a:gd name="T2" fmla="*/ 0 w 48"/>
                <a:gd name="T3" fmla="*/ 0 h 7"/>
                <a:gd name="T4" fmla="*/ 0 w 48"/>
                <a:gd name="T5" fmla="*/ 7 h 7"/>
                <a:gd name="T6" fmla="*/ 48 w 48"/>
                <a:gd name="T7" fmla="*/ 7 h 7"/>
                <a:gd name="T8" fmla="*/ 48 w 48"/>
                <a:gd name="T9" fmla="*/ 0 h 7"/>
                <a:gd name="T10" fmla="*/ 48 w 48"/>
                <a:gd name="T11" fmla="*/ 0 h 7"/>
                <a:gd name="T12" fmla="*/ 48 w 48"/>
                <a:gd name="T13" fmla="*/ 0 h 7"/>
                <a:gd name="T14" fmla="*/ 48 w 48"/>
                <a:gd name="T15" fmla="*/ 0 h 7"/>
                <a:gd name="T16" fmla="*/ 48 w 48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7">
                  <a:moveTo>
                    <a:pt x="48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8" y="7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8" name="Freeform 88"/>
            <p:cNvSpPr>
              <a:spLocks noChangeArrowheads="1"/>
            </p:cNvSpPr>
            <p:nvPr/>
          </p:nvSpPr>
          <p:spPr bwMode="auto">
            <a:xfrm>
              <a:off x="4330" y="2392"/>
              <a:ext cx="16" cy="2"/>
            </a:xfrm>
            <a:custGeom>
              <a:avLst/>
              <a:gdLst>
                <a:gd name="T0" fmla="*/ 48 w 48"/>
                <a:gd name="T1" fmla="*/ 0 h 8"/>
                <a:gd name="T2" fmla="*/ 0 w 48"/>
                <a:gd name="T3" fmla="*/ 2 h 8"/>
                <a:gd name="T4" fmla="*/ 0 w 48"/>
                <a:gd name="T5" fmla="*/ 8 h 8"/>
                <a:gd name="T6" fmla="*/ 48 w 48"/>
                <a:gd name="T7" fmla="*/ 8 h 8"/>
                <a:gd name="T8" fmla="*/ 48 w 48"/>
                <a:gd name="T9" fmla="*/ 1 h 8"/>
                <a:gd name="T10" fmla="*/ 48 w 48"/>
                <a:gd name="T11" fmla="*/ 0 h 8"/>
                <a:gd name="T12" fmla="*/ 48 w 48"/>
                <a:gd name="T13" fmla="*/ 1 h 8"/>
                <a:gd name="T14" fmla="*/ 48 w 48"/>
                <a:gd name="T15" fmla="*/ 1 h 8"/>
                <a:gd name="T16" fmla="*/ 48 w 48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8">
                  <a:moveTo>
                    <a:pt x="48" y="0"/>
                  </a:moveTo>
                  <a:lnTo>
                    <a:pt x="0" y="2"/>
                  </a:lnTo>
                  <a:lnTo>
                    <a:pt x="0" y="8"/>
                  </a:lnTo>
                  <a:lnTo>
                    <a:pt x="48" y="8"/>
                  </a:lnTo>
                  <a:lnTo>
                    <a:pt x="48" y="1"/>
                  </a:lnTo>
                  <a:lnTo>
                    <a:pt x="48" y="0"/>
                  </a:lnTo>
                  <a:lnTo>
                    <a:pt x="48" y="1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9" name="Freeform 89"/>
            <p:cNvSpPr>
              <a:spLocks noChangeArrowheads="1"/>
            </p:cNvSpPr>
            <p:nvPr/>
          </p:nvSpPr>
          <p:spPr bwMode="auto">
            <a:xfrm>
              <a:off x="4330" y="2389"/>
              <a:ext cx="16" cy="3"/>
            </a:xfrm>
            <a:custGeom>
              <a:avLst/>
              <a:gdLst>
                <a:gd name="T0" fmla="*/ 49 w 49"/>
                <a:gd name="T1" fmla="*/ 0 h 10"/>
                <a:gd name="T2" fmla="*/ 0 w 49"/>
                <a:gd name="T3" fmla="*/ 2 h 10"/>
                <a:gd name="T4" fmla="*/ 1 w 49"/>
                <a:gd name="T5" fmla="*/ 10 h 10"/>
                <a:gd name="T6" fmla="*/ 49 w 49"/>
                <a:gd name="T7" fmla="*/ 8 h 10"/>
                <a:gd name="T8" fmla="*/ 49 w 49"/>
                <a:gd name="T9" fmla="*/ 0 h 10"/>
                <a:gd name="T10" fmla="*/ 49 w 49"/>
                <a:gd name="T11" fmla="*/ 0 h 10"/>
                <a:gd name="T12" fmla="*/ 49 w 49"/>
                <a:gd name="T13" fmla="*/ 0 h 10"/>
                <a:gd name="T14" fmla="*/ 49 w 49"/>
                <a:gd name="T15" fmla="*/ 0 h 10"/>
                <a:gd name="T16" fmla="*/ 49 w 49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0">
                  <a:moveTo>
                    <a:pt x="49" y="0"/>
                  </a:moveTo>
                  <a:lnTo>
                    <a:pt x="0" y="2"/>
                  </a:lnTo>
                  <a:lnTo>
                    <a:pt x="1" y="10"/>
                  </a:lnTo>
                  <a:lnTo>
                    <a:pt x="49" y="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0" name="Freeform 90"/>
            <p:cNvSpPr>
              <a:spLocks noChangeArrowheads="1"/>
            </p:cNvSpPr>
            <p:nvPr/>
          </p:nvSpPr>
          <p:spPr bwMode="auto">
            <a:xfrm>
              <a:off x="4330" y="2387"/>
              <a:ext cx="16" cy="3"/>
            </a:xfrm>
            <a:custGeom>
              <a:avLst/>
              <a:gdLst>
                <a:gd name="T0" fmla="*/ 48 w 49"/>
                <a:gd name="T1" fmla="*/ 0 h 11"/>
                <a:gd name="T2" fmla="*/ 0 w 49"/>
                <a:gd name="T3" fmla="*/ 3 h 11"/>
                <a:gd name="T4" fmla="*/ 0 w 49"/>
                <a:gd name="T5" fmla="*/ 11 h 11"/>
                <a:gd name="T6" fmla="*/ 49 w 49"/>
                <a:gd name="T7" fmla="*/ 7 h 11"/>
                <a:gd name="T8" fmla="*/ 48 w 49"/>
                <a:gd name="T9" fmla="*/ 0 h 11"/>
                <a:gd name="T10" fmla="*/ 48 w 49"/>
                <a:gd name="T11" fmla="*/ 0 h 11"/>
                <a:gd name="T12" fmla="*/ 48 w 49"/>
                <a:gd name="T13" fmla="*/ 0 h 11"/>
                <a:gd name="T14" fmla="*/ 48 w 49"/>
                <a:gd name="T15" fmla="*/ 0 h 11"/>
                <a:gd name="T16" fmla="*/ 48 w 49"/>
                <a:gd name="T1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1">
                  <a:moveTo>
                    <a:pt x="48" y="0"/>
                  </a:moveTo>
                  <a:lnTo>
                    <a:pt x="0" y="3"/>
                  </a:lnTo>
                  <a:lnTo>
                    <a:pt x="0" y="11"/>
                  </a:lnTo>
                  <a:lnTo>
                    <a:pt x="49" y="7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1" name="Freeform 91"/>
            <p:cNvSpPr>
              <a:spLocks noChangeArrowheads="1"/>
            </p:cNvSpPr>
            <p:nvPr/>
          </p:nvSpPr>
          <p:spPr bwMode="auto">
            <a:xfrm>
              <a:off x="4330" y="2384"/>
              <a:ext cx="16" cy="4"/>
            </a:xfrm>
            <a:custGeom>
              <a:avLst/>
              <a:gdLst>
                <a:gd name="T0" fmla="*/ 49 w 49"/>
                <a:gd name="T1" fmla="*/ 0 h 11"/>
                <a:gd name="T2" fmla="*/ 0 w 49"/>
                <a:gd name="T3" fmla="*/ 4 h 11"/>
                <a:gd name="T4" fmla="*/ 1 w 49"/>
                <a:gd name="T5" fmla="*/ 11 h 11"/>
                <a:gd name="T6" fmla="*/ 49 w 49"/>
                <a:gd name="T7" fmla="*/ 8 h 11"/>
                <a:gd name="T8" fmla="*/ 49 w 49"/>
                <a:gd name="T9" fmla="*/ 1 h 11"/>
                <a:gd name="T10" fmla="*/ 49 w 49"/>
                <a:gd name="T11" fmla="*/ 0 h 11"/>
                <a:gd name="T12" fmla="*/ 49 w 49"/>
                <a:gd name="T13" fmla="*/ 1 h 11"/>
                <a:gd name="T14" fmla="*/ 49 w 49"/>
                <a:gd name="T15" fmla="*/ 1 h 11"/>
                <a:gd name="T16" fmla="*/ 49 w 49"/>
                <a:gd name="T1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1">
                  <a:moveTo>
                    <a:pt x="49" y="0"/>
                  </a:moveTo>
                  <a:lnTo>
                    <a:pt x="0" y="4"/>
                  </a:lnTo>
                  <a:lnTo>
                    <a:pt x="1" y="11"/>
                  </a:lnTo>
                  <a:lnTo>
                    <a:pt x="49" y="8"/>
                  </a:lnTo>
                  <a:lnTo>
                    <a:pt x="49" y="1"/>
                  </a:lnTo>
                  <a:lnTo>
                    <a:pt x="49" y="0"/>
                  </a:lnTo>
                  <a:lnTo>
                    <a:pt x="49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2" name="Freeform 92"/>
            <p:cNvSpPr>
              <a:spLocks noChangeArrowheads="1"/>
            </p:cNvSpPr>
            <p:nvPr/>
          </p:nvSpPr>
          <p:spPr bwMode="auto">
            <a:xfrm>
              <a:off x="4330" y="2381"/>
              <a:ext cx="16" cy="5"/>
            </a:xfrm>
            <a:custGeom>
              <a:avLst/>
              <a:gdLst>
                <a:gd name="T0" fmla="*/ 48 w 49"/>
                <a:gd name="T1" fmla="*/ 0 h 13"/>
                <a:gd name="T2" fmla="*/ 0 w 49"/>
                <a:gd name="T3" fmla="*/ 6 h 13"/>
                <a:gd name="T4" fmla="*/ 1 w 49"/>
                <a:gd name="T5" fmla="*/ 13 h 13"/>
                <a:gd name="T6" fmla="*/ 49 w 49"/>
                <a:gd name="T7" fmla="*/ 8 h 13"/>
                <a:gd name="T8" fmla="*/ 48 w 49"/>
                <a:gd name="T9" fmla="*/ 0 h 13"/>
                <a:gd name="T10" fmla="*/ 48 w 49"/>
                <a:gd name="T11" fmla="*/ 0 h 13"/>
                <a:gd name="T12" fmla="*/ 48 w 49"/>
                <a:gd name="T13" fmla="*/ 0 h 13"/>
                <a:gd name="T14" fmla="*/ 48 w 49"/>
                <a:gd name="T15" fmla="*/ 0 h 13"/>
                <a:gd name="T16" fmla="*/ 48 w 49"/>
                <a:gd name="T1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3">
                  <a:moveTo>
                    <a:pt x="48" y="0"/>
                  </a:moveTo>
                  <a:lnTo>
                    <a:pt x="0" y="6"/>
                  </a:lnTo>
                  <a:lnTo>
                    <a:pt x="1" y="13"/>
                  </a:lnTo>
                  <a:lnTo>
                    <a:pt x="49" y="8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3" name="Freeform 93"/>
            <p:cNvSpPr>
              <a:spLocks noChangeArrowheads="1"/>
            </p:cNvSpPr>
            <p:nvPr/>
          </p:nvSpPr>
          <p:spPr bwMode="auto">
            <a:xfrm>
              <a:off x="4329" y="2379"/>
              <a:ext cx="17" cy="5"/>
            </a:xfrm>
            <a:custGeom>
              <a:avLst/>
              <a:gdLst>
                <a:gd name="T0" fmla="*/ 47 w 49"/>
                <a:gd name="T1" fmla="*/ 0 h 15"/>
                <a:gd name="T2" fmla="*/ 0 w 49"/>
                <a:gd name="T3" fmla="*/ 7 h 15"/>
                <a:gd name="T4" fmla="*/ 1 w 49"/>
                <a:gd name="T5" fmla="*/ 15 h 15"/>
                <a:gd name="T6" fmla="*/ 49 w 49"/>
                <a:gd name="T7" fmla="*/ 8 h 15"/>
                <a:gd name="T8" fmla="*/ 47 w 49"/>
                <a:gd name="T9" fmla="*/ 1 h 15"/>
                <a:gd name="T10" fmla="*/ 47 w 49"/>
                <a:gd name="T11" fmla="*/ 0 h 15"/>
                <a:gd name="T12" fmla="*/ 47 w 49"/>
                <a:gd name="T13" fmla="*/ 1 h 15"/>
                <a:gd name="T14" fmla="*/ 47 w 49"/>
                <a:gd name="T15" fmla="*/ 1 h 15"/>
                <a:gd name="T16" fmla="*/ 47 w 49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5">
                  <a:moveTo>
                    <a:pt x="47" y="0"/>
                  </a:moveTo>
                  <a:lnTo>
                    <a:pt x="0" y="7"/>
                  </a:lnTo>
                  <a:lnTo>
                    <a:pt x="1" y="15"/>
                  </a:lnTo>
                  <a:lnTo>
                    <a:pt x="49" y="8"/>
                  </a:lnTo>
                  <a:lnTo>
                    <a:pt x="47" y="1"/>
                  </a:lnTo>
                  <a:lnTo>
                    <a:pt x="47" y="0"/>
                  </a:lnTo>
                  <a:lnTo>
                    <a:pt x="47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4" name="Freeform 94"/>
            <p:cNvSpPr>
              <a:spLocks noChangeArrowheads="1"/>
            </p:cNvSpPr>
            <p:nvPr/>
          </p:nvSpPr>
          <p:spPr bwMode="auto">
            <a:xfrm>
              <a:off x="4329" y="2376"/>
              <a:ext cx="16" cy="5"/>
            </a:xfrm>
            <a:custGeom>
              <a:avLst/>
              <a:gdLst>
                <a:gd name="T0" fmla="*/ 47 w 48"/>
                <a:gd name="T1" fmla="*/ 0 h 15"/>
                <a:gd name="T2" fmla="*/ 0 w 48"/>
                <a:gd name="T3" fmla="*/ 8 h 15"/>
                <a:gd name="T4" fmla="*/ 1 w 48"/>
                <a:gd name="T5" fmla="*/ 15 h 15"/>
                <a:gd name="T6" fmla="*/ 48 w 48"/>
                <a:gd name="T7" fmla="*/ 7 h 15"/>
                <a:gd name="T8" fmla="*/ 47 w 48"/>
                <a:gd name="T9" fmla="*/ 0 h 15"/>
                <a:gd name="T10" fmla="*/ 47 w 48"/>
                <a:gd name="T11" fmla="*/ 0 h 15"/>
                <a:gd name="T12" fmla="*/ 47 w 48"/>
                <a:gd name="T13" fmla="*/ 0 h 15"/>
                <a:gd name="T14" fmla="*/ 47 w 48"/>
                <a:gd name="T15" fmla="*/ 0 h 15"/>
                <a:gd name="T16" fmla="*/ 47 w 48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5">
                  <a:moveTo>
                    <a:pt x="47" y="0"/>
                  </a:moveTo>
                  <a:lnTo>
                    <a:pt x="0" y="8"/>
                  </a:lnTo>
                  <a:lnTo>
                    <a:pt x="1" y="15"/>
                  </a:lnTo>
                  <a:lnTo>
                    <a:pt x="48" y="7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5" name="Freeform 95"/>
            <p:cNvSpPr>
              <a:spLocks noChangeArrowheads="1"/>
            </p:cNvSpPr>
            <p:nvPr/>
          </p:nvSpPr>
          <p:spPr bwMode="auto">
            <a:xfrm>
              <a:off x="4329" y="2374"/>
              <a:ext cx="16" cy="5"/>
            </a:xfrm>
            <a:custGeom>
              <a:avLst/>
              <a:gdLst>
                <a:gd name="T0" fmla="*/ 46 w 48"/>
                <a:gd name="T1" fmla="*/ 0 h 17"/>
                <a:gd name="T2" fmla="*/ 0 w 48"/>
                <a:gd name="T3" fmla="*/ 10 h 17"/>
                <a:gd name="T4" fmla="*/ 1 w 48"/>
                <a:gd name="T5" fmla="*/ 17 h 17"/>
                <a:gd name="T6" fmla="*/ 48 w 48"/>
                <a:gd name="T7" fmla="*/ 8 h 17"/>
                <a:gd name="T8" fmla="*/ 46 w 48"/>
                <a:gd name="T9" fmla="*/ 1 h 17"/>
                <a:gd name="T10" fmla="*/ 46 w 48"/>
                <a:gd name="T11" fmla="*/ 0 h 17"/>
                <a:gd name="T12" fmla="*/ 46 w 48"/>
                <a:gd name="T13" fmla="*/ 1 h 17"/>
                <a:gd name="T14" fmla="*/ 46 w 48"/>
                <a:gd name="T15" fmla="*/ 0 h 17"/>
                <a:gd name="T16" fmla="*/ 46 w 48"/>
                <a:gd name="T1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7">
                  <a:moveTo>
                    <a:pt x="46" y="0"/>
                  </a:moveTo>
                  <a:lnTo>
                    <a:pt x="0" y="10"/>
                  </a:lnTo>
                  <a:lnTo>
                    <a:pt x="1" y="17"/>
                  </a:lnTo>
                  <a:lnTo>
                    <a:pt x="48" y="8"/>
                  </a:lnTo>
                  <a:lnTo>
                    <a:pt x="46" y="1"/>
                  </a:lnTo>
                  <a:lnTo>
                    <a:pt x="46" y="0"/>
                  </a:lnTo>
                  <a:lnTo>
                    <a:pt x="46" y="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6" name="Freeform 96"/>
            <p:cNvSpPr>
              <a:spLocks noChangeArrowheads="1"/>
            </p:cNvSpPr>
            <p:nvPr/>
          </p:nvSpPr>
          <p:spPr bwMode="auto">
            <a:xfrm>
              <a:off x="4328" y="2371"/>
              <a:ext cx="16" cy="6"/>
            </a:xfrm>
            <a:custGeom>
              <a:avLst/>
              <a:gdLst>
                <a:gd name="T0" fmla="*/ 47 w 48"/>
                <a:gd name="T1" fmla="*/ 0 h 18"/>
                <a:gd name="T2" fmla="*/ 0 w 48"/>
                <a:gd name="T3" fmla="*/ 10 h 18"/>
                <a:gd name="T4" fmla="*/ 2 w 48"/>
                <a:gd name="T5" fmla="*/ 18 h 18"/>
                <a:gd name="T6" fmla="*/ 48 w 48"/>
                <a:gd name="T7" fmla="*/ 7 h 18"/>
                <a:gd name="T8" fmla="*/ 47 w 48"/>
                <a:gd name="T9" fmla="*/ 1 h 18"/>
                <a:gd name="T10" fmla="*/ 47 w 48"/>
                <a:gd name="T11" fmla="*/ 0 h 18"/>
                <a:gd name="T12" fmla="*/ 47 w 48"/>
                <a:gd name="T13" fmla="*/ 1 h 18"/>
                <a:gd name="T14" fmla="*/ 47 w 48"/>
                <a:gd name="T15" fmla="*/ 0 h 18"/>
                <a:gd name="T16" fmla="*/ 47 w 48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8">
                  <a:moveTo>
                    <a:pt x="47" y="0"/>
                  </a:moveTo>
                  <a:lnTo>
                    <a:pt x="0" y="10"/>
                  </a:lnTo>
                  <a:lnTo>
                    <a:pt x="2" y="18"/>
                  </a:lnTo>
                  <a:lnTo>
                    <a:pt x="48" y="7"/>
                  </a:lnTo>
                  <a:lnTo>
                    <a:pt x="47" y="1"/>
                  </a:lnTo>
                  <a:lnTo>
                    <a:pt x="47" y="0"/>
                  </a:lnTo>
                  <a:lnTo>
                    <a:pt x="47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7" name="Freeform 97"/>
            <p:cNvSpPr>
              <a:spLocks noChangeArrowheads="1"/>
            </p:cNvSpPr>
            <p:nvPr/>
          </p:nvSpPr>
          <p:spPr bwMode="auto">
            <a:xfrm>
              <a:off x="4328" y="2369"/>
              <a:ext cx="16" cy="6"/>
            </a:xfrm>
            <a:custGeom>
              <a:avLst/>
              <a:gdLst>
                <a:gd name="T0" fmla="*/ 46 w 48"/>
                <a:gd name="T1" fmla="*/ 0 h 19"/>
                <a:gd name="T2" fmla="*/ 0 w 48"/>
                <a:gd name="T3" fmla="*/ 13 h 19"/>
                <a:gd name="T4" fmla="*/ 2 w 48"/>
                <a:gd name="T5" fmla="*/ 19 h 19"/>
                <a:gd name="T6" fmla="*/ 48 w 48"/>
                <a:gd name="T7" fmla="*/ 8 h 19"/>
                <a:gd name="T8" fmla="*/ 46 w 48"/>
                <a:gd name="T9" fmla="*/ 2 h 19"/>
                <a:gd name="T10" fmla="*/ 46 w 48"/>
                <a:gd name="T11" fmla="*/ 0 h 19"/>
                <a:gd name="T12" fmla="*/ 46 w 48"/>
                <a:gd name="T13" fmla="*/ 2 h 19"/>
                <a:gd name="T14" fmla="*/ 46 w 48"/>
                <a:gd name="T15" fmla="*/ 2 h 19"/>
                <a:gd name="T16" fmla="*/ 46 w 48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9">
                  <a:moveTo>
                    <a:pt x="46" y="0"/>
                  </a:moveTo>
                  <a:lnTo>
                    <a:pt x="0" y="13"/>
                  </a:lnTo>
                  <a:lnTo>
                    <a:pt x="2" y="19"/>
                  </a:lnTo>
                  <a:lnTo>
                    <a:pt x="48" y="8"/>
                  </a:lnTo>
                  <a:lnTo>
                    <a:pt x="46" y="2"/>
                  </a:lnTo>
                  <a:lnTo>
                    <a:pt x="46" y="0"/>
                  </a:lnTo>
                  <a:lnTo>
                    <a:pt x="46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8" name="Freeform 98"/>
            <p:cNvSpPr>
              <a:spLocks noChangeArrowheads="1"/>
            </p:cNvSpPr>
            <p:nvPr/>
          </p:nvSpPr>
          <p:spPr bwMode="auto">
            <a:xfrm>
              <a:off x="4327" y="2367"/>
              <a:ext cx="16" cy="6"/>
            </a:xfrm>
            <a:custGeom>
              <a:avLst/>
              <a:gdLst>
                <a:gd name="T0" fmla="*/ 45 w 47"/>
                <a:gd name="T1" fmla="*/ 0 h 20"/>
                <a:gd name="T2" fmla="*/ 0 w 47"/>
                <a:gd name="T3" fmla="*/ 13 h 20"/>
                <a:gd name="T4" fmla="*/ 1 w 47"/>
                <a:gd name="T5" fmla="*/ 20 h 20"/>
                <a:gd name="T6" fmla="*/ 47 w 47"/>
                <a:gd name="T7" fmla="*/ 6 h 20"/>
                <a:gd name="T8" fmla="*/ 45 w 47"/>
                <a:gd name="T9" fmla="*/ 0 h 20"/>
                <a:gd name="T10" fmla="*/ 45 w 47"/>
                <a:gd name="T11" fmla="*/ 0 h 20"/>
                <a:gd name="T12" fmla="*/ 45 w 47"/>
                <a:gd name="T13" fmla="*/ 0 h 20"/>
                <a:gd name="T14" fmla="*/ 45 w 47"/>
                <a:gd name="T15" fmla="*/ 0 h 20"/>
                <a:gd name="T16" fmla="*/ 45 w 4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0">
                  <a:moveTo>
                    <a:pt x="45" y="0"/>
                  </a:moveTo>
                  <a:lnTo>
                    <a:pt x="0" y="13"/>
                  </a:lnTo>
                  <a:lnTo>
                    <a:pt x="1" y="20"/>
                  </a:lnTo>
                  <a:lnTo>
                    <a:pt x="47" y="6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9" name="Freeform 99"/>
            <p:cNvSpPr>
              <a:spLocks noChangeArrowheads="1"/>
            </p:cNvSpPr>
            <p:nvPr/>
          </p:nvSpPr>
          <p:spPr bwMode="auto">
            <a:xfrm>
              <a:off x="4327" y="2364"/>
              <a:ext cx="15" cy="7"/>
            </a:xfrm>
            <a:custGeom>
              <a:avLst/>
              <a:gdLst>
                <a:gd name="T0" fmla="*/ 45 w 47"/>
                <a:gd name="T1" fmla="*/ 0 h 22"/>
                <a:gd name="T2" fmla="*/ 0 w 47"/>
                <a:gd name="T3" fmla="*/ 16 h 22"/>
                <a:gd name="T4" fmla="*/ 2 w 47"/>
                <a:gd name="T5" fmla="*/ 22 h 22"/>
                <a:gd name="T6" fmla="*/ 47 w 47"/>
                <a:gd name="T7" fmla="*/ 8 h 22"/>
                <a:gd name="T8" fmla="*/ 45 w 47"/>
                <a:gd name="T9" fmla="*/ 2 h 22"/>
                <a:gd name="T10" fmla="*/ 45 w 47"/>
                <a:gd name="T11" fmla="*/ 0 h 22"/>
                <a:gd name="T12" fmla="*/ 45 w 47"/>
                <a:gd name="T13" fmla="*/ 2 h 22"/>
                <a:gd name="T14" fmla="*/ 45 w 47"/>
                <a:gd name="T15" fmla="*/ 1 h 22"/>
                <a:gd name="T16" fmla="*/ 45 w 47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2">
                  <a:moveTo>
                    <a:pt x="45" y="0"/>
                  </a:moveTo>
                  <a:lnTo>
                    <a:pt x="0" y="16"/>
                  </a:lnTo>
                  <a:lnTo>
                    <a:pt x="2" y="22"/>
                  </a:lnTo>
                  <a:lnTo>
                    <a:pt x="47" y="8"/>
                  </a:lnTo>
                  <a:lnTo>
                    <a:pt x="45" y="2"/>
                  </a:lnTo>
                  <a:lnTo>
                    <a:pt x="45" y="0"/>
                  </a:lnTo>
                  <a:lnTo>
                    <a:pt x="45" y="2"/>
                  </a:lnTo>
                  <a:lnTo>
                    <a:pt x="45" y="1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0" name="Freeform 100"/>
            <p:cNvSpPr>
              <a:spLocks noChangeArrowheads="1"/>
            </p:cNvSpPr>
            <p:nvPr/>
          </p:nvSpPr>
          <p:spPr bwMode="auto">
            <a:xfrm>
              <a:off x="4326" y="2362"/>
              <a:ext cx="16" cy="8"/>
            </a:xfrm>
            <a:custGeom>
              <a:avLst/>
              <a:gdLst>
                <a:gd name="T0" fmla="*/ 0 w 47"/>
                <a:gd name="T1" fmla="*/ 16 h 22"/>
                <a:gd name="T2" fmla="*/ 0 w 47"/>
                <a:gd name="T3" fmla="*/ 16 h 22"/>
                <a:gd name="T4" fmla="*/ 2 w 47"/>
                <a:gd name="T5" fmla="*/ 22 h 22"/>
                <a:gd name="T6" fmla="*/ 47 w 47"/>
                <a:gd name="T7" fmla="*/ 5 h 22"/>
                <a:gd name="T8" fmla="*/ 45 w 47"/>
                <a:gd name="T9" fmla="*/ 0 h 22"/>
                <a:gd name="T10" fmla="*/ 0 w 47"/>
                <a:gd name="T11" fmla="*/ 16 h 22"/>
                <a:gd name="T12" fmla="*/ 0 w 47"/>
                <a:gd name="T13" fmla="*/ 16 h 22"/>
                <a:gd name="T14" fmla="*/ 0 w 47"/>
                <a:gd name="T15" fmla="*/ 16 h 22"/>
                <a:gd name="T16" fmla="*/ 0 w 47"/>
                <a:gd name="T17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2">
                  <a:moveTo>
                    <a:pt x="0" y="16"/>
                  </a:moveTo>
                  <a:lnTo>
                    <a:pt x="0" y="16"/>
                  </a:lnTo>
                  <a:lnTo>
                    <a:pt x="2" y="22"/>
                  </a:lnTo>
                  <a:lnTo>
                    <a:pt x="47" y="5"/>
                  </a:lnTo>
                  <a:lnTo>
                    <a:pt x="45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1" name="Freeform 101"/>
            <p:cNvSpPr>
              <a:spLocks noChangeArrowheads="1"/>
            </p:cNvSpPr>
            <p:nvPr/>
          </p:nvSpPr>
          <p:spPr bwMode="auto">
            <a:xfrm>
              <a:off x="4325" y="2360"/>
              <a:ext cx="16" cy="8"/>
            </a:xfrm>
            <a:custGeom>
              <a:avLst/>
              <a:gdLst>
                <a:gd name="T0" fmla="*/ 45 w 48"/>
                <a:gd name="T1" fmla="*/ 0 h 24"/>
                <a:gd name="T2" fmla="*/ 0 w 48"/>
                <a:gd name="T3" fmla="*/ 18 h 24"/>
                <a:gd name="T4" fmla="*/ 3 w 48"/>
                <a:gd name="T5" fmla="*/ 24 h 24"/>
                <a:gd name="T6" fmla="*/ 48 w 48"/>
                <a:gd name="T7" fmla="*/ 8 h 24"/>
                <a:gd name="T8" fmla="*/ 46 w 48"/>
                <a:gd name="T9" fmla="*/ 1 h 24"/>
                <a:gd name="T10" fmla="*/ 45 w 48"/>
                <a:gd name="T11" fmla="*/ 0 h 24"/>
                <a:gd name="T12" fmla="*/ 46 w 48"/>
                <a:gd name="T13" fmla="*/ 1 h 24"/>
                <a:gd name="T14" fmla="*/ 46 w 48"/>
                <a:gd name="T15" fmla="*/ 1 h 24"/>
                <a:gd name="T16" fmla="*/ 45 w 4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24">
                  <a:moveTo>
                    <a:pt x="45" y="0"/>
                  </a:moveTo>
                  <a:lnTo>
                    <a:pt x="0" y="18"/>
                  </a:lnTo>
                  <a:lnTo>
                    <a:pt x="3" y="24"/>
                  </a:lnTo>
                  <a:lnTo>
                    <a:pt x="48" y="8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6" y="1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2" name="Freeform 102"/>
            <p:cNvSpPr>
              <a:spLocks noChangeArrowheads="1"/>
            </p:cNvSpPr>
            <p:nvPr/>
          </p:nvSpPr>
          <p:spPr bwMode="auto">
            <a:xfrm>
              <a:off x="4324" y="2358"/>
              <a:ext cx="16" cy="8"/>
            </a:xfrm>
            <a:custGeom>
              <a:avLst/>
              <a:gdLst>
                <a:gd name="T0" fmla="*/ 45 w 47"/>
                <a:gd name="T1" fmla="*/ 0 h 25"/>
                <a:gd name="T2" fmla="*/ 0 w 47"/>
                <a:gd name="T3" fmla="*/ 20 h 25"/>
                <a:gd name="T4" fmla="*/ 4 w 47"/>
                <a:gd name="T5" fmla="*/ 25 h 25"/>
                <a:gd name="T6" fmla="*/ 47 w 47"/>
                <a:gd name="T7" fmla="*/ 6 h 25"/>
                <a:gd name="T8" fmla="*/ 45 w 47"/>
                <a:gd name="T9" fmla="*/ 1 h 25"/>
                <a:gd name="T10" fmla="*/ 45 w 47"/>
                <a:gd name="T11" fmla="*/ 0 h 25"/>
                <a:gd name="T12" fmla="*/ 45 w 47"/>
                <a:gd name="T13" fmla="*/ 1 h 25"/>
                <a:gd name="T14" fmla="*/ 45 w 47"/>
                <a:gd name="T15" fmla="*/ 1 h 25"/>
                <a:gd name="T16" fmla="*/ 45 w 47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5">
                  <a:moveTo>
                    <a:pt x="45" y="0"/>
                  </a:moveTo>
                  <a:lnTo>
                    <a:pt x="0" y="20"/>
                  </a:lnTo>
                  <a:lnTo>
                    <a:pt x="4" y="25"/>
                  </a:lnTo>
                  <a:lnTo>
                    <a:pt x="47" y="6"/>
                  </a:lnTo>
                  <a:lnTo>
                    <a:pt x="45" y="1"/>
                  </a:lnTo>
                  <a:lnTo>
                    <a:pt x="45" y="0"/>
                  </a:lnTo>
                  <a:lnTo>
                    <a:pt x="45" y="1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3" name="Freeform 103"/>
            <p:cNvSpPr>
              <a:spLocks noChangeArrowheads="1"/>
            </p:cNvSpPr>
            <p:nvPr/>
          </p:nvSpPr>
          <p:spPr bwMode="auto">
            <a:xfrm>
              <a:off x="4324" y="2356"/>
              <a:ext cx="15" cy="8"/>
            </a:xfrm>
            <a:custGeom>
              <a:avLst/>
              <a:gdLst>
                <a:gd name="T0" fmla="*/ 43 w 47"/>
                <a:gd name="T1" fmla="*/ 0 h 26"/>
                <a:gd name="T2" fmla="*/ 0 w 47"/>
                <a:gd name="T3" fmla="*/ 21 h 26"/>
                <a:gd name="T4" fmla="*/ 2 w 47"/>
                <a:gd name="T5" fmla="*/ 26 h 26"/>
                <a:gd name="T6" fmla="*/ 47 w 47"/>
                <a:gd name="T7" fmla="*/ 6 h 26"/>
                <a:gd name="T8" fmla="*/ 43 w 47"/>
                <a:gd name="T9" fmla="*/ 1 h 26"/>
                <a:gd name="T10" fmla="*/ 43 w 47"/>
                <a:gd name="T11" fmla="*/ 0 h 26"/>
                <a:gd name="T12" fmla="*/ 43 w 47"/>
                <a:gd name="T13" fmla="*/ 1 h 26"/>
                <a:gd name="T14" fmla="*/ 43 w 47"/>
                <a:gd name="T15" fmla="*/ 1 h 26"/>
                <a:gd name="T16" fmla="*/ 43 w 47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6">
                  <a:moveTo>
                    <a:pt x="43" y="0"/>
                  </a:moveTo>
                  <a:lnTo>
                    <a:pt x="0" y="21"/>
                  </a:lnTo>
                  <a:lnTo>
                    <a:pt x="2" y="26"/>
                  </a:lnTo>
                  <a:lnTo>
                    <a:pt x="47" y="6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4" name="Freeform 104"/>
            <p:cNvSpPr>
              <a:spLocks noChangeArrowheads="1"/>
            </p:cNvSpPr>
            <p:nvPr/>
          </p:nvSpPr>
          <p:spPr bwMode="auto">
            <a:xfrm>
              <a:off x="4323" y="2353"/>
              <a:ext cx="15" cy="10"/>
            </a:xfrm>
            <a:custGeom>
              <a:avLst/>
              <a:gdLst>
                <a:gd name="T0" fmla="*/ 42 w 45"/>
                <a:gd name="T1" fmla="*/ 0 h 30"/>
                <a:gd name="T2" fmla="*/ 0 w 45"/>
                <a:gd name="T3" fmla="*/ 24 h 30"/>
                <a:gd name="T4" fmla="*/ 3 w 45"/>
                <a:gd name="T5" fmla="*/ 30 h 30"/>
                <a:gd name="T6" fmla="*/ 45 w 45"/>
                <a:gd name="T7" fmla="*/ 7 h 30"/>
                <a:gd name="T8" fmla="*/ 42 w 45"/>
                <a:gd name="T9" fmla="*/ 1 h 30"/>
                <a:gd name="T10" fmla="*/ 42 w 45"/>
                <a:gd name="T11" fmla="*/ 0 h 30"/>
                <a:gd name="T12" fmla="*/ 42 w 45"/>
                <a:gd name="T13" fmla="*/ 1 h 30"/>
                <a:gd name="T14" fmla="*/ 42 w 45"/>
                <a:gd name="T15" fmla="*/ 1 h 30"/>
                <a:gd name="T16" fmla="*/ 42 w 45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30">
                  <a:moveTo>
                    <a:pt x="42" y="0"/>
                  </a:moveTo>
                  <a:lnTo>
                    <a:pt x="0" y="24"/>
                  </a:lnTo>
                  <a:lnTo>
                    <a:pt x="3" y="30"/>
                  </a:lnTo>
                  <a:lnTo>
                    <a:pt x="45" y="7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1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5" name="Freeform 105"/>
            <p:cNvSpPr>
              <a:spLocks noChangeArrowheads="1"/>
            </p:cNvSpPr>
            <p:nvPr/>
          </p:nvSpPr>
          <p:spPr bwMode="auto">
            <a:xfrm>
              <a:off x="4322" y="2352"/>
              <a:ext cx="15" cy="10"/>
            </a:xfrm>
            <a:custGeom>
              <a:avLst/>
              <a:gdLst>
                <a:gd name="T0" fmla="*/ 41 w 44"/>
                <a:gd name="T1" fmla="*/ 0 h 30"/>
                <a:gd name="T2" fmla="*/ 0 w 44"/>
                <a:gd name="T3" fmla="*/ 25 h 30"/>
                <a:gd name="T4" fmla="*/ 3 w 44"/>
                <a:gd name="T5" fmla="*/ 30 h 30"/>
                <a:gd name="T6" fmla="*/ 44 w 44"/>
                <a:gd name="T7" fmla="*/ 5 h 30"/>
                <a:gd name="T8" fmla="*/ 41 w 44"/>
                <a:gd name="T9" fmla="*/ 1 h 30"/>
                <a:gd name="T10" fmla="*/ 41 w 44"/>
                <a:gd name="T11" fmla="*/ 0 h 30"/>
                <a:gd name="T12" fmla="*/ 41 w 44"/>
                <a:gd name="T13" fmla="*/ 1 h 30"/>
                <a:gd name="T14" fmla="*/ 41 w 44"/>
                <a:gd name="T15" fmla="*/ 1 h 30"/>
                <a:gd name="T16" fmla="*/ 41 w 44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30">
                  <a:moveTo>
                    <a:pt x="41" y="0"/>
                  </a:moveTo>
                  <a:lnTo>
                    <a:pt x="0" y="25"/>
                  </a:lnTo>
                  <a:lnTo>
                    <a:pt x="3" y="30"/>
                  </a:lnTo>
                  <a:lnTo>
                    <a:pt x="44" y="5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6" name="Freeform 106"/>
            <p:cNvSpPr>
              <a:spLocks noChangeArrowheads="1"/>
            </p:cNvSpPr>
            <p:nvPr/>
          </p:nvSpPr>
          <p:spPr bwMode="auto">
            <a:xfrm>
              <a:off x="4322" y="2350"/>
              <a:ext cx="14" cy="10"/>
            </a:xfrm>
            <a:custGeom>
              <a:avLst/>
              <a:gdLst>
                <a:gd name="T0" fmla="*/ 40 w 43"/>
                <a:gd name="T1" fmla="*/ 0 h 31"/>
                <a:gd name="T2" fmla="*/ 0 w 43"/>
                <a:gd name="T3" fmla="*/ 27 h 31"/>
                <a:gd name="T4" fmla="*/ 2 w 43"/>
                <a:gd name="T5" fmla="*/ 31 h 31"/>
                <a:gd name="T6" fmla="*/ 43 w 43"/>
                <a:gd name="T7" fmla="*/ 5 h 31"/>
                <a:gd name="T8" fmla="*/ 40 w 43"/>
                <a:gd name="T9" fmla="*/ 1 h 31"/>
                <a:gd name="T10" fmla="*/ 40 w 43"/>
                <a:gd name="T11" fmla="*/ 0 h 31"/>
                <a:gd name="T12" fmla="*/ 40 w 43"/>
                <a:gd name="T13" fmla="*/ 1 h 31"/>
                <a:gd name="T14" fmla="*/ 40 w 43"/>
                <a:gd name="T15" fmla="*/ 1 h 31"/>
                <a:gd name="T16" fmla="*/ 40 w 43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31">
                  <a:moveTo>
                    <a:pt x="40" y="0"/>
                  </a:moveTo>
                  <a:lnTo>
                    <a:pt x="0" y="27"/>
                  </a:lnTo>
                  <a:lnTo>
                    <a:pt x="2" y="31"/>
                  </a:lnTo>
                  <a:lnTo>
                    <a:pt x="43" y="5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40" y="1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7" name="Freeform 107"/>
            <p:cNvSpPr>
              <a:spLocks noChangeArrowheads="1"/>
            </p:cNvSpPr>
            <p:nvPr/>
          </p:nvSpPr>
          <p:spPr bwMode="auto">
            <a:xfrm>
              <a:off x="4321" y="2348"/>
              <a:ext cx="14" cy="11"/>
            </a:xfrm>
            <a:custGeom>
              <a:avLst/>
              <a:gdLst>
                <a:gd name="T0" fmla="*/ 39 w 43"/>
                <a:gd name="T1" fmla="*/ 0 h 32"/>
                <a:gd name="T2" fmla="*/ 0 w 43"/>
                <a:gd name="T3" fmla="*/ 28 h 32"/>
                <a:gd name="T4" fmla="*/ 3 w 43"/>
                <a:gd name="T5" fmla="*/ 32 h 32"/>
                <a:gd name="T6" fmla="*/ 43 w 43"/>
                <a:gd name="T7" fmla="*/ 5 h 32"/>
                <a:gd name="T8" fmla="*/ 40 w 43"/>
                <a:gd name="T9" fmla="*/ 1 h 32"/>
                <a:gd name="T10" fmla="*/ 39 w 43"/>
                <a:gd name="T11" fmla="*/ 0 h 32"/>
                <a:gd name="T12" fmla="*/ 40 w 43"/>
                <a:gd name="T13" fmla="*/ 1 h 32"/>
                <a:gd name="T14" fmla="*/ 39 w 43"/>
                <a:gd name="T15" fmla="*/ 1 h 32"/>
                <a:gd name="T16" fmla="*/ 39 w 43"/>
                <a:gd name="T1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32">
                  <a:moveTo>
                    <a:pt x="39" y="0"/>
                  </a:moveTo>
                  <a:lnTo>
                    <a:pt x="0" y="28"/>
                  </a:lnTo>
                  <a:lnTo>
                    <a:pt x="3" y="32"/>
                  </a:lnTo>
                  <a:lnTo>
                    <a:pt x="43" y="5"/>
                  </a:lnTo>
                  <a:lnTo>
                    <a:pt x="40" y="1"/>
                  </a:lnTo>
                  <a:lnTo>
                    <a:pt x="39" y="0"/>
                  </a:lnTo>
                  <a:lnTo>
                    <a:pt x="40" y="1"/>
                  </a:lnTo>
                  <a:lnTo>
                    <a:pt x="39" y="1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8" name="Freeform 108"/>
            <p:cNvSpPr>
              <a:spLocks noChangeArrowheads="1"/>
            </p:cNvSpPr>
            <p:nvPr/>
          </p:nvSpPr>
          <p:spPr bwMode="auto">
            <a:xfrm>
              <a:off x="4320" y="2346"/>
              <a:ext cx="14" cy="12"/>
            </a:xfrm>
            <a:custGeom>
              <a:avLst/>
              <a:gdLst>
                <a:gd name="T0" fmla="*/ 37 w 41"/>
                <a:gd name="T1" fmla="*/ 0 h 36"/>
                <a:gd name="T2" fmla="*/ 0 w 41"/>
                <a:gd name="T3" fmla="*/ 32 h 36"/>
                <a:gd name="T4" fmla="*/ 3 w 41"/>
                <a:gd name="T5" fmla="*/ 36 h 36"/>
                <a:gd name="T6" fmla="*/ 41 w 41"/>
                <a:gd name="T7" fmla="*/ 6 h 36"/>
                <a:gd name="T8" fmla="*/ 38 w 41"/>
                <a:gd name="T9" fmla="*/ 1 h 36"/>
                <a:gd name="T10" fmla="*/ 37 w 41"/>
                <a:gd name="T11" fmla="*/ 0 h 36"/>
                <a:gd name="T12" fmla="*/ 38 w 41"/>
                <a:gd name="T13" fmla="*/ 1 h 36"/>
                <a:gd name="T14" fmla="*/ 37 w 41"/>
                <a:gd name="T15" fmla="*/ 1 h 36"/>
                <a:gd name="T16" fmla="*/ 37 w 41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36">
                  <a:moveTo>
                    <a:pt x="37" y="0"/>
                  </a:moveTo>
                  <a:lnTo>
                    <a:pt x="0" y="32"/>
                  </a:lnTo>
                  <a:lnTo>
                    <a:pt x="3" y="36"/>
                  </a:lnTo>
                  <a:lnTo>
                    <a:pt x="41" y="6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9" name="Freeform 109"/>
            <p:cNvSpPr>
              <a:spLocks noChangeArrowheads="1"/>
            </p:cNvSpPr>
            <p:nvPr/>
          </p:nvSpPr>
          <p:spPr bwMode="auto">
            <a:xfrm>
              <a:off x="4319" y="2345"/>
              <a:ext cx="13" cy="12"/>
            </a:xfrm>
            <a:custGeom>
              <a:avLst/>
              <a:gdLst>
                <a:gd name="T0" fmla="*/ 34 w 39"/>
                <a:gd name="T1" fmla="*/ 0 h 37"/>
                <a:gd name="T2" fmla="*/ 0 w 39"/>
                <a:gd name="T3" fmla="*/ 33 h 37"/>
                <a:gd name="T4" fmla="*/ 3 w 39"/>
                <a:gd name="T5" fmla="*/ 37 h 37"/>
                <a:gd name="T6" fmla="*/ 39 w 39"/>
                <a:gd name="T7" fmla="*/ 4 h 37"/>
                <a:gd name="T8" fmla="*/ 35 w 39"/>
                <a:gd name="T9" fmla="*/ 1 h 37"/>
                <a:gd name="T10" fmla="*/ 34 w 39"/>
                <a:gd name="T11" fmla="*/ 0 h 37"/>
                <a:gd name="T12" fmla="*/ 35 w 39"/>
                <a:gd name="T13" fmla="*/ 1 h 37"/>
                <a:gd name="T14" fmla="*/ 34 w 39"/>
                <a:gd name="T15" fmla="*/ 0 h 37"/>
                <a:gd name="T16" fmla="*/ 34 w 3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7">
                  <a:moveTo>
                    <a:pt x="34" y="0"/>
                  </a:moveTo>
                  <a:lnTo>
                    <a:pt x="0" y="33"/>
                  </a:lnTo>
                  <a:lnTo>
                    <a:pt x="3" y="37"/>
                  </a:lnTo>
                  <a:lnTo>
                    <a:pt x="39" y="4"/>
                  </a:lnTo>
                  <a:lnTo>
                    <a:pt x="35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0" name="Freeform 110"/>
            <p:cNvSpPr>
              <a:spLocks noChangeArrowheads="1"/>
            </p:cNvSpPr>
            <p:nvPr/>
          </p:nvSpPr>
          <p:spPr bwMode="auto">
            <a:xfrm>
              <a:off x="4318" y="2344"/>
              <a:ext cx="13" cy="12"/>
            </a:xfrm>
            <a:custGeom>
              <a:avLst/>
              <a:gdLst>
                <a:gd name="T0" fmla="*/ 33 w 37"/>
                <a:gd name="T1" fmla="*/ 0 h 38"/>
                <a:gd name="T2" fmla="*/ 0 w 37"/>
                <a:gd name="T3" fmla="*/ 35 h 38"/>
                <a:gd name="T4" fmla="*/ 4 w 37"/>
                <a:gd name="T5" fmla="*/ 38 h 38"/>
                <a:gd name="T6" fmla="*/ 37 w 37"/>
                <a:gd name="T7" fmla="*/ 4 h 38"/>
                <a:gd name="T8" fmla="*/ 34 w 37"/>
                <a:gd name="T9" fmla="*/ 1 h 38"/>
                <a:gd name="T10" fmla="*/ 33 w 37"/>
                <a:gd name="T11" fmla="*/ 0 h 38"/>
                <a:gd name="T12" fmla="*/ 34 w 37"/>
                <a:gd name="T13" fmla="*/ 1 h 38"/>
                <a:gd name="T14" fmla="*/ 34 w 37"/>
                <a:gd name="T15" fmla="*/ 1 h 38"/>
                <a:gd name="T16" fmla="*/ 33 w 37"/>
                <a:gd name="T1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8">
                  <a:moveTo>
                    <a:pt x="33" y="0"/>
                  </a:moveTo>
                  <a:lnTo>
                    <a:pt x="0" y="35"/>
                  </a:lnTo>
                  <a:lnTo>
                    <a:pt x="4" y="38"/>
                  </a:lnTo>
                  <a:lnTo>
                    <a:pt x="37" y="4"/>
                  </a:lnTo>
                  <a:lnTo>
                    <a:pt x="34" y="1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1" name="Freeform 111"/>
            <p:cNvSpPr>
              <a:spLocks noChangeArrowheads="1"/>
            </p:cNvSpPr>
            <p:nvPr/>
          </p:nvSpPr>
          <p:spPr bwMode="auto">
            <a:xfrm>
              <a:off x="4317" y="2342"/>
              <a:ext cx="12" cy="14"/>
            </a:xfrm>
            <a:custGeom>
              <a:avLst/>
              <a:gdLst>
                <a:gd name="T0" fmla="*/ 31 w 36"/>
                <a:gd name="T1" fmla="*/ 0 h 40"/>
                <a:gd name="T2" fmla="*/ 0 w 36"/>
                <a:gd name="T3" fmla="*/ 36 h 40"/>
                <a:gd name="T4" fmla="*/ 3 w 36"/>
                <a:gd name="T5" fmla="*/ 40 h 40"/>
                <a:gd name="T6" fmla="*/ 36 w 36"/>
                <a:gd name="T7" fmla="*/ 4 h 40"/>
                <a:gd name="T8" fmla="*/ 33 w 36"/>
                <a:gd name="T9" fmla="*/ 2 h 40"/>
                <a:gd name="T10" fmla="*/ 31 w 36"/>
                <a:gd name="T11" fmla="*/ 0 h 40"/>
                <a:gd name="T12" fmla="*/ 33 w 36"/>
                <a:gd name="T13" fmla="*/ 2 h 40"/>
                <a:gd name="T14" fmla="*/ 32 w 36"/>
                <a:gd name="T15" fmla="*/ 1 h 40"/>
                <a:gd name="T16" fmla="*/ 31 w 36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40">
                  <a:moveTo>
                    <a:pt x="31" y="0"/>
                  </a:moveTo>
                  <a:lnTo>
                    <a:pt x="0" y="36"/>
                  </a:lnTo>
                  <a:lnTo>
                    <a:pt x="3" y="40"/>
                  </a:lnTo>
                  <a:lnTo>
                    <a:pt x="36" y="4"/>
                  </a:lnTo>
                  <a:lnTo>
                    <a:pt x="33" y="2"/>
                  </a:lnTo>
                  <a:lnTo>
                    <a:pt x="31" y="0"/>
                  </a:lnTo>
                  <a:lnTo>
                    <a:pt x="33" y="2"/>
                  </a:lnTo>
                  <a:lnTo>
                    <a:pt x="32" y="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2" name="Freeform 112"/>
            <p:cNvSpPr>
              <a:spLocks noChangeArrowheads="1"/>
            </p:cNvSpPr>
            <p:nvPr/>
          </p:nvSpPr>
          <p:spPr bwMode="auto">
            <a:xfrm>
              <a:off x="4317" y="2341"/>
              <a:ext cx="11" cy="14"/>
            </a:xfrm>
            <a:custGeom>
              <a:avLst/>
              <a:gdLst>
                <a:gd name="T0" fmla="*/ 28 w 32"/>
                <a:gd name="T1" fmla="*/ 0 h 40"/>
                <a:gd name="T2" fmla="*/ 0 w 32"/>
                <a:gd name="T3" fmla="*/ 38 h 40"/>
                <a:gd name="T4" fmla="*/ 3 w 32"/>
                <a:gd name="T5" fmla="*/ 40 h 40"/>
                <a:gd name="T6" fmla="*/ 32 w 32"/>
                <a:gd name="T7" fmla="*/ 3 h 40"/>
                <a:gd name="T8" fmla="*/ 29 w 32"/>
                <a:gd name="T9" fmla="*/ 0 h 40"/>
                <a:gd name="T10" fmla="*/ 28 w 32"/>
                <a:gd name="T11" fmla="*/ 0 h 40"/>
                <a:gd name="T12" fmla="*/ 29 w 32"/>
                <a:gd name="T13" fmla="*/ 0 h 40"/>
                <a:gd name="T14" fmla="*/ 28 w 32"/>
                <a:gd name="T15" fmla="*/ 0 h 40"/>
                <a:gd name="T16" fmla="*/ 28 w 32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0">
                  <a:moveTo>
                    <a:pt x="28" y="0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32" y="3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3" name="Freeform 113"/>
            <p:cNvSpPr>
              <a:spLocks noChangeArrowheads="1"/>
            </p:cNvSpPr>
            <p:nvPr/>
          </p:nvSpPr>
          <p:spPr bwMode="auto">
            <a:xfrm>
              <a:off x="4316" y="2340"/>
              <a:ext cx="10" cy="14"/>
            </a:xfrm>
            <a:custGeom>
              <a:avLst/>
              <a:gdLst>
                <a:gd name="T0" fmla="*/ 24 w 30"/>
                <a:gd name="T1" fmla="*/ 0 h 44"/>
                <a:gd name="T2" fmla="*/ 0 w 30"/>
                <a:gd name="T3" fmla="*/ 41 h 44"/>
                <a:gd name="T4" fmla="*/ 3 w 30"/>
                <a:gd name="T5" fmla="*/ 44 h 44"/>
                <a:gd name="T6" fmla="*/ 30 w 30"/>
                <a:gd name="T7" fmla="*/ 5 h 44"/>
                <a:gd name="T8" fmla="*/ 26 w 30"/>
                <a:gd name="T9" fmla="*/ 1 h 44"/>
                <a:gd name="T10" fmla="*/ 24 w 30"/>
                <a:gd name="T11" fmla="*/ 0 h 44"/>
                <a:gd name="T12" fmla="*/ 26 w 30"/>
                <a:gd name="T13" fmla="*/ 1 h 44"/>
                <a:gd name="T14" fmla="*/ 25 w 30"/>
                <a:gd name="T15" fmla="*/ 1 h 44"/>
                <a:gd name="T16" fmla="*/ 24 w 30"/>
                <a:gd name="T1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44">
                  <a:moveTo>
                    <a:pt x="24" y="0"/>
                  </a:moveTo>
                  <a:lnTo>
                    <a:pt x="0" y="41"/>
                  </a:lnTo>
                  <a:lnTo>
                    <a:pt x="3" y="44"/>
                  </a:lnTo>
                  <a:lnTo>
                    <a:pt x="30" y="5"/>
                  </a:lnTo>
                  <a:lnTo>
                    <a:pt x="26" y="1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4" name="Freeform 114"/>
            <p:cNvSpPr>
              <a:spLocks noChangeArrowheads="1"/>
            </p:cNvSpPr>
            <p:nvPr/>
          </p:nvSpPr>
          <p:spPr bwMode="auto">
            <a:xfrm>
              <a:off x="4316" y="2339"/>
              <a:ext cx="8" cy="15"/>
            </a:xfrm>
            <a:custGeom>
              <a:avLst/>
              <a:gdLst>
                <a:gd name="T0" fmla="*/ 21 w 26"/>
                <a:gd name="T1" fmla="*/ 0 h 44"/>
                <a:gd name="T2" fmla="*/ 0 w 26"/>
                <a:gd name="T3" fmla="*/ 43 h 44"/>
                <a:gd name="T4" fmla="*/ 3 w 26"/>
                <a:gd name="T5" fmla="*/ 44 h 44"/>
                <a:gd name="T6" fmla="*/ 26 w 26"/>
                <a:gd name="T7" fmla="*/ 2 h 44"/>
                <a:gd name="T8" fmla="*/ 23 w 26"/>
                <a:gd name="T9" fmla="*/ 1 h 44"/>
                <a:gd name="T10" fmla="*/ 21 w 26"/>
                <a:gd name="T11" fmla="*/ 0 h 44"/>
                <a:gd name="T12" fmla="*/ 23 w 26"/>
                <a:gd name="T13" fmla="*/ 1 h 44"/>
                <a:gd name="T14" fmla="*/ 22 w 26"/>
                <a:gd name="T15" fmla="*/ 0 h 44"/>
                <a:gd name="T16" fmla="*/ 21 w 26"/>
                <a:gd name="T1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44">
                  <a:moveTo>
                    <a:pt x="21" y="0"/>
                  </a:moveTo>
                  <a:lnTo>
                    <a:pt x="0" y="43"/>
                  </a:lnTo>
                  <a:lnTo>
                    <a:pt x="3" y="44"/>
                  </a:lnTo>
                  <a:lnTo>
                    <a:pt x="26" y="2"/>
                  </a:lnTo>
                  <a:lnTo>
                    <a:pt x="23" y="1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2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5" name="Freeform 115"/>
            <p:cNvSpPr>
              <a:spLocks noChangeArrowheads="1"/>
            </p:cNvSpPr>
            <p:nvPr/>
          </p:nvSpPr>
          <p:spPr bwMode="auto">
            <a:xfrm>
              <a:off x="4315" y="2338"/>
              <a:ext cx="8" cy="15"/>
            </a:xfrm>
            <a:custGeom>
              <a:avLst/>
              <a:gdLst>
                <a:gd name="T0" fmla="*/ 18 w 23"/>
                <a:gd name="T1" fmla="*/ 0 h 45"/>
                <a:gd name="T2" fmla="*/ 0 w 23"/>
                <a:gd name="T3" fmla="*/ 44 h 45"/>
                <a:gd name="T4" fmla="*/ 3 w 23"/>
                <a:gd name="T5" fmla="*/ 45 h 45"/>
                <a:gd name="T6" fmla="*/ 23 w 23"/>
                <a:gd name="T7" fmla="*/ 2 h 45"/>
                <a:gd name="T8" fmla="*/ 20 w 23"/>
                <a:gd name="T9" fmla="*/ 0 h 45"/>
                <a:gd name="T10" fmla="*/ 18 w 23"/>
                <a:gd name="T11" fmla="*/ 0 h 45"/>
                <a:gd name="T12" fmla="*/ 20 w 23"/>
                <a:gd name="T13" fmla="*/ 0 h 45"/>
                <a:gd name="T14" fmla="*/ 19 w 23"/>
                <a:gd name="T15" fmla="*/ 0 h 45"/>
                <a:gd name="T16" fmla="*/ 18 w 23"/>
                <a:gd name="T1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45">
                  <a:moveTo>
                    <a:pt x="18" y="0"/>
                  </a:moveTo>
                  <a:lnTo>
                    <a:pt x="0" y="44"/>
                  </a:lnTo>
                  <a:lnTo>
                    <a:pt x="3" y="45"/>
                  </a:lnTo>
                  <a:lnTo>
                    <a:pt x="23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6" name="Freeform 116"/>
            <p:cNvSpPr>
              <a:spLocks noChangeArrowheads="1"/>
            </p:cNvSpPr>
            <p:nvPr/>
          </p:nvSpPr>
          <p:spPr bwMode="auto">
            <a:xfrm>
              <a:off x="4314" y="2338"/>
              <a:ext cx="7" cy="15"/>
            </a:xfrm>
            <a:custGeom>
              <a:avLst/>
              <a:gdLst>
                <a:gd name="T0" fmla="*/ 13 w 20"/>
                <a:gd name="T1" fmla="*/ 0 h 47"/>
                <a:gd name="T2" fmla="*/ 0 w 20"/>
                <a:gd name="T3" fmla="*/ 45 h 47"/>
                <a:gd name="T4" fmla="*/ 4 w 20"/>
                <a:gd name="T5" fmla="*/ 47 h 47"/>
                <a:gd name="T6" fmla="*/ 20 w 20"/>
                <a:gd name="T7" fmla="*/ 2 h 47"/>
                <a:gd name="T8" fmla="*/ 17 w 20"/>
                <a:gd name="T9" fmla="*/ 0 h 47"/>
                <a:gd name="T10" fmla="*/ 13 w 20"/>
                <a:gd name="T11" fmla="*/ 0 h 47"/>
                <a:gd name="T12" fmla="*/ 17 w 20"/>
                <a:gd name="T13" fmla="*/ 0 h 47"/>
                <a:gd name="T14" fmla="*/ 15 w 20"/>
                <a:gd name="T15" fmla="*/ 0 h 47"/>
                <a:gd name="T16" fmla="*/ 13 w 20"/>
                <a:gd name="T1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47">
                  <a:moveTo>
                    <a:pt x="13" y="0"/>
                  </a:moveTo>
                  <a:lnTo>
                    <a:pt x="0" y="45"/>
                  </a:lnTo>
                  <a:lnTo>
                    <a:pt x="4" y="47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7" name="Freeform 117"/>
            <p:cNvSpPr>
              <a:spLocks noChangeArrowheads="1"/>
            </p:cNvSpPr>
            <p:nvPr/>
          </p:nvSpPr>
          <p:spPr bwMode="auto">
            <a:xfrm>
              <a:off x="4314" y="2337"/>
              <a:ext cx="5" cy="16"/>
            </a:xfrm>
            <a:custGeom>
              <a:avLst/>
              <a:gdLst>
                <a:gd name="T0" fmla="*/ 9 w 14"/>
                <a:gd name="T1" fmla="*/ 0 h 47"/>
                <a:gd name="T2" fmla="*/ 0 w 14"/>
                <a:gd name="T3" fmla="*/ 46 h 47"/>
                <a:gd name="T4" fmla="*/ 4 w 14"/>
                <a:gd name="T5" fmla="*/ 47 h 47"/>
                <a:gd name="T6" fmla="*/ 14 w 14"/>
                <a:gd name="T7" fmla="*/ 1 h 47"/>
                <a:gd name="T8" fmla="*/ 10 w 14"/>
                <a:gd name="T9" fmla="*/ 0 h 47"/>
                <a:gd name="T10" fmla="*/ 9 w 14"/>
                <a:gd name="T11" fmla="*/ 0 h 47"/>
                <a:gd name="T12" fmla="*/ 10 w 14"/>
                <a:gd name="T13" fmla="*/ 0 h 47"/>
                <a:gd name="T14" fmla="*/ 10 w 14"/>
                <a:gd name="T15" fmla="*/ 0 h 47"/>
                <a:gd name="T16" fmla="*/ 9 w 14"/>
                <a:gd name="T1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7">
                  <a:moveTo>
                    <a:pt x="9" y="0"/>
                  </a:moveTo>
                  <a:lnTo>
                    <a:pt x="0" y="46"/>
                  </a:lnTo>
                  <a:lnTo>
                    <a:pt x="4" y="47"/>
                  </a:lnTo>
                  <a:lnTo>
                    <a:pt x="14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8" name="Freeform 118"/>
            <p:cNvSpPr>
              <a:spLocks noChangeArrowheads="1"/>
            </p:cNvSpPr>
            <p:nvPr/>
          </p:nvSpPr>
          <p:spPr bwMode="auto">
            <a:xfrm>
              <a:off x="4313" y="2337"/>
              <a:ext cx="4" cy="16"/>
            </a:xfrm>
            <a:custGeom>
              <a:avLst/>
              <a:gdLst>
                <a:gd name="T0" fmla="*/ 5 w 11"/>
                <a:gd name="T1" fmla="*/ 0 h 48"/>
                <a:gd name="T2" fmla="*/ 0 w 11"/>
                <a:gd name="T3" fmla="*/ 47 h 48"/>
                <a:gd name="T4" fmla="*/ 4 w 11"/>
                <a:gd name="T5" fmla="*/ 48 h 48"/>
                <a:gd name="T6" fmla="*/ 11 w 11"/>
                <a:gd name="T7" fmla="*/ 1 h 48"/>
                <a:gd name="T8" fmla="*/ 8 w 11"/>
                <a:gd name="T9" fmla="*/ 0 h 48"/>
                <a:gd name="T10" fmla="*/ 5 w 11"/>
                <a:gd name="T11" fmla="*/ 0 h 48"/>
                <a:gd name="T12" fmla="*/ 8 w 11"/>
                <a:gd name="T13" fmla="*/ 0 h 48"/>
                <a:gd name="T14" fmla="*/ 6 w 11"/>
                <a:gd name="T15" fmla="*/ 0 h 48"/>
                <a:gd name="T16" fmla="*/ 5 w 11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48">
                  <a:moveTo>
                    <a:pt x="5" y="0"/>
                  </a:moveTo>
                  <a:lnTo>
                    <a:pt x="0" y="47"/>
                  </a:lnTo>
                  <a:lnTo>
                    <a:pt x="4" y="48"/>
                  </a:lnTo>
                  <a:lnTo>
                    <a:pt x="11" y="1"/>
                  </a:lnTo>
                  <a:lnTo>
                    <a:pt x="8" y="0"/>
                  </a:lnTo>
                  <a:lnTo>
                    <a:pt x="5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9" name="Freeform 119"/>
            <p:cNvSpPr>
              <a:spLocks noChangeArrowheads="1"/>
            </p:cNvSpPr>
            <p:nvPr/>
          </p:nvSpPr>
          <p:spPr bwMode="auto">
            <a:xfrm>
              <a:off x="4313" y="2337"/>
              <a:ext cx="2" cy="16"/>
            </a:xfrm>
            <a:custGeom>
              <a:avLst/>
              <a:gdLst>
                <a:gd name="T0" fmla="*/ 0 w 5"/>
                <a:gd name="T1" fmla="*/ 0 h 47"/>
                <a:gd name="T2" fmla="*/ 0 w 5"/>
                <a:gd name="T3" fmla="*/ 47 h 47"/>
                <a:gd name="T4" fmla="*/ 3 w 5"/>
                <a:gd name="T5" fmla="*/ 47 h 47"/>
                <a:gd name="T6" fmla="*/ 5 w 5"/>
                <a:gd name="T7" fmla="*/ 0 h 47"/>
                <a:gd name="T8" fmla="*/ 2 w 5"/>
                <a:gd name="T9" fmla="*/ 0 h 47"/>
                <a:gd name="T10" fmla="*/ 0 w 5"/>
                <a:gd name="T11" fmla="*/ 0 h 47"/>
                <a:gd name="T12" fmla="*/ 2 w 5"/>
                <a:gd name="T13" fmla="*/ 0 h 47"/>
                <a:gd name="T14" fmla="*/ 1 w 5"/>
                <a:gd name="T15" fmla="*/ 0 h 47"/>
                <a:gd name="T16" fmla="*/ 0 w 5"/>
                <a:gd name="T1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lnTo>
                    <a:pt x="0" y="47"/>
                  </a:lnTo>
                  <a:lnTo>
                    <a:pt x="3" y="47"/>
                  </a:lnTo>
                  <a:lnTo>
                    <a:pt x="5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0" name="Freeform 120"/>
            <p:cNvSpPr>
              <a:spLocks noChangeArrowheads="1"/>
            </p:cNvSpPr>
            <p:nvPr/>
          </p:nvSpPr>
          <p:spPr bwMode="auto">
            <a:xfrm>
              <a:off x="4311" y="2337"/>
              <a:ext cx="3" cy="16"/>
            </a:xfrm>
            <a:custGeom>
              <a:avLst/>
              <a:gdLst>
                <a:gd name="T0" fmla="*/ 0 w 10"/>
                <a:gd name="T1" fmla="*/ 0 h 47"/>
                <a:gd name="T2" fmla="*/ 6 w 10"/>
                <a:gd name="T3" fmla="*/ 47 h 47"/>
                <a:gd name="T4" fmla="*/ 10 w 10"/>
                <a:gd name="T5" fmla="*/ 47 h 47"/>
                <a:gd name="T6" fmla="*/ 8 w 10"/>
                <a:gd name="T7" fmla="*/ 0 h 47"/>
                <a:gd name="T8" fmla="*/ 3 w 10"/>
                <a:gd name="T9" fmla="*/ 0 h 47"/>
                <a:gd name="T10" fmla="*/ 0 w 10"/>
                <a:gd name="T11" fmla="*/ 0 h 47"/>
                <a:gd name="T12" fmla="*/ 3 w 10"/>
                <a:gd name="T13" fmla="*/ 0 h 47"/>
                <a:gd name="T14" fmla="*/ 2 w 10"/>
                <a:gd name="T15" fmla="*/ 0 h 47"/>
                <a:gd name="T16" fmla="*/ 0 w 10"/>
                <a:gd name="T1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47">
                  <a:moveTo>
                    <a:pt x="0" y="0"/>
                  </a:moveTo>
                  <a:lnTo>
                    <a:pt x="6" y="47"/>
                  </a:lnTo>
                  <a:lnTo>
                    <a:pt x="10" y="47"/>
                  </a:lnTo>
                  <a:lnTo>
                    <a:pt x="8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1" name="Freeform 121"/>
            <p:cNvSpPr>
              <a:spLocks noChangeArrowheads="1"/>
            </p:cNvSpPr>
            <p:nvPr/>
          </p:nvSpPr>
          <p:spPr bwMode="auto">
            <a:xfrm>
              <a:off x="4309" y="2337"/>
              <a:ext cx="5" cy="16"/>
            </a:xfrm>
            <a:custGeom>
              <a:avLst/>
              <a:gdLst>
                <a:gd name="T0" fmla="*/ 0 w 13"/>
                <a:gd name="T1" fmla="*/ 1 h 48"/>
                <a:gd name="T2" fmla="*/ 10 w 13"/>
                <a:gd name="T3" fmla="*/ 48 h 48"/>
                <a:gd name="T4" fmla="*/ 13 w 13"/>
                <a:gd name="T5" fmla="*/ 47 h 48"/>
                <a:gd name="T6" fmla="*/ 4 w 13"/>
                <a:gd name="T7" fmla="*/ 0 h 48"/>
                <a:gd name="T8" fmla="*/ 1 w 13"/>
                <a:gd name="T9" fmla="*/ 1 h 48"/>
                <a:gd name="T10" fmla="*/ 0 w 13"/>
                <a:gd name="T11" fmla="*/ 1 h 48"/>
                <a:gd name="T12" fmla="*/ 1 w 13"/>
                <a:gd name="T13" fmla="*/ 1 h 48"/>
                <a:gd name="T14" fmla="*/ 0 w 13"/>
                <a:gd name="T15" fmla="*/ 1 h 48"/>
                <a:gd name="T16" fmla="*/ 0 w 13"/>
                <a:gd name="T17" fmla="*/ 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48">
                  <a:moveTo>
                    <a:pt x="0" y="1"/>
                  </a:moveTo>
                  <a:lnTo>
                    <a:pt x="10" y="48"/>
                  </a:lnTo>
                  <a:lnTo>
                    <a:pt x="13" y="47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2" name="Freeform 122"/>
            <p:cNvSpPr>
              <a:spLocks noChangeArrowheads="1"/>
            </p:cNvSpPr>
            <p:nvPr/>
          </p:nvSpPr>
          <p:spPr bwMode="auto">
            <a:xfrm>
              <a:off x="4307" y="2337"/>
              <a:ext cx="6" cy="16"/>
            </a:xfrm>
            <a:custGeom>
              <a:avLst/>
              <a:gdLst>
                <a:gd name="T0" fmla="*/ 0 w 18"/>
                <a:gd name="T1" fmla="*/ 2 h 47"/>
                <a:gd name="T2" fmla="*/ 13 w 18"/>
                <a:gd name="T3" fmla="*/ 47 h 47"/>
                <a:gd name="T4" fmla="*/ 18 w 18"/>
                <a:gd name="T5" fmla="*/ 46 h 47"/>
                <a:gd name="T6" fmla="*/ 7 w 18"/>
                <a:gd name="T7" fmla="*/ 0 h 47"/>
                <a:gd name="T8" fmla="*/ 3 w 18"/>
                <a:gd name="T9" fmla="*/ 1 h 47"/>
                <a:gd name="T10" fmla="*/ 0 w 18"/>
                <a:gd name="T11" fmla="*/ 2 h 47"/>
                <a:gd name="T12" fmla="*/ 3 w 18"/>
                <a:gd name="T13" fmla="*/ 1 h 47"/>
                <a:gd name="T14" fmla="*/ 1 w 18"/>
                <a:gd name="T15" fmla="*/ 1 h 47"/>
                <a:gd name="T16" fmla="*/ 0 w 18"/>
                <a:gd name="T17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7">
                  <a:moveTo>
                    <a:pt x="0" y="2"/>
                  </a:moveTo>
                  <a:lnTo>
                    <a:pt x="13" y="47"/>
                  </a:lnTo>
                  <a:lnTo>
                    <a:pt x="18" y="46"/>
                  </a:lnTo>
                  <a:lnTo>
                    <a:pt x="7" y="0"/>
                  </a:lnTo>
                  <a:lnTo>
                    <a:pt x="3" y="1"/>
                  </a:lnTo>
                  <a:lnTo>
                    <a:pt x="0" y="2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3" name="Freeform 123"/>
            <p:cNvSpPr>
              <a:spLocks noChangeArrowheads="1"/>
            </p:cNvSpPr>
            <p:nvPr/>
          </p:nvSpPr>
          <p:spPr bwMode="auto">
            <a:xfrm>
              <a:off x="4305" y="2338"/>
              <a:ext cx="8" cy="15"/>
            </a:xfrm>
            <a:custGeom>
              <a:avLst/>
              <a:gdLst>
                <a:gd name="T0" fmla="*/ 0 w 22"/>
                <a:gd name="T1" fmla="*/ 1 h 45"/>
                <a:gd name="T2" fmla="*/ 18 w 22"/>
                <a:gd name="T3" fmla="*/ 45 h 45"/>
                <a:gd name="T4" fmla="*/ 22 w 22"/>
                <a:gd name="T5" fmla="*/ 44 h 45"/>
                <a:gd name="T6" fmla="*/ 5 w 22"/>
                <a:gd name="T7" fmla="*/ 0 h 45"/>
                <a:gd name="T8" fmla="*/ 2 w 22"/>
                <a:gd name="T9" fmla="*/ 1 h 45"/>
                <a:gd name="T10" fmla="*/ 0 w 22"/>
                <a:gd name="T11" fmla="*/ 1 h 45"/>
                <a:gd name="T12" fmla="*/ 2 w 22"/>
                <a:gd name="T13" fmla="*/ 1 h 45"/>
                <a:gd name="T14" fmla="*/ 0 w 22"/>
                <a:gd name="T15" fmla="*/ 1 h 45"/>
                <a:gd name="T16" fmla="*/ 0 w 22"/>
                <a:gd name="T17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45">
                  <a:moveTo>
                    <a:pt x="0" y="1"/>
                  </a:moveTo>
                  <a:lnTo>
                    <a:pt x="18" y="45"/>
                  </a:lnTo>
                  <a:lnTo>
                    <a:pt x="22" y="44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4" name="Freeform 124"/>
            <p:cNvSpPr>
              <a:spLocks noChangeArrowheads="1"/>
            </p:cNvSpPr>
            <p:nvPr/>
          </p:nvSpPr>
          <p:spPr bwMode="auto">
            <a:xfrm>
              <a:off x="4303" y="2338"/>
              <a:ext cx="9" cy="16"/>
            </a:xfrm>
            <a:custGeom>
              <a:avLst/>
              <a:gdLst>
                <a:gd name="T0" fmla="*/ 0 w 25"/>
                <a:gd name="T1" fmla="*/ 3 h 46"/>
                <a:gd name="T2" fmla="*/ 21 w 25"/>
                <a:gd name="T3" fmla="*/ 46 h 46"/>
                <a:gd name="T4" fmla="*/ 25 w 25"/>
                <a:gd name="T5" fmla="*/ 44 h 46"/>
                <a:gd name="T6" fmla="*/ 6 w 25"/>
                <a:gd name="T7" fmla="*/ 0 h 46"/>
                <a:gd name="T8" fmla="*/ 2 w 25"/>
                <a:gd name="T9" fmla="*/ 2 h 46"/>
                <a:gd name="T10" fmla="*/ 0 w 25"/>
                <a:gd name="T11" fmla="*/ 3 h 46"/>
                <a:gd name="T12" fmla="*/ 2 w 25"/>
                <a:gd name="T13" fmla="*/ 2 h 46"/>
                <a:gd name="T14" fmla="*/ 1 w 25"/>
                <a:gd name="T15" fmla="*/ 2 h 46"/>
                <a:gd name="T16" fmla="*/ 0 w 25"/>
                <a:gd name="T17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46">
                  <a:moveTo>
                    <a:pt x="0" y="3"/>
                  </a:moveTo>
                  <a:lnTo>
                    <a:pt x="21" y="46"/>
                  </a:lnTo>
                  <a:lnTo>
                    <a:pt x="25" y="44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5" name="Freeform 125"/>
            <p:cNvSpPr>
              <a:spLocks noChangeArrowheads="1"/>
            </p:cNvSpPr>
            <p:nvPr/>
          </p:nvSpPr>
          <p:spPr bwMode="auto">
            <a:xfrm>
              <a:off x="4302" y="2339"/>
              <a:ext cx="9" cy="15"/>
            </a:xfrm>
            <a:custGeom>
              <a:avLst/>
              <a:gdLst>
                <a:gd name="T0" fmla="*/ 0 w 28"/>
                <a:gd name="T1" fmla="*/ 3 h 43"/>
                <a:gd name="T2" fmla="*/ 25 w 28"/>
                <a:gd name="T3" fmla="*/ 43 h 43"/>
                <a:gd name="T4" fmla="*/ 28 w 28"/>
                <a:gd name="T5" fmla="*/ 42 h 43"/>
                <a:gd name="T6" fmla="*/ 5 w 28"/>
                <a:gd name="T7" fmla="*/ 0 h 43"/>
                <a:gd name="T8" fmla="*/ 2 w 28"/>
                <a:gd name="T9" fmla="*/ 1 h 43"/>
                <a:gd name="T10" fmla="*/ 0 w 28"/>
                <a:gd name="T11" fmla="*/ 3 h 43"/>
                <a:gd name="T12" fmla="*/ 2 w 28"/>
                <a:gd name="T13" fmla="*/ 1 h 43"/>
                <a:gd name="T14" fmla="*/ 1 w 28"/>
                <a:gd name="T15" fmla="*/ 2 h 43"/>
                <a:gd name="T16" fmla="*/ 0 w 28"/>
                <a:gd name="T17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43">
                  <a:moveTo>
                    <a:pt x="0" y="3"/>
                  </a:moveTo>
                  <a:lnTo>
                    <a:pt x="25" y="43"/>
                  </a:lnTo>
                  <a:lnTo>
                    <a:pt x="28" y="42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6" name="Freeform 126"/>
            <p:cNvSpPr>
              <a:spLocks noChangeArrowheads="1"/>
            </p:cNvSpPr>
            <p:nvPr/>
          </p:nvSpPr>
          <p:spPr bwMode="auto">
            <a:xfrm>
              <a:off x="4300" y="2340"/>
              <a:ext cx="11" cy="14"/>
            </a:xfrm>
            <a:custGeom>
              <a:avLst/>
              <a:gdLst>
                <a:gd name="T0" fmla="*/ 0 w 31"/>
                <a:gd name="T1" fmla="*/ 3 h 41"/>
                <a:gd name="T2" fmla="*/ 28 w 31"/>
                <a:gd name="T3" fmla="*/ 41 h 41"/>
                <a:gd name="T4" fmla="*/ 31 w 31"/>
                <a:gd name="T5" fmla="*/ 39 h 41"/>
                <a:gd name="T6" fmla="*/ 4 w 31"/>
                <a:gd name="T7" fmla="*/ 0 h 41"/>
                <a:gd name="T8" fmla="*/ 1 w 31"/>
                <a:gd name="T9" fmla="*/ 3 h 41"/>
                <a:gd name="T10" fmla="*/ 0 w 31"/>
                <a:gd name="T11" fmla="*/ 3 h 41"/>
                <a:gd name="T12" fmla="*/ 1 w 31"/>
                <a:gd name="T13" fmla="*/ 3 h 41"/>
                <a:gd name="T14" fmla="*/ 0 w 31"/>
                <a:gd name="T15" fmla="*/ 3 h 41"/>
                <a:gd name="T16" fmla="*/ 0 w 31"/>
                <a:gd name="T17" fmla="*/ 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41">
                  <a:moveTo>
                    <a:pt x="0" y="3"/>
                  </a:moveTo>
                  <a:lnTo>
                    <a:pt x="28" y="41"/>
                  </a:lnTo>
                  <a:lnTo>
                    <a:pt x="31" y="39"/>
                  </a:lnTo>
                  <a:lnTo>
                    <a:pt x="4" y="0"/>
                  </a:lnTo>
                  <a:lnTo>
                    <a:pt x="1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7" name="Freeform 127"/>
            <p:cNvSpPr>
              <a:spLocks noChangeArrowheads="1"/>
            </p:cNvSpPr>
            <p:nvPr/>
          </p:nvSpPr>
          <p:spPr bwMode="auto">
            <a:xfrm>
              <a:off x="4298" y="2341"/>
              <a:ext cx="12" cy="14"/>
            </a:xfrm>
            <a:custGeom>
              <a:avLst/>
              <a:gdLst>
                <a:gd name="T0" fmla="*/ 0 w 34"/>
                <a:gd name="T1" fmla="*/ 4 h 40"/>
                <a:gd name="T2" fmla="*/ 31 w 34"/>
                <a:gd name="T3" fmla="*/ 40 h 40"/>
                <a:gd name="T4" fmla="*/ 34 w 34"/>
                <a:gd name="T5" fmla="*/ 38 h 40"/>
                <a:gd name="T6" fmla="*/ 6 w 34"/>
                <a:gd name="T7" fmla="*/ 0 h 40"/>
                <a:gd name="T8" fmla="*/ 3 w 34"/>
                <a:gd name="T9" fmla="*/ 3 h 40"/>
                <a:gd name="T10" fmla="*/ 0 w 34"/>
                <a:gd name="T11" fmla="*/ 4 h 40"/>
                <a:gd name="T12" fmla="*/ 3 w 34"/>
                <a:gd name="T13" fmla="*/ 3 h 40"/>
                <a:gd name="T14" fmla="*/ 1 w 34"/>
                <a:gd name="T15" fmla="*/ 3 h 40"/>
                <a:gd name="T16" fmla="*/ 0 w 34"/>
                <a:gd name="T1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40">
                  <a:moveTo>
                    <a:pt x="0" y="4"/>
                  </a:moveTo>
                  <a:lnTo>
                    <a:pt x="31" y="40"/>
                  </a:lnTo>
                  <a:lnTo>
                    <a:pt x="34" y="38"/>
                  </a:lnTo>
                  <a:lnTo>
                    <a:pt x="6" y="0"/>
                  </a:lnTo>
                  <a:lnTo>
                    <a:pt x="3" y="3"/>
                  </a:lnTo>
                  <a:lnTo>
                    <a:pt x="0" y="4"/>
                  </a:lnTo>
                  <a:lnTo>
                    <a:pt x="3" y="3"/>
                  </a:lnTo>
                  <a:lnTo>
                    <a:pt x="1" y="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8" name="Freeform 128"/>
            <p:cNvSpPr>
              <a:spLocks noChangeArrowheads="1"/>
            </p:cNvSpPr>
            <p:nvPr/>
          </p:nvSpPr>
          <p:spPr bwMode="auto">
            <a:xfrm>
              <a:off x="4297" y="2343"/>
              <a:ext cx="12" cy="13"/>
            </a:xfrm>
            <a:custGeom>
              <a:avLst/>
              <a:gdLst>
                <a:gd name="T0" fmla="*/ 0 w 37"/>
                <a:gd name="T1" fmla="*/ 4 h 39"/>
                <a:gd name="T2" fmla="*/ 33 w 37"/>
                <a:gd name="T3" fmla="*/ 39 h 39"/>
                <a:gd name="T4" fmla="*/ 37 w 37"/>
                <a:gd name="T5" fmla="*/ 35 h 39"/>
                <a:gd name="T6" fmla="*/ 4 w 37"/>
                <a:gd name="T7" fmla="*/ 0 h 39"/>
                <a:gd name="T8" fmla="*/ 1 w 37"/>
                <a:gd name="T9" fmla="*/ 3 h 39"/>
                <a:gd name="T10" fmla="*/ 0 w 37"/>
                <a:gd name="T11" fmla="*/ 4 h 39"/>
                <a:gd name="T12" fmla="*/ 1 w 37"/>
                <a:gd name="T13" fmla="*/ 3 h 39"/>
                <a:gd name="T14" fmla="*/ 0 w 37"/>
                <a:gd name="T15" fmla="*/ 4 h 39"/>
                <a:gd name="T16" fmla="*/ 0 w 37"/>
                <a:gd name="T17" fmla="*/ 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9">
                  <a:moveTo>
                    <a:pt x="0" y="4"/>
                  </a:moveTo>
                  <a:lnTo>
                    <a:pt x="33" y="39"/>
                  </a:lnTo>
                  <a:lnTo>
                    <a:pt x="37" y="35"/>
                  </a:lnTo>
                  <a:lnTo>
                    <a:pt x="4" y="0"/>
                  </a:lnTo>
                  <a:lnTo>
                    <a:pt x="1" y="3"/>
                  </a:lnTo>
                  <a:lnTo>
                    <a:pt x="0" y="4"/>
                  </a:lnTo>
                  <a:lnTo>
                    <a:pt x="1" y="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9" name="Freeform 129"/>
            <p:cNvSpPr>
              <a:spLocks noChangeArrowheads="1"/>
            </p:cNvSpPr>
            <p:nvPr/>
          </p:nvSpPr>
          <p:spPr bwMode="auto">
            <a:xfrm>
              <a:off x="4296" y="2344"/>
              <a:ext cx="13" cy="12"/>
            </a:xfrm>
            <a:custGeom>
              <a:avLst/>
              <a:gdLst>
                <a:gd name="T0" fmla="*/ 0 w 39"/>
                <a:gd name="T1" fmla="*/ 4 h 37"/>
                <a:gd name="T2" fmla="*/ 36 w 39"/>
                <a:gd name="T3" fmla="*/ 37 h 37"/>
                <a:gd name="T4" fmla="*/ 39 w 39"/>
                <a:gd name="T5" fmla="*/ 34 h 37"/>
                <a:gd name="T6" fmla="*/ 4 w 39"/>
                <a:gd name="T7" fmla="*/ 0 h 37"/>
                <a:gd name="T8" fmla="*/ 1 w 39"/>
                <a:gd name="T9" fmla="*/ 3 h 37"/>
                <a:gd name="T10" fmla="*/ 0 w 39"/>
                <a:gd name="T11" fmla="*/ 4 h 37"/>
                <a:gd name="T12" fmla="*/ 1 w 39"/>
                <a:gd name="T13" fmla="*/ 3 h 37"/>
                <a:gd name="T14" fmla="*/ 1 w 39"/>
                <a:gd name="T15" fmla="*/ 4 h 37"/>
                <a:gd name="T16" fmla="*/ 0 w 39"/>
                <a:gd name="T17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7">
                  <a:moveTo>
                    <a:pt x="0" y="4"/>
                  </a:moveTo>
                  <a:lnTo>
                    <a:pt x="36" y="37"/>
                  </a:lnTo>
                  <a:lnTo>
                    <a:pt x="39" y="34"/>
                  </a:lnTo>
                  <a:lnTo>
                    <a:pt x="4" y="0"/>
                  </a:lnTo>
                  <a:lnTo>
                    <a:pt x="1" y="3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0" name="Freeform 130"/>
            <p:cNvSpPr>
              <a:spLocks noChangeArrowheads="1"/>
            </p:cNvSpPr>
            <p:nvPr/>
          </p:nvSpPr>
          <p:spPr bwMode="auto">
            <a:xfrm>
              <a:off x="4294" y="2345"/>
              <a:ext cx="14" cy="12"/>
            </a:xfrm>
            <a:custGeom>
              <a:avLst/>
              <a:gdLst>
                <a:gd name="T0" fmla="*/ 0 w 40"/>
                <a:gd name="T1" fmla="*/ 5 h 36"/>
                <a:gd name="T2" fmla="*/ 37 w 40"/>
                <a:gd name="T3" fmla="*/ 36 h 36"/>
                <a:gd name="T4" fmla="*/ 40 w 40"/>
                <a:gd name="T5" fmla="*/ 33 h 36"/>
                <a:gd name="T6" fmla="*/ 4 w 40"/>
                <a:gd name="T7" fmla="*/ 0 h 36"/>
                <a:gd name="T8" fmla="*/ 1 w 40"/>
                <a:gd name="T9" fmla="*/ 3 h 36"/>
                <a:gd name="T10" fmla="*/ 0 w 40"/>
                <a:gd name="T11" fmla="*/ 5 h 36"/>
                <a:gd name="T12" fmla="*/ 1 w 40"/>
                <a:gd name="T13" fmla="*/ 3 h 36"/>
                <a:gd name="T14" fmla="*/ 1 w 40"/>
                <a:gd name="T15" fmla="*/ 4 h 36"/>
                <a:gd name="T16" fmla="*/ 0 w 40"/>
                <a:gd name="T17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36">
                  <a:moveTo>
                    <a:pt x="0" y="5"/>
                  </a:moveTo>
                  <a:lnTo>
                    <a:pt x="37" y="36"/>
                  </a:lnTo>
                  <a:lnTo>
                    <a:pt x="40" y="33"/>
                  </a:lnTo>
                  <a:lnTo>
                    <a:pt x="4" y="0"/>
                  </a:lnTo>
                  <a:lnTo>
                    <a:pt x="1" y="3"/>
                  </a:lnTo>
                  <a:lnTo>
                    <a:pt x="0" y="5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1" name="Freeform 131"/>
            <p:cNvSpPr>
              <a:spLocks noChangeArrowheads="1"/>
            </p:cNvSpPr>
            <p:nvPr/>
          </p:nvSpPr>
          <p:spPr bwMode="auto">
            <a:xfrm>
              <a:off x="4293" y="2347"/>
              <a:ext cx="14" cy="11"/>
            </a:xfrm>
            <a:custGeom>
              <a:avLst/>
              <a:gdLst>
                <a:gd name="T0" fmla="*/ 0 w 41"/>
                <a:gd name="T1" fmla="*/ 5 h 33"/>
                <a:gd name="T2" fmla="*/ 38 w 41"/>
                <a:gd name="T3" fmla="*/ 33 h 33"/>
                <a:gd name="T4" fmla="*/ 41 w 41"/>
                <a:gd name="T5" fmla="*/ 29 h 33"/>
                <a:gd name="T6" fmla="*/ 3 w 41"/>
                <a:gd name="T7" fmla="*/ 0 h 33"/>
                <a:gd name="T8" fmla="*/ 0 w 41"/>
                <a:gd name="T9" fmla="*/ 4 h 33"/>
                <a:gd name="T10" fmla="*/ 0 w 41"/>
                <a:gd name="T11" fmla="*/ 5 h 33"/>
                <a:gd name="T12" fmla="*/ 0 w 41"/>
                <a:gd name="T13" fmla="*/ 4 h 33"/>
                <a:gd name="T14" fmla="*/ 0 w 41"/>
                <a:gd name="T15" fmla="*/ 5 h 33"/>
                <a:gd name="T16" fmla="*/ 0 w 41"/>
                <a:gd name="T17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33">
                  <a:moveTo>
                    <a:pt x="0" y="5"/>
                  </a:moveTo>
                  <a:lnTo>
                    <a:pt x="38" y="33"/>
                  </a:lnTo>
                  <a:lnTo>
                    <a:pt x="41" y="29"/>
                  </a:lnTo>
                  <a:lnTo>
                    <a:pt x="3" y="0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2" name="Freeform 132"/>
            <p:cNvSpPr>
              <a:spLocks noChangeArrowheads="1"/>
            </p:cNvSpPr>
            <p:nvPr/>
          </p:nvSpPr>
          <p:spPr bwMode="auto">
            <a:xfrm>
              <a:off x="4292" y="2349"/>
              <a:ext cx="14" cy="10"/>
            </a:xfrm>
            <a:custGeom>
              <a:avLst/>
              <a:gdLst>
                <a:gd name="T0" fmla="*/ 0 w 44"/>
                <a:gd name="T1" fmla="*/ 5 h 31"/>
                <a:gd name="T2" fmla="*/ 40 w 44"/>
                <a:gd name="T3" fmla="*/ 31 h 31"/>
                <a:gd name="T4" fmla="*/ 44 w 44"/>
                <a:gd name="T5" fmla="*/ 27 h 31"/>
                <a:gd name="T6" fmla="*/ 5 w 44"/>
                <a:gd name="T7" fmla="*/ 0 h 31"/>
                <a:gd name="T8" fmla="*/ 1 w 44"/>
                <a:gd name="T9" fmla="*/ 4 h 31"/>
                <a:gd name="T10" fmla="*/ 0 w 44"/>
                <a:gd name="T11" fmla="*/ 5 h 31"/>
                <a:gd name="T12" fmla="*/ 1 w 44"/>
                <a:gd name="T13" fmla="*/ 4 h 31"/>
                <a:gd name="T14" fmla="*/ 0 w 44"/>
                <a:gd name="T15" fmla="*/ 5 h 31"/>
                <a:gd name="T16" fmla="*/ 0 w 44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31">
                  <a:moveTo>
                    <a:pt x="0" y="5"/>
                  </a:moveTo>
                  <a:lnTo>
                    <a:pt x="40" y="31"/>
                  </a:lnTo>
                  <a:lnTo>
                    <a:pt x="44" y="27"/>
                  </a:lnTo>
                  <a:lnTo>
                    <a:pt x="5" y="0"/>
                  </a:lnTo>
                  <a:lnTo>
                    <a:pt x="1" y="4"/>
                  </a:lnTo>
                  <a:lnTo>
                    <a:pt x="0" y="5"/>
                  </a:lnTo>
                  <a:lnTo>
                    <a:pt x="1" y="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3" name="Freeform 133"/>
            <p:cNvSpPr>
              <a:spLocks noChangeArrowheads="1"/>
            </p:cNvSpPr>
            <p:nvPr/>
          </p:nvSpPr>
          <p:spPr bwMode="auto">
            <a:xfrm>
              <a:off x="4291" y="2350"/>
              <a:ext cx="14" cy="10"/>
            </a:xfrm>
            <a:custGeom>
              <a:avLst/>
              <a:gdLst>
                <a:gd name="T0" fmla="*/ 0 w 44"/>
                <a:gd name="T1" fmla="*/ 5 h 30"/>
                <a:gd name="T2" fmla="*/ 41 w 44"/>
                <a:gd name="T3" fmla="*/ 30 h 30"/>
                <a:gd name="T4" fmla="*/ 44 w 44"/>
                <a:gd name="T5" fmla="*/ 25 h 30"/>
                <a:gd name="T6" fmla="*/ 3 w 44"/>
                <a:gd name="T7" fmla="*/ 0 h 30"/>
                <a:gd name="T8" fmla="*/ 0 w 44"/>
                <a:gd name="T9" fmla="*/ 4 h 30"/>
                <a:gd name="T10" fmla="*/ 0 w 44"/>
                <a:gd name="T11" fmla="*/ 5 h 30"/>
                <a:gd name="T12" fmla="*/ 0 w 44"/>
                <a:gd name="T13" fmla="*/ 4 h 30"/>
                <a:gd name="T14" fmla="*/ 0 w 44"/>
                <a:gd name="T15" fmla="*/ 5 h 30"/>
                <a:gd name="T16" fmla="*/ 0 w 44"/>
                <a:gd name="T17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30">
                  <a:moveTo>
                    <a:pt x="0" y="5"/>
                  </a:moveTo>
                  <a:lnTo>
                    <a:pt x="41" y="30"/>
                  </a:lnTo>
                  <a:lnTo>
                    <a:pt x="44" y="25"/>
                  </a:lnTo>
                  <a:lnTo>
                    <a:pt x="3" y="0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4" name="Freeform 134"/>
            <p:cNvSpPr>
              <a:spLocks noChangeArrowheads="1"/>
            </p:cNvSpPr>
            <p:nvPr/>
          </p:nvSpPr>
          <p:spPr bwMode="auto">
            <a:xfrm>
              <a:off x="4290" y="2352"/>
              <a:ext cx="14" cy="10"/>
            </a:xfrm>
            <a:custGeom>
              <a:avLst/>
              <a:gdLst>
                <a:gd name="T0" fmla="*/ 0 w 44"/>
                <a:gd name="T1" fmla="*/ 5 h 29"/>
                <a:gd name="T2" fmla="*/ 42 w 44"/>
                <a:gd name="T3" fmla="*/ 29 h 29"/>
                <a:gd name="T4" fmla="*/ 44 w 44"/>
                <a:gd name="T5" fmla="*/ 24 h 29"/>
                <a:gd name="T6" fmla="*/ 3 w 44"/>
                <a:gd name="T7" fmla="*/ 0 h 29"/>
                <a:gd name="T8" fmla="*/ 0 w 44"/>
                <a:gd name="T9" fmla="*/ 5 h 29"/>
                <a:gd name="T10" fmla="*/ 0 w 44"/>
                <a:gd name="T11" fmla="*/ 5 h 29"/>
                <a:gd name="T12" fmla="*/ 0 w 44"/>
                <a:gd name="T13" fmla="*/ 5 h 29"/>
                <a:gd name="T14" fmla="*/ 0 w 44"/>
                <a:gd name="T15" fmla="*/ 5 h 29"/>
                <a:gd name="T16" fmla="*/ 0 w 44"/>
                <a:gd name="T17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9">
                  <a:moveTo>
                    <a:pt x="0" y="5"/>
                  </a:moveTo>
                  <a:lnTo>
                    <a:pt x="42" y="29"/>
                  </a:lnTo>
                  <a:lnTo>
                    <a:pt x="44" y="24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5" name="Freeform 135"/>
            <p:cNvSpPr>
              <a:spLocks noChangeArrowheads="1"/>
            </p:cNvSpPr>
            <p:nvPr/>
          </p:nvSpPr>
          <p:spPr bwMode="auto">
            <a:xfrm>
              <a:off x="4289" y="2354"/>
              <a:ext cx="15" cy="9"/>
            </a:xfrm>
            <a:custGeom>
              <a:avLst/>
              <a:gdLst>
                <a:gd name="T0" fmla="*/ 0 w 45"/>
                <a:gd name="T1" fmla="*/ 7 h 29"/>
                <a:gd name="T2" fmla="*/ 42 w 45"/>
                <a:gd name="T3" fmla="*/ 29 h 29"/>
                <a:gd name="T4" fmla="*/ 45 w 45"/>
                <a:gd name="T5" fmla="*/ 23 h 29"/>
                <a:gd name="T6" fmla="*/ 3 w 45"/>
                <a:gd name="T7" fmla="*/ 0 h 29"/>
                <a:gd name="T8" fmla="*/ 0 w 45"/>
                <a:gd name="T9" fmla="*/ 6 h 29"/>
                <a:gd name="T10" fmla="*/ 0 w 45"/>
                <a:gd name="T11" fmla="*/ 7 h 29"/>
                <a:gd name="T12" fmla="*/ 0 w 45"/>
                <a:gd name="T13" fmla="*/ 6 h 29"/>
                <a:gd name="T14" fmla="*/ 0 w 45"/>
                <a:gd name="T15" fmla="*/ 7 h 29"/>
                <a:gd name="T16" fmla="*/ 0 w 45"/>
                <a:gd name="T17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29">
                  <a:moveTo>
                    <a:pt x="0" y="7"/>
                  </a:moveTo>
                  <a:lnTo>
                    <a:pt x="42" y="29"/>
                  </a:lnTo>
                  <a:lnTo>
                    <a:pt x="45" y="23"/>
                  </a:lnTo>
                  <a:lnTo>
                    <a:pt x="3" y="0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6" name="Freeform 136"/>
            <p:cNvSpPr>
              <a:spLocks noChangeArrowheads="1"/>
            </p:cNvSpPr>
            <p:nvPr/>
          </p:nvSpPr>
          <p:spPr bwMode="auto">
            <a:xfrm>
              <a:off x="4288" y="2356"/>
              <a:ext cx="15" cy="9"/>
            </a:xfrm>
            <a:custGeom>
              <a:avLst/>
              <a:gdLst>
                <a:gd name="T0" fmla="*/ 0 w 46"/>
                <a:gd name="T1" fmla="*/ 6 h 26"/>
                <a:gd name="T2" fmla="*/ 43 w 46"/>
                <a:gd name="T3" fmla="*/ 26 h 26"/>
                <a:gd name="T4" fmla="*/ 46 w 46"/>
                <a:gd name="T5" fmla="*/ 21 h 26"/>
                <a:gd name="T6" fmla="*/ 3 w 46"/>
                <a:gd name="T7" fmla="*/ 0 h 26"/>
                <a:gd name="T8" fmla="*/ 1 w 46"/>
                <a:gd name="T9" fmla="*/ 5 h 26"/>
                <a:gd name="T10" fmla="*/ 0 w 46"/>
                <a:gd name="T11" fmla="*/ 6 h 26"/>
                <a:gd name="T12" fmla="*/ 1 w 46"/>
                <a:gd name="T13" fmla="*/ 5 h 26"/>
                <a:gd name="T14" fmla="*/ 0 w 46"/>
                <a:gd name="T15" fmla="*/ 6 h 26"/>
                <a:gd name="T16" fmla="*/ 0 w 46"/>
                <a:gd name="T17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26">
                  <a:moveTo>
                    <a:pt x="0" y="6"/>
                  </a:moveTo>
                  <a:lnTo>
                    <a:pt x="43" y="26"/>
                  </a:lnTo>
                  <a:lnTo>
                    <a:pt x="46" y="21"/>
                  </a:lnTo>
                  <a:lnTo>
                    <a:pt x="3" y="0"/>
                  </a:lnTo>
                  <a:lnTo>
                    <a:pt x="1" y="5"/>
                  </a:lnTo>
                  <a:lnTo>
                    <a:pt x="0" y="6"/>
                  </a:lnTo>
                  <a:lnTo>
                    <a:pt x="1" y="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7" name="Freeform 137"/>
            <p:cNvSpPr>
              <a:spLocks noChangeArrowheads="1"/>
            </p:cNvSpPr>
            <p:nvPr/>
          </p:nvSpPr>
          <p:spPr bwMode="auto">
            <a:xfrm>
              <a:off x="4287" y="2358"/>
              <a:ext cx="15" cy="8"/>
            </a:xfrm>
            <a:custGeom>
              <a:avLst/>
              <a:gdLst>
                <a:gd name="T0" fmla="*/ 0 w 46"/>
                <a:gd name="T1" fmla="*/ 6 h 24"/>
                <a:gd name="T2" fmla="*/ 44 w 46"/>
                <a:gd name="T3" fmla="*/ 24 h 24"/>
                <a:gd name="T4" fmla="*/ 46 w 46"/>
                <a:gd name="T5" fmla="*/ 18 h 24"/>
                <a:gd name="T6" fmla="*/ 2 w 46"/>
                <a:gd name="T7" fmla="*/ 0 h 24"/>
                <a:gd name="T8" fmla="*/ 0 w 46"/>
                <a:gd name="T9" fmla="*/ 6 h 24"/>
                <a:gd name="T10" fmla="*/ 0 w 46"/>
                <a:gd name="T11" fmla="*/ 6 h 24"/>
                <a:gd name="T12" fmla="*/ 44 w 46"/>
                <a:gd name="T13" fmla="*/ 24 h 24"/>
                <a:gd name="T14" fmla="*/ 44 w 46"/>
                <a:gd name="T15" fmla="*/ 24 h 24"/>
                <a:gd name="T16" fmla="*/ 44 w 46"/>
                <a:gd name="T17" fmla="*/ 24 h 24"/>
                <a:gd name="T18" fmla="*/ 0 w 46"/>
                <a:gd name="T19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24">
                  <a:moveTo>
                    <a:pt x="0" y="6"/>
                  </a:moveTo>
                  <a:lnTo>
                    <a:pt x="44" y="24"/>
                  </a:lnTo>
                  <a:lnTo>
                    <a:pt x="46" y="18"/>
                  </a:lnTo>
                  <a:lnTo>
                    <a:pt x="2" y="0"/>
                  </a:lnTo>
                  <a:lnTo>
                    <a:pt x="0" y="6"/>
                  </a:lnTo>
                  <a:lnTo>
                    <a:pt x="44" y="2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8" name="Freeform 138"/>
            <p:cNvSpPr>
              <a:spLocks noChangeArrowheads="1"/>
            </p:cNvSpPr>
            <p:nvPr/>
          </p:nvSpPr>
          <p:spPr bwMode="auto">
            <a:xfrm>
              <a:off x="4286" y="2360"/>
              <a:ext cx="16" cy="8"/>
            </a:xfrm>
            <a:custGeom>
              <a:avLst/>
              <a:gdLst>
                <a:gd name="T0" fmla="*/ 0 w 47"/>
                <a:gd name="T1" fmla="*/ 7 h 23"/>
                <a:gd name="T2" fmla="*/ 45 w 47"/>
                <a:gd name="T3" fmla="*/ 23 h 23"/>
                <a:gd name="T4" fmla="*/ 47 w 47"/>
                <a:gd name="T5" fmla="*/ 18 h 23"/>
                <a:gd name="T6" fmla="*/ 3 w 47"/>
                <a:gd name="T7" fmla="*/ 0 h 23"/>
                <a:gd name="T8" fmla="*/ 0 w 47"/>
                <a:gd name="T9" fmla="*/ 5 h 23"/>
                <a:gd name="T10" fmla="*/ 0 w 47"/>
                <a:gd name="T11" fmla="*/ 7 h 23"/>
                <a:gd name="T12" fmla="*/ 0 w 47"/>
                <a:gd name="T13" fmla="*/ 5 h 23"/>
                <a:gd name="T14" fmla="*/ 0 w 47"/>
                <a:gd name="T15" fmla="*/ 7 h 23"/>
                <a:gd name="T16" fmla="*/ 0 w 47"/>
                <a:gd name="T17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3">
                  <a:moveTo>
                    <a:pt x="0" y="7"/>
                  </a:moveTo>
                  <a:lnTo>
                    <a:pt x="45" y="23"/>
                  </a:lnTo>
                  <a:lnTo>
                    <a:pt x="47" y="18"/>
                  </a:lnTo>
                  <a:lnTo>
                    <a:pt x="3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9" name="Freeform 139"/>
            <p:cNvSpPr>
              <a:spLocks noChangeArrowheads="1"/>
            </p:cNvSpPr>
            <p:nvPr/>
          </p:nvSpPr>
          <p:spPr bwMode="auto">
            <a:xfrm>
              <a:off x="4285" y="2362"/>
              <a:ext cx="16" cy="8"/>
            </a:xfrm>
            <a:custGeom>
              <a:avLst/>
              <a:gdLst>
                <a:gd name="T0" fmla="*/ 0 w 48"/>
                <a:gd name="T1" fmla="*/ 7 h 22"/>
                <a:gd name="T2" fmla="*/ 46 w 48"/>
                <a:gd name="T3" fmla="*/ 22 h 22"/>
                <a:gd name="T4" fmla="*/ 48 w 48"/>
                <a:gd name="T5" fmla="*/ 15 h 22"/>
                <a:gd name="T6" fmla="*/ 3 w 48"/>
                <a:gd name="T7" fmla="*/ 0 h 22"/>
                <a:gd name="T8" fmla="*/ 0 w 48"/>
                <a:gd name="T9" fmla="*/ 6 h 22"/>
                <a:gd name="T10" fmla="*/ 0 w 48"/>
                <a:gd name="T11" fmla="*/ 7 h 22"/>
                <a:gd name="T12" fmla="*/ 0 w 48"/>
                <a:gd name="T13" fmla="*/ 6 h 22"/>
                <a:gd name="T14" fmla="*/ 0 w 48"/>
                <a:gd name="T15" fmla="*/ 6 h 22"/>
                <a:gd name="T16" fmla="*/ 0 w 48"/>
                <a:gd name="T1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22">
                  <a:moveTo>
                    <a:pt x="0" y="7"/>
                  </a:moveTo>
                  <a:lnTo>
                    <a:pt x="46" y="22"/>
                  </a:lnTo>
                  <a:lnTo>
                    <a:pt x="48" y="15"/>
                  </a:lnTo>
                  <a:lnTo>
                    <a:pt x="3" y="0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0" name="Freeform 140"/>
            <p:cNvSpPr>
              <a:spLocks noChangeArrowheads="1"/>
            </p:cNvSpPr>
            <p:nvPr/>
          </p:nvSpPr>
          <p:spPr bwMode="auto">
            <a:xfrm>
              <a:off x="4284" y="2365"/>
              <a:ext cx="16" cy="6"/>
            </a:xfrm>
            <a:custGeom>
              <a:avLst/>
              <a:gdLst>
                <a:gd name="T0" fmla="*/ 0 w 48"/>
                <a:gd name="T1" fmla="*/ 6 h 20"/>
                <a:gd name="T2" fmla="*/ 46 w 48"/>
                <a:gd name="T3" fmla="*/ 20 h 20"/>
                <a:gd name="T4" fmla="*/ 48 w 48"/>
                <a:gd name="T5" fmla="*/ 14 h 20"/>
                <a:gd name="T6" fmla="*/ 2 w 48"/>
                <a:gd name="T7" fmla="*/ 0 h 20"/>
                <a:gd name="T8" fmla="*/ 0 w 48"/>
                <a:gd name="T9" fmla="*/ 6 h 20"/>
                <a:gd name="T10" fmla="*/ 0 w 48"/>
                <a:gd name="T11" fmla="*/ 6 h 20"/>
                <a:gd name="T12" fmla="*/ 0 w 48"/>
                <a:gd name="T13" fmla="*/ 6 h 20"/>
                <a:gd name="T14" fmla="*/ 0 w 48"/>
                <a:gd name="T15" fmla="*/ 6 h 20"/>
                <a:gd name="T16" fmla="*/ 0 w 48"/>
                <a:gd name="T1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20">
                  <a:moveTo>
                    <a:pt x="0" y="6"/>
                  </a:moveTo>
                  <a:lnTo>
                    <a:pt x="46" y="20"/>
                  </a:lnTo>
                  <a:lnTo>
                    <a:pt x="48" y="14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1" name="Freeform 141"/>
            <p:cNvSpPr>
              <a:spLocks noChangeArrowheads="1"/>
            </p:cNvSpPr>
            <p:nvPr/>
          </p:nvSpPr>
          <p:spPr bwMode="auto">
            <a:xfrm>
              <a:off x="4284" y="2367"/>
              <a:ext cx="16" cy="6"/>
            </a:xfrm>
            <a:custGeom>
              <a:avLst/>
              <a:gdLst>
                <a:gd name="T0" fmla="*/ 0 w 49"/>
                <a:gd name="T1" fmla="*/ 8 h 20"/>
                <a:gd name="T2" fmla="*/ 47 w 49"/>
                <a:gd name="T3" fmla="*/ 20 h 20"/>
                <a:gd name="T4" fmla="*/ 49 w 49"/>
                <a:gd name="T5" fmla="*/ 13 h 20"/>
                <a:gd name="T6" fmla="*/ 2 w 49"/>
                <a:gd name="T7" fmla="*/ 0 h 20"/>
                <a:gd name="T8" fmla="*/ 0 w 49"/>
                <a:gd name="T9" fmla="*/ 6 h 20"/>
                <a:gd name="T10" fmla="*/ 0 w 49"/>
                <a:gd name="T11" fmla="*/ 8 h 20"/>
                <a:gd name="T12" fmla="*/ 0 w 49"/>
                <a:gd name="T13" fmla="*/ 6 h 20"/>
                <a:gd name="T14" fmla="*/ 0 w 49"/>
                <a:gd name="T15" fmla="*/ 8 h 20"/>
                <a:gd name="T16" fmla="*/ 0 w 49"/>
                <a:gd name="T1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20">
                  <a:moveTo>
                    <a:pt x="0" y="8"/>
                  </a:moveTo>
                  <a:lnTo>
                    <a:pt x="47" y="20"/>
                  </a:lnTo>
                  <a:lnTo>
                    <a:pt x="49" y="13"/>
                  </a:lnTo>
                  <a:lnTo>
                    <a:pt x="2" y="0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2" name="Freeform 142"/>
            <p:cNvSpPr>
              <a:spLocks noChangeArrowheads="1"/>
            </p:cNvSpPr>
            <p:nvPr/>
          </p:nvSpPr>
          <p:spPr bwMode="auto">
            <a:xfrm>
              <a:off x="4283" y="2369"/>
              <a:ext cx="16" cy="6"/>
            </a:xfrm>
            <a:custGeom>
              <a:avLst/>
              <a:gdLst>
                <a:gd name="T0" fmla="*/ 0 w 49"/>
                <a:gd name="T1" fmla="*/ 6 h 17"/>
                <a:gd name="T2" fmla="*/ 47 w 49"/>
                <a:gd name="T3" fmla="*/ 17 h 17"/>
                <a:gd name="T4" fmla="*/ 49 w 49"/>
                <a:gd name="T5" fmla="*/ 11 h 17"/>
                <a:gd name="T6" fmla="*/ 2 w 49"/>
                <a:gd name="T7" fmla="*/ 0 h 17"/>
                <a:gd name="T8" fmla="*/ 0 w 49"/>
                <a:gd name="T9" fmla="*/ 6 h 17"/>
                <a:gd name="T10" fmla="*/ 0 w 49"/>
                <a:gd name="T11" fmla="*/ 6 h 17"/>
                <a:gd name="T12" fmla="*/ 0 w 49"/>
                <a:gd name="T13" fmla="*/ 6 h 17"/>
                <a:gd name="T14" fmla="*/ 0 w 49"/>
                <a:gd name="T15" fmla="*/ 6 h 17"/>
                <a:gd name="T16" fmla="*/ 0 w 49"/>
                <a:gd name="T17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7">
                  <a:moveTo>
                    <a:pt x="0" y="6"/>
                  </a:moveTo>
                  <a:lnTo>
                    <a:pt x="47" y="17"/>
                  </a:lnTo>
                  <a:lnTo>
                    <a:pt x="49" y="11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3" name="Freeform 143"/>
            <p:cNvSpPr>
              <a:spLocks noChangeArrowheads="1"/>
            </p:cNvSpPr>
            <p:nvPr/>
          </p:nvSpPr>
          <p:spPr bwMode="auto">
            <a:xfrm>
              <a:off x="4283" y="2371"/>
              <a:ext cx="16" cy="6"/>
            </a:xfrm>
            <a:custGeom>
              <a:avLst/>
              <a:gdLst>
                <a:gd name="T0" fmla="*/ 0 w 48"/>
                <a:gd name="T1" fmla="*/ 8 h 18"/>
                <a:gd name="T2" fmla="*/ 46 w 48"/>
                <a:gd name="T3" fmla="*/ 18 h 18"/>
                <a:gd name="T4" fmla="*/ 48 w 48"/>
                <a:gd name="T5" fmla="*/ 11 h 18"/>
                <a:gd name="T6" fmla="*/ 1 w 48"/>
                <a:gd name="T7" fmla="*/ 0 h 18"/>
                <a:gd name="T8" fmla="*/ 0 w 48"/>
                <a:gd name="T9" fmla="*/ 7 h 18"/>
                <a:gd name="T10" fmla="*/ 0 w 48"/>
                <a:gd name="T11" fmla="*/ 8 h 18"/>
                <a:gd name="T12" fmla="*/ 0 w 48"/>
                <a:gd name="T13" fmla="*/ 7 h 18"/>
                <a:gd name="T14" fmla="*/ 0 w 48"/>
                <a:gd name="T15" fmla="*/ 7 h 18"/>
                <a:gd name="T16" fmla="*/ 0 w 48"/>
                <a:gd name="T17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8">
                  <a:moveTo>
                    <a:pt x="0" y="8"/>
                  </a:moveTo>
                  <a:lnTo>
                    <a:pt x="46" y="18"/>
                  </a:lnTo>
                  <a:lnTo>
                    <a:pt x="48" y="11"/>
                  </a:lnTo>
                  <a:lnTo>
                    <a:pt x="1" y="0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4" name="Freeform 144"/>
            <p:cNvSpPr>
              <a:spLocks noChangeArrowheads="1"/>
            </p:cNvSpPr>
            <p:nvPr/>
          </p:nvSpPr>
          <p:spPr bwMode="auto">
            <a:xfrm>
              <a:off x="4282" y="2374"/>
              <a:ext cx="16" cy="5"/>
            </a:xfrm>
            <a:custGeom>
              <a:avLst/>
              <a:gdLst>
                <a:gd name="T0" fmla="*/ 0 w 48"/>
                <a:gd name="T1" fmla="*/ 8 h 15"/>
                <a:gd name="T2" fmla="*/ 47 w 48"/>
                <a:gd name="T3" fmla="*/ 15 h 15"/>
                <a:gd name="T4" fmla="*/ 48 w 48"/>
                <a:gd name="T5" fmla="*/ 9 h 15"/>
                <a:gd name="T6" fmla="*/ 2 w 48"/>
                <a:gd name="T7" fmla="*/ 0 h 15"/>
                <a:gd name="T8" fmla="*/ 0 w 48"/>
                <a:gd name="T9" fmla="*/ 7 h 15"/>
                <a:gd name="T10" fmla="*/ 0 w 48"/>
                <a:gd name="T11" fmla="*/ 8 h 15"/>
                <a:gd name="T12" fmla="*/ 0 w 48"/>
                <a:gd name="T13" fmla="*/ 7 h 15"/>
                <a:gd name="T14" fmla="*/ 0 w 48"/>
                <a:gd name="T15" fmla="*/ 7 h 15"/>
                <a:gd name="T16" fmla="*/ 0 w 48"/>
                <a:gd name="T17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5">
                  <a:moveTo>
                    <a:pt x="0" y="8"/>
                  </a:moveTo>
                  <a:lnTo>
                    <a:pt x="47" y="15"/>
                  </a:lnTo>
                  <a:lnTo>
                    <a:pt x="48" y="9"/>
                  </a:lnTo>
                  <a:lnTo>
                    <a:pt x="2" y="0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5" name="Freeform 145"/>
            <p:cNvSpPr>
              <a:spLocks noChangeArrowheads="1"/>
            </p:cNvSpPr>
            <p:nvPr/>
          </p:nvSpPr>
          <p:spPr bwMode="auto">
            <a:xfrm>
              <a:off x="4282" y="2377"/>
              <a:ext cx="16" cy="4"/>
            </a:xfrm>
            <a:custGeom>
              <a:avLst/>
              <a:gdLst>
                <a:gd name="T0" fmla="*/ 0 w 48"/>
                <a:gd name="T1" fmla="*/ 7 h 14"/>
                <a:gd name="T2" fmla="*/ 47 w 48"/>
                <a:gd name="T3" fmla="*/ 14 h 14"/>
                <a:gd name="T4" fmla="*/ 48 w 48"/>
                <a:gd name="T5" fmla="*/ 7 h 14"/>
                <a:gd name="T6" fmla="*/ 1 w 48"/>
                <a:gd name="T7" fmla="*/ 0 h 14"/>
                <a:gd name="T8" fmla="*/ 0 w 48"/>
                <a:gd name="T9" fmla="*/ 6 h 14"/>
                <a:gd name="T10" fmla="*/ 0 w 48"/>
                <a:gd name="T11" fmla="*/ 7 h 14"/>
                <a:gd name="T12" fmla="*/ 0 w 48"/>
                <a:gd name="T13" fmla="*/ 6 h 14"/>
                <a:gd name="T14" fmla="*/ 0 w 48"/>
                <a:gd name="T15" fmla="*/ 7 h 14"/>
                <a:gd name="T16" fmla="*/ 0 w 48"/>
                <a:gd name="T17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4">
                  <a:moveTo>
                    <a:pt x="0" y="7"/>
                  </a:moveTo>
                  <a:lnTo>
                    <a:pt x="47" y="14"/>
                  </a:lnTo>
                  <a:lnTo>
                    <a:pt x="48" y="7"/>
                  </a:lnTo>
                  <a:lnTo>
                    <a:pt x="1" y="0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6" name="Freeform 146"/>
            <p:cNvSpPr>
              <a:spLocks noChangeArrowheads="1"/>
            </p:cNvSpPr>
            <p:nvPr/>
          </p:nvSpPr>
          <p:spPr bwMode="auto">
            <a:xfrm>
              <a:off x="4281" y="2379"/>
              <a:ext cx="16" cy="5"/>
            </a:xfrm>
            <a:custGeom>
              <a:avLst/>
              <a:gdLst>
                <a:gd name="T0" fmla="*/ 0 w 48"/>
                <a:gd name="T1" fmla="*/ 7 h 14"/>
                <a:gd name="T2" fmla="*/ 47 w 48"/>
                <a:gd name="T3" fmla="*/ 14 h 14"/>
                <a:gd name="T4" fmla="*/ 48 w 48"/>
                <a:gd name="T5" fmla="*/ 6 h 14"/>
                <a:gd name="T6" fmla="*/ 1 w 48"/>
                <a:gd name="T7" fmla="*/ 0 h 14"/>
                <a:gd name="T8" fmla="*/ 0 w 48"/>
                <a:gd name="T9" fmla="*/ 6 h 14"/>
                <a:gd name="T10" fmla="*/ 0 w 48"/>
                <a:gd name="T11" fmla="*/ 7 h 14"/>
                <a:gd name="T12" fmla="*/ 0 w 48"/>
                <a:gd name="T13" fmla="*/ 6 h 14"/>
                <a:gd name="T14" fmla="*/ 0 w 48"/>
                <a:gd name="T15" fmla="*/ 7 h 14"/>
                <a:gd name="T16" fmla="*/ 0 w 48"/>
                <a:gd name="T17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4">
                  <a:moveTo>
                    <a:pt x="0" y="7"/>
                  </a:moveTo>
                  <a:lnTo>
                    <a:pt x="47" y="14"/>
                  </a:lnTo>
                  <a:lnTo>
                    <a:pt x="48" y="6"/>
                  </a:lnTo>
                  <a:lnTo>
                    <a:pt x="1" y="0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7" name="Freeform 147"/>
            <p:cNvSpPr>
              <a:spLocks noChangeArrowheads="1"/>
            </p:cNvSpPr>
            <p:nvPr/>
          </p:nvSpPr>
          <p:spPr bwMode="auto">
            <a:xfrm>
              <a:off x="4281" y="2381"/>
              <a:ext cx="16" cy="5"/>
            </a:xfrm>
            <a:custGeom>
              <a:avLst/>
              <a:gdLst>
                <a:gd name="T0" fmla="*/ 0 w 48"/>
                <a:gd name="T1" fmla="*/ 9 h 13"/>
                <a:gd name="T2" fmla="*/ 48 w 48"/>
                <a:gd name="T3" fmla="*/ 13 h 13"/>
                <a:gd name="T4" fmla="*/ 48 w 48"/>
                <a:gd name="T5" fmla="*/ 6 h 13"/>
                <a:gd name="T6" fmla="*/ 1 w 48"/>
                <a:gd name="T7" fmla="*/ 0 h 13"/>
                <a:gd name="T8" fmla="*/ 0 w 48"/>
                <a:gd name="T9" fmla="*/ 8 h 13"/>
                <a:gd name="T10" fmla="*/ 0 w 48"/>
                <a:gd name="T11" fmla="*/ 9 h 13"/>
                <a:gd name="T12" fmla="*/ 0 w 48"/>
                <a:gd name="T13" fmla="*/ 8 h 13"/>
                <a:gd name="T14" fmla="*/ 0 w 48"/>
                <a:gd name="T15" fmla="*/ 8 h 13"/>
                <a:gd name="T16" fmla="*/ 0 w 48"/>
                <a:gd name="T17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3">
                  <a:moveTo>
                    <a:pt x="0" y="9"/>
                  </a:moveTo>
                  <a:lnTo>
                    <a:pt x="48" y="13"/>
                  </a:lnTo>
                  <a:lnTo>
                    <a:pt x="48" y="6"/>
                  </a:lnTo>
                  <a:lnTo>
                    <a:pt x="1" y="0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8" name="Freeform 148"/>
            <p:cNvSpPr>
              <a:spLocks noChangeArrowheads="1"/>
            </p:cNvSpPr>
            <p:nvPr/>
          </p:nvSpPr>
          <p:spPr bwMode="auto">
            <a:xfrm>
              <a:off x="4281" y="2384"/>
              <a:ext cx="16" cy="4"/>
            </a:xfrm>
            <a:custGeom>
              <a:avLst/>
              <a:gdLst>
                <a:gd name="T0" fmla="*/ 0 w 48"/>
                <a:gd name="T1" fmla="*/ 7 h 10"/>
                <a:gd name="T2" fmla="*/ 47 w 48"/>
                <a:gd name="T3" fmla="*/ 10 h 10"/>
                <a:gd name="T4" fmla="*/ 48 w 48"/>
                <a:gd name="T5" fmla="*/ 4 h 10"/>
                <a:gd name="T6" fmla="*/ 0 w 48"/>
                <a:gd name="T7" fmla="*/ 0 h 10"/>
                <a:gd name="T8" fmla="*/ 0 w 48"/>
                <a:gd name="T9" fmla="*/ 6 h 10"/>
                <a:gd name="T10" fmla="*/ 0 w 48"/>
                <a:gd name="T11" fmla="*/ 7 h 10"/>
                <a:gd name="T12" fmla="*/ 0 w 48"/>
                <a:gd name="T13" fmla="*/ 6 h 10"/>
                <a:gd name="T14" fmla="*/ 0 w 48"/>
                <a:gd name="T15" fmla="*/ 7 h 10"/>
                <a:gd name="T16" fmla="*/ 0 w 48"/>
                <a:gd name="T1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0">
                  <a:moveTo>
                    <a:pt x="0" y="7"/>
                  </a:moveTo>
                  <a:lnTo>
                    <a:pt x="47" y="10"/>
                  </a:lnTo>
                  <a:lnTo>
                    <a:pt x="48" y="4"/>
                  </a:lnTo>
                  <a:lnTo>
                    <a:pt x="0" y="0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9" name="Freeform 149"/>
            <p:cNvSpPr>
              <a:spLocks noChangeArrowheads="1"/>
            </p:cNvSpPr>
            <p:nvPr/>
          </p:nvSpPr>
          <p:spPr bwMode="auto">
            <a:xfrm>
              <a:off x="4281" y="2387"/>
              <a:ext cx="16" cy="3"/>
            </a:xfrm>
            <a:custGeom>
              <a:avLst/>
              <a:gdLst>
                <a:gd name="T0" fmla="*/ 0 w 48"/>
                <a:gd name="T1" fmla="*/ 7 h 11"/>
                <a:gd name="T2" fmla="*/ 48 w 48"/>
                <a:gd name="T3" fmla="*/ 11 h 11"/>
                <a:gd name="T4" fmla="*/ 48 w 48"/>
                <a:gd name="T5" fmla="*/ 3 h 11"/>
                <a:gd name="T6" fmla="*/ 1 w 48"/>
                <a:gd name="T7" fmla="*/ 0 h 11"/>
                <a:gd name="T8" fmla="*/ 0 w 48"/>
                <a:gd name="T9" fmla="*/ 7 h 11"/>
                <a:gd name="T10" fmla="*/ 0 w 48"/>
                <a:gd name="T11" fmla="*/ 7 h 11"/>
                <a:gd name="T12" fmla="*/ 0 w 48"/>
                <a:gd name="T13" fmla="*/ 7 h 11"/>
                <a:gd name="T14" fmla="*/ 0 w 48"/>
                <a:gd name="T15" fmla="*/ 7 h 11"/>
                <a:gd name="T16" fmla="*/ 0 w 48"/>
                <a:gd name="T17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1">
                  <a:moveTo>
                    <a:pt x="0" y="7"/>
                  </a:moveTo>
                  <a:lnTo>
                    <a:pt x="48" y="11"/>
                  </a:lnTo>
                  <a:lnTo>
                    <a:pt x="48" y="3"/>
                  </a:lnTo>
                  <a:lnTo>
                    <a:pt x="1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0" name="Freeform 150"/>
            <p:cNvSpPr>
              <a:spLocks noChangeArrowheads="1"/>
            </p:cNvSpPr>
            <p:nvPr/>
          </p:nvSpPr>
          <p:spPr bwMode="auto">
            <a:xfrm>
              <a:off x="4281" y="2389"/>
              <a:ext cx="16" cy="3"/>
            </a:xfrm>
            <a:custGeom>
              <a:avLst/>
              <a:gdLst>
                <a:gd name="T0" fmla="*/ 0 w 48"/>
                <a:gd name="T1" fmla="*/ 9 h 10"/>
                <a:gd name="T2" fmla="*/ 47 w 48"/>
                <a:gd name="T3" fmla="*/ 10 h 10"/>
                <a:gd name="T4" fmla="*/ 48 w 48"/>
                <a:gd name="T5" fmla="*/ 2 h 10"/>
                <a:gd name="T6" fmla="*/ 0 w 48"/>
                <a:gd name="T7" fmla="*/ 0 h 10"/>
                <a:gd name="T8" fmla="*/ 0 w 48"/>
                <a:gd name="T9" fmla="*/ 8 h 10"/>
                <a:gd name="T10" fmla="*/ 0 w 48"/>
                <a:gd name="T11" fmla="*/ 9 h 10"/>
                <a:gd name="T12" fmla="*/ 0 w 48"/>
                <a:gd name="T13" fmla="*/ 8 h 10"/>
                <a:gd name="T14" fmla="*/ 0 w 48"/>
                <a:gd name="T15" fmla="*/ 9 h 10"/>
                <a:gd name="T16" fmla="*/ 0 w 48"/>
                <a:gd name="T1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0">
                  <a:moveTo>
                    <a:pt x="0" y="9"/>
                  </a:moveTo>
                  <a:lnTo>
                    <a:pt x="47" y="10"/>
                  </a:lnTo>
                  <a:lnTo>
                    <a:pt x="48" y="2"/>
                  </a:lnTo>
                  <a:lnTo>
                    <a:pt x="0" y="0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1" name="Freeform 151"/>
            <p:cNvSpPr>
              <a:spLocks noChangeArrowheads="1"/>
            </p:cNvSpPr>
            <p:nvPr/>
          </p:nvSpPr>
          <p:spPr bwMode="auto">
            <a:xfrm>
              <a:off x="4281" y="2336"/>
              <a:ext cx="15" cy="2"/>
            </a:xfrm>
            <a:custGeom>
              <a:avLst/>
              <a:gdLst>
                <a:gd name="T0" fmla="*/ 0 w 47"/>
                <a:gd name="T1" fmla="*/ 7 h 7"/>
                <a:gd name="T2" fmla="*/ 47 w 47"/>
                <a:gd name="T3" fmla="*/ 7 h 7"/>
                <a:gd name="T4" fmla="*/ 47 w 47"/>
                <a:gd name="T5" fmla="*/ 0 h 7"/>
                <a:gd name="T6" fmla="*/ 0 w 47"/>
                <a:gd name="T7" fmla="*/ 0 h 7"/>
                <a:gd name="T8" fmla="*/ 0 w 47"/>
                <a:gd name="T9" fmla="*/ 7 h 7"/>
                <a:gd name="T10" fmla="*/ 0 w 47"/>
                <a:gd name="T11" fmla="*/ 7 h 7"/>
                <a:gd name="T12" fmla="*/ 47 w 47"/>
                <a:gd name="T13" fmla="*/ 7 h 7"/>
                <a:gd name="T14" fmla="*/ 47 w 47"/>
                <a:gd name="T15" fmla="*/ 7 h 7"/>
                <a:gd name="T16" fmla="*/ 47 w 47"/>
                <a:gd name="T17" fmla="*/ 7 h 7"/>
                <a:gd name="T18" fmla="*/ 0 w 47"/>
                <a:gd name="T1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7">
                  <a:moveTo>
                    <a:pt x="0" y="7"/>
                  </a:moveTo>
                  <a:lnTo>
                    <a:pt x="47" y="7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47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2" name="Freeform 152"/>
            <p:cNvSpPr>
              <a:spLocks noChangeArrowheads="1"/>
            </p:cNvSpPr>
            <p:nvPr/>
          </p:nvSpPr>
          <p:spPr bwMode="auto">
            <a:xfrm>
              <a:off x="4281" y="2394"/>
              <a:ext cx="15" cy="3"/>
            </a:xfrm>
            <a:custGeom>
              <a:avLst/>
              <a:gdLst>
                <a:gd name="T0" fmla="*/ 0 w 47"/>
                <a:gd name="T1" fmla="*/ 9 h 9"/>
                <a:gd name="T2" fmla="*/ 47 w 47"/>
                <a:gd name="T3" fmla="*/ 7 h 9"/>
                <a:gd name="T4" fmla="*/ 47 w 47"/>
                <a:gd name="T5" fmla="*/ 0 h 9"/>
                <a:gd name="T6" fmla="*/ 0 w 47"/>
                <a:gd name="T7" fmla="*/ 0 h 9"/>
                <a:gd name="T8" fmla="*/ 0 w 47"/>
                <a:gd name="T9" fmla="*/ 7 h 9"/>
                <a:gd name="T10" fmla="*/ 0 w 47"/>
                <a:gd name="T11" fmla="*/ 9 h 9"/>
                <a:gd name="T12" fmla="*/ 0 w 47"/>
                <a:gd name="T13" fmla="*/ 7 h 9"/>
                <a:gd name="T14" fmla="*/ 0 w 47"/>
                <a:gd name="T15" fmla="*/ 9 h 9"/>
                <a:gd name="T16" fmla="*/ 0 w 47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9">
                  <a:moveTo>
                    <a:pt x="0" y="9"/>
                  </a:moveTo>
                  <a:lnTo>
                    <a:pt x="47" y="7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3" name="Freeform 153"/>
            <p:cNvSpPr>
              <a:spLocks noChangeArrowheads="1"/>
            </p:cNvSpPr>
            <p:nvPr/>
          </p:nvSpPr>
          <p:spPr bwMode="auto">
            <a:xfrm>
              <a:off x="4281" y="2396"/>
              <a:ext cx="16" cy="4"/>
            </a:xfrm>
            <a:custGeom>
              <a:avLst/>
              <a:gdLst>
                <a:gd name="T0" fmla="*/ 0 w 48"/>
                <a:gd name="T1" fmla="*/ 10 h 10"/>
                <a:gd name="T2" fmla="*/ 48 w 48"/>
                <a:gd name="T3" fmla="*/ 8 h 10"/>
                <a:gd name="T4" fmla="*/ 47 w 48"/>
                <a:gd name="T5" fmla="*/ 0 h 10"/>
                <a:gd name="T6" fmla="*/ 0 w 48"/>
                <a:gd name="T7" fmla="*/ 3 h 10"/>
                <a:gd name="T8" fmla="*/ 0 w 48"/>
                <a:gd name="T9" fmla="*/ 10 h 10"/>
                <a:gd name="T10" fmla="*/ 0 w 48"/>
                <a:gd name="T11" fmla="*/ 10 h 10"/>
                <a:gd name="T12" fmla="*/ 0 w 48"/>
                <a:gd name="T13" fmla="*/ 10 h 10"/>
                <a:gd name="T14" fmla="*/ 0 w 48"/>
                <a:gd name="T15" fmla="*/ 10 h 10"/>
                <a:gd name="T16" fmla="*/ 0 w 48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0">
                  <a:moveTo>
                    <a:pt x="0" y="10"/>
                  </a:moveTo>
                  <a:lnTo>
                    <a:pt x="48" y="8"/>
                  </a:lnTo>
                  <a:lnTo>
                    <a:pt x="47" y="0"/>
                  </a:lnTo>
                  <a:lnTo>
                    <a:pt x="0" y="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4" name="Freeform 154"/>
            <p:cNvSpPr>
              <a:spLocks noChangeArrowheads="1"/>
            </p:cNvSpPr>
            <p:nvPr/>
          </p:nvSpPr>
          <p:spPr bwMode="auto">
            <a:xfrm>
              <a:off x="4281" y="2399"/>
              <a:ext cx="16" cy="3"/>
            </a:xfrm>
            <a:custGeom>
              <a:avLst/>
              <a:gdLst>
                <a:gd name="T0" fmla="*/ 1 w 48"/>
                <a:gd name="T1" fmla="*/ 10 h 10"/>
                <a:gd name="T2" fmla="*/ 48 w 48"/>
                <a:gd name="T3" fmla="*/ 7 h 10"/>
                <a:gd name="T4" fmla="*/ 48 w 48"/>
                <a:gd name="T5" fmla="*/ 0 h 10"/>
                <a:gd name="T6" fmla="*/ 0 w 48"/>
                <a:gd name="T7" fmla="*/ 2 h 10"/>
                <a:gd name="T8" fmla="*/ 1 w 48"/>
                <a:gd name="T9" fmla="*/ 9 h 10"/>
                <a:gd name="T10" fmla="*/ 1 w 48"/>
                <a:gd name="T11" fmla="*/ 10 h 10"/>
                <a:gd name="T12" fmla="*/ 1 w 48"/>
                <a:gd name="T13" fmla="*/ 9 h 10"/>
                <a:gd name="T14" fmla="*/ 1 w 48"/>
                <a:gd name="T15" fmla="*/ 10 h 10"/>
                <a:gd name="T16" fmla="*/ 1 w 48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0">
                  <a:moveTo>
                    <a:pt x="1" y="10"/>
                  </a:moveTo>
                  <a:lnTo>
                    <a:pt x="48" y="7"/>
                  </a:lnTo>
                  <a:lnTo>
                    <a:pt x="48" y="0"/>
                  </a:lnTo>
                  <a:lnTo>
                    <a:pt x="0" y="2"/>
                  </a:lnTo>
                  <a:lnTo>
                    <a:pt x="1" y="9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5" name="Freeform 155"/>
            <p:cNvSpPr>
              <a:spLocks noChangeArrowheads="1"/>
            </p:cNvSpPr>
            <p:nvPr/>
          </p:nvSpPr>
          <p:spPr bwMode="auto">
            <a:xfrm>
              <a:off x="4281" y="2401"/>
              <a:ext cx="16" cy="4"/>
            </a:xfrm>
            <a:custGeom>
              <a:avLst/>
              <a:gdLst>
                <a:gd name="T0" fmla="*/ 0 w 48"/>
                <a:gd name="T1" fmla="*/ 13 h 13"/>
                <a:gd name="T2" fmla="*/ 48 w 48"/>
                <a:gd name="T3" fmla="*/ 7 h 13"/>
                <a:gd name="T4" fmla="*/ 47 w 48"/>
                <a:gd name="T5" fmla="*/ 0 h 13"/>
                <a:gd name="T6" fmla="*/ 0 w 48"/>
                <a:gd name="T7" fmla="*/ 4 h 13"/>
                <a:gd name="T8" fmla="*/ 0 w 48"/>
                <a:gd name="T9" fmla="*/ 12 h 13"/>
                <a:gd name="T10" fmla="*/ 0 w 48"/>
                <a:gd name="T11" fmla="*/ 13 h 13"/>
                <a:gd name="T12" fmla="*/ 0 w 48"/>
                <a:gd name="T13" fmla="*/ 12 h 13"/>
                <a:gd name="T14" fmla="*/ 0 w 48"/>
                <a:gd name="T15" fmla="*/ 12 h 13"/>
                <a:gd name="T16" fmla="*/ 0 w 48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3">
                  <a:moveTo>
                    <a:pt x="0" y="13"/>
                  </a:moveTo>
                  <a:lnTo>
                    <a:pt x="48" y="7"/>
                  </a:lnTo>
                  <a:lnTo>
                    <a:pt x="47" y="0"/>
                  </a:lnTo>
                  <a:lnTo>
                    <a:pt x="0" y="4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6" name="Freeform 156"/>
            <p:cNvSpPr>
              <a:spLocks noChangeArrowheads="1"/>
            </p:cNvSpPr>
            <p:nvPr/>
          </p:nvSpPr>
          <p:spPr bwMode="auto">
            <a:xfrm>
              <a:off x="4281" y="2403"/>
              <a:ext cx="16" cy="5"/>
            </a:xfrm>
            <a:custGeom>
              <a:avLst/>
              <a:gdLst>
                <a:gd name="T0" fmla="*/ 1 w 48"/>
                <a:gd name="T1" fmla="*/ 14 h 14"/>
                <a:gd name="T2" fmla="*/ 48 w 48"/>
                <a:gd name="T3" fmla="*/ 8 h 14"/>
                <a:gd name="T4" fmla="*/ 48 w 48"/>
                <a:gd name="T5" fmla="*/ 0 h 14"/>
                <a:gd name="T6" fmla="*/ 0 w 48"/>
                <a:gd name="T7" fmla="*/ 7 h 14"/>
                <a:gd name="T8" fmla="*/ 1 w 48"/>
                <a:gd name="T9" fmla="*/ 13 h 14"/>
                <a:gd name="T10" fmla="*/ 1 w 48"/>
                <a:gd name="T11" fmla="*/ 14 h 14"/>
                <a:gd name="T12" fmla="*/ 1 w 48"/>
                <a:gd name="T13" fmla="*/ 13 h 14"/>
                <a:gd name="T14" fmla="*/ 1 w 48"/>
                <a:gd name="T15" fmla="*/ 14 h 14"/>
                <a:gd name="T16" fmla="*/ 1 w 48"/>
                <a:gd name="T1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4">
                  <a:moveTo>
                    <a:pt x="1" y="14"/>
                  </a:moveTo>
                  <a:lnTo>
                    <a:pt x="48" y="8"/>
                  </a:lnTo>
                  <a:lnTo>
                    <a:pt x="48" y="0"/>
                  </a:lnTo>
                  <a:lnTo>
                    <a:pt x="0" y="7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7" name="Freeform 157"/>
            <p:cNvSpPr>
              <a:spLocks noChangeArrowheads="1"/>
            </p:cNvSpPr>
            <p:nvPr/>
          </p:nvSpPr>
          <p:spPr bwMode="auto">
            <a:xfrm>
              <a:off x="4281" y="2406"/>
              <a:ext cx="16" cy="4"/>
            </a:xfrm>
            <a:custGeom>
              <a:avLst/>
              <a:gdLst>
                <a:gd name="T0" fmla="*/ 1 w 48"/>
                <a:gd name="T1" fmla="*/ 13 h 13"/>
                <a:gd name="T2" fmla="*/ 48 w 48"/>
                <a:gd name="T3" fmla="*/ 6 h 13"/>
                <a:gd name="T4" fmla="*/ 47 w 48"/>
                <a:gd name="T5" fmla="*/ 0 h 13"/>
                <a:gd name="T6" fmla="*/ 0 w 48"/>
                <a:gd name="T7" fmla="*/ 6 h 13"/>
                <a:gd name="T8" fmla="*/ 1 w 48"/>
                <a:gd name="T9" fmla="*/ 13 h 13"/>
                <a:gd name="T10" fmla="*/ 1 w 48"/>
                <a:gd name="T11" fmla="*/ 13 h 13"/>
                <a:gd name="T12" fmla="*/ 1 w 48"/>
                <a:gd name="T13" fmla="*/ 13 h 13"/>
                <a:gd name="T14" fmla="*/ 1 w 48"/>
                <a:gd name="T15" fmla="*/ 13 h 13"/>
                <a:gd name="T16" fmla="*/ 1 w 48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3">
                  <a:moveTo>
                    <a:pt x="1" y="13"/>
                  </a:moveTo>
                  <a:lnTo>
                    <a:pt x="48" y="6"/>
                  </a:lnTo>
                  <a:lnTo>
                    <a:pt x="47" y="0"/>
                  </a:lnTo>
                  <a:lnTo>
                    <a:pt x="0" y="6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8" name="Freeform 158"/>
            <p:cNvSpPr>
              <a:spLocks noChangeArrowheads="1"/>
            </p:cNvSpPr>
            <p:nvPr/>
          </p:nvSpPr>
          <p:spPr bwMode="auto">
            <a:xfrm>
              <a:off x="4282" y="2408"/>
              <a:ext cx="16" cy="5"/>
            </a:xfrm>
            <a:custGeom>
              <a:avLst/>
              <a:gdLst>
                <a:gd name="T0" fmla="*/ 1 w 48"/>
                <a:gd name="T1" fmla="*/ 15 h 15"/>
                <a:gd name="T2" fmla="*/ 48 w 48"/>
                <a:gd name="T3" fmla="*/ 6 h 15"/>
                <a:gd name="T4" fmla="*/ 47 w 48"/>
                <a:gd name="T5" fmla="*/ 0 h 15"/>
                <a:gd name="T6" fmla="*/ 0 w 48"/>
                <a:gd name="T7" fmla="*/ 7 h 15"/>
                <a:gd name="T8" fmla="*/ 1 w 48"/>
                <a:gd name="T9" fmla="*/ 15 h 15"/>
                <a:gd name="T10" fmla="*/ 1 w 48"/>
                <a:gd name="T11" fmla="*/ 15 h 15"/>
                <a:gd name="T12" fmla="*/ 1 w 48"/>
                <a:gd name="T13" fmla="*/ 15 h 15"/>
                <a:gd name="T14" fmla="*/ 1 w 48"/>
                <a:gd name="T15" fmla="*/ 15 h 15"/>
                <a:gd name="T16" fmla="*/ 1 w 48"/>
                <a:gd name="T1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5">
                  <a:moveTo>
                    <a:pt x="1" y="15"/>
                  </a:moveTo>
                  <a:lnTo>
                    <a:pt x="48" y="6"/>
                  </a:lnTo>
                  <a:lnTo>
                    <a:pt x="47" y="0"/>
                  </a:lnTo>
                  <a:lnTo>
                    <a:pt x="0" y="7"/>
                  </a:lnTo>
                  <a:lnTo>
                    <a:pt x="1" y="15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9" name="Freeform 159"/>
            <p:cNvSpPr>
              <a:spLocks noChangeArrowheads="1"/>
            </p:cNvSpPr>
            <p:nvPr/>
          </p:nvSpPr>
          <p:spPr bwMode="auto">
            <a:xfrm>
              <a:off x="4282" y="2410"/>
              <a:ext cx="16" cy="5"/>
            </a:xfrm>
            <a:custGeom>
              <a:avLst/>
              <a:gdLst>
                <a:gd name="T0" fmla="*/ 2 w 48"/>
                <a:gd name="T1" fmla="*/ 17 h 17"/>
                <a:gd name="T2" fmla="*/ 48 w 48"/>
                <a:gd name="T3" fmla="*/ 8 h 17"/>
                <a:gd name="T4" fmla="*/ 47 w 48"/>
                <a:gd name="T5" fmla="*/ 0 h 17"/>
                <a:gd name="T6" fmla="*/ 0 w 48"/>
                <a:gd name="T7" fmla="*/ 9 h 17"/>
                <a:gd name="T8" fmla="*/ 2 w 48"/>
                <a:gd name="T9" fmla="*/ 16 h 17"/>
                <a:gd name="T10" fmla="*/ 2 w 48"/>
                <a:gd name="T11" fmla="*/ 17 h 17"/>
                <a:gd name="T12" fmla="*/ 2 w 48"/>
                <a:gd name="T13" fmla="*/ 16 h 17"/>
                <a:gd name="T14" fmla="*/ 2 w 48"/>
                <a:gd name="T15" fmla="*/ 16 h 17"/>
                <a:gd name="T16" fmla="*/ 2 w 48"/>
                <a:gd name="T1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7">
                  <a:moveTo>
                    <a:pt x="2" y="17"/>
                  </a:moveTo>
                  <a:lnTo>
                    <a:pt x="48" y="8"/>
                  </a:lnTo>
                  <a:lnTo>
                    <a:pt x="47" y="0"/>
                  </a:lnTo>
                  <a:lnTo>
                    <a:pt x="0" y="9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0" name="Freeform 160"/>
            <p:cNvSpPr>
              <a:spLocks noChangeArrowheads="1"/>
            </p:cNvSpPr>
            <p:nvPr/>
          </p:nvSpPr>
          <p:spPr bwMode="auto">
            <a:xfrm>
              <a:off x="4283" y="2412"/>
              <a:ext cx="16" cy="5"/>
            </a:xfrm>
            <a:custGeom>
              <a:avLst/>
              <a:gdLst>
                <a:gd name="T0" fmla="*/ 1 w 48"/>
                <a:gd name="T1" fmla="*/ 17 h 17"/>
                <a:gd name="T2" fmla="*/ 48 w 48"/>
                <a:gd name="T3" fmla="*/ 7 h 17"/>
                <a:gd name="T4" fmla="*/ 46 w 48"/>
                <a:gd name="T5" fmla="*/ 0 h 17"/>
                <a:gd name="T6" fmla="*/ 0 w 48"/>
                <a:gd name="T7" fmla="*/ 11 h 17"/>
                <a:gd name="T8" fmla="*/ 1 w 48"/>
                <a:gd name="T9" fmla="*/ 17 h 17"/>
                <a:gd name="T10" fmla="*/ 1 w 48"/>
                <a:gd name="T11" fmla="*/ 17 h 17"/>
                <a:gd name="T12" fmla="*/ 1 w 48"/>
                <a:gd name="T13" fmla="*/ 17 h 17"/>
                <a:gd name="T14" fmla="*/ 1 w 48"/>
                <a:gd name="T15" fmla="*/ 17 h 17"/>
                <a:gd name="T16" fmla="*/ 1 w 48"/>
                <a:gd name="T1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7">
                  <a:moveTo>
                    <a:pt x="1" y="17"/>
                  </a:moveTo>
                  <a:lnTo>
                    <a:pt x="48" y="7"/>
                  </a:lnTo>
                  <a:lnTo>
                    <a:pt x="46" y="0"/>
                  </a:lnTo>
                  <a:lnTo>
                    <a:pt x="0" y="1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1" name="Freeform 161"/>
            <p:cNvSpPr>
              <a:spLocks noChangeArrowheads="1"/>
            </p:cNvSpPr>
            <p:nvPr/>
          </p:nvSpPr>
          <p:spPr bwMode="auto">
            <a:xfrm>
              <a:off x="4283" y="2414"/>
              <a:ext cx="16" cy="6"/>
            </a:xfrm>
            <a:custGeom>
              <a:avLst/>
              <a:gdLst>
                <a:gd name="T0" fmla="*/ 2 w 49"/>
                <a:gd name="T1" fmla="*/ 18 h 18"/>
                <a:gd name="T2" fmla="*/ 49 w 49"/>
                <a:gd name="T3" fmla="*/ 6 h 18"/>
                <a:gd name="T4" fmla="*/ 47 w 49"/>
                <a:gd name="T5" fmla="*/ 0 h 18"/>
                <a:gd name="T6" fmla="*/ 0 w 49"/>
                <a:gd name="T7" fmla="*/ 10 h 18"/>
                <a:gd name="T8" fmla="*/ 2 w 49"/>
                <a:gd name="T9" fmla="*/ 17 h 18"/>
                <a:gd name="T10" fmla="*/ 2 w 49"/>
                <a:gd name="T11" fmla="*/ 18 h 18"/>
                <a:gd name="T12" fmla="*/ 2 w 49"/>
                <a:gd name="T13" fmla="*/ 17 h 18"/>
                <a:gd name="T14" fmla="*/ 2 w 49"/>
                <a:gd name="T15" fmla="*/ 18 h 18"/>
                <a:gd name="T16" fmla="*/ 2 w 49"/>
                <a:gd name="T1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8">
                  <a:moveTo>
                    <a:pt x="2" y="18"/>
                  </a:moveTo>
                  <a:lnTo>
                    <a:pt x="49" y="6"/>
                  </a:lnTo>
                  <a:lnTo>
                    <a:pt x="47" y="0"/>
                  </a:lnTo>
                  <a:lnTo>
                    <a:pt x="0" y="10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2" name="Freeform 162"/>
            <p:cNvSpPr>
              <a:spLocks noChangeArrowheads="1"/>
            </p:cNvSpPr>
            <p:nvPr/>
          </p:nvSpPr>
          <p:spPr bwMode="auto">
            <a:xfrm>
              <a:off x="4284" y="2416"/>
              <a:ext cx="16" cy="6"/>
            </a:xfrm>
            <a:custGeom>
              <a:avLst/>
              <a:gdLst>
                <a:gd name="T0" fmla="*/ 2 w 49"/>
                <a:gd name="T1" fmla="*/ 20 h 20"/>
                <a:gd name="T2" fmla="*/ 49 w 49"/>
                <a:gd name="T3" fmla="*/ 6 h 20"/>
                <a:gd name="T4" fmla="*/ 47 w 49"/>
                <a:gd name="T5" fmla="*/ 0 h 20"/>
                <a:gd name="T6" fmla="*/ 0 w 49"/>
                <a:gd name="T7" fmla="*/ 13 h 20"/>
                <a:gd name="T8" fmla="*/ 2 w 49"/>
                <a:gd name="T9" fmla="*/ 19 h 20"/>
                <a:gd name="T10" fmla="*/ 2 w 49"/>
                <a:gd name="T11" fmla="*/ 20 h 20"/>
                <a:gd name="T12" fmla="*/ 2 w 49"/>
                <a:gd name="T13" fmla="*/ 19 h 20"/>
                <a:gd name="T14" fmla="*/ 2 w 49"/>
                <a:gd name="T15" fmla="*/ 20 h 20"/>
                <a:gd name="T16" fmla="*/ 2 w 49"/>
                <a:gd name="T1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20">
                  <a:moveTo>
                    <a:pt x="2" y="20"/>
                  </a:moveTo>
                  <a:lnTo>
                    <a:pt x="49" y="6"/>
                  </a:lnTo>
                  <a:lnTo>
                    <a:pt x="47" y="0"/>
                  </a:lnTo>
                  <a:lnTo>
                    <a:pt x="0" y="13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2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3" name="Freeform 163"/>
            <p:cNvSpPr>
              <a:spLocks noChangeArrowheads="1"/>
            </p:cNvSpPr>
            <p:nvPr/>
          </p:nvSpPr>
          <p:spPr bwMode="auto">
            <a:xfrm>
              <a:off x="4284" y="2417"/>
              <a:ext cx="16" cy="8"/>
            </a:xfrm>
            <a:custGeom>
              <a:avLst/>
              <a:gdLst>
                <a:gd name="T0" fmla="*/ 2 w 48"/>
                <a:gd name="T1" fmla="*/ 22 h 22"/>
                <a:gd name="T2" fmla="*/ 48 w 48"/>
                <a:gd name="T3" fmla="*/ 7 h 22"/>
                <a:gd name="T4" fmla="*/ 46 w 48"/>
                <a:gd name="T5" fmla="*/ 0 h 22"/>
                <a:gd name="T6" fmla="*/ 0 w 48"/>
                <a:gd name="T7" fmla="*/ 15 h 22"/>
                <a:gd name="T8" fmla="*/ 2 w 48"/>
                <a:gd name="T9" fmla="*/ 21 h 22"/>
                <a:gd name="T10" fmla="*/ 2 w 48"/>
                <a:gd name="T11" fmla="*/ 22 h 22"/>
                <a:gd name="T12" fmla="*/ 2 w 48"/>
                <a:gd name="T13" fmla="*/ 21 h 22"/>
                <a:gd name="T14" fmla="*/ 2 w 48"/>
                <a:gd name="T15" fmla="*/ 21 h 22"/>
                <a:gd name="T16" fmla="*/ 2 w 48"/>
                <a:gd name="T1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22">
                  <a:moveTo>
                    <a:pt x="2" y="22"/>
                  </a:moveTo>
                  <a:lnTo>
                    <a:pt x="48" y="7"/>
                  </a:lnTo>
                  <a:lnTo>
                    <a:pt x="46" y="0"/>
                  </a:lnTo>
                  <a:lnTo>
                    <a:pt x="0" y="15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4" name="Freeform 164"/>
            <p:cNvSpPr>
              <a:spLocks noChangeArrowheads="1"/>
            </p:cNvSpPr>
            <p:nvPr/>
          </p:nvSpPr>
          <p:spPr bwMode="auto">
            <a:xfrm>
              <a:off x="4285" y="2420"/>
              <a:ext cx="16" cy="7"/>
            </a:xfrm>
            <a:custGeom>
              <a:avLst/>
              <a:gdLst>
                <a:gd name="T0" fmla="*/ 3 w 48"/>
                <a:gd name="T1" fmla="*/ 22 h 22"/>
                <a:gd name="T2" fmla="*/ 48 w 48"/>
                <a:gd name="T3" fmla="*/ 5 h 22"/>
                <a:gd name="T4" fmla="*/ 46 w 48"/>
                <a:gd name="T5" fmla="*/ 0 h 22"/>
                <a:gd name="T6" fmla="*/ 0 w 48"/>
                <a:gd name="T7" fmla="*/ 15 h 22"/>
                <a:gd name="T8" fmla="*/ 3 w 48"/>
                <a:gd name="T9" fmla="*/ 21 h 22"/>
                <a:gd name="T10" fmla="*/ 3 w 48"/>
                <a:gd name="T11" fmla="*/ 22 h 22"/>
                <a:gd name="T12" fmla="*/ 3 w 48"/>
                <a:gd name="T13" fmla="*/ 21 h 22"/>
                <a:gd name="T14" fmla="*/ 3 w 48"/>
                <a:gd name="T15" fmla="*/ 22 h 22"/>
                <a:gd name="T16" fmla="*/ 3 w 48"/>
                <a:gd name="T1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22">
                  <a:moveTo>
                    <a:pt x="3" y="22"/>
                  </a:moveTo>
                  <a:lnTo>
                    <a:pt x="48" y="5"/>
                  </a:lnTo>
                  <a:lnTo>
                    <a:pt x="46" y="0"/>
                  </a:lnTo>
                  <a:lnTo>
                    <a:pt x="0" y="15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3" y="22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5" name="Freeform 165"/>
            <p:cNvSpPr>
              <a:spLocks noChangeArrowheads="1"/>
            </p:cNvSpPr>
            <p:nvPr/>
          </p:nvSpPr>
          <p:spPr bwMode="auto">
            <a:xfrm>
              <a:off x="4286" y="2421"/>
              <a:ext cx="16" cy="8"/>
            </a:xfrm>
            <a:custGeom>
              <a:avLst/>
              <a:gdLst>
                <a:gd name="T0" fmla="*/ 3 w 47"/>
                <a:gd name="T1" fmla="*/ 24 h 24"/>
                <a:gd name="T2" fmla="*/ 47 w 47"/>
                <a:gd name="T3" fmla="*/ 6 h 24"/>
                <a:gd name="T4" fmla="*/ 45 w 47"/>
                <a:gd name="T5" fmla="*/ 0 h 24"/>
                <a:gd name="T6" fmla="*/ 0 w 47"/>
                <a:gd name="T7" fmla="*/ 18 h 24"/>
                <a:gd name="T8" fmla="*/ 3 w 47"/>
                <a:gd name="T9" fmla="*/ 24 h 24"/>
                <a:gd name="T10" fmla="*/ 3 w 47"/>
                <a:gd name="T11" fmla="*/ 24 h 24"/>
                <a:gd name="T12" fmla="*/ 47 w 47"/>
                <a:gd name="T13" fmla="*/ 6 h 24"/>
                <a:gd name="T14" fmla="*/ 47 w 47"/>
                <a:gd name="T15" fmla="*/ 6 h 24"/>
                <a:gd name="T16" fmla="*/ 47 w 47"/>
                <a:gd name="T17" fmla="*/ 6 h 24"/>
                <a:gd name="T18" fmla="*/ 3 w 47"/>
                <a:gd name="T1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24">
                  <a:moveTo>
                    <a:pt x="3" y="24"/>
                  </a:moveTo>
                  <a:lnTo>
                    <a:pt x="47" y="6"/>
                  </a:lnTo>
                  <a:lnTo>
                    <a:pt x="45" y="0"/>
                  </a:lnTo>
                  <a:lnTo>
                    <a:pt x="0" y="18"/>
                  </a:lnTo>
                  <a:lnTo>
                    <a:pt x="3" y="24"/>
                  </a:lnTo>
                  <a:lnTo>
                    <a:pt x="47" y="6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6" name="Freeform 166"/>
            <p:cNvSpPr>
              <a:spLocks noChangeArrowheads="1"/>
            </p:cNvSpPr>
            <p:nvPr/>
          </p:nvSpPr>
          <p:spPr bwMode="auto">
            <a:xfrm>
              <a:off x="4287" y="2423"/>
              <a:ext cx="15" cy="8"/>
            </a:xfrm>
            <a:custGeom>
              <a:avLst/>
              <a:gdLst>
                <a:gd name="T0" fmla="*/ 3 w 46"/>
                <a:gd name="T1" fmla="*/ 25 h 25"/>
                <a:gd name="T2" fmla="*/ 46 w 46"/>
                <a:gd name="T3" fmla="*/ 5 h 25"/>
                <a:gd name="T4" fmla="*/ 44 w 46"/>
                <a:gd name="T5" fmla="*/ 0 h 25"/>
                <a:gd name="T6" fmla="*/ 0 w 46"/>
                <a:gd name="T7" fmla="*/ 18 h 25"/>
                <a:gd name="T8" fmla="*/ 2 w 46"/>
                <a:gd name="T9" fmla="*/ 23 h 25"/>
                <a:gd name="T10" fmla="*/ 3 w 46"/>
                <a:gd name="T11" fmla="*/ 25 h 25"/>
                <a:gd name="T12" fmla="*/ 2 w 46"/>
                <a:gd name="T13" fmla="*/ 23 h 25"/>
                <a:gd name="T14" fmla="*/ 2 w 46"/>
                <a:gd name="T15" fmla="*/ 24 h 25"/>
                <a:gd name="T16" fmla="*/ 3 w 46"/>
                <a:gd name="T1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25">
                  <a:moveTo>
                    <a:pt x="3" y="25"/>
                  </a:moveTo>
                  <a:lnTo>
                    <a:pt x="46" y="5"/>
                  </a:lnTo>
                  <a:lnTo>
                    <a:pt x="44" y="0"/>
                  </a:lnTo>
                  <a:lnTo>
                    <a:pt x="0" y="18"/>
                  </a:lnTo>
                  <a:lnTo>
                    <a:pt x="2" y="23"/>
                  </a:lnTo>
                  <a:lnTo>
                    <a:pt x="3" y="25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7" name="Freeform 167"/>
            <p:cNvSpPr>
              <a:spLocks noChangeArrowheads="1"/>
            </p:cNvSpPr>
            <p:nvPr/>
          </p:nvSpPr>
          <p:spPr bwMode="auto">
            <a:xfrm>
              <a:off x="4288" y="2424"/>
              <a:ext cx="15" cy="9"/>
            </a:xfrm>
            <a:custGeom>
              <a:avLst/>
              <a:gdLst>
                <a:gd name="T0" fmla="*/ 2 w 45"/>
                <a:gd name="T1" fmla="*/ 28 h 28"/>
                <a:gd name="T2" fmla="*/ 45 w 45"/>
                <a:gd name="T3" fmla="*/ 6 h 28"/>
                <a:gd name="T4" fmla="*/ 42 w 45"/>
                <a:gd name="T5" fmla="*/ 0 h 28"/>
                <a:gd name="T6" fmla="*/ 0 w 45"/>
                <a:gd name="T7" fmla="*/ 22 h 28"/>
                <a:gd name="T8" fmla="*/ 2 w 45"/>
                <a:gd name="T9" fmla="*/ 28 h 28"/>
                <a:gd name="T10" fmla="*/ 2 w 45"/>
                <a:gd name="T11" fmla="*/ 28 h 28"/>
                <a:gd name="T12" fmla="*/ 2 w 45"/>
                <a:gd name="T13" fmla="*/ 28 h 28"/>
                <a:gd name="T14" fmla="*/ 2 w 45"/>
                <a:gd name="T15" fmla="*/ 28 h 28"/>
                <a:gd name="T16" fmla="*/ 2 w 45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28">
                  <a:moveTo>
                    <a:pt x="2" y="28"/>
                  </a:moveTo>
                  <a:lnTo>
                    <a:pt x="45" y="6"/>
                  </a:lnTo>
                  <a:lnTo>
                    <a:pt x="42" y="0"/>
                  </a:lnTo>
                  <a:lnTo>
                    <a:pt x="0" y="22"/>
                  </a:lnTo>
                  <a:lnTo>
                    <a:pt x="2" y="28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8" name="Freeform 168"/>
            <p:cNvSpPr>
              <a:spLocks noChangeArrowheads="1"/>
            </p:cNvSpPr>
            <p:nvPr/>
          </p:nvSpPr>
          <p:spPr bwMode="auto">
            <a:xfrm>
              <a:off x="4289" y="2426"/>
              <a:ext cx="15" cy="9"/>
            </a:xfrm>
            <a:custGeom>
              <a:avLst/>
              <a:gdLst>
                <a:gd name="T0" fmla="*/ 3 w 45"/>
                <a:gd name="T1" fmla="*/ 28 h 28"/>
                <a:gd name="T2" fmla="*/ 45 w 45"/>
                <a:gd name="T3" fmla="*/ 5 h 28"/>
                <a:gd name="T4" fmla="*/ 42 w 45"/>
                <a:gd name="T5" fmla="*/ 0 h 28"/>
                <a:gd name="T6" fmla="*/ 0 w 45"/>
                <a:gd name="T7" fmla="*/ 22 h 28"/>
                <a:gd name="T8" fmla="*/ 3 w 45"/>
                <a:gd name="T9" fmla="*/ 27 h 28"/>
                <a:gd name="T10" fmla="*/ 3 w 45"/>
                <a:gd name="T11" fmla="*/ 28 h 28"/>
                <a:gd name="T12" fmla="*/ 3 w 45"/>
                <a:gd name="T13" fmla="*/ 27 h 28"/>
                <a:gd name="T14" fmla="*/ 3 w 45"/>
                <a:gd name="T15" fmla="*/ 28 h 28"/>
                <a:gd name="T16" fmla="*/ 3 w 45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28">
                  <a:moveTo>
                    <a:pt x="3" y="28"/>
                  </a:moveTo>
                  <a:lnTo>
                    <a:pt x="45" y="5"/>
                  </a:lnTo>
                  <a:lnTo>
                    <a:pt x="42" y="0"/>
                  </a:lnTo>
                  <a:lnTo>
                    <a:pt x="0" y="22"/>
                  </a:lnTo>
                  <a:lnTo>
                    <a:pt x="3" y="27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3" y="28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9" name="Freeform 169"/>
            <p:cNvSpPr>
              <a:spLocks noChangeArrowheads="1"/>
            </p:cNvSpPr>
            <p:nvPr/>
          </p:nvSpPr>
          <p:spPr bwMode="auto">
            <a:xfrm>
              <a:off x="4290" y="2427"/>
              <a:ext cx="14" cy="10"/>
            </a:xfrm>
            <a:custGeom>
              <a:avLst/>
              <a:gdLst>
                <a:gd name="T0" fmla="*/ 3 w 44"/>
                <a:gd name="T1" fmla="*/ 29 h 29"/>
                <a:gd name="T2" fmla="*/ 44 w 44"/>
                <a:gd name="T3" fmla="*/ 4 h 29"/>
                <a:gd name="T4" fmla="*/ 42 w 44"/>
                <a:gd name="T5" fmla="*/ 0 h 29"/>
                <a:gd name="T6" fmla="*/ 0 w 44"/>
                <a:gd name="T7" fmla="*/ 24 h 29"/>
                <a:gd name="T8" fmla="*/ 3 w 44"/>
                <a:gd name="T9" fmla="*/ 28 h 29"/>
                <a:gd name="T10" fmla="*/ 3 w 44"/>
                <a:gd name="T11" fmla="*/ 29 h 29"/>
                <a:gd name="T12" fmla="*/ 3 w 44"/>
                <a:gd name="T13" fmla="*/ 28 h 29"/>
                <a:gd name="T14" fmla="*/ 3 w 44"/>
                <a:gd name="T15" fmla="*/ 29 h 29"/>
                <a:gd name="T16" fmla="*/ 3 w 44"/>
                <a:gd name="T1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9">
                  <a:moveTo>
                    <a:pt x="3" y="29"/>
                  </a:moveTo>
                  <a:lnTo>
                    <a:pt x="44" y="4"/>
                  </a:lnTo>
                  <a:lnTo>
                    <a:pt x="42" y="0"/>
                  </a:lnTo>
                  <a:lnTo>
                    <a:pt x="0" y="24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0" name="Freeform 170"/>
            <p:cNvSpPr>
              <a:spLocks noChangeArrowheads="1"/>
            </p:cNvSpPr>
            <p:nvPr/>
          </p:nvSpPr>
          <p:spPr bwMode="auto">
            <a:xfrm>
              <a:off x="4291" y="2429"/>
              <a:ext cx="14" cy="10"/>
            </a:xfrm>
            <a:custGeom>
              <a:avLst/>
              <a:gdLst>
                <a:gd name="T0" fmla="*/ 4 w 44"/>
                <a:gd name="T1" fmla="*/ 32 h 32"/>
                <a:gd name="T2" fmla="*/ 44 w 44"/>
                <a:gd name="T3" fmla="*/ 4 h 32"/>
                <a:gd name="T4" fmla="*/ 41 w 44"/>
                <a:gd name="T5" fmla="*/ 0 h 32"/>
                <a:gd name="T6" fmla="*/ 0 w 44"/>
                <a:gd name="T7" fmla="*/ 25 h 32"/>
                <a:gd name="T8" fmla="*/ 3 w 44"/>
                <a:gd name="T9" fmla="*/ 29 h 32"/>
                <a:gd name="T10" fmla="*/ 4 w 44"/>
                <a:gd name="T11" fmla="*/ 32 h 32"/>
                <a:gd name="T12" fmla="*/ 3 w 44"/>
                <a:gd name="T13" fmla="*/ 29 h 32"/>
                <a:gd name="T14" fmla="*/ 3 w 44"/>
                <a:gd name="T15" fmla="*/ 30 h 32"/>
                <a:gd name="T16" fmla="*/ 4 w 44"/>
                <a:gd name="T1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32">
                  <a:moveTo>
                    <a:pt x="4" y="32"/>
                  </a:moveTo>
                  <a:lnTo>
                    <a:pt x="44" y="4"/>
                  </a:lnTo>
                  <a:lnTo>
                    <a:pt x="41" y="0"/>
                  </a:lnTo>
                  <a:lnTo>
                    <a:pt x="0" y="25"/>
                  </a:lnTo>
                  <a:lnTo>
                    <a:pt x="3" y="29"/>
                  </a:lnTo>
                  <a:lnTo>
                    <a:pt x="4" y="32"/>
                  </a:lnTo>
                  <a:lnTo>
                    <a:pt x="3" y="29"/>
                  </a:lnTo>
                  <a:lnTo>
                    <a:pt x="3" y="30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1" name="Freeform 171"/>
            <p:cNvSpPr>
              <a:spLocks noChangeArrowheads="1"/>
            </p:cNvSpPr>
            <p:nvPr/>
          </p:nvSpPr>
          <p:spPr bwMode="auto">
            <a:xfrm>
              <a:off x="4292" y="2430"/>
              <a:ext cx="14" cy="11"/>
            </a:xfrm>
            <a:custGeom>
              <a:avLst/>
              <a:gdLst>
                <a:gd name="T0" fmla="*/ 4 w 43"/>
                <a:gd name="T1" fmla="*/ 33 h 33"/>
                <a:gd name="T2" fmla="*/ 43 w 43"/>
                <a:gd name="T3" fmla="*/ 4 h 33"/>
                <a:gd name="T4" fmla="*/ 39 w 43"/>
                <a:gd name="T5" fmla="*/ 0 h 33"/>
                <a:gd name="T6" fmla="*/ 0 w 43"/>
                <a:gd name="T7" fmla="*/ 29 h 33"/>
                <a:gd name="T8" fmla="*/ 4 w 43"/>
                <a:gd name="T9" fmla="*/ 33 h 33"/>
                <a:gd name="T10" fmla="*/ 4 w 43"/>
                <a:gd name="T11" fmla="*/ 33 h 33"/>
                <a:gd name="T12" fmla="*/ 4 w 43"/>
                <a:gd name="T13" fmla="*/ 33 h 33"/>
                <a:gd name="T14" fmla="*/ 4 w 43"/>
                <a:gd name="T15" fmla="*/ 33 h 33"/>
                <a:gd name="T16" fmla="*/ 4 w 43"/>
                <a:gd name="T1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33">
                  <a:moveTo>
                    <a:pt x="4" y="33"/>
                  </a:moveTo>
                  <a:lnTo>
                    <a:pt x="43" y="4"/>
                  </a:lnTo>
                  <a:lnTo>
                    <a:pt x="39" y="0"/>
                  </a:lnTo>
                  <a:lnTo>
                    <a:pt x="0" y="29"/>
                  </a:lnTo>
                  <a:lnTo>
                    <a:pt x="4" y="33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2" name="Freeform 172"/>
            <p:cNvSpPr>
              <a:spLocks noChangeArrowheads="1"/>
            </p:cNvSpPr>
            <p:nvPr/>
          </p:nvSpPr>
          <p:spPr bwMode="auto">
            <a:xfrm>
              <a:off x="4293" y="2431"/>
              <a:ext cx="14" cy="11"/>
            </a:xfrm>
            <a:custGeom>
              <a:avLst/>
              <a:gdLst>
                <a:gd name="T0" fmla="*/ 4 w 41"/>
                <a:gd name="T1" fmla="*/ 35 h 35"/>
                <a:gd name="T2" fmla="*/ 41 w 41"/>
                <a:gd name="T3" fmla="*/ 5 h 35"/>
                <a:gd name="T4" fmla="*/ 38 w 41"/>
                <a:gd name="T5" fmla="*/ 0 h 35"/>
                <a:gd name="T6" fmla="*/ 0 w 41"/>
                <a:gd name="T7" fmla="*/ 30 h 35"/>
                <a:gd name="T8" fmla="*/ 3 w 41"/>
                <a:gd name="T9" fmla="*/ 34 h 35"/>
                <a:gd name="T10" fmla="*/ 4 w 41"/>
                <a:gd name="T11" fmla="*/ 35 h 35"/>
                <a:gd name="T12" fmla="*/ 3 w 41"/>
                <a:gd name="T13" fmla="*/ 34 h 35"/>
                <a:gd name="T14" fmla="*/ 4 w 41"/>
                <a:gd name="T15" fmla="*/ 35 h 35"/>
                <a:gd name="T16" fmla="*/ 4 w 41"/>
                <a:gd name="T1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35">
                  <a:moveTo>
                    <a:pt x="4" y="35"/>
                  </a:moveTo>
                  <a:lnTo>
                    <a:pt x="41" y="5"/>
                  </a:lnTo>
                  <a:lnTo>
                    <a:pt x="38" y="0"/>
                  </a:lnTo>
                  <a:lnTo>
                    <a:pt x="0" y="30"/>
                  </a:lnTo>
                  <a:lnTo>
                    <a:pt x="3" y="34"/>
                  </a:lnTo>
                  <a:lnTo>
                    <a:pt x="4" y="35"/>
                  </a:lnTo>
                  <a:lnTo>
                    <a:pt x="3" y="34"/>
                  </a:lnTo>
                  <a:lnTo>
                    <a:pt x="4" y="35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3" name="Freeform 173"/>
            <p:cNvSpPr>
              <a:spLocks noChangeArrowheads="1"/>
            </p:cNvSpPr>
            <p:nvPr/>
          </p:nvSpPr>
          <p:spPr bwMode="auto">
            <a:xfrm>
              <a:off x="4295" y="2432"/>
              <a:ext cx="13" cy="12"/>
            </a:xfrm>
            <a:custGeom>
              <a:avLst/>
              <a:gdLst>
                <a:gd name="T0" fmla="*/ 4 w 39"/>
                <a:gd name="T1" fmla="*/ 36 h 36"/>
                <a:gd name="T2" fmla="*/ 39 w 39"/>
                <a:gd name="T3" fmla="*/ 4 h 36"/>
                <a:gd name="T4" fmla="*/ 36 w 39"/>
                <a:gd name="T5" fmla="*/ 0 h 36"/>
                <a:gd name="T6" fmla="*/ 0 w 39"/>
                <a:gd name="T7" fmla="*/ 32 h 36"/>
                <a:gd name="T8" fmla="*/ 3 w 39"/>
                <a:gd name="T9" fmla="*/ 36 h 36"/>
                <a:gd name="T10" fmla="*/ 4 w 39"/>
                <a:gd name="T11" fmla="*/ 36 h 36"/>
                <a:gd name="T12" fmla="*/ 3 w 39"/>
                <a:gd name="T13" fmla="*/ 36 h 36"/>
                <a:gd name="T14" fmla="*/ 4 w 39"/>
                <a:gd name="T15" fmla="*/ 36 h 36"/>
                <a:gd name="T16" fmla="*/ 4 w 39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6">
                  <a:moveTo>
                    <a:pt x="4" y="36"/>
                  </a:moveTo>
                  <a:lnTo>
                    <a:pt x="39" y="4"/>
                  </a:lnTo>
                  <a:lnTo>
                    <a:pt x="36" y="0"/>
                  </a:lnTo>
                  <a:lnTo>
                    <a:pt x="0" y="32"/>
                  </a:lnTo>
                  <a:lnTo>
                    <a:pt x="3" y="36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4" y="36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4" name="Freeform 174"/>
            <p:cNvSpPr>
              <a:spLocks noChangeArrowheads="1"/>
            </p:cNvSpPr>
            <p:nvPr/>
          </p:nvSpPr>
          <p:spPr bwMode="auto">
            <a:xfrm>
              <a:off x="4296" y="2433"/>
              <a:ext cx="13" cy="12"/>
            </a:xfrm>
            <a:custGeom>
              <a:avLst/>
              <a:gdLst>
                <a:gd name="T0" fmla="*/ 4 w 38"/>
                <a:gd name="T1" fmla="*/ 37 h 37"/>
                <a:gd name="T2" fmla="*/ 38 w 38"/>
                <a:gd name="T3" fmla="*/ 4 h 37"/>
                <a:gd name="T4" fmla="*/ 35 w 38"/>
                <a:gd name="T5" fmla="*/ 0 h 37"/>
                <a:gd name="T6" fmla="*/ 0 w 38"/>
                <a:gd name="T7" fmla="*/ 33 h 37"/>
                <a:gd name="T8" fmla="*/ 3 w 38"/>
                <a:gd name="T9" fmla="*/ 36 h 37"/>
                <a:gd name="T10" fmla="*/ 4 w 38"/>
                <a:gd name="T11" fmla="*/ 37 h 37"/>
                <a:gd name="T12" fmla="*/ 3 w 38"/>
                <a:gd name="T13" fmla="*/ 36 h 37"/>
                <a:gd name="T14" fmla="*/ 3 w 38"/>
                <a:gd name="T15" fmla="*/ 37 h 37"/>
                <a:gd name="T16" fmla="*/ 4 w 38"/>
                <a:gd name="T1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37">
                  <a:moveTo>
                    <a:pt x="4" y="37"/>
                  </a:moveTo>
                  <a:lnTo>
                    <a:pt x="38" y="4"/>
                  </a:lnTo>
                  <a:lnTo>
                    <a:pt x="35" y="0"/>
                  </a:lnTo>
                  <a:lnTo>
                    <a:pt x="0" y="33"/>
                  </a:lnTo>
                  <a:lnTo>
                    <a:pt x="3" y="36"/>
                  </a:lnTo>
                  <a:lnTo>
                    <a:pt x="4" y="37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4" y="3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5" name="Freeform 175"/>
            <p:cNvSpPr>
              <a:spLocks noChangeArrowheads="1"/>
            </p:cNvSpPr>
            <p:nvPr/>
          </p:nvSpPr>
          <p:spPr bwMode="auto">
            <a:xfrm>
              <a:off x="4297" y="2433"/>
              <a:ext cx="12" cy="14"/>
            </a:xfrm>
            <a:custGeom>
              <a:avLst/>
              <a:gdLst>
                <a:gd name="T0" fmla="*/ 6 w 36"/>
                <a:gd name="T1" fmla="*/ 40 h 40"/>
                <a:gd name="T2" fmla="*/ 36 w 36"/>
                <a:gd name="T3" fmla="*/ 3 h 40"/>
                <a:gd name="T4" fmla="*/ 32 w 36"/>
                <a:gd name="T5" fmla="*/ 0 h 40"/>
                <a:gd name="T6" fmla="*/ 0 w 36"/>
                <a:gd name="T7" fmla="*/ 35 h 40"/>
                <a:gd name="T8" fmla="*/ 3 w 36"/>
                <a:gd name="T9" fmla="*/ 39 h 40"/>
                <a:gd name="T10" fmla="*/ 6 w 36"/>
                <a:gd name="T11" fmla="*/ 40 h 40"/>
                <a:gd name="T12" fmla="*/ 3 w 36"/>
                <a:gd name="T13" fmla="*/ 39 h 40"/>
                <a:gd name="T14" fmla="*/ 4 w 36"/>
                <a:gd name="T15" fmla="*/ 40 h 40"/>
                <a:gd name="T16" fmla="*/ 6 w 36"/>
                <a:gd name="T1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40">
                  <a:moveTo>
                    <a:pt x="6" y="40"/>
                  </a:moveTo>
                  <a:lnTo>
                    <a:pt x="36" y="3"/>
                  </a:lnTo>
                  <a:lnTo>
                    <a:pt x="32" y="0"/>
                  </a:lnTo>
                  <a:lnTo>
                    <a:pt x="0" y="35"/>
                  </a:lnTo>
                  <a:lnTo>
                    <a:pt x="3" y="39"/>
                  </a:lnTo>
                  <a:lnTo>
                    <a:pt x="6" y="40"/>
                  </a:lnTo>
                  <a:lnTo>
                    <a:pt x="3" y="39"/>
                  </a:lnTo>
                  <a:lnTo>
                    <a:pt x="4" y="40"/>
                  </a:lnTo>
                  <a:lnTo>
                    <a:pt x="6" y="4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6" name="Freeform 176"/>
            <p:cNvSpPr>
              <a:spLocks noChangeArrowheads="1"/>
            </p:cNvSpPr>
            <p:nvPr/>
          </p:nvSpPr>
          <p:spPr bwMode="auto">
            <a:xfrm>
              <a:off x="4299" y="2434"/>
              <a:ext cx="11" cy="14"/>
            </a:xfrm>
            <a:custGeom>
              <a:avLst/>
              <a:gdLst>
                <a:gd name="T0" fmla="*/ 4 w 31"/>
                <a:gd name="T1" fmla="*/ 42 h 42"/>
                <a:gd name="T2" fmla="*/ 31 w 31"/>
                <a:gd name="T3" fmla="*/ 3 h 42"/>
                <a:gd name="T4" fmla="*/ 28 w 31"/>
                <a:gd name="T5" fmla="*/ 0 h 42"/>
                <a:gd name="T6" fmla="*/ 0 w 31"/>
                <a:gd name="T7" fmla="*/ 38 h 42"/>
                <a:gd name="T8" fmla="*/ 3 w 31"/>
                <a:gd name="T9" fmla="*/ 41 h 42"/>
                <a:gd name="T10" fmla="*/ 4 w 31"/>
                <a:gd name="T11" fmla="*/ 42 h 42"/>
                <a:gd name="T12" fmla="*/ 3 w 31"/>
                <a:gd name="T13" fmla="*/ 41 h 42"/>
                <a:gd name="T14" fmla="*/ 3 w 31"/>
                <a:gd name="T15" fmla="*/ 41 h 42"/>
                <a:gd name="T16" fmla="*/ 4 w 31"/>
                <a:gd name="T1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42">
                  <a:moveTo>
                    <a:pt x="4" y="42"/>
                  </a:moveTo>
                  <a:lnTo>
                    <a:pt x="31" y="3"/>
                  </a:lnTo>
                  <a:lnTo>
                    <a:pt x="28" y="0"/>
                  </a:lnTo>
                  <a:lnTo>
                    <a:pt x="0" y="38"/>
                  </a:lnTo>
                  <a:lnTo>
                    <a:pt x="3" y="41"/>
                  </a:lnTo>
                  <a:lnTo>
                    <a:pt x="4" y="42"/>
                  </a:lnTo>
                  <a:lnTo>
                    <a:pt x="3" y="41"/>
                  </a:lnTo>
                  <a:lnTo>
                    <a:pt x="4" y="42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7" name="Freeform 177"/>
            <p:cNvSpPr>
              <a:spLocks noChangeArrowheads="1"/>
            </p:cNvSpPr>
            <p:nvPr/>
          </p:nvSpPr>
          <p:spPr bwMode="auto">
            <a:xfrm>
              <a:off x="4301" y="2435"/>
              <a:ext cx="10" cy="14"/>
            </a:xfrm>
            <a:custGeom>
              <a:avLst/>
              <a:gdLst>
                <a:gd name="T0" fmla="*/ 5 w 30"/>
                <a:gd name="T1" fmla="*/ 43 h 43"/>
                <a:gd name="T2" fmla="*/ 30 w 30"/>
                <a:gd name="T3" fmla="*/ 2 h 43"/>
                <a:gd name="T4" fmla="*/ 26 w 30"/>
                <a:gd name="T5" fmla="*/ 0 h 43"/>
                <a:gd name="T6" fmla="*/ 0 w 30"/>
                <a:gd name="T7" fmla="*/ 40 h 43"/>
                <a:gd name="T8" fmla="*/ 3 w 30"/>
                <a:gd name="T9" fmla="*/ 42 h 43"/>
                <a:gd name="T10" fmla="*/ 5 w 30"/>
                <a:gd name="T11" fmla="*/ 43 h 43"/>
                <a:gd name="T12" fmla="*/ 3 w 30"/>
                <a:gd name="T13" fmla="*/ 42 h 43"/>
                <a:gd name="T14" fmla="*/ 4 w 30"/>
                <a:gd name="T15" fmla="*/ 42 h 43"/>
                <a:gd name="T16" fmla="*/ 5 w 30"/>
                <a:gd name="T1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43">
                  <a:moveTo>
                    <a:pt x="5" y="43"/>
                  </a:moveTo>
                  <a:lnTo>
                    <a:pt x="30" y="2"/>
                  </a:lnTo>
                  <a:lnTo>
                    <a:pt x="26" y="0"/>
                  </a:lnTo>
                  <a:lnTo>
                    <a:pt x="0" y="40"/>
                  </a:lnTo>
                  <a:lnTo>
                    <a:pt x="3" y="42"/>
                  </a:lnTo>
                  <a:lnTo>
                    <a:pt x="5" y="43"/>
                  </a:lnTo>
                  <a:lnTo>
                    <a:pt x="3" y="42"/>
                  </a:lnTo>
                  <a:lnTo>
                    <a:pt x="4" y="42"/>
                  </a:lnTo>
                  <a:lnTo>
                    <a:pt x="5" y="43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8" name="Freeform 178"/>
            <p:cNvSpPr>
              <a:spLocks noChangeArrowheads="1"/>
            </p:cNvSpPr>
            <p:nvPr/>
          </p:nvSpPr>
          <p:spPr bwMode="auto">
            <a:xfrm>
              <a:off x="4302" y="2435"/>
              <a:ext cx="9" cy="15"/>
            </a:xfrm>
            <a:custGeom>
              <a:avLst/>
              <a:gdLst>
                <a:gd name="T0" fmla="*/ 5 w 26"/>
                <a:gd name="T1" fmla="*/ 45 h 45"/>
                <a:gd name="T2" fmla="*/ 26 w 26"/>
                <a:gd name="T3" fmla="*/ 2 h 45"/>
                <a:gd name="T4" fmla="*/ 23 w 26"/>
                <a:gd name="T5" fmla="*/ 0 h 45"/>
                <a:gd name="T6" fmla="*/ 0 w 26"/>
                <a:gd name="T7" fmla="*/ 42 h 45"/>
                <a:gd name="T8" fmla="*/ 3 w 26"/>
                <a:gd name="T9" fmla="*/ 44 h 45"/>
                <a:gd name="T10" fmla="*/ 5 w 26"/>
                <a:gd name="T11" fmla="*/ 45 h 45"/>
                <a:gd name="T12" fmla="*/ 3 w 26"/>
                <a:gd name="T13" fmla="*/ 44 h 45"/>
                <a:gd name="T14" fmla="*/ 4 w 26"/>
                <a:gd name="T15" fmla="*/ 44 h 45"/>
                <a:gd name="T16" fmla="*/ 5 w 26"/>
                <a:gd name="T1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45">
                  <a:moveTo>
                    <a:pt x="5" y="45"/>
                  </a:moveTo>
                  <a:lnTo>
                    <a:pt x="26" y="2"/>
                  </a:lnTo>
                  <a:lnTo>
                    <a:pt x="23" y="0"/>
                  </a:lnTo>
                  <a:lnTo>
                    <a:pt x="0" y="42"/>
                  </a:lnTo>
                  <a:lnTo>
                    <a:pt x="3" y="44"/>
                  </a:lnTo>
                  <a:lnTo>
                    <a:pt x="5" y="45"/>
                  </a:lnTo>
                  <a:lnTo>
                    <a:pt x="3" y="44"/>
                  </a:lnTo>
                  <a:lnTo>
                    <a:pt x="4" y="44"/>
                  </a:lnTo>
                  <a:lnTo>
                    <a:pt x="5" y="45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9" name="Freeform 179"/>
            <p:cNvSpPr>
              <a:spLocks noChangeArrowheads="1"/>
            </p:cNvSpPr>
            <p:nvPr/>
          </p:nvSpPr>
          <p:spPr bwMode="auto">
            <a:xfrm>
              <a:off x="4304" y="2435"/>
              <a:ext cx="8" cy="16"/>
            </a:xfrm>
            <a:custGeom>
              <a:avLst/>
              <a:gdLst>
                <a:gd name="T0" fmla="*/ 6 w 23"/>
                <a:gd name="T1" fmla="*/ 46 h 46"/>
                <a:gd name="T2" fmla="*/ 23 w 23"/>
                <a:gd name="T3" fmla="*/ 1 h 46"/>
                <a:gd name="T4" fmla="*/ 19 w 23"/>
                <a:gd name="T5" fmla="*/ 0 h 46"/>
                <a:gd name="T6" fmla="*/ 0 w 23"/>
                <a:gd name="T7" fmla="*/ 44 h 46"/>
                <a:gd name="T8" fmla="*/ 4 w 23"/>
                <a:gd name="T9" fmla="*/ 45 h 46"/>
                <a:gd name="T10" fmla="*/ 6 w 23"/>
                <a:gd name="T11" fmla="*/ 46 h 46"/>
                <a:gd name="T12" fmla="*/ 4 w 23"/>
                <a:gd name="T13" fmla="*/ 45 h 46"/>
                <a:gd name="T14" fmla="*/ 4 w 23"/>
                <a:gd name="T15" fmla="*/ 45 h 46"/>
                <a:gd name="T16" fmla="*/ 6 w 23"/>
                <a:gd name="T17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46">
                  <a:moveTo>
                    <a:pt x="6" y="46"/>
                  </a:moveTo>
                  <a:lnTo>
                    <a:pt x="23" y="1"/>
                  </a:lnTo>
                  <a:lnTo>
                    <a:pt x="19" y="0"/>
                  </a:lnTo>
                  <a:lnTo>
                    <a:pt x="0" y="44"/>
                  </a:lnTo>
                  <a:lnTo>
                    <a:pt x="4" y="45"/>
                  </a:lnTo>
                  <a:lnTo>
                    <a:pt x="6" y="46"/>
                  </a:lnTo>
                  <a:lnTo>
                    <a:pt x="4" y="45"/>
                  </a:lnTo>
                  <a:lnTo>
                    <a:pt x="6" y="46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0" name="Freeform 180"/>
            <p:cNvSpPr>
              <a:spLocks noChangeArrowheads="1"/>
            </p:cNvSpPr>
            <p:nvPr/>
          </p:nvSpPr>
          <p:spPr bwMode="auto">
            <a:xfrm>
              <a:off x="4306" y="2436"/>
              <a:ext cx="7" cy="15"/>
            </a:xfrm>
            <a:custGeom>
              <a:avLst/>
              <a:gdLst>
                <a:gd name="T0" fmla="*/ 6 w 20"/>
                <a:gd name="T1" fmla="*/ 47 h 47"/>
                <a:gd name="T2" fmla="*/ 20 w 20"/>
                <a:gd name="T3" fmla="*/ 1 h 47"/>
                <a:gd name="T4" fmla="*/ 16 w 20"/>
                <a:gd name="T5" fmla="*/ 0 h 47"/>
                <a:gd name="T6" fmla="*/ 0 w 20"/>
                <a:gd name="T7" fmla="*/ 45 h 47"/>
                <a:gd name="T8" fmla="*/ 3 w 20"/>
                <a:gd name="T9" fmla="*/ 46 h 47"/>
                <a:gd name="T10" fmla="*/ 6 w 20"/>
                <a:gd name="T11" fmla="*/ 47 h 47"/>
                <a:gd name="T12" fmla="*/ 3 w 20"/>
                <a:gd name="T13" fmla="*/ 46 h 47"/>
                <a:gd name="T14" fmla="*/ 5 w 20"/>
                <a:gd name="T15" fmla="*/ 46 h 47"/>
                <a:gd name="T16" fmla="*/ 6 w 20"/>
                <a:gd name="T1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47">
                  <a:moveTo>
                    <a:pt x="6" y="47"/>
                  </a:moveTo>
                  <a:lnTo>
                    <a:pt x="20" y="1"/>
                  </a:lnTo>
                  <a:lnTo>
                    <a:pt x="16" y="0"/>
                  </a:lnTo>
                  <a:lnTo>
                    <a:pt x="0" y="45"/>
                  </a:lnTo>
                  <a:lnTo>
                    <a:pt x="3" y="46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5" y="46"/>
                  </a:lnTo>
                  <a:lnTo>
                    <a:pt x="6" y="47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1" name="Freeform 181"/>
            <p:cNvSpPr>
              <a:spLocks noChangeArrowheads="1"/>
            </p:cNvSpPr>
            <p:nvPr/>
          </p:nvSpPr>
          <p:spPr bwMode="auto">
            <a:xfrm>
              <a:off x="4308" y="2436"/>
              <a:ext cx="5" cy="16"/>
            </a:xfrm>
            <a:custGeom>
              <a:avLst/>
              <a:gdLst>
                <a:gd name="T0" fmla="*/ 5 w 15"/>
                <a:gd name="T1" fmla="*/ 48 h 48"/>
                <a:gd name="T2" fmla="*/ 15 w 15"/>
                <a:gd name="T3" fmla="*/ 1 h 48"/>
                <a:gd name="T4" fmla="*/ 10 w 15"/>
                <a:gd name="T5" fmla="*/ 0 h 48"/>
                <a:gd name="T6" fmla="*/ 0 w 15"/>
                <a:gd name="T7" fmla="*/ 47 h 48"/>
                <a:gd name="T8" fmla="*/ 4 w 15"/>
                <a:gd name="T9" fmla="*/ 48 h 48"/>
                <a:gd name="T10" fmla="*/ 5 w 15"/>
                <a:gd name="T11" fmla="*/ 48 h 48"/>
                <a:gd name="T12" fmla="*/ 4 w 15"/>
                <a:gd name="T13" fmla="*/ 48 h 48"/>
                <a:gd name="T14" fmla="*/ 5 w 15"/>
                <a:gd name="T15" fmla="*/ 48 h 48"/>
                <a:gd name="T16" fmla="*/ 5 w 15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8">
                  <a:moveTo>
                    <a:pt x="5" y="48"/>
                  </a:moveTo>
                  <a:lnTo>
                    <a:pt x="15" y="1"/>
                  </a:lnTo>
                  <a:lnTo>
                    <a:pt x="10" y="0"/>
                  </a:lnTo>
                  <a:lnTo>
                    <a:pt x="0" y="47"/>
                  </a:lnTo>
                  <a:lnTo>
                    <a:pt x="4" y="48"/>
                  </a:lnTo>
                  <a:lnTo>
                    <a:pt x="5" y="48"/>
                  </a:lnTo>
                  <a:lnTo>
                    <a:pt x="4" y="48"/>
                  </a:lnTo>
                  <a:lnTo>
                    <a:pt x="5" y="48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2" name="Freeform 182"/>
            <p:cNvSpPr>
              <a:spLocks noChangeArrowheads="1"/>
            </p:cNvSpPr>
            <p:nvPr/>
          </p:nvSpPr>
          <p:spPr bwMode="auto">
            <a:xfrm>
              <a:off x="4310" y="2436"/>
              <a:ext cx="3" cy="16"/>
            </a:xfrm>
            <a:custGeom>
              <a:avLst/>
              <a:gdLst>
                <a:gd name="T0" fmla="*/ 6 w 11"/>
                <a:gd name="T1" fmla="*/ 48 h 48"/>
                <a:gd name="T2" fmla="*/ 11 w 11"/>
                <a:gd name="T3" fmla="*/ 0 h 48"/>
                <a:gd name="T4" fmla="*/ 7 w 11"/>
                <a:gd name="T5" fmla="*/ 0 h 48"/>
                <a:gd name="T6" fmla="*/ 0 w 11"/>
                <a:gd name="T7" fmla="*/ 47 h 48"/>
                <a:gd name="T8" fmla="*/ 4 w 11"/>
                <a:gd name="T9" fmla="*/ 47 h 48"/>
                <a:gd name="T10" fmla="*/ 6 w 11"/>
                <a:gd name="T11" fmla="*/ 48 h 48"/>
                <a:gd name="T12" fmla="*/ 4 w 11"/>
                <a:gd name="T13" fmla="*/ 47 h 48"/>
                <a:gd name="T14" fmla="*/ 5 w 11"/>
                <a:gd name="T15" fmla="*/ 47 h 48"/>
                <a:gd name="T16" fmla="*/ 6 w 11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48">
                  <a:moveTo>
                    <a:pt x="6" y="48"/>
                  </a:moveTo>
                  <a:lnTo>
                    <a:pt x="11" y="0"/>
                  </a:lnTo>
                  <a:lnTo>
                    <a:pt x="7" y="0"/>
                  </a:lnTo>
                  <a:lnTo>
                    <a:pt x="0" y="47"/>
                  </a:lnTo>
                  <a:lnTo>
                    <a:pt x="4" y="47"/>
                  </a:lnTo>
                  <a:lnTo>
                    <a:pt x="6" y="48"/>
                  </a:lnTo>
                  <a:lnTo>
                    <a:pt x="4" y="47"/>
                  </a:lnTo>
                  <a:lnTo>
                    <a:pt x="5" y="47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3" name="Freeform 183"/>
            <p:cNvSpPr>
              <a:spLocks noChangeArrowheads="1"/>
            </p:cNvSpPr>
            <p:nvPr/>
          </p:nvSpPr>
          <p:spPr bwMode="auto">
            <a:xfrm>
              <a:off x="4312" y="2436"/>
              <a:ext cx="2" cy="16"/>
            </a:xfrm>
            <a:custGeom>
              <a:avLst/>
              <a:gdLst>
                <a:gd name="T0" fmla="*/ 7 w 7"/>
                <a:gd name="T1" fmla="*/ 48 h 48"/>
                <a:gd name="T2" fmla="*/ 7 w 7"/>
                <a:gd name="T3" fmla="*/ 0 h 48"/>
                <a:gd name="T4" fmla="*/ 3 w 7"/>
                <a:gd name="T5" fmla="*/ 0 h 48"/>
                <a:gd name="T6" fmla="*/ 0 w 7"/>
                <a:gd name="T7" fmla="*/ 48 h 48"/>
                <a:gd name="T8" fmla="*/ 4 w 7"/>
                <a:gd name="T9" fmla="*/ 48 h 48"/>
                <a:gd name="T10" fmla="*/ 7 w 7"/>
                <a:gd name="T11" fmla="*/ 48 h 48"/>
                <a:gd name="T12" fmla="*/ 4 w 7"/>
                <a:gd name="T13" fmla="*/ 48 h 48"/>
                <a:gd name="T14" fmla="*/ 6 w 7"/>
                <a:gd name="T15" fmla="*/ 48 h 48"/>
                <a:gd name="T16" fmla="*/ 7 w 7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8">
                  <a:moveTo>
                    <a:pt x="7" y="48"/>
                  </a:moveTo>
                  <a:lnTo>
                    <a:pt x="7" y="0"/>
                  </a:lnTo>
                  <a:lnTo>
                    <a:pt x="3" y="0"/>
                  </a:lnTo>
                  <a:lnTo>
                    <a:pt x="0" y="48"/>
                  </a:lnTo>
                  <a:lnTo>
                    <a:pt x="4" y="48"/>
                  </a:lnTo>
                  <a:lnTo>
                    <a:pt x="7" y="48"/>
                  </a:lnTo>
                  <a:lnTo>
                    <a:pt x="4" y="48"/>
                  </a:lnTo>
                  <a:lnTo>
                    <a:pt x="6" y="48"/>
                  </a:lnTo>
                  <a:lnTo>
                    <a:pt x="7" y="48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4" name="Rectangle 184"/>
            <p:cNvSpPr>
              <a:spLocks noChangeArrowheads="1"/>
            </p:cNvSpPr>
            <p:nvPr/>
          </p:nvSpPr>
          <p:spPr bwMode="auto">
            <a:xfrm>
              <a:off x="5307" y="2409"/>
              <a:ext cx="7" cy="175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5" name="Rectangle 185"/>
            <p:cNvSpPr>
              <a:spLocks noChangeArrowheads="1"/>
            </p:cNvSpPr>
            <p:nvPr/>
          </p:nvSpPr>
          <p:spPr bwMode="auto">
            <a:xfrm>
              <a:off x="5307" y="2367"/>
              <a:ext cx="7" cy="21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6" name="Rectangle 186"/>
            <p:cNvSpPr>
              <a:spLocks noChangeArrowheads="1"/>
            </p:cNvSpPr>
            <p:nvPr/>
          </p:nvSpPr>
          <p:spPr bwMode="auto">
            <a:xfrm>
              <a:off x="5307" y="2170"/>
              <a:ext cx="7" cy="176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7" name="Line 187"/>
            <p:cNvSpPr>
              <a:spLocks noChangeShapeType="1"/>
            </p:cNvSpPr>
            <p:nvPr/>
          </p:nvSpPr>
          <p:spPr bwMode="auto">
            <a:xfrm>
              <a:off x="4314" y="2288"/>
              <a:ext cx="1" cy="196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8" name="Rectangle 188"/>
            <p:cNvSpPr>
              <a:spLocks noChangeArrowheads="1"/>
            </p:cNvSpPr>
            <p:nvPr/>
          </p:nvSpPr>
          <p:spPr bwMode="auto">
            <a:xfrm>
              <a:off x="4183" y="2083"/>
              <a:ext cx="7" cy="176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9" name="Rectangle 189"/>
            <p:cNvSpPr>
              <a:spLocks noChangeArrowheads="1"/>
            </p:cNvSpPr>
            <p:nvPr/>
          </p:nvSpPr>
          <p:spPr bwMode="auto">
            <a:xfrm>
              <a:off x="4183" y="2280"/>
              <a:ext cx="7" cy="21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0" name="Rectangle 190"/>
            <p:cNvSpPr>
              <a:spLocks noChangeArrowheads="1"/>
            </p:cNvSpPr>
            <p:nvPr/>
          </p:nvSpPr>
          <p:spPr bwMode="auto">
            <a:xfrm>
              <a:off x="4183" y="2322"/>
              <a:ext cx="7" cy="175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1" name="Rectangle 191"/>
            <p:cNvSpPr>
              <a:spLocks noChangeArrowheads="1"/>
            </p:cNvSpPr>
            <p:nvPr/>
          </p:nvSpPr>
          <p:spPr bwMode="auto">
            <a:xfrm>
              <a:off x="4183" y="2518"/>
              <a:ext cx="7" cy="22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2" name="Rectangle 192"/>
            <p:cNvSpPr>
              <a:spLocks noChangeArrowheads="1"/>
            </p:cNvSpPr>
            <p:nvPr/>
          </p:nvSpPr>
          <p:spPr bwMode="auto">
            <a:xfrm>
              <a:off x="4183" y="2561"/>
              <a:ext cx="7" cy="127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3" name="Rectangle 193"/>
            <p:cNvSpPr>
              <a:spLocks noChangeArrowheads="1"/>
            </p:cNvSpPr>
            <p:nvPr/>
          </p:nvSpPr>
          <p:spPr bwMode="auto">
            <a:xfrm>
              <a:off x="5534" y="2289"/>
              <a:ext cx="20" cy="211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Rectangle 194"/>
            <p:cNvSpPr>
              <a:spLocks noChangeArrowheads="1"/>
            </p:cNvSpPr>
            <p:nvPr/>
          </p:nvSpPr>
          <p:spPr bwMode="auto">
            <a:xfrm>
              <a:off x="4336" y="2171"/>
              <a:ext cx="20" cy="448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Rectangle 195"/>
            <p:cNvSpPr>
              <a:spLocks noChangeArrowheads="1"/>
            </p:cNvSpPr>
            <p:nvPr/>
          </p:nvSpPr>
          <p:spPr bwMode="auto">
            <a:xfrm>
              <a:off x="4455" y="2171"/>
              <a:ext cx="20" cy="193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Rectangle 196"/>
            <p:cNvSpPr>
              <a:spLocks noChangeArrowheads="1"/>
            </p:cNvSpPr>
            <p:nvPr/>
          </p:nvSpPr>
          <p:spPr bwMode="auto">
            <a:xfrm>
              <a:off x="5068" y="2289"/>
              <a:ext cx="20" cy="75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Rectangle 197"/>
            <p:cNvSpPr>
              <a:spLocks noChangeArrowheads="1"/>
            </p:cNvSpPr>
            <p:nvPr/>
          </p:nvSpPr>
          <p:spPr bwMode="auto">
            <a:xfrm>
              <a:off x="5159" y="2289"/>
              <a:ext cx="20" cy="211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Rectangle 198"/>
            <p:cNvSpPr>
              <a:spLocks noChangeArrowheads="1"/>
            </p:cNvSpPr>
            <p:nvPr/>
          </p:nvSpPr>
          <p:spPr bwMode="auto">
            <a:xfrm>
              <a:off x="5447" y="2289"/>
              <a:ext cx="20" cy="211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Line 199"/>
            <p:cNvSpPr>
              <a:spLocks noChangeShapeType="1"/>
            </p:cNvSpPr>
            <p:nvPr/>
          </p:nvSpPr>
          <p:spPr bwMode="auto">
            <a:xfrm flipV="1">
              <a:off x="5508" y="2464"/>
              <a:ext cx="36" cy="36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0" name="Line 200"/>
            <p:cNvSpPr>
              <a:spLocks noChangeShapeType="1"/>
            </p:cNvSpPr>
            <p:nvPr/>
          </p:nvSpPr>
          <p:spPr bwMode="auto">
            <a:xfrm flipV="1">
              <a:off x="5457" y="2399"/>
              <a:ext cx="87" cy="86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1" name="Line 201"/>
            <p:cNvSpPr>
              <a:spLocks noChangeShapeType="1"/>
            </p:cNvSpPr>
            <p:nvPr/>
          </p:nvSpPr>
          <p:spPr bwMode="auto">
            <a:xfrm flipV="1">
              <a:off x="5457" y="2333"/>
              <a:ext cx="87" cy="87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2" name="Line 202"/>
            <p:cNvSpPr>
              <a:spLocks noChangeShapeType="1"/>
            </p:cNvSpPr>
            <p:nvPr/>
          </p:nvSpPr>
          <p:spPr bwMode="auto">
            <a:xfrm flipV="1">
              <a:off x="5457" y="2289"/>
              <a:ext cx="66" cy="65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3" name="Line 203"/>
            <p:cNvSpPr>
              <a:spLocks noChangeShapeType="1"/>
            </p:cNvSpPr>
            <p:nvPr/>
          </p:nvSpPr>
          <p:spPr bwMode="auto">
            <a:xfrm>
              <a:off x="5457" y="2289"/>
              <a:ext cx="1" cy="1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" name="Line 204"/>
            <p:cNvSpPr>
              <a:spLocks noChangeShapeType="1"/>
            </p:cNvSpPr>
            <p:nvPr/>
          </p:nvSpPr>
          <p:spPr bwMode="auto">
            <a:xfrm flipV="1">
              <a:off x="5113" y="2445"/>
              <a:ext cx="56" cy="55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" name="Line 205"/>
            <p:cNvSpPr>
              <a:spLocks noChangeShapeType="1"/>
            </p:cNvSpPr>
            <p:nvPr/>
          </p:nvSpPr>
          <p:spPr bwMode="auto">
            <a:xfrm flipV="1">
              <a:off x="5078" y="2379"/>
              <a:ext cx="91" cy="91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" name="Line 206"/>
            <p:cNvSpPr>
              <a:spLocks noChangeShapeType="1"/>
            </p:cNvSpPr>
            <p:nvPr/>
          </p:nvSpPr>
          <p:spPr bwMode="auto">
            <a:xfrm flipV="1">
              <a:off x="5058" y="2314"/>
              <a:ext cx="111" cy="11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" name="Line 207"/>
            <p:cNvSpPr>
              <a:spLocks noChangeShapeType="1"/>
            </p:cNvSpPr>
            <p:nvPr/>
          </p:nvSpPr>
          <p:spPr bwMode="auto">
            <a:xfrm flipV="1">
              <a:off x="5078" y="2289"/>
              <a:ext cx="51" cy="5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8" name="Line 208"/>
            <p:cNvSpPr>
              <a:spLocks noChangeShapeType="1"/>
            </p:cNvSpPr>
            <p:nvPr/>
          </p:nvSpPr>
          <p:spPr bwMode="auto">
            <a:xfrm flipV="1">
              <a:off x="4992" y="2364"/>
              <a:ext cx="60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9" name="Line 209"/>
            <p:cNvSpPr>
              <a:spLocks noChangeShapeType="1"/>
            </p:cNvSpPr>
            <p:nvPr/>
          </p:nvSpPr>
          <p:spPr bwMode="auto">
            <a:xfrm flipV="1">
              <a:off x="4927" y="2364"/>
              <a:ext cx="60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0" name="Line 210"/>
            <p:cNvSpPr>
              <a:spLocks noChangeShapeType="1"/>
            </p:cNvSpPr>
            <p:nvPr/>
          </p:nvSpPr>
          <p:spPr bwMode="auto">
            <a:xfrm flipV="1">
              <a:off x="4861" y="2364"/>
              <a:ext cx="60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" name="Line 211"/>
            <p:cNvSpPr>
              <a:spLocks noChangeShapeType="1"/>
            </p:cNvSpPr>
            <p:nvPr/>
          </p:nvSpPr>
          <p:spPr bwMode="auto">
            <a:xfrm flipV="1">
              <a:off x="4795" y="2364"/>
              <a:ext cx="61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" name="Line 212"/>
            <p:cNvSpPr>
              <a:spLocks noChangeShapeType="1"/>
            </p:cNvSpPr>
            <p:nvPr/>
          </p:nvSpPr>
          <p:spPr bwMode="auto">
            <a:xfrm flipV="1">
              <a:off x="4730" y="2364"/>
              <a:ext cx="60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" name="Line 213"/>
            <p:cNvSpPr>
              <a:spLocks noChangeShapeType="1"/>
            </p:cNvSpPr>
            <p:nvPr/>
          </p:nvSpPr>
          <p:spPr bwMode="auto">
            <a:xfrm flipV="1">
              <a:off x="4664" y="2364"/>
              <a:ext cx="60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4" name="Line 214"/>
            <p:cNvSpPr>
              <a:spLocks noChangeShapeType="1"/>
            </p:cNvSpPr>
            <p:nvPr/>
          </p:nvSpPr>
          <p:spPr bwMode="auto">
            <a:xfrm flipV="1">
              <a:off x="4598" y="2364"/>
              <a:ext cx="60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" name="Line 215"/>
            <p:cNvSpPr>
              <a:spLocks noChangeShapeType="1"/>
            </p:cNvSpPr>
            <p:nvPr/>
          </p:nvSpPr>
          <p:spPr bwMode="auto">
            <a:xfrm flipV="1">
              <a:off x="4403" y="2557"/>
              <a:ext cx="61" cy="62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" name="Line 216"/>
            <p:cNvSpPr>
              <a:spLocks noChangeShapeType="1"/>
            </p:cNvSpPr>
            <p:nvPr/>
          </p:nvSpPr>
          <p:spPr bwMode="auto">
            <a:xfrm flipV="1">
              <a:off x="4533" y="2364"/>
              <a:ext cx="60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" name="Line 217"/>
            <p:cNvSpPr>
              <a:spLocks noChangeShapeType="1"/>
            </p:cNvSpPr>
            <p:nvPr/>
          </p:nvSpPr>
          <p:spPr bwMode="auto">
            <a:xfrm flipV="1">
              <a:off x="4346" y="2493"/>
              <a:ext cx="118" cy="117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8" name="Line 218"/>
            <p:cNvSpPr>
              <a:spLocks noChangeShapeType="1"/>
            </p:cNvSpPr>
            <p:nvPr/>
          </p:nvSpPr>
          <p:spPr bwMode="auto">
            <a:xfrm flipV="1">
              <a:off x="4467" y="2364"/>
              <a:ext cx="60" cy="60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9" name="Line 219"/>
            <p:cNvSpPr>
              <a:spLocks noChangeShapeType="1"/>
            </p:cNvSpPr>
            <p:nvPr/>
          </p:nvSpPr>
          <p:spPr bwMode="auto">
            <a:xfrm flipV="1">
              <a:off x="4346" y="2428"/>
              <a:ext cx="117" cy="117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0" name="Line 220"/>
            <p:cNvSpPr>
              <a:spLocks noChangeShapeType="1"/>
            </p:cNvSpPr>
            <p:nvPr/>
          </p:nvSpPr>
          <p:spPr bwMode="auto">
            <a:xfrm flipV="1">
              <a:off x="4346" y="2360"/>
              <a:ext cx="119" cy="119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1" name="Line 221"/>
            <p:cNvSpPr>
              <a:spLocks noChangeShapeType="1"/>
            </p:cNvSpPr>
            <p:nvPr/>
          </p:nvSpPr>
          <p:spPr bwMode="auto">
            <a:xfrm flipV="1">
              <a:off x="4346" y="2295"/>
              <a:ext cx="119" cy="118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2" name="Line 222"/>
            <p:cNvSpPr>
              <a:spLocks noChangeShapeType="1"/>
            </p:cNvSpPr>
            <p:nvPr/>
          </p:nvSpPr>
          <p:spPr bwMode="auto">
            <a:xfrm flipV="1">
              <a:off x="4346" y="2229"/>
              <a:ext cx="119" cy="119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3" name="Line 223"/>
            <p:cNvSpPr>
              <a:spLocks noChangeShapeType="1"/>
            </p:cNvSpPr>
            <p:nvPr/>
          </p:nvSpPr>
          <p:spPr bwMode="auto">
            <a:xfrm flipV="1">
              <a:off x="4346" y="2171"/>
              <a:ext cx="111" cy="111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4" name="Line 224"/>
            <p:cNvSpPr>
              <a:spLocks noChangeShapeType="1"/>
            </p:cNvSpPr>
            <p:nvPr/>
          </p:nvSpPr>
          <p:spPr bwMode="auto">
            <a:xfrm flipV="1">
              <a:off x="4346" y="2171"/>
              <a:ext cx="46" cy="46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" name="Rectangle 225"/>
            <p:cNvSpPr>
              <a:spLocks noChangeArrowheads="1"/>
            </p:cNvSpPr>
            <p:nvPr/>
          </p:nvSpPr>
          <p:spPr bwMode="auto">
            <a:xfrm>
              <a:off x="5078" y="2490"/>
              <a:ext cx="235" cy="20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6" name="Rectangle 226"/>
            <p:cNvSpPr>
              <a:spLocks noChangeArrowheads="1"/>
            </p:cNvSpPr>
            <p:nvPr/>
          </p:nvSpPr>
          <p:spPr bwMode="auto">
            <a:xfrm>
              <a:off x="4465" y="2354"/>
              <a:ext cx="613" cy="20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7" name="Freeform 227"/>
            <p:cNvSpPr>
              <a:spLocks noChangeArrowheads="1"/>
            </p:cNvSpPr>
            <p:nvPr/>
          </p:nvSpPr>
          <p:spPr bwMode="auto">
            <a:xfrm>
              <a:off x="4461" y="2491"/>
              <a:ext cx="617" cy="138"/>
            </a:xfrm>
            <a:custGeom>
              <a:avLst/>
              <a:gdLst>
                <a:gd name="T0" fmla="*/ 12 w 1850"/>
                <a:gd name="T1" fmla="*/ 415 h 415"/>
                <a:gd name="T2" fmla="*/ 1850 w 1850"/>
                <a:gd name="T3" fmla="*/ 59 h 415"/>
                <a:gd name="T4" fmla="*/ 1838 w 1850"/>
                <a:gd name="T5" fmla="*/ 0 h 415"/>
                <a:gd name="T6" fmla="*/ 0 w 1850"/>
                <a:gd name="T7" fmla="*/ 356 h 415"/>
                <a:gd name="T8" fmla="*/ 12 w 1850"/>
                <a:gd name="T9" fmla="*/ 415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50" h="415">
                  <a:moveTo>
                    <a:pt x="12" y="415"/>
                  </a:moveTo>
                  <a:lnTo>
                    <a:pt x="1850" y="59"/>
                  </a:lnTo>
                  <a:lnTo>
                    <a:pt x="1838" y="0"/>
                  </a:lnTo>
                  <a:lnTo>
                    <a:pt x="0" y="356"/>
                  </a:lnTo>
                  <a:lnTo>
                    <a:pt x="12" y="415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8" name="Rectangle 228"/>
            <p:cNvSpPr>
              <a:spLocks noChangeArrowheads="1"/>
            </p:cNvSpPr>
            <p:nvPr/>
          </p:nvSpPr>
          <p:spPr bwMode="auto">
            <a:xfrm>
              <a:off x="4463" y="2414"/>
              <a:ext cx="615" cy="20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9" name="Freeform 229"/>
            <p:cNvSpPr>
              <a:spLocks noChangeArrowheads="1"/>
            </p:cNvSpPr>
            <p:nvPr/>
          </p:nvSpPr>
          <p:spPr bwMode="auto">
            <a:xfrm>
              <a:off x="4453" y="2424"/>
              <a:ext cx="22" cy="195"/>
            </a:xfrm>
            <a:custGeom>
              <a:avLst/>
              <a:gdLst>
                <a:gd name="T0" fmla="*/ 0 w 67"/>
                <a:gd name="T1" fmla="*/ 0 h 584"/>
                <a:gd name="T2" fmla="*/ 7 w 67"/>
                <a:gd name="T3" fmla="*/ 584 h 584"/>
                <a:gd name="T4" fmla="*/ 67 w 67"/>
                <a:gd name="T5" fmla="*/ 584 h 584"/>
                <a:gd name="T6" fmla="*/ 60 w 67"/>
                <a:gd name="T7" fmla="*/ 0 h 584"/>
                <a:gd name="T8" fmla="*/ 0 w 67"/>
                <a:gd name="T9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584">
                  <a:moveTo>
                    <a:pt x="0" y="0"/>
                  </a:moveTo>
                  <a:lnTo>
                    <a:pt x="7" y="584"/>
                  </a:lnTo>
                  <a:lnTo>
                    <a:pt x="67" y="584"/>
                  </a:lnTo>
                  <a:lnTo>
                    <a:pt x="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0" name="Line 230"/>
            <p:cNvSpPr>
              <a:spLocks noChangeShapeType="1"/>
            </p:cNvSpPr>
            <p:nvPr/>
          </p:nvSpPr>
          <p:spPr bwMode="auto">
            <a:xfrm flipV="1">
              <a:off x="4241" y="2394"/>
              <a:ext cx="140" cy="1"/>
            </a:xfrm>
            <a:prstGeom prst="line">
              <a:avLst/>
            </a:prstGeom>
            <a:noFill/>
            <a:ln w="11113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1" name="Rectangle 231"/>
            <p:cNvSpPr>
              <a:spLocks noChangeArrowheads="1"/>
            </p:cNvSpPr>
            <p:nvPr/>
          </p:nvSpPr>
          <p:spPr bwMode="auto">
            <a:xfrm>
              <a:off x="5068" y="2424"/>
              <a:ext cx="20" cy="76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2" name="Rectangle 232"/>
            <p:cNvSpPr>
              <a:spLocks noChangeArrowheads="1"/>
            </p:cNvSpPr>
            <p:nvPr/>
          </p:nvSpPr>
          <p:spPr bwMode="auto">
            <a:xfrm>
              <a:off x="5313" y="2490"/>
              <a:ext cx="231" cy="20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3" name="Rectangle 233"/>
            <p:cNvSpPr>
              <a:spLocks noChangeArrowheads="1"/>
            </p:cNvSpPr>
            <p:nvPr/>
          </p:nvSpPr>
          <p:spPr bwMode="auto">
            <a:xfrm>
              <a:off x="5078" y="2279"/>
              <a:ext cx="466" cy="19"/>
            </a:xfrm>
            <a:prstGeom prst="rect">
              <a:avLst/>
            </a:pr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4" name="Freeform 234"/>
            <p:cNvSpPr>
              <a:spLocks noChangeArrowheads="1"/>
            </p:cNvSpPr>
            <p:nvPr/>
          </p:nvSpPr>
          <p:spPr bwMode="auto">
            <a:xfrm>
              <a:off x="4455" y="2160"/>
              <a:ext cx="624" cy="138"/>
            </a:xfrm>
            <a:custGeom>
              <a:avLst/>
              <a:gdLst>
                <a:gd name="T0" fmla="*/ 0 w 1873"/>
                <a:gd name="T1" fmla="*/ 58 h 414"/>
                <a:gd name="T2" fmla="*/ 1863 w 1873"/>
                <a:gd name="T3" fmla="*/ 414 h 414"/>
                <a:gd name="T4" fmla="*/ 1873 w 1873"/>
                <a:gd name="T5" fmla="*/ 357 h 414"/>
                <a:gd name="T6" fmla="*/ 11 w 1873"/>
                <a:gd name="T7" fmla="*/ 0 h 414"/>
                <a:gd name="T8" fmla="*/ 0 w 1873"/>
                <a:gd name="T9" fmla="*/ 5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3" h="414">
                  <a:moveTo>
                    <a:pt x="0" y="58"/>
                  </a:moveTo>
                  <a:lnTo>
                    <a:pt x="1863" y="414"/>
                  </a:lnTo>
                  <a:lnTo>
                    <a:pt x="1873" y="357"/>
                  </a:lnTo>
                  <a:lnTo>
                    <a:pt x="11" y="0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5" name="Freeform 235"/>
            <p:cNvSpPr>
              <a:spLocks noChangeArrowheads="1"/>
            </p:cNvSpPr>
            <p:nvPr/>
          </p:nvSpPr>
          <p:spPr bwMode="auto">
            <a:xfrm>
              <a:off x="4346" y="2161"/>
              <a:ext cx="119" cy="20"/>
            </a:xfrm>
            <a:custGeom>
              <a:avLst/>
              <a:gdLst>
                <a:gd name="T0" fmla="*/ 0 w 357"/>
                <a:gd name="T1" fmla="*/ 60 h 62"/>
                <a:gd name="T2" fmla="*/ 357 w 357"/>
                <a:gd name="T3" fmla="*/ 62 h 62"/>
                <a:gd name="T4" fmla="*/ 357 w 357"/>
                <a:gd name="T5" fmla="*/ 2 h 62"/>
                <a:gd name="T6" fmla="*/ 0 w 357"/>
                <a:gd name="T7" fmla="*/ 0 h 62"/>
                <a:gd name="T8" fmla="*/ 0 w 357"/>
                <a:gd name="T9" fmla="*/ 6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7" h="62">
                  <a:moveTo>
                    <a:pt x="0" y="60"/>
                  </a:moveTo>
                  <a:lnTo>
                    <a:pt x="357" y="62"/>
                  </a:lnTo>
                  <a:lnTo>
                    <a:pt x="357" y="2"/>
                  </a:lnTo>
                  <a:lnTo>
                    <a:pt x="0" y="0"/>
                  </a:lnTo>
                  <a:lnTo>
                    <a:pt x="0" y="60"/>
                  </a:lnTo>
                  <a:close/>
                </a:path>
              </a:pathLst>
            </a:custGeom>
            <a:solidFill>
              <a:srgbClr val="131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236" name="Group 236"/>
          <p:cNvGrpSpPr>
            <a:grpSpLocks/>
          </p:cNvGrpSpPr>
          <p:nvPr/>
        </p:nvGrpSpPr>
        <p:grpSpPr bwMode="auto">
          <a:xfrm>
            <a:off x="1687513" y="1092200"/>
            <a:ext cx="4927600" cy="2292350"/>
            <a:chOff x="2472" y="400"/>
            <a:chExt cx="3104" cy="1492"/>
          </a:xfrm>
        </p:grpSpPr>
        <p:grpSp>
          <p:nvGrpSpPr>
            <p:cNvPr id="237" name="Group 237"/>
            <p:cNvGrpSpPr>
              <a:grpSpLocks/>
            </p:cNvGrpSpPr>
            <p:nvPr/>
          </p:nvGrpSpPr>
          <p:grpSpPr bwMode="auto">
            <a:xfrm>
              <a:off x="2719" y="599"/>
              <a:ext cx="2625" cy="1293"/>
              <a:chOff x="2781" y="914"/>
              <a:chExt cx="2625" cy="1293"/>
            </a:xfrm>
          </p:grpSpPr>
          <p:sp>
            <p:nvSpPr>
              <p:cNvPr id="251" name="Rectangle 238"/>
              <p:cNvSpPr>
                <a:spLocks noChangeArrowheads="1"/>
              </p:cNvSpPr>
              <p:nvPr/>
            </p:nvSpPr>
            <p:spPr bwMode="auto">
              <a:xfrm>
                <a:off x="4456" y="1838"/>
                <a:ext cx="176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2" name="Rectangle 239"/>
              <p:cNvSpPr>
                <a:spLocks noChangeArrowheads="1"/>
              </p:cNvSpPr>
              <p:nvPr/>
            </p:nvSpPr>
            <p:spPr bwMode="auto">
              <a:xfrm>
                <a:off x="4414" y="1838"/>
                <a:ext cx="21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3" name="Rectangle 240"/>
              <p:cNvSpPr>
                <a:spLocks noChangeArrowheads="1"/>
              </p:cNvSpPr>
              <p:nvPr/>
            </p:nvSpPr>
            <p:spPr bwMode="auto">
              <a:xfrm>
                <a:off x="4217" y="1838"/>
                <a:ext cx="176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4" name="Rectangle 241"/>
              <p:cNvSpPr>
                <a:spLocks noChangeArrowheads="1"/>
              </p:cNvSpPr>
              <p:nvPr/>
            </p:nvSpPr>
            <p:spPr bwMode="auto">
              <a:xfrm>
                <a:off x="4175" y="1838"/>
                <a:ext cx="21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5" name="Rectangle 242"/>
              <p:cNvSpPr>
                <a:spLocks noChangeArrowheads="1"/>
              </p:cNvSpPr>
              <p:nvPr/>
            </p:nvSpPr>
            <p:spPr bwMode="auto">
              <a:xfrm>
                <a:off x="3978" y="1838"/>
                <a:ext cx="176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6" name="Rectangle 243"/>
              <p:cNvSpPr>
                <a:spLocks noChangeArrowheads="1"/>
              </p:cNvSpPr>
              <p:nvPr/>
            </p:nvSpPr>
            <p:spPr bwMode="auto">
              <a:xfrm>
                <a:off x="3936" y="1838"/>
                <a:ext cx="21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7" name="Rectangle 244"/>
              <p:cNvSpPr>
                <a:spLocks noChangeArrowheads="1"/>
              </p:cNvSpPr>
              <p:nvPr/>
            </p:nvSpPr>
            <p:spPr bwMode="auto">
              <a:xfrm>
                <a:off x="3739" y="1838"/>
                <a:ext cx="175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8" name="Rectangle 245"/>
              <p:cNvSpPr>
                <a:spLocks noChangeArrowheads="1"/>
              </p:cNvSpPr>
              <p:nvPr/>
            </p:nvSpPr>
            <p:spPr bwMode="auto">
              <a:xfrm>
                <a:off x="3696" y="1838"/>
                <a:ext cx="21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9" name="Rectangle 246"/>
              <p:cNvSpPr>
                <a:spLocks noChangeArrowheads="1"/>
              </p:cNvSpPr>
              <p:nvPr/>
            </p:nvSpPr>
            <p:spPr bwMode="auto">
              <a:xfrm>
                <a:off x="3499" y="1838"/>
                <a:ext cx="176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0" name="Rectangle 247"/>
              <p:cNvSpPr>
                <a:spLocks noChangeArrowheads="1"/>
              </p:cNvSpPr>
              <p:nvPr/>
            </p:nvSpPr>
            <p:spPr bwMode="auto">
              <a:xfrm>
                <a:off x="3457" y="1838"/>
                <a:ext cx="21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1" name="Rectangle 248"/>
              <p:cNvSpPr>
                <a:spLocks noChangeArrowheads="1"/>
              </p:cNvSpPr>
              <p:nvPr/>
            </p:nvSpPr>
            <p:spPr bwMode="auto">
              <a:xfrm>
                <a:off x="3260" y="1838"/>
                <a:ext cx="176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2" name="Rectangle 249"/>
              <p:cNvSpPr>
                <a:spLocks noChangeArrowheads="1"/>
              </p:cNvSpPr>
              <p:nvPr/>
            </p:nvSpPr>
            <p:spPr bwMode="auto">
              <a:xfrm>
                <a:off x="3218" y="1838"/>
                <a:ext cx="21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3" name="Rectangle 250"/>
              <p:cNvSpPr>
                <a:spLocks noChangeArrowheads="1"/>
              </p:cNvSpPr>
              <p:nvPr/>
            </p:nvSpPr>
            <p:spPr bwMode="auto">
              <a:xfrm>
                <a:off x="3021" y="1838"/>
                <a:ext cx="176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4" name="Rectangle 251"/>
              <p:cNvSpPr>
                <a:spLocks noChangeArrowheads="1"/>
              </p:cNvSpPr>
              <p:nvPr/>
            </p:nvSpPr>
            <p:spPr bwMode="auto">
              <a:xfrm>
                <a:off x="2978" y="1838"/>
                <a:ext cx="22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5" name="Rectangle 252"/>
              <p:cNvSpPr>
                <a:spLocks noChangeArrowheads="1"/>
              </p:cNvSpPr>
              <p:nvPr/>
            </p:nvSpPr>
            <p:spPr bwMode="auto">
              <a:xfrm>
                <a:off x="2781" y="1838"/>
                <a:ext cx="176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6" name="Freeform 253"/>
              <p:cNvSpPr>
                <a:spLocks noChangeArrowheads="1"/>
              </p:cNvSpPr>
              <p:nvPr/>
            </p:nvSpPr>
            <p:spPr bwMode="auto">
              <a:xfrm>
                <a:off x="3917" y="1522"/>
                <a:ext cx="321" cy="319"/>
              </a:xfrm>
              <a:custGeom>
                <a:avLst/>
                <a:gdLst>
                  <a:gd name="T0" fmla="*/ 60 w 963"/>
                  <a:gd name="T1" fmla="*/ 936 h 959"/>
                  <a:gd name="T2" fmla="*/ 66 w 963"/>
                  <a:gd name="T3" fmla="*/ 868 h 959"/>
                  <a:gd name="T4" fmla="*/ 74 w 963"/>
                  <a:gd name="T5" fmla="*/ 801 h 959"/>
                  <a:gd name="T6" fmla="*/ 89 w 963"/>
                  <a:gd name="T7" fmla="*/ 735 h 959"/>
                  <a:gd name="T8" fmla="*/ 108 w 963"/>
                  <a:gd name="T9" fmla="*/ 672 h 959"/>
                  <a:gd name="T10" fmla="*/ 132 w 963"/>
                  <a:gd name="T11" fmla="*/ 610 h 959"/>
                  <a:gd name="T12" fmla="*/ 159 w 963"/>
                  <a:gd name="T13" fmla="*/ 551 h 959"/>
                  <a:gd name="T14" fmla="*/ 191 w 963"/>
                  <a:gd name="T15" fmla="*/ 493 h 959"/>
                  <a:gd name="T16" fmla="*/ 228 w 963"/>
                  <a:gd name="T17" fmla="*/ 440 h 959"/>
                  <a:gd name="T18" fmla="*/ 267 w 963"/>
                  <a:gd name="T19" fmla="*/ 388 h 959"/>
                  <a:gd name="T20" fmla="*/ 310 w 963"/>
                  <a:gd name="T21" fmla="*/ 339 h 959"/>
                  <a:gd name="T22" fmla="*/ 356 w 963"/>
                  <a:gd name="T23" fmla="*/ 294 h 959"/>
                  <a:gd name="T24" fmla="*/ 407 w 963"/>
                  <a:gd name="T25" fmla="*/ 252 h 959"/>
                  <a:gd name="T26" fmla="*/ 460 w 963"/>
                  <a:gd name="T27" fmla="*/ 214 h 959"/>
                  <a:gd name="T28" fmla="*/ 514 w 963"/>
                  <a:gd name="T29" fmla="*/ 179 h 959"/>
                  <a:gd name="T30" fmla="*/ 572 w 963"/>
                  <a:gd name="T31" fmla="*/ 149 h 959"/>
                  <a:gd name="T32" fmla="*/ 632 w 963"/>
                  <a:gd name="T33" fmla="*/ 123 h 959"/>
                  <a:gd name="T34" fmla="*/ 695 w 963"/>
                  <a:gd name="T35" fmla="*/ 101 h 959"/>
                  <a:gd name="T36" fmla="*/ 760 w 963"/>
                  <a:gd name="T37" fmla="*/ 83 h 959"/>
                  <a:gd name="T38" fmla="*/ 826 w 963"/>
                  <a:gd name="T39" fmla="*/ 70 h 959"/>
                  <a:gd name="T40" fmla="*/ 893 w 963"/>
                  <a:gd name="T41" fmla="*/ 63 h 959"/>
                  <a:gd name="T42" fmla="*/ 963 w 963"/>
                  <a:gd name="T43" fmla="*/ 60 h 959"/>
                  <a:gd name="T44" fmla="*/ 913 w 963"/>
                  <a:gd name="T45" fmla="*/ 2 h 959"/>
                  <a:gd name="T46" fmla="*/ 841 w 963"/>
                  <a:gd name="T47" fmla="*/ 8 h 959"/>
                  <a:gd name="T48" fmla="*/ 769 w 963"/>
                  <a:gd name="T49" fmla="*/ 20 h 959"/>
                  <a:gd name="T50" fmla="*/ 700 w 963"/>
                  <a:gd name="T51" fmla="*/ 37 h 959"/>
                  <a:gd name="T52" fmla="*/ 632 w 963"/>
                  <a:gd name="T53" fmla="*/ 59 h 959"/>
                  <a:gd name="T54" fmla="*/ 568 w 963"/>
                  <a:gd name="T55" fmla="*/ 85 h 959"/>
                  <a:gd name="T56" fmla="*/ 505 w 963"/>
                  <a:gd name="T57" fmla="*/ 116 h 959"/>
                  <a:gd name="T58" fmla="*/ 445 w 963"/>
                  <a:gd name="T59" fmla="*/ 152 h 959"/>
                  <a:gd name="T60" fmla="*/ 388 w 963"/>
                  <a:gd name="T61" fmla="*/ 191 h 959"/>
                  <a:gd name="T62" fmla="*/ 334 w 963"/>
                  <a:gd name="T63" fmla="*/ 235 h 959"/>
                  <a:gd name="T64" fmla="*/ 283 w 963"/>
                  <a:gd name="T65" fmla="*/ 281 h 959"/>
                  <a:gd name="T66" fmla="*/ 236 w 963"/>
                  <a:gd name="T67" fmla="*/ 333 h 959"/>
                  <a:gd name="T68" fmla="*/ 192 w 963"/>
                  <a:gd name="T69" fmla="*/ 386 h 959"/>
                  <a:gd name="T70" fmla="*/ 153 w 963"/>
                  <a:gd name="T71" fmla="*/ 443 h 959"/>
                  <a:gd name="T72" fmla="*/ 117 w 963"/>
                  <a:gd name="T73" fmla="*/ 503 h 959"/>
                  <a:gd name="T74" fmla="*/ 86 w 963"/>
                  <a:gd name="T75" fmla="*/ 566 h 959"/>
                  <a:gd name="T76" fmla="*/ 59 w 963"/>
                  <a:gd name="T77" fmla="*/ 630 h 959"/>
                  <a:gd name="T78" fmla="*/ 37 w 963"/>
                  <a:gd name="T79" fmla="*/ 697 h 959"/>
                  <a:gd name="T80" fmla="*/ 20 w 963"/>
                  <a:gd name="T81" fmla="*/ 766 h 959"/>
                  <a:gd name="T82" fmla="*/ 9 w 963"/>
                  <a:gd name="T83" fmla="*/ 838 h 959"/>
                  <a:gd name="T84" fmla="*/ 1 w 963"/>
                  <a:gd name="T85" fmla="*/ 910 h 959"/>
                  <a:gd name="T86" fmla="*/ 0 w 963"/>
                  <a:gd name="T87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63" h="959">
                    <a:moveTo>
                      <a:pt x="60" y="959"/>
                    </a:moveTo>
                    <a:lnTo>
                      <a:pt x="60" y="959"/>
                    </a:lnTo>
                    <a:lnTo>
                      <a:pt x="60" y="936"/>
                    </a:lnTo>
                    <a:lnTo>
                      <a:pt x="62" y="913"/>
                    </a:lnTo>
                    <a:lnTo>
                      <a:pt x="64" y="890"/>
                    </a:lnTo>
                    <a:lnTo>
                      <a:pt x="66" y="868"/>
                    </a:lnTo>
                    <a:lnTo>
                      <a:pt x="68" y="845"/>
                    </a:lnTo>
                    <a:lnTo>
                      <a:pt x="71" y="823"/>
                    </a:lnTo>
                    <a:lnTo>
                      <a:pt x="74" y="801"/>
                    </a:lnTo>
                    <a:lnTo>
                      <a:pt x="79" y="779"/>
                    </a:lnTo>
                    <a:lnTo>
                      <a:pt x="84" y="757"/>
                    </a:lnTo>
                    <a:lnTo>
                      <a:pt x="89" y="735"/>
                    </a:lnTo>
                    <a:lnTo>
                      <a:pt x="95" y="714"/>
                    </a:lnTo>
                    <a:lnTo>
                      <a:pt x="102" y="693"/>
                    </a:lnTo>
                    <a:lnTo>
                      <a:pt x="108" y="672"/>
                    </a:lnTo>
                    <a:lnTo>
                      <a:pt x="115" y="651"/>
                    </a:lnTo>
                    <a:lnTo>
                      <a:pt x="124" y="631"/>
                    </a:lnTo>
                    <a:lnTo>
                      <a:pt x="132" y="610"/>
                    </a:lnTo>
                    <a:lnTo>
                      <a:pt x="140" y="590"/>
                    </a:lnTo>
                    <a:lnTo>
                      <a:pt x="150" y="570"/>
                    </a:lnTo>
                    <a:lnTo>
                      <a:pt x="159" y="551"/>
                    </a:lnTo>
                    <a:lnTo>
                      <a:pt x="170" y="531"/>
                    </a:lnTo>
                    <a:lnTo>
                      <a:pt x="180" y="512"/>
                    </a:lnTo>
                    <a:lnTo>
                      <a:pt x="191" y="493"/>
                    </a:lnTo>
                    <a:lnTo>
                      <a:pt x="203" y="475"/>
                    </a:lnTo>
                    <a:lnTo>
                      <a:pt x="215" y="458"/>
                    </a:lnTo>
                    <a:lnTo>
                      <a:pt x="228" y="440"/>
                    </a:lnTo>
                    <a:lnTo>
                      <a:pt x="241" y="422"/>
                    </a:lnTo>
                    <a:lnTo>
                      <a:pt x="253" y="405"/>
                    </a:lnTo>
                    <a:lnTo>
                      <a:pt x="267" y="388"/>
                    </a:lnTo>
                    <a:lnTo>
                      <a:pt x="281" y="371"/>
                    </a:lnTo>
                    <a:lnTo>
                      <a:pt x="295" y="356"/>
                    </a:lnTo>
                    <a:lnTo>
                      <a:pt x="310" y="339"/>
                    </a:lnTo>
                    <a:lnTo>
                      <a:pt x="326" y="324"/>
                    </a:lnTo>
                    <a:lnTo>
                      <a:pt x="341" y="308"/>
                    </a:lnTo>
                    <a:lnTo>
                      <a:pt x="356" y="294"/>
                    </a:lnTo>
                    <a:lnTo>
                      <a:pt x="373" y="280"/>
                    </a:lnTo>
                    <a:lnTo>
                      <a:pt x="390" y="265"/>
                    </a:lnTo>
                    <a:lnTo>
                      <a:pt x="407" y="252"/>
                    </a:lnTo>
                    <a:lnTo>
                      <a:pt x="424" y="239"/>
                    </a:lnTo>
                    <a:lnTo>
                      <a:pt x="442" y="227"/>
                    </a:lnTo>
                    <a:lnTo>
                      <a:pt x="460" y="214"/>
                    </a:lnTo>
                    <a:lnTo>
                      <a:pt x="477" y="202"/>
                    </a:lnTo>
                    <a:lnTo>
                      <a:pt x="495" y="191"/>
                    </a:lnTo>
                    <a:lnTo>
                      <a:pt x="514" y="179"/>
                    </a:lnTo>
                    <a:lnTo>
                      <a:pt x="533" y="169"/>
                    </a:lnTo>
                    <a:lnTo>
                      <a:pt x="552" y="158"/>
                    </a:lnTo>
                    <a:lnTo>
                      <a:pt x="572" y="149"/>
                    </a:lnTo>
                    <a:lnTo>
                      <a:pt x="592" y="139"/>
                    </a:lnTo>
                    <a:lnTo>
                      <a:pt x="612" y="131"/>
                    </a:lnTo>
                    <a:lnTo>
                      <a:pt x="632" y="123"/>
                    </a:lnTo>
                    <a:lnTo>
                      <a:pt x="653" y="114"/>
                    </a:lnTo>
                    <a:lnTo>
                      <a:pt x="674" y="107"/>
                    </a:lnTo>
                    <a:lnTo>
                      <a:pt x="695" y="101"/>
                    </a:lnTo>
                    <a:lnTo>
                      <a:pt x="716" y="94"/>
                    </a:lnTo>
                    <a:lnTo>
                      <a:pt x="738" y="88"/>
                    </a:lnTo>
                    <a:lnTo>
                      <a:pt x="760" y="83"/>
                    </a:lnTo>
                    <a:lnTo>
                      <a:pt x="782" y="79"/>
                    </a:lnTo>
                    <a:lnTo>
                      <a:pt x="804" y="74"/>
                    </a:lnTo>
                    <a:lnTo>
                      <a:pt x="826" y="70"/>
                    </a:lnTo>
                    <a:lnTo>
                      <a:pt x="848" y="67"/>
                    </a:lnTo>
                    <a:lnTo>
                      <a:pt x="871" y="65"/>
                    </a:lnTo>
                    <a:lnTo>
                      <a:pt x="893" y="63"/>
                    </a:lnTo>
                    <a:lnTo>
                      <a:pt x="917" y="61"/>
                    </a:lnTo>
                    <a:lnTo>
                      <a:pt x="940" y="60"/>
                    </a:lnTo>
                    <a:lnTo>
                      <a:pt x="963" y="60"/>
                    </a:lnTo>
                    <a:lnTo>
                      <a:pt x="963" y="0"/>
                    </a:lnTo>
                    <a:lnTo>
                      <a:pt x="939" y="1"/>
                    </a:lnTo>
                    <a:lnTo>
                      <a:pt x="913" y="2"/>
                    </a:lnTo>
                    <a:lnTo>
                      <a:pt x="889" y="3"/>
                    </a:lnTo>
                    <a:lnTo>
                      <a:pt x="865" y="5"/>
                    </a:lnTo>
                    <a:lnTo>
                      <a:pt x="841" y="8"/>
                    </a:lnTo>
                    <a:lnTo>
                      <a:pt x="817" y="11"/>
                    </a:lnTo>
                    <a:lnTo>
                      <a:pt x="793" y="16"/>
                    </a:lnTo>
                    <a:lnTo>
                      <a:pt x="769" y="20"/>
                    </a:lnTo>
                    <a:lnTo>
                      <a:pt x="746" y="25"/>
                    </a:lnTo>
                    <a:lnTo>
                      <a:pt x="723" y="30"/>
                    </a:lnTo>
                    <a:lnTo>
                      <a:pt x="700" y="37"/>
                    </a:lnTo>
                    <a:lnTo>
                      <a:pt x="678" y="44"/>
                    </a:lnTo>
                    <a:lnTo>
                      <a:pt x="654" y="51"/>
                    </a:lnTo>
                    <a:lnTo>
                      <a:pt x="632" y="59"/>
                    </a:lnTo>
                    <a:lnTo>
                      <a:pt x="610" y="67"/>
                    </a:lnTo>
                    <a:lnTo>
                      <a:pt x="589" y="75"/>
                    </a:lnTo>
                    <a:lnTo>
                      <a:pt x="568" y="85"/>
                    </a:lnTo>
                    <a:lnTo>
                      <a:pt x="546" y="95"/>
                    </a:lnTo>
                    <a:lnTo>
                      <a:pt x="526" y="106"/>
                    </a:lnTo>
                    <a:lnTo>
                      <a:pt x="505" y="116"/>
                    </a:lnTo>
                    <a:lnTo>
                      <a:pt x="485" y="128"/>
                    </a:lnTo>
                    <a:lnTo>
                      <a:pt x="465" y="139"/>
                    </a:lnTo>
                    <a:lnTo>
                      <a:pt x="445" y="152"/>
                    </a:lnTo>
                    <a:lnTo>
                      <a:pt x="426" y="165"/>
                    </a:lnTo>
                    <a:lnTo>
                      <a:pt x="407" y="177"/>
                    </a:lnTo>
                    <a:lnTo>
                      <a:pt x="388" y="191"/>
                    </a:lnTo>
                    <a:lnTo>
                      <a:pt x="369" y="206"/>
                    </a:lnTo>
                    <a:lnTo>
                      <a:pt x="351" y="219"/>
                    </a:lnTo>
                    <a:lnTo>
                      <a:pt x="334" y="235"/>
                    </a:lnTo>
                    <a:lnTo>
                      <a:pt x="316" y="250"/>
                    </a:lnTo>
                    <a:lnTo>
                      <a:pt x="299" y="265"/>
                    </a:lnTo>
                    <a:lnTo>
                      <a:pt x="283" y="281"/>
                    </a:lnTo>
                    <a:lnTo>
                      <a:pt x="267" y="298"/>
                    </a:lnTo>
                    <a:lnTo>
                      <a:pt x="251" y="315"/>
                    </a:lnTo>
                    <a:lnTo>
                      <a:pt x="236" y="333"/>
                    </a:lnTo>
                    <a:lnTo>
                      <a:pt x="221" y="349"/>
                    </a:lnTo>
                    <a:lnTo>
                      <a:pt x="207" y="368"/>
                    </a:lnTo>
                    <a:lnTo>
                      <a:pt x="192" y="386"/>
                    </a:lnTo>
                    <a:lnTo>
                      <a:pt x="178" y="405"/>
                    </a:lnTo>
                    <a:lnTo>
                      <a:pt x="166" y="424"/>
                    </a:lnTo>
                    <a:lnTo>
                      <a:pt x="153" y="443"/>
                    </a:lnTo>
                    <a:lnTo>
                      <a:pt x="140" y="463"/>
                    </a:lnTo>
                    <a:lnTo>
                      <a:pt x="129" y="483"/>
                    </a:lnTo>
                    <a:lnTo>
                      <a:pt x="117" y="503"/>
                    </a:lnTo>
                    <a:lnTo>
                      <a:pt x="107" y="524"/>
                    </a:lnTo>
                    <a:lnTo>
                      <a:pt x="96" y="545"/>
                    </a:lnTo>
                    <a:lnTo>
                      <a:pt x="86" y="566"/>
                    </a:lnTo>
                    <a:lnTo>
                      <a:pt x="76" y="587"/>
                    </a:lnTo>
                    <a:lnTo>
                      <a:pt x="68" y="609"/>
                    </a:lnTo>
                    <a:lnTo>
                      <a:pt x="59" y="630"/>
                    </a:lnTo>
                    <a:lnTo>
                      <a:pt x="51" y="653"/>
                    </a:lnTo>
                    <a:lnTo>
                      <a:pt x="44" y="675"/>
                    </a:lnTo>
                    <a:lnTo>
                      <a:pt x="37" y="697"/>
                    </a:lnTo>
                    <a:lnTo>
                      <a:pt x="31" y="720"/>
                    </a:lnTo>
                    <a:lnTo>
                      <a:pt x="26" y="743"/>
                    </a:lnTo>
                    <a:lnTo>
                      <a:pt x="20" y="766"/>
                    </a:lnTo>
                    <a:lnTo>
                      <a:pt x="16" y="790"/>
                    </a:lnTo>
                    <a:lnTo>
                      <a:pt x="12" y="813"/>
                    </a:lnTo>
                    <a:lnTo>
                      <a:pt x="9" y="838"/>
                    </a:lnTo>
                    <a:lnTo>
                      <a:pt x="6" y="862"/>
                    </a:lnTo>
                    <a:lnTo>
                      <a:pt x="4" y="886"/>
                    </a:lnTo>
                    <a:lnTo>
                      <a:pt x="1" y="910"/>
                    </a:lnTo>
                    <a:lnTo>
                      <a:pt x="1" y="935"/>
                    </a:lnTo>
                    <a:lnTo>
                      <a:pt x="0" y="959"/>
                    </a:lnTo>
                    <a:lnTo>
                      <a:pt x="60" y="959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7" name="Freeform 254"/>
              <p:cNvSpPr>
                <a:spLocks noChangeArrowheads="1"/>
              </p:cNvSpPr>
              <p:nvPr/>
            </p:nvSpPr>
            <p:spPr bwMode="auto">
              <a:xfrm>
                <a:off x="3917" y="1841"/>
                <a:ext cx="321" cy="320"/>
              </a:xfrm>
              <a:custGeom>
                <a:avLst/>
                <a:gdLst>
                  <a:gd name="T0" fmla="*/ 940 w 963"/>
                  <a:gd name="T1" fmla="*/ 900 h 960"/>
                  <a:gd name="T2" fmla="*/ 871 w 963"/>
                  <a:gd name="T3" fmla="*/ 896 h 960"/>
                  <a:gd name="T4" fmla="*/ 804 w 963"/>
                  <a:gd name="T5" fmla="*/ 886 h 960"/>
                  <a:gd name="T6" fmla="*/ 738 w 963"/>
                  <a:gd name="T7" fmla="*/ 872 h 960"/>
                  <a:gd name="T8" fmla="*/ 674 w 963"/>
                  <a:gd name="T9" fmla="*/ 853 h 960"/>
                  <a:gd name="T10" fmla="*/ 612 w 963"/>
                  <a:gd name="T11" fmla="*/ 830 h 960"/>
                  <a:gd name="T12" fmla="*/ 552 w 963"/>
                  <a:gd name="T13" fmla="*/ 801 h 960"/>
                  <a:gd name="T14" fmla="*/ 495 w 963"/>
                  <a:gd name="T15" fmla="*/ 770 h 960"/>
                  <a:gd name="T16" fmla="*/ 442 w 963"/>
                  <a:gd name="T17" fmla="*/ 734 h 960"/>
                  <a:gd name="T18" fmla="*/ 390 w 963"/>
                  <a:gd name="T19" fmla="*/ 694 h 960"/>
                  <a:gd name="T20" fmla="*/ 341 w 963"/>
                  <a:gd name="T21" fmla="*/ 651 h 960"/>
                  <a:gd name="T22" fmla="*/ 295 w 963"/>
                  <a:gd name="T23" fmla="*/ 605 h 960"/>
                  <a:gd name="T24" fmla="*/ 253 w 963"/>
                  <a:gd name="T25" fmla="*/ 556 h 960"/>
                  <a:gd name="T26" fmla="*/ 215 w 963"/>
                  <a:gd name="T27" fmla="*/ 503 h 960"/>
                  <a:gd name="T28" fmla="*/ 180 w 963"/>
                  <a:gd name="T29" fmla="*/ 448 h 960"/>
                  <a:gd name="T30" fmla="*/ 150 w 963"/>
                  <a:gd name="T31" fmla="*/ 390 h 960"/>
                  <a:gd name="T32" fmla="*/ 124 w 963"/>
                  <a:gd name="T33" fmla="*/ 330 h 960"/>
                  <a:gd name="T34" fmla="*/ 102 w 963"/>
                  <a:gd name="T35" fmla="*/ 267 h 960"/>
                  <a:gd name="T36" fmla="*/ 84 w 963"/>
                  <a:gd name="T37" fmla="*/ 203 h 960"/>
                  <a:gd name="T38" fmla="*/ 71 w 963"/>
                  <a:gd name="T39" fmla="*/ 137 h 960"/>
                  <a:gd name="T40" fmla="*/ 64 w 963"/>
                  <a:gd name="T41" fmla="*/ 70 h 960"/>
                  <a:gd name="T42" fmla="*/ 60 w 963"/>
                  <a:gd name="T43" fmla="*/ 0 h 960"/>
                  <a:gd name="T44" fmla="*/ 1 w 963"/>
                  <a:gd name="T45" fmla="*/ 50 h 960"/>
                  <a:gd name="T46" fmla="*/ 9 w 963"/>
                  <a:gd name="T47" fmla="*/ 122 h 960"/>
                  <a:gd name="T48" fmla="*/ 20 w 963"/>
                  <a:gd name="T49" fmla="*/ 194 h 960"/>
                  <a:gd name="T50" fmla="*/ 37 w 963"/>
                  <a:gd name="T51" fmla="*/ 263 h 960"/>
                  <a:gd name="T52" fmla="*/ 59 w 963"/>
                  <a:gd name="T53" fmla="*/ 330 h 960"/>
                  <a:gd name="T54" fmla="*/ 86 w 963"/>
                  <a:gd name="T55" fmla="*/ 395 h 960"/>
                  <a:gd name="T56" fmla="*/ 117 w 963"/>
                  <a:gd name="T57" fmla="*/ 457 h 960"/>
                  <a:gd name="T58" fmla="*/ 153 w 963"/>
                  <a:gd name="T59" fmla="*/ 517 h 960"/>
                  <a:gd name="T60" fmla="*/ 192 w 963"/>
                  <a:gd name="T61" fmla="*/ 574 h 960"/>
                  <a:gd name="T62" fmla="*/ 236 w 963"/>
                  <a:gd name="T63" fmla="*/ 628 h 960"/>
                  <a:gd name="T64" fmla="*/ 283 w 963"/>
                  <a:gd name="T65" fmla="*/ 679 h 960"/>
                  <a:gd name="T66" fmla="*/ 334 w 963"/>
                  <a:gd name="T67" fmla="*/ 726 h 960"/>
                  <a:gd name="T68" fmla="*/ 388 w 963"/>
                  <a:gd name="T69" fmla="*/ 769 h 960"/>
                  <a:gd name="T70" fmla="*/ 445 w 963"/>
                  <a:gd name="T71" fmla="*/ 809 h 960"/>
                  <a:gd name="T72" fmla="*/ 505 w 963"/>
                  <a:gd name="T73" fmla="*/ 843 h 960"/>
                  <a:gd name="T74" fmla="*/ 568 w 963"/>
                  <a:gd name="T75" fmla="*/ 875 h 960"/>
                  <a:gd name="T76" fmla="*/ 632 w 963"/>
                  <a:gd name="T77" fmla="*/ 901 h 960"/>
                  <a:gd name="T78" fmla="*/ 700 w 963"/>
                  <a:gd name="T79" fmla="*/ 923 h 960"/>
                  <a:gd name="T80" fmla="*/ 769 w 963"/>
                  <a:gd name="T81" fmla="*/ 940 h 960"/>
                  <a:gd name="T82" fmla="*/ 841 w 963"/>
                  <a:gd name="T83" fmla="*/ 952 h 960"/>
                  <a:gd name="T84" fmla="*/ 913 w 963"/>
                  <a:gd name="T85" fmla="*/ 959 h 960"/>
                  <a:gd name="T86" fmla="*/ 963 w 963"/>
                  <a:gd name="T87" fmla="*/ 960 h 9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63" h="960">
                    <a:moveTo>
                      <a:pt x="963" y="900"/>
                    </a:moveTo>
                    <a:lnTo>
                      <a:pt x="963" y="900"/>
                    </a:lnTo>
                    <a:lnTo>
                      <a:pt x="940" y="900"/>
                    </a:lnTo>
                    <a:lnTo>
                      <a:pt x="917" y="899"/>
                    </a:lnTo>
                    <a:lnTo>
                      <a:pt x="893" y="898"/>
                    </a:lnTo>
                    <a:lnTo>
                      <a:pt x="871" y="896"/>
                    </a:lnTo>
                    <a:lnTo>
                      <a:pt x="848" y="893"/>
                    </a:lnTo>
                    <a:lnTo>
                      <a:pt x="826" y="890"/>
                    </a:lnTo>
                    <a:lnTo>
                      <a:pt x="804" y="886"/>
                    </a:lnTo>
                    <a:lnTo>
                      <a:pt x="782" y="882"/>
                    </a:lnTo>
                    <a:lnTo>
                      <a:pt x="760" y="877"/>
                    </a:lnTo>
                    <a:lnTo>
                      <a:pt x="738" y="872"/>
                    </a:lnTo>
                    <a:lnTo>
                      <a:pt x="716" y="865"/>
                    </a:lnTo>
                    <a:lnTo>
                      <a:pt x="695" y="859"/>
                    </a:lnTo>
                    <a:lnTo>
                      <a:pt x="674" y="853"/>
                    </a:lnTo>
                    <a:lnTo>
                      <a:pt x="653" y="846"/>
                    </a:lnTo>
                    <a:lnTo>
                      <a:pt x="632" y="837"/>
                    </a:lnTo>
                    <a:lnTo>
                      <a:pt x="612" y="830"/>
                    </a:lnTo>
                    <a:lnTo>
                      <a:pt x="592" y="820"/>
                    </a:lnTo>
                    <a:lnTo>
                      <a:pt x="572" y="811"/>
                    </a:lnTo>
                    <a:lnTo>
                      <a:pt x="552" y="801"/>
                    </a:lnTo>
                    <a:lnTo>
                      <a:pt x="533" y="791"/>
                    </a:lnTo>
                    <a:lnTo>
                      <a:pt x="514" y="780"/>
                    </a:lnTo>
                    <a:lnTo>
                      <a:pt x="495" y="770"/>
                    </a:lnTo>
                    <a:lnTo>
                      <a:pt x="477" y="758"/>
                    </a:lnTo>
                    <a:lnTo>
                      <a:pt x="460" y="746"/>
                    </a:lnTo>
                    <a:lnTo>
                      <a:pt x="442" y="734"/>
                    </a:lnTo>
                    <a:lnTo>
                      <a:pt x="424" y="721"/>
                    </a:lnTo>
                    <a:lnTo>
                      <a:pt x="407" y="708"/>
                    </a:lnTo>
                    <a:lnTo>
                      <a:pt x="390" y="694"/>
                    </a:lnTo>
                    <a:lnTo>
                      <a:pt x="373" y="681"/>
                    </a:lnTo>
                    <a:lnTo>
                      <a:pt x="356" y="666"/>
                    </a:lnTo>
                    <a:lnTo>
                      <a:pt x="341" y="651"/>
                    </a:lnTo>
                    <a:lnTo>
                      <a:pt x="326" y="636"/>
                    </a:lnTo>
                    <a:lnTo>
                      <a:pt x="310" y="621"/>
                    </a:lnTo>
                    <a:lnTo>
                      <a:pt x="295" y="605"/>
                    </a:lnTo>
                    <a:lnTo>
                      <a:pt x="281" y="588"/>
                    </a:lnTo>
                    <a:lnTo>
                      <a:pt x="267" y="573"/>
                    </a:lnTo>
                    <a:lnTo>
                      <a:pt x="253" y="556"/>
                    </a:lnTo>
                    <a:lnTo>
                      <a:pt x="241" y="538"/>
                    </a:lnTo>
                    <a:lnTo>
                      <a:pt x="228" y="521"/>
                    </a:lnTo>
                    <a:lnTo>
                      <a:pt x="215" y="503"/>
                    </a:lnTo>
                    <a:lnTo>
                      <a:pt x="203" y="484"/>
                    </a:lnTo>
                    <a:lnTo>
                      <a:pt x="191" y="467"/>
                    </a:lnTo>
                    <a:lnTo>
                      <a:pt x="180" y="448"/>
                    </a:lnTo>
                    <a:lnTo>
                      <a:pt x="170" y="429"/>
                    </a:lnTo>
                    <a:lnTo>
                      <a:pt x="159" y="410"/>
                    </a:lnTo>
                    <a:lnTo>
                      <a:pt x="150" y="390"/>
                    </a:lnTo>
                    <a:lnTo>
                      <a:pt x="140" y="370"/>
                    </a:lnTo>
                    <a:lnTo>
                      <a:pt x="132" y="350"/>
                    </a:lnTo>
                    <a:lnTo>
                      <a:pt x="124" y="330"/>
                    </a:lnTo>
                    <a:lnTo>
                      <a:pt x="115" y="309"/>
                    </a:lnTo>
                    <a:lnTo>
                      <a:pt x="108" y="288"/>
                    </a:lnTo>
                    <a:lnTo>
                      <a:pt x="102" y="267"/>
                    </a:lnTo>
                    <a:lnTo>
                      <a:pt x="95" y="246"/>
                    </a:lnTo>
                    <a:lnTo>
                      <a:pt x="89" y="225"/>
                    </a:lnTo>
                    <a:lnTo>
                      <a:pt x="84" y="203"/>
                    </a:lnTo>
                    <a:lnTo>
                      <a:pt x="79" y="181"/>
                    </a:lnTo>
                    <a:lnTo>
                      <a:pt x="74" y="159"/>
                    </a:lnTo>
                    <a:lnTo>
                      <a:pt x="71" y="137"/>
                    </a:lnTo>
                    <a:lnTo>
                      <a:pt x="68" y="115"/>
                    </a:lnTo>
                    <a:lnTo>
                      <a:pt x="66" y="93"/>
                    </a:lnTo>
                    <a:lnTo>
                      <a:pt x="64" y="70"/>
                    </a:lnTo>
                    <a:lnTo>
                      <a:pt x="62" y="47"/>
                    </a:lnTo>
                    <a:lnTo>
                      <a:pt x="60" y="23"/>
                    </a:lnTo>
                    <a:lnTo>
                      <a:pt x="60" y="0"/>
                    </a:lnTo>
                    <a:lnTo>
                      <a:pt x="0" y="0"/>
                    </a:lnTo>
                    <a:lnTo>
                      <a:pt x="1" y="26"/>
                    </a:lnTo>
                    <a:lnTo>
                      <a:pt x="1" y="50"/>
                    </a:lnTo>
                    <a:lnTo>
                      <a:pt x="4" y="74"/>
                    </a:lnTo>
                    <a:lnTo>
                      <a:pt x="6" y="98"/>
                    </a:lnTo>
                    <a:lnTo>
                      <a:pt x="9" y="122"/>
                    </a:lnTo>
                    <a:lnTo>
                      <a:pt x="12" y="146"/>
                    </a:lnTo>
                    <a:lnTo>
                      <a:pt x="16" y="170"/>
                    </a:lnTo>
                    <a:lnTo>
                      <a:pt x="20" y="194"/>
                    </a:lnTo>
                    <a:lnTo>
                      <a:pt x="26" y="217"/>
                    </a:lnTo>
                    <a:lnTo>
                      <a:pt x="31" y="240"/>
                    </a:lnTo>
                    <a:lnTo>
                      <a:pt x="37" y="263"/>
                    </a:lnTo>
                    <a:lnTo>
                      <a:pt x="44" y="285"/>
                    </a:lnTo>
                    <a:lnTo>
                      <a:pt x="51" y="308"/>
                    </a:lnTo>
                    <a:lnTo>
                      <a:pt x="59" y="330"/>
                    </a:lnTo>
                    <a:lnTo>
                      <a:pt x="68" y="352"/>
                    </a:lnTo>
                    <a:lnTo>
                      <a:pt x="76" y="373"/>
                    </a:lnTo>
                    <a:lnTo>
                      <a:pt x="86" y="395"/>
                    </a:lnTo>
                    <a:lnTo>
                      <a:pt x="96" y="416"/>
                    </a:lnTo>
                    <a:lnTo>
                      <a:pt x="107" y="436"/>
                    </a:lnTo>
                    <a:lnTo>
                      <a:pt x="117" y="457"/>
                    </a:lnTo>
                    <a:lnTo>
                      <a:pt x="129" y="477"/>
                    </a:lnTo>
                    <a:lnTo>
                      <a:pt x="140" y="497"/>
                    </a:lnTo>
                    <a:lnTo>
                      <a:pt x="153" y="517"/>
                    </a:lnTo>
                    <a:lnTo>
                      <a:pt x="166" y="536"/>
                    </a:lnTo>
                    <a:lnTo>
                      <a:pt x="178" y="556"/>
                    </a:lnTo>
                    <a:lnTo>
                      <a:pt x="192" y="574"/>
                    </a:lnTo>
                    <a:lnTo>
                      <a:pt x="207" y="593"/>
                    </a:lnTo>
                    <a:lnTo>
                      <a:pt x="221" y="610"/>
                    </a:lnTo>
                    <a:lnTo>
                      <a:pt x="236" y="628"/>
                    </a:lnTo>
                    <a:lnTo>
                      <a:pt x="251" y="645"/>
                    </a:lnTo>
                    <a:lnTo>
                      <a:pt x="267" y="662"/>
                    </a:lnTo>
                    <a:lnTo>
                      <a:pt x="283" y="679"/>
                    </a:lnTo>
                    <a:lnTo>
                      <a:pt x="299" y="694"/>
                    </a:lnTo>
                    <a:lnTo>
                      <a:pt x="316" y="710"/>
                    </a:lnTo>
                    <a:lnTo>
                      <a:pt x="334" y="726"/>
                    </a:lnTo>
                    <a:lnTo>
                      <a:pt x="351" y="741"/>
                    </a:lnTo>
                    <a:lnTo>
                      <a:pt x="369" y="755"/>
                    </a:lnTo>
                    <a:lnTo>
                      <a:pt x="388" y="769"/>
                    </a:lnTo>
                    <a:lnTo>
                      <a:pt x="407" y="783"/>
                    </a:lnTo>
                    <a:lnTo>
                      <a:pt x="426" y="795"/>
                    </a:lnTo>
                    <a:lnTo>
                      <a:pt x="445" y="809"/>
                    </a:lnTo>
                    <a:lnTo>
                      <a:pt x="465" y="820"/>
                    </a:lnTo>
                    <a:lnTo>
                      <a:pt x="485" y="832"/>
                    </a:lnTo>
                    <a:lnTo>
                      <a:pt x="505" y="843"/>
                    </a:lnTo>
                    <a:lnTo>
                      <a:pt x="526" y="855"/>
                    </a:lnTo>
                    <a:lnTo>
                      <a:pt x="546" y="865"/>
                    </a:lnTo>
                    <a:lnTo>
                      <a:pt x="568" y="875"/>
                    </a:lnTo>
                    <a:lnTo>
                      <a:pt x="589" y="884"/>
                    </a:lnTo>
                    <a:lnTo>
                      <a:pt x="610" y="893"/>
                    </a:lnTo>
                    <a:lnTo>
                      <a:pt x="632" y="901"/>
                    </a:lnTo>
                    <a:lnTo>
                      <a:pt x="654" y="910"/>
                    </a:lnTo>
                    <a:lnTo>
                      <a:pt x="678" y="917"/>
                    </a:lnTo>
                    <a:lnTo>
                      <a:pt x="700" y="923"/>
                    </a:lnTo>
                    <a:lnTo>
                      <a:pt x="723" y="930"/>
                    </a:lnTo>
                    <a:lnTo>
                      <a:pt x="746" y="935"/>
                    </a:lnTo>
                    <a:lnTo>
                      <a:pt x="769" y="940"/>
                    </a:lnTo>
                    <a:lnTo>
                      <a:pt x="793" y="945"/>
                    </a:lnTo>
                    <a:lnTo>
                      <a:pt x="817" y="948"/>
                    </a:lnTo>
                    <a:lnTo>
                      <a:pt x="841" y="952"/>
                    </a:lnTo>
                    <a:lnTo>
                      <a:pt x="865" y="955"/>
                    </a:lnTo>
                    <a:lnTo>
                      <a:pt x="889" y="957"/>
                    </a:lnTo>
                    <a:lnTo>
                      <a:pt x="913" y="959"/>
                    </a:lnTo>
                    <a:lnTo>
                      <a:pt x="939" y="960"/>
                    </a:lnTo>
                    <a:lnTo>
                      <a:pt x="963" y="960"/>
                    </a:lnTo>
                    <a:lnTo>
                      <a:pt x="963" y="90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8" name="Freeform 255"/>
              <p:cNvSpPr>
                <a:spLocks noChangeArrowheads="1"/>
              </p:cNvSpPr>
              <p:nvPr/>
            </p:nvSpPr>
            <p:spPr bwMode="auto">
              <a:xfrm>
                <a:off x="4238" y="1841"/>
                <a:ext cx="320" cy="320"/>
              </a:xfrm>
              <a:custGeom>
                <a:avLst/>
                <a:gdLst>
                  <a:gd name="T0" fmla="*/ 902 w 962"/>
                  <a:gd name="T1" fmla="*/ 23 h 960"/>
                  <a:gd name="T2" fmla="*/ 898 w 962"/>
                  <a:gd name="T3" fmla="*/ 93 h 960"/>
                  <a:gd name="T4" fmla="*/ 888 w 962"/>
                  <a:gd name="T5" fmla="*/ 159 h 960"/>
                  <a:gd name="T6" fmla="*/ 874 w 962"/>
                  <a:gd name="T7" fmla="*/ 225 h 960"/>
                  <a:gd name="T8" fmla="*/ 855 w 962"/>
                  <a:gd name="T9" fmla="*/ 288 h 960"/>
                  <a:gd name="T10" fmla="*/ 831 w 962"/>
                  <a:gd name="T11" fmla="*/ 350 h 960"/>
                  <a:gd name="T12" fmla="*/ 803 w 962"/>
                  <a:gd name="T13" fmla="*/ 410 h 960"/>
                  <a:gd name="T14" fmla="*/ 772 w 962"/>
                  <a:gd name="T15" fmla="*/ 467 h 960"/>
                  <a:gd name="T16" fmla="*/ 735 w 962"/>
                  <a:gd name="T17" fmla="*/ 521 h 960"/>
                  <a:gd name="T18" fmla="*/ 696 w 962"/>
                  <a:gd name="T19" fmla="*/ 573 h 960"/>
                  <a:gd name="T20" fmla="*/ 653 w 962"/>
                  <a:gd name="T21" fmla="*/ 621 h 960"/>
                  <a:gd name="T22" fmla="*/ 606 w 962"/>
                  <a:gd name="T23" fmla="*/ 666 h 960"/>
                  <a:gd name="T24" fmla="*/ 556 w 962"/>
                  <a:gd name="T25" fmla="*/ 708 h 960"/>
                  <a:gd name="T26" fmla="*/ 504 w 962"/>
                  <a:gd name="T27" fmla="*/ 746 h 960"/>
                  <a:gd name="T28" fmla="*/ 448 w 962"/>
                  <a:gd name="T29" fmla="*/ 780 h 960"/>
                  <a:gd name="T30" fmla="*/ 391 w 962"/>
                  <a:gd name="T31" fmla="*/ 811 h 960"/>
                  <a:gd name="T32" fmla="*/ 331 w 962"/>
                  <a:gd name="T33" fmla="*/ 837 h 960"/>
                  <a:gd name="T34" fmla="*/ 267 w 962"/>
                  <a:gd name="T35" fmla="*/ 859 h 960"/>
                  <a:gd name="T36" fmla="*/ 203 w 962"/>
                  <a:gd name="T37" fmla="*/ 877 h 960"/>
                  <a:gd name="T38" fmla="*/ 137 w 962"/>
                  <a:gd name="T39" fmla="*/ 890 h 960"/>
                  <a:gd name="T40" fmla="*/ 69 w 962"/>
                  <a:gd name="T41" fmla="*/ 898 h 960"/>
                  <a:gd name="T42" fmla="*/ 0 w 962"/>
                  <a:gd name="T43" fmla="*/ 900 h 960"/>
                  <a:gd name="T44" fmla="*/ 49 w 962"/>
                  <a:gd name="T45" fmla="*/ 959 h 960"/>
                  <a:gd name="T46" fmla="*/ 122 w 962"/>
                  <a:gd name="T47" fmla="*/ 952 h 960"/>
                  <a:gd name="T48" fmla="*/ 194 w 962"/>
                  <a:gd name="T49" fmla="*/ 940 h 960"/>
                  <a:gd name="T50" fmla="*/ 263 w 962"/>
                  <a:gd name="T51" fmla="*/ 923 h 960"/>
                  <a:gd name="T52" fmla="*/ 331 w 962"/>
                  <a:gd name="T53" fmla="*/ 901 h 960"/>
                  <a:gd name="T54" fmla="*/ 395 w 962"/>
                  <a:gd name="T55" fmla="*/ 875 h 960"/>
                  <a:gd name="T56" fmla="*/ 458 w 962"/>
                  <a:gd name="T57" fmla="*/ 843 h 960"/>
                  <a:gd name="T58" fmla="*/ 518 w 962"/>
                  <a:gd name="T59" fmla="*/ 809 h 960"/>
                  <a:gd name="T60" fmla="*/ 575 w 962"/>
                  <a:gd name="T61" fmla="*/ 769 h 960"/>
                  <a:gd name="T62" fmla="*/ 629 w 962"/>
                  <a:gd name="T63" fmla="*/ 726 h 960"/>
                  <a:gd name="T64" fmla="*/ 680 w 962"/>
                  <a:gd name="T65" fmla="*/ 679 h 960"/>
                  <a:gd name="T66" fmla="*/ 726 w 962"/>
                  <a:gd name="T67" fmla="*/ 628 h 960"/>
                  <a:gd name="T68" fmla="*/ 771 w 962"/>
                  <a:gd name="T69" fmla="*/ 574 h 960"/>
                  <a:gd name="T70" fmla="*/ 810 w 962"/>
                  <a:gd name="T71" fmla="*/ 517 h 960"/>
                  <a:gd name="T72" fmla="*/ 845 w 962"/>
                  <a:gd name="T73" fmla="*/ 457 h 960"/>
                  <a:gd name="T74" fmla="*/ 877 w 962"/>
                  <a:gd name="T75" fmla="*/ 395 h 960"/>
                  <a:gd name="T76" fmla="*/ 903 w 962"/>
                  <a:gd name="T77" fmla="*/ 330 h 960"/>
                  <a:gd name="T78" fmla="*/ 925 w 962"/>
                  <a:gd name="T79" fmla="*/ 263 h 960"/>
                  <a:gd name="T80" fmla="*/ 942 w 962"/>
                  <a:gd name="T81" fmla="*/ 194 h 960"/>
                  <a:gd name="T82" fmla="*/ 954 w 962"/>
                  <a:gd name="T83" fmla="*/ 122 h 960"/>
                  <a:gd name="T84" fmla="*/ 961 w 962"/>
                  <a:gd name="T85" fmla="*/ 50 h 960"/>
                  <a:gd name="T86" fmla="*/ 962 w 962"/>
                  <a:gd name="T87" fmla="*/ 0 h 9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62" h="960">
                    <a:moveTo>
                      <a:pt x="902" y="0"/>
                    </a:moveTo>
                    <a:lnTo>
                      <a:pt x="902" y="0"/>
                    </a:lnTo>
                    <a:lnTo>
                      <a:pt x="902" y="23"/>
                    </a:lnTo>
                    <a:lnTo>
                      <a:pt x="901" y="47"/>
                    </a:lnTo>
                    <a:lnTo>
                      <a:pt x="899" y="70"/>
                    </a:lnTo>
                    <a:lnTo>
                      <a:pt x="898" y="93"/>
                    </a:lnTo>
                    <a:lnTo>
                      <a:pt x="895" y="115"/>
                    </a:lnTo>
                    <a:lnTo>
                      <a:pt x="892" y="137"/>
                    </a:lnTo>
                    <a:lnTo>
                      <a:pt x="888" y="159"/>
                    </a:lnTo>
                    <a:lnTo>
                      <a:pt x="884" y="181"/>
                    </a:lnTo>
                    <a:lnTo>
                      <a:pt x="879" y="203"/>
                    </a:lnTo>
                    <a:lnTo>
                      <a:pt x="874" y="225"/>
                    </a:lnTo>
                    <a:lnTo>
                      <a:pt x="868" y="246"/>
                    </a:lnTo>
                    <a:lnTo>
                      <a:pt x="861" y="267"/>
                    </a:lnTo>
                    <a:lnTo>
                      <a:pt x="855" y="288"/>
                    </a:lnTo>
                    <a:lnTo>
                      <a:pt x="848" y="309"/>
                    </a:lnTo>
                    <a:lnTo>
                      <a:pt x="839" y="330"/>
                    </a:lnTo>
                    <a:lnTo>
                      <a:pt x="831" y="350"/>
                    </a:lnTo>
                    <a:lnTo>
                      <a:pt x="822" y="370"/>
                    </a:lnTo>
                    <a:lnTo>
                      <a:pt x="813" y="390"/>
                    </a:lnTo>
                    <a:lnTo>
                      <a:pt x="803" y="410"/>
                    </a:lnTo>
                    <a:lnTo>
                      <a:pt x="793" y="429"/>
                    </a:lnTo>
                    <a:lnTo>
                      <a:pt x="782" y="448"/>
                    </a:lnTo>
                    <a:lnTo>
                      <a:pt x="772" y="467"/>
                    </a:lnTo>
                    <a:lnTo>
                      <a:pt x="760" y="484"/>
                    </a:lnTo>
                    <a:lnTo>
                      <a:pt x="747" y="503"/>
                    </a:lnTo>
                    <a:lnTo>
                      <a:pt x="735" y="521"/>
                    </a:lnTo>
                    <a:lnTo>
                      <a:pt x="722" y="538"/>
                    </a:lnTo>
                    <a:lnTo>
                      <a:pt x="710" y="556"/>
                    </a:lnTo>
                    <a:lnTo>
                      <a:pt x="696" y="573"/>
                    </a:lnTo>
                    <a:lnTo>
                      <a:pt x="682" y="588"/>
                    </a:lnTo>
                    <a:lnTo>
                      <a:pt x="667" y="605"/>
                    </a:lnTo>
                    <a:lnTo>
                      <a:pt x="653" y="621"/>
                    </a:lnTo>
                    <a:lnTo>
                      <a:pt x="637" y="636"/>
                    </a:lnTo>
                    <a:lnTo>
                      <a:pt x="622" y="651"/>
                    </a:lnTo>
                    <a:lnTo>
                      <a:pt x="606" y="666"/>
                    </a:lnTo>
                    <a:lnTo>
                      <a:pt x="590" y="681"/>
                    </a:lnTo>
                    <a:lnTo>
                      <a:pt x="573" y="694"/>
                    </a:lnTo>
                    <a:lnTo>
                      <a:pt x="556" y="708"/>
                    </a:lnTo>
                    <a:lnTo>
                      <a:pt x="539" y="721"/>
                    </a:lnTo>
                    <a:lnTo>
                      <a:pt x="521" y="734"/>
                    </a:lnTo>
                    <a:lnTo>
                      <a:pt x="504" y="746"/>
                    </a:lnTo>
                    <a:lnTo>
                      <a:pt x="485" y="758"/>
                    </a:lnTo>
                    <a:lnTo>
                      <a:pt x="467" y="770"/>
                    </a:lnTo>
                    <a:lnTo>
                      <a:pt x="448" y="780"/>
                    </a:lnTo>
                    <a:lnTo>
                      <a:pt x="429" y="791"/>
                    </a:lnTo>
                    <a:lnTo>
                      <a:pt x="411" y="801"/>
                    </a:lnTo>
                    <a:lnTo>
                      <a:pt x="391" y="811"/>
                    </a:lnTo>
                    <a:lnTo>
                      <a:pt x="371" y="820"/>
                    </a:lnTo>
                    <a:lnTo>
                      <a:pt x="351" y="830"/>
                    </a:lnTo>
                    <a:lnTo>
                      <a:pt x="331" y="837"/>
                    </a:lnTo>
                    <a:lnTo>
                      <a:pt x="309" y="846"/>
                    </a:lnTo>
                    <a:lnTo>
                      <a:pt x="288" y="853"/>
                    </a:lnTo>
                    <a:lnTo>
                      <a:pt x="267" y="859"/>
                    </a:lnTo>
                    <a:lnTo>
                      <a:pt x="246" y="865"/>
                    </a:lnTo>
                    <a:lnTo>
                      <a:pt x="225" y="872"/>
                    </a:lnTo>
                    <a:lnTo>
                      <a:pt x="203" y="877"/>
                    </a:lnTo>
                    <a:lnTo>
                      <a:pt x="181" y="882"/>
                    </a:lnTo>
                    <a:lnTo>
                      <a:pt x="159" y="886"/>
                    </a:lnTo>
                    <a:lnTo>
                      <a:pt x="137" y="890"/>
                    </a:lnTo>
                    <a:lnTo>
                      <a:pt x="115" y="893"/>
                    </a:lnTo>
                    <a:lnTo>
                      <a:pt x="93" y="896"/>
                    </a:lnTo>
                    <a:lnTo>
                      <a:pt x="69" y="898"/>
                    </a:lnTo>
                    <a:lnTo>
                      <a:pt x="46" y="899"/>
                    </a:lnTo>
                    <a:lnTo>
                      <a:pt x="23" y="900"/>
                    </a:lnTo>
                    <a:lnTo>
                      <a:pt x="0" y="900"/>
                    </a:lnTo>
                    <a:lnTo>
                      <a:pt x="0" y="960"/>
                    </a:lnTo>
                    <a:lnTo>
                      <a:pt x="24" y="960"/>
                    </a:lnTo>
                    <a:lnTo>
                      <a:pt x="49" y="959"/>
                    </a:lnTo>
                    <a:lnTo>
                      <a:pt x="74" y="957"/>
                    </a:lnTo>
                    <a:lnTo>
                      <a:pt x="98" y="955"/>
                    </a:lnTo>
                    <a:lnTo>
                      <a:pt x="122" y="952"/>
                    </a:lnTo>
                    <a:lnTo>
                      <a:pt x="146" y="948"/>
                    </a:lnTo>
                    <a:lnTo>
                      <a:pt x="169" y="945"/>
                    </a:lnTo>
                    <a:lnTo>
                      <a:pt x="194" y="940"/>
                    </a:lnTo>
                    <a:lnTo>
                      <a:pt x="217" y="935"/>
                    </a:lnTo>
                    <a:lnTo>
                      <a:pt x="240" y="930"/>
                    </a:lnTo>
                    <a:lnTo>
                      <a:pt x="263" y="923"/>
                    </a:lnTo>
                    <a:lnTo>
                      <a:pt x="285" y="917"/>
                    </a:lnTo>
                    <a:lnTo>
                      <a:pt x="308" y="910"/>
                    </a:lnTo>
                    <a:lnTo>
                      <a:pt x="331" y="901"/>
                    </a:lnTo>
                    <a:lnTo>
                      <a:pt x="353" y="893"/>
                    </a:lnTo>
                    <a:lnTo>
                      <a:pt x="374" y="884"/>
                    </a:lnTo>
                    <a:lnTo>
                      <a:pt x="395" y="875"/>
                    </a:lnTo>
                    <a:lnTo>
                      <a:pt x="417" y="865"/>
                    </a:lnTo>
                    <a:lnTo>
                      <a:pt x="437" y="855"/>
                    </a:lnTo>
                    <a:lnTo>
                      <a:pt x="458" y="843"/>
                    </a:lnTo>
                    <a:lnTo>
                      <a:pt x="478" y="832"/>
                    </a:lnTo>
                    <a:lnTo>
                      <a:pt x="498" y="820"/>
                    </a:lnTo>
                    <a:lnTo>
                      <a:pt x="518" y="809"/>
                    </a:lnTo>
                    <a:lnTo>
                      <a:pt x="537" y="795"/>
                    </a:lnTo>
                    <a:lnTo>
                      <a:pt x="556" y="783"/>
                    </a:lnTo>
                    <a:lnTo>
                      <a:pt x="575" y="769"/>
                    </a:lnTo>
                    <a:lnTo>
                      <a:pt x="594" y="755"/>
                    </a:lnTo>
                    <a:lnTo>
                      <a:pt x="612" y="741"/>
                    </a:lnTo>
                    <a:lnTo>
                      <a:pt x="629" y="726"/>
                    </a:lnTo>
                    <a:lnTo>
                      <a:pt x="646" y="710"/>
                    </a:lnTo>
                    <a:lnTo>
                      <a:pt x="663" y="694"/>
                    </a:lnTo>
                    <a:lnTo>
                      <a:pt x="680" y="679"/>
                    </a:lnTo>
                    <a:lnTo>
                      <a:pt x="696" y="662"/>
                    </a:lnTo>
                    <a:lnTo>
                      <a:pt x="712" y="645"/>
                    </a:lnTo>
                    <a:lnTo>
                      <a:pt x="726" y="628"/>
                    </a:lnTo>
                    <a:lnTo>
                      <a:pt x="742" y="610"/>
                    </a:lnTo>
                    <a:lnTo>
                      <a:pt x="756" y="593"/>
                    </a:lnTo>
                    <a:lnTo>
                      <a:pt x="771" y="574"/>
                    </a:lnTo>
                    <a:lnTo>
                      <a:pt x="784" y="556"/>
                    </a:lnTo>
                    <a:lnTo>
                      <a:pt x="797" y="536"/>
                    </a:lnTo>
                    <a:lnTo>
                      <a:pt x="810" y="517"/>
                    </a:lnTo>
                    <a:lnTo>
                      <a:pt x="822" y="497"/>
                    </a:lnTo>
                    <a:lnTo>
                      <a:pt x="834" y="477"/>
                    </a:lnTo>
                    <a:lnTo>
                      <a:pt x="845" y="457"/>
                    </a:lnTo>
                    <a:lnTo>
                      <a:pt x="856" y="436"/>
                    </a:lnTo>
                    <a:lnTo>
                      <a:pt x="866" y="416"/>
                    </a:lnTo>
                    <a:lnTo>
                      <a:pt x="877" y="395"/>
                    </a:lnTo>
                    <a:lnTo>
                      <a:pt x="886" y="373"/>
                    </a:lnTo>
                    <a:lnTo>
                      <a:pt x="895" y="352"/>
                    </a:lnTo>
                    <a:lnTo>
                      <a:pt x="903" y="330"/>
                    </a:lnTo>
                    <a:lnTo>
                      <a:pt x="912" y="308"/>
                    </a:lnTo>
                    <a:lnTo>
                      <a:pt x="919" y="285"/>
                    </a:lnTo>
                    <a:lnTo>
                      <a:pt x="925" y="263"/>
                    </a:lnTo>
                    <a:lnTo>
                      <a:pt x="932" y="240"/>
                    </a:lnTo>
                    <a:lnTo>
                      <a:pt x="937" y="217"/>
                    </a:lnTo>
                    <a:lnTo>
                      <a:pt x="942" y="194"/>
                    </a:lnTo>
                    <a:lnTo>
                      <a:pt x="948" y="170"/>
                    </a:lnTo>
                    <a:lnTo>
                      <a:pt x="951" y="146"/>
                    </a:lnTo>
                    <a:lnTo>
                      <a:pt x="954" y="122"/>
                    </a:lnTo>
                    <a:lnTo>
                      <a:pt x="957" y="98"/>
                    </a:lnTo>
                    <a:lnTo>
                      <a:pt x="959" y="74"/>
                    </a:lnTo>
                    <a:lnTo>
                      <a:pt x="961" y="50"/>
                    </a:lnTo>
                    <a:lnTo>
                      <a:pt x="961" y="26"/>
                    </a:lnTo>
                    <a:lnTo>
                      <a:pt x="962" y="0"/>
                    </a:lnTo>
                    <a:lnTo>
                      <a:pt x="902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9" name="Freeform 256"/>
              <p:cNvSpPr>
                <a:spLocks noChangeArrowheads="1"/>
              </p:cNvSpPr>
              <p:nvPr/>
            </p:nvSpPr>
            <p:spPr bwMode="auto">
              <a:xfrm>
                <a:off x="4238" y="1522"/>
                <a:ext cx="320" cy="319"/>
              </a:xfrm>
              <a:custGeom>
                <a:avLst/>
                <a:gdLst>
                  <a:gd name="T0" fmla="*/ 0 w 962"/>
                  <a:gd name="T1" fmla="*/ 60 h 959"/>
                  <a:gd name="T2" fmla="*/ 46 w 962"/>
                  <a:gd name="T3" fmla="*/ 61 h 959"/>
                  <a:gd name="T4" fmla="*/ 93 w 962"/>
                  <a:gd name="T5" fmla="*/ 65 h 959"/>
                  <a:gd name="T6" fmla="*/ 137 w 962"/>
                  <a:gd name="T7" fmla="*/ 70 h 959"/>
                  <a:gd name="T8" fmla="*/ 181 w 962"/>
                  <a:gd name="T9" fmla="*/ 79 h 959"/>
                  <a:gd name="T10" fmla="*/ 225 w 962"/>
                  <a:gd name="T11" fmla="*/ 88 h 959"/>
                  <a:gd name="T12" fmla="*/ 267 w 962"/>
                  <a:gd name="T13" fmla="*/ 101 h 959"/>
                  <a:gd name="T14" fmla="*/ 309 w 962"/>
                  <a:gd name="T15" fmla="*/ 114 h 959"/>
                  <a:gd name="T16" fmla="*/ 351 w 962"/>
                  <a:gd name="T17" fmla="*/ 131 h 959"/>
                  <a:gd name="T18" fmla="*/ 391 w 962"/>
                  <a:gd name="T19" fmla="*/ 149 h 959"/>
                  <a:gd name="T20" fmla="*/ 429 w 962"/>
                  <a:gd name="T21" fmla="*/ 169 h 959"/>
                  <a:gd name="T22" fmla="*/ 467 w 962"/>
                  <a:gd name="T23" fmla="*/ 191 h 959"/>
                  <a:gd name="T24" fmla="*/ 503 w 962"/>
                  <a:gd name="T25" fmla="*/ 214 h 959"/>
                  <a:gd name="T26" fmla="*/ 574 w 962"/>
                  <a:gd name="T27" fmla="*/ 266 h 959"/>
                  <a:gd name="T28" fmla="*/ 606 w 962"/>
                  <a:gd name="T29" fmla="*/ 294 h 959"/>
                  <a:gd name="T30" fmla="*/ 637 w 962"/>
                  <a:gd name="T31" fmla="*/ 324 h 959"/>
                  <a:gd name="T32" fmla="*/ 667 w 962"/>
                  <a:gd name="T33" fmla="*/ 356 h 959"/>
                  <a:gd name="T34" fmla="*/ 696 w 962"/>
                  <a:gd name="T35" fmla="*/ 387 h 959"/>
                  <a:gd name="T36" fmla="*/ 747 w 962"/>
                  <a:gd name="T37" fmla="*/ 458 h 959"/>
                  <a:gd name="T38" fmla="*/ 772 w 962"/>
                  <a:gd name="T39" fmla="*/ 493 h 959"/>
                  <a:gd name="T40" fmla="*/ 793 w 962"/>
                  <a:gd name="T41" fmla="*/ 531 h 959"/>
                  <a:gd name="T42" fmla="*/ 813 w 962"/>
                  <a:gd name="T43" fmla="*/ 570 h 959"/>
                  <a:gd name="T44" fmla="*/ 831 w 962"/>
                  <a:gd name="T45" fmla="*/ 610 h 959"/>
                  <a:gd name="T46" fmla="*/ 848 w 962"/>
                  <a:gd name="T47" fmla="*/ 651 h 959"/>
                  <a:gd name="T48" fmla="*/ 861 w 962"/>
                  <a:gd name="T49" fmla="*/ 693 h 959"/>
                  <a:gd name="T50" fmla="*/ 874 w 962"/>
                  <a:gd name="T51" fmla="*/ 735 h 959"/>
                  <a:gd name="T52" fmla="*/ 884 w 962"/>
                  <a:gd name="T53" fmla="*/ 779 h 959"/>
                  <a:gd name="T54" fmla="*/ 892 w 962"/>
                  <a:gd name="T55" fmla="*/ 823 h 959"/>
                  <a:gd name="T56" fmla="*/ 898 w 962"/>
                  <a:gd name="T57" fmla="*/ 868 h 959"/>
                  <a:gd name="T58" fmla="*/ 901 w 962"/>
                  <a:gd name="T59" fmla="*/ 913 h 959"/>
                  <a:gd name="T60" fmla="*/ 902 w 962"/>
                  <a:gd name="T61" fmla="*/ 959 h 959"/>
                  <a:gd name="T62" fmla="*/ 961 w 962"/>
                  <a:gd name="T63" fmla="*/ 935 h 959"/>
                  <a:gd name="T64" fmla="*/ 959 w 962"/>
                  <a:gd name="T65" fmla="*/ 886 h 959"/>
                  <a:gd name="T66" fmla="*/ 954 w 962"/>
                  <a:gd name="T67" fmla="*/ 838 h 959"/>
                  <a:gd name="T68" fmla="*/ 948 w 962"/>
                  <a:gd name="T69" fmla="*/ 790 h 959"/>
                  <a:gd name="T70" fmla="*/ 937 w 962"/>
                  <a:gd name="T71" fmla="*/ 743 h 959"/>
                  <a:gd name="T72" fmla="*/ 925 w 962"/>
                  <a:gd name="T73" fmla="*/ 697 h 959"/>
                  <a:gd name="T74" fmla="*/ 912 w 962"/>
                  <a:gd name="T75" fmla="*/ 653 h 959"/>
                  <a:gd name="T76" fmla="*/ 895 w 962"/>
                  <a:gd name="T77" fmla="*/ 609 h 959"/>
                  <a:gd name="T78" fmla="*/ 877 w 962"/>
                  <a:gd name="T79" fmla="*/ 566 h 959"/>
                  <a:gd name="T80" fmla="*/ 856 w 962"/>
                  <a:gd name="T81" fmla="*/ 524 h 959"/>
                  <a:gd name="T82" fmla="*/ 834 w 962"/>
                  <a:gd name="T83" fmla="*/ 483 h 959"/>
                  <a:gd name="T84" fmla="*/ 810 w 962"/>
                  <a:gd name="T85" fmla="*/ 443 h 959"/>
                  <a:gd name="T86" fmla="*/ 771 w 962"/>
                  <a:gd name="T87" fmla="*/ 386 h 959"/>
                  <a:gd name="T88" fmla="*/ 726 w 962"/>
                  <a:gd name="T89" fmla="*/ 333 h 959"/>
                  <a:gd name="T90" fmla="*/ 696 w 962"/>
                  <a:gd name="T91" fmla="*/ 298 h 959"/>
                  <a:gd name="T92" fmla="*/ 663 w 962"/>
                  <a:gd name="T93" fmla="*/ 265 h 959"/>
                  <a:gd name="T94" fmla="*/ 629 w 962"/>
                  <a:gd name="T95" fmla="*/ 235 h 959"/>
                  <a:gd name="T96" fmla="*/ 575 w 962"/>
                  <a:gd name="T97" fmla="*/ 191 h 959"/>
                  <a:gd name="T98" fmla="*/ 518 w 962"/>
                  <a:gd name="T99" fmla="*/ 152 h 959"/>
                  <a:gd name="T100" fmla="*/ 478 w 962"/>
                  <a:gd name="T101" fmla="*/ 128 h 959"/>
                  <a:gd name="T102" fmla="*/ 437 w 962"/>
                  <a:gd name="T103" fmla="*/ 106 h 959"/>
                  <a:gd name="T104" fmla="*/ 395 w 962"/>
                  <a:gd name="T105" fmla="*/ 85 h 959"/>
                  <a:gd name="T106" fmla="*/ 353 w 962"/>
                  <a:gd name="T107" fmla="*/ 67 h 959"/>
                  <a:gd name="T108" fmla="*/ 308 w 962"/>
                  <a:gd name="T109" fmla="*/ 51 h 959"/>
                  <a:gd name="T110" fmla="*/ 263 w 962"/>
                  <a:gd name="T111" fmla="*/ 37 h 959"/>
                  <a:gd name="T112" fmla="*/ 217 w 962"/>
                  <a:gd name="T113" fmla="*/ 25 h 959"/>
                  <a:gd name="T114" fmla="*/ 169 w 962"/>
                  <a:gd name="T115" fmla="*/ 16 h 959"/>
                  <a:gd name="T116" fmla="*/ 122 w 962"/>
                  <a:gd name="T117" fmla="*/ 8 h 959"/>
                  <a:gd name="T118" fmla="*/ 74 w 962"/>
                  <a:gd name="T119" fmla="*/ 3 h 959"/>
                  <a:gd name="T120" fmla="*/ 24 w 962"/>
                  <a:gd name="T121" fmla="*/ 1 h 959"/>
                  <a:gd name="T122" fmla="*/ 0 w 962"/>
                  <a:gd name="T123" fmla="*/ 0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62" h="959">
                    <a:moveTo>
                      <a:pt x="0" y="60"/>
                    </a:moveTo>
                    <a:lnTo>
                      <a:pt x="0" y="60"/>
                    </a:lnTo>
                    <a:lnTo>
                      <a:pt x="23" y="60"/>
                    </a:lnTo>
                    <a:lnTo>
                      <a:pt x="46" y="61"/>
                    </a:lnTo>
                    <a:lnTo>
                      <a:pt x="69" y="63"/>
                    </a:lnTo>
                    <a:lnTo>
                      <a:pt x="93" y="65"/>
                    </a:lnTo>
                    <a:lnTo>
                      <a:pt x="115" y="67"/>
                    </a:lnTo>
                    <a:lnTo>
                      <a:pt x="137" y="70"/>
                    </a:lnTo>
                    <a:lnTo>
                      <a:pt x="159" y="74"/>
                    </a:lnTo>
                    <a:lnTo>
                      <a:pt x="181" y="79"/>
                    </a:lnTo>
                    <a:lnTo>
                      <a:pt x="203" y="83"/>
                    </a:lnTo>
                    <a:lnTo>
                      <a:pt x="225" y="88"/>
                    </a:lnTo>
                    <a:lnTo>
                      <a:pt x="246" y="94"/>
                    </a:lnTo>
                    <a:lnTo>
                      <a:pt x="267" y="101"/>
                    </a:lnTo>
                    <a:lnTo>
                      <a:pt x="288" y="107"/>
                    </a:lnTo>
                    <a:lnTo>
                      <a:pt x="309" y="114"/>
                    </a:lnTo>
                    <a:lnTo>
                      <a:pt x="331" y="123"/>
                    </a:lnTo>
                    <a:lnTo>
                      <a:pt x="351" y="131"/>
                    </a:lnTo>
                    <a:lnTo>
                      <a:pt x="371" y="139"/>
                    </a:lnTo>
                    <a:lnTo>
                      <a:pt x="391" y="149"/>
                    </a:lnTo>
                    <a:lnTo>
                      <a:pt x="411" y="158"/>
                    </a:lnTo>
                    <a:lnTo>
                      <a:pt x="429" y="169"/>
                    </a:lnTo>
                    <a:lnTo>
                      <a:pt x="448" y="179"/>
                    </a:lnTo>
                    <a:lnTo>
                      <a:pt x="467" y="191"/>
                    </a:lnTo>
                    <a:lnTo>
                      <a:pt x="485" y="202"/>
                    </a:lnTo>
                    <a:lnTo>
                      <a:pt x="503" y="214"/>
                    </a:lnTo>
                    <a:lnTo>
                      <a:pt x="539" y="239"/>
                    </a:lnTo>
                    <a:lnTo>
                      <a:pt x="574" y="266"/>
                    </a:lnTo>
                    <a:lnTo>
                      <a:pt x="590" y="280"/>
                    </a:lnTo>
                    <a:lnTo>
                      <a:pt x="606" y="294"/>
                    </a:lnTo>
                    <a:lnTo>
                      <a:pt x="622" y="308"/>
                    </a:lnTo>
                    <a:lnTo>
                      <a:pt x="637" y="324"/>
                    </a:lnTo>
                    <a:lnTo>
                      <a:pt x="653" y="339"/>
                    </a:lnTo>
                    <a:lnTo>
                      <a:pt x="667" y="356"/>
                    </a:lnTo>
                    <a:lnTo>
                      <a:pt x="682" y="371"/>
                    </a:lnTo>
                    <a:lnTo>
                      <a:pt x="696" y="387"/>
                    </a:lnTo>
                    <a:lnTo>
                      <a:pt x="722" y="422"/>
                    </a:lnTo>
                    <a:lnTo>
                      <a:pt x="747" y="458"/>
                    </a:lnTo>
                    <a:lnTo>
                      <a:pt x="760" y="475"/>
                    </a:lnTo>
                    <a:lnTo>
                      <a:pt x="772" y="493"/>
                    </a:lnTo>
                    <a:lnTo>
                      <a:pt x="782" y="512"/>
                    </a:lnTo>
                    <a:lnTo>
                      <a:pt x="793" y="531"/>
                    </a:lnTo>
                    <a:lnTo>
                      <a:pt x="803" y="551"/>
                    </a:lnTo>
                    <a:lnTo>
                      <a:pt x="813" y="570"/>
                    </a:lnTo>
                    <a:lnTo>
                      <a:pt x="822" y="590"/>
                    </a:lnTo>
                    <a:lnTo>
                      <a:pt x="831" y="610"/>
                    </a:lnTo>
                    <a:lnTo>
                      <a:pt x="839" y="631"/>
                    </a:lnTo>
                    <a:lnTo>
                      <a:pt x="848" y="651"/>
                    </a:lnTo>
                    <a:lnTo>
                      <a:pt x="855" y="672"/>
                    </a:lnTo>
                    <a:lnTo>
                      <a:pt x="861" y="693"/>
                    </a:lnTo>
                    <a:lnTo>
                      <a:pt x="868" y="714"/>
                    </a:lnTo>
                    <a:lnTo>
                      <a:pt x="874" y="735"/>
                    </a:lnTo>
                    <a:lnTo>
                      <a:pt x="879" y="757"/>
                    </a:lnTo>
                    <a:lnTo>
                      <a:pt x="884" y="779"/>
                    </a:lnTo>
                    <a:lnTo>
                      <a:pt x="888" y="801"/>
                    </a:lnTo>
                    <a:lnTo>
                      <a:pt x="892" y="823"/>
                    </a:lnTo>
                    <a:lnTo>
                      <a:pt x="895" y="845"/>
                    </a:lnTo>
                    <a:lnTo>
                      <a:pt x="898" y="868"/>
                    </a:lnTo>
                    <a:lnTo>
                      <a:pt x="899" y="890"/>
                    </a:lnTo>
                    <a:lnTo>
                      <a:pt x="901" y="913"/>
                    </a:lnTo>
                    <a:lnTo>
                      <a:pt x="902" y="936"/>
                    </a:lnTo>
                    <a:lnTo>
                      <a:pt x="902" y="959"/>
                    </a:lnTo>
                    <a:lnTo>
                      <a:pt x="962" y="959"/>
                    </a:lnTo>
                    <a:lnTo>
                      <a:pt x="961" y="935"/>
                    </a:lnTo>
                    <a:lnTo>
                      <a:pt x="961" y="910"/>
                    </a:lnTo>
                    <a:lnTo>
                      <a:pt x="959" y="886"/>
                    </a:lnTo>
                    <a:lnTo>
                      <a:pt x="957" y="862"/>
                    </a:lnTo>
                    <a:lnTo>
                      <a:pt x="954" y="838"/>
                    </a:lnTo>
                    <a:lnTo>
                      <a:pt x="951" y="813"/>
                    </a:lnTo>
                    <a:lnTo>
                      <a:pt x="948" y="790"/>
                    </a:lnTo>
                    <a:lnTo>
                      <a:pt x="942" y="766"/>
                    </a:lnTo>
                    <a:lnTo>
                      <a:pt x="937" y="743"/>
                    </a:lnTo>
                    <a:lnTo>
                      <a:pt x="932" y="720"/>
                    </a:lnTo>
                    <a:lnTo>
                      <a:pt x="925" y="697"/>
                    </a:lnTo>
                    <a:lnTo>
                      <a:pt x="919" y="675"/>
                    </a:lnTo>
                    <a:lnTo>
                      <a:pt x="912" y="653"/>
                    </a:lnTo>
                    <a:lnTo>
                      <a:pt x="903" y="630"/>
                    </a:lnTo>
                    <a:lnTo>
                      <a:pt x="895" y="609"/>
                    </a:lnTo>
                    <a:lnTo>
                      <a:pt x="886" y="587"/>
                    </a:lnTo>
                    <a:lnTo>
                      <a:pt x="877" y="566"/>
                    </a:lnTo>
                    <a:lnTo>
                      <a:pt x="866" y="545"/>
                    </a:lnTo>
                    <a:lnTo>
                      <a:pt x="856" y="524"/>
                    </a:lnTo>
                    <a:lnTo>
                      <a:pt x="845" y="503"/>
                    </a:lnTo>
                    <a:lnTo>
                      <a:pt x="834" y="483"/>
                    </a:lnTo>
                    <a:lnTo>
                      <a:pt x="822" y="463"/>
                    </a:lnTo>
                    <a:lnTo>
                      <a:pt x="810" y="443"/>
                    </a:lnTo>
                    <a:lnTo>
                      <a:pt x="797" y="424"/>
                    </a:lnTo>
                    <a:lnTo>
                      <a:pt x="771" y="386"/>
                    </a:lnTo>
                    <a:lnTo>
                      <a:pt x="742" y="350"/>
                    </a:lnTo>
                    <a:lnTo>
                      <a:pt x="726" y="333"/>
                    </a:lnTo>
                    <a:lnTo>
                      <a:pt x="712" y="315"/>
                    </a:lnTo>
                    <a:lnTo>
                      <a:pt x="696" y="298"/>
                    </a:lnTo>
                    <a:lnTo>
                      <a:pt x="680" y="281"/>
                    </a:lnTo>
                    <a:lnTo>
                      <a:pt x="663" y="265"/>
                    </a:lnTo>
                    <a:lnTo>
                      <a:pt x="646" y="250"/>
                    </a:lnTo>
                    <a:lnTo>
                      <a:pt x="629" y="235"/>
                    </a:lnTo>
                    <a:lnTo>
                      <a:pt x="611" y="219"/>
                    </a:lnTo>
                    <a:lnTo>
                      <a:pt x="575" y="191"/>
                    </a:lnTo>
                    <a:lnTo>
                      <a:pt x="538" y="165"/>
                    </a:lnTo>
                    <a:lnTo>
                      <a:pt x="518" y="152"/>
                    </a:lnTo>
                    <a:lnTo>
                      <a:pt x="498" y="139"/>
                    </a:lnTo>
                    <a:lnTo>
                      <a:pt x="478" y="128"/>
                    </a:lnTo>
                    <a:lnTo>
                      <a:pt x="458" y="116"/>
                    </a:lnTo>
                    <a:lnTo>
                      <a:pt x="437" y="106"/>
                    </a:lnTo>
                    <a:lnTo>
                      <a:pt x="417" y="95"/>
                    </a:lnTo>
                    <a:lnTo>
                      <a:pt x="395" y="85"/>
                    </a:lnTo>
                    <a:lnTo>
                      <a:pt x="374" y="75"/>
                    </a:lnTo>
                    <a:lnTo>
                      <a:pt x="353" y="67"/>
                    </a:lnTo>
                    <a:lnTo>
                      <a:pt x="331" y="59"/>
                    </a:lnTo>
                    <a:lnTo>
                      <a:pt x="308" y="51"/>
                    </a:lnTo>
                    <a:lnTo>
                      <a:pt x="285" y="44"/>
                    </a:lnTo>
                    <a:lnTo>
                      <a:pt x="263" y="37"/>
                    </a:lnTo>
                    <a:lnTo>
                      <a:pt x="240" y="30"/>
                    </a:lnTo>
                    <a:lnTo>
                      <a:pt x="217" y="25"/>
                    </a:lnTo>
                    <a:lnTo>
                      <a:pt x="194" y="20"/>
                    </a:lnTo>
                    <a:lnTo>
                      <a:pt x="169" y="16"/>
                    </a:lnTo>
                    <a:lnTo>
                      <a:pt x="146" y="11"/>
                    </a:lnTo>
                    <a:lnTo>
                      <a:pt x="122" y="8"/>
                    </a:lnTo>
                    <a:lnTo>
                      <a:pt x="98" y="5"/>
                    </a:lnTo>
                    <a:lnTo>
                      <a:pt x="74" y="3"/>
                    </a:lnTo>
                    <a:lnTo>
                      <a:pt x="49" y="2"/>
                    </a:lnTo>
                    <a:lnTo>
                      <a:pt x="24" y="1"/>
                    </a:lnTo>
                    <a:lnTo>
                      <a:pt x="0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0" name="Freeform 257"/>
              <p:cNvSpPr>
                <a:spLocks noChangeArrowheads="1"/>
              </p:cNvSpPr>
              <p:nvPr/>
            </p:nvSpPr>
            <p:spPr bwMode="auto">
              <a:xfrm>
                <a:off x="4238" y="1522"/>
                <a:ext cx="1" cy="20"/>
              </a:xfrm>
              <a:custGeom>
                <a:avLst/>
                <a:gdLst>
                  <a:gd name="T0" fmla="*/ 0 w 1"/>
                  <a:gd name="T1" fmla="*/ 60 h 60"/>
                  <a:gd name="T2" fmla="*/ 0 w 1"/>
                  <a:gd name="T3" fmla="*/ 30 h 60"/>
                  <a:gd name="T4" fmla="*/ 0 w 1"/>
                  <a:gd name="T5" fmla="*/ 30 h 60"/>
                  <a:gd name="T6" fmla="*/ 0 w 1"/>
                  <a:gd name="T7" fmla="*/ 30 h 60"/>
                  <a:gd name="T8" fmla="*/ 0 w 1"/>
                  <a:gd name="T9" fmla="*/ 30 h 60"/>
                  <a:gd name="T10" fmla="*/ 0 w 1"/>
                  <a:gd name="T11" fmla="*/ 30 h 60"/>
                  <a:gd name="T12" fmla="*/ 0 w 1"/>
                  <a:gd name="T13" fmla="*/ 30 h 60"/>
                  <a:gd name="T14" fmla="*/ 0 w 1"/>
                  <a:gd name="T15" fmla="*/ 0 h 60"/>
                  <a:gd name="T16" fmla="*/ 0 w 1"/>
                  <a:gd name="T1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60">
                    <a:moveTo>
                      <a:pt x="0" y="60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1" name="Freeform 258"/>
              <p:cNvSpPr>
                <a:spLocks noChangeArrowheads="1"/>
              </p:cNvSpPr>
              <p:nvPr/>
            </p:nvSpPr>
            <p:spPr bwMode="auto">
              <a:xfrm>
                <a:off x="4036" y="1641"/>
                <a:ext cx="202" cy="200"/>
              </a:xfrm>
              <a:custGeom>
                <a:avLst/>
                <a:gdLst>
                  <a:gd name="T0" fmla="*/ 60 w 605"/>
                  <a:gd name="T1" fmla="*/ 602 h 602"/>
                  <a:gd name="T2" fmla="*/ 63 w 605"/>
                  <a:gd name="T3" fmla="*/ 547 h 602"/>
                  <a:gd name="T4" fmla="*/ 71 w 605"/>
                  <a:gd name="T5" fmla="*/ 493 h 602"/>
                  <a:gd name="T6" fmla="*/ 85 w 605"/>
                  <a:gd name="T7" fmla="*/ 442 h 602"/>
                  <a:gd name="T8" fmla="*/ 103 w 605"/>
                  <a:gd name="T9" fmla="*/ 391 h 602"/>
                  <a:gd name="T10" fmla="*/ 126 w 605"/>
                  <a:gd name="T11" fmla="*/ 344 h 602"/>
                  <a:gd name="T12" fmla="*/ 153 w 605"/>
                  <a:gd name="T13" fmla="*/ 299 h 602"/>
                  <a:gd name="T14" fmla="*/ 185 w 605"/>
                  <a:gd name="T15" fmla="*/ 257 h 602"/>
                  <a:gd name="T16" fmla="*/ 219 w 605"/>
                  <a:gd name="T17" fmla="*/ 219 h 602"/>
                  <a:gd name="T18" fmla="*/ 258 w 605"/>
                  <a:gd name="T19" fmla="*/ 183 h 602"/>
                  <a:gd name="T20" fmla="*/ 301 w 605"/>
                  <a:gd name="T21" fmla="*/ 152 h 602"/>
                  <a:gd name="T22" fmla="*/ 346 w 605"/>
                  <a:gd name="T23" fmla="*/ 125 h 602"/>
                  <a:gd name="T24" fmla="*/ 393 w 605"/>
                  <a:gd name="T25" fmla="*/ 102 h 602"/>
                  <a:gd name="T26" fmla="*/ 443 w 605"/>
                  <a:gd name="T27" fmla="*/ 84 h 602"/>
                  <a:gd name="T28" fmla="*/ 495 w 605"/>
                  <a:gd name="T29" fmla="*/ 70 h 602"/>
                  <a:gd name="T30" fmla="*/ 549 w 605"/>
                  <a:gd name="T31" fmla="*/ 62 h 602"/>
                  <a:gd name="T32" fmla="*/ 605 w 605"/>
                  <a:gd name="T33" fmla="*/ 60 h 602"/>
                  <a:gd name="T34" fmla="*/ 574 w 605"/>
                  <a:gd name="T35" fmla="*/ 1 h 602"/>
                  <a:gd name="T36" fmla="*/ 513 w 605"/>
                  <a:gd name="T37" fmla="*/ 6 h 602"/>
                  <a:gd name="T38" fmla="*/ 454 w 605"/>
                  <a:gd name="T39" fmla="*/ 19 h 602"/>
                  <a:gd name="T40" fmla="*/ 397 w 605"/>
                  <a:gd name="T41" fmla="*/ 36 h 602"/>
                  <a:gd name="T42" fmla="*/ 343 w 605"/>
                  <a:gd name="T43" fmla="*/ 60 h 602"/>
                  <a:gd name="T44" fmla="*/ 292 w 605"/>
                  <a:gd name="T45" fmla="*/ 87 h 602"/>
                  <a:gd name="T46" fmla="*/ 244 w 605"/>
                  <a:gd name="T47" fmla="*/ 119 h 602"/>
                  <a:gd name="T48" fmla="*/ 198 w 605"/>
                  <a:gd name="T49" fmla="*/ 156 h 602"/>
                  <a:gd name="T50" fmla="*/ 157 w 605"/>
                  <a:gd name="T51" fmla="*/ 197 h 602"/>
                  <a:gd name="T52" fmla="*/ 120 w 605"/>
                  <a:gd name="T53" fmla="*/ 242 h 602"/>
                  <a:gd name="T54" fmla="*/ 88 w 605"/>
                  <a:gd name="T55" fmla="*/ 291 h 602"/>
                  <a:gd name="T56" fmla="*/ 60 w 605"/>
                  <a:gd name="T57" fmla="*/ 341 h 602"/>
                  <a:gd name="T58" fmla="*/ 37 w 605"/>
                  <a:gd name="T59" fmla="*/ 396 h 602"/>
                  <a:gd name="T60" fmla="*/ 19 w 605"/>
                  <a:gd name="T61" fmla="*/ 452 h 602"/>
                  <a:gd name="T62" fmla="*/ 7 w 605"/>
                  <a:gd name="T63" fmla="*/ 511 h 602"/>
                  <a:gd name="T64" fmla="*/ 0 w 605"/>
                  <a:gd name="T65" fmla="*/ 572 h 602"/>
                  <a:gd name="T66" fmla="*/ 0 w 605"/>
                  <a:gd name="T67" fmla="*/ 602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05" h="602">
                    <a:moveTo>
                      <a:pt x="60" y="602"/>
                    </a:moveTo>
                    <a:lnTo>
                      <a:pt x="60" y="602"/>
                    </a:lnTo>
                    <a:lnTo>
                      <a:pt x="60" y="574"/>
                    </a:lnTo>
                    <a:lnTo>
                      <a:pt x="63" y="547"/>
                    </a:lnTo>
                    <a:lnTo>
                      <a:pt x="67" y="519"/>
                    </a:lnTo>
                    <a:lnTo>
                      <a:pt x="71" y="493"/>
                    </a:lnTo>
                    <a:lnTo>
                      <a:pt x="77" y="467"/>
                    </a:lnTo>
                    <a:lnTo>
                      <a:pt x="85" y="442"/>
                    </a:lnTo>
                    <a:lnTo>
                      <a:pt x="93" y="417"/>
                    </a:lnTo>
                    <a:lnTo>
                      <a:pt x="103" y="391"/>
                    </a:lnTo>
                    <a:lnTo>
                      <a:pt x="114" y="367"/>
                    </a:lnTo>
                    <a:lnTo>
                      <a:pt x="126" y="344"/>
                    </a:lnTo>
                    <a:lnTo>
                      <a:pt x="139" y="321"/>
                    </a:lnTo>
                    <a:lnTo>
                      <a:pt x="153" y="299"/>
                    </a:lnTo>
                    <a:lnTo>
                      <a:pt x="169" y="278"/>
                    </a:lnTo>
                    <a:lnTo>
                      <a:pt x="185" y="257"/>
                    </a:lnTo>
                    <a:lnTo>
                      <a:pt x="202" y="238"/>
                    </a:lnTo>
                    <a:lnTo>
                      <a:pt x="219" y="219"/>
                    </a:lnTo>
                    <a:lnTo>
                      <a:pt x="238" y="200"/>
                    </a:lnTo>
                    <a:lnTo>
                      <a:pt x="258" y="183"/>
                    </a:lnTo>
                    <a:lnTo>
                      <a:pt x="279" y="168"/>
                    </a:lnTo>
                    <a:lnTo>
                      <a:pt x="301" y="152"/>
                    </a:lnTo>
                    <a:lnTo>
                      <a:pt x="323" y="138"/>
                    </a:lnTo>
                    <a:lnTo>
                      <a:pt x="346" y="125"/>
                    </a:lnTo>
                    <a:lnTo>
                      <a:pt x="369" y="113"/>
                    </a:lnTo>
                    <a:lnTo>
                      <a:pt x="393" y="102"/>
                    </a:lnTo>
                    <a:lnTo>
                      <a:pt x="417" y="92"/>
                    </a:lnTo>
                    <a:lnTo>
                      <a:pt x="443" y="84"/>
                    </a:lnTo>
                    <a:lnTo>
                      <a:pt x="469" y="76"/>
                    </a:lnTo>
                    <a:lnTo>
                      <a:pt x="495" y="70"/>
                    </a:lnTo>
                    <a:lnTo>
                      <a:pt x="522" y="66"/>
                    </a:lnTo>
                    <a:lnTo>
                      <a:pt x="549" y="62"/>
                    </a:lnTo>
                    <a:lnTo>
                      <a:pt x="576" y="60"/>
                    </a:lnTo>
                    <a:lnTo>
                      <a:pt x="605" y="60"/>
                    </a:lnTo>
                    <a:lnTo>
                      <a:pt x="605" y="0"/>
                    </a:lnTo>
                    <a:lnTo>
                      <a:pt x="574" y="1"/>
                    </a:lnTo>
                    <a:lnTo>
                      <a:pt x="544" y="3"/>
                    </a:lnTo>
                    <a:lnTo>
                      <a:pt x="513" y="6"/>
                    </a:lnTo>
                    <a:lnTo>
                      <a:pt x="484" y="12"/>
                    </a:lnTo>
                    <a:lnTo>
                      <a:pt x="454" y="19"/>
                    </a:lnTo>
                    <a:lnTo>
                      <a:pt x="426" y="27"/>
                    </a:lnTo>
                    <a:lnTo>
                      <a:pt x="397" y="36"/>
                    </a:lnTo>
                    <a:lnTo>
                      <a:pt x="370" y="47"/>
                    </a:lnTo>
                    <a:lnTo>
                      <a:pt x="343" y="60"/>
                    </a:lnTo>
                    <a:lnTo>
                      <a:pt x="317" y="72"/>
                    </a:lnTo>
                    <a:lnTo>
                      <a:pt x="292" y="87"/>
                    </a:lnTo>
                    <a:lnTo>
                      <a:pt x="267" y="103"/>
                    </a:lnTo>
                    <a:lnTo>
                      <a:pt x="244" y="119"/>
                    </a:lnTo>
                    <a:lnTo>
                      <a:pt x="221" y="137"/>
                    </a:lnTo>
                    <a:lnTo>
                      <a:pt x="198" y="156"/>
                    </a:lnTo>
                    <a:lnTo>
                      <a:pt x="177" y="176"/>
                    </a:lnTo>
                    <a:lnTo>
                      <a:pt x="157" y="197"/>
                    </a:lnTo>
                    <a:lnTo>
                      <a:pt x="138" y="219"/>
                    </a:lnTo>
                    <a:lnTo>
                      <a:pt x="120" y="242"/>
                    </a:lnTo>
                    <a:lnTo>
                      <a:pt x="104" y="265"/>
                    </a:lnTo>
                    <a:lnTo>
                      <a:pt x="88" y="291"/>
                    </a:lnTo>
                    <a:lnTo>
                      <a:pt x="73" y="316"/>
                    </a:lnTo>
                    <a:lnTo>
                      <a:pt x="60" y="341"/>
                    </a:lnTo>
                    <a:lnTo>
                      <a:pt x="48" y="368"/>
                    </a:lnTo>
                    <a:lnTo>
                      <a:pt x="37" y="396"/>
                    </a:lnTo>
                    <a:lnTo>
                      <a:pt x="28" y="424"/>
                    </a:lnTo>
                    <a:lnTo>
                      <a:pt x="19" y="452"/>
                    </a:lnTo>
                    <a:lnTo>
                      <a:pt x="12" y="482"/>
                    </a:lnTo>
                    <a:lnTo>
                      <a:pt x="7" y="511"/>
                    </a:lnTo>
                    <a:lnTo>
                      <a:pt x="4" y="541"/>
                    </a:lnTo>
                    <a:lnTo>
                      <a:pt x="0" y="572"/>
                    </a:lnTo>
                    <a:lnTo>
                      <a:pt x="0" y="602"/>
                    </a:lnTo>
                    <a:lnTo>
                      <a:pt x="60" y="602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2" name="Freeform 259"/>
              <p:cNvSpPr>
                <a:spLocks noChangeArrowheads="1"/>
              </p:cNvSpPr>
              <p:nvPr/>
            </p:nvSpPr>
            <p:spPr bwMode="auto">
              <a:xfrm>
                <a:off x="4036" y="1841"/>
                <a:ext cx="202" cy="201"/>
              </a:xfrm>
              <a:custGeom>
                <a:avLst/>
                <a:gdLst>
                  <a:gd name="T0" fmla="*/ 605 w 605"/>
                  <a:gd name="T1" fmla="*/ 544 h 603"/>
                  <a:gd name="T2" fmla="*/ 549 w 605"/>
                  <a:gd name="T3" fmla="*/ 541 h 603"/>
                  <a:gd name="T4" fmla="*/ 495 w 605"/>
                  <a:gd name="T5" fmla="*/ 533 h 603"/>
                  <a:gd name="T6" fmla="*/ 443 w 605"/>
                  <a:gd name="T7" fmla="*/ 519 h 603"/>
                  <a:gd name="T8" fmla="*/ 393 w 605"/>
                  <a:gd name="T9" fmla="*/ 501 h 603"/>
                  <a:gd name="T10" fmla="*/ 346 w 605"/>
                  <a:gd name="T11" fmla="*/ 478 h 603"/>
                  <a:gd name="T12" fmla="*/ 301 w 605"/>
                  <a:gd name="T13" fmla="*/ 451 h 603"/>
                  <a:gd name="T14" fmla="*/ 258 w 605"/>
                  <a:gd name="T15" fmla="*/ 419 h 603"/>
                  <a:gd name="T16" fmla="*/ 219 w 605"/>
                  <a:gd name="T17" fmla="*/ 385 h 603"/>
                  <a:gd name="T18" fmla="*/ 185 w 605"/>
                  <a:gd name="T19" fmla="*/ 346 h 603"/>
                  <a:gd name="T20" fmla="*/ 153 w 605"/>
                  <a:gd name="T21" fmla="*/ 304 h 603"/>
                  <a:gd name="T22" fmla="*/ 126 w 605"/>
                  <a:gd name="T23" fmla="*/ 259 h 603"/>
                  <a:gd name="T24" fmla="*/ 103 w 605"/>
                  <a:gd name="T25" fmla="*/ 211 h 603"/>
                  <a:gd name="T26" fmla="*/ 85 w 605"/>
                  <a:gd name="T27" fmla="*/ 162 h 603"/>
                  <a:gd name="T28" fmla="*/ 71 w 605"/>
                  <a:gd name="T29" fmla="*/ 110 h 603"/>
                  <a:gd name="T30" fmla="*/ 63 w 605"/>
                  <a:gd name="T31" fmla="*/ 56 h 603"/>
                  <a:gd name="T32" fmla="*/ 60 w 605"/>
                  <a:gd name="T33" fmla="*/ 0 h 603"/>
                  <a:gd name="T34" fmla="*/ 0 w 605"/>
                  <a:gd name="T35" fmla="*/ 31 h 603"/>
                  <a:gd name="T36" fmla="*/ 7 w 605"/>
                  <a:gd name="T37" fmla="*/ 92 h 603"/>
                  <a:gd name="T38" fmla="*/ 19 w 605"/>
                  <a:gd name="T39" fmla="*/ 151 h 603"/>
                  <a:gd name="T40" fmla="*/ 37 w 605"/>
                  <a:gd name="T41" fmla="*/ 207 h 603"/>
                  <a:gd name="T42" fmla="*/ 60 w 605"/>
                  <a:gd name="T43" fmla="*/ 262 h 603"/>
                  <a:gd name="T44" fmla="*/ 88 w 605"/>
                  <a:gd name="T45" fmla="*/ 313 h 603"/>
                  <a:gd name="T46" fmla="*/ 120 w 605"/>
                  <a:gd name="T47" fmla="*/ 360 h 603"/>
                  <a:gd name="T48" fmla="*/ 157 w 605"/>
                  <a:gd name="T49" fmla="*/ 406 h 603"/>
                  <a:gd name="T50" fmla="*/ 198 w 605"/>
                  <a:gd name="T51" fmla="*/ 447 h 603"/>
                  <a:gd name="T52" fmla="*/ 244 w 605"/>
                  <a:gd name="T53" fmla="*/ 483 h 603"/>
                  <a:gd name="T54" fmla="*/ 292 w 605"/>
                  <a:gd name="T55" fmla="*/ 516 h 603"/>
                  <a:gd name="T56" fmla="*/ 343 w 605"/>
                  <a:gd name="T57" fmla="*/ 544 h 603"/>
                  <a:gd name="T58" fmla="*/ 397 w 605"/>
                  <a:gd name="T59" fmla="*/ 567 h 603"/>
                  <a:gd name="T60" fmla="*/ 454 w 605"/>
                  <a:gd name="T61" fmla="*/ 584 h 603"/>
                  <a:gd name="T62" fmla="*/ 513 w 605"/>
                  <a:gd name="T63" fmla="*/ 597 h 603"/>
                  <a:gd name="T64" fmla="*/ 574 w 605"/>
                  <a:gd name="T65" fmla="*/ 603 h 603"/>
                  <a:gd name="T66" fmla="*/ 605 w 605"/>
                  <a:gd name="T67" fmla="*/ 603 h 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05" h="603">
                    <a:moveTo>
                      <a:pt x="605" y="544"/>
                    </a:moveTo>
                    <a:lnTo>
                      <a:pt x="605" y="544"/>
                    </a:lnTo>
                    <a:lnTo>
                      <a:pt x="576" y="543"/>
                    </a:lnTo>
                    <a:lnTo>
                      <a:pt x="549" y="541"/>
                    </a:lnTo>
                    <a:lnTo>
                      <a:pt x="522" y="538"/>
                    </a:lnTo>
                    <a:lnTo>
                      <a:pt x="495" y="533"/>
                    </a:lnTo>
                    <a:lnTo>
                      <a:pt x="469" y="526"/>
                    </a:lnTo>
                    <a:lnTo>
                      <a:pt x="443" y="519"/>
                    </a:lnTo>
                    <a:lnTo>
                      <a:pt x="417" y="511"/>
                    </a:lnTo>
                    <a:lnTo>
                      <a:pt x="393" y="501"/>
                    </a:lnTo>
                    <a:lnTo>
                      <a:pt x="369" y="490"/>
                    </a:lnTo>
                    <a:lnTo>
                      <a:pt x="346" y="478"/>
                    </a:lnTo>
                    <a:lnTo>
                      <a:pt x="323" y="465"/>
                    </a:lnTo>
                    <a:lnTo>
                      <a:pt x="301" y="451"/>
                    </a:lnTo>
                    <a:lnTo>
                      <a:pt x="279" y="436"/>
                    </a:lnTo>
                    <a:lnTo>
                      <a:pt x="258" y="419"/>
                    </a:lnTo>
                    <a:lnTo>
                      <a:pt x="238" y="402"/>
                    </a:lnTo>
                    <a:lnTo>
                      <a:pt x="219" y="385"/>
                    </a:lnTo>
                    <a:lnTo>
                      <a:pt x="202" y="366"/>
                    </a:lnTo>
                    <a:lnTo>
                      <a:pt x="185" y="346"/>
                    </a:lnTo>
                    <a:lnTo>
                      <a:pt x="169" y="325"/>
                    </a:lnTo>
                    <a:lnTo>
                      <a:pt x="153" y="304"/>
                    </a:lnTo>
                    <a:lnTo>
                      <a:pt x="139" y="282"/>
                    </a:lnTo>
                    <a:lnTo>
                      <a:pt x="126" y="259"/>
                    </a:lnTo>
                    <a:lnTo>
                      <a:pt x="114" y="236"/>
                    </a:lnTo>
                    <a:lnTo>
                      <a:pt x="103" y="211"/>
                    </a:lnTo>
                    <a:lnTo>
                      <a:pt x="93" y="187"/>
                    </a:lnTo>
                    <a:lnTo>
                      <a:pt x="85" y="162"/>
                    </a:lnTo>
                    <a:lnTo>
                      <a:pt x="77" y="136"/>
                    </a:lnTo>
                    <a:lnTo>
                      <a:pt x="71" y="110"/>
                    </a:lnTo>
                    <a:lnTo>
                      <a:pt x="67" y="83"/>
                    </a:lnTo>
                    <a:lnTo>
                      <a:pt x="63" y="56"/>
                    </a:lnTo>
                    <a:lnTo>
                      <a:pt x="60" y="29"/>
                    </a:lnTo>
                    <a:lnTo>
                      <a:pt x="60" y="0"/>
                    </a:lnTo>
                    <a:lnTo>
                      <a:pt x="0" y="0"/>
                    </a:lnTo>
                    <a:lnTo>
                      <a:pt x="0" y="31"/>
                    </a:lnTo>
                    <a:lnTo>
                      <a:pt x="4" y="62"/>
                    </a:lnTo>
                    <a:lnTo>
                      <a:pt x="7" y="92"/>
                    </a:lnTo>
                    <a:lnTo>
                      <a:pt x="12" y="122"/>
                    </a:lnTo>
                    <a:lnTo>
                      <a:pt x="19" y="151"/>
                    </a:lnTo>
                    <a:lnTo>
                      <a:pt x="28" y="180"/>
                    </a:lnTo>
                    <a:lnTo>
                      <a:pt x="37" y="207"/>
                    </a:lnTo>
                    <a:lnTo>
                      <a:pt x="48" y="234"/>
                    </a:lnTo>
                    <a:lnTo>
                      <a:pt x="60" y="262"/>
                    </a:lnTo>
                    <a:lnTo>
                      <a:pt x="73" y="288"/>
                    </a:lnTo>
                    <a:lnTo>
                      <a:pt x="88" y="313"/>
                    </a:lnTo>
                    <a:lnTo>
                      <a:pt x="104" y="337"/>
                    </a:lnTo>
                    <a:lnTo>
                      <a:pt x="120" y="360"/>
                    </a:lnTo>
                    <a:lnTo>
                      <a:pt x="138" y="384"/>
                    </a:lnTo>
                    <a:lnTo>
                      <a:pt x="157" y="406"/>
                    </a:lnTo>
                    <a:lnTo>
                      <a:pt x="177" y="427"/>
                    </a:lnTo>
                    <a:lnTo>
                      <a:pt x="198" y="447"/>
                    </a:lnTo>
                    <a:lnTo>
                      <a:pt x="221" y="465"/>
                    </a:lnTo>
                    <a:lnTo>
                      <a:pt x="244" y="483"/>
                    </a:lnTo>
                    <a:lnTo>
                      <a:pt x="267" y="500"/>
                    </a:lnTo>
                    <a:lnTo>
                      <a:pt x="292" y="516"/>
                    </a:lnTo>
                    <a:lnTo>
                      <a:pt x="317" y="531"/>
                    </a:lnTo>
                    <a:lnTo>
                      <a:pt x="343" y="544"/>
                    </a:lnTo>
                    <a:lnTo>
                      <a:pt x="370" y="556"/>
                    </a:lnTo>
                    <a:lnTo>
                      <a:pt x="397" y="567"/>
                    </a:lnTo>
                    <a:lnTo>
                      <a:pt x="426" y="577"/>
                    </a:lnTo>
                    <a:lnTo>
                      <a:pt x="454" y="584"/>
                    </a:lnTo>
                    <a:lnTo>
                      <a:pt x="484" y="591"/>
                    </a:lnTo>
                    <a:lnTo>
                      <a:pt x="513" y="597"/>
                    </a:lnTo>
                    <a:lnTo>
                      <a:pt x="544" y="600"/>
                    </a:lnTo>
                    <a:lnTo>
                      <a:pt x="574" y="603"/>
                    </a:lnTo>
                    <a:lnTo>
                      <a:pt x="605" y="603"/>
                    </a:lnTo>
                    <a:lnTo>
                      <a:pt x="605" y="544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3" name="Freeform 260"/>
              <p:cNvSpPr>
                <a:spLocks noChangeArrowheads="1"/>
              </p:cNvSpPr>
              <p:nvPr/>
            </p:nvSpPr>
            <p:spPr bwMode="auto">
              <a:xfrm>
                <a:off x="4238" y="1841"/>
                <a:ext cx="201" cy="201"/>
              </a:xfrm>
              <a:custGeom>
                <a:avLst/>
                <a:gdLst>
                  <a:gd name="T0" fmla="*/ 544 w 604"/>
                  <a:gd name="T1" fmla="*/ 0 h 603"/>
                  <a:gd name="T2" fmla="*/ 542 w 604"/>
                  <a:gd name="T3" fmla="*/ 56 h 603"/>
                  <a:gd name="T4" fmla="*/ 534 w 604"/>
                  <a:gd name="T5" fmla="*/ 110 h 603"/>
                  <a:gd name="T6" fmla="*/ 520 w 604"/>
                  <a:gd name="T7" fmla="*/ 162 h 603"/>
                  <a:gd name="T8" fmla="*/ 502 w 604"/>
                  <a:gd name="T9" fmla="*/ 211 h 603"/>
                  <a:gd name="T10" fmla="*/ 479 w 604"/>
                  <a:gd name="T11" fmla="*/ 259 h 603"/>
                  <a:gd name="T12" fmla="*/ 452 w 604"/>
                  <a:gd name="T13" fmla="*/ 304 h 603"/>
                  <a:gd name="T14" fmla="*/ 420 w 604"/>
                  <a:gd name="T15" fmla="*/ 346 h 603"/>
                  <a:gd name="T16" fmla="*/ 385 w 604"/>
                  <a:gd name="T17" fmla="*/ 385 h 603"/>
                  <a:gd name="T18" fmla="*/ 346 w 604"/>
                  <a:gd name="T19" fmla="*/ 419 h 603"/>
                  <a:gd name="T20" fmla="*/ 304 w 604"/>
                  <a:gd name="T21" fmla="*/ 451 h 603"/>
                  <a:gd name="T22" fmla="*/ 259 w 604"/>
                  <a:gd name="T23" fmla="*/ 478 h 603"/>
                  <a:gd name="T24" fmla="*/ 212 w 604"/>
                  <a:gd name="T25" fmla="*/ 501 h 603"/>
                  <a:gd name="T26" fmla="*/ 162 w 604"/>
                  <a:gd name="T27" fmla="*/ 519 h 603"/>
                  <a:gd name="T28" fmla="*/ 109 w 604"/>
                  <a:gd name="T29" fmla="*/ 533 h 603"/>
                  <a:gd name="T30" fmla="*/ 56 w 604"/>
                  <a:gd name="T31" fmla="*/ 541 h 603"/>
                  <a:gd name="T32" fmla="*/ 0 w 604"/>
                  <a:gd name="T33" fmla="*/ 544 h 603"/>
                  <a:gd name="T34" fmla="*/ 30 w 604"/>
                  <a:gd name="T35" fmla="*/ 603 h 603"/>
                  <a:gd name="T36" fmla="*/ 91 w 604"/>
                  <a:gd name="T37" fmla="*/ 597 h 603"/>
                  <a:gd name="T38" fmla="*/ 150 w 604"/>
                  <a:gd name="T39" fmla="*/ 584 h 603"/>
                  <a:gd name="T40" fmla="*/ 207 w 604"/>
                  <a:gd name="T41" fmla="*/ 567 h 603"/>
                  <a:gd name="T42" fmla="*/ 262 w 604"/>
                  <a:gd name="T43" fmla="*/ 544 h 603"/>
                  <a:gd name="T44" fmla="*/ 314 w 604"/>
                  <a:gd name="T45" fmla="*/ 516 h 603"/>
                  <a:gd name="T46" fmla="*/ 361 w 604"/>
                  <a:gd name="T47" fmla="*/ 483 h 603"/>
                  <a:gd name="T48" fmla="*/ 406 w 604"/>
                  <a:gd name="T49" fmla="*/ 447 h 603"/>
                  <a:gd name="T50" fmla="*/ 447 w 604"/>
                  <a:gd name="T51" fmla="*/ 406 h 603"/>
                  <a:gd name="T52" fmla="*/ 484 w 604"/>
                  <a:gd name="T53" fmla="*/ 360 h 603"/>
                  <a:gd name="T54" fmla="*/ 517 w 604"/>
                  <a:gd name="T55" fmla="*/ 313 h 603"/>
                  <a:gd name="T56" fmla="*/ 545 w 604"/>
                  <a:gd name="T57" fmla="*/ 262 h 603"/>
                  <a:gd name="T58" fmla="*/ 567 w 604"/>
                  <a:gd name="T59" fmla="*/ 207 h 603"/>
                  <a:gd name="T60" fmla="*/ 585 w 604"/>
                  <a:gd name="T61" fmla="*/ 151 h 603"/>
                  <a:gd name="T62" fmla="*/ 598 w 604"/>
                  <a:gd name="T63" fmla="*/ 92 h 603"/>
                  <a:gd name="T64" fmla="*/ 604 w 604"/>
                  <a:gd name="T65" fmla="*/ 32 h 603"/>
                  <a:gd name="T66" fmla="*/ 604 w 604"/>
                  <a:gd name="T67" fmla="*/ 0 h 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04" h="603">
                    <a:moveTo>
                      <a:pt x="544" y="0"/>
                    </a:moveTo>
                    <a:lnTo>
                      <a:pt x="544" y="0"/>
                    </a:lnTo>
                    <a:lnTo>
                      <a:pt x="544" y="29"/>
                    </a:lnTo>
                    <a:lnTo>
                      <a:pt x="542" y="56"/>
                    </a:lnTo>
                    <a:lnTo>
                      <a:pt x="538" y="83"/>
                    </a:lnTo>
                    <a:lnTo>
                      <a:pt x="534" y="110"/>
                    </a:lnTo>
                    <a:lnTo>
                      <a:pt x="527" y="136"/>
                    </a:lnTo>
                    <a:lnTo>
                      <a:pt x="520" y="162"/>
                    </a:lnTo>
                    <a:lnTo>
                      <a:pt x="512" y="187"/>
                    </a:lnTo>
                    <a:lnTo>
                      <a:pt x="502" y="211"/>
                    </a:lnTo>
                    <a:lnTo>
                      <a:pt x="491" y="236"/>
                    </a:lnTo>
                    <a:lnTo>
                      <a:pt x="479" y="259"/>
                    </a:lnTo>
                    <a:lnTo>
                      <a:pt x="465" y="282"/>
                    </a:lnTo>
                    <a:lnTo>
                      <a:pt x="452" y="304"/>
                    </a:lnTo>
                    <a:lnTo>
                      <a:pt x="437" y="325"/>
                    </a:lnTo>
                    <a:lnTo>
                      <a:pt x="420" y="346"/>
                    </a:lnTo>
                    <a:lnTo>
                      <a:pt x="403" y="366"/>
                    </a:lnTo>
                    <a:lnTo>
                      <a:pt x="385" y="385"/>
                    </a:lnTo>
                    <a:lnTo>
                      <a:pt x="366" y="402"/>
                    </a:lnTo>
                    <a:lnTo>
                      <a:pt x="346" y="419"/>
                    </a:lnTo>
                    <a:lnTo>
                      <a:pt x="325" y="436"/>
                    </a:lnTo>
                    <a:lnTo>
                      <a:pt x="304" y="451"/>
                    </a:lnTo>
                    <a:lnTo>
                      <a:pt x="282" y="465"/>
                    </a:lnTo>
                    <a:lnTo>
                      <a:pt x="259" y="478"/>
                    </a:lnTo>
                    <a:lnTo>
                      <a:pt x="236" y="490"/>
                    </a:lnTo>
                    <a:lnTo>
                      <a:pt x="212" y="501"/>
                    </a:lnTo>
                    <a:lnTo>
                      <a:pt x="187" y="511"/>
                    </a:lnTo>
                    <a:lnTo>
                      <a:pt x="162" y="519"/>
                    </a:lnTo>
                    <a:lnTo>
                      <a:pt x="136" y="526"/>
                    </a:lnTo>
                    <a:lnTo>
                      <a:pt x="109" y="533"/>
                    </a:lnTo>
                    <a:lnTo>
                      <a:pt x="83" y="538"/>
                    </a:lnTo>
                    <a:lnTo>
                      <a:pt x="56" y="541"/>
                    </a:lnTo>
                    <a:lnTo>
                      <a:pt x="28" y="543"/>
                    </a:lnTo>
                    <a:lnTo>
                      <a:pt x="0" y="544"/>
                    </a:lnTo>
                    <a:lnTo>
                      <a:pt x="0" y="603"/>
                    </a:lnTo>
                    <a:lnTo>
                      <a:pt x="30" y="603"/>
                    </a:lnTo>
                    <a:lnTo>
                      <a:pt x="61" y="600"/>
                    </a:lnTo>
                    <a:lnTo>
                      <a:pt x="91" y="597"/>
                    </a:lnTo>
                    <a:lnTo>
                      <a:pt x="121" y="591"/>
                    </a:lnTo>
                    <a:lnTo>
                      <a:pt x="150" y="584"/>
                    </a:lnTo>
                    <a:lnTo>
                      <a:pt x="180" y="577"/>
                    </a:lnTo>
                    <a:lnTo>
                      <a:pt x="207" y="567"/>
                    </a:lnTo>
                    <a:lnTo>
                      <a:pt x="235" y="556"/>
                    </a:lnTo>
                    <a:lnTo>
                      <a:pt x="262" y="544"/>
                    </a:lnTo>
                    <a:lnTo>
                      <a:pt x="287" y="531"/>
                    </a:lnTo>
                    <a:lnTo>
                      <a:pt x="314" y="516"/>
                    </a:lnTo>
                    <a:lnTo>
                      <a:pt x="338" y="500"/>
                    </a:lnTo>
                    <a:lnTo>
                      <a:pt x="361" y="483"/>
                    </a:lnTo>
                    <a:lnTo>
                      <a:pt x="384" y="465"/>
                    </a:lnTo>
                    <a:lnTo>
                      <a:pt x="406" y="447"/>
                    </a:lnTo>
                    <a:lnTo>
                      <a:pt x="427" y="427"/>
                    </a:lnTo>
                    <a:lnTo>
                      <a:pt x="447" y="406"/>
                    </a:lnTo>
                    <a:lnTo>
                      <a:pt x="466" y="384"/>
                    </a:lnTo>
                    <a:lnTo>
                      <a:pt x="484" y="360"/>
                    </a:lnTo>
                    <a:lnTo>
                      <a:pt x="501" y="337"/>
                    </a:lnTo>
                    <a:lnTo>
                      <a:pt x="517" y="313"/>
                    </a:lnTo>
                    <a:lnTo>
                      <a:pt x="532" y="288"/>
                    </a:lnTo>
                    <a:lnTo>
                      <a:pt x="545" y="262"/>
                    </a:lnTo>
                    <a:lnTo>
                      <a:pt x="557" y="234"/>
                    </a:lnTo>
                    <a:lnTo>
                      <a:pt x="567" y="207"/>
                    </a:lnTo>
                    <a:lnTo>
                      <a:pt x="577" y="180"/>
                    </a:lnTo>
                    <a:lnTo>
                      <a:pt x="585" y="151"/>
                    </a:lnTo>
                    <a:lnTo>
                      <a:pt x="593" y="122"/>
                    </a:lnTo>
                    <a:lnTo>
                      <a:pt x="598" y="92"/>
                    </a:lnTo>
                    <a:lnTo>
                      <a:pt x="601" y="62"/>
                    </a:lnTo>
                    <a:lnTo>
                      <a:pt x="604" y="32"/>
                    </a:lnTo>
                    <a:lnTo>
                      <a:pt x="604" y="0"/>
                    </a:lnTo>
                    <a:lnTo>
                      <a:pt x="544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4" name="Freeform 261"/>
              <p:cNvSpPr>
                <a:spLocks noChangeArrowheads="1"/>
              </p:cNvSpPr>
              <p:nvPr/>
            </p:nvSpPr>
            <p:spPr bwMode="auto">
              <a:xfrm>
                <a:off x="4238" y="1641"/>
                <a:ext cx="201" cy="200"/>
              </a:xfrm>
              <a:custGeom>
                <a:avLst/>
                <a:gdLst>
                  <a:gd name="T0" fmla="*/ 0 w 604"/>
                  <a:gd name="T1" fmla="*/ 60 h 602"/>
                  <a:gd name="T2" fmla="*/ 56 w 604"/>
                  <a:gd name="T3" fmla="*/ 62 h 602"/>
                  <a:gd name="T4" fmla="*/ 109 w 604"/>
                  <a:gd name="T5" fmla="*/ 70 h 602"/>
                  <a:gd name="T6" fmla="*/ 162 w 604"/>
                  <a:gd name="T7" fmla="*/ 84 h 602"/>
                  <a:gd name="T8" fmla="*/ 212 w 604"/>
                  <a:gd name="T9" fmla="*/ 102 h 602"/>
                  <a:gd name="T10" fmla="*/ 259 w 604"/>
                  <a:gd name="T11" fmla="*/ 125 h 602"/>
                  <a:gd name="T12" fmla="*/ 304 w 604"/>
                  <a:gd name="T13" fmla="*/ 152 h 602"/>
                  <a:gd name="T14" fmla="*/ 346 w 604"/>
                  <a:gd name="T15" fmla="*/ 183 h 602"/>
                  <a:gd name="T16" fmla="*/ 385 w 604"/>
                  <a:gd name="T17" fmla="*/ 219 h 602"/>
                  <a:gd name="T18" fmla="*/ 420 w 604"/>
                  <a:gd name="T19" fmla="*/ 257 h 602"/>
                  <a:gd name="T20" fmla="*/ 452 w 604"/>
                  <a:gd name="T21" fmla="*/ 299 h 602"/>
                  <a:gd name="T22" fmla="*/ 479 w 604"/>
                  <a:gd name="T23" fmla="*/ 344 h 602"/>
                  <a:gd name="T24" fmla="*/ 502 w 604"/>
                  <a:gd name="T25" fmla="*/ 391 h 602"/>
                  <a:gd name="T26" fmla="*/ 520 w 604"/>
                  <a:gd name="T27" fmla="*/ 442 h 602"/>
                  <a:gd name="T28" fmla="*/ 534 w 604"/>
                  <a:gd name="T29" fmla="*/ 493 h 602"/>
                  <a:gd name="T30" fmla="*/ 542 w 604"/>
                  <a:gd name="T31" fmla="*/ 547 h 602"/>
                  <a:gd name="T32" fmla="*/ 544 w 604"/>
                  <a:gd name="T33" fmla="*/ 602 h 602"/>
                  <a:gd name="T34" fmla="*/ 604 w 604"/>
                  <a:gd name="T35" fmla="*/ 572 h 602"/>
                  <a:gd name="T36" fmla="*/ 598 w 604"/>
                  <a:gd name="T37" fmla="*/ 511 h 602"/>
                  <a:gd name="T38" fmla="*/ 585 w 604"/>
                  <a:gd name="T39" fmla="*/ 452 h 602"/>
                  <a:gd name="T40" fmla="*/ 567 w 604"/>
                  <a:gd name="T41" fmla="*/ 396 h 602"/>
                  <a:gd name="T42" fmla="*/ 545 w 604"/>
                  <a:gd name="T43" fmla="*/ 341 h 602"/>
                  <a:gd name="T44" fmla="*/ 517 w 604"/>
                  <a:gd name="T45" fmla="*/ 291 h 602"/>
                  <a:gd name="T46" fmla="*/ 484 w 604"/>
                  <a:gd name="T47" fmla="*/ 242 h 602"/>
                  <a:gd name="T48" fmla="*/ 447 w 604"/>
                  <a:gd name="T49" fmla="*/ 197 h 602"/>
                  <a:gd name="T50" fmla="*/ 406 w 604"/>
                  <a:gd name="T51" fmla="*/ 156 h 602"/>
                  <a:gd name="T52" fmla="*/ 361 w 604"/>
                  <a:gd name="T53" fmla="*/ 119 h 602"/>
                  <a:gd name="T54" fmla="*/ 314 w 604"/>
                  <a:gd name="T55" fmla="*/ 87 h 602"/>
                  <a:gd name="T56" fmla="*/ 262 w 604"/>
                  <a:gd name="T57" fmla="*/ 60 h 602"/>
                  <a:gd name="T58" fmla="*/ 207 w 604"/>
                  <a:gd name="T59" fmla="*/ 36 h 602"/>
                  <a:gd name="T60" fmla="*/ 150 w 604"/>
                  <a:gd name="T61" fmla="*/ 19 h 602"/>
                  <a:gd name="T62" fmla="*/ 91 w 604"/>
                  <a:gd name="T63" fmla="*/ 6 h 602"/>
                  <a:gd name="T64" fmla="*/ 30 w 604"/>
                  <a:gd name="T65" fmla="*/ 1 h 602"/>
                  <a:gd name="T66" fmla="*/ 0 w 604"/>
                  <a:gd name="T67" fmla="*/ 0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04" h="602">
                    <a:moveTo>
                      <a:pt x="0" y="60"/>
                    </a:moveTo>
                    <a:lnTo>
                      <a:pt x="0" y="60"/>
                    </a:lnTo>
                    <a:lnTo>
                      <a:pt x="28" y="60"/>
                    </a:lnTo>
                    <a:lnTo>
                      <a:pt x="56" y="62"/>
                    </a:lnTo>
                    <a:lnTo>
                      <a:pt x="83" y="66"/>
                    </a:lnTo>
                    <a:lnTo>
                      <a:pt x="109" y="70"/>
                    </a:lnTo>
                    <a:lnTo>
                      <a:pt x="136" y="76"/>
                    </a:lnTo>
                    <a:lnTo>
                      <a:pt x="162" y="84"/>
                    </a:lnTo>
                    <a:lnTo>
                      <a:pt x="187" y="92"/>
                    </a:lnTo>
                    <a:lnTo>
                      <a:pt x="212" y="102"/>
                    </a:lnTo>
                    <a:lnTo>
                      <a:pt x="236" y="113"/>
                    </a:lnTo>
                    <a:lnTo>
                      <a:pt x="259" y="125"/>
                    </a:lnTo>
                    <a:lnTo>
                      <a:pt x="282" y="138"/>
                    </a:lnTo>
                    <a:lnTo>
                      <a:pt x="304" y="152"/>
                    </a:lnTo>
                    <a:lnTo>
                      <a:pt x="325" y="168"/>
                    </a:lnTo>
                    <a:lnTo>
                      <a:pt x="346" y="183"/>
                    </a:lnTo>
                    <a:lnTo>
                      <a:pt x="366" y="200"/>
                    </a:lnTo>
                    <a:lnTo>
                      <a:pt x="385" y="219"/>
                    </a:lnTo>
                    <a:lnTo>
                      <a:pt x="403" y="238"/>
                    </a:lnTo>
                    <a:lnTo>
                      <a:pt x="420" y="257"/>
                    </a:lnTo>
                    <a:lnTo>
                      <a:pt x="437" y="278"/>
                    </a:lnTo>
                    <a:lnTo>
                      <a:pt x="452" y="299"/>
                    </a:lnTo>
                    <a:lnTo>
                      <a:pt x="465" y="321"/>
                    </a:lnTo>
                    <a:lnTo>
                      <a:pt x="479" y="344"/>
                    </a:lnTo>
                    <a:lnTo>
                      <a:pt x="491" y="367"/>
                    </a:lnTo>
                    <a:lnTo>
                      <a:pt x="502" y="391"/>
                    </a:lnTo>
                    <a:lnTo>
                      <a:pt x="512" y="417"/>
                    </a:lnTo>
                    <a:lnTo>
                      <a:pt x="520" y="442"/>
                    </a:lnTo>
                    <a:lnTo>
                      <a:pt x="527" y="467"/>
                    </a:lnTo>
                    <a:lnTo>
                      <a:pt x="534" y="493"/>
                    </a:lnTo>
                    <a:lnTo>
                      <a:pt x="538" y="519"/>
                    </a:lnTo>
                    <a:lnTo>
                      <a:pt x="542" y="547"/>
                    </a:lnTo>
                    <a:lnTo>
                      <a:pt x="544" y="575"/>
                    </a:lnTo>
                    <a:lnTo>
                      <a:pt x="544" y="602"/>
                    </a:lnTo>
                    <a:lnTo>
                      <a:pt x="604" y="602"/>
                    </a:lnTo>
                    <a:lnTo>
                      <a:pt x="604" y="572"/>
                    </a:lnTo>
                    <a:lnTo>
                      <a:pt x="601" y="541"/>
                    </a:lnTo>
                    <a:lnTo>
                      <a:pt x="598" y="511"/>
                    </a:lnTo>
                    <a:lnTo>
                      <a:pt x="593" y="482"/>
                    </a:lnTo>
                    <a:lnTo>
                      <a:pt x="585" y="452"/>
                    </a:lnTo>
                    <a:lnTo>
                      <a:pt x="577" y="424"/>
                    </a:lnTo>
                    <a:lnTo>
                      <a:pt x="567" y="396"/>
                    </a:lnTo>
                    <a:lnTo>
                      <a:pt x="557" y="368"/>
                    </a:lnTo>
                    <a:lnTo>
                      <a:pt x="545" y="341"/>
                    </a:lnTo>
                    <a:lnTo>
                      <a:pt x="532" y="316"/>
                    </a:lnTo>
                    <a:lnTo>
                      <a:pt x="517" y="291"/>
                    </a:lnTo>
                    <a:lnTo>
                      <a:pt x="501" y="265"/>
                    </a:lnTo>
                    <a:lnTo>
                      <a:pt x="484" y="242"/>
                    </a:lnTo>
                    <a:lnTo>
                      <a:pt x="466" y="219"/>
                    </a:lnTo>
                    <a:lnTo>
                      <a:pt x="447" y="197"/>
                    </a:lnTo>
                    <a:lnTo>
                      <a:pt x="427" y="176"/>
                    </a:lnTo>
                    <a:lnTo>
                      <a:pt x="406" y="156"/>
                    </a:lnTo>
                    <a:lnTo>
                      <a:pt x="384" y="137"/>
                    </a:lnTo>
                    <a:lnTo>
                      <a:pt x="361" y="119"/>
                    </a:lnTo>
                    <a:lnTo>
                      <a:pt x="338" y="103"/>
                    </a:lnTo>
                    <a:lnTo>
                      <a:pt x="314" y="87"/>
                    </a:lnTo>
                    <a:lnTo>
                      <a:pt x="287" y="72"/>
                    </a:lnTo>
                    <a:lnTo>
                      <a:pt x="262" y="60"/>
                    </a:lnTo>
                    <a:lnTo>
                      <a:pt x="235" y="47"/>
                    </a:lnTo>
                    <a:lnTo>
                      <a:pt x="207" y="36"/>
                    </a:lnTo>
                    <a:lnTo>
                      <a:pt x="180" y="27"/>
                    </a:lnTo>
                    <a:lnTo>
                      <a:pt x="150" y="19"/>
                    </a:lnTo>
                    <a:lnTo>
                      <a:pt x="121" y="12"/>
                    </a:lnTo>
                    <a:lnTo>
                      <a:pt x="91" y="6"/>
                    </a:lnTo>
                    <a:lnTo>
                      <a:pt x="61" y="3"/>
                    </a:lnTo>
                    <a:lnTo>
                      <a:pt x="30" y="1"/>
                    </a:lnTo>
                    <a:lnTo>
                      <a:pt x="0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5" name="Freeform 262"/>
              <p:cNvSpPr>
                <a:spLocks noChangeArrowheads="1"/>
              </p:cNvSpPr>
              <p:nvPr/>
            </p:nvSpPr>
            <p:spPr bwMode="auto">
              <a:xfrm>
                <a:off x="4238" y="1641"/>
                <a:ext cx="1" cy="20"/>
              </a:xfrm>
              <a:custGeom>
                <a:avLst/>
                <a:gdLst>
                  <a:gd name="T0" fmla="*/ 0 w 1"/>
                  <a:gd name="T1" fmla="*/ 60 h 60"/>
                  <a:gd name="T2" fmla="*/ 0 w 1"/>
                  <a:gd name="T3" fmla="*/ 29 h 60"/>
                  <a:gd name="T4" fmla="*/ 0 w 1"/>
                  <a:gd name="T5" fmla="*/ 29 h 60"/>
                  <a:gd name="T6" fmla="*/ 0 w 1"/>
                  <a:gd name="T7" fmla="*/ 29 h 60"/>
                  <a:gd name="T8" fmla="*/ 0 w 1"/>
                  <a:gd name="T9" fmla="*/ 29 h 60"/>
                  <a:gd name="T10" fmla="*/ 0 w 1"/>
                  <a:gd name="T11" fmla="*/ 29 h 60"/>
                  <a:gd name="T12" fmla="*/ 0 w 1"/>
                  <a:gd name="T13" fmla="*/ 29 h 60"/>
                  <a:gd name="T14" fmla="*/ 0 w 1"/>
                  <a:gd name="T15" fmla="*/ 0 h 60"/>
                  <a:gd name="T16" fmla="*/ 0 w 1"/>
                  <a:gd name="T1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60">
                    <a:moveTo>
                      <a:pt x="0" y="60"/>
                    </a:moveTo>
                    <a:lnTo>
                      <a:pt x="0" y="29"/>
                    </a:lnTo>
                    <a:lnTo>
                      <a:pt x="0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6" name="Freeform 263"/>
              <p:cNvSpPr>
                <a:spLocks noChangeArrowheads="1"/>
              </p:cNvSpPr>
              <p:nvPr/>
            </p:nvSpPr>
            <p:spPr bwMode="auto">
              <a:xfrm>
                <a:off x="4124" y="951"/>
                <a:ext cx="923" cy="557"/>
              </a:xfrm>
              <a:custGeom>
                <a:avLst/>
                <a:gdLst>
                  <a:gd name="T0" fmla="*/ 2741 w 2771"/>
                  <a:gd name="T1" fmla="*/ 0 h 1671"/>
                  <a:gd name="T2" fmla="*/ 0 w 2771"/>
                  <a:gd name="T3" fmla="*/ 1619 h 1671"/>
                  <a:gd name="T4" fmla="*/ 30 w 2771"/>
                  <a:gd name="T5" fmla="*/ 1671 h 1671"/>
                  <a:gd name="T6" fmla="*/ 2771 w 2771"/>
                  <a:gd name="T7" fmla="*/ 52 h 1671"/>
                  <a:gd name="T8" fmla="*/ 2741 w 2771"/>
                  <a:gd name="T9" fmla="*/ 0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71" h="1671">
                    <a:moveTo>
                      <a:pt x="2741" y="0"/>
                    </a:moveTo>
                    <a:lnTo>
                      <a:pt x="0" y="1619"/>
                    </a:lnTo>
                    <a:lnTo>
                      <a:pt x="30" y="1671"/>
                    </a:lnTo>
                    <a:lnTo>
                      <a:pt x="2771" y="52"/>
                    </a:lnTo>
                    <a:lnTo>
                      <a:pt x="2741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7" name="Freeform 264"/>
              <p:cNvSpPr>
                <a:spLocks noChangeArrowheads="1"/>
              </p:cNvSpPr>
              <p:nvPr/>
            </p:nvSpPr>
            <p:spPr bwMode="auto">
              <a:xfrm>
                <a:off x="4236" y="1735"/>
                <a:ext cx="145" cy="109"/>
              </a:xfrm>
              <a:custGeom>
                <a:avLst/>
                <a:gdLst>
                  <a:gd name="T0" fmla="*/ 425 w 437"/>
                  <a:gd name="T1" fmla="*/ 0 h 329"/>
                  <a:gd name="T2" fmla="*/ 437 w 437"/>
                  <a:gd name="T3" fmla="*/ 17 h 329"/>
                  <a:gd name="T4" fmla="*/ 12 w 437"/>
                  <a:gd name="T5" fmla="*/ 329 h 329"/>
                  <a:gd name="T6" fmla="*/ 0 w 437"/>
                  <a:gd name="T7" fmla="*/ 312 h 329"/>
                  <a:gd name="T8" fmla="*/ 425 w 437"/>
                  <a:gd name="T9" fmla="*/ 0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7" h="329">
                    <a:moveTo>
                      <a:pt x="425" y="0"/>
                    </a:moveTo>
                    <a:lnTo>
                      <a:pt x="437" y="17"/>
                    </a:lnTo>
                    <a:lnTo>
                      <a:pt x="12" y="329"/>
                    </a:lnTo>
                    <a:lnTo>
                      <a:pt x="0" y="312"/>
                    </a:lnTo>
                    <a:lnTo>
                      <a:pt x="425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8" name="Freeform 265"/>
              <p:cNvSpPr>
                <a:spLocks noChangeArrowheads="1"/>
              </p:cNvSpPr>
              <p:nvPr/>
            </p:nvSpPr>
            <p:spPr bwMode="auto">
              <a:xfrm>
                <a:off x="4394" y="1710"/>
                <a:ext cx="21" cy="18"/>
              </a:xfrm>
              <a:custGeom>
                <a:avLst/>
                <a:gdLst>
                  <a:gd name="T0" fmla="*/ 50 w 63"/>
                  <a:gd name="T1" fmla="*/ 0 h 54"/>
                  <a:gd name="T2" fmla="*/ 63 w 63"/>
                  <a:gd name="T3" fmla="*/ 16 h 54"/>
                  <a:gd name="T4" fmla="*/ 12 w 63"/>
                  <a:gd name="T5" fmla="*/ 54 h 54"/>
                  <a:gd name="T6" fmla="*/ 0 w 63"/>
                  <a:gd name="T7" fmla="*/ 37 h 54"/>
                  <a:gd name="T8" fmla="*/ 50 w 63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54">
                    <a:moveTo>
                      <a:pt x="50" y="0"/>
                    </a:moveTo>
                    <a:lnTo>
                      <a:pt x="63" y="16"/>
                    </a:lnTo>
                    <a:lnTo>
                      <a:pt x="12" y="54"/>
                    </a:lnTo>
                    <a:lnTo>
                      <a:pt x="0" y="37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9" name="Freeform 266"/>
              <p:cNvSpPr>
                <a:spLocks noChangeArrowheads="1"/>
              </p:cNvSpPr>
              <p:nvPr/>
            </p:nvSpPr>
            <p:spPr bwMode="auto">
              <a:xfrm>
                <a:off x="4428" y="1593"/>
                <a:ext cx="146" cy="110"/>
              </a:xfrm>
              <a:custGeom>
                <a:avLst/>
                <a:gdLst>
                  <a:gd name="T0" fmla="*/ 424 w 437"/>
                  <a:gd name="T1" fmla="*/ 0 h 330"/>
                  <a:gd name="T2" fmla="*/ 437 w 437"/>
                  <a:gd name="T3" fmla="*/ 17 h 330"/>
                  <a:gd name="T4" fmla="*/ 12 w 437"/>
                  <a:gd name="T5" fmla="*/ 330 h 330"/>
                  <a:gd name="T6" fmla="*/ 0 w 437"/>
                  <a:gd name="T7" fmla="*/ 313 h 330"/>
                  <a:gd name="T8" fmla="*/ 424 w 437"/>
                  <a:gd name="T9" fmla="*/ 0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7" h="330">
                    <a:moveTo>
                      <a:pt x="424" y="0"/>
                    </a:moveTo>
                    <a:lnTo>
                      <a:pt x="437" y="17"/>
                    </a:lnTo>
                    <a:lnTo>
                      <a:pt x="12" y="330"/>
                    </a:lnTo>
                    <a:lnTo>
                      <a:pt x="0" y="313"/>
                    </a:lnTo>
                    <a:lnTo>
                      <a:pt x="424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0" name="Freeform 267"/>
              <p:cNvSpPr>
                <a:spLocks noChangeArrowheads="1"/>
              </p:cNvSpPr>
              <p:nvPr/>
            </p:nvSpPr>
            <p:spPr bwMode="auto">
              <a:xfrm>
                <a:off x="4587" y="1568"/>
                <a:ext cx="21" cy="18"/>
              </a:xfrm>
              <a:custGeom>
                <a:avLst/>
                <a:gdLst>
                  <a:gd name="T0" fmla="*/ 50 w 63"/>
                  <a:gd name="T1" fmla="*/ 0 h 55"/>
                  <a:gd name="T2" fmla="*/ 63 w 63"/>
                  <a:gd name="T3" fmla="*/ 17 h 55"/>
                  <a:gd name="T4" fmla="*/ 12 w 63"/>
                  <a:gd name="T5" fmla="*/ 55 h 55"/>
                  <a:gd name="T6" fmla="*/ 0 w 63"/>
                  <a:gd name="T7" fmla="*/ 37 h 55"/>
                  <a:gd name="T8" fmla="*/ 50 w 63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55">
                    <a:moveTo>
                      <a:pt x="50" y="0"/>
                    </a:moveTo>
                    <a:lnTo>
                      <a:pt x="63" y="17"/>
                    </a:lnTo>
                    <a:lnTo>
                      <a:pt x="12" y="55"/>
                    </a:lnTo>
                    <a:lnTo>
                      <a:pt x="0" y="37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1" name="Freeform 268"/>
              <p:cNvSpPr>
                <a:spLocks noChangeArrowheads="1"/>
              </p:cNvSpPr>
              <p:nvPr/>
            </p:nvSpPr>
            <p:spPr bwMode="auto">
              <a:xfrm>
                <a:off x="4621" y="1452"/>
                <a:ext cx="146" cy="109"/>
              </a:xfrm>
              <a:custGeom>
                <a:avLst/>
                <a:gdLst>
                  <a:gd name="T0" fmla="*/ 424 w 437"/>
                  <a:gd name="T1" fmla="*/ 0 h 328"/>
                  <a:gd name="T2" fmla="*/ 437 w 437"/>
                  <a:gd name="T3" fmla="*/ 17 h 328"/>
                  <a:gd name="T4" fmla="*/ 12 w 437"/>
                  <a:gd name="T5" fmla="*/ 328 h 328"/>
                  <a:gd name="T6" fmla="*/ 0 w 437"/>
                  <a:gd name="T7" fmla="*/ 312 h 328"/>
                  <a:gd name="T8" fmla="*/ 424 w 437"/>
                  <a:gd name="T9" fmla="*/ 0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7" h="328">
                    <a:moveTo>
                      <a:pt x="424" y="0"/>
                    </a:moveTo>
                    <a:lnTo>
                      <a:pt x="437" y="17"/>
                    </a:lnTo>
                    <a:lnTo>
                      <a:pt x="12" y="328"/>
                    </a:lnTo>
                    <a:lnTo>
                      <a:pt x="0" y="312"/>
                    </a:lnTo>
                    <a:lnTo>
                      <a:pt x="424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2" name="Freeform 269"/>
              <p:cNvSpPr>
                <a:spLocks noChangeArrowheads="1"/>
              </p:cNvSpPr>
              <p:nvPr/>
            </p:nvSpPr>
            <p:spPr bwMode="auto">
              <a:xfrm>
                <a:off x="4780" y="1426"/>
                <a:ext cx="21" cy="19"/>
              </a:xfrm>
              <a:custGeom>
                <a:avLst/>
                <a:gdLst>
                  <a:gd name="T0" fmla="*/ 50 w 63"/>
                  <a:gd name="T1" fmla="*/ 0 h 55"/>
                  <a:gd name="T2" fmla="*/ 63 w 63"/>
                  <a:gd name="T3" fmla="*/ 17 h 55"/>
                  <a:gd name="T4" fmla="*/ 11 w 63"/>
                  <a:gd name="T5" fmla="*/ 55 h 55"/>
                  <a:gd name="T6" fmla="*/ 0 w 63"/>
                  <a:gd name="T7" fmla="*/ 38 h 55"/>
                  <a:gd name="T8" fmla="*/ 50 w 63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55">
                    <a:moveTo>
                      <a:pt x="50" y="0"/>
                    </a:moveTo>
                    <a:lnTo>
                      <a:pt x="63" y="17"/>
                    </a:lnTo>
                    <a:lnTo>
                      <a:pt x="11" y="55"/>
                    </a:lnTo>
                    <a:lnTo>
                      <a:pt x="0" y="38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3" name="Freeform 270"/>
              <p:cNvSpPr>
                <a:spLocks noChangeArrowheads="1"/>
              </p:cNvSpPr>
              <p:nvPr/>
            </p:nvSpPr>
            <p:spPr bwMode="auto">
              <a:xfrm>
                <a:off x="4814" y="1310"/>
                <a:ext cx="145" cy="110"/>
              </a:xfrm>
              <a:custGeom>
                <a:avLst/>
                <a:gdLst>
                  <a:gd name="T0" fmla="*/ 424 w 437"/>
                  <a:gd name="T1" fmla="*/ 0 h 329"/>
                  <a:gd name="T2" fmla="*/ 437 w 437"/>
                  <a:gd name="T3" fmla="*/ 16 h 329"/>
                  <a:gd name="T4" fmla="*/ 11 w 437"/>
                  <a:gd name="T5" fmla="*/ 329 h 329"/>
                  <a:gd name="T6" fmla="*/ 0 w 437"/>
                  <a:gd name="T7" fmla="*/ 311 h 329"/>
                  <a:gd name="T8" fmla="*/ 424 w 437"/>
                  <a:gd name="T9" fmla="*/ 0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7" h="329">
                    <a:moveTo>
                      <a:pt x="424" y="0"/>
                    </a:moveTo>
                    <a:lnTo>
                      <a:pt x="437" y="16"/>
                    </a:lnTo>
                    <a:lnTo>
                      <a:pt x="11" y="329"/>
                    </a:lnTo>
                    <a:lnTo>
                      <a:pt x="0" y="311"/>
                    </a:lnTo>
                    <a:lnTo>
                      <a:pt x="424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4" name="Freeform 271"/>
              <p:cNvSpPr>
                <a:spLocks noChangeArrowheads="1"/>
              </p:cNvSpPr>
              <p:nvPr/>
            </p:nvSpPr>
            <p:spPr bwMode="auto">
              <a:xfrm>
                <a:off x="4972" y="1285"/>
                <a:ext cx="21" cy="18"/>
              </a:xfrm>
              <a:custGeom>
                <a:avLst/>
                <a:gdLst>
                  <a:gd name="T0" fmla="*/ 51 w 64"/>
                  <a:gd name="T1" fmla="*/ 0 h 54"/>
                  <a:gd name="T2" fmla="*/ 64 w 64"/>
                  <a:gd name="T3" fmla="*/ 17 h 54"/>
                  <a:gd name="T4" fmla="*/ 12 w 64"/>
                  <a:gd name="T5" fmla="*/ 54 h 54"/>
                  <a:gd name="T6" fmla="*/ 0 w 64"/>
                  <a:gd name="T7" fmla="*/ 37 h 54"/>
                  <a:gd name="T8" fmla="*/ 51 w 64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54">
                    <a:moveTo>
                      <a:pt x="51" y="0"/>
                    </a:moveTo>
                    <a:lnTo>
                      <a:pt x="64" y="17"/>
                    </a:lnTo>
                    <a:lnTo>
                      <a:pt x="12" y="54"/>
                    </a:lnTo>
                    <a:lnTo>
                      <a:pt x="0" y="37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5" name="Freeform 272"/>
              <p:cNvSpPr>
                <a:spLocks noChangeArrowheads="1"/>
              </p:cNvSpPr>
              <p:nvPr/>
            </p:nvSpPr>
            <p:spPr bwMode="auto">
              <a:xfrm>
                <a:off x="5006" y="1168"/>
                <a:ext cx="146" cy="110"/>
              </a:xfrm>
              <a:custGeom>
                <a:avLst/>
                <a:gdLst>
                  <a:gd name="T0" fmla="*/ 425 w 438"/>
                  <a:gd name="T1" fmla="*/ 0 h 329"/>
                  <a:gd name="T2" fmla="*/ 438 w 438"/>
                  <a:gd name="T3" fmla="*/ 17 h 329"/>
                  <a:gd name="T4" fmla="*/ 13 w 438"/>
                  <a:gd name="T5" fmla="*/ 329 h 329"/>
                  <a:gd name="T6" fmla="*/ 0 w 438"/>
                  <a:gd name="T7" fmla="*/ 312 h 329"/>
                  <a:gd name="T8" fmla="*/ 425 w 438"/>
                  <a:gd name="T9" fmla="*/ 0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8" h="329">
                    <a:moveTo>
                      <a:pt x="425" y="0"/>
                    </a:moveTo>
                    <a:lnTo>
                      <a:pt x="438" y="17"/>
                    </a:lnTo>
                    <a:lnTo>
                      <a:pt x="13" y="329"/>
                    </a:lnTo>
                    <a:lnTo>
                      <a:pt x="0" y="312"/>
                    </a:lnTo>
                    <a:lnTo>
                      <a:pt x="425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6" name="Freeform 273"/>
              <p:cNvSpPr>
                <a:spLocks noChangeArrowheads="1"/>
              </p:cNvSpPr>
              <p:nvPr/>
            </p:nvSpPr>
            <p:spPr bwMode="auto">
              <a:xfrm>
                <a:off x="5165" y="1143"/>
                <a:ext cx="21" cy="18"/>
              </a:xfrm>
              <a:custGeom>
                <a:avLst/>
                <a:gdLst>
                  <a:gd name="T0" fmla="*/ 51 w 64"/>
                  <a:gd name="T1" fmla="*/ 0 h 54"/>
                  <a:gd name="T2" fmla="*/ 64 w 64"/>
                  <a:gd name="T3" fmla="*/ 17 h 54"/>
                  <a:gd name="T4" fmla="*/ 12 w 64"/>
                  <a:gd name="T5" fmla="*/ 54 h 54"/>
                  <a:gd name="T6" fmla="*/ 0 w 64"/>
                  <a:gd name="T7" fmla="*/ 38 h 54"/>
                  <a:gd name="T8" fmla="*/ 51 w 64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54">
                    <a:moveTo>
                      <a:pt x="51" y="0"/>
                    </a:moveTo>
                    <a:lnTo>
                      <a:pt x="64" y="17"/>
                    </a:lnTo>
                    <a:lnTo>
                      <a:pt x="12" y="54"/>
                    </a:lnTo>
                    <a:lnTo>
                      <a:pt x="0" y="38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7" name="Freeform 274"/>
              <p:cNvSpPr>
                <a:spLocks noChangeArrowheads="1"/>
              </p:cNvSpPr>
              <p:nvPr/>
            </p:nvSpPr>
            <p:spPr bwMode="auto">
              <a:xfrm>
                <a:off x="5199" y="1027"/>
                <a:ext cx="145" cy="110"/>
              </a:xfrm>
              <a:custGeom>
                <a:avLst/>
                <a:gdLst>
                  <a:gd name="T0" fmla="*/ 425 w 437"/>
                  <a:gd name="T1" fmla="*/ 0 h 330"/>
                  <a:gd name="T2" fmla="*/ 437 w 437"/>
                  <a:gd name="T3" fmla="*/ 17 h 330"/>
                  <a:gd name="T4" fmla="*/ 13 w 437"/>
                  <a:gd name="T5" fmla="*/ 330 h 330"/>
                  <a:gd name="T6" fmla="*/ 0 w 437"/>
                  <a:gd name="T7" fmla="*/ 312 h 330"/>
                  <a:gd name="T8" fmla="*/ 425 w 437"/>
                  <a:gd name="T9" fmla="*/ 0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7" h="330">
                    <a:moveTo>
                      <a:pt x="425" y="0"/>
                    </a:moveTo>
                    <a:lnTo>
                      <a:pt x="437" y="17"/>
                    </a:lnTo>
                    <a:lnTo>
                      <a:pt x="13" y="330"/>
                    </a:lnTo>
                    <a:lnTo>
                      <a:pt x="0" y="312"/>
                    </a:lnTo>
                    <a:lnTo>
                      <a:pt x="425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8" name="Rectangle 275"/>
              <p:cNvSpPr>
                <a:spLocks noChangeArrowheads="1"/>
              </p:cNvSpPr>
              <p:nvPr/>
            </p:nvSpPr>
            <p:spPr bwMode="auto">
              <a:xfrm>
                <a:off x="3076" y="1505"/>
                <a:ext cx="7" cy="176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9" name="Rectangle 276"/>
              <p:cNvSpPr>
                <a:spLocks noChangeArrowheads="1"/>
              </p:cNvSpPr>
              <p:nvPr/>
            </p:nvSpPr>
            <p:spPr bwMode="auto">
              <a:xfrm>
                <a:off x="3076" y="1702"/>
                <a:ext cx="7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0" name="Rectangle 277"/>
              <p:cNvSpPr>
                <a:spLocks noChangeArrowheads="1"/>
              </p:cNvSpPr>
              <p:nvPr/>
            </p:nvSpPr>
            <p:spPr bwMode="auto">
              <a:xfrm>
                <a:off x="3076" y="1744"/>
                <a:ext cx="7" cy="175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1" name="Rectangle 278"/>
              <p:cNvSpPr>
                <a:spLocks noChangeArrowheads="1"/>
              </p:cNvSpPr>
              <p:nvPr/>
            </p:nvSpPr>
            <p:spPr bwMode="auto">
              <a:xfrm>
                <a:off x="3076" y="1940"/>
                <a:ext cx="7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2" name="Rectangle 279"/>
              <p:cNvSpPr>
                <a:spLocks noChangeArrowheads="1"/>
              </p:cNvSpPr>
              <p:nvPr/>
            </p:nvSpPr>
            <p:spPr bwMode="auto">
              <a:xfrm>
                <a:off x="3076" y="1982"/>
                <a:ext cx="7" cy="176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3" name="Rectangle 280"/>
              <p:cNvSpPr>
                <a:spLocks noChangeArrowheads="1"/>
              </p:cNvSpPr>
              <p:nvPr/>
            </p:nvSpPr>
            <p:spPr bwMode="auto">
              <a:xfrm>
                <a:off x="3076" y="2179"/>
                <a:ext cx="7" cy="18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4" name="Freeform 281"/>
              <p:cNvSpPr>
                <a:spLocks noChangeArrowheads="1"/>
              </p:cNvSpPr>
              <p:nvPr/>
            </p:nvSpPr>
            <p:spPr bwMode="auto">
              <a:xfrm>
                <a:off x="2834" y="1597"/>
                <a:ext cx="245" cy="244"/>
              </a:xfrm>
              <a:custGeom>
                <a:avLst/>
                <a:gdLst>
                  <a:gd name="T0" fmla="*/ 60 w 736"/>
                  <a:gd name="T1" fmla="*/ 732 h 732"/>
                  <a:gd name="T2" fmla="*/ 63 w 736"/>
                  <a:gd name="T3" fmla="*/ 664 h 732"/>
                  <a:gd name="T4" fmla="*/ 74 w 736"/>
                  <a:gd name="T5" fmla="*/ 597 h 732"/>
                  <a:gd name="T6" fmla="*/ 90 w 736"/>
                  <a:gd name="T7" fmla="*/ 533 h 732"/>
                  <a:gd name="T8" fmla="*/ 114 w 736"/>
                  <a:gd name="T9" fmla="*/ 471 h 732"/>
                  <a:gd name="T10" fmla="*/ 142 w 736"/>
                  <a:gd name="T11" fmla="*/ 412 h 732"/>
                  <a:gd name="T12" fmla="*/ 176 w 736"/>
                  <a:gd name="T13" fmla="*/ 357 h 732"/>
                  <a:gd name="T14" fmla="*/ 215 w 736"/>
                  <a:gd name="T15" fmla="*/ 304 h 732"/>
                  <a:gd name="T16" fmla="*/ 258 w 736"/>
                  <a:gd name="T17" fmla="*/ 257 h 732"/>
                  <a:gd name="T18" fmla="*/ 306 w 736"/>
                  <a:gd name="T19" fmla="*/ 213 h 732"/>
                  <a:gd name="T20" fmla="*/ 358 w 736"/>
                  <a:gd name="T21" fmla="*/ 174 h 732"/>
                  <a:gd name="T22" fmla="*/ 414 w 736"/>
                  <a:gd name="T23" fmla="*/ 140 h 732"/>
                  <a:gd name="T24" fmla="*/ 473 w 736"/>
                  <a:gd name="T25" fmla="*/ 112 h 732"/>
                  <a:gd name="T26" fmla="*/ 535 w 736"/>
                  <a:gd name="T27" fmla="*/ 89 h 732"/>
                  <a:gd name="T28" fmla="*/ 600 w 736"/>
                  <a:gd name="T29" fmla="*/ 72 h 732"/>
                  <a:gd name="T30" fmla="*/ 666 w 736"/>
                  <a:gd name="T31" fmla="*/ 63 h 732"/>
                  <a:gd name="T32" fmla="*/ 736 w 736"/>
                  <a:gd name="T33" fmla="*/ 59 h 732"/>
                  <a:gd name="T34" fmla="*/ 698 w 736"/>
                  <a:gd name="T35" fmla="*/ 1 h 732"/>
                  <a:gd name="T36" fmla="*/ 624 w 736"/>
                  <a:gd name="T37" fmla="*/ 8 h 732"/>
                  <a:gd name="T38" fmla="*/ 552 w 736"/>
                  <a:gd name="T39" fmla="*/ 23 h 732"/>
                  <a:gd name="T40" fmla="*/ 483 w 736"/>
                  <a:gd name="T41" fmla="*/ 44 h 732"/>
                  <a:gd name="T42" fmla="*/ 417 w 736"/>
                  <a:gd name="T43" fmla="*/ 72 h 732"/>
                  <a:gd name="T44" fmla="*/ 355 w 736"/>
                  <a:gd name="T45" fmla="*/ 106 h 732"/>
                  <a:gd name="T46" fmla="*/ 296 w 736"/>
                  <a:gd name="T47" fmla="*/ 145 h 732"/>
                  <a:gd name="T48" fmla="*/ 241 w 736"/>
                  <a:gd name="T49" fmla="*/ 190 h 732"/>
                  <a:gd name="T50" fmla="*/ 192 w 736"/>
                  <a:gd name="T51" fmla="*/ 240 h 732"/>
                  <a:gd name="T52" fmla="*/ 146 w 736"/>
                  <a:gd name="T53" fmla="*/ 295 h 732"/>
                  <a:gd name="T54" fmla="*/ 107 w 736"/>
                  <a:gd name="T55" fmla="*/ 352 h 732"/>
                  <a:gd name="T56" fmla="*/ 73 w 736"/>
                  <a:gd name="T57" fmla="*/ 415 h 732"/>
                  <a:gd name="T58" fmla="*/ 45 w 736"/>
                  <a:gd name="T59" fmla="*/ 480 h 732"/>
                  <a:gd name="T60" fmla="*/ 23 w 736"/>
                  <a:gd name="T61" fmla="*/ 550 h 732"/>
                  <a:gd name="T62" fmla="*/ 8 w 736"/>
                  <a:gd name="T63" fmla="*/ 621 h 732"/>
                  <a:gd name="T64" fmla="*/ 1 w 736"/>
                  <a:gd name="T65" fmla="*/ 695 h 732"/>
                  <a:gd name="T66" fmla="*/ 0 w 736"/>
                  <a:gd name="T67" fmla="*/ 732 h 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36" h="732">
                    <a:moveTo>
                      <a:pt x="60" y="732"/>
                    </a:moveTo>
                    <a:lnTo>
                      <a:pt x="60" y="732"/>
                    </a:lnTo>
                    <a:lnTo>
                      <a:pt x="61" y="698"/>
                    </a:lnTo>
                    <a:lnTo>
                      <a:pt x="63" y="664"/>
                    </a:lnTo>
                    <a:lnTo>
                      <a:pt x="68" y="631"/>
                    </a:lnTo>
                    <a:lnTo>
                      <a:pt x="74" y="597"/>
                    </a:lnTo>
                    <a:lnTo>
                      <a:pt x="81" y="564"/>
                    </a:lnTo>
                    <a:lnTo>
                      <a:pt x="90" y="533"/>
                    </a:lnTo>
                    <a:lnTo>
                      <a:pt x="101" y="501"/>
                    </a:lnTo>
                    <a:lnTo>
                      <a:pt x="114" y="471"/>
                    </a:lnTo>
                    <a:lnTo>
                      <a:pt x="127" y="440"/>
                    </a:lnTo>
                    <a:lnTo>
                      <a:pt x="142" y="412"/>
                    </a:lnTo>
                    <a:lnTo>
                      <a:pt x="158" y="384"/>
                    </a:lnTo>
                    <a:lnTo>
                      <a:pt x="176" y="357"/>
                    </a:lnTo>
                    <a:lnTo>
                      <a:pt x="195" y="330"/>
                    </a:lnTo>
                    <a:lnTo>
                      <a:pt x="215" y="304"/>
                    </a:lnTo>
                    <a:lnTo>
                      <a:pt x="236" y="280"/>
                    </a:lnTo>
                    <a:lnTo>
                      <a:pt x="258" y="257"/>
                    </a:lnTo>
                    <a:lnTo>
                      <a:pt x="282" y="235"/>
                    </a:lnTo>
                    <a:lnTo>
                      <a:pt x="306" y="213"/>
                    </a:lnTo>
                    <a:lnTo>
                      <a:pt x="332" y="193"/>
                    </a:lnTo>
                    <a:lnTo>
                      <a:pt x="358" y="174"/>
                    </a:lnTo>
                    <a:lnTo>
                      <a:pt x="386" y="157"/>
                    </a:lnTo>
                    <a:lnTo>
                      <a:pt x="414" y="140"/>
                    </a:lnTo>
                    <a:lnTo>
                      <a:pt x="443" y="126"/>
                    </a:lnTo>
                    <a:lnTo>
                      <a:pt x="473" y="112"/>
                    </a:lnTo>
                    <a:lnTo>
                      <a:pt x="504" y="100"/>
                    </a:lnTo>
                    <a:lnTo>
                      <a:pt x="535" y="89"/>
                    </a:lnTo>
                    <a:lnTo>
                      <a:pt x="567" y="80"/>
                    </a:lnTo>
                    <a:lnTo>
                      <a:pt x="600" y="72"/>
                    </a:lnTo>
                    <a:lnTo>
                      <a:pt x="633" y="67"/>
                    </a:lnTo>
                    <a:lnTo>
                      <a:pt x="666" y="63"/>
                    </a:lnTo>
                    <a:lnTo>
                      <a:pt x="701" y="59"/>
                    </a:lnTo>
                    <a:lnTo>
                      <a:pt x="736" y="59"/>
                    </a:lnTo>
                    <a:lnTo>
                      <a:pt x="736" y="0"/>
                    </a:lnTo>
                    <a:lnTo>
                      <a:pt x="698" y="1"/>
                    </a:lnTo>
                    <a:lnTo>
                      <a:pt x="661" y="3"/>
                    </a:lnTo>
                    <a:lnTo>
                      <a:pt x="624" y="8"/>
                    </a:lnTo>
                    <a:lnTo>
                      <a:pt x="587" y="14"/>
                    </a:lnTo>
                    <a:lnTo>
                      <a:pt x="552" y="23"/>
                    </a:lnTo>
                    <a:lnTo>
                      <a:pt x="517" y="32"/>
                    </a:lnTo>
                    <a:lnTo>
                      <a:pt x="483" y="44"/>
                    </a:lnTo>
                    <a:lnTo>
                      <a:pt x="450" y="57"/>
                    </a:lnTo>
                    <a:lnTo>
                      <a:pt x="417" y="72"/>
                    </a:lnTo>
                    <a:lnTo>
                      <a:pt x="385" y="88"/>
                    </a:lnTo>
                    <a:lnTo>
                      <a:pt x="355" y="106"/>
                    </a:lnTo>
                    <a:lnTo>
                      <a:pt x="325" y="124"/>
                    </a:lnTo>
                    <a:lnTo>
                      <a:pt x="296" y="145"/>
                    </a:lnTo>
                    <a:lnTo>
                      <a:pt x="268" y="166"/>
                    </a:lnTo>
                    <a:lnTo>
                      <a:pt x="241" y="190"/>
                    </a:lnTo>
                    <a:lnTo>
                      <a:pt x="216" y="215"/>
                    </a:lnTo>
                    <a:lnTo>
                      <a:pt x="192" y="240"/>
                    </a:lnTo>
                    <a:lnTo>
                      <a:pt x="168" y="266"/>
                    </a:lnTo>
                    <a:lnTo>
                      <a:pt x="146" y="295"/>
                    </a:lnTo>
                    <a:lnTo>
                      <a:pt x="126" y="323"/>
                    </a:lnTo>
                    <a:lnTo>
                      <a:pt x="107" y="352"/>
                    </a:lnTo>
                    <a:lnTo>
                      <a:pt x="89" y="384"/>
                    </a:lnTo>
                    <a:lnTo>
                      <a:pt x="73" y="415"/>
                    </a:lnTo>
                    <a:lnTo>
                      <a:pt x="58" y="448"/>
                    </a:lnTo>
                    <a:lnTo>
                      <a:pt x="45" y="480"/>
                    </a:lnTo>
                    <a:lnTo>
                      <a:pt x="34" y="515"/>
                    </a:lnTo>
                    <a:lnTo>
                      <a:pt x="23" y="550"/>
                    </a:lnTo>
                    <a:lnTo>
                      <a:pt x="16" y="585"/>
                    </a:lnTo>
                    <a:lnTo>
                      <a:pt x="8" y="621"/>
                    </a:lnTo>
                    <a:lnTo>
                      <a:pt x="4" y="658"/>
                    </a:lnTo>
                    <a:lnTo>
                      <a:pt x="1" y="695"/>
                    </a:lnTo>
                    <a:lnTo>
                      <a:pt x="0" y="732"/>
                    </a:lnTo>
                    <a:lnTo>
                      <a:pt x="60" y="732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5" name="Freeform 282"/>
              <p:cNvSpPr>
                <a:spLocks noChangeArrowheads="1"/>
              </p:cNvSpPr>
              <p:nvPr/>
            </p:nvSpPr>
            <p:spPr bwMode="auto">
              <a:xfrm>
                <a:off x="2834" y="1841"/>
                <a:ext cx="245" cy="245"/>
              </a:xfrm>
              <a:custGeom>
                <a:avLst/>
                <a:gdLst>
                  <a:gd name="T0" fmla="*/ 736 w 736"/>
                  <a:gd name="T1" fmla="*/ 674 h 734"/>
                  <a:gd name="T2" fmla="*/ 666 w 736"/>
                  <a:gd name="T3" fmla="*/ 670 h 734"/>
                  <a:gd name="T4" fmla="*/ 600 w 736"/>
                  <a:gd name="T5" fmla="*/ 661 h 734"/>
                  <a:gd name="T6" fmla="*/ 535 w 736"/>
                  <a:gd name="T7" fmla="*/ 644 h 734"/>
                  <a:gd name="T8" fmla="*/ 473 w 736"/>
                  <a:gd name="T9" fmla="*/ 621 h 734"/>
                  <a:gd name="T10" fmla="*/ 414 w 736"/>
                  <a:gd name="T11" fmla="*/ 593 h 734"/>
                  <a:gd name="T12" fmla="*/ 358 w 736"/>
                  <a:gd name="T13" fmla="*/ 559 h 734"/>
                  <a:gd name="T14" fmla="*/ 306 w 736"/>
                  <a:gd name="T15" fmla="*/ 520 h 734"/>
                  <a:gd name="T16" fmla="*/ 258 w 736"/>
                  <a:gd name="T17" fmla="*/ 476 h 734"/>
                  <a:gd name="T18" fmla="*/ 215 w 736"/>
                  <a:gd name="T19" fmla="*/ 429 h 734"/>
                  <a:gd name="T20" fmla="*/ 176 w 736"/>
                  <a:gd name="T21" fmla="*/ 376 h 734"/>
                  <a:gd name="T22" fmla="*/ 142 w 736"/>
                  <a:gd name="T23" fmla="*/ 321 h 734"/>
                  <a:gd name="T24" fmla="*/ 114 w 736"/>
                  <a:gd name="T25" fmla="*/ 262 h 734"/>
                  <a:gd name="T26" fmla="*/ 90 w 736"/>
                  <a:gd name="T27" fmla="*/ 201 h 734"/>
                  <a:gd name="T28" fmla="*/ 74 w 736"/>
                  <a:gd name="T29" fmla="*/ 136 h 734"/>
                  <a:gd name="T30" fmla="*/ 63 w 736"/>
                  <a:gd name="T31" fmla="*/ 70 h 734"/>
                  <a:gd name="T32" fmla="*/ 60 w 736"/>
                  <a:gd name="T33" fmla="*/ 0 h 734"/>
                  <a:gd name="T34" fmla="*/ 1 w 736"/>
                  <a:gd name="T35" fmla="*/ 38 h 734"/>
                  <a:gd name="T36" fmla="*/ 8 w 736"/>
                  <a:gd name="T37" fmla="*/ 112 h 734"/>
                  <a:gd name="T38" fmla="*/ 23 w 736"/>
                  <a:gd name="T39" fmla="*/ 183 h 734"/>
                  <a:gd name="T40" fmla="*/ 45 w 736"/>
                  <a:gd name="T41" fmla="*/ 252 h 734"/>
                  <a:gd name="T42" fmla="*/ 73 w 736"/>
                  <a:gd name="T43" fmla="*/ 318 h 734"/>
                  <a:gd name="T44" fmla="*/ 107 w 736"/>
                  <a:gd name="T45" fmla="*/ 380 h 734"/>
                  <a:gd name="T46" fmla="*/ 146 w 736"/>
                  <a:gd name="T47" fmla="*/ 439 h 734"/>
                  <a:gd name="T48" fmla="*/ 192 w 736"/>
                  <a:gd name="T49" fmla="*/ 493 h 734"/>
                  <a:gd name="T50" fmla="*/ 241 w 736"/>
                  <a:gd name="T51" fmla="*/ 543 h 734"/>
                  <a:gd name="T52" fmla="*/ 296 w 736"/>
                  <a:gd name="T53" fmla="*/ 587 h 734"/>
                  <a:gd name="T54" fmla="*/ 355 w 736"/>
                  <a:gd name="T55" fmla="*/ 627 h 734"/>
                  <a:gd name="T56" fmla="*/ 417 w 736"/>
                  <a:gd name="T57" fmla="*/ 661 h 734"/>
                  <a:gd name="T58" fmla="*/ 483 w 736"/>
                  <a:gd name="T59" fmla="*/ 689 h 734"/>
                  <a:gd name="T60" fmla="*/ 553 w 736"/>
                  <a:gd name="T61" fmla="*/ 710 h 734"/>
                  <a:gd name="T62" fmla="*/ 624 w 736"/>
                  <a:gd name="T63" fmla="*/ 726 h 734"/>
                  <a:gd name="T64" fmla="*/ 698 w 736"/>
                  <a:gd name="T65" fmla="*/ 733 h 734"/>
                  <a:gd name="T66" fmla="*/ 736 w 736"/>
                  <a:gd name="T67" fmla="*/ 734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36" h="734">
                    <a:moveTo>
                      <a:pt x="736" y="674"/>
                    </a:moveTo>
                    <a:lnTo>
                      <a:pt x="736" y="674"/>
                    </a:lnTo>
                    <a:lnTo>
                      <a:pt x="701" y="673"/>
                    </a:lnTo>
                    <a:lnTo>
                      <a:pt x="666" y="670"/>
                    </a:lnTo>
                    <a:lnTo>
                      <a:pt x="633" y="666"/>
                    </a:lnTo>
                    <a:lnTo>
                      <a:pt x="600" y="661"/>
                    </a:lnTo>
                    <a:lnTo>
                      <a:pt x="567" y="652"/>
                    </a:lnTo>
                    <a:lnTo>
                      <a:pt x="535" y="644"/>
                    </a:lnTo>
                    <a:lnTo>
                      <a:pt x="504" y="633"/>
                    </a:lnTo>
                    <a:lnTo>
                      <a:pt x="473" y="621"/>
                    </a:lnTo>
                    <a:lnTo>
                      <a:pt x="443" y="607"/>
                    </a:lnTo>
                    <a:lnTo>
                      <a:pt x="414" y="593"/>
                    </a:lnTo>
                    <a:lnTo>
                      <a:pt x="386" y="577"/>
                    </a:lnTo>
                    <a:lnTo>
                      <a:pt x="358" y="559"/>
                    </a:lnTo>
                    <a:lnTo>
                      <a:pt x="332" y="540"/>
                    </a:lnTo>
                    <a:lnTo>
                      <a:pt x="306" y="520"/>
                    </a:lnTo>
                    <a:lnTo>
                      <a:pt x="282" y="499"/>
                    </a:lnTo>
                    <a:lnTo>
                      <a:pt x="258" y="476"/>
                    </a:lnTo>
                    <a:lnTo>
                      <a:pt x="236" y="453"/>
                    </a:lnTo>
                    <a:lnTo>
                      <a:pt x="215" y="429"/>
                    </a:lnTo>
                    <a:lnTo>
                      <a:pt x="195" y="404"/>
                    </a:lnTo>
                    <a:lnTo>
                      <a:pt x="176" y="376"/>
                    </a:lnTo>
                    <a:lnTo>
                      <a:pt x="158" y="349"/>
                    </a:lnTo>
                    <a:lnTo>
                      <a:pt x="142" y="321"/>
                    </a:lnTo>
                    <a:lnTo>
                      <a:pt x="127" y="292"/>
                    </a:lnTo>
                    <a:lnTo>
                      <a:pt x="114" y="262"/>
                    </a:lnTo>
                    <a:lnTo>
                      <a:pt x="101" y="231"/>
                    </a:lnTo>
                    <a:lnTo>
                      <a:pt x="90" y="201"/>
                    </a:lnTo>
                    <a:lnTo>
                      <a:pt x="81" y="168"/>
                    </a:lnTo>
                    <a:lnTo>
                      <a:pt x="74" y="136"/>
                    </a:lnTo>
                    <a:lnTo>
                      <a:pt x="68" y="103"/>
                    </a:lnTo>
                    <a:lnTo>
                      <a:pt x="63" y="70"/>
                    </a:lnTo>
                    <a:lnTo>
                      <a:pt x="61" y="35"/>
                    </a:lnTo>
                    <a:lnTo>
                      <a:pt x="60" y="0"/>
                    </a:lnTo>
                    <a:lnTo>
                      <a:pt x="0" y="0"/>
                    </a:lnTo>
                    <a:lnTo>
                      <a:pt x="1" y="38"/>
                    </a:lnTo>
                    <a:lnTo>
                      <a:pt x="4" y="75"/>
                    </a:lnTo>
                    <a:lnTo>
                      <a:pt x="8" y="112"/>
                    </a:lnTo>
                    <a:lnTo>
                      <a:pt x="16" y="148"/>
                    </a:lnTo>
                    <a:lnTo>
                      <a:pt x="23" y="183"/>
                    </a:lnTo>
                    <a:lnTo>
                      <a:pt x="34" y="218"/>
                    </a:lnTo>
                    <a:lnTo>
                      <a:pt x="45" y="252"/>
                    </a:lnTo>
                    <a:lnTo>
                      <a:pt x="58" y="286"/>
                    </a:lnTo>
                    <a:lnTo>
                      <a:pt x="73" y="318"/>
                    </a:lnTo>
                    <a:lnTo>
                      <a:pt x="89" y="350"/>
                    </a:lnTo>
                    <a:lnTo>
                      <a:pt x="107" y="380"/>
                    </a:lnTo>
                    <a:lnTo>
                      <a:pt x="126" y="410"/>
                    </a:lnTo>
                    <a:lnTo>
                      <a:pt x="146" y="439"/>
                    </a:lnTo>
                    <a:lnTo>
                      <a:pt x="168" y="467"/>
                    </a:lnTo>
                    <a:lnTo>
                      <a:pt x="192" y="493"/>
                    </a:lnTo>
                    <a:lnTo>
                      <a:pt x="216" y="519"/>
                    </a:lnTo>
                    <a:lnTo>
                      <a:pt x="241" y="543"/>
                    </a:lnTo>
                    <a:lnTo>
                      <a:pt x="268" y="566"/>
                    </a:lnTo>
                    <a:lnTo>
                      <a:pt x="296" y="587"/>
                    </a:lnTo>
                    <a:lnTo>
                      <a:pt x="325" y="608"/>
                    </a:lnTo>
                    <a:lnTo>
                      <a:pt x="355" y="627"/>
                    </a:lnTo>
                    <a:lnTo>
                      <a:pt x="385" y="645"/>
                    </a:lnTo>
                    <a:lnTo>
                      <a:pt x="417" y="661"/>
                    </a:lnTo>
                    <a:lnTo>
                      <a:pt x="450" y="675"/>
                    </a:lnTo>
                    <a:lnTo>
                      <a:pt x="483" y="689"/>
                    </a:lnTo>
                    <a:lnTo>
                      <a:pt x="517" y="701"/>
                    </a:lnTo>
                    <a:lnTo>
                      <a:pt x="553" y="710"/>
                    </a:lnTo>
                    <a:lnTo>
                      <a:pt x="587" y="718"/>
                    </a:lnTo>
                    <a:lnTo>
                      <a:pt x="624" y="726"/>
                    </a:lnTo>
                    <a:lnTo>
                      <a:pt x="661" y="730"/>
                    </a:lnTo>
                    <a:lnTo>
                      <a:pt x="698" y="733"/>
                    </a:lnTo>
                    <a:lnTo>
                      <a:pt x="736" y="734"/>
                    </a:lnTo>
                    <a:lnTo>
                      <a:pt x="736" y="674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6" name="Freeform 283"/>
              <p:cNvSpPr>
                <a:spLocks noChangeArrowheads="1"/>
              </p:cNvSpPr>
              <p:nvPr/>
            </p:nvSpPr>
            <p:spPr bwMode="auto">
              <a:xfrm>
                <a:off x="3079" y="1841"/>
                <a:ext cx="245" cy="245"/>
              </a:xfrm>
              <a:custGeom>
                <a:avLst/>
                <a:gdLst>
                  <a:gd name="T0" fmla="*/ 675 w 735"/>
                  <a:gd name="T1" fmla="*/ 0 h 734"/>
                  <a:gd name="T2" fmla="*/ 672 w 735"/>
                  <a:gd name="T3" fmla="*/ 70 h 734"/>
                  <a:gd name="T4" fmla="*/ 661 w 735"/>
                  <a:gd name="T5" fmla="*/ 136 h 734"/>
                  <a:gd name="T6" fmla="*/ 644 w 735"/>
                  <a:gd name="T7" fmla="*/ 201 h 734"/>
                  <a:gd name="T8" fmla="*/ 622 w 735"/>
                  <a:gd name="T9" fmla="*/ 262 h 734"/>
                  <a:gd name="T10" fmla="*/ 594 w 735"/>
                  <a:gd name="T11" fmla="*/ 321 h 734"/>
                  <a:gd name="T12" fmla="*/ 559 w 735"/>
                  <a:gd name="T13" fmla="*/ 376 h 734"/>
                  <a:gd name="T14" fmla="*/ 521 w 735"/>
                  <a:gd name="T15" fmla="*/ 429 h 734"/>
                  <a:gd name="T16" fmla="*/ 477 w 735"/>
                  <a:gd name="T17" fmla="*/ 476 h 734"/>
                  <a:gd name="T18" fmla="*/ 429 w 735"/>
                  <a:gd name="T19" fmla="*/ 520 h 734"/>
                  <a:gd name="T20" fmla="*/ 377 w 735"/>
                  <a:gd name="T21" fmla="*/ 559 h 734"/>
                  <a:gd name="T22" fmla="*/ 321 w 735"/>
                  <a:gd name="T23" fmla="*/ 593 h 734"/>
                  <a:gd name="T24" fmla="*/ 262 w 735"/>
                  <a:gd name="T25" fmla="*/ 621 h 734"/>
                  <a:gd name="T26" fmla="*/ 200 w 735"/>
                  <a:gd name="T27" fmla="*/ 644 h 734"/>
                  <a:gd name="T28" fmla="*/ 136 w 735"/>
                  <a:gd name="T29" fmla="*/ 661 h 734"/>
                  <a:gd name="T30" fmla="*/ 68 w 735"/>
                  <a:gd name="T31" fmla="*/ 670 h 734"/>
                  <a:gd name="T32" fmla="*/ 0 w 735"/>
                  <a:gd name="T33" fmla="*/ 674 h 734"/>
                  <a:gd name="T34" fmla="*/ 37 w 735"/>
                  <a:gd name="T35" fmla="*/ 733 h 734"/>
                  <a:gd name="T36" fmla="*/ 112 w 735"/>
                  <a:gd name="T37" fmla="*/ 726 h 734"/>
                  <a:gd name="T38" fmla="*/ 183 w 735"/>
                  <a:gd name="T39" fmla="*/ 710 h 734"/>
                  <a:gd name="T40" fmla="*/ 252 w 735"/>
                  <a:gd name="T41" fmla="*/ 689 h 734"/>
                  <a:gd name="T42" fmla="*/ 318 w 735"/>
                  <a:gd name="T43" fmla="*/ 661 h 734"/>
                  <a:gd name="T44" fmla="*/ 380 w 735"/>
                  <a:gd name="T45" fmla="*/ 627 h 734"/>
                  <a:gd name="T46" fmla="*/ 439 w 735"/>
                  <a:gd name="T47" fmla="*/ 587 h 734"/>
                  <a:gd name="T48" fmla="*/ 494 w 735"/>
                  <a:gd name="T49" fmla="*/ 543 h 734"/>
                  <a:gd name="T50" fmla="*/ 543 w 735"/>
                  <a:gd name="T51" fmla="*/ 493 h 734"/>
                  <a:gd name="T52" fmla="*/ 589 w 735"/>
                  <a:gd name="T53" fmla="*/ 439 h 734"/>
                  <a:gd name="T54" fmla="*/ 629 w 735"/>
                  <a:gd name="T55" fmla="*/ 380 h 734"/>
                  <a:gd name="T56" fmla="*/ 662 w 735"/>
                  <a:gd name="T57" fmla="*/ 318 h 734"/>
                  <a:gd name="T58" fmla="*/ 691 w 735"/>
                  <a:gd name="T59" fmla="*/ 252 h 734"/>
                  <a:gd name="T60" fmla="*/ 712 w 735"/>
                  <a:gd name="T61" fmla="*/ 183 h 734"/>
                  <a:gd name="T62" fmla="*/ 727 w 735"/>
                  <a:gd name="T63" fmla="*/ 112 h 734"/>
                  <a:gd name="T64" fmla="*/ 734 w 735"/>
                  <a:gd name="T65" fmla="*/ 38 h 734"/>
                  <a:gd name="T66" fmla="*/ 735 w 735"/>
                  <a:gd name="T67" fmla="*/ 0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35" h="734">
                    <a:moveTo>
                      <a:pt x="675" y="0"/>
                    </a:moveTo>
                    <a:lnTo>
                      <a:pt x="675" y="0"/>
                    </a:lnTo>
                    <a:lnTo>
                      <a:pt x="675" y="35"/>
                    </a:lnTo>
                    <a:lnTo>
                      <a:pt x="672" y="70"/>
                    </a:lnTo>
                    <a:lnTo>
                      <a:pt x="668" y="103"/>
                    </a:lnTo>
                    <a:lnTo>
                      <a:pt x="661" y="136"/>
                    </a:lnTo>
                    <a:lnTo>
                      <a:pt x="654" y="168"/>
                    </a:lnTo>
                    <a:lnTo>
                      <a:pt x="644" y="201"/>
                    </a:lnTo>
                    <a:lnTo>
                      <a:pt x="634" y="231"/>
                    </a:lnTo>
                    <a:lnTo>
                      <a:pt x="622" y="262"/>
                    </a:lnTo>
                    <a:lnTo>
                      <a:pt x="609" y="292"/>
                    </a:lnTo>
                    <a:lnTo>
                      <a:pt x="594" y="321"/>
                    </a:lnTo>
                    <a:lnTo>
                      <a:pt x="577" y="349"/>
                    </a:lnTo>
                    <a:lnTo>
                      <a:pt x="559" y="376"/>
                    </a:lnTo>
                    <a:lnTo>
                      <a:pt x="541" y="404"/>
                    </a:lnTo>
                    <a:lnTo>
                      <a:pt x="521" y="429"/>
                    </a:lnTo>
                    <a:lnTo>
                      <a:pt x="499" y="453"/>
                    </a:lnTo>
                    <a:lnTo>
                      <a:pt x="477" y="476"/>
                    </a:lnTo>
                    <a:lnTo>
                      <a:pt x="454" y="499"/>
                    </a:lnTo>
                    <a:lnTo>
                      <a:pt x="429" y="520"/>
                    </a:lnTo>
                    <a:lnTo>
                      <a:pt x="403" y="540"/>
                    </a:lnTo>
                    <a:lnTo>
                      <a:pt x="377" y="559"/>
                    </a:lnTo>
                    <a:lnTo>
                      <a:pt x="350" y="577"/>
                    </a:lnTo>
                    <a:lnTo>
                      <a:pt x="321" y="593"/>
                    </a:lnTo>
                    <a:lnTo>
                      <a:pt x="292" y="607"/>
                    </a:lnTo>
                    <a:lnTo>
                      <a:pt x="262" y="621"/>
                    </a:lnTo>
                    <a:lnTo>
                      <a:pt x="232" y="633"/>
                    </a:lnTo>
                    <a:lnTo>
                      <a:pt x="200" y="644"/>
                    </a:lnTo>
                    <a:lnTo>
                      <a:pt x="168" y="652"/>
                    </a:lnTo>
                    <a:lnTo>
                      <a:pt x="136" y="661"/>
                    </a:lnTo>
                    <a:lnTo>
                      <a:pt x="102" y="666"/>
                    </a:lnTo>
                    <a:lnTo>
                      <a:pt x="68" y="670"/>
                    </a:lnTo>
                    <a:lnTo>
                      <a:pt x="35" y="673"/>
                    </a:lnTo>
                    <a:lnTo>
                      <a:pt x="0" y="674"/>
                    </a:lnTo>
                    <a:lnTo>
                      <a:pt x="0" y="734"/>
                    </a:lnTo>
                    <a:lnTo>
                      <a:pt x="37" y="733"/>
                    </a:lnTo>
                    <a:lnTo>
                      <a:pt x="75" y="730"/>
                    </a:lnTo>
                    <a:lnTo>
                      <a:pt x="112" y="726"/>
                    </a:lnTo>
                    <a:lnTo>
                      <a:pt x="147" y="718"/>
                    </a:lnTo>
                    <a:lnTo>
                      <a:pt x="183" y="710"/>
                    </a:lnTo>
                    <a:lnTo>
                      <a:pt x="218" y="701"/>
                    </a:lnTo>
                    <a:lnTo>
                      <a:pt x="252" y="689"/>
                    </a:lnTo>
                    <a:lnTo>
                      <a:pt x="285" y="675"/>
                    </a:lnTo>
                    <a:lnTo>
                      <a:pt x="318" y="661"/>
                    </a:lnTo>
                    <a:lnTo>
                      <a:pt x="350" y="645"/>
                    </a:lnTo>
                    <a:lnTo>
                      <a:pt x="380" y="627"/>
                    </a:lnTo>
                    <a:lnTo>
                      <a:pt x="411" y="608"/>
                    </a:lnTo>
                    <a:lnTo>
                      <a:pt x="439" y="587"/>
                    </a:lnTo>
                    <a:lnTo>
                      <a:pt x="468" y="566"/>
                    </a:lnTo>
                    <a:lnTo>
                      <a:pt x="494" y="543"/>
                    </a:lnTo>
                    <a:lnTo>
                      <a:pt x="519" y="519"/>
                    </a:lnTo>
                    <a:lnTo>
                      <a:pt x="543" y="493"/>
                    </a:lnTo>
                    <a:lnTo>
                      <a:pt x="566" y="467"/>
                    </a:lnTo>
                    <a:lnTo>
                      <a:pt x="589" y="439"/>
                    </a:lnTo>
                    <a:lnTo>
                      <a:pt x="610" y="410"/>
                    </a:lnTo>
                    <a:lnTo>
                      <a:pt x="629" y="380"/>
                    </a:lnTo>
                    <a:lnTo>
                      <a:pt x="647" y="350"/>
                    </a:lnTo>
                    <a:lnTo>
                      <a:pt x="662" y="318"/>
                    </a:lnTo>
                    <a:lnTo>
                      <a:pt x="677" y="286"/>
                    </a:lnTo>
                    <a:lnTo>
                      <a:pt x="691" y="252"/>
                    </a:lnTo>
                    <a:lnTo>
                      <a:pt x="702" y="218"/>
                    </a:lnTo>
                    <a:lnTo>
                      <a:pt x="712" y="183"/>
                    </a:lnTo>
                    <a:lnTo>
                      <a:pt x="720" y="148"/>
                    </a:lnTo>
                    <a:lnTo>
                      <a:pt x="727" y="112"/>
                    </a:lnTo>
                    <a:lnTo>
                      <a:pt x="732" y="75"/>
                    </a:lnTo>
                    <a:lnTo>
                      <a:pt x="734" y="38"/>
                    </a:lnTo>
                    <a:lnTo>
                      <a:pt x="735" y="0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7" name="Freeform 284"/>
              <p:cNvSpPr>
                <a:spLocks noChangeArrowheads="1"/>
              </p:cNvSpPr>
              <p:nvPr/>
            </p:nvSpPr>
            <p:spPr bwMode="auto">
              <a:xfrm>
                <a:off x="3079" y="1597"/>
                <a:ext cx="245" cy="244"/>
              </a:xfrm>
              <a:custGeom>
                <a:avLst/>
                <a:gdLst>
                  <a:gd name="T0" fmla="*/ 0 w 735"/>
                  <a:gd name="T1" fmla="*/ 59 h 732"/>
                  <a:gd name="T2" fmla="*/ 68 w 735"/>
                  <a:gd name="T3" fmla="*/ 63 h 732"/>
                  <a:gd name="T4" fmla="*/ 136 w 735"/>
                  <a:gd name="T5" fmla="*/ 72 h 732"/>
                  <a:gd name="T6" fmla="*/ 200 w 735"/>
                  <a:gd name="T7" fmla="*/ 89 h 732"/>
                  <a:gd name="T8" fmla="*/ 262 w 735"/>
                  <a:gd name="T9" fmla="*/ 112 h 732"/>
                  <a:gd name="T10" fmla="*/ 321 w 735"/>
                  <a:gd name="T11" fmla="*/ 140 h 732"/>
                  <a:gd name="T12" fmla="*/ 377 w 735"/>
                  <a:gd name="T13" fmla="*/ 174 h 732"/>
                  <a:gd name="T14" fmla="*/ 429 w 735"/>
                  <a:gd name="T15" fmla="*/ 213 h 732"/>
                  <a:gd name="T16" fmla="*/ 477 w 735"/>
                  <a:gd name="T17" fmla="*/ 257 h 732"/>
                  <a:gd name="T18" fmla="*/ 521 w 735"/>
                  <a:gd name="T19" fmla="*/ 304 h 732"/>
                  <a:gd name="T20" fmla="*/ 559 w 735"/>
                  <a:gd name="T21" fmla="*/ 357 h 732"/>
                  <a:gd name="T22" fmla="*/ 594 w 735"/>
                  <a:gd name="T23" fmla="*/ 412 h 732"/>
                  <a:gd name="T24" fmla="*/ 622 w 735"/>
                  <a:gd name="T25" fmla="*/ 471 h 732"/>
                  <a:gd name="T26" fmla="*/ 644 w 735"/>
                  <a:gd name="T27" fmla="*/ 533 h 732"/>
                  <a:gd name="T28" fmla="*/ 661 w 735"/>
                  <a:gd name="T29" fmla="*/ 597 h 732"/>
                  <a:gd name="T30" fmla="*/ 672 w 735"/>
                  <a:gd name="T31" fmla="*/ 664 h 732"/>
                  <a:gd name="T32" fmla="*/ 675 w 735"/>
                  <a:gd name="T33" fmla="*/ 732 h 732"/>
                  <a:gd name="T34" fmla="*/ 734 w 735"/>
                  <a:gd name="T35" fmla="*/ 695 h 732"/>
                  <a:gd name="T36" fmla="*/ 727 w 735"/>
                  <a:gd name="T37" fmla="*/ 621 h 732"/>
                  <a:gd name="T38" fmla="*/ 712 w 735"/>
                  <a:gd name="T39" fmla="*/ 550 h 732"/>
                  <a:gd name="T40" fmla="*/ 691 w 735"/>
                  <a:gd name="T41" fmla="*/ 480 h 732"/>
                  <a:gd name="T42" fmla="*/ 662 w 735"/>
                  <a:gd name="T43" fmla="*/ 415 h 732"/>
                  <a:gd name="T44" fmla="*/ 629 w 735"/>
                  <a:gd name="T45" fmla="*/ 352 h 732"/>
                  <a:gd name="T46" fmla="*/ 589 w 735"/>
                  <a:gd name="T47" fmla="*/ 295 h 732"/>
                  <a:gd name="T48" fmla="*/ 543 w 735"/>
                  <a:gd name="T49" fmla="*/ 240 h 732"/>
                  <a:gd name="T50" fmla="*/ 494 w 735"/>
                  <a:gd name="T51" fmla="*/ 190 h 732"/>
                  <a:gd name="T52" fmla="*/ 439 w 735"/>
                  <a:gd name="T53" fmla="*/ 145 h 732"/>
                  <a:gd name="T54" fmla="*/ 380 w 735"/>
                  <a:gd name="T55" fmla="*/ 106 h 732"/>
                  <a:gd name="T56" fmla="*/ 318 w 735"/>
                  <a:gd name="T57" fmla="*/ 72 h 732"/>
                  <a:gd name="T58" fmla="*/ 252 w 735"/>
                  <a:gd name="T59" fmla="*/ 44 h 732"/>
                  <a:gd name="T60" fmla="*/ 183 w 735"/>
                  <a:gd name="T61" fmla="*/ 23 h 732"/>
                  <a:gd name="T62" fmla="*/ 112 w 735"/>
                  <a:gd name="T63" fmla="*/ 8 h 732"/>
                  <a:gd name="T64" fmla="*/ 38 w 735"/>
                  <a:gd name="T65" fmla="*/ 1 h 732"/>
                  <a:gd name="T66" fmla="*/ 0 w 735"/>
                  <a:gd name="T67" fmla="*/ 0 h 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35" h="732">
                    <a:moveTo>
                      <a:pt x="0" y="59"/>
                    </a:moveTo>
                    <a:lnTo>
                      <a:pt x="0" y="59"/>
                    </a:lnTo>
                    <a:lnTo>
                      <a:pt x="35" y="59"/>
                    </a:lnTo>
                    <a:lnTo>
                      <a:pt x="68" y="63"/>
                    </a:lnTo>
                    <a:lnTo>
                      <a:pt x="102" y="67"/>
                    </a:lnTo>
                    <a:lnTo>
                      <a:pt x="136" y="72"/>
                    </a:lnTo>
                    <a:lnTo>
                      <a:pt x="168" y="80"/>
                    </a:lnTo>
                    <a:lnTo>
                      <a:pt x="200" y="89"/>
                    </a:lnTo>
                    <a:lnTo>
                      <a:pt x="232" y="100"/>
                    </a:lnTo>
                    <a:lnTo>
                      <a:pt x="262" y="112"/>
                    </a:lnTo>
                    <a:lnTo>
                      <a:pt x="292" y="126"/>
                    </a:lnTo>
                    <a:lnTo>
                      <a:pt x="321" y="140"/>
                    </a:lnTo>
                    <a:lnTo>
                      <a:pt x="350" y="157"/>
                    </a:lnTo>
                    <a:lnTo>
                      <a:pt x="377" y="174"/>
                    </a:lnTo>
                    <a:lnTo>
                      <a:pt x="403" y="193"/>
                    </a:lnTo>
                    <a:lnTo>
                      <a:pt x="429" y="213"/>
                    </a:lnTo>
                    <a:lnTo>
                      <a:pt x="454" y="235"/>
                    </a:lnTo>
                    <a:lnTo>
                      <a:pt x="477" y="257"/>
                    </a:lnTo>
                    <a:lnTo>
                      <a:pt x="499" y="280"/>
                    </a:lnTo>
                    <a:lnTo>
                      <a:pt x="521" y="304"/>
                    </a:lnTo>
                    <a:lnTo>
                      <a:pt x="541" y="330"/>
                    </a:lnTo>
                    <a:lnTo>
                      <a:pt x="559" y="357"/>
                    </a:lnTo>
                    <a:lnTo>
                      <a:pt x="577" y="384"/>
                    </a:lnTo>
                    <a:lnTo>
                      <a:pt x="594" y="412"/>
                    </a:lnTo>
                    <a:lnTo>
                      <a:pt x="609" y="440"/>
                    </a:lnTo>
                    <a:lnTo>
                      <a:pt x="622" y="471"/>
                    </a:lnTo>
                    <a:lnTo>
                      <a:pt x="634" y="501"/>
                    </a:lnTo>
                    <a:lnTo>
                      <a:pt x="644" y="533"/>
                    </a:lnTo>
                    <a:lnTo>
                      <a:pt x="654" y="564"/>
                    </a:lnTo>
                    <a:lnTo>
                      <a:pt x="661" y="597"/>
                    </a:lnTo>
                    <a:lnTo>
                      <a:pt x="668" y="631"/>
                    </a:lnTo>
                    <a:lnTo>
                      <a:pt x="672" y="664"/>
                    </a:lnTo>
                    <a:lnTo>
                      <a:pt x="675" y="698"/>
                    </a:lnTo>
                    <a:lnTo>
                      <a:pt x="675" y="732"/>
                    </a:lnTo>
                    <a:lnTo>
                      <a:pt x="735" y="732"/>
                    </a:lnTo>
                    <a:lnTo>
                      <a:pt x="734" y="695"/>
                    </a:lnTo>
                    <a:lnTo>
                      <a:pt x="732" y="658"/>
                    </a:lnTo>
                    <a:lnTo>
                      <a:pt x="727" y="621"/>
                    </a:lnTo>
                    <a:lnTo>
                      <a:pt x="720" y="585"/>
                    </a:lnTo>
                    <a:lnTo>
                      <a:pt x="712" y="550"/>
                    </a:lnTo>
                    <a:lnTo>
                      <a:pt x="702" y="515"/>
                    </a:lnTo>
                    <a:lnTo>
                      <a:pt x="691" y="480"/>
                    </a:lnTo>
                    <a:lnTo>
                      <a:pt x="677" y="448"/>
                    </a:lnTo>
                    <a:lnTo>
                      <a:pt x="662" y="415"/>
                    </a:lnTo>
                    <a:lnTo>
                      <a:pt x="647" y="384"/>
                    </a:lnTo>
                    <a:lnTo>
                      <a:pt x="629" y="352"/>
                    </a:lnTo>
                    <a:lnTo>
                      <a:pt x="610" y="323"/>
                    </a:lnTo>
                    <a:lnTo>
                      <a:pt x="589" y="295"/>
                    </a:lnTo>
                    <a:lnTo>
                      <a:pt x="566" y="266"/>
                    </a:lnTo>
                    <a:lnTo>
                      <a:pt x="543" y="240"/>
                    </a:lnTo>
                    <a:lnTo>
                      <a:pt x="519" y="215"/>
                    </a:lnTo>
                    <a:lnTo>
                      <a:pt x="494" y="190"/>
                    </a:lnTo>
                    <a:lnTo>
                      <a:pt x="468" y="166"/>
                    </a:lnTo>
                    <a:lnTo>
                      <a:pt x="439" y="145"/>
                    </a:lnTo>
                    <a:lnTo>
                      <a:pt x="411" y="124"/>
                    </a:lnTo>
                    <a:lnTo>
                      <a:pt x="380" y="106"/>
                    </a:lnTo>
                    <a:lnTo>
                      <a:pt x="350" y="88"/>
                    </a:lnTo>
                    <a:lnTo>
                      <a:pt x="318" y="72"/>
                    </a:lnTo>
                    <a:lnTo>
                      <a:pt x="285" y="57"/>
                    </a:lnTo>
                    <a:lnTo>
                      <a:pt x="252" y="44"/>
                    </a:lnTo>
                    <a:lnTo>
                      <a:pt x="218" y="32"/>
                    </a:lnTo>
                    <a:lnTo>
                      <a:pt x="183" y="23"/>
                    </a:lnTo>
                    <a:lnTo>
                      <a:pt x="147" y="14"/>
                    </a:lnTo>
                    <a:lnTo>
                      <a:pt x="112" y="8"/>
                    </a:lnTo>
                    <a:lnTo>
                      <a:pt x="75" y="3"/>
                    </a:lnTo>
                    <a:lnTo>
                      <a:pt x="38" y="1"/>
                    </a:lnTo>
                    <a:lnTo>
                      <a:pt x="0" y="0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8" name="Freeform 285"/>
              <p:cNvSpPr>
                <a:spLocks noChangeArrowheads="1"/>
              </p:cNvSpPr>
              <p:nvPr/>
            </p:nvSpPr>
            <p:spPr bwMode="auto">
              <a:xfrm>
                <a:off x="3079" y="1597"/>
                <a:ext cx="1" cy="20"/>
              </a:xfrm>
              <a:custGeom>
                <a:avLst/>
                <a:gdLst>
                  <a:gd name="T0" fmla="*/ 0 w 1"/>
                  <a:gd name="T1" fmla="*/ 59 h 59"/>
                  <a:gd name="T2" fmla="*/ 0 w 1"/>
                  <a:gd name="T3" fmla="*/ 29 h 59"/>
                  <a:gd name="T4" fmla="*/ 0 w 1"/>
                  <a:gd name="T5" fmla="*/ 29 h 59"/>
                  <a:gd name="T6" fmla="*/ 0 w 1"/>
                  <a:gd name="T7" fmla="*/ 29 h 59"/>
                  <a:gd name="T8" fmla="*/ 0 w 1"/>
                  <a:gd name="T9" fmla="*/ 29 h 59"/>
                  <a:gd name="T10" fmla="*/ 0 w 1"/>
                  <a:gd name="T11" fmla="*/ 29 h 59"/>
                  <a:gd name="T12" fmla="*/ 0 w 1"/>
                  <a:gd name="T13" fmla="*/ 29 h 59"/>
                  <a:gd name="T14" fmla="*/ 0 w 1"/>
                  <a:gd name="T15" fmla="*/ 0 h 59"/>
                  <a:gd name="T16" fmla="*/ 0 w 1"/>
                  <a:gd name="T17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59">
                    <a:moveTo>
                      <a:pt x="0" y="59"/>
                    </a:moveTo>
                    <a:lnTo>
                      <a:pt x="0" y="29"/>
                    </a:lnTo>
                    <a:lnTo>
                      <a:pt x="0" y="0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9" name="Freeform 286"/>
              <p:cNvSpPr>
                <a:spLocks noChangeArrowheads="1"/>
              </p:cNvSpPr>
              <p:nvPr/>
            </p:nvSpPr>
            <p:spPr bwMode="auto">
              <a:xfrm>
                <a:off x="2925" y="1688"/>
                <a:ext cx="154" cy="153"/>
              </a:xfrm>
              <a:custGeom>
                <a:avLst/>
                <a:gdLst>
                  <a:gd name="T0" fmla="*/ 60 w 462"/>
                  <a:gd name="T1" fmla="*/ 461 h 461"/>
                  <a:gd name="T2" fmla="*/ 62 w 462"/>
                  <a:gd name="T3" fmla="*/ 420 h 461"/>
                  <a:gd name="T4" fmla="*/ 67 w 462"/>
                  <a:gd name="T5" fmla="*/ 381 h 461"/>
                  <a:gd name="T6" fmla="*/ 78 w 462"/>
                  <a:gd name="T7" fmla="*/ 343 h 461"/>
                  <a:gd name="T8" fmla="*/ 91 w 462"/>
                  <a:gd name="T9" fmla="*/ 306 h 461"/>
                  <a:gd name="T10" fmla="*/ 108 w 462"/>
                  <a:gd name="T11" fmla="*/ 270 h 461"/>
                  <a:gd name="T12" fmla="*/ 128 w 462"/>
                  <a:gd name="T13" fmla="*/ 238 h 461"/>
                  <a:gd name="T14" fmla="*/ 151 w 462"/>
                  <a:gd name="T15" fmla="*/ 206 h 461"/>
                  <a:gd name="T16" fmla="*/ 178 w 462"/>
                  <a:gd name="T17" fmla="*/ 178 h 461"/>
                  <a:gd name="T18" fmla="*/ 206 w 462"/>
                  <a:gd name="T19" fmla="*/ 153 h 461"/>
                  <a:gd name="T20" fmla="*/ 237 w 462"/>
                  <a:gd name="T21" fmla="*/ 130 h 461"/>
                  <a:gd name="T22" fmla="*/ 270 w 462"/>
                  <a:gd name="T23" fmla="*/ 109 h 461"/>
                  <a:gd name="T24" fmla="*/ 305 w 462"/>
                  <a:gd name="T25" fmla="*/ 92 h 461"/>
                  <a:gd name="T26" fmla="*/ 342 w 462"/>
                  <a:gd name="T27" fmla="*/ 78 h 461"/>
                  <a:gd name="T28" fmla="*/ 381 w 462"/>
                  <a:gd name="T29" fmla="*/ 69 h 461"/>
                  <a:gd name="T30" fmla="*/ 421 w 462"/>
                  <a:gd name="T31" fmla="*/ 62 h 461"/>
                  <a:gd name="T32" fmla="*/ 462 w 462"/>
                  <a:gd name="T33" fmla="*/ 60 h 461"/>
                  <a:gd name="T34" fmla="*/ 438 w 462"/>
                  <a:gd name="T35" fmla="*/ 2 h 461"/>
                  <a:gd name="T36" fmla="*/ 391 w 462"/>
                  <a:gd name="T37" fmla="*/ 6 h 461"/>
                  <a:gd name="T38" fmla="*/ 346 w 462"/>
                  <a:gd name="T39" fmla="*/ 15 h 461"/>
                  <a:gd name="T40" fmla="*/ 303 w 462"/>
                  <a:gd name="T41" fmla="*/ 29 h 461"/>
                  <a:gd name="T42" fmla="*/ 262 w 462"/>
                  <a:gd name="T43" fmla="*/ 47 h 461"/>
                  <a:gd name="T44" fmla="*/ 222 w 462"/>
                  <a:gd name="T45" fmla="*/ 68 h 461"/>
                  <a:gd name="T46" fmla="*/ 185 w 462"/>
                  <a:gd name="T47" fmla="*/ 93 h 461"/>
                  <a:gd name="T48" fmla="*/ 151 w 462"/>
                  <a:gd name="T49" fmla="*/ 120 h 461"/>
                  <a:gd name="T50" fmla="*/ 120 w 462"/>
                  <a:gd name="T51" fmla="*/ 152 h 461"/>
                  <a:gd name="T52" fmla="*/ 91 w 462"/>
                  <a:gd name="T53" fmla="*/ 186 h 461"/>
                  <a:gd name="T54" fmla="*/ 67 w 462"/>
                  <a:gd name="T55" fmla="*/ 223 h 461"/>
                  <a:gd name="T56" fmla="*/ 45 w 462"/>
                  <a:gd name="T57" fmla="*/ 262 h 461"/>
                  <a:gd name="T58" fmla="*/ 28 w 462"/>
                  <a:gd name="T59" fmla="*/ 303 h 461"/>
                  <a:gd name="T60" fmla="*/ 14 w 462"/>
                  <a:gd name="T61" fmla="*/ 347 h 461"/>
                  <a:gd name="T62" fmla="*/ 5 w 462"/>
                  <a:gd name="T63" fmla="*/ 392 h 461"/>
                  <a:gd name="T64" fmla="*/ 0 w 462"/>
                  <a:gd name="T65" fmla="*/ 438 h 461"/>
                  <a:gd name="T66" fmla="*/ 0 w 462"/>
                  <a:gd name="T67" fmla="*/ 461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62" h="461">
                    <a:moveTo>
                      <a:pt x="60" y="461"/>
                    </a:moveTo>
                    <a:lnTo>
                      <a:pt x="60" y="461"/>
                    </a:lnTo>
                    <a:lnTo>
                      <a:pt x="60" y="440"/>
                    </a:lnTo>
                    <a:lnTo>
                      <a:pt x="62" y="420"/>
                    </a:lnTo>
                    <a:lnTo>
                      <a:pt x="64" y="400"/>
                    </a:lnTo>
                    <a:lnTo>
                      <a:pt x="67" y="381"/>
                    </a:lnTo>
                    <a:lnTo>
                      <a:pt x="72" y="362"/>
                    </a:lnTo>
                    <a:lnTo>
                      <a:pt x="78" y="343"/>
                    </a:lnTo>
                    <a:lnTo>
                      <a:pt x="84" y="324"/>
                    </a:lnTo>
                    <a:lnTo>
                      <a:pt x="91" y="306"/>
                    </a:lnTo>
                    <a:lnTo>
                      <a:pt x="99" y="288"/>
                    </a:lnTo>
                    <a:lnTo>
                      <a:pt x="108" y="270"/>
                    </a:lnTo>
                    <a:lnTo>
                      <a:pt x="118" y="253"/>
                    </a:lnTo>
                    <a:lnTo>
                      <a:pt x="128" y="238"/>
                    </a:lnTo>
                    <a:lnTo>
                      <a:pt x="140" y="222"/>
                    </a:lnTo>
                    <a:lnTo>
                      <a:pt x="151" y="206"/>
                    </a:lnTo>
                    <a:lnTo>
                      <a:pt x="164" y="193"/>
                    </a:lnTo>
                    <a:lnTo>
                      <a:pt x="178" y="178"/>
                    </a:lnTo>
                    <a:lnTo>
                      <a:pt x="191" y="165"/>
                    </a:lnTo>
                    <a:lnTo>
                      <a:pt x="206" y="153"/>
                    </a:lnTo>
                    <a:lnTo>
                      <a:pt x="221" y="140"/>
                    </a:lnTo>
                    <a:lnTo>
                      <a:pt x="237" y="130"/>
                    </a:lnTo>
                    <a:lnTo>
                      <a:pt x="253" y="119"/>
                    </a:lnTo>
                    <a:lnTo>
                      <a:pt x="270" y="109"/>
                    </a:lnTo>
                    <a:lnTo>
                      <a:pt x="287" y="100"/>
                    </a:lnTo>
                    <a:lnTo>
                      <a:pt x="305" y="92"/>
                    </a:lnTo>
                    <a:lnTo>
                      <a:pt x="324" y="84"/>
                    </a:lnTo>
                    <a:lnTo>
                      <a:pt x="342" y="78"/>
                    </a:lnTo>
                    <a:lnTo>
                      <a:pt x="361" y="73"/>
                    </a:lnTo>
                    <a:lnTo>
                      <a:pt x="381" y="69"/>
                    </a:lnTo>
                    <a:lnTo>
                      <a:pt x="401" y="66"/>
                    </a:lnTo>
                    <a:lnTo>
                      <a:pt x="421" y="62"/>
                    </a:lnTo>
                    <a:lnTo>
                      <a:pt x="441" y="61"/>
                    </a:lnTo>
                    <a:lnTo>
                      <a:pt x="462" y="60"/>
                    </a:lnTo>
                    <a:lnTo>
                      <a:pt x="462" y="0"/>
                    </a:lnTo>
                    <a:lnTo>
                      <a:pt x="438" y="2"/>
                    </a:lnTo>
                    <a:lnTo>
                      <a:pt x="415" y="4"/>
                    </a:lnTo>
                    <a:lnTo>
                      <a:pt x="391" y="6"/>
                    </a:lnTo>
                    <a:lnTo>
                      <a:pt x="369" y="10"/>
                    </a:lnTo>
                    <a:lnTo>
                      <a:pt x="346" y="15"/>
                    </a:lnTo>
                    <a:lnTo>
                      <a:pt x="324" y="21"/>
                    </a:lnTo>
                    <a:lnTo>
                      <a:pt x="303" y="29"/>
                    </a:lnTo>
                    <a:lnTo>
                      <a:pt x="282" y="37"/>
                    </a:lnTo>
                    <a:lnTo>
                      <a:pt x="262" y="47"/>
                    </a:lnTo>
                    <a:lnTo>
                      <a:pt x="242" y="56"/>
                    </a:lnTo>
                    <a:lnTo>
                      <a:pt x="222" y="68"/>
                    </a:lnTo>
                    <a:lnTo>
                      <a:pt x="204" y="79"/>
                    </a:lnTo>
                    <a:lnTo>
                      <a:pt x="185" y="93"/>
                    </a:lnTo>
                    <a:lnTo>
                      <a:pt x="168" y="107"/>
                    </a:lnTo>
                    <a:lnTo>
                      <a:pt x="151" y="120"/>
                    </a:lnTo>
                    <a:lnTo>
                      <a:pt x="136" y="136"/>
                    </a:lnTo>
                    <a:lnTo>
                      <a:pt x="120" y="152"/>
                    </a:lnTo>
                    <a:lnTo>
                      <a:pt x="105" y="168"/>
                    </a:lnTo>
                    <a:lnTo>
                      <a:pt x="91" y="186"/>
                    </a:lnTo>
                    <a:lnTo>
                      <a:pt x="79" y="204"/>
                    </a:lnTo>
                    <a:lnTo>
                      <a:pt x="67" y="223"/>
                    </a:lnTo>
                    <a:lnTo>
                      <a:pt x="56" y="242"/>
                    </a:lnTo>
                    <a:lnTo>
                      <a:pt x="45" y="262"/>
                    </a:lnTo>
                    <a:lnTo>
                      <a:pt x="36" y="283"/>
                    </a:lnTo>
                    <a:lnTo>
                      <a:pt x="28" y="303"/>
                    </a:lnTo>
                    <a:lnTo>
                      <a:pt x="21" y="325"/>
                    </a:lnTo>
                    <a:lnTo>
                      <a:pt x="14" y="347"/>
                    </a:lnTo>
                    <a:lnTo>
                      <a:pt x="9" y="369"/>
                    </a:lnTo>
                    <a:lnTo>
                      <a:pt x="5" y="392"/>
                    </a:lnTo>
                    <a:lnTo>
                      <a:pt x="2" y="414"/>
                    </a:lnTo>
                    <a:lnTo>
                      <a:pt x="0" y="438"/>
                    </a:lnTo>
                    <a:lnTo>
                      <a:pt x="0" y="461"/>
                    </a:lnTo>
                    <a:lnTo>
                      <a:pt x="60" y="461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0" name="Freeform 287"/>
              <p:cNvSpPr>
                <a:spLocks noChangeArrowheads="1"/>
              </p:cNvSpPr>
              <p:nvPr/>
            </p:nvSpPr>
            <p:spPr bwMode="auto">
              <a:xfrm>
                <a:off x="2925" y="1841"/>
                <a:ext cx="154" cy="154"/>
              </a:xfrm>
              <a:custGeom>
                <a:avLst/>
                <a:gdLst>
                  <a:gd name="T0" fmla="*/ 462 w 462"/>
                  <a:gd name="T1" fmla="*/ 401 h 461"/>
                  <a:gd name="T2" fmla="*/ 421 w 462"/>
                  <a:gd name="T3" fmla="*/ 399 h 461"/>
                  <a:gd name="T4" fmla="*/ 381 w 462"/>
                  <a:gd name="T5" fmla="*/ 393 h 461"/>
                  <a:gd name="T6" fmla="*/ 342 w 462"/>
                  <a:gd name="T7" fmla="*/ 384 h 461"/>
                  <a:gd name="T8" fmla="*/ 305 w 462"/>
                  <a:gd name="T9" fmla="*/ 370 h 461"/>
                  <a:gd name="T10" fmla="*/ 270 w 462"/>
                  <a:gd name="T11" fmla="*/ 353 h 461"/>
                  <a:gd name="T12" fmla="*/ 237 w 462"/>
                  <a:gd name="T13" fmla="*/ 333 h 461"/>
                  <a:gd name="T14" fmla="*/ 206 w 462"/>
                  <a:gd name="T15" fmla="*/ 310 h 461"/>
                  <a:gd name="T16" fmla="*/ 178 w 462"/>
                  <a:gd name="T17" fmla="*/ 284 h 461"/>
                  <a:gd name="T18" fmla="*/ 151 w 462"/>
                  <a:gd name="T19" fmla="*/ 255 h 461"/>
                  <a:gd name="T20" fmla="*/ 128 w 462"/>
                  <a:gd name="T21" fmla="*/ 224 h 461"/>
                  <a:gd name="T22" fmla="*/ 108 w 462"/>
                  <a:gd name="T23" fmla="*/ 191 h 461"/>
                  <a:gd name="T24" fmla="*/ 91 w 462"/>
                  <a:gd name="T25" fmla="*/ 157 h 461"/>
                  <a:gd name="T26" fmla="*/ 78 w 462"/>
                  <a:gd name="T27" fmla="*/ 119 h 461"/>
                  <a:gd name="T28" fmla="*/ 67 w 462"/>
                  <a:gd name="T29" fmla="*/ 81 h 461"/>
                  <a:gd name="T30" fmla="*/ 62 w 462"/>
                  <a:gd name="T31" fmla="*/ 41 h 461"/>
                  <a:gd name="T32" fmla="*/ 60 w 462"/>
                  <a:gd name="T33" fmla="*/ 0 h 461"/>
                  <a:gd name="T34" fmla="*/ 0 w 462"/>
                  <a:gd name="T35" fmla="*/ 25 h 461"/>
                  <a:gd name="T36" fmla="*/ 5 w 462"/>
                  <a:gd name="T37" fmla="*/ 71 h 461"/>
                  <a:gd name="T38" fmla="*/ 14 w 462"/>
                  <a:gd name="T39" fmla="*/ 115 h 461"/>
                  <a:gd name="T40" fmla="*/ 28 w 462"/>
                  <a:gd name="T41" fmla="*/ 159 h 461"/>
                  <a:gd name="T42" fmla="*/ 45 w 462"/>
                  <a:gd name="T43" fmla="*/ 200 h 461"/>
                  <a:gd name="T44" fmla="*/ 67 w 462"/>
                  <a:gd name="T45" fmla="*/ 239 h 461"/>
                  <a:gd name="T46" fmla="*/ 91 w 462"/>
                  <a:gd name="T47" fmla="*/ 275 h 461"/>
                  <a:gd name="T48" fmla="*/ 120 w 462"/>
                  <a:gd name="T49" fmla="*/ 310 h 461"/>
                  <a:gd name="T50" fmla="*/ 151 w 462"/>
                  <a:gd name="T51" fmla="*/ 342 h 461"/>
                  <a:gd name="T52" fmla="*/ 185 w 462"/>
                  <a:gd name="T53" fmla="*/ 370 h 461"/>
                  <a:gd name="T54" fmla="*/ 222 w 462"/>
                  <a:gd name="T55" fmla="*/ 394 h 461"/>
                  <a:gd name="T56" fmla="*/ 262 w 462"/>
                  <a:gd name="T57" fmla="*/ 416 h 461"/>
                  <a:gd name="T58" fmla="*/ 303 w 462"/>
                  <a:gd name="T59" fmla="*/ 433 h 461"/>
                  <a:gd name="T60" fmla="*/ 346 w 462"/>
                  <a:gd name="T61" fmla="*/ 447 h 461"/>
                  <a:gd name="T62" fmla="*/ 391 w 462"/>
                  <a:gd name="T63" fmla="*/ 456 h 461"/>
                  <a:gd name="T64" fmla="*/ 438 w 462"/>
                  <a:gd name="T65" fmla="*/ 460 h 461"/>
                  <a:gd name="T66" fmla="*/ 462 w 462"/>
                  <a:gd name="T67" fmla="*/ 461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62" h="461">
                    <a:moveTo>
                      <a:pt x="462" y="401"/>
                    </a:moveTo>
                    <a:lnTo>
                      <a:pt x="462" y="401"/>
                    </a:lnTo>
                    <a:lnTo>
                      <a:pt x="441" y="401"/>
                    </a:lnTo>
                    <a:lnTo>
                      <a:pt x="421" y="399"/>
                    </a:lnTo>
                    <a:lnTo>
                      <a:pt x="401" y="397"/>
                    </a:lnTo>
                    <a:lnTo>
                      <a:pt x="381" y="393"/>
                    </a:lnTo>
                    <a:lnTo>
                      <a:pt x="361" y="389"/>
                    </a:lnTo>
                    <a:lnTo>
                      <a:pt x="342" y="384"/>
                    </a:lnTo>
                    <a:lnTo>
                      <a:pt x="324" y="377"/>
                    </a:lnTo>
                    <a:lnTo>
                      <a:pt x="305" y="370"/>
                    </a:lnTo>
                    <a:lnTo>
                      <a:pt x="287" y="362"/>
                    </a:lnTo>
                    <a:lnTo>
                      <a:pt x="270" y="353"/>
                    </a:lnTo>
                    <a:lnTo>
                      <a:pt x="253" y="344"/>
                    </a:lnTo>
                    <a:lnTo>
                      <a:pt x="237" y="333"/>
                    </a:lnTo>
                    <a:lnTo>
                      <a:pt x="221" y="322"/>
                    </a:lnTo>
                    <a:lnTo>
                      <a:pt x="206" y="310"/>
                    </a:lnTo>
                    <a:lnTo>
                      <a:pt x="191" y="297"/>
                    </a:lnTo>
                    <a:lnTo>
                      <a:pt x="178" y="284"/>
                    </a:lnTo>
                    <a:lnTo>
                      <a:pt x="164" y="270"/>
                    </a:lnTo>
                    <a:lnTo>
                      <a:pt x="151" y="255"/>
                    </a:lnTo>
                    <a:lnTo>
                      <a:pt x="140" y="240"/>
                    </a:lnTo>
                    <a:lnTo>
                      <a:pt x="128" y="224"/>
                    </a:lnTo>
                    <a:lnTo>
                      <a:pt x="118" y="208"/>
                    </a:lnTo>
                    <a:lnTo>
                      <a:pt x="108" y="191"/>
                    </a:lnTo>
                    <a:lnTo>
                      <a:pt x="99" y="174"/>
                    </a:lnTo>
                    <a:lnTo>
                      <a:pt x="91" y="157"/>
                    </a:lnTo>
                    <a:lnTo>
                      <a:pt x="84" y="138"/>
                    </a:lnTo>
                    <a:lnTo>
                      <a:pt x="78" y="119"/>
                    </a:lnTo>
                    <a:lnTo>
                      <a:pt x="72" y="100"/>
                    </a:lnTo>
                    <a:lnTo>
                      <a:pt x="67" y="81"/>
                    </a:lnTo>
                    <a:lnTo>
                      <a:pt x="64" y="61"/>
                    </a:lnTo>
                    <a:lnTo>
                      <a:pt x="62" y="41"/>
                    </a:lnTo>
                    <a:lnTo>
                      <a:pt x="60" y="21"/>
                    </a:lnTo>
                    <a:lnTo>
                      <a:pt x="60" y="0"/>
                    </a:lnTo>
                    <a:lnTo>
                      <a:pt x="0" y="0"/>
                    </a:lnTo>
                    <a:lnTo>
                      <a:pt x="0" y="25"/>
                    </a:lnTo>
                    <a:lnTo>
                      <a:pt x="2" y="48"/>
                    </a:lnTo>
                    <a:lnTo>
                      <a:pt x="5" y="71"/>
                    </a:lnTo>
                    <a:lnTo>
                      <a:pt x="9" y="93"/>
                    </a:lnTo>
                    <a:lnTo>
                      <a:pt x="14" y="115"/>
                    </a:lnTo>
                    <a:lnTo>
                      <a:pt x="21" y="137"/>
                    </a:lnTo>
                    <a:lnTo>
                      <a:pt x="28" y="159"/>
                    </a:lnTo>
                    <a:lnTo>
                      <a:pt x="36" y="180"/>
                    </a:lnTo>
                    <a:lnTo>
                      <a:pt x="45" y="200"/>
                    </a:lnTo>
                    <a:lnTo>
                      <a:pt x="56" y="220"/>
                    </a:lnTo>
                    <a:lnTo>
                      <a:pt x="67" y="239"/>
                    </a:lnTo>
                    <a:lnTo>
                      <a:pt x="79" y="258"/>
                    </a:lnTo>
                    <a:lnTo>
                      <a:pt x="91" y="275"/>
                    </a:lnTo>
                    <a:lnTo>
                      <a:pt x="105" y="293"/>
                    </a:lnTo>
                    <a:lnTo>
                      <a:pt x="120" y="310"/>
                    </a:lnTo>
                    <a:lnTo>
                      <a:pt x="136" y="326"/>
                    </a:lnTo>
                    <a:lnTo>
                      <a:pt x="151" y="342"/>
                    </a:lnTo>
                    <a:lnTo>
                      <a:pt x="168" y="356"/>
                    </a:lnTo>
                    <a:lnTo>
                      <a:pt x="185" y="370"/>
                    </a:lnTo>
                    <a:lnTo>
                      <a:pt x="204" y="383"/>
                    </a:lnTo>
                    <a:lnTo>
                      <a:pt x="222" y="394"/>
                    </a:lnTo>
                    <a:lnTo>
                      <a:pt x="242" y="406"/>
                    </a:lnTo>
                    <a:lnTo>
                      <a:pt x="262" y="416"/>
                    </a:lnTo>
                    <a:lnTo>
                      <a:pt x="282" y="425"/>
                    </a:lnTo>
                    <a:lnTo>
                      <a:pt x="303" y="433"/>
                    </a:lnTo>
                    <a:lnTo>
                      <a:pt x="324" y="440"/>
                    </a:lnTo>
                    <a:lnTo>
                      <a:pt x="346" y="447"/>
                    </a:lnTo>
                    <a:lnTo>
                      <a:pt x="369" y="452"/>
                    </a:lnTo>
                    <a:lnTo>
                      <a:pt x="391" y="456"/>
                    </a:lnTo>
                    <a:lnTo>
                      <a:pt x="415" y="459"/>
                    </a:lnTo>
                    <a:lnTo>
                      <a:pt x="438" y="460"/>
                    </a:lnTo>
                    <a:lnTo>
                      <a:pt x="462" y="461"/>
                    </a:lnTo>
                    <a:lnTo>
                      <a:pt x="462" y="401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1" name="Freeform 288"/>
              <p:cNvSpPr>
                <a:spLocks noChangeArrowheads="1"/>
              </p:cNvSpPr>
              <p:nvPr/>
            </p:nvSpPr>
            <p:spPr bwMode="auto">
              <a:xfrm>
                <a:off x="3079" y="1841"/>
                <a:ext cx="154" cy="154"/>
              </a:xfrm>
              <a:custGeom>
                <a:avLst/>
                <a:gdLst>
                  <a:gd name="T0" fmla="*/ 402 w 462"/>
                  <a:gd name="T1" fmla="*/ 0 h 461"/>
                  <a:gd name="T2" fmla="*/ 400 w 462"/>
                  <a:gd name="T3" fmla="*/ 41 h 461"/>
                  <a:gd name="T4" fmla="*/ 394 w 462"/>
                  <a:gd name="T5" fmla="*/ 81 h 461"/>
                  <a:gd name="T6" fmla="*/ 384 w 462"/>
                  <a:gd name="T7" fmla="*/ 119 h 461"/>
                  <a:gd name="T8" fmla="*/ 371 w 462"/>
                  <a:gd name="T9" fmla="*/ 157 h 461"/>
                  <a:gd name="T10" fmla="*/ 354 w 462"/>
                  <a:gd name="T11" fmla="*/ 191 h 461"/>
                  <a:gd name="T12" fmla="*/ 333 w 462"/>
                  <a:gd name="T13" fmla="*/ 224 h 461"/>
                  <a:gd name="T14" fmla="*/ 310 w 462"/>
                  <a:gd name="T15" fmla="*/ 255 h 461"/>
                  <a:gd name="T16" fmla="*/ 284 w 462"/>
                  <a:gd name="T17" fmla="*/ 284 h 461"/>
                  <a:gd name="T18" fmla="*/ 255 w 462"/>
                  <a:gd name="T19" fmla="*/ 310 h 461"/>
                  <a:gd name="T20" fmla="*/ 224 w 462"/>
                  <a:gd name="T21" fmla="*/ 333 h 461"/>
                  <a:gd name="T22" fmla="*/ 192 w 462"/>
                  <a:gd name="T23" fmla="*/ 353 h 461"/>
                  <a:gd name="T24" fmla="*/ 156 w 462"/>
                  <a:gd name="T25" fmla="*/ 370 h 461"/>
                  <a:gd name="T26" fmla="*/ 119 w 462"/>
                  <a:gd name="T27" fmla="*/ 384 h 461"/>
                  <a:gd name="T28" fmla="*/ 81 w 462"/>
                  <a:gd name="T29" fmla="*/ 393 h 461"/>
                  <a:gd name="T30" fmla="*/ 41 w 462"/>
                  <a:gd name="T31" fmla="*/ 399 h 461"/>
                  <a:gd name="T32" fmla="*/ 0 w 462"/>
                  <a:gd name="T33" fmla="*/ 401 h 461"/>
                  <a:gd name="T34" fmla="*/ 23 w 462"/>
                  <a:gd name="T35" fmla="*/ 460 h 461"/>
                  <a:gd name="T36" fmla="*/ 69 w 462"/>
                  <a:gd name="T37" fmla="*/ 456 h 461"/>
                  <a:gd name="T38" fmla="*/ 115 w 462"/>
                  <a:gd name="T39" fmla="*/ 447 h 461"/>
                  <a:gd name="T40" fmla="*/ 158 w 462"/>
                  <a:gd name="T41" fmla="*/ 433 h 461"/>
                  <a:gd name="T42" fmla="*/ 200 w 462"/>
                  <a:gd name="T43" fmla="*/ 416 h 461"/>
                  <a:gd name="T44" fmla="*/ 239 w 462"/>
                  <a:gd name="T45" fmla="*/ 394 h 461"/>
                  <a:gd name="T46" fmla="*/ 276 w 462"/>
                  <a:gd name="T47" fmla="*/ 370 h 461"/>
                  <a:gd name="T48" fmla="*/ 311 w 462"/>
                  <a:gd name="T49" fmla="*/ 342 h 461"/>
                  <a:gd name="T50" fmla="*/ 341 w 462"/>
                  <a:gd name="T51" fmla="*/ 310 h 461"/>
                  <a:gd name="T52" fmla="*/ 370 w 462"/>
                  <a:gd name="T53" fmla="*/ 275 h 461"/>
                  <a:gd name="T54" fmla="*/ 395 w 462"/>
                  <a:gd name="T55" fmla="*/ 239 h 461"/>
                  <a:gd name="T56" fmla="*/ 416 w 462"/>
                  <a:gd name="T57" fmla="*/ 200 h 461"/>
                  <a:gd name="T58" fmla="*/ 434 w 462"/>
                  <a:gd name="T59" fmla="*/ 159 h 461"/>
                  <a:gd name="T60" fmla="*/ 447 w 462"/>
                  <a:gd name="T61" fmla="*/ 116 h 461"/>
                  <a:gd name="T62" fmla="*/ 457 w 462"/>
                  <a:gd name="T63" fmla="*/ 71 h 461"/>
                  <a:gd name="T64" fmla="*/ 461 w 462"/>
                  <a:gd name="T65" fmla="*/ 25 h 461"/>
                  <a:gd name="T66" fmla="*/ 462 w 462"/>
                  <a:gd name="T67" fmla="*/ 0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62" h="461">
                    <a:moveTo>
                      <a:pt x="402" y="0"/>
                    </a:moveTo>
                    <a:lnTo>
                      <a:pt x="402" y="0"/>
                    </a:lnTo>
                    <a:lnTo>
                      <a:pt x="401" y="21"/>
                    </a:lnTo>
                    <a:lnTo>
                      <a:pt x="400" y="41"/>
                    </a:lnTo>
                    <a:lnTo>
                      <a:pt x="397" y="61"/>
                    </a:lnTo>
                    <a:lnTo>
                      <a:pt x="394" y="81"/>
                    </a:lnTo>
                    <a:lnTo>
                      <a:pt x="390" y="100"/>
                    </a:lnTo>
                    <a:lnTo>
                      <a:pt x="384" y="119"/>
                    </a:lnTo>
                    <a:lnTo>
                      <a:pt x="378" y="138"/>
                    </a:lnTo>
                    <a:lnTo>
                      <a:pt x="371" y="157"/>
                    </a:lnTo>
                    <a:lnTo>
                      <a:pt x="362" y="174"/>
                    </a:lnTo>
                    <a:lnTo>
                      <a:pt x="354" y="191"/>
                    </a:lnTo>
                    <a:lnTo>
                      <a:pt x="343" y="208"/>
                    </a:lnTo>
                    <a:lnTo>
                      <a:pt x="333" y="224"/>
                    </a:lnTo>
                    <a:lnTo>
                      <a:pt x="322" y="240"/>
                    </a:lnTo>
                    <a:lnTo>
                      <a:pt x="310" y="255"/>
                    </a:lnTo>
                    <a:lnTo>
                      <a:pt x="297" y="270"/>
                    </a:lnTo>
                    <a:lnTo>
                      <a:pt x="284" y="284"/>
                    </a:lnTo>
                    <a:lnTo>
                      <a:pt x="270" y="297"/>
                    </a:lnTo>
                    <a:lnTo>
                      <a:pt x="255" y="310"/>
                    </a:lnTo>
                    <a:lnTo>
                      <a:pt x="240" y="322"/>
                    </a:lnTo>
                    <a:lnTo>
                      <a:pt x="224" y="333"/>
                    </a:lnTo>
                    <a:lnTo>
                      <a:pt x="207" y="344"/>
                    </a:lnTo>
                    <a:lnTo>
                      <a:pt x="192" y="353"/>
                    </a:lnTo>
                    <a:lnTo>
                      <a:pt x="174" y="362"/>
                    </a:lnTo>
                    <a:lnTo>
                      <a:pt x="156" y="370"/>
                    </a:lnTo>
                    <a:lnTo>
                      <a:pt x="138" y="377"/>
                    </a:lnTo>
                    <a:lnTo>
                      <a:pt x="119" y="384"/>
                    </a:lnTo>
                    <a:lnTo>
                      <a:pt x="100" y="389"/>
                    </a:lnTo>
                    <a:lnTo>
                      <a:pt x="81" y="393"/>
                    </a:lnTo>
                    <a:lnTo>
                      <a:pt x="61" y="397"/>
                    </a:lnTo>
                    <a:lnTo>
                      <a:pt x="41" y="399"/>
                    </a:lnTo>
                    <a:lnTo>
                      <a:pt x="20" y="401"/>
                    </a:lnTo>
                    <a:lnTo>
                      <a:pt x="0" y="401"/>
                    </a:lnTo>
                    <a:lnTo>
                      <a:pt x="0" y="461"/>
                    </a:lnTo>
                    <a:lnTo>
                      <a:pt x="23" y="460"/>
                    </a:lnTo>
                    <a:lnTo>
                      <a:pt x="46" y="459"/>
                    </a:lnTo>
                    <a:lnTo>
                      <a:pt x="69" y="456"/>
                    </a:lnTo>
                    <a:lnTo>
                      <a:pt x="93" y="452"/>
                    </a:lnTo>
                    <a:lnTo>
                      <a:pt x="115" y="447"/>
                    </a:lnTo>
                    <a:lnTo>
                      <a:pt x="137" y="440"/>
                    </a:lnTo>
                    <a:lnTo>
                      <a:pt x="158" y="433"/>
                    </a:lnTo>
                    <a:lnTo>
                      <a:pt x="179" y="425"/>
                    </a:lnTo>
                    <a:lnTo>
                      <a:pt x="200" y="416"/>
                    </a:lnTo>
                    <a:lnTo>
                      <a:pt x="220" y="406"/>
                    </a:lnTo>
                    <a:lnTo>
                      <a:pt x="239" y="394"/>
                    </a:lnTo>
                    <a:lnTo>
                      <a:pt x="258" y="383"/>
                    </a:lnTo>
                    <a:lnTo>
                      <a:pt x="276" y="370"/>
                    </a:lnTo>
                    <a:lnTo>
                      <a:pt x="294" y="356"/>
                    </a:lnTo>
                    <a:lnTo>
                      <a:pt x="311" y="342"/>
                    </a:lnTo>
                    <a:lnTo>
                      <a:pt x="326" y="326"/>
                    </a:lnTo>
                    <a:lnTo>
                      <a:pt x="341" y="310"/>
                    </a:lnTo>
                    <a:lnTo>
                      <a:pt x="356" y="293"/>
                    </a:lnTo>
                    <a:lnTo>
                      <a:pt x="370" y="275"/>
                    </a:lnTo>
                    <a:lnTo>
                      <a:pt x="383" y="258"/>
                    </a:lnTo>
                    <a:lnTo>
                      <a:pt x="395" y="239"/>
                    </a:lnTo>
                    <a:lnTo>
                      <a:pt x="405" y="220"/>
                    </a:lnTo>
                    <a:lnTo>
                      <a:pt x="416" y="200"/>
                    </a:lnTo>
                    <a:lnTo>
                      <a:pt x="425" y="180"/>
                    </a:lnTo>
                    <a:lnTo>
                      <a:pt x="434" y="159"/>
                    </a:lnTo>
                    <a:lnTo>
                      <a:pt x="441" y="137"/>
                    </a:lnTo>
                    <a:lnTo>
                      <a:pt x="447" y="116"/>
                    </a:lnTo>
                    <a:lnTo>
                      <a:pt x="453" y="93"/>
                    </a:lnTo>
                    <a:lnTo>
                      <a:pt x="457" y="71"/>
                    </a:lnTo>
                    <a:lnTo>
                      <a:pt x="459" y="48"/>
                    </a:lnTo>
                    <a:lnTo>
                      <a:pt x="461" y="25"/>
                    </a:lnTo>
                    <a:lnTo>
                      <a:pt x="462" y="0"/>
                    </a:lnTo>
                    <a:lnTo>
                      <a:pt x="402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2" name="Freeform 289"/>
              <p:cNvSpPr>
                <a:spLocks noChangeArrowheads="1"/>
              </p:cNvSpPr>
              <p:nvPr/>
            </p:nvSpPr>
            <p:spPr bwMode="auto">
              <a:xfrm>
                <a:off x="3079" y="1688"/>
                <a:ext cx="154" cy="153"/>
              </a:xfrm>
              <a:custGeom>
                <a:avLst/>
                <a:gdLst>
                  <a:gd name="T0" fmla="*/ 0 w 462"/>
                  <a:gd name="T1" fmla="*/ 60 h 461"/>
                  <a:gd name="T2" fmla="*/ 41 w 462"/>
                  <a:gd name="T3" fmla="*/ 62 h 461"/>
                  <a:gd name="T4" fmla="*/ 81 w 462"/>
                  <a:gd name="T5" fmla="*/ 69 h 461"/>
                  <a:gd name="T6" fmla="*/ 119 w 462"/>
                  <a:gd name="T7" fmla="*/ 78 h 461"/>
                  <a:gd name="T8" fmla="*/ 156 w 462"/>
                  <a:gd name="T9" fmla="*/ 92 h 461"/>
                  <a:gd name="T10" fmla="*/ 192 w 462"/>
                  <a:gd name="T11" fmla="*/ 109 h 461"/>
                  <a:gd name="T12" fmla="*/ 224 w 462"/>
                  <a:gd name="T13" fmla="*/ 130 h 461"/>
                  <a:gd name="T14" fmla="*/ 256 w 462"/>
                  <a:gd name="T15" fmla="*/ 153 h 461"/>
                  <a:gd name="T16" fmla="*/ 284 w 462"/>
                  <a:gd name="T17" fmla="*/ 178 h 461"/>
                  <a:gd name="T18" fmla="*/ 310 w 462"/>
                  <a:gd name="T19" fmla="*/ 206 h 461"/>
                  <a:gd name="T20" fmla="*/ 333 w 462"/>
                  <a:gd name="T21" fmla="*/ 238 h 461"/>
                  <a:gd name="T22" fmla="*/ 354 w 462"/>
                  <a:gd name="T23" fmla="*/ 270 h 461"/>
                  <a:gd name="T24" fmla="*/ 371 w 462"/>
                  <a:gd name="T25" fmla="*/ 306 h 461"/>
                  <a:gd name="T26" fmla="*/ 384 w 462"/>
                  <a:gd name="T27" fmla="*/ 343 h 461"/>
                  <a:gd name="T28" fmla="*/ 394 w 462"/>
                  <a:gd name="T29" fmla="*/ 381 h 461"/>
                  <a:gd name="T30" fmla="*/ 400 w 462"/>
                  <a:gd name="T31" fmla="*/ 420 h 461"/>
                  <a:gd name="T32" fmla="*/ 402 w 462"/>
                  <a:gd name="T33" fmla="*/ 461 h 461"/>
                  <a:gd name="T34" fmla="*/ 461 w 462"/>
                  <a:gd name="T35" fmla="*/ 438 h 461"/>
                  <a:gd name="T36" fmla="*/ 457 w 462"/>
                  <a:gd name="T37" fmla="*/ 392 h 461"/>
                  <a:gd name="T38" fmla="*/ 447 w 462"/>
                  <a:gd name="T39" fmla="*/ 347 h 461"/>
                  <a:gd name="T40" fmla="*/ 434 w 462"/>
                  <a:gd name="T41" fmla="*/ 303 h 461"/>
                  <a:gd name="T42" fmla="*/ 416 w 462"/>
                  <a:gd name="T43" fmla="*/ 262 h 461"/>
                  <a:gd name="T44" fmla="*/ 395 w 462"/>
                  <a:gd name="T45" fmla="*/ 223 h 461"/>
                  <a:gd name="T46" fmla="*/ 370 w 462"/>
                  <a:gd name="T47" fmla="*/ 186 h 461"/>
                  <a:gd name="T48" fmla="*/ 341 w 462"/>
                  <a:gd name="T49" fmla="*/ 152 h 461"/>
                  <a:gd name="T50" fmla="*/ 311 w 462"/>
                  <a:gd name="T51" fmla="*/ 120 h 461"/>
                  <a:gd name="T52" fmla="*/ 276 w 462"/>
                  <a:gd name="T53" fmla="*/ 93 h 461"/>
                  <a:gd name="T54" fmla="*/ 239 w 462"/>
                  <a:gd name="T55" fmla="*/ 68 h 461"/>
                  <a:gd name="T56" fmla="*/ 200 w 462"/>
                  <a:gd name="T57" fmla="*/ 47 h 461"/>
                  <a:gd name="T58" fmla="*/ 158 w 462"/>
                  <a:gd name="T59" fmla="*/ 29 h 461"/>
                  <a:gd name="T60" fmla="*/ 115 w 462"/>
                  <a:gd name="T61" fmla="*/ 15 h 461"/>
                  <a:gd name="T62" fmla="*/ 69 w 462"/>
                  <a:gd name="T63" fmla="*/ 6 h 461"/>
                  <a:gd name="T64" fmla="*/ 23 w 462"/>
                  <a:gd name="T65" fmla="*/ 2 h 461"/>
                  <a:gd name="T66" fmla="*/ 0 w 462"/>
                  <a:gd name="T67" fmla="*/ 0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62" h="461">
                    <a:moveTo>
                      <a:pt x="0" y="60"/>
                    </a:moveTo>
                    <a:lnTo>
                      <a:pt x="0" y="60"/>
                    </a:lnTo>
                    <a:lnTo>
                      <a:pt x="20" y="61"/>
                    </a:lnTo>
                    <a:lnTo>
                      <a:pt x="41" y="62"/>
                    </a:lnTo>
                    <a:lnTo>
                      <a:pt x="61" y="66"/>
                    </a:lnTo>
                    <a:lnTo>
                      <a:pt x="81" y="69"/>
                    </a:lnTo>
                    <a:lnTo>
                      <a:pt x="100" y="73"/>
                    </a:lnTo>
                    <a:lnTo>
                      <a:pt x="119" y="78"/>
                    </a:lnTo>
                    <a:lnTo>
                      <a:pt x="138" y="84"/>
                    </a:lnTo>
                    <a:lnTo>
                      <a:pt x="156" y="92"/>
                    </a:lnTo>
                    <a:lnTo>
                      <a:pt x="174" y="100"/>
                    </a:lnTo>
                    <a:lnTo>
                      <a:pt x="192" y="109"/>
                    </a:lnTo>
                    <a:lnTo>
                      <a:pt x="207" y="119"/>
                    </a:lnTo>
                    <a:lnTo>
                      <a:pt x="224" y="130"/>
                    </a:lnTo>
                    <a:lnTo>
                      <a:pt x="240" y="140"/>
                    </a:lnTo>
                    <a:lnTo>
                      <a:pt x="256" y="153"/>
                    </a:lnTo>
                    <a:lnTo>
                      <a:pt x="270" y="165"/>
                    </a:lnTo>
                    <a:lnTo>
                      <a:pt x="284" y="178"/>
                    </a:lnTo>
                    <a:lnTo>
                      <a:pt x="297" y="193"/>
                    </a:lnTo>
                    <a:lnTo>
                      <a:pt x="310" y="206"/>
                    </a:lnTo>
                    <a:lnTo>
                      <a:pt x="322" y="222"/>
                    </a:lnTo>
                    <a:lnTo>
                      <a:pt x="333" y="238"/>
                    </a:lnTo>
                    <a:lnTo>
                      <a:pt x="343" y="253"/>
                    </a:lnTo>
                    <a:lnTo>
                      <a:pt x="354" y="270"/>
                    </a:lnTo>
                    <a:lnTo>
                      <a:pt x="362" y="288"/>
                    </a:lnTo>
                    <a:lnTo>
                      <a:pt x="371" y="306"/>
                    </a:lnTo>
                    <a:lnTo>
                      <a:pt x="378" y="324"/>
                    </a:lnTo>
                    <a:lnTo>
                      <a:pt x="384" y="343"/>
                    </a:lnTo>
                    <a:lnTo>
                      <a:pt x="390" y="362"/>
                    </a:lnTo>
                    <a:lnTo>
                      <a:pt x="394" y="381"/>
                    </a:lnTo>
                    <a:lnTo>
                      <a:pt x="397" y="400"/>
                    </a:lnTo>
                    <a:lnTo>
                      <a:pt x="400" y="420"/>
                    </a:lnTo>
                    <a:lnTo>
                      <a:pt x="401" y="440"/>
                    </a:lnTo>
                    <a:lnTo>
                      <a:pt x="402" y="461"/>
                    </a:lnTo>
                    <a:lnTo>
                      <a:pt x="462" y="461"/>
                    </a:lnTo>
                    <a:lnTo>
                      <a:pt x="461" y="438"/>
                    </a:lnTo>
                    <a:lnTo>
                      <a:pt x="459" y="414"/>
                    </a:lnTo>
                    <a:lnTo>
                      <a:pt x="457" y="392"/>
                    </a:lnTo>
                    <a:lnTo>
                      <a:pt x="453" y="369"/>
                    </a:lnTo>
                    <a:lnTo>
                      <a:pt x="447" y="347"/>
                    </a:lnTo>
                    <a:lnTo>
                      <a:pt x="441" y="325"/>
                    </a:lnTo>
                    <a:lnTo>
                      <a:pt x="434" y="303"/>
                    </a:lnTo>
                    <a:lnTo>
                      <a:pt x="425" y="283"/>
                    </a:lnTo>
                    <a:lnTo>
                      <a:pt x="416" y="262"/>
                    </a:lnTo>
                    <a:lnTo>
                      <a:pt x="405" y="242"/>
                    </a:lnTo>
                    <a:lnTo>
                      <a:pt x="395" y="223"/>
                    </a:lnTo>
                    <a:lnTo>
                      <a:pt x="383" y="204"/>
                    </a:lnTo>
                    <a:lnTo>
                      <a:pt x="370" y="186"/>
                    </a:lnTo>
                    <a:lnTo>
                      <a:pt x="356" y="168"/>
                    </a:lnTo>
                    <a:lnTo>
                      <a:pt x="341" y="152"/>
                    </a:lnTo>
                    <a:lnTo>
                      <a:pt x="326" y="136"/>
                    </a:lnTo>
                    <a:lnTo>
                      <a:pt x="311" y="120"/>
                    </a:lnTo>
                    <a:lnTo>
                      <a:pt x="294" y="107"/>
                    </a:lnTo>
                    <a:lnTo>
                      <a:pt x="276" y="93"/>
                    </a:lnTo>
                    <a:lnTo>
                      <a:pt x="258" y="79"/>
                    </a:lnTo>
                    <a:lnTo>
                      <a:pt x="239" y="68"/>
                    </a:lnTo>
                    <a:lnTo>
                      <a:pt x="220" y="56"/>
                    </a:lnTo>
                    <a:lnTo>
                      <a:pt x="200" y="47"/>
                    </a:lnTo>
                    <a:lnTo>
                      <a:pt x="179" y="37"/>
                    </a:lnTo>
                    <a:lnTo>
                      <a:pt x="158" y="29"/>
                    </a:lnTo>
                    <a:lnTo>
                      <a:pt x="137" y="21"/>
                    </a:lnTo>
                    <a:lnTo>
                      <a:pt x="115" y="15"/>
                    </a:lnTo>
                    <a:lnTo>
                      <a:pt x="93" y="10"/>
                    </a:lnTo>
                    <a:lnTo>
                      <a:pt x="69" y="6"/>
                    </a:lnTo>
                    <a:lnTo>
                      <a:pt x="46" y="4"/>
                    </a:lnTo>
                    <a:lnTo>
                      <a:pt x="23" y="2"/>
                    </a:lnTo>
                    <a:lnTo>
                      <a:pt x="0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3" name="Freeform 290"/>
              <p:cNvSpPr>
                <a:spLocks noChangeArrowheads="1"/>
              </p:cNvSpPr>
              <p:nvPr/>
            </p:nvSpPr>
            <p:spPr bwMode="auto">
              <a:xfrm>
                <a:off x="3079" y="1688"/>
                <a:ext cx="1" cy="20"/>
              </a:xfrm>
              <a:custGeom>
                <a:avLst/>
                <a:gdLst>
                  <a:gd name="T0" fmla="*/ 0 w 1"/>
                  <a:gd name="T1" fmla="*/ 60 h 60"/>
                  <a:gd name="T2" fmla="*/ 0 w 1"/>
                  <a:gd name="T3" fmla="*/ 31 h 60"/>
                  <a:gd name="T4" fmla="*/ 0 w 1"/>
                  <a:gd name="T5" fmla="*/ 31 h 60"/>
                  <a:gd name="T6" fmla="*/ 0 w 1"/>
                  <a:gd name="T7" fmla="*/ 31 h 60"/>
                  <a:gd name="T8" fmla="*/ 0 w 1"/>
                  <a:gd name="T9" fmla="*/ 31 h 60"/>
                  <a:gd name="T10" fmla="*/ 0 w 1"/>
                  <a:gd name="T11" fmla="*/ 31 h 60"/>
                  <a:gd name="T12" fmla="*/ 0 w 1"/>
                  <a:gd name="T13" fmla="*/ 31 h 60"/>
                  <a:gd name="T14" fmla="*/ 0 w 1"/>
                  <a:gd name="T15" fmla="*/ 0 h 60"/>
                  <a:gd name="T16" fmla="*/ 0 w 1"/>
                  <a:gd name="T1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60">
                    <a:moveTo>
                      <a:pt x="0" y="60"/>
                    </a:moveTo>
                    <a:lnTo>
                      <a:pt x="0" y="31"/>
                    </a:lnTo>
                    <a:lnTo>
                      <a:pt x="0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4" name="Freeform 291"/>
              <p:cNvSpPr>
                <a:spLocks noChangeArrowheads="1"/>
              </p:cNvSpPr>
              <p:nvPr/>
            </p:nvSpPr>
            <p:spPr bwMode="auto">
              <a:xfrm>
                <a:off x="3079" y="2068"/>
                <a:ext cx="1146" cy="93"/>
              </a:xfrm>
              <a:custGeom>
                <a:avLst/>
                <a:gdLst>
                  <a:gd name="T0" fmla="*/ 3440 w 3440"/>
                  <a:gd name="T1" fmla="*/ 218 h 278"/>
                  <a:gd name="T2" fmla="*/ 4 w 3440"/>
                  <a:gd name="T3" fmla="*/ 0 h 278"/>
                  <a:gd name="T4" fmla="*/ 0 w 3440"/>
                  <a:gd name="T5" fmla="*/ 60 h 278"/>
                  <a:gd name="T6" fmla="*/ 3437 w 3440"/>
                  <a:gd name="T7" fmla="*/ 278 h 278"/>
                  <a:gd name="T8" fmla="*/ 3440 w 3440"/>
                  <a:gd name="T9" fmla="*/ 21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40" h="278">
                    <a:moveTo>
                      <a:pt x="3440" y="218"/>
                    </a:moveTo>
                    <a:lnTo>
                      <a:pt x="4" y="0"/>
                    </a:lnTo>
                    <a:lnTo>
                      <a:pt x="0" y="60"/>
                    </a:lnTo>
                    <a:lnTo>
                      <a:pt x="3437" y="278"/>
                    </a:lnTo>
                    <a:lnTo>
                      <a:pt x="3440" y="218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5" name="Freeform 292"/>
              <p:cNvSpPr>
                <a:spLocks noChangeArrowheads="1"/>
              </p:cNvSpPr>
              <p:nvPr/>
            </p:nvSpPr>
            <p:spPr bwMode="auto">
              <a:xfrm>
                <a:off x="3294" y="1865"/>
                <a:ext cx="57" cy="47"/>
              </a:xfrm>
              <a:custGeom>
                <a:avLst/>
                <a:gdLst>
                  <a:gd name="T0" fmla="*/ 58 w 170"/>
                  <a:gd name="T1" fmla="*/ 141 h 141"/>
                  <a:gd name="T2" fmla="*/ 62 w 170"/>
                  <a:gd name="T3" fmla="*/ 133 h 141"/>
                  <a:gd name="T4" fmla="*/ 65 w 170"/>
                  <a:gd name="T5" fmla="*/ 125 h 141"/>
                  <a:gd name="T6" fmla="*/ 70 w 170"/>
                  <a:gd name="T7" fmla="*/ 116 h 141"/>
                  <a:gd name="T8" fmla="*/ 74 w 170"/>
                  <a:gd name="T9" fmla="*/ 109 h 141"/>
                  <a:gd name="T10" fmla="*/ 80 w 170"/>
                  <a:gd name="T11" fmla="*/ 102 h 141"/>
                  <a:gd name="T12" fmla="*/ 87 w 170"/>
                  <a:gd name="T13" fmla="*/ 94 h 141"/>
                  <a:gd name="T14" fmla="*/ 93 w 170"/>
                  <a:gd name="T15" fmla="*/ 88 h 141"/>
                  <a:gd name="T16" fmla="*/ 100 w 170"/>
                  <a:gd name="T17" fmla="*/ 83 h 141"/>
                  <a:gd name="T18" fmla="*/ 108 w 170"/>
                  <a:gd name="T19" fmla="*/ 77 h 141"/>
                  <a:gd name="T20" fmla="*/ 116 w 170"/>
                  <a:gd name="T21" fmla="*/ 73 h 141"/>
                  <a:gd name="T22" fmla="*/ 125 w 170"/>
                  <a:gd name="T23" fmla="*/ 69 h 141"/>
                  <a:gd name="T24" fmla="*/ 133 w 170"/>
                  <a:gd name="T25" fmla="*/ 66 h 141"/>
                  <a:gd name="T26" fmla="*/ 142 w 170"/>
                  <a:gd name="T27" fmla="*/ 63 h 141"/>
                  <a:gd name="T28" fmla="*/ 151 w 170"/>
                  <a:gd name="T29" fmla="*/ 61 h 141"/>
                  <a:gd name="T30" fmla="*/ 161 w 170"/>
                  <a:gd name="T31" fmla="*/ 60 h 141"/>
                  <a:gd name="T32" fmla="*/ 170 w 170"/>
                  <a:gd name="T33" fmla="*/ 60 h 141"/>
                  <a:gd name="T34" fmla="*/ 170 w 170"/>
                  <a:gd name="T35" fmla="*/ 0 h 141"/>
                  <a:gd name="T36" fmla="*/ 155 w 170"/>
                  <a:gd name="T37" fmla="*/ 1 h 141"/>
                  <a:gd name="T38" fmla="*/ 142 w 170"/>
                  <a:gd name="T39" fmla="*/ 2 h 141"/>
                  <a:gd name="T40" fmla="*/ 127 w 170"/>
                  <a:gd name="T41" fmla="*/ 5 h 141"/>
                  <a:gd name="T42" fmla="*/ 114 w 170"/>
                  <a:gd name="T43" fmla="*/ 9 h 141"/>
                  <a:gd name="T44" fmla="*/ 100 w 170"/>
                  <a:gd name="T45" fmla="*/ 14 h 141"/>
                  <a:gd name="T46" fmla="*/ 88 w 170"/>
                  <a:gd name="T47" fmla="*/ 20 h 141"/>
                  <a:gd name="T48" fmla="*/ 76 w 170"/>
                  <a:gd name="T49" fmla="*/ 27 h 141"/>
                  <a:gd name="T50" fmla="*/ 65 w 170"/>
                  <a:gd name="T51" fmla="*/ 34 h 141"/>
                  <a:gd name="T52" fmla="*/ 54 w 170"/>
                  <a:gd name="T53" fmla="*/ 44 h 141"/>
                  <a:gd name="T54" fmla="*/ 44 w 170"/>
                  <a:gd name="T55" fmla="*/ 53 h 141"/>
                  <a:gd name="T56" fmla="*/ 34 w 170"/>
                  <a:gd name="T57" fmla="*/ 63 h 141"/>
                  <a:gd name="T58" fmla="*/ 26 w 170"/>
                  <a:gd name="T59" fmla="*/ 74 h 141"/>
                  <a:gd name="T60" fmla="*/ 18 w 170"/>
                  <a:gd name="T61" fmla="*/ 86 h 141"/>
                  <a:gd name="T62" fmla="*/ 11 w 170"/>
                  <a:gd name="T63" fmla="*/ 98 h 141"/>
                  <a:gd name="T64" fmla="*/ 6 w 170"/>
                  <a:gd name="T65" fmla="*/ 111 h 141"/>
                  <a:gd name="T66" fmla="*/ 0 w 170"/>
                  <a:gd name="T67" fmla="*/ 125 h 141"/>
                  <a:gd name="T68" fmla="*/ 58 w 170"/>
                  <a:gd name="T69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0" h="141">
                    <a:moveTo>
                      <a:pt x="58" y="141"/>
                    </a:moveTo>
                    <a:lnTo>
                      <a:pt x="62" y="133"/>
                    </a:lnTo>
                    <a:lnTo>
                      <a:pt x="65" y="125"/>
                    </a:lnTo>
                    <a:lnTo>
                      <a:pt x="70" y="116"/>
                    </a:lnTo>
                    <a:lnTo>
                      <a:pt x="74" y="109"/>
                    </a:lnTo>
                    <a:lnTo>
                      <a:pt x="80" y="102"/>
                    </a:lnTo>
                    <a:lnTo>
                      <a:pt x="87" y="94"/>
                    </a:lnTo>
                    <a:lnTo>
                      <a:pt x="93" y="88"/>
                    </a:lnTo>
                    <a:lnTo>
                      <a:pt x="100" y="83"/>
                    </a:lnTo>
                    <a:lnTo>
                      <a:pt x="108" y="77"/>
                    </a:lnTo>
                    <a:lnTo>
                      <a:pt x="116" y="73"/>
                    </a:lnTo>
                    <a:lnTo>
                      <a:pt x="125" y="69"/>
                    </a:lnTo>
                    <a:lnTo>
                      <a:pt x="133" y="66"/>
                    </a:lnTo>
                    <a:lnTo>
                      <a:pt x="142" y="63"/>
                    </a:lnTo>
                    <a:lnTo>
                      <a:pt x="151" y="61"/>
                    </a:lnTo>
                    <a:lnTo>
                      <a:pt x="161" y="60"/>
                    </a:lnTo>
                    <a:lnTo>
                      <a:pt x="170" y="60"/>
                    </a:lnTo>
                    <a:lnTo>
                      <a:pt x="170" y="0"/>
                    </a:lnTo>
                    <a:lnTo>
                      <a:pt x="155" y="1"/>
                    </a:lnTo>
                    <a:lnTo>
                      <a:pt x="142" y="2"/>
                    </a:lnTo>
                    <a:lnTo>
                      <a:pt x="127" y="5"/>
                    </a:lnTo>
                    <a:lnTo>
                      <a:pt x="114" y="9"/>
                    </a:lnTo>
                    <a:lnTo>
                      <a:pt x="100" y="14"/>
                    </a:lnTo>
                    <a:lnTo>
                      <a:pt x="88" y="20"/>
                    </a:lnTo>
                    <a:lnTo>
                      <a:pt x="76" y="27"/>
                    </a:lnTo>
                    <a:lnTo>
                      <a:pt x="65" y="34"/>
                    </a:lnTo>
                    <a:lnTo>
                      <a:pt x="54" y="44"/>
                    </a:lnTo>
                    <a:lnTo>
                      <a:pt x="44" y="53"/>
                    </a:lnTo>
                    <a:lnTo>
                      <a:pt x="34" y="63"/>
                    </a:lnTo>
                    <a:lnTo>
                      <a:pt x="26" y="74"/>
                    </a:lnTo>
                    <a:lnTo>
                      <a:pt x="18" y="86"/>
                    </a:lnTo>
                    <a:lnTo>
                      <a:pt x="11" y="98"/>
                    </a:lnTo>
                    <a:lnTo>
                      <a:pt x="6" y="111"/>
                    </a:lnTo>
                    <a:lnTo>
                      <a:pt x="0" y="125"/>
                    </a:lnTo>
                    <a:lnTo>
                      <a:pt x="58" y="141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6" name="Freeform 293"/>
              <p:cNvSpPr>
                <a:spLocks noChangeArrowheads="1"/>
              </p:cNvSpPr>
              <p:nvPr/>
            </p:nvSpPr>
            <p:spPr bwMode="auto">
              <a:xfrm>
                <a:off x="3888" y="1865"/>
                <a:ext cx="57" cy="50"/>
              </a:xfrm>
              <a:custGeom>
                <a:avLst/>
                <a:gdLst>
                  <a:gd name="T0" fmla="*/ 0 w 172"/>
                  <a:gd name="T1" fmla="*/ 60 h 149"/>
                  <a:gd name="T2" fmla="*/ 11 w 172"/>
                  <a:gd name="T3" fmla="*/ 60 h 149"/>
                  <a:gd name="T4" fmla="*/ 20 w 172"/>
                  <a:gd name="T5" fmla="*/ 62 h 149"/>
                  <a:gd name="T6" fmla="*/ 30 w 172"/>
                  <a:gd name="T7" fmla="*/ 64 h 149"/>
                  <a:gd name="T8" fmla="*/ 39 w 172"/>
                  <a:gd name="T9" fmla="*/ 66 h 149"/>
                  <a:gd name="T10" fmla="*/ 47 w 172"/>
                  <a:gd name="T11" fmla="*/ 70 h 149"/>
                  <a:gd name="T12" fmla="*/ 56 w 172"/>
                  <a:gd name="T13" fmla="*/ 74 h 149"/>
                  <a:gd name="T14" fmla="*/ 64 w 172"/>
                  <a:gd name="T15" fmla="*/ 80 h 149"/>
                  <a:gd name="T16" fmla="*/ 73 w 172"/>
                  <a:gd name="T17" fmla="*/ 85 h 149"/>
                  <a:gd name="T18" fmla="*/ 80 w 172"/>
                  <a:gd name="T19" fmla="*/ 91 h 149"/>
                  <a:gd name="T20" fmla="*/ 86 w 172"/>
                  <a:gd name="T21" fmla="*/ 98 h 149"/>
                  <a:gd name="T22" fmla="*/ 93 w 172"/>
                  <a:gd name="T23" fmla="*/ 106 h 149"/>
                  <a:gd name="T24" fmla="*/ 98 w 172"/>
                  <a:gd name="T25" fmla="*/ 113 h 149"/>
                  <a:gd name="T26" fmla="*/ 103 w 172"/>
                  <a:gd name="T27" fmla="*/ 122 h 149"/>
                  <a:gd name="T28" fmla="*/ 107 w 172"/>
                  <a:gd name="T29" fmla="*/ 130 h 149"/>
                  <a:gd name="T30" fmla="*/ 111 w 172"/>
                  <a:gd name="T31" fmla="*/ 139 h 149"/>
                  <a:gd name="T32" fmla="*/ 114 w 172"/>
                  <a:gd name="T33" fmla="*/ 149 h 149"/>
                  <a:gd name="T34" fmla="*/ 172 w 172"/>
                  <a:gd name="T35" fmla="*/ 135 h 149"/>
                  <a:gd name="T36" fmla="*/ 167 w 172"/>
                  <a:gd name="T37" fmla="*/ 121 h 149"/>
                  <a:gd name="T38" fmla="*/ 162 w 172"/>
                  <a:gd name="T39" fmla="*/ 107 h 149"/>
                  <a:gd name="T40" fmla="*/ 156 w 172"/>
                  <a:gd name="T41" fmla="*/ 93 h 149"/>
                  <a:gd name="T42" fmla="*/ 149 w 172"/>
                  <a:gd name="T43" fmla="*/ 81 h 149"/>
                  <a:gd name="T44" fmla="*/ 140 w 172"/>
                  <a:gd name="T45" fmla="*/ 69 h 149"/>
                  <a:gd name="T46" fmla="*/ 131 w 172"/>
                  <a:gd name="T47" fmla="*/ 58 h 149"/>
                  <a:gd name="T48" fmla="*/ 120 w 172"/>
                  <a:gd name="T49" fmla="*/ 47 h 149"/>
                  <a:gd name="T50" fmla="*/ 110 w 172"/>
                  <a:gd name="T51" fmla="*/ 39 h 149"/>
                  <a:gd name="T52" fmla="*/ 98 w 172"/>
                  <a:gd name="T53" fmla="*/ 29 h 149"/>
                  <a:gd name="T54" fmla="*/ 85 w 172"/>
                  <a:gd name="T55" fmla="*/ 22 h 149"/>
                  <a:gd name="T56" fmla="*/ 73 w 172"/>
                  <a:gd name="T57" fmla="*/ 16 h 149"/>
                  <a:gd name="T58" fmla="*/ 59 w 172"/>
                  <a:gd name="T59" fmla="*/ 10 h 149"/>
                  <a:gd name="T60" fmla="*/ 44 w 172"/>
                  <a:gd name="T61" fmla="*/ 6 h 149"/>
                  <a:gd name="T62" fmla="*/ 31 w 172"/>
                  <a:gd name="T63" fmla="*/ 3 h 149"/>
                  <a:gd name="T64" fmla="*/ 15 w 172"/>
                  <a:gd name="T65" fmla="*/ 1 h 149"/>
                  <a:gd name="T66" fmla="*/ 0 w 172"/>
                  <a:gd name="T67" fmla="*/ 0 h 149"/>
                  <a:gd name="T68" fmla="*/ 0 w 172"/>
                  <a:gd name="T69" fmla="*/ 6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2" h="149">
                    <a:moveTo>
                      <a:pt x="0" y="60"/>
                    </a:moveTo>
                    <a:lnTo>
                      <a:pt x="11" y="60"/>
                    </a:lnTo>
                    <a:lnTo>
                      <a:pt x="20" y="62"/>
                    </a:lnTo>
                    <a:lnTo>
                      <a:pt x="30" y="64"/>
                    </a:lnTo>
                    <a:lnTo>
                      <a:pt x="39" y="66"/>
                    </a:lnTo>
                    <a:lnTo>
                      <a:pt x="47" y="70"/>
                    </a:lnTo>
                    <a:lnTo>
                      <a:pt x="56" y="74"/>
                    </a:lnTo>
                    <a:lnTo>
                      <a:pt x="64" y="80"/>
                    </a:lnTo>
                    <a:lnTo>
                      <a:pt x="73" y="85"/>
                    </a:lnTo>
                    <a:lnTo>
                      <a:pt x="80" y="91"/>
                    </a:lnTo>
                    <a:lnTo>
                      <a:pt x="86" y="98"/>
                    </a:lnTo>
                    <a:lnTo>
                      <a:pt x="93" y="106"/>
                    </a:lnTo>
                    <a:lnTo>
                      <a:pt x="98" y="113"/>
                    </a:lnTo>
                    <a:lnTo>
                      <a:pt x="103" y="122"/>
                    </a:lnTo>
                    <a:lnTo>
                      <a:pt x="107" y="130"/>
                    </a:lnTo>
                    <a:lnTo>
                      <a:pt x="111" y="139"/>
                    </a:lnTo>
                    <a:lnTo>
                      <a:pt x="114" y="149"/>
                    </a:lnTo>
                    <a:lnTo>
                      <a:pt x="172" y="135"/>
                    </a:lnTo>
                    <a:lnTo>
                      <a:pt x="167" y="121"/>
                    </a:lnTo>
                    <a:lnTo>
                      <a:pt x="162" y="107"/>
                    </a:lnTo>
                    <a:lnTo>
                      <a:pt x="156" y="93"/>
                    </a:lnTo>
                    <a:lnTo>
                      <a:pt x="149" y="81"/>
                    </a:lnTo>
                    <a:lnTo>
                      <a:pt x="140" y="69"/>
                    </a:lnTo>
                    <a:lnTo>
                      <a:pt x="131" y="58"/>
                    </a:lnTo>
                    <a:lnTo>
                      <a:pt x="120" y="47"/>
                    </a:lnTo>
                    <a:lnTo>
                      <a:pt x="110" y="39"/>
                    </a:lnTo>
                    <a:lnTo>
                      <a:pt x="98" y="29"/>
                    </a:lnTo>
                    <a:lnTo>
                      <a:pt x="85" y="22"/>
                    </a:lnTo>
                    <a:lnTo>
                      <a:pt x="73" y="16"/>
                    </a:lnTo>
                    <a:lnTo>
                      <a:pt x="59" y="10"/>
                    </a:lnTo>
                    <a:lnTo>
                      <a:pt x="44" y="6"/>
                    </a:lnTo>
                    <a:lnTo>
                      <a:pt x="31" y="3"/>
                    </a:lnTo>
                    <a:lnTo>
                      <a:pt x="15" y="1"/>
                    </a:lnTo>
                    <a:lnTo>
                      <a:pt x="0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7" name="Freeform 294"/>
              <p:cNvSpPr>
                <a:spLocks noChangeArrowheads="1"/>
              </p:cNvSpPr>
              <p:nvPr/>
            </p:nvSpPr>
            <p:spPr bwMode="auto">
              <a:xfrm>
                <a:off x="3888" y="187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8" name="Rectangle 295"/>
              <p:cNvSpPr>
                <a:spLocks noChangeArrowheads="1"/>
              </p:cNvSpPr>
              <p:nvPr/>
            </p:nvSpPr>
            <p:spPr bwMode="auto">
              <a:xfrm>
                <a:off x="3351" y="1865"/>
                <a:ext cx="537" cy="2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9" name="Freeform 296"/>
              <p:cNvSpPr>
                <a:spLocks noChangeArrowheads="1"/>
              </p:cNvSpPr>
              <p:nvPr/>
            </p:nvSpPr>
            <p:spPr bwMode="auto">
              <a:xfrm>
                <a:off x="3069" y="1489"/>
                <a:ext cx="1061" cy="129"/>
              </a:xfrm>
              <a:custGeom>
                <a:avLst/>
                <a:gdLst>
                  <a:gd name="T0" fmla="*/ 3174 w 3181"/>
                  <a:gd name="T1" fmla="*/ 0 h 387"/>
                  <a:gd name="T2" fmla="*/ 0 w 3181"/>
                  <a:gd name="T3" fmla="*/ 327 h 387"/>
                  <a:gd name="T4" fmla="*/ 7 w 3181"/>
                  <a:gd name="T5" fmla="*/ 387 h 387"/>
                  <a:gd name="T6" fmla="*/ 3181 w 3181"/>
                  <a:gd name="T7" fmla="*/ 60 h 387"/>
                  <a:gd name="T8" fmla="*/ 3174 w 3181"/>
                  <a:gd name="T9" fmla="*/ 0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81" h="387">
                    <a:moveTo>
                      <a:pt x="3174" y="0"/>
                    </a:moveTo>
                    <a:lnTo>
                      <a:pt x="0" y="327"/>
                    </a:lnTo>
                    <a:lnTo>
                      <a:pt x="7" y="387"/>
                    </a:lnTo>
                    <a:lnTo>
                      <a:pt x="3181" y="60"/>
                    </a:lnTo>
                    <a:lnTo>
                      <a:pt x="3174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0" name="Freeform 297"/>
              <p:cNvSpPr>
                <a:spLocks noChangeArrowheads="1"/>
              </p:cNvSpPr>
              <p:nvPr/>
            </p:nvSpPr>
            <p:spPr bwMode="auto">
              <a:xfrm>
                <a:off x="3294" y="1768"/>
                <a:ext cx="56" cy="47"/>
              </a:xfrm>
              <a:custGeom>
                <a:avLst/>
                <a:gdLst>
                  <a:gd name="T0" fmla="*/ 169 w 169"/>
                  <a:gd name="T1" fmla="*/ 81 h 141"/>
                  <a:gd name="T2" fmla="*/ 159 w 169"/>
                  <a:gd name="T3" fmla="*/ 81 h 141"/>
                  <a:gd name="T4" fmla="*/ 150 w 169"/>
                  <a:gd name="T5" fmla="*/ 80 h 141"/>
                  <a:gd name="T6" fmla="*/ 141 w 169"/>
                  <a:gd name="T7" fmla="*/ 78 h 141"/>
                  <a:gd name="T8" fmla="*/ 132 w 169"/>
                  <a:gd name="T9" fmla="*/ 75 h 141"/>
                  <a:gd name="T10" fmla="*/ 124 w 169"/>
                  <a:gd name="T11" fmla="*/ 72 h 141"/>
                  <a:gd name="T12" fmla="*/ 115 w 169"/>
                  <a:gd name="T13" fmla="*/ 68 h 141"/>
                  <a:gd name="T14" fmla="*/ 108 w 169"/>
                  <a:gd name="T15" fmla="*/ 64 h 141"/>
                  <a:gd name="T16" fmla="*/ 100 w 169"/>
                  <a:gd name="T17" fmla="*/ 59 h 141"/>
                  <a:gd name="T18" fmla="*/ 93 w 169"/>
                  <a:gd name="T19" fmla="*/ 52 h 141"/>
                  <a:gd name="T20" fmla="*/ 87 w 169"/>
                  <a:gd name="T21" fmla="*/ 47 h 141"/>
                  <a:gd name="T22" fmla="*/ 80 w 169"/>
                  <a:gd name="T23" fmla="*/ 40 h 141"/>
                  <a:gd name="T24" fmla="*/ 74 w 169"/>
                  <a:gd name="T25" fmla="*/ 32 h 141"/>
                  <a:gd name="T26" fmla="*/ 70 w 169"/>
                  <a:gd name="T27" fmla="*/ 25 h 141"/>
                  <a:gd name="T28" fmla="*/ 65 w 169"/>
                  <a:gd name="T29" fmla="*/ 18 h 141"/>
                  <a:gd name="T30" fmla="*/ 61 w 169"/>
                  <a:gd name="T31" fmla="*/ 9 h 141"/>
                  <a:gd name="T32" fmla="*/ 58 w 169"/>
                  <a:gd name="T33" fmla="*/ 0 h 141"/>
                  <a:gd name="T34" fmla="*/ 0 w 169"/>
                  <a:gd name="T35" fmla="*/ 18 h 141"/>
                  <a:gd name="T36" fmla="*/ 6 w 169"/>
                  <a:gd name="T37" fmla="*/ 31 h 141"/>
                  <a:gd name="T38" fmla="*/ 12 w 169"/>
                  <a:gd name="T39" fmla="*/ 44 h 141"/>
                  <a:gd name="T40" fmla="*/ 18 w 169"/>
                  <a:gd name="T41" fmla="*/ 57 h 141"/>
                  <a:gd name="T42" fmla="*/ 26 w 169"/>
                  <a:gd name="T43" fmla="*/ 68 h 141"/>
                  <a:gd name="T44" fmla="*/ 34 w 169"/>
                  <a:gd name="T45" fmla="*/ 79 h 141"/>
                  <a:gd name="T46" fmla="*/ 44 w 169"/>
                  <a:gd name="T47" fmla="*/ 89 h 141"/>
                  <a:gd name="T48" fmla="*/ 54 w 169"/>
                  <a:gd name="T49" fmla="*/ 99 h 141"/>
                  <a:gd name="T50" fmla="*/ 65 w 169"/>
                  <a:gd name="T51" fmla="*/ 107 h 141"/>
                  <a:gd name="T52" fmla="*/ 76 w 169"/>
                  <a:gd name="T53" fmla="*/ 114 h 141"/>
                  <a:gd name="T54" fmla="*/ 88 w 169"/>
                  <a:gd name="T55" fmla="*/ 122 h 141"/>
                  <a:gd name="T56" fmla="*/ 100 w 169"/>
                  <a:gd name="T57" fmla="*/ 127 h 141"/>
                  <a:gd name="T58" fmla="*/ 113 w 169"/>
                  <a:gd name="T59" fmla="*/ 132 h 141"/>
                  <a:gd name="T60" fmla="*/ 127 w 169"/>
                  <a:gd name="T61" fmla="*/ 135 h 141"/>
                  <a:gd name="T62" fmla="*/ 140 w 169"/>
                  <a:gd name="T63" fmla="*/ 138 h 141"/>
                  <a:gd name="T64" fmla="*/ 155 w 169"/>
                  <a:gd name="T65" fmla="*/ 141 h 141"/>
                  <a:gd name="T66" fmla="*/ 169 w 169"/>
                  <a:gd name="T67" fmla="*/ 141 h 141"/>
                  <a:gd name="T68" fmla="*/ 169 w 169"/>
                  <a:gd name="T69" fmla="*/ 8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9" h="141">
                    <a:moveTo>
                      <a:pt x="169" y="81"/>
                    </a:moveTo>
                    <a:lnTo>
                      <a:pt x="159" y="81"/>
                    </a:lnTo>
                    <a:lnTo>
                      <a:pt x="150" y="80"/>
                    </a:lnTo>
                    <a:lnTo>
                      <a:pt x="141" y="78"/>
                    </a:lnTo>
                    <a:lnTo>
                      <a:pt x="132" y="75"/>
                    </a:lnTo>
                    <a:lnTo>
                      <a:pt x="124" y="72"/>
                    </a:lnTo>
                    <a:lnTo>
                      <a:pt x="115" y="68"/>
                    </a:lnTo>
                    <a:lnTo>
                      <a:pt x="108" y="64"/>
                    </a:lnTo>
                    <a:lnTo>
                      <a:pt x="100" y="59"/>
                    </a:lnTo>
                    <a:lnTo>
                      <a:pt x="93" y="52"/>
                    </a:lnTo>
                    <a:lnTo>
                      <a:pt x="87" y="47"/>
                    </a:lnTo>
                    <a:lnTo>
                      <a:pt x="80" y="40"/>
                    </a:lnTo>
                    <a:lnTo>
                      <a:pt x="74" y="32"/>
                    </a:lnTo>
                    <a:lnTo>
                      <a:pt x="70" y="25"/>
                    </a:lnTo>
                    <a:lnTo>
                      <a:pt x="65" y="18"/>
                    </a:lnTo>
                    <a:lnTo>
                      <a:pt x="61" y="9"/>
                    </a:lnTo>
                    <a:lnTo>
                      <a:pt x="58" y="0"/>
                    </a:lnTo>
                    <a:lnTo>
                      <a:pt x="0" y="18"/>
                    </a:lnTo>
                    <a:lnTo>
                      <a:pt x="6" y="31"/>
                    </a:lnTo>
                    <a:lnTo>
                      <a:pt x="12" y="44"/>
                    </a:lnTo>
                    <a:lnTo>
                      <a:pt x="18" y="57"/>
                    </a:lnTo>
                    <a:lnTo>
                      <a:pt x="26" y="68"/>
                    </a:lnTo>
                    <a:lnTo>
                      <a:pt x="34" y="79"/>
                    </a:lnTo>
                    <a:lnTo>
                      <a:pt x="44" y="89"/>
                    </a:lnTo>
                    <a:lnTo>
                      <a:pt x="54" y="99"/>
                    </a:lnTo>
                    <a:lnTo>
                      <a:pt x="65" y="107"/>
                    </a:lnTo>
                    <a:lnTo>
                      <a:pt x="76" y="114"/>
                    </a:lnTo>
                    <a:lnTo>
                      <a:pt x="88" y="122"/>
                    </a:lnTo>
                    <a:lnTo>
                      <a:pt x="100" y="127"/>
                    </a:lnTo>
                    <a:lnTo>
                      <a:pt x="113" y="132"/>
                    </a:lnTo>
                    <a:lnTo>
                      <a:pt x="127" y="135"/>
                    </a:lnTo>
                    <a:lnTo>
                      <a:pt x="140" y="138"/>
                    </a:lnTo>
                    <a:lnTo>
                      <a:pt x="155" y="141"/>
                    </a:lnTo>
                    <a:lnTo>
                      <a:pt x="169" y="141"/>
                    </a:lnTo>
                    <a:lnTo>
                      <a:pt x="169" y="81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1" name="Freeform 298"/>
              <p:cNvSpPr>
                <a:spLocks noChangeArrowheads="1"/>
              </p:cNvSpPr>
              <p:nvPr/>
            </p:nvSpPr>
            <p:spPr bwMode="auto">
              <a:xfrm>
                <a:off x="3350" y="18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2" name="Freeform 299"/>
              <p:cNvSpPr>
                <a:spLocks noChangeArrowheads="1"/>
              </p:cNvSpPr>
              <p:nvPr/>
            </p:nvSpPr>
            <p:spPr bwMode="auto">
              <a:xfrm>
                <a:off x="3888" y="1766"/>
                <a:ext cx="58" cy="49"/>
              </a:xfrm>
              <a:custGeom>
                <a:avLst/>
                <a:gdLst>
                  <a:gd name="T0" fmla="*/ 114 w 172"/>
                  <a:gd name="T1" fmla="*/ 0 h 147"/>
                  <a:gd name="T2" fmla="*/ 111 w 172"/>
                  <a:gd name="T3" fmla="*/ 8 h 147"/>
                  <a:gd name="T4" fmla="*/ 108 w 172"/>
                  <a:gd name="T5" fmla="*/ 17 h 147"/>
                  <a:gd name="T6" fmla="*/ 103 w 172"/>
                  <a:gd name="T7" fmla="*/ 26 h 147"/>
                  <a:gd name="T8" fmla="*/ 98 w 172"/>
                  <a:gd name="T9" fmla="*/ 34 h 147"/>
                  <a:gd name="T10" fmla="*/ 93 w 172"/>
                  <a:gd name="T11" fmla="*/ 42 h 147"/>
                  <a:gd name="T12" fmla="*/ 86 w 172"/>
                  <a:gd name="T13" fmla="*/ 49 h 147"/>
                  <a:gd name="T14" fmla="*/ 80 w 172"/>
                  <a:gd name="T15" fmla="*/ 56 h 147"/>
                  <a:gd name="T16" fmla="*/ 73 w 172"/>
                  <a:gd name="T17" fmla="*/ 63 h 147"/>
                  <a:gd name="T18" fmla="*/ 64 w 172"/>
                  <a:gd name="T19" fmla="*/ 68 h 147"/>
                  <a:gd name="T20" fmla="*/ 56 w 172"/>
                  <a:gd name="T21" fmla="*/ 73 h 147"/>
                  <a:gd name="T22" fmla="*/ 48 w 172"/>
                  <a:gd name="T23" fmla="*/ 77 h 147"/>
                  <a:gd name="T24" fmla="*/ 39 w 172"/>
                  <a:gd name="T25" fmla="*/ 80 h 147"/>
                  <a:gd name="T26" fmla="*/ 30 w 172"/>
                  <a:gd name="T27" fmla="*/ 84 h 147"/>
                  <a:gd name="T28" fmla="*/ 20 w 172"/>
                  <a:gd name="T29" fmla="*/ 86 h 147"/>
                  <a:gd name="T30" fmla="*/ 11 w 172"/>
                  <a:gd name="T31" fmla="*/ 87 h 147"/>
                  <a:gd name="T32" fmla="*/ 0 w 172"/>
                  <a:gd name="T33" fmla="*/ 87 h 147"/>
                  <a:gd name="T34" fmla="*/ 0 w 172"/>
                  <a:gd name="T35" fmla="*/ 147 h 147"/>
                  <a:gd name="T36" fmla="*/ 15 w 172"/>
                  <a:gd name="T37" fmla="*/ 147 h 147"/>
                  <a:gd name="T38" fmla="*/ 30 w 172"/>
                  <a:gd name="T39" fmla="*/ 144 h 147"/>
                  <a:gd name="T40" fmla="*/ 44 w 172"/>
                  <a:gd name="T41" fmla="*/ 141 h 147"/>
                  <a:gd name="T42" fmla="*/ 59 w 172"/>
                  <a:gd name="T43" fmla="*/ 137 h 147"/>
                  <a:gd name="T44" fmla="*/ 72 w 172"/>
                  <a:gd name="T45" fmla="*/ 132 h 147"/>
                  <a:gd name="T46" fmla="*/ 85 w 172"/>
                  <a:gd name="T47" fmla="*/ 126 h 147"/>
                  <a:gd name="T48" fmla="*/ 98 w 172"/>
                  <a:gd name="T49" fmla="*/ 117 h 147"/>
                  <a:gd name="T50" fmla="*/ 110 w 172"/>
                  <a:gd name="T51" fmla="*/ 109 h 147"/>
                  <a:gd name="T52" fmla="*/ 120 w 172"/>
                  <a:gd name="T53" fmla="*/ 100 h 147"/>
                  <a:gd name="T54" fmla="*/ 131 w 172"/>
                  <a:gd name="T55" fmla="*/ 90 h 147"/>
                  <a:gd name="T56" fmla="*/ 140 w 172"/>
                  <a:gd name="T57" fmla="*/ 78 h 147"/>
                  <a:gd name="T58" fmla="*/ 149 w 172"/>
                  <a:gd name="T59" fmla="*/ 67 h 147"/>
                  <a:gd name="T60" fmla="*/ 156 w 172"/>
                  <a:gd name="T61" fmla="*/ 54 h 147"/>
                  <a:gd name="T62" fmla="*/ 162 w 172"/>
                  <a:gd name="T63" fmla="*/ 42 h 147"/>
                  <a:gd name="T64" fmla="*/ 168 w 172"/>
                  <a:gd name="T65" fmla="*/ 27 h 147"/>
                  <a:gd name="T66" fmla="*/ 172 w 172"/>
                  <a:gd name="T67" fmla="*/ 13 h 147"/>
                  <a:gd name="T68" fmla="*/ 114 w 172"/>
                  <a:gd name="T69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2" h="147">
                    <a:moveTo>
                      <a:pt x="114" y="0"/>
                    </a:moveTo>
                    <a:lnTo>
                      <a:pt x="111" y="8"/>
                    </a:lnTo>
                    <a:lnTo>
                      <a:pt x="108" y="17"/>
                    </a:lnTo>
                    <a:lnTo>
                      <a:pt x="103" y="26"/>
                    </a:lnTo>
                    <a:lnTo>
                      <a:pt x="98" y="34"/>
                    </a:lnTo>
                    <a:lnTo>
                      <a:pt x="93" y="42"/>
                    </a:lnTo>
                    <a:lnTo>
                      <a:pt x="86" y="49"/>
                    </a:lnTo>
                    <a:lnTo>
                      <a:pt x="80" y="56"/>
                    </a:lnTo>
                    <a:lnTo>
                      <a:pt x="73" y="63"/>
                    </a:lnTo>
                    <a:lnTo>
                      <a:pt x="64" y="68"/>
                    </a:lnTo>
                    <a:lnTo>
                      <a:pt x="56" y="73"/>
                    </a:lnTo>
                    <a:lnTo>
                      <a:pt x="48" y="77"/>
                    </a:lnTo>
                    <a:lnTo>
                      <a:pt x="39" y="80"/>
                    </a:lnTo>
                    <a:lnTo>
                      <a:pt x="30" y="84"/>
                    </a:lnTo>
                    <a:lnTo>
                      <a:pt x="20" y="86"/>
                    </a:lnTo>
                    <a:lnTo>
                      <a:pt x="11" y="87"/>
                    </a:lnTo>
                    <a:lnTo>
                      <a:pt x="0" y="87"/>
                    </a:lnTo>
                    <a:lnTo>
                      <a:pt x="0" y="147"/>
                    </a:lnTo>
                    <a:lnTo>
                      <a:pt x="15" y="147"/>
                    </a:lnTo>
                    <a:lnTo>
                      <a:pt x="30" y="144"/>
                    </a:lnTo>
                    <a:lnTo>
                      <a:pt x="44" y="141"/>
                    </a:lnTo>
                    <a:lnTo>
                      <a:pt x="59" y="137"/>
                    </a:lnTo>
                    <a:lnTo>
                      <a:pt x="72" y="132"/>
                    </a:lnTo>
                    <a:lnTo>
                      <a:pt x="85" y="126"/>
                    </a:lnTo>
                    <a:lnTo>
                      <a:pt x="98" y="117"/>
                    </a:lnTo>
                    <a:lnTo>
                      <a:pt x="110" y="109"/>
                    </a:lnTo>
                    <a:lnTo>
                      <a:pt x="120" y="100"/>
                    </a:lnTo>
                    <a:lnTo>
                      <a:pt x="131" y="90"/>
                    </a:lnTo>
                    <a:lnTo>
                      <a:pt x="140" y="78"/>
                    </a:lnTo>
                    <a:lnTo>
                      <a:pt x="149" y="67"/>
                    </a:lnTo>
                    <a:lnTo>
                      <a:pt x="156" y="54"/>
                    </a:lnTo>
                    <a:lnTo>
                      <a:pt x="162" y="42"/>
                    </a:lnTo>
                    <a:lnTo>
                      <a:pt x="168" y="27"/>
                    </a:lnTo>
                    <a:lnTo>
                      <a:pt x="172" y="13"/>
                    </a:lnTo>
                    <a:lnTo>
                      <a:pt x="114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3" name="Rectangle 300"/>
              <p:cNvSpPr>
                <a:spLocks noChangeArrowheads="1"/>
              </p:cNvSpPr>
              <p:nvPr/>
            </p:nvSpPr>
            <p:spPr bwMode="auto">
              <a:xfrm>
                <a:off x="3350" y="1795"/>
                <a:ext cx="538" cy="2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4" name="Rectangle 301"/>
              <p:cNvSpPr>
                <a:spLocks noChangeArrowheads="1"/>
              </p:cNvSpPr>
              <p:nvPr/>
            </p:nvSpPr>
            <p:spPr bwMode="auto">
              <a:xfrm>
                <a:off x="4245" y="1444"/>
                <a:ext cx="7" cy="176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5" name="Rectangle 302"/>
              <p:cNvSpPr>
                <a:spLocks noChangeArrowheads="1"/>
              </p:cNvSpPr>
              <p:nvPr/>
            </p:nvSpPr>
            <p:spPr bwMode="auto">
              <a:xfrm>
                <a:off x="4245" y="1641"/>
                <a:ext cx="7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6" name="Rectangle 303"/>
              <p:cNvSpPr>
                <a:spLocks noChangeArrowheads="1"/>
              </p:cNvSpPr>
              <p:nvPr/>
            </p:nvSpPr>
            <p:spPr bwMode="auto">
              <a:xfrm>
                <a:off x="4245" y="1683"/>
                <a:ext cx="7" cy="175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7" name="Rectangle 304"/>
              <p:cNvSpPr>
                <a:spLocks noChangeArrowheads="1"/>
              </p:cNvSpPr>
              <p:nvPr/>
            </p:nvSpPr>
            <p:spPr bwMode="auto">
              <a:xfrm>
                <a:off x="4245" y="1879"/>
                <a:ext cx="7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8" name="Rectangle 305"/>
              <p:cNvSpPr>
                <a:spLocks noChangeArrowheads="1"/>
              </p:cNvSpPr>
              <p:nvPr/>
            </p:nvSpPr>
            <p:spPr bwMode="auto">
              <a:xfrm>
                <a:off x="4245" y="1921"/>
                <a:ext cx="7" cy="176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9" name="Rectangle 306"/>
              <p:cNvSpPr>
                <a:spLocks noChangeArrowheads="1"/>
              </p:cNvSpPr>
              <p:nvPr/>
            </p:nvSpPr>
            <p:spPr bwMode="auto">
              <a:xfrm>
                <a:off x="4245" y="2118"/>
                <a:ext cx="7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0" name="Rectangle 307"/>
              <p:cNvSpPr>
                <a:spLocks noChangeArrowheads="1"/>
              </p:cNvSpPr>
              <p:nvPr/>
            </p:nvSpPr>
            <p:spPr bwMode="auto">
              <a:xfrm>
                <a:off x="4245" y="2160"/>
                <a:ext cx="7" cy="4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1" name="Freeform 308"/>
              <p:cNvSpPr>
                <a:spLocks noChangeArrowheads="1"/>
              </p:cNvSpPr>
              <p:nvPr/>
            </p:nvSpPr>
            <p:spPr bwMode="auto">
              <a:xfrm>
                <a:off x="4419" y="1903"/>
                <a:ext cx="103" cy="63"/>
              </a:xfrm>
              <a:custGeom>
                <a:avLst/>
                <a:gdLst>
                  <a:gd name="T0" fmla="*/ 9 w 310"/>
                  <a:gd name="T1" fmla="*/ 1 h 189"/>
                  <a:gd name="T2" fmla="*/ 18 w 310"/>
                  <a:gd name="T3" fmla="*/ 1 h 189"/>
                  <a:gd name="T4" fmla="*/ 28 w 310"/>
                  <a:gd name="T5" fmla="*/ 2 h 189"/>
                  <a:gd name="T6" fmla="*/ 37 w 310"/>
                  <a:gd name="T7" fmla="*/ 2 h 189"/>
                  <a:gd name="T8" fmla="*/ 45 w 310"/>
                  <a:gd name="T9" fmla="*/ 3 h 189"/>
                  <a:gd name="T10" fmla="*/ 54 w 310"/>
                  <a:gd name="T11" fmla="*/ 4 h 189"/>
                  <a:gd name="T12" fmla="*/ 62 w 310"/>
                  <a:gd name="T13" fmla="*/ 7 h 189"/>
                  <a:gd name="T14" fmla="*/ 70 w 310"/>
                  <a:gd name="T15" fmla="*/ 8 h 189"/>
                  <a:gd name="T16" fmla="*/ 77 w 310"/>
                  <a:gd name="T17" fmla="*/ 10 h 189"/>
                  <a:gd name="T18" fmla="*/ 84 w 310"/>
                  <a:gd name="T19" fmla="*/ 12 h 189"/>
                  <a:gd name="T20" fmla="*/ 92 w 310"/>
                  <a:gd name="T21" fmla="*/ 14 h 189"/>
                  <a:gd name="T22" fmla="*/ 98 w 310"/>
                  <a:gd name="T23" fmla="*/ 16 h 189"/>
                  <a:gd name="T24" fmla="*/ 104 w 310"/>
                  <a:gd name="T25" fmla="*/ 19 h 189"/>
                  <a:gd name="T26" fmla="*/ 111 w 310"/>
                  <a:gd name="T27" fmla="*/ 22 h 189"/>
                  <a:gd name="T28" fmla="*/ 117 w 310"/>
                  <a:gd name="T29" fmla="*/ 25 h 189"/>
                  <a:gd name="T30" fmla="*/ 122 w 310"/>
                  <a:gd name="T31" fmla="*/ 30 h 189"/>
                  <a:gd name="T32" fmla="*/ 129 w 310"/>
                  <a:gd name="T33" fmla="*/ 34 h 189"/>
                  <a:gd name="T34" fmla="*/ 134 w 310"/>
                  <a:gd name="T35" fmla="*/ 38 h 189"/>
                  <a:gd name="T36" fmla="*/ 139 w 310"/>
                  <a:gd name="T37" fmla="*/ 42 h 189"/>
                  <a:gd name="T38" fmla="*/ 144 w 310"/>
                  <a:gd name="T39" fmla="*/ 47 h 189"/>
                  <a:gd name="T40" fmla="*/ 150 w 310"/>
                  <a:gd name="T41" fmla="*/ 52 h 189"/>
                  <a:gd name="T42" fmla="*/ 155 w 310"/>
                  <a:gd name="T43" fmla="*/ 57 h 189"/>
                  <a:gd name="T44" fmla="*/ 160 w 310"/>
                  <a:gd name="T45" fmla="*/ 62 h 189"/>
                  <a:gd name="T46" fmla="*/ 166 w 310"/>
                  <a:gd name="T47" fmla="*/ 67 h 189"/>
                  <a:gd name="T48" fmla="*/ 170 w 310"/>
                  <a:gd name="T49" fmla="*/ 73 h 189"/>
                  <a:gd name="T50" fmla="*/ 175 w 310"/>
                  <a:gd name="T51" fmla="*/ 78 h 189"/>
                  <a:gd name="T52" fmla="*/ 180 w 310"/>
                  <a:gd name="T53" fmla="*/ 84 h 189"/>
                  <a:gd name="T54" fmla="*/ 186 w 310"/>
                  <a:gd name="T55" fmla="*/ 89 h 189"/>
                  <a:gd name="T56" fmla="*/ 190 w 310"/>
                  <a:gd name="T57" fmla="*/ 96 h 189"/>
                  <a:gd name="T58" fmla="*/ 195 w 310"/>
                  <a:gd name="T59" fmla="*/ 101 h 189"/>
                  <a:gd name="T60" fmla="*/ 200 w 310"/>
                  <a:gd name="T61" fmla="*/ 106 h 189"/>
                  <a:gd name="T62" fmla="*/ 204 w 310"/>
                  <a:gd name="T63" fmla="*/ 113 h 189"/>
                  <a:gd name="T64" fmla="*/ 210 w 310"/>
                  <a:gd name="T65" fmla="*/ 118 h 189"/>
                  <a:gd name="T66" fmla="*/ 215 w 310"/>
                  <a:gd name="T67" fmla="*/ 123 h 189"/>
                  <a:gd name="T68" fmla="*/ 220 w 310"/>
                  <a:gd name="T69" fmla="*/ 128 h 189"/>
                  <a:gd name="T70" fmla="*/ 226 w 310"/>
                  <a:gd name="T71" fmla="*/ 134 h 189"/>
                  <a:gd name="T72" fmla="*/ 231 w 310"/>
                  <a:gd name="T73" fmla="*/ 139 h 189"/>
                  <a:gd name="T74" fmla="*/ 236 w 310"/>
                  <a:gd name="T75" fmla="*/ 144 h 189"/>
                  <a:gd name="T76" fmla="*/ 241 w 310"/>
                  <a:gd name="T77" fmla="*/ 148 h 189"/>
                  <a:gd name="T78" fmla="*/ 248 w 310"/>
                  <a:gd name="T79" fmla="*/ 153 h 189"/>
                  <a:gd name="T80" fmla="*/ 254 w 310"/>
                  <a:gd name="T81" fmla="*/ 158 h 189"/>
                  <a:gd name="T82" fmla="*/ 259 w 310"/>
                  <a:gd name="T83" fmla="*/ 162 h 189"/>
                  <a:gd name="T84" fmla="*/ 267 w 310"/>
                  <a:gd name="T85" fmla="*/ 166 h 189"/>
                  <a:gd name="T86" fmla="*/ 274 w 310"/>
                  <a:gd name="T87" fmla="*/ 170 h 189"/>
                  <a:gd name="T88" fmla="*/ 281 w 310"/>
                  <a:gd name="T89" fmla="*/ 174 h 189"/>
                  <a:gd name="T90" fmla="*/ 290 w 310"/>
                  <a:gd name="T91" fmla="*/ 179 h 189"/>
                  <a:gd name="T92" fmla="*/ 299 w 310"/>
                  <a:gd name="T93" fmla="*/ 184 h 189"/>
                  <a:gd name="T94" fmla="*/ 310 w 310"/>
                  <a:gd name="T95" fmla="*/ 18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10" h="189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4" y="1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25" y="2"/>
                    </a:lnTo>
                    <a:lnTo>
                      <a:pt x="28" y="2"/>
                    </a:lnTo>
                    <a:lnTo>
                      <a:pt x="31" y="2"/>
                    </a:lnTo>
                    <a:lnTo>
                      <a:pt x="33" y="2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39" y="3"/>
                    </a:lnTo>
                    <a:lnTo>
                      <a:pt x="41" y="3"/>
                    </a:lnTo>
                    <a:lnTo>
                      <a:pt x="43" y="3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0" y="4"/>
                    </a:lnTo>
                    <a:lnTo>
                      <a:pt x="52" y="4"/>
                    </a:lnTo>
                    <a:lnTo>
                      <a:pt x="54" y="4"/>
                    </a:lnTo>
                    <a:lnTo>
                      <a:pt x="56" y="5"/>
                    </a:lnTo>
                    <a:lnTo>
                      <a:pt x="58" y="5"/>
                    </a:lnTo>
                    <a:lnTo>
                      <a:pt x="60" y="5"/>
                    </a:lnTo>
                    <a:lnTo>
                      <a:pt x="62" y="7"/>
                    </a:lnTo>
                    <a:lnTo>
                      <a:pt x="64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70" y="8"/>
                    </a:lnTo>
                    <a:lnTo>
                      <a:pt x="72" y="9"/>
                    </a:lnTo>
                    <a:lnTo>
                      <a:pt x="74" y="9"/>
                    </a:lnTo>
                    <a:lnTo>
                      <a:pt x="76" y="9"/>
                    </a:lnTo>
                    <a:lnTo>
                      <a:pt x="77" y="10"/>
                    </a:lnTo>
                    <a:lnTo>
                      <a:pt x="79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4" y="12"/>
                    </a:lnTo>
                    <a:lnTo>
                      <a:pt x="87" y="12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5" y="15"/>
                    </a:lnTo>
                    <a:lnTo>
                      <a:pt x="96" y="16"/>
                    </a:lnTo>
                    <a:lnTo>
                      <a:pt x="98" y="16"/>
                    </a:lnTo>
                    <a:lnTo>
                      <a:pt x="99" y="17"/>
                    </a:lnTo>
                    <a:lnTo>
                      <a:pt x="101" y="18"/>
                    </a:lnTo>
                    <a:lnTo>
                      <a:pt x="102" y="18"/>
                    </a:lnTo>
                    <a:lnTo>
                      <a:pt x="104" y="19"/>
                    </a:lnTo>
                    <a:lnTo>
                      <a:pt x="106" y="20"/>
                    </a:lnTo>
                    <a:lnTo>
                      <a:pt x="108" y="20"/>
                    </a:lnTo>
                    <a:lnTo>
                      <a:pt x="109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4" y="24"/>
                    </a:lnTo>
                    <a:lnTo>
                      <a:pt x="115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7"/>
                    </a:lnTo>
                    <a:lnTo>
                      <a:pt x="121" y="29"/>
                    </a:lnTo>
                    <a:lnTo>
                      <a:pt x="122" y="30"/>
                    </a:lnTo>
                    <a:lnTo>
                      <a:pt x="124" y="31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9" y="34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3" y="37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7"/>
                    </a:lnTo>
                    <a:lnTo>
                      <a:pt x="146" y="48"/>
                    </a:lnTo>
                    <a:lnTo>
                      <a:pt x="148" y="50"/>
                    </a:lnTo>
                    <a:lnTo>
                      <a:pt x="149" y="51"/>
                    </a:lnTo>
                    <a:lnTo>
                      <a:pt x="150" y="52"/>
                    </a:lnTo>
                    <a:lnTo>
                      <a:pt x="151" y="53"/>
                    </a:lnTo>
                    <a:lnTo>
                      <a:pt x="153" y="55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6" y="58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3"/>
                    </a:lnTo>
                    <a:lnTo>
                      <a:pt x="162" y="64"/>
                    </a:lnTo>
                    <a:lnTo>
                      <a:pt x="164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71"/>
                    </a:lnTo>
                    <a:lnTo>
                      <a:pt x="169" y="72"/>
                    </a:lnTo>
                    <a:lnTo>
                      <a:pt x="170" y="73"/>
                    </a:lnTo>
                    <a:lnTo>
                      <a:pt x="172" y="75"/>
                    </a:lnTo>
                    <a:lnTo>
                      <a:pt x="173" y="76"/>
                    </a:lnTo>
                    <a:lnTo>
                      <a:pt x="174" y="77"/>
                    </a:lnTo>
                    <a:lnTo>
                      <a:pt x="175" y="78"/>
                    </a:lnTo>
                    <a:lnTo>
                      <a:pt x="176" y="80"/>
                    </a:lnTo>
                    <a:lnTo>
                      <a:pt x="178" y="81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5"/>
                    </a:lnTo>
                    <a:lnTo>
                      <a:pt x="182" y="87"/>
                    </a:lnTo>
                    <a:lnTo>
                      <a:pt x="183" y="88"/>
                    </a:lnTo>
                    <a:lnTo>
                      <a:pt x="186" y="89"/>
                    </a:lnTo>
                    <a:lnTo>
                      <a:pt x="187" y="92"/>
                    </a:lnTo>
                    <a:lnTo>
                      <a:pt x="188" y="93"/>
                    </a:lnTo>
                    <a:lnTo>
                      <a:pt x="189" y="94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3" y="98"/>
                    </a:lnTo>
                    <a:lnTo>
                      <a:pt x="194" y="100"/>
                    </a:lnTo>
                    <a:lnTo>
                      <a:pt x="195" y="101"/>
                    </a:lnTo>
                    <a:lnTo>
                      <a:pt x="196" y="102"/>
                    </a:lnTo>
                    <a:lnTo>
                      <a:pt x="197" y="104"/>
                    </a:lnTo>
                    <a:lnTo>
                      <a:pt x="198" y="105"/>
                    </a:lnTo>
                    <a:lnTo>
                      <a:pt x="200" y="106"/>
                    </a:lnTo>
                    <a:lnTo>
                      <a:pt x="201" y="108"/>
                    </a:lnTo>
                    <a:lnTo>
                      <a:pt x="202" y="109"/>
                    </a:lnTo>
                    <a:lnTo>
                      <a:pt x="203" y="110"/>
                    </a:lnTo>
                    <a:lnTo>
                      <a:pt x="204" y="113"/>
                    </a:lnTo>
                    <a:lnTo>
                      <a:pt x="207" y="114"/>
                    </a:lnTo>
                    <a:lnTo>
                      <a:pt x="208" y="115"/>
                    </a:lnTo>
                    <a:lnTo>
                      <a:pt x="209" y="117"/>
                    </a:lnTo>
                    <a:lnTo>
                      <a:pt x="210" y="118"/>
                    </a:lnTo>
                    <a:lnTo>
                      <a:pt x="211" y="119"/>
                    </a:lnTo>
                    <a:lnTo>
                      <a:pt x="213" y="121"/>
                    </a:lnTo>
                    <a:lnTo>
                      <a:pt x="214" y="122"/>
                    </a:lnTo>
                    <a:lnTo>
                      <a:pt x="215" y="123"/>
                    </a:lnTo>
                    <a:lnTo>
                      <a:pt x="216" y="124"/>
                    </a:lnTo>
                    <a:lnTo>
                      <a:pt x="217" y="126"/>
                    </a:lnTo>
                    <a:lnTo>
                      <a:pt x="219" y="127"/>
                    </a:lnTo>
                    <a:lnTo>
                      <a:pt x="220" y="128"/>
                    </a:lnTo>
                    <a:lnTo>
                      <a:pt x="221" y="130"/>
                    </a:lnTo>
                    <a:lnTo>
                      <a:pt x="222" y="131"/>
                    </a:lnTo>
                    <a:lnTo>
                      <a:pt x="225" y="132"/>
                    </a:lnTo>
                    <a:lnTo>
                      <a:pt x="226" y="134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30" y="138"/>
                    </a:lnTo>
                    <a:lnTo>
                      <a:pt x="231" y="139"/>
                    </a:lnTo>
                    <a:lnTo>
                      <a:pt x="232" y="140"/>
                    </a:lnTo>
                    <a:lnTo>
                      <a:pt x="234" y="142"/>
                    </a:lnTo>
                    <a:lnTo>
                      <a:pt x="235" y="143"/>
                    </a:lnTo>
                    <a:lnTo>
                      <a:pt x="236" y="144"/>
                    </a:lnTo>
                    <a:lnTo>
                      <a:pt x="238" y="145"/>
                    </a:lnTo>
                    <a:lnTo>
                      <a:pt x="239" y="146"/>
                    </a:lnTo>
                    <a:lnTo>
                      <a:pt x="240" y="147"/>
                    </a:lnTo>
                    <a:lnTo>
                      <a:pt x="241" y="148"/>
                    </a:lnTo>
                    <a:lnTo>
                      <a:pt x="243" y="149"/>
                    </a:lnTo>
                    <a:lnTo>
                      <a:pt x="245" y="151"/>
                    </a:lnTo>
                    <a:lnTo>
                      <a:pt x="247" y="152"/>
                    </a:lnTo>
                    <a:lnTo>
                      <a:pt x="248" y="153"/>
                    </a:lnTo>
                    <a:lnTo>
                      <a:pt x="249" y="155"/>
                    </a:lnTo>
                    <a:lnTo>
                      <a:pt x="251" y="156"/>
                    </a:lnTo>
                    <a:lnTo>
                      <a:pt x="252" y="157"/>
                    </a:lnTo>
                    <a:lnTo>
                      <a:pt x="254" y="158"/>
                    </a:lnTo>
                    <a:lnTo>
                      <a:pt x="255" y="159"/>
                    </a:lnTo>
                    <a:lnTo>
                      <a:pt x="257" y="160"/>
                    </a:lnTo>
                    <a:lnTo>
                      <a:pt x="258" y="161"/>
                    </a:lnTo>
                    <a:lnTo>
                      <a:pt x="259" y="162"/>
                    </a:lnTo>
                    <a:lnTo>
                      <a:pt x="261" y="163"/>
                    </a:lnTo>
                    <a:lnTo>
                      <a:pt x="263" y="164"/>
                    </a:lnTo>
                    <a:lnTo>
                      <a:pt x="265" y="165"/>
                    </a:lnTo>
                    <a:lnTo>
                      <a:pt x="267" y="166"/>
                    </a:lnTo>
                    <a:lnTo>
                      <a:pt x="268" y="167"/>
                    </a:lnTo>
                    <a:lnTo>
                      <a:pt x="270" y="168"/>
                    </a:lnTo>
                    <a:lnTo>
                      <a:pt x="272" y="169"/>
                    </a:lnTo>
                    <a:lnTo>
                      <a:pt x="274" y="170"/>
                    </a:lnTo>
                    <a:lnTo>
                      <a:pt x="275" y="171"/>
                    </a:lnTo>
                    <a:lnTo>
                      <a:pt x="277" y="172"/>
                    </a:lnTo>
                    <a:lnTo>
                      <a:pt x="279" y="173"/>
                    </a:lnTo>
                    <a:lnTo>
                      <a:pt x="281" y="174"/>
                    </a:lnTo>
                    <a:lnTo>
                      <a:pt x="283" y="176"/>
                    </a:lnTo>
                    <a:lnTo>
                      <a:pt x="286" y="177"/>
                    </a:lnTo>
                    <a:lnTo>
                      <a:pt x="288" y="178"/>
                    </a:lnTo>
                    <a:lnTo>
                      <a:pt x="290" y="179"/>
                    </a:lnTo>
                    <a:lnTo>
                      <a:pt x="292" y="180"/>
                    </a:lnTo>
                    <a:lnTo>
                      <a:pt x="295" y="182"/>
                    </a:lnTo>
                    <a:lnTo>
                      <a:pt x="297" y="183"/>
                    </a:lnTo>
                    <a:lnTo>
                      <a:pt x="299" y="184"/>
                    </a:lnTo>
                    <a:lnTo>
                      <a:pt x="302" y="185"/>
                    </a:lnTo>
                    <a:lnTo>
                      <a:pt x="305" y="186"/>
                    </a:lnTo>
                    <a:lnTo>
                      <a:pt x="308" y="188"/>
                    </a:lnTo>
                    <a:lnTo>
                      <a:pt x="310" y="189"/>
                    </a:lnTo>
                  </a:path>
                </a:pathLst>
              </a:cu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2" name="Freeform 309"/>
              <p:cNvSpPr>
                <a:spLocks noChangeArrowheads="1"/>
              </p:cNvSpPr>
              <p:nvPr/>
            </p:nvSpPr>
            <p:spPr bwMode="auto">
              <a:xfrm>
                <a:off x="4306" y="2017"/>
                <a:ext cx="69" cy="103"/>
              </a:xfrm>
              <a:custGeom>
                <a:avLst/>
                <a:gdLst>
                  <a:gd name="T0" fmla="*/ 1 w 207"/>
                  <a:gd name="T1" fmla="*/ 7 h 307"/>
                  <a:gd name="T2" fmla="*/ 2 w 207"/>
                  <a:gd name="T3" fmla="*/ 15 h 307"/>
                  <a:gd name="T4" fmla="*/ 3 w 207"/>
                  <a:gd name="T5" fmla="*/ 24 h 307"/>
                  <a:gd name="T6" fmla="*/ 4 w 207"/>
                  <a:gd name="T7" fmla="*/ 32 h 307"/>
                  <a:gd name="T8" fmla="*/ 5 w 207"/>
                  <a:gd name="T9" fmla="*/ 40 h 307"/>
                  <a:gd name="T10" fmla="*/ 8 w 207"/>
                  <a:gd name="T11" fmla="*/ 48 h 307"/>
                  <a:gd name="T12" fmla="*/ 9 w 207"/>
                  <a:gd name="T13" fmla="*/ 56 h 307"/>
                  <a:gd name="T14" fmla="*/ 11 w 207"/>
                  <a:gd name="T15" fmla="*/ 65 h 307"/>
                  <a:gd name="T16" fmla="*/ 13 w 207"/>
                  <a:gd name="T17" fmla="*/ 72 h 307"/>
                  <a:gd name="T18" fmla="*/ 15 w 207"/>
                  <a:gd name="T19" fmla="*/ 79 h 307"/>
                  <a:gd name="T20" fmla="*/ 17 w 207"/>
                  <a:gd name="T21" fmla="*/ 87 h 307"/>
                  <a:gd name="T22" fmla="*/ 19 w 207"/>
                  <a:gd name="T23" fmla="*/ 94 h 307"/>
                  <a:gd name="T24" fmla="*/ 22 w 207"/>
                  <a:gd name="T25" fmla="*/ 101 h 307"/>
                  <a:gd name="T26" fmla="*/ 25 w 207"/>
                  <a:gd name="T27" fmla="*/ 109 h 307"/>
                  <a:gd name="T28" fmla="*/ 29 w 207"/>
                  <a:gd name="T29" fmla="*/ 115 h 307"/>
                  <a:gd name="T30" fmla="*/ 33 w 207"/>
                  <a:gd name="T31" fmla="*/ 121 h 307"/>
                  <a:gd name="T32" fmla="*/ 37 w 207"/>
                  <a:gd name="T33" fmla="*/ 128 h 307"/>
                  <a:gd name="T34" fmla="*/ 42 w 207"/>
                  <a:gd name="T35" fmla="*/ 134 h 307"/>
                  <a:gd name="T36" fmla="*/ 46 w 207"/>
                  <a:gd name="T37" fmla="*/ 140 h 307"/>
                  <a:gd name="T38" fmla="*/ 52 w 207"/>
                  <a:gd name="T39" fmla="*/ 145 h 307"/>
                  <a:gd name="T40" fmla="*/ 57 w 207"/>
                  <a:gd name="T41" fmla="*/ 152 h 307"/>
                  <a:gd name="T42" fmla="*/ 63 w 207"/>
                  <a:gd name="T43" fmla="*/ 157 h 307"/>
                  <a:gd name="T44" fmla="*/ 69 w 207"/>
                  <a:gd name="T45" fmla="*/ 162 h 307"/>
                  <a:gd name="T46" fmla="*/ 75 w 207"/>
                  <a:gd name="T47" fmla="*/ 167 h 307"/>
                  <a:gd name="T48" fmla="*/ 81 w 207"/>
                  <a:gd name="T49" fmla="*/ 173 h 307"/>
                  <a:gd name="T50" fmla="*/ 88 w 207"/>
                  <a:gd name="T51" fmla="*/ 178 h 307"/>
                  <a:gd name="T52" fmla="*/ 94 w 207"/>
                  <a:gd name="T53" fmla="*/ 183 h 307"/>
                  <a:gd name="T54" fmla="*/ 100 w 207"/>
                  <a:gd name="T55" fmla="*/ 187 h 307"/>
                  <a:gd name="T56" fmla="*/ 107 w 207"/>
                  <a:gd name="T57" fmla="*/ 193 h 307"/>
                  <a:gd name="T58" fmla="*/ 113 w 207"/>
                  <a:gd name="T59" fmla="*/ 198 h 307"/>
                  <a:gd name="T60" fmla="*/ 120 w 207"/>
                  <a:gd name="T61" fmla="*/ 203 h 307"/>
                  <a:gd name="T62" fmla="*/ 127 w 207"/>
                  <a:gd name="T63" fmla="*/ 208 h 307"/>
                  <a:gd name="T64" fmla="*/ 133 w 207"/>
                  <a:gd name="T65" fmla="*/ 214 h 307"/>
                  <a:gd name="T66" fmla="*/ 139 w 207"/>
                  <a:gd name="T67" fmla="*/ 219 h 307"/>
                  <a:gd name="T68" fmla="*/ 144 w 207"/>
                  <a:gd name="T69" fmla="*/ 224 h 307"/>
                  <a:gd name="T70" fmla="*/ 151 w 207"/>
                  <a:gd name="T71" fmla="*/ 229 h 307"/>
                  <a:gd name="T72" fmla="*/ 157 w 207"/>
                  <a:gd name="T73" fmla="*/ 236 h 307"/>
                  <a:gd name="T74" fmla="*/ 162 w 207"/>
                  <a:gd name="T75" fmla="*/ 241 h 307"/>
                  <a:gd name="T76" fmla="*/ 168 w 207"/>
                  <a:gd name="T77" fmla="*/ 247 h 307"/>
                  <a:gd name="T78" fmla="*/ 173 w 207"/>
                  <a:gd name="T79" fmla="*/ 253 h 307"/>
                  <a:gd name="T80" fmla="*/ 177 w 207"/>
                  <a:gd name="T81" fmla="*/ 260 h 307"/>
                  <a:gd name="T82" fmla="*/ 182 w 207"/>
                  <a:gd name="T83" fmla="*/ 266 h 307"/>
                  <a:gd name="T84" fmla="*/ 187 w 207"/>
                  <a:gd name="T85" fmla="*/ 272 h 307"/>
                  <a:gd name="T86" fmla="*/ 191 w 207"/>
                  <a:gd name="T87" fmla="*/ 279 h 307"/>
                  <a:gd name="T88" fmla="*/ 195 w 207"/>
                  <a:gd name="T89" fmla="*/ 286 h 307"/>
                  <a:gd name="T90" fmla="*/ 199 w 207"/>
                  <a:gd name="T91" fmla="*/ 292 h 307"/>
                  <a:gd name="T92" fmla="*/ 203 w 207"/>
                  <a:gd name="T93" fmla="*/ 300 h 307"/>
                  <a:gd name="T94" fmla="*/ 207 w 207"/>
                  <a:gd name="T95" fmla="*/ 307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7" h="307">
                    <a:moveTo>
                      <a:pt x="0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4" y="28"/>
                    </a:lnTo>
                    <a:lnTo>
                      <a:pt x="4" y="30"/>
                    </a:lnTo>
                    <a:lnTo>
                      <a:pt x="4" y="32"/>
                    </a:lnTo>
                    <a:lnTo>
                      <a:pt x="5" y="34"/>
                    </a:lnTo>
                    <a:lnTo>
                      <a:pt x="5" y="36"/>
                    </a:lnTo>
                    <a:lnTo>
                      <a:pt x="5" y="38"/>
                    </a:lnTo>
                    <a:lnTo>
                      <a:pt x="5" y="40"/>
                    </a:lnTo>
                    <a:lnTo>
                      <a:pt x="6" y="42"/>
                    </a:lnTo>
                    <a:lnTo>
                      <a:pt x="6" y="44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8" y="50"/>
                    </a:lnTo>
                    <a:lnTo>
                      <a:pt x="8" y="52"/>
                    </a:lnTo>
                    <a:lnTo>
                      <a:pt x="9" y="54"/>
                    </a:lnTo>
                    <a:lnTo>
                      <a:pt x="9" y="56"/>
                    </a:lnTo>
                    <a:lnTo>
                      <a:pt x="10" y="58"/>
                    </a:lnTo>
                    <a:lnTo>
                      <a:pt x="10" y="60"/>
                    </a:lnTo>
                    <a:lnTo>
                      <a:pt x="10" y="62"/>
                    </a:lnTo>
                    <a:lnTo>
                      <a:pt x="11" y="65"/>
                    </a:lnTo>
                    <a:lnTo>
                      <a:pt x="11" y="66"/>
                    </a:lnTo>
                    <a:lnTo>
                      <a:pt x="12" y="68"/>
                    </a:lnTo>
                    <a:lnTo>
                      <a:pt x="12" y="70"/>
                    </a:lnTo>
                    <a:lnTo>
                      <a:pt x="13" y="72"/>
                    </a:lnTo>
                    <a:lnTo>
                      <a:pt x="13" y="74"/>
                    </a:lnTo>
                    <a:lnTo>
                      <a:pt x="13" y="76"/>
                    </a:lnTo>
                    <a:lnTo>
                      <a:pt x="14" y="77"/>
                    </a:lnTo>
                    <a:lnTo>
                      <a:pt x="15" y="79"/>
                    </a:lnTo>
                    <a:lnTo>
                      <a:pt x="15" y="81"/>
                    </a:lnTo>
                    <a:lnTo>
                      <a:pt x="16" y="83"/>
                    </a:lnTo>
                    <a:lnTo>
                      <a:pt x="16" y="86"/>
                    </a:lnTo>
                    <a:lnTo>
                      <a:pt x="17" y="87"/>
                    </a:lnTo>
                    <a:lnTo>
                      <a:pt x="17" y="89"/>
                    </a:lnTo>
                    <a:lnTo>
                      <a:pt x="18" y="91"/>
                    </a:lnTo>
                    <a:lnTo>
                      <a:pt x="19" y="92"/>
                    </a:lnTo>
                    <a:lnTo>
                      <a:pt x="19" y="94"/>
                    </a:lnTo>
                    <a:lnTo>
                      <a:pt x="20" y="96"/>
                    </a:lnTo>
                    <a:lnTo>
                      <a:pt x="21" y="98"/>
                    </a:lnTo>
                    <a:lnTo>
                      <a:pt x="21" y="99"/>
                    </a:lnTo>
                    <a:lnTo>
                      <a:pt x="22" y="101"/>
                    </a:lnTo>
                    <a:lnTo>
                      <a:pt x="23" y="103"/>
                    </a:lnTo>
                    <a:lnTo>
                      <a:pt x="24" y="104"/>
                    </a:lnTo>
                    <a:lnTo>
                      <a:pt x="24" y="107"/>
                    </a:lnTo>
                    <a:lnTo>
                      <a:pt x="25" y="109"/>
                    </a:lnTo>
                    <a:lnTo>
                      <a:pt x="26" y="110"/>
                    </a:lnTo>
                    <a:lnTo>
                      <a:pt x="28" y="112"/>
                    </a:lnTo>
                    <a:lnTo>
                      <a:pt x="29" y="114"/>
                    </a:lnTo>
                    <a:lnTo>
                      <a:pt x="29" y="115"/>
                    </a:lnTo>
                    <a:lnTo>
                      <a:pt x="30" y="117"/>
                    </a:lnTo>
                    <a:lnTo>
                      <a:pt x="31" y="118"/>
                    </a:lnTo>
                    <a:lnTo>
                      <a:pt x="32" y="120"/>
                    </a:lnTo>
                    <a:lnTo>
                      <a:pt x="33" y="121"/>
                    </a:lnTo>
                    <a:lnTo>
                      <a:pt x="34" y="123"/>
                    </a:lnTo>
                    <a:lnTo>
                      <a:pt x="35" y="124"/>
                    </a:lnTo>
                    <a:lnTo>
                      <a:pt x="36" y="126"/>
                    </a:lnTo>
                    <a:lnTo>
                      <a:pt x="37" y="128"/>
                    </a:lnTo>
                    <a:lnTo>
                      <a:pt x="38" y="130"/>
                    </a:lnTo>
                    <a:lnTo>
                      <a:pt x="39" y="131"/>
                    </a:lnTo>
                    <a:lnTo>
                      <a:pt x="41" y="133"/>
                    </a:lnTo>
                    <a:lnTo>
                      <a:pt x="42" y="134"/>
                    </a:lnTo>
                    <a:lnTo>
                      <a:pt x="43" y="135"/>
                    </a:lnTo>
                    <a:lnTo>
                      <a:pt x="44" y="137"/>
                    </a:lnTo>
                    <a:lnTo>
                      <a:pt x="45" y="138"/>
                    </a:lnTo>
                    <a:lnTo>
                      <a:pt x="46" y="140"/>
                    </a:lnTo>
                    <a:lnTo>
                      <a:pt x="49" y="141"/>
                    </a:lnTo>
                    <a:lnTo>
                      <a:pt x="50" y="142"/>
                    </a:lnTo>
                    <a:lnTo>
                      <a:pt x="51" y="144"/>
                    </a:lnTo>
                    <a:lnTo>
                      <a:pt x="52" y="145"/>
                    </a:lnTo>
                    <a:lnTo>
                      <a:pt x="54" y="146"/>
                    </a:lnTo>
                    <a:lnTo>
                      <a:pt x="55" y="149"/>
                    </a:lnTo>
                    <a:lnTo>
                      <a:pt x="56" y="150"/>
                    </a:lnTo>
                    <a:lnTo>
                      <a:pt x="57" y="152"/>
                    </a:lnTo>
                    <a:lnTo>
                      <a:pt x="59" y="153"/>
                    </a:lnTo>
                    <a:lnTo>
                      <a:pt x="60" y="154"/>
                    </a:lnTo>
                    <a:lnTo>
                      <a:pt x="62" y="155"/>
                    </a:lnTo>
                    <a:lnTo>
                      <a:pt x="63" y="157"/>
                    </a:lnTo>
                    <a:lnTo>
                      <a:pt x="64" y="158"/>
                    </a:lnTo>
                    <a:lnTo>
                      <a:pt x="66" y="159"/>
                    </a:lnTo>
                    <a:lnTo>
                      <a:pt x="68" y="161"/>
                    </a:lnTo>
                    <a:lnTo>
                      <a:pt x="69" y="162"/>
                    </a:lnTo>
                    <a:lnTo>
                      <a:pt x="71" y="163"/>
                    </a:lnTo>
                    <a:lnTo>
                      <a:pt x="72" y="164"/>
                    </a:lnTo>
                    <a:lnTo>
                      <a:pt x="74" y="166"/>
                    </a:lnTo>
                    <a:lnTo>
                      <a:pt x="75" y="167"/>
                    </a:lnTo>
                    <a:lnTo>
                      <a:pt x="76" y="168"/>
                    </a:lnTo>
                    <a:lnTo>
                      <a:pt x="78" y="170"/>
                    </a:lnTo>
                    <a:lnTo>
                      <a:pt x="80" y="172"/>
                    </a:lnTo>
                    <a:lnTo>
                      <a:pt x="81" y="173"/>
                    </a:lnTo>
                    <a:lnTo>
                      <a:pt x="82" y="174"/>
                    </a:lnTo>
                    <a:lnTo>
                      <a:pt x="84" y="175"/>
                    </a:lnTo>
                    <a:lnTo>
                      <a:pt x="85" y="177"/>
                    </a:lnTo>
                    <a:lnTo>
                      <a:pt x="88" y="178"/>
                    </a:lnTo>
                    <a:lnTo>
                      <a:pt x="89" y="179"/>
                    </a:lnTo>
                    <a:lnTo>
                      <a:pt x="91" y="180"/>
                    </a:lnTo>
                    <a:lnTo>
                      <a:pt x="92" y="181"/>
                    </a:lnTo>
                    <a:lnTo>
                      <a:pt x="94" y="183"/>
                    </a:lnTo>
                    <a:lnTo>
                      <a:pt x="95" y="184"/>
                    </a:lnTo>
                    <a:lnTo>
                      <a:pt x="97" y="185"/>
                    </a:lnTo>
                    <a:lnTo>
                      <a:pt x="99" y="186"/>
                    </a:lnTo>
                    <a:lnTo>
                      <a:pt x="100" y="187"/>
                    </a:lnTo>
                    <a:lnTo>
                      <a:pt x="102" y="189"/>
                    </a:lnTo>
                    <a:lnTo>
                      <a:pt x="103" y="190"/>
                    </a:lnTo>
                    <a:lnTo>
                      <a:pt x="105" y="192"/>
                    </a:lnTo>
                    <a:lnTo>
                      <a:pt x="107" y="193"/>
                    </a:lnTo>
                    <a:lnTo>
                      <a:pt x="109" y="194"/>
                    </a:lnTo>
                    <a:lnTo>
                      <a:pt x="110" y="196"/>
                    </a:lnTo>
                    <a:lnTo>
                      <a:pt x="112" y="197"/>
                    </a:lnTo>
                    <a:lnTo>
                      <a:pt x="113" y="198"/>
                    </a:lnTo>
                    <a:lnTo>
                      <a:pt x="115" y="199"/>
                    </a:lnTo>
                    <a:lnTo>
                      <a:pt x="117" y="200"/>
                    </a:lnTo>
                    <a:lnTo>
                      <a:pt x="118" y="202"/>
                    </a:lnTo>
                    <a:lnTo>
                      <a:pt x="120" y="203"/>
                    </a:lnTo>
                    <a:lnTo>
                      <a:pt x="121" y="204"/>
                    </a:lnTo>
                    <a:lnTo>
                      <a:pt x="123" y="205"/>
                    </a:lnTo>
                    <a:lnTo>
                      <a:pt x="124" y="207"/>
                    </a:lnTo>
                    <a:lnTo>
                      <a:pt x="127" y="208"/>
                    </a:lnTo>
                    <a:lnTo>
                      <a:pt x="128" y="209"/>
                    </a:lnTo>
                    <a:lnTo>
                      <a:pt x="130" y="210"/>
                    </a:lnTo>
                    <a:lnTo>
                      <a:pt x="131" y="213"/>
                    </a:lnTo>
                    <a:lnTo>
                      <a:pt x="133" y="214"/>
                    </a:lnTo>
                    <a:lnTo>
                      <a:pt x="134" y="215"/>
                    </a:lnTo>
                    <a:lnTo>
                      <a:pt x="136" y="216"/>
                    </a:lnTo>
                    <a:lnTo>
                      <a:pt x="137" y="218"/>
                    </a:lnTo>
                    <a:lnTo>
                      <a:pt x="139" y="219"/>
                    </a:lnTo>
                    <a:lnTo>
                      <a:pt x="140" y="220"/>
                    </a:lnTo>
                    <a:lnTo>
                      <a:pt x="141" y="221"/>
                    </a:lnTo>
                    <a:lnTo>
                      <a:pt x="143" y="223"/>
                    </a:lnTo>
                    <a:lnTo>
                      <a:pt x="144" y="224"/>
                    </a:lnTo>
                    <a:lnTo>
                      <a:pt x="147" y="225"/>
                    </a:lnTo>
                    <a:lnTo>
                      <a:pt x="148" y="227"/>
                    </a:lnTo>
                    <a:lnTo>
                      <a:pt x="150" y="228"/>
                    </a:lnTo>
                    <a:lnTo>
                      <a:pt x="151" y="229"/>
                    </a:lnTo>
                    <a:lnTo>
                      <a:pt x="152" y="231"/>
                    </a:lnTo>
                    <a:lnTo>
                      <a:pt x="154" y="232"/>
                    </a:lnTo>
                    <a:lnTo>
                      <a:pt x="155" y="234"/>
                    </a:lnTo>
                    <a:lnTo>
                      <a:pt x="157" y="236"/>
                    </a:lnTo>
                    <a:lnTo>
                      <a:pt x="158" y="237"/>
                    </a:lnTo>
                    <a:lnTo>
                      <a:pt x="159" y="238"/>
                    </a:lnTo>
                    <a:lnTo>
                      <a:pt x="161" y="240"/>
                    </a:lnTo>
                    <a:lnTo>
                      <a:pt x="162" y="241"/>
                    </a:lnTo>
                    <a:lnTo>
                      <a:pt x="163" y="242"/>
                    </a:lnTo>
                    <a:lnTo>
                      <a:pt x="164" y="244"/>
                    </a:lnTo>
                    <a:lnTo>
                      <a:pt x="167" y="245"/>
                    </a:lnTo>
                    <a:lnTo>
                      <a:pt x="168" y="247"/>
                    </a:lnTo>
                    <a:lnTo>
                      <a:pt x="169" y="248"/>
                    </a:lnTo>
                    <a:lnTo>
                      <a:pt x="170" y="250"/>
                    </a:lnTo>
                    <a:lnTo>
                      <a:pt x="172" y="251"/>
                    </a:lnTo>
                    <a:lnTo>
                      <a:pt x="173" y="253"/>
                    </a:lnTo>
                    <a:lnTo>
                      <a:pt x="174" y="255"/>
                    </a:lnTo>
                    <a:lnTo>
                      <a:pt x="175" y="257"/>
                    </a:lnTo>
                    <a:lnTo>
                      <a:pt x="176" y="258"/>
                    </a:lnTo>
                    <a:lnTo>
                      <a:pt x="177" y="260"/>
                    </a:lnTo>
                    <a:lnTo>
                      <a:pt x="179" y="261"/>
                    </a:lnTo>
                    <a:lnTo>
                      <a:pt x="180" y="263"/>
                    </a:lnTo>
                    <a:lnTo>
                      <a:pt x="181" y="264"/>
                    </a:lnTo>
                    <a:lnTo>
                      <a:pt x="182" y="266"/>
                    </a:lnTo>
                    <a:lnTo>
                      <a:pt x="183" y="267"/>
                    </a:lnTo>
                    <a:lnTo>
                      <a:pt x="184" y="269"/>
                    </a:lnTo>
                    <a:lnTo>
                      <a:pt x="185" y="270"/>
                    </a:lnTo>
                    <a:lnTo>
                      <a:pt x="187" y="272"/>
                    </a:lnTo>
                    <a:lnTo>
                      <a:pt x="188" y="273"/>
                    </a:lnTo>
                    <a:lnTo>
                      <a:pt x="189" y="276"/>
                    </a:lnTo>
                    <a:lnTo>
                      <a:pt x="190" y="278"/>
                    </a:lnTo>
                    <a:lnTo>
                      <a:pt x="191" y="279"/>
                    </a:lnTo>
                    <a:lnTo>
                      <a:pt x="192" y="281"/>
                    </a:lnTo>
                    <a:lnTo>
                      <a:pt x="193" y="283"/>
                    </a:lnTo>
                    <a:lnTo>
                      <a:pt x="194" y="284"/>
                    </a:lnTo>
                    <a:lnTo>
                      <a:pt x="195" y="286"/>
                    </a:lnTo>
                    <a:lnTo>
                      <a:pt x="196" y="288"/>
                    </a:lnTo>
                    <a:lnTo>
                      <a:pt x="197" y="289"/>
                    </a:lnTo>
                    <a:lnTo>
                      <a:pt x="198" y="291"/>
                    </a:lnTo>
                    <a:lnTo>
                      <a:pt x="199" y="292"/>
                    </a:lnTo>
                    <a:lnTo>
                      <a:pt x="200" y="294"/>
                    </a:lnTo>
                    <a:lnTo>
                      <a:pt x="201" y="297"/>
                    </a:lnTo>
                    <a:lnTo>
                      <a:pt x="202" y="298"/>
                    </a:lnTo>
                    <a:lnTo>
                      <a:pt x="203" y="300"/>
                    </a:lnTo>
                    <a:lnTo>
                      <a:pt x="204" y="302"/>
                    </a:lnTo>
                    <a:lnTo>
                      <a:pt x="204" y="303"/>
                    </a:lnTo>
                    <a:lnTo>
                      <a:pt x="205" y="305"/>
                    </a:lnTo>
                    <a:lnTo>
                      <a:pt x="207" y="307"/>
                    </a:lnTo>
                  </a:path>
                </a:pathLst>
              </a:cu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3" name="Freeform 310"/>
              <p:cNvSpPr>
                <a:spLocks noChangeArrowheads="1"/>
              </p:cNvSpPr>
              <p:nvPr/>
            </p:nvSpPr>
            <p:spPr bwMode="auto">
              <a:xfrm>
                <a:off x="4445" y="1357"/>
                <a:ext cx="848" cy="716"/>
              </a:xfrm>
              <a:custGeom>
                <a:avLst/>
                <a:gdLst>
                  <a:gd name="T0" fmla="*/ 38 w 2544"/>
                  <a:gd name="T1" fmla="*/ 2149 h 2149"/>
                  <a:gd name="T2" fmla="*/ 2544 w 2544"/>
                  <a:gd name="T3" fmla="*/ 46 h 2149"/>
                  <a:gd name="T4" fmla="*/ 2505 w 2544"/>
                  <a:gd name="T5" fmla="*/ 0 h 2149"/>
                  <a:gd name="T6" fmla="*/ 0 w 2544"/>
                  <a:gd name="T7" fmla="*/ 2104 h 2149"/>
                  <a:gd name="T8" fmla="*/ 38 w 2544"/>
                  <a:gd name="T9" fmla="*/ 2149 h 2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44" h="2149">
                    <a:moveTo>
                      <a:pt x="38" y="2149"/>
                    </a:moveTo>
                    <a:lnTo>
                      <a:pt x="2544" y="46"/>
                    </a:lnTo>
                    <a:lnTo>
                      <a:pt x="2505" y="0"/>
                    </a:lnTo>
                    <a:lnTo>
                      <a:pt x="0" y="2104"/>
                    </a:lnTo>
                    <a:lnTo>
                      <a:pt x="38" y="2149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4" name="Line 311"/>
              <p:cNvSpPr>
                <a:spLocks noChangeShapeType="1"/>
              </p:cNvSpPr>
              <p:nvPr/>
            </p:nvSpPr>
            <p:spPr bwMode="auto">
              <a:xfrm flipV="1">
                <a:off x="4377" y="2079"/>
                <a:ext cx="40" cy="40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5" name="Line 312"/>
              <p:cNvSpPr>
                <a:spLocks noChangeShapeType="1"/>
              </p:cNvSpPr>
              <p:nvPr/>
            </p:nvSpPr>
            <p:spPr bwMode="auto">
              <a:xfrm flipV="1">
                <a:off x="4345" y="2047"/>
                <a:ext cx="38" cy="38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6" name="Line 313"/>
              <p:cNvSpPr>
                <a:spLocks noChangeShapeType="1"/>
              </p:cNvSpPr>
              <p:nvPr/>
            </p:nvSpPr>
            <p:spPr bwMode="auto">
              <a:xfrm flipV="1">
                <a:off x="4313" y="2015"/>
                <a:ext cx="36" cy="36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7" name="Freeform 314"/>
              <p:cNvSpPr>
                <a:spLocks noChangeArrowheads="1"/>
              </p:cNvSpPr>
              <p:nvPr/>
            </p:nvSpPr>
            <p:spPr bwMode="auto">
              <a:xfrm>
                <a:off x="4331" y="1997"/>
                <a:ext cx="102" cy="98"/>
              </a:xfrm>
              <a:custGeom>
                <a:avLst/>
                <a:gdLst>
                  <a:gd name="T0" fmla="*/ 306 w 306"/>
                  <a:gd name="T1" fmla="*/ 249 h 292"/>
                  <a:gd name="T2" fmla="*/ 41 w 306"/>
                  <a:gd name="T3" fmla="*/ 0 h 292"/>
                  <a:gd name="T4" fmla="*/ 0 w 306"/>
                  <a:gd name="T5" fmla="*/ 43 h 292"/>
                  <a:gd name="T6" fmla="*/ 265 w 306"/>
                  <a:gd name="T7" fmla="*/ 292 h 292"/>
                  <a:gd name="T8" fmla="*/ 306 w 306"/>
                  <a:gd name="T9" fmla="*/ 249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6" h="292">
                    <a:moveTo>
                      <a:pt x="306" y="249"/>
                    </a:moveTo>
                    <a:lnTo>
                      <a:pt x="41" y="0"/>
                    </a:lnTo>
                    <a:lnTo>
                      <a:pt x="0" y="43"/>
                    </a:lnTo>
                    <a:lnTo>
                      <a:pt x="265" y="292"/>
                    </a:lnTo>
                    <a:lnTo>
                      <a:pt x="306" y="249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8" name="Line 315"/>
              <p:cNvSpPr>
                <a:spLocks noChangeShapeType="1"/>
              </p:cNvSpPr>
              <p:nvPr/>
            </p:nvSpPr>
            <p:spPr bwMode="auto">
              <a:xfrm>
                <a:off x="4322" y="1924"/>
                <a:ext cx="195" cy="183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9" name="Line 316"/>
              <p:cNvSpPr>
                <a:spLocks noChangeShapeType="1"/>
              </p:cNvSpPr>
              <p:nvPr/>
            </p:nvSpPr>
            <p:spPr bwMode="auto">
              <a:xfrm flipV="1">
                <a:off x="4486" y="1980"/>
                <a:ext cx="30" cy="30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0" name="Line 317"/>
              <p:cNvSpPr>
                <a:spLocks noChangeShapeType="1"/>
              </p:cNvSpPr>
              <p:nvPr/>
            </p:nvSpPr>
            <p:spPr bwMode="auto">
              <a:xfrm flipV="1">
                <a:off x="4452" y="1942"/>
                <a:ext cx="36" cy="36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1" name="Line 318"/>
              <p:cNvSpPr>
                <a:spLocks noChangeShapeType="1"/>
              </p:cNvSpPr>
              <p:nvPr/>
            </p:nvSpPr>
            <p:spPr bwMode="auto">
              <a:xfrm flipV="1">
                <a:off x="4418" y="1910"/>
                <a:ext cx="36" cy="36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2" name="Freeform 319"/>
              <p:cNvSpPr>
                <a:spLocks noChangeArrowheads="1"/>
              </p:cNvSpPr>
              <p:nvPr/>
            </p:nvSpPr>
            <p:spPr bwMode="auto">
              <a:xfrm>
                <a:off x="4399" y="1926"/>
                <a:ext cx="102" cy="98"/>
              </a:xfrm>
              <a:custGeom>
                <a:avLst/>
                <a:gdLst>
                  <a:gd name="T0" fmla="*/ 306 w 306"/>
                  <a:gd name="T1" fmla="*/ 250 h 294"/>
                  <a:gd name="T2" fmla="*/ 41 w 306"/>
                  <a:gd name="T3" fmla="*/ 0 h 294"/>
                  <a:gd name="T4" fmla="*/ 0 w 306"/>
                  <a:gd name="T5" fmla="*/ 44 h 294"/>
                  <a:gd name="T6" fmla="*/ 264 w 306"/>
                  <a:gd name="T7" fmla="*/ 294 h 294"/>
                  <a:gd name="T8" fmla="*/ 306 w 306"/>
                  <a:gd name="T9" fmla="*/ 25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6" h="294">
                    <a:moveTo>
                      <a:pt x="306" y="250"/>
                    </a:moveTo>
                    <a:lnTo>
                      <a:pt x="41" y="0"/>
                    </a:lnTo>
                    <a:lnTo>
                      <a:pt x="0" y="44"/>
                    </a:lnTo>
                    <a:lnTo>
                      <a:pt x="264" y="294"/>
                    </a:lnTo>
                    <a:lnTo>
                      <a:pt x="306" y="25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3" name="Freeform 320"/>
              <p:cNvSpPr>
                <a:spLocks noChangeArrowheads="1"/>
              </p:cNvSpPr>
              <p:nvPr/>
            </p:nvSpPr>
            <p:spPr bwMode="auto">
              <a:xfrm>
                <a:off x="5256" y="1269"/>
                <a:ext cx="123" cy="134"/>
              </a:xfrm>
              <a:custGeom>
                <a:avLst/>
                <a:gdLst>
                  <a:gd name="T0" fmla="*/ 0 w 369"/>
                  <a:gd name="T1" fmla="*/ 13 h 404"/>
                  <a:gd name="T2" fmla="*/ 15 w 369"/>
                  <a:gd name="T3" fmla="*/ 0 h 404"/>
                  <a:gd name="T4" fmla="*/ 369 w 369"/>
                  <a:gd name="T5" fmla="*/ 389 h 404"/>
                  <a:gd name="T6" fmla="*/ 353 w 369"/>
                  <a:gd name="T7" fmla="*/ 404 h 404"/>
                  <a:gd name="T8" fmla="*/ 0 w 369"/>
                  <a:gd name="T9" fmla="*/ 13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9" h="404">
                    <a:moveTo>
                      <a:pt x="0" y="13"/>
                    </a:moveTo>
                    <a:lnTo>
                      <a:pt x="15" y="0"/>
                    </a:lnTo>
                    <a:lnTo>
                      <a:pt x="369" y="389"/>
                    </a:lnTo>
                    <a:lnTo>
                      <a:pt x="353" y="404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4" name="Freeform 321"/>
              <p:cNvSpPr>
                <a:spLocks noChangeArrowheads="1"/>
              </p:cNvSpPr>
              <p:nvPr/>
            </p:nvSpPr>
            <p:spPr bwMode="auto">
              <a:xfrm>
                <a:off x="5227" y="1237"/>
                <a:ext cx="19" cy="20"/>
              </a:xfrm>
              <a:custGeom>
                <a:avLst/>
                <a:gdLst>
                  <a:gd name="T0" fmla="*/ 0 w 58"/>
                  <a:gd name="T1" fmla="*/ 15 h 61"/>
                  <a:gd name="T2" fmla="*/ 16 w 58"/>
                  <a:gd name="T3" fmla="*/ 0 h 61"/>
                  <a:gd name="T4" fmla="*/ 58 w 58"/>
                  <a:gd name="T5" fmla="*/ 47 h 61"/>
                  <a:gd name="T6" fmla="*/ 43 w 58"/>
                  <a:gd name="T7" fmla="*/ 61 h 61"/>
                  <a:gd name="T8" fmla="*/ 0 w 58"/>
                  <a:gd name="T9" fmla="*/ 15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61">
                    <a:moveTo>
                      <a:pt x="0" y="15"/>
                    </a:moveTo>
                    <a:lnTo>
                      <a:pt x="16" y="0"/>
                    </a:lnTo>
                    <a:lnTo>
                      <a:pt x="58" y="47"/>
                    </a:lnTo>
                    <a:lnTo>
                      <a:pt x="43" y="6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5" name="Freeform 322"/>
              <p:cNvSpPr>
                <a:spLocks noChangeArrowheads="1"/>
              </p:cNvSpPr>
              <p:nvPr/>
            </p:nvSpPr>
            <p:spPr bwMode="auto">
              <a:xfrm>
                <a:off x="5095" y="1091"/>
                <a:ext cx="123" cy="135"/>
              </a:xfrm>
              <a:custGeom>
                <a:avLst/>
                <a:gdLst>
                  <a:gd name="T0" fmla="*/ 0 w 370"/>
                  <a:gd name="T1" fmla="*/ 14 h 405"/>
                  <a:gd name="T2" fmla="*/ 15 w 370"/>
                  <a:gd name="T3" fmla="*/ 0 h 405"/>
                  <a:gd name="T4" fmla="*/ 370 w 370"/>
                  <a:gd name="T5" fmla="*/ 391 h 405"/>
                  <a:gd name="T6" fmla="*/ 354 w 370"/>
                  <a:gd name="T7" fmla="*/ 405 h 405"/>
                  <a:gd name="T8" fmla="*/ 0 w 370"/>
                  <a:gd name="T9" fmla="*/ 14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0" h="405">
                    <a:moveTo>
                      <a:pt x="0" y="14"/>
                    </a:moveTo>
                    <a:lnTo>
                      <a:pt x="15" y="0"/>
                    </a:lnTo>
                    <a:lnTo>
                      <a:pt x="370" y="391"/>
                    </a:lnTo>
                    <a:lnTo>
                      <a:pt x="354" y="405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6" name="Freeform 323"/>
              <p:cNvSpPr>
                <a:spLocks noChangeArrowheads="1"/>
              </p:cNvSpPr>
              <p:nvPr/>
            </p:nvSpPr>
            <p:spPr bwMode="auto">
              <a:xfrm>
                <a:off x="5067" y="1060"/>
                <a:ext cx="19" cy="21"/>
              </a:xfrm>
              <a:custGeom>
                <a:avLst/>
                <a:gdLst>
                  <a:gd name="T0" fmla="*/ 0 w 58"/>
                  <a:gd name="T1" fmla="*/ 14 h 61"/>
                  <a:gd name="T2" fmla="*/ 16 w 58"/>
                  <a:gd name="T3" fmla="*/ 0 h 61"/>
                  <a:gd name="T4" fmla="*/ 58 w 58"/>
                  <a:gd name="T5" fmla="*/ 46 h 61"/>
                  <a:gd name="T6" fmla="*/ 42 w 58"/>
                  <a:gd name="T7" fmla="*/ 61 h 61"/>
                  <a:gd name="T8" fmla="*/ 0 w 58"/>
                  <a:gd name="T9" fmla="*/ 1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61">
                    <a:moveTo>
                      <a:pt x="0" y="14"/>
                    </a:moveTo>
                    <a:lnTo>
                      <a:pt x="16" y="0"/>
                    </a:lnTo>
                    <a:lnTo>
                      <a:pt x="58" y="46"/>
                    </a:lnTo>
                    <a:lnTo>
                      <a:pt x="42" y="6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7" name="Freeform 324"/>
              <p:cNvSpPr>
                <a:spLocks noChangeArrowheads="1"/>
              </p:cNvSpPr>
              <p:nvPr/>
            </p:nvSpPr>
            <p:spPr bwMode="auto">
              <a:xfrm>
                <a:off x="4934" y="914"/>
                <a:ext cx="124" cy="135"/>
              </a:xfrm>
              <a:custGeom>
                <a:avLst/>
                <a:gdLst>
                  <a:gd name="T0" fmla="*/ 0 w 370"/>
                  <a:gd name="T1" fmla="*/ 15 h 405"/>
                  <a:gd name="T2" fmla="*/ 16 w 370"/>
                  <a:gd name="T3" fmla="*/ 0 h 405"/>
                  <a:gd name="T4" fmla="*/ 370 w 370"/>
                  <a:gd name="T5" fmla="*/ 391 h 405"/>
                  <a:gd name="T6" fmla="*/ 355 w 370"/>
                  <a:gd name="T7" fmla="*/ 405 h 405"/>
                  <a:gd name="T8" fmla="*/ 0 w 370"/>
                  <a:gd name="T9" fmla="*/ 15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0" h="405">
                    <a:moveTo>
                      <a:pt x="0" y="15"/>
                    </a:moveTo>
                    <a:lnTo>
                      <a:pt x="16" y="0"/>
                    </a:lnTo>
                    <a:lnTo>
                      <a:pt x="370" y="391"/>
                    </a:lnTo>
                    <a:lnTo>
                      <a:pt x="355" y="40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8" name="Freeform 325"/>
              <p:cNvSpPr>
                <a:spLocks noChangeArrowheads="1"/>
              </p:cNvSpPr>
              <p:nvPr/>
            </p:nvSpPr>
            <p:spPr bwMode="auto">
              <a:xfrm>
                <a:off x="4915" y="919"/>
                <a:ext cx="245" cy="244"/>
              </a:xfrm>
              <a:custGeom>
                <a:avLst/>
                <a:gdLst>
                  <a:gd name="T0" fmla="*/ 60 w 735"/>
                  <a:gd name="T1" fmla="*/ 734 h 734"/>
                  <a:gd name="T2" fmla="*/ 63 w 735"/>
                  <a:gd name="T3" fmla="*/ 664 h 734"/>
                  <a:gd name="T4" fmla="*/ 74 w 735"/>
                  <a:gd name="T5" fmla="*/ 598 h 734"/>
                  <a:gd name="T6" fmla="*/ 91 w 735"/>
                  <a:gd name="T7" fmla="*/ 534 h 734"/>
                  <a:gd name="T8" fmla="*/ 113 w 735"/>
                  <a:gd name="T9" fmla="*/ 472 h 734"/>
                  <a:gd name="T10" fmla="*/ 141 w 735"/>
                  <a:gd name="T11" fmla="*/ 413 h 734"/>
                  <a:gd name="T12" fmla="*/ 176 w 735"/>
                  <a:gd name="T13" fmla="*/ 358 h 734"/>
                  <a:gd name="T14" fmla="*/ 215 w 735"/>
                  <a:gd name="T15" fmla="*/ 305 h 734"/>
                  <a:gd name="T16" fmla="*/ 258 w 735"/>
                  <a:gd name="T17" fmla="*/ 258 h 734"/>
                  <a:gd name="T18" fmla="*/ 307 w 735"/>
                  <a:gd name="T19" fmla="*/ 214 h 734"/>
                  <a:gd name="T20" fmla="*/ 358 w 735"/>
                  <a:gd name="T21" fmla="*/ 175 h 734"/>
                  <a:gd name="T22" fmla="*/ 414 w 735"/>
                  <a:gd name="T23" fmla="*/ 142 h 734"/>
                  <a:gd name="T24" fmla="*/ 473 w 735"/>
                  <a:gd name="T25" fmla="*/ 113 h 734"/>
                  <a:gd name="T26" fmla="*/ 535 w 735"/>
                  <a:gd name="T27" fmla="*/ 90 h 734"/>
                  <a:gd name="T28" fmla="*/ 599 w 735"/>
                  <a:gd name="T29" fmla="*/ 73 h 734"/>
                  <a:gd name="T30" fmla="*/ 667 w 735"/>
                  <a:gd name="T31" fmla="*/ 64 h 734"/>
                  <a:gd name="T32" fmla="*/ 735 w 735"/>
                  <a:gd name="T33" fmla="*/ 60 h 734"/>
                  <a:gd name="T34" fmla="*/ 698 w 735"/>
                  <a:gd name="T35" fmla="*/ 1 h 734"/>
                  <a:gd name="T36" fmla="*/ 624 w 735"/>
                  <a:gd name="T37" fmla="*/ 9 h 734"/>
                  <a:gd name="T38" fmla="*/ 552 w 735"/>
                  <a:gd name="T39" fmla="*/ 24 h 734"/>
                  <a:gd name="T40" fmla="*/ 484 w 735"/>
                  <a:gd name="T41" fmla="*/ 45 h 734"/>
                  <a:gd name="T42" fmla="*/ 417 w 735"/>
                  <a:gd name="T43" fmla="*/ 73 h 734"/>
                  <a:gd name="T44" fmla="*/ 355 w 735"/>
                  <a:gd name="T45" fmla="*/ 107 h 734"/>
                  <a:gd name="T46" fmla="*/ 296 w 735"/>
                  <a:gd name="T47" fmla="*/ 147 h 734"/>
                  <a:gd name="T48" fmla="*/ 241 w 735"/>
                  <a:gd name="T49" fmla="*/ 191 h 734"/>
                  <a:gd name="T50" fmla="*/ 192 w 735"/>
                  <a:gd name="T51" fmla="*/ 241 h 734"/>
                  <a:gd name="T52" fmla="*/ 147 w 735"/>
                  <a:gd name="T53" fmla="*/ 296 h 734"/>
                  <a:gd name="T54" fmla="*/ 107 w 735"/>
                  <a:gd name="T55" fmla="*/ 354 h 734"/>
                  <a:gd name="T56" fmla="*/ 73 w 735"/>
                  <a:gd name="T57" fmla="*/ 417 h 734"/>
                  <a:gd name="T58" fmla="*/ 44 w 735"/>
                  <a:gd name="T59" fmla="*/ 482 h 734"/>
                  <a:gd name="T60" fmla="*/ 23 w 735"/>
                  <a:gd name="T61" fmla="*/ 551 h 734"/>
                  <a:gd name="T62" fmla="*/ 9 w 735"/>
                  <a:gd name="T63" fmla="*/ 622 h 734"/>
                  <a:gd name="T64" fmla="*/ 1 w 735"/>
                  <a:gd name="T65" fmla="*/ 696 h 734"/>
                  <a:gd name="T66" fmla="*/ 0 w 735"/>
                  <a:gd name="T67" fmla="*/ 734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35" h="734">
                    <a:moveTo>
                      <a:pt x="60" y="734"/>
                    </a:moveTo>
                    <a:lnTo>
                      <a:pt x="60" y="734"/>
                    </a:lnTo>
                    <a:lnTo>
                      <a:pt x="61" y="699"/>
                    </a:lnTo>
                    <a:lnTo>
                      <a:pt x="63" y="664"/>
                    </a:lnTo>
                    <a:lnTo>
                      <a:pt x="68" y="631"/>
                    </a:lnTo>
                    <a:lnTo>
                      <a:pt x="74" y="598"/>
                    </a:lnTo>
                    <a:lnTo>
                      <a:pt x="81" y="566"/>
                    </a:lnTo>
                    <a:lnTo>
                      <a:pt x="91" y="534"/>
                    </a:lnTo>
                    <a:lnTo>
                      <a:pt x="101" y="503"/>
                    </a:lnTo>
                    <a:lnTo>
                      <a:pt x="113" y="472"/>
                    </a:lnTo>
                    <a:lnTo>
                      <a:pt x="127" y="442"/>
                    </a:lnTo>
                    <a:lnTo>
                      <a:pt x="141" y="413"/>
                    </a:lnTo>
                    <a:lnTo>
                      <a:pt x="158" y="385"/>
                    </a:lnTo>
                    <a:lnTo>
                      <a:pt x="176" y="358"/>
                    </a:lnTo>
                    <a:lnTo>
                      <a:pt x="194" y="332"/>
                    </a:lnTo>
                    <a:lnTo>
                      <a:pt x="215" y="305"/>
                    </a:lnTo>
                    <a:lnTo>
                      <a:pt x="236" y="281"/>
                    </a:lnTo>
                    <a:lnTo>
                      <a:pt x="258" y="258"/>
                    </a:lnTo>
                    <a:lnTo>
                      <a:pt x="281" y="235"/>
                    </a:lnTo>
                    <a:lnTo>
                      <a:pt x="307" y="214"/>
                    </a:lnTo>
                    <a:lnTo>
                      <a:pt x="332" y="194"/>
                    </a:lnTo>
                    <a:lnTo>
                      <a:pt x="358" y="175"/>
                    </a:lnTo>
                    <a:lnTo>
                      <a:pt x="386" y="157"/>
                    </a:lnTo>
                    <a:lnTo>
                      <a:pt x="414" y="142"/>
                    </a:lnTo>
                    <a:lnTo>
                      <a:pt x="444" y="127"/>
                    </a:lnTo>
                    <a:lnTo>
                      <a:pt x="473" y="113"/>
                    </a:lnTo>
                    <a:lnTo>
                      <a:pt x="504" y="101"/>
                    </a:lnTo>
                    <a:lnTo>
                      <a:pt x="535" y="90"/>
                    </a:lnTo>
                    <a:lnTo>
                      <a:pt x="567" y="82"/>
                    </a:lnTo>
                    <a:lnTo>
                      <a:pt x="599" y="73"/>
                    </a:lnTo>
                    <a:lnTo>
                      <a:pt x="633" y="68"/>
                    </a:lnTo>
                    <a:lnTo>
                      <a:pt x="667" y="64"/>
                    </a:lnTo>
                    <a:lnTo>
                      <a:pt x="700" y="61"/>
                    </a:lnTo>
                    <a:lnTo>
                      <a:pt x="735" y="60"/>
                    </a:lnTo>
                    <a:lnTo>
                      <a:pt x="735" y="0"/>
                    </a:lnTo>
                    <a:lnTo>
                      <a:pt x="698" y="1"/>
                    </a:lnTo>
                    <a:lnTo>
                      <a:pt x="660" y="4"/>
                    </a:lnTo>
                    <a:lnTo>
                      <a:pt x="624" y="9"/>
                    </a:lnTo>
                    <a:lnTo>
                      <a:pt x="588" y="16"/>
                    </a:lnTo>
                    <a:lnTo>
                      <a:pt x="552" y="24"/>
                    </a:lnTo>
                    <a:lnTo>
                      <a:pt x="517" y="33"/>
                    </a:lnTo>
                    <a:lnTo>
                      <a:pt x="484" y="45"/>
                    </a:lnTo>
                    <a:lnTo>
                      <a:pt x="450" y="59"/>
                    </a:lnTo>
                    <a:lnTo>
                      <a:pt x="417" y="73"/>
                    </a:lnTo>
                    <a:lnTo>
                      <a:pt x="386" y="89"/>
                    </a:lnTo>
                    <a:lnTo>
                      <a:pt x="355" y="107"/>
                    </a:lnTo>
                    <a:lnTo>
                      <a:pt x="325" y="126"/>
                    </a:lnTo>
                    <a:lnTo>
                      <a:pt x="296" y="147"/>
                    </a:lnTo>
                    <a:lnTo>
                      <a:pt x="268" y="168"/>
                    </a:lnTo>
                    <a:lnTo>
                      <a:pt x="241" y="191"/>
                    </a:lnTo>
                    <a:lnTo>
                      <a:pt x="216" y="215"/>
                    </a:lnTo>
                    <a:lnTo>
                      <a:pt x="192" y="241"/>
                    </a:lnTo>
                    <a:lnTo>
                      <a:pt x="169" y="268"/>
                    </a:lnTo>
                    <a:lnTo>
                      <a:pt x="147" y="296"/>
                    </a:lnTo>
                    <a:lnTo>
                      <a:pt x="126" y="324"/>
                    </a:lnTo>
                    <a:lnTo>
                      <a:pt x="107" y="354"/>
                    </a:lnTo>
                    <a:lnTo>
                      <a:pt x="89" y="385"/>
                    </a:lnTo>
                    <a:lnTo>
                      <a:pt x="73" y="417"/>
                    </a:lnTo>
                    <a:lnTo>
                      <a:pt x="58" y="449"/>
                    </a:lnTo>
                    <a:lnTo>
                      <a:pt x="44" y="482"/>
                    </a:lnTo>
                    <a:lnTo>
                      <a:pt x="33" y="516"/>
                    </a:lnTo>
                    <a:lnTo>
                      <a:pt x="23" y="551"/>
                    </a:lnTo>
                    <a:lnTo>
                      <a:pt x="15" y="587"/>
                    </a:lnTo>
                    <a:lnTo>
                      <a:pt x="9" y="622"/>
                    </a:lnTo>
                    <a:lnTo>
                      <a:pt x="4" y="659"/>
                    </a:lnTo>
                    <a:lnTo>
                      <a:pt x="1" y="696"/>
                    </a:lnTo>
                    <a:lnTo>
                      <a:pt x="0" y="734"/>
                    </a:lnTo>
                    <a:lnTo>
                      <a:pt x="60" y="734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9" name="Freeform 326"/>
              <p:cNvSpPr>
                <a:spLocks noChangeArrowheads="1"/>
              </p:cNvSpPr>
              <p:nvPr/>
            </p:nvSpPr>
            <p:spPr bwMode="auto">
              <a:xfrm>
                <a:off x="4915" y="1163"/>
                <a:ext cx="245" cy="244"/>
              </a:xfrm>
              <a:custGeom>
                <a:avLst/>
                <a:gdLst>
                  <a:gd name="T0" fmla="*/ 735 w 735"/>
                  <a:gd name="T1" fmla="*/ 673 h 732"/>
                  <a:gd name="T2" fmla="*/ 667 w 735"/>
                  <a:gd name="T3" fmla="*/ 669 h 732"/>
                  <a:gd name="T4" fmla="*/ 599 w 735"/>
                  <a:gd name="T5" fmla="*/ 660 h 732"/>
                  <a:gd name="T6" fmla="*/ 535 w 735"/>
                  <a:gd name="T7" fmla="*/ 643 h 732"/>
                  <a:gd name="T8" fmla="*/ 473 w 735"/>
                  <a:gd name="T9" fmla="*/ 620 h 732"/>
                  <a:gd name="T10" fmla="*/ 414 w 735"/>
                  <a:gd name="T11" fmla="*/ 592 h 732"/>
                  <a:gd name="T12" fmla="*/ 358 w 735"/>
                  <a:gd name="T13" fmla="*/ 558 h 732"/>
                  <a:gd name="T14" fmla="*/ 307 w 735"/>
                  <a:gd name="T15" fmla="*/ 519 h 732"/>
                  <a:gd name="T16" fmla="*/ 258 w 735"/>
                  <a:gd name="T17" fmla="*/ 475 h 732"/>
                  <a:gd name="T18" fmla="*/ 215 w 735"/>
                  <a:gd name="T19" fmla="*/ 428 h 732"/>
                  <a:gd name="T20" fmla="*/ 176 w 735"/>
                  <a:gd name="T21" fmla="*/ 376 h 732"/>
                  <a:gd name="T22" fmla="*/ 141 w 735"/>
                  <a:gd name="T23" fmla="*/ 320 h 732"/>
                  <a:gd name="T24" fmla="*/ 113 w 735"/>
                  <a:gd name="T25" fmla="*/ 261 h 732"/>
                  <a:gd name="T26" fmla="*/ 91 w 735"/>
                  <a:gd name="T27" fmla="*/ 199 h 732"/>
                  <a:gd name="T28" fmla="*/ 74 w 735"/>
                  <a:gd name="T29" fmla="*/ 135 h 732"/>
                  <a:gd name="T30" fmla="*/ 63 w 735"/>
                  <a:gd name="T31" fmla="*/ 69 h 732"/>
                  <a:gd name="T32" fmla="*/ 60 w 735"/>
                  <a:gd name="T33" fmla="*/ 0 h 732"/>
                  <a:gd name="T34" fmla="*/ 1 w 735"/>
                  <a:gd name="T35" fmla="*/ 37 h 732"/>
                  <a:gd name="T36" fmla="*/ 9 w 735"/>
                  <a:gd name="T37" fmla="*/ 111 h 732"/>
                  <a:gd name="T38" fmla="*/ 23 w 735"/>
                  <a:gd name="T39" fmla="*/ 182 h 732"/>
                  <a:gd name="T40" fmla="*/ 44 w 735"/>
                  <a:gd name="T41" fmla="*/ 252 h 732"/>
                  <a:gd name="T42" fmla="*/ 73 w 735"/>
                  <a:gd name="T43" fmla="*/ 317 h 732"/>
                  <a:gd name="T44" fmla="*/ 107 w 735"/>
                  <a:gd name="T45" fmla="*/ 380 h 732"/>
                  <a:gd name="T46" fmla="*/ 147 w 735"/>
                  <a:gd name="T47" fmla="*/ 437 h 732"/>
                  <a:gd name="T48" fmla="*/ 192 w 735"/>
                  <a:gd name="T49" fmla="*/ 492 h 732"/>
                  <a:gd name="T50" fmla="*/ 241 w 735"/>
                  <a:gd name="T51" fmla="*/ 542 h 732"/>
                  <a:gd name="T52" fmla="*/ 296 w 735"/>
                  <a:gd name="T53" fmla="*/ 587 h 732"/>
                  <a:gd name="T54" fmla="*/ 355 w 735"/>
                  <a:gd name="T55" fmla="*/ 626 h 732"/>
                  <a:gd name="T56" fmla="*/ 417 w 735"/>
                  <a:gd name="T57" fmla="*/ 660 h 732"/>
                  <a:gd name="T58" fmla="*/ 484 w 735"/>
                  <a:gd name="T59" fmla="*/ 688 h 732"/>
                  <a:gd name="T60" fmla="*/ 552 w 735"/>
                  <a:gd name="T61" fmla="*/ 709 h 732"/>
                  <a:gd name="T62" fmla="*/ 624 w 735"/>
                  <a:gd name="T63" fmla="*/ 724 h 732"/>
                  <a:gd name="T64" fmla="*/ 698 w 735"/>
                  <a:gd name="T65" fmla="*/ 731 h 732"/>
                  <a:gd name="T66" fmla="*/ 735 w 735"/>
                  <a:gd name="T67" fmla="*/ 732 h 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35" h="732">
                    <a:moveTo>
                      <a:pt x="735" y="673"/>
                    </a:moveTo>
                    <a:lnTo>
                      <a:pt x="735" y="673"/>
                    </a:lnTo>
                    <a:lnTo>
                      <a:pt x="700" y="673"/>
                    </a:lnTo>
                    <a:lnTo>
                      <a:pt x="667" y="669"/>
                    </a:lnTo>
                    <a:lnTo>
                      <a:pt x="633" y="665"/>
                    </a:lnTo>
                    <a:lnTo>
                      <a:pt x="599" y="660"/>
                    </a:lnTo>
                    <a:lnTo>
                      <a:pt x="567" y="652"/>
                    </a:lnTo>
                    <a:lnTo>
                      <a:pt x="535" y="643"/>
                    </a:lnTo>
                    <a:lnTo>
                      <a:pt x="504" y="633"/>
                    </a:lnTo>
                    <a:lnTo>
                      <a:pt x="473" y="620"/>
                    </a:lnTo>
                    <a:lnTo>
                      <a:pt x="444" y="607"/>
                    </a:lnTo>
                    <a:lnTo>
                      <a:pt x="414" y="592"/>
                    </a:lnTo>
                    <a:lnTo>
                      <a:pt x="386" y="576"/>
                    </a:lnTo>
                    <a:lnTo>
                      <a:pt x="358" y="558"/>
                    </a:lnTo>
                    <a:lnTo>
                      <a:pt x="332" y="539"/>
                    </a:lnTo>
                    <a:lnTo>
                      <a:pt x="307" y="519"/>
                    </a:lnTo>
                    <a:lnTo>
                      <a:pt x="281" y="498"/>
                    </a:lnTo>
                    <a:lnTo>
                      <a:pt x="258" y="475"/>
                    </a:lnTo>
                    <a:lnTo>
                      <a:pt x="236" y="452"/>
                    </a:lnTo>
                    <a:lnTo>
                      <a:pt x="215" y="428"/>
                    </a:lnTo>
                    <a:lnTo>
                      <a:pt x="194" y="402"/>
                    </a:lnTo>
                    <a:lnTo>
                      <a:pt x="176" y="376"/>
                    </a:lnTo>
                    <a:lnTo>
                      <a:pt x="158" y="348"/>
                    </a:lnTo>
                    <a:lnTo>
                      <a:pt x="141" y="320"/>
                    </a:lnTo>
                    <a:lnTo>
                      <a:pt x="127" y="292"/>
                    </a:lnTo>
                    <a:lnTo>
                      <a:pt x="113" y="261"/>
                    </a:lnTo>
                    <a:lnTo>
                      <a:pt x="101" y="231"/>
                    </a:lnTo>
                    <a:lnTo>
                      <a:pt x="91" y="199"/>
                    </a:lnTo>
                    <a:lnTo>
                      <a:pt x="81" y="168"/>
                    </a:lnTo>
                    <a:lnTo>
                      <a:pt x="74" y="135"/>
                    </a:lnTo>
                    <a:lnTo>
                      <a:pt x="68" y="103"/>
                    </a:lnTo>
                    <a:lnTo>
                      <a:pt x="63" y="69"/>
                    </a:lnTo>
                    <a:lnTo>
                      <a:pt x="61" y="34"/>
                    </a:lnTo>
                    <a:lnTo>
                      <a:pt x="60" y="0"/>
                    </a:lnTo>
                    <a:lnTo>
                      <a:pt x="0" y="0"/>
                    </a:lnTo>
                    <a:lnTo>
                      <a:pt x="1" y="37"/>
                    </a:lnTo>
                    <a:lnTo>
                      <a:pt x="4" y="74"/>
                    </a:lnTo>
                    <a:lnTo>
                      <a:pt x="9" y="111"/>
                    </a:lnTo>
                    <a:lnTo>
                      <a:pt x="15" y="147"/>
                    </a:lnTo>
                    <a:lnTo>
                      <a:pt x="23" y="182"/>
                    </a:lnTo>
                    <a:lnTo>
                      <a:pt x="33" y="217"/>
                    </a:lnTo>
                    <a:lnTo>
                      <a:pt x="44" y="252"/>
                    </a:lnTo>
                    <a:lnTo>
                      <a:pt x="58" y="284"/>
                    </a:lnTo>
                    <a:lnTo>
                      <a:pt x="73" y="317"/>
                    </a:lnTo>
                    <a:lnTo>
                      <a:pt x="89" y="348"/>
                    </a:lnTo>
                    <a:lnTo>
                      <a:pt x="107" y="380"/>
                    </a:lnTo>
                    <a:lnTo>
                      <a:pt x="126" y="409"/>
                    </a:lnTo>
                    <a:lnTo>
                      <a:pt x="147" y="437"/>
                    </a:lnTo>
                    <a:lnTo>
                      <a:pt x="169" y="466"/>
                    </a:lnTo>
                    <a:lnTo>
                      <a:pt x="192" y="492"/>
                    </a:lnTo>
                    <a:lnTo>
                      <a:pt x="216" y="518"/>
                    </a:lnTo>
                    <a:lnTo>
                      <a:pt x="241" y="542"/>
                    </a:lnTo>
                    <a:lnTo>
                      <a:pt x="268" y="566"/>
                    </a:lnTo>
                    <a:lnTo>
                      <a:pt x="296" y="587"/>
                    </a:lnTo>
                    <a:lnTo>
                      <a:pt x="325" y="608"/>
                    </a:lnTo>
                    <a:lnTo>
                      <a:pt x="355" y="626"/>
                    </a:lnTo>
                    <a:lnTo>
                      <a:pt x="386" y="644"/>
                    </a:lnTo>
                    <a:lnTo>
                      <a:pt x="417" y="660"/>
                    </a:lnTo>
                    <a:lnTo>
                      <a:pt x="450" y="675"/>
                    </a:lnTo>
                    <a:lnTo>
                      <a:pt x="484" y="688"/>
                    </a:lnTo>
                    <a:lnTo>
                      <a:pt x="517" y="700"/>
                    </a:lnTo>
                    <a:lnTo>
                      <a:pt x="552" y="709"/>
                    </a:lnTo>
                    <a:lnTo>
                      <a:pt x="588" y="718"/>
                    </a:lnTo>
                    <a:lnTo>
                      <a:pt x="624" y="724"/>
                    </a:lnTo>
                    <a:lnTo>
                      <a:pt x="660" y="729"/>
                    </a:lnTo>
                    <a:lnTo>
                      <a:pt x="698" y="731"/>
                    </a:lnTo>
                    <a:lnTo>
                      <a:pt x="735" y="732"/>
                    </a:lnTo>
                    <a:lnTo>
                      <a:pt x="735" y="673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0" name="Freeform 327"/>
              <p:cNvSpPr>
                <a:spLocks noChangeArrowheads="1"/>
              </p:cNvSpPr>
              <p:nvPr/>
            </p:nvSpPr>
            <p:spPr bwMode="auto">
              <a:xfrm>
                <a:off x="5160" y="1163"/>
                <a:ext cx="246" cy="244"/>
              </a:xfrm>
              <a:custGeom>
                <a:avLst/>
                <a:gdLst>
                  <a:gd name="T0" fmla="*/ 676 w 736"/>
                  <a:gd name="T1" fmla="*/ 0 h 732"/>
                  <a:gd name="T2" fmla="*/ 673 w 736"/>
                  <a:gd name="T3" fmla="*/ 69 h 732"/>
                  <a:gd name="T4" fmla="*/ 663 w 736"/>
                  <a:gd name="T5" fmla="*/ 135 h 732"/>
                  <a:gd name="T6" fmla="*/ 646 w 736"/>
                  <a:gd name="T7" fmla="*/ 199 h 732"/>
                  <a:gd name="T8" fmla="*/ 623 w 736"/>
                  <a:gd name="T9" fmla="*/ 261 h 732"/>
                  <a:gd name="T10" fmla="*/ 594 w 736"/>
                  <a:gd name="T11" fmla="*/ 320 h 732"/>
                  <a:gd name="T12" fmla="*/ 560 w 736"/>
                  <a:gd name="T13" fmla="*/ 376 h 732"/>
                  <a:gd name="T14" fmla="*/ 521 w 736"/>
                  <a:gd name="T15" fmla="*/ 428 h 732"/>
                  <a:gd name="T16" fmla="*/ 478 w 736"/>
                  <a:gd name="T17" fmla="*/ 475 h 732"/>
                  <a:gd name="T18" fmla="*/ 430 w 736"/>
                  <a:gd name="T19" fmla="*/ 519 h 732"/>
                  <a:gd name="T20" fmla="*/ 378 w 736"/>
                  <a:gd name="T21" fmla="*/ 558 h 732"/>
                  <a:gd name="T22" fmla="*/ 322 w 736"/>
                  <a:gd name="T23" fmla="*/ 592 h 732"/>
                  <a:gd name="T24" fmla="*/ 263 w 736"/>
                  <a:gd name="T25" fmla="*/ 620 h 732"/>
                  <a:gd name="T26" fmla="*/ 201 w 736"/>
                  <a:gd name="T27" fmla="*/ 643 h 732"/>
                  <a:gd name="T28" fmla="*/ 136 w 736"/>
                  <a:gd name="T29" fmla="*/ 660 h 732"/>
                  <a:gd name="T30" fmla="*/ 70 w 736"/>
                  <a:gd name="T31" fmla="*/ 669 h 732"/>
                  <a:gd name="T32" fmla="*/ 0 w 736"/>
                  <a:gd name="T33" fmla="*/ 673 h 732"/>
                  <a:gd name="T34" fmla="*/ 38 w 736"/>
                  <a:gd name="T35" fmla="*/ 731 h 732"/>
                  <a:gd name="T36" fmla="*/ 112 w 736"/>
                  <a:gd name="T37" fmla="*/ 724 h 732"/>
                  <a:gd name="T38" fmla="*/ 184 w 736"/>
                  <a:gd name="T39" fmla="*/ 709 h 732"/>
                  <a:gd name="T40" fmla="*/ 253 w 736"/>
                  <a:gd name="T41" fmla="*/ 688 h 732"/>
                  <a:gd name="T42" fmla="*/ 319 w 736"/>
                  <a:gd name="T43" fmla="*/ 660 h 732"/>
                  <a:gd name="T44" fmla="*/ 381 w 736"/>
                  <a:gd name="T45" fmla="*/ 626 h 732"/>
                  <a:gd name="T46" fmla="*/ 440 w 736"/>
                  <a:gd name="T47" fmla="*/ 587 h 732"/>
                  <a:gd name="T48" fmla="*/ 495 w 736"/>
                  <a:gd name="T49" fmla="*/ 542 h 732"/>
                  <a:gd name="T50" fmla="*/ 545 w 736"/>
                  <a:gd name="T51" fmla="*/ 492 h 732"/>
                  <a:gd name="T52" fmla="*/ 590 w 736"/>
                  <a:gd name="T53" fmla="*/ 437 h 732"/>
                  <a:gd name="T54" fmla="*/ 629 w 736"/>
                  <a:gd name="T55" fmla="*/ 380 h 732"/>
                  <a:gd name="T56" fmla="*/ 664 w 736"/>
                  <a:gd name="T57" fmla="*/ 317 h 732"/>
                  <a:gd name="T58" fmla="*/ 691 w 736"/>
                  <a:gd name="T59" fmla="*/ 252 h 732"/>
                  <a:gd name="T60" fmla="*/ 713 w 736"/>
                  <a:gd name="T61" fmla="*/ 182 h 732"/>
                  <a:gd name="T62" fmla="*/ 728 w 736"/>
                  <a:gd name="T63" fmla="*/ 111 h 732"/>
                  <a:gd name="T64" fmla="*/ 735 w 736"/>
                  <a:gd name="T65" fmla="*/ 37 h 732"/>
                  <a:gd name="T66" fmla="*/ 736 w 736"/>
                  <a:gd name="T67" fmla="*/ 0 h 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36" h="732">
                    <a:moveTo>
                      <a:pt x="676" y="0"/>
                    </a:moveTo>
                    <a:lnTo>
                      <a:pt x="676" y="0"/>
                    </a:lnTo>
                    <a:lnTo>
                      <a:pt x="675" y="34"/>
                    </a:lnTo>
                    <a:lnTo>
                      <a:pt x="673" y="69"/>
                    </a:lnTo>
                    <a:lnTo>
                      <a:pt x="668" y="103"/>
                    </a:lnTo>
                    <a:lnTo>
                      <a:pt x="663" y="135"/>
                    </a:lnTo>
                    <a:lnTo>
                      <a:pt x="655" y="168"/>
                    </a:lnTo>
                    <a:lnTo>
                      <a:pt x="646" y="199"/>
                    </a:lnTo>
                    <a:lnTo>
                      <a:pt x="635" y="231"/>
                    </a:lnTo>
                    <a:lnTo>
                      <a:pt x="623" y="261"/>
                    </a:lnTo>
                    <a:lnTo>
                      <a:pt x="610" y="292"/>
                    </a:lnTo>
                    <a:lnTo>
                      <a:pt x="594" y="320"/>
                    </a:lnTo>
                    <a:lnTo>
                      <a:pt x="578" y="348"/>
                    </a:lnTo>
                    <a:lnTo>
                      <a:pt x="560" y="376"/>
                    </a:lnTo>
                    <a:lnTo>
                      <a:pt x="541" y="402"/>
                    </a:lnTo>
                    <a:lnTo>
                      <a:pt x="521" y="428"/>
                    </a:lnTo>
                    <a:lnTo>
                      <a:pt x="500" y="452"/>
                    </a:lnTo>
                    <a:lnTo>
                      <a:pt x="478" y="475"/>
                    </a:lnTo>
                    <a:lnTo>
                      <a:pt x="454" y="498"/>
                    </a:lnTo>
                    <a:lnTo>
                      <a:pt x="430" y="519"/>
                    </a:lnTo>
                    <a:lnTo>
                      <a:pt x="405" y="539"/>
                    </a:lnTo>
                    <a:lnTo>
                      <a:pt x="378" y="558"/>
                    </a:lnTo>
                    <a:lnTo>
                      <a:pt x="351" y="576"/>
                    </a:lnTo>
                    <a:lnTo>
                      <a:pt x="322" y="592"/>
                    </a:lnTo>
                    <a:lnTo>
                      <a:pt x="293" y="607"/>
                    </a:lnTo>
                    <a:lnTo>
                      <a:pt x="263" y="620"/>
                    </a:lnTo>
                    <a:lnTo>
                      <a:pt x="233" y="633"/>
                    </a:lnTo>
                    <a:lnTo>
                      <a:pt x="201" y="643"/>
                    </a:lnTo>
                    <a:lnTo>
                      <a:pt x="169" y="652"/>
                    </a:lnTo>
                    <a:lnTo>
                      <a:pt x="136" y="660"/>
                    </a:lnTo>
                    <a:lnTo>
                      <a:pt x="103" y="665"/>
                    </a:lnTo>
                    <a:lnTo>
                      <a:pt x="70" y="669"/>
                    </a:lnTo>
                    <a:lnTo>
                      <a:pt x="35" y="673"/>
                    </a:lnTo>
                    <a:lnTo>
                      <a:pt x="0" y="673"/>
                    </a:lnTo>
                    <a:lnTo>
                      <a:pt x="0" y="732"/>
                    </a:lnTo>
                    <a:lnTo>
                      <a:pt x="38" y="731"/>
                    </a:lnTo>
                    <a:lnTo>
                      <a:pt x="75" y="729"/>
                    </a:lnTo>
                    <a:lnTo>
                      <a:pt x="112" y="724"/>
                    </a:lnTo>
                    <a:lnTo>
                      <a:pt x="149" y="718"/>
                    </a:lnTo>
                    <a:lnTo>
                      <a:pt x="184" y="709"/>
                    </a:lnTo>
                    <a:lnTo>
                      <a:pt x="219" y="700"/>
                    </a:lnTo>
                    <a:lnTo>
                      <a:pt x="253" y="688"/>
                    </a:lnTo>
                    <a:lnTo>
                      <a:pt x="287" y="675"/>
                    </a:lnTo>
                    <a:lnTo>
                      <a:pt x="319" y="660"/>
                    </a:lnTo>
                    <a:lnTo>
                      <a:pt x="351" y="644"/>
                    </a:lnTo>
                    <a:lnTo>
                      <a:pt x="381" y="626"/>
                    </a:lnTo>
                    <a:lnTo>
                      <a:pt x="411" y="608"/>
                    </a:lnTo>
                    <a:lnTo>
                      <a:pt x="440" y="587"/>
                    </a:lnTo>
                    <a:lnTo>
                      <a:pt x="468" y="566"/>
                    </a:lnTo>
                    <a:lnTo>
                      <a:pt x="495" y="542"/>
                    </a:lnTo>
                    <a:lnTo>
                      <a:pt x="520" y="518"/>
                    </a:lnTo>
                    <a:lnTo>
                      <a:pt x="545" y="492"/>
                    </a:lnTo>
                    <a:lnTo>
                      <a:pt x="568" y="466"/>
                    </a:lnTo>
                    <a:lnTo>
                      <a:pt x="590" y="437"/>
                    </a:lnTo>
                    <a:lnTo>
                      <a:pt x="610" y="409"/>
                    </a:lnTo>
                    <a:lnTo>
                      <a:pt x="629" y="380"/>
                    </a:lnTo>
                    <a:lnTo>
                      <a:pt x="647" y="348"/>
                    </a:lnTo>
                    <a:lnTo>
                      <a:pt x="664" y="317"/>
                    </a:lnTo>
                    <a:lnTo>
                      <a:pt x="678" y="284"/>
                    </a:lnTo>
                    <a:lnTo>
                      <a:pt x="691" y="252"/>
                    </a:lnTo>
                    <a:lnTo>
                      <a:pt x="703" y="217"/>
                    </a:lnTo>
                    <a:lnTo>
                      <a:pt x="713" y="182"/>
                    </a:lnTo>
                    <a:lnTo>
                      <a:pt x="722" y="147"/>
                    </a:lnTo>
                    <a:lnTo>
                      <a:pt x="728" y="111"/>
                    </a:lnTo>
                    <a:lnTo>
                      <a:pt x="732" y="74"/>
                    </a:lnTo>
                    <a:lnTo>
                      <a:pt x="735" y="37"/>
                    </a:lnTo>
                    <a:lnTo>
                      <a:pt x="736" y="0"/>
                    </a:lnTo>
                    <a:lnTo>
                      <a:pt x="676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1" name="Freeform 328"/>
              <p:cNvSpPr>
                <a:spLocks noChangeArrowheads="1"/>
              </p:cNvSpPr>
              <p:nvPr/>
            </p:nvSpPr>
            <p:spPr bwMode="auto">
              <a:xfrm>
                <a:off x="5160" y="919"/>
                <a:ext cx="246" cy="244"/>
              </a:xfrm>
              <a:custGeom>
                <a:avLst/>
                <a:gdLst>
                  <a:gd name="T0" fmla="*/ 0 w 736"/>
                  <a:gd name="T1" fmla="*/ 60 h 734"/>
                  <a:gd name="T2" fmla="*/ 70 w 736"/>
                  <a:gd name="T3" fmla="*/ 64 h 734"/>
                  <a:gd name="T4" fmla="*/ 136 w 736"/>
                  <a:gd name="T5" fmla="*/ 73 h 734"/>
                  <a:gd name="T6" fmla="*/ 201 w 736"/>
                  <a:gd name="T7" fmla="*/ 90 h 734"/>
                  <a:gd name="T8" fmla="*/ 263 w 736"/>
                  <a:gd name="T9" fmla="*/ 113 h 734"/>
                  <a:gd name="T10" fmla="*/ 322 w 736"/>
                  <a:gd name="T11" fmla="*/ 142 h 734"/>
                  <a:gd name="T12" fmla="*/ 378 w 736"/>
                  <a:gd name="T13" fmla="*/ 175 h 734"/>
                  <a:gd name="T14" fmla="*/ 430 w 736"/>
                  <a:gd name="T15" fmla="*/ 214 h 734"/>
                  <a:gd name="T16" fmla="*/ 478 w 736"/>
                  <a:gd name="T17" fmla="*/ 258 h 734"/>
                  <a:gd name="T18" fmla="*/ 521 w 736"/>
                  <a:gd name="T19" fmla="*/ 305 h 734"/>
                  <a:gd name="T20" fmla="*/ 560 w 736"/>
                  <a:gd name="T21" fmla="*/ 358 h 734"/>
                  <a:gd name="T22" fmla="*/ 594 w 736"/>
                  <a:gd name="T23" fmla="*/ 413 h 734"/>
                  <a:gd name="T24" fmla="*/ 623 w 736"/>
                  <a:gd name="T25" fmla="*/ 472 h 734"/>
                  <a:gd name="T26" fmla="*/ 646 w 736"/>
                  <a:gd name="T27" fmla="*/ 534 h 734"/>
                  <a:gd name="T28" fmla="*/ 663 w 736"/>
                  <a:gd name="T29" fmla="*/ 598 h 734"/>
                  <a:gd name="T30" fmla="*/ 673 w 736"/>
                  <a:gd name="T31" fmla="*/ 664 h 734"/>
                  <a:gd name="T32" fmla="*/ 676 w 736"/>
                  <a:gd name="T33" fmla="*/ 734 h 734"/>
                  <a:gd name="T34" fmla="*/ 735 w 736"/>
                  <a:gd name="T35" fmla="*/ 696 h 734"/>
                  <a:gd name="T36" fmla="*/ 728 w 736"/>
                  <a:gd name="T37" fmla="*/ 622 h 734"/>
                  <a:gd name="T38" fmla="*/ 713 w 736"/>
                  <a:gd name="T39" fmla="*/ 551 h 734"/>
                  <a:gd name="T40" fmla="*/ 691 w 736"/>
                  <a:gd name="T41" fmla="*/ 482 h 734"/>
                  <a:gd name="T42" fmla="*/ 664 w 736"/>
                  <a:gd name="T43" fmla="*/ 417 h 734"/>
                  <a:gd name="T44" fmla="*/ 629 w 736"/>
                  <a:gd name="T45" fmla="*/ 354 h 734"/>
                  <a:gd name="T46" fmla="*/ 590 w 736"/>
                  <a:gd name="T47" fmla="*/ 296 h 734"/>
                  <a:gd name="T48" fmla="*/ 545 w 736"/>
                  <a:gd name="T49" fmla="*/ 241 h 734"/>
                  <a:gd name="T50" fmla="*/ 495 w 736"/>
                  <a:gd name="T51" fmla="*/ 191 h 734"/>
                  <a:gd name="T52" fmla="*/ 440 w 736"/>
                  <a:gd name="T53" fmla="*/ 147 h 734"/>
                  <a:gd name="T54" fmla="*/ 381 w 736"/>
                  <a:gd name="T55" fmla="*/ 107 h 734"/>
                  <a:gd name="T56" fmla="*/ 319 w 736"/>
                  <a:gd name="T57" fmla="*/ 73 h 734"/>
                  <a:gd name="T58" fmla="*/ 253 w 736"/>
                  <a:gd name="T59" fmla="*/ 45 h 734"/>
                  <a:gd name="T60" fmla="*/ 184 w 736"/>
                  <a:gd name="T61" fmla="*/ 24 h 734"/>
                  <a:gd name="T62" fmla="*/ 112 w 736"/>
                  <a:gd name="T63" fmla="*/ 9 h 734"/>
                  <a:gd name="T64" fmla="*/ 38 w 736"/>
                  <a:gd name="T65" fmla="*/ 1 h 734"/>
                  <a:gd name="T66" fmla="*/ 0 w 736"/>
                  <a:gd name="T67" fmla="*/ 0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36" h="734">
                    <a:moveTo>
                      <a:pt x="0" y="60"/>
                    </a:moveTo>
                    <a:lnTo>
                      <a:pt x="0" y="60"/>
                    </a:lnTo>
                    <a:lnTo>
                      <a:pt x="35" y="61"/>
                    </a:lnTo>
                    <a:lnTo>
                      <a:pt x="70" y="64"/>
                    </a:lnTo>
                    <a:lnTo>
                      <a:pt x="103" y="68"/>
                    </a:lnTo>
                    <a:lnTo>
                      <a:pt x="136" y="73"/>
                    </a:lnTo>
                    <a:lnTo>
                      <a:pt x="169" y="82"/>
                    </a:lnTo>
                    <a:lnTo>
                      <a:pt x="201" y="90"/>
                    </a:lnTo>
                    <a:lnTo>
                      <a:pt x="233" y="101"/>
                    </a:lnTo>
                    <a:lnTo>
                      <a:pt x="263" y="113"/>
                    </a:lnTo>
                    <a:lnTo>
                      <a:pt x="293" y="127"/>
                    </a:lnTo>
                    <a:lnTo>
                      <a:pt x="322" y="142"/>
                    </a:lnTo>
                    <a:lnTo>
                      <a:pt x="351" y="157"/>
                    </a:lnTo>
                    <a:lnTo>
                      <a:pt x="378" y="175"/>
                    </a:lnTo>
                    <a:lnTo>
                      <a:pt x="405" y="194"/>
                    </a:lnTo>
                    <a:lnTo>
                      <a:pt x="430" y="214"/>
                    </a:lnTo>
                    <a:lnTo>
                      <a:pt x="454" y="235"/>
                    </a:lnTo>
                    <a:lnTo>
                      <a:pt x="478" y="258"/>
                    </a:lnTo>
                    <a:lnTo>
                      <a:pt x="500" y="281"/>
                    </a:lnTo>
                    <a:lnTo>
                      <a:pt x="521" y="305"/>
                    </a:lnTo>
                    <a:lnTo>
                      <a:pt x="541" y="332"/>
                    </a:lnTo>
                    <a:lnTo>
                      <a:pt x="560" y="358"/>
                    </a:lnTo>
                    <a:lnTo>
                      <a:pt x="578" y="385"/>
                    </a:lnTo>
                    <a:lnTo>
                      <a:pt x="594" y="413"/>
                    </a:lnTo>
                    <a:lnTo>
                      <a:pt x="610" y="442"/>
                    </a:lnTo>
                    <a:lnTo>
                      <a:pt x="623" y="472"/>
                    </a:lnTo>
                    <a:lnTo>
                      <a:pt x="635" y="503"/>
                    </a:lnTo>
                    <a:lnTo>
                      <a:pt x="646" y="534"/>
                    </a:lnTo>
                    <a:lnTo>
                      <a:pt x="655" y="566"/>
                    </a:lnTo>
                    <a:lnTo>
                      <a:pt x="663" y="598"/>
                    </a:lnTo>
                    <a:lnTo>
                      <a:pt x="668" y="631"/>
                    </a:lnTo>
                    <a:lnTo>
                      <a:pt x="673" y="664"/>
                    </a:lnTo>
                    <a:lnTo>
                      <a:pt x="675" y="699"/>
                    </a:lnTo>
                    <a:lnTo>
                      <a:pt x="676" y="734"/>
                    </a:lnTo>
                    <a:lnTo>
                      <a:pt x="736" y="734"/>
                    </a:lnTo>
                    <a:lnTo>
                      <a:pt x="735" y="696"/>
                    </a:lnTo>
                    <a:lnTo>
                      <a:pt x="732" y="659"/>
                    </a:lnTo>
                    <a:lnTo>
                      <a:pt x="728" y="622"/>
                    </a:lnTo>
                    <a:lnTo>
                      <a:pt x="722" y="587"/>
                    </a:lnTo>
                    <a:lnTo>
                      <a:pt x="713" y="551"/>
                    </a:lnTo>
                    <a:lnTo>
                      <a:pt x="703" y="516"/>
                    </a:lnTo>
                    <a:lnTo>
                      <a:pt x="691" y="482"/>
                    </a:lnTo>
                    <a:lnTo>
                      <a:pt x="678" y="449"/>
                    </a:lnTo>
                    <a:lnTo>
                      <a:pt x="664" y="417"/>
                    </a:lnTo>
                    <a:lnTo>
                      <a:pt x="647" y="385"/>
                    </a:lnTo>
                    <a:lnTo>
                      <a:pt x="629" y="354"/>
                    </a:lnTo>
                    <a:lnTo>
                      <a:pt x="610" y="324"/>
                    </a:lnTo>
                    <a:lnTo>
                      <a:pt x="590" y="296"/>
                    </a:lnTo>
                    <a:lnTo>
                      <a:pt x="568" y="268"/>
                    </a:lnTo>
                    <a:lnTo>
                      <a:pt x="545" y="241"/>
                    </a:lnTo>
                    <a:lnTo>
                      <a:pt x="520" y="215"/>
                    </a:lnTo>
                    <a:lnTo>
                      <a:pt x="495" y="191"/>
                    </a:lnTo>
                    <a:lnTo>
                      <a:pt x="468" y="168"/>
                    </a:lnTo>
                    <a:lnTo>
                      <a:pt x="440" y="147"/>
                    </a:lnTo>
                    <a:lnTo>
                      <a:pt x="411" y="126"/>
                    </a:lnTo>
                    <a:lnTo>
                      <a:pt x="381" y="107"/>
                    </a:lnTo>
                    <a:lnTo>
                      <a:pt x="351" y="89"/>
                    </a:lnTo>
                    <a:lnTo>
                      <a:pt x="319" y="73"/>
                    </a:lnTo>
                    <a:lnTo>
                      <a:pt x="287" y="59"/>
                    </a:lnTo>
                    <a:lnTo>
                      <a:pt x="253" y="45"/>
                    </a:lnTo>
                    <a:lnTo>
                      <a:pt x="219" y="33"/>
                    </a:lnTo>
                    <a:lnTo>
                      <a:pt x="184" y="24"/>
                    </a:lnTo>
                    <a:lnTo>
                      <a:pt x="149" y="16"/>
                    </a:lnTo>
                    <a:lnTo>
                      <a:pt x="112" y="9"/>
                    </a:lnTo>
                    <a:lnTo>
                      <a:pt x="75" y="4"/>
                    </a:lnTo>
                    <a:lnTo>
                      <a:pt x="38" y="1"/>
                    </a:lnTo>
                    <a:lnTo>
                      <a:pt x="0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2" name="Freeform 329"/>
              <p:cNvSpPr>
                <a:spLocks noChangeArrowheads="1"/>
              </p:cNvSpPr>
              <p:nvPr/>
            </p:nvSpPr>
            <p:spPr bwMode="auto">
              <a:xfrm>
                <a:off x="5160" y="919"/>
                <a:ext cx="1" cy="20"/>
              </a:xfrm>
              <a:custGeom>
                <a:avLst/>
                <a:gdLst>
                  <a:gd name="T0" fmla="*/ 0 w 1"/>
                  <a:gd name="T1" fmla="*/ 60 h 60"/>
                  <a:gd name="T2" fmla="*/ 0 w 1"/>
                  <a:gd name="T3" fmla="*/ 30 h 60"/>
                  <a:gd name="T4" fmla="*/ 0 w 1"/>
                  <a:gd name="T5" fmla="*/ 30 h 60"/>
                  <a:gd name="T6" fmla="*/ 0 w 1"/>
                  <a:gd name="T7" fmla="*/ 30 h 60"/>
                  <a:gd name="T8" fmla="*/ 0 w 1"/>
                  <a:gd name="T9" fmla="*/ 30 h 60"/>
                  <a:gd name="T10" fmla="*/ 0 w 1"/>
                  <a:gd name="T11" fmla="*/ 30 h 60"/>
                  <a:gd name="T12" fmla="*/ 0 w 1"/>
                  <a:gd name="T13" fmla="*/ 30 h 60"/>
                  <a:gd name="T14" fmla="*/ 0 w 1"/>
                  <a:gd name="T15" fmla="*/ 0 h 60"/>
                  <a:gd name="T16" fmla="*/ 0 w 1"/>
                  <a:gd name="T1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60">
                    <a:moveTo>
                      <a:pt x="0" y="60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3" name="Freeform 330"/>
              <p:cNvSpPr>
                <a:spLocks noChangeArrowheads="1"/>
              </p:cNvSpPr>
              <p:nvPr/>
            </p:nvSpPr>
            <p:spPr bwMode="auto">
              <a:xfrm>
                <a:off x="5006" y="1010"/>
                <a:ext cx="154" cy="153"/>
              </a:xfrm>
              <a:custGeom>
                <a:avLst/>
                <a:gdLst>
                  <a:gd name="T0" fmla="*/ 60 w 462"/>
                  <a:gd name="T1" fmla="*/ 461 h 461"/>
                  <a:gd name="T2" fmla="*/ 62 w 462"/>
                  <a:gd name="T3" fmla="*/ 420 h 461"/>
                  <a:gd name="T4" fmla="*/ 68 w 462"/>
                  <a:gd name="T5" fmla="*/ 380 h 461"/>
                  <a:gd name="T6" fmla="*/ 79 w 462"/>
                  <a:gd name="T7" fmla="*/ 342 h 461"/>
                  <a:gd name="T8" fmla="*/ 92 w 462"/>
                  <a:gd name="T9" fmla="*/ 305 h 461"/>
                  <a:gd name="T10" fmla="*/ 108 w 462"/>
                  <a:gd name="T11" fmla="*/ 270 h 461"/>
                  <a:gd name="T12" fmla="*/ 129 w 462"/>
                  <a:gd name="T13" fmla="*/ 237 h 461"/>
                  <a:gd name="T14" fmla="*/ 153 w 462"/>
                  <a:gd name="T15" fmla="*/ 206 h 461"/>
                  <a:gd name="T16" fmla="*/ 179 w 462"/>
                  <a:gd name="T17" fmla="*/ 177 h 461"/>
                  <a:gd name="T18" fmla="*/ 207 w 462"/>
                  <a:gd name="T19" fmla="*/ 151 h 461"/>
                  <a:gd name="T20" fmla="*/ 238 w 462"/>
                  <a:gd name="T21" fmla="*/ 128 h 461"/>
                  <a:gd name="T22" fmla="*/ 272 w 462"/>
                  <a:gd name="T23" fmla="*/ 108 h 461"/>
                  <a:gd name="T24" fmla="*/ 306 w 462"/>
                  <a:gd name="T25" fmla="*/ 91 h 461"/>
                  <a:gd name="T26" fmla="*/ 343 w 462"/>
                  <a:gd name="T27" fmla="*/ 77 h 461"/>
                  <a:gd name="T28" fmla="*/ 382 w 462"/>
                  <a:gd name="T29" fmla="*/ 68 h 461"/>
                  <a:gd name="T30" fmla="*/ 421 w 462"/>
                  <a:gd name="T31" fmla="*/ 62 h 461"/>
                  <a:gd name="T32" fmla="*/ 462 w 462"/>
                  <a:gd name="T33" fmla="*/ 60 h 461"/>
                  <a:gd name="T34" fmla="*/ 439 w 462"/>
                  <a:gd name="T35" fmla="*/ 1 h 461"/>
                  <a:gd name="T36" fmla="*/ 393 w 462"/>
                  <a:gd name="T37" fmla="*/ 5 h 461"/>
                  <a:gd name="T38" fmla="*/ 347 w 462"/>
                  <a:gd name="T39" fmla="*/ 14 h 461"/>
                  <a:gd name="T40" fmla="*/ 304 w 462"/>
                  <a:gd name="T41" fmla="*/ 28 h 461"/>
                  <a:gd name="T42" fmla="*/ 262 w 462"/>
                  <a:gd name="T43" fmla="*/ 46 h 461"/>
                  <a:gd name="T44" fmla="*/ 223 w 462"/>
                  <a:gd name="T45" fmla="*/ 67 h 461"/>
                  <a:gd name="T46" fmla="*/ 186 w 462"/>
                  <a:gd name="T47" fmla="*/ 92 h 461"/>
                  <a:gd name="T48" fmla="*/ 152 w 462"/>
                  <a:gd name="T49" fmla="*/ 119 h 461"/>
                  <a:gd name="T50" fmla="*/ 121 w 462"/>
                  <a:gd name="T51" fmla="*/ 151 h 461"/>
                  <a:gd name="T52" fmla="*/ 93 w 462"/>
                  <a:gd name="T53" fmla="*/ 186 h 461"/>
                  <a:gd name="T54" fmla="*/ 67 w 462"/>
                  <a:gd name="T55" fmla="*/ 222 h 461"/>
                  <a:gd name="T56" fmla="*/ 46 w 462"/>
                  <a:gd name="T57" fmla="*/ 261 h 461"/>
                  <a:gd name="T58" fmla="*/ 28 w 462"/>
                  <a:gd name="T59" fmla="*/ 302 h 461"/>
                  <a:gd name="T60" fmla="*/ 15 w 462"/>
                  <a:gd name="T61" fmla="*/ 345 h 461"/>
                  <a:gd name="T62" fmla="*/ 5 w 462"/>
                  <a:gd name="T63" fmla="*/ 390 h 461"/>
                  <a:gd name="T64" fmla="*/ 1 w 462"/>
                  <a:gd name="T65" fmla="*/ 438 h 461"/>
                  <a:gd name="T66" fmla="*/ 0 w 462"/>
                  <a:gd name="T67" fmla="*/ 461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62" h="461">
                    <a:moveTo>
                      <a:pt x="60" y="461"/>
                    </a:moveTo>
                    <a:lnTo>
                      <a:pt x="60" y="461"/>
                    </a:lnTo>
                    <a:lnTo>
                      <a:pt x="61" y="440"/>
                    </a:lnTo>
                    <a:lnTo>
                      <a:pt x="62" y="420"/>
                    </a:lnTo>
                    <a:lnTo>
                      <a:pt x="65" y="400"/>
                    </a:lnTo>
                    <a:lnTo>
                      <a:pt x="68" y="380"/>
                    </a:lnTo>
                    <a:lnTo>
                      <a:pt x="73" y="361"/>
                    </a:lnTo>
                    <a:lnTo>
                      <a:pt x="79" y="342"/>
                    </a:lnTo>
                    <a:lnTo>
                      <a:pt x="85" y="323"/>
                    </a:lnTo>
                    <a:lnTo>
                      <a:pt x="92" y="305"/>
                    </a:lnTo>
                    <a:lnTo>
                      <a:pt x="100" y="287"/>
                    </a:lnTo>
                    <a:lnTo>
                      <a:pt x="108" y="270"/>
                    </a:lnTo>
                    <a:lnTo>
                      <a:pt x="119" y="253"/>
                    </a:lnTo>
                    <a:lnTo>
                      <a:pt x="129" y="237"/>
                    </a:lnTo>
                    <a:lnTo>
                      <a:pt x="140" y="221"/>
                    </a:lnTo>
                    <a:lnTo>
                      <a:pt x="153" y="206"/>
                    </a:lnTo>
                    <a:lnTo>
                      <a:pt x="165" y="191"/>
                    </a:lnTo>
                    <a:lnTo>
                      <a:pt x="179" y="177"/>
                    </a:lnTo>
                    <a:lnTo>
                      <a:pt x="193" y="164"/>
                    </a:lnTo>
                    <a:lnTo>
                      <a:pt x="207" y="151"/>
                    </a:lnTo>
                    <a:lnTo>
                      <a:pt x="222" y="139"/>
                    </a:lnTo>
                    <a:lnTo>
                      <a:pt x="238" y="128"/>
                    </a:lnTo>
                    <a:lnTo>
                      <a:pt x="255" y="117"/>
                    </a:lnTo>
                    <a:lnTo>
                      <a:pt x="272" y="108"/>
                    </a:lnTo>
                    <a:lnTo>
                      <a:pt x="288" y="99"/>
                    </a:lnTo>
                    <a:lnTo>
                      <a:pt x="306" y="91"/>
                    </a:lnTo>
                    <a:lnTo>
                      <a:pt x="324" y="84"/>
                    </a:lnTo>
                    <a:lnTo>
                      <a:pt x="343" y="77"/>
                    </a:lnTo>
                    <a:lnTo>
                      <a:pt x="362" y="72"/>
                    </a:lnTo>
                    <a:lnTo>
                      <a:pt x="382" y="68"/>
                    </a:lnTo>
                    <a:lnTo>
                      <a:pt x="401" y="64"/>
                    </a:lnTo>
                    <a:lnTo>
                      <a:pt x="421" y="62"/>
                    </a:lnTo>
                    <a:lnTo>
                      <a:pt x="442" y="60"/>
                    </a:lnTo>
                    <a:lnTo>
                      <a:pt x="462" y="60"/>
                    </a:lnTo>
                    <a:lnTo>
                      <a:pt x="462" y="0"/>
                    </a:lnTo>
                    <a:lnTo>
                      <a:pt x="439" y="1"/>
                    </a:lnTo>
                    <a:lnTo>
                      <a:pt x="416" y="2"/>
                    </a:lnTo>
                    <a:lnTo>
                      <a:pt x="393" y="5"/>
                    </a:lnTo>
                    <a:lnTo>
                      <a:pt x="370" y="9"/>
                    </a:lnTo>
                    <a:lnTo>
                      <a:pt x="347" y="14"/>
                    </a:lnTo>
                    <a:lnTo>
                      <a:pt x="325" y="21"/>
                    </a:lnTo>
                    <a:lnTo>
                      <a:pt x="304" y="28"/>
                    </a:lnTo>
                    <a:lnTo>
                      <a:pt x="283" y="37"/>
                    </a:lnTo>
                    <a:lnTo>
                      <a:pt x="262" y="46"/>
                    </a:lnTo>
                    <a:lnTo>
                      <a:pt x="242" y="55"/>
                    </a:lnTo>
                    <a:lnTo>
                      <a:pt x="223" y="67"/>
                    </a:lnTo>
                    <a:lnTo>
                      <a:pt x="204" y="79"/>
                    </a:lnTo>
                    <a:lnTo>
                      <a:pt x="186" y="92"/>
                    </a:lnTo>
                    <a:lnTo>
                      <a:pt x="168" y="106"/>
                    </a:lnTo>
                    <a:lnTo>
                      <a:pt x="152" y="119"/>
                    </a:lnTo>
                    <a:lnTo>
                      <a:pt x="136" y="135"/>
                    </a:lnTo>
                    <a:lnTo>
                      <a:pt x="121" y="151"/>
                    </a:lnTo>
                    <a:lnTo>
                      <a:pt x="106" y="168"/>
                    </a:lnTo>
                    <a:lnTo>
                      <a:pt x="93" y="186"/>
                    </a:lnTo>
                    <a:lnTo>
                      <a:pt x="80" y="203"/>
                    </a:lnTo>
                    <a:lnTo>
                      <a:pt x="67" y="222"/>
                    </a:lnTo>
                    <a:lnTo>
                      <a:pt x="57" y="241"/>
                    </a:lnTo>
                    <a:lnTo>
                      <a:pt x="46" y="261"/>
                    </a:lnTo>
                    <a:lnTo>
                      <a:pt x="37" y="281"/>
                    </a:lnTo>
                    <a:lnTo>
                      <a:pt x="28" y="302"/>
                    </a:lnTo>
                    <a:lnTo>
                      <a:pt x="21" y="324"/>
                    </a:lnTo>
                    <a:lnTo>
                      <a:pt x="15" y="345"/>
                    </a:lnTo>
                    <a:lnTo>
                      <a:pt x="9" y="368"/>
                    </a:lnTo>
                    <a:lnTo>
                      <a:pt x="5" y="390"/>
                    </a:lnTo>
                    <a:lnTo>
                      <a:pt x="3" y="413"/>
                    </a:lnTo>
                    <a:lnTo>
                      <a:pt x="1" y="438"/>
                    </a:lnTo>
                    <a:lnTo>
                      <a:pt x="0" y="461"/>
                    </a:lnTo>
                    <a:lnTo>
                      <a:pt x="60" y="461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4" name="Freeform 331"/>
              <p:cNvSpPr>
                <a:spLocks noChangeArrowheads="1"/>
              </p:cNvSpPr>
              <p:nvPr/>
            </p:nvSpPr>
            <p:spPr bwMode="auto">
              <a:xfrm>
                <a:off x="5006" y="1163"/>
                <a:ext cx="154" cy="154"/>
              </a:xfrm>
              <a:custGeom>
                <a:avLst/>
                <a:gdLst>
                  <a:gd name="T0" fmla="*/ 462 w 462"/>
                  <a:gd name="T1" fmla="*/ 401 h 461"/>
                  <a:gd name="T2" fmla="*/ 421 w 462"/>
                  <a:gd name="T3" fmla="*/ 399 h 461"/>
                  <a:gd name="T4" fmla="*/ 382 w 462"/>
                  <a:gd name="T5" fmla="*/ 392 h 461"/>
                  <a:gd name="T6" fmla="*/ 343 w 462"/>
                  <a:gd name="T7" fmla="*/ 383 h 461"/>
                  <a:gd name="T8" fmla="*/ 306 w 462"/>
                  <a:gd name="T9" fmla="*/ 369 h 461"/>
                  <a:gd name="T10" fmla="*/ 272 w 462"/>
                  <a:gd name="T11" fmla="*/ 352 h 461"/>
                  <a:gd name="T12" fmla="*/ 238 w 462"/>
                  <a:gd name="T13" fmla="*/ 332 h 461"/>
                  <a:gd name="T14" fmla="*/ 207 w 462"/>
                  <a:gd name="T15" fmla="*/ 309 h 461"/>
                  <a:gd name="T16" fmla="*/ 179 w 462"/>
                  <a:gd name="T17" fmla="*/ 283 h 461"/>
                  <a:gd name="T18" fmla="*/ 153 w 462"/>
                  <a:gd name="T19" fmla="*/ 255 h 461"/>
                  <a:gd name="T20" fmla="*/ 129 w 462"/>
                  <a:gd name="T21" fmla="*/ 223 h 461"/>
                  <a:gd name="T22" fmla="*/ 108 w 462"/>
                  <a:gd name="T23" fmla="*/ 191 h 461"/>
                  <a:gd name="T24" fmla="*/ 92 w 462"/>
                  <a:gd name="T25" fmla="*/ 155 h 461"/>
                  <a:gd name="T26" fmla="*/ 79 w 462"/>
                  <a:gd name="T27" fmla="*/ 118 h 461"/>
                  <a:gd name="T28" fmla="*/ 68 w 462"/>
                  <a:gd name="T29" fmla="*/ 81 h 461"/>
                  <a:gd name="T30" fmla="*/ 62 w 462"/>
                  <a:gd name="T31" fmla="*/ 41 h 461"/>
                  <a:gd name="T32" fmla="*/ 60 w 462"/>
                  <a:gd name="T33" fmla="*/ 0 h 461"/>
                  <a:gd name="T34" fmla="*/ 1 w 462"/>
                  <a:gd name="T35" fmla="*/ 23 h 461"/>
                  <a:gd name="T36" fmla="*/ 5 w 462"/>
                  <a:gd name="T37" fmla="*/ 70 h 461"/>
                  <a:gd name="T38" fmla="*/ 15 w 462"/>
                  <a:gd name="T39" fmla="*/ 114 h 461"/>
                  <a:gd name="T40" fmla="*/ 28 w 462"/>
                  <a:gd name="T41" fmla="*/ 158 h 461"/>
                  <a:gd name="T42" fmla="*/ 46 w 462"/>
                  <a:gd name="T43" fmla="*/ 199 h 461"/>
                  <a:gd name="T44" fmla="*/ 67 w 462"/>
                  <a:gd name="T45" fmla="*/ 238 h 461"/>
                  <a:gd name="T46" fmla="*/ 93 w 462"/>
                  <a:gd name="T47" fmla="*/ 275 h 461"/>
                  <a:gd name="T48" fmla="*/ 121 w 462"/>
                  <a:gd name="T49" fmla="*/ 309 h 461"/>
                  <a:gd name="T50" fmla="*/ 152 w 462"/>
                  <a:gd name="T51" fmla="*/ 341 h 461"/>
                  <a:gd name="T52" fmla="*/ 186 w 462"/>
                  <a:gd name="T53" fmla="*/ 368 h 461"/>
                  <a:gd name="T54" fmla="*/ 223 w 462"/>
                  <a:gd name="T55" fmla="*/ 393 h 461"/>
                  <a:gd name="T56" fmla="*/ 262 w 462"/>
                  <a:gd name="T57" fmla="*/ 414 h 461"/>
                  <a:gd name="T58" fmla="*/ 304 w 462"/>
                  <a:gd name="T59" fmla="*/ 432 h 461"/>
                  <a:gd name="T60" fmla="*/ 347 w 462"/>
                  <a:gd name="T61" fmla="*/ 446 h 461"/>
                  <a:gd name="T62" fmla="*/ 393 w 462"/>
                  <a:gd name="T63" fmla="*/ 455 h 461"/>
                  <a:gd name="T64" fmla="*/ 439 w 462"/>
                  <a:gd name="T65" fmla="*/ 460 h 461"/>
                  <a:gd name="T66" fmla="*/ 462 w 462"/>
                  <a:gd name="T67" fmla="*/ 461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62" h="461">
                    <a:moveTo>
                      <a:pt x="462" y="401"/>
                    </a:moveTo>
                    <a:lnTo>
                      <a:pt x="462" y="401"/>
                    </a:lnTo>
                    <a:lnTo>
                      <a:pt x="442" y="400"/>
                    </a:lnTo>
                    <a:lnTo>
                      <a:pt x="421" y="399"/>
                    </a:lnTo>
                    <a:lnTo>
                      <a:pt x="401" y="397"/>
                    </a:lnTo>
                    <a:lnTo>
                      <a:pt x="382" y="392"/>
                    </a:lnTo>
                    <a:lnTo>
                      <a:pt x="362" y="388"/>
                    </a:lnTo>
                    <a:lnTo>
                      <a:pt x="343" y="383"/>
                    </a:lnTo>
                    <a:lnTo>
                      <a:pt x="324" y="377"/>
                    </a:lnTo>
                    <a:lnTo>
                      <a:pt x="306" y="369"/>
                    </a:lnTo>
                    <a:lnTo>
                      <a:pt x="288" y="361"/>
                    </a:lnTo>
                    <a:lnTo>
                      <a:pt x="272" y="352"/>
                    </a:lnTo>
                    <a:lnTo>
                      <a:pt x="255" y="343"/>
                    </a:lnTo>
                    <a:lnTo>
                      <a:pt x="238" y="332"/>
                    </a:lnTo>
                    <a:lnTo>
                      <a:pt x="222" y="321"/>
                    </a:lnTo>
                    <a:lnTo>
                      <a:pt x="207" y="309"/>
                    </a:lnTo>
                    <a:lnTo>
                      <a:pt x="193" y="297"/>
                    </a:lnTo>
                    <a:lnTo>
                      <a:pt x="179" y="283"/>
                    </a:lnTo>
                    <a:lnTo>
                      <a:pt x="165" y="269"/>
                    </a:lnTo>
                    <a:lnTo>
                      <a:pt x="153" y="255"/>
                    </a:lnTo>
                    <a:lnTo>
                      <a:pt x="140" y="239"/>
                    </a:lnTo>
                    <a:lnTo>
                      <a:pt x="129" y="223"/>
                    </a:lnTo>
                    <a:lnTo>
                      <a:pt x="119" y="208"/>
                    </a:lnTo>
                    <a:lnTo>
                      <a:pt x="108" y="191"/>
                    </a:lnTo>
                    <a:lnTo>
                      <a:pt x="100" y="173"/>
                    </a:lnTo>
                    <a:lnTo>
                      <a:pt x="92" y="155"/>
                    </a:lnTo>
                    <a:lnTo>
                      <a:pt x="85" y="137"/>
                    </a:lnTo>
                    <a:lnTo>
                      <a:pt x="79" y="118"/>
                    </a:lnTo>
                    <a:lnTo>
                      <a:pt x="73" y="99"/>
                    </a:lnTo>
                    <a:lnTo>
                      <a:pt x="68" y="81"/>
                    </a:lnTo>
                    <a:lnTo>
                      <a:pt x="65" y="61"/>
                    </a:lnTo>
                    <a:lnTo>
                      <a:pt x="62" y="41"/>
                    </a:lnTo>
                    <a:lnTo>
                      <a:pt x="61" y="21"/>
                    </a:lnTo>
                    <a:lnTo>
                      <a:pt x="60" y="0"/>
                    </a:lnTo>
                    <a:lnTo>
                      <a:pt x="0" y="0"/>
                    </a:lnTo>
                    <a:lnTo>
                      <a:pt x="1" y="23"/>
                    </a:lnTo>
                    <a:lnTo>
                      <a:pt x="3" y="47"/>
                    </a:lnTo>
                    <a:lnTo>
                      <a:pt x="5" y="70"/>
                    </a:lnTo>
                    <a:lnTo>
                      <a:pt x="9" y="92"/>
                    </a:lnTo>
                    <a:lnTo>
                      <a:pt x="15" y="114"/>
                    </a:lnTo>
                    <a:lnTo>
                      <a:pt x="21" y="136"/>
                    </a:lnTo>
                    <a:lnTo>
                      <a:pt x="28" y="158"/>
                    </a:lnTo>
                    <a:lnTo>
                      <a:pt x="37" y="179"/>
                    </a:lnTo>
                    <a:lnTo>
                      <a:pt x="46" y="199"/>
                    </a:lnTo>
                    <a:lnTo>
                      <a:pt x="57" y="219"/>
                    </a:lnTo>
                    <a:lnTo>
                      <a:pt x="67" y="238"/>
                    </a:lnTo>
                    <a:lnTo>
                      <a:pt x="80" y="257"/>
                    </a:lnTo>
                    <a:lnTo>
                      <a:pt x="93" y="275"/>
                    </a:lnTo>
                    <a:lnTo>
                      <a:pt x="106" y="293"/>
                    </a:lnTo>
                    <a:lnTo>
                      <a:pt x="121" y="309"/>
                    </a:lnTo>
                    <a:lnTo>
                      <a:pt x="136" y="325"/>
                    </a:lnTo>
                    <a:lnTo>
                      <a:pt x="152" y="341"/>
                    </a:lnTo>
                    <a:lnTo>
                      <a:pt x="168" y="355"/>
                    </a:lnTo>
                    <a:lnTo>
                      <a:pt x="186" y="368"/>
                    </a:lnTo>
                    <a:lnTo>
                      <a:pt x="204" y="382"/>
                    </a:lnTo>
                    <a:lnTo>
                      <a:pt x="223" y="393"/>
                    </a:lnTo>
                    <a:lnTo>
                      <a:pt x="242" y="405"/>
                    </a:lnTo>
                    <a:lnTo>
                      <a:pt x="262" y="414"/>
                    </a:lnTo>
                    <a:lnTo>
                      <a:pt x="283" y="424"/>
                    </a:lnTo>
                    <a:lnTo>
                      <a:pt x="304" y="432"/>
                    </a:lnTo>
                    <a:lnTo>
                      <a:pt x="325" y="440"/>
                    </a:lnTo>
                    <a:lnTo>
                      <a:pt x="347" y="446"/>
                    </a:lnTo>
                    <a:lnTo>
                      <a:pt x="370" y="451"/>
                    </a:lnTo>
                    <a:lnTo>
                      <a:pt x="393" y="455"/>
                    </a:lnTo>
                    <a:lnTo>
                      <a:pt x="416" y="458"/>
                    </a:lnTo>
                    <a:lnTo>
                      <a:pt x="439" y="460"/>
                    </a:lnTo>
                    <a:lnTo>
                      <a:pt x="462" y="461"/>
                    </a:lnTo>
                    <a:lnTo>
                      <a:pt x="462" y="401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5" name="Freeform 332"/>
              <p:cNvSpPr>
                <a:spLocks noChangeArrowheads="1"/>
              </p:cNvSpPr>
              <p:nvPr/>
            </p:nvSpPr>
            <p:spPr bwMode="auto">
              <a:xfrm>
                <a:off x="5160" y="1163"/>
                <a:ext cx="154" cy="154"/>
              </a:xfrm>
              <a:custGeom>
                <a:avLst/>
                <a:gdLst>
                  <a:gd name="T0" fmla="*/ 402 w 462"/>
                  <a:gd name="T1" fmla="*/ 0 h 461"/>
                  <a:gd name="T2" fmla="*/ 400 w 462"/>
                  <a:gd name="T3" fmla="*/ 41 h 461"/>
                  <a:gd name="T4" fmla="*/ 395 w 462"/>
                  <a:gd name="T5" fmla="*/ 81 h 461"/>
                  <a:gd name="T6" fmla="*/ 385 w 462"/>
                  <a:gd name="T7" fmla="*/ 118 h 461"/>
                  <a:gd name="T8" fmla="*/ 371 w 462"/>
                  <a:gd name="T9" fmla="*/ 155 h 461"/>
                  <a:gd name="T10" fmla="*/ 354 w 462"/>
                  <a:gd name="T11" fmla="*/ 191 h 461"/>
                  <a:gd name="T12" fmla="*/ 334 w 462"/>
                  <a:gd name="T13" fmla="*/ 223 h 461"/>
                  <a:gd name="T14" fmla="*/ 311 w 462"/>
                  <a:gd name="T15" fmla="*/ 255 h 461"/>
                  <a:gd name="T16" fmla="*/ 285 w 462"/>
                  <a:gd name="T17" fmla="*/ 283 h 461"/>
                  <a:gd name="T18" fmla="*/ 256 w 462"/>
                  <a:gd name="T19" fmla="*/ 309 h 461"/>
                  <a:gd name="T20" fmla="*/ 226 w 462"/>
                  <a:gd name="T21" fmla="*/ 332 h 461"/>
                  <a:gd name="T22" fmla="*/ 192 w 462"/>
                  <a:gd name="T23" fmla="*/ 352 h 461"/>
                  <a:gd name="T24" fmla="*/ 157 w 462"/>
                  <a:gd name="T25" fmla="*/ 369 h 461"/>
                  <a:gd name="T26" fmla="*/ 120 w 462"/>
                  <a:gd name="T27" fmla="*/ 383 h 461"/>
                  <a:gd name="T28" fmla="*/ 81 w 462"/>
                  <a:gd name="T29" fmla="*/ 392 h 461"/>
                  <a:gd name="T30" fmla="*/ 41 w 462"/>
                  <a:gd name="T31" fmla="*/ 399 h 461"/>
                  <a:gd name="T32" fmla="*/ 0 w 462"/>
                  <a:gd name="T33" fmla="*/ 401 h 461"/>
                  <a:gd name="T34" fmla="*/ 24 w 462"/>
                  <a:gd name="T35" fmla="*/ 460 h 461"/>
                  <a:gd name="T36" fmla="*/ 71 w 462"/>
                  <a:gd name="T37" fmla="*/ 455 h 461"/>
                  <a:gd name="T38" fmla="*/ 116 w 462"/>
                  <a:gd name="T39" fmla="*/ 446 h 461"/>
                  <a:gd name="T40" fmla="*/ 159 w 462"/>
                  <a:gd name="T41" fmla="*/ 432 h 461"/>
                  <a:gd name="T42" fmla="*/ 200 w 462"/>
                  <a:gd name="T43" fmla="*/ 414 h 461"/>
                  <a:gd name="T44" fmla="*/ 240 w 462"/>
                  <a:gd name="T45" fmla="*/ 393 h 461"/>
                  <a:gd name="T46" fmla="*/ 277 w 462"/>
                  <a:gd name="T47" fmla="*/ 368 h 461"/>
                  <a:gd name="T48" fmla="*/ 311 w 462"/>
                  <a:gd name="T49" fmla="*/ 341 h 461"/>
                  <a:gd name="T50" fmla="*/ 342 w 462"/>
                  <a:gd name="T51" fmla="*/ 309 h 461"/>
                  <a:gd name="T52" fmla="*/ 371 w 462"/>
                  <a:gd name="T53" fmla="*/ 275 h 461"/>
                  <a:gd name="T54" fmla="*/ 396 w 462"/>
                  <a:gd name="T55" fmla="*/ 238 h 461"/>
                  <a:gd name="T56" fmla="*/ 417 w 462"/>
                  <a:gd name="T57" fmla="*/ 199 h 461"/>
                  <a:gd name="T58" fmla="*/ 435 w 462"/>
                  <a:gd name="T59" fmla="*/ 158 h 461"/>
                  <a:gd name="T60" fmla="*/ 448 w 462"/>
                  <a:gd name="T61" fmla="*/ 114 h 461"/>
                  <a:gd name="T62" fmla="*/ 457 w 462"/>
                  <a:gd name="T63" fmla="*/ 70 h 461"/>
                  <a:gd name="T64" fmla="*/ 462 w 462"/>
                  <a:gd name="T65" fmla="*/ 23 h 461"/>
                  <a:gd name="T66" fmla="*/ 462 w 462"/>
                  <a:gd name="T67" fmla="*/ 0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62" h="461">
                    <a:moveTo>
                      <a:pt x="402" y="0"/>
                    </a:moveTo>
                    <a:lnTo>
                      <a:pt x="402" y="0"/>
                    </a:lnTo>
                    <a:lnTo>
                      <a:pt x="402" y="21"/>
                    </a:lnTo>
                    <a:lnTo>
                      <a:pt x="400" y="41"/>
                    </a:lnTo>
                    <a:lnTo>
                      <a:pt x="398" y="61"/>
                    </a:lnTo>
                    <a:lnTo>
                      <a:pt x="395" y="81"/>
                    </a:lnTo>
                    <a:lnTo>
                      <a:pt x="390" y="99"/>
                    </a:lnTo>
                    <a:lnTo>
                      <a:pt x="385" y="118"/>
                    </a:lnTo>
                    <a:lnTo>
                      <a:pt x="378" y="137"/>
                    </a:lnTo>
                    <a:lnTo>
                      <a:pt x="371" y="155"/>
                    </a:lnTo>
                    <a:lnTo>
                      <a:pt x="363" y="173"/>
                    </a:lnTo>
                    <a:lnTo>
                      <a:pt x="354" y="191"/>
                    </a:lnTo>
                    <a:lnTo>
                      <a:pt x="345" y="208"/>
                    </a:lnTo>
                    <a:lnTo>
                      <a:pt x="334" y="223"/>
                    </a:lnTo>
                    <a:lnTo>
                      <a:pt x="322" y="239"/>
                    </a:lnTo>
                    <a:lnTo>
                      <a:pt x="311" y="255"/>
                    </a:lnTo>
                    <a:lnTo>
                      <a:pt x="298" y="269"/>
                    </a:lnTo>
                    <a:lnTo>
                      <a:pt x="285" y="283"/>
                    </a:lnTo>
                    <a:lnTo>
                      <a:pt x="271" y="297"/>
                    </a:lnTo>
                    <a:lnTo>
                      <a:pt x="256" y="309"/>
                    </a:lnTo>
                    <a:lnTo>
                      <a:pt x="241" y="321"/>
                    </a:lnTo>
                    <a:lnTo>
                      <a:pt x="226" y="332"/>
                    </a:lnTo>
                    <a:lnTo>
                      <a:pt x="209" y="343"/>
                    </a:lnTo>
                    <a:lnTo>
                      <a:pt x="192" y="352"/>
                    </a:lnTo>
                    <a:lnTo>
                      <a:pt x="175" y="361"/>
                    </a:lnTo>
                    <a:lnTo>
                      <a:pt x="157" y="369"/>
                    </a:lnTo>
                    <a:lnTo>
                      <a:pt x="138" y="377"/>
                    </a:lnTo>
                    <a:lnTo>
                      <a:pt x="120" y="383"/>
                    </a:lnTo>
                    <a:lnTo>
                      <a:pt x="101" y="388"/>
                    </a:lnTo>
                    <a:lnTo>
                      <a:pt x="81" y="392"/>
                    </a:lnTo>
                    <a:lnTo>
                      <a:pt x="61" y="397"/>
                    </a:lnTo>
                    <a:lnTo>
                      <a:pt x="41" y="399"/>
                    </a:lnTo>
                    <a:lnTo>
                      <a:pt x="21" y="400"/>
                    </a:lnTo>
                    <a:lnTo>
                      <a:pt x="0" y="401"/>
                    </a:lnTo>
                    <a:lnTo>
                      <a:pt x="0" y="461"/>
                    </a:lnTo>
                    <a:lnTo>
                      <a:pt x="24" y="460"/>
                    </a:lnTo>
                    <a:lnTo>
                      <a:pt x="48" y="458"/>
                    </a:lnTo>
                    <a:lnTo>
                      <a:pt x="71" y="455"/>
                    </a:lnTo>
                    <a:lnTo>
                      <a:pt x="94" y="451"/>
                    </a:lnTo>
                    <a:lnTo>
                      <a:pt x="116" y="446"/>
                    </a:lnTo>
                    <a:lnTo>
                      <a:pt x="138" y="440"/>
                    </a:lnTo>
                    <a:lnTo>
                      <a:pt x="159" y="432"/>
                    </a:lnTo>
                    <a:lnTo>
                      <a:pt x="180" y="424"/>
                    </a:lnTo>
                    <a:lnTo>
                      <a:pt x="200" y="414"/>
                    </a:lnTo>
                    <a:lnTo>
                      <a:pt x="220" y="405"/>
                    </a:lnTo>
                    <a:lnTo>
                      <a:pt x="240" y="393"/>
                    </a:lnTo>
                    <a:lnTo>
                      <a:pt x="258" y="382"/>
                    </a:lnTo>
                    <a:lnTo>
                      <a:pt x="277" y="368"/>
                    </a:lnTo>
                    <a:lnTo>
                      <a:pt x="294" y="355"/>
                    </a:lnTo>
                    <a:lnTo>
                      <a:pt x="311" y="341"/>
                    </a:lnTo>
                    <a:lnTo>
                      <a:pt x="328" y="325"/>
                    </a:lnTo>
                    <a:lnTo>
                      <a:pt x="342" y="309"/>
                    </a:lnTo>
                    <a:lnTo>
                      <a:pt x="357" y="293"/>
                    </a:lnTo>
                    <a:lnTo>
                      <a:pt x="371" y="275"/>
                    </a:lnTo>
                    <a:lnTo>
                      <a:pt x="383" y="257"/>
                    </a:lnTo>
                    <a:lnTo>
                      <a:pt x="396" y="238"/>
                    </a:lnTo>
                    <a:lnTo>
                      <a:pt x="407" y="219"/>
                    </a:lnTo>
                    <a:lnTo>
                      <a:pt x="417" y="199"/>
                    </a:lnTo>
                    <a:lnTo>
                      <a:pt x="427" y="179"/>
                    </a:lnTo>
                    <a:lnTo>
                      <a:pt x="435" y="158"/>
                    </a:lnTo>
                    <a:lnTo>
                      <a:pt x="442" y="136"/>
                    </a:lnTo>
                    <a:lnTo>
                      <a:pt x="448" y="114"/>
                    </a:lnTo>
                    <a:lnTo>
                      <a:pt x="453" y="92"/>
                    </a:lnTo>
                    <a:lnTo>
                      <a:pt x="457" y="70"/>
                    </a:lnTo>
                    <a:lnTo>
                      <a:pt x="460" y="47"/>
                    </a:lnTo>
                    <a:lnTo>
                      <a:pt x="462" y="23"/>
                    </a:lnTo>
                    <a:lnTo>
                      <a:pt x="462" y="0"/>
                    </a:lnTo>
                    <a:lnTo>
                      <a:pt x="402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6" name="Freeform 333"/>
              <p:cNvSpPr>
                <a:spLocks noChangeArrowheads="1"/>
              </p:cNvSpPr>
              <p:nvPr/>
            </p:nvSpPr>
            <p:spPr bwMode="auto">
              <a:xfrm>
                <a:off x="5160" y="1010"/>
                <a:ext cx="154" cy="153"/>
              </a:xfrm>
              <a:custGeom>
                <a:avLst/>
                <a:gdLst>
                  <a:gd name="T0" fmla="*/ 0 w 462"/>
                  <a:gd name="T1" fmla="*/ 60 h 461"/>
                  <a:gd name="T2" fmla="*/ 41 w 462"/>
                  <a:gd name="T3" fmla="*/ 62 h 461"/>
                  <a:gd name="T4" fmla="*/ 81 w 462"/>
                  <a:gd name="T5" fmla="*/ 68 h 461"/>
                  <a:gd name="T6" fmla="*/ 120 w 462"/>
                  <a:gd name="T7" fmla="*/ 77 h 461"/>
                  <a:gd name="T8" fmla="*/ 157 w 462"/>
                  <a:gd name="T9" fmla="*/ 91 h 461"/>
                  <a:gd name="T10" fmla="*/ 192 w 462"/>
                  <a:gd name="T11" fmla="*/ 108 h 461"/>
                  <a:gd name="T12" fmla="*/ 226 w 462"/>
                  <a:gd name="T13" fmla="*/ 128 h 461"/>
                  <a:gd name="T14" fmla="*/ 256 w 462"/>
                  <a:gd name="T15" fmla="*/ 151 h 461"/>
                  <a:gd name="T16" fmla="*/ 285 w 462"/>
                  <a:gd name="T17" fmla="*/ 177 h 461"/>
                  <a:gd name="T18" fmla="*/ 311 w 462"/>
                  <a:gd name="T19" fmla="*/ 206 h 461"/>
                  <a:gd name="T20" fmla="*/ 334 w 462"/>
                  <a:gd name="T21" fmla="*/ 237 h 461"/>
                  <a:gd name="T22" fmla="*/ 354 w 462"/>
                  <a:gd name="T23" fmla="*/ 270 h 461"/>
                  <a:gd name="T24" fmla="*/ 371 w 462"/>
                  <a:gd name="T25" fmla="*/ 305 h 461"/>
                  <a:gd name="T26" fmla="*/ 385 w 462"/>
                  <a:gd name="T27" fmla="*/ 342 h 461"/>
                  <a:gd name="T28" fmla="*/ 395 w 462"/>
                  <a:gd name="T29" fmla="*/ 380 h 461"/>
                  <a:gd name="T30" fmla="*/ 400 w 462"/>
                  <a:gd name="T31" fmla="*/ 420 h 461"/>
                  <a:gd name="T32" fmla="*/ 402 w 462"/>
                  <a:gd name="T33" fmla="*/ 461 h 461"/>
                  <a:gd name="T34" fmla="*/ 462 w 462"/>
                  <a:gd name="T35" fmla="*/ 437 h 461"/>
                  <a:gd name="T36" fmla="*/ 457 w 462"/>
                  <a:gd name="T37" fmla="*/ 390 h 461"/>
                  <a:gd name="T38" fmla="*/ 448 w 462"/>
                  <a:gd name="T39" fmla="*/ 345 h 461"/>
                  <a:gd name="T40" fmla="*/ 435 w 462"/>
                  <a:gd name="T41" fmla="*/ 302 h 461"/>
                  <a:gd name="T42" fmla="*/ 417 w 462"/>
                  <a:gd name="T43" fmla="*/ 261 h 461"/>
                  <a:gd name="T44" fmla="*/ 396 w 462"/>
                  <a:gd name="T45" fmla="*/ 222 h 461"/>
                  <a:gd name="T46" fmla="*/ 371 w 462"/>
                  <a:gd name="T47" fmla="*/ 186 h 461"/>
                  <a:gd name="T48" fmla="*/ 342 w 462"/>
                  <a:gd name="T49" fmla="*/ 151 h 461"/>
                  <a:gd name="T50" fmla="*/ 311 w 462"/>
                  <a:gd name="T51" fmla="*/ 119 h 461"/>
                  <a:gd name="T52" fmla="*/ 277 w 462"/>
                  <a:gd name="T53" fmla="*/ 92 h 461"/>
                  <a:gd name="T54" fmla="*/ 240 w 462"/>
                  <a:gd name="T55" fmla="*/ 67 h 461"/>
                  <a:gd name="T56" fmla="*/ 200 w 462"/>
                  <a:gd name="T57" fmla="*/ 46 h 461"/>
                  <a:gd name="T58" fmla="*/ 159 w 462"/>
                  <a:gd name="T59" fmla="*/ 28 h 461"/>
                  <a:gd name="T60" fmla="*/ 116 w 462"/>
                  <a:gd name="T61" fmla="*/ 14 h 461"/>
                  <a:gd name="T62" fmla="*/ 71 w 462"/>
                  <a:gd name="T63" fmla="*/ 5 h 461"/>
                  <a:gd name="T64" fmla="*/ 24 w 462"/>
                  <a:gd name="T65" fmla="*/ 1 h 461"/>
                  <a:gd name="T66" fmla="*/ 0 w 462"/>
                  <a:gd name="T67" fmla="*/ 0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62" h="461">
                    <a:moveTo>
                      <a:pt x="0" y="60"/>
                    </a:moveTo>
                    <a:lnTo>
                      <a:pt x="0" y="60"/>
                    </a:lnTo>
                    <a:lnTo>
                      <a:pt x="21" y="60"/>
                    </a:lnTo>
                    <a:lnTo>
                      <a:pt x="41" y="62"/>
                    </a:lnTo>
                    <a:lnTo>
                      <a:pt x="61" y="64"/>
                    </a:lnTo>
                    <a:lnTo>
                      <a:pt x="81" y="68"/>
                    </a:lnTo>
                    <a:lnTo>
                      <a:pt x="101" y="72"/>
                    </a:lnTo>
                    <a:lnTo>
                      <a:pt x="120" y="77"/>
                    </a:lnTo>
                    <a:lnTo>
                      <a:pt x="138" y="84"/>
                    </a:lnTo>
                    <a:lnTo>
                      <a:pt x="157" y="91"/>
                    </a:lnTo>
                    <a:lnTo>
                      <a:pt x="175" y="99"/>
                    </a:lnTo>
                    <a:lnTo>
                      <a:pt x="192" y="108"/>
                    </a:lnTo>
                    <a:lnTo>
                      <a:pt x="209" y="117"/>
                    </a:lnTo>
                    <a:lnTo>
                      <a:pt x="226" y="128"/>
                    </a:lnTo>
                    <a:lnTo>
                      <a:pt x="241" y="139"/>
                    </a:lnTo>
                    <a:lnTo>
                      <a:pt x="256" y="151"/>
                    </a:lnTo>
                    <a:lnTo>
                      <a:pt x="271" y="164"/>
                    </a:lnTo>
                    <a:lnTo>
                      <a:pt x="285" y="177"/>
                    </a:lnTo>
                    <a:lnTo>
                      <a:pt x="298" y="191"/>
                    </a:lnTo>
                    <a:lnTo>
                      <a:pt x="311" y="206"/>
                    </a:lnTo>
                    <a:lnTo>
                      <a:pt x="322" y="221"/>
                    </a:lnTo>
                    <a:lnTo>
                      <a:pt x="334" y="237"/>
                    </a:lnTo>
                    <a:lnTo>
                      <a:pt x="345" y="253"/>
                    </a:lnTo>
                    <a:lnTo>
                      <a:pt x="354" y="270"/>
                    </a:lnTo>
                    <a:lnTo>
                      <a:pt x="363" y="287"/>
                    </a:lnTo>
                    <a:lnTo>
                      <a:pt x="371" y="305"/>
                    </a:lnTo>
                    <a:lnTo>
                      <a:pt x="378" y="323"/>
                    </a:lnTo>
                    <a:lnTo>
                      <a:pt x="385" y="342"/>
                    </a:lnTo>
                    <a:lnTo>
                      <a:pt x="390" y="361"/>
                    </a:lnTo>
                    <a:lnTo>
                      <a:pt x="395" y="380"/>
                    </a:lnTo>
                    <a:lnTo>
                      <a:pt x="398" y="400"/>
                    </a:lnTo>
                    <a:lnTo>
                      <a:pt x="400" y="420"/>
                    </a:lnTo>
                    <a:lnTo>
                      <a:pt x="402" y="440"/>
                    </a:lnTo>
                    <a:lnTo>
                      <a:pt x="402" y="461"/>
                    </a:lnTo>
                    <a:lnTo>
                      <a:pt x="462" y="461"/>
                    </a:lnTo>
                    <a:lnTo>
                      <a:pt x="462" y="437"/>
                    </a:lnTo>
                    <a:lnTo>
                      <a:pt x="460" y="413"/>
                    </a:lnTo>
                    <a:lnTo>
                      <a:pt x="457" y="390"/>
                    </a:lnTo>
                    <a:lnTo>
                      <a:pt x="453" y="368"/>
                    </a:lnTo>
                    <a:lnTo>
                      <a:pt x="448" y="345"/>
                    </a:lnTo>
                    <a:lnTo>
                      <a:pt x="442" y="324"/>
                    </a:lnTo>
                    <a:lnTo>
                      <a:pt x="435" y="302"/>
                    </a:lnTo>
                    <a:lnTo>
                      <a:pt x="427" y="281"/>
                    </a:lnTo>
                    <a:lnTo>
                      <a:pt x="417" y="261"/>
                    </a:lnTo>
                    <a:lnTo>
                      <a:pt x="407" y="241"/>
                    </a:lnTo>
                    <a:lnTo>
                      <a:pt x="396" y="222"/>
                    </a:lnTo>
                    <a:lnTo>
                      <a:pt x="383" y="203"/>
                    </a:lnTo>
                    <a:lnTo>
                      <a:pt x="371" y="186"/>
                    </a:lnTo>
                    <a:lnTo>
                      <a:pt x="357" y="168"/>
                    </a:lnTo>
                    <a:lnTo>
                      <a:pt x="342" y="151"/>
                    </a:lnTo>
                    <a:lnTo>
                      <a:pt x="328" y="135"/>
                    </a:lnTo>
                    <a:lnTo>
                      <a:pt x="311" y="119"/>
                    </a:lnTo>
                    <a:lnTo>
                      <a:pt x="294" y="106"/>
                    </a:lnTo>
                    <a:lnTo>
                      <a:pt x="277" y="92"/>
                    </a:lnTo>
                    <a:lnTo>
                      <a:pt x="258" y="79"/>
                    </a:lnTo>
                    <a:lnTo>
                      <a:pt x="240" y="67"/>
                    </a:lnTo>
                    <a:lnTo>
                      <a:pt x="220" y="55"/>
                    </a:lnTo>
                    <a:lnTo>
                      <a:pt x="200" y="46"/>
                    </a:lnTo>
                    <a:lnTo>
                      <a:pt x="180" y="37"/>
                    </a:lnTo>
                    <a:lnTo>
                      <a:pt x="159" y="28"/>
                    </a:lnTo>
                    <a:lnTo>
                      <a:pt x="138" y="21"/>
                    </a:lnTo>
                    <a:lnTo>
                      <a:pt x="116" y="14"/>
                    </a:lnTo>
                    <a:lnTo>
                      <a:pt x="94" y="9"/>
                    </a:lnTo>
                    <a:lnTo>
                      <a:pt x="71" y="5"/>
                    </a:lnTo>
                    <a:lnTo>
                      <a:pt x="48" y="2"/>
                    </a:lnTo>
                    <a:lnTo>
                      <a:pt x="24" y="1"/>
                    </a:lnTo>
                    <a:lnTo>
                      <a:pt x="0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7" name="Freeform 334"/>
              <p:cNvSpPr>
                <a:spLocks noChangeArrowheads="1"/>
              </p:cNvSpPr>
              <p:nvPr/>
            </p:nvSpPr>
            <p:spPr bwMode="auto">
              <a:xfrm>
                <a:off x="5160" y="1010"/>
                <a:ext cx="1" cy="20"/>
              </a:xfrm>
              <a:custGeom>
                <a:avLst/>
                <a:gdLst>
                  <a:gd name="T0" fmla="*/ 0 w 1"/>
                  <a:gd name="T1" fmla="*/ 60 h 60"/>
                  <a:gd name="T2" fmla="*/ 0 w 1"/>
                  <a:gd name="T3" fmla="*/ 30 h 60"/>
                  <a:gd name="T4" fmla="*/ 0 w 1"/>
                  <a:gd name="T5" fmla="*/ 30 h 60"/>
                  <a:gd name="T6" fmla="*/ 0 w 1"/>
                  <a:gd name="T7" fmla="*/ 30 h 60"/>
                  <a:gd name="T8" fmla="*/ 0 w 1"/>
                  <a:gd name="T9" fmla="*/ 30 h 60"/>
                  <a:gd name="T10" fmla="*/ 0 w 1"/>
                  <a:gd name="T11" fmla="*/ 30 h 60"/>
                  <a:gd name="T12" fmla="*/ 0 w 1"/>
                  <a:gd name="T13" fmla="*/ 30 h 60"/>
                  <a:gd name="T14" fmla="*/ 0 w 1"/>
                  <a:gd name="T15" fmla="*/ 0 h 60"/>
                  <a:gd name="T16" fmla="*/ 0 w 1"/>
                  <a:gd name="T1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60">
                    <a:moveTo>
                      <a:pt x="0" y="60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8" name="Freeform 335"/>
              <p:cNvSpPr>
                <a:spLocks noChangeArrowheads="1"/>
              </p:cNvSpPr>
              <p:nvPr/>
            </p:nvSpPr>
            <p:spPr bwMode="auto">
              <a:xfrm>
                <a:off x="4511" y="1656"/>
                <a:ext cx="36" cy="47"/>
              </a:xfrm>
              <a:custGeom>
                <a:avLst/>
                <a:gdLst>
                  <a:gd name="T0" fmla="*/ 60 w 108"/>
                  <a:gd name="T1" fmla="*/ 142 h 142"/>
                  <a:gd name="T2" fmla="*/ 60 w 108"/>
                  <a:gd name="T3" fmla="*/ 142 h 142"/>
                  <a:gd name="T4" fmla="*/ 60 w 108"/>
                  <a:gd name="T5" fmla="*/ 128 h 142"/>
                  <a:gd name="T6" fmla="*/ 63 w 108"/>
                  <a:gd name="T7" fmla="*/ 114 h 142"/>
                  <a:gd name="T8" fmla="*/ 67 w 108"/>
                  <a:gd name="T9" fmla="*/ 102 h 142"/>
                  <a:gd name="T10" fmla="*/ 73 w 108"/>
                  <a:gd name="T11" fmla="*/ 89 h 142"/>
                  <a:gd name="T12" fmla="*/ 79 w 108"/>
                  <a:gd name="T13" fmla="*/ 78 h 142"/>
                  <a:gd name="T14" fmla="*/ 88 w 108"/>
                  <a:gd name="T15" fmla="*/ 66 h 142"/>
                  <a:gd name="T16" fmla="*/ 97 w 108"/>
                  <a:gd name="T17" fmla="*/ 57 h 142"/>
                  <a:gd name="T18" fmla="*/ 108 w 108"/>
                  <a:gd name="T19" fmla="*/ 48 h 142"/>
                  <a:gd name="T20" fmla="*/ 72 w 108"/>
                  <a:gd name="T21" fmla="*/ 0 h 142"/>
                  <a:gd name="T22" fmla="*/ 56 w 108"/>
                  <a:gd name="T23" fmla="*/ 13 h 142"/>
                  <a:gd name="T24" fmla="*/ 42 w 108"/>
                  <a:gd name="T25" fmla="*/ 27 h 142"/>
                  <a:gd name="T26" fmla="*/ 30 w 108"/>
                  <a:gd name="T27" fmla="*/ 44 h 142"/>
                  <a:gd name="T28" fmla="*/ 19 w 108"/>
                  <a:gd name="T29" fmla="*/ 62 h 142"/>
                  <a:gd name="T30" fmla="*/ 11 w 108"/>
                  <a:gd name="T31" fmla="*/ 81 h 142"/>
                  <a:gd name="T32" fmla="*/ 4 w 108"/>
                  <a:gd name="T33" fmla="*/ 101 h 142"/>
                  <a:gd name="T34" fmla="*/ 1 w 108"/>
                  <a:gd name="T35" fmla="*/ 121 h 142"/>
                  <a:gd name="T36" fmla="*/ 0 w 108"/>
                  <a:gd name="T37" fmla="*/ 142 h 142"/>
                  <a:gd name="T38" fmla="*/ 0 w 108"/>
                  <a:gd name="T39" fmla="*/ 142 h 142"/>
                  <a:gd name="T40" fmla="*/ 60 w 108"/>
                  <a:gd name="T41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8" h="142">
                    <a:moveTo>
                      <a:pt x="60" y="142"/>
                    </a:moveTo>
                    <a:lnTo>
                      <a:pt x="60" y="142"/>
                    </a:lnTo>
                    <a:lnTo>
                      <a:pt x="60" y="128"/>
                    </a:lnTo>
                    <a:lnTo>
                      <a:pt x="63" y="114"/>
                    </a:lnTo>
                    <a:lnTo>
                      <a:pt x="67" y="102"/>
                    </a:lnTo>
                    <a:lnTo>
                      <a:pt x="73" y="89"/>
                    </a:lnTo>
                    <a:lnTo>
                      <a:pt x="79" y="78"/>
                    </a:lnTo>
                    <a:lnTo>
                      <a:pt x="88" y="66"/>
                    </a:lnTo>
                    <a:lnTo>
                      <a:pt x="97" y="57"/>
                    </a:lnTo>
                    <a:lnTo>
                      <a:pt x="108" y="48"/>
                    </a:lnTo>
                    <a:lnTo>
                      <a:pt x="72" y="0"/>
                    </a:lnTo>
                    <a:lnTo>
                      <a:pt x="56" y="13"/>
                    </a:lnTo>
                    <a:lnTo>
                      <a:pt x="42" y="27"/>
                    </a:lnTo>
                    <a:lnTo>
                      <a:pt x="30" y="44"/>
                    </a:lnTo>
                    <a:lnTo>
                      <a:pt x="19" y="62"/>
                    </a:lnTo>
                    <a:lnTo>
                      <a:pt x="11" y="81"/>
                    </a:lnTo>
                    <a:lnTo>
                      <a:pt x="4" y="101"/>
                    </a:lnTo>
                    <a:lnTo>
                      <a:pt x="1" y="121"/>
                    </a:lnTo>
                    <a:lnTo>
                      <a:pt x="0" y="142"/>
                    </a:lnTo>
                    <a:lnTo>
                      <a:pt x="60" y="142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9" name="Freeform 336"/>
              <p:cNvSpPr>
                <a:spLocks noChangeArrowheads="1"/>
              </p:cNvSpPr>
              <p:nvPr/>
            </p:nvSpPr>
            <p:spPr bwMode="auto">
              <a:xfrm>
                <a:off x="4511" y="1703"/>
                <a:ext cx="23" cy="23"/>
              </a:xfrm>
              <a:custGeom>
                <a:avLst/>
                <a:gdLst>
                  <a:gd name="T0" fmla="*/ 69 w 69"/>
                  <a:gd name="T1" fmla="*/ 45 h 67"/>
                  <a:gd name="T2" fmla="*/ 65 w 69"/>
                  <a:gd name="T3" fmla="*/ 34 h 67"/>
                  <a:gd name="T4" fmla="*/ 62 w 69"/>
                  <a:gd name="T5" fmla="*/ 23 h 67"/>
                  <a:gd name="T6" fmla="*/ 60 w 69"/>
                  <a:gd name="T7" fmla="*/ 11 h 67"/>
                  <a:gd name="T8" fmla="*/ 60 w 69"/>
                  <a:gd name="T9" fmla="*/ 0 h 67"/>
                  <a:gd name="T10" fmla="*/ 0 w 69"/>
                  <a:gd name="T11" fmla="*/ 0 h 67"/>
                  <a:gd name="T12" fmla="*/ 1 w 69"/>
                  <a:gd name="T13" fmla="*/ 18 h 67"/>
                  <a:gd name="T14" fmla="*/ 3 w 69"/>
                  <a:gd name="T15" fmla="*/ 34 h 67"/>
                  <a:gd name="T16" fmla="*/ 7 w 69"/>
                  <a:gd name="T17" fmla="*/ 51 h 67"/>
                  <a:gd name="T18" fmla="*/ 14 w 69"/>
                  <a:gd name="T19" fmla="*/ 67 h 67"/>
                  <a:gd name="T20" fmla="*/ 69 w 69"/>
                  <a:gd name="T21" fmla="*/ 4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67">
                    <a:moveTo>
                      <a:pt x="69" y="45"/>
                    </a:moveTo>
                    <a:lnTo>
                      <a:pt x="65" y="34"/>
                    </a:lnTo>
                    <a:lnTo>
                      <a:pt x="62" y="23"/>
                    </a:lnTo>
                    <a:lnTo>
                      <a:pt x="60" y="11"/>
                    </a:lnTo>
                    <a:lnTo>
                      <a:pt x="60" y="0"/>
                    </a:lnTo>
                    <a:lnTo>
                      <a:pt x="0" y="0"/>
                    </a:lnTo>
                    <a:lnTo>
                      <a:pt x="1" y="18"/>
                    </a:lnTo>
                    <a:lnTo>
                      <a:pt x="3" y="34"/>
                    </a:lnTo>
                    <a:lnTo>
                      <a:pt x="7" y="51"/>
                    </a:lnTo>
                    <a:lnTo>
                      <a:pt x="14" y="67"/>
                    </a:lnTo>
                    <a:lnTo>
                      <a:pt x="69" y="45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0" name="Freeform 337"/>
              <p:cNvSpPr>
                <a:spLocks noChangeArrowheads="1"/>
              </p:cNvSpPr>
              <p:nvPr/>
            </p:nvSpPr>
            <p:spPr bwMode="auto">
              <a:xfrm>
                <a:off x="4425" y="1591"/>
                <a:ext cx="37" cy="29"/>
              </a:xfrm>
              <a:custGeom>
                <a:avLst/>
                <a:gdLst>
                  <a:gd name="T0" fmla="*/ 110 w 110"/>
                  <a:gd name="T1" fmla="*/ 25 h 85"/>
                  <a:gd name="T2" fmla="*/ 110 w 110"/>
                  <a:gd name="T3" fmla="*/ 25 h 85"/>
                  <a:gd name="T4" fmla="*/ 100 w 110"/>
                  <a:gd name="T5" fmla="*/ 25 h 85"/>
                  <a:gd name="T6" fmla="*/ 91 w 110"/>
                  <a:gd name="T7" fmla="*/ 24 h 85"/>
                  <a:gd name="T8" fmla="*/ 81 w 110"/>
                  <a:gd name="T9" fmla="*/ 22 h 85"/>
                  <a:gd name="T10" fmla="*/ 72 w 110"/>
                  <a:gd name="T11" fmla="*/ 19 h 85"/>
                  <a:gd name="T12" fmla="*/ 62 w 110"/>
                  <a:gd name="T13" fmla="*/ 14 h 85"/>
                  <a:gd name="T14" fmla="*/ 54 w 110"/>
                  <a:gd name="T15" fmla="*/ 10 h 85"/>
                  <a:gd name="T16" fmla="*/ 45 w 110"/>
                  <a:gd name="T17" fmla="*/ 5 h 85"/>
                  <a:gd name="T18" fmla="*/ 37 w 110"/>
                  <a:gd name="T19" fmla="*/ 0 h 85"/>
                  <a:gd name="T20" fmla="*/ 0 w 110"/>
                  <a:gd name="T21" fmla="*/ 47 h 85"/>
                  <a:gd name="T22" fmla="*/ 12 w 110"/>
                  <a:gd name="T23" fmla="*/ 55 h 85"/>
                  <a:gd name="T24" fmla="*/ 24 w 110"/>
                  <a:gd name="T25" fmla="*/ 63 h 85"/>
                  <a:gd name="T26" fmla="*/ 38 w 110"/>
                  <a:gd name="T27" fmla="*/ 69 h 85"/>
                  <a:gd name="T28" fmla="*/ 52 w 110"/>
                  <a:gd name="T29" fmla="*/ 75 h 85"/>
                  <a:gd name="T30" fmla="*/ 65 w 110"/>
                  <a:gd name="T31" fmla="*/ 79 h 85"/>
                  <a:gd name="T32" fmla="*/ 80 w 110"/>
                  <a:gd name="T33" fmla="*/ 83 h 85"/>
                  <a:gd name="T34" fmla="*/ 95 w 110"/>
                  <a:gd name="T35" fmla="*/ 85 h 85"/>
                  <a:gd name="T36" fmla="*/ 110 w 110"/>
                  <a:gd name="T37" fmla="*/ 85 h 85"/>
                  <a:gd name="T38" fmla="*/ 110 w 110"/>
                  <a:gd name="T39" fmla="*/ 85 h 85"/>
                  <a:gd name="T40" fmla="*/ 110 w 110"/>
                  <a:gd name="T41" fmla="*/ 2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0" h="85">
                    <a:moveTo>
                      <a:pt x="110" y="25"/>
                    </a:moveTo>
                    <a:lnTo>
                      <a:pt x="110" y="25"/>
                    </a:lnTo>
                    <a:lnTo>
                      <a:pt x="100" y="25"/>
                    </a:lnTo>
                    <a:lnTo>
                      <a:pt x="91" y="24"/>
                    </a:lnTo>
                    <a:lnTo>
                      <a:pt x="81" y="22"/>
                    </a:lnTo>
                    <a:lnTo>
                      <a:pt x="72" y="19"/>
                    </a:lnTo>
                    <a:lnTo>
                      <a:pt x="62" y="14"/>
                    </a:lnTo>
                    <a:lnTo>
                      <a:pt x="54" y="10"/>
                    </a:lnTo>
                    <a:lnTo>
                      <a:pt x="45" y="5"/>
                    </a:lnTo>
                    <a:lnTo>
                      <a:pt x="37" y="0"/>
                    </a:lnTo>
                    <a:lnTo>
                      <a:pt x="0" y="47"/>
                    </a:lnTo>
                    <a:lnTo>
                      <a:pt x="12" y="55"/>
                    </a:lnTo>
                    <a:lnTo>
                      <a:pt x="24" y="63"/>
                    </a:lnTo>
                    <a:lnTo>
                      <a:pt x="38" y="69"/>
                    </a:lnTo>
                    <a:lnTo>
                      <a:pt x="52" y="75"/>
                    </a:lnTo>
                    <a:lnTo>
                      <a:pt x="65" y="79"/>
                    </a:lnTo>
                    <a:lnTo>
                      <a:pt x="80" y="83"/>
                    </a:lnTo>
                    <a:lnTo>
                      <a:pt x="95" y="85"/>
                    </a:lnTo>
                    <a:lnTo>
                      <a:pt x="110" y="85"/>
                    </a:lnTo>
                    <a:lnTo>
                      <a:pt x="110" y="25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1" name="Freeform 338"/>
              <p:cNvSpPr>
                <a:spLocks noChangeArrowheads="1"/>
              </p:cNvSpPr>
              <p:nvPr/>
            </p:nvSpPr>
            <p:spPr bwMode="auto">
              <a:xfrm>
                <a:off x="4462" y="1592"/>
                <a:ext cx="34" cy="28"/>
              </a:xfrm>
              <a:custGeom>
                <a:avLst/>
                <a:gdLst>
                  <a:gd name="T0" fmla="*/ 68 w 103"/>
                  <a:gd name="T1" fmla="*/ 0 h 82"/>
                  <a:gd name="T2" fmla="*/ 61 w 103"/>
                  <a:gd name="T3" fmla="*/ 5 h 82"/>
                  <a:gd name="T4" fmla="*/ 52 w 103"/>
                  <a:gd name="T5" fmla="*/ 9 h 82"/>
                  <a:gd name="T6" fmla="*/ 44 w 103"/>
                  <a:gd name="T7" fmla="*/ 13 h 82"/>
                  <a:gd name="T8" fmla="*/ 35 w 103"/>
                  <a:gd name="T9" fmla="*/ 17 h 82"/>
                  <a:gd name="T10" fmla="*/ 27 w 103"/>
                  <a:gd name="T11" fmla="*/ 19 h 82"/>
                  <a:gd name="T12" fmla="*/ 18 w 103"/>
                  <a:gd name="T13" fmla="*/ 21 h 82"/>
                  <a:gd name="T14" fmla="*/ 9 w 103"/>
                  <a:gd name="T15" fmla="*/ 22 h 82"/>
                  <a:gd name="T16" fmla="*/ 0 w 103"/>
                  <a:gd name="T17" fmla="*/ 22 h 82"/>
                  <a:gd name="T18" fmla="*/ 0 w 103"/>
                  <a:gd name="T19" fmla="*/ 82 h 82"/>
                  <a:gd name="T20" fmla="*/ 13 w 103"/>
                  <a:gd name="T21" fmla="*/ 82 h 82"/>
                  <a:gd name="T22" fmla="*/ 27 w 103"/>
                  <a:gd name="T23" fmla="*/ 80 h 82"/>
                  <a:gd name="T24" fmla="*/ 41 w 103"/>
                  <a:gd name="T25" fmla="*/ 76 h 82"/>
                  <a:gd name="T26" fmla="*/ 54 w 103"/>
                  <a:gd name="T27" fmla="*/ 73 h 82"/>
                  <a:gd name="T28" fmla="*/ 67 w 103"/>
                  <a:gd name="T29" fmla="*/ 68 h 82"/>
                  <a:gd name="T30" fmla="*/ 80 w 103"/>
                  <a:gd name="T31" fmla="*/ 63 h 82"/>
                  <a:gd name="T32" fmla="*/ 91 w 103"/>
                  <a:gd name="T33" fmla="*/ 55 h 82"/>
                  <a:gd name="T34" fmla="*/ 103 w 103"/>
                  <a:gd name="T35" fmla="*/ 48 h 82"/>
                  <a:gd name="T36" fmla="*/ 68 w 103"/>
                  <a:gd name="T3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3" h="82">
                    <a:moveTo>
                      <a:pt x="68" y="0"/>
                    </a:moveTo>
                    <a:lnTo>
                      <a:pt x="61" y="5"/>
                    </a:lnTo>
                    <a:lnTo>
                      <a:pt x="52" y="9"/>
                    </a:lnTo>
                    <a:lnTo>
                      <a:pt x="44" y="13"/>
                    </a:lnTo>
                    <a:lnTo>
                      <a:pt x="35" y="17"/>
                    </a:lnTo>
                    <a:lnTo>
                      <a:pt x="27" y="19"/>
                    </a:lnTo>
                    <a:lnTo>
                      <a:pt x="18" y="21"/>
                    </a:lnTo>
                    <a:lnTo>
                      <a:pt x="9" y="22"/>
                    </a:lnTo>
                    <a:lnTo>
                      <a:pt x="0" y="22"/>
                    </a:lnTo>
                    <a:lnTo>
                      <a:pt x="0" y="82"/>
                    </a:lnTo>
                    <a:lnTo>
                      <a:pt x="13" y="82"/>
                    </a:lnTo>
                    <a:lnTo>
                      <a:pt x="27" y="80"/>
                    </a:lnTo>
                    <a:lnTo>
                      <a:pt x="41" y="76"/>
                    </a:lnTo>
                    <a:lnTo>
                      <a:pt x="54" y="73"/>
                    </a:lnTo>
                    <a:lnTo>
                      <a:pt x="67" y="68"/>
                    </a:lnTo>
                    <a:lnTo>
                      <a:pt x="80" y="63"/>
                    </a:lnTo>
                    <a:lnTo>
                      <a:pt x="91" y="55"/>
                    </a:lnTo>
                    <a:lnTo>
                      <a:pt x="103" y="48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2" name="Freeform 339"/>
              <p:cNvSpPr>
                <a:spLocks noChangeArrowheads="1"/>
              </p:cNvSpPr>
              <p:nvPr/>
            </p:nvSpPr>
            <p:spPr bwMode="auto">
              <a:xfrm>
                <a:off x="4995" y="1334"/>
                <a:ext cx="34" cy="28"/>
              </a:xfrm>
              <a:custGeom>
                <a:avLst/>
                <a:gdLst>
                  <a:gd name="T0" fmla="*/ 0 w 102"/>
                  <a:gd name="T1" fmla="*/ 60 h 82"/>
                  <a:gd name="T2" fmla="*/ 0 w 102"/>
                  <a:gd name="T3" fmla="*/ 60 h 82"/>
                  <a:gd name="T4" fmla="*/ 10 w 102"/>
                  <a:gd name="T5" fmla="*/ 61 h 82"/>
                  <a:gd name="T6" fmla="*/ 18 w 102"/>
                  <a:gd name="T7" fmla="*/ 62 h 82"/>
                  <a:gd name="T8" fmla="*/ 28 w 102"/>
                  <a:gd name="T9" fmla="*/ 63 h 82"/>
                  <a:gd name="T10" fmla="*/ 36 w 102"/>
                  <a:gd name="T11" fmla="*/ 66 h 82"/>
                  <a:gd name="T12" fmla="*/ 44 w 102"/>
                  <a:gd name="T13" fmla="*/ 69 h 82"/>
                  <a:gd name="T14" fmla="*/ 53 w 102"/>
                  <a:gd name="T15" fmla="*/ 73 h 82"/>
                  <a:gd name="T16" fmla="*/ 61 w 102"/>
                  <a:gd name="T17" fmla="*/ 78 h 82"/>
                  <a:gd name="T18" fmla="*/ 69 w 102"/>
                  <a:gd name="T19" fmla="*/ 82 h 82"/>
                  <a:gd name="T20" fmla="*/ 102 w 102"/>
                  <a:gd name="T21" fmla="*/ 34 h 82"/>
                  <a:gd name="T22" fmla="*/ 92 w 102"/>
                  <a:gd name="T23" fmla="*/ 26 h 82"/>
                  <a:gd name="T24" fmla="*/ 79 w 102"/>
                  <a:gd name="T25" fmla="*/ 19 h 82"/>
                  <a:gd name="T26" fmla="*/ 68 w 102"/>
                  <a:gd name="T27" fmla="*/ 14 h 82"/>
                  <a:gd name="T28" fmla="*/ 54 w 102"/>
                  <a:gd name="T29" fmla="*/ 10 h 82"/>
                  <a:gd name="T30" fmla="*/ 41 w 102"/>
                  <a:gd name="T31" fmla="*/ 5 h 82"/>
                  <a:gd name="T32" fmla="*/ 28 w 102"/>
                  <a:gd name="T33" fmla="*/ 3 h 82"/>
                  <a:gd name="T34" fmla="*/ 14 w 102"/>
                  <a:gd name="T35" fmla="*/ 1 h 82"/>
                  <a:gd name="T36" fmla="*/ 0 w 102"/>
                  <a:gd name="T37" fmla="*/ 0 h 82"/>
                  <a:gd name="T38" fmla="*/ 0 w 102"/>
                  <a:gd name="T39" fmla="*/ 0 h 82"/>
                  <a:gd name="T40" fmla="*/ 0 w 102"/>
                  <a:gd name="T41" fmla="*/ 6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2" h="82">
                    <a:moveTo>
                      <a:pt x="0" y="60"/>
                    </a:moveTo>
                    <a:lnTo>
                      <a:pt x="0" y="60"/>
                    </a:lnTo>
                    <a:lnTo>
                      <a:pt x="10" y="61"/>
                    </a:lnTo>
                    <a:lnTo>
                      <a:pt x="18" y="62"/>
                    </a:lnTo>
                    <a:lnTo>
                      <a:pt x="28" y="63"/>
                    </a:lnTo>
                    <a:lnTo>
                      <a:pt x="36" y="66"/>
                    </a:lnTo>
                    <a:lnTo>
                      <a:pt x="44" y="69"/>
                    </a:lnTo>
                    <a:lnTo>
                      <a:pt x="53" y="73"/>
                    </a:lnTo>
                    <a:lnTo>
                      <a:pt x="61" y="78"/>
                    </a:lnTo>
                    <a:lnTo>
                      <a:pt x="69" y="82"/>
                    </a:lnTo>
                    <a:lnTo>
                      <a:pt x="102" y="34"/>
                    </a:lnTo>
                    <a:lnTo>
                      <a:pt x="92" y="26"/>
                    </a:lnTo>
                    <a:lnTo>
                      <a:pt x="79" y="19"/>
                    </a:lnTo>
                    <a:lnTo>
                      <a:pt x="68" y="14"/>
                    </a:lnTo>
                    <a:lnTo>
                      <a:pt x="54" y="10"/>
                    </a:lnTo>
                    <a:lnTo>
                      <a:pt x="41" y="5"/>
                    </a:lnTo>
                    <a:lnTo>
                      <a:pt x="28" y="3"/>
                    </a:lnTo>
                    <a:lnTo>
                      <a:pt x="14" y="1"/>
                    </a:lnTo>
                    <a:lnTo>
                      <a:pt x="0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3" name="Freeform 340"/>
              <p:cNvSpPr>
                <a:spLocks noChangeArrowheads="1"/>
              </p:cNvSpPr>
              <p:nvPr/>
            </p:nvSpPr>
            <p:spPr bwMode="auto">
              <a:xfrm>
                <a:off x="4960" y="1334"/>
                <a:ext cx="35" cy="28"/>
              </a:xfrm>
              <a:custGeom>
                <a:avLst/>
                <a:gdLst>
                  <a:gd name="T0" fmla="*/ 35 w 103"/>
                  <a:gd name="T1" fmla="*/ 83 h 83"/>
                  <a:gd name="T2" fmla="*/ 42 w 103"/>
                  <a:gd name="T3" fmla="*/ 78 h 83"/>
                  <a:gd name="T4" fmla="*/ 49 w 103"/>
                  <a:gd name="T5" fmla="*/ 74 h 83"/>
                  <a:gd name="T6" fmla="*/ 58 w 103"/>
                  <a:gd name="T7" fmla="*/ 69 h 83"/>
                  <a:gd name="T8" fmla="*/ 67 w 103"/>
                  <a:gd name="T9" fmla="*/ 66 h 83"/>
                  <a:gd name="T10" fmla="*/ 76 w 103"/>
                  <a:gd name="T11" fmla="*/ 63 h 83"/>
                  <a:gd name="T12" fmla="*/ 85 w 103"/>
                  <a:gd name="T13" fmla="*/ 62 h 83"/>
                  <a:gd name="T14" fmla="*/ 94 w 103"/>
                  <a:gd name="T15" fmla="*/ 61 h 83"/>
                  <a:gd name="T16" fmla="*/ 103 w 103"/>
                  <a:gd name="T17" fmla="*/ 60 h 83"/>
                  <a:gd name="T18" fmla="*/ 103 w 103"/>
                  <a:gd name="T19" fmla="*/ 0 h 83"/>
                  <a:gd name="T20" fmla="*/ 90 w 103"/>
                  <a:gd name="T21" fmla="*/ 1 h 83"/>
                  <a:gd name="T22" fmla="*/ 76 w 103"/>
                  <a:gd name="T23" fmla="*/ 3 h 83"/>
                  <a:gd name="T24" fmla="*/ 62 w 103"/>
                  <a:gd name="T25" fmla="*/ 5 h 83"/>
                  <a:gd name="T26" fmla="*/ 48 w 103"/>
                  <a:gd name="T27" fmla="*/ 10 h 83"/>
                  <a:gd name="T28" fmla="*/ 36 w 103"/>
                  <a:gd name="T29" fmla="*/ 14 h 83"/>
                  <a:gd name="T30" fmla="*/ 23 w 103"/>
                  <a:gd name="T31" fmla="*/ 20 h 83"/>
                  <a:gd name="T32" fmla="*/ 11 w 103"/>
                  <a:gd name="T33" fmla="*/ 26 h 83"/>
                  <a:gd name="T34" fmla="*/ 0 w 103"/>
                  <a:gd name="T35" fmla="*/ 34 h 83"/>
                  <a:gd name="T36" fmla="*/ 35 w 103"/>
                  <a:gd name="T37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3" h="83">
                    <a:moveTo>
                      <a:pt x="35" y="83"/>
                    </a:moveTo>
                    <a:lnTo>
                      <a:pt x="42" y="78"/>
                    </a:lnTo>
                    <a:lnTo>
                      <a:pt x="49" y="74"/>
                    </a:lnTo>
                    <a:lnTo>
                      <a:pt x="58" y="69"/>
                    </a:lnTo>
                    <a:lnTo>
                      <a:pt x="67" y="66"/>
                    </a:lnTo>
                    <a:lnTo>
                      <a:pt x="76" y="63"/>
                    </a:lnTo>
                    <a:lnTo>
                      <a:pt x="85" y="62"/>
                    </a:lnTo>
                    <a:lnTo>
                      <a:pt x="94" y="61"/>
                    </a:lnTo>
                    <a:lnTo>
                      <a:pt x="103" y="60"/>
                    </a:lnTo>
                    <a:lnTo>
                      <a:pt x="103" y="0"/>
                    </a:lnTo>
                    <a:lnTo>
                      <a:pt x="90" y="1"/>
                    </a:lnTo>
                    <a:lnTo>
                      <a:pt x="76" y="3"/>
                    </a:lnTo>
                    <a:lnTo>
                      <a:pt x="62" y="5"/>
                    </a:lnTo>
                    <a:lnTo>
                      <a:pt x="48" y="10"/>
                    </a:lnTo>
                    <a:lnTo>
                      <a:pt x="36" y="14"/>
                    </a:lnTo>
                    <a:lnTo>
                      <a:pt x="23" y="20"/>
                    </a:lnTo>
                    <a:lnTo>
                      <a:pt x="11" y="26"/>
                    </a:lnTo>
                    <a:lnTo>
                      <a:pt x="0" y="34"/>
                    </a:lnTo>
                    <a:lnTo>
                      <a:pt x="35" y="83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4" name="Freeform 341"/>
              <p:cNvSpPr>
                <a:spLocks noChangeArrowheads="1"/>
              </p:cNvSpPr>
              <p:nvPr/>
            </p:nvSpPr>
            <p:spPr bwMode="auto">
              <a:xfrm>
                <a:off x="4913" y="1251"/>
                <a:ext cx="36" cy="47"/>
              </a:xfrm>
              <a:custGeom>
                <a:avLst/>
                <a:gdLst>
                  <a:gd name="T0" fmla="*/ 48 w 108"/>
                  <a:gd name="T1" fmla="*/ 0 h 142"/>
                  <a:gd name="T2" fmla="*/ 48 w 108"/>
                  <a:gd name="T3" fmla="*/ 0 h 142"/>
                  <a:gd name="T4" fmla="*/ 47 w 108"/>
                  <a:gd name="T5" fmla="*/ 14 h 142"/>
                  <a:gd name="T6" fmla="*/ 45 w 108"/>
                  <a:gd name="T7" fmla="*/ 27 h 142"/>
                  <a:gd name="T8" fmla="*/ 41 w 108"/>
                  <a:gd name="T9" fmla="*/ 40 h 142"/>
                  <a:gd name="T10" fmla="*/ 35 w 108"/>
                  <a:gd name="T11" fmla="*/ 53 h 142"/>
                  <a:gd name="T12" fmla="*/ 28 w 108"/>
                  <a:gd name="T13" fmla="*/ 64 h 142"/>
                  <a:gd name="T14" fmla="*/ 20 w 108"/>
                  <a:gd name="T15" fmla="*/ 76 h 142"/>
                  <a:gd name="T16" fmla="*/ 10 w 108"/>
                  <a:gd name="T17" fmla="*/ 85 h 142"/>
                  <a:gd name="T18" fmla="*/ 0 w 108"/>
                  <a:gd name="T19" fmla="*/ 94 h 142"/>
                  <a:gd name="T20" fmla="*/ 35 w 108"/>
                  <a:gd name="T21" fmla="*/ 142 h 142"/>
                  <a:gd name="T22" fmla="*/ 51 w 108"/>
                  <a:gd name="T23" fmla="*/ 129 h 142"/>
                  <a:gd name="T24" fmla="*/ 65 w 108"/>
                  <a:gd name="T25" fmla="*/ 115 h 142"/>
                  <a:gd name="T26" fmla="*/ 78 w 108"/>
                  <a:gd name="T27" fmla="*/ 98 h 142"/>
                  <a:gd name="T28" fmla="*/ 88 w 108"/>
                  <a:gd name="T29" fmla="*/ 80 h 142"/>
                  <a:gd name="T30" fmla="*/ 97 w 108"/>
                  <a:gd name="T31" fmla="*/ 61 h 142"/>
                  <a:gd name="T32" fmla="*/ 103 w 108"/>
                  <a:gd name="T33" fmla="*/ 41 h 142"/>
                  <a:gd name="T34" fmla="*/ 107 w 108"/>
                  <a:gd name="T35" fmla="*/ 21 h 142"/>
                  <a:gd name="T36" fmla="*/ 108 w 108"/>
                  <a:gd name="T37" fmla="*/ 0 h 142"/>
                  <a:gd name="T38" fmla="*/ 108 w 108"/>
                  <a:gd name="T39" fmla="*/ 0 h 142"/>
                  <a:gd name="T40" fmla="*/ 48 w 108"/>
                  <a:gd name="T41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8" h="142">
                    <a:moveTo>
                      <a:pt x="48" y="0"/>
                    </a:moveTo>
                    <a:lnTo>
                      <a:pt x="48" y="0"/>
                    </a:lnTo>
                    <a:lnTo>
                      <a:pt x="47" y="14"/>
                    </a:lnTo>
                    <a:lnTo>
                      <a:pt x="45" y="27"/>
                    </a:lnTo>
                    <a:lnTo>
                      <a:pt x="41" y="40"/>
                    </a:lnTo>
                    <a:lnTo>
                      <a:pt x="35" y="53"/>
                    </a:lnTo>
                    <a:lnTo>
                      <a:pt x="28" y="64"/>
                    </a:lnTo>
                    <a:lnTo>
                      <a:pt x="20" y="76"/>
                    </a:lnTo>
                    <a:lnTo>
                      <a:pt x="10" y="85"/>
                    </a:lnTo>
                    <a:lnTo>
                      <a:pt x="0" y="94"/>
                    </a:lnTo>
                    <a:lnTo>
                      <a:pt x="35" y="142"/>
                    </a:lnTo>
                    <a:lnTo>
                      <a:pt x="51" y="129"/>
                    </a:lnTo>
                    <a:lnTo>
                      <a:pt x="65" y="115"/>
                    </a:lnTo>
                    <a:lnTo>
                      <a:pt x="78" y="98"/>
                    </a:lnTo>
                    <a:lnTo>
                      <a:pt x="88" y="80"/>
                    </a:lnTo>
                    <a:lnTo>
                      <a:pt x="97" y="61"/>
                    </a:lnTo>
                    <a:lnTo>
                      <a:pt x="103" y="41"/>
                    </a:lnTo>
                    <a:lnTo>
                      <a:pt x="107" y="21"/>
                    </a:lnTo>
                    <a:lnTo>
                      <a:pt x="108" y="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5" name="Freeform 342"/>
              <p:cNvSpPr>
                <a:spLocks noChangeArrowheads="1"/>
              </p:cNvSpPr>
              <p:nvPr/>
            </p:nvSpPr>
            <p:spPr bwMode="auto">
              <a:xfrm>
                <a:off x="4927" y="1233"/>
                <a:ext cx="22" cy="18"/>
              </a:xfrm>
              <a:custGeom>
                <a:avLst/>
                <a:gdLst>
                  <a:gd name="T0" fmla="*/ 0 w 66"/>
                  <a:gd name="T1" fmla="*/ 18 h 54"/>
                  <a:gd name="T2" fmla="*/ 3 w 66"/>
                  <a:gd name="T3" fmla="*/ 27 h 54"/>
                  <a:gd name="T4" fmla="*/ 4 w 66"/>
                  <a:gd name="T5" fmla="*/ 36 h 54"/>
                  <a:gd name="T6" fmla="*/ 5 w 66"/>
                  <a:gd name="T7" fmla="*/ 46 h 54"/>
                  <a:gd name="T8" fmla="*/ 6 w 66"/>
                  <a:gd name="T9" fmla="*/ 54 h 54"/>
                  <a:gd name="T10" fmla="*/ 66 w 66"/>
                  <a:gd name="T11" fmla="*/ 54 h 54"/>
                  <a:gd name="T12" fmla="*/ 65 w 66"/>
                  <a:gd name="T13" fmla="*/ 41 h 54"/>
                  <a:gd name="T14" fmla="*/ 63 w 66"/>
                  <a:gd name="T15" fmla="*/ 27 h 54"/>
                  <a:gd name="T16" fmla="*/ 61 w 66"/>
                  <a:gd name="T17" fmla="*/ 13 h 54"/>
                  <a:gd name="T18" fmla="*/ 57 w 66"/>
                  <a:gd name="T19" fmla="*/ 0 h 54"/>
                  <a:gd name="T20" fmla="*/ 0 w 66"/>
                  <a:gd name="T21" fmla="*/ 1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54">
                    <a:moveTo>
                      <a:pt x="0" y="18"/>
                    </a:moveTo>
                    <a:lnTo>
                      <a:pt x="3" y="27"/>
                    </a:lnTo>
                    <a:lnTo>
                      <a:pt x="4" y="36"/>
                    </a:lnTo>
                    <a:lnTo>
                      <a:pt x="5" y="46"/>
                    </a:lnTo>
                    <a:lnTo>
                      <a:pt x="6" y="54"/>
                    </a:lnTo>
                    <a:lnTo>
                      <a:pt x="66" y="54"/>
                    </a:lnTo>
                    <a:lnTo>
                      <a:pt x="65" y="41"/>
                    </a:lnTo>
                    <a:lnTo>
                      <a:pt x="63" y="27"/>
                    </a:lnTo>
                    <a:lnTo>
                      <a:pt x="61" y="13"/>
                    </a:lnTo>
                    <a:lnTo>
                      <a:pt x="57" y="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6" name="Freeform 343"/>
              <p:cNvSpPr>
                <a:spLocks noChangeArrowheads="1"/>
              </p:cNvSpPr>
              <p:nvPr/>
            </p:nvSpPr>
            <p:spPr bwMode="auto">
              <a:xfrm>
                <a:off x="4535" y="1346"/>
                <a:ext cx="437" cy="326"/>
              </a:xfrm>
              <a:custGeom>
                <a:avLst/>
                <a:gdLst>
                  <a:gd name="T0" fmla="*/ 1276 w 1312"/>
                  <a:gd name="T1" fmla="*/ 0 h 978"/>
                  <a:gd name="T2" fmla="*/ 0 w 1312"/>
                  <a:gd name="T3" fmla="*/ 930 h 978"/>
                  <a:gd name="T4" fmla="*/ 36 w 1312"/>
                  <a:gd name="T5" fmla="*/ 978 h 978"/>
                  <a:gd name="T6" fmla="*/ 1312 w 1312"/>
                  <a:gd name="T7" fmla="*/ 48 h 978"/>
                  <a:gd name="T8" fmla="*/ 1276 w 1312"/>
                  <a:gd name="T9" fmla="*/ 0 h 9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2" h="978">
                    <a:moveTo>
                      <a:pt x="1276" y="0"/>
                    </a:moveTo>
                    <a:lnTo>
                      <a:pt x="0" y="930"/>
                    </a:lnTo>
                    <a:lnTo>
                      <a:pt x="36" y="978"/>
                    </a:lnTo>
                    <a:lnTo>
                      <a:pt x="1312" y="48"/>
                    </a:lnTo>
                    <a:lnTo>
                      <a:pt x="1276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7" name="Freeform 344"/>
              <p:cNvSpPr>
                <a:spLocks noChangeArrowheads="1"/>
              </p:cNvSpPr>
              <p:nvPr/>
            </p:nvSpPr>
            <p:spPr bwMode="auto">
              <a:xfrm>
                <a:off x="4484" y="1283"/>
                <a:ext cx="441" cy="325"/>
              </a:xfrm>
              <a:custGeom>
                <a:avLst/>
                <a:gdLst>
                  <a:gd name="T0" fmla="*/ 1287 w 1323"/>
                  <a:gd name="T1" fmla="*/ 0 h 977"/>
                  <a:gd name="T2" fmla="*/ 0 w 1323"/>
                  <a:gd name="T3" fmla="*/ 929 h 977"/>
                  <a:gd name="T4" fmla="*/ 35 w 1323"/>
                  <a:gd name="T5" fmla="*/ 977 h 977"/>
                  <a:gd name="T6" fmla="*/ 1323 w 1323"/>
                  <a:gd name="T7" fmla="*/ 48 h 977"/>
                  <a:gd name="T8" fmla="*/ 1287 w 1323"/>
                  <a:gd name="T9" fmla="*/ 0 h 9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23" h="977">
                    <a:moveTo>
                      <a:pt x="1287" y="0"/>
                    </a:moveTo>
                    <a:lnTo>
                      <a:pt x="0" y="929"/>
                    </a:lnTo>
                    <a:lnTo>
                      <a:pt x="35" y="977"/>
                    </a:lnTo>
                    <a:lnTo>
                      <a:pt x="1323" y="48"/>
                    </a:lnTo>
                    <a:lnTo>
                      <a:pt x="1287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238" name="Rectangle 345"/>
            <p:cNvSpPr>
              <a:spLocks noChangeArrowheads="1"/>
            </p:cNvSpPr>
            <p:nvPr/>
          </p:nvSpPr>
          <p:spPr bwMode="auto">
            <a:xfrm>
              <a:off x="2677" y="1523"/>
              <a:ext cx="21" cy="7"/>
            </a:xfrm>
            <a:prstGeom prst="rect">
              <a:avLst/>
            </a:prstGeom>
            <a:solidFill>
              <a:srgbClr val="131516"/>
            </a:solidFill>
            <a:ln w="9525">
              <a:solidFill>
                <a:srgbClr val="FF33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39" name="Rectangle 346"/>
            <p:cNvSpPr>
              <a:spLocks noChangeArrowheads="1"/>
            </p:cNvSpPr>
            <p:nvPr/>
          </p:nvSpPr>
          <p:spPr bwMode="auto">
            <a:xfrm>
              <a:off x="2598" y="1526"/>
              <a:ext cx="7" cy="53"/>
            </a:xfrm>
            <a:prstGeom prst="rect">
              <a:avLst/>
            </a:prstGeom>
            <a:solidFill>
              <a:srgbClr val="131516"/>
            </a:solidFill>
            <a:ln w="9525">
              <a:solidFill>
                <a:srgbClr val="FF33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0" name="Freeform 347"/>
            <p:cNvSpPr>
              <a:spLocks noChangeArrowheads="1"/>
            </p:cNvSpPr>
            <p:nvPr/>
          </p:nvSpPr>
          <p:spPr bwMode="auto">
            <a:xfrm>
              <a:off x="2584" y="1579"/>
              <a:ext cx="31" cy="80"/>
            </a:xfrm>
            <a:custGeom>
              <a:avLst/>
              <a:gdLst>
                <a:gd name="T0" fmla="*/ 47 w 94"/>
                <a:gd name="T1" fmla="*/ 239 h 239"/>
                <a:gd name="T2" fmla="*/ 94 w 94"/>
                <a:gd name="T3" fmla="*/ 0 h 239"/>
                <a:gd name="T4" fmla="*/ 0 w 94"/>
                <a:gd name="T5" fmla="*/ 0 h 239"/>
                <a:gd name="T6" fmla="*/ 47 w 94"/>
                <a:gd name="T7" fmla="*/ 239 h 239"/>
                <a:gd name="T8" fmla="*/ 51 w 94"/>
                <a:gd name="T9" fmla="*/ 110 h 239"/>
                <a:gd name="T10" fmla="*/ 47 w 94"/>
                <a:gd name="T11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239">
                  <a:moveTo>
                    <a:pt x="47" y="239"/>
                  </a:moveTo>
                  <a:lnTo>
                    <a:pt x="94" y="0"/>
                  </a:lnTo>
                  <a:lnTo>
                    <a:pt x="0" y="0"/>
                  </a:lnTo>
                  <a:lnTo>
                    <a:pt x="47" y="239"/>
                  </a:lnTo>
                  <a:lnTo>
                    <a:pt x="51" y="110"/>
                  </a:lnTo>
                  <a:lnTo>
                    <a:pt x="47" y="239"/>
                  </a:lnTo>
                  <a:close/>
                </a:path>
              </a:pathLst>
            </a:custGeom>
            <a:solidFill>
              <a:srgbClr val="131516"/>
            </a:solidFill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1" name="Rectangle 348"/>
            <p:cNvSpPr>
              <a:spLocks noChangeArrowheads="1"/>
            </p:cNvSpPr>
            <p:nvPr/>
          </p:nvSpPr>
          <p:spPr bwMode="auto">
            <a:xfrm>
              <a:off x="2601" y="1517"/>
              <a:ext cx="58" cy="20"/>
            </a:xfrm>
            <a:prstGeom prst="rect">
              <a:avLst/>
            </a:prstGeom>
            <a:solidFill>
              <a:srgbClr val="131516"/>
            </a:solidFill>
            <a:ln w="9525">
              <a:solidFill>
                <a:srgbClr val="FF33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242" name="Group 349"/>
            <p:cNvGrpSpPr>
              <a:grpSpLocks/>
            </p:cNvGrpSpPr>
            <p:nvPr/>
          </p:nvGrpSpPr>
          <p:grpSpPr bwMode="auto">
            <a:xfrm>
              <a:off x="4124" y="640"/>
              <a:ext cx="1324" cy="897"/>
              <a:chOff x="4124" y="640"/>
              <a:chExt cx="1324" cy="897"/>
            </a:xfrm>
          </p:grpSpPr>
          <p:sp>
            <p:nvSpPr>
              <p:cNvPr id="245" name="Freeform 350"/>
              <p:cNvSpPr>
                <a:spLocks noChangeArrowheads="1"/>
              </p:cNvSpPr>
              <p:nvPr/>
            </p:nvSpPr>
            <p:spPr bwMode="auto">
              <a:xfrm>
                <a:off x="5295" y="687"/>
                <a:ext cx="21" cy="18"/>
              </a:xfrm>
              <a:custGeom>
                <a:avLst/>
                <a:gdLst>
                  <a:gd name="T0" fmla="*/ 50 w 63"/>
                  <a:gd name="T1" fmla="*/ 0 h 53"/>
                  <a:gd name="T2" fmla="*/ 63 w 63"/>
                  <a:gd name="T3" fmla="*/ 16 h 53"/>
                  <a:gd name="T4" fmla="*/ 13 w 63"/>
                  <a:gd name="T5" fmla="*/ 53 h 53"/>
                  <a:gd name="T6" fmla="*/ 0 w 63"/>
                  <a:gd name="T7" fmla="*/ 36 h 53"/>
                  <a:gd name="T8" fmla="*/ 50 w 63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53">
                    <a:moveTo>
                      <a:pt x="50" y="0"/>
                    </a:moveTo>
                    <a:lnTo>
                      <a:pt x="63" y="16"/>
                    </a:lnTo>
                    <a:lnTo>
                      <a:pt x="13" y="53"/>
                    </a:lnTo>
                    <a:lnTo>
                      <a:pt x="0" y="36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131516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6" name="Freeform 351"/>
              <p:cNvSpPr>
                <a:spLocks noChangeArrowheads="1"/>
              </p:cNvSpPr>
              <p:nvPr/>
            </p:nvSpPr>
            <p:spPr bwMode="auto">
              <a:xfrm>
                <a:off x="5318" y="640"/>
                <a:ext cx="59" cy="50"/>
              </a:xfrm>
              <a:custGeom>
                <a:avLst/>
                <a:gdLst>
                  <a:gd name="T0" fmla="*/ 141 w 177"/>
                  <a:gd name="T1" fmla="*/ 0 h 150"/>
                  <a:gd name="T2" fmla="*/ 0 w 177"/>
                  <a:gd name="T3" fmla="*/ 102 h 150"/>
                  <a:gd name="T4" fmla="*/ 36 w 177"/>
                  <a:gd name="T5" fmla="*/ 150 h 150"/>
                  <a:gd name="T6" fmla="*/ 177 w 177"/>
                  <a:gd name="T7" fmla="*/ 48 h 150"/>
                  <a:gd name="T8" fmla="*/ 141 w 177"/>
                  <a:gd name="T9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7" h="150">
                    <a:moveTo>
                      <a:pt x="141" y="0"/>
                    </a:moveTo>
                    <a:lnTo>
                      <a:pt x="0" y="102"/>
                    </a:lnTo>
                    <a:lnTo>
                      <a:pt x="36" y="150"/>
                    </a:lnTo>
                    <a:lnTo>
                      <a:pt x="177" y="48"/>
                    </a:ln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131516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7" name="Freeform 352"/>
              <p:cNvSpPr>
                <a:spLocks noChangeArrowheads="1"/>
              </p:cNvSpPr>
              <p:nvPr/>
            </p:nvSpPr>
            <p:spPr bwMode="auto">
              <a:xfrm>
                <a:off x="5368" y="646"/>
                <a:ext cx="37" cy="47"/>
              </a:xfrm>
              <a:custGeom>
                <a:avLst/>
                <a:gdLst>
                  <a:gd name="T0" fmla="*/ 111 w 111"/>
                  <a:gd name="T1" fmla="*/ 128 h 141"/>
                  <a:gd name="T2" fmla="*/ 17 w 111"/>
                  <a:gd name="T3" fmla="*/ 0 h 141"/>
                  <a:gd name="T4" fmla="*/ 0 w 111"/>
                  <a:gd name="T5" fmla="*/ 12 h 141"/>
                  <a:gd name="T6" fmla="*/ 94 w 111"/>
                  <a:gd name="T7" fmla="*/ 141 h 141"/>
                  <a:gd name="T8" fmla="*/ 111 w 111"/>
                  <a:gd name="T9" fmla="*/ 128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41">
                    <a:moveTo>
                      <a:pt x="111" y="128"/>
                    </a:moveTo>
                    <a:lnTo>
                      <a:pt x="17" y="0"/>
                    </a:lnTo>
                    <a:lnTo>
                      <a:pt x="0" y="12"/>
                    </a:lnTo>
                    <a:lnTo>
                      <a:pt x="94" y="141"/>
                    </a:lnTo>
                    <a:lnTo>
                      <a:pt x="111" y="128"/>
                    </a:lnTo>
                    <a:close/>
                  </a:path>
                </a:pathLst>
              </a:custGeom>
              <a:solidFill>
                <a:srgbClr val="131516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8" name="Freeform 353"/>
              <p:cNvSpPr>
                <a:spLocks noChangeArrowheads="1"/>
              </p:cNvSpPr>
              <p:nvPr/>
            </p:nvSpPr>
            <p:spPr bwMode="auto">
              <a:xfrm>
                <a:off x="5388" y="682"/>
                <a:ext cx="60" cy="74"/>
              </a:xfrm>
              <a:custGeom>
                <a:avLst/>
                <a:gdLst>
                  <a:gd name="T0" fmla="*/ 180 w 180"/>
                  <a:gd name="T1" fmla="*/ 223 h 223"/>
                  <a:gd name="T2" fmla="*/ 76 w 180"/>
                  <a:gd name="T3" fmla="*/ 0 h 223"/>
                  <a:gd name="T4" fmla="*/ 0 w 180"/>
                  <a:gd name="T5" fmla="*/ 56 h 223"/>
                  <a:gd name="T6" fmla="*/ 180 w 180"/>
                  <a:gd name="T7" fmla="*/ 223 h 223"/>
                  <a:gd name="T8" fmla="*/ 106 w 180"/>
                  <a:gd name="T9" fmla="*/ 115 h 223"/>
                  <a:gd name="T10" fmla="*/ 180 w 180"/>
                  <a:gd name="T11" fmla="*/ 223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0" h="223">
                    <a:moveTo>
                      <a:pt x="180" y="223"/>
                    </a:moveTo>
                    <a:lnTo>
                      <a:pt x="76" y="0"/>
                    </a:lnTo>
                    <a:lnTo>
                      <a:pt x="0" y="56"/>
                    </a:lnTo>
                    <a:lnTo>
                      <a:pt x="180" y="223"/>
                    </a:lnTo>
                    <a:lnTo>
                      <a:pt x="106" y="115"/>
                    </a:lnTo>
                    <a:lnTo>
                      <a:pt x="180" y="223"/>
                    </a:lnTo>
                    <a:close/>
                  </a:path>
                </a:pathLst>
              </a:custGeom>
              <a:solidFill>
                <a:srgbClr val="131516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9" name="Freeform 354"/>
              <p:cNvSpPr>
                <a:spLocks noChangeArrowheads="1"/>
              </p:cNvSpPr>
              <p:nvPr/>
            </p:nvSpPr>
            <p:spPr bwMode="auto">
              <a:xfrm>
                <a:off x="4124" y="1517"/>
                <a:ext cx="67" cy="20"/>
              </a:xfrm>
              <a:custGeom>
                <a:avLst/>
                <a:gdLst>
                  <a:gd name="T0" fmla="*/ 201 w 201"/>
                  <a:gd name="T1" fmla="*/ 54 h 60"/>
                  <a:gd name="T2" fmla="*/ 182 w 201"/>
                  <a:gd name="T3" fmla="*/ 0 h 60"/>
                  <a:gd name="T4" fmla="*/ 0 w 201"/>
                  <a:gd name="T5" fmla="*/ 0 h 60"/>
                  <a:gd name="T6" fmla="*/ 0 w 201"/>
                  <a:gd name="T7" fmla="*/ 60 h 60"/>
                  <a:gd name="T8" fmla="*/ 182 w 201"/>
                  <a:gd name="T9" fmla="*/ 60 h 60"/>
                  <a:gd name="T10" fmla="*/ 201 w 201"/>
                  <a:gd name="T11" fmla="*/ 54 h 60"/>
                  <a:gd name="T12" fmla="*/ 182 w 201"/>
                  <a:gd name="T13" fmla="*/ 60 h 60"/>
                  <a:gd name="T14" fmla="*/ 193 w 201"/>
                  <a:gd name="T15" fmla="*/ 60 h 60"/>
                  <a:gd name="T16" fmla="*/ 201 w 201"/>
                  <a:gd name="T17" fmla="*/ 5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1" h="60">
                    <a:moveTo>
                      <a:pt x="201" y="54"/>
                    </a:moveTo>
                    <a:lnTo>
                      <a:pt x="182" y="0"/>
                    </a:lnTo>
                    <a:lnTo>
                      <a:pt x="0" y="0"/>
                    </a:lnTo>
                    <a:lnTo>
                      <a:pt x="0" y="60"/>
                    </a:lnTo>
                    <a:lnTo>
                      <a:pt x="182" y="60"/>
                    </a:lnTo>
                    <a:lnTo>
                      <a:pt x="201" y="54"/>
                    </a:lnTo>
                    <a:lnTo>
                      <a:pt x="182" y="60"/>
                    </a:lnTo>
                    <a:lnTo>
                      <a:pt x="193" y="60"/>
                    </a:lnTo>
                    <a:lnTo>
                      <a:pt x="201" y="54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0" name="Freeform 355"/>
              <p:cNvSpPr>
                <a:spLocks noChangeArrowheads="1"/>
              </p:cNvSpPr>
              <p:nvPr/>
            </p:nvSpPr>
            <p:spPr bwMode="auto">
              <a:xfrm>
                <a:off x="4162" y="1461"/>
                <a:ext cx="68" cy="60"/>
              </a:xfrm>
              <a:custGeom>
                <a:avLst/>
                <a:gdLst>
                  <a:gd name="T0" fmla="*/ 166 w 203"/>
                  <a:gd name="T1" fmla="*/ 0 h 181"/>
                  <a:gd name="T2" fmla="*/ 0 w 203"/>
                  <a:gd name="T3" fmla="*/ 133 h 181"/>
                  <a:gd name="T4" fmla="*/ 38 w 203"/>
                  <a:gd name="T5" fmla="*/ 181 h 181"/>
                  <a:gd name="T6" fmla="*/ 203 w 203"/>
                  <a:gd name="T7" fmla="*/ 46 h 181"/>
                  <a:gd name="T8" fmla="*/ 166 w 203"/>
                  <a:gd name="T9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3" h="181">
                    <a:moveTo>
                      <a:pt x="166" y="0"/>
                    </a:moveTo>
                    <a:lnTo>
                      <a:pt x="0" y="133"/>
                    </a:lnTo>
                    <a:lnTo>
                      <a:pt x="38" y="181"/>
                    </a:lnTo>
                    <a:lnTo>
                      <a:pt x="203" y="46"/>
                    </a:lnTo>
                    <a:lnTo>
                      <a:pt x="166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243" name="Text Box 356"/>
            <p:cNvSpPr txBox="1">
              <a:spLocks noChangeArrowheads="1"/>
            </p:cNvSpPr>
            <p:nvPr/>
          </p:nvSpPr>
          <p:spPr bwMode="auto">
            <a:xfrm>
              <a:off x="5273" y="400"/>
              <a:ext cx="303" cy="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0" hangingPunct="0">
                <a:spcBef>
                  <a:spcPct val="50000"/>
                </a:spcBef>
              </a:pPr>
              <a:r>
                <a:rPr lang="en-US" altLang="zh-CN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244" name="Text Box 357"/>
            <p:cNvSpPr txBox="1">
              <a:spLocks noChangeArrowheads="1"/>
            </p:cNvSpPr>
            <p:nvPr/>
          </p:nvSpPr>
          <p:spPr bwMode="auto">
            <a:xfrm>
              <a:off x="2472" y="1264"/>
              <a:ext cx="312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0" hangingPunct="0">
                <a:spcBef>
                  <a:spcPct val="50000"/>
                </a:spcBef>
              </a:pPr>
              <a:r>
                <a:rPr lang="en-US" altLang="zh-CN">
                  <a:latin typeface="Times New Roman" panose="02020603050405020304" pitchFamily="18" charset="0"/>
                </a:rPr>
                <a:t>A</a:t>
              </a:r>
            </a:p>
          </p:txBody>
        </p:sp>
      </p:grpSp>
      <p:sp>
        <p:nvSpPr>
          <p:cNvPr id="358" name="Text Box 358"/>
          <p:cNvSpPr txBox="1">
            <a:spLocks noChangeArrowheads="1"/>
          </p:cNvSpPr>
          <p:nvPr/>
        </p:nvSpPr>
        <p:spPr bwMode="auto">
          <a:xfrm>
            <a:off x="2005013" y="5289551"/>
            <a:ext cx="793115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49263" indent="-449263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0" hangingPunct="0"/>
            <a:r>
              <a:rPr lang="en-US" altLang="zh-CN" dirty="0">
                <a:solidFill>
                  <a:schemeClr val="hlink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en-US" altLang="zh-CN" dirty="0"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将倾斜位置的结构旋转到与基本投影面平行，然后再进行投射，使剖视图既反映实形又便于画图。 </a:t>
            </a:r>
          </a:p>
        </p:txBody>
      </p:sp>
    </p:spTree>
    <p:extLst>
      <p:ext uri="{BB962C8B-B14F-4D97-AF65-F5344CB8AC3E}">
        <p14:creationId xmlns:p14="http://schemas.microsoft.com/office/powerpoint/2010/main" val="1385824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/>
          <p:cNvSpPr txBox="1">
            <a:spLocks noChangeArrowheads="1"/>
          </p:cNvSpPr>
          <p:nvPr/>
        </p:nvSpPr>
        <p:spPr>
          <a:xfrm>
            <a:off x="919234" y="1274932"/>
            <a:ext cx="4189412" cy="5715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FontTx/>
              <a:buNone/>
              <a:defRPr sz="2800" b="1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defRPr>
            </a:lvl1pPr>
          </a:lstStyle>
          <a:p>
            <a:r>
              <a:rPr lang="en-US" altLang="zh-CN" dirty="0"/>
              <a:t>1. </a:t>
            </a:r>
            <a:r>
              <a:rPr lang="zh-CN" altLang="en-US" dirty="0"/>
              <a:t>局部放大图</a:t>
            </a:r>
          </a:p>
        </p:txBody>
      </p:sp>
      <p:grpSp>
        <p:nvGrpSpPr>
          <p:cNvPr id="22" name="Group 3"/>
          <p:cNvGrpSpPr>
            <a:grpSpLocks noChangeAspect="1"/>
          </p:cNvGrpSpPr>
          <p:nvPr/>
        </p:nvGrpSpPr>
        <p:grpSpPr bwMode="auto">
          <a:xfrm>
            <a:off x="8177356" y="2597543"/>
            <a:ext cx="685800" cy="792162"/>
            <a:chOff x="4579" y="746"/>
            <a:chExt cx="540" cy="624"/>
          </a:xfrm>
        </p:grpSpPr>
        <p:sp>
          <p:nvSpPr>
            <p:cNvPr id="23" name="Freeform 4"/>
            <p:cNvSpPr>
              <a:spLocks noChangeAspect="1" noChangeArrowheads="1"/>
            </p:cNvSpPr>
            <p:nvPr/>
          </p:nvSpPr>
          <p:spPr bwMode="auto">
            <a:xfrm>
              <a:off x="4579" y="1045"/>
              <a:ext cx="325" cy="325"/>
            </a:xfrm>
            <a:custGeom>
              <a:avLst/>
              <a:gdLst>
                <a:gd name="T0" fmla="*/ 584 w 1302"/>
                <a:gd name="T1" fmla="*/ 4 h 1299"/>
                <a:gd name="T2" fmla="*/ 488 w 1302"/>
                <a:gd name="T3" fmla="*/ 21 h 1299"/>
                <a:gd name="T4" fmla="*/ 398 w 1302"/>
                <a:gd name="T5" fmla="*/ 53 h 1299"/>
                <a:gd name="T6" fmla="*/ 313 w 1302"/>
                <a:gd name="T7" fmla="*/ 96 h 1299"/>
                <a:gd name="T8" fmla="*/ 237 w 1302"/>
                <a:gd name="T9" fmla="*/ 149 h 1299"/>
                <a:gd name="T10" fmla="*/ 169 w 1302"/>
                <a:gd name="T11" fmla="*/ 215 h 1299"/>
                <a:gd name="T12" fmla="*/ 111 w 1302"/>
                <a:gd name="T13" fmla="*/ 288 h 1299"/>
                <a:gd name="T14" fmla="*/ 64 w 1302"/>
                <a:gd name="T15" fmla="*/ 370 h 1299"/>
                <a:gd name="T16" fmla="*/ 29 w 1302"/>
                <a:gd name="T17" fmla="*/ 457 h 1299"/>
                <a:gd name="T18" fmla="*/ 7 w 1302"/>
                <a:gd name="T19" fmla="*/ 551 h 1299"/>
                <a:gd name="T20" fmla="*/ 0 w 1302"/>
                <a:gd name="T21" fmla="*/ 651 h 1299"/>
                <a:gd name="T22" fmla="*/ 7 w 1302"/>
                <a:gd name="T23" fmla="*/ 750 h 1299"/>
                <a:gd name="T24" fmla="*/ 29 w 1302"/>
                <a:gd name="T25" fmla="*/ 844 h 1299"/>
                <a:gd name="T26" fmla="*/ 64 w 1302"/>
                <a:gd name="T27" fmla="*/ 931 h 1299"/>
                <a:gd name="T28" fmla="*/ 111 w 1302"/>
                <a:gd name="T29" fmla="*/ 1014 h 1299"/>
                <a:gd name="T30" fmla="*/ 169 w 1302"/>
                <a:gd name="T31" fmla="*/ 1087 h 1299"/>
                <a:gd name="T32" fmla="*/ 237 w 1302"/>
                <a:gd name="T33" fmla="*/ 1152 h 1299"/>
                <a:gd name="T34" fmla="*/ 313 w 1302"/>
                <a:gd name="T35" fmla="*/ 1205 h 1299"/>
                <a:gd name="T36" fmla="*/ 398 w 1302"/>
                <a:gd name="T37" fmla="*/ 1249 h 1299"/>
                <a:gd name="T38" fmla="*/ 488 w 1302"/>
                <a:gd name="T39" fmla="*/ 1280 h 1299"/>
                <a:gd name="T40" fmla="*/ 584 w 1302"/>
                <a:gd name="T41" fmla="*/ 1297 h 1299"/>
                <a:gd name="T42" fmla="*/ 684 w 1302"/>
                <a:gd name="T43" fmla="*/ 1299 h 1299"/>
                <a:gd name="T44" fmla="*/ 781 w 1302"/>
                <a:gd name="T45" fmla="*/ 1286 h 1299"/>
                <a:gd name="T46" fmla="*/ 874 w 1302"/>
                <a:gd name="T47" fmla="*/ 1260 h 1299"/>
                <a:gd name="T48" fmla="*/ 960 w 1302"/>
                <a:gd name="T49" fmla="*/ 1221 h 1299"/>
                <a:gd name="T50" fmla="*/ 1039 w 1302"/>
                <a:gd name="T51" fmla="*/ 1170 h 1299"/>
                <a:gd name="T52" fmla="*/ 1111 w 1302"/>
                <a:gd name="T53" fmla="*/ 1109 h 1299"/>
                <a:gd name="T54" fmla="*/ 1172 w 1302"/>
                <a:gd name="T55" fmla="*/ 1038 h 1299"/>
                <a:gd name="T56" fmla="*/ 1222 w 1302"/>
                <a:gd name="T57" fmla="*/ 960 h 1299"/>
                <a:gd name="T58" fmla="*/ 1261 w 1302"/>
                <a:gd name="T59" fmla="*/ 874 h 1299"/>
                <a:gd name="T60" fmla="*/ 1287 w 1302"/>
                <a:gd name="T61" fmla="*/ 781 h 1299"/>
                <a:gd name="T62" fmla="*/ 1300 w 1302"/>
                <a:gd name="T63" fmla="*/ 685 h 1299"/>
                <a:gd name="T64" fmla="*/ 1298 w 1302"/>
                <a:gd name="T65" fmla="*/ 584 h 1299"/>
                <a:gd name="T66" fmla="*/ 1281 w 1302"/>
                <a:gd name="T67" fmla="*/ 489 h 1299"/>
                <a:gd name="T68" fmla="*/ 1249 w 1302"/>
                <a:gd name="T69" fmla="*/ 399 h 1299"/>
                <a:gd name="T70" fmla="*/ 1206 w 1302"/>
                <a:gd name="T71" fmla="*/ 314 h 1299"/>
                <a:gd name="T72" fmla="*/ 1153 w 1302"/>
                <a:gd name="T73" fmla="*/ 238 h 1299"/>
                <a:gd name="T74" fmla="*/ 1087 w 1302"/>
                <a:gd name="T75" fmla="*/ 170 h 1299"/>
                <a:gd name="T76" fmla="*/ 1014 w 1302"/>
                <a:gd name="T77" fmla="*/ 113 h 1299"/>
                <a:gd name="T78" fmla="*/ 932 w 1302"/>
                <a:gd name="T79" fmla="*/ 66 h 1299"/>
                <a:gd name="T80" fmla="*/ 844 w 1302"/>
                <a:gd name="T81" fmla="*/ 31 h 1299"/>
                <a:gd name="T82" fmla="*/ 750 w 1302"/>
                <a:gd name="T83" fmla="*/ 8 h 1299"/>
                <a:gd name="T84" fmla="*/ 650 w 1302"/>
                <a:gd name="T85" fmla="*/ 0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2" h="1299">
                  <a:moveTo>
                    <a:pt x="650" y="0"/>
                  </a:moveTo>
                  <a:lnTo>
                    <a:pt x="618" y="2"/>
                  </a:lnTo>
                  <a:lnTo>
                    <a:pt x="584" y="4"/>
                  </a:lnTo>
                  <a:lnTo>
                    <a:pt x="552" y="8"/>
                  </a:lnTo>
                  <a:lnTo>
                    <a:pt x="520" y="15"/>
                  </a:lnTo>
                  <a:lnTo>
                    <a:pt x="488" y="21"/>
                  </a:lnTo>
                  <a:lnTo>
                    <a:pt x="457" y="31"/>
                  </a:lnTo>
                  <a:lnTo>
                    <a:pt x="427" y="41"/>
                  </a:lnTo>
                  <a:lnTo>
                    <a:pt x="398" y="53"/>
                  </a:lnTo>
                  <a:lnTo>
                    <a:pt x="369" y="66"/>
                  </a:lnTo>
                  <a:lnTo>
                    <a:pt x="340" y="80"/>
                  </a:lnTo>
                  <a:lnTo>
                    <a:pt x="313" y="96"/>
                  </a:lnTo>
                  <a:lnTo>
                    <a:pt x="287" y="113"/>
                  </a:lnTo>
                  <a:lnTo>
                    <a:pt x="262" y="131"/>
                  </a:lnTo>
                  <a:lnTo>
                    <a:pt x="237" y="149"/>
                  </a:lnTo>
                  <a:lnTo>
                    <a:pt x="214" y="170"/>
                  </a:lnTo>
                  <a:lnTo>
                    <a:pt x="191" y="191"/>
                  </a:lnTo>
                  <a:lnTo>
                    <a:pt x="169" y="215"/>
                  </a:lnTo>
                  <a:lnTo>
                    <a:pt x="148" y="238"/>
                  </a:lnTo>
                  <a:lnTo>
                    <a:pt x="130" y="263"/>
                  </a:lnTo>
                  <a:lnTo>
                    <a:pt x="111" y="288"/>
                  </a:lnTo>
                  <a:lnTo>
                    <a:pt x="94" y="314"/>
                  </a:lnTo>
                  <a:lnTo>
                    <a:pt x="79" y="341"/>
                  </a:lnTo>
                  <a:lnTo>
                    <a:pt x="64" y="370"/>
                  </a:lnTo>
                  <a:lnTo>
                    <a:pt x="51" y="399"/>
                  </a:lnTo>
                  <a:lnTo>
                    <a:pt x="40" y="427"/>
                  </a:lnTo>
                  <a:lnTo>
                    <a:pt x="29" y="457"/>
                  </a:lnTo>
                  <a:lnTo>
                    <a:pt x="20" y="489"/>
                  </a:lnTo>
                  <a:lnTo>
                    <a:pt x="13" y="520"/>
                  </a:lnTo>
                  <a:lnTo>
                    <a:pt x="7" y="551"/>
                  </a:lnTo>
                  <a:lnTo>
                    <a:pt x="3" y="584"/>
                  </a:lnTo>
                  <a:lnTo>
                    <a:pt x="0" y="617"/>
                  </a:lnTo>
                  <a:lnTo>
                    <a:pt x="0" y="651"/>
                  </a:lnTo>
                  <a:lnTo>
                    <a:pt x="0" y="685"/>
                  </a:lnTo>
                  <a:lnTo>
                    <a:pt x="3" y="717"/>
                  </a:lnTo>
                  <a:lnTo>
                    <a:pt x="7" y="750"/>
                  </a:lnTo>
                  <a:lnTo>
                    <a:pt x="13" y="781"/>
                  </a:lnTo>
                  <a:lnTo>
                    <a:pt x="20" y="813"/>
                  </a:lnTo>
                  <a:lnTo>
                    <a:pt x="29" y="844"/>
                  </a:lnTo>
                  <a:lnTo>
                    <a:pt x="40" y="874"/>
                  </a:lnTo>
                  <a:lnTo>
                    <a:pt x="51" y="903"/>
                  </a:lnTo>
                  <a:lnTo>
                    <a:pt x="64" y="931"/>
                  </a:lnTo>
                  <a:lnTo>
                    <a:pt x="79" y="960"/>
                  </a:lnTo>
                  <a:lnTo>
                    <a:pt x="94" y="987"/>
                  </a:lnTo>
                  <a:lnTo>
                    <a:pt x="111" y="1014"/>
                  </a:lnTo>
                  <a:lnTo>
                    <a:pt x="130" y="1038"/>
                  </a:lnTo>
                  <a:lnTo>
                    <a:pt x="148" y="1063"/>
                  </a:lnTo>
                  <a:lnTo>
                    <a:pt x="169" y="1087"/>
                  </a:lnTo>
                  <a:lnTo>
                    <a:pt x="191" y="1109"/>
                  </a:lnTo>
                  <a:lnTo>
                    <a:pt x="214" y="1131"/>
                  </a:lnTo>
                  <a:lnTo>
                    <a:pt x="237" y="1152"/>
                  </a:lnTo>
                  <a:lnTo>
                    <a:pt x="262" y="1170"/>
                  </a:lnTo>
                  <a:lnTo>
                    <a:pt x="287" y="1188"/>
                  </a:lnTo>
                  <a:lnTo>
                    <a:pt x="313" y="1205"/>
                  </a:lnTo>
                  <a:lnTo>
                    <a:pt x="340" y="1221"/>
                  </a:lnTo>
                  <a:lnTo>
                    <a:pt x="369" y="1235"/>
                  </a:lnTo>
                  <a:lnTo>
                    <a:pt x="398" y="1249"/>
                  </a:lnTo>
                  <a:lnTo>
                    <a:pt x="427" y="1260"/>
                  </a:lnTo>
                  <a:lnTo>
                    <a:pt x="457" y="1271"/>
                  </a:lnTo>
                  <a:lnTo>
                    <a:pt x="488" y="1280"/>
                  </a:lnTo>
                  <a:lnTo>
                    <a:pt x="520" y="1286"/>
                  </a:lnTo>
                  <a:lnTo>
                    <a:pt x="552" y="1293"/>
                  </a:lnTo>
                  <a:lnTo>
                    <a:pt x="584" y="1297"/>
                  </a:lnTo>
                  <a:lnTo>
                    <a:pt x="618" y="1299"/>
                  </a:lnTo>
                  <a:lnTo>
                    <a:pt x="650" y="1299"/>
                  </a:lnTo>
                  <a:lnTo>
                    <a:pt x="684" y="1299"/>
                  </a:lnTo>
                  <a:lnTo>
                    <a:pt x="717" y="1297"/>
                  </a:lnTo>
                  <a:lnTo>
                    <a:pt x="750" y="1293"/>
                  </a:lnTo>
                  <a:lnTo>
                    <a:pt x="781" y="1286"/>
                  </a:lnTo>
                  <a:lnTo>
                    <a:pt x="813" y="1280"/>
                  </a:lnTo>
                  <a:lnTo>
                    <a:pt x="844" y="1271"/>
                  </a:lnTo>
                  <a:lnTo>
                    <a:pt x="874" y="1260"/>
                  </a:lnTo>
                  <a:lnTo>
                    <a:pt x="903" y="1249"/>
                  </a:lnTo>
                  <a:lnTo>
                    <a:pt x="932" y="1235"/>
                  </a:lnTo>
                  <a:lnTo>
                    <a:pt x="960" y="1221"/>
                  </a:lnTo>
                  <a:lnTo>
                    <a:pt x="988" y="1205"/>
                  </a:lnTo>
                  <a:lnTo>
                    <a:pt x="1014" y="1188"/>
                  </a:lnTo>
                  <a:lnTo>
                    <a:pt x="1039" y="1170"/>
                  </a:lnTo>
                  <a:lnTo>
                    <a:pt x="1064" y="1152"/>
                  </a:lnTo>
                  <a:lnTo>
                    <a:pt x="1087" y="1131"/>
                  </a:lnTo>
                  <a:lnTo>
                    <a:pt x="1111" y="1109"/>
                  </a:lnTo>
                  <a:lnTo>
                    <a:pt x="1132" y="1087"/>
                  </a:lnTo>
                  <a:lnTo>
                    <a:pt x="1153" y="1063"/>
                  </a:lnTo>
                  <a:lnTo>
                    <a:pt x="1172" y="1038"/>
                  </a:lnTo>
                  <a:lnTo>
                    <a:pt x="1189" y="1014"/>
                  </a:lnTo>
                  <a:lnTo>
                    <a:pt x="1206" y="987"/>
                  </a:lnTo>
                  <a:lnTo>
                    <a:pt x="1222" y="960"/>
                  </a:lnTo>
                  <a:lnTo>
                    <a:pt x="1236" y="931"/>
                  </a:lnTo>
                  <a:lnTo>
                    <a:pt x="1249" y="903"/>
                  </a:lnTo>
                  <a:lnTo>
                    <a:pt x="1261" y="874"/>
                  </a:lnTo>
                  <a:lnTo>
                    <a:pt x="1272" y="844"/>
                  </a:lnTo>
                  <a:lnTo>
                    <a:pt x="1281" y="813"/>
                  </a:lnTo>
                  <a:lnTo>
                    <a:pt x="1287" y="781"/>
                  </a:lnTo>
                  <a:lnTo>
                    <a:pt x="1294" y="750"/>
                  </a:lnTo>
                  <a:lnTo>
                    <a:pt x="1298" y="717"/>
                  </a:lnTo>
                  <a:lnTo>
                    <a:pt x="1300" y="685"/>
                  </a:lnTo>
                  <a:lnTo>
                    <a:pt x="1302" y="651"/>
                  </a:lnTo>
                  <a:lnTo>
                    <a:pt x="1300" y="617"/>
                  </a:lnTo>
                  <a:lnTo>
                    <a:pt x="1298" y="584"/>
                  </a:lnTo>
                  <a:lnTo>
                    <a:pt x="1294" y="551"/>
                  </a:lnTo>
                  <a:lnTo>
                    <a:pt x="1287" y="520"/>
                  </a:lnTo>
                  <a:lnTo>
                    <a:pt x="1281" y="489"/>
                  </a:lnTo>
                  <a:lnTo>
                    <a:pt x="1272" y="457"/>
                  </a:lnTo>
                  <a:lnTo>
                    <a:pt x="1261" y="427"/>
                  </a:lnTo>
                  <a:lnTo>
                    <a:pt x="1249" y="399"/>
                  </a:lnTo>
                  <a:lnTo>
                    <a:pt x="1236" y="370"/>
                  </a:lnTo>
                  <a:lnTo>
                    <a:pt x="1222" y="341"/>
                  </a:lnTo>
                  <a:lnTo>
                    <a:pt x="1206" y="314"/>
                  </a:lnTo>
                  <a:lnTo>
                    <a:pt x="1189" y="288"/>
                  </a:lnTo>
                  <a:lnTo>
                    <a:pt x="1172" y="263"/>
                  </a:lnTo>
                  <a:lnTo>
                    <a:pt x="1153" y="238"/>
                  </a:lnTo>
                  <a:lnTo>
                    <a:pt x="1132" y="215"/>
                  </a:lnTo>
                  <a:lnTo>
                    <a:pt x="1111" y="191"/>
                  </a:lnTo>
                  <a:lnTo>
                    <a:pt x="1087" y="170"/>
                  </a:lnTo>
                  <a:lnTo>
                    <a:pt x="1064" y="149"/>
                  </a:lnTo>
                  <a:lnTo>
                    <a:pt x="1039" y="131"/>
                  </a:lnTo>
                  <a:lnTo>
                    <a:pt x="1014" y="113"/>
                  </a:lnTo>
                  <a:lnTo>
                    <a:pt x="988" y="96"/>
                  </a:lnTo>
                  <a:lnTo>
                    <a:pt x="960" y="80"/>
                  </a:lnTo>
                  <a:lnTo>
                    <a:pt x="932" y="66"/>
                  </a:lnTo>
                  <a:lnTo>
                    <a:pt x="903" y="53"/>
                  </a:lnTo>
                  <a:lnTo>
                    <a:pt x="874" y="41"/>
                  </a:lnTo>
                  <a:lnTo>
                    <a:pt x="844" y="31"/>
                  </a:lnTo>
                  <a:lnTo>
                    <a:pt x="813" y="21"/>
                  </a:lnTo>
                  <a:lnTo>
                    <a:pt x="781" y="15"/>
                  </a:lnTo>
                  <a:lnTo>
                    <a:pt x="750" y="8"/>
                  </a:lnTo>
                  <a:lnTo>
                    <a:pt x="717" y="4"/>
                  </a:lnTo>
                  <a:lnTo>
                    <a:pt x="684" y="2"/>
                  </a:lnTo>
                  <a:lnTo>
                    <a:pt x="650" y="0"/>
                  </a:lnTo>
                  <a:close/>
                </a:path>
              </a:pathLst>
            </a:cu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4" name="Line 5"/>
            <p:cNvSpPr>
              <a:spLocks noChangeAspect="1" noChangeShapeType="1"/>
            </p:cNvSpPr>
            <p:nvPr/>
          </p:nvSpPr>
          <p:spPr bwMode="auto">
            <a:xfrm>
              <a:off x="4981" y="933"/>
              <a:ext cx="138" cy="1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" name="Line 6"/>
            <p:cNvSpPr>
              <a:spLocks noChangeAspect="1" noChangeShapeType="1"/>
            </p:cNvSpPr>
            <p:nvPr/>
          </p:nvSpPr>
          <p:spPr bwMode="auto">
            <a:xfrm flipV="1">
              <a:off x="4844" y="933"/>
              <a:ext cx="137" cy="154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" name="Rectangle 7"/>
            <p:cNvSpPr>
              <a:spLocks noChangeAspect="1" noChangeArrowheads="1"/>
            </p:cNvSpPr>
            <p:nvPr/>
          </p:nvSpPr>
          <p:spPr bwMode="auto">
            <a:xfrm>
              <a:off x="5032" y="746"/>
              <a:ext cx="77" cy="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2000" i="1">
                  <a:solidFill>
                    <a:srgbClr val="FF3300"/>
                  </a:solidFill>
                  <a:latin typeface="Book Antiqua" panose="02040602050305030304" pitchFamily="18" charset="0"/>
                </a:rPr>
                <a:t>I</a:t>
              </a:r>
              <a:endParaRPr lang="en-US" altLang="zh-CN" sz="2000" i="1">
                <a:solidFill>
                  <a:srgbClr val="FF3300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7" name="Group 8"/>
          <p:cNvGrpSpPr>
            <a:grpSpLocks noChangeAspect="1"/>
          </p:cNvGrpSpPr>
          <p:nvPr/>
        </p:nvGrpSpPr>
        <p:grpSpPr bwMode="auto">
          <a:xfrm>
            <a:off x="3051319" y="2453080"/>
            <a:ext cx="857250" cy="739775"/>
            <a:chOff x="542" y="632"/>
            <a:chExt cx="676" cy="583"/>
          </a:xfrm>
        </p:grpSpPr>
        <p:sp>
          <p:nvSpPr>
            <p:cNvPr id="28" name="Line 9"/>
            <p:cNvSpPr>
              <a:spLocks noChangeAspect="1" noChangeShapeType="1"/>
            </p:cNvSpPr>
            <p:nvPr/>
          </p:nvSpPr>
          <p:spPr bwMode="auto">
            <a:xfrm>
              <a:off x="1029" y="831"/>
              <a:ext cx="189" cy="1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9" name="Group 10"/>
            <p:cNvGrpSpPr>
              <a:grpSpLocks noChangeAspect="1"/>
            </p:cNvGrpSpPr>
            <p:nvPr/>
          </p:nvGrpSpPr>
          <p:grpSpPr bwMode="auto">
            <a:xfrm>
              <a:off x="542" y="632"/>
              <a:ext cx="674" cy="583"/>
              <a:chOff x="542" y="632"/>
              <a:chExt cx="674" cy="583"/>
            </a:xfrm>
          </p:grpSpPr>
          <p:sp>
            <p:nvSpPr>
              <p:cNvPr id="30" name="Freeform 11"/>
              <p:cNvSpPr>
                <a:spLocks noChangeAspect="1" noChangeArrowheads="1"/>
              </p:cNvSpPr>
              <p:nvPr/>
            </p:nvSpPr>
            <p:spPr bwMode="auto">
              <a:xfrm>
                <a:off x="542" y="910"/>
                <a:ext cx="305" cy="305"/>
              </a:xfrm>
              <a:custGeom>
                <a:avLst/>
                <a:gdLst>
                  <a:gd name="T0" fmla="*/ 548 w 1220"/>
                  <a:gd name="T1" fmla="*/ 4 h 1218"/>
                  <a:gd name="T2" fmla="*/ 458 w 1220"/>
                  <a:gd name="T3" fmla="*/ 20 h 1218"/>
                  <a:gd name="T4" fmla="*/ 373 w 1220"/>
                  <a:gd name="T5" fmla="*/ 48 h 1218"/>
                  <a:gd name="T6" fmla="*/ 294 w 1220"/>
                  <a:gd name="T7" fmla="*/ 89 h 1218"/>
                  <a:gd name="T8" fmla="*/ 222 w 1220"/>
                  <a:gd name="T9" fmla="*/ 140 h 1218"/>
                  <a:gd name="T10" fmla="*/ 160 w 1220"/>
                  <a:gd name="T11" fmla="*/ 200 h 1218"/>
                  <a:gd name="T12" fmla="*/ 105 w 1220"/>
                  <a:gd name="T13" fmla="*/ 269 h 1218"/>
                  <a:gd name="T14" fmla="*/ 60 w 1220"/>
                  <a:gd name="T15" fmla="*/ 346 h 1218"/>
                  <a:gd name="T16" fmla="*/ 28 w 1220"/>
                  <a:gd name="T17" fmla="*/ 428 h 1218"/>
                  <a:gd name="T18" fmla="*/ 7 w 1220"/>
                  <a:gd name="T19" fmla="*/ 517 h 1218"/>
                  <a:gd name="T20" fmla="*/ 0 w 1220"/>
                  <a:gd name="T21" fmla="*/ 610 h 1218"/>
                  <a:gd name="T22" fmla="*/ 7 w 1220"/>
                  <a:gd name="T23" fmla="*/ 702 h 1218"/>
                  <a:gd name="T24" fmla="*/ 28 w 1220"/>
                  <a:gd name="T25" fmla="*/ 790 h 1218"/>
                  <a:gd name="T26" fmla="*/ 60 w 1220"/>
                  <a:gd name="T27" fmla="*/ 873 h 1218"/>
                  <a:gd name="T28" fmla="*/ 105 w 1220"/>
                  <a:gd name="T29" fmla="*/ 949 h 1218"/>
                  <a:gd name="T30" fmla="*/ 160 w 1220"/>
                  <a:gd name="T31" fmla="*/ 1018 h 1218"/>
                  <a:gd name="T32" fmla="*/ 222 w 1220"/>
                  <a:gd name="T33" fmla="*/ 1080 h 1218"/>
                  <a:gd name="T34" fmla="*/ 294 w 1220"/>
                  <a:gd name="T35" fmla="*/ 1131 h 1218"/>
                  <a:gd name="T36" fmla="*/ 373 w 1220"/>
                  <a:gd name="T37" fmla="*/ 1170 h 1218"/>
                  <a:gd name="T38" fmla="*/ 458 w 1220"/>
                  <a:gd name="T39" fmla="*/ 1200 h 1218"/>
                  <a:gd name="T40" fmla="*/ 548 w 1220"/>
                  <a:gd name="T41" fmla="*/ 1215 h 1218"/>
                  <a:gd name="T42" fmla="*/ 641 w 1220"/>
                  <a:gd name="T43" fmla="*/ 1218 h 1218"/>
                  <a:gd name="T44" fmla="*/ 733 w 1220"/>
                  <a:gd name="T45" fmla="*/ 1206 h 1218"/>
                  <a:gd name="T46" fmla="*/ 820 w 1220"/>
                  <a:gd name="T47" fmla="*/ 1181 h 1218"/>
                  <a:gd name="T48" fmla="*/ 901 w 1220"/>
                  <a:gd name="T49" fmla="*/ 1145 h 1218"/>
                  <a:gd name="T50" fmla="*/ 975 w 1220"/>
                  <a:gd name="T51" fmla="*/ 1097 h 1218"/>
                  <a:gd name="T52" fmla="*/ 1041 w 1220"/>
                  <a:gd name="T53" fmla="*/ 1039 h 1218"/>
                  <a:gd name="T54" fmla="*/ 1099 w 1220"/>
                  <a:gd name="T55" fmla="*/ 974 h 1218"/>
                  <a:gd name="T56" fmla="*/ 1147 w 1220"/>
                  <a:gd name="T57" fmla="*/ 899 h 1218"/>
                  <a:gd name="T58" fmla="*/ 1184 w 1220"/>
                  <a:gd name="T59" fmla="*/ 819 h 1218"/>
                  <a:gd name="T60" fmla="*/ 1207 w 1220"/>
                  <a:gd name="T61" fmla="*/ 732 h 1218"/>
                  <a:gd name="T62" fmla="*/ 1219 w 1220"/>
                  <a:gd name="T63" fmla="*/ 641 h 1218"/>
                  <a:gd name="T64" fmla="*/ 1218 w 1220"/>
                  <a:gd name="T65" fmla="*/ 547 h 1218"/>
                  <a:gd name="T66" fmla="*/ 1201 w 1220"/>
                  <a:gd name="T67" fmla="*/ 457 h 1218"/>
                  <a:gd name="T68" fmla="*/ 1172 w 1220"/>
                  <a:gd name="T69" fmla="*/ 373 h 1218"/>
                  <a:gd name="T70" fmla="*/ 1131 w 1220"/>
                  <a:gd name="T71" fmla="*/ 294 h 1218"/>
                  <a:gd name="T72" fmla="*/ 1080 w 1220"/>
                  <a:gd name="T73" fmla="*/ 222 h 1218"/>
                  <a:gd name="T74" fmla="*/ 1020 w 1220"/>
                  <a:gd name="T75" fmla="*/ 159 h 1218"/>
                  <a:gd name="T76" fmla="*/ 951 w 1220"/>
                  <a:gd name="T77" fmla="*/ 104 h 1218"/>
                  <a:gd name="T78" fmla="*/ 874 w 1220"/>
                  <a:gd name="T79" fmla="*/ 60 h 1218"/>
                  <a:gd name="T80" fmla="*/ 791 w 1220"/>
                  <a:gd name="T81" fmla="*/ 27 h 1218"/>
                  <a:gd name="T82" fmla="*/ 702 w 1220"/>
                  <a:gd name="T83" fmla="*/ 8 h 1218"/>
                  <a:gd name="T84" fmla="*/ 611 w 1220"/>
                  <a:gd name="T85" fmla="*/ 0 h 1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20" h="1218">
                    <a:moveTo>
                      <a:pt x="611" y="0"/>
                    </a:moveTo>
                    <a:lnTo>
                      <a:pt x="579" y="1"/>
                    </a:lnTo>
                    <a:lnTo>
                      <a:pt x="548" y="4"/>
                    </a:lnTo>
                    <a:lnTo>
                      <a:pt x="518" y="8"/>
                    </a:lnTo>
                    <a:lnTo>
                      <a:pt x="488" y="13"/>
                    </a:lnTo>
                    <a:lnTo>
                      <a:pt x="458" y="20"/>
                    </a:lnTo>
                    <a:lnTo>
                      <a:pt x="429" y="27"/>
                    </a:lnTo>
                    <a:lnTo>
                      <a:pt x="400" y="38"/>
                    </a:lnTo>
                    <a:lnTo>
                      <a:pt x="373" y="48"/>
                    </a:lnTo>
                    <a:lnTo>
                      <a:pt x="347" y="60"/>
                    </a:lnTo>
                    <a:lnTo>
                      <a:pt x="321" y="74"/>
                    </a:lnTo>
                    <a:lnTo>
                      <a:pt x="294" y="89"/>
                    </a:lnTo>
                    <a:lnTo>
                      <a:pt x="269" y="104"/>
                    </a:lnTo>
                    <a:lnTo>
                      <a:pt x="246" y="121"/>
                    </a:lnTo>
                    <a:lnTo>
                      <a:pt x="222" y="140"/>
                    </a:lnTo>
                    <a:lnTo>
                      <a:pt x="200" y="159"/>
                    </a:lnTo>
                    <a:lnTo>
                      <a:pt x="179" y="179"/>
                    </a:lnTo>
                    <a:lnTo>
                      <a:pt x="160" y="200"/>
                    </a:lnTo>
                    <a:lnTo>
                      <a:pt x="140" y="222"/>
                    </a:lnTo>
                    <a:lnTo>
                      <a:pt x="122" y="245"/>
                    </a:lnTo>
                    <a:lnTo>
                      <a:pt x="105" y="269"/>
                    </a:lnTo>
                    <a:lnTo>
                      <a:pt x="89" y="294"/>
                    </a:lnTo>
                    <a:lnTo>
                      <a:pt x="75" y="320"/>
                    </a:lnTo>
                    <a:lnTo>
                      <a:pt x="60" y="346"/>
                    </a:lnTo>
                    <a:lnTo>
                      <a:pt x="48" y="373"/>
                    </a:lnTo>
                    <a:lnTo>
                      <a:pt x="37" y="401"/>
                    </a:lnTo>
                    <a:lnTo>
                      <a:pt x="28" y="428"/>
                    </a:lnTo>
                    <a:lnTo>
                      <a:pt x="20" y="457"/>
                    </a:lnTo>
                    <a:lnTo>
                      <a:pt x="13" y="487"/>
                    </a:lnTo>
                    <a:lnTo>
                      <a:pt x="7" y="517"/>
                    </a:lnTo>
                    <a:lnTo>
                      <a:pt x="4" y="547"/>
                    </a:lnTo>
                    <a:lnTo>
                      <a:pt x="1" y="578"/>
                    </a:lnTo>
                    <a:lnTo>
                      <a:pt x="0" y="610"/>
                    </a:lnTo>
                    <a:lnTo>
                      <a:pt x="1" y="641"/>
                    </a:lnTo>
                    <a:lnTo>
                      <a:pt x="4" y="671"/>
                    </a:lnTo>
                    <a:lnTo>
                      <a:pt x="7" y="702"/>
                    </a:lnTo>
                    <a:lnTo>
                      <a:pt x="13" y="732"/>
                    </a:lnTo>
                    <a:lnTo>
                      <a:pt x="20" y="761"/>
                    </a:lnTo>
                    <a:lnTo>
                      <a:pt x="28" y="790"/>
                    </a:lnTo>
                    <a:lnTo>
                      <a:pt x="37" y="819"/>
                    </a:lnTo>
                    <a:lnTo>
                      <a:pt x="48" y="846"/>
                    </a:lnTo>
                    <a:lnTo>
                      <a:pt x="60" y="873"/>
                    </a:lnTo>
                    <a:lnTo>
                      <a:pt x="75" y="899"/>
                    </a:lnTo>
                    <a:lnTo>
                      <a:pt x="89" y="924"/>
                    </a:lnTo>
                    <a:lnTo>
                      <a:pt x="105" y="949"/>
                    </a:lnTo>
                    <a:lnTo>
                      <a:pt x="122" y="974"/>
                    </a:lnTo>
                    <a:lnTo>
                      <a:pt x="140" y="996"/>
                    </a:lnTo>
                    <a:lnTo>
                      <a:pt x="160" y="1018"/>
                    </a:lnTo>
                    <a:lnTo>
                      <a:pt x="179" y="1039"/>
                    </a:lnTo>
                    <a:lnTo>
                      <a:pt x="200" y="1060"/>
                    </a:lnTo>
                    <a:lnTo>
                      <a:pt x="222" y="1080"/>
                    </a:lnTo>
                    <a:lnTo>
                      <a:pt x="246" y="1097"/>
                    </a:lnTo>
                    <a:lnTo>
                      <a:pt x="269" y="1114"/>
                    </a:lnTo>
                    <a:lnTo>
                      <a:pt x="294" y="1131"/>
                    </a:lnTo>
                    <a:lnTo>
                      <a:pt x="321" y="1145"/>
                    </a:lnTo>
                    <a:lnTo>
                      <a:pt x="347" y="1158"/>
                    </a:lnTo>
                    <a:lnTo>
                      <a:pt x="373" y="1170"/>
                    </a:lnTo>
                    <a:lnTo>
                      <a:pt x="400" y="1181"/>
                    </a:lnTo>
                    <a:lnTo>
                      <a:pt x="429" y="1191"/>
                    </a:lnTo>
                    <a:lnTo>
                      <a:pt x="458" y="1200"/>
                    </a:lnTo>
                    <a:lnTo>
                      <a:pt x="488" y="1206"/>
                    </a:lnTo>
                    <a:lnTo>
                      <a:pt x="518" y="1212"/>
                    </a:lnTo>
                    <a:lnTo>
                      <a:pt x="548" y="1215"/>
                    </a:lnTo>
                    <a:lnTo>
                      <a:pt x="579" y="1218"/>
                    </a:lnTo>
                    <a:lnTo>
                      <a:pt x="611" y="1218"/>
                    </a:lnTo>
                    <a:lnTo>
                      <a:pt x="641" y="1218"/>
                    </a:lnTo>
                    <a:lnTo>
                      <a:pt x="672" y="1215"/>
                    </a:lnTo>
                    <a:lnTo>
                      <a:pt x="702" y="1212"/>
                    </a:lnTo>
                    <a:lnTo>
                      <a:pt x="733" y="1206"/>
                    </a:lnTo>
                    <a:lnTo>
                      <a:pt x="763" y="1200"/>
                    </a:lnTo>
                    <a:lnTo>
                      <a:pt x="791" y="1191"/>
                    </a:lnTo>
                    <a:lnTo>
                      <a:pt x="820" y="1181"/>
                    </a:lnTo>
                    <a:lnTo>
                      <a:pt x="848" y="1170"/>
                    </a:lnTo>
                    <a:lnTo>
                      <a:pt x="874" y="1158"/>
                    </a:lnTo>
                    <a:lnTo>
                      <a:pt x="901" y="1145"/>
                    </a:lnTo>
                    <a:lnTo>
                      <a:pt x="926" y="1131"/>
                    </a:lnTo>
                    <a:lnTo>
                      <a:pt x="951" y="1114"/>
                    </a:lnTo>
                    <a:lnTo>
                      <a:pt x="975" y="1097"/>
                    </a:lnTo>
                    <a:lnTo>
                      <a:pt x="998" y="1080"/>
                    </a:lnTo>
                    <a:lnTo>
                      <a:pt x="1020" y="1060"/>
                    </a:lnTo>
                    <a:lnTo>
                      <a:pt x="1041" y="1039"/>
                    </a:lnTo>
                    <a:lnTo>
                      <a:pt x="1062" y="1018"/>
                    </a:lnTo>
                    <a:lnTo>
                      <a:pt x="1080" y="996"/>
                    </a:lnTo>
                    <a:lnTo>
                      <a:pt x="1099" y="974"/>
                    </a:lnTo>
                    <a:lnTo>
                      <a:pt x="1116" y="949"/>
                    </a:lnTo>
                    <a:lnTo>
                      <a:pt x="1131" y="924"/>
                    </a:lnTo>
                    <a:lnTo>
                      <a:pt x="1147" y="899"/>
                    </a:lnTo>
                    <a:lnTo>
                      <a:pt x="1160" y="873"/>
                    </a:lnTo>
                    <a:lnTo>
                      <a:pt x="1172" y="846"/>
                    </a:lnTo>
                    <a:lnTo>
                      <a:pt x="1184" y="819"/>
                    </a:lnTo>
                    <a:lnTo>
                      <a:pt x="1193" y="790"/>
                    </a:lnTo>
                    <a:lnTo>
                      <a:pt x="1201" y="761"/>
                    </a:lnTo>
                    <a:lnTo>
                      <a:pt x="1207" y="732"/>
                    </a:lnTo>
                    <a:lnTo>
                      <a:pt x="1214" y="702"/>
                    </a:lnTo>
                    <a:lnTo>
                      <a:pt x="1218" y="671"/>
                    </a:lnTo>
                    <a:lnTo>
                      <a:pt x="1219" y="641"/>
                    </a:lnTo>
                    <a:lnTo>
                      <a:pt x="1220" y="610"/>
                    </a:lnTo>
                    <a:lnTo>
                      <a:pt x="1219" y="578"/>
                    </a:lnTo>
                    <a:lnTo>
                      <a:pt x="1218" y="547"/>
                    </a:lnTo>
                    <a:lnTo>
                      <a:pt x="1214" y="517"/>
                    </a:lnTo>
                    <a:lnTo>
                      <a:pt x="1207" y="487"/>
                    </a:lnTo>
                    <a:lnTo>
                      <a:pt x="1201" y="457"/>
                    </a:lnTo>
                    <a:lnTo>
                      <a:pt x="1193" y="428"/>
                    </a:lnTo>
                    <a:lnTo>
                      <a:pt x="1184" y="401"/>
                    </a:lnTo>
                    <a:lnTo>
                      <a:pt x="1172" y="373"/>
                    </a:lnTo>
                    <a:lnTo>
                      <a:pt x="1160" y="346"/>
                    </a:lnTo>
                    <a:lnTo>
                      <a:pt x="1147" y="320"/>
                    </a:lnTo>
                    <a:lnTo>
                      <a:pt x="1131" y="294"/>
                    </a:lnTo>
                    <a:lnTo>
                      <a:pt x="1116" y="269"/>
                    </a:lnTo>
                    <a:lnTo>
                      <a:pt x="1099" y="245"/>
                    </a:lnTo>
                    <a:lnTo>
                      <a:pt x="1080" y="222"/>
                    </a:lnTo>
                    <a:lnTo>
                      <a:pt x="1062" y="200"/>
                    </a:lnTo>
                    <a:lnTo>
                      <a:pt x="1041" y="179"/>
                    </a:lnTo>
                    <a:lnTo>
                      <a:pt x="1020" y="159"/>
                    </a:lnTo>
                    <a:lnTo>
                      <a:pt x="998" y="140"/>
                    </a:lnTo>
                    <a:lnTo>
                      <a:pt x="975" y="121"/>
                    </a:lnTo>
                    <a:lnTo>
                      <a:pt x="951" y="104"/>
                    </a:lnTo>
                    <a:lnTo>
                      <a:pt x="926" y="89"/>
                    </a:lnTo>
                    <a:lnTo>
                      <a:pt x="901" y="74"/>
                    </a:lnTo>
                    <a:lnTo>
                      <a:pt x="874" y="60"/>
                    </a:lnTo>
                    <a:lnTo>
                      <a:pt x="848" y="48"/>
                    </a:lnTo>
                    <a:lnTo>
                      <a:pt x="820" y="38"/>
                    </a:lnTo>
                    <a:lnTo>
                      <a:pt x="791" y="27"/>
                    </a:lnTo>
                    <a:lnTo>
                      <a:pt x="763" y="20"/>
                    </a:lnTo>
                    <a:lnTo>
                      <a:pt x="733" y="13"/>
                    </a:lnTo>
                    <a:lnTo>
                      <a:pt x="702" y="8"/>
                    </a:lnTo>
                    <a:lnTo>
                      <a:pt x="672" y="4"/>
                    </a:lnTo>
                    <a:lnTo>
                      <a:pt x="641" y="1"/>
                    </a:lnTo>
                    <a:lnTo>
                      <a:pt x="611" y="0"/>
                    </a:lnTo>
                    <a:close/>
                  </a:path>
                </a:pathLst>
              </a:custGeom>
              <a:noFill/>
              <a:ln w="15875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" name="Line 12"/>
              <p:cNvSpPr>
                <a:spLocks noChangeAspect="1" noChangeShapeType="1"/>
              </p:cNvSpPr>
              <p:nvPr/>
            </p:nvSpPr>
            <p:spPr bwMode="auto">
              <a:xfrm flipV="1">
                <a:off x="840" y="831"/>
                <a:ext cx="189" cy="196"/>
              </a:xfrm>
              <a:prstGeom prst="line">
                <a:avLst/>
              </a:prstGeom>
              <a:noFill/>
              <a:ln w="15875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" name="Rectangle 13"/>
              <p:cNvSpPr>
                <a:spLocks noChangeAspect="1" noChangeArrowheads="1"/>
              </p:cNvSpPr>
              <p:nvPr/>
            </p:nvSpPr>
            <p:spPr bwMode="auto">
              <a:xfrm>
                <a:off x="1060" y="632"/>
                <a:ext cx="156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2000" i="1">
                    <a:solidFill>
                      <a:srgbClr val="FF3300"/>
                    </a:solidFill>
                    <a:latin typeface="Book Antiqua" panose="02040602050305030304" pitchFamily="18" charset="0"/>
                  </a:rPr>
                  <a:t>II</a:t>
                </a:r>
                <a:endParaRPr lang="en-US" altLang="zh-CN" sz="2000" i="1">
                  <a:solidFill>
                    <a:srgbClr val="FF33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33" name="Group 14"/>
          <p:cNvGrpSpPr>
            <a:grpSpLocks noChangeAspect="1"/>
          </p:cNvGrpSpPr>
          <p:nvPr/>
        </p:nvGrpSpPr>
        <p:grpSpPr bwMode="auto">
          <a:xfrm>
            <a:off x="2925906" y="4702568"/>
            <a:ext cx="1216025" cy="1192212"/>
            <a:chOff x="444" y="2404"/>
            <a:chExt cx="957" cy="939"/>
          </a:xfrm>
        </p:grpSpPr>
        <p:sp>
          <p:nvSpPr>
            <p:cNvPr id="34" name="Freeform 15"/>
            <p:cNvSpPr>
              <a:spLocks noChangeAspect="1" noChangeArrowheads="1"/>
            </p:cNvSpPr>
            <p:nvPr/>
          </p:nvSpPr>
          <p:spPr bwMode="auto">
            <a:xfrm>
              <a:off x="672" y="2907"/>
              <a:ext cx="210" cy="158"/>
            </a:xfrm>
            <a:custGeom>
              <a:avLst/>
              <a:gdLst>
                <a:gd name="T0" fmla="*/ 841 w 841"/>
                <a:gd name="T1" fmla="*/ 519 h 633"/>
                <a:gd name="T2" fmla="*/ 779 w 841"/>
                <a:gd name="T3" fmla="*/ 517 h 633"/>
                <a:gd name="T4" fmla="*/ 719 w 841"/>
                <a:gd name="T5" fmla="*/ 510 h 633"/>
                <a:gd name="T6" fmla="*/ 660 w 841"/>
                <a:gd name="T7" fmla="*/ 498 h 633"/>
                <a:gd name="T8" fmla="*/ 603 w 841"/>
                <a:gd name="T9" fmla="*/ 481 h 633"/>
                <a:gd name="T10" fmla="*/ 546 w 841"/>
                <a:gd name="T11" fmla="*/ 461 h 633"/>
                <a:gd name="T12" fmla="*/ 493 w 841"/>
                <a:gd name="T13" fmla="*/ 436 h 633"/>
                <a:gd name="T14" fmla="*/ 440 w 841"/>
                <a:gd name="T15" fmla="*/ 407 h 633"/>
                <a:gd name="T16" fmla="*/ 391 w 841"/>
                <a:gd name="T17" fmla="*/ 376 h 633"/>
                <a:gd name="T18" fmla="*/ 344 w 841"/>
                <a:gd name="T19" fmla="*/ 339 h 633"/>
                <a:gd name="T20" fmla="*/ 299 w 841"/>
                <a:gd name="T21" fmla="*/ 300 h 633"/>
                <a:gd name="T22" fmla="*/ 259 w 841"/>
                <a:gd name="T23" fmla="*/ 257 h 633"/>
                <a:gd name="T24" fmla="*/ 221 w 841"/>
                <a:gd name="T25" fmla="*/ 211 h 633"/>
                <a:gd name="T26" fmla="*/ 187 w 841"/>
                <a:gd name="T27" fmla="*/ 162 h 633"/>
                <a:gd name="T28" fmla="*/ 157 w 841"/>
                <a:gd name="T29" fmla="*/ 111 h 633"/>
                <a:gd name="T30" fmla="*/ 130 w 841"/>
                <a:gd name="T31" fmla="*/ 57 h 633"/>
                <a:gd name="T32" fmla="*/ 108 w 841"/>
                <a:gd name="T33" fmla="*/ 0 h 633"/>
                <a:gd name="T34" fmla="*/ 13 w 841"/>
                <a:gd name="T35" fmla="*/ 70 h 633"/>
                <a:gd name="T36" fmla="*/ 40 w 841"/>
                <a:gd name="T37" fmla="*/ 134 h 633"/>
                <a:gd name="T38" fmla="*/ 73 w 841"/>
                <a:gd name="T39" fmla="*/ 194 h 633"/>
                <a:gd name="T40" fmla="*/ 109 w 841"/>
                <a:gd name="T41" fmla="*/ 252 h 633"/>
                <a:gd name="T42" fmla="*/ 151 w 841"/>
                <a:gd name="T43" fmla="*/ 307 h 633"/>
                <a:gd name="T44" fmla="*/ 197 w 841"/>
                <a:gd name="T45" fmla="*/ 357 h 633"/>
                <a:gd name="T46" fmla="*/ 246 w 841"/>
                <a:gd name="T47" fmla="*/ 404 h 633"/>
                <a:gd name="T48" fmla="*/ 298 w 841"/>
                <a:gd name="T49" fmla="*/ 448 h 633"/>
                <a:gd name="T50" fmla="*/ 353 w 841"/>
                <a:gd name="T51" fmla="*/ 487 h 633"/>
                <a:gd name="T52" fmla="*/ 412 w 841"/>
                <a:gd name="T53" fmla="*/ 522 h 633"/>
                <a:gd name="T54" fmla="*/ 472 w 841"/>
                <a:gd name="T55" fmla="*/ 552 h 633"/>
                <a:gd name="T56" fmla="*/ 536 w 841"/>
                <a:gd name="T57" fmla="*/ 578 h 633"/>
                <a:gd name="T58" fmla="*/ 600 w 841"/>
                <a:gd name="T59" fmla="*/ 600 h 633"/>
                <a:gd name="T60" fmla="*/ 667 w 841"/>
                <a:gd name="T61" fmla="*/ 616 h 633"/>
                <a:gd name="T62" fmla="*/ 736 w 841"/>
                <a:gd name="T63" fmla="*/ 626 h 633"/>
                <a:gd name="T64" fmla="*/ 805 w 841"/>
                <a:gd name="T65" fmla="*/ 632 h 633"/>
                <a:gd name="T66" fmla="*/ 841 w 841"/>
                <a:gd name="T67" fmla="*/ 633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41" h="633">
                  <a:moveTo>
                    <a:pt x="841" y="519"/>
                  </a:moveTo>
                  <a:lnTo>
                    <a:pt x="841" y="519"/>
                  </a:lnTo>
                  <a:lnTo>
                    <a:pt x="809" y="519"/>
                  </a:lnTo>
                  <a:lnTo>
                    <a:pt x="779" y="517"/>
                  </a:lnTo>
                  <a:lnTo>
                    <a:pt x="749" y="514"/>
                  </a:lnTo>
                  <a:lnTo>
                    <a:pt x="719" y="510"/>
                  </a:lnTo>
                  <a:lnTo>
                    <a:pt x="690" y="505"/>
                  </a:lnTo>
                  <a:lnTo>
                    <a:pt x="660" y="498"/>
                  </a:lnTo>
                  <a:lnTo>
                    <a:pt x="631" y="491"/>
                  </a:lnTo>
                  <a:lnTo>
                    <a:pt x="603" y="481"/>
                  </a:lnTo>
                  <a:lnTo>
                    <a:pt x="575" y="472"/>
                  </a:lnTo>
                  <a:lnTo>
                    <a:pt x="546" y="461"/>
                  </a:lnTo>
                  <a:lnTo>
                    <a:pt x="519" y="449"/>
                  </a:lnTo>
                  <a:lnTo>
                    <a:pt x="493" y="436"/>
                  </a:lnTo>
                  <a:lnTo>
                    <a:pt x="467" y="423"/>
                  </a:lnTo>
                  <a:lnTo>
                    <a:pt x="440" y="407"/>
                  </a:lnTo>
                  <a:lnTo>
                    <a:pt x="416" y="391"/>
                  </a:lnTo>
                  <a:lnTo>
                    <a:pt x="391" y="376"/>
                  </a:lnTo>
                  <a:lnTo>
                    <a:pt x="367" y="357"/>
                  </a:lnTo>
                  <a:lnTo>
                    <a:pt x="344" y="339"/>
                  </a:lnTo>
                  <a:lnTo>
                    <a:pt x="321" y="320"/>
                  </a:lnTo>
                  <a:lnTo>
                    <a:pt x="299" y="300"/>
                  </a:lnTo>
                  <a:lnTo>
                    <a:pt x="278" y="279"/>
                  </a:lnTo>
                  <a:lnTo>
                    <a:pt x="259" y="257"/>
                  </a:lnTo>
                  <a:lnTo>
                    <a:pt x="239" y="235"/>
                  </a:lnTo>
                  <a:lnTo>
                    <a:pt x="221" y="211"/>
                  </a:lnTo>
                  <a:lnTo>
                    <a:pt x="204" y="186"/>
                  </a:lnTo>
                  <a:lnTo>
                    <a:pt x="187" y="162"/>
                  </a:lnTo>
                  <a:lnTo>
                    <a:pt x="171" y="137"/>
                  </a:lnTo>
                  <a:lnTo>
                    <a:pt x="157" y="111"/>
                  </a:lnTo>
                  <a:lnTo>
                    <a:pt x="142" y="85"/>
                  </a:lnTo>
                  <a:lnTo>
                    <a:pt x="130" y="57"/>
                  </a:lnTo>
                  <a:lnTo>
                    <a:pt x="119" y="28"/>
                  </a:lnTo>
                  <a:lnTo>
                    <a:pt x="108" y="0"/>
                  </a:lnTo>
                  <a:lnTo>
                    <a:pt x="0" y="38"/>
                  </a:lnTo>
                  <a:lnTo>
                    <a:pt x="13" y="70"/>
                  </a:lnTo>
                  <a:lnTo>
                    <a:pt x="26" y="102"/>
                  </a:lnTo>
                  <a:lnTo>
                    <a:pt x="40" y="134"/>
                  </a:lnTo>
                  <a:lnTo>
                    <a:pt x="56" y="164"/>
                  </a:lnTo>
                  <a:lnTo>
                    <a:pt x="73" y="194"/>
                  </a:lnTo>
                  <a:lnTo>
                    <a:pt x="91" y="223"/>
                  </a:lnTo>
                  <a:lnTo>
                    <a:pt x="109" y="252"/>
                  </a:lnTo>
                  <a:lnTo>
                    <a:pt x="130" y="279"/>
                  </a:lnTo>
                  <a:lnTo>
                    <a:pt x="151" y="307"/>
                  </a:lnTo>
                  <a:lnTo>
                    <a:pt x="174" y="333"/>
                  </a:lnTo>
                  <a:lnTo>
                    <a:pt x="197" y="357"/>
                  </a:lnTo>
                  <a:lnTo>
                    <a:pt x="221" y="381"/>
                  </a:lnTo>
                  <a:lnTo>
                    <a:pt x="246" y="404"/>
                  </a:lnTo>
                  <a:lnTo>
                    <a:pt x="272" y="427"/>
                  </a:lnTo>
                  <a:lnTo>
                    <a:pt x="298" y="448"/>
                  </a:lnTo>
                  <a:lnTo>
                    <a:pt x="325" y="467"/>
                  </a:lnTo>
                  <a:lnTo>
                    <a:pt x="353" y="487"/>
                  </a:lnTo>
                  <a:lnTo>
                    <a:pt x="382" y="505"/>
                  </a:lnTo>
                  <a:lnTo>
                    <a:pt x="412" y="522"/>
                  </a:lnTo>
                  <a:lnTo>
                    <a:pt x="442" y="538"/>
                  </a:lnTo>
                  <a:lnTo>
                    <a:pt x="472" y="552"/>
                  </a:lnTo>
                  <a:lnTo>
                    <a:pt x="503" y="566"/>
                  </a:lnTo>
                  <a:lnTo>
                    <a:pt x="536" y="578"/>
                  </a:lnTo>
                  <a:lnTo>
                    <a:pt x="567" y="590"/>
                  </a:lnTo>
                  <a:lnTo>
                    <a:pt x="600" y="600"/>
                  </a:lnTo>
                  <a:lnTo>
                    <a:pt x="634" y="608"/>
                  </a:lnTo>
                  <a:lnTo>
                    <a:pt x="667" y="616"/>
                  </a:lnTo>
                  <a:lnTo>
                    <a:pt x="701" y="622"/>
                  </a:lnTo>
                  <a:lnTo>
                    <a:pt x="736" y="626"/>
                  </a:lnTo>
                  <a:lnTo>
                    <a:pt x="770" y="630"/>
                  </a:lnTo>
                  <a:lnTo>
                    <a:pt x="805" y="632"/>
                  </a:lnTo>
                  <a:lnTo>
                    <a:pt x="841" y="633"/>
                  </a:lnTo>
                  <a:lnTo>
                    <a:pt x="841" y="519"/>
                  </a:lnTo>
                  <a:close/>
                </a:path>
              </a:pathLst>
            </a:custGeom>
            <a:solidFill>
              <a:srgbClr val="FF3300"/>
            </a:solidFill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" name="Freeform 16"/>
            <p:cNvSpPr>
              <a:spLocks noChangeAspect="1" noChangeArrowheads="1"/>
            </p:cNvSpPr>
            <p:nvPr/>
          </p:nvSpPr>
          <p:spPr bwMode="auto">
            <a:xfrm>
              <a:off x="882" y="2907"/>
              <a:ext cx="210" cy="158"/>
            </a:xfrm>
            <a:custGeom>
              <a:avLst/>
              <a:gdLst>
                <a:gd name="T0" fmla="*/ 720 w 839"/>
                <a:gd name="T1" fmla="*/ 28 h 633"/>
                <a:gd name="T2" fmla="*/ 697 w 839"/>
                <a:gd name="T3" fmla="*/ 85 h 633"/>
                <a:gd name="T4" fmla="*/ 668 w 839"/>
                <a:gd name="T5" fmla="*/ 137 h 633"/>
                <a:gd name="T6" fmla="*/ 637 w 839"/>
                <a:gd name="T7" fmla="*/ 186 h 633"/>
                <a:gd name="T8" fmla="*/ 600 w 839"/>
                <a:gd name="T9" fmla="*/ 235 h 633"/>
                <a:gd name="T10" fmla="*/ 561 w 839"/>
                <a:gd name="T11" fmla="*/ 279 h 633"/>
                <a:gd name="T12" fmla="*/ 518 w 839"/>
                <a:gd name="T13" fmla="*/ 320 h 633"/>
                <a:gd name="T14" fmla="*/ 472 w 839"/>
                <a:gd name="T15" fmla="*/ 357 h 633"/>
                <a:gd name="T16" fmla="*/ 423 w 839"/>
                <a:gd name="T17" fmla="*/ 391 h 633"/>
                <a:gd name="T18" fmla="*/ 372 w 839"/>
                <a:gd name="T19" fmla="*/ 423 h 633"/>
                <a:gd name="T20" fmla="*/ 320 w 839"/>
                <a:gd name="T21" fmla="*/ 449 h 633"/>
                <a:gd name="T22" fmla="*/ 265 w 839"/>
                <a:gd name="T23" fmla="*/ 472 h 633"/>
                <a:gd name="T24" fmla="*/ 208 w 839"/>
                <a:gd name="T25" fmla="*/ 491 h 633"/>
                <a:gd name="T26" fmla="*/ 150 w 839"/>
                <a:gd name="T27" fmla="*/ 505 h 633"/>
                <a:gd name="T28" fmla="*/ 90 w 839"/>
                <a:gd name="T29" fmla="*/ 514 h 633"/>
                <a:gd name="T30" fmla="*/ 30 w 839"/>
                <a:gd name="T31" fmla="*/ 519 h 633"/>
                <a:gd name="T32" fmla="*/ 0 w 839"/>
                <a:gd name="T33" fmla="*/ 633 h 633"/>
                <a:gd name="T34" fmla="*/ 69 w 839"/>
                <a:gd name="T35" fmla="*/ 630 h 633"/>
                <a:gd name="T36" fmla="*/ 138 w 839"/>
                <a:gd name="T37" fmla="*/ 622 h 633"/>
                <a:gd name="T38" fmla="*/ 205 w 839"/>
                <a:gd name="T39" fmla="*/ 608 h 633"/>
                <a:gd name="T40" fmla="*/ 272 w 839"/>
                <a:gd name="T41" fmla="*/ 590 h 633"/>
                <a:gd name="T42" fmla="*/ 336 w 839"/>
                <a:gd name="T43" fmla="*/ 566 h 633"/>
                <a:gd name="T44" fmla="*/ 397 w 839"/>
                <a:gd name="T45" fmla="*/ 538 h 633"/>
                <a:gd name="T46" fmla="*/ 457 w 839"/>
                <a:gd name="T47" fmla="*/ 505 h 633"/>
                <a:gd name="T48" fmla="*/ 514 w 839"/>
                <a:gd name="T49" fmla="*/ 467 h 633"/>
                <a:gd name="T50" fmla="*/ 567 w 839"/>
                <a:gd name="T51" fmla="*/ 427 h 633"/>
                <a:gd name="T52" fmla="*/ 618 w 839"/>
                <a:gd name="T53" fmla="*/ 381 h 633"/>
                <a:gd name="T54" fmla="*/ 665 w 839"/>
                <a:gd name="T55" fmla="*/ 333 h 633"/>
                <a:gd name="T56" fmla="*/ 709 w 839"/>
                <a:gd name="T57" fmla="*/ 279 h 633"/>
                <a:gd name="T58" fmla="*/ 748 w 839"/>
                <a:gd name="T59" fmla="*/ 223 h 633"/>
                <a:gd name="T60" fmla="*/ 783 w 839"/>
                <a:gd name="T61" fmla="*/ 164 h 633"/>
                <a:gd name="T62" fmla="*/ 813 w 839"/>
                <a:gd name="T63" fmla="*/ 102 h 633"/>
                <a:gd name="T64" fmla="*/ 839 w 839"/>
                <a:gd name="T65" fmla="*/ 38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39" h="633">
                  <a:moveTo>
                    <a:pt x="731" y="0"/>
                  </a:moveTo>
                  <a:lnTo>
                    <a:pt x="720" y="28"/>
                  </a:lnTo>
                  <a:lnTo>
                    <a:pt x="710" y="57"/>
                  </a:lnTo>
                  <a:lnTo>
                    <a:pt x="697" y="85"/>
                  </a:lnTo>
                  <a:lnTo>
                    <a:pt x="682" y="111"/>
                  </a:lnTo>
                  <a:lnTo>
                    <a:pt x="668" y="137"/>
                  </a:lnTo>
                  <a:lnTo>
                    <a:pt x="652" y="162"/>
                  </a:lnTo>
                  <a:lnTo>
                    <a:pt x="637" y="186"/>
                  </a:lnTo>
                  <a:lnTo>
                    <a:pt x="618" y="211"/>
                  </a:lnTo>
                  <a:lnTo>
                    <a:pt x="600" y="235"/>
                  </a:lnTo>
                  <a:lnTo>
                    <a:pt x="580" y="257"/>
                  </a:lnTo>
                  <a:lnTo>
                    <a:pt x="561" y="279"/>
                  </a:lnTo>
                  <a:lnTo>
                    <a:pt x="540" y="300"/>
                  </a:lnTo>
                  <a:lnTo>
                    <a:pt x="518" y="320"/>
                  </a:lnTo>
                  <a:lnTo>
                    <a:pt x="495" y="339"/>
                  </a:lnTo>
                  <a:lnTo>
                    <a:pt x="472" y="357"/>
                  </a:lnTo>
                  <a:lnTo>
                    <a:pt x="448" y="376"/>
                  </a:lnTo>
                  <a:lnTo>
                    <a:pt x="423" y="391"/>
                  </a:lnTo>
                  <a:lnTo>
                    <a:pt x="399" y="407"/>
                  </a:lnTo>
                  <a:lnTo>
                    <a:pt x="372" y="423"/>
                  </a:lnTo>
                  <a:lnTo>
                    <a:pt x="346" y="436"/>
                  </a:lnTo>
                  <a:lnTo>
                    <a:pt x="320" y="449"/>
                  </a:lnTo>
                  <a:lnTo>
                    <a:pt x="293" y="461"/>
                  </a:lnTo>
                  <a:lnTo>
                    <a:pt x="265" y="472"/>
                  </a:lnTo>
                  <a:lnTo>
                    <a:pt x="236" y="481"/>
                  </a:lnTo>
                  <a:lnTo>
                    <a:pt x="208" y="491"/>
                  </a:lnTo>
                  <a:lnTo>
                    <a:pt x="179" y="498"/>
                  </a:lnTo>
                  <a:lnTo>
                    <a:pt x="150" y="505"/>
                  </a:lnTo>
                  <a:lnTo>
                    <a:pt x="120" y="510"/>
                  </a:lnTo>
                  <a:lnTo>
                    <a:pt x="90" y="514"/>
                  </a:lnTo>
                  <a:lnTo>
                    <a:pt x="60" y="517"/>
                  </a:lnTo>
                  <a:lnTo>
                    <a:pt x="30" y="519"/>
                  </a:lnTo>
                  <a:lnTo>
                    <a:pt x="0" y="519"/>
                  </a:lnTo>
                  <a:lnTo>
                    <a:pt x="0" y="633"/>
                  </a:lnTo>
                  <a:lnTo>
                    <a:pt x="34" y="632"/>
                  </a:lnTo>
                  <a:lnTo>
                    <a:pt x="69" y="630"/>
                  </a:lnTo>
                  <a:lnTo>
                    <a:pt x="103" y="626"/>
                  </a:lnTo>
                  <a:lnTo>
                    <a:pt x="138" y="622"/>
                  </a:lnTo>
                  <a:lnTo>
                    <a:pt x="172" y="616"/>
                  </a:lnTo>
                  <a:lnTo>
                    <a:pt x="205" y="608"/>
                  </a:lnTo>
                  <a:lnTo>
                    <a:pt x="239" y="600"/>
                  </a:lnTo>
                  <a:lnTo>
                    <a:pt x="272" y="590"/>
                  </a:lnTo>
                  <a:lnTo>
                    <a:pt x="303" y="578"/>
                  </a:lnTo>
                  <a:lnTo>
                    <a:pt x="336" y="566"/>
                  </a:lnTo>
                  <a:lnTo>
                    <a:pt x="367" y="552"/>
                  </a:lnTo>
                  <a:lnTo>
                    <a:pt x="397" y="538"/>
                  </a:lnTo>
                  <a:lnTo>
                    <a:pt x="427" y="522"/>
                  </a:lnTo>
                  <a:lnTo>
                    <a:pt x="457" y="505"/>
                  </a:lnTo>
                  <a:lnTo>
                    <a:pt x="486" y="487"/>
                  </a:lnTo>
                  <a:lnTo>
                    <a:pt x="514" y="467"/>
                  </a:lnTo>
                  <a:lnTo>
                    <a:pt x="541" y="448"/>
                  </a:lnTo>
                  <a:lnTo>
                    <a:pt x="567" y="427"/>
                  </a:lnTo>
                  <a:lnTo>
                    <a:pt x="594" y="404"/>
                  </a:lnTo>
                  <a:lnTo>
                    <a:pt x="618" y="381"/>
                  </a:lnTo>
                  <a:lnTo>
                    <a:pt x="642" y="357"/>
                  </a:lnTo>
                  <a:lnTo>
                    <a:pt x="665" y="333"/>
                  </a:lnTo>
                  <a:lnTo>
                    <a:pt x="688" y="307"/>
                  </a:lnTo>
                  <a:lnTo>
                    <a:pt x="709" y="279"/>
                  </a:lnTo>
                  <a:lnTo>
                    <a:pt x="730" y="252"/>
                  </a:lnTo>
                  <a:lnTo>
                    <a:pt x="748" y="223"/>
                  </a:lnTo>
                  <a:lnTo>
                    <a:pt x="766" y="194"/>
                  </a:lnTo>
                  <a:lnTo>
                    <a:pt x="783" y="164"/>
                  </a:lnTo>
                  <a:lnTo>
                    <a:pt x="799" y="134"/>
                  </a:lnTo>
                  <a:lnTo>
                    <a:pt x="813" y="102"/>
                  </a:lnTo>
                  <a:lnTo>
                    <a:pt x="826" y="70"/>
                  </a:lnTo>
                  <a:lnTo>
                    <a:pt x="839" y="38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FF3300"/>
            </a:solidFill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6" name="Rectangle 17"/>
            <p:cNvSpPr>
              <a:spLocks noChangeAspect="1" noChangeArrowheads="1"/>
            </p:cNvSpPr>
            <p:nvPr/>
          </p:nvSpPr>
          <p:spPr bwMode="auto">
            <a:xfrm>
              <a:off x="463" y="2898"/>
              <a:ext cx="223" cy="28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FF33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" name="Rectangle 18"/>
            <p:cNvSpPr>
              <a:spLocks noChangeAspect="1" noChangeArrowheads="1"/>
            </p:cNvSpPr>
            <p:nvPr/>
          </p:nvSpPr>
          <p:spPr bwMode="auto">
            <a:xfrm>
              <a:off x="1079" y="2898"/>
              <a:ext cx="301" cy="28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FF33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8" name="Freeform 19"/>
            <p:cNvSpPr>
              <a:spLocks noChangeAspect="1" noChangeArrowheads="1"/>
            </p:cNvSpPr>
            <p:nvPr/>
          </p:nvSpPr>
          <p:spPr bwMode="auto">
            <a:xfrm>
              <a:off x="444" y="2912"/>
              <a:ext cx="957" cy="431"/>
            </a:xfrm>
            <a:custGeom>
              <a:avLst/>
              <a:gdLst>
                <a:gd name="T0" fmla="*/ 62 w 3830"/>
                <a:gd name="T1" fmla="*/ 91 h 1724"/>
                <a:gd name="T2" fmla="*/ 41 w 3830"/>
                <a:gd name="T3" fmla="*/ 207 h 1724"/>
                <a:gd name="T4" fmla="*/ 24 w 3830"/>
                <a:gd name="T5" fmla="*/ 321 h 1724"/>
                <a:gd name="T6" fmla="*/ 9 w 3830"/>
                <a:gd name="T7" fmla="*/ 434 h 1724"/>
                <a:gd name="T8" fmla="*/ 2 w 3830"/>
                <a:gd name="T9" fmla="*/ 545 h 1724"/>
                <a:gd name="T10" fmla="*/ 0 w 3830"/>
                <a:gd name="T11" fmla="*/ 655 h 1724"/>
                <a:gd name="T12" fmla="*/ 8 w 3830"/>
                <a:gd name="T13" fmla="*/ 761 h 1724"/>
                <a:gd name="T14" fmla="*/ 25 w 3830"/>
                <a:gd name="T15" fmla="*/ 864 h 1724"/>
                <a:gd name="T16" fmla="*/ 54 w 3830"/>
                <a:gd name="T17" fmla="*/ 963 h 1724"/>
                <a:gd name="T18" fmla="*/ 95 w 3830"/>
                <a:gd name="T19" fmla="*/ 1058 h 1724"/>
                <a:gd name="T20" fmla="*/ 149 w 3830"/>
                <a:gd name="T21" fmla="*/ 1148 h 1724"/>
                <a:gd name="T22" fmla="*/ 215 w 3830"/>
                <a:gd name="T23" fmla="*/ 1235 h 1724"/>
                <a:gd name="T24" fmla="*/ 292 w 3830"/>
                <a:gd name="T25" fmla="*/ 1314 h 1724"/>
                <a:gd name="T26" fmla="*/ 378 w 3830"/>
                <a:gd name="T27" fmla="*/ 1389 h 1724"/>
                <a:gd name="T28" fmla="*/ 474 w 3830"/>
                <a:gd name="T29" fmla="*/ 1457 h 1724"/>
                <a:gd name="T30" fmla="*/ 575 w 3830"/>
                <a:gd name="T31" fmla="*/ 1517 h 1724"/>
                <a:gd name="T32" fmla="*/ 682 w 3830"/>
                <a:gd name="T33" fmla="*/ 1571 h 1724"/>
                <a:gd name="T34" fmla="*/ 794 w 3830"/>
                <a:gd name="T35" fmla="*/ 1617 h 1724"/>
                <a:gd name="T36" fmla="*/ 909 w 3830"/>
                <a:gd name="T37" fmla="*/ 1656 h 1724"/>
                <a:gd name="T38" fmla="*/ 1027 w 3830"/>
                <a:gd name="T39" fmla="*/ 1686 h 1724"/>
                <a:gd name="T40" fmla="*/ 1145 w 3830"/>
                <a:gd name="T41" fmla="*/ 1709 h 1724"/>
                <a:gd name="T42" fmla="*/ 1263 w 3830"/>
                <a:gd name="T43" fmla="*/ 1720 h 1724"/>
                <a:gd name="T44" fmla="*/ 1378 w 3830"/>
                <a:gd name="T45" fmla="*/ 1724 h 1724"/>
                <a:gd name="T46" fmla="*/ 1490 w 3830"/>
                <a:gd name="T47" fmla="*/ 1716 h 1724"/>
                <a:gd name="T48" fmla="*/ 1599 w 3830"/>
                <a:gd name="T49" fmla="*/ 1699 h 1724"/>
                <a:gd name="T50" fmla="*/ 1703 w 3830"/>
                <a:gd name="T51" fmla="*/ 1672 h 1724"/>
                <a:gd name="T52" fmla="*/ 1804 w 3830"/>
                <a:gd name="T53" fmla="*/ 1638 h 1724"/>
                <a:gd name="T54" fmla="*/ 1902 w 3830"/>
                <a:gd name="T55" fmla="*/ 1598 h 1724"/>
                <a:gd name="T56" fmla="*/ 1999 w 3830"/>
                <a:gd name="T57" fmla="*/ 1553 h 1724"/>
                <a:gd name="T58" fmla="*/ 2096 w 3830"/>
                <a:gd name="T59" fmla="*/ 1506 h 1724"/>
                <a:gd name="T60" fmla="*/ 2193 w 3830"/>
                <a:gd name="T61" fmla="*/ 1460 h 1724"/>
                <a:gd name="T62" fmla="*/ 2292 w 3830"/>
                <a:gd name="T63" fmla="*/ 1417 h 1724"/>
                <a:gd name="T64" fmla="*/ 2393 w 3830"/>
                <a:gd name="T65" fmla="*/ 1377 h 1724"/>
                <a:gd name="T66" fmla="*/ 2499 w 3830"/>
                <a:gd name="T67" fmla="*/ 1343 h 1724"/>
                <a:gd name="T68" fmla="*/ 2607 w 3830"/>
                <a:gd name="T69" fmla="*/ 1317 h 1724"/>
                <a:gd name="T70" fmla="*/ 2722 w 3830"/>
                <a:gd name="T71" fmla="*/ 1301 h 1724"/>
                <a:gd name="T72" fmla="*/ 2844 w 3830"/>
                <a:gd name="T73" fmla="*/ 1299 h 1724"/>
                <a:gd name="T74" fmla="*/ 2972 w 3830"/>
                <a:gd name="T75" fmla="*/ 1306 h 1724"/>
                <a:gd name="T76" fmla="*/ 3104 w 3830"/>
                <a:gd name="T77" fmla="*/ 1323 h 1724"/>
                <a:gd name="T78" fmla="*/ 3235 w 3830"/>
                <a:gd name="T79" fmla="*/ 1343 h 1724"/>
                <a:gd name="T80" fmla="*/ 3361 w 3830"/>
                <a:gd name="T81" fmla="*/ 1361 h 1724"/>
                <a:gd name="T82" fmla="*/ 3480 w 3830"/>
                <a:gd name="T83" fmla="*/ 1374 h 1724"/>
                <a:gd name="T84" fmla="*/ 3586 w 3830"/>
                <a:gd name="T85" fmla="*/ 1377 h 1724"/>
                <a:gd name="T86" fmla="*/ 3676 w 3830"/>
                <a:gd name="T87" fmla="*/ 1364 h 1724"/>
                <a:gd name="T88" fmla="*/ 3748 w 3830"/>
                <a:gd name="T89" fmla="*/ 1331 h 1724"/>
                <a:gd name="T90" fmla="*/ 3797 w 3830"/>
                <a:gd name="T91" fmla="*/ 1274 h 1724"/>
                <a:gd name="T92" fmla="*/ 3824 w 3830"/>
                <a:gd name="T93" fmla="*/ 1192 h 1724"/>
                <a:gd name="T94" fmla="*/ 3830 w 3830"/>
                <a:gd name="T95" fmla="*/ 1090 h 1724"/>
                <a:gd name="T96" fmla="*/ 3825 w 3830"/>
                <a:gd name="T97" fmla="*/ 975 h 1724"/>
                <a:gd name="T98" fmla="*/ 3811 w 3830"/>
                <a:gd name="T99" fmla="*/ 851 h 1724"/>
                <a:gd name="T100" fmla="*/ 3792 w 3830"/>
                <a:gd name="T101" fmla="*/ 724 h 1724"/>
                <a:gd name="T102" fmla="*/ 3777 w 3830"/>
                <a:gd name="T103" fmla="*/ 601 h 1724"/>
                <a:gd name="T104" fmla="*/ 3765 w 3830"/>
                <a:gd name="T105" fmla="*/ 485 h 1724"/>
                <a:gd name="T106" fmla="*/ 3757 w 3830"/>
                <a:gd name="T107" fmla="*/ 373 h 1724"/>
                <a:gd name="T108" fmla="*/ 3753 w 3830"/>
                <a:gd name="T109" fmla="*/ 266 h 1724"/>
                <a:gd name="T110" fmla="*/ 3749 w 3830"/>
                <a:gd name="T111" fmla="*/ 163 h 1724"/>
                <a:gd name="T112" fmla="*/ 3749 w 3830"/>
                <a:gd name="T113" fmla="*/ 60 h 1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30" h="1724">
                  <a:moveTo>
                    <a:pt x="79" y="0"/>
                  </a:moveTo>
                  <a:lnTo>
                    <a:pt x="74" y="22"/>
                  </a:lnTo>
                  <a:lnTo>
                    <a:pt x="70" y="45"/>
                  </a:lnTo>
                  <a:lnTo>
                    <a:pt x="66" y="69"/>
                  </a:lnTo>
                  <a:lnTo>
                    <a:pt x="62" y="91"/>
                  </a:lnTo>
                  <a:lnTo>
                    <a:pt x="57" y="114"/>
                  </a:lnTo>
                  <a:lnTo>
                    <a:pt x="53" y="138"/>
                  </a:lnTo>
                  <a:lnTo>
                    <a:pt x="49" y="160"/>
                  </a:lnTo>
                  <a:lnTo>
                    <a:pt x="45" y="184"/>
                  </a:lnTo>
                  <a:lnTo>
                    <a:pt x="41" y="207"/>
                  </a:lnTo>
                  <a:lnTo>
                    <a:pt x="37" y="229"/>
                  </a:lnTo>
                  <a:lnTo>
                    <a:pt x="34" y="253"/>
                  </a:lnTo>
                  <a:lnTo>
                    <a:pt x="30" y="275"/>
                  </a:lnTo>
                  <a:lnTo>
                    <a:pt x="26" y="299"/>
                  </a:lnTo>
                  <a:lnTo>
                    <a:pt x="24" y="321"/>
                  </a:lnTo>
                  <a:lnTo>
                    <a:pt x="20" y="344"/>
                  </a:lnTo>
                  <a:lnTo>
                    <a:pt x="17" y="366"/>
                  </a:lnTo>
                  <a:lnTo>
                    <a:pt x="15" y="389"/>
                  </a:lnTo>
                  <a:lnTo>
                    <a:pt x="12" y="412"/>
                  </a:lnTo>
                  <a:lnTo>
                    <a:pt x="9" y="434"/>
                  </a:lnTo>
                  <a:lnTo>
                    <a:pt x="8" y="457"/>
                  </a:lnTo>
                  <a:lnTo>
                    <a:pt x="6" y="479"/>
                  </a:lnTo>
                  <a:lnTo>
                    <a:pt x="4" y="501"/>
                  </a:lnTo>
                  <a:lnTo>
                    <a:pt x="3" y="523"/>
                  </a:lnTo>
                  <a:lnTo>
                    <a:pt x="2" y="545"/>
                  </a:lnTo>
                  <a:lnTo>
                    <a:pt x="2" y="567"/>
                  </a:lnTo>
                  <a:lnTo>
                    <a:pt x="0" y="590"/>
                  </a:lnTo>
                  <a:lnTo>
                    <a:pt x="0" y="612"/>
                  </a:lnTo>
                  <a:lnTo>
                    <a:pt x="0" y="633"/>
                  </a:lnTo>
                  <a:lnTo>
                    <a:pt x="0" y="655"/>
                  </a:lnTo>
                  <a:lnTo>
                    <a:pt x="2" y="676"/>
                  </a:lnTo>
                  <a:lnTo>
                    <a:pt x="3" y="698"/>
                  </a:lnTo>
                  <a:lnTo>
                    <a:pt x="4" y="719"/>
                  </a:lnTo>
                  <a:lnTo>
                    <a:pt x="6" y="740"/>
                  </a:lnTo>
                  <a:lnTo>
                    <a:pt x="8" y="761"/>
                  </a:lnTo>
                  <a:lnTo>
                    <a:pt x="11" y="782"/>
                  </a:lnTo>
                  <a:lnTo>
                    <a:pt x="13" y="802"/>
                  </a:lnTo>
                  <a:lnTo>
                    <a:pt x="17" y="823"/>
                  </a:lnTo>
                  <a:lnTo>
                    <a:pt x="21" y="843"/>
                  </a:lnTo>
                  <a:lnTo>
                    <a:pt x="25" y="864"/>
                  </a:lnTo>
                  <a:lnTo>
                    <a:pt x="30" y="883"/>
                  </a:lnTo>
                  <a:lnTo>
                    <a:pt x="36" y="904"/>
                  </a:lnTo>
                  <a:lnTo>
                    <a:pt x="41" y="924"/>
                  </a:lnTo>
                  <a:lnTo>
                    <a:pt x="47" y="943"/>
                  </a:lnTo>
                  <a:lnTo>
                    <a:pt x="54" y="963"/>
                  </a:lnTo>
                  <a:lnTo>
                    <a:pt x="61" y="983"/>
                  </a:lnTo>
                  <a:lnTo>
                    <a:pt x="68" y="1002"/>
                  </a:lnTo>
                  <a:lnTo>
                    <a:pt x="76" y="1021"/>
                  </a:lnTo>
                  <a:lnTo>
                    <a:pt x="85" y="1040"/>
                  </a:lnTo>
                  <a:lnTo>
                    <a:pt x="95" y="1058"/>
                  </a:lnTo>
                  <a:lnTo>
                    <a:pt x="105" y="1077"/>
                  </a:lnTo>
                  <a:lnTo>
                    <a:pt x="115" y="1095"/>
                  </a:lnTo>
                  <a:lnTo>
                    <a:pt x="126" y="1113"/>
                  </a:lnTo>
                  <a:lnTo>
                    <a:pt x="138" y="1131"/>
                  </a:lnTo>
                  <a:lnTo>
                    <a:pt x="149" y="1148"/>
                  </a:lnTo>
                  <a:lnTo>
                    <a:pt x="161" y="1167"/>
                  </a:lnTo>
                  <a:lnTo>
                    <a:pt x="174" y="1184"/>
                  </a:lnTo>
                  <a:lnTo>
                    <a:pt x="187" y="1201"/>
                  </a:lnTo>
                  <a:lnTo>
                    <a:pt x="200" y="1218"/>
                  </a:lnTo>
                  <a:lnTo>
                    <a:pt x="215" y="1235"/>
                  </a:lnTo>
                  <a:lnTo>
                    <a:pt x="229" y="1250"/>
                  </a:lnTo>
                  <a:lnTo>
                    <a:pt x="245" y="1267"/>
                  </a:lnTo>
                  <a:lnTo>
                    <a:pt x="261" y="1283"/>
                  </a:lnTo>
                  <a:lnTo>
                    <a:pt x="276" y="1299"/>
                  </a:lnTo>
                  <a:lnTo>
                    <a:pt x="292" y="1314"/>
                  </a:lnTo>
                  <a:lnTo>
                    <a:pt x="309" y="1330"/>
                  </a:lnTo>
                  <a:lnTo>
                    <a:pt x="326" y="1344"/>
                  </a:lnTo>
                  <a:lnTo>
                    <a:pt x="343" y="1359"/>
                  </a:lnTo>
                  <a:lnTo>
                    <a:pt x="360" y="1374"/>
                  </a:lnTo>
                  <a:lnTo>
                    <a:pt x="378" y="1389"/>
                  </a:lnTo>
                  <a:lnTo>
                    <a:pt x="397" y="1403"/>
                  </a:lnTo>
                  <a:lnTo>
                    <a:pt x="416" y="1416"/>
                  </a:lnTo>
                  <a:lnTo>
                    <a:pt x="435" y="1429"/>
                  </a:lnTo>
                  <a:lnTo>
                    <a:pt x="454" y="1443"/>
                  </a:lnTo>
                  <a:lnTo>
                    <a:pt x="474" y="1457"/>
                  </a:lnTo>
                  <a:lnTo>
                    <a:pt x="493" y="1468"/>
                  </a:lnTo>
                  <a:lnTo>
                    <a:pt x="513" y="1481"/>
                  </a:lnTo>
                  <a:lnTo>
                    <a:pt x="534" y="1493"/>
                  </a:lnTo>
                  <a:lnTo>
                    <a:pt x="554" y="1505"/>
                  </a:lnTo>
                  <a:lnTo>
                    <a:pt x="575" y="1517"/>
                  </a:lnTo>
                  <a:lnTo>
                    <a:pt x="595" y="1528"/>
                  </a:lnTo>
                  <a:lnTo>
                    <a:pt x="618" y="1540"/>
                  </a:lnTo>
                  <a:lnTo>
                    <a:pt x="639" y="1551"/>
                  </a:lnTo>
                  <a:lnTo>
                    <a:pt x="661" y="1561"/>
                  </a:lnTo>
                  <a:lnTo>
                    <a:pt x="682" y="1571"/>
                  </a:lnTo>
                  <a:lnTo>
                    <a:pt x="704" y="1581"/>
                  </a:lnTo>
                  <a:lnTo>
                    <a:pt x="726" y="1591"/>
                  </a:lnTo>
                  <a:lnTo>
                    <a:pt x="749" y="1600"/>
                  </a:lnTo>
                  <a:lnTo>
                    <a:pt x="772" y="1609"/>
                  </a:lnTo>
                  <a:lnTo>
                    <a:pt x="794" y="1617"/>
                  </a:lnTo>
                  <a:lnTo>
                    <a:pt x="817" y="1626"/>
                  </a:lnTo>
                  <a:lnTo>
                    <a:pt x="840" y="1634"/>
                  </a:lnTo>
                  <a:lnTo>
                    <a:pt x="862" y="1642"/>
                  </a:lnTo>
                  <a:lnTo>
                    <a:pt x="886" y="1650"/>
                  </a:lnTo>
                  <a:lnTo>
                    <a:pt x="909" y="1656"/>
                  </a:lnTo>
                  <a:lnTo>
                    <a:pt x="933" y="1663"/>
                  </a:lnTo>
                  <a:lnTo>
                    <a:pt x="956" y="1669"/>
                  </a:lnTo>
                  <a:lnTo>
                    <a:pt x="980" y="1676"/>
                  </a:lnTo>
                  <a:lnTo>
                    <a:pt x="1002" y="1681"/>
                  </a:lnTo>
                  <a:lnTo>
                    <a:pt x="1027" y="1686"/>
                  </a:lnTo>
                  <a:lnTo>
                    <a:pt x="1049" y="1692"/>
                  </a:lnTo>
                  <a:lnTo>
                    <a:pt x="1074" y="1697"/>
                  </a:lnTo>
                  <a:lnTo>
                    <a:pt x="1098" y="1701"/>
                  </a:lnTo>
                  <a:lnTo>
                    <a:pt x="1121" y="1705"/>
                  </a:lnTo>
                  <a:lnTo>
                    <a:pt x="1145" y="1709"/>
                  </a:lnTo>
                  <a:lnTo>
                    <a:pt x="1168" y="1711"/>
                  </a:lnTo>
                  <a:lnTo>
                    <a:pt x="1192" y="1714"/>
                  </a:lnTo>
                  <a:lnTo>
                    <a:pt x="1215" y="1716"/>
                  </a:lnTo>
                  <a:lnTo>
                    <a:pt x="1239" y="1719"/>
                  </a:lnTo>
                  <a:lnTo>
                    <a:pt x="1263" y="1720"/>
                  </a:lnTo>
                  <a:lnTo>
                    <a:pt x="1285" y="1722"/>
                  </a:lnTo>
                  <a:lnTo>
                    <a:pt x="1308" y="1723"/>
                  </a:lnTo>
                  <a:lnTo>
                    <a:pt x="1332" y="1724"/>
                  </a:lnTo>
                  <a:lnTo>
                    <a:pt x="1354" y="1724"/>
                  </a:lnTo>
                  <a:lnTo>
                    <a:pt x="1378" y="1724"/>
                  </a:lnTo>
                  <a:lnTo>
                    <a:pt x="1401" y="1723"/>
                  </a:lnTo>
                  <a:lnTo>
                    <a:pt x="1423" y="1722"/>
                  </a:lnTo>
                  <a:lnTo>
                    <a:pt x="1446" y="1720"/>
                  </a:lnTo>
                  <a:lnTo>
                    <a:pt x="1468" y="1719"/>
                  </a:lnTo>
                  <a:lnTo>
                    <a:pt x="1490" y="1716"/>
                  </a:lnTo>
                  <a:lnTo>
                    <a:pt x="1512" y="1714"/>
                  </a:lnTo>
                  <a:lnTo>
                    <a:pt x="1535" y="1711"/>
                  </a:lnTo>
                  <a:lnTo>
                    <a:pt x="1557" y="1707"/>
                  </a:lnTo>
                  <a:lnTo>
                    <a:pt x="1578" y="1703"/>
                  </a:lnTo>
                  <a:lnTo>
                    <a:pt x="1599" y="1699"/>
                  </a:lnTo>
                  <a:lnTo>
                    <a:pt x="1621" y="1694"/>
                  </a:lnTo>
                  <a:lnTo>
                    <a:pt x="1642" y="1690"/>
                  </a:lnTo>
                  <a:lnTo>
                    <a:pt x="1663" y="1684"/>
                  </a:lnTo>
                  <a:lnTo>
                    <a:pt x="1682" y="1678"/>
                  </a:lnTo>
                  <a:lnTo>
                    <a:pt x="1703" y="1672"/>
                  </a:lnTo>
                  <a:lnTo>
                    <a:pt x="1724" y="1665"/>
                  </a:lnTo>
                  <a:lnTo>
                    <a:pt x="1744" y="1659"/>
                  </a:lnTo>
                  <a:lnTo>
                    <a:pt x="1765" y="1652"/>
                  </a:lnTo>
                  <a:lnTo>
                    <a:pt x="1784" y="1645"/>
                  </a:lnTo>
                  <a:lnTo>
                    <a:pt x="1804" y="1638"/>
                  </a:lnTo>
                  <a:lnTo>
                    <a:pt x="1824" y="1630"/>
                  </a:lnTo>
                  <a:lnTo>
                    <a:pt x="1843" y="1622"/>
                  </a:lnTo>
                  <a:lnTo>
                    <a:pt x="1863" y="1615"/>
                  </a:lnTo>
                  <a:lnTo>
                    <a:pt x="1883" y="1605"/>
                  </a:lnTo>
                  <a:lnTo>
                    <a:pt x="1902" y="1598"/>
                  </a:lnTo>
                  <a:lnTo>
                    <a:pt x="1922" y="1588"/>
                  </a:lnTo>
                  <a:lnTo>
                    <a:pt x="1941" y="1579"/>
                  </a:lnTo>
                  <a:lnTo>
                    <a:pt x="1961" y="1571"/>
                  </a:lnTo>
                  <a:lnTo>
                    <a:pt x="1981" y="1562"/>
                  </a:lnTo>
                  <a:lnTo>
                    <a:pt x="1999" y="1553"/>
                  </a:lnTo>
                  <a:lnTo>
                    <a:pt x="2019" y="1544"/>
                  </a:lnTo>
                  <a:lnTo>
                    <a:pt x="2038" y="1535"/>
                  </a:lnTo>
                  <a:lnTo>
                    <a:pt x="2058" y="1526"/>
                  </a:lnTo>
                  <a:lnTo>
                    <a:pt x="2076" y="1517"/>
                  </a:lnTo>
                  <a:lnTo>
                    <a:pt x="2096" y="1506"/>
                  </a:lnTo>
                  <a:lnTo>
                    <a:pt x="2115" y="1497"/>
                  </a:lnTo>
                  <a:lnTo>
                    <a:pt x="2135" y="1488"/>
                  </a:lnTo>
                  <a:lnTo>
                    <a:pt x="2155" y="1479"/>
                  </a:lnTo>
                  <a:lnTo>
                    <a:pt x="2174" y="1470"/>
                  </a:lnTo>
                  <a:lnTo>
                    <a:pt x="2193" y="1460"/>
                  </a:lnTo>
                  <a:lnTo>
                    <a:pt x="2213" y="1451"/>
                  </a:lnTo>
                  <a:lnTo>
                    <a:pt x="2232" y="1442"/>
                  </a:lnTo>
                  <a:lnTo>
                    <a:pt x="2253" y="1434"/>
                  </a:lnTo>
                  <a:lnTo>
                    <a:pt x="2272" y="1425"/>
                  </a:lnTo>
                  <a:lnTo>
                    <a:pt x="2292" y="1417"/>
                  </a:lnTo>
                  <a:lnTo>
                    <a:pt x="2312" y="1408"/>
                  </a:lnTo>
                  <a:lnTo>
                    <a:pt x="2332" y="1400"/>
                  </a:lnTo>
                  <a:lnTo>
                    <a:pt x="2352" y="1393"/>
                  </a:lnTo>
                  <a:lnTo>
                    <a:pt x="2373" y="1385"/>
                  </a:lnTo>
                  <a:lnTo>
                    <a:pt x="2393" y="1377"/>
                  </a:lnTo>
                  <a:lnTo>
                    <a:pt x="2414" y="1369"/>
                  </a:lnTo>
                  <a:lnTo>
                    <a:pt x="2435" y="1363"/>
                  </a:lnTo>
                  <a:lnTo>
                    <a:pt x="2455" y="1356"/>
                  </a:lnTo>
                  <a:lnTo>
                    <a:pt x="2476" y="1349"/>
                  </a:lnTo>
                  <a:lnTo>
                    <a:pt x="2499" y="1343"/>
                  </a:lnTo>
                  <a:lnTo>
                    <a:pt x="2520" y="1338"/>
                  </a:lnTo>
                  <a:lnTo>
                    <a:pt x="2542" y="1333"/>
                  </a:lnTo>
                  <a:lnTo>
                    <a:pt x="2563" y="1327"/>
                  </a:lnTo>
                  <a:lnTo>
                    <a:pt x="2585" y="1322"/>
                  </a:lnTo>
                  <a:lnTo>
                    <a:pt x="2607" y="1317"/>
                  </a:lnTo>
                  <a:lnTo>
                    <a:pt x="2629" y="1313"/>
                  </a:lnTo>
                  <a:lnTo>
                    <a:pt x="2653" y="1310"/>
                  </a:lnTo>
                  <a:lnTo>
                    <a:pt x="2677" y="1306"/>
                  </a:lnTo>
                  <a:lnTo>
                    <a:pt x="2699" y="1304"/>
                  </a:lnTo>
                  <a:lnTo>
                    <a:pt x="2722" y="1301"/>
                  </a:lnTo>
                  <a:lnTo>
                    <a:pt x="2747" y="1300"/>
                  </a:lnTo>
                  <a:lnTo>
                    <a:pt x="2771" y="1299"/>
                  </a:lnTo>
                  <a:lnTo>
                    <a:pt x="2794" y="1299"/>
                  </a:lnTo>
                  <a:lnTo>
                    <a:pt x="2819" y="1297"/>
                  </a:lnTo>
                  <a:lnTo>
                    <a:pt x="2844" y="1299"/>
                  </a:lnTo>
                  <a:lnTo>
                    <a:pt x="2870" y="1299"/>
                  </a:lnTo>
                  <a:lnTo>
                    <a:pt x="2895" y="1300"/>
                  </a:lnTo>
                  <a:lnTo>
                    <a:pt x="2921" y="1302"/>
                  </a:lnTo>
                  <a:lnTo>
                    <a:pt x="2946" y="1304"/>
                  </a:lnTo>
                  <a:lnTo>
                    <a:pt x="2972" y="1306"/>
                  </a:lnTo>
                  <a:lnTo>
                    <a:pt x="2998" y="1309"/>
                  </a:lnTo>
                  <a:lnTo>
                    <a:pt x="3024" y="1313"/>
                  </a:lnTo>
                  <a:lnTo>
                    <a:pt x="3052" y="1316"/>
                  </a:lnTo>
                  <a:lnTo>
                    <a:pt x="3078" y="1319"/>
                  </a:lnTo>
                  <a:lnTo>
                    <a:pt x="3104" y="1323"/>
                  </a:lnTo>
                  <a:lnTo>
                    <a:pt x="3130" y="1327"/>
                  </a:lnTo>
                  <a:lnTo>
                    <a:pt x="3157" y="1331"/>
                  </a:lnTo>
                  <a:lnTo>
                    <a:pt x="3183" y="1335"/>
                  </a:lnTo>
                  <a:lnTo>
                    <a:pt x="3209" y="1339"/>
                  </a:lnTo>
                  <a:lnTo>
                    <a:pt x="3235" y="1343"/>
                  </a:lnTo>
                  <a:lnTo>
                    <a:pt x="3260" y="1347"/>
                  </a:lnTo>
                  <a:lnTo>
                    <a:pt x="3286" y="1351"/>
                  </a:lnTo>
                  <a:lnTo>
                    <a:pt x="3311" y="1355"/>
                  </a:lnTo>
                  <a:lnTo>
                    <a:pt x="3336" y="1359"/>
                  </a:lnTo>
                  <a:lnTo>
                    <a:pt x="3361" y="1361"/>
                  </a:lnTo>
                  <a:lnTo>
                    <a:pt x="3385" y="1365"/>
                  </a:lnTo>
                  <a:lnTo>
                    <a:pt x="3409" y="1368"/>
                  </a:lnTo>
                  <a:lnTo>
                    <a:pt x="3433" y="1370"/>
                  </a:lnTo>
                  <a:lnTo>
                    <a:pt x="3456" y="1373"/>
                  </a:lnTo>
                  <a:lnTo>
                    <a:pt x="3480" y="1374"/>
                  </a:lnTo>
                  <a:lnTo>
                    <a:pt x="3502" y="1376"/>
                  </a:lnTo>
                  <a:lnTo>
                    <a:pt x="3523" y="1377"/>
                  </a:lnTo>
                  <a:lnTo>
                    <a:pt x="3545" y="1377"/>
                  </a:lnTo>
                  <a:lnTo>
                    <a:pt x="3566" y="1377"/>
                  </a:lnTo>
                  <a:lnTo>
                    <a:pt x="3586" y="1377"/>
                  </a:lnTo>
                  <a:lnTo>
                    <a:pt x="3605" y="1376"/>
                  </a:lnTo>
                  <a:lnTo>
                    <a:pt x="3623" y="1374"/>
                  </a:lnTo>
                  <a:lnTo>
                    <a:pt x="3642" y="1372"/>
                  </a:lnTo>
                  <a:lnTo>
                    <a:pt x="3660" y="1368"/>
                  </a:lnTo>
                  <a:lnTo>
                    <a:pt x="3676" y="1364"/>
                  </a:lnTo>
                  <a:lnTo>
                    <a:pt x="3693" y="1359"/>
                  </a:lnTo>
                  <a:lnTo>
                    <a:pt x="3707" y="1353"/>
                  </a:lnTo>
                  <a:lnTo>
                    <a:pt x="3722" y="1347"/>
                  </a:lnTo>
                  <a:lnTo>
                    <a:pt x="3736" y="1339"/>
                  </a:lnTo>
                  <a:lnTo>
                    <a:pt x="3748" y="1331"/>
                  </a:lnTo>
                  <a:lnTo>
                    <a:pt x="3760" y="1322"/>
                  </a:lnTo>
                  <a:lnTo>
                    <a:pt x="3770" y="1312"/>
                  </a:lnTo>
                  <a:lnTo>
                    <a:pt x="3780" y="1300"/>
                  </a:lnTo>
                  <a:lnTo>
                    <a:pt x="3790" y="1288"/>
                  </a:lnTo>
                  <a:lnTo>
                    <a:pt x="3797" y="1274"/>
                  </a:lnTo>
                  <a:lnTo>
                    <a:pt x="3804" y="1259"/>
                  </a:lnTo>
                  <a:lnTo>
                    <a:pt x="3809" y="1244"/>
                  </a:lnTo>
                  <a:lnTo>
                    <a:pt x="3814" y="1227"/>
                  </a:lnTo>
                  <a:lnTo>
                    <a:pt x="3820" y="1210"/>
                  </a:lnTo>
                  <a:lnTo>
                    <a:pt x="3824" y="1192"/>
                  </a:lnTo>
                  <a:lnTo>
                    <a:pt x="3826" y="1173"/>
                  </a:lnTo>
                  <a:lnTo>
                    <a:pt x="3828" y="1154"/>
                  </a:lnTo>
                  <a:lnTo>
                    <a:pt x="3829" y="1133"/>
                  </a:lnTo>
                  <a:lnTo>
                    <a:pt x="3830" y="1112"/>
                  </a:lnTo>
                  <a:lnTo>
                    <a:pt x="3830" y="1090"/>
                  </a:lnTo>
                  <a:lnTo>
                    <a:pt x="3830" y="1068"/>
                  </a:lnTo>
                  <a:lnTo>
                    <a:pt x="3829" y="1045"/>
                  </a:lnTo>
                  <a:lnTo>
                    <a:pt x="3828" y="1022"/>
                  </a:lnTo>
                  <a:lnTo>
                    <a:pt x="3826" y="998"/>
                  </a:lnTo>
                  <a:lnTo>
                    <a:pt x="3825" y="975"/>
                  </a:lnTo>
                  <a:lnTo>
                    <a:pt x="3822" y="950"/>
                  </a:lnTo>
                  <a:lnTo>
                    <a:pt x="3820" y="925"/>
                  </a:lnTo>
                  <a:lnTo>
                    <a:pt x="3817" y="900"/>
                  </a:lnTo>
                  <a:lnTo>
                    <a:pt x="3813" y="876"/>
                  </a:lnTo>
                  <a:lnTo>
                    <a:pt x="3811" y="851"/>
                  </a:lnTo>
                  <a:lnTo>
                    <a:pt x="3807" y="826"/>
                  </a:lnTo>
                  <a:lnTo>
                    <a:pt x="3803" y="800"/>
                  </a:lnTo>
                  <a:lnTo>
                    <a:pt x="3800" y="775"/>
                  </a:lnTo>
                  <a:lnTo>
                    <a:pt x="3796" y="750"/>
                  </a:lnTo>
                  <a:lnTo>
                    <a:pt x="3792" y="724"/>
                  </a:lnTo>
                  <a:lnTo>
                    <a:pt x="3790" y="699"/>
                  </a:lnTo>
                  <a:lnTo>
                    <a:pt x="3786" y="675"/>
                  </a:lnTo>
                  <a:lnTo>
                    <a:pt x="3783" y="650"/>
                  </a:lnTo>
                  <a:lnTo>
                    <a:pt x="3779" y="626"/>
                  </a:lnTo>
                  <a:lnTo>
                    <a:pt x="3777" y="601"/>
                  </a:lnTo>
                  <a:lnTo>
                    <a:pt x="3774" y="578"/>
                  </a:lnTo>
                  <a:lnTo>
                    <a:pt x="3771" y="554"/>
                  </a:lnTo>
                  <a:lnTo>
                    <a:pt x="3769" y="531"/>
                  </a:lnTo>
                  <a:lnTo>
                    <a:pt x="3767" y="507"/>
                  </a:lnTo>
                  <a:lnTo>
                    <a:pt x="3765" y="485"/>
                  </a:lnTo>
                  <a:lnTo>
                    <a:pt x="3763" y="463"/>
                  </a:lnTo>
                  <a:lnTo>
                    <a:pt x="3762" y="440"/>
                  </a:lnTo>
                  <a:lnTo>
                    <a:pt x="3760" y="417"/>
                  </a:lnTo>
                  <a:lnTo>
                    <a:pt x="3758" y="395"/>
                  </a:lnTo>
                  <a:lnTo>
                    <a:pt x="3757" y="373"/>
                  </a:lnTo>
                  <a:lnTo>
                    <a:pt x="3756" y="352"/>
                  </a:lnTo>
                  <a:lnTo>
                    <a:pt x="3756" y="330"/>
                  </a:lnTo>
                  <a:lnTo>
                    <a:pt x="3754" y="309"/>
                  </a:lnTo>
                  <a:lnTo>
                    <a:pt x="3753" y="287"/>
                  </a:lnTo>
                  <a:lnTo>
                    <a:pt x="3753" y="266"/>
                  </a:lnTo>
                  <a:lnTo>
                    <a:pt x="3752" y="245"/>
                  </a:lnTo>
                  <a:lnTo>
                    <a:pt x="3752" y="224"/>
                  </a:lnTo>
                  <a:lnTo>
                    <a:pt x="3750" y="203"/>
                  </a:lnTo>
                  <a:lnTo>
                    <a:pt x="3750" y="182"/>
                  </a:lnTo>
                  <a:lnTo>
                    <a:pt x="3749" y="163"/>
                  </a:lnTo>
                  <a:lnTo>
                    <a:pt x="3749" y="142"/>
                  </a:lnTo>
                  <a:lnTo>
                    <a:pt x="3749" y="121"/>
                  </a:lnTo>
                  <a:lnTo>
                    <a:pt x="3749" y="100"/>
                  </a:lnTo>
                  <a:lnTo>
                    <a:pt x="3749" y="81"/>
                  </a:lnTo>
                  <a:lnTo>
                    <a:pt x="3749" y="60"/>
                  </a:lnTo>
                  <a:lnTo>
                    <a:pt x="3748" y="40"/>
                  </a:lnTo>
                  <a:lnTo>
                    <a:pt x="3748" y="19"/>
                  </a:lnTo>
                  <a:lnTo>
                    <a:pt x="3748" y="0"/>
                  </a:lnTo>
                </a:path>
              </a:pathLst>
            </a:cu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" name="Line 20"/>
            <p:cNvSpPr>
              <a:spLocks noChangeAspect="1" noChangeShapeType="1"/>
            </p:cNvSpPr>
            <p:nvPr/>
          </p:nvSpPr>
          <p:spPr bwMode="auto">
            <a:xfrm flipV="1">
              <a:off x="1329" y="3184"/>
              <a:ext cx="72" cy="72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" name="Line 21"/>
            <p:cNvSpPr>
              <a:spLocks noChangeAspect="1" noChangeShapeType="1"/>
            </p:cNvSpPr>
            <p:nvPr/>
          </p:nvSpPr>
          <p:spPr bwMode="auto">
            <a:xfrm flipV="1">
              <a:off x="1231" y="3085"/>
              <a:ext cx="160" cy="159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" name="Line 22"/>
            <p:cNvSpPr>
              <a:spLocks noChangeAspect="1" noChangeShapeType="1"/>
            </p:cNvSpPr>
            <p:nvPr/>
          </p:nvSpPr>
          <p:spPr bwMode="auto">
            <a:xfrm flipV="1">
              <a:off x="1128" y="2984"/>
              <a:ext cx="254" cy="253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" name="Line 23"/>
            <p:cNvSpPr>
              <a:spLocks noChangeAspect="1" noChangeShapeType="1"/>
            </p:cNvSpPr>
            <p:nvPr/>
          </p:nvSpPr>
          <p:spPr bwMode="auto">
            <a:xfrm flipV="1">
              <a:off x="964" y="2912"/>
              <a:ext cx="380" cy="378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" name="Line 24"/>
            <p:cNvSpPr>
              <a:spLocks noChangeAspect="1" noChangeShapeType="1"/>
            </p:cNvSpPr>
            <p:nvPr/>
          </p:nvSpPr>
          <p:spPr bwMode="auto">
            <a:xfrm flipV="1">
              <a:off x="802" y="2912"/>
              <a:ext cx="432" cy="430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" name="Line 25"/>
            <p:cNvSpPr>
              <a:spLocks noChangeAspect="1" noChangeShapeType="1"/>
            </p:cNvSpPr>
            <p:nvPr/>
          </p:nvSpPr>
          <p:spPr bwMode="auto">
            <a:xfrm flipV="1">
              <a:off x="701" y="2912"/>
              <a:ext cx="422" cy="422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" name="Line 26"/>
            <p:cNvSpPr>
              <a:spLocks noChangeAspect="1" noChangeShapeType="1"/>
            </p:cNvSpPr>
            <p:nvPr/>
          </p:nvSpPr>
          <p:spPr bwMode="auto">
            <a:xfrm flipV="1">
              <a:off x="618" y="3051"/>
              <a:ext cx="256" cy="255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" name="Line 27"/>
            <p:cNvSpPr>
              <a:spLocks noChangeAspect="1" noChangeShapeType="1"/>
            </p:cNvSpPr>
            <p:nvPr/>
          </p:nvSpPr>
          <p:spPr bwMode="auto">
            <a:xfrm flipV="1">
              <a:off x="548" y="3028"/>
              <a:ext cx="239" cy="238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" name="Line 28"/>
            <p:cNvSpPr>
              <a:spLocks noChangeAspect="1" noChangeShapeType="1"/>
            </p:cNvSpPr>
            <p:nvPr/>
          </p:nvSpPr>
          <p:spPr bwMode="auto">
            <a:xfrm flipV="1">
              <a:off x="491" y="2979"/>
              <a:ext cx="234" cy="234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" name="Line 29"/>
            <p:cNvSpPr>
              <a:spLocks noChangeAspect="1" noChangeShapeType="1"/>
            </p:cNvSpPr>
            <p:nvPr/>
          </p:nvSpPr>
          <p:spPr bwMode="auto">
            <a:xfrm flipV="1">
              <a:off x="453" y="2912"/>
              <a:ext cx="230" cy="229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" name="Line 30"/>
            <p:cNvSpPr>
              <a:spLocks noChangeAspect="1" noChangeShapeType="1"/>
            </p:cNvSpPr>
            <p:nvPr/>
          </p:nvSpPr>
          <p:spPr bwMode="auto">
            <a:xfrm flipV="1">
              <a:off x="445" y="2912"/>
              <a:ext cx="127" cy="128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" name="Line 31"/>
            <p:cNvSpPr>
              <a:spLocks noChangeAspect="1" noChangeShapeType="1"/>
            </p:cNvSpPr>
            <p:nvPr/>
          </p:nvSpPr>
          <p:spPr bwMode="auto">
            <a:xfrm>
              <a:off x="747" y="2614"/>
              <a:ext cx="325" cy="1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" name="Freeform 32"/>
            <p:cNvSpPr>
              <a:spLocks noChangeAspect="1" noChangeArrowheads="1"/>
            </p:cNvSpPr>
            <p:nvPr/>
          </p:nvSpPr>
          <p:spPr bwMode="auto">
            <a:xfrm>
              <a:off x="783" y="2662"/>
              <a:ext cx="66" cy="118"/>
            </a:xfrm>
            <a:custGeom>
              <a:avLst/>
              <a:gdLst>
                <a:gd name="T0" fmla="*/ 267 w 267"/>
                <a:gd name="T1" fmla="*/ 371 h 470"/>
                <a:gd name="T2" fmla="*/ 193 w 267"/>
                <a:gd name="T3" fmla="*/ 371 h 470"/>
                <a:gd name="T4" fmla="*/ 193 w 267"/>
                <a:gd name="T5" fmla="*/ 470 h 470"/>
                <a:gd name="T6" fmla="*/ 183 w 267"/>
                <a:gd name="T7" fmla="*/ 470 h 470"/>
                <a:gd name="T8" fmla="*/ 183 w 267"/>
                <a:gd name="T9" fmla="*/ 371 h 470"/>
                <a:gd name="T10" fmla="*/ 0 w 267"/>
                <a:gd name="T11" fmla="*/ 371 h 470"/>
                <a:gd name="T12" fmla="*/ 106 w 267"/>
                <a:gd name="T13" fmla="*/ 0 h 470"/>
                <a:gd name="T14" fmla="*/ 115 w 267"/>
                <a:gd name="T15" fmla="*/ 3 h 470"/>
                <a:gd name="T16" fmla="*/ 13 w 267"/>
                <a:gd name="T17" fmla="*/ 360 h 470"/>
                <a:gd name="T18" fmla="*/ 183 w 267"/>
                <a:gd name="T19" fmla="*/ 360 h 470"/>
                <a:gd name="T20" fmla="*/ 183 w 267"/>
                <a:gd name="T21" fmla="*/ 262 h 470"/>
                <a:gd name="T22" fmla="*/ 193 w 267"/>
                <a:gd name="T23" fmla="*/ 262 h 470"/>
                <a:gd name="T24" fmla="*/ 193 w 267"/>
                <a:gd name="T25" fmla="*/ 360 h 470"/>
                <a:gd name="T26" fmla="*/ 267 w 267"/>
                <a:gd name="T27" fmla="*/ 360 h 470"/>
                <a:gd name="T28" fmla="*/ 267 w 267"/>
                <a:gd name="T29" fmla="*/ 371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7" h="470">
                  <a:moveTo>
                    <a:pt x="267" y="371"/>
                  </a:moveTo>
                  <a:lnTo>
                    <a:pt x="193" y="371"/>
                  </a:lnTo>
                  <a:lnTo>
                    <a:pt x="193" y="470"/>
                  </a:lnTo>
                  <a:lnTo>
                    <a:pt x="183" y="470"/>
                  </a:lnTo>
                  <a:lnTo>
                    <a:pt x="183" y="371"/>
                  </a:lnTo>
                  <a:lnTo>
                    <a:pt x="0" y="371"/>
                  </a:lnTo>
                  <a:lnTo>
                    <a:pt x="106" y="0"/>
                  </a:lnTo>
                  <a:lnTo>
                    <a:pt x="115" y="3"/>
                  </a:lnTo>
                  <a:lnTo>
                    <a:pt x="13" y="360"/>
                  </a:lnTo>
                  <a:lnTo>
                    <a:pt x="183" y="360"/>
                  </a:lnTo>
                  <a:lnTo>
                    <a:pt x="183" y="262"/>
                  </a:lnTo>
                  <a:lnTo>
                    <a:pt x="193" y="262"/>
                  </a:lnTo>
                  <a:lnTo>
                    <a:pt x="193" y="360"/>
                  </a:lnTo>
                  <a:lnTo>
                    <a:pt x="267" y="360"/>
                  </a:lnTo>
                  <a:lnTo>
                    <a:pt x="267" y="371"/>
                  </a:lnTo>
                  <a:close/>
                </a:path>
              </a:pathLst>
            </a:custGeom>
            <a:solidFill>
              <a:srgbClr val="1F1A17"/>
            </a:solidFill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2" name="Freeform 33"/>
            <p:cNvSpPr>
              <a:spLocks noChangeAspect="1" noEditPoints="1" noChangeArrowheads="1"/>
            </p:cNvSpPr>
            <p:nvPr/>
          </p:nvSpPr>
          <p:spPr bwMode="auto">
            <a:xfrm>
              <a:off x="897" y="2715"/>
              <a:ext cx="3" cy="52"/>
            </a:xfrm>
            <a:custGeom>
              <a:avLst/>
              <a:gdLst>
                <a:gd name="T0" fmla="*/ 12 w 12"/>
                <a:gd name="T1" fmla="*/ 26 h 208"/>
                <a:gd name="T2" fmla="*/ 0 w 12"/>
                <a:gd name="T3" fmla="*/ 26 h 208"/>
                <a:gd name="T4" fmla="*/ 0 w 12"/>
                <a:gd name="T5" fmla="*/ 0 h 208"/>
                <a:gd name="T6" fmla="*/ 12 w 12"/>
                <a:gd name="T7" fmla="*/ 0 h 208"/>
                <a:gd name="T8" fmla="*/ 12 w 12"/>
                <a:gd name="T9" fmla="*/ 26 h 208"/>
                <a:gd name="T10" fmla="*/ 12 w 12"/>
                <a:gd name="T11" fmla="*/ 208 h 208"/>
                <a:gd name="T12" fmla="*/ 0 w 12"/>
                <a:gd name="T13" fmla="*/ 208 h 208"/>
                <a:gd name="T14" fmla="*/ 0 w 12"/>
                <a:gd name="T15" fmla="*/ 182 h 208"/>
                <a:gd name="T16" fmla="*/ 12 w 12"/>
                <a:gd name="T17" fmla="*/ 182 h 208"/>
                <a:gd name="T18" fmla="*/ 12 w 12"/>
                <a:gd name="T1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208">
                  <a:moveTo>
                    <a:pt x="12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12" y="26"/>
                  </a:lnTo>
                  <a:close/>
                  <a:moveTo>
                    <a:pt x="12" y="208"/>
                  </a:moveTo>
                  <a:lnTo>
                    <a:pt x="0" y="208"/>
                  </a:lnTo>
                  <a:lnTo>
                    <a:pt x="0" y="182"/>
                  </a:lnTo>
                  <a:lnTo>
                    <a:pt x="12" y="182"/>
                  </a:lnTo>
                  <a:lnTo>
                    <a:pt x="12" y="208"/>
                  </a:lnTo>
                  <a:close/>
                </a:path>
              </a:pathLst>
            </a:custGeom>
            <a:solidFill>
              <a:srgbClr val="1F1A17"/>
            </a:solidFill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3" name="Freeform 34"/>
            <p:cNvSpPr>
              <a:spLocks noChangeAspect="1" noChangeArrowheads="1"/>
            </p:cNvSpPr>
            <p:nvPr/>
          </p:nvSpPr>
          <p:spPr bwMode="auto">
            <a:xfrm>
              <a:off x="947" y="2663"/>
              <a:ext cx="29" cy="117"/>
            </a:xfrm>
            <a:custGeom>
              <a:avLst/>
              <a:gdLst>
                <a:gd name="T0" fmla="*/ 114 w 114"/>
                <a:gd name="T1" fmla="*/ 469 h 469"/>
                <a:gd name="T2" fmla="*/ 102 w 114"/>
                <a:gd name="T3" fmla="*/ 469 h 469"/>
                <a:gd name="T4" fmla="*/ 102 w 114"/>
                <a:gd name="T5" fmla="*/ 13 h 469"/>
                <a:gd name="T6" fmla="*/ 8 w 114"/>
                <a:gd name="T7" fmla="*/ 109 h 469"/>
                <a:gd name="T8" fmla="*/ 0 w 114"/>
                <a:gd name="T9" fmla="*/ 101 h 469"/>
                <a:gd name="T10" fmla="*/ 101 w 114"/>
                <a:gd name="T11" fmla="*/ 0 h 469"/>
                <a:gd name="T12" fmla="*/ 114 w 114"/>
                <a:gd name="T13" fmla="*/ 0 h 469"/>
                <a:gd name="T14" fmla="*/ 114 w 114"/>
                <a:gd name="T15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" h="469">
                  <a:moveTo>
                    <a:pt x="114" y="469"/>
                  </a:moveTo>
                  <a:lnTo>
                    <a:pt x="102" y="469"/>
                  </a:lnTo>
                  <a:lnTo>
                    <a:pt x="102" y="13"/>
                  </a:lnTo>
                  <a:lnTo>
                    <a:pt x="8" y="109"/>
                  </a:lnTo>
                  <a:lnTo>
                    <a:pt x="0" y="101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14" y="469"/>
                  </a:lnTo>
                  <a:close/>
                </a:path>
              </a:pathLst>
            </a:custGeom>
            <a:solidFill>
              <a:srgbClr val="1F1A17"/>
            </a:solidFill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4" name="Freeform 35"/>
            <p:cNvSpPr>
              <a:spLocks noChangeAspect="1" noChangeArrowheads="1"/>
            </p:cNvSpPr>
            <p:nvPr/>
          </p:nvSpPr>
          <p:spPr bwMode="auto">
            <a:xfrm>
              <a:off x="783" y="2662"/>
              <a:ext cx="66" cy="118"/>
            </a:xfrm>
            <a:custGeom>
              <a:avLst/>
              <a:gdLst>
                <a:gd name="T0" fmla="*/ 267 w 267"/>
                <a:gd name="T1" fmla="*/ 371 h 470"/>
                <a:gd name="T2" fmla="*/ 193 w 267"/>
                <a:gd name="T3" fmla="*/ 371 h 470"/>
                <a:gd name="T4" fmla="*/ 193 w 267"/>
                <a:gd name="T5" fmla="*/ 470 h 470"/>
                <a:gd name="T6" fmla="*/ 183 w 267"/>
                <a:gd name="T7" fmla="*/ 470 h 470"/>
                <a:gd name="T8" fmla="*/ 183 w 267"/>
                <a:gd name="T9" fmla="*/ 371 h 470"/>
                <a:gd name="T10" fmla="*/ 0 w 267"/>
                <a:gd name="T11" fmla="*/ 371 h 470"/>
                <a:gd name="T12" fmla="*/ 106 w 267"/>
                <a:gd name="T13" fmla="*/ 0 h 470"/>
                <a:gd name="T14" fmla="*/ 115 w 267"/>
                <a:gd name="T15" fmla="*/ 3 h 470"/>
                <a:gd name="T16" fmla="*/ 13 w 267"/>
                <a:gd name="T17" fmla="*/ 360 h 470"/>
                <a:gd name="T18" fmla="*/ 183 w 267"/>
                <a:gd name="T19" fmla="*/ 360 h 470"/>
                <a:gd name="T20" fmla="*/ 183 w 267"/>
                <a:gd name="T21" fmla="*/ 262 h 470"/>
                <a:gd name="T22" fmla="*/ 193 w 267"/>
                <a:gd name="T23" fmla="*/ 262 h 470"/>
                <a:gd name="T24" fmla="*/ 193 w 267"/>
                <a:gd name="T25" fmla="*/ 360 h 470"/>
                <a:gd name="T26" fmla="*/ 267 w 267"/>
                <a:gd name="T27" fmla="*/ 360 h 470"/>
                <a:gd name="T28" fmla="*/ 267 w 267"/>
                <a:gd name="T29" fmla="*/ 371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7" h="470">
                  <a:moveTo>
                    <a:pt x="267" y="371"/>
                  </a:moveTo>
                  <a:lnTo>
                    <a:pt x="193" y="371"/>
                  </a:lnTo>
                  <a:lnTo>
                    <a:pt x="193" y="470"/>
                  </a:lnTo>
                  <a:lnTo>
                    <a:pt x="183" y="470"/>
                  </a:lnTo>
                  <a:lnTo>
                    <a:pt x="183" y="371"/>
                  </a:lnTo>
                  <a:lnTo>
                    <a:pt x="0" y="371"/>
                  </a:lnTo>
                  <a:lnTo>
                    <a:pt x="106" y="0"/>
                  </a:lnTo>
                  <a:lnTo>
                    <a:pt x="115" y="3"/>
                  </a:lnTo>
                  <a:lnTo>
                    <a:pt x="13" y="360"/>
                  </a:lnTo>
                  <a:lnTo>
                    <a:pt x="183" y="360"/>
                  </a:lnTo>
                  <a:lnTo>
                    <a:pt x="183" y="262"/>
                  </a:lnTo>
                  <a:lnTo>
                    <a:pt x="193" y="262"/>
                  </a:lnTo>
                  <a:lnTo>
                    <a:pt x="193" y="360"/>
                  </a:lnTo>
                  <a:lnTo>
                    <a:pt x="267" y="360"/>
                  </a:lnTo>
                  <a:lnTo>
                    <a:pt x="267" y="371"/>
                  </a:lnTo>
                  <a:close/>
                </a:path>
              </a:pathLst>
            </a:custGeom>
            <a:noFill/>
            <a:ln w="63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5" name="Rectangle 36"/>
            <p:cNvSpPr>
              <a:spLocks noChangeAspect="1" noChangeArrowheads="1"/>
            </p:cNvSpPr>
            <p:nvPr/>
          </p:nvSpPr>
          <p:spPr bwMode="auto">
            <a:xfrm>
              <a:off x="897" y="2715"/>
              <a:ext cx="3" cy="6"/>
            </a:xfrm>
            <a:prstGeom prst="rect">
              <a:avLst/>
            </a:prstGeom>
            <a:noFill/>
            <a:ln w="6350">
              <a:solidFill>
                <a:srgbClr val="FF33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6" name="Rectangle 37"/>
            <p:cNvSpPr>
              <a:spLocks noChangeAspect="1" noChangeArrowheads="1"/>
            </p:cNvSpPr>
            <p:nvPr/>
          </p:nvSpPr>
          <p:spPr bwMode="auto">
            <a:xfrm>
              <a:off x="897" y="2760"/>
              <a:ext cx="3" cy="7"/>
            </a:xfrm>
            <a:prstGeom prst="rect">
              <a:avLst/>
            </a:prstGeom>
            <a:solidFill>
              <a:srgbClr val="FF3300"/>
            </a:solidFill>
            <a:ln w="6350">
              <a:solidFill>
                <a:srgbClr val="FF33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7" name="Freeform 38"/>
            <p:cNvSpPr>
              <a:spLocks noChangeAspect="1" noChangeArrowheads="1"/>
            </p:cNvSpPr>
            <p:nvPr/>
          </p:nvSpPr>
          <p:spPr bwMode="auto">
            <a:xfrm>
              <a:off x="947" y="2663"/>
              <a:ext cx="29" cy="117"/>
            </a:xfrm>
            <a:custGeom>
              <a:avLst/>
              <a:gdLst>
                <a:gd name="T0" fmla="*/ 114 w 114"/>
                <a:gd name="T1" fmla="*/ 469 h 469"/>
                <a:gd name="T2" fmla="*/ 102 w 114"/>
                <a:gd name="T3" fmla="*/ 469 h 469"/>
                <a:gd name="T4" fmla="*/ 102 w 114"/>
                <a:gd name="T5" fmla="*/ 13 h 469"/>
                <a:gd name="T6" fmla="*/ 8 w 114"/>
                <a:gd name="T7" fmla="*/ 109 h 469"/>
                <a:gd name="T8" fmla="*/ 0 w 114"/>
                <a:gd name="T9" fmla="*/ 101 h 469"/>
                <a:gd name="T10" fmla="*/ 101 w 114"/>
                <a:gd name="T11" fmla="*/ 0 h 469"/>
                <a:gd name="T12" fmla="*/ 114 w 114"/>
                <a:gd name="T13" fmla="*/ 0 h 469"/>
                <a:gd name="T14" fmla="*/ 114 w 114"/>
                <a:gd name="T15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" h="469">
                  <a:moveTo>
                    <a:pt x="114" y="469"/>
                  </a:moveTo>
                  <a:lnTo>
                    <a:pt x="102" y="469"/>
                  </a:lnTo>
                  <a:lnTo>
                    <a:pt x="102" y="13"/>
                  </a:lnTo>
                  <a:lnTo>
                    <a:pt x="8" y="109"/>
                  </a:lnTo>
                  <a:lnTo>
                    <a:pt x="0" y="101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14" y="469"/>
                  </a:lnTo>
                  <a:close/>
                </a:path>
              </a:pathLst>
            </a:custGeom>
            <a:noFill/>
            <a:ln w="63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8" name="Rectangle 39"/>
            <p:cNvSpPr>
              <a:spLocks noChangeAspect="1" noChangeArrowheads="1"/>
            </p:cNvSpPr>
            <p:nvPr/>
          </p:nvSpPr>
          <p:spPr bwMode="auto">
            <a:xfrm>
              <a:off x="828" y="2404"/>
              <a:ext cx="154" cy="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2000" i="1">
                  <a:solidFill>
                    <a:srgbClr val="FF3300"/>
                  </a:solidFill>
                  <a:latin typeface="Book Antiqua" panose="02040602050305030304" pitchFamily="18" charset="0"/>
                </a:rPr>
                <a:t>II</a:t>
              </a:r>
              <a:endParaRPr lang="en-US" altLang="zh-CN" sz="2000" i="1">
                <a:solidFill>
                  <a:srgbClr val="FF3300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9" name="Group 40"/>
          <p:cNvGrpSpPr>
            <a:grpSpLocks noChangeAspect="1"/>
          </p:cNvGrpSpPr>
          <p:nvPr/>
        </p:nvGrpSpPr>
        <p:grpSpPr bwMode="auto">
          <a:xfrm>
            <a:off x="8294831" y="4680343"/>
            <a:ext cx="1046163" cy="1141412"/>
            <a:chOff x="4672" y="2387"/>
            <a:chExt cx="824" cy="898"/>
          </a:xfrm>
        </p:grpSpPr>
        <p:sp>
          <p:nvSpPr>
            <p:cNvPr id="60" name="Rectangle 41"/>
            <p:cNvSpPr>
              <a:spLocks noChangeAspect="1" noChangeArrowheads="1"/>
            </p:cNvSpPr>
            <p:nvPr/>
          </p:nvSpPr>
          <p:spPr bwMode="auto">
            <a:xfrm>
              <a:off x="4699" y="2951"/>
              <a:ext cx="188" cy="28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FF33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1" name="Rectangle 42"/>
            <p:cNvSpPr>
              <a:spLocks noChangeAspect="1" noChangeArrowheads="1"/>
            </p:cNvSpPr>
            <p:nvPr/>
          </p:nvSpPr>
          <p:spPr bwMode="auto">
            <a:xfrm>
              <a:off x="4971" y="3063"/>
              <a:ext cx="28" cy="49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FF33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2" name="Rectangle 43"/>
            <p:cNvSpPr>
              <a:spLocks noChangeAspect="1" noChangeArrowheads="1"/>
            </p:cNvSpPr>
            <p:nvPr/>
          </p:nvSpPr>
          <p:spPr bwMode="auto">
            <a:xfrm>
              <a:off x="4985" y="3098"/>
              <a:ext cx="196" cy="28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FF33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3" name="Freeform 44"/>
            <p:cNvSpPr>
              <a:spLocks noChangeAspect="1" noChangeArrowheads="1"/>
            </p:cNvSpPr>
            <p:nvPr/>
          </p:nvSpPr>
          <p:spPr bwMode="auto">
            <a:xfrm>
              <a:off x="5171" y="3004"/>
              <a:ext cx="119" cy="118"/>
            </a:xfrm>
            <a:custGeom>
              <a:avLst/>
              <a:gdLst>
                <a:gd name="T0" fmla="*/ 81 w 474"/>
                <a:gd name="T1" fmla="*/ 471 h 471"/>
                <a:gd name="T2" fmla="*/ 474 w 474"/>
                <a:gd name="T3" fmla="*/ 80 h 471"/>
                <a:gd name="T4" fmla="*/ 393 w 474"/>
                <a:gd name="T5" fmla="*/ 0 h 471"/>
                <a:gd name="T6" fmla="*/ 0 w 474"/>
                <a:gd name="T7" fmla="*/ 392 h 471"/>
                <a:gd name="T8" fmla="*/ 81 w 474"/>
                <a:gd name="T9" fmla="*/ 471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4" h="471">
                  <a:moveTo>
                    <a:pt x="81" y="471"/>
                  </a:moveTo>
                  <a:lnTo>
                    <a:pt x="474" y="80"/>
                  </a:lnTo>
                  <a:lnTo>
                    <a:pt x="393" y="0"/>
                  </a:lnTo>
                  <a:lnTo>
                    <a:pt x="0" y="392"/>
                  </a:lnTo>
                  <a:lnTo>
                    <a:pt x="81" y="471"/>
                  </a:lnTo>
                  <a:close/>
                </a:path>
              </a:pathLst>
            </a:custGeom>
            <a:solidFill>
              <a:srgbClr val="FF3300"/>
            </a:solidFill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4" name="Freeform 45"/>
            <p:cNvSpPr>
              <a:spLocks noChangeAspect="1" noChangeArrowheads="1"/>
            </p:cNvSpPr>
            <p:nvPr/>
          </p:nvSpPr>
          <p:spPr bwMode="auto">
            <a:xfrm>
              <a:off x="4877" y="2955"/>
              <a:ext cx="118" cy="118"/>
            </a:xfrm>
            <a:custGeom>
              <a:avLst/>
              <a:gdLst>
                <a:gd name="T0" fmla="*/ 474 w 474"/>
                <a:gd name="T1" fmla="*/ 392 h 473"/>
                <a:gd name="T2" fmla="*/ 80 w 474"/>
                <a:gd name="T3" fmla="*/ 0 h 473"/>
                <a:gd name="T4" fmla="*/ 0 w 474"/>
                <a:gd name="T5" fmla="*/ 81 h 473"/>
                <a:gd name="T6" fmla="*/ 393 w 474"/>
                <a:gd name="T7" fmla="*/ 473 h 473"/>
                <a:gd name="T8" fmla="*/ 474 w 474"/>
                <a:gd name="T9" fmla="*/ 39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4" h="473">
                  <a:moveTo>
                    <a:pt x="474" y="392"/>
                  </a:moveTo>
                  <a:lnTo>
                    <a:pt x="80" y="0"/>
                  </a:lnTo>
                  <a:lnTo>
                    <a:pt x="0" y="81"/>
                  </a:lnTo>
                  <a:lnTo>
                    <a:pt x="393" y="473"/>
                  </a:lnTo>
                  <a:lnTo>
                    <a:pt x="474" y="392"/>
                  </a:lnTo>
                  <a:close/>
                </a:path>
              </a:pathLst>
            </a:custGeom>
            <a:solidFill>
              <a:srgbClr val="FF3300"/>
            </a:solidFill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5" name="Rectangle 46"/>
            <p:cNvSpPr>
              <a:spLocks noChangeAspect="1" noChangeArrowheads="1"/>
            </p:cNvSpPr>
            <p:nvPr/>
          </p:nvSpPr>
          <p:spPr bwMode="auto">
            <a:xfrm>
              <a:off x="5280" y="3000"/>
              <a:ext cx="164" cy="28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FF33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6" name="Rectangle 47"/>
            <p:cNvSpPr>
              <a:spLocks noChangeAspect="1" noChangeArrowheads="1"/>
            </p:cNvSpPr>
            <p:nvPr/>
          </p:nvSpPr>
          <p:spPr bwMode="auto">
            <a:xfrm>
              <a:off x="5280" y="3000"/>
              <a:ext cx="164" cy="28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FF33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7" name="Freeform 48"/>
            <p:cNvSpPr>
              <a:spLocks noChangeAspect="1" noChangeArrowheads="1"/>
            </p:cNvSpPr>
            <p:nvPr/>
          </p:nvSpPr>
          <p:spPr bwMode="auto">
            <a:xfrm>
              <a:off x="4672" y="2965"/>
              <a:ext cx="824" cy="320"/>
            </a:xfrm>
            <a:custGeom>
              <a:avLst/>
              <a:gdLst>
                <a:gd name="T0" fmla="*/ 89 w 3297"/>
                <a:gd name="T1" fmla="*/ 98 h 1281"/>
                <a:gd name="T2" fmla="*/ 65 w 3297"/>
                <a:gd name="T3" fmla="*/ 220 h 1281"/>
                <a:gd name="T4" fmla="*/ 46 w 3297"/>
                <a:gd name="T5" fmla="*/ 339 h 1281"/>
                <a:gd name="T6" fmla="*/ 27 w 3297"/>
                <a:gd name="T7" fmla="*/ 456 h 1281"/>
                <a:gd name="T8" fmla="*/ 13 w 3297"/>
                <a:gd name="T9" fmla="*/ 568 h 1281"/>
                <a:gd name="T10" fmla="*/ 4 w 3297"/>
                <a:gd name="T11" fmla="*/ 675 h 1281"/>
                <a:gd name="T12" fmla="*/ 0 w 3297"/>
                <a:gd name="T13" fmla="*/ 777 h 1281"/>
                <a:gd name="T14" fmla="*/ 4 w 3297"/>
                <a:gd name="T15" fmla="*/ 872 h 1281"/>
                <a:gd name="T16" fmla="*/ 14 w 3297"/>
                <a:gd name="T17" fmla="*/ 959 h 1281"/>
                <a:gd name="T18" fmla="*/ 34 w 3297"/>
                <a:gd name="T19" fmla="*/ 1036 h 1281"/>
                <a:gd name="T20" fmla="*/ 64 w 3297"/>
                <a:gd name="T21" fmla="*/ 1104 h 1281"/>
                <a:gd name="T22" fmla="*/ 104 w 3297"/>
                <a:gd name="T23" fmla="*/ 1160 h 1281"/>
                <a:gd name="T24" fmla="*/ 155 w 3297"/>
                <a:gd name="T25" fmla="*/ 1204 h 1281"/>
                <a:gd name="T26" fmla="*/ 218 w 3297"/>
                <a:gd name="T27" fmla="*/ 1237 h 1281"/>
                <a:gd name="T28" fmla="*/ 291 w 3297"/>
                <a:gd name="T29" fmla="*/ 1260 h 1281"/>
                <a:gd name="T30" fmla="*/ 373 w 3297"/>
                <a:gd name="T31" fmla="*/ 1275 h 1281"/>
                <a:gd name="T32" fmla="*/ 461 w 3297"/>
                <a:gd name="T33" fmla="*/ 1281 h 1281"/>
                <a:gd name="T34" fmla="*/ 558 w 3297"/>
                <a:gd name="T35" fmla="*/ 1281 h 1281"/>
                <a:gd name="T36" fmla="*/ 659 w 3297"/>
                <a:gd name="T37" fmla="*/ 1276 h 1281"/>
                <a:gd name="T38" fmla="*/ 766 w 3297"/>
                <a:gd name="T39" fmla="*/ 1265 h 1281"/>
                <a:gd name="T40" fmla="*/ 876 w 3297"/>
                <a:gd name="T41" fmla="*/ 1252 h 1281"/>
                <a:gd name="T42" fmla="*/ 990 w 3297"/>
                <a:gd name="T43" fmla="*/ 1237 h 1281"/>
                <a:gd name="T44" fmla="*/ 1105 w 3297"/>
                <a:gd name="T45" fmla="*/ 1220 h 1281"/>
                <a:gd name="T46" fmla="*/ 1220 w 3297"/>
                <a:gd name="T47" fmla="*/ 1204 h 1281"/>
                <a:gd name="T48" fmla="*/ 1335 w 3297"/>
                <a:gd name="T49" fmla="*/ 1188 h 1281"/>
                <a:gd name="T50" fmla="*/ 1450 w 3297"/>
                <a:gd name="T51" fmla="*/ 1177 h 1281"/>
                <a:gd name="T52" fmla="*/ 1562 w 3297"/>
                <a:gd name="T53" fmla="*/ 1168 h 1281"/>
                <a:gd name="T54" fmla="*/ 1670 w 3297"/>
                <a:gd name="T55" fmla="*/ 1164 h 1281"/>
                <a:gd name="T56" fmla="*/ 1773 w 3297"/>
                <a:gd name="T57" fmla="*/ 1165 h 1281"/>
                <a:gd name="T58" fmla="*/ 1874 w 3297"/>
                <a:gd name="T59" fmla="*/ 1170 h 1281"/>
                <a:gd name="T60" fmla="*/ 1972 w 3297"/>
                <a:gd name="T61" fmla="*/ 1178 h 1281"/>
                <a:gd name="T62" fmla="*/ 2068 w 3297"/>
                <a:gd name="T63" fmla="*/ 1187 h 1281"/>
                <a:gd name="T64" fmla="*/ 2162 w 3297"/>
                <a:gd name="T65" fmla="*/ 1194 h 1281"/>
                <a:gd name="T66" fmla="*/ 2257 w 3297"/>
                <a:gd name="T67" fmla="*/ 1199 h 1281"/>
                <a:gd name="T68" fmla="*/ 2353 w 3297"/>
                <a:gd name="T69" fmla="*/ 1199 h 1281"/>
                <a:gd name="T70" fmla="*/ 2451 w 3297"/>
                <a:gd name="T71" fmla="*/ 1192 h 1281"/>
                <a:gd name="T72" fmla="*/ 2550 w 3297"/>
                <a:gd name="T73" fmla="*/ 1177 h 1281"/>
                <a:gd name="T74" fmla="*/ 2655 w 3297"/>
                <a:gd name="T75" fmla="*/ 1151 h 1281"/>
                <a:gd name="T76" fmla="*/ 2762 w 3297"/>
                <a:gd name="T77" fmla="*/ 1114 h 1281"/>
                <a:gd name="T78" fmla="*/ 2868 w 3297"/>
                <a:gd name="T79" fmla="*/ 1067 h 1281"/>
                <a:gd name="T80" fmla="*/ 2970 w 3297"/>
                <a:gd name="T81" fmla="*/ 1012 h 1281"/>
                <a:gd name="T82" fmla="*/ 3064 w 3297"/>
                <a:gd name="T83" fmla="*/ 949 h 1281"/>
                <a:gd name="T84" fmla="*/ 3147 w 3297"/>
                <a:gd name="T85" fmla="*/ 880 h 1281"/>
                <a:gd name="T86" fmla="*/ 3215 w 3297"/>
                <a:gd name="T87" fmla="*/ 806 h 1281"/>
                <a:gd name="T88" fmla="*/ 3265 w 3297"/>
                <a:gd name="T89" fmla="*/ 726 h 1281"/>
                <a:gd name="T90" fmla="*/ 3292 w 3297"/>
                <a:gd name="T91" fmla="*/ 644 h 1281"/>
                <a:gd name="T92" fmla="*/ 3295 w 3297"/>
                <a:gd name="T93" fmla="*/ 560 h 1281"/>
                <a:gd name="T94" fmla="*/ 3271 w 3297"/>
                <a:gd name="T95" fmla="*/ 474 h 1281"/>
                <a:gd name="T96" fmla="*/ 3227 w 3297"/>
                <a:gd name="T97" fmla="*/ 388 h 1281"/>
                <a:gd name="T98" fmla="*/ 3169 w 3297"/>
                <a:gd name="T99" fmla="*/ 301 h 1281"/>
                <a:gd name="T100" fmla="*/ 3104 w 3297"/>
                <a:gd name="T101" fmla="*/ 215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97" h="1281">
                  <a:moveTo>
                    <a:pt x="107" y="0"/>
                  </a:moveTo>
                  <a:lnTo>
                    <a:pt x="102" y="25"/>
                  </a:lnTo>
                  <a:lnTo>
                    <a:pt x="98" y="50"/>
                  </a:lnTo>
                  <a:lnTo>
                    <a:pt x="93" y="74"/>
                  </a:lnTo>
                  <a:lnTo>
                    <a:pt x="89" y="98"/>
                  </a:lnTo>
                  <a:lnTo>
                    <a:pt x="83" y="123"/>
                  </a:lnTo>
                  <a:lnTo>
                    <a:pt x="80" y="147"/>
                  </a:lnTo>
                  <a:lnTo>
                    <a:pt x="74" y="171"/>
                  </a:lnTo>
                  <a:lnTo>
                    <a:pt x="70" y="195"/>
                  </a:lnTo>
                  <a:lnTo>
                    <a:pt x="65" y="220"/>
                  </a:lnTo>
                  <a:lnTo>
                    <a:pt x="61" y="243"/>
                  </a:lnTo>
                  <a:lnTo>
                    <a:pt x="57" y="268"/>
                  </a:lnTo>
                  <a:lnTo>
                    <a:pt x="53" y="292"/>
                  </a:lnTo>
                  <a:lnTo>
                    <a:pt x="49" y="315"/>
                  </a:lnTo>
                  <a:lnTo>
                    <a:pt x="46" y="339"/>
                  </a:lnTo>
                  <a:lnTo>
                    <a:pt x="42" y="362"/>
                  </a:lnTo>
                  <a:lnTo>
                    <a:pt x="38" y="386"/>
                  </a:lnTo>
                  <a:lnTo>
                    <a:pt x="34" y="409"/>
                  </a:lnTo>
                  <a:lnTo>
                    <a:pt x="30" y="433"/>
                  </a:lnTo>
                  <a:lnTo>
                    <a:pt x="27" y="456"/>
                  </a:lnTo>
                  <a:lnTo>
                    <a:pt x="23" y="478"/>
                  </a:lnTo>
                  <a:lnTo>
                    <a:pt x="21" y="500"/>
                  </a:lnTo>
                  <a:lnTo>
                    <a:pt x="18" y="524"/>
                  </a:lnTo>
                  <a:lnTo>
                    <a:pt x="15" y="546"/>
                  </a:lnTo>
                  <a:lnTo>
                    <a:pt x="13" y="568"/>
                  </a:lnTo>
                  <a:lnTo>
                    <a:pt x="10" y="590"/>
                  </a:lnTo>
                  <a:lnTo>
                    <a:pt x="9" y="611"/>
                  </a:lnTo>
                  <a:lnTo>
                    <a:pt x="6" y="634"/>
                  </a:lnTo>
                  <a:lnTo>
                    <a:pt x="5" y="654"/>
                  </a:lnTo>
                  <a:lnTo>
                    <a:pt x="4" y="675"/>
                  </a:lnTo>
                  <a:lnTo>
                    <a:pt x="2" y="696"/>
                  </a:lnTo>
                  <a:lnTo>
                    <a:pt x="1" y="717"/>
                  </a:lnTo>
                  <a:lnTo>
                    <a:pt x="1" y="737"/>
                  </a:lnTo>
                  <a:lnTo>
                    <a:pt x="0" y="758"/>
                  </a:lnTo>
                  <a:lnTo>
                    <a:pt x="0" y="777"/>
                  </a:lnTo>
                  <a:lnTo>
                    <a:pt x="0" y="797"/>
                  </a:lnTo>
                  <a:lnTo>
                    <a:pt x="1" y="816"/>
                  </a:lnTo>
                  <a:lnTo>
                    <a:pt x="1" y="835"/>
                  </a:lnTo>
                  <a:lnTo>
                    <a:pt x="2" y="853"/>
                  </a:lnTo>
                  <a:lnTo>
                    <a:pt x="4" y="872"/>
                  </a:lnTo>
                  <a:lnTo>
                    <a:pt x="5" y="889"/>
                  </a:lnTo>
                  <a:lnTo>
                    <a:pt x="6" y="908"/>
                  </a:lnTo>
                  <a:lnTo>
                    <a:pt x="9" y="925"/>
                  </a:lnTo>
                  <a:lnTo>
                    <a:pt x="12" y="942"/>
                  </a:lnTo>
                  <a:lnTo>
                    <a:pt x="14" y="959"/>
                  </a:lnTo>
                  <a:lnTo>
                    <a:pt x="17" y="974"/>
                  </a:lnTo>
                  <a:lnTo>
                    <a:pt x="21" y="990"/>
                  </a:lnTo>
                  <a:lnTo>
                    <a:pt x="25" y="1006"/>
                  </a:lnTo>
                  <a:lnTo>
                    <a:pt x="29" y="1021"/>
                  </a:lnTo>
                  <a:lnTo>
                    <a:pt x="34" y="1036"/>
                  </a:lnTo>
                  <a:lnTo>
                    <a:pt x="39" y="1050"/>
                  </a:lnTo>
                  <a:lnTo>
                    <a:pt x="44" y="1064"/>
                  </a:lnTo>
                  <a:lnTo>
                    <a:pt x="51" y="1077"/>
                  </a:lnTo>
                  <a:lnTo>
                    <a:pt x="57" y="1090"/>
                  </a:lnTo>
                  <a:lnTo>
                    <a:pt x="64" y="1104"/>
                  </a:lnTo>
                  <a:lnTo>
                    <a:pt x="70" y="1115"/>
                  </a:lnTo>
                  <a:lnTo>
                    <a:pt x="78" y="1127"/>
                  </a:lnTo>
                  <a:lnTo>
                    <a:pt x="86" y="1139"/>
                  </a:lnTo>
                  <a:lnTo>
                    <a:pt x="95" y="1149"/>
                  </a:lnTo>
                  <a:lnTo>
                    <a:pt x="104" y="1160"/>
                  </a:lnTo>
                  <a:lnTo>
                    <a:pt x="114" y="1169"/>
                  </a:lnTo>
                  <a:lnTo>
                    <a:pt x="123" y="1179"/>
                  </a:lnTo>
                  <a:lnTo>
                    <a:pt x="133" y="1188"/>
                  </a:lnTo>
                  <a:lnTo>
                    <a:pt x="145" y="1196"/>
                  </a:lnTo>
                  <a:lnTo>
                    <a:pt x="155" y="1204"/>
                  </a:lnTo>
                  <a:lnTo>
                    <a:pt x="167" y="1212"/>
                  </a:lnTo>
                  <a:lnTo>
                    <a:pt x="179" y="1218"/>
                  </a:lnTo>
                  <a:lnTo>
                    <a:pt x="192" y="1225"/>
                  </a:lnTo>
                  <a:lnTo>
                    <a:pt x="205" y="1231"/>
                  </a:lnTo>
                  <a:lnTo>
                    <a:pt x="218" y="1237"/>
                  </a:lnTo>
                  <a:lnTo>
                    <a:pt x="233" y="1242"/>
                  </a:lnTo>
                  <a:lnTo>
                    <a:pt x="247" y="1247"/>
                  </a:lnTo>
                  <a:lnTo>
                    <a:pt x="261" y="1252"/>
                  </a:lnTo>
                  <a:lnTo>
                    <a:pt x="276" y="1256"/>
                  </a:lnTo>
                  <a:lnTo>
                    <a:pt x="291" y="1260"/>
                  </a:lnTo>
                  <a:lnTo>
                    <a:pt x="307" y="1264"/>
                  </a:lnTo>
                  <a:lnTo>
                    <a:pt x="323" y="1267"/>
                  </a:lnTo>
                  <a:lnTo>
                    <a:pt x="339" y="1269"/>
                  </a:lnTo>
                  <a:lnTo>
                    <a:pt x="356" y="1272"/>
                  </a:lnTo>
                  <a:lnTo>
                    <a:pt x="373" y="1275"/>
                  </a:lnTo>
                  <a:lnTo>
                    <a:pt x="390" y="1276"/>
                  </a:lnTo>
                  <a:lnTo>
                    <a:pt x="407" y="1278"/>
                  </a:lnTo>
                  <a:lnTo>
                    <a:pt x="425" y="1280"/>
                  </a:lnTo>
                  <a:lnTo>
                    <a:pt x="443" y="1281"/>
                  </a:lnTo>
                  <a:lnTo>
                    <a:pt x="461" y="1281"/>
                  </a:lnTo>
                  <a:lnTo>
                    <a:pt x="481" y="1281"/>
                  </a:lnTo>
                  <a:lnTo>
                    <a:pt x="499" y="1281"/>
                  </a:lnTo>
                  <a:lnTo>
                    <a:pt x="519" y="1281"/>
                  </a:lnTo>
                  <a:lnTo>
                    <a:pt x="539" y="1281"/>
                  </a:lnTo>
                  <a:lnTo>
                    <a:pt x="558" y="1281"/>
                  </a:lnTo>
                  <a:lnTo>
                    <a:pt x="578" y="1280"/>
                  </a:lnTo>
                  <a:lnTo>
                    <a:pt x="598" y="1280"/>
                  </a:lnTo>
                  <a:lnTo>
                    <a:pt x="618" y="1278"/>
                  </a:lnTo>
                  <a:lnTo>
                    <a:pt x="639" y="1277"/>
                  </a:lnTo>
                  <a:lnTo>
                    <a:pt x="659" y="1276"/>
                  </a:lnTo>
                  <a:lnTo>
                    <a:pt x="681" y="1273"/>
                  </a:lnTo>
                  <a:lnTo>
                    <a:pt x="702" y="1272"/>
                  </a:lnTo>
                  <a:lnTo>
                    <a:pt x="723" y="1269"/>
                  </a:lnTo>
                  <a:lnTo>
                    <a:pt x="744" y="1268"/>
                  </a:lnTo>
                  <a:lnTo>
                    <a:pt x="766" y="1265"/>
                  </a:lnTo>
                  <a:lnTo>
                    <a:pt x="788" y="1263"/>
                  </a:lnTo>
                  <a:lnTo>
                    <a:pt x="811" y="1260"/>
                  </a:lnTo>
                  <a:lnTo>
                    <a:pt x="833" y="1258"/>
                  </a:lnTo>
                  <a:lnTo>
                    <a:pt x="855" y="1255"/>
                  </a:lnTo>
                  <a:lnTo>
                    <a:pt x="876" y="1252"/>
                  </a:lnTo>
                  <a:lnTo>
                    <a:pt x="900" y="1248"/>
                  </a:lnTo>
                  <a:lnTo>
                    <a:pt x="922" y="1246"/>
                  </a:lnTo>
                  <a:lnTo>
                    <a:pt x="944" y="1243"/>
                  </a:lnTo>
                  <a:lnTo>
                    <a:pt x="968" y="1239"/>
                  </a:lnTo>
                  <a:lnTo>
                    <a:pt x="990" y="1237"/>
                  </a:lnTo>
                  <a:lnTo>
                    <a:pt x="1013" y="1233"/>
                  </a:lnTo>
                  <a:lnTo>
                    <a:pt x="1036" y="1230"/>
                  </a:lnTo>
                  <a:lnTo>
                    <a:pt x="1059" y="1226"/>
                  </a:lnTo>
                  <a:lnTo>
                    <a:pt x="1081" y="1224"/>
                  </a:lnTo>
                  <a:lnTo>
                    <a:pt x="1105" y="1220"/>
                  </a:lnTo>
                  <a:lnTo>
                    <a:pt x="1129" y="1217"/>
                  </a:lnTo>
                  <a:lnTo>
                    <a:pt x="1151" y="1213"/>
                  </a:lnTo>
                  <a:lnTo>
                    <a:pt x="1174" y="1211"/>
                  </a:lnTo>
                  <a:lnTo>
                    <a:pt x="1198" y="1207"/>
                  </a:lnTo>
                  <a:lnTo>
                    <a:pt x="1220" y="1204"/>
                  </a:lnTo>
                  <a:lnTo>
                    <a:pt x="1244" y="1200"/>
                  </a:lnTo>
                  <a:lnTo>
                    <a:pt x="1267" y="1198"/>
                  </a:lnTo>
                  <a:lnTo>
                    <a:pt x="1289" y="1195"/>
                  </a:lnTo>
                  <a:lnTo>
                    <a:pt x="1313" y="1192"/>
                  </a:lnTo>
                  <a:lnTo>
                    <a:pt x="1335" y="1188"/>
                  </a:lnTo>
                  <a:lnTo>
                    <a:pt x="1359" y="1186"/>
                  </a:lnTo>
                  <a:lnTo>
                    <a:pt x="1381" y="1183"/>
                  </a:lnTo>
                  <a:lnTo>
                    <a:pt x="1405" y="1181"/>
                  </a:lnTo>
                  <a:lnTo>
                    <a:pt x="1427" y="1179"/>
                  </a:lnTo>
                  <a:lnTo>
                    <a:pt x="1450" y="1177"/>
                  </a:lnTo>
                  <a:lnTo>
                    <a:pt x="1473" y="1174"/>
                  </a:lnTo>
                  <a:lnTo>
                    <a:pt x="1495" y="1173"/>
                  </a:lnTo>
                  <a:lnTo>
                    <a:pt x="1517" y="1170"/>
                  </a:lnTo>
                  <a:lnTo>
                    <a:pt x="1539" y="1169"/>
                  </a:lnTo>
                  <a:lnTo>
                    <a:pt x="1562" y="1168"/>
                  </a:lnTo>
                  <a:lnTo>
                    <a:pt x="1584" y="1166"/>
                  </a:lnTo>
                  <a:lnTo>
                    <a:pt x="1605" y="1165"/>
                  </a:lnTo>
                  <a:lnTo>
                    <a:pt x="1627" y="1165"/>
                  </a:lnTo>
                  <a:lnTo>
                    <a:pt x="1648" y="1164"/>
                  </a:lnTo>
                  <a:lnTo>
                    <a:pt x="1670" y="1164"/>
                  </a:lnTo>
                  <a:lnTo>
                    <a:pt x="1691" y="1162"/>
                  </a:lnTo>
                  <a:lnTo>
                    <a:pt x="1712" y="1162"/>
                  </a:lnTo>
                  <a:lnTo>
                    <a:pt x="1733" y="1164"/>
                  </a:lnTo>
                  <a:lnTo>
                    <a:pt x="1752" y="1164"/>
                  </a:lnTo>
                  <a:lnTo>
                    <a:pt x="1773" y="1165"/>
                  </a:lnTo>
                  <a:lnTo>
                    <a:pt x="1794" y="1165"/>
                  </a:lnTo>
                  <a:lnTo>
                    <a:pt x="1814" y="1166"/>
                  </a:lnTo>
                  <a:lnTo>
                    <a:pt x="1835" y="1168"/>
                  </a:lnTo>
                  <a:lnTo>
                    <a:pt x="1855" y="1169"/>
                  </a:lnTo>
                  <a:lnTo>
                    <a:pt x="1874" y="1170"/>
                  </a:lnTo>
                  <a:lnTo>
                    <a:pt x="1894" y="1171"/>
                  </a:lnTo>
                  <a:lnTo>
                    <a:pt x="1913" y="1173"/>
                  </a:lnTo>
                  <a:lnTo>
                    <a:pt x="1933" y="1174"/>
                  </a:lnTo>
                  <a:lnTo>
                    <a:pt x="1953" y="1175"/>
                  </a:lnTo>
                  <a:lnTo>
                    <a:pt x="1972" y="1178"/>
                  </a:lnTo>
                  <a:lnTo>
                    <a:pt x="1991" y="1179"/>
                  </a:lnTo>
                  <a:lnTo>
                    <a:pt x="2010" y="1182"/>
                  </a:lnTo>
                  <a:lnTo>
                    <a:pt x="2030" y="1183"/>
                  </a:lnTo>
                  <a:lnTo>
                    <a:pt x="2048" y="1184"/>
                  </a:lnTo>
                  <a:lnTo>
                    <a:pt x="2068" y="1187"/>
                  </a:lnTo>
                  <a:lnTo>
                    <a:pt x="2086" y="1188"/>
                  </a:lnTo>
                  <a:lnTo>
                    <a:pt x="2106" y="1190"/>
                  </a:lnTo>
                  <a:lnTo>
                    <a:pt x="2124" y="1191"/>
                  </a:lnTo>
                  <a:lnTo>
                    <a:pt x="2144" y="1194"/>
                  </a:lnTo>
                  <a:lnTo>
                    <a:pt x="2162" y="1194"/>
                  </a:lnTo>
                  <a:lnTo>
                    <a:pt x="2182" y="1195"/>
                  </a:lnTo>
                  <a:lnTo>
                    <a:pt x="2200" y="1196"/>
                  </a:lnTo>
                  <a:lnTo>
                    <a:pt x="2219" y="1198"/>
                  </a:lnTo>
                  <a:lnTo>
                    <a:pt x="2238" y="1199"/>
                  </a:lnTo>
                  <a:lnTo>
                    <a:pt x="2257" y="1199"/>
                  </a:lnTo>
                  <a:lnTo>
                    <a:pt x="2276" y="1199"/>
                  </a:lnTo>
                  <a:lnTo>
                    <a:pt x="2295" y="1199"/>
                  </a:lnTo>
                  <a:lnTo>
                    <a:pt x="2314" y="1199"/>
                  </a:lnTo>
                  <a:lnTo>
                    <a:pt x="2333" y="1199"/>
                  </a:lnTo>
                  <a:lnTo>
                    <a:pt x="2353" y="1199"/>
                  </a:lnTo>
                  <a:lnTo>
                    <a:pt x="2372" y="1198"/>
                  </a:lnTo>
                  <a:lnTo>
                    <a:pt x="2392" y="1196"/>
                  </a:lnTo>
                  <a:lnTo>
                    <a:pt x="2410" y="1195"/>
                  </a:lnTo>
                  <a:lnTo>
                    <a:pt x="2431" y="1194"/>
                  </a:lnTo>
                  <a:lnTo>
                    <a:pt x="2451" y="1192"/>
                  </a:lnTo>
                  <a:lnTo>
                    <a:pt x="2471" y="1190"/>
                  </a:lnTo>
                  <a:lnTo>
                    <a:pt x="2490" y="1187"/>
                  </a:lnTo>
                  <a:lnTo>
                    <a:pt x="2510" y="1183"/>
                  </a:lnTo>
                  <a:lnTo>
                    <a:pt x="2531" y="1181"/>
                  </a:lnTo>
                  <a:lnTo>
                    <a:pt x="2550" y="1177"/>
                  </a:lnTo>
                  <a:lnTo>
                    <a:pt x="2571" y="1171"/>
                  </a:lnTo>
                  <a:lnTo>
                    <a:pt x="2592" y="1168"/>
                  </a:lnTo>
                  <a:lnTo>
                    <a:pt x="2613" y="1162"/>
                  </a:lnTo>
                  <a:lnTo>
                    <a:pt x="2634" y="1157"/>
                  </a:lnTo>
                  <a:lnTo>
                    <a:pt x="2655" y="1151"/>
                  </a:lnTo>
                  <a:lnTo>
                    <a:pt x="2676" y="1144"/>
                  </a:lnTo>
                  <a:lnTo>
                    <a:pt x="2698" y="1137"/>
                  </a:lnTo>
                  <a:lnTo>
                    <a:pt x="2719" y="1130"/>
                  </a:lnTo>
                  <a:lnTo>
                    <a:pt x="2740" y="1122"/>
                  </a:lnTo>
                  <a:lnTo>
                    <a:pt x="2762" y="1114"/>
                  </a:lnTo>
                  <a:lnTo>
                    <a:pt x="2783" y="1105"/>
                  </a:lnTo>
                  <a:lnTo>
                    <a:pt x="2805" y="1097"/>
                  </a:lnTo>
                  <a:lnTo>
                    <a:pt x="2826" y="1088"/>
                  </a:lnTo>
                  <a:lnTo>
                    <a:pt x="2847" y="1077"/>
                  </a:lnTo>
                  <a:lnTo>
                    <a:pt x="2868" y="1067"/>
                  </a:lnTo>
                  <a:lnTo>
                    <a:pt x="2889" y="1057"/>
                  </a:lnTo>
                  <a:lnTo>
                    <a:pt x="2910" y="1046"/>
                  </a:lnTo>
                  <a:lnTo>
                    <a:pt x="2930" y="1036"/>
                  </a:lnTo>
                  <a:lnTo>
                    <a:pt x="2951" y="1024"/>
                  </a:lnTo>
                  <a:lnTo>
                    <a:pt x="2970" y="1012"/>
                  </a:lnTo>
                  <a:lnTo>
                    <a:pt x="2990" y="1000"/>
                  </a:lnTo>
                  <a:lnTo>
                    <a:pt x="3009" y="987"/>
                  </a:lnTo>
                  <a:lnTo>
                    <a:pt x="3028" y="976"/>
                  </a:lnTo>
                  <a:lnTo>
                    <a:pt x="3046" y="963"/>
                  </a:lnTo>
                  <a:lnTo>
                    <a:pt x="3064" y="949"/>
                  </a:lnTo>
                  <a:lnTo>
                    <a:pt x="3081" y="936"/>
                  </a:lnTo>
                  <a:lnTo>
                    <a:pt x="3098" y="922"/>
                  </a:lnTo>
                  <a:lnTo>
                    <a:pt x="3115" y="909"/>
                  </a:lnTo>
                  <a:lnTo>
                    <a:pt x="3131" y="895"/>
                  </a:lnTo>
                  <a:lnTo>
                    <a:pt x="3147" y="880"/>
                  </a:lnTo>
                  <a:lnTo>
                    <a:pt x="3163" y="866"/>
                  </a:lnTo>
                  <a:lnTo>
                    <a:pt x="3177" y="850"/>
                  </a:lnTo>
                  <a:lnTo>
                    <a:pt x="3190" y="836"/>
                  </a:lnTo>
                  <a:lnTo>
                    <a:pt x="3203" y="820"/>
                  </a:lnTo>
                  <a:lnTo>
                    <a:pt x="3215" y="806"/>
                  </a:lnTo>
                  <a:lnTo>
                    <a:pt x="3227" y="790"/>
                  </a:lnTo>
                  <a:lnTo>
                    <a:pt x="3237" y="775"/>
                  </a:lnTo>
                  <a:lnTo>
                    <a:pt x="3248" y="759"/>
                  </a:lnTo>
                  <a:lnTo>
                    <a:pt x="3257" y="742"/>
                  </a:lnTo>
                  <a:lnTo>
                    <a:pt x="3265" y="726"/>
                  </a:lnTo>
                  <a:lnTo>
                    <a:pt x="3272" y="711"/>
                  </a:lnTo>
                  <a:lnTo>
                    <a:pt x="3279" y="694"/>
                  </a:lnTo>
                  <a:lnTo>
                    <a:pt x="3284" y="677"/>
                  </a:lnTo>
                  <a:lnTo>
                    <a:pt x="3288" y="661"/>
                  </a:lnTo>
                  <a:lnTo>
                    <a:pt x="3292" y="644"/>
                  </a:lnTo>
                  <a:lnTo>
                    <a:pt x="3295" y="627"/>
                  </a:lnTo>
                  <a:lnTo>
                    <a:pt x="3296" y="610"/>
                  </a:lnTo>
                  <a:lnTo>
                    <a:pt x="3297" y="594"/>
                  </a:lnTo>
                  <a:lnTo>
                    <a:pt x="3296" y="577"/>
                  </a:lnTo>
                  <a:lnTo>
                    <a:pt x="3295" y="560"/>
                  </a:lnTo>
                  <a:lnTo>
                    <a:pt x="3292" y="542"/>
                  </a:lnTo>
                  <a:lnTo>
                    <a:pt x="3288" y="527"/>
                  </a:lnTo>
                  <a:lnTo>
                    <a:pt x="3283" y="508"/>
                  </a:lnTo>
                  <a:lnTo>
                    <a:pt x="3278" y="491"/>
                  </a:lnTo>
                  <a:lnTo>
                    <a:pt x="3271" y="474"/>
                  </a:lnTo>
                  <a:lnTo>
                    <a:pt x="3263" y="457"/>
                  </a:lnTo>
                  <a:lnTo>
                    <a:pt x="3255" y="440"/>
                  </a:lnTo>
                  <a:lnTo>
                    <a:pt x="3246" y="423"/>
                  </a:lnTo>
                  <a:lnTo>
                    <a:pt x="3237" y="405"/>
                  </a:lnTo>
                  <a:lnTo>
                    <a:pt x="3227" y="388"/>
                  </a:lnTo>
                  <a:lnTo>
                    <a:pt x="3216" y="371"/>
                  </a:lnTo>
                  <a:lnTo>
                    <a:pt x="3204" y="354"/>
                  </a:lnTo>
                  <a:lnTo>
                    <a:pt x="3194" y="336"/>
                  </a:lnTo>
                  <a:lnTo>
                    <a:pt x="3182" y="319"/>
                  </a:lnTo>
                  <a:lnTo>
                    <a:pt x="3169" y="301"/>
                  </a:lnTo>
                  <a:lnTo>
                    <a:pt x="3156" y="284"/>
                  </a:lnTo>
                  <a:lnTo>
                    <a:pt x="3144" y="267"/>
                  </a:lnTo>
                  <a:lnTo>
                    <a:pt x="3131" y="248"/>
                  </a:lnTo>
                  <a:lnTo>
                    <a:pt x="3117" y="231"/>
                  </a:lnTo>
                  <a:lnTo>
                    <a:pt x="3104" y="215"/>
                  </a:lnTo>
                  <a:lnTo>
                    <a:pt x="3091" y="196"/>
                  </a:lnTo>
                </a:path>
              </a:pathLst>
            </a:cu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8" name="Line 49"/>
            <p:cNvSpPr>
              <a:spLocks noChangeAspect="1" noChangeShapeType="1"/>
            </p:cNvSpPr>
            <p:nvPr/>
          </p:nvSpPr>
          <p:spPr bwMode="auto">
            <a:xfrm flipV="1">
              <a:off x="5401" y="3134"/>
              <a:ext cx="92" cy="92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" name="Line 50"/>
            <p:cNvSpPr>
              <a:spLocks noChangeAspect="1" noChangeShapeType="1"/>
            </p:cNvSpPr>
            <p:nvPr/>
          </p:nvSpPr>
          <p:spPr bwMode="auto">
            <a:xfrm flipV="1">
              <a:off x="5252" y="3048"/>
              <a:ext cx="217" cy="217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" name="Line 51"/>
            <p:cNvSpPr>
              <a:spLocks noChangeAspect="1" noChangeShapeType="1"/>
            </p:cNvSpPr>
            <p:nvPr/>
          </p:nvSpPr>
          <p:spPr bwMode="auto">
            <a:xfrm flipV="1">
              <a:off x="5148" y="3014"/>
              <a:ext cx="245" cy="244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" name="Line 52"/>
            <p:cNvSpPr>
              <a:spLocks noChangeAspect="1" noChangeShapeType="1"/>
            </p:cNvSpPr>
            <p:nvPr/>
          </p:nvSpPr>
          <p:spPr bwMode="auto">
            <a:xfrm flipV="1">
              <a:off x="5037" y="3014"/>
              <a:ext cx="246" cy="245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" name="Line 53"/>
            <p:cNvSpPr>
              <a:spLocks noChangeAspect="1" noChangeShapeType="1"/>
            </p:cNvSpPr>
            <p:nvPr/>
          </p:nvSpPr>
          <p:spPr bwMode="auto">
            <a:xfrm flipV="1">
              <a:off x="4911" y="3112"/>
              <a:ext cx="163" cy="163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" name="Line 54"/>
            <p:cNvSpPr>
              <a:spLocks noChangeAspect="1" noChangeShapeType="1"/>
            </p:cNvSpPr>
            <p:nvPr/>
          </p:nvSpPr>
          <p:spPr bwMode="auto">
            <a:xfrm flipV="1">
              <a:off x="4790" y="3091"/>
              <a:ext cx="195" cy="194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" name="Line 55"/>
            <p:cNvSpPr>
              <a:spLocks noChangeAspect="1" noChangeShapeType="1"/>
            </p:cNvSpPr>
            <p:nvPr/>
          </p:nvSpPr>
          <p:spPr bwMode="auto">
            <a:xfrm flipV="1">
              <a:off x="4704" y="3022"/>
              <a:ext cx="240" cy="239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" name="Line 56"/>
            <p:cNvSpPr>
              <a:spLocks noChangeAspect="1" noChangeShapeType="1"/>
            </p:cNvSpPr>
            <p:nvPr/>
          </p:nvSpPr>
          <p:spPr bwMode="auto">
            <a:xfrm flipV="1">
              <a:off x="4673" y="2967"/>
              <a:ext cx="216" cy="216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" name="Line 57"/>
            <p:cNvSpPr>
              <a:spLocks noChangeAspect="1" noChangeShapeType="1"/>
            </p:cNvSpPr>
            <p:nvPr/>
          </p:nvSpPr>
          <p:spPr bwMode="auto">
            <a:xfrm flipV="1">
              <a:off x="4681" y="2965"/>
              <a:ext cx="100" cy="100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" name="Line 58"/>
            <p:cNvSpPr>
              <a:spLocks noChangeAspect="1" noChangeShapeType="1"/>
            </p:cNvSpPr>
            <p:nvPr/>
          </p:nvSpPr>
          <p:spPr bwMode="auto">
            <a:xfrm>
              <a:off x="5181" y="3112"/>
              <a:ext cx="315" cy="1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" name="Line 59"/>
            <p:cNvSpPr>
              <a:spLocks noChangeAspect="1" noChangeShapeType="1"/>
            </p:cNvSpPr>
            <p:nvPr/>
          </p:nvSpPr>
          <p:spPr bwMode="auto">
            <a:xfrm>
              <a:off x="4923" y="2591"/>
              <a:ext cx="298" cy="1"/>
            </a:xfrm>
            <a:prstGeom prst="line">
              <a:avLst/>
            </a:prstGeom>
            <a:noFill/>
            <a:ln w="1587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" name="Freeform 60"/>
            <p:cNvSpPr>
              <a:spLocks noChangeAspect="1" noChangeArrowheads="1"/>
            </p:cNvSpPr>
            <p:nvPr/>
          </p:nvSpPr>
          <p:spPr bwMode="auto">
            <a:xfrm>
              <a:off x="4957" y="2640"/>
              <a:ext cx="55" cy="119"/>
            </a:xfrm>
            <a:custGeom>
              <a:avLst/>
              <a:gdLst>
                <a:gd name="T0" fmla="*/ 0 w 220"/>
                <a:gd name="T1" fmla="*/ 478 h 478"/>
                <a:gd name="T2" fmla="*/ 200 w 220"/>
                <a:gd name="T3" fmla="*/ 153 h 478"/>
                <a:gd name="T4" fmla="*/ 209 w 220"/>
                <a:gd name="T5" fmla="*/ 124 h 478"/>
                <a:gd name="T6" fmla="*/ 209 w 220"/>
                <a:gd name="T7" fmla="*/ 98 h 478"/>
                <a:gd name="T8" fmla="*/ 207 w 220"/>
                <a:gd name="T9" fmla="*/ 80 h 478"/>
                <a:gd name="T10" fmla="*/ 199 w 220"/>
                <a:gd name="T11" fmla="*/ 61 h 478"/>
                <a:gd name="T12" fmla="*/ 190 w 220"/>
                <a:gd name="T13" fmla="*/ 46 h 478"/>
                <a:gd name="T14" fmla="*/ 175 w 220"/>
                <a:gd name="T15" fmla="*/ 33 h 478"/>
                <a:gd name="T16" fmla="*/ 161 w 220"/>
                <a:gd name="T17" fmla="*/ 22 h 478"/>
                <a:gd name="T18" fmla="*/ 143 w 220"/>
                <a:gd name="T19" fmla="*/ 14 h 478"/>
                <a:gd name="T20" fmla="*/ 124 w 220"/>
                <a:gd name="T21" fmla="*/ 11 h 478"/>
                <a:gd name="T22" fmla="*/ 98 w 220"/>
                <a:gd name="T23" fmla="*/ 12 h 478"/>
                <a:gd name="T24" fmla="*/ 71 w 220"/>
                <a:gd name="T25" fmla="*/ 20 h 478"/>
                <a:gd name="T26" fmla="*/ 47 w 220"/>
                <a:gd name="T27" fmla="*/ 35 h 478"/>
                <a:gd name="T28" fmla="*/ 27 w 220"/>
                <a:gd name="T29" fmla="*/ 58 h 478"/>
                <a:gd name="T30" fmla="*/ 18 w 220"/>
                <a:gd name="T31" fmla="*/ 76 h 478"/>
                <a:gd name="T32" fmla="*/ 16 w 220"/>
                <a:gd name="T33" fmla="*/ 82 h 478"/>
                <a:gd name="T34" fmla="*/ 5 w 220"/>
                <a:gd name="T35" fmla="*/ 81 h 478"/>
                <a:gd name="T36" fmla="*/ 12 w 220"/>
                <a:gd name="T37" fmla="*/ 64 h 478"/>
                <a:gd name="T38" fmla="*/ 21 w 220"/>
                <a:gd name="T39" fmla="*/ 48 h 478"/>
                <a:gd name="T40" fmla="*/ 31 w 220"/>
                <a:gd name="T41" fmla="*/ 35 h 478"/>
                <a:gd name="T42" fmla="*/ 46 w 220"/>
                <a:gd name="T43" fmla="*/ 22 h 478"/>
                <a:gd name="T44" fmla="*/ 61 w 220"/>
                <a:gd name="T45" fmla="*/ 13 h 478"/>
                <a:gd name="T46" fmla="*/ 78 w 220"/>
                <a:gd name="T47" fmla="*/ 5 h 478"/>
                <a:gd name="T48" fmla="*/ 95 w 220"/>
                <a:gd name="T49" fmla="*/ 1 h 478"/>
                <a:gd name="T50" fmla="*/ 114 w 220"/>
                <a:gd name="T51" fmla="*/ 0 h 478"/>
                <a:gd name="T52" fmla="*/ 136 w 220"/>
                <a:gd name="T53" fmla="*/ 1 h 478"/>
                <a:gd name="T54" fmla="*/ 157 w 220"/>
                <a:gd name="T55" fmla="*/ 8 h 478"/>
                <a:gd name="T56" fmla="*/ 174 w 220"/>
                <a:gd name="T57" fmla="*/ 17 h 478"/>
                <a:gd name="T58" fmla="*/ 191 w 220"/>
                <a:gd name="T59" fmla="*/ 31 h 478"/>
                <a:gd name="T60" fmla="*/ 204 w 220"/>
                <a:gd name="T61" fmla="*/ 47 h 478"/>
                <a:gd name="T62" fmla="*/ 213 w 220"/>
                <a:gd name="T63" fmla="*/ 67 h 478"/>
                <a:gd name="T64" fmla="*/ 218 w 220"/>
                <a:gd name="T65" fmla="*/ 86 h 478"/>
                <a:gd name="T66" fmla="*/ 220 w 220"/>
                <a:gd name="T67" fmla="*/ 108 h 478"/>
                <a:gd name="T68" fmla="*/ 216 w 220"/>
                <a:gd name="T69" fmla="*/ 142 h 478"/>
                <a:gd name="T70" fmla="*/ 203 w 220"/>
                <a:gd name="T71" fmla="*/ 172 h 478"/>
                <a:gd name="T72" fmla="*/ 218 w 220"/>
                <a:gd name="T73" fmla="*/ 46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0" h="478">
                  <a:moveTo>
                    <a:pt x="218" y="478"/>
                  </a:moveTo>
                  <a:lnTo>
                    <a:pt x="0" y="478"/>
                  </a:lnTo>
                  <a:lnTo>
                    <a:pt x="194" y="167"/>
                  </a:lnTo>
                  <a:lnTo>
                    <a:pt x="200" y="153"/>
                  </a:lnTo>
                  <a:lnTo>
                    <a:pt x="205" y="139"/>
                  </a:lnTo>
                  <a:lnTo>
                    <a:pt x="209" y="124"/>
                  </a:lnTo>
                  <a:lnTo>
                    <a:pt x="211" y="108"/>
                  </a:lnTo>
                  <a:lnTo>
                    <a:pt x="209" y="98"/>
                  </a:lnTo>
                  <a:lnTo>
                    <a:pt x="208" y="89"/>
                  </a:lnTo>
                  <a:lnTo>
                    <a:pt x="207" y="80"/>
                  </a:lnTo>
                  <a:lnTo>
                    <a:pt x="203" y="71"/>
                  </a:lnTo>
                  <a:lnTo>
                    <a:pt x="199" y="61"/>
                  </a:lnTo>
                  <a:lnTo>
                    <a:pt x="195" y="54"/>
                  </a:lnTo>
                  <a:lnTo>
                    <a:pt x="190" y="46"/>
                  </a:lnTo>
                  <a:lnTo>
                    <a:pt x="183" y="39"/>
                  </a:lnTo>
                  <a:lnTo>
                    <a:pt x="175" y="33"/>
                  </a:lnTo>
                  <a:lnTo>
                    <a:pt x="169" y="26"/>
                  </a:lnTo>
                  <a:lnTo>
                    <a:pt x="161" y="22"/>
                  </a:lnTo>
                  <a:lnTo>
                    <a:pt x="152" y="17"/>
                  </a:lnTo>
                  <a:lnTo>
                    <a:pt x="143" y="14"/>
                  </a:lnTo>
                  <a:lnTo>
                    <a:pt x="133" y="12"/>
                  </a:lnTo>
                  <a:lnTo>
                    <a:pt x="124" y="11"/>
                  </a:lnTo>
                  <a:lnTo>
                    <a:pt x="114" y="11"/>
                  </a:lnTo>
                  <a:lnTo>
                    <a:pt x="98" y="12"/>
                  </a:lnTo>
                  <a:lnTo>
                    <a:pt x="84" y="14"/>
                  </a:lnTo>
                  <a:lnTo>
                    <a:pt x="71" y="20"/>
                  </a:lnTo>
                  <a:lnTo>
                    <a:pt x="58" y="26"/>
                  </a:lnTo>
                  <a:lnTo>
                    <a:pt x="47" y="35"/>
                  </a:lnTo>
                  <a:lnTo>
                    <a:pt x="37" y="46"/>
                  </a:lnTo>
                  <a:lnTo>
                    <a:pt x="27" y="58"/>
                  </a:lnTo>
                  <a:lnTo>
                    <a:pt x="20" y="73"/>
                  </a:lnTo>
                  <a:lnTo>
                    <a:pt x="18" y="76"/>
                  </a:lnTo>
                  <a:lnTo>
                    <a:pt x="17" y="78"/>
                  </a:lnTo>
                  <a:lnTo>
                    <a:pt x="16" y="82"/>
                  </a:lnTo>
                  <a:lnTo>
                    <a:pt x="14" y="84"/>
                  </a:lnTo>
                  <a:lnTo>
                    <a:pt x="5" y="81"/>
                  </a:lnTo>
                  <a:lnTo>
                    <a:pt x="8" y="72"/>
                  </a:lnTo>
                  <a:lnTo>
                    <a:pt x="12" y="64"/>
                  </a:lnTo>
                  <a:lnTo>
                    <a:pt x="16" y="56"/>
                  </a:lnTo>
                  <a:lnTo>
                    <a:pt x="21" y="48"/>
                  </a:lnTo>
                  <a:lnTo>
                    <a:pt x="26" y="42"/>
                  </a:lnTo>
                  <a:lnTo>
                    <a:pt x="31" y="35"/>
                  </a:lnTo>
                  <a:lnTo>
                    <a:pt x="39" y="29"/>
                  </a:lnTo>
                  <a:lnTo>
                    <a:pt x="46" y="22"/>
                  </a:lnTo>
                  <a:lnTo>
                    <a:pt x="54" y="17"/>
                  </a:lnTo>
                  <a:lnTo>
                    <a:pt x="61" y="13"/>
                  </a:lnTo>
                  <a:lnTo>
                    <a:pt x="69" y="9"/>
                  </a:lnTo>
                  <a:lnTo>
                    <a:pt x="78" y="5"/>
                  </a:lnTo>
                  <a:lnTo>
                    <a:pt x="86" y="3"/>
                  </a:lnTo>
                  <a:lnTo>
                    <a:pt x="95" y="1"/>
                  </a:lnTo>
                  <a:lnTo>
                    <a:pt x="105" y="0"/>
                  </a:lnTo>
                  <a:lnTo>
                    <a:pt x="114" y="0"/>
                  </a:lnTo>
                  <a:lnTo>
                    <a:pt x="126" y="0"/>
                  </a:lnTo>
                  <a:lnTo>
                    <a:pt x="136" y="1"/>
                  </a:lnTo>
                  <a:lnTo>
                    <a:pt x="146" y="4"/>
                  </a:lnTo>
                  <a:lnTo>
                    <a:pt x="157" y="8"/>
                  </a:lnTo>
                  <a:lnTo>
                    <a:pt x="166" y="12"/>
                  </a:lnTo>
                  <a:lnTo>
                    <a:pt x="174" y="17"/>
                  </a:lnTo>
                  <a:lnTo>
                    <a:pt x="183" y="24"/>
                  </a:lnTo>
                  <a:lnTo>
                    <a:pt x="191" y="31"/>
                  </a:lnTo>
                  <a:lnTo>
                    <a:pt x="197" y="39"/>
                  </a:lnTo>
                  <a:lnTo>
                    <a:pt x="204" y="47"/>
                  </a:lnTo>
                  <a:lnTo>
                    <a:pt x="208" y="56"/>
                  </a:lnTo>
                  <a:lnTo>
                    <a:pt x="213" y="67"/>
                  </a:lnTo>
                  <a:lnTo>
                    <a:pt x="216" y="76"/>
                  </a:lnTo>
                  <a:lnTo>
                    <a:pt x="218" y="86"/>
                  </a:lnTo>
                  <a:lnTo>
                    <a:pt x="220" y="97"/>
                  </a:lnTo>
                  <a:lnTo>
                    <a:pt x="220" y="108"/>
                  </a:lnTo>
                  <a:lnTo>
                    <a:pt x="218" y="125"/>
                  </a:lnTo>
                  <a:lnTo>
                    <a:pt x="216" y="142"/>
                  </a:lnTo>
                  <a:lnTo>
                    <a:pt x="211" y="158"/>
                  </a:lnTo>
                  <a:lnTo>
                    <a:pt x="203" y="172"/>
                  </a:lnTo>
                  <a:lnTo>
                    <a:pt x="20" y="469"/>
                  </a:lnTo>
                  <a:lnTo>
                    <a:pt x="218" y="469"/>
                  </a:lnTo>
                  <a:lnTo>
                    <a:pt x="218" y="478"/>
                  </a:lnTo>
                  <a:close/>
                </a:path>
              </a:pathLst>
            </a:custGeom>
            <a:solidFill>
              <a:srgbClr val="1F1A17"/>
            </a:solidFill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0" name="Freeform 61"/>
            <p:cNvSpPr>
              <a:spLocks noChangeAspect="1" noEditPoints="1" noChangeArrowheads="1"/>
            </p:cNvSpPr>
            <p:nvPr/>
          </p:nvSpPr>
          <p:spPr bwMode="auto">
            <a:xfrm>
              <a:off x="5060" y="2693"/>
              <a:ext cx="3" cy="52"/>
            </a:xfrm>
            <a:custGeom>
              <a:avLst/>
              <a:gdLst>
                <a:gd name="T0" fmla="*/ 10 w 10"/>
                <a:gd name="T1" fmla="*/ 26 h 209"/>
                <a:gd name="T2" fmla="*/ 0 w 10"/>
                <a:gd name="T3" fmla="*/ 26 h 209"/>
                <a:gd name="T4" fmla="*/ 0 w 10"/>
                <a:gd name="T5" fmla="*/ 0 h 209"/>
                <a:gd name="T6" fmla="*/ 10 w 10"/>
                <a:gd name="T7" fmla="*/ 0 h 209"/>
                <a:gd name="T8" fmla="*/ 10 w 10"/>
                <a:gd name="T9" fmla="*/ 26 h 209"/>
                <a:gd name="T10" fmla="*/ 10 w 10"/>
                <a:gd name="T11" fmla="*/ 209 h 209"/>
                <a:gd name="T12" fmla="*/ 0 w 10"/>
                <a:gd name="T13" fmla="*/ 209 h 209"/>
                <a:gd name="T14" fmla="*/ 0 w 10"/>
                <a:gd name="T15" fmla="*/ 183 h 209"/>
                <a:gd name="T16" fmla="*/ 10 w 10"/>
                <a:gd name="T17" fmla="*/ 183 h 209"/>
                <a:gd name="T18" fmla="*/ 10 w 10"/>
                <a:gd name="T19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209">
                  <a:moveTo>
                    <a:pt x="10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26"/>
                  </a:lnTo>
                  <a:close/>
                  <a:moveTo>
                    <a:pt x="10" y="209"/>
                  </a:moveTo>
                  <a:lnTo>
                    <a:pt x="0" y="209"/>
                  </a:lnTo>
                  <a:lnTo>
                    <a:pt x="0" y="183"/>
                  </a:lnTo>
                  <a:lnTo>
                    <a:pt x="10" y="183"/>
                  </a:lnTo>
                  <a:lnTo>
                    <a:pt x="10" y="209"/>
                  </a:lnTo>
                  <a:close/>
                </a:path>
              </a:pathLst>
            </a:custGeom>
            <a:solidFill>
              <a:srgbClr val="1F1A17"/>
            </a:solidFill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1" name="Freeform 62"/>
            <p:cNvSpPr>
              <a:spLocks noChangeAspect="1" noChangeArrowheads="1"/>
            </p:cNvSpPr>
            <p:nvPr/>
          </p:nvSpPr>
          <p:spPr bwMode="auto">
            <a:xfrm>
              <a:off x="5110" y="2641"/>
              <a:ext cx="28" cy="118"/>
            </a:xfrm>
            <a:custGeom>
              <a:avLst/>
              <a:gdLst>
                <a:gd name="T0" fmla="*/ 112 w 112"/>
                <a:gd name="T1" fmla="*/ 469 h 469"/>
                <a:gd name="T2" fmla="*/ 102 w 112"/>
                <a:gd name="T3" fmla="*/ 469 h 469"/>
                <a:gd name="T4" fmla="*/ 102 w 112"/>
                <a:gd name="T5" fmla="*/ 13 h 469"/>
                <a:gd name="T6" fmla="*/ 6 w 112"/>
                <a:gd name="T7" fmla="*/ 109 h 469"/>
                <a:gd name="T8" fmla="*/ 0 w 112"/>
                <a:gd name="T9" fmla="*/ 101 h 469"/>
                <a:gd name="T10" fmla="*/ 101 w 112"/>
                <a:gd name="T11" fmla="*/ 0 h 469"/>
                <a:gd name="T12" fmla="*/ 112 w 112"/>
                <a:gd name="T13" fmla="*/ 0 h 469"/>
                <a:gd name="T14" fmla="*/ 112 w 112"/>
                <a:gd name="T15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2" h="469">
                  <a:moveTo>
                    <a:pt x="112" y="469"/>
                  </a:moveTo>
                  <a:lnTo>
                    <a:pt x="102" y="469"/>
                  </a:lnTo>
                  <a:lnTo>
                    <a:pt x="102" y="13"/>
                  </a:lnTo>
                  <a:lnTo>
                    <a:pt x="6" y="109"/>
                  </a:lnTo>
                  <a:lnTo>
                    <a:pt x="0" y="101"/>
                  </a:lnTo>
                  <a:lnTo>
                    <a:pt x="101" y="0"/>
                  </a:lnTo>
                  <a:lnTo>
                    <a:pt x="112" y="0"/>
                  </a:lnTo>
                  <a:lnTo>
                    <a:pt x="112" y="469"/>
                  </a:lnTo>
                  <a:close/>
                </a:path>
              </a:pathLst>
            </a:custGeom>
            <a:solidFill>
              <a:srgbClr val="1F1A17"/>
            </a:solidFill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2" name="Freeform 63"/>
            <p:cNvSpPr>
              <a:spLocks noChangeAspect="1" noChangeArrowheads="1"/>
            </p:cNvSpPr>
            <p:nvPr/>
          </p:nvSpPr>
          <p:spPr bwMode="auto">
            <a:xfrm>
              <a:off x="4957" y="2640"/>
              <a:ext cx="55" cy="119"/>
            </a:xfrm>
            <a:custGeom>
              <a:avLst/>
              <a:gdLst>
                <a:gd name="T0" fmla="*/ 0 w 220"/>
                <a:gd name="T1" fmla="*/ 478 h 478"/>
                <a:gd name="T2" fmla="*/ 200 w 220"/>
                <a:gd name="T3" fmla="*/ 153 h 478"/>
                <a:gd name="T4" fmla="*/ 209 w 220"/>
                <a:gd name="T5" fmla="*/ 124 h 478"/>
                <a:gd name="T6" fmla="*/ 209 w 220"/>
                <a:gd name="T7" fmla="*/ 98 h 478"/>
                <a:gd name="T8" fmla="*/ 207 w 220"/>
                <a:gd name="T9" fmla="*/ 80 h 478"/>
                <a:gd name="T10" fmla="*/ 199 w 220"/>
                <a:gd name="T11" fmla="*/ 61 h 478"/>
                <a:gd name="T12" fmla="*/ 190 w 220"/>
                <a:gd name="T13" fmla="*/ 46 h 478"/>
                <a:gd name="T14" fmla="*/ 175 w 220"/>
                <a:gd name="T15" fmla="*/ 33 h 478"/>
                <a:gd name="T16" fmla="*/ 161 w 220"/>
                <a:gd name="T17" fmla="*/ 22 h 478"/>
                <a:gd name="T18" fmla="*/ 143 w 220"/>
                <a:gd name="T19" fmla="*/ 14 h 478"/>
                <a:gd name="T20" fmla="*/ 124 w 220"/>
                <a:gd name="T21" fmla="*/ 11 h 478"/>
                <a:gd name="T22" fmla="*/ 98 w 220"/>
                <a:gd name="T23" fmla="*/ 12 h 478"/>
                <a:gd name="T24" fmla="*/ 71 w 220"/>
                <a:gd name="T25" fmla="*/ 20 h 478"/>
                <a:gd name="T26" fmla="*/ 47 w 220"/>
                <a:gd name="T27" fmla="*/ 35 h 478"/>
                <a:gd name="T28" fmla="*/ 27 w 220"/>
                <a:gd name="T29" fmla="*/ 58 h 478"/>
                <a:gd name="T30" fmla="*/ 18 w 220"/>
                <a:gd name="T31" fmla="*/ 76 h 478"/>
                <a:gd name="T32" fmla="*/ 16 w 220"/>
                <a:gd name="T33" fmla="*/ 82 h 478"/>
                <a:gd name="T34" fmla="*/ 5 w 220"/>
                <a:gd name="T35" fmla="*/ 81 h 478"/>
                <a:gd name="T36" fmla="*/ 12 w 220"/>
                <a:gd name="T37" fmla="*/ 64 h 478"/>
                <a:gd name="T38" fmla="*/ 21 w 220"/>
                <a:gd name="T39" fmla="*/ 48 h 478"/>
                <a:gd name="T40" fmla="*/ 31 w 220"/>
                <a:gd name="T41" fmla="*/ 35 h 478"/>
                <a:gd name="T42" fmla="*/ 46 w 220"/>
                <a:gd name="T43" fmla="*/ 22 h 478"/>
                <a:gd name="T44" fmla="*/ 61 w 220"/>
                <a:gd name="T45" fmla="*/ 13 h 478"/>
                <a:gd name="T46" fmla="*/ 78 w 220"/>
                <a:gd name="T47" fmla="*/ 5 h 478"/>
                <a:gd name="T48" fmla="*/ 95 w 220"/>
                <a:gd name="T49" fmla="*/ 1 h 478"/>
                <a:gd name="T50" fmla="*/ 114 w 220"/>
                <a:gd name="T51" fmla="*/ 0 h 478"/>
                <a:gd name="T52" fmla="*/ 136 w 220"/>
                <a:gd name="T53" fmla="*/ 1 h 478"/>
                <a:gd name="T54" fmla="*/ 157 w 220"/>
                <a:gd name="T55" fmla="*/ 8 h 478"/>
                <a:gd name="T56" fmla="*/ 174 w 220"/>
                <a:gd name="T57" fmla="*/ 17 h 478"/>
                <a:gd name="T58" fmla="*/ 191 w 220"/>
                <a:gd name="T59" fmla="*/ 31 h 478"/>
                <a:gd name="T60" fmla="*/ 204 w 220"/>
                <a:gd name="T61" fmla="*/ 47 h 478"/>
                <a:gd name="T62" fmla="*/ 213 w 220"/>
                <a:gd name="T63" fmla="*/ 67 h 478"/>
                <a:gd name="T64" fmla="*/ 218 w 220"/>
                <a:gd name="T65" fmla="*/ 86 h 478"/>
                <a:gd name="T66" fmla="*/ 220 w 220"/>
                <a:gd name="T67" fmla="*/ 108 h 478"/>
                <a:gd name="T68" fmla="*/ 216 w 220"/>
                <a:gd name="T69" fmla="*/ 142 h 478"/>
                <a:gd name="T70" fmla="*/ 203 w 220"/>
                <a:gd name="T71" fmla="*/ 172 h 478"/>
                <a:gd name="T72" fmla="*/ 218 w 220"/>
                <a:gd name="T73" fmla="*/ 469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0" h="478">
                  <a:moveTo>
                    <a:pt x="218" y="478"/>
                  </a:moveTo>
                  <a:lnTo>
                    <a:pt x="0" y="478"/>
                  </a:lnTo>
                  <a:lnTo>
                    <a:pt x="194" y="167"/>
                  </a:lnTo>
                  <a:lnTo>
                    <a:pt x="200" y="153"/>
                  </a:lnTo>
                  <a:lnTo>
                    <a:pt x="205" y="139"/>
                  </a:lnTo>
                  <a:lnTo>
                    <a:pt x="209" y="124"/>
                  </a:lnTo>
                  <a:lnTo>
                    <a:pt x="211" y="108"/>
                  </a:lnTo>
                  <a:lnTo>
                    <a:pt x="209" y="98"/>
                  </a:lnTo>
                  <a:lnTo>
                    <a:pt x="208" y="89"/>
                  </a:lnTo>
                  <a:lnTo>
                    <a:pt x="207" y="80"/>
                  </a:lnTo>
                  <a:lnTo>
                    <a:pt x="203" y="71"/>
                  </a:lnTo>
                  <a:lnTo>
                    <a:pt x="199" y="61"/>
                  </a:lnTo>
                  <a:lnTo>
                    <a:pt x="195" y="54"/>
                  </a:lnTo>
                  <a:lnTo>
                    <a:pt x="190" y="46"/>
                  </a:lnTo>
                  <a:lnTo>
                    <a:pt x="183" y="39"/>
                  </a:lnTo>
                  <a:lnTo>
                    <a:pt x="175" y="33"/>
                  </a:lnTo>
                  <a:lnTo>
                    <a:pt x="169" y="26"/>
                  </a:lnTo>
                  <a:lnTo>
                    <a:pt x="161" y="22"/>
                  </a:lnTo>
                  <a:lnTo>
                    <a:pt x="152" y="17"/>
                  </a:lnTo>
                  <a:lnTo>
                    <a:pt x="143" y="14"/>
                  </a:lnTo>
                  <a:lnTo>
                    <a:pt x="133" y="12"/>
                  </a:lnTo>
                  <a:lnTo>
                    <a:pt x="124" y="11"/>
                  </a:lnTo>
                  <a:lnTo>
                    <a:pt x="114" y="11"/>
                  </a:lnTo>
                  <a:lnTo>
                    <a:pt x="98" y="12"/>
                  </a:lnTo>
                  <a:lnTo>
                    <a:pt x="84" y="14"/>
                  </a:lnTo>
                  <a:lnTo>
                    <a:pt x="71" y="20"/>
                  </a:lnTo>
                  <a:lnTo>
                    <a:pt x="58" y="26"/>
                  </a:lnTo>
                  <a:lnTo>
                    <a:pt x="47" y="35"/>
                  </a:lnTo>
                  <a:lnTo>
                    <a:pt x="37" y="46"/>
                  </a:lnTo>
                  <a:lnTo>
                    <a:pt x="27" y="58"/>
                  </a:lnTo>
                  <a:lnTo>
                    <a:pt x="20" y="73"/>
                  </a:lnTo>
                  <a:lnTo>
                    <a:pt x="18" y="76"/>
                  </a:lnTo>
                  <a:lnTo>
                    <a:pt x="17" y="78"/>
                  </a:lnTo>
                  <a:lnTo>
                    <a:pt x="16" y="82"/>
                  </a:lnTo>
                  <a:lnTo>
                    <a:pt x="14" y="84"/>
                  </a:lnTo>
                  <a:lnTo>
                    <a:pt x="5" y="81"/>
                  </a:lnTo>
                  <a:lnTo>
                    <a:pt x="8" y="72"/>
                  </a:lnTo>
                  <a:lnTo>
                    <a:pt x="12" y="64"/>
                  </a:lnTo>
                  <a:lnTo>
                    <a:pt x="16" y="56"/>
                  </a:lnTo>
                  <a:lnTo>
                    <a:pt x="21" y="48"/>
                  </a:lnTo>
                  <a:lnTo>
                    <a:pt x="26" y="42"/>
                  </a:lnTo>
                  <a:lnTo>
                    <a:pt x="31" y="35"/>
                  </a:lnTo>
                  <a:lnTo>
                    <a:pt x="39" y="29"/>
                  </a:lnTo>
                  <a:lnTo>
                    <a:pt x="46" y="22"/>
                  </a:lnTo>
                  <a:lnTo>
                    <a:pt x="54" y="17"/>
                  </a:lnTo>
                  <a:lnTo>
                    <a:pt x="61" y="13"/>
                  </a:lnTo>
                  <a:lnTo>
                    <a:pt x="69" y="9"/>
                  </a:lnTo>
                  <a:lnTo>
                    <a:pt x="78" y="5"/>
                  </a:lnTo>
                  <a:lnTo>
                    <a:pt x="86" y="3"/>
                  </a:lnTo>
                  <a:lnTo>
                    <a:pt x="95" y="1"/>
                  </a:lnTo>
                  <a:lnTo>
                    <a:pt x="105" y="0"/>
                  </a:lnTo>
                  <a:lnTo>
                    <a:pt x="114" y="0"/>
                  </a:lnTo>
                  <a:lnTo>
                    <a:pt x="126" y="0"/>
                  </a:lnTo>
                  <a:lnTo>
                    <a:pt x="136" y="1"/>
                  </a:lnTo>
                  <a:lnTo>
                    <a:pt x="146" y="4"/>
                  </a:lnTo>
                  <a:lnTo>
                    <a:pt x="157" y="8"/>
                  </a:lnTo>
                  <a:lnTo>
                    <a:pt x="166" y="12"/>
                  </a:lnTo>
                  <a:lnTo>
                    <a:pt x="174" y="17"/>
                  </a:lnTo>
                  <a:lnTo>
                    <a:pt x="183" y="24"/>
                  </a:lnTo>
                  <a:lnTo>
                    <a:pt x="191" y="31"/>
                  </a:lnTo>
                  <a:lnTo>
                    <a:pt x="197" y="39"/>
                  </a:lnTo>
                  <a:lnTo>
                    <a:pt x="204" y="47"/>
                  </a:lnTo>
                  <a:lnTo>
                    <a:pt x="208" y="56"/>
                  </a:lnTo>
                  <a:lnTo>
                    <a:pt x="213" y="67"/>
                  </a:lnTo>
                  <a:lnTo>
                    <a:pt x="216" y="76"/>
                  </a:lnTo>
                  <a:lnTo>
                    <a:pt x="218" y="86"/>
                  </a:lnTo>
                  <a:lnTo>
                    <a:pt x="220" y="97"/>
                  </a:lnTo>
                  <a:lnTo>
                    <a:pt x="220" y="108"/>
                  </a:lnTo>
                  <a:lnTo>
                    <a:pt x="218" y="125"/>
                  </a:lnTo>
                  <a:lnTo>
                    <a:pt x="216" y="142"/>
                  </a:lnTo>
                  <a:lnTo>
                    <a:pt x="211" y="158"/>
                  </a:lnTo>
                  <a:lnTo>
                    <a:pt x="203" y="172"/>
                  </a:lnTo>
                  <a:lnTo>
                    <a:pt x="20" y="469"/>
                  </a:lnTo>
                  <a:lnTo>
                    <a:pt x="218" y="469"/>
                  </a:lnTo>
                  <a:lnTo>
                    <a:pt x="218" y="478"/>
                  </a:lnTo>
                </a:path>
              </a:pathLst>
            </a:custGeom>
            <a:noFill/>
            <a:ln w="63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3" name="Rectangle 64"/>
            <p:cNvSpPr>
              <a:spLocks noChangeAspect="1" noChangeArrowheads="1"/>
            </p:cNvSpPr>
            <p:nvPr/>
          </p:nvSpPr>
          <p:spPr bwMode="auto">
            <a:xfrm>
              <a:off x="5060" y="2693"/>
              <a:ext cx="3" cy="7"/>
            </a:xfrm>
            <a:prstGeom prst="rect">
              <a:avLst/>
            </a:prstGeom>
            <a:noFill/>
            <a:ln w="6350">
              <a:solidFill>
                <a:srgbClr val="FF33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4" name="Rectangle 65"/>
            <p:cNvSpPr>
              <a:spLocks noChangeAspect="1" noChangeArrowheads="1"/>
            </p:cNvSpPr>
            <p:nvPr/>
          </p:nvSpPr>
          <p:spPr bwMode="auto">
            <a:xfrm>
              <a:off x="5060" y="2739"/>
              <a:ext cx="3" cy="6"/>
            </a:xfrm>
            <a:prstGeom prst="rect">
              <a:avLst/>
            </a:prstGeom>
            <a:noFill/>
            <a:ln w="6350">
              <a:solidFill>
                <a:srgbClr val="FF33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5" name="Freeform 66"/>
            <p:cNvSpPr>
              <a:spLocks noChangeAspect="1" noChangeArrowheads="1"/>
            </p:cNvSpPr>
            <p:nvPr/>
          </p:nvSpPr>
          <p:spPr bwMode="auto">
            <a:xfrm>
              <a:off x="5110" y="2641"/>
              <a:ext cx="28" cy="118"/>
            </a:xfrm>
            <a:custGeom>
              <a:avLst/>
              <a:gdLst>
                <a:gd name="T0" fmla="*/ 112 w 112"/>
                <a:gd name="T1" fmla="*/ 469 h 469"/>
                <a:gd name="T2" fmla="*/ 102 w 112"/>
                <a:gd name="T3" fmla="*/ 469 h 469"/>
                <a:gd name="T4" fmla="*/ 102 w 112"/>
                <a:gd name="T5" fmla="*/ 13 h 469"/>
                <a:gd name="T6" fmla="*/ 6 w 112"/>
                <a:gd name="T7" fmla="*/ 109 h 469"/>
                <a:gd name="T8" fmla="*/ 0 w 112"/>
                <a:gd name="T9" fmla="*/ 101 h 469"/>
                <a:gd name="T10" fmla="*/ 101 w 112"/>
                <a:gd name="T11" fmla="*/ 0 h 469"/>
                <a:gd name="T12" fmla="*/ 112 w 112"/>
                <a:gd name="T13" fmla="*/ 0 h 469"/>
                <a:gd name="T14" fmla="*/ 112 w 112"/>
                <a:gd name="T15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2" h="469">
                  <a:moveTo>
                    <a:pt x="112" y="469"/>
                  </a:moveTo>
                  <a:lnTo>
                    <a:pt x="102" y="469"/>
                  </a:lnTo>
                  <a:lnTo>
                    <a:pt x="102" y="13"/>
                  </a:lnTo>
                  <a:lnTo>
                    <a:pt x="6" y="109"/>
                  </a:lnTo>
                  <a:lnTo>
                    <a:pt x="0" y="101"/>
                  </a:lnTo>
                  <a:lnTo>
                    <a:pt x="101" y="0"/>
                  </a:lnTo>
                  <a:lnTo>
                    <a:pt x="112" y="0"/>
                  </a:lnTo>
                  <a:lnTo>
                    <a:pt x="112" y="469"/>
                  </a:lnTo>
                  <a:close/>
                </a:path>
              </a:pathLst>
            </a:custGeom>
            <a:noFill/>
            <a:ln w="63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6" name="Rectangle 67"/>
            <p:cNvSpPr>
              <a:spLocks noChangeAspect="1" noChangeArrowheads="1"/>
            </p:cNvSpPr>
            <p:nvPr/>
          </p:nvSpPr>
          <p:spPr bwMode="auto">
            <a:xfrm>
              <a:off x="5022" y="2387"/>
              <a:ext cx="78" cy="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2000" i="1">
                  <a:solidFill>
                    <a:srgbClr val="FF3300"/>
                  </a:solidFill>
                  <a:latin typeface="Book Antiqua" panose="02040602050305030304" pitchFamily="18" charset="0"/>
                </a:rPr>
                <a:t>I</a:t>
              </a:r>
              <a:endParaRPr lang="en-US" altLang="zh-CN" sz="2000" i="1">
                <a:solidFill>
                  <a:srgbClr val="FF3300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87" name="Group 68"/>
          <p:cNvGrpSpPr>
            <a:grpSpLocks/>
          </p:cNvGrpSpPr>
          <p:nvPr/>
        </p:nvGrpSpPr>
        <p:grpSpPr bwMode="auto">
          <a:xfrm>
            <a:off x="2789381" y="2503880"/>
            <a:ext cx="6643688" cy="3770313"/>
            <a:chOff x="736" y="872"/>
            <a:chExt cx="4185" cy="2375"/>
          </a:xfrm>
        </p:grpSpPr>
        <p:grpSp>
          <p:nvGrpSpPr>
            <p:cNvPr id="88" name="Group 69"/>
            <p:cNvGrpSpPr>
              <a:grpSpLocks noChangeAspect="1"/>
            </p:cNvGrpSpPr>
            <p:nvPr/>
          </p:nvGrpSpPr>
          <p:grpSpPr bwMode="auto">
            <a:xfrm>
              <a:off x="1749" y="2268"/>
              <a:ext cx="892" cy="979"/>
              <a:chOff x="1603" y="2418"/>
              <a:chExt cx="1114" cy="1224"/>
            </a:xfrm>
          </p:grpSpPr>
          <p:sp>
            <p:nvSpPr>
              <p:cNvPr id="304" name="Rectangle 70"/>
              <p:cNvSpPr>
                <a:spLocks noChangeAspect="1" noChangeArrowheads="1"/>
              </p:cNvSpPr>
              <p:nvPr/>
            </p:nvSpPr>
            <p:spPr bwMode="auto">
              <a:xfrm>
                <a:off x="2207" y="2418"/>
                <a:ext cx="10" cy="250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5" name="Rectangle 71"/>
              <p:cNvSpPr>
                <a:spLocks noChangeAspect="1" noChangeArrowheads="1"/>
              </p:cNvSpPr>
              <p:nvPr/>
            </p:nvSpPr>
            <p:spPr bwMode="auto">
              <a:xfrm>
                <a:off x="2207" y="2698"/>
                <a:ext cx="10" cy="30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6" name="Rectangle 72"/>
              <p:cNvSpPr>
                <a:spLocks noChangeAspect="1" noChangeArrowheads="1"/>
              </p:cNvSpPr>
              <p:nvPr/>
            </p:nvSpPr>
            <p:spPr bwMode="auto">
              <a:xfrm>
                <a:off x="2207" y="2758"/>
                <a:ext cx="10" cy="250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7" name="Rectangle 73"/>
              <p:cNvSpPr>
                <a:spLocks noChangeAspect="1" noChangeArrowheads="1"/>
              </p:cNvSpPr>
              <p:nvPr/>
            </p:nvSpPr>
            <p:spPr bwMode="auto">
              <a:xfrm>
                <a:off x="2207" y="3038"/>
                <a:ext cx="10" cy="30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8" name="Rectangle 74"/>
              <p:cNvSpPr>
                <a:spLocks noChangeAspect="1" noChangeArrowheads="1"/>
              </p:cNvSpPr>
              <p:nvPr/>
            </p:nvSpPr>
            <p:spPr bwMode="auto">
              <a:xfrm>
                <a:off x="2207" y="3098"/>
                <a:ext cx="10" cy="251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9" name="Rectangle 75"/>
              <p:cNvSpPr>
                <a:spLocks noChangeAspect="1" noChangeArrowheads="1"/>
              </p:cNvSpPr>
              <p:nvPr/>
            </p:nvSpPr>
            <p:spPr bwMode="auto">
              <a:xfrm>
                <a:off x="2207" y="3379"/>
                <a:ext cx="10" cy="30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0" name="Rectangle 76"/>
              <p:cNvSpPr>
                <a:spLocks noChangeAspect="1" noChangeArrowheads="1"/>
              </p:cNvSpPr>
              <p:nvPr/>
            </p:nvSpPr>
            <p:spPr bwMode="auto">
              <a:xfrm>
                <a:off x="2207" y="3439"/>
                <a:ext cx="10" cy="203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1" name="Rectangle 77"/>
              <p:cNvSpPr>
                <a:spLocks noChangeAspect="1" noChangeArrowheads="1"/>
              </p:cNvSpPr>
              <p:nvPr/>
            </p:nvSpPr>
            <p:spPr bwMode="auto">
              <a:xfrm>
                <a:off x="2466" y="3064"/>
                <a:ext cx="251" cy="9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2" name="Rectangle 78"/>
              <p:cNvSpPr>
                <a:spLocks noChangeAspect="1" noChangeArrowheads="1"/>
              </p:cNvSpPr>
              <p:nvPr/>
            </p:nvSpPr>
            <p:spPr bwMode="auto">
              <a:xfrm>
                <a:off x="2406" y="3064"/>
                <a:ext cx="30" cy="9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3" name="Rectangle 79"/>
              <p:cNvSpPr>
                <a:spLocks noChangeAspect="1" noChangeArrowheads="1"/>
              </p:cNvSpPr>
              <p:nvPr/>
            </p:nvSpPr>
            <p:spPr bwMode="auto">
              <a:xfrm>
                <a:off x="2125" y="3064"/>
                <a:ext cx="251" cy="9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4" name="Rectangle 80"/>
              <p:cNvSpPr>
                <a:spLocks noChangeAspect="1" noChangeArrowheads="1"/>
              </p:cNvSpPr>
              <p:nvPr/>
            </p:nvSpPr>
            <p:spPr bwMode="auto">
              <a:xfrm>
                <a:off x="2065" y="3064"/>
                <a:ext cx="30" cy="9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5" name="Rectangle 81"/>
              <p:cNvSpPr>
                <a:spLocks noChangeAspect="1" noChangeArrowheads="1"/>
              </p:cNvSpPr>
              <p:nvPr/>
            </p:nvSpPr>
            <p:spPr bwMode="auto">
              <a:xfrm>
                <a:off x="1784" y="3064"/>
                <a:ext cx="251" cy="9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6" name="Rectangle 82"/>
              <p:cNvSpPr>
                <a:spLocks noChangeAspect="1" noChangeArrowheads="1"/>
              </p:cNvSpPr>
              <p:nvPr/>
            </p:nvSpPr>
            <p:spPr bwMode="auto">
              <a:xfrm>
                <a:off x="1724" y="3064"/>
                <a:ext cx="30" cy="9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7" name="Rectangle 83"/>
              <p:cNvSpPr>
                <a:spLocks noChangeAspect="1" noChangeArrowheads="1"/>
              </p:cNvSpPr>
              <p:nvPr/>
            </p:nvSpPr>
            <p:spPr bwMode="auto">
              <a:xfrm>
                <a:off x="1603" y="3064"/>
                <a:ext cx="91" cy="9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8" name="Freeform 84"/>
              <p:cNvSpPr>
                <a:spLocks noChangeAspect="1" noChangeArrowheads="1"/>
              </p:cNvSpPr>
              <p:nvPr/>
            </p:nvSpPr>
            <p:spPr bwMode="auto">
              <a:xfrm>
                <a:off x="2212" y="2565"/>
                <a:ext cx="468" cy="325"/>
              </a:xfrm>
              <a:custGeom>
                <a:avLst/>
                <a:gdLst>
                  <a:gd name="T0" fmla="*/ 0 w 1870"/>
                  <a:gd name="T1" fmla="*/ 113 h 1302"/>
                  <a:gd name="T2" fmla="*/ 73 w 1870"/>
                  <a:gd name="T3" fmla="*/ 114 h 1302"/>
                  <a:gd name="T4" fmla="*/ 145 w 1870"/>
                  <a:gd name="T5" fmla="*/ 118 h 1302"/>
                  <a:gd name="T6" fmla="*/ 216 w 1870"/>
                  <a:gd name="T7" fmla="*/ 125 h 1302"/>
                  <a:gd name="T8" fmla="*/ 286 w 1870"/>
                  <a:gd name="T9" fmla="*/ 135 h 1302"/>
                  <a:gd name="T10" fmla="*/ 357 w 1870"/>
                  <a:gd name="T11" fmla="*/ 147 h 1302"/>
                  <a:gd name="T12" fmla="*/ 426 w 1870"/>
                  <a:gd name="T13" fmla="*/ 161 h 1302"/>
                  <a:gd name="T14" fmla="*/ 494 w 1870"/>
                  <a:gd name="T15" fmla="*/ 178 h 1302"/>
                  <a:gd name="T16" fmla="*/ 562 w 1870"/>
                  <a:gd name="T17" fmla="*/ 198 h 1302"/>
                  <a:gd name="T18" fmla="*/ 628 w 1870"/>
                  <a:gd name="T19" fmla="*/ 220 h 1302"/>
                  <a:gd name="T20" fmla="*/ 693 w 1870"/>
                  <a:gd name="T21" fmla="*/ 245 h 1302"/>
                  <a:gd name="T22" fmla="*/ 823 w 1870"/>
                  <a:gd name="T23" fmla="*/ 301 h 1302"/>
                  <a:gd name="T24" fmla="*/ 946 w 1870"/>
                  <a:gd name="T25" fmla="*/ 366 h 1302"/>
                  <a:gd name="T26" fmla="*/ 1065 w 1870"/>
                  <a:gd name="T27" fmla="*/ 440 h 1302"/>
                  <a:gd name="T28" fmla="*/ 1177 w 1870"/>
                  <a:gd name="T29" fmla="*/ 522 h 1302"/>
                  <a:gd name="T30" fmla="*/ 1283 w 1870"/>
                  <a:gd name="T31" fmla="*/ 612 h 1302"/>
                  <a:gd name="T32" fmla="*/ 1383 w 1870"/>
                  <a:gd name="T33" fmla="*/ 710 h 1302"/>
                  <a:gd name="T34" fmla="*/ 1477 w 1870"/>
                  <a:gd name="T35" fmla="*/ 815 h 1302"/>
                  <a:gd name="T36" fmla="*/ 1519 w 1870"/>
                  <a:gd name="T37" fmla="*/ 870 h 1302"/>
                  <a:gd name="T38" fmla="*/ 1560 w 1870"/>
                  <a:gd name="T39" fmla="*/ 928 h 1302"/>
                  <a:gd name="T40" fmla="*/ 1600 w 1870"/>
                  <a:gd name="T41" fmla="*/ 987 h 1302"/>
                  <a:gd name="T42" fmla="*/ 1638 w 1870"/>
                  <a:gd name="T43" fmla="*/ 1047 h 1302"/>
                  <a:gd name="T44" fmla="*/ 1673 w 1870"/>
                  <a:gd name="T45" fmla="*/ 1108 h 1302"/>
                  <a:gd name="T46" fmla="*/ 1706 w 1870"/>
                  <a:gd name="T47" fmla="*/ 1171 h 1302"/>
                  <a:gd name="T48" fmla="*/ 1737 w 1870"/>
                  <a:gd name="T49" fmla="*/ 1236 h 1302"/>
                  <a:gd name="T50" fmla="*/ 1764 w 1870"/>
                  <a:gd name="T51" fmla="*/ 1302 h 1302"/>
                  <a:gd name="T52" fmla="*/ 1856 w 1870"/>
                  <a:gd name="T53" fmla="*/ 1224 h 1302"/>
                  <a:gd name="T54" fmla="*/ 1825 w 1870"/>
                  <a:gd name="T55" fmla="*/ 1155 h 1302"/>
                  <a:gd name="T56" fmla="*/ 1791 w 1870"/>
                  <a:gd name="T57" fmla="*/ 1087 h 1302"/>
                  <a:gd name="T58" fmla="*/ 1754 w 1870"/>
                  <a:gd name="T59" fmla="*/ 1020 h 1302"/>
                  <a:gd name="T60" fmla="*/ 1716 w 1870"/>
                  <a:gd name="T61" fmla="*/ 956 h 1302"/>
                  <a:gd name="T62" fmla="*/ 1676 w 1870"/>
                  <a:gd name="T63" fmla="*/ 894 h 1302"/>
                  <a:gd name="T64" fmla="*/ 1632 w 1870"/>
                  <a:gd name="T65" fmla="*/ 832 h 1302"/>
                  <a:gd name="T66" fmla="*/ 1587 w 1870"/>
                  <a:gd name="T67" fmla="*/ 772 h 1302"/>
                  <a:gd name="T68" fmla="*/ 1516 w 1870"/>
                  <a:gd name="T69" fmla="*/ 686 h 1302"/>
                  <a:gd name="T70" fmla="*/ 1414 w 1870"/>
                  <a:gd name="T71" fmla="*/ 579 h 1302"/>
                  <a:gd name="T72" fmla="*/ 1304 w 1870"/>
                  <a:gd name="T73" fmla="*/ 480 h 1302"/>
                  <a:gd name="T74" fmla="*/ 1189 w 1870"/>
                  <a:gd name="T75" fmla="*/ 389 h 1302"/>
                  <a:gd name="T76" fmla="*/ 1066 w 1870"/>
                  <a:gd name="T77" fmla="*/ 305 h 1302"/>
                  <a:gd name="T78" fmla="*/ 938 w 1870"/>
                  <a:gd name="T79" fmla="*/ 232 h 1302"/>
                  <a:gd name="T80" fmla="*/ 804 w 1870"/>
                  <a:gd name="T81" fmla="*/ 168 h 1302"/>
                  <a:gd name="T82" fmla="*/ 701 w 1870"/>
                  <a:gd name="T83" fmla="*/ 126 h 1302"/>
                  <a:gd name="T84" fmla="*/ 630 w 1870"/>
                  <a:gd name="T85" fmla="*/ 101 h 1302"/>
                  <a:gd name="T86" fmla="*/ 560 w 1870"/>
                  <a:gd name="T87" fmla="*/ 79 h 1302"/>
                  <a:gd name="T88" fmla="*/ 488 w 1870"/>
                  <a:gd name="T89" fmla="*/ 60 h 1302"/>
                  <a:gd name="T90" fmla="*/ 415 w 1870"/>
                  <a:gd name="T91" fmla="*/ 43 h 1302"/>
                  <a:gd name="T92" fmla="*/ 341 w 1870"/>
                  <a:gd name="T93" fmla="*/ 28 h 1302"/>
                  <a:gd name="T94" fmla="*/ 267 w 1870"/>
                  <a:gd name="T95" fmla="*/ 18 h 1302"/>
                  <a:gd name="T96" fmla="*/ 191 w 1870"/>
                  <a:gd name="T97" fmla="*/ 9 h 1302"/>
                  <a:gd name="T98" fmla="*/ 115 w 1870"/>
                  <a:gd name="T99" fmla="*/ 2 h 1302"/>
                  <a:gd name="T100" fmla="*/ 39 w 1870"/>
                  <a:gd name="T101" fmla="*/ 0 h 1302"/>
                  <a:gd name="T102" fmla="*/ 0 w 1870"/>
                  <a:gd name="T103" fmla="*/ 0 h 1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870" h="1302">
                    <a:moveTo>
                      <a:pt x="0" y="113"/>
                    </a:moveTo>
                    <a:lnTo>
                      <a:pt x="0" y="113"/>
                    </a:lnTo>
                    <a:lnTo>
                      <a:pt x="37" y="113"/>
                    </a:lnTo>
                    <a:lnTo>
                      <a:pt x="73" y="114"/>
                    </a:lnTo>
                    <a:lnTo>
                      <a:pt x="109" y="116"/>
                    </a:lnTo>
                    <a:lnTo>
                      <a:pt x="145" y="118"/>
                    </a:lnTo>
                    <a:lnTo>
                      <a:pt x="181" y="121"/>
                    </a:lnTo>
                    <a:lnTo>
                      <a:pt x="216" y="125"/>
                    </a:lnTo>
                    <a:lnTo>
                      <a:pt x="251" y="130"/>
                    </a:lnTo>
                    <a:lnTo>
                      <a:pt x="286" y="135"/>
                    </a:lnTo>
                    <a:lnTo>
                      <a:pt x="322" y="141"/>
                    </a:lnTo>
                    <a:lnTo>
                      <a:pt x="357" y="147"/>
                    </a:lnTo>
                    <a:lnTo>
                      <a:pt x="391" y="154"/>
                    </a:lnTo>
                    <a:lnTo>
                      <a:pt x="426" y="161"/>
                    </a:lnTo>
                    <a:lnTo>
                      <a:pt x="460" y="169"/>
                    </a:lnTo>
                    <a:lnTo>
                      <a:pt x="494" y="178"/>
                    </a:lnTo>
                    <a:lnTo>
                      <a:pt x="528" y="188"/>
                    </a:lnTo>
                    <a:lnTo>
                      <a:pt x="562" y="198"/>
                    </a:lnTo>
                    <a:lnTo>
                      <a:pt x="595" y="208"/>
                    </a:lnTo>
                    <a:lnTo>
                      <a:pt x="628" y="220"/>
                    </a:lnTo>
                    <a:lnTo>
                      <a:pt x="662" y="232"/>
                    </a:lnTo>
                    <a:lnTo>
                      <a:pt x="693" y="245"/>
                    </a:lnTo>
                    <a:lnTo>
                      <a:pt x="759" y="272"/>
                    </a:lnTo>
                    <a:lnTo>
                      <a:pt x="823" y="301"/>
                    </a:lnTo>
                    <a:lnTo>
                      <a:pt x="884" y="332"/>
                    </a:lnTo>
                    <a:lnTo>
                      <a:pt x="946" y="366"/>
                    </a:lnTo>
                    <a:lnTo>
                      <a:pt x="1006" y="402"/>
                    </a:lnTo>
                    <a:lnTo>
                      <a:pt x="1065" y="440"/>
                    </a:lnTo>
                    <a:lnTo>
                      <a:pt x="1121" y="480"/>
                    </a:lnTo>
                    <a:lnTo>
                      <a:pt x="1177" y="522"/>
                    </a:lnTo>
                    <a:lnTo>
                      <a:pt x="1231" y="566"/>
                    </a:lnTo>
                    <a:lnTo>
                      <a:pt x="1283" y="612"/>
                    </a:lnTo>
                    <a:lnTo>
                      <a:pt x="1334" y="660"/>
                    </a:lnTo>
                    <a:lnTo>
                      <a:pt x="1383" y="710"/>
                    </a:lnTo>
                    <a:lnTo>
                      <a:pt x="1430" y="762"/>
                    </a:lnTo>
                    <a:lnTo>
                      <a:pt x="1477" y="815"/>
                    </a:lnTo>
                    <a:lnTo>
                      <a:pt x="1498" y="843"/>
                    </a:lnTo>
                    <a:lnTo>
                      <a:pt x="1519" y="870"/>
                    </a:lnTo>
                    <a:lnTo>
                      <a:pt x="1541" y="899"/>
                    </a:lnTo>
                    <a:lnTo>
                      <a:pt x="1560" y="928"/>
                    </a:lnTo>
                    <a:lnTo>
                      <a:pt x="1580" y="956"/>
                    </a:lnTo>
                    <a:lnTo>
                      <a:pt x="1600" y="987"/>
                    </a:lnTo>
                    <a:lnTo>
                      <a:pt x="1619" y="1015"/>
                    </a:lnTo>
                    <a:lnTo>
                      <a:pt x="1638" y="1047"/>
                    </a:lnTo>
                    <a:lnTo>
                      <a:pt x="1656" y="1077"/>
                    </a:lnTo>
                    <a:lnTo>
                      <a:pt x="1673" y="1108"/>
                    </a:lnTo>
                    <a:lnTo>
                      <a:pt x="1690" y="1139"/>
                    </a:lnTo>
                    <a:lnTo>
                      <a:pt x="1706" y="1171"/>
                    </a:lnTo>
                    <a:lnTo>
                      <a:pt x="1721" y="1203"/>
                    </a:lnTo>
                    <a:lnTo>
                      <a:pt x="1737" y="1236"/>
                    </a:lnTo>
                    <a:lnTo>
                      <a:pt x="1751" y="1269"/>
                    </a:lnTo>
                    <a:lnTo>
                      <a:pt x="1764" y="1302"/>
                    </a:lnTo>
                    <a:lnTo>
                      <a:pt x="1870" y="1259"/>
                    </a:lnTo>
                    <a:lnTo>
                      <a:pt x="1856" y="1224"/>
                    </a:lnTo>
                    <a:lnTo>
                      <a:pt x="1840" y="1189"/>
                    </a:lnTo>
                    <a:lnTo>
                      <a:pt x="1825" y="1155"/>
                    </a:lnTo>
                    <a:lnTo>
                      <a:pt x="1808" y="1121"/>
                    </a:lnTo>
                    <a:lnTo>
                      <a:pt x="1791" y="1087"/>
                    </a:lnTo>
                    <a:lnTo>
                      <a:pt x="1772" y="1053"/>
                    </a:lnTo>
                    <a:lnTo>
                      <a:pt x="1754" y="1020"/>
                    </a:lnTo>
                    <a:lnTo>
                      <a:pt x="1736" y="988"/>
                    </a:lnTo>
                    <a:lnTo>
                      <a:pt x="1716" y="956"/>
                    </a:lnTo>
                    <a:lnTo>
                      <a:pt x="1695" y="924"/>
                    </a:lnTo>
                    <a:lnTo>
                      <a:pt x="1676" y="894"/>
                    </a:lnTo>
                    <a:lnTo>
                      <a:pt x="1653" y="862"/>
                    </a:lnTo>
                    <a:lnTo>
                      <a:pt x="1632" y="832"/>
                    </a:lnTo>
                    <a:lnTo>
                      <a:pt x="1610" y="802"/>
                    </a:lnTo>
                    <a:lnTo>
                      <a:pt x="1587" y="772"/>
                    </a:lnTo>
                    <a:lnTo>
                      <a:pt x="1563" y="744"/>
                    </a:lnTo>
                    <a:lnTo>
                      <a:pt x="1516" y="686"/>
                    </a:lnTo>
                    <a:lnTo>
                      <a:pt x="1465" y="633"/>
                    </a:lnTo>
                    <a:lnTo>
                      <a:pt x="1414" y="579"/>
                    </a:lnTo>
                    <a:lnTo>
                      <a:pt x="1360" y="528"/>
                    </a:lnTo>
                    <a:lnTo>
                      <a:pt x="1304" y="480"/>
                    </a:lnTo>
                    <a:lnTo>
                      <a:pt x="1247" y="433"/>
                    </a:lnTo>
                    <a:lnTo>
                      <a:pt x="1189" y="389"/>
                    </a:lnTo>
                    <a:lnTo>
                      <a:pt x="1127" y="346"/>
                    </a:lnTo>
                    <a:lnTo>
                      <a:pt x="1066" y="305"/>
                    </a:lnTo>
                    <a:lnTo>
                      <a:pt x="1002" y="267"/>
                    </a:lnTo>
                    <a:lnTo>
                      <a:pt x="938" y="232"/>
                    </a:lnTo>
                    <a:lnTo>
                      <a:pt x="871" y="199"/>
                    </a:lnTo>
                    <a:lnTo>
                      <a:pt x="804" y="168"/>
                    </a:lnTo>
                    <a:lnTo>
                      <a:pt x="736" y="139"/>
                    </a:lnTo>
                    <a:lnTo>
                      <a:pt x="701" y="126"/>
                    </a:lnTo>
                    <a:lnTo>
                      <a:pt x="666" y="113"/>
                    </a:lnTo>
                    <a:lnTo>
                      <a:pt x="630" y="101"/>
                    </a:lnTo>
                    <a:lnTo>
                      <a:pt x="595" y="90"/>
                    </a:lnTo>
                    <a:lnTo>
                      <a:pt x="560" y="79"/>
                    </a:lnTo>
                    <a:lnTo>
                      <a:pt x="525" y="69"/>
                    </a:lnTo>
                    <a:lnTo>
                      <a:pt x="488" y="60"/>
                    </a:lnTo>
                    <a:lnTo>
                      <a:pt x="451" y="50"/>
                    </a:lnTo>
                    <a:lnTo>
                      <a:pt x="415" y="43"/>
                    </a:lnTo>
                    <a:lnTo>
                      <a:pt x="378" y="35"/>
                    </a:lnTo>
                    <a:lnTo>
                      <a:pt x="341" y="28"/>
                    </a:lnTo>
                    <a:lnTo>
                      <a:pt x="303" y="22"/>
                    </a:lnTo>
                    <a:lnTo>
                      <a:pt x="267" y="18"/>
                    </a:lnTo>
                    <a:lnTo>
                      <a:pt x="229" y="13"/>
                    </a:lnTo>
                    <a:lnTo>
                      <a:pt x="191" y="9"/>
                    </a:lnTo>
                    <a:lnTo>
                      <a:pt x="153" y="5"/>
                    </a:lnTo>
                    <a:lnTo>
                      <a:pt x="115" y="2"/>
                    </a:lnTo>
                    <a:lnTo>
                      <a:pt x="77" y="1"/>
                    </a:lnTo>
                    <a:lnTo>
                      <a:pt x="39" y="0"/>
                    </a:lnTo>
                    <a:lnTo>
                      <a:pt x="0" y="0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solidFill>
                  <a:srgbClr val="FF00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19" name="Freeform 85"/>
              <p:cNvSpPr>
                <a:spLocks noChangeAspect="1" noChangeArrowheads="1"/>
              </p:cNvSpPr>
              <p:nvPr/>
            </p:nvSpPr>
            <p:spPr bwMode="auto">
              <a:xfrm>
                <a:off x="1707" y="2565"/>
                <a:ext cx="505" cy="504"/>
              </a:xfrm>
              <a:custGeom>
                <a:avLst/>
                <a:gdLst>
                  <a:gd name="T0" fmla="*/ 116 w 2020"/>
                  <a:gd name="T1" fmla="*/ 1966 h 2015"/>
                  <a:gd name="T2" fmla="*/ 125 w 2020"/>
                  <a:gd name="T3" fmla="*/ 1821 h 2015"/>
                  <a:gd name="T4" fmla="*/ 144 w 2020"/>
                  <a:gd name="T5" fmla="*/ 1680 h 2015"/>
                  <a:gd name="T6" fmla="*/ 174 w 2020"/>
                  <a:gd name="T7" fmla="*/ 1541 h 2015"/>
                  <a:gd name="T8" fmla="*/ 215 w 2020"/>
                  <a:gd name="T9" fmla="*/ 1406 h 2015"/>
                  <a:gd name="T10" fmla="*/ 265 w 2020"/>
                  <a:gd name="T11" fmla="*/ 1276 h 2015"/>
                  <a:gd name="T12" fmla="*/ 324 w 2020"/>
                  <a:gd name="T13" fmla="*/ 1151 h 2015"/>
                  <a:gd name="T14" fmla="*/ 392 w 2020"/>
                  <a:gd name="T15" fmla="*/ 1030 h 2015"/>
                  <a:gd name="T16" fmla="*/ 467 w 2020"/>
                  <a:gd name="T17" fmla="*/ 915 h 2015"/>
                  <a:gd name="T18" fmla="*/ 551 w 2020"/>
                  <a:gd name="T19" fmla="*/ 806 h 2015"/>
                  <a:gd name="T20" fmla="*/ 641 w 2020"/>
                  <a:gd name="T21" fmla="*/ 703 h 2015"/>
                  <a:gd name="T22" fmla="*/ 741 w 2020"/>
                  <a:gd name="T23" fmla="*/ 608 h 2015"/>
                  <a:gd name="T24" fmla="*/ 845 w 2020"/>
                  <a:gd name="T25" fmla="*/ 519 h 2015"/>
                  <a:gd name="T26" fmla="*/ 957 w 2020"/>
                  <a:gd name="T27" fmla="*/ 438 h 2015"/>
                  <a:gd name="T28" fmla="*/ 1073 w 2020"/>
                  <a:gd name="T29" fmla="*/ 365 h 2015"/>
                  <a:gd name="T30" fmla="*/ 1196 w 2020"/>
                  <a:gd name="T31" fmla="*/ 301 h 2015"/>
                  <a:gd name="T32" fmla="*/ 1323 w 2020"/>
                  <a:gd name="T33" fmla="*/ 245 h 2015"/>
                  <a:gd name="T34" fmla="*/ 1455 w 2020"/>
                  <a:gd name="T35" fmla="*/ 199 h 2015"/>
                  <a:gd name="T36" fmla="*/ 1591 w 2020"/>
                  <a:gd name="T37" fmla="*/ 161 h 2015"/>
                  <a:gd name="T38" fmla="*/ 1731 w 2020"/>
                  <a:gd name="T39" fmla="*/ 135 h 2015"/>
                  <a:gd name="T40" fmla="*/ 1874 w 2020"/>
                  <a:gd name="T41" fmla="*/ 118 h 2015"/>
                  <a:gd name="T42" fmla="*/ 2020 w 2020"/>
                  <a:gd name="T43" fmla="*/ 113 h 2015"/>
                  <a:gd name="T44" fmla="*/ 1917 w 2020"/>
                  <a:gd name="T45" fmla="*/ 2 h 2015"/>
                  <a:gd name="T46" fmla="*/ 1764 w 2020"/>
                  <a:gd name="T47" fmla="*/ 15 h 2015"/>
                  <a:gd name="T48" fmla="*/ 1615 w 2020"/>
                  <a:gd name="T49" fmla="*/ 40 h 2015"/>
                  <a:gd name="T50" fmla="*/ 1468 w 2020"/>
                  <a:gd name="T51" fmla="*/ 77 h 2015"/>
                  <a:gd name="T52" fmla="*/ 1327 w 2020"/>
                  <a:gd name="T53" fmla="*/ 122 h 2015"/>
                  <a:gd name="T54" fmla="*/ 1191 w 2020"/>
                  <a:gd name="T55" fmla="*/ 178 h 2015"/>
                  <a:gd name="T56" fmla="*/ 1059 w 2020"/>
                  <a:gd name="T57" fmla="*/ 244 h 2015"/>
                  <a:gd name="T58" fmla="*/ 933 w 2020"/>
                  <a:gd name="T59" fmla="*/ 318 h 2015"/>
                  <a:gd name="T60" fmla="*/ 813 w 2020"/>
                  <a:gd name="T61" fmla="*/ 400 h 2015"/>
                  <a:gd name="T62" fmla="*/ 700 w 2020"/>
                  <a:gd name="T63" fmla="*/ 492 h 2015"/>
                  <a:gd name="T64" fmla="*/ 593 w 2020"/>
                  <a:gd name="T65" fmla="*/ 591 h 2015"/>
                  <a:gd name="T66" fmla="*/ 495 w 2020"/>
                  <a:gd name="T67" fmla="*/ 697 h 2015"/>
                  <a:gd name="T68" fmla="*/ 403 w 2020"/>
                  <a:gd name="T69" fmla="*/ 810 h 2015"/>
                  <a:gd name="T70" fmla="*/ 320 w 2020"/>
                  <a:gd name="T71" fmla="*/ 930 h 2015"/>
                  <a:gd name="T72" fmla="*/ 245 w 2020"/>
                  <a:gd name="T73" fmla="*/ 1056 h 2015"/>
                  <a:gd name="T74" fmla="*/ 180 w 2020"/>
                  <a:gd name="T75" fmla="*/ 1186 h 2015"/>
                  <a:gd name="T76" fmla="*/ 123 w 2020"/>
                  <a:gd name="T77" fmla="*/ 1323 h 2015"/>
                  <a:gd name="T78" fmla="*/ 78 w 2020"/>
                  <a:gd name="T79" fmla="*/ 1464 h 2015"/>
                  <a:gd name="T80" fmla="*/ 42 w 2020"/>
                  <a:gd name="T81" fmla="*/ 1609 h 2015"/>
                  <a:gd name="T82" fmla="*/ 17 w 2020"/>
                  <a:gd name="T83" fmla="*/ 1759 h 2015"/>
                  <a:gd name="T84" fmla="*/ 3 w 2020"/>
                  <a:gd name="T85" fmla="*/ 1912 h 2015"/>
                  <a:gd name="T86" fmla="*/ 0 w 2020"/>
                  <a:gd name="T87" fmla="*/ 2015 h 20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20" h="2015">
                    <a:moveTo>
                      <a:pt x="114" y="2015"/>
                    </a:moveTo>
                    <a:lnTo>
                      <a:pt x="114" y="2015"/>
                    </a:lnTo>
                    <a:lnTo>
                      <a:pt x="116" y="1966"/>
                    </a:lnTo>
                    <a:lnTo>
                      <a:pt x="117" y="1917"/>
                    </a:lnTo>
                    <a:lnTo>
                      <a:pt x="121" y="1869"/>
                    </a:lnTo>
                    <a:lnTo>
                      <a:pt x="125" y="1821"/>
                    </a:lnTo>
                    <a:lnTo>
                      <a:pt x="130" y="1774"/>
                    </a:lnTo>
                    <a:lnTo>
                      <a:pt x="136" y="1725"/>
                    </a:lnTo>
                    <a:lnTo>
                      <a:pt x="144" y="1680"/>
                    </a:lnTo>
                    <a:lnTo>
                      <a:pt x="153" y="1633"/>
                    </a:lnTo>
                    <a:lnTo>
                      <a:pt x="164" y="1586"/>
                    </a:lnTo>
                    <a:lnTo>
                      <a:pt x="174" y="1541"/>
                    </a:lnTo>
                    <a:lnTo>
                      <a:pt x="187" y="1496"/>
                    </a:lnTo>
                    <a:lnTo>
                      <a:pt x="201" y="1450"/>
                    </a:lnTo>
                    <a:lnTo>
                      <a:pt x="215" y="1406"/>
                    </a:lnTo>
                    <a:lnTo>
                      <a:pt x="231" y="1362"/>
                    </a:lnTo>
                    <a:lnTo>
                      <a:pt x="248" y="1319"/>
                    </a:lnTo>
                    <a:lnTo>
                      <a:pt x="265" y="1276"/>
                    </a:lnTo>
                    <a:lnTo>
                      <a:pt x="283" y="1233"/>
                    </a:lnTo>
                    <a:lnTo>
                      <a:pt x="303" y="1191"/>
                    </a:lnTo>
                    <a:lnTo>
                      <a:pt x="324" y="1151"/>
                    </a:lnTo>
                    <a:lnTo>
                      <a:pt x="344" y="1109"/>
                    </a:lnTo>
                    <a:lnTo>
                      <a:pt x="368" y="1070"/>
                    </a:lnTo>
                    <a:lnTo>
                      <a:pt x="392" y="1030"/>
                    </a:lnTo>
                    <a:lnTo>
                      <a:pt x="415" y="992"/>
                    </a:lnTo>
                    <a:lnTo>
                      <a:pt x="441" y="953"/>
                    </a:lnTo>
                    <a:lnTo>
                      <a:pt x="467" y="915"/>
                    </a:lnTo>
                    <a:lnTo>
                      <a:pt x="494" y="878"/>
                    </a:lnTo>
                    <a:lnTo>
                      <a:pt x="522" y="842"/>
                    </a:lnTo>
                    <a:lnTo>
                      <a:pt x="551" y="806"/>
                    </a:lnTo>
                    <a:lnTo>
                      <a:pt x="580" y="771"/>
                    </a:lnTo>
                    <a:lnTo>
                      <a:pt x="611" y="737"/>
                    </a:lnTo>
                    <a:lnTo>
                      <a:pt x="641" y="703"/>
                    </a:lnTo>
                    <a:lnTo>
                      <a:pt x="674" y="671"/>
                    </a:lnTo>
                    <a:lnTo>
                      <a:pt x="707" y="639"/>
                    </a:lnTo>
                    <a:lnTo>
                      <a:pt x="741" y="608"/>
                    </a:lnTo>
                    <a:lnTo>
                      <a:pt x="775" y="578"/>
                    </a:lnTo>
                    <a:lnTo>
                      <a:pt x="810" y="548"/>
                    </a:lnTo>
                    <a:lnTo>
                      <a:pt x="845" y="519"/>
                    </a:lnTo>
                    <a:lnTo>
                      <a:pt x="882" y="492"/>
                    </a:lnTo>
                    <a:lnTo>
                      <a:pt x="919" y="464"/>
                    </a:lnTo>
                    <a:lnTo>
                      <a:pt x="957" y="438"/>
                    </a:lnTo>
                    <a:lnTo>
                      <a:pt x="995" y="413"/>
                    </a:lnTo>
                    <a:lnTo>
                      <a:pt x="1034" y="389"/>
                    </a:lnTo>
                    <a:lnTo>
                      <a:pt x="1073" y="365"/>
                    </a:lnTo>
                    <a:lnTo>
                      <a:pt x="1114" y="343"/>
                    </a:lnTo>
                    <a:lnTo>
                      <a:pt x="1154" y="322"/>
                    </a:lnTo>
                    <a:lnTo>
                      <a:pt x="1196" y="301"/>
                    </a:lnTo>
                    <a:lnTo>
                      <a:pt x="1238" y="282"/>
                    </a:lnTo>
                    <a:lnTo>
                      <a:pt x="1280" y="263"/>
                    </a:lnTo>
                    <a:lnTo>
                      <a:pt x="1323" y="245"/>
                    </a:lnTo>
                    <a:lnTo>
                      <a:pt x="1366" y="229"/>
                    </a:lnTo>
                    <a:lnTo>
                      <a:pt x="1410" y="214"/>
                    </a:lnTo>
                    <a:lnTo>
                      <a:pt x="1455" y="199"/>
                    </a:lnTo>
                    <a:lnTo>
                      <a:pt x="1499" y="185"/>
                    </a:lnTo>
                    <a:lnTo>
                      <a:pt x="1545" y="173"/>
                    </a:lnTo>
                    <a:lnTo>
                      <a:pt x="1591" y="161"/>
                    </a:lnTo>
                    <a:lnTo>
                      <a:pt x="1637" y="151"/>
                    </a:lnTo>
                    <a:lnTo>
                      <a:pt x="1684" y="143"/>
                    </a:lnTo>
                    <a:lnTo>
                      <a:pt x="1731" y="135"/>
                    </a:lnTo>
                    <a:lnTo>
                      <a:pt x="1778" y="129"/>
                    </a:lnTo>
                    <a:lnTo>
                      <a:pt x="1826" y="122"/>
                    </a:lnTo>
                    <a:lnTo>
                      <a:pt x="1874" y="118"/>
                    </a:lnTo>
                    <a:lnTo>
                      <a:pt x="1923" y="116"/>
                    </a:lnTo>
                    <a:lnTo>
                      <a:pt x="1972" y="113"/>
                    </a:lnTo>
                    <a:lnTo>
                      <a:pt x="2020" y="113"/>
                    </a:lnTo>
                    <a:lnTo>
                      <a:pt x="2020" y="0"/>
                    </a:lnTo>
                    <a:lnTo>
                      <a:pt x="1969" y="0"/>
                    </a:lnTo>
                    <a:lnTo>
                      <a:pt x="1917" y="2"/>
                    </a:lnTo>
                    <a:lnTo>
                      <a:pt x="1866" y="5"/>
                    </a:lnTo>
                    <a:lnTo>
                      <a:pt x="1815" y="10"/>
                    </a:lnTo>
                    <a:lnTo>
                      <a:pt x="1764" y="15"/>
                    </a:lnTo>
                    <a:lnTo>
                      <a:pt x="1714" y="23"/>
                    </a:lnTo>
                    <a:lnTo>
                      <a:pt x="1664" y="31"/>
                    </a:lnTo>
                    <a:lnTo>
                      <a:pt x="1615" y="40"/>
                    </a:lnTo>
                    <a:lnTo>
                      <a:pt x="1565" y="52"/>
                    </a:lnTo>
                    <a:lnTo>
                      <a:pt x="1516" y="64"/>
                    </a:lnTo>
                    <a:lnTo>
                      <a:pt x="1468" y="77"/>
                    </a:lnTo>
                    <a:lnTo>
                      <a:pt x="1421" y="90"/>
                    </a:lnTo>
                    <a:lnTo>
                      <a:pt x="1374" y="105"/>
                    </a:lnTo>
                    <a:lnTo>
                      <a:pt x="1327" y="122"/>
                    </a:lnTo>
                    <a:lnTo>
                      <a:pt x="1281" y="139"/>
                    </a:lnTo>
                    <a:lnTo>
                      <a:pt x="1235" y="159"/>
                    </a:lnTo>
                    <a:lnTo>
                      <a:pt x="1191" y="178"/>
                    </a:lnTo>
                    <a:lnTo>
                      <a:pt x="1146" y="199"/>
                    </a:lnTo>
                    <a:lnTo>
                      <a:pt x="1102" y="220"/>
                    </a:lnTo>
                    <a:lnTo>
                      <a:pt x="1059" y="244"/>
                    </a:lnTo>
                    <a:lnTo>
                      <a:pt x="1017" y="267"/>
                    </a:lnTo>
                    <a:lnTo>
                      <a:pt x="975" y="292"/>
                    </a:lnTo>
                    <a:lnTo>
                      <a:pt x="933" y="318"/>
                    </a:lnTo>
                    <a:lnTo>
                      <a:pt x="893" y="344"/>
                    </a:lnTo>
                    <a:lnTo>
                      <a:pt x="852" y="372"/>
                    </a:lnTo>
                    <a:lnTo>
                      <a:pt x="813" y="400"/>
                    </a:lnTo>
                    <a:lnTo>
                      <a:pt x="775" y="430"/>
                    </a:lnTo>
                    <a:lnTo>
                      <a:pt x="737" y="460"/>
                    </a:lnTo>
                    <a:lnTo>
                      <a:pt x="700" y="492"/>
                    </a:lnTo>
                    <a:lnTo>
                      <a:pt x="664" y="524"/>
                    </a:lnTo>
                    <a:lnTo>
                      <a:pt x="628" y="557"/>
                    </a:lnTo>
                    <a:lnTo>
                      <a:pt x="593" y="591"/>
                    </a:lnTo>
                    <a:lnTo>
                      <a:pt x="559" y="626"/>
                    </a:lnTo>
                    <a:lnTo>
                      <a:pt x="526" y="661"/>
                    </a:lnTo>
                    <a:lnTo>
                      <a:pt x="495" y="697"/>
                    </a:lnTo>
                    <a:lnTo>
                      <a:pt x="463" y="735"/>
                    </a:lnTo>
                    <a:lnTo>
                      <a:pt x="432" y="772"/>
                    </a:lnTo>
                    <a:lnTo>
                      <a:pt x="403" y="810"/>
                    </a:lnTo>
                    <a:lnTo>
                      <a:pt x="375" y="849"/>
                    </a:lnTo>
                    <a:lnTo>
                      <a:pt x="347" y="890"/>
                    </a:lnTo>
                    <a:lnTo>
                      <a:pt x="320" y="930"/>
                    </a:lnTo>
                    <a:lnTo>
                      <a:pt x="293" y="971"/>
                    </a:lnTo>
                    <a:lnTo>
                      <a:pt x="269" y="1013"/>
                    </a:lnTo>
                    <a:lnTo>
                      <a:pt x="245" y="1056"/>
                    </a:lnTo>
                    <a:lnTo>
                      <a:pt x="223" y="1099"/>
                    </a:lnTo>
                    <a:lnTo>
                      <a:pt x="201" y="1142"/>
                    </a:lnTo>
                    <a:lnTo>
                      <a:pt x="180" y="1186"/>
                    </a:lnTo>
                    <a:lnTo>
                      <a:pt x="160" y="1232"/>
                    </a:lnTo>
                    <a:lnTo>
                      <a:pt x="142" y="1278"/>
                    </a:lnTo>
                    <a:lnTo>
                      <a:pt x="123" y="1323"/>
                    </a:lnTo>
                    <a:lnTo>
                      <a:pt x="108" y="1370"/>
                    </a:lnTo>
                    <a:lnTo>
                      <a:pt x="92" y="1417"/>
                    </a:lnTo>
                    <a:lnTo>
                      <a:pt x="78" y="1464"/>
                    </a:lnTo>
                    <a:lnTo>
                      <a:pt x="65" y="1513"/>
                    </a:lnTo>
                    <a:lnTo>
                      <a:pt x="53" y="1561"/>
                    </a:lnTo>
                    <a:lnTo>
                      <a:pt x="42" y="1609"/>
                    </a:lnTo>
                    <a:lnTo>
                      <a:pt x="32" y="1659"/>
                    </a:lnTo>
                    <a:lnTo>
                      <a:pt x="24" y="1708"/>
                    </a:lnTo>
                    <a:lnTo>
                      <a:pt x="17" y="1759"/>
                    </a:lnTo>
                    <a:lnTo>
                      <a:pt x="11" y="1810"/>
                    </a:lnTo>
                    <a:lnTo>
                      <a:pt x="7" y="1861"/>
                    </a:lnTo>
                    <a:lnTo>
                      <a:pt x="3" y="1912"/>
                    </a:lnTo>
                    <a:lnTo>
                      <a:pt x="2" y="1963"/>
                    </a:lnTo>
                    <a:lnTo>
                      <a:pt x="0" y="2015"/>
                    </a:lnTo>
                    <a:lnTo>
                      <a:pt x="114" y="2015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solidFill>
                  <a:srgbClr val="FF00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0" name="Freeform 86"/>
              <p:cNvSpPr>
                <a:spLocks noChangeAspect="1" noChangeArrowheads="1"/>
              </p:cNvSpPr>
              <p:nvPr/>
            </p:nvSpPr>
            <p:spPr bwMode="auto">
              <a:xfrm>
                <a:off x="1707" y="3069"/>
                <a:ext cx="505" cy="503"/>
              </a:xfrm>
              <a:custGeom>
                <a:avLst/>
                <a:gdLst>
                  <a:gd name="T0" fmla="*/ 1972 w 2020"/>
                  <a:gd name="T1" fmla="*/ 1902 h 2016"/>
                  <a:gd name="T2" fmla="*/ 1826 w 2020"/>
                  <a:gd name="T3" fmla="*/ 1892 h 2016"/>
                  <a:gd name="T4" fmla="*/ 1684 w 2020"/>
                  <a:gd name="T5" fmla="*/ 1872 h 2016"/>
                  <a:gd name="T6" fmla="*/ 1545 w 2020"/>
                  <a:gd name="T7" fmla="*/ 1842 h 2016"/>
                  <a:gd name="T8" fmla="*/ 1410 w 2020"/>
                  <a:gd name="T9" fmla="*/ 1802 h 2016"/>
                  <a:gd name="T10" fmla="*/ 1280 w 2020"/>
                  <a:gd name="T11" fmla="*/ 1752 h 2016"/>
                  <a:gd name="T12" fmla="*/ 1154 w 2020"/>
                  <a:gd name="T13" fmla="*/ 1693 h 2016"/>
                  <a:gd name="T14" fmla="*/ 1034 w 2020"/>
                  <a:gd name="T15" fmla="*/ 1627 h 2016"/>
                  <a:gd name="T16" fmla="*/ 919 w 2020"/>
                  <a:gd name="T17" fmla="*/ 1551 h 2016"/>
                  <a:gd name="T18" fmla="*/ 810 w 2020"/>
                  <a:gd name="T19" fmla="*/ 1468 h 2016"/>
                  <a:gd name="T20" fmla="*/ 707 w 2020"/>
                  <a:gd name="T21" fmla="*/ 1376 h 2016"/>
                  <a:gd name="T22" fmla="*/ 611 w 2020"/>
                  <a:gd name="T23" fmla="*/ 1278 h 2016"/>
                  <a:gd name="T24" fmla="*/ 522 w 2020"/>
                  <a:gd name="T25" fmla="*/ 1174 h 2016"/>
                  <a:gd name="T26" fmla="*/ 441 w 2020"/>
                  <a:gd name="T27" fmla="*/ 1063 h 2016"/>
                  <a:gd name="T28" fmla="*/ 368 w 2020"/>
                  <a:gd name="T29" fmla="*/ 945 h 2016"/>
                  <a:gd name="T30" fmla="*/ 303 w 2020"/>
                  <a:gd name="T31" fmla="*/ 824 h 2016"/>
                  <a:gd name="T32" fmla="*/ 248 w 2020"/>
                  <a:gd name="T33" fmla="*/ 696 h 2016"/>
                  <a:gd name="T34" fmla="*/ 201 w 2020"/>
                  <a:gd name="T35" fmla="*/ 564 h 2016"/>
                  <a:gd name="T36" fmla="*/ 164 w 2020"/>
                  <a:gd name="T37" fmla="*/ 428 h 2016"/>
                  <a:gd name="T38" fmla="*/ 136 w 2020"/>
                  <a:gd name="T39" fmla="*/ 289 h 2016"/>
                  <a:gd name="T40" fmla="*/ 121 w 2020"/>
                  <a:gd name="T41" fmla="*/ 146 h 2016"/>
                  <a:gd name="T42" fmla="*/ 114 w 2020"/>
                  <a:gd name="T43" fmla="*/ 0 h 2016"/>
                  <a:gd name="T44" fmla="*/ 3 w 2020"/>
                  <a:gd name="T45" fmla="*/ 103 h 2016"/>
                  <a:gd name="T46" fmla="*/ 17 w 2020"/>
                  <a:gd name="T47" fmla="*/ 256 h 2016"/>
                  <a:gd name="T48" fmla="*/ 42 w 2020"/>
                  <a:gd name="T49" fmla="*/ 405 h 2016"/>
                  <a:gd name="T50" fmla="*/ 78 w 2020"/>
                  <a:gd name="T51" fmla="*/ 551 h 2016"/>
                  <a:gd name="T52" fmla="*/ 123 w 2020"/>
                  <a:gd name="T53" fmla="*/ 692 h 2016"/>
                  <a:gd name="T54" fmla="*/ 180 w 2020"/>
                  <a:gd name="T55" fmla="*/ 828 h 2016"/>
                  <a:gd name="T56" fmla="*/ 245 w 2020"/>
                  <a:gd name="T57" fmla="*/ 960 h 2016"/>
                  <a:gd name="T58" fmla="*/ 320 w 2020"/>
                  <a:gd name="T59" fmla="*/ 1085 h 2016"/>
                  <a:gd name="T60" fmla="*/ 403 w 2020"/>
                  <a:gd name="T61" fmla="*/ 1205 h 2016"/>
                  <a:gd name="T62" fmla="*/ 495 w 2020"/>
                  <a:gd name="T63" fmla="*/ 1317 h 2016"/>
                  <a:gd name="T64" fmla="*/ 593 w 2020"/>
                  <a:gd name="T65" fmla="*/ 1425 h 2016"/>
                  <a:gd name="T66" fmla="*/ 700 w 2020"/>
                  <a:gd name="T67" fmla="*/ 1524 h 2016"/>
                  <a:gd name="T68" fmla="*/ 813 w 2020"/>
                  <a:gd name="T69" fmla="*/ 1614 h 2016"/>
                  <a:gd name="T70" fmla="*/ 933 w 2020"/>
                  <a:gd name="T71" fmla="*/ 1697 h 2016"/>
                  <a:gd name="T72" fmla="*/ 1059 w 2020"/>
                  <a:gd name="T73" fmla="*/ 1772 h 2016"/>
                  <a:gd name="T74" fmla="*/ 1191 w 2020"/>
                  <a:gd name="T75" fmla="*/ 1837 h 2016"/>
                  <a:gd name="T76" fmla="*/ 1327 w 2020"/>
                  <a:gd name="T77" fmla="*/ 1893 h 2016"/>
                  <a:gd name="T78" fmla="*/ 1468 w 2020"/>
                  <a:gd name="T79" fmla="*/ 1939 h 2016"/>
                  <a:gd name="T80" fmla="*/ 1615 w 2020"/>
                  <a:gd name="T81" fmla="*/ 1974 h 2016"/>
                  <a:gd name="T82" fmla="*/ 1764 w 2020"/>
                  <a:gd name="T83" fmla="*/ 1999 h 2016"/>
                  <a:gd name="T84" fmla="*/ 1917 w 2020"/>
                  <a:gd name="T85" fmla="*/ 2013 h 2016"/>
                  <a:gd name="T86" fmla="*/ 2020 w 2020"/>
                  <a:gd name="T87" fmla="*/ 2016 h 20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20" h="2016">
                    <a:moveTo>
                      <a:pt x="2020" y="1902"/>
                    </a:moveTo>
                    <a:lnTo>
                      <a:pt x="2020" y="1902"/>
                    </a:lnTo>
                    <a:lnTo>
                      <a:pt x="1972" y="1902"/>
                    </a:lnTo>
                    <a:lnTo>
                      <a:pt x="1922" y="1900"/>
                    </a:lnTo>
                    <a:lnTo>
                      <a:pt x="1874" y="1897"/>
                    </a:lnTo>
                    <a:lnTo>
                      <a:pt x="1826" y="1892"/>
                    </a:lnTo>
                    <a:lnTo>
                      <a:pt x="1778" y="1887"/>
                    </a:lnTo>
                    <a:lnTo>
                      <a:pt x="1731" y="1880"/>
                    </a:lnTo>
                    <a:lnTo>
                      <a:pt x="1684" y="1872"/>
                    </a:lnTo>
                    <a:lnTo>
                      <a:pt x="1637" y="1863"/>
                    </a:lnTo>
                    <a:lnTo>
                      <a:pt x="1591" y="1854"/>
                    </a:lnTo>
                    <a:lnTo>
                      <a:pt x="1545" y="1842"/>
                    </a:lnTo>
                    <a:lnTo>
                      <a:pt x="1499" y="1831"/>
                    </a:lnTo>
                    <a:lnTo>
                      <a:pt x="1455" y="1816"/>
                    </a:lnTo>
                    <a:lnTo>
                      <a:pt x="1410" y="1802"/>
                    </a:lnTo>
                    <a:lnTo>
                      <a:pt x="1366" y="1786"/>
                    </a:lnTo>
                    <a:lnTo>
                      <a:pt x="1323" y="1770"/>
                    </a:lnTo>
                    <a:lnTo>
                      <a:pt x="1280" y="1752"/>
                    </a:lnTo>
                    <a:lnTo>
                      <a:pt x="1238" y="1734"/>
                    </a:lnTo>
                    <a:lnTo>
                      <a:pt x="1196" y="1714"/>
                    </a:lnTo>
                    <a:lnTo>
                      <a:pt x="1154" y="1693"/>
                    </a:lnTo>
                    <a:lnTo>
                      <a:pt x="1114" y="1673"/>
                    </a:lnTo>
                    <a:lnTo>
                      <a:pt x="1073" y="1650"/>
                    </a:lnTo>
                    <a:lnTo>
                      <a:pt x="1034" y="1627"/>
                    </a:lnTo>
                    <a:lnTo>
                      <a:pt x="995" y="1602"/>
                    </a:lnTo>
                    <a:lnTo>
                      <a:pt x="957" y="1577"/>
                    </a:lnTo>
                    <a:lnTo>
                      <a:pt x="919" y="1551"/>
                    </a:lnTo>
                    <a:lnTo>
                      <a:pt x="882" y="1524"/>
                    </a:lnTo>
                    <a:lnTo>
                      <a:pt x="845" y="1496"/>
                    </a:lnTo>
                    <a:lnTo>
                      <a:pt x="810" y="1468"/>
                    </a:lnTo>
                    <a:lnTo>
                      <a:pt x="775" y="1438"/>
                    </a:lnTo>
                    <a:lnTo>
                      <a:pt x="741" y="1408"/>
                    </a:lnTo>
                    <a:lnTo>
                      <a:pt x="707" y="1376"/>
                    </a:lnTo>
                    <a:lnTo>
                      <a:pt x="674" y="1344"/>
                    </a:lnTo>
                    <a:lnTo>
                      <a:pt x="641" y="1311"/>
                    </a:lnTo>
                    <a:lnTo>
                      <a:pt x="611" y="1278"/>
                    </a:lnTo>
                    <a:lnTo>
                      <a:pt x="580" y="1244"/>
                    </a:lnTo>
                    <a:lnTo>
                      <a:pt x="551" y="1209"/>
                    </a:lnTo>
                    <a:lnTo>
                      <a:pt x="522" y="1174"/>
                    </a:lnTo>
                    <a:lnTo>
                      <a:pt x="494" y="1137"/>
                    </a:lnTo>
                    <a:lnTo>
                      <a:pt x="467" y="1099"/>
                    </a:lnTo>
                    <a:lnTo>
                      <a:pt x="441" y="1063"/>
                    </a:lnTo>
                    <a:lnTo>
                      <a:pt x="415" y="1024"/>
                    </a:lnTo>
                    <a:lnTo>
                      <a:pt x="392" y="985"/>
                    </a:lnTo>
                    <a:lnTo>
                      <a:pt x="368" y="945"/>
                    </a:lnTo>
                    <a:lnTo>
                      <a:pt x="344" y="905"/>
                    </a:lnTo>
                    <a:lnTo>
                      <a:pt x="324" y="864"/>
                    </a:lnTo>
                    <a:lnTo>
                      <a:pt x="303" y="824"/>
                    </a:lnTo>
                    <a:lnTo>
                      <a:pt x="283" y="782"/>
                    </a:lnTo>
                    <a:lnTo>
                      <a:pt x="265" y="739"/>
                    </a:lnTo>
                    <a:lnTo>
                      <a:pt x="248" y="696"/>
                    </a:lnTo>
                    <a:lnTo>
                      <a:pt x="231" y="653"/>
                    </a:lnTo>
                    <a:lnTo>
                      <a:pt x="215" y="609"/>
                    </a:lnTo>
                    <a:lnTo>
                      <a:pt x="201" y="564"/>
                    </a:lnTo>
                    <a:lnTo>
                      <a:pt x="187" y="520"/>
                    </a:lnTo>
                    <a:lnTo>
                      <a:pt x="174" y="474"/>
                    </a:lnTo>
                    <a:lnTo>
                      <a:pt x="164" y="428"/>
                    </a:lnTo>
                    <a:lnTo>
                      <a:pt x="153" y="383"/>
                    </a:lnTo>
                    <a:lnTo>
                      <a:pt x="144" y="336"/>
                    </a:lnTo>
                    <a:lnTo>
                      <a:pt x="136" y="289"/>
                    </a:lnTo>
                    <a:lnTo>
                      <a:pt x="130" y="242"/>
                    </a:lnTo>
                    <a:lnTo>
                      <a:pt x="125" y="195"/>
                    </a:lnTo>
                    <a:lnTo>
                      <a:pt x="121" y="146"/>
                    </a:lnTo>
                    <a:lnTo>
                      <a:pt x="117" y="98"/>
                    </a:lnTo>
                    <a:lnTo>
                      <a:pt x="116" y="50"/>
                    </a:lnTo>
                    <a:lnTo>
                      <a:pt x="114" y="0"/>
                    </a:lnTo>
                    <a:lnTo>
                      <a:pt x="0" y="0"/>
                    </a:lnTo>
                    <a:lnTo>
                      <a:pt x="2" y="52"/>
                    </a:lnTo>
                    <a:lnTo>
                      <a:pt x="3" y="103"/>
                    </a:lnTo>
                    <a:lnTo>
                      <a:pt x="7" y="154"/>
                    </a:lnTo>
                    <a:lnTo>
                      <a:pt x="11" y="205"/>
                    </a:lnTo>
                    <a:lnTo>
                      <a:pt x="17" y="256"/>
                    </a:lnTo>
                    <a:lnTo>
                      <a:pt x="24" y="306"/>
                    </a:lnTo>
                    <a:lnTo>
                      <a:pt x="32" y="357"/>
                    </a:lnTo>
                    <a:lnTo>
                      <a:pt x="42" y="405"/>
                    </a:lnTo>
                    <a:lnTo>
                      <a:pt x="53" y="455"/>
                    </a:lnTo>
                    <a:lnTo>
                      <a:pt x="65" y="503"/>
                    </a:lnTo>
                    <a:lnTo>
                      <a:pt x="78" y="551"/>
                    </a:lnTo>
                    <a:lnTo>
                      <a:pt x="92" y="598"/>
                    </a:lnTo>
                    <a:lnTo>
                      <a:pt x="108" y="645"/>
                    </a:lnTo>
                    <a:lnTo>
                      <a:pt x="123" y="692"/>
                    </a:lnTo>
                    <a:lnTo>
                      <a:pt x="142" y="738"/>
                    </a:lnTo>
                    <a:lnTo>
                      <a:pt x="160" y="784"/>
                    </a:lnTo>
                    <a:lnTo>
                      <a:pt x="180" y="828"/>
                    </a:lnTo>
                    <a:lnTo>
                      <a:pt x="201" y="872"/>
                    </a:lnTo>
                    <a:lnTo>
                      <a:pt x="223" y="917"/>
                    </a:lnTo>
                    <a:lnTo>
                      <a:pt x="245" y="960"/>
                    </a:lnTo>
                    <a:lnTo>
                      <a:pt x="269" y="1002"/>
                    </a:lnTo>
                    <a:lnTo>
                      <a:pt x="293" y="1045"/>
                    </a:lnTo>
                    <a:lnTo>
                      <a:pt x="320" y="1085"/>
                    </a:lnTo>
                    <a:lnTo>
                      <a:pt x="347" y="1126"/>
                    </a:lnTo>
                    <a:lnTo>
                      <a:pt x="375" y="1166"/>
                    </a:lnTo>
                    <a:lnTo>
                      <a:pt x="403" y="1205"/>
                    </a:lnTo>
                    <a:lnTo>
                      <a:pt x="432" y="1243"/>
                    </a:lnTo>
                    <a:lnTo>
                      <a:pt x="463" y="1281"/>
                    </a:lnTo>
                    <a:lnTo>
                      <a:pt x="495" y="1317"/>
                    </a:lnTo>
                    <a:lnTo>
                      <a:pt x="526" y="1354"/>
                    </a:lnTo>
                    <a:lnTo>
                      <a:pt x="559" y="1389"/>
                    </a:lnTo>
                    <a:lnTo>
                      <a:pt x="593" y="1425"/>
                    </a:lnTo>
                    <a:lnTo>
                      <a:pt x="628" y="1458"/>
                    </a:lnTo>
                    <a:lnTo>
                      <a:pt x="664" y="1491"/>
                    </a:lnTo>
                    <a:lnTo>
                      <a:pt x="700" y="1524"/>
                    </a:lnTo>
                    <a:lnTo>
                      <a:pt x="737" y="1555"/>
                    </a:lnTo>
                    <a:lnTo>
                      <a:pt x="775" y="1585"/>
                    </a:lnTo>
                    <a:lnTo>
                      <a:pt x="813" y="1614"/>
                    </a:lnTo>
                    <a:lnTo>
                      <a:pt x="852" y="1643"/>
                    </a:lnTo>
                    <a:lnTo>
                      <a:pt x="893" y="1671"/>
                    </a:lnTo>
                    <a:lnTo>
                      <a:pt x="933" y="1697"/>
                    </a:lnTo>
                    <a:lnTo>
                      <a:pt x="975" y="1723"/>
                    </a:lnTo>
                    <a:lnTo>
                      <a:pt x="1017" y="1748"/>
                    </a:lnTo>
                    <a:lnTo>
                      <a:pt x="1059" y="1772"/>
                    </a:lnTo>
                    <a:lnTo>
                      <a:pt x="1102" y="1795"/>
                    </a:lnTo>
                    <a:lnTo>
                      <a:pt x="1146" y="1816"/>
                    </a:lnTo>
                    <a:lnTo>
                      <a:pt x="1191" y="1837"/>
                    </a:lnTo>
                    <a:lnTo>
                      <a:pt x="1235" y="1857"/>
                    </a:lnTo>
                    <a:lnTo>
                      <a:pt x="1281" y="1876"/>
                    </a:lnTo>
                    <a:lnTo>
                      <a:pt x="1327" y="1893"/>
                    </a:lnTo>
                    <a:lnTo>
                      <a:pt x="1374" y="1910"/>
                    </a:lnTo>
                    <a:lnTo>
                      <a:pt x="1421" y="1925"/>
                    </a:lnTo>
                    <a:lnTo>
                      <a:pt x="1468" y="1939"/>
                    </a:lnTo>
                    <a:lnTo>
                      <a:pt x="1516" y="1952"/>
                    </a:lnTo>
                    <a:lnTo>
                      <a:pt x="1565" y="1964"/>
                    </a:lnTo>
                    <a:lnTo>
                      <a:pt x="1615" y="1974"/>
                    </a:lnTo>
                    <a:lnTo>
                      <a:pt x="1664" y="1985"/>
                    </a:lnTo>
                    <a:lnTo>
                      <a:pt x="1714" y="1992"/>
                    </a:lnTo>
                    <a:lnTo>
                      <a:pt x="1764" y="1999"/>
                    </a:lnTo>
                    <a:lnTo>
                      <a:pt x="1815" y="2005"/>
                    </a:lnTo>
                    <a:lnTo>
                      <a:pt x="1866" y="2011"/>
                    </a:lnTo>
                    <a:lnTo>
                      <a:pt x="1917" y="2013"/>
                    </a:lnTo>
                    <a:lnTo>
                      <a:pt x="1969" y="2015"/>
                    </a:lnTo>
                    <a:lnTo>
                      <a:pt x="2020" y="2016"/>
                    </a:lnTo>
                    <a:lnTo>
                      <a:pt x="2020" y="1902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solidFill>
                  <a:srgbClr val="FF00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1" name="Freeform 87"/>
              <p:cNvSpPr>
                <a:spLocks noChangeAspect="1" noChangeArrowheads="1"/>
              </p:cNvSpPr>
              <p:nvPr/>
            </p:nvSpPr>
            <p:spPr bwMode="auto">
              <a:xfrm>
                <a:off x="2212" y="3247"/>
                <a:ext cx="468" cy="325"/>
              </a:xfrm>
              <a:custGeom>
                <a:avLst/>
                <a:gdLst>
                  <a:gd name="T0" fmla="*/ 1751 w 1870"/>
                  <a:gd name="T1" fmla="*/ 34 h 1303"/>
                  <a:gd name="T2" fmla="*/ 1721 w 1870"/>
                  <a:gd name="T3" fmla="*/ 99 h 1303"/>
                  <a:gd name="T4" fmla="*/ 1690 w 1870"/>
                  <a:gd name="T5" fmla="*/ 163 h 1303"/>
                  <a:gd name="T6" fmla="*/ 1656 w 1870"/>
                  <a:gd name="T7" fmla="*/ 226 h 1303"/>
                  <a:gd name="T8" fmla="*/ 1619 w 1870"/>
                  <a:gd name="T9" fmla="*/ 287 h 1303"/>
                  <a:gd name="T10" fmla="*/ 1580 w 1870"/>
                  <a:gd name="T11" fmla="*/ 346 h 1303"/>
                  <a:gd name="T12" fmla="*/ 1541 w 1870"/>
                  <a:gd name="T13" fmla="*/ 403 h 1303"/>
                  <a:gd name="T14" fmla="*/ 1498 w 1870"/>
                  <a:gd name="T15" fmla="*/ 460 h 1303"/>
                  <a:gd name="T16" fmla="*/ 1453 w 1870"/>
                  <a:gd name="T17" fmla="*/ 514 h 1303"/>
                  <a:gd name="T18" fmla="*/ 1406 w 1870"/>
                  <a:gd name="T19" fmla="*/ 567 h 1303"/>
                  <a:gd name="T20" fmla="*/ 1334 w 1870"/>
                  <a:gd name="T21" fmla="*/ 642 h 1303"/>
                  <a:gd name="T22" fmla="*/ 1257 w 1870"/>
                  <a:gd name="T23" fmla="*/ 713 h 1303"/>
                  <a:gd name="T24" fmla="*/ 1203 w 1870"/>
                  <a:gd name="T25" fmla="*/ 759 h 1303"/>
                  <a:gd name="T26" fmla="*/ 1150 w 1870"/>
                  <a:gd name="T27" fmla="*/ 802 h 1303"/>
                  <a:gd name="T28" fmla="*/ 1092 w 1870"/>
                  <a:gd name="T29" fmla="*/ 842 h 1303"/>
                  <a:gd name="T30" fmla="*/ 1035 w 1870"/>
                  <a:gd name="T31" fmla="*/ 881 h 1303"/>
                  <a:gd name="T32" fmla="*/ 976 w 1870"/>
                  <a:gd name="T33" fmla="*/ 919 h 1303"/>
                  <a:gd name="T34" fmla="*/ 916 w 1870"/>
                  <a:gd name="T35" fmla="*/ 953 h 1303"/>
                  <a:gd name="T36" fmla="*/ 854 w 1870"/>
                  <a:gd name="T37" fmla="*/ 986 h 1303"/>
                  <a:gd name="T38" fmla="*/ 790 w 1870"/>
                  <a:gd name="T39" fmla="*/ 1016 h 1303"/>
                  <a:gd name="T40" fmla="*/ 726 w 1870"/>
                  <a:gd name="T41" fmla="*/ 1044 h 1303"/>
                  <a:gd name="T42" fmla="*/ 662 w 1870"/>
                  <a:gd name="T43" fmla="*/ 1071 h 1303"/>
                  <a:gd name="T44" fmla="*/ 595 w 1870"/>
                  <a:gd name="T45" fmla="*/ 1093 h 1303"/>
                  <a:gd name="T46" fmla="*/ 528 w 1870"/>
                  <a:gd name="T47" fmla="*/ 1114 h 1303"/>
                  <a:gd name="T48" fmla="*/ 460 w 1870"/>
                  <a:gd name="T49" fmla="*/ 1132 h 1303"/>
                  <a:gd name="T50" fmla="*/ 391 w 1870"/>
                  <a:gd name="T51" fmla="*/ 1149 h 1303"/>
                  <a:gd name="T52" fmla="*/ 322 w 1870"/>
                  <a:gd name="T53" fmla="*/ 1162 h 1303"/>
                  <a:gd name="T54" fmla="*/ 251 w 1870"/>
                  <a:gd name="T55" fmla="*/ 1172 h 1303"/>
                  <a:gd name="T56" fmla="*/ 181 w 1870"/>
                  <a:gd name="T57" fmla="*/ 1182 h 1303"/>
                  <a:gd name="T58" fmla="*/ 109 w 1870"/>
                  <a:gd name="T59" fmla="*/ 1187 h 1303"/>
                  <a:gd name="T60" fmla="*/ 37 w 1870"/>
                  <a:gd name="T61" fmla="*/ 1189 h 1303"/>
                  <a:gd name="T62" fmla="*/ 0 w 1870"/>
                  <a:gd name="T63" fmla="*/ 1303 h 1303"/>
                  <a:gd name="T64" fmla="*/ 77 w 1870"/>
                  <a:gd name="T65" fmla="*/ 1302 h 1303"/>
                  <a:gd name="T66" fmla="*/ 153 w 1870"/>
                  <a:gd name="T67" fmla="*/ 1298 h 1303"/>
                  <a:gd name="T68" fmla="*/ 229 w 1870"/>
                  <a:gd name="T69" fmla="*/ 1290 h 1303"/>
                  <a:gd name="T70" fmla="*/ 303 w 1870"/>
                  <a:gd name="T71" fmla="*/ 1279 h 1303"/>
                  <a:gd name="T72" fmla="*/ 378 w 1870"/>
                  <a:gd name="T73" fmla="*/ 1266 h 1303"/>
                  <a:gd name="T74" fmla="*/ 451 w 1870"/>
                  <a:gd name="T75" fmla="*/ 1252 h 1303"/>
                  <a:gd name="T76" fmla="*/ 525 w 1870"/>
                  <a:gd name="T77" fmla="*/ 1234 h 1303"/>
                  <a:gd name="T78" fmla="*/ 595 w 1870"/>
                  <a:gd name="T79" fmla="*/ 1213 h 1303"/>
                  <a:gd name="T80" fmla="*/ 666 w 1870"/>
                  <a:gd name="T81" fmla="*/ 1189 h 1303"/>
                  <a:gd name="T82" fmla="*/ 736 w 1870"/>
                  <a:gd name="T83" fmla="*/ 1163 h 1303"/>
                  <a:gd name="T84" fmla="*/ 804 w 1870"/>
                  <a:gd name="T85" fmla="*/ 1135 h 1303"/>
                  <a:gd name="T86" fmla="*/ 871 w 1870"/>
                  <a:gd name="T87" fmla="*/ 1103 h 1303"/>
                  <a:gd name="T88" fmla="*/ 938 w 1870"/>
                  <a:gd name="T89" fmla="*/ 1071 h 1303"/>
                  <a:gd name="T90" fmla="*/ 1002 w 1870"/>
                  <a:gd name="T91" fmla="*/ 1034 h 1303"/>
                  <a:gd name="T92" fmla="*/ 1066 w 1870"/>
                  <a:gd name="T93" fmla="*/ 996 h 1303"/>
                  <a:gd name="T94" fmla="*/ 1127 w 1870"/>
                  <a:gd name="T95" fmla="*/ 956 h 1303"/>
                  <a:gd name="T96" fmla="*/ 1188 w 1870"/>
                  <a:gd name="T97" fmla="*/ 914 h 1303"/>
                  <a:gd name="T98" fmla="*/ 1247 w 1870"/>
                  <a:gd name="T99" fmla="*/ 870 h 1303"/>
                  <a:gd name="T100" fmla="*/ 1304 w 1870"/>
                  <a:gd name="T101" fmla="*/ 823 h 1303"/>
                  <a:gd name="T102" fmla="*/ 1360 w 1870"/>
                  <a:gd name="T103" fmla="*/ 773 h 1303"/>
                  <a:gd name="T104" fmla="*/ 1465 w 1870"/>
                  <a:gd name="T105" fmla="*/ 671 h 1303"/>
                  <a:gd name="T106" fmla="*/ 1516 w 1870"/>
                  <a:gd name="T107" fmla="*/ 615 h 1303"/>
                  <a:gd name="T108" fmla="*/ 1564 w 1870"/>
                  <a:gd name="T109" fmla="*/ 559 h 1303"/>
                  <a:gd name="T110" fmla="*/ 1610 w 1870"/>
                  <a:gd name="T111" fmla="*/ 500 h 1303"/>
                  <a:gd name="T112" fmla="*/ 1653 w 1870"/>
                  <a:gd name="T113" fmla="*/ 440 h 1303"/>
                  <a:gd name="T114" fmla="*/ 1695 w 1870"/>
                  <a:gd name="T115" fmla="*/ 377 h 1303"/>
                  <a:gd name="T116" fmla="*/ 1736 w 1870"/>
                  <a:gd name="T117" fmla="*/ 315 h 1303"/>
                  <a:gd name="T118" fmla="*/ 1772 w 1870"/>
                  <a:gd name="T119" fmla="*/ 249 h 1303"/>
                  <a:gd name="T120" fmla="*/ 1808 w 1870"/>
                  <a:gd name="T121" fmla="*/ 182 h 1303"/>
                  <a:gd name="T122" fmla="*/ 1840 w 1870"/>
                  <a:gd name="T123" fmla="*/ 114 h 1303"/>
                  <a:gd name="T124" fmla="*/ 1870 w 1870"/>
                  <a:gd name="T125" fmla="*/ 43 h 1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70" h="1303">
                    <a:moveTo>
                      <a:pt x="1764" y="0"/>
                    </a:moveTo>
                    <a:lnTo>
                      <a:pt x="1751" y="34"/>
                    </a:lnTo>
                    <a:lnTo>
                      <a:pt x="1737" y="67"/>
                    </a:lnTo>
                    <a:lnTo>
                      <a:pt x="1721" y="99"/>
                    </a:lnTo>
                    <a:lnTo>
                      <a:pt x="1706" y="132"/>
                    </a:lnTo>
                    <a:lnTo>
                      <a:pt x="1690" y="163"/>
                    </a:lnTo>
                    <a:lnTo>
                      <a:pt x="1673" y="195"/>
                    </a:lnTo>
                    <a:lnTo>
                      <a:pt x="1656" y="226"/>
                    </a:lnTo>
                    <a:lnTo>
                      <a:pt x="1638" y="256"/>
                    </a:lnTo>
                    <a:lnTo>
                      <a:pt x="1619" y="287"/>
                    </a:lnTo>
                    <a:lnTo>
                      <a:pt x="1600" y="316"/>
                    </a:lnTo>
                    <a:lnTo>
                      <a:pt x="1580" y="346"/>
                    </a:lnTo>
                    <a:lnTo>
                      <a:pt x="1560" y="375"/>
                    </a:lnTo>
                    <a:lnTo>
                      <a:pt x="1541" y="403"/>
                    </a:lnTo>
                    <a:lnTo>
                      <a:pt x="1519" y="432"/>
                    </a:lnTo>
                    <a:lnTo>
                      <a:pt x="1498" y="460"/>
                    </a:lnTo>
                    <a:lnTo>
                      <a:pt x="1475" y="487"/>
                    </a:lnTo>
                    <a:lnTo>
                      <a:pt x="1453" y="514"/>
                    </a:lnTo>
                    <a:lnTo>
                      <a:pt x="1430" y="541"/>
                    </a:lnTo>
                    <a:lnTo>
                      <a:pt x="1406" y="567"/>
                    </a:lnTo>
                    <a:lnTo>
                      <a:pt x="1384" y="591"/>
                    </a:lnTo>
                    <a:lnTo>
                      <a:pt x="1334" y="642"/>
                    </a:lnTo>
                    <a:lnTo>
                      <a:pt x="1283" y="691"/>
                    </a:lnTo>
                    <a:lnTo>
                      <a:pt x="1257" y="713"/>
                    </a:lnTo>
                    <a:lnTo>
                      <a:pt x="1231" y="736"/>
                    </a:lnTo>
                    <a:lnTo>
                      <a:pt x="1203" y="759"/>
                    </a:lnTo>
                    <a:lnTo>
                      <a:pt x="1177" y="781"/>
                    </a:lnTo>
                    <a:lnTo>
                      <a:pt x="1150" y="802"/>
                    </a:lnTo>
                    <a:lnTo>
                      <a:pt x="1121" y="823"/>
                    </a:lnTo>
                    <a:lnTo>
                      <a:pt x="1092" y="842"/>
                    </a:lnTo>
                    <a:lnTo>
                      <a:pt x="1065" y="863"/>
                    </a:lnTo>
                    <a:lnTo>
                      <a:pt x="1035" y="881"/>
                    </a:lnTo>
                    <a:lnTo>
                      <a:pt x="1006" y="901"/>
                    </a:lnTo>
                    <a:lnTo>
                      <a:pt x="976" y="919"/>
                    </a:lnTo>
                    <a:lnTo>
                      <a:pt x="946" y="936"/>
                    </a:lnTo>
                    <a:lnTo>
                      <a:pt x="916" y="953"/>
                    </a:lnTo>
                    <a:lnTo>
                      <a:pt x="884" y="970"/>
                    </a:lnTo>
                    <a:lnTo>
                      <a:pt x="854" y="986"/>
                    </a:lnTo>
                    <a:lnTo>
                      <a:pt x="823" y="1001"/>
                    </a:lnTo>
                    <a:lnTo>
                      <a:pt x="790" y="1016"/>
                    </a:lnTo>
                    <a:lnTo>
                      <a:pt x="759" y="1030"/>
                    </a:lnTo>
                    <a:lnTo>
                      <a:pt x="726" y="1044"/>
                    </a:lnTo>
                    <a:lnTo>
                      <a:pt x="695" y="1057"/>
                    </a:lnTo>
                    <a:lnTo>
                      <a:pt x="662" y="1071"/>
                    </a:lnTo>
                    <a:lnTo>
                      <a:pt x="628" y="1082"/>
                    </a:lnTo>
                    <a:lnTo>
                      <a:pt x="595" y="1093"/>
                    </a:lnTo>
                    <a:lnTo>
                      <a:pt x="562" y="1104"/>
                    </a:lnTo>
                    <a:lnTo>
                      <a:pt x="528" y="1114"/>
                    </a:lnTo>
                    <a:lnTo>
                      <a:pt x="494" y="1124"/>
                    </a:lnTo>
                    <a:lnTo>
                      <a:pt x="460" y="1132"/>
                    </a:lnTo>
                    <a:lnTo>
                      <a:pt x="426" y="1141"/>
                    </a:lnTo>
                    <a:lnTo>
                      <a:pt x="391" y="1149"/>
                    </a:lnTo>
                    <a:lnTo>
                      <a:pt x="357" y="1155"/>
                    </a:lnTo>
                    <a:lnTo>
                      <a:pt x="322" y="1162"/>
                    </a:lnTo>
                    <a:lnTo>
                      <a:pt x="286" y="1167"/>
                    </a:lnTo>
                    <a:lnTo>
                      <a:pt x="251" y="1172"/>
                    </a:lnTo>
                    <a:lnTo>
                      <a:pt x="216" y="1178"/>
                    </a:lnTo>
                    <a:lnTo>
                      <a:pt x="181" y="1182"/>
                    </a:lnTo>
                    <a:lnTo>
                      <a:pt x="145" y="1184"/>
                    </a:lnTo>
                    <a:lnTo>
                      <a:pt x="109" y="1187"/>
                    </a:lnTo>
                    <a:lnTo>
                      <a:pt x="73" y="1188"/>
                    </a:lnTo>
                    <a:lnTo>
                      <a:pt x="37" y="1189"/>
                    </a:lnTo>
                    <a:lnTo>
                      <a:pt x="0" y="1189"/>
                    </a:lnTo>
                    <a:lnTo>
                      <a:pt x="0" y="1303"/>
                    </a:lnTo>
                    <a:lnTo>
                      <a:pt x="39" y="1303"/>
                    </a:lnTo>
                    <a:lnTo>
                      <a:pt x="77" y="1302"/>
                    </a:lnTo>
                    <a:lnTo>
                      <a:pt x="115" y="1299"/>
                    </a:lnTo>
                    <a:lnTo>
                      <a:pt x="153" y="1298"/>
                    </a:lnTo>
                    <a:lnTo>
                      <a:pt x="191" y="1294"/>
                    </a:lnTo>
                    <a:lnTo>
                      <a:pt x="229" y="1290"/>
                    </a:lnTo>
                    <a:lnTo>
                      <a:pt x="267" y="1285"/>
                    </a:lnTo>
                    <a:lnTo>
                      <a:pt x="303" y="1279"/>
                    </a:lnTo>
                    <a:lnTo>
                      <a:pt x="341" y="1274"/>
                    </a:lnTo>
                    <a:lnTo>
                      <a:pt x="378" y="1266"/>
                    </a:lnTo>
                    <a:lnTo>
                      <a:pt x="415" y="1260"/>
                    </a:lnTo>
                    <a:lnTo>
                      <a:pt x="451" y="1252"/>
                    </a:lnTo>
                    <a:lnTo>
                      <a:pt x="488" y="1243"/>
                    </a:lnTo>
                    <a:lnTo>
                      <a:pt x="525" y="1234"/>
                    </a:lnTo>
                    <a:lnTo>
                      <a:pt x="560" y="1223"/>
                    </a:lnTo>
                    <a:lnTo>
                      <a:pt x="595" y="1213"/>
                    </a:lnTo>
                    <a:lnTo>
                      <a:pt x="630" y="1201"/>
                    </a:lnTo>
                    <a:lnTo>
                      <a:pt x="666" y="1189"/>
                    </a:lnTo>
                    <a:lnTo>
                      <a:pt x="701" y="1176"/>
                    </a:lnTo>
                    <a:lnTo>
                      <a:pt x="736" y="1163"/>
                    </a:lnTo>
                    <a:lnTo>
                      <a:pt x="770" y="1149"/>
                    </a:lnTo>
                    <a:lnTo>
                      <a:pt x="804" y="1135"/>
                    </a:lnTo>
                    <a:lnTo>
                      <a:pt x="838" y="1119"/>
                    </a:lnTo>
                    <a:lnTo>
                      <a:pt x="871" y="1103"/>
                    </a:lnTo>
                    <a:lnTo>
                      <a:pt x="905" y="1088"/>
                    </a:lnTo>
                    <a:lnTo>
                      <a:pt x="938" y="1071"/>
                    </a:lnTo>
                    <a:lnTo>
                      <a:pt x="971" y="1052"/>
                    </a:lnTo>
                    <a:lnTo>
                      <a:pt x="1002" y="1034"/>
                    </a:lnTo>
                    <a:lnTo>
                      <a:pt x="1035" y="1016"/>
                    </a:lnTo>
                    <a:lnTo>
                      <a:pt x="1066" y="996"/>
                    </a:lnTo>
                    <a:lnTo>
                      <a:pt x="1097" y="977"/>
                    </a:lnTo>
                    <a:lnTo>
                      <a:pt x="1127" y="956"/>
                    </a:lnTo>
                    <a:lnTo>
                      <a:pt x="1159" y="936"/>
                    </a:lnTo>
                    <a:lnTo>
                      <a:pt x="1188" y="914"/>
                    </a:lnTo>
                    <a:lnTo>
                      <a:pt x="1218" y="892"/>
                    </a:lnTo>
                    <a:lnTo>
                      <a:pt x="1247" y="870"/>
                    </a:lnTo>
                    <a:lnTo>
                      <a:pt x="1277" y="846"/>
                    </a:lnTo>
                    <a:lnTo>
                      <a:pt x="1304" y="823"/>
                    </a:lnTo>
                    <a:lnTo>
                      <a:pt x="1333" y="799"/>
                    </a:lnTo>
                    <a:lnTo>
                      <a:pt x="1360" y="773"/>
                    </a:lnTo>
                    <a:lnTo>
                      <a:pt x="1414" y="723"/>
                    </a:lnTo>
                    <a:lnTo>
                      <a:pt x="1465" y="671"/>
                    </a:lnTo>
                    <a:lnTo>
                      <a:pt x="1491" y="644"/>
                    </a:lnTo>
                    <a:lnTo>
                      <a:pt x="1516" y="615"/>
                    </a:lnTo>
                    <a:lnTo>
                      <a:pt x="1540" y="588"/>
                    </a:lnTo>
                    <a:lnTo>
                      <a:pt x="1564" y="559"/>
                    </a:lnTo>
                    <a:lnTo>
                      <a:pt x="1587" y="530"/>
                    </a:lnTo>
                    <a:lnTo>
                      <a:pt x="1610" y="500"/>
                    </a:lnTo>
                    <a:lnTo>
                      <a:pt x="1632" y="470"/>
                    </a:lnTo>
                    <a:lnTo>
                      <a:pt x="1653" y="440"/>
                    </a:lnTo>
                    <a:lnTo>
                      <a:pt x="1676" y="409"/>
                    </a:lnTo>
                    <a:lnTo>
                      <a:pt x="1695" y="377"/>
                    </a:lnTo>
                    <a:lnTo>
                      <a:pt x="1716" y="346"/>
                    </a:lnTo>
                    <a:lnTo>
                      <a:pt x="1736" y="315"/>
                    </a:lnTo>
                    <a:lnTo>
                      <a:pt x="1754" y="282"/>
                    </a:lnTo>
                    <a:lnTo>
                      <a:pt x="1772" y="249"/>
                    </a:lnTo>
                    <a:lnTo>
                      <a:pt x="1791" y="215"/>
                    </a:lnTo>
                    <a:lnTo>
                      <a:pt x="1808" y="182"/>
                    </a:lnTo>
                    <a:lnTo>
                      <a:pt x="1825" y="148"/>
                    </a:lnTo>
                    <a:lnTo>
                      <a:pt x="1840" y="114"/>
                    </a:lnTo>
                    <a:lnTo>
                      <a:pt x="1856" y="78"/>
                    </a:lnTo>
                    <a:lnTo>
                      <a:pt x="1870" y="43"/>
                    </a:lnTo>
                    <a:lnTo>
                      <a:pt x="1764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solidFill>
                  <a:srgbClr val="FF00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2" name="Rectangle 88"/>
              <p:cNvSpPr>
                <a:spLocks noChangeAspect="1" noChangeArrowheads="1"/>
              </p:cNvSpPr>
              <p:nvPr/>
            </p:nvSpPr>
            <p:spPr bwMode="auto">
              <a:xfrm>
                <a:off x="2483" y="2871"/>
                <a:ext cx="184" cy="28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3" name="Rectangle 89"/>
              <p:cNvSpPr>
                <a:spLocks noChangeAspect="1" noChangeArrowheads="1"/>
              </p:cNvSpPr>
              <p:nvPr/>
            </p:nvSpPr>
            <p:spPr bwMode="auto">
              <a:xfrm>
                <a:off x="2483" y="3238"/>
                <a:ext cx="184" cy="28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4" name="Rectangle 90"/>
              <p:cNvSpPr>
                <a:spLocks noChangeAspect="1" noChangeArrowheads="1"/>
              </p:cNvSpPr>
              <p:nvPr/>
            </p:nvSpPr>
            <p:spPr bwMode="auto">
              <a:xfrm>
                <a:off x="2469" y="2885"/>
                <a:ext cx="28" cy="367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5" name="Line 91"/>
              <p:cNvSpPr>
                <a:spLocks noChangeAspect="1" noChangeShapeType="1"/>
              </p:cNvSpPr>
              <p:nvPr/>
            </p:nvSpPr>
            <p:spPr bwMode="auto">
              <a:xfrm flipV="1">
                <a:off x="2109" y="2965"/>
                <a:ext cx="103" cy="104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6" name="Line 92"/>
              <p:cNvSpPr>
                <a:spLocks noChangeAspect="1" noChangeShapeType="1"/>
              </p:cNvSpPr>
              <p:nvPr/>
            </p:nvSpPr>
            <p:spPr bwMode="auto">
              <a:xfrm flipV="1">
                <a:off x="1999" y="2855"/>
                <a:ext cx="213" cy="214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7" name="Line 93"/>
              <p:cNvSpPr>
                <a:spLocks noChangeAspect="1" noChangeShapeType="1"/>
              </p:cNvSpPr>
              <p:nvPr/>
            </p:nvSpPr>
            <p:spPr bwMode="auto">
              <a:xfrm flipV="1">
                <a:off x="1889" y="2745"/>
                <a:ext cx="323" cy="324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8" name="Line 94"/>
              <p:cNvSpPr>
                <a:spLocks noChangeAspect="1" noChangeShapeType="1"/>
              </p:cNvSpPr>
              <p:nvPr/>
            </p:nvSpPr>
            <p:spPr bwMode="auto">
              <a:xfrm flipV="1">
                <a:off x="1778" y="2635"/>
                <a:ext cx="434" cy="434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9" name="Line 95"/>
              <p:cNvSpPr>
                <a:spLocks noChangeAspect="1" noChangeShapeType="1"/>
              </p:cNvSpPr>
              <p:nvPr/>
            </p:nvSpPr>
            <p:spPr bwMode="auto">
              <a:xfrm flipV="1">
                <a:off x="1725" y="2582"/>
                <a:ext cx="431" cy="430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0" name="Line 96"/>
              <p:cNvSpPr>
                <a:spLocks noChangeAspect="1" noChangeShapeType="1"/>
              </p:cNvSpPr>
              <p:nvPr/>
            </p:nvSpPr>
            <p:spPr bwMode="auto">
              <a:xfrm flipV="1">
                <a:off x="1769" y="2626"/>
                <a:ext cx="232" cy="232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1" name="Line 97"/>
              <p:cNvSpPr>
                <a:spLocks noChangeAspect="1" noChangeShapeType="1"/>
              </p:cNvSpPr>
              <p:nvPr/>
            </p:nvSpPr>
            <p:spPr bwMode="auto">
              <a:xfrm flipV="1">
                <a:off x="2623" y="2855"/>
                <a:ext cx="30" cy="30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2" name="Line 98"/>
              <p:cNvSpPr>
                <a:spLocks noChangeAspect="1" noChangeShapeType="1"/>
              </p:cNvSpPr>
              <p:nvPr/>
            </p:nvSpPr>
            <p:spPr bwMode="auto">
              <a:xfrm flipV="1">
                <a:off x="2439" y="3025"/>
                <a:ext cx="44" cy="44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3" name="Line 99"/>
              <p:cNvSpPr>
                <a:spLocks noChangeAspect="1" noChangeShapeType="1"/>
              </p:cNvSpPr>
              <p:nvPr/>
            </p:nvSpPr>
            <p:spPr bwMode="auto">
              <a:xfrm flipV="1">
                <a:off x="2513" y="2786"/>
                <a:ext cx="100" cy="99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" name="Line 100"/>
              <p:cNvSpPr>
                <a:spLocks noChangeAspect="1" noChangeShapeType="1"/>
              </p:cNvSpPr>
              <p:nvPr/>
            </p:nvSpPr>
            <p:spPr bwMode="auto">
              <a:xfrm flipV="1">
                <a:off x="2329" y="2915"/>
                <a:ext cx="154" cy="154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5" name="Line 101"/>
              <p:cNvSpPr>
                <a:spLocks noChangeAspect="1" noChangeShapeType="1"/>
              </p:cNvSpPr>
              <p:nvPr/>
            </p:nvSpPr>
            <p:spPr bwMode="auto">
              <a:xfrm flipV="1">
                <a:off x="2219" y="2726"/>
                <a:ext cx="344" cy="343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6" name="Line 102"/>
              <p:cNvSpPr>
                <a:spLocks noChangeAspect="1" noChangeShapeType="1"/>
              </p:cNvSpPr>
              <p:nvPr/>
            </p:nvSpPr>
            <p:spPr bwMode="auto">
              <a:xfrm flipV="1">
                <a:off x="2212" y="2675"/>
                <a:ext cx="292" cy="290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7" name="Line 103"/>
              <p:cNvSpPr>
                <a:spLocks noChangeAspect="1" noChangeShapeType="1"/>
              </p:cNvSpPr>
              <p:nvPr/>
            </p:nvSpPr>
            <p:spPr bwMode="auto">
              <a:xfrm flipV="1">
                <a:off x="2212" y="2633"/>
                <a:ext cx="224" cy="222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8" name="Line 104"/>
              <p:cNvSpPr>
                <a:spLocks noChangeAspect="1" noChangeShapeType="1"/>
              </p:cNvSpPr>
              <p:nvPr/>
            </p:nvSpPr>
            <p:spPr bwMode="auto">
              <a:xfrm flipV="1">
                <a:off x="2212" y="2601"/>
                <a:ext cx="145" cy="144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9" name="Line 105"/>
              <p:cNvSpPr>
                <a:spLocks noChangeAspect="1" noChangeShapeType="1"/>
              </p:cNvSpPr>
              <p:nvPr/>
            </p:nvSpPr>
            <p:spPr bwMode="auto">
              <a:xfrm flipV="1">
                <a:off x="2212" y="2582"/>
                <a:ext cx="54" cy="53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0" name="Line 106"/>
              <p:cNvSpPr>
                <a:spLocks noChangeAspect="1" noChangeShapeType="1"/>
              </p:cNvSpPr>
              <p:nvPr/>
            </p:nvSpPr>
            <p:spPr bwMode="auto">
              <a:xfrm flipV="1">
                <a:off x="2452" y="3308"/>
                <a:ext cx="188" cy="188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1" name="Line 107"/>
              <p:cNvSpPr>
                <a:spLocks noChangeAspect="1" noChangeShapeType="1"/>
              </p:cNvSpPr>
              <p:nvPr/>
            </p:nvSpPr>
            <p:spPr bwMode="auto">
              <a:xfrm flipV="1">
                <a:off x="2285" y="3252"/>
                <a:ext cx="301" cy="301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2" name="Line 108"/>
              <p:cNvSpPr>
                <a:spLocks noChangeAspect="1" noChangeShapeType="1"/>
              </p:cNvSpPr>
              <p:nvPr/>
            </p:nvSpPr>
            <p:spPr bwMode="auto">
              <a:xfrm flipV="1">
                <a:off x="2212" y="3245"/>
                <a:ext cx="271" cy="270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3" name="Line 109"/>
              <p:cNvSpPr>
                <a:spLocks noChangeAspect="1" noChangeShapeType="1"/>
              </p:cNvSpPr>
              <p:nvPr/>
            </p:nvSpPr>
            <p:spPr bwMode="auto">
              <a:xfrm flipV="1">
                <a:off x="2212" y="3135"/>
                <a:ext cx="271" cy="270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4" name="Line 110"/>
              <p:cNvSpPr>
                <a:spLocks noChangeAspect="1" noChangeShapeType="1"/>
              </p:cNvSpPr>
              <p:nvPr/>
            </p:nvSpPr>
            <p:spPr bwMode="auto">
              <a:xfrm flipV="1">
                <a:off x="2212" y="3069"/>
                <a:ext cx="227" cy="226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5" name="Line 111"/>
              <p:cNvSpPr>
                <a:spLocks noChangeAspect="1" noChangeShapeType="1"/>
              </p:cNvSpPr>
              <p:nvPr/>
            </p:nvSpPr>
            <p:spPr bwMode="auto">
              <a:xfrm flipV="1">
                <a:off x="2212" y="3069"/>
                <a:ext cx="117" cy="116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6" name="Line 112"/>
              <p:cNvSpPr>
                <a:spLocks noChangeAspect="1" noChangeShapeType="1"/>
              </p:cNvSpPr>
              <p:nvPr/>
            </p:nvSpPr>
            <p:spPr bwMode="auto">
              <a:xfrm flipV="1">
                <a:off x="2212" y="3069"/>
                <a:ext cx="7" cy="6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" name="Line 113"/>
              <p:cNvSpPr>
                <a:spLocks noChangeAspect="1" noChangeShapeType="1"/>
              </p:cNvSpPr>
              <p:nvPr/>
            </p:nvSpPr>
            <p:spPr bwMode="auto">
              <a:xfrm flipV="1">
                <a:off x="2171" y="3515"/>
                <a:ext cx="41" cy="41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8" name="Line 114"/>
              <p:cNvSpPr>
                <a:spLocks noChangeAspect="1" noChangeShapeType="1"/>
              </p:cNvSpPr>
              <p:nvPr/>
            </p:nvSpPr>
            <p:spPr bwMode="auto">
              <a:xfrm flipV="1">
                <a:off x="2078" y="3405"/>
                <a:ext cx="134" cy="135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" name="Line 115"/>
              <p:cNvSpPr>
                <a:spLocks noChangeAspect="1" noChangeShapeType="1"/>
              </p:cNvSpPr>
              <p:nvPr/>
            </p:nvSpPr>
            <p:spPr bwMode="auto">
              <a:xfrm flipV="1">
                <a:off x="1998" y="3295"/>
                <a:ext cx="214" cy="214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0" name="Line 116"/>
              <p:cNvSpPr>
                <a:spLocks noChangeAspect="1" noChangeShapeType="1"/>
              </p:cNvSpPr>
              <p:nvPr/>
            </p:nvSpPr>
            <p:spPr bwMode="auto">
              <a:xfrm flipV="1">
                <a:off x="1929" y="3185"/>
                <a:ext cx="283" cy="283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1" name="Line 117"/>
              <p:cNvSpPr>
                <a:spLocks noChangeAspect="1" noChangeShapeType="1"/>
              </p:cNvSpPr>
              <p:nvPr/>
            </p:nvSpPr>
            <p:spPr bwMode="auto">
              <a:xfrm flipV="1">
                <a:off x="1869" y="3075"/>
                <a:ext cx="343" cy="343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2" name="Line 118"/>
              <p:cNvSpPr>
                <a:spLocks noChangeAspect="1" noChangeShapeType="1"/>
              </p:cNvSpPr>
              <p:nvPr/>
            </p:nvSpPr>
            <p:spPr bwMode="auto">
              <a:xfrm flipV="1">
                <a:off x="1817" y="3069"/>
                <a:ext cx="292" cy="290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3" name="Line 119"/>
              <p:cNvSpPr>
                <a:spLocks noChangeAspect="1" noChangeShapeType="1"/>
              </p:cNvSpPr>
              <p:nvPr/>
            </p:nvSpPr>
            <p:spPr bwMode="auto">
              <a:xfrm flipV="1">
                <a:off x="1775" y="3069"/>
                <a:ext cx="224" cy="222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4" name="Line 120"/>
              <p:cNvSpPr>
                <a:spLocks noChangeAspect="1" noChangeShapeType="1"/>
              </p:cNvSpPr>
              <p:nvPr/>
            </p:nvSpPr>
            <p:spPr bwMode="auto">
              <a:xfrm flipV="1">
                <a:off x="1743" y="3069"/>
                <a:ext cx="146" cy="144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5" name="Line 121"/>
              <p:cNvSpPr>
                <a:spLocks noChangeAspect="1" noChangeShapeType="1"/>
              </p:cNvSpPr>
              <p:nvPr/>
            </p:nvSpPr>
            <p:spPr bwMode="auto">
              <a:xfrm flipV="1">
                <a:off x="1724" y="3069"/>
                <a:ext cx="54" cy="53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9" name="Group 122"/>
            <p:cNvGrpSpPr>
              <a:grpSpLocks/>
            </p:cNvGrpSpPr>
            <p:nvPr/>
          </p:nvGrpSpPr>
          <p:grpSpPr bwMode="auto">
            <a:xfrm>
              <a:off x="3092" y="2361"/>
              <a:ext cx="672" cy="848"/>
              <a:chOff x="3092" y="2361"/>
              <a:chExt cx="672" cy="848"/>
            </a:xfrm>
          </p:grpSpPr>
          <p:sp>
            <p:nvSpPr>
              <p:cNvPr id="268" name="Rectangle 123"/>
              <p:cNvSpPr>
                <a:spLocks noChangeAspect="1" noChangeArrowheads="1"/>
              </p:cNvSpPr>
              <p:nvPr/>
            </p:nvSpPr>
            <p:spPr bwMode="auto">
              <a:xfrm>
                <a:off x="3454" y="2487"/>
                <a:ext cx="8" cy="200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9" name="Rectangle 124"/>
              <p:cNvSpPr>
                <a:spLocks noChangeAspect="1" noChangeArrowheads="1"/>
              </p:cNvSpPr>
              <p:nvPr/>
            </p:nvSpPr>
            <p:spPr bwMode="auto">
              <a:xfrm>
                <a:off x="3454" y="2711"/>
                <a:ext cx="8" cy="24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0" name="Rectangle 125"/>
              <p:cNvSpPr>
                <a:spLocks noChangeAspect="1" noChangeArrowheads="1"/>
              </p:cNvSpPr>
              <p:nvPr/>
            </p:nvSpPr>
            <p:spPr bwMode="auto">
              <a:xfrm>
                <a:off x="3454" y="2759"/>
                <a:ext cx="8" cy="200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1" name="Rectangle 126"/>
              <p:cNvSpPr>
                <a:spLocks noChangeAspect="1" noChangeArrowheads="1"/>
              </p:cNvSpPr>
              <p:nvPr/>
            </p:nvSpPr>
            <p:spPr bwMode="auto">
              <a:xfrm>
                <a:off x="3454" y="2983"/>
                <a:ext cx="8" cy="24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2" name="Rectangle 127"/>
              <p:cNvSpPr>
                <a:spLocks noChangeAspect="1" noChangeArrowheads="1"/>
              </p:cNvSpPr>
              <p:nvPr/>
            </p:nvSpPr>
            <p:spPr bwMode="auto">
              <a:xfrm>
                <a:off x="3454" y="3031"/>
                <a:ext cx="8" cy="178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3" name="Freeform 128"/>
              <p:cNvSpPr>
                <a:spLocks noChangeAspect="1" noChangeArrowheads="1"/>
              </p:cNvSpPr>
              <p:nvPr/>
            </p:nvSpPr>
            <p:spPr bwMode="auto">
              <a:xfrm>
                <a:off x="3458" y="2551"/>
                <a:ext cx="288" cy="212"/>
              </a:xfrm>
              <a:custGeom>
                <a:avLst/>
                <a:gdLst>
                  <a:gd name="T0" fmla="*/ 0 w 1440"/>
                  <a:gd name="T1" fmla="*/ 114 h 1056"/>
                  <a:gd name="T2" fmla="*/ 112 w 1440"/>
                  <a:gd name="T3" fmla="*/ 118 h 1056"/>
                  <a:gd name="T4" fmla="*/ 221 w 1440"/>
                  <a:gd name="T5" fmla="*/ 131 h 1056"/>
                  <a:gd name="T6" fmla="*/ 329 w 1440"/>
                  <a:gd name="T7" fmla="*/ 153 h 1056"/>
                  <a:gd name="T8" fmla="*/ 433 w 1440"/>
                  <a:gd name="T9" fmla="*/ 183 h 1056"/>
                  <a:gd name="T10" fmla="*/ 535 w 1440"/>
                  <a:gd name="T11" fmla="*/ 221 h 1056"/>
                  <a:gd name="T12" fmla="*/ 633 w 1440"/>
                  <a:gd name="T13" fmla="*/ 265 h 1056"/>
                  <a:gd name="T14" fmla="*/ 728 w 1440"/>
                  <a:gd name="T15" fmla="*/ 317 h 1056"/>
                  <a:gd name="T16" fmla="*/ 818 w 1440"/>
                  <a:gd name="T17" fmla="*/ 376 h 1056"/>
                  <a:gd name="T18" fmla="*/ 904 w 1440"/>
                  <a:gd name="T19" fmla="*/ 442 h 1056"/>
                  <a:gd name="T20" fmla="*/ 984 w 1440"/>
                  <a:gd name="T21" fmla="*/ 515 h 1056"/>
                  <a:gd name="T22" fmla="*/ 1059 w 1440"/>
                  <a:gd name="T23" fmla="*/ 592 h 1056"/>
                  <a:gd name="T24" fmla="*/ 1128 w 1440"/>
                  <a:gd name="T25" fmla="*/ 675 h 1056"/>
                  <a:gd name="T26" fmla="*/ 1189 w 1440"/>
                  <a:gd name="T27" fmla="*/ 763 h 1056"/>
                  <a:gd name="T28" fmla="*/ 1244 w 1440"/>
                  <a:gd name="T29" fmla="*/ 857 h 1056"/>
                  <a:gd name="T30" fmla="*/ 1293 w 1440"/>
                  <a:gd name="T31" fmla="*/ 955 h 1056"/>
                  <a:gd name="T32" fmla="*/ 1333 w 1440"/>
                  <a:gd name="T33" fmla="*/ 1056 h 1056"/>
                  <a:gd name="T34" fmla="*/ 1420 w 1440"/>
                  <a:gd name="T35" fmla="*/ 964 h 1056"/>
                  <a:gd name="T36" fmla="*/ 1372 w 1440"/>
                  <a:gd name="T37" fmla="*/ 855 h 1056"/>
                  <a:gd name="T38" fmla="*/ 1316 w 1440"/>
                  <a:gd name="T39" fmla="*/ 752 h 1056"/>
                  <a:gd name="T40" fmla="*/ 1252 w 1440"/>
                  <a:gd name="T41" fmla="*/ 653 h 1056"/>
                  <a:gd name="T42" fmla="*/ 1181 w 1440"/>
                  <a:gd name="T43" fmla="*/ 560 h 1056"/>
                  <a:gd name="T44" fmla="*/ 1104 w 1440"/>
                  <a:gd name="T45" fmla="*/ 473 h 1056"/>
                  <a:gd name="T46" fmla="*/ 1021 w 1440"/>
                  <a:gd name="T47" fmla="*/ 393 h 1056"/>
                  <a:gd name="T48" fmla="*/ 932 w 1440"/>
                  <a:gd name="T49" fmla="*/ 319 h 1056"/>
                  <a:gd name="T50" fmla="*/ 836 w 1440"/>
                  <a:gd name="T51" fmla="*/ 251 h 1056"/>
                  <a:gd name="T52" fmla="*/ 737 w 1440"/>
                  <a:gd name="T53" fmla="*/ 191 h 1056"/>
                  <a:gd name="T54" fmla="*/ 632 w 1440"/>
                  <a:gd name="T55" fmla="*/ 139 h 1056"/>
                  <a:gd name="T56" fmla="*/ 524 w 1440"/>
                  <a:gd name="T57" fmla="*/ 94 h 1056"/>
                  <a:gd name="T58" fmla="*/ 412 w 1440"/>
                  <a:gd name="T59" fmla="*/ 58 h 1056"/>
                  <a:gd name="T60" fmla="*/ 297 w 1440"/>
                  <a:gd name="T61" fmla="*/ 30 h 1056"/>
                  <a:gd name="T62" fmla="*/ 181 w 1440"/>
                  <a:gd name="T63" fmla="*/ 11 h 1056"/>
                  <a:gd name="T64" fmla="*/ 62 w 1440"/>
                  <a:gd name="T65" fmla="*/ 2 h 1056"/>
                  <a:gd name="T66" fmla="*/ 0 w 1440"/>
                  <a:gd name="T67" fmla="*/ 0 h 10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40" h="1056">
                    <a:moveTo>
                      <a:pt x="0" y="114"/>
                    </a:moveTo>
                    <a:lnTo>
                      <a:pt x="0" y="114"/>
                    </a:lnTo>
                    <a:lnTo>
                      <a:pt x="57" y="115"/>
                    </a:lnTo>
                    <a:lnTo>
                      <a:pt x="112" y="118"/>
                    </a:lnTo>
                    <a:lnTo>
                      <a:pt x="168" y="124"/>
                    </a:lnTo>
                    <a:lnTo>
                      <a:pt x="221" y="131"/>
                    </a:lnTo>
                    <a:lnTo>
                      <a:pt x="275" y="141"/>
                    </a:lnTo>
                    <a:lnTo>
                      <a:pt x="329" y="153"/>
                    </a:lnTo>
                    <a:lnTo>
                      <a:pt x="382" y="167"/>
                    </a:lnTo>
                    <a:lnTo>
                      <a:pt x="433" y="183"/>
                    </a:lnTo>
                    <a:lnTo>
                      <a:pt x="484" y="201"/>
                    </a:lnTo>
                    <a:lnTo>
                      <a:pt x="535" y="221"/>
                    </a:lnTo>
                    <a:lnTo>
                      <a:pt x="585" y="242"/>
                    </a:lnTo>
                    <a:lnTo>
                      <a:pt x="633" y="265"/>
                    </a:lnTo>
                    <a:lnTo>
                      <a:pt x="682" y="290"/>
                    </a:lnTo>
                    <a:lnTo>
                      <a:pt x="728" y="317"/>
                    </a:lnTo>
                    <a:lnTo>
                      <a:pt x="773" y="346"/>
                    </a:lnTo>
                    <a:lnTo>
                      <a:pt x="818" y="376"/>
                    </a:lnTo>
                    <a:lnTo>
                      <a:pt x="861" y="409"/>
                    </a:lnTo>
                    <a:lnTo>
                      <a:pt x="904" y="442"/>
                    </a:lnTo>
                    <a:lnTo>
                      <a:pt x="945" y="477"/>
                    </a:lnTo>
                    <a:lnTo>
                      <a:pt x="984" y="515"/>
                    </a:lnTo>
                    <a:lnTo>
                      <a:pt x="1022" y="552"/>
                    </a:lnTo>
                    <a:lnTo>
                      <a:pt x="1059" y="592"/>
                    </a:lnTo>
                    <a:lnTo>
                      <a:pt x="1094" y="632"/>
                    </a:lnTo>
                    <a:lnTo>
                      <a:pt x="1128" y="675"/>
                    </a:lnTo>
                    <a:lnTo>
                      <a:pt x="1159" y="718"/>
                    </a:lnTo>
                    <a:lnTo>
                      <a:pt x="1189" y="763"/>
                    </a:lnTo>
                    <a:lnTo>
                      <a:pt x="1218" y="810"/>
                    </a:lnTo>
                    <a:lnTo>
                      <a:pt x="1244" y="857"/>
                    </a:lnTo>
                    <a:lnTo>
                      <a:pt x="1269" y="905"/>
                    </a:lnTo>
                    <a:lnTo>
                      <a:pt x="1293" y="955"/>
                    </a:lnTo>
                    <a:lnTo>
                      <a:pt x="1314" y="1005"/>
                    </a:lnTo>
                    <a:lnTo>
                      <a:pt x="1333" y="1056"/>
                    </a:lnTo>
                    <a:lnTo>
                      <a:pt x="1440" y="1020"/>
                    </a:lnTo>
                    <a:lnTo>
                      <a:pt x="1420" y="964"/>
                    </a:lnTo>
                    <a:lnTo>
                      <a:pt x="1397" y="909"/>
                    </a:lnTo>
                    <a:lnTo>
                      <a:pt x="1372" y="855"/>
                    </a:lnTo>
                    <a:lnTo>
                      <a:pt x="1345" y="803"/>
                    </a:lnTo>
                    <a:lnTo>
                      <a:pt x="1316" y="752"/>
                    </a:lnTo>
                    <a:lnTo>
                      <a:pt x="1285" y="701"/>
                    </a:lnTo>
                    <a:lnTo>
                      <a:pt x="1252" y="653"/>
                    </a:lnTo>
                    <a:lnTo>
                      <a:pt x="1218" y="606"/>
                    </a:lnTo>
                    <a:lnTo>
                      <a:pt x="1181" y="560"/>
                    </a:lnTo>
                    <a:lnTo>
                      <a:pt x="1144" y="516"/>
                    </a:lnTo>
                    <a:lnTo>
                      <a:pt x="1104" y="473"/>
                    </a:lnTo>
                    <a:lnTo>
                      <a:pt x="1062" y="432"/>
                    </a:lnTo>
                    <a:lnTo>
                      <a:pt x="1021" y="393"/>
                    </a:lnTo>
                    <a:lnTo>
                      <a:pt x="976" y="355"/>
                    </a:lnTo>
                    <a:lnTo>
                      <a:pt x="932" y="319"/>
                    </a:lnTo>
                    <a:lnTo>
                      <a:pt x="885" y="284"/>
                    </a:lnTo>
                    <a:lnTo>
                      <a:pt x="836" y="251"/>
                    </a:lnTo>
                    <a:lnTo>
                      <a:pt x="786" y="221"/>
                    </a:lnTo>
                    <a:lnTo>
                      <a:pt x="737" y="191"/>
                    </a:lnTo>
                    <a:lnTo>
                      <a:pt x="684" y="163"/>
                    </a:lnTo>
                    <a:lnTo>
                      <a:pt x="632" y="139"/>
                    </a:lnTo>
                    <a:lnTo>
                      <a:pt x="578" y="115"/>
                    </a:lnTo>
                    <a:lnTo>
                      <a:pt x="524" y="94"/>
                    </a:lnTo>
                    <a:lnTo>
                      <a:pt x="469" y="75"/>
                    </a:lnTo>
                    <a:lnTo>
                      <a:pt x="412" y="58"/>
                    </a:lnTo>
                    <a:lnTo>
                      <a:pt x="356" y="43"/>
                    </a:lnTo>
                    <a:lnTo>
                      <a:pt x="297" y="30"/>
                    </a:lnTo>
                    <a:lnTo>
                      <a:pt x="240" y="20"/>
                    </a:lnTo>
                    <a:lnTo>
                      <a:pt x="181" y="11"/>
                    </a:lnTo>
                    <a:lnTo>
                      <a:pt x="121" y="5"/>
                    </a:lnTo>
                    <a:lnTo>
                      <a:pt x="62" y="2"/>
                    </a:lnTo>
                    <a:lnTo>
                      <a:pt x="0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solidFill>
                  <a:srgbClr val="FF00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4" name="Freeform 129"/>
              <p:cNvSpPr>
                <a:spLocks noChangeAspect="1" noChangeArrowheads="1"/>
              </p:cNvSpPr>
              <p:nvPr/>
            </p:nvSpPr>
            <p:spPr bwMode="auto">
              <a:xfrm>
                <a:off x="3153" y="2551"/>
                <a:ext cx="305" cy="305"/>
              </a:xfrm>
              <a:custGeom>
                <a:avLst/>
                <a:gdLst>
                  <a:gd name="T0" fmla="*/ 115 w 1529"/>
                  <a:gd name="T1" fmla="*/ 1490 h 1526"/>
                  <a:gd name="T2" fmla="*/ 122 w 1529"/>
                  <a:gd name="T3" fmla="*/ 1381 h 1526"/>
                  <a:gd name="T4" fmla="*/ 138 w 1529"/>
                  <a:gd name="T5" fmla="*/ 1277 h 1526"/>
                  <a:gd name="T6" fmla="*/ 160 w 1529"/>
                  <a:gd name="T7" fmla="*/ 1174 h 1526"/>
                  <a:gd name="T8" fmla="*/ 189 w 1529"/>
                  <a:gd name="T9" fmla="*/ 1075 h 1526"/>
                  <a:gd name="T10" fmla="*/ 227 w 1529"/>
                  <a:gd name="T11" fmla="*/ 978 h 1526"/>
                  <a:gd name="T12" fmla="*/ 270 w 1529"/>
                  <a:gd name="T13" fmla="*/ 884 h 1526"/>
                  <a:gd name="T14" fmla="*/ 319 w 1529"/>
                  <a:gd name="T15" fmla="*/ 795 h 1526"/>
                  <a:gd name="T16" fmla="*/ 376 w 1529"/>
                  <a:gd name="T17" fmla="*/ 709 h 1526"/>
                  <a:gd name="T18" fmla="*/ 438 w 1529"/>
                  <a:gd name="T19" fmla="*/ 628 h 1526"/>
                  <a:gd name="T20" fmla="*/ 507 w 1529"/>
                  <a:gd name="T21" fmla="*/ 552 h 1526"/>
                  <a:gd name="T22" fmla="*/ 580 w 1529"/>
                  <a:gd name="T23" fmla="*/ 482 h 1526"/>
                  <a:gd name="T24" fmla="*/ 657 w 1529"/>
                  <a:gd name="T25" fmla="*/ 415 h 1526"/>
                  <a:gd name="T26" fmla="*/ 739 w 1529"/>
                  <a:gd name="T27" fmla="*/ 355 h 1526"/>
                  <a:gd name="T28" fmla="*/ 827 w 1529"/>
                  <a:gd name="T29" fmla="*/ 302 h 1526"/>
                  <a:gd name="T30" fmla="*/ 917 w 1529"/>
                  <a:gd name="T31" fmla="*/ 254 h 1526"/>
                  <a:gd name="T32" fmla="*/ 1011 w 1529"/>
                  <a:gd name="T33" fmla="*/ 212 h 1526"/>
                  <a:gd name="T34" fmla="*/ 1109 w 1529"/>
                  <a:gd name="T35" fmla="*/ 178 h 1526"/>
                  <a:gd name="T36" fmla="*/ 1212 w 1529"/>
                  <a:gd name="T37" fmla="*/ 150 h 1526"/>
                  <a:gd name="T38" fmla="*/ 1315 w 1529"/>
                  <a:gd name="T39" fmla="*/ 131 h 1526"/>
                  <a:gd name="T40" fmla="*/ 1421 w 1529"/>
                  <a:gd name="T41" fmla="*/ 118 h 1526"/>
                  <a:gd name="T42" fmla="*/ 1529 w 1529"/>
                  <a:gd name="T43" fmla="*/ 114 h 1526"/>
                  <a:gd name="T44" fmla="*/ 1451 w 1529"/>
                  <a:gd name="T45" fmla="*/ 3 h 1526"/>
                  <a:gd name="T46" fmla="*/ 1336 w 1529"/>
                  <a:gd name="T47" fmla="*/ 12 h 1526"/>
                  <a:gd name="T48" fmla="*/ 1222 w 1529"/>
                  <a:gd name="T49" fmla="*/ 32 h 1526"/>
                  <a:gd name="T50" fmla="*/ 1112 w 1529"/>
                  <a:gd name="T51" fmla="*/ 58 h 1526"/>
                  <a:gd name="T52" fmla="*/ 1005 w 1529"/>
                  <a:gd name="T53" fmla="*/ 93 h 1526"/>
                  <a:gd name="T54" fmla="*/ 902 w 1529"/>
                  <a:gd name="T55" fmla="*/ 136 h 1526"/>
                  <a:gd name="T56" fmla="*/ 802 w 1529"/>
                  <a:gd name="T57" fmla="*/ 184 h 1526"/>
                  <a:gd name="T58" fmla="*/ 707 w 1529"/>
                  <a:gd name="T59" fmla="*/ 242 h 1526"/>
                  <a:gd name="T60" fmla="*/ 616 w 1529"/>
                  <a:gd name="T61" fmla="*/ 304 h 1526"/>
                  <a:gd name="T62" fmla="*/ 530 w 1529"/>
                  <a:gd name="T63" fmla="*/ 374 h 1526"/>
                  <a:gd name="T64" fmla="*/ 449 w 1529"/>
                  <a:gd name="T65" fmla="*/ 448 h 1526"/>
                  <a:gd name="T66" fmla="*/ 374 w 1529"/>
                  <a:gd name="T67" fmla="*/ 529 h 1526"/>
                  <a:gd name="T68" fmla="*/ 305 w 1529"/>
                  <a:gd name="T69" fmla="*/ 614 h 1526"/>
                  <a:gd name="T70" fmla="*/ 242 w 1529"/>
                  <a:gd name="T71" fmla="*/ 705 h 1526"/>
                  <a:gd name="T72" fmla="*/ 186 w 1529"/>
                  <a:gd name="T73" fmla="*/ 799 h 1526"/>
                  <a:gd name="T74" fmla="*/ 136 w 1529"/>
                  <a:gd name="T75" fmla="*/ 900 h 1526"/>
                  <a:gd name="T76" fmla="*/ 94 w 1529"/>
                  <a:gd name="T77" fmla="*/ 1003 h 1526"/>
                  <a:gd name="T78" fmla="*/ 59 w 1529"/>
                  <a:gd name="T79" fmla="*/ 1109 h 1526"/>
                  <a:gd name="T80" fmla="*/ 32 w 1529"/>
                  <a:gd name="T81" fmla="*/ 1220 h 1526"/>
                  <a:gd name="T82" fmla="*/ 13 w 1529"/>
                  <a:gd name="T83" fmla="*/ 1332 h 1526"/>
                  <a:gd name="T84" fmla="*/ 3 w 1529"/>
                  <a:gd name="T85" fmla="*/ 1448 h 1526"/>
                  <a:gd name="T86" fmla="*/ 0 w 1529"/>
                  <a:gd name="T87" fmla="*/ 1526 h 1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29" h="1526">
                    <a:moveTo>
                      <a:pt x="115" y="1526"/>
                    </a:moveTo>
                    <a:lnTo>
                      <a:pt x="115" y="1526"/>
                    </a:lnTo>
                    <a:lnTo>
                      <a:pt x="115" y="1490"/>
                    </a:lnTo>
                    <a:lnTo>
                      <a:pt x="117" y="1453"/>
                    </a:lnTo>
                    <a:lnTo>
                      <a:pt x="119" y="1418"/>
                    </a:lnTo>
                    <a:lnTo>
                      <a:pt x="122" y="1381"/>
                    </a:lnTo>
                    <a:lnTo>
                      <a:pt x="126" y="1346"/>
                    </a:lnTo>
                    <a:lnTo>
                      <a:pt x="131" y="1311"/>
                    </a:lnTo>
                    <a:lnTo>
                      <a:pt x="138" y="1277"/>
                    </a:lnTo>
                    <a:lnTo>
                      <a:pt x="144" y="1242"/>
                    </a:lnTo>
                    <a:lnTo>
                      <a:pt x="151" y="1208"/>
                    </a:lnTo>
                    <a:lnTo>
                      <a:pt x="160" y="1174"/>
                    </a:lnTo>
                    <a:lnTo>
                      <a:pt x="169" y="1140"/>
                    </a:lnTo>
                    <a:lnTo>
                      <a:pt x="178" y="1107"/>
                    </a:lnTo>
                    <a:lnTo>
                      <a:pt x="189" y="1075"/>
                    </a:lnTo>
                    <a:lnTo>
                      <a:pt x="200" y="1042"/>
                    </a:lnTo>
                    <a:lnTo>
                      <a:pt x="214" y="1009"/>
                    </a:lnTo>
                    <a:lnTo>
                      <a:pt x="227" y="978"/>
                    </a:lnTo>
                    <a:lnTo>
                      <a:pt x="240" y="945"/>
                    </a:lnTo>
                    <a:lnTo>
                      <a:pt x="254" y="915"/>
                    </a:lnTo>
                    <a:lnTo>
                      <a:pt x="270" y="884"/>
                    </a:lnTo>
                    <a:lnTo>
                      <a:pt x="285" y="854"/>
                    </a:lnTo>
                    <a:lnTo>
                      <a:pt x="302" y="824"/>
                    </a:lnTo>
                    <a:lnTo>
                      <a:pt x="319" y="795"/>
                    </a:lnTo>
                    <a:lnTo>
                      <a:pt x="338" y="767"/>
                    </a:lnTo>
                    <a:lnTo>
                      <a:pt x="357" y="738"/>
                    </a:lnTo>
                    <a:lnTo>
                      <a:pt x="376" y="709"/>
                    </a:lnTo>
                    <a:lnTo>
                      <a:pt x="397" y="682"/>
                    </a:lnTo>
                    <a:lnTo>
                      <a:pt x="418" y="656"/>
                    </a:lnTo>
                    <a:lnTo>
                      <a:pt x="438" y="628"/>
                    </a:lnTo>
                    <a:lnTo>
                      <a:pt x="461" y="602"/>
                    </a:lnTo>
                    <a:lnTo>
                      <a:pt x="483" y="577"/>
                    </a:lnTo>
                    <a:lnTo>
                      <a:pt x="507" y="552"/>
                    </a:lnTo>
                    <a:lnTo>
                      <a:pt x="530" y="528"/>
                    </a:lnTo>
                    <a:lnTo>
                      <a:pt x="555" y="504"/>
                    </a:lnTo>
                    <a:lnTo>
                      <a:pt x="580" y="482"/>
                    </a:lnTo>
                    <a:lnTo>
                      <a:pt x="605" y="458"/>
                    </a:lnTo>
                    <a:lnTo>
                      <a:pt x="631" y="438"/>
                    </a:lnTo>
                    <a:lnTo>
                      <a:pt x="657" y="415"/>
                    </a:lnTo>
                    <a:lnTo>
                      <a:pt x="684" y="395"/>
                    </a:lnTo>
                    <a:lnTo>
                      <a:pt x="712" y="375"/>
                    </a:lnTo>
                    <a:lnTo>
                      <a:pt x="739" y="355"/>
                    </a:lnTo>
                    <a:lnTo>
                      <a:pt x="768" y="337"/>
                    </a:lnTo>
                    <a:lnTo>
                      <a:pt x="797" y="319"/>
                    </a:lnTo>
                    <a:lnTo>
                      <a:pt x="827" y="302"/>
                    </a:lnTo>
                    <a:lnTo>
                      <a:pt x="856" y="285"/>
                    </a:lnTo>
                    <a:lnTo>
                      <a:pt x="887" y="269"/>
                    </a:lnTo>
                    <a:lnTo>
                      <a:pt x="917" y="254"/>
                    </a:lnTo>
                    <a:lnTo>
                      <a:pt x="949" y="239"/>
                    </a:lnTo>
                    <a:lnTo>
                      <a:pt x="980" y="225"/>
                    </a:lnTo>
                    <a:lnTo>
                      <a:pt x="1011" y="212"/>
                    </a:lnTo>
                    <a:lnTo>
                      <a:pt x="1044" y="200"/>
                    </a:lnTo>
                    <a:lnTo>
                      <a:pt x="1077" y="188"/>
                    </a:lnTo>
                    <a:lnTo>
                      <a:pt x="1109" y="178"/>
                    </a:lnTo>
                    <a:lnTo>
                      <a:pt x="1143" y="167"/>
                    </a:lnTo>
                    <a:lnTo>
                      <a:pt x="1178" y="158"/>
                    </a:lnTo>
                    <a:lnTo>
                      <a:pt x="1212" y="150"/>
                    </a:lnTo>
                    <a:lnTo>
                      <a:pt x="1246" y="143"/>
                    </a:lnTo>
                    <a:lnTo>
                      <a:pt x="1280" y="136"/>
                    </a:lnTo>
                    <a:lnTo>
                      <a:pt x="1315" y="131"/>
                    </a:lnTo>
                    <a:lnTo>
                      <a:pt x="1350" y="126"/>
                    </a:lnTo>
                    <a:lnTo>
                      <a:pt x="1385" y="120"/>
                    </a:lnTo>
                    <a:lnTo>
                      <a:pt x="1421" y="118"/>
                    </a:lnTo>
                    <a:lnTo>
                      <a:pt x="1457" y="115"/>
                    </a:lnTo>
                    <a:lnTo>
                      <a:pt x="1493" y="114"/>
                    </a:lnTo>
                    <a:lnTo>
                      <a:pt x="1529" y="114"/>
                    </a:lnTo>
                    <a:lnTo>
                      <a:pt x="1529" y="0"/>
                    </a:lnTo>
                    <a:lnTo>
                      <a:pt x="1490" y="0"/>
                    </a:lnTo>
                    <a:lnTo>
                      <a:pt x="1451" y="3"/>
                    </a:lnTo>
                    <a:lnTo>
                      <a:pt x="1413" y="4"/>
                    </a:lnTo>
                    <a:lnTo>
                      <a:pt x="1374" y="8"/>
                    </a:lnTo>
                    <a:lnTo>
                      <a:pt x="1336" y="12"/>
                    </a:lnTo>
                    <a:lnTo>
                      <a:pt x="1298" y="17"/>
                    </a:lnTo>
                    <a:lnTo>
                      <a:pt x="1260" y="24"/>
                    </a:lnTo>
                    <a:lnTo>
                      <a:pt x="1222" y="32"/>
                    </a:lnTo>
                    <a:lnTo>
                      <a:pt x="1185" y="39"/>
                    </a:lnTo>
                    <a:lnTo>
                      <a:pt x="1149" y="49"/>
                    </a:lnTo>
                    <a:lnTo>
                      <a:pt x="1112" y="58"/>
                    </a:lnTo>
                    <a:lnTo>
                      <a:pt x="1075" y="69"/>
                    </a:lnTo>
                    <a:lnTo>
                      <a:pt x="1040" y="81"/>
                    </a:lnTo>
                    <a:lnTo>
                      <a:pt x="1005" y="93"/>
                    </a:lnTo>
                    <a:lnTo>
                      <a:pt x="970" y="106"/>
                    </a:lnTo>
                    <a:lnTo>
                      <a:pt x="936" y="120"/>
                    </a:lnTo>
                    <a:lnTo>
                      <a:pt x="902" y="136"/>
                    </a:lnTo>
                    <a:lnTo>
                      <a:pt x="868" y="152"/>
                    </a:lnTo>
                    <a:lnTo>
                      <a:pt x="835" y="167"/>
                    </a:lnTo>
                    <a:lnTo>
                      <a:pt x="802" y="184"/>
                    </a:lnTo>
                    <a:lnTo>
                      <a:pt x="769" y="203"/>
                    </a:lnTo>
                    <a:lnTo>
                      <a:pt x="738" y="222"/>
                    </a:lnTo>
                    <a:lnTo>
                      <a:pt x="707" y="242"/>
                    </a:lnTo>
                    <a:lnTo>
                      <a:pt x="677" y="261"/>
                    </a:lnTo>
                    <a:lnTo>
                      <a:pt x="645" y="282"/>
                    </a:lnTo>
                    <a:lnTo>
                      <a:pt x="616" y="304"/>
                    </a:lnTo>
                    <a:lnTo>
                      <a:pt x="586" y="327"/>
                    </a:lnTo>
                    <a:lnTo>
                      <a:pt x="559" y="349"/>
                    </a:lnTo>
                    <a:lnTo>
                      <a:pt x="530" y="374"/>
                    </a:lnTo>
                    <a:lnTo>
                      <a:pt x="503" y="397"/>
                    </a:lnTo>
                    <a:lnTo>
                      <a:pt x="476" y="422"/>
                    </a:lnTo>
                    <a:lnTo>
                      <a:pt x="449" y="448"/>
                    </a:lnTo>
                    <a:lnTo>
                      <a:pt x="424" y="474"/>
                    </a:lnTo>
                    <a:lnTo>
                      <a:pt x="399" y="502"/>
                    </a:lnTo>
                    <a:lnTo>
                      <a:pt x="374" y="529"/>
                    </a:lnTo>
                    <a:lnTo>
                      <a:pt x="351" y="556"/>
                    </a:lnTo>
                    <a:lnTo>
                      <a:pt x="327" y="585"/>
                    </a:lnTo>
                    <a:lnTo>
                      <a:pt x="305" y="614"/>
                    </a:lnTo>
                    <a:lnTo>
                      <a:pt x="284" y="644"/>
                    </a:lnTo>
                    <a:lnTo>
                      <a:pt x="263" y="674"/>
                    </a:lnTo>
                    <a:lnTo>
                      <a:pt x="242" y="705"/>
                    </a:lnTo>
                    <a:lnTo>
                      <a:pt x="223" y="735"/>
                    </a:lnTo>
                    <a:lnTo>
                      <a:pt x="204" y="768"/>
                    </a:lnTo>
                    <a:lnTo>
                      <a:pt x="186" y="799"/>
                    </a:lnTo>
                    <a:lnTo>
                      <a:pt x="169" y="833"/>
                    </a:lnTo>
                    <a:lnTo>
                      <a:pt x="152" y="866"/>
                    </a:lnTo>
                    <a:lnTo>
                      <a:pt x="136" y="900"/>
                    </a:lnTo>
                    <a:lnTo>
                      <a:pt x="122" y="932"/>
                    </a:lnTo>
                    <a:lnTo>
                      <a:pt x="108" y="968"/>
                    </a:lnTo>
                    <a:lnTo>
                      <a:pt x="94" y="1003"/>
                    </a:lnTo>
                    <a:lnTo>
                      <a:pt x="81" y="1038"/>
                    </a:lnTo>
                    <a:lnTo>
                      <a:pt x="70" y="1073"/>
                    </a:lnTo>
                    <a:lnTo>
                      <a:pt x="59" y="1109"/>
                    </a:lnTo>
                    <a:lnTo>
                      <a:pt x="50" y="1145"/>
                    </a:lnTo>
                    <a:lnTo>
                      <a:pt x="41" y="1182"/>
                    </a:lnTo>
                    <a:lnTo>
                      <a:pt x="32" y="1220"/>
                    </a:lnTo>
                    <a:lnTo>
                      <a:pt x="25" y="1256"/>
                    </a:lnTo>
                    <a:lnTo>
                      <a:pt x="19" y="1294"/>
                    </a:lnTo>
                    <a:lnTo>
                      <a:pt x="13" y="1332"/>
                    </a:lnTo>
                    <a:lnTo>
                      <a:pt x="9" y="1371"/>
                    </a:lnTo>
                    <a:lnTo>
                      <a:pt x="6" y="1409"/>
                    </a:lnTo>
                    <a:lnTo>
                      <a:pt x="3" y="1448"/>
                    </a:lnTo>
                    <a:lnTo>
                      <a:pt x="2" y="1487"/>
                    </a:lnTo>
                    <a:lnTo>
                      <a:pt x="0" y="1526"/>
                    </a:lnTo>
                    <a:lnTo>
                      <a:pt x="115" y="152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solidFill>
                  <a:srgbClr val="FF00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5" name="Freeform 130"/>
              <p:cNvSpPr>
                <a:spLocks noChangeAspect="1" noChangeArrowheads="1"/>
              </p:cNvSpPr>
              <p:nvPr/>
            </p:nvSpPr>
            <p:spPr bwMode="auto">
              <a:xfrm>
                <a:off x="3153" y="2856"/>
                <a:ext cx="305" cy="306"/>
              </a:xfrm>
              <a:custGeom>
                <a:avLst/>
                <a:gdLst>
                  <a:gd name="T0" fmla="*/ 1493 w 1529"/>
                  <a:gd name="T1" fmla="*/ 1413 h 1526"/>
                  <a:gd name="T2" fmla="*/ 1385 w 1529"/>
                  <a:gd name="T3" fmla="*/ 1405 h 1526"/>
                  <a:gd name="T4" fmla="*/ 1280 w 1529"/>
                  <a:gd name="T5" fmla="*/ 1391 h 1526"/>
                  <a:gd name="T6" fmla="*/ 1178 w 1529"/>
                  <a:gd name="T7" fmla="*/ 1369 h 1526"/>
                  <a:gd name="T8" fmla="*/ 1077 w 1529"/>
                  <a:gd name="T9" fmla="*/ 1339 h 1526"/>
                  <a:gd name="T10" fmla="*/ 980 w 1529"/>
                  <a:gd name="T11" fmla="*/ 1302 h 1526"/>
                  <a:gd name="T12" fmla="*/ 887 w 1529"/>
                  <a:gd name="T13" fmla="*/ 1258 h 1526"/>
                  <a:gd name="T14" fmla="*/ 797 w 1529"/>
                  <a:gd name="T15" fmla="*/ 1208 h 1526"/>
                  <a:gd name="T16" fmla="*/ 712 w 1529"/>
                  <a:gd name="T17" fmla="*/ 1152 h 1526"/>
                  <a:gd name="T18" fmla="*/ 631 w 1529"/>
                  <a:gd name="T19" fmla="*/ 1089 h 1526"/>
                  <a:gd name="T20" fmla="*/ 555 w 1529"/>
                  <a:gd name="T21" fmla="*/ 1021 h 1526"/>
                  <a:gd name="T22" fmla="*/ 483 w 1529"/>
                  <a:gd name="T23" fmla="*/ 949 h 1526"/>
                  <a:gd name="T24" fmla="*/ 418 w 1529"/>
                  <a:gd name="T25" fmla="*/ 871 h 1526"/>
                  <a:gd name="T26" fmla="*/ 357 w 1529"/>
                  <a:gd name="T27" fmla="*/ 789 h 1526"/>
                  <a:gd name="T28" fmla="*/ 302 w 1529"/>
                  <a:gd name="T29" fmla="*/ 703 h 1526"/>
                  <a:gd name="T30" fmla="*/ 254 w 1529"/>
                  <a:gd name="T31" fmla="*/ 611 h 1526"/>
                  <a:gd name="T32" fmla="*/ 214 w 1529"/>
                  <a:gd name="T33" fmla="*/ 517 h 1526"/>
                  <a:gd name="T34" fmla="*/ 178 w 1529"/>
                  <a:gd name="T35" fmla="*/ 419 h 1526"/>
                  <a:gd name="T36" fmla="*/ 151 w 1529"/>
                  <a:gd name="T37" fmla="*/ 319 h 1526"/>
                  <a:gd name="T38" fmla="*/ 131 w 1529"/>
                  <a:gd name="T39" fmla="*/ 214 h 1526"/>
                  <a:gd name="T40" fmla="*/ 119 w 1529"/>
                  <a:gd name="T41" fmla="*/ 109 h 1526"/>
                  <a:gd name="T42" fmla="*/ 115 w 1529"/>
                  <a:gd name="T43" fmla="*/ 0 h 1526"/>
                  <a:gd name="T44" fmla="*/ 3 w 1529"/>
                  <a:gd name="T45" fmla="*/ 79 h 1526"/>
                  <a:gd name="T46" fmla="*/ 13 w 1529"/>
                  <a:gd name="T47" fmla="*/ 194 h 1526"/>
                  <a:gd name="T48" fmla="*/ 32 w 1529"/>
                  <a:gd name="T49" fmla="*/ 307 h 1526"/>
                  <a:gd name="T50" fmla="*/ 59 w 1529"/>
                  <a:gd name="T51" fmla="*/ 417 h 1526"/>
                  <a:gd name="T52" fmla="*/ 94 w 1529"/>
                  <a:gd name="T53" fmla="*/ 524 h 1526"/>
                  <a:gd name="T54" fmla="*/ 136 w 1529"/>
                  <a:gd name="T55" fmla="*/ 627 h 1526"/>
                  <a:gd name="T56" fmla="*/ 186 w 1529"/>
                  <a:gd name="T57" fmla="*/ 726 h 1526"/>
                  <a:gd name="T58" fmla="*/ 242 w 1529"/>
                  <a:gd name="T59" fmla="*/ 822 h 1526"/>
                  <a:gd name="T60" fmla="*/ 305 w 1529"/>
                  <a:gd name="T61" fmla="*/ 913 h 1526"/>
                  <a:gd name="T62" fmla="*/ 374 w 1529"/>
                  <a:gd name="T63" fmla="*/ 998 h 1526"/>
                  <a:gd name="T64" fmla="*/ 449 w 1529"/>
                  <a:gd name="T65" fmla="*/ 1079 h 1526"/>
                  <a:gd name="T66" fmla="*/ 530 w 1529"/>
                  <a:gd name="T67" fmla="*/ 1153 h 1526"/>
                  <a:gd name="T68" fmla="*/ 616 w 1529"/>
                  <a:gd name="T69" fmla="*/ 1222 h 1526"/>
                  <a:gd name="T70" fmla="*/ 707 w 1529"/>
                  <a:gd name="T71" fmla="*/ 1285 h 1526"/>
                  <a:gd name="T72" fmla="*/ 802 w 1529"/>
                  <a:gd name="T73" fmla="*/ 1341 h 1526"/>
                  <a:gd name="T74" fmla="*/ 902 w 1529"/>
                  <a:gd name="T75" fmla="*/ 1391 h 1526"/>
                  <a:gd name="T76" fmla="*/ 1005 w 1529"/>
                  <a:gd name="T77" fmla="*/ 1434 h 1526"/>
                  <a:gd name="T78" fmla="*/ 1112 w 1529"/>
                  <a:gd name="T79" fmla="*/ 1468 h 1526"/>
                  <a:gd name="T80" fmla="*/ 1222 w 1529"/>
                  <a:gd name="T81" fmla="*/ 1495 h 1526"/>
                  <a:gd name="T82" fmla="*/ 1336 w 1529"/>
                  <a:gd name="T83" fmla="*/ 1513 h 1526"/>
                  <a:gd name="T84" fmla="*/ 1452 w 1529"/>
                  <a:gd name="T85" fmla="*/ 1524 h 1526"/>
                  <a:gd name="T86" fmla="*/ 1529 w 1529"/>
                  <a:gd name="T87" fmla="*/ 1526 h 1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29" h="1526">
                    <a:moveTo>
                      <a:pt x="1529" y="1413"/>
                    </a:moveTo>
                    <a:lnTo>
                      <a:pt x="1529" y="1413"/>
                    </a:lnTo>
                    <a:lnTo>
                      <a:pt x="1493" y="1413"/>
                    </a:lnTo>
                    <a:lnTo>
                      <a:pt x="1457" y="1410"/>
                    </a:lnTo>
                    <a:lnTo>
                      <a:pt x="1421" y="1409"/>
                    </a:lnTo>
                    <a:lnTo>
                      <a:pt x="1385" y="1405"/>
                    </a:lnTo>
                    <a:lnTo>
                      <a:pt x="1350" y="1401"/>
                    </a:lnTo>
                    <a:lnTo>
                      <a:pt x="1315" y="1396"/>
                    </a:lnTo>
                    <a:lnTo>
                      <a:pt x="1280" y="1391"/>
                    </a:lnTo>
                    <a:lnTo>
                      <a:pt x="1246" y="1384"/>
                    </a:lnTo>
                    <a:lnTo>
                      <a:pt x="1212" y="1376"/>
                    </a:lnTo>
                    <a:lnTo>
                      <a:pt x="1178" y="1369"/>
                    </a:lnTo>
                    <a:lnTo>
                      <a:pt x="1143" y="1359"/>
                    </a:lnTo>
                    <a:lnTo>
                      <a:pt x="1109" y="1349"/>
                    </a:lnTo>
                    <a:lnTo>
                      <a:pt x="1077" y="1339"/>
                    </a:lnTo>
                    <a:lnTo>
                      <a:pt x="1044" y="1327"/>
                    </a:lnTo>
                    <a:lnTo>
                      <a:pt x="1011" y="1315"/>
                    </a:lnTo>
                    <a:lnTo>
                      <a:pt x="980" y="1302"/>
                    </a:lnTo>
                    <a:lnTo>
                      <a:pt x="949" y="1288"/>
                    </a:lnTo>
                    <a:lnTo>
                      <a:pt x="917" y="1273"/>
                    </a:lnTo>
                    <a:lnTo>
                      <a:pt x="887" y="1258"/>
                    </a:lnTo>
                    <a:lnTo>
                      <a:pt x="856" y="1242"/>
                    </a:lnTo>
                    <a:lnTo>
                      <a:pt x="827" y="1225"/>
                    </a:lnTo>
                    <a:lnTo>
                      <a:pt x="797" y="1208"/>
                    </a:lnTo>
                    <a:lnTo>
                      <a:pt x="768" y="1190"/>
                    </a:lnTo>
                    <a:lnTo>
                      <a:pt x="739" y="1171"/>
                    </a:lnTo>
                    <a:lnTo>
                      <a:pt x="712" y="1152"/>
                    </a:lnTo>
                    <a:lnTo>
                      <a:pt x="684" y="1132"/>
                    </a:lnTo>
                    <a:lnTo>
                      <a:pt x="657" y="1111"/>
                    </a:lnTo>
                    <a:lnTo>
                      <a:pt x="631" y="1089"/>
                    </a:lnTo>
                    <a:lnTo>
                      <a:pt x="605" y="1067"/>
                    </a:lnTo>
                    <a:lnTo>
                      <a:pt x="580" y="1045"/>
                    </a:lnTo>
                    <a:lnTo>
                      <a:pt x="555" y="1021"/>
                    </a:lnTo>
                    <a:lnTo>
                      <a:pt x="530" y="998"/>
                    </a:lnTo>
                    <a:lnTo>
                      <a:pt x="507" y="974"/>
                    </a:lnTo>
                    <a:lnTo>
                      <a:pt x="483" y="949"/>
                    </a:lnTo>
                    <a:lnTo>
                      <a:pt x="461" y="923"/>
                    </a:lnTo>
                    <a:lnTo>
                      <a:pt x="438" y="897"/>
                    </a:lnTo>
                    <a:lnTo>
                      <a:pt x="418" y="871"/>
                    </a:lnTo>
                    <a:lnTo>
                      <a:pt x="397" y="844"/>
                    </a:lnTo>
                    <a:lnTo>
                      <a:pt x="376" y="816"/>
                    </a:lnTo>
                    <a:lnTo>
                      <a:pt x="357" y="789"/>
                    </a:lnTo>
                    <a:lnTo>
                      <a:pt x="338" y="760"/>
                    </a:lnTo>
                    <a:lnTo>
                      <a:pt x="319" y="731"/>
                    </a:lnTo>
                    <a:lnTo>
                      <a:pt x="302" y="703"/>
                    </a:lnTo>
                    <a:lnTo>
                      <a:pt x="285" y="673"/>
                    </a:lnTo>
                    <a:lnTo>
                      <a:pt x="270" y="643"/>
                    </a:lnTo>
                    <a:lnTo>
                      <a:pt x="254" y="611"/>
                    </a:lnTo>
                    <a:lnTo>
                      <a:pt x="240" y="580"/>
                    </a:lnTo>
                    <a:lnTo>
                      <a:pt x="227" y="549"/>
                    </a:lnTo>
                    <a:lnTo>
                      <a:pt x="214" y="517"/>
                    </a:lnTo>
                    <a:lnTo>
                      <a:pt x="200" y="485"/>
                    </a:lnTo>
                    <a:lnTo>
                      <a:pt x="189" y="452"/>
                    </a:lnTo>
                    <a:lnTo>
                      <a:pt x="178" y="419"/>
                    </a:lnTo>
                    <a:lnTo>
                      <a:pt x="169" y="385"/>
                    </a:lnTo>
                    <a:lnTo>
                      <a:pt x="160" y="353"/>
                    </a:lnTo>
                    <a:lnTo>
                      <a:pt x="151" y="319"/>
                    </a:lnTo>
                    <a:lnTo>
                      <a:pt x="144" y="284"/>
                    </a:lnTo>
                    <a:lnTo>
                      <a:pt x="138" y="250"/>
                    </a:lnTo>
                    <a:lnTo>
                      <a:pt x="131" y="214"/>
                    </a:lnTo>
                    <a:lnTo>
                      <a:pt x="126" y="179"/>
                    </a:lnTo>
                    <a:lnTo>
                      <a:pt x="122" y="144"/>
                    </a:lnTo>
                    <a:lnTo>
                      <a:pt x="119" y="109"/>
                    </a:lnTo>
                    <a:lnTo>
                      <a:pt x="117" y="73"/>
                    </a:lnTo>
                    <a:lnTo>
                      <a:pt x="115" y="37"/>
                    </a:lnTo>
                    <a:lnTo>
                      <a:pt x="115" y="0"/>
                    </a:lnTo>
                    <a:lnTo>
                      <a:pt x="0" y="0"/>
                    </a:lnTo>
                    <a:lnTo>
                      <a:pt x="2" y="40"/>
                    </a:lnTo>
                    <a:lnTo>
                      <a:pt x="3" y="79"/>
                    </a:lnTo>
                    <a:lnTo>
                      <a:pt x="6" y="117"/>
                    </a:lnTo>
                    <a:lnTo>
                      <a:pt x="9" y="156"/>
                    </a:lnTo>
                    <a:lnTo>
                      <a:pt x="13" y="194"/>
                    </a:lnTo>
                    <a:lnTo>
                      <a:pt x="19" y="231"/>
                    </a:lnTo>
                    <a:lnTo>
                      <a:pt x="25" y="269"/>
                    </a:lnTo>
                    <a:lnTo>
                      <a:pt x="32" y="307"/>
                    </a:lnTo>
                    <a:lnTo>
                      <a:pt x="41" y="344"/>
                    </a:lnTo>
                    <a:lnTo>
                      <a:pt x="50" y="380"/>
                    </a:lnTo>
                    <a:lnTo>
                      <a:pt x="59" y="417"/>
                    </a:lnTo>
                    <a:lnTo>
                      <a:pt x="70" y="453"/>
                    </a:lnTo>
                    <a:lnTo>
                      <a:pt x="81" y="489"/>
                    </a:lnTo>
                    <a:lnTo>
                      <a:pt x="94" y="524"/>
                    </a:lnTo>
                    <a:lnTo>
                      <a:pt x="108" y="559"/>
                    </a:lnTo>
                    <a:lnTo>
                      <a:pt x="122" y="593"/>
                    </a:lnTo>
                    <a:lnTo>
                      <a:pt x="136" y="627"/>
                    </a:lnTo>
                    <a:lnTo>
                      <a:pt x="152" y="661"/>
                    </a:lnTo>
                    <a:lnTo>
                      <a:pt x="169" y="694"/>
                    </a:lnTo>
                    <a:lnTo>
                      <a:pt x="186" y="726"/>
                    </a:lnTo>
                    <a:lnTo>
                      <a:pt x="204" y="759"/>
                    </a:lnTo>
                    <a:lnTo>
                      <a:pt x="223" y="790"/>
                    </a:lnTo>
                    <a:lnTo>
                      <a:pt x="242" y="822"/>
                    </a:lnTo>
                    <a:lnTo>
                      <a:pt x="263" y="853"/>
                    </a:lnTo>
                    <a:lnTo>
                      <a:pt x="284" y="883"/>
                    </a:lnTo>
                    <a:lnTo>
                      <a:pt x="305" y="913"/>
                    </a:lnTo>
                    <a:lnTo>
                      <a:pt x="327" y="942"/>
                    </a:lnTo>
                    <a:lnTo>
                      <a:pt x="351" y="970"/>
                    </a:lnTo>
                    <a:lnTo>
                      <a:pt x="374" y="998"/>
                    </a:lnTo>
                    <a:lnTo>
                      <a:pt x="399" y="1025"/>
                    </a:lnTo>
                    <a:lnTo>
                      <a:pt x="424" y="1053"/>
                    </a:lnTo>
                    <a:lnTo>
                      <a:pt x="449" y="1079"/>
                    </a:lnTo>
                    <a:lnTo>
                      <a:pt x="476" y="1104"/>
                    </a:lnTo>
                    <a:lnTo>
                      <a:pt x="503" y="1130"/>
                    </a:lnTo>
                    <a:lnTo>
                      <a:pt x="530" y="1153"/>
                    </a:lnTo>
                    <a:lnTo>
                      <a:pt x="559" y="1177"/>
                    </a:lnTo>
                    <a:lnTo>
                      <a:pt x="586" y="1200"/>
                    </a:lnTo>
                    <a:lnTo>
                      <a:pt x="616" y="1222"/>
                    </a:lnTo>
                    <a:lnTo>
                      <a:pt x="645" y="1245"/>
                    </a:lnTo>
                    <a:lnTo>
                      <a:pt x="677" y="1265"/>
                    </a:lnTo>
                    <a:lnTo>
                      <a:pt x="707" y="1285"/>
                    </a:lnTo>
                    <a:lnTo>
                      <a:pt x="738" y="1305"/>
                    </a:lnTo>
                    <a:lnTo>
                      <a:pt x="769" y="1324"/>
                    </a:lnTo>
                    <a:lnTo>
                      <a:pt x="802" y="1341"/>
                    </a:lnTo>
                    <a:lnTo>
                      <a:pt x="835" y="1359"/>
                    </a:lnTo>
                    <a:lnTo>
                      <a:pt x="868" y="1375"/>
                    </a:lnTo>
                    <a:lnTo>
                      <a:pt x="902" y="1391"/>
                    </a:lnTo>
                    <a:lnTo>
                      <a:pt x="936" y="1406"/>
                    </a:lnTo>
                    <a:lnTo>
                      <a:pt x="970" y="1421"/>
                    </a:lnTo>
                    <a:lnTo>
                      <a:pt x="1005" y="1434"/>
                    </a:lnTo>
                    <a:lnTo>
                      <a:pt x="1040" y="1446"/>
                    </a:lnTo>
                    <a:lnTo>
                      <a:pt x="1075" y="1457"/>
                    </a:lnTo>
                    <a:lnTo>
                      <a:pt x="1112" y="1468"/>
                    </a:lnTo>
                    <a:lnTo>
                      <a:pt x="1149" y="1478"/>
                    </a:lnTo>
                    <a:lnTo>
                      <a:pt x="1185" y="1487"/>
                    </a:lnTo>
                    <a:lnTo>
                      <a:pt x="1222" y="1495"/>
                    </a:lnTo>
                    <a:lnTo>
                      <a:pt x="1260" y="1503"/>
                    </a:lnTo>
                    <a:lnTo>
                      <a:pt x="1298" y="1508"/>
                    </a:lnTo>
                    <a:lnTo>
                      <a:pt x="1336" y="1513"/>
                    </a:lnTo>
                    <a:lnTo>
                      <a:pt x="1374" y="1519"/>
                    </a:lnTo>
                    <a:lnTo>
                      <a:pt x="1413" y="1521"/>
                    </a:lnTo>
                    <a:lnTo>
                      <a:pt x="1452" y="1524"/>
                    </a:lnTo>
                    <a:lnTo>
                      <a:pt x="1490" y="1525"/>
                    </a:lnTo>
                    <a:lnTo>
                      <a:pt x="1529" y="1526"/>
                    </a:lnTo>
                    <a:lnTo>
                      <a:pt x="1529" y="141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solidFill>
                  <a:srgbClr val="FF00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6" name="Freeform 131"/>
              <p:cNvSpPr>
                <a:spLocks noChangeAspect="1" noChangeArrowheads="1"/>
              </p:cNvSpPr>
              <p:nvPr/>
            </p:nvSpPr>
            <p:spPr bwMode="auto">
              <a:xfrm>
                <a:off x="3458" y="2950"/>
                <a:ext cx="288" cy="212"/>
              </a:xfrm>
              <a:custGeom>
                <a:avLst/>
                <a:gdLst>
                  <a:gd name="T0" fmla="*/ 1314 w 1440"/>
                  <a:gd name="T1" fmla="*/ 52 h 1057"/>
                  <a:gd name="T2" fmla="*/ 1269 w 1440"/>
                  <a:gd name="T3" fmla="*/ 153 h 1057"/>
                  <a:gd name="T4" fmla="*/ 1218 w 1440"/>
                  <a:gd name="T5" fmla="*/ 248 h 1057"/>
                  <a:gd name="T6" fmla="*/ 1159 w 1440"/>
                  <a:gd name="T7" fmla="*/ 339 h 1057"/>
                  <a:gd name="T8" fmla="*/ 1094 w 1440"/>
                  <a:gd name="T9" fmla="*/ 424 h 1057"/>
                  <a:gd name="T10" fmla="*/ 1022 w 1440"/>
                  <a:gd name="T11" fmla="*/ 505 h 1057"/>
                  <a:gd name="T12" fmla="*/ 945 w 1440"/>
                  <a:gd name="T13" fmla="*/ 580 h 1057"/>
                  <a:gd name="T14" fmla="*/ 861 w 1440"/>
                  <a:gd name="T15" fmla="*/ 649 h 1057"/>
                  <a:gd name="T16" fmla="*/ 773 w 1440"/>
                  <a:gd name="T17" fmla="*/ 712 h 1057"/>
                  <a:gd name="T18" fmla="*/ 682 w 1440"/>
                  <a:gd name="T19" fmla="*/ 768 h 1057"/>
                  <a:gd name="T20" fmla="*/ 585 w 1440"/>
                  <a:gd name="T21" fmla="*/ 816 h 1057"/>
                  <a:gd name="T22" fmla="*/ 484 w 1440"/>
                  <a:gd name="T23" fmla="*/ 856 h 1057"/>
                  <a:gd name="T24" fmla="*/ 381 w 1440"/>
                  <a:gd name="T25" fmla="*/ 890 h 1057"/>
                  <a:gd name="T26" fmla="*/ 275 w 1440"/>
                  <a:gd name="T27" fmla="*/ 916 h 1057"/>
                  <a:gd name="T28" fmla="*/ 168 w 1440"/>
                  <a:gd name="T29" fmla="*/ 933 h 1057"/>
                  <a:gd name="T30" fmla="*/ 57 w 1440"/>
                  <a:gd name="T31" fmla="*/ 943 h 1057"/>
                  <a:gd name="T32" fmla="*/ 0 w 1440"/>
                  <a:gd name="T33" fmla="*/ 1057 h 1057"/>
                  <a:gd name="T34" fmla="*/ 121 w 1440"/>
                  <a:gd name="T35" fmla="*/ 1052 h 1057"/>
                  <a:gd name="T36" fmla="*/ 240 w 1440"/>
                  <a:gd name="T37" fmla="*/ 1038 h 1057"/>
                  <a:gd name="T38" fmla="*/ 356 w 1440"/>
                  <a:gd name="T39" fmla="*/ 1014 h 1057"/>
                  <a:gd name="T40" fmla="*/ 469 w 1440"/>
                  <a:gd name="T41" fmla="*/ 983 h 1057"/>
                  <a:gd name="T42" fmla="*/ 578 w 1440"/>
                  <a:gd name="T43" fmla="*/ 943 h 1057"/>
                  <a:gd name="T44" fmla="*/ 684 w 1440"/>
                  <a:gd name="T45" fmla="*/ 893 h 1057"/>
                  <a:gd name="T46" fmla="*/ 786 w 1440"/>
                  <a:gd name="T47" fmla="*/ 837 h 1057"/>
                  <a:gd name="T48" fmla="*/ 885 w 1440"/>
                  <a:gd name="T49" fmla="*/ 773 h 1057"/>
                  <a:gd name="T50" fmla="*/ 976 w 1440"/>
                  <a:gd name="T51" fmla="*/ 702 h 1057"/>
                  <a:gd name="T52" fmla="*/ 1062 w 1440"/>
                  <a:gd name="T53" fmla="*/ 625 h 1057"/>
                  <a:gd name="T54" fmla="*/ 1144 w 1440"/>
                  <a:gd name="T55" fmla="*/ 542 h 1057"/>
                  <a:gd name="T56" fmla="*/ 1218 w 1440"/>
                  <a:gd name="T57" fmla="*/ 452 h 1057"/>
                  <a:gd name="T58" fmla="*/ 1285 w 1440"/>
                  <a:gd name="T59" fmla="*/ 355 h 1057"/>
                  <a:gd name="T60" fmla="*/ 1345 w 1440"/>
                  <a:gd name="T61" fmla="*/ 255 h 1057"/>
                  <a:gd name="T62" fmla="*/ 1397 w 1440"/>
                  <a:gd name="T63" fmla="*/ 149 h 1057"/>
                  <a:gd name="T64" fmla="*/ 1440 w 1440"/>
                  <a:gd name="T65" fmla="*/ 38 h 10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0" h="1057">
                    <a:moveTo>
                      <a:pt x="1333" y="0"/>
                    </a:moveTo>
                    <a:lnTo>
                      <a:pt x="1314" y="52"/>
                    </a:lnTo>
                    <a:lnTo>
                      <a:pt x="1293" y="103"/>
                    </a:lnTo>
                    <a:lnTo>
                      <a:pt x="1269" y="153"/>
                    </a:lnTo>
                    <a:lnTo>
                      <a:pt x="1244" y="201"/>
                    </a:lnTo>
                    <a:lnTo>
                      <a:pt x="1218" y="248"/>
                    </a:lnTo>
                    <a:lnTo>
                      <a:pt x="1189" y="294"/>
                    </a:lnTo>
                    <a:lnTo>
                      <a:pt x="1159" y="339"/>
                    </a:lnTo>
                    <a:lnTo>
                      <a:pt x="1128" y="383"/>
                    </a:lnTo>
                    <a:lnTo>
                      <a:pt x="1094" y="424"/>
                    </a:lnTo>
                    <a:lnTo>
                      <a:pt x="1059" y="466"/>
                    </a:lnTo>
                    <a:lnTo>
                      <a:pt x="1022" y="505"/>
                    </a:lnTo>
                    <a:lnTo>
                      <a:pt x="984" y="543"/>
                    </a:lnTo>
                    <a:lnTo>
                      <a:pt x="945" y="580"/>
                    </a:lnTo>
                    <a:lnTo>
                      <a:pt x="904" y="615"/>
                    </a:lnTo>
                    <a:lnTo>
                      <a:pt x="861" y="649"/>
                    </a:lnTo>
                    <a:lnTo>
                      <a:pt x="818" y="682"/>
                    </a:lnTo>
                    <a:lnTo>
                      <a:pt x="773" y="712"/>
                    </a:lnTo>
                    <a:lnTo>
                      <a:pt x="728" y="740"/>
                    </a:lnTo>
                    <a:lnTo>
                      <a:pt x="682" y="768"/>
                    </a:lnTo>
                    <a:lnTo>
                      <a:pt x="633" y="792"/>
                    </a:lnTo>
                    <a:lnTo>
                      <a:pt x="585" y="816"/>
                    </a:lnTo>
                    <a:lnTo>
                      <a:pt x="535" y="837"/>
                    </a:lnTo>
                    <a:lnTo>
                      <a:pt x="484" y="856"/>
                    </a:lnTo>
                    <a:lnTo>
                      <a:pt x="433" y="875"/>
                    </a:lnTo>
                    <a:lnTo>
                      <a:pt x="381" y="890"/>
                    </a:lnTo>
                    <a:lnTo>
                      <a:pt x="329" y="905"/>
                    </a:lnTo>
                    <a:lnTo>
                      <a:pt x="275" y="916"/>
                    </a:lnTo>
                    <a:lnTo>
                      <a:pt x="221" y="926"/>
                    </a:lnTo>
                    <a:lnTo>
                      <a:pt x="168" y="933"/>
                    </a:lnTo>
                    <a:lnTo>
                      <a:pt x="112" y="939"/>
                    </a:lnTo>
                    <a:lnTo>
                      <a:pt x="57" y="943"/>
                    </a:lnTo>
                    <a:lnTo>
                      <a:pt x="0" y="944"/>
                    </a:lnTo>
                    <a:lnTo>
                      <a:pt x="0" y="1057"/>
                    </a:lnTo>
                    <a:lnTo>
                      <a:pt x="62" y="1056"/>
                    </a:lnTo>
                    <a:lnTo>
                      <a:pt x="121" y="1052"/>
                    </a:lnTo>
                    <a:lnTo>
                      <a:pt x="181" y="1047"/>
                    </a:lnTo>
                    <a:lnTo>
                      <a:pt x="240" y="1038"/>
                    </a:lnTo>
                    <a:lnTo>
                      <a:pt x="297" y="1027"/>
                    </a:lnTo>
                    <a:lnTo>
                      <a:pt x="356" y="1014"/>
                    </a:lnTo>
                    <a:lnTo>
                      <a:pt x="412" y="1000"/>
                    </a:lnTo>
                    <a:lnTo>
                      <a:pt x="469" y="983"/>
                    </a:lnTo>
                    <a:lnTo>
                      <a:pt x="524" y="963"/>
                    </a:lnTo>
                    <a:lnTo>
                      <a:pt x="578" y="943"/>
                    </a:lnTo>
                    <a:lnTo>
                      <a:pt x="632" y="919"/>
                    </a:lnTo>
                    <a:lnTo>
                      <a:pt x="684" y="893"/>
                    </a:lnTo>
                    <a:lnTo>
                      <a:pt x="737" y="866"/>
                    </a:lnTo>
                    <a:lnTo>
                      <a:pt x="786" y="837"/>
                    </a:lnTo>
                    <a:lnTo>
                      <a:pt x="836" y="807"/>
                    </a:lnTo>
                    <a:lnTo>
                      <a:pt x="885" y="773"/>
                    </a:lnTo>
                    <a:lnTo>
                      <a:pt x="932" y="739"/>
                    </a:lnTo>
                    <a:lnTo>
                      <a:pt x="976" y="702"/>
                    </a:lnTo>
                    <a:lnTo>
                      <a:pt x="1021" y="665"/>
                    </a:lnTo>
                    <a:lnTo>
                      <a:pt x="1062" y="625"/>
                    </a:lnTo>
                    <a:lnTo>
                      <a:pt x="1104" y="584"/>
                    </a:lnTo>
                    <a:lnTo>
                      <a:pt x="1144" y="542"/>
                    </a:lnTo>
                    <a:lnTo>
                      <a:pt x="1181" y="497"/>
                    </a:lnTo>
                    <a:lnTo>
                      <a:pt x="1218" y="452"/>
                    </a:lnTo>
                    <a:lnTo>
                      <a:pt x="1252" y="403"/>
                    </a:lnTo>
                    <a:lnTo>
                      <a:pt x="1285" y="355"/>
                    </a:lnTo>
                    <a:lnTo>
                      <a:pt x="1316" y="306"/>
                    </a:lnTo>
                    <a:lnTo>
                      <a:pt x="1345" y="255"/>
                    </a:lnTo>
                    <a:lnTo>
                      <a:pt x="1372" y="202"/>
                    </a:lnTo>
                    <a:lnTo>
                      <a:pt x="1397" y="149"/>
                    </a:lnTo>
                    <a:lnTo>
                      <a:pt x="1420" y="94"/>
                    </a:lnTo>
                    <a:lnTo>
                      <a:pt x="1440" y="38"/>
                    </a:lnTo>
                    <a:lnTo>
                      <a:pt x="1333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solidFill>
                  <a:srgbClr val="FF00F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7" name="Rectangle 132"/>
              <p:cNvSpPr>
                <a:spLocks noChangeAspect="1" noChangeArrowheads="1"/>
              </p:cNvSpPr>
              <p:nvPr/>
            </p:nvSpPr>
            <p:spPr bwMode="auto">
              <a:xfrm>
                <a:off x="3637" y="2747"/>
                <a:ext cx="98" cy="23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8" name="Rectangle 133"/>
              <p:cNvSpPr>
                <a:spLocks noChangeAspect="1" noChangeArrowheads="1"/>
              </p:cNvSpPr>
              <p:nvPr/>
            </p:nvSpPr>
            <p:spPr bwMode="auto">
              <a:xfrm>
                <a:off x="3637" y="2943"/>
                <a:ext cx="98" cy="23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79" name="Rectangle 134"/>
              <p:cNvSpPr>
                <a:spLocks noChangeAspect="1" noChangeArrowheads="1"/>
              </p:cNvSpPr>
              <p:nvPr/>
            </p:nvSpPr>
            <p:spPr bwMode="auto">
              <a:xfrm>
                <a:off x="3637" y="2747"/>
                <a:ext cx="98" cy="23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0" name="Rectangle 135"/>
              <p:cNvSpPr>
                <a:spLocks noChangeAspect="1" noChangeArrowheads="1"/>
              </p:cNvSpPr>
              <p:nvPr/>
            </p:nvSpPr>
            <p:spPr bwMode="auto">
              <a:xfrm>
                <a:off x="3626" y="2759"/>
                <a:ext cx="23" cy="195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1" name="Line 136"/>
              <p:cNvSpPr>
                <a:spLocks noChangeAspect="1" noChangeShapeType="1"/>
              </p:cNvSpPr>
              <p:nvPr/>
            </p:nvSpPr>
            <p:spPr bwMode="auto">
              <a:xfrm flipV="1">
                <a:off x="3495" y="2954"/>
                <a:ext cx="194" cy="194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2" name="Line 137"/>
              <p:cNvSpPr>
                <a:spLocks noChangeAspect="1" noChangeShapeType="1"/>
              </p:cNvSpPr>
              <p:nvPr/>
            </p:nvSpPr>
            <p:spPr bwMode="auto">
              <a:xfrm flipV="1">
                <a:off x="3408" y="2917"/>
                <a:ext cx="229" cy="229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" name="Line 138"/>
              <p:cNvSpPr>
                <a:spLocks noChangeAspect="1" noChangeShapeType="1"/>
              </p:cNvSpPr>
              <p:nvPr/>
            </p:nvSpPr>
            <p:spPr bwMode="auto">
              <a:xfrm flipV="1">
                <a:off x="3709" y="2739"/>
                <a:ext cx="19" cy="20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" name="Line 139"/>
              <p:cNvSpPr>
                <a:spLocks noChangeAspect="1" noChangeShapeType="1"/>
              </p:cNvSpPr>
              <p:nvPr/>
            </p:nvSpPr>
            <p:spPr bwMode="auto">
              <a:xfrm flipV="1">
                <a:off x="3341" y="2829"/>
                <a:ext cx="296" cy="297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5" name="Line 140"/>
              <p:cNvSpPr>
                <a:spLocks noChangeAspect="1" noChangeShapeType="1"/>
              </p:cNvSpPr>
              <p:nvPr/>
            </p:nvSpPr>
            <p:spPr bwMode="auto">
              <a:xfrm flipV="1">
                <a:off x="3285" y="2683"/>
                <a:ext cx="411" cy="411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6" name="Line 141"/>
              <p:cNvSpPr>
                <a:spLocks noChangeAspect="1" noChangeShapeType="1"/>
              </p:cNvSpPr>
              <p:nvPr/>
            </p:nvSpPr>
            <p:spPr bwMode="auto">
              <a:xfrm flipV="1">
                <a:off x="3239" y="2637"/>
                <a:ext cx="415" cy="415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7" name="Line 142"/>
              <p:cNvSpPr>
                <a:spLocks noChangeAspect="1" noChangeShapeType="1"/>
              </p:cNvSpPr>
              <p:nvPr/>
            </p:nvSpPr>
            <p:spPr bwMode="auto">
              <a:xfrm flipV="1">
                <a:off x="3202" y="2600"/>
                <a:ext cx="401" cy="401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8" name="Line 143"/>
              <p:cNvSpPr>
                <a:spLocks noChangeAspect="1" noChangeShapeType="1"/>
              </p:cNvSpPr>
              <p:nvPr/>
            </p:nvSpPr>
            <p:spPr bwMode="auto">
              <a:xfrm flipV="1">
                <a:off x="3176" y="2575"/>
                <a:ext cx="364" cy="364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9" name="Line 144"/>
              <p:cNvSpPr>
                <a:spLocks noChangeAspect="1" noChangeShapeType="1"/>
              </p:cNvSpPr>
              <p:nvPr/>
            </p:nvSpPr>
            <p:spPr bwMode="auto">
              <a:xfrm flipV="1">
                <a:off x="3164" y="2563"/>
                <a:ext cx="300" cy="300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0" name="Line 145"/>
              <p:cNvSpPr>
                <a:spLocks noChangeAspect="1" noChangeShapeType="1"/>
              </p:cNvSpPr>
              <p:nvPr/>
            </p:nvSpPr>
            <p:spPr bwMode="auto">
              <a:xfrm flipV="1">
                <a:off x="3181" y="2579"/>
                <a:ext cx="178" cy="179"/>
              </a:xfrm>
              <a:prstGeom prst="line">
                <a:avLst/>
              </a:prstGeom>
              <a:noFill/>
              <a:ln w="1587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1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3563" y="2852"/>
                <a:ext cx="201" cy="8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2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3515" y="2852"/>
                <a:ext cx="24" cy="8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3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3291" y="2852"/>
                <a:ext cx="201" cy="8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4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3243" y="2852"/>
                <a:ext cx="24" cy="8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rgbClr val="FF00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5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3092" y="2852"/>
                <a:ext cx="127" cy="8"/>
              </a:xfrm>
              <a:prstGeom prst="rect">
                <a:avLst/>
              </a:prstGeom>
              <a:solidFill>
                <a:srgbClr val="FF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6" name="Freeform 151"/>
              <p:cNvSpPr>
                <a:spLocks noChangeAspect="1" noEditPoints="1" noChangeArrowheads="1"/>
              </p:cNvSpPr>
              <p:nvPr/>
            </p:nvSpPr>
            <p:spPr bwMode="auto">
              <a:xfrm>
                <a:off x="3328" y="2361"/>
                <a:ext cx="64" cy="94"/>
              </a:xfrm>
              <a:custGeom>
                <a:avLst/>
                <a:gdLst>
                  <a:gd name="T0" fmla="*/ 323 w 323"/>
                  <a:gd name="T1" fmla="*/ 466 h 468"/>
                  <a:gd name="T2" fmla="*/ 314 w 323"/>
                  <a:gd name="T3" fmla="*/ 468 h 468"/>
                  <a:gd name="T4" fmla="*/ 271 w 323"/>
                  <a:gd name="T5" fmla="*/ 343 h 468"/>
                  <a:gd name="T6" fmla="*/ 53 w 323"/>
                  <a:gd name="T7" fmla="*/ 343 h 468"/>
                  <a:gd name="T8" fmla="*/ 11 w 323"/>
                  <a:gd name="T9" fmla="*/ 468 h 468"/>
                  <a:gd name="T10" fmla="*/ 0 w 323"/>
                  <a:gd name="T11" fmla="*/ 466 h 468"/>
                  <a:gd name="T12" fmla="*/ 157 w 323"/>
                  <a:gd name="T13" fmla="*/ 0 h 468"/>
                  <a:gd name="T14" fmla="*/ 168 w 323"/>
                  <a:gd name="T15" fmla="*/ 0 h 468"/>
                  <a:gd name="T16" fmla="*/ 323 w 323"/>
                  <a:gd name="T17" fmla="*/ 466 h 468"/>
                  <a:gd name="T18" fmla="*/ 268 w 323"/>
                  <a:gd name="T19" fmla="*/ 332 h 468"/>
                  <a:gd name="T20" fmla="*/ 163 w 323"/>
                  <a:gd name="T21" fmla="*/ 15 h 468"/>
                  <a:gd name="T22" fmla="*/ 57 w 323"/>
                  <a:gd name="T23" fmla="*/ 332 h 468"/>
                  <a:gd name="T24" fmla="*/ 268 w 323"/>
                  <a:gd name="T25" fmla="*/ 332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3" h="468">
                    <a:moveTo>
                      <a:pt x="323" y="466"/>
                    </a:moveTo>
                    <a:lnTo>
                      <a:pt x="314" y="468"/>
                    </a:lnTo>
                    <a:lnTo>
                      <a:pt x="271" y="343"/>
                    </a:lnTo>
                    <a:lnTo>
                      <a:pt x="53" y="343"/>
                    </a:lnTo>
                    <a:lnTo>
                      <a:pt x="11" y="468"/>
                    </a:lnTo>
                    <a:lnTo>
                      <a:pt x="0" y="466"/>
                    </a:lnTo>
                    <a:lnTo>
                      <a:pt x="157" y="0"/>
                    </a:lnTo>
                    <a:lnTo>
                      <a:pt x="168" y="0"/>
                    </a:lnTo>
                    <a:lnTo>
                      <a:pt x="323" y="466"/>
                    </a:lnTo>
                    <a:close/>
                    <a:moveTo>
                      <a:pt x="268" y="332"/>
                    </a:moveTo>
                    <a:lnTo>
                      <a:pt x="163" y="15"/>
                    </a:lnTo>
                    <a:lnTo>
                      <a:pt x="57" y="332"/>
                    </a:lnTo>
                    <a:lnTo>
                      <a:pt x="268" y="332"/>
                    </a:lnTo>
                    <a:close/>
                  </a:path>
                </a:pathLst>
              </a:custGeom>
              <a:noFill/>
              <a:ln w="952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7" name="Rectangle 152"/>
              <p:cNvSpPr>
                <a:spLocks noChangeAspect="1" noChangeArrowheads="1"/>
              </p:cNvSpPr>
              <p:nvPr/>
            </p:nvSpPr>
            <p:spPr bwMode="auto">
              <a:xfrm>
                <a:off x="3431" y="2422"/>
                <a:ext cx="41" cy="2"/>
              </a:xfrm>
              <a:prstGeom prst="rect">
                <a:avLst/>
              </a:prstGeom>
              <a:noFill/>
              <a:ln w="9525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8" name="Freeform 153"/>
              <p:cNvSpPr>
                <a:spLocks noChangeAspect="1" noEditPoints="1" noChangeArrowheads="1"/>
              </p:cNvSpPr>
              <p:nvPr/>
            </p:nvSpPr>
            <p:spPr bwMode="auto">
              <a:xfrm>
                <a:off x="3511" y="2361"/>
                <a:ext cx="64" cy="94"/>
              </a:xfrm>
              <a:custGeom>
                <a:avLst/>
                <a:gdLst>
                  <a:gd name="T0" fmla="*/ 321 w 321"/>
                  <a:gd name="T1" fmla="*/ 466 h 468"/>
                  <a:gd name="T2" fmla="*/ 312 w 321"/>
                  <a:gd name="T3" fmla="*/ 468 h 468"/>
                  <a:gd name="T4" fmla="*/ 269 w 321"/>
                  <a:gd name="T5" fmla="*/ 343 h 468"/>
                  <a:gd name="T6" fmla="*/ 52 w 321"/>
                  <a:gd name="T7" fmla="*/ 343 h 468"/>
                  <a:gd name="T8" fmla="*/ 9 w 321"/>
                  <a:gd name="T9" fmla="*/ 468 h 468"/>
                  <a:gd name="T10" fmla="*/ 0 w 321"/>
                  <a:gd name="T11" fmla="*/ 466 h 468"/>
                  <a:gd name="T12" fmla="*/ 155 w 321"/>
                  <a:gd name="T13" fmla="*/ 0 h 468"/>
                  <a:gd name="T14" fmla="*/ 166 w 321"/>
                  <a:gd name="T15" fmla="*/ 0 h 468"/>
                  <a:gd name="T16" fmla="*/ 321 w 321"/>
                  <a:gd name="T17" fmla="*/ 466 h 468"/>
                  <a:gd name="T18" fmla="*/ 266 w 321"/>
                  <a:gd name="T19" fmla="*/ 332 h 468"/>
                  <a:gd name="T20" fmla="*/ 160 w 321"/>
                  <a:gd name="T21" fmla="*/ 15 h 468"/>
                  <a:gd name="T22" fmla="*/ 55 w 321"/>
                  <a:gd name="T23" fmla="*/ 332 h 468"/>
                  <a:gd name="T24" fmla="*/ 266 w 321"/>
                  <a:gd name="T25" fmla="*/ 332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1" h="468">
                    <a:moveTo>
                      <a:pt x="321" y="466"/>
                    </a:moveTo>
                    <a:lnTo>
                      <a:pt x="312" y="468"/>
                    </a:lnTo>
                    <a:lnTo>
                      <a:pt x="269" y="343"/>
                    </a:lnTo>
                    <a:lnTo>
                      <a:pt x="52" y="343"/>
                    </a:lnTo>
                    <a:lnTo>
                      <a:pt x="9" y="468"/>
                    </a:lnTo>
                    <a:lnTo>
                      <a:pt x="0" y="466"/>
                    </a:lnTo>
                    <a:lnTo>
                      <a:pt x="155" y="0"/>
                    </a:lnTo>
                    <a:lnTo>
                      <a:pt x="166" y="0"/>
                    </a:lnTo>
                    <a:lnTo>
                      <a:pt x="321" y="466"/>
                    </a:lnTo>
                    <a:close/>
                    <a:moveTo>
                      <a:pt x="266" y="332"/>
                    </a:moveTo>
                    <a:lnTo>
                      <a:pt x="160" y="15"/>
                    </a:lnTo>
                    <a:lnTo>
                      <a:pt x="55" y="332"/>
                    </a:lnTo>
                    <a:lnTo>
                      <a:pt x="266" y="332"/>
                    </a:lnTo>
                    <a:close/>
                  </a:path>
                </a:pathLst>
              </a:custGeom>
              <a:noFill/>
              <a:ln w="952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99" name="Freeform 154"/>
              <p:cNvSpPr>
                <a:spLocks noChangeAspect="1" noChangeArrowheads="1"/>
              </p:cNvSpPr>
              <p:nvPr/>
            </p:nvSpPr>
            <p:spPr bwMode="auto">
              <a:xfrm>
                <a:off x="3328" y="2361"/>
                <a:ext cx="64" cy="94"/>
              </a:xfrm>
              <a:custGeom>
                <a:avLst/>
                <a:gdLst>
                  <a:gd name="T0" fmla="*/ 323 w 323"/>
                  <a:gd name="T1" fmla="*/ 466 h 468"/>
                  <a:gd name="T2" fmla="*/ 314 w 323"/>
                  <a:gd name="T3" fmla="*/ 468 h 468"/>
                  <a:gd name="T4" fmla="*/ 271 w 323"/>
                  <a:gd name="T5" fmla="*/ 343 h 468"/>
                  <a:gd name="T6" fmla="*/ 53 w 323"/>
                  <a:gd name="T7" fmla="*/ 343 h 468"/>
                  <a:gd name="T8" fmla="*/ 11 w 323"/>
                  <a:gd name="T9" fmla="*/ 468 h 468"/>
                  <a:gd name="T10" fmla="*/ 0 w 323"/>
                  <a:gd name="T11" fmla="*/ 466 h 468"/>
                  <a:gd name="T12" fmla="*/ 157 w 323"/>
                  <a:gd name="T13" fmla="*/ 0 h 468"/>
                  <a:gd name="T14" fmla="*/ 168 w 323"/>
                  <a:gd name="T15" fmla="*/ 0 h 468"/>
                  <a:gd name="T16" fmla="*/ 323 w 323"/>
                  <a:gd name="T17" fmla="*/ 466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3" h="468">
                    <a:moveTo>
                      <a:pt x="323" y="466"/>
                    </a:moveTo>
                    <a:lnTo>
                      <a:pt x="314" y="468"/>
                    </a:lnTo>
                    <a:lnTo>
                      <a:pt x="271" y="343"/>
                    </a:lnTo>
                    <a:lnTo>
                      <a:pt x="53" y="343"/>
                    </a:lnTo>
                    <a:lnTo>
                      <a:pt x="11" y="468"/>
                    </a:lnTo>
                    <a:lnTo>
                      <a:pt x="0" y="466"/>
                    </a:lnTo>
                    <a:lnTo>
                      <a:pt x="157" y="0"/>
                    </a:lnTo>
                    <a:lnTo>
                      <a:pt x="168" y="0"/>
                    </a:lnTo>
                    <a:lnTo>
                      <a:pt x="323" y="466"/>
                    </a:lnTo>
                    <a:close/>
                  </a:path>
                </a:pathLst>
              </a:custGeom>
              <a:noFill/>
              <a:ln w="635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0" name="Freeform 155"/>
              <p:cNvSpPr>
                <a:spLocks noChangeAspect="1" noChangeArrowheads="1"/>
              </p:cNvSpPr>
              <p:nvPr/>
            </p:nvSpPr>
            <p:spPr bwMode="auto">
              <a:xfrm>
                <a:off x="3339" y="2364"/>
                <a:ext cx="42" cy="63"/>
              </a:xfrm>
              <a:custGeom>
                <a:avLst/>
                <a:gdLst>
                  <a:gd name="T0" fmla="*/ 211 w 211"/>
                  <a:gd name="T1" fmla="*/ 317 h 317"/>
                  <a:gd name="T2" fmla="*/ 106 w 211"/>
                  <a:gd name="T3" fmla="*/ 0 h 317"/>
                  <a:gd name="T4" fmla="*/ 0 w 211"/>
                  <a:gd name="T5" fmla="*/ 317 h 317"/>
                  <a:gd name="T6" fmla="*/ 211 w 211"/>
                  <a:gd name="T7" fmla="*/ 317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1" h="317">
                    <a:moveTo>
                      <a:pt x="211" y="317"/>
                    </a:moveTo>
                    <a:lnTo>
                      <a:pt x="106" y="0"/>
                    </a:lnTo>
                    <a:lnTo>
                      <a:pt x="0" y="317"/>
                    </a:lnTo>
                    <a:lnTo>
                      <a:pt x="211" y="317"/>
                    </a:lnTo>
                    <a:close/>
                  </a:path>
                </a:pathLst>
              </a:custGeom>
              <a:noFill/>
              <a:ln w="635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1" name="Rectangle 156"/>
              <p:cNvSpPr>
                <a:spLocks noChangeAspect="1" noChangeArrowheads="1"/>
              </p:cNvSpPr>
              <p:nvPr/>
            </p:nvSpPr>
            <p:spPr bwMode="auto">
              <a:xfrm>
                <a:off x="3431" y="2422"/>
                <a:ext cx="41" cy="2"/>
              </a:xfrm>
              <a:prstGeom prst="rect">
                <a:avLst/>
              </a:prstGeom>
              <a:noFill/>
              <a:ln w="635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2" name="Freeform 157"/>
              <p:cNvSpPr>
                <a:spLocks noChangeAspect="1" noChangeArrowheads="1"/>
              </p:cNvSpPr>
              <p:nvPr/>
            </p:nvSpPr>
            <p:spPr bwMode="auto">
              <a:xfrm>
                <a:off x="3511" y="2361"/>
                <a:ext cx="64" cy="94"/>
              </a:xfrm>
              <a:custGeom>
                <a:avLst/>
                <a:gdLst>
                  <a:gd name="T0" fmla="*/ 321 w 321"/>
                  <a:gd name="T1" fmla="*/ 466 h 468"/>
                  <a:gd name="T2" fmla="*/ 312 w 321"/>
                  <a:gd name="T3" fmla="*/ 468 h 468"/>
                  <a:gd name="T4" fmla="*/ 269 w 321"/>
                  <a:gd name="T5" fmla="*/ 343 h 468"/>
                  <a:gd name="T6" fmla="*/ 52 w 321"/>
                  <a:gd name="T7" fmla="*/ 343 h 468"/>
                  <a:gd name="T8" fmla="*/ 9 w 321"/>
                  <a:gd name="T9" fmla="*/ 468 h 468"/>
                  <a:gd name="T10" fmla="*/ 0 w 321"/>
                  <a:gd name="T11" fmla="*/ 466 h 468"/>
                  <a:gd name="T12" fmla="*/ 155 w 321"/>
                  <a:gd name="T13" fmla="*/ 0 h 468"/>
                  <a:gd name="T14" fmla="*/ 166 w 321"/>
                  <a:gd name="T15" fmla="*/ 0 h 468"/>
                  <a:gd name="T16" fmla="*/ 321 w 321"/>
                  <a:gd name="T17" fmla="*/ 466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1" h="468">
                    <a:moveTo>
                      <a:pt x="321" y="466"/>
                    </a:moveTo>
                    <a:lnTo>
                      <a:pt x="312" y="468"/>
                    </a:lnTo>
                    <a:lnTo>
                      <a:pt x="269" y="343"/>
                    </a:lnTo>
                    <a:lnTo>
                      <a:pt x="52" y="343"/>
                    </a:lnTo>
                    <a:lnTo>
                      <a:pt x="9" y="468"/>
                    </a:lnTo>
                    <a:lnTo>
                      <a:pt x="0" y="466"/>
                    </a:lnTo>
                    <a:lnTo>
                      <a:pt x="155" y="0"/>
                    </a:lnTo>
                    <a:lnTo>
                      <a:pt x="166" y="0"/>
                    </a:lnTo>
                    <a:lnTo>
                      <a:pt x="321" y="466"/>
                    </a:lnTo>
                    <a:close/>
                  </a:path>
                </a:pathLst>
              </a:custGeom>
              <a:noFill/>
              <a:ln w="635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03" name="Freeform 158"/>
              <p:cNvSpPr>
                <a:spLocks noChangeAspect="1" noChangeArrowheads="1"/>
              </p:cNvSpPr>
              <p:nvPr/>
            </p:nvSpPr>
            <p:spPr bwMode="auto">
              <a:xfrm>
                <a:off x="3522" y="2364"/>
                <a:ext cx="42" cy="63"/>
              </a:xfrm>
              <a:custGeom>
                <a:avLst/>
                <a:gdLst>
                  <a:gd name="T0" fmla="*/ 211 w 211"/>
                  <a:gd name="T1" fmla="*/ 317 h 317"/>
                  <a:gd name="T2" fmla="*/ 105 w 211"/>
                  <a:gd name="T3" fmla="*/ 0 h 317"/>
                  <a:gd name="T4" fmla="*/ 0 w 211"/>
                  <a:gd name="T5" fmla="*/ 317 h 317"/>
                  <a:gd name="T6" fmla="*/ 211 w 211"/>
                  <a:gd name="T7" fmla="*/ 317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1" h="317">
                    <a:moveTo>
                      <a:pt x="211" y="317"/>
                    </a:moveTo>
                    <a:lnTo>
                      <a:pt x="105" y="0"/>
                    </a:lnTo>
                    <a:lnTo>
                      <a:pt x="0" y="317"/>
                    </a:lnTo>
                    <a:lnTo>
                      <a:pt x="211" y="317"/>
                    </a:lnTo>
                    <a:close/>
                  </a:path>
                </a:pathLst>
              </a:custGeom>
              <a:noFill/>
              <a:ln w="635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90" name="Group 159"/>
            <p:cNvGrpSpPr>
              <a:grpSpLocks noChangeAspect="1"/>
            </p:cNvGrpSpPr>
            <p:nvPr/>
          </p:nvGrpSpPr>
          <p:grpSpPr bwMode="auto">
            <a:xfrm>
              <a:off x="2225" y="872"/>
              <a:ext cx="198" cy="1370"/>
              <a:chOff x="2198" y="672"/>
              <a:chExt cx="247" cy="1713"/>
            </a:xfrm>
          </p:grpSpPr>
          <p:grpSp>
            <p:nvGrpSpPr>
              <p:cNvPr id="258" name="Group 160"/>
              <p:cNvGrpSpPr>
                <a:grpSpLocks noChangeAspect="1"/>
              </p:cNvGrpSpPr>
              <p:nvPr/>
            </p:nvGrpSpPr>
            <p:grpSpPr bwMode="auto">
              <a:xfrm>
                <a:off x="2198" y="2131"/>
                <a:ext cx="247" cy="254"/>
                <a:chOff x="2198" y="2131"/>
                <a:chExt cx="247" cy="254"/>
              </a:xfrm>
            </p:grpSpPr>
            <p:sp>
              <p:nvSpPr>
                <p:cNvPr id="264" name="Rectangle 161"/>
                <p:cNvSpPr>
                  <a:spLocks noChangeAspect="1" noChangeArrowheads="1"/>
                </p:cNvSpPr>
                <p:nvPr/>
              </p:nvSpPr>
              <p:spPr bwMode="auto">
                <a:xfrm>
                  <a:off x="2198" y="2131"/>
                  <a:ext cx="28" cy="230"/>
                </a:xfrm>
                <a:prstGeom prst="rect">
                  <a:avLst/>
                </a:prstGeom>
                <a:solidFill>
                  <a:srgbClr val="FF00FF"/>
                </a:solidFill>
                <a:ln w="9525">
                  <a:solidFill>
                    <a:srgbClr val="FF00FF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5" name="Line 162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288" y="2361"/>
                  <a:ext cx="143" cy="1"/>
                </a:xfrm>
                <a:prstGeom prst="line">
                  <a:avLst/>
                </a:prstGeom>
                <a:noFill/>
                <a:ln w="15875">
                  <a:solidFill>
                    <a:srgbClr val="FF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6" name="Rectangle 163"/>
                <p:cNvSpPr>
                  <a:spLocks noChangeAspect="1" noChangeArrowheads="1"/>
                </p:cNvSpPr>
                <p:nvPr/>
              </p:nvSpPr>
              <p:spPr bwMode="auto">
                <a:xfrm>
                  <a:off x="2212" y="2356"/>
                  <a:ext cx="120" cy="10"/>
                </a:xfrm>
                <a:prstGeom prst="rect">
                  <a:avLst/>
                </a:prstGeom>
                <a:solidFill>
                  <a:srgbClr val="FF00FF"/>
                </a:solidFill>
                <a:ln w="9525">
                  <a:solidFill>
                    <a:srgbClr val="FF00FF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7" name="Freeform 164"/>
                <p:cNvSpPr>
                  <a:spLocks noChangeAspect="1" noChangeArrowheads="1"/>
                </p:cNvSpPr>
                <p:nvPr/>
              </p:nvSpPr>
              <p:spPr bwMode="auto">
                <a:xfrm>
                  <a:off x="2331" y="2341"/>
                  <a:ext cx="114" cy="44"/>
                </a:xfrm>
                <a:custGeom>
                  <a:avLst/>
                  <a:gdLst>
                    <a:gd name="T0" fmla="*/ 458 w 458"/>
                    <a:gd name="T1" fmla="*/ 90 h 179"/>
                    <a:gd name="T2" fmla="*/ 0 w 458"/>
                    <a:gd name="T3" fmla="*/ 0 h 179"/>
                    <a:gd name="T4" fmla="*/ 0 w 458"/>
                    <a:gd name="T5" fmla="*/ 179 h 179"/>
                    <a:gd name="T6" fmla="*/ 458 w 458"/>
                    <a:gd name="T7" fmla="*/ 90 h 179"/>
                    <a:gd name="T8" fmla="*/ 211 w 458"/>
                    <a:gd name="T9" fmla="*/ 82 h 179"/>
                    <a:gd name="T10" fmla="*/ 458 w 458"/>
                    <a:gd name="T11" fmla="*/ 90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58" h="179">
                      <a:moveTo>
                        <a:pt x="458" y="90"/>
                      </a:moveTo>
                      <a:lnTo>
                        <a:pt x="0" y="0"/>
                      </a:lnTo>
                      <a:lnTo>
                        <a:pt x="0" y="179"/>
                      </a:lnTo>
                      <a:lnTo>
                        <a:pt x="458" y="90"/>
                      </a:lnTo>
                      <a:lnTo>
                        <a:pt x="211" y="82"/>
                      </a:lnTo>
                      <a:lnTo>
                        <a:pt x="458" y="90"/>
                      </a:lnTo>
                      <a:close/>
                    </a:path>
                  </a:pathLst>
                </a:custGeom>
                <a:solidFill>
                  <a:srgbClr val="FF00FF"/>
                </a:solidFill>
                <a:ln w="9525">
                  <a:solidFill>
                    <a:srgbClr val="FF00FF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259" name="Group 165"/>
              <p:cNvGrpSpPr>
                <a:grpSpLocks noChangeAspect="1"/>
              </p:cNvGrpSpPr>
              <p:nvPr/>
            </p:nvGrpSpPr>
            <p:grpSpPr bwMode="auto">
              <a:xfrm>
                <a:off x="2198" y="672"/>
                <a:ext cx="247" cy="244"/>
                <a:chOff x="2198" y="672"/>
                <a:chExt cx="247" cy="244"/>
              </a:xfrm>
            </p:grpSpPr>
            <p:sp>
              <p:nvSpPr>
                <p:cNvPr id="260" name="Rectangle 166"/>
                <p:cNvSpPr>
                  <a:spLocks noChangeAspect="1" noChangeArrowheads="1"/>
                </p:cNvSpPr>
                <p:nvPr/>
              </p:nvSpPr>
              <p:spPr bwMode="auto">
                <a:xfrm>
                  <a:off x="2198" y="694"/>
                  <a:ext cx="28" cy="222"/>
                </a:xfrm>
                <a:prstGeom prst="rect">
                  <a:avLst/>
                </a:prstGeom>
                <a:solidFill>
                  <a:srgbClr val="FF00FF"/>
                </a:solidFill>
                <a:ln w="9525">
                  <a:solidFill>
                    <a:srgbClr val="FF00FF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1" name="Line 167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2288" y="693"/>
                  <a:ext cx="143" cy="1"/>
                </a:xfrm>
                <a:prstGeom prst="line">
                  <a:avLst/>
                </a:prstGeom>
                <a:noFill/>
                <a:ln w="15875">
                  <a:solidFill>
                    <a:srgbClr val="FF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2" name="Rectangle 168"/>
                <p:cNvSpPr>
                  <a:spLocks noChangeAspect="1" noChangeArrowheads="1"/>
                </p:cNvSpPr>
                <p:nvPr/>
              </p:nvSpPr>
              <p:spPr bwMode="auto">
                <a:xfrm>
                  <a:off x="2212" y="688"/>
                  <a:ext cx="120" cy="9"/>
                </a:xfrm>
                <a:prstGeom prst="rect">
                  <a:avLst/>
                </a:prstGeom>
                <a:solidFill>
                  <a:srgbClr val="FF00FF"/>
                </a:solidFill>
                <a:ln w="9525">
                  <a:solidFill>
                    <a:srgbClr val="FF00FF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3" name="Freeform 169"/>
                <p:cNvSpPr>
                  <a:spLocks noChangeAspect="1" noChangeArrowheads="1"/>
                </p:cNvSpPr>
                <p:nvPr/>
              </p:nvSpPr>
              <p:spPr bwMode="auto">
                <a:xfrm>
                  <a:off x="2331" y="672"/>
                  <a:ext cx="114" cy="45"/>
                </a:xfrm>
                <a:custGeom>
                  <a:avLst/>
                  <a:gdLst>
                    <a:gd name="T0" fmla="*/ 458 w 458"/>
                    <a:gd name="T1" fmla="*/ 90 h 179"/>
                    <a:gd name="T2" fmla="*/ 0 w 458"/>
                    <a:gd name="T3" fmla="*/ 0 h 179"/>
                    <a:gd name="T4" fmla="*/ 0 w 458"/>
                    <a:gd name="T5" fmla="*/ 179 h 179"/>
                    <a:gd name="T6" fmla="*/ 458 w 458"/>
                    <a:gd name="T7" fmla="*/ 90 h 179"/>
                    <a:gd name="T8" fmla="*/ 211 w 458"/>
                    <a:gd name="T9" fmla="*/ 82 h 179"/>
                    <a:gd name="T10" fmla="*/ 458 w 458"/>
                    <a:gd name="T11" fmla="*/ 90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58" h="179">
                      <a:moveTo>
                        <a:pt x="458" y="90"/>
                      </a:moveTo>
                      <a:lnTo>
                        <a:pt x="0" y="0"/>
                      </a:lnTo>
                      <a:lnTo>
                        <a:pt x="0" y="179"/>
                      </a:lnTo>
                      <a:lnTo>
                        <a:pt x="458" y="90"/>
                      </a:lnTo>
                      <a:lnTo>
                        <a:pt x="211" y="82"/>
                      </a:lnTo>
                      <a:lnTo>
                        <a:pt x="458" y="90"/>
                      </a:lnTo>
                      <a:close/>
                    </a:path>
                  </a:pathLst>
                </a:custGeom>
                <a:solidFill>
                  <a:srgbClr val="FF00FF"/>
                </a:solidFill>
                <a:ln w="9525">
                  <a:solidFill>
                    <a:srgbClr val="FF00FF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</p:grpSp>
        <p:grpSp>
          <p:nvGrpSpPr>
            <p:cNvPr id="91" name="Group 170"/>
            <p:cNvGrpSpPr>
              <a:grpSpLocks noChangeAspect="1"/>
            </p:cNvGrpSpPr>
            <p:nvPr/>
          </p:nvGrpSpPr>
          <p:grpSpPr bwMode="auto">
            <a:xfrm>
              <a:off x="3761" y="1051"/>
              <a:ext cx="301" cy="1148"/>
              <a:chOff x="4118" y="896"/>
              <a:chExt cx="376" cy="1436"/>
            </a:xfrm>
          </p:grpSpPr>
          <p:grpSp>
            <p:nvGrpSpPr>
              <p:cNvPr id="242" name="Group 171"/>
              <p:cNvGrpSpPr>
                <a:grpSpLocks noChangeAspect="1"/>
              </p:cNvGrpSpPr>
              <p:nvPr/>
            </p:nvGrpSpPr>
            <p:grpSpPr bwMode="auto">
              <a:xfrm>
                <a:off x="4145" y="896"/>
                <a:ext cx="349" cy="234"/>
                <a:chOff x="4145" y="896"/>
                <a:chExt cx="349" cy="234"/>
              </a:xfrm>
            </p:grpSpPr>
            <p:sp>
              <p:nvSpPr>
                <p:cNvPr id="251" name="Rectangle 172"/>
                <p:cNvSpPr>
                  <a:spLocks noChangeAspect="1" noChangeArrowheads="1"/>
                </p:cNvSpPr>
                <p:nvPr/>
              </p:nvSpPr>
              <p:spPr bwMode="auto">
                <a:xfrm>
                  <a:off x="4247" y="916"/>
                  <a:ext cx="28" cy="214"/>
                </a:xfrm>
                <a:prstGeom prst="rect">
                  <a:avLst/>
                </a:prstGeom>
                <a:solidFill>
                  <a:srgbClr val="FF00FF"/>
                </a:solidFill>
                <a:ln w="9525">
                  <a:solidFill>
                    <a:srgbClr val="FF00FF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2" name="Line 173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4337" y="916"/>
                  <a:ext cx="143" cy="1"/>
                </a:xfrm>
                <a:prstGeom prst="line">
                  <a:avLst/>
                </a:prstGeom>
                <a:noFill/>
                <a:ln w="15875">
                  <a:solidFill>
                    <a:srgbClr val="FF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3" name="Rectangle 174"/>
                <p:cNvSpPr>
                  <a:spLocks noChangeAspect="1" noChangeArrowheads="1"/>
                </p:cNvSpPr>
                <p:nvPr/>
              </p:nvSpPr>
              <p:spPr bwMode="auto">
                <a:xfrm>
                  <a:off x="4261" y="911"/>
                  <a:ext cx="120" cy="10"/>
                </a:xfrm>
                <a:prstGeom prst="rect">
                  <a:avLst/>
                </a:prstGeom>
                <a:solidFill>
                  <a:srgbClr val="FF00FF"/>
                </a:solidFill>
                <a:ln w="9525">
                  <a:solidFill>
                    <a:srgbClr val="FF00FF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4" name="Freeform 175"/>
                <p:cNvSpPr>
                  <a:spLocks noChangeAspect="1" noChangeArrowheads="1"/>
                </p:cNvSpPr>
                <p:nvPr/>
              </p:nvSpPr>
              <p:spPr bwMode="auto">
                <a:xfrm>
                  <a:off x="4380" y="896"/>
                  <a:ext cx="114" cy="44"/>
                </a:xfrm>
                <a:custGeom>
                  <a:avLst/>
                  <a:gdLst>
                    <a:gd name="T0" fmla="*/ 458 w 458"/>
                    <a:gd name="T1" fmla="*/ 90 h 179"/>
                    <a:gd name="T2" fmla="*/ 0 w 458"/>
                    <a:gd name="T3" fmla="*/ 0 h 179"/>
                    <a:gd name="T4" fmla="*/ 0 w 458"/>
                    <a:gd name="T5" fmla="*/ 179 h 179"/>
                    <a:gd name="T6" fmla="*/ 458 w 458"/>
                    <a:gd name="T7" fmla="*/ 90 h 179"/>
                    <a:gd name="T8" fmla="*/ 211 w 458"/>
                    <a:gd name="T9" fmla="*/ 83 h 179"/>
                    <a:gd name="T10" fmla="*/ 458 w 458"/>
                    <a:gd name="T11" fmla="*/ 90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58" h="179">
                      <a:moveTo>
                        <a:pt x="458" y="90"/>
                      </a:moveTo>
                      <a:lnTo>
                        <a:pt x="0" y="0"/>
                      </a:lnTo>
                      <a:lnTo>
                        <a:pt x="0" y="179"/>
                      </a:lnTo>
                      <a:lnTo>
                        <a:pt x="458" y="90"/>
                      </a:lnTo>
                      <a:lnTo>
                        <a:pt x="211" y="83"/>
                      </a:lnTo>
                      <a:lnTo>
                        <a:pt x="458" y="90"/>
                      </a:lnTo>
                      <a:close/>
                    </a:path>
                  </a:pathLst>
                </a:custGeom>
                <a:solidFill>
                  <a:srgbClr val="FF00FF"/>
                </a:solidFill>
                <a:ln w="9525">
                  <a:solidFill>
                    <a:srgbClr val="FF00FF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5" name="Freeform 176"/>
                <p:cNvSpPr>
                  <a:spLocks noChangeAspect="1" noEditPoints="1" noChangeArrowheads="1"/>
                </p:cNvSpPr>
                <p:nvPr/>
              </p:nvSpPr>
              <p:spPr bwMode="auto">
                <a:xfrm>
                  <a:off x="4145" y="898"/>
                  <a:ext cx="81" cy="117"/>
                </a:xfrm>
                <a:custGeom>
                  <a:avLst/>
                  <a:gdLst>
                    <a:gd name="T0" fmla="*/ 323 w 323"/>
                    <a:gd name="T1" fmla="*/ 466 h 469"/>
                    <a:gd name="T2" fmla="*/ 313 w 323"/>
                    <a:gd name="T3" fmla="*/ 469 h 469"/>
                    <a:gd name="T4" fmla="*/ 271 w 323"/>
                    <a:gd name="T5" fmla="*/ 344 h 469"/>
                    <a:gd name="T6" fmla="*/ 52 w 323"/>
                    <a:gd name="T7" fmla="*/ 344 h 469"/>
                    <a:gd name="T8" fmla="*/ 10 w 323"/>
                    <a:gd name="T9" fmla="*/ 469 h 469"/>
                    <a:gd name="T10" fmla="*/ 0 w 323"/>
                    <a:gd name="T11" fmla="*/ 466 h 469"/>
                    <a:gd name="T12" fmla="*/ 156 w 323"/>
                    <a:gd name="T13" fmla="*/ 0 h 469"/>
                    <a:gd name="T14" fmla="*/ 167 w 323"/>
                    <a:gd name="T15" fmla="*/ 0 h 469"/>
                    <a:gd name="T16" fmla="*/ 323 w 323"/>
                    <a:gd name="T17" fmla="*/ 466 h 469"/>
                    <a:gd name="T18" fmla="*/ 267 w 323"/>
                    <a:gd name="T19" fmla="*/ 333 h 469"/>
                    <a:gd name="T20" fmla="*/ 161 w 323"/>
                    <a:gd name="T21" fmla="*/ 16 h 469"/>
                    <a:gd name="T22" fmla="*/ 56 w 323"/>
                    <a:gd name="T23" fmla="*/ 333 h 469"/>
                    <a:gd name="T24" fmla="*/ 267 w 323"/>
                    <a:gd name="T25" fmla="*/ 333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23" h="469">
                      <a:moveTo>
                        <a:pt x="323" y="466"/>
                      </a:moveTo>
                      <a:lnTo>
                        <a:pt x="313" y="469"/>
                      </a:lnTo>
                      <a:lnTo>
                        <a:pt x="271" y="344"/>
                      </a:lnTo>
                      <a:lnTo>
                        <a:pt x="52" y="344"/>
                      </a:lnTo>
                      <a:lnTo>
                        <a:pt x="10" y="469"/>
                      </a:lnTo>
                      <a:lnTo>
                        <a:pt x="0" y="466"/>
                      </a:lnTo>
                      <a:lnTo>
                        <a:pt x="156" y="0"/>
                      </a:lnTo>
                      <a:lnTo>
                        <a:pt x="167" y="0"/>
                      </a:lnTo>
                      <a:lnTo>
                        <a:pt x="323" y="466"/>
                      </a:lnTo>
                      <a:close/>
                      <a:moveTo>
                        <a:pt x="267" y="333"/>
                      </a:moveTo>
                      <a:lnTo>
                        <a:pt x="161" y="16"/>
                      </a:lnTo>
                      <a:lnTo>
                        <a:pt x="56" y="333"/>
                      </a:lnTo>
                      <a:lnTo>
                        <a:pt x="267" y="333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solidFill>
                    <a:srgbClr val="FF00FF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6" name="Freeform 177"/>
                <p:cNvSpPr>
                  <a:spLocks noChangeAspect="1" noChangeArrowheads="1"/>
                </p:cNvSpPr>
                <p:nvPr/>
              </p:nvSpPr>
              <p:spPr bwMode="auto">
                <a:xfrm>
                  <a:off x="4145" y="898"/>
                  <a:ext cx="81" cy="117"/>
                </a:xfrm>
                <a:custGeom>
                  <a:avLst/>
                  <a:gdLst>
                    <a:gd name="T0" fmla="*/ 323 w 323"/>
                    <a:gd name="T1" fmla="*/ 466 h 469"/>
                    <a:gd name="T2" fmla="*/ 313 w 323"/>
                    <a:gd name="T3" fmla="*/ 469 h 469"/>
                    <a:gd name="T4" fmla="*/ 271 w 323"/>
                    <a:gd name="T5" fmla="*/ 344 h 469"/>
                    <a:gd name="T6" fmla="*/ 52 w 323"/>
                    <a:gd name="T7" fmla="*/ 344 h 469"/>
                    <a:gd name="T8" fmla="*/ 10 w 323"/>
                    <a:gd name="T9" fmla="*/ 469 h 469"/>
                    <a:gd name="T10" fmla="*/ 0 w 323"/>
                    <a:gd name="T11" fmla="*/ 466 h 469"/>
                    <a:gd name="T12" fmla="*/ 156 w 323"/>
                    <a:gd name="T13" fmla="*/ 0 h 469"/>
                    <a:gd name="T14" fmla="*/ 167 w 323"/>
                    <a:gd name="T15" fmla="*/ 0 h 469"/>
                    <a:gd name="T16" fmla="*/ 323 w 323"/>
                    <a:gd name="T17" fmla="*/ 466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3" h="469">
                      <a:moveTo>
                        <a:pt x="323" y="466"/>
                      </a:moveTo>
                      <a:lnTo>
                        <a:pt x="313" y="469"/>
                      </a:lnTo>
                      <a:lnTo>
                        <a:pt x="271" y="344"/>
                      </a:lnTo>
                      <a:lnTo>
                        <a:pt x="52" y="344"/>
                      </a:lnTo>
                      <a:lnTo>
                        <a:pt x="10" y="469"/>
                      </a:lnTo>
                      <a:lnTo>
                        <a:pt x="0" y="466"/>
                      </a:lnTo>
                      <a:lnTo>
                        <a:pt x="156" y="0"/>
                      </a:lnTo>
                      <a:lnTo>
                        <a:pt x="167" y="0"/>
                      </a:lnTo>
                      <a:lnTo>
                        <a:pt x="323" y="466"/>
                      </a:lnTo>
                      <a:close/>
                    </a:path>
                  </a:pathLst>
                </a:custGeom>
                <a:noFill/>
                <a:ln w="6350">
                  <a:solidFill>
                    <a:srgbClr val="FF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7" name="Freeform 178"/>
                <p:cNvSpPr>
                  <a:spLocks noChangeAspect="1" noChangeArrowheads="1"/>
                </p:cNvSpPr>
                <p:nvPr/>
              </p:nvSpPr>
              <p:spPr bwMode="auto">
                <a:xfrm>
                  <a:off x="4159" y="902"/>
                  <a:ext cx="53" cy="79"/>
                </a:xfrm>
                <a:custGeom>
                  <a:avLst/>
                  <a:gdLst>
                    <a:gd name="T0" fmla="*/ 211 w 211"/>
                    <a:gd name="T1" fmla="*/ 317 h 317"/>
                    <a:gd name="T2" fmla="*/ 105 w 211"/>
                    <a:gd name="T3" fmla="*/ 0 h 317"/>
                    <a:gd name="T4" fmla="*/ 0 w 211"/>
                    <a:gd name="T5" fmla="*/ 317 h 317"/>
                    <a:gd name="T6" fmla="*/ 211 w 211"/>
                    <a:gd name="T7" fmla="*/ 317 h 3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1" h="317">
                      <a:moveTo>
                        <a:pt x="211" y="317"/>
                      </a:moveTo>
                      <a:lnTo>
                        <a:pt x="105" y="0"/>
                      </a:lnTo>
                      <a:lnTo>
                        <a:pt x="0" y="317"/>
                      </a:lnTo>
                      <a:lnTo>
                        <a:pt x="211" y="317"/>
                      </a:lnTo>
                      <a:close/>
                    </a:path>
                  </a:pathLst>
                </a:custGeom>
                <a:noFill/>
                <a:ln w="6350">
                  <a:solidFill>
                    <a:srgbClr val="FF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243" name="Group 179"/>
              <p:cNvGrpSpPr>
                <a:grpSpLocks noChangeAspect="1"/>
              </p:cNvGrpSpPr>
              <p:nvPr/>
            </p:nvGrpSpPr>
            <p:grpSpPr bwMode="auto">
              <a:xfrm>
                <a:off x="4118" y="2087"/>
                <a:ext cx="376" cy="245"/>
                <a:chOff x="4118" y="2087"/>
                <a:chExt cx="376" cy="245"/>
              </a:xfrm>
            </p:grpSpPr>
            <p:sp>
              <p:nvSpPr>
                <p:cNvPr id="244" name="Rectangle 180"/>
                <p:cNvSpPr>
                  <a:spLocks noChangeAspect="1" noChangeArrowheads="1"/>
                </p:cNvSpPr>
                <p:nvPr/>
              </p:nvSpPr>
              <p:spPr bwMode="auto">
                <a:xfrm>
                  <a:off x="4247" y="2087"/>
                  <a:ext cx="28" cy="231"/>
                </a:xfrm>
                <a:prstGeom prst="rect">
                  <a:avLst/>
                </a:prstGeom>
                <a:solidFill>
                  <a:srgbClr val="FF00FF"/>
                </a:solidFill>
                <a:ln w="9525">
                  <a:solidFill>
                    <a:srgbClr val="FF00FF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5" name="Freeform 181"/>
                <p:cNvSpPr>
                  <a:spLocks noChangeAspect="1" noEditPoints="1" noChangeArrowheads="1"/>
                </p:cNvSpPr>
                <p:nvPr/>
              </p:nvSpPr>
              <p:spPr bwMode="auto">
                <a:xfrm>
                  <a:off x="4118" y="2215"/>
                  <a:ext cx="81" cy="117"/>
                </a:xfrm>
                <a:custGeom>
                  <a:avLst/>
                  <a:gdLst>
                    <a:gd name="T0" fmla="*/ 323 w 323"/>
                    <a:gd name="T1" fmla="*/ 466 h 469"/>
                    <a:gd name="T2" fmla="*/ 313 w 323"/>
                    <a:gd name="T3" fmla="*/ 469 h 469"/>
                    <a:gd name="T4" fmla="*/ 271 w 323"/>
                    <a:gd name="T5" fmla="*/ 343 h 469"/>
                    <a:gd name="T6" fmla="*/ 53 w 323"/>
                    <a:gd name="T7" fmla="*/ 343 h 469"/>
                    <a:gd name="T8" fmla="*/ 11 w 323"/>
                    <a:gd name="T9" fmla="*/ 469 h 469"/>
                    <a:gd name="T10" fmla="*/ 0 w 323"/>
                    <a:gd name="T11" fmla="*/ 466 h 469"/>
                    <a:gd name="T12" fmla="*/ 156 w 323"/>
                    <a:gd name="T13" fmla="*/ 0 h 469"/>
                    <a:gd name="T14" fmla="*/ 168 w 323"/>
                    <a:gd name="T15" fmla="*/ 0 h 469"/>
                    <a:gd name="T16" fmla="*/ 323 w 323"/>
                    <a:gd name="T17" fmla="*/ 466 h 469"/>
                    <a:gd name="T18" fmla="*/ 267 w 323"/>
                    <a:gd name="T19" fmla="*/ 333 h 469"/>
                    <a:gd name="T20" fmla="*/ 161 w 323"/>
                    <a:gd name="T21" fmla="*/ 16 h 469"/>
                    <a:gd name="T22" fmla="*/ 57 w 323"/>
                    <a:gd name="T23" fmla="*/ 333 h 469"/>
                    <a:gd name="T24" fmla="*/ 267 w 323"/>
                    <a:gd name="T25" fmla="*/ 333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23" h="469">
                      <a:moveTo>
                        <a:pt x="323" y="466"/>
                      </a:moveTo>
                      <a:lnTo>
                        <a:pt x="313" y="469"/>
                      </a:lnTo>
                      <a:lnTo>
                        <a:pt x="271" y="343"/>
                      </a:lnTo>
                      <a:lnTo>
                        <a:pt x="53" y="343"/>
                      </a:lnTo>
                      <a:lnTo>
                        <a:pt x="11" y="469"/>
                      </a:lnTo>
                      <a:lnTo>
                        <a:pt x="0" y="466"/>
                      </a:lnTo>
                      <a:lnTo>
                        <a:pt x="156" y="0"/>
                      </a:lnTo>
                      <a:lnTo>
                        <a:pt x="168" y="0"/>
                      </a:lnTo>
                      <a:lnTo>
                        <a:pt x="323" y="466"/>
                      </a:lnTo>
                      <a:close/>
                      <a:moveTo>
                        <a:pt x="267" y="333"/>
                      </a:moveTo>
                      <a:lnTo>
                        <a:pt x="161" y="16"/>
                      </a:lnTo>
                      <a:lnTo>
                        <a:pt x="57" y="333"/>
                      </a:lnTo>
                      <a:lnTo>
                        <a:pt x="267" y="333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solidFill>
                    <a:srgbClr val="FF00FF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6" name="Freeform 182"/>
                <p:cNvSpPr>
                  <a:spLocks noChangeAspect="1" noChangeArrowheads="1"/>
                </p:cNvSpPr>
                <p:nvPr/>
              </p:nvSpPr>
              <p:spPr bwMode="auto">
                <a:xfrm>
                  <a:off x="4118" y="2215"/>
                  <a:ext cx="81" cy="117"/>
                </a:xfrm>
                <a:custGeom>
                  <a:avLst/>
                  <a:gdLst>
                    <a:gd name="T0" fmla="*/ 323 w 323"/>
                    <a:gd name="T1" fmla="*/ 466 h 469"/>
                    <a:gd name="T2" fmla="*/ 313 w 323"/>
                    <a:gd name="T3" fmla="*/ 469 h 469"/>
                    <a:gd name="T4" fmla="*/ 271 w 323"/>
                    <a:gd name="T5" fmla="*/ 343 h 469"/>
                    <a:gd name="T6" fmla="*/ 53 w 323"/>
                    <a:gd name="T7" fmla="*/ 343 h 469"/>
                    <a:gd name="T8" fmla="*/ 11 w 323"/>
                    <a:gd name="T9" fmla="*/ 469 h 469"/>
                    <a:gd name="T10" fmla="*/ 0 w 323"/>
                    <a:gd name="T11" fmla="*/ 466 h 469"/>
                    <a:gd name="T12" fmla="*/ 156 w 323"/>
                    <a:gd name="T13" fmla="*/ 0 h 469"/>
                    <a:gd name="T14" fmla="*/ 168 w 323"/>
                    <a:gd name="T15" fmla="*/ 0 h 469"/>
                    <a:gd name="T16" fmla="*/ 323 w 323"/>
                    <a:gd name="T17" fmla="*/ 466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3" h="469">
                      <a:moveTo>
                        <a:pt x="323" y="466"/>
                      </a:moveTo>
                      <a:lnTo>
                        <a:pt x="313" y="469"/>
                      </a:lnTo>
                      <a:lnTo>
                        <a:pt x="271" y="343"/>
                      </a:lnTo>
                      <a:lnTo>
                        <a:pt x="53" y="343"/>
                      </a:lnTo>
                      <a:lnTo>
                        <a:pt x="11" y="469"/>
                      </a:lnTo>
                      <a:lnTo>
                        <a:pt x="0" y="466"/>
                      </a:lnTo>
                      <a:lnTo>
                        <a:pt x="156" y="0"/>
                      </a:lnTo>
                      <a:lnTo>
                        <a:pt x="168" y="0"/>
                      </a:lnTo>
                      <a:lnTo>
                        <a:pt x="323" y="466"/>
                      </a:lnTo>
                      <a:close/>
                    </a:path>
                  </a:pathLst>
                </a:custGeom>
                <a:noFill/>
                <a:ln w="6350">
                  <a:solidFill>
                    <a:srgbClr val="FF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7" name="Freeform 183"/>
                <p:cNvSpPr>
                  <a:spLocks noChangeAspect="1" noChangeArrowheads="1"/>
                </p:cNvSpPr>
                <p:nvPr/>
              </p:nvSpPr>
              <p:spPr bwMode="auto">
                <a:xfrm>
                  <a:off x="4132" y="2219"/>
                  <a:ext cx="53" cy="79"/>
                </a:xfrm>
                <a:custGeom>
                  <a:avLst/>
                  <a:gdLst>
                    <a:gd name="T0" fmla="*/ 210 w 210"/>
                    <a:gd name="T1" fmla="*/ 317 h 317"/>
                    <a:gd name="T2" fmla="*/ 104 w 210"/>
                    <a:gd name="T3" fmla="*/ 0 h 317"/>
                    <a:gd name="T4" fmla="*/ 0 w 210"/>
                    <a:gd name="T5" fmla="*/ 317 h 317"/>
                    <a:gd name="T6" fmla="*/ 210 w 210"/>
                    <a:gd name="T7" fmla="*/ 317 h 3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0" h="317">
                      <a:moveTo>
                        <a:pt x="210" y="317"/>
                      </a:moveTo>
                      <a:lnTo>
                        <a:pt x="104" y="0"/>
                      </a:lnTo>
                      <a:lnTo>
                        <a:pt x="0" y="317"/>
                      </a:lnTo>
                      <a:lnTo>
                        <a:pt x="210" y="317"/>
                      </a:lnTo>
                      <a:close/>
                    </a:path>
                  </a:pathLst>
                </a:custGeom>
                <a:noFill/>
                <a:ln w="6350">
                  <a:solidFill>
                    <a:srgbClr val="FF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8" name="Line 184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4337" y="2305"/>
                  <a:ext cx="143" cy="1"/>
                </a:xfrm>
                <a:prstGeom prst="line">
                  <a:avLst/>
                </a:prstGeom>
                <a:noFill/>
                <a:ln w="15875">
                  <a:solidFill>
                    <a:srgbClr val="FF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9" name="Rectangle 185"/>
                <p:cNvSpPr>
                  <a:spLocks noChangeAspect="1" noChangeArrowheads="1"/>
                </p:cNvSpPr>
                <p:nvPr/>
              </p:nvSpPr>
              <p:spPr bwMode="auto">
                <a:xfrm>
                  <a:off x="4261" y="2300"/>
                  <a:ext cx="120" cy="10"/>
                </a:xfrm>
                <a:prstGeom prst="rect">
                  <a:avLst/>
                </a:prstGeom>
                <a:solidFill>
                  <a:srgbClr val="131516"/>
                </a:solidFill>
                <a:ln w="9525">
                  <a:solidFill>
                    <a:srgbClr val="FF00FF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0" name="Freeform 186"/>
                <p:cNvSpPr>
                  <a:spLocks noChangeAspect="1" noChangeArrowheads="1"/>
                </p:cNvSpPr>
                <p:nvPr/>
              </p:nvSpPr>
              <p:spPr bwMode="auto">
                <a:xfrm>
                  <a:off x="4380" y="2285"/>
                  <a:ext cx="114" cy="45"/>
                </a:xfrm>
                <a:custGeom>
                  <a:avLst/>
                  <a:gdLst>
                    <a:gd name="T0" fmla="*/ 458 w 458"/>
                    <a:gd name="T1" fmla="*/ 89 h 179"/>
                    <a:gd name="T2" fmla="*/ 0 w 458"/>
                    <a:gd name="T3" fmla="*/ 0 h 179"/>
                    <a:gd name="T4" fmla="*/ 0 w 458"/>
                    <a:gd name="T5" fmla="*/ 179 h 179"/>
                    <a:gd name="T6" fmla="*/ 458 w 458"/>
                    <a:gd name="T7" fmla="*/ 89 h 179"/>
                    <a:gd name="T8" fmla="*/ 211 w 458"/>
                    <a:gd name="T9" fmla="*/ 82 h 179"/>
                    <a:gd name="T10" fmla="*/ 458 w 458"/>
                    <a:gd name="T11" fmla="*/ 89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58" h="179">
                      <a:moveTo>
                        <a:pt x="458" y="89"/>
                      </a:moveTo>
                      <a:lnTo>
                        <a:pt x="0" y="0"/>
                      </a:lnTo>
                      <a:lnTo>
                        <a:pt x="0" y="179"/>
                      </a:lnTo>
                      <a:lnTo>
                        <a:pt x="458" y="89"/>
                      </a:lnTo>
                      <a:lnTo>
                        <a:pt x="211" y="82"/>
                      </a:lnTo>
                      <a:lnTo>
                        <a:pt x="458" y="89"/>
                      </a:lnTo>
                      <a:close/>
                    </a:path>
                  </a:pathLst>
                </a:custGeom>
                <a:solidFill>
                  <a:srgbClr val="FF00FF"/>
                </a:solidFill>
                <a:ln w="9525">
                  <a:solidFill>
                    <a:srgbClr val="FF00FF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</p:grpSp>
        <p:grpSp>
          <p:nvGrpSpPr>
            <p:cNvPr id="92" name="Group 187"/>
            <p:cNvGrpSpPr>
              <a:grpSpLocks/>
            </p:cNvGrpSpPr>
            <p:nvPr/>
          </p:nvGrpSpPr>
          <p:grpSpPr bwMode="auto">
            <a:xfrm>
              <a:off x="736" y="1198"/>
              <a:ext cx="4185" cy="861"/>
              <a:chOff x="736" y="1198"/>
              <a:chExt cx="4185" cy="861"/>
            </a:xfrm>
          </p:grpSpPr>
          <p:sp>
            <p:nvSpPr>
              <p:cNvPr id="93" name="Rectangle 188"/>
              <p:cNvSpPr>
                <a:spLocks noChangeAspect="1" noChangeArrowheads="1"/>
              </p:cNvSpPr>
              <p:nvPr/>
            </p:nvSpPr>
            <p:spPr bwMode="auto">
              <a:xfrm>
                <a:off x="736" y="1606"/>
                <a:ext cx="201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4" name="Rectangle 189"/>
              <p:cNvSpPr>
                <a:spLocks noChangeAspect="1" noChangeArrowheads="1"/>
              </p:cNvSpPr>
              <p:nvPr/>
            </p:nvSpPr>
            <p:spPr bwMode="auto">
              <a:xfrm>
                <a:off x="961" y="1606"/>
                <a:ext cx="2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5" name="Rectangle 190"/>
              <p:cNvSpPr>
                <a:spLocks noChangeAspect="1" noChangeArrowheads="1"/>
              </p:cNvSpPr>
              <p:nvPr/>
            </p:nvSpPr>
            <p:spPr bwMode="auto">
              <a:xfrm>
                <a:off x="1009" y="1606"/>
                <a:ext cx="201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6" name="Rectangle 191"/>
              <p:cNvSpPr>
                <a:spLocks noChangeAspect="1" noChangeArrowheads="1"/>
              </p:cNvSpPr>
              <p:nvPr/>
            </p:nvSpPr>
            <p:spPr bwMode="auto">
              <a:xfrm>
                <a:off x="1234" y="1606"/>
                <a:ext cx="2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7" name="Rectangle 192"/>
              <p:cNvSpPr>
                <a:spLocks noChangeAspect="1" noChangeArrowheads="1"/>
              </p:cNvSpPr>
              <p:nvPr/>
            </p:nvSpPr>
            <p:spPr bwMode="auto">
              <a:xfrm>
                <a:off x="1282" y="1606"/>
                <a:ext cx="200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8" name="Rectangle 193"/>
              <p:cNvSpPr>
                <a:spLocks noChangeAspect="1" noChangeArrowheads="1"/>
              </p:cNvSpPr>
              <p:nvPr/>
            </p:nvSpPr>
            <p:spPr bwMode="auto">
              <a:xfrm>
                <a:off x="1506" y="1606"/>
                <a:ext cx="2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9" name="Rectangle 194"/>
              <p:cNvSpPr>
                <a:spLocks noChangeAspect="1" noChangeArrowheads="1"/>
              </p:cNvSpPr>
              <p:nvPr/>
            </p:nvSpPr>
            <p:spPr bwMode="auto">
              <a:xfrm>
                <a:off x="1554" y="1606"/>
                <a:ext cx="201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0" name="Rectangle 195"/>
              <p:cNvSpPr>
                <a:spLocks noChangeAspect="1" noChangeArrowheads="1"/>
              </p:cNvSpPr>
              <p:nvPr/>
            </p:nvSpPr>
            <p:spPr bwMode="auto">
              <a:xfrm>
                <a:off x="1779" y="1606"/>
                <a:ext cx="2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1" name="Rectangle 196"/>
              <p:cNvSpPr>
                <a:spLocks noChangeAspect="1" noChangeArrowheads="1"/>
              </p:cNvSpPr>
              <p:nvPr/>
            </p:nvSpPr>
            <p:spPr bwMode="auto">
              <a:xfrm>
                <a:off x="1827" y="1606"/>
                <a:ext cx="201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2" name="Rectangle 197"/>
              <p:cNvSpPr>
                <a:spLocks noChangeAspect="1" noChangeArrowheads="1"/>
              </p:cNvSpPr>
              <p:nvPr/>
            </p:nvSpPr>
            <p:spPr bwMode="auto">
              <a:xfrm>
                <a:off x="2052" y="1606"/>
                <a:ext cx="2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3" name="Rectangle 198"/>
              <p:cNvSpPr>
                <a:spLocks noChangeAspect="1" noChangeArrowheads="1"/>
              </p:cNvSpPr>
              <p:nvPr/>
            </p:nvSpPr>
            <p:spPr bwMode="auto">
              <a:xfrm>
                <a:off x="2100" y="1606"/>
                <a:ext cx="201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4" name="Rectangle 199"/>
              <p:cNvSpPr>
                <a:spLocks noChangeAspect="1" noChangeArrowheads="1"/>
              </p:cNvSpPr>
              <p:nvPr/>
            </p:nvSpPr>
            <p:spPr bwMode="auto">
              <a:xfrm>
                <a:off x="2325" y="1606"/>
                <a:ext cx="2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5" name="Rectangle 200"/>
              <p:cNvSpPr>
                <a:spLocks noChangeAspect="1" noChangeArrowheads="1"/>
              </p:cNvSpPr>
              <p:nvPr/>
            </p:nvSpPr>
            <p:spPr bwMode="auto">
              <a:xfrm>
                <a:off x="2373" y="1606"/>
                <a:ext cx="200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6" name="Rectangle 201"/>
              <p:cNvSpPr>
                <a:spLocks noChangeAspect="1" noChangeArrowheads="1"/>
              </p:cNvSpPr>
              <p:nvPr/>
            </p:nvSpPr>
            <p:spPr bwMode="auto">
              <a:xfrm>
                <a:off x="2597" y="1606"/>
                <a:ext cx="2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7" name="Rectangle 202"/>
              <p:cNvSpPr>
                <a:spLocks noChangeAspect="1" noChangeArrowheads="1"/>
              </p:cNvSpPr>
              <p:nvPr/>
            </p:nvSpPr>
            <p:spPr bwMode="auto">
              <a:xfrm>
                <a:off x="2645" y="1606"/>
                <a:ext cx="201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8" name="Rectangle 203"/>
              <p:cNvSpPr>
                <a:spLocks noChangeAspect="1" noChangeArrowheads="1"/>
              </p:cNvSpPr>
              <p:nvPr/>
            </p:nvSpPr>
            <p:spPr bwMode="auto">
              <a:xfrm>
                <a:off x="2870" y="1606"/>
                <a:ext cx="2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9" name="Rectangle 204"/>
              <p:cNvSpPr>
                <a:spLocks noChangeAspect="1" noChangeArrowheads="1"/>
              </p:cNvSpPr>
              <p:nvPr/>
            </p:nvSpPr>
            <p:spPr bwMode="auto">
              <a:xfrm>
                <a:off x="2918" y="1606"/>
                <a:ext cx="201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0" name="Rectangle 205"/>
              <p:cNvSpPr>
                <a:spLocks noChangeAspect="1" noChangeArrowheads="1"/>
              </p:cNvSpPr>
              <p:nvPr/>
            </p:nvSpPr>
            <p:spPr bwMode="auto">
              <a:xfrm>
                <a:off x="3143" y="1606"/>
                <a:ext cx="2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1" name="Rectangle 206"/>
              <p:cNvSpPr>
                <a:spLocks noChangeAspect="1" noChangeArrowheads="1"/>
              </p:cNvSpPr>
              <p:nvPr/>
            </p:nvSpPr>
            <p:spPr bwMode="auto">
              <a:xfrm>
                <a:off x="3191" y="1606"/>
                <a:ext cx="201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2" name="Rectangle 207"/>
              <p:cNvSpPr>
                <a:spLocks noChangeAspect="1" noChangeArrowheads="1"/>
              </p:cNvSpPr>
              <p:nvPr/>
            </p:nvSpPr>
            <p:spPr bwMode="auto">
              <a:xfrm>
                <a:off x="3416" y="1606"/>
                <a:ext cx="2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3" name="Rectangle 208"/>
              <p:cNvSpPr>
                <a:spLocks noChangeAspect="1" noChangeArrowheads="1"/>
              </p:cNvSpPr>
              <p:nvPr/>
            </p:nvSpPr>
            <p:spPr bwMode="auto">
              <a:xfrm>
                <a:off x="3464" y="1606"/>
                <a:ext cx="200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4" name="Rectangle 209"/>
              <p:cNvSpPr>
                <a:spLocks noChangeAspect="1" noChangeArrowheads="1"/>
              </p:cNvSpPr>
              <p:nvPr/>
            </p:nvSpPr>
            <p:spPr bwMode="auto">
              <a:xfrm>
                <a:off x="3688" y="1606"/>
                <a:ext cx="2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5" name="Rectangle 210"/>
              <p:cNvSpPr>
                <a:spLocks noChangeAspect="1" noChangeArrowheads="1"/>
              </p:cNvSpPr>
              <p:nvPr/>
            </p:nvSpPr>
            <p:spPr bwMode="auto">
              <a:xfrm>
                <a:off x="3736" y="1606"/>
                <a:ext cx="201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6" name="Rectangle 211"/>
              <p:cNvSpPr>
                <a:spLocks noChangeAspect="1" noChangeArrowheads="1"/>
              </p:cNvSpPr>
              <p:nvPr/>
            </p:nvSpPr>
            <p:spPr bwMode="auto">
              <a:xfrm>
                <a:off x="3961" y="1606"/>
                <a:ext cx="2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7" name="Rectangle 212"/>
              <p:cNvSpPr>
                <a:spLocks noChangeAspect="1" noChangeArrowheads="1"/>
              </p:cNvSpPr>
              <p:nvPr/>
            </p:nvSpPr>
            <p:spPr bwMode="auto">
              <a:xfrm>
                <a:off x="4009" y="1606"/>
                <a:ext cx="201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8" name="Rectangle 213"/>
              <p:cNvSpPr>
                <a:spLocks noChangeAspect="1" noChangeArrowheads="1"/>
              </p:cNvSpPr>
              <p:nvPr/>
            </p:nvSpPr>
            <p:spPr bwMode="auto">
              <a:xfrm>
                <a:off x="4234" y="1606"/>
                <a:ext cx="2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9" name="Rectangle 214"/>
              <p:cNvSpPr>
                <a:spLocks noChangeAspect="1" noChangeArrowheads="1"/>
              </p:cNvSpPr>
              <p:nvPr/>
            </p:nvSpPr>
            <p:spPr bwMode="auto">
              <a:xfrm>
                <a:off x="4282" y="1606"/>
                <a:ext cx="201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0" name="Rectangle 215"/>
              <p:cNvSpPr>
                <a:spLocks noChangeAspect="1" noChangeArrowheads="1"/>
              </p:cNvSpPr>
              <p:nvPr/>
            </p:nvSpPr>
            <p:spPr bwMode="auto">
              <a:xfrm>
                <a:off x="4507" y="1606"/>
                <a:ext cx="2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1" name="Rectangle 216"/>
              <p:cNvSpPr>
                <a:spLocks noChangeAspect="1" noChangeArrowheads="1"/>
              </p:cNvSpPr>
              <p:nvPr/>
            </p:nvSpPr>
            <p:spPr bwMode="auto">
              <a:xfrm>
                <a:off x="4555" y="1606"/>
                <a:ext cx="200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2" name="Rectangle 217"/>
              <p:cNvSpPr>
                <a:spLocks noChangeAspect="1" noChangeArrowheads="1"/>
              </p:cNvSpPr>
              <p:nvPr/>
            </p:nvSpPr>
            <p:spPr bwMode="auto">
              <a:xfrm>
                <a:off x="4779" y="1606"/>
                <a:ext cx="2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3" name="Rectangle 218"/>
              <p:cNvSpPr>
                <a:spLocks noChangeAspect="1" noChangeArrowheads="1"/>
              </p:cNvSpPr>
              <p:nvPr/>
            </p:nvSpPr>
            <p:spPr bwMode="auto">
              <a:xfrm>
                <a:off x="4827" y="1606"/>
                <a:ext cx="94" cy="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4" name="Rectangle 219"/>
              <p:cNvSpPr>
                <a:spLocks noChangeAspect="1" noChangeArrowheads="1"/>
              </p:cNvSpPr>
              <p:nvPr/>
            </p:nvSpPr>
            <p:spPr bwMode="auto">
              <a:xfrm>
                <a:off x="4855" y="1376"/>
                <a:ext cx="23" cy="23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5" name="Rectangle 220"/>
              <p:cNvSpPr>
                <a:spLocks noChangeAspect="1" noChangeArrowheads="1"/>
              </p:cNvSpPr>
              <p:nvPr/>
            </p:nvSpPr>
            <p:spPr bwMode="auto">
              <a:xfrm>
                <a:off x="4855" y="1376"/>
                <a:ext cx="23" cy="23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6" name="Rectangle 221"/>
              <p:cNvSpPr>
                <a:spLocks noChangeAspect="1" noChangeArrowheads="1"/>
              </p:cNvSpPr>
              <p:nvPr/>
            </p:nvSpPr>
            <p:spPr bwMode="auto">
              <a:xfrm>
                <a:off x="4855" y="1610"/>
                <a:ext cx="23" cy="235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7" name="Freeform 222"/>
              <p:cNvSpPr>
                <a:spLocks noChangeAspect="1" noChangeArrowheads="1"/>
              </p:cNvSpPr>
              <p:nvPr/>
            </p:nvSpPr>
            <p:spPr bwMode="auto">
              <a:xfrm>
                <a:off x="4819" y="1837"/>
                <a:ext cx="56" cy="55"/>
              </a:xfrm>
              <a:custGeom>
                <a:avLst/>
                <a:gdLst>
                  <a:gd name="T0" fmla="*/ 197 w 276"/>
                  <a:gd name="T1" fmla="*/ 0 h 275"/>
                  <a:gd name="T2" fmla="*/ 0 w 276"/>
                  <a:gd name="T3" fmla="*/ 196 h 275"/>
                  <a:gd name="T4" fmla="*/ 80 w 276"/>
                  <a:gd name="T5" fmla="*/ 275 h 275"/>
                  <a:gd name="T6" fmla="*/ 276 w 276"/>
                  <a:gd name="T7" fmla="*/ 81 h 275"/>
                  <a:gd name="T8" fmla="*/ 197 w 276"/>
                  <a:gd name="T9" fmla="*/ 0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6" h="275">
                    <a:moveTo>
                      <a:pt x="197" y="0"/>
                    </a:moveTo>
                    <a:lnTo>
                      <a:pt x="0" y="196"/>
                    </a:lnTo>
                    <a:lnTo>
                      <a:pt x="80" y="275"/>
                    </a:lnTo>
                    <a:lnTo>
                      <a:pt x="276" y="81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8" name="Freeform 223"/>
              <p:cNvSpPr>
                <a:spLocks noChangeAspect="1" noChangeArrowheads="1"/>
              </p:cNvSpPr>
              <p:nvPr/>
            </p:nvSpPr>
            <p:spPr bwMode="auto">
              <a:xfrm>
                <a:off x="4819" y="1837"/>
                <a:ext cx="56" cy="55"/>
              </a:xfrm>
              <a:custGeom>
                <a:avLst/>
                <a:gdLst>
                  <a:gd name="T0" fmla="*/ 80 w 276"/>
                  <a:gd name="T1" fmla="*/ 275 h 275"/>
                  <a:gd name="T2" fmla="*/ 276 w 276"/>
                  <a:gd name="T3" fmla="*/ 81 h 275"/>
                  <a:gd name="T4" fmla="*/ 197 w 276"/>
                  <a:gd name="T5" fmla="*/ 0 h 275"/>
                  <a:gd name="T6" fmla="*/ 0 w 276"/>
                  <a:gd name="T7" fmla="*/ 196 h 275"/>
                  <a:gd name="T8" fmla="*/ 80 w 276"/>
                  <a:gd name="T9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6" h="275">
                    <a:moveTo>
                      <a:pt x="80" y="275"/>
                    </a:moveTo>
                    <a:lnTo>
                      <a:pt x="276" y="81"/>
                    </a:lnTo>
                    <a:lnTo>
                      <a:pt x="197" y="0"/>
                    </a:lnTo>
                    <a:lnTo>
                      <a:pt x="0" y="196"/>
                    </a:lnTo>
                    <a:lnTo>
                      <a:pt x="80" y="275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9" name="Rectangle 224"/>
              <p:cNvSpPr>
                <a:spLocks noChangeAspect="1" noChangeArrowheads="1"/>
              </p:cNvSpPr>
              <p:nvPr/>
            </p:nvSpPr>
            <p:spPr bwMode="auto">
              <a:xfrm>
                <a:off x="4286" y="1610"/>
                <a:ext cx="23" cy="235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0" name="Freeform 225"/>
              <p:cNvSpPr>
                <a:spLocks noChangeAspect="1" noChangeArrowheads="1"/>
              </p:cNvSpPr>
              <p:nvPr/>
            </p:nvSpPr>
            <p:spPr bwMode="auto">
              <a:xfrm>
                <a:off x="4290" y="1837"/>
                <a:ext cx="55" cy="55"/>
              </a:xfrm>
              <a:custGeom>
                <a:avLst/>
                <a:gdLst>
                  <a:gd name="T0" fmla="*/ 0 w 278"/>
                  <a:gd name="T1" fmla="*/ 81 h 275"/>
                  <a:gd name="T2" fmla="*/ 197 w 278"/>
                  <a:gd name="T3" fmla="*/ 275 h 275"/>
                  <a:gd name="T4" fmla="*/ 278 w 278"/>
                  <a:gd name="T5" fmla="*/ 196 h 275"/>
                  <a:gd name="T6" fmla="*/ 82 w 278"/>
                  <a:gd name="T7" fmla="*/ 0 h 275"/>
                  <a:gd name="T8" fmla="*/ 0 w 278"/>
                  <a:gd name="T9" fmla="*/ 81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8" h="275">
                    <a:moveTo>
                      <a:pt x="0" y="81"/>
                    </a:moveTo>
                    <a:lnTo>
                      <a:pt x="197" y="275"/>
                    </a:lnTo>
                    <a:lnTo>
                      <a:pt x="278" y="196"/>
                    </a:lnTo>
                    <a:lnTo>
                      <a:pt x="82" y="0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1" name="Rectangle 226"/>
              <p:cNvSpPr>
                <a:spLocks noChangeAspect="1" noChangeArrowheads="1"/>
              </p:cNvSpPr>
              <p:nvPr/>
            </p:nvSpPr>
            <p:spPr bwMode="auto">
              <a:xfrm>
                <a:off x="4337" y="1873"/>
                <a:ext cx="490" cy="2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2" name="Rectangle 227"/>
              <p:cNvSpPr>
                <a:spLocks noChangeAspect="1" noChangeArrowheads="1"/>
              </p:cNvSpPr>
              <p:nvPr/>
            </p:nvSpPr>
            <p:spPr bwMode="auto">
              <a:xfrm>
                <a:off x="4220" y="1834"/>
                <a:ext cx="78" cy="22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3" name="Rectangle 228"/>
              <p:cNvSpPr>
                <a:spLocks noChangeAspect="1" noChangeArrowheads="1"/>
              </p:cNvSpPr>
              <p:nvPr/>
            </p:nvSpPr>
            <p:spPr bwMode="auto">
              <a:xfrm>
                <a:off x="4208" y="1845"/>
                <a:ext cx="23" cy="2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4" name="Freeform 229"/>
              <p:cNvSpPr>
                <a:spLocks noChangeAspect="1" noChangeArrowheads="1"/>
              </p:cNvSpPr>
              <p:nvPr/>
            </p:nvSpPr>
            <p:spPr bwMode="auto">
              <a:xfrm>
                <a:off x="4172" y="1857"/>
                <a:ext cx="55" cy="55"/>
              </a:xfrm>
              <a:custGeom>
                <a:avLst/>
                <a:gdLst>
                  <a:gd name="T0" fmla="*/ 196 w 277"/>
                  <a:gd name="T1" fmla="*/ 0 h 275"/>
                  <a:gd name="T2" fmla="*/ 0 w 277"/>
                  <a:gd name="T3" fmla="*/ 196 h 275"/>
                  <a:gd name="T4" fmla="*/ 80 w 277"/>
                  <a:gd name="T5" fmla="*/ 275 h 275"/>
                  <a:gd name="T6" fmla="*/ 277 w 277"/>
                  <a:gd name="T7" fmla="*/ 80 h 275"/>
                  <a:gd name="T8" fmla="*/ 196 w 277"/>
                  <a:gd name="T9" fmla="*/ 0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7" h="275">
                    <a:moveTo>
                      <a:pt x="196" y="0"/>
                    </a:moveTo>
                    <a:lnTo>
                      <a:pt x="0" y="196"/>
                    </a:lnTo>
                    <a:lnTo>
                      <a:pt x="80" y="275"/>
                    </a:lnTo>
                    <a:lnTo>
                      <a:pt x="277" y="80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5" name="Rectangle 230"/>
              <p:cNvSpPr>
                <a:spLocks noChangeAspect="1" noChangeArrowheads="1"/>
              </p:cNvSpPr>
              <p:nvPr/>
            </p:nvSpPr>
            <p:spPr bwMode="auto">
              <a:xfrm>
                <a:off x="3592" y="1892"/>
                <a:ext cx="588" cy="2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6" name="Rectangle 231"/>
              <p:cNvSpPr>
                <a:spLocks noChangeAspect="1" noChangeArrowheads="1"/>
              </p:cNvSpPr>
              <p:nvPr/>
            </p:nvSpPr>
            <p:spPr bwMode="auto">
              <a:xfrm>
                <a:off x="3580" y="1610"/>
                <a:ext cx="23" cy="392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7" name="Rectangle 232"/>
              <p:cNvSpPr>
                <a:spLocks noChangeAspect="1" noChangeArrowheads="1"/>
              </p:cNvSpPr>
              <p:nvPr/>
            </p:nvSpPr>
            <p:spPr bwMode="auto">
              <a:xfrm>
                <a:off x="1040" y="1991"/>
                <a:ext cx="2552" cy="22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8" name="Rectangle 233"/>
              <p:cNvSpPr>
                <a:spLocks noChangeAspect="1" noChangeArrowheads="1"/>
              </p:cNvSpPr>
              <p:nvPr/>
            </p:nvSpPr>
            <p:spPr bwMode="auto">
              <a:xfrm>
                <a:off x="1029" y="1610"/>
                <a:ext cx="22" cy="392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9" name="Rectangle 234"/>
              <p:cNvSpPr>
                <a:spLocks noChangeAspect="1" noChangeArrowheads="1"/>
              </p:cNvSpPr>
              <p:nvPr/>
            </p:nvSpPr>
            <p:spPr bwMode="auto">
              <a:xfrm>
                <a:off x="950" y="1983"/>
                <a:ext cx="23" cy="1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0" name="Rectangle 235"/>
              <p:cNvSpPr>
                <a:spLocks noChangeAspect="1" noChangeArrowheads="1"/>
              </p:cNvSpPr>
              <p:nvPr/>
            </p:nvSpPr>
            <p:spPr bwMode="auto">
              <a:xfrm>
                <a:off x="883" y="1991"/>
                <a:ext cx="79" cy="22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1" name="Rectangle 236"/>
              <p:cNvSpPr>
                <a:spLocks noChangeAspect="1" noChangeArrowheads="1"/>
              </p:cNvSpPr>
              <p:nvPr/>
            </p:nvSpPr>
            <p:spPr bwMode="auto">
              <a:xfrm>
                <a:off x="871" y="1610"/>
                <a:ext cx="23" cy="392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2" name="Rectangle 237"/>
              <p:cNvSpPr>
                <a:spLocks noChangeAspect="1" noChangeArrowheads="1"/>
              </p:cNvSpPr>
              <p:nvPr/>
            </p:nvSpPr>
            <p:spPr bwMode="auto">
              <a:xfrm>
                <a:off x="832" y="1610"/>
                <a:ext cx="23" cy="35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3" name="Freeform 238"/>
              <p:cNvSpPr>
                <a:spLocks noChangeAspect="1" noChangeArrowheads="1"/>
              </p:cNvSpPr>
              <p:nvPr/>
            </p:nvSpPr>
            <p:spPr bwMode="auto">
              <a:xfrm>
                <a:off x="836" y="1955"/>
                <a:ext cx="55" cy="55"/>
              </a:xfrm>
              <a:custGeom>
                <a:avLst/>
                <a:gdLst>
                  <a:gd name="T0" fmla="*/ 278 w 278"/>
                  <a:gd name="T1" fmla="*/ 196 h 277"/>
                  <a:gd name="T2" fmla="*/ 81 w 278"/>
                  <a:gd name="T3" fmla="*/ 0 h 277"/>
                  <a:gd name="T4" fmla="*/ 0 w 278"/>
                  <a:gd name="T5" fmla="*/ 80 h 277"/>
                  <a:gd name="T6" fmla="*/ 197 w 278"/>
                  <a:gd name="T7" fmla="*/ 277 h 277"/>
                  <a:gd name="T8" fmla="*/ 278 w 278"/>
                  <a:gd name="T9" fmla="*/ 19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8" h="277">
                    <a:moveTo>
                      <a:pt x="278" y="196"/>
                    </a:moveTo>
                    <a:lnTo>
                      <a:pt x="81" y="0"/>
                    </a:lnTo>
                    <a:lnTo>
                      <a:pt x="0" y="80"/>
                    </a:lnTo>
                    <a:lnTo>
                      <a:pt x="197" y="277"/>
                    </a:lnTo>
                    <a:lnTo>
                      <a:pt x="278" y="196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4" name="Rectangle 239"/>
              <p:cNvSpPr>
                <a:spLocks noChangeAspect="1" noChangeArrowheads="1"/>
              </p:cNvSpPr>
              <p:nvPr/>
            </p:nvSpPr>
            <p:spPr bwMode="auto">
              <a:xfrm>
                <a:off x="950" y="1610"/>
                <a:ext cx="23" cy="37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5" name="Rectangle 240"/>
              <p:cNvSpPr>
                <a:spLocks noChangeAspect="1" noChangeArrowheads="1"/>
              </p:cNvSpPr>
              <p:nvPr/>
            </p:nvSpPr>
            <p:spPr bwMode="auto">
              <a:xfrm>
                <a:off x="4326" y="1610"/>
                <a:ext cx="22" cy="27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6" name="Rectangle 241"/>
              <p:cNvSpPr>
                <a:spLocks noChangeAspect="1" noChangeArrowheads="1"/>
              </p:cNvSpPr>
              <p:nvPr/>
            </p:nvSpPr>
            <p:spPr bwMode="auto">
              <a:xfrm>
                <a:off x="4208" y="1610"/>
                <a:ext cx="23" cy="235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7" name="Rectangle 242"/>
              <p:cNvSpPr>
                <a:spLocks noChangeAspect="1" noChangeArrowheads="1"/>
              </p:cNvSpPr>
              <p:nvPr/>
            </p:nvSpPr>
            <p:spPr bwMode="auto">
              <a:xfrm>
                <a:off x="4168" y="1610"/>
                <a:ext cx="24" cy="29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8" name="Rectangle 243"/>
              <p:cNvSpPr>
                <a:spLocks noChangeAspect="1" noChangeArrowheads="1"/>
              </p:cNvSpPr>
              <p:nvPr/>
            </p:nvSpPr>
            <p:spPr bwMode="auto">
              <a:xfrm>
                <a:off x="4686" y="1859"/>
                <a:ext cx="8" cy="20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9" name="Rectangle 244"/>
              <p:cNvSpPr>
                <a:spLocks noChangeAspect="1" noChangeArrowheads="1"/>
              </p:cNvSpPr>
              <p:nvPr/>
            </p:nvSpPr>
            <p:spPr bwMode="auto">
              <a:xfrm>
                <a:off x="4686" y="1811"/>
                <a:ext cx="8" cy="2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0" name="Rectangle 245"/>
              <p:cNvSpPr>
                <a:spLocks noChangeAspect="1" noChangeArrowheads="1"/>
              </p:cNvSpPr>
              <p:nvPr/>
            </p:nvSpPr>
            <p:spPr bwMode="auto">
              <a:xfrm>
                <a:off x="4686" y="1587"/>
                <a:ext cx="8" cy="20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1" name="Rectangle 246"/>
              <p:cNvSpPr>
                <a:spLocks noChangeAspect="1" noChangeArrowheads="1"/>
              </p:cNvSpPr>
              <p:nvPr/>
            </p:nvSpPr>
            <p:spPr bwMode="auto">
              <a:xfrm>
                <a:off x="4686" y="1539"/>
                <a:ext cx="8" cy="2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2" name="Rectangle 247"/>
              <p:cNvSpPr>
                <a:spLocks noChangeAspect="1" noChangeArrowheads="1"/>
              </p:cNvSpPr>
              <p:nvPr/>
            </p:nvSpPr>
            <p:spPr bwMode="auto">
              <a:xfrm>
                <a:off x="4686" y="1315"/>
                <a:ext cx="8" cy="20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3" name="Rectangle 248"/>
              <p:cNvSpPr>
                <a:spLocks noChangeAspect="1" noChangeArrowheads="1"/>
              </p:cNvSpPr>
              <p:nvPr/>
            </p:nvSpPr>
            <p:spPr bwMode="auto">
              <a:xfrm>
                <a:off x="4686" y="1266"/>
                <a:ext cx="8" cy="25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4" name="Rectangle 249"/>
              <p:cNvSpPr>
                <a:spLocks noChangeAspect="1" noChangeArrowheads="1"/>
              </p:cNvSpPr>
              <p:nvPr/>
            </p:nvSpPr>
            <p:spPr bwMode="auto">
              <a:xfrm>
                <a:off x="4686" y="1198"/>
                <a:ext cx="8" cy="4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5" name="Rectangle 250"/>
              <p:cNvSpPr>
                <a:spLocks noChangeAspect="1" noChangeArrowheads="1"/>
              </p:cNvSpPr>
              <p:nvPr/>
            </p:nvSpPr>
            <p:spPr bwMode="auto">
              <a:xfrm>
                <a:off x="4600" y="1610"/>
                <a:ext cx="23" cy="27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6" name="Rectangle 251"/>
              <p:cNvSpPr>
                <a:spLocks noChangeAspect="1" noChangeArrowheads="1"/>
              </p:cNvSpPr>
              <p:nvPr/>
            </p:nvSpPr>
            <p:spPr bwMode="auto">
              <a:xfrm>
                <a:off x="4757" y="1610"/>
                <a:ext cx="23" cy="27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7" name="Line 252"/>
              <p:cNvSpPr>
                <a:spLocks noChangeAspect="1" noChangeShapeType="1"/>
              </p:cNvSpPr>
              <p:nvPr/>
            </p:nvSpPr>
            <p:spPr bwMode="auto">
              <a:xfrm flipV="1">
                <a:off x="4790" y="1808"/>
                <a:ext cx="77" cy="76"/>
              </a:xfrm>
              <a:prstGeom prst="line">
                <a:avLst/>
              </a:pr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8" name="Line 253"/>
              <p:cNvSpPr>
                <a:spLocks noChangeAspect="1" noChangeShapeType="1"/>
              </p:cNvSpPr>
              <p:nvPr/>
            </p:nvSpPr>
            <p:spPr bwMode="auto">
              <a:xfrm flipV="1">
                <a:off x="4769" y="1720"/>
                <a:ext cx="98" cy="97"/>
              </a:xfrm>
              <a:prstGeom prst="line">
                <a:avLst/>
              </a:pr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9" name="Line 254"/>
              <p:cNvSpPr>
                <a:spLocks noChangeAspect="1" noChangeShapeType="1"/>
              </p:cNvSpPr>
              <p:nvPr/>
            </p:nvSpPr>
            <p:spPr bwMode="auto">
              <a:xfrm flipV="1">
                <a:off x="4769" y="1632"/>
                <a:ext cx="98" cy="97"/>
              </a:xfrm>
              <a:prstGeom prst="line">
                <a:avLst/>
              </a:pr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0" name="Line 255"/>
              <p:cNvSpPr>
                <a:spLocks noChangeAspect="1" noChangeShapeType="1"/>
              </p:cNvSpPr>
              <p:nvPr/>
            </p:nvSpPr>
            <p:spPr bwMode="auto">
              <a:xfrm flipV="1">
                <a:off x="4769" y="1610"/>
                <a:ext cx="31" cy="31"/>
              </a:xfrm>
              <a:prstGeom prst="line">
                <a:avLst/>
              </a:pr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" name="Freeform 256"/>
              <p:cNvSpPr>
                <a:spLocks noChangeAspect="1" noChangeArrowheads="1"/>
              </p:cNvSpPr>
              <p:nvPr/>
            </p:nvSpPr>
            <p:spPr bwMode="auto">
              <a:xfrm>
                <a:off x="4438" y="1615"/>
                <a:ext cx="74" cy="274"/>
              </a:xfrm>
              <a:custGeom>
                <a:avLst/>
                <a:gdLst>
                  <a:gd name="T0" fmla="*/ 29 w 371"/>
                  <a:gd name="T1" fmla="*/ 17 h 1374"/>
                  <a:gd name="T2" fmla="*/ 23 w 371"/>
                  <a:gd name="T3" fmla="*/ 43 h 1374"/>
                  <a:gd name="T4" fmla="*/ 18 w 371"/>
                  <a:gd name="T5" fmla="*/ 68 h 1374"/>
                  <a:gd name="T6" fmla="*/ 13 w 371"/>
                  <a:gd name="T7" fmla="*/ 93 h 1374"/>
                  <a:gd name="T8" fmla="*/ 10 w 371"/>
                  <a:gd name="T9" fmla="*/ 118 h 1374"/>
                  <a:gd name="T10" fmla="*/ 6 w 371"/>
                  <a:gd name="T11" fmla="*/ 144 h 1374"/>
                  <a:gd name="T12" fmla="*/ 4 w 371"/>
                  <a:gd name="T13" fmla="*/ 169 h 1374"/>
                  <a:gd name="T14" fmla="*/ 2 w 371"/>
                  <a:gd name="T15" fmla="*/ 195 h 1374"/>
                  <a:gd name="T16" fmla="*/ 0 w 371"/>
                  <a:gd name="T17" fmla="*/ 219 h 1374"/>
                  <a:gd name="T18" fmla="*/ 0 w 371"/>
                  <a:gd name="T19" fmla="*/ 246 h 1374"/>
                  <a:gd name="T20" fmla="*/ 0 w 371"/>
                  <a:gd name="T21" fmla="*/ 270 h 1374"/>
                  <a:gd name="T22" fmla="*/ 0 w 371"/>
                  <a:gd name="T23" fmla="*/ 296 h 1374"/>
                  <a:gd name="T24" fmla="*/ 1 w 371"/>
                  <a:gd name="T25" fmla="*/ 323 h 1374"/>
                  <a:gd name="T26" fmla="*/ 2 w 371"/>
                  <a:gd name="T27" fmla="*/ 349 h 1374"/>
                  <a:gd name="T28" fmla="*/ 5 w 371"/>
                  <a:gd name="T29" fmla="*/ 375 h 1374"/>
                  <a:gd name="T30" fmla="*/ 8 w 371"/>
                  <a:gd name="T31" fmla="*/ 400 h 1374"/>
                  <a:gd name="T32" fmla="*/ 12 w 371"/>
                  <a:gd name="T33" fmla="*/ 426 h 1374"/>
                  <a:gd name="T34" fmla="*/ 16 w 371"/>
                  <a:gd name="T35" fmla="*/ 453 h 1374"/>
                  <a:gd name="T36" fmla="*/ 21 w 371"/>
                  <a:gd name="T37" fmla="*/ 479 h 1374"/>
                  <a:gd name="T38" fmla="*/ 26 w 371"/>
                  <a:gd name="T39" fmla="*/ 505 h 1374"/>
                  <a:gd name="T40" fmla="*/ 33 w 371"/>
                  <a:gd name="T41" fmla="*/ 531 h 1374"/>
                  <a:gd name="T42" fmla="*/ 38 w 371"/>
                  <a:gd name="T43" fmla="*/ 558 h 1374"/>
                  <a:gd name="T44" fmla="*/ 46 w 371"/>
                  <a:gd name="T45" fmla="*/ 584 h 1374"/>
                  <a:gd name="T46" fmla="*/ 52 w 371"/>
                  <a:gd name="T47" fmla="*/ 611 h 1374"/>
                  <a:gd name="T48" fmla="*/ 60 w 371"/>
                  <a:gd name="T49" fmla="*/ 637 h 1374"/>
                  <a:gd name="T50" fmla="*/ 69 w 371"/>
                  <a:gd name="T51" fmla="*/ 663 h 1374"/>
                  <a:gd name="T52" fmla="*/ 77 w 371"/>
                  <a:gd name="T53" fmla="*/ 691 h 1374"/>
                  <a:gd name="T54" fmla="*/ 86 w 371"/>
                  <a:gd name="T55" fmla="*/ 717 h 1374"/>
                  <a:gd name="T56" fmla="*/ 95 w 371"/>
                  <a:gd name="T57" fmla="*/ 743 h 1374"/>
                  <a:gd name="T58" fmla="*/ 106 w 371"/>
                  <a:gd name="T59" fmla="*/ 770 h 1374"/>
                  <a:gd name="T60" fmla="*/ 115 w 371"/>
                  <a:gd name="T61" fmla="*/ 796 h 1374"/>
                  <a:gd name="T62" fmla="*/ 125 w 371"/>
                  <a:gd name="T63" fmla="*/ 823 h 1374"/>
                  <a:gd name="T64" fmla="*/ 136 w 371"/>
                  <a:gd name="T65" fmla="*/ 850 h 1374"/>
                  <a:gd name="T66" fmla="*/ 148 w 371"/>
                  <a:gd name="T67" fmla="*/ 876 h 1374"/>
                  <a:gd name="T68" fmla="*/ 158 w 371"/>
                  <a:gd name="T69" fmla="*/ 902 h 1374"/>
                  <a:gd name="T70" fmla="*/ 170 w 371"/>
                  <a:gd name="T71" fmla="*/ 928 h 1374"/>
                  <a:gd name="T72" fmla="*/ 180 w 371"/>
                  <a:gd name="T73" fmla="*/ 954 h 1374"/>
                  <a:gd name="T74" fmla="*/ 192 w 371"/>
                  <a:gd name="T75" fmla="*/ 981 h 1374"/>
                  <a:gd name="T76" fmla="*/ 204 w 371"/>
                  <a:gd name="T77" fmla="*/ 1008 h 1374"/>
                  <a:gd name="T78" fmla="*/ 216 w 371"/>
                  <a:gd name="T79" fmla="*/ 1034 h 1374"/>
                  <a:gd name="T80" fmla="*/ 227 w 371"/>
                  <a:gd name="T81" fmla="*/ 1059 h 1374"/>
                  <a:gd name="T82" fmla="*/ 239 w 371"/>
                  <a:gd name="T83" fmla="*/ 1086 h 1374"/>
                  <a:gd name="T84" fmla="*/ 251 w 371"/>
                  <a:gd name="T85" fmla="*/ 1111 h 1374"/>
                  <a:gd name="T86" fmla="*/ 263 w 371"/>
                  <a:gd name="T87" fmla="*/ 1137 h 1374"/>
                  <a:gd name="T88" fmla="*/ 274 w 371"/>
                  <a:gd name="T89" fmla="*/ 1163 h 1374"/>
                  <a:gd name="T90" fmla="*/ 288 w 371"/>
                  <a:gd name="T91" fmla="*/ 1188 h 1374"/>
                  <a:gd name="T92" fmla="*/ 299 w 371"/>
                  <a:gd name="T93" fmla="*/ 1214 h 1374"/>
                  <a:gd name="T94" fmla="*/ 310 w 371"/>
                  <a:gd name="T95" fmla="*/ 1240 h 1374"/>
                  <a:gd name="T96" fmla="*/ 323 w 371"/>
                  <a:gd name="T97" fmla="*/ 1265 h 1374"/>
                  <a:gd name="T98" fmla="*/ 333 w 371"/>
                  <a:gd name="T99" fmla="*/ 1290 h 1374"/>
                  <a:gd name="T100" fmla="*/ 345 w 371"/>
                  <a:gd name="T101" fmla="*/ 1315 h 1374"/>
                  <a:gd name="T102" fmla="*/ 357 w 371"/>
                  <a:gd name="T103" fmla="*/ 1340 h 1374"/>
                  <a:gd name="T104" fmla="*/ 367 w 371"/>
                  <a:gd name="T105" fmla="*/ 1364 h 1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71" h="1374">
                    <a:moveTo>
                      <a:pt x="33" y="0"/>
                    </a:moveTo>
                    <a:lnTo>
                      <a:pt x="30" y="9"/>
                    </a:lnTo>
                    <a:lnTo>
                      <a:pt x="29" y="17"/>
                    </a:lnTo>
                    <a:lnTo>
                      <a:pt x="26" y="26"/>
                    </a:lnTo>
                    <a:lnTo>
                      <a:pt x="25" y="34"/>
                    </a:lnTo>
                    <a:lnTo>
                      <a:pt x="23" y="43"/>
                    </a:lnTo>
                    <a:lnTo>
                      <a:pt x="21" y="51"/>
                    </a:lnTo>
                    <a:lnTo>
                      <a:pt x="19" y="59"/>
                    </a:lnTo>
                    <a:lnTo>
                      <a:pt x="18" y="68"/>
                    </a:lnTo>
                    <a:lnTo>
                      <a:pt x="17" y="76"/>
                    </a:lnTo>
                    <a:lnTo>
                      <a:pt x="16" y="85"/>
                    </a:lnTo>
                    <a:lnTo>
                      <a:pt x="13" y="93"/>
                    </a:lnTo>
                    <a:lnTo>
                      <a:pt x="13" y="102"/>
                    </a:lnTo>
                    <a:lnTo>
                      <a:pt x="12" y="110"/>
                    </a:lnTo>
                    <a:lnTo>
                      <a:pt x="10" y="118"/>
                    </a:lnTo>
                    <a:lnTo>
                      <a:pt x="9" y="127"/>
                    </a:lnTo>
                    <a:lnTo>
                      <a:pt x="8" y="135"/>
                    </a:lnTo>
                    <a:lnTo>
                      <a:pt x="6" y="144"/>
                    </a:lnTo>
                    <a:lnTo>
                      <a:pt x="6" y="152"/>
                    </a:lnTo>
                    <a:lnTo>
                      <a:pt x="5" y="161"/>
                    </a:lnTo>
                    <a:lnTo>
                      <a:pt x="4" y="169"/>
                    </a:lnTo>
                    <a:lnTo>
                      <a:pt x="4" y="178"/>
                    </a:lnTo>
                    <a:lnTo>
                      <a:pt x="2" y="186"/>
                    </a:lnTo>
                    <a:lnTo>
                      <a:pt x="2" y="195"/>
                    </a:lnTo>
                    <a:lnTo>
                      <a:pt x="1" y="202"/>
                    </a:lnTo>
                    <a:lnTo>
                      <a:pt x="1" y="212"/>
                    </a:lnTo>
                    <a:lnTo>
                      <a:pt x="0" y="219"/>
                    </a:lnTo>
                    <a:lnTo>
                      <a:pt x="0" y="229"/>
                    </a:lnTo>
                    <a:lnTo>
                      <a:pt x="0" y="236"/>
                    </a:lnTo>
                    <a:lnTo>
                      <a:pt x="0" y="246"/>
                    </a:lnTo>
                    <a:lnTo>
                      <a:pt x="0" y="253"/>
                    </a:lnTo>
                    <a:lnTo>
                      <a:pt x="0" y="263"/>
                    </a:lnTo>
                    <a:lnTo>
                      <a:pt x="0" y="270"/>
                    </a:lnTo>
                    <a:lnTo>
                      <a:pt x="0" y="280"/>
                    </a:lnTo>
                    <a:lnTo>
                      <a:pt x="0" y="287"/>
                    </a:lnTo>
                    <a:lnTo>
                      <a:pt x="0" y="296"/>
                    </a:lnTo>
                    <a:lnTo>
                      <a:pt x="0" y="306"/>
                    </a:lnTo>
                    <a:lnTo>
                      <a:pt x="0" y="313"/>
                    </a:lnTo>
                    <a:lnTo>
                      <a:pt x="1" y="323"/>
                    </a:lnTo>
                    <a:lnTo>
                      <a:pt x="1" y="330"/>
                    </a:lnTo>
                    <a:lnTo>
                      <a:pt x="2" y="340"/>
                    </a:lnTo>
                    <a:lnTo>
                      <a:pt x="2" y="349"/>
                    </a:lnTo>
                    <a:lnTo>
                      <a:pt x="4" y="357"/>
                    </a:lnTo>
                    <a:lnTo>
                      <a:pt x="4" y="366"/>
                    </a:lnTo>
                    <a:lnTo>
                      <a:pt x="5" y="375"/>
                    </a:lnTo>
                    <a:lnTo>
                      <a:pt x="6" y="383"/>
                    </a:lnTo>
                    <a:lnTo>
                      <a:pt x="6" y="392"/>
                    </a:lnTo>
                    <a:lnTo>
                      <a:pt x="8" y="400"/>
                    </a:lnTo>
                    <a:lnTo>
                      <a:pt x="9" y="409"/>
                    </a:lnTo>
                    <a:lnTo>
                      <a:pt x="10" y="418"/>
                    </a:lnTo>
                    <a:lnTo>
                      <a:pt x="12" y="426"/>
                    </a:lnTo>
                    <a:lnTo>
                      <a:pt x="13" y="435"/>
                    </a:lnTo>
                    <a:lnTo>
                      <a:pt x="14" y="444"/>
                    </a:lnTo>
                    <a:lnTo>
                      <a:pt x="16" y="453"/>
                    </a:lnTo>
                    <a:lnTo>
                      <a:pt x="17" y="461"/>
                    </a:lnTo>
                    <a:lnTo>
                      <a:pt x="19" y="470"/>
                    </a:lnTo>
                    <a:lnTo>
                      <a:pt x="21" y="479"/>
                    </a:lnTo>
                    <a:lnTo>
                      <a:pt x="22" y="487"/>
                    </a:lnTo>
                    <a:lnTo>
                      <a:pt x="25" y="496"/>
                    </a:lnTo>
                    <a:lnTo>
                      <a:pt x="26" y="505"/>
                    </a:lnTo>
                    <a:lnTo>
                      <a:pt x="27" y="514"/>
                    </a:lnTo>
                    <a:lnTo>
                      <a:pt x="30" y="522"/>
                    </a:lnTo>
                    <a:lnTo>
                      <a:pt x="33" y="531"/>
                    </a:lnTo>
                    <a:lnTo>
                      <a:pt x="34" y="541"/>
                    </a:lnTo>
                    <a:lnTo>
                      <a:pt x="36" y="550"/>
                    </a:lnTo>
                    <a:lnTo>
                      <a:pt x="38" y="558"/>
                    </a:lnTo>
                    <a:lnTo>
                      <a:pt x="40" y="567"/>
                    </a:lnTo>
                    <a:lnTo>
                      <a:pt x="43" y="576"/>
                    </a:lnTo>
                    <a:lnTo>
                      <a:pt x="46" y="584"/>
                    </a:lnTo>
                    <a:lnTo>
                      <a:pt x="48" y="593"/>
                    </a:lnTo>
                    <a:lnTo>
                      <a:pt x="50" y="602"/>
                    </a:lnTo>
                    <a:lnTo>
                      <a:pt x="52" y="611"/>
                    </a:lnTo>
                    <a:lnTo>
                      <a:pt x="55" y="620"/>
                    </a:lnTo>
                    <a:lnTo>
                      <a:pt x="57" y="628"/>
                    </a:lnTo>
                    <a:lnTo>
                      <a:pt x="60" y="637"/>
                    </a:lnTo>
                    <a:lnTo>
                      <a:pt x="63" y="646"/>
                    </a:lnTo>
                    <a:lnTo>
                      <a:pt x="65" y="655"/>
                    </a:lnTo>
                    <a:lnTo>
                      <a:pt x="69" y="663"/>
                    </a:lnTo>
                    <a:lnTo>
                      <a:pt x="72" y="672"/>
                    </a:lnTo>
                    <a:lnTo>
                      <a:pt x="74" y="682"/>
                    </a:lnTo>
                    <a:lnTo>
                      <a:pt x="77" y="691"/>
                    </a:lnTo>
                    <a:lnTo>
                      <a:pt x="80" y="699"/>
                    </a:lnTo>
                    <a:lnTo>
                      <a:pt x="84" y="708"/>
                    </a:lnTo>
                    <a:lnTo>
                      <a:pt x="86" y="717"/>
                    </a:lnTo>
                    <a:lnTo>
                      <a:pt x="89" y="726"/>
                    </a:lnTo>
                    <a:lnTo>
                      <a:pt x="93" y="735"/>
                    </a:lnTo>
                    <a:lnTo>
                      <a:pt x="95" y="743"/>
                    </a:lnTo>
                    <a:lnTo>
                      <a:pt x="99" y="752"/>
                    </a:lnTo>
                    <a:lnTo>
                      <a:pt x="102" y="761"/>
                    </a:lnTo>
                    <a:lnTo>
                      <a:pt x="106" y="770"/>
                    </a:lnTo>
                    <a:lnTo>
                      <a:pt x="108" y="778"/>
                    </a:lnTo>
                    <a:lnTo>
                      <a:pt x="112" y="787"/>
                    </a:lnTo>
                    <a:lnTo>
                      <a:pt x="115" y="796"/>
                    </a:lnTo>
                    <a:lnTo>
                      <a:pt x="119" y="806"/>
                    </a:lnTo>
                    <a:lnTo>
                      <a:pt x="123" y="815"/>
                    </a:lnTo>
                    <a:lnTo>
                      <a:pt x="125" y="823"/>
                    </a:lnTo>
                    <a:lnTo>
                      <a:pt x="129" y="832"/>
                    </a:lnTo>
                    <a:lnTo>
                      <a:pt x="133" y="841"/>
                    </a:lnTo>
                    <a:lnTo>
                      <a:pt x="136" y="850"/>
                    </a:lnTo>
                    <a:lnTo>
                      <a:pt x="140" y="858"/>
                    </a:lnTo>
                    <a:lnTo>
                      <a:pt x="144" y="867"/>
                    </a:lnTo>
                    <a:lnTo>
                      <a:pt x="148" y="876"/>
                    </a:lnTo>
                    <a:lnTo>
                      <a:pt x="150" y="884"/>
                    </a:lnTo>
                    <a:lnTo>
                      <a:pt x="154" y="893"/>
                    </a:lnTo>
                    <a:lnTo>
                      <a:pt x="158" y="902"/>
                    </a:lnTo>
                    <a:lnTo>
                      <a:pt x="162" y="911"/>
                    </a:lnTo>
                    <a:lnTo>
                      <a:pt x="166" y="919"/>
                    </a:lnTo>
                    <a:lnTo>
                      <a:pt x="170" y="928"/>
                    </a:lnTo>
                    <a:lnTo>
                      <a:pt x="172" y="937"/>
                    </a:lnTo>
                    <a:lnTo>
                      <a:pt x="176" y="947"/>
                    </a:lnTo>
                    <a:lnTo>
                      <a:pt x="180" y="954"/>
                    </a:lnTo>
                    <a:lnTo>
                      <a:pt x="184" y="964"/>
                    </a:lnTo>
                    <a:lnTo>
                      <a:pt x="188" y="973"/>
                    </a:lnTo>
                    <a:lnTo>
                      <a:pt x="192" y="981"/>
                    </a:lnTo>
                    <a:lnTo>
                      <a:pt x="196" y="990"/>
                    </a:lnTo>
                    <a:lnTo>
                      <a:pt x="200" y="999"/>
                    </a:lnTo>
                    <a:lnTo>
                      <a:pt x="204" y="1008"/>
                    </a:lnTo>
                    <a:lnTo>
                      <a:pt x="208" y="1016"/>
                    </a:lnTo>
                    <a:lnTo>
                      <a:pt x="212" y="1025"/>
                    </a:lnTo>
                    <a:lnTo>
                      <a:pt x="216" y="1034"/>
                    </a:lnTo>
                    <a:lnTo>
                      <a:pt x="220" y="1042"/>
                    </a:lnTo>
                    <a:lnTo>
                      <a:pt x="223" y="1051"/>
                    </a:lnTo>
                    <a:lnTo>
                      <a:pt x="227" y="1059"/>
                    </a:lnTo>
                    <a:lnTo>
                      <a:pt x="231" y="1068"/>
                    </a:lnTo>
                    <a:lnTo>
                      <a:pt x="235" y="1077"/>
                    </a:lnTo>
                    <a:lnTo>
                      <a:pt x="239" y="1086"/>
                    </a:lnTo>
                    <a:lnTo>
                      <a:pt x="243" y="1094"/>
                    </a:lnTo>
                    <a:lnTo>
                      <a:pt x="247" y="1103"/>
                    </a:lnTo>
                    <a:lnTo>
                      <a:pt x="251" y="1111"/>
                    </a:lnTo>
                    <a:lnTo>
                      <a:pt x="255" y="1120"/>
                    </a:lnTo>
                    <a:lnTo>
                      <a:pt x="259" y="1128"/>
                    </a:lnTo>
                    <a:lnTo>
                      <a:pt x="263" y="1137"/>
                    </a:lnTo>
                    <a:lnTo>
                      <a:pt x="267" y="1146"/>
                    </a:lnTo>
                    <a:lnTo>
                      <a:pt x="271" y="1154"/>
                    </a:lnTo>
                    <a:lnTo>
                      <a:pt x="274" y="1163"/>
                    </a:lnTo>
                    <a:lnTo>
                      <a:pt x="280" y="1171"/>
                    </a:lnTo>
                    <a:lnTo>
                      <a:pt x="284" y="1180"/>
                    </a:lnTo>
                    <a:lnTo>
                      <a:pt x="288" y="1188"/>
                    </a:lnTo>
                    <a:lnTo>
                      <a:pt x="292" y="1197"/>
                    </a:lnTo>
                    <a:lnTo>
                      <a:pt x="295" y="1205"/>
                    </a:lnTo>
                    <a:lnTo>
                      <a:pt x="299" y="1214"/>
                    </a:lnTo>
                    <a:lnTo>
                      <a:pt x="303" y="1222"/>
                    </a:lnTo>
                    <a:lnTo>
                      <a:pt x="307" y="1231"/>
                    </a:lnTo>
                    <a:lnTo>
                      <a:pt x="310" y="1240"/>
                    </a:lnTo>
                    <a:lnTo>
                      <a:pt x="315" y="1248"/>
                    </a:lnTo>
                    <a:lnTo>
                      <a:pt x="319" y="1256"/>
                    </a:lnTo>
                    <a:lnTo>
                      <a:pt x="323" y="1265"/>
                    </a:lnTo>
                    <a:lnTo>
                      <a:pt x="326" y="1273"/>
                    </a:lnTo>
                    <a:lnTo>
                      <a:pt x="331" y="1282"/>
                    </a:lnTo>
                    <a:lnTo>
                      <a:pt x="333" y="1290"/>
                    </a:lnTo>
                    <a:lnTo>
                      <a:pt x="337" y="1298"/>
                    </a:lnTo>
                    <a:lnTo>
                      <a:pt x="341" y="1307"/>
                    </a:lnTo>
                    <a:lnTo>
                      <a:pt x="345" y="1315"/>
                    </a:lnTo>
                    <a:lnTo>
                      <a:pt x="349" y="1324"/>
                    </a:lnTo>
                    <a:lnTo>
                      <a:pt x="353" y="1332"/>
                    </a:lnTo>
                    <a:lnTo>
                      <a:pt x="357" y="1340"/>
                    </a:lnTo>
                    <a:lnTo>
                      <a:pt x="361" y="1349"/>
                    </a:lnTo>
                    <a:lnTo>
                      <a:pt x="363" y="1357"/>
                    </a:lnTo>
                    <a:lnTo>
                      <a:pt x="367" y="1364"/>
                    </a:lnTo>
                    <a:lnTo>
                      <a:pt x="371" y="1374"/>
                    </a:lnTo>
                  </a:path>
                </a:pathLst>
              </a:cu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2" name="Line 257"/>
              <p:cNvSpPr>
                <a:spLocks noChangeAspect="1" noChangeShapeType="1"/>
              </p:cNvSpPr>
              <p:nvPr/>
            </p:nvSpPr>
            <p:spPr bwMode="auto">
              <a:xfrm flipV="1">
                <a:off x="4521" y="1798"/>
                <a:ext cx="90" cy="90"/>
              </a:xfrm>
              <a:prstGeom prst="line">
                <a:avLst/>
              </a:pr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3" name="Line 258"/>
              <p:cNvSpPr>
                <a:spLocks noChangeAspect="1" noChangeShapeType="1"/>
              </p:cNvSpPr>
              <p:nvPr/>
            </p:nvSpPr>
            <p:spPr bwMode="auto">
              <a:xfrm flipV="1">
                <a:off x="4487" y="1710"/>
                <a:ext cx="124" cy="125"/>
              </a:xfrm>
              <a:prstGeom prst="line">
                <a:avLst/>
              </a:pr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4" name="Line 259"/>
              <p:cNvSpPr>
                <a:spLocks noChangeAspect="1" noChangeShapeType="1"/>
              </p:cNvSpPr>
              <p:nvPr/>
            </p:nvSpPr>
            <p:spPr bwMode="auto">
              <a:xfrm flipV="1">
                <a:off x="4460" y="1622"/>
                <a:ext cx="151" cy="151"/>
              </a:xfrm>
              <a:prstGeom prst="line">
                <a:avLst/>
              </a:pr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5" name="Rectangle 260"/>
              <p:cNvSpPr>
                <a:spLocks noChangeAspect="1" noChangeArrowheads="1"/>
              </p:cNvSpPr>
              <p:nvPr/>
            </p:nvSpPr>
            <p:spPr bwMode="auto">
              <a:xfrm>
                <a:off x="1040" y="1207"/>
                <a:ext cx="2552" cy="2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6" name="Rectangle 261"/>
              <p:cNvSpPr>
                <a:spLocks noChangeAspect="1" noChangeArrowheads="1"/>
              </p:cNvSpPr>
              <p:nvPr/>
            </p:nvSpPr>
            <p:spPr bwMode="auto">
              <a:xfrm>
                <a:off x="950" y="1238"/>
                <a:ext cx="23" cy="372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7" name="Rectangle 262"/>
              <p:cNvSpPr>
                <a:spLocks noChangeAspect="1" noChangeArrowheads="1"/>
              </p:cNvSpPr>
              <p:nvPr/>
            </p:nvSpPr>
            <p:spPr bwMode="auto">
              <a:xfrm>
                <a:off x="832" y="1258"/>
                <a:ext cx="23" cy="352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8" name="Rectangle 263"/>
              <p:cNvSpPr>
                <a:spLocks noChangeAspect="1" noChangeArrowheads="1"/>
              </p:cNvSpPr>
              <p:nvPr/>
            </p:nvSpPr>
            <p:spPr bwMode="auto">
              <a:xfrm>
                <a:off x="871" y="1219"/>
                <a:ext cx="23" cy="39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9" name="Rectangle 264"/>
              <p:cNvSpPr>
                <a:spLocks noChangeAspect="1" noChangeArrowheads="1"/>
              </p:cNvSpPr>
              <p:nvPr/>
            </p:nvSpPr>
            <p:spPr bwMode="auto">
              <a:xfrm>
                <a:off x="1029" y="1219"/>
                <a:ext cx="22" cy="39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0" name="Freeform 265"/>
              <p:cNvSpPr>
                <a:spLocks noChangeAspect="1" noChangeArrowheads="1"/>
              </p:cNvSpPr>
              <p:nvPr/>
            </p:nvSpPr>
            <p:spPr bwMode="auto">
              <a:xfrm>
                <a:off x="836" y="1211"/>
                <a:ext cx="55" cy="54"/>
              </a:xfrm>
              <a:custGeom>
                <a:avLst/>
                <a:gdLst>
                  <a:gd name="T0" fmla="*/ 197 w 278"/>
                  <a:gd name="T1" fmla="*/ 0 h 275"/>
                  <a:gd name="T2" fmla="*/ 0 w 278"/>
                  <a:gd name="T3" fmla="*/ 195 h 275"/>
                  <a:gd name="T4" fmla="*/ 81 w 278"/>
                  <a:gd name="T5" fmla="*/ 275 h 275"/>
                  <a:gd name="T6" fmla="*/ 278 w 278"/>
                  <a:gd name="T7" fmla="*/ 79 h 275"/>
                  <a:gd name="T8" fmla="*/ 197 w 278"/>
                  <a:gd name="T9" fmla="*/ 0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8" h="275">
                    <a:moveTo>
                      <a:pt x="197" y="0"/>
                    </a:moveTo>
                    <a:lnTo>
                      <a:pt x="0" y="195"/>
                    </a:lnTo>
                    <a:lnTo>
                      <a:pt x="81" y="275"/>
                    </a:lnTo>
                    <a:lnTo>
                      <a:pt x="278" y="79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1" name="Rectangle 266"/>
              <p:cNvSpPr>
                <a:spLocks noChangeAspect="1" noChangeArrowheads="1"/>
              </p:cNvSpPr>
              <p:nvPr/>
            </p:nvSpPr>
            <p:spPr bwMode="auto">
              <a:xfrm>
                <a:off x="950" y="1219"/>
                <a:ext cx="23" cy="1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2" name="Rectangle 267"/>
              <p:cNvSpPr>
                <a:spLocks noChangeAspect="1" noChangeArrowheads="1"/>
              </p:cNvSpPr>
              <p:nvPr/>
            </p:nvSpPr>
            <p:spPr bwMode="auto">
              <a:xfrm>
                <a:off x="883" y="1207"/>
                <a:ext cx="79" cy="2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3" name="Rectangle 268"/>
              <p:cNvSpPr>
                <a:spLocks noChangeAspect="1" noChangeArrowheads="1"/>
              </p:cNvSpPr>
              <p:nvPr/>
            </p:nvSpPr>
            <p:spPr bwMode="auto">
              <a:xfrm>
                <a:off x="3592" y="1305"/>
                <a:ext cx="588" cy="2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4" name="Rectangle 269"/>
              <p:cNvSpPr>
                <a:spLocks noChangeAspect="1" noChangeArrowheads="1"/>
              </p:cNvSpPr>
              <p:nvPr/>
            </p:nvSpPr>
            <p:spPr bwMode="auto">
              <a:xfrm>
                <a:off x="3580" y="1219"/>
                <a:ext cx="23" cy="39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5" name="Rectangle 270"/>
              <p:cNvSpPr>
                <a:spLocks noChangeAspect="1" noChangeArrowheads="1"/>
              </p:cNvSpPr>
              <p:nvPr/>
            </p:nvSpPr>
            <p:spPr bwMode="auto">
              <a:xfrm>
                <a:off x="4337" y="1325"/>
                <a:ext cx="490" cy="2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6" name="Rectangle 271"/>
              <p:cNvSpPr>
                <a:spLocks noChangeAspect="1" noChangeArrowheads="1"/>
              </p:cNvSpPr>
              <p:nvPr/>
            </p:nvSpPr>
            <p:spPr bwMode="auto">
              <a:xfrm>
                <a:off x="4326" y="1337"/>
                <a:ext cx="22" cy="27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7" name="Rectangle 272"/>
              <p:cNvSpPr>
                <a:spLocks noChangeAspect="1" noChangeArrowheads="1"/>
              </p:cNvSpPr>
              <p:nvPr/>
            </p:nvSpPr>
            <p:spPr bwMode="auto">
              <a:xfrm>
                <a:off x="4600" y="1337"/>
                <a:ext cx="23" cy="27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8" name="Freeform 273"/>
              <p:cNvSpPr>
                <a:spLocks noChangeAspect="1" noChangeArrowheads="1"/>
              </p:cNvSpPr>
              <p:nvPr/>
            </p:nvSpPr>
            <p:spPr bwMode="auto">
              <a:xfrm>
                <a:off x="4438" y="1332"/>
                <a:ext cx="74" cy="274"/>
              </a:xfrm>
              <a:custGeom>
                <a:avLst/>
                <a:gdLst>
                  <a:gd name="T0" fmla="*/ 29 w 371"/>
                  <a:gd name="T1" fmla="*/ 1355 h 1372"/>
                  <a:gd name="T2" fmla="*/ 23 w 371"/>
                  <a:gd name="T3" fmla="*/ 1331 h 1372"/>
                  <a:gd name="T4" fmla="*/ 18 w 371"/>
                  <a:gd name="T5" fmla="*/ 1306 h 1372"/>
                  <a:gd name="T6" fmla="*/ 13 w 371"/>
                  <a:gd name="T7" fmla="*/ 1281 h 1372"/>
                  <a:gd name="T8" fmla="*/ 10 w 371"/>
                  <a:gd name="T9" fmla="*/ 1255 h 1372"/>
                  <a:gd name="T10" fmla="*/ 6 w 371"/>
                  <a:gd name="T11" fmla="*/ 1230 h 1372"/>
                  <a:gd name="T12" fmla="*/ 4 w 371"/>
                  <a:gd name="T13" fmla="*/ 1204 h 1372"/>
                  <a:gd name="T14" fmla="*/ 2 w 371"/>
                  <a:gd name="T15" fmla="*/ 1179 h 1372"/>
                  <a:gd name="T16" fmla="*/ 0 w 371"/>
                  <a:gd name="T17" fmla="*/ 1153 h 1372"/>
                  <a:gd name="T18" fmla="*/ 0 w 371"/>
                  <a:gd name="T19" fmla="*/ 1128 h 1372"/>
                  <a:gd name="T20" fmla="*/ 0 w 371"/>
                  <a:gd name="T21" fmla="*/ 1102 h 1372"/>
                  <a:gd name="T22" fmla="*/ 0 w 371"/>
                  <a:gd name="T23" fmla="*/ 1077 h 1372"/>
                  <a:gd name="T24" fmla="*/ 1 w 371"/>
                  <a:gd name="T25" fmla="*/ 1051 h 1372"/>
                  <a:gd name="T26" fmla="*/ 2 w 371"/>
                  <a:gd name="T27" fmla="*/ 1025 h 1372"/>
                  <a:gd name="T28" fmla="*/ 5 w 371"/>
                  <a:gd name="T29" fmla="*/ 999 h 1372"/>
                  <a:gd name="T30" fmla="*/ 8 w 371"/>
                  <a:gd name="T31" fmla="*/ 973 h 1372"/>
                  <a:gd name="T32" fmla="*/ 12 w 371"/>
                  <a:gd name="T33" fmla="*/ 947 h 1372"/>
                  <a:gd name="T34" fmla="*/ 16 w 371"/>
                  <a:gd name="T35" fmla="*/ 921 h 1372"/>
                  <a:gd name="T36" fmla="*/ 21 w 371"/>
                  <a:gd name="T37" fmla="*/ 895 h 1372"/>
                  <a:gd name="T38" fmla="*/ 26 w 371"/>
                  <a:gd name="T39" fmla="*/ 868 h 1372"/>
                  <a:gd name="T40" fmla="*/ 33 w 371"/>
                  <a:gd name="T41" fmla="*/ 842 h 1372"/>
                  <a:gd name="T42" fmla="*/ 38 w 371"/>
                  <a:gd name="T43" fmla="*/ 815 h 1372"/>
                  <a:gd name="T44" fmla="*/ 46 w 371"/>
                  <a:gd name="T45" fmla="*/ 789 h 1372"/>
                  <a:gd name="T46" fmla="*/ 52 w 371"/>
                  <a:gd name="T47" fmla="*/ 763 h 1372"/>
                  <a:gd name="T48" fmla="*/ 60 w 371"/>
                  <a:gd name="T49" fmla="*/ 737 h 1372"/>
                  <a:gd name="T50" fmla="*/ 69 w 371"/>
                  <a:gd name="T51" fmla="*/ 709 h 1372"/>
                  <a:gd name="T52" fmla="*/ 77 w 371"/>
                  <a:gd name="T53" fmla="*/ 683 h 1372"/>
                  <a:gd name="T54" fmla="*/ 86 w 371"/>
                  <a:gd name="T55" fmla="*/ 657 h 1372"/>
                  <a:gd name="T56" fmla="*/ 95 w 371"/>
                  <a:gd name="T57" fmla="*/ 631 h 1372"/>
                  <a:gd name="T58" fmla="*/ 106 w 371"/>
                  <a:gd name="T59" fmla="*/ 603 h 1372"/>
                  <a:gd name="T60" fmla="*/ 115 w 371"/>
                  <a:gd name="T61" fmla="*/ 577 h 1372"/>
                  <a:gd name="T62" fmla="*/ 125 w 371"/>
                  <a:gd name="T63" fmla="*/ 550 h 1372"/>
                  <a:gd name="T64" fmla="*/ 136 w 371"/>
                  <a:gd name="T65" fmla="*/ 524 h 1372"/>
                  <a:gd name="T66" fmla="*/ 148 w 371"/>
                  <a:gd name="T67" fmla="*/ 498 h 1372"/>
                  <a:gd name="T68" fmla="*/ 158 w 371"/>
                  <a:gd name="T69" fmla="*/ 472 h 1372"/>
                  <a:gd name="T70" fmla="*/ 170 w 371"/>
                  <a:gd name="T71" fmla="*/ 444 h 1372"/>
                  <a:gd name="T72" fmla="*/ 180 w 371"/>
                  <a:gd name="T73" fmla="*/ 418 h 1372"/>
                  <a:gd name="T74" fmla="*/ 192 w 371"/>
                  <a:gd name="T75" fmla="*/ 392 h 1372"/>
                  <a:gd name="T76" fmla="*/ 204 w 371"/>
                  <a:gd name="T77" fmla="*/ 366 h 1372"/>
                  <a:gd name="T78" fmla="*/ 216 w 371"/>
                  <a:gd name="T79" fmla="*/ 340 h 1372"/>
                  <a:gd name="T80" fmla="*/ 227 w 371"/>
                  <a:gd name="T81" fmla="*/ 314 h 1372"/>
                  <a:gd name="T82" fmla="*/ 239 w 371"/>
                  <a:gd name="T83" fmla="*/ 287 h 1372"/>
                  <a:gd name="T84" fmla="*/ 251 w 371"/>
                  <a:gd name="T85" fmla="*/ 261 h 1372"/>
                  <a:gd name="T86" fmla="*/ 263 w 371"/>
                  <a:gd name="T87" fmla="*/ 237 h 1372"/>
                  <a:gd name="T88" fmla="*/ 274 w 371"/>
                  <a:gd name="T89" fmla="*/ 210 h 1372"/>
                  <a:gd name="T90" fmla="*/ 288 w 371"/>
                  <a:gd name="T91" fmla="*/ 184 h 1372"/>
                  <a:gd name="T92" fmla="*/ 299 w 371"/>
                  <a:gd name="T93" fmla="*/ 160 h 1372"/>
                  <a:gd name="T94" fmla="*/ 310 w 371"/>
                  <a:gd name="T95" fmla="*/ 133 h 1372"/>
                  <a:gd name="T96" fmla="*/ 323 w 371"/>
                  <a:gd name="T97" fmla="*/ 109 h 1372"/>
                  <a:gd name="T98" fmla="*/ 333 w 371"/>
                  <a:gd name="T99" fmla="*/ 84 h 1372"/>
                  <a:gd name="T100" fmla="*/ 345 w 371"/>
                  <a:gd name="T101" fmla="*/ 58 h 1372"/>
                  <a:gd name="T102" fmla="*/ 357 w 371"/>
                  <a:gd name="T103" fmla="*/ 33 h 1372"/>
                  <a:gd name="T104" fmla="*/ 367 w 371"/>
                  <a:gd name="T105" fmla="*/ 8 h 1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71" h="1372">
                    <a:moveTo>
                      <a:pt x="33" y="1372"/>
                    </a:moveTo>
                    <a:lnTo>
                      <a:pt x="30" y="1365"/>
                    </a:lnTo>
                    <a:lnTo>
                      <a:pt x="29" y="1355"/>
                    </a:lnTo>
                    <a:lnTo>
                      <a:pt x="26" y="1348"/>
                    </a:lnTo>
                    <a:lnTo>
                      <a:pt x="25" y="1340"/>
                    </a:lnTo>
                    <a:lnTo>
                      <a:pt x="23" y="1331"/>
                    </a:lnTo>
                    <a:lnTo>
                      <a:pt x="21" y="1323"/>
                    </a:lnTo>
                    <a:lnTo>
                      <a:pt x="19" y="1314"/>
                    </a:lnTo>
                    <a:lnTo>
                      <a:pt x="18" y="1306"/>
                    </a:lnTo>
                    <a:lnTo>
                      <a:pt x="17" y="1298"/>
                    </a:lnTo>
                    <a:lnTo>
                      <a:pt x="16" y="1289"/>
                    </a:lnTo>
                    <a:lnTo>
                      <a:pt x="13" y="1281"/>
                    </a:lnTo>
                    <a:lnTo>
                      <a:pt x="13" y="1272"/>
                    </a:lnTo>
                    <a:lnTo>
                      <a:pt x="12" y="1264"/>
                    </a:lnTo>
                    <a:lnTo>
                      <a:pt x="10" y="1255"/>
                    </a:lnTo>
                    <a:lnTo>
                      <a:pt x="9" y="1247"/>
                    </a:lnTo>
                    <a:lnTo>
                      <a:pt x="8" y="1239"/>
                    </a:lnTo>
                    <a:lnTo>
                      <a:pt x="6" y="1230"/>
                    </a:lnTo>
                    <a:lnTo>
                      <a:pt x="6" y="1221"/>
                    </a:lnTo>
                    <a:lnTo>
                      <a:pt x="5" y="1213"/>
                    </a:lnTo>
                    <a:lnTo>
                      <a:pt x="4" y="1204"/>
                    </a:lnTo>
                    <a:lnTo>
                      <a:pt x="4" y="1196"/>
                    </a:lnTo>
                    <a:lnTo>
                      <a:pt x="2" y="1188"/>
                    </a:lnTo>
                    <a:lnTo>
                      <a:pt x="2" y="1179"/>
                    </a:lnTo>
                    <a:lnTo>
                      <a:pt x="1" y="1171"/>
                    </a:lnTo>
                    <a:lnTo>
                      <a:pt x="1" y="1162"/>
                    </a:lnTo>
                    <a:lnTo>
                      <a:pt x="0" y="1153"/>
                    </a:lnTo>
                    <a:lnTo>
                      <a:pt x="0" y="1145"/>
                    </a:lnTo>
                    <a:lnTo>
                      <a:pt x="0" y="1136"/>
                    </a:lnTo>
                    <a:lnTo>
                      <a:pt x="0" y="1128"/>
                    </a:lnTo>
                    <a:lnTo>
                      <a:pt x="0" y="1119"/>
                    </a:lnTo>
                    <a:lnTo>
                      <a:pt x="0" y="1111"/>
                    </a:lnTo>
                    <a:lnTo>
                      <a:pt x="0" y="1102"/>
                    </a:lnTo>
                    <a:lnTo>
                      <a:pt x="0" y="1094"/>
                    </a:lnTo>
                    <a:lnTo>
                      <a:pt x="0" y="1085"/>
                    </a:lnTo>
                    <a:lnTo>
                      <a:pt x="0" y="1077"/>
                    </a:lnTo>
                    <a:lnTo>
                      <a:pt x="0" y="1068"/>
                    </a:lnTo>
                    <a:lnTo>
                      <a:pt x="0" y="1059"/>
                    </a:lnTo>
                    <a:lnTo>
                      <a:pt x="1" y="1051"/>
                    </a:lnTo>
                    <a:lnTo>
                      <a:pt x="1" y="1042"/>
                    </a:lnTo>
                    <a:lnTo>
                      <a:pt x="2" y="1034"/>
                    </a:lnTo>
                    <a:lnTo>
                      <a:pt x="2" y="1025"/>
                    </a:lnTo>
                    <a:lnTo>
                      <a:pt x="4" y="1016"/>
                    </a:lnTo>
                    <a:lnTo>
                      <a:pt x="4" y="1008"/>
                    </a:lnTo>
                    <a:lnTo>
                      <a:pt x="5" y="999"/>
                    </a:lnTo>
                    <a:lnTo>
                      <a:pt x="6" y="990"/>
                    </a:lnTo>
                    <a:lnTo>
                      <a:pt x="6" y="982"/>
                    </a:lnTo>
                    <a:lnTo>
                      <a:pt x="8" y="973"/>
                    </a:lnTo>
                    <a:lnTo>
                      <a:pt x="9" y="964"/>
                    </a:lnTo>
                    <a:lnTo>
                      <a:pt x="10" y="956"/>
                    </a:lnTo>
                    <a:lnTo>
                      <a:pt x="12" y="947"/>
                    </a:lnTo>
                    <a:lnTo>
                      <a:pt x="13" y="938"/>
                    </a:lnTo>
                    <a:lnTo>
                      <a:pt x="14" y="930"/>
                    </a:lnTo>
                    <a:lnTo>
                      <a:pt x="16" y="921"/>
                    </a:lnTo>
                    <a:lnTo>
                      <a:pt x="17" y="912"/>
                    </a:lnTo>
                    <a:lnTo>
                      <a:pt x="19" y="904"/>
                    </a:lnTo>
                    <a:lnTo>
                      <a:pt x="21" y="895"/>
                    </a:lnTo>
                    <a:lnTo>
                      <a:pt x="22" y="885"/>
                    </a:lnTo>
                    <a:lnTo>
                      <a:pt x="25" y="876"/>
                    </a:lnTo>
                    <a:lnTo>
                      <a:pt x="26" y="868"/>
                    </a:lnTo>
                    <a:lnTo>
                      <a:pt x="27" y="859"/>
                    </a:lnTo>
                    <a:lnTo>
                      <a:pt x="30" y="850"/>
                    </a:lnTo>
                    <a:lnTo>
                      <a:pt x="33" y="842"/>
                    </a:lnTo>
                    <a:lnTo>
                      <a:pt x="34" y="833"/>
                    </a:lnTo>
                    <a:lnTo>
                      <a:pt x="36" y="824"/>
                    </a:lnTo>
                    <a:lnTo>
                      <a:pt x="38" y="815"/>
                    </a:lnTo>
                    <a:lnTo>
                      <a:pt x="40" y="807"/>
                    </a:lnTo>
                    <a:lnTo>
                      <a:pt x="43" y="798"/>
                    </a:lnTo>
                    <a:lnTo>
                      <a:pt x="46" y="789"/>
                    </a:lnTo>
                    <a:lnTo>
                      <a:pt x="48" y="780"/>
                    </a:lnTo>
                    <a:lnTo>
                      <a:pt x="50" y="772"/>
                    </a:lnTo>
                    <a:lnTo>
                      <a:pt x="52" y="763"/>
                    </a:lnTo>
                    <a:lnTo>
                      <a:pt x="55" y="754"/>
                    </a:lnTo>
                    <a:lnTo>
                      <a:pt x="57" y="744"/>
                    </a:lnTo>
                    <a:lnTo>
                      <a:pt x="60" y="737"/>
                    </a:lnTo>
                    <a:lnTo>
                      <a:pt x="63" y="727"/>
                    </a:lnTo>
                    <a:lnTo>
                      <a:pt x="65" y="718"/>
                    </a:lnTo>
                    <a:lnTo>
                      <a:pt x="69" y="709"/>
                    </a:lnTo>
                    <a:lnTo>
                      <a:pt x="72" y="700"/>
                    </a:lnTo>
                    <a:lnTo>
                      <a:pt x="74" y="692"/>
                    </a:lnTo>
                    <a:lnTo>
                      <a:pt x="77" y="683"/>
                    </a:lnTo>
                    <a:lnTo>
                      <a:pt x="80" y="674"/>
                    </a:lnTo>
                    <a:lnTo>
                      <a:pt x="84" y="665"/>
                    </a:lnTo>
                    <a:lnTo>
                      <a:pt x="86" y="657"/>
                    </a:lnTo>
                    <a:lnTo>
                      <a:pt x="89" y="648"/>
                    </a:lnTo>
                    <a:lnTo>
                      <a:pt x="93" y="639"/>
                    </a:lnTo>
                    <a:lnTo>
                      <a:pt x="95" y="631"/>
                    </a:lnTo>
                    <a:lnTo>
                      <a:pt x="99" y="622"/>
                    </a:lnTo>
                    <a:lnTo>
                      <a:pt x="102" y="613"/>
                    </a:lnTo>
                    <a:lnTo>
                      <a:pt x="106" y="603"/>
                    </a:lnTo>
                    <a:lnTo>
                      <a:pt x="108" y="594"/>
                    </a:lnTo>
                    <a:lnTo>
                      <a:pt x="112" y="585"/>
                    </a:lnTo>
                    <a:lnTo>
                      <a:pt x="115" y="577"/>
                    </a:lnTo>
                    <a:lnTo>
                      <a:pt x="119" y="568"/>
                    </a:lnTo>
                    <a:lnTo>
                      <a:pt x="123" y="559"/>
                    </a:lnTo>
                    <a:lnTo>
                      <a:pt x="125" y="550"/>
                    </a:lnTo>
                    <a:lnTo>
                      <a:pt x="129" y="542"/>
                    </a:lnTo>
                    <a:lnTo>
                      <a:pt x="133" y="533"/>
                    </a:lnTo>
                    <a:lnTo>
                      <a:pt x="136" y="524"/>
                    </a:lnTo>
                    <a:lnTo>
                      <a:pt x="140" y="515"/>
                    </a:lnTo>
                    <a:lnTo>
                      <a:pt x="144" y="507"/>
                    </a:lnTo>
                    <a:lnTo>
                      <a:pt x="148" y="498"/>
                    </a:lnTo>
                    <a:lnTo>
                      <a:pt x="150" y="489"/>
                    </a:lnTo>
                    <a:lnTo>
                      <a:pt x="154" y="479"/>
                    </a:lnTo>
                    <a:lnTo>
                      <a:pt x="158" y="472"/>
                    </a:lnTo>
                    <a:lnTo>
                      <a:pt x="162" y="462"/>
                    </a:lnTo>
                    <a:lnTo>
                      <a:pt x="166" y="453"/>
                    </a:lnTo>
                    <a:lnTo>
                      <a:pt x="170" y="444"/>
                    </a:lnTo>
                    <a:lnTo>
                      <a:pt x="172" y="436"/>
                    </a:lnTo>
                    <a:lnTo>
                      <a:pt x="176" y="427"/>
                    </a:lnTo>
                    <a:lnTo>
                      <a:pt x="180" y="418"/>
                    </a:lnTo>
                    <a:lnTo>
                      <a:pt x="184" y="410"/>
                    </a:lnTo>
                    <a:lnTo>
                      <a:pt x="188" y="401"/>
                    </a:lnTo>
                    <a:lnTo>
                      <a:pt x="192" y="392"/>
                    </a:lnTo>
                    <a:lnTo>
                      <a:pt x="196" y="384"/>
                    </a:lnTo>
                    <a:lnTo>
                      <a:pt x="200" y="375"/>
                    </a:lnTo>
                    <a:lnTo>
                      <a:pt x="204" y="366"/>
                    </a:lnTo>
                    <a:lnTo>
                      <a:pt x="208" y="357"/>
                    </a:lnTo>
                    <a:lnTo>
                      <a:pt x="212" y="349"/>
                    </a:lnTo>
                    <a:lnTo>
                      <a:pt x="216" y="340"/>
                    </a:lnTo>
                    <a:lnTo>
                      <a:pt x="220" y="331"/>
                    </a:lnTo>
                    <a:lnTo>
                      <a:pt x="223" y="323"/>
                    </a:lnTo>
                    <a:lnTo>
                      <a:pt x="227" y="314"/>
                    </a:lnTo>
                    <a:lnTo>
                      <a:pt x="231" y="304"/>
                    </a:lnTo>
                    <a:lnTo>
                      <a:pt x="235" y="297"/>
                    </a:lnTo>
                    <a:lnTo>
                      <a:pt x="239" y="287"/>
                    </a:lnTo>
                    <a:lnTo>
                      <a:pt x="243" y="280"/>
                    </a:lnTo>
                    <a:lnTo>
                      <a:pt x="247" y="271"/>
                    </a:lnTo>
                    <a:lnTo>
                      <a:pt x="251" y="261"/>
                    </a:lnTo>
                    <a:lnTo>
                      <a:pt x="255" y="254"/>
                    </a:lnTo>
                    <a:lnTo>
                      <a:pt x="259" y="244"/>
                    </a:lnTo>
                    <a:lnTo>
                      <a:pt x="263" y="237"/>
                    </a:lnTo>
                    <a:lnTo>
                      <a:pt x="267" y="227"/>
                    </a:lnTo>
                    <a:lnTo>
                      <a:pt x="271" y="218"/>
                    </a:lnTo>
                    <a:lnTo>
                      <a:pt x="274" y="210"/>
                    </a:lnTo>
                    <a:lnTo>
                      <a:pt x="280" y="201"/>
                    </a:lnTo>
                    <a:lnTo>
                      <a:pt x="284" y="193"/>
                    </a:lnTo>
                    <a:lnTo>
                      <a:pt x="288" y="184"/>
                    </a:lnTo>
                    <a:lnTo>
                      <a:pt x="292" y="177"/>
                    </a:lnTo>
                    <a:lnTo>
                      <a:pt x="295" y="167"/>
                    </a:lnTo>
                    <a:lnTo>
                      <a:pt x="299" y="160"/>
                    </a:lnTo>
                    <a:lnTo>
                      <a:pt x="303" y="150"/>
                    </a:lnTo>
                    <a:lnTo>
                      <a:pt x="307" y="143"/>
                    </a:lnTo>
                    <a:lnTo>
                      <a:pt x="310" y="133"/>
                    </a:lnTo>
                    <a:lnTo>
                      <a:pt x="315" y="126"/>
                    </a:lnTo>
                    <a:lnTo>
                      <a:pt x="319" y="116"/>
                    </a:lnTo>
                    <a:lnTo>
                      <a:pt x="323" y="109"/>
                    </a:lnTo>
                    <a:lnTo>
                      <a:pt x="326" y="99"/>
                    </a:lnTo>
                    <a:lnTo>
                      <a:pt x="331" y="92"/>
                    </a:lnTo>
                    <a:lnTo>
                      <a:pt x="333" y="84"/>
                    </a:lnTo>
                    <a:lnTo>
                      <a:pt x="337" y="75"/>
                    </a:lnTo>
                    <a:lnTo>
                      <a:pt x="341" y="67"/>
                    </a:lnTo>
                    <a:lnTo>
                      <a:pt x="345" y="58"/>
                    </a:lnTo>
                    <a:lnTo>
                      <a:pt x="349" y="50"/>
                    </a:lnTo>
                    <a:lnTo>
                      <a:pt x="353" y="42"/>
                    </a:lnTo>
                    <a:lnTo>
                      <a:pt x="357" y="33"/>
                    </a:lnTo>
                    <a:lnTo>
                      <a:pt x="361" y="25"/>
                    </a:lnTo>
                    <a:lnTo>
                      <a:pt x="363" y="17"/>
                    </a:lnTo>
                    <a:lnTo>
                      <a:pt x="367" y="8"/>
                    </a:lnTo>
                    <a:lnTo>
                      <a:pt x="371" y="0"/>
                    </a:lnTo>
                  </a:path>
                </a:pathLst>
              </a:cu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9" name="Rectangle 274"/>
              <p:cNvSpPr>
                <a:spLocks noChangeAspect="1" noChangeArrowheads="1"/>
              </p:cNvSpPr>
              <p:nvPr/>
            </p:nvSpPr>
            <p:spPr bwMode="auto">
              <a:xfrm>
                <a:off x="4168" y="1317"/>
                <a:ext cx="24" cy="29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0" name="Rectangle 275"/>
              <p:cNvSpPr>
                <a:spLocks noChangeAspect="1" noChangeArrowheads="1"/>
              </p:cNvSpPr>
              <p:nvPr/>
            </p:nvSpPr>
            <p:spPr bwMode="auto">
              <a:xfrm>
                <a:off x="4208" y="1376"/>
                <a:ext cx="23" cy="23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1" name="Rectangle 276"/>
              <p:cNvSpPr>
                <a:spLocks noChangeAspect="1" noChangeArrowheads="1"/>
              </p:cNvSpPr>
              <p:nvPr/>
            </p:nvSpPr>
            <p:spPr bwMode="auto">
              <a:xfrm>
                <a:off x="4286" y="1376"/>
                <a:ext cx="23" cy="23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2" name="Freeform 277"/>
              <p:cNvSpPr>
                <a:spLocks noChangeAspect="1" noChangeArrowheads="1"/>
              </p:cNvSpPr>
              <p:nvPr/>
            </p:nvSpPr>
            <p:spPr bwMode="auto">
              <a:xfrm>
                <a:off x="4172" y="1309"/>
                <a:ext cx="55" cy="55"/>
              </a:xfrm>
              <a:custGeom>
                <a:avLst/>
                <a:gdLst>
                  <a:gd name="T0" fmla="*/ 277 w 277"/>
                  <a:gd name="T1" fmla="*/ 196 h 277"/>
                  <a:gd name="T2" fmla="*/ 80 w 277"/>
                  <a:gd name="T3" fmla="*/ 0 h 277"/>
                  <a:gd name="T4" fmla="*/ 0 w 277"/>
                  <a:gd name="T5" fmla="*/ 81 h 277"/>
                  <a:gd name="T6" fmla="*/ 196 w 277"/>
                  <a:gd name="T7" fmla="*/ 277 h 277"/>
                  <a:gd name="T8" fmla="*/ 277 w 277"/>
                  <a:gd name="T9" fmla="*/ 19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7" h="277">
                    <a:moveTo>
                      <a:pt x="277" y="196"/>
                    </a:moveTo>
                    <a:lnTo>
                      <a:pt x="80" y="0"/>
                    </a:lnTo>
                    <a:lnTo>
                      <a:pt x="0" y="81"/>
                    </a:lnTo>
                    <a:lnTo>
                      <a:pt x="196" y="277"/>
                    </a:lnTo>
                    <a:lnTo>
                      <a:pt x="277" y="196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3" name="Freeform 278"/>
              <p:cNvSpPr>
                <a:spLocks noChangeAspect="1" noChangeArrowheads="1"/>
              </p:cNvSpPr>
              <p:nvPr/>
            </p:nvSpPr>
            <p:spPr bwMode="auto">
              <a:xfrm>
                <a:off x="4290" y="1329"/>
                <a:ext cx="55" cy="55"/>
              </a:xfrm>
              <a:custGeom>
                <a:avLst/>
                <a:gdLst>
                  <a:gd name="T0" fmla="*/ 82 w 278"/>
                  <a:gd name="T1" fmla="*/ 277 h 277"/>
                  <a:gd name="T2" fmla="*/ 278 w 278"/>
                  <a:gd name="T3" fmla="*/ 81 h 277"/>
                  <a:gd name="T4" fmla="*/ 197 w 278"/>
                  <a:gd name="T5" fmla="*/ 0 h 277"/>
                  <a:gd name="T6" fmla="*/ 0 w 278"/>
                  <a:gd name="T7" fmla="*/ 196 h 277"/>
                  <a:gd name="T8" fmla="*/ 82 w 278"/>
                  <a:gd name="T9" fmla="*/ 277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8" h="277">
                    <a:moveTo>
                      <a:pt x="82" y="277"/>
                    </a:moveTo>
                    <a:lnTo>
                      <a:pt x="278" y="81"/>
                    </a:lnTo>
                    <a:lnTo>
                      <a:pt x="197" y="0"/>
                    </a:lnTo>
                    <a:lnTo>
                      <a:pt x="0" y="196"/>
                    </a:lnTo>
                    <a:lnTo>
                      <a:pt x="82" y="277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4" name="Rectangle 279"/>
              <p:cNvSpPr>
                <a:spLocks noChangeAspect="1" noChangeArrowheads="1"/>
              </p:cNvSpPr>
              <p:nvPr/>
            </p:nvSpPr>
            <p:spPr bwMode="auto">
              <a:xfrm>
                <a:off x="4220" y="1364"/>
                <a:ext cx="78" cy="2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5" name="Rectangle 280"/>
              <p:cNvSpPr>
                <a:spLocks noChangeAspect="1" noChangeArrowheads="1"/>
              </p:cNvSpPr>
              <p:nvPr/>
            </p:nvSpPr>
            <p:spPr bwMode="auto">
              <a:xfrm>
                <a:off x="4208" y="1356"/>
                <a:ext cx="23" cy="2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6" name="Rectangle 281"/>
              <p:cNvSpPr>
                <a:spLocks noChangeAspect="1" noChangeArrowheads="1"/>
              </p:cNvSpPr>
              <p:nvPr/>
            </p:nvSpPr>
            <p:spPr bwMode="auto">
              <a:xfrm>
                <a:off x="4757" y="1337"/>
                <a:ext cx="23" cy="27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7" name="Rectangle 282"/>
              <p:cNvSpPr>
                <a:spLocks noChangeAspect="1" noChangeArrowheads="1"/>
              </p:cNvSpPr>
              <p:nvPr/>
            </p:nvSpPr>
            <p:spPr bwMode="auto">
              <a:xfrm>
                <a:off x="4855" y="1376"/>
                <a:ext cx="23" cy="23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8" name="Freeform 283"/>
              <p:cNvSpPr>
                <a:spLocks noChangeAspect="1" noChangeArrowheads="1"/>
              </p:cNvSpPr>
              <p:nvPr/>
            </p:nvSpPr>
            <p:spPr bwMode="auto">
              <a:xfrm>
                <a:off x="4819" y="1329"/>
                <a:ext cx="56" cy="55"/>
              </a:xfrm>
              <a:custGeom>
                <a:avLst/>
                <a:gdLst>
                  <a:gd name="T0" fmla="*/ 0 w 278"/>
                  <a:gd name="T1" fmla="*/ 81 h 277"/>
                  <a:gd name="T2" fmla="*/ 197 w 278"/>
                  <a:gd name="T3" fmla="*/ 277 h 277"/>
                  <a:gd name="T4" fmla="*/ 278 w 278"/>
                  <a:gd name="T5" fmla="*/ 196 h 277"/>
                  <a:gd name="T6" fmla="*/ 82 w 278"/>
                  <a:gd name="T7" fmla="*/ 0 h 277"/>
                  <a:gd name="T8" fmla="*/ 0 w 278"/>
                  <a:gd name="T9" fmla="*/ 81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8" h="277">
                    <a:moveTo>
                      <a:pt x="0" y="81"/>
                    </a:moveTo>
                    <a:lnTo>
                      <a:pt x="197" y="277"/>
                    </a:lnTo>
                    <a:lnTo>
                      <a:pt x="278" y="196"/>
                    </a:lnTo>
                    <a:lnTo>
                      <a:pt x="82" y="0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9" name="Freeform 284"/>
              <p:cNvSpPr>
                <a:spLocks noChangeAspect="1" noChangeArrowheads="1"/>
              </p:cNvSpPr>
              <p:nvPr/>
            </p:nvSpPr>
            <p:spPr bwMode="auto">
              <a:xfrm>
                <a:off x="4819" y="1329"/>
                <a:ext cx="56" cy="55"/>
              </a:xfrm>
              <a:custGeom>
                <a:avLst/>
                <a:gdLst>
                  <a:gd name="T0" fmla="*/ 278 w 278"/>
                  <a:gd name="T1" fmla="*/ 196 h 277"/>
                  <a:gd name="T2" fmla="*/ 82 w 278"/>
                  <a:gd name="T3" fmla="*/ 0 h 277"/>
                  <a:gd name="T4" fmla="*/ 0 w 278"/>
                  <a:gd name="T5" fmla="*/ 81 h 277"/>
                  <a:gd name="T6" fmla="*/ 197 w 278"/>
                  <a:gd name="T7" fmla="*/ 277 h 277"/>
                  <a:gd name="T8" fmla="*/ 278 w 278"/>
                  <a:gd name="T9" fmla="*/ 19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8" h="277">
                    <a:moveTo>
                      <a:pt x="278" y="196"/>
                    </a:moveTo>
                    <a:lnTo>
                      <a:pt x="82" y="0"/>
                    </a:lnTo>
                    <a:lnTo>
                      <a:pt x="0" y="81"/>
                    </a:lnTo>
                    <a:lnTo>
                      <a:pt x="197" y="277"/>
                    </a:lnTo>
                    <a:lnTo>
                      <a:pt x="278" y="196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0" name="Line 285"/>
              <p:cNvSpPr>
                <a:spLocks noChangeAspect="1" noChangeShapeType="1"/>
              </p:cNvSpPr>
              <p:nvPr/>
            </p:nvSpPr>
            <p:spPr bwMode="auto">
              <a:xfrm flipV="1">
                <a:off x="4800" y="1544"/>
                <a:ext cx="67" cy="66"/>
              </a:xfrm>
              <a:prstGeom prst="line">
                <a:avLst/>
              </a:pr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91" name="Line 286"/>
              <p:cNvSpPr>
                <a:spLocks noChangeAspect="1" noChangeShapeType="1"/>
              </p:cNvSpPr>
              <p:nvPr/>
            </p:nvSpPr>
            <p:spPr bwMode="auto">
              <a:xfrm flipV="1">
                <a:off x="4769" y="1456"/>
                <a:ext cx="98" cy="97"/>
              </a:xfrm>
              <a:prstGeom prst="line">
                <a:avLst/>
              </a:pr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92" name="Line 287"/>
              <p:cNvSpPr>
                <a:spLocks noChangeAspect="1" noChangeShapeType="1"/>
              </p:cNvSpPr>
              <p:nvPr/>
            </p:nvSpPr>
            <p:spPr bwMode="auto">
              <a:xfrm flipV="1">
                <a:off x="4769" y="1372"/>
                <a:ext cx="94" cy="94"/>
              </a:xfrm>
              <a:prstGeom prst="line">
                <a:avLst/>
              </a:pr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93" name="Line 288"/>
              <p:cNvSpPr>
                <a:spLocks noChangeAspect="1" noChangeShapeType="1"/>
              </p:cNvSpPr>
              <p:nvPr/>
            </p:nvSpPr>
            <p:spPr bwMode="auto">
              <a:xfrm flipV="1">
                <a:off x="4769" y="1337"/>
                <a:ext cx="42" cy="41"/>
              </a:xfrm>
              <a:prstGeom prst="line">
                <a:avLst/>
              </a:pr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94" name="Line 289"/>
              <p:cNvSpPr>
                <a:spLocks noChangeAspect="1" noChangeShapeType="1"/>
              </p:cNvSpPr>
              <p:nvPr/>
            </p:nvSpPr>
            <p:spPr bwMode="auto">
              <a:xfrm flipV="1">
                <a:off x="4441" y="1534"/>
                <a:ext cx="170" cy="171"/>
              </a:xfrm>
              <a:prstGeom prst="line">
                <a:avLst/>
              </a:pr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95" name="Line 290"/>
              <p:cNvSpPr>
                <a:spLocks noChangeAspect="1" noChangeShapeType="1"/>
              </p:cNvSpPr>
              <p:nvPr/>
            </p:nvSpPr>
            <p:spPr bwMode="auto">
              <a:xfrm flipV="1">
                <a:off x="4438" y="1446"/>
                <a:ext cx="173" cy="174"/>
              </a:xfrm>
              <a:prstGeom prst="line">
                <a:avLst/>
              </a:pr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96" name="Line 291"/>
              <p:cNvSpPr>
                <a:spLocks noChangeAspect="1" noChangeShapeType="1"/>
              </p:cNvSpPr>
              <p:nvPr/>
            </p:nvSpPr>
            <p:spPr bwMode="auto">
              <a:xfrm flipV="1">
                <a:off x="4439" y="1358"/>
                <a:ext cx="172" cy="173"/>
              </a:xfrm>
              <a:prstGeom prst="line">
                <a:avLst/>
              </a:prstGeom>
              <a:noFill/>
              <a:ln w="15875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97" name="Freeform 292"/>
              <p:cNvSpPr>
                <a:spLocks noChangeAspect="1" noChangeArrowheads="1"/>
              </p:cNvSpPr>
              <p:nvPr/>
            </p:nvSpPr>
            <p:spPr bwMode="auto">
              <a:xfrm>
                <a:off x="1784" y="1453"/>
                <a:ext cx="158" cy="157"/>
              </a:xfrm>
              <a:custGeom>
                <a:avLst/>
                <a:gdLst>
                  <a:gd name="T0" fmla="*/ 114 w 793"/>
                  <a:gd name="T1" fmla="*/ 791 h 791"/>
                  <a:gd name="T2" fmla="*/ 118 w 793"/>
                  <a:gd name="T3" fmla="*/ 722 h 791"/>
                  <a:gd name="T4" fmla="*/ 128 w 793"/>
                  <a:gd name="T5" fmla="*/ 655 h 791"/>
                  <a:gd name="T6" fmla="*/ 145 w 793"/>
                  <a:gd name="T7" fmla="*/ 590 h 791"/>
                  <a:gd name="T8" fmla="*/ 168 w 793"/>
                  <a:gd name="T9" fmla="*/ 529 h 791"/>
                  <a:gd name="T10" fmla="*/ 196 w 793"/>
                  <a:gd name="T11" fmla="*/ 469 h 791"/>
                  <a:gd name="T12" fmla="*/ 230 w 793"/>
                  <a:gd name="T13" fmla="*/ 413 h 791"/>
                  <a:gd name="T14" fmla="*/ 270 w 793"/>
                  <a:gd name="T15" fmla="*/ 360 h 791"/>
                  <a:gd name="T16" fmla="*/ 314 w 793"/>
                  <a:gd name="T17" fmla="*/ 313 h 791"/>
                  <a:gd name="T18" fmla="*/ 361 w 793"/>
                  <a:gd name="T19" fmla="*/ 269 h 791"/>
                  <a:gd name="T20" fmla="*/ 415 w 793"/>
                  <a:gd name="T21" fmla="*/ 230 h 791"/>
                  <a:gd name="T22" fmla="*/ 470 w 793"/>
                  <a:gd name="T23" fmla="*/ 196 h 791"/>
                  <a:gd name="T24" fmla="*/ 530 w 793"/>
                  <a:gd name="T25" fmla="*/ 167 h 791"/>
                  <a:gd name="T26" fmla="*/ 591 w 793"/>
                  <a:gd name="T27" fmla="*/ 145 h 791"/>
                  <a:gd name="T28" fmla="*/ 657 w 793"/>
                  <a:gd name="T29" fmla="*/ 128 h 791"/>
                  <a:gd name="T30" fmla="*/ 723 w 793"/>
                  <a:gd name="T31" fmla="*/ 118 h 791"/>
                  <a:gd name="T32" fmla="*/ 793 w 793"/>
                  <a:gd name="T33" fmla="*/ 114 h 791"/>
                  <a:gd name="T34" fmla="*/ 752 w 793"/>
                  <a:gd name="T35" fmla="*/ 1 h 791"/>
                  <a:gd name="T36" fmla="*/ 672 w 793"/>
                  <a:gd name="T37" fmla="*/ 9 h 791"/>
                  <a:gd name="T38" fmla="*/ 595 w 793"/>
                  <a:gd name="T39" fmla="*/ 25 h 791"/>
                  <a:gd name="T40" fmla="*/ 521 w 793"/>
                  <a:gd name="T41" fmla="*/ 48 h 791"/>
                  <a:gd name="T42" fmla="*/ 450 w 793"/>
                  <a:gd name="T43" fmla="*/ 78 h 791"/>
                  <a:gd name="T44" fmla="*/ 382 w 793"/>
                  <a:gd name="T45" fmla="*/ 115 h 791"/>
                  <a:gd name="T46" fmla="*/ 319 w 793"/>
                  <a:gd name="T47" fmla="*/ 158 h 791"/>
                  <a:gd name="T48" fmla="*/ 260 w 793"/>
                  <a:gd name="T49" fmla="*/ 206 h 791"/>
                  <a:gd name="T50" fmla="*/ 207 w 793"/>
                  <a:gd name="T51" fmla="*/ 260 h 791"/>
                  <a:gd name="T52" fmla="*/ 158 w 793"/>
                  <a:gd name="T53" fmla="*/ 319 h 791"/>
                  <a:gd name="T54" fmla="*/ 115 w 793"/>
                  <a:gd name="T55" fmla="*/ 381 h 791"/>
                  <a:gd name="T56" fmla="*/ 79 w 793"/>
                  <a:gd name="T57" fmla="*/ 449 h 791"/>
                  <a:gd name="T58" fmla="*/ 49 w 793"/>
                  <a:gd name="T59" fmla="*/ 520 h 791"/>
                  <a:gd name="T60" fmla="*/ 25 w 793"/>
                  <a:gd name="T61" fmla="*/ 594 h 791"/>
                  <a:gd name="T62" fmla="*/ 9 w 793"/>
                  <a:gd name="T63" fmla="*/ 671 h 791"/>
                  <a:gd name="T64" fmla="*/ 1 w 793"/>
                  <a:gd name="T65" fmla="*/ 751 h 791"/>
                  <a:gd name="T66" fmla="*/ 0 w 793"/>
                  <a:gd name="T67" fmla="*/ 791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93" h="791">
                    <a:moveTo>
                      <a:pt x="114" y="791"/>
                    </a:moveTo>
                    <a:lnTo>
                      <a:pt x="114" y="791"/>
                    </a:lnTo>
                    <a:lnTo>
                      <a:pt x="115" y="756"/>
                    </a:lnTo>
                    <a:lnTo>
                      <a:pt x="118" y="722"/>
                    </a:lnTo>
                    <a:lnTo>
                      <a:pt x="122" y="688"/>
                    </a:lnTo>
                    <a:lnTo>
                      <a:pt x="128" y="655"/>
                    </a:lnTo>
                    <a:lnTo>
                      <a:pt x="136" y="623"/>
                    </a:lnTo>
                    <a:lnTo>
                      <a:pt x="145" y="590"/>
                    </a:lnTo>
                    <a:lnTo>
                      <a:pt x="156" y="559"/>
                    </a:lnTo>
                    <a:lnTo>
                      <a:pt x="168" y="529"/>
                    </a:lnTo>
                    <a:lnTo>
                      <a:pt x="181" y="499"/>
                    </a:lnTo>
                    <a:lnTo>
                      <a:pt x="196" y="469"/>
                    </a:lnTo>
                    <a:lnTo>
                      <a:pt x="212" y="441"/>
                    </a:lnTo>
                    <a:lnTo>
                      <a:pt x="230" y="413"/>
                    </a:lnTo>
                    <a:lnTo>
                      <a:pt x="249" y="387"/>
                    </a:lnTo>
                    <a:lnTo>
                      <a:pt x="270" y="360"/>
                    </a:lnTo>
                    <a:lnTo>
                      <a:pt x="291" y="337"/>
                    </a:lnTo>
                    <a:lnTo>
                      <a:pt x="314" y="313"/>
                    </a:lnTo>
                    <a:lnTo>
                      <a:pt x="338" y="290"/>
                    </a:lnTo>
                    <a:lnTo>
                      <a:pt x="361" y="269"/>
                    </a:lnTo>
                    <a:lnTo>
                      <a:pt x="387" y="248"/>
                    </a:lnTo>
                    <a:lnTo>
                      <a:pt x="415" y="230"/>
                    </a:lnTo>
                    <a:lnTo>
                      <a:pt x="442" y="212"/>
                    </a:lnTo>
                    <a:lnTo>
                      <a:pt x="470" y="196"/>
                    </a:lnTo>
                    <a:lnTo>
                      <a:pt x="500" y="180"/>
                    </a:lnTo>
                    <a:lnTo>
                      <a:pt x="530" y="167"/>
                    </a:lnTo>
                    <a:lnTo>
                      <a:pt x="560" y="155"/>
                    </a:lnTo>
                    <a:lnTo>
                      <a:pt x="591" y="145"/>
                    </a:lnTo>
                    <a:lnTo>
                      <a:pt x="624" y="135"/>
                    </a:lnTo>
                    <a:lnTo>
                      <a:pt x="657" y="128"/>
                    </a:lnTo>
                    <a:lnTo>
                      <a:pt x="689" y="122"/>
                    </a:lnTo>
                    <a:lnTo>
                      <a:pt x="723" y="118"/>
                    </a:lnTo>
                    <a:lnTo>
                      <a:pt x="759" y="115"/>
                    </a:lnTo>
                    <a:lnTo>
                      <a:pt x="793" y="114"/>
                    </a:lnTo>
                    <a:lnTo>
                      <a:pt x="793" y="0"/>
                    </a:lnTo>
                    <a:lnTo>
                      <a:pt x="752" y="1"/>
                    </a:lnTo>
                    <a:lnTo>
                      <a:pt x="713" y="4"/>
                    </a:lnTo>
                    <a:lnTo>
                      <a:pt x="672" y="9"/>
                    </a:lnTo>
                    <a:lnTo>
                      <a:pt x="635" y="17"/>
                    </a:lnTo>
                    <a:lnTo>
                      <a:pt x="595" y="25"/>
                    </a:lnTo>
                    <a:lnTo>
                      <a:pt x="557" y="35"/>
                    </a:lnTo>
                    <a:lnTo>
                      <a:pt x="521" y="48"/>
                    </a:lnTo>
                    <a:lnTo>
                      <a:pt x="485" y="63"/>
                    </a:lnTo>
                    <a:lnTo>
                      <a:pt x="450" y="78"/>
                    </a:lnTo>
                    <a:lnTo>
                      <a:pt x="416" y="97"/>
                    </a:lnTo>
                    <a:lnTo>
                      <a:pt x="382" y="115"/>
                    </a:lnTo>
                    <a:lnTo>
                      <a:pt x="351" y="136"/>
                    </a:lnTo>
                    <a:lnTo>
                      <a:pt x="319" y="158"/>
                    </a:lnTo>
                    <a:lnTo>
                      <a:pt x="289" y="182"/>
                    </a:lnTo>
                    <a:lnTo>
                      <a:pt x="260" y="206"/>
                    </a:lnTo>
                    <a:lnTo>
                      <a:pt x="233" y="232"/>
                    </a:lnTo>
                    <a:lnTo>
                      <a:pt x="207" y="260"/>
                    </a:lnTo>
                    <a:lnTo>
                      <a:pt x="182" y="289"/>
                    </a:lnTo>
                    <a:lnTo>
                      <a:pt x="158" y="319"/>
                    </a:lnTo>
                    <a:lnTo>
                      <a:pt x="136" y="350"/>
                    </a:lnTo>
                    <a:lnTo>
                      <a:pt x="115" y="381"/>
                    </a:lnTo>
                    <a:lnTo>
                      <a:pt x="97" y="415"/>
                    </a:lnTo>
                    <a:lnTo>
                      <a:pt x="79" y="449"/>
                    </a:lnTo>
                    <a:lnTo>
                      <a:pt x="63" y="484"/>
                    </a:lnTo>
                    <a:lnTo>
                      <a:pt x="49" y="520"/>
                    </a:lnTo>
                    <a:lnTo>
                      <a:pt x="37" y="556"/>
                    </a:lnTo>
                    <a:lnTo>
                      <a:pt x="25" y="594"/>
                    </a:lnTo>
                    <a:lnTo>
                      <a:pt x="17" y="632"/>
                    </a:lnTo>
                    <a:lnTo>
                      <a:pt x="9" y="671"/>
                    </a:lnTo>
                    <a:lnTo>
                      <a:pt x="4" y="712"/>
                    </a:lnTo>
                    <a:lnTo>
                      <a:pt x="1" y="751"/>
                    </a:lnTo>
                    <a:lnTo>
                      <a:pt x="0" y="791"/>
                    </a:lnTo>
                    <a:lnTo>
                      <a:pt x="114" y="791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8" name="Freeform 293"/>
              <p:cNvSpPr>
                <a:spLocks noChangeAspect="1" noChangeArrowheads="1"/>
              </p:cNvSpPr>
              <p:nvPr/>
            </p:nvSpPr>
            <p:spPr bwMode="auto">
              <a:xfrm>
                <a:off x="1784" y="1610"/>
                <a:ext cx="158" cy="158"/>
              </a:xfrm>
              <a:custGeom>
                <a:avLst/>
                <a:gdLst>
                  <a:gd name="T0" fmla="*/ 759 w 793"/>
                  <a:gd name="T1" fmla="*/ 678 h 793"/>
                  <a:gd name="T2" fmla="*/ 689 w 793"/>
                  <a:gd name="T3" fmla="*/ 671 h 793"/>
                  <a:gd name="T4" fmla="*/ 624 w 793"/>
                  <a:gd name="T5" fmla="*/ 657 h 793"/>
                  <a:gd name="T6" fmla="*/ 560 w 793"/>
                  <a:gd name="T7" fmla="*/ 637 h 793"/>
                  <a:gd name="T8" fmla="*/ 500 w 793"/>
                  <a:gd name="T9" fmla="*/ 611 h 793"/>
                  <a:gd name="T10" fmla="*/ 442 w 793"/>
                  <a:gd name="T11" fmla="*/ 580 h 793"/>
                  <a:gd name="T12" fmla="*/ 387 w 793"/>
                  <a:gd name="T13" fmla="*/ 543 h 793"/>
                  <a:gd name="T14" fmla="*/ 338 w 793"/>
                  <a:gd name="T15" fmla="*/ 502 h 793"/>
                  <a:gd name="T16" fmla="*/ 291 w 793"/>
                  <a:gd name="T17" fmla="*/ 456 h 793"/>
                  <a:gd name="T18" fmla="*/ 249 w 793"/>
                  <a:gd name="T19" fmla="*/ 406 h 793"/>
                  <a:gd name="T20" fmla="*/ 212 w 793"/>
                  <a:gd name="T21" fmla="*/ 351 h 793"/>
                  <a:gd name="T22" fmla="*/ 181 w 793"/>
                  <a:gd name="T23" fmla="*/ 294 h 793"/>
                  <a:gd name="T24" fmla="*/ 156 w 793"/>
                  <a:gd name="T25" fmla="*/ 234 h 793"/>
                  <a:gd name="T26" fmla="*/ 136 w 793"/>
                  <a:gd name="T27" fmla="*/ 170 h 793"/>
                  <a:gd name="T28" fmla="*/ 122 w 793"/>
                  <a:gd name="T29" fmla="*/ 103 h 793"/>
                  <a:gd name="T30" fmla="*/ 115 w 793"/>
                  <a:gd name="T31" fmla="*/ 35 h 793"/>
                  <a:gd name="T32" fmla="*/ 0 w 793"/>
                  <a:gd name="T33" fmla="*/ 0 h 793"/>
                  <a:gd name="T34" fmla="*/ 4 w 793"/>
                  <a:gd name="T35" fmla="*/ 81 h 793"/>
                  <a:gd name="T36" fmla="*/ 17 w 793"/>
                  <a:gd name="T37" fmla="*/ 160 h 793"/>
                  <a:gd name="T38" fmla="*/ 37 w 793"/>
                  <a:gd name="T39" fmla="*/ 235 h 793"/>
                  <a:gd name="T40" fmla="*/ 63 w 793"/>
                  <a:gd name="T41" fmla="*/ 308 h 793"/>
                  <a:gd name="T42" fmla="*/ 97 w 793"/>
                  <a:gd name="T43" fmla="*/ 378 h 793"/>
                  <a:gd name="T44" fmla="*/ 136 w 793"/>
                  <a:gd name="T45" fmla="*/ 443 h 793"/>
                  <a:gd name="T46" fmla="*/ 182 w 793"/>
                  <a:gd name="T47" fmla="*/ 504 h 793"/>
                  <a:gd name="T48" fmla="*/ 233 w 793"/>
                  <a:gd name="T49" fmla="*/ 560 h 793"/>
                  <a:gd name="T50" fmla="*/ 289 w 793"/>
                  <a:gd name="T51" fmla="*/ 611 h 793"/>
                  <a:gd name="T52" fmla="*/ 351 w 793"/>
                  <a:gd name="T53" fmla="*/ 657 h 793"/>
                  <a:gd name="T54" fmla="*/ 416 w 793"/>
                  <a:gd name="T55" fmla="*/ 696 h 793"/>
                  <a:gd name="T56" fmla="*/ 485 w 793"/>
                  <a:gd name="T57" fmla="*/ 730 h 793"/>
                  <a:gd name="T58" fmla="*/ 557 w 793"/>
                  <a:gd name="T59" fmla="*/ 756 h 793"/>
                  <a:gd name="T60" fmla="*/ 635 w 793"/>
                  <a:gd name="T61" fmla="*/ 776 h 793"/>
                  <a:gd name="T62" fmla="*/ 713 w 793"/>
                  <a:gd name="T63" fmla="*/ 787 h 793"/>
                  <a:gd name="T64" fmla="*/ 793 w 793"/>
                  <a:gd name="T65" fmla="*/ 793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93" h="793">
                    <a:moveTo>
                      <a:pt x="793" y="678"/>
                    </a:moveTo>
                    <a:lnTo>
                      <a:pt x="759" y="678"/>
                    </a:lnTo>
                    <a:lnTo>
                      <a:pt x="723" y="675"/>
                    </a:lnTo>
                    <a:lnTo>
                      <a:pt x="689" y="671"/>
                    </a:lnTo>
                    <a:lnTo>
                      <a:pt x="657" y="665"/>
                    </a:lnTo>
                    <a:lnTo>
                      <a:pt x="624" y="657"/>
                    </a:lnTo>
                    <a:lnTo>
                      <a:pt x="591" y="648"/>
                    </a:lnTo>
                    <a:lnTo>
                      <a:pt x="560" y="637"/>
                    </a:lnTo>
                    <a:lnTo>
                      <a:pt x="530" y="626"/>
                    </a:lnTo>
                    <a:lnTo>
                      <a:pt x="500" y="611"/>
                    </a:lnTo>
                    <a:lnTo>
                      <a:pt x="470" y="597"/>
                    </a:lnTo>
                    <a:lnTo>
                      <a:pt x="442" y="580"/>
                    </a:lnTo>
                    <a:lnTo>
                      <a:pt x="415" y="563"/>
                    </a:lnTo>
                    <a:lnTo>
                      <a:pt x="387" y="543"/>
                    </a:lnTo>
                    <a:lnTo>
                      <a:pt x="362" y="524"/>
                    </a:lnTo>
                    <a:lnTo>
                      <a:pt x="338" y="502"/>
                    </a:lnTo>
                    <a:lnTo>
                      <a:pt x="314" y="479"/>
                    </a:lnTo>
                    <a:lnTo>
                      <a:pt x="291" y="456"/>
                    </a:lnTo>
                    <a:lnTo>
                      <a:pt x="270" y="431"/>
                    </a:lnTo>
                    <a:lnTo>
                      <a:pt x="249" y="406"/>
                    </a:lnTo>
                    <a:lnTo>
                      <a:pt x="230" y="379"/>
                    </a:lnTo>
                    <a:lnTo>
                      <a:pt x="212" y="351"/>
                    </a:lnTo>
                    <a:lnTo>
                      <a:pt x="196" y="323"/>
                    </a:lnTo>
                    <a:lnTo>
                      <a:pt x="181" y="294"/>
                    </a:lnTo>
                    <a:lnTo>
                      <a:pt x="168" y="264"/>
                    </a:lnTo>
                    <a:lnTo>
                      <a:pt x="156" y="234"/>
                    </a:lnTo>
                    <a:lnTo>
                      <a:pt x="145" y="201"/>
                    </a:lnTo>
                    <a:lnTo>
                      <a:pt x="136" y="170"/>
                    </a:lnTo>
                    <a:lnTo>
                      <a:pt x="128" y="137"/>
                    </a:lnTo>
                    <a:lnTo>
                      <a:pt x="122" y="103"/>
                    </a:lnTo>
                    <a:lnTo>
                      <a:pt x="118" y="69"/>
                    </a:lnTo>
                    <a:lnTo>
                      <a:pt x="115" y="35"/>
                    </a:lnTo>
                    <a:lnTo>
                      <a:pt x="114" y="0"/>
                    </a:lnTo>
                    <a:lnTo>
                      <a:pt x="0" y="0"/>
                    </a:lnTo>
                    <a:lnTo>
                      <a:pt x="1" y="41"/>
                    </a:lnTo>
                    <a:lnTo>
                      <a:pt x="4" y="81"/>
                    </a:lnTo>
                    <a:lnTo>
                      <a:pt x="9" y="120"/>
                    </a:lnTo>
                    <a:lnTo>
                      <a:pt x="17" y="160"/>
                    </a:lnTo>
                    <a:lnTo>
                      <a:pt x="25" y="197"/>
                    </a:lnTo>
                    <a:lnTo>
                      <a:pt x="37" y="235"/>
                    </a:lnTo>
                    <a:lnTo>
                      <a:pt x="49" y="272"/>
                    </a:lnTo>
                    <a:lnTo>
                      <a:pt x="63" y="308"/>
                    </a:lnTo>
                    <a:lnTo>
                      <a:pt x="79" y="344"/>
                    </a:lnTo>
                    <a:lnTo>
                      <a:pt x="97" y="378"/>
                    </a:lnTo>
                    <a:lnTo>
                      <a:pt x="115" y="410"/>
                    </a:lnTo>
                    <a:lnTo>
                      <a:pt x="136" y="443"/>
                    </a:lnTo>
                    <a:lnTo>
                      <a:pt x="158" y="474"/>
                    </a:lnTo>
                    <a:lnTo>
                      <a:pt x="182" y="504"/>
                    </a:lnTo>
                    <a:lnTo>
                      <a:pt x="207" y="533"/>
                    </a:lnTo>
                    <a:lnTo>
                      <a:pt x="233" y="560"/>
                    </a:lnTo>
                    <a:lnTo>
                      <a:pt x="260" y="586"/>
                    </a:lnTo>
                    <a:lnTo>
                      <a:pt x="289" y="611"/>
                    </a:lnTo>
                    <a:lnTo>
                      <a:pt x="319" y="635"/>
                    </a:lnTo>
                    <a:lnTo>
                      <a:pt x="351" y="657"/>
                    </a:lnTo>
                    <a:lnTo>
                      <a:pt x="382" y="678"/>
                    </a:lnTo>
                    <a:lnTo>
                      <a:pt x="416" y="696"/>
                    </a:lnTo>
                    <a:lnTo>
                      <a:pt x="450" y="714"/>
                    </a:lnTo>
                    <a:lnTo>
                      <a:pt x="485" y="730"/>
                    </a:lnTo>
                    <a:lnTo>
                      <a:pt x="521" y="744"/>
                    </a:lnTo>
                    <a:lnTo>
                      <a:pt x="557" y="756"/>
                    </a:lnTo>
                    <a:lnTo>
                      <a:pt x="595" y="767"/>
                    </a:lnTo>
                    <a:lnTo>
                      <a:pt x="635" y="776"/>
                    </a:lnTo>
                    <a:lnTo>
                      <a:pt x="672" y="784"/>
                    </a:lnTo>
                    <a:lnTo>
                      <a:pt x="713" y="787"/>
                    </a:lnTo>
                    <a:lnTo>
                      <a:pt x="752" y="791"/>
                    </a:lnTo>
                    <a:lnTo>
                      <a:pt x="793" y="793"/>
                    </a:lnTo>
                    <a:lnTo>
                      <a:pt x="793" y="678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9" name="Freeform 294"/>
              <p:cNvSpPr>
                <a:spLocks noChangeAspect="1" noChangeArrowheads="1"/>
              </p:cNvSpPr>
              <p:nvPr/>
            </p:nvSpPr>
            <p:spPr bwMode="auto">
              <a:xfrm>
                <a:off x="1942" y="175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0" name="Freeform 295"/>
              <p:cNvSpPr>
                <a:spLocks noChangeAspect="1" noChangeArrowheads="1"/>
              </p:cNvSpPr>
              <p:nvPr/>
            </p:nvSpPr>
            <p:spPr bwMode="auto">
              <a:xfrm>
                <a:off x="2532" y="1610"/>
                <a:ext cx="158" cy="158"/>
              </a:xfrm>
              <a:custGeom>
                <a:avLst/>
                <a:gdLst>
                  <a:gd name="T0" fmla="*/ 679 w 794"/>
                  <a:gd name="T1" fmla="*/ 0 h 793"/>
                  <a:gd name="T2" fmla="*/ 676 w 794"/>
                  <a:gd name="T3" fmla="*/ 69 h 793"/>
                  <a:gd name="T4" fmla="*/ 666 w 794"/>
                  <a:gd name="T5" fmla="*/ 137 h 793"/>
                  <a:gd name="T6" fmla="*/ 649 w 794"/>
                  <a:gd name="T7" fmla="*/ 201 h 793"/>
                  <a:gd name="T8" fmla="*/ 627 w 794"/>
                  <a:gd name="T9" fmla="*/ 264 h 793"/>
                  <a:gd name="T10" fmla="*/ 598 w 794"/>
                  <a:gd name="T11" fmla="*/ 323 h 793"/>
                  <a:gd name="T12" fmla="*/ 564 w 794"/>
                  <a:gd name="T13" fmla="*/ 379 h 793"/>
                  <a:gd name="T14" fmla="*/ 525 w 794"/>
                  <a:gd name="T15" fmla="*/ 431 h 793"/>
                  <a:gd name="T16" fmla="*/ 480 w 794"/>
                  <a:gd name="T17" fmla="*/ 479 h 793"/>
                  <a:gd name="T18" fmla="*/ 432 w 794"/>
                  <a:gd name="T19" fmla="*/ 524 h 793"/>
                  <a:gd name="T20" fmla="*/ 379 w 794"/>
                  <a:gd name="T21" fmla="*/ 563 h 793"/>
                  <a:gd name="T22" fmla="*/ 323 w 794"/>
                  <a:gd name="T23" fmla="*/ 597 h 793"/>
                  <a:gd name="T24" fmla="*/ 264 w 794"/>
                  <a:gd name="T25" fmla="*/ 626 h 793"/>
                  <a:gd name="T26" fmla="*/ 202 w 794"/>
                  <a:gd name="T27" fmla="*/ 648 h 793"/>
                  <a:gd name="T28" fmla="*/ 137 w 794"/>
                  <a:gd name="T29" fmla="*/ 665 h 793"/>
                  <a:gd name="T30" fmla="*/ 69 w 794"/>
                  <a:gd name="T31" fmla="*/ 675 h 793"/>
                  <a:gd name="T32" fmla="*/ 0 w 794"/>
                  <a:gd name="T33" fmla="*/ 678 h 793"/>
                  <a:gd name="T34" fmla="*/ 41 w 794"/>
                  <a:gd name="T35" fmla="*/ 791 h 793"/>
                  <a:gd name="T36" fmla="*/ 120 w 794"/>
                  <a:gd name="T37" fmla="*/ 784 h 793"/>
                  <a:gd name="T38" fmla="*/ 198 w 794"/>
                  <a:gd name="T39" fmla="*/ 767 h 793"/>
                  <a:gd name="T40" fmla="*/ 272 w 794"/>
                  <a:gd name="T41" fmla="*/ 744 h 793"/>
                  <a:gd name="T42" fmla="*/ 344 w 794"/>
                  <a:gd name="T43" fmla="*/ 714 h 793"/>
                  <a:gd name="T44" fmla="*/ 411 w 794"/>
                  <a:gd name="T45" fmla="*/ 678 h 793"/>
                  <a:gd name="T46" fmla="*/ 475 w 794"/>
                  <a:gd name="T47" fmla="*/ 635 h 793"/>
                  <a:gd name="T48" fmla="*/ 534 w 794"/>
                  <a:gd name="T49" fmla="*/ 586 h 793"/>
                  <a:gd name="T50" fmla="*/ 587 w 794"/>
                  <a:gd name="T51" fmla="*/ 533 h 793"/>
                  <a:gd name="T52" fmla="*/ 636 w 794"/>
                  <a:gd name="T53" fmla="*/ 474 h 793"/>
                  <a:gd name="T54" fmla="*/ 678 w 794"/>
                  <a:gd name="T55" fmla="*/ 410 h 793"/>
                  <a:gd name="T56" fmla="*/ 716 w 794"/>
                  <a:gd name="T57" fmla="*/ 344 h 793"/>
                  <a:gd name="T58" fmla="*/ 746 w 794"/>
                  <a:gd name="T59" fmla="*/ 272 h 793"/>
                  <a:gd name="T60" fmla="*/ 768 w 794"/>
                  <a:gd name="T61" fmla="*/ 199 h 793"/>
                  <a:gd name="T62" fmla="*/ 785 w 794"/>
                  <a:gd name="T63" fmla="*/ 120 h 793"/>
                  <a:gd name="T64" fmla="*/ 793 w 794"/>
                  <a:gd name="T65" fmla="*/ 41 h 793"/>
                  <a:gd name="T66" fmla="*/ 794 w 794"/>
                  <a:gd name="T67" fmla="*/ 0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94" h="793">
                    <a:moveTo>
                      <a:pt x="679" y="0"/>
                    </a:moveTo>
                    <a:lnTo>
                      <a:pt x="679" y="0"/>
                    </a:lnTo>
                    <a:lnTo>
                      <a:pt x="679" y="35"/>
                    </a:lnTo>
                    <a:lnTo>
                      <a:pt x="676" y="69"/>
                    </a:lnTo>
                    <a:lnTo>
                      <a:pt x="671" y="103"/>
                    </a:lnTo>
                    <a:lnTo>
                      <a:pt x="666" y="137"/>
                    </a:lnTo>
                    <a:lnTo>
                      <a:pt x="658" y="170"/>
                    </a:lnTo>
                    <a:lnTo>
                      <a:pt x="649" y="201"/>
                    </a:lnTo>
                    <a:lnTo>
                      <a:pt x="638" y="234"/>
                    </a:lnTo>
                    <a:lnTo>
                      <a:pt x="627" y="264"/>
                    </a:lnTo>
                    <a:lnTo>
                      <a:pt x="612" y="294"/>
                    </a:lnTo>
                    <a:lnTo>
                      <a:pt x="598" y="323"/>
                    </a:lnTo>
                    <a:lnTo>
                      <a:pt x="581" y="351"/>
                    </a:lnTo>
                    <a:lnTo>
                      <a:pt x="564" y="379"/>
                    </a:lnTo>
                    <a:lnTo>
                      <a:pt x="544" y="406"/>
                    </a:lnTo>
                    <a:lnTo>
                      <a:pt x="525" y="431"/>
                    </a:lnTo>
                    <a:lnTo>
                      <a:pt x="502" y="456"/>
                    </a:lnTo>
                    <a:lnTo>
                      <a:pt x="480" y="479"/>
                    </a:lnTo>
                    <a:lnTo>
                      <a:pt x="457" y="502"/>
                    </a:lnTo>
                    <a:lnTo>
                      <a:pt x="432" y="524"/>
                    </a:lnTo>
                    <a:lnTo>
                      <a:pt x="407" y="543"/>
                    </a:lnTo>
                    <a:lnTo>
                      <a:pt x="379" y="563"/>
                    </a:lnTo>
                    <a:lnTo>
                      <a:pt x="352" y="580"/>
                    </a:lnTo>
                    <a:lnTo>
                      <a:pt x="323" y="597"/>
                    </a:lnTo>
                    <a:lnTo>
                      <a:pt x="294" y="611"/>
                    </a:lnTo>
                    <a:lnTo>
                      <a:pt x="264" y="626"/>
                    </a:lnTo>
                    <a:lnTo>
                      <a:pt x="234" y="637"/>
                    </a:lnTo>
                    <a:lnTo>
                      <a:pt x="202" y="648"/>
                    </a:lnTo>
                    <a:lnTo>
                      <a:pt x="170" y="657"/>
                    </a:lnTo>
                    <a:lnTo>
                      <a:pt x="137" y="665"/>
                    </a:lnTo>
                    <a:lnTo>
                      <a:pt x="103" y="671"/>
                    </a:lnTo>
                    <a:lnTo>
                      <a:pt x="69" y="675"/>
                    </a:lnTo>
                    <a:lnTo>
                      <a:pt x="35" y="678"/>
                    </a:lnTo>
                    <a:lnTo>
                      <a:pt x="0" y="678"/>
                    </a:lnTo>
                    <a:lnTo>
                      <a:pt x="0" y="793"/>
                    </a:lnTo>
                    <a:lnTo>
                      <a:pt x="41" y="791"/>
                    </a:lnTo>
                    <a:lnTo>
                      <a:pt x="81" y="787"/>
                    </a:lnTo>
                    <a:lnTo>
                      <a:pt x="120" y="784"/>
                    </a:lnTo>
                    <a:lnTo>
                      <a:pt x="160" y="776"/>
                    </a:lnTo>
                    <a:lnTo>
                      <a:pt x="198" y="767"/>
                    </a:lnTo>
                    <a:lnTo>
                      <a:pt x="236" y="756"/>
                    </a:lnTo>
                    <a:lnTo>
                      <a:pt x="272" y="744"/>
                    </a:lnTo>
                    <a:lnTo>
                      <a:pt x="309" y="730"/>
                    </a:lnTo>
                    <a:lnTo>
                      <a:pt x="344" y="714"/>
                    </a:lnTo>
                    <a:lnTo>
                      <a:pt x="378" y="696"/>
                    </a:lnTo>
                    <a:lnTo>
                      <a:pt x="411" y="678"/>
                    </a:lnTo>
                    <a:lnTo>
                      <a:pt x="444" y="657"/>
                    </a:lnTo>
                    <a:lnTo>
                      <a:pt x="475" y="635"/>
                    </a:lnTo>
                    <a:lnTo>
                      <a:pt x="505" y="611"/>
                    </a:lnTo>
                    <a:lnTo>
                      <a:pt x="534" y="586"/>
                    </a:lnTo>
                    <a:lnTo>
                      <a:pt x="561" y="560"/>
                    </a:lnTo>
                    <a:lnTo>
                      <a:pt x="587" y="533"/>
                    </a:lnTo>
                    <a:lnTo>
                      <a:pt x="612" y="504"/>
                    </a:lnTo>
                    <a:lnTo>
                      <a:pt x="636" y="474"/>
                    </a:lnTo>
                    <a:lnTo>
                      <a:pt x="658" y="443"/>
                    </a:lnTo>
                    <a:lnTo>
                      <a:pt x="678" y="410"/>
                    </a:lnTo>
                    <a:lnTo>
                      <a:pt x="697" y="378"/>
                    </a:lnTo>
                    <a:lnTo>
                      <a:pt x="716" y="344"/>
                    </a:lnTo>
                    <a:lnTo>
                      <a:pt x="731" y="308"/>
                    </a:lnTo>
                    <a:lnTo>
                      <a:pt x="746" y="272"/>
                    </a:lnTo>
                    <a:lnTo>
                      <a:pt x="757" y="235"/>
                    </a:lnTo>
                    <a:lnTo>
                      <a:pt x="768" y="199"/>
                    </a:lnTo>
                    <a:lnTo>
                      <a:pt x="777" y="160"/>
                    </a:lnTo>
                    <a:lnTo>
                      <a:pt x="785" y="120"/>
                    </a:lnTo>
                    <a:lnTo>
                      <a:pt x="789" y="81"/>
                    </a:lnTo>
                    <a:lnTo>
                      <a:pt x="793" y="41"/>
                    </a:lnTo>
                    <a:lnTo>
                      <a:pt x="794" y="0"/>
                    </a:lnTo>
                    <a:lnTo>
                      <a:pt x="679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1" name="Freeform 296"/>
              <p:cNvSpPr>
                <a:spLocks noChangeAspect="1" noChangeArrowheads="1"/>
              </p:cNvSpPr>
              <p:nvPr/>
            </p:nvSpPr>
            <p:spPr bwMode="auto">
              <a:xfrm>
                <a:off x="2532" y="1453"/>
                <a:ext cx="158" cy="157"/>
              </a:xfrm>
              <a:custGeom>
                <a:avLst/>
                <a:gdLst>
                  <a:gd name="T0" fmla="*/ 35 w 794"/>
                  <a:gd name="T1" fmla="*/ 115 h 791"/>
                  <a:gd name="T2" fmla="*/ 103 w 794"/>
                  <a:gd name="T3" fmla="*/ 122 h 791"/>
                  <a:gd name="T4" fmla="*/ 170 w 794"/>
                  <a:gd name="T5" fmla="*/ 135 h 791"/>
                  <a:gd name="T6" fmla="*/ 234 w 794"/>
                  <a:gd name="T7" fmla="*/ 155 h 791"/>
                  <a:gd name="T8" fmla="*/ 294 w 794"/>
                  <a:gd name="T9" fmla="*/ 180 h 791"/>
                  <a:gd name="T10" fmla="*/ 352 w 794"/>
                  <a:gd name="T11" fmla="*/ 212 h 791"/>
                  <a:gd name="T12" fmla="*/ 407 w 794"/>
                  <a:gd name="T13" fmla="*/ 248 h 791"/>
                  <a:gd name="T14" fmla="*/ 457 w 794"/>
                  <a:gd name="T15" fmla="*/ 290 h 791"/>
                  <a:gd name="T16" fmla="*/ 502 w 794"/>
                  <a:gd name="T17" fmla="*/ 337 h 791"/>
                  <a:gd name="T18" fmla="*/ 544 w 794"/>
                  <a:gd name="T19" fmla="*/ 387 h 791"/>
                  <a:gd name="T20" fmla="*/ 581 w 794"/>
                  <a:gd name="T21" fmla="*/ 441 h 791"/>
                  <a:gd name="T22" fmla="*/ 612 w 794"/>
                  <a:gd name="T23" fmla="*/ 499 h 791"/>
                  <a:gd name="T24" fmla="*/ 638 w 794"/>
                  <a:gd name="T25" fmla="*/ 559 h 791"/>
                  <a:gd name="T26" fmla="*/ 658 w 794"/>
                  <a:gd name="T27" fmla="*/ 623 h 791"/>
                  <a:gd name="T28" fmla="*/ 671 w 794"/>
                  <a:gd name="T29" fmla="*/ 688 h 791"/>
                  <a:gd name="T30" fmla="*/ 679 w 794"/>
                  <a:gd name="T31" fmla="*/ 757 h 791"/>
                  <a:gd name="T32" fmla="*/ 794 w 794"/>
                  <a:gd name="T33" fmla="*/ 791 h 791"/>
                  <a:gd name="T34" fmla="*/ 789 w 794"/>
                  <a:gd name="T35" fmla="*/ 712 h 791"/>
                  <a:gd name="T36" fmla="*/ 777 w 794"/>
                  <a:gd name="T37" fmla="*/ 632 h 791"/>
                  <a:gd name="T38" fmla="*/ 757 w 794"/>
                  <a:gd name="T39" fmla="*/ 556 h 791"/>
                  <a:gd name="T40" fmla="*/ 731 w 794"/>
                  <a:gd name="T41" fmla="*/ 484 h 791"/>
                  <a:gd name="T42" fmla="*/ 697 w 794"/>
                  <a:gd name="T43" fmla="*/ 415 h 791"/>
                  <a:gd name="T44" fmla="*/ 658 w 794"/>
                  <a:gd name="T45" fmla="*/ 350 h 791"/>
                  <a:gd name="T46" fmla="*/ 612 w 794"/>
                  <a:gd name="T47" fmla="*/ 289 h 791"/>
                  <a:gd name="T48" fmla="*/ 561 w 794"/>
                  <a:gd name="T49" fmla="*/ 232 h 791"/>
                  <a:gd name="T50" fmla="*/ 504 w 794"/>
                  <a:gd name="T51" fmla="*/ 182 h 791"/>
                  <a:gd name="T52" fmla="*/ 444 w 794"/>
                  <a:gd name="T53" fmla="*/ 136 h 791"/>
                  <a:gd name="T54" fmla="*/ 378 w 794"/>
                  <a:gd name="T55" fmla="*/ 97 h 791"/>
                  <a:gd name="T56" fmla="*/ 309 w 794"/>
                  <a:gd name="T57" fmla="*/ 63 h 791"/>
                  <a:gd name="T58" fmla="*/ 236 w 794"/>
                  <a:gd name="T59" fmla="*/ 35 h 791"/>
                  <a:gd name="T60" fmla="*/ 160 w 794"/>
                  <a:gd name="T61" fmla="*/ 17 h 791"/>
                  <a:gd name="T62" fmla="*/ 81 w 794"/>
                  <a:gd name="T63" fmla="*/ 4 h 791"/>
                  <a:gd name="T64" fmla="*/ 0 w 794"/>
                  <a:gd name="T65" fmla="*/ 0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94" h="791">
                    <a:moveTo>
                      <a:pt x="0" y="114"/>
                    </a:moveTo>
                    <a:lnTo>
                      <a:pt x="35" y="115"/>
                    </a:lnTo>
                    <a:lnTo>
                      <a:pt x="69" y="118"/>
                    </a:lnTo>
                    <a:lnTo>
                      <a:pt x="103" y="122"/>
                    </a:lnTo>
                    <a:lnTo>
                      <a:pt x="137" y="128"/>
                    </a:lnTo>
                    <a:lnTo>
                      <a:pt x="170" y="135"/>
                    </a:lnTo>
                    <a:lnTo>
                      <a:pt x="202" y="145"/>
                    </a:lnTo>
                    <a:lnTo>
                      <a:pt x="234" y="155"/>
                    </a:lnTo>
                    <a:lnTo>
                      <a:pt x="264" y="167"/>
                    </a:lnTo>
                    <a:lnTo>
                      <a:pt x="294" y="180"/>
                    </a:lnTo>
                    <a:lnTo>
                      <a:pt x="323" y="196"/>
                    </a:lnTo>
                    <a:lnTo>
                      <a:pt x="352" y="212"/>
                    </a:lnTo>
                    <a:lnTo>
                      <a:pt x="379" y="230"/>
                    </a:lnTo>
                    <a:lnTo>
                      <a:pt x="407" y="248"/>
                    </a:lnTo>
                    <a:lnTo>
                      <a:pt x="432" y="269"/>
                    </a:lnTo>
                    <a:lnTo>
                      <a:pt x="457" y="290"/>
                    </a:lnTo>
                    <a:lnTo>
                      <a:pt x="480" y="313"/>
                    </a:lnTo>
                    <a:lnTo>
                      <a:pt x="502" y="337"/>
                    </a:lnTo>
                    <a:lnTo>
                      <a:pt x="525" y="360"/>
                    </a:lnTo>
                    <a:lnTo>
                      <a:pt x="544" y="387"/>
                    </a:lnTo>
                    <a:lnTo>
                      <a:pt x="564" y="413"/>
                    </a:lnTo>
                    <a:lnTo>
                      <a:pt x="581" y="441"/>
                    </a:lnTo>
                    <a:lnTo>
                      <a:pt x="598" y="469"/>
                    </a:lnTo>
                    <a:lnTo>
                      <a:pt x="612" y="499"/>
                    </a:lnTo>
                    <a:lnTo>
                      <a:pt x="627" y="529"/>
                    </a:lnTo>
                    <a:lnTo>
                      <a:pt x="638" y="559"/>
                    </a:lnTo>
                    <a:lnTo>
                      <a:pt x="649" y="590"/>
                    </a:lnTo>
                    <a:lnTo>
                      <a:pt x="658" y="623"/>
                    </a:lnTo>
                    <a:lnTo>
                      <a:pt x="666" y="655"/>
                    </a:lnTo>
                    <a:lnTo>
                      <a:pt x="671" y="688"/>
                    </a:lnTo>
                    <a:lnTo>
                      <a:pt x="676" y="722"/>
                    </a:lnTo>
                    <a:lnTo>
                      <a:pt x="679" y="757"/>
                    </a:lnTo>
                    <a:lnTo>
                      <a:pt x="679" y="791"/>
                    </a:lnTo>
                    <a:lnTo>
                      <a:pt x="794" y="791"/>
                    </a:lnTo>
                    <a:lnTo>
                      <a:pt x="793" y="751"/>
                    </a:lnTo>
                    <a:lnTo>
                      <a:pt x="789" y="712"/>
                    </a:lnTo>
                    <a:lnTo>
                      <a:pt x="785" y="671"/>
                    </a:lnTo>
                    <a:lnTo>
                      <a:pt x="777" y="632"/>
                    </a:lnTo>
                    <a:lnTo>
                      <a:pt x="768" y="594"/>
                    </a:lnTo>
                    <a:lnTo>
                      <a:pt x="757" y="556"/>
                    </a:lnTo>
                    <a:lnTo>
                      <a:pt x="746" y="520"/>
                    </a:lnTo>
                    <a:lnTo>
                      <a:pt x="731" y="484"/>
                    </a:lnTo>
                    <a:lnTo>
                      <a:pt x="716" y="449"/>
                    </a:lnTo>
                    <a:lnTo>
                      <a:pt x="697" y="415"/>
                    </a:lnTo>
                    <a:lnTo>
                      <a:pt x="678" y="381"/>
                    </a:lnTo>
                    <a:lnTo>
                      <a:pt x="658" y="350"/>
                    </a:lnTo>
                    <a:lnTo>
                      <a:pt x="636" y="319"/>
                    </a:lnTo>
                    <a:lnTo>
                      <a:pt x="612" y="289"/>
                    </a:lnTo>
                    <a:lnTo>
                      <a:pt x="587" y="260"/>
                    </a:lnTo>
                    <a:lnTo>
                      <a:pt x="561" y="232"/>
                    </a:lnTo>
                    <a:lnTo>
                      <a:pt x="534" y="206"/>
                    </a:lnTo>
                    <a:lnTo>
                      <a:pt x="504" y="182"/>
                    </a:lnTo>
                    <a:lnTo>
                      <a:pt x="475" y="158"/>
                    </a:lnTo>
                    <a:lnTo>
                      <a:pt x="444" y="136"/>
                    </a:lnTo>
                    <a:lnTo>
                      <a:pt x="411" y="115"/>
                    </a:lnTo>
                    <a:lnTo>
                      <a:pt x="378" y="97"/>
                    </a:lnTo>
                    <a:lnTo>
                      <a:pt x="344" y="78"/>
                    </a:lnTo>
                    <a:lnTo>
                      <a:pt x="309" y="63"/>
                    </a:lnTo>
                    <a:lnTo>
                      <a:pt x="272" y="48"/>
                    </a:lnTo>
                    <a:lnTo>
                      <a:pt x="236" y="35"/>
                    </a:lnTo>
                    <a:lnTo>
                      <a:pt x="199" y="25"/>
                    </a:lnTo>
                    <a:lnTo>
                      <a:pt x="160" y="17"/>
                    </a:lnTo>
                    <a:lnTo>
                      <a:pt x="120" y="9"/>
                    </a:lnTo>
                    <a:lnTo>
                      <a:pt x="81" y="4"/>
                    </a:lnTo>
                    <a:lnTo>
                      <a:pt x="41" y="1"/>
                    </a:lnTo>
                    <a:lnTo>
                      <a:pt x="0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2" name="Freeform 297"/>
              <p:cNvSpPr>
                <a:spLocks noChangeAspect="1" noChangeArrowheads="1"/>
              </p:cNvSpPr>
              <p:nvPr/>
            </p:nvSpPr>
            <p:spPr bwMode="auto">
              <a:xfrm>
                <a:off x="2532" y="14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3" name="Freeform 298"/>
              <p:cNvSpPr>
                <a:spLocks noChangeAspect="1" noChangeArrowheads="1"/>
              </p:cNvSpPr>
              <p:nvPr/>
            </p:nvSpPr>
            <p:spPr bwMode="auto">
              <a:xfrm>
                <a:off x="3629" y="1501"/>
                <a:ext cx="110" cy="109"/>
              </a:xfrm>
              <a:custGeom>
                <a:avLst/>
                <a:gdLst>
                  <a:gd name="T0" fmla="*/ 114 w 549"/>
                  <a:gd name="T1" fmla="*/ 545 h 545"/>
                  <a:gd name="T2" fmla="*/ 117 w 549"/>
                  <a:gd name="T3" fmla="*/ 501 h 545"/>
                  <a:gd name="T4" fmla="*/ 123 w 549"/>
                  <a:gd name="T5" fmla="*/ 459 h 545"/>
                  <a:gd name="T6" fmla="*/ 134 w 549"/>
                  <a:gd name="T7" fmla="*/ 417 h 545"/>
                  <a:gd name="T8" fmla="*/ 148 w 549"/>
                  <a:gd name="T9" fmla="*/ 377 h 545"/>
                  <a:gd name="T10" fmla="*/ 167 w 549"/>
                  <a:gd name="T11" fmla="*/ 340 h 545"/>
                  <a:gd name="T12" fmla="*/ 189 w 549"/>
                  <a:gd name="T13" fmla="*/ 304 h 545"/>
                  <a:gd name="T14" fmla="*/ 214 w 549"/>
                  <a:gd name="T15" fmla="*/ 271 h 545"/>
                  <a:gd name="T16" fmla="*/ 241 w 549"/>
                  <a:gd name="T17" fmla="*/ 240 h 545"/>
                  <a:gd name="T18" fmla="*/ 273 w 549"/>
                  <a:gd name="T19" fmla="*/ 212 h 545"/>
                  <a:gd name="T20" fmla="*/ 305 w 549"/>
                  <a:gd name="T21" fmla="*/ 186 h 545"/>
                  <a:gd name="T22" fmla="*/ 342 w 549"/>
                  <a:gd name="T23" fmla="*/ 165 h 545"/>
                  <a:gd name="T24" fmla="*/ 380 w 549"/>
                  <a:gd name="T25" fmla="*/ 147 h 545"/>
                  <a:gd name="T26" fmla="*/ 419 w 549"/>
                  <a:gd name="T27" fmla="*/ 133 h 545"/>
                  <a:gd name="T28" fmla="*/ 461 w 549"/>
                  <a:gd name="T29" fmla="*/ 121 h 545"/>
                  <a:gd name="T30" fmla="*/ 504 w 549"/>
                  <a:gd name="T31" fmla="*/ 114 h 545"/>
                  <a:gd name="T32" fmla="*/ 549 w 549"/>
                  <a:gd name="T33" fmla="*/ 113 h 545"/>
                  <a:gd name="T34" fmla="*/ 520 w 549"/>
                  <a:gd name="T35" fmla="*/ 0 h 545"/>
                  <a:gd name="T36" fmla="*/ 465 w 549"/>
                  <a:gd name="T37" fmla="*/ 5 h 545"/>
                  <a:gd name="T38" fmla="*/ 411 w 549"/>
                  <a:gd name="T39" fmla="*/ 17 h 545"/>
                  <a:gd name="T40" fmla="*/ 360 w 549"/>
                  <a:gd name="T41" fmla="*/ 32 h 545"/>
                  <a:gd name="T42" fmla="*/ 310 w 549"/>
                  <a:gd name="T43" fmla="*/ 53 h 545"/>
                  <a:gd name="T44" fmla="*/ 265 w 549"/>
                  <a:gd name="T45" fmla="*/ 79 h 545"/>
                  <a:gd name="T46" fmla="*/ 220 w 549"/>
                  <a:gd name="T47" fmla="*/ 108 h 545"/>
                  <a:gd name="T48" fmla="*/ 180 w 549"/>
                  <a:gd name="T49" fmla="*/ 142 h 545"/>
                  <a:gd name="T50" fmla="*/ 143 w 549"/>
                  <a:gd name="T51" fmla="*/ 178 h 545"/>
                  <a:gd name="T52" fmla="*/ 109 w 549"/>
                  <a:gd name="T53" fmla="*/ 219 h 545"/>
                  <a:gd name="T54" fmla="*/ 80 w 549"/>
                  <a:gd name="T55" fmla="*/ 262 h 545"/>
                  <a:gd name="T56" fmla="*/ 54 w 549"/>
                  <a:gd name="T57" fmla="*/ 309 h 545"/>
                  <a:gd name="T58" fmla="*/ 34 w 549"/>
                  <a:gd name="T59" fmla="*/ 359 h 545"/>
                  <a:gd name="T60" fmla="*/ 17 w 549"/>
                  <a:gd name="T61" fmla="*/ 409 h 545"/>
                  <a:gd name="T62" fmla="*/ 7 w 549"/>
                  <a:gd name="T63" fmla="*/ 463 h 545"/>
                  <a:gd name="T64" fmla="*/ 2 w 549"/>
                  <a:gd name="T65" fmla="*/ 518 h 545"/>
                  <a:gd name="T66" fmla="*/ 0 w 549"/>
                  <a:gd name="T67" fmla="*/ 545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49" h="545">
                    <a:moveTo>
                      <a:pt x="114" y="545"/>
                    </a:moveTo>
                    <a:lnTo>
                      <a:pt x="114" y="545"/>
                    </a:lnTo>
                    <a:lnTo>
                      <a:pt x="114" y="523"/>
                    </a:lnTo>
                    <a:lnTo>
                      <a:pt x="117" y="501"/>
                    </a:lnTo>
                    <a:lnTo>
                      <a:pt x="120" y="480"/>
                    </a:lnTo>
                    <a:lnTo>
                      <a:pt x="123" y="459"/>
                    </a:lnTo>
                    <a:lnTo>
                      <a:pt x="127" y="438"/>
                    </a:lnTo>
                    <a:lnTo>
                      <a:pt x="134" y="417"/>
                    </a:lnTo>
                    <a:lnTo>
                      <a:pt x="140" y="398"/>
                    </a:lnTo>
                    <a:lnTo>
                      <a:pt x="148" y="377"/>
                    </a:lnTo>
                    <a:lnTo>
                      <a:pt x="157" y="359"/>
                    </a:lnTo>
                    <a:lnTo>
                      <a:pt x="167" y="340"/>
                    </a:lnTo>
                    <a:lnTo>
                      <a:pt x="177" y="322"/>
                    </a:lnTo>
                    <a:lnTo>
                      <a:pt x="189" y="304"/>
                    </a:lnTo>
                    <a:lnTo>
                      <a:pt x="201" y="287"/>
                    </a:lnTo>
                    <a:lnTo>
                      <a:pt x="214" y="271"/>
                    </a:lnTo>
                    <a:lnTo>
                      <a:pt x="227" y="255"/>
                    </a:lnTo>
                    <a:lnTo>
                      <a:pt x="241" y="240"/>
                    </a:lnTo>
                    <a:lnTo>
                      <a:pt x="257" y="225"/>
                    </a:lnTo>
                    <a:lnTo>
                      <a:pt x="273" y="212"/>
                    </a:lnTo>
                    <a:lnTo>
                      <a:pt x="288" y="199"/>
                    </a:lnTo>
                    <a:lnTo>
                      <a:pt x="305" y="186"/>
                    </a:lnTo>
                    <a:lnTo>
                      <a:pt x="324" y="176"/>
                    </a:lnTo>
                    <a:lnTo>
                      <a:pt x="342" y="165"/>
                    </a:lnTo>
                    <a:lnTo>
                      <a:pt x="360" y="155"/>
                    </a:lnTo>
                    <a:lnTo>
                      <a:pt x="380" y="147"/>
                    </a:lnTo>
                    <a:lnTo>
                      <a:pt x="399" y="139"/>
                    </a:lnTo>
                    <a:lnTo>
                      <a:pt x="419" y="133"/>
                    </a:lnTo>
                    <a:lnTo>
                      <a:pt x="440" y="126"/>
                    </a:lnTo>
                    <a:lnTo>
                      <a:pt x="461" y="121"/>
                    </a:lnTo>
                    <a:lnTo>
                      <a:pt x="482" y="118"/>
                    </a:lnTo>
                    <a:lnTo>
                      <a:pt x="504" y="114"/>
                    </a:lnTo>
                    <a:lnTo>
                      <a:pt x="526" y="113"/>
                    </a:lnTo>
                    <a:lnTo>
                      <a:pt x="549" y="113"/>
                    </a:lnTo>
                    <a:lnTo>
                      <a:pt x="549" y="0"/>
                    </a:lnTo>
                    <a:lnTo>
                      <a:pt x="520" y="0"/>
                    </a:lnTo>
                    <a:lnTo>
                      <a:pt x="492" y="2"/>
                    </a:lnTo>
                    <a:lnTo>
                      <a:pt x="465" y="5"/>
                    </a:lnTo>
                    <a:lnTo>
                      <a:pt x="437" y="10"/>
                    </a:lnTo>
                    <a:lnTo>
                      <a:pt x="411" y="17"/>
                    </a:lnTo>
                    <a:lnTo>
                      <a:pt x="385" y="24"/>
                    </a:lnTo>
                    <a:lnTo>
                      <a:pt x="360" y="32"/>
                    </a:lnTo>
                    <a:lnTo>
                      <a:pt x="335" y="43"/>
                    </a:lnTo>
                    <a:lnTo>
                      <a:pt x="310" y="53"/>
                    </a:lnTo>
                    <a:lnTo>
                      <a:pt x="287" y="65"/>
                    </a:lnTo>
                    <a:lnTo>
                      <a:pt x="265" y="79"/>
                    </a:lnTo>
                    <a:lnTo>
                      <a:pt x="242" y="92"/>
                    </a:lnTo>
                    <a:lnTo>
                      <a:pt x="220" y="108"/>
                    </a:lnTo>
                    <a:lnTo>
                      <a:pt x="199" y="125"/>
                    </a:lnTo>
                    <a:lnTo>
                      <a:pt x="180" y="142"/>
                    </a:lnTo>
                    <a:lnTo>
                      <a:pt x="161" y="159"/>
                    </a:lnTo>
                    <a:lnTo>
                      <a:pt x="143" y="178"/>
                    </a:lnTo>
                    <a:lnTo>
                      <a:pt x="126" y="198"/>
                    </a:lnTo>
                    <a:lnTo>
                      <a:pt x="109" y="219"/>
                    </a:lnTo>
                    <a:lnTo>
                      <a:pt x="95" y="241"/>
                    </a:lnTo>
                    <a:lnTo>
                      <a:pt x="80" y="262"/>
                    </a:lnTo>
                    <a:lnTo>
                      <a:pt x="67" y="285"/>
                    </a:lnTo>
                    <a:lnTo>
                      <a:pt x="54" y="309"/>
                    </a:lnTo>
                    <a:lnTo>
                      <a:pt x="44" y="334"/>
                    </a:lnTo>
                    <a:lnTo>
                      <a:pt x="34" y="359"/>
                    </a:lnTo>
                    <a:lnTo>
                      <a:pt x="25" y="383"/>
                    </a:lnTo>
                    <a:lnTo>
                      <a:pt x="17" y="409"/>
                    </a:lnTo>
                    <a:lnTo>
                      <a:pt x="12" y="436"/>
                    </a:lnTo>
                    <a:lnTo>
                      <a:pt x="7" y="463"/>
                    </a:lnTo>
                    <a:lnTo>
                      <a:pt x="3" y="490"/>
                    </a:lnTo>
                    <a:lnTo>
                      <a:pt x="2" y="518"/>
                    </a:lnTo>
                    <a:lnTo>
                      <a:pt x="0" y="545"/>
                    </a:lnTo>
                    <a:lnTo>
                      <a:pt x="114" y="545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4" name="Freeform 299"/>
              <p:cNvSpPr>
                <a:spLocks noChangeAspect="1" noChangeArrowheads="1"/>
              </p:cNvSpPr>
              <p:nvPr/>
            </p:nvSpPr>
            <p:spPr bwMode="auto">
              <a:xfrm>
                <a:off x="3629" y="1610"/>
                <a:ext cx="110" cy="110"/>
              </a:xfrm>
              <a:custGeom>
                <a:avLst/>
                <a:gdLst>
                  <a:gd name="T0" fmla="*/ 525 w 549"/>
                  <a:gd name="T1" fmla="*/ 434 h 547"/>
                  <a:gd name="T2" fmla="*/ 482 w 549"/>
                  <a:gd name="T3" fmla="*/ 428 h 547"/>
                  <a:gd name="T4" fmla="*/ 440 w 549"/>
                  <a:gd name="T5" fmla="*/ 421 h 547"/>
                  <a:gd name="T6" fmla="*/ 399 w 549"/>
                  <a:gd name="T7" fmla="*/ 408 h 547"/>
                  <a:gd name="T8" fmla="*/ 360 w 549"/>
                  <a:gd name="T9" fmla="*/ 391 h 547"/>
                  <a:gd name="T10" fmla="*/ 324 w 549"/>
                  <a:gd name="T11" fmla="*/ 371 h 547"/>
                  <a:gd name="T12" fmla="*/ 288 w 549"/>
                  <a:gd name="T13" fmla="*/ 348 h 547"/>
                  <a:gd name="T14" fmla="*/ 257 w 549"/>
                  <a:gd name="T15" fmla="*/ 321 h 547"/>
                  <a:gd name="T16" fmla="*/ 227 w 549"/>
                  <a:gd name="T17" fmla="*/ 291 h 547"/>
                  <a:gd name="T18" fmla="*/ 201 w 549"/>
                  <a:gd name="T19" fmla="*/ 260 h 547"/>
                  <a:gd name="T20" fmla="*/ 177 w 549"/>
                  <a:gd name="T21" fmla="*/ 225 h 547"/>
                  <a:gd name="T22" fmla="*/ 157 w 549"/>
                  <a:gd name="T23" fmla="*/ 188 h 547"/>
                  <a:gd name="T24" fmla="*/ 140 w 549"/>
                  <a:gd name="T25" fmla="*/ 149 h 547"/>
                  <a:gd name="T26" fmla="*/ 127 w 549"/>
                  <a:gd name="T27" fmla="*/ 109 h 547"/>
                  <a:gd name="T28" fmla="*/ 120 w 549"/>
                  <a:gd name="T29" fmla="*/ 67 h 547"/>
                  <a:gd name="T30" fmla="*/ 114 w 549"/>
                  <a:gd name="T31" fmla="*/ 24 h 547"/>
                  <a:gd name="T32" fmla="*/ 0 w 549"/>
                  <a:gd name="T33" fmla="*/ 0 h 547"/>
                  <a:gd name="T34" fmla="*/ 3 w 549"/>
                  <a:gd name="T35" fmla="*/ 56 h 547"/>
                  <a:gd name="T36" fmla="*/ 12 w 549"/>
                  <a:gd name="T37" fmla="*/ 110 h 547"/>
                  <a:gd name="T38" fmla="*/ 25 w 549"/>
                  <a:gd name="T39" fmla="*/ 163 h 547"/>
                  <a:gd name="T40" fmla="*/ 44 w 549"/>
                  <a:gd name="T41" fmla="*/ 213 h 547"/>
                  <a:gd name="T42" fmla="*/ 67 w 549"/>
                  <a:gd name="T43" fmla="*/ 261 h 547"/>
                  <a:gd name="T44" fmla="*/ 95 w 549"/>
                  <a:gd name="T45" fmla="*/ 306 h 547"/>
                  <a:gd name="T46" fmla="*/ 126 w 549"/>
                  <a:gd name="T47" fmla="*/ 349 h 547"/>
                  <a:gd name="T48" fmla="*/ 161 w 549"/>
                  <a:gd name="T49" fmla="*/ 387 h 547"/>
                  <a:gd name="T50" fmla="*/ 199 w 549"/>
                  <a:gd name="T51" fmla="*/ 422 h 547"/>
                  <a:gd name="T52" fmla="*/ 242 w 549"/>
                  <a:gd name="T53" fmla="*/ 453 h 547"/>
                  <a:gd name="T54" fmla="*/ 287 w 549"/>
                  <a:gd name="T55" fmla="*/ 481 h 547"/>
                  <a:gd name="T56" fmla="*/ 335 w 549"/>
                  <a:gd name="T57" fmla="*/ 504 h 547"/>
                  <a:gd name="T58" fmla="*/ 385 w 549"/>
                  <a:gd name="T59" fmla="*/ 522 h 547"/>
                  <a:gd name="T60" fmla="*/ 437 w 549"/>
                  <a:gd name="T61" fmla="*/ 535 h 547"/>
                  <a:gd name="T62" fmla="*/ 492 w 549"/>
                  <a:gd name="T63" fmla="*/ 545 h 547"/>
                  <a:gd name="T64" fmla="*/ 549 w 549"/>
                  <a:gd name="T65" fmla="*/ 547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49" h="547">
                    <a:moveTo>
                      <a:pt x="549" y="434"/>
                    </a:moveTo>
                    <a:lnTo>
                      <a:pt x="525" y="434"/>
                    </a:lnTo>
                    <a:lnTo>
                      <a:pt x="504" y="431"/>
                    </a:lnTo>
                    <a:lnTo>
                      <a:pt x="482" y="428"/>
                    </a:lnTo>
                    <a:lnTo>
                      <a:pt x="461" y="425"/>
                    </a:lnTo>
                    <a:lnTo>
                      <a:pt x="440" y="421"/>
                    </a:lnTo>
                    <a:lnTo>
                      <a:pt x="419" y="414"/>
                    </a:lnTo>
                    <a:lnTo>
                      <a:pt x="399" y="408"/>
                    </a:lnTo>
                    <a:lnTo>
                      <a:pt x="380" y="400"/>
                    </a:lnTo>
                    <a:lnTo>
                      <a:pt x="360" y="391"/>
                    </a:lnTo>
                    <a:lnTo>
                      <a:pt x="342" y="381"/>
                    </a:lnTo>
                    <a:lnTo>
                      <a:pt x="324" y="371"/>
                    </a:lnTo>
                    <a:lnTo>
                      <a:pt x="305" y="359"/>
                    </a:lnTo>
                    <a:lnTo>
                      <a:pt x="288" y="348"/>
                    </a:lnTo>
                    <a:lnTo>
                      <a:pt x="273" y="334"/>
                    </a:lnTo>
                    <a:lnTo>
                      <a:pt x="257" y="321"/>
                    </a:lnTo>
                    <a:lnTo>
                      <a:pt x="241" y="307"/>
                    </a:lnTo>
                    <a:lnTo>
                      <a:pt x="227" y="291"/>
                    </a:lnTo>
                    <a:lnTo>
                      <a:pt x="214" y="276"/>
                    </a:lnTo>
                    <a:lnTo>
                      <a:pt x="201" y="260"/>
                    </a:lnTo>
                    <a:lnTo>
                      <a:pt x="189" y="243"/>
                    </a:lnTo>
                    <a:lnTo>
                      <a:pt x="177" y="225"/>
                    </a:lnTo>
                    <a:lnTo>
                      <a:pt x="167" y="207"/>
                    </a:lnTo>
                    <a:lnTo>
                      <a:pt x="157" y="188"/>
                    </a:lnTo>
                    <a:lnTo>
                      <a:pt x="148" y="169"/>
                    </a:lnTo>
                    <a:lnTo>
                      <a:pt x="140" y="149"/>
                    </a:lnTo>
                    <a:lnTo>
                      <a:pt x="134" y="129"/>
                    </a:lnTo>
                    <a:lnTo>
                      <a:pt x="127" y="109"/>
                    </a:lnTo>
                    <a:lnTo>
                      <a:pt x="123" y="88"/>
                    </a:lnTo>
                    <a:lnTo>
                      <a:pt x="120" y="67"/>
                    </a:lnTo>
                    <a:lnTo>
                      <a:pt x="117" y="45"/>
                    </a:lnTo>
                    <a:lnTo>
                      <a:pt x="114" y="24"/>
                    </a:lnTo>
                    <a:lnTo>
                      <a:pt x="114" y="0"/>
                    </a:lnTo>
                    <a:lnTo>
                      <a:pt x="0" y="0"/>
                    </a:lnTo>
                    <a:lnTo>
                      <a:pt x="2" y="29"/>
                    </a:lnTo>
                    <a:lnTo>
                      <a:pt x="3" y="56"/>
                    </a:lnTo>
                    <a:lnTo>
                      <a:pt x="7" y="84"/>
                    </a:lnTo>
                    <a:lnTo>
                      <a:pt x="12" y="110"/>
                    </a:lnTo>
                    <a:lnTo>
                      <a:pt x="17" y="137"/>
                    </a:lnTo>
                    <a:lnTo>
                      <a:pt x="25" y="163"/>
                    </a:lnTo>
                    <a:lnTo>
                      <a:pt x="34" y="188"/>
                    </a:lnTo>
                    <a:lnTo>
                      <a:pt x="44" y="213"/>
                    </a:lnTo>
                    <a:lnTo>
                      <a:pt x="54" y="238"/>
                    </a:lnTo>
                    <a:lnTo>
                      <a:pt x="67" y="261"/>
                    </a:lnTo>
                    <a:lnTo>
                      <a:pt x="80" y="284"/>
                    </a:lnTo>
                    <a:lnTo>
                      <a:pt x="95" y="306"/>
                    </a:lnTo>
                    <a:lnTo>
                      <a:pt x="109" y="328"/>
                    </a:lnTo>
                    <a:lnTo>
                      <a:pt x="126" y="349"/>
                    </a:lnTo>
                    <a:lnTo>
                      <a:pt x="143" y="368"/>
                    </a:lnTo>
                    <a:lnTo>
                      <a:pt x="161" y="387"/>
                    </a:lnTo>
                    <a:lnTo>
                      <a:pt x="180" y="405"/>
                    </a:lnTo>
                    <a:lnTo>
                      <a:pt x="199" y="422"/>
                    </a:lnTo>
                    <a:lnTo>
                      <a:pt x="220" y="439"/>
                    </a:lnTo>
                    <a:lnTo>
                      <a:pt x="242" y="453"/>
                    </a:lnTo>
                    <a:lnTo>
                      <a:pt x="265" y="468"/>
                    </a:lnTo>
                    <a:lnTo>
                      <a:pt x="287" y="481"/>
                    </a:lnTo>
                    <a:lnTo>
                      <a:pt x="310" y="494"/>
                    </a:lnTo>
                    <a:lnTo>
                      <a:pt x="335" y="504"/>
                    </a:lnTo>
                    <a:lnTo>
                      <a:pt x="360" y="515"/>
                    </a:lnTo>
                    <a:lnTo>
                      <a:pt x="385" y="522"/>
                    </a:lnTo>
                    <a:lnTo>
                      <a:pt x="411" y="530"/>
                    </a:lnTo>
                    <a:lnTo>
                      <a:pt x="437" y="535"/>
                    </a:lnTo>
                    <a:lnTo>
                      <a:pt x="465" y="541"/>
                    </a:lnTo>
                    <a:lnTo>
                      <a:pt x="492" y="545"/>
                    </a:lnTo>
                    <a:lnTo>
                      <a:pt x="520" y="546"/>
                    </a:lnTo>
                    <a:lnTo>
                      <a:pt x="549" y="547"/>
                    </a:lnTo>
                    <a:lnTo>
                      <a:pt x="549" y="434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5" name="Freeform 300"/>
              <p:cNvSpPr>
                <a:spLocks noChangeAspect="1" noChangeArrowheads="1"/>
              </p:cNvSpPr>
              <p:nvPr/>
            </p:nvSpPr>
            <p:spPr bwMode="auto">
              <a:xfrm>
                <a:off x="3739" y="170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6" name="Freeform 301"/>
              <p:cNvSpPr>
                <a:spLocks noChangeAspect="1" noChangeArrowheads="1"/>
              </p:cNvSpPr>
              <p:nvPr/>
            </p:nvSpPr>
            <p:spPr bwMode="auto">
              <a:xfrm>
                <a:off x="4033" y="1610"/>
                <a:ext cx="110" cy="110"/>
              </a:xfrm>
              <a:custGeom>
                <a:avLst/>
                <a:gdLst>
                  <a:gd name="T0" fmla="*/ 434 w 548"/>
                  <a:gd name="T1" fmla="*/ 0 h 547"/>
                  <a:gd name="T2" fmla="*/ 432 w 548"/>
                  <a:gd name="T3" fmla="*/ 45 h 547"/>
                  <a:gd name="T4" fmla="*/ 425 w 548"/>
                  <a:gd name="T5" fmla="*/ 88 h 547"/>
                  <a:gd name="T6" fmla="*/ 415 w 548"/>
                  <a:gd name="T7" fmla="*/ 129 h 547"/>
                  <a:gd name="T8" fmla="*/ 400 w 548"/>
                  <a:gd name="T9" fmla="*/ 169 h 547"/>
                  <a:gd name="T10" fmla="*/ 382 w 548"/>
                  <a:gd name="T11" fmla="*/ 207 h 547"/>
                  <a:gd name="T12" fmla="*/ 360 w 548"/>
                  <a:gd name="T13" fmla="*/ 243 h 547"/>
                  <a:gd name="T14" fmla="*/ 335 w 548"/>
                  <a:gd name="T15" fmla="*/ 276 h 547"/>
                  <a:gd name="T16" fmla="*/ 306 w 548"/>
                  <a:gd name="T17" fmla="*/ 307 h 547"/>
                  <a:gd name="T18" fmla="*/ 276 w 548"/>
                  <a:gd name="T19" fmla="*/ 334 h 547"/>
                  <a:gd name="T20" fmla="*/ 242 w 548"/>
                  <a:gd name="T21" fmla="*/ 359 h 547"/>
                  <a:gd name="T22" fmla="*/ 207 w 548"/>
                  <a:gd name="T23" fmla="*/ 381 h 547"/>
                  <a:gd name="T24" fmla="*/ 169 w 548"/>
                  <a:gd name="T25" fmla="*/ 400 h 547"/>
                  <a:gd name="T26" fmla="*/ 128 w 548"/>
                  <a:gd name="T27" fmla="*/ 414 h 547"/>
                  <a:gd name="T28" fmla="*/ 88 w 548"/>
                  <a:gd name="T29" fmla="*/ 425 h 547"/>
                  <a:gd name="T30" fmla="*/ 45 w 548"/>
                  <a:gd name="T31" fmla="*/ 431 h 547"/>
                  <a:gd name="T32" fmla="*/ 0 w 548"/>
                  <a:gd name="T33" fmla="*/ 434 h 547"/>
                  <a:gd name="T34" fmla="*/ 28 w 548"/>
                  <a:gd name="T35" fmla="*/ 546 h 547"/>
                  <a:gd name="T36" fmla="*/ 84 w 548"/>
                  <a:gd name="T37" fmla="*/ 541 h 547"/>
                  <a:gd name="T38" fmla="*/ 136 w 548"/>
                  <a:gd name="T39" fmla="*/ 530 h 547"/>
                  <a:gd name="T40" fmla="*/ 188 w 548"/>
                  <a:gd name="T41" fmla="*/ 515 h 547"/>
                  <a:gd name="T42" fmla="*/ 237 w 548"/>
                  <a:gd name="T43" fmla="*/ 494 h 547"/>
                  <a:gd name="T44" fmla="*/ 284 w 548"/>
                  <a:gd name="T45" fmla="*/ 468 h 547"/>
                  <a:gd name="T46" fmla="*/ 327 w 548"/>
                  <a:gd name="T47" fmla="*/ 439 h 547"/>
                  <a:gd name="T48" fmla="*/ 368 w 548"/>
                  <a:gd name="T49" fmla="*/ 405 h 547"/>
                  <a:gd name="T50" fmla="*/ 406 w 548"/>
                  <a:gd name="T51" fmla="*/ 368 h 547"/>
                  <a:gd name="T52" fmla="*/ 438 w 548"/>
                  <a:gd name="T53" fmla="*/ 328 h 547"/>
                  <a:gd name="T54" fmla="*/ 468 w 548"/>
                  <a:gd name="T55" fmla="*/ 284 h 547"/>
                  <a:gd name="T56" fmla="*/ 493 w 548"/>
                  <a:gd name="T57" fmla="*/ 238 h 547"/>
                  <a:gd name="T58" fmla="*/ 514 w 548"/>
                  <a:gd name="T59" fmla="*/ 188 h 547"/>
                  <a:gd name="T60" fmla="*/ 530 w 548"/>
                  <a:gd name="T61" fmla="*/ 137 h 547"/>
                  <a:gd name="T62" fmla="*/ 542 w 548"/>
                  <a:gd name="T63" fmla="*/ 84 h 547"/>
                  <a:gd name="T64" fmla="*/ 547 w 548"/>
                  <a:gd name="T65" fmla="*/ 29 h 547"/>
                  <a:gd name="T66" fmla="*/ 548 w 548"/>
                  <a:gd name="T6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48" h="547">
                    <a:moveTo>
                      <a:pt x="434" y="0"/>
                    </a:moveTo>
                    <a:lnTo>
                      <a:pt x="434" y="0"/>
                    </a:lnTo>
                    <a:lnTo>
                      <a:pt x="433" y="22"/>
                    </a:lnTo>
                    <a:lnTo>
                      <a:pt x="432" y="45"/>
                    </a:lnTo>
                    <a:lnTo>
                      <a:pt x="429" y="67"/>
                    </a:lnTo>
                    <a:lnTo>
                      <a:pt x="425" y="88"/>
                    </a:lnTo>
                    <a:lnTo>
                      <a:pt x="420" y="109"/>
                    </a:lnTo>
                    <a:lnTo>
                      <a:pt x="415" y="129"/>
                    </a:lnTo>
                    <a:lnTo>
                      <a:pt x="408" y="149"/>
                    </a:lnTo>
                    <a:lnTo>
                      <a:pt x="400" y="169"/>
                    </a:lnTo>
                    <a:lnTo>
                      <a:pt x="391" y="188"/>
                    </a:lnTo>
                    <a:lnTo>
                      <a:pt x="382" y="207"/>
                    </a:lnTo>
                    <a:lnTo>
                      <a:pt x="372" y="225"/>
                    </a:lnTo>
                    <a:lnTo>
                      <a:pt x="360" y="243"/>
                    </a:lnTo>
                    <a:lnTo>
                      <a:pt x="348" y="260"/>
                    </a:lnTo>
                    <a:lnTo>
                      <a:pt x="335" y="276"/>
                    </a:lnTo>
                    <a:lnTo>
                      <a:pt x="320" y="291"/>
                    </a:lnTo>
                    <a:lnTo>
                      <a:pt x="306" y="307"/>
                    </a:lnTo>
                    <a:lnTo>
                      <a:pt x="292" y="321"/>
                    </a:lnTo>
                    <a:lnTo>
                      <a:pt x="276" y="334"/>
                    </a:lnTo>
                    <a:lnTo>
                      <a:pt x="259" y="348"/>
                    </a:lnTo>
                    <a:lnTo>
                      <a:pt x="242" y="359"/>
                    </a:lnTo>
                    <a:lnTo>
                      <a:pt x="225" y="371"/>
                    </a:lnTo>
                    <a:lnTo>
                      <a:pt x="207" y="381"/>
                    </a:lnTo>
                    <a:lnTo>
                      <a:pt x="188" y="391"/>
                    </a:lnTo>
                    <a:lnTo>
                      <a:pt x="169" y="400"/>
                    </a:lnTo>
                    <a:lnTo>
                      <a:pt x="149" y="408"/>
                    </a:lnTo>
                    <a:lnTo>
                      <a:pt x="128" y="414"/>
                    </a:lnTo>
                    <a:lnTo>
                      <a:pt x="109" y="421"/>
                    </a:lnTo>
                    <a:lnTo>
                      <a:pt x="88" y="425"/>
                    </a:lnTo>
                    <a:lnTo>
                      <a:pt x="67" y="428"/>
                    </a:lnTo>
                    <a:lnTo>
                      <a:pt x="45" y="431"/>
                    </a:lnTo>
                    <a:lnTo>
                      <a:pt x="22" y="434"/>
                    </a:lnTo>
                    <a:lnTo>
                      <a:pt x="0" y="434"/>
                    </a:lnTo>
                    <a:lnTo>
                      <a:pt x="0" y="547"/>
                    </a:lnTo>
                    <a:lnTo>
                      <a:pt x="28" y="546"/>
                    </a:lnTo>
                    <a:lnTo>
                      <a:pt x="56" y="545"/>
                    </a:lnTo>
                    <a:lnTo>
                      <a:pt x="84" y="541"/>
                    </a:lnTo>
                    <a:lnTo>
                      <a:pt x="110" y="535"/>
                    </a:lnTo>
                    <a:lnTo>
                      <a:pt x="136" y="530"/>
                    </a:lnTo>
                    <a:lnTo>
                      <a:pt x="162" y="522"/>
                    </a:lnTo>
                    <a:lnTo>
                      <a:pt x="188" y="515"/>
                    </a:lnTo>
                    <a:lnTo>
                      <a:pt x="213" y="504"/>
                    </a:lnTo>
                    <a:lnTo>
                      <a:pt x="237" y="494"/>
                    </a:lnTo>
                    <a:lnTo>
                      <a:pt x="260" y="481"/>
                    </a:lnTo>
                    <a:lnTo>
                      <a:pt x="284" y="468"/>
                    </a:lnTo>
                    <a:lnTo>
                      <a:pt x="306" y="453"/>
                    </a:lnTo>
                    <a:lnTo>
                      <a:pt x="327" y="439"/>
                    </a:lnTo>
                    <a:lnTo>
                      <a:pt x="348" y="422"/>
                    </a:lnTo>
                    <a:lnTo>
                      <a:pt x="368" y="405"/>
                    </a:lnTo>
                    <a:lnTo>
                      <a:pt x="387" y="387"/>
                    </a:lnTo>
                    <a:lnTo>
                      <a:pt x="406" y="368"/>
                    </a:lnTo>
                    <a:lnTo>
                      <a:pt x="423" y="349"/>
                    </a:lnTo>
                    <a:lnTo>
                      <a:pt x="438" y="328"/>
                    </a:lnTo>
                    <a:lnTo>
                      <a:pt x="454" y="306"/>
                    </a:lnTo>
                    <a:lnTo>
                      <a:pt x="468" y="284"/>
                    </a:lnTo>
                    <a:lnTo>
                      <a:pt x="481" y="261"/>
                    </a:lnTo>
                    <a:lnTo>
                      <a:pt x="493" y="238"/>
                    </a:lnTo>
                    <a:lnTo>
                      <a:pt x="505" y="213"/>
                    </a:lnTo>
                    <a:lnTo>
                      <a:pt x="514" y="188"/>
                    </a:lnTo>
                    <a:lnTo>
                      <a:pt x="523" y="163"/>
                    </a:lnTo>
                    <a:lnTo>
                      <a:pt x="530" y="137"/>
                    </a:lnTo>
                    <a:lnTo>
                      <a:pt x="536" y="110"/>
                    </a:lnTo>
                    <a:lnTo>
                      <a:pt x="542" y="84"/>
                    </a:lnTo>
                    <a:lnTo>
                      <a:pt x="545" y="56"/>
                    </a:lnTo>
                    <a:lnTo>
                      <a:pt x="547" y="29"/>
                    </a:lnTo>
                    <a:lnTo>
                      <a:pt x="548" y="0"/>
                    </a:lnTo>
                    <a:lnTo>
                      <a:pt x="434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7" name="Freeform 302"/>
              <p:cNvSpPr>
                <a:spLocks noChangeAspect="1" noChangeArrowheads="1"/>
              </p:cNvSpPr>
              <p:nvPr/>
            </p:nvSpPr>
            <p:spPr bwMode="auto">
              <a:xfrm>
                <a:off x="4033" y="1501"/>
                <a:ext cx="110" cy="109"/>
              </a:xfrm>
              <a:custGeom>
                <a:avLst/>
                <a:gdLst>
                  <a:gd name="T0" fmla="*/ 22 w 548"/>
                  <a:gd name="T1" fmla="*/ 113 h 545"/>
                  <a:gd name="T2" fmla="*/ 67 w 548"/>
                  <a:gd name="T3" fmla="*/ 118 h 545"/>
                  <a:gd name="T4" fmla="*/ 109 w 548"/>
                  <a:gd name="T5" fmla="*/ 126 h 545"/>
                  <a:gd name="T6" fmla="*/ 149 w 548"/>
                  <a:gd name="T7" fmla="*/ 139 h 545"/>
                  <a:gd name="T8" fmla="*/ 188 w 548"/>
                  <a:gd name="T9" fmla="*/ 155 h 545"/>
                  <a:gd name="T10" fmla="*/ 225 w 548"/>
                  <a:gd name="T11" fmla="*/ 176 h 545"/>
                  <a:gd name="T12" fmla="*/ 259 w 548"/>
                  <a:gd name="T13" fmla="*/ 199 h 545"/>
                  <a:gd name="T14" fmla="*/ 292 w 548"/>
                  <a:gd name="T15" fmla="*/ 225 h 545"/>
                  <a:gd name="T16" fmla="*/ 320 w 548"/>
                  <a:gd name="T17" fmla="*/ 255 h 545"/>
                  <a:gd name="T18" fmla="*/ 348 w 548"/>
                  <a:gd name="T19" fmla="*/ 287 h 545"/>
                  <a:gd name="T20" fmla="*/ 372 w 548"/>
                  <a:gd name="T21" fmla="*/ 322 h 545"/>
                  <a:gd name="T22" fmla="*/ 391 w 548"/>
                  <a:gd name="T23" fmla="*/ 359 h 545"/>
                  <a:gd name="T24" fmla="*/ 408 w 548"/>
                  <a:gd name="T25" fmla="*/ 398 h 545"/>
                  <a:gd name="T26" fmla="*/ 420 w 548"/>
                  <a:gd name="T27" fmla="*/ 438 h 545"/>
                  <a:gd name="T28" fmla="*/ 429 w 548"/>
                  <a:gd name="T29" fmla="*/ 480 h 545"/>
                  <a:gd name="T30" fmla="*/ 433 w 548"/>
                  <a:gd name="T31" fmla="*/ 523 h 545"/>
                  <a:gd name="T32" fmla="*/ 548 w 548"/>
                  <a:gd name="T33" fmla="*/ 545 h 545"/>
                  <a:gd name="T34" fmla="*/ 545 w 548"/>
                  <a:gd name="T35" fmla="*/ 490 h 545"/>
                  <a:gd name="T36" fmla="*/ 536 w 548"/>
                  <a:gd name="T37" fmla="*/ 436 h 545"/>
                  <a:gd name="T38" fmla="*/ 523 w 548"/>
                  <a:gd name="T39" fmla="*/ 383 h 545"/>
                  <a:gd name="T40" fmla="*/ 505 w 548"/>
                  <a:gd name="T41" fmla="*/ 334 h 545"/>
                  <a:gd name="T42" fmla="*/ 481 w 548"/>
                  <a:gd name="T43" fmla="*/ 285 h 545"/>
                  <a:gd name="T44" fmla="*/ 454 w 548"/>
                  <a:gd name="T45" fmla="*/ 241 h 545"/>
                  <a:gd name="T46" fmla="*/ 423 w 548"/>
                  <a:gd name="T47" fmla="*/ 198 h 545"/>
                  <a:gd name="T48" fmla="*/ 387 w 548"/>
                  <a:gd name="T49" fmla="*/ 159 h 545"/>
                  <a:gd name="T50" fmla="*/ 348 w 548"/>
                  <a:gd name="T51" fmla="*/ 125 h 545"/>
                  <a:gd name="T52" fmla="*/ 306 w 548"/>
                  <a:gd name="T53" fmla="*/ 92 h 545"/>
                  <a:gd name="T54" fmla="*/ 260 w 548"/>
                  <a:gd name="T55" fmla="*/ 65 h 545"/>
                  <a:gd name="T56" fmla="*/ 213 w 548"/>
                  <a:gd name="T57" fmla="*/ 43 h 545"/>
                  <a:gd name="T58" fmla="*/ 162 w 548"/>
                  <a:gd name="T59" fmla="*/ 24 h 545"/>
                  <a:gd name="T60" fmla="*/ 110 w 548"/>
                  <a:gd name="T61" fmla="*/ 10 h 545"/>
                  <a:gd name="T62" fmla="*/ 56 w 548"/>
                  <a:gd name="T63" fmla="*/ 2 h 545"/>
                  <a:gd name="T64" fmla="*/ 0 w 548"/>
                  <a:gd name="T65" fmla="*/ 0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48" h="545">
                    <a:moveTo>
                      <a:pt x="0" y="113"/>
                    </a:moveTo>
                    <a:lnTo>
                      <a:pt x="22" y="113"/>
                    </a:lnTo>
                    <a:lnTo>
                      <a:pt x="45" y="114"/>
                    </a:lnTo>
                    <a:lnTo>
                      <a:pt x="67" y="118"/>
                    </a:lnTo>
                    <a:lnTo>
                      <a:pt x="88" y="121"/>
                    </a:lnTo>
                    <a:lnTo>
                      <a:pt x="109" y="126"/>
                    </a:lnTo>
                    <a:lnTo>
                      <a:pt x="128" y="133"/>
                    </a:lnTo>
                    <a:lnTo>
                      <a:pt x="149" y="139"/>
                    </a:lnTo>
                    <a:lnTo>
                      <a:pt x="169" y="147"/>
                    </a:lnTo>
                    <a:lnTo>
                      <a:pt x="188" y="155"/>
                    </a:lnTo>
                    <a:lnTo>
                      <a:pt x="207" y="165"/>
                    </a:lnTo>
                    <a:lnTo>
                      <a:pt x="225" y="176"/>
                    </a:lnTo>
                    <a:lnTo>
                      <a:pt x="242" y="186"/>
                    </a:lnTo>
                    <a:lnTo>
                      <a:pt x="259" y="199"/>
                    </a:lnTo>
                    <a:lnTo>
                      <a:pt x="276" y="212"/>
                    </a:lnTo>
                    <a:lnTo>
                      <a:pt x="292" y="225"/>
                    </a:lnTo>
                    <a:lnTo>
                      <a:pt x="306" y="240"/>
                    </a:lnTo>
                    <a:lnTo>
                      <a:pt x="320" y="255"/>
                    </a:lnTo>
                    <a:lnTo>
                      <a:pt x="335" y="271"/>
                    </a:lnTo>
                    <a:lnTo>
                      <a:pt x="348" y="287"/>
                    </a:lnTo>
                    <a:lnTo>
                      <a:pt x="360" y="304"/>
                    </a:lnTo>
                    <a:lnTo>
                      <a:pt x="372" y="322"/>
                    </a:lnTo>
                    <a:lnTo>
                      <a:pt x="382" y="340"/>
                    </a:lnTo>
                    <a:lnTo>
                      <a:pt x="391" y="359"/>
                    </a:lnTo>
                    <a:lnTo>
                      <a:pt x="400" y="378"/>
                    </a:lnTo>
                    <a:lnTo>
                      <a:pt x="408" y="398"/>
                    </a:lnTo>
                    <a:lnTo>
                      <a:pt x="415" y="417"/>
                    </a:lnTo>
                    <a:lnTo>
                      <a:pt x="420" y="438"/>
                    </a:lnTo>
                    <a:lnTo>
                      <a:pt x="425" y="459"/>
                    </a:lnTo>
                    <a:lnTo>
                      <a:pt x="429" y="480"/>
                    </a:lnTo>
                    <a:lnTo>
                      <a:pt x="432" y="502"/>
                    </a:lnTo>
                    <a:lnTo>
                      <a:pt x="433" y="523"/>
                    </a:lnTo>
                    <a:lnTo>
                      <a:pt x="434" y="545"/>
                    </a:lnTo>
                    <a:lnTo>
                      <a:pt x="548" y="545"/>
                    </a:lnTo>
                    <a:lnTo>
                      <a:pt x="547" y="518"/>
                    </a:lnTo>
                    <a:lnTo>
                      <a:pt x="545" y="490"/>
                    </a:lnTo>
                    <a:lnTo>
                      <a:pt x="542" y="463"/>
                    </a:lnTo>
                    <a:lnTo>
                      <a:pt x="536" y="436"/>
                    </a:lnTo>
                    <a:lnTo>
                      <a:pt x="530" y="409"/>
                    </a:lnTo>
                    <a:lnTo>
                      <a:pt x="523" y="383"/>
                    </a:lnTo>
                    <a:lnTo>
                      <a:pt x="514" y="359"/>
                    </a:lnTo>
                    <a:lnTo>
                      <a:pt x="505" y="334"/>
                    </a:lnTo>
                    <a:lnTo>
                      <a:pt x="493" y="309"/>
                    </a:lnTo>
                    <a:lnTo>
                      <a:pt x="481" y="285"/>
                    </a:lnTo>
                    <a:lnTo>
                      <a:pt x="468" y="262"/>
                    </a:lnTo>
                    <a:lnTo>
                      <a:pt x="454" y="241"/>
                    </a:lnTo>
                    <a:lnTo>
                      <a:pt x="438" y="219"/>
                    </a:lnTo>
                    <a:lnTo>
                      <a:pt x="423" y="198"/>
                    </a:lnTo>
                    <a:lnTo>
                      <a:pt x="406" y="178"/>
                    </a:lnTo>
                    <a:lnTo>
                      <a:pt x="387" y="159"/>
                    </a:lnTo>
                    <a:lnTo>
                      <a:pt x="368" y="142"/>
                    </a:lnTo>
                    <a:lnTo>
                      <a:pt x="348" y="125"/>
                    </a:lnTo>
                    <a:lnTo>
                      <a:pt x="327" y="108"/>
                    </a:lnTo>
                    <a:lnTo>
                      <a:pt x="306" y="92"/>
                    </a:lnTo>
                    <a:lnTo>
                      <a:pt x="284" y="79"/>
                    </a:lnTo>
                    <a:lnTo>
                      <a:pt x="260" y="65"/>
                    </a:lnTo>
                    <a:lnTo>
                      <a:pt x="237" y="53"/>
                    </a:lnTo>
                    <a:lnTo>
                      <a:pt x="213" y="43"/>
                    </a:lnTo>
                    <a:lnTo>
                      <a:pt x="188" y="32"/>
                    </a:lnTo>
                    <a:lnTo>
                      <a:pt x="162" y="24"/>
                    </a:lnTo>
                    <a:lnTo>
                      <a:pt x="136" y="17"/>
                    </a:lnTo>
                    <a:lnTo>
                      <a:pt x="110" y="10"/>
                    </a:lnTo>
                    <a:lnTo>
                      <a:pt x="84" y="5"/>
                    </a:lnTo>
                    <a:lnTo>
                      <a:pt x="56" y="2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8" name="Freeform 303"/>
              <p:cNvSpPr>
                <a:spLocks noChangeAspect="1" noChangeArrowheads="1"/>
              </p:cNvSpPr>
              <p:nvPr/>
            </p:nvSpPr>
            <p:spPr bwMode="auto">
              <a:xfrm>
                <a:off x="4033" y="1513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9" name="Rectangle 304"/>
              <p:cNvSpPr>
                <a:spLocks noChangeAspect="1" noChangeArrowheads="1"/>
              </p:cNvSpPr>
              <p:nvPr/>
            </p:nvSpPr>
            <p:spPr bwMode="auto">
              <a:xfrm>
                <a:off x="1942" y="1453"/>
                <a:ext cx="590" cy="22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0" name="Rectangle 305"/>
              <p:cNvSpPr>
                <a:spLocks noChangeAspect="1" noChangeArrowheads="1"/>
              </p:cNvSpPr>
              <p:nvPr/>
            </p:nvSpPr>
            <p:spPr bwMode="auto">
              <a:xfrm>
                <a:off x="1942" y="1746"/>
                <a:ext cx="590" cy="22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1" name="Rectangle 306"/>
              <p:cNvSpPr>
                <a:spLocks noChangeAspect="1" noChangeArrowheads="1"/>
              </p:cNvSpPr>
              <p:nvPr/>
            </p:nvSpPr>
            <p:spPr bwMode="auto">
              <a:xfrm>
                <a:off x="3739" y="1501"/>
                <a:ext cx="146" cy="2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2" name="Rectangle 307"/>
              <p:cNvSpPr>
                <a:spLocks noChangeAspect="1" noChangeArrowheads="1"/>
              </p:cNvSpPr>
              <p:nvPr/>
            </p:nvSpPr>
            <p:spPr bwMode="auto">
              <a:xfrm>
                <a:off x="3885" y="1501"/>
                <a:ext cx="148" cy="2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3" name="Rectangle 308"/>
              <p:cNvSpPr>
                <a:spLocks noChangeAspect="1" noChangeArrowheads="1"/>
              </p:cNvSpPr>
              <p:nvPr/>
            </p:nvSpPr>
            <p:spPr bwMode="auto">
              <a:xfrm>
                <a:off x="3739" y="1697"/>
                <a:ext cx="294" cy="2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4" name="Freeform 309"/>
              <p:cNvSpPr>
                <a:spLocks noChangeAspect="1" noChangeArrowheads="1"/>
              </p:cNvSpPr>
              <p:nvPr/>
            </p:nvSpPr>
            <p:spPr bwMode="auto">
              <a:xfrm>
                <a:off x="950" y="1217"/>
                <a:ext cx="51" cy="46"/>
              </a:xfrm>
              <a:custGeom>
                <a:avLst/>
                <a:gdLst>
                  <a:gd name="T0" fmla="*/ 253 w 253"/>
                  <a:gd name="T1" fmla="*/ 116 h 229"/>
                  <a:gd name="T2" fmla="*/ 253 w 253"/>
                  <a:gd name="T3" fmla="*/ 116 h 229"/>
                  <a:gd name="T4" fmla="*/ 240 w 253"/>
                  <a:gd name="T5" fmla="*/ 114 h 229"/>
                  <a:gd name="T6" fmla="*/ 228 w 253"/>
                  <a:gd name="T7" fmla="*/ 113 h 229"/>
                  <a:gd name="T8" fmla="*/ 215 w 253"/>
                  <a:gd name="T9" fmla="*/ 111 h 229"/>
                  <a:gd name="T10" fmla="*/ 203 w 253"/>
                  <a:gd name="T11" fmla="*/ 107 h 229"/>
                  <a:gd name="T12" fmla="*/ 193 w 253"/>
                  <a:gd name="T13" fmla="*/ 101 h 229"/>
                  <a:gd name="T14" fmla="*/ 181 w 253"/>
                  <a:gd name="T15" fmla="*/ 96 h 229"/>
                  <a:gd name="T16" fmla="*/ 172 w 253"/>
                  <a:gd name="T17" fmla="*/ 90 h 229"/>
                  <a:gd name="T18" fmla="*/ 161 w 253"/>
                  <a:gd name="T19" fmla="*/ 83 h 229"/>
                  <a:gd name="T20" fmla="*/ 152 w 253"/>
                  <a:gd name="T21" fmla="*/ 74 h 229"/>
                  <a:gd name="T22" fmla="*/ 144 w 253"/>
                  <a:gd name="T23" fmla="*/ 66 h 229"/>
                  <a:gd name="T24" fmla="*/ 136 w 253"/>
                  <a:gd name="T25" fmla="*/ 56 h 229"/>
                  <a:gd name="T26" fmla="*/ 130 w 253"/>
                  <a:gd name="T27" fmla="*/ 47 h 229"/>
                  <a:gd name="T28" fmla="*/ 125 w 253"/>
                  <a:gd name="T29" fmla="*/ 35 h 229"/>
                  <a:gd name="T30" fmla="*/ 119 w 253"/>
                  <a:gd name="T31" fmla="*/ 24 h 229"/>
                  <a:gd name="T32" fmla="*/ 115 w 253"/>
                  <a:gd name="T33" fmla="*/ 13 h 229"/>
                  <a:gd name="T34" fmla="*/ 111 w 253"/>
                  <a:gd name="T35" fmla="*/ 0 h 229"/>
                  <a:gd name="T36" fmla="*/ 0 w 253"/>
                  <a:gd name="T37" fmla="*/ 20 h 229"/>
                  <a:gd name="T38" fmla="*/ 5 w 253"/>
                  <a:gd name="T39" fmla="*/ 43 h 229"/>
                  <a:gd name="T40" fmla="*/ 12 w 253"/>
                  <a:gd name="T41" fmla="*/ 65 h 229"/>
                  <a:gd name="T42" fmla="*/ 21 w 253"/>
                  <a:gd name="T43" fmla="*/ 84 h 229"/>
                  <a:gd name="T44" fmla="*/ 32 w 253"/>
                  <a:gd name="T45" fmla="*/ 104 h 229"/>
                  <a:gd name="T46" fmla="*/ 45 w 253"/>
                  <a:gd name="T47" fmla="*/ 122 h 229"/>
                  <a:gd name="T48" fmla="*/ 58 w 253"/>
                  <a:gd name="T49" fmla="*/ 139 h 229"/>
                  <a:gd name="T50" fmla="*/ 74 w 253"/>
                  <a:gd name="T51" fmla="*/ 156 h 229"/>
                  <a:gd name="T52" fmla="*/ 89 w 253"/>
                  <a:gd name="T53" fmla="*/ 171 h 229"/>
                  <a:gd name="T54" fmla="*/ 106 w 253"/>
                  <a:gd name="T55" fmla="*/ 184 h 229"/>
                  <a:gd name="T56" fmla="*/ 125 w 253"/>
                  <a:gd name="T57" fmla="*/ 195 h 229"/>
                  <a:gd name="T58" fmla="*/ 144 w 253"/>
                  <a:gd name="T59" fmla="*/ 205 h 229"/>
                  <a:gd name="T60" fmla="*/ 165 w 253"/>
                  <a:gd name="T61" fmla="*/ 214 h 229"/>
                  <a:gd name="T62" fmla="*/ 186 w 253"/>
                  <a:gd name="T63" fmla="*/ 220 h 229"/>
                  <a:gd name="T64" fmla="*/ 208 w 253"/>
                  <a:gd name="T65" fmla="*/ 225 h 229"/>
                  <a:gd name="T66" fmla="*/ 230 w 253"/>
                  <a:gd name="T67" fmla="*/ 228 h 229"/>
                  <a:gd name="T68" fmla="*/ 253 w 253"/>
                  <a:gd name="T69" fmla="*/ 229 h 229"/>
                  <a:gd name="T70" fmla="*/ 253 w 253"/>
                  <a:gd name="T71" fmla="*/ 229 h 229"/>
                  <a:gd name="T72" fmla="*/ 253 w 253"/>
                  <a:gd name="T73" fmla="*/ 116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3" h="229">
                    <a:moveTo>
                      <a:pt x="253" y="116"/>
                    </a:moveTo>
                    <a:lnTo>
                      <a:pt x="253" y="116"/>
                    </a:lnTo>
                    <a:lnTo>
                      <a:pt x="240" y="114"/>
                    </a:lnTo>
                    <a:lnTo>
                      <a:pt x="228" y="113"/>
                    </a:lnTo>
                    <a:lnTo>
                      <a:pt x="215" y="111"/>
                    </a:lnTo>
                    <a:lnTo>
                      <a:pt x="203" y="107"/>
                    </a:lnTo>
                    <a:lnTo>
                      <a:pt x="193" y="101"/>
                    </a:lnTo>
                    <a:lnTo>
                      <a:pt x="181" y="96"/>
                    </a:lnTo>
                    <a:lnTo>
                      <a:pt x="172" y="90"/>
                    </a:lnTo>
                    <a:lnTo>
                      <a:pt x="161" y="83"/>
                    </a:lnTo>
                    <a:lnTo>
                      <a:pt x="152" y="74"/>
                    </a:lnTo>
                    <a:lnTo>
                      <a:pt x="144" y="66"/>
                    </a:lnTo>
                    <a:lnTo>
                      <a:pt x="136" y="56"/>
                    </a:lnTo>
                    <a:lnTo>
                      <a:pt x="130" y="47"/>
                    </a:lnTo>
                    <a:lnTo>
                      <a:pt x="125" y="35"/>
                    </a:lnTo>
                    <a:lnTo>
                      <a:pt x="119" y="24"/>
                    </a:lnTo>
                    <a:lnTo>
                      <a:pt x="115" y="13"/>
                    </a:lnTo>
                    <a:lnTo>
                      <a:pt x="111" y="0"/>
                    </a:lnTo>
                    <a:lnTo>
                      <a:pt x="0" y="20"/>
                    </a:lnTo>
                    <a:lnTo>
                      <a:pt x="5" y="43"/>
                    </a:lnTo>
                    <a:lnTo>
                      <a:pt x="12" y="65"/>
                    </a:lnTo>
                    <a:lnTo>
                      <a:pt x="21" y="84"/>
                    </a:lnTo>
                    <a:lnTo>
                      <a:pt x="32" y="104"/>
                    </a:lnTo>
                    <a:lnTo>
                      <a:pt x="45" y="122"/>
                    </a:lnTo>
                    <a:lnTo>
                      <a:pt x="58" y="139"/>
                    </a:lnTo>
                    <a:lnTo>
                      <a:pt x="74" y="156"/>
                    </a:lnTo>
                    <a:lnTo>
                      <a:pt x="89" y="171"/>
                    </a:lnTo>
                    <a:lnTo>
                      <a:pt x="106" y="184"/>
                    </a:lnTo>
                    <a:lnTo>
                      <a:pt x="125" y="195"/>
                    </a:lnTo>
                    <a:lnTo>
                      <a:pt x="144" y="205"/>
                    </a:lnTo>
                    <a:lnTo>
                      <a:pt x="165" y="214"/>
                    </a:lnTo>
                    <a:lnTo>
                      <a:pt x="186" y="220"/>
                    </a:lnTo>
                    <a:lnTo>
                      <a:pt x="208" y="225"/>
                    </a:lnTo>
                    <a:lnTo>
                      <a:pt x="230" y="228"/>
                    </a:lnTo>
                    <a:lnTo>
                      <a:pt x="253" y="229"/>
                    </a:lnTo>
                    <a:lnTo>
                      <a:pt x="253" y="116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5" name="Freeform 310"/>
              <p:cNvSpPr>
                <a:spLocks noChangeAspect="1" noChangeArrowheads="1"/>
              </p:cNvSpPr>
              <p:nvPr/>
            </p:nvSpPr>
            <p:spPr bwMode="auto">
              <a:xfrm>
                <a:off x="1001" y="1217"/>
                <a:ext cx="50" cy="46"/>
              </a:xfrm>
              <a:custGeom>
                <a:avLst/>
                <a:gdLst>
                  <a:gd name="T0" fmla="*/ 141 w 252"/>
                  <a:gd name="T1" fmla="*/ 0 h 229"/>
                  <a:gd name="T2" fmla="*/ 137 w 252"/>
                  <a:gd name="T3" fmla="*/ 11 h 229"/>
                  <a:gd name="T4" fmla="*/ 133 w 252"/>
                  <a:gd name="T5" fmla="*/ 23 h 229"/>
                  <a:gd name="T6" fmla="*/ 129 w 252"/>
                  <a:gd name="T7" fmla="*/ 35 h 229"/>
                  <a:gd name="T8" fmla="*/ 123 w 252"/>
                  <a:gd name="T9" fmla="*/ 45 h 229"/>
                  <a:gd name="T10" fmla="*/ 116 w 252"/>
                  <a:gd name="T11" fmla="*/ 56 h 229"/>
                  <a:gd name="T12" fmla="*/ 108 w 252"/>
                  <a:gd name="T13" fmla="*/ 65 h 229"/>
                  <a:gd name="T14" fmla="*/ 100 w 252"/>
                  <a:gd name="T15" fmla="*/ 74 h 229"/>
                  <a:gd name="T16" fmla="*/ 91 w 252"/>
                  <a:gd name="T17" fmla="*/ 82 h 229"/>
                  <a:gd name="T18" fmla="*/ 82 w 252"/>
                  <a:gd name="T19" fmla="*/ 90 h 229"/>
                  <a:gd name="T20" fmla="*/ 72 w 252"/>
                  <a:gd name="T21" fmla="*/ 96 h 229"/>
                  <a:gd name="T22" fmla="*/ 60 w 252"/>
                  <a:gd name="T23" fmla="*/ 103 h 229"/>
                  <a:gd name="T24" fmla="*/ 49 w 252"/>
                  <a:gd name="T25" fmla="*/ 107 h 229"/>
                  <a:gd name="T26" fmla="*/ 38 w 252"/>
                  <a:gd name="T27" fmla="*/ 111 h 229"/>
                  <a:gd name="T28" fmla="*/ 25 w 252"/>
                  <a:gd name="T29" fmla="*/ 113 h 229"/>
                  <a:gd name="T30" fmla="*/ 13 w 252"/>
                  <a:gd name="T31" fmla="*/ 114 h 229"/>
                  <a:gd name="T32" fmla="*/ 0 w 252"/>
                  <a:gd name="T33" fmla="*/ 116 h 229"/>
                  <a:gd name="T34" fmla="*/ 0 w 252"/>
                  <a:gd name="T35" fmla="*/ 229 h 229"/>
                  <a:gd name="T36" fmla="*/ 22 w 252"/>
                  <a:gd name="T37" fmla="*/ 228 h 229"/>
                  <a:gd name="T38" fmla="*/ 45 w 252"/>
                  <a:gd name="T39" fmla="*/ 225 h 229"/>
                  <a:gd name="T40" fmla="*/ 66 w 252"/>
                  <a:gd name="T41" fmla="*/ 220 h 229"/>
                  <a:gd name="T42" fmla="*/ 89 w 252"/>
                  <a:gd name="T43" fmla="*/ 214 h 229"/>
                  <a:gd name="T44" fmla="*/ 108 w 252"/>
                  <a:gd name="T45" fmla="*/ 205 h 229"/>
                  <a:gd name="T46" fmla="*/ 128 w 252"/>
                  <a:gd name="T47" fmla="*/ 195 h 229"/>
                  <a:gd name="T48" fmla="*/ 146 w 252"/>
                  <a:gd name="T49" fmla="*/ 184 h 229"/>
                  <a:gd name="T50" fmla="*/ 165 w 252"/>
                  <a:gd name="T51" fmla="*/ 169 h 229"/>
                  <a:gd name="T52" fmla="*/ 180 w 252"/>
                  <a:gd name="T53" fmla="*/ 155 h 229"/>
                  <a:gd name="T54" fmla="*/ 195 w 252"/>
                  <a:gd name="T55" fmla="*/ 139 h 229"/>
                  <a:gd name="T56" fmla="*/ 209 w 252"/>
                  <a:gd name="T57" fmla="*/ 122 h 229"/>
                  <a:gd name="T58" fmla="*/ 221 w 252"/>
                  <a:gd name="T59" fmla="*/ 104 h 229"/>
                  <a:gd name="T60" fmla="*/ 231 w 252"/>
                  <a:gd name="T61" fmla="*/ 84 h 229"/>
                  <a:gd name="T62" fmla="*/ 240 w 252"/>
                  <a:gd name="T63" fmla="*/ 64 h 229"/>
                  <a:gd name="T64" fmla="*/ 247 w 252"/>
                  <a:gd name="T65" fmla="*/ 41 h 229"/>
                  <a:gd name="T66" fmla="*/ 252 w 252"/>
                  <a:gd name="T67" fmla="*/ 19 h 229"/>
                  <a:gd name="T68" fmla="*/ 141 w 252"/>
                  <a:gd name="T69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2" h="229">
                    <a:moveTo>
                      <a:pt x="141" y="0"/>
                    </a:moveTo>
                    <a:lnTo>
                      <a:pt x="137" y="11"/>
                    </a:lnTo>
                    <a:lnTo>
                      <a:pt x="133" y="23"/>
                    </a:lnTo>
                    <a:lnTo>
                      <a:pt x="129" y="35"/>
                    </a:lnTo>
                    <a:lnTo>
                      <a:pt x="123" y="45"/>
                    </a:lnTo>
                    <a:lnTo>
                      <a:pt x="116" y="56"/>
                    </a:lnTo>
                    <a:lnTo>
                      <a:pt x="108" y="65"/>
                    </a:lnTo>
                    <a:lnTo>
                      <a:pt x="100" y="74"/>
                    </a:lnTo>
                    <a:lnTo>
                      <a:pt x="91" y="82"/>
                    </a:lnTo>
                    <a:lnTo>
                      <a:pt x="82" y="90"/>
                    </a:lnTo>
                    <a:lnTo>
                      <a:pt x="72" y="96"/>
                    </a:lnTo>
                    <a:lnTo>
                      <a:pt x="60" y="103"/>
                    </a:lnTo>
                    <a:lnTo>
                      <a:pt x="49" y="107"/>
                    </a:lnTo>
                    <a:lnTo>
                      <a:pt x="38" y="111"/>
                    </a:lnTo>
                    <a:lnTo>
                      <a:pt x="25" y="113"/>
                    </a:lnTo>
                    <a:lnTo>
                      <a:pt x="13" y="114"/>
                    </a:lnTo>
                    <a:lnTo>
                      <a:pt x="0" y="116"/>
                    </a:lnTo>
                    <a:lnTo>
                      <a:pt x="0" y="229"/>
                    </a:lnTo>
                    <a:lnTo>
                      <a:pt x="22" y="228"/>
                    </a:lnTo>
                    <a:lnTo>
                      <a:pt x="45" y="225"/>
                    </a:lnTo>
                    <a:lnTo>
                      <a:pt x="66" y="220"/>
                    </a:lnTo>
                    <a:lnTo>
                      <a:pt x="89" y="214"/>
                    </a:lnTo>
                    <a:lnTo>
                      <a:pt x="108" y="205"/>
                    </a:lnTo>
                    <a:lnTo>
                      <a:pt x="128" y="195"/>
                    </a:lnTo>
                    <a:lnTo>
                      <a:pt x="146" y="184"/>
                    </a:lnTo>
                    <a:lnTo>
                      <a:pt x="165" y="169"/>
                    </a:lnTo>
                    <a:lnTo>
                      <a:pt x="180" y="155"/>
                    </a:lnTo>
                    <a:lnTo>
                      <a:pt x="195" y="139"/>
                    </a:lnTo>
                    <a:lnTo>
                      <a:pt x="209" y="122"/>
                    </a:lnTo>
                    <a:lnTo>
                      <a:pt x="221" y="104"/>
                    </a:lnTo>
                    <a:lnTo>
                      <a:pt x="231" y="84"/>
                    </a:lnTo>
                    <a:lnTo>
                      <a:pt x="240" y="64"/>
                    </a:lnTo>
                    <a:lnTo>
                      <a:pt x="247" y="41"/>
                    </a:lnTo>
                    <a:lnTo>
                      <a:pt x="252" y="19"/>
                    </a:ln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6" name="Freeform 311"/>
              <p:cNvSpPr>
                <a:spLocks noChangeAspect="1" noChangeArrowheads="1"/>
              </p:cNvSpPr>
              <p:nvPr/>
            </p:nvSpPr>
            <p:spPr bwMode="auto">
              <a:xfrm>
                <a:off x="1001" y="1958"/>
                <a:ext cx="50" cy="46"/>
              </a:xfrm>
              <a:custGeom>
                <a:avLst/>
                <a:gdLst>
                  <a:gd name="T0" fmla="*/ 0 w 252"/>
                  <a:gd name="T1" fmla="*/ 114 h 230"/>
                  <a:gd name="T2" fmla="*/ 0 w 252"/>
                  <a:gd name="T3" fmla="*/ 114 h 230"/>
                  <a:gd name="T4" fmla="*/ 13 w 252"/>
                  <a:gd name="T5" fmla="*/ 114 h 230"/>
                  <a:gd name="T6" fmla="*/ 25 w 252"/>
                  <a:gd name="T7" fmla="*/ 117 h 230"/>
                  <a:gd name="T8" fmla="*/ 38 w 252"/>
                  <a:gd name="T9" fmla="*/ 119 h 230"/>
                  <a:gd name="T10" fmla="*/ 49 w 252"/>
                  <a:gd name="T11" fmla="*/ 123 h 230"/>
                  <a:gd name="T12" fmla="*/ 60 w 252"/>
                  <a:gd name="T13" fmla="*/ 127 h 230"/>
                  <a:gd name="T14" fmla="*/ 72 w 252"/>
                  <a:gd name="T15" fmla="*/ 134 h 230"/>
                  <a:gd name="T16" fmla="*/ 81 w 252"/>
                  <a:gd name="T17" fmla="*/ 139 h 230"/>
                  <a:gd name="T18" fmla="*/ 91 w 252"/>
                  <a:gd name="T19" fmla="*/ 147 h 230"/>
                  <a:gd name="T20" fmla="*/ 100 w 252"/>
                  <a:gd name="T21" fmla="*/ 155 h 230"/>
                  <a:gd name="T22" fmla="*/ 108 w 252"/>
                  <a:gd name="T23" fmla="*/ 164 h 230"/>
                  <a:gd name="T24" fmla="*/ 116 w 252"/>
                  <a:gd name="T25" fmla="*/ 173 h 230"/>
                  <a:gd name="T26" fmla="*/ 123 w 252"/>
                  <a:gd name="T27" fmla="*/ 183 h 230"/>
                  <a:gd name="T28" fmla="*/ 128 w 252"/>
                  <a:gd name="T29" fmla="*/ 194 h 230"/>
                  <a:gd name="T30" fmla="*/ 133 w 252"/>
                  <a:gd name="T31" fmla="*/ 205 h 230"/>
                  <a:gd name="T32" fmla="*/ 137 w 252"/>
                  <a:gd name="T33" fmla="*/ 217 h 230"/>
                  <a:gd name="T34" fmla="*/ 141 w 252"/>
                  <a:gd name="T35" fmla="*/ 230 h 230"/>
                  <a:gd name="T36" fmla="*/ 252 w 252"/>
                  <a:gd name="T37" fmla="*/ 209 h 230"/>
                  <a:gd name="T38" fmla="*/ 247 w 252"/>
                  <a:gd name="T39" fmla="*/ 186 h 230"/>
                  <a:gd name="T40" fmla="*/ 240 w 252"/>
                  <a:gd name="T41" fmla="*/ 165 h 230"/>
                  <a:gd name="T42" fmla="*/ 231 w 252"/>
                  <a:gd name="T43" fmla="*/ 145 h 230"/>
                  <a:gd name="T44" fmla="*/ 221 w 252"/>
                  <a:gd name="T45" fmla="*/ 126 h 230"/>
                  <a:gd name="T46" fmla="*/ 208 w 252"/>
                  <a:gd name="T47" fmla="*/ 108 h 230"/>
                  <a:gd name="T48" fmla="*/ 195 w 252"/>
                  <a:gd name="T49" fmla="*/ 89 h 230"/>
                  <a:gd name="T50" fmla="*/ 180 w 252"/>
                  <a:gd name="T51" fmla="*/ 74 h 230"/>
                  <a:gd name="T52" fmla="*/ 163 w 252"/>
                  <a:gd name="T53" fmla="*/ 59 h 230"/>
                  <a:gd name="T54" fmla="*/ 146 w 252"/>
                  <a:gd name="T55" fmla="*/ 46 h 230"/>
                  <a:gd name="T56" fmla="*/ 128 w 252"/>
                  <a:gd name="T57" fmla="*/ 34 h 230"/>
                  <a:gd name="T58" fmla="*/ 108 w 252"/>
                  <a:gd name="T59" fmla="*/ 24 h 230"/>
                  <a:gd name="T60" fmla="*/ 87 w 252"/>
                  <a:gd name="T61" fmla="*/ 16 h 230"/>
                  <a:gd name="T62" fmla="*/ 66 w 252"/>
                  <a:gd name="T63" fmla="*/ 10 h 230"/>
                  <a:gd name="T64" fmla="*/ 44 w 252"/>
                  <a:gd name="T65" fmla="*/ 4 h 230"/>
                  <a:gd name="T66" fmla="*/ 22 w 252"/>
                  <a:gd name="T67" fmla="*/ 2 h 230"/>
                  <a:gd name="T68" fmla="*/ 0 w 252"/>
                  <a:gd name="T69" fmla="*/ 0 h 230"/>
                  <a:gd name="T70" fmla="*/ 0 w 252"/>
                  <a:gd name="T71" fmla="*/ 0 h 230"/>
                  <a:gd name="T72" fmla="*/ 0 w 252"/>
                  <a:gd name="T73" fmla="*/ 114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2" h="230">
                    <a:moveTo>
                      <a:pt x="0" y="114"/>
                    </a:moveTo>
                    <a:lnTo>
                      <a:pt x="0" y="114"/>
                    </a:lnTo>
                    <a:lnTo>
                      <a:pt x="13" y="114"/>
                    </a:lnTo>
                    <a:lnTo>
                      <a:pt x="25" y="117"/>
                    </a:lnTo>
                    <a:lnTo>
                      <a:pt x="38" y="119"/>
                    </a:lnTo>
                    <a:lnTo>
                      <a:pt x="49" y="123"/>
                    </a:lnTo>
                    <a:lnTo>
                      <a:pt x="60" y="127"/>
                    </a:lnTo>
                    <a:lnTo>
                      <a:pt x="72" y="134"/>
                    </a:lnTo>
                    <a:lnTo>
                      <a:pt x="81" y="139"/>
                    </a:lnTo>
                    <a:lnTo>
                      <a:pt x="91" y="147"/>
                    </a:lnTo>
                    <a:lnTo>
                      <a:pt x="100" y="155"/>
                    </a:lnTo>
                    <a:lnTo>
                      <a:pt x="108" y="164"/>
                    </a:lnTo>
                    <a:lnTo>
                      <a:pt x="116" y="173"/>
                    </a:lnTo>
                    <a:lnTo>
                      <a:pt x="123" y="183"/>
                    </a:lnTo>
                    <a:lnTo>
                      <a:pt x="128" y="194"/>
                    </a:lnTo>
                    <a:lnTo>
                      <a:pt x="133" y="205"/>
                    </a:lnTo>
                    <a:lnTo>
                      <a:pt x="137" y="217"/>
                    </a:lnTo>
                    <a:lnTo>
                      <a:pt x="141" y="230"/>
                    </a:lnTo>
                    <a:lnTo>
                      <a:pt x="252" y="209"/>
                    </a:lnTo>
                    <a:lnTo>
                      <a:pt x="247" y="186"/>
                    </a:lnTo>
                    <a:lnTo>
                      <a:pt x="240" y="165"/>
                    </a:lnTo>
                    <a:lnTo>
                      <a:pt x="231" y="145"/>
                    </a:lnTo>
                    <a:lnTo>
                      <a:pt x="221" y="126"/>
                    </a:lnTo>
                    <a:lnTo>
                      <a:pt x="208" y="108"/>
                    </a:lnTo>
                    <a:lnTo>
                      <a:pt x="195" y="89"/>
                    </a:lnTo>
                    <a:lnTo>
                      <a:pt x="180" y="74"/>
                    </a:lnTo>
                    <a:lnTo>
                      <a:pt x="163" y="59"/>
                    </a:lnTo>
                    <a:lnTo>
                      <a:pt x="146" y="46"/>
                    </a:lnTo>
                    <a:lnTo>
                      <a:pt x="128" y="34"/>
                    </a:lnTo>
                    <a:lnTo>
                      <a:pt x="108" y="24"/>
                    </a:lnTo>
                    <a:lnTo>
                      <a:pt x="87" y="16"/>
                    </a:lnTo>
                    <a:lnTo>
                      <a:pt x="66" y="10"/>
                    </a:lnTo>
                    <a:lnTo>
                      <a:pt x="44" y="4"/>
                    </a:lnTo>
                    <a:lnTo>
                      <a:pt x="22" y="2"/>
                    </a:lnTo>
                    <a:lnTo>
                      <a:pt x="0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7" name="Freeform 312"/>
              <p:cNvSpPr>
                <a:spLocks noChangeAspect="1" noChangeArrowheads="1"/>
              </p:cNvSpPr>
              <p:nvPr/>
            </p:nvSpPr>
            <p:spPr bwMode="auto">
              <a:xfrm>
                <a:off x="950" y="1958"/>
                <a:ext cx="51" cy="46"/>
              </a:xfrm>
              <a:custGeom>
                <a:avLst/>
                <a:gdLst>
                  <a:gd name="T0" fmla="*/ 111 w 253"/>
                  <a:gd name="T1" fmla="*/ 230 h 230"/>
                  <a:gd name="T2" fmla="*/ 115 w 253"/>
                  <a:gd name="T3" fmla="*/ 218 h 230"/>
                  <a:gd name="T4" fmla="*/ 119 w 253"/>
                  <a:gd name="T5" fmla="*/ 205 h 230"/>
                  <a:gd name="T6" fmla="*/ 123 w 253"/>
                  <a:gd name="T7" fmla="*/ 195 h 230"/>
                  <a:gd name="T8" fmla="*/ 130 w 253"/>
                  <a:gd name="T9" fmla="*/ 183 h 230"/>
                  <a:gd name="T10" fmla="*/ 136 w 253"/>
                  <a:gd name="T11" fmla="*/ 174 h 230"/>
                  <a:gd name="T12" fmla="*/ 144 w 253"/>
                  <a:gd name="T13" fmla="*/ 164 h 230"/>
                  <a:gd name="T14" fmla="*/ 152 w 253"/>
                  <a:gd name="T15" fmla="*/ 156 h 230"/>
                  <a:gd name="T16" fmla="*/ 161 w 253"/>
                  <a:gd name="T17" fmla="*/ 147 h 230"/>
                  <a:gd name="T18" fmla="*/ 172 w 253"/>
                  <a:gd name="T19" fmla="*/ 140 h 230"/>
                  <a:gd name="T20" fmla="*/ 181 w 253"/>
                  <a:gd name="T21" fmla="*/ 134 h 230"/>
                  <a:gd name="T22" fmla="*/ 193 w 253"/>
                  <a:gd name="T23" fmla="*/ 127 h 230"/>
                  <a:gd name="T24" fmla="*/ 203 w 253"/>
                  <a:gd name="T25" fmla="*/ 123 h 230"/>
                  <a:gd name="T26" fmla="*/ 215 w 253"/>
                  <a:gd name="T27" fmla="*/ 119 h 230"/>
                  <a:gd name="T28" fmla="*/ 228 w 253"/>
                  <a:gd name="T29" fmla="*/ 117 h 230"/>
                  <a:gd name="T30" fmla="*/ 240 w 253"/>
                  <a:gd name="T31" fmla="*/ 114 h 230"/>
                  <a:gd name="T32" fmla="*/ 253 w 253"/>
                  <a:gd name="T33" fmla="*/ 114 h 230"/>
                  <a:gd name="T34" fmla="*/ 253 w 253"/>
                  <a:gd name="T35" fmla="*/ 0 h 230"/>
                  <a:gd name="T36" fmla="*/ 230 w 253"/>
                  <a:gd name="T37" fmla="*/ 2 h 230"/>
                  <a:gd name="T38" fmla="*/ 207 w 253"/>
                  <a:gd name="T39" fmla="*/ 4 h 230"/>
                  <a:gd name="T40" fmla="*/ 186 w 253"/>
                  <a:gd name="T41" fmla="*/ 10 h 230"/>
                  <a:gd name="T42" fmla="*/ 164 w 253"/>
                  <a:gd name="T43" fmla="*/ 16 h 230"/>
                  <a:gd name="T44" fmla="*/ 144 w 253"/>
                  <a:gd name="T45" fmla="*/ 24 h 230"/>
                  <a:gd name="T46" fmla="*/ 125 w 253"/>
                  <a:gd name="T47" fmla="*/ 34 h 230"/>
                  <a:gd name="T48" fmla="*/ 106 w 253"/>
                  <a:gd name="T49" fmla="*/ 46 h 230"/>
                  <a:gd name="T50" fmla="*/ 89 w 253"/>
                  <a:gd name="T51" fmla="*/ 59 h 230"/>
                  <a:gd name="T52" fmla="*/ 72 w 253"/>
                  <a:gd name="T53" fmla="*/ 75 h 230"/>
                  <a:gd name="T54" fmla="*/ 58 w 253"/>
                  <a:gd name="T55" fmla="*/ 91 h 230"/>
                  <a:gd name="T56" fmla="*/ 43 w 253"/>
                  <a:gd name="T57" fmla="*/ 108 h 230"/>
                  <a:gd name="T58" fmla="*/ 32 w 253"/>
                  <a:gd name="T59" fmla="*/ 126 h 230"/>
                  <a:gd name="T60" fmla="*/ 21 w 253"/>
                  <a:gd name="T61" fmla="*/ 145 h 230"/>
                  <a:gd name="T62" fmla="*/ 12 w 253"/>
                  <a:gd name="T63" fmla="*/ 166 h 230"/>
                  <a:gd name="T64" fmla="*/ 5 w 253"/>
                  <a:gd name="T65" fmla="*/ 187 h 230"/>
                  <a:gd name="T66" fmla="*/ 0 w 253"/>
                  <a:gd name="T67" fmla="*/ 211 h 230"/>
                  <a:gd name="T68" fmla="*/ 111 w 253"/>
                  <a:gd name="T69" fmla="*/ 23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3" h="230">
                    <a:moveTo>
                      <a:pt x="111" y="230"/>
                    </a:moveTo>
                    <a:lnTo>
                      <a:pt x="115" y="218"/>
                    </a:lnTo>
                    <a:lnTo>
                      <a:pt x="119" y="205"/>
                    </a:lnTo>
                    <a:lnTo>
                      <a:pt x="123" y="195"/>
                    </a:lnTo>
                    <a:lnTo>
                      <a:pt x="130" y="183"/>
                    </a:lnTo>
                    <a:lnTo>
                      <a:pt x="136" y="174"/>
                    </a:lnTo>
                    <a:lnTo>
                      <a:pt x="144" y="164"/>
                    </a:lnTo>
                    <a:lnTo>
                      <a:pt x="152" y="156"/>
                    </a:lnTo>
                    <a:lnTo>
                      <a:pt x="161" y="147"/>
                    </a:lnTo>
                    <a:lnTo>
                      <a:pt x="172" y="140"/>
                    </a:lnTo>
                    <a:lnTo>
                      <a:pt x="181" y="134"/>
                    </a:lnTo>
                    <a:lnTo>
                      <a:pt x="193" y="127"/>
                    </a:lnTo>
                    <a:lnTo>
                      <a:pt x="203" y="123"/>
                    </a:lnTo>
                    <a:lnTo>
                      <a:pt x="215" y="119"/>
                    </a:lnTo>
                    <a:lnTo>
                      <a:pt x="228" y="117"/>
                    </a:lnTo>
                    <a:lnTo>
                      <a:pt x="240" y="114"/>
                    </a:lnTo>
                    <a:lnTo>
                      <a:pt x="253" y="114"/>
                    </a:lnTo>
                    <a:lnTo>
                      <a:pt x="253" y="0"/>
                    </a:lnTo>
                    <a:lnTo>
                      <a:pt x="230" y="2"/>
                    </a:lnTo>
                    <a:lnTo>
                      <a:pt x="207" y="4"/>
                    </a:lnTo>
                    <a:lnTo>
                      <a:pt x="186" y="10"/>
                    </a:lnTo>
                    <a:lnTo>
                      <a:pt x="164" y="16"/>
                    </a:lnTo>
                    <a:lnTo>
                      <a:pt x="144" y="24"/>
                    </a:lnTo>
                    <a:lnTo>
                      <a:pt x="125" y="34"/>
                    </a:lnTo>
                    <a:lnTo>
                      <a:pt x="106" y="46"/>
                    </a:lnTo>
                    <a:lnTo>
                      <a:pt x="89" y="59"/>
                    </a:lnTo>
                    <a:lnTo>
                      <a:pt x="72" y="75"/>
                    </a:lnTo>
                    <a:lnTo>
                      <a:pt x="58" y="91"/>
                    </a:lnTo>
                    <a:lnTo>
                      <a:pt x="43" y="108"/>
                    </a:lnTo>
                    <a:lnTo>
                      <a:pt x="32" y="126"/>
                    </a:lnTo>
                    <a:lnTo>
                      <a:pt x="21" y="145"/>
                    </a:lnTo>
                    <a:lnTo>
                      <a:pt x="12" y="166"/>
                    </a:lnTo>
                    <a:lnTo>
                      <a:pt x="5" y="187"/>
                    </a:lnTo>
                    <a:lnTo>
                      <a:pt x="0" y="211"/>
                    </a:lnTo>
                    <a:lnTo>
                      <a:pt x="111" y="23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218" name="Group 313"/>
              <p:cNvGrpSpPr>
                <a:grpSpLocks noChangeAspect="1"/>
              </p:cNvGrpSpPr>
              <p:nvPr/>
            </p:nvGrpSpPr>
            <p:grpSpPr bwMode="auto">
              <a:xfrm>
                <a:off x="1926" y="1301"/>
                <a:ext cx="0" cy="623"/>
                <a:chOff x="1440" y="1488"/>
                <a:chExt cx="0" cy="780"/>
              </a:xfrm>
            </p:grpSpPr>
            <p:sp>
              <p:nvSpPr>
                <p:cNvPr id="237" name="Line 314"/>
                <p:cNvSpPr>
                  <a:spLocks noChangeAspect="1" noChangeShapeType="1"/>
                </p:cNvSpPr>
                <p:nvPr/>
              </p:nvSpPr>
              <p:spPr bwMode="auto">
                <a:xfrm>
                  <a:off x="1440" y="177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8" name="Line 315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1704"/>
                  <a:ext cx="0" cy="4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9" name="Line 316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1488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" name="Line 317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207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1" name="Line 318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1998"/>
                  <a:ext cx="0" cy="4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19" name="Group 319"/>
              <p:cNvGrpSpPr>
                <a:grpSpLocks noChangeAspect="1"/>
              </p:cNvGrpSpPr>
              <p:nvPr/>
            </p:nvGrpSpPr>
            <p:grpSpPr bwMode="auto">
              <a:xfrm>
                <a:off x="2541" y="1301"/>
                <a:ext cx="0" cy="623"/>
                <a:chOff x="1440" y="1488"/>
                <a:chExt cx="0" cy="780"/>
              </a:xfrm>
            </p:grpSpPr>
            <p:sp>
              <p:nvSpPr>
                <p:cNvPr id="232" name="Line 320"/>
                <p:cNvSpPr>
                  <a:spLocks noChangeAspect="1" noChangeShapeType="1"/>
                </p:cNvSpPr>
                <p:nvPr/>
              </p:nvSpPr>
              <p:spPr bwMode="auto">
                <a:xfrm>
                  <a:off x="1440" y="177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3" name="Line 321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1704"/>
                  <a:ext cx="0" cy="4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4" name="Line 322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1488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5" name="Line 323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207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" name="Line 324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1998"/>
                  <a:ext cx="0" cy="4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0" name="Group 325"/>
              <p:cNvGrpSpPr>
                <a:grpSpLocks noChangeAspect="1"/>
              </p:cNvGrpSpPr>
              <p:nvPr/>
            </p:nvGrpSpPr>
            <p:grpSpPr bwMode="auto">
              <a:xfrm flipH="1">
                <a:off x="3732" y="1382"/>
                <a:ext cx="37" cy="432"/>
                <a:chOff x="1440" y="1488"/>
                <a:chExt cx="0" cy="780"/>
              </a:xfrm>
            </p:grpSpPr>
            <p:sp>
              <p:nvSpPr>
                <p:cNvPr id="227" name="Line 326"/>
                <p:cNvSpPr>
                  <a:spLocks noChangeAspect="1" noChangeShapeType="1"/>
                </p:cNvSpPr>
                <p:nvPr/>
              </p:nvSpPr>
              <p:spPr bwMode="auto">
                <a:xfrm>
                  <a:off x="1440" y="177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8" name="Line 327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1704"/>
                  <a:ext cx="0" cy="4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9" name="Line 328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1488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0" name="Line 329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207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1" name="Line 330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1998"/>
                  <a:ext cx="0" cy="4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1" name="Group 331"/>
              <p:cNvGrpSpPr>
                <a:grpSpLocks noChangeAspect="1"/>
              </p:cNvGrpSpPr>
              <p:nvPr/>
            </p:nvGrpSpPr>
            <p:grpSpPr bwMode="auto">
              <a:xfrm flipH="1">
                <a:off x="4039" y="1382"/>
                <a:ext cx="37" cy="432"/>
                <a:chOff x="1440" y="1488"/>
                <a:chExt cx="0" cy="780"/>
              </a:xfrm>
            </p:grpSpPr>
            <p:sp>
              <p:nvSpPr>
                <p:cNvPr id="222" name="Line 332"/>
                <p:cNvSpPr>
                  <a:spLocks noChangeAspect="1" noChangeShapeType="1"/>
                </p:cNvSpPr>
                <p:nvPr/>
              </p:nvSpPr>
              <p:spPr bwMode="auto">
                <a:xfrm>
                  <a:off x="1440" y="177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3" name="Line 333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1704"/>
                  <a:ext cx="0" cy="4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4" name="Line 334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1488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5" name="Line 335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207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26" name="Line 336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1440" y="1998"/>
                  <a:ext cx="0" cy="4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356" name="Text Box 337"/>
          <p:cNvSpPr txBox="1">
            <a:spLocks noChangeArrowheads="1"/>
          </p:cNvSpPr>
          <p:nvPr/>
        </p:nvSpPr>
        <p:spPr bwMode="auto">
          <a:xfrm>
            <a:off x="1879743" y="1912851"/>
            <a:ext cx="863282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2336800" indent="-2336800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marL="363538" indent="-363538"/>
            <a:r>
              <a:rPr lang="en-US" altLang="zh-CN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 </a:t>
            </a:r>
            <a:r>
              <a:rPr lang="zh-CN" altLang="en-US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把机件上部分结构用大于原图形所采用的比例画出的图形。</a:t>
            </a:r>
          </a:p>
        </p:txBody>
      </p:sp>
      <p:sp>
        <p:nvSpPr>
          <p:cNvPr id="360" name="Rectangle 326"/>
          <p:cNvSpPr>
            <a:spLocks noChangeArrowheads="1"/>
          </p:cNvSpPr>
          <p:nvPr/>
        </p:nvSpPr>
        <p:spPr bwMode="auto">
          <a:xfrm>
            <a:off x="501650" y="241300"/>
            <a:ext cx="3877985" cy="646331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>
            <a:spAutoFit/>
          </a:bodyPr>
          <a:lstStyle/>
          <a:p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四、一些规定画法</a:t>
            </a:r>
          </a:p>
        </p:txBody>
      </p:sp>
    </p:spTree>
    <p:extLst>
      <p:ext uri="{BB962C8B-B14F-4D97-AF65-F5344CB8AC3E}">
        <p14:creationId xmlns:p14="http://schemas.microsoft.com/office/powerpoint/2010/main" val="33865586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" dur="10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6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2"/>
          <p:cNvSpPr txBox="1">
            <a:spLocks noChangeArrowheads="1"/>
          </p:cNvSpPr>
          <p:nvPr/>
        </p:nvSpPr>
        <p:spPr bwMode="auto">
          <a:xfrm>
            <a:off x="2070100" y="5010151"/>
            <a:ext cx="80391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63538" indent="-363538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en-US" altLang="zh-CN" dirty="0"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zh-CN" altLang="en-US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对于肋板、轮辐等结构，若</a:t>
            </a:r>
            <a:r>
              <a:rPr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沿其纵向剖切</a:t>
            </a:r>
            <a:r>
              <a:rPr lang="zh-CN" altLang="en-US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时，剖面内</a:t>
            </a:r>
            <a:r>
              <a:rPr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不画剖面符号</a:t>
            </a:r>
            <a:r>
              <a:rPr lang="zh-CN" altLang="en-US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，而用粗实线将其与邻近部分分开；</a:t>
            </a:r>
            <a:r>
              <a:rPr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不沿纵向剖切</a:t>
            </a:r>
            <a:r>
              <a:rPr lang="zh-CN" altLang="en-US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，则要在剖面内画剖面符号。</a:t>
            </a:r>
          </a:p>
        </p:txBody>
      </p:sp>
      <p:sp>
        <p:nvSpPr>
          <p:cNvPr id="22" name="Freeform 3"/>
          <p:cNvSpPr>
            <a:spLocks noChangeAspect="1" noChangeArrowheads="1"/>
          </p:cNvSpPr>
          <p:nvPr/>
        </p:nvSpPr>
        <p:spPr bwMode="auto">
          <a:xfrm>
            <a:off x="4325939" y="2519363"/>
            <a:ext cx="1587" cy="330200"/>
          </a:xfrm>
          <a:custGeom>
            <a:avLst/>
            <a:gdLst>
              <a:gd name="T0" fmla="*/ 0 w 1"/>
              <a:gd name="T1" fmla="*/ 0 h 1046"/>
              <a:gd name="T2" fmla="*/ 0 w 1"/>
              <a:gd name="T3" fmla="*/ 1046 h 1046"/>
              <a:gd name="T4" fmla="*/ 1 w 1"/>
              <a:gd name="T5" fmla="*/ 1046 h 1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046">
                <a:moveTo>
                  <a:pt x="0" y="0"/>
                </a:moveTo>
                <a:lnTo>
                  <a:pt x="0" y="1046"/>
                </a:lnTo>
                <a:lnTo>
                  <a:pt x="1" y="1046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23" name="Freeform 4"/>
          <p:cNvSpPr>
            <a:spLocks noChangeAspect="1" noChangeArrowheads="1"/>
          </p:cNvSpPr>
          <p:nvPr/>
        </p:nvSpPr>
        <p:spPr bwMode="auto">
          <a:xfrm>
            <a:off x="5251450" y="2667001"/>
            <a:ext cx="1588" cy="239713"/>
          </a:xfrm>
          <a:custGeom>
            <a:avLst/>
            <a:gdLst>
              <a:gd name="T0" fmla="*/ 0 w 1"/>
              <a:gd name="T1" fmla="*/ 0 h 755"/>
              <a:gd name="T2" fmla="*/ 0 w 1"/>
              <a:gd name="T3" fmla="*/ 755 h 755"/>
              <a:gd name="T4" fmla="*/ 1 w 1"/>
              <a:gd name="T5" fmla="*/ 755 h 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755">
                <a:moveTo>
                  <a:pt x="0" y="0"/>
                </a:moveTo>
                <a:lnTo>
                  <a:pt x="0" y="755"/>
                </a:lnTo>
                <a:lnTo>
                  <a:pt x="1" y="755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grpSp>
        <p:nvGrpSpPr>
          <p:cNvPr id="24" name="Group 5"/>
          <p:cNvGrpSpPr>
            <a:grpSpLocks noChangeAspect="1"/>
          </p:cNvGrpSpPr>
          <p:nvPr/>
        </p:nvGrpSpPr>
        <p:grpSpPr bwMode="auto">
          <a:xfrm>
            <a:off x="5676900" y="1076326"/>
            <a:ext cx="1327150" cy="1725613"/>
            <a:chOff x="4448" y="641"/>
            <a:chExt cx="1045" cy="1358"/>
          </a:xfrm>
        </p:grpSpPr>
        <p:sp>
          <p:nvSpPr>
            <p:cNvPr id="25" name="Freeform 6"/>
            <p:cNvSpPr>
              <a:spLocks noChangeAspect="1" noChangeArrowheads="1"/>
            </p:cNvSpPr>
            <p:nvPr/>
          </p:nvSpPr>
          <p:spPr bwMode="auto">
            <a:xfrm>
              <a:off x="4658" y="1997"/>
              <a:ext cx="833" cy="2"/>
            </a:xfrm>
            <a:custGeom>
              <a:avLst/>
              <a:gdLst>
                <a:gd name="T0" fmla="*/ 0 w 3343"/>
                <a:gd name="T1" fmla="*/ 0 h 2"/>
                <a:gd name="T2" fmla="*/ 3342 w 3343"/>
                <a:gd name="T3" fmla="*/ 0 h 2"/>
                <a:gd name="T4" fmla="*/ 3343 w 334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43" h="2">
                  <a:moveTo>
                    <a:pt x="0" y="0"/>
                  </a:moveTo>
                  <a:lnTo>
                    <a:pt x="3342" y="0"/>
                  </a:lnTo>
                  <a:lnTo>
                    <a:pt x="3343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6" name="Freeform 7"/>
            <p:cNvSpPr>
              <a:spLocks noChangeAspect="1" noChangeArrowheads="1"/>
            </p:cNvSpPr>
            <p:nvPr/>
          </p:nvSpPr>
          <p:spPr bwMode="auto">
            <a:xfrm>
              <a:off x="5282" y="1267"/>
              <a:ext cx="209" cy="417"/>
            </a:xfrm>
            <a:custGeom>
              <a:avLst/>
              <a:gdLst>
                <a:gd name="T0" fmla="*/ 0 w 836"/>
                <a:gd name="T1" fmla="*/ 0 h 1674"/>
                <a:gd name="T2" fmla="*/ 835 w 836"/>
                <a:gd name="T3" fmla="*/ 1674 h 1674"/>
                <a:gd name="T4" fmla="*/ 836 w 836"/>
                <a:gd name="T5" fmla="*/ 1674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1674">
                  <a:moveTo>
                    <a:pt x="0" y="0"/>
                  </a:moveTo>
                  <a:lnTo>
                    <a:pt x="835" y="1674"/>
                  </a:lnTo>
                  <a:lnTo>
                    <a:pt x="836" y="167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7" name="Freeform 8"/>
            <p:cNvSpPr>
              <a:spLocks noChangeAspect="1" noChangeArrowheads="1"/>
            </p:cNvSpPr>
            <p:nvPr/>
          </p:nvSpPr>
          <p:spPr bwMode="auto">
            <a:xfrm>
              <a:off x="4448" y="954"/>
              <a:ext cx="208" cy="2"/>
            </a:xfrm>
            <a:custGeom>
              <a:avLst/>
              <a:gdLst>
                <a:gd name="T0" fmla="*/ 0 w 831"/>
                <a:gd name="T1" fmla="*/ 0 h 2"/>
                <a:gd name="T2" fmla="*/ 830 w 831"/>
                <a:gd name="T3" fmla="*/ 0 h 2"/>
                <a:gd name="T4" fmla="*/ 831 w 83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1" h="2">
                  <a:moveTo>
                    <a:pt x="0" y="0"/>
                  </a:moveTo>
                  <a:lnTo>
                    <a:pt x="830" y="0"/>
                  </a:lnTo>
                  <a:lnTo>
                    <a:pt x="831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8" name="Freeform 9"/>
            <p:cNvSpPr>
              <a:spLocks noChangeAspect="1" noChangeArrowheads="1"/>
            </p:cNvSpPr>
            <p:nvPr/>
          </p:nvSpPr>
          <p:spPr bwMode="auto">
            <a:xfrm>
              <a:off x="4688" y="954"/>
              <a:ext cx="61" cy="2"/>
            </a:xfrm>
            <a:custGeom>
              <a:avLst/>
              <a:gdLst>
                <a:gd name="T0" fmla="*/ 0 w 252"/>
                <a:gd name="T1" fmla="*/ 0 h 2"/>
                <a:gd name="T2" fmla="*/ 251 w 252"/>
                <a:gd name="T3" fmla="*/ 0 h 2"/>
                <a:gd name="T4" fmla="*/ 252 w 25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" h="2">
                  <a:moveTo>
                    <a:pt x="0" y="0"/>
                  </a:moveTo>
                  <a:lnTo>
                    <a:pt x="251" y="0"/>
                  </a:lnTo>
                  <a:lnTo>
                    <a:pt x="25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9" name="Freeform 10"/>
            <p:cNvSpPr>
              <a:spLocks noChangeAspect="1" noChangeArrowheads="1"/>
            </p:cNvSpPr>
            <p:nvPr/>
          </p:nvSpPr>
          <p:spPr bwMode="auto">
            <a:xfrm>
              <a:off x="4781" y="954"/>
              <a:ext cx="250" cy="2"/>
            </a:xfrm>
            <a:custGeom>
              <a:avLst/>
              <a:gdLst>
                <a:gd name="T0" fmla="*/ 0 w 1004"/>
                <a:gd name="T1" fmla="*/ 0 h 2"/>
                <a:gd name="T2" fmla="*/ 1003 w 1004"/>
                <a:gd name="T3" fmla="*/ 0 h 2"/>
                <a:gd name="T4" fmla="*/ 1004 w 100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4" h="2">
                  <a:moveTo>
                    <a:pt x="0" y="0"/>
                  </a:moveTo>
                  <a:lnTo>
                    <a:pt x="1003" y="0"/>
                  </a:lnTo>
                  <a:lnTo>
                    <a:pt x="1004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0" name="Freeform 11"/>
            <p:cNvSpPr>
              <a:spLocks noChangeAspect="1" noChangeArrowheads="1"/>
            </p:cNvSpPr>
            <p:nvPr/>
          </p:nvSpPr>
          <p:spPr bwMode="auto">
            <a:xfrm>
              <a:off x="5062" y="954"/>
              <a:ext cx="62" cy="2"/>
            </a:xfrm>
            <a:custGeom>
              <a:avLst/>
              <a:gdLst>
                <a:gd name="T0" fmla="*/ 0 w 251"/>
                <a:gd name="T1" fmla="*/ 0 h 2"/>
                <a:gd name="T2" fmla="*/ 250 w 251"/>
                <a:gd name="T3" fmla="*/ 0 h 2"/>
                <a:gd name="T4" fmla="*/ 251 w 25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1" h="2">
                  <a:moveTo>
                    <a:pt x="0" y="0"/>
                  </a:moveTo>
                  <a:lnTo>
                    <a:pt x="250" y="0"/>
                  </a:lnTo>
                  <a:lnTo>
                    <a:pt x="251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1" name="Freeform 12"/>
            <p:cNvSpPr>
              <a:spLocks noChangeAspect="1" noChangeArrowheads="1"/>
            </p:cNvSpPr>
            <p:nvPr/>
          </p:nvSpPr>
          <p:spPr bwMode="auto">
            <a:xfrm>
              <a:off x="5156" y="954"/>
              <a:ext cx="207" cy="2"/>
            </a:xfrm>
            <a:custGeom>
              <a:avLst/>
              <a:gdLst>
                <a:gd name="T0" fmla="*/ 0 w 830"/>
                <a:gd name="T1" fmla="*/ 0 h 2"/>
                <a:gd name="T2" fmla="*/ 829 w 830"/>
                <a:gd name="T3" fmla="*/ 0 h 2"/>
                <a:gd name="T4" fmla="*/ 830 w 830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0" h="2">
                  <a:moveTo>
                    <a:pt x="0" y="0"/>
                  </a:moveTo>
                  <a:lnTo>
                    <a:pt x="829" y="0"/>
                  </a:lnTo>
                  <a:lnTo>
                    <a:pt x="83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" name="Freeform 13"/>
            <p:cNvSpPr>
              <a:spLocks noChangeAspect="1" noChangeArrowheads="1"/>
            </p:cNvSpPr>
            <p:nvPr/>
          </p:nvSpPr>
          <p:spPr bwMode="auto">
            <a:xfrm>
              <a:off x="4865" y="1267"/>
              <a:ext cx="417" cy="2"/>
            </a:xfrm>
            <a:custGeom>
              <a:avLst/>
              <a:gdLst>
                <a:gd name="T0" fmla="*/ 1671 w 1671"/>
                <a:gd name="T1" fmla="*/ 0 h 2"/>
                <a:gd name="T2" fmla="*/ 0 w 1671"/>
                <a:gd name="T3" fmla="*/ 0 h 2"/>
                <a:gd name="T4" fmla="*/ 1 w 167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1" h="2">
                  <a:moveTo>
                    <a:pt x="167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" name="Freeform 14"/>
            <p:cNvSpPr>
              <a:spLocks noChangeAspect="1" noChangeArrowheads="1"/>
            </p:cNvSpPr>
            <p:nvPr/>
          </p:nvSpPr>
          <p:spPr bwMode="auto">
            <a:xfrm>
              <a:off x="4865" y="1267"/>
              <a:ext cx="2" cy="417"/>
            </a:xfrm>
            <a:custGeom>
              <a:avLst/>
              <a:gdLst>
                <a:gd name="T0" fmla="*/ 0 w 1"/>
                <a:gd name="T1" fmla="*/ 1674 h 1674"/>
                <a:gd name="T2" fmla="*/ 0 w 1"/>
                <a:gd name="T3" fmla="*/ 0 h 1674"/>
                <a:gd name="T4" fmla="*/ 1 w 1"/>
                <a:gd name="T5" fmla="*/ 0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674">
                  <a:moveTo>
                    <a:pt x="0" y="167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4" name="Freeform 15"/>
            <p:cNvSpPr>
              <a:spLocks noChangeAspect="1" noChangeArrowheads="1"/>
            </p:cNvSpPr>
            <p:nvPr/>
          </p:nvSpPr>
          <p:spPr bwMode="auto">
            <a:xfrm>
              <a:off x="4865" y="1684"/>
              <a:ext cx="626" cy="2"/>
            </a:xfrm>
            <a:custGeom>
              <a:avLst/>
              <a:gdLst>
                <a:gd name="T0" fmla="*/ 2506 w 2506"/>
                <a:gd name="T1" fmla="*/ 0 h 2"/>
                <a:gd name="T2" fmla="*/ 0 w 2506"/>
                <a:gd name="T3" fmla="*/ 0 h 2"/>
                <a:gd name="T4" fmla="*/ 1 w 250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06" h="2">
                  <a:moveTo>
                    <a:pt x="2506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" name="Freeform 16"/>
            <p:cNvSpPr>
              <a:spLocks noChangeAspect="1" noChangeArrowheads="1"/>
            </p:cNvSpPr>
            <p:nvPr/>
          </p:nvSpPr>
          <p:spPr bwMode="auto">
            <a:xfrm>
              <a:off x="5491" y="1684"/>
              <a:ext cx="2" cy="313"/>
            </a:xfrm>
            <a:custGeom>
              <a:avLst/>
              <a:gdLst>
                <a:gd name="T0" fmla="*/ 0 w 1"/>
                <a:gd name="T1" fmla="*/ 1255 h 1255"/>
                <a:gd name="T2" fmla="*/ 0 w 1"/>
                <a:gd name="T3" fmla="*/ 0 h 1255"/>
                <a:gd name="T4" fmla="*/ 1 w 1"/>
                <a:gd name="T5" fmla="*/ 0 h 1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55">
                  <a:moveTo>
                    <a:pt x="0" y="125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6" name="Freeform 17"/>
            <p:cNvSpPr>
              <a:spLocks noChangeAspect="1" noChangeArrowheads="1"/>
            </p:cNvSpPr>
            <p:nvPr/>
          </p:nvSpPr>
          <p:spPr bwMode="auto">
            <a:xfrm>
              <a:off x="4658" y="1893"/>
              <a:ext cx="833" cy="2"/>
            </a:xfrm>
            <a:custGeom>
              <a:avLst/>
              <a:gdLst>
                <a:gd name="T0" fmla="*/ 0 w 3343"/>
                <a:gd name="T1" fmla="*/ 0 h 2"/>
                <a:gd name="T2" fmla="*/ 3342 w 3343"/>
                <a:gd name="T3" fmla="*/ 0 h 2"/>
                <a:gd name="T4" fmla="*/ 3343 w 334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43" h="2">
                  <a:moveTo>
                    <a:pt x="0" y="0"/>
                  </a:moveTo>
                  <a:lnTo>
                    <a:pt x="3342" y="0"/>
                  </a:lnTo>
                  <a:lnTo>
                    <a:pt x="3343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" name="Freeform 18"/>
            <p:cNvSpPr>
              <a:spLocks noChangeAspect="1" noChangeArrowheads="1"/>
            </p:cNvSpPr>
            <p:nvPr/>
          </p:nvSpPr>
          <p:spPr bwMode="auto">
            <a:xfrm>
              <a:off x="4658" y="1261"/>
              <a:ext cx="2" cy="736"/>
            </a:xfrm>
            <a:custGeom>
              <a:avLst/>
              <a:gdLst>
                <a:gd name="T0" fmla="*/ 0 w 1"/>
                <a:gd name="T1" fmla="*/ 0 h 2949"/>
                <a:gd name="T2" fmla="*/ 0 w 1"/>
                <a:gd name="T3" fmla="*/ 2949 h 2949"/>
                <a:gd name="T4" fmla="*/ 1 w 1"/>
                <a:gd name="T5" fmla="*/ 2949 h 2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49">
                  <a:moveTo>
                    <a:pt x="0" y="0"/>
                  </a:moveTo>
                  <a:lnTo>
                    <a:pt x="0" y="2949"/>
                  </a:lnTo>
                  <a:lnTo>
                    <a:pt x="1" y="294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8" name="Freeform 19"/>
            <p:cNvSpPr>
              <a:spLocks noChangeAspect="1" noChangeArrowheads="1"/>
            </p:cNvSpPr>
            <p:nvPr/>
          </p:nvSpPr>
          <p:spPr bwMode="auto">
            <a:xfrm>
              <a:off x="4554" y="1261"/>
              <a:ext cx="104" cy="2"/>
            </a:xfrm>
            <a:custGeom>
              <a:avLst/>
              <a:gdLst>
                <a:gd name="T0" fmla="*/ 0 w 419"/>
                <a:gd name="T1" fmla="*/ 0 h 2"/>
                <a:gd name="T2" fmla="*/ 418 w 419"/>
                <a:gd name="T3" fmla="*/ 0 h 2"/>
                <a:gd name="T4" fmla="*/ 419 w 419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9" h="2">
                  <a:moveTo>
                    <a:pt x="0" y="0"/>
                  </a:moveTo>
                  <a:lnTo>
                    <a:pt x="418" y="0"/>
                  </a:lnTo>
                  <a:lnTo>
                    <a:pt x="419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" name="Freeform 20"/>
            <p:cNvSpPr>
              <a:spLocks noChangeAspect="1" noChangeArrowheads="1"/>
            </p:cNvSpPr>
            <p:nvPr/>
          </p:nvSpPr>
          <p:spPr bwMode="auto">
            <a:xfrm>
              <a:off x="4554" y="1164"/>
              <a:ext cx="728" cy="2"/>
            </a:xfrm>
            <a:custGeom>
              <a:avLst/>
              <a:gdLst>
                <a:gd name="T0" fmla="*/ 0 w 2926"/>
                <a:gd name="T1" fmla="*/ 0 h 2"/>
                <a:gd name="T2" fmla="*/ 2925 w 2926"/>
                <a:gd name="T3" fmla="*/ 0 h 2"/>
                <a:gd name="T4" fmla="*/ 2926 w 292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26" h="2">
                  <a:moveTo>
                    <a:pt x="0" y="0"/>
                  </a:moveTo>
                  <a:lnTo>
                    <a:pt x="2925" y="0"/>
                  </a:lnTo>
                  <a:lnTo>
                    <a:pt x="2926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0" name="Freeform 21"/>
            <p:cNvSpPr>
              <a:spLocks noChangeAspect="1" noChangeArrowheads="1"/>
            </p:cNvSpPr>
            <p:nvPr/>
          </p:nvSpPr>
          <p:spPr bwMode="auto">
            <a:xfrm>
              <a:off x="5282" y="641"/>
              <a:ext cx="2" cy="626"/>
            </a:xfrm>
            <a:custGeom>
              <a:avLst/>
              <a:gdLst>
                <a:gd name="T0" fmla="*/ 0 w 1"/>
                <a:gd name="T1" fmla="*/ 2510 h 2510"/>
                <a:gd name="T2" fmla="*/ 0 w 1"/>
                <a:gd name="T3" fmla="*/ 0 h 2510"/>
                <a:gd name="T4" fmla="*/ 1 w 1"/>
                <a:gd name="T5" fmla="*/ 0 h 2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10">
                  <a:moveTo>
                    <a:pt x="0" y="251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1" name="Freeform 22"/>
            <p:cNvSpPr>
              <a:spLocks noChangeAspect="1" noChangeArrowheads="1"/>
            </p:cNvSpPr>
            <p:nvPr/>
          </p:nvSpPr>
          <p:spPr bwMode="auto">
            <a:xfrm>
              <a:off x="4554" y="745"/>
              <a:ext cx="728" cy="2"/>
            </a:xfrm>
            <a:custGeom>
              <a:avLst/>
              <a:gdLst>
                <a:gd name="T0" fmla="*/ 0 w 2926"/>
                <a:gd name="T1" fmla="*/ 0 h 2"/>
                <a:gd name="T2" fmla="*/ 2925 w 2926"/>
                <a:gd name="T3" fmla="*/ 0 h 2"/>
                <a:gd name="T4" fmla="*/ 2926 w 292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26" h="2">
                  <a:moveTo>
                    <a:pt x="0" y="0"/>
                  </a:moveTo>
                  <a:lnTo>
                    <a:pt x="2925" y="0"/>
                  </a:lnTo>
                  <a:lnTo>
                    <a:pt x="2926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2" name="Freeform 23"/>
            <p:cNvSpPr>
              <a:spLocks noChangeAspect="1" noChangeArrowheads="1"/>
            </p:cNvSpPr>
            <p:nvPr/>
          </p:nvSpPr>
          <p:spPr bwMode="auto">
            <a:xfrm>
              <a:off x="4554" y="641"/>
              <a:ext cx="2" cy="626"/>
            </a:xfrm>
            <a:custGeom>
              <a:avLst/>
              <a:gdLst>
                <a:gd name="T0" fmla="*/ 0 w 1"/>
                <a:gd name="T1" fmla="*/ 2510 h 2510"/>
                <a:gd name="T2" fmla="*/ 0 w 1"/>
                <a:gd name="T3" fmla="*/ 0 h 2510"/>
                <a:gd name="T4" fmla="*/ 1 w 1"/>
                <a:gd name="T5" fmla="*/ 0 h 2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10">
                  <a:moveTo>
                    <a:pt x="0" y="251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3" name="Freeform 24"/>
            <p:cNvSpPr>
              <a:spLocks noChangeAspect="1" noChangeArrowheads="1"/>
            </p:cNvSpPr>
            <p:nvPr/>
          </p:nvSpPr>
          <p:spPr bwMode="auto">
            <a:xfrm>
              <a:off x="4554" y="641"/>
              <a:ext cx="728" cy="2"/>
            </a:xfrm>
            <a:custGeom>
              <a:avLst/>
              <a:gdLst>
                <a:gd name="T0" fmla="*/ 0 w 2926"/>
                <a:gd name="T1" fmla="*/ 0 h 2"/>
                <a:gd name="T2" fmla="*/ 2925 w 2926"/>
                <a:gd name="T3" fmla="*/ 0 h 2"/>
                <a:gd name="T4" fmla="*/ 2926 w 292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26" h="2">
                  <a:moveTo>
                    <a:pt x="0" y="0"/>
                  </a:moveTo>
                  <a:lnTo>
                    <a:pt x="2925" y="0"/>
                  </a:lnTo>
                  <a:lnTo>
                    <a:pt x="2926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4" name="Freeform 25"/>
            <p:cNvSpPr>
              <a:spLocks noChangeAspect="1" noChangeArrowheads="1"/>
            </p:cNvSpPr>
            <p:nvPr/>
          </p:nvSpPr>
          <p:spPr bwMode="auto">
            <a:xfrm>
              <a:off x="4554" y="641"/>
              <a:ext cx="4" cy="4"/>
            </a:xfrm>
            <a:custGeom>
              <a:avLst/>
              <a:gdLst>
                <a:gd name="T0" fmla="*/ 0 w 18"/>
                <a:gd name="T1" fmla="*/ 17 h 17"/>
                <a:gd name="T2" fmla="*/ 17 w 18"/>
                <a:gd name="T3" fmla="*/ 0 h 17"/>
                <a:gd name="T4" fmla="*/ 18 w 18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7">
                  <a:moveTo>
                    <a:pt x="0" y="17"/>
                  </a:moveTo>
                  <a:lnTo>
                    <a:pt x="17" y="0"/>
                  </a:lnTo>
                  <a:lnTo>
                    <a:pt x="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5" name="Freeform 26"/>
            <p:cNvSpPr>
              <a:spLocks noChangeAspect="1" noChangeArrowheads="1"/>
            </p:cNvSpPr>
            <p:nvPr/>
          </p:nvSpPr>
          <p:spPr bwMode="auto">
            <a:xfrm>
              <a:off x="4594" y="641"/>
              <a:ext cx="104" cy="104"/>
            </a:xfrm>
            <a:custGeom>
              <a:avLst/>
              <a:gdLst>
                <a:gd name="T0" fmla="*/ 0 w 419"/>
                <a:gd name="T1" fmla="*/ 419 h 419"/>
                <a:gd name="T2" fmla="*/ 418 w 419"/>
                <a:gd name="T3" fmla="*/ 0 h 419"/>
                <a:gd name="T4" fmla="*/ 419 w 419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9" h="419">
                  <a:moveTo>
                    <a:pt x="0" y="419"/>
                  </a:moveTo>
                  <a:lnTo>
                    <a:pt x="418" y="0"/>
                  </a:lnTo>
                  <a:lnTo>
                    <a:pt x="419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6" name="Freeform 27"/>
            <p:cNvSpPr>
              <a:spLocks noChangeAspect="1" noChangeArrowheads="1"/>
            </p:cNvSpPr>
            <p:nvPr/>
          </p:nvSpPr>
          <p:spPr bwMode="auto">
            <a:xfrm>
              <a:off x="4734" y="641"/>
              <a:ext cx="105" cy="104"/>
            </a:xfrm>
            <a:custGeom>
              <a:avLst/>
              <a:gdLst>
                <a:gd name="T0" fmla="*/ 0 w 418"/>
                <a:gd name="T1" fmla="*/ 419 h 419"/>
                <a:gd name="T2" fmla="*/ 417 w 418"/>
                <a:gd name="T3" fmla="*/ 0 h 419"/>
                <a:gd name="T4" fmla="*/ 418 w 418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8" h="419">
                  <a:moveTo>
                    <a:pt x="0" y="419"/>
                  </a:moveTo>
                  <a:lnTo>
                    <a:pt x="417" y="0"/>
                  </a:lnTo>
                  <a:lnTo>
                    <a:pt x="4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7" name="Freeform 28"/>
            <p:cNvSpPr>
              <a:spLocks noChangeAspect="1" noChangeArrowheads="1"/>
            </p:cNvSpPr>
            <p:nvPr/>
          </p:nvSpPr>
          <p:spPr bwMode="auto">
            <a:xfrm>
              <a:off x="4875" y="641"/>
              <a:ext cx="104" cy="104"/>
            </a:xfrm>
            <a:custGeom>
              <a:avLst/>
              <a:gdLst>
                <a:gd name="T0" fmla="*/ 0 w 419"/>
                <a:gd name="T1" fmla="*/ 419 h 419"/>
                <a:gd name="T2" fmla="*/ 418 w 419"/>
                <a:gd name="T3" fmla="*/ 0 h 419"/>
                <a:gd name="T4" fmla="*/ 419 w 419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9" h="419">
                  <a:moveTo>
                    <a:pt x="0" y="419"/>
                  </a:moveTo>
                  <a:lnTo>
                    <a:pt x="418" y="0"/>
                  </a:lnTo>
                  <a:lnTo>
                    <a:pt x="419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8" name="Freeform 29"/>
            <p:cNvSpPr>
              <a:spLocks noChangeAspect="1" noChangeArrowheads="1"/>
            </p:cNvSpPr>
            <p:nvPr/>
          </p:nvSpPr>
          <p:spPr bwMode="auto">
            <a:xfrm>
              <a:off x="4554" y="1164"/>
              <a:ext cx="44" cy="44"/>
            </a:xfrm>
            <a:custGeom>
              <a:avLst/>
              <a:gdLst>
                <a:gd name="T0" fmla="*/ 0 w 180"/>
                <a:gd name="T1" fmla="*/ 178 h 178"/>
                <a:gd name="T2" fmla="*/ 179 w 180"/>
                <a:gd name="T3" fmla="*/ 0 h 178"/>
                <a:gd name="T4" fmla="*/ 180 w 180"/>
                <a:gd name="T5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0" h="178">
                  <a:moveTo>
                    <a:pt x="0" y="178"/>
                  </a:moveTo>
                  <a:lnTo>
                    <a:pt x="179" y="0"/>
                  </a:lnTo>
                  <a:lnTo>
                    <a:pt x="18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9" name="Freeform 30"/>
            <p:cNvSpPr>
              <a:spLocks noChangeAspect="1" noChangeArrowheads="1"/>
            </p:cNvSpPr>
            <p:nvPr/>
          </p:nvSpPr>
          <p:spPr bwMode="auto">
            <a:xfrm>
              <a:off x="5015" y="641"/>
              <a:ext cx="103" cy="104"/>
            </a:xfrm>
            <a:custGeom>
              <a:avLst/>
              <a:gdLst>
                <a:gd name="T0" fmla="*/ 0 w 420"/>
                <a:gd name="T1" fmla="*/ 419 h 419"/>
                <a:gd name="T2" fmla="*/ 419 w 420"/>
                <a:gd name="T3" fmla="*/ 0 h 419"/>
                <a:gd name="T4" fmla="*/ 420 w 420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0" h="419">
                  <a:moveTo>
                    <a:pt x="0" y="419"/>
                  </a:moveTo>
                  <a:lnTo>
                    <a:pt x="419" y="0"/>
                  </a:lnTo>
                  <a:lnTo>
                    <a:pt x="42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0" name="Freeform 31"/>
            <p:cNvSpPr>
              <a:spLocks noChangeAspect="1" noChangeArrowheads="1"/>
            </p:cNvSpPr>
            <p:nvPr/>
          </p:nvSpPr>
          <p:spPr bwMode="auto">
            <a:xfrm>
              <a:off x="4640" y="1164"/>
              <a:ext cx="99" cy="97"/>
            </a:xfrm>
            <a:custGeom>
              <a:avLst/>
              <a:gdLst>
                <a:gd name="T0" fmla="*/ 0 w 398"/>
                <a:gd name="T1" fmla="*/ 397 h 397"/>
                <a:gd name="T2" fmla="*/ 397 w 398"/>
                <a:gd name="T3" fmla="*/ 0 h 397"/>
                <a:gd name="T4" fmla="*/ 398 w 398"/>
                <a:gd name="T5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8" h="397">
                  <a:moveTo>
                    <a:pt x="0" y="397"/>
                  </a:moveTo>
                  <a:lnTo>
                    <a:pt x="397" y="0"/>
                  </a:lnTo>
                  <a:lnTo>
                    <a:pt x="39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1" name="Freeform 32"/>
            <p:cNvSpPr>
              <a:spLocks noChangeAspect="1" noChangeArrowheads="1"/>
            </p:cNvSpPr>
            <p:nvPr/>
          </p:nvSpPr>
          <p:spPr bwMode="auto">
            <a:xfrm>
              <a:off x="5154" y="641"/>
              <a:ext cx="106" cy="104"/>
            </a:xfrm>
            <a:custGeom>
              <a:avLst/>
              <a:gdLst>
                <a:gd name="T0" fmla="*/ 0 w 420"/>
                <a:gd name="T1" fmla="*/ 419 h 419"/>
                <a:gd name="T2" fmla="*/ 419 w 420"/>
                <a:gd name="T3" fmla="*/ 0 h 419"/>
                <a:gd name="T4" fmla="*/ 420 w 420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0" h="419">
                  <a:moveTo>
                    <a:pt x="0" y="419"/>
                  </a:moveTo>
                  <a:lnTo>
                    <a:pt x="419" y="0"/>
                  </a:lnTo>
                  <a:lnTo>
                    <a:pt x="42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2" name="Freeform 33"/>
            <p:cNvSpPr>
              <a:spLocks noChangeAspect="1" noChangeArrowheads="1"/>
            </p:cNvSpPr>
            <p:nvPr/>
          </p:nvSpPr>
          <p:spPr bwMode="auto">
            <a:xfrm>
              <a:off x="4658" y="1164"/>
              <a:ext cx="221" cy="221"/>
            </a:xfrm>
            <a:custGeom>
              <a:avLst/>
              <a:gdLst>
                <a:gd name="T0" fmla="*/ 0 w 888"/>
                <a:gd name="T1" fmla="*/ 887 h 887"/>
                <a:gd name="T2" fmla="*/ 887 w 888"/>
                <a:gd name="T3" fmla="*/ 0 h 887"/>
                <a:gd name="T4" fmla="*/ 888 w 888"/>
                <a:gd name="T5" fmla="*/ 0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8" h="887">
                  <a:moveTo>
                    <a:pt x="0" y="887"/>
                  </a:moveTo>
                  <a:lnTo>
                    <a:pt x="887" y="0"/>
                  </a:lnTo>
                  <a:lnTo>
                    <a:pt x="88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3" name="Freeform 34"/>
            <p:cNvSpPr>
              <a:spLocks noChangeAspect="1" noChangeArrowheads="1"/>
            </p:cNvSpPr>
            <p:nvPr/>
          </p:nvSpPr>
          <p:spPr bwMode="auto">
            <a:xfrm>
              <a:off x="4658" y="1315"/>
              <a:ext cx="209" cy="210"/>
            </a:xfrm>
            <a:custGeom>
              <a:avLst/>
              <a:gdLst>
                <a:gd name="T0" fmla="*/ 0 w 837"/>
                <a:gd name="T1" fmla="*/ 837 h 837"/>
                <a:gd name="T2" fmla="*/ 836 w 837"/>
                <a:gd name="T3" fmla="*/ 0 h 837"/>
                <a:gd name="T4" fmla="*/ 837 w 837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7">
                  <a:moveTo>
                    <a:pt x="0" y="837"/>
                  </a:moveTo>
                  <a:lnTo>
                    <a:pt x="836" y="0"/>
                  </a:lnTo>
                  <a:lnTo>
                    <a:pt x="837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4" name="Freeform 35"/>
            <p:cNvSpPr>
              <a:spLocks noChangeAspect="1" noChangeArrowheads="1"/>
            </p:cNvSpPr>
            <p:nvPr/>
          </p:nvSpPr>
          <p:spPr bwMode="auto">
            <a:xfrm>
              <a:off x="4915" y="1164"/>
              <a:ext cx="104" cy="103"/>
            </a:xfrm>
            <a:custGeom>
              <a:avLst/>
              <a:gdLst>
                <a:gd name="T0" fmla="*/ 0 w 419"/>
                <a:gd name="T1" fmla="*/ 417 h 417"/>
                <a:gd name="T2" fmla="*/ 418 w 419"/>
                <a:gd name="T3" fmla="*/ 0 h 417"/>
                <a:gd name="T4" fmla="*/ 419 w 419"/>
                <a:gd name="T5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9" h="417">
                  <a:moveTo>
                    <a:pt x="0" y="417"/>
                  </a:moveTo>
                  <a:lnTo>
                    <a:pt x="418" y="0"/>
                  </a:lnTo>
                  <a:lnTo>
                    <a:pt x="419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5" name="Freeform 36"/>
            <p:cNvSpPr>
              <a:spLocks noChangeAspect="1" noChangeArrowheads="1"/>
            </p:cNvSpPr>
            <p:nvPr/>
          </p:nvSpPr>
          <p:spPr bwMode="auto">
            <a:xfrm>
              <a:off x="4658" y="1457"/>
              <a:ext cx="209" cy="207"/>
            </a:xfrm>
            <a:custGeom>
              <a:avLst/>
              <a:gdLst>
                <a:gd name="T0" fmla="*/ 0 w 837"/>
                <a:gd name="T1" fmla="*/ 837 h 837"/>
                <a:gd name="T2" fmla="*/ 836 w 837"/>
                <a:gd name="T3" fmla="*/ 0 h 837"/>
                <a:gd name="T4" fmla="*/ 837 w 837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7">
                  <a:moveTo>
                    <a:pt x="0" y="837"/>
                  </a:moveTo>
                  <a:lnTo>
                    <a:pt x="836" y="0"/>
                  </a:lnTo>
                  <a:lnTo>
                    <a:pt x="837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6" name="Freeform 37"/>
            <p:cNvSpPr>
              <a:spLocks noChangeAspect="1" noChangeArrowheads="1"/>
            </p:cNvSpPr>
            <p:nvPr/>
          </p:nvSpPr>
          <p:spPr bwMode="auto">
            <a:xfrm>
              <a:off x="5054" y="1164"/>
              <a:ext cx="106" cy="103"/>
            </a:xfrm>
            <a:custGeom>
              <a:avLst/>
              <a:gdLst>
                <a:gd name="T0" fmla="*/ 0 w 418"/>
                <a:gd name="T1" fmla="*/ 417 h 417"/>
                <a:gd name="T2" fmla="*/ 417 w 418"/>
                <a:gd name="T3" fmla="*/ 0 h 417"/>
                <a:gd name="T4" fmla="*/ 418 w 418"/>
                <a:gd name="T5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8" h="417">
                  <a:moveTo>
                    <a:pt x="0" y="417"/>
                  </a:moveTo>
                  <a:lnTo>
                    <a:pt x="417" y="0"/>
                  </a:lnTo>
                  <a:lnTo>
                    <a:pt x="4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7" name="Freeform 38"/>
            <p:cNvSpPr>
              <a:spLocks noChangeAspect="1" noChangeArrowheads="1"/>
            </p:cNvSpPr>
            <p:nvPr/>
          </p:nvSpPr>
          <p:spPr bwMode="auto">
            <a:xfrm>
              <a:off x="4658" y="1596"/>
              <a:ext cx="209" cy="210"/>
            </a:xfrm>
            <a:custGeom>
              <a:avLst/>
              <a:gdLst>
                <a:gd name="T0" fmla="*/ 0 w 837"/>
                <a:gd name="T1" fmla="*/ 837 h 837"/>
                <a:gd name="T2" fmla="*/ 836 w 837"/>
                <a:gd name="T3" fmla="*/ 0 h 837"/>
                <a:gd name="T4" fmla="*/ 837 w 837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7">
                  <a:moveTo>
                    <a:pt x="0" y="837"/>
                  </a:moveTo>
                  <a:lnTo>
                    <a:pt x="836" y="0"/>
                  </a:lnTo>
                  <a:lnTo>
                    <a:pt x="837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8" name="Freeform 39"/>
            <p:cNvSpPr>
              <a:spLocks noChangeAspect="1" noChangeArrowheads="1"/>
            </p:cNvSpPr>
            <p:nvPr/>
          </p:nvSpPr>
          <p:spPr bwMode="auto">
            <a:xfrm>
              <a:off x="5196" y="1180"/>
              <a:ext cx="86" cy="87"/>
            </a:xfrm>
            <a:custGeom>
              <a:avLst/>
              <a:gdLst>
                <a:gd name="T0" fmla="*/ 0 w 351"/>
                <a:gd name="T1" fmla="*/ 349 h 349"/>
                <a:gd name="T2" fmla="*/ 350 w 351"/>
                <a:gd name="T3" fmla="*/ 0 h 349"/>
                <a:gd name="T4" fmla="*/ 351 w 351"/>
                <a:gd name="T5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1" h="349">
                  <a:moveTo>
                    <a:pt x="0" y="349"/>
                  </a:moveTo>
                  <a:lnTo>
                    <a:pt x="350" y="0"/>
                  </a:lnTo>
                  <a:lnTo>
                    <a:pt x="351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9" name="Freeform 40"/>
            <p:cNvSpPr>
              <a:spLocks noChangeAspect="1" noChangeArrowheads="1"/>
            </p:cNvSpPr>
            <p:nvPr/>
          </p:nvSpPr>
          <p:spPr bwMode="auto">
            <a:xfrm>
              <a:off x="4712" y="1684"/>
              <a:ext cx="207" cy="209"/>
            </a:xfrm>
            <a:custGeom>
              <a:avLst/>
              <a:gdLst>
                <a:gd name="T0" fmla="*/ 0 w 836"/>
                <a:gd name="T1" fmla="*/ 837 h 837"/>
                <a:gd name="T2" fmla="*/ 835 w 836"/>
                <a:gd name="T3" fmla="*/ 0 h 837"/>
                <a:gd name="T4" fmla="*/ 836 w 836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837">
                  <a:moveTo>
                    <a:pt x="0" y="837"/>
                  </a:moveTo>
                  <a:lnTo>
                    <a:pt x="835" y="0"/>
                  </a:lnTo>
                  <a:lnTo>
                    <a:pt x="83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0" name="Freeform 41"/>
            <p:cNvSpPr>
              <a:spLocks noChangeAspect="1" noChangeArrowheads="1"/>
            </p:cNvSpPr>
            <p:nvPr/>
          </p:nvSpPr>
          <p:spPr bwMode="auto">
            <a:xfrm>
              <a:off x="4851" y="1684"/>
              <a:ext cx="209" cy="209"/>
            </a:xfrm>
            <a:custGeom>
              <a:avLst/>
              <a:gdLst>
                <a:gd name="T0" fmla="*/ 0 w 836"/>
                <a:gd name="T1" fmla="*/ 837 h 837"/>
                <a:gd name="T2" fmla="*/ 835 w 836"/>
                <a:gd name="T3" fmla="*/ 0 h 837"/>
                <a:gd name="T4" fmla="*/ 836 w 836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837">
                  <a:moveTo>
                    <a:pt x="0" y="837"/>
                  </a:moveTo>
                  <a:lnTo>
                    <a:pt x="835" y="0"/>
                  </a:lnTo>
                  <a:lnTo>
                    <a:pt x="83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1" name="Freeform 42"/>
            <p:cNvSpPr>
              <a:spLocks noChangeAspect="1" noChangeArrowheads="1"/>
            </p:cNvSpPr>
            <p:nvPr/>
          </p:nvSpPr>
          <p:spPr bwMode="auto">
            <a:xfrm>
              <a:off x="4991" y="1684"/>
              <a:ext cx="209" cy="209"/>
            </a:xfrm>
            <a:custGeom>
              <a:avLst/>
              <a:gdLst>
                <a:gd name="T0" fmla="*/ 0 w 837"/>
                <a:gd name="T1" fmla="*/ 837 h 837"/>
                <a:gd name="T2" fmla="*/ 836 w 837"/>
                <a:gd name="T3" fmla="*/ 0 h 837"/>
                <a:gd name="T4" fmla="*/ 837 w 837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7">
                  <a:moveTo>
                    <a:pt x="0" y="837"/>
                  </a:moveTo>
                  <a:lnTo>
                    <a:pt x="836" y="0"/>
                  </a:lnTo>
                  <a:lnTo>
                    <a:pt x="837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2" name="Freeform 43"/>
            <p:cNvSpPr>
              <a:spLocks noChangeAspect="1" noChangeArrowheads="1"/>
            </p:cNvSpPr>
            <p:nvPr/>
          </p:nvSpPr>
          <p:spPr bwMode="auto">
            <a:xfrm>
              <a:off x="5132" y="1684"/>
              <a:ext cx="208" cy="209"/>
            </a:xfrm>
            <a:custGeom>
              <a:avLst/>
              <a:gdLst>
                <a:gd name="T0" fmla="*/ 0 w 836"/>
                <a:gd name="T1" fmla="*/ 837 h 837"/>
                <a:gd name="T2" fmla="*/ 835 w 836"/>
                <a:gd name="T3" fmla="*/ 0 h 837"/>
                <a:gd name="T4" fmla="*/ 836 w 836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837">
                  <a:moveTo>
                    <a:pt x="0" y="837"/>
                  </a:moveTo>
                  <a:lnTo>
                    <a:pt x="835" y="0"/>
                  </a:lnTo>
                  <a:lnTo>
                    <a:pt x="83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3" name="Freeform 44"/>
            <p:cNvSpPr>
              <a:spLocks noChangeAspect="1" noChangeArrowheads="1"/>
            </p:cNvSpPr>
            <p:nvPr/>
          </p:nvSpPr>
          <p:spPr bwMode="auto">
            <a:xfrm>
              <a:off x="5272" y="1684"/>
              <a:ext cx="209" cy="209"/>
            </a:xfrm>
            <a:custGeom>
              <a:avLst/>
              <a:gdLst>
                <a:gd name="T0" fmla="*/ 0 w 836"/>
                <a:gd name="T1" fmla="*/ 837 h 837"/>
                <a:gd name="T2" fmla="*/ 835 w 836"/>
                <a:gd name="T3" fmla="*/ 0 h 837"/>
                <a:gd name="T4" fmla="*/ 836 w 836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837">
                  <a:moveTo>
                    <a:pt x="0" y="837"/>
                  </a:moveTo>
                  <a:lnTo>
                    <a:pt x="835" y="0"/>
                  </a:lnTo>
                  <a:lnTo>
                    <a:pt x="83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4" name="Freeform 45"/>
            <p:cNvSpPr>
              <a:spLocks noChangeAspect="1" noChangeArrowheads="1"/>
            </p:cNvSpPr>
            <p:nvPr/>
          </p:nvSpPr>
          <p:spPr bwMode="auto">
            <a:xfrm>
              <a:off x="5411" y="1814"/>
              <a:ext cx="80" cy="79"/>
            </a:xfrm>
            <a:custGeom>
              <a:avLst/>
              <a:gdLst>
                <a:gd name="T0" fmla="*/ 0 w 316"/>
                <a:gd name="T1" fmla="*/ 316 h 316"/>
                <a:gd name="T2" fmla="*/ 315 w 316"/>
                <a:gd name="T3" fmla="*/ 0 h 316"/>
                <a:gd name="T4" fmla="*/ 316 w 316"/>
                <a:gd name="T5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6" h="316">
                  <a:moveTo>
                    <a:pt x="0" y="316"/>
                  </a:moveTo>
                  <a:lnTo>
                    <a:pt x="315" y="0"/>
                  </a:lnTo>
                  <a:lnTo>
                    <a:pt x="31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5" name="Freeform 46"/>
            <p:cNvSpPr>
              <a:spLocks noChangeAspect="1" noChangeArrowheads="1"/>
            </p:cNvSpPr>
            <p:nvPr/>
          </p:nvSpPr>
          <p:spPr bwMode="auto">
            <a:xfrm>
              <a:off x="4554" y="641"/>
              <a:ext cx="4" cy="4"/>
            </a:xfrm>
            <a:custGeom>
              <a:avLst/>
              <a:gdLst>
                <a:gd name="T0" fmla="*/ 0 w 18"/>
                <a:gd name="T1" fmla="*/ 17 h 17"/>
                <a:gd name="T2" fmla="*/ 17 w 18"/>
                <a:gd name="T3" fmla="*/ 0 h 17"/>
                <a:gd name="T4" fmla="*/ 18 w 18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7">
                  <a:moveTo>
                    <a:pt x="0" y="17"/>
                  </a:moveTo>
                  <a:lnTo>
                    <a:pt x="17" y="0"/>
                  </a:lnTo>
                  <a:lnTo>
                    <a:pt x="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6" name="Freeform 47"/>
            <p:cNvSpPr>
              <a:spLocks noChangeAspect="1" noChangeArrowheads="1"/>
            </p:cNvSpPr>
            <p:nvPr/>
          </p:nvSpPr>
          <p:spPr bwMode="auto">
            <a:xfrm>
              <a:off x="4594" y="641"/>
              <a:ext cx="104" cy="104"/>
            </a:xfrm>
            <a:custGeom>
              <a:avLst/>
              <a:gdLst>
                <a:gd name="T0" fmla="*/ 0 w 419"/>
                <a:gd name="T1" fmla="*/ 419 h 419"/>
                <a:gd name="T2" fmla="*/ 418 w 419"/>
                <a:gd name="T3" fmla="*/ 0 h 419"/>
                <a:gd name="T4" fmla="*/ 419 w 419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9" h="419">
                  <a:moveTo>
                    <a:pt x="0" y="419"/>
                  </a:moveTo>
                  <a:lnTo>
                    <a:pt x="418" y="0"/>
                  </a:lnTo>
                  <a:lnTo>
                    <a:pt x="419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7" name="Freeform 48"/>
            <p:cNvSpPr>
              <a:spLocks noChangeAspect="1" noChangeArrowheads="1"/>
            </p:cNvSpPr>
            <p:nvPr/>
          </p:nvSpPr>
          <p:spPr bwMode="auto">
            <a:xfrm>
              <a:off x="4734" y="641"/>
              <a:ext cx="105" cy="104"/>
            </a:xfrm>
            <a:custGeom>
              <a:avLst/>
              <a:gdLst>
                <a:gd name="T0" fmla="*/ 0 w 418"/>
                <a:gd name="T1" fmla="*/ 419 h 419"/>
                <a:gd name="T2" fmla="*/ 417 w 418"/>
                <a:gd name="T3" fmla="*/ 0 h 419"/>
                <a:gd name="T4" fmla="*/ 418 w 418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8" h="419">
                  <a:moveTo>
                    <a:pt x="0" y="419"/>
                  </a:moveTo>
                  <a:lnTo>
                    <a:pt x="417" y="0"/>
                  </a:lnTo>
                  <a:lnTo>
                    <a:pt x="4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8" name="Freeform 49"/>
            <p:cNvSpPr>
              <a:spLocks noChangeAspect="1" noChangeArrowheads="1"/>
            </p:cNvSpPr>
            <p:nvPr/>
          </p:nvSpPr>
          <p:spPr bwMode="auto">
            <a:xfrm>
              <a:off x="4875" y="641"/>
              <a:ext cx="104" cy="104"/>
            </a:xfrm>
            <a:custGeom>
              <a:avLst/>
              <a:gdLst>
                <a:gd name="T0" fmla="*/ 0 w 419"/>
                <a:gd name="T1" fmla="*/ 419 h 419"/>
                <a:gd name="T2" fmla="*/ 418 w 419"/>
                <a:gd name="T3" fmla="*/ 0 h 419"/>
                <a:gd name="T4" fmla="*/ 419 w 419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9" h="419">
                  <a:moveTo>
                    <a:pt x="0" y="419"/>
                  </a:moveTo>
                  <a:lnTo>
                    <a:pt x="418" y="0"/>
                  </a:lnTo>
                  <a:lnTo>
                    <a:pt x="419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9" name="Freeform 50"/>
            <p:cNvSpPr>
              <a:spLocks noChangeAspect="1" noChangeArrowheads="1"/>
            </p:cNvSpPr>
            <p:nvPr/>
          </p:nvSpPr>
          <p:spPr bwMode="auto">
            <a:xfrm>
              <a:off x="4554" y="1164"/>
              <a:ext cx="44" cy="44"/>
            </a:xfrm>
            <a:custGeom>
              <a:avLst/>
              <a:gdLst>
                <a:gd name="T0" fmla="*/ 0 w 180"/>
                <a:gd name="T1" fmla="*/ 178 h 178"/>
                <a:gd name="T2" fmla="*/ 179 w 180"/>
                <a:gd name="T3" fmla="*/ 0 h 178"/>
                <a:gd name="T4" fmla="*/ 180 w 180"/>
                <a:gd name="T5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0" h="178">
                  <a:moveTo>
                    <a:pt x="0" y="178"/>
                  </a:moveTo>
                  <a:lnTo>
                    <a:pt x="179" y="0"/>
                  </a:lnTo>
                  <a:lnTo>
                    <a:pt x="18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0" name="Freeform 51"/>
            <p:cNvSpPr>
              <a:spLocks noChangeAspect="1" noChangeArrowheads="1"/>
            </p:cNvSpPr>
            <p:nvPr/>
          </p:nvSpPr>
          <p:spPr bwMode="auto">
            <a:xfrm>
              <a:off x="5015" y="641"/>
              <a:ext cx="103" cy="104"/>
            </a:xfrm>
            <a:custGeom>
              <a:avLst/>
              <a:gdLst>
                <a:gd name="T0" fmla="*/ 0 w 420"/>
                <a:gd name="T1" fmla="*/ 419 h 419"/>
                <a:gd name="T2" fmla="*/ 419 w 420"/>
                <a:gd name="T3" fmla="*/ 0 h 419"/>
                <a:gd name="T4" fmla="*/ 420 w 420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0" h="419">
                  <a:moveTo>
                    <a:pt x="0" y="419"/>
                  </a:moveTo>
                  <a:lnTo>
                    <a:pt x="419" y="0"/>
                  </a:lnTo>
                  <a:lnTo>
                    <a:pt x="42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1" name="Freeform 52"/>
            <p:cNvSpPr>
              <a:spLocks noChangeAspect="1" noChangeArrowheads="1"/>
            </p:cNvSpPr>
            <p:nvPr/>
          </p:nvSpPr>
          <p:spPr bwMode="auto">
            <a:xfrm>
              <a:off x="4640" y="1164"/>
              <a:ext cx="99" cy="97"/>
            </a:xfrm>
            <a:custGeom>
              <a:avLst/>
              <a:gdLst>
                <a:gd name="T0" fmla="*/ 0 w 398"/>
                <a:gd name="T1" fmla="*/ 397 h 397"/>
                <a:gd name="T2" fmla="*/ 397 w 398"/>
                <a:gd name="T3" fmla="*/ 0 h 397"/>
                <a:gd name="T4" fmla="*/ 398 w 398"/>
                <a:gd name="T5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8" h="397">
                  <a:moveTo>
                    <a:pt x="0" y="397"/>
                  </a:moveTo>
                  <a:lnTo>
                    <a:pt x="397" y="0"/>
                  </a:lnTo>
                  <a:lnTo>
                    <a:pt x="39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2" name="Freeform 53"/>
            <p:cNvSpPr>
              <a:spLocks noChangeAspect="1" noChangeArrowheads="1"/>
            </p:cNvSpPr>
            <p:nvPr/>
          </p:nvSpPr>
          <p:spPr bwMode="auto">
            <a:xfrm>
              <a:off x="5154" y="641"/>
              <a:ext cx="106" cy="104"/>
            </a:xfrm>
            <a:custGeom>
              <a:avLst/>
              <a:gdLst>
                <a:gd name="T0" fmla="*/ 0 w 420"/>
                <a:gd name="T1" fmla="*/ 419 h 419"/>
                <a:gd name="T2" fmla="*/ 419 w 420"/>
                <a:gd name="T3" fmla="*/ 0 h 419"/>
                <a:gd name="T4" fmla="*/ 420 w 420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0" h="419">
                  <a:moveTo>
                    <a:pt x="0" y="419"/>
                  </a:moveTo>
                  <a:lnTo>
                    <a:pt x="419" y="0"/>
                  </a:lnTo>
                  <a:lnTo>
                    <a:pt x="42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3" name="Freeform 54"/>
            <p:cNvSpPr>
              <a:spLocks noChangeAspect="1" noChangeArrowheads="1"/>
            </p:cNvSpPr>
            <p:nvPr/>
          </p:nvSpPr>
          <p:spPr bwMode="auto">
            <a:xfrm>
              <a:off x="4658" y="1164"/>
              <a:ext cx="221" cy="221"/>
            </a:xfrm>
            <a:custGeom>
              <a:avLst/>
              <a:gdLst>
                <a:gd name="T0" fmla="*/ 0 w 888"/>
                <a:gd name="T1" fmla="*/ 887 h 887"/>
                <a:gd name="T2" fmla="*/ 887 w 888"/>
                <a:gd name="T3" fmla="*/ 0 h 887"/>
                <a:gd name="T4" fmla="*/ 888 w 888"/>
                <a:gd name="T5" fmla="*/ 0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8" h="887">
                  <a:moveTo>
                    <a:pt x="0" y="887"/>
                  </a:moveTo>
                  <a:lnTo>
                    <a:pt x="887" y="0"/>
                  </a:lnTo>
                  <a:lnTo>
                    <a:pt x="88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4" name="Freeform 55"/>
            <p:cNvSpPr>
              <a:spLocks noChangeAspect="1" noChangeArrowheads="1"/>
            </p:cNvSpPr>
            <p:nvPr/>
          </p:nvSpPr>
          <p:spPr bwMode="auto">
            <a:xfrm>
              <a:off x="4658" y="1315"/>
              <a:ext cx="209" cy="210"/>
            </a:xfrm>
            <a:custGeom>
              <a:avLst/>
              <a:gdLst>
                <a:gd name="T0" fmla="*/ 0 w 837"/>
                <a:gd name="T1" fmla="*/ 837 h 837"/>
                <a:gd name="T2" fmla="*/ 836 w 837"/>
                <a:gd name="T3" fmla="*/ 0 h 837"/>
                <a:gd name="T4" fmla="*/ 837 w 837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7">
                  <a:moveTo>
                    <a:pt x="0" y="837"/>
                  </a:moveTo>
                  <a:lnTo>
                    <a:pt x="836" y="0"/>
                  </a:lnTo>
                  <a:lnTo>
                    <a:pt x="837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5" name="Freeform 56"/>
            <p:cNvSpPr>
              <a:spLocks noChangeAspect="1" noChangeArrowheads="1"/>
            </p:cNvSpPr>
            <p:nvPr/>
          </p:nvSpPr>
          <p:spPr bwMode="auto">
            <a:xfrm>
              <a:off x="4915" y="1164"/>
              <a:ext cx="104" cy="103"/>
            </a:xfrm>
            <a:custGeom>
              <a:avLst/>
              <a:gdLst>
                <a:gd name="T0" fmla="*/ 0 w 419"/>
                <a:gd name="T1" fmla="*/ 417 h 417"/>
                <a:gd name="T2" fmla="*/ 418 w 419"/>
                <a:gd name="T3" fmla="*/ 0 h 417"/>
                <a:gd name="T4" fmla="*/ 419 w 419"/>
                <a:gd name="T5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9" h="417">
                  <a:moveTo>
                    <a:pt x="0" y="417"/>
                  </a:moveTo>
                  <a:lnTo>
                    <a:pt x="418" y="0"/>
                  </a:lnTo>
                  <a:lnTo>
                    <a:pt x="419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6" name="Freeform 57"/>
            <p:cNvSpPr>
              <a:spLocks noChangeAspect="1" noChangeArrowheads="1"/>
            </p:cNvSpPr>
            <p:nvPr/>
          </p:nvSpPr>
          <p:spPr bwMode="auto">
            <a:xfrm>
              <a:off x="4658" y="1457"/>
              <a:ext cx="209" cy="207"/>
            </a:xfrm>
            <a:custGeom>
              <a:avLst/>
              <a:gdLst>
                <a:gd name="T0" fmla="*/ 0 w 837"/>
                <a:gd name="T1" fmla="*/ 837 h 837"/>
                <a:gd name="T2" fmla="*/ 836 w 837"/>
                <a:gd name="T3" fmla="*/ 0 h 837"/>
                <a:gd name="T4" fmla="*/ 837 w 837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7">
                  <a:moveTo>
                    <a:pt x="0" y="837"/>
                  </a:moveTo>
                  <a:lnTo>
                    <a:pt x="836" y="0"/>
                  </a:lnTo>
                  <a:lnTo>
                    <a:pt x="837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7" name="Freeform 58"/>
            <p:cNvSpPr>
              <a:spLocks noChangeAspect="1" noChangeArrowheads="1"/>
            </p:cNvSpPr>
            <p:nvPr/>
          </p:nvSpPr>
          <p:spPr bwMode="auto">
            <a:xfrm>
              <a:off x="5054" y="1164"/>
              <a:ext cx="106" cy="103"/>
            </a:xfrm>
            <a:custGeom>
              <a:avLst/>
              <a:gdLst>
                <a:gd name="T0" fmla="*/ 0 w 418"/>
                <a:gd name="T1" fmla="*/ 417 h 417"/>
                <a:gd name="T2" fmla="*/ 417 w 418"/>
                <a:gd name="T3" fmla="*/ 0 h 417"/>
                <a:gd name="T4" fmla="*/ 418 w 418"/>
                <a:gd name="T5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8" h="417">
                  <a:moveTo>
                    <a:pt x="0" y="417"/>
                  </a:moveTo>
                  <a:lnTo>
                    <a:pt x="417" y="0"/>
                  </a:lnTo>
                  <a:lnTo>
                    <a:pt x="4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8" name="Freeform 59"/>
            <p:cNvSpPr>
              <a:spLocks noChangeAspect="1" noChangeArrowheads="1"/>
            </p:cNvSpPr>
            <p:nvPr/>
          </p:nvSpPr>
          <p:spPr bwMode="auto">
            <a:xfrm>
              <a:off x="4658" y="1596"/>
              <a:ext cx="209" cy="210"/>
            </a:xfrm>
            <a:custGeom>
              <a:avLst/>
              <a:gdLst>
                <a:gd name="T0" fmla="*/ 0 w 837"/>
                <a:gd name="T1" fmla="*/ 837 h 837"/>
                <a:gd name="T2" fmla="*/ 836 w 837"/>
                <a:gd name="T3" fmla="*/ 0 h 837"/>
                <a:gd name="T4" fmla="*/ 837 w 837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7">
                  <a:moveTo>
                    <a:pt x="0" y="837"/>
                  </a:moveTo>
                  <a:lnTo>
                    <a:pt x="836" y="0"/>
                  </a:lnTo>
                  <a:lnTo>
                    <a:pt x="837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9" name="Freeform 60"/>
            <p:cNvSpPr>
              <a:spLocks noChangeAspect="1" noChangeArrowheads="1"/>
            </p:cNvSpPr>
            <p:nvPr/>
          </p:nvSpPr>
          <p:spPr bwMode="auto">
            <a:xfrm>
              <a:off x="5196" y="1180"/>
              <a:ext cx="86" cy="87"/>
            </a:xfrm>
            <a:custGeom>
              <a:avLst/>
              <a:gdLst>
                <a:gd name="T0" fmla="*/ 0 w 351"/>
                <a:gd name="T1" fmla="*/ 349 h 349"/>
                <a:gd name="T2" fmla="*/ 350 w 351"/>
                <a:gd name="T3" fmla="*/ 0 h 349"/>
                <a:gd name="T4" fmla="*/ 351 w 351"/>
                <a:gd name="T5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1" h="349">
                  <a:moveTo>
                    <a:pt x="0" y="349"/>
                  </a:moveTo>
                  <a:lnTo>
                    <a:pt x="350" y="0"/>
                  </a:lnTo>
                  <a:lnTo>
                    <a:pt x="351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0" name="Freeform 61"/>
            <p:cNvSpPr>
              <a:spLocks noChangeAspect="1" noChangeArrowheads="1"/>
            </p:cNvSpPr>
            <p:nvPr/>
          </p:nvSpPr>
          <p:spPr bwMode="auto">
            <a:xfrm>
              <a:off x="4712" y="1684"/>
              <a:ext cx="207" cy="209"/>
            </a:xfrm>
            <a:custGeom>
              <a:avLst/>
              <a:gdLst>
                <a:gd name="T0" fmla="*/ 0 w 836"/>
                <a:gd name="T1" fmla="*/ 837 h 837"/>
                <a:gd name="T2" fmla="*/ 835 w 836"/>
                <a:gd name="T3" fmla="*/ 0 h 837"/>
                <a:gd name="T4" fmla="*/ 836 w 836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837">
                  <a:moveTo>
                    <a:pt x="0" y="837"/>
                  </a:moveTo>
                  <a:lnTo>
                    <a:pt x="835" y="0"/>
                  </a:lnTo>
                  <a:lnTo>
                    <a:pt x="83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1" name="Freeform 62"/>
            <p:cNvSpPr>
              <a:spLocks noChangeAspect="1" noChangeArrowheads="1"/>
            </p:cNvSpPr>
            <p:nvPr/>
          </p:nvSpPr>
          <p:spPr bwMode="auto">
            <a:xfrm>
              <a:off x="4851" y="1684"/>
              <a:ext cx="209" cy="209"/>
            </a:xfrm>
            <a:custGeom>
              <a:avLst/>
              <a:gdLst>
                <a:gd name="T0" fmla="*/ 0 w 836"/>
                <a:gd name="T1" fmla="*/ 837 h 837"/>
                <a:gd name="T2" fmla="*/ 835 w 836"/>
                <a:gd name="T3" fmla="*/ 0 h 837"/>
                <a:gd name="T4" fmla="*/ 836 w 836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837">
                  <a:moveTo>
                    <a:pt x="0" y="837"/>
                  </a:moveTo>
                  <a:lnTo>
                    <a:pt x="835" y="0"/>
                  </a:lnTo>
                  <a:lnTo>
                    <a:pt x="83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2" name="Freeform 63"/>
            <p:cNvSpPr>
              <a:spLocks noChangeAspect="1" noChangeArrowheads="1"/>
            </p:cNvSpPr>
            <p:nvPr/>
          </p:nvSpPr>
          <p:spPr bwMode="auto">
            <a:xfrm>
              <a:off x="4991" y="1684"/>
              <a:ext cx="209" cy="209"/>
            </a:xfrm>
            <a:custGeom>
              <a:avLst/>
              <a:gdLst>
                <a:gd name="T0" fmla="*/ 0 w 837"/>
                <a:gd name="T1" fmla="*/ 837 h 837"/>
                <a:gd name="T2" fmla="*/ 836 w 837"/>
                <a:gd name="T3" fmla="*/ 0 h 837"/>
                <a:gd name="T4" fmla="*/ 837 w 837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7">
                  <a:moveTo>
                    <a:pt x="0" y="837"/>
                  </a:moveTo>
                  <a:lnTo>
                    <a:pt x="836" y="0"/>
                  </a:lnTo>
                  <a:lnTo>
                    <a:pt x="837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3" name="Freeform 64"/>
            <p:cNvSpPr>
              <a:spLocks noChangeAspect="1" noChangeArrowheads="1"/>
            </p:cNvSpPr>
            <p:nvPr/>
          </p:nvSpPr>
          <p:spPr bwMode="auto">
            <a:xfrm>
              <a:off x="5132" y="1684"/>
              <a:ext cx="208" cy="209"/>
            </a:xfrm>
            <a:custGeom>
              <a:avLst/>
              <a:gdLst>
                <a:gd name="T0" fmla="*/ 0 w 836"/>
                <a:gd name="T1" fmla="*/ 837 h 837"/>
                <a:gd name="T2" fmla="*/ 835 w 836"/>
                <a:gd name="T3" fmla="*/ 0 h 837"/>
                <a:gd name="T4" fmla="*/ 836 w 836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837">
                  <a:moveTo>
                    <a:pt x="0" y="837"/>
                  </a:moveTo>
                  <a:lnTo>
                    <a:pt x="835" y="0"/>
                  </a:lnTo>
                  <a:lnTo>
                    <a:pt x="83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4" name="Freeform 65"/>
            <p:cNvSpPr>
              <a:spLocks noChangeAspect="1" noChangeArrowheads="1"/>
            </p:cNvSpPr>
            <p:nvPr/>
          </p:nvSpPr>
          <p:spPr bwMode="auto">
            <a:xfrm>
              <a:off x="5272" y="1684"/>
              <a:ext cx="209" cy="209"/>
            </a:xfrm>
            <a:custGeom>
              <a:avLst/>
              <a:gdLst>
                <a:gd name="T0" fmla="*/ 0 w 836"/>
                <a:gd name="T1" fmla="*/ 837 h 837"/>
                <a:gd name="T2" fmla="*/ 835 w 836"/>
                <a:gd name="T3" fmla="*/ 0 h 837"/>
                <a:gd name="T4" fmla="*/ 836 w 836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837">
                  <a:moveTo>
                    <a:pt x="0" y="837"/>
                  </a:moveTo>
                  <a:lnTo>
                    <a:pt x="835" y="0"/>
                  </a:lnTo>
                  <a:lnTo>
                    <a:pt x="83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5" name="Freeform 66"/>
            <p:cNvSpPr>
              <a:spLocks noChangeAspect="1" noChangeArrowheads="1"/>
            </p:cNvSpPr>
            <p:nvPr/>
          </p:nvSpPr>
          <p:spPr bwMode="auto">
            <a:xfrm>
              <a:off x="5411" y="1814"/>
              <a:ext cx="80" cy="79"/>
            </a:xfrm>
            <a:custGeom>
              <a:avLst/>
              <a:gdLst>
                <a:gd name="T0" fmla="*/ 0 w 316"/>
                <a:gd name="T1" fmla="*/ 316 h 316"/>
                <a:gd name="T2" fmla="*/ 315 w 316"/>
                <a:gd name="T3" fmla="*/ 0 h 316"/>
                <a:gd name="T4" fmla="*/ 316 w 316"/>
                <a:gd name="T5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6" h="316">
                  <a:moveTo>
                    <a:pt x="0" y="316"/>
                  </a:moveTo>
                  <a:lnTo>
                    <a:pt x="315" y="0"/>
                  </a:lnTo>
                  <a:lnTo>
                    <a:pt x="31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sp>
        <p:nvSpPr>
          <p:cNvPr id="86" name="Freeform 67"/>
          <p:cNvSpPr>
            <a:spLocks noChangeAspect="1" noChangeArrowheads="1"/>
          </p:cNvSpPr>
          <p:nvPr/>
        </p:nvSpPr>
        <p:spPr bwMode="auto">
          <a:xfrm>
            <a:off x="4325939" y="4510089"/>
            <a:ext cx="1587" cy="238125"/>
          </a:xfrm>
          <a:custGeom>
            <a:avLst/>
            <a:gdLst>
              <a:gd name="T0" fmla="*/ 0 w 1"/>
              <a:gd name="T1" fmla="*/ 0 h 753"/>
              <a:gd name="T2" fmla="*/ 0 w 1"/>
              <a:gd name="T3" fmla="*/ 753 h 753"/>
              <a:gd name="T4" fmla="*/ 1 w 1"/>
              <a:gd name="T5" fmla="*/ 753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753">
                <a:moveTo>
                  <a:pt x="0" y="0"/>
                </a:moveTo>
                <a:lnTo>
                  <a:pt x="0" y="753"/>
                </a:lnTo>
                <a:lnTo>
                  <a:pt x="1" y="753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grpSp>
        <p:nvGrpSpPr>
          <p:cNvPr id="87" name="Group 68"/>
          <p:cNvGrpSpPr>
            <a:grpSpLocks/>
          </p:cNvGrpSpPr>
          <p:nvPr/>
        </p:nvGrpSpPr>
        <p:grpSpPr bwMode="auto">
          <a:xfrm>
            <a:off x="3135314" y="3373438"/>
            <a:ext cx="2384425" cy="1193800"/>
            <a:chOff x="1031" y="1797"/>
            <a:chExt cx="1502" cy="752"/>
          </a:xfrm>
        </p:grpSpPr>
        <p:sp>
          <p:nvSpPr>
            <p:cNvPr id="88" name="Freeform 69"/>
            <p:cNvSpPr>
              <a:spLocks noChangeAspect="1" noChangeArrowheads="1"/>
            </p:cNvSpPr>
            <p:nvPr/>
          </p:nvSpPr>
          <p:spPr bwMode="auto">
            <a:xfrm>
              <a:off x="2364" y="1880"/>
              <a:ext cx="1" cy="167"/>
            </a:xfrm>
            <a:custGeom>
              <a:avLst/>
              <a:gdLst>
                <a:gd name="T0" fmla="*/ 0 w 1"/>
                <a:gd name="T1" fmla="*/ 0 h 837"/>
                <a:gd name="T2" fmla="*/ 0 w 1"/>
                <a:gd name="T3" fmla="*/ 837 h 837"/>
                <a:gd name="T4" fmla="*/ 1 w 1"/>
                <a:gd name="T5" fmla="*/ 837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37">
                  <a:moveTo>
                    <a:pt x="0" y="0"/>
                  </a:moveTo>
                  <a:lnTo>
                    <a:pt x="0" y="837"/>
                  </a:lnTo>
                  <a:lnTo>
                    <a:pt x="1" y="837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9" name="Freeform 70"/>
            <p:cNvSpPr>
              <a:spLocks noChangeAspect="1" noChangeArrowheads="1"/>
            </p:cNvSpPr>
            <p:nvPr/>
          </p:nvSpPr>
          <p:spPr bwMode="auto">
            <a:xfrm>
              <a:off x="1197" y="1880"/>
              <a:ext cx="1" cy="167"/>
            </a:xfrm>
            <a:custGeom>
              <a:avLst/>
              <a:gdLst>
                <a:gd name="T0" fmla="*/ 0 w 1"/>
                <a:gd name="T1" fmla="*/ 0 h 837"/>
                <a:gd name="T2" fmla="*/ 0 w 1"/>
                <a:gd name="T3" fmla="*/ 837 h 837"/>
                <a:gd name="T4" fmla="*/ 1 w 1"/>
                <a:gd name="T5" fmla="*/ 837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37">
                  <a:moveTo>
                    <a:pt x="0" y="0"/>
                  </a:moveTo>
                  <a:lnTo>
                    <a:pt x="0" y="837"/>
                  </a:lnTo>
                  <a:lnTo>
                    <a:pt x="1" y="837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0" name="Freeform 71"/>
            <p:cNvSpPr>
              <a:spLocks noChangeAspect="1" noChangeArrowheads="1"/>
            </p:cNvSpPr>
            <p:nvPr/>
          </p:nvSpPr>
          <p:spPr bwMode="auto">
            <a:xfrm>
              <a:off x="1321" y="2047"/>
              <a:ext cx="333" cy="2"/>
            </a:xfrm>
            <a:custGeom>
              <a:avLst/>
              <a:gdLst>
                <a:gd name="T0" fmla="*/ 0 w 1673"/>
                <a:gd name="T1" fmla="*/ 0 h 2"/>
                <a:gd name="T2" fmla="*/ 1672 w 1673"/>
                <a:gd name="T3" fmla="*/ 0 h 2"/>
                <a:gd name="T4" fmla="*/ 1673 w 167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3" h="2">
                  <a:moveTo>
                    <a:pt x="0" y="0"/>
                  </a:moveTo>
                  <a:lnTo>
                    <a:pt x="1672" y="0"/>
                  </a:lnTo>
                  <a:lnTo>
                    <a:pt x="1673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1" name="Freeform 72"/>
            <p:cNvSpPr>
              <a:spLocks noChangeAspect="1" noChangeArrowheads="1"/>
            </p:cNvSpPr>
            <p:nvPr/>
          </p:nvSpPr>
          <p:spPr bwMode="auto">
            <a:xfrm>
              <a:off x="1905" y="2047"/>
              <a:ext cx="334" cy="2"/>
            </a:xfrm>
            <a:custGeom>
              <a:avLst/>
              <a:gdLst>
                <a:gd name="T0" fmla="*/ 1671 w 1671"/>
                <a:gd name="T1" fmla="*/ 0 h 2"/>
                <a:gd name="T2" fmla="*/ 0 w 1671"/>
                <a:gd name="T3" fmla="*/ 0 h 2"/>
                <a:gd name="T4" fmla="*/ 1 w 167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1" h="2">
                  <a:moveTo>
                    <a:pt x="167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2" name="Freeform 73"/>
            <p:cNvSpPr>
              <a:spLocks noChangeAspect="1" noChangeArrowheads="1"/>
            </p:cNvSpPr>
            <p:nvPr/>
          </p:nvSpPr>
          <p:spPr bwMode="auto">
            <a:xfrm>
              <a:off x="1031" y="1880"/>
              <a:ext cx="1" cy="584"/>
            </a:xfrm>
            <a:custGeom>
              <a:avLst/>
              <a:gdLst>
                <a:gd name="T0" fmla="*/ 0 w 1"/>
                <a:gd name="T1" fmla="*/ 0 h 2929"/>
                <a:gd name="T2" fmla="*/ 0 w 1"/>
                <a:gd name="T3" fmla="*/ 2929 h 2929"/>
                <a:gd name="T4" fmla="*/ 1 w 1"/>
                <a:gd name="T5" fmla="*/ 2929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29">
                  <a:moveTo>
                    <a:pt x="0" y="0"/>
                  </a:moveTo>
                  <a:lnTo>
                    <a:pt x="0" y="2929"/>
                  </a:lnTo>
                  <a:lnTo>
                    <a:pt x="1" y="292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3" name="Freeform 74"/>
            <p:cNvSpPr>
              <a:spLocks noChangeAspect="1" noChangeArrowheads="1"/>
            </p:cNvSpPr>
            <p:nvPr/>
          </p:nvSpPr>
          <p:spPr bwMode="auto">
            <a:xfrm>
              <a:off x="1031" y="2464"/>
              <a:ext cx="83" cy="83"/>
            </a:xfrm>
            <a:custGeom>
              <a:avLst/>
              <a:gdLst>
                <a:gd name="T0" fmla="*/ 0 w 419"/>
                <a:gd name="T1" fmla="*/ 0 h 418"/>
                <a:gd name="T2" fmla="*/ 57 w 419"/>
                <a:gd name="T3" fmla="*/ 210 h 418"/>
                <a:gd name="T4" fmla="*/ 210 w 419"/>
                <a:gd name="T5" fmla="*/ 362 h 418"/>
                <a:gd name="T6" fmla="*/ 418 w 419"/>
                <a:gd name="T7" fmla="*/ 418 h 418"/>
                <a:gd name="T8" fmla="*/ 419 w 419"/>
                <a:gd name="T9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9" h="418">
                  <a:moveTo>
                    <a:pt x="0" y="0"/>
                  </a:moveTo>
                  <a:lnTo>
                    <a:pt x="57" y="210"/>
                  </a:lnTo>
                  <a:lnTo>
                    <a:pt x="210" y="362"/>
                  </a:lnTo>
                  <a:lnTo>
                    <a:pt x="418" y="418"/>
                  </a:lnTo>
                  <a:lnTo>
                    <a:pt x="419" y="41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4" name="Freeform 75"/>
            <p:cNvSpPr>
              <a:spLocks noChangeAspect="1" noChangeArrowheads="1"/>
            </p:cNvSpPr>
            <p:nvPr/>
          </p:nvSpPr>
          <p:spPr bwMode="auto">
            <a:xfrm>
              <a:off x="1114" y="2547"/>
              <a:ext cx="1334" cy="2"/>
            </a:xfrm>
            <a:custGeom>
              <a:avLst/>
              <a:gdLst>
                <a:gd name="T0" fmla="*/ 0 w 6686"/>
                <a:gd name="T1" fmla="*/ 0 h 2"/>
                <a:gd name="T2" fmla="*/ 6685 w 6686"/>
                <a:gd name="T3" fmla="*/ 0 h 2"/>
                <a:gd name="T4" fmla="*/ 6686 w 668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86" h="2">
                  <a:moveTo>
                    <a:pt x="0" y="0"/>
                  </a:moveTo>
                  <a:lnTo>
                    <a:pt x="6685" y="0"/>
                  </a:lnTo>
                  <a:lnTo>
                    <a:pt x="6686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5" name="Freeform 76"/>
            <p:cNvSpPr>
              <a:spLocks noChangeAspect="1" noChangeArrowheads="1"/>
            </p:cNvSpPr>
            <p:nvPr/>
          </p:nvSpPr>
          <p:spPr bwMode="auto">
            <a:xfrm>
              <a:off x="2531" y="1880"/>
              <a:ext cx="2" cy="584"/>
            </a:xfrm>
            <a:custGeom>
              <a:avLst/>
              <a:gdLst>
                <a:gd name="T0" fmla="*/ 0 w 1"/>
                <a:gd name="T1" fmla="*/ 0 h 2929"/>
                <a:gd name="T2" fmla="*/ 0 w 1"/>
                <a:gd name="T3" fmla="*/ 2929 h 2929"/>
                <a:gd name="T4" fmla="*/ 1 w 1"/>
                <a:gd name="T5" fmla="*/ 2929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29">
                  <a:moveTo>
                    <a:pt x="0" y="0"/>
                  </a:moveTo>
                  <a:lnTo>
                    <a:pt x="0" y="2929"/>
                  </a:lnTo>
                  <a:lnTo>
                    <a:pt x="1" y="292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6" name="Freeform 77"/>
            <p:cNvSpPr>
              <a:spLocks noChangeAspect="1" noChangeArrowheads="1"/>
            </p:cNvSpPr>
            <p:nvPr/>
          </p:nvSpPr>
          <p:spPr bwMode="auto">
            <a:xfrm>
              <a:off x="2446" y="2464"/>
              <a:ext cx="85" cy="83"/>
            </a:xfrm>
            <a:custGeom>
              <a:avLst/>
              <a:gdLst>
                <a:gd name="T0" fmla="*/ 0 w 419"/>
                <a:gd name="T1" fmla="*/ 418 h 418"/>
                <a:gd name="T2" fmla="*/ 209 w 419"/>
                <a:gd name="T3" fmla="*/ 362 h 418"/>
                <a:gd name="T4" fmla="*/ 362 w 419"/>
                <a:gd name="T5" fmla="*/ 210 h 418"/>
                <a:gd name="T6" fmla="*/ 418 w 419"/>
                <a:gd name="T7" fmla="*/ 0 h 418"/>
                <a:gd name="T8" fmla="*/ 419 w 419"/>
                <a:gd name="T9" fmla="*/ 0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9" h="418">
                  <a:moveTo>
                    <a:pt x="0" y="418"/>
                  </a:moveTo>
                  <a:lnTo>
                    <a:pt x="209" y="362"/>
                  </a:lnTo>
                  <a:lnTo>
                    <a:pt x="362" y="210"/>
                  </a:lnTo>
                  <a:lnTo>
                    <a:pt x="418" y="0"/>
                  </a:lnTo>
                  <a:lnTo>
                    <a:pt x="419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7" name="Freeform 78"/>
            <p:cNvSpPr>
              <a:spLocks noChangeAspect="1" noChangeArrowheads="1"/>
            </p:cNvSpPr>
            <p:nvPr/>
          </p:nvSpPr>
          <p:spPr bwMode="auto">
            <a:xfrm>
              <a:off x="2531" y="1880"/>
              <a:ext cx="2" cy="584"/>
            </a:xfrm>
            <a:custGeom>
              <a:avLst/>
              <a:gdLst>
                <a:gd name="T0" fmla="*/ 0 w 1"/>
                <a:gd name="T1" fmla="*/ 2929 h 2929"/>
                <a:gd name="T2" fmla="*/ 0 w 1"/>
                <a:gd name="T3" fmla="*/ 0 h 2929"/>
                <a:gd name="T4" fmla="*/ 1 w 1"/>
                <a:gd name="T5" fmla="*/ 0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29">
                  <a:moveTo>
                    <a:pt x="0" y="292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8" name="Freeform 79"/>
            <p:cNvSpPr>
              <a:spLocks noChangeAspect="1" noChangeArrowheads="1"/>
            </p:cNvSpPr>
            <p:nvPr/>
          </p:nvSpPr>
          <p:spPr bwMode="auto">
            <a:xfrm>
              <a:off x="2364" y="2213"/>
              <a:ext cx="1" cy="292"/>
            </a:xfrm>
            <a:custGeom>
              <a:avLst/>
              <a:gdLst>
                <a:gd name="T0" fmla="*/ 0 w 1"/>
                <a:gd name="T1" fmla="*/ 0 h 1460"/>
                <a:gd name="T2" fmla="*/ 0 w 1"/>
                <a:gd name="T3" fmla="*/ 1460 h 1460"/>
                <a:gd name="T4" fmla="*/ 1 w 1"/>
                <a:gd name="T5" fmla="*/ 1460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60">
                  <a:moveTo>
                    <a:pt x="0" y="0"/>
                  </a:moveTo>
                  <a:lnTo>
                    <a:pt x="0" y="1460"/>
                  </a:lnTo>
                  <a:lnTo>
                    <a:pt x="1" y="146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9" name="Freeform 80"/>
            <p:cNvSpPr>
              <a:spLocks noChangeAspect="1" noChangeArrowheads="1"/>
            </p:cNvSpPr>
            <p:nvPr/>
          </p:nvSpPr>
          <p:spPr bwMode="auto">
            <a:xfrm>
              <a:off x="2197" y="2381"/>
              <a:ext cx="291" cy="2"/>
            </a:xfrm>
            <a:custGeom>
              <a:avLst/>
              <a:gdLst>
                <a:gd name="T0" fmla="*/ 0 w 1461"/>
                <a:gd name="T1" fmla="*/ 0 h 2"/>
                <a:gd name="T2" fmla="*/ 1460 w 1461"/>
                <a:gd name="T3" fmla="*/ 0 h 2"/>
                <a:gd name="T4" fmla="*/ 1461 w 146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1" h="2">
                  <a:moveTo>
                    <a:pt x="0" y="0"/>
                  </a:moveTo>
                  <a:lnTo>
                    <a:pt x="1460" y="0"/>
                  </a:lnTo>
                  <a:lnTo>
                    <a:pt x="1461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0" name="Freeform 81"/>
            <p:cNvSpPr>
              <a:spLocks noChangeAspect="1" noChangeArrowheads="1"/>
            </p:cNvSpPr>
            <p:nvPr/>
          </p:nvSpPr>
          <p:spPr bwMode="auto">
            <a:xfrm>
              <a:off x="1197" y="2213"/>
              <a:ext cx="1" cy="297"/>
            </a:xfrm>
            <a:custGeom>
              <a:avLst/>
              <a:gdLst>
                <a:gd name="T0" fmla="*/ 0 w 1"/>
                <a:gd name="T1" fmla="*/ 0 h 1489"/>
                <a:gd name="T2" fmla="*/ 0 w 1"/>
                <a:gd name="T3" fmla="*/ 1489 h 1489"/>
                <a:gd name="T4" fmla="*/ 1 w 1"/>
                <a:gd name="T5" fmla="*/ 1489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89">
                  <a:moveTo>
                    <a:pt x="0" y="0"/>
                  </a:moveTo>
                  <a:lnTo>
                    <a:pt x="0" y="1489"/>
                  </a:lnTo>
                  <a:lnTo>
                    <a:pt x="1" y="1489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1" name="Freeform 82"/>
            <p:cNvSpPr>
              <a:spLocks noChangeAspect="1" noChangeArrowheads="1"/>
            </p:cNvSpPr>
            <p:nvPr/>
          </p:nvSpPr>
          <p:spPr bwMode="auto">
            <a:xfrm>
              <a:off x="1262" y="2381"/>
              <a:ext cx="103" cy="2"/>
            </a:xfrm>
            <a:custGeom>
              <a:avLst/>
              <a:gdLst>
                <a:gd name="T0" fmla="*/ 509 w 509"/>
                <a:gd name="T1" fmla="*/ 0 h 2"/>
                <a:gd name="T2" fmla="*/ 0 w 509"/>
                <a:gd name="T3" fmla="*/ 0 h 2"/>
                <a:gd name="T4" fmla="*/ 1 w 509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9" h="2">
                  <a:moveTo>
                    <a:pt x="509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2" name="Freeform 83"/>
            <p:cNvSpPr>
              <a:spLocks noChangeAspect="1" noChangeArrowheads="1"/>
            </p:cNvSpPr>
            <p:nvPr/>
          </p:nvSpPr>
          <p:spPr bwMode="auto">
            <a:xfrm>
              <a:off x="1187" y="2381"/>
              <a:ext cx="50" cy="2"/>
            </a:xfrm>
            <a:custGeom>
              <a:avLst/>
              <a:gdLst>
                <a:gd name="T0" fmla="*/ 251 w 251"/>
                <a:gd name="T1" fmla="*/ 0 h 2"/>
                <a:gd name="T2" fmla="*/ 0 w 251"/>
                <a:gd name="T3" fmla="*/ 0 h 2"/>
                <a:gd name="T4" fmla="*/ 1 w 25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1" h="2">
                  <a:moveTo>
                    <a:pt x="25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3" name="Freeform 84"/>
            <p:cNvSpPr>
              <a:spLocks noChangeAspect="1" noChangeArrowheads="1"/>
            </p:cNvSpPr>
            <p:nvPr/>
          </p:nvSpPr>
          <p:spPr bwMode="auto">
            <a:xfrm>
              <a:off x="1061" y="2381"/>
              <a:ext cx="100" cy="2"/>
            </a:xfrm>
            <a:custGeom>
              <a:avLst/>
              <a:gdLst>
                <a:gd name="T0" fmla="*/ 508 w 508"/>
                <a:gd name="T1" fmla="*/ 0 h 2"/>
                <a:gd name="T2" fmla="*/ 0 w 508"/>
                <a:gd name="T3" fmla="*/ 0 h 2"/>
                <a:gd name="T4" fmla="*/ 1 w 50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8" h="2">
                  <a:moveTo>
                    <a:pt x="508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4" name="Freeform 85"/>
            <p:cNvSpPr>
              <a:spLocks noChangeAspect="1" noChangeArrowheads="1"/>
            </p:cNvSpPr>
            <p:nvPr/>
          </p:nvSpPr>
          <p:spPr bwMode="auto">
            <a:xfrm>
              <a:off x="1114" y="2296"/>
              <a:ext cx="166" cy="168"/>
            </a:xfrm>
            <a:custGeom>
              <a:avLst/>
              <a:gdLst>
                <a:gd name="T0" fmla="*/ 837 w 838"/>
                <a:gd name="T1" fmla="*/ 418 h 837"/>
                <a:gd name="T2" fmla="*/ 780 w 838"/>
                <a:gd name="T3" fmla="*/ 209 h 837"/>
                <a:gd name="T4" fmla="*/ 627 w 838"/>
                <a:gd name="T5" fmla="*/ 56 h 837"/>
                <a:gd name="T6" fmla="*/ 419 w 838"/>
                <a:gd name="T7" fmla="*/ 0 h 837"/>
                <a:gd name="T8" fmla="*/ 209 w 838"/>
                <a:gd name="T9" fmla="*/ 56 h 837"/>
                <a:gd name="T10" fmla="*/ 56 w 838"/>
                <a:gd name="T11" fmla="*/ 209 h 837"/>
                <a:gd name="T12" fmla="*/ 0 w 838"/>
                <a:gd name="T13" fmla="*/ 418 h 837"/>
                <a:gd name="T14" fmla="*/ 56 w 838"/>
                <a:gd name="T15" fmla="*/ 628 h 837"/>
                <a:gd name="T16" fmla="*/ 209 w 838"/>
                <a:gd name="T17" fmla="*/ 781 h 837"/>
                <a:gd name="T18" fmla="*/ 419 w 838"/>
                <a:gd name="T19" fmla="*/ 837 h 837"/>
                <a:gd name="T20" fmla="*/ 627 w 838"/>
                <a:gd name="T21" fmla="*/ 781 h 837"/>
                <a:gd name="T22" fmla="*/ 780 w 838"/>
                <a:gd name="T23" fmla="*/ 628 h 837"/>
                <a:gd name="T24" fmla="*/ 837 w 838"/>
                <a:gd name="T25" fmla="*/ 418 h 837"/>
                <a:gd name="T26" fmla="*/ 838 w 838"/>
                <a:gd name="T27" fmla="*/ 418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8" h="837">
                  <a:moveTo>
                    <a:pt x="837" y="418"/>
                  </a:moveTo>
                  <a:lnTo>
                    <a:pt x="780" y="209"/>
                  </a:lnTo>
                  <a:lnTo>
                    <a:pt x="627" y="56"/>
                  </a:lnTo>
                  <a:lnTo>
                    <a:pt x="419" y="0"/>
                  </a:lnTo>
                  <a:lnTo>
                    <a:pt x="209" y="56"/>
                  </a:lnTo>
                  <a:lnTo>
                    <a:pt x="56" y="209"/>
                  </a:lnTo>
                  <a:lnTo>
                    <a:pt x="0" y="418"/>
                  </a:lnTo>
                  <a:lnTo>
                    <a:pt x="56" y="628"/>
                  </a:lnTo>
                  <a:lnTo>
                    <a:pt x="209" y="781"/>
                  </a:lnTo>
                  <a:lnTo>
                    <a:pt x="419" y="837"/>
                  </a:lnTo>
                  <a:lnTo>
                    <a:pt x="627" y="781"/>
                  </a:lnTo>
                  <a:lnTo>
                    <a:pt x="780" y="628"/>
                  </a:lnTo>
                  <a:lnTo>
                    <a:pt x="837" y="418"/>
                  </a:lnTo>
                  <a:lnTo>
                    <a:pt x="838" y="41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5" name="Freeform 86"/>
            <p:cNvSpPr>
              <a:spLocks noChangeAspect="1" noChangeArrowheads="1"/>
            </p:cNvSpPr>
            <p:nvPr/>
          </p:nvSpPr>
          <p:spPr bwMode="auto">
            <a:xfrm>
              <a:off x="2280" y="2296"/>
              <a:ext cx="168" cy="168"/>
            </a:xfrm>
            <a:custGeom>
              <a:avLst/>
              <a:gdLst>
                <a:gd name="T0" fmla="*/ 835 w 836"/>
                <a:gd name="T1" fmla="*/ 418 h 837"/>
                <a:gd name="T2" fmla="*/ 779 w 836"/>
                <a:gd name="T3" fmla="*/ 209 h 837"/>
                <a:gd name="T4" fmla="*/ 626 w 836"/>
                <a:gd name="T5" fmla="*/ 56 h 837"/>
                <a:gd name="T6" fmla="*/ 418 w 836"/>
                <a:gd name="T7" fmla="*/ 0 h 837"/>
                <a:gd name="T8" fmla="*/ 208 w 836"/>
                <a:gd name="T9" fmla="*/ 56 h 837"/>
                <a:gd name="T10" fmla="*/ 56 w 836"/>
                <a:gd name="T11" fmla="*/ 209 h 837"/>
                <a:gd name="T12" fmla="*/ 0 w 836"/>
                <a:gd name="T13" fmla="*/ 418 h 837"/>
                <a:gd name="T14" fmla="*/ 56 w 836"/>
                <a:gd name="T15" fmla="*/ 628 h 837"/>
                <a:gd name="T16" fmla="*/ 208 w 836"/>
                <a:gd name="T17" fmla="*/ 781 h 837"/>
                <a:gd name="T18" fmla="*/ 418 w 836"/>
                <a:gd name="T19" fmla="*/ 837 h 837"/>
                <a:gd name="T20" fmla="*/ 626 w 836"/>
                <a:gd name="T21" fmla="*/ 781 h 837"/>
                <a:gd name="T22" fmla="*/ 779 w 836"/>
                <a:gd name="T23" fmla="*/ 628 h 837"/>
                <a:gd name="T24" fmla="*/ 835 w 836"/>
                <a:gd name="T25" fmla="*/ 418 h 837"/>
                <a:gd name="T26" fmla="*/ 836 w 836"/>
                <a:gd name="T27" fmla="*/ 418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6" h="837">
                  <a:moveTo>
                    <a:pt x="835" y="418"/>
                  </a:moveTo>
                  <a:lnTo>
                    <a:pt x="779" y="209"/>
                  </a:lnTo>
                  <a:lnTo>
                    <a:pt x="626" y="56"/>
                  </a:lnTo>
                  <a:lnTo>
                    <a:pt x="418" y="0"/>
                  </a:lnTo>
                  <a:lnTo>
                    <a:pt x="208" y="56"/>
                  </a:lnTo>
                  <a:lnTo>
                    <a:pt x="56" y="209"/>
                  </a:lnTo>
                  <a:lnTo>
                    <a:pt x="0" y="418"/>
                  </a:lnTo>
                  <a:lnTo>
                    <a:pt x="56" y="628"/>
                  </a:lnTo>
                  <a:lnTo>
                    <a:pt x="208" y="781"/>
                  </a:lnTo>
                  <a:lnTo>
                    <a:pt x="418" y="837"/>
                  </a:lnTo>
                  <a:lnTo>
                    <a:pt x="626" y="781"/>
                  </a:lnTo>
                  <a:lnTo>
                    <a:pt x="779" y="628"/>
                  </a:lnTo>
                  <a:lnTo>
                    <a:pt x="835" y="418"/>
                  </a:lnTo>
                  <a:lnTo>
                    <a:pt x="836" y="41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6" name="Freeform 87"/>
            <p:cNvSpPr>
              <a:spLocks noChangeAspect="1" noChangeArrowheads="1"/>
            </p:cNvSpPr>
            <p:nvPr/>
          </p:nvSpPr>
          <p:spPr bwMode="auto">
            <a:xfrm>
              <a:off x="2280" y="1880"/>
              <a:ext cx="2" cy="126"/>
            </a:xfrm>
            <a:custGeom>
              <a:avLst/>
              <a:gdLst>
                <a:gd name="T0" fmla="*/ 0 w 1"/>
                <a:gd name="T1" fmla="*/ 0 h 628"/>
                <a:gd name="T2" fmla="*/ 0 w 1"/>
                <a:gd name="T3" fmla="*/ 628 h 628"/>
                <a:gd name="T4" fmla="*/ 1 w 1"/>
                <a:gd name="T5" fmla="*/ 628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28">
                  <a:moveTo>
                    <a:pt x="0" y="0"/>
                  </a:moveTo>
                  <a:lnTo>
                    <a:pt x="0" y="628"/>
                  </a:lnTo>
                  <a:lnTo>
                    <a:pt x="1" y="62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7" name="Freeform 88"/>
            <p:cNvSpPr>
              <a:spLocks noChangeAspect="1" noChangeArrowheads="1"/>
            </p:cNvSpPr>
            <p:nvPr/>
          </p:nvSpPr>
          <p:spPr bwMode="auto">
            <a:xfrm>
              <a:off x="2239" y="2006"/>
              <a:ext cx="41" cy="41"/>
            </a:xfrm>
            <a:custGeom>
              <a:avLst/>
              <a:gdLst>
                <a:gd name="T0" fmla="*/ 0 w 210"/>
                <a:gd name="T1" fmla="*/ 209 h 209"/>
                <a:gd name="T2" fmla="*/ 148 w 210"/>
                <a:gd name="T3" fmla="*/ 147 h 209"/>
                <a:gd name="T4" fmla="*/ 209 w 210"/>
                <a:gd name="T5" fmla="*/ 0 h 209"/>
                <a:gd name="T6" fmla="*/ 210 w 210"/>
                <a:gd name="T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0" h="209">
                  <a:moveTo>
                    <a:pt x="0" y="209"/>
                  </a:moveTo>
                  <a:lnTo>
                    <a:pt x="148" y="147"/>
                  </a:lnTo>
                  <a:lnTo>
                    <a:pt x="209" y="0"/>
                  </a:lnTo>
                  <a:lnTo>
                    <a:pt x="210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8" name="Freeform 89"/>
            <p:cNvSpPr>
              <a:spLocks noChangeAspect="1" noChangeArrowheads="1"/>
            </p:cNvSpPr>
            <p:nvPr/>
          </p:nvSpPr>
          <p:spPr bwMode="auto">
            <a:xfrm>
              <a:off x="1905" y="2047"/>
              <a:ext cx="459" cy="2"/>
            </a:xfrm>
            <a:custGeom>
              <a:avLst/>
              <a:gdLst>
                <a:gd name="T0" fmla="*/ 0 w 2299"/>
                <a:gd name="T1" fmla="*/ 0 h 2"/>
                <a:gd name="T2" fmla="*/ 2298 w 2299"/>
                <a:gd name="T3" fmla="*/ 0 h 2"/>
                <a:gd name="T4" fmla="*/ 2299 w 2299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99" h="2">
                  <a:moveTo>
                    <a:pt x="0" y="0"/>
                  </a:moveTo>
                  <a:lnTo>
                    <a:pt x="2298" y="0"/>
                  </a:lnTo>
                  <a:lnTo>
                    <a:pt x="2299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9" name="Freeform 90"/>
            <p:cNvSpPr>
              <a:spLocks noChangeAspect="1" noChangeArrowheads="1"/>
            </p:cNvSpPr>
            <p:nvPr/>
          </p:nvSpPr>
          <p:spPr bwMode="auto">
            <a:xfrm>
              <a:off x="1864" y="2047"/>
              <a:ext cx="41" cy="42"/>
            </a:xfrm>
            <a:custGeom>
              <a:avLst/>
              <a:gdLst>
                <a:gd name="T0" fmla="*/ 210 w 210"/>
                <a:gd name="T1" fmla="*/ 0 h 209"/>
                <a:gd name="T2" fmla="*/ 62 w 210"/>
                <a:gd name="T3" fmla="*/ 61 h 209"/>
                <a:gd name="T4" fmla="*/ 0 w 210"/>
                <a:gd name="T5" fmla="*/ 209 h 209"/>
                <a:gd name="T6" fmla="*/ 1 w 210"/>
                <a:gd name="T7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0" h="209">
                  <a:moveTo>
                    <a:pt x="210" y="0"/>
                  </a:moveTo>
                  <a:lnTo>
                    <a:pt x="62" y="61"/>
                  </a:lnTo>
                  <a:lnTo>
                    <a:pt x="0" y="209"/>
                  </a:lnTo>
                  <a:lnTo>
                    <a:pt x="1" y="20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0" name="Freeform 91"/>
            <p:cNvSpPr>
              <a:spLocks noChangeAspect="1" noChangeArrowheads="1"/>
            </p:cNvSpPr>
            <p:nvPr/>
          </p:nvSpPr>
          <p:spPr bwMode="auto">
            <a:xfrm>
              <a:off x="1864" y="2089"/>
              <a:ext cx="2" cy="458"/>
            </a:xfrm>
            <a:custGeom>
              <a:avLst/>
              <a:gdLst>
                <a:gd name="T0" fmla="*/ 0 w 1"/>
                <a:gd name="T1" fmla="*/ 0 h 2301"/>
                <a:gd name="T2" fmla="*/ 0 w 1"/>
                <a:gd name="T3" fmla="*/ 2301 h 2301"/>
                <a:gd name="T4" fmla="*/ 1 w 1"/>
                <a:gd name="T5" fmla="*/ 2301 h 2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01">
                  <a:moveTo>
                    <a:pt x="0" y="0"/>
                  </a:moveTo>
                  <a:lnTo>
                    <a:pt x="0" y="2301"/>
                  </a:lnTo>
                  <a:lnTo>
                    <a:pt x="1" y="2301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1" name="Freeform 92"/>
            <p:cNvSpPr>
              <a:spLocks noChangeAspect="1" noChangeArrowheads="1"/>
            </p:cNvSpPr>
            <p:nvPr/>
          </p:nvSpPr>
          <p:spPr bwMode="auto">
            <a:xfrm>
              <a:off x="1781" y="1880"/>
              <a:ext cx="750" cy="2"/>
            </a:xfrm>
            <a:custGeom>
              <a:avLst/>
              <a:gdLst>
                <a:gd name="T0" fmla="*/ 3760 w 3760"/>
                <a:gd name="T1" fmla="*/ 0 h 2"/>
                <a:gd name="T2" fmla="*/ 0 w 3760"/>
                <a:gd name="T3" fmla="*/ 0 h 2"/>
                <a:gd name="T4" fmla="*/ 1 w 3760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60" h="2">
                  <a:moveTo>
                    <a:pt x="3760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2" name="Freeform 93"/>
            <p:cNvSpPr>
              <a:spLocks noChangeAspect="1" noChangeArrowheads="1"/>
            </p:cNvSpPr>
            <p:nvPr/>
          </p:nvSpPr>
          <p:spPr bwMode="auto">
            <a:xfrm>
              <a:off x="1781" y="1797"/>
              <a:ext cx="1" cy="149"/>
            </a:xfrm>
            <a:custGeom>
              <a:avLst/>
              <a:gdLst>
                <a:gd name="T0" fmla="*/ 0 w 1"/>
                <a:gd name="T1" fmla="*/ 0 h 753"/>
                <a:gd name="T2" fmla="*/ 0 w 1"/>
                <a:gd name="T3" fmla="*/ 753 h 753"/>
                <a:gd name="T4" fmla="*/ 1 w 1"/>
                <a:gd name="T5" fmla="*/ 753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53">
                  <a:moveTo>
                    <a:pt x="0" y="0"/>
                  </a:moveTo>
                  <a:lnTo>
                    <a:pt x="0" y="753"/>
                  </a:lnTo>
                  <a:lnTo>
                    <a:pt x="1" y="753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3" name="Freeform 94"/>
            <p:cNvSpPr>
              <a:spLocks noChangeAspect="1" noChangeArrowheads="1"/>
            </p:cNvSpPr>
            <p:nvPr/>
          </p:nvSpPr>
          <p:spPr bwMode="auto">
            <a:xfrm>
              <a:off x="1781" y="1972"/>
              <a:ext cx="1" cy="50"/>
            </a:xfrm>
            <a:custGeom>
              <a:avLst/>
              <a:gdLst>
                <a:gd name="T0" fmla="*/ 0 w 1"/>
                <a:gd name="T1" fmla="*/ 0 h 251"/>
                <a:gd name="T2" fmla="*/ 0 w 1"/>
                <a:gd name="T3" fmla="*/ 251 h 251"/>
                <a:gd name="T4" fmla="*/ 1 w 1"/>
                <a:gd name="T5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1">
                  <a:moveTo>
                    <a:pt x="0" y="0"/>
                  </a:moveTo>
                  <a:lnTo>
                    <a:pt x="0" y="251"/>
                  </a:lnTo>
                  <a:lnTo>
                    <a:pt x="1" y="251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4" name="Freeform 95"/>
            <p:cNvSpPr>
              <a:spLocks noChangeAspect="1" noChangeArrowheads="1"/>
            </p:cNvSpPr>
            <p:nvPr/>
          </p:nvSpPr>
          <p:spPr bwMode="auto">
            <a:xfrm>
              <a:off x="1781" y="2047"/>
              <a:ext cx="1" cy="200"/>
            </a:xfrm>
            <a:custGeom>
              <a:avLst/>
              <a:gdLst>
                <a:gd name="T0" fmla="*/ 0 w 1"/>
                <a:gd name="T1" fmla="*/ 0 h 1005"/>
                <a:gd name="T2" fmla="*/ 0 w 1"/>
                <a:gd name="T3" fmla="*/ 1005 h 1005"/>
                <a:gd name="T4" fmla="*/ 1 w 1"/>
                <a:gd name="T5" fmla="*/ 1005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05">
                  <a:moveTo>
                    <a:pt x="0" y="0"/>
                  </a:moveTo>
                  <a:lnTo>
                    <a:pt x="0" y="1005"/>
                  </a:lnTo>
                  <a:lnTo>
                    <a:pt x="1" y="1005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5" name="Freeform 96"/>
            <p:cNvSpPr>
              <a:spLocks noChangeAspect="1" noChangeArrowheads="1"/>
            </p:cNvSpPr>
            <p:nvPr/>
          </p:nvSpPr>
          <p:spPr bwMode="auto">
            <a:xfrm>
              <a:off x="1781" y="2272"/>
              <a:ext cx="1" cy="50"/>
            </a:xfrm>
            <a:custGeom>
              <a:avLst/>
              <a:gdLst>
                <a:gd name="T0" fmla="*/ 0 w 1"/>
                <a:gd name="T1" fmla="*/ 0 h 250"/>
                <a:gd name="T2" fmla="*/ 0 w 1"/>
                <a:gd name="T3" fmla="*/ 250 h 250"/>
                <a:gd name="T4" fmla="*/ 1 w 1"/>
                <a:gd name="T5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0">
                  <a:moveTo>
                    <a:pt x="0" y="0"/>
                  </a:moveTo>
                  <a:lnTo>
                    <a:pt x="0" y="250"/>
                  </a:lnTo>
                  <a:lnTo>
                    <a:pt x="1" y="25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6" name="Freeform 97"/>
            <p:cNvSpPr>
              <a:spLocks noChangeAspect="1" noChangeArrowheads="1"/>
            </p:cNvSpPr>
            <p:nvPr/>
          </p:nvSpPr>
          <p:spPr bwMode="auto">
            <a:xfrm>
              <a:off x="1781" y="2348"/>
              <a:ext cx="1" cy="199"/>
            </a:xfrm>
            <a:custGeom>
              <a:avLst/>
              <a:gdLst>
                <a:gd name="T0" fmla="*/ 0 w 1"/>
                <a:gd name="T1" fmla="*/ 0 h 1004"/>
                <a:gd name="T2" fmla="*/ 0 w 1"/>
                <a:gd name="T3" fmla="*/ 1004 h 1004"/>
                <a:gd name="T4" fmla="*/ 1 w 1"/>
                <a:gd name="T5" fmla="*/ 1004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04">
                  <a:moveTo>
                    <a:pt x="0" y="0"/>
                  </a:moveTo>
                  <a:lnTo>
                    <a:pt x="0" y="1004"/>
                  </a:lnTo>
                  <a:lnTo>
                    <a:pt x="1" y="1004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7" name="Freeform 98"/>
            <p:cNvSpPr>
              <a:spLocks noChangeAspect="1" noChangeArrowheads="1"/>
            </p:cNvSpPr>
            <p:nvPr/>
          </p:nvSpPr>
          <p:spPr bwMode="auto">
            <a:xfrm>
              <a:off x="1696" y="2464"/>
              <a:ext cx="168" cy="1"/>
            </a:xfrm>
            <a:custGeom>
              <a:avLst/>
              <a:gdLst>
                <a:gd name="T0" fmla="*/ 0 w 836"/>
                <a:gd name="T1" fmla="*/ 0 h 1"/>
                <a:gd name="T2" fmla="*/ 835 w 836"/>
                <a:gd name="T3" fmla="*/ 0 h 1"/>
                <a:gd name="T4" fmla="*/ 836 w 83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1">
                  <a:moveTo>
                    <a:pt x="0" y="0"/>
                  </a:moveTo>
                  <a:lnTo>
                    <a:pt x="835" y="0"/>
                  </a:lnTo>
                  <a:lnTo>
                    <a:pt x="836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8" name="Freeform 99"/>
            <p:cNvSpPr>
              <a:spLocks noChangeAspect="1" noChangeArrowheads="1"/>
            </p:cNvSpPr>
            <p:nvPr/>
          </p:nvSpPr>
          <p:spPr bwMode="auto">
            <a:xfrm>
              <a:off x="1696" y="2089"/>
              <a:ext cx="2" cy="458"/>
            </a:xfrm>
            <a:custGeom>
              <a:avLst/>
              <a:gdLst>
                <a:gd name="T0" fmla="*/ 0 w 1"/>
                <a:gd name="T1" fmla="*/ 0 h 2301"/>
                <a:gd name="T2" fmla="*/ 0 w 1"/>
                <a:gd name="T3" fmla="*/ 2301 h 2301"/>
                <a:gd name="T4" fmla="*/ 1 w 1"/>
                <a:gd name="T5" fmla="*/ 2301 h 2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01">
                  <a:moveTo>
                    <a:pt x="0" y="0"/>
                  </a:moveTo>
                  <a:lnTo>
                    <a:pt x="0" y="2301"/>
                  </a:lnTo>
                  <a:lnTo>
                    <a:pt x="1" y="2301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9" name="Freeform 100"/>
            <p:cNvSpPr>
              <a:spLocks noChangeAspect="1" noChangeArrowheads="1"/>
            </p:cNvSpPr>
            <p:nvPr/>
          </p:nvSpPr>
          <p:spPr bwMode="auto">
            <a:xfrm>
              <a:off x="1654" y="2047"/>
              <a:ext cx="42" cy="42"/>
            </a:xfrm>
            <a:custGeom>
              <a:avLst/>
              <a:gdLst>
                <a:gd name="T0" fmla="*/ 208 w 208"/>
                <a:gd name="T1" fmla="*/ 209 h 209"/>
                <a:gd name="T2" fmla="*/ 147 w 208"/>
                <a:gd name="T3" fmla="*/ 61 h 209"/>
                <a:gd name="T4" fmla="*/ 0 w 208"/>
                <a:gd name="T5" fmla="*/ 0 h 209"/>
                <a:gd name="T6" fmla="*/ 1 w 208"/>
                <a:gd name="T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8" h="209">
                  <a:moveTo>
                    <a:pt x="208" y="209"/>
                  </a:moveTo>
                  <a:lnTo>
                    <a:pt x="147" y="6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0" name="Freeform 101"/>
            <p:cNvSpPr>
              <a:spLocks noChangeAspect="1" noChangeArrowheads="1"/>
            </p:cNvSpPr>
            <p:nvPr/>
          </p:nvSpPr>
          <p:spPr bwMode="auto">
            <a:xfrm>
              <a:off x="1197" y="2047"/>
              <a:ext cx="457" cy="2"/>
            </a:xfrm>
            <a:custGeom>
              <a:avLst/>
              <a:gdLst>
                <a:gd name="T0" fmla="*/ 0 w 2299"/>
                <a:gd name="T1" fmla="*/ 0 h 2"/>
                <a:gd name="T2" fmla="*/ 2298 w 2299"/>
                <a:gd name="T3" fmla="*/ 0 h 2"/>
                <a:gd name="T4" fmla="*/ 2299 w 2299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99" h="2">
                  <a:moveTo>
                    <a:pt x="0" y="0"/>
                  </a:moveTo>
                  <a:lnTo>
                    <a:pt x="2298" y="0"/>
                  </a:lnTo>
                  <a:lnTo>
                    <a:pt x="2299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1" name="Freeform 102"/>
            <p:cNvSpPr>
              <a:spLocks noChangeAspect="1" noChangeArrowheads="1"/>
            </p:cNvSpPr>
            <p:nvPr/>
          </p:nvSpPr>
          <p:spPr bwMode="auto">
            <a:xfrm>
              <a:off x="1280" y="2006"/>
              <a:ext cx="41" cy="41"/>
            </a:xfrm>
            <a:custGeom>
              <a:avLst/>
              <a:gdLst>
                <a:gd name="T0" fmla="*/ 0 w 209"/>
                <a:gd name="T1" fmla="*/ 0 h 209"/>
                <a:gd name="T2" fmla="*/ 61 w 209"/>
                <a:gd name="T3" fmla="*/ 147 h 209"/>
                <a:gd name="T4" fmla="*/ 208 w 209"/>
                <a:gd name="T5" fmla="*/ 209 h 209"/>
                <a:gd name="T6" fmla="*/ 209 w 209"/>
                <a:gd name="T7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9" h="209">
                  <a:moveTo>
                    <a:pt x="0" y="0"/>
                  </a:moveTo>
                  <a:lnTo>
                    <a:pt x="61" y="147"/>
                  </a:lnTo>
                  <a:lnTo>
                    <a:pt x="208" y="209"/>
                  </a:lnTo>
                  <a:lnTo>
                    <a:pt x="209" y="20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2" name="Freeform 103"/>
            <p:cNvSpPr>
              <a:spLocks noChangeAspect="1" noChangeArrowheads="1"/>
            </p:cNvSpPr>
            <p:nvPr/>
          </p:nvSpPr>
          <p:spPr bwMode="auto">
            <a:xfrm>
              <a:off x="1280" y="1880"/>
              <a:ext cx="1" cy="126"/>
            </a:xfrm>
            <a:custGeom>
              <a:avLst/>
              <a:gdLst>
                <a:gd name="T0" fmla="*/ 0 w 1"/>
                <a:gd name="T1" fmla="*/ 0 h 628"/>
                <a:gd name="T2" fmla="*/ 0 w 1"/>
                <a:gd name="T3" fmla="*/ 628 h 628"/>
                <a:gd name="T4" fmla="*/ 1 w 1"/>
                <a:gd name="T5" fmla="*/ 628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28">
                  <a:moveTo>
                    <a:pt x="0" y="0"/>
                  </a:moveTo>
                  <a:lnTo>
                    <a:pt x="0" y="628"/>
                  </a:lnTo>
                  <a:lnTo>
                    <a:pt x="1" y="62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3" name="Freeform 104"/>
            <p:cNvSpPr>
              <a:spLocks noChangeAspect="1" noChangeArrowheads="1"/>
            </p:cNvSpPr>
            <p:nvPr/>
          </p:nvSpPr>
          <p:spPr bwMode="auto">
            <a:xfrm>
              <a:off x="1031" y="1880"/>
              <a:ext cx="1500" cy="2"/>
            </a:xfrm>
            <a:custGeom>
              <a:avLst/>
              <a:gdLst>
                <a:gd name="T0" fmla="*/ 0 w 7522"/>
                <a:gd name="T1" fmla="*/ 0 h 2"/>
                <a:gd name="T2" fmla="*/ 7521 w 7522"/>
                <a:gd name="T3" fmla="*/ 0 h 2"/>
                <a:gd name="T4" fmla="*/ 7522 w 752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22" h="2">
                  <a:moveTo>
                    <a:pt x="0" y="0"/>
                  </a:moveTo>
                  <a:lnTo>
                    <a:pt x="7521" y="0"/>
                  </a:lnTo>
                  <a:lnTo>
                    <a:pt x="7522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4" name="Freeform 105"/>
            <p:cNvSpPr>
              <a:spLocks noChangeAspect="1" noChangeArrowheads="1"/>
            </p:cNvSpPr>
            <p:nvPr/>
          </p:nvSpPr>
          <p:spPr bwMode="auto">
            <a:xfrm>
              <a:off x="1280" y="1880"/>
              <a:ext cx="30" cy="29"/>
            </a:xfrm>
            <a:custGeom>
              <a:avLst/>
              <a:gdLst>
                <a:gd name="T0" fmla="*/ 0 w 146"/>
                <a:gd name="T1" fmla="*/ 145 h 145"/>
                <a:gd name="T2" fmla="*/ 145 w 146"/>
                <a:gd name="T3" fmla="*/ 0 h 145"/>
                <a:gd name="T4" fmla="*/ 146 w 146"/>
                <a:gd name="T5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" h="145">
                  <a:moveTo>
                    <a:pt x="0" y="145"/>
                  </a:moveTo>
                  <a:lnTo>
                    <a:pt x="145" y="0"/>
                  </a:lnTo>
                  <a:lnTo>
                    <a:pt x="14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5" name="Freeform 106"/>
            <p:cNvSpPr>
              <a:spLocks noChangeAspect="1" noChangeArrowheads="1"/>
            </p:cNvSpPr>
            <p:nvPr/>
          </p:nvSpPr>
          <p:spPr bwMode="auto">
            <a:xfrm>
              <a:off x="1283" y="1880"/>
              <a:ext cx="138" cy="138"/>
            </a:xfrm>
            <a:custGeom>
              <a:avLst/>
              <a:gdLst>
                <a:gd name="T0" fmla="*/ 0 w 697"/>
                <a:gd name="T1" fmla="*/ 698 h 698"/>
                <a:gd name="T2" fmla="*/ 696 w 697"/>
                <a:gd name="T3" fmla="*/ 0 h 698"/>
                <a:gd name="T4" fmla="*/ 697 w 697"/>
                <a:gd name="T5" fmla="*/ 0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7" h="698">
                  <a:moveTo>
                    <a:pt x="0" y="698"/>
                  </a:moveTo>
                  <a:lnTo>
                    <a:pt x="696" y="0"/>
                  </a:lnTo>
                  <a:lnTo>
                    <a:pt x="697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6" name="Freeform 107"/>
            <p:cNvSpPr>
              <a:spLocks noChangeAspect="1" noChangeArrowheads="1"/>
            </p:cNvSpPr>
            <p:nvPr/>
          </p:nvSpPr>
          <p:spPr bwMode="auto">
            <a:xfrm>
              <a:off x="1368" y="1880"/>
              <a:ext cx="166" cy="167"/>
            </a:xfrm>
            <a:custGeom>
              <a:avLst/>
              <a:gdLst>
                <a:gd name="T0" fmla="*/ 0 w 836"/>
                <a:gd name="T1" fmla="*/ 837 h 837"/>
                <a:gd name="T2" fmla="*/ 835 w 836"/>
                <a:gd name="T3" fmla="*/ 0 h 837"/>
                <a:gd name="T4" fmla="*/ 836 w 836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837">
                  <a:moveTo>
                    <a:pt x="0" y="837"/>
                  </a:moveTo>
                  <a:lnTo>
                    <a:pt x="835" y="0"/>
                  </a:lnTo>
                  <a:lnTo>
                    <a:pt x="83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7" name="Freeform 108"/>
            <p:cNvSpPr>
              <a:spLocks noChangeAspect="1" noChangeArrowheads="1"/>
            </p:cNvSpPr>
            <p:nvPr/>
          </p:nvSpPr>
          <p:spPr bwMode="auto">
            <a:xfrm>
              <a:off x="1479" y="1880"/>
              <a:ext cx="167" cy="167"/>
            </a:xfrm>
            <a:custGeom>
              <a:avLst/>
              <a:gdLst>
                <a:gd name="T0" fmla="*/ 0 w 837"/>
                <a:gd name="T1" fmla="*/ 837 h 837"/>
                <a:gd name="T2" fmla="*/ 836 w 837"/>
                <a:gd name="T3" fmla="*/ 0 h 837"/>
                <a:gd name="T4" fmla="*/ 837 w 837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7">
                  <a:moveTo>
                    <a:pt x="0" y="837"/>
                  </a:moveTo>
                  <a:lnTo>
                    <a:pt x="836" y="0"/>
                  </a:lnTo>
                  <a:lnTo>
                    <a:pt x="837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8" name="Freeform 109"/>
            <p:cNvSpPr>
              <a:spLocks noChangeAspect="1" noChangeArrowheads="1"/>
            </p:cNvSpPr>
            <p:nvPr/>
          </p:nvSpPr>
          <p:spPr bwMode="auto">
            <a:xfrm>
              <a:off x="1591" y="1880"/>
              <a:ext cx="167" cy="167"/>
            </a:xfrm>
            <a:custGeom>
              <a:avLst/>
              <a:gdLst>
                <a:gd name="T0" fmla="*/ 0 w 836"/>
                <a:gd name="T1" fmla="*/ 837 h 837"/>
                <a:gd name="T2" fmla="*/ 835 w 836"/>
                <a:gd name="T3" fmla="*/ 0 h 837"/>
                <a:gd name="T4" fmla="*/ 836 w 836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837">
                  <a:moveTo>
                    <a:pt x="0" y="837"/>
                  </a:moveTo>
                  <a:lnTo>
                    <a:pt x="835" y="0"/>
                  </a:lnTo>
                  <a:lnTo>
                    <a:pt x="83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9" name="Freeform 110"/>
            <p:cNvSpPr>
              <a:spLocks noChangeAspect="1" noChangeArrowheads="1"/>
            </p:cNvSpPr>
            <p:nvPr/>
          </p:nvSpPr>
          <p:spPr bwMode="auto">
            <a:xfrm>
              <a:off x="1688" y="1880"/>
              <a:ext cx="183" cy="183"/>
            </a:xfrm>
            <a:custGeom>
              <a:avLst/>
              <a:gdLst>
                <a:gd name="T0" fmla="*/ 0 w 916"/>
                <a:gd name="T1" fmla="*/ 916 h 916"/>
                <a:gd name="T2" fmla="*/ 463 w 916"/>
                <a:gd name="T3" fmla="*/ 454 h 916"/>
                <a:gd name="T4" fmla="*/ 915 w 916"/>
                <a:gd name="T5" fmla="*/ 0 h 916"/>
                <a:gd name="T6" fmla="*/ 916 w 916"/>
                <a:gd name="T7" fmla="*/ 0 h 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6" h="916">
                  <a:moveTo>
                    <a:pt x="0" y="916"/>
                  </a:moveTo>
                  <a:lnTo>
                    <a:pt x="463" y="454"/>
                  </a:lnTo>
                  <a:lnTo>
                    <a:pt x="915" y="0"/>
                  </a:lnTo>
                  <a:lnTo>
                    <a:pt x="91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0" name="Freeform 111"/>
            <p:cNvSpPr>
              <a:spLocks noChangeAspect="1" noChangeArrowheads="1"/>
            </p:cNvSpPr>
            <p:nvPr/>
          </p:nvSpPr>
          <p:spPr bwMode="auto">
            <a:xfrm>
              <a:off x="1696" y="1880"/>
              <a:ext cx="287" cy="286"/>
            </a:xfrm>
            <a:custGeom>
              <a:avLst/>
              <a:gdLst>
                <a:gd name="T0" fmla="*/ 0 w 1434"/>
                <a:gd name="T1" fmla="*/ 1435 h 1435"/>
                <a:gd name="T2" fmla="*/ 418 w 1434"/>
                <a:gd name="T3" fmla="*/ 1016 h 1435"/>
                <a:gd name="T4" fmla="*/ 1433 w 1434"/>
                <a:gd name="T5" fmla="*/ 0 h 1435"/>
                <a:gd name="T6" fmla="*/ 1434 w 1434"/>
                <a:gd name="T7" fmla="*/ 0 h 1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4" h="1435">
                  <a:moveTo>
                    <a:pt x="0" y="1435"/>
                  </a:moveTo>
                  <a:lnTo>
                    <a:pt x="418" y="1016"/>
                  </a:lnTo>
                  <a:lnTo>
                    <a:pt x="1433" y="0"/>
                  </a:lnTo>
                  <a:lnTo>
                    <a:pt x="1434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1" name="Freeform 112"/>
            <p:cNvSpPr>
              <a:spLocks noChangeAspect="1" noChangeArrowheads="1"/>
            </p:cNvSpPr>
            <p:nvPr/>
          </p:nvSpPr>
          <p:spPr bwMode="auto">
            <a:xfrm>
              <a:off x="1696" y="2195"/>
              <a:ext cx="85" cy="84"/>
            </a:xfrm>
            <a:custGeom>
              <a:avLst/>
              <a:gdLst>
                <a:gd name="T0" fmla="*/ 0 w 419"/>
                <a:gd name="T1" fmla="*/ 419 h 419"/>
                <a:gd name="T2" fmla="*/ 418 w 419"/>
                <a:gd name="T3" fmla="*/ 0 h 419"/>
                <a:gd name="T4" fmla="*/ 419 w 419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9" h="419">
                  <a:moveTo>
                    <a:pt x="0" y="419"/>
                  </a:moveTo>
                  <a:lnTo>
                    <a:pt x="418" y="0"/>
                  </a:lnTo>
                  <a:lnTo>
                    <a:pt x="419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2" name="Freeform 113"/>
            <p:cNvSpPr>
              <a:spLocks noChangeAspect="1" noChangeArrowheads="1"/>
            </p:cNvSpPr>
            <p:nvPr/>
          </p:nvSpPr>
          <p:spPr bwMode="auto">
            <a:xfrm>
              <a:off x="1927" y="1880"/>
              <a:ext cx="168" cy="167"/>
            </a:xfrm>
            <a:custGeom>
              <a:avLst/>
              <a:gdLst>
                <a:gd name="T0" fmla="*/ 0 w 837"/>
                <a:gd name="T1" fmla="*/ 837 h 837"/>
                <a:gd name="T2" fmla="*/ 836 w 837"/>
                <a:gd name="T3" fmla="*/ 0 h 837"/>
                <a:gd name="T4" fmla="*/ 837 w 837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7">
                  <a:moveTo>
                    <a:pt x="0" y="837"/>
                  </a:moveTo>
                  <a:lnTo>
                    <a:pt x="836" y="0"/>
                  </a:lnTo>
                  <a:lnTo>
                    <a:pt x="837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3" name="Freeform 114"/>
            <p:cNvSpPr>
              <a:spLocks noChangeAspect="1" noChangeArrowheads="1"/>
            </p:cNvSpPr>
            <p:nvPr/>
          </p:nvSpPr>
          <p:spPr bwMode="auto">
            <a:xfrm>
              <a:off x="1781" y="2111"/>
              <a:ext cx="83" cy="84"/>
            </a:xfrm>
            <a:custGeom>
              <a:avLst/>
              <a:gdLst>
                <a:gd name="T0" fmla="*/ 0 w 418"/>
                <a:gd name="T1" fmla="*/ 419 h 419"/>
                <a:gd name="T2" fmla="*/ 417 w 418"/>
                <a:gd name="T3" fmla="*/ 0 h 419"/>
                <a:gd name="T4" fmla="*/ 418 w 418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8" h="419">
                  <a:moveTo>
                    <a:pt x="0" y="419"/>
                  </a:moveTo>
                  <a:lnTo>
                    <a:pt x="417" y="0"/>
                  </a:lnTo>
                  <a:lnTo>
                    <a:pt x="4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4" name="Freeform 115"/>
            <p:cNvSpPr>
              <a:spLocks noChangeAspect="1" noChangeArrowheads="1"/>
            </p:cNvSpPr>
            <p:nvPr/>
          </p:nvSpPr>
          <p:spPr bwMode="auto">
            <a:xfrm>
              <a:off x="1696" y="2308"/>
              <a:ext cx="85" cy="83"/>
            </a:xfrm>
            <a:custGeom>
              <a:avLst/>
              <a:gdLst>
                <a:gd name="T0" fmla="*/ 0 w 419"/>
                <a:gd name="T1" fmla="*/ 419 h 419"/>
                <a:gd name="T2" fmla="*/ 418 w 419"/>
                <a:gd name="T3" fmla="*/ 0 h 419"/>
                <a:gd name="T4" fmla="*/ 419 w 419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9" h="419">
                  <a:moveTo>
                    <a:pt x="0" y="419"/>
                  </a:moveTo>
                  <a:lnTo>
                    <a:pt x="418" y="0"/>
                  </a:lnTo>
                  <a:lnTo>
                    <a:pt x="419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5" name="Freeform 116"/>
            <p:cNvSpPr>
              <a:spLocks noChangeAspect="1" noChangeArrowheads="1"/>
            </p:cNvSpPr>
            <p:nvPr/>
          </p:nvSpPr>
          <p:spPr bwMode="auto">
            <a:xfrm>
              <a:off x="2041" y="1880"/>
              <a:ext cx="166" cy="167"/>
            </a:xfrm>
            <a:custGeom>
              <a:avLst/>
              <a:gdLst>
                <a:gd name="T0" fmla="*/ 0 w 836"/>
                <a:gd name="T1" fmla="*/ 837 h 837"/>
                <a:gd name="T2" fmla="*/ 835 w 836"/>
                <a:gd name="T3" fmla="*/ 0 h 837"/>
                <a:gd name="T4" fmla="*/ 836 w 836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837">
                  <a:moveTo>
                    <a:pt x="0" y="837"/>
                  </a:moveTo>
                  <a:lnTo>
                    <a:pt x="835" y="0"/>
                  </a:lnTo>
                  <a:lnTo>
                    <a:pt x="83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6" name="Freeform 117"/>
            <p:cNvSpPr>
              <a:spLocks noChangeAspect="1" noChangeArrowheads="1"/>
            </p:cNvSpPr>
            <p:nvPr/>
          </p:nvSpPr>
          <p:spPr bwMode="auto">
            <a:xfrm>
              <a:off x="1781" y="2224"/>
              <a:ext cx="83" cy="84"/>
            </a:xfrm>
            <a:custGeom>
              <a:avLst/>
              <a:gdLst>
                <a:gd name="T0" fmla="*/ 0 w 418"/>
                <a:gd name="T1" fmla="*/ 419 h 419"/>
                <a:gd name="T2" fmla="*/ 417 w 418"/>
                <a:gd name="T3" fmla="*/ 0 h 419"/>
                <a:gd name="T4" fmla="*/ 418 w 418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8" h="419">
                  <a:moveTo>
                    <a:pt x="0" y="419"/>
                  </a:moveTo>
                  <a:lnTo>
                    <a:pt x="417" y="0"/>
                  </a:lnTo>
                  <a:lnTo>
                    <a:pt x="4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7" name="Freeform 118"/>
            <p:cNvSpPr>
              <a:spLocks noChangeAspect="1" noChangeArrowheads="1"/>
            </p:cNvSpPr>
            <p:nvPr/>
          </p:nvSpPr>
          <p:spPr bwMode="auto">
            <a:xfrm>
              <a:off x="1736" y="2420"/>
              <a:ext cx="45" cy="44"/>
            </a:xfrm>
            <a:custGeom>
              <a:avLst/>
              <a:gdLst>
                <a:gd name="T0" fmla="*/ 0 w 222"/>
                <a:gd name="T1" fmla="*/ 221 h 221"/>
                <a:gd name="T2" fmla="*/ 221 w 222"/>
                <a:gd name="T3" fmla="*/ 0 h 221"/>
                <a:gd name="T4" fmla="*/ 222 w 222"/>
                <a:gd name="T5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2" h="221">
                  <a:moveTo>
                    <a:pt x="0" y="221"/>
                  </a:moveTo>
                  <a:lnTo>
                    <a:pt x="221" y="0"/>
                  </a:ln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8" name="Freeform 119"/>
            <p:cNvSpPr>
              <a:spLocks noChangeAspect="1" noChangeArrowheads="1"/>
            </p:cNvSpPr>
            <p:nvPr/>
          </p:nvSpPr>
          <p:spPr bwMode="auto">
            <a:xfrm>
              <a:off x="2152" y="1920"/>
              <a:ext cx="128" cy="127"/>
            </a:xfrm>
            <a:custGeom>
              <a:avLst/>
              <a:gdLst>
                <a:gd name="T0" fmla="*/ 0 w 640"/>
                <a:gd name="T1" fmla="*/ 640 h 640"/>
                <a:gd name="T2" fmla="*/ 639 w 640"/>
                <a:gd name="T3" fmla="*/ 0 h 640"/>
                <a:gd name="T4" fmla="*/ 640 w 640"/>
                <a:gd name="T5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0" h="640">
                  <a:moveTo>
                    <a:pt x="0" y="640"/>
                  </a:moveTo>
                  <a:lnTo>
                    <a:pt x="639" y="0"/>
                  </a:lnTo>
                  <a:lnTo>
                    <a:pt x="64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9" name="Freeform 120"/>
            <p:cNvSpPr>
              <a:spLocks noChangeAspect="1" noChangeArrowheads="1"/>
            </p:cNvSpPr>
            <p:nvPr/>
          </p:nvSpPr>
          <p:spPr bwMode="auto">
            <a:xfrm>
              <a:off x="1781" y="2336"/>
              <a:ext cx="83" cy="84"/>
            </a:xfrm>
            <a:custGeom>
              <a:avLst/>
              <a:gdLst>
                <a:gd name="T0" fmla="*/ 0 w 418"/>
                <a:gd name="T1" fmla="*/ 419 h 419"/>
                <a:gd name="T2" fmla="*/ 417 w 418"/>
                <a:gd name="T3" fmla="*/ 0 h 419"/>
                <a:gd name="T4" fmla="*/ 418 w 418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8" h="419">
                  <a:moveTo>
                    <a:pt x="0" y="419"/>
                  </a:moveTo>
                  <a:lnTo>
                    <a:pt x="417" y="0"/>
                  </a:lnTo>
                  <a:lnTo>
                    <a:pt x="4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0" name="Freeform 121"/>
            <p:cNvSpPr>
              <a:spLocks noChangeAspect="1" noChangeArrowheads="1"/>
            </p:cNvSpPr>
            <p:nvPr/>
          </p:nvSpPr>
          <p:spPr bwMode="auto">
            <a:xfrm>
              <a:off x="1848" y="2449"/>
              <a:ext cx="16" cy="15"/>
            </a:xfrm>
            <a:custGeom>
              <a:avLst/>
              <a:gdLst>
                <a:gd name="T0" fmla="*/ 0 w 76"/>
                <a:gd name="T1" fmla="*/ 76 h 76"/>
                <a:gd name="T2" fmla="*/ 75 w 76"/>
                <a:gd name="T3" fmla="*/ 0 h 76"/>
                <a:gd name="T4" fmla="*/ 76 w 76"/>
                <a:gd name="T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" h="76">
                  <a:moveTo>
                    <a:pt x="0" y="76"/>
                  </a:moveTo>
                  <a:lnTo>
                    <a:pt x="75" y="0"/>
                  </a:lnTo>
                  <a:lnTo>
                    <a:pt x="7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1" name="Freeform 122"/>
            <p:cNvSpPr>
              <a:spLocks noChangeAspect="1" noChangeArrowheads="1"/>
            </p:cNvSpPr>
            <p:nvPr/>
          </p:nvSpPr>
          <p:spPr bwMode="auto">
            <a:xfrm>
              <a:off x="1280" y="1880"/>
              <a:ext cx="30" cy="29"/>
            </a:xfrm>
            <a:custGeom>
              <a:avLst/>
              <a:gdLst>
                <a:gd name="T0" fmla="*/ 0 w 146"/>
                <a:gd name="T1" fmla="*/ 145 h 145"/>
                <a:gd name="T2" fmla="*/ 145 w 146"/>
                <a:gd name="T3" fmla="*/ 0 h 145"/>
                <a:gd name="T4" fmla="*/ 146 w 146"/>
                <a:gd name="T5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" h="145">
                  <a:moveTo>
                    <a:pt x="0" y="145"/>
                  </a:moveTo>
                  <a:lnTo>
                    <a:pt x="145" y="0"/>
                  </a:lnTo>
                  <a:lnTo>
                    <a:pt x="14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2" name="Freeform 123"/>
            <p:cNvSpPr>
              <a:spLocks noChangeAspect="1" noChangeArrowheads="1"/>
            </p:cNvSpPr>
            <p:nvPr/>
          </p:nvSpPr>
          <p:spPr bwMode="auto">
            <a:xfrm>
              <a:off x="1283" y="1880"/>
              <a:ext cx="138" cy="138"/>
            </a:xfrm>
            <a:custGeom>
              <a:avLst/>
              <a:gdLst>
                <a:gd name="T0" fmla="*/ 0 w 697"/>
                <a:gd name="T1" fmla="*/ 698 h 698"/>
                <a:gd name="T2" fmla="*/ 696 w 697"/>
                <a:gd name="T3" fmla="*/ 0 h 698"/>
                <a:gd name="T4" fmla="*/ 697 w 697"/>
                <a:gd name="T5" fmla="*/ 0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7" h="698">
                  <a:moveTo>
                    <a:pt x="0" y="698"/>
                  </a:moveTo>
                  <a:lnTo>
                    <a:pt x="696" y="0"/>
                  </a:lnTo>
                  <a:lnTo>
                    <a:pt x="697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3" name="Freeform 124"/>
            <p:cNvSpPr>
              <a:spLocks noChangeAspect="1" noChangeArrowheads="1"/>
            </p:cNvSpPr>
            <p:nvPr/>
          </p:nvSpPr>
          <p:spPr bwMode="auto">
            <a:xfrm>
              <a:off x="1368" y="1880"/>
              <a:ext cx="166" cy="167"/>
            </a:xfrm>
            <a:custGeom>
              <a:avLst/>
              <a:gdLst>
                <a:gd name="T0" fmla="*/ 0 w 836"/>
                <a:gd name="T1" fmla="*/ 837 h 837"/>
                <a:gd name="T2" fmla="*/ 835 w 836"/>
                <a:gd name="T3" fmla="*/ 0 h 837"/>
                <a:gd name="T4" fmla="*/ 836 w 836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837">
                  <a:moveTo>
                    <a:pt x="0" y="837"/>
                  </a:moveTo>
                  <a:lnTo>
                    <a:pt x="835" y="0"/>
                  </a:lnTo>
                  <a:lnTo>
                    <a:pt x="83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4" name="Freeform 125"/>
            <p:cNvSpPr>
              <a:spLocks noChangeAspect="1" noChangeArrowheads="1"/>
            </p:cNvSpPr>
            <p:nvPr/>
          </p:nvSpPr>
          <p:spPr bwMode="auto">
            <a:xfrm>
              <a:off x="1479" y="1880"/>
              <a:ext cx="167" cy="167"/>
            </a:xfrm>
            <a:custGeom>
              <a:avLst/>
              <a:gdLst>
                <a:gd name="T0" fmla="*/ 0 w 837"/>
                <a:gd name="T1" fmla="*/ 837 h 837"/>
                <a:gd name="T2" fmla="*/ 836 w 837"/>
                <a:gd name="T3" fmla="*/ 0 h 837"/>
                <a:gd name="T4" fmla="*/ 837 w 837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7">
                  <a:moveTo>
                    <a:pt x="0" y="837"/>
                  </a:moveTo>
                  <a:lnTo>
                    <a:pt x="836" y="0"/>
                  </a:lnTo>
                  <a:lnTo>
                    <a:pt x="837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5" name="Freeform 126"/>
            <p:cNvSpPr>
              <a:spLocks noChangeAspect="1" noChangeArrowheads="1"/>
            </p:cNvSpPr>
            <p:nvPr/>
          </p:nvSpPr>
          <p:spPr bwMode="auto">
            <a:xfrm>
              <a:off x="1591" y="1880"/>
              <a:ext cx="167" cy="167"/>
            </a:xfrm>
            <a:custGeom>
              <a:avLst/>
              <a:gdLst>
                <a:gd name="T0" fmla="*/ 0 w 836"/>
                <a:gd name="T1" fmla="*/ 837 h 837"/>
                <a:gd name="T2" fmla="*/ 835 w 836"/>
                <a:gd name="T3" fmla="*/ 0 h 837"/>
                <a:gd name="T4" fmla="*/ 836 w 836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837">
                  <a:moveTo>
                    <a:pt x="0" y="837"/>
                  </a:moveTo>
                  <a:lnTo>
                    <a:pt x="835" y="0"/>
                  </a:lnTo>
                  <a:lnTo>
                    <a:pt x="83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6" name="Freeform 127"/>
            <p:cNvSpPr>
              <a:spLocks noChangeAspect="1" noChangeArrowheads="1"/>
            </p:cNvSpPr>
            <p:nvPr/>
          </p:nvSpPr>
          <p:spPr bwMode="auto">
            <a:xfrm>
              <a:off x="1688" y="1970"/>
              <a:ext cx="93" cy="93"/>
            </a:xfrm>
            <a:custGeom>
              <a:avLst/>
              <a:gdLst>
                <a:gd name="T0" fmla="*/ 0 w 464"/>
                <a:gd name="T1" fmla="*/ 462 h 462"/>
                <a:gd name="T2" fmla="*/ 463 w 464"/>
                <a:gd name="T3" fmla="*/ 0 h 462"/>
                <a:gd name="T4" fmla="*/ 464 w 464"/>
                <a:gd name="T5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4" h="462">
                  <a:moveTo>
                    <a:pt x="0" y="462"/>
                  </a:moveTo>
                  <a:lnTo>
                    <a:pt x="463" y="0"/>
                  </a:lnTo>
                  <a:lnTo>
                    <a:pt x="464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7" name="Freeform 128"/>
            <p:cNvSpPr>
              <a:spLocks noChangeAspect="1" noChangeArrowheads="1"/>
            </p:cNvSpPr>
            <p:nvPr/>
          </p:nvSpPr>
          <p:spPr bwMode="auto">
            <a:xfrm>
              <a:off x="1781" y="1880"/>
              <a:ext cx="90" cy="90"/>
            </a:xfrm>
            <a:custGeom>
              <a:avLst/>
              <a:gdLst>
                <a:gd name="T0" fmla="*/ 0 w 453"/>
                <a:gd name="T1" fmla="*/ 454 h 454"/>
                <a:gd name="T2" fmla="*/ 452 w 453"/>
                <a:gd name="T3" fmla="*/ 0 h 454"/>
                <a:gd name="T4" fmla="*/ 453 w 453"/>
                <a:gd name="T5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3" h="454">
                  <a:moveTo>
                    <a:pt x="0" y="454"/>
                  </a:moveTo>
                  <a:lnTo>
                    <a:pt x="452" y="0"/>
                  </a:lnTo>
                  <a:lnTo>
                    <a:pt x="453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8" name="Freeform 129"/>
            <p:cNvSpPr>
              <a:spLocks noChangeAspect="1" noChangeArrowheads="1"/>
            </p:cNvSpPr>
            <p:nvPr/>
          </p:nvSpPr>
          <p:spPr bwMode="auto">
            <a:xfrm>
              <a:off x="1696" y="2083"/>
              <a:ext cx="85" cy="83"/>
            </a:xfrm>
            <a:custGeom>
              <a:avLst/>
              <a:gdLst>
                <a:gd name="T0" fmla="*/ 0 w 419"/>
                <a:gd name="T1" fmla="*/ 419 h 419"/>
                <a:gd name="T2" fmla="*/ 418 w 419"/>
                <a:gd name="T3" fmla="*/ 0 h 419"/>
                <a:gd name="T4" fmla="*/ 419 w 419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9" h="419">
                  <a:moveTo>
                    <a:pt x="0" y="419"/>
                  </a:moveTo>
                  <a:lnTo>
                    <a:pt x="418" y="0"/>
                  </a:lnTo>
                  <a:lnTo>
                    <a:pt x="419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9" name="Freeform 130"/>
            <p:cNvSpPr>
              <a:spLocks noChangeAspect="1" noChangeArrowheads="1"/>
            </p:cNvSpPr>
            <p:nvPr/>
          </p:nvSpPr>
          <p:spPr bwMode="auto">
            <a:xfrm>
              <a:off x="1781" y="1880"/>
              <a:ext cx="202" cy="203"/>
            </a:xfrm>
            <a:custGeom>
              <a:avLst/>
              <a:gdLst>
                <a:gd name="T0" fmla="*/ 0 w 1016"/>
                <a:gd name="T1" fmla="*/ 1016 h 1016"/>
                <a:gd name="T2" fmla="*/ 1015 w 1016"/>
                <a:gd name="T3" fmla="*/ 0 h 1016"/>
                <a:gd name="T4" fmla="*/ 1016 w 1016"/>
                <a:gd name="T5" fmla="*/ 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6" h="1016">
                  <a:moveTo>
                    <a:pt x="0" y="1016"/>
                  </a:moveTo>
                  <a:lnTo>
                    <a:pt x="1015" y="0"/>
                  </a:lnTo>
                  <a:lnTo>
                    <a:pt x="101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0" name="Freeform 131"/>
            <p:cNvSpPr>
              <a:spLocks noChangeAspect="1" noChangeArrowheads="1"/>
            </p:cNvSpPr>
            <p:nvPr/>
          </p:nvSpPr>
          <p:spPr bwMode="auto">
            <a:xfrm>
              <a:off x="1696" y="2195"/>
              <a:ext cx="85" cy="84"/>
            </a:xfrm>
            <a:custGeom>
              <a:avLst/>
              <a:gdLst>
                <a:gd name="T0" fmla="*/ 0 w 419"/>
                <a:gd name="T1" fmla="*/ 419 h 419"/>
                <a:gd name="T2" fmla="*/ 418 w 419"/>
                <a:gd name="T3" fmla="*/ 0 h 419"/>
                <a:gd name="T4" fmla="*/ 419 w 419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9" h="419">
                  <a:moveTo>
                    <a:pt x="0" y="419"/>
                  </a:moveTo>
                  <a:lnTo>
                    <a:pt x="418" y="0"/>
                  </a:lnTo>
                  <a:lnTo>
                    <a:pt x="419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1" name="Freeform 132"/>
            <p:cNvSpPr>
              <a:spLocks noChangeAspect="1" noChangeArrowheads="1"/>
            </p:cNvSpPr>
            <p:nvPr/>
          </p:nvSpPr>
          <p:spPr bwMode="auto">
            <a:xfrm>
              <a:off x="1927" y="1880"/>
              <a:ext cx="168" cy="167"/>
            </a:xfrm>
            <a:custGeom>
              <a:avLst/>
              <a:gdLst>
                <a:gd name="T0" fmla="*/ 0 w 837"/>
                <a:gd name="T1" fmla="*/ 837 h 837"/>
                <a:gd name="T2" fmla="*/ 836 w 837"/>
                <a:gd name="T3" fmla="*/ 0 h 837"/>
                <a:gd name="T4" fmla="*/ 837 w 837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7">
                  <a:moveTo>
                    <a:pt x="0" y="837"/>
                  </a:moveTo>
                  <a:lnTo>
                    <a:pt x="836" y="0"/>
                  </a:lnTo>
                  <a:lnTo>
                    <a:pt x="837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2" name="Freeform 133"/>
            <p:cNvSpPr>
              <a:spLocks noChangeAspect="1" noChangeArrowheads="1"/>
            </p:cNvSpPr>
            <p:nvPr/>
          </p:nvSpPr>
          <p:spPr bwMode="auto">
            <a:xfrm>
              <a:off x="1781" y="2111"/>
              <a:ext cx="83" cy="84"/>
            </a:xfrm>
            <a:custGeom>
              <a:avLst/>
              <a:gdLst>
                <a:gd name="T0" fmla="*/ 0 w 418"/>
                <a:gd name="T1" fmla="*/ 419 h 419"/>
                <a:gd name="T2" fmla="*/ 417 w 418"/>
                <a:gd name="T3" fmla="*/ 0 h 419"/>
                <a:gd name="T4" fmla="*/ 418 w 418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8" h="419">
                  <a:moveTo>
                    <a:pt x="0" y="419"/>
                  </a:moveTo>
                  <a:lnTo>
                    <a:pt x="417" y="0"/>
                  </a:lnTo>
                  <a:lnTo>
                    <a:pt x="4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3" name="Freeform 134"/>
            <p:cNvSpPr>
              <a:spLocks noChangeAspect="1" noChangeArrowheads="1"/>
            </p:cNvSpPr>
            <p:nvPr/>
          </p:nvSpPr>
          <p:spPr bwMode="auto">
            <a:xfrm>
              <a:off x="1696" y="2308"/>
              <a:ext cx="85" cy="83"/>
            </a:xfrm>
            <a:custGeom>
              <a:avLst/>
              <a:gdLst>
                <a:gd name="T0" fmla="*/ 0 w 419"/>
                <a:gd name="T1" fmla="*/ 419 h 419"/>
                <a:gd name="T2" fmla="*/ 418 w 419"/>
                <a:gd name="T3" fmla="*/ 0 h 419"/>
                <a:gd name="T4" fmla="*/ 419 w 419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9" h="419">
                  <a:moveTo>
                    <a:pt x="0" y="419"/>
                  </a:moveTo>
                  <a:lnTo>
                    <a:pt x="418" y="0"/>
                  </a:lnTo>
                  <a:lnTo>
                    <a:pt x="419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4" name="Freeform 135"/>
            <p:cNvSpPr>
              <a:spLocks noChangeAspect="1" noChangeArrowheads="1"/>
            </p:cNvSpPr>
            <p:nvPr/>
          </p:nvSpPr>
          <p:spPr bwMode="auto">
            <a:xfrm>
              <a:off x="2041" y="1880"/>
              <a:ext cx="166" cy="167"/>
            </a:xfrm>
            <a:custGeom>
              <a:avLst/>
              <a:gdLst>
                <a:gd name="T0" fmla="*/ 0 w 836"/>
                <a:gd name="T1" fmla="*/ 837 h 837"/>
                <a:gd name="T2" fmla="*/ 835 w 836"/>
                <a:gd name="T3" fmla="*/ 0 h 837"/>
                <a:gd name="T4" fmla="*/ 836 w 836"/>
                <a:gd name="T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6" h="837">
                  <a:moveTo>
                    <a:pt x="0" y="837"/>
                  </a:moveTo>
                  <a:lnTo>
                    <a:pt x="835" y="0"/>
                  </a:lnTo>
                  <a:lnTo>
                    <a:pt x="83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5" name="Freeform 136"/>
            <p:cNvSpPr>
              <a:spLocks noChangeAspect="1" noChangeArrowheads="1"/>
            </p:cNvSpPr>
            <p:nvPr/>
          </p:nvSpPr>
          <p:spPr bwMode="auto">
            <a:xfrm>
              <a:off x="1781" y="2224"/>
              <a:ext cx="83" cy="84"/>
            </a:xfrm>
            <a:custGeom>
              <a:avLst/>
              <a:gdLst>
                <a:gd name="T0" fmla="*/ 0 w 418"/>
                <a:gd name="T1" fmla="*/ 419 h 419"/>
                <a:gd name="T2" fmla="*/ 417 w 418"/>
                <a:gd name="T3" fmla="*/ 0 h 419"/>
                <a:gd name="T4" fmla="*/ 418 w 418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8" h="419">
                  <a:moveTo>
                    <a:pt x="0" y="419"/>
                  </a:moveTo>
                  <a:lnTo>
                    <a:pt x="417" y="0"/>
                  </a:lnTo>
                  <a:lnTo>
                    <a:pt x="4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6" name="Freeform 137"/>
            <p:cNvSpPr>
              <a:spLocks noChangeAspect="1" noChangeArrowheads="1"/>
            </p:cNvSpPr>
            <p:nvPr/>
          </p:nvSpPr>
          <p:spPr bwMode="auto">
            <a:xfrm>
              <a:off x="1736" y="2420"/>
              <a:ext cx="45" cy="44"/>
            </a:xfrm>
            <a:custGeom>
              <a:avLst/>
              <a:gdLst>
                <a:gd name="T0" fmla="*/ 0 w 222"/>
                <a:gd name="T1" fmla="*/ 221 h 221"/>
                <a:gd name="T2" fmla="*/ 221 w 222"/>
                <a:gd name="T3" fmla="*/ 0 h 221"/>
                <a:gd name="T4" fmla="*/ 222 w 222"/>
                <a:gd name="T5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2" h="221">
                  <a:moveTo>
                    <a:pt x="0" y="221"/>
                  </a:moveTo>
                  <a:lnTo>
                    <a:pt x="221" y="0"/>
                  </a:ln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7" name="Freeform 138"/>
            <p:cNvSpPr>
              <a:spLocks noChangeAspect="1" noChangeArrowheads="1"/>
            </p:cNvSpPr>
            <p:nvPr/>
          </p:nvSpPr>
          <p:spPr bwMode="auto">
            <a:xfrm>
              <a:off x="2152" y="1920"/>
              <a:ext cx="128" cy="127"/>
            </a:xfrm>
            <a:custGeom>
              <a:avLst/>
              <a:gdLst>
                <a:gd name="T0" fmla="*/ 0 w 640"/>
                <a:gd name="T1" fmla="*/ 640 h 640"/>
                <a:gd name="T2" fmla="*/ 639 w 640"/>
                <a:gd name="T3" fmla="*/ 0 h 640"/>
                <a:gd name="T4" fmla="*/ 640 w 640"/>
                <a:gd name="T5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0" h="640">
                  <a:moveTo>
                    <a:pt x="0" y="640"/>
                  </a:moveTo>
                  <a:lnTo>
                    <a:pt x="639" y="0"/>
                  </a:lnTo>
                  <a:lnTo>
                    <a:pt x="64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8" name="Freeform 139"/>
            <p:cNvSpPr>
              <a:spLocks noChangeAspect="1" noChangeArrowheads="1"/>
            </p:cNvSpPr>
            <p:nvPr/>
          </p:nvSpPr>
          <p:spPr bwMode="auto">
            <a:xfrm>
              <a:off x="1781" y="2336"/>
              <a:ext cx="83" cy="84"/>
            </a:xfrm>
            <a:custGeom>
              <a:avLst/>
              <a:gdLst>
                <a:gd name="T0" fmla="*/ 0 w 418"/>
                <a:gd name="T1" fmla="*/ 419 h 419"/>
                <a:gd name="T2" fmla="*/ 417 w 418"/>
                <a:gd name="T3" fmla="*/ 0 h 419"/>
                <a:gd name="T4" fmla="*/ 418 w 418"/>
                <a:gd name="T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8" h="419">
                  <a:moveTo>
                    <a:pt x="0" y="419"/>
                  </a:moveTo>
                  <a:lnTo>
                    <a:pt x="417" y="0"/>
                  </a:lnTo>
                  <a:lnTo>
                    <a:pt x="4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9" name="Freeform 140"/>
            <p:cNvSpPr>
              <a:spLocks noChangeAspect="1" noChangeArrowheads="1"/>
            </p:cNvSpPr>
            <p:nvPr/>
          </p:nvSpPr>
          <p:spPr bwMode="auto">
            <a:xfrm>
              <a:off x="1848" y="2449"/>
              <a:ext cx="16" cy="15"/>
            </a:xfrm>
            <a:custGeom>
              <a:avLst/>
              <a:gdLst>
                <a:gd name="T0" fmla="*/ 0 w 76"/>
                <a:gd name="T1" fmla="*/ 76 h 76"/>
                <a:gd name="T2" fmla="*/ 75 w 76"/>
                <a:gd name="T3" fmla="*/ 0 h 76"/>
                <a:gd name="T4" fmla="*/ 76 w 76"/>
                <a:gd name="T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" h="76">
                  <a:moveTo>
                    <a:pt x="0" y="76"/>
                  </a:moveTo>
                  <a:lnTo>
                    <a:pt x="75" y="0"/>
                  </a:lnTo>
                  <a:lnTo>
                    <a:pt x="7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sp>
        <p:nvSpPr>
          <p:cNvPr id="160" name="Text Box 141"/>
          <p:cNvSpPr txBox="1">
            <a:spLocks noChangeAspect="1" noChangeArrowheads="1"/>
          </p:cNvSpPr>
          <p:nvPr/>
        </p:nvSpPr>
        <p:spPr bwMode="auto">
          <a:xfrm>
            <a:off x="4019551" y="3054351"/>
            <a:ext cx="5699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en-US" altLang="zh-CN" sz="2000">
                <a:latin typeface="宋体" panose="02010600030101010101" pitchFamily="2" charset="-122"/>
              </a:rPr>
              <a:t>A-A</a:t>
            </a:r>
          </a:p>
        </p:txBody>
      </p:sp>
      <p:grpSp>
        <p:nvGrpSpPr>
          <p:cNvPr id="161" name="Group 142"/>
          <p:cNvGrpSpPr>
            <a:grpSpLocks/>
          </p:cNvGrpSpPr>
          <p:nvPr/>
        </p:nvGrpSpPr>
        <p:grpSpPr bwMode="auto">
          <a:xfrm>
            <a:off x="3127375" y="966789"/>
            <a:ext cx="2630488" cy="1851025"/>
            <a:chOff x="1026" y="281"/>
            <a:chExt cx="1657" cy="1166"/>
          </a:xfrm>
        </p:grpSpPr>
        <p:sp>
          <p:nvSpPr>
            <p:cNvPr id="162" name="Freeform 143"/>
            <p:cNvSpPr>
              <a:spLocks noChangeAspect="1" noChangeArrowheads="1"/>
            </p:cNvSpPr>
            <p:nvPr/>
          </p:nvSpPr>
          <p:spPr bwMode="auto">
            <a:xfrm>
              <a:off x="1781" y="281"/>
              <a:ext cx="1" cy="199"/>
            </a:xfrm>
            <a:custGeom>
              <a:avLst/>
              <a:gdLst>
                <a:gd name="T0" fmla="*/ 0 w 1"/>
                <a:gd name="T1" fmla="*/ 0 h 1004"/>
                <a:gd name="T2" fmla="*/ 0 w 1"/>
                <a:gd name="T3" fmla="*/ 1004 h 1004"/>
                <a:gd name="T4" fmla="*/ 1 w 1"/>
                <a:gd name="T5" fmla="*/ 1004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04">
                  <a:moveTo>
                    <a:pt x="0" y="0"/>
                  </a:moveTo>
                  <a:lnTo>
                    <a:pt x="0" y="1004"/>
                  </a:lnTo>
                  <a:lnTo>
                    <a:pt x="1" y="1004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3" name="Freeform 144"/>
            <p:cNvSpPr>
              <a:spLocks noChangeAspect="1" noChangeArrowheads="1"/>
            </p:cNvSpPr>
            <p:nvPr/>
          </p:nvSpPr>
          <p:spPr bwMode="auto">
            <a:xfrm>
              <a:off x="1781" y="717"/>
              <a:ext cx="1" cy="52"/>
            </a:xfrm>
            <a:custGeom>
              <a:avLst/>
              <a:gdLst>
                <a:gd name="T0" fmla="*/ 0 w 1"/>
                <a:gd name="T1" fmla="*/ 0 h 252"/>
                <a:gd name="T2" fmla="*/ 0 w 1"/>
                <a:gd name="T3" fmla="*/ 252 h 252"/>
                <a:gd name="T4" fmla="*/ 1 w 1"/>
                <a:gd name="T5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2">
                  <a:moveTo>
                    <a:pt x="0" y="0"/>
                  </a:moveTo>
                  <a:lnTo>
                    <a:pt x="0" y="252"/>
                  </a:lnTo>
                  <a:lnTo>
                    <a:pt x="1" y="25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4" name="Freeform 145"/>
            <p:cNvSpPr>
              <a:spLocks noChangeAspect="1" noChangeArrowheads="1"/>
            </p:cNvSpPr>
            <p:nvPr/>
          </p:nvSpPr>
          <p:spPr bwMode="auto">
            <a:xfrm>
              <a:off x="1781" y="793"/>
              <a:ext cx="1" cy="201"/>
            </a:xfrm>
            <a:custGeom>
              <a:avLst/>
              <a:gdLst>
                <a:gd name="T0" fmla="*/ 0 w 1"/>
                <a:gd name="T1" fmla="*/ 0 h 1005"/>
                <a:gd name="T2" fmla="*/ 0 w 1"/>
                <a:gd name="T3" fmla="*/ 1005 h 1005"/>
                <a:gd name="T4" fmla="*/ 1 w 1"/>
                <a:gd name="T5" fmla="*/ 1005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05">
                  <a:moveTo>
                    <a:pt x="0" y="0"/>
                  </a:moveTo>
                  <a:lnTo>
                    <a:pt x="0" y="1005"/>
                  </a:lnTo>
                  <a:lnTo>
                    <a:pt x="1" y="1005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5" name="Freeform 146"/>
            <p:cNvSpPr>
              <a:spLocks noChangeAspect="1" noChangeArrowheads="1"/>
            </p:cNvSpPr>
            <p:nvPr/>
          </p:nvSpPr>
          <p:spPr bwMode="auto">
            <a:xfrm>
              <a:off x="1781" y="1018"/>
              <a:ext cx="1" cy="50"/>
            </a:xfrm>
            <a:custGeom>
              <a:avLst/>
              <a:gdLst>
                <a:gd name="T0" fmla="*/ 0 w 1"/>
                <a:gd name="T1" fmla="*/ 0 h 251"/>
                <a:gd name="T2" fmla="*/ 0 w 1"/>
                <a:gd name="T3" fmla="*/ 251 h 251"/>
                <a:gd name="T4" fmla="*/ 1 w 1"/>
                <a:gd name="T5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1">
                  <a:moveTo>
                    <a:pt x="0" y="0"/>
                  </a:moveTo>
                  <a:lnTo>
                    <a:pt x="0" y="251"/>
                  </a:lnTo>
                  <a:lnTo>
                    <a:pt x="1" y="251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6" name="Freeform 147"/>
            <p:cNvSpPr>
              <a:spLocks noChangeAspect="1" noChangeArrowheads="1"/>
            </p:cNvSpPr>
            <p:nvPr/>
          </p:nvSpPr>
          <p:spPr bwMode="auto">
            <a:xfrm>
              <a:off x="1781" y="1092"/>
              <a:ext cx="1" cy="202"/>
            </a:xfrm>
            <a:custGeom>
              <a:avLst/>
              <a:gdLst>
                <a:gd name="T0" fmla="*/ 0 w 1"/>
                <a:gd name="T1" fmla="*/ 0 h 1003"/>
                <a:gd name="T2" fmla="*/ 0 w 1"/>
                <a:gd name="T3" fmla="*/ 1003 h 1003"/>
                <a:gd name="T4" fmla="*/ 1 w 1"/>
                <a:gd name="T5" fmla="*/ 1003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03">
                  <a:moveTo>
                    <a:pt x="0" y="0"/>
                  </a:moveTo>
                  <a:lnTo>
                    <a:pt x="0" y="1003"/>
                  </a:lnTo>
                  <a:lnTo>
                    <a:pt x="1" y="1003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7" name="Freeform 148"/>
            <p:cNvSpPr>
              <a:spLocks noChangeAspect="1" noChangeArrowheads="1"/>
            </p:cNvSpPr>
            <p:nvPr/>
          </p:nvSpPr>
          <p:spPr bwMode="auto">
            <a:xfrm>
              <a:off x="1781" y="1319"/>
              <a:ext cx="1" cy="49"/>
            </a:xfrm>
            <a:custGeom>
              <a:avLst/>
              <a:gdLst>
                <a:gd name="T0" fmla="*/ 0 w 1"/>
                <a:gd name="T1" fmla="*/ 0 h 251"/>
                <a:gd name="T2" fmla="*/ 0 w 1"/>
                <a:gd name="T3" fmla="*/ 251 h 251"/>
                <a:gd name="T4" fmla="*/ 1 w 1"/>
                <a:gd name="T5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1">
                  <a:moveTo>
                    <a:pt x="0" y="0"/>
                  </a:moveTo>
                  <a:lnTo>
                    <a:pt x="0" y="251"/>
                  </a:lnTo>
                  <a:lnTo>
                    <a:pt x="1" y="251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8" name="Freeform 149"/>
            <p:cNvSpPr>
              <a:spLocks noChangeAspect="1" noChangeArrowheads="1"/>
            </p:cNvSpPr>
            <p:nvPr/>
          </p:nvSpPr>
          <p:spPr bwMode="auto">
            <a:xfrm>
              <a:off x="1781" y="735"/>
              <a:ext cx="1" cy="199"/>
            </a:xfrm>
            <a:custGeom>
              <a:avLst/>
              <a:gdLst>
                <a:gd name="T0" fmla="*/ 0 w 1"/>
                <a:gd name="T1" fmla="*/ 1004 h 1004"/>
                <a:gd name="T2" fmla="*/ 0 w 1"/>
                <a:gd name="T3" fmla="*/ 0 h 1004"/>
                <a:gd name="T4" fmla="*/ 1 w 1"/>
                <a:gd name="T5" fmla="*/ 0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04">
                  <a:moveTo>
                    <a:pt x="0" y="100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9" name="Freeform 150"/>
            <p:cNvSpPr>
              <a:spLocks noChangeAspect="1" noChangeArrowheads="1"/>
            </p:cNvSpPr>
            <p:nvPr/>
          </p:nvSpPr>
          <p:spPr bwMode="auto">
            <a:xfrm>
              <a:off x="1280" y="600"/>
              <a:ext cx="102" cy="2"/>
            </a:xfrm>
            <a:custGeom>
              <a:avLst/>
              <a:gdLst>
                <a:gd name="T0" fmla="*/ 0 w 505"/>
                <a:gd name="T1" fmla="*/ 0 h 2"/>
                <a:gd name="T2" fmla="*/ 504 w 505"/>
                <a:gd name="T3" fmla="*/ 0 h 2"/>
                <a:gd name="T4" fmla="*/ 505 w 50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5" h="2">
                  <a:moveTo>
                    <a:pt x="0" y="0"/>
                  </a:moveTo>
                  <a:lnTo>
                    <a:pt x="504" y="0"/>
                  </a:lnTo>
                  <a:lnTo>
                    <a:pt x="505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0" name="Freeform 151"/>
            <p:cNvSpPr>
              <a:spLocks noChangeAspect="1" noChangeArrowheads="1"/>
            </p:cNvSpPr>
            <p:nvPr/>
          </p:nvSpPr>
          <p:spPr bwMode="auto">
            <a:xfrm>
              <a:off x="1405" y="600"/>
              <a:ext cx="50" cy="2"/>
            </a:xfrm>
            <a:custGeom>
              <a:avLst/>
              <a:gdLst>
                <a:gd name="T0" fmla="*/ 0 w 252"/>
                <a:gd name="T1" fmla="*/ 0 h 2"/>
                <a:gd name="T2" fmla="*/ 251 w 252"/>
                <a:gd name="T3" fmla="*/ 0 h 2"/>
                <a:gd name="T4" fmla="*/ 252 w 25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" h="2">
                  <a:moveTo>
                    <a:pt x="0" y="0"/>
                  </a:moveTo>
                  <a:lnTo>
                    <a:pt x="251" y="0"/>
                  </a:lnTo>
                  <a:lnTo>
                    <a:pt x="25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1" name="Freeform 152"/>
            <p:cNvSpPr>
              <a:spLocks noChangeAspect="1" noChangeArrowheads="1"/>
            </p:cNvSpPr>
            <p:nvPr/>
          </p:nvSpPr>
          <p:spPr bwMode="auto">
            <a:xfrm>
              <a:off x="1481" y="600"/>
              <a:ext cx="199" cy="2"/>
            </a:xfrm>
            <a:custGeom>
              <a:avLst/>
              <a:gdLst>
                <a:gd name="T0" fmla="*/ 0 w 1002"/>
                <a:gd name="T1" fmla="*/ 0 h 2"/>
                <a:gd name="T2" fmla="*/ 1001 w 1002"/>
                <a:gd name="T3" fmla="*/ 0 h 2"/>
                <a:gd name="T4" fmla="*/ 1002 w 100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2" h="2">
                  <a:moveTo>
                    <a:pt x="0" y="0"/>
                  </a:moveTo>
                  <a:lnTo>
                    <a:pt x="1001" y="0"/>
                  </a:lnTo>
                  <a:lnTo>
                    <a:pt x="100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2" name="Freeform 153"/>
            <p:cNvSpPr>
              <a:spLocks noChangeAspect="1" noChangeArrowheads="1"/>
            </p:cNvSpPr>
            <p:nvPr/>
          </p:nvSpPr>
          <p:spPr bwMode="auto">
            <a:xfrm>
              <a:off x="1706" y="600"/>
              <a:ext cx="51" cy="2"/>
            </a:xfrm>
            <a:custGeom>
              <a:avLst/>
              <a:gdLst>
                <a:gd name="T0" fmla="*/ 0 w 252"/>
                <a:gd name="T1" fmla="*/ 0 h 2"/>
                <a:gd name="T2" fmla="*/ 251 w 252"/>
                <a:gd name="T3" fmla="*/ 0 h 2"/>
                <a:gd name="T4" fmla="*/ 252 w 25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" h="2">
                  <a:moveTo>
                    <a:pt x="0" y="0"/>
                  </a:moveTo>
                  <a:lnTo>
                    <a:pt x="251" y="0"/>
                  </a:lnTo>
                  <a:lnTo>
                    <a:pt x="25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3" name="Freeform 154"/>
            <p:cNvSpPr>
              <a:spLocks noChangeAspect="1" noChangeArrowheads="1"/>
            </p:cNvSpPr>
            <p:nvPr/>
          </p:nvSpPr>
          <p:spPr bwMode="auto">
            <a:xfrm>
              <a:off x="1781" y="600"/>
              <a:ext cx="199" cy="2"/>
            </a:xfrm>
            <a:custGeom>
              <a:avLst/>
              <a:gdLst>
                <a:gd name="T0" fmla="*/ 0 w 1004"/>
                <a:gd name="T1" fmla="*/ 0 h 2"/>
                <a:gd name="T2" fmla="*/ 1003 w 1004"/>
                <a:gd name="T3" fmla="*/ 0 h 2"/>
                <a:gd name="T4" fmla="*/ 1004 w 100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4" h="2">
                  <a:moveTo>
                    <a:pt x="0" y="0"/>
                  </a:moveTo>
                  <a:lnTo>
                    <a:pt x="1003" y="0"/>
                  </a:lnTo>
                  <a:lnTo>
                    <a:pt x="1004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4" name="Freeform 155"/>
            <p:cNvSpPr>
              <a:spLocks noChangeAspect="1" noChangeArrowheads="1"/>
            </p:cNvSpPr>
            <p:nvPr/>
          </p:nvSpPr>
          <p:spPr bwMode="auto">
            <a:xfrm>
              <a:off x="2006" y="600"/>
              <a:ext cx="49" cy="2"/>
            </a:xfrm>
            <a:custGeom>
              <a:avLst/>
              <a:gdLst>
                <a:gd name="T0" fmla="*/ 0 w 252"/>
                <a:gd name="T1" fmla="*/ 0 h 2"/>
                <a:gd name="T2" fmla="*/ 251 w 252"/>
                <a:gd name="T3" fmla="*/ 0 h 2"/>
                <a:gd name="T4" fmla="*/ 252 w 25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" h="2">
                  <a:moveTo>
                    <a:pt x="0" y="0"/>
                  </a:moveTo>
                  <a:lnTo>
                    <a:pt x="251" y="0"/>
                  </a:lnTo>
                  <a:lnTo>
                    <a:pt x="25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5" name="Freeform 156"/>
            <p:cNvSpPr>
              <a:spLocks noChangeAspect="1" noChangeArrowheads="1"/>
            </p:cNvSpPr>
            <p:nvPr/>
          </p:nvSpPr>
          <p:spPr bwMode="auto">
            <a:xfrm>
              <a:off x="2081" y="600"/>
              <a:ext cx="100" cy="2"/>
            </a:xfrm>
            <a:custGeom>
              <a:avLst/>
              <a:gdLst>
                <a:gd name="T0" fmla="*/ 0 w 506"/>
                <a:gd name="T1" fmla="*/ 0 h 2"/>
                <a:gd name="T2" fmla="*/ 505 w 506"/>
                <a:gd name="T3" fmla="*/ 0 h 2"/>
                <a:gd name="T4" fmla="*/ 506 w 50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6" h="2">
                  <a:moveTo>
                    <a:pt x="0" y="0"/>
                  </a:moveTo>
                  <a:lnTo>
                    <a:pt x="505" y="0"/>
                  </a:lnTo>
                  <a:lnTo>
                    <a:pt x="50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6" name="Freeform 157"/>
            <p:cNvSpPr>
              <a:spLocks noChangeAspect="1" noChangeArrowheads="1"/>
            </p:cNvSpPr>
            <p:nvPr/>
          </p:nvSpPr>
          <p:spPr bwMode="auto">
            <a:xfrm>
              <a:off x="1614" y="433"/>
              <a:ext cx="333" cy="336"/>
            </a:xfrm>
            <a:custGeom>
              <a:avLst/>
              <a:gdLst>
                <a:gd name="T0" fmla="*/ 1671 w 1672"/>
                <a:gd name="T1" fmla="*/ 836 h 1674"/>
                <a:gd name="T2" fmla="*/ 1630 w 1672"/>
                <a:gd name="T3" fmla="*/ 578 h 1674"/>
                <a:gd name="T4" fmla="*/ 1512 w 1672"/>
                <a:gd name="T5" fmla="*/ 345 h 1674"/>
                <a:gd name="T6" fmla="*/ 1327 w 1672"/>
                <a:gd name="T7" fmla="*/ 159 h 1674"/>
                <a:gd name="T8" fmla="*/ 1094 w 1672"/>
                <a:gd name="T9" fmla="*/ 41 h 1674"/>
                <a:gd name="T10" fmla="*/ 836 w 1672"/>
                <a:gd name="T11" fmla="*/ 0 h 1674"/>
                <a:gd name="T12" fmla="*/ 577 w 1672"/>
                <a:gd name="T13" fmla="*/ 41 h 1674"/>
                <a:gd name="T14" fmla="*/ 345 w 1672"/>
                <a:gd name="T15" fmla="*/ 159 h 1674"/>
                <a:gd name="T16" fmla="*/ 160 w 1672"/>
                <a:gd name="T17" fmla="*/ 345 h 1674"/>
                <a:gd name="T18" fmla="*/ 41 w 1672"/>
                <a:gd name="T19" fmla="*/ 578 h 1674"/>
                <a:gd name="T20" fmla="*/ 0 w 1672"/>
                <a:gd name="T21" fmla="*/ 836 h 1674"/>
                <a:gd name="T22" fmla="*/ 41 w 1672"/>
                <a:gd name="T23" fmla="*/ 1095 h 1674"/>
                <a:gd name="T24" fmla="*/ 160 w 1672"/>
                <a:gd name="T25" fmla="*/ 1328 h 1674"/>
                <a:gd name="T26" fmla="*/ 345 w 1672"/>
                <a:gd name="T27" fmla="*/ 1513 h 1674"/>
                <a:gd name="T28" fmla="*/ 577 w 1672"/>
                <a:gd name="T29" fmla="*/ 1632 h 1674"/>
                <a:gd name="T30" fmla="*/ 836 w 1672"/>
                <a:gd name="T31" fmla="*/ 1674 h 1674"/>
                <a:gd name="T32" fmla="*/ 1094 w 1672"/>
                <a:gd name="T33" fmla="*/ 1632 h 1674"/>
                <a:gd name="T34" fmla="*/ 1327 w 1672"/>
                <a:gd name="T35" fmla="*/ 1513 h 1674"/>
                <a:gd name="T36" fmla="*/ 1512 w 1672"/>
                <a:gd name="T37" fmla="*/ 1328 h 1674"/>
                <a:gd name="T38" fmla="*/ 1630 w 1672"/>
                <a:gd name="T39" fmla="*/ 1095 h 1674"/>
                <a:gd name="T40" fmla="*/ 1671 w 1672"/>
                <a:gd name="T41" fmla="*/ 836 h 1674"/>
                <a:gd name="T42" fmla="*/ 1672 w 1672"/>
                <a:gd name="T43" fmla="*/ 836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72" h="1674">
                  <a:moveTo>
                    <a:pt x="1671" y="836"/>
                  </a:moveTo>
                  <a:lnTo>
                    <a:pt x="1630" y="578"/>
                  </a:lnTo>
                  <a:lnTo>
                    <a:pt x="1512" y="345"/>
                  </a:lnTo>
                  <a:lnTo>
                    <a:pt x="1327" y="159"/>
                  </a:lnTo>
                  <a:lnTo>
                    <a:pt x="1094" y="41"/>
                  </a:lnTo>
                  <a:lnTo>
                    <a:pt x="836" y="0"/>
                  </a:lnTo>
                  <a:lnTo>
                    <a:pt x="577" y="41"/>
                  </a:lnTo>
                  <a:lnTo>
                    <a:pt x="345" y="159"/>
                  </a:lnTo>
                  <a:lnTo>
                    <a:pt x="160" y="345"/>
                  </a:lnTo>
                  <a:lnTo>
                    <a:pt x="41" y="578"/>
                  </a:lnTo>
                  <a:lnTo>
                    <a:pt x="0" y="836"/>
                  </a:lnTo>
                  <a:lnTo>
                    <a:pt x="41" y="1095"/>
                  </a:lnTo>
                  <a:lnTo>
                    <a:pt x="160" y="1328"/>
                  </a:lnTo>
                  <a:lnTo>
                    <a:pt x="345" y="1513"/>
                  </a:lnTo>
                  <a:lnTo>
                    <a:pt x="577" y="1632"/>
                  </a:lnTo>
                  <a:lnTo>
                    <a:pt x="836" y="1674"/>
                  </a:lnTo>
                  <a:lnTo>
                    <a:pt x="1094" y="1632"/>
                  </a:lnTo>
                  <a:lnTo>
                    <a:pt x="1327" y="1513"/>
                  </a:lnTo>
                  <a:lnTo>
                    <a:pt x="1512" y="1328"/>
                  </a:lnTo>
                  <a:lnTo>
                    <a:pt x="1630" y="1095"/>
                  </a:lnTo>
                  <a:lnTo>
                    <a:pt x="1671" y="836"/>
                  </a:lnTo>
                  <a:lnTo>
                    <a:pt x="1672" y="83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7" name="Freeform 158"/>
            <p:cNvSpPr>
              <a:spLocks noChangeAspect="1" noChangeArrowheads="1"/>
            </p:cNvSpPr>
            <p:nvPr/>
          </p:nvSpPr>
          <p:spPr bwMode="auto">
            <a:xfrm>
              <a:off x="1535" y="355"/>
              <a:ext cx="492" cy="491"/>
            </a:xfrm>
            <a:custGeom>
              <a:avLst/>
              <a:gdLst>
                <a:gd name="T0" fmla="*/ 2465 w 2466"/>
                <a:gd name="T1" fmla="*/ 1234 h 2469"/>
                <a:gd name="T2" fmla="*/ 2435 w 2466"/>
                <a:gd name="T3" fmla="*/ 959 h 2469"/>
                <a:gd name="T4" fmla="*/ 2344 w 2466"/>
                <a:gd name="T5" fmla="*/ 699 h 2469"/>
                <a:gd name="T6" fmla="*/ 2197 w 2466"/>
                <a:gd name="T7" fmla="*/ 465 h 2469"/>
                <a:gd name="T8" fmla="*/ 2002 w 2466"/>
                <a:gd name="T9" fmla="*/ 269 h 2469"/>
                <a:gd name="T10" fmla="*/ 1768 w 2466"/>
                <a:gd name="T11" fmla="*/ 122 h 2469"/>
                <a:gd name="T12" fmla="*/ 1507 w 2466"/>
                <a:gd name="T13" fmla="*/ 31 h 2469"/>
                <a:gd name="T14" fmla="*/ 1233 w 2466"/>
                <a:gd name="T15" fmla="*/ 0 h 2469"/>
                <a:gd name="T16" fmla="*/ 959 w 2466"/>
                <a:gd name="T17" fmla="*/ 31 h 2469"/>
                <a:gd name="T18" fmla="*/ 698 w 2466"/>
                <a:gd name="T19" fmla="*/ 122 h 2469"/>
                <a:gd name="T20" fmla="*/ 465 w 2466"/>
                <a:gd name="T21" fmla="*/ 269 h 2469"/>
                <a:gd name="T22" fmla="*/ 269 w 2466"/>
                <a:gd name="T23" fmla="*/ 465 h 2469"/>
                <a:gd name="T24" fmla="*/ 123 w 2466"/>
                <a:gd name="T25" fmla="*/ 699 h 2469"/>
                <a:gd name="T26" fmla="*/ 31 w 2466"/>
                <a:gd name="T27" fmla="*/ 959 h 2469"/>
                <a:gd name="T28" fmla="*/ 0 w 2466"/>
                <a:gd name="T29" fmla="*/ 1234 h 2469"/>
                <a:gd name="T30" fmla="*/ 31 w 2466"/>
                <a:gd name="T31" fmla="*/ 1509 h 2469"/>
                <a:gd name="T32" fmla="*/ 123 w 2466"/>
                <a:gd name="T33" fmla="*/ 1770 h 2469"/>
                <a:gd name="T34" fmla="*/ 269 w 2466"/>
                <a:gd name="T35" fmla="*/ 2004 h 2469"/>
                <a:gd name="T36" fmla="*/ 465 w 2466"/>
                <a:gd name="T37" fmla="*/ 2199 h 2469"/>
                <a:gd name="T38" fmla="*/ 698 w 2466"/>
                <a:gd name="T39" fmla="*/ 2346 h 2469"/>
                <a:gd name="T40" fmla="*/ 959 w 2466"/>
                <a:gd name="T41" fmla="*/ 2438 h 2469"/>
                <a:gd name="T42" fmla="*/ 1233 w 2466"/>
                <a:gd name="T43" fmla="*/ 2469 h 2469"/>
                <a:gd name="T44" fmla="*/ 1507 w 2466"/>
                <a:gd name="T45" fmla="*/ 2438 h 2469"/>
                <a:gd name="T46" fmla="*/ 1768 w 2466"/>
                <a:gd name="T47" fmla="*/ 2346 h 2469"/>
                <a:gd name="T48" fmla="*/ 2002 w 2466"/>
                <a:gd name="T49" fmla="*/ 2199 h 2469"/>
                <a:gd name="T50" fmla="*/ 2197 w 2466"/>
                <a:gd name="T51" fmla="*/ 2004 h 2469"/>
                <a:gd name="T52" fmla="*/ 2344 w 2466"/>
                <a:gd name="T53" fmla="*/ 1770 h 2469"/>
                <a:gd name="T54" fmla="*/ 2435 w 2466"/>
                <a:gd name="T55" fmla="*/ 1509 h 2469"/>
                <a:gd name="T56" fmla="*/ 2465 w 2466"/>
                <a:gd name="T57" fmla="*/ 1234 h 2469"/>
                <a:gd name="T58" fmla="*/ 2466 w 2466"/>
                <a:gd name="T59" fmla="*/ 1234 h 2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66" h="2469">
                  <a:moveTo>
                    <a:pt x="2465" y="1234"/>
                  </a:moveTo>
                  <a:lnTo>
                    <a:pt x="2435" y="959"/>
                  </a:lnTo>
                  <a:lnTo>
                    <a:pt x="2344" y="699"/>
                  </a:lnTo>
                  <a:lnTo>
                    <a:pt x="2197" y="465"/>
                  </a:lnTo>
                  <a:lnTo>
                    <a:pt x="2002" y="269"/>
                  </a:lnTo>
                  <a:lnTo>
                    <a:pt x="1768" y="122"/>
                  </a:lnTo>
                  <a:lnTo>
                    <a:pt x="1507" y="31"/>
                  </a:lnTo>
                  <a:lnTo>
                    <a:pt x="1233" y="0"/>
                  </a:lnTo>
                  <a:lnTo>
                    <a:pt x="959" y="31"/>
                  </a:lnTo>
                  <a:lnTo>
                    <a:pt x="698" y="122"/>
                  </a:lnTo>
                  <a:lnTo>
                    <a:pt x="465" y="269"/>
                  </a:lnTo>
                  <a:lnTo>
                    <a:pt x="269" y="465"/>
                  </a:lnTo>
                  <a:lnTo>
                    <a:pt x="123" y="699"/>
                  </a:lnTo>
                  <a:lnTo>
                    <a:pt x="31" y="959"/>
                  </a:lnTo>
                  <a:lnTo>
                    <a:pt x="0" y="1234"/>
                  </a:lnTo>
                  <a:lnTo>
                    <a:pt x="31" y="1509"/>
                  </a:lnTo>
                  <a:lnTo>
                    <a:pt x="123" y="1770"/>
                  </a:lnTo>
                  <a:lnTo>
                    <a:pt x="269" y="2004"/>
                  </a:lnTo>
                  <a:lnTo>
                    <a:pt x="465" y="2199"/>
                  </a:lnTo>
                  <a:lnTo>
                    <a:pt x="698" y="2346"/>
                  </a:lnTo>
                  <a:lnTo>
                    <a:pt x="959" y="2438"/>
                  </a:lnTo>
                  <a:lnTo>
                    <a:pt x="1233" y="2469"/>
                  </a:lnTo>
                  <a:lnTo>
                    <a:pt x="1507" y="2438"/>
                  </a:lnTo>
                  <a:lnTo>
                    <a:pt x="1768" y="2346"/>
                  </a:lnTo>
                  <a:lnTo>
                    <a:pt x="2002" y="2199"/>
                  </a:lnTo>
                  <a:lnTo>
                    <a:pt x="2197" y="2004"/>
                  </a:lnTo>
                  <a:lnTo>
                    <a:pt x="2344" y="1770"/>
                  </a:lnTo>
                  <a:lnTo>
                    <a:pt x="2435" y="1509"/>
                  </a:lnTo>
                  <a:lnTo>
                    <a:pt x="2465" y="1234"/>
                  </a:lnTo>
                  <a:lnTo>
                    <a:pt x="2466" y="12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8" name="Freeform 159"/>
            <p:cNvSpPr>
              <a:spLocks noChangeAspect="1" noChangeArrowheads="1"/>
            </p:cNvSpPr>
            <p:nvPr/>
          </p:nvSpPr>
          <p:spPr bwMode="auto">
            <a:xfrm>
              <a:off x="1031" y="1227"/>
              <a:ext cx="1" cy="209"/>
            </a:xfrm>
            <a:custGeom>
              <a:avLst/>
              <a:gdLst>
                <a:gd name="T0" fmla="*/ 0 w 1"/>
                <a:gd name="T1" fmla="*/ 1045 h 1045"/>
                <a:gd name="T2" fmla="*/ 0 w 1"/>
                <a:gd name="T3" fmla="*/ 0 h 1045"/>
                <a:gd name="T4" fmla="*/ 1 w 1"/>
                <a:gd name="T5" fmla="*/ 0 h 1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45">
                  <a:moveTo>
                    <a:pt x="0" y="104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9" name="Freeform 160"/>
            <p:cNvSpPr>
              <a:spLocks noChangeAspect="1" noChangeArrowheads="1"/>
            </p:cNvSpPr>
            <p:nvPr/>
          </p:nvSpPr>
          <p:spPr bwMode="auto">
            <a:xfrm>
              <a:off x="1072" y="1185"/>
              <a:ext cx="582" cy="2"/>
            </a:xfrm>
            <a:custGeom>
              <a:avLst/>
              <a:gdLst>
                <a:gd name="T0" fmla="*/ 0 w 2926"/>
                <a:gd name="T1" fmla="*/ 0 h 2"/>
                <a:gd name="T2" fmla="*/ 2925 w 2926"/>
                <a:gd name="T3" fmla="*/ 0 h 2"/>
                <a:gd name="T4" fmla="*/ 2926 w 292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26" h="2">
                  <a:moveTo>
                    <a:pt x="0" y="0"/>
                  </a:moveTo>
                  <a:lnTo>
                    <a:pt x="2925" y="0"/>
                  </a:lnTo>
                  <a:lnTo>
                    <a:pt x="2926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0" name="Freeform 161"/>
            <p:cNvSpPr>
              <a:spLocks noChangeAspect="1" noChangeArrowheads="1"/>
            </p:cNvSpPr>
            <p:nvPr/>
          </p:nvSpPr>
          <p:spPr bwMode="auto">
            <a:xfrm>
              <a:off x="1197" y="486"/>
              <a:ext cx="365" cy="699"/>
            </a:xfrm>
            <a:custGeom>
              <a:avLst/>
              <a:gdLst>
                <a:gd name="T0" fmla="*/ 1832 w 1832"/>
                <a:gd name="T1" fmla="*/ 0 h 3502"/>
                <a:gd name="T2" fmla="*/ 0 w 1832"/>
                <a:gd name="T3" fmla="*/ 3502 h 3502"/>
                <a:gd name="T4" fmla="*/ 1 w 1832"/>
                <a:gd name="T5" fmla="*/ 3502 h 3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32" h="3502">
                  <a:moveTo>
                    <a:pt x="1832" y="0"/>
                  </a:moveTo>
                  <a:lnTo>
                    <a:pt x="0" y="3502"/>
                  </a:lnTo>
                  <a:lnTo>
                    <a:pt x="1" y="350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1" name="Freeform 162"/>
            <p:cNvSpPr>
              <a:spLocks noChangeAspect="1" noChangeArrowheads="1"/>
            </p:cNvSpPr>
            <p:nvPr/>
          </p:nvSpPr>
          <p:spPr bwMode="auto">
            <a:xfrm>
              <a:off x="1781" y="1241"/>
              <a:ext cx="1" cy="51"/>
            </a:xfrm>
            <a:custGeom>
              <a:avLst/>
              <a:gdLst>
                <a:gd name="T0" fmla="*/ 0 w 1"/>
                <a:gd name="T1" fmla="*/ 0 h 251"/>
                <a:gd name="T2" fmla="*/ 0 w 1"/>
                <a:gd name="T3" fmla="*/ 251 h 251"/>
                <a:gd name="T4" fmla="*/ 1 w 1"/>
                <a:gd name="T5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1">
                  <a:moveTo>
                    <a:pt x="0" y="0"/>
                  </a:moveTo>
                  <a:lnTo>
                    <a:pt x="0" y="251"/>
                  </a:lnTo>
                  <a:lnTo>
                    <a:pt x="1" y="251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2" name="Freeform 163"/>
            <p:cNvSpPr>
              <a:spLocks noChangeAspect="1" noChangeArrowheads="1"/>
            </p:cNvSpPr>
            <p:nvPr/>
          </p:nvSpPr>
          <p:spPr bwMode="auto">
            <a:xfrm>
              <a:off x="1781" y="1315"/>
              <a:ext cx="1" cy="132"/>
            </a:xfrm>
            <a:custGeom>
              <a:avLst/>
              <a:gdLst>
                <a:gd name="T0" fmla="*/ 0 w 1"/>
                <a:gd name="T1" fmla="*/ 0 h 658"/>
                <a:gd name="T2" fmla="*/ 0 w 1"/>
                <a:gd name="T3" fmla="*/ 658 h 658"/>
                <a:gd name="T4" fmla="*/ 1 w 1"/>
                <a:gd name="T5" fmla="*/ 658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58">
                  <a:moveTo>
                    <a:pt x="0" y="0"/>
                  </a:moveTo>
                  <a:lnTo>
                    <a:pt x="0" y="658"/>
                  </a:lnTo>
                  <a:lnTo>
                    <a:pt x="1" y="658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3" name="Freeform 164"/>
            <p:cNvSpPr>
              <a:spLocks noChangeAspect="1" noChangeArrowheads="1"/>
            </p:cNvSpPr>
            <p:nvPr/>
          </p:nvSpPr>
          <p:spPr bwMode="auto">
            <a:xfrm>
              <a:off x="1998" y="486"/>
              <a:ext cx="366" cy="699"/>
            </a:xfrm>
            <a:custGeom>
              <a:avLst/>
              <a:gdLst>
                <a:gd name="T0" fmla="*/ 0 w 1834"/>
                <a:gd name="T1" fmla="*/ 0 h 3502"/>
                <a:gd name="T2" fmla="*/ 1833 w 1834"/>
                <a:gd name="T3" fmla="*/ 3502 h 3502"/>
                <a:gd name="T4" fmla="*/ 1834 w 1834"/>
                <a:gd name="T5" fmla="*/ 3502 h 3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34" h="3502">
                  <a:moveTo>
                    <a:pt x="0" y="0"/>
                  </a:moveTo>
                  <a:lnTo>
                    <a:pt x="1833" y="3502"/>
                  </a:lnTo>
                  <a:lnTo>
                    <a:pt x="1834" y="350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4" name="Freeform 165"/>
            <p:cNvSpPr>
              <a:spLocks noChangeAspect="1" noChangeArrowheads="1"/>
            </p:cNvSpPr>
            <p:nvPr/>
          </p:nvSpPr>
          <p:spPr bwMode="auto">
            <a:xfrm>
              <a:off x="1614" y="433"/>
              <a:ext cx="333" cy="336"/>
            </a:xfrm>
            <a:custGeom>
              <a:avLst/>
              <a:gdLst>
                <a:gd name="T0" fmla="*/ 1671 w 1672"/>
                <a:gd name="T1" fmla="*/ 836 h 1674"/>
                <a:gd name="T2" fmla="*/ 1630 w 1672"/>
                <a:gd name="T3" fmla="*/ 578 h 1674"/>
                <a:gd name="T4" fmla="*/ 1512 w 1672"/>
                <a:gd name="T5" fmla="*/ 345 h 1674"/>
                <a:gd name="T6" fmla="*/ 1327 w 1672"/>
                <a:gd name="T7" fmla="*/ 159 h 1674"/>
                <a:gd name="T8" fmla="*/ 1094 w 1672"/>
                <a:gd name="T9" fmla="*/ 41 h 1674"/>
                <a:gd name="T10" fmla="*/ 836 w 1672"/>
                <a:gd name="T11" fmla="*/ 0 h 1674"/>
                <a:gd name="T12" fmla="*/ 577 w 1672"/>
                <a:gd name="T13" fmla="*/ 41 h 1674"/>
                <a:gd name="T14" fmla="*/ 345 w 1672"/>
                <a:gd name="T15" fmla="*/ 159 h 1674"/>
                <a:gd name="T16" fmla="*/ 160 w 1672"/>
                <a:gd name="T17" fmla="*/ 345 h 1674"/>
                <a:gd name="T18" fmla="*/ 41 w 1672"/>
                <a:gd name="T19" fmla="*/ 578 h 1674"/>
                <a:gd name="T20" fmla="*/ 0 w 1672"/>
                <a:gd name="T21" fmla="*/ 836 h 1674"/>
                <a:gd name="T22" fmla="*/ 41 w 1672"/>
                <a:gd name="T23" fmla="*/ 1095 h 1674"/>
                <a:gd name="T24" fmla="*/ 160 w 1672"/>
                <a:gd name="T25" fmla="*/ 1328 h 1674"/>
                <a:gd name="T26" fmla="*/ 345 w 1672"/>
                <a:gd name="T27" fmla="*/ 1513 h 1674"/>
                <a:gd name="T28" fmla="*/ 577 w 1672"/>
                <a:gd name="T29" fmla="*/ 1632 h 1674"/>
                <a:gd name="T30" fmla="*/ 836 w 1672"/>
                <a:gd name="T31" fmla="*/ 1674 h 1674"/>
                <a:gd name="T32" fmla="*/ 1094 w 1672"/>
                <a:gd name="T33" fmla="*/ 1632 h 1674"/>
                <a:gd name="T34" fmla="*/ 1327 w 1672"/>
                <a:gd name="T35" fmla="*/ 1513 h 1674"/>
                <a:gd name="T36" fmla="*/ 1512 w 1672"/>
                <a:gd name="T37" fmla="*/ 1328 h 1674"/>
                <a:gd name="T38" fmla="*/ 1630 w 1672"/>
                <a:gd name="T39" fmla="*/ 1095 h 1674"/>
                <a:gd name="T40" fmla="*/ 1671 w 1672"/>
                <a:gd name="T41" fmla="*/ 836 h 1674"/>
                <a:gd name="T42" fmla="*/ 1672 w 1672"/>
                <a:gd name="T43" fmla="*/ 836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72" h="1674">
                  <a:moveTo>
                    <a:pt x="1671" y="836"/>
                  </a:moveTo>
                  <a:lnTo>
                    <a:pt x="1630" y="578"/>
                  </a:lnTo>
                  <a:lnTo>
                    <a:pt x="1512" y="345"/>
                  </a:lnTo>
                  <a:lnTo>
                    <a:pt x="1327" y="159"/>
                  </a:lnTo>
                  <a:lnTo>
                    <a:pt x="1094" y="41"/>
                  </a:lnTo>
                  <a:lnTo>
                    <a:pt x="836" y="0"/>
                  </a:lnTo>
                  <a:lnTo>
                    <a:pt x="577" y="41"/>
                  </a:lnTo>
                  <a:lnTo>
                    <a:pt x="345" y="159"/>
                  </a:lnTo>
                  <a:lnTo>
                    <a:pt x="160" y="345"/>
                  </a:lnTo>
                  <a:lnTo>
                    <a:pt x="41" y="578"/>
                  </a:lnTo>
                  <a:lnTo>
                    <a:pt x="0" y="836"/>
                  </a:lnTo>
                  <a:lnTo>
                    <a:pt x="41" y="1095"/>
                  </a:lnTo>
                  <a:lnTo>
                    <a:pt x="160" y="1328"/>
                  </a:lnTo>
                  <a:lnTo>
                    <a:pt x="345" y="1513"/>
                  </a:lnTo>
                  <a:lnTo>
                    <a:pt x="577" y="1632"/>
                  </a:lnTo>
                  <a:lnTo>
                    <a:pt x="836" y="1674"/>
                  </a:lnTo>
                  <a:lnTo>
                    <a:pt x="1094" y="1632"/>
                  </a:lnTo>
                  <a:lnTo>
                    <a:pt x="1327" y="1513"/>
                  </a:lnTo>
                  <a:lnTo>
                    <a:pt x="1512" y="1328"/>
                  </a:lnTo>
                  <a:lnTo>
                    <a:pt x="1630" y="1095"/>
                  </a:lnTo>
                  <a:lnTo>
                    <a:pt x="1671" y="836"/>
                  </a:lnTo>
                  <a:lnTo>
                    <a:pt x="1672" y="83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5" name="Freeform 166"/>
            <p:cNvSpPr>
              <a:spLocks noChangeAspect="1" noChangeArrowheads="1"/>
            </p:cNvSpPr>
            <p:nvPr/>
          </p:nvSpPr>
          <p:spPr bwMode="auto">
            <a:xfrm>
              <a:off x="2446" y="1185"/>
              <a:ext cx="43" cy="2"/>
            </a:xfrm>
            <a:custGeom>
              <a:avLst/>
              <a:gdLst>
                <a:gd name="T0" fmla="*/ 0 w 210"/>
                <a:gd name="T1" fmla="*/ 0 h 2"/>
                <a:gd name="T2" fmla="*/ 209 w 210"/>
                <a:gd name="T3" fmla="*/ 0 h 2"/>
                <a:gd name="T4" fmla="*/ 210 w 210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0" h="2">
                  <a:moveTo>
                    <a:pt x="0" y="0"/>
                  </a:moveTo>
                  <a:lnTo>
                    <a:pt x="209" y="0"/>
                  </a:lnTo>
                  <a:lnTo>
                    <a:pt x="21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6" name="Freeform 167"/>
            <p:cNvSpPr>
              <a:spLocks noChangeAspect="1" noChangeArrowheads="1"/>
            </p:cNvSpPr>
            <p:nvPr/>
          </p:nvSpPr>
          <p:spPr bwMode="auto">
            <a:xfrm>
              <a:off x="1696" y="832"/>
              <a:ext cx="2" cy="311"/>
            </a:xfrm>
            <a:custGeom>
              <a:avLst/>
              <a:gdLst>
                <a:gd name="T0" fmla="*/ 0 w 1"/>
                <a:gd name="T1" fmla="*/ 0 h 1559"/>
                <a:gd name="T2" fmla="*/ 0 w 1"/>
                <a:gd name="T3" fmla="*/ 1559 h 1559"/>
                <a:gd name="T4" fmla="*/ 1 w 1"/>
                <a:gd name="T5" fmla="*/ 1559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559">
                  <a:moveTo>
                    <a:pt x="0" y="0"/>
                  </a:moveTo>
                  <a:lnTo>
                    <a:pt x="0" y="1559"/>
                  </a:lnTo>
                  <a:lnTo>
                    <a:pt x="1" y="155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7" name="Freeform 168"/>
            <p:cNvSpPr>
              <a:spLocks noChangeAspect="1" noChangeArrowheads="1"/>
            </p:cNvSpPr>
            <p:nvPr/>
          </p:nvSpPr>
          <p:spPr bwMode="auto">
            <a:xfrm>
              <a:off x="1864" y="832"/>
              <a:ext cx="2" cy="311"/>
            </a:xfrm>
            <a:custGeom>
              <a:avLst/>
              <a:gdLst>
                <a:gd name="T0" fmla="*/ 0 w 1"/>
                <a:gd name="T1" fmla="*/ 0 h 1559"/>
                <a:gd name="T2" fmla="*/ 0 w 1"/>
                <a:gd name="T3" fmla="*/ 1559 h 1559"/>
                <a:gd name="T4" fmla="*/ 1 w 1"/>
                <a:gd name="T5" fmla="*/ 1559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559">
                  <a:moveTo>
                    <a:pt x="0" y="0"/>
                  </a:moveTo>
                  <a:lnTo>
                    <a:pt x="0" y="1559"/>
                  </a:lnTo>
                  <a:lnTo>
                    <a:pt x="1" y="155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8" name="Freeform 169"/>
            <p:cNvSpPr>
              <a:spLocks noChangeAspect="1" noChangeArrowheads="1"/>
            </p:cNvSpPr>
            <p:nvPr/>
          </p:nvSpPr>
          <p:spPr bwMode="auto">
            <a:xfrm>
              <a:off x="1654" y="1143"/>
              <a:ext cx="44" cy="42"/>
            </a:xfrm>
            <a:custGeom>
              <a:avLst/>
              <a:gdLst>
                <a:gd name="T0" fmla="*/ 0 w 209"/>
                <a:gd name="T1" fmla="*/ 209 h 209"/>
                <a:gd name="T2" fmla="*/ 104 w 209"/>
                <a:gd name="T3" fmla="*/ 181 h 209"/>
                <a:gd name="T4" fmla="*/ 180 w 209"/>
                <a:gd name="T5" fmla="*/ 104 h 209"/>
                <a:gd name="T6" fmla="*/ 208 w 209"/>
                <a:gd name="T7" fmla="*/ 0 h 209"/>
                <a:gd name="T8" fmla="*/ 209 w 209"/>
                <a:gd name="T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9" h="209">
                  <a:moveTo>
                    <a:pt x="0" y="209"/>
                  </a:moveTo>
                  <a:lnTo>
                    <a:pt x="104" y="181"/>
                  </a:lnTo>
                  <a:lnTo>
                    <a:pt x="180" y="104"/>
                  </a:lnTo>
                  <a:lnTo>
                    <a:pt x="208" y="0"/>
                  </a:lnTo>
                  <a:lnTo>
                    <a:pt x="209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9" name="Freeform 170"/>
            <p:cNvSpPr>
              <a:spLocks noChangeAspect="1" noChangeArrowheads="1"/>
            </p:cNvSpPr>
            <p:nvPr/>
          </p:nvSpPr>
          <p:spPr bwMode="auto">
            <a:xfrm>
              <a:off x="1864" y="1143"/>
              <a:ext cx="41" cy="42"/>
            </a:xfrm>
            <a:custGeom>
              <a:avLst/>
              <a:gdLst>
                <a:gd name="T0" fmla="*/ 0 w 211"/>
                <a:gd name="T1" fmla="*/ 0 h 209"/>
                <a:gd name="T2" fmla="*/ 29 w 211"/>
                <a:gd name="T3" fmla="*/ 104 h 209"/>
                <a:gd name="T4" fmla="*/ 106 w 211"/>
                <a:gd name="T5" fmla="*/ 181 h 209"/>
                <a:gd name="T6" fmla="*/ 210 w 211"/>
                <a:gd name="T7" fmla="*/ 209 h 209"/>
                <a:gd name="T8" fmla="*/ 211 w 211"/>
                <a:gd name="T9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1" h="209">
                  <a:moveTo>
                    <a:pt x="0" y="0"/>
                  </a:moveTo>
                  <a:lnTo>
                    <a:pt x="29" y="104"/>
                  </a:lnTo>
                  <a:lnTo>
                    <a:pt x="106" y="181"/>
                  </a:lnTo>
                  <a:lnTo>
                    <a:pt x="210" y="209"/>
                  </a:lnTo>
                  <a:lnTo>
                    <a:pt x="211" y="20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0" name="Freeform 171"/>
            <p:cNvSpPr>
              <a:spLocks noChangeAspect="1" noChangeArrowheads="1"/>
            </p:cNvSpPr>
            <p:nvPr/>
          </p:nvSpPr>
          <p:spPr bwMode="auto">
            <a:xfrm>
              <a:off x="1614" y="1185"/>
              <a:ext cx="333" cy="2"/>
            </a:xfrm>
            <a:custGeom>
              <a:avLst/>
              <a:gdLst>
                <a:gd name="T0" fmla="*/ 0 w 1672"/>
                <a:gd name="T1" fmla="*/ 0 h 2"/>
                <a:gd name="T2" fmla="*/ 1671 w 1672"/>
                <a:gd name="T3" fmla="*/ 0 h 2"/>
                <a:gd name="T4" fmla="*/ 1672 w 167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2" h="2">
                  <a:moveTo>
                    <a:pt x="0" y="0"/>
                  </a:moveTo>
                  <a:lnTo>
                    <a:pt x="1671" y="0"/>
                  </a:lnTo>
                  <a:lnTo>
                    <a:pt x="1672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1" name="Freeform 172"/>
            <p:cNvSpPr>
              <a:spLocks noChangeAspect="1" noChangeArrowheads="1"/>
            </p:cNvSpPr>
            <p:nvPr/>
          </p:nvSpPr>
          <p:spPr bwMode="auto">
            <a:xfrm>
              <a:off x="1031" y="1185"/>
              <a:ext cx="41" cy="42"/>
            </a:xfrm>
            <a:custGeom>
              <a:avLst/>
              <a:gdLst>
                <a:gd name="T0" fmla="*/ 210 w 210"/>
                <a:gd name="T1" fmla="*/ 0 h 210"/>
                <a:gd name="T2" fmla="*/ 106 w 210"/>
                <a:gd name="T3" fmla="*/ 28 h 210"/>
                <a:gd name="T4" fmla="*/ 29 w 210"/>
                <a:gd name="T5" fmla="*/ 104 h 210"/>
                <a:gd name="T6" fmla="*/ 0 w 210"/>
                <a:gd name="T7" fmla="*/ 210 h 210"/>
                <a:gd name="T8" fmla="*/ 1 w 210"/>
                <a:gd name="T9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0" h="210">
                  <a:moveTo>
                    <a:pt x="210" y="0"/>
                  </a:moveTo>
                  <a:lnTo>
                    <a:pt x="106" y="28"/>
                  </a:lnTo>
                  <a:lnTo>
                    <a:pt x="29" y="104"/>
                  </a:lnTo>
                  <a:lnTo>
                    <a:pt x="0" y="210"/>
                  </a:lnTo>
                  <a:lnTo>
                    <a:pt x="1" y="2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2" name="Freeform 173"/>
            <p:cNvSpPr>
              <a:spLocks noChangeAspect="1" noChangeArrowheads="1"/>
            </p:cNvSpPr>
            <p:nvPr/>
          </p:nvSpPr>
          <p:spPr bwMode="auto">
            <a:xfrm>
              <a:off x="2364" y="1102"/>
              <a:ext cx="1" cy="150"/>
            </a:xfrm>
            <a:custGeom>
              <a:avLst/>
              <a:gdLst>
                <a:gd name="T0" fmla="*/ 0 w 1"/>
                <a:gd name="T1" fmla="*/ 0 h 756"/>
                <a:gd name="T2" fmla="*/ 0 w 1"/>
                <a:gd name="T3" fmla="*/ 756 h 756"/>
                <a:gd name="T4" fmla="*/ 1 w 1"/>
                <a:gd name="T5" fmla="*/ 756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56">
                  <a:moveTo>
                    <a:pt x="0" y="0"/>
                  </a:moveTo>
                  <a:lnTo>
                    <a:pt x="0" y="756"/>
                  </a:lnTo>
                  <a:lnTo>
                    <a:pt x="1" y="756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3" name="Freeform 174"/>
            <p:cNvSpPr>
              <a:spLocks noChangeAspect="1" noChangeArrowheads="1"/>
            </p:cNvSpPr>
            <p:nvPr/>
          </p:nvSpPr>
          <p:spPr bwMode="auto">
            <a:xfrm>
              <a:off x="2364" y="1278"/>
              <a:ext cx="1" cy="49"/>
            </a:xfrm>
            <a:custGeom>
              <a:avLst/>
              <a:gdLst>
                <a:gd name="T0" fmla="*/ 0 w 1"/>
                <a:gd name="T1" fmla="*/ 0 h 251"/>
                <a:gd name="T2" fmla="*/ 0 w 1"/>
                <a:gd name="T3" fmla="*/ 251 h 251"/>
                <a:gd name="T4" fmla="*/ 1 w 1"/>
                <a:gd name="T5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1">
                  <a:moveTo>
                    <a:pt x="0" y="0"/>
                  </a:moveTo>
                  <a:lnTo>
                    <a:pt x="0" y="251"/>
                  </a:lnTo>
                  <a:lnTo>
                    <a:pt x="1" y="251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175"/>
            <p:cNvSpPr>
              <a:spLocks noChangeAspect="1" noChangeArrowheads="1"/>
            </p:cNvSpPr>
            <p:nvPr/>
          </p:nvSpPr>
          <p:spPr bwMode="auto">
            <a:xfrm>
              <a:off x="2212" y="1185"/>
              <a:ext cx="24" cy="251"/>
            </a:xfrm>
            <a:custGeom>
              <a:avLst/>
              <a:gdLst>
                <a:gd name="T0" fmla="*/ 83 w 115"/>
                <a:gd name="T1" fmla="*/ 0 h 1255"/>
                <a:gd name="T2" fmla="*/ 20 w 115"/>
                <a:gd name="T3" fmla="*/ 201 h 1255"/>
                <a:gd name="T4" fmla="*/ 0 w 115"/>
                <a:gd name="T5" fmla="*/ 379 h 1255"/>
                <a:gd name="T6" fmla="*/ 22 w 115"/>
                <a:gd name="T7" fmla="*/ 530 h 1255"/>
                <a:gd name="T8" fmla="*/ 65 w 115"/>
                <a:gd name="T9" fmla="*/ 668 h 1255"/>
                <a:gd name="T10" fmla="*/ 102 w 115"/>
                <a:gd name="T11" fmla="*/ 806 h 1255"/>
                <a:gd name="T12" fmla="*/ 115 w 115"/>
                <a:gd name="T13" fmla="*/ 953 h 1255"/>
                <a:gd name="T14" fmla="*/ 76 w 115"/>
                <a:gd name="T15" fmla="*/ 1255 h 1255"/>
                <a:gd name="T16" fmla="*/ 78 w 115"/>
                <a:gd name="T17" fmla="*/ 1255 h 1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5" h="1255">
                  <a:moveTo>
                    <a:pt x="83" y="0"/>
                  </a:moveTo>
                  <a:lnTo>
                    <a:pt x="20" y="201"/>
                  </a:lnTo>
                  <a:lnTo>
                    <a:pt x="0" y="379"/>
                  </a:lnTo>
                  <a:lnTo>
                    <a:pt x="22" y="530"/>
                  </a:lnTo>
                  <a:lnTo>
                    <a:pt x="65" y="668"/>
                  </a:lnTo>
                  <a:lnTo>
                    <a:pt x="102" y="806"/>
                  </a:lnTo>
                  <a:lnTo>
                    <a:pt x="115" y="953"/>
                  </a:lnTo>
                  <a:lnTo>
                    <a:pt x="76" y="1255"/>
                  </a:lnTo>
                  <a:lnTo>
                    <a:pt x="78" y="1255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176"/>
            <p:cNvSpPr>
              <a:spLocks noChangeAspect="1" noChangeArrowheads="1"/>
            </p:cNvSpPr>
            <p:nvPr/>
          </p:nvSpPr>
          <p:spPr bwMode="auto">
            <a:xfrm>
              <a:off x="2531" y="1227"/>
              <a:ext cx="2" cy="209"/>
            </a:xfrm>
            <a:custGeom>
              <a:avLst/>
              <a:gdLst>
                <a:gd name="T0" fmla="*/ 0 w 1"/>
                <a:gd name="T1" fmla="*/ 1045 h 1045"/>
                <a:gd name="T2" fmla="*/ 0 w 1"/>
                <a:gd name="T3" fmla="*/ 0 h 1045"/>
                <a:gd name="T4" fmla="*/ 1 w 1"/>
                <a:gd name="T5" fmla="*/ 0 h 1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45">
                  <a:moveTo>
                    <a:pt x="0" y="104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177"/>
            <p:cNvSpPr>
              <a:spLocks noChangeAspect="1" noChangeArrowheads="1"/>
            </p:cNvSpPr>
            <p:nvPr/>
          </p:nvSpPr>
          <p:spPr bwMode="auto">
            <a:xfrm>
              <a:off x="2446" y="1185"/>
              <a:ext cx="2" cy="251"/>
            </a:xfrm>
            <a:custGeom>
              <a:avLst/>
              <a:gdLst>
                <a:gd name="T0" fmla="*/ 0 w 1"/>
                <a:gd name="T1" fmla="*/ 0 h 1255"/>
                <a:gd name="T2" fmla="*/ 0 w 1"/>
                <a:gd name="T3" fmla="*/ 1255 h 1255"/>
                <a:gd name="T4" fmla="*/ 1 w 1"/>
                <a:gd name="T5" fmla="*/ 1255 h 1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55">
                  <a:moveTo>
                    <a:pt x="0" y="0"/>
                  </a:moveTo>
                  <a:lnTo>
                    <a:pt x="0" y="1255"/>
                  </a:lnTo>
                  <a:lnTo>
                    <a:pt x="1" y="125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178"/>
            <p:cNvSpPr>
              <a:spLocks noChangeAspect="1" noChangeArrowheads="1"/>
            </p:cNvSpPr>
            <p:nvPr/>
          </p:nvSpPr>
          <p:spPr bwMode="auto">
            <a:xfrm>
              <a:off x="2488" y="1185"/>
              <a:ext cx="43" cy="42"/>
            </a:xfrm>
            <a:custGeom>
              <a:avLst/>
              <a:gdLst>
                <a:gd name="T0" fmla="*/ 209 w 209"/>
                <a:gd name="T1" fmla="*/ 210 h 210"/>
                <a:gd name="T2" fmla="*/ 182 w 209"/>
                <a:gd name="T3" fmla="*/ 104 h 210"/>
                <a:gd name="T4" fmla="*/ 105 w 209"/>
                <a:gd name="T5" fmla="*/ 28 h 210"/>
                <a:gd name="T6" fmla="*/ 0 w 209"/>
                <a:gd name="T7" fmla="*/ 0 h 210"/>
                <a:gd name="T8" fmla="*/ 1 w 209"/>
                <a:gd name="T9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9" h="210">
                  <a:moveTo>
                    <a:pt x="209" y="210"/>
                  </a:moveTo>
                  <a:lnTo>
                    <a:pt x="182" y="104"/>
                  </a:lnTo>
                  <a:lnTo>
                    <a:pt x="105" y="28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179"/>
            <p:cNvSpPr>
              <a:spLocks noChangeAspect="1" noChangeArrowheads="1"/>
            </p:cNvSpPr>
            <p:nvPr/>
          </p:nvSpPr>
          <p:spPr bwMode="auto">
            <a:xfrm>
              <a:off x="2282" y="1185"/>
              <a:ext cx="2" cy="251"/>
            </a:xfrm>
            <a:custGeom>
              <a:avLst/>
              <a:gdLst>
                <a:gd name="T0" fmla="*/ 0 w 1"/>
                <a:gd name="T1" fmla="*/ 0 h 1255"/>
                <a:gd name="T2" fmla="*/ 0 w 1"/>
                <a:gd name="T3" fmla="*/ 1255 h 1255"/>
                <a:gd name="T4" fmla="*/ 1 w 1"/>
                <a:gd name="T5" fmla="*/ 1255 h 1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55">
                  <a:moveTo>
                    <a:pt x="0" y="0"/>
                  </a:moveTo>
                  <a:lnTo>
                    <a:pt x="0" y="1255"/>
                  </a:lnTo>
                  <a:lnTo>
                    <a:pt x="1" y="125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180"/>
            <p:cNvSpPr>
              <a:spLocks noChangeAspect="1" noChangeArrowheads="1"/>
            </p:cNvSpPr>
            <p:nvPr/>
          </p:nvSpPr>
          <p:spPr bwMode="auto">
            <a:xfrm>
              <a:off x="1905" y="1185"/>
              <a:ext cx="584" cy="2"/>
            </a:xfrm>
            <a:custGeom>
              <a:avLst/>
              <a:gdLst>
                <a:gd name="T0" fmla="*/ 0 w 2925"/>
                <a:gd name="T1" fmla="*/ 0 h 2"/>
                <a:gd name="T2" fmla="*/ 2924 w 2925"/>
                <a:gd name="T3" fmla="*/ 0 h 2"/>
                <a:gd name="T4" fmla="*/ 2925 w 292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25" h="2">
                  <a:moveTo>
                    <a:pt x="0" y="0"/>
                  </a:moveTo>
                  <a:lnTo>
                    <a:pt x="2924" y="0"/>
                  </a:lnTo>
                  <a:lnTo>
                    <a:pt x="2925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181"/>
            <p:cNvSpPr>
              <a:spLocks noChangeAspect="1" noChangeArrowheads="1"/>
            </p:cNvSpPr>
            <p:nvPr/>
          </p:nvSpPr>
          <p:spPr bwMode="auto">
            <a:xfrm>
              <a:off x="1421" y="1352"/>
              <a:ext cx="60" cy="24"/>
            </a:xfrm>
            <a:custGeom>
              <a:avLst/>
              <a:gdLst>
                <a:gd name="T0" fmla="*/ 296 w 296"/>
                <a:gd name="T1" fmla="*/ 0 h 122"/>
                <a:gd name="T2" fmla="*/ 136 w 296"/>
                <a:gd name="T3" fmla="*/ 31 h 122"/>
                <a:gd name="T4" fmla="*/ 0 w 296"/>
                <a:gd name="T5" fmla="*/ 122 h 122"/>
                <a:gd name="T6" fmla="*/ 1 w 296"/>
                <a:gd name="T7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6" h="122">
                  <a:moveTo>
                    <a:pt x="296" y="0"/>
                  </a:moveTo>
                  <a:lnTo>
                    <a:pt x="136" y="31"/>
                  </a:lnTo>
                  <a:lnTo>
                    <a:pt x="0" y="122"/>
                  </a:lnTo>
                  <a:lnTo>
                    <a:pt x="1" y="12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182"/>
            <p:cNvSpPr>
              <a:spLocks noChangeAspect="1" noChangeArrowheads="1"/>
            </p:cNvSpPr>
            <p:nvPr/>
          </p:nvSpPr>
          <p:spPr bwMode="auto">
            <a:xfrm>
              <a:off x="1481" y="1352"/>
              <a:ext cx="598" cy="2"/>
            </a:xfrm>
            <a:custGeom>
              <a:avLst/>
              <a:gdLst>
                <a:gd name="T0" fmla="*/ 0 w 2997"/>
                <a:gd name="T1" fmla="*/ 0 h 2"/>
                <a:gd name="T2" fmla="*/ 2996 w 2997"/>
                <a:gd name="T3" fmla="*/ 0 h 2"/>
                <a:gd name="T4" fmla="*/ 2997 w 2997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97" h="2">
                  <a:moveTo>
                    <a:pt x="0" y="0"/>
                  </a:moveTo>
                  <a:lnTo>
                    <a:pt x="2996" y="0"/>
                  </a:lnTo>
                  <a:lnTo>
                    <a:pt x="299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183"/>
            <p:cNvSpPr>
              <a:spLocks noChangeAspect="1" noChangeArrowheads="1"/>
            </p:cNvSpPr>
            <p:nvPr/>
          </p:nvSpPr>
          <p:spPr bwMode="auto">
            <a:xfrm>
              <a:off x="2079" y="1352"/>
              <a:ext cx="59" cy="24"/>
            </a:xfrm>
            <a:custGeom>
              <a:avLst/>
              <a:gdLst>
                <a:gd name="T0" fmla="*/ 295 w 295"/>
                <a:gd name="T1" fmla="*/ 122 h 122"/>
                <a:gd name="T2" fmla="*/ 160 w 295"/>
                <a:gd name="T3" fmla="*/ 31 h 122"/>
                <a:gd name="T4" fmla="*/ 0 w 295"/>
                <a:gd name="T5" fmla="*/ 0 h 122"/>
                <a:gd name="T6" fmla="*/ 1 w 295"/>
                <a:gd name="T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5" h="122">
                  <a:moveTo>
                    <a:pt x="295" y="122"/>
                  </a:moveTo>
                  <a:lnTo>
                    <a:pt x="160" y="3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184"/>
            <p:cNvSpPr>
              <a:spLocks noChangeAspect="1" noChangeArrowheads="1"/>
            </p:cNvSpPr>
            <p:nvPr/>
          </p:nvSpPr>
          <p:spPr bwMode="auto">
            <a:xfrm>
              <a:off x="1389" y="1376"/>
              <a:ext cx="34" cy="36"/>
            </a:xfrm>
            <a:custGeom>
              <a:avLst/>
              <a:gdLst>
                <a:gd name="T0" fmla="*/ 0 w 173"/>
                <a:gd name="T1" fmla="*/ 174 h 174"/>
                <a:gd name="T2" fmla="*/ 172 w 173"/>
                <a:gd name="T3" fmla="*/ 0 h 174"/>
                <a:gd name="T4" fmla="*/ 173 w 173"/>
                <a:gd name="T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3" h="174">
                  <a:moveTo>
                    <a:pt x="0" y="174"/>
                  </a:moveTo>
                  <a:lnTo>
                    <a:pt x="172" y="0"/>
                  </a:lnTo>
                  <a:lnTo>
                    <a:pt x="173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4" name="Freeform 185"/>
            <p:cNvSpPr>
              <a:spLocks noChangeAspect="1" noChangeArrowheads="1"/>
            </p:cNvSpPr>
            <p:nvPr/>
          </p:nvSpPr>
          <p:spPr bwMode="auto">
            <a:xfrm>
              <a:off x="1031" y="1436"/>
              <a:ext cx="298" cy="1"/>
            </a:xfrm>
            <a:custGeom>
              <a:avLst/>
              <a:gdLst>
                <a:gd name="T0" fmla="*/ 0 w 1500"/>
                <a:gd name="T1" fmla="*/ 0 h 1"/>
                <a:gd name="T2" fmla="*/ 1499 w 1500"/>
                <a:gd name="T3" fmla="*/ 0 h 1"/>
                <a:gd name="T4" fmla="*/ 1500 w 150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00" h="1">
                  <a:moveTo>
                    <a:pt x="0" y="0"/>
                  </a:moveTo>
                  <a:lnTo>
                    <a:pt x="1499" y="0"/>
                  </a:lnTo>
                  <a:lnTo>
                    <a:pt x="1500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5" name="Freeform 186"/>
            <p:cNvSpPr>
              <a:spLocks noChangeAspect="1" noChangeArrowheads="1"/>
            </p:cNvSpPr>
            <p:nvPr/>
          </p:nvSpPr>
          <p:spPr bwMode="auto">
            <a:xfrm>
              <a:off x="1329" y="1412"/>
              <a:ext cx="60" cy="24"/>
            </a:xfrm>
            <a:custGeom>
              <a:avLst/>
              <a:gdLst>
                <a:gd name="T0" fmla="*/ 0 w 297"/>
                <a:gd name="T1" fmla="*/ 122 h 122"/>
                <a:gd name="T2" fmla="*/ 160 w 297"/>
                <a:gd name="T3" fmla="*/ 90 h 122"/>
                <a:gd name="T4" fmla="*/ 296 w 297"/>
                <a:gd name="T5" fmla="*/ 0 h 122"/>
                <a:gd name="T6" fmla="*/ 297 w 297"/>
                <a:gd name="T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7" h="122">
                  <a:moveTo>
                    <a:pt x="0" y="122"/>
                  </a:moveTo>
                  <a:lnTo>
                    <a:pt x="160" y="90"/>
                  </a:lnTo>
                  <a:lnTo>
                    <a:pt x="296" y="0"/>
                  </a:lnTo>
                  <a:lnTo>
                    <a:pt x="29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6" name="Freeform 187"/>
            <p:cNvSpPr>
              <a:spLocks noChangeAspect="1" noChangeArrowheads="1"/>
            </p:cNvSpPr>
            <p:nvPr/>
          </p:nvSpPr>
          <p:spPr bwMode="auto">
            <a:xfrm>
              <a:off x="2138" y="1376"/>
              <a:ext cx="34" cy="36"/>
            </a:xfrm>
            <a:custGeom>
              <a:avLst/>
              <a:gdLst>
                <a:gd name="T0" fmla="*/ 174 w 174"/>
                <a:gd name="T1" fmla="*/ 174 h 174"/>
                <a:gd name="T2" fmla="*/ 0 w 174"/>
                <a:gd name="T3" fmla="*/ 0 h 174"/>
                <a:gd name="T4" fmla="*/ 1 w 174"/>
                <a:gd name="T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4" h="174">
                  <a:moveTo>
                    <a:pt x="174" y="17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7" name="Freeform 188"/>
            <p:cNvSpPr>
              <a:spLocks noChangeAspect="1" noChangeArrowheads="1"/>
            </p:cNvSpPr>
            <p:nvPr/>
          </p:nvSpPr>
          <p:spPr bwMode="auto">
            <a:xfrm>
              <a:off x="2231" y="1436"/>
              <a:ext cx="300" cy="1"/>
            </a:xfrm>
            <a:custGeom>
              <a:avLst/>
              <a:gdLst>
                <a:gd name="T0" fmla="*/ 1498 w 1498"/>
                <a:gd name="T1" fmla="*/ 0 h 1"/>
                <a:gd name="T2" fmla="*/ 0 w 1498"/>
                <a:gd name="T3" fmla="*/ 0 h 1"/>
                <a:gd name="T4" fmla="*/ 1 w 149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8" h="1">
                  <a:moveTo>
                    <a:pt x="1498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8" name="Freeform 189"/>
            <p:cNvSpPr>
              <a:spLocks noChangeAspect="1" noChangeArrowheads="1"/>
            </p:cNvSpPr>
            <p:nvPr/>
          </p:nvSpPr>
          <p:spPr bwMode="auto">
            <a:xfrm>
              <a:off x="2172" y="1412"/>
              <a:ext cx="59" cy="24"/>
            </a:xfrm>
            <a:custGeom>
              <a:avLst/>
              <a:gdLst>
                <a:gd name="T0" fmla="*/ 0 w 296"/>
                <a:gd name="T1" fmla="*/ 0 h 122"/>
                <a:gd name="T2" fmla="*/ 136 w 296"/>
                <a:gd name="T3" fmla="*/ 90 h 122"/>
                <a:gd name="T4" fmla="*/ 295 w 296"/>
                <a:gd name="T5" fmla="*/ 122 h 122"/>
                <a:gd name="T6" fmla="*/ 296 w 296"/>
                <a:gd name="T7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6" h="122">
                  <a:moveTo>
                    <a:pt x="0" y="0"/>
                  </a:moveTo>
                  <a:lnTo>
                    <a:pt x="136" y="90"/>
                  </a:lnTo>
                  <a:lnTo>
                    <a:pt x="295" y="122"/>
                  </a:lnTo>
                  <a:lnTo>
                    <a:pt x="296" y="12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9" name="Freeform 190"/>
            <p:cNvSpPr>
              <a:spLocks noChangeAspect="1" noChangeArrowheads="1"/>
            </p:cNvSpPr>
            <p:nvPr/>
          </p:nvSpPr>
          <p:spPr bwMode="auto">
            <a:xfrm>
              <a:off x="2228" y="1185"/>
              <a:ext cx="1" cy="2"/>
            </a:xfrm>
            <a:custGeom>
              <a:avLst/>
              <a:gdLst>
                <a:gd name="T0" fmla="*/ 0 w 5"/>
                <a:gd name="T1" fmla="*/ 4 h 4"/>
                <a:gd name="T2" fmla="*/ 4 w 5"/>
                <a:gd name="T3" fmla="*/ 0 h 4"/>
                <a:gd name="T4" fmla="*/ 5 w 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lnTo>
                    <a:pt x="4" y="0"/>
                  </a:lnTo>
                  <a:lnTo>
                    <a:pt x="5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0" name="Freeform 191"/>
            <p:cNvSpPr>
              <a:spLocks noChangeAspect="1" noChangeArrowheads="1"/>
            </p:cNvSpPr>
            <p:nvPr/>
          </p:nvSpPr>
          <p:spPr bwMode="auto">
            <a:xfrm>
              <a:off x="2221" y="1246"/>
              <a:ext cx="61" cy="59"/>
            </a:xfrm>
            <a:custGeom>
              <a:avLst/>
              <a:gdLst>
                <a:gd name="T0" fmla="*/ 0 w 302"/>
                <a:gd name="T1" fmla="*/ 303 h 303"/>
                <a:gd name="T2" fmla="*/ 301 w 302"/>
                <a:gd name="T3" fmla="*/ 0 h 303"/>
                <a:gd name="T4" fmla="*/ 302 w 302"/>
                <a:gd name="T5" fmla="*/ 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2" h="303">
                  <a:moveTo>
                    <a:pt x="0" y="303"/>
                  </a:moveTo>
                  <a:lnTo>
                    <a:pt x="301" y="0"/>
                  </a:lnTo>
                  <a:lnTo>
                    <a:pt x="30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1" name="Freeform 192"/>
            <p:cNvSpPr>
              <a:spLocks noChangeAspect="1" noChangeArrowheads="1"/>
            </p:cNvSpPr>
            <p:nvPr/>
          </p:nvSpPr>
          <p:spPr bwMode="auto">
            <a:xfrm>
              <a:off x="2232" y="1357"/>
              <a:ext cx="50" cy="50"/>
            </a:xfrm>
            <a:custGeom>
              <a:avLst/>
              <a:gdLst>
                <a:gd name="T0" fmla="*/ 0 w 243"/>
                <a:gd name="T1" fmla="*/ 243 h 243"/>
                <a:gd name="T2" fmla="*/ 242 w 243"/>
                <a:gd name="T3" fmla="*/ 0 h 243"/>
                <a:gd name="T4" fmla="*/ 243 w 243"/>
                <a:gd name="T5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3" h="243">
                  <a:moveTo>
                    <a:pt x="0" y="243"/>
                  </a:moveTo>
                  <a:lnTo>
                    <a:pt x="242" y="0"/>
                  </a:lnTo>
                  <a:lnTo>
                    <a:pt x="243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2" name="Freeform 193"/>
            <p:cNvSpPr>
              <a:spLocks noChangeAspect="1" noChangeArrowheads="1"/>
            </p:cNvSpPr>
            <p:nvPr/>
          </p:nvSpPr>
          <p:spPr bwMode="auto">
            <a:xfrm>
              <a:off x="2446" y="1185"/>
              <a:ext cx="8" cy="6"/>
            </a:xfrm>
            <a:custGeom>
              <a:avLst/>
              <a:gdLst>
                <a:gd name="T0" fmla="*/ 0 w 36"/>
                <a:gd name="T1" fmla="*/ 34 h 34"/>
                <a:gd name="T2" fmla="*/ 35 w 36"/>
                <a:gd name="T3" fmla="*/ 0 h 34"/>
                <a:gd name="T4" fmla="*/ 36 w 36"/>
                <a:gd name="T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34">
                  <a:moveTo>
                    <a:pt x="0" y="34"/>
                  </a:moveTo>
                  <a:lnTo>
                    <a:pt x="35" y="0"/>
                  </a:lnTo>
                  <a:lnTo>
                    <a:pt x="3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3" name="Freeform 194"/>
            <p:cNvSpPr>
              <a:spLocks noChangeAspect="1" noChangeArrowheads="1"/>
            </p:cNvSpPr>
            <p:nvPr/>
          </p:nvSpPr>
          <p:spPr bwMode="auto">
            <a:xfrm>
              <a:off x="2446" y="1222"/>
              <a:ext cx="85" cy="83"/>
            </a:xfrm>
            <a:custGeom>
              <a:avLst/>
              <a:gdLst>
                <a:gd name="T0" fmla="*/ 0 w 417"/>
                <a:gd name="T1" fmla="*/ 417 h 417"/>
                <a:gd name="T2" fmla="*/ 416 w 417"/>
                <a:gd name="T3" fmla="*/ 0 h 417"/>
                <a:gd name="T4" fmla="*/ 417 w 417"/>
                <a:gd name="T5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7" h="417">
                  <a:moveTo>
                    <a:pt x="0" y="417"/>
                  </a:moveTo>
                  <a:lnTo>
                    <a:pt x="416" y="0"/>
                  </a:lnTo>
                  <a:lnTo>
                    <a:pt x="417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4" name="Freeform 195"/>
            <p:cNvSpPr>
              <a:spLocks noChangeAspect="1" noChangeArrowheads="1"/>
            </p:cNvSpPr>
            <p:nvPr/>
          </p:nvSpPr>
          <p:spPr bwMode="auto">
            <a:xfrm>
              <a:off x="2446" y="1333"/>
              <a:ext cx="85" cy="83"/>
            </a:xfrm>
            <a:custGeom>
              <a:avLst/>
              <a:gdLst>
                <a:gd name="T0" fmla="*/ 0 w 419"/>
                <a:gd name="T1" fmla="*/ 418 h 418"/>
                <a:gd name="T2" fmla="*/ 418 w 419"/>
                <a:gd name="T3" fmla="*/ 0 h 418"/>
                <a:gd name="T4" fmla="*/ 419 w 419"/>
                <a:gd name="T5" fmla="*/ 0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9" h="418">
                  <a:moveTo>
                    <a:pt x="0" y="418"/>
                  </a:moveTo>
                  <a:lnTo>
                    <a:pt x="418" y="0"/>
                  </a:lnTo>
                  <a:lnTo>
                    <a:pt x="419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215" name="Group 196"/>
            <p:cNvGrpSpPr>
              <a:grpSpLocks noChangeAspect="1"/>
            </p:cNvGrpSpPr>
            <p:nvPr/>
          </p:nvGrpSpPr>
          <p:grpSpPr bwMode="auto">
            <a:xfrm>
              <a:off x="1108" y="1028"/>
              <a:ext cx="1500" cy="2"/>
              <a:chOff x="2160" y="1475"/>
              <a:chExt cx="1874" cy="2"/>
            </a:xfrm>
          </p:grpSpPr>
          <p:sp>
            <p:nvSpPr>
              <p:cNvPr id="220" name="Freeform 197"/>
              <p:cNvSpPr>
                <a:spLocks noChangeAspect="1" noChangeArrowheads="1"/>
              </p:cNvSpPr>
              <p:nvPr/>
            </p:nvSpPr>
            <p:spPr bwMode="auto">
              <a:xfrm>
                <a:off x="2160" y="1475"/>
                <a:ext cx="104" cy="2"/>
              </a:xfrm>
              <a:custGeom>
                <a:avLst/>
                <a:gdLst>
                  <a:gd name="T0" fmla="*/ 0 w 419"/>
                  <a:gd name="T1" fmla="*/ 0 h 2"/>
                  <a:gd name="T2" fmla="*/ 418 w 419"/>
                  <a:gd name="T3" fmla="*/ 0 h 2"/>
                  <a:gd name="T4" fmla="*/ 419 w 419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9" h="2">
                    <a:moveTo>
                      <a:pt x="0" y="0"/>
                    </a:moveTo>
                    <a:lnTo>
                      <a:pt x="418" y="0"/>
                    </a:lnTo>
                    <a:lnTo>
                      <a:pt x="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1" name="Freeform 198"/>
              <p:cNvSpPr>
                <a:spLocks noChangeAspect="1" noChangeArrowheads="1"/>
              </p:cNvSpPr>
              <p:nvPr/>
            </p:nvSpPr>
            <p:spPr bwMode="auto">
              <a:xfrm>
                <a:off x="3928" y="1475"/>
                <a:ext cx="106" cy="2"/>
              </a:xfrm>
              <a:custGeom>
                <a:avLst/>
                <a:gdLst>
                  <a:gd name="T0" fmla="*/ 0 w 419"/>
                  <a:gd name="T1" fmla="*/ 0 h 2"/>
                  <a:gd name="T2" fmla="*/ 418 w 419"/>
                  <a:gd name="T3" fmla="*/ 0 h 2"/>
                  <a:gd name="T4" fmla="*/ 419 w 419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9" h="2">
                    <a:moveTo>
                      <a:pt x="0" y="0"/>
                    </a:moveTo>
                    <a:lnTo>
                      <a:pt x="418" y="0"/>
                    </a:lnTo>
                    <a:lnTo>
                      <a:pt x="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216" name="Text Box 199"/>
            <p:cNvSpPr txBox="1">
              <a:spLocks noChangeAspect="1" noChangeArrowheads="1"/>
            </p:cNvSpPr>
            <p:nvPr/>
          </p:nvSpPr>
          <p:spPr bwMode="auto">
            <a:xfrm>
              <a:off x="1026" y="787"/>
              <a:ext cx="19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2000">
                  <a:latin typeface="宋体" panose="02010600030101010101" pitchFamily="2" charset="-122"/>
                </a:rPr>
                <a:t>A</a:t>
              </a:r>
            </a:p>
          </p:txBody>
        </p:sp>
        <p:sp>
          <p:nvSpPr>
            <p:cNvPr id="217" name="Text Box 200"/>
            <p:cNvSpPr txBox="1">
              <a:spLocks noChangeAspect="1" noChangeArrowheads="1"/>
            </p:cNvSpPr>
            <p:nvPr/>
          </p:nvSpPr>
          <p:spPr bwMode="auto">
            <a:xfrm>
              <a:off x="2486" y="779"/>
              <a:ext cx="19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2000">
                  <a:latin typeface="宋体" panose="02010600030101010101" pitchFamily="2" charset="-122"/>
                </a:rPr>
                <a:t>A</a:t>
              </a:r>
            </a:p>
          </p:txBody>
        </p:sp>
        <p:sp>
          <p:nvSpPr>
            <p:cNvPr id="218" name="Freeform 201"/>
            <p:cNvSpPr>
              <a:spLocks noChangeAspect="1" noChangeArrowheads="1"/>
            </p:cNvSpPr>
            <p:nvPr/>
          </p:nvSpPr>
          <p:spPr bwMode="auto">
            <a:xfrm>
              <a:off x="1781" y="643"/>
              <a:ext cx="1" cy="50"/>
            </a:xfrm>
            <a:custGeom>
              <a:avLst/>
              <a:gdLst>
                <a:gd name="T0" fmla="*/ 0 w 1"/>
                <a:gd name="T1" fmla="*/ 0 h 251"/>
                <a:gd name="T2" fmla="*/ 0 w 1"/>
                <a:gd name="T3" fmla="*/ 251 h 251"/>
                <a:gd name="T4" fmla="*/ 1 w 1"/>
                <a:gd name="T5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1">
                  <a:moveTo>
                    <a:pt x="0" y="0"/>
                  </a:moveTo>
                  <a:lnTo>
                    <a:pt x="0" y="251"/>
                  </a:lnTo>
                  <a:lnTo>
                    <a:pt x="1" y="251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9" name="Freeform 202"/>
            <p:cNvSpPr>
              <a:spLocks noChangeAspect="1" noChangeArrowheads="1"/>
            </p:cNvSpPr>
            <p:nvPr/>
          </p:nvSpPr>
          <p:spPr bwMode="auto">
            <a:xfrm>
              <a:off x="1781" y="399"/>
              <a:ext cx="1" cy="199"/>
            </a:xfrm>
            <a:custGeom>
              <a:avLst/>
              <a:gdLst>
                <a:gd name="T0" fmla="*/ 0 w 1"/>
                <a:gd name="T1" fmla="*/ 1004 h 1004"/>
                <a:gd name="T2" fmla="*/ 0 w 1"/>
                <a:gd name="T3" fmla="*/ 0 h 1004"/>
                <a:gd name="T4" fmla="*/ 1 w 1"/>
                <a:gd name="T5" fmla="*/ 0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04">
                  <a:moveTo>
                    <a:pt x="0" y="100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sp>
        <p:nvSpPr>
          <p:cNvPr id="222" name="AutoShape 203"/>
          <p:cNvSpPr>
            <a:spLocks noChangeAspect="1" noChangeArrowheads="1"/>
          </p:cNvSpPr>
          <p:nvPr/>
        </p:nvSpPr>
        <p:spPr bwMode="auto">
          <a:xfrm>
            <a:off x="7505700" y="1130300"/>
            <a:ext cx="1765300" cy="687388"/>
          </a:xfrm>
          <a:prstGeom prst="wedgeRoundRectCallout">
            <a:avLst>
              <a:gd name="adj1" fmla="val -100000"/>
              <a:gd name="adj2" fmla="val 115125"/>
              <a:gd name="adj3" fmla="val 16667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800">
                <a:latin typeface="华文细黑" panose="02010600040101010101" pitchFamily="2" charset="-122"/>
                <a:ea typeface="华文细黑" panose="02010600040101010101" pitchFamily="2" charset="-122"/>
              </a:rPr>
              <a:t>纵向剖切，不画剖面线</a:t>
            </a:r>
            <a:r>
              <a:rPr lang="zh-CN" altLang="en-US" sz="1800" b="0">
                <a:latin typeface="华文细黑" panose="02010600040101010101" pitchFamily="2" charset="-122"/>
                <a:ea typeface="华文细黑" panose="02010600040101010101" pitchFamily="2" charset="-122"/>
              </a:rPr>
              <a:t>。</a:t>
            </a:r>
          </a:p>
        </p:txBody>
      </p:sp>
      <p:sp>
        <p:nvSpPr>
          <p:cNvPr id="223" name="AutoShape 204"/>
          <p:cNvSpPr>
            <a:spLocks noChangeAspect="1" noChangeArrowheads="1"/>
          </p:cNvSpPr>
          <p:nvPr/>
        </p:nvSpPr>
        <p:spPr bwMode="auto">
          <a:xfrm>
            <a:off x="5881688" y="3735388"/>
            <a:ext cx="1560512" cy="654050"/>
          </a:xfrm>
          <a:prstGeom prst="wedgeRoundRectCallout">
            <a:avLst>
              <a:gd name="adj1" fmla="val -109616"/>
              <a:gd name="adj2" fmla="val -76458"/>
              <a:gd name="adj3" fmla="val 16667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800">
                <a:latin typeface="华文细黑" panose="02010600040101010101" pitchFamily="2" charset="-122"/>
                <a:ea typeface="华文细黑" panose="02010600040101010101" pitchFamily="2" charset="-122"/>
              </a:rPr>
              <a:t>横向剖切，画剖面线</a:t>
            </a:r>
            <a:r>
              <a:rPr lang="zh-CN" altLang="en-US" sz="1800" b="0">
                <a:latin typeface="华文细黑" panose="02010600040101010101" pitchFamily="2" charset="-122"/>
                <a:ea typeface="华文细黑" panose="02010600040101010101" pitchFamily="2" charset="-122"/>
              </a:rPr>
              <a:t>。</a:t>
            </a:r>
          </a:p>
        </p:txBody>
      </p:sp>
      <p:grpSp>
        <p:nvGrpSpPr>
          <p:cNvPr id="224" name="Group 205"/>
          <p:cNvGrpSpPr>
            <a:grpSpLocks/>
          </p:cNvGrpSpPr>
          <p:nvPr/>
        </p:nvGrpSpPr>
        <p:grpSpPr bwMode="auto">
          <a:xfrm>
            <a:off x="3551238" y="2076451"/>
            <a:ext cx="1560512" cy="1414463"/>
            <a:chOff x="1293" y="980"/>
            <a:chExt cx="983" cy="891"/>
          </a:xfrm>
        </p:grpSpPr>
        <p:sp>
          <p:nvSpPr>
            <p:cNvPr id="225" name="Line 206"/>
            <p:cNvSpPr>
              <a:spLocks noChangeAspect="1" noChangeShapeType="1"/>
            </p:cNvSpPr>
            <p:nvPr/>
          </p:nvSpPr>
          <p:spPr bwMode="auto">
            <a:xfrm flipV="1">
              <a:off x="1293" y="987"/>
              <a:ext cx="0" cy="884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6" name="Line 207"/>
            <p:cNvSpPr>
              <a:spLocks noChangeAspect="1" noChangeShapeType="1"/>
            </p:cNvSpPr>
            <p:nvPr/>
          </p:nvSpPr>
          <p:spPr bwMode="auto">
            <a:xfrm flipV="1">
              <a:off x="2276" y="980"/>
              <a:ext cx="0" cy="884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7" name="Line 208"/>
          <p:cNvSpPr>
            <a:spLocks noChangeAspect="1" noChangeShapeType="1"/>
          </p:cNvSpPr>
          <p:nvPr/>
        </p:nvSpPr>
        <p:spPr bwMode="auto">
          <a:xfrm flipH="1">
            <a:off x="6197601" y="1866900"/>
            <a:ext cx="54927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8" name="Line 209"/>
          <p:cNvSpPr>
            <a:spLocks noChangeAspect="1" noChangeShapeType="1"/>
          </p:cNvSpPr>
          <p:nvPr/>
        </p:nvSpPr>
        <p:spPr bwMode="auto">
          <a:xfrm>
            <a:off x="6197600" y="1855789"/>
            <a:ext cx="0" cy="5492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9" name="Line 210"/>
          <p:cNvSpPr>
            <a:spLocks noChangeAspect="1" noChangeShapeType="1"/>
          </p:cNvSpPr>
          <p:nvPr/>
        </p:nvSpPr>
        <p:spPr bwMode="auto">
          <a:xfrm>
            <a:off x="6186488" y="2392363"/>
            <a:ext cx="7921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0" name="Text Box 3"/>
          <p:cNvSpPr txBox="1">
            <a:spLocks noChangeArrowheads="1"/>
          </p:cNvSpPr>
          <p:nvPr/>
        </p:nvSpPr>
        <p:spPr bwMode="auto">
          <a:xfrm>
            <a:off x="1040608" y="680038"/>
            <a:ext cx="2347117" cy="480131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FontTx/>
              <a:buNone/>
              <a:defRPr sz="2800" b="1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defRPr>
            </a:lvl1pPr>
          </a:lstStyle>
          <a:p>
            <a:r>
              <a:rPr lang="en-US" altLang="zh-CN" dirty="0"/>
              <a:t>2. </a:t>
            </a:r>
            <a:r>
              <a:rPr lang="zh-CN" altLang="en-US" dirty="0"/>
              <a:t>肋板的画法</a:t>
            </a:r>
          </a:p>
        </p:txBody>
      </p:sp>
    </p:spTree>
    <p:extLst>
      <p:ext uri="{BB962C8B-B14F-4D97-AF65-F5344CB8AC3E}">
        <p14:creationId xmlns:p14="http://schemas.microsoft.com/office/powerpoint/2010/main" val="2534233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10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2" grpId="0" animBg="1"/>
      <p:bldP spid="223" grpId="0" animBg="1"/>
      <p:bldP spid="227" grpId="0" animBg="1"/>
      <p:bldP spid="228" grpId="0" animBg="1"/>
      <p:bldP spid="229" grpId="0" animBg="1"/>
      <p:bldP spid="230" grpId="0" autoUpdateAnimBg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325349" y="306828"/>
            <a:ext cx="4863832" cy="480131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FontTx/>
              <a:buNone/>
              <a:defRPr sz="2800" b="1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defRPr>
            </a:lvl1pPr>
          </a:lstStyle>
          <a:p>
            <a:r>
              <a:rPr lang="en-US" altLang="zh-CN" dirty="0"/>
              <a:t>3.</a:t>
            </a:r>
            <a:r>
              <a:rPr lang="zh-CN" altLang="en-US" dirty="0"/>
              <a:t>均匀分布的肋板及孔的画法</a:t>
            </a:r>
          </a:p>
        </p:txBody>
      </p:sp>
      <p:sp>
        <p:nvSpPr>
          <p:cNvPr id="3" name="AutoShape 3" descr="粉色面巾纸"/>
          <p:cNvSpPr>
            <a:spLocks noChangeArrowheads="1"/>
          </p:cNvSpPr>
          <p:nvPr/>
        </p:nvSpPr>
        <p:spPr bwMode="auto">
          <a:xfrm>
            <a:off x="1437267" y="919424"/>
            <a:ext cx="1958975" cy="837676"/>
          </a:xfrm>
          <a:prstGeom prst="wedgeRoundRectCallout">
            <a:avLst>
              <a:gd name="adj1" fmla="val 42870"/>
              <a:gd name="adj2" fmla="val 75171"/>
              <a:gd name="adj3" fmla="val 16667"/>
            </a:avLst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400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肋不对称画成对称</a:t>
            </a:r>
          </a:p>
        </p:txBody>
      </p:sp>
      <p:sp>
        <p:nvSpPr>
          <p:cNvPr id="4" name="AutoShape 4" descr="信纸"/>
          <p:cNvSpPr>
            <a:spLocks noChangeArrowheads="1"/>
          </p:cNvSpPr>
          <p:nvPr/>
        </p:nvSpPr>
        <p:spPr bwMode="auto">
          <a:xfrm>
            <a:off x="5188529" y="930949"/>
            <a:ext cx="1808163" cy="919401"/>
          </a:xfrm>
          <a:prstGeom prst="wedgeRoundRectCallout">
            <a:avLst>
              <a:gd name="adj1" fmla="val 49736"/>
              <a:gd name="adj2" fmla="val 81889"/>
              <a:gd name="adj3" fmla="val 16667"/>
            </a:avLst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sz="2400" b="1">
                <a:latin typeface="华文细黑" panose="02010600040101010101" pitchFamily="2" charset="-122"/>
                <a:ea typeface="华文细黑" panose="02010600040101010101" pitchFamily="2" charset="-122"/>
              </a:rPr>
              <a:t>孔未剖到按剖到画</a:t>
            </a:r>
          </a:p>
        </p:txBody>
      </p:sp>
      <p:grpSp>
        <p:nvGrpSpPr>
          <p:cNvPr id="5" name="Group 188"/>
          <p:cNvGrpSpPr>
            <a:grpSpLocks/>
          </p:cNvGrpSpPr>
          <p:nvPr/>
        </p:nvGrpSpPr>
        <p:grpSpPr bwMode="auto">
          <a:xfrm>
            <a:off x="6429954" y="1449388"/>
            <a:ext cx="2836863" cy="3605212"/>
            <a:chOff x="3494" y="913"/>
            <a:chExt cx="1787" cy="2271"/>
          </a:xfrm>
        </p:grpSpPr>
        <p:sp>
          <p:nvSpPr>
            <p:cNvPr id="6" name="Line 6"/>
            <p:cNvSpPr>
              <a:spLocks noChangeShapeType="1"/>
            </p:cNvSpPr>
            <p:nvPr/>
          </p:nvSpPr>
          <p:spPr bwMode="auto">
            <a:xfrm flipV="1">
              <a:off x="3739" y="1543"/>
              <a:ext cx="0" cy="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>
              <a:off x="3733" y="1632"/>
              <a:ext cx="13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" name="Oval 11"/>
            <p:cNvSpPr>
              <a:spLocks noChangeArrowheads="1"/>
            </p:cNvSpPr>
            <p:nvPr/>
          </p:nvSpPr>
          <p:spPr bwMode="auto">
            <a:xfrm>
              <a:off x="3744" y="1911"/>
              <a:ext cx="1308" cy="1273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9" name="AutoShape 12"/>
            <p:cNvSpPr>
              <a:spLocks noChangeArrowheads="1"/>
            </p:cNvSpPr>
            <p:nvPr/>
          </p:nvSpPr>
          <p:spPr bwMode="auto">
            <a:xfrm>
              <a:off x="4075" y="2236"/>
              <a:ext cx="643" cy="61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1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58 w 21600"/>
                <a:gd name="T25" fmla="*/ 3146 h 21600"/>
                <a:gd name="T26" fmla="*/ 18442 w 21600"/>
                <a:gd name="T27" fmla="*/ 18454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813" y="10800"/>
                  </a:moveTo>
                  <a:cubicBezTo>
                    <a:pt x="3813" y="14659"/>
                    <a:pt x="6941" y="17787"/>
                    <a:pt x="10800" y="17787"/>
                  </a:cubicBezTo>
                  <a:cubicBezTo>
                    <a:pt x="14659" y="17787"/>
                    <a:pt x="17787" y="14659"/>
                    <a:pt x="17787" y="10800"/>
                  </a:cubicBezTo>
                  <a:cubicBezTo>
                    <a:pt x="17787" y="6941"/>
                    <a:pt x="14659" y="3813"/>
                    <a:pt x="10800" y="3813"/>
                  </a:cubicBezTo>
                  <a:cubicBezTo>
                    <a:pt x="6941" y="3813"/>
                    <a:pt x="3813" y="6941"/>
                    <a:pt x="3813" y="10800"/>
                  </a:cubicBezTo>
                  <a:close/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" name="Arc 13"/>
            <p:cNvSpPr>
              <a:spLocks/>
            </p:cNvSpPr>
            <p:nvPr/>
          </p:nvSpPr>
          <p:spPr bwMode="auto">
            <a:xfrm>
              <a:off x="4385" y="2154"/>
              <a:ext cx="380" cy="402"/>
            </a:xfrm>
            <a:custGeom>
              <a:avLst/>
              <a:gdLst>
                <a:gd name="T0" fmla="*/ 0 w 16339"/>
                <a:gd name="T1" fmla="*/ 0 h 17953"/>
                <a:gd name="T2" fmla="*/ 0 w 16339"/>
                <a:gd name="T3" fmla="*/ 0 h 17953"/>
                <a:gd name="T4" fmla="*/ 0 w 16339"/>
                <a:gd name="T5" fmla="*/ 0 h 179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39" h="17953" fill="none" extrusionOk="0">
                  <a:moveTo>
                    <a:pt x="12010" y="-1"/>
                  </a:moveTo>
                  <a:cubicBezTo>
                    <a:pt x="13617" y="1075"/>
                    <a:pt x="15073" y="2361"/>
                    <a:pt x="16338" y="3825"/>
                  </a:cubicBezTo>
                </a:path>
                <a:path w="16339" h="17953" stroke="0" extrusionOk="0">
                  <a:moveTo>
                    <a:pt x="12010" y="-1"/>
                  </a:moveTo>
                  <a:cubicBezTo>
                    <a:pt x="13617" y="1075"/>
                    <a:pt x="15073" y="2361"/>
                    <a:pt x="16338" y="3825"/>
                  </a:cubicBezTo>
                  <a:lnTo>
                    <a:pt x="0" y="17953"/>
                  </a:lnTo>
                  <a:lnTo>
                    <a:pt x="12010" y="-1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1" name="Arc 14"/>
            <p:cNvSpPr>
              <a:spLocks/>
            </p:cNvSpPr>
            <p:nvPr/>
          </p:nvSpPr>
          <p:spPr bwMode="auto">
            <a:xfrm rot="5400000">
              <a:off x="4390" y="2548"/>
              <a:ext cx="388" cy="371"/>
            </a:xfrm>
            <a:custGeom>
              <a:avLst/>
              <a:gdLst>
                <a:gd name="T0" fmla="*/ 0 w 18079"/>
                <a:gd name="T1" fmla="*/ 0 h 16594"/>
                <a:gd name="T2" fmla="*/ 0 w 18079"/>
                <a:gd name="T3" fmla="*/ 0 h 16594"/>
                <a:gd name="T4" fmla="*/ 0 w 18079"/>
                <a:gd name="T5" fmla="*/ 0 h 165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79" h="16594" fill="none" extrusionOk="0">
                  <a:moveTo>
                    <a:pt x="13827" y="-1"/>
                  </a:moveTo>
                  <a:cubicBezTo>
                    <a:pt x="15473" y="1371"/>
                    <a:pt x="16905" y="2980"/>
                    <a:pt x="18078" y="4773"/>
                  </a:cubicBezTo>
                </a:path>
                <a:path w="18079" h="16594" stroke="0" extrusionOk="0">
                  <a:moveTo>
                    <a:pt x="13827" y="-1"/>
                  </a:moveTo>
                  <a:cubicBezTo>
                    <a:pt x="15473" y="1371"/>
                    <a:pt x="16905" y="2980"/>
                    <a:pt x="18078" y="4773"/>
                  </a:cubicBezTo>
                  <a:lnTo>
                    <a:pt x="0" y="16594"/>
                  </a:lnTo>
                  <a:lnTo>
                    <a:pt x="13827" y="-1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2" name="Line 15"/>
            <p:cNvSpPr>
              <a:spLocks noChangeShapeType="1"/>
            </p:cNvSpPr>
            <p:nvPr/>
          </p:nvSpPr>
          <p:spPr bwMode="auto">
            <a:xfrm>
              <a:off x="4669" y="2837"/>
              <a:ext cx="88" cy="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3" name="Arc 16"/>
            <p:cNvSpPr>
              <a:spLocks/>
            </p:cNvSpPr>
            <p:nvPr/>
          </p:nvSpPr>
          <p:spPr bwMode="auto">
            <a:xfrm flipH="1">
              <a:off x="4018" y="2152"/>
              <a:ext cx="367" cy="388"/>
            </a:xfrm>
            <a:custGeom>
              <a:avLst/>
              <a:gdLst>
                <a:gd name="T0" fmla="*/ 0 w 16601"/>
                <a:gd name="T1" fmla="*/ 0 h 18271"/>
                <a:gd name="T2" fmla="*/ 0 w 16601"/>
                <a:gd name="T3" fmla="*/ 0 h 18271"/>
                <a:gd name="T4" fmla="*/ 0 w 16601"/>
                <a:gd name="T5" fmla="*/ 0 h 182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01" h="18271" fill="none" extrusionOk="0">
                  <a:moveTo>
                    <a:pt x="11520" y="0"/>
                  </a:moveTo>
                  <a:cubicBezTo>
                    <a:pt x="13437" y="1208"/>
                    <a:pt x="15151" y="2710"/>
                    <a:pt x="16601" y="4451"/>
                  </a:cubicBezTo>
                </a:path>
                <a:path w="16601" h="18271" stroke="0" extrusionOk="0">
                  <a:moveTo>
                    <a:pt x="11520" y="0"/>
                  </a:moveTo>
                  <a:cubicBezTo>
                    <a:pt x="13437" y="1208"/>
                    <a:pt x="15151" y="2710"/>
                    <a:pt x="16601" y="4451"/>
                  </a:cubicBezTo>
                  <a:lnTo>
                    <a:pt x="0" y="18271"/>
                  </a:lnTo>
                  <a:lnTo>
                    <a:pt x="11520" y="0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4" name="Line 17"/>
            <p:cNvSpPr>
              <a:spLocks noChangeShapeType="1"/>
            </p:cNvSpPr>
            <p:nvPr/>
          </p:nvSpPr>
          <p:spPr bwMode="auto">
            <a:xfrm flipH="1" flipV="1">
              <a:off x="4026" y="2144"/>
              <a:ext cx="94" cy="10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5" name="Line 18"/>
            <p:cNvSpPr>
              <a:spLocks noChangeShapeType="1"/>
            </p:cNvSpPr>
            <p:nvPr/>
          </p:nvSpPr>
          <p:spPr bwMode="auto">
            <a:xfrm flipH="1">
              <a:off x="4021" y="2813"/>
              <a:ext cx="129" cy="14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6" name="Oval 19"/>
            <p:cNvSpPr>
              <a:spLocks noChangeArrowheads="1"/>
            </p:cNvSpPr>
            <p:nvPr/>
          </p:nvSpPr>
          <p:spPr bwMode="auto">
            <a:xfrm>
              <a:off x="4014" y="2826"/>
              <a:ext cx="124" cy="120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17" name="Line 20"/>
            <p:cNvSpPr>
              <a:spLocks noChangeShapeType="1"/>
            </p:cNvSpPr>
            <p:nvPr/>
          </p:nvSpPr>
          <p:spPr bwMode="auto">
            <a:xfrm>
              <a:off x="4763" y="2494"/>
              <a:ext cx="24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8" name="Line 21"/>
            <p:cNvSpPr>
              <a:spLocks noChangeShapeType="1"/>
            </p:cNvSpPr>
            <p:nvPr/>
          </p:nvSpPr>
          <p:spPr bwMode="auto">
            <a:xfrm>
              <a:off x="4765" y="2598"/>
              <a:ext cx="2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9" name="Line 22"/>
            <p:cNvSpPr>
              <a:spLocks noChangeShapeType="1"/>
            </p:cNvSpPr>
            <p:nvPr/>
          </p:nvSpPr>
          <p:spPr bwMode="auto">
            <a:xfrm>
              <a:off x="3792" y="2495"/>
              <a:ext cx="24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0" name="Line 23"/>
            <p:cNvSpPr>
              <a:spLocks noChangeShapeType="1"/>
            </p:cNvSpPr>
            <p:nvPr/>
          </p:nvSpPr>
          <p:spPr bwMode="auto">
            <a:xfrm>
              <a:off x="3794" y="2599"/>
              <a:ext cx="2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" name="Line 24"/>
            <p:cNvSpPr>
              <a:spLocks noChangeShapeType="1"/>
            </p:cNvSpPr>
            <p:nvPr/>
          </p:nvSpPr>
          <p:spPr bwMode="auto">
            <a:xfrm>
              <a:off x="4445" y="1968"/>
              <a:ext cx="0" cy="2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2" name="Line 25"/>
            <p:cNvSpPr>
              <a:spLocks noChangeShapeType="1"/>
            </p:cNvSpPr>
            <p:nvPr/>
          </p:nvSpPr>
          <p:spPr bwMode="auto">
            <a:xfrm flipH="1">
              <a:off x="4351" y="1963"/>
              <a:ext cx="0" cy="2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3" name="Line 26"/>
            <p:cNvSpPr>
              <a:spLocks noChangeShapeType="1"/>
            </p:cNvSpPr>
            <p:nvPr/>
          </p:nvSpPr>
          <p:spPr bwMode="auto">
            <a:xfrm>
              <a:off x="4445" y="2883"/>
              <a:ext cx="0" cy="2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4" name="Line 27"/>
            <p:cNvSpPr>
              <a:spLocks noChangeShapeType="1"/>
            </p:cNvSpPr>
            <p:nvPr/>
          </p:nvSpPr>
          <p:spPr bwMode="auto">
            <a:xfrm>
              <a:off x="4352" y="2883"/>
              <a:ext cx="0" cy="2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5" name="Line 28"/>
            <p:cNvSpPr>
              <a:spLocks noChangeShapeType="1"/>
            </p:cNvSpPr>
            <p:nvPr/>
          </p:nvSpPr>
          <p:spPr bwMode="auto">
            <a:xfrm flipH="1">
              <a:off x="4669" y="2151"/>
              <a:ext cx="94" cy="1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6" name="Freeform 29"/>
            <p:cNvSpPr>
              <a:spLocks/>
            </p:cNvSpPr>
            <p:nvPr/>
          </p:nvSpPr>
          <p:spPr bwMode="auto">
            <a:xfrm>
              <a:off x="5006" y="2458"/>
              <a:ext cx="39" cy="37"/>
            </a:xfrm>
            <a:custGeom>
              <a:avLst/>
              <a:gdLst>
                <a:gd name="T0" fmla="*/ 0 w 48"/>
                <a:gd name="T1" fmla="*/ 28 h 43"/>
                <a:gd name="T2" fmla="*/ 19 w 48"/>
                <a:gd name="T3" fmla="*/ 22 h 43"/>
                <a:gd name="T4" fmla="*/ 26 w 4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3">
                  <a:moveTo>
                    <a:pt x="0" y="43"/>
                  </a:moveTo>
                  <a:cubicBezTo>
                    <a:pt x="6" y="42"/>
                    <a:pt x="26" y="41"/>
                    <a:pt x="34" y="34"/>
                  </a:cubicBezTo>
                  <a:cubicBezTo>
                    <a:pt x="42" y="27"/>
                    <a:pt x="45" y="7"/>
                    <a:pt x="48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7" name="Freeform 30"/>
            <p:cNvSpPr>
              <a:spLocks/>
            </p:cNvSpPr>
            <p:nvPr/>
          </p:nvSpPr>
          <p:spPr bwMode="auto">
            <a:xfrm>
              <a:off x="4998" y="2596"/>
              <a:ext cx="51" cy="42"/>
            </a:xfrm>
            <a:custGeom>
              <a:avLst/>
              <a:gdLst>
                <a:gd name="T0" fmla="*/ 0 w 63"/>
                <a:gd name="T1" fmla="*/ 0 h 48"/>
                <a:gd name="T2" fmla="*/ 23 w 63"/>
                <a:gd name="T3" fmla="*/ 10 h 48"/>
                <a:gd name="T4" fmla="*/ 33 w 63"/>
                <a:gd name="T5" fmla="*/ 3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8">
                  <a:moveTo>
                    <a:pt x="0" y="0"/>
                  </a:moveTo>
                  <a:cubicBezTo>
                    <a:pt x="7" y="2"/>
                    <a:pt x="34" y="7"/>
                    <a:pt x="44" y="15"/>
                  </a:cubicBezTo>
                  <a:cubicBezTo>
                    <a:pt x="54" y="23"/>
                    <a:pt x="59" y="41"/>
                    <a:pt x="63" y="48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8" name="Freeform 31"/>
            <p:cNvSpPr>
              <a:spLocks/>
            </p:cNvSpPr>
            <p:nvPr/>
          </p:nvSpPr>
          <p:spPr bwMode="auto">
            <a:xfrm>
              <a:off x="4706" y="2454"/>
              <a:ext cx="67" cy="41"/>
            </a:xfrm>
            <a:custGeom>
              <a:avLst/>
              <a:gdLst>
                <a:gd name="T0" fmla="*/ 45 w 82"/>
                <a:gd name="T1" fmla="*/ 30 h 48"/>
                <a:gd name="T2" fmla="*/ 21 w 82"/>
                <a:gd name="T3" fmla="*/ 24 h 48"/>
                <a:gd name="T4" fmla="*/ 0 w 82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48">
                  <a:moveTo>
                    <a:pt x="82" y="48"/>
                  </a:moveTo>
                  <a:cubicBezTo>
                    <a:pt x="67" y="47"/>
                    <a:pt x="53" y="47"/>
                    <a:pt x="39" y="39"/>
                  </a:cubicBezTo>
                  <a:cubicBezTo>
                    <a:pt x="25" y="31"/>
                    <a:pt x="12" y="15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9" name="Freeform 32"/>
            <p:cNvSpPr>
              <a:spLocks/>
            </p:cNvSpPr>
            <p:nvPr/>
          </p:nvSpPr>
          <p:spPr bwMode="auto">
            <a:xfrm>
              <a:off x="4695" y="2596"/>
              <a:ext cx="78" cy="60"/>
            </a:xfrm>
            <a:custGeom>
              <a:avLst/>
              <a:gdLst>
                <a:gd name="T0" fmla="*/ 51 w 96"/>
                <a:gd name="T1" fmla="*/ 0 h 68"/>
                <a:gd name="T2" fmla="*/ 26 w 96"/>
                <a:gd name="T3" fmla="*/ 14 h 68"/>
                <a:gd name="T4" fmla="*/ 0 w 96"/>
                <a:gd name="T5" fmla="*/ 47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68">
                  <a:moveTo>
                    <a:pt x="96" y="0"/>
                  </a:moveTo>
                  <a:cubicBezTo>
                    <a:pt x="80" y="4"/>
                    <a:pt x="64" y="9"/>
                    <a:pt x="48" y="20"/>
                  </a:cubicBezTo>
                  <a:cubicBezTo>
                    <a:pt x="32" y="31"/>
                    <a:pt x="16" y="49"/>
                    <a:pt x="0" y="68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30" name="Freeform 33"/>
            <p:cNvSpPr>
              <a:spLocks/>
            </p:cNvSpPr>
            <p:nvPr/>
          </p:nvSpPr>
          <p:spPr bwMode="auto">
            <a:xfrm>
              <a:off x="4022" y="2441"/>
              <a:ext cx="70" cy="54"/>
            </a:xfrm>
            <a:custGeom>
              <a:avLst/>
              <a:gdLst>
                <a:gd name="T0" fmla="*/ 0 w 86"/>
                <a:gd name="T1" fmla="*/ 41 h 62"/>
                <a:gd name="T2" fmla="*/ 26 w 86"/>
                <a:gd name="T3" fmla="*/ 28 h 62"/>
                <a:gd name="T4" fmla="*/ 46 w 86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62">
                  <a:moveTo>
                    <a:pt x="0" y="62"/>
                  </a:moveTo>
                  <a:cubicBezTo>
                    <a:pt x="17" y="57"/>
                    <a:pt x="34" y="53"/>
                    <a:pt x="48" y="43"/>
                  </a:cubicBezTo>
                  <a:cubicBezTo>
                    <a:pt x="62" y="33"/>
                    <a:pt x="74" y="16"/>
                    <a:pt x="86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31" name="Freeform 34"/>
            <p:cNvSpPr>
              <a:spLocks/>
            </p:cNvSpPr>
            <p:nvPr/>
          </p:nvSpPr>
          <p:spPr bwMode="auto">
            <a:xfrm>
              <a:off x="4026" y="2600"/>
              <a:ext cx="70" cy="47"/>
            </a:xfrm>
            <a:custGeom>
              <a:avLst/>
              <a:gdLst>
                <a:gd name="T0" fmla="*/ 0 w 87"/>
                <a:gd name="T1" fmla="*/ 0 h 53"/>
                <a:gd name="T2" fmla="*/ 25 w 87"/>
                <a:gd name="T3" fmla="*/ 13 h 53"/>
                <a:gd name="T4" fmla="*/ 45 w 87"/>
                <a:gd name="T5" fmla="*/ 3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53">
                  <a:moveTo>
                    <a:pt x="0" y="0"/>
                  </a:moveTo>
                  <a:cubicBezTo>
                    <a:pt x="16" y="5"/>
                    <a:pt x="33" y="10"/>
                    <a:pt x="48" y="19"/>
                  </a:cubicBezTo>
                  <a:cubicBezTo>
                    <a:pt x="63" y="28"/>
                    <a:pt x="75" y="40"/>
                    <a:pt x="87" y="53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32" name="Freeform 35"/>
            <p:cNvSpPr>
              <a:spLocks/>
            </p:cNvSpPr>
            <p:nvPr/>
          </p:nvSpPr>
          <p:spPr bwMode="auto">
            <a:xfrm>
              <a:off x="4310" y="2832"/>
              <a:ext cx="46" cy="58"/>
            </a:xfrm>
            <a:custGeom>
              <a:avLst/>
              <a:gdLst>
                <a:gd name="T0" fmla="*/ 30 w 57"/>
                <a:gd name="T1" fmla="*/ 43 h 67"/>
                <a:gd name="T2" fmla="*/ 20 w 57"/>
                <a:gd name="T3" fmla="*/ 19 h 67"/>
                <a:gd name="T4" fmla="*/ 0 w 57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7">
                  <a:moveTo>
                    <a:pt x="57" y="67"/>
                  </a:moveTo>
                  <a:cubicBezTo>
                    <a:pt x="54" y="61"/>
                    <a:pt x="48" y="40"/>
                    <a:pt x="38" y="29"/>
                  </a:cubicBezTo>
                  <a:cubicBezTo>
                    <a:pt x="28" y="18"/>
                    <a:pt x="8" y="6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33" name="Freeform 36"/>
            <p:cNvSpPr>
              <a:spLocks/>
            </p:cNvSpPr>
            <p:nvPr/>
          </p:nvSpPr>
          <p:spPr bwMode="auto">
            <a:xfrm>
              <a:off x="4446" y="2824"/>
              <a:ext cx="46" cy="66"/>
            </a:xfrm>
            <a:custGeom>
              <a:avLst/>
              <a:gdLst>
                <a:gd name="T0" fmla="*/ 0 w 57"/>
                <a:gd name="T1" fmla="*/ 50 h 76"/>
                <a:gd name="T2" fmla="*/ 7 w 57"/>
                <a:gd name="T3" fmla="*/ 22 h 76"/>
                <a:gd name="T4" fmla="*/ 30 w 57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76">
                  <a:moveTo>
                    <a:pt x="0" y="76"/>
                  </a:moveTo>
                  <a:cubicBezTo>
                    <a:pt x="2" y="69"/>
                    <a:pt x="5" y="46"/>
                    <a:pt x="14" y="33"/>
                  </a:cubicBezTo>
                  <a:cubicBezTo>
                    <a:pt x="23" y="20"/>
                    <a:pt x="48" y="7"/>
                    <a:pt x="57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34" name="Freeform 37"/>
            <p:cNvSpPr>
              <a:spLocks/>
            </p:cNvSpPr>
            <p:nvPr/>
          </p:nvSpPr>
          <p:spPr bwMode="auto">
            <a:xfrm>
              <a:off x="4310" y="2185"/>
              <a:ext cx="46" cy="58"/>
            </a:xfrm>
            <a:custGeom>
              <a:avLst/>
              <a:gdLst>
                <a:gd name="T0" fmla="*/ 30 w 57"/>
                <a:gd name="T1" fmla="*/ 0 h 67"/>
                <a:gd name="T2" fmla="*/ 23 w 57"/>
                <a:gd name="T3" fmla="*/ 25 h 67"/>
                <a:gd name="T4" fmla="*/ 0 w 57"/>
                <a:gd name="T5" fmla="*/ 43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7">
                  <a:moveTo>
                    <a:pt x="57" y="0"/>
                  </a:moveTo>
                  <a:cubicBezTo>
                    <a:pt x="55" y="6"/>
                    <a:pt x="53" y="27"/>
                    <a:pt x="43" y="38"/>
                  </a:cubicBezTo>
                  <a:cubicBezTo>
                    <a:pt x="33" y="49"/>
                    <a:pt x="9" y="61"/>
                    <a:pt x="0" y="67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35" name="Freeform 38"/>
            <p:cNvSpPr>
              <a:spLocks/>
            </p:cNvSpPr>
            <p:nvPr/>
          </p:nvSpPr>
          <p:spPr bwMode="auto">
            <a:xfrm>
              <a:off x="4446" y="2189"/>
              <a:ext cx="50" cy="59"/>
            </a:xfrm>
            <a:custGeom>
              <a:avLst/>
              <a:gdLst>
                <a:gd name="T0" fmla="*/ 0 w 62"/>
                <a:gd name="T1" fmla="*/ 0 h 67"/>
                <a:gd name="T2" fmla="*/ 12 w 62"/>
                <a:gd name="T3" fmla="*/ 29 h 67"/>
                <a:gd name="T4" fmla="*/ 32 w 62"/>
                <a:gd name="T5" fmla="*/ 46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7">
                  <a:moveTo>
                    <a:pt x="0" y="0"/>
                  </a:moveTo>
                  <a:cubicBezTo>
                    <a:pt x="3" y="7"/>
                    <a:pt x="14" y="32"/>
                    <a:pt x="24" y="43"/>
                  </a:cubicBezTo>
                  <a:cubicBezTo>
                    <a:pt x="34" y="54"/>
                    <a:pt x="48" y="61"/>
                    <a:pt x="62" y="67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36" name="Freeform 39"/>
            <p:cNvSpPr>
              <a:spLocks/>
            </p:cNvSpPr>
            <p:nvPr/>
          </p:nvSpPr>
          <p:spPr bwMode="auto">
            <a:xfrm>
              <a:off x="4446" y="1916"/>
              <a:ext cx="43" cy="54"/>
            </a:xfrm>
            <a:custGeom>
              <a:avLst/>
              <a:gdLst>
                <a:gd name="T0" fmla="*/ 0 w 53"/>
                <a:gd name="T1" fmla="*/ 41 h 62"/>
                <a:gd name="T2" fmla="*/ 12 w 53"/>
                <a:gd name="T3" fmla="*/ 13 h 62"/>
                <a:gd name="T4" fmla="*/ 28 w 53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2">
                  <a:moveTo>
                    <a:pt x="0" y="62"/>
                  </a:moveTo>
                  <a:cubicBezTo>
                    <a:pt x="4" y="56"/>
                    <a:pt x="15" y="29"/>
                    <a:pt x="24" y="19"/>
                  </a:cubicBezTo>
                  <a:cubicBezTo>
                    <a:pt x="33" y="9"/>
                    <a:pt x="47" y="4"/>
                    <a:pt x="53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37" name="Freeform 40"/>
            <p:cNvSpPr>
              <a:spLocks/>
            </p:cNvSpPr>
            <p:nvPr/>
          </p:nvSpPr>
          <p:spPr bwMode="auto">
            <a:xfrm>
              <a:off x="4306" y="1921"/>
              <a:ext cx="47" cy="49"/>
            </a:xfrm>
            <a:custGeom>
              <a:avLst/>
              <a:gdLst>
                <a:gd name="T0" fmla="*/ 31 w 58"/>
                <a:gd name="T1" fmla="*/ 36 h 57"/>
                <a:gd name="T2" fmla="*/ 23 w 58"/>
                <a:gd name="T3" fmla="*/ 9 h 57"/>
                <a:gd name="T4" fmla="*/ 0 w 5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7">
                  <a:moveTo>
                    <a:pt x="58" y="57"/>
                  </a:moveTo>
                  <a:cubicBezTo>
                    <a:pt x="55" y="40"/>
                    <a:pt x="53" y="23"/>
                    <a:pt x="43" y="14"/>
                  </a:cubicBezTo>
                  <a:cubicBezTo>
                    <a:pt x="33" y="5"/>
                    <a:pt x="16" y="2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38" name="Freeform 41"/>
            <p:cNvSpPr>
              <a:spLocks/>
            </p:cNvSpPr>
            <p:nvPr/>
          </p:nvSpPr>
          <p:spPr bwMode="auto">
            <a:xfrm>
              <a:off x="3757" y="2446"/>
              <a:ext cx="43" cy="49"/>
            </a:xfrm>
            <a:custGeom>
              <a:avLst/>
              <a:gdLst>
                <a:gd name="T0" fmla="*/ 28 w 53"/>
                <a:gd name="T1" fmla="*/ 36 h 57"/>
                <a:gd name="T2" fmla="*/ 8 w 53"/>
                <a:gd name="T3" fmla="*/ 24 h 57"/>
                <a:gd name="T4" fmla="*/ 0 w 53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7">
                  <a:moveTo>
                    <a:pt x="53" y="57"/>
                  </a:moveTo>
                  <a:cubicBezTo>
                    <a:pt x="38" y="52"/>
                    <a:pt x="24" y="47"/>
                    <a:pt x="15" y="38"/>
                  </a:cubicBezTo>
                  <a:cubicBezTo>
                    <a:pt x="6" y="29"/>
                    <a:pt x="3" y="14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39" name="Freeform 42"/>
            <p:cNvSpPr>
              <a:spLocks/>
            </p:cNvSpPr>
            <p:nvPr/>
          </p:nvSpPr>
          <p:spPr bwMode="auto">
            <a:xfrm>
              <a:off x="3757" y="2604"/>
              <a:ext cx="47" cy="60"/>
            </a:xfrm>
            <a:custGeom>
              <a:avLst/>
              <a:gdLst>
                <a:gd name="T0" fmla="*/ 31 w 58"/>
                <a:gd name="T1" fmla="*/ 1 h 68"/>
                <a:gd name="T2" fmla="*/ 12 w 58"/>
                <a:gd name="T3" fmla="*/ 8 h 68"/>
                <a:gd name="T4" fmla="*/ 0 w 58"/>
                <a:gd name="T5" fmla="*/ 47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8">
                  <a:moveTo>
                    <a:pt x="58" y="1"/>
                  </a:moveTo>
                  <a:cubicBezTo>
                    <a:pt x="52" y="3"/>
                    <a:pt x="34" y="0"/>
                    <a:pt x="24" y="11"/>
                  </a:cubicBezTo>
                  <a:cubicBezTo>
                    <a:pt x="14" y="22"/>
                    <a:pt x="5" y="56"/>
                    <a:pt x="0" y="68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40" name="Freeform 43"/>
            <p:cNvSpPr>
              <a:spLocks/>
            </p:cNvSpPr>
            <p:nvPr/>
          </p:nvSpPr>
          <p:spPr bwMode="auto">
            <a:xfrm>
              <a:off x="4306" y="3130"/>
              <a:ext cx="47" cy="46"/>
            </a:xfrm>
            <a:custGeom>
              <a:avLst/>
              <a:gdLst>
                <a:gd name="T0" fmla="*/ 31 w 58"/>
                <a:gd name="T1" fmla="*/ 0 h 53"/>
                <a:gd name="T2" fmla="*/ 23 w 58"/>
                <a:gd name="T3" fmla="*/ 23 h 53"/>
                <a:gd name="T4" fmla="*/ 0 w 58"/>
                <a:gd name="T5" fmla="*/ 3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3">
                  <a:moveTo>
                    <a:pt x="58" y="0"/>
                  </a:moveTo>
                  <a:cubicBezTo>
                    <a:pt x="56" y="5"/>
                    <a:pt x="53" y="25"/>
                    <a:pt x="43" y="34"/>
                  </a:cubicBezTo>
                  <a:cubicBezTo>
                    <a:pt x="33" y="43"/>
                    <a:pt x="9" y="49"/>
                    <a:pt x="0" y="53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41" name="Freeform 44"/>
            <p:cNvSpPr>
              <a:spLocks/>
            </p:cNvSpPr>
            <p:nvPr/>
          </p:nvSpPr>
          <p:spPr bwMode="auto">
            <a:xfrm>
              <a:off x="4446" y="3130"/>
              <a:ext cx="39" cy="46"/>
            </a:xfrm>
            <a:custGeom>
              <a:avLst/>
              <a:gdLst>
                <a:gd name="T0" fmla="*/ 0 w 48"/>
                <a:gd name="T1" fmla="*/ 0 h 53"/>
                <a:gd name="T2" fmla="*/ 7 w 48"/>
                <a:gd name="T3" fmla="*/ 23 h 53"/>
                <a:gd name="T4" fmla="*/ 26 w 48"/>
                <a:gd name="T5" fmla="*/ 3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0" y="0"/>
                  </a:moveTo>
                  <a:cubicBezTo>
                    <a:pt x="2" y="5"/>
                    <a:pt x="6" y="25"/>
                    <a:pt x="14" y="34"/>
                  </a:cubicBezTo>
                  <a:cubicBezTo>
                    <a:pt x="22" y="43"/>
                    <a:pt x="41" y="49"/>
                    <a:pt x="48" y="53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42" name="Rectangle 45"/>
            <p:cNvSpPr>
              <a:spLocks noChangeArrowheads="1"/>
            </p:cNvSpPr>
            <p:nvPr/>
          </p:nvSpPr>
          <p:spPr bwMode="auto">
            <a:xfrm>
              <a:off x="4192" y="1165"/>
              <a:ext cx="413" cy="465"/>
            </a:xfrm>
            <a:prstGeom prst="rect">
              <a:avLst/>
            </a:prstGeom>
            <a:noFill/>
            <a:ln w="3810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43" name="Line 46"/>
            <p:cNvSpPr>
              <a:spLocks noChangeShapeType="1"/>
            </p:cNvSpPr>
            <p:nvPr/>
          </p:nvSpPr>
          <p:spPr bwMode="auto">
            <a:xfrm flipV="1">
              <a:off x="5057" y="1533"/>
              <a:ext cx="0" cy="1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44" name="Line 47"/>
            <p:cNvSpPr>
              <a:spLocks noChangeShapeType="1"/>
            </p:cNvSpPr>
            <p:nvPr/>
          </p:nvSpPr>
          <p:spPr bwMode="auto">
            <a:xfrm flipV="1">
              <a:off x="4079" y="1159"/>
              <a:ext cx="0" cy="3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45" name="Line 48"/>
            <p:cNvSpPr>
              <a:spLocks noChangeShapeType="1"/>
            </p:cNvSpPr>
            <p:nvPr/>
          </p:nvSpPr>
          <p:spPr bwMode="auto">
            <a:xfrm flipV="1">
              <a:off x="4710" y="1158"/>
              <a:ext cx="0" cy="3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46" name="Line 49"/>
            <p:cNvSpPr>
              <a:spLocks noChangeShapeType="1"/>
            </p:cNvSpPr>
            <p:nvPr/>
          </p:nvSpPr>
          <p:spPr bwMode="auto">
            <a:xfrm flipH="1">
              <a:off x="4079" y="1165"/>
              <a:ext cx="6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47" name="Line 50"/>
            <p:cNvSpPr>
              <a:spLocks noChangeShapeType="1"/>
            </p:cNvSpPr>
            <p:nvPr/>
          </p:nvSpPr>
          <p:spPr bwMode="auto">
            <a:xfrm flipH="1">
              <a:off x="3767" y="1495"/>
              <a:ext cx="27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48" name="Line 51"/>
            <p:cNvSpPr>
              <a:spLocks noChangeShapeType="1"/>
            </p:cNvSpPr>
            <p:nvPr/>
          </p:nvSpPr>
          <p:spPr bwMode="auto">
            <a:xfrm flipH="1">
              <a:off x="4743" y="1495"/>
              <a:ext cx="27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49" name="Line 52"/>
            <p:cNvSpPr>
              <a:spLocks noChangeShapeType="1"/>
            </p:cNvSpPr>
            <p:nvPr/>
          </p:nvSpPr>
          <p:spPr bwMode="auto">
            <a:xfrm>
              <a:off x="3914" y="1463"/>
              <a:ext cx="0" cy="19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lgDash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50" name="Line 53"/>
            <p:cNvSpPr>
              <a:spLocks noChangeShapeType="1"/>
            </p:cNvSpPr>
            <p:nvPr/>
          </p:nvSpPr>
          <p:spPr bwMode="auto">
            <a:xfrm>
              <a:off x="3979" y="1495"/>
              <a:ext cx="0" cy="1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51" name="Freeform 54"/>
            <p:cNvSpPr>
              <a:spLocks/>
            </p:cNvSpPr>
            <p:nvPr/>
          </p:nvSpPr>
          <p:spPr bwMode="auto">
            <a:xfrm>
              <a:off x="3847" y="1489"/>
              <a:ext cx="2" cy="146"/>
            </a:xfrm>
            <a:custGeom>
              <a:avLst/>
              <a:gdLst>
                <a:gd name="T0" fmla="*/ 2 w 2"/>
                <a:gd name="T1" fmla="*/ 0 h 167"/>
                <a:gd name="T2" fmla="*/ 0 w 2"/>
                <a:gd name="T3" fmla="*/ 112 h 1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7">
                  <a:moveTo>
                    <a:pt x="2" y="0"/>
                  </a:moveTo>
                  <a:lnTo>
                    <a:pt x="0" y="167"/>
                  </a:ln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52" name="Freeform 55"/>
            <p:cNvSpPr>
              <a:spLocks/>
            </p:cNvSpPr>
            <p:nvPr/>
          </p:nvSpPr>
          <p:spPr bwMode="auto">
            <a:xfrm>
              <a:off x="4030" y="1459"/>
              <a:ext cx="54" cy="37"/>
            </a:xfrm>
            <a:custGeom>
              <a:avLst/>
              <a:gdLst>
                <a:gd name="T0" fmla="*/ 35 w 67"/>
                <a:gd name="T1" fmla="*/ 0 h 43"/>
                <a:gd name="T2" fmla="*/ 28 w 67"/>
                <a:gd name="T3" fmla="*/ 12 h 43"/>
                <a:gd name="T4" fmla="*/ 15 w 67"/>
                <a:gd name="T5" fmla="*/ 24 h 43"/>
                <a:gd name="T6" fmla="*/ 0 w 67"/>
                <a:gd name="T7" fmla="*/ 2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43">
                  <a:moveTo>
                    <a:pt x="67" y="0"/>
                  </a:moveTo>
                  <a:cubicBezTo>
                    <a:pt x="65" y="3"/>
                    <a:pt x="59" y="13"/>
                    <a:pt x="53" y="19"/>
                  </a:cubicBezTo>
                  <a:cubicBezTo>
                    <a:pt x="47" y="25"/>
                    <a:pt x="38" y="34"/>
                    <a:pt x="29" y="38"/>
                  </a:cubicBezTo>
                  <a:cubicBezTo>
                    <a:pt x="20" y="42"/>
                    <a:pt x="6" y="42"/>
                    <a:pt x="0" y="43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53" name="Freeform 56"/>
            <p:cNvSpPr>
              <a:spLocks/>
            </p:cNvSpPr>
            <p:nvPr/>
          </p:nvSpPr>
          <p:spPr bwMode="auto">
            <a:xfrm>
              <a:off x="4710" y="1459"/>
              <a:ext cx="43" cy="37"/>
            </a:xfrm>
            <a:custGeom>
              <a:avLst/>
              <a:gdLst>
                <a:gd name="T0" fmla="*/ 0 w 53"/>
                <a:gd name="T1" fmla="*/ 0 h 43"/>
                <a:gd name="T2" fmla="*/ 8 w 53"/>
                <a:gd name="T3" fmla="*/ 18 h 43"/>
                <a:gd name="T4" fmla="*/ 28 w 53"/>
                <a:gd name="T5" fmla="*/ 2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43">
                  <a:moveTo>
                    <a:pt x="0" y="0"/>
                  </a:moveTo>
                  <a:cubicBezTo>
                    <a:pt x="2" y="5"/>
                    <a:pt x="6" y="21"/>
                    <a:pt x="15" y="28"/>
                  </a:cubicBezTo>
                  <a:cubicBezTo>
                    <a:pt x="24" y="35"/>
                    <a:pt x="45" y="40"/>
                    <a:pt x="53" y="43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54" name="Freeform 57"/>
            <p:cNvSpPr>
              <a:spLocks/>
            </p:cNvSpPr>
            <p:nvPr/>
          </p:nvSpPr>
          <p:spPr bwMode="auto">
            <a:xfrm>
              <a:off x="3736" y="1496"/>
              <a:ext cx="37" cy="59"/>
            </a:xfrm>
            <a:custGeom>
              <a:avLst/>
              <a:gdLst>
                <a:gd name="T0" fmla="*/ 25 w 45"/>
                <a:gd name="T1" fmla="*/ 0 h 67"/>
                <a:gd name="T2" fmla="*/ 4 w 45"/>
                <a:gd name="T3" fmla="*/ 16 h 67"/>
                <a:gd name="T4" fmla="*/ 2 w 45"/>
                <a:gd name="T5" fmla="*/ 46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7">
                  <a:moveTo>
                    <a:pt x="45" y="0"/>
                  </a:moveTo>
                  <a:cubicBezTo>
                    <a:pt x="39" y="4"/>
                    <a:pt x="14" y="13"/>
                    <a:pt x="7" y="24"/>
                  </a:cubicBezTo>
                  <a:cubicBezTo>
                    <a:pt x="0" y="35"/>
                    <a:pt x="3" y="58"/>
                    <a:pt x="2" y="67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55" name="Freeform 58"/>
            <p:cNvSpPr>
              <a:spLocks/>
            </p:cNvSpPr>
            <p:nvPr/>
          </p:nvSpPr>
          <p:spPr bwMode="auto">
            <a:xfrm>
              <a:off x="5010" y="1495"/>
              <a:ext cx="51" cy="48"/>
            </a:xfrm>
            <a:custGeom>
              <a:avLst/>
              <a:gdLst>
                <a:gd name="T0" fmla="*/ 0 w 62"/>
                <a:gd name="T1" fmla="*/ 2 h 55"/>
                <a:gd name="T2" fmla="*/ 13 w 62"/>
                <a:gd name="T3" fmla="*/ 2 h 55"/>
                <a:gd name="T4" fmla="*/ 30 w 62"/>
                <a:gd name="T5" fmla="*/ 10 h 55"/>
                <a:gd name="T6" fmla="*/ 35 w 62"/>
                <a:gd name="T7" fmla="*/ 37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55">
                  <a:moveTo>
                    <a:pt x="0" y="2"/>
                  </a:moveTo>
                  <a:cubicBezTo>
                    <a:pt x="4" y="2"/>
                    <a:pt x="15" y="0"/>
                    <a:pt x="24" y="2"/>
                  </a:cubicBezTo>
                  <a:cubicBezTo>
                    <a:pt x="33" y="4"/>
                    <a:pt x="47" y="7"/>
                    <a:pt x="53" y="16"/>
                  </a:cubicBezTo>
                  <a:cubicBezTo>
                    <a:pt x="59" y="25"/>
                    <a:pt x="60" y="47"/>
                    <a:pt x="62" y="55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56" name="Freeform 59"/>
            <p:cNvSpPr>
              <a:spLocks/>
            </p:cNvSpPr>
            <p:nvPr/>
          </p:nvSpPr>
          <p:spPr bwMode="auto">
            <a:xfrm>
              <a:off x="4038" y="1457"/>
              <a:ext cx="159" cy="165"/>
            </a:xfrm>
            <a:custGeom>
              <a:avLst/>
              <a:gdLst>
                <a:gd name="T0" fmla="*/ 0 w 197"/>
                <a:gd name="T1" fmla="*/ 126 h 189"/>
                <a:gd name="T2" fmla="*/ 103 w 197"/>
                <a:gd name="T3" fmla="*/ 0 h 1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7" h="189">
                  <a:moveTo>
                    <a:pt x="0" y="189"/>
                  </a:moveTo>
                  <a:lnTo>
                    <a:pt x="197" y="0"/>
                  </a:ln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57" name="Line 60"/>
            <p:cNvSpPr>
              <a:spLocks noChangeShapeType="1"/>
            </p:cNvSpPr>
            <p:nvPr/>
          </p:nvSpPr>
          <p:spPr bwMode="auto">
            <a:xfrm flipV="1">
              <a:off x="3984" y="1349"/>
              <a:ext cx="205" cy="2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58" name="Line 61"/>
            <p:cNvSpPr>
              <a:spLocks noChangeShapeType="1"/>
            </p:cNvSpPr>
            <p:nvPr/>
          </p:nvSpPr>
          <p:spPr bwMode="auto">
            <a:xfrm flipV="1">
              <a:off x="4081" y="1235"/>
              <a:ext cx="109" cy="11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59" name="Line 62"/>
            <p:cNvSpPr>
              <a:spLocks noChangeShapeType="1"/>
            </p:cNvSpPr>
            <p:nvPr/>
          </p:nvSpPr>
          <p:spPr bwMode="auto">
            <a:xfrm flipV="1">
              <a:off x="4081" y="1165"/>
              <a:ext cx="69" cy="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0" name="Line 63"/>
            <p:cNvSpPr>
              <a:spLocks noChangeShapeType="1"/>
            </p:cNvSpPr>
            <p:nvPr/>
          </p:nvSpPr>
          <p:spPr bwMode="auto">
            <a:xfrm flipV="1">
              <a:off x="3785" y="1567"/>
              <a:ext cx="58" cy="6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1" name="Line 64"/>
            <p:cNvSpPr>
              <a:spLocks noChangeShapeType="1"/>
            </p:cNvSpPr>
            <p:nvPr/>
          </p:nvSpPr>
          <p:spPr bwMode="auto">
            <a:xfrm flipV="1">
              <a:off x="3742" y="1492"/>
              <a:ext cx="66" cy="7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2" name="Line 65"/>
            <p:cNvSpPr>
              <a:spLocks noChangeShapeType="1"/>
            </p:cNvSpPr>
            <p:nvPr/>
          </p:nvSpPr>
          <p:spPr bwMode="auto">
            <a:xfrm flipV="1">
              <a:off x="4139" y="1571"/>
              <a:ext cx="54" cy="6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3" name="Line 66"/>
            <p:cNvSpPr>
              <a:spLocks noChangeShapeType="1"/>
            </p:cNvSpPr>
            <p:nvPr/>
          </p:nvSpPr>
          <p:spPr bwMode="auto">
            <a:xfrm flipV="1">
              <a:off x="4609" y="1488"/>
              <a:ext cx="132" cy="1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4" name="Line 67"/>
            <p:cNvSpPr>
              <a:spLocks noChangeShapeType="1"/>
            </p:cNvSpPr>
            <p:nvPr/>
          </p:nvSpPr>
          <p:spPr bwMode="auto">
            <a:xfrm flipV="1">
              <a:off x="4710" y="1496"/>
              <a:ext cx="128" cy="1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" name="Freeform 68"/>
            <p:cNvSpPr>
              <a:spLocks/>
            </p:cNvSpPr>
            <p:nvPr/>
          </p:nvSpPr>
          <p:spPr bwMode="auto">
            <a:xfrm>
              <a:off x="4819" y="1489"/>
              <a:ext cx="133" cy="142"/>
            </a:xfrm>
            <a:custGeom>
              <a:avLst/>
              <a:gdLst>
                <a:gd name="T0" fmla="*/ 0 w 164"/>
                <a:gd name="T1" fmla="*/ 109 h 162"/>
                <a:gd name="T2" fmla="*/ 88 w 164"/>
                <a:gd name="T3" fmla="*/ 0 h 1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4" h="162">
                  <a:moveTo>
                    <a:pt x="0" y="162"/>
                  </a:moveTo>
                  <a:lnTo>
                    <a:pt x="164" y="0"/>
                  </a:ln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6" name="Line 69"/>
            <p:cNvSpPr>
              <a:spLocks noChangeShapeType="1"/>
            </p:cNvSpPr>
            <p:nvPr/>
          </p:nvSpPr>
          <p:spPr bwMode="auto">
            <a:xfrm flipV="1">
              <a:off x="4917" y="1500"/>
              <a:ext cx="120" cy="1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7" name="Line 70"/>
            <p:cNvSpPr>
              <a:spLocks noChangeShapeType="1"/>
            </p:cNvSpPr>
            <p:nvPr/>
          </p:nvSpPr>
          <p:spPr bwMode="auto">
            <a:xfrm flipV="1">
              <a:off x="5030" y="1593"/>
              <a:ext cx="26" cy="2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8" name="Line 71"/>
            <p:cNvSpPr>
              <a:spLocks noChangeShapeType="1"/>
            </p:cNvSpPr>
            <p:nvPr/>
          </p:nvSpPr>
          <p:spPr bwMode="auto">
            <a:xfrm flipV="1">
              <a:off x="4606" y="1417"/>
              <a:ext cx="100" cy="10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9" name="Freeform 72"/>
            <p:cNvSpPr>
              <a:spLocks/>
            </p:cNvSpPr>
            <p:nvPr/>
          </p:nvSpPr>
          <p:spPr bwMode="auto">
            <a:xfrm>
              <a:off x="4606" y="1292"/>
              <a:ext cx="110" cy="121"/>
            </a:xfrm>
            <a:custGeom>
              <a:avLst/>
              <a:gdLst>
                <a:gd name="T0" fmla="*/ 0 w 136"/>
                <a:gd name="T1" fmla="*/ 93 h 138"/>
                <a:gd name="T2" fmla="*/ 72 w 136"/>
                <a:gd name="T3" fmla="*/ 0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6" h="138">
                  <a:moveTo>
                    <a:pt x="0" y="138"/>
                  </a:moveTo>
                  <a:lnTo>
                    <a:pt x="136" y="0"/>
                  </a:ln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70" name="Freeform 73"/>
            <p:cNvSpPr>
              <a:spLocks/>
            </p:cNvSpPr>
            <p:nvPr/>
          </p:nvSpPr>
          <p:spPr bwMode="auto">
            <a:xfrm>
              <a:off x="4604" y="1177"/>
              <a:ext cx="112" cy="128"/>
            </a:xfrm>
            <a:custGeom>
              <a:avLst/>
              <a:gdLst>
                <a:gd name="T0" fmla="*/ 0 w 138"/>
                <a:gd name="T1" fmla="*/ 98 h 146"/>
                <a:gd name="T2" fmla="*/ 74 w 138"/>
                <a:gd name="T3" fmla="*/ 0 h 1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8" h="146">
                  <a:moveTo>
                    <a:pt x="0" y="146"/>
                  </a:moveTo>
                  <a:lnTo>
                    <a:pt x="138" y="0"/>
                  </a:ln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71" name="Line 74"/>
            <p:cNvSpPr>
              <a:spLocks noChangeShapeType="1"/>
            </p:cNvSpPr>
            <p:nvPr/>
          </p:nvSpPr>
          <p:spPr bwMode="auto">
            <a:xfrm flipV="1">
              <a:off x="4609" y="1164"/>
              <a:ext cx="32" cy="3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72" name="Line 75"/>
            <p:cNvSpPr>
              <a:spLocks noChangeShapeType="1"/>
            </p:cNvSpPr>
            <p:nvPr/>
          </p:nvSpPr>
          <p:spPr bwMode="auto">
            <a:xfrm>
              <a:off x="5076" y="2546"/>
              <a:ext cx="8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73" name="Line 76"/>
            <p:cNvSpPr>
              <a:spLocks noChangeShapeType="1"/>
            </p:cNvSpPr>
            <p:nvPr/>
          </p:nvSpPr>
          <p:spPr bwMode="auto">
            <a:xfrm>
              <a:off x="3628" y="2548"/>
              <a:ext cx="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74" name="Freeform 77"/>
            <p:cNvSpPr>
              <a:spLocks/>
            </p:cNvSpPr>
            <p:nvPr/>
          </p:nvSpPr>
          <p:spPr bwMode="auto">
            <a:xfrm>
              <a:off x="3614" y="2395"/>
              <a:ext cx="6" cy="150"/>
            </a:xfrm>
            <a:custGeom>
              <a:avLst/>
              <a:gdLst>
                <a:gd name="T0" fmla="*/ 6 w 6"/>
                <a:gd name="T1" fmla="*/ 167 h 142"/>
                <a:gd name="T2" fmla="*/ 0 w 6"/>
                <a:gd name="T3" fmla="*/ 0 h 1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2">
                  <a:moveTo>
                    <a:pt x="6" y="142"/>
                  </a:move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75" name="Freeform 78"/>
            <p:cNvSpPr>
              <a:spLocks/>
            </p:cNvSpPr>
            <p:nvPr/>
          </p:nvSpPr>
          <p:spPr bwMode="auto">
            <a:xfrm>
              <a:off x="5156" y="2395"/>
              <a:ext cx="2" cy="150"/>
            </a:xfrm>
            <a:custGeom>
              <a:avLst/>
              <a:gdLst>
                <a:gd name="T0" fmla="*/ 2 w 2"/>
                <a:gd name="T1" fmla="*/ 167 h 142"/>
                <a:gd name="T2" fmla="*/ 0 w 2"/>
                <a:gd name="T3" fmla="*/ 0 h 1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2">
                  <a:moveTo>
                    <a:pt x="2" y="142"/>
                  </a:move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76" name="Text Box 79"/>
            <p:cNvSpPr txBox="1">
              <a:spLocks noChangeArrowheads="1"/>
            </p:cNvSpPr>
            <p:nvPr/>
          </p:nvSpPr>
          <p:spPr bwMode="auto">
            <a:xfrm>
              <a:off x="4117" y="913"/>
              <a:ext cx="56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B</a:t>
              </a:r>
              <a:r>
                <a:rPr kumimoji="1" lang="zh-CN" altLang="en-US" sz="2400" b="1" i="1">
                  <a:latin typeface="Times New Roman" panose="02020603050405020304" pitchFamily="18" charset="0"/>
                </a:rPr>
                <a:t>－</a:t>
              </a:r>
              <a:r>
                <a:rPr kumimoji="1" lang="en-US" altLang="zh-CN" sz="2400" b="1" i="1">
                  <a:latin typeface="Times New Roman" panose="02020603050405020304" pitchFamily="18" charset="0"/>
                </a:rPr>
                <a:t>B</a:t>
              </a:r>
            </a:p>
          </p:txBody>
        </p:sp>
        <p:sp>
          <p:nvSpPr>
            <p:cNvPr id="77" name="Text Box 80"/>
            <p:cNvSpPr txBox="1">
              <a:spLocks noChangeArrowheads="1"/>
            </p:cNvSpPr>
            <p:nvPr/>
          </p:nvSpPr>
          <p:spPr bwMode="auto">
            <a:xfrm>
              <a:off x="3494" y="2493"/>
              <a:ext cx="24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B</a:t>
              </a:r>
            </a:p>
          </p:txBody>
        </p:sp>
        <p:sp>
          <p:nvSpPr>
            <p:cNvPr id="78" name="Text Box 81"/>
            <p:cNvSpPr txBox="1">
              <a:spLocks noChangeArrowheads="1"/>
            </p:cNvSpPr>
            <p:nvPr/>
          </p:nvSpPr>
          <p:spPr bwMode="auto">
            <a:xfrm>
              <a:off x="5083" y="2487"/>
              <a:ext cx="19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kumimoji="1" lang="en-US" altLang="zh-CN" sz="2400" b="1" i="1">
                  <a:latin typeface="Times New Roman" panose="02020603050405020304" pitchFamily="18" charset="0"/>
                </a:rPr>
                <a:t>B</a:t>
              </a:r>
            </a:p>
          </p:txBody>
        </p:sp>
        <p:sp>
          <p:nvSpPr>
            <p:cNvPr id="79" name="Line 82"/>
            <p:cNvSpPr>
              <a:spLocks noChangeShapeType="1"/>
            </p:cNvSpPr>
            <p:nvPr/>
          </p:nvSpPr>
          <p:spPr bwMode="auto">
            <a:xfrm>
              <a:off x="4710" y="1190"/>
              <a:ext cx="342" cy="3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0" name="Line 83"/>
            <p:cNvSpPr>
              <a:spLocks noChangeShapeType="1"/>
            </p:cNvSpPr>
            <p:nvPr/>
          </p:nvSpPr>
          <p:spPr bwMode="auto">
            <a:xfrm flipH="1">
              <a:off x="3744" y="1190"/>
              <a:ext cx="334" cy="3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1" name="Arc 84"/>
            <p:cNvSpPr>
              <a:spLocks/>
            </p:cNvSpPr>
            <p:nvPr/>
          </p:nvSpPr>
          <p:spPr bwMode="auto">
            <a:xfrm rot="16200000" flipH="1">
              <a:off x="4011" y="2550"/>
              <a:ext cx="383" cy="403"/>
            </a:xfrm>
            <a:custGeom>
              <a:avLst/>
              <a:gdLst>
                <a:gd name="T0" fmla="*/ 0 w 18562"/>
                <a:gd name="T1" fmla="*/ 0 h 17880"/>
                <a:gd name="T2" fmla="*/ 0 w 18562"/>
                <a:gd name="T3" fmla="*/ 0 h 17880"/>
                <a:gd name="T4" fmla="*/ 0 w 18562"/>
                <a:gd name="T5" fmla="*/ 0 h 178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62" h="17880" fill="none" extrusionOk="0">
                  <a:moveTo>
                    <a:pt x="12118" y="-1"/>
                  </a:moveTo>
                  <a:cubicBezTo>
                    <a:pt x="14741" y="1777"/>
                    <a:pt x="16941" y="4110"/>
                    <a:pt x="18561" y="6834"/>
                  </a:cubicBezTo>
                </a:path>
                <a:path w="18562" h="17880" stroke="0" extrusionOk="0">
                  <a:moveTo>
                    <a:pt x="12118" y="-1"/>
                  </a:moveTo>
                  <a:cubicBezTo>
                    <a:pt x="14741" y="1777"/>
                    <a:pt x="16941" y="4110"/>
                    <a:pt x="18561" y="6834"/>
                  </a:cubicBezTo>
                  <a:lnTo>
                    <a:pt x="0" y="17880"/>
                  </a:lnTo>
                  <a:lnTo>
                    <a:pt x="12118" y="-1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83" name="Group 183"/>
          <p:cNvGrpSpPr>
            <a:grpSpLocks/>
          </p:cNvGrpSpPr>
          <p:nvPr/>
        </p:nvGrpSpPr>
        <p:grpSpPr bwMode="auto">
          <a:xfrm>
            <a:off x="3100967" y="1416050"/>
            <a:ext cx="2297112" cy="1281113"/>
            <a:chOff x="1397" y="892"/>
            <a:chExt cx="1447" cy="807"/>
          </a:xfrm>
        </p:grpSpPr>
        <p:sp>
          <p:nvSpPr>
            <p:cNvPr id="84" name="Line 89"/>
            <p:cNvSpPr>
              <a:spLocks noChangeShapeType="1"/>
            </p:cNvSpPr>
            <p:nvPr/>
          </p:nvSpPr>
          <p:spPr bwMode="auto">
            <a:xfrm>
              <a:off x="1616" y="1421"/>
              <a:ext cx="0" cy="27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lgDash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5" name="Freeform 90"/>
            <p:cNvSpPr>
              <a:spLocks/>
            </p:cNvSpPr>
            <p:nvPr/>
          </p:nvSpPr>
          <p:spPr bwMode="auto">
            <a:xfrm>
              <a:off x="1404" y="1505"/>
              <a:ext cx="1" cy="143"/>
            </a:xfrm>
            <a:custGeom>
              <a:avLst/>
              <a:gdLst>
                <a:gd name="T0" fmla="*/ 0 w 1"/>
                <a:gd name="T1" fmla="*/ 127 h 152"/>
                <a:gd name="T2" fmla="*/ 0 w 1"/>
                <a:gd name="T3" fmla="*/ 0 h 1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2">
                  <a:moveTo>
                    <a:pt x="0" y="152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6" name="Freeform 91"/>
            <p:cNvSpPr>
              <a:spLocks/>
            </p:cNvSpPr>
            <p:nvPr/>
          </p:nvSpPr>
          <p:spPr bwMode="auto">
            <a:xfrm>
              <a:off x="1771" y="1416"/>
              <a:ext cx="40" cy="52"/>
            </a:xfrm>
            <a:custGeom>
              <a:avLst/>
              <a:gdLst>
                <a:gd name="T0" fmla="*/ 30 w 46"/>
                <a:gd name="T1" fmla="*/ 0 h 55"/>
                <a:gd name="T2" fmla="*/ 27 w 46"/>
                <a:gd name="T3" fmla="*/ 30 h 55"/>
                <a:gd name="T4" fmla="*/ 15 w 46"/>
                <a:gd name="T5" fmla="*/ 43 h 55"/>
                <a:gd name="T6" fmla="*/ 0 w 46"/>
                <a:gd name="T7" fmla="*/ 46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55">
                  <a:moveTo>
                    <a:pt x="46" y="0"/>
                  </a:moveTo>
                  <a:cubicBezTo>
                    <a:pt x="46" y="6"/>
                    <a:pt x="45" y="28"/>
                    <a:pt x="41" y="36"/>
                  </a:cubicBezTo>
                  <a:cubicBezTo>
                    <a:pt x="37" y="44"/>
                    <a:pt x="30" y="48"/>
                    <a:pt x="23" y="51"/>
                  </a:cubicBezTo>
                  <a:cubicBezTo>
                    <a:pt x="16" y="54"/>
                    <a:pt x="5" y="54"/>
                    <a:pt x="0" y="55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7" name="Freeform 92"/>
            <p:cNvSpPr>
              <a:spLocks/>
            </p:cNvSpPr>
            <p:nvPr/>
          </p:nvSpPr>
          <p:spPr bwMode="auto">
            <a:xfrm>
              <a:off x="1402" y="1638"/>
              <a:ext cx="1438" cy="2"/>
            </a:xfrm>
            <a:custGeom>
              <a:avLst/>
              <a:gdLst>
                <a:gd name="T0" fmla="*/ 0 w 1644"/>
                <a:gd name="T1" fmla="*/ 0 h 2"/>
                <a:gd name="T2" fmla="*/ 1100 w 1644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44" h="2">
                  <a:moveTo>
                    <a:pt x="0" y="0"/>
                  </a:moveTo>
                  <a:lnTo>
                    <a:pt x="1644" y="2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8" name="Rectangle 93"/>
            <p:cNvSpPr>
              <a:spLocks noChangeArrowheads="1"/>
            </p:cNvSpPr>
            <p:nvPr/>
          </p:nvSpPr>
          <p:spPr bwMode="auto">
            <a:xfrm>
              <a:off x="2004" y="895"/>
              <a:ext cx="248" cy="233"/>
            </a:xfrm>
            <a:prstGeom prst="rect">
              <a:avLst/>
            </a:prstGeom>
            <a:noFill/>
            <a:ln w="3810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89" name="Line 94"/>
            <p:cNvSpPr>
              <a:spLocks noChangeShapeType="1"/>
            </p:cNvSpPr>
            <p:nvPr/>
          </p:nvSpPr>
          <p:spPr bwMode="auto">
            <a:xfrm flipV="1">
              <a:off x="2437" y="959"/>
              <a:ext cx="0" cy="4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" name="Line 95"/>
            <p:cNvSpPr>
              <a:spLocks noChangeShapeType="1"/>
            </p:cNvSpPr>
            <p:nvPr/>
          </p:nvSpPr>
          <p:spPr bwMode="auto">
            <a:xfrm flipV="1">
              <a:off x="1808" y="952"/>
              <a:ext cx="0" cy="4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" name="Freeform 96"/>
            <p:cNvSpPr>
              <a:spLocks/>
            </p:cNvSpPr>
            <p:nvPr/>
          </p:nvSpPr>
          <p:spPr bwMode="auto">
            <a:xfrm>
              <a:off x="1863" y="893"/>
              <a:ext cx="515" cy="2"/>
            </a:xfrm>
            <a:custGeom>
              <a:avLst/>
              <a:gdLst>
                <a:gd name="T0" fmla="*/ 0 w 589"/>
                <a:gd name="T1" fmla="*/ 1 h 3"/>
                <a:gd name="T2" fmla="*/ 393 w 58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9" h="3">
                  <a:moveTo>
                    <a:pt x="0" y="3"/>
                  </a:moveTo>
                  <a:lnTo>
                    <a:pt x="589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2" name="Line 97"/>
            <p:cNvSpPr>
              <a:spLocks noChangeShapeType="1"/>
            </p:cNvSpPr>
            <p:nvPr/>
          </p:nvSpPr>
          <p:spPr bwMode="auto">
            <a:xfrm>
              <a:off x="2467" y="1467"/>
              <a:ext cx="3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" name="Line 98"/>
            <p:cNvSpPr>
              <a:spLocks noChangeShapeType="1"/>
            </p:cNvSpPr>
            <p:nvPr/>
          </p:nvSpPr>
          <p:spPr bwMode="auto">
            <a:xfrm flipV="1">
              <a:off x="2840" y="1499"/>
              <a:ext cx="0" cy="1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" name="Freeform 99"/>
            <p:cNvSpPr>
              <a:spLocks/>
            </p:cNvSpPr>
            <p:nvPr/>
          </p:nvSpPr>
          <p:spPr bwMode="auto">
            <a:xfrm>
              <a:off x="1740" y="1471"/>
              <a:ext cx="1" cy="60"/>
            </a:xfrm>
            <a:custGeom>
              <a:avLst/>
              <a:gdLst>
                <a:gd name="T0" fmla="*/ 1 w 1"/>
                <a:gd name="T1" fmla="*/ 53 h 64"/>
                <a:gd name="T2" fmla="*/ 0 w 1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4">
                  <a:moveTo>
                    <a:pt x="1" y="64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" name="Freeform 100"/>
            <p:cNvSpPr>
              <a:spLocks/>
            </p:cNvSpPr>
            <p:nvPr/>
          </p:nvSpPr>
          <p:spPr bwMode="auto">
            <a:xfrm>
              <a:off x="1494" y="1526"/>
              <a:ext cx="247" cy="1"/>
            </a:xfrm>
            <a:custGeom>
              <a:avLst/>
              <a:gdLst>
                <a:gd name="T0" fmla="*/ 0 w 282"/>
                <a:gd name="T1" fmla="*/ 1 h 1"/>
                <a:gd name="T2" fmla="*/ 189 w 28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2" h="1">
                  <a:moveTo>
                    <a:pt x="0" y="1"/>
                  </a:moveTo>
                  <a:lnTo>
                    <a:pt x="282" y="0"/>
                  </a:ln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" name="Freeform 101"/>
            <p:cNvSpPr>
              <a:spLocks/>
            </p:cNvSpPr>
            <p:nvPr/>
          </p:nvSpPr>
          <p:spPr bwMode="auto">
            <a:xfrm>
              <a:off x="1693" y="1524"/>
              <a:ext cx="1" cy="116"/>
            </a:xfrm>
            <a:custGeom>
              <a:avLst/>
              <a:gdLst>
                <a:gd name="T0" fmla="*/ 0 w 1"/>
                <a:gd name="T1" fmla="*/ 0 h 123"/>
                <a:gd name="T2" fmla="*/ 0 w 1"/>
                <a:gd name="T3" fmla="*/ 103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3">
                  <a:moveTo>
                    <a:pt x="0" y="0"/>
                  </a:moveTo>
                  <a:lnTo>
                    <a:pt x="0" y="123"/>
                  </a:ln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" name="Line 102"/>
            <p:cNvSpPr>
              <a:spLocks noChangeShapeType="1"/>
            </p:cNvSpPr>
            <p:nvPr/>
          </p:nvSpPr>
          <p:spPr bwMode="auto">
            <a:xfrm>
              <a:off x="2374" y="893"/>
              <a:ext cx="63" cy="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" name="Line 103"/>
            <p:cNvSpPr>
              <a:spLocks noChangeShapeType="1"/>
            </p:cNvSpPr>
            <p:nvPr/>
          </p:nvSpPr>
          <p:spPr bwMode="auto">
            <a:xfrm flipH="1">
              <a:off x="1811" y="892"/>
              <a:ext cx="57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" name="Freeform 104"/>
            <p:cNvSpPr>
              <a:spLocks/>
            </p:cNvSpPr>
            <p:nvPr/>
          </p:nvSpPr>
          <p:spPr bwMode="auto">
            <a:xfrm>
              <a:off x="2813" y="1466"/>
              <a:ext cx="28" cy="44"/>
            </a:xfrm>
            <a:custGeom>
              <a:avLst/>
              <a:gdLst>
                <a:gd name="T0" fmla="*/ 0 w 32"/>
                <a:gd name="T1" fmla="*/ 0 h 46"/>
                <a:gd name="T2" fmla="*/ 18 w 32"/>
                <a:gd name="T3" fmla="*/ 19 h 46"/>
                <a:gd name="T4" fmla="*/ 21 w 32"/>
                <a:gd name="T5" fmla="*/ 4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6">
                  <a:moveTo>
                    <a:pt x="0" y="0"/>
                  </a:moveTo>
                  <a:cubicBezTo>
                    <a:pt x="4" y="4"/>
                    <a:pt x="22" y="14"/>
                    <a:pt x="27" y="22"/>
                  </a:cubicBezTo>
                  <a:cubicBezTo>
                    <a:pt x="32" y="30"/>
                    <a:pt x="30" y="41"/>
                    <a:pt x="31" y="46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" name="Line 105"/>
            <p:cNvSpPr>
              <a:spLocks noChangeShapeType="1"/>
            </p:cNvSpPr>
            <p:nvPr/>
          </p:nvSpPr>
          <p:spPr bwMode="auto">
            <a:xfrm>
              <a:off x="2281" y="1168"/>
              <a:ext cx="0" cy="4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1" name="Freeform 106"/>
            <p:cNvSpPr>
              <a:spLocks/>
            </p:cNvSpPr>
            <p:nvPr/>
          </p:nvSpPr>
          <p:spPr bwMode="auto">
            <a:xfrm>
              <a:off x="2249" y="1128"/>
              <a:ext cx="35" cy="47"/>
            </a:xfrm>
            <a:custGeom>
              <a:avLst/>
              <a:gdLst>
                <a:gd name="T0" fmla="*/ 0 w 39"/>
                <a:gd name="T1" fmla="*/ 0 h 50"/>
                <a:gd name="T2" fmla="*/ 21 w 39"/>
                <a:gd name="T3" fmla="*/ 16 h 50"/>
                <a:gd name="T4" fmla="*/ 28 w 39"/>
                <a:gd name="T5" fmla="*/ 4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0" y="0"/>
                  </a:moveTo>
                  <a:cubicBezTo>
                    <a:pt x="5" y="3"/>
                    <a:pt x="23" y="11"/>
                    <a:pt x="29" y="19"/>
                  </a:cubicBezTo>
                  <a:cubicBezTo>
                    <a:pt x="35" y="27"/>
                    <a:pt x="37" y="44"/>
                    <a:pt x="39" y="5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2" name="Freeform 107"/>
            <p:cNvSpPr>
              <a:spLocks/>
            </p:cNvSpPr>
            <p:nvPr/>
          </p:nvSpPr>
          <p:spPr bwMode="auto">
            <a:xfrm>
              <a:off x="2434" y="1058"/>
              <a:ext cx="385" cy="413"/>
            </a:xfrm>
            <a:custGeom>
              <a:avLst/>
              <a:gdLst>
                <a:gd name="T0" fmla="*/ 295 w 440"/>
                <a:gd name="T1" fmla="*/ 366 h 439"/>
                <a:gd name="T2" fmla="*/ 0 w 440"/>
                <a:gd name="T3" fmla="*/ 0 h 4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0" h="439">
                  <a:moveTo>
                    <a:pt x="440" y="439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3" name="Line 108"/>
            <p:cNvSpPr>
              <a:spLocks noChangeShapeType="1"/>
            </p:cNvSpPr>
            <p:nvPr/>
          </p:nvSpPr>
          <p:spPr bwMode="auto">
            <a:xfrm flipH="1">
              <a:off x="1429" y="1061"/>
              <a:ext cx="381" cy="4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" name="Freeform 109"/>
            <p:cNvSpPr>
              <a:spLocks/>
            </p:cNvSpPr>
            <p:nvPr/>
          </p:nvSpPr>
          <p:spPr bwMode="auto">
            <a:xfrm>
              <a:off x="2437" y="1418"/>
              <a:ext cx="42" cy="50"/>
            </a:xfrm>
            <a:custGeom>
              <a:avLst/>
              <a:gdLst>
                <a:gd name="T0" fmla="*/ 0 w 48"/>
                <a:gd name="T1" fmla="*/ 0 h 53"/>
                <a:gd name="T2" fmla="*/ 10 w 48"/>
                <a:gd name="T3" fmla="*/ 30 h 53"/>
                <a:gd name="T4" fmla="*/ 32 w 48"/>
                <a:gd name="T5" fmla="*/ 4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0" y="0"/>
                  </a:moveTo>
                  <a:cubicBezTo>
                    <a:pt x="2" y="6"/>
                    <a:pt x="6" y="27"/>
                    <a:pt x="14" y="36"/>
                  </a:cubicBezTo>
                  <a:cubicBezTo>
                    <a:pt x="22" y="45"/>
                    <a:pt x="41" y="50"/>
                    <a:pt x="48" y="53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5" name="Freeform 110"/>
            <p:cNvSpPr>
              <a:spLocks/>
            </p:cNvSpPr>
            <p:nvPr/>
          </p:nvSpPr>
          <p:spPr bwMode="auto">
            <a:xfrm>
              <a:off x="1401" y="1468"/>
              <a:ext cx="30" cy="45"/>
            </a:xfrm>
            <a:custGeom>
              <a:avLst/>
              <a:gdLst>
                <a:gd name="T0" fmla="*/ 23 w 34"/>
                <a:gd name="T1" fmla="*/ 0 h 48"/>
                <a:gd name="T2" fmla="*/ 10 w 34"/>
                <a:gd name="T3" fmla="*/ 12 h 48"/>
                <a:gd name="T4" fmla="*/ 0 w 34"/>
                <a:gd name="T5" fmla="*/ 3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8">
                  <a:moveTo>
                    <a:pt x="34" y="0"/>
                  </a:moveTo>
                  <a:cubicBezTo>
                    <a:pt x="31" y="2"/>
                    <a:pt x="20" y="7"/>
                    <a:pt x="14" y="15"/>
                  </a:cubicBezTo>
                  <a:cubicBezTo>
                    <a:pt x="8" y="23"/>
                    <a:pt x="3" y="41"/>
                    <a:pt x="0" y="48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6" name="Freeform 111"/>
            <p:cNvSpPr>
              <a:spLocks/>
            </p:cNvSpPr>
            <p:nvPr/>
          </p:nvSpPr>
          <p:spPr bwMode="auto">
            <a:xfrm>
              <a:off x="1973" y="1129"/>
              <a:ext cx="28" cy="36"/>
            </a:xfrm>
            <a:custGeom>
              <a:avLst/>
              <a:gdLst>
                <a:gd name="T0" fmla="*/ 22 w 32"/>
                <a:gd name="T1" fmla="*/ 0 h 38"/>
                <a:gd name="T2" fmla="*/ 6 w 32"/>
                <a:gd name="T3" fmla="*/ 9 h 38"/>
                <a:gd name="T4" fmla="*/ 0 w 32"/>
                <a:gd name="T5" fmla="*/ 3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8">
                  <a:moveTo>
                    <a:pt x="32" y="0"/>
                  </a:moveTo>
                  <a:cubicBezTo>
                    <a:pt x="28" y="2"/>
                    <a:pt x="14" y="6"/>
                    <a:pt x="9" y="12"/>
                  </a:cubicBezTo>
                  <a:cubicBezTo>
                    <a:pt x="4" y="18"/>
                    <a:pt x="2" y="33"/>
                    <a:pt x="0" y="38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7" name="Freeform 112"/>
            <p:cNvSpPr>
              <a:spLocks/>
            </p:cNvSpPr>
            <p:nvPr/>
          </p:nvSpPr>
          <p:spPr bwMode="auto">
            <a:xfrm>
              <a:off x="1693" y="1321"/>
              <a:ext cx="290" cy="310"/>
            </a:xfrm>
            <a:custGeom>
              <a:avLst/>
              <a:gdLst>
                <a:gd name="T0" fmla="*/ 0 w 331"/>
                <a:gd name="T1" fmla="*/ 272 h 331"/>
                <a:gd name="T2" fmla="*/ 223 w 331"/>
                <a:gd name="T3" fmla="*/ 0 h 3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1" h="331">
                  <a:moveTo>
                    <a:pt x="0" y="331"/>
                  </a:moveTo>
                  <a:lnTo>
                    <a:pt x="331" y="0"/>
                  </a:ln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8" name="Freeform 113"/>
            <p:cNvSpPr>
              <a:spLocks/>
            </p:cNvSpPr>
            <p:nvPr/>
          </p:nvSpPr>
          <p:spPr bwMode="auto">
            <a:xfrm>
              <a:off x="1798" y="1450"/>
              <a:ext cx="179" cy="192"/>
            </a:xfrm>
            <a:custGeom>
              <a:avLst/>
              <a:gdLst>
                <a:gd name="T0" fmla="*/ 0 w 204"/>
                <a:gd name="T1" fmla="*/ 170 h 204"/>
                <a:gd name="T2" fmla="*/ 138 w 204"/>
                <a:gd name="T3" fmla="*/ 0 h 2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4" h="204">
                  <a:moveTo>
                    <a:pt x="0" y="204"/>
                  </a:moveTo>
                  <a:lnTo>
                    <a:pt x="204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9" name="Freeform 114"/>
            <p:cNvSpPr>
              <a:spLocks/>
            </p:cNvSpPr>
            <p:nvPr/>
          </p:nvSpPr>
          <p:spPr bwMode="auto">
            <a:xfrm>
              <a:off x="1811" y="1210"/>
              <a:ext cx="166" cy="179"/>
            </a:xfrm>
            <a:custGeom>
              <a:avLst/>
              <a:gdLst>
                <a:gd name="T0" fmla="*/ 0 w 190"/>
                <a:gd name="T1" fmla="*/ 159 h 190"/>
                <a:gd name="T2" fmla="*/ 127 w 190"/>
                <a:gd name="T3" fmla="*/ 0 h 1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0" h="190">
                  <a:moveTo>
                    <a:pt x="0" y="190"/>
                  </a:moveTo>
                  <a:lnTo>
                    <a:pt x="190" y="0"/>
                  </a:ln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10" name="Freeform 115"/>
            <p:cNvSpPr>
              <a:spLocks/>
            </p:cNvSpPr>
            <p:nvPr/>
          </p:nvSpPr>
          <p:spPr bwMode="auto">
            <a:xfrm>
              <a:off x="1812" y="1067"/>
              <a:ext cx="189" cy="203"/>
            </a:xfrm>
            <a:custGeom>
              <a:avLst/>
              <a:gdLst>
                <a:gd name="T0" fmla="*/ 0 w 216"/>
                <a:gd name="T1" fmla="*/ 180 h 216"/>
                <a:gd name="T2" fmla="*/ 144 w 216"/>
                <a:gd name="T3" fmla="*/ 0 h 2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6" h="216">
                  <a:moveTo>
                    <a:pt x="0" y="216"/>
                  </a:moveTo>
                  <a:lnTo>
                    <a:pt x="216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11" name="Line 116"/>
            <p:cNvSpPr>
              <a:spLocks noChangeShapeType="1"/>
            </p:cNvSpPr>
            <p:nvPr/>
          </p:nvSpPr>
          <p:spPr bwMode="auto">
            <a:xfrm flipV="1">
              <a:off x="1812" y="939"/>
              <a:ext cx="198" cy="21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12" name="Freeform 117"/>
            <p:cNvSpPr>
              <a:spLocks/>
            </p:cNvSpPr>
            <p:nvPr/>
          </p:nvSpPr>
          <p:spPr bwMode="auto">
            <a:xfrm>
              <a:off x="1808" y="896"/>
              <a:ext cx="135" cy="147"/>
            </a:xfrm>
            <a:custGeom>
              <a:avLst/>
              <a:gdLst>
                <a:gd name="T0" fmla="*/ 0 w 154"/>
                <a:gd name="T1" fmla="*/ 131 h 156"/>
                <a:gd name="T2" fmla="*/ 103 w 154"/>
                <a:gd name="T3" fmla="*/ 0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4" h="156">
                  <a:moveTo>
                    <a:pt x="0" y="156"/>
                  </a:moveTo>
                  <a:lnTo>
                    <a:pt x="154" y="0"/>
                  </a:ln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13" name="Freeform 118"/>
            <p:cNvSpPr>
              <a:spLocks/>
            </p:cNvSpPr>
            <p:nvPr/>
          </p:nvSpPr>
          <p:spPr bwMode="auto">
            <a:xfrm>
              <a:off x="1471" y="1566"/>
              <a:ext cx="65" cy="73"/>
            </a:xfrm>
            <a:custGeom>
              <a:avLst/>
              <a:gdLst>
                <a:gd name="T0" fmla="*/ 0 w 74"/>
                <a:gd name="T1" fmla="*/ 67 h 76"/>
                <a:gd name="T2" fmla="*/ 50 w 74"/>
                <a:gd name="T3" fmla="*/ 0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76">
                  <a:moveTo>
                    <a:pt x="0" y="76"/>
                  </a:moveTo>
                  <a:lnTo>
                    <a:pt x="74" y="0"/>
                  </a:ln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14" name="Line 119"/>
            <p:cNvSpPr>
              <a:spLocks noChangeShapeType="1"/>
            </p:cNvSpPr>
            <p:nvPr/>
          </p:nvSpPr>
          <p:spPr bwMode="auto">
            <a:xfrm flipV="1">
              <a:off x="1397" y="1492"/>
              <a:ext cx="96" cy="10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15" name="Line 120"/>
            <p:cNvSpPr>
              <a:spLocks noChangeShapeType="1"/>
            </p:cNvSpPr>
            <p:nvPr/>
          </p:nvSpPr>
          <p:spPr bwMode="auto">
            <a:xfrm flipV="1">
              <a:off x="2257" y="903"/>
              <a:ext cx="123" cy="13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16" name="Line 121"/>
            <p:cNvSpPr>
              <a:spLocks noChangeShapeType="1"/>
            </p:cNvSpPr>
            <p:nvPr/>
          </p:nvSpPr>
          <p:spPr bwMode="auto">
            <a:xfrm flipV="1">
              <a:off x="2257" y="894"/>
              <a:ext cx="30" cy="3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17" name="Freeform 122"/>
            <p:cNvSpPr>
              <a:spLocks/>
            </p:cNvSpPr>
            <p:nvPr/>
          </p:nvSpPr>
          <p:spPr bwMode="auto">
            <a:xfrm>
              <a:off x="2260" y="959"/>
              <a:ext cx="175" cy="186"/>
            </a:xfrm>
            <a:custGeom>
              <a:avLst/>
              <a:gdLst>
                <a:gd name="T0" fmla="*/ 0 w 200"/>
                <a:gd name="T1" fmla="*/ 163 h 199"/>
                <a:gd name="T2" fmla="*/ 134 w 200"/>
                <a:gd name="T3" fmla="*/ 0 h 1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0" h="199">
                  <a:moveTo>
                    <a:pt x="0" y="199"/>
                  </a:moveTo>
                  <a:lnTo>
                    <a:pt x="200" y="0"/>
                  </a:ln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18" name="Line 123"/>
            <p:cNvSpPr>
              <a:spLocks noChangeShapeType="1"/>
            </p:cNvSpPr>
            <p:nvPr/>
          </p:nvSpPr>
          <p:spPr bwMode="auto">
            <a:xfrm flipV="1">
              <a:off x="2287" y="1080"/>
              <a:ext cx="147" cy="15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19" name="Freeform 124"/>
            <p:cNvSpPr>
              <a:spLocks/>
            </p:cNvSpPr>
            <p:nvPr/>
          </p:nvSpPr>
          <p:spPr bwMode="auto">
            <a:xfrm>
              <a:off x="2275" y="1187"/>
              <a:ext cx="162" cy="175"/>
            </a:xfrm>
            <a:custGeom>
              <a:avLst/>
              <a:gdLst>
                <a:gd name="T0" fmla="*/ 0 w 185"/>
                <a:gd name="T1" fmla="*/ 157 h 185"/>
                <a:gd name="T2" fmla="*/ 124 w 185"/>
                <a:gd name="T3" fmla="*/ 0 h 1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5" h="185">
                  <a:moveTo>
                    <a:pt x="0" y="185"/>
                  </a:moveTo>
                  <a:lnTo>
                    <a:pt x="185" y="0"/>
                  </a:ln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20" name="Line 125"/>
            <p:cNvSpPr>
              <a:spLocks noChangeShapeType="1"/>
            </p:cNvSpPr>
            <p:nvPr/>
          </p:nvSpPr>
          <p:spPr bwMode="auto">
            <a:xfrm flipV="1">
              <a:off x="2283" y="1301"/>
              <a:ext cx="155" cy="16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21" name="Freeform 126"/>
            <p:cNvSpPr>
              <a:spLocks/>
            </p:cNvSpPr>
            <p:nvPr/>
          </p:nvSpPr>
          <p:spPr bwMode="auto">
            <a:xfrm>
              <a:off x="2279" y="1429"/>
              <a:ext cx="156" cy="168"/>
            </a:xfrm>
            <a:custGeom>
              <a:avLst/>
              <a:gdLst>
                <a:gd name="T0" fmla="*/ 0 w 178"/>
                <a:gd name="T1" fmla="*/ 150 h 178"/>
                <a:gd name="T2" fmla="*/ 120 w 178"/>
                <a:gd name="T3" fmla="*/ 0 h 1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178">
                  <a:moveTo>
                    <a:pt x="0" y="178"/>
                  </a:moveTo>
                  <a:lnTo>
                    <a:pt x="178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22" name="Freeform 127"/>
            <p:cNvSpPr>
              <a:spLocks/>
            </p:cNvSpPr>
            <p:nvPr/>
          </p:nvSpPr>
          <p:spPr bwMode="auto">
            <a:xfrm>
              <a:off x="2355" y="1466"/>
              <a:ext cx="159" cy="173"/>
            </a:xfrm>
            <a:custGeom>
              <a:avLst/>
              <a:gdLst>
                <a:gd name="T0" fmla="*/ 0 w 182"/>
                <a:gd name="T1" fmla="*/ 155 h 183"/>
                <a:gd name="T2" fmla="*/ 121 w 182"/>
                <a:gd name="T3" fmla="*/ 0 h 1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2" h="183">
                  <a:moveTo>
                    <a:pt x="0" y="183"/>
                  </a:moveTo>
                  <a:lnTo>
                    <a:pt x="182" y="0"/>
                  </a:ln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23" name="Freeform 128"/>
            <p:cNvSpPr>
              <a:spLocks/>
            </p:cNvSpPr>
            <p:nvPr/>
          </p:nvSpPr>
          <p:spPr bwMode="auto">
            <a:xfrm>
              <a:off x="2468" y="1468"/>
              <a:ext cx="157" cy="170"/>
            </a:xfrm>
            <a:custGeom>
              <a:avLst/>
              <a:gdLst>
                <a:gd name="T0" fmla="*/ 0 w 180"/>
                <a:gd name="T1" fmla="*/ 152 h 180"/>
                <a:gd name="T2" fmla="*/ 119 w 180"/>
                <a:gd name="T3" fmla="*/ 0 h 1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0" h="180">
                  <a:moveTo>
                    <a:pt x="0" y="180"/>
                  </a:moveTo>
                  <a:lnTo>
                    <a:pt x="180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24" name="Freeform 129"/>
            <p:cNvSpPr>
              <a:spLocks/>
            </p:cNvSpPr>
            <p:nvPr/>
          </p:nvSpPr>
          <p:spPr bwMode="auto">
            <a:xfrm>
              <a:off x="2574" y="1464"/>
              <a:ext cx="165" cy="178"/>
            </a:xfrm>
            <a:custGeom>
              <a:avLst/>
              <a:gdLst>
                <a:gd name="T0" fmla="*/ 0 w 189"/>
                <a:gd name="T1" fmla="*/ 158 h 189"/>
                <a:gd name="T2" fmla="*/ 126 w 189"/>
                <a:gd name="T3" fmla="*/ 0 h 1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9" h="189">
                  <a:moveTo>
                    <a:pt x="0" y="189"/>
                  </a:moveTo>
                  <a:lnTo>
                    <a:pt x="189" y="0"/>
                  </a:ln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25" name="Freeform 130"/>
            <p:cNvSpPr>
              <a:spLocks/>
            </p:cNvSpPr>
            <p:nvPr/>
          </p:nvSpPr>
          <p:spPr bwMode="auto">
            <a:xfrm>
              <a:off x="2694" y="1492"/>
              <a:ext cx="134" cy="144"/>
            </a:xfrm>
            <a:custGeom>
              <a:avLst/>
              <a:gdLst>
                <a:gd name="T0" fmla="*/ 0 w 153"/>
                <a:gd name="T1" fmla="*/ 128 h 153"/>
                <a:gd name="T2" fmla="*/ 102 w 153"/>
                <a:gd name="T3" fmla="*/ 0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3" h="153">
                  <a:moveTo>
                    <a:pt x="0" y="153"/>
                  </a:moveTo>
                  <a:lnTo>
                    <a:pt x="153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26" name="Freeform 131"/>
            <p:cNvSpPr>
              <a:spLocks/>
            </p:cNvSpPr>
            <p:nvPr/>
          </p:nvSpPr>
          <p:spPr bwMode="auto">
            <a:xfrm>
              <a:off x="2795" y="1594"/>
              <a:ext cx="49" cy="52"/>
            </a:xfrm>
            <a:custGeom>
              <a:avLst/>
              <a:gdLst>
                <a:gd name="T0" fmla="*/ 0 w 56"/>
                <a:gd name="T1" fmla="*/ 46 h 55"/>
                <a:gd name="T2" fmla="*/ 38 w 56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55">
                  <a:moveTo>
                    <a:pt x="0" y="55"/>
                  </a:moveTo>
                  <a:lnTo>
                    <a:pt x="56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27" name="Freeform 132"/>
            <p:cNvSpPr>
              <a:spLocks/>
            </p:cNvSpPr>
            <p:nvPr/>
          </p:nvSpPr>
          <p:spPr bwMode="auto">
            <a:xfrm>
              <a:off x="1922" y="1576"/>
              <a:ext cx="53" cy="56"/>
            </a:xfrm>
            <a:custGeom>
              <a:avLst/>
              <a:gdLst>
                <a:gd name="T0" fmla="*/ 0 w 60"/>
                <a:gd name="T1" fmla="*/ 49 h 60"/>
                <a:gd name="T2" fmla="*/ 42 w 60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60">
                  <a:moveTo>
                    <a:pt x="0" y="60"/>
                  </a:moveTo>
                  <a:lnTo>
                    <a:pt x="60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28" name="Line 133"/>
            <p:cNvSpPr>
              <a:spLocks noChangeShapeType="1"/>
            </p:cNvSpPr>
            <p:nvPr/>
          </p:nvSpPr>
          <p:spPr bwMode="auto">
            <a:xfrm flipH="1">
              <a:off x="1421" y="1467"/>
              <a:ext cx="3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29" name="Freeform 134"/>
            <p:cNvSpPr>
              <a:spLocks/>
            </p:cNvSpPr>
            <p:nvPr/>
          </p:nvSpPr>
          <p:spPr bwMode="auto">
            <a:xfrm>
              <a:off x="1496" y="1464"/>
              <a:ext cx="1" cy="67"/>
            </a:xfrm>
            <a:custGeom>
              <a:avLst/>
              <a:gdLst>
                <a:gd name="T0" fmla="*/ 1 w 1"/>
                <a:gd name="T1" fmla="*/ 59 h 71"/>
                <a:gd name="T2" fmla="*/ 0 w 1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1">
                  <a:moveTo>
                    <a:pt x="1" y="7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30" name="Freeform 135"/>
            <p:cNvSpPr>
              <a:spLocks/>
            </p:cNvSpPr>
            <p:nvPr/>
          </p:nvSpPr>
          <p:spPr bwMode="auto">
            <a:xfrm>
              <a:off x="1542" y="1516"/>
              <a:ext cx="1" cy="124"/>
            </a:xfrm>
            <a:custGeom>
              <a:avLst/>
              <a:gdLst>
                <a:gd name="T0" fmla="*/ 0 w 1"/>
                <a:gd name="T1" fmla="*/ 0 h 116"/>
                <a:gd name="T2" fmla="*/ 0 w 1"/>
                <a:gd name="T3" fmla="*/ 142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6">
                  <a:moveTo>
                    <a:pt x="0" y="0"/>
                  </a:moveTo>
                  <a:lnTo>
                    <a:pt x="0" y="116"/>
                  </a:ln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31" name="Line 136"/>
            <p:cNvSpPr>
              <a:spLocks noChangeShapeType="1"/>
            </p:cNvSpPr>
            <p:nvPr/>
          </p:nvSpPr>
          <p:spPr bwMode="auto">
            <a:xfrm>
              <a:off x="1974" y="1154"/>
              <a:ext cx="0" cy="4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32" name="Group 182"/>
          <p:cNvGrpSpPr>
            <a:grpSpLocks/>
          </p:cNvGrpSpPr>
          <p:nvPr/>
        </p:nvGrpSpPr>
        <p:grpSpPr bwMode="auto">
          <a:xfrm>
            <a:off x="2665992" y="985838"/>
            <a:ext cx="3159125" cy="4146550"/>
            <a:chOff x="1123" y="621"/>
            <a:chExt cx="1990" cy="2612"/>
          </a:xfrm>
        </p:grpSpPr>
        <p:sp>
          <p:nvSpPr>
            <p:cNvPr id="133" name="AutoShape 139"/>
            <p:cNvSpPr>
              <a:spLocks noChangeArrowheads="1"/>
            </p:cNvSpPr>
            <p:nvPr/>
          </p:nvSpPr>
          <p:spPr bwMode="auto">
            <a:xfrm>
              <a:off x="1402" y="1858"/>
              <a:ext cx="1443" cy="1375"/>
            </a:xfrm>
            <a:custGeom>
              <a:avLst/>
              <a:gdLst>
                <a:gd name="T0" fmla="*/ 3 w 21600"/>
                <a:gd name="T1" fmla="*/ 0 h 21600"/>
                <a:gd name="T2" fmla="*/ 1 w 21600"/>
                <a:gd name="T3" fmla="*/ 1 h 21600"/>
                <a:gd name="T4" fmla="*/ 0 w 21600"/>
                <a:gd name="T5" fmla="*/ 3 h 21600"/>
                <a:gd name="T6" fmla="*/ 1 w 21600"/>
                <a:gd name="T7" fmla="*/ 5 h 21600"/>
                <a:gd name="T8" fmla="*/ 3 w 21600"/>
                <a:gd name="T9" fmla="*/ 6 h 21600"/>
                <a:gd name="T10" fmla="*/ 5 w 21600"/>
                <a:gd name="T11" fmla="*/ 5 h 21600"/>
                <a:gd name="T12" fmla="*/ 6 w 21600"/>
                <a:gd name="T13" fmla="*/ 3 h 21600"/>
                <a:gd name="T14" fmla="*/ 5 w 21600"/>
                <a:gd name="T15" fmla="*/ 1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58 w 21600"/>
                <a:gd name="T25" fmla="*/ 3158 h 21600"/>
                <a:gd name="T26" fmla="*/ 18442 w 21600"/>
                <a:gd name="T27" fmla="*/ 18442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6071" y="10800"/>
                  </a:moveTo>
                  <a:cubicBezTo>
                    <a:pt x="6071" y="13412"/>
                    <a:pt x="8188" y="15529"/>
                    <a:pt x="10800" y="15529"/>
                  </a:cubicBezTo>
                  <a:cubicBezTo>
                    <a:pt x="13412" y="15529"/>
                    <a:pt x="15529" y="13412"/>
                    <a:pt x="15529" y="10800"/>
                  </a:cubicBezTo>
                  <a:cubicBezTo>
                    <a:pt x="15529" y="8188"/>
                    <a:pt x="13412" y="6071"/>
                    <a:pt x="10800" y="6071"/>
                  </a:cubicBezTo>
                  <a:cubicBezTo>
                    <a:pt x="8188" y="6071"/>
                    <a:pt x="6071" y="8188"/>
                    <a:pt x="6071" y="10800"/>
                  </a:cubicBezTo>
                  <a:close/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34" name="AutoShape 140"/>
            <p:cNvSpPr>
              <a:spLocks noChangeArrowheads="1"/>
            </p:cNvSpPr>
            <p:nvPr/>
          </p:nvSpPr>
          <p:spPr bwMode="auto">
            <a:xfrm>
              <a:off x="1872" y="2292"/>
              <a:ext cx="509" cy="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83 w 21600"/>
                <a:gd name="T25" fmla="*/ 3160 h 21600"/>
                <a:gd name="T26" fmla="*/ 18417 w 21600"/>
                <a:gd name="T27" fmla="*/ 18440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344" y="10800"/>
                  </a:moveTo>
                  <a:cubicBezTo>
                    <a:pt x="5344" y="13813"/>
                    <a:pt x="7787" y="16256"/>
                    <a:pt x="10800" y="16256"/>
                  </a:cubicBezTo>
                  <a:cubicBezTo>
                    <a:pt x="13813" y="16256"/>
                    <a:pt x="16256" y="13813"/>
                    <a:pt x="16256" y="10800"/>
                  </a:cubicBezTo>
                  <a:cubicBezTo>
                    <a:pt x="16256" y="7787"/>
                    <a:pt x="13813" y="5344"/>
                    <a:pt x="10800" y="5344"/>
                  </a:cubicBezTo>
                  <a:cubicBezTo>
                    <a:pt x="7787" y="5344"/>
                    <a:pt x="5344" y="7787"/>
                    <a:pt x="5344" y="10800"/>
                  </a:cubicBezTo>
                  <a:close/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35" name="AutoShape 141"/>
            <p:cNvSpPr>
              <a:spLocks noChangeArrowheads="1"/>
            </p:cNvSpPr>
            <p:nvPr/>
          </p:nvSpPr>
          <p:spPr bwMode="auto">
            <a:xfrm>
              <a:off x="1498" y="2432"/>
              <a:ext cx="242" cy="24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24 w 21600"/>
                <a:gd name="T25" fmla="*/ 3150 h 21600"/>
                <a:gd name="T26" fmla="*/ 18476 w 21600"/>
                <a:gd name="T27" fmla="*/ 18450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4211" y="10800"/>
                  </a:moveTo>
                  <a:cubicBezTo>
                    <a:pt x="4211" y="14439"/>
                    <a:pt x="7161" y="17389"/>
                    <a:pt x="10800" y="17389"/>
                  </a:cubicBezTo>
                  <a:cubicBezTo>
                    <a:pt x="14439" y="17389"/>
                    <a:pt x="17389" y="14439"/>
                    <a:pt x="17389" y="10800"/>
                  </a:cubicBezTo>
                  <a:cubicBezTo>
                    <a:pt x="17389" y="7161"/>
                    <a:pt x="14439" y="4211"/>
                    <a:pt x="10800" y="4211"/>
                  </a:cubicBezTo>
                  <a:cubicBezTo>
                    <a:pt x="7161" y="4211"/>
                    <a:pt x="4211" y="7161"/>
                    <a:pt x="4211" y="10800"/>
                  </a:cubicBezTo>
                  <a:close/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36" name="Line 142"/>
            <p:cNvSpPr>
              <a:spLocks noChangeShapeType="1"/>
            </p:cNvSpPr>
            <p:nvPr/>
          </p:nvSpPr>
          <p:spPr bwMode="auto">
            <a:xfrm flipV="1">
              <a:off x="2310" y="2013"/>
              <a:ext cx="103" cy="19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lgDash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37" name="Line 143"/>
            <p:cNvSpPr>
              <a:spLocks noChangeShapeType="1"/>
            </p:cNvSpPr>
            <p:nvPr/>
          </p:nvSpPr>
          <p:spPr bwMode="auto">
            <a:xfrm>
              <a:off x="2304" y="2890"/>
              <a:ext cx="95" cy="17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lgDash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38" name="Arc 144"/>
            <p:cNvSpPr>
              <a:spLocks/>
            </p:cNvSpPr>
            <p:nvPr/>
          </p:nvSpPr>
          <p:spPr bwMode="auto">
            <a:xfrm flipH="1">
              <a:off x="1615" y="2397"/>
              <a:ext cx="349" cy="333"/>
            </a:xfrm>
            <a:custGeom>
              <a:avLst/>
              <a:gdLst>
                <a:gd name="T0" fmla="*/ 0 w 21600"/>
                <a:gd name="T1" fmla="*/ 0 h 16533"/>
                <a:gd name="T2" fmla="*/ 0 w 21600"/>
                <a:gd name="T3" fmla="*/ 0 h 16533"/>
                <a:gd name="T4" fmla="*/ 0 w 21600"/>
                <a:gd name="T5" fmla="*/ 0 h 165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6533" fill="none" extrusionOk="0">
                  <a:moveTo>
                    <a:pt x="20514" y="0"/>
                  </a:moveTo>
                  <a:cubicBezTo>
                    <a:pt x="21233" y="2181"/>
                    <a:pt x="21600" y="4463"/>
                    <a:pt x="21600" y="6761"/>
                  </a:cubicBezTo>
                  <a:cubicBezTo>
                    <a:pt x="21600" y="10156"/>
                    <a:pt x="20799" y="13504"/>
                    <a:pt x="19263" y="16533"/>
                  </a:cubicBezTo>
                </a:path>
                <a:path w="21600" h="16533" stroke="0" extrusionOk="0">
                  <a:moveTo>
                    <a:pt x="20514" y="0"/>
                  </a:moveTo>
                  <a:cubicBezTo>
                    <a:pt x="21233" y="2181"/>
                    <a:pt x="21600" y="4463"/>
                    <a:pt x="21600" y="6761"/>
                  </a:cubicBezTo>
                  <a:cubicBezTo>
                    <a:pt x="21600" y="10156"/>
                    <a:pt x="20799" y="13504"/>
                    <a:pt x="19263" y="16533"/>
                  </a:cubicBezTo>
                  <a:lnTo>
                    <a:pt x="0" y="6761"/>
                  </a:lnTo>
                  <a:lnTo>
                    <a:pt x="20514" y="0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39" name="Arc 145"/>
            <p:cNvSpPr>
              <a:spLocks/>
            </p:cNvSpPr>
            <p:nvPr/>
          </p:nvSpPr>
          <p:spPr bwMode="auto">
            <a:xfrm rot="21228794" flipV="1">
              <a:off x="2112" y="2562"/>
              <a:ext cx="312" cy="444"/>
            </a:xfrm>
            <a:custGeom>
              <a:avLst/>
              <a:gdLst>
                <a:gd name="T0" fmla="*/ 0 w 14011"/>
                <a:gd name="T1" fmla="*/ 0 h 20863"/>
                <a:gd name="T2" fmla="*/ 0 w 14011"/>
                <a:gd name="T3" fmla="*/ 0 h 20863"/>
                <a:gd name="T4" fmla="*/ 0 w 14011"/>
                <a:gd name="T5" fmla="*/ 0 h 208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11" h="20863" fill="none" extrusionOk="0">
                  <a:moveTo>
                    <a:pt x="5595" y="0"/>
                  </a:moveTo>
                  <a:cubicBezTo>
                    <a:pt x="8694" y="831"/>
                    <a:pt x="11569" y="2342"/>
                    <a:pt x="14010" y="4423"/>
                  </a:cubicBezTo>
                </a:path>
                <a:path w="14011" h="20863" stroke="0" extrusionOk="0">
                  <a:moveTo>
                    <a:pt x="5595" y="0"/>
                  </a:moveTo>
                  <a:cubicBezTo>
                    <a:pt x="8694" y="831"/>
                    <a:pt x="11569" y="2342"/>
                    <a:pt x="14010" y="4423"/>
                  </a:cubicBezTo>
                  <a:lnTo>
                    <a:pt x="0" y="20863"/>
                  </a:lnTo>
                  <a:lnTo>
                    <a:pt x="5595" y="0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prstDash val="lgDash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40" name="Line 146"/>
            <p:cNvSpPr>
              <a:spLocks noChangeShapeType="1"/>
            </p:cNvSpPr>
            <p:nvPr/>
          </p:nvSpPr>
          <p:spPr bwMode="auto">
            <a:xfrm flipH="1">
              <a:off x="1780" y="2762"/>
              <a:ext cx="247" cy="4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lgDash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41" name="Line 147"/>
            <p:cNvSpPr>
              <a:spLocks noChangeShapeType="1"/>
            </p:cNvSpPr>
            <p:nvPr/>
          </p:nvSpPr>
          <p:spPr bwMode="auto">
            <a:xfrm flipH="1" flipV="1">
              <a:off x="1769" y="1882"/>
              <a:ext cx="242" cy="45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lgDash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42" name="Line 148"/>
            <p:cNvSpPr>
              <a:spLocks noChangeShapeType="1"/>
            </p:cNvSpPr>
            <p:nvPr/>
          </p:nvSpPr>
          <p:spPr bwMode="auto">
            <a:xfrm>
              <a:off x="2495" y="2492"/>
              <a:ext cx="2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43" name="Line 149"/>
            <p:cNvSpPr>
              <a:spLocks noChangeShapeType="1"/>
            </p:cNvSpPr>
            <p:nvPr/>
          </p:nvSpPr>
          <p:spPr bwMode="auto">
            <a:xfrm>
              <a:off x="2495" y="2610"/>
              <a:ext cx="29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44" name="Line 150"/>
            <p:cNvSpPr>
              <a:spLocks noChangeShapeType="1"/>
            </p:cNvSpPr>
            <p:nvPr/>
          </p:nvSpPr>
          <p:spPr bwMode="auto">
            <a:xfrm>
              <a:off x="1877" y="1951"/>
              <a:ext cx="140" cy="2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45" name="Line 151"/>
            <p:cNvSpPr>
              <a:spLocks noChangeShapeType="1"/>
            </p:cNvSpPr>
            <p:nvPr/>
          </p:nvSpPr>
          <p:spPr bwMode="auto">
            <a:xfrm>
              <a:off x="1775" y="2004"/>
              <a:ext cx="140" cy="2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46" name="Line 152"/>
            <p:cNvSpPr>
              <a:spLocks noChangeShapeType="1"/>
            </p:cNvSpPr>
            <p:nvPr/>
          </p:nvSpPr>
          <p:spPr bwMode="auto">
            <a:xfrm flipH="1">
              <a:off x="1891" y="2890"/>
              <a:ext cx="133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47" name="Line 153"/>
            <p:cNvSpPr>
              <a:spLocks noChangeShapeType="1"/>
            </p:cNvSpPr>
            <p:nvPr/>
          </p:nvSpPr>
          <p:spPr bwMode="auto">
            <a:xfrm flipH="1">
              <a:off x="1782" y="2842"/>
              <a:ext cx="128" cy="2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48" name="Freeform 154"/>
            <p:cNvSpPr>
              <a:spLocks/>
            </p:cNvSpPr>
            <p:nvPr/>
          </p:nvSpPr>
          <p:spPr bwMode="auto">
            <a:xfrm>
              <a:off x="2780" y="2452"/>
              <a:ext cx="54" cy="41"/>
            </a:xfrm>
            <a:custGeom>
              <a:avLst/>
              <a:gdLst>
                <a:gd name="T0" fmla="*/ 0 w 62"/>
                <a:gd name="T1" fmla="*/ 34 h 45"/>
                <a:gd name="T2" fmla="*/ 16 w 62"/>
                <a:gd name="T3" fmla="*/ 33 h 45"/>
                <a:gd name="T4" fmla="*/ 28 w 62"/>
                <a:gd name="T5" fmla="*/ 25 h 45"/>
                <a:gd name="T6" fmla="*/ 41 w 62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5">
                  <a:moveTo>
                    <a:pt x="0" y="45"/>
                  </a:moveTo>
                  <a:cubicBezTo>
                    <a:pt x="4" y="45"/>
                    <a:pt x="17" y="45"/>
                    <a:pt x="24" y="43"/>
                  </a:cubicBezTo>
                  <a:cubicBezTo>
                    <a:pt x="31" y="41"/>
                    <a:pt x="37" y="40"/>
                    <a:pt x="43" y="33"/>
                  </a:cubicBezTo>
                  <a:cubicBezTo>
                    <a:pt x="49" y="26"/>
                    <a:pt x="58" y="7"/>
                    <a:pt x="62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49" name="Freeform 155"/>
            <p:cNvSpPr>
              <a:spLocks/>
            </p:cNvSpPr>
            <p:nvPr/>
          </p:nvSpPr>
          <p:spPr bwMode="auto">
            <a:xfrm>
              <a:off x="2781" y="2611"/>
              <a:ext cx="55" cy="32"/>
            </a:xfrm>
            <a:custGeom>
              <a:avLst/>
              <a:gdLst>
                <a:gd name="T0" fmla="*/ 0 w 63"/>
                <a:gd name="T1" fmla="*/ 0 h 34"/>
                <a:gd name="T2" fmla="*/ 24 w 63"/>
                <a:gd name="T3" fmla="*/ 2 h 34"/>
                <a:gd name="T4" fmla="*/ 34 w 63"/>
                <a:gd name="T5" fmla="*/ 11 h 34"/>
                <a:gd name="T6" fmla="*/ 42 w 63"/>
                <a:gd name="T7" fmla="*/ 2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4">
                  <a:moveTo>
                    <a:pt x="0" y="0"/>
                  </a:moveTo>
                  <a:cubicBezTo>
                    <a:pt x="6" y="0"/>
                    <a:pt x="28" y="0"/>
                    <a:pt x="36" y="2"/>
                  </a:cubicBezTo>
                  <a:cubicBezTo>
                    <a:pt x="44" y="4"/>
                    <a:pt x="47" y="9"/>
                    <a:pt x="51" y="14"/>
                  </a:cubicBezTo>
                  <a:cubicBezTo>
                    <a:pt x="55" y="19"/>
                    <a:pt x="60" y="30"/>
                    <a:pt x="63" y="34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50" name="Freeform 156"/>
            <p:cNvSpPr>
              <a:spLocks/>
            </p:cNvSpPr>
            <p:nvPr/>
          </p:nvSpPr>
          <p:spPr bwMode="auto">
            <a:xfrm>
              <a:off x="2427" y="2462"/>
              <a:ext cx="75" cy="32"/>
            </a:xfrm>
            <a:custGeom>
              <a:avLst/>
              <a:gdLst>
                <a:gd name="T0" fmla="*/ 57 w 86"/>
                <a:gd name="T1" fmla="*/ 27 h 34"/>
                <a:gd name="T2" fmla="*/ 41 w 86"/>
                <a:gd name="T3" fmla="*/ 27 h 34"/>
                <a:gd name="T4" fmla="*/ 29 w 86"/>
                <a:gd name="T5" fmla="*/ 27 h 34"/>
                <a:gd name="T6" fmla="*/ 18 w 86"/>
                <a:gd name="T7" fmla="*/ 23 h 34"/>
                <a:gd name="T8" fmla="*/ 9 w 86"/>
                <a:gd name="T9" fmla="*/ 13 h 34"/>
                <a:gd name="T10" fmla="*/ 0 w 86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34">
                  <a:moveTo>
                    <a:pt x="86" y="33"/>
                  </a:moveTo>
                  <a:cubicBezTo>
                    <a:pt x="77" y="33"/>
                    <a:pt x="69" y="33"/>
                    <a:pt x="62" y="33"/>
                  </a:cubicBezTo>
                  <a:cubicBezTo>
                    <a:pt x="55" y="33"/>
                    <a:pt x="49" y="34"/>
                    <a:pt x="43" y="33"/>
                  </a:cubicBezTo>
                  <a:cubicBezTo>
                    <a:pt x="37" y="32"/>
                    <a:pt x="33" y="31"/>
                    <a:pt x="28" y="28"/>
                  </a:cubicBezTo>
                  <a:cubicBezTo>
                    <a:pt x="23" y="25"/>
                    <a:pt x="19" y="21"/>
                    <a:pt x="14" y="16"/>
                  </a:cubicBezTo>
                  <a:cubicBezTo>
                    <a:pt x="9" y="11"/>
                    <a:pt x="3" y="3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51" name="Freeform 157"/>
            <p:cNvSpPr>
              <a:spLocks/>
            </p:cNvSpPr>
            <p:nvPr/>
          </p:nvSpPr>
          <p:spPr bwMode="auto">
            <a:xfrm>
              <a:off x="2425" y="2610"/>
              <a:ext cx="88" cy="29"/>
            </a:xfrm>
            <a:custGeom>
              <a:avLst/>
              <a:gdLst>
                <a:gd name="T0" fmla="*/ 67 w 101"/>
                <a:gd name="T1" fmla="*/ 1 h 30"/>
                <a:gd name="T2" fmla="*/ 48 w 101"/>
                <a:gd name="T3" fmla="*/ 1 h 30"/>
                <a:gd name="T4" fmla="*/ 35 w 101"/>
                <a:gd name="T5" fmla="*/ 1 h 30"/>
                <a:gd name="T6" fmla="*/ 24 w 101"/>
                <a:gd name="T7" fmla="*/ 6 h 30"/>
                <a:gd name="T8" fmla="*/ 13 w 101"/>
                <a:gd name="T9" fmla="*/ 13 h 30"/>
                <a:gd name="T10" fmla="*/ 0 w 101"/>
                <a:gd name="T11" fmla="*/ 2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30">
                  <a:moveTo>
                    <a:pt x="101" y="1"/>
                  </a:moveTo>
                  <a:cubicBezTo>
                    <a:pt x="96" y="1"/>
                    <a:pt x="80" y="1"/>
                    <a:pt x="72" y="1"/>
                  </a:cubicBezTo>
                  <a:cubicBezTo>
                    <a:pt x="64" y="1"/>
                    <a:pt x="59" y="0"/>
                    <a:pt x="53" y="1"/>
                  </a:cubicBezTo>
                  <a:cubicBezTo>
                    <a:pt x="47" y="2"/>
                    <a:pt x="42" y="4"/>
                    <a:pt x="36" y="6"/>
                  </a:cubicBezTo>
                  <a:cubicBezTo>
                    <a:pt x="30" y="8"/>
                    <a:pt x="25" y="9"/>
                    <a:pt x="19" y="13"/>
                  </a:cubicBezTo>
                  <a:cubicBezTo>
                    <a:pt x="13" y="17"/>
                    <a:pt x="4" y="27"/>
                    <a:pt x="0" y="3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52" name="Freeform 158"/>
            <p:cNvSpPr>
              <a:spLocks/>
            </p:cNvSpPr>
            <p:nvPr/>
          </p:nvSpPr>
          <p:spPr bwMode="auto">
            <a:xfrm>
              <a:off x="2011" y="2202"/>
              <a:ext cx="67" cy="47"/>
            </a:xfrm>
            <a:custGeom>
              <a:avLst/>
              <a:gdLst>
                <a:gd name="T0" fmla="*/ 0 w 77"/>
                <a:gd name="T1" fmla="*/ 0 h 50"/>
                <a:gd name="T2" fmla="*/ 10 w 77"/>
                <a:gd name="T3" fmla="*/ 16 h 50"/>
                <a:gd name="T4" fmla="*/ 21 w 77"/>
                <a:gd name="T5" fmla="*/ 27 h 50"/>
                <a:gd name="T6" fmla="*/ 33 w 77"/>
                <a:gd name="T7" fmla="*/ 36 h 50"/>
                <a:gd name="T8" fmla="*/ 50 w 77"/>
                <a:gd name="T9" fmla="*/ 4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0">
                  <a:moveTo>
                    <a:pt x="0" y="0"/>
                  </a:moveTo>
                  <a:cubicBezTo>
                    <a:pt x="2" y="3"/>
                    <a:pt x="10" y="14"/>
                    <a:pt x="15" y="19"/>
                  </a:cubicBezTo>
                  <a:cubicBezTo>
                    <a:pt x="20" y="24"/>
                    <a:pt x="26" y="29"/>
                    <a:pt x="32" y="33"/>
                  </a:cubicBezTo>
                  <a:cubicBezTo>
                    <a:pt x="38" y="37"/>
                    <a:pt x="44" y="40"/>
                    <a:pt x="51" y="43"/>
                  </a:cubicBezTo>
                  <a:cubicBezTo>
                    <a:pt x="58" y="46"/>
                    <a:pt x="72" y="49"/>
                    <a:pt x="77" y="5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53" name="Freeform 159"/>
            <p:cNvSpPr>
              <a:spLocks/>
            </p:cNvSpPr>
            <p:nvPr/>
          </p:nvSpPr>
          <p:spPr bwMode="auto">
            <a:xfrm>
              <a:off x="1906" y="2257"/>
              <a:ext cx="16" cy="72"/>
            </a:xfrm>
            <a:custGeom>
              <a:avLst/>
              <a:gdLst>
                <a:gd name="T0" fmla="*/ 4 w 18"/>
                <a:gd name="T1" fmla="*/ 0 h 77"/>
                <a:gd name="T2" fmla="*/ 9 w 18"/>
                <a:gd name="T3" fmla="*/ 14 h 77"/>
                <a:gd name="T4" fmla="*/ 12 w 18"/>
                <a:gd name="T5" fmla="*/ 32 h 77"/>
                <a:gd name="T6" fmla="*/ 11 w 18"/>
                <a:gd name="T7" fmla="*/ 44 h 77"/>
                <a:gd name="T8" fmla="*/ 0 w 18"/>
                <a:gd name="T9" fmla="*/ 63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7">
                  <a:moveTo>
                    <a:pt x="5" y="0"/>
                  </a:moveTo>
                  <a:cubicBezTo>
                    <a:pt x="6" y="3"/>
                    <a:pt x="10" y="11"/>
                    <a:pt x="12" y="17"/>
                  </a:cubicBezTo>
                  <a:cubicBezTo>
                    <a:pt x="14" y="23"/>
                    <a:pt x="16" y="33"/>
                    <a:pt x="17" y="39"/>
                  </a:cubicBezTo>
                  <a:cubicBezTo>
                    <a:pt x="18" y="45"/>
                    <a:pt x="18" y="47"/>
                    <a:pt x="15" y="53"/>
                  </a:cubicBezTo>
                  <a:cubicBezTo>
                    <a:pt x="12" y="59"/>
                    <a:pt x="3" y="72"/>
                    <a:pt x="0" y="77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54" name="Freeform 160"/>
            <p:cNvSpPr>
              <a:spLocks/>
            </p:cNvSpPr>
            <p:nvPr/>
          </p:nvSpPr>
          <p:spPr bwMode="auto">
            <a:xfrm>
              <a:off x="1873" y="1895"/>
              <a:ext cx="32" cy="74"/>
            </a:xfrm>
            <a:custGeom>
              <a:avLst/>
              <a:gdLst>
                <a:gd name="T0" fmla="*/ 10 w 36"/>
                <a:gd name="T1" fmla="*/ 65 h 79"/>
                <a:gd name="T2" fmla="*/ 4 w 36"/>
                <a:gd name="T3" fmla="*/ 52 h 79"/>
                <a:gd name="T4" fmla="*/ 0 w 36"/>
                <a:gd name="T5" fmla="*/ 37 h 79"/>
                <a:gd name="T6" fmla="*/ 2 w 36"/>
                <a:gd name="T7" fmla="*/ 22 h 79"/>
                <a:gd name="T8" fmla="*/ 10 w 36"/>
                <a:gd name="T9" fmla="*/ 7 h 79"/>
                <a:gd name="T10" fmla="*/ 25 w 36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9">
                  <a:moveTo>
                    <a:pt x="14" y="79"/>
                  </a:moveTo>
                  <a:cubicBezTo>
                    <a:pt x="12" y="76"/>
                    <a:pt x="7" y="68"/>
                    <a:pt x="5" y="63"/>
                  </a:cubicBezTo>
                  <a:cubicBezTo>
                    <a:pt x="3" y="58"/>
                    <a:pt x="0" y="52"/>
                    <a:pt x="0" y="46"/>
                  </a:cubicBezTo>
                  <a:cubicBezTo>
                    <a:pt x="0" y="40"/>
                    <a:pt x="0" y="33"/>
                    <a:pt x="2" y="27"/>
                  </a:cubicBezTo>
                  <a:cubicBezTo>
                    <a:pt x="4" y="21"/>
                    <a:pt x="8" y="15"/>
                    <a:pt x="14" y="10"/>
                  </a:cubicBezTo>
                  <a:cubicBezTo>
                    <a:pt x="20" y="5"/>
                    <a:pt x="32" y="2"/>
                    <a:pt x="36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55" name="Freeform 161"/>
            <p:cNvSpPr>
              <a:spLocks/>
            </p:cNvSpPr>
            <p:nvPr/>
          </p:nvSpPr>
          <p:spPr bwMode="auto">
            <a:xfrm>
              <a:off x="1716" y="1977"/>
              <a:ext cx="63" cy="37"/>
            </a:xfrm>
            <a:custGeom>
              <a:avLst/>
              <a:gdLst>
                <a:gd name="T0" fmla="*/ 48 w 72"/>
                <a:gd name="T1" fmla="*/ 31 h 40"/>
                <a:gd name="T2" fmla="*/ 40 w 72"/>
                <a:gd name="T3" fmla="*/ 19 h 40"/>
                <a:gd name="T4" fmla="*/ 34 w 72"/>
                <a:gd name="T5" fmla="*/ 6 h 40"/>
                <a:gd name="T6" fmla="*/ 19 w 72"/>
                <a:gd name="T7" fmla="*/ 0 h 40"/>
                <a:gd name="T8" fmla="*/ 0 w 72"/>
                <a:gd name="T9" fmla="*/ 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0">
                  <a:moveTo>
                    <a:pt x="72" y="40"/>
                  </a:moveTo>
                  <a:cubicBezTo>
                    <a:pt x="70" y="37"/>
                    <a:pt x="64" y="29"/>
                    <a:pt x="60" y="24"/>
                  </a:cubicBezTo>
                  <a:cubicBezTo>
                    <a:pt x="56" y="19"/>
                    <a:pt x="55" y="13"/>
                    <a:pt x="50" y="9"/>
                  </a:cubicBezTo>
                  <a:cubicBezTo>
                    <a:pt x="45" y="5"/>
                    <a:pt x="37" y="0"/>
                    <a:pt x="29" y="0"/>
                  </a:cubicBezTo>
                  <a:cubicBezTo>
                    <a:pt x="21" y="0"/>
                    <a:pt x="6" y="6"/>
                    <a:pt x="0" y="7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56" name="Freeform 162"/>
            <p:cNvSpPr>
              <a:spLocks/>
            </p:cNvSpPr>
            <p:nvPr/>
          </p:nvSpPr>
          <p:spPr bwMode="auto">
            <a:xfrm>
              <a:off x="2022" y="2846"/>
              <a:ext cx="82" cy="50"/>
            </a:xfrm>
            <a:custGeom>
              <a:avLst/>
              <a:gdLst>
                <a:gd name="T0" fmla="*/ 0 w 94"/>
                <a:gd name="T1" fmla="*/ 44 h 53"/>
                <a:gd name="T2" fmla="*/ 7 w 94"/>
                <a:gd name="T3" fmla="*/ 26 h 53"/>
                <a:gd name="T4" fmla="*/ 18 w 94"/>
                <a:gd name="T5" fmla="*/ 12 h 53"/>
                <a:gd name="T6" fmla="*/ 31 w 94"/>
                <a:gd name="T7" fmla="*/ 5 h 53"/>
                <a:gd name="T8" fmla="*/ 44 w 94"/>
                <a:gd name="T9" fmla="*/ 1 h 53"/>
                <a:gd name="T10" fmla="*/ 63 w 94"/>
                <a:gd name="T11" fmla="*/ 1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53">
                  <a:moveTo>
                    <a:pt x="0" y="53"/>
                  </a:moveTo>
                  <a:cubicBezTo>
                    <a:pt x="3" y="45"/>
                    <a:pt x="6" y="38"/>
                    <a:pt x="10" y="32"/>
                  </a:cubicBezTo>
                  <a:cubicBezTo>
                    <a:pt x="14" y="26"/>
                    <a:pt x="21" y="19"/>
                    <a:pt x="27" y="15"/>
                  </a:cubicBezTo>
                  <a:cubicBezTo>
                    <a:pt x="33" y="11"/>
                    <a:pt x="40" y="7"/>
                    <a:pt x="46" y="5"/>
                  </a:cubicBezTo>
                  <a:cubicBezTo>
                    <a:pt x="52" y="3"/>
                    <a:pt x="57" y="2"/>
                    <a:pt x="65" y="1"/>
                  </a:cubicBezTo>
                  <a:cubicBezTo>
                    <a:pt x="73" y="0"/>
                    <a:pt x="88" y="1"/>
                    <a:pt x="94" y="1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57" name="Freeform 163"/>
            <p:cNvSpPr>
              <a:spLocks/>
            </p:cNvSpPr>
            <p:nvPr/>
          </p:nvSpPr>
          <p:spPr bwMode="auto">
            <a:xfrm>
              <a:off x="1903" y="2768"/>
              <a:ext cx="22" cy="85"/>
            </a:xfrm>
            <a:custGeom>
              <a:avLst/>
              <a:gdLst>
                <a:gd name="T0" fmla="*/ 0 w 25"/>
                <a:gd name="T1" fmla="*/ 74 h 91"/>
                <a:gd name="T2" fmla="*/ 11 w 25"/>
                <a:gd name="T3" fmla="*/ 52 h 91"/>
                <a:gd name="T4" fmla="*/ 14 w 25"/>
                <a:gd name="T5" fmla="*/ 39 h 91"/>
                <a:gd name="T6" fmla="*/ 16 w 25"/>
                <a:gd name="T7" fmla="*/ 25 h 91"/>
                <a:gd name="T8" fmla="*/ 11 w 25"/>
                <a:gd name="T9" fmla="*/ 11 h 91"/>
                <a:gd name="T10" fmla="*/ 6 w 25"/>
                <a:gd name="T11" fmla="*/ 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91">
                  <a:moveTo>
                    <a:pt x="0" y="91"/>
                  </a:moveTo>
                  <a:cubicBezTo>
                    <a:pt x="6" y="81"/>
                    <a:pt x="13" y="71"/>
                    <a:pt x="16" y="64"/>
                  </a:cubicBezTo>
                  <a:cubicBezTo>
                    <a:pt x="19" y="57"/>
                    <a:pt x="20" y="53"/>
                    <a:pt x="21" y="48"/>
                  </a:cubicBezTo>
                  <a:cubicBezTo>
                    <a:pt x="22" y="43"/>
                    <a:pt x="25" y="37"/>
                    <a:pt x="24" y="31"/>
                  </a:cubicBezTo>
                  <a:cubicBezTo>
                    <a:pt x="23" y="25"/>
                    <a:pt x="18" y="19"/>
                    <a:pt x="16" y="14"/>
                  </a:cubicBezTo>
                  <a:cubicBezTo>
                    <a:pt x="14" y="9"/>
                    <a:pt x="11" y="4"/>
                    <a:pt x="9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58" name="Freeform 164"/>
            <p:cNvSpPr>
              <a:spLocks/>
            </p:cNvSpPr>
            <p:nvPr/>
          </p:nvSpPr>
          <p:spPr bwMode="auto">
            <a:xfrm>
              <a:off x="1885" y="3133"/>
              <a:ext cx="28" cy="64"/>
            </a:xfrm>
            <a:custGeom>
              <a:avLst/>
              <a:gdLst>
                <a:gd name="T0" fmla="*/ 7 w 32"/>
                <a:gd name="T1" fmla="*/ 0 h 68"/>
                <a:gd name="T2" fmla="*/ 0 w 32"/>
                <a:gd name="T3" fmla="*/ 19 h 68"/>
                <a:gd name="T4" fmla="*/ 7 w 32"/>
                <a:gd name="T5" fmla="*/ 37 h 68"/>
                <a:gd name="T6" fmla="*/ 10 w 32"/>
                <a:gd name="T7" fmla="*/ 47 h 68"/>
                <a:gd name="T8" fmla="*/ 22 w 32"/>
                <a:gd name="T9" fmla="*/ 5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68">
                  <a:moveTo>
                    <a:pt x="10" y="0"/>
                  </a:moveTo>
                  <a:cubicBezTo>
                    <a:pt x="8" y="4"/>
                    <a:pt x="0" y="15"/>
                    <a:pt x="0" y="22"/>
                  </a:cubicBezTo>
                  <a:cubicBezTo>
                    <a:pt x="0" y="29"/>
                    <a:pt x="8" y="38"/>
                    <a:pt x="10" y="44"/>
                  </a:cubicBezTo>
                  <a:cubicBezTo>
                    <a:pt x="12" y="50"/>
                    <a:pt x="11" y="52"/>
                    <a:pt x="15" y="56"/>
                  </a:cubicBezTo>
                  <a:cubicBezTo>
                    <a:pt x="19" y="60"/>
                    <a:pt x="26" y="65"/>
                    <a:pt x="32" y="68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59" name="Freeform 165"/>
            <p:cNvSpPr>
              <a:spLocks/>
            </p:cNvSpPr>
            <p:nvPr/>
          </p:nvSpPr>
          <p:spPr bwMode="auto">
            <a:xfrm>
              <a:off x="1716" y="3068"/>
              <a:ext cx="73" cy="46"/>
            </a:xfrm>
            <a:custGeom>
              <a:avLst/>
              <a:gdLst>
                <a:gd name="T0" fmla="*/ 55 w 84"/>
                <a:gd name="T1" fmla="*/ 0 h 49"/>
                <a:gd name="T2" fmla="*/ 46 w 84"/>
                <a:gd name="T3" fmla="*/ 18 h 49"/>
                <a:gd name="T4" fmla="*/ 37 w 84"/>
                <a:gd name="T5" fmla="*/ 30 h 49"/>
                <a:gd name="T6" fmla="*/ 25 w 84"/>
                <a:gd name="T7" fmla="*/ 37 h 49"/>
                <a:gd name="T8" fmla="*/ 15 w 84"/>
                <a:gd name="T9" fmla="*/ 39 h 49"/>
                <a:gd name="T10" fmla="*/ 0 w 84"/>
                <a:gd name="T11" fmla="*/ 34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49">
                  <a:moveTo>
                    <a:pt x="84" y="0"/>
                  </a:moveTo>
                  <a:cubicBezTo>
                    <a:pt x="82" y="4"/>
                    <a:pt x="75" y="15"/>
                    <a:pt x="70" y="21"/>
                  </a:cubicBezTo>
                  <a:cubicBezTo>
                    <a:pt x="65" y="27"/>
                    <a:pt x="60" y="32"/>
                    <a:pt x="55" y="36"/>
                  </a:cubicBezTo>
                  <a:cubicBezTo>
                    <a:pt x="50" y="40"/>
                    <a:pt x="43" y="43"/>
                    <a:pt x="38" y="45"/>
                  </a:cubicBezTo>
                  <a:cubicBezTo>
                    <a:pt x="33" y="47"/>
                    <a:pt x="28" y="49"/>
                    <a:pt x="22" y="48"/>
                  </a:cubicBezTo>
                  <a:cubicBezTo>
                    <a:pt x="16" y="47"/>
                    <a:pt x="5" y="42"/>
                    <a:pt x="0" y="41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60" name="Group 166"/>
            <p:cNvGrpSpPr>
              <a:grpSpLocks/>
            </p:cNvGrpSpPr>
            <p:nvPr/>
          </p:nvGrpSpPr>
          <p:grpSpPr bwMode="auto">
            <a:xfrm>
              <a:off x="1123" y="621"/>
              <a:ext cx="1990" cy="2154"/>
              <a:chOff x="967" y="738"/>
              <a:chExt cx="1990" cy="2002"/>
            </a:xfrm>
          </p:grpSpPr>
          <p:sp>
            <p:nvSpPr>
              <p:cNvPr id="162" name="Text Box 167"/>
              <p:cNvSpPr txBox="1">
                <a:spLocks noChangeArrowheads="1"/>
              </p:cNvSpPr>
              <p:nvPr/>
            </p:nvSpPr>
            <p:spPr bwMode="auto">
              <a:xfrm>
                <a:off x="2713" y="2472"/>
                <a:ext cx="244" cy="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A</a:t>
                </a:r>
              </a:p>
            </p:txBody>
          </p:sp>
          <p:sp>
            <p:nvSpPr>
              <p:cNvPr id="163" name="Line 168"/>
              <p:cNvSpPr>
                <a:spLocks noChangeShapeType="1"/>
              </p:cNvSpPr>
              <p:nvPr/>
            </p:nvSpPr>
            <p:spPr bwMode="auto">
              <a:xfrm>
                <a:off x="2748" y="2538"/>
                <a:ext cx="8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4" name="Line 169"/>
              <p:cNvSpPr>
                <a:spLocks noChangeShapeType="1"/>
              </p:cNvSpPr>
              <p:nvPr/>
            </p:nvSpPr>
            <p:spPr bwMode="auto">
              <a:xfrm>
                <a:off x="1097" y="2539"/>
                <a:ext cx="8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5" name="Line 170"/>
              <p:cNvSpPr>
                <a:spLocks noChangeShapeType="1"/>
              </p:cNvSpPr>
              <p:nvPr/>
            </p:nvSpPr>
            <p:spPr bwMode="auto">
              <a:xfrm flipV="1">
                <a:off x="1095" y="2391"/>
                <a:ext cx="0" cy="14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6" name="Line 171"/>
              <p:cNvSpPr>
                <a:spLocks noChangeShapeType="1"/>
              </p:cNvSpPr>
              <p:nvPr/>
            </p:nvSpPr>
            <p:spPr bwMode="auto">
              <a:xfrm flipV="1">
                <a:off x="2830" y="2417"/>
                <a:ext cx="0" cy="1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7" name="Text Box 172"/>
              <p:cNvSpPr txBox="1">
                <a:spLocks noChangeArrowheads="1"/>
              </p:cNvSpPr>
              <p:nvPr/>
            </p:nvSpPr>
            <p:spPr bwMode="auto">
              <a:xfrm>
                <a:off x="967" y="2468"/>
                <a:ext cx="244" cy="2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A</a:t>
                </a:r>
              </a:p>
            </p:txBody>
          </p:sp>
          <p:sp>
            <p:nvSpPr>
              <p:cNvPr id="168" name="Text Box 173"/>
              <p:cNvSpPr txBox="1">
                <a:spLocks noChangeArrowheads="1"/>
              </p:cNvSpPr>
              <p:nvPr/>
            </p:nvSpPr>
            <p:spPr bwMode="auto">
              <a:xfrm>
                <a:off x="1693" y="738"/>
                <a:ext cx="565" cy="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A</a:t>
                </a:r>
                <a:r>
                  <a:rPr kumimoji="1" lang="zh-CN" altLang="en-US" sz="2400" b="1" i="1">
                    <a:latin typeface="Times New Roman" panose="02020603050405020304" pitchFamily="18" charset="0"/>
                  </a:rPr>
                  <a:t>－</a:t>
                </a:r>
                <a:r>
                  <a:rPr kumimoji="1" lang="en-US" altLang="zh-CN" sz="2400" b="1" i="1">
                    <a:latin typeface="Times New Roman" panose="02020603050405020304" pitchFamily="18" charset="0"/>
                  </a:rPr>
                  <a:t>A</a:t>
                </a:r>
              </a:p>
            </p:txBody>
          </p:sp>
        </p:grpSp>
        <p:sp>
          <p:nvSpPr>
            <p:cNvPr id="161" name="Freeform 174"/>
            <p:cNvSpPr>
              <a:spLocks/>
            </p:cNvSpPr>
            <p:nvPr/>
          </p:nvSpPr>
          <p:spPr bwMode="auto">
            <a:xfrm>
              <a:off x="2241" y="2067"/>
              <a:ext cx="211" cy="124"/>
            </a:xfrm>
            <a:custGeom>
              <a:avLst/>
              <a:gdLst>
                <a:gd name="T0" fmla="*/ 0 w 211"/>
                <a:gd name="T1" fmla="*/ 0 h 116"/>
                <a:gd name="T2" fmla="*/ 109 w 211"/>
                <a:gd name="T3" fmla="*/ 52 h 116"/>
                <a:gd name="T4" fmla="*/ 211 w 211"/>
                <a:gd name="T5" fmla="*/ 142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16">
                  <a:moveTo>
                    <a:pt x="0" y="0"/>
                  </a:moveTo>
                  <a:cubicBezTo>
                    <a:pt x="37" y="12"/>
                    <a:pt x="74" y="24"/>
                    <a:pt x="109" y="43"/>
                  </a:cubicBezTo>
                  <a:cubicBezTo>
                    <a:pt x="144" y="62"/>
                    <a:pt x="177" y="89"/>
                    <a:pt x="211" y="116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lgDash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73" name="Group 187"/>
          <p:cNvGrpSpPr>
            <a:grpSpLocks/>
          </p:cNvGrpSpPr>
          <p:nvPr/>
        </p:nvGrpSpPr>
        <p:grpSpPr bwMode="auto">
          <a:xfrm>
            <a:off x="4259842" y="1341438"/>
            <a:ext cx="0" cy="1366837"/>
            <a:chOff x="2109" y="845"/>
            <a:chExt cx="0" cy="861"/>
          </a:xfrm>
        </p:grpSpPr>
        <p:sp>
          <p:nvSpPr>
            <p:cNvPr id="174" name="Line 184"/>
            <p:cNvSpPr>
              <a:spLocks noChangeShapeType="1"/>
            </p:cNvSpPr>
            <p:nvPr/>
          </p:nvSpPr>
          <p:spPr bwMode="auto">
            <a:xfrm>
              <a:off x="2109" y="845"/>
              <a:ext cx="0" cy="3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" name="Line 185"/>
            <p:cNvSpPr>
              <a:spLocks noChangeShapeType="1"/>
            </p:cNvSpPr>
            <p:nvPr/>
          </p:nvSpPr>
          <p:spPr bwMode="auto">
            <a:xfrm>
              <a:off x="2109" y="1344"/>
              <a:ext cx="0" cy="3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6" name="Line 186"/>
            <p:cNvSpPr>
              <a:spLocks noChangeShapeType="1"/>
            </p:cNvSpPr>
            <p:nvPr/>
          </p:nvSpPr>
          <p:spPr bwMode="auto">
            <a:xfrm>
              <a:off x="2109" y="1253"/>
              <a:ext cx="0" cy="4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" name="Group 189"/>
          <p:cNvGrpSpPr>
            <a:grpSpLocks/>
          </p:cNvGrpSpPr>
          <p:nvPr/>
        </p:nvGrpSpPr>
        <p:grpSpPr bwMode="auto">
          <a:xfrm>
            <a:off x="7877754" y="1789113"/>
            <a:ext cx="69850" cy="935037"/>
            <a:chOff x="2109" y="845"/>
            <a:chExt cx="0" cy="861"/>
          </a:xfrm>
        </p:grpSpPr>
        <p:sp>
          <p:nvSpPr>
            <p:cNvPr id="178" name="Line 190"/>
            <p:cNvSpPr>
              <a:spLocks noChangeShapeType="1"/>
            </p:cNvSpPr>
            <p:nvPr/>
          </p:nvSpPr>
          <p:spPr bwMode="auto">
            <a:xfrm>
              <a:off x="2109" y="845"/>
              <a:ext cx="0" cy="3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9" name="Line 191"/>
            <p:cNvSpPr>
              <a:spLocks noChangeShapeType="1"/>
            </p:cNvSpPr>
            <p:nvPr/>
          </p:nvSpPr>
          <p:spPr bwMode="auto">
            <a:xfrm>
              <a:off x="2109" y="1344"/>
              <a:ext cx="0" cy="3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0" name="Line 192"/>
            <p:cNvSpPr>
              <a:spLocks noChangeShapeType="1"/>
            </p:cNvSpPr>
            <p:nvPr/>
          </p:nvSpPr>
          <p:spPr bwMode="auto">
            <a:xfrm>
              <a:off x="2109" y="1253"/>
              <a:ext cx="0" cy="4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1" name="Group 201"/>
          <p:cNvGrpSpPr>
            <a:grpSpLocks/>
          </p:cNvGrpSpPr>
          <p:nvPr/>
        </p:nvGrpSpPr>
        <p:grpSpPr bwMode="auto">
          <a:xfrm>
            <a:off x="7874579" y="2868613"/>
            <a:ext cx="0" cy="2360612"/>
            <a:chOff x="4404" y="1807"/>
            <a:chExt cx="0" cy="1487"/>
          </a:xfrm>
        </p:grpSpPr>
        <p:grpSp>
          <p:nvGrpSpPr>
            <p:cNvPr id="182" name="Group 193"/>
            <p:cNvGrpSpPr>
              <a:grpSpLocks/>
            </p:cNvGrpSpPr>
            <p:nvPr/>
          </p:nvGrpSpPr>
          <p:grpSpPr bwMode="auto">
            <a:xfrm>
              <a:off x="4404" y="1807"/>
              <a:ext cx="0" cy="861"/>
              <a:chOff x="2109" y="845"/>
              <a:chExt cx="0" cy="861"/>
            </a:xfrm>
          </p:grpSpPr>
          <p:sp>
            <p:nvSpPr>
              <p:cNvPr id="185" name="Line 194"/>
              <p:cNvSpPr>
                <a:spLocks noChangeShapeType="1"/>
              </p:cNvSpPr>
              <p:nvPr/>
            </p:nvSpPr>
            <p:spPr bwMode="auto">
              <a:xfrm>
                <a:off x="2109" y="845"/>
                <a:ext cx="0" cy="3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6" name="Line 195"/>
              <p:cNvSpPr>
                <a:spLocks noChangeShapeType="1"/>
              </p:cNvSpPr>
              <p:nvPr/>
            </p:nvSpPr>
            <p:spPr bwMode="auto">
              <a:xfrm>
                <a:off x="2109" y="1344"/>
                <a:ext cx="0" cy="3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7" name="Line 196"/>
              <p:cNvSpPr>
                <a:spLocks noChangeShapeType="1"/>
              </p:cNvSpPr>
              <p:nvPr/>
            </p:nvSpPr>
            <p:spPr bwMode="auto">
              <a:xfrm>
                <a:off x="2109" y="1253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83" name="Line 198"/>
            <p:cNvSpPr>
              <a:spLocks noChangeShapeType="1"/>
            </p:cNvSpPr>
            <p:nvPr/>
          </p:nvSpPr>
          <p:spPr bwMode="auto">
            <a:xfrm>
              <a:off x="4404" y="2723"/>
              <a:ext cx="0" cy="4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" name="Line 200"/>
            <p:cNvSpPr>
              <a:spLocks noChangeShapeType="1"/>
            </p:cNvSpPr>
            <p:nvPr/>
          </p:nvSpPr>
          <p:spPr bwMode="auto">
            <a:xfrm>
              <a:off x="4404" y="2795"/>
              <a:ext cx="0" cy="49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8" name="Group 202"/>
          <p:cNvGrpSpPr>
            <a:grpSpLocks/>
          </p:cNvGrpSpPr>
          <p:nvPr/>
        </p:nvGrpSpPr>
        <p:grpSpPr bwMode="auto">
          <a:xfrm>
            <a:off x="4259842" y="2852738"/>
            <a:ext cx="0" cy="2360612"/>
            <a:chOff x="4404" y="1807"/>
            <a:chExt cx="0" cy="1487"/>
          </a:xfrm>
        </p:grpSpPr>
        <p:grpSp>
          <p:nvGrpSpPr>
            <p:cNvPr id="189" name="Group 203"/>
            <p:cNvGrpSpPr>
              <a:grpSpLocks/>
            </p:cNvGrpSpPr>
            <p:nvPr/>
          </p:nvGrpSpPr>
          <p:grpSpPr bwMode="auto">
            <a:xfrm>
              <a:off x="4404" y="1807"/>
              <a:ext cx="0" cy="861"/>
              <a:chOff x="2109" y="845"/>
              <a:chExt cx="0" cy="861"/>
            </a:xfrm>
          </p:grpSpPr>
          <p:sp>
            <p:nvSpPr>
              <p:cNvPr id="192" name="Line 204"/>
              <p:cNvSpPr>
                <a:spLocks noChangeShapeType="1"/>
              </p:cNvSpPr>
              <p:nvPr/>
            </p:nvSpPr>
            <p:spPr bwMode="auto">
              <a:xfrm>
                <a:off x="2109" y="845"/>
                <a:ext cx="0" cy="3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93" name="Line 205"/>
              <p:cNvSpPr>
                <a:spLocks noChangeShapeType="1"/>
              </p:cNvSpPr>
              <p:nvPr/>
            </p:nvSpPr>
            <p:spPr bwMode="auto">
              <a:xfrm>
                <a:off x="2109" y="1344"/>
                <a:ext cx="0" cy="3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94" name="Line 206"/>
              <p:cNvSpPr>
                <a:spLocks noChangeShapeType="1"/>
              </p:cNvSpPr>
              <p:nvPr/>
            </p:nvSpPr>
            <p:spPr bwMode="auto">
              <a:xfrm>
                <a:off x="2109" y="1253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90" name="Line 207"/>
            <p:cNvSpPr>
              <a:spLocks noChangeShapeType="1"/>
            </p:cNvSpPr>
            <p:nvPr/>
          </p:nvSpPr>
          <p:spPr bwMode="auto">
            <a:xfrm>
              <a:off x="4404" y="2723"/>
              <a:ext cx="0" cy="4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" name="Line 208"/>
            <p:cNvSpPr>
              <a:spLocks noChangeShapeType="1"/>
            </p:cNvSpPr>
            <p:nvPr/>
          </p:nvSpPr>
          <p:spPr bwMode="auto">
            <a:xfrm>
              <a:off x="4404" y="2795"/>
              <a:ext cx="0" cy="49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" name="Group 214"/>
          <p:cNvGrpSpPr>
            <a:grpSpLocks/>
          </p:cNvGrpSpPr>
          <p:nvPr/>
        </p:nvGrpSpPr>
        <p:grpSpPr bwMode="auto">
          <a:xfrm flipV="1">
            <a:off x="2861254" y="4049713"/>
            <a:ext cx="2693988" cy="85725"/>
            <a:chOff x="113" y="2024"/>
            <a:chExt cx="1769" cy="0"/>
          </a:xfrm>
        </p:grpSpPr>
        <p:sp>
          <p:nvSpPr>
            <p:cNvPr id="196" name="Line 209"/>
            <p:cNvSpPr>
              <a:spLocks noChangeShapeType="1"/>
            </p:cNvSpPr>
            <p:nvPr/>
          </p:nvSpPr>
          <p:spPr bwMode="auto">
            <a:xfrm>
              <a:off x="113" y="2024"/>
              <a:ext cx="49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7" name="Line 210"/>
            <p:cNvSpPr>
              <a:spLocks noChangeShapeType="1"/>
            </p:cNvSpPr>
            <p:nvPr/>
          </p:nvSpPr>
          <p:spPr bwMode="auto">
            <a:xfrm>
              <a:off x="748" y="2024"/>
              <a:ext cx="49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" name="Line 211"/>
            <p:cNvSpPr>
              <a:spLocks noChangeShapeType="1"/>
            </p:cNvSpPr>
            <p:nvPr/>
          </p:nvSpPr>
          <p:spPr bwMode="auto">
            <a:xfrm>
              <a:off x="657" y="2024"/>
              <a:ext cx="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" name="Line 212"/>
            <p:cNvSpPr>
              <a:spLocks noChangeShapeType="1"/>
            </p:cNvSpPr>
            <p:nvPr/>
          </p:nvSpPr>
          <p:spPr bwMode="auto">
            <a:xfrm>
              <a:off x="1383" y="2024"/>
              <a:ext cx="49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0" name="Line 213"/>
            <p:cNvSpPr>
              <a:spLocks noChangeShapeType="1"/>
            </p:cNvSpPr>
            <p:nvPr/>
          </p:nvSpPr>
          <p:spPr bwMode="auto">
            <a:xfrm>
              <a:off x="1292" y="2024"/>
              <a:ext cx="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1" name="Group 215"/>
          <p:cNvGrpSpPr>
            <a:grpSpLocks/>
          </p:cNvGrpSpPr>
          <p:nvPr/>
        </p:nvGrpSpPr>
        <p:grpSpPr bwMode="auto">
          <a:xfrm flipV="1">
            <a:off x="6579179" y="4048125"/>
            <a:ext cx="2447925" cy="85725"/>
            <a:chOff x="113" y="2024"/>
            <a:chExt cx="1769" cy="0"/>
          </a:xfrm>
        </p:grpSpPr>
        <p:sp>
          <p:nvSpPr>
            <p:cNvPr id="202" name="Line 216"/>
            <p:cNvSpPr>
              <a:spLocks noChangeShapeType="1"/>
            </p:cNvSpPr>
            <p:nvPr/>
          </p:nvSpPr>
          <p:spPr bwMode="auto">
            <a:xfrm>
              <a:off x="113" y="2024"/>
              <a:ext cx="49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3" name="Line 217"/>
            <p:cNvSpPr>
              <a:spLocks noChangeShapeType="1"/>
            </p:cNvSpPr>
            <p:nvPr/>
          </p:nvSpPr>
          <p:spPr bwMode="auto">
            <a:xfrm>
              <a:off x="748" y="2024"/>
              <a:ext cx="49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" name="Line 218"/>
            <p:cNvSpPr>
              <a:spLocks noChangeShapeType="1"/>
            </p:cNvSpPr>
            <p:nvPr/>
          </p:nvSpPr>
          <p:spPr bwMode="auto">
            <a:xfrm>
              <a:off x="657" y="2024"/>
              <a:ext cx="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" name="Line 219"/>
            <p:cNvSpPr>
              <a:spLocks noChangeShapeType="1"/>
            </p:cNvSpPr>
            <p:nvPr/>
          </p:nvSpPr>
          <p:spPr bwMode="auto">
            <a:xfrm>
              <a:off x="1383" y="2024"/>
              <a:ext cx="49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" name="Line 220"/>
            <p:cNvSpPr>
              <a:spLocks noChangeShapeType="1"/>
            </p:cNvSpPr>
            <p:nvPr/>
          </p:nvSpPr>
          <p:spPr bwMode="auto">
            <a:xfrm>
              <a:off x="1292" y="2024"/>
              <a:ext cx="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7" name="Text Box 2"/>
          <p:cNvSpPr txBox="1">
            <a:spLocks noChangeArrowheads="1"/>
          </p:cNvSpPr>
          <p:nvPr/>
        </p:nvSpPr>
        <p:spPr bwMode="auto">
          <a:xfrm>
            <a:off x="2212760" y="5675313"/>
            <a:ext cx="7759700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63538" indent="-363538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None/>
            </a:pPr>
            <a:r>
              <a:rPr lang="en-US" altLang="zh-CN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zh-CN" altLang="en-US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若干</a:t>
            </a:r>
            <a:r>
              <a:rPr kumimoji="1"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直径相同且成规律分布的孔</a:t>
            </a:r>
            <a:r>
              <a:rPr kumimoji="1" lang="zh-CN" altLang="en-US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，</a:t>
            </a:r>
            <a:r>
              <a:rPr lang="zh-CN" altLang="en-US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可以仅画出一个或几个，其余只需用</a:t>
            </a:r>
            <a:r>
              <a:rPr kumimoji="1"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细点画线</a:t>
            </a:r>
            <a:r>
              <a:rPr lang="zh-CN" altLang="en-US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表示其中心位置。</a:t>
            </a:r>
          </a:p>
        </p:txBody>
      </p:sp>
    </p:spTree>
    <p:extLst>
      <p:ext uri="{BB962C8B-B14F-4D97-AF65-F5344CB8AC3E}">
        <p14:creationId xmlns:p14="http://schemas.microsoft.com/office/powerpoint/2010/main" val="14873185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 autoUpdateAnimBg="0"/>
      <p:bldP spid="4" grpId="0" animBg="1" autoUpdateAnimBg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2247900" y="5308601"/>
            <a:ext cx="77597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63538" indent="-363538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 </a:t>
            </a:r>
            <a:r>
              <a:rPr lang="zh-CN" altLang="en-US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当回转体机件上某些平面在图形中不能充分表达时，可用平面符号（两条相交的细实线）表示这些平面。</a:t>
            </a:r>
          </a:p>
        </p:txBody>
      </p:sp>
      <p:grpSp>
        <p:nvGrpSpPr>
          <p:cNvPr id="3" name="Group 3"/>
          <p:cNvGrpSpPr>
            <a:grpSpLocks/>
          </p:cNvGrpSpPr>
          <p:nvPr/>
        </p:nvGrpSpPr>
        <p:grpSpPr bwMode="auto">
          <a:xfrm>
            <a:off x="2901951" y="1260044"/>
            <a:ext cx="6162675" cy="3816350"/>
            <a:chOff x="192" y="480"/>
            <a:chExt cx="5178" cy="3206"/>
          </a:xfrm>
        </p:grpSpPr>
        <p:graphicFrame>
          <p:nvGraphicFramePr>
            <p:cNvPr id="4" name="Object 4"/>
            <p:cNvGraphicFramePr>
              <a:graphicFrameLocks/>
            </p:cNvGraphicFramePr>
            <p:nvPr/>
          </p:nvGraphicFramePr>
          <p:xfrm>
            <a:off x="528" y="2160"/>
            <a:ext cx="2016" cy="152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r:id="rId2" imgW="2542857" imgH="1924319" progId="Paint.Picture">
                    <p:embed/>
                  </p:oleObj>
                </mc:Choice>
                <mc:Fallback>
                  <p:oleObj r:id="rId2" imgW="2542857" imgH="1924319" progId="Paint.Picture">
                    <p:embed/>
                    <p:pic>
                      <p:nvPicPr>
                        <p:cNvPr id="0" name=""/>
                        <p:cNvPicPr>
                          <a:picLocks noChangeArrowheads="1"/>
                        </p:cNvPicPr>
                        <p:nvPr/>
                      </p:nvPicPr>
                      <p:blipFill>
                        <a:blip r:embed="rId3">
                          <a:clrChange>
                            <a:clrFrom>
                              <a:srgbClr val="FFFFFF"/>
                            </a:clrFrom>
                            <a:clrTo>
                              <a:srgbClr val="FFFFFF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8" y="2160"/>
                          <a:ext cx="2016" cy="152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38100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5" name="Group 5"/>
            <p:cNvGrpSpPr>
              <a:grpSpLocks/>
            </p:cNvGrpSpPr>
            <p:nvPr/>
          </p:nvGrpSpPr>
          <p:grpSpPr bwMode="auto">
            <a:xfrm>
              <a:off x="192" y="480"/>
              <a:ext cx="2168" cy="1026"/>
              <a:chOff x="1632" y="432"/>
              <a:chExt cx="1192" cy="563"/>
            </a:xfrm>
          </p:grpSpPr>
          <p:grpSp>
            <p:nvGrpSpPr>
              <p:cNvPr id="31" name="Group 6"/>
              <p:cNvGrpSpPr>
                <a:grpSpLocks/>
              </p:cNvGrpSpPr>
              <p:nvPr/>
            </p:nvGrpSpPr>
            <p:grpSpPr bwMode="auto">
              <a:xfrm>
                <a:off x="1632" y="432"/>
                <a:ext cx="1192" cy="563"/>
                <a:chOff x="1958" y="1359"/>
                <a:chExt cx="1192" cy="563"/>
              </a:xfrm>
            </p:grpSpPr>
            <p:grpSp>
              <p:nvGrpSpPr>
                <p:cNvPr id="35" name="Group 7"/>
                <p:cNvGrpSpPr>
                  <a:grpSpLocks/>
                </p:cNvGrpSpPr>
                <p:nvPr/>
              </p:nvGrpSpPr>
              <p:grpSpPr bwMode="auto">
                <a:xfrm>
                  <a:off x="1958" y="1640"/>
                  <a:ext cx="1192" cy="1"/>
                  <a:chOff x="1958" y="1640"/>
                  <a:chExt cx="1192" cy="1"/>
                </a:xfrm>
              </p:grpSpPr>
              <p:sp>
                <p:nvSpPr>
                  <p:cNvPr id="49" name="Freeform 8"/>
                  <p:cNvSpPr>
                    <a:spLocks noChangeArrowheads="1"/>
                  </p:cNvSpPr>
                  <p:nvPr/>
                </p:nvSpPr>
                <p:spPr bwMode="auto">
                  <a:xfrm>
                    <a:off x="3047" y="1640"/>
                    <a:ext cx="103" cy="1"/>
                  </a:xfrm>
                  <a:custGeom>
                    <a:avLst/>
                    <a:gdLst>
                      <a:gd name="T0" fmla="*/ 926 w 926"/>
                      <a:gd name="T1" fmla="*/ 0 h 1"/>
                      <a:gd name="T2" fmla="*/ 0 w 926"/>
                      <a:gd name="T3" fmla="*/ 0 h 1"/>
                      <a:gd name="T4" fmla="*/ 1 w 926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26" h="1">
                        <a:moveTo>
                          <a:pt x="926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50" name="Freeform 9"/>
                  <p:cNvSpPr>
                    <a:spLocks noChangeArrowheads="1"/>
                  </p:cNvSpPr>
                  <p:nvPr/>
                </p:nvSpPr>
                <p:spPr bwMode="auto">
                  <a:xfrm>
                    <a:off x="3001" y="1640"/>
                    <a:ext cx="23" cy="1"/>
                  </a:xfrm>
                  <a:custGeom>
                    <a:avLst/>
                    <a:gdLst>
                      <a:gd name="T0" fmla="*/ 207 w 207"/>
                      <a:gd name="T1" fmla="*/ 0 h 1"/>
                      <a:gd name="T2" fmla="*/ 0 w 207"/>
                      <a:gd name="T3" fmla="*/ 0 h 1"/>
                      <a:gd name="T4" fmla="*/ 1 w 207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07" h="1">
                        <a:moveTo>
                          <a:pt x="207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51" name="Freeform 10"/>
                  <p:cNvSpPr>
                    <a:spLocks noChangeArrowheads="1"/>
                  </p:cNvSpPr>
                  <p:nvPr/>
                </p:nvSpPr>
                <p:spPr bwMode="auto">
                  <a:xfrm>
                    <a:off x="2864" y="1640"/>
                    <a:ext cx="114" cy="1"/>
                  </a:xfrm>
                  <a:custGeom>
                    <a:avLst/>
                    <a:gdLst>
                      <a:gd name="T0" fmla="*/ 1032 w 1032"/>
                      <a:gd name="T1" fmla="*/ 0 h 1"/>
                      <a:gd name="T2" fmla="*/ 0 w 1032"/>
                      <a:gd name="T3" fmla="*/ 0 h 1"/>
                      <a:gd name="T4" fmla="*/ 1 w 103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32" h="1">
                        <a:moveTo>
                          <a:pt x="103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52" name="Freeform 11"/>
                  <p:cNvSpPr>
                    <a:spLocks noChangeArrowheads="1"/>
                  </p:cNvSpPr>
                  <p:nvPr/>
                </p:nvSpPr>
                <p:spPr bwMode="auto">
                  <a:xfrm>
                    <a:off x="2818" y="1640"/>
                    <a:ext cx="23" cy="1"/>
                  </a:xfrm>
                  <a:custGeom>
                    <a:avLst/>
                    <a:gdLst>
                      <a:gd name="T0" fmla="*/ 206 w 206"/>
                      <a:gd name="T1" fmla="*/ 0 h 1"/>
                      <a:gd name="T2" fmla="*/ 0 w 206"/>
                      <a:gd name="T3" fmla="*/ 0 h 1"/>
                      <a:gd name="T4" fmla="*/ 1 w 206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06" h="1">
                        <a:moveTo>
                          <a:pt x="206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53" name="Freeform 12"/>
                  <p:cNvSpPr>
                    <a:spLocks noChangeArrowheads="1"/>
                  </p:cNvSpPr>
                  <p:nvPr/>
                </p:nvSpPr>
                <p:spPr bwMode="auto">
                  <a:xfrm>
                    <a:off x="2680" y="1640"/>
                    <a:ext cx="115" cy="1"/>
                  </a:xfrm>
                  <a:custGeom>
                    <a:avLst/>
                    <a:gdLst>
                      <a:gd name="T0" fmla="*/ 1033 w 1033"/>
                      <a:gd name="T1" fmla="*/ 0 h 1"/>
                      <a:gd name="T2" fmla="*/ 0 w 1033"/>
                      <a:gd name="T3" fmla="*/ 0 h 1"/>
                      <a:gd name="T4" fmla="*/ 1 w 103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33" h="1">
                        <a:moveTo>
                          <a:pt x="1033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54" name="Freeform 13"/>
                  <p:cNvSpPr>
                    <a:spLocks noChangeArrowheads="1"/>
                  </p:cNvSpPr>
                  <p:nvPr/>
                </p:nvSpPr>
                <p:spPr bwMode="auto">
                  <a:xfrm>
                    <a:off x="2634" y="1640"/>
                    <a:ext cx="23" cy="1"/>
                  </a:xfrm>
                  <a:custGeom>
                    <a:avLst/>
                    <a:gdLst>
                      <a:gd name="T0" fmla="*/ 206 w 206"/>
                      <a:gd name="T1" fmla="*/ 0 h 1"/>
                      <a:gd name="T2" fmla="*/ 0 w 206"/>
                      <a:gd name="T3" fmla="*/ 0 h 1"/>
                      <a:gd name="T4" fmla="*/ 1 w 206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06" h="1">
                        <a:moveTo>
                          <a:pt x="206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55" name="Freeform 14"/>
                  <p:cNvSpPr>
                    <a:spLocks noChangeArrowheads="1"/>
                  </p:cNvSpPr>
                  <p:nvPr/>
                </p:nvSpPr>
                <p:spPr bwMode="auto">
                  <a:xfrm>
                    <a:off x="2497" y="1640"/>
                    <a:ext cx="114" cy="1"/>
                  </a:xfrm>
                  <a:custGeom>
                    <a:avLst/>
                    <a:gdLst>
                      <a:gd name="T0" fmla="*/ 1032 w 1032"/>
                      <a:gd name="T1" fmla="*/ 0 h 1"/>
                      <a:gd name="T2" fmla="*/ 0 w 1032"/>
                      <a:gd name="T3" fmla="*/ 0 h 1"/>
                      <a:gd name="T4" fmla="*/ 1 w 103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32" h="1">
                        <a:moveTo>
                          <a:pt x="103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56" name="Freeform 15"/>
                  <p:cNvSpPr>
                    <a:spLocks noChangeArrowheads="1"/>
                  </p:cNvSpPr>
                  <p:nvPr/>
                </p:nvSpPr>
                <p:spPr bwMode="auto">
                  <a:xfrm>
                    <a:off x="2451" y="1640"/>
                    <a:ext cx="23" cy="1"/>
                  </a:xfrm>
                  <a:custGeom>
                    <a:avLst/>
                    <a:gdLst>
                      <a:gd name="T0" fmla="*/ 206 w 206"/>
                      <a:gd name="T1" fmla="*/ 0 h 1"/>
                      <a:gd name="T2" fmla="*/ 0 w 206"/>
                      <a:gd name="T3" fmla="*/ 0 h 1"/>
                      <a:gd name="T4" fmla="*/ 1 w 206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06" h="1">
                        <a:moveTo>
                          <a:pt x="206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57" name="Freeform 16"/>
                  <p:cNvSpPr>
                    <a:spLocks noChangeArrowheads="1"/>
                  </p:cNvSpPr>
                  <p:nvPr/>
                </p:nvSpPr>
                <p:spPr bwMode="auto">
                  <a:xfrm>
                    <a:off x="2313" y="1640"/>
                    <a:ext cx="115" cy="1"/>
                  </a:xfrm>
                  <a:custGeom>
                    <a:avLst/>
                    <a:gdLst>
                      <a:gd name="T0" fmla="*/ 1032 w 1032"/>
                      <a:gd name="T1" fmla="*/ 0 h 1"/>
                      <a:gd name="T2" fmla="*/ 0 w 1032"/>
                      <a:gd name="T3" fmla="*/ 0 h 1"/>
                      <a:gd name="T4" fmla="*/ 1 w 103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32" h="1">
                        <a:moveTo>
                          <a:pt x="103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58" name="Freeform 17"/>
                  <p:cNvSpPr>
                    <a:spLocks noChangeArrowheads="1"/>
                  </p:cNvSpPr>
                  <p:nvPr/>
                </p:nvSpPr>
                <p:spPr bwMode="auto">
                  <a:xfrm>
                    <a:off x="2267" y="1640"/>
                    <a:ext cx="23" cy="1"/>
                  </a:xfrm>
                  <a:custGeom>
                    <a:avLst/>
                    <a:gdLst>
                      <a:gd name="T0" fmla="*/ 207 w 207"/>
                      <a:gd name="T1" fmla="*/ 0 h 1"/>
                      <a:gd name="T2" fmla="*/ 0 w 207"/>
                      <a:gd name="T3" fmla="*/ 0 h 1"/>
                      <a:gd name="T4" fmla="*/ 1 w 207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07" h="1">
                        <a:moveTo>
                          <a:pt x="207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59" name="Freeform 18"/>
                  <p:cNvSpPr>
                    <a:spLocks noChangeArrowheads="1"/>
                  </p:cNvSpPr>
                  <p:nvPr/>
                </p:nvSpPr>
                <p:spPr bwMode="auto">
                  <a:xfrm>
                    <a:off x="2129" y="1640"/>
                    <a:ext cx="115" cy="1"/>
                  </a:xfrm>
                  <a:custGeom>
                    <a:avLst/>
                    <a:gdLst>
                      <a:gd name="T0" fmla="*/ 1034 w 1034"/>
                      <a:gd name="T1" fmla="*/ 0 h 1"/>
                      <a:gd name="T2" fmla="*/ 0 w 1034"/>
                      <a:gd name="T3" fmla="*/ 0 h 1"/>
                      <a:gd name="T4" fmla="*/ 1 w 103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34" h="1">
                        <a:moveTo>
                          <a:pt x="1034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60" name="Freeform 19"/>
                  <p:cNvSpPr>
                    <a:spLocks noChangeArrowheads="1"/>
                  </p:cNvSpPr>
                  <p:nvPr/>
                </p:nvSpPr>
                <p:spPr bwMode="auto">
                  <a:xfrm>
                    <a:off x="2084" y="1640"/>
                    <a:ext cx="23" cy="1"/>
                  </a:xfrm>
                  <a:custGeom>
                    <a:avLst/>
                    <a:gdLst>
                      <a:gd name="T0" fmla="*/ 207 w 207"/>
                      <a:gd name="T1" fmla="*/ 0 h 1"/>
                      <a:gd name="T2" fmla="*/ 0 w 207"/>
                      <a:gd name="T3" fmla="*/ 0 h 1"/>
                      <a:gd name="T4" fmla="*/ 1 w 207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07" h="1">
                        <a:moveTo>
                          <a:pt x="207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61" name="Freeform 20"/>
                  <p:cNvSpPr>
                    <a:spLocks noChangeArrowheads="1"/>
                  </p:cNvSpPr>
                  <p:nvPr/>
                </p:nvSpPr>
                <p:spPr bwMode="auto">
                  <a:xfrm>
                    <a:off x="1958" y="1640"/>
                    <a:ext cx="103" cy="1"/>
                  </a:xfrm>
                  <a:custGeom>
                    <a:avLst/>
                    <a:gdLst>
                      <a:gd name="T0" fmla="*/ 924 w 924"/>
                      <a:gd name="T1" fmla="*/ 0 h 1"/>
                      <a:gd name="T2" fmla="*/ 0 w 924"/>
                      <a:gd name="T3" fmla="*/ 0 h 1"/>
                      <a:gd name="T4" fmla="*/ 1 w 92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24" h="1">
                        <a:moveTo>
                          <a:pt x="924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36" name="Group 21"/>
                <p:cNvGrpSpPr>
                  <a:grpSpLocks/>
                </p:cNvGrpSpPr>
                <p:nvPr/>
              </p:nvGrpSpPr>
              <p:grpSpPr bwMode="auto">
                <a:xfrm>
                  <a:off x="2006" y="1359"/>
                  <a:ext cx="1084" cy="563"/>
                  <a:chOff x="2006" y="1359"/>
                  <a:chExt cx="1084" cy="563"/>
                </a:xfrm>
              </p:grpSpPr>
              <p:sp>
                <p:nvSpPr>
                  <p:cNvPr id="37" name="Freeform 22"/>
                  <p:cNvSpPr>
                    <a:spLocks noChangeArrowheads="1"/>
                  </p:cNvSpPr>
                  <p:nvPr/>
                </p:nvSpPr>
                <p:spPr bwMode="auto">
                  <a:xfrm>
                    <a:off x="2006" y="1512"/>
                    <a:ext cx="1" cy="256"/>
                  </a:xfrm>
                  <a:custGeom>
                    <a:avLst/>
                    <a:gdLst>
                      <a:gd name="T0" fmla="*/ 0 w 1"/>
                      <a:gd name="T1" fmla="*/ 0 h 2301"/>
                      <a:gd name="T2" fmla="*/ 0 w 1"/>
                      <a:gd name="T3" fmla="*/ 2301 h 2301"/>
                      <a:gd name="T4" fmla="*/ 1 w 1"/>
                      <a:gd name="T5" fmla="*/ 2301 h 23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301">
                        <a:moveTo>
                          <a:pt x="0" y="0"/>
                        </a:moveTo>
                        <a:lnTo>
                          <a:pt x="0" y="2301"/>
                        </a:lnTo>
                        <a:lnTo>
                          <a:pt x="1" y="230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8" name="Freeform 23"/>
                  <p:cNvSpPr>
                    <a:spLocks noChangeArrowheads="1"/>
                  </p:cNvSpPr>
                  <p:nvPr/>
                </p:nvSpPr>
                <p:spPr bwMode="auto">
                  <a:xfrm>
                    <a:off x="2006" y="1441"/>
                    <a:ext cx="506" cy="71"/>
                  </a:xfrm>
                  <a:custGeom>
                    <a:avLst/>
                    <a:gdLst>
                      <a:gd name="T0" fmla="*/ 4552 w 4552"/>
                      <a:gd name="T1" fmla="*/ 0 h 640"/>
                      <a:gd name="T2" fmla="*/ 0 w 4552"/>
                      <a:gd name="T3" fmla="*/ 640 h 640"/>
                      <a:gd name="T4" fmla="*/ 1 w 4552"/>
                      <a:gd name="T5" fmla="*/ 640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552" h="640">
                        <a:moveTo>
                          <a:pt x="4552" y="0"/>
                        </a:moveTo>
                        <a:lnTo>
                          <a:pt x="0" y="640"/>
                        </a:lnTo>
                        <a:lnTo>
                          <a:pt x="1" y="64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9" name="Freeform 24"/>
                  <p:cNvSpPr>
                    <a:spLocks noChangeArrowheads="1"/>
                  </p:cNvSpPr>
                  <p:nvPr/>
                </p:nvSpPr>
                <p:spPr bwMode="auto">
                  <a:xfrm>
                    <a:off x="2006" y="1768"/>
                    <a:ext cx="506" cy="71"/>
                  </a:xfrm>
                  <a:custGeom>
                    <a:avLst/>
                    <a:gdLst>
                      <a:gd name="T0" fmla="*/ 4552 w 4552"/>
                      <a:gd name="T1" fmla="*/ 640 h 640"/>
                      <a:gd name="T2" fmla="*/ 0 w 4552"/>
                      <a:gd name="T3" fmla="*/ 0 h 640"/>
                      <a:gd name="T4" fmla="*/ 1 w 4552"/>
                      <a:gd name="T5" fmla="*/ 0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552" h="640">
                        <a:moveTo>
                          <a:pt x="4552" y="64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0" name="Line 25"/>
                  <p:cNvSpPr>
                    <a:spLocks noChangeShapeType="1"/>
                  </p:cNvSpPr>
                  <p:nvPr/>
                </p:nvSpPr>
                <p:spPr bwMode="auto">
                  <a:xfrm>
                    <a:off x="2512" y="1441"/>
                    <a:ext cx="1" cy="1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" name="Freeform 26"/>
                  <p:cNvSpPr>
                    <a:spLocks noChangeArrowheads="1"/>
                  </p:cNvSpPr>
                  <p:nvPr/>
                </p:nvSpPr>
                <p:spPr bwMode="auto">
                  <a:xfrm>
                    <a:off x="2512" y="183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2" name="Freeform 27"/>
                  <p:cNvSpPr>
                    <a:spLocks noChangeArrowheads="1"/>
                  </p:cNvSpPr>
                  <p:nvPr/>
                </p:nvSpPr>
                <p:spPr bwMode="auto">
                  <a:xfrm>
                    <a:off x="2512" y="1839"/>
                    <a:ext cx="1" cy="82"/>
                  </a:xfrm>
                  <a:custGeom>
                    <a:avLst/>
                    <a:gdLst>
                      <a:gd name="T0" fmla="*/ 0 w 1"/>
                      <a:gd name="T1" fmla="*/ 742 h 742"/>
                      <a:gd name="T2" fmla="*/ 0 w 1"/>
                      <a:gd name="T3" fmla="*/ 0 h 742"/>
                      <a:gd name="T4" fmla="*/ 1 w 1"/>
                      <a:gd name="T5" fmla="*/ 0 h 7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742">
                        <a:moveTo>
                          <a:pt x="0" y="742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3" name="Freeform 28"/>
                  <p:cNvSpPr>
                    <a:spLocks noChangeArrowheads="1"/>
                  </p:cNvSpPr>
                  <p:nvPr/>
                </p:nvSpPr>
                <p:spPr bwMode="auto">
                  <a:xfrm>
                    <a:off x="2512" y="1441"/>
                    <a:ext cx="1" cy="398"/>
                  </a:xfrm>
                  <a:custGeom>
                    <a:avLst/>
                    <a:gdLst>
                      <a:gd name="T0" fmla="*/ 0 w 1"/>
                      <a:gd name="T1" fmla="*/ 3580 h 3580"/>
                      <a:gd name="T2" fmla="*/ 0 w 1"/>
                      <a:gd name="T3" fmla="*/ 0 h 3580"/>
                      <a:gd name="T4" fmla="*/ 1 w 1"/>
                      <a:gd name="T5" fmla="*/ 0 h 35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580">
                        <a:moveTo>
                          <a:pt x="0" y="358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4" name="Freeform 29"/>
                  <p:cNvSpPr>
                    <a:spLocks noChangeArrowheads="1"/>
                  </p:cNvSpPr>
                  <p:nvPr/>
                </p:nvSpPr>
                <p:spPr bwMode="auto">
                  <a:xfrm>
                    <a:off x="2512" y="1359"/>
                    <a:ext cx="1" cy="82"/>
                  </a:xfrm>
                  <a:custGeom>
                    <a:avLst/>
                    <a:gdLst>
                      <a:gd name="T0" fmla="*/ 0 w 1"/>
                      <a:gd name="T1" fmla="*/ 742 h 742"/>
                      <a:gd name="T2" fmla="*/ 0 w 1"/>
                      <a:gd name="T3" fmla="*/ 0 h 742"/>
                      <a:gd name="T4" fmla="*/ 1 w 1"/>
                      <a:gd name="T5" fmla="*/ 0 h 7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742">
                        <a:moveTo>
                          <a:pt x="0" y="742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5" name="Freeform 30"/>
                  <p:cNvSpPr>
                    <a:spLocks noChangeArrowheads="1"/>
                  </p:cNvSpPr>
                  <p:nvPr/>
                </p:nvSpPr>
                <p:spPr bwMode="auto">
                  <a:xfrm>
                    <a:off x="3089" y="1359"/>
                    <a:ext cx="1" cy="281"/>
                  </a:xfrm>
                  <a:custGeom>
                    <a:avLst/>
                    <a:gdLst>
                      <a:gd name="T0" fmla="*/ 0 w 1"/>
                      <a:gd name="T1" fmla="*/ 0 h 2532"/>
                      <a:gd name="T2" fmla="*/ 0 w 1"/>
                      <a:gd name="T3" fmla="*/ 2532 h 2532"/>
                      <a:gd name="T4" fmla="*/ 1 w 1"/>
                      <a:gd name="T5" fmla="*/ 2532 h 25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532">
                        <a:moveTo>
                          <a:pt x="0" y="0"/>
                        </a:moveTo>
                        <a:lnTo>
                          <a:pt x="0" y="2532"/>
                        </a:lnTo>
                        <a:lnTo>
                          <a:pt x="1" y="2532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6" name="Freeform 31"/>
                  <p:cNvSpPr>
                    <a:spLocks noChangeArrowheads="1"/>
                  </p:cNvSpPr>
                  <p:nvPr/>
                </p:nvSpPr>
                <p:spPr bwMode="auto">
                  <a:xfrm>
                    <a:off x="3089" y="1640"/>
                    <a:ext cx="1" cy="281"/>
                  </a:xfrm>
                  <a:custGeom>
                    <a:avLst/>
                    <a:gdLst>
                      <a:gd name="T0" fmla="*/ 0 w 1"/>
                      <a:gd name="T1" fmla="*/ 0 h 2533"/>
                      <a:gd name="T2" fmla="*/ 0 w 1"/>
                      <a:gd name="T3" fmla="*/ 2533 h 2533"/>
                      <a:gd name="T4" fmla="*/ 1 w 1"/>
                      <a:gd name="T5" fmla="*/ 2533 h 25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533">
                        <a:moveTo>
                          <a:pt x="0" y="0"/>
                        </a:moveTo>
                        <a:lnTo>
                          <a:pt x="0" y="2533"/>
                        </a:lnTo>
                        <a:lnTo>
                          <a:pt x="1" y="2533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7" name="Freeform 32"/>
                  <p:cNvSpPr>
                    <a:spLocks noChangeArrowheads="1"/>
                  </p:cNvSpPr>
                  <p:nvPr/>
                </p:nvSpPr>
                <p:spPr bwMode="auto">
                  <a:xfrm>
                    <a:off x="2512" y="1921"/>
                    <a:ext cx="577" cy="1"/>
                  </a:xfrm>
                  <a:custGeom>
                    <a:avLst/>
                    <a:gdLst>
                      <a:gd name="T0" fmla="*/ 0 w 5196"/>
                      <a:gd name="T1" fmla="*/ 0 h 1"/>
                      <a:gd name="T2" fmla="*/ 5195 w 5196"/>
                      <a:gd name="T3" fmla="*/ 0 h 1"/>
                      <a:gd name="T4" fmla="*/ 5196 w 5196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196" h="1">
                        <a:moveTo>
                          <a:pt x="0" y="0"/>
                        </a:moveTo>
                        <a:lnTo>
                          <a:pt x="5195" y="0"/>
                        </a:lnTo>
                        <a:lnTo>
                          <a:pt x="5196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48" name="Freeform 33"/>
                  <p:cNvSpPr>
                    <a:spLocks noChangeArrowheads="1"/>
                  </p:cNvSpPr>
                  <p:nvPr/>
                </p:nvSpPr>
                <p:spPr bwMode="auto">
                  <a:xfrm>
                    <a:off x="2512" y="1359"/>
                    <a:ext cx="577" cy="1"/>
                  </a:xfrm>
                  <a:custGeom>
                    <a:avLst/>
                    <a:gdLst>
                      <a:gd name="T0" fmla="*/ 5195 w 5195"/>
                      <a:gd name="T1" fmla="*/ 0 h 1"/>
                      <a:gd name="T2" fmla="*/ 0 w 5195"/>
                      <a:gd name="T3" fmla="*/ 0 h 1"/>
                      <a:gd name="T4" fmla="*/ 1 w 519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195" h="1">
                        <a:moveTo>
                          <a:pt x="5195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32" name="Group 34"/>
              <p:cNvGrpSpPr>
                <a:grpSpLocks/>
              </p:cNvGrpSpPr>
              <p:nvPr/>
            </p:nvGrpSpPr>
            <p:grpSpPr bwMode="auto">
              <a:xfrm>
                <a:off x="1680" y="514"/>
                <a:ext cx="506" cy="398"/>
                <a:chOff x="2006" y="1441"/>
                <a:chExt cx="506" cy="398"/>
              </a:xfrm>
            </p:grpSpPr>
            <p:sp>
              <p:nvSpPr>
                <p:cNvPr id="33" name="Freeform 35"/>
                <p:cNvSpPr>
                  <a:spLocks noChangeArrowheads="1"/>
                </p:cNvSpPr>
                <p:nvPr/>
              </p:nvSpPr>
              <p:spPr bwMode="auto">
                <a:xfrm>
                  <a:off x="2006" y="1512"/>
                  <a:ext cx="506" cy="327"/>
                </a:xfrm>
                <a:custGeom>
                  <a:avLst/>
                  <a:gdLst>
                    <a:gd name="T0" fmla="*/ 0 w 4553"/>
                    <a:gd name="T1" fmla="*/ 0 h 2940"/>
                    <a:gd name="T2" fmla="*/ 4552 w 4553"/>
                    <a:gd name="T3" fmla="*/ 2940 h 2940"/>
                    <a:gd name="T4" fmla="*/ 4553 w 4553"/>
                    <a:gd name="T5" fmla="*/ 2940 h 29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553" h="2940">
                      <a:moveTo>
                        <a:pt x="0" y="0"/>
                      </a:moveTo>
                      <a:lnTo>
                        <a:pt x="4552" y="2940"/>
                      </a:lnTo>
                      <a:lnTo>
                        <a:pt x="4553" y="2940"/>
                      </a:lnTo>
                    </a:path>
                  </a:pathLst>
                </a:custGeom>
                <a:noFill/>
                <a:ln w="1270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4" name="Freeform 36"/>
                <p:cNvSpPr>
                  <a:spLocks noChangeArrowheads="1"/>
                </p:cNvSpPr>
                <p:nvPr/>
              </p:nvSpPr>
              <p:spPr bwMode="auto">
                <a:xfrm>
                  <a:off x="2006" y="1441"/>
                  <a:ext cx="506" cy="327"/>
                </a:xfrm>
                <a:custGeom>
                  <a:avLst/>
                  <a:gdLst>
                    <a:gd name="T0" fmla="*/ 0 w 4553"/>
                    <a:gd name="T1" fmla="*/ 2941 h 2941"/>
                    <a:gd name="T2" fmla="*/ 4552 w 4553"/>
                    <a:gd name="T3" fmla="*/ 0 h 2941"/>
                    <a:gd name="T4" fmla="*/ 4553 w 4553"/>
                    <a:gd name="T5" fmla="*/ 0 h 29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553" h="2941">
                      <a:moveTo>
                        <a:pt x="0" y="2941"/>
                      </a:moveTo>
                      <a:lnTo>
                        <a:pt x="4552" y="0"/>
                      </a:lnTo>
                      <a:lnTo>
                        <a:pt x="4553" y="0"/>
                      </a:lnTo>
                    </a:path>
                  </a:pathLst>
                </a:custGeom>
                <a:noFill/>
                <a:ln w="1270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</p:grpSp>
        <p:grpSp>
          <p:nvGrpSpPr>
            <p:cNvPr id="6" name="Group 37"/>
            <p:cNvGrpSpPr>
              <a:grpSpLocks/>
            </p:cNvGrpSpPr>
            <p:nvPr/>
          </p:nvGrpSpPr>
          <p:grpSpPr bwMode="auto">
            <a:xfrm>
              <a:off x="3600" y="504"/>
              <a:ext cx="1580" cy="976"/>
              <a:chOff x="3488" y="609"/>
              <a:chExt cx="1580" cy="976"/>
            </a:xfrm>
          </p:grpSpPr>
          <p:grpSp>
            <p:nvGrpSpPr>
              <p:cNvPr id="8" name="Group 38"/>
              <p:cNvGrpSpPr>
                <a:grpSpLocks/>
              </p:cNvGrpSpPr>
              <p:nvPr/>
            </p:nvGrpSpPr>
            <p:grpSpPr bwMode="auto">
              <a:xfrm>
                <a:off x="3488" y="1096"/>
                <a:ext cx="1580" cy="2"/>
                <a:chOff x="2172" y="1526"/>
                <a:chExt cx="1068" cy="1"/>
              </a:xfrm>
            </p:grpSpPr>
            <p:sp>
              <p:nvSpPr>
                <p:cNvPr id="22" name="Freeform 39"/>
                <p:cNvSpPr>
                  <a:spLocks noChangeArrowheads="1"/>
                </p:cNvSpPr>
                <p:nvPr/>
              </p:nvSpPr>
              <p:spPr bwMode="auto">
                <a:xfrm>
                  <a:off x="3068" y="1526"/>
                  <a:ext cx="172" cy="1"/>
                </a:xfrm>
                <a:custGeom>
                  <a:avLst/>
                  <a:gdLst>
                    <a:gd name="T0" fmla="*/ 1546 w 1546"/>
                    <a:gd name="T1" fmla="*/ 0 h 1"/>
                    <a:gd name="T2" fmla="*/ 0 w 1546"/>
                    <a:gd name="T3" fmla="*/ 0 h 1"/>
                    <a:gd name="T4" fmla="*/ 1 w 1546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46" h="1">
                      <a:moveTo>
                        <a:pt x="154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3" name="Freeform 40"/>
                <p:cNvSpPr>
                  <a:spLocks noChangeArrowheads="1"/>
                </p:cNvSpPr>
                <p:nvPr/>
              </p:nvSpPr>
              <p:spPr bwMode="auto">
                <a:xfrm>
                  <a:off x="3014" y="1526"/>
                  <a:ext cx="27" cy="1"/>
                </a:xfrm>
                <a:custGeom>
                  <a:avLst/>
                  <a:gdLst>
                    <a:gd name="T0" fmla="*/ 241 w 241"/>
                    <a:gd name="T1" fmla="*/ 0 h 1"/>
                    <a:gd name="T2" fmla="*/ 0 w 241"/>
                    <a:gd name="T3" fmla="*/ 0 h 1"/>
                    <a:gd name="T4" fmla="*/ 1 w 24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41" h="1">
                      <a:moveTo>
                        <a:pt x="241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" name="Freeform 41"/>
                <p:cNvSpPr>
                  <a:spLocks noChangeArrowheads="1"/>
                </p:cNvSpPr>
                <p:nvPr/>
              </p:nvSpPr>
              <p:spPr bwMode="auto">
                <a:xfrm>
                  <a:off x="2853" y="1526"/>
                  <a:ext cx="134" cy="1"/>
                </a:xfrm>
                <a:custGeom>
                  <a:avLst/>
                  <a:gdLst>
                    <a:gd name="T0" fmla="*/ 1206 w 1206"/>
                    <a:gd name="T1" fmla="*/ 0 h 1"/>
                    <a:gd name="T2" fmla="*/ 0 w 1206"/>
                    <a:gd name="T3" fmla="*/ 0 h 1"/>
                    <a:gd name="T4" fmla="*/ 1 w 1206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06" h="1">
                      <a:moveTo>
                        <a:pt x="120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" name="Freeform 42"/>
                <p:cNvSpPr>
                  <a:spLocks noChangeArrowheads="1"/>
                </p:cNvSpPr>
                <p:nvPr/>
              </p:nvSpPr>
              <p:spPr bwMode="auto">
                <a:xfrm>
                  <a:off x="2800" y="1526"/>
                  <a:ext cx="27" cy="1"/>
                </a:xfrm>
                <a:custGeom>
                  <a:avLst/>
                  <a:gdLst>
                    <a:gd name="T0" fmla="*/ 241 w 241"/>
                    <a:gd name="T1" fmla="*/ 0 h 1"/>
                    <a:gd name="T2" fmla="*/ 0 w 241"/>
                    <a:gd name="T3" fmla="*/ 0 h 1"/>
                    <a:gd name="T4" fmla="*/ 1 w 24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41" h="1">
                      <a:moveTo>
                        <a:pt x="241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" name="Freeform 43"/>
                <p:cNvSpPr>
                  <a:spLocks noChangeArrowheads="1"/>
                </p:cNvSpPr>
                <p:nvPr/>
              </p:nvSpPr>
              <p:spPr bwMode="auto">
                <a:xfrm>
                  <a:off x="2639" y="1526"/>
                  <a:ext cx="134" cy="1"/>
                </a:xfrm>
                <a:custGeom>
                  <a:avLst/>
                  <a:gdLst>
                    <a:gd name="T0" fmla="*/ 1207 w 1207"/>
                    <a:gd name="T1" fmla="*/ 0 h 1"/>
                    <a:gd name="T2" fmla="*/ 0 w 1207"/>
                    <a:gd name="T3" fmla="*/ 0 h 1"/>
                    <a:gd name="T4" fmla="*/ 1 w 1207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07" h="1">
                      <a:moveTo>
                        <a:pt x="1207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7" name="Freeform 44"/>
                <p:cNvSpPr>
                  <a:spLocks noChangeArrowheads="1"/>
                </p:cNvSpPr>
                <p:nvPr/>
              </p:nvSpPr>
              <p:spPr bwMode="auto">
                <a:xfrm>
                  <a:off x="2585" y="1526"/>
                  <a:ext cx="27" cy="1"/>
                </a:xfrm>
                <a:custGeom>
                  <a:avLst/>
                  <a:gdLst>
                    <a:gd name="T0" fmla="*/ 242 w 242"/>
                    <a:gd name="T1" fmla="*/ 0 h 1"/>
                    <a:gd name="T2" fmla="*/ 0 w 242"/>
                    <a:gd name="T3" fmla="*/ 0 h 1"/>
                    <a:gd name="T4" fmla="*/ 1 w 24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42" h="1">
                      <a:moveTo>
                        <a:pt x="242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8" name="Freeform 45"/>
                <p:cNvSpPr>
                  <a:spLocks noChangeArrowheads="1"/>
                </p:cNvSpPr>
                <p:nvPr/>
              </p:nvSpPr>
              <p:spPr bwMode="auto">
                <a:xfrm>
                  <a:off x="2425" y="1526"/>
                  <a:ext cx="134" cy="1"/>
                </a:xfrm>
                <a:custGeom>
                  <a:avLst/>
                  <a:gdLst>
                    <a:gd name="T0" fmla="*/ 1206 w 1206"/>
                    <a:gd name="T1" fmla="*/ 0 h 1"/>
                    <a:gd name="T2" fmla="*/ 0 w 1206"/>
                    <a:gd name="T3" fmla="*/ 0 h 1"/>
                    <a:gd name="T4" fmla="*/ 1 w 1206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06" h="1">
                      <a:moveTo>
                        <a:pt x="120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9" name="Freeform 46"/>
                <p:cNvSpPr>
                  <a:spLocks noChangeArrowheads="1"/>
                </p:cNvSpPr>
                <p:nvPr/>
              </p:nvSpPr>
              <p:spPr bwMode="auto">
                <a:xfrm>
                  <a:off x="2371" y="1526"/>
                  <a:ext cx="27" cy="1"/>
                </a:xfrm>
                <a:custGeom>
                  <a:avLst/>
                  <a:gdLst>
                    <a:gd name="T0" fmla="*/ 241 w 241"/>
                    <a:gd name="T1" fmla="*/ 0 h 1"/>
                    <a:gd name="T2" fmla="*/ 0 w 241"/>
                    <a:gd name="T3" fmla="*/ 0 h 1"/>
                    <a:gd name="T4" fmla="*/ 1 w 24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41" h="1">
                      <a:moveTo>
                        <a:pt x="241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0" name="Freeform 47"/>
                <p:cNvSpPr>
                  <a:spLocks noChangeArrowheads="1"/>
                </p:cNvSpPr>
                <p:nvPr/>
              </p:nvSpPr>
              <p:spPr bwMode="auto">
                <a:xfrm>
                  <a:off x="2172" y="1526"/>
                  <a:ext cx="172" cy="1"/>
                </a:xfrm>
                <a:custGeom>
                  <a:avLst/>
                  <a:gdLst>
                    <a:gd name="T0" fmla="*/ 1546 w 1546"/>
                    <a:gd name="T1" fmla="*/ 0 h 1"/>
                    <a:gd name="T2" fmla="*/ 0 w 1546"/>
                    <a:gd name="T3" fmla="*/ 0 h 1"/>
                    <a:gd name="T4" fmla="*/ 1 w 1546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46" h="1">
                      <a:moveTo>
                        <a:pt x="154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9" name="Group 48"/>
              <p:cNvGrpSpPr>
                <a:grpSpLocks/>
              </p:cNvGrpSpPr>
              <p:nvPr/>
            </p:nvGrpSpPr>
            <p:grpSpPr bwMode="auto">
              <a:xfrm>
                <a:off x="3552" y="609"/>
                <a:ext cx="1442" cy="976"/>
                <a:chOff x="3552" y="609"/>
                <a:chExt cx="1442" cy="976"/>
              </a:xfrm>
            </p:grpSpPr>
            <p:sp>
              <p:nvSpPr>
                <p:cNvPr id="13" name="Freeform 49"/>
                <p:cNvSpPr>
                  <a:spLocks noChangeArrowheads="1"/>
                </p:cNvSpPr>
                <p:nvPr/>
              </p:nvSpPr>
              <p:spPr bwMode="auto">
                <a:xfrm>
                  <a:off x="3552" y="609"/>
                  <a:ext cx="1" cy="144"/>
                </a:xfrm>
                <a:custGeom>
                  <a:avLst/>
                  <a:gdLst>
                    <a:gd name="T0" fmla="*/ 0 w 1"/>
                    <a:gd name="T1" fmla="*/ 867 h 867"/>
                    <a:gd name="T2" fmla="*/ 0 w 1"/>
                    <a:gd name="T3" fmla="*/ 0 h 867"/>
                    <a:gd name="T4" fmla="*/ 1 w 1"/>
                    <a:gd name="T5" fmla="*/ 0 h 8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867">
                      <a:moveTo>
                        <a:pt x="0" y="867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" name="Freeform 50"/>
                <p:cNvSpPr>
                  <a:spLocks noChangeArrowheads="1"/>
                </p:cNvSpPr>
                <p:nvPr/>
              </p:nvSpPr>
              <p:spPr bwMode="auto">
                <a:xfrm>
                  <a:off x="3552" y="1440"/>
                  <a:ext cx="1" cy="144"/>
                </a:xfrm>
                <a:custGeom>
                  <a:avLst/>
                  <a:gdLst>
                    <a:gd name="T0" fmla="*/ 0 w 1"/>
                    <a:gd name="T1" fmla="*/ 866 h 866"/>
                    <a:gd name="T2" fmla="*/ 0 w 1"/>
                    <a:gd name="T3" fmla="*/ 0 h 866"/>
                    <a:gd name="T4" fmla="*/ 1 w 1"/>
                    <a:gd name="T5" fmla="*/ 0 h 8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866">
                      <a:moveTo>
                        <a:pt x="0" y="866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" name="Freeform 51"/>
                <p:cNvSpPr>
                  <a:spLocks noChangeArrowheads="1"/>
                </p:cNvSpPr>
                <p:nvPr/>
              </p:nvSpPr>
              <p:spPr bwMode="auto">
                <a:xfrm>
                  <a:off x="3552" y="1440"/>
                  <a:ext cx="624" cy="1"/>
                </a:xfrm>
                <a:custGeom>
                  <a:avLst/>
                  <a:gdLst>
                    <a:gd name="T0" fmla="*/ 3798 w 3798"/>
                    <a:gd name="T1" fmla="*/ 0 h 1"/>
                    <a:gd name="T2" fmla="*/ 0 w 3798"/>
                    <a:gd name="T3" fmla="*/ 0 h 1"/>
                    <a:gd name="T4" fmla="*/ 1 w 3798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798" h="1">
                      <a:moveTo>
                        <a:pt x="3798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6" name="Freeform 52"/>
                <p:cNvSpPr>
                  <a:spLocks noChangeArrowheads="1"/>
                </p:cNvSpPr>
                <p:nvPr/>
              </p:nvSpPr>
              <p:spPr bwMode="auto">
                <a:xfrm>
                  <a:off x="3552" y="753"/>
                  <a:ext cx="1" cy="687"/>
                </a:xfrm>
                <a:custGeom>
                  <a:avLst/>
                  <a:gdLst>
                    <a:gd name="T0" fmla="*/ 0 w 1"/>
                    <a:gd name="T1" fmla="*/ 4182 h 4182"/>
                    <a:gd name="T2" fmla="*/ 0 w 1"/>
                    <a:gd name="T3" fmla="*/ 0 h 4182"/>
                    <a:gd name="T4" fmla="*/ 1 w 1"/>
                    <a:gd name="T5" fmla="*/ 0 h 4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4182">
                      <a:moveTo>
                        <a:pt x="0" y="4182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7" name="Freeform 53"/>
                <p:cNvSpPr>
                  <a:spLocks noChangeArrowheads="1"/>
                </p:cNvSpPr>
                <p:nvPr/>
              </p:nvSpPr>
              <p:spPr bwMode="auto">
                <a:xfrm>
                  <a:off x="3552" y="753"/>
                  <a:ext cx="625" cy="1"/>
                </a:xfrm>
                <a:custGeom>
                  <a:avLst/>
                  <a:gdLst>
                    <a:gd name="T0" fmla="*/ 0 w 3799"/>
                    <a:gd name="T1" fmla="*/ 0 h 1"/>
                    <a:gd name="T2" fmla="*/ 3798 w 3799"/>
                    <a:gd name="T3" fmla="*/ 0 h 1"/>
                    <a:gd name="T4" fmla="*/ 3799 w 3799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799" h="1">
                      <a:moveTo>
                        <a:pt x="0" y="0"/>
                      </a:moveTo>
                      <a:lnTo>
                        <a:pt x="3798" y="0"/>
                      </a:lnTo>
                      <a:lnTo>
                        <a:pt x="3799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" name="Freeform 54"/>
                <p:cNvSpPr>
                  <a:spLocks noChangeArrowheads="1"/>
                </p:cNvSpPr>
                <p:nvPr/>
              </p:nvSpPr>
              <p:spPr bwMode="auto">
                <a:xfrm>
                  <a:off x="4176" y="753"/>
                  <a:ext cx="1" cy="687"/>
                </a:xfrm>
                <a:custGeom>
                  <a:avLst/>
                  <a:gdLst>
                    <a:gd name="T0" fmla="*/ 0 w 1"/>
                    <a:gd name="T1" fmla="*/ 4182 h 4182"/>
                    <a:gd name="T2" fmla="*/ 0 w 1"/>
                    <a:gd name="T3" fmla="*/ 0 h 4182"/>
                    <a:gd name="T4" fmla="*/ 1 w 1"/>
                    <a:gd name="T5" fmla="*/ 0 h 4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4182">
                      <a:moveTo>
                        <a:pt x="0" y="4182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" name="Freeform 55"/>
                <p:cNvSpPr>
                  <a:spLocks noChangeArrowheads="1"/>
                </p:cNvSpPr>
                <p:nvPr/>
              </p:nvSpPr>
              <p:spPr bwMode="auto">
                <a:xfrm>
                  <a:off x="4993" y="609"/>
                  <a:ext cx="1" cy="975"/>
                </a:xfrm>
                <a:custGeom>
                  <a:avLst/>
                  <a:gdLst>
                    <a:gd name="T0" fmla="*/ 0 w 1"/>
                    <a:gd name="T1" fmla="*/ 0 h 5915"/>
                    <a:gd name="T2" fmla="*/ 0 w 1"/>
                    <a:gd name="T3" fmla="*/ 5915 h 5915"/>
                    <a:gd name="T4" fmla="*/ 1 w 1"/>
                    <a:gd name="T5" fmla="*/ 5915 h 59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915">
                      <a:moveTo>
                        <a:pt x="0" y="0"/>
                      </a:moveTo>
                      <a:lnTo>
                        <a:pt x="0" y="5915"/>
                      </a:lnTo>
                      <a:lnTo>
                        <a:pt x="1" y="5915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0" name="Freeform 56"/>
                <p:cNvSpPr>
                  <a:spLocks noChangeArrowheads="1"/>
                </p:cNvSpPr>
                <p:nvPr/>
              </p:nvSpPr>
              <p:spPr bwMode="auto">
                <a:xfrm>
                  <a:off x="3552" y="609"/>
                  <a:ext cx="1441" cy="1"/>
                </a:xfrm>
                <a:custGeom>
                  <a:avLst/>
                  <a:gdLst>
                    <a:gd name="T0" fmla="*/ 8766 w 8766"/>
                    <a:gd name="T1" fmla="*/ 0 h 1"/>
                    <a:gd name="T2" fmla="*/ 0 w 8766"/>
                    <a:gd name="T3" fmla="*/ 0 h 1"/>
                    <a:gd name="T4" fmla="*/ 1 w 8766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766" h="1">
                      <a:moveTo>
                        <a:pt x="876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1" name="Freeform 57"/>
                <p:cNvSpPr>
                  <a:spLocks noChangeArrowheads="1"/>
                </p:cNvSpPr>
                <p:nvPr/>
              </p:nvSpPr>
              <p:spPr bwMode="auto">
                <a:xfrm>
                  <a:off x="3552" y="1584"/>
                  <a:ext cx="1442" cy="1"/>
                </a:xfrm>
                <a:custGeom>
                  <a:avLst/>
                  <a:gdLst>
                    <a:gd name="T0" fmla="*/ 0 w 8767"/>
                    <a:gd name="T1" fmla="*/ 0 h 1"/>
                    <a:gd name="T2" fmla="*/ 8766 w 8767"/>
                    <a:gd name="T3" fmla="*/ 0 h 1"/>
                    <a:gd name="T4" fmla="*/ 8767 w 8767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767" h="1">
                      <a:moveTo>
                        <a:pt x="0" y="0"/>
                      </a:moveTo>
                      <a:lnTo>
                        <a:pt x="8766" y="0"/>
                      </a:lnTo>
                      <a:lnTo>
                        <a:pt x="8767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10" name="Group 58"/>
              <p:cNvGrpSpPr>
                <a:grpSpLocks/>
              </p:cNvGrpSpPr>
              <p:nvPr/>
            </p:nvGrpSpPr>
            <p:grpSpPr bwMode="auto">
              <a:xfrm>
                <a:off x="3552" y="753"/>
                <a:ext cx="625" cy="687"/>
                <a:chOff x="2215" y="1294"/>
                <a:chExt cx="423" cy="464"/>
              </a:xfrm>
            </p:grpSpPr>
            <p:sp>
              <p:nvSpPr>
                <p:cNvPr id="11" name="Freeform 59"/>
                <p:cNvSpPr>
                  <a:spLocks noChangeArrowheads="1"/>
                </p:cNvSpPr>
                <p:nvPr/>
              </p:nvSpPr>
              <p:spPr bwMode="auto">
                <a:xfrm>
                  <a:off x="2215" y="1294"/>
                  <a:ext cx="423" cy="464"/>
                </a:xfrm>
                <a:custGeom>
                  <a:avLst/>
                  <a:gdLst>
                    <a:gd name="T0" fmla="*/ 0 w 3799"/>
                    <a:gd name="T1" fmla="*/ 0 h 4182"/>
                    <a:gd name="T2" fmla="*/ 3798 w 3799"/>
                    <a:gd name="T3" fmla="*/ 4182 h 4182"/>
                    <a:gd name="T4" fmla="*/ 3799 w 3799"/>
                    <a:gd name="T5" fmla="*/ 4182 h 4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799" h="4182">
                      <a:moveTo>
                        <a:pt x="0" y="0"/>
                      </a:moveTo>
                      <a:lnTo>
                        <a:pt x="3798" y="4182"/>
                      </a:lnTo>
                      <a:lnTo>
                        <a:pt x="3799" y="4182"/>
                      </a:lnTo>
                    </a:path>
                  </a:pathLst>
                </a:custGeom>
                <a:noFill/>
                <a:ln w="1270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2" name="Freeform 60"/>
                <p:cNvSpPr>
                  <a:spLocks noChangeArrowheads="1"/>
                </p:cNvSpPr>
                <p:nvPr/>
              </p:nvSpPr>
              <p:spPr bwMode="auto">
                <a:xfrm>
                  <a:off x="2215" y="1294"/>
                  <a:ext cx="422" cy="464"/>
                </a:xfrm>
                <a:custGeom>
                  <a:avLst/>
                  <a:gdLst>
                    <a:gd name="T0" fmla="*/ 3798 w 3798"/>
                    <a:gd name="T1" fmla="*/ 0 h 4182"/>
                    <a:gd name="T2" fmla="*/ 0 w 3798"/>
                    <a:gd name="T3" fmla="*/ 4182 h 4182"/>
                    <a:gd name="T4" fmla="*/ 1 w 3798"/>
                    <a:gd name="T5" fmla="*/ 4182 h 4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798" h="4182">
                      <a:moveTo>
                        <a:pt x="3798" y="0"/>
                      </a:moveTo>
                      <a:lnTo>
                        <a:pt x="0" y="4182"/>
                      </a:lnTo>
                      <a:lnTo>
                        <a:pt x="1" y="4182"/>
                      </a:lnTo>
                    </a:path>
                  </a:pathLst>
                </a:custGeom>
                <a:noFill/>
                <a:ln w="1270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</p:grpSp>
        <p:pic>
          <p:nvPicPr>
            <p:cNvPr id="7" name="Picture 61"/>
            <p:cNvPicPr>
              <a:picLocks noChangeAspect="1" noChangeArrowheads="1"/>
            </p:cNvPicPr>
            <p:nvPr/>
          </p:nvPicPr>
          <p:blipFill>
            <a:blip r:embed="rId4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6" y="2016"/>
              <a:ext cx="1914" cy="1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2" name="Rectangle 65"/>
          <p:cNvSpPr>
            <a:spLocks noChangeArrowheads="1"/>
          </p:cNvSpPr>
          <p:nvPr/>
        </p:nvSpPr>
        <p:spPr bwMode="auto">
          <a:xfrm>
            <a:off x="471333" y="486378"/>
            <a:ext cx="5661025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/>
          <a:p>
            <a:pPr marL="838200" indent="-838200">
              <a:lnSpc>
                <a:spcPct val="90000"/>
              </a:lnSpc>
              <a:spcBef>
                <a:spcPct val="0"/>
              </a:spcBef>
            </a:pPr>
            <a:r>
              <a:rPr lang="en-US" altLang="zh-CN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4.</a:t>
            </a:r>
            <a:r>
              <a:rPr lang="zh-CN" altLang="en-US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机件上平面结构的简化画法</a:t>
            </a:r>
          </a:p>
        </p:txBody>
      </p:sp>
    </p:spTree>
    <p:extLst>
      <p:ext uri="{BB962C8B-B14F-4D97-AF65-F5344CB8AC3E}">
        <p14:creationId xmlns:p14="http://schemas.microsoft.com/office/powerpoint/2010/main" val="2334987487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ChangeArrowheads="1"/>
          </p:cNvSpPr>
          <p:nvPr/>
        </p:nvSpPr>
        <p:spPr bwMode="auto">
          <a:xfrm>
            <a:off x="455613" y="402551"/>
            <a:ext cx="4773612" cy="480131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/>
          <a:p>
            <a:pPr marL="838200" indent="-838200">
              <a:lnSpc>
                <a:spcPct val="90000"/>
              </a:lnSpc>
              <a:spcBef>
                <a:spcPct val="0"/>
              </a:spcBef>
            </a:pPr>
            <a:r>
              <a:rPr lang="en-US" altLang="zh-CN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5.</a:t>
            </a:r>
            <a:r>
              <a:rPr lang="zh-CN" altLang="en-US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对称图形的画法</a:t>
            </a:r>
          </a:p>
        </p:txBody>
      </p:sp>
      <p:sp>
        <p:nvSpPr>
          <p:cNvPr id="3" name="Text Box 42"/>
          <p:cNvSpPr txBox="1">
            <a:spLocks noChangeArrowheads="1"/>
          </p:cNvSpPr>
          <p:nvPr/>
        </p:nvSpPr>
        <p:spPr bwMode="auto">
          <a:xfrm>
            <a:off x="1288474" y="1338770"/>
            <a:ext cx="8534978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        </a:t>
            </a:r>
            <a:endParaRPr kumimoji="1" lang="zh-CN" altLang="en-US" sz="2800" b="1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68" name="Group 85"/>
          <p:cNvGrpSpPr>
            <a:grpSpLocks/>
          </p:cNvGrpSpPr>
          <p:nvPr/>
        </p:nvGrpSpPr>
        <p:grpSpPr bwMode="auto">
          <a:xfrm>
            <a:off x="6935932" y="3237201"/>
            <a:ext cx="3024188" cy="2520950"/>
            <a:chOff x="3424" y="1797"/>
            <a:chExt cx="1905" cy="1588"/>
          </a:xfrm>
        </p:grpSpPr>
        <p:grpSp>
          <p:nvGrpSpPr>
            <p:cNvPr id="69" name="Group 64"/>
            <p:cNvGrpSpPr>
              <a:grpSpLocks/>
            </p:cNvGrpSpPr>
            <p:nvPr/>
          </p:nvGrpSpPr>
          <p:grpSpPr bwMode="auto">
            <a:xfrm>
              <a:off x="3535" y="1838"/>
              <a:ext cx="1657" cy="1524"/>
              <a:chOff x="3535" y="1838"/>
              <a:chExt cx="1657" cy="1524"/>
            </a:xfrm>
          </p:grpSpPr>
          <p:sp>
            <p:nvSpPr>
              <p:cNvPr id="83" name="Arc 21"/>
              <p:cNvSpPr>
                <a:spLocks/>
              </p:cNvSpPr>
              <p:nvPr/>
            </p:nvSpPr>
            <p:spPr bwMode="auto">
              <a:xfrm flipH="1">
                <a:off x="3661" y="1930"/>
                <a:ext cx="1384" cy="1326"/>
              </a:xfrm>
              <a:custGeom>
                <a:avLst/>
                <a:gdLst>
                  <a:gd name="T0" fmla="*/ 0 w 21600"/>
                  <a:gd name="T1" fmla="*/ 0 h 21600"/>
                  <a:gd name="T2" fmla="*/ 6 w 21600"/>
                  <a:gd name="T3" fmla="*/ 5 h 21600"/>
                  <a:gd name="T4" fmla="*/ 0 w 21600"/>
                  <a:gd name="T5" fmla="*/ 5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4" name="Arc 24"/>
              <p:cNvSpPr>
                <a:spLocks/>
              </p:cNvSpPr>
              <p:nvPr/>
            </p:nvSpPr>
            <p:spPr bwMode="auto">
              <a:xfrm rot="5400000" flipH="1" flipV="1">
                <a:off x="4379" y="2585"/>
                <a:ext cx="672" cy="663"/>
              </a:xfrm>
              <a:custGeom>
                <a:avLst/>
                <a:gdLst>
                  <a:gd name="T0" fmla="*/ 0 w 21600"/>
                  <a:gd name="T1" fmla="*/ 0 h 23019"/>
                  <a:gd name="T2" fmla="*/ 1 w 21600"/>
                  <a:gd name="T3" fmla="*/ 1 h 23019"/>
                  <a:gd name="T4" fmla="*/ 0 w 21600"/>
                  <a:gd name="T5" fmla="*/ 1 h 230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3019" fill="none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cubicBezTo>
                      <a:pt x="21600" y="22073"/>
                      <a:pt x="21584" y="22546"/>
                      <a:pt x="21553" y="23019"/>
                    </a:cubicBezTo>
                  </a:path>
                  <a:path w="21600" h="23019" stroke="0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cubicBezTo>
                      <a:pt x="21600" y="22073"/>
                      <a:pt x="21584" y="22546"/>
                      <a:pt x="21553" y="23019"/>
                    </a:cubicBez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5" name="Arc 25"/>
              <p:cNvSpPr>
                <a:spLocks/>
              </p:cNvSpPr>
              <p:nvPr/>
            </p:nvSpPr>
            <p:spPr bwMode="auto">
              <a:xfrm rot="-5400000">
                <a:off x="4036" y="2237"/>
                <a:ext cx="996" cy="1044"/>
              </a:xfrm>
              <a:custGeom>
                <a:avLst/>
                <a:gdLst>
                  <a:gd name="T0" fmla="*/ 0 w 21600"/>
                  <a:gd name="T1" fmla="*/ 0 h 21600"/>
                  <a:gd name="T2" fmla="*/ 2 w 21600"/>
                  <a:gd name="T3" fmla="*/ 2 h 21600"/>
                  <a:gd name="T4" fmla="*/ 0 w 21600"/>
                  <a:gd name="T5" fmla="*/ 2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lgDash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6" name="Arc 26"/>
              <p:cNvSpPr>
                <a:spLocks/>
              </p:cNvSpPr>
              <p:nvPr/>
            </p:nvSpPr>
            <p:spPr bwMode="auto">
              <a:xfrm rot="-5400000">
                <a:off x="4489" y="2711"/>
                <a:ext cx="567" cy="55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7" name="Oval 27"/>
              <p:cNvSpPr>
                <a:spLocks noChangeArrowheads="1"/>
              </p:cNvSpPr>
              <p:nvPr/>
            </p:nvSpPr>
            <p:spPr bwMode="auto">
              <a:xfrm>
                <a:off x="4031" y="2579"/>
                <a:ext cx="299" cy="295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  <p:sp>
            <p:nvSpPr>
              <p:cNvPr id="88" name="Line 28"/>
              <p:cNvSpPr>
                <a:spLocks noChangeShapeType="1"/>
              </p:cNvSpPr>
              <p:nvPr/>
            </p:nvSpPr>
            <p:spPr bwMode="auto">
              <a:xfrm>
                <a:off x="3986" y="2602"/>
                <a:ext cx="384" cy="23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lgDash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" name="Arc 29"/>
              <p:cNvSpPr>
                <a:spLocks/>
              </p:cNvSpPr>
              <p:nvPr/>
            </p:nvSpPr>
            <p:spPr bwMode="auto">
              <a:xfrm rot="-5400000">
                <a:off x="4822" y="2164"/>
                <a:ext cx="313" cy="181"/>
              </a:xfrm>
              <a:custGeom>
                <a:avLst/>
                <a:gdLst>
                  <a:gd name="T0" fmla="*/ 0 w 43007"/>
                  <a:gd name="T1" fmla="*/ 0 h 21600"/>
                  <a:gd name="T2" fmla="*/ 0 w 43007"/>
                  <a:gd name="T3" fmla="*/ 0 h 21600"/>
                  <a:gd name="T4" fmla="*/ 0 w 43007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007" h="21600" fill="none" extrusionOk="0">
                    <a:moveTo>
                      <a:pt x="0" y="18808"/>
                    </a:moveTo>
                    <a:cubicBezTo>
                      <a:pt x="1402" y="8048"/>
                      <a:pt x="10568" y="-1"/>
                      <a:pt x="21419" y="0"/>
                    </a:cubicBezTo>
                    <a:cubicBezTo>
                      <a:pt x="33066" y="0"/>
                      <a:pt x="42617" y="9235"/>
                      <a:pt x="43006" y="20877"/>
                    </a:cubicBezTo>
                  </a:path>
                  <a:path w="43007" h="21600" stroke="0" extrusionOk="0">
                    <a:moveTo>
                      <a:pt x="0" y="18808"/>
                    </a:moveTo>
                    <a:cubicBezTo>
                      <a:pt x="1402" y="8048"/>
                      <a:pt x="10568" y="-1"/>
                      <a:pt x="21419" y="0"/>
                    </a:cubicBezTo>
                    <a:cubicBezTo>
                      <a:pt x="33066" y="0"/>
                      <a:pt x="42617" y="9235"/>
                      <a:pt x="43006" y="20877"/>
                    </a:cubicBezTo>
                    <a:lnTo>
                      <a:pt x="21419" y="21600"/>
                    </a:lnTo>
                    <a:lnTo>
                      <a:pt x="0" y="18808"/>
                    </a:lnTo>
                    <a:close/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90" name="Group 30"/>
              <p:cNvGrpSpPr>
                <a:grpSpLocks/>
              </p:cNvGrpSpPr>
              <p:nvPr/>
            </p:nvGrpSpPr>
            <p:grpSpPr bwMode="auto">
              <a:xfrm>
                <a:off x="3535" y="3177"/>
                <a:ext cx="25" cy="162"/>
                <a:chOff x="3352" y="2284"/>
                <a:chExt cx="22" cy="131"/>
              </a:xfrm>
            </p:grpSpPr>
            <p:sp>
              <p:nvSpPr>
                <p:cNvPr id="100" name="Line 31"/>
                <p:cNvSpPr>
                  <a:spLocks noChangeShapeType="1"/>
                </p:cNvSpPr>
                <p:nvPr/>
              </p:nvSpPr>
              <p:spPr bwMode="auto">
                <a:xfrm>
                  <a:off x="3352" y="2284"/>
                  <a:ext cx="0" cy="13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" name="Line 32"/>
                <p:cNvSpPr>
                  <a:spLocks noChangeShapeType="1"/>
                </p:cNvSpPr>
                <p:nvPr/>
              </p:nvSpPr>
              <p:spPr bwMode="auto">
                <a:xfrm>
                  <a:off x="3374" y="2284"/>
                  <a:ext cx="0" cy="13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91" name="Group 33"/>
              <p:cNvGrpSpPr>
                <a:grpSpLocks/>
              </p:cNvGrpSpPr>
              <p:nvPr/>
            </p:nvGrpSpPr>
            <p:grpSpPr bwMode="auto">
              <a:xfrm>
                <a:off x="5166" y="3179"/>
                <a:ext cx="26" cy="161"/>
                <a:chOff x="3352" y="2284"/>
                <a:chExt cx="22" cy="131"/>
              </a:xfrm>
            </p:grpSpPr>
            <p:sp>
              <p:nvSpPr>
                <p:cNvPr id="98" name="Line 34"/>
                <p:cNvSpPr>
                  <a:spLocks noChangeShapeType="1"/>
                </p:cNvSpPr>
                <p:nvPr/>
              </p:nvSpPr>
              <p:spPr bwMode="auto">
                <a:xfrm>
                  <a:off x="3352" y="2284"/>
                  <a:ext cx="0" cy="13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9" name="Line 35"/>
                <p:cNvSpPr>
                  <a:spLocks noChangeShapeType="1"/>
                </p:cNvSpPr>
                <p:nvPr/>
              </p:nvSpPr>
              <p:spPr bwMode="auto">
                <a:xfrm>
                  <a:off x="3374" y="2284"/>
                  <a:ext cx="0" cy="13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92" name="Group 36"/>
              <p:cNvGrpSpPr>
                <a:grpSpLocks/>
              </p:cNvGrpSpPr>
              <p:nvPr/>
            </p:nvGrpSpPr>
            <p:grpSpPr bwMode="auto">
              <a:xfrm rot="5400000">
                <a:off x="5027" y="1775"/>
                <a:ext cx="27" cy="154"/>
                <a:chOff x="3352" y="2284"/>
                <a:chExt cx="22" cy="131"/>
              </a:xfrm>
            </p:grpSpPr>
            <p:sp>
              <p:nvSpPr>
                <p:cNvPr id="96" name="Line 37"/>
                <p:cNvSpPr>
                  <a:spLocks noChangeShapeType="1"/>
                </p:cNvSpPr>
                <p:nvPr/>
              </p:nvSpPr>
              <p:spPr bwMode="auto">
                <a:xfrm>
                  <a:off x="3352" y="2284"/>
                  <a:ext cx="0" cy="13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7" name="Line 38"/>
                <p:cNvSpPr>
                  <a:spLocks noChangeShapeType="1"/>
                </p:cNvSpPr>
                <p:nvPr/>
              </p:nvSpPr>
              <p:spPr bwMode="auto">
                <a:xfrm>
                  <a:off x="3374" y="2284"/>
                  <a:ext cx="0" cy="13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93" name="Group 39"/>
              <p:cNvGrpSpPr>
                <a:grpSpLocks/>
              </p:cNvGrpSpPr>
              <p:nvPr/>
            </p:nvGrpSpPr>
            <p:grpSpPr bwMode="auto">
              <a:xfrm rot="5400000">
                <a:off x="5037" y="3272"/>
                <a:ext cx="27" cy="153"/>
                <a:chOff x="3352" y="2284"/>
                <a:chExt cx="22" cy="131"/>
              </a:xfrm>
            </p:grpSpPr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52" y="2284"/>
                  <a:ext cx="0" cy="13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374" y="2284"/>
                  <a:ext cx="0" cy="13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70" name="Group 57"/>
            <p:cNvGrpSpPr>
              <a:grpSpLocks/>
            </p:cNvGrpSpPr>
            <p:nvPr/>
          </p:nvGrpSpPr>
          <p:grpSpPr bwMode="auto">
            <a:xfrm>
              <a:off x="5048" y="1797"/>
              <a:ext cx="46" cy="1588"/>
              <a:chOff x="1601" y="1888"/>
              <a:chExt cx="54" cy="1443"/>
            </a:xfrm>
          </p:grpSpPr>
          <p:sp>
            <p:nvSpPr>
              <p:cNvPr id="77" name="Line 58"/>
              <p:cNvSpPr>
                <a:spLocks noChangeShapeType="1"/>
              </p:cNvSpPr>
              <p:nvPr/>
            </p:nvSpPr>
            <p:spPr bwMode="auto">
              <a:xfrm>
                <a:off x="1601" y="2332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78" name="Group 59"/>
              <p:cNvGrpSpPr>
                <a:grpSpLocks/>
              </p:cNvGrpSpPr>
              <p:nvPr/>
            </p:nvGrpSpPr>
            <p:grpSpPr bwMode="auto">
              <a:xfrm>
                <a:off x="1609" y="1888"/>
                <a:ext cx="46" cy="1443"/>
                <a:chOff x="158" y="1933"/>
                <a:chExt cx="0" cy="1625"/>
              </a:xfrm>
            </p:grpSpPr>
            <p:sp>
              <p:nvSpPr>
                <p:cNvPr id="79" name="Line 60"/>
                <p:cNvSpPr>
                  <a:spLocks noChangeShapeType="1"/>
                </p:cNvSpPr>
                <p:nvPr/>
              </p:nvSpPr>
              <p:spPr bwMode="auto">
                <a:xfrm>
                  <a:off x="158" y="1933"/>
                  <a:ext cx="0" cy="45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0" name="Line 61"/>
                <p:cNvSpPr>
                  <a:spLocks noChangeShapeType="1"/>
                </p:cNvSpPr>
                <p:nvPr/>
              </p:nvSpPr>
              <p:spPr bwMode="auto">
                <a:xfrm>
                  <a:off x="158" y="2523"/>
                  <a:ext cx="0" cy="45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1" name="Line 62"/>
                <p:cNvSpPr>
                  <a:spLocks noChangeShapeType="1"/>
                </p:cNvSpPr>
                <p:nvPr/>
              </p:nvSpPr>
              <p:spPr bwMode="auto">
                <a:xfrm>
                  <a:off x="158" y="3104"/>
                  <a:ext cx="0" cy="45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2" name="Line 63"/>
                <p:cNvSpPr>
                  <a:spLocks noChangeShapeType="1"/>
                </p:cNvSpPr>
                <p:nvPr/>
              </p:nvSpPr>
              <p:spPr bwMode="auto">
                <a:xfrm>
                  <a:off x="158" y="3013"/>
                  <a:ext cx="0" cy="4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71" name="Group 83"/>
            <p:cNvGrpSpPr>
              <a:grpSpLocks/>
            </p:cNvGrpSpPr>
            <p:nvPr/>
          </p:nvGrpSpPr>
          <p:grpSpPr bwMode="auto">
            <a:xfrm>
              <a:off x="3424" y="3249"/>
              <a:ext cx="1905" cy="0"/>
              <a:chOff x="3515" y="3929"/>
              <a:chExt cx="1905" cy="0"/>
            </a:xfrm>
          </p:grpSpPr>
          <p:sp>
            <p:nvSpPr>
              <p:cNvPr id="72" name="Line 77"/>
              <p:cNvSpPr>
                <a:spLocks noChangeShapeType="1"/>
              </p:cNvSpPr>
              <p:nvPr/>
            </p:nvSpPr>
            <p:spPr bwMode="auto">
              <a:xfrm>
                <a:off x="3515" y="3929"/>
                <a:ext cx="54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" name="Line 78"/>
              <p:cNvSpPr>
                <a:spLocks noChangeShapeType="1"/>
              </p:cNvSpPr>
              <p:nvPr/>
            </p:nvSpPr>
            <p:spPr bwMode="auto">
              <a:xfrm>
                <a:off x="4196" y="3929"/>
                <a:ext cx="54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" name="Line 80"/>
              <p:cNvSpPr>
                <a:spLocks noChangeShapeType="1"/>
              </p:cNvSpPr>
              <p:nvPr/>
            </p:nvSpPr>
            <p:spPr bwMode="auto">
              <a:xfrm>
                <a:off x="4105" y="3929"/>
                <a:ext cx="4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5" name="Line 81"/>
              <p:cNvSpPr>
                <a:spLocks noChangeShapeType="1"/>
              </p:cNvSpPr>
              <p:nvPr/>
            </p:nvSpPr>
            <p:spPr bwMode="auto">
              <a:xfrm>
                <a:off x="4876" y="3929"/>
                <a:ext cx="54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" name="Line 82"/>
              <p:cNvSpPr>
                <a:spLocks noChangeShapeType="1"/>
              </p:cNvSpPr>
              <p:nvPr/>
            </p:nvSpPr>
            <p:spPr bwMode="auto">
              <a:xfrm>
                <a:off x="4785" y="3929"/>
                <a:ext cx="4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02" name="Group 91"/>
          <p:cNvGrpSpPr>
            <a:grpSpLocks/>
          </p:cNvGrpSpPr>
          <p:nvPr/>
        </p:nvGrpSpPr>
        <p:grpSpPr bwMode="auto">
          <a:xfrm>
            <a:off x="1867045" y="3381663"/>
            <a:ext cx="4392612" cy="2290763"/>
            <a:chOff x="231" y="1888"/>
            <a:chExt cx="2767" cy="1443"/>
          </a:xfrm>
        </p:grpSpPr>
        <p:grpSp>
          <p:nvGrpSpPr>
            <p:cNvPr id="103" name="Group 65"/>
            <p:cNvGrpSpPr>
              <a:grpSpLocks/>
            </p:cNvGrpSpPr>
            <p:nvPr/>
          </p:nvGrpSpPr>
          <p:grpSpPr bwMode="auto">
            <a:xfrm>
              <a:off x="256" y="1979"/>
              <a:ext cx="2712" cy="1345"/>
              <a:chOff x="256" y="1979"/>
              <a:chExt cx="2712" cy="1345"/>
            </a:xfrm>
          </p:grpSpPr>
          <p:sp>
            <p:nvSpPr>
              <p:cNvPr id="118" name="Line 4"/>
              <p:cNvSpPr>
                <a:spLocks noChangeShapeType="1"/>
              </p:cNvSpPr>
              <p:nvPr/>
            </p:nvSpPr>
            <p:spPr bwMode="auto">
              <a:xfrm>
                <a:off x="279" y="3169"/>
                <a:ext cx="0" cy="1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19" name="Arc 5"/>
              <p:cNvSpPr>
                <a:spLocks/>
              </p:cNvSpPr>
              <p:nvPr/>
            </p:nvSpPr>
            <p:spPr bwMode="auto">
              <a:xfrm rot="16200000" flipV="1">
                <a:off x="1128" y="1856"/>
                <a:ext cx="968" cy="1857"/>
              </a:xfrm>
              <a:custGeom>
                <a:avLst/>
                <a:gdLst>
                  <a:gd name="T0" fmla="*/ 0 w 22737"/>
                  <a:gd name="T1" fmla="*/ 0 h 43200"/>
                  <a:gd name="T2" fmla="*/ 0 w 22737"/>
                  <a:gd name="T3" fmla="*/ 3 h 43200"/>
                  <a:gd name="T4" fmla="*/ 0 w 22737"/>
                  <a:gd name="T5" fmla="*/ 2 h 43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737" h="43200" fill="none" extrusionOk="0">
                    <a:moveTo>
                      <a:pt x="485" y="9"/>
                    </a:moveTo>
                    <a:cubicBezTo>
                      <a:pt x="702" y="3"/>
                      <a:pt x="919" y="-1"/>
                      <a:pt x="1137" y="0"/>
                    </a:cubicBezTo>
                    <a:cubicBezTo>
                      <a:pt x="13066" y="0"/>
                      <a:pt x="22737" y="9670"/>
                      <a:pt x="22737" y="21600"/>
                    </a:cubicBezTo>
                    <a:cubicBezTo>
                      <a:pt x="22737" y="33529"/>
                      <a:pt x="13066" y="43200"/>
                      <a:pt x="1137" y="43200"/>
                    </a:cubicBezTo>
                    <a:cubicBezTo>
                      <a:pt x="757" y="43200"/>
                      <a:pt x="378" y="43190"/>
                      <a:pt x="-1" y="43170"/>
                    </a:cubicBezTo>
                  </a:path>
                  <a:path w="22737" h="43200" stroke="0" extrusionOk="0">
                    <a:moveTo>
                      <a:pt x="485" y="9"/>
                    </a:moveTo>
                    <a:cubicBezTo>
                      <a:pt x="702" y="3"/>
                      <a:pt x="919" y="-1"/>
                      <a:pt x="1137" y="0"/>
                    </a:cubicBezTo>
                    <a:cubicBezTo>
                      <a:pt x="13066" y="0"/>
                      <a:pt x="22737" y="9670"/>
                      <a:pt x="22737" y="21600"/>
                    </a:cubicBezTo>
                    <a:cubicBezTo>
                      <a:pt x="22737" y="33529"/>
                      <a:pt x="13066" y="43200"/>
                      <a:pt x="1137" y="43200"/>
                    </a:cubicBezTo>
                    <a:cubicBezTo>
                      <a:pt x="757" y="43200"/>
                      <a:pt x="378" y="43190"/>
                      <a:pt x="-1" y="43170"/>
                    </a:cubicBezTo>
                    <a:lnTo>
                      <a:pt x="1137" y="21600"/>
                    </a:lnTo>
                    <a:lnTo>
                      <a:pt x="485" y="9"/>
                    </a:lnTo>
                    <a:close/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lgDash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0" name="Arc 6"/>
              <p:cNvSpPr>
                <a:spLocks/>
              </p:cNvSpPr>
              <p:nvPr/>
            </p:nvSpPr>
            <p:spPr bwMode="auto">
              <a:xfrm>
                <a:off x="372" y="1979"/>
                <a:ext cx="2488" cy="1286"/>
              </a:xfrm>
              <a:custGeom>
                <a:avLst/>
                <a:gdLst>
                  <a:gd name="T0" fmla="*/ 0 w 43197"/>
                  <a:gd name="T1" fmla="*/ 5 h 21600"/>
                  <a:gd name="T2" fmla="*/ 8 w 43197"/>
                  <a:gd name="T3" fmla="*/ 5 h 21600"/>
                  <a:gd name="T4" fmla="*/ 4 w 43197"/>
                  <a:gd name="T5" fmla="*/ 5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7" h="21600" fill="none" extrusionOk="0">
                    <a:moveTo>
                      <a:pt x="0" y="21382"/>
                    </a:moveTo>
                    <a:cubicBezTo>
                      <a:pt x="119" y="9538"/>
                      <a:pt x="9754" y="-1"/>
                      <a:pt x="21599" y="0"/>
                    </a:cubicBezTo>
                    <a:cubicBezTo>
                      <a:pt x="33420" y="0"/>
                      <a:pt x="43045" y="9502"/>
                      <a:pt x="43197" y="21322"/>
                    </a:cubicBezTo>
                  </a:path>
                  <a:path w="43197" h="21600" stroke="0" extrusionOk="0">
                    <a:moveTo>
                      <a:pt x="0" y="21382"/>
                    </a:moveTo>
                    <a:cubicBezTo>
                      <a:pt x="119" y="9538"/>
                      <a:pt x="9754" y="-1"/>
                      <a:pt x="21599" y="0"/>
                    </a:cubicBezTo>
                    <a:cubicBezTo>
                      <a:pt x="33420" y="0"/>
                      <a:pt x="43045" y="9502"/>
                      <a:pt x="43197" y="21322"/>
                    </a:cubicBezTo>
                    <a:lnTo>
                      <a:pt x="21599" y="21600"/>
                    </a:lnTo>
                    <a:lnTo>
                      <a:pt x="0" y="21382"/>
                    </a:lnTo>
                    <a:close/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1" name="Oval 9"/>
              <p:cNvSpPr>
                <a:spLocks noChangeArrowheads="1"/>
              </p:cNvSpPr>
              <p:nvPr/>
            </p:nvSpPr>
            <p:spPr bwMode="auto">
              <a:xfrm>
                <a:off x="2252" y="2566"/>
                <a:ext cx="266" cy="283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  <p:sp>
            <p:nvSpPr>
              <p:cNvPr id="122" name="Line 10"/>
              <p:cNvSpPr>
                <a:spLocks noChangeShapeType="1"/>
              </p:cNvSpPr>
              <p:nvPr/>
            </p:nvSpPr>
            <p:spPr bwMode="auto">
              <a:xfrm flipV="1">
                <a:off x="2206" y="2602"/>
                <a:ext cx="343" cy="2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lgDash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3" name="Oval 11"/>
              <p:cNvSpPr>
                <a:spLocks noChangeArrowheads="1"/>
              </p:cNvSpPr>
              <p:nvPr/>
            </p:nvSpPr>
            <p:spPr bwMode="auto">
              <a:xfrm>
                <a:off x="1469" y="2154"/>
                <a:ext cx="266" cy="284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  <p:sp>
            <p:nvSpPr>
              <p:cNvPr id="124" name="Oval 12"/>
              <p:cNvSpPr>
                <a:spLocks noChangeArrowheads="1"/>
              </p:cNvSpPr>
              <p:nvPr/>
            </p:nvSpPr>
            <p:spPr bwMode="auto">
              <a:xfrm>
                <a:off x="699" y="2577"/>
                <a:ext cx="266" cy="283"/>
              </a:xfrm>
              <a:prstGeom prst="ellips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/>
              </a:p>
            </p:txBody>
          </p:sp>
          <p:sp>
            <p:nvSpPr>
              <p:cNvPr id="125" name="Line 13"/>
              <p:cNvSpPr>
                <a:spLocks noChangeShapeType="1"/>
              </p:cNvSpPr>
              <p:nvPr/>
            </p:nvSpPr>
            <p:spPr bwMode="auto">
              <a:xfrm>
                <a:off x="652" y="2602"/>
                <a:ext cx="357" cy="23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lgDash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6" name="Arc 14"/>
              <p:cNvSpPr>
                <a:spLocks/>
              </p:cNvSpPr>
              <p:nvPr/>
            </p:nvSpPr>
            <p:spPr bwMode="auto">
              <a:xfrm>
                <a:off x="1114" y="2718"/>
                <a:ext cx="989" cy="522"/>
              </a:xfrm>
              <a:custGeom>
                <a:avLst/>
                <a:gdLst>
                  <a:gd name="T0" fmla="*/ 0 w 43200"/>
                  <a:gd name="T1" fmla="*/ 0 h 21847"/>
                  <a:gd name="T2" fmla="*/ 1 w 43200"/>
                  <a:gd name="T3" fmla="*/ 0 h 21847"/>
                  <a:gd name="T4" fmla="*/ 0 w 43200"/>
                  <a:gd name="T5" fmla="*/ 0 h 218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00" h="21847" fill="none" extrusionOk="0">
                    <a:moveTo>
                      <a:pt x="1" y="21846"/>
                    </a:moveTo>
                    <a:cubicBezTo>
                      <a:pt x="0" y="21764"/>
                      <a:pt x="0" y="21682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3529" y="-1"/>
                      <a:pt x="43199" y="9670"/>
                      <a:pt x="43200" y="21599"/>
                    </a:cubicBezTo>
                  </a:path>
                  <a:path w="43200" h="21847" stroke="0" extrusionOk="0">
                    <a:moveTo>
                      <a:pt x="1" y="21846"/>
                    </a:moveTo>
                    <a:cubicBezTo>
                      <a:pt x="0" y="21764"/>
                      <a:pt x="0" y="21682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33529" y="-1"/>
                      <a:pt x="43199" y="9670"/>
                      <a:pt x="43200" y="21599"/>
                    </a:cubicBezTo>
                    <a:lnTo>
                      <a:pt x="21600" y="21600"/>
                    </a:lnTo>
                    <a:lnTo>
                      <a:pt x="1" y="21846"/>
                    </a:lnTo>
                    <a:close/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" name="Arc 15"/>
              <p:cNvSpPr>
                <a:spLocks/>
              </p:cNvSpPr>
              <p:nvPr/>
            </p:nvSpPr>
            <p:spPr bwMode="auto">
              <a:xfrm>
                <a:off x="983" y="2604"/>
                <a:ext cx="1238" cy="643"/>
              </a:xfrm>
              <a:custGeom>
                <a:avLst/>
                <a:gdLst>
                  <a:gd name="T0" fmla="*/ 0 w 43199"/>
                  <a:gd name="T1" fmla="*/ 1 h 21600"/>
                  <a:gd name="T2" fmla="*/ 1 w 43199"/>
                  <a:gd name="T3" fmla="*/ 1 h 21600"/>
                  <a:gd name="T4" fmla="*/ 1 w 43199"/>
                  <a:gd name="T5" fmla="*/ 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9" h="21600" fill="none" extrusionOk="0">
                    <a:moveTo>
                      <a:pt x="-1" y="21438"/>
                    </a:moveTo>
                    <a:cubicBezTo>
                      <a:pt x="88" y="9572"/>
                      <a:pt x="9732" y="-1"/>
                      <a:pt x="21599" y="0"/>
                    </a:cubicBezTo>
                    <a:cubicBezTo>
                      <a:pt x="33528" y="0"/>
                      <a:pt x="43199" y="9670"/>
                      <a:pt x="43199" y="21600"/>
                    </a:cubicBezTo>
                  </a:path>
                  <a:path w="43199" h="21600" stroke="0" extrusionOk="0">
                    <a:moveTo>
                      <a:pt x="-1" y="21438"/>
                    </a:moveTo>
                    <a:cubicBezTo>
                      <a:pt x="88" y="9572"/>
                      <a:pt x="9732" y="-1"/>
                      <a:pt x="21599" y="0"/>
                    </a:cubicBezTo>
                    <a:cubicBezTo>
                      <a:pt x="33528" y="0"/>
                      <a:pt x="43199" y="9670"/>
                      <a:pt x="43199" y="21600"/>
                    </a:cubicBezTo>
                    <a:lnTo>
                      <a:pt x="21599" y="21600"/>
                    </a:lnTo>
                    <a:lnTo>
                      <a:pt x="-1" y="21438"/>
                    </a:lnTo>
                    <a:close/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28" name="Group 16"/>
              <p:cNvGrpSpPr>
                <a:grpSpLocks/>
              </p:cNvGrpSpPr>
              <p:nvPr/>
            </p:nvGrpSpPr>
            <p:grpSpPr bwMode="auto">
              <a:xfrm>
                <a:off x="2945" y="3168"/>
                <a:ext cx="23" cy="154"/>
                <a:chOff x="3352" y="2284"/>
                <a:chExt cx="22" cy="131"/>
              </a:xfrm>
            </p:grpSpPr>
            <p:sp>
              <p:nvSpPr>
                <p:cNvPr id="130" name="Line 17"/>
                <p:cNvSpPr>
                  <a:spLocks noChangeShapeType="1"/>
                </p:cNvSpPr>
                <p:nvPr/>
              </p:nvSpPr>
              <p:spPr bwMode="auto">
                <a:xfrm>
                  <a:off x="3352" y="2284"/>
                  <a:ext cx="0" cy="13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1" name="Line 18"/>
                <p:cNvSpPr>
                  <a:spLocks noChangeShapeType="1"/>
                </p:cNvSpPr>
                <p:nvPr/>
              </p:nvSpPr>
              <p:spPr bwMode="auto">
                <a:xfrm>
                  <a:off x="3374" y="2284"/>
                  <a:ext cx="0" cy="13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29" name="Line 19"/>
              <p:cNvSpPr>
                <a:spLocks noChangeShapeType="1"/>
              </p:cNvSpPr>
              <p:nvPr/>
            </p:nvSpPr>
            <p:spPr bwMode="auto">
              <a:xfrm>
                <a:off x="256" y="3169"/>
                <a:ext cx="0" cy="1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04" name="Group 86"/>
            <p:cNvGrpSpPr>
              <a:grpSpLocks/>
            </p:cNvGrpSpPr>
            <p:nvPr/>
          </p:nvGrpSpPr>
          <p:grpSpPr bwMode="auto">
            <a:xfrm>
              <a:off x="1609" y="1888"/>
              <a:ext cx="46" cy="1443"/>
              <a:chOff x="1609" y="1888"/>
              <a:chExt cx="46" cy="1443"/>
            </a:xfrm>
          </p:grpSpPr>
          <p:sp>
            <p:nvSpPr>
              <p:cNvPr id="112" name="Line 52"/>
              <p:cNvSpPr>
                <a:spLocks noChangeShapeType="1"/>
              </p:cNvSpPr>
              <p:nvPr/>
            </p:nvSpPr>
            <p:spPr bwMode="auto">
              <a:xfrm>
                <a:off x="1610" y="2332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13" name="Group 55"/>
              <p:cNvGrpSpPr>
                <a:grpSpLocks/>
              </p:cNvGrpSpPr>
              <p:nvPr/>
            </p:nvGrpSpPr>
            <p:grpSpPr bwMode="auto">
              <a:xfrm>
                <a:off x="1609" y="1888"/>
                <a:ext cx="46" cy="1443"/>
                <a:chOff x="158" y="1933"/>
                <a:chExt cx="0" cy="1625"/>
              </a:xfrm>
            </p:grpSpPr>
            <p:sp>
              <p:nvSpPr>
                <p:cNvPr id="114" name="Line 50"/>
                <p:cNvSpPr>
                  <a:spLocks noChangeShapeType="1"/>
                </p:cNvSpPr>
                <p:nvPr/>
              </p:nvSpPr>
              <p:spPr bwMode="auto">
                <a:xfrm>
                  <a:off x="158" y="1933"/>
                  <a:ext cx="0" cy="45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5" name="Line 51"/>
                <p:cNvSpPr>
                  <a:spLocks noChangeShapeType="1"/>
                </p:cNvSpPr>
                <p:nvPr/>
              </p:nvSpPr>
              <p:spPr bwMode="auto">
                <a:xfrm>
                  <a:off x="158" y="2523"/>
                  <a:ext cx="0" cy="45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" name="Line 53"/>
                <p:cNvSpPr>
                  <a:spLocks noChangeShapeType="1"/>
                </p:cNvSpPr>
                <p:nvPr/>
              </p:nvSpPr>
              <p:spPr bwMode="auto">
                <a:xfrm>
                  <a:off x="158" y="3104"/>
                  <a:ext cx="0" cy="45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7" name="Line 54"/>
                <p:cNvSpPr>
                  <a:spLocks noChangeShapeType="1"/>
                </p:cNvSpPr>
                <p:nvPr/>
              </p:nvSpPr>
              <p:spPr bwMode="auto">
                <a:xfrm>
                  <a:off x="158" y="3013"/>
                  <a:ext cx="0" cy="4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5" name="Group 90"/>
            <p:cNvGrpSpPr>
              <a:grpSpLocks/>
            </p:cNvGrpSpPr>
            <p:nvPr/>
          </p:nvGrpSpPr>
          <p:grpSpPr bwMode="auto">
            <a:xfrm>
              <a:off x="231" y="3239"/>
              <a:ext cx="2767" cy="1"/>
              <a:chOff x="231" y="3239"/>
              <a:chExt cx="2767" cy="1"/>
            </a:xfrm>
          </p:grpSpPr>
          <p:sp>
            <p:nvSpPr>
              <p:cNvPr id="106" name="Line 68"/>
              <p:cNvSpPr>
                <a:spLocks noChangeShapeType="1"/>
              </p:cNvSpPr>
              <p:nvPr/>
            </p:nvSpPr>
            <p:spPr bwMode="auto">
              <a:xfrm>
                <a:off x="856" y="3239"/>
                <a:ext cx="4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7" name="Line 66"/>
              <p:cNvSpPr>
                <a:spLocks noChangeShapeType="1"/>
              </p:cNvSpPr>
              <p:nvPr/>
            </p:nvSpPr>
            <p:spPr bwMode="auto">
              <a:xfrm>
                <a:off x="231" y="3239"/>
                <a:ext cx="5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" name="Line 71"/>
              <p:cNvSpPr>
                <a:spLocks noChangeShapeType="1"/>
              </p:cNvSpPr>
              <p:nvPr/>
            </p:nvSpPr>
            <p:spPr bwMode="auto">
              <a:xfrm>
                <a:off x="2409" y="3239"/>
                <a:ext cx="5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" name="Line 72"/>
              <p:cNvSpPr>
                <a:spLocks noChangeShapeType="1"/>
              </p:cNvSpPr>
              <p:nvPr/>
            </p:nvSpPr>
            <p:spPr bwMode="auto">
              <a:xfrm>
                <a:off x="2326" y="3239"/>
                <a:ext cx="4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0" name="Line 88"/>
              <p:cNvSpPr>
                <a:spLocks noChangeShapeType="1"/>
              </p:cNvSpPr>
              <p:nvPr/>
            </p:nvSpPr>
            <p:spPr bwMode="auto">
              <a:xfrm>
                <a:off x="1583" y="3240"/>
                <a:ext cx="6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1" name="Line 89"/>
              <p:cNvSpPr>
                <a:spLocks noChangeShapeType="1"/>
              </p:cNvSpPr>
              <p:nvPr/>
            </p:nvSpPr>
            <p:spPr bwMode="auto">
              <a:xfrm>
                <a:off x="948" y="3240"/>
                <a:ext cx="6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132" name="Text Box 2"/>
          <p:cNvSpPr txBox="1">
            <a:spLocks noChangeArrowheads="1"/>
          </p:cNvSpPr>
          <p:nvPr/>
        </p:nvSpPr>
        <p:spPr bwMode="auto">
          <a:xfrm>
            <a:off x="2183824" y="1304164"/>
            <a:ext cx="763962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63538" indent="-363538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zh-CN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zh-CN" altLang="en-US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在不致引起误解时，可</a:t>
            </a:r>
            <a:r>
              <a:rPr kumimoji="1" lang="zh-CN" altLang="en-US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只画一半或四分之一</a:t>
            </a:r>
            <a:r>
              <a:rPr kumimoji="1"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，</a:t>
            </a:r>
            <a:r>
              <a:rPr lang="zh-CN" altLang="en-US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并在对称中心线的两端画出两条与其垂直的平行细实线</a:t>
            </a:r>
            <a:r>
              <a:rPr kumimoji="1"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。</a:t>
            </a:r>
          </a:p>
        </p:txBody>
      </p:sp>
    </p:spTree>
    <p:extLst>
      <p:ext uri="{BB962C8B-B14F-4D97-AF65-F5344CB8AC3E}">
        <p14:creationId xmlns:p14="http://schemas.microsoft.com/office/powerpoint/2010/main" val="217824935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2628899" y="5283201"/>
            <a:ext cx="7076209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63538" indent="-363538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en-US" altLang="zh-CN" dirty="0">
                <a:solidFill>
                  <a:schemeClr val="hlink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zh-CN" altLang="en-US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轴、杆类较长的机件，当沿长度方向形状相同或按一定规律变化时，可断开后缩短画出。</a:t>
            </a:r>
            <a:endParaRPr lang="zh-CN" altLang="en-US" b="0" dirty="0">
              <a:solidFill>
                <a:srgbClr val="000066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3" name="Group 3"/>
          <p:cNvGrpSpPr>
            <a:grpSpLocks/>
          </p:cNvGrpSpPr>
          <p:nvPr/>
        </p:nvGrpSpPr>
        <p:grpSpPr bwMode="auto">
          <a:xfrm>
            <a:off x="2571750" y="1322389"/>
            <a:ext cx="2777444" cy="1697037"/>
            <a:chOff x="1124" y="1423"/>
            <a:chExt cx="1749" cy="1069"/>
          </a:xfrm>
        </p:grpSpPr>
        <p:grpSp>
          <p:nvGrpSpPr>
            <p:cNvPr id="4" name="Group 4"/>
            <p:cNvGrpSpPr>
              <a:grpSpLocks/>
            </p:cNvGrpSpPr>
            <p:nvPr/>
          </p:nvGrpSpPr>
          <p:grpSpPr bwMode="auto">
            <a:xfrm>
              <a:off x="1124" y="1423"/>
              <a:ext cx="1749" cy="1069"/>
              <a:chOff x="3113" y="1423"/>
              <a:chExt cx="1749" cy="1069"/>
            </a:xfrm>
          </p:grpSpPr>
          <p:grpSp>
            <p:nvGrpSpPr>
              <p:cNvPr id="7" name="Group 5"/>
              <p:cNvGrpSpPr>
                <a:grpSpLocks/>
              </p:cNvGrpSpPr>
              <p:nvPr/>
            </p:nvGrpSpPr>
            <p:grpSpPr bwMode="auto">
              <a:xfrm>
                <a:off x="3113" y="1423"/>
                <a:ext cx="1749" cy="646"/>
                <a:chOff x="3113" y="1423"/>
                <a:chExt cx="1749" cy="646"/>
              </a:xfrm>
            </p:grpSpPr>
            <p:sp>
              <p:nvSpPr>
                <p:cNvPr id="9" name="Line 6"/>
                <p:cNvSpPr>
                  <a:spLocks noChangeShapeType="1"/>
                </p:cNvSpPr>
                <p:nvPr/>
              </p:nvSpPr>
              <p:spPr bwMode="auto">
                <a:xfrm>
                  <a:off x="3113" y="1755"/>
                  <a:ext cx="1749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10" name="Line 7"/>
                <p:cNvSpPr>
                  <a:spLocks noChangeShapeType="1"/>
                </p:cNvSpPr>
                <p:nvPr/>
              </p:nvSpPr>
              <p:spPr bwMode="auto">
                <a:xfrm>
                  <a:off x="4503" y="1423"/>
                  <a:ext cx="0" cy="64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11" name="AutoShape 8"/>
                <p:cNvSpPr>
                  <a:spLocks noChangeArrowheads="1"/>
                </p:cNvSpPr>
                <p:nvPr/>
              </p:nvSpPr>
              <p:spPr bwMode="auto">
                <a:xfrm>
                  <a:off x="4219" y="1483"/>
                  <a:ext cx="569" cy="538"/>
                </a:xfrm>
                <a:custGeom>
                  <a:avLst/>
                  <a:gdLst>
                    <a:gd name="T0" fmla="*/ 0 w 21600"/>
                    <a:gd name="T1" fmla="*/ 10800 h 21600"/>
                    <a:gd name="T2" fmla="*/ 10800 w 21600"/>
                    <a:gd name="T3" fmla="*/ 0 h 21600"/>
                    <a:gd name="T4" fmla="*/ 21600 w 21600"/>
                    <a:gd name="T5" fmla="*/ 10800 h 21600"/>
                    <a:gd name="T6" fmla="*/ 10800 w 21600"/>
                    <a:gd name="T7" fmla="*/ 21600 h 21600"/>
                    <a:gd name="T8" fmla="*/ 0 w 21600"/>
                    <a:gd name="T9" fmla="*/ 10800 h 21600"/>
                    <a:gd name="T10" fmla="*/ 4151 w 21600"/>
                    <a:gd name="T11" fmla="*/ 10800 h 21600"/>
                    <a:gd name="T12" fmla="*/ 10800 w 21600"/>
                    <a:gd name="T13" fmla="*/ 17449 h 21600"/>
                    <a:gd name="T14" fmla="*/ 17449 w 21600"/>
                    <a:gd name="T15" fmla="*/ 10800 h 21600"/>
                    <a:gd name="T16" fmla="*/ 10800 w 21600"/>
                    <a:gd name="T17" fmla="*/ 4151 h 21600"/>
                    <a:gd name="T18" fmla="*/ 4151 w 21600"/>
                    <a:gd name="T19" fmla="*/ 10800 h 21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600" h="21600">
                      <a:moveTo>
                        <a:pt x="0" y="10800"/>
                      </a:moveTo>
                      <a:cubicBezTo>
                        <a:pt x="0" y="4835"/>
                        <a:pt x="4835" y="0"/>
                        <a:pt x="10800" y="0"/>
                      </a:cubicBezTo>
                      <a:cubicBezTo>
                        <a:pt x="16765" y="0"/>
                        <a:pt x="21600" y="4835"/>
                        <a:pt x="21600" y="10800"/>
                      </a:cubicBezTo>
                      <a:cubicBezTo>
                        <a:pt x="21600" y="16765"/>
                        <a:pt x="16765" y="21600"/>
                        <a:pt x="10800" y="21600"/>
                      </a:cubicBezTo>
                      <a:cubicBezTo>
                        <a:pt x="4835" y="21600"/>
                        <a:pt x="0" y="16765"/>
                        <a:pt x="0" y="10800"/>
                      </a:cubicBezTo>
                      <a:close/>
                      <a:moveTo>
                        <a:pt x="4151" y="10800"/>
                      </a:moveTo>
                      <a:cubicBezTo>
                        <a:pt x="4151" y="14472"/>
                        <a:pt x="7128" y="17449"/>
                        <a:pt x="10800" y="17449"/>
                      </a:cubicBezTo>
                      <a:cubicBezTo>
                        <a:pt x="14472" y="17449"/>
                        <a:pt x="17449" y="14472"/>
                        <a:pt x="17449" y="10800"/>
                      </a:cubicBezTo>
                      <a:cubicBezTo>
                        <a:pt x="17449" y="7128"/>
                        <a:pt x="14472" y="4151"/>
                        <a:pt x="10800" y="4151"/>
                      </a:cubicBezTo>
                      <a:cubicBezTo>
                        <a:pt x="7128" y="4151"/>
                        <a:pt x="4151" y="7128"/>
                        <a:pt x="4151" y="10800"/>
                      </a:cubicBezTo>
                      <a:close/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12" name="Line 9"/>
                <p:cNvSpPr>
                  <a:spLocks noChangeShapeType="1"/>
                </p:cNvSpPr>
                <p:nvPr/>
              </p:nvSpPr>
              <p:spPr bwMode="auto">
                <a:xfrm>
                  <a:off x="4138" y="1611"/>
                  <a:ext cx="0" cy="25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13" name="Line 10"/>
                <p:cNvSpPr>
                  <a:spLocks noChangeShapeType="1"/>
                </p:cNvSpPr>
                <p:nvPr/>
              </p:nvSpPr>
              <p:spPr bwMode="auto">
                <a:xfrm flipV="1">
                  <a:off x="3988" y="1482"/>
                  <a:ext cx="500" cy="38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14" name="Line 11"/>
                <p:cNvSpPr>
                  <a:spLocks noChangeShapeType="1"/>
                </p:cNvSpPr>
                <p:nvPr/>
              </p:nvSpPr>
              <p:spPr bwMode="auto">
                <a:xfrm>
                  <a:off x="3989" y="1986"/>
                  <a:ext cx="480" cy="33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15" name="Line 12"/>
                <p:cNvSpPr>
                  <a:spLocks noChangeShapeType="1"/>
                </p:cNvSpPr>
                <p:nvPr/>
              </p:nvSpPr>
              <p:spPr bwMode="auto">
                <a:xfrm flipV="1">
                  <a:off x="3983" y="1583"/>
                  <a:ext cx="107" cy="1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16" name="Line 13"/>
                <p:cNvSpPr>
                  <a:spLocks noChangeShapeType="1"/>
                </p:cNvSpPr>
                <p:nvPr/>
              </p:nvSpPr>
              <p:spPr bwMode="auto">
                <a:xfrm>
                  <a:off x="3985" y="1899"/>
                  <a:ext cx="100" cy="1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17" name="Line 14"/>
                <p:cNvSpPr>
                  <a:spLocks noChangeShapeType="1"/>
                </p:cNvSpPr>
                <p:nvPr/>
              </p:nvSpPr>
              <p:spPr bwMode="auto">
                <a:xfrm flipV="1">
                  <a:off x="3705" y="1624"/>
                  <a:ext cx="157" cy="1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18" name="Line 15"/>
                <p:cNvSpPr>
                  <a:spLocks noChangeShapeType="1"/>
                </p:cNvSpPr>
                <p:nvPr/>
              </p:nvSpPr>
              <p:spPr bwMode="auto">
                <a:xfrm>
                  <a:off x="3383" y="1533"/>
                  <a:ext cx="0" cy="44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19" name="AutoShape 16"/>
                <p:cNvSpPr>
                  <a:spLocks noChangeArrowheads="1"/>
                </p:cNvSpPr>
                <p:nvPr/>
              </p:nvSpPr>
              <p:spPr bwMode="auto">
                <a:xfrm>
                  <a:off x="3190" y="1580"/>
                  <a:ext cx="394" cy="355"/>
                </a:xfrm>
                <a:custGeom>
                  <a:avLst/>
                  <a:gdLst>
                    <a:gd name="T0" fmla="*/ 0 w 21600"/>
                    <a:gd name="T1" fmla="*/ 10800 h 21600"/>
                    <a:gd name="T2" fmla="*/ 10800 w 21600"/>
                    <a:gd name="T3" fmla="*/ 0 h 21600"/>
                    <a:gd name="T4" fmla="*/ 21600 w 21600"/>
                    <a:gd name="T5" fmla="*/ 10800 h 21600"/>
                    <a:gd name="T6" fmla="*/ 10800 w 21600"/>
                    <a:gd name="T7" fmla="*/ 21600 h 21600"/>
                    <a:gd name="T8" fmla="*/ 0 w 21600"/>
                    <a:gd name="T9" fmla="*/ 10800 h 21600"/>
                    <a:gd name="T10" fmla="*/ 3783 w 21600"/>
                    <a:gd name="T11" fmla="*/ 10800 h 21600"/>
                    <a:gd name="T12" fmla="*/ 10800 w 21600"/>
                    <a:gd name="T13" fmla="*/ 17817 h 21600"/>
                    <a:gd name="T14" fmla="*/ 17817 w 21600"/>
                    <a:gd name="T15" fmla="*/ 10800 h 21600"/>
                    <a:gd name="T16" fmla="*/ 10800 w 21600"/>
                    <a:gd name="T17" fmla="*/ 3783 h 21600"/>
                    <a:gd name="T18" fmla="*/ 3783 w 21600"/>
                    <a:gd name="T19" fmla="*/ 10800 h 21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600" h="21600">
                      <a:moveTo>
                        <a:pt x="0" y="10800"/>
                      </a:moveTo>
                      <a:cubicBezTo>
                        <a:pt x="0" y="4835"/>
                        <a:pt x="4835" y="0"/>
                        <a:pt x="10800" y="0"/>
                      </a:cubicBezTo>
                      <a:cubicBezTo>
                        <a:pt x="16765" y="0"/>
                        <a:pt x="21600" y="4835"/>
                        <a:pt x="21600" y="10800"/>
                      </a:cubicBezTo>
                      <a:cubicBezTo>
                        <a:pt x="21600" y="16765"/>
                        <a:pt x="16765" y="21600"/>
                        <a:pt x="10800" y="21600"/>
                      </a:cubicBezTo>
                      <a:cubicBezTo>
                        <a:pt x="4835" y="21600"/>
                        <a:pt x="0" y="16765"/>
                        <a:pt x="0" y="10800"/>
                      </a:cubicBezTo>
                      <a:close/>
                      <a:moveTo>
                        <a:pt x="3783" y="10800"/>
                      </a:moveTo>
                      <a:cubicBezTo>
                        <a:pt x="3783" y="14675"/>
                        <a:pt x="6925" y="17817"/>
                        <a:pt x="10800" y="17817"/>
                      </a:cubicBezTo>
                      <a:cubicBezTo>
                        <a:pt x="14675" y="17817"/>
                        <a:pt x="17817" y="14675"/>
                        <a:pt x="17817" y="10800"/>
                      </a:cubicBezTo>
                      <a:cubicBezTo>
                        <a:pt x="17817" y="6925"/>
                        <a:pt x="14675" y="3783"/>
                        <a:pt x="10800" y="3783"/>
                      </a:cubicBezTo>
                      <a:cubicBezTo>
                        <a:pt x="6925" y="3783"/>
                        <a:pt x="3783" y="6925"/>
                        <a:pt x="3783" y="10800"/>
                      </a:cubicBezTo>
                      <a:close/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20" name="Line 17"/>
                <p:cNvSpPr>
                  <a:spLocks noChangeShapeType="1"/>
                </p:cNvSpPr>
                <p:nvPr/>
              </p:nvSpPr>
              <p:spPr bwMode="auto">
                <a:xfrm>
                  <a:off x="3678" y="1671"/>
                  <a:ext cx="0" cy="168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21" name="Line 18"/>
                <p:cNvSpPr>
                  <a:spLocks noChangeShapeType="1"/>
                </p:cNvSpPr>
                <p:nvPr/>
              </p:nvSpPr>
              <p:spPr bwMode="auto">
                <a:xfrm flipV="1">
                  <a:off x="3381" y="1544"/>
                  <a:ext cx="484" cy="3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22" name="Line 19"/>
                <p:cNvSpPr>
                  <a:spLocks noChangeShapeType="1"/>
                </p:cNvSpPr>
                <p:nvPr/>
              </p:nvSpPr>
              <p:spPr bwMode="auto">
                <a:xfrm>
                  <a:off x="3386" y="1935"/>
                  <a:ext cx="477" cy="2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23" name="Line 20"/>
                <p:cNvSpPr>
                  <a:spLocks noChangeShapeType="1"/>
                </p:cNvSpPr>
                <p:nvPr/>
              </p:nvSpPr>
              <p:spPr bwMode="auto">
                <a:xfrm>
                  <a:off x="3717" y="1867"/>
                  <a:ext cx="144" cy="1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24" name="Freeform 21"/>
                <p:cNvSpPr>
                  <a:spLocks noChangeArrowheads="1"/>
                </p:cNvSpPr>
                <p:nvPr/>
              </p:nvSpPr>
              <p:spPr bwMode="auto">
                <a:xfrm>
                  <a:off x="3677" y="1637"/>
                  <a:ext cx="38" cy="43"/>
                </a:xfrm>
                <a:custGeom>
                  <a:avLst/>
                  <a:gdLst>
                    <a:gd name="T0" fmla="*/ 38 w 38"/>
                    <a:gd name="T1" fmla="*/ 0 h 43"/>
                    <a:gd name="T2" fmla="*/ 16 w 38"/>
                    <a:gd name="T3" fmla="*/ 10 h 43"/>
                    <a:gd name="T4" fmla="*/ 5 w 38"/>
                    <a:gd name="T5" fmla="*/ 21 h 43"/>
                    <a:gd name="T6" fmla="*/ 0 w 38"/>
                    <a:gd name="T7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8" h="43">
                      <a:moveTo>
                        <a:pt x="38" y="0"/>
                      </a:moveTo>
                      <a:cubicBezTo>
                        <a:pt x="34" y="1"/>
                        <a:pt x="21" y="7"/>
                        <a:pt x="16" y="10"/>
                      </a:cubicBezTo>
                      <a:cubicBezTo>
                        <a:pt x="11" y="13"/>
                        <a:pt x="8" y="16"/>
                        <a:pt x="5" y="21"/>
                      </a:cubicBezTo>
                      <a:cubicBezTo>
                        <a:pt x="2" y="26"/>
                        <a:pt x="1" y="39"/>
                        <a:pt x="0" y="43"/>
                      </a:cubicBez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25" name="Freeform 22"/>
                <p:cNvSpPr>
                  <a:spLocks noChangeArrowheads="1"/>
                </p:cNvSpPr>
                <p:nvPr/>
              </p:nvSpPr>
              <p:spPr bwMode="auto">
                <a:xfrm>
                  <a:off x="3679" y="1824"/>
                  <a:ext cx="51" cy="46"/>
                </a:xfrm>
                <a:custGeom>
                  <a:avLst/>
                  <a:gdLst>
                    <a:gd name="T0" fmla="*/ 0 w 51"/>
                    <a:gd name="T1" fmla="*/ 0 h 46"/>
                    <a:gd name="T2" fmla="*/ 3 w 51"/>
                    <a:gd name="T3" fmla="*/ 25 h 46"/>
                    <a:gd name="T4" fmla="*/ 12 w 51"/>
                    <a:gd name="T5" fmla="*/ 39 h 46"/>
                    <a:gd name="T6" fmla="*/ 27 w 51"/>
                    <a:gd name="T7" fmla="*/ 44 h 46"/>
                    <a:gd name="T8" fmla="*/ 51 w 51"/>
                    <a:gd name="T9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46">
                      <a:moveTo>
                        <a:pt x="0" y="0"/>
                      </a:moveTo>
                      <a:cubicBezTo>
                        <a:pt x="1" y="4"/>
                        <a:pt x="1" y="18"/>
                        <a:pt x="3" y="25"/>
                      </a:cubicBezTo>
                      <a:cubicBezTo>
                        <a:pt x="5" y="32"/>
                        <a:pt x="8" y="36"/>
                        <a:pt x="12" y="39"/>
                      </a:cubicBezTo>
                      <a:cubicBezTo>
                        <a:pt x="16" y="42"/>
                        <a:pt x="21" y="43"/>
                        <a:pt x="27" y="44"/>
                      </a:cubicBezTo>
                      <a:cubicBezTo>
                        <a:pt x="33" y="45"/>
                        <a:pt x="46" y="46"/>
                        <a:pt x="51" y="46"/>
                      </a:cubicBez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26" name="Freeform 23"/>
                <p:cNvSpPr>
                  <a:spLocks noChangeArrowheads="1"/>
                </p:cNvSpPr>
                <p:nvPr/>
              </p:nvSpPr>
              <p:spPr bwMode="auto">
                <a:xfrm>
                  <a:off x="4080" y="1583"/>
                  <a:ext cx="58" cy="35"/>
                </a:xfrm>
                <a:custGeom>
                  <a:avLst/>
                  <a:gdLst>
                    <a:gd name="T0" fmla="*/ 0 w 58"/>
                    <a:gd name="T1" fmla="*/ 0 h 35"/>
                    <a:gd name="T2" fmla="*/ 21 w 58"/>
                    <a:gd name="T3" fmla="*/ 1 h 35"/>
                    <a:gd name="T4" fmla="*/ 39 w 58"/>
                    <a:gd name="T5" fmla="*/ 8 h 35"/>
                    <a:gd name="T6" fmla="*/ 48 w 58"/>
                    <a:gd name="T7" fmla="*/ 14 h 35"/>
                    <a:gd name="T8" fmla="*/ 56 w 58"/>
                    <a:gd name="T9" fmla="*/ 25 h 35"/>
                    <a:gd name="T10" fmla="*/ 58 w 58"/>
                    <a:gd name="T11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8" h="35">
                      <a:moveTo>
                        <a:pt x="0" y="0"/>
                      </a:moveTo>
                      <a:cubicBezTo>
                        <a:pt x="7" y="0"/>
                        <a:pt x="15" y="0"/>
                        <a:pt x="21" y="1"/>
                      </a:cubicBezTo>
                      <a:cubicBezTo>
                        <a:pt x="27" y="2"/>
                        <a:pt x="35" y="6"/>
                        <a:pt x="39" y="8"/>
                      </a:cubicBezTo>
                      <a:cubicBezTo>
                        <a:pt x="43" y="10"/>
                        <a:pt x="45" y="11"/>
                        <a:pt x="48" y="14"/>
                      </a:cubicBezTo>
                      <a:cubicBezTo>
                        <a:pt x="51" y="17"/>
                        <a:pt x="54" y="22"/>
                        <a:pt x="56" y="25"/>
                      </a:cubicBezTo>
                      <a:cubicBezTo>
                        <a:pt x="58" y="28"/>
                        <a:pt x="58" y="31"/>
                        <a:pt x="58" y="35"/>
                      </a:cubicBez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27" name="Freeform 24"/>
                <p:cNvSpPr>
                  <a:spLocks noChangeArrowheads="1"/>
                </p:cNvSpPr>
                <p:nvPr/>
              </p:nvSpPr>
              <p:spPr bwMode="auto">
                <a:xfrm>
                  <a:off x="4077" y="1853"/>
                  <a:ext cx="62" cy="57"/>
                </a:xfrm>
                <a:custGeom>
                  <a:avLst/>
                  <a:gdLst>
                    <a:gd name="T0" fmla="*/ 0 w 62"/>
                    <a:gd name="T1" fmla="*/ 53 h 57"/>
                    <a:gd name="T2" fmla="*/ 17 w 62"/>
                    <a:gd name="T3" fmla="*/ 56 h 57"/>
                    <a:gd name="T4" fmla="*/ 41 w 62"/>
                    <a:gd name="T5" fmla="*/ 48 h 57"/>
                    <a:gd name="T6" fmla="*/ 56 w 62"/>
                    <a:gd name="T7" fmla="*/ 34 h 57"/>
                    <a:gd name="T8" fmla="*/ 61 w 62"/>
                    <a:gd name="T9" fmla="*/ 22 h 57"/>
                    <a:gd name="T10" fmla="*/ 61 w 62"/>
                    <a:gd name="T11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57">
                      <a:moveTo>
                        <a:pt x="0" y="53"/>
                      </a:moveTo>
                      <a:cubicBezTo>
                        <a:pt x="4" y="55"/>
                        <a:pt x="9" y="57"/>
                        <a:pt x="17" y="56"/>
                      </a:cubicBezTo>
                      <a:cubicBezTo>
                        <a:pt x="24" y="55"/>
                        <a:pt x="35" y="52"/>
                        <a:pt x="41" y="48"/>
                      </a:cubicBezTo>
                      <a:cubicBezTo>
                        <a:pt x="48" y="44"/>
                        <a:pt x="53" y="38"/>
                        <a:pt x="56" y="34"/>
                      </a:cubicBezTo>
                      <a:cubicBezTo>
                        <a:pt x="59" y="30"/>
                        <a:pt x="60" y="28"/>
                        <a:pt x="61" y="22"/>
                      </a:cubicBezTo>
                      <a:cubicBezTo>
                        <a:pt x="62" y="16"/>
                        <a:pt x="61" y="5"/>
                        <a:pt x="61" y="0"/>
                      </a:cubicBez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</p:grpSp>
          <p:sp>
            <p:nvSpPr>
              <p:cNvPr id="8" name="Text Box 25"/>
              <p:cNvSpPr txBox="1">
                <a:spLocks noChangeArrowheads="1"/>
              </p:cNvSpPr>
              <p:nvPr/>
            </p:nvSpPr>
            <p:spPr bwMode="auto">
              <a:xfrm>
                <a:off x="3146" y="2204"/>
                <a:ext cx="166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zh-CN" altLang="en-US" dirty="0">
                    <a:solidFill>
                      <a:srgbClr val="0000FF"/>
                    </a:solidFill>
                    <a:latin typeface="华文细黑" panose="02010600040101010101" pitchFamily="2" charset="-122"/>
                    <a:ea typeface="华文细黑" panose="02010600040101010101" pitchFamily="2" charset="-122"/>
                  </a:rPr>
                  <a:t>轴套拉杆断开画法</a:t>
                </a:r>
              </a:p>
            </p:txBody>
          </p:sp>
        </p:grpSp>
        <p:sp>
          <p:nvSpPr>
            <p:cNvPr id="5" name="Freeform 26"/>
            <p:cNvSpPr>
              <a:spLocks noChangeArrowheads="1"/>
            </p:cNvSpPr>
            <p:nvPr/>
          </p:nvSpPr>
          <p:spPr bwMode="auto">
            <a:xfrm>
              <a:off x="1846" y="1542"/>
              <a:ext cx="41" cy="422"/>
            </a:xfrm>
            <a:custGeom>
              <a:avLst/>
              <a:gdLst>
                <a:gd name="T0" fmla="*/ 23 w 41"/>
                <a:gd name="T1" fmla="*/ 0 h 422"/>
                <a:gd name="T2" fmla="*/ 37 w 41"/>
                <a:gd name="T3" fmla="*/ 65 h 422"/>
                <a:gd name="T4" fmla="*/ 1 w 41"/>
                <a:gd name="T5" fmla="*/ 174 h 422"/>
                <a:gd name="T6" fmla="*/ 30 w 41"/>
                <a:gd name="T7" fmla="*/ 298 h 422"/>
                <a:gd name="T8" fmla="*/ 23 w 41"/>
                <a:gd name="T9" fmla="*/ 342 h 422"/>
                <a:gd name="T10" fmla="*/ 8 w 41"/>
                <a:gd name="T11" fmla="*/ 385 h 422"/>
                <a:gd name="T12" fmla="*/ 30 w 41"/>
                <a:gd name="T13" fmla="*/ 422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422">
                  <a:moveTo>
                    <a:pt x="23" y="0"/>
                  </a:moveTo>
                  <a:cubicBezTo>
                    <a:pt x="32" y="18"/>
                    <a:pt x="41" y="36"/>
                    <a:pt x="37" y="65"/>
                  </a:cubicBezTo>
                  <a:cubicBezTo>
                    <a:pt x="33" y="94"/>
                    <a:pt x="2" y="135"/>
                    <a:pt x="1" y="174"/>
                  </a:cubicBezTo>
                  <a:cubicBezTo>
                    <a:pt x="0" y="213"/>
                    <a:pt x="26" y="270"/>
                    <a:pt x="30" y="298"/>
                  </a:cubicBezTo>
                  <a:cubicBezTo>
                    <a:pt x="34" y="326"/>
                    <a:pt x="27" y="328"/>
                    <a:pt x="23" y="342"/>
                  </a:cubicBezTo>
                  <a:cubicBezTo>
                    <a:pt x="19" y="356"/>
                    <a:pt x="7" y="372"/>
                    <a:pt x="8" y="385"/>
                  </a:cubicBezTo>
                  <a:cubicBezTo>
                    <a:pt x="9" y="398"/>
                    <a:pt x="19" y="410"/>
                    <a:pt x="30" y="422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" name="Freeform 27"/>
            <p:cNvSpPr>
              <a:spLocks noChangeArrowheads="1"/>
            </p:cNvSpPr>
            <p:nvPr/>
          </p:nvSpPr>
          <p:spPr bwMode="auto">
            <a:xfrm>
              <a:off x="1963" y="1513"/>
              <a:ext cx="37" cy="480"/>
            </a:xfrm>
            <a:custGeom>
              <a:avLst/>
              <a:gdLst>
                <a:gd name="T0" fmla="*/ 30 w 37"/>
                <a:gd name="T1" fmla="*/ 0 h 480"/>
                <a:gd name="T2" fmla="*/ 22 w 37"/>
                <a:gd name="T3" fmla="*/ 36 h 480"/>
                <a:gd name="T4" fmla="*/ 30 w 37"/>
                <a:gd name="T5" fmla="*/ 94 h 480"/>
                <a:gd name="T6" fmla="*/ 30 w 37"/>
                <a:gd name="T7" fmla="*/ 174 h 480"/>
                <a:gd name="T8" fmla="*/ 0 w 37"/>
                <a:gd name="T9" fmla="*/ 269 h 480"/>
                <a:gd name="T10" fmla="*/ 30 w 37"/>
                <a:gd name="T11" fmla="*/ 385 h 480"/>
                <a:gd name="T12" fmla="*/ 15 w 37"/>
                <a:gd name="T13" fmla="*/ 444 h 480"/>
                <a:gd name="T14" fmla="*/ 37 w 37"/>
                <a:gd name="T15" fmla="*/ 48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480">
                  <a:moveTo>
                    <a:pt x="30" y="0"/>
                  </a:moveTo>
                  <a:cubicBezTo>
                    <a:pt x="29" y="6"/>
                    <a:pt x="22" y="20"/>
                    <a:pt x="22" y="36"/>
                  </a:cubicBezTo>
                  <a:cubicBezTo>
                    <a:pt x="22" y="52"/>
                    <a:pt x="29" y="71"/>
                    <a:pt x="30" y="94"/>
                  </a:cubicBezTo>
                  <a:cubicBezTo>
                    <a:pt x="31" y="117"/>
                    <a:pt x="35" y="145"/>
                    <a:pt x="30" y="174"/>
                  </a:cubicBezTo>
                  <a:cubicBezTo>
                    <a:pt x="25" y="203"/>
                    <a:pt x="0" y="234"/>
                    <a:pt x="0" y="269"/>
                  </a:cubicBezTo>
                  <a:cubicBezTo>
                    <a:pt x="0" y="304"/>
                    <a:pt x="28" y="356"/>
                    <a:pt x="30" y="385"/>
                  </a:cubicBezTo>
                  <a:cubicBezTo>
                    <a:pt x="32" y="414"/>
                    <a:pt x="14" y="428"/>
                    <a:pt x="15" y="444"/>
                  </a:cubicBezTo>
                  <a:cubicBezTo>
                    <a:pt x="16" y="460"/>
                    <a:pt x="26" y="470"/>
                    <a:pt x="37" y="480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28" name="Group 28"/>
          <p:cNvGrpSpPr>
            <a:grpSpLocks/>
          </p:cNvGrpSpPr>
          <p:nvPr/>
        </p:nvGrpSpPr>
        <p:grpSpPr bwMode="auto">
          <a:xfrm>
            <a:off x="5208587" y="3070226"/>
            <a:ext cx="4490915" cy="1984375"/>
            <a:chOff x="686" y="2670"/>
            <a:chExt cx="2828" cy="1250"/>
          </a:xfrm>
        </p:grpSpPr>
        <p:grpSp>
          <p:nvGrpSpPr>
            <p:cNvPr id="29" name="Group 29"/>
            <p:cNvGrpSpPr>
              <a:grpSpLocks/>
            </p:cNvGrpSpPr>
            <p:nvPr/>
          </p:nvGrpSpPr>
          <p:grpSpPr bwMode="auto">
            <a:xfrm>
              <a:off x="686" y="2670"/>
              <a:ext cx="2828" cy="1250"/>
              <a:chOff x="686" y="2670"/>
              <a:chExt cx="2828" cy="1250"/>
            </a:xfrm>
          </p:grpSpPr>
          <p:grpSp>
            <p:nvGrpSpPr>
              <p:cNvPr id="35" name="Group 30"/>
              <p:cNvGrpSpPr>
                <a:grpSpLocks/>
              </p:cNvGrpSpPr>
              <p:nvPr/>
            </p:nvGrpSpPr>
            <p:grpSpPr bwMode="auto">
              <a:xfrm>
                <a:off x="686" y="2670"/>
                <a:ext cx="2828" cy="629"/>
                <a:chOff x="686" y="2670"/>
                <a:chExt cx="2828" cy="629"/>
              </a:xfrm>
            </p:grpSpPr>
            <p:sp>
              <p:nvSpPr>
                <p:cNvPr id="37" name="Line 31"/>
                <p:cNvSpPr>
                  <a:spLocks noChangeShapeType="1"/>
                </p:cNvSpPr>
                <p:nvPr/>
              </p:nvSpPr>
              <p:spPr bwMode="auto">
                <a:xfrm>
                  <a:off x="686" y="2984"/>
                  <a:ext cx="2828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prstDash val="lgDash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38" name="Rectangle 32"/>
                <p:cNvSpPr>
                  <a:spLocks noChangeArrowheads="1"/>
                </p:cNvSpPr>
                <p:nvPr/>
              </p:nvSpPr>
              <p:spPr bwMode="auto">
                <a:xfrm>
                  <a:off x="808" y="2836"/>
                  <a:ext cx="116" cy="291"/>
                </a:xfrm>
                <a:prstGeom prst="rect">
                  <a:avLst/>
                </a:prstGeom>
                <a:noFill/>
                <a:ln w="3810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39" name="Freeform 33"/>
                <p:cNvSpPr>
                  <a:spLocks noChangeArrowheads="1"/>
                </p:cNvSpPr>
                <p:nvPr/>
              </p:nvSpPr>
              <p:spPr bwMode="auto">
                <a:xfrm>
                  <a:off x="746" y="2747"/>
                  <a:ext cx="57" cy="58"/>
                </a:xfrm>
                <a:custGeom>
                  <a:avLst/>
                  <a:gdLst>
                    <a:gd name="T0" fmla="*/ 57 w 57"/>
                    <a:gd name="T1" fmla="*/ 0 h 58"/>
                    <a:gd name="T2" fmla="*/ 0 w 57"/>
                    <a:gd name="T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57" h="58">
                      <a:moveTo>
                        <a:pt x="57" y="0"/>
                      </a:moveTo>
                      <a:lnTo>
                        <a:pt x="0" y="58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40" name="Freeform 34"/>
                <p:cNvSpPr>
                  <a:spLocks noChangeArrowheads="1"/>
                </p:cNvSpPr>
                <p:nvPr/>
              </p:nvSpPr>
              <p:spPr bwMode="auto">
                <a:xfrm>
                  <a:off x="746" y="3157"/>
                  <a:ext cx="55" cy="56"/>
                </a:xfrm>
                <a:custGeom>
                  <a:avLst/>
                  <a:gdLst>
                    <a:gd name="T0" fmla="*/ 55 w 55"/>
                    <a:gd name="T1" fmla="*/ 56 h 56"/>
                    <a:gd name="T2" fmla="*/ 0 w 55"/>
                    <a:gd name="T3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55" h="56">
                      <a:moveTo>
                        <a:pt x="55" y="56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41" name="Line 35"/>
                <p:cNvSpPr>
                  <a:spLocks noChangeShapeType="1"/>
                </p:cNvSpPr>
                <p:nvPr/>
              </p:nvSpPr>
              <p:spPr bwMode="auto">
                <a:xfrm flipV="1">
                  <a:off x="750" y="2795"/>
                  <a:ext cx="0" cy="37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42" name="Line 36"/>
                <p:cNvSpPr>
                  <a:spLocks noChangeShapeType="1"/>
                </p:cNvSpPr>
                <p:nvPr/>
              </p:nvSpPr>
              <p:spPr bwMode="auto">
                <a:xfrm>
                  <a:off x="1324" y="2800"/>
                  <a:ext cx="5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43" name="Line 37"/>
                <p:cNvSpPr>
                  <a:spLocks noChangeShapeType="1"/>
                </p:cNvSpPr>
                <p:nvPr/>
              </p:nvSpPr>
              <p:spPr bwMode="auto">
                <a:xfrm>
                  <a:off x="1322" y="3159"/>
                  <a:ext cx="5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44" name="Line 38"/>
                <p:cNvSpPr>
                  <a:spLocks noChangeShapeType="1"/>
                </p:cNvSpPr>
                <p:nvPr/>
              </p:nvSpPr>
              <p:spPr bwMode="auto">
                <a:xfrm>
                  <a:off x="1382" y="2706"/>
                  <a:ext cx="0" cy="56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45" name="Line 39"/>
                <p:cNvSpPr>
                  <a:spLocks noChangeShapeType="1"/>
                </p:cNvSpPr>
                <p:nvPr/>
              </p:nvSpPr>
              <p:spPr bwMode="auto">
                <a:xfrm>
                  <a:off x="1382" y="2711"/>
                  <a:ext cx="261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46" name="Line 40"/>
                <p:cNvSpPr>
                  <a:spLocks noChangeShapeType="1"/>
                </p:cNvSpPr>
                <p:nvPr/>
              </p:nvSpPr>
              <p:spPr bwMode="auto">
                <a:xfrm>
                  <a:off x="1382" y="3257"/>
                  <a:ext cx="261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47" name="Line 41"/>
                <p:cNvSpPr>
                  <a:spLocks noChangeShapeType="1"/>
                </p:cNvSpPr>
                <p:nvPr/>
              </p:nvSpPr>
              <p:spPr bwMode="auto">
                <a:xfrm>
                  <a:off x="1706" y="2711"/>
                  <a:ext cx="224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48" name="Line 42"/>
                <p:cNvSpPr>
                  <a:spLocks noChangeShapeType="1"/>
                </p:cNvSpPr>
                <p:nvPr/>
              </p:nvSpPr>
              <p:spPr bwMode="auto">
                <a:xfrm>
                  <a:off x="1706" y="3257"/>
                  <a:ext cx="224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49" name="Rectangle 43"/>
                <p:cNvSpPr>
                  <a:spLocks noChangeArrowheads="1"/>
                </p:cNvSpPr>
                <p:nvPr/>
              </p:nvSpPr>
              <p:spPr bwMode="auto">
                <a:xfrm>
                  <a:off x="1986" y="2838"/>
                  <a:ext cx="634" cy="291"/>
                </a:xfrm>
                <a:prstGeom prst="rect">
                  <a:avLst/>
                </a:prstGeom>
                <a:noFill/>
                <a:ln w="3810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50" name="Line 44"/>
                <p:cNvSpPr>
                  <a:spLocks noChangeShapeType="1"/>
                </p:cNvSpPr>
                <p:nvPr/>
              </p:nvSpPr>
              <p:spPr bwMode="auto">
                <a:xfrm>
                  <a:off x="2679" y="2749"/>
                  <a:ext cx="263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51" name="Line 45"/>
                <p:cNvSpPr>
                  <a:spLocks noChangeShapeType="1"/>
                </p:cNvSpPr>
                <p:nvPr/>
              </p:nvSpPr>
              <p:spPr bwMode="auto">
                <a:xfrm>
                  <a:off x="2679" y="3213"/>
                  <a:ext cx="263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52" name="Line 46"/>
                <p:cNvSpPr>
                  <a:spLocks noChangeShapeType="1"/>
                </p:cNvSpPr>
                <p:nvPr/>
              </p:nvSpPr>
              <p:spPr bwMode="auto">
                <a:xfrm>
                  <a:off x="3010" y="2749"/>
                  <a:ext cx="374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53" name="Line 47"/>
                <p:cNvSpPr>
                  <a:spLocks noChangeShapeType="1"/>
                </p:cNvSpPr>
                <p:nvPr/>
              </p:nvSpPr>
              <p:spPr bwMode="auto">
                <a:xfrm>
                  <a:off x="3010" y="3213"/>
                  <a:ext cx="374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54" name="Line 48"/>
                <p:cNvSpPr>
                  <a:spLocks noChangeShapeType="1"/>
                </p:cNvSpPr>
                <p:nvPr/>
              </p:nvSpPr>
              <p:spPr bwMode="auto">
                <a:xfrm>
                  <a:off x="3384" y="2741"/>
                  <a:ext cx="0" cy="48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55" name="Freeform 49"/>
                <p:cNvSpPr>
                  <a:spLocks noChangeArrowheads="1"/>
                </p:cNvSpPr>
                <p:nvPr/>
              </p:nvSpPr>
              <p:spPr bwMode="auto">
                <a:xfrm>
                  <a:off x="3381" y="2741"/>
                  <a:ext cx="65" cy="64"/>
                </a:xfrm>
                <a:custGeom>
                  <a:avLst/>
                  <a:gdLst>
                    <a:gd name="T0" fmla="*/ 0 w 65"/>
                    <a:gd name="T1" fmla="*/ 0 h 64"/>
                    <a:gd name="T2" fmla="*/ 65 w 65"/>
                    <a:gd name="T3" fmla="*/ 6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65" h="64">
                      <a:moveTo>
                        <a:pt x="0" y="0"/>
                      </a:moveTo>
                      <a:lnTo>
                        <a:pt x="65" y="64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56" name="Freeform 50"/>
                <p:cNvSpPr>
                  <a:spLocks noChangeArrowheads="1"/>
                </p:cNvSpPr>
                <p:nvPr/>
              </p:nvSpPr>
              <p:spPr bwMode="auto">
                <a:xfrm>
                  <a:off x="3386" y="3151"/>
                  <a:ext cx="60" cy="60"/>
                </a:xfrm>
                <a:custGeom>
                  <a:avLst/>
                  <a:gdLst>
                    <a:gd name="T0" fmla="*/ 0 w 60"/>
                    <a:gd name="T1" fmla="*/ 60 h 60"/>
                    <a:gd name="T2" fmla="*/ 60 w 60"/>
                    <a:gd name="T3" fmla="*/ 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60" h="60">
                      <a:moveTo>
                        <a:pt x="0" y="60"/>
                      </a:moveTo>
                      <a:lnTo>
                        <a:pt x="60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57" name="Line 51"/>
                <p:cNvSpPr>
                  <a:spLocks noChangeShapeType="1"/>
                </p:cNvSpPr>
                <p:nvPr/>
              </p:nvSpPr>
              <p:spPr bwMode="auto">
                <a:xfrm flipV="1">
                  <a:off x="3444" y="2799"/>
                  <a:ext cx="0" cy="363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58" name="Freeform 52"/>
                <p:cNvSpPr>
                  <a:spLocks noChangeArrowheads="1"/>
                </p:cNvSpPr>
                <p:nvPr/>
              </p:nvSpPr>
              <p:spPr bwMode="auto">
                <a:xfrm>
                  <a:off x="1922" y="2670"/>
                  <a:ext cx="62" cy="41"/>
                </a:xfrm>
                <a:custGeom>
                  <a:avLst/>
                  <a:gdLst>
                    <a:gd name="T0" fmla="*/ 0 w 62"/>
                    <a:gd name="T1" fmla="*/ 41 h 41"/>
                    <a:gd name="T2" fmla="*/ 26 w 62"/>
                    <a:gd name="T3" fmla="*/ 36 h 41"/>
                    <a:gd name="T4" fmla="*/ 48 w 62"/>
                    <a:gd name="T5" fmla="*/ 22 h 41"/>
                    <a:gd name="T6" fmla="*/ 62 w 62"/>
                    <a:gd name="T7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2" h="41">
                      <a:moveTo>
                        <a:pt x="0" y="41"/>
                      </a:moveTo>
                      <a:cubicBezTo>
                        <a:pt x="5" y="41"/>
                        <a:pt x="18" y="39"/>
                        <a:pt x="26" y="36"/>
                      </a:cubicBezTo>
                      <a:cubicBezTo>
                        <a:pt x="34" y="33"/>
                        <a:pt x="42" y="28"/>
                        <a:pt x="48" y="22"/>
                      </a:cubicBezTo>
                      <a:cubicBezTo>
                        <a:pt x="54" y="16"/>
                        <a:pt x="59" y="5"/>
                        <a:pt x="62" y="0"/>
                      </a:cubicBez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59" name="Freeform 53"/>
                <p:cNvSpPr>
                  <a:spLocks noChangeArrowheads="1"/>
                </p:cNvSpPr>
                <p:nvPr/>
              </p:nvSpPr>
              <p:spPr bwMode="auto">
                <a:xfrm>
                  <a:off x="1910" y="3255"/>
                  <a:ext cx="74" cy="44"/>
                </a:xfrm>
                <a:custGeom>
                  <a:avLst/>
                  <a:gdLst>
                    <a:gd name="T0" fmla="*/ 0 w 74"/>
                    <a:gd name="T1" fmla="*/ 2 h 44"/>
                    <a:gd name="T2" fmla="*/ 32 w 74"/>
                    <a:gd name="T3" fmla="*/ 2 h 44"/>
                    <a:gd name="T4" fmla="*/ 53 w 74"/>
                    <a:gd name="T5" fmla="*/ 13 h 44"/>
                    <a:gd name="T6" fmla="*/ 67 w 74"/>
                    <a:gd name="T7" fmla="*/ 27 h 44"/>
                    <a:gd name="T8" fmla="*/ 74 w 74"/>
                    <a:gd name="T9" fmla="*/ 4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4" h="44">
                      <a:moveTo>
                        <a:pt x="0" y="2"/>
                      </a:moveTo>
                      <a:cubicBezTo>
                        <a:pt x="6" y="2"/>
                        <a:pt x="23" y="0"/>
                        <a:pt x="32" y="2"/>
                      </a:cubicBezTo>
                      <a:cubicBezTo>
                        <a:pt x="41" y="4"/>
                        <a:pt x="47" y="9"/>
                        <a:pt x="53" y="13"/>
                      </a:cubicBezTo>
                      <a:cubicBezTo>
                        <a:pt x="59" y="17"/>
                        <a:pt x="63" y="22"/>
                        <a:pt x="67" y="27"/>
                      </a:cubicBezTo>
                      <a:cubicBezTo>
                        <a:pt x="71" y="32"/>
                        <a:pt x="73" y="41"/>
                        <a:pt x="74" y="44"/>
                      </a:cubicBez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60" name="Freeform 54"/>
                <p:cNvSpPr>
                  <a:spLocks noChangeArrowheads="1"/>
                </p:cNvSpPr>
                <p:nvPr/>
              </p:nvSpPr>
              <p:spPr bwMode="auto">
                <a:xfrm>
                  <a:off x="2623" y="2709"/>
                  <a:ext cx="62" cy="40"/>
                </a:xfrm>
                <a:custGeom>
                  <a:avLst/>
                  <a:gdLst>
                    <a:gd name="T0" fmla="*/ 62 w 62"/>
                    <a:gd name="T1" fmla="*/ 40 h 40"/>
                    <a:gd name="T2" fmla="*/ 43 w 62"/>
                    <a:gd name="T3" fmla="*/ 38 h 40"/>
                    <a:gd name="T4" fmla="*/ 24 w 62"/>
                    <a:gd name="T5" fmla="*/ 31 h 40"/>
                    <a:gd name="T6" fmla="*/ 9 w 62"/>
                    <a:gd name="T7" fmla="*/ 19 h 40"/>
                    <a:gd name="T8" fmla="*/ 0 w 62"/>
                    <a:gd name="T9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2" h="40">
                      <a:moveTo>
                        <a:pt x="62" y="40"/>
                      </a:moveTo>
                      <a:cubicBezTo>
                        <a:pt x="59" y="40"/>
                        <a:pt x="49" y="39"/>
                        <a:pt x="43" y="38"/>
                      </a:cubicBezTo>
                      <a:cubicBezTo>
                        <a:pt x="37" y="37"/>
                        <a:pt x="30" y="34"/>
                        <a:pt x="24" y="31"/>
                      </a:cubicBezTo>
                      <a:cubicBezTo>
                        <a:pt x="18" y="28"/>
                        <a:pt x="13" y="24"/>
                        <a:pt x="9" y="19"/>
                      </a:cubicBezTo>
                      <a:cubicBezTo>
                        <a:pt x="5" y="14"/>
                        <a:pt x="2" y="4"/>
                        <a:pt x="0" y="0"/>
                      </a:cubicBez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  <p:sp>
              <p:nvSpPr>
                <p:cNvPr id="61" name="Freeform 55"/>
                <p:cNvSpPr>
                  <a:spLocks noChangeArrowheads="1"/>
                </p:cNvSpPr>
                <p:nvPr/>
              </p:nvSpPr>
              <p:spPr bwMode="auto">
                <a:xfrm>
                  <a:off x="2620" y="3211"/>
                  <a:ext cx="78" cy="52"/>
                </a:xfrm>
                <a:custGeom>
                  <a:avLst/>
                  <a:gdLst>
                    <a:gd name="T0" fmla="*/ 78 w 78"/>
                    <a:gd name="T1" fmla="*/ 3 h 52"/>
                    <a:gd name="T2" fmla="*/ 44 w 78"/>
                    <a:gd name="T3" fmla="*/ 3 h 52"/>
                    <a:gd name="T4" fmla="*/ 20 w 78"/>
                    <a:gd name="T5" fmla="*/ 19 h 52"/>
                    <a:gd name="T6" fmla="*/ 0 w 78"/>
                    <a:gd name="T7" fmla="*/ 52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8" h="52">
                      <a:moveTo>
                        <a:pt x="78" y="3"/>
                      </a:moveTo>
                      <a:cubicBezTo>
                        <a:pt x="72" y="3"/>
                        <a:pt x="54" y="0"/>
                        <a:pt x="44" y="3"/>
                      </a:cubicBezTo>
                      <a:cubicBezTo>
                        <a:pt x="34" y="6"/>
                        <a:pt x="27" y="11"/>
                        <a:pt x="20" y="19"/>
                      </a:cubicBezTo>
                      <a:cubicBezTo>
                        <a:pt x="13" y="27"/>
                        <a:pt x="4" y="45"/>
                        <a:pt x="0" y="52"/>
                      </a:cubicBez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>
                    <a:latin typeface="华文细黑" panose="02010600040101010101" pitchFamily="2" charset="-122"/>
                    <a:ea typeface="华文细黑" panose="02010600040101010101" pitchFamily="2" charset="-122"/>
                  </a:endParaRPr>
                </a:p>
              </p:txBody>
            </p:sp>
          </p:grpSp>
          <p:sp>
            <p:nvSpPr>
              <p:cNvPr id="36" name="Text Box 56"/>
              <p:cNvSpPr txBox="1">
                <a:spLocks noChangeArrowheads="1"/>
              </p:cNvSpPr>
              <p:nvPr/>
            </p:nvSpPr>
            <p:spPr bwMode="auto">
              <a:xfrm>
                <a:off x="1370" y="3632"/>
                <a:ext cx="1467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lang="zh-CN" altLang="en-US" dirty="0">
                    <a:solidFill>
                      <a:srgbClr val="0000FF"/>
                    </a:solidFill>
                    <a:latin typeface="华文细黑" panose="02010600040101010101" pitchFamily="2" charset="-122"/>
                    <a:ea typeface="华文细黑" panose="02010600040101010101" pitchFamily="2" charset="-122"/>
                  </a:rPr>
                  <a:t>阶梯轴断开画法</a:t>
                </a:r>
              </a:p>
            </p:txBody>
          </p:sp>
        </p:grpSp>
        <p:grpSp>
          <p:nvGrpSpPr>
            <p:cNvPr id="30" name="Group 57"/>
            <p:cNvGrpSpPr>
              <a:grpSpLocks/>
            </p:cNvGrpSpPr>
            <p:nvPr/>
          </p:nvGrpSpPr>
          <p:grpSpPr bwMode="auto">
            <a:xfrm>
              <a:off x="1606" y="2713"/>
              <a:ext cx="1427" cy="553"/>
              <a:chOff x="1606" y="2713"/>
              <a:chExt cx="1427" cy="553"/>
            </a:xfrm>
          </p:grpSpPr>
          <p:sp>
            <p:nvSpPr>
              <p:cNvPr id="31" name="Freeform 58"/>
              <p:cNvSpPr>
                <a:spLocks noChangeArrowheads="1"/>
              </p:cNvSpPr>
              <p:nvPr/>
            </p:nvSpPr>
            <p:spPr bwMode="auto">
              <a:xfrm>
                <a:off x="1606" y="2713"/>
                <a:ext cx="37" cy="553"/>
              </a:xfrm>
              <a:custGeom>
                <a:avLst/>
                <a:gdLst>
                  <a:gd name="T0" fmla="*/ 37 w 37"/>
                  <a:gd name="T1" fmla="*/ 0 h 553"/>
                  <a:gd name="T2" fmla="*/ 8 w 37"/>
                  <a:gd name="T3" fmla="*/ 80 h 553"/>
                  <a:gd name="T4" fmla="*/ 23 w 37"/>
                  <a:gd name="T5" fmla="*/ 196 h 553"/>
                  <a:gd name="T6" fmla="*/ 1 w 37"/>
                  <a:gd name="T7" fmla="*/ 313 h 553"/>
                  <a:gd name="T8" fmla="*/ 30 w 37"/>
                  <a:gd name="T9" fmla="*/ 422 h 553"/>
                  <a:gd name="T10" fmla="*/ 8 w 37"/>
                  <a:gd name="T11" fmla="*/ 487 h 553"/>
                  <a:gd name="T12" fmla="*/ 30 w 37"/>
                  <a:gd name="T13" fmla="*/ 553 h 5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553">
                    <a:moveTo>
                      <a:pt x="37" y="0"/>
                    </a:moveTo>
                    <a:cubicBezTo>
                      <a:pt x="23" y="23"/>
                      <a:pt x="10" y="47"/>
                      <a:pt x="8" y="80"/>
                    </a:cubicBezTo>
                    <a:cubicBezTo>
                      <a:pt x="6" y="113"/>
                      <a:pt x="24" y="157"/>
                      <a:pt x="23" y="196"/>
                    </a:cubicBezTo>
                    <a:cubicBezTo>
                      <a:pt x="22" y="235"/>
                      <a:pt x="0" y="275"/>
                      <a:pt x="1" y="313"/>
                    </a:cubicBezTo>
                    <a:cubicBezTo>
                      <a:pt x="2" y="351"/>
                      <a:pt x="29" y="393"/>
                      <a:pt x="30" y="422"/>
                    </a:cubicBezTo>
                    <a:cubicBezTo>
                      <a:pt x="31" y="451"/>
                      <a:pt x="8" y="465"/>
                      <a:pt x="8" y="487"/>
                    </a:cubicBezTo>
                    <a:cubicBezTo>
                      <a:pt x="8" y="509"/>
                      <a:pt x="25" y="539"/>
                      <a:pt x="30" y="553"/>
                    </a:cubicBez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32" name="Freeform 59"/>
              <p:cNvSpPr>
                <a:spLocks noChangeArrowheads="1"/>
              </p:cNvSpPr>
              <p:nvPr/>
            </p:nvSpPr>
            <p:spPr bwMode="auto">
              <a:xfrm>
                <a:off x="1672" y="2713"/>
                <a:ext cx="55" cy="545"/>
              </a:xfrm>
              <a:custGeom>
                <a:avLst/>
                <a:gdLst>
                  <a:gd name="T0" fmla="*/ 37 w 55"/>
                  <a:gd name="T1" fmla="*/ 0 h 545"/>
                  <a:gd name="T2" fmla="*/ 1 w 55"/>
                  <a:gd name="T3" fmla="*/ 73 h 545"/>
                  <a:gd name="T4" fmla="*/ 30 w 55"/>
                  <a:gd name="T5" fmla="*/ 182 h 545"/>
                  <a:gd name="T6" fmla="*/ 8 w 55"/>
                  <a:gd name="T7" fmla="*/ 298 h 545"/>
                  <a:gd name="T8" fmla="*/ 51 w 55"/>
                  <a:gd name="T9" fmla="*/ 429 h 545"/>
                  <a:gd name="T10" fmla="*/ 30 w 55"/>
                  <a:gd name="T11" fmla="*/ 545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5" h="545">
                    <a:moveTo>
                      <a:pt x="37" y="0"/>
                    </a:moveTo>
                    <a:cubicBezTo>
                      <a:pt x="19" y="21"/>
                      <a:pt x="2" y="43"/>
                      <a:pt x="1" y="73"/>
                    </a:cubicBezTo>
                    <a:cubicBezTo>
                      <a:pt x="0" y="103"/>
                      <a:pt x="29" y="145"/>
                      <a:pt x="30" y="182"/>
                    </a:cubicBezTo>
                    <a:cubicBezTo>
                      <a:pt x="31" y="219"/>
                      <a:pt x="5" y="257"/>
                      <a:pt x="8" y="298"/>
                    </a:cubicBezTo>
                    <a:cubicBezTo>
                      <a:pt x="11" y="339"/>
                      <a:pt x="47" y="388"/>
                      <a:pt x="51" y="429"/>
                    </a:cubicBezTo>
                    <a:cubicBezTo>
                      <a:pt x="55" y="470"/>
                      <a:pt x="34" y="526"/>
                      <a:pt x="30" y="545"/>
                    </a:cubicBez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33" name="Freeform 60"/>
              <p:cNvSpPr>
                <a:spLocks noChangeArrowheads="1"/>
              </p:cNvSpPr>
              <p:nvPr/>
            </p:nvSpPr>
            <p:spPr bwMode="auto">
              <a:xfrm>
                <a:off x="2915" y="2749"/>
                <a:ext cx="41" cy="466"/>
              </a:xfrm>
              <a:custGeom>
                <a:avLst/>
                <a:gdLst>
                  <a:gd name="T0" fmla="*/ 23 w 41"/>
                  <a:gd name="T1" fmla="*/ 0 h 466"/>
                  <a:gd name="T2" fmla="*/ 37 w 41"/>
                  <a:gd name="T3" fmla="*/ 88 h 466"/>
                  <a:gd name="T4" fmla="*/ 1 w 41"/>
                  <a:gd name="T5" fmla="*/ 211 h 466"/>
                  <a:gd name="T6" fmla="*/ 30 w 41"/>
                  <a:gd name="T7" fmla="*/ 320 h 466"/>
                  <a:gd name="T8" fmla="*/ 1 w 41"/>
                  <a:gd name="T9" fmla="*/ 393 h 466"/>
                  <a:gd name="T10" fmla="*/ 23 w 41"/>
                  <a:gd name="T11" fmla="*/ 466 h 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466">
                    <a:moveTo>
                      <a:pt x="23" y="0"/>
                    </a:moveTo>
                    <a:cubicBezTo>
                      <a:pt x="32" y="26"/>
                      <a:pt x="41" y="53"/>
                      <a:pt x="37" y="88"/>
                    </a:cubicBezTo>
                    <a:cubicBezTo>
                      <a:pt x="33" y="123"/>
                      <a:pt x="2" y="172"/>
                      <a:pt x="1" y="211"/>
                    </a:cubicBezTo>
                    <a:cubicBezTo>
                      <a:pt x="0" y="250"/>
                      <a:pt x="30" y="290"/>
                      <a:pt x="30" y="320"/>
                    </a:cubicBezTo>
                    <a:cubicBezTo>
                      <a:pt x="30" y="350"/>
                      <a:pt x="2" y="369"/>
                      <a:pt x="1" y="393"/>
                    </a:cubicBezTo>
                    <a:cubicBezTo>
                      <a:pt x="0" y="417"/>
                      <a:pt x="19" y="451"/>
                      <a:pt x="23" y="466"/>
                    </a:cubicBez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34" name="Freeform 61"/>
              <p:cNvSpPr>
                <a:spLocks noChangeArrowheads="1"/>
              </p:cNvSpPr>
              <p:nvPr/>
            </p:nvSpPr>
            <p:spPr bwMode="auto">
              <a:xfrm>
                <a:off x="2987" y="2749"/>
                <a:ext cx="46" cy="466"/>
              </a:xfrm>
              <a:custGeom>
                <a:avLst/>
                <a:gdLst>
                  <a:gd name="T0" fmla="*/ 24 w 46"/>
                  <a:gd name="T1" fmla="*/ 0 h 466"/>
                  <a:gd name="T2" fmla="*/ 38 w 46"/>
                  <a:gd name="T3" fmla="*/ 58 h 466"/>
                  <a:gd name="T4" fmla="*/ 2 w 46"/>
                  <a:gd name="T5" fmla="*/ 138 h 466"/>
                  <a:gd name="T6" fmla="*/ 24 w 46"/>
                  <a:gd name="T7" fmla="*/ 233 h 466"/>
                  <a:gd name="T8" fmla="*/ 16 w 46"/>
                  <a:gd name="T9" fmla="*/ 328 h 466"/>
                  <a:gd name="T10" fmla="*/ 45 w 46"/>
                  <a:gd name="T11" fmla="*/ 393 h 466"/>
                  <a:gd name="T12" fmla="*/ 24 w 46"/>
                  <a:gd name="T13" fmla="*/ 466 h 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66">
                    <a:moveTo>
                      <a:pt x="24" y="0"/>
                    </a:moveTo>
                    <a:cubicBezTo>
                      <a:pt x="33" y="17"/>
                      <a:pt x="42" y="35"/>
                      <a:pt x="38" y="58"/>
                    </a:cubicBezTo>
                    <a:cubicBezTo>
                      <a:pt x="34" y="81"/>
                      <a:pt x="4" y="109"/>
                      <a:pt x="2" y="138"/>
                    </a:cubicBezTo>
                    <a:cubicBezTo>
                      <a:pt x="0" y="167"/>
                      <a:pt x="22" y="201"/>
                      <a:pt x="24" y="233"/>
                    </a:cubicBezTo>
                    <a:cubicBezTo>
                      <a:pt x="26" y="265"/>
                      <a:pt x="13" y="301"/>
                      <a:pt x="16" y="328"/>
                    </a:cubicBezTo>
                    <a:cubicBezTo>
                      <a:pt x="19" y="355"/>
                      <a:pt x="44" y="370"/>
                      <a:pt x="45" y="393"/>
                    </a:cubicBezTo>
                    <a:cubicBezTo>
                      <a:pt x="46" y="416"/>
                      <a:pt x="28" y="451"/>
                      <a:pt x="24" y="466"/>
                    </a:cubicBez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sp>
        <p:nvSpPr>
          <p:cNvPr id="62" name="Rectangle 62"/>
          <p:cNvSpPr>
            <a:spLocks noChangeArrowheads="1"/>
          </p:cNvSpPr>
          <p:nvPr/>
        </p:nvSpPr>
        <p:spPr bwMode="auto">
          <a:xfrm>
            <a:off x="566594" y="443708"/>
            <a:ext cx="4543425" cy="4889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/>
          <a:p>
            <a:pPr marL="838200" indent="-838200">
              <a:lnSpc>
                <a:spcPct val="90000"/>
              </a:lnSpc>
              <a:spcBef>
                <a:spcPct val="0"/>
              </a:spcBef>
            </a:pPr>
            <a:r>
              <a:rPr lang="en-US" altLang="zh-CN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6.</a:t>
            </a:r>
            <a:r>
              <a:rPr lang="zh-CN" altLang="en-US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较长杆件的简化画法</a:t>
            </a:r>
          </a:p>
        </p:txBody>
      </p:sp>
    </p:spTree>
    <p:extLst>
      <p:ext uri="{BB962C8B-B14F-4D97-AF65-F5344CB8AC3E}">
        <p14:creationId xmlns:p14="http://schemas.microsoft.com/office/powerpoint/2010/main" val="33810798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699234" y="364233"/>
            <a:ext cx="2262158" cy="1200329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>
            <a:spAutoFit/>
          </a:bodyPr>
          <a:lstStyle/>
          <a:p>
            <a:r>
              <a:rPr lang="en-US" altLang="zh-CN" sz="3600" b="1" i="1" dirty="0">
                <a:solidFill>
                  <a:srgbClr val="0066CC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6.3 </a:t>
            </a:r>
            <a:r>
              <a:rPr lang="zh-CN" altLang="en-US" sz="3600" b="1" i="1" dirty="0">
                <a:solidFill>
                  <a:srgbClr val="0066CC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断面</a:t>
            </a:r>
            <a:r>
              <a:rPr lang="zh-CN" altLang="en-US" sz="3600" b="1" i="1" dirty="0">
                <a:solidFill>
                  <a:srgbClr val="0066CC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图</a:t>
            </a:r>
            <a:endParaRPr lang="en-US" altLang="zh-CN" sz="3600" b="1" i="1" dirty="0">
              <a:solidFill>
                <a:srgbClr val="0066CC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endParaRPr lang="en-US" altLang="zh-CN" sz="3600" b="1" i="1" dirty="0">
              <a:solidFill>
                <a:srgbClr val="0066CC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微软雅黑" panose="020B0503020204020204" pitchFamily="34" charset="-122"/>
            </a:endParaRPr>
          </a:p>
        </p:txBody>
      </p:sp>
      <p:sp>
        <p:nvSpPr>
          <p:cNvPr id="4" name="AutoShape 14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3231140" y="3964908"/>
            <a:ext cx="4465637" cy="647700"/>
          </a:xfrm>
          <a:prstGeom prst="actionButtonBlank">
            <a:avLst/>
          </a:prstGeom>
          <a:gradFill rotWithShape="1">
            <a:gsLst>
              <a:gs pos="0">
                <a:srgbClr val="996633">
                  <a:alpha val="29999"/>
                </a:srgb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buNone/>
            </a:pPr>
            <a:r>
              <a:rPr kumimoji="1" lang="zh-CN" altLang="en-US" sz="2800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  二、</a:t>
            </a:r>
            <a:r>
              <a:rPr lang="zh-CN" altLang="en-US" sz="2800" b="1" dirty="0">
                <a:latin typeface="Times New Roman" panose="02020603050405020304" pitchFamily="18" charset="0"/>
              </a:rPr>
              <a:t>断面图的种类及画法</a:t>
            </a:r>
          </a:p>
        </p:txBody>
      </p:sp>
      <p:sp>
        <p:nvSpPr>
          <p:cNvPr id="5" name="AutoShape 17">
            <a:hlinkClick r:id="" action="ppaction://hlinkshowjump?jump=nextslide" highlightClick="1"/>
          </p:cNvPr>
          <p:cNvSpPr>
            <a:spLocks noChangeArrowheads="1"/>
          </p:cNvSpPr>
          <p:nvPr/>
        </p:nvSpPr>
        <p:spPr bwMode="auto">
          <a:xfrm>
            <a:off x="3196215" y="2394871"/>
            <a:ext cx="4465637" cy="647700"/>
          </a:xfrm>
          <a:prstGeom prst="actionButtonBlank">
            <a:avLst/>
          </a:prstGeom>
          <a:gradFill rotWithShape="1">
            <a:gsLst>
              <a:gs pos="0">
                <a:srgbClr val="996633">
                  <a:alpha val="29999"/>
                </a:srgb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buNone/>
            </a:pPr>
            <a:r>
              <a:rPr kumimoji="1" lang="zh-CN" altLang="en-US" sz="2800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    一、</a:t>
            </a:r>
            <a:r>
              <a:rPr lang="zh-CN" altLang="en-US" sz="2800" b="1" dirty="0">
                <a:latin typeface="Times New Roman" panose="02020603050405020304" pitchFamily="18" charset="0"/>
              </a:rPr>
              <a:t>断面图的基本概念</a:t>
            </a:r>
          </a:p>
        </p:txBody>
      </p:sp>
      <p:sp>
        <p:nvSpPr>
          <p:cNvPr id="6" name="AutoShape 13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4528849" y="1148684"/>
            <a:ext cx="2110942" cy="6477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1">
                  <a:gsLst>
                    <a:gs pos="0">
                      <a:srgbClr val="996633">
                        <a:alpha val="29999"/>
                      </a:srgbClr>
                    </a:gs>
                    <a:gs pos="100000">
                      <a:srgbClr val="FFFF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zh-CN" altLang="en-US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基本内容</a:t>
            </a:r>
          </a:p>
        </p:txBody>
      </p:sp>
      <p:pic>
        <p:nvPicPr>
          <p:cNvPr id="7" name="Picture 5" descr="连接臂over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66"/>
              </a:clrFrom>
              <a:clrTo>
                <a:srgbClr val="FFFF66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091" t="15544" r="25287"/>
          <a:stretch>
            <a:fillRect/>
          </a:stretch>
        </p:blipFill>
        <p:spPr bwMode="auto">
          <a:xfrm>
            <a:off x="8633691" y="2582557"/>
            <a:ext cx="2235200" cy="2640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78673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第十四章  零件的表达方法"/>
          <p:cNvPicPr>
            <a:picLocks noChangeAspect="1" noChangeArrowheads="1"/>
          </p:cNvPicPr>
          <p:nvPr/>
        </p:nvPicPr>
        <p:blipFill>
          <a:blip r:embed="rId2">
            <a:lum contrast="6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845" t="37416" r="12190" b="40030"/>
          <a:stretch>
            <a:fillRect/>
          </a:stretch>
        </p:blipFill>
        <p:spPr bwMode="auto">
          <a:xfrm>
            <a:off x="531885" y="1919972"/>
            <a:ext cx="8964612" cy="194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AutoShape 7" descr="粉色面巾纸"/>
          <p:cNvSpPr>
            <a:spLocks noChangeArrowheads="1"/>
          </p:cNvSpPr>
          <p:nvPr/>
        </p:nvSpPr>
        <p:spPr bwMode="auto">
          <a:xfrm>
            <a:off x="5267233" y="827031"/>
            <a:ext cx="2991282" cy="1394257"/>
          </a:xfrm>
          <a:prstGeom prst="wedgeEllipseCallout">
            <a:avLst>
              <a:gd name="adj1" fmla="val 76549"/>
              <a:gd name="adj2" fmla="val 92039"/>
            </a:avLst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28575">
                <a:solidFill>
                  <a:srgbClr val="FFFF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just">
              <a:spcBef>
                <a:spcPct val="50000"/>
              </a:spcBef>
              <a:buFontTx/>
              <a:buNone/>
            </a:pPr>
            <a:r>
              <a:rPr kumimoji="1" lang="zh-CN" altLang="en-US" sz="2000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虚线太多不能清楚的表达键槽等结构的深度。 </a:t>
            </a:r>
          </a:p>
          <a:p>
            <a:pPr algn="ctr">
              <a:spcBef>
                <a:spcPct val="0"/>
              </a:spcBef>
              <a:buFontTx/>
              <a:buNone/>
            </a:pPr>
            <a:endParaRPr kumimoji="1" lang="en-US" altLang="zh-CN" sz="2400" b="1" dirty="0">
              <a:latin typeface="Times New Roman" panose="02020603050405020304" pitchFamily="18" charset="0"/>
            </a:endParaRPr>
          </a:p>
        </p:txBody>
      </p:sp>
      <p:pic>
        <p:nvPicPr>
          <p:cNvPr id="6" name="Picture 18" descr="第十四章  零件的表达方法"/>
          <p:cNvPicPr>
            <a:picLocks noChangeAspect="1" noChangeArrowheads="1"/>
          </p:cNvPicPr>
          <p:nvPr/>
        </p:nvPicPr>
        <p:blipFill>
          <a:blip r:embed="rId2">
            <a:lum contrast="24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56" t="61565" r="33444" b="3773"/>
          <a:stretch>
            <a:fillRect/>
          </a:stretch>
        </p:blipFill>
        <p:spPr bwMode="auto">
          <a:xfrm>
            <a:off x="1485179" y="4040764"/>
            <a:ext cx="3529012" cy="2376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 Box 257"/>
          <p:cNvSpPr txBox="1">
            <a:spLocks noChangeArrowheads="1"/>
          </p:cNvSpPr>
          <p:nvPr/>
        </p:nvSpPr>
        <p:spPr bwMode="auto">
          <a:xfrm>
            <a:off x="1674971" y="1368633"/>
            <a:ext cx="2354280" cy="626422"/>
          </a:xfrm>
          <a:prstGeom prst="rect">
            <a:avLst/>
          </a:prstGeom>
          <a:solidFill>
            <a:schemeClr val="bg1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24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zh-CN" altLang="en-US" dirty="0">
                <a:solidFill>
                  <a:srgbClr val="FF3300"/>
                </a:solidFill>
                <a:cs typeface="+mn-cs"/>
              </a:rPr>
              <a:t>问题的提出</a:t>
            </a:r>
          </a:p>
        </p:txBody>
      </p:sp>
      <p:sp>
        <p:nvSpPr>
          <p:cNvPr id="8" name="Text Box 258"/>
          <p:cNvSpPr txBox="1">
            <a:spLocks noChangeArrowheads="1"/>
          </p:cNvSpPr>
          <p:nvPr/>
        </p:nvSpPr>
        <p:spPr bwMode="auto">
          <a:xfrm>
            <a:off x="5967485" y="4656286"/>
            <a:ext cx="61214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dirty="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解决办法       </a:t>
            </a:r>
            <a:r>
              <a:rPr lang="zh-CN" altLang="en-US" dirty="0">
                <a:solidFill>
                  <a:srgbClr val="0066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采用断面图</a:t>
            </a:r>
            <a:endParaRPr lang="zh-CN" altLang="en-US" b="0" dirty="0">
              <a:solidFill>
                <a:srgbClr val="006600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4886" y="344162"/>
            <a:ext cx="4801314" cy="646331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>
            <a:spAutoFit/>
          </a:bodyPr>
          <a:lstStyle/>
          <a:p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一、断面图的基本概念</a:t>
            </a:r>
          </a:p>
        </p:txBody>
      </p:sp>
    </p:spTree>
    <p:extLst>
      <p:ext uri="{BB962C8B-B14F-4D97-AF65-F5344CB8AC3E}">
        <p14:creationId xmlns:p14="http://schemas.microsoft.com/office/powerpoint/2010/main" val="29422547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3" descr="断面图_概念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1" t="7265" r="65976" b="11966"/>
          <a:stretch>
            <a:fillRect/>
          </a:stretch>
        </p:blipFill>
        <p:spPr bwMode="auto">
          <a:xfrm>
            <a:off x="6354618" y="3564081"/>
            <a:ext cx="3556000" cy="2400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691392" y="533872"/>
            <a:ext cx="10577151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611313" indent="-1611313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800" b="0" dirty="0">
                <a:solidFill>
                  <a:srgbClr val="FF0000"/>
                </a:solidFill>
                <a:latin typeface="+mj-ea"/>
                <a:ea typeface="+mj-ea"/>
              </a:rPr>
              <a:t>★ </a:t>
            </a:r>
            <a:r>
              <a:rPr lang="zh-CN" altLang="en-US" sz="2800" b="0" dirty="0">
                <a:solidFill>
                  <a:srgbClr val="272777"/>
                </a:solidFill>
                <a:latin typeface="+mj-ea"/>
                <a:ea typeface="+mj-ea"/>
              </a:rPr>
              <a:t>断面图：</a:t>
            </a:r>
            <a:r>
              <a:rPr lang="zh-CN" altLang="en-US" sz="2800" b="0" dirty="0">
                <a:latin typeface="+mj-ea"/>
                <a:ea typeface="+mj-ea"/>
              </a:rPr>
              <a:t>假想用剖切平面将机件的某处切断，仅画出断面的图形。</a:t>
            </a:r>
          </a:p>
        </p:txBody>
      </p:sp>
      <p:sp>
        <p:nvSpPr>
          <p:cNvPr id="5" name="Freeform 5"/>
          <p:cNvSpPr>
            <a:spLocks noChangeArrowheads="1"/>
          </p:cNvSpPr>
          <p:nvPr/>
        </p:nvSpPr>
        <p:spPr bwMode="auto">
          <a:xfrm>
            <a:off x="2997056" y="2340120"/>
            <a:ext cx="1160462" cy="287337"/>
          </a:xfrm>
          <a:custGeom>
            <a:avLst/>
            <a:gdLst>
              <a:gd name="T0" fmla="*/ 0 w 649"/>
              <a:gd name="T1" fmla="*/ 0 h 184"/>
              <a:gd name="T2" fmla="*/ 433 w 649"/>
              <a:gd name="T3" fmla="*/ 0 h 184"/>
              <a:gd name="T4" fmla="*/ 649 w 649"/>
              <a:gd name="T5" fmla="*/ 184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49" h="184">
                <a:moveTo>
                  <a:pt x="0" y="0"/>
                </a:moveTo>
                <a:lnTo>
                  <a:pt x="433" y="0"/>
                </a:lnTo>
                <a:lnTo>
                  <a:pt x="649" y="184"/>
                </a:lnTo>
              </a:path>
            </a:pathLst>
          </a:custGeom>
          <a:noFill/>
          <a:ln w="317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6" name="Freeform 6"/>
          <p:cNvSpPr>
            <a:spLocks noChangeArrowheads="1"/>
          </p:cNvSpPr>
          <p:nvPr/>
        </p:nvSpPr>
        <p:spPr bwMode="auto">
          <a:xfrm>
            <a:off x="3043094" y="2717945"/>
            <a:ext cx="1128713" cy="141287"/>
          </a:xfrm>
          <a:custGeom>
            <a:avLst/>
            <a:gdLst>
              <a:gd name="T0" fmla="*/ 0 w 652"/>
              <a:gd name="T1" fmla="*/ 0 h 78"/>
              <a:gd name="T2" fmla="*/ 390 w 652"/>
              <a:gd name="T3" fmla="*/ 0 h 78"/>
              <a:gd name="T4" fmla="*/ 652 w 652"/>
              <a:gd name="T5" fmla="*/ 7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52" h="78">
                <a:moveTo>
                  <a:pt x="0" y="0"/>
                </a:moveTo>
                <a:lnTo>
                  <a:pt x="390" y="0"/>
                </a:lnTo>
                <a:lnTo>
                  <a:pt x="652" y="78"/>
                </a:lnTo>
              </a:path>
            </a:pathLst>
          </a:custGeom>
          <a:noFill/>
          <a:ln w="317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7" name="Rectangle 19"/>
          <p:cNvSpPr>
            <a:spLocks noChangeArrowheads="1"/>
          </p:cNvSpPr>
          <p:nvPr/>
        </p:nvSpPr>
        <p:spPr bwMode="auto">
          <a:xfrm>
            <a:off x="5262418" y="2683019"/>
            <a:ext cx="25400" cy="366712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8" name="Rectangle 20"/>
          <p:cNvSpPr>
            <a:spLocks noChangeArrowheads="1"/>
          </p:cNvSpPr>
          <p:nvPr/>
        </p:nvSpPr>
        <p:spPr bwMode="auto">
          <a:xfrm>
            <a:off x="4921106" y="2668732"/>
            <a:ext cx="354012" cy="28575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9" name="Rectangle 21"/>
          <p:cNvSpPr>
            <a:spLocks noChangeArrowheads="1"/>
          </p:cNvSpPr>
          <p:nvPr/>
        </p:nvSpPr>
        <p:spPr bwMode="auto">
          <a:xfrm>
            <a:off x="4906818" y="2683020"/>
            <a:ext cx="26988" cy="223837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0" name="Freeform 23"/>
          <p:cNvSpPr>
            <a:spLocks noChangeArrowheads="1"/>
          </p:cNvSpPr>
          <p:nvPr/>
        </p:nvSpPr>
        <p:spPr bwMode="auto">
          <a:xfrm>
            <a:off x="2625582" y="3040207"/>
            <a:ext cx="128587" cy="131763"/>
          </a:xfrm>
          <a:custGeom>
            <a:avLst/>
            <a:gdLst>
              <a:gd name="T0" fmla="*/ 13 w 88"/>
              <a:gd name="T1" fmla="*/ 88 h 88"/>
              <a:gd name="T2" fmla="*/ 88 w 88"/>
              <a:gd name="T3" fmla="*/ 13 h 88"/>
              <a:gd name="T4" fmla="*/ 72 w 88"/>
              <a:gd name="T5" fmla="*/ 0 h 88"/>
              <a:gd name="T6" fmla="*/ 0 w 88"/>
              <a:gd name="T7" fmla="*/ 72 h 88"/>
              <a:gd name="T8" fmla="*/ 13 w 88"/>
              <a:gd name="T9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8" h="88">
                <a:moveTo>
                  <a:pt x="13" y="88"/>
                </a:moveTo>
                <a:lnTo>
                  <a:pt x="88" y="13"/>
                </a:lnTo>
                <a:lnTo>
                  <a:pt x="72" y="0"/>
                </a:lnTo>
                <a:lnTo>
                  <a:pt x="0" y="72"/>
                </a:lnTo>
                <a:lnTo>
                  <a:pt x="13" y="88"/>
                </a:lnTo>
                <a:close/>
              </a:path>
            </a:pathLst>
          </a:cu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1" name="Rectangle 24"/>
          <p:cNvSpPr>
            <a:spLocks noChangeArrowheads="1"/>
          </p:cNvSpPr>
          <p:nvPr/>
        </p:nvSpPr>
        <p:spPr bwMode="auto">
          <a:xfrm>
            <a:off x="2620819" y="3160856"/>
            <a:ext cx="28575" cy="363538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2" name="Rectangle 25"/>
          <p:cNvSpPr>
            <a:spLocks noChangeArrowheads="1"/>
          </p:cNvSpPr>
          <p:nvPr/>
        </p:nvSpPr>
        <p:spPr bwMode="auto">
          <a:xfrm>
            <a:off x="2744643" y="3621231"/>
            <a:ext cx="603250" cy="26988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3" name="Rectangle 26"/>
          <p:cNvSpPr>
            <a:spLocks noChangeArrowheads="1"/>
          </p:cNvSpPr>
          <p:nvPr/>
        </p:nvSpPr>
        <p:spPr bwMode="auto">
          <a:xfrm>
            <a:off x="3335193" y="3524395"/>
            <a:ext cx="26988" cy="111125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4" name="Rectangle 27"/>
          <p:cNvSpPr>
            <a:spLocks noChangeArrowheads="1"/>
          </p:cNvSpPr>
          <p:nvPr/>
        </p:nvSpPr>
        <p:spPr bwMode="auto">
          <a:xfrm>
            <a:off x="3347893" y="3508520"/>
            <a:ext cx="146050" cy="28575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5" name="Rectangle 28"/>
          <p:cNvSpPr>
            <a:spLocks noChangeArrowheads="1"/>
          </p:cNvSpPr>
          <p:nvPr/>
        </p:nvSpPr>
        <p:spPr bwMode="auto">
          <a:xfrm>
            <a:off x="3481243" y="3524394"/>
            <a:ext cx="25400" cy="254000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6" name="Rectangle 29"/>
          <p:cNvSpPr>
            <a:spLocks noChangeArrowheads="1"/>
          </p:cNvSpPr>
          <p:nvPr/>
        </p:nvSpPr>
        <p:spPr bwMode="auto">
          <a:xfrm>
            <a:off x="3493944" y="3765695"/>
            <a:ext cx="1427163" cy="26987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7" name="Rectangle 30"/>
          <p:cNvSpPr>
            <a:spLocks noChangeArrowheads="1"/>
          </p:cNvSpPr>
          <p:nvPr/>
        </p:nvSpPr>
        <p:spPr bwMode="auto">
          <a:xfrm>
            <a:off x="4906818" y="3778395"/>
            <a:ext cx="26988" cy="219075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8" name="Rectangle 31"/>
          <p:cNvSpPr>
            <a:spLocks noChangeArrowheads="1"/>
          </p:cNvSpPr>
          <p:nvPr/>
        </p:nvSpPr>
        <p:spPr bwMode="auto">
          <a:xfrm>
            <a:off x="4921107" y="3983182"/>
            <a:ext cx="358775" cy="28575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9" name="Rectangle 32"/>
          <p:cNvSpPr>
            <a:spLocks noChangeArrowheads="1"/>
          </p:cNvSpPr>
          <p:nvPr/>
        </p:nvSpPr>
        <p:spPr bwMode="auto">
          <a:xfrm>
            <a:off x="5267182" y="3635519"/>
            <a:ext cx="26987" cy="361950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20" name="Rectangle 33"/>
          <p:cNvSpPr>
            <a:spLocks noChangeArrowheads="1"/>
          </p:cNvSpPr>
          <p:nvPr/>
        </p:nvSpPr>
        <p:spPr bwMode="auto">
          <a:xfrm>
            <a:off x="5279881" y="3621231"/>
            <a:ext cx="608012" cy="26988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21" name="Rectangle 34"/>
          <p:cNvSpPr>
            <a:spLocks noChangeArrowheads="1"/>
          </p:cNvSpPr>
          <p:nvPr/>
        </p:nvSpPr>
        <p:spPr bwMode="auto">
          <a:xfrm>
            <a:off x="5979968" y="3160856"/>
            <a:ext cx="26988" cy="363538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22" name="Rectangle 35"/>
          <p:cNvSpPr>
            <a:spLocks noChangeArrowheads="1"/>
          </p:cNvSpPr>
          <p:nvPr/>
        </p:nvSpPr>
        <p:spPr bwMode="auto">
          <a:xfrm>
            <a:off x="5640243" y="3035445"/>
            <a:ext cx="247650" cy="28575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23" name="Rectangle 36"/>
          <p:cNvSpPr>
            <a:spLocks noChangeArrowheads="1"/>
          </p:cNvSpPr>
          <p:nvPr/>
        </p:nvSpPr>
        <p:spPr bwMode="auto">
          <a:xfrm>
            <a:off x="5275119" y="3035445"/>
            <a:ext cx="365125" cy="28575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24" name="Rectangle 37"/>
          <p:cNvSpPr>
            <a:spLocks noChangeArrowheads="1"/>
          </p:cNvSpPr>
          <p:nvPr/>
        </p:nvSpPr>
        <p:spPr bwMode="auto">
          <a:xfrm>
            <a:off x="3493944" y="2890982"/>
            <a:ext cx="1427163" cy="23813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25" name="Rectangle 38"/>
          <p:cNvSpPr>
            <a:spLocks noChangeArrowheads="1"/>
          </p:cNvSpPr>
          <p:nvPr/>
        </p:nvSpPr>
        <p:spPr bwMode="auto">
          <a:xfrm>
            <a:off x="3481243" y="2906856"/>
            <a:ext cx="25400" cy="254000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26" name="Rectangle 39"/>
          <p:cNvSpPr>
            <a:spLocks noChangeArrowheads="1"/>
          </p:cNvSpPr>
          <p:nvPr/>
        </p:nvSpPr>
        <p:spPr bwMode="auto">
          <a:xfrm>
            <a:off x="3347893" y="3148156"/>
            <a:ext cx="146050" cy="26988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27" name="Rectangle 40"/>
          <p:cNvSpPr>
            <a:spLocks noChangeArrowheads="1"/>
          </p:cNvSpPr>
          <p:nvPr/>
        </p:nvSpPr>
        <p:spPr bwMode="auto">
          <a:xfrm>
            <a:off x="3335193" y="3049732"/>
            <a:ext cx="26988" cy="111125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28" name="Rectangle 41"/>
          <p:cNvSpPr>
            <a:spLocks noChangeArrowheads="1"/>
          </p:cNvSpPr>
          <p:nvPr/>
        </p:nvSpPr>
        <p:spPr bwMode="auto">
          <a:xfrm>
            <a:off x="2744643" y="3035445"/>
            <a:ext cx="603250" cy="28575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29" name="Rectangle 42"/>
          <p:cNvSpPr>
            <a:spLocks noChangeArrowheads="1"/>
          </p:cNvSpPr>
          <p:nvPr/>
        </p:nvSpPr>
        <p:spPr bwMode="auto">
          <a:xfrm>
            <a:off x="2730357" y="3049731"/>
            <a:ext cx="28575" cy="585788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30" name="Rectangle 43"/>
          <p:cNvSpPr>
            <a:spLocks noChangeArrowheads="1"/>
          </p:cNvSpPr>
          <p:nvPr/>
        </p:nvSpPr>
        <p:spPr bwMode="auto">
          <a:xfrm>
            <a:off x="3335193" y="3160856"/>
            <a:ext cx="26988" cy="363538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31" name="Rectangle 44"/>
          <p:cNvSpPr>
            <a:spLocks noChangeArrowheads="1"/>
          </p:cNvSpPr>
          <p:nvPr/>
        </p:nvSpPr>
        <p:spPr bwMode="auto">
          <a:xfrm>
            <a:off x="3481243" y="3160856"/>
            <a:ext cx="25400" cy="363538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32" name="Rectangle 45"/>
          <p:cNvSpPr>
            <a:spLocks noChangeArrowheads="1"/>
          </p:cNvSpPr>
          <p:nvPr/>
        </p:nvSpPr>
        <p:spPr bwMode="auto">
          <a:xfrm>
            <a:off x="4906818" y="2906856"/>
            <a:ext cx="26988" cy="871538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33" name="Freeform 46"/>
          <p:cNvSpPr>
            <a:spLocks noChangeArrowheads="1"/>
          </p:cNvSpPr>
          <p:nvPr/>
        </p:nvSpPr>
        <p:spPr bwMode="auto">
          <a:xfrm>
            <a:off x="5262418" y="3049731"/>
            <a:ext cx="31750" cy="585788"/>
          </a:xfrm>
          <a:custGeom>
            <a:avLst/>
            <a:gdLst>
              <a:gd name="T0" fmla="*/ 22 w 22"/>
              <a:gd name="T1" fmla="*/ 394 h 394"/>
              <a:gd name="T2" fmla="*/ 18 w 22"/>
              <a:gd name="T3" fmla="*/ 0 h 394"/>
              <a:gd name="T4" fmla="*/ 0 w 22"/>
              <a:gd name="T5" fmla="*/ 0 h 394"/>
              <a:gd name="T6" fmla="*/ 3 w 22"/>
              <a:gd name="T7" fmla="*/ 394 h 394"/>
              <a:gd name="T8" fmla="*/ 22 w 22"/>
              <a:gd name="T9" fmla="*/ 394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394">
                <a:moveTo>
                  <a:pt x="22" y="394"/>
                </a:moveTo>
                <a:lnTo>
                  <a:pt x="18" y="0"/>
                </a:lnTo>
                <a:lnTo>
                  <a:pt x="0" y="0"/>
                </a:lnTo>
                <a:lnTo>
                  <a:pt x="3" y="394"/>
                </a:lnTo>
                <a:lnTo>
                  <a:pt x="22" y="394"/>
                </a:lnTo>
                <a:close/>
              </a:path>
            </a:pathLst>
          </a:cu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34" name="Rectangle 47"/>
          <p:cNvSpPr>
            <a:spLocks noChangeArrowheads="1"/>
          </p:cNvSpPr>
          <p:nvPr/>
        </p:nvSpPr>
        <p:spPr bwMode="auto">
          <a:xfrm>
            <a:off x="5875194" y="3049731"/>
            <a:ext cx="28575" cy="585788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35" name="Freeform 48"/>
          <p:cNvSpPr>
            <a:spLocks noChangeArrowheads="1"/>
          </p:cNvSpPr>
          <p:nvPr/>
        </p:nvSpPr>
        <p:spPr bwMode="auto">
          <a:xfrm>
            <a:off x="2625582" y="3514870"/>
            <a:ext cx="128587" cy="130175"/>
          </a:xfrm>
          <a:custGeom>
            <a:avLst/>
            <a:gdLst>
              <a:gd name="T0" fmla="*/ 0 w 88"/>
              <a:gd name="T1" fmla="*/ 12 h 87"/>
              <a:gd name="T2" fmla="*/ 72 w 88"/>
              <a:gd name="T3" fmla="*/ 87 h 87"/>
              <a:gd name="T4" fmla="*/ 88 w 88"/>
              <a:gd name="T5" fmla="*/ 74 h 87"/>
              <a:gd name="T6" fmla="*/ 13 w 88"/>
              <a:gd name="T7" fmla="*/ 0 h 87"/>
              <a:gd name="T8" fmla="*/ 0 w 88"/>
              <a:gd name="T9" fmla="*/ 12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8" h="87">
                <a:moveTo>
                  <a:pt x="0" y="12"/>
                </a:moveTo>
                <a:lnTo>
                  <a:pt x="72" y="87"/>
                </a:lnTo>
                <a:lnTo>
                  <a:pt x="88" y="74"/>
                </a:lnTo>
                <a:lnTo>
                  <a:pt x="13" y="0"/>
                </a:lnTo>
                <a:lnTo>
                  <a:pt x="0" y="12"/>
                </a:lnTo>
                <a:close/>
              </a:path>
            </a:pathLst>
          </a:cu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36" name="Freeform 49"/>
          <p:cNvSpPr>
            <a:spLocks noChangeArrowheads="1"/>
          </p:cNvSpPr>
          <p:nvPr/>
        </p:nvSpPr>
        <p:spPr bwMode="auto">
          <a:xfrm>
            <a:off x="5879957" y="3514870"/>
            <a:ext cx="122237" cy="130175"/>
          </a:xfrm>
          <a:custGeom>
            <a:avLst/>
            <a:gdLst>
              <a:gd name="T0" fmla="*/ 72 w 84"/>
              <a:gd name="T1" fmla="*/ 0 h 87"/>
              <a:gd name="T2" fmla="*/ 0 w 84"/>
              <a:gd name="T3" fmla="*/ 74 h 87"/>
              <a:gd name="T4" fmla="*/ 12 w 84"/>
              <a:gd name="T5" fmla="*/ 87 h 87"/>
              <a:gd name="T6" fmla="*/ 84 w 84"/>
              <a:gd name="T7" fmla="*/ 12 h 87"/>
              <a:gd name="T8" fmla="*/ 72 w 84"/>
              <a:gd name="T9" fmla="*/ 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4" h="87">
                <a:moveTo>
                  <a:pt x="72" y="0"/>
                </a:moveTo>
                <a:lnTo>
                  <a:pt x="0" y="74"/>
                </a:lnTo>
                <a:lnTo>
                  <a:pt x="12" y="87"/>
                </a:lnTo>
                <a:lnTo>
                  <a:pt x="84" y="12"/>
                </a:lnTo>
                <a:lnTo>
                  <a:pt x="72" y="0"/>
                </a:lnTo>
                <a:close/>
              </a:path>
            </a:pathLst>
          </a:cu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37" name="Freeform 50"/>
          <p:cNvSpPr>
            <a:spLocks noChangeArrowheads="1"/>
          </p:cNvSpPr>
          <p:nvPr/>
        </p:nvSpPr>
        <p:spPr bwMode="auto">
          <a:xfrm>
            <a:off x="5879957" y="3040207"/>
            <a:ext cx="122237" cy="131763"/>
          </a:xfrm>
          <a:custGeom>
            <a:avLst/>
            <a:gdLst>
              <a:gd name="T0" fmla="*/ 84 w 84"/>
              <a:gd name="T1" fmla="*/ 72 h 88"/>
              <a:gd name="T2" fmla="*/ 12 w 84"/>
              <a:gd name="T3" fmla="*/ 0 h 88"/>
              <a:gd name="T4" fmla="*/ 0 w 84"/>
              <a:gd name="T5" fmla="*/ 13 h 88"/>
              <a:gd name="T6" fmla="*/ 72 w 84"/>
              <a:gd name="T7" fmla="*/ 88 h 88"/>
              <a:gd name="T8" fmla="*/ 84 w 84"/>
              <a:gd name="T9" fmla="*/ 7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4" h="88">
                <a:moveTo>
                  <a:pt x="84" y="72"/>
                </a:moveTo>
                <a:lnTo>
                  <a:pt x="12" y="0"/>
                </a:lnTo>
                <a:lnTo>
                  <a:pt x="0" y="13"/>
                </a:lnTo>
                <a:lnTo>
                  <a:pt x="72" y="88"/>
                </a:lnTo>
                <a:lnTo>
                  <a:pt x="84" y="72"/>
                </a:lnTo>
                <a:close/>
              </a:path>
            </a:pathLst>
          </a:cu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38" name="Rectangle 51"/>
          <p:cNvSpPr>
            <a:spLocks noChangeArrowheads="1"/>
          </p:cNvSpPr>
          <p:nvPr/>
        </p:nvSpPr>
        <p:spPr bwMode="auto">
          <a:xfrm>
            <a:off x="3781282" y="3179906"/>
            <a:ext cx="898525" cy="26988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39" name="Rectangle 52"/>
          <p:cNvSpPr>
            <a:spLocks noChangeArrowheads="1"/>
          </p:cNvSpPr>
          <p:nvPr/>
        </p:nvSpPr>
        <p:spPr bwMode="auto">
          <a:xfrm>
            <a:off x="3781282" y="3472007"/>
            <a:ext cx="898525" cy="28575"/>
          </a:xfrm>
          <a:prstGeom prst="rect">
            <a:avLst/>
          </a:pr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40" name="Freeform 59"/>
          <p:cNvSpPr>
            <a:spLocks noChangeArrowheads="1"/>
          </p:cNvSpPr>
          <p:nvPr/>
        </p:nvSpPr>
        <p:spPr bwMode="auto">
          <a:xfrm>
            <a:off x="3620943" y="3179907"/>
            <a:ext cx="160338" cy="161925"/>
          </a:xfrm>
          <a:custGeom>
            <a:avLst/>
            <a:gdLst>
              <a:gd name="T0" fmla="*/ 19 w 110"/>
              <a:gd name="T1" fmla="*/ 109 h 109"/>
              <a:gd name="T2" fmla="*/ 19 w 110"/>
              <a:gd name="T3" fmla="*/ 109 h 109"/>
              <a:gd name="T4" fmla="*/ 22 w 110"/>
              <a:gd name="T5" fmla="*/ 90 h 109"/>
              <a:gd name="T6" fmla="*/ 25 w 110"/>
              <a:gd name="T7" fmla="*/ 75 h 109"/>
              <a:gd name="T8" fmla="*/ 35 w 110"/>
              <a:gd name="T9" fmla="*/ 59 h 109"/>
              <a:gd name="T10" fmla="*/ 47 w 110"/>
              <a:gd name="T11" fmla="*/ 47 h 109"/>
              <a:gd name="T12" fmla="*/ 60 w 110"/>
              <a:gd name="T13" fmla="*/ 34 h 109"/>
              <a:gd name="T14" fmla="*/ 75 w 110"/>
              <a:gd name="T15" fmla="*/ 28 h 109"/>
              <a:gd name="T16" fmla="*/ 91 w 110"/>
              <a:gd name="T17" fmla="*/ 22 h 109"/>
              <a:gd name="T18" fmla="*/ 110 w 110"/>
              <a:gd name="T19" fmla="*/ 18 h 109"/>
              <a:gd name="T20" fmla="*/ 110 w 110"/>
              <a:gd name="T21" fmla="*/ 0 h 109"/>
              <a:gd name="T22" fmla="*/ 88 w 110"/>
              <a:gd name="T23" fmla="*/ 3 h 109"/>
              <a:gd name="T24" fmla="*/ 66 w 110"/>
              <a:gd name="T25" fmla="*/ 9 h 109"/>
              <a:gd name="T26" fmla="*/ 47 w 110"/>
              <a:gd name="T27" fmla="*/ 18 h 109"/>
              <a:gd name="T28" fmla="*/ 32 w 110"/>
              <a:gd name="T29" fmla="*/ 34 h 109"/>
              <a:gd name="T30" fmla="*/ 19 w 110"/>
              <a:gd name="T31" fmla="*/ 50 h 109"/>
              <a:gd name="T32" fmla="*/ 10 w 110"/>
              <a:gd name="T33" fmla="*/ 65 h 109"/>
              <a:gd name="T34" fmla="*/ 4 w 110"/>
              <a:gd name="T35" fmla="*/ 87 h 109"/>
              <a:gd name="T36" fmla="*/ 0 w 110"/>
              <a:gd name="T37" fmla="*/ 109 h 109"/>
              <a:gd name="T38" fmla="*/ 0 w 110"/>
              <a:gd name="T39" fmla="*/ 109 h 109"/>
              <a:gd name="T40" fmla="*/ 19 w 110"/>
              <a:gd name="T41" fmla="*/ 10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0" h="109">
                <a:moveTo>
                  <a:pt x="19" y="109"/>
                </a:moveTo>
                <a:lnTo>
                  <a:pt x="19" y="109"/>
                </a:lnTo>
                <a:lnTo>
                  <a:pt x="22" y="90"/>
                </a:lnTo>
                <a:lnTo>
                  <a:pt x="25" y="75"/>
                </a:lnTo>
                <a:lnTo>
                  <a:pt x="35" y="59"/>
                </a:lnTo>
                <a:lnTo>
                  <a:pt x="47" y="47"/>
                </a:lnTo>
                <a:lnTo>
                  <a:pt x="60" y="34"/>
                </a:lnTo>
                <a:lnTo>
                  <a:pt x="75" y="28"/>
                </a:lnTo>
                <a:lnTo>
                  <a:pt x="91" y="22"/>
                </a:lnTo>
                <a:lnTo>
                  <a:pt x="110" y="18"/>
                </a:lnTo>
                <a:lnTo>
                  <a:pt x="110" y="0"/>
                </a:lnTo>
                <a:lnTo>
                  <a:pt x="88" y="3"/>
                </a:lnTo>
                <a:lnTo>
                  <a:pt x="66" y="9"/>
                </a:lnTo>
                <a:lnTo>
                  <a:pt x="47" y="18"/>
                </a:lnTo>
                <a:lnTo>
                  <a:pt x="32" y="34"/>
                </a:lnTo>
                <a:lnTo>
                  <a:pt x="19" y="50"/>
                </a:lnTo>
                <a:lnTo>
                  <a:pt x="10" y="65"/>
                </a:lnTo>
                <a:lnTo>
                  <a:pt x="4" y="87"/>
                </a:lnTo>
                <a:lnTo>
                  <a:pt x="0" y="109"/>
                </a:lnTo>
                <a:lnTo>
                  <a:pt x="19" y="109"/>
                </a:lnTo>
                <a:close/>
              </a:path>
            </a:pathLst>
          </a:cu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41" name="Freeform 60"/>
          <p:cNvSpPr>
            <a:spLocks noChangeArrowheads="1"/>
          </p:cNvSpPr>
          <p:nvPr/>
        </p:nvSpPr>
        <p:spPr bwMode="auto">
          <a:xfrm>
            <a:off x="3620943" y="3341831"/>
            <a:ext cx="160338" cy="158750"/>
          </a:xfrm>
          <a:custGeom>
            <a:avLst/>
            <a:gdLst>
              <a:gd name="T0" fmla="*/ 110 w 110"/>
              <a:gd name="T1" fmla="*/ 87 h 106"/>
              <a:gd name="T2" fmla="*/ 91 w 110"/>
              <a:gd name="T3" fmla="*/ 87 h 106"/>
              <a:gd name="T4" fmla="*/ 75 w 110"/>
              <a:gd name="T5" fmla="*/ 81 h 106"/>
              <a:gd name="T6" fmla="*/ 60 w 110"/>
              <a:gd name="T7" fmla="*/ 72 h 106"/>
              <a:gd name="T8" fmla="*/ 47 w 110"/>
              <a:gd name="T9" fmla="*/ 62 h 106"/>
              <a:gd name="T10" fmla="*/ 35 w 110"/>
              <a:gd name="T11" fmla="*/ 50 h 106"/>
              <a:gd name="T12" fmla="*/ 25 w 110"/>
              <a:gd name="T13" fmla="*/ 34 h 106"/>
              <a:gd name="T14" fmla="*/ 22 w 110"/>
              <a:gd name="T15" fmla="*/ 19 h 106"/>
              <a:gd name="T16" fmla="*/ 19 w 110"/>
              <a:gd name="T17" fmla="*/ 0 h 106"/>
              <a:gd name="T18" fmla="*/ 0 w 110"/>
              <a:gd name="T19" fmla="*/ 0 h 106"/>
              <a:gd name="T20" fmla="*/ 4 w 110"/>
              <a:gd name="T21" fmla="*/ 22 h 106"/>
              <a:gd name="T22" fmla="*/ 10 w 110"/>
              <a:gd name="T23" fmla="*/ 41 h 106"/>
              <a:gd name="T24" fmla="*/ 19 w 110"/>
              <a:gd name="T25" fmla="*/ 59 h 106"/>
              <a:gd name="T26" fmla="*/ 32 w 110"/>
              <a:gd name="T27" fmla="*/ 75 h 106"/>
              <a:gd name="T28" fmla="*/ 47 w 110"/>
              <a:gd name="T29" fmla="*/ 87 h 106"/>
              <a:gd name="T30" fmla="*/ 66 w 110"/>
              <a:gd name="T31" fmla="*/ 100 h 106"/>
              <a:gd name="T32" fmla="*/ 88 w 110"/>
              <a:gd name="T33" fmla="*/ 106 h 106"/>
              <a:gd name="T34" fmla="*/ 110 w 110"/>
              <a:gd name="T35" fmla="*/ 106 h 106"/>
              <a:gd name="T36" fmla="*/ 110 w 110"/>
              <a:gd name="T37" fmla="*/ 87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0" h="106">
                <a:moveTo>
                  <a:pt x="110" y="87"/>
                </a:moveTo>
                <a:lnTo>
                  <a:pt x="91" y="87"/>
                </a:lnTo>
                <a:lnTo>
                  <a:pt x="75" y="81"/>
                </a:lnTo>
                <a:lnTo>
                  <a:pt x="60" y="72"/>
                </a:lnTo>
                <a:lnTo>
                  <a:pt x="47" y="62"/>
                </a:lnTo>
                <a:lnTo>
                  <a:pt x="35" y="50"/>
                </a:lnTo>
                <a:lnTo>
                  <a:pt x="25" y="34"/>
                </a:lnTo>
                <a:lnTo>
                  <a:pt x="22" y="19"/>
                </a:lnTo>
                <a:lnTo>
                  <a:pt x="19" y="0"/>
                </a:lnTo>
                <a:lnTo>
                  <a:pt x="0" y="0"/>
                </a:lnTo>
                <a:lnTo>
                  <a:pt x="4" y="22"/>
                </a:lnTo>
                <a:lnTo>
                  <a:pt x="10" y="41"/>
                </a:lnTo>
                <a:lnTo>
                  <a:pt x="19" y="59"/>
                </a:lnTo>
                <a:lnTo>
                  <a:pt x="32" y="75"/>
                </a:lnTo>
                <a:lnTo>
                  <a:pt x="47" y="87"/>
                </a:lnTo>
                <a:lnTo>
                  <a:pt x="66" y="100"/>
                </a:lnTo>
                <a:lnTo>
                  <a:pt x="88" y="106"/>
                </a:lnTo>
                <a:lnTo>
                  <a:pt x="110" y="106"/>
                </a:lnTo>
                <a:lnTo>
                  <a:pt x="110" y="87"/>
                </a:lnTo>
                <a:close/>
              </a:path>
            </a:pathLst>
          </a:cu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42" name="Freeform 61"/>
          <p:cNvSpPr>
            <a:spLocks noChangeArrowheads="1"/>
          </p:cNvSpPr>
          <p:nvPr/>
        </p:nvSpPr>
        <p:spPr bwMode="auto">
          <a:xfrm>
            <a:off x="3781282" y="3486295"/>
            <a:ext cx="1587" cy="1587"/>
          </a:xfrm>
          <a:custGeom>
            <a:avLst/>
            <a:gdLst>
              <a:gd name="T0" fmla="*/ 0 w 1587"/>
              <a:gd name="T1" fmla="*/ 0 h 1587"/>
              <a:gd name="T2" fmla="*/ 0 w 1587"/>
              <a:gd name="T3" fmla="*/ 0 h 1587"/>
              <a:gd name="T4" fmla="*/ 0 w 1587"/>
              <a:gd name="T5" fmla="*/ 0 h 1587"/>
              <a:gd name="T6" fmla="*/ 0 w 1587"/>
              <a:gd name="T7" fmla="*/ 0 h 1587"/>
              <a:gd name="T8" fmla="*/ 0 w 1587"/>
              <a:gd name="T9" fmla="*/ 0 h 1587"/>
              <a:gd name="T10" fmla="*/ 0 w 1587"/>
              <a:gd name="T11" fmla="*/ 0 h 1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87" h="1587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43" name="Freeform 62"/>
          <p:cNvSpPr>
            <a:spLocks noChangeArrowheads="1"/>
          </p:cNvSpPr>
          <p:nvPr/>
        </p:nvSpPr>
        <p:spPr bwMode="auto">
          <a:xfrm>
            <a:off x="4679807" y="3341831"/>
            <a:ext cx="153987" cy="158750"/>
          </a:xfrm>
          <a:custGeom>
            <a:avLst/>
            <a:gdLst>
              <a:gd name="T0" fmla="*/ 88 w 106"/>
              <a:gd name="T1" fmla="*/ 0 h 106"/>
              <a:gd name="T2" fmla="*/ 88 w 106"/>
              <a:gd name="T3" fmla="*/ 0 h 106"/>
              <a:gd name="T4" fmla="*/ 88 w 106"/>
              <a:gd name="T5" fmla="*/ 19 h 106"/>
              <a:gd name="T6" fmla="*/ 81 w 106"/>
              <a:gd name="T7" fmla="*/ 34 h 106"/>
              <a:gd name="T8" fmla="*/ 72 w 106"/>
              <a:gd name="T9" fmla="*/ 50 h 106"/>
              <a:gd name="T10" fmla="*/ 63 w 106"/>
              <a:gd name="T11" fmla="*/ 62 h 106"/>
              <a:gd name="T12" fmla="*/ 50 w 106"/>
              <a:gd name="T13" fmla="*/ 72 h 106"/>
              <a:gd name="T14" fmla="*/ 35 w 106"/>
              <a:gd name="T15" fmla="*/ 81 h 106"/>
              <a:gd name="T16" fmla="*/ 16 w 106"/>
              <a:gd name="T17" fmla="*/ 87 h 106"/>
              <a:gd name="T18" fmla="*/ 0 w 106"/>
              <a:gd name="T19" fmla="*/ 87 h 106"/>
              <a:gd name="T20" fmla="*/ 0 w 106"/>
              <a:gd name="T21" fmla="*/ 106 h 106"/>
              <a:gd name="T22" fmla="*/ 22 w 106"/>
              <a:gd name="T23" fmla="*/ 106 h 106"/>
              <a:gd name="T24" fmla="*/ 41 w 106"/>
              <a:gd name="T25" fmla="*/ 100 h 106"/>
              <a:gd name="T26" fmla="*/ 60 w 106"/>
              <a:gd name="T27" fmla="*/ 87 h 106"/>
              <a:gd name="T28" fmla="*/ 75 w 106"/>
              <a:gd name="T29" fmla="*/ 75 h 106"/>
              <a:gd name="T30" fmla="*/ 88 w 106"/>
              <a:gd name="T31" fmla="*/ 59 h 106"/>
              <a:gd name="T32" fmla="*/ 97 w 106"/>
              <a:gd name="T33" fmla="*/ 41 h 106"/>
              <a:gd name="T34" fmla="*/ 103 w 106"/>
              <a:gd name="T35" fmla="*/ 22 h 106"/>
              <a:gd name="T36" fmla="*/ 106 w 106"/>
              <a:gd name="T37" fmla="*/ 0 h 106"/>
              <a:gd name="T38" fmla="*/ 106 w 106"/>
              <a:gd name="T39" fmla="*/ 0 h 106"/>
              <a:gd name="T40" fmla="*/ 88 w 106"/>
              <a:gd name="T41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6" h="106">
                <a:moveTo>
                  <a:pt x="88" y="0"/>
                </a:moveTo>
                <a:lnTo>
                  <a:pt x="88" y="0"/>
                </a:lnTo>
                <a:lnTo>
                  <a:pt x="88" y="19"/>
                </a:lnTo>
                <a:lnTo>
                  <a:pt x="81" y="34"/>
                </a:lnTo>
                <a:lnTo>
                  <a:pt x="72" y="50"/>
                </a:lnTo>
                <a:lnTo>
                  <a:pt x="63" y="62"/>
                </a:lnTo>
                <a:lnTo>
                  <a:pt x="50" y="72"/>
                </a:lnTo>
                <a:lnTo>
                  <a:pt x="35" y="81"/>
                </a:lnTo>
                <a:lnTo>
                  <a:pt x="16" y="87"/>
                </a:lnTo>
                <a:lnTo>
                  <a:pt x="0" y="87"/>
                </a:lnTo>
                <a:lnTo>
                  <a:pt x="0" y="106"/>
                </a:lnTo>
                <a:lnTo>
                  <a:pt x="22" y="106"/>
                </a:lnTo>
                <a:lnTo>
                  <a:pt x="41" y="100"/>
                </a:lnTo>
                <a:lnTo>
                  <a:pt x="60" y="87"/>
                </a:lnTo>
                <a:lnTo>
                  <a:pt x="75" y="75"/>
                </a:lnTo>
                <a:lnTo>
                  <a:pt x="88" y="59"/>
                </a:lnTo>
                <a:lnTo>
                  <a:pt x="97" y="41"/>
                </a:lnTo>
                <a:lnTo>
                  <a:pt x="103" y="22"/>
                </a:lnTo>
                <a:lnTo>
                  <a:pt x="106" y="0"/>
                </a:lnTo>
                <a:lnTo>
                  <a:pt x="88" y="0"/>
                </a:lnTo>
                <a:close/>
              </a:path>
            </a:pathLst>
          </a:cu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44" name="Freeform 63"/>
          <p:cNvSpPr>
            <a:spLocks noChangeArrowheads="1"/>
          </p:cNvSpPr>
          <p:nvPr/>
        </p:nvSpPr>
        <p:spPr bwMode="auto">
          <a:xfrm>
            <a:off x="4679807" y="3179907"/>
            <a:ext cx="153987" cy="161925"/>
          </a:xfrm>
          <a:custGeom>
            <a:avLst/>
            <a:gdLst>
              <a:gd name="T0" fmla="*/ 0 w 106"/>
              <a:gd name="T1" fmla="*/ 18 h 109"/>
              <a:gd name="T2" fmla="*/ 16 w 106"/>
              <a:gd name="T3" fmla="*/ 22 h 109"/>
              <a:gd name="T4" fmla="*/ 35 w 106"/>
              <a:gd name="T5" fmla="*/ 28 h 109"/>
              <a:gd name="T6" fmla="*/ 50 w 106"/>
              <a:gd name="T7" fmla="*/ 34 h 109"/>
              <a:gd name="T8" fmla="*/ 63 w 106"/>
              <a:gd name="T9" fmla="*/ 47 h 109"/>
              <a:gd name="T10" fmla="*/ 72 w 106"/>
              <a:gd name="T11" fmla="*/ 59 h 109"/>
              <a:gd name="T12" fmla="*/ 81 w 106"/>
              <a:gd name="T13" fmla="*/ 75 h 109"/>
              <a:gd name="T14" fmla="*/ 88 w 106"/>
              <a:gd name="T15" fmla="*/ 90 h 109"/>
              <a:gd name="T16" fmla="*/ 88 w 106"/>
              <a:gd name="T17" fmla="*/ 109 h 109"/>
              <a:gd name="T18" fmla="*/ 106 w 106"/>
              <a:gd name="T19" fmla="*/ 109 h 109"/>
              <a:gd name="T20" fmla="*/ 103 w 106"/>
              <a:gd name="T21" fmla="*/ 87 h 109"/>
              <a:gd name="T22" fmla="*/ 97 w 106"/>
              <a:gd name="T23" fmla="*/ 65 h 109"/>
              <a:gd name="T24" fmla="*/ 88 w 106"/>
              <a:gd name="T25" fmla="*/ 50 h 109"/>
              <a:gd name="T26" fmla="*/ 75 w 106"/>
              <a:gd name="T27" fmla="*/ 34 h 109"/>
              <a:gd name="T28" fmla="*/ 60 w 106"/>
              <a:gd name="T29" fmla="*/ 18 h 109"/>
              <a:gd name="T30" fmla="*/ 41 w 106"/>
              <a:gd name="T31" fmla="*/ 9 h 109"/>
              <a:gd name="T32" fmla="*/ 22 w 106"/>
              <a:gd name="T33" fmla="*/ 3 h 109"/>
              <a:gd name="T34" fmla="*/ 0 w 106"/>
              <a:gd name="T35" fmla="*/ 0 h 109"/>
              <a:gd name="T36" fmla="*/ 0 w 106"/>
              <a:gd name="T37" fmla="*/ 18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6" h="109">
                <a:moveTo>
                  <a:pt x="0" y="18"/>
                </a:moveTo>
                <a:lnTo>
                  <a:pt x="16" y="22"/>
                </a:lnTo>
                <a:lnTo>
                  <a:pt x="35" y="28"/>
                </a:lnTo>
                <a:lnTo>
                  <a:pt x="50" y="34"/>
                </a:lnTo>
                <a:lnTo>
                  <a:pt x="63" y="47"/>
                </a:lnTo>
                <a:lnTo>
                  <a:pt x="72" y="59"/>
                </a:lnTo>
                <a:lnTo>
                  <a:pt x="81" y="75"/>
                </a:lnTo>
                <a:lnTo>
                  <a:pt x="88" y="90"/>
                </a:lnTo>
                <a:lnTo>
                  <a:pt x="88" y="109"/>
                </a:lnTo>
                <a:lnTo>
                  <a:pt x="106" y="109"/>
                </a:lnTo>
                <a:lnTo>
                  <a:pt x="103" y="87"/>
                </a:lnTo>
                <a:lnTo>
                  <a:pt x="97" y="65"/>
                </a:lnTo>
                <a:lnTo>
                  <a:pt x="88" y="50"/>
                </a:lnTo>
                <a:lnTo>
                  <a:pt x="75" y="34"/>
                </a:lnTo>
                <a:lnTo>
                  <a:pt x="60" y="18"/>
                </a:lnTo>
                <a:lnTo>
                  <a:pt x="41" y="9"/>
                </a:lnTo>
                <a:lnTo>
                  <a:pt x="22" y="3"/>
                </a:lnTo>
                <a:lnTo>
                  <a:pt x="0" y="0"/>
                </a:lnTo>
                <a:lnTo>
                  <a:pt x="0" y="18"/>
                </a:lnTo>
                <a:close/>
              </a:path>
            </a:pathLst>
          </a:cu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45" name="Freeform 64"/>
          <p:cNvSpPr>
            <a:spLocks noChangeArrowheads="1"/>
          </p:cNvSpPr>
          <p:nvPr/>
        </p:nvSpPr>
        <p:spPr bwMode="auto">
          <a:xfrm>
            <a:off x="4679807" y="3194195"/>
            <a:ext cx="1587" cy="1587"/>
          </a:xfrm>
          <a:custGeom>
            <a:avLst/>
            <a:gdLst>
              <a:gd name="T0" fmla="*/ 0 w 1587"/>
              <a:gd name="T1" fmla="*/ 0 h 1587"/>
              <a:gd name="T2" fmla="*/ 0 w 1587"/>
              <a:gd name="T3" fmla="*/ 0 h 1587"/>
              <a:gd name="T4" fmla="*/ 0 w 1587"/>
              <a:gd name="T5" fmla="*/ 0 h 1587"/>
              <a:gd name="T6" fmla="*/ 0 w 1587"/>
              <a:gd name="T7" fmla="*/ 0 h 1587"/>
              <a:gd name="T8" fmla="*/ 0 w 1587"/>
              <a:gd name="T9" fmla="*/ 0 h 1587"/>
              <a:gd name="T10" fmla="*/ 0 w 1587"/>
              <a:gd name="T11" fmla="*/ 0 h 1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87" h="1587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1315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grpSp>
        <p:nvGrpSpPr>
          <p:cNvPr id="46" name="Group 162"/>
          <p:cNvGrpSpPr>
            <a:grpSpLocks/>
          </p:cNvGrpSpPr>
          <p:nvPr/>
        </p:nvGrpSpPr>
        <p:grpSpPr bwMode="auto">
          <a:xfrm>
            <a:off x="3989244" y="2403620"/>
            <a:ext cx="409575" cy="1671637"/>
            <a:chOff x="1782" y="1141"/>
            <a:chExt cx="258" cy="1053"/>
          </a:xfrm>
        </p:grpSpPr>
        <p:grpSp>
          <p:nvGrpSpPr>
            <p:cNvPr id="47" name="Group 13"/>
            <p:cNvGrpSpPr>
              <a:grpSpLocks/>
            </p:cNvGrpSpPr>
            <p:nvPr/>
          </p:nvGrpSpPr>
          <p:grpSpPr bwMode="auto">
            <a:xfrm>
              <a:off x="1891" y="1253"/>
              <a:ext cx="149" cy="939"/>
              <a:chOff x="1891" y="1253"/>
              <a:chExt cx="149" cy="939"/>
            </a:xfrm>
          </p:grpSpPr>
          <p:sp>
            <p:nvSpPr>
              <p:cNvPr id="64" name="Rectangle 14"/>
              <p:cNvSpPr>
                <a:spLocks noChangeArrowheads="1"/>
              </p:cNvSpPr>
              <p:nvPr/>
            </p:nvSpPr>
            <p:spPr bwMode="auto">
              <a:xfrm>
                <a:off x="1891" y="1253"/>
                <a:ext cx="14" cy="105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5" name="Line 15"/>
              <p:cNvSpPr>
                <a:spLocks noChangeShapeType="1"/>
              </p:cNvSpPr>
              <p:nvPr/>
            </p:nvSpPr>
            <p:spPr bwMode="auto">
              <a:xfrm>
                <a:off x="1896" y="1268"/>
                <a:ext cx="14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" name="Rectangle 16"/>
              <p:cNvSpPr>
                <a:spLocks noChangeArrowheads="1"/>
              </p:cNvSpPr>
              <p:nvPr/>
            </p:nvSpPr>
            <p:spPr bwMode="auto">
              <a:xfrm>
                <a:off x="1891" y="2095"/>
                <a:ext cx="14" cy="9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7" name="Line 17"/>
              <p:cNvSpPr>
                <a:spLocks noChangeShapeType="1"/>
              </p:cNvSpPr>
              <p:nvPr/>
            </p:nvSpPr>
            <p:spPr bwMode="auto">
              <a:xfrm>
                <a:off x="1896" y="2192"/>
                <a:ext cx="14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8" name="Group 161"/>
            <p:cNvGrpSpPr>
              <a:grpSpLocks/>
            </p:cNvGrpSpPr>
            <p:nvPr/>
          </p:nvGrpSpPr>
          <p:grpSpPr bwMode="auto">
            <a:xfrm>
              <a:off x="1782" y="1141"/>
              <a:ext cx="201" cy="1053"/>
              <a:chOff x="1782" y="1141"/>
              <a:chExt cx="201" cy="1053"/>
            </a:xfrm>
          </p:grpSpPr>
          <p:sp>
            <p:nvSpPr>
              <p:cNvPr id="49" name="Rectangle 7"/>
              <p:cNvSpPr>
                <a:spLocks noChangeArrowheads="1"/>
              </p:cNvSpPr>
              <p:nvPr/>
            </p:nvSpPr>
            <p:spPr bwMode="auto">
              <a:xfrm>
                <a:off x="1894" y="1358"/>
                <a:ext cx="8" cy="17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" name="Freeform 8"/>
              <p:cNvSpPr>
                <a:spLocks noEditPoints="1" noChangeArrowheads="1"/>
              </p:cNvSpPr>
              <p:nvPr/>
            </p:nvSpPr>
            <p:spPr bwMode="auto">
              <a:xfrm>
                <a:off x="1854" y="1141"/>
                <a:ext cx="48" cy="70"/>
              </a:xfrm>
              <a:custGeom>
                <a:avLst/>
                <a:gdLst>
                  <a:gd name="T0" fmla="*/ 53 w 53"/>
                  <a:gd name="T1" fmla="*/ 75 h 75"/>
                  <a:gd name="T2" fmla="*/ 50 w 53"/>
                  <a:gd name="T3" fmla="*/ 75 h 75"/>
                  <a:gd name="T4" fmla="*/ 44 w 53"/>
                  <a:gd name="T5" fmla="*/ 53 h 75"/>
                  <a:gd name="T6" fmla="*/ 10 w 53"/>
                  <a:gd name="T7" fmla="*/ 53 h 75"/>
                  <a:gd name="T8" fmla="*/ 0 w 53"/>
                  <a:gd name="T9" fmla="*/ 75 h 75"/>
                  <a:gd name="T10" fmla="*/ 0 w 53"/>
                  <a:gd name="T11" fmla="*/ 75 h 75"/>
                  <a:gd name="T12" fmla="*/ 25 w 53"/>
                  <a:gd name="T13" fmla="*/ 0 h 75"/>
                  <a:gd name="T14" fmla="*/ 25 w 53"/>
                  <a:gd name="T15" fmla="*/ 0 h 75"/>
                  <a:gd name="T16" fmla="*/ 53 w 53"/>
                  <a:gd name="T17" fmla="*/ 75 h 75"/>
                  <a:gd name="T18" fmla="*/ 44 w 53"/>
                  <a:gd name="T19" fmla="*/ 53 h 75"/>
                  <a:gd name="T20" fmla="*/ 25 w 53"/>
                  <a:gd name="T21" fmla="*/ 0 h 75"/>
                  <a:gd name="T22" fmla="*/ 10 w 53"/>
                  <a:gd name="T23" fmla="*/ 53 h 75"/>
                  <a:gd name="T24" fmla="*/ 44 w 53"/>
                  <a:gd name="T25" fmla="*/ 53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" h="75">
                    <a:moveTo>
                      <a:pt x="53" y="75"/>
                    </a:moveTo>
                    <a:lnTo>
                      <a:pt x="50" y="75"/>
                    </a:lnTo>
                    <a:lnTo>
                      <a:pt x="44" y="53"/>
                    </a:lnTo>
                    <a:lnTo>
                      <a:pt x="10" y="53"/>
                    </a:lnTo>
                    <a:lnTo>
                      <a:pt x="0" y="75"/>
                    </a:lnTo>
                    <a:lnTo>
                      <a:pt x="25" y="0"/>
                    </a:lnTo>
                    <a:lnTo>
                      <a:pt x="53" y="75"/>
                    </a:lnTo>
                    <a:close/>
                    <a:moveTo>
                      <a:pt x="44" y="53"/>
                    </a:moveTo>
                    <a:lnTo>
                      <a:pt x="25" y="0"/>
                    </a:lnTo>
                    <a:lnTo>
                      <a:pt x="10" y="53"/>
                    </a:lnTo>
                    <a:lnTo>
                      <a:pt x="44" y="5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" name="Freeform 9"/>
              <p:cNvSpPr>
                <a:spLocks noChangeArrowheads="1"/>
              </p:cNvSpPr>
              <p:nvPr/>
            </p:nvSpPr>
            <p:spPr bwMode="auto">
              <a:xfrm>
                <a:off x="1854" y="1141"/>
                <a:ext cx="48" cy="70"/>
              </a:xfrm>
              <a:custGeom>
                <a:avLst/>
                <a:gdLst>
                  <a:gd name="T0" fmla="*/ 53 w 53"/>
                  <a:gd name="T1" fmla="*/ 75 h 75"/>
                  <a:gd name="T2" fmla="*/ 50 w 53"/>
                  <a:gd name="T3" fmla="*/ 75 h 75"/>
                  <a:gd name="T4" fmla="*/ 44 w 53"/>
                  <a:gd name="T5" fmla="*/ 53 h 75"/>
                  <a:gd name="T6" fmla="*/ 10 w 53"/>
                  <a:gd name="T7" fmla="*/ 53 h 75"/>
                  <a:gd name="T8" fmla="*/ 0 w 53"/>
                  <a:gd name="T9" fmla="*/ 75 h 75"/>
                  <a:gd name="T10" fmla="*/ 0 w 53"/>
                  <a:gd name="T11" fmla="*/ 75 h 75"/>
                  <a:gd name="T12" fmla="*/ 25 w 53"/>
                  <a:gd name="T13" fmla="*/ 0 h 75"/>
                  <a:gd name="T14" fmla="*/ 25 w 53"/>
                  <a:gd name="T15" fmla="*/ 0 h 75"/>
                  <a:gd name="T16" fmla="*/ 53 w 53"/>
                  <a:gd name="T17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3" h="75">
                    <a:moveTo>
                      <a:pt x="53" y="75"/>
                    </a:moveTo>
                    <a:lnTo>
                      <a:pt x="50" y="75"/>
                    </a:lnTo>
                    <a:lnTo>
                      <a:pt x="44" y="53"/>
                    </a:lnTo>
                    <a:lnTo>
                      <a:pt x="10" y="53"/>
                    </a:lnTo>
                    <a:lnTo>
                      <a:pt x="0" y="75"/>
                    </a:lnTo>
                    <a:lnTo>
                      <a:pt x="25" y="0"/>
                    </a:lnTo>
                    <a:lnTo>
                      <a:pt x="53" y="75"/>
                    </a:lnTo>
                    <a:close/>
                  </a:path>
                </a:pathLst>
              </a:custGeom>
              <a:noFill/>
              <a:ln w="4763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52" name="Group 10"/>
              <p:cNvGrpSpPr>
                <a:grpSpLocks/>
              </p:cNvGrpSpPr>
              <p:nvPr/>
            </p:nvGrpSpPr>
            <p:grpSpPr bwMode="auto">
              <a:xfrm>
                <a:off x="1791" y="1141"/>
                <a:ext cx="103" cy="1016"/>
                <a:chOff x="1791" y="1141"/>
                <a:chExt cx="103" cy="1016"/>
              </a:xfrm>
            </p:grpSpPr>
            <p:sp>
              <p:nvSpPr>
                <p:cNvPr id="62" name="Freeform 11"/>
                <p:cNvSpPr>
                  <a:spLocks noChangeArrowheads="1"/>
                </p:cNvSpPr>
                <p:nvPr/>
              </p:nvSpPr>
              <p:spPr bwMode="auto">
                <a:xfrm>
                  <a:off x="1863" y="1141"/>
                  <a:ext cx="31" cy="50"/>
                </a:xfrm>
                <a:custGeom>
                  <a:avLst/>
                  <a:gdLst>
                    <a:gd name="T0" fmla="*/ 34 w 34"/>
                    <a:gd name="T1" fmla="*/ 53 h 53"/>
                    <a:gd name="T2" fmla="*/ 15 w 34"/>
                    <a:gd name="T3" fmla="*/ 0 h 53"/>
                    <a:gd name="T4" fmla="*/ 0 w 34"/>
                    <a:gd name="T5" fmla="*/ 53 h 53"/>
                    <a:gd name="T6" fmla="*/ 34 w 34"/>
                    <a:gd name="T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4" h="53">
                      <a:moveTo>
                        <a:pt x="34" y="53"/>
                      </a:moveTo>
                      <a:lnTo>
                        <a:pt x="15" y="0"/>
                      </a:lnTo>
                      <a:lnTo>
                        <a:pt x="0" y="53"/>
                      </a:lnTo>
                      <a:lnTo>
                        <a:pt x="34" y="53"/>
                      </a:lnTo>
                      <a:close/>
                    </a:path>
                  </a:pathLst>
                </a:custGeom>
                <a:noFill/>
                <a:ln w="4763">
                  <a:solidFill>
                    <a:srgbClr val="1F1A17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63" name="Freeform 12"/>
                <p:cNvSpPr>
                  <a:spLocks noChangeArrowheads="1"/>
                </p:cNvSpPr>
                <p:nvPr/>
              </p:nvSpPr>
              <p:spPr bwMode="auto">
                <a:xfrm>
                  <a:off x="1791" y="2107"/>
                  <a:ext cx="31" cy="50"/>
                </a:xfrm>
                <a:custGeom>
                  <a:avLst/>
                  <a:gdLst>
                    <a:gd name="T0" fmla="*/ 34 w 34"/>
                    <a:gd name="T1" fmla="*/ 53 h 53"/>
                    <a:gd name="T2" fmla="*/ 15 w 34"/>
                    <a:gd name="T3" fmla="*/ 0 h 53"/>
                    <a:gd name="T4" fmla="*/ 0 w 34"/>
                    <a:gd name="T5" fmla="*/ 53 h 53"/>
                    <a:gd name="T6" fmla="*/ 34 w 34"/>
                    <a:gd name="T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4" h="53">
                      <a:moveTo>
                        <a:pt x="34" y="53"/>
                      </a:moveTo>
                      <a:lnTo>
                        <a:pt x="15" y="0"/>
                      </a:lnTo>
                      <a:lnTo>
                        <a:pt x="0" y="53"/>
                      </a:lnTo>
                      <a:lnTo>
                        <a:pt x="34" y="53"/>
                      </a:lnTo>
                      <a:close/>
                    </a:path>
                  </a:pathLst>
                </a:custGeom>
                <a:noFill/>
                <a:ln w="4763">
                  <a:solidFill>
                    <a:srgbClr val="1F1A17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sp>
            <p:nvSpPr>
              <p:cNvPr id="53" name="Rectangle 22"/>
              <p:cNvSpPr>
                <a:spLocks noChangeArrowheads="1"/>
              </p:cNvSpPr>
              <p:nvPr/>
            </p:nvSpPr>
            <p:spPr bwMode="auto">
              <a:xfrm>
                <a:off x="1897" y="2189"/>
                <a:ext cx="86" cy="5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4" name="Rectangle 53"/>
              <p:cNvSpPr>
                <a:spLocks noChangeArrowheads="1"/>
              </p:cNvSpPr>
              <p:nvPr/>
            </p:nvSpPr>
            <p:spPr bwMode="auto">
              <a:xfrm>
                <a:off x="1894" y="1551"/>
                <a:ext cx="8" cy="2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5" name="Rectangle 54"/>
              <p:cNvSpPr>
                <a:spLocks noChangeArrowheads="1"/>
              </p:cNvSpPr>
              <p:nvPr/>
            </p:nvSpPr>
            <p:spPr bwMode="auto">
              <a:xfrm>
                <a:off x="1894" y="1592"/>
                <a:ext cx="8" cy="172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6" name="Rectangle 55"/>
              <p:cNvSpPr>
                <a:spLocks noChangeArrowheads="1"/>
              </p:cNvSpPr>
              <p:nvPr/>
            </p:nvSpPr>
            <p:spPr bwMode="auto">
              <a:xfrm>
                <a:off x="1894" y="1785"/>
                <a:ext cx="8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7" name="Rectangle 56"/>
              <p:cNvSpPr>
                <a:spLocks noChangeArrowheads="1"/>
              </p:cNvSpPr>
              <p:nvPr/>
            </p:nvSpPr>
            <p:spPr bwMode="auto">
              <a:xfrm>
                <a:off x="1894" y="1826"/>
                <a:ext cx="8" cy="17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8" name="Rectangle 57"/>
              <p:cNvSpPr>
                <a:spLocks noChangeArrowheads="1"/>
              </p:cNvSpPr>
              <p:nvPr/>
            </p:nvSpPr>
            <p:spPr bwMode="auto">
              <a:xfrm>
                <a:off x="1894" y="2022"/>
                <a:ext cx="8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9" name="Rectangle 58"/>
              <p:cNvSpPr>
                <a:spLocks noChangeArrowheads="1"/>
              </p:cNvSpPr>
              <p:nvPr/>
            </p:nvSpPr>
            <p:spPr bwMode="auto">
              <a:xfrm>
                <a:off x="1894" y="2063"/>
                <a:ext cx="8" cy="38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0" name="Freeform 65"/>
              <p:cNvSpPr>
                <a:spLocks noEditPoints="1" noChangeArrowheads="1"/>
              </p:cNvSpPr>
              <p:nvPr/>
            </p:nvSpPr>
            <p:spPr bwMode="auto">
              <a:xfrm>
                <a:off x="1782" y="2107"/>
                <a:ext cx="49" cy="71"/>
              </a:xfrm>
              <a:custGeom>
                <a:avLst/>
                <a:gdLst>
                  <a:gd name="T0" fmla="*/ 53 w 53"/>
                  <a:gd name="T1" fmla="*/ 75 h 75"/>
                  <a:gd name="T2" fmla="*/ 50 w 53"/>
                  <a:gd name="T3" fmla="*/ 75 h 75"/>
                  <a:gd name="T4" fmla="*/ 44 w 53"/>
                  <a:gd name="T5" fmla="*/ 53 h 75"/>
                  <a:gd name="T6" fmla="*/ 10 w 53"/>
                  <a:gd name="T7" fmla="*/ 53 h 75"/>
                  <a:gd name="T8" fmla="*/ 3 w 53"/>
                  <a:gd name="T9" fmla="*/ 75 h 75"/>
                  <a:gd name="T10" fmla="*/ 0 w 53"/>
                  <a:gd name="T11" fmla="*/ 75 h 75"/>
                  <a:gd name="T12" fmla="*/ 25 w 53"/>
                  <a:gd name="T13" fmla="*/ 0 h 75"/>
                  <a:gd name="T14" fmla="*/ 28 w 53"/>
                  <a:gd name="T15" fmla="*/ 0 h 75"/>
                  <a:gd name="T16" fmla="*/ 53 w 53"/>
                  <a:gd name="T17" fmla="*/ 75 h 75"/>
                  <a:gd name="T18" fmla="*/ 44 w 53"/>
                  <a:gd name="T19" fmla="*/ 53 h 75"/>
                  <a:gd name="T20" fmla="*/ 25 w 53"/>
                  <a:gd name="T21" fmla="*/ 0 h 75"/>
                  <a:gd name="T22" fmla="*/ 10 w 53"/>
                  <a:gd name="T23" fmla="*/ 53 h 75"/>
                  <a:gd name="T24" fmla="*/ 44 w 53"/>
                  <a:gd name="T25" fmla="*/ 53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" h="75">
                    <a:moveTo>
                      <a:pt x="53" y="75"/>
                    </a:moveTo>
                    <a:lnTo>
                      <a:pt x="50" y="75"/>
                    </a:lnTo>
                    <a:lnTo>
                      <a:pt x="44" y="53"/>
                    </a:lnTo>
                    <a:lnTo>
                      <a:pt x="10" y="53"/>
                    </a:lnTo>
                    <a:lnTo>
                      <a:pt x="3" y="75"/>
                    </a:lnTo>
                    <a:lnTo>
                      <a:pt x="0" y="75"/>
                    </a:lnTo>
                    <a:lnTo>
                      <a:pt x="25" y="0"/>
                    </a:lnTo>
                    <a:lnTo>
                      <a:pt x="28" y="0"/>
                    </a:lnTo>
                    <a:lnTo>
                      <a:pt x="53" y="75"/>
                    </a:lnTo>
                    <a:close/>
                    <a:moveTo>
                      <a:pt x="44" y="53"/>
                    </a:moveTo>
                    <a:lnTo>
                      <a:pt x="25" y="0"/>
                    </a:lnTo>
                    <a:lnTo>
                      <a:pt x="10" y="53"/>
                    </a:lnTo>
                    <a:lnTo>
                      <a:pt x="44" y="5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1" name="Freeform 66"/>
              <p:cNvSpPr>
                <a:spLocks noChangeArrowheads="1"/>
              </p:cNvSpPr>
              <p:nvPr/>
            </p:nvSpPr>
            <p:spPr bwMode="auto">
              <a:xfrm>
                <a:off x="1782" y="2107"/>
                <a:ext cx="49" cy="71"/>
              </a:xfrm>
              <a:custGeom>
                <a:avLst/>
                <a:gdLst>
                  <a:gd name="T0" fmla="*/ 53 w 53"/>
                  <a:gd name="T1" fmla="*/ 75 h 75"/>
                  <a:gd name="T2" fmla="*/ 50 w 53"/>
                  <a:gd name="T3" fmla="*/ 75 h 75"/>
                  <a:gd name="T4" fmla="*/ 44 w 53"/>
                  <a:gd name="T5" fmla="*/ 53 h 75"/>
                  <a:gd name="T6" fmla="*/ 10 w 53"/>
                  <a:gd name="T7" fmla="*/ 53 h 75"/>
                  <a:gd name="T8" fmla="*/ 3 w 53"/>
                  <a:gd name="T9" fmla="*/ 75 h 75"/>
                  <a:gd name="T10" fmla="*/ 0 w 53"/>
                  <a:gd name="T11" fmla="*/ 75 h 75"/>
                  <a:gd name="T12" fmla="*/ 25 w 53"/>
                  <a:gd name="T13" fmla="*/ 0 h 75"/>
                  <a:gd name="T14" fmla="*/ 28 w 53"/>
                  <a:gd name="T15" fmla="*/ 0 h 75"/>
                  <a:gd name="T16" fmla="*/ 53 w 53"/>
                  <a:gd name="T17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3" h="75">
                    <a:moveTo>
                      <a:pt x="53" y="75"/>
                    </a:moveTo>
                    <a:lnTo>
                      <a:pt x="50" y="75"/>
                    </a:lnTo>
                    <a:lnTo>
                      <a:pt x="44" y="53"/>
                    </a:lnTo>
                    <a:lnTo>
                      <a:pt x="10" y="53"/>
                    </a:lnTo>
                    <a:lnTo>
                      <a:pt x="3" y="75"/>
                    </a:lnTo>
                    <a:lnTo>
                      <a:pt x="0" y="75"/>
                    </a:lnTo>
                    <a:lnTo>
                      <a:pt x="25" y="0"/>
                    </a:lnTo>
                    <a:lnTo>
                      <a:pt x="28" y="0"/>
                    </a:lnTo>
                    <a:lnTo>
                      <a:pt x="53" y="75"/>
                    </a:lnTo>
                    <a:close/>
                  </a:path>
                </a:pathLst>
              </a:custGeom>
              <a:noFill/>
              <a:ln w="4763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sp>
        <p:nvSpPr>
          <p:cNvPr id="68" name="Line 67"/>
          <p:cNvSpPr>
            <a:spLocks noChangeShapeType="1"/>
          </p:cNvSpPr>
          <p:nvPr/>
        </p:nvSpPr>
        <p:spPr bwMode="auto">
          <a:xfrm>
            <a:off x="2417618" y="3338656"/>
            <a:ext cx="37338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lgDash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Line 68"/>
          <p:cNvSpPr>
            <a:spLocks noChangeShapeType="1"/>
          </p:cNvSpPr>
          <p:nvPr/>
        </p:nvSpPr>
        <p:spPr bwMode="auto">
          <a:xfrm>
            <a:off x="3789218" y="3081481"/>
            <a:ext cx="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Line 69"/>
          <p:cNvSpPr>
            <a:spLocks noChangeShapeType="1"/>
          </p:cNvSpPr>
          <p:nvPr/>
        </p:nvSpPr>
        <p:spPr bwMode="auto">
          <a:xfrm>
            <a:off x="4636943" y="3071956"/>
            <a:ext cx="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0"/>
          <p:cNvSpPr>
            <a:spLocks noChangeArrowheads="1"/>
          </p:cNvSpPr>
          <p:nvPr/>
        </p:nvSpPr>
        <p:spPr bwMode="auto">
          <a:xfrm>
            <a:off x="5929169" y="2352819"/>
            <a:ext cx="823913" cy="506412"/>
          </a:xfrm>
          <a:custGeom>
            <a:avLst/>
            <a:gdLst>
              <a:gd name="T0" fmla="*/ 0 w 565"/>
              <a:gd name="T1" fmla="*/ 0 h 340"/>
              <a:gd name="T2" fmla="*/ 325 w 565"/>
              <a:gd name="T3" fmla="*/ 0 h 340"/>
              <a:gd name="T4" fmla="*/ 565 w 565"/>
              <a:gd name="T5" fmla="*/ 340 h 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65" h="340">
                <a:moveTo>
                  <a:pt x="0" y="0"/>
                </a:moveTo>
                <a:lnTo>
                  <a:pt x="325" y="0"/>
                </a:lnTo>
                <a:lnTo>
                  <a:pt x="565" y="340"/>
                </a:lnTo>
              </a:path>
            </a:pathLst>
          </a:custGeom>
          <a:noFill/>
          <a:ln w="317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grpSp>
        <p:nvGrpSpPr>
          <p:cNvPr id="72" name="Group 71"/>
          <p:cNvGrpSpPr>
            <a:grpSpLocks/>
          </p:cNvGrpSpPr>
          <p:nvPr/>
        </p:nvGrpSpPr>
        <p:grpSpPr bwMode="auto">
          <a:xfrm>
            <a:off x="6853093" y="2265506"/>
            <a:ext cx="293688" cy="115888"/>
            <a:chOff x="3586" y="1054"/>
            <a:chExt cx="185" cy="73"/>
          </a:xfrm>
        </p:grpSpPr>
        <p:sp>
          <p:nvSpPr>
            <p:cNvPr id="73" name="Rectangle 72"/>
            <p:cNvSpPr>
              <a:spLocks noChangeArrowheads="1"/>
            </p:cNvSpPr>
            <p:nvPr/>
          </p:nvSpPr>
          <p:spPr bwMode="auto">
            <a:xfrm>
              <a:off x="3663" y="1101"/>
              <a:ext cx="31" cy="3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4" name="Freeform 73"/>
            <p:cNvSpPr>
              <a:spLocks noEditPoints="1" noChangeArrowheads="1"/>
            </p:cNvSpPr>
            <p:nvPr/>
          </p:nvSpPr>
          <p:spPr bwMode="auto">
            <a:xfrm>
              <a:off x="3586" y="1054"/>
              <a:ext cx="49" cy="73"/>
            </a:xfrm>
            <a:custGeom>
              <a:avLst/>
              <a:gdLst>
                <a:gd name="T0" fmla="*/ 53 w 53"/>
                <a:gd name="T1" fmla="*/ 75 h 78"/>
                <a:gd name="T2" fmla="*/ 53 w 53"/>
                <a:gd name="T3" fmla="*/ 78 h 78"/>
                <a:gd name="T4" fmla="*/ 43 w 53"/>
                <a:gd name="T5" fmla="*/ 56 h 78"/>
                <a:gd name="T6" fmla="*/ 9 w 53"/>
                <a:gd name="T7" fmla="*/ 56 h 78"/>
                <a:gd name="T8" fmla="*/ 3 w 53"/>
                <a:gd name="T9" fmla="*/ 78 h 78"/>
                <a:gd name="T10" fmla="*/ 0 w 53"/>
                <a:gd name="T11" fmla="*/ 75 h 78"/>
                <a:gd name="T12" fmla="*/ 28 w 53"/>
                <a:gd name="T13" fmla="*/ 0 h 78"/>
                <a:gd name="T14" fmla="*/ 28 w 53"/>
                <a:gd name="T15" fmla="*/ 0 h 78"/>
                <a:gd name="T16" fmla="*/ 53 w 53"/>
                <a:gd name="T17" fmla="*/ 75 h 78"/>
                <a:gd name="T18" fmla="*/ 43 w 53"/>
                <a:gd name="T19" fmla="*/ 56 h 78"/>
                <a:gd name="T20" fmla="*/ 28 w 53"/>
                <a:gd name="T21" fmla="*/ 3 h 78"/>
                <a:gd name="T22" fmla="*/ 9 w 53"/>
                <a:gd name="T23" fmla="*/ 56 h 78"/>
                <a:gd name="T24" fmla="*/ 43 w 53"/>
                <a:gd name="T25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78">
                  <a:moveTo>
                    <a:pt x="53" y="75"/>
                  </a:moveTo>
                  <a:lnTo>
                    <a:pt x="53" y="78"/>
                  </a:lnTo>
                  <a:lnTo>
                    <a:pt x="43" y="56"/>
                  </a:lnTo>
                  <a:lnTo>
                    <a:pt x="9" y="56"/>
                  </a:lnTo>
                  <a:lnTo>
                    <a:pt x="3" y="78"/>
                  </a:lnTo>
                  <a:lnTo>
                    <a:pt x="0" y="75"/>
                  </a:lnTo>
                  <a:lnTo>
                    <a:pt x="28" y="0"/>
                  </a:lnTo>
                  <a:lnTo>
                    <a:pt x="53" y="75"/>
                  </a:lnTo>
                  <a:close/>
                  <a:moveTo>
                    <a:pt x="43" y="56"/>
                  </a:moveTo>
                  <a:lnTo>
                    <a:pt x="28" y="3"/>
                  </a:lnTo>
                  <a:lnTo>
                    <a:pt x="9" y="56"/>
                  </a:lnTo>
                  <a:lnTo>
                    <a:pt x="43" y="56"/>
                  </a:lnTo>
                  <a:close/>
                </a:path>
              </a:pathLst>
            </a:custGeom>
            <a:solidFill>
              <a:srgbClr val="1F1A17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5" name="Freeform 74"/>
            <p:cNvSpPr>
              <a:spLocks noEditPoints="1" noChangeArrowheads="1"/>
            </p:cNvSpPr>
            <p:nvPr/>
          </p:nvSpPr>
          <p:spPr bwMode="auto">
            <a:xfrm>
              <a:off x="3723" y="1054"/>
              <a:ext cx="48" cy="73"/>
            </a:xfrm>
            <a:custGeom>
              <a:avLst/>
              <a:gdLst>
                <a:gd name="T0" fmla="*/ 53 w 53"/>
                <a:gd name="T1" fmla="*/ 75 h 78"/>
                <a:gd name="T2" fmla="*/ 50 w 53"/>
                <a:gd name="T3" fmla="*/ 78 h 78"/>
                <a:gd name="T4" fmla="*/ 44 w 53"/>
                <a:gd name="T5" fmla="*/ 56 h 78"/>
                <a:gd name="T6" fmla="*/ 10 w 53"/>
                <a:gd name="T7" fmla="*/ 56 h 78"/>
                <a:gd name="T8" fmla="*/ 0 w 53"/>
                <a:gd name="T9" fmla="*/ 78 h 78"/>
                <a:gd name="T10" fmla="*/ 0 w 53"/>
                <a:gd name="T11" fmla="*/ 75 h 78"/>
                <a:gd name="T12" fmla="*/ 25 w 53"/>
                <a:gd name="T13" fmla="*/ 0 h 78"/>
                <a:gd name="T14" fmla="*/ 29 w 53"/>
                <a:gd name="T15" fmla="*/ 0 h 78"/>
                <a:gd name="T16" fmla="*/ 53 w 53"/>
                <a:gd name="T17" fmla="*/ 75 h 78"/>
                <a:gd name="T18" fmla="*/ 44 w 53"/>
                <a:gd name="T19" fmla="*/ 56 h 78"/>
                <a:gd name="T20" fmla="*/ 25 w 53"/>
                <a:gd name="T21" fmla="*/ 3 h 78"/>
                <a:gd name="T22" fmla="*/ 10 w 53"/>
                <a:gd name="T23" fmla="*/ 56 h 78"/>
                <a:gd name="T24" fmla="*/ 44 w 53"/>
                <a:gd name="T25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78">
                  <a:moveTo>
                    <a:pt x="53" y="75"/>
                  </a:moveTo>
                  <a:lnTo>
                    <a:pt x="50" y="78"/>
                  </a:lnTo>
                  <a:lnTo>
                    <a:pt x="44" y="56"/>
                  </a:lnTo>
                  <a:lnTo>
                    <a:pt x="10" y="56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25" y="0"/>
                  </a:lnTo>
                  <a:lnTo>
                    <a:pt x="29" y="0"/>
                  </a:lnTo>
                  <a:lnTo>
                    <a:pt x="53" y="75"/>
                  </a:lnTo>
                  <a:close/>
                  <a:moveTo>
                    <a:pt x="44" y="56"/>
                  </a:moveTo>
                  <a:lnTo>
                    <a:pt x="25" y="3"/>
                  </a:lnTo>
                  <a:lnTo>
                    <a:pt x="10" y="56"/>
                  </a:lnTo>
                  <a:lnTo>
                    <a:pt x="44" y="56"/>
                  </a:lnTo>
                  <a:close/>
                </a:path>
              </a:pathLst>
            </a:custGeom>
            <a:solidFill>
              <a:srgbClr val="1F1A17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6" name="Freeform 75"/>
            <p:cNvSpPr>
              <a:spLocks noChangeArrowheads="1"/>
            </p:cNvSpPr>
            <p:nvPr/>
          </p:nvSpPr>
          <p:spPr bwMode="auto">
            <a:xfrm>
              <a:off x="3586" y="1054"/>
              <a:ext cx="49" cy="73"/>
            </a:xfrm>
            <a:custGeom>
              <a:avLst/>
              <a:gdLst>
                <a:gd name="T0" fmla="*/ 53 w 53"/>
                <a:gd name="T1" fmla="*/ 75 h 78"/>
                <a:gd name="T2" fmla="*/ 53 w 53"/>
                <a:gd name="T3" fmla="*/ 78 h 78"/>
                <a:gd name="T4" fmla="*/ 43 w 53"/>
                <a:gd name="T5" fmla="*/ 56 h 78"/>
                <a:gd name="T6" fmla="*/ 9 w 53"/>
                <a:gd name="T7" fmla="*/ 56 h 78"/>
                <a:gd name="T8" fmla="*/ 3 w 53"/>
                <a:gd name="T9" fmla="*/ 78 h 78"/>
                <a:gd name="T10" fmla="*/ 0 w 53"/>
                <a:gd name="T11" fmla="*/ 75 h 78"/>
                <a:gd name="T12" fmla="*/ 28 w 53"/>
                <a:gd name="T13" fmla="*/ 0 h 78"/>
                <a:gd name="T14" fmla="*/ 28 w 53"/>
                <a:gd name="T15" fmla="*/ 0 h 78"/>
                <a:gd name="T16" fmla="*/ 53 w 53"/>
                <a:gd name="T17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78">
                  <a:moveTo>
                    <a:pt x="53" y="75"/>
                  </a:moveTo>
                  <a:lnTo>
                    <a:pt x="53" y="78"/>
                  </a:lnTo>
                  <a:lnTo>
                    <a:pt x="43" y="56"/>
                  </a:lnTo>
                  <a:lnTo>
                    <a:pt x="9" y="56"/>
                  </a:lnTo>
                  <a:lnTo>
                    <a:pt x="3" y="78"/>
                  </a:lnTo>
                  <a:lnTo>
                    <a:pt x="0" y="75"/>
                  </a:lnTo>
                  <a:lnTo>
                    <a:pt x="28" y="0"/>
                  </a:lnTo>
                  <a:lnTo>
                    <a:pt x="53" y="75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7" name="Freeform 76"/>
            <p:cNvSpPr>
              <a:spLocks noChangeArrowheads="1"/>
            </p:cNvSpPr>
            <p:nvPr/>
          </p:nvSpPr>
          <p:spPr bwMode="auto">
            <a:xfrm>
              <a:off x="3594" y="1057"/>
              <a:ext cx="31" cy="49"/>
            </a:xfrm>
            <a:custGeom>
              <a:avLst/>
              <a:gdLst>
                <a:gd name="T0" fmla="*/ 34 w 34"/>
                <a:gd name="T1" fmla="*/ 53 h 53"/>
                <a:gd name="T2" fmla="*/ 19 w 34"/>
                <a:gd name="T3" fmla="*/ 0 h 53"/>
                <a:gd name="T4" fmla="*/ 0 w 34"/>
                <a:gd name="T5" fmla="*/ 53 h 53"/>
                <a:gd name="T6" fmla="*/ 34 w 34"/>
                <a:gd name="T7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53">
                  <a:moveTo>
                    <a:pt x="34" y="53"/>
                  </a:moveTo>
                  <a:lnTo>
                    <a:pt x="19" y="0"/>
                  </a:lnTo>
                  <a:lnTo>
                    <a:pt x="0" y="53"/>
                  </a:lnTo>
                  <a:lnTo>
                    <a:pt x="34" y="53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8" name="Rectangle 77"/>
            <p:cNvSpPr>
              <a:spLocks noChangeArrowheads="1"/>
            </p:cNvSpPr>
            <p:nvPr/>
          </p:nvSpPr>
          <p:spPr bwMode="auto">
            <a:xfrm>
              <a:off x="3663" y="1101"/>
              <a:ext cx="31" cy="3"/>
            </a:xfrm>
            <a:prstGeom prst="rect">
              <a:avLst/>
            </a:prstGeom>
            <a:noFill/>
            <a:ln w="3175">
              <a:solidFill>
                <a:srgbClr val="1F1A1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9" name="Freeform 78"/>
            <p:cNvSpPr>
              <a:spLocks noChangeArrowheads="1"/>
            </p:cNvSpPr>
            <p:nvPr/>
          </p:nvSpPr>
          <p:spPr bwMode="auto">
            <a:xfrm>
              <a:off x="3723" y="1054"/>
              <a:ext cx="48" cy="73"/>
            </a:xfrm>
            <a:custGeom>
              <a:avLst/>
              <a:gdLst>
                <a:gd name="T0" fmla="*/ 53 w 53"/>
                <a:gd name="T1" fmla="*/ 75 h 78"/>
                <a:gd name="T2" fmla="*/ 50 w 53"/>
                <a:gd name="T3" fmla="*/ 78 h 78"/>
                <a:gd name="T4" fmla="*/ 44 w 53"/>
                <a:gd name="T5" fmla="*/ 56 h 78"/>
                <a:gd name="T6" fmla="*/ 10 w 53"/>
                <a:gd name="T7" fmla="*/ 56 h 78"/>
                <a:gd name="T8" fmla="*/ 0 w 53"/>
                <a:gd name="T9" fmla="*/ 78 h 78"/>
                <a:gd name="T10" fmla="*/ 0 w 53"/>
                <a:gd name="T11" fmla="*/ 75 h 78"/>
                <a:gd name="T12" fmla="*/ 25 w 53"/>
                <a:gd name="T13" fmla="*/ 0 h 78"/>
                <a:gd name="T14" fmla="*/ 29 w 53"/>
                <a:gd name="T15" fmla="*/ 0 h 78"/>
                <a:gd name="T16" fmla="*/ 53 w 53"/>
                <a:gd name="T17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78">
                  <a:moveTo>
                    <a:pt x="53" y="75"/>
                  </a:moveTo>
                  <a:lnTo>
                    <a:pt x="50" y="78"/>
                  </a:lnTo>
                  <a:lnTo>
                    <a:pt x="44" y="56"/>
                  </a:lnTo>
                  <a:lnTo>
                    <a:pt x="10" y="56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25" y="0"/>
                  </a:lnTo>
                  <a:lnTo>
                    <a:pt x="29" y="0"/>
                  </a:lnTo>
                  <a:lnTo>
                    <a:pt x="53" y="75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0" name="Freeform 79"/>
            <p:cNvSpPr>
              <a:spLocks noChangeArrowheads="1"/>
            </p:cNvSpPr>
            <p:nvPr/>
          </p:nvSpPr>
          <p:spPr bwMode="auto">
            <a:xfrm>
              <a:off x="3732" y="1057"/>
              <a:ext cx="31" cy="49"/>
            </a:xfrm>
            <a:custGeom>
              <a:avLst/>
              <a:gdLst>
                <a:gd name="T0" fmla="*/ 34 w 34"/>
                <a:gd name="T1" fmla="*/ 53 h 53"/>
                <a:gd name="T2" fmla="*/ 15 w 34"/>
                <a:gd name="T3" fmla="*/ 0 h 53"/>
                <a:gd name="T4" fmla="*/ 0 w 34"/>
                <a:gd name="T5" fmla="*/ 53 h 53"/>
                <a:gd name="T6" fmla="*/ 34 w 34"/>
                <a:gd name="T7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53">
                  <a:moveTo>
                    <a:pt x="34" y="53"/>
                  </a:moveTo>
                  <a:lnTo>
                    <a:pt x="15" y="0"/>
                  </a:lnTo>
                  <a:lnTo>
                    <a:pt x="0" y="53"/>
                  </a:lnTo>
                  <a:lnTo>
                    <a:pt x="34" y="53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81" name="Group 80"/>
          <p:cNvGrpSpPr>
            <a:grpSpLocks/>
          </p:cNvGrpSpPr>
          <p:nvPr/>
        </p:nvGrpSpPr>
        <p:grpSpPr bwMode="auto">
          <a:xfrm>
            <a:off x="6151418" y="2471881"/>
            <a:ext cx="1752600" cy="1828800"/>
            <a:chOff x="3144" y="1184"/>
            <a:chExt cx="1104" cy="1152"/>
          </a:xfrm>
        </p:grpSpPr>
        <p:sp>
          <p:nvSpPr>
            <p:cNvPr id="82" name="Freeform 81"/>
            <p:cNvSpPr>
              <a:spLocks noChangeArrowheads="1"/>
            </p:cNvSpPr>
            <p:nvPr/>
          </p:nvSpPr>
          <p:spPr bwMode="auto">
            <a:xfrm>
              <a:off x="3668" y="1308"/>
              <a:ext cx="1" cy="18"/>
            </a:xfrm>
            <a:custGeom>
              <a:avLst/>
              <a:gdLst>
                <a:gd name="T0" fmla="*/ 0 w 1"/>
                <a:gd name="T1" fmla="*/ 19 h 19"/>
                <a:gd name="T2" fmla="*/ 0 w 1"/>
                <a:gd name="T3" fmla="*/ 10 h 19"/>
                <a:gd name="T4" fmla="*/ 0 w 1"/>
                <a:gd name="T5" fmla="*/ 10 h 19"/>
                <a:gd name="T6" fmla="*/ 0 w 1"/>
                <a:gd name="T7" fmla="*/ 10 h 19"/>
                <a:gd name="T8" fmla="*/ 0 w 1"/>
                <a:gd name="T9" fmla="*/ 10 h 19"/>
                <a:gd name="T10" fmla="*/ 0 w 1"/>
                <a:gd name="T11" fmla="*/ 10 h 19"/>
                <a:gd name="T12" fmla="*/ 0 w 1"/>
                <a:gd name="T13" fmla="*/ 10 h 19"/>
                <a:gd name="T14" fmla="*/ 0 w 1"/>
                <a:gd name="T15" fmla="*/ 0 h 19"/>
                <a:gd name="T16" fmla="*/ 0 w 1"/>
                <a:gd name="T1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9">
                  <a:moveTo>
                    <a:pt x="0" y="19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131516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3" name="Freeform 82"/>
            <p:cNvSpPr>
              <a:spLocks noChangeArrowheads="1"/>
            </p:cNvSpPr>
            <p:nvPr/>
          </p:nvSpPr>
          <p:spPr bwMode="auto">
            <a:xfrm>
              <a:off x="3668" y="1448"/>
              <a:ext cx="264" cy="193"/>
            </a:xfrm>
            <a:custGeom>
              <a:avLst/>
              <a:gdLst>
                <a:gd name="T0" fmla="*/ 0 w 287"/>
                <a:gd name="T1" fmla="*/ 16 h 206"/>
                <a:gd name="T2" fmla="*/ 0 w 287"/>
                <a:gd name="T3" fmla="*/ 16 h 206"/>
                <a:gd name="T4" fmla="*/ 22 w 287"/>
                <a:gd name="T5" fmla="*/ 19 h 206"/>
                <a:gd name="T6" fmla="*/ 47 w 287"/>
                <a:gd name="T7" fmla="*/ 22 h 206"/>
                <a:gd name="T8" fmla="*/ 66 w 287"/>
                <a:gd name="T9" fmla="*/ 25 h 206"/>
                <a:gd name="T10" fmla="*/ 88 w 287"/>
                <a:gd name="T11" fmla="*/ 31 h 206"/>
                <a:gd name="T12" fmla="*/ 109 w 287"/>
                <a:gd name="T13" fmla="*/ 38 h 206"/>
                <a:gd name="T14" fmla="*/ 128 w 287"/>
                <a:gd name="T15" fmla="*/ 47 h 206"/>
                <a:gd name="T16" fmla="*/ 147 w 287"/>
                <a:gd name="T17" fmla="*/ 60 h 206"/>
                <a:gd name="T18" fmla="*/ 165 w 287"/>
                <a:gd name="T19" fmla="*/ 69 h 206"/>
                <a:gd name="T20" fmla="*/ 184 w 287"/>
                <a:gd name="T21" fmla="*/ 84 h 206"/>
                <a:gd name="T22" fmla="*/ 200 w 287"/>
                <a:gd name="T23" fmla="*/ 97 h 206"/>
                <a:gd name="T24" fmla="*/ 215 w 287"/>
                <a:gd name="T25" fmla="*/ 113 h 206"/>
                <a:gd name="T26" fmla="*/ 228 w 287"/>
                <a:gd name="T27" fmla="*/ 131 h 206"/>
                <a:gd name="T28" fmla="*/ 240 w 287"/>
                <a:gd name="T29" fmla="*/ 147 h 206"/>
                <a:gd name="T30" fmla="*/ 253 w 287"/>
                <a:gd name="T31" fmla="*/ 169 h 206"/>
                <a:gd name="T32" fmla="*/ 262 w 287"/>
                <a:gd name="T33" fmla="*/ 188 h 206"/>
                <a:gd name="T34" fmla="*/ 268 w 287"/>
                <a:gd name="T35" fmla="*/ 206 h 206"/>
                <a:gd name="T36" fmla="*/ 287 w 287"/>
                <a:gd name="T37" fmla="*/ 203 h 206"/>
                <a:gd name="T38" fmla="*/ 278 w 287"/>
                <a:gd name="T39" fmla="*/ 181 h 206"/>
                <a:gd name="T40" fmla="*/ 268 w 287"/>
                <a:gd name="T41" fmla="*/ 159 h 206"/>
                <a:gd name="T42" fmla="*/ 256 w 287"/>
                <a:gd name="T43" fmla="*/ 138 h 206"/>
                <a:gd name="T44" fmla="*/ 243 w 287"/>
                <a:gd name="T45" fmla="*/ 119 h 206"/>
                <a:gd name="T46" fmla="*/ 228 w 287"/>
                <a:gd name="T47" fmla="*/ 100 h 206"/>
                <a:gd name="T48" fmla="*/ 212 w 287"/>
                <a:gd name="T49" fmla="*/ 84 h 206"/>
                <a:gd name="T50" fmla="*/ 194 w 287"/>
                <a:gd name="T51" fmla="*/ 69 h 206"/>
                <a:gd name="T52" fmla="*/ 175 w 287"/>
                <a:gd name="T53" fmla="*/ 56 h 206"/>
                <a:gd name="T54" fmla="*/ 156 w 287"/>
                <a:gd name="T55" fmla="*/ 44 h 206"/>
                <a:gd name="T56" fmla="*/ 137 w 287"/>
                <a:gd name="T57" fmla="*/ 31 h 206"/>
                <a:gd name="T58" fmla="*/ 116 w 287"/>
                <a:gd name="T59" fmla="*/ 22 h 206"/>
                <a:gd name="T60" fmla="*/ 94 w 287"/>
                <a:gd name="T61" fmla="*/ 13 h 206"/>
                <a:gd name="T62" fmla="*/ 72 w 287"/>
                <a:gd name="T63" fmla="*/ 6 h 206"/>
                <a:gd name="T64" fmla="*/ 47 w 287"/>
                <a:gd name="T65" fmla="*/ 3 h 206"/>
                <a:gd name="T66" fmla="*/ 25 w 287"/>
                <a:gd name="T67" fmla="*/ 0 h 206"/>
                <a:gd name="T68" fmla="*/ 0 w 287"/>
                <a:gd name="T69" fmla="*/ 0 h 206"/>
                <a:gd name="T70" fmla="*/ 0 w 287"/>
                <a:gd name="T71" fmla="*/ 0 h 206"/>
                <a:gd name="T72" fmla="*/ 0 w 287"/>
                <a:gd name="T73" fmla="*/ 1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7" h="206">
                  <a:moveTo>
                    <a:pt x="0" y="16"/>
                  </a:moveTo>
                  <a:lnTo>
                    <a:pt x="0" y="16"/>
                  </a:lnTo>
                  <a:lnTo>
                    <a:pt x="22" y="19"/>
                  </a:lnTo>
                  <a:lnTo>
                    <a:pt x="47" y="22"/>
                  </a:lnTo>
                  <a:lnTo>
                    <a:pt x="66" y="25"/>
                  </a:lnTo>
                  <a:lnTo>
                    <a:pt x="88" y="31"/>
                  </a:lnTo>
                  <a:lnTo>
                    <a:pt x="109" y="38"/>
                  </a:lnTo>
                  <a:lnTo>
                    <a:pt x="128" y="47"/>
                  </a:lnTo>
                  <a:lnTo>
                    <a:pt x="147" y="60"/>
                  </a:lnTo>
                  <a:lnTo>
                    <a:pt x="165" y="69"/>
                  </a:lnTo>
                  <a:lnTo>
                    <a:pt x="184" y="84"/>
                  </a:lnTo>
                  <a:lnTo>
                    <a:pt x="200" y="97"/>
                  </a:lnTo>
                  <a:lnTo>
                    <a:pt x="215" y="113"/>
                  </a:lnTo>
                  <a:lnTo>
                    <a:pt x="228" y="131"/>
                  </a:lnTo>
                  <a:lnTo>
                    <a:pt x="240" y="147"/>
                  </a:lnTo>
                  <a:lnTo>
                    <a:pt x="253" y="169"/>
                  </a:lnTo>
                  <a:lnTo>
                    <a:pt x="262" y="188"/>
                  </a:lnTo>
                  <a:lnTo>
                    <a:pt x="268" y="206"/>
                  </a:lnTo>
                  <a:lnTo>
                    <a:pt x="287" y="203"/>
                  </a:lnTo>
                  <a:lnTo>
                    <a:pt x="278" y="181"/>
                  </a:lnTo>
                  <a:lnTo>
                    <a:pt x="268" y="159"/>
                  </a:lnTo>
                  <a:lnTo>
                    <a:pt x="256" y="138"/>
                  </a:lnTo>
                  <a:lnTo>
                    <a:pt x="243" y="119"/>
                  </a:lnTo>
                  <a:lnTo>
                    <a:pt x="228" y="100"/>
                  </a:lnTo>
                  <a:lnTo>
                    <a:pt x="212" y="84"/>
                  </a:lnTo>
                  <a:lnTo>
                    <a:pt x="194" y="69"/>
                  </a:lnTo>
                  <a:lnTo>
                    <a:pt x="175" y="56"/>
                  </a:lnTo>
                  <a:lnTo>
                    <a:pt x="156" y="44"/>
                  </a:lnTo>
                  <a:lnTo>
                    <a:pt x="137" y="31"/>
                  </a:lnTo>
                  <a:lnTo>
                    <a:pt x="116" y="22"/>
                  </a:lnTo>
                  <a:lnTo>
                    <a:pt x="94" y="13"/>
                  </a:lnTo>
                  <a:lnTo>
                    <a:pt x="72" y="6"/>
                  </a:lnTo>
                  <a:lnTo>
                    <a:pt x="47" y="3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131516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4" name="Freeform 83"/>
            <p:cNvSpPr>
              <a:spLocks noChangeArrowheads="1"/>
            </p:cNvSpPr>
            <p:nvPr/>
          </p:nvSpPr>
          <p:spPr bwMode="auto">
            <a:xfrm>
              <a:off x="3391" y="1448"/>
              <a:ext cx="277" cy="284"/>
            </a:xfrm>
            <a:custGeom>
              <a:avLst/>
              <a:gdLst>
                <a:gd name="T0" fmla="*/ 18 w 302"/>
                <a:gd name="T1" fmla="*/ 303 h 303"/>
                <a:gd name="T2" fmla="*/ 18 w 302"/>
                <a:gd name="T3" fmla="*/ 303 h 303"/>
                <a:gd name="T4" fmla="*/ 18 w 302"/>
                <a:gd name="T5" fmla="*/ 275 h 303"/>
                <a:gd name="T6" fmla="*/ 24 w 302"/>
                <a:gd name="T7" fmla="*/ 244 h 303"/>
                <a:gd name="T8" fmla="*/ 31 w 302"/>
                <a:gd name="T9" fmla="*/ 219 h 303"/>
                <a:gd name="T10" fmla="*/ 40 w 302"/>
                <a:gd name="T11" fmla="*/ 191 h 303"/>
                <a:gd name="T12" fmla="*/ 53 w 302"/>
                <a:gd name="T13" fmla="*/ 166 h 303"/>
                <a:gd name="T14" fmla="*/ 65 w 302"/>
                <a:gd name="T15" fmla="*/ 144 h 303"/>
                <a:gd name="T16" fmla="*/ 84 w 302"/>
                <a:gd name="T17" fmla="*/ 122 h 303"/>
                <a:gd name="T18" fmla="*/ 102 w 302"/>
                <a:gd name="T19" fmla="*/ 100 h 303"/>
                <a:gd name="T20" fmla="*/ 121 w 302"/>
                <a:gd name="T21" fmla="*/ 81 h 303"/>
                <a:gd name="T22" fmla="*/ 143 w 302"/>
                <a:gd name="T23" fmla="*/ 66 h 303"/>
                <a:gd name="T24" fmla="*/ 168 w 302"/>
                <a:gd name="T25" fmla="*/ 53 h 303"/>
                <a:gd name="T26" fmla="*/ 193 w 302"/>
                <a:gd name="T27" fmla="*/ 41 h 303"/>
                <a:gd name="T28" fmla="*/ 218 w 302"/>
                <a:gd name="T29" fmla="*/ 31 h 303"/>
                <a:gd name="T30" fmla="*/ 246 w 302"/>
                <a:gd name="T31" fmla="*/ 22 h 303"/>
                <a:gd name="T32" fmla="*/ 274 w 302"/>
                <a:gd name="T33" fmla="*/ 19 h 303"/>
                <a:gd name="T34" fmla="*/ 302 w 302"/>
                <a:gd name="T35" fmla="*/ 16 h 303"/>
                <a:gd name="T36" fmla="*/ 302 w 302"/>
                <a:gd name="T37" fmla="*/ 0 h 303"/>
                <a:gd name="T38" fmla="*/ 271 w 302"/>
                <a:gd name="T39" fmla="*/ 0 h 303"/>
                <a:gd name="T40" fmla="*/ 243 w 302"/>
                <a:gd name="T41" fmla="*/ 6 h 303"/>
                <a:gd name="T42" fmla="*/ 212 w 302"/>
                <a:gd name="T43" fmla="*/ 13 h 303"/>
                <a:gd name="T44" fmla="*/ 184 w 302"/>
                <a:gd name="T45" fmla="*/ 22 h 303"/>
                <a:gd name="T46" fmla="*/ 159 w 302"/>
                <a:gd name="T47" fmla="*/ 35 h 303"/>
                <a:gd name="T48" fmla="*/ 134 w 302"/>
                <a:gd name="T49" fmla="*/ 50 h 303"/>
                <a:gd name="T50" fmla="*/ 109 w 302"/>
                <a:gd name="T51" fmla="*/ 69 h 303"/>
                <a:gd name="T52" fmla="*/ 87 w 302"/>
                <a:gd name="T53" fmla="*/ 88 h 303"/>
                <a:gd name="T54" fmla="*/ 68 w 302"/>
                <a:gd name="T55" fmla="*/ 109 h 303"/>
                <a:gd name="T56" fmla="*/ 53 w 302"/>
                <a:gd name="T57" fmla="*/ 134 h 303"/>
                <a:gd name="T58" fmla="*/ 37 w 302"/>
                <a:gd name="T59" fmla="*/ 159 h 303"/>
                <a:gd name="T60" fmla="*/ 24 w 302"/>
                <a:gd name="T61" fmla="*/ 184 h 303"/>
                <a:gd name="T62" fmla="*/ 12 w 302"/>
                <a:gd name="T63" fmla="*/ 212 h 303"/>
                <a:gd name="T64" fmla="*/ 6 w 302"/>
                <a:gd name="T65" fmla="*/ 241 h 303"/>
                <a:gd name="T66" fmla="*/ 0 w 302"/>
                <a:gd name="T67" fmla="*/ 272 h 303"/>
                <a:gd name="T68" fmla="*/ 0 w 302"/>
                <a:gd name="T69" fmla="*/ 303 h 303"/>
                <a:gd name="T70" fmla="*/ 0 w 302"/>
                <a:gd name="T71" fmla="*/ 303 h 303"/>
                <a:gd name="T72" fmla="*/ 18 w 302"/>
                <a:gd name="T73" fmla="*/ 303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2" h="303">
                  <a:moveTo>
                    <a:pt x="18" y="303"/>
                  </a:moveTo>
                  <a:lnTo>
                    <a:pt x="18" y="303"/>
                  </a:lnTo>
                  <a:lnTo>
                    <a:pt x="18" y="275"/>
                  </a:lnTo>
                  <a:lnTo>
                    <a:pt x="24" y="244"/>
                  </a:lnTo>
                  <a:lnTo>
                    <a:pt x="31" y="219"/>
                  </a:lnTo>
                  <a:lnTo>
                    <a:pt x="40" y="191"/>
                  </a:lnTo>
                  <a:lnTo>
                    <a:pt x="53" y="166"/>
                  </a:lnTo>
                  <a:lnTo>
                    <a:pt x="65" y="144"/>
                  </a:lnTo>
                  <a:lnTo>
                    <a:pt x="84" y="122"/>
                  </a:lnTo>
                  <a:lnTo>
                    <a:pt x="102" y="100"/>
                  </a:lnTo>
                  <a:lnTo>
                    <a:pt x="121" y="81"/>
                  </a:lnTo>
                  <a:lnTo>
                    <a:pt x="143" y="66"/>
                  </a:lnTo>
                  <a:lnTo>
                    <a:pt x="168" y="53"/>
                  </a:lnTo>
                  <a:lnTo>
                    <a:pt x="193" y="41"/>
                  </a:lnTo>
                  <a:lnTo>
                    <a:pt x="218" y="31"/>
                  </a:lnTo>
                  <a:lnTo>
                    <a:pt x="246" y="22"/>
                  </a:lnTo>
                  <a:lnTo>
                    <a:pt x="274" y="19"/>
                  </a:lnTo>
                  <a:lnTo>
                    <a:pt x="302" y="16"/>
                  </a:lnTo>
                  <a:lnTo>
                    <a:pt x="302" y="0"/>
                  </a:lnTo>
                  <a:lnTo>
                    <a:pt x="271" y="0"/>
                  </a:lnTo>
                  <a:lnTo>
                    <a:pt x="243" y="6"/>
                  </a:lnTo>
                  <a:lnTo>
                    <a:pt x="212" y="13"/>
                  </a:lnTo>
                  <a:lnTo>
                    <a:pt x="184" y="22"/>
                  </a:lnTo>
                  <a:lnTo>
                    <a:pt x="159" y="35"/>
                  </a:lnTo>
                  <a:lnTo>
                    <a:pt x="134" y="50"/>
                  </a:lnTo>
                  <a:lnTo>
                    <a:pt x="109" y="69"/>
                  </a:lnTo>
                  <a:lnTo>
                    <a:pt x="87" y="88"/>
                  </a:lnTo>
                  <a:lnTo>
                    <a:pt x="68" y="109"/>
                  </a:lnTo>
                  <a:lnTo>
                    <a:pt x="53" y="134"/>
                  </a:lnTo>
                  <a:lnTo>
                    <a:pt x="37" y="159"/>
                  </a:lnTo>
                  <a:lnTo>
                    <a:pt x="24" y="184"/>
                  </a:lnTo>
                  <a:lnTo>
                    <a:pt x="12" y="212"/>
                  </a:lnTo>
                  <a:lnTo>
                    <a:pt x="6" y="241"/>
                  </a:lnTo>
                  <a:lnTo>
                    <a:pt x="0" y="272"/>
                  </a:lnTo>
                  <a:lnTo>
                    <a:pt x="0" y="303"/>
                  </a:lnTo>
                  <a:lnTo>
                    <a:pt x="18" y="303"/>
                  </a:lnTo>
                  <a:close/>
                </a:path>
              </a:pathLst>
            </a:custGeom>
            <a:solidFill>
              <a:srgbClr val="131516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5" name="Freeform 84"/>
            <p:cNvSpPr>
              <a:spLocks noChangeArrowheads="1"/>
            </p:cNvSpPr>
            <p:nvPr/>
          </p:nvSpPr>
          <p:spPr bwMode="auto">
            <a:xfrm>
              <a:off x="3391" y="1732"/>
              <a:ext cx="277" cy="284"/>
            </a:xfrm>
            <a:custGeom>
              <a:avLst/>
              <a:gdLst>
                <a:gd name="T0" fmla="*/ 302 w 302"/>
                <a:gd name="T1" fmla="*/ 284 h 303"/>
                <a:gd name="T2" fmla="*/ 302 w 302"/>
                <a:gd name="T3" fmla="*/ 284 h 303"/>
                <a:gd name="T4" fmla="*/ 274 w 302"/>
                <a:gd name="T5" fmla="*/ 284 h 303"/>
                <a:gd name="T6" fmla="*/ 246 w 302"/>
                <a:gd name="T7" fmla="*/ 278 h 303"/>
                <a:gd name="T8" fmla="*/ 218 w 302"/>
                <a:gd name="T9" fmla="*/ 272 h 303"/>
                <a:gd name="T10" fmla="*/ 193 w 302"/>
                <a:gd name="T11" fmla="*/ 262 h 303"/>
                <a:gd name="T12" fmla="*/ 168 w 302"/>
                <a:gd name="T13" fmla="*/ 250 h 303"/>
                <a:gd name="T14" fmla="*/ 143 w 302"/>
                <a:gd name="T15" fmla="*/ 237 h 303"/>
                <a:gd name="T16" fmla="*/ 121 w 302"/>
                <a:gd name="T17" fmla="*/ 219 h 303"/>
                <a:gd name="T18" fmla="*/ 102 w 302"/>
                <a:gd name="T19" fmla="*/ 200 h 303"/>
                <a:gd name="T20" fmla="*/ 84 w 302"/>
                <a:gd name="T21" fmla="*/ 181 h 303"/>
                <a:gd name="T22" fmla="*/ 65 w 302"/>
                <a:gd name="T23" fmla="*/ 159 h 303"/>
                <a:gd name="T24" fmla="*/ 53 w 302"/>
                <a:gd name="T25" fmla="*/ 134 h 303"/>
                <a:gd name="T26" fmla="*/ 40 w 302"/>
                <a:gd name="T27" fmla="*/ 109 h 303"/>
                <a:gd name="T28" fmla="*/ 31 w 302"/>
                <a:gd name="T29" fmla="*/ 84 h 303"/>
                <a:gd name="T30" fmla="*/ 24 w 302"/>
                <a:gd name="T31" fmla="*/ 56 h 303"/>
                <a:gd name="T32" fmla="*/ 18 w 302"/>
                <a:gd name="T33" fmla="*/ 28 h 303"/>
                <a:gd name="T34" fmla="*/ 18 w 302"/>
                <a:gd name="T35" fmla="*/ 0 h 303"/>
                <a:gd name="T36" fmla="*/ 0 w 302"/>
                <a:gd name="T37" fmla="*/ 0 h 303"/>
                <a:gd name="T38" fmla="*/ 0 w 302"/>
                <a:gd name="T39" fmla="*/ 31 h 303"/>
                <a:gd name="T40" fmla="*/ 6 w 302"/>
                <a:gd name="T41" fmla="*/ 59 h 303"/>
                <a:gd name="T42" fmla="*/ 12 w 302"/>
                <a:gd name="T43" fmla="*/ 91 h 303"/>
                <a:gd name="T44" fmla="*/ 24 w 302"/>
                <a:gd name="T45" fmla="*/ 119 h 303"/>
                <a:gd name="T46" fmla="*/ 37 w 302"/>
                <a:gd name="T47" fmla="*/ 144 h 303"/>
                <a:gd name="T48" fmla="*/ 53 w 302"/>
                <a:gd name="T49" fmla="*/ 169 h 303"/>
                <a:gd name="T50" fmla="*/ 68 w 302"/>
                <a:gd name="T51" fmla="*/ 194 h 303"/>
                <a:gd name="T52" fmla="*/ 87 w 302"/>
                <a:gd name="T53" fmla="*/ 215 h 303"/>
                <a:gd name="T54" fmla="*/ 109 w 302"/>
                <a:gd name="T55" fmla="*/ 234 h 303"/>
                <a:gd name="T56" fmla="*/ 134 w 302"/>
                <a:gd name="T57" fmla="*/ 253 h 303"/>
                <a:gd name="T58" fmla="*/ 159 w 302"/>
                <a:gd name="T59" fmla="*/ 265 h 303"/>
                <a:gd name="T60" fmla="*/ 184 w 302"/>
                <a:gd name="T61" fmla="*/ 278 h 303"/>
                <a:gd name="T62" fmla="*/ 212 w 302"/>
                <a:gd name="T63" fmla="*/ 290 h 303"/>
                <a:gd name="T64" fmla="*/ 243 w 302"/>
                <a:gd name="T65" fmla="*/ 297 h 303"/>
                <a:gd name="T66" fmla="*/ 271 w 302"/>
                <a:gd name="T67" fmla="*/ 303 h 303"/>
                <a:gd name="T68" fmla="*/ 302 w 302"/>
                <a:gd name="T69" fmla="*/ 303 h 303"/>
                <a:gd name="T70" fmla="*/ 302 w 302"/>
                <a:gd name="T71" fmla="*/ 303 h 303"/>
                <a:gd name="T72" fmla="*/ 302 w 302"/>
                <a:gd name="T73" fmla="*/ 28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2" h="303">
                  <a:moveTo>
                    <a:pt x="302" y="284"/>
                  </a:moveTo>
                  <a:lnTo>
                    <a:pt x="302" y="284"/>
                  </a:lnTo>
                  <a:lnTo>
                    <a:pt x="274" y="284"/>
                  </a:lnTo>
                  <a:lnTo>
                    <a:pt x="246" y="278"/>
                  </a:lnTo>
                  <a:lnTo>
                    <a:pt x="218" y="272"/>
                  </a:lnTo>
                  <a:lnTo>
                    <a:pt x="193" y="262"/>
                  </a:lnTo>
                  <a:lnTo>
                    <a:pt x="168" y="250"/>
                  </a:lnTo>
                  <a:lnTo>
                    <a:pt x="143" y="237"/>
                  </a:lnTo>
                  <a:lnTo>
                    <a:pt x="121" y="219"/>
                  </a:lnTo>
                  <a:lnTo>
                    <a:pt x="102" y="200"/>
                  </a:lnTo>
                  <a:lnTo>
                    <a:pt x="84" y="181"/>
                  </a:lnTo>
                  <a:lnTo>
                    <a:pt x="65" y="159"/>
                  </a:lnTo>
                  <a:lnTo>
                    <a:pt x="53" y="134"/>
                  </a:lnTo>
                  <a:lnTo>
                    <a:pt x="40" y="109"/>
                  </a:lnTo>
                  <a:lnTo>
                    <a:pt x="31" y="84"/>
                  </a:lnTo>
                  <a:lnTo>
                    <a:pt x="24" y="56"/>
                  </a:lnTo>
                  <a:lnTo>
                    <a:pt x="18" y="28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31"/>
                  </a:lnTo>
                  <a:lnTo>
                    <a:pt x="6" y="59"/>
                  </a:lnTo>
                  <a:lnTo>
                    <a:pt x="12" y="91"/>
                  </a:lnTo>
                  <a:lnTo>
                    <a:pt x="24" y="119"/>
                  </a:lnTo>
                  <a:lnTo>
                    <a:pt x="37" y="144"/>
                  </a:lnTo>
                  <a:lnTo>
                    <a:pt x="53" y="169"/>
                  </a:lnTo>
                  <a:lnTo>
                    <a:pt x="68" y="194"/>
                  </a:lnTo>
                  <a:lnTo>
                    <a:pt x="87" y="215"/>
                  </a:lnTo>
                  <a:lnTo>
                    <a:pt x="109" y="234"/>
                  </a:lnTo>
                  <a:lnTo>
                    <a:pt x="134" y="253"/>
                  </a:lnTo>
                  <a:lnTo>
                    <a:pt x="159" y="265"/>
                  </a:lnTo>
                  <a:lnTo>
                    <a:pt x="184" y="278"/>
                  </a:lnTo>
                  <a:lnTo>
                    <a:pt x="212" y="290"/>
                  </a:lnTo>
                  <a:lnTo>
                    <a:pt x="243" y="297"/>
                  </a:lnTo>
                  <a:lnTo>
                    <a:pt x="271" y="303"/>
                  </a:lnTo>
                  <a:lnTo>
                    <a:pt x="302" y="303"/>
                  </a:lnTo>
                  <a:lnTo>
                    <a:pt x="302" y="284"/>
                  </a:lnTo>
                  <a:close/>
                </a:path>
              </a:pathLst>
            </a:custGeom>
            <a:solidFill>
              <a:srgbClr val="131516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6" name="Freeform 85"/>
            <p:cNvSpPr>
              <a:spLocks noChangeArrowheads="1"/>
            </p:cNvSpPr>
            <p:nvPr/>
          </p:nvSpPr>
          <p:spPr bwMode="auto">
            <a:xfrm>
              <a:off x="3668" y="1820"/>
              <a:ext cx="264" cy="196"/>
            </a:xfrm>
            <a:custGeom>
              <a:avLst/>
              <a:gdLst>
                <a:gd name="T0" fmla="*/ 268 w 287"/>
                <a:gd name="T1" fmla="*/ 0 h 209"/>
                <a:gd name="T2" fmla="*/ 262 w 287"/>
                <a:gd name="T3" fmla="*/ 22 h 209"/>
                <a:gd name="T4" fmla="*/ 253 w 287"/>
                <a:gd name="T5" fmla="*/ 40 h 209"/>
                <a:gd name="T6" fmla="*/ 240 w 287"/>
                <a:gd name="T7" fmla="*/ 59 h 209"/>
                <a:gd name="T8" fmla="*/ 228 w 287"/>
                <a:gd name="T9" fmla="*/ 78 h 209"/>
                <a:gd name="T10" fmla="*/ 215 w 287"/>
                <a:gd name="T11" fmla="*/ 93 h 209"/>
                <a:gd name="T12" fmla="*/ 200 w 287"/>
                <a:gd name="T13" fmla="*/ 109 h 209"/>
                <a:gd name="T14" fmla="*/ 184 w 287"/>
                <a:gd name="T15" fmla="*/ 125 h 209"/>
                <a:gd name="T16" fmla="*/ 165 w 287"/>
                <a:gd name="T17" fmla="*/ 137 h 209"/>
                <a:gd name="T18" fmla="*/ 147 w 287"/>
                <a:gd name="T19" fmla="*/ 150 h 209"/>
                <a:gd name="T20" fmla="*/ 128 w 287"/>
                <a:gd name="T21" fmla="*/ 159 h 209"/>
                <a:gd name="T22" fmla="*/ 109 w 287"/>
                <a:gd name="T23" fmla="*/ 168 h 209"/>
                <a:gd name="T24" fmla="*/ 88 w 287"/>
                <a:gd name="T25" fmla="*/ 178 h 209"/>
                <a:gd name="T26" fmla="*/ 66 w 287"/>
                <a:gd name="T27" fmla="*/ 184 h 209"/>
                <a:gd name="T28" fmla="*/ 47 w 287"/>
                <a:gd name="T29" fmla="*/ 187 h 209"/>
                <a:gd name="T30" fmla="*/ 22 w 287"/>
                <a:gd name="T31" fmla="*/ 190 h 209"/>
                <a:gd name="T32" fmla="*/ 0 w 287"/>
                <a:gd name="T33" fmla="*/ 190 h 209"/>
                <a:gd name="T34" fmla="*/ 0 w 287"/>
                <a:gd name="T35" fmla="*/ 209 h 209"/>
                <a:gd name="T36" fmla="*/ 25 w 287"/>
                <a:gd name="T37" fmla="*/ 209 h 209"/>
                <a:gd name="T38" fmla="*/ 47 w 287"/>
                <a:gd name="T39" fmla="*/ 206 h 209"/>
                <a:gd name="T40" fmla="*/ 72 w 287"/>
                <a:gd name="T41" fmla="*/ 199 h 209"/>
                <a:gd name="T42" fmla="*/ 94 w 287"/>
                <a:gd name="T43" fmla="*/ 193 h 209"/>
                <a:gd name="T44" fmla="*/ 116 w 287"/>
                <a:gd name="T45" fmla="*/ 187 h 209"/>
                <a:gd name="T46" fmla="*/ 137 w 287"/>
                <a:gd name="T47" fmla="*/ 178 h 209"/>
                <a:gd name="T48" fmla="*/ 156 w 287"/>
                <a:gd name="T49" fmla="*/ 165 h 209"/>
                <a:gd name="T50" fmla="*/ 175 w 287"/>
                <a:gd name="T51" fmla="*/ 153 h 209"/>
                <a:gd name="T52" fmla="*/ 194 w 287"/>
                <a:gd name="T53" fmla="*/ 140 h 209"/>
                <a:gd name="T54" fmla="*/ 212 w 287"/>
                <a:gd name="T55" fmla="*/ 125 h 209"/>
                <a:gd name="T56" fmla="*/ 228 w 287"/>
                <a:gd name="T57" fmla="*/ 106 h 209"/>
                <a:gd name="T58" fmla="*/ 243 w 287"/>
                <a:gd name="T59" fmla="*/ 90 h 209"/>
                <a:gd name="T60" fmla="*/ 256 w 287"/>
                <a:gd name="T61" fmla="*/ 68 h 209"/>
                <a:gd name="T62" fmla="*/ 268 w 287"/>
                <a:gd name="T63" fmla="*/ 50 h 209"/>
                <a:gd name="T64" fmla="*/ 278 w 287"/>
                <a:gd name="T65" fmla="*/ 28 h 209"/>
                <a:gd name="T66" fmla="*/ 287 w 287"/>
                <a:gd name="T67" fmla="*/ 6 h 209"/>
                <a:gd name="T68" fmla="*/ 268 w 287"/>
                <a:gd name="T6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7" h="209">
                  <a:moveTo>
                    <a:pt x="268" y="0"/>
                  </a:moveTo>
                  <a:lnTo>
                    <a:pt x="262" y="22"/>
                  </a:lnTo>
                  <a:lnTo>
                    <a:pt x="253" y="40"/>
                  </a:lnTo>
                  <a:lnTo>
                    <a:pt x="240" y="59"/>
                  </a:lnTo>
                  <a:lnTo>
                    <a:pt x="228" y="78"/>
                  </a:lnTo>
                  <a:lnTo>
                    <a:pt x="215" y="93"/>
                  </a:lnTo>
                  <a:lnTo>
                    <a:pt x="200" y="109"/>
                  </a:lnTo>
                  <a:lnTo>
                    <a:pt x="184" y="125"/>
                  </a:lnTo>
                  <a:lnTo>
                    <a:pt x="165" y="137"/>
                  </a:lnTo>
                  <a:lnTo>
                    <a:pt x="147" y="150"/>
                  </a:lnTo>
                  <a:lnTo>
                    <a:pt x="128" y="159"/>
                  </a:lnTo>
                  <a:lnTo>
                    <a:pt x="109" y="168"/>
                  </a:lnTo>
                  <a:lnTo>
                    <a:pt x="88" y="178"/>
                  </a:lnTo>
                  <a:lnTo>
                    <a:pt x="66" y="184"/>
                  </a:lnTo>
                  <a:lnTo>
                    <a:pt x="47" y="187"/>
                  </a:lnTo>
                  <a:lnTo>
                    <a:pt x="22" y="190"/>
                  </a:lnTo>
                  <a:lnTo>
                    <a:pt x="0" y="190"/>
                  </a:lnTo>
                  <a:lnTo>
                    <a:pt x="0" y="209"/>
                  </a:lnTo>
                  <a:lnTo>
                    <a:pt x="25" y="209"/>
                  </a:lnTo>
                  <a:lnTo>
                    <a:pt x="47" y="206"/>
                  </a:lnTo>
                  <a:lnTo>
                    <a:pt x="72" y="199"/>
                  </a:lnTo>
                  <a:lnTo>
                    <a:pt x="94" y="193"/>
                  </a:lnTo>
                  <a:lnTo>
                    <a:pt x="116" y="187"/>
                  </a:lnTo>
                  <a:lnTo>
                    <a:pt x="137" y="178"/>
                  </a:lnTo>
                  <a:lnTo>
                    <a:pt x="156" y="165"/>
                  </a:lnTo>
                  <a:lnTo>
                    <a:pt x="175" y="153"/>
                  </a:lnTo>
                  <a:lnTo>
                    <a:pt x="194" y="140"/>
                  </a:lnTo>
                  <a:lnTo>
                    <a:pt x="212" y="125"/>
                  </a:lnTo>
                  <a:lnTo>
                    <a:pt x="228" y="106"/>
                  </a:lnTo>
                  <a:lnTo>
                    <a:pt x="243" y="90"/>
                  </a:lnTo>
                  <a:lnTo>
                    <a:pt x="256" y="68"/>
                  </a:lnTo>
                  <a:lnTo>
                    <a:pt x="268" y="50"/>
                  </a:lnTo>
                  <a:lnTo>
                    <a:pt x="278" y="28"/>
                  </a:lnTo>
                  <a:lnTo>
                    <a:pt x="287" y="6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131516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7" name="Freeform 86"/>
            <p:cNvSpPr>
              <a:spLocks noChangeArrowheads="1"/>
            </p:cNvSpPr>
            <p:nvPr/>
          </p:nvSpPr>
          <p:spPr bwMode="auto">
            <a:xfrm>
              <a:off x="3256" y="1308"/>
              <a:ext cx="412" cy="424"/>
            </a:xfrm>
            <a:custGeom>
              <a:avLst/>
              <a:gdLst>
                <a:gd name="T0" fmla="*/ 19 w 449"/>
                <a:gd name="T1" fmla="*/ 453 h 453"/>
                <a:gd name="T2" fmla="*/ 19 w 449"/>
                <a:gd name="T3" fmla="*/ 453 h 453"/>
                <a:gd name="T4" fmla="*/ 19 w 449"/>
                <a:gd name="T5" fmla="*/ 409 h 453"/>
                <a:gd name="T6" fmla="*/ 25 w 449"/>
                <a:gd name="T7" fmla="*/ 366 h 453"/>
                <a:gd name="T8" fmla="*/ 37 w 449"/>
                <a:gd name="T9" fmla="*/ 325 h 453"/>
                <a:gd name="T10" fmla="*/ 53 w 449"/>
                <a:gd name="T11" fmla="*/ 284 h 453"/>
                <a:gd name="T12" fmla="*/ 69 w 449"/>
                <a:gd name="T13" fmla="*/ 247 h 453"/>
                <a:gd name="T14" fmla="*/ 90 w 449"/>
                <a:gd name="T15" fmla="*/ 210 h 453"/>
                <a:gd name="T16" fmla="*/ 115 w 449"/>
                <a:gd name="T17" fmla="*/ 178 h 453"/>
                <a:gd name="T18" fmla="*/ 143 w 449"/>
                <a:gd name="T19" fmla="*/ 147 h 453"/>
                <a:gd name="T20" fmla="*/ 175 w 449"/>
                <a:gd name="T21" fmla="*/ 119 h 453"/>
                <a:gd name="T22" fmla="*/ 209 w 449"/>
                <a:gd name="T23" fmla="*/ 94 h 453"/>
                <a:gd name="T24" fmla="*/ 243 w 449"/>
                <a:gd name="T25" fmla="*/ 72 h 453"/>
                <a:gd name="T26" fmla="*/ 281 w 449"/>
                <a:gd name="T27" fmla="*/ 53 h 453"/>
                <a:gd name="T28" fmla="*/ 321 w 449"/>
                <a:gd name="T29" fmla="*/ 41 h 453"/>
                <a:gd name="T30" fmla="*/ 362 w 449"/>
                <a:gd name="T31" fmla="*/ 28 h 453"/>
                <a:gd name="T32" fmla="*/ 405 w 449"/>
                <a:gd name="T33" fmla="*/ 22 h 453"/>
                <a:gd name="T34" fmla="*/ 449 w 449"/>
                <a:gd name="T35" fmla="*/ 19 h 453"/>
                <a:gd name="T36" fmla="*/ 449 w 449"/>
                <a:gd name="T37" fmla="*/ 0 h 453"/>
                <a:gd name="T38" fmla="*/ 405 w 449"/>
                <a:gd name="T39" fmla="*/ 3 h 453"/>
                <a:gd name="T40" fmla="*/ 359 w 449"/>
                <a:gd name="T41" fmla="*/ 10 h 453"/>
                <a:gd name="T42" fmla="*/ 315 w 449"/>
                <a:gd name="T43" fmla="*/ 22 h 453"/>
                <a:gd name="T44" fmla="*/ 274 w 449"/>
                <a:gd name="T45" fmla="*/ 38 h 453"/>
                <a:gd name="T46" fmla="*/ 234 w 449"/>
                <a:gd name="T47" fmla="*/ 57 h 453"/>
                <a:gd name="T48" fmla="*/ 200 w 449"/>
                <a:gd name="T49" fmla="*/ 78 h 453"/>
                <a:gd name="T50" fmla="*/ 162 w 449"/>
                <a:gd name="T51" fmla="*/ 103 h 453"/>
                <a:gd name="T52" fmla="*/ 131 w 449"/>
                <a:gd name="T53" fmla="*/ 135 h 453"/>
                <a:gd name="T54" fmla="*/ 103 w 449"/>
                <a:gd name="T55" fmla="*/ 166 h 453"/>
                <a:gd name="T56" fmla="*/ 75 w 449"/>
                <a:gd name="T57" fmla="*/ 200 h 453"/>
                <a:gd name="T58" fmla="*/ 53 w 449"/>
                <a:gd name="T59" fmla="*/ 238 h 453"/>
                <a:gd name="T60" fmla="*/ 34 w 449"/>
                <a:gd name="T61" fmla="*/ 278 h 453"/>
                <a:gd name="T62" fmla="*/ 19 w 449"/>
                <a:gd name="T63" fmla="*/ 319 h 453"/>
                <a:gd name="T64" fmla="*/ 9 w 449"/>
                <a:gd name="T65" fmla="*/ 362 h 453"/>
                <a:gd name="T66" fmla="*/ 0 w 449"/>
                <a:gd name="T67" fmla="*/ 406 h 453"/>
                <a:gd name="T68" fmla="*/ 0 w 449"/>
                <a:gd name="T69" fmla="*/ 453 h 453"/>
                <a:gd name="T70" fmla="*/ 0 w 449"/>
                <a:gd name="T71" fmla="*/ 453 h 453"/>
                <a:gd name="T72" fmla="*/ 19 w 449"/>
                <a:gd name="T73" fmla="*/ 453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49" h="453">
                  <a:moveTo>
                    <a:pt x="19" y="453"/>
                  </a:moveTo>
                  <a:lnTo>
                    <a:pt x="19" y="453"/>
                  </a:lnTo>
                  <a:lnTo>
                    <a:pt x="19" y="409"/>
                  </a:lnTo>
                  <a:lnTo>
                    <a:pt x="25" y="366"/>
                  </a:lnTo>
                  <a:lnTo>
                    <a:pt x="37" y="325"/>
                  </a:lnTo>
                  <a:lnTo>
                    <a:pt x="53" y="284"/>
                  </a:lnTo>
                  <a:lnTo>
                    <a:pt x="69" y="247"/>
                  </a:lnTo>
                  <a:lnTo>
                    <a:pt x="90" y="210"/>
                  </a:lnTo>
                  <a:lnTo>
                    <a:pt x="115" y="178"/>
                  </a:lnTo>
                  <a:lnTo>
                    <a:pt x="143" y="147"/>
                  </a:lnTo>
                  <a:lnTo>
                    <a:pt x="175" y="119"/>
                  </a:lnTo>
                  <a:lnTo>
                    <a:pt x="209" y="94"/>
                  </a:lnTo>
                  <a:lnTo>
                    <a:pt x="243" y="72"/>
                  </a:lnTo>
                  <a:lnTo>
                    <a:pt x="281" y="53"/>
                  </a:lnTo>
                  <a:lnTo>
                    <a:pt x="321" y="41"/>
                  </a:lnTo>
                  <a:lnTo>
                    <a:pt x="362" y="28"/>
                  </a:lnTo>
                  <a:lnTo>
                    <a:pt x="405" y="22"/>
                  </a:lnTo>
                  <a:lnTo>
                    <a:pt x="449" y="19"/>
                  </a:lnTo>
                  <a:lnTo>
                    <a:pt x="449" y="0"/>
                  </a:lnTo>
                  <a:lnTo>
                    <a:pt x="405" y="3"/>
                  </a:lnTo>
                  <a:lnTo>
                    <a:pt x="359" y="10"/>
                  </a:lnTo>
                  <a:lnTo>
                    <a:pt x="315" y="22"/>
                  </a:lnTo>
                  <a:lnTo>
                    <a:pt x="274" y="38"/>
                  </a:lnTo>
                  <a:lnTo>
                    <a:pt x="234" y="57"/>
                  </a:lnTo>
                  <a:lnTo>
                    <a:pt x="200" y="78"/>
                  </a:lnTo>
                  <a:lnTo>
                    <a:pt x="162" y="103"/>
                  </a:lnTo>
                  <a:lnTo>
                    <a:pt x="131" y="135"/>
                  </a:lnTo>
                  <a:lnTo>
                    <a:pt x="103" y="166"/>
                  </a:lnTo>
                  <a:lnTo>
                    <a:pt x="75" y="200"/>
                  </a:lnTo>
                  <a:lnTo>
                    <a:pt x="53" y="238"/>
                  </a:lnTo>
                  <a:lnTo>
                    <a:pt x="34" y="278"/>
                  </a:lnTo>
                  <a:lnTo>
                    <a:pt x="19" y="319"/>
                  </a:lnTo>
                  <a:lnTo>
                    <a:pt x="9" y="362"/>
                  </a:lnTo>
                  <a:lnTo>
                    <a:pt x="0" y="406"/>
                  </a:lnTo>
                  <a:lnTo>
                    <a:pt x="0" y="453"/>
                  </a:lnTo>
                  <a:lnTo>
                    <a:pt x="19" y="453"/>
                  </a:lnTo>
                  <a:close/>
                </a:path>
              </a:pathLst>
            </a:custGeom>
            <a:solidFill>
              <a:srgbClr val="131516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8" name="Freeform 87"/>
            <p:cNvSpPr>
              <a:spLocks noChangeArrowheads="1"/>
            </p:cNvSpPr>
            <p:nvPr/>
          </p:nvSpPr>
          <p:spPr bwMode="auto">
            <a:xfrm>
              <a:off x="3256" y="1732"/>
              <a:ext cx="412" cy="422"/>
            </a:xfrm>
            <a:custGeom>
              <a:avLst/>
              <a:gdLst>
                <a:gd name="T0" fmla="*/ 449 w 449"/>
                <a:gd name="T1" fmla="*/ 431 h 450"/>
                <a:gd name="T2" fmla="*/ 449 w 449"/>
                <a:gd name="T3" fmla="*/ 431 h 450"/>
                <a:gd name="T4" fmla="*/ 405 w 449"/>
                <a:gd name="T5" fmla="*/ 431 h 450"/>
                <a:gd name="T6" fmla="*/ 362 w 449"/>
                <a:gd name="T7" fmla="*/ 425 h 450"/>
                <a:gd name="T8" fmla="*/ 321 w 449"/>
                <a:gd name="T9" fmla="*/ 412 h 450"/>
                <a:gd name="T10" fmla="*/ 281 w 449"/>
                <a:gd name="T11" fmla="*/ 400 h 450"/>
                <a:gd name="T12" fmla="*/ 243 w 449"/>
                <a:gd name="T13" fmla="*/ 381 h 450"/>
                <a:gd name="T14" fmla="*/ 209 w 449"/>
                <a:gd name="T15" fmla="*/ 359 h 450"/>
                <a:gd name="T16" fmla="*/ 175 w 449"/>
                <a:gd name="T17" fmla="*/ 334 h 450"/>
                <a:gd name="T18" fmla="*/ 143 w 449"/>
                <a:gd name="T19" fmla="*/ 306 h 450"/>
                <a:gd name="T20" fmla="*/ 115 w 449"/>
                <a:gd name="T21" fmla="*/ 275 h 450"/>
                <a:gd name="T22" fmla="*/ 90 w 449"/>
                <a:gd name="T23" fmla="*/ 240 h 450"/>
                <a:gd name="T24" fmla="*/ 69 w 449"/>
                <a:gd name="T25" fmla="*/ 206 h 450"/>
                <a:gd name="T26" fmla="*/ 53 w 449"/>
                <a:gd name="T27" fmla="*/ 169 h 450"/>
                <a:gd name="T28" fmla="*/ 37 w 449"/>
                <a:gd name="T29" fmla="*/ 128 h 450"/>
                <a:gd name="T30" fmla="*/ 25 w 449"/>
                <a:gd name="T31" fmla="*/ 87 h 450"/>
                <a:gd name="T32" fmla="*/ 19 w 449"/>
                <a:gd name="T33" fmla="*/ 44 h 450"/>
                <a:gd name="T34" fmla="*/ 19 w 449"/>
                <a:gd name="T35" fmla="*/ 0 h 450"/>
                <a:gd name="T36" fmla="*/ 0 w 449"/>
                <a:gd name="T37" fmla="*/ 0 h 450"/>
                <a:gd name="T38" fmla="*/ 0 w 449"/>
                <a:gd name="T39" fmla="*/ 47 h 450"/>
                <a:gd name="T40" fmla="*/ 9 w 449"/>
                <a:gd name="T41" fmla="*/ 91 h 450"/>
                <a:gd name="T42" fmla="*/ 19 w 449"/>
                <a:gd name="T43" fmla="*/ 134 h 450"/>
                <a:gd name="T44" fmla="*/ 34 w 449"/>
                <a:gd name="T45" fmla="*/ 175 h 450"/>
                <a:gd name="T46" fmla="*/ 53 w 449"/>
                <a:gd name="T47" fmla="*/ 215 h 450"/>
                <a:gd name="T48" fmla="*/ 75 w 449"/>
                <a:gd name="T49" fmla="*/ 253 h 450"/>
                <a:gd name="T50" fmla="*/ 103 w 449"/>
                <a:gd name="T51" fmla="*/ 287 h 450"/>
                <a:gd name="T52" fmla="*/ 131 w 449"/>
                <a:gd name="T53" fmla="*/ 318 h 450"/>
                <a:gd name="T54" fmla="*/ 162 w 449"/>
                <a:gd name="T55" fmla="*/ 347 h 450"/>
                <a:gd name="T56" fmla="*/ 200 w 449"/>
                <a:gd name="T57" fmla="*/ 375 h 450"/>
                <a:gd name="T58" fmla="*/ 234 w 449"/>
                <a:gd name="T59" fmla="*/ 396 h 450"/>
                <a:gd name="T60" fmla="*/ 274 w 449"/>
                <a:gd name="T61" fmla="*/ 415 h 450"/>
                <a:gd name="T62" fmla="*/ 315 w 449"/>
                <a:gd name="T63" fmla="*/ 431 h 450"/>
                <a:gd name="T64" fmla="*/ 359 w 449"/>
                <a:gd name="T65" fmla="*/ 440 h 450"/>
                <a:gd name="T66" fmla="*/ 405 w 449"/>
                <a:gd name="T67" fmla="*/ 450 h 450"/>
                <a:gd name="T68" fmla="*/ 449 w 449"/>
                <a:gd name="T69" fmla="*/ 450 h 450"/>
                <a:gd name="T70" fmla="*/ 449 w 449"/>
                <a:gd name="T71" fmla="*/ 450 h 450"/>
                <a:gd name="T72" fmla="*/ 449 w 449"/>
                <a:gd name="T73" fmla="*/ 431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49" h="450">
                  <a:moveTo>
                    <a:pt x="449" y="431"/>
                  </a:moveTo>
                  <a:lnTo>
                    <a:pt x="449" y="431"/>
                  </a:lnTo>
                  <a:lnTo>
                    <a:pt x="405" y="431"/>
                  </a:lnTo>
                  <a:lnTo>
                    <a:pt x="362" y="425"/>
                  </a:lnTo>
                  <a:lnTo>
                    <a:pt x="321" y="412"/>
                  </a:lnTo>
                  <a:lnTo>
                    <a:pt x="281" y="400"/>
                  </a:lnTo>
                  <a:lnTo>
                    <a:pt x="243" y="381"/>
                  </a:lnTo>
                  <a:lnTo>
                    <a:pt x="209" y="359"/>
                  </a:lnTo>
                  <a:lnTo>
                    <a:pt x="175" y="334"/>
                  </a:lnTo>
                  <a:lnTo>
                    <a:pt x="143" y="306"/>
                  </a:lnTo>
                  <a:lnTo>
                    <a:pt x="115" y="275"/>
                  </a:lnTo>
                  <a:lnTo>
                    <a:pt x="90" y="240"/>
                  </a:lnTo>
                  <a:lnTo>
                    <a:pt x="69" y="206"/>
                  </a:lnTo>
                  <a:lnTo>
                    <a:pt x="53" y="169"/>
                  </a:lnTo>
                  <a:lnTo>
                    <a:pt x="37" y="128"/>
                  </a:lnTo>
                  <a:lnTo>
                    <a:pt x="25" y="87"/>
                  </a:lnTo>
                  <a:lnTo>
                    <a:pt x="19" y="44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47"/>
                  </a:lnTo>
                  <a:lnTo>
                    <a:pt x="9" y="91"/>
                  </a:lnTo>
                  <a:lnTo>
                    <a:pt x="19" y="134"/>
                  </a:lnTo>
                  <a:lnTo>
                    <a:pt x="34" y="175"/>
                  </a:lnTo>
                  <a:lnTo>
                    <a:pt x="53" y="215"/>
                  </a:lnTo>
                  <a:lnTo>
                    <a:pt x="75" y="253"/>
                  </a:lnTo>
                  <a:lnTo>
                    <a:pt x="103" y="287"/>
                  </a:lnTo>
                  <a:lnTo>
                    <a:pt x="131" y="318"/>
                  </a:lnTo>
                  <a:lnTo>
                    <a:pt x="162" y="347"/>
                  </a:lnTo>
                  <a:lnTo>
                    <a:pt x="200" y="375"/>
                  </a:lnTo>
                  <a:lnTo>
                    <a:pt x="234" y="396"/>
                  </a:lnTo>
                  <a:lnTo>
                    <a:pt x="274" y="415"/>
                  </a:lnTo>
                  <a:lnTo>
                    <a:pt x="315" y="431"/>
                  </a:lnTo>
                  <a:lnTo>
                    <a:pt x="359" y="440"/>
                  </a:lnTo>
                  <a:lnTo>
                    <a:pt x="405" y="450"/>
                  </a:lnTo>
                  <a:lnTo>
                    <a:pt x="449" y="450"/>
                  </a:lnTo>
                  <a:lnTo>
                    <a:pt x="449" y="431"/>
                  </a:lnTo>
                  <a:close/>
                </a:path>
              </a:pathLst>
            </a:custGeom>
            <a:solidFill>
              <a:srgbClr val="131516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9" name="Freeform 88"/>
            <p:cNvSpPr>
              <a:spLocks noChangeArrowheads="1"/>
            </p:cNvSpPr>
            <p:nvPr/>
          </p:nvSpPr>
          <p:spPr bwMode="auto">
            <a:xfrm>
              <a:off x="3668" y="1732"/>
              <a:ext cx="416" cy="422"/>
            </a:xfrm>
            <a:custGeom>
              <a:avLst/>
              <a:gdLst>
                <a:gd name="T0" fmla="*/ 434 w 453"/>
                <a:gd name="T1" fmla="*/ 0 h 450"/>
                <a:gd name="T2" fmla="*/ 434 w 453"/>
                <a:gd name="T3" fmla="*/ 0 h 450"/>
                <a:gd name="T4" fmla="*/ 431 w 453"/>
                <a:gd name="T5" fmla="*/ 44 h 450"/>
                <a:gd name="T6" fmla="*/ 424 w 453"/>
                <a:gd name="T7" fmla="*/ 87 h 450"/>
                <a:gd name="T8" fmla="*/ 415 w 453"/>
                <a:gd name="T9" fmla="*/ 128 h 450"/>
                <a:gd name="T10" fmla="*/ 399 w 453"/>
                <a:gd name="T11" fmla="*/ 169 h 450"/>
                <a:gd name="T12" fmla="*/ 381 w 453"/>
                <a:gd name="T13" fmla="*/ 206 h 450"/>
                <a:gd name="T14" fmla="*/ 359 w 453"/>
                <a:gd name="T15" fmla="*/ 240 h 450"/>
                <a:gd name="T16" fmla="*/ 334 w 453"/>
                <a:gd name="T17" fmla="*/ 275 h 450"/>
                <a:gd name="T18" fmla="*/ 306 w 453"/>
                <a:gd name="T19" fmla="*/ 306 h 450"/>
                <a:gd name="T20" fmla="*/ 275 w 453"/>
                <a:gd name="T21" fmla="*/ 334 h 450"/>
                <a:gd name="T22" fmla="*/ 243 w 453"/>
                <a:gd name="T23" fmla="*/ 359 h 450"/>
                <a:gd name="T24" fmla="*/ 206 w 453"/>
                <a:gd name="T25" fmla="*/ 381 h 450"/>
                <a:gd name="T26" fmla="*/ 169 w 453"/>
                <a:gd name="T27" fmla="*/ 400 h 450"/>
                <a:gd name="T28" fmla="*/ 128 w 453"/>
                <a:gd name="T29" fmla="*/ 412 h 450"/>
                <a:gd name="T30" fmla="*/ 88 w 453"/>
                <a:gd name="T31" fmla="*/ 425 h 450"/>
                <a:gd name="T32" fmla="*/ 44 w 453"/>
                <a:gd name="T33" fmla="*/ 431 h 450"/>
                <a:gd name="T34" fmla="*/ 0 w 453"/>
                <a:gd name="T35" fmla="*/ 431 h 450"/>
                <a:gd name="T36" fmla="*/ 0 w 453"/>
                <a:gd name="T37" fmla="*/ 450 h 450"/>
                <a:gd name="T38" fmla="*/ 47 w 453"/>
                <a:gd name="T39" fmla="*/ 450 h 450"/>
                <a:gd name="T40" fmla="*/ 91 w 453"/>
                <a:gd name="T41" fmla="*/ 440 h 450"/>
                <a:gd name="T42" fmla="*/ 134 w 453"/>
                <a:gd name="T43" fmla="*/ 431 h 450"/>
                <a:gd name="T44" fmla="*/ 175 w 453"/>
                <a:gd name="T45" fmla="*/ 415 h 450"/>
                <a:gd name="T46" fmla="*/ 215 w 453"/>
                <a:gd name="T47" fmla="*/ 396 h 450"/>
                <a:gd name="T48" fmla="*/ 253 w 453"/>
                <a:gd name="T49" fmla="*/ 375 h 450"/>
                <a:gd name="T50" fmla="*/ 287 w 453"/>
                <a:gd name="T51" fmla="*/ 347 h 450"/>
                <a:gd name="T52" fmla="*/ 318 w 453"/>
                <a:gd name="T53" fmla="*/ 318 h 450"/>
                <a:gd name="T54" fmla="*/ 350 w 453"/>
                <a:gd name="T55" fmla="*/ 287 h 450"/>
                <a:gd name="T56" fmla="*/ 375 w 453"/>
                <a:gd name="T57" fmla="*/ 253 h 450"/>
                <a:gd name="T58" fmla="*/ 396 w 453"/>
                <a:gd name="T59" fmla="*/ 215 h 450"/>
                <a:gd name="T60" fmla="*/ 415 w 453"/>
                <a:gd name="T61" fmla="*/ 175 h 450"/>
                <a:gd name="T62" fmla="*/ 431 w 453"/>
                <a:gd name="T63" fmla="*/ 134 h 450"/>
                <a:gd name="T64" fmla="*/ 443 w 453"/>
                <a:gd name="T65" fmla="*/ 91 h 450"/>
                <a:gd name="T66" fmla="*/ 449 w 453"/>
                <a:gd name="T67" fmla="*/ 47 h 450"/>
                <a:gd name="T68" fmla="*/ 453 w 453"/>
                <a:gd name="T69" fmla="*/ 0 h 450"/>
                <a:gd name="T70" fmla="*/ 453 w 453"/>
                <a:gd name="T71" fmla="*/ 0 h 450"/>
                <a:gd name="T72" fmla="*/ 434 w 453"/>
                <a:gd name="T73" fmla="*/ 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53" h="450">
                  <a:moveTo>
                    <a:pt x="434" y="0"/>
                  </a:moveTo>
                  <a:lnTo>
                    <a:pt x="434" y="0"/>
                  </a:lnTo>
                  <a:lnTo>
                    <a:pt x="431" y="44"/>
                  </a:lnTo>
                  <a:lnTo>
                    <a:pt x="424" y="87"/>
                  </a:lnTo>
                  <a:lnTo>
                    <a:pt x="415" y="128"/>
                  </a:lnTo>
                  <a:lnTo>
                    <a:pt x="399" y="169"/>
                  </a:lnTo>
                  <a:lnTo>
                    <a:pt x="381" y="206"/>
                  </a:lnTo>
                  <a:lnTo>
                    <a:pt x="359" y="240"/>
                  </a:lnTo>
                  <a:lnTo>
                    <a:pt x="334" y="275"/>
                  </a:lnTo>
                  <a:lnTo>
                    <a:pt x="306" y="306"/>
                  </a:lnTo>
                  <a:lnTo>
                    <a:pt x="275" y="334"/>
                  </a:lnTo>
                  <a:lnTo>
                    <a:pt x="243" y="359"/>
                  </a:lnTo>
                  <a:lnTo>
                    <a:pt x="206" y="381"/>
                  </a:lnTo>
                  <a:lnTo>
                    <a:pt x="169" y="400"/>
                  </a:lnTo>
                  <a:lnTo>
                    <a:pt x="128" y="412"/>
                  </a:lnTo>
                  <a:lnTo>
                    <a:pt x="88" y="425"/>
                  </a:lnTo>
                  <a:lnTo>
                    <a:pt x="44" y="431"/>
                  </a:lnTo>
                  <a:lnTo>
                    <a:pt x="0" y="431"/>
                  </a:lnTo>
                  <a:lnTo>
                    <a:pt x="0" y="450"/>
                  </a:lnTo>
                  <a:lnTo>
                    <a:pt x="47" y="450"/>
                  </a:lnTo>
                  <a:lnTo>
                    <a:pt x="91" y="440"/>
                  </a:lnTo>
                  <a:lnTo>
                    <a:pt x="134" y="431"/>
                  </a:lnTo>
                  <a:lnTo>
                    <a:pt x="175" y="415"/>
                  </a:lnTo>
                  <a:lnTo>
                    <a:pt x="215" y="396"/>
                  </a:lnTo>
                  <a:lnTo>
                    <a:pt x="253" y="375"/>
                  </a:lnTo>
                  <a:lnTo>
                    <a:pt x="287" y="347"/>
                  </a:lnTo>
                  <a:lnTo>
                    <a:pt x="318" y="318"/>
                  </a:lnTo>
                  <a:lnTo>
                    <a:pt x="350" y="287"/>
                  </a:lnTo>
                  <a:lnTo>
                    <a:pt x="375" y="253"/>
                  </a:lnTo>
                  <a:lnTo>
                    <a:pt x="396" y="215"/>
                  </a:lnTo>
                  <a:lnTo>
                    <a:pt x="415" y="175"/>
                  </a:lnTo>
                  <a:lnTo>
                    <a:pt x="431" y="134"/>
                  </a:lnTo>
                  <a:lnTo>
                    <a:pt x="443" y="91"/>
                  </a:lnTo>
                  <a:lnTo>
                    <a:pt x="449" y="47"/>
                  </a:lnTo>
                  <a:lnTo>
                    <a:pt x="453" y="0"/>
                  </a:lnTo>
                  <a:lnTo>
                    <a:pt x="434" y="0"/>
                  </a:lnTo>
                  <a:close/>
                </a:path>
              </a:pathLst>
            </a:custGeom>
            <a:solidFill>
              <a:srgbClr val="131516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0" name="Freeform 89"/>
            <p:cNvSpPr>
              <a:spLocks noChangeArrowheads="1"/>
            </p:cNvSpPr>
            <p:nvPr/>
          </p:nvSpPr>
          <p:spPr bwMode="auto">
            <a:xfrm>
              <a:off x="3668" y="1308"/>
              <a:ext cx="416" cy="424"/>
            </a:xfrm>
            <a:custGeom>
              <a:avLst/>
              <a:gdLst>
                <a:gd name="T0" fmla="*/ 0 w 453"/>
                <a:gd name="T1" fmla="*/ 19 h 453"/>
                <a:gd name="T2" fmla="*/ 0 w 453"/>
                <a:gd name="T3" fmla="*/ 19 h 453"/>
                <a:gd name="T4" fmla="*/ 44 w 453"/>
                <a:gd name="T5" fmla="*/ 22 h 453"/>
                <a:gd name="T6" fmla="*/ 88 w 453"/>
                <a:gd name="T7" fmla="*/ 28 h 453"/>
                <a:gd name="T8" fmla="*/ 128 w 453"/>
                <a:gd name="T9" fmla="*/ 41 h 453"/>
                <a:gd name="T10" fmla="*/ 169 w 453"/>
                <a:gd name="T11" fmla="*/ 53 h 453"/>
                <a:gd name="T12" fmla="*/ 206 w 453"/>
                <a:gd name="T13" fmla="*/ 72 h 453"/>
                <a:gd name="T14" fmla="*/ 243 w 453"/>
                <a:gd name="T15" fmla="*/ 94 h 453"/>
                <a:gd name="T16" fmla="*/ 275 w 453"/>
                <a:gd name="T17" fmla="*/ 119 h 453"/>
                <a:gd name="T18" fmla="*/ 306 w 453"/>
                <a:gd name="T19" fmla="*/ 147 h 453"/>
                <a:gd name="T20" fmla="*/ 334 w 453"/>
                <a:gd name="T21" fmla="*/ 178 h 453"/>
                <a:gd name="T22" fmla="*/ 359 w 453"/>
                <a:gd name="T23" fmla="*/ 210 h 453"/>
                <a:gd name="T24" fmla="*/ 381 w 453"/>
                <a:gd name="T25" fmla="*/ 247 h 453"/>
                <a:gd name="T26" fmla="*/ 399 w 453"/>
                <a:gd name="T27" fmla="*/ 284 h 453"/>
                <a:gd name="T28" fmla="*/ 415 w 453"/>
                <a:gd name="T29" fmla="*/ 325 h 453"/>
                <a:gd name="T30" fmla="*/ 424 w 453"/>
                <a:gd name="T31" fmla="*/ 366 h 453"/>
                <a:gd name="T32" fmla="*/ 431 w 453"/>
                <a:gd name="T33" fmla="*/ 409 h 453"/>
                <a:gd name="T34" fmla="*/ 434 w 453"/>
                <a:gd name="T35" fmla="*/ 453 h 453"/>
                <a:gd name="T36" fmla="*/ 453 w 453"/>
                <a:gd name="T37" fmla="*/ 453 h 453"/>
                <a:gd name="T38" fmla="*/ 449 w 453"/>
                <a:gd name="T39" fmla="*/ 406 h 453"/>
                <a:gd name="T40" fmla="*/ 443 w 453"/>
                <a:gd name="T41" fmla="*/ 362 h 453"/>
                <a:gd name="T42" fmla="*/ 431 w 453"/>
                <a:gd name="T43" fmla="*/ 319 h 453"/>
                <a:gd name="T44" fmla="*/ 415 w 453"/>
                <a:gd name="T45" fmla="*/ 278 h 453"/>
                <a:gd name="T46" fmla="*/ 396 w 453"/>
                <a:gd name="T47" fmla="*/ 238 h 453"/>
                <a:gd name="T48" fmla="*/ 375 w 453"/>
                <a:gd name="T49" fmla="*/ 200 h 453"/>
                <a:gd name="T50" fmla="*/ 350 w 453"/>
                <a:gd name="T51" fmla="*/ 166 h 453"/>
                <a:gd name="T52" fmla="*/ 318 w 453"/>
                <a:gd name="T53" fmla="*/ 135 h 453"/>
                <a:gd name="T54" fmla="*/ 287 w 453"/>
                <a:gd name="T55" fmla="*/ 103 h 453"/>
                <a:gd name="T56" fmla="*/ 253 w 453"/>
                <a:gd name="T57" fmla="*/ 78 h 453"/>
                <a:gd name="T58" fmla="*/ 215 w 453"/>
                <a:gd name="T59" fmla="*/ 57 h 453"/>
                <a:gd name="T60" fmla="*/ 175 w 453"/>
                <a:gd name="T61" fmla="*/ 38 h 453"/>
                <a:gd name="T62" fmla="*/ 134 w 453"/>
                <a:gd name="T63" fmla="*/ 22 h 453"/>
                <a:gd name="T64" fmla="*/ 91 w 453"/>
                <a:gd name="T65" fmla="*/ 10 h 453"/>
                <a:gd name="T66" fmla="*/ 47 w 453"/>
                <a:gd name="T67" fmla="*/ 3 h 453"/>
                <a:gd name="T68" fmla="*/ 0 w 453"/>
                <a:gd name="T69" fmla="*/ 0 h 453"/>
                <a:gd name="T70" fmla="*/ 0 w 453"/>
                <a:gd name="T71" fmla="*/ 0 h 453"/>
                <a:gd name="T72" fmla="*/ 0 w 453"/>
                <a:gd name="T73" fmla="*/ 19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53" h="453">
                  <a:moveTo>
                    <a:pt x="0" y="19"/>
                  </a:moveTo>
                  <a:lnTo>
                    <a:pt x="0" y="19"/>
                  </a:lnTo>
                  <a:lnTo>
                    <a:pt x="44" y="22"/>
                  </a:lnTo>
                  <a:lnTo>
                    <a:pt x="88" y="28"/>
                  </a:lnTo>
                  <a:lnTo>
                    <a:pt x="128" y="41"/>
                  </a:lnTo>
                  <a:lnTo>
                    <a:pt x="169" y="53"/>
                  </a:lnTo>
                  <a:lnTo>
                    <a:pt x="206" y="72"/>
                  </a:lnTo>
                  <a:lnTo>
                    <a:pt x="243" y="94"/>
                  </a:lnTo>
                  <a:lnTo>
                    <a:pt x="275" y="119"/>
                  </a:lnTo>
                  <a:lnTo>
                    <a:pt x="306" y="147"/>
                  </a:lnTo>
                  <a:lnTo>
                    <a:pt x="334" y="178"/>
                  </a:lnTo>
                  <a:lnTo>
                    <a:pt x="359" y="210"/>
                  </a:lnTo>
                  <a:lnTo>
                    <a:pt x="381" y="247"/>
                  </a:lnTo>
                  <a:lnTo>
                    <a:pt x="399" y="284"/>
                  </a:lnTo>
                  <a:lnTo>
                    <a:pt x="415" y="325"/>
                  </a:lnTo>
                  <a:lnTo>
                    <a:pt x="424" y="366"/>
                  </a:lnTo>
                  <a:lnTo>
                    <a:pt x="431" y="409"/>
                  </a:lnTo>
                  <a:lnTo>
                    <a:pt x="434" y="453"/>
                  </a:lnTo>
                  <a:lnTo>
                    <a:pt x="453" y="453"/>
                  </a:lnTo>
                  <a:lnTo>
                    <a:pt x="449" y="406"/>
                  </a:lnTo>
                  <a:lnTo>
                    <a:pt x="443" y="362"/>
                  </a:lnTo>
                  <a:lnTo>
                    <a:pt x="431" y="319"/>
                  </a:lnTo>
                  <a:lnTo>
                    <a:pt x="415" y="278"/>
                  </a:lnTo>
                  <a:lnTo>
                    <a:pt x="396" y="238"/>
                  </a:lnTo>
                  <a:lnTo>
                    <a:pt x="375" y="200"/>
                  </a:lnTo>
                  <a:lnTo>
                    <a:pt x="350" y="166"/>
                  </a:lnTo>
                  <a:lnTo>
                    <a:pt x="318" y="135"/>
                  </a:lnTo>
                  <a:lnTo>
                    <a:pt x="287" y="103"/>
                  </a:lnTo>
                  <a:lnTo>
                    <a:pt x="253" y="78"/>
                  </a:lnTo>
                  <a:lnTo>
                    <a:pt x="215" y="57"/>
                  </a:lnTo>
                  <a:lnTo>
                    <a:pt x="175" y="38"/>
                  </a:lnTo>
                  <a:lnTo>
                    <a:pt x="134" y="22"/>
                  </a:lnTo>
                  <a:lnTo>
                    <a:pt x="91" y="10"/>
                  </a:lnTo>
                  <a:lnTo>
                    <a:pt x="47" y="3"/>
                  </a:lnTo>
                  <a:lnTo>
                    <a:pt x="0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131516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1" name="Rectangle 90"/>
            <p:cNvSpPr>
              <a:spLocks noChangeArrowheads="1"/>
            </p:cNvSpPr>
            <p:nvPr/>
          </p:nvSpPr>
          <p:spPr bwMode="auto">
            <a:xfrm>
              <a:off x="3817" y="1639"/>
              <a:ext cx="18" cy="93"/>
            </a:xfrm>
            <a:prstGeom prst="rect">
              <a:avLst/>
            </a:prstGeom>
            <a:solidFill>
              <a:srgbClr val="131516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2" name="Rectangle 91"/>
            <p:cNvSpPr>
              <a:spLocks noChangeArrowheads="1"/>
            </p:cNvSpPr>
            <p:nvPr/>
          </p:nvSpPr>
          <p:spPr bwMode="auto">
            <a:xfrm>
              <a:off x="3826" y="1814"/>
              <a:ext cx="98" cy="18"/>
            </a:xfrm>
            <a:prstGeom prst="rect">
              <a:avLst/>
            </a:prstGeom>
            <a:solidFill>
              <a:srgbClr val="131516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3" name="Rectangle 92"/>
            <p:cNvSpPr>
              <a:spLocks noChangeArrowheads="1"/>
            </p:cNvSpPr>
            <p:nvPr/>
          </p:nvSpPr>
          <p:spPr bwMode="auto">
            <a:xfrm>
              <a:off x="3817" y="1732"/>
              <a:ext cx="18" cy="91"/>
            </a:xfrm>
            <a:prstGeom prst="rect">
              <a:avLst/>
            </a:prstGeom>
            <a:solidFill>
              <a:srgbClr val="131516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4" name="Rectangle 93"/>
            <p:cNvSpPr>
              <a:spLocks noChangeArrowheads="1"/>
            </p:cNvSpPr>
            <p:nvPr/>
          </p:nvSpPr>
          <p:spPr bwMode="auto">
            <a:xfrm>
              <a:off x="3826" y="1630"/>
              <a:ext cx="98" cy="17"/>
            </a:xfrm>
            <a:prstGeom prst="rect">
              <a:avLst/>
            </a:prstGeom>
            <a:solidFill>
              <a:srgbClr val="131516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5" name="Line 94"/>
            <p:cNvSpPr>
              <a:spLocks noChangeShapeType="1"/>
            </p:cNvSpPr>
            <p:nvPr/>
          </p:nvSpPr>
          <p:spPr bwMode="auto">
            <a:xfrm flipV="1">
              <a:off x="3768" y="1835"/>
              <a:ext cx="153" cy="155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" name="Line 95"/>
            <p:cNvSpPr>
              <a:spLocks noChangeShapeType="1"/>
            </p:cNvSpPr>
            <p:nvPr/>
          </p:nvSpPr>
          <p:spPr bwMode="auto">
            <a:xfrm flipV="1">
              <a:off x="3668" y="1823"/>
              <a:ext cx="181" cy="184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Line 96"/>
            <p:cNvSpPr>
              <a:spLocks noChangeShapeType="1"/>
            </p:cNvSpPr>
            <p:nvPr/>
          </p:nvSpPr>
          <p:spPr bwMode="auto">
            <a:xfrm flipV="1">
              <a:off x="3668" y="1764"/>
              <a:ext cx="158" cy="161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Line 97"/>
            <p:cNvSpPr>
              <a:spLocks noChangeShapeType="1"/>
            </p:cNvSpPr>
            <p:nvPr/>
          </p:nvSpPr>
          <p:spPr bwMode="auto">
            <a:xfrm flipV="1">
              <a:off x="3597" y="1925"/>
              <a:ext cx="71" cy="74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Line 98"/>
            <p:cNvSpPr>
              <a:spLocks noChangeShapeType="1"/>
            </p:cNvSpPr>
            <p:nvPr/>
          </p:nvSpPr>
          <p:spPr bwMode="auto">
            <a:xfrm flipV="1">
              <a:off x="3778" y="1683"/>
              <a:ext cx="48" cy="49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" name="Line 99"/>
            <p:cNvSpPr>
              <a:spLocks noChangeShapeType="1"/>
            </p:cNvSpPr>
            <p:nvPr/>
          </p:nvSpPr>
          <p:spPr bwMode="auto">
            <a:xfrm flipV="1">
              <a:off x="3668" y="1732"/>
              <a:ext cx="110" cy="112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" name="Line 100"/>
            <p:cNvSpPr>
              <a:spLocks noChangeShapeType="1"/>
            </p:cNvSpPr>
            <p:nvPr/>
          </p:nvSpPr>
          <p:spPr bwMode="auto">
            <a:xfrm flipV="1">
              <a:off x="3866" y="1601"/>
              <a:ext cx="40" cy="38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" name="Line 101"/>
            <p:cNvSpPr>
              <a:spLocks noChangeShapeType="1"/>
            </p:cNvSpPr>
            <p:nvPr/>
          </p:nvSpPr>
          <p:spPr bwMode="auto">
            <a:xfrm flipV="1">
              <a:off x="3540" y="1844"/>
              <a:ext cx="128" cy="131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" name="Line 102"/>
            <p:cNvSpPr>
              <a:spLocks noChangeShapeType="1"/>
            </p:cNvSpPr>
            <p:nvPr/>
          </p:nvSpPr>
          <p:spPr bwMode="auto">
            <a:xfrm flipV="1">
              <a:off x="3697" y="1551"/>
              <a:ext cx="178" cy="181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" name="Line 103"/>
            <p:cNvSpPr>
              <a:spLocks noChangeShapeType="1"/>
            </p:cNvSpPr>
            <p:nvPr/>
          </p:nvSpPr>
          <p:spPr bwMode="auto">
            <a:xfrm flipV="1">
              <a:off x="3491" y="1759"/>
              <a:ext cx="177" cy="181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" name="Line 104"/>
            <p:cNvSpPr>
              <a:spLocks noChangeShapeType="1"/>
            </p:cNvSpPr>
            <p:nvPr/>
          </p:nvSpPr>
          <p:spPr bwMode="auto">
            <a:xfrm flipV="1">
              <a:off x="3614" y="1677"/>
              <a:ext cx="54" cy="55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" name="Line 105"/>
            <p:cNvSpPr>
              <a:spLocks noChangeShapeType="1"/>
            </p:cNvSpPr>
            <p:nvPr/>
          </p:nvSpPr>
          <p:spPr bwMode="auto">
            <a:xfrm flipV="1">
              <a:off x="3668" y="1510"/>
              <a:ext cx="164" cy="167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" name="Line 106"/>
            <p:cNvSpPr>
              <a:spLocks noChangeShapeType="1"/>
            </p:cNvSpPr>
            <p:nvPr/>
          </p:nvSpPr>
          <p:spPr bwMode="auto">
            <a:xfrm flipV="1">
              <a:off x="3454" y="1732"/>
              <a:ext cx="160" cy="167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" name="Line 107"/>
            <p:cNvSpPr>
              <a:spLocks noChangeShapeType="1"/>
            </p:cNvSpPr>
            <p:nvPr/>
          </p:nvSpPr>
          <p:spPr bwMode="auto">
            <a:xfrm flipV="1">
              <a:off x="3535" y="1595"/>
              <a:ext cx="133" cy="137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" name="Line 108"/>
            <p:cNvSpPr>
              <a:spLocks noChangeShapeType="1"/>
            </p:cNvSpPr>
            <p:nvPr/>
          </p:nvSpPr>
          <p:spPr bwMode="auto">
            <a:xfrm flipV="1">
              <a:off x="3668" y="1481"/>
              <a:ext cx="112" cy="114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" name="Line 109"/>
            <p:cNvSpPr>
              <a:spLocks noChangeShapeType="1"/>
            </p:cNvSpPr>
            <p:nvPr/>
          </p:nvSpPr>
          <p:spPr bwMode="auto">
            <a:xfrm flipV="1">
              <a:off x="3423" y="1732"/>
              <a:ext cx="112" cy="115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" name="Line 110"/>
            <p:cNvSpPr>
              <a:spLocks noChangeShapeType="1"/>
            </p:cNvSpPr>
            <p:nvPr/>
          </p:nvSpPr>
          <p:spPr bwMode="auto">
            <a:xfrm flipV="1">
              <a:off x="3454" y="1513"/>
              <a:ext cx="214" cy="219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" name="Line 111"/>
            <p:cNvSpPr>
              <a:spLocks noChangeShapeType="1"/>
            </p:cNvSpPr>
            <p:nvPr/>
          </p:nvSpPr>
          <p:spPr bwMode="auto">
            <a:xfrm flipV="1">
              <a:off x="3668" y="1461"/>
              <a:ext cx="52" cy="52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" name="Line 112"/>
            <p:cNvSpPr>
              <a:spLocks noChangeShapeType="1"/>
            </p:cNvSpPr>
            <p:nvPr/>
          </p:nvSpPr>
          <p:spPr bwMode="auto">
            <a:xfrm flipV="1">
              <a:off x="3402" y="1732"/>
              <a:ext cx="52" cy="50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" name="Line 113"/>
            <p:cNvSpPr>
              <a:spLocks noChangeShapeType="1"/>
            </p:cNvSpPr>
            <p:nvPr/>
          </p:nvSpPr>
          <p:spPr bwMode="auto">
            <a:xfrm flipV="1">
              <a:off x="3400" y="1458"/>
              <a:ext cx="243" cy="245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" name="Line 114"/>
            <p:cNvSpPr>
              <a:spLocks noChangeShapeType="1"/>
            </p:cNvSpPr>
            <p:nvPr/>
          </p:nvSpPr>
          <p:spPr bwMode="auto">
            <a:xfrm flipV="1">
              <a:off x="3451" y="1510"/>
              <a:ext cx="61" cy="58"/>
            </a:xfrm>
            <a:prstGeom prst="line">
              <a:avLst/>
            </a:prstGeom>
            <a:noFill/>
            <a:ln w="3175">
              <a:solidFill>
                <a:srgbClr val="13151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" name="Freeform 115"/>
            <p:cNvSpPr>
              <a:spLocks noChangeArrowheads="1"/>
            </p:cNvSpPr>
            <p:nvPr/>
          </p:nvSpPr>
          <p:spPr bwMode="auto">
            <a:xfrm>
              <a:off x="3668" y="1446"/>
              <a:ext cx="281" cy="289"/>
            </a:xfrm>
            <a:custGeom>
              <a:avLst/>
              <a:gdLst>
                <a:gd name="T0" fmla="*/ 306 w 306"/>
                <a:gd name="T1" fmla="*/ 309 h 309"/>
                <a:gd name="T2" fmla="*/ 306 w 306"/>
                <a:gd name="T3" fmla="*/ 309 h 309"/>
                <a:gd name="T4" fmla="*/ 306 w 306"/>
                <a:gd name="T5" fmla="*/ 275 h 309"/>
                <a:gd name="T6" fmla="*/ 300 w 306"/>
                <a:gd name="T7" fmla="*/ 247 h 309"/>
                <a:gd name="T8" fmla="*/ 293 w 306"/>
                <a:gd name="T9" fmla="*/ 215 h 309"/>
                <a:gd name="T10" fmla="*/ 281 w 306"/>
                <a:gd name="T11" fmla="*/ 187 h 309"/>
                <a:gd name="T12" fmla="*/ 268 w 306"/>
                <a:gd name="T13" fmla="*/ 162 h 309"/>
                <a:gd name="T14" fmla="*/ 253 w 306"/>
                <a:gd name="T15" fmla="*/ 137 h 309"/>
                <a:gd name="T16" fmla="*/ 237 w 306"/>
                <a:gd name="T17" fmla="*/ 112 h 309"/>
                <a:gd name="T18" fmla="*/ 215 w 306"/>
                <a:gd name="T19" fmla="*/ 91 h 309"/>
                <a:gd name="T20" fmla="*/ 194 w 306"/>
                <a:gd name="T21" fmla="*/ 72 h 309"/>
                <a:gd name="T22" fmla="*/ 172 w 306"/>
                <a:gd name="T23" fmla="*/ 53 h 309"/>
                <a:gd name="T24" fmla="*/ 147 w 306"/>
                <a:gd name="T25" fmla="*/ 38 h 309"/>
                <a:gd name="T26" fmla="*/ 119 w 306"/>
                <a:gd name="T27" fmla="*/ 25 h 309"/>
                <a:gd name="T28" fmla="*/ 91 w 306"/>
                <a:gd name="T29" fmla="*/ 16 h 309"/>
                <a:gd name="T30" fmla="*/ 59 w 306"/>
                <a:gd name="T31" fmla="*/ 6 h 309"/>
                <a:gd name="T32" fmla="*/ 31 w 306"/>
                <a:gd name="T33" fmla="*/ 3 h 309"/>
                <a:gd name="T34" fmla="*/ 0 w 306"/>
                <a:gd name="T35" fmla="*/ 0 h 309"/>
                <a:gd name="T36" fmla="*/ 0 w 306"/>
                <a:gd name="T37" fmla="*/ 19 h 309"/>
                <a:gd name="T38" fmla="*/ 28 w 306"/>
                <a:gd name="T39" fmla="*/ 19 h 309"/>
                <a:gd name="T40" fmla="*/ 56 w 306"/>
                <a:gd name="T41" fmla="*/ 25 h 309"/>
                <a:gd name="T42" fmla="*/ 84 w 306"/>
                <a:gd name="T43" fmla="*/ 31 h 309"/>
                <a:gd name="T44" fmla="*/ 112 w 306"/>
                <a:gd name="T45" fmla="*/ 41 h 309"/>
                <a:gd name="T46" fmla="*/ 137 w 306"/>
                <a:gd name="T47" fmla="*/ 53 h 309"/>
                <a:gd name="T48" fmla="*/ 159 w 306"/>
                <a:gd name="T49" fmla="*/ 69 h 309"/>
                <a:gd name="T50" fmla="*/ 181 w 306"/>
                <a:gd name="T51" fmla="*/ 84 h 309"/>
                <a:gd name="T52" fmla="*/ 203 w 306"/>
                <a:gd name="T53" fmla="*/ 103 h 309"/>
                <a:gd name="T54" fmla="*/ 222 w 306"/>
                <a:gd name="T55" fmla="*/ 125 h 309"/>
                <a:gd name="T56" fmla="*/ 237 w 306"/>
                <a:gd name="T57" fmla="*/ 147 h 309"/>
                <a:gd name="T58" fmla="*/ 253 w 306"/>
                <a:gd name="T59" fmla="*/ 169 h 309"/>
                <a:gd name="T60" fmla="*/ 265 w 306"/>
                <a:gd name="T61" fmla="*/ 197 h 309"/>
                <a:gd name="T62" fmla="*/ 275 w 306"/>
                <a:gd name="T63" fmla="*/ 222 h 309"/>
                <a:gd name="T64" fmla="*/ 281 w 306"/>
                <a:gd name="T65" fmla="*/ 250 h 309"/>
                <a:gd name="T66" fmla="*/ 287 w 306"/>
                <a:gd name="T67" fmla="*/ 278 h 309"/>
                <a:gd name="T68" fmla="*/ 287 w 306"/>
                <a:gd name="T69" fmla="*/ 309 h 309"/>
                <a:gd name="T70" fmla="*/ 287 w 306"/>
                <a:gd name="T71" fmla="*/ 309 h 309"/>
                <a:gd name="T72" fmla="*/ 306 w 306"/>
                <a:gd name="T73" fmla="*/ 30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6" h="309">
                  <a:moveTo>
                    <a:pt x="306" y="309"/>
                  </a:moveTo>
                  <a:lnTo>
                    <a:pt x="306" y="309"/>
                  </a:lnTo>
                  <a:lnTo>
                    <a:pt x="306" y="275"/>
                  </a:lnTo>
                  <a:lnTo>
                    <a:pt x="300" y="247"/>
                  </a:lnTo>
                  <a:lnTo>
                    <a:pt x="293" y="215"/>
                  </a:lnTo>
                  <a:lnTo>
                    <a:pt x="281" y="187"/>
                  </a:lnTo>
                  <a:lnTo>
                    <a:pt x="268" y="162"/>
                  </a:lnTo>
                  <a:lnTo>
                    <a:pt x="253" y="137"/>
                  </a:lnTo>
                  <a:lnTo>
                    <a:pt x="237" y="112"/>
                  </a:lnTo>
                  <a:lnTo>
                    <a:pt x="215" y="91"/>
                  </a:lnTo>
                  <a:lnTo>
                    <a:pt x="194" y="72"/>
                  </a:lnTo>
                  <a:lnTo>
                    <a:pt x="172" y="53"/>
                  </a:lnTo>
                  <a:lnTo>
                    <a:pt x="147" y="38"/>
                  </a:lnTo>
                  <a:lnTo>
                    <a:pt x="119" y="25"/>
                  </a:lnTo>
                  <a:lnTo>
                    <a:pt x="91" y="16"/>
                  </a:lnTo>
                  <a:lnTo>
                    <a:pt x="59" y="6"/>
                  </a:lnTo>
                  <a:lnTo>
                    <a:pt x="31" y="3"/>
                  </a:lnTo>
                  <a:lnTo>
                    <a:pt x="0" y="0"/>
                  </a:lnTo>
                  <a:lnTo>
                    <a:pt x="0" y="19"/>
                  </a:lnTo>
                  <a:lnTo>
                    <a:pt x="28" y="19"/>
                  </a:lnTo>
                  <a:lnTo>
                    <a:pt x="56" y="25"/>
                  </a:lnTo>
                  <a:lnTo>
                    <a:pt x="84" y="31"/>
                  </a:lnTo>
                  <a:lnTo>
                    <a:pt x="112" y="41"/>
                  </a:lnTo>
                  <a:lnTo>
                    <a:pt x="137" y="53"/>
                  </a:lnTo>
                  <a:lnTo>
                    <a:pt x="159" y="69"/>
                  </a:lnTo>
                  <a:lnTo>
                    <a:pt x="181" y="84"/>
                  </a:lnTo>
                  <a:lnTo>
                    <a:pt x="203" y="103"/>
                  </a:lnTo>
                  <a:lnTo>
                    <a:pt x="222" y="125"/>
                  </a:lnTo>
                  <a:lnTo>
                    <a:pt x="237" y="147"/>
                  </a:lnTo>
                  <a:lnTo>
                    <a:pt x="253" y="169"/>
                  </a:lnTo>
                  <a:lnTo>
                    <a:pt x="265" y="197"/>
                  </a:lnTo>
                  <a:lnTo>
                    <a:pt x="275" y="222"/>
                  </a:lnTo>
                  <a:lnTo>
                    <a:pt x="281" y="250"/>
                  </a:lnTo>
                  <a:lnTo>
                    <a:pt x="287" y="278"/>
                  </a:lnTo>
                  <a:lnTo>
                    <a:pt x="287" y="309"/>
                  </a:lnTo>
                  <a:lnTo>
                    <a:pt x="306" y="309"/>
                  </a:lnTo>
                  <a:close/>
                </a:path>
              </a:pathLst>
            </a:custGeom>
            <a:solidFill>
              <a:srgbClr val="1F1A17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7" name="Freeform 116"/>
            <p:cNvSpPr>
              <a:spLocks noChangeArrowheads="1"/>
            </p:cNvSpPr>
            <p:nvPr/>
          </p:nvSpPr>
          <p:spPr bwMode="auto">
            <a:xfrm>
              <a:off x="3668" y="1735"/>
              <a:ext cx="281" cy="287"/>
            </a:xfrm>
            <a:custGeom>
              <a:avLst/>
              <a:gdLst>
                <a:gd name="T0" fmla="*/ 0 w 306"/>
                <a:gd name="T1" fmla="*/ 306 h 306"/>
                <a:gd name="T2" fmla="*/ 0 w 306"/>
                <a:gd name="T3" fmla="*/ 306 h 306"/>
                <a:gd name="T4" fmla="*/ 31 w 306"/>
                <a:gd name="T5" fmla="*/ 303 h 306"/>
                <a:gd name="T6" fmla="*/ 59 w 306"/>
                <a:gd name="T7" fmla="*/ 300 h 306"/>
                <a:gd name="T8" fmla="*/ 91 w 306"/>
                <a:gd name="T9" fmla="*/ 294 h 306"/>
                <a:gd name="T10" fmla="*/ 119 w 306"/>
                <a:gd name="T11" fmla="*/ 281 h 306"/>
                <a:gd name="T12" fmla="*/ 147 w 306"/>
                <a:gd name="T13" fmla="*/ 269 h 306"/>
                <a:gd name="T14" fmla="*/ 172 w 306"/>
                <a:gd name="T15" fmla="*/ 253 h 306"/>
                <a:gd name="T16" fmla="*/ 194 w 306"/>
                <a:gd name="T17" fmla="*/ 234 h 306"/>
                <a:gd name="T18" fmla="*/ 215 w 306"/>
                <a:gd name="T19" fmla="*/ 216 h 306"/>
                <a:gd name="T20" fmla="*/ 237 w 306"/>
                <a:gd name="T21" fmla="*/ 194 h 306"/>
                <a:gd name="T22" fmla="*/ 253 w 306"/>
                <a:gd name="T23" fmla="*/ 169 h 306"/>
                <a:gd name="T24" fmla="*/ 268 w 306"/>
                <a:gd name="T25" fmla="*/ 144 h 306"/>
                <a:gd name="T26" fmla="*/ 281 w 306"/>
                <a:gd name="T27" fmla="*/ 119 h 306"/>
                <a:gd name="T28" fmla="*/ 293 w 306"/>
                <a:gd name="T29" fmla="*/ 91 h 306"/>
                <a:gd name="T30" fmla="*/ 300 w 306"/>
                <a:gd name="T31" fmla="*/ 59 h 306"/>
                <a:gd name="T32" fmla="*/ 306 w 306"/>
                <a:gd name="T33" fmla="*/ 31 h 306"/>
                <a:gd name="T34" fmla="*/ 306 w 306"/>
                <a:gd name="T35" fmla="*/ 0 h 306"/>
                <a:gd name="T36" fmla="*/ 287 w 306"/>
                <a:gd name="T37" fmla="*/ 0 h 306"/>
                <a:gd name="T38" fmla="*/ 287 w 306"/>
                <a:gd name="T39" fmla="*/ 28 h 306"/>
                <a:gd name="T40" fmla="*/ 281 w 306"/>
                <a:gd name="T41" fmla="*/ 56 h 306"/>
                <a:gd name="T42" fmla="*/ 275 w 306"/>
                <a:gd name="T43" fmla="*/ 84 h 306"/>
                <a:gd name="T44" fmla="*/ 265 w 306"/>
                <a:gd name="T45" fmla="*/ 109 h 306"/>
                <a:gd name="T46" fmla="*/ 253 w 306"/>
                <a:gd name="T47" fmla="*/ 138 h 306"/>
                <a:gd name="T48" fmla="*/ 237 w 306"/>
                <a:gd name="T49" fmla="*/ 159 h 306"/>
                <a:gd name="T50" fmla="*/ 222 w 306"/>
                <a:gd name="T51" fmla="*/ 181 h 306"/>
                <a:gd name="T52" fmla="*/ 203 w 306"/>
                <a:gd name="T53" fmla="*/ 203 h 306"/>
                <a:gd name="T54" fmla="*/ 181 w 306"/>
                <a:gd name="T55" fmla="*/ 222 h 306"/>
                <a:gd name="T56" fmla="*/ 159 w 306"/>
                <a:gd name="T57" fmla="*/ 237 h 306"/>
                <a:gd name="T58" fmla="*/ 137 w 306"/>
                <a:gd name="T59" fmla="*/ 253 h 306"/>
                <a:gd name="T60" fmla="*/ 112 w 306"/>
                <a:gd name="T61" fmla="*/ 265 h 306"/>
                <a:gd name="T62" fmla="*/ 84 w 306"/>
                <a:gd name="T63" fmla="*/ 275 h 306"/>
                <a:gd name="T64" fmla="*/ 56 w 306"/>
                <a:gd name="T65" fmla="*/ 281 h 306"/>
                <a:gd name="T66" fmla="*/ 28 w 306"/>
                <a:gd name="T67" fmla="*/ 287 h 306"/>
                <a:gd name="T68" fmla="*/ 0 w 306"/>
                <a:gd name="T69" fmla="*/ 287 h 306"/>
                <a:gd name="T70" fmla="*/ 0 w 306"/>
                <a:gd name="T71" fmla="*/ 287 h 306"/>
                <a:gd name="T72" fmla="*/ 0 w 306"/>
                <a:gd name="T73" fmla="*/ 30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6" h="306">
                  <a:moveTo>
                    <a:pt x="0" y="306"/>
                  </a:moveTo>
                  <a:lnTo>
                    <a:pt x="0" y="306"/>
                  </a:lnTo>
                  <a:lnTo>
                    <a:pt x="31" y="303"/>
                  </a:lnTo>
                  <a:lnTo>
                    <a:pt x="59" y="300"/>
                  </a:lnTo>
                  <a:lnTo>
                    <a:pt x="91" y="294"/>
                  </a:lnTo>
                  <a:lnTo>
                    <a:pt x="119" y="281"/>
                  </a:lnTo>
                  <a:lnTo>
                    <a:pt x="147" y="269"/>
                  </a:lnTo>
                  <a:lnTo>
                    <a:pt x="172" y="253"/>
                  </a:lnTo>
                  <a:lnTo>
                    <a:pt x="194" y="234"/>
                  </a:lnTo>
                  <a:lnTo>
                    <a:pt x="215" y="216"/>
                  </a:lnTo>
                  <a:lnTo>
                    <a:pt x="237" y="194"/>
                  </a:lnTo>
                  <a:lnTo>
                    <a:pt x="253" y="169"/>
                  </a:lnTo>
                  <a:lnTo>
                    <a:pt x="268" y="144"/>
                  </a:lnTo>
                  <a:lnTo>
                    <a:pt x="281" y="119"/>
                  </a:lnTo>
                  <a:lnTo>
                    <a:pt x="293" y="91"/>
                  </a:lnTo>
                  <a:lnTo>
                    <a:pt x="300" y="59"/>
                  </a:lnTo>
                  <a:lnTo>
                    <a:pt x="306" y="31"/>
                  </a:lnTo>
                  <a:lnTo>
                    <a:pt x="306" y="0"/>
                  </a:lnTo>
                  <a:lnTo>
                    <a:pt x="287" y="0"/>
                  </a:lnTo>
                  <a:lnTo>
                    <a:pt x="287" y="28"/>
                  </a:lnTo>
                  <a:lnTo>
                    <a:pt x="281" y="56"/>
                  </a:lnTo>
                  <a:lnTo>
                    <a:pt x="275" y="84"/>
                  </a:lnTo>
                  <a:lnTo>
                    <a:pt x="265" y="109"/>
                  </a:lnTo>
                  <a:lnTo>
                    <a:pt x="253" y="138"/>
                  </a:lnTo>
                  <a:lnTo>
                    <a:pt x="237" y="159"/>
                  </a:lnTo>
                  <a:lnTo>
                    <a:pt x="222" y="181"/>
                  </a:lnTo>
                  <a:lnTo>
                    <a:pt x="203" y="203"/>
                  </a:lnTo>
                  <a:lnTo>
                    <a:pt x="181" y="222"/>
                  </a:lnTo>
                  <a:lnTo>
                    <a:pt x="159" y="237"/>
                  </a:lnTo>
                  <a:lnTo>
                    <a:pt x="137" y="253"/>
                  </a:lnTo>
                  <a:lnTo>
                    <a:pt x="112" y="265"/>
                  </a:lnTo>
                  <a:lnTo>
                    <a:pt x="84" y="275"/>
                  </a:lnTo>
                  <a:lnTo>
                    <a:pt x="56" y="281"/>
                  </a:lnTo>
                  <a:lnTo>
                    <a:pt x="28" y="287"/>
                  </a:lnTo>
                  <a:lnTo>
                    <a:pt x="0" y="287"/>
                  </a:lnTo>
                  <a:lnTo>
                    <a:pt x="0" y="306"/>
                  </a:lnTo>
                  <a:close/>
                </a:path>
              </a:pathLst>
            </a:custGeom>
            <a:solidFill>
              <a:srgbClr val="1F1A17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8" name="Freeform 117"/>
            <p:cNvSpPr>
              <a:spLocks noChangeArrowheads="1"/>
            </p:cNvSpPr>
            <p:nvPr/>
          </p:nvSpPr>
          <p:spPr bwMode="auto">
            <a:xfrm>
              <a:off x="3385" y="1735"/>
              <a:ext cx="283" cy="287"/>
            </a:xfrm>
            <a:custGeom>
              <a:avLst/>
              <a:gdLst>
                <a:gd name="T0" fmla="*/ 0 w 309"/>
                <a:gd name="T1" fmla="*/ 0 h 306"/>
                <a:gd name="T2" fmla="*/ 0 w 309"/>
                <a:gd name="T3" fmla="*/ 0 h 306"/>
                <a:gd name="T4" fmla="*/ 3 w 309"/>
                <a:gd name="T5" fmla="*/ 31 h 306"/>
                <a:gd name="T6" fmla="*/ 7 w 309"/>
                <a:gd name="T7" fmla="*/ 59 h 306"/>
                <a:gd name="T8" fmla="*/ 16 w 309"/>
                <a:gd name="T9" fmla="*/ 91 h 306"/>
                <a:gd name="T10" fmla="*/ 25 w 309"/>
                <a:gd name="T11" fmla="*/ 119 h 306"/>
                <a:gd name="T12" fmla="*/ 38 w 309"/>
                <a:gd name="T13" fmla="*/ 144 h 306"/>
                <a:gd name="T14" fmla="*/ 53 w 309"/>
                <a:gd name="T15" fmla="*/ 169 h 306"/>
                <a:gd name="T16" fmla="*/ 72 w 309"/>
                <a:gd name="T17" fmla="*/ 194 h 306"/>
                <a:gd name="T18" fmla="*/ 91 w 309"/>
                <a:gd name="T19" fmla="*/ 216 h 306"/>
                <a:gd name="T20" fmla="*/ 113 w 309"/>
                <a:gd name="T21" fmla="*/ 234 h 306"/>
                <a:gd name="T22" fmla="*/ 138 w 309"/>
                <a:gd name="T23" fmla="*/ 253 h 306"/>
                <a:gd name="T24" fmla="*/ 163 w 309"/>
                <a:gd name="T25" fmla="*/ 269 h 306"/>
                <a:gd name="T26" fmla="*/ 187 w 309"/>
                <a:gd name="T27" fmla="*/ 281 h 306"/>
                <a:gd name="T28" fmla="*/ 216 w 309"/>
                <a:gd name="T29" fmla="*/ 294 h 306"/>
                <a:gd name="T30" fmla="*/ 247 w 309"/>
                <a:gd name="T31" fmla="*/ 300 h 306"/>
                <a:gd name="T32" fmla="*/ 278 w 309"/>
                <a:gd name="T33" fmla="*/ 303 h 306"/>
                <a:gd name="T34" fmla="*/ 309 w 309"/>
                <a:gd name="T35" fmla="*/ 306 h 306"/>
                <a:gd name="T36" fmla="*/ 309 w 309"/>
                <a:gd name="T37" fmla="*/ 287 h 306"/>
                <a:gd name="T38" fmla="*/ 278 w 309"/>
                <a:gd name="T39" fmla="*/ 287 h 306"/>
                <a:gd name="T40" fmla="*/ 250 w 309"/>
                <a:gd name="T41" fmla="*/ 281 h 306"/>
                <a:gd name="T42" fmla="*/ 222 w 309"/>
                <a:gd name="T43" fmla="*/ 275 h 306"/>
                <a:gd name="T44" fmla="*/ 197 w 309"/>
                <a:gd name="T45" fmla="*/ 265 h 306"/>
                <a:gd name="T46" fmla="*/ 172 w 309"/>
                <a:gd name="T47" fmla="*/ 253 h 306"/>
                <a:gd name="T48" fmla="*/ 147 w 309"/>
                <a:gd name="T49" fmla="*/ 237 h 306"/>
                <a:gd name="T50" fmla="*/ 125 w 309"/>
                <a:gd name="T51" fmla="*/ 222 h 306"/>
                <a:gd name="T52" fmla="*/ 103 w 309"/>
                <a:gd name="T53" fmla="*/ 203 h 306"/>
                <a:gd name="T54" fmla="*/ 85 w 309"/>
                <a:gd name="T55" fmla="*/ 181 h 306"/>
                <a:gd name="T56" fmla="*/ 69 w 309"/>
                <a:gd name="T57" fmla="*/ 159 h 306"/>
                <a:gd name="T58" fmla="*/ 53 w 309"/>
                <a:gd name="T59" fmla="*/ 138 h 306"/>
                <a:gd name="T60" fmla="*/ 41 w 309"/>
                <a:gd name="T61" fmla="*/ 109 h 306"/>
                <a:gd name="T62" fmla="*/ 31 w 309"/>
                <a:gd name="T63" fmla="*/ 84 h 306"/>
                <a:gd name="T64" fmla="*/ 25 w 309"/>
                <a:gd name="T65" fmla="*/ 56 h 306"/>
                <a:gd name="T66" fmla="*/ 22 w 309"/>
                <a:gd name="T67" fmla="*/ 28 h 306"/>
                <a:gd name="T68" fmla="*/ 19 w 309"/>
                <a:gd name="T69" fmla="*/ 0 h 306"/>
                <a:gd name="T70" fmla="*/ 19 w 309"/>
                <a:gd name="T71" fmla="*/ 0 h 306"/>
                <a:gd name="T72" fmla="*/ 0 w 309"/>
                <a:gd name="T73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9" h="306">
                  <a:moveTo>
                    <a:pt x="0" y="0"/>
                  </a:moveTo>
                  <a:lnTo>
                    <a:pt x="0" y="0"/>
                  </a:lnTo>
                  <a:lnTo>
                    <a:pt x="3" y="31"/>
                  </a:lnTo>
                  <a:lnTo>
                    <a:pt x="7" y="59"/>
                  </a:lnTo>
                  <a:lnTo>
                    <a:pt x="16" y="91"/>
                  </a:lnTo>
                  <a:lnTo>
                    <a:pt x="25" y="119"/>
                  </a:lnTo>
                  <a:lnTo>
                    <a:pt x="38" y="144"/>
                  </a:lnTo>
                  <a:lnTo>
                    <a:pt x="53" y="169"/>
                  </a:lnTo>
                  <a:lnTo>
                    <a:pt x="72" y="194"/>
                  </a:lnTo>
                  <a:lnTo>
                    <a:pt x="91" y="216"/>
                  </a:lnTo>
                  <a:lnTo>
                    <a:pt x="113" y="234"/>
                  </a:lnTo>
                  <a:lnTo>
                    <a:pt x="138" y="253"/>
                  </a:lnTo>
                  <a:lnTo>
                    <a:pt x="163" y="269"/>
                  </a:lnTo>
                  <a:lnTo>
                    <a:pt x="187" y="281"/>
                  </a:lnTo>
                  <a:lnTo>
                    <a:pt x="216" y="294"/>
                  </a:lnTo>
                  <a:lnTo>
                    <a:pt x="247" y="300"/>
                  </a:lnTo>
                  <a:lnTo>
                    <a:pt x="278" y="303"/>
                  </a:lnTo>
                  <a:lnTo>
                    <a:pt x="309" y="306"/>
                  </a:lnTo>
                  <a:lnTo>
                    <a:pt x="309" y="287"/>
                  </a:lnTo>
                  <a:lnTo>
                    <a:pt x="278" y="287"/>
                  </a:lnTo>
                  <a:lnTo>
                    <a:pt x="250" y="281"/>
                  </a:lnTo>
                  <a:lnTo>
                    <a:pt x="222" y="275"/>
                  </a:lnTo>
                  <a:lnTo>
                    <a:pt x="197" y="265"/>
                  </a:lnTo>
                  <a:lnTo>
                    <a:pt x="172" y="253"/>
                  </a:lnTo>
                  <a:lnTo>
                    <a:pt x="147" y="237"/>
                  </a:lnTo>
                  <a:lnTo>
                    <a:pt x="125" y="222"/>
                  </a:lnTo>
                  <a:lnTo>
                    <a:pt x="103" y="203"/>
                  </a:lnTo>
                  <a:lnTo>
                    <a:pt x="85" y="181"/>
                  </a:lnTo>
                  <a:lnTo>
                    <a:pt x="69" y="159"/>
                  </a:lnTo>
                  <a:lnTo>
                    <a:pt x="53" y="138"/>
                  </a:lnTo>
                  <a:lnTo>
                    <a:pt x="41" y="109"/>
                  </a:lnTo>
                  <a:lnTo>
                    <a:pt x="31" y="84"/>
                  </a:lnTo>
                  <a:lnTo>
                    <a:pt x="25" y="56"/>
                  </a:lnTo>
                  <a:lnTo>
                    <a:pt x="22" y="28"/>
                  </a:lnTo>
                  <a:lnTo>
                    <a:pt x="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9" name="Freeform 118"/>
            <p:cNvSpPr>
              <a:spLocks noChangeArrowheads="1"/>
            </p:cNvSpPr>
            <p:nvPr/>
          </p:nvSpPr>
          <p:spPr bwMode="auto">
            <a:xfrm>
              <a:off x="3385" y="1446"/>
              <a:ext cx="283" cy="289"/>
            </a:xfrm>
            <a:custGeom>
              <a:avLst/>
              <a:gdLst>
                <a:gd name="T0" fmla="*/ 309 w 309"/>
                <a:gd name="T1" fmla="*/ 0 h 309"/>
                <a:gd name="T2" fmla="*/ 309 w 309"/>
                <a:gd name="T3" fmla="*/ 0 h 309"/>
                <a:gd name="T4" fmla="*/ 278 w 309"/>
                <a:gd name="T5" fmla="*/ 3 h 309"/>
                <a:gd name="T6" fmla="*/ 247 w 309"/>
                <a:gd name="T7" fmla="*/ 6 h 309"/>
                <a:gd name="T8" fmla="*/ 216 w 309"/>
                <a:gd name="T9" fmla="*/ 16 h 309"/>
                <a:gd name="T10" fmla="*/ 187 w 309"/>
                <a:gd name="T11" fmla="*/ 25 h 309"/>
                <a:gd name="T12" fmla="*/ 163 w 309"/>
                <a:gd name="T13" fmla="*/ 38 h 309"/>
                <a:gd name="T14" fmla="*/ 138 w 309"/>
                <a:gd name="T15" fmla="*/ 53 h 309"/>
                <a:gd name="T16" fmla="*/ 113 w 309"/>
                <a:gd name="T17" fmla="*/ 72 h 309"/>
                <a:gd name="T18" fmla="*/ 91 w 309"/>
                <a:gd name="T19" fmla="*/ 91 h 309"/>
                <a:gd name="T20" fmla="*/ 72 w 309"/>
                <a:gd name="T21" fmla="*/ 112 h 309"/>
                <a:gd name="T22" fmla="*/ 53 w 309"/>
                <a:gd name="T23" fmla="*/ 137 h 309"/>
                <a:gd name="T24" fmla="*/ 38 w 309"/>
                <a:gd name="T25" fmla="*/ 162 h 309"/>
                <a:gd name="T26" fmla="*/ 25 w 309"/>
                <a:gd name="T27" fmla="*/ 187 h 309"/>
                <a:gd name="T28" fmla="*/ 16 w 309"/>
                <a:gd name="T29" fmla="*/ 215 h 309"/>
                <a:gd name="T30" fmla="*/ 7 w 309"/>
                <a:gd name="T31" fmla="*/ 247 h 309"/>
                <a:gd name="T32" fmla="*/ 3 w 309"/>
                <a:gd name="T33" fmla="*/ 275 h 309"/>
                <a:gd name="T34" fmla="*/ 0 w 309"/>
                <a:gd name="T35" fmla="*/ 309 h 309"/>
                <a:gd name="T36" fmla="*/ 19 w 309"/>
                <a:gd name="T37" fmla="*/ 309 h 309"/>
                <a:gd name="T38" fmla="*/ 22 w 309"/>
                <a:gd name="T39" fmla="*/ 278 h 309"/>
                <a:gd name="T40" fmla="*/ 25 w 309"/>
                <a:gd name="T41" fmla="*/ 250 h 309"/>
                <a:gd name="T42" fmla="*/ 31 w 309"/>
                <a:gd name="T43" fmla="*/ 222 h 309"/>
                <a:gd name="T44" fmla="*/ 41 w 309"/>
                <a:gd name="T45" fmla="*/ 197 h 309"/>
                <a:gd name="T46" fmla="*/ 53 w 309"/>
                <a:gd name="T47" fmla="*/ 169 h 309"/>
                <a:gd name="T48" fmla="*/ 69 w 309"/>
                <a:gd name="T49" fmla="*/ 147 h 309"/>
                <a:gd name="T50" fmla="*/ 85 w 309"/>
                <a:gd name="T51" fmla="*/ 125 h 309"/>
                <a:gd name="T52" fmla="*/ 103 w 309"/>
                <a:gd name="T53" fmla="*/ 103 h 309"/>
                <a:gd name="T54" fmla="*/ 125 w 309"/>
                <a:gd name="T55" fmla="*/ 84 h 309"/>
                <a:gd name="T56" fmla="*/ 147 w 309"/>
                <a:gd name="T57" fmla="*/ 69 h 309"/>
                <a:gd name="T58" fmla="*/ 172 w 309"/>
                <a:gd name="T59" fmla="*/ 53 h 309"/>
                <a:gd name="T60" fmla="*/ 197 w 309"/>
                <a:gd name="T61" fmla="*/ 41 h 309"/>
                <a:gd name="T62" fmla="*/ 222 w 309"/>
                <a:gd name="T63" fmla="*/ 31 h 309"/>
                <a:gd name="T64" fmla="*/ 250 w 309"/>
                <a:gd name="T65" fmla="*/ 25 h 309"/>
                <a:gd name="T66" fmla="*/ 278 w 309"/>
                <a:gd name="T67" fmla="*/ 19 h 309"/>
                <a:gd name="T68" fmla="*/ 309 w 309"/>
                <a:gd name="T69" fmla="*/ 19 h 309"/>
                <a:gd name="T70" fmla="*/ 309 w 309"/>
                <a:gd name="T71" fmla="*/ 19 h 309"/>
                <a:gd name="T72" fmla="*/ 309 w 309"/>
                <a:gd name="T73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9" h="309">
                  <a:moveTo>
                    <a:pt x="309" y="0"/>
                  </a:moveTo>
                  <a:lnTo>
                    <a:pt x="309" y="0"/>
                  </a:lnTo>
                  <a:lnTo>
                    <a:pt x="278" y="3"/>
                  </a:lnTo>
                  <a:lnTo>
                    <a:pt x="247" y="6"/>
                  </a:lnTo>
                  <a:lnTo>
                    <a:pt x="216" y="16"/>
                  </a:lnTo>
                  <a:lnTo>
                    <a:pt x="187" y="25"/>
                  </a:lnTo>
                  <a:lnTo>
                    <a:pt x="163" y="38"/>
                  </a:lnTo>
                  <a:lnTo>
                    <a:pt x="138" y="53"/>
                  </a:lnTo>
                  <a:lnTo>
                    <a:pt x="113" y="72"/>
                  </a:lnTo>
                  <a:lnTo>
                    <a:pt x="91" y="91"/>
                  </a:lnTo>
                  <a:lnTo>
                    <a:pt x="72" y="112"/>
                  </a:lnTo>
                  <a:lnTo>
                    <a:pt x="53" y="137"/>
                  </a:lnTo>
                  <a:lnTo>
                    <a:pt x="38" y="162"/>
                  </a:lnTo>
                  <a:lnTo>
                    <a:pt x="25" y="187"/>
                  </a:lnTo>
                  <a:lnTo>
                    <a:pt x="16" y="215"/>
                  </a:lnTo>
                  <a:lnTo>
                    <a:pt x="7" y="247"/>
                  </a:lnTo>
                  <a:lnTo>
                    <a:pt x="3" y="275"/>
                  </a:lnTo>
                  <a:lnTo>
                    <a:pt x="0" y="309"/>
                  </a:lnTo>
                  <a:lnTo>
                    <a:pt x="19" y="309"/>
                  </a:lnTo>
                  <a:lnTo>
                    <a:pt x="22" y="278"/>
                  </a:lnTo>
                  <a:lnTo>
                    <a:pt x="25" y="250"/>
                  </a:lnTo>
                  <a:lnTo>
                    <a:pt x="31" y="222"/>
                  </a:lnTo>
                  <a:lnTo>
                    <a:pt x="41" y="197"/>
                  </a:lnTo>
                  <a:lnTo>
                    <a:pt x="53" y="169"/>
                  </a:lnTo>
                  <a:lnTo>
                    <a:pt x="69" y="147"/>
                  </a:lnTo>
                  <a:lnTo>
                    <a:pt x="85" y="125"/>
                  </a:lnTo>
                  <a:lnTo>
                    <a:pt x="103" y="103"/>
                  </a:lnTo>
                  <a:lnTo>
                    <a:pt x="125" y="84"/>
                  </a:lnTo>
                  <a:lnTo>
                    <a:pt x="147" y="69"/>
                  </a:lnTo>
                  <a:lnTo>
                    <a:pt x="172" y="53"/>
                  </a:lnTo>
                  <a:lnTo>
                    <a:pt x="197" y="41"/>
                  </a:lnTo>
                  <a:lnTo>
                    <a:pt x="222" y="31"/>
                  </a:lnTo>
                  <a:lnTo>
                    <a:pt x="250" y="25"/>
                  </a:lnTo>
                  <a:lnTo>
                    <a:pt x="278" y="19"/>
                  </a:lnTo>
                  <a:lnTo>
                    <a:pt x="309" y="19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1F1A17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0" name="Line 119"/>
            <p:cNvSpPr>
              <a:spLocks noChangeShapeType="1"/>
            </p:cNvSpPr>
            <p:nvPr/>
          </p:nvSpPr>
          <p:spPr bwMode="auto">
            <a:xfrm>
              <a:off x="3144" y="1730"/>
              <a:ext cx="11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" name="Line 120"/>
            <p:cNvSpPr>
              <a:spLocks noChangeShapeType="1"/>
            </p:cNvSpPr>
            <p:nvPr/>
          </p:nvSpPr>
          <p:spPr bwMode="auto">
            <a:xfrm>
              <a:off x="3672" y="1184"/>
              <a:ext cx="0" cy="11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2" name="Freeform 124"/>
          <p:cNvSpPr>
            <a:spLocks noChangeArrowheads="1"/>
          </p:cNvSpPr>
          <p:nvPr/>
        </p:nvSpPr>
        <p:spPr bwMode="auto">
          <a:xfrm>
            <a:off x="3008169" y="4461019"/>
            <a:ext cx="866775" cy="228600"/>
          </a:xfrm>
          <a:custGeom>
            <a:avLst/>
            <a:gdLst>
              <a:gd name="T0" fmla="*/ 0 w 596"/>
              <a:gd name="T1" fmla="*/ 0 h 153"/>
              <a:gd name="T2" fmla="*/ 375 w 596"/>
              <a:gd name="T3" fmla="*/ 0 h 153"/>
              <a:gd name="T4" fmla="*/ 596 w 596"/>
              <a:gd name="T5" fmla="*/ 153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96" h="153">
                <a:moveTo>
                  <a:pt x="0" y="0"/>
                </a:moveTo>
                <a:lnTo>
                  <a:pt x="375" y="0"/>
                </a:lnTo>
                <a:lnTo>
                  <a:pt x="596" y="153"/>
                </a:lnTo>
              </a:path>
            </a:pathLst>
          </a:custGeom>
          <a:noFill/>
          <a:ln w="317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endParaRPr lang="zh-CN" altLang="en-US"/>
          </a:p>
        </p:txBody>
      </p:sp>
      <p:sp>
        <p:nvSpPr>
          <p:cNvPr id="123" name="Rectangle 125"/>
          <p:cNvSpPr>
            <a:spLocks noChangeArrowheads="1"/>
          </p:cNvSpPr>
          <p:nvPr/>
        </p:nvSpPr>
        <p:spPr bwMode="auto">
          <a:xfrm>
            <a:off x="2785918" y="4110181"/>
            <a:ext cx="914400" cy="317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0" hangingPunct="0"/>
            <a:r>
              <a:rPr lang="zh-CN" altLang="en-US" sz="1800">
                <a:solidFill>
                  <a:srgbClr val="FF010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断面图</a:t>
            </a:r>
          </a:p>
        </p:txBody>
      </p:sp>
      <p:sp>
        <p:nvSpPr>
          <p:cNvPr id="124" name="Rectangle 126"/>
          <p:cNvSpPr>
            <a:spLocks noChangeArrowheads="1"/>
          </p:cNvSpPr>
          <p:nvPr/>
        </p:nvSpPr>
        <p:spPr bwMode="auto">
          <a:xfrm>
            <a:off x="5606906" y="1990869"/>
            <a:ext cx="977900" cy="317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0" hangingPunct="0"/>
            <a:r>
              <a:rPr lang="zh-CN" altLang="en-US" sz="1800">
                <a:solidFill>
                  <a:schemeClr val="hlink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剖视图</a:t>
            </a:r>
          </a:p>
        </p:txBody>
      </p:sp>
      <p:sp>
        <p:nvSpPr>
          <p:cNvPr id="125" name="Rectangle 127"/>
          <p:cNvSpPr>
            <a:spLocks noChangeArrowheads="1"/>
          </p:cNvSpPr>
          <p:nvPr/>
        </p:nvSpPr>
        <p:spPr bwMode="auto">
          <a:xfrm>
            <a:off x="2839893" y="2005156"/>
            <a:ext cx="1003300" cy="317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0" hangingPunct="0"/>
            <a:r>
              <a:rPr lang="zh-CN" altLang="en-US" sz="1800" dirty="0">
                <a:solidFill>
                  <a:schemeClr val="hlink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剖切符号</a:t>
            </a:r>
          </a:p>
        </p:txBody>
      </p:sp>
      <p:sp>
        <p:nvSpPr>
          <p:cNvPr id="126" name="Rectangle 128"/>
          <p:cNvSpPr>
            <a:spLocks noChangeArrowheads="1"/>
          </p:cNvSpPr>
          <p:nvPr/>
        </p:nvSpPr>
        <p:spPr bwMode="auto">
          <a:xfrm>
            <a:off x="2789093" y="2411556"/>
            <a:ext cx="990600" cy="317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0" hangingPunct="0"/>
            <a:r>
              <a:rPr lang="zh-CN" altLang="en-US" sz="1800">
                <a:solidFill>
                  <a:schemeClr val="hlink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剖切线</a:t>
            </a:r>
          </a:p>
        </p:txBody>
      </p:sp>
      <p:grpSp>
        <p:nvGrpSpPr>
          <p:cNvPr id="127" name="Group 129"/>
          <p:cNvGrpSpPr>
            <a:grpSpLocks/>
          </p:cNvGrpSpPr>
          <p:nvPr/>
        </p:nvGrpSpPr>
        <p:grpSpPr bwMode="auto">
          <a:xfrm>
            <a:off x="3573318" y="4427681"/>
            <a:ext cx="1219200" cy="1219200"/>
            <a:chOff x="1512" y="2336"/>
            <a:chExt cx="768" cy="768"/>
          </a:xfrm>
        </p:grpSpPr>
        <p:sp>
          <p:nvSpPr>
            <p:cNvPr id="128" name="Freeform 130"/>
            <p:cNvSpPr>
              <a:spLocks noChangeArrowheads="1"/>
            </p:cNvSpPr>
            <p:nvPr/>
          </p:nvSpPr>
          <p:spPr bwMode="auto">
            <a:xfrm>
              <a:off x="1897" y="2400"/>
              <a:ext cx="263" cy="196"/>
            </a:xfrm>
            <a:custGeom>
              <a:avLst/>
              <a:gdLst>
                <a:gd name="T0" fmla="*/ 0 w 287"/>
                <a:gd name="T1" fmla="*/ 19 h 209"/>
                <a:gd name="T2" fmla="*/ 0 w 287"/>
                <a:gd name="T3" fmla="*/ 19 h 209"/>
                <a:gd name="T4" fmla="*/ 25 w 287"/>
                <a:gd name="T5" fmla="*/ 19 h 209"/>
                <a:gd name="T6" fmla="*/ 47 w 287"/>
                <a:gd name="T7" fmla="*/ 22 h 209"/>
                <a:gd name="T8" fmla="*/ 69 w 287"/>
                <a:gd name="T9" fmla="*/ 25 h 209"/>
                <a:gd name="T10" fmla="*/ 87 w 287"/>
                <a:gd name="T11" fmla="*/ 31 h 209"/>
                <a:gd name="T12" fmla="*/ 109 w 287"/>
                <a:gd name="T13" fmla="*/ 40 h 209"/>
                <a:gd name="T14" fmla="*/ 128 w 287"/>
                <a:gd name="T15" fmla="*/ 50 h 209"/>
                <a:gd name="T16" fmla="*/ 147 w 287"/>
                <a:gd name="T17" fmla="*/ 59 h 209"/>
                <a:gd name="T18" fmla="*/ 165 w 287"/>
                <a:gd name="T19" fmla="*/ 72 h 209"/>
                <a:gd name="T20" fmla="*/ 184 w 287"/>
                <a:gd name="T21" fmla="*/ 84 h 209"/>
                <a:gd name="T22" fmla="*/ 200 w 287"/>
                <a:gd name="T23" fmla="*/ 100 h 209"/>
                <a:gd name="T24" fmla="*/ 215 w 287"/>
                <a:gd name="T25" fmla="*/ 115 h 209"/>
                <a:gd name="T26" fmla="*/ 228 w 287"/>
                <a:gd name="T27" fmla="*/ 131 h 209"/>
                <a:gd name="T28" fmla="*/ 240 w 287"/>
                <a:gd name="T29" fmla="*/ 150 h 209"/>
                <a:gd name="T30" fmla="*/ 253 w 287"/>
                <a:gd name="T31" fmla="*/ 168 h 209"/>
                <a:gd name="T32" fmla="*/ 262 w 287"/>
                <a:gd name="T33" fmla="*/ 187 h 209"/>
                <a:gd name="T34" fmla="*/ 271 w 287"/>
                <a:gd name="T35" fmla="*/ 209 h 209"/>
                <a:gd name="T36" fmla="*/ 287 w 287"/>
                <a:gd name="T37" fmla="*/ 203 h 209"/>
                <a:gd name="T38" fmla="*/ 278 w 287"/>
                <a:gd name="T39" fmla="*/ 181 h 209"/>
                <a:gd name="T40" fmla="*/ 268 w 287"/>
                <a:gd name="T41" fmla="*/ 159 h 209"/>
                <a:gd name="T42" fmla="*/ 256 w 287"/>
                <a:gd name="T43" fmla="*/ 140 h 209"/>
                <a:gd name="T44" fmla="*/ 243 w 287"/>
                <a:gd name="T45" fmla="*/ 122 h 209"/>
                <a:gd name="T46" fmla="*/ 228 w 287"/>
                <a:gd name="T47" fmla="*/ 103 h 209"/>
                <a:gd name="T48" fmla="*/ 212 w 287"/>
                <a:gd name="T49" fmla="*/ 84 h 209"/>
                <a:gd name="T50" fmla="*/ 197 w 287"/>
                <a:gd name="T51" fmla="*/ 72 h 209"/>
                <a:gd name="T52" fmla="*/ 178 w 287"/>
                <a:gd name="T53" fmla="*/ 56 h 209"/>
                <a:gd name="T54" fmla="*/ 159 w 287"/>
                <a:gd name="T55" fmla="*/ 44 h 209"/>
                <a:gd name="T56" fmla="*/ 137 w 287"/>
                <a:gd name="T57" fmla="*/ 31 h 209"/>
                <a:gd name="T58" fmla="*/ 115 w 287"/>
                <a:gd name="T59" fmla="*/ 22 h 209"/>
                <a:gd name="T60" fmla="*/ 94 w 287"/>
                <a:gd name="T61" fmla="*/ 15 h 209"/>
                <a:gd name="T62" fmla="*/ 72 w 287"/>
                <a:gd name="T63" fmla="*/ 9 h 209"/>
                <a:gd name="T64" fmla="*/ 50 w 287"/>
                <a:gd name="T65" fmla="*/ 3 h 209"/>
                <a:gd name="T66" fmla="*/ 25 w 287"/>
                <a:gd name="T67" fmla="*/ 0 h 209"/>
                <a:gd name="T68" fmla="*/ 0 w 287"/>
                <a:gd name="T69" fmla="*/ 0 h 209"/>
                <a:gd name="T70" fmla="*/ 0 w 287"/>
                <a:gd name="T71" fmla="*/ 0 h 209"/>
                <a:gd name="T72" fmla="*/ 0 w 287"/>
                <a:gd name="T73" fmla="*/ 1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7" h="209">
                  <a:moveTo>
                    <a:pt x="0" y="19"/>
                  </a:moveTo>
                  <a:lnTo>
                    <a:pt x="0" y="19"/>
                  </a:lnTo>
                  <a:lnTo>
                    <a:pt x="25" y="19"/>
                  </a:lnTo>
                  <a:lnTo>
                    <a:pt x="47" y="22"/>
                  </a:lnTo>
                  <a:lnTo>
                    <a:pt x="69" y="25"/>
                  </a:lnTo>
                  <a:lnTo>
                    <a:pt x="87" y="31"/>
                  </a:lnTo>
                  <a:lnTo>
                    <a:pt x="109" y="40"/>
                  </a:lnTo>
                  <a:lnTo>
                    <a:pt x="128" y="50"/>
                  </a:lnTo>
                  <a:lnTo>
                    <a:pt x="147" y="59"/>
                  </a:lnTo>
                  <a:lnTo>
                    <a:pt x="165" y="72"/>
                  </a:lnTo>
                  <a:lnTo>
                    <a:pt x="184" y="84"/>
                  </a:lnTo>
                  <a:lnTo>
                    <a:pt x="200" y="100"/>
                  </a:lnTo>
                  <a:lnTo>
                    <a:pt x="215" y="115"/>
                  </a:lnTo>
                  <a:lnTo>
                    <a:pt x="228" y="131"/>
                  </a:lnTo>
                  <a:lnTo>
                    <a:pt x="240" y="150"/>
                  </a:lnTo>
                  <a:lnTo>
                    <a:pt x="253" y="168"/>
                  </a:lnTo>
                  <a:lnTo>
                    <a:pt x="262" y="187"/>
                  </a:lnTo>
                  <a:lnTo>
                    <a:pt x="271" y="209"/>
                  </a:lnTo>
                  <a:lnTo>
                    <a:pt x="287" y="203"/>
                  </a:lnTo>
                  <a:lnTo>
                    <a:pt x="278" y="181"/>
                  </a:lnTo>
                  <a:lnTo>
                    <a:pt x="268" y="159"/>
                  </a:lnTo>
                  <a:lnTo>
                    <a:pt x="256" y="140"/>
                  </a:lnTo>
                  <a:lnTo>
                    <a:pt x="243" y="122"/>
                  </a:lnTo>
                  <a:lnTo>
                    <a:pt x="228" y="103"/>
                  </a:lnTo>
                  <a:lnTo>
                    <a:pt x="212" y="84"/>
                  </a:lnTo>
                  <a:lnTo>
                    <a:pt x="197" y="72"/>
                  </a:lnTo>
                  <a:lnTo>
                    <a:pt x="178" y="56"/>
                  </a:lnTo>
                  <a:lnTo>
                    <a:pt x="159" y="44"/>
                  </a:lnTo>
                  <a:lnTo>
                    <a:pt x="137" y="31"/>
                  </a:lnTo>
                  <a:lnTo>
                    <a:pt x="115" y="22"/>
                  </a:lnTo>
                  <a:lnTo>
                    <a:pt x="94" y="15"/>
                  </a:lnTo>
                  <a:lnTo>
                    <a:pt x="72" y="9"/>
                  </a:lnTo>
                  <a:lnTo>
                    <a:pt x="50" y="3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0000"/>
            </a:solidFill>
            <a:ln w="31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9" name="Freeform 131"/>
            <p:cNvSpPr>
              <a:spLocks noChangeArrowheads="1"/>
            </p:cNvSpPr>
            <p:nvPr/>
          </p:nvSpPr>
          <p:spPr bwMode="auto">
            <a:xfrm>
              <a:off x="1619" y="2400"/>
              <a:ext cx="278" cy="284"/>
            </a:xfrm>
            <a:custGeom>
              <a:avLst/>
              <a:gdLst>
                <a:gd name="T0" fmla="*/ 19 w 303"/>
                <a:gd name="T1" fmla="*/ 303 h 303"/>
                <a:gd name="T2" fmla="*/ 19 w 303"/>
                <a:gd name="T3" fmla="*/ 303 h 303"/>
                <a:gd name="T4" fmla="*/ 22 w 303"/>
                <a:gd name="T5" fmla="*/ 275 h 303"/>
                <a:gd name="T6" fmla="*/ 25 w 303"/>
                <a:gd name="T7" fmla="*/ 246 h 303"/>
                <a:gd name="T8" fmla="*/ 32 w 303"/>
                <a:gd name="T9" fmla="*/ 218 h 303"/>
                <a:gd name="T10" fmla="*/ 41 w 303"/>
                <a:gd name="T11" fmla="*/ 193 h 303"/>
                <a:gd name="T12" fmla="*/ 53 w 303"/>
                <a:gd name="T13" fmla="*/ 168 h 303"/>
                <a:gd name="T14" fmla="*/ 69 w 303"/>
                <a:gd name="T15" fmla="*/ 143 h 303"/>
                <a:gd name="T16" fmla="*/ 85 w 303"/>
                <a:gd name="T17" fmla="*/ 122 h 303"/>
                <a:gd name="T18" fmla="*/ 103 w 303"/>
                <a:gd name="T19" fmla="*/ 103 h 303"/>
                <a:gd name="T20" fmla="*/ 122 w 303"/>
                <a:gd name="T21" fmla="*/ 84 h 303"/>
                <a:gd name="T22" fmla="*/ 144 w 303"/>
                <a:gd name="T23" fmla="*/ 65 h 303"/>
                <a:gd name="T24" fmla="*/ 169 w 303"/>
                <a:gd name="T25" fmla="*/ 53 h 303"/>
                <a:gd name="T26" fmla="*/ 194 w 303"/>
                <a:gd name="T27" fmla="*/ 40 h 303"/>
                <a:gd name="T28" fmla="*/ 219 w 303"/>
                <a:gd name="T29" fmla="*/ 31 h 303"/>
                <a:gd name="T30" fmla="*/ 247 w 303"/>
                <a:gd name="T31" fmla="*/ 25 h 303"/>
                <a:gd name="T32" fmla="*/ 275 w 303"/>
                <a:gd name="T33" fmla="*/ 19 h 303"/>
                <a:gd name="T34" fmla="*/ 303 w 303"/>
                <a:gd name="T35" fmla="*/ 19 h 303"/>
                <a:gd name="T36" fmla="*/ 303 w 303"/>
                <a:gd name="T37" fmla="*/ 0 h 303"/>
                <a:gd name="T38" fmla="*/ 275 w 303"/>
                <a:gd name="T39" fmla="*/ 0 h 303"/>
                <a:gd name="T40" fmla="*/ 244 w 303"/>
                <a:gd name="T41" fmla="*/ 6 h 303"/>
                <a:gd name="T42" fmla="*/ 216 w 303"/>
                <a:gd name="T43" fmla="*/ 12 h 303"/>
                <a:gd name="T44" fmla="*/ 188 w 303"/>
                <a:gd name="T45" fmla="*/ 25 h 303"/>
                <a:gd name="T46" fmla="*/ 159 w 303"/>
                <a:gd name="T47" fmla="*/ 37 h 303"/>
                <a:gd name="T48" fmla="*/ 134 w 303"/>
                <a:gd name="T49" fmla="*/ 53 h 303"/>
                <a:gd name="T50" fmla="*/ 113 w 303"/>
                <a:gd name="T51" fmla="*/ 68 h 303"/>
                <a:gd name="T52" fmla="*/ 91 w 303"/>
                <a:gd name="T53" fmla="*/ 87 h 303"/>
                <a:gd name="T54" fmla="*/ 69 w 303"/>
                <a:gd name="T55" fmla="*/ 109 h 303"/>
                <a:gd name="T56" fmla="*/ 53 w 303"/>
                <a:gd name="T57" fmla="*/ 134 h 303"/>
                <a:gd name="T58" fmla="*/ 38 w 303"/>
                <a:gd name="T59" fmla="*/ 159 h 303"/>
                <a:gd name="T60" fmla="*/ 25 w 303"/>
                <a:gd name="T61" fmla="*/ 184 h 303"/>
                <a:gd name="T62" fmla="*/ 16 w 303"/>
                <a:gd name="T63" fmla="*/ 212 h 303"/>
                <a:gd name="T64" fmla="*/ 7 w 303"/>
                <a:gd name="T65" fmla="*/ 243 h 303"/>
                <a:gd name="T66" fmla="*/ 3 w 303"/>
                <a:gd name="T67" fmla="*/ 271 h 303"/>
                <a:gd name="T68" fmla="*/ 0 w 303"/>
                <a:gd name="T69" fmla="*/ 303 h 303"/>
                <a:gd name="T70" fmla="*/ 0 w 303"/>
                <a:gd name="T71" fmla="*/ 303 h 303"/>
                <a:gd name="T72" fmla="*/ 19 w 303"/>
                <a:gd name="T73" fmla="*/ 303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3" h="303">
                  <a:moveTo>
                    <a:pt x="19" y="303"/>
                  </a:moveTo>
                  <a:lnTo>
                    <a:pt x="19" y="303"/>
                  </a:lnTo>
                  <a:lnTo>
                    <a:pt x="22" y="275"/>
                  </a:lnTo>
                  <a:lnTo>
                    <a:pt x="25" y="246"/>
                  </a:lnTo>
                  <a:lnTo>
                    <a:pt x="32" y="218"/>
                  </a:lnTo>
                  <a:lnTo>
                    <a:pt x="41" y="193"/>
                  </a:lnTo>
                  <a:lnTo>
                    <a:pt x="53" y="168"/>
                  </a:lnTo>
                  <a:lnTo>
                    <a:pt x="69" y="143"/>
                  </a:lnTo>
                  <a:lnTo>
                    <a:pt x="85" y="122"/>
                  </a:lnTo>
                  <a:lnTo>
                    <a:pt x="103" y="103"/>
                  </a:lnTo>
                  <a:lnTo>
                    <a:pt x="122" y="84"/>
                  </a:lnTo>
                  <a:lnTo>
                    <a:pt x="144" y="65"/>
                  </a:lnTo>
                  <a:lnTo>
                    <a:pt x="169" y="53"/>
                  </a:lnTo>
                  <a:lnTo>
                    <a:pt x="194" y="40"/>
                  </a:lnTo>
                  <a:lnTo>
                    <a:pt x="219" y="31"/>
                  </a:lnTo>
                  <a:lnTo>
                    <a:pt x="247" y="25"/>
                  </a:lnTo>
                  <a:lnTo>
                    <a:pt x="275" y="19"/>
                  </a:lnTo>
                  <a:lnTo>
                    <a:pt x="303" y="19"/>
                  </a:lnTo>
                  <a:lnTo>
                    <a:pt x="303" y="0"/>
                  </a:lnTo>
                  <a:lnTo>
                    <a:pt x="275" y="0"/>
                  </a:lnTo>
                  <a:lnTo>
                    <a:pt x="244" y="6"/>
                  </a:lnTo>
                  <a:lnTo>
                    <a:pt x="216" y="12"/>
                  </a:lnTo>
                  <a:lnTo>
                    <a:pt x="188" y="25"/>
                  </a:lnTo>
                  <a:lnTo>
                    <a:pt x="159" y="37"/>
                  </a:lnTo>
                  <a:lnTo>
                    <a:pt x="134" y="53"/>
                  </a:lnTo>
                  <a:lnTo>
                    <a:pt x="113" y="68"/>
                  </a:lnTo>
                  <a:lnTo>
                    <a:pt x="91" y="87"/>
                  </a:lnTo>
                  <a:lnTo>
                    <a:pt x="69" y="109"/>
                  </a:lnTo>
                  <a:lnTo>
                    <a:pt x="53" y="134"/>
                  </a:lnTo>
                  <a:lnTo>
                    <a:pt x="38" y="159"/>
                  </a:lnTo>
                  <a:lnTo>
                    <a:pt x="25" y="184"/>
                  </a:lnTo>
                  <a:lnTo>
                    <a:pt x="16" y="212"/>
                  </a:lnTo>
                  <a:lnTo>
                    <a:pt x="7" y="243"/>
                  </a:lnTo>
                  <a:lnTo>
                    <a:pt x="3" y="271"/>
                  </a:lnTo>
                  <a:lnTo>
                    <a:pt x="0" y="303"/>
                  </a:lnTo>
                  <a:lnTo>
                    <a:pt x="19" y="303"/>
                  </a:lnTo>
                  <a:close/>
                </a:path>
              </a:pathLst>
            </a:custGeom>
            <a:solidFill>
              <a:srgbClr val="FF0000"/>
            </a:solidFill>
            <a:ln w="31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0" name="Freeform 132"/>
            <p:cNvSpPr>
              <a:spLocks noChangeArrowheads="1"/>
            </p:cNvSpPr>
            <p:nvPr/>
          </p:nvSpPr>
          <p:spPr bwMode="auto">
            <a:xfrm>
              <a:off x="1619" y="2684"/>
              <a:ext cx="278" cy="286"/>
            </a:xfrm>
            <a:custGeom>
              <a:avLst/>
              <a:gdLst>
                <a:gd name="T0" fmla="*/ 303 w 303"/>
                <a:gd name="T1" fmla="*/ 287 h 306"/>
                <a:gd name="T2" fmla="*/ 303 w 303"/>
                <a:gd name="T3" fmla="*/ 287 h 306"/>
                <a:gd name="T4" fmla="*/ 275 w 303"/>
                <a:gd name="T5" fmla="*/ 284 h 306"/>
                <a:gd name="T6" fmla="*/ 247 w 303"/>
                <a:gd name="T7" fmla="*/ 281 h 306"/>
                <a:gd name="T8" fmla="*/ 219 w 303"/>
                <a:gd name="T9" fmla="*/ 271 h 306"/>
                <a:gd name="T10" fmla="*/ 194 w 303"/>
                <a:gd name="T11" fmla="*/ 262 h 306"/>
                <a:gd name="T12" fmla="*/ 169 w 303"/>
                <a:gd name="T13" fmla="*/ 253 h 306"/>
                <a:gd name="T14" fmla="*/ 144 w 303"/>
                <a:gd name="T15" fmla="*/ 237 h 306"/>
                <a:gd name="T16" fmla="*/ 122 w 303"/>
                <a:gd name="T17" fmla="*/ 221 h 306"/>
                <a:gd name="T18" fmla="*/ 103 w 303"/>
                <a:gd name="T19" fmla="*/ 203 h 306"/>
                <a:gd name="T20" fmla="*/ 85 w 303"/>
                <a:gd name="T21" fmla="*/ 181 h 306"/>
                <a:gd name="T22" fmla="*/ 69 w 303"/>
                <a:gd name="T23" fmla="*/ 159 h 306"/>
                <a:gd name="T24" fmla="*/ 53 w 303"/>
                <a:gd name="T25" fmla="*/ 137 h 306"/>
                <a:gd name="T26" fmla="*/ 41 w 303"/>
                <a:gd name="T27" fmla="*/ 112 h 306"/>
                <a:gd name="T28" fmla="*/ 32 w 303"/>
                <a:gd name="T29" fmla="*/ 84 h 306"/>
                <a:gd name="T30" fmla="*/ 25 w 303"/>
                <a:gd name="T31" fmla="*/ 59 h 306"/>
                <a:gd name="T32" fmla="*/ 22 w 303"/>
                <a:gd name="T33" fmla="*/ 31 h 306"/>
                <a:gd name="T34" fmla="*/ 19 w 303"/>
                <a:gd name="T35" fmla="*/ 0 h 306"/>
                <a:gd name="T36" fmla="*/ 0 w 303"/>
                <a:gd name="T37" fmla="*/ 0 h 306"/>
                <a:gd name="T38" fmla="*/ 3 w 303"/>
                <a:gd name="T39" fmla="*/ 31 h 306"/>
                <a:gd name="T40" fmla="*/ 7 w 303"/>
                <a:gd name="T41" fmla="*/ 62 h 306"/>
                <a:gd name="T42" fmla="*/ 16 w 303"/>
                <a:gd name="T43" fmla="*/ 90 h 306"/>
                <a:gd name="T44" fmla="*/ 25 w 303"/>
                <a:gd name="T45" fmla="*/ 118 h 306"/>
                <a:gd name="T46" fmla="*/ 38 w 303"/>
                <a:gd name="T47" fmla="*/ 146 h 306"/>
                <a:gd name="T48" fmla="*/ 53 w 303"/>
                <a:gd name="T49" fmla="*/ 171 h 306"/>
                <a:gd name="T50" fmla="*/ 69 w 303"/>
                <a:gd name="T51" fmla="*/ 193 h 306"/>
                <a:gd name="T52" fmla="*/ 91 w 303"/>
                <a:gd name="T53" fmla="*/ 215 h 306"/>
                <a:gd name="T54" fmla="*/ 113 w 303"/>
                <a:gd name="T55" fmla="*/ 234 h 306"/>
                <a:gd name="T56" fmla="*/ 134 w 303"/>
                <a:gd name="T57" fmla="*/ 253 h 306"/>
                <a:gd name="T58" fmla="*/ 159 w 303"/>
                <a:gd name="T59" fmla="*/ 268 h 306"/>
                <a:gd name="T60" fmla="*/ 188 w 303"/>
                <a:gd name="T61" fmla="*/ 281 h 306"/>
                <a:gd name="T62" fmla="*/ 216 w 303"/>
                <a:gd name="T63" fmla="*/ 290 h 306"/>
                <a:gd name="T64" fmla="*/ 244 w 303"/>
                <a:gd name="T65" fmla="*/ 299 h 306"/>
                <a:gd name="T66" fmla="*/ 275 w 303"/>
                <a:gd name="T67" fmla="*/ 302 h 306"/>
                <a:gd name="T68" fmla="*/ 303 w 303"/>
                <a:gd name="T69" fmla="*/ 306 h 306"/>
                <a:gd name="T70" fmla="*/ 303 w 303"/>
                <a:gd name="T71" fmla="*/ 306 h 306"/>
                <a:gd name="T72" fmla="*/ 303 w 303"/>
                <a:gd name="T73" fmla="*/ 287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3" h="306">
                  <a:moveTo>
                    <a:pt x="303" y="287"/>
                  </a:moveTo>
                  <a:lnTo>
                    <a:pt x="303" y="287"/>
                  </a:lnTo>
                  <a:lnTo>
                    <a:pt x="275" y="284"/>
                  </a:lnTo>
                  <a:lnTo>
                    <a:pt x="247" y="281"/>
                  </a:lnTo>
                  <a:lnTo>
                    <a:pt x="219" y="271"/>
                  </a:lnTo>
                  <a:lnTo>
                    <a:pt x="194" y="262"/>
                  </a:lnTo>
                  <a:lnTo>
                    <a:pt x="169" y="253"/>
                  </a:lnTo>
                  <a:lnTo>
                    <a:pt x="144" y="237"/>
                  </a:lnTo>
                  <a:lnTo>
                    <a:pt x="122" y="221"/>
                  </a:lnTo>
                  <a:lnTo>
                    <a:pt x="103" y="203"/>
                  </a:lnTo>
                  <a:lnTo>
                    <a:pt x="85" y="181"/>
                  </a:lnTo>
                  <a:lnTo>
                    <a:pt x="69" y="159"/>
                  </a:lnTo>
                  <a:lnTo>
                    <a:pt x="53" y="137"/>
                  </a:lnTo>
                  <a:lnTo>
                    <a:pt x="41" y="112"/>
                  </a:lnTo>
                  <a:lnTo>
                    <a:pt x="32" y="84"/>
                  </a:lnTo>
                  <a:lnTo>
                    <a:pt x="25" y="59"/>
                  </a:lnTo>
                  <a:lnTo>
                    <a:pt x="22" y="31"/>
                  </a:lnTo>
                  <a:lnTo>
                    <a:pt x="19" y="0"/>
                  </a:lnTo>
                  <a:lnTo>
                    <a:pt x="0" y="0"/>
                  </a:lnTo>
                  <a:lnTo>
                    <a:pt x="3" y="31"/>
                  </a:lnTo>
                  <a:lnTo>
                    <a:pt x="7" y="62"/>
                  </a:lnTo>
                  <a:lnTo>
                    <a:pt x="16" y="90"/>
                  </a:lnTo>
                  <a:lnTo>
                    <a:pt x="25" y="118"/>
                  </a:lnTo>
                  <a:lnTo>
                    <a:pt x="38" y="146"/>
                  </a:lnTo>
                  <a:lnTo>
                    <a:pt x="53" y="171"/>
                  </a:lnTo>
                  <a:lnTo>
                    <a:pt x="69" y="193"/>
                  </a:lnTo>
                  <a:lnTo>
                    <a:pt x="91" y="215"/>
                  </a:lnTo>
                  <a:lnTo>
                    <a:pt x="113" y="234"/>
                  </a:lnTo>
                  <a:lnTo>
                    <a:pt x="134" y="253"/>
                  </a:lnTo>
                  <a:lnTo>
                    <a:pt x="159" y="268"/>
                  </a:lnTo>
                  <a:lnTo>
                    <a:pt x="188" y="281"/>
                  </a:lnTo>
                  <a:lnTo>
                    <a:pt x="216" y="290"/>
                  </a:lnTo>
                  <a:lnTo>
                    <a:pt x="244" y="299"/>
                  </a:lnTo>
                  <a:lnTo>
                    <a:pt x="275" y="302"/>
                  </a:lnTo>
                  <a:lnTo>
                    <a:pt x="303" y="306"/>
                  </a:lnTo>
                  <a:lnTo>
                    <a:pt x="303" y="287"/>
                  </a:lnTo>
                  <a:close/>
                </a:path>
              </a:pathLst>
            </a:custGeom>
            <a:solidFill>
              <a:srgbClr val="FF0000"/>
            </a:solidFill>
            <a:ln w="31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1" name="Freeform 133"/>
            <p:cNvSpPr>
              <a:spLocks noChangeArrowheads="1"/>
            </p:cNvSpPr>
            <p:nvPr/>
          </p:nvSpPr>
          <p:spPr bwMode="auto">
            <a:xfrm>
              <a:off x="1897" y="2774"/>
              <a:ext cx="263" cy="196"/>
            </a:xfrm>
            <a:custGeom>
              <a:avLst/>
              <a:gdLst>
                <a:gd name="T0" fmla="*/ 271 w 287"/>
                <a:gd name="T1" fmla="*/ 0 h 210"/>
                <a:gd name="T2" fmla="*/ 262 w 287"/>
                <a:gd name="T3" fmla="*/ 19 h 210"/>
                <a:gd name="T4" fmla="*/ 253 w 287"/>
                <a:gd name="T5" fmla="*/ 41 h 210"/>
                <a:gd name="T6" fmla="*/ 240 w 287"/>
                <a:gd name="T7" fmla="*/ 60 h 210"/>
                <a:gd name="T8" fmla="*/ 228 w 287"/>
                <a:gd name="T9" fmla="*/ 75 h 210"/>
                <a:gd name="T10" fmla="*/ 215 w 287"/>
                <a:gd name="T11" fmla="*/ 94 h 210"/>
                <a:gd name="T12" fmla="*/ 200 w 287"/>
                <a:gd name="T13" fmla="*/ 110 h 210"/>
                <a:gd name="T14" fmla="*/ 184 w 287"/>
                <a:gd name="T15" fmla="*/ 122 h 210"/>
                <a:gd name="T16" fmla="*/ 165 w 287"/>
                <a:gd name="T17" fmla="*/ 138 h 210"/>
                <a:gd name="T18" fmla="*/ 147 w 287"/>
                <a:gd name="T19" fmla="*/ 147 h 210"/>
                <a:gd name="T20" fmla="*/ 128 w 287"/>
                <a:gd name="T21" fmla="*/ 160 h 210"/>
                <a:gd name="T22" fmla="*/ 109 w 287"/>
                <a:gd name="T23" fmla="*/ 169 h 210"/>
                <a:gd name="T24" fmla="*/ 87 w 287"/>
                <a:gd name="T25" fmla="*/ 175 h 210"/>
                <a:gd name="T26" fmla="*/ 69 w 287"/>
                <a:gd name="T27" fmla="*/ 181 h 210"/>
                <a:gd name="T28" fmla="*/ 47 w 287"/>
                <a:gd name="T29" fmla="*/ 185 h 210"/>
                <a:gd name="T30" fmla="*/ 25 w 287"/>
                <a:gd name="T31" fmla="*/ 188 h 210"/>
                <a:gd name="T32" fmla="*/ 0 w 287"/>
                <a:gd name="T33" fmla="*/ 191 h 210"/>
                <a:gd name="T34" fmla="*/ 0 w 287"/>
                <a:gd name="T35" fmla="*/ 210 h 210"/>
                <a:gd name="T36" fmla="*/ 25 w 287"/>
                <a:gd name="T37" fmla="*/ 206 h 210"/>
                <a:gd name="T38" fmla="*/ 50 w 287"/>
                <a:gd name="T39" fmla="*/ 203 h 210"/>
                <a:gd name="T40" fmla="*/ 72 w 287"/>
                <a:gd name="T41" fmla="*/ 200 h 210"/>
                <a:gd name="T42" fmla="*/ 94 w 287"/>
                <a:gd name="T43" fmla="*/ 194 h 210"/>
                <a:gd name="T44" fmla="*/ 115 w 287"/>
                <a:gd name="T45" fmla="*/ 185 h 210"/>
                <a:gd name="T46" fmla="*/ 137 w 287"/>
                <a:gd name="T47" fmla="*/ 175 h 210"/>
                <a:gd name="T48" fmla="*/ 159 w 287"/>
                <a:gd name="T49" fmla="*/ 163 h 210"/>
                <a:gd name="T50" fmla="*/ 178 w 287"/>
                <a:gd name="T51" fmla="*/ 150 h 210"/>
                <a:gd name="T52" fmla="*/ 197 w 287"/>
                <a:gd name="T53" fmla="*/ 138 h 210"/>
                <a:gd name="T54" fmla="*/ 212 w 287"/>
                <a:gd name="T55" fmla="*/ 122 h 210"/>
                <a:gd name="T56" fmla="*/ 228 w 287"/>
                <a:gd name="T57" fmla="*/ 107 h 210"/>
                <a:gd name="T58" fmla="*/ 243 w 287"/>
                <a:gd name="T59" fmla="*/ 88 h 210"/>
                <a:gd name="T60" fmla="*/ 256 w 287"/>
                <a:gd name="T61" fmla="*/ 69 h 210"/>
                <a:gd name="T62" fmla="*/ 268 w 287"/>
                <a:gd name="T63" fmla="*/ 47 h 210"/>
                <a:gd name="T64" fmla="*/ 278 w 287"/>
                <a:gd name="T65" fmla="*/ 29 h 210"/>
                <a:gd name="T66" fmla="*/ 287 w 287"/>
                <a:gd name="T67" fmla="*/ 4 h 210"/>
                <a:gd name="T68" fmla="*/ 271 w 287"/>
                <a:gd name="T69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7" h="210">
                  <a:moveTo>
                    <a:pt x="271" y="0"/>
                  </a:moveTo>
                  <a:lnTo>
                    <a:pt x="262" y="19"/>
                  </a:lnTo>
                  <a:lnTo>
                    <a:pt x="253" y="41"/>
                  </a:lnTo>
                  <a:lnTo>
                    <a:pt x="240" y="60"/>
                  </a:lnTo>
                  <a:lnTo>
                    <a:pt x="228" y="75"/>
                  </a:lnTo>
                  <a:lnTo>
                    <a:pt x="215" y="94"/>
                  </a:lnTo>
                  <a:lnTo>
                    <a:pt x="200" y="110"/>
                  </a:lnTo>
                  <a:lnTo>
                    <a:pt x="184" y="122"/>
                  </a:lnTo>
                  <a:lnTo>
                    <a:pt x="165" y="138"/>
                  </a:lnTo>
                  <a:lnTo>
                    <a:pt x="147" y="147"/>
                  </a:lnTo>
                  <a:lnTo>
                    <a:pt x="128" y="160"/>
                  </a:lnTo>
                  <a:lnTo>
                    <a:pt x="109" y="169"/>
                  </a:lnTo>
                  <a:lnTo>
                    <a:pt x="87" y="175"/>
                  </a:lnTo>
                  <a:lnTo>
                    <a:pt x="69" y="181"/>
                  </a:lnTo>
                  <a:lnTo>
                    <a:pt x="47" y="185"/>
                  </a:lnTo>
                  <a:lnTo>
                    <a:pt x="25" y="188"/>
                  </a:lnTo>
                  <a:lnTo>
                    <a:pt x="0" y="191"/>
                  </a:lnTo>
                  <a:lnTo>
                    <a:pt x="0" y="210"/>
                  </a:lnTo>
                  <a:lnTo>
                    <a:pt x="25" y="206"/>
                  </a:lnTo>
                  <a:lnTo>
                    <a:pt x="50" y="203"/>
                  </a:lnTo>
                  <a:lnTo>
                    <a:pt x="72" y="200"/>
                  </a:lnTo>
                  <a:lnTo>
                    <a:pt x="94" y="194"/>
                  </a:lnTo>
                  <a:lnTo>
                    <a:pt x="115" y="185"/>
                  </a:lnTo>
                  <a:lnTo>
                    <a:pt x="137" y="175"/>
                  </a:lnTo>
                  <a:lnTo>
                    <a:pt x="159" y="163"/>
                  </a:lnTo>
                  <a:lnTo>
                    <a:pt x="178" y="150"/>
                  </a:lnTo>
                  <a:lnTo>
                    <a:pt x="197" y="138"/>
                  </a:lnTo>
                  <a:lnTo>
                    <a:pt x="212" y="122"/>
                  </a:lnTo>
                  <a:lnTo>
                    <a:pt x="228" y="107"/>
                  </a:lnTo>
                  <a:lnTo>
                    <a:pt x="243" y="88"/>
                  </a:lnTo>
                  <a:lnTo>
                    <a:pt x="256" y="69"/>
                  </a:lnTo>
                  <a:lnTo>
                    <a:pt x="268" y="47"/>
                  </a:lnTo>
                  <a:lnTo>
                    <a:pt x="278" y="29"/>
                  </a:lnTo>
                  <a:lnTo>
                    <a:pt x="287" y="4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FF0000"/>
            </a:solidFill>
            <a:ln w="31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2" name="Rectangle 134"/>
            <p:cNvSpPr>
              <a:spLocks noChangeArrowheads="1"/>
            </p:cNvSpPr>
            <p:nvPr/>
          </p:nvSpPr>
          <p:spPr bwMode="auto">
            <a:xfrm>
              <a:off x="2048" y="2593"/>
              <a:ext cx="15" cy="91"/>
            </a:xfrm>
            <a:prstGeom prst="rect">
              <a:avLst/>
            </a:prstGeom>
            <a:solidFill>
              <a:srgbClr val="FF0000"/>
            </a:solidFill>
            <a:ln w="317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3" name="Rectangle 135"/>
            <p:cNvSpPr>
              <a:spLocks noChangeArrowheads="1"/>
            </p:cNvSpPr>
            <p:nvPr/>
          </p:nvSpPr>
          <p:spPr bwMode="auto">
            <a:xfrm>
              <a:off x="2057" y="2583"/>
              <a:ext cx="95" cy="18"/>
            </a:xfrm>
            <a:prstGeom prst="rect">
              <a:avLst/>
            </a:prstGeom>
            <a:solidFill>
              <a:srgbClr val="FF0000"/>
            </a:solidFill>
            <a:ln w="317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4" name="Rectangle 136"/>
            <p:cNvSpPr>
              <a:spLocks noChangeArrowheads="1"/>
            </p:cNvSpPr>
            <p:nvPr/>
          </p:nvSpPr>
          <p:spPr bwMode="auto">
            <a:xfrm>
              <a:off x="2057" y="2768"/>
              <a:ext cx="95" cy="18"/>
            </a:xfrm>
            <a:prstGeom prst="rect">
              <a:avLst/>
            </a:prstGeom>
            <a:solidFill>
              <a:srgbClr val="FF0000"/>
            </a:solidFill>
            <a:ln w="317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5" name="Rectangle 137"/>
            <p:cNvSpPr>
              <a:spLocks noChangeArrowheads="1"/>
            </p:cNvSpPr>
            <p:nvPr/>
          </p:nvSpPr>
          <p:spPr bwMode="auto">
            <a:xfrm>
              <a:off x="2048" y="2684"/>
              <a:ext cx="15" cy="93"/>
            </a:xfrm>
            <a:prstGeom prst="rect">
              <a:avLst/>
            </a:prstGeom>
            <a:solidFill>
              <a:srgbClr val="FF0000"/>
            </a:solidFill>
            <a:ln w="317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6" name="Line 138"/>
            <p:cNvSpPr>
              <a:spLocks noChangeShapeType="1"/>
            </p:cNvSpPr>
            <p:nvPr/>
          </p:nvSpPr>
          <p:spPr bwMode="auto">
            <a:xfrm flipV="1">
              <a:off x="1994" y="2783"/>
              <a:ext cx="158" cy="157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" name="Line 139"/>
            <p:cNvSpPr>
              <a:spLocks noChangeShapeType="1"/>
            </p:cNvSpPr>
            <p:nvPr/>
          </p:nvSpPr>
          <p:spPr bwMode="auto">
            <a:xfrm flipV="1">
              <a:off x="1897" y="2777"/>
              <a:ext cx="177" cy="181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" name="Line 140"/>
            <p:cNvSpPr>
              <a:spLocks noChangeShapeType="1"/>
            </p:cNvSpPr>
            <p:nvPr/>
          </p:nvSpPr>
          <p:spPr bwMode="auto">
            <a:xfrm flipV="1">
              <a:off x="1897" y="2713"/>
              <a:ext cx="160" cy="161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" name="Line 141"/>
            <p:cNvSpPr>
              <a:spLocks noChangeShapeType="1"/>
            </p:cNvSpPr>
            <p:nvPr/>
          </p:nvSpPr>
          <p:spPr bwMode="auto">
            <a:xfrm flipV="1">
              <a:off x="1825" y="2874"/>
              <a:ext cx="72" cy="76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" name="Line 142"/>
            <p:cNvSpPr>
              <a:spLocks noChangeShapeType="1"/>
            </p:cNvSpPr>
            <p:nvPr/>
          </p:nvSpPr>
          <p:spPr bwMode="auto">
            <a:xfrm flipV="1">
              <a:off x="2002" y="2630"/>
              <a:ext cx="55" cy="54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" name="Line 143"/>
            <p:cNvSpPr>
              <a:spLocks noChangeShapeType="1"/>
            </p:cNvSpPr>
            <p:nvPr/>
          </p:nvSpPr>
          <p:spPr bwMode="auto">
            <a:xfrm flipV="1">
              <a:off x="1897" y="2684"/>
              <a:ext cx="105" cy="107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" name="Line 144"/>
            <p:cNvSpPr>
              <a:spLocks noChangeShapeType="1"/>
            </p:cNvSpPr>
            <p:nvPr/>
          </p:nvSpPr>
          <p:spPr bwMode="auto">
            <a:xfrm flipV="1">
              <a:off x="2094" y="2552"/>
              <a:ext cx="40" cy="41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" name="Line 145"/>
            <p:cNvSpPr>
              <a:spLocks noChangeShapeType="1"/>
            </p:cNvSpPr>
            <p:nvPr/>
          </p:nvSpPr>
          <p:spPr bwMode="auto">
            <a:xfrm flipV="1">
              <a:off x="1768" y="2791"/>
              <a:ext cx="129" cy="135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" name="Line 146"/>
            <p:cNvSpPr>
              <a:spLocks noChangeShapeType="1"/>
            </p:cNvSpPr>
            <p:nvPr/>
          </p:nvSpPr>
          <p:spPr bwMode="auto">
            <a:xfrm flipV="1">
              <a:off x="1922" y="2502"/>
              <a:ext cx="177" cy="182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" name="Line 147"/>
            <p:cNvSpPr>
              <a:spLocks noChangeShapeType="1"/>
            </p:cNvSpPr>
            <p:nvPr/>
          </p:nvSpPr>
          <p:spPr bwMode="auto">
            <a:xfrm flipV="1">
              <a:off x="1720" y="2710"/>
              <a:ext cx="177" cy="181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" name="Line 148"/>
            <p:cNvSpPr>
              <a:spLocks noChangeShapeType="1"/>
            </p:cNvSpPr>
            <p:nvPr/>
          </p:nvSpPr>
          <p:spPr bwMode="auto">
            <a:xfrm flipV="1">
              <a:off x="1843" y="2627"/>
              <a:ext cx="54" cy="57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" name="Line 149"/>
            <p:cNvSpPr>
              <a:spLocks noChangeShapeType="1"/>
            </p:cNvSpPr>
            <p:nvPr/>
          </p:nvSpPr>
          <p:spPr bwMode="auto">
            <a:xfrm flipV="1">
              <a:off x="1897" y="2461"/>
              <a:ext cx="163" cy="166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" name="Line 150"/>
            <p:cNvSpPr>
              <a:spLocks noChangeShapeType="1"/>
            </p:cNvSpPr>
            <p:nvPr/>
          </p:nvSpPr>
          <p:spPr bwMode="auto">
            <a:xfrm flipV="1">
              <a:off x="1682" y="2684"/>
              <a:ext cx="161" cy="163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" name="Line 151"/>
            <p:cNvSpPr>
              <a:spLocks noChangeShapeType="1"/>
            </p:cNvSpPr>
            <p:nvPr/>
          </p:nvSpPr>
          <p:spPr bwMode="auto">
            <a:xfrm flipV="1">
              <a:off x="1762" y="2543"/>
              <a:ext cx="135" cy="141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0" name="Line 152"/>
            <p:cNvSpPr>
              <a:spLocks noChangeShapeType="1"/>
            </p:cNvSpPr>
            <p:nvPr/>
          </p:nvSpPr>
          <p:spPr bwMode="auto">
            <a:xfrm flipV="1">
              <a:off x="1897" y="2432"/>
              <a:ext cx="112" cy="111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" name="Line 153"/>
            <p:cNvSpPr>
              <a:spLocks noChangeShapeType="1"/>
            </p:cNvSpPr>
            <p:nvPr/>
          </p:nvSpPr>
          <p:spPr bwMode="auto">
            <a:xfrm flipV="1">
              <a:off x="1651" y="2684"/>
              <a:ext cx="111" cy="113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" name="Line 154"/>
            <p:cNvSpPr>
              <a:spLocks noChangeShapeType="1"/>
            </p:cNvSpPr>
            <p:nvPr/>
          </p:nvSpPr>
          <p:spPr bwMode="auto">
            <a:xfrm flipV="1">
              <a:off x="1679" y="2461"/>
              <a:ext cx="218" cy="223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" name="Line 155"/>
            <p:cNvSpPr>
              <a:spLocks noChangeShapeType="1"/>
            </p:cNvSpPr>
            <p:nvPr/>
          </p:nvSpPr>
          <p:spPr bwMode="auto">
            <a:xfrm flipV="1">
              <a:off x="1897" y="2411"/>
              <a:ext cx="48" cy="50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" name="Line 156"/>
            <p:cNvSpPr>
              <a:spLocks noChangeShapeType="1"/>
            </p:cNvSpPr>
            <p:nvPr/>
          </p:nvSpPr>
          <p:spPr bwMode="auto">
            <a:xfrm flipV="1">
              <a:off x="1631" y="2408"/>
              <a:ext cx="237" cy="246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" name="Line 157"/>
            <p:cNvSpPr>
              <a:spLocks noChangeShapeType="1"/>
            </p:cNvSpPr>
            <p:nvPr/>
          </p:nvSpPr>
          <p:spPr bwMode="auto">
            <a:xfrm flipV="1">
              <a:off x="1688" y="2467"/>
              <a:ext cx="43" cy="43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" name="Line 158"/>
            <p:cNvSpPr>
              <a:spLocks noChangeShapeType="1"/>
            </p:cNvSpPr>
            <p:nvPr/>
          </p:nvSpPr>
          <p:spPr bwMode="auto">
            <a:xfrm>
              <a:off x="1512" y="2684"/>
              <a:ext cx="768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" name="Line 159"/>
            <p:cNvSpPr>
              <a:spLocks noChangeShapeType="1"/>
            </p:cNvSpPr>
            <p:nvPr/>
          </p:nvSpPr>
          <p:spPr bwMode="auto">
            <a:xfrm flipV="1">
              <a:off x="1896" y="2336"/>
              <a:ext cx="0" cy="76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lgDash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58" name="Rectangle 160"/>
          <p:cNvSpPr>
            <a:spLocks noChangeArrowheads="1"/>
          </p:cNvSpPr>
          <p:nvPr/>
        </p:nvSpPr>
        <p:spPr bwMode="auto">
          <a:xfrm>
            <a:off x="3789218" y="4189556"/>
            <a:ext cx="800100" cy="317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0" hangingPunct="0"/>
            <a:r>
              <a:rPr lang="en-US" altLang="zh-CN" sz="1600">
                <a:solidFill>
                  <a:srgbClr val="FF0101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A-A</a:t>
            </a:r>
          </a:p>
        </p:txBody>
      </p:sp>
    </p:spTree>
    <p:extLst>
      <p:ext uri="{BB962C8B-B14F-4D97-AF65-F5344CB8AC3E}">
        <p14:creationId xmlns:p14="http://schemas.microsoft.com/office/powerpoint/2010/main" val="33836580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3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" grpId="0"/>
      <p:bldP spid="124" grpId="0"/>
      <p:bldP spid="125" grpId="0"/>
      <p:bldP spid="126" grpId="0"/>
      <p:bldP spid="158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Rectangle 2"/>
          <p:cNvSpPr txBox="1">
            <a:spLocks noChangeArrowheads="1"/>
          </p:cNvSpPr>
          <p:nvPr/>
        </p:nvSpPr>
        <p:spPr>
          <a:xfrm>
            <a:off x="1090900" y="391746"/>
            <a:ext cx="4022725" cy="469900"/>
          </a:xfrm>
          <a:prstGeom prst="rect">
            <a:avLst/>
          </a:prstGeom>
          <a:solidFill>
            <a:srgbClr val="0000FF"/>
          </a:solidFill>
        </p:spPr>
        <p:txBody>
          <a:bodyPr>
            <a:normAutofit fontScale="90000"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838200" indent="-838200"/>
            <a:r>
              <a:rPr lang="zh-CN" altLang="en-US" sz="32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断面图与剖视图的区别</a:t>
            </a:r>
          </a:p>
        </p:txBody>
      </p:sp>
      <p:grpSp>
        <p:nvGrpSpPr>
          <p:cNvPr id="160" name="Group 3"/>
          <p:cNvGrpSpPr>
            <a:grpSpLocks/>
          </p:cNvGrpSpPr>
          <p:nvPr/>
        </p:nvGrpSpPr>
        <p:grpSpPr bwMode="auto">
          <a:xfrm>
            <a:off x="6891339" y="1128714"/>
            <a:ext cx="3260725" cy="2205037"/>
            <a:chOff x="3405" y="931"/>
            <a:chExt cx="2054" cy="1389"/>
          </a:xfrm>
        </p:grpSpPr>
        <p:grpSp>
          <p:nvGrpSpPr>
            <p:cNvPr id="161" name="Group 4"/>
            <p:cNvGrpSpPr>
              <a:grpSpLocks/>
            </p:cNvGrpSpPr>
            <p:nvPr/>
          </p:nvGrpSpPr>
          <p:grpSpPr bwMode="auto">
            <a:xfrm>
              <a:off x="3405" y="931"/>
              <a:ext cx="2054" cy="1247"/>
              <a:chOff x="2157" y="2479"/>
              <a:chExt cx="2462" cy="1494"/>
            </a:xfrm>
          </p:grpSpPr>
          <p:grpSp>
            <p:nvGrpSpPr>
              <p:cNvPr id="185" name="Group 5"/>
              <p:cNvGrpSpPr>
                <a:grpSpLocks/>
              </p:cNvGrpSpPr>
              <p:nvPr/>
            </p:nvGrpSpPr>
            <p:grpSpPr bwMode="auto">
              <a:xfrm flipH="1">
                <a:off x="2565" y="2479"/>
                <a:ext cx="237" cy="997"/>
                <a:chOff x="2037" y="1507"/>
                <a:chExt cx="237" cy="997"/>
              </a:xfrm>
            </p:grpSpPr>
            <p:sp>
              <p:nvSpPr>
                <p:cNvPr id="268" name="Freeform 6"/>
                <p:cNvSpPr>
                  <a:spLocks noChangeArrowheads="1"/>
                </p:cNvSpPr>
                <p:nvPr/>
              </p:nvSpPr>
              <p:spPr bwMode="auto">
                <a:xfrm>
                  <a:off x="2270" y="1520"/>
                  <a:ext cx="4" cy="167"/>
                </a:xfrm>
                <a:custGeom>
                  <a:avLst/>
                  <a:gdLst>
                    <a:gd name="T0" fmla="*/ 0 w 1"/>
                    <a:gd name="T1" fmla="*/ 0 h 509"/>
                    <a:gd name="T2" fmla="*/ 0 w 1"/>
                    <a:gd name="T3" fmla="*/ 509 h 509"/>
                    <a:gd name="T4" fmla="*/ 1 w 1"/>
                    <a:gd name="T5" fmla="*/ 509 h 5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09">
                      <a:moveTo>
                        <a:pt x="0" y="0"/>
                      </a:moveTo>
                      <a:lnTo>
                        <a:pt x="0" y="509"/>
                      </a:lnTo>
                      <a:lnTo>
                        <a:pt x="1" y="509"/>
                      </a:lnTo>
                    </a:path>
                  </a:pathLst>
                </a:custGeom>
                <a:noFill/>
                <a:ln w="5715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9" name="Freeform 7"/>
                <p:cNvSpPr>
                  <a:spLocks noChangeArrowheads="1"/>
                </p:cNvSpPr>
                <p:nvPr/>
              </p:nvSpPr>
              <p:spPr bwMode="auto">
                <a:xfrm>
                  <a:off x="2037" y="1507"/>
                  <a:ext cx="95" cy="29"/>
                </a:xfrm>
                <a:custGeom>
                  <a:avLst/>
                  <a:gdLst>
                    <a:gd name="T0" fmla="*/ 284 w 284"/>
                    <a:gd name="T1" fmla="*/ 94 h 94"/>
                    <a:gd name="T2" fmla="*/ 0 w 284"/>
                    <a:gd name="T3" fmla="*/ 47 h 94"/>
                    <a:gd name="T4" fmla="*/ 284 w 284"/>
                    <a:gd name="T5" fmla="*/ 0 h 94"/>
                    <a:gd name="T6" fmla="*/ 284 w 284"/>
                    <a:gd name="T7" fmla="*/ 94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4" h="94">
                      <a:moveTo>
                        <a:pt x="284" y="94"/>
                      </a:moveTo>
                      <a:lnTo>
                        <a:pt x="0" y="47"/>
                      </a:lnTo>
                      <a:lnTo>
                        <a:pt x="284" y="0"/>
                      </a:lnTo>
                      <a:lnTo>
                        <a:pt x="284" y="94"/>
                      </a:lnTo>
                      <a:close/>
                    </a:path>
                  </a:pathLst>
                </a:custGeom>
                <a:solidFill>
                  <a:srgbClr val="33FF00"/>
                </a:solidFill>
                <a:ln w="12700">
                  <a:solidFill>
                    <a:srgbClr val="CC330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70" name="Freeform 8"/>
                <p:cNvSpPr>
                  <a:spLocks noChangeArrowheads="1"/>
                </p:cNvSpPr>
                <p:nvPr/>
              </p:nvSpPr>
              <p:spPr bwMode="auto">
                <a:xfrm>
                  <a:off x="2037" y="1507"/>
                  <a:ext cx="95" cy="29"/>
                </a:xfrm>
                <a:custGeom>
                  <a:avLst/>
                  <a:gdLst>
                    <a:gd name="T0" fmla="*/ 284 w 284"/>
                    <a:gd name="T1" fmla="*/ 94 h 94"/>
                    <a:gd name="T2" fmla="*/ 0 w 284"/>
                    <a:gd name="T3" fmla="*/ 47 h 94"/>
                    <a:gd name="T4" fmla="*/ 284 w 284"/>
                    <a:gd name="T5" fmla="*/ 0 h 94"/>
                    <a:gd name="T6" fmla="*/ 284 w 284"/>
                    <a:gd name="T7" fmla="*/ 94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4" h="94">
                      <a:moveTo>
                        <a:pt x="284" y="94"/>
                      </a:moveTo>
                      <a:lnTo>
                        <a:pt x="0" y="47"/>
                      </a:lnTo>
                      <a:lnTo>
                        <a:pt x="284" y="0"/>
                      </a:lnTo>
                      <a:lnTo>
                        <a:pt x="284" y="94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71" name="Freeform 9"/>
                <p:cNvSpPr>
                  <a:spLocks noChangeArrowheads="1"/>
                </p:cNvSpPr>
                <p:nvPr/>
              </p:nvSpPr>
              <p:spPr bwMode="auto">
                <a:xfrm>
                  <a:off x="2132" y="1520"/>
                  <a:ext cx="138" cy="3"/>
                </a:xfrm>
                <a:custGeom>
                  <a:avLst/>
                  <a:gdLst>
                    <a:gd name="T0" fmla="*/ 0 w 425"/>
                    <a:gd name="T1" fmla="*/ 0 h 3"/>
                    <a:gd name="T2" fmla="*/ 424 w 425"/>
                    <a:gd name="T3" fmla="*/ 0 h 3"/>
                    <a:gd name="T4" fmla="*/ 425 w 425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25" h="3">
                      <a:moveTo>
                        <a:pt x="0" y="0"/>
                      </a:moveTo>
                      <a:lnTo>
                        <a:pt x="424" y="0"/>
                      </a:lnTo>
                      <a:lnTo>
                        <a:pt x="425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72" name="Freeform 10"/>
                <p:cNvSpPr>
                  <a:spLocks noChangeArrowheads="1"/>
                </p:cNvSpPr>
                <p:nvPr/>
              </p:nvSpPr>
              <p:spPr bwMode="auto">
                <a:xfrm>
                  <a:off x="2037" y="2471"/>
                  <a:ext cx="95" cy="33"/>
                </a:xfrm>
                <a:custGeom>
                  <a:avLst/>
                  <a:gdLst>
                    <a:gd name="T0" fmla="*/ 284 w 284"/>
                    <a:gd name="T1" fmla="*/ 94 h 94"/>
                    <a:gd name="T2" fmla="*/ 0 w 284"/>
                    <a:gd name="T3" fmla="*/ 46 h 94"/>
                    <a:gd name="T4" fmla="*/ 284 w 284"/>
                    <a:gd name="T5" fmla="*/ 0 h 94"/>
                    <a:gd name="T6" fmla="*/ 284 w 284"/>
                    <a:gd name="T7" fmla="*/ 94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4" h="94">
                      <a:moveTo>
                        <a:pt x="284" y="94"/>
                      </a:moveTo>
                      <a:lnTo>
                        <a:pt x="0" y="46"/>
                      </a:lnTo>
                      <a:lnTo>
                        <a:pt x="284" y="0"/>
                      </a:lnTo>
                      <a:lnTo>
                        <a:pt x="284" y="94"/>
                      </a:lnTo>
                      <a:close/>
                    </a:path>
                  </a:pathLst>
                </a:custGeom>
                <a:solidFill>
                  <a:srgbClr val="33FF00"/>
                </a:solidFill>
                <a:ln w="12700">
                  <a:solidFill>
                    <a:srgbClr val="CC330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73" name="Freeform 11"/>
                <p:cNvSpPr>
                  <a:spLocks noChangeArrowheads="1"/>
                </p:cNvSpPr>
                <p:nvPr/>
              </p:nvSpPr>
              <p:spPr bwMode="auto">
                <a:xfrm>
                  <a:off x="2037" y="2471"/>
                  <a:ext cx="95" cy="33"/>
                </a:xfrm>
                <a:custGeom>
                  <a:avLst/>
                  <a:gdLst>
                    <a:gd name="T0" fmla="*/ 284 w 284"/>
                    <a:gd name="T1" fmla="*/ 94 h 94"/>
                    <a:gd name="T2" fmla="*/ 0 w 284"/>
                    <a:gd name="T3" fmla="*/ 46 h 94"/>
                    <a:gd name="T4" fmla="*/ 284 w 284"/>
                    <a:gd name="T5" fmla="*/ 0 h 94"/>
                    <a:gd name="T6" fmla="*/ 284 w 284"/>
                    <a:gd name="T7" fmla="*/ 94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4" h="94">
                      <a:moveTo>
                        <a:pt x="284" y="94"/>
                      </a:moveTo>
                      <a:lnTo>
                        <a:pt x="0" y="46"/>
                      </a:lnTo>
                      <a:lnTo>
                        <a:pt x="284" y="0"/>
                      </a:lnTo>
                      <a:lnTo>
                        <a:pt x="284" y="94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74" name="Freeform 12"/>
                <p:cNvSpPr>
                  <a:spLocks noChangeArrowheads="1"/>
                </p:cNvSpPr>
                <p:nvPr/>
              </p:nvSpPr>
              <p:spPr bwMode="auto">
                <a:xfrm>
                  <a:off x="2132" y="2487"/>
                  <a:ext cx="138" cy="3"/>
                </a:xfrm>
                <a:custGeom>
                  <a:avLst/>
                  <a:gdLst>
                    <a:gd name="T0" fmla="*/ 0 w 425"/>
                    <a:gd name="T1" fmla="*/ 0 h 3"/>
                    <a:gd name="T2" fmla="*/ 424 w 425"/>
                    <a:gd name="T3" fmla="*/ 0 h 3"/>
                    <a:gd name="T4" fmla="*/ 425 w 425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25" h="3">
                      <a:moveTo>
                        <a:pt x="0" y="0"/>
                      </a:moveTo>
                      <a:lnTo>
                        <a:pt x="424" y="0"/>
                      </a:lnTo>
                      <a:lnTo>
                        <a:pt x="425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75" name="Freeform 13"/>
                <p:cNvSpPr>
                  <a:spLocks noChangeArrowheads="1"/>
                </p:cNvSpPr>
                <p:nvPr/>
              </p:nvSpPr>
              <p:spPr bwMode="auto">
                <a:xfrm>
                  <a:off x="2270" y="2316"/>
                  <a:ext cx="4" cy="171"/>
                </a:xfrm>
                <a:custGeom>
                  <a:avLst/>
                  <a:gdLst>
                    <a:gd name="T0" fmla="*/ 0 w 1"/>
                    <a:gd name="T1" fmla="*/ 0 h 521"/>
                    <a:gd name="T2" fmla="*/ 0 w 1"/>
                    <a:gd name="T3" fmla="*/ 521 h 521"/>
                    <a:gd name="T4" fmla="*/ 1 w 1"/>
                    <a:gd name="T5" fmla="*/ 521 h 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21">
                      <a:moveTo>
                        <a:pt x="0" y="0"/>
                      </a:moveTo>
                      <a:lnTo>
                        <a:pt x="0" y="521"/>
                      </a:lnTo>
                      <a:lnTo>
                        <a:pt x="1" y="521"/>
                      </a:lnTo>
                    </a:path>
                  </a:pathLst>
                </a:custGeom>
                <a:noFill/>
                <a:ln w="5715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186" name="Group 14"/>
              <p:cNvGrpSpPr>
                <a:grpSpLocks/>
              </p:cNvGrpSpPr>
              <p:nvPr/>
            </p:nvGrpSpPr>
            <p:grpSpPr bwMode="auto">
              <a:xfrm>
                <a:off x="2223" y="2673"/>
                <a:ext cx="2330" cy="608"/>
                <a:chOff x="1232" y="579"/>
                <a:chExt cx="3163" cy="826"/>
              </a:xfrm>
            </p:grpSpPr>
            <p:sp>
              <p:nvSpPr>
                <p:cNvPr id="233" name="Freeform 15"/>
                <p:cNvSpPr>
                  <a:spLocks noChangeArrowheads="1"/>
                </p:cNvSpPr>
                <p:nvPr/>
              </p:nvSpPr>
              <p:spPr bwMode="auto">
                <a:xfrm>
                  <a:off x="4390" y="833"/>
                  <a:ext cx="5" cy="318"/>
                </a:xfrm>
                <a:custGeom>
                  <a:avLst/>
                  <a:gdLst>
                    <a:gd name="T0" fmla="*/ 0 w 1"/>
                    <a:gd name="T1" fmla="*/ 709 h 709"/>
                    <a:gd name="T2" fmla="*/ 0 w 1"/>
                    <a:gd name="T3" fmla="*/ 0 h 709"/>
                    <a:gd name="T4" fmla="*/ 1 w 1"/>
                    <a:gd name="T5" fmla="*/ 0 h 7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709">
                      <a:moveTo>
                        <a:pt x="0" y="709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34" name="Freeform 16"/>
                <p:cNvSpPr>
                  <a:spLocks noChangeArrowheads="1"/>
                </p:cNvSpPr>
                <p:nvPr/>
              </p:nvSpPr>
              <p:spPr bwMode="auto">
                <a:xfrm>
                  <a:off x="4328" y="767"/>
                  <a:ext cx="4" cy="446"/>
                </a:xfrm>
                <a:custGeom>
                  <a:avLst/>
                  <a:gdLst>
                    <a:gd name="T0" fmla="*/ 0 w 1"/>
                    <a:gd name="T1" fmla="*/ 992 h 992"/>
                    <a:gd name="T2" fmla="*/ 0 w 1"/>
                    <a:gd name="T3" fmla="*/ 0 h 992"/>
                    <a:gd name="T4" fmla="*/ 1 w 1"/>
                    <a:gd name="T5" fmla="*/ 0 h 9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992">
                      <a:moveTo>
                        <a:pt x="0" y="992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35" name="Freeform 17"/>
                <p:cNvSpPr>
                  <a:spLocks noChangeArrowheads="1"/>
                </p:cNvSpPr>
                <p:nvPr/>
              </p:nvSpPr>
              <p:spPr bwMode="auto">
                <a:xfrm>
                  <a:off x="3632" y="767"/>
                  <a:ext cx="4" cy="446"/>
                </a:xfrm>
                <a:custGeom>
                  <a:avLst/>
                  <a:gdLst>
                    <a:gd name="T0" fmla="*/ 0 w 1"/>
                    <a:gd name="T1" fmla="*/ 992 h 992"/>
                    <a:gd name="T2" fmla="*/ 0 w 1"/>
                    <a:gd name="T3" fmla="*/ 0 h 992"/>
                    <a:gd name="T4" fmla="*/ 1 w 1"/>
                    <a:gd name="T5" fmla="*/ 0 h 9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992">
                      <a:moveTo>
                        <a:pt x="0" y="992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36" name="Freeform 18"/>
                <p:cNvSpPr>
                  <a:spLocks noChangeArrowheads="1"/>
                </p:cNvSpPr>
                <p:nvPr/>
              </p:nvSpPr>
              <p:spPr bwMode="auto">
                <a:xfrm>
                  <a:off x="3569" y="704"/>
                  <a:ext cx="5" cy="572"/>
                </a:xfrm>
                <a:custGeom>
                  <a:avLst/>
                  <a:gdLst>
                    <a:gd name="T0" fmla="*/ 0 w 1"/>
                    <a:gd name="T1" fmla="*/ 1277 h 1277"/>
                    <a:gd name="T2" fmla="*/ 0 w 1"/>
                    <a:gd name="T3" fmla="*/ 0 h 1277"/>
                    <a:gd name="T4" fmla="*/ 1 w 1"/>
                    <a:gd name="T5" fmla="*/ 0 h 1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277">
                      <a:moveTo>
                        <a:pt x="0" y="1277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37" name="Freeform 19"/>
                <p:cNvSpPr>
                  <a:spLocks noChangeArrowheads="1"/>
                </p:cNvSpPr>
                <p:nvPr/>
              </p:nvSpPr>
              <p:spPr bwMode="auto">
                <a:xfrm>
                  <a:off x="2588" y="704"/>
                  <a:ext cx="4" cy="572"/>
                </a:xfrm>
                <a:custGeom>
                  <a:avLst/>
                  <a:gdLst>
                    <a:gd name="T0" fmla="*/ 0 w 1"/>
                    <a:gd name="T1" fmla="*/ 1277 h 1277"/>
                    <a:gd name="T2" fmla="*/ 0 w 1"/>
                    <a:gd name="T3" fmla="*/ 0 h 1277"/>
                    <a:gd name="T4" fmla="*/ 1 w 1"/>
                    <a:gd name="T5" fmla="*/ 0 h 1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277">
                      <a:moveTo>
                        <a:pt x="0" y="1277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38" name="Freeform 20"/>
                <p:cNvSpPr>
                  <a:spLocks noChangeArrowheads="1"/>
                </p:cNvSpPr>
                <p:nvPr/>
              </p:nvSpPr>
              <p:spPr bwMode="auto">
                <a:xfrm>
                  <a:off x="2494" y="579"/>
                  <a:ext cx="5" cy="822"/>
                </a:xfrm>
                <a:custGeom>
                  <a:avLst/>
                  <a:gdLst>
                    <a:gd name="T0" fmla="*/ 0 w 1"/>
                    <a:gd name="T1" fmla="*/ 1843 h 1843"/>
                    <a:gd name="T2" fmla="*/ 0 w 1"/>
                    <a:gd name="T3" fmla="*/ 0 h 1843"/>
                    <a:gd name="T4" fmla="*/ 1 w 1"/>
                    <a:gd name="T5" fmla="*/ 0 h 18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843">
                      <a:moveTo>
                        <a:pt x="0" y="1843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39" name="Freeform 21"/>
                <p:cNvSpPr>
                  <a:spLocks noChangeArrowheads="1"/>
                </p:cNvSpPr>
                <p:nvPr/>
              </p:nvSpPr>
              <p:spPr bwMode="auto">
                <a:xfrm>
                  <a:off x="2240" y="579"/>
                  <a:ext cx="4" cy="822"/>
                </a:xfrm>
                <a:custGeom>
                  <a:avLst/>
                  <a:gdLst>
                    <a:gd name="T0" fmla="*/ 0 w 1"/>
                    <a:gd name="T1" fmla="*/ 1843 h 1843"/>
                    <a:gd name="T2" fmla="*/ 0 w 1"/>
                    <a:gd name="T3" fmla="*/ 0 h 1843"/>
                    <a:gd name="T4" fmla="*/ 1 w 1"/>
                    <a:gd name="T5" fmla="*/ 0 h 18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843">
                      <a:moveTo>
                        <a:pt x="0" y="1843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0" name="Freeform 22"/>
                <p:cNvSpPr>
                  <a:spLocks noChangeArrowheads="1"/>
                </p:cNvSpPr>
                <p:nvPr/>
              </p:nvSpPr>
              <p:spPr bwMode="auto">
                <a:xfrm>
                  <a:off x="2146" y="704"/>
                  <a:ext cx="5" cy="572"/>
                </a:xfrm>
                <a:custGeom>
                  <a:avLst/>
                  <a:gdLst>
                    <a:gd name="T0" fmla="*/ 0 w 1"/>
                    <a:gd name="T1" fmla="*/ 1277 h 1277"/>
                    <a:gd name="T2" fmla="*/ 0 w 1"/>
                    <a:gd name="T3" fmla="*/ 0 h 1277"/>
                    <a:gd name="T4" fmla="*/ 1 w 1"/>
                    <a:gd name="T5" fmla="*/ 0 h 1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277">
                      <a:moveTo>
                        <a:pt x="0" y="1277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1" name="Freeform 23"/>
                <p:cNvSpPr>
                  <a:spLocks noChangeArrowheads="1"/>
                </p:cNvSpPr>
                <p:nvPr/>
              </p:nvSpPr>
              <p:spPr bwMode="auto">
                <a:xfrm>
                  <a:off x="1308" y="704"/>
                  <a:ext cx="4" cy="572"/>
                </a:xfrm>
                <a:custGeom>
                  <a:avLst/>
                  <a:gdLst>
                    <a:gd name="T0" fmla="*/ 0 w 1"/>
                    <a:gd name="T1" fmla="*/ 1277 h 1277"/>
                    <a:gd name="T2" fmla="*/ 0 w 1"/>
                    <a:gd name="T3" fmla="*/ 0 h 1277"/>
                    <a:gd name="T4" fmla="*/ 1 w 1"/>
                    <a:gd name="T5" fmla="*/ 0 h 1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277">
                      <a:moveTo>
                        <a:pt x="0" y="1277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2" name="Freeform 24"/>
                <p:cNvSpPr>
                  <a:spLocks noChangeArrowheads="1"/>
                </p:cNvSpPr>
                <p:nvPr/>
              </p:nvSpPr>
              <p:spPr bwMode="auto">
                <a:xfrm>
                  <a:off x="1232" y="784"/>
                  <a:ext cx="4" cy="411"/>
                </a:xfrm>
                <a:custGeom>
                  <a:avLst/>
                  <a:gdLst>
                    <a:gd name="T0" fmla="*/ 0 w 1"/>
                    <a:gd name="T1" fmla="*/ 923 h 923"/>
                    <a:gd name="T2" fmla="*/ 0 w 1"/>
                    <a:gd name="T3" fmla="*/ 0 h 923"/>
                    <a:gd name="T4" fmla="*/ 1 w 1"/>
                    <a:gd name="T5" fmla="*/ 0 h 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923">
                      <a:moveTo>
                        <a:pt x="0" y="923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3" name="Freeform 25"/>
                <p:cNvSpPr>
                  <a:spLocks noChangeArrowheads="1"/>
                </p:cNvSpPr>
                <p:nvPr/>
              </p:nvSpPr>
              <p:spPr bwMode="auto">
                <a:xfrm>
                  <a:off x="1928" y="896"/>
                  <a:ext cx="93" cy="94"/>
                </a:xfrm>
                <a:custGeom>
                  <a:avLst/>
                  <a:gdLst>
                    <a:gd name="T0" fmla="*/ 0 w 214"/>
                    <a:gd name="T1" fmla="*/ 0 h 213"/>
                    <a:gd name="T2" fmla="*/ 42 w 214"/>
                    <a:gd name="T3" fmla="*/ 5 h 213"/>
                    <a:gd name="T4" fmla="*/ 83 w 214"/>
                    <a:gd name="T5" fmla="*/ 17 h 213"/>
                    <a:gd name="T6" fmla="*/ 151 w 214"/>
                    <a:gd name="T7" fmla="*/ 64 h 213"/>
                    <a:gd name="T8" fmla="*/ 197 w 214"/>
                    <a:gd name="T9" fmla="*/ 132 h 213"/>
                    <a:gd name="T10" fmla="*/ 209 w 214"/>
                    <a:gd name="T11" fmla="*/ 172 h 213"/>
                    <a:gd name="T12" fmla="*/ 213 w 214"/>
                    <a:gd name="T13" fmla="*/ 213 h 213"/>
                    <a:gd name="T14" fmla="*/ 214 w 214"/>
                    <a:gd name="T15" fmla="*/ 213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14" h="213">
                      <a:moveTo>
                        <a:pt x="0" y="0"/>
                      </a:moveTo>
                      <a:lnTo>
                        <a:pt x="42" y="5"/>
                      </a:lnTo>
                      <a:lnTo>
                        <a:pt x="83" y="17"/>
                      </a:lnTo>
                      <a:lnTo>
                        <a:pt x="151" y="64"/>
                      </a:lnTo>
                      <a:lnTo>
                        <a:pt x="197" y="132"/>
                      </a:lnTo>
                      <a:lnTo>
                        <a:pt x="209" y="172"/>
                      </a:lnTo>
                      <a:lnTo>
                        <a:pt x="213" y="213"/>
                      </a:lnTo>
                      <a:lnTo>
                        <a:pt x="214" y="213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4" name="Freeform 26"/>
                <p:cNvSpPr>
                  <a:spLocks noChangeArrowheads="1"/>
                </p:cNvSpPr>
                <p:nvPr/>
              </p:nvSpPr>
              <p:spPr bwMode="auto">
                <a:xfrm>
                  <a:off x="1928" y="990"/>
                  <a:ext cx="93" cy="94"/>
                </a:xfrm>
                <a:custGeom>
                  <a:avLst/>
                  <a:gdLst>
                    <a:gd name="T0" fmla="*/ 213 w 213"/>
                    <a:gd name="T1" fmla="*/ 0 h 214"/>
                    <a:gd name="T2" fmla="*/ 209 w 213"/>
                    <a:gd name="T3" fmla="*/ 42 h 214"/>
                    <a:gd name="T4" fmla="*/ 197 w 213"/>
                    <a:gd name="T5" fmla="*/ 82 h 214"/>
                    <a:gd name="T6" fmla="*/ 151 w 213"/>
                    <a:gd name="T7" fmla="*/ 151 h 214"/>
                    <a:gd name="T8" fmla="*/ 83 w 213"/>
                    <a:gd name="T9" fmla="*/ 197 h 214"/>
                    <a:gd name="T10" fmla="*/ 42 w 213"/>
                    <a:gd name="T11" fmla="*/ 210 h 214"/>
                    <a:gd name="T12" fmla="*/ 0 w 213"/>
                    <a:gd name="T13" fmla="*/ 214 h 214"/>
                    <a:gd name="T14" fmla="*/ 1 w 213"/>
                    <a:gd name="T15" fmla="*/ 214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13" h="214">
                      <a:moveTo>
                        <a:pt x="213" y="0"/>
                      </a:moveTo>
                      <a:lnTo>
                        <a:pt x="209" y="42"/>
                      </a:lnTo>
                      <a:lnTo>
                        <a:pt x="197" y="82"/>
                      </a:lnTo>
                      <a:lnTo>
                        <a:pt x="151" y="151"/>
                      </a:lnTo>
                      <a:lnTo>
                        <a:pt x="83" y="197"/>
                      </a:lnTo>
                      <a:lnTo>
                        <a:pt x="42" y="210"/>
                      </a:lnTo>
                      <a:lnTo>
                        <a:pt x="0" y="214"/>
                      </a:lnTo>
                      <a:lnTo>
                        <a:pt x="1" y="214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5" name="Freeform 27"/>
                <p:cNvSpPr>
                  <a:spLocks noChangeArrowheads="1"/>
                </p:cNvSpPr>
                <p:nvPr/>
              </p:nvSpPr>
              <p:spPr bwMode="auto">
                <a:xfrm>
                  <a:off x="1513" y="1084"/>
                  <a:ext cx="415" cy="4"/>
                </a:xfrm>
                <a:custGeom>
                  <a:avLst/>
                  <a:gdLst>
                    <a:gd name="T0" fmla="*/ 920 w 920"/>
                    <a:gd name="T1" fmla="*/ 0 h 4"/>
                    <a:gd name="T2" fmla="*/ 0 w 920"/>
                    <a:gd name="T3" fmla="*/ 0 h 4"/>
                    <a:gd name="T4" fmla="*/ 1 w 920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20" h="4">
                      <a:moveTo>
                        <a:pt x="920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6" name="Freeform 28"/>
                <p:cNvSpPr>
                  <a:spLocks noChangeArrowheads="1"/>
                </p:cNvSpPr>
                <p:nvPr/>
              </p:nvSpPr>
              <p:spPr bwMode="auto">
                <a:xfrm>
                  <a:off x="1513" y="896"/>
                  <a:ext cx="415" cy="4"/>
                </a:xfrm>
                <a:custGeom>
                  <a:avLst/>
                  <a:gdLst>
                    <a:gd name="T0" fmla="*/ 0 w 921"/>
                    <a:gd name="T1" fmla="*/ 0 h 4"/>
                    <a:gd name="T2" fmla="*/ 920 w 921"/>
                    <a:gd name="T3" fmla="*/ 0 h 4"/>
                    <a:gd name="T4" fmla="*/ 921 w 921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21" h="4">
                      <a:moveTo>
                        <a:pt x="0" y="0"/>
                      </a:moveTo>
                      <a:lnTo>
                        <a:pt x="920" y="0"/>
                      </a:lnTo>
                      <a:lnTo>
                        <a:pt x="92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7" name="Freeform 29"/>
                <p:cNvSpPr>
                  <a:spLocks noChangeArrowheads="1"/>
                </p:cNvSpPr>
                <p:nvPr/>
              </p:nvSpPr>
              <p:spPr bwMode="auto">
                <a:xfrm>
                  <a:off x="1419" y="896"/>
                  <a:ext cx="98" cy="94"/>
                </a:xfrm>
                <a:custGeom>
                  <a:avLst/>
                  <a:gdLst>
                    <a:gd name="T0" fmla="*/ 0 w 214"/>
                    <a:gd name="T1" fmla="*/ 213 h 213"/>
                    <a:gd name="T2" fmla="*/ 4 w 214"/>
                    <a:gd name="T3" fmla="*/ 172 h 213"/>
                    <a:gd name="T4" fmla="*/ 16 w 214"/>
                    <a:gd name="T5" fmla="*/ 132 h 213"/>
                    <a:gd name="T6" fmla="*/ 62 w 214"/>
                    <a:gd name="T7" fmla="*/ 64 h 213"/>
                    <a:gd name="T8" fmla="*/ 131 w 214"/>
                    <a:gd name="T9" fmla="*/ 17 h 213"/>
                    <a:gd name="T10" fmla="*/ 171 w 214"/>
                    <a:gd name="T11" fmla="*/ 5 h 213"/>
                    <a:gd name="T12" fmla="*/ 213 w 214"/>
                    <a:gd name="T13" fmla="*/ 0 h 213"/>
                    <a:gd name="T14" fmla="*/ 214 w 214"/>
                    <a:gd name="T15" fmla="*/ 0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14" h="213">
                      <a:moveTo>
                        <a:pt x="0" y="213"/>
                      </a:moveTo>
                      <a:lnTo>
                        <a:pt x="4" y="172"/>
                      </a:lnTo>
                      <a:lnTo>
                        <a:pt x="16" y="132"/>
                      </a:lnTo>
                      <a:lnTo>
                        <a:pt x="62" y="64"/>
                      </a:lnTo>
                      <a:lnTo>
                        <a:pt x="131" y="17"/>
                      </a:lnTo>
                      <a:lnTo>
                        <a:pt x="171" y="5"/>
                      </a:lnTo>
                      <a:lnTo>
                        <a:pt x="213" y="0"/>
                      </a:lnTo>
                      <a:lnTo>
                        <a:pt x="214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8" name="Freeform 30"/>
                <p:cNvSpPr>
                  <a:spLocks noChangeArrowheads="1"/>
                </p:cNvSpPr>
                <p:nvPr/>
              </p:nvSpPr>
              <p:spPr bwMode="auto">
                <a:xfrm>
                  <a:off x="1419" y="990"/>
                  <a:ext cx="94" cy="94"/>
                </a:xfrm>
                <a:custGeom>
                  <a:avLst/>
                  <a:gdLst>
                    <a:gd name="T0" fmla="*/ 213 w 213"/>
                    <a:gd name="T1" fmla="*/ 214 h 214"/>
                    <a:gd name="T2" fmla="*/ 171 w 213"/>
                    <a:gd name="T3" fmla="*/ 210 h 214"/>
                    <a:gd name="T4" fmla="*/ 131 w 213"/>
                    <a:gd name="T5" fmla="*/ 197 h 214"/>
                    <a:gd name="T6" fmla="*/ 62 w 213"/>
                    <a:gd name="T7" fmla="*/ 151 h 214"/>
                    <a:gd name="T8" fmla="*/ 16 w 213"/>
                    <a:gd name="T9" fmla="*/ 82 h 214"/>
                    <a:gd name="T10" fmla="*/ 4 w 213"/>
                    <a:gd name="T11" fmla="*/ 42 h 214"/>
                    <a:gd name="T12" fmla="*/ 0 w 213"/>
                    <a:gd name="T13" fmla="*/ 0 h 214"/>
                    <a:gd name="T14" fmla="*/ 1 w 213"/>
                    <a:gd name="T15" fmla="*/ 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13" h="214">
                      <a:moveTo>
                        <a:pt x="213" y="214"/>
                      </a:moveTo>
                      <a:lnTo>
                        <a:pt x="171" y="210"/>
                      </a:lnTo>
                      <a:lnTo>
                        <a:pt x="131" y="197"/>
                      </a:lnTo>
                      <a:lnTo>
                        <a:pt x="62" y="151"/>
                      </a:lnTo>
                      <a:lnTo>
                        <a:pt x="16" y="82"/>
                      </a:lnTo>
                      <a:lnTo>
                        <a:pt x="4" y="42"/>
                      </a:ln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9" name="Freeform 31"/>
                <p:cNvSpPr>
                  <a:spLocks noChangeArrowheads="1"/>
                </p:cNvSpPr>
                <p:nvPr/>
              </p:nvSpPr>
              <p:spPr bwMode="auto">
                <a:xfrm>
                  <a:off x="3935" y="909"/>
                  <a:ext cx="156" cy="161"/>
                </a:xfrm>
                <a:custGeom>
                  <a:avLst/>
                  <a:gdLst>
                    <a:gd name="T0" fmla="*/ 177 w 354"/>
                    <a:gd name="T1" fmla="*/ 0 h 355"/>
                    <a:gd name="T2" fmla="*/ 245 w 354"/>
                    <a:gd name="T3" fmla="*/ 14 h 355"/>
                    <a:gd name="T4" fmla="*/ 302 w 354"/>
                    <a:gd name="T5" fmla="*/ 52 h 355"/>
                    <a:gd name="T6" fmla="*/ 340 w 354"/>
                    <a:gd name="T7" fmla="*/ 109 h 355"/>
                    <a:gd name="T8" fmla="*/ 354 w 354"/>
                    <a:gd name="T9" fmla="*/ 177 h 355"/>
                    <a:gd name="T10" fmla="*/ 340 w 354"/>
                    <a:gd name="T11" fmla="*/ 245 h 355"/>
                    <a:gd name="T12" fmla="*/ 302 w 354"/>
                    <a:gd name="T13" fmla="*/ 303 h 355"/>
                    <a:gd name="T14" fmla="*/ 245 w 354"/>
                    <a:gd name="T15" fmla="*/ 341 h 355"/>
                    <a:gd name="T16" fmla="*/ 177 w 354"/>
                    <a:gd name="T17" fmla="*/ 355 h 355"/>
                    <a:gd name="T18" fmla="*/ 109 w 354"/>
                    <a:gd name="T19" fmla="*/ 341 h 355"/>
                    <a:gd name="T20" fmla="*/ 52 w 354"/>
                    <a:gd name="T21" fmla="*/ 303 h 355"/>
                    <a:gd name="T22" fmla="*/ 13 w 354"/>
                    <a:gd name="T23" fmla="*/ 245 h 355"/>
                    <a:gd name="T24" fmla="*/ 0 w 354"/>
                    <a:gd name="T25" fmla="*/ 177 h 355"/>
                    <a:gd name="T26" fmla="*/ 13 w 354"/>
                    <a:gd name="T27" fmla="*/ 109 h 355"/>
                    <a:gd name="T28" fmla="*/ 52 w 354"/>
                    <a:gd name="T29" fmla="*/ 52 h 355"/>
                    <a:gd name="T30" fmla="*/ 109 w 354"/>
                    <a:gd name="T31" fmla="*/ 14 h 355"/>
                    <a:gd name="T32" fmla="*/ 177 w 354"/>
                    <a:gd name="T33" fmla="*/ 0 h 355"/>
                    <a:gd name="T34" fmla="*/ 178 w 354"/>
                    <a:gd name="T35" fmla="*/ 0 h 3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54" h="355">
                      <a:moveTo>
                        <a:pt x="177" y="0"/>
                      </a:moveTo>
                      <a:lnTo>
                        <a:pt x="245" y="14"/>
                      </a:lnTo>
                      <a:lnTo>
                        <a:pt x="302" y="52"/>
                      </a:lnTo>
                      <a:lnTo>
                        <a:pt x="340" y="109"/>
                      </a:lnTo>
                      <a:lnTo>
                        <a:pt x="354" y="177"/>
                      </a:lnTo>
                      <a:lnTo>
                        <a:pt x="340" y="245"/>
                      </a:lnTo>
                      <a:lnTo>
                        <a:pt x="302" y="303"/>
                      </a:lnTo>
                      <a:lnTo>
                        <a:pt x="245" y="341"/>
                      </a:lnTo>
                      <a:lnTo>
                        <a:pt x="177" y="355"/>
                      </a:lnTo>
                      <a:lnTo>
                        <a:pt x="109" y="341"/>
                      </a:lnTo>
                      <a:lnTo>
                        <a:pt x="52" y="303"/>
                      </a:lnTo>
                      <a:lnTo>
                        <a:pt x="13" y="245"/>
                      </a:lnTo>
                      <a:lnTo>
                        <a:pt x="0" y="177"/>
                      </a:lnTo>
                      <a:lnTo>
                        <a:pt x="13" y="109"/>
                      </a:lnTo>
                      <a:lnTo>
                        <a:pt x="52" y="52"/>
                      </a:lnTo>
                      <a:lnTo>
                        <a:pt x="109" y="14"/>
                      </a:lnTo>
                      <a:lnTo>
                        <a:pt x="177" y="0"/>
                      </a:lnTo>
                      <a:lnTo>
                        <a:pt x="178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0" name="Freeform 32"/>
                <p:cNvSpPr>
                  <a:spLocks noChangeArrowheads="1"/>
                </p:cNvSpPr>
                <p:nvPr/>
              </p:nvSpPr>
              <p:spPr bwMode="auto">
                <a:xfrm>
                  <a:off x="1232" y="1195"/>
                  <a:ext cx="76" cy="81"/>
                </a:xfrm>
                <a:custGeom>
                  <a:avLst/>
                  <a:gdLst>
                    <a:gd name="T0" fmla="*/ 0 w 178"/>
                    <a:gd name="T1" fmla="*/ 0 h 177"/>
                    <a:gd name="T2" fmla="*/ 177 w 178"/>
                    <a:gd name="T3" fmla="*/ 177 h 177"/>
                    <a:gd name="T4" fmla="*/ 178 w 178"/>
                    <a:gd name="T5" fmla="*/ 177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78" h="177">
                      <a:moveTo>
                        <a:pt x="0" y="0"/>
                      </a:moveTo>
                      <a:lnTo>
                        <a:pt x="177" y="177"/>
                      </a:lnTo>
                      <a:lnTo>
                        <a:pt x="178" y="177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1" name="Freeform 33"/>
                <p:cNvSpPr>
                  <a:spLocks noChangeArrowheads="1"/>
                </p:cNvSpPr>
                <p:nvPr/>
              </p:nvSpPr>
              <p:spPr bwMode="auto">
                <a:xfrm>
                  <a:off x="1232" y="704"/>
                  <a:ext cx="76" cy="80"/>
                </a:xfrm>
                <a:custGeom>
                  <a:avLst/>
                  <a:gdLst>
                    <a:gd name="T0" fmla="*/ 177 w 177"/>
                    <a:gd name="T1" fmla="*/ 0 h 177"/>
                    <a:gd name="T2" fmla="*/ 0 w 177"/>
                    <a:gd name="T3" fmla="*/ 177 h 177"/>
                    <a:gd name="T4" fmla="*/ 1 w 177"/>
                    <a:gd name="T5" fmla="*/ 177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77" h="177">
                      <a:moveTo>
                        <a:pt x="177" y="0"/>
                      </a:moveTo>
                      <a:lnTo>
                        <a:pt x="0" y="177"/>
                      </a:lnTo>
                      <a:lnTo>
                        <a:pt x="1" y="177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2" name="Freeform 34"/>
                <p:cNvSpPr>
                  <a:spLocks noChangeArrowheads="1"/>
                </p:cNvSpPr>
                <p:nvPr/>
              </p:nvSpPr>
              <p:spPr bwMode="auto">
                <a:xfrm>
                  <a:off x="1308" y="1276"/>
                  <a:ext cx="838" cy="4"/>
                </a:xfrm>
                <a:custGeom>
                  <a:avLst/>
                  <a:gdLst>
                    <a:gd name="T0" fmla="*/ 0 w 1879"/>
                    <a:gd name="T1" fmla="*/ 0 h 4"/>
                    <a:gd name="T2" fmla="*/ 1878 w 1879"/>
                    <a:gd name="T3" fmla="*/ 0 h 4"/>
                    <a:gd name="T4" fmla="*/ 1879 w 1879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879" h="4">
                      <a:moveTo>
                        <a:pt x="0" y="0"/>
                      </a:moveTo>
                      <a:lnTo>
                        <a:pt x="1878" y="0"/>
                      </a:lnTo>
                      <a:lnTo>
                        <a:pt x="1879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3" name="Freeform 35"/>
                <p:cNvSpPr>
                  <a:spLocks noChangeArrowheads="1"/>
                </p:cNvSpPr>
                <p:nvPr/>
              </p:nvSpPr>
              <p:spPr bwMode="auto">
                <a:xfrm>
                  <a:off x="1308" y="704"/>
                  <a:ext cx="838" cy="4"/>
                </a:xfrm>
                <a:custGeom>
                  <a:avLst/>
                  <a:gdLst>
                    <a:gd name="T0" fmla="*/ 1878 w 1878"/>
                    <a:gd name="T1" fmla="*/ 0 h 4"/>
                    <a:gd name="T2" fmla="*/ 0 w 1878"/>
                    <a:gd name="T3" fmla="*/ 0 h 4"/>
                    <a:gd name="T4" fmla="*/ 1 w 1878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878" h="4">
                      <a:moveTo>
                        <a:pt x="1878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4" name="Freeform 36"/>
                <p:cNvSpPr>
                  <a:spLocks noChangeArrowheads="1"/>
                </p:cNvSpPr>
                <p:nvPr/>
              </p:nvSpPr>
              <p:spPr bwMode="auto">
                <a:xfrm>
                  <a:off x="2146" y="1244"/>
                  <a:ext cx="98" cy="5"/>
                </a:xfrm>
                <a:custGeom>
                  <a:avLst/>
                  <a:gdLst>
                    <a:gd name="T0" fmla="*/ 0 w 213"/>
                    <a:gd name="T1" fmla="*/ 0 h 5"/>
                    <a:gd name="T2" fmla="*/ 212 w 213"/>
                    <a:gd name="T3" fmla="*/ 0 h 5"/>
                    <a:gd name="T4" fmla="*/ 213 w 213"/>
                    <a:gd name="T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3" h="5">
                      <a:moveTo>
                        <a:pt x="0" y="0"/>
                      </a:moveTo>
                      <a:lnTo>
                        <a:pt x="212" y="0"/>
                      </a:lnTo>
                      <a:lnTo>
                        <a:pt x="213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5" name="Freeform 37"/>
                <p:cNvSpPr>
                  <a:spLocks noChangeArrowheads="1"/>
                </p:cNvSpPr>
                <p:nvPr/>
              </p:nvSpPr>
              <p:spPr bwMode="auto">
                <a:xfrm>
                  <a:off x="2146" y="735"/>
                  <a:ext cx="94" cy="5"/>
                </a:xfrm>
                <a:custGeom>
                  <a:avLst/>
                  <a:gdLst>
                    <a:gd name="T0" fmla="*/ 212 w 212"/>
                    <a:gd name="T1" fmla="*/ 0 h 5"/>
                    <a:gd name="T2" fmla="*/ 0 w 212"/>
                    <a:gd name="T3" fmla="*/ 0 h 5"/>
                    <a:gd name="T4" fmla="*/ 1 w 212"/>
                    <a:gd name="T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2" h="5">
                      <a:moveTo>
                        <a:pt x="212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6" name="Freeform 38"/>
                <p:cNvSpPr>
                  <a:spLocks noChangeArrowheads="1"/>
                </p:cNvSpPr>
                <p:nvPr/>
              </p:nvSpPr>
              <p:spPr bwMode="auto">
                <a:xfrm>
                  <a:off x="2240" y="1401"/>
                  <a:ext cx="254" cy="4"/>
                </a:xfrm>
                <a:custGeom>
                  <a:avLst/>
                  <a:gdLst>
                    <a:gd name="T0" fmla="*/ 0 w 568"/>
                    <a:gd name="T1" fmla="*/ 0 h 4"/>
                    <a:gd name="T2" fmla="*/ 567 w 568"/>
                    <a:gd name="T3" fmla="*/ 0 h 4"/>
                    <a:gd name="T4" fmla="*/ 568 w 568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68" h="4">
                      <a:moveTo>
                        <a:pt x="0" y="0"/>
                      </a:moveTo>
                      <a:lnTo>
                        <a:pt x="567" y="0"/>
                      </a:lnTo>
                      <a:lnTo>
                        <a:pt x="568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7" name="Freeform 39"/>
                <p:cNvSpPr>
                  <a:spLocks noChangeArrowheads="1"/>
                </p:cNvSpPr>
                <p:nvPr/>
              </p:nvSpPr>
              <p:spPr bwMode="auto">
                <a:xfrm>
                  <a:off x="2240" y="579"/>
                  <a:ext cx="254" cy="4"/>
                </a:xfrm>
                <a:custGeom>
                  <a:avLst/>
                  <a:gdLst>
                    <a:gd name="T0" fmla="*/ 567 w 567"/>
                    <a:gd name="T1" fmla="*/ 0 h 4"/>
                    <a:gd name="T2" fmla="*/ 0 w 567"/>
                    <a:gd name="T3" fmla="*/ 0 h 4"/>
                    <a:gd name="T4" fmla="*/ 1 w 567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67" h="4">
                      <a:moveTo>
                        <a:pt x="567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8" name="Freeform 40"/>
                <p:cNvSpPr>
                  <a:spLocks noChangeArrowheads="1"/>
                </p:cNvSpPr>
                <p:nvPr/>
              </p:nvSpPr>
              <p:spPr bwMode="auto">
                <a:xfrm>
                  <a:off x="2494" y="1244"/>
                  <a:ext cx="94" cy="5"/>
                </a:xfrm>
                <a:custGeom>
                  <a:avLst/>
                  <a:gdLst>
                    <a:gd name="T0" fmla="*/ 0 w 214"/>
                    <a:gd name="T1" fmla="*/ 0 h 5"/>
                    <a:gd name="T2" fmla="*/ 213 w 214"/>
                    <a:gd name="T3" fmla="*/ 0 h 5"/>
                    <a:gd name="T4" fmla="*/ 214 w 214"/>
                    <a:gd name="T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4" h="5">
                      <a:moveTo>
                        <a:pt x="0" y="0"/>
                      </a:moveTo>
                      <a:lnTo>
                        <a:pt x="213" y="0"/>
                      </a:lnTo>
                      <a:lnTo>
                        <a:pt x="214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9" name="Freeform 41"/>
                <p:cNvSpPr>
                  <a:spLocks noChangeArrowheads="1"/>
                </p:cNvSpPr>
                <p:nvPr/>
              </p:nvSpPr>
              <p:spPr bwMode="auto">
                <a:xfrm>
                  <a:off x="2494" y="735"/>
                  <a:ext cx="94" cy="5"/>
                </a:xfrm>
                <a:custGeom>
                  <a:avLst/>
                  <a:gdLst>
                    <a:gd name="T0" fmla="*/ 213 w 213"/>
                    <a:gd name="T1" fmla="*/ 0 h 5"/>
                    <a:gd name="T2" fmla="*/ 0 w 213"/>
                    <a:gd name="T3" fmla="*/ 0 h 5"/>
                    <a:gd name="T4" fmla="*/ 1 w 213"/>
                    <a:gd name="T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3" h="5">
                      <a:moveTo>
                        <a:pt x="213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0" name="Freeform 42"/>
                <p:cNvSpPr>
                  <a:spLocks noChangeArrowheads="1"/>
                </p:cNvSpPr>
                <p:nvPr/>
              </p:nvSpPr>
              <p:spPr bwMode="auto">
                <a:xfrm>
                  <a:off x="2588" y="1276"/>
                  <a:ext cx="981" cy="4"/>
                </a:xfrm>
                <a:custGeom>
                  <a:avLst/>
                  <a:gdLst>
                    <a:gd name="T0" fmla="*/ 0 w 2198"/>
                    <a:gd name="T1" fmla="*/ 0 h 4"/>
                    <a:gd name="T2" fmla="*/ 2197 w 2198"/>
                    <a:gd name="T3" fmla="*/ 0 h 4"/>
                    <a:gd name="T4" fmla="*/ 2198 w 2198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98" h="4">
                      <a:moveTo>
                        <a:pt x="0" y="0"/>
                      </a:moveTo>
                      <a:lnTo>
                        <a:pt x="2197" y="0"/>
                      </a:lnTo>
                      <a:lnTo>
                        <a:pt x="2198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1" name="Freeform 43"/>
                <p:cNvSpPr>
                  <a:spLocks noChangeArrowheads="1"/>
                </p:cNvSpPr>
                <p:nvPr/>
              </p:nvSpPr>
              <p:spPr bwMode="auto">
                <a:xfrm>
                  <a:off x="2588" y="704"/>
                  <a:ext cx="981" cy="4"/>
                </a:xfrm>
                <a:custGeom>
                  <a:avLst/>
                  <a:gdLst>
                    <a:gd name="T0" fmla="*/ 2197 w 2197"/>
                    <a:gd name="T1" fmla="*/ 0 h 4"/>
                    <a:gd name="T2" fmla="*/ 0 w 2197"/>
                    <a:gd name="T3" fmla="*/ 0 h 4"/>
                    <a:gd name="T4" fmla="*/ 1 w 2197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97" h="4">
                      <a:moveTo>
                        <a:pt x="2197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2" name="Freeform 44"/>
                <p:cNvSpPr>
                  <a:spLocks noChangeArrowheads="1"/>
                </p:cNvSpPr>
                <p:nvPr/>
              </p:nvSpPr>
              <p:spPr bwMode="auto">
                <a:xfrm>
                  <a:off x="3569" y="1213"/>
                  <a:ext cx="63" cy="63"/>
                </a:xfrm>
                <a:custGeom>
                  <a:avLst/>
                  <a:gdLst>
                    <a:gd name="T0" fmla="*/ 0 w 142"/>
                    <a:gd name="T1" fmla="*/ 143 h 143"/>
                    <a:gd name="T2" fmla="*/ 141 w 142"/>
                    <a:gd name="T3" fmla="*/ 0 h 143"/>
                    <a:gd name="T4" fmla="*/ 142 w 142"/>
                    <a:gd name="T5" fmla="*/ 0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42" h="143">
                      <a:moveTo>
                        <a:pt x="0" y="143"/>
                      </a:moveTo>
                      <a:lnTo>
                        <a:pt x="141" y="0"/>
                      </a:lnTo>
                      <a:lnTo>
                        <a:pt x="142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3" name="Freeform 45"/>
                <p:cNvSpPr>
                  <a:spLocks noChangeArrowheads="1"/>
                </p:cNvSpPr>
                <p:nvPr/>
              </p:nvSpPr>
              <p:spPr bwMode="auto">
                <a:xfrm>
                  <a:off x="3569" y="704"/>
                  <a:ext cx="63" cy="63"/>
                </a:xfrm>
                <a:custGeom>
                  <a:avLst/>
                  <a:gdLst>
                    <a:gd name="T0" fmla="*/ 141 w 141"/>
                    <a:gd name="T1" fmla="*/ 142 h 142"/>
                    <a:gd name="T2" fmla="*/ 0 w 141"/>
                    <a:gd name="T3" fmla="*/ 0 h 142"/>
                    <a:gd name="T4" fmla="*/ 1 w 141"/>
                    <a:gd name="T5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41" h="142">
                      <a:moveTo>
                        <a:pt x="141" y="142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4" name="Freeform 46"/>
                <p:cNvSpPr>
                  <a:spLocks noChangeArrowheads="1"/>
                </p:cNvSpPr>
                <p:nvPr/>
              </p:nvSpPr>
              <p:spPr bwMode="auto">
                <a:xfrm>
                  <a:off x="3632" y="1213"/>
                  <a:ext cx="696" cy="4"/>
                </a:xfrm>
                <a:custGeom>
                  <a:avLst/>
                  <a:gdLst>
                    <a:gd name="T0" fmla="*/ 0 w 1561"/>
                    <a:gd name="T1" fmla="*/ 0 h 4"/>
                    <a:gd name="T2" fmla="*/ 1560 w 1561"/>
                    <a:gd name="T3" fmla="*/ 0 h 4"/>
                    <a:gd name="T4" fmla="*/ 1561 w 1561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1" h="4">
                      <a:moveTo>
                        <a:pt x="0" y="0"/>
                      </a:moveTo>
                      <a:lnTo>
                        <a:pt x="1560" y="0"/>
                      </a:lnTo>
                      <a:lnTo>
                        <a:pt x="156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5" name="Freeform 47"/>
                <p:cNvSpPr>
                  <a:spLocks noChangeArrowheads="1"/>
                </p:cNvSpPr>
                <p:nvPr/>
              </p:nvSpPr>
              <p:spPr bwMode="auto">
                <a:xfrm>
                  <a:off x="3632" y="767"/>
                  <a:ext cx="696" cy="4"/>
                </a:xfrm>
                <a:custGeom>
                  <a:avLst/>
                  <a:gdLst>
                    <a:gd name="T0" fmla="*/ 1560 w 1560"/>
                    <a:gd name="T1" fmla="*/ 0 h 4"/>
                    <a:gd name="T2" fmla="*/ 0 w 1560"/>
                    <a:gd name="T3" fmla="*/ 0 h 4"/>
                    <a:gd name="T4" fmla="*/ 1 w 1560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0" h="4">
                      <a:moveTo>
                        <a:pt x="1560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6" name="Freeform 48"/>
                <p:cNvSpPr>
                  <a:spLocks noChangeArrowheads="1"/>
                </p:cNvSpPr>
                <p:nvPr/>
              </p:nvSpPr>
              <p:spPr bwMode="auto">
                <a:xfrm>
                  <a:off x="4328" y="1151"/>
                  <a:ext cx="62" cy="62"/>
                </a:xfrm>
                <a:custGeom>
                  <a:avLst/>
                  <a:gdLst>
                    <a:gd name="T0" fmla="*/ 0 w 142"/>
                    <a:gd name="T1" fmla="*/ 141 h 141"/>
                    <a:gd name="T2" fmla="*/ 141 w 142"/>
                    <a:gd name="T3" fmla="*/ 0 h 141"/>
                    <a:gd name="T4" fmla="*/ 142 w 142"/>
                    <a:gd name="T5" fmla="*/ 0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42" h="141">
                      <a:moveTo>
                        <a:pt x="0" y="141"/>
                      </a:moveTo>
                      <a:lnTo>
                        <a:pt x="141" y="0"/>
                      </a:lnTo>
                      <a:lnTo>
                        <a:pt x="142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7" name="Freeform 49"/>
                <p:cNvSpPr>
                  <a:spLocks noChangeArrowheads="1"/>
                </p:cNvSpPr>
                <p:nvPr/>
              </p:nvSpPr>
              <p:spPr bwMode="auto">
                <a:xfrm>
                  <a:off x="4328" y="767"/>
                  <a:ext cx="62" cy="66"/>
                </a:xfrm>
                <a:custGeom>
                  <a:avLst/>
                  <a:gdLst>
                    <a:gd name="T0" fmla="*/ 141 w 141"/>
                    <a:gd name="T1" fmla="*/ 142 h 142"/>
                    <a:gd name="T2" fmla="*/ 0 w 141"/>
                    <a:gd name="T3" fmla="*/ 0 h 142"/>
                    <a:gd name="T4" fmla="*/ 1 w 141"/>
                    <a:gd name="T5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41" h="142">
                      <a:moveTo>
                        <a:pt x="141" y="142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187" name="Group 50"/>
              <p:cNvGrpSpPr>
                <a:grpSpLocks/>
              </p:cNvGrpSpPr>
              <p:nvPr/>
            </p:nvGrpSpPr>
            <p:grpSpPr bwMode="auto">
              <a:xfrm>
                <a:off x="4061" y="3549"/>
                <a:ext cx="425" cy="424"/>
                <a:chOff x="4541" y="1793"/>
                <a:chExt cx="425" cy="424"/>
              </a:xfrm>
            </p:grpSpPr>
            <p:grpSp>
              <p:nvGrpSpPr>
                <p:cNvPr id="209" name="Group 51"/>
                <p:cNvGrpSpPr>
                  <a:grpSpLocks/>
                </p:cNvGrpSpPr>
                <p:nvPr/>
              </p:nvGrpSpPr>
              <p:grpSpPr bwMode="auto">
                <a:xfrm flipH="1">
                  <a:off x="4614" y="1842"/>
                  <a:ext cx="270" cy="323"/>
                  <a:chOff x="3107" y="1349"/>
                  <a:chExt cx="82" cy="98"/>
                </a:xfrm>
              </p:grpSpPr>
              <p:sp>
                <p:nvSpPr>
                  <p:cNvPr id="225" name="Freeform 52"/>
                  <p:cNvSpPr>
                    <a:spLocks noChangeArrowheads="1"/>
                  </p:cNvSpPr>
                  <p:nvPr/>
                </p:nvSpPr>
                <p:spPr bwMode="auto">
                  <a:xfrm>
                    <a:off x="3107" y="1356"/>
                    <a:ext cx="17" cy="17"/>
                  </a:xfrm>
                  <a:custGeom>
                    <a:avLst/>
                    <a:gdLst>
                      <a:gd name="T0" fmla="*/ 0 w 171"/>
                      <a:gd name="T1" fmla="*/ 170 h 170"/>
                      <a:gd name="T2" fmla="*/ 170 w 171"/>
                      <a:gd name="T3" fmla="*/ 0 h 170"/>
                      <a:gd name="T4" fmla="*/ 171 w 171"/>
                      <a:gd name="T5" fmla="*/ 0 h 17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71" h="170">
                        <a:moveTo>
                          <a:pt x="0" y="170"/>
                        </a:moveTo>
                        <a:lnTo>
                          <a:pt x="170" y="0"/>
                        </a:lnTo>
                        <a:lnTo>
                          <a:pt x="171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26" name="Freeform 53"/>
                  <p:cNvSpPr>
                    <a:spLocks noChangeArrowheads="1"/>
                  </p:cNvSpPr>
                  <p:nvPr/>
                </p:nvSpPr>
                <p:spPr bwMode="auto">
                  <a:xfrm>
                    <a:off x="3124" y="1349"/>
                    <a:ext cx="32" cy="31"/>
                  </a:xfrm>
                  <a:custGeom>
                    <a:avLst/>
                    <a:gdLst>
                      <a:gd name="T0" fmla="*/ 0 w 315"/>
                      <a:gd name="T1" fmla="*/ 315 h 315"/>
                      <a:gd name="T2" fmla="*/ 314 w 315"/>
                      <a:gd name="T3" fmla="*/ 0 h 315"/>
                      <a:gd name="T4" fmla="*/ 315 w 315"/>
                      <a:gd name="T5" fmla="*/ 0 h 3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15" h="315">
                        <a:moveTo>
                          <a:pt x="0" y="315"/>
                        </a:moveTo>
                        <a:lnTo>
                          <a:pt x="314" y="0"/>
                        </a:lnTo>
                        <a:lnTo>
                          <a:pt x="315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27" name="Freeform 54"/>
                  <p:cNvSpPr>
                    <a:spLocks noChangeArrowheads="1"/>
                  </p:cNvSpPr>
                  <p:nvPr/>
                </p:nvSpPr>
                <p:spPr bwMode="auto">
                  <a:xfrm>
                    <a:off x="3149" y="1355"/>
                    <a:ext cx="26" cy="25"/>
                  </a:xfrm>
                  <a:custGeom>
                    <a:avLst/>
                    <a:gdLst>
                      <a:gd name="T0" fmla="*/ 0 w 253"/>
                      <a:gd name="T1" fmla="*/ 251 h 251"/>
                      <a:gd name="T2" fmla="*/ 252 w 253"/>
                      <a:gd name="T3" fmla="*/ 0 h 251"/>
                      <a:gd name="T4" fmla="*/ 253 w 253"/>
                      <a:gd name="T5" fmla="*/ 0 h 2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53" h="251">
                        <a:moveTo>
                          <a:pt x="0" y="251"/>
                        </a:moveTo>
                        <a:lnTo>
                          <a:pt x="252" y="0"/>
                        </a:lnTo>
                        <a:lnTo>
                          <a:pt x="253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28" name="Freeform 55"/>
                  <p:cNvSpPr>
                    <a:spLocks noChangeArrowheads="1"/>
                  </p:cNvSpPr>
                  <p:nvPr/>
                </p:nvSpPr>
                <p:spPr bwMode="auto">
                  <a:xfrm>
                    <a:off x="3174" y="1367"/>
                    <a:ext cx="14" cy="13"/>
                  </a:xfrm>
                  <a:custGeom>
                    <a:avLst/>
                    <a:gdLst>
                      <a:gd name="T0" fmla="*/ 0 w 137"/>
                      <a:gd name="T1" fmla="*/ 136 h 136"/>
                      <a:gd name="T2" fmla="*/ 136 w 137"/>
                      <a:gd name="T3" fmla="*/ 0 h 136"/>
                      <a:gd name="T4" fmla="*/ 137 w 137"/>
                      <a:gd name="T5" fmla="*/ 0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37" h="136">
                        <a:moveTo>
                          <a:pt x="0" y="136"/>
                        </a:moveTo>
                        <a:lnTo>
                          <a:pt x="136" y="0"/>
                        </a:lnTo>
                        <a:lnTo>
                          <a:pt x="137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29" name="Freeform 56"/>
                  <p:cNvSpPr>
                    <a:spLocks noChangeArrowheads="1"/>
                  </p:cNvSpPr>
                  <p:nvPr/>
                </p:nvSpPr>
                <p:spPr bwMode="auto">
                  <a:xfrm>
                    <a:off x="3107" y="1416"/>
                    <a:ext cx="7" cy="7"/>
                  </a:xfrm>
                  <a:custGeom>
                    <a:avLst/>
                    <a:gdLst>
                      <a:gd name="T0" fmla="*/ 0 w 73"/>
                      <a:gd name="T1" fmla="*/ 72 h 72"/>
                      <a:gd name="T2" fmla="*/ 72 w 73"/>
                      <a:gd name="T3" fmla="*/ 0 h 72"/>
                      <a:gd name="T4" fmla="*/ 73 w 73"/>
                      <a:gd name="T5" fmla="*/ 0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3" h="72">
                        <a:moveTo>
                          <a:pt x="0" y="72"/>
                        </a:moveTo>
                        <a:lnTo>
                          <a:pt x="72" y="0"/>
                        </a:lnTo>
                        <a:lnTo>
                          <a:pt x="73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30" name="Freeform 57"/>
                  <p:cNvSpPr>
                    <a:spLocks noChangeArrowheads="1"/>
                  </p:cNvSpPr>
                  <p:nvPr/>
                </p:nvSpPr>
                <p:spPr bwMode="auto">
                  <a:xfrm>
                    <a:off x="3118" y="1416"/>
                    <a:ext cx="21" cy="21"/>
                  </a:xfrm>
                  <a:custGeom>
                    <a:avLst/>
                    <a:gdLst>
                      <a:gd name="T0" fmla="*/ 0 w 209"/>
                      <a:gd name="T1" fmla="*/ 207 h 207"/>
                      <a:gd name="T2" fmla="*/ 208 w 209"/>
                      <a:gd name="T3" fmla="*/ 0 h 207"/>
                      <a:gd name="T4" fmla="*/ 209 w 209"/>
                      <a:gd name="T5" fmla="*/ 0 h 2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09" h="207">
                        <a:moveTo>
                          <a:pt x="0" y="207"/>
                        </a:moveTo>
                        <a:lnTo>
                          <a:pt x="208" y="0"/>
                        </a:lnTo>
                        <a:lnTo>
                          <a:pt x="209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31" name="Freeform 58"/>
                  <p:cNvSpPr>
                    <a:spLocks noChangeArrowheads="1"/>
                  </p:cNvSpPr>
                  <p:nvPr/>
                </p:nvSpPr>
                <p:spPr bwMode="auto">
                  <a:xfrm>
                    <a:off x="3135" y="1416"/>
                    <a:ext cx="29" cy="29"/>
                  </a:xfrm>
                  <a:custGeom>
                    <a:avLst/>
                    <a:gdLst>
                      <a:gd name="T0" fmla="*/ 0 w 296"/>
                      <a:gd name="T1" fmla="*/ 295 h 295"/>
                      <a:gd name="T2" fmla="*/ 295 w 296"/>
                      <a:gd name="T3" fmla="*/ 0 h 295"/>
                      <a:gd name="T4" fmla="*/ 296 w 296"/>
                      <a:gd name="T5" fmla="*/ 0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96" h="295">
                        <a:moveTo>
                          <a:pt x="0" y="295"/>
                        </a:moveTo>
                        <a:lnTo>
                          <a:pt x="295" y="0"/>
                        </a:lnTo>
                        <a:lnTo>
                          <a:pt x="296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232" name="Freeform 59"/>
                  <p:cNvSpPr>
                    <a:spLocks noChangeArrowheads="1"/>
                  </p:cNvSpPr>
                  <p:nvPr/>
                </p:nvSpPr>
                <p:spPr bwMode="auto">
                  <a:xfrm>
                    <a:off x="3158" y="1416"/>
                    <a:ext cx="31" cy="31"/>
                  </a:xfrm>
                  <a:custGeom>
                    <a:avLst/>
                    <a:gdLst>
                      <a:gd name="T0" fmla="*/ 0 w 313"/>
                      <a:gd name="T1" fmla="*/ 311 h 311"/>
                      <a:gd name="T2" fmla="*/ 312 w 313"/>
                      <a:gd name="T3" fmla="*/ 0 h 311"/>
                      <a:gd name="T4" fmla="*/ 313 w 313"/>
                      <a:gd name="T5" fmla="*/ 0 h 3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13" h="311">
                        <a:moveTo>
                          <a:pt x="0" y="311"/>
                        </a:moveTo>
                        <a:lnTo>
                          <a:pt x="312" y="0"/>
                        </a:lnTo>
                        <a:lnTo>
                          <a:pt x="313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210" name="Group 60"/>
                <p:cNvGrpSpPr>
                  <a:grpSpLocks/>
                </p:cNvGrpSpPr>
                <p:nvPr/>
              </p:nvGrpSpPr>
              <p:grpSpPr bwMode="auto">
                <a:xfrm>
                  <a:off x="4541" y="1793"/>
                  <a:ext cx="425" cy="424"/>
                  <a:chOff x="4818" y="704"/>
                  <a:chExt cx="576" cy="576"/>
                </a:xfrm>
              </p:grpSpPr>
              <p:grpSp>
                <p:nvGrpSpPr>
                  <p:cNvPr id="211" name="Group 61"/>
                  <p:cNvGrpSpPr>
                    <a:grpSpLocks/>
                  </p:cNvGrpSpPr>
                  <p:nvPr/>
                </p:nvGrpSpPr>
                <p:grpSpPr bwMode="auto">
                  <a:xfrm>
                    <a:off x="4818" y="704"/>
                    <a:ext cx="576" cy="576"/>
                    <a:chOff x="4818" y="704"/>
                    <a:chExt cx="576" cy="576"/>
                  </a:xfrm>
                </p:grpSpPr>
                <p:sp>
                  <p:nvSpPr>
                    <p:cNvPr id="219" name="Freeform 6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818" y="990"/>
                      <a:ext cx="219" cy="4"/>
                    </a:xfrm>
                    <a:custGeom>
                      <a:avLst/>
                      <a:gdLst>
                        <a:gd name="T0" fmla="*/ 0 w 487"/>
                        <a:gd name="T1" fmla="*/ 0 h 4"/>
                        <a:gd name="T2" fmla="*/ 486 w 487"/>
                        <a:gd name="T3" fmla="*/ 0 h 4"/>
                        <a:gd name="T4" fmla="*/ 487 w 487"/>
                        <a:gd name="T5" fmla="*/ 0 h 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487" h="4">
                          <a:moveTo>
                            <a:pt x="0" y="0"/>
                          </a:moveTo>
                          <a:lnTo>
                            <a:pt x="486" y="0"/>
                          </a:lnTo>
                          <a:lnTo>
                            <a:pt x="487" y="0"/>
                          </a:lnTo>
                        </a:path>
                      </a:pathLst>
                    </a:custGeom>
                    <a:noFill/>
                    <a:ln w="12700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20" name="Freeform 6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82" y="990"/>
                      <a:ext cx="49" cy="4"/>
                    </a:xfrm>
                    <a:custGeom>
                      <a:avLst/>
                      <a:gdLst>
                        <a:gd name="T0" fmla="*/ 0 w 107"/>
                        <a:gd name="T1" fmla="*/ 0 h 4"/>
                        <a:gd name="T2" fmla="*/ 106 w 107"/>
                        <a:gd name="T3" fmla="*/ 0 h 4"/>
                        <a:gd name="T4" fmla="*/ 107 w 107"/>
                        <a:gd name="T5" fmla="*/ 0 h 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07" h="4">
                          <a:moveTo>
                            <a:pt x="0" y="0"/>
                          </a:moveTo>
                          <a:lnTo>
                            <a:pt x="106" y="0"/>
                          </a:lnTo>
                          <a:lnTo>
                            <a:pt x="107" y="0"/>
                          </a:lnTo>
                        </a:path>
                      </a:pathLst>
                    </a:custGeom>
                    <a:noFill/>
                    <a:ln w="12700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21" name="Freeform 6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80" y="990"/>
                      <a:ext cx="214" cy="4"/>
                    </a:xfrm>
                    <a:custGeom>
                      <a:avLst/>
                      <a:gdLst>
                        <a:gd name="T0" fmla="*/ 0 w 486"/>
                        <a:gd name="T1" fmla="*/ 0 h 4"/>
                        <a:gd name="T2" fmla="*/ 485 w 486"/>
                        <a:gd name="T3" fmla="*/ 0 h 4"/>
                        <a:gd name="T4" fmla="*/ 486 w 486"/>
                        <a:gd name="T5" fmla="*/ 0 h 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486" h="4">
                          <a:moveTo>
                            <a:pt x="0" y="0"/>
                          </a:moveTo>
                          <a:lnTo>
                            <a:pt x="485" y="0"/>
                          </a:lnTo>
                          <a:lnTo>
                            <a:pt x="486" y="0"/>
                          </a:lnTo>
                        </a:path>
                      </a:pathLst>
                    </a:custGeom>
                    <a:noFill/>
                    <a:ln w="12700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22" name="Freeform 6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08" y="1061"/>
                      <a:ext cx="5" cy="219"/>
                    </a:xfrm>
                    <a:custGeom>
                      <a:avLst/>
                      <a:gdLst>
                        <a:gd name="T0" fmla="*/ 0 w 1"/>
                        <a:gd name="T1" fmla="*/ 486 h 486"/>
                        <a:gd name="T2" fmla="*/ 0 w 1"/>
                        <a:gd name="T3" fmla="*/ 0 h 486"/>
                        <a:gd name="T4" fmla="*/ 1 w 1"/>
                        <a:gd name="T5" fmla="*/ 0 h 48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" h="486">
                          <a:moveTo>
                            <a:pt x="0" y="486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2700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23" name="Freeform 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08" y="967"/>
                      <a:ext cx="5" cy="45"/>
                    </a:xfrm>
                    <a:custGeom>
                      <a:avLst/>
                      <a:gdLst>
                        <a:gd name="T0" fmla="*/ 0 w 1"/>
                        <a:gd name="T1" fmla="*/ 107 h 107"/>
                        <a:gd name="T2" fmla="*/ 0 w 1"/>
                        <a:gd name="T3" fmla="*/ 0 h 107"/>
                        <a:gd name="T4" fmla="*/ 1 w 1"/>
                        <a:gd name="T5" fmla="*/ 0 h 10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" h="107">
                          <a:moveTo>
                            <a:pt x="0" y="107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2700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24" name="Freeform 6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08" y="704"/>
                      <a:ext cx="5" cy="214"/>
                    </a:xfrm>
                    <a:custGeom>
                      <a:avLst/>
                      <a:gdLst>
                        <a:gd name="T0" fmla="*/ 0 w 1"/>
                        <a:gd name="T1" fmla="*/ 486 h 486"/>
                        <a:gd name="T2" fmla="*/ 0 w 1"/>
                        <a:gd name="T3" fmla="*/ 0 h 486"/>
                        <a:gd name="T4" fmla="*/ 1 w 1"/>
                        <a:gd name="T5" fmla="*/ 0 h 48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" h="486">
                          <a:moveTo>
                            <a:pt x="0" y="486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2700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212" name="Group 68"/>
                  <p:cNvGrpSpPr>
                    <a:grpSpLocks/>
                  </p:cNvGrpSpPr>
                  <p:nvPr/>
                </p:nvGrpSpPr>
                <p:grpSpPr bwMode="auto">
                  <a:xfrm>
                    <a:off x="4885" y="775"/>
                    <a:ext cx="442" cy="429"/>
                    <a:chOff x="4885" y="775"/>
                    <a:chExt cx="442" cy="429"/>
                  </a:xfrm>
                </p:grpSpPr>
                <p:sp>
                  <p:nvSpPr>
                    <p:cNvPr id="213" name="Freeform 6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14" y="909"/>
                      <a:ext cx="13" cy="161"/>
                    </a:xfrm>
                    <a:custGeom>
                      <a:avLst/>
                      <a:gdLst>
                        <a:gd name="T0" fmla="*/ 0 w 33"/>
                        <a:gd name="T1" fmla="*/ 0 h 355"/>
                        <a:gd name="T2" fmla="*/ 5 w 33"/>
                        <a:gd name="T3" fmla="*/ 14 h 355"/>
                        <a:gd name="T4" fmla="*/ 16 w 33"/>
                        <a:gd name="T5" fmla="*/ 52 h 355"/>
                        <a:gd name="T6" fmla="*/ 28 w 33"/>
                        <a:gd name="T7" fmla="*/ 109 h 355"/>
                        <a:gd name="T8" fmla="*/ 33 w 33"/>
                        <a:gd name="T9" fmla="*/ 177 h 355"/>
                        <a:gd name="T10" fmla="*/ 28 w 33"/>
                        <a:gd name="T11" fmla="*/ 245 h 355"/>
                        <a:gd name="T12" fmla="*/ 16 w 33"/>
                        <a:gd name="T13" fmla="*/ 303 h 355"/>
                        <a:gd name="T14" fmla="*/ 5 w 33"/>
                        <a:gd name="T15" fmla="*/ 341 h 355"/>
                        <a:gd name="T16" fmla="*/ 0 w 33"/>
                        <a:gd name="T17" fmla="*/ 355 h 355"/>
                        <a:gd name="T18" fmla="*/ 1 w 33"/>
                        <a:gd name="T19" fmla="*/ 355 h 3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33" h="355">
                          <a:moveTo>
                            <a:pt x="0" y="0"/>
                          </a:moveTo>
                          <a:lnTo>
                            <a:pt x="5" y="14"/>
                          </a:lnTo>
                          <a:lnTo>
                            <a:pt x="16" y="52"/>
                          </a:lnTo>
                          <a:lnTo>
                            <a:pt x="28" y="109"/>
                          </a:lnTo>
                          <a:lnTo>
                            <a:pt x="33" y="177"/>
                          </a:lnTo>
                          <a:lnTo>
                            <a:pt x="28" y="245"/>
                          </a:lnTo>
                          <a:lnTo>
                            <a:pt x="16" y="303"/>
                          </a:lnTo>
                          <a:lnTo>
                            <a:pt x="5" y="341"/>
                          </a:lnTo>
                          <a:lnTo>
                            <a:pt x="0" y="355"/>
                          </a:lnTo>
                          <a:lnTo>
                            <a:pt x="1" y="355"/>
                          </a:lnTo>
                        </a:path>
                      </a:pathLst>
                    </a:cu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14" name="Freeform 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885" y="909"/>
                      <a:ext cx="14" cy="161"/>
                    </a:xfrm>
                    <a:custGeom>
                      <a:avLst/>
                      <a:gdLst>
                        <a:gd name="T0" fmla="*/ 32 w 33"/>
                        <a:gd name="T1" fmla="*/ 355 h 355"/>
                        <a:gd name="T2" fmla="*/ 27 w 33"/>
                        <a:gd name="T3" fmla="*/ 341 h 355"/>
                        <a:gd name="T4" fmla="*/ 15 w 33"/>
                        <a:gd name="T5" fmla="*/ 303 h 355"/>
                        <a:gd name="T6" fmla="*/ 4 w 33"/>
                        <a:gd name="T7" fmla="*/ 245 h 355"/>
                        <a:gd name="T8" fmla="*/ 0 w 33"/>
                        <a:gd name="T9" fmla="*/ 177 h 355"/>
                        <a:gd name="T10" fmla="*/ 4 w 33"/>
                        <a:gd name="T11" fmla="*/ 109 h 355"/>
                        <a:gd name="T12" fmla="*/ 15 w 33"/>
                        <a:gd name="T13" fmla="*/ 52 h 355"/>
                        <a:gd name="T14" fmla="*/ 27 w 33"/>
                        <a:gd name="T15" fmla="*/ 14 h 355"/>
                        <a:gd name="T16" fmla="*/ 32 w 33"/>
                        <a:gd name="T17" fmla="*/ 0 h 355"/>
                        <a:gd name="T18" fmla="*/ 33 w 33"/>
                        <a:gd name="T19" fmla="*/ 0 h 3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33" h="355">
                          <a:moveTo>
                            <a:pt x="32" y="355"/>
                          </a:moveTo>
                          <a:lnTo>
                            <a:pt x="27" y="341"/>
                          </a:lnTo>
                          <a:lnTo>
                            <a:pt x="15" y="303"/>
                          </a:lnTo>
                          <a:lnTo>
                            <a:pt x="4" y="245"/>
                          </a:lnTo>
                          <a:lnTo>
                            <a:pt x="0" y="177"/>
                          </a:lnTo>
                          <a:lnTo>
                            <a:pt x="4" y="109"/>
                          </a:lnTo>
                          <a:lnTo>
                            <a:pt x="15" y="52"/>
                          </a:lnTo>
                          <a:lnTo>
                            <a:pt x="27" y="14"/>
                          </a:lnTo>
                          <a:lnTo>
                            <a:pt x="32" y="0"/>
                          </a:lnTo>
                          <a:lnTo>
                            <a:pt x="33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15" name="Freeform 7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899" y="1070"/>
                      <a:ext cx="415" cy="134"/>
                    </a:xfrm>
                    <a:custGeom>
                      <a:avLst/>
                      <a:gdLst>
                        <a:gd name="T0" fmla="*/ 0 w 928"/>
                        <a:gd name="T1" fmla="*/ 0 h 304"/>
                        <a:gd name="T2" fmla="*/ 135 w 928"/>
                        <a:gd name="T3" fmla="*/ 194 h 304"/>
                        <a:gd name="T4" fmla="*/ 345 w 928"/>
                        <a:gd name="T5" fmla="*/ 304 h 304"/>
                        <a:gd name="T6" fmla="*/ 582 w 928"/>
                        <a:gd name="T7" fmla="*/ 304 h 304"/>
                        <a:gd name="T8" fmla="*/ 792 w 928"/>
                        <a:gd name="T9" fmla="*/ 194 h 304"/>
                        <a:gd name="T10" fmla="*/ 927 w 928"/>
                        <a:gd name="T11" fmla="*/ 0 h 304"/>
                        <a:gd name="T12" fmla="*/ 928 w 928"/>
                        <a:gd name="T13" fmla="*/ 0 h 3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928" h="304">
                          <a:moveTo>
                            <a:pt x="0" y="0"/>
                          </a:moveTo>
                          <a:lnTo>
                            <a:pt x="135" y="194"/>
                          </a:lnTo>
                          <a:lnTo>
                            <a:pt x="345" y="304"/>
                          </a:lnTo>
                          <a:lnTo>
                            <a:pt x="582" y="304"/>
                          </a:lnTo>
                          <a:lnTo>
                            <a:pt x="792" y="194"/>
                          </a:lnTo>
                          <a:lnTo>
                            <a:pt x="927" y="0"/>
                          </a:lnTo>
                          <a:lnTo>
                            <a:pt x="928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16" name="Freeform 7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899" y="1070"/>
                      <a:ext cx="415" cy="5"/>
                    </a:xfrm>
                    <a:custGeom>
                      <a:avLst/>
                      <a:gdLst>
                        <a:gd name="T0" fmla="*/ 0 w 928"/>
                        <a:gd name="T1" fmla="*/ 0 h 5"/>
                        <a:gd name="T2" fmla="*/ 927 w 928"/>
                        <a:gd name="T3" fmla="*/ 0 h 5"/>
                        <a:gd name="T4" fmla="*/ 928 w 928"/>
                        <a:gd name="T5" fmla="*/ 0 h 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928" h="5">
                          <a:moveTo>
                            <a:pt x="0" y="0"/>
                          </a:moveTo>
                          <a:lnTo>
                            <a:pt x="927" y="0"/>
                          </a:lnTo>
                          <a:lnTo>
                            <a:pt x="928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17" name="Freeform 7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899" y="775"/>
                      <a:ext cx="415" cy="134"/>
                    </a:xfrm>
                    <a:custGeom>
                      <a:avLst/>
                      <a:gdLst>
                        <a:gd name="T0" fmla="*/ 927 w 927"/>
                        <a:gd name="T1" fmla="*/ 304 h 304"/>
                        <a:gd name="T2" fmla="*/ 792 w 927"/>
                        <a:gd name="T3" fmla="*/ 110 h 304"/>
                        <a:gd name="T4" fmla="*/ 582 w 927"/>
                        <a:gd name="T5" fmla="*/ 0 h 304"/>
                        <a:gd name="T6" fmla="*/ 345 w 927"/>
                        <a:gd name="T7" fmla="*/ 0 h 304"/>
                        <a:gd name="T8" fmla="*/ 135 w 927"/>
                        <a:gd name="T9" fmla="*/ 110 h 304"/>
                        <a:gd name="T10" fmla="*/ 0 w 927"/>
                        <a:gd name="T11" fmla="*/ 304 h 304"/>
                        <a:gd name="T12" fmla="*/ 1 w 927"/>
                        <a:gd name="T13" fmla="*/ 304 h 3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927" h="304">
                          <a:moveTo>
                            <a:pt x="927" y="304"/>
                          </a:moveTo>
                          <a:lnTo>
                            <a:pt x="792" y="110"/>
                          </a:lnTo>
                          <a:lnTo>
                            <a:pt x="582" y="0"/>
                          </a:lnTo>
                          <a:lnTo>
                            <a:pt x="345" y="0"/>
                          </a:lnTo>
                          <a:lnTo>
                            <a:pt x="135" y="110"/>
                          </a:lnTo>
                          <a:lnTo>
                            <a:pt x="0" y="304"/>
                          </a:lnTo>
                          <a:lnTo>
                            <a:pt x="1" y="304"/>
                          </a:lnTo>
                        </a:path>
                      </a:pathLst>
                    </a:cu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18" name="Freeform 7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899" y="909"/>
                      <a:ext cx="415" cy="5"/>
                    </a:xfrm>
                    <a:custGeom>
                      <a:avLst/>
                      <a:gdLst>
                        <a:gd name="T0" fmla="*/ 927 w 927"/>
                        <a:gd name="T1" fmla="*/ 0 h 5"/>
                        <a:gd name="T2" fmla="*/ 0 w 927"/>
                        <a:gd name="T3" fmla="*/ 0 h 5"/>
                        <a:gd name="T4" fmla="*/ 1 w 927"/>
                        <a:gd name="T5" fmla="*/ 0 h 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927" h="5">
                          <a:moveTo>
                            <a:pt x="927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</p:grpSp>
            </p:grpSp>
          </p:grpSp>
          <p:grpSp>
            <p:nvGrpSpPr>
              <p:cNvPr id="188" name="Group 75"/>
              <p:cNvGrpSpPr>
                <a:grpSpLocks/>
              </p:cNvGrpSpPr>
              <p:nvPr/>
            </p:nvGrpSpPr>
            <p:grpSpPr bwMode="auto">
              <a:xfrm>
                <a:off x="2157" y="2752"/>
                <a:ext cx="2462" cy="440"/>
                <a:chOff x="1833" y="1780"/>
                <a:chExt cx="2462" cy="440"/>
              </a:xfrm>
            </p:grpSpPr>
            <p:sp>
              <p:nvSpPr>
                <p:cNvPr id="189" name="Freeform 76"/>
                <p:cNvSpPr>
                  <a:spLocks noChangeArrowheads="1"/>
                </p:cNvSpPr>
                <p:nvPr/>
              </p:nvSpPr>
              <p:spPr bwMode="auto">
                <a:xfrm>
                  <a:off x="4095" y="2004"/>
                  <a:ext cx="200" cy="3"/>
                </a:xfrm>
                <a:custGeom>
                  <a:avLst/>
                  <a:gdLst>
                    <a:gd name="T0" fmla="*/ 608 w 608"/>
                    <a:gd name="T1" fmla="*/ 0 h 3"/>
                    <a:gd name="T2" fmla="*/ 0 w 608"/>
                    <a:gd name="T3" fmla="*/ 0 h 3"/>
                    <a:gd name="T4" fmla="*/ 1 w 608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08" h="3">
                      <a:moveTo>
                        <a:pt x="608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0" name="Freeform 77"/>
                <p:cNvSpPr>
                  <a:spLocks noChangeArrowheads="1"/>
                </p:cNvSpPr>
                <p:nvPr/>
              </p:nvSpPr>
              <p:spPr bwMode="auto">
                <a:xfrm>
                  <a:off x="4025" y="2004"/>
                  <a:ext cx="34" cy="3"/>
                </a:xfrm>
                <a:custGeom>
                  <a:avLst/>
                  <a:gdLst>
                    <a:gd name="T0" fmla="*/ 105 w 105"/>
                    <a:gd name="T1" fmla="*/ 0 h 3"/>
                    <a:gd name="T2" fmla="*/ 0 w 105"/>
                    <a:gd name="T3" fmla="*/ 0 h 3"/>
                    <a:gd name="T4" fmla="*/ 1 w 105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5" h="3">
                      <a:moveTo>
                        <a:pt x="105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1" name="Freeform 78"/>
                <p:cNvSpPr>
                  <a:spLocks noChangeArrowheads="1"/>
                </p:cNvSpPr>
                <p:nvPr/>
              </p:nvSpPr>
              <p:spPr bwMode="auto">
                <a:xfrm>
                  <a:off x="3815" y="2004"/>
                  <a:ext cx="174" cy="3"/>
                </a:xfrm>
                <a:custGeom>
                  <a:avLst/>
                  <a:gdLst>
                    <a:gd name="T0" fmla="*/ 531 w 531"/>
                    <a:gd name="T1" fmla="*/ 0 h 3"/>
                    <a:gd name="T2" fmla="*/ 0 w 531"/>
                    <a:gd name="T3" fmla="*/ 0 h 3"/>
                    <a:gd name="T4" fmla="*/ 1 w 53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31" h="3">
                      <a:moveTo>
                        <a:pt x="531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2" name="Freeform 79"/>
                <p:cNvSpPr>
                  <a:spLocks noChangeArrowheads="1"/>
                </p:cNvSpPr>
                <p:nvPr/>
              </p:nvSpPr>
              <p:spPr bwMode="auto">
                <a:xfrm>
                  <a:off x="3746" y="2004"/>
                  <a:ext cx="33" cy="3"/>
                </a:xfrm>
                <a:custGeom>
                  <a:avLst/>
                  <a:gdLst>
                    <a:gd name="T0" fmla="*/ 106 w 106"/>
                    <a:gd name="T1" fmla="*/ 0 h 3"/>
                    <a:gd name="T2" fmla="*/ 0 w 106"/>
                    <a:gd name="T3" fmla="*/ 0 h 3"/>
                    <a:gd name="T4" fmla="*/ 1 w 106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6" h="3">
                      <a:moveTo>
                        <a:pt x="10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3" name="Freeform 80"/>
                <p:cNvSpPr>
                  <a:spLocks noChangeArrowheads="1"/>
                </p:cNvSpPr>
                <p:nvPr/>
              </p:nvSpPr>
              <p:spPr bwMode="auto">
                <a:xfrm>
                  <a:off x="3535" y="2004"/>
                  <a:ext cx="175" cy="3"/>
                </a:xfrm>
                <a:custGeom>
                  <a:avLst/>
                  <a:gdLst>
                    <a:gd name="T0" fmla="*/ 531 w 531"/>
                    <a:gd name="T1" fmla="*/ 0 h 3"/>
                    <a:gd name="T2" fmla="*/ 0 w 531"/>
                    <a:gd name="T3" fmla="*/ 0 h 3"/>
                    <a:gd name="T4" fmla="*/ 1 w 53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31" h="3">
                      <a:moveTo>
                        <a:pt x="531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4" name="Freeform 81"/>
                <p:cNvSpPr>
                  <a:spLocks noChangeArrowheads="1"/>
                </p:cNvSpPr>
                <p:nvPr/>
              </p:nvSpPr>
              <p:spPr bwMode="auto">
                <a:xfrm>
                  <a:off x="3467" y="2004"/>
                  <a:ext cx="32" cy="3"/>
                </a:xfrm>
                <a:custGeom>
                  <a:avLst/>
                  <a:gdLst>
                    <a:gd name="T0" fmla="*/ 106 w 106"/>
                    <a:gd name="T1" fmla="*/ 0 h 3"/>
                    <a:gd name="T2" fmla="*/ 0 w 106"/>
                    <a:gd name="T3" fmla="*/ 0 h 3"/>
                    <a:gd name="T4" fmla="*/ 1 w 106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6" h="3">
                      <a:moveTo>
                        <a:pt x="10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5" name="Freeform 82"/>
                <p:cNvSpPr>
                  <a:spLocks noChangeArrowheads="1"/>
                </p:cNvSpPr>
                <p:nvPr/>
              </p:nvSpPr>
              <p:spPr bwMode="auto">
                <a:xfrm>
                  <a:off x="3256" y="2004"/>
                  <a:ext cx="175" cy="3"/>
                </a:xfrm>
                <a:custGeom>
                  <a:avLst/>
                  <a:gdLst>
                    <a:gd name="T0" fmla="*/ 531 w 531"/>
                    <a:gd name="T1" fmla="*/ 0 h 3"/>
                    <a:gd name="T2" fmla="*/ 0 w 531"/>
                    <a:gd name="T3" fmla="*/ 0 h 3"/>
                    <a:gd name="T4" fmla="*/ 1 w 53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31" h="3">
                      <a:moveTo>
                        <a:pt x="531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6" name="Freeform 83"/>
                <p:cNvSpPr>
                  <a:spLocks noChangeArrowheads="1"/>
                </p:cNvSpPr>
                <p:nvPr/>
              </p:nvSpPr>
              <p:spPr bwMode="auto">
                <a:xfrm>
                  <a:off x="3187" y="2004"/>
                  <a:ext cx="33" cy="3"/>
                </a:xfrm>
                <a:custGeom>
                  <a:avLst/>
                  <a:gdLst>
                    <a:gd name="T0" fmla="*/ 106 w 106"/>
                    <a:gd name="T1" fmla="*/ 0 h 3"/>
                    <a:gd name="T2" fmla="*/ 0 w 106"/>
                    <a:gd name="T3" fmla="*/ 0 h 3"/>
                    <a:gd name="T4" fmla="*/ 1 w 106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6" h="3">
                      <a:moveTo>
                        <a:pt x="10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7" name="Freeform 84"/>
                <p:cNvSpPr>
                  <a:spLocks noChangeArrowheads="1"/>
                </p:cNvSpPr>
                <p:nvPr/>
              </p:nvSpPr>
              <p:spPr bwMode="auto">
                <a:xfrm>
                  <a:off x="2977" y="2004"/>
                  <a:ext cx="174" cy="3"/>
                </a:xfrm>
                <a:custGeom>
                  <a:avLst/>
                  <a:gdLst>
                    <a:gd name="T0" fmla="*/ 531 w 531"/>
                    <a:gd name="T1" fmla="*/ 0 h 3"/>
                    <a:gd name="T2" fmla="*/ 0 w 531"/>
                    <a:gd name="T3" fmla="*/ 0 h 3"/>
                    <a:gd name="T4" fmla="*/ 1 w 53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31" h="3">
                      <a:moveTo>
                        <a:pt x="531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8" name="Freeform 85"/>
                <p:cNvSpPr>
                  <a:spLocks noChangeArrowheads="1"/>
                </p:cNvSpPr>
                <p:nvPr/>
              </p:nvSpPr>
              <p:spPr bwMode="auto">
                <a:xfrm>
                  <a:off x="2908" y="2004"/>
                  <a:ext cx="33" cy="3"/>
                </a:xfrm>
                <a:custGeom>
                  <a:avLst/>
                  <a:gdLst>
                    <a:gd name="T0" fmla="*/ 106 w 106"/>
                    <a:gd name="T1" fmla="*/ 0 h 3"/>
                    <a:gd name="T2" fmla="*/ 0 w 106"/>
                    <a:gd name="T3" fmla="*/ 0 h 3"/>
                    <a:gd name="T4" fmla="*/ 1 w 106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6" h="3">
                      <a:moveTo>
                        <a:pt x="10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9" name="Freeform 86"/>
                <p:cNvSpPr>
                  <a:spLocks noChangeArrowheads="1"/>
                </p:cNvSpPr>
                <p:nvPr/>
              </p:nvSpPr>
              <p:spPr bwMode="auto">
                <a:xfrm>
                  <a:off x="2698" y="2004"/>
                  <a:ext cx="174" cy="3"/>
                </a:xfrm>
                <a:custGeom>
                  <a:avLst/>
                  <a:gdLst>
                    <a:gd name="T0" fmla="*/ 531 w 531"/>
                    <a:gd name="T1" fmla="*/ 0 h 3"/>
                    <a:gd name="T2" fmla="*/ 0 w 531"/>
                    <a:gd name="T3" fmla="*/ 0 h 3"/>
                    <a:gd name="T4" fmla="*/ 1 w 53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31" h="3">
                      <a:moveTo>
                        <a:pt x="531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00" name="Freeform 87"/>
                <p:cNvSpPr>
                  <a:spLocks noChangeArrowheads="1"/>
                </p:cNvSpPr>
                <p:nvPr/>
              </p:nvSpPr>
              <p:spPr bwMode="auto">
                <a:xfrm>
                  <a:off x="2629" y="2004"/>
                  <a:ext cx="33" cy="3"/>
                </a:xfrm>
                <a:custGeom>
                  <a:avLst/>
                  <a:gdLst>
                    <a:gd name="T0" fmla="*/ 105 w 105"/>
                    <a:gd name="T1" fmla="*/ 0 h 3"/>
                    <a:gd name="T2" fmla="*/ 0 w 105"/>
                    <a:gd name="T3" fmla="*/ 0 h 3"/>
                    <a:gd name="T4" fmla="*/ 1 w 105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5" h="3">
                      <a:moveTo>
                        <a:pt x="105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01" name="Freeform 88"/>
                <p:cNvSpPr>
                  <a:spLocks noChangeArrowheads="1"/>
                </p:cNvSpPr>
                <p:nvPr/>
              </p:nvSpPr>
              <p:spPr bwMode="auto">
                <a:xfrm>
                  <a:off x="2418" y="2004"/>
                  <a:ext cx="175" cy="3"/>
                </a:xfrm>
                <a:custGeom>
                  <a:avLst/>
                  <a:gdLst>
                    <a:gd name="T0" fmla="*/ 531 w 531"/>
                    <a:gd name="T1" fmla="*/ 0 h 3"/>
                    <a:gd name="T2" fmla="*/ 0 w 531"/>
                    <a:gd name="T3" fmla="*/ 0 h 3"/>
                    <a:gd name="T4" fmla="*/ 1 w 53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31" h="3">
                      <a:moveTo>
                        <a:pt x="531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02" name="Freeform 89"/>
                <p:cNvSpPr>
                  <a:spLocks noChangeArrowheads="1"/>
                </p:cNvSpPr>
                <p:nvPr/>
              </p:nvSpPr>
              <p:spPr bwMode="auto">
                <a:xfrm>
                  <a:off x="2349" y="2004"/>
                  <a:ext cx="33" cy="3"/>
                </a:xfrm>
                <a:custGeom>
                  <a:avLst/>
                  <a:gdLst>
                    <a:gd name="T0" fmla="*/ 106 w 106"/>
                    <a:gd name="T1" fmla="*/ 0 h 3"/>
                    <a:gd name="T2" fmla="*/ 0 w 106"/>
                    <a:gd name="T3" fmla="*/ 0 h 3"/>
                    <a:gd name="T4" fmla="*/ 1 w 106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6" h="3">
                      <a:moveTo>
                        <a:pt x="10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03" name="Freeform 90"/>
                <p:cNvSpPr>
                  <a:spLocks noChangeArrowheads="1"/>
                </p:cNvSpPr>
                <p:nvPr/>
              </p:nvSpPr>
              <p:spPr bwMode="auto">
                <a:xfrm>
                  <a:off x="2139" y="2004"/>
                  <a:ext cx="174" cy="3"/>
                </a:xfrm>
                <a:custGeom>
                  <a:avLst/>
                  <a:gdLst>
                    <a:gd name="T0" fmla="*/ 531 w 531"/>
                    <a:gd name="T1" fmla="*/ 0 h 3"/>
                    <a:gd name="T2" fmla="*/ 0 w 531"/>
                    <a:gd name="T3" fmla="*/ 0 h 3"/>
                    <a:gd name="T4" fmla="*/ 1 w 53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31" h="3">
                      <a:moveTo>
                        <a:pt x="531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04" name="Freeform 91"/>
                <p:cNvSpPr>
                  <a:spLocks noChangeArrowheads="1"/>
                </p:cNvSpPr>
                <p:nvPr/>
              </p:nvSpPr>
              <p:spPr bwMode="auto">
                <a:xfrm>
                  <a:off x="2070" y="2004"/>
                  <a:ext cx="33" cy="3"/>
                </a:xfrm>
                <a:custGeom>
                  <a:avLst/>
                  <a:gdLst>
                    <a:gd name="T0" fmla="*/ 106 w 106"/>
                    <a:gd name="T1" fmla="*/ 0 h 3"/>
                    <a:gd name="T2" fmla="*/ 0 w 106"/>
                    <a:gd name="T3" fmla="*/ 0 h 3"/>
                    <a:gd name="T4" fmla="*/ 1 w 106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6" h="3">
                      <a:moveTo>
                        <a:pt x="10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05" name="Freeform 92"/>
                <p:cNvSpPr>
                  <a:spLocks noChangeArrowheads="1"/>
                </p:cNvSpPr>
                <p:nvPr/>
              </p:nvSpPr>
              <p:spPr bwMode="auto">
                <a:xfrm>
                  <a:off x="1833" y="2004"/>
                  <a:ext cx="200" cy="3"/>
                </a:xfrm>
                <a:custGeom>
                  <a:avLst/>
                  <a:gdLst>
                    <a:gd name="T0" fmla="*/ 606 w 606"/>
                    <a:gd name="T1" fmla="*/ 0 h 3"/>
                    <a:gd name="T2" fmla="*/ 0 w 606"/>
                    <a:gd name="T3" fmla="*/ 0 h 3"/>
                    <a:gd name="T4" fmla="*/ 1 w 606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06" h="3">
                      <a:moveTo>
                        <a:pt x="60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06" name="Line 93"/>
                <p:cNvSpPr>
                  <a:spLocks noChangeShapeType="1"/>
                </p:cNvSpPr>
                <p:nvPr/>
              </p:nvSpPr>
              <p:spPr bwMode="auto">
                <a:xfrm>
                  <a:off x="2123" y="1911"/>
                  <a:ext cx="0" cy="212"/>
                </a:xfrm>
                <a:prstGeom prst="line">
                  <a:avLst/>
                </a:prstGeom>
                <a:noFill/>
                <a:ln w="127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07" name="Line 94"/>
                <p:cNvSpPr>
                  <a:spLocks noChangeShapeType="1"/>
                </p:cNvSpPr>
                <p:nvPr/>
              </p:nvSpPr>
              <p:spPr bwMode="auto">
                <a:xfrm flipH="1">
                  <a:off x="2406" y="1911"/>
                  <a:ext cx="0" cy="212"/>
                </a:xfrm>
                <a:prstGeom prst="line">
                  <a:avLst/>
                </a:prstGeom>
                <a:noFill/>
                <a:ln w="127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08" name="Line 95"/>
                <p:cNvSpPr>
                  <a:spLocks noChangeShapeType="1"/>
                </p:cNvSpPr>
                <p:nvPr/>
              </p:nvSpPr>
              <p:spPr bwMode="auto">
                <a:xfrm>
                  <a:off x="3948" y="1780"/>
                  <a:ext cx="0" cy="440"/>
                </a:xfrm>
                <a:prstGeom prst="line">
                  <a:avLst/>
                </a:prstGeom>
                <a:noFill/>
                <a:ln w="127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62" name="Group 96"/>
            <p:cNvGrpSpPr>
              <a:grpSpLocks/>
            </p:cNvGrpSpPr>
            <p:nvPr/>
          </p:nvGrpSpPr>
          <p:grpSpPr bwMode="auto">
            <a:xfrm>
              <a:off x="3522" y="1858"/>
              <a:ext cx="460" cy="462"/>
              <a:chOff x="2297" y="3518"/>
              <a:chExt cx="552" cy="553"/>
            </a:xfrm>
          </p:grpSpPr>
          <p:grpSp>
            <p:nvGrpSpPr>
              <p:cNvPr id="163" name="Group 97"/>
              <p:cNvGrpSpPr>
                <a:grpSpLocks/>
              </p:cNvGrpSpPr>
              <p:nvPr/>
            </p:nvGrpSpPr>
            <p:grpSpPr bwMode="auto">
              <a:xfrm flipH="1">
                <a:off x="2363" y="3585"/>
                <a:ext cx="404" cy="417"/>
                <a:chOff x="2073" y="1335"/>
                <a:chExt cx="123" cy="127"/>
              </a:xfrm>
            </p:grpSpPr>
            <p:sp>
              <p:nvSpPr>
                <p:cNvPr id="177" name="Freeform 98"/>
                <p:cNvSpPr>
                  <a:spLocks noChangeArrowheads="1"/>
                </p:cNvSpPr>
                <p:nvPr/>
              </p:nvSpPr>
              <p:spPr bwMode="auto">
                <a:xfrm>
                  <a:off x="2137" y="1335"/>
                  <a:ext cx="59" cy="59"/>
                </a:xfrm>
                <a:custGeom>
                  <a:avLst/>
                  <a:gdLst>
                    <a:gd name="T0" fmla="*/ 592 w 592"/>
                    <a:gd name="T1" fmla="*/ 592 h 592"/>
                    <a:gd name="T2" fmla="*/ 0 w 592"/>
                    <a:gd name="T3" fmla="*/ 0 h 592"/>
                    <a:gd name="T4" fmla="*/ 1 w 592"/>
                    <a:gd name="T5" fmla="*/ 0 h 5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92" h="592">
                      <a:moveTo>
                        <a:pt x="592" y="592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78" name="Freeform 99"/>
                <p:cNvSpPr>
                  <a:spLocks noChangeArrowheads="1"/>
                </p:cNvSpPr>
                <p:nvPr/>
              </p:nvSpPr>
              <p:spPr bwMode="auto">
                <a:xfrm>
                  <a:off x="2115" y="1337"/>
                  <a:ext cx="79" cy="79"/>
                </a:xfrm>
                <a:custGeom>
                  <a:avLst/>
                  <a:gdLst>
                    <a:gd name="T0" fmla="*/ 792 w 792"/>
                    <a:gd name="T1" fmla="*/ 793 h 793"/>
                    <a:gd name="T2" fmla="*/ 0 w 792"/>
                    <a:gd name="T3" fmla="*/ 0 h 793"/>
                    <a:gd name="T4" fmla="*/ 1 w 792"/>
                    <a:gd name="T5" fmla="*/ 0 h 7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792" h="793">
                      <a:moveTo>
                        <a:pt x="792" y="793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79" name="Freeform 100"/>
                <p:cNvSpPr>
                  <a:spLocks noChangeArrowheads="1"/>
                </p:cNvSpPr>
                <p:nvPr/>
              </p:nvSpPr>
              <p:spPr bwMode="auto">
                <a:xfrm>
                  <a:off x="2097" y="1345"/>
                  <a:ext cx="89" cy="88"/>
                </a:xfrm>
                <a:custGeom>
                  <a:avLst/>
                  <a:gdLst>
                    <a:gd name="T0" fmla="*/ 884 w 884"/>
                    <a:gd name="T1" fmla="*/ 885 h 885"/>
                    <a:gd name="T2" fmla="*/ 0 w 884"/>
                    <a:gd name="T3" fmla="*/ 0 h 885"/>
                    <a:gd name="T4" fmla="*/ 1 w 884"/>
                    <a:gd name="T5" fmla="*/ 0 h 8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84" h="885">
                      <a:moveTo>
                        <a:pt x="884" y="885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0" name="Freeform 101"/>
                <p:cNvSpPr>
                  <a:spLocks noChangeArrowheads="1"/>
                </p:cNvSpPr>
                <p:nvPr/>
              </p:nvSpPr>
              <p:spPr bwMode="auto">
                <a:xfrm>
                  <a:off x="2084" y="1357"/>
                  <a:ext cx="90" cy="90"/>
                </a:xfrm>
                <a:custGeom>
                  <a:avLst/>
                  <a:gdLst>
                    <a:gd name="T0" fmla="*/ 899 w 899"/>
                    <a:gd name="T1" fmla="*/ 900 h 900"/>
                    <a:gd name="T2" fmla="*/ 0 w 899"/>
                    <a:gd name="T3" fmla="*/ 0 h 900"/>
                    <a:gd name="T4" fmla="*/ 1 w 899"/>
                    <a:gd name="T5" fmla="*/ 0 h 9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99" h="900">
                      <a:moveTo>
                        <a:pt x="899" y="90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1" name="Freeform 102"/>
                <p:cNvSpPr>
                  <a:spLocks noChangeArrowheads="1"/>
                </p:cNvSpPr>
                <p:nvPr/>
              </p:nvSpPr>
              <p:spPr bwMode="auto">
                <a:xfrm>
                  <a:off x="2097" y="1395"/>
                  <a:ext cx="62" cy="61"/>
                </a:xfrm>
                <a:custGeom>
                  <a:avLst/>
                  <a:gdLst>
                    <a:gd name="T0" fmla="*/ 614 w 614"/>
                    <a:gd name="T1" fmla="*/ 616 h 616"/>
                    <a:gd name="T2" fmla="*/ 0 w 614"/>
                    <a:gd name="T3" fmla="*/ 0 h 616"/>
                    <a:gd name="T4" fmla="*/ 1 w 614"/>
                    <a:gd name="T5" fmla="*/ 0 h 6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14" h="616">
                      <a:moveTo>
                        <a:pt x="614" y="616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2" name="Freeform 103"/>
                <p:cNvSpPr>
                  <a:spLocks noChangeArrowheads="1"/>
                </p:cNvSpPr>
                <p:nvPr/>
              </p:nvSpPr>
              <p:spPr bwMode="auto">
                <a:xfrm>
                  <a:off x="2074" y="1372"/>
                  <a:ext cx="5" cy="5"/>
                </a:xfrm>
                <a:custGeom>
                  <a:avLst/>
                  <a:gdLst>
                    <a:gd name="T0" fmla="*/ 48 w 48"/>
                    <a:gd name="T1" fmla="*/ 47 h 47"/>
                    <a:gd name="T2" fmla="*/ 0 w 48"/>
                    <a:gd name="T3" fmla="*/ 0 h 47"/>
                    <a:gd name="T4" fmla="*/ 1 w 48"/>
                    <a:gd name="T5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8" h="47">
                      <a:moveTo>
                        <a:pt x="48" y="47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3" name="Freeform 104"/>
                <p:cNvSpPr>
                  <a:spLocks noChangeArrowheads="1"/>
                </p:cNvSpPr>
                <p:nvPr/>
              </p:nvSpPr>
              <p:spPr bwMode="auto">
                <a:xfrm>
                  <a:off x="2097" y="1419"/>
                  <a:ext cx="42" cy="43"/>
                </a:xfrm>
                <a:custGeom>
                  <a:avLst/>
                  <a:gdLst>
                    <a:gd name="T0" fmla="*/ 422 w 422"/>
                    <a:gd name="T1" fmla="*/ 422 h 422"/>
                    <a:gd name="T2" fmla="*/ 0 w 422"/>
                    <a:gd name="T3" fmla="*/ 0 h 422"/>
                    <a:gd name="T4" fmla="*/ 1 w 422"/>
                    <a:gd name="T5" fmla="*/ 0 h 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22" h="422">
                      <a:moveTo>
                        <a:pt x="422" y="422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4" name="Freeform 105"/>
                <p:cNvSpPr>
                  <a:spLocks noChangeArrowheads="1"/>
                </p:cNvSpPr>
                <p:nvPr/>
              </p:nvSpPr>
              <p:spPr bwMode="auto">
                <a:xfrm>
                  <a:off x="2073" y="1421"/>
                  <a:ext cx="37" cy="37"/>
                </a:xfrm>
                <a:custGeom>
                  <a:avLst/>
                  <a:gdLst>
                    <a:gd name="T0" fmla="*/ 369 w 369"/>
                    <a:gd name="T1" fmla="*/ 370 h 370"/>
                    <a:gd name="T2" fmla="*/ 0 w 369"/>
                    <a:gd name="T3" fmla="*/ 0 h 370"/>
                    <a:gd name="T4" fmla="*/ 1 w 369"/>
                    <a:gd name="T5" fmla="*/ 0 h 3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69" h="370">
                      <a:moveTo>
                        <a:pt x="369" y="37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164" name="Group 106"/>
              <p:cNvGrpSpPr>
                <a:grpSpLocks/>
              </p:cNvGrpSpPr>
              <p:nvPr/>
            </p:nvGrpSpPr>
            <p:grpSpPr bwMode="auto">
              <a:xfrm flipH="1">
                <a:off x="2297" y="3518"/>
                <a:ext cx="552" cy="553"/>
                <a:chOff x="2482" y="1588"/>
                <a:chExt cx="750" cy="750"/>
              </a:xfrm>
            </p:grpSpPr>
            <p:grpSp>
              <p:nvGrpSpPr>
                <p:cNvPr id="165" name="Group 107"/>
                <p:cNvGrpSpPr>
                  <a:grpSpLocks/>
                </p:cNvGrpSpPr>
                <p:nvPr/>
              </p:nvGrpSpPr>
              <p:grpSpPr bwMode="auto">
                <a:xfrm>
                  <a:off x="2588" y="1675"/>
                  <a:ext cx="560" cy="572"/>
                  <a:chOff x="2340" y="1420"/>
                  <a:chExt cx="1057" cy="1082"/>
                </a:xfrm>
              </p:grpSpPr>
              <p:sp>
                <p:nvSpPr>
                  <p:cNvPr id="173" name="Freeform 108"/>
                  <p:cNvSpPr>
                    <a:spLocks noChangeArrowheads="1"/>
                  </p:cNvSpPr>
                  <p:nvPr/>
                </p:nvSpPr>
                <p:spPr bwMode="auto">
                  <a:xfrm>
                    <a:off x="2340" y="1420"/>
                    <a:ext cx="1057" cy="1082"/>
                  </a:xfrm>
                  <a:custGeom>
                    <a:avLst/>
                    <a:gdLst>
                      <a:gd name="T0" fmla="*/ 0 w 8458"/>
                      <a:gd name="T1" fmla="*/ 5630 h 8652"/>
                      <a:gd name="T2" fmla="*/ 328 w 8458"/>
                      <a:gd name="T3" fmla="*/ 6403 h 8652"/>
                      <a:gd name="T4" fmla="*/ 797 w 8458"/>
                      <a:gd name="T5" fmla="*/ 7098 h 8652"/>
                      <a:gd name="T6" fmla="*/ 1391 w 8458"/>
                      <a:gd name="T7" fmla="*/ 7689 h 8652"/>
                      <a:gd name="T8" fmla="*/ 2088 w 8458"/>
                      <a:gd name="T9" fmla="*/ 8155 h 8652"/>
                      <a:gd name="T10" fmla="*/ 2861 w 8458"/>
                      <a:gd name="T11" fmla="*/ 8478 h 8652"/>
                      <a:gd name="T12" fmla="*/ 3683 w 8458"/>
                      <a:gd name="T13" fmla="*/ 8646 h 8652"/>
                      <a:gd name="T14" fmla="*/ 4520 w 8458"/>
                      <a:gd name="T15" fmla="*/ 8652 h 8652"/>
                      <a:gd name="T16" fmla="*/ 5345 w 8458"/>
                      <a:gd name="T17" fmla="*/ 8497 h 8652"/>
                      <a:gd name="T18" fmla="*/ 6123 w 8458"/>
                      <a:gd name="T19" fmla="*/ 8187 h 8652"/>
                      <a:gd name="T20" fmla="*/ 6827 w 8458"/>
                      <a:gd name="T21" fmla="*/ 7731 h 8652"/>
                      <a:gd name="T22" fmla="*/ 7431 w 8458"/>
                      <a:gd name="T23" fmla="*/ 7149 h 8652"/>
                      <a:gd name="T24" fmla="*/ 7911 w 8458"/>
                      <a:gd name="T25" fmla="*/ 6462 h 8652"/>
                      <a:gd name="T26" fmla="*/ 8249 w 8458"/>
                      <a:gd name="T27" fmla="*/ 5695 h 8652"/>
                      <a:gd name="T28" fmla="*/ 8434 w 8458"/>
                      <a:gd name="T29" fmla="*/ 4877 h 8652"/>
                      <a:gd name="T30" fmla="*/ 8458 w 8458"/>
                      <a:gd name="T31" fmla="*/ 4038 h 8652"/>
                      <a:gd name="T32" fmla="*/ 8321 w 8458"/>
                      <a:gd name="T33" fmla="*/ 3211 h 8652"/>
                      <a:gd name="T34" fmla="*/ 8027 w 8458"/>
                      <a:gd name="T35" fmla="*/ 2425 h 8652"/>
                      <a:gd name="T36" fmla="*/ 7587 w 8458"/>
                      <a:gd name="T37" fmla="*/ 1711 h 8652"/>
                      <a:gd name="T38" fmla="*/ 7018 w 8458"/>
                      <a:gd name="T39" fmla="*/ 1095 h 8652"/>
                      <a:gd name="T40" fmla="*/ 6342 w 8458"/>
                      <a:gd name="T41" fmla="*/ 600 h 8652"/>
                      <a:gd name="T42" fmla="*/ 5583 w 8458"/>
                      <a:gd name="T43" fmla="*/ 245 h 8652"/>
                      <a:gd name="T44" fmla="*/ 4769 w 8458"/>
                      <a:gd name="T45" fmla="*/ 42 h 8652"/>
                      <a:gd name="T46" fmla="*/ 3932 w 8458"/>
                      <a:gd name="T47" fmla="*/ 0 h 8652"/>
                      <a:gd name="T48" fmla="*/ 3102 w 8458"/>
                      <a:gd name="T49" fmla="*/ 121 h 8652"/>
                      <a:gd name="T50" fmla="*/ 2312 w 8458"/>
                      <a:gd name="T51" fmla="*/ 398 h 8652"/>
                      <a:gd name="T52" fmla="*/ 1590 w 8458"/>
                      <a:gd name="T53" fmla="*/ 823 h 8652"/>
                      <a:gd name="T54" fmla="*/ 961 w 8458"/>
                      <a:gd name="T55" fmla="*/ 1380 h 8652"/>
                      <a:gd name="T56" fmla="*/ 453 w 8458"/>
                      <a:gd name="T57" fmla="*/ 2047 h 8652"/>
                      <a:gd name="T58" fmla="*/ 82 w 8458"/>
                      <a:gd name="T59" fmla="*/ 2798 h 8652"/>
                      <a:gd name="T60" fmla="*/ 83 w 8458"/>
                      <a:gd name="T61" fmla="*/ 2798 h 86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8458" h="8652">
                        <a:moveTo>
                          <a:pt x="0" y="5630"/>
                        </a:moveTo>
                        <a:lnTo>
                          <a:pt x="328" y="6403"/>
                        </a:lnTo>
                        <a:lnTo>
                          <a:pt x="797" y="7098"/>
                        </a:lnTo>
                        <a:lnTo>
                          <a:pt x="1391" y="7689"/>
                        </a:lnTo>
                        <a:lnTo>
                          <a:pt x="2088" y="8155"/>
                        </a:lnTo>
                        <a:lnTo>
                          <a:pt x="2861" y="8478"/>
                        </a:lnTo>
                        <a:lnTo>
                          <a:pt x="3683" y="8646"/>
                        </a:lnTo>
                        <a:lnTo>
                          <a:pt x="4520" y="8652"/>
                        </a:lnTo>
                        <a:lnTo>
                          <a:pt x="5345" y="8497"/>
                        </a:lnTo>
                        <a:lnTo>
                          <a:pt x="6123" y="8187"/>
                        </a:lnTo>
                        <a:lnTo>
                          <a:pt x="6827" y="7731"/>
                        </a:lnTo>
                        <a:lnTo>
                          <a:pt x="7431" y="7149"/>
                        </a:lnTo>
                        <a:lnTo>
                          <a:pt x="7911" y="6462"/>
                        </a:lnTo>
                        <a:lnTo>
                          <a:pt x="8249" y="5695"/>
                        </a:lnTo>
                        <a:lnTo>
                          <a:pt x="8434" y="4877"/>
                        </a:lnTo>
                        <a:lnTo>
                          <a:pt x="8458" y="4038"/>
                        </a:lnTo>
                        <a:lnTo>
                          <a:pt x="8321" y="3211"/>
                        </a:lnTo>
                        <a:lnTo>
                          <a:pt x="8027" y="2425"/>
                        </a:lnTo>
                        <a:lnTo>
                          <a:pt x="7587" y="1711"/>
                        </a:lnTo>
                        <a:lnTo>
                          <a:pt x="7018" y="1095"/>
                        </a:lnTo>
                        <a:lnTo>
                          <a:pt x="6342" y="600"/>
                        </a:lnTo>
                        <a:lnTo>
                          <a:pt x="5583" y="245"/>
                        </a:lnTo>
                        <a:lnTo>
                          <a:pt x="4769" y="42"/>
                        </a:lnTo>
                        <a:lnTo>
                          <a:pt x="3932" y="0"/>
                        </a:lnTo>
                        <a:lnTo>
                          <a:pt x="3102" y="121"/>
                        </a:lnTo>
                        <a:lnTo>
                          <a:pt x="2312" y="398"/>
                        </a:lnTo>
                        <a:lnTo>
                          <a:pt x="1590" y="823"/>
                        </a:lnTo>
                        <a:lnTo>
                          <a:pt x="961" y="1380"/>
                        </a:lnTo>
                        <a:lnTo>
                          <a:pt x="453" y="2047"/>
                        </a:lnTo>
                        <a:lnTo>
                          <a:pt x="82" y="2798"/>
                        </a:lnTo>
                        <a:lnTo>
                          <a:pt x="83" y="2798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4" name="Freeform 109"/>
                  <p:cNvSpPr>
                    <a:spLocks noChangeArrowheads="1"/>
                  </p:cNvSpPr>
                  <p:nvPr/>
                </p:nvSpPr>
                <p:spPr bwMode="auto">
                  <a:xfrm>
                    <a:off x="2350" y="1770"/>
                    <a:ext cx="202" cy="1"/>
                  </a:xfrm>
                  <a:custGeom>
                    <a:avLst/>
                    <a:gdLst>
                      <a:gd name="T0" fmla="*/ 0 w 1619"/>
                      <a:gd name="T1" fmla="*/ 0 h 1"/>
                      <a:gd name="T2" fmla="*/ 1618 w 1619"/>
                      <a:gd name="T3" fmla="*/ 0 h 1"/>
                      <a:gd name="T4" fmla="*/ 1619 w 1619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19" h="1">
                        <a:moveTo>
                          <a:pt x="0" y="0"/>
                        </a:moveTo>
                        <a:lnTo>
                          <a:pt x="1618" y="0"/>
                        </a:lnTo>
                        <a:lnTo>
                          <a:pt x="161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5" name="Freeform 110"/>
                  <p:cNvSpPr>
                    <a:spLocks noChangeArrowheads="1"/>
                  </p:cNvSpPr>
                  <p:nvPr/>
                </p:nvSpPr>
                <p:spPr bwMode="auto">
                  <a:xfrm>
                    <a:off x="2552" y="1770"/>
                    <a:ext cx="1" cy="354"/>
                  </a:xfrm>
                  <a:custGeom>
                    <a:avLst/>
                    <a:gdLst>
                      <a:gd name="T0" fmla="*/ 0 w 1"/>
                      <a:gd name="T1" fmla="*/ 0 h 2832"/>
                      <a:gd name="T2" fmla="*/ 0 w 1"/>
                      <a:gd name="T3" fmla="*/ 2832 h 2832"/>
                      <a:gd name="T4" fmla="*/ 1 w 1"/>
                      <a:gd name="T5" fmla="*/ 2832 h 28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832">
                        <a:moveTo>
                          <a:pt x="0" y="0"/>
                        </a:moveTo>
                        <a:lnTo>
                          <a:pt x="0" y="2832"/>
                        </a:lnTo>
                        <a:lnTo>
                          <a:pt x="1" y="2832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6" name="Freeform 111"/>
                  <p:cNvSpPr>
                    <a:spLocks noChangeArrowheads="1"/>
                  </p:cNvSpPr>
                  <p:nvPr/>
                </p:nvSpPr>
                <p:spPr bwMode="auto">
                  <a:xfrm>
                    <a:off x="2340" y="2124"/>
                    <a:ext cx="212" cy="1"/>
                  </a:xfrm>
                  <a:custGeom>
                    <a:avLst/>
                    <a:gdLst>
                      <a:gd name="T0" fmla="*/ 1700 w 1700"/>
                      <a:gd name="T1" fmla="*/ 0 h 1"/>
                      <a:gd name="T2" fmla="*/ 0 w 1700"/>
                      <a:gd name="T3" fmla="*/ 0 h 1"/>
                      <a:gd name="T4" fmla="*/ 1 w 1700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700" h="1">
                        <a:moveTo>
                          <a:pt x="170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166" name="Group 112"/>
                <p:cNvGrpSpPr>
                  <a:grpSpLocks/>
                </p:cNvGrpSpPr>
                <p:nvPr/>
              </p:nvGrpSpPr>
              <p:grpSpPr bwMode="auto">
                <a:xfrm>
                  <a:off x="2482" y="1588"/>
                  <a:ext cx="750" cy="750"/>
                  <a:chOff x="192" y="619"/>
                  <a:chExt cx="750" cy="750"/>
                </a:xfrm>
              </p:grpSpPr>
              <p:sp>
                <p:nvSpPr>
                  <p:cNvPr id="167" name="Freeform 113"/>
                  <p:cNvSpPr>
                    <a:spLocks noChangeArrowheads="1"/>
                  </p:cNvSpPr>
                  <p:nvPr/>
                </p:nvSpPr>
                <p:spPr bwMode="auto">
                  <a:xfrm>
                    <a:off x="567" y="619"/>
                    <a:ext cx="4" cy="304"/>
                  </a:xfrm>
                  <a:custGeom>
                    <a:avLst/>
                    <a:gdLst>
                      <a:gd name="T0" fmla="*/ 0 w 1"/>
                      <a:gd name="T1" fmla="*/ 0 h 680"/>
                      <a:gd name="T2" fmla="*/ 0 w 1"/>
                      <a:gd name="T3" fmla="*/ 680 h 680"/>
                      <a:gd name="T4" fmla="*/ 1 w 1"/>
                      <a:gd name="T5" fmla="*/ 680 h 6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680">
                        <a:moveTo>
                          <a:pt x="0" y="0"/>
                        </a:moveTo>
                        <a:lnTo>
                          <a:pt x="0" y="680"/>
                        </a:lnTo>
                        <a:lnTo>
                          <a:pt x="1" y="680"/>
                        </a:lnTo>
                      </a:path>
                    </a:pathLst>
                  </a:custGeom>
                  <a:noFill/>
                  <a:ln w="12700">
                    <a:solidFill>
                      <a:srgbClr val="0000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68" name="Freeform 114"/>
                  <p:cNvSpPr>
                    <a:spLocks noChangeArrowheads="1"/>
                  </p:cNvSpPr>
                  <p:nvPr/>
                </p:nvSpPr>
                <p:spPr bwMode="auto">
                  <a:xfrm>
                    <a:off x="567" y="972"/>
                    <a:ext cx="4" cy="45"/>
                  </a:xfrm>
                  <a:custGeom>
                    <a:avLst/>
                    <a:gdLst>
                      <a:gd name="T0" fmla="*/ 0 w 1"/>
                      <a:gd name="T1" fmla="*/ 0 h 106"/>
                      <a:gd name="T2" fmla="*/ 0 w 1"/>
                      <a:gd name="T3" fmla="*/ 106 h 106"/>
                      <a:gd name="T4" fmla="*/ 1 w 1"/>
                      <a:gd name="T5" fmla="*/ 106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06">
                        <a:moveTo>
                          <a:pt x="0" y="0"/>
                        </a:moveTo>
                        <a:lnTo>
                          <a:pt x="0" y="106"/>
                        </a:lnTo>
                        <a:lnTo>
                          <a:pt x="1" y="106"/>
                        </a:lnTo>
                      </a:path>
                    </a:pathLst>
                  </a:custGeom>
                  <a:noFill/>
                  <a:ln w="12700">
                    <a:solidFill>
                      <a:srgbClr val="0000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69" name="Freeform 115"/>
                  <p:cNvSpPr>
                    <a:spLocks noChangeArrowheads="1"/>
                  </p:cNvSpPr>
                  <p:nvPr/>
                </p:nvSpPr>
                <p:spPr bwMode="auto">
                  <a:xfrm>
                    <a:off x="567" y="1066"/>
                    <a:ext cx="4" cy="303"/>
                  </a:xfrm>
                  <a:custGeom>
                    <a:avLst/>
                    <a:gdLst>
                      <a:gd name="T0" fmla="*/ 0 w 1"/>
                      <a:gd name="T1" fmla="*/ 0 h 679"/>
                      <a:gd name="T2" fmla="*/ 0 w 1"/>
                      <a:gd name="T3" fmla="*/ 679 h 679"/>
                      <a:gd name="T4" fmla="*/ 1 w 1"/>
                      <a:gd name="T5" fmla="*/ 679 h 6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679">
                        <a:moveTo>
                          <a:pt x="0" y="0"/>
                        </a:moveTo>
                        <a:lnTo>
                          <a:pt x="0" y="679"/>
                        </a:lnTo>
                        <a:lnTo>
                          <a:pt x="1" y="679"/>
                        </a:lnTo>
                      </a:path>
                    </a:pathLst>
                  </a:custGeom>
                  <a:noFill/>
                  <a:ln w="12700">
                    <a:solidFill>
                      <a:srgbClr val="0000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0" name="Freeform 116"/>
                  <p:cNvSpPr>
                    <a:spLocks noChangeArrowheads="1"/>
                  </p:cNvSpPr>
                  <p:nvPr/>
                </p:nvSpPr>
                <p:spPr bwMode="auto">
                  <a:xfrm>
                    <a:off x="192" y="994"/>
                    <a:ext cx="303" cy="5"/>
                  </a:xfrm>
                  <a:custGeom>
                    <a:avLst/>
                    <a:gdLst>
                      <a:gd name="T0" fmla="*/ 0 w 679"/>
                      <a:gd name="T1" fmla="*/ 0 h 5"/>
                      <a:gd name="T2" fmla="*/ 678 w 679"/>
                      <a:gd name="T3" fmla="*/ 0 h 5"/>
                      <a:gd name="T4" fmla="*/ 679 w 679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79" h="5">
                        <a:moveTo>
                          <a:pt x="0" y="0"/>
                        </a:moveTo>
                        <a:lnTo>
                          <a:pt x="678" y="0"/>
                        </a:lnTo>
                        <a:lnTo>
                          <a:pt x="679" y="0"/>
                        </a:lnTo>
                      </a:path>
                    </a:pathLst>
                  </a:custGeom>
                  <a:noFill/>
                  <a:ln w="12700">
                    <a:solidFill>
                      <a:srgbClr val="0000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1" name="Freeform 117"/>
                  <p:cNvSpPr>
                    <a:spLocks noChangeArrowheads="1"/>
                  </p:cNvSpPr>
                  <p:nvPr/>
                </p:nvSpPr>
                <p:spPr bwMode="auto">
                  <a:xfrm>
                    <a:off x="544" y="994"/>
                    <a:ext cx="50" cy="5"/>
                  </a:xfrm>
                  <a:custGeom>
                    <a:avLst/>
                    <a:gdLst>
                      <a:gd name="T0" fmla="*/ 0 w 107"/>
                      <a:gd name="T1" fmla="*/ 0 h 5"/>
                      <a:gd name="T2" fmla="*/ 106 w 107"/>
                      <a:gd name="T3" fmla="*/ 0 h 5"/>
                      <a:gd name="T4" fmla="*/ 107 w 107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7" h="5">
                        <a:moveTo>
                          <a:pt x="0" y="0"/>
                        </a:moveTo>
                        <a:lnTo>
                          <a:pt x="106" y="0"/>
                        </a:lnTo>
                        <a:lnTo>
                          <a:pt x="107" y="0"/>
                        </a:lnTo>
                      </a:path>
                    </a:pathLst>
                  </a:custGeom>
                  <a:noFill/>
                  <a:ln w="12700">
                    <a:solidFill>
                      <a:srgbClr val="0000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172" name="Freeform 118"/>
                  <p:cNvSpPr>
                    <a:spLocks noChangeArrowheads="1"/>
                  </p:cNvSpPr>
                  <p:nvPr/>
                </p:nvSpPr>
                <p:spPr bwMode="auto">
                  <a:xfrm>
                    <a:off x="638" y="994"/>
                    <a:ext cx="304" cy="5"/>
                  </a:xfrm>
                  <a:custGeom>
                    <a:avLst/>
                    <a:gdLst>
                      <a:gd name="T0" fmla="*/ 0 w 680"/>
                      <a:gd name="T1" fmla="*/ 0 h 5"/>
                      <a:gd name="T2" fmla="*/ 679 w 680"/>
                      <a:gd name="T3" fmla="*/ 0 h 5"/>
                      <a:gd name="T4" fmla="*/ 680 w 680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80" h="5">
                        <a:moveTo>
                          <a:pt x="0" y="0"/>
                        </a:moveTo>
                        <a:lnTo>
                          <a:pt x="679" y="0"/>
                        </a:lnTo>
                        <a:lnTo>
                          <a:pt x="680" y="0"/>
                        </a:lnTo>
                      </a:path>
                    </a:pathLst>
                  </a:custGeom>
                  <a:noFill/>
                  <a:ln w="12700">
                    <a:solidFill>
                      <a:srgbClr val="0000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</p:grpSp>
        </p:grpSp>
      </p:grpSp>
      <p:grpSp>
        <p:nvGrpSpPr>
          <p:cNvPr id="276" name="Group 119"/>
          <p:cNvGrpSpPr>
            <a:grpSpLocks/>
          </p:cNvGrpSpPr>
          <p:nvPr/>
        </p:nvGrpSpPr>
        <p:grpSpPr bwMode="auto">
          <a:xfrm>
            <a:off x="2463800" y="992188"/>
            <a:ext cx="3441700" cy="2514600"/>
            <a:chOff x="279" y="1425"/>
            <a:chExt cx="2026" cy="1480"/>
          </a:xfrm>
        </p:grpSpPr>
        <p:grpSp>
          <p:nvGrpSpPr>
            <p:cNvPr id="277" name="Group 120"/>
            <p:cNvGrpSpPr>
              <a:grpSpLocks/>
            </p:cNvGrpSpPr>
            <p:nvPr/>
          </p:nvGrpSpPr>
          <p:grpSpPr bwMode="auto">
            <a:xfrm>
              <a:off x="333" y="1629"/>
              <a:ext cx="1917" cy="501"/>
              <a:chOff x="231" y="1759"/>
              <a:chExt cx="3618" cy="947"/>
            </a:xfrm>
          </p:grpSpPr>
          <p:sp>
            <p:nvSpPr>
              <p:cNvPr id="359" name="Freeform 121"/>
              <p:cNvSpPr>
                <a:spLocks noChangeArrowheads="1"/>
              </p:cNvSpPr>
              <p:nvPr/>
            </p:nvSpPr>
            <p:spPr bwMode="auto">
              <a:xfrm>
                <a:off x="2978" y="1977"/>
                <a:ext cx="799" cy="3"/>
              </a:xfrm>
              <a:custGeom>
                <a:avLst/>
                <a:gdLst>
                  <a:gd name="T0" fmla="*/ 2521 w 2521"/>
                  <a:gd name="T1" fmla="*/ 0 h 3"/>
                  <a:gd name="T2" fmla="*/ 0 w 2521"/>
                  <a:gd name="T3" fmla="*/ 0 h 3"/>
                  <a:gd name="T4" fmla="*/ 1 w 252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21" h="3">
                    <a:moveTo>
                      <a:pt x="2521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0" name="Freeform 122"/>
              <p:cNvSpPr>
                <a:spLocks noChangeArrowheads="1"/>
              </p:cNvSpPr>
              <p:nvPr/>
            </p:nvSpPr>
            <p:spPr bwMode="auto">
              <a:xfrm>
                <a:off x="2978" y="2484"/>
                <a:ext cx="799" cy="3"/>
              </a:xfrm>
              <a:custGeom>
                <a:avLst/>
                <a:gdLst>
                  <a:gd name="T0" fmla="*/ 0 w 2522"/>
                  <a:gd name="T1" fmla="*/ 0 h 3"/>
                  <a:gd name="T2" fmla="*/ 2521 w 2522"/>
                  <a:gd name="T3" fmla="*/ 0 h 3"/>
                  <a:gd name="T4" fmla="*/ 2522 w 252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22" h="3">
                    <a:moveTo>
                      <a:pt x="0" y="0"/>
                    </a:moveTo>
                    <a:lnTo>
                      <a:pt x="2521" y="0"/>
                    </a:lnTo>
                    <a:lnTo>
                      <a:pt x="2522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1" name="Freeform 123"/>
              <p:cNvSpPr>
                <a:spLocks noChangeArrowheads="1"/>
              </p:cNvSpPr>
              <p:nvPr/>
            </p:nvSpPr>
            <p:spPr bwMode="auto">
              <a:xfrm>
                <a:off x="1387" y="1759"/>
                <a:ext cx="3" cy="943"/>
              </a:xfrm>
              <a:custGeom>
                <a:avLst/>
                <a:gdLst>
                  <a:gd name="T0" fmla="*/ 0 w 1"/>
                  <a:gd name="T1" fmla="*/ 2981 h 2981"/>
                  <a:gd name="T2" fmla="*/ 0 w 1"/>
                  <a:gd name="T3" fmla="*/ 0 h 2981"/>
                  <a:gd name="T4" fmla="*/ 1 w 1"/>
                  <a:gd name="T5" fmla="*/ 0 h 2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981">
                    <a:moveTo>
                      <a:pt x="0" y="298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2" name="Freeform 124"/>
              <p:cNvSpPr>
                <a:spLocks noChangeArrowheads="1"/>
              </p:cNvSpPr>
              <p:nvPr/>
            </p:nvSpPr>
            <p:spPr bwMode="auto">
              <a:xfrm>
                <a:off x="1677" y="1759"/>
                <a:ext cx="3" cy="943"/>
              </a:xfrm>
              <a:custGeom>
                <a:avLst/>
                <a:gdLst>
                  <a:gd name="T0" fmla="*/ 0 w 1"/>
                  <a:gd name="T1" fmla="*/ 2981 h 2981"/>
                  <a:gd name="T2" fmla="*/ 0 w 1"/>
                  <a:gd name="T3" fmla="*/ 0 h 2981"/>
                  <a:gd name="T4" fmla="*/ 1 w 1"/>
                  <a:gd name="T5" fmla="*/ 0 h 2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981">
                    <a:moveTo>
                      <a:pt x="0" y="298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3" name="Freeform 125"/>
              <p:cNvSpPr>
                <a:spLocks noChangeArrowheads="1"/>
              </p:cNvSpPr>
              <p:nvPr/>
            </p:nvSpPr>
            <p:spPr bwMode="auto">
              <a:xfrm>
                <a:off x="1387" y="2702"/>
                <a:ext cx="290" cy="4"/>
              </a:xfrm>
              <a:custGeom>
                <a:avLst/>
                <a:gdLst>
                  <a:gd name="T0" fmla="*/ 0 w 918"/>
                  <a:gd name="T1" fmla="*/ 0 h 4"/>
                  <a:gd name="T2" fmla="*/ 917 w 918"/>
                  <a:gd name="T3" fmla="*/ 0 h 4"/>
                  <a:gd name="T4" fmla="*/ 918 w 918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18" h="4">
                    <a:moveTo>
                      <a:pt x="0" y="0"/>
                    </a:moveTo>
                    <a:lnTo>
                      <a:pt x="917" y="0"/>
                    </a:lnTo>
                    <a:lnTo>
                      <a:pt x="918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4" name="Freeform 126"/>
              <p:cNvSpPr>
                <a:spLocks noChangeArrowheads="1"/>
              </p:cNvSpPr>
              <p:nvPr/>
            </p:nvSpPr>
            <p:spPr bwMode="auto">
              <a:xfrm>
                <a:off x="1677" y="1939"/>
                <a:ext cx="107" cy="3"/>
              </a:xfrm>
              <a:custGeom>
                <a:avLst/>
                <a:gdLst>
                  <a:gd name="T0" fmla="*/ 344 w 344"/>
                  <a:gd name="T1" fmla="*/ 0 h 3"/>
                  <a:gd name="T2" fmla="*/ 0 w 344"/>
                  <a:gd name="T3" fmla="*/ 0 h 3"/>
                  <a:gd name="T4" fmla="*/ 1 w 34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4" h="3">
                    <a:moveTo>
                      <a:pt x="344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5" name="Freeform 127"/>
              <p:cNvSpPr>
                <a:spLocks noChangeArrowheads="1"/>
              </p:cNvSpPr>
              <p:nvPr/>
            </p:nvSpPr>
            <p:spPr bwMode="auto">
              <a:xfrm>
                <a:off x="1677" y="2522"/>
                <a:ext cx="107" cy="3"/>
              </a:xfrm>
              <a:custGeom>
                <a:avLst/>
                <a:gdLst>
                  <a:gd name="T0" fmla="*/ 0 w 345"/>
                  <a:gd name="T1" fmla="*/ 0 h 3"/>
                  <a:gd name="T2" fmla="*/ 344 w 345"/>
                  <a:gd name="T3" fmla="*/ 0 h 3"/>
                  <a:gd name="T4" fmla="*/ 345 w 34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5" h="3">
                    <a:moveTo>
                      <a:pt x="0" y="0"/>
                    </a:moveTo>
                    <a:lnTo>
                      <a:pt x="344" y="0"/>
                    </a:lnTo>
                    <a:lnTo>
                      <a:pt x="345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6" name="Freeform 128"/>
              <p:cNvSpPr>
                <a:spLocks noChangeArrowheads="1"/>
              </p:cNvSpPr>
              <p:nvPr/>
            </p:nvSpPr>
            <p:spPr bwMode="auto">
              <a:xfrm>
                <a:off x="319" y="1904"/>
                <a:ext cx="960" cy="4"/>
              </a:xfrm>
              <a:custGeom>
                <a:avLst/>
                <a:gdLst>
                  <a:gd name="T0" fmla="*/ 3037 w 3037"/>
                  <a:gd name="T1" fmla="*/ 0 h 4"/>
                  <a:gd name="T2" fmla="*/ 0 w 3037"/>
                  <a:gd name="T3" fmla="*/ 0 h 4"/>
                  <a:gd name="T4" fmla="*/ 1 w 3037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37" h="4">
                    <a:moveTo>
                      <a:pt x="3037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7" name="Freeform 129"/>
              <p:cNvSpPr>
                <a:spLocks noChangeArrowheads="1"/>
              </p:cNvSpPr>
              <p:nvPr/>
            </p:nvSpPr>
            <p:spPr bwMode="auto">
              <a:xfrm>
                <a:off x="556" y="2123"/>
                <a:ext cx="471" cy="3"/>
              </a:xfrm>
              <a:custGeom>
                <a:avLst/>
                <a:gdLst>
                  <a:gd name="T0" fmla="*/ 0 w 1490"/>
                  <a:gd name="T1" fmla="*/ 0 h 3"/>
                  <a:gd name="T2" fmla="*/ 1489 w 1490"/>
                  <a:gd name="T3" fmla="*/ 0 h 3"/>
                  <a:gd name="T4" fmla="*/ 1490 w 1490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90" h="3">
                    <a:moveTo>
                      <a:pt x="0" y="0"/>
                    </a:moveTo>
                    <a:lnTo>
                      <a:pt x="1489" y="0"/>
                    </a:lnTo>
                    <a:lnTo>
                      <a:pt x="1490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8" name="Freeform 130"/>
              <p:cNvSpPr>
                <a:spLocks noChangeArrowheads="1"/>
              </p:cNvSpPr>
              <p:nvPr/>
            </p:nvSpPr>
            <p:spPr bwMode="auto">
              <a:xfrm>
                <a:off x="319" y="2557"/>
                <a:ext cx="960" cy="3"/>
              </a:xfrm>
              <a:custGeom>
                <a:avLst/>
                <a:gdLst>
                  <a:gd name="T0" fmla="*/ 0 w 3038"/>
                  <a:gd name="T1" fmla="*/ 0 h 3"/>
                  <a:gd name="T2" fmla="*/ 3037 w 3038"/>
                  <a:gd name="T3" fmla="*/ 0 h 3"/>
                  <a:gd name="T4" fmla="*/ 3038 w 3038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38" h="3">
                    <a:moveTo>
                      <a:pt x="0" y="0"/>
                    </a:moveTo>
                    <a:lnTo>
                      <a:pt x="3037" y="0"/>
                    </a:lnTo>
                    <a:lnTo>
                      <a:pt x="3038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69" name="Freeform 131"/>
              <p:cNvSpPr>
                <a:spLocks noChangeArrowheads="1"/>
              </p:cNvSpPr>
              <p:nvPr/>
            </p:nvSpPr>
            <p:spPr bwMode="auto">
              <a:xfrm>
                <a:off x="556" y="2338"/>
                <a:ext cx="471" cy="3"/>
              </a:xfrm>
              <a:custGeom>
                <a:avLst/>
                <a:gdLst>
                  <a:gd name="T0" fmla="*/ 1489 w 1489"/>
                  <a:gd name="T1" fmla="*/ 0 h 3"/>
                  <a:gd name="T2" fmla="*/ 0 w 1489"/>
                  <a:gd name="T3" fmla="*/ 0 h 3"/>
                  <a:gd name="T4" fmla="*/ 1 w 1489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89" h="3">
                    <a:moveTo>
                      <a:pt x="1489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0" name="Freeform 132"/>
              <p:cNvSpPr>
                <a:spLocks noChangeArrowheads="1"/>
              </p:cNvSpPr>
              <p:nvPr/>
            </p:nvSpPr>
            <p:spPr bwMode="auto">
              <a:xfrm>
                <a:off x="231" y="1904"/>
                <a:ext cx="88" cy="92"/>
              </a:xfrm>
              <a:custGeom>
                <a:avLst/>
                <a:gdLst>
                  <a:gd name="T0" fmla="*/ 287 w 287"/>
                  <a:gd name="T1" fmla="*/ 0 h 287"/>
                  <a:gd name="T2" fmla="*/ 0 w 287"/>
                  <a:gd name="T3" fmla="*/ 287 h 287"/>
                  <a:gd name="T4" fmla="*/ 1 w 287"/>
                  <a:gd name="T5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7" h="287">
                    <a:moveTo>
                      <a:pt x="287" y="0"/>
                    </a:moveTo>
                    <a:lnTo>
                      <a:pt x="0" y="287"/>
                    </a:lnTo>
                    <a:lnTo>
                      <a:pt x="1" y="287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1" name="Freeform 133"/>
              <p:cNvSpPr>
                <a:spLocks noChangeArrowheads="1"/>
              </p:cNvSpPr>
              <p:nvPr/>
            </p:nvSpPr>
            <p:spPr bwMode="auto">
              <a:xfrm>
                <a:off x="319" y="1904"/>
                <a:ext cx="4" cy="653"/>
              </a:xfrm>
              <a:custGeom>
                <a:avLst/>
                <a:gdLst>
                  <a:gd name="T0" fmla="*/ 0 w 1"/>
                  <a:gd name="T1" fmla="*/ 2064 h 2064"/>
                  <a:gd name="T2" fmla="*/ 0 w 1"/>
                  <a:gd name="T3" fmla="*/ 0 h 2064"/>
                  <a:gd name="T4" fmla="*/ 1 w 1"/>
                  <a:gd name="T5" fmla="*/ 0 h 2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064">
                    <a:moveTo>
                      <a:pt x="0" y="206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2" name="Freeform 134"/>
              <p:cNvSpPr>
                <a:spLocks noChangeArrowheads="1"/>
              </p:cNvSpPr>
              <p:nvPr/>
            </p:nvSpPr>
            <p:spPr bwMode="auto">
              <a:xfrm>
                <a:off x="231" y="2468"/>
                <a:ext cx="88" cy="89"/>
              </a:xfrm>
              <a:custGeom>
                <a:avLst/>
                <a:gdLst>
                  <a:gd name="T0" fmla="*/ 0 w 288"/>
                  <a:gd name="T1" fmla="*/ 0 h 287"/>
                  <a:gd name="T2" fmla="*/ 287 w 288"/>
                  <a:gd name="T3" fmla="*/ 287 h 287"/>
                  <a:gd name="T4" fmla="*/ 288 w 288"/>
                  <a:gd name="T5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8" h="287">
                    <a:moveTo>
                      <a:pt x="0" y="0"/>
                    </a:moveTo>
                    <a:lnTo>
                      <a:pt x="287" y="287"/>
                    </a:lnTo>
                    <a:lnTo>
                      <a:pt x="288" y="287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3" name="Freeform 135"/>
              <p:cNvSpPr>
                <a:spLocks noChangeArrowheads="1"/>
              </p:cNvSpPr>
              <p:nvPr/>
            </p:nvSpPr>
            <p:spPr bwMode="auto">
              <a:xfrm>
                <a:off x="231" y="1996"/>
                <a:ext cx="3" cy="472"/>
              </a:xfrm>
              <a:custGeom>
                <a:avLst/>
                <a:gdLst>
                  <a:gd name="T0" fmla="*/ 0 w 1"/>
                  <a:gd name="T1" fmla="*/ 1490 h 1490"/>
                  <a:gd name="T2" fmla="*/ 0 w 1"/>
                  <a:gd name="T3" fmla="*/ 0 h 1490"/>
                  <a:gd name="T4" fmla="*/ 1 w 1"/>
                  <a:gd name="T5" fmla="*/ 0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490">
                    <a:moveTo>
                      <a:pt x="0" y="149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4" name="Freeform 136"/>
              <p:cNvSpPr>
                <a:spLocks noChangeArrowheads="1"/>
              </p:cNvSpPr>
              <p:nvPr/>
            </p:nvSpPr>
            <p:spPr bwMode="auto">
              <a:xfrm>
                <a:off x="446" y="2231"/>
                <a:ext cx="110" cy="107"/>
              </a:xfrm>
              <a:custGeom>
                <a:avLst/>
                <a:gdLst>
                  <a:gd name="T0" fmla="*/ 344 w 344"/>
                  <a:gd name="T1" fmla="*/ 343 h 343"/>
                  <a:gd name="T2" fmla="*/ 278 w 344"/>
                  <a:gd name="T3" fmla="*/ 336 h 343"/>
                  <a:gd name="T4" fmla="*/ 211 w 344"/>
                  <a:gd name="T5" fmla="*/ 317 h 343"/>
                  <a:gd name="T6" fmla="*/ 101 w 344"/>
                  <a:gd name="T7" fmla="*/ 243 h 343"/>
                  <a:gd name="T8" fmla="*/ 26 w 344"/>
                  <a:gd name="T9" fmla="*/ 132 h 343"/>
                  <a:gd name="T10" fmla="*/ 7 w 344"/>
                  <a:gd name="T11" fmla="*/ 66 h 343"/>
                  <a:gd name="T12" fmla="*/ 0 w 344"/>
                  <a:gd name="T13" fmla="*/ 0 h 343"/>
                  <a:gd name="T14" fmla="*/ 1 w 344"/>
                  <a:gd name="T15" fmla="*/ 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4" h="343">
                    <a:moveTo>
                      <a:pt x="344" y="343"/>
                    </a:moveTo>
                    <a:lnTo>
                      <a:pt x="278" y="336"/>
                    </a:lnTo>
                    <a:lnTo>
                      <a:pt x="211" y="317"/>
                    </a:lnTo>
                    <a:lnTo>
                      <a:pt x="101" y="243"/>
                    </a:lnTo>
                    <a:lnTo>
                      <a:pt x="26" y="132"/>
                    </a:lnTo>
                    <a:lnTo>
                      <a:pt x="7" y="66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5" name="Freeform 137"/>
              <p:cNvSpPr>
                <a:spLocks noChangeArrowheads="1"/>
              </p:cNvSpPr>
              <p:nvPr/>
            </p:nvSpPr>
            <p:spPr bwMode="auto">
              <a:xfrm>
                <a:off x="446" y="2123"/>
                <a:ext cx="110" cy="108"/>
              </a:xfrm>
              <a:custGeom>
                <a:avLst/>
                <a:gdLst>
                  <a:gd name="T0" fmla="*/ 0 w 345"/>
                  <a:gd name="T1" fmla="*/ 344 h 344"/>
                  <a:gd name="T2" fmla="*/ 7 w 345"/>
                  <a:gd name="T3" fmla="*/ 277 h 344"/>
                  <a:gd name="T4" fmla="*/ 26 w 345"/>
                  <a:gd name="T5" fmla="*/ 211 h 344"/>
                  <a:gd name="T6" fmla="*/ 101 w 345"/>
                  <a:gd name="T7" fmla="*/ 101 h 344"/>
                  <a:gd name="T8" fmla="*/ 211 w 345"/>
                  <a:gd name="T9" fmla="*/ 25 h 344"/>
                  <a:gd name="T10" fmla="*/ 278 w 345"/>
                  <a:gd name="T11" fmla="*/ 6 h 344"/>
                  <a:gd name="T12" fmla="*/ 344 w 345"/>
                  <a:gd name="T13" fmla="*/ 0 h 344"/>
                  <a:gd name="T14" fmla="*/ 345 w 345"/>
                  <a:gd name="T15" fmla="*/ 0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5" h="344">
                    <a:moveTo>
                      <a:pt x="0" y="344"/>
                    </a:moveTo>
                    <a:lnTo>
                      <a:pt x="7" y="277"/>
                    </a:lnTo>
                    <a:lnTo>
                      <a:pt x="26" y="211"/>
                    </a:lnTo>
                    <a:lnTo>
                      <a:pt x="101" y="101"/>
                    </a:lnTo>
                    <a:lnTo>
                      <a:pt x="211" y="25"/>
                    </a:lnTo>
                    <a:lnTo>
                      <a:pt x="278" y="6"/>
                    </a:lnTo>
                    <a:lnTo>
                      <a:pt x="344" y="0"/>
                    </a:lnTo>
                    <a:lnTo>
                      <a:pt x="345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6" name="Freeform 138"/>
              <p:cNvSpPr>
                <a:spLocks noChangeArrowheads="1"/>
              </p:cNvSpPr>
              <p:nvPr/>
            </p:nvSpPr>
            <p:spPr bwMode="auto">
              <a:xfrm>
                <a:off x="1279" y="1904"/>
                <a:ext cx="3" cy="653"/>
              </a:xfrm>
              <a:custGeom>
                <a:avLst/>
                <a:gdLst>
                  <a:gd name="T0" fmla="*/ 0 w 1"/>
                  <a:gd name="T1" fmla="*/ 2064 h 2064"/>
                  <a:gd name="T2" fmla="*/ 0 w 1"/>
                  <a:gd name="T3" fmla="*/ 0 h 2064"/>
                  <a:gd name="T4" fmla="*/ 1 w 1"/>
                  <a:gd name="T5" fmla="*/ 0 h 2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064">
                    <a:moveTo>
                      <a:pt x="0" y="206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7" name="Freeform 139"/>
              <p:cNvSpPr>
                <a:spLocks noChangeArrowheads="1"/>
              </p:cNvSpPr>
              <p:nvPr/>
            </p:nvSpPr>
            <p:spPr bwMode="auto">
              <a:xfrm>
                <a:off x="1027" y="2231"/>
                <a:ext cx="107" cy="107"/>
              </a:xfrm>
              <a:custGeom>
                <a:avLst/>
                <a:gdLst>
                  <a:gd name="T0" fmla="*/ 344 w 344"/>
                  <a:gd name="T1" fmla="*/ 0 h 343"/>
                  <a:gd name="T2" fmla="*/ 338 w 344"/>
                  <a:gd name="T3" fmla="*/ 66 h 343"/>
                  <a:gd name="T4" fmla="*/ 317 w 344"/>
                  <a:gd name="T5" fmla="*/ 132 h 343"/>
                  <a:gd name="T6" fmla="*/ 243 w 344"/>
                  <a:gd name="T7" fmla="*/ 243 h 343"/>
                  <a:gd name="T8" fmla="*/ 132 w 344"/>
                  <a:gd name="T9" fmla="*/ 317 h 343"/>
                  <a:gd name="T10" fmla="*/ 67 w 344"/>
                  <a:gd name="T11" fmla="*/ 336 h 343"/>
                  <a:gd name="T12" fmla="*/ 0 w 344"/>
                  <a:gd name="T13" fmla="*/ 343 h 343"/>
                  <a:gd name="T14" fmla="*/ 1 w 344"/>
                  <a:gd name="T15" fmla="*/ 343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4" h="343">
                    <a:moveTo>
                      <a:pt x="344" y="0"/>
                    </a:moveTo>
                    <a:lnTo>
                      <a:pt x="338" y="66"/>
                    </a:lnTo>
                    <a:lnTo>
                      <a:pt x="317" y="132"/>
                    </a:lnTo>
                    <a:lnTo>
                      <a:pt x="243" y="243"/>
                    </a:lnTo>
                    <a:lnTo>
                      <a:pt x="132" y="317"/>
                    </a:lnTo>
                    <a:lnTo>
                      <a:pt x="67" y="336"/>
                    </a:lnTo>
                    <a:lnTo>
                      <a:pt x="0" y="343"/>
                    </a:lnTo>
                    <a:lnTo>
                      <a:pt x="1" y="343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8" name="Freeform 140"/>
              <p:cNvSpPr>
                <a:spLocks noChangeArrowheads="1"/>
              </p:cNvSpPr>
              <p:nvPr/>
            </p:nvSpPr>
            <p:spPr bwMode="auto">
              <a:xfrm>
                <a:off x="1027" y="2123"/>
                <a:ext cx="107" cy="108"/>
              </a:xfrm>
              <a:custGeom>
                <a:avLst/>
                <a:gdLst>
                  <a:gd name="T0" fmla="*/ 0 w 345"/>
                  <a:gd name="T1" fmla="*/ 0 h 344"/>
                  <a:gd name="T2" fmla="*/ 67 w 345"/>
                  <a:gd name="T3" fmla="*/ 6 h 344"/>
                  <a:gd name="T4" fmla="*/ 132 w 345"/>
                  <a:gd name="T5" fmla="*/ 25 h 344"/>
                  <a:gd name="T6" fmla="*/ 243 w 345"/>
                  <a:gd name="T7" fmla="*/ 101 h 344"/>
                  <a:gd name="T8" fmla="*/ 317 w 345"/>
                  <a:gd name="T9" fmla="*/ 211 h 344"/>
                  <a:gd name="T10" fmla="*/ 338 w 345"/>
                  <a:gd name="T11" fmla="*/ 277 h 344"/>
                  <a:gd name="T12" fmla="*/ 344 w 345"/>
                  <a:gd name="T13" fmla="*/ 344 h 344"/>
                  <a:gd name="T14" fmla="*/ 345 w 345"/>
                  <a:gd name="T15" fmla="*/ 344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5" h="344">
                    <a:moveTo>
                      <a:pt x="0" y="0"/>
                    </a:moveTo>
                    <a:lnTo>
                      <a:pt x="67" y="6"/>
                    </a:lnTo>
                    <a:lnTo>
                      <a:pt x="132" y="25"/>
                    </a:lnTo>
                    <a:lnTo>
                      <a:pt x="243" y="101"/>
                    </a:lnTo>
                    <a:lnTo>
                      <a:pt x="317" y="211"/>
                    </a:lnTo>
                    <a:lnTo>
                      <a:pt x="338" y="277"/>
                    </a:lnTo>
                    <a:lnTo>
                      <a:pt x="344" y="344"/>
                    </a:lnTo>
                    <a:lnTo>
                      <a:pt x="345" y="344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9" name="Freeform 141"/>
              <p:cNvSpPr>
                <a:spLocks noChangeArrowheads="1"/>
              </p:cNvSpPr>
              <p:nvPr/>
            </p:nvSpPr>
            <p:spPr bwMode="auto">
              <a:xfrm>
                <a:off x="1279" y="2522"/>
                <a:ext cx="108" cy="3"/>
              </a:xfrm>
              <a:custGeom>
                <a:avLst/>
                <a:gdLst>
                  <a:gd name="T0" fmla="*/ 0 w 344"/>
                  <a:gd name="T1" fmla="*/ 0 h 3"/>
                  <a:gd name="T2" fmla="*/ 343 w 344"/>
                  <a:gd name="T3" fmla="*/ 0 h 3"/>
                  <a:gd name="T4" fmla="*/ 344 w 34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4" h="3">
                    <a:moveTo>
                      <a:pt x="0" y="0"/>
                    </a:moveTo>
                    <a:lnTo>
                      <a:pt x="343" y="0"/>
                    </a:lnTo>
                    <a:lnTo>
                      <a:pt x="344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0" name="Freeform 142"/>
              <p:cNvSpPr>
                <a:spLocks noChangeArrowheads="1"/>
              </p:cNvSpPr>
              <p:nvPr/>
            </p:nvSpPr>
            <p:spPr bwMode="auto">
              <a:xfrm>
                <a:off x="1387" y="1759"/>
                <a:ext cx="290" cy="3"/>
              </a:xfrm>
              <a:custGeom>
                <a:avLst/>
                <a:gdLst>
                  <a:gd name="T0" fmla="*/ 917 w 917"/>
                  <a:gd name="T1" fmla="*/ 0 h 3"/>
                  <a:gd name="T2" fmla="*/ 0 w 917"/>
                  <a:gd name="T3" fmla="*/ 0 h 3"/>
                  <a:gd name="T4" fmla="*/ 1 w 917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17" h="3">
                    <a:moveTo>
                      <a:pt x="917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1" name="Freeform 143"/>
              <p:cNvSpPr>
                <a:spLocks noChangeArrowheads="1"/>
              </p:cNvSpPr>
              <p:nvPr/>
            </p:nvSpPr>
            <p:spPr bwMode="auto">
              <a:xfrm>
                <a:off x="1279" y="1939"/>
                <a:ext cx="108" cy="3"/>
              </a:xfrm>
              <a:custGeom>
                <a:avLst/>
                <a:gdLst>
                  <a:gd name="T0" fmla="*/ 343 w 343"/>
                  <a:gd name="T1" fmla="*/ 0 h 3"/>
                  <a:gd name="T2" fmla="*/ 0 w 343"/>
                  <a:gd name="T3" fmla="*/ 0 h 3"/>
                  <a:gd name="T4" fmla="*/ 1 w 34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3" h="3">
                    <a:moveTo>
                      <a:pt x="343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2" name="Freeform 144"/>
              <p:cNvSpPr>
                <a:spLocks noChangeArrowheads="1"/>
              </p:cNvSpPr>
              <p:nvPr/>
            </p:nvSpPr>
            <p:spPr bwMode="auto">
              <a:xfrm>
                <a:off x="1784" y="1904"/>
                <a:ext cx="1121" cy="4"/>
              </a:xfrm>
              <a:custGeom>
                <a:avLst/>
                <a:gdLst>
                  <a:gd name="T0" fmla="*/ 3551 w 3551"/>
                  <a:gd name="T1" fmla="*/ 0 h 4"/>
                  <a:gd name="T2" fmla="*/ 0 w 3551"/>
                  <a:gd name="T3" fmla="*/ 0 h 4"/>
                  <a:gd name="T4" fmla="*/ 1 w 355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51" h="4">
                    <a:moveTo>
                      <a:pt x="3551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3" name="Freeform 145"/>
              <p:cNvSpPr>
                <a:spLocks noChangeArrowheads="1"/>
              </p:cNvSpPr>
              <p:nvPr/>
            </p:nvSpPr>
            <p:spPr bwMode="auto">
              <a:xfrm>
                <a:off x="1784" y="2557"/>
                <a:ext cx="1124" cy="3"/>
              </a:xfrm>
              <a:custGeom>
                <a:avLst/>
                <a:gdLst>
                  <a:gd name="T0" fmla="*/ 0 w 3552"/>
                  <a:gd name="T1" fmla="*/ 0 h 3"/>
                  <a:gd name="T2" fmla="*/ 3551 w 3552"/>
                  <a:gd name="T3" fmla="*/ 0 h 3"/>
                  <a:gd name="T4" fmla="*/ 3552 w 355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52" h="3">
                    <a:moveTo>
                      <a:pt x="0" y="0"/>
                    </a:moveTo>
                    <a:lnTo>
                      <a:pt x="3551" y="0"/>
                    </a:lnTo>
                    <a:lnTo>
                      <a:pt x="3552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4" name="Freeform 146"/>
              <p:cNvSpPr>
                <a:spLocks noChangeArrowheads="1"/>
              </p:cNvSpPr>
              <p:nvPr/>
            </p:nvSpPr>
            <p:spPr bwMode="auto">
              <a:xfrm>
                <a:off x="1784" y="1904"/>
                <a:ext cx="4" cy="653"/>
              </a:xfrm>
              <a:custGeom>
                <a:avLst/>
                <a:gdLst>
                  <a:gd name="T0" fmla="*/ 0 w 1"/>
                  <a:gd name="T1" fmla="*/ 2064 h 2064"/>
                  <a:gd name="T2" fmla="*/ 0 w 1"/>
                  <a:gd name="T3" fmla="*/ 0 h 2064"/>
                  <a:gd name="T4" fmla="*/ 1 w 1"/>
                  <a:gd name="T5" fmla="*/ 0 h 2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064">
                    <a:moveTo>
                      <a:pt x="0" y="206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5" name="Freeform 147"/>
              <p:cNvSpPr>
                <a:spLocks noChangeArrowheads="1"/>
              </p:cNvSpPr>
              <p:nvPr/>
            </p:nvSpPr>
            <p:spPr bwMode="auto">
              <a:xfrm>
                <a:off x="2905" y="1904"/>
                <a:ext cx="73" cy="73"/>
              </a:xfrm>
              <a:custGeom>
                <a:avLst/>
                <a:gdLst>
                  <a:gd name="T0" fmla="*/ 230 w 230"/>
                  <a:gd name="T1" fmla="*/ 230 h 230"/>
                  <a:gd name="T2" fmla="*/ 0 w 230"/>
                  <a:gd name="T3" fmla="*/ 0 h 230"/>
                  <a:gd name="T4" fmla="*/ 1 w 230"/>
                  <a:gd name="T5" fmla="*/ 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0" h="230">
                    <a:moveTo>
                      <a:pt x="230" y="23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6" name="Freeform 148"/>
              <p:cNvSpPr>
                <a:spLocks noChangeArrowheads="1"/>
              </p:cNvSpPr>
              <p:nvPr/>
            </p:nvSpPr>
            <p:spPr bwMode="auto">
              <a:xfrm>
                <a:off x="2905" y="1904"/>
                <a:ext cx="3" cy="653"/>
              </a:xfrm>
              <a:custGeom>
                <a:avLst/>
                <a:gdLst>
                  <a:gd name="T0" fmla="*/ 0 w 1"/>
                  <a:gd name="T1" fmla="*/ 2064 h 2064"/>
                  <a:gd name="T2" fmla="*/ 0 w 1"/>
                  <a:gd name="T3" fmla="*/ 0 h 2064"/>
                  <a:gd name="T4" fmla="*/ 1 w 1"/>
                  <a:gd name="T5" fmla="*/ 0 h 2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064">
                    <a:moveTo>
                      <a:pt x="0" y="206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7" name="Freeform 149"/>
              <p:cNvSpPr>
                <a:spLocks noChangeArrowheads="1"/>
              </p:cNvSpPr>
              <p:nvPr/>
            </p:nvSpPr>
            <p:spPr bwMode="auto">
              <a:xfrm>
                <a:off x="2978" y="1977"/>
                <a:ext cx="3" cy="507"/>
              </a:xfrm>
              <a:custGeom>
                <a:avLst/>
                <a:gdLst>
                  <a:gd name="T0" fmla="*/ 0 w 1"/>
                  <a:gd name="T1" fmla="*/ 1605 h 1605"/>
                  <a:gd name="T2" fmla="*/ 0 w 1"/>
                  <a:gd name="T3" fmla="*/ 0 h 1605"/>
                  <a:gd name="T4" fmla="*/ 1 w 1"/>
                  <a:gd name="T5" fmla="*/ 0 h 1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605">
                    <a:moveTo>
                      <a:pt x="0" y="1605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8" name="Freeform 150"/>
              <p:cNvSpPr>
                <a:spLocks noChangeArrowheads="1"/>
              </p:cNvSpPr>
              <p:nvPr/>
            </p:nvSpPr>
            <p:spPr bwMode="auto">
              <a:xfrm>
                <a:off x="2905" y="2484"/>
                <a:ext cx="76" cy="73"/>
              </a:xfrm>
              <a:custGeom>
                <a:avLst/>
                <a:gdLst>
                  <a:gd name="T0" fmla="*/ 0 w 231"/>
                  <a:gd name="T1" fmla="*/ 229 h 229"/>
                  <a:gd name="T2" fmla="*/ 230 w 231"/>
                  <a:gd name="T3" fmla="*/ 0 h 229"/>
                  <a:gd name="T4" fmla="*/ 231 w 231"/>
                  <a:gd name="T5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1" h="229">
                    <a:moveTo>
                      <a:pt x="0" y="229"/>
                    </a:moveTo>
                    <a:lnTo>
                      <a:pt x="230" y="0"/>
                    </a:lnTo>
                    <a:lnTo>
                      <a:pt x="23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9" name="Freeform 151"/>
              <p:cNvSpPr>
                <a:spLocks noChangeArrowheads="1"/>
              </p:cNvSpPr>
              <p:nvPr/>
            </p:nvSpPr>
            <p:spPr bwMode="auto">
              <a:xfrm>
                <a:off x="3322" y="2139"/>
                <a:ext cx="183" cy="183"/>
              </a:xfrm>
              <a:custGeom>
                <a:avLst/>
                <a:gdLst>
                  <a:gd name="T0" fmla="*/ 286 w 573"/>
                  <a:gd name="T1" fmla="*/ 0 h 572"/>
                  <a:gd name="T2" fmla="*/ 396 w 573"/>
                  <a:gd name="T3" fmla="*/ 22 h 572"/>
                  <a:gd name="T4" fmla="*/ 489 w 573"/>
                  <a:gd name="T5" fmla="*/ 83 h 572"/>
                  <a:gd name="T6" fmla="*/ 551 w 573"/>
                  <a:gd name="T7" fmla="*/ 176 h 572"/>
                  <a:gd name="T8" fmla="*/ 573 w 573"/>
                  <a:gd name="T9" fmla="*/ 287 h 572"/>
                  <a:gd name="T10" fmla="*/ 551 w 573"/>
                  <a:gd name="T11" fmla="*/ 397 h 572"/>
                  <a:gd name="T12" fmla="*/ 489 w 573"/>
                  <a:gd name="T13" fmla="*/ 489 h 572"/>
                  <a:gd name="T14" fmla="*/ 396 w 573"/>
                  <a:gd name="T15" fmla="*/ 551 h 572"/>
                  <a:gd name="T16" fmla="*/ 286 w 573"/>
                  <a:gd name="T17" fmla="*/ 572 h 572"/>
                  <a:gd name="T18" fmla="*/ 176 w 573"/>
                  <a:gd name="T19" fmla="*/ 551 h 572"/>
                  <a:gd name="T20" fmla="*/ 84 w 573"/>
                  <a:gd name="T21" fmla="*/ 489 h 572"/>
                  <a:gd name="T22" fmla="*/ 22 w 573"/>
                  <a:gd name="T23" fmla="*/ 397 h 572"/>
                  <a:gd name="T24" fmla="*/ 0 w 573"/>
                  <a:gd name="T25" fmla="*/ 287 h 572"/>
                  <a:gd name="T26" fmla="*/ 22 w 573"/>
                  <a:gd name="T27" fmla="*/ 176 h 572"/>
                  <a:gd name="T28" fmla="*/ 84 w 573"/>
                  <a:gd name="T29" fmla="*/ 83 h 572"/>
                  <a:gd name="T30" fmla="*/ 176 w 573"/>
                  <a:gd name="T31" fmla="*/ 22 h 572"/>
                  <a:gd name="T32" fmla="*/ 286 w 573"/>
                  <a:gd name="T33" fmla="*/ 0 h 572"/>
                  <a:gd name="T34" fmla="*/ 287 w 573"/>
                  <a:gd name="T35" fmla="*/ 0 h 5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73" h="572">
                    <a:moveTo>
                      <a:pt x="286" y="0"/>
                    </a:moveTo>
                    <a:lnTo>
                      <a:pt x="396" y="22"/>
                    </a:lnTo>
                    <a:lnTo>
                      <a:pt x="489" y="83"/>
                    </a:lnTo>
                    <a:lnTo>
                      <a:pt x="551" y="176"/>
                    </a:lnTo>
                    <a:lnTo>
                      <a:pt x="573" y="287"/>
                    </a:lnTo>
                    <a:lnTo>
                      <a:pt x="551" y="397"/>
                    </a:lnTo>
                    <a:lnTo>
                      <a:pt x="489" y="489"/>
                    </a:lnTo>
                    <a:lnTo>
                      <a:pt x="396" y="551"/>
                    </a:lnTo>
                    <a:lnTo>
                      <a:pt x="286" y="572"/>
                    </a:lnTo>
                    <a:lnTo>
                      <a:pt x="176" y="551"/>
                    </a:lnTo>
                    <a:lnTo>
                      <a:pt x="84" y="489"/>
                    </a:lnTo>
                    <a:lnTo>
                      <a:pt x="22" y="397"/>
                    </a:lnTo>
                    <a:lnTo>
                      <a:pt x="0" y="287"/>
                    </a:lnTo>
                    <a:lnTo>
                      <a:pt x="22" y="176"/>
                    </a:lnTo>
                    <a:lnTo>
                      <a:pt x="84" y="83"/>
                    </a:lnTo>
                    <a:lnTo>
                      <a:pt x="176" y="22"/>
                    </a:lnTo>
                    <a:lnTo>
                      <a:pt x="286" y="0"/>
                    </a:lnTo>
                    <a:lnTo>
                      <a:pt x="287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0" name="Freeform 152"/>
              <p:cNvSpPr>
                <a:spLocks noChangeArrowheads="1"/>
              </p:cNvSpPr>
              <p:nvPr/>
            </p:nvSpPr>
            <p:spPr bwMode="auto">
              <a:xfrm>
                <a:off x="3777" y="1977"/>
                <a:ext cx="3" cy="507"/>
              </a:xfrm>
              <a:custGeom>
                <a:avLst/>
                <a:gdLst>
                  <a:gd name="T0" fmla="*/ 0 w 1"/>
                  <a:gd name="T1" fmla="*/ 1605 h 1605"/>
                  <a:gd name="T2" fmla="*/ 0 w 1"/>
                  <a:gd name="T3" fmla="*/ 0 h 1605"/>
                  <a:gd name="T4" fmla="*/ 1 w 1"/>
                  <a:gd name="T5" fmla="*/ 0 h 1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605">
                    <a:moveTo>
                      <a:pt x="0" y="1605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1" name="Freeform 153"/>
              <p:cNvSpPr>
                <a:spLocks noChangeArrowheads="1"/>
              </p:cNvSpPr>
              <p:nvPr/>
            </p:nvSpPr>
            <p:spPr bwMode="auto">
              <a:xfrm>
                <a:off x="3846" y="2050"/>
                <a:ext cx="3" cy="361"/>
              </a:xfrm>
              <a:custGeom>
                <a:avLst/>
                <a:gdLst>
                  <a:gd name="T0" fmla="*/ 0 w 2"/>
                  <a:gd name="T1" fmla="*/ 1146 h 1146"/>
                  <a:gd name="T2" fmla="*/ 0 w 2"/>
                  <a:gd name="T3" fmla="*/ 0 h 1146"/>
                  <a:gd name="T4" fmla="*/ 2 w 2"/>
                  <a:gd name="T5" fmla="*/ 0 h 1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146">
                    <a:moveTo>
                      <a:pt x="0" y="1146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2" name="Freeform 154"/>
              <p:cNvSpPr>
                <a:spLocks noChangeArrowheads="1"/>
              </p:cNvSpPr>
              <p:nvPr/>
            </p:nvSpPr>
            <p:spPr bwMode="auto">
              <a:xfrm>
                <a:off x="3777" y="2411"/>
                <a:ext cx="72" cy="73"/>
              </a:xfrm>
              <a:custGeom>
                <a:avLst/>
                <a:gdLst>
                  <a:gd name="T0" fmla="*/ 0 w 230"/>
                  <a:gd name="T1" fmla="*/ 230 h 230"/>
                  <a:gd name="T2" fmla="*/ 228 w 230"/>
                  <a:gd name="T3" fmla="*/ 0 h 230"/>
                  <a:gd name="T4" fmla="*/ 230 w 230"/>
                  <a:gd name="T5" fmla="*/ 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0" h="230">
                    <a:moveTo>
                      <a:pt x="0" y="230"/>
                    </a:moveTo>
                    <a:lnTo>
                      <a:pt x="228" y="0"/>
                    </a:lnTo>
                    <a:lnTo>
                      <a:pt x="230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93" name="Freeform 155"/>
              <p:cNvSpPr>
                <a:spLocks noChangeArrowheads="1"/>
              </p:cNvSpPr>
              <p:nvPr/>
            </p:nvSpPr>
            <p:spPr bwMode="auto">
              <a:xfrm>
                <a:off x="3777" y="1977"/>
                <a:ext cx="69" cy="73"/>
              </a:xfrm>
              <a:custGeom>
                <a:avLst/>
                <a:gdLst>
                  <a:gd name="T0" fmla="*/ 228 w 228"/>
                  <a:gd name="T1" fmla="*/ 229 h 229"/>
                  <a:gd name="T2" fmla="*/ 0 w 228"/>
                  <a:gd name="T3" fmla="*/ 0 h 229"/>
                  <a:gd name="T4" fmla="*/ 1 w 228"/>
                  <a:gd name="T5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8" h="229">
                    <a:moveTo>
                      <a:pt x="228" y="22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278" name="Group 156"/>
            <p:cNvGrpSpPr>
              <a:grpSpLocks/>
            </p:cNvGrpSpPr>
            <p:nvPr/>
          </p:nvGrpSpPr>
          <p:grpSpPr bwMode="auto">
            <a:xfrm>
              <a:off x="279" y="1780"/>
              <a:ext cx="2026" cy="199"/>
              <a:chOff x="1810" y="1062"/>
              <a:chExt cx="2420" cy="238"/>
            </a:xfrm>
          </p:grpSpPr>
          <p:sp>
            <p:nvSpPr>
              <p:cNvPr id="339" name="Freeform 157"/>
              <p:cNvSpPr>
                <a:spLocks noChangeArrowheads="1"/>
              </p:cNvSpPr>
              <p:nvPr/>
            </p:nvSpPr>
            <p:spPr bwMode="auto">
              <a:xfrm>
                <a:off x="4033" y="1180"/>
                <a:ext cx="197" cy="2"/>
              </a:xfrm>
              <a:custGeom>
                <a:avLst/>
                <a:gdLst>
                  <a:gd name="T0" fmla="*/ 982 w 982"/>
                  <a:gd name="T1" fmla="*/ 0 h 2"/>
                  <a:gd name="T2" fmla="*/ 0 w 982"/>
                  <a:gd name="T3" fmla="*/ 0 h 2"/>
                  <a:gd name="T4" fmla="*/ 1 w 98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82" h="2">
                    <a:moveTo>
                      <a:pt x="98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0" name="Freeform 158"/>
              <p:cNvSpPr>
                <a:spLocks noChangeArrowheads="1"/>
              </p:cNvSpPr>
              <p:nvPr/>
            </p:nvSpPr>
            <p:spPr bwMode="auto">
              <a:xfrm>
                <a:off x="3964" y="1180"/>
                <a:ext cx="35" cy="2"/>
              </a:xfrm>
              <a:custGeom>
                <a:avLst/>
                <a:gdLst>
                  <a:gd name="T0" fmla="*/ 172 w 172"/>
                  <a:gd name="T1" fmla="*/ 0 h 2"/>
                  <a:gd name="T2" fmla="*/ 0 w 172"/>
                  <a:gd name="T3" fmla="*/ 0 h 2"/>
                  <a:gd name="T4" fmla="*/ 1 w 17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2" h="2">
                    <a:moveTo>
                      <a:pt x="17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1" name="Freeform 159"/>
              <p:cNvSpPr>
                <a:spLocks noChangeArrowheads="1"/>
              </p:cNvSpPr>
              <p:nvPr/>
            </p:nvSpPr>
            <p:spPr bwMode="auto">
              <a:xfrm>
                <a:off x="3759" y="1180"/>
                <a:ext cx="172" cy="2"/>
              </a:xfrm>
              <a:custGeom>
                <a:avLst/>
                <a:gdLst>
                  <a:gd name="T0" fmla="*/ 859 w 859"/>
                  <a:gd name="T1" fmla="*/ 0 h 2"/>
                  <a:gd name="T2" fmla="*/ 0 w 859"/>
                  <a:gd name="T3" fmla="*/ 0 h 2"/>
                  <a:gd name="T4" fmla="*/ 1 w 859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9" h="2">
                    <a:moveTo>
                      <a:pt x="859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2" name="Freeform 160"/>
              <p:cNvSpPr>
                <a:spLocks noChangeArrowheads="1"/>
              </p:cNvSpPr>
              <p:nvPr/>
            </p:nvSpPr>
            <p:spPr bwMode="auto">
              <a:xfrm>
                <a:off x="3691" y="1180"/>
                <a:ext cx="34" cy="2"/>
              </a:xfrm>
              <a:custGeom>
                <a:avLst/>
                <a:gdLst>
                  <a:gd name="T0" fmla="*/ 172 w 172"/>
                  <a:gd name="T1" fmla="*/ 0 h 2"/>
                  <a:gd name="T2" fmla="*/ 0 w 172"/>
                  <a:gd name="T3" fmla="*/ 0 h 2"/>
                  <a:gd name="T4" fmla="*/ 1 w 17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2" h="2">
                    <a:moveTo>
                      <a:pt x="17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3" name="Freeform 161"/>
              <p:cNvSpPr>
                <a:spLocks noChangeArrowheads="1"/>
              </p:cNvSpPr>
              <p:nvPr/>
            </p:nvSpPr>
            <p:spPr bwMode="auto">
              <a:xfrm>
                <a:off x="3483" y="1180"/>
                <a:ext cx="172" cy="2"/>
              </a:xfrm>
              <a:custGeom>
                <a:avLst/>
                <a:gdLst>
                  <a:gd name="T0" fmla="*/ 859 w 859"/>
                  <a:gd name="T1" fmla="*/ 0 h 2"/>
                  <a:gd name="T2" fmla="*/ 0 w 859"/>
                  <a:gd name="T3" fmla="*/ 0 h 2"/>
                  <a:gd name="T4" fmla="*/ 1 w 859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9" h="2">
                    <a:moveTo>
                      <a:pt x="859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4" name="Freeform 162"/>
              <p:cNvSpPr>
                <a:spLocks noChangeArrowheads="1"/>
              </p:cNvSpPr>
              <p:nvPr/>
            </p:nvSpPr>
            <p:spPr bwMode="auto">
              <a:xfrm>
                <a:off x="3415" y="1180"/>
                <a:ext cx="34" cy="2"/>
              </a:xfrm>
              <a:custGeom>
                <a:avLst/>
                <a:gdLst>
                  <a:gd name="T0" fmla="*/ 172 w 172"/>
                  <a:gd name="T1" fmla="*/ 0 h 2"/>
                  <a:gd name="T2" fmla="*/ 0 w 172"/>
                  <a:gd name="T3" fmla="*/ 0 h 2"/>
                  <a:gd name="T4" fmla="*/ 1 w 17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2" h="2">
                    <a:moveTo>
                      <a:pt x="17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5" name="Freeform 163"/>
              <p:cNvSpPr>
                <a:spLocks noChangeArrowheads="1"/>
              </p:cNvSpPr>
              <p:nvPr/>
            </p:nvSpPr>
            <p:spPr bwMode="auto">
              <a:xfrm>
                <a:off x="3209" y="1180"/>
                <a:ext cx="172" cy="2"/>
              </a:xfrm>
              <a:custGeom>
                <a:avLst/>
                <a:gdLst>
                  <a:gd name="T0" fmla="*/ 860 w 860"/>
                  <a:gd name="T1" fmla="*/ 0 h 2"/>
                  <a:gd name="T2" fmla="*/ 0 w 860"/>
                  <a:gd name="T3" fmla="*/ 0 h 2"/>
                  <a:gd name="T4" fmla="*/ 2 w 86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60" h="2">
                    <a:moveTo>
                      <a:pt x="860" y="0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6" name="Freeform 164"/>
              <p:cNvSpPr>
                <a:spLocks noChangeArrowheads="1"/>
              </p:cNvSpPr>
              <p:nvPr/>
            </p:nvSpPr>
            <p:spPr bwMode="auto">
              <a:xfrm>
                <a:off x="3139" y="1180"/>
                <a:ext cx="36" cy="2"/>
              </a:xfrm>
              <a:custGeom>
                <a:avLst/>
                <a:gdLst>
                  <a:gd name="T0" fmla="*/ 172 w 172"/>
                  <a:gd name="T1" fmla="*/ 0 h 2"/>
                  <a:gd name="T2" fmla="*/ 0 w 172"/>
                  <a:gd name="T3" fmla="*/ 0 h 2"/>
                  <a:gd name="T4" fmla="*/ 1 w 17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2" h="2">
                    <a:moveTo>
                      <a:pt x="17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7" name="Freeform 165"/>
              <p:cNvSpPr>
                <a:spLocks noChangeArrowheads="1"/>
              </p:cNvSpPr>
              <p:nvPr/>
            </p:nvSpPr>
            <p:spPr bwMode="auto">
              <a:xfrm>
                <a:off x="2933" y="1180"/>
                <a:ext cx="172" cy="2"/>
              </a:xfrm>
              <a:custGeom>
                <a:avLst/>
                <a:gdLst>
                  <a:gd name="T0" fmla="*/ 859 w 859"/>
                  <a:gd name="T1" fmla="*/ 0 h 2"/>
                  <a:gd name="T2" fmla="*/ 0 w 859"/>
                  <a:gd name="T3" fmla="*/ 0 h 2"/>
                  <a:gd name="T4" fmla="*/ 1 w 859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9" h="2">
                    <a:moveTo>
                      <a:pt x="859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8" name="Freeform 166"/>
              <p:cNvSpPr>
                <a:spLocks noChangeArrowheads="1"/>
              </p:cNvSpPr>
              <p:nvPr/>
            </p:nvSpPr>
            <p:spPr bwMode="auto">
              <a:xfrm>
                <a:off x="2865" y="1180"/>
                <a:ext cx="35" cy="2"/>
              </a:xfrm>
              <a:custGeom>
                <a:avLst/>
                <a:gdLst>
                  <a:gd name="T0" fmla="*/ 172 w 172"/>
                  <a:gd name="T1" fmla="*/ 0 h 2"/>
                  <a:gd name="T2" fmla="*/ 0 w 172"/>
                  <a:gd name="T3" fmla="*/ 0 h 2"/>
                  <a:gd name="T4" fmla="*/ 1 w 17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2" h="2">
                    <a:moveTo>
                      <a:pt x="17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49" name="Freeform 167"/>
              <p:cNvSpPr>
                <a:spLocks noChangeArrowheads="1"/>
              </p:cNvSpPr>
              <p:nvPr/>
            </p:nvSpPr>
            <p:spPr bwMode="auto">
              <a:xfrm>
                <a:off x="2660" y="1180"/>
                <a:ext cx="171" cy="2"/>
              </a:xfrm>
              <a:custGeom>
                <a:avLst/>
                <a:gdLst>
                  <a:gd name="T0" fmla="*/ 859 w 859"/>
                  <a:gd name="T1" fmla="*/ 0 h 2"/>
                  <a:gd name="T2" fmla="*/ 0 w 859"/>
                  <a:gd name="T3" fmla="*/ 0 h 2"/>
                  <a:gd name="T4" fmla="*/ 1 w 859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9" h="2">
                    <a:moveTo>
                      <a:pt x="859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0" name="Freeform 168"/>
              <p:cNvSpPr>
                <a:spLocks noChangeArrowheads="1"/>
              </p:cNvSpPr>
              <p:nvPr/>
            </p:nvSpPr>
            <p:spPr bwMode="auto">
              <a:xfrm>
                <a:off x="2591" y="1180"/>
                <a:ext cx="34" cy="2"/>
              </a:xfrm>
              <a:custGeom>
                <a:avLst/>
                <a:gdLst>
                  <a:gd name="T0" fmla="*/ 172 w 172"/>
                  <a:gd name="T1" fmla="*/ 0 h 2"/>
                  <a:gd name="T2" fmla="*/ 0 w 172"/>
                  <a:gd name="T3" fmla="*/ 0 h 2"/>
                  <a:gd name="T4" fmla="*/ 1 w 17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2" h="2">
                    <a:moveTo>
                      <a:pt x="17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1" name="Freeform 169"/>
              <p:cNvSpPr>
                <a:spLocks noChangeArrowheads="1"/>
              </p:cNvSpPr>
              <p:nvPr/>
            </p:nvSpPr>
            <p:spPr bwMode="auto">
              <a:xfrm>
                <a:off x="2384" y="1180"/>
                <a:ext cx="172" cy="2"/>
              </a:xfrm>
              <a:custGeom>
                <a:avLst/>
                <a:gdLst>
                  <a:gd name="T0" fmla="*/ 859 w 859"/>
                  <a:gd name="T1" fmla="*/ 0 h 2"/>
                  <a:gd name="T2" fmla="*/ 0 w 859"/>
                  <a:gd name="T3" fmla="*/ 0 h 2"/>
                  <a:gd name="T4" fmla="*/ 1 w 859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9" h="2">
                    <a:moveTo>
                      <a:pt x="859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2" name="Freeform 170"/>
              <p:cNvSpPr>
                <a:spLocks noChangeArrowheads="1"/>
              </p:cNvSpPr>
              <p:nvPr/>
            </p:nvSpPr>
            <p:spPr bwMode="auto">
              <a:xfrm>
                <a:off x="2316" y="1180"/>
                <a:ext cx="33" cy="2"/>
              </a:xfrm>
              <a:custGeom>
                <a:avLst/>
                <a:gdLst>
                  <a:gd name="T0" fmla="*/ 172 w 172"/>
                  <a:gd name="T1" fmla="*/ 0 h 2"/>
                  <a:gd name="T2" fmla="*/ 0 w 172"/>
                  <a:gd name="T3" fmla="*/ 0 h 2"/>
                  <a:gd name="T4" fmla="*/ 1 w 17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2" h="2">
                    <a:moveTo>
                      <a:pt x="17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3" name="Freeform 171"/>
              <p:cNvSpPr>
                <a:spLocks noChangeArrowheads="1"/>
              </p:cNvSpPr>
              <p:nvPr/>
            </p:nvSpPr>
            <p:spPr bwMode="auto">
              <a:xfrm>
                <a:off x="2110" y="1180"/>
                <a:ext cx="172" cy="2"/>
              </a:xfrm>
              <a:custGeom>
                <a:avLst/>
                <a:gdLst>
                  <a:gd name="T0" fmla="*/ 860 w 860"/>
                  <a:gd name="T1" fmla="*/ 0 h 2"/>
                  <a:gd name="T2" fmla="*/ 0 w 860"/>
                  <a:gd name="T3" fmla="*/ 0 h 2"/>
                  <a:gd name="T4" fmla="*/ 1 w 86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60" h="2">
                    <a:moveTo>
                      <a:pt x="86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4" name="Freeform 172"/>
              <p:cNvSpPr>
                <a:spLocks noChangeArrowheads="1"/>
              </p:cNvSpPr>
              <p:nvPr/>
            </p:nvSpPr>
            <p:spPr bwMode="auto">
              <a:xfrm>
                <a:off x="2042" y="1180"/>
                <a:ext cx="34" cy="2"/>
              </a:xfrm>
              <a:custGeom>
                <a:avLst/>
                <a:gdLst>
                  <a:gd name="T0" fmla="*/ 172 w 172"/>
                  <a:gd name="T1" fmla="*/ 0 h 2"/>
                  <a:gd name="T2" fmla="*/ 0 w 172"/>
                  <a:gd name="T3" fmla="*/ 0 h 2"/>
                  <a:gd name="T4" fmla="*/ 1 w 17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2" h="2">
                    <a:moveTo>
                      <a:pt x="17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5" name="Freeform 173"/>
              <p:cNvSpPr>
                <a:spLocks noChangeArrowheads="1"/>
              </p:cNvSpPr>
              <p:nvPr/>
            </p:nvSpPr>
            <p:spPr bwMode="auto">
              <a:xfrm>
                <a:off x="1810" y="1180"/>
                <a:ext cx="196" cy="2"/>
              </a:xfrm>
              <a:custGeom>
                <a:avLst/>
                <a:gdLst>
                  <a:gd name="T0" fmla="*/ 981 w 981"/>
                  <a:gd name="T1" fmla="*/ 0 h 2"/>
                  <a:gd name="T2" fmla="*/ 0 w 981"/>
                  <a:gd name="T3" fmla="*/ 0 h 2"/>
                  <a:gd name="T4" fmla="*/ 1 w 98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81" h="2">
                    <a:moveTo>
                      <a:pt x="981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6" name="Freeform 174"/>
              <p:cNvSpPr>
                <a:spLocks noChangeArrowheads="1"/>
              </p:cNvSpPr>
              <p:nvPr/>
            </p:nvSpPr>
            <p:spPr bwMode="auto">
              <a:xfrm>
                <a:off x="2080" y="1070"/>
                <a:ext cx="2" cy="230"/>
              </a:xfrm>
              <a:custGeom>
                <a:avLst/>
                <a:gdLst>
                  <a:gd name="T0" fmla="*/ 0 w 1"/>
                  <a:gd name="T1" fmla="*/ 0 h 1151"/>
                  <a:gd name="T2" fmla="*/ 0 w 1"/>
                  <a:gd name="T3" fmla="*/ 1151 h 1151"/>
                  <a:gd name="T4" fmla="*/ 1 w 1"/>
                  <a:gd name="T5" fmla="*/ 1151 h 1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151">
                    <a:moveTo>
                      <a:pt x="0" y="0"/>
                    </a:moveTo>
                    <a:lnTo>
                      <a:pt x="0" y="1151"/>
                    </a:lnTo>
                    <a:lnTo>
                      <a:pt x="1" y="1151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7" name="Freeform 175"/>
              <p:cNvSpPr>
                <a:spLocks noChangeArrowheads="1"/>
              </p:cNvSpPr>
              <p:nvPr/>
            </p:nvSpPr>
            <p:spPr bwMode="auto">
              <a:xfrm>
                <a:off x="2390" y="1062"/>
                <a:ext cx="2" cy="230"/>
              </a:xfrm>
              <a:custGeom>
                <a:avLst/>
                <a:gdLst>
                  <a:gd name="T0" fmla="*/ 0 w 1"/>
                  <a:gd name="T1" fmla="*/ 0 h 1151"/>
                  <a:gd name="T2" fmla="*/ 0 w 1"/>
                  <a:gd name="T3" fmla="*/ 1151 h 1151"/>
                  <a:gd name="T4" fmla="*/ 1 w 1"/>
                  <a:gd name="T5" fmla="*/ 1151 h 1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151">
                    <a:moveTo>
                      <a:pt x="0" y="0"/>
                    </a:moveTo>
                    <a:lnTo>
                      <a:pt x="0" y="1151"/>
                    </a:lnTo>
                    <a:lnTo>
                      <a:pt x="1" y="1151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58" name="Freeform 176"/>
              <p:cNvSpPr>
                <a:spLocks noChangeArrowheads="1"/>
              </p:cNvSpPr>
              <p:nvPr/>
            </p:nvSpPr>
            <p:spPr bwMode="auto">
              <a:xfrm>
                <a:off x="3888" y="1070"/>
                <a:ext cx="3" cy="228"/>
              </a:xfrm>
              <a:custGeom>
                <a:avLst/>
                <a:gdLst>
                  <a:gd name="T0" fmla="*/ 0 w 1"/>
                  <a:gd name="T1" fmla="*/ 0 h 1140"/>
                  <a:gd name="T2" fmla="*/ 0 w 1"/>
                  <a:gd name="T3" fmla="*/ 1140 h 1140"/>
                  <a:gd name="T4" fmla="*/ 1 w 1"/>
                  <a:gd name="T5" fmla="*/ 1140 h 1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140">
                    <a:moveTo>
                      <a:pt x="0" y="0"/>
                    </a:moveTo>
                    <a:lnTo>
                      <a:pt x="0" y="1140"/>
                    </a:lnTo>
                    <a:lnTo>
                      <a:pt x="1" y="114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279" name="Group 177"/>
            <p:cNvGrpSpPr>
              <a:grpSpLocks/>
            </p:cNvGrpSpPr>
            <p:nvPr/>
          </p:nvGrpSpPr>
          <p:grpSpPr bwMode="auto">
            <a:xfrm flipH="1">
              <a:off x="611" y="1425"/>
              <a:ext cx="207" cy="872"/>
              <a:chOff x="2037" y="1507"/>
              <a:chExt cx="237" cy="997"/>
            </a:xfrm>
          </p:grpSpPr>
          <p:sp>
            <p:nvSpPr>
              <p:cNvPr id="331" name="Freeform 178"/>
              <p:cNvSpPr>
                <a:spLocks noChangeArrowheads="1"/>
              </p:cNvSpPr>
              <p:nvPr/>
            </p:nvSpPr>
            <p:spPr bwMode="auto">
              <a:xfrm>
                <a:off x="2270" y="1520"/>
                <a:ext cx="4" cy="167"/>
              </a:xfrm>
              <a:custGeom>
                <a:avLst/>
                <a:gdLst>
                  <a:gd name="T0" fmla="*/ 0 w 1"/>
                  <a:gd name="T1" fmla="*/ 0 h 509"/>
                  <a:gd name="T2" fmla="*/ 0 w 1"/>
                  <a:gd name="T3" fmla="*/ 509 h 509"/>
                  <a:gd name="T4" fmla="*/ 1 w 1"/>
                  <a:gd name="T5" fmla="*/ 509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09">
                    <a:moveTo>
                      <a:pt x="0" y="0"/>
                    </a:moveTo>
                    <a:lnTo>
                      <a:pt x="0" y="509"/>
                    </a:lnTo>
                    <a:lnTo>
                      <a:pt x="1" y="509"/>
                    </a:lnTo>
                  </a:path>
                </a:pathLst>
              </a:custGeom>
              <a:noFill/>
              <a:ln w="57150">
                <a:solidFill>
                  <a:srgbClr val="CC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2" name="Freeform 179"/>
              <p:cNvSpPr>
                <a:spLocks noChangeArrowheads="1"/>
              </p:cNvSpPr>
              <p:nvPr/>
            </p:nvSpPr>
            <p:spPr bwMode="auto">
              <a:xfrm>
                <a:off x="2037" y="1507"/>
                <a:ext cx="95" cy="29"/>
              </a:xfrm>
              <a:custGeom>
                <a:avLst/>
                <a:gdLst>
                  <a:gd name="T0" fmla="*/ 284 w 284"/>
                  <a:gd name="T1" fmla="*/ 94 h 94"/>
                  <a:gd name="T2" fmla="*/ 0 w 284"/>
                  <a:gd name="T3" fmla="*/ 47 h 94"/>
                  <a:gd name="T4" fmla="*/ 284 w 284"/>
                  <a:gd name="T5" fmla="*/ 0 h 94"/>
                  <a:gd name="T6" fmla="*/ 284 w 284"/>
                  <a:gd name="T7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4" h="94">
                    <a:moveTo>
                      <a:pt x="284" y="94"/>
                    </a:moveTo>
                    <a:lnTo>
                      <a:pt x="0" y="47"/>
                    </a:lnTo>
                    <a:lnTo>
                      <a:pt x="284" y="0"/>
                    </a:lnTo>
                    <a:lnTo>
                      <a:pt x="284" y="94"/>
                    </a:lnTo>
                    <a:close/>
                  </a:path>
                </a:pathLst>
              </a:custGeom>
              <a:solidFill>
                <a:srgbClr val="33FF00"/>
              </a:solidFill>
              <a:ln w="12700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3" name="Freeform 180"/>
              <p:cNvSpPr>
                <a:spLocks noChangeArrowheads="1"/>
              </p:cNvSpPr>
              <p:nvPr/>
            </p:nvSpPr>
            <p:spPr bwMode="auto">
              <a:xfrm>
                <a:off x="2037" y="1507"/>
                <a:ext cx="95" cy="29"/>
              </a:xfrm>
              <a:custGeom>
                <a:avLst/>
                <a:gdLst>
                  <a:gd name="T0" fmla="*/ 284 w 284"/>
                  <a:gd name="T1" fmla="*/ 94 h 94"/>
                  <a:gd name="T2" fmla="*/ 0 w 284"/>
                  <a:gd name="T3" fmla="*/ 47 h 94"/>
                  <a:gd name="T4" fmla="*/ 284 w 284"/>
                  <a:gd name="T5" fmla="*/ 0 h 94"/>
                  <a:gd name="T6" fmla="*/ 284 w 284"/>
                  <a:gd name="T7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4" h="94">
                    <a:moveTo>
                      <a:pt x="284" y="94"/>
                    </a:moveTo>
                    <a:lnTo>
                      <a:pt x="0" y="47"/>
                    </a:lnTo>
                    <a:lnTo>
                      <a:pt x="284" y="0"/>
                    </a:lnTo>
                    <a:lnTo>
                      <a:pt x="284" y="94"/>
                    </a:lnTo>
                  </a:path>
                </a:pathLst>
              </a:custGeom>
              <a:noFill/>
              <a:ln w="12700">
                <a:solidFill>
                  <a:srgbClr val="CC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4" name="Freeform 181"/>
              <p:cNvSpPr>
                <a:spLocks noChangeArrowheads="1"/>
              </p:cNvSpPr>
              <p:nvPr/>
            </p:nvSpPr>
            <p:spPr bwMode="auto">
              <a:xfrm>
                <a:off x="2132" y="1520"/>
                <a:ext cx="138" cy="3"/>
              </a:xfrm>
              <a:custGeom>
                <a:avLst/>
                <a:gdLst>
                  <a:gd name="T0" fmla="*/ 0 w 425"/>
                  <a:gd name="T1" fmla="*/ 0 h 3"/>
                  <a:gd name="T2" fmla="*/ 424 w 425"/>
                  <a:gd name="T3" fmla="*/ 0 h 3"/>
                  <a:gd name="T4" fmla="*/ 425 w 42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5" h="3">
                    <a:moveTo>
                      <a:pt x="0" y="0"/>
                    </a:moveTo>
                    <a:lnTo>
                      <a:pt x="424" y="0"/>
                    </a:lnTo>
                    <a:lnTo>
                      <a:pt x="425" y="0"/>
                    </a:lnTo>
                  </a:path>
                </a:pathLst>
              </a:custGeom>
              <a:noFill/>
              <a:ln w="12700">
                <a:solidFill>
                  <a:srgbClr val="CC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5" name="Freeform 182"/>
              <p:cNvSpPr>
                <a:spLocks noChangeArrowheads="1"/>
              </p:cNvSpPr>
              <p:nvPr/>
            </p:nvSpPr>
            <p:spPr bwMode="auto">
              <a:xfrm>
                <a:off x="2037" y="2471"/>
                <a:ext cx="95" cy="33"/>
              </a:xfrm>
              <a:custGeom>
                <a:avLst/>
                <a:gdLst>
                  <a:gd name="T0" fmla="*/ 284 w 284"/>
                  <a:gd name="T1" fmla="*/ 94 h 94"/>
                  <a:gd name="T2" fmla="*/ 0 w 284"/>
                  <a:gd name="T3" fmla="*/ 46 h 94"/>
                  <a:gd name="T4" fmla="*/ 284 w 284"/>
                  <a:gd name="T5" fmla="*/ 0 h 94"/>
                  <a:gd name="T6" fmla="*/ 284 w 284"/>
                  <a:gd name="T7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4" h="94">
                    <a:moveTo>
                      <a:pt x="284" y="94"/>
                    </a:moveTo>
                    <a:lnTo>
                      <a:pt x="0" y="46"/>
                    </a:lnTo>
                    <a:lnTo>
                      <a:pt x="284" y="0"/>
                    </a:lnTo>
                    <a:lnTo>
                      <a:pt x="284" y="94"/>
                    </a:lnTo>
                    <a:close/>
                  </a:path>
                </a:pathLst>
              </a:custGeom>
              <a:solidFill>
                <a:srgbClr val="33FF00"/>
              </a:solidFill>
              <a:ln w="12700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6" name="Freeform 183"/>
              <p:cNvSpPr>
                <a:spLocks noChangeArrowheads="1"/>
              </p:cNvSpPr>
              <p:nvPr/>
            </p:nvSpPr>
            <p:spPr bwMode="auto">
              <a:xfrm>
                <a:off x="2037" y="2471"/>
                <a:ext cx="95" cy="33"/>
              </a:xfrm>
              <a:custGeom>
                <a:avLst/>
                <a:gdLst>
                  <a:gd name="T0" fmla="*/ 284 w 284"/>
                  <a:gd name="T1" fmla="*/ 94 h 94"/>
                  <a:gd name="T2" fmla="*/ 0 w 284"/>
                  <a:gd name="T3" fmla="*/ 46 h 94"/>
                  <a:gd name="T4" fmla="*/ 284 w 284"/>
                  <a:gd name="T5" fmla="*/ 0 h 94"/>
                  <a:gd name="T6" fmla="*/ 284 w 284"/>
                  <a:gd name="T7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4" h="94">
                    <a:moveTo>
                      <a:pt x="284" y="94"/>
                    </a:moveTo>
                    <a:lnTo>
                      <a:pt x="0" y="46"/>
                    </a:lnTo>
                    <a:lnTo>
                      <a:pt x="284" y="0"/>
                    </a:lnTo>
                    <a:lnTo>
                      <a:pt x="284" y="94"/>
                    </a:lnTo>
                  </a:path>
                </a:pathLst>
              </a:custGeom>
              <a:noFill/>
              <a:ln w="12700">
                <a:solidFill>
                  <a:srgbClr val="CC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7" name="Freeform 184"/>
              <p:cNvSpPr>
                <a:spLocks noChangeArrowheads="1"/>
              </p:cNvSpPr>
              <p:nvPr/>
            </p:nvSpPr>
            <p:spPr bwMode="auto">
              <a:xfrm>
                <a:off x="2132" y="2487"/>
                <a:ext cx="138" cy="3"/>
              </a:xfrm>
              <a:custGeom>
                <a:avLst/>
                <a:gdLst>
                  <a:gd name="T0" fmla="*/ 0 w 425"/>
                  <a:gd name="T1" fmla="*/ 0 h 3"/>
                  <a:gd name="T2" fmla="*/ 424 w 425"/>
                  <a:gd name="T3" fmla="*/ 0 h 3"/>
                  <a:gd name="T4" fmla="*/ 425 w 42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5" h="3">
                    <a:moveTo>
                      <a:pt x="0" y="0"/>
                    </a:moveTo>
                    <a:lnTo>
                      <a:pt x="424" y="0"/>
                    </a:lnTo>
                    <a:lnTo>
                      <a:pt x="425" y="0"/>
                    </a:lnTo>
                  </a:path>
                </a:pathLst>
              </a:custGeom>
              <a:noFill/>
              <a:ln w="12700">
                <a:solidFill>
                  <a:srgbClr val="CC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8" name="Freeform 185"/>
              <p:cNvSpPr>
                <a:spLocks noChangeArrowheads="1"/>
              </p:cNvSpPr>
              <p:nvPr/>
            </p:nvSpPr>
            <p:spPr bwMode="auto">
              <a:xfrm>
                <a:off x="2270" y="2316"/>
                <a:ext cx="4" cy="171"/>
              </a:xfrm>
              <a:custGeom>
                <a:avLst/>
                <a:gdLst>
                  <a:gd name="T0" fmla="*/ 0 w 1"/>
                  <a:gd name="T1" fmla="*/ 0 h 521"/>
                  <a:gd name="T2" fmla="*/ 0 w 1"/>
                  <a:gd name="T3" fmla="*/ 521 h 521"/>
                  <a:gd name="T4" fmla="*/ 1 w 1"/>
                  <a:gd name="T5" fmla="*/ 521 h 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21">
                    <a:moveTo>
                      <a:pt x="0" y="0"/>
                    </a:moveTo>
                    <a:lnTo>
                      <a:pt x="0" y="521"/>
                    </a:lnTo>
                    <a:lnTo>
                      <a:pt x="1" y="521"/>
                    </a:lnTo>
                  </a:path>
                </a:pathLst>
              </a:custGeom>
              <a:noFill/>
              <a:ln w="57150">
                <a:solidFill>
                  <a:srgbClr val="CC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280" name="Group 186"/>
            <p:cNvGrpSpPr>
              <a:grpSpLocks/>
            </p:cNvGrpSpPr>
            <p:nvPr/>
          </p:nvGrpSpPr>
          <p:grpSpPr bwMode="auto">
            <a:xfrm>
              <a:off x="1842" y="2342"/>
              <a:ext cx="356" cy="356"/>
              <a:chOff x="4541" y="1793"/>
              <a:chExt cx="425" cy="424"/>
            </a:xfrm>
          </p:grpSpPr>
          <p:grpSp>
            <p:nvGrpSpPr>
              <p:cNvPr id="307" name="Group 187"/>
              <p:cNvGrpSpPr>
                <a:grpSpLocks/>
              </p:cNvGrpSpPr>
              <p:nvPr/>
            </p:nvGrpSpPr>
            <p:grpSpPr bwMode="auto">
              <a:xfrm flipH="1">
                <a:off x="4614" y="1842"/>
                <a:ext cx="270" cy="323"/>
                <a:chOff x="3107" y="1349"/>
                <a:chExt cx="82" cy="98"/>
              </a:xfrm>
            </p:grpSpPr>
            <p:sp>
              <p:nvSpPr>
                <p:cNvPr id="323" name="Freeform 188"/>
                <p:cNvSpPr>
                  <a:spLocks noChangeArrowheads="1"/>
                </p:cNvSpPr>
                <p:nvPr/>
              </p:nvSpPr>
              <p:spPr bwMode="auto">
                <a:xfrm>
                  <a:off x="3107" y="1356"/>
                  <a:ext cx="17" cy="17"/>
                </a:xfrm>
                <a:custGeom>
                  <a:avLst/>
                  <a:gdLst>
                    <a:gd name="T0" fmla="*/ 0 w 171"/>
                    <a:gd name="T1" fmla="*/ 170 h 170"/>
                    <a:gd name="T2" fmla="*/ 170 w 171"/>
                    <a:gd name="T3" fmla="*/ 0 h 170"/>
                    <a:gd name="T4" fmla="*/ 171 w 171"/>
                    <a:gd name="T5" fmla="*/ 0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71" h="170">
                      <a:moveTo>
                        <a:pt x="0" y="170"/>
                      </a:moveTo>
                      <a:lnTo>
                        <a:pt x="170" y="0"/>
                      </a:lnTo>
                      <a:lnTo>
                        <a:pt x="171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24" name="Freeform 189"/>
                <p:cNvSpPr>
                  <a:spLocks noChangeArrowheads="1"/>
                </p:cNvSpPr>
                <p:nvPr/>
              </p:nvSpPr>
              <p:spPr bwMode="auto">
                <a:xfrm>
                  <a:off x="3124" y="1349"/>
                  <a:ext cx="32" cy="31"/>
                </a:xfrm>
                <a:custGeom>
                  <a:avLst/>
                  <a:gdLst>
                    <a:gd name="T0" fmla="*/ 0 w 315"/>
                    <a:gd name="T1" fmla="*/ 315 h 315"/>
                    <a:gd name="T2" fmla="*/ 314 w 315"/>
                    <a:gd name="T3" fmla="*/ 0 h 315"/>
                    <a:gd name="T4" fmla="*/ 315 w 315"/>
                    <a:gd name="T5" fmla="*/ 0 h 3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15" h="315">
                      <a:moveTo>
                        <a:pt x="0" y="315"/>
                      </a:moveTo>
                      <a:lnTo>
                        <a:pt x="314" y="0"/>
                      </a:lnTo>
                      <a:lnTo>
                        <a:pt x="315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25" name="Freeform 190"/>
                <p:cNvSpPr>
                  <a:spLocks noChangeArrowheads="1"/>
                </p:cNvSpPr>
                <p:nvPr/>
              </p:nvSpPr>
              <p:spPr bwMode="auto">
                <a:xfrm>
                  <a:off x="3149" y="1355"/>
                  <a:ext cx="26" cy="25"/>
                </a:xfrm>
                <a:custGeom>
                  <a:avLst/>
                  <a:gdLst>
                    <a:gd name="T0" fmla="*/ 0 w 253"/>
                    <a:gd name="T1" fmla="*/ 251 h 251"/>
                    <a:gd name="T2" fmla="*/ 252 w 253"/>
                    <a:gd name="T3" fmla="*/ 0 h 251"/>
                    <a:gd name="T4" fmla="*/ 253 w 253"/>
                    <a:gd name="T5" fmla="*/ 0 h 2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53" h="251">
                      <a:moveTo>
                        <a:pt x="0" y="251"/>
                      </a:moveTo>
                      <a:lnTo>
                        <a:pt x="252" y="0"/>
                      </a:lnTo>
                      <a:lnTo>
                        <a:pt x="253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26" name="Freeform 191"/>
                <p:cNvSpPr>
                  <a:spLocks noChangeArrowheads="1"/>
                </p:cNvSpPr>
                <p:nvPr/>
              </p:nvSpPr>
              <p:spPr bwMode="auto">
                <a:xfrm>
                  <a:off x="3174" y="1367"/>
                  <a:ext cx="14" cy="13"/>
                </a:xfrm>
                <a:custGeom>
                  <a:avLst/>
                  <a:gdLst>
                    <a:gd name="T0" fmla="*/ 0 w 137"/>
                    <a:gd name="T1" fmla="*/ 136 h 136"/>
                    <a:gd name="T2" fmla="*/ 136 w 137"/>
                    <a:gd name="T3" fmla="*/ 0 h 136"/>
                    <a:gd name="T4" fmla="*/ 137 w 137"/>
                    <a:gd name="T5" fmla="*/ 0 h 1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37" h="136">
                      <a:moveTo>
                        <a:pt x="0" y="136"/>
                      </a:moveTo>
                      <a:lnTo>
                        <a:pt x="136" y="0"/>
                      </a:lnTo>
                      <a:lnTo>
                        <a:pt x="137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27" name="Freeform 192"/>
                <p:cNvSpPr>
                  <a:spLocks noChangeArrowheads="1"/>
                </p:cNvSpPr>
                <p:nvPr/>
              </p:nvSpPr>
              <p:spPr bwMode="auto">
                <a:xfrm>
                  <a:off x="3107" y="1416"/>
                  <a:ext cx="7" cy="7"/>
                </a:xfrm>
                <a:custGeom>
                  <a:avLst/>
                  <a:gdLst>
                    <a:gd name="T0" fmla="*/ 0 w 73"/>
                    <a:gd name="T1" fmla="*/ 72 h 72"/>
                    <a:gd name="T2" fmla="*/ 72 w 73"/>
                    <a:gd name="T3" fmla="*/ 0 h 72"/>
                    <a:gd name="T4" fmla="*/ 73 w 73"/>
                    <a:gd name="T5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73" h="72">
                      <a:moveTo>
                        <a:pt x="0" y="72"/>
                      </a:moveTo>
                      <a:lnTo>
                        <a:pt x="72" y="0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28" name="Freeform 193"/>
                <p:cNvSpPr>
                  <a:spLocks noChangeArrowheads="1"/>
                </p:cNvSpPr>
                <p:nvPr/>
              </p:nvSpPr>
              <p:spPr bwMode="auto">
                <a:xfrm>
                  <a:off x="3118" y="1416"/>
                  <a:ext cx="21" cy="21"/>
                </a:xfrm>
                <a:custGeom>
                  <a:avLst/>
                  <a:gdLst>
                    <a:gd name="T0" fmla="*/ 0 w 209"/>
                    <a:gd name="T1" fmla="*/ 207 h 207"/>
                    <a:gd name="T2" fmla="*/ 208 w 209"/>
                    <a:gd name="T3" fmla="*/ 0 h 207"/>
                    <a:gd name="T4" fmla="*/ 209 w 209"/>
                    <a:gd name="T5" fmla="*/ 0 h 2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09" h="207">
                      <a:moveTo>
                        <a:pt x="0" y="207"/>
                      </a:moveTo>
                      <a:lnTo>
                        <a:pt x="208" y="0"/>
                      </a:lnTo>
                      <a:lnTo>
                        <a:pt x="209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29" name="Freeform 194"/>
                <p:cNvSpPr>
                  <a:spLocks noChangeArrowheads="1"/>
                </p:cNvSpPr>
                <p:nvPr/>
              </p:nvSpPr>
              <p:spPr bwMode="auto">
                <a:xfrm>
                  <a:off x="3135" y="1416"/>
                  <a:ext cx="29" cy="29"/>
                </a:xfrm>
                <a:custGeom>
                  <a:avLst/>
                  <a:gdLst>
                    <a:gd name="T0" fmla="*/ 0 w 296"/>
                    <a:gd name="T1" fmla="*/ 295 h 295"/>
                    <a:gd name="T2" fmla="*/ 295 w 296"/>
                    <a:gd name="T3" fmla="*/ 0 h 295"/>
                    <a:gd name="T4" fmla="*/ 296 w 296"/>
                    <a:gd name="T5" fmla="*/ 0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96" h="295">
                      <a:moveTo>
                        <a:pt x="0" y="295"/>
                      </a:moveTo>
                      <a:lnTo>
                        <a:pt x="295" y="0"/>
                      </a:lnTo>
                      <a:lnTo>
                        <a:pt x="296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30" name="Freeform 195"/>
                <p:cNvSpPr>
                  <a:spLocks noChangeArrowheads="1"/>
                </p:cNvSpPr>
                <p:nvPr/>
              </p:nvSpPr>
              <p:spPr bwMode="auto">
                <a:xfrm>
                  <a:off x="3158" y="1416"/>
                  <a:ext cx="31" cy="31"/>
                </a:xfrm>
                <a:custGeom>
                  <a:avLst/>
                  <a:gdLst>
                    <a:gd name="T0" fmla="*/ 0 w 313"/>
                    <a:gd name="T1" fmla="*/ 311 h 311"/>
                    <a:gd name="T2" fmla="*/ 312 w 313"/>
                    <a:gd name="T3" fmla="*/ 0 h 311"/>
                    <a:gd name="T4" fmla="*/ 313 w 313"/>
                    <a:gd name="T5" fmla="*/ 0 h 3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13" h="311">
                      <a:moveTo>
                        <a:pt x="0" y="311"/>
                      </a:moveTo>
                      <a:lnTo>
                        <a:pt x="312" y="0"/>
                      </a:lnTo>
                      <a:lnTo>
                        <a:pt x="313" y="0"/>
                      </a:lnTo>
                    </a:path>
                  </a:pathLst>
                </a:custGeom>
                <a:noFill/>
                <a:ln w="12700">
                  <a:solidFill>
                    <a:srgbClr val="CC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308" name="Group 196"/>
              <p:cNvGrpSpPr>
                <a:grpSpLocks/>
              </p:cNvGrpSpPr>
              <p:nvPr/>
            </p:nvGrpSpPr>
            <p:grpSpPr bwMode="auto">
              <a:xfrm>
                <a:off x="4541" y="1793"/>
                <a:ext cx="425" cy="424"/>
                <a:chOff x="4818" y="704"/>
                <a:chExt cx="576" cy="576"/>
              </a:xfrm>
            </p:grpSpPr>
            <p:grpSp>
              <p:nvGrpSpPr>
                <p:cNvPr id="309" name="Group 197"/>
                <p:cNvGrpSpPr>
                  <a:grpSpLocks/>
                </p:cNvGrpSpPr>
                <p:nvPr/>
              </p:nvGrpSpPr>
              <p:grpSpPr bwMode="auto">
                <a:xfrm>
                  <a:off x="4818" y="704"/>
                  <a:ext cx="576" cy="576"/>
                  <a:chOff x="4818" y="704"/>
                  <a:chExt cx="576" cy="576"/>
                </a:xfrm>
              </p:grpSpPr>
              <p:sp>
                <p:nvSpPr>
                  <p:cNvPr id="317" name="Freeform 198"/>
                  <p:cNvSpPr>
                    <a:spLocks noChangeArrowheads="1"/>
                  </p:cNvSpPr>
                  <p:nvPr/>
                </p:nvSpPr>
                <p:spPr bwMode="auto">
                  <a:xfrm>
                    <a:off x="4818" y="990"/>
                    <a:ext cx="219" cy="4"/>
                  </a:xfrm>
                  <a:custGeom>
                    <a:avLst/>
                    <a:gdLst>
                      <a:gd name="T0" fmla="*/ 0 w 487"/>
                      <a:gd name="T1" fmla="*/ 0 h 4"/>
                      <a:gd name="T2" fmla="*/ 486 w 487"/>
                      <a:gd name="T3" fmla="*/ 0 h 4"/>
                      <a:gd name="T4" fmla="*/ 487 w 487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87" h="4">
                        <a:moveTo>
                          <a:pt x="0" y="0"/>
                        </a:moveTo>
                        <a:lnTo>
                          <a:pt x="486" y="0"/>
                        </a:lnTo>
                        <a:lnTo>
                          <a:pt x="487" y="0"/>
                        </a:lnTo>
                      </a:path>
                    </a:pathLst>
                  </a:custGeom>
                  <a:noFill/>
                  <a:ln w="12700">
                    <a:solidFill>
                      <a:srgbClr val="0000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18" name="Freeform 199"/>
                  <p:cNvSpPr>
                    <a:spLocks noChangeArrowheads="1"/>
                  </p:cNvSpPr>
                  <p:nvPr/>
                </p:nvSpPr>
                <p:spPr bwMode="auto">
                  <a:xfrm>
                    <a:off x="5082" y="990"/>
                    <a:ext cx="49" cy="4"/>
                  </a:xfrm>
                  <a:custGeom>
                    <a:avLst/>
                    <a:gdLst>
                      <a:gd name="T0" fmla="*/ 0 w 107"/>
                      <a:gd name="T1" fmla="*/ 0 h 4"/>
                      <a:gd name="T2" fmla="*/ 106 w 107"/>
                      <a:gd name="T3" fmla="*/ 0 h 4"/>
                      <a:gd name="T4" fmla="*/ 107 w 107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7" h="4">
                        <a:moveTo>
                          <a:pt x="0" y="0"/>
                        </a:moveTo>
                        <a:lnTo>
                          <a:pt x="106" y="0"/>
                        </a:lnTo>
                        <a:lnTo>
                          <a:pt x="107" y="0"/>
                        </a:lnTo>
                      </a:path>
                    </a:pathLst>
                  </a:custGeom>
                  <a:noFill/>
                  <a:ln w="12700">
                    <a:solidFill>
                      <a:srgbClr val="0000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19" name="Freeform 200"/>
                  <p:cNvSpPr>
                    <a:spLocks noChangeArrowheads="1"/>
                  </p:cNvSpPr>
                  <p:nvPr/>
                </p:nvSpPr>
                <p:spPr bwMode="auto">
                  <a:xfrm>
                    <a:off x="5180" y="990"/>
                    <a:ext cx="214" cy="4"/>
                  </a:xfrm>
                  <a:custGeom>
                    <a:avLst/>
                    <a:gdLst>
                      <a:gd name="T0" fmla="*/ 0 w 486"/>
                      <a:gd name="T1" fmla="*/ 0 h 4"/>
                      <a:gd name="T2" fmla="*/ 485 w 486"/>
                      <a:gd name="T3" fmla="*/ 0 h 4"/>
                      <a:gd name="T4" fmla="*/ 486 w 486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86" h="4">
                        <a:moveTo>
                          <a:pt x="0" y="0"/>
                        </a:moveTo>
                        <a:lnTo>
                          <a:pt x="485" y="0"/>
                        </a:lnTo>
                        <a:lnTo>
                          <a:pt x="486" y="0"/>
                        </a:lnTo>
                      </a:path>
                    </a:pathLst>
                  </a:custGeom>
                  <a:noFill/>
                  <a:ln w="12700">
                    <a:solidFill>
                      <a:srgbClr val="0000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20" name="Freeform 201"/>
                  <p:cNvSpPr>
                    <a:spLocks noChangeArrowheads="1"/>
                  </p:cNvSpPr>
                  <p:nvPr/>
                </p:nvSpPr>
                <p:spPr bwMode="auto">
                  <a:xfrm>
                    <a:off x="5108" y="1061"/>
                    <a:ext cx="5" cy="219"/>
                  </a:xfrm>
                  <a:custGeom>
                    <a:avLst/>
                    <a:gdLst>
                      <a:gd name="T0" fmla="*/ 0 w 1"/>
                      <a:gd name="T1" fmla="*/ 486 h 486"/>
                      <a:gd name="T2" fmla="*/ 0 w 1"/>
                      <a:gd name="T3" fmla="*/ 0 h 486"/>
                      <a:gd name="T4" fmla="*/ 1 w 1"/>
                      <a:gd name="T5" fmla="*/ 0 h 4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86">
                        <a:moveTo>
                          <a:pt x="0" y="486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12700">
                    <a:solidFill>
                      <a:srgbClr val="0000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21" name="Freeform 202"/>
                  <p:cNvSpPr>
                    <a:spLocks noChangeArrowheads="1"/>
                  </p:cNvSpPr>
                  <p:nvPr/>
                </p:nvSpPr>
                <p:spPr bwMode="auto">
                  <a:xfrm>
                    <a:off x="5108" y="967"/>
                    <a:ext cx="5" cy="45"/>
                  </a:xfrm>
                  <a:custGeom>
                    <a:avLst/>
                    <a:gdLst>
                      <a:gd name="T0" fmla="*/ 0 w 1"/>
                      <a:gd name="T1" fmla="*/ 107 h 107"/>
                      <a:gd name="T2" fmla="*/ 0 w 1"/>
                      <a:gd name="T3" fmla="*/ 0 h 107"/>
                      <a:gd name="T4" fmla="*/ 1 w 1"/>
                      <a:gd name="T5" fmla="*/ 0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07">
                        <a:moveTo>
                          <a:pt x="0" y="107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12700">
                    <a:solidFill>
                      <a:srgbClr val="0000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22" name="Freeform 203"/>
                  <p:cNvSpPr>
                    <a:spLocks noChangeArrowheads="1"/>
                  </p:cNvSpPr>
                  <p:nvPr/>
                </p:nvSpPr>
                <p:spPr bwMode="auto">
                  <a:xfrm>
                    <a:off x="5108" y="704"/>
                    <a:ext cx="5" cy="214"/>
                  </a:xfrm>
                  <a:custGeom>
                    <a:avLst/>
                    <a:gdLst>
                      <a:gd name="T0" fmla="*/ 0 w 1"/>
                      <a:gd name="T1" fmla="*/ 486 h 486"/>
                      <a:gd name="T2" fmla="*/ 0 w 1"/>
                      <a:gd name="T3" fmla="*/ 0 h 486"/>
                      <a:gd name="T4" fmla="*/ 1 w 1"/>
                      <a:gd name="T5" fmla="*/ 0 h 4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86">
                        <a:moveTo>
                          <a:pt x="0" y="486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12700">
                    <a:solidFill>
                      <a:srgbClr val="0000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310" name="Group 204"/>
                <p:cNvGrpSpPr>
                  <a:grpSpLocks/>
                </p:cNvGrpSpPr>
                <p:nvPr/>
              </p:nvGrpSpPr>
              <p:grpSpPr bwMode="auto">
                <a:xfrm>
                  <a:off x="4885" y="775"/>
                  <a:ext cx="442" cy="429"/>
                  <a:chOff x="4885" y="775"/>
                  <a:chExt cx="442" cy="429"/>
                </a:xfrm>
              </p:grpSpPr>
              <p:sp>
                <p:nvSpPr>
                  <p:cNvPr id="311" name="Freeform 205"/>
                  <p:cNvSpPr>
                    <a:spLocks noChangeArrowheads="1"/>
                  </p:cNvSpPr>
                  <p:nvPr/>
                </p:nvSpPr>
                <p:spPr bwMode="auto">
                  <a:xfrm>
                    <a:off x="5314" y="909"/>
                    <a:ext cx="13" cy="161"/>
                  </a:xfrm>
                  <a:custGeom>
                    <a:avLst/>
                    <a:gdLst>
                      <a:gd name="T0" fmla="*/ 0 w 33"/>
                      <a:gd name="T1" fmla="*/ 0 h 355"/>
                      <a:gd name="T2" fmla="*/ 5 w 33"/>
                      <a:gd name="T3" fmla="*/ 14 h 355"/>
                      <a:gd name="T4" fmla="*/ 16 w 33"/>
                      <a:gd name="T5" fmla="*/ 52 h 355"/>
                      <a:gd name="T6" fmla="*/ 28 w 33"/>
                      <a:gd name="T7" fmla="*/ 109 h 355"/>
                      <a:gd name="T8" fmla="*/ 33 w 33"/>
                      <a:gd name="T9" fmla="*/ 177 h 355"/>
                      <a:gd name="T10" fmla="*/ 28 w 33"/>
                      <a:gd name="T11" fmla="*/ 245 h 355"/>
                      <a:gd name="T12" fmla="*/ 16 w 33"/>
                      <a:gd name="T13" fmla="*/ 303 h 355"/>
                      <a:gd name="T14" fmla="*/ 5 w 33"/>
                      <a:gd name="T15" fmla="*/ 341 h 355"/>
                      <a:gd name="T16" fmla="*/ 0 w 33"/>
                      <a:gd name="T17" fmla="*/ 355 h 355"/>
                      <a:gd name="T18" fmla="*/ 1 w 33"/>
                      <a:gd name="T19" fmla="*/ 355 h 3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3" h="355">
                        <a:moveTo>
                          <a:pt x="0" y="0"/>
                        </a:moveTo>
                        <a:lnTo>
                          <a:pt x="5" y="14"/>
                        </a:lnTo>
                        <a:lnTo>
                          <a:pt x="16" y="52"/>
                        </a:lnTo>
                        <a:lnTo>
                          <a:pt x="28" y="109"/>
                        </a:lnTo>
                        <a:lnTo>
                          <a:pt x="33" y="177"/>
                        </a:lnTo>
                        <a:lnTo>
                          <a:pt x="28" y="245"/>
                        </a:lnTo>
                        <a:lnTo>
                          <a:pt x="16" y="303"/>
                        </a:lnTo>
                        <a:lnTo>
                          <a:pt x="5" y="341"/>
                        </a:lnTo>
                        <a:lnTo>
                          <a:pt x="0" y="355"/>
                        </a:lnTo>
                        <a:lnTo>
                          <a:pt x="1" y="355"/>
                        </a:lnTo>
                      </a:path>
                    </a:pathLst>
                  </a:cu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12" name="Freeform 206"/>
                  <p:cNvSpPr>
                    <a:spLocks noChangeArrowheads="1"/>
                  </p:cNvSpPr>
                  <p:nvPr/>
                </p:nvSpPr>
                <p:spPr bwMode="auto">
                  <a:xfrm>
                    <a:off x="4885" y="909"/>
                    <a:ext cx="14" cy="161"/>
                  </a:xfrm>
                  <a:custGeom>
                    <a:avLst/>
                    <a:gdLst>
                      <a:gd name="T0" fmla="*/ 32 w 33"/>
                      <a:gd name="T1" fmla="*/ 355 h 355"/>
                      <a:gd name="T2" fmla="*/ 27 w 33"/>
                      <a:gd name="T3" fmla="*/ 341 h 355"/>
                      <a:gd name="T4" fmla="*/ 15 w 33"/>
                      <a:gd name="T5" fmla="*/ 303 h 355"/>
                      <a:gd name="T6" fmla="*/ 4 w 33"/>
                      <a:gd name="T7" fmla="*/ 245 h 355"/>
                      <a:gd name="T8" fmla="*/ 0 w 33"/>
                      <a:gd name="T9" fmla="*/ 177 h 355"/>
                      <a:gd name="T10" fmla="*/ 4 w 33"/>
                      <a:gd name="T11" fmla="*/ 109 h 355"/>
                      <a:gd name="T12" fmla="*/ 15 w 33"/>
                      <a:gd name="T13" fmla="*/ 52 h 355"/>
                      <a:gd name="T14" fmla="*/ 27 w 33"/>
                      <a:gd name="T15" fmla="*/ 14 h 355"/>
                      <a:gd name="T16" fmla="*/ 32 w 33"/>
                      <a:gd name="T17" fmla="*/ 0 h 355"/>
                      <a:gd name="T18" fmla="*/ 33 w 33"/>
                      <a:gd name="T19" fmla="*/ 0 h 3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3" h="355">
                        <a:moveTo>
                          <a:pt x="32" y="355"/>
                        </a:moveTo>
                        <a:lnTo>
                          <a:pt x="27" y="341"/>
                        </a:lnTo>
                        <a:lnTo>
                          <a:pt x="15" y="303"/>
                        </a:lnTo>
                        <a:lnTo>
                          <a:pt x="4" y="245"/>
                        </a:lnTo>
                        <a:lnTo>
                          <a:pt x="0" y="177"/>
                        </a:lnTo>
                        <a:lnTo>
                          <a:pt x="4" y="109"/>
                        </a:lnTo>
                        <a:lnTo>
                          <a:pt x="15" y="52"/>
                        </a:lnTo>
                        <a:lnTo>
                          <a:pt x="27" y="14"/>
                        </a:lnTo>
                        <a:lnTo>
                          <a:pt x="32" y="0"/>
                        </a:lnTo>
                        <a:lnTo>
                          <a:pt x="33" y="0"/>
                        </a:lnTo>
                      </a:path>
                    </a:pathLst>
                  </a:cu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13" name="Freeform 207"/>
                  <p:cNvSpPr>
                    <a:spLocks noChangeArrowheads="1"/>
                  </p:cNvSpPr>
                  <p:nvPr/>
                </p:nvSpPr>
                <p:spPr bwMode="auto">
                  <a:xfrm>
                    <a:off x="4899" y="1070"/>
                    <a:ext cx="415" cy="134"/>
                  </a:xfrm>
                  <a:custGeom>
                    <a:avLst/>
                    <a:gdLst>
                      <a:gd name="T0" fmla="*/ 0 w 928"/>
                      <a:gd name="T1" fmla="*/ 0 h 304"/>
                      <a:gd name="T2" fmla="*/ 135 w 928"/>
                      <a:gd name="T3" fmla="*/ 194 h 304"/>
                      <a:gd name="T4" fmla="*/ 345 w 928"/>
                      <a:gd name="T5" fmla="*/ 304 h 304"/>
                      <a:gd name="T6" fmla="*/ 582 w 928"/>
                      <a:gd name="T7" fmla="*/ 304 h 304"/>
                      <a:gd name="T8" fmla="*/ 792 w 928"/>
                      <a:gd name="T9" fmla="*/ 194 h 304"/>
                      <a:gd name="T10" fmla="*/ 927 w 928"/>
                      <a:gd name="T11" fmla="*/ 0 h 304"/>
                      <a:gd name="T12" fmla="*/ 928 w 928"/>
                      <a:gd name="T13" fmla="*/ 0 h 3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28" h="304">
                        <a:moveTo>
                          <a:pt x="0" y="0"/>
                        </a:moveTo>
                        <a:lnTo>
                          <a:pt x="135" y="194"/>
                        </a:lnTo>
                        <a:lnTo>
                          <a:pt x="345" y="304"/>
                        </a:lnTo>
                        <a:lnTo>
                          <a:pt x="582" y="304"/>
                        </a:lnTo>
                        <a:lnTo>
                          <a:pt x="792" y="194"/>
                        </a:lnTo>
                        <a:lnTo>
                          <a:pt x="927" y="0"/>
                        </a:lnTo>
                        <a:lnTo>
                          <a:pt x="928" y="0"/>
                        </a:lnTo>
                      </a:path>
                    </a:pathLst>
                  </a:cu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14" name="Freeform 208"/>
                  <p:cNvSpPr>
                    <a:spLocks noChangeArrowheads="1"/>
                  </p:cNvSpPr>
                  <p:nvPr/>
                </p:nvSpPr>
                <p:spPr bwMode="auto">
                  <a:xfrm>
                    <a:off x="4899" y="1070"/>
                    <a:ext cx="415" cy="5"/>
                  </a:xfrm>
                  <a:custGeom>
                    <a:avLst/>
                    <a:gdLst>
                      <a:gd name="T0" fmla="*/ 0 w 928"/>
                      <a:gd name="T1" fmla="*/ 0 h 5"/>
                      <a:gd name="T2" fmla="*/ 927 w 928"/>
                      <a:gd name="T3" fmla="*/ 0 h 5"/>
                      <a:gd name="T4" fmla="*/ 928 w 928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28" h="5">
                        <a:moveTo>
                          <a:pt x="0" y="0"/>
                        </a:moveTo>
                        <a:lnTo>
                          <a:pt x="927" y="0"/>
                        </a:lnTo>
                        <a:lnTo>
                          <a:pt x="928" y="0"/>
                        </a:lnTo>
                      </a:path>
                    </a:pathLst>
                  </a:cu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15" name="Freeform 209"/>
                  <p:cNvSpPr>
                    <a:spLocks noChangeArrowheads="1"/>
                  </p:cNvSpPr>
                  <p:nvPr/>
                </p:nvSpPr>
                <p:spPr bwMode="auto">
                  <a:xfrm>
                    <a:off x="4899" y="775"/>
                    <a:ext cx="415" cy="134"/>
                  </a:xfrm>
                  <a:custGeom>
                    <a:avLst/>
                    <a:gdLst>
                      <a:gd name="T0" fmla="*/ 927 w 927"/>
                      <a:gd name="T1" fmla="*/ 304 h 304"/>
                      <a:gd name="T2" fmla="*/ 792 w 927"/>
                      <a:gd name="T3" fmla="*/ 110 h 304"/>
                      <a:gd name="T4" fmla="*/ 582 w 927"/>
                      <a:gd name="T5" fmla="*/ 0 h 304"/>
                      <a:gd name="T6" fmla="*/ 345 w 927"/>
                      <a:gd name="T7" fmla="*/ 0 h 304"/>
                      <a:gd name="T8" fmla="*/ 135 w 927"/>
                      <a:gd name="T9" fmla="*/ 110 h 304"/>
                      <a:gd name="T10" fmla="*/ 0 w 927"/>
                      <a:gd name="T11" fmla="*/ 304 h 304"/>
                      <a:gd name="T12" fmla="*/ 1 w 927"/>
                      <a:gd name="T13" fmla="*/ 304 h 3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27" h="304">
                        <a:moveTo>
                          <a:pt x="927" y="304"/>
                        </a:moveTo>
                        <a:lnTo>
                          <a:pt x="792" y="110"/>
                        </a:lnTo>
                        <a:lnTo>
                          <a:pt x="582" y="0"/>
                        </a:lnTo>
                        <a:lnTo>
                          <a:pt x="345" y="0"/>
                        </a:lnTo>
                        <a:lnTo>
                          <a:pt x="135" y="110"/>
                        </a:lnTo>
                        <a:lnTo>
                          <a:pt x="0" y="304"/>
                        </a:lnTo>
                        <a:lnTo>
                          <a:pt x="1" y="304"/>
                        </a:lnTo>
                      </a:path>
                    </a:pathLst>
                  </a:cu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16" name="Freeform 210"/>
                  <p:cNvSpPr>
                    <a:spLocks noChangeArrowheads="1"/>
                  </p:cNvSpPr>
                  <p:nvPr/>
                </p:nvSpPr>
                <p:spPr bwMode="auto">
                  <a:xfrm>
                    <a:off x="4899" y="909"/>
                    <a:ext cx="415" cy="5"/>
                  </a:xfrm>
                  <a:custGeom>
                    <a:avLst/>
                    <a:gdLst>
                      <a:gd name="T0" fmla="*/ 927 w 927"/>
                      <a:gd name="T1" fmla="*/ 0 h 5"/>
                      <a:gd name="T2" fmla="*/ 0 w 927"/>
                      <a:gd name="T3" fmla="*/ 0 h 5"/>
                      <a:gd name="T4" fmla="*/ 1 w 927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27" h="5">
                        <a:moveTo>
                          <a:pt x="927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</p:grpSp>
        </p:grpSp>
        <p:grpSp>
          <p:nvGrpSpPr>
            <p:cNvPr id="281" name="Group 211"/>
            <p:cNvGrpSpPr>
              <a:grpSpLocks/>
            </p:cNvGrpSpPr>
            <p:nvPr/>
          </p:nvGrpSpPr>
          <p:grpSpPr bwMode="auto">
            <a:xfrm>
              <a:off x="371" y="2422"/>
              <a:ext cx="482" cy="483"/>
              <a:chOff x="2280" y="3508"/>
              <a:chExt cx="576" cy="576"/>
            </a:xfrm>
          </p:grpSpPr>
          <p:grpSp>
            <p:nvGrpSpPr>
              <p:cNvPr id="282" name="Group 212"/>
              <p:cNvGrpSpPr>
                <a:grpSpLocks/>
              </p:cNvGrpSpPr>
              <p:nvPr/>
            </p:nvGrpSpPr>
            <p:grpSpPr bwMode="auto">
              <a:xfrm>
                <a:off x="2297" y="3518"/>
                <a:ext cx="552" cy="553"/>
                <a:chOff x="2297" y="3518"/>
                <a:chExt cx="552" cy="553"/>
              </a:xfrm>
            </p:grpSpPr>
            <p:grpSp>
              <p:nvGrpSpPr>
                <p:cNvPr id="285" name="Group 213"/>
                <p:cNvGrpSpPr>
                  <a:grpSpLocks/>
                </p:cNvGrpSpPr>
                <p:nvPr/>
              </p:nvGrpSpPr>
              <p:grpSpPr bwMode="auto">
                <a:xfrm flipH="1">
                  <a:off x="2363" y="3585"/>
                  <a:ext cx="404" cy="417"/>
                  <a:chOff x="2073" y="1335"/>
                  <a:chExt cx="123" cy="127"/>
                </a:xfrm>
              </p:grpSpPr>
              <p:sp>
                <p:nvSpPr>
                  <p:cNvPr id="299" name="Freeform 214"/>
                  <p:cNvSpPr>
                    <a:spLocks noChangeArrowheads="1"/>
                  </p:cNvSpPr>
                  <p:nvPr/>
                </p:nvSpPr>
                <p:spPr bwMode="auto">
                  <a:xfrm>
                    <a:off x="2137" y="1335"/>
                    <a:ext cx="59" cy="59"/>
                  </a:xfrm>
                  <a:custGeom>
                    <a:avLst/>
                    <a:gdLst>
                      <a:gd name="T0" fmla="*/ 592 w 592"/>
                      <a:gd name="T1" fmla="*/ 592 h 592"/>
                      <a:gd name="T2" fmla="*/ 0 w 592"/>
                      <a:gd name="T3" fmla="*/ 0 h 592"/>
                      <a:gd name="T4" fmla="*/ 1 w 592"/>
                      <a:gd name="T5" fmla="*/ 0 h 5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92" h="592">
                        <a:moveTo>
                          <a:pt x="592" y="592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0" name="Freeform 215"/>
                  <p:cNvSpPr>
                    <a:spLocks noChangeArrowheads="1"/>
                  </p:cNvSpPr>
                  <p:nvPr/>
                </p:nvSpPr>
                <p:spPr bwMode="auto">
                  <a:xfrm>
                    <a:off x="2115" y="1337"/>
                    <a:ext cx="79" cy="79"/>
                  </a:xfrm>
                  <a:custGeom>
                    <a:avLst/>
                    <a:gdLst>
                      <a:gd name="T0" fmla="*/ 792 w 792"/>
                      <a:gd name="T1" fmla="*/ 793 h 793"/>
                      <a:gd name="T2" fmla="*/ 0 w 792"/>
                      <a:gd name="T3" fmla="*/ 0 h 793"/>
                      <a:gd name="T4" fmla="*/ 1 w 792"/>
                      <a:gd name="T5" fmla="*/ 0 h 7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92" h="793">
                        <a:moveTo>
                          <a:pt x="792" y="793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1" name="Freeform 216"/>
                  <p:cNvSpPr>
                    <a:spLocks noChangeArrowheads="1"/>
                  </p:cNvSpPr>
                  <p:nvPr/>
                </p:nvSpPr>
                <p:spPr bwMode="auto">
                  <a:xfrm>
                    <a:off x="2097" y="1345"/>
                    <a:ext cx="89" cy="88"/>
                  </a:xfrm>
                  <a:custGeom>
                    <a:avLst/>
                    <a:gdLst>
                      <a:gd name="T0" fmla="*/ 884 w 884"/>
                      <a:gd name="T1" fmla="*/ 885 h 885"/>
                      <a:gd name="T2" fmla="*/ 0 w 884"/>
                      <a:gd name="T3" fmla="*/ 0 h 885"/>
                      <a:gd name="T4" fmla="*/ 1 w 884"/>
                      <a:gd name="T5" fmla="*/ 0 h 8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84" h="885">
                        <a:moveTo>
                          <a:pt x="884" y="885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2" name="Freeform 217"/>
                  <p:cNvSpPr>
                    <a:spLocks noChangeArrowheads="1"/>
                  </p:cNvSpPr>
                  <p:nvPr/>
                </p:nvSpPr>
                <p:spPr bwMode="auto">
                  <a:xfrm>
                    <a:off x="2084" y="1357"/>
                    <a:ext cx="90" cy="90"/>
                  </a:xfrm>
                  <a:custGeom>
                    <a:avLst/>
                    <a:gdLst>
                      <a:gd name="T0" fmla="*/ 899 w 899"/>
                      <a:gd name="T1" fmla="*/ 900 h 900"/>
                      <a:gd name="T2" fmla="*/ 0 w 899"/>
                      <a:gd name="T3" fmla="*/ 0 h 900"/>
                      <a:gd name="T4" fmla="*/ 1 w 899"/>
                      <a:gd name="T5" fmla="*/ 0 h 9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99" h="900">
                        <a:moveTo>
                          <a:pt x="899" y="90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3" name="Freeform 218"/>
                  <p:cNvSpPr>
                    <a:spLocks noChangeArrowheads="1"/>
                  </p:cNvSpPr>
                  <p:nvPr/>
                </p:nvSpPr>
                <p:spPr bwMode="auto">
                  <a:xfrm>
                    <a:off x="2097" y="1395"/>
                    <a:ext cx="62" cy="61"/>
                  </a:xfrm>
                  <a:custGeom>
                    <a:avLst/>
                    <a:gdLst>
                      <a:gd name="T0" fmla="*/ 614 w 614"/>
                      <a:gd name="T1" fmla="*/ 616 h 616"/>
                      <a:gd name="T2" fmla="*/ 0 w 614"/>
                      <a:gd name="T3" fmla="*/ 0 h 616"/>
                      <a:gd name="T4" fmla="*/ 1 w 614"/>
                      <a:gd name="T5" fmla="*/ 0 h 6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14" h="616">
                        <a:moveTo>
                          <a:pt x="614" y="616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4" name="Freeform 219"/>
                  <p:cNvSpPr>
                    <a:spLocks noChangeArrowheads="1"/>
                  </p:cNvSpPr>
                  <p:nvPr/>
                </p:nvSpPr>
                <p:spPr bwMode="auto">
                  <a:xfrm>
                    <a:off x="2074" y="1372"/>
                    <a:ext cx="5" cy="5"/>
                  </a:xfrm>
                  <a:custGeom>
                    <a:avLst/>
                    <a:gdLst>
                      <a:gd name="T0" fmla="*/ 48 w 48"/>
                      <a:gd name="T1" fmla="*/ 47 h 47"/>
                      <a:gd name="T2" fmla="*/ 0 w 48"/>
                      <a:gd name="T3" fmla="*/ 0 h 47"/>
                      <a:gd name="T4" fmla="*/ 1 w 48"/>
                      <a:gd name="T5" fmla="*/ 0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8" h="47">
                        <a:moveTo>
                          <a:pt x="48" y="47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5" name="Freeform 220"/>
                  <p:cNvSpPr>
                    <a:spLocks noChangeArrowheads="1"/>
                  </p:cNvSpPr>
                  <p:nvPr/>
                </p:nvSpPr>
                <p:spPr bwMode="auto">
                  <a:xfrm>
                    <a:off x="2097" y="1419"/>
                    <a:ext cx="42" cy="43"/>
                  </a:xfrm>
                  <a:custGeom>
                    <a:avLst/>
                    <a:gdLst>
                      <a:gd name="T0" fmla="*/ 422 w 422"/>
                      <a:gd name="T1" fmla="*/ 422 h 422"/>
                      <a:gd name="T2" fmla="*/ 0 w 422"/>
                      <a:gd name="T3" fmla="*/ 0 h 422"/>
                      <a:gd name="T4" fmla="*/ 1 w 422"/>
                      <a:gd name="T5" fmla="*/ 0 h 4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22" h="422">
                        <a:moveTo>
                          <a:pt x="422" y="422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06" name="Freeform 221"/>
                  <p:cNvSpPr>
                    <a:spLocks noChangeArrowheads="1"/>
                  </p:cNvSpPr>
                  <p:nvPr/>
                </p:nvSpPr>
                <p:spPr bwMode="auto">
                  <a:xfrm>
                    <a:off x="2073" y="1421"/>
                    <a:ext cx="37" cy="37"/>
                  </a:xfrm>
                  <a:custGeom>
                    <a:avLst/>
                    <a:gdLst>
                      <a:gd name="T0" fmla="*/ 369 w 369"/>
                      <a:gd name="T1" fmla="*/ 370 h 370"/>
                      <a:gd name="T2" fmla="*/ 0 w 369"/>
                      <a:gd name="T3" fmla="*/ 0 h 370"/>
                      <a:gd name="T4" fmla="*/ 1 w 369"/>
                      <a:gd name="T5" fmla="*/ 0 h 37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69" h="370">
                        <a:moveTo>
                          <a:pt x="369" y="37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12700">
                    <a:solidFill>
                      <a:srgbClr val="CC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</p:grpSp>
            <p:grpSp>
              <p:nvGrpSpPr>
                <p:cNvPr id="286" name="Group 222"/>
                <p:cNvGrpSpPr>
                  <a:grpSpLocks/>
                </p:cNvGrpSpPr>
                <p:nvPr/>
              </p:nvGrpSpPr>
              <p:grpSpPr bwMode="auto">
                <a:xfrm flipH="1">
                  <a:off x="2297" y="3518"/>
                  <a:ext cx="552" cy="553"/>
                  <a:chOff x="2482" y="1588"/>
                  <a:chExt cx="750" cy="750"/>
                </a:xfrm>
              </p:grpSpPr>
              <p:grpSp>
                <p:nvGrpSpPr>
                  <p:cNvPr id="287" name="Group 223"/>
                  <p:cNvGrpSpPr>
                    <a:grpSpLocks/>
                  </p:cNvGrpSpPr>
                  <p:nvPr/>
                </p:nvGrpSpPr>
                <p:grpSpPr bwMode="auto">
                  <a:xfrm>
                    <a:off x="2588" y="1675"/>
                    <a:ext cx="560" cy="572"/>
                    <a:chOff x="2340" y="1420"/>
                    <a:chExt cx="1057" cy="1082"/>
                  </a:xfrm>
                </p:grpSpPr>
                <p:sp>
                  <p:nvSpPr>
                    <p:cNvPr id="295" name="Freeform 22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40" y="1420"/>
                      <a:ext cx="1057" cy="1082"/>
                    </a:xfrm>
                    <a:custGeom>
                      <a:avLst/>
                      <a:gdLst>
                        <a:gd name="T0" fmla="*/ 0 w 8458"/>
                        <a:gd name="T1" fmla="*/ 5630 h 8652"/>
                        <a:gd name="T2" fmla="*/ 328 w 8458"/>
                        <a:gd name="T3" fmla="*/ 6403 h 8652"/>
                        <a:gd name="T4" fmla="*/ 797 w 8458"/>
                        <a:gd name="T5" fmla="*/ 7098 h 8652"/>
                        <a:gd name="T6" fmla="*/ 1391 w 8458"/>
                        <a:gd name="T7" fmla="*/ 7689 h 8652"/>
                        <a:gd name="T8" fmla="*/ 2088 w 8458"/>
                        <a:gd name="T9" fmla="*/ 8155 h 8652"/>
                        <a:gd name="T10" fmla="*/ 2861 w 8458"/>
                        <a:gd name="T11" fmla="*/ 8478 h 8652"/>
                        <a:gd name="T12" fmla="*/ 3683 w 8458"/>
                        <a:gd name="T13" fmla="*/ 8646 h 8652"/>
                        <a:gd name="T14" fmla="*/ 4520 w 8458"/>
                        <a:gd name="T15" fmla="*/ 8652 h 8652"/>
                        <a:gd name="T16" fmla="*/ 5345 w 8458"/>
                        <a:gd name="T17" fmla="*/ 8497 h 8652"/>
                        <a:gd name="T18" fmla="*/ 6123 w 8458"/>
                        <a:gd name="T19" fmla="*/ 8187 h 8652"/>
                        <a:gd name="T20" fmla="*/ 6827 w 8458"/>
                        <a:gd name="T21" fmla="*/ 7731 h 8652"/>
                        <a:gd name="T22" fmla="*/ 7431 w 8458"/>
                        <a:gd name="T23" fmla="*/ 7149 h 8652"/>
                        <a:gd name="T24" fmla="*/ 7911 w 8458"/>
                        <a:gd name="T25" fmla="*/ 6462 h 8652"/>
                        <a:gd name="T26" fmla="*/ 8249 w 8458"/>
                        <a:gd name="T27" fmla="*/ 5695 h 8652"/>
                        <a:gd name="T28" fmla="*/ 8434 w 8458"/>
                        <a:gd name="T29" fmla="*/ 4877 h 8652"/>
                        <a:gd name="T30" fmla="*/ 8458 w 8458"/>
                        <a:gd name="T31" fmla="*/ 4038 h 8652"/>
                        <a:gd name="T32" fmla="*/ 8321 w 8458"/>
                        <a:gd name="T33" fmla="*/ 3211 h 8652"/>
                        <a:gd name="T34" fmla="*/ 8027 w 8458"/>
                        <a:gd name="T35" fmla="*/ 2425 h 8652"/>
                        <a:gd name="T36" fmla="*/ 7587 w 8458"/>
                        <a:gd name="T37" fmla="*/ 1711 h 8652"/>
                        <a:gd name="T38" fmla="*/ 7018 w 8458"/>
                        <a:gd name="T39" fmla="*/ 1095 h 8652"/>
                        <a:gd name="T40" fmla="*/ 6342 w 8458"/>
                        <a:gd name="T41" fmla="*/ 600 h 8652"/>
                        <a:gd name="T42" fmla="*/ 5583 w 8458"/>
                        <a:gd name="T43" fmla="*/ 245 h 8652"/>
                        <a:gd name="T44" fmla="*/ 4769 w 8458"/>
                        <a:gd name="T45" fmla="*/ 42 h 8652"/>
                        <a:gd name="T46" fmla="*/ 3932 w 8458"/>
                        <a:gd name="T47" fmla="*/ 0 h 8652"/>
                        <a:gd name="T48" fmla="*/ 3102 w 8458"/>
                        <a:gd name="T49" fmla="*/ 121 h 8652"/>
                        <a:gd name="T50" fmla="*/ 2312 w 8458"/>
                        <a:gd name="T51" fmla="*/ 398 h 8652"/>
                        <a:gd name="T52" fmla="*/ 1590 w 8458"/>
                        <a:gd name="T53" fmla="*/ 823 h 8652"/>
                        <a:gd name="T54" fmla="*/ 961 w 8458"/>
                        <a:gd name="T55" fmla="*/ 1380 h 8652"/>
                        <a:gd name="T56" fmla="*/ 453 w 8458"/>
                        <a:gd name="T57" fmla="*/ 2047 h 8652"/>
                        <a:gd name="T58" fmla="*/ 82 w 8458"/>
                        <a:gd name="T59" fmla="*/ 2798 h 8652"/>
                        <a:gd name="T60" fmla="*/ 83 w 8458"/>
                        <a:gd name="T61" fmla="*/ 2798 h 865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</a:cxnLst>
                      <a:rect l="0" t="0" r="r" b="b"/>
                      <a:pathLst>
                        <a:path w="8458" h="8652">
                          <a:moveTo>
                            <a:pt x="0" y="5630"/>
                          </a:moveTo>
                          <a:lnTo>
                            <a:pt x="328" y="6403"/>
                          </a:lnTo>
                          <a:lnTo>
                            <a:pt x="797" y="7098"/>
                          </a:lnTo>
                          <a:lnTo>
                            <a:pt x="1391" y="7689"/>
                          </a:lnTo>
                          <a:lnTo>
                            <a:pt x="2088" y="8155"/>
                          </a:lnTo>
                          <a:lnTo>
                            <a:pt x="2861" y="8478"/>
                          </a:lnTo>
                          <a:lnTo>
                            <a:pt x="3683" y="8646"/>
                          </a:lnTo>
                          <a:lnTo>
                            <a:pt x="4520" y="8652"/>
                          </a:lnTo>
                          <a:lnTo>
                            <a:pt x="5345" y="8497"/>
                          </a:lnTo>
                          <a:lnTo>
                            <a:pt x="6123" y="8187"/>
                          </a:lnTo>
                          <a:lnTo>
                            <a:pt x="6827" y="7731"/>
                          </a:lnTo>
                          <a:lnTo>
                            <a:pt x="7431" y="7149"/>
                          </a:lnTo>
                          <a:lnTo>
                            <a:pt x="7911" y="6462"/>
                          </a:lnTo>
                          <a:lnTo>
                            <a:pt x="8249" y="5695"/>
                          </a:lnTo>
                          <a:lnTo>
                            <a:pt x="8434" y="4877"/>
                          </a:lnTo>
                          <a:lnTo>
                            <a:pt x="8458" y="4038"/>
                          </a:lnTo>
                          <a:lnTo>
                            <a:pt x="8321" y="3211"/>
                          </a:lnTo>
                          <a:lnTo>
                            <a:pt x="8027" y="2425"/>
                          </a:lnTo>
                          <a:lnTo>
                            <a:pt x="7587" y="1711"/>
                          </a:lnTo>
                          <a:lnTo>
                            <a:pt x="7018" y="1095"/>
                          </a:lnTo>
                          <a:lnTo>
                            <a:pt x="6342" y="600"/>
                          </a:lnTo>
                          <a:lnTo>
                            <a:pt x="5583" y="245"/>
                          </a:lnTo>
                          <a:lnTo>
                            <a:pt x="4769" y="42"/>
                          </a:lnTo>
                          <a:lnTo>
                            <a:pt x="3932" y="0"/>
                          </a:lnTo>
                          <a:lnTo>
                            <a:pt x="3102" y="121"/>
                          </a:lnTo>
                          <a:lnTo>
                            <a:pt x="2312" y="398"/>
                          </a:lnTo>
                          <a:lnTo>
                            <a:pt x="1590" y="823"/>
                          </a:lnTo>
                          <a:lnTo>
                            <a:pt x="961" y="1380"/>
                          </a:lnTo>
                          <a:lnTo>
                            <a:pt x="453" y="2047"/>
                          </a:lnTo>
                          <a:lnTo>
                            <a:pt x="82" y="2798"/>
                          </a:lnTo>
                          <a:lnTo>
                            <a:pt x="83" y="2798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96" name="Freeform 22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0" y="1770"/>
                      <a:ext cx="202" cy="1"/>
                    </a:xfrm>
                    <a:custGeom>
                      <a:avLst/>
                      <a:gdLst>
                        <a:gd name="T0" fmla="*/ 0 w 1619"/>
                        <a:gd name="T1" fmla="*/ 0 h 1"/>
                        <a:gd name="T2" fmla="*/ 1618 w 1619"/>
                        <a:gd name="T3" fmla="*/ 0 h 1"/>
                        <a:gd name="T4" fmla="*/ 1619 w 1619"/>
                        <a:gd name="T5" fmla="*/ 0 h 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619" h="1">
                          <a:moveTo>
                            <a:pt x="0" y="0"/>
                          </a:moveTo>
                          <a:lnTo>
                            <a:pt x="1618" y="0"/>
                          </a:lnTo>
                          <a:lnTo>
                            <a:pt x="1619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97" name="Freeform 22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52" y="1770"/>
                      <a:ext cx="1" cy="354"/>
                    </a:xfrm>
                    <a:custGeom>
                      <a:avLst/>
                      <a:gdLst>
                        <a:gd name="T0" fmla="*/ 0 w 1"/>
                        <a:gd name="T1" fmla="*/ 0 h 2832"/>
                        <a:gd name="T2" fmla="*/ 0 w 1"/>
                        <a:gd name="T3" fmla="*/ 2832 h 2832"/>
                        <a:gd name="T4" fmla="*/ 1 w 1"/>
                        <a:gd name="T5" fmla="*/ 2832 h 28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" h="2832">
                          <a:moveTo>
                            <a:pt x="0" y="0"/>
                          </a:moveTo>
                          <a:lnTo>
                            <a:pt x="0" y="2832"/>
                          </a:lnTo>
                          <a:lnTo>
                            <a:pt x="1" y="2832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98" name="Freeform 22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40" y="2124"/>
                      <a:ext cx="212" cy="1"/>
                    </a:xfrm>
                    <a:custGeom>
                      <a:avLst/>
                      <a:gdLst>
                        <a:gd name="T0" fmla="*/ 1700 w 1700"/>
                        <a:gd name="T1" fmla="*/ 0 h 1"/>
                        <a:gd name="T2" fmla="*/ 0 w 1700"/>
                        <a:gd name="T3" fmla="*/ 0 h 1"/>
                        <a:gd name="T4" fmla="*/ 1 w 1700"/>
                        <a:gd name="T5" fmla="*/ 0 h 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700" h="1">
                          <a:moveTo>
                            <a:pt x="170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288" name="Group 228"/>
                  <p:cNvGrpSpPr>
                    <a:grpSpLocks/>
                  </p:cNvGrpSpPr>
                  <p:nvPr/>
                </p:nvGrpSpPr>
                <p:grpSpPr bwMode="auto">
                  <a:xfrm>
                    <a:off x="2482" y="1588"/>
                    <a:ext cx="750" cy="750"/>
                    <a:chOff x="192" y="619"/>
                    <a:chExt cx="750" cy="750"/>
                  </a:xfrm>
                </p:grpSpPr>
                <p:sp>
                  <p:nvSpPr>
                    <p:cNvPr id="289" name="Freeform 22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67" y="619"/>
                      <a:ext cx="4" cy="304"/>
                    </a:xfrm>
                    <a:custGeom>
                      <a:avLst/>
                      <a:gdLst>
                        <a:gd name="T0" fmla="*/ 0 w 1"/>
                        <a:gd name="T1" fmla="*/ 0 h 680"/>
                        <a:gd name="T2" fmla="*/ 0 w 1"/>
                        <a:gd name="T3" fmla="*/ 680 h 680"/>
                        <a:gd name="T4" fmla="*/ 1 w 1"/>
                        <a:gd name="T5" fmla="*/ 680 h 6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" h="680">
                          <a:moveTo>
                            <a:pt x="0" y="0"/>
                          </a:moveTo>
                          <a:lnTo>
                            <a:pt x="0" y="680"/>
                          </a:lnTo>
                          <a:lnTo>
                            <a:pt x="1" y="680"/>
                          </a:lnTo>
                        </a:path>
                      </a:pathLst>
                    </a:custGeom>
                    <a:noFill/>
                    <a:ln w="12700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90" name="Freeform 23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67" y="972"/>
                      <a:ext cx="4" cy="45"/>
                    </a:xfrm>
                    <a:custGeom>
                      <a:avLst/>
                      <a:gdLst>
                        <a:gd name="T0" fmla="*/ 0 w 1"/>
                        <a:gd name="T1" fmla="*/ 0 h 106"/>
                        <a:gd name="T2" fmla="*/ 0 w 1"/>
                        <a:gd name="T3" fmla="*/ 106 h 106"/>
                        <a:gd name="T4" fmla="*/ 1 w 1"/>
                        <a:gd name="T5" fmla="*/ 106 h 10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" h="106">
                          <a:moveTo>
                            <a:pt x="0" y="0"/>
                          </a:moveTo>
                          <a:lnTo>
                            <a:pt x="0" y="106"/>
                          </a:lnTo>
                          <a:lnTo>
                            <a:pt x="1" y="106"/>
                          </a:lnTo>
                        </a:path>
                      </a:pathLst>
                    </a:custGeom>
                    <a:noFill/>
                    <a:ln w="12700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91" name="Freeform 23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67" y="1066"/>
                      <a:ext cx="4" cy="303"/>
                    </a:xfrm>
                    <a:custGeom>
                      <a:avLst/>
                      <a:gdLst>
                        <a:gd name="T0" fmla="*/ 0 w 1"/>
                        <a:gd name="T1" fmla="*/ 0 h 679"/>
                        <a:gd name="T2" fmla="*/ 0 w 1"/>
                        <a:gd name="T3" fmla="*/ 679 h 679"/>
                        <a:gd name="T4" fmla="*/ 1 w 1"/>
                        <a:gd name="T5" fmla="*/ 679 h 6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" h="679">
                          <a:moveTo>
                            <a:pt x="0" y="0"/>
                          </a:moveTo>
                          <a:lnTo>
                            <a:pt x="0" y="679"/>
                          </a:lnTo>
                          <a:lnTo>
                            <a:pt x="1" y="679"/>
                          </a:lnTo>
                        </a:path>
                      </a:pathLst>
                    </a:custGeom>
                    <a:noFill/>
                    <a:ln w="12700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92" name="Freeform 23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92" y="994"/>
                      <a:ext cx="303" cy="5"/>
                    </a:xfrm>
                    <a:custGeom>
                      <a:avLst/>
                      <a:gdLst>
                        <a:gd name="T0" fmla="*/ 0 w 679"/>
                        <a:gd name="T1" fmla="*/ 0 h 5"/>
                        <a:gd name="T2" fmla="*/ 678 w 679"/>
                        <a:gd name="T3" fmla="*/ 0 h 5"/>
                        <a:gd name="T4" fmla="*/ 679 w 679"/>
                        <a:gd name="T5" fmla="*/ 0 h 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679" h="5">
                          <a:moveTo>
                            <a:pt x="0" y="0"/>
                          </a:moveTo>
                          <a:lnTo>
                            <a:pt x="678" y="0"/>
                          </a:lnTo>
                          <a:lnTo>
                            <a:pt x="679" y="0"/>
                          </a:lnTo>
                        </a:path>
                      </a:pathLst>
                    </a:custGeom>
                    <a:noFill/>
                    <a:ln w="12700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93" name="Freeform 23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44" y="994"/>
                      <a:ext cx="50" cy="5"/>
                    </a:xfrm>
                    <a:custGeom>
                      <a:avLst/>
                      <a:gdLst>
                        <a:gd name="T0" fmla="*/ 0 w 107"/>
                        <a:gd name="T1" fmla="*/ 0 h 5"/>
                        <a:gd name="T2" fmla="*/ 106 w 107"/>
                        <a:gd name="T3" fmla="*/ 0 h 5"/>
                        <a:gd name="T4" fmla="*/ 107 w 107"/>
                        <a:gd name="T5" fmla="*/ 0 h 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07" h="5">
                          <a:moveTo>
                            <a:pt x="0" y="0"/>
                          </a:moveTo>
                          <a:lnTo>
                            <a:pt x="106" y="0"/>
                          </a:lnTo>
                          <a:lnTo>
                            <a:pt x="107" y="0"/>
                          </a:lnTo>
                        </a:path>
                      </a:pathLst>
                    </a:custGeom>
                    <a:noFill/>
                    <a:ln w="12700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  <p:sp>
                  <p:nvSpPr>
                    <p:cNvPr id="294" name="Freeform 23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8" y="994"/>
                      <a:ext cx="304" cy="5"/>
                    </a:xfrm>
                    <a:custGeom>
                      <a:avLst/>
                      <a:gdLst>
                        <a:gd name="T0" fmla="*/ 0 w 680"/>
                        <a:gd name="T1" fmla="*/ 0 h 5"/>
                        <a:gd name="T2" fmla="*/ 679 w 680"/>
                        <a:gd name="T3" fmla="*/ 0 h 5"/>
                        <a:gd name="T4" fmla="*/ 680 w 680"/>
                        <a:gd name="T5" fmla="*/ 0 h 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680" h="5">
                          <a:moveTo>
                            <a:pt x="0" y="0"/>
                          </a:moveTo>
                          <a:lnTo>
                            <a:pt x="679" y="0"/>
                          </a:lnTo>
                          <a:lnTo>
                            <a:pt x="680" y="0"/>
                          </a:lnTo>
                        </a:path>
                      </a:pathLst>
                    </a:custGeom>
                    <a:noFill/>
                    <a:ln w="12700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>
                      <a:lvl1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1pPr>
                      <a:lvl2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2pPr>
                      <a:lvl3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3pPr>
                      <a:lvl4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4pPr>
                      <a:lvl5pPr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5pPr>
                      <a:lvl6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6pPr>
                      <a:lvl7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7pPr>
                      <a:lvl8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8pPr>
                      <a:lvl9pPr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2400" b="1">
                          <a:solidFill>
                            <a:schemeClr val="tx1"/>
                          </a:solidFill>
                          <a:latin typeface="Tahoma" panose="020B060403050404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endParaRPr lang="zh-CN" altLang="en-US"/>
                    </a:p>
                  </p:txBody>
                </p:sp>
              </p:grpSp>
            </p:grpSp>
          </p:grpSp>
          <p:sp>
            <p:nvSpPr>
              <p:cNvPr id="283" name="Oval 235"/>
              <p:cNvSpPr>
                <a:spLocks noChangeArrowheads="1"/>
              </p:cNvSpPr>
              <p:nvPr/>
            </p:nvSpPr>
            <p:spPr bwMode="auto">
              <a:xfrm>
                <a:off x="2280" y="3508"/>
                <a:ext cx="576" cy="576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84" name="Freeform 236"/>
              <p:cNvSpPr>
                <a:spLocks noChangeArrowheads="1"/>
              </p:cNvSpPr>
              <p:nvPr/>
            </p:nvSpPr>
            <p:spPr bwMode="auto">
              <a:xfrm>
                <a:off x="2768" y="3716"/>
                <a:ext cx="4" cy="140"/>
              </a:xfrm>
              <a:custGeom>
                <a:avLst/>
                <a:gdLst>
                  <a:gd name="T0" fmla="*/ 0 w 4"/>
                  <a:gd name="T1" fmla="*/ 0 h 140"/>
                  <a:gd name="T2" fmla="*/ 4 w 4"/>
                  <a:gd name="T3" fmla="*/ 92 h 140"/>
                  <a:gd name="T4" fmla="*/ 0 w 4"/>
                  <a:gd name="T5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40">
                    <a:moveTo>
                      <a:pt x="0" y="0"/>
                    </a:moveTo>
                    <a:cubicBezTo>
                      <a:pt x="1" y="14"/>
                      <a:pt x="3" y="70"/>
                      <a:pt x="4" y="92"/>
                    </a:cubicBezTo>
                    <a:cubicBezTo>
                      <a:pt x="4" y="115"/>
                      <a:pt x="0" y="132"/>
                      <a:pt x="0" y="140"/>
                    </a:cubicBez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sp>
        <p:nvSpPr>
          <p:cNvPr id="394" name="Text Box 237"/>
          <p:cNvSpPr txBox="1">
            <a:spLocks noChangeArrowheads="1"/>
          </p:cNvSpPr>
          <p:nvPr/>
        </p:nvSpPr>
        <p:spPr bwMode="auto">
          <a:xfrm>
            <a:off x="3422650" y="3797301"/>
            <a:ext cx="12763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0" hangingPunct="0">
              <a:spcBef>
                <a:spcPct val="50000"/>
              </a:spcBef>
            </a:pPr>
            <a:r>
              <a:rPr lang="zh-CN" altLang="en-US" sz="200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剖视图</a:t>
            </a:r>
          </a:p>
        </p:txBody>
      </p:sp>
      <p:sp>
        <p:nvSpPr>
          <p:cNvPr id="395" name="Text Box 238"/>
          <p:cNvSpPr txBox="1">
            <a:spLocks noChangeArrowheads="1"/>
          </p:cNvSpPr>
          <p:nvPr/>
        </p:nvSpPr>
        <p:spPr bwMode="auto">
          <a:xfrm>
            <a:off x="7893050" y="3638551"/>
            <a:ext cx="12763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0" hangingPunct="0">
              <a:spcBef>
                <a:spcPct val="50000"/>
              </a:spcBef>
            </a:pPr>
            <a:r>
              <a:rPr lang="zh-CN" altLang="en-US" sz="2000">
                <a:solidFill>
                  <a:srgbClr val="FF33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断面图</a:t>
            </a:r>
          </a:p>
        </p:txBody>
      </p:sp>
      <p:sp>
        <p:nvSpPr>
          <p:cNvPr id="396" name="Text Box 239"/>
          <p:cNvSpPr txBox="1">
            <a:spLocks noChangeArrowheads="1"/>
          </p:cNvSpPr>
          <p:nvPr/>
        </p:nvSpPr>
        <p:spPr bwMode="auto">
          <a:xfrm>
            <a:off x="2768600" y="5257800"/>
            <a:ext cx="56007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zh-CN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en-US" altLang="zh-CN" dirty="0"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zh-CN" altLang="en-US" sz="2800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断面图</a:t>
            </a:r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是机件上剖切处断面的投影。</a:t>
            </a:r>
          </a:p>
        </p:txBody>
      </p:sp>
      <p:sp>
        <p:nvSpPr>
          <p:cNvPr id="397" name="Text Box 243"/>
          <p:cNvSpPr txBox="1">
            <a:spLocks noChangeArrowheads="1"/>
          </p:cNvSpPr>
          <p:nvPr/>
        </p:nvSpPr>
        <p:spPr bwMode="auto">
          <a:xfrm>
            <a:off x="2743200" y="4635500"/>
            <a:ext cx="47879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zh-CN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en-US" altLang="zh-CN" dirty="0"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zh-CN" altLang="en-US" sz="2800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剖视图</a:t>
            </a:r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是剖切后机件的投影。</a:t>
            </a:r>
          </a:p>
        </p:txBody>
      </p:sp>
    </p:spTree>
    <p:extLst>
      <p:ext uri="{BB962C8B-B14F-4D97-AF65-F5344CB8AC3E}">
        <p14:creationId xmlns:p14="http://schemas.microsoft.com/office/powerpoint/2010/main" val="41409320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0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4" grpId="0" build="p" advAuto="0"/>
      <p:bldP spid="395" grpId="0" build="p" advAuto="0"/>
      <p:bldP spid="396" grpId="0"/>
      <p:bldP spid="397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433369" y="355661"/>
            <a:ext cx="5262979" cy="646331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>
            <a:spAutoFit/>
          </a:bodyPr>
          <a:lstStyle/>
          <a:p>
            <a:r>
              <a:rPr lang="zh-CN" altLang="en-US" sz="36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二、断面图的种类及画法</a:t>
            </a: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1993901" y="5365235"/>
            <a:ext cx="75739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buFont typeface="Wingdings" panose="05000000000000000000" pitchFamily="2" charset="2"/>
              <a:buChar char="Ø"/>
            </a:pPr>
            <a:r>
              <a:rPr lang="en-US" altLang="zh-CN">
                <a:solidFill>
                  <a:srgbClr val="272777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zh-CN" altLang="en-US">
                <a:solidFill>
                  <a:schemeClr val="hlink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画法：画在视图之外，轮廓线用粗实线绘制。</a:t>
            </a:r>
            <a:endParaRPr lang="zh-CN" altLang="en-US" b="0">
              <a:solidFill>
                <a:schemeClr val="hlin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4" name="Group 4"/>
          <p:cNvGrpSpPr>
            <a:grpSpLocks/>
          </p:cNvGrpSpPr>
          <p:nvPr/>
        </p:nvGrpSpPr>
        <p:grpSpPr bwMode="auto">
          <a:xfrm>
            <a:off x="3693680" y="3680897"/>
            <a:ext cx="1106488" cy="1068387"/>
            <a:chOff x="1406" y="1869"/>
            <a:chExt cx="697" cy="673"/>
          </a:xfrm>
        </p:grpSpPr>
        <p:sp>
          <p:nvSpPr>
            <p:cNvPr id="5" name="Freeform 5"/>
            <p:cNvSpPr>
              <a:spLocks noChangeArrowheads="1"/>
            </p:cNvSpPr>
            <p:nvPr/>
          </p:nvSpPr>
          <p:spPr bwMode="auto">
            <a:xfrm>
              <a:off x="1768" y="1942"/>
              <a:ext cx="250" cy="213"/>
            </a:xfrm>
            <a:custGeom>
              <a:avLst/>
              <a:gdLst>
                <a:gd name="T0" fmla="*/ 1 w 589"/>
                <a:gd name="T1" fmla="*/ 63 h 482"/>
                <a:gd name="T2" fmla="*/ 1 w 589"/>
                <a:gd name="T3" fmla="*/ 63 h 482"/>
                <a:gd name="T4" fmla="*/ 17 w 589"/>
                <a:gd name="T5" fmla="*/ 63 h 482"/>
                <a:gd name="T6" fmla="*/ 32 w 589"/>
                <a:gd name="T7" fmla="*/ 63 h 482"/>
                <a:gd name="T8" fmla="*/ 46 w 589"/>
                <a:gd name="T9" fmla="*/ 65 h 482"/>
                <a:gd name="T10" fmla="*/ 61 w 589"/>
                <a:gd name="T11" fmla="*/ 66 h 482"/>
                <a:gd name="T12" fmla="*/ 76 w 589"/>
                <a:gd name="T13" fmla="*/ 69 h 482"/>
                <a:gd name="T14" fmla="*/ 90 w 589"/>
                <a:gd name="T15" fmla="*/ 71 h 482"/>
                <a:gd name="T16" fmla="*/ 103 w 589"/>
                <a:gd name="T17" fmla="*/ 75 h 482"/>
                <a:gd name="T18" fmla="*/ 116 w 589"/>
                <a:gd name="T19" fmla="*/ 78 h 482"/>
                <a:gd name="T20" fmla="*/ 144 w 589"/>
                <a:gd name="T21" fmla="*/ 87 h 482"/>
                <a:gd name="T22" fmla="*/ 170 w 589"/>
                <a:gd name="T23" fmla="*/ 98 h 482"/>
                <a:gd name="T24" fmla="*/ 196 w 589"/>
                <a:gd name="T25" fmla="*/ 111 h 482"/>
                <a:gd name="T26" fmla="*/ 221 w 589"/>
                <a:gd name="T27" fmla="*/ 124 h 482"/>
                <a:gd name="T28" fmla="*/ 244 w 589"/>
                <a:gd name="T29" fmla="*/ 139 h 482"/>
                <a:gd name="T30" fmla="*/ 268 w 589"/>
                <a:gd name="T31" fmla="*/ 155 h 482"/>
                <a:gd name="T32" fmla="*/ 290 w 589"/>
                <a:gd name="T33" fmla="*/ 173 h 482"/>
                <a:gd name="T34" fmla="*/ 311 w 589"/>
                <a:gd name="T35" fmla="*/ 191 h 482"/>
                <a:gd name="T36" fmla="*/ 333 w 589"/>
                <a:gd name="T37" fmla="*/ 209 h 482"/>
                <a:gd name="T38" fmla="*/ 352 w 589"/>
                <a:gd name="T39" fmla="*/ 228 h 482"/>
                <a:gd name="T40" fmla="*/ 371 w 589"/>
                <a:gd name="T41" fmla="*/ 249 h 482"/>
                <a:gd name="T42" fmla="*/ 389 w 589"/>
                <a:gd name="T43" fmla="*/ 268 h 482"/>
                <a:gd name="T44" fmla="*/ 406 w 589"/>
                <a:gd name="T45" fmla="*/ 288 h 482"/>
                <a:gd name="T46" fmla="*/ 422 w 589"/>
                <a:gd name="T47" fmla="*/ 309 h 482"/>
                <a:gd name="T48" fmla="*/ 437 w 589"/>
                <a:gd name="T49" fmla="*/ 328 h 482"/>
                <a:gd name="T50" fmla="*/ 451 w 589"/>
                <a:gd name="T51" fmla="*/ 347 h 482"/>
                <a:gd name="T52" fmla="*/ 475 w 589"/>
                <a:gd name="T53" fmla="*/ 384 h 482"/>
                <a:gd name="T54" fmla="*/ 496 w 589"/>
                <a:gd name="T55" fmla="*/ 415 h 482"/>
                <a:gd name="T56" fmla="*/ 524 w 589"/>
                <a:gd name="T57" fmla="*/ 465 h 482"/>
                <a:gd name="T58" fmla="*/ 532 w 589"/>
                <a:gd name="T59" fmla="*/ 482 h 482"/>
                <a:gd name="T60" fmla="*/ 589 w 589"/>
                <a:gd name="T61" fmla="*/ 455 h 482"/>
                <a:gd name="T62" fmla="*/ 579 w 589"/>
                <a:gd name="T63" fmla="*/ 435 h 482"/>
                <a:gd name="T64" fmla="*/ 549 w 589"/>
                <a:gd name="T65" fmla="*/ 384 h 482"/>
                <a:gd name="T66" fmla="*/ 528 w 589"/>
                <a:gd name="T67" fmla="*/ 349 h 482"/>
                <a:gd name="T68" fmla="*/ 502 w 589"/>
                <a:gd name="T69" fmla="*/ 311 h 482"/>
                <a:gd name="T70" fmla="*/ 487 w 589"/>
                <a:gd name="T71" fmla="*/ 290 h 482"/>
                <a:gd name="T72" fmla="*/ 471 w 589"/>
                <a:gd name="T73" fmla="*/ 270 h 482"/>
                <a:gd name="T74" fmla="*/ 454 w 589"/>
                <a:gd name="T75" fmla="*/ 249 h 482"/>
                <a:gd name="T76" fmla="*/ 437 w 589"/>
                <a:gd name="T77" fmla="*/ 227 h 482"/>
                <a:gd name="T78" fmla="*/ 417 w 589"/>
                <a:gd name="T79" fmla="*/ 206 h 482"/>
                <a:gd name="T80" fmla="*/ 397 w 589"/>
                <a:gd name="T81" fmla="*/ 185 h 482"/>
                <a:gd name="T82" fmla="*/ 376 w 589"/>
                <a:gd name="T83" fmla="*/ 163 h 482"/>
                <a:gd name="T84" fmla="*/ 353 w 589"/>
                <a:gd name="T85" fmla="*/ 143 h 482"/>
                <a:gd name="T86" fmla="*/ 330 w 589"/>
                <a:gd name="T87" fmla="*/ 124 h 482"/>
                <a:gd name="T88" fmla="*/ 305 w 589"/>
                <a:gd name="T89" fmla="*/ 105 h 482"/>
                <a:gd name="T90" fmla="*/ 279 w 589"/>
                <a:gd name="T91" fmla="*/ 87 h 482"/>
                <a:gd name="T92" fmla="*/ 253 w 589"/>
                <a:gd name="T93" fmla="*/ 70 h 482"/>
                <a:gd name="T94" fmla="*/ 225 w 589"/>
                <a:gd name="T95" fmla="*/ 55 h 482"/>
                <a:gd name="T96" fmla="*/ 196 w 589"/>
                <a:gd name="T97" fmla="*/ 41 h 482"/>
                <a:gd name="T98" fmla="*/ 166 w 589"/>
                <a:gd name="T99" fmla="*/ 28 h 482"/>
                <a:gd name="T100" fmla="*/ 136 w 589"/>
                <a:gd name="T101" fmla="*/ 18 h 482"/>
                <a:gd name="T102" fmla="*/ 119 w 589"/>
                <a:gd name="T103" fmla="*/ 14 h 482"/>
                <a:gd name="T104" fmla="*/ 103 w 589"/>
                <a:gd name="T105" fmla="*/ 10 h 482"/>
                <a:gd name="T106" fmla="*/ 87 w 589"/>
                <a:gd name="T107" fmla="*/ 7 h 482"/>
                <a:gd name="T108" fmla="*/ 69 w 589"/>
                <a:gd name="T109" fmla="*/ 4 h 482"/>
                <a:gd name="T110" fmla="*/ 52 w 589"/>
                <a:gd name="T111" fmla="*/ 2 h 482"/>
                <a:gd name="T112" fmla="*/ 36 w 589"/>
                <a:gd name="T113" fmla="*/ 1 h 482"/>
                <a:gd name="T114" fmla="*/ 19 w 589"/>
                <a:gd name="T115" fmla="*/ 0 h 482"/>
                <a:gd name="T116" fmla="*/ 0 w 589"/>
                <a:gd name="T117" fmla="*/ 0 h 482"/>
                <a:gd name="T118" fmla="*/ 0 w 589"/>
                <a:gd name="T119" fmla="*/ 0 h 482"/>
                <a:gd name="T120" fmla="*/ 1 w 589"/>
                <a:gd name="T121" fmla="*/ 63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9" h="482">
                  <a:moveTo>
                    <a:pt x="1" y="63"/>
                  </a:moveTo>
                  <a:lnTo>
                    <a:pt x="1" y="63"/>
                  </a:lnTo>
                  <a:lnTo>
                    <a:pt x="17" y="63"/>
                  </a:lnTo>
                  <a:lnTo>
                    <a:pt x="32" y="63"/>
                  </a:lnTo>
                  <a:lnTo>
                    <a:pt x="46" y="65"/>
                  </a:lnTo>
                  <a:lnTo>
                    <a:pt x="61" y="66"/>
                  </a:lnTo>
                  <a:lnTo>
                    <a:pt x="76" y="69"/>
                  </a:lnTo>
                  <a:lnTo>
                    <a:pt x="90" y="71"/>
                  </a:lnTo>
                  <a:lnTo>
                    <a:pt x="103" y="75"/>
                  </a:lnTo>
                  <a:lnTo>
                    <a:pt x="116" y="78"/>
                  </a:lnTo>
                  <a:lnTo>
                    <a:pt x="144" y="87"/>
                  </a:lnTo>
                  <a:lnTo>
                    <a:pt x="170" y="98"/>
                  </a:lnTo>
                  <a:lnTo>
                    <a:pt x="196" y="111"/>
                  </a:lnTo>
                  <a:lnTo>
                    <a:pt x="221" y="124"/>
                  </a:lnTo>
                  <a:lnTo>
                    <a:pt x="244" y="139"/>
                  </a:lnTo>
                  <a:lnTo>
                    <a:pt x="268" y="155"/>
                  </a:lnTo>
                  <a:lnTo>
                    <a:pt x="290" y="173"/>
                  </a:lnTo>
                  <a:lnTo>
                    <a:pt x="311" y="191"/>
                  </a:lnTo>
                  <a:lnTo>
                    <a:pt x="333" y="209"/>
                  </a:lnTo>
                  <a:lnTo>
                    <a:pt x="352" y="228"/>
                  </a:lnTo>
                  <a:lnTo>
                    <a:pt x="371" y="249"/>
                  </a:lnTo>
                  <a:lnTo>
                    <a:pt x="389" y="268"/>
                  </a:lnTo>
                  <a:lnTo>
                    <a:pt x="406" y="288"/>
                  </a:lnTo>
                  <a:lnTo>
                    <a:pt x="422" y="309"/>
                  </a:lnTo>
                  <a:lnTo>
                    <a:pt x="437" y="328"/>
                  </a:lnTo>
                  <a:lnTo>
                    <a:pt x="451" y="347"/>
                  </a:lnTo>
                  <a:lnTo>
                    <a:pt x="475" y="384"/>
                  </a:lnTo>
                  <a:lnTo>
                    <a:pt x="496" y="415"/>
                  </a:lnTo>
                  <a:lnTo>
                    <a:pt x="524" y="465"/>
                  </a:lnTo>
                  <a:lnTo>
                    <a:pt x="532" y="482"/>
                  </a:lnTo>
                  <a:lnTo>
                    <a:pt x="589" y="455"/>
                  </a:lnTo>
                  <a:lnTo>
                    <a:pt x="579" y="435"/>
                  </a:lnTo>
                  <a:lnTo>
                    <a:pt x="549" y="384"/>
                  </a:lnTo>
                  <a:lnTo>
                    <a:pt x="528" y="349"/>
                  </a:lnTo>
                  <a:lnTo>
                    <a:pt x="502" y="311"/>
                  </a:lnTo>
                  <a:lnTo>
                    <a:pt x="487" y="290"/>
                  </a:lnTo>
                  <a:lnTo>
                    <a:pt x="471" y="270"/>
                  </a:lnTo>
                  <a:lnTo>
                    <a:pt x="454" y="249"/>
                  </a:lnTo>
                  <a:lnTo>
                    <a:pt x="437" y="227"/>
                  </a:lnTo>
                  <a:lnTo>
                    <a:pt x="417" y="206"/>
                  </a:lnTo>
                  <a:lnTo>
                    <a:pt x="397" y="185"/>
                  </a:lnTo>
                  <a:lnTo>
                    <a:pt x="376" y="163"/>
                  </a:lnTo>
                  <a:lnTo>
                    <a:pt x="353" y="143"/>
                  </a:lnTo>
                  <a:lnTo>
                    <a:pt x="330" y="124"/>
                  </a:lnTo>
                  <a:lnTo>
                    <a:pt x="305" y="105"/>
                  </a:lnTo>
                  <a:lnTo>
                    <a:pt x="279" y="87"/>
                  </a:lnTo>
                  <a:lnTo>
                    <a:pt x="253" y="70"/>
                  </a:lnTo>
                  <a:lnTo>
                    <a:pt x="225" y="55"/>
                  </a:lnTo>
                  <a:lnTo>
                    <a:pt x="196" y="41"/>
                  </a:lnTo>
                  <a:lnTo>
                    <a:pt x="166" y="28"/>
                  </a:lnTo>
                  <a:lnTo>
                    <a:pt x="136" y="18"/>
                  </a:lnTo>
                  <a:lnTo>
                    <a:pt x="119" y="14"/>
                  </a:lnTo>
                  <a:lnTo>
                    <a:pt x="103" y="10"/>
                  </a:lnTo>
                  <a:lnTo>
                    <a:pt x="87" y="7"/>
                  </a:lnTo>
                  <a:lnTo>
                    <a:pt x="69" y="4"/>
                  </a:lnTo>
                  <a:lnTo>
                    <a:pt x="52" y="2"/>
                  </a:lnTo>
                  <a:lnTo>
                    <a:pt x="36" y="1"/>
                  </a:lnTo>
                  <a:lnTo>
                    <a:pt x="19" y="0"/>
                  </a:lnTo>
                  <a:lnTo>
                    <a:pt x="0" y="0"/>
                  </a:lnTo>
                  <a:lnTo>
                    <a:pt x="1" y="63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" name="Freeform 6"/>
            <p:cNvSpPr>
              <a:spLocks noChangeArrowheads="1"/>
            </p:cNvSpPr>
            <p:nvPr/>
          </p:nvSpPr>
          <p:spPr bwMode="auto">
            <a:xfrm>
              <a:off x="1487" y="1942"/>
              <a:ext cx="281" cy="539"/>
            </a:xfrm>
            <a:custGeom>
              <a:avLst/>
              <a:gdLst>
                <a:gd name="T0" fmla="*/ 472 w 659"/>
                <a:gd name="T1" fmla="*/ 1151 h 1219"/>
                <a:gd name="T2" fmla="*/ 390 w 659"/>
                <a:gd name="T3" fmla="*/ 1122 h 1219"/>
                <a:gd name="T4" fmla="*/ 318 w 659"/>
                <a:gd name="T5" fmla="*/ 1085 h 1219"/>
                <a:gd name="T6" fmla="*/ 254 w 659"/>
                <a:gd name="T7" fmla="*/ 1040 h 1219"/>
                <a:gd name="T8" fmla="*/ 200 w 659"/>
                <a:gd name="T9" fmla="*/ 988 h 1219"/>
                <a:gd name="T10" fmla="*/ 155 w 659"/>
                <a:gd name="T11" fmla="*/ 929 h 1219"/>
                <a:gd name="T12" fmla="*/ 118 w 659"/>
                <a:gd name="T13" fmla="*/ 867 h 1219"/>
                <a:gd name="T14" fmla="*/ 92 w 659"/>
                <a:gd name="T15" fmla="*/ 800 h 1219"/>
                <a:gd name="T16" fmla="*/ 74 w 659"/>
                <a:gd name="T17" fmla="*/ 730 h 1219"/>
                <a:gd name="T18" fmla="*/ 64 w 659"/>
                <a:gd name="T19" fmla="*/ 659 h 1219"/>
                <a:gd name="T20" fmla="*/ 64 w 659"/>
                <a:gd name="T21" fmla="*/ 587 h 1219"/>
                <a:gd name="T22" fmla="*/ 74 w 659"/>
                <a:gd name="T23" fmla="*/ 515 h 1219"/>
                <a:gd name="T24" fmla="*/ 92 w 659"/>
                <a:gd name="T25" fmla="*/ 445 h 1219"/>
                <a:gd name="T26" fmla="*/ 119 w 659"/>
                <a:gd name="T27" fmla="*/ 378 h 1219"/>
                <a:gd name="T28" fmla="*/ 155 w 659"/>
                <a:gd name="T29" fmla="*/ 314 h 1219"/>
                <a:gd name="T30" fmla="*/ 201 w 659"/>
                <a:gd name="T31" fmla="*/ 256 h 1219"/>
                <a:gd name="T32" fmla="*/ 254 w 659"/>
                <a:gd name="T33" fmla="*/ 203 h 1219"/>
                <a:gd name="T34" fmla="*/ 317 w 659"/>
                <a:gd name="T35" fmla="*/ 156 h 1219"/>
                <a:gd name="T36" fmla="*/ 389 w 659"/>
                <a:gd name="T37" fmla="*/ 119 h 1219"/>
                <a:gd name="T38" fmla="*/ 469 w 659"/>
                <a:gd name="T39" fmla="*/ 89 h 1219"/>
                <a:gd name="T40" fmla="*/ 560 w 659"/>
                <a:gd name="T41" fmla="*/ 70 h 1219"/>
                <a:gd name="T42" fmla="*/ 659 w 659"/>
                <a:gd name="T43" fmla="*/ 63 h 1219"/>
                <a:gd name="T44" fmla="*/ 586 w 659"/>
                <a:gd name="T45" fmla="*/ 4 h 1219"/>
                <a:gd name="T46" fmla="*/ 484 w 659"/>
                <a:gd name="T47" fmla="*/ 21 h 1219"/>
                <a:gd name="T48" fmla="*/ 392 w 659"/>
                <a:gd name="T49" fmla="*/ 50 h 1219"/>
                <a:gd name="T50" fmla="*/ 308 w 659"/>
                <a:gd name="T51" fmla="*/ 88 h 1219"/>
                <a:gd name="T52" fmla="*/ 235 w 659"/>
                <a:gd name="T53" fmla="*/ 137 h 1219"/>
                <a:gd name="T54" fmla="*/ 172 w 659"/>
                <a:gd name="T55" fmla="*/ 194 h 1219"/>
                <a:gd name="T56" fmla="*/ 118 w 659"/>
                <a:gd name="T57" fmla="*/ 257 h 1219"/>
                <a:gd name="T58" fmla="*/ 75 w 659"/>
                <a:gd name="T59" fmla="*/ 326 h 1219"/>
                <a:gd name="T60" fmla="*/ 41 w 659"/>
                <a:gd name="T61" fmla="*/ 400 h 1219"/>
                <a:gd name="T62" fmla="*/ 18 w 659"/>
                <a:gd name="T63" fmla="*/ 477 h 1219"/>
                <a:gd name="T64" fmla="*/ 4 w 659"/>
                <a:gd name="T65" fmla="*/ 555 h 1219"/>
                <a:gd name="T66" fmla="*/ 0 w 659"/>
                <a:gd name="T67" fmla="*/ 636 h 1219"/>
                <a:gd name="T68" fmla="*/ 7 w 659"/>
                <a:gd name="T69" fmla="*/ 716 h 1219"/>
                <a:gd name="T70" fmla="*/ 24 w 659"/>
                <a:gd name="T71" fmla="*/ 794 h 1219"/>
                <a:gd name="T72" fmla="*/ 51 w 659"/>
                <a:gd name="T73" fmla="*/ 869 h 1219"/>
                <a:gd name="T74" fmla="*/ 88 w 659"/>
                <a:gd name="T75" fmla="*/ 941 h 1219"/>
                <a:gd name="T76" fmla="*/ 135 w 659"/>
                <a:gd name="T77" fmla="*/ 1008 h 1219"/>
                <a:gd name="T78" fmla="*/ 193 w 659"/>
                <a:gd name="T79" fmla="*/ 1069 h 1219"/>
                <a:gd name="T80" fmla="*/ 260 w 659"/>
                <a:gd name="T81" fmla="*/ 1123 h 1219"/>
                <a:gd name="T82" fmla="*/ 338 w 659"/>
                <a:gd name="T83" fmla="*/ 1168 h 1219"/>
                <a:gd name="T84" fmla="*/ 425 w 659"/>
                <a:gd name="T85" fmla="*/ 1202 h 1219"/>
                <a:gd name="T86" fmla="*/ 488 w 659"/>
                <a:gd name="T87" fmla="*/ 1219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59" h="1219">
                  <a:moveTo>
                    <a:pt x="503" y="1158"/>
                  </a:moveTo>
                  <a:lnTo>
                    <a:pt x="503" y="1158"/>
                  </a:lnTo>
                  <a:lnTo>
                    <a:pt x="472" y="1151"/>
                  </a:lnTo>
                  <a:lnTo>
                    <a:pt x="444" y="1143"/>
                  </a:lnTo>
                  <a:lnTo>
                    <a:pt x="416" y="1132"/>
                  </a:lnTo>
                  <a:lnTo>
                    <a:pt x="390" y="1122"/>
                  </a:lnTo>
                  <a:lnTo>
                    <a:pt x="364" y="1111"/>
                  </a:lnTo>
                  <a:lnTo>
                    <a:pt x="341" y="1099"/>
                  </a:lnTo>
                  <a:lnTo>
                    <a:pt x="318" y="1085"/>
                  </a:lnTo>
                  <a:lnTo>
                    <a:pt x="295" y="1070"/>
                  </a:lnTo>
                  <a:lnTo>
                    <a:pt x="274" y="1056"/>
                  </a:lnTo>
                  <a:lnTo>
                    <a:pt x="254" y="1040"/>
                  </a:lnTo>
                  <a:lnTo>
                    <a:pt x="235" y="1024"/>
                  </a:lnTo>
                  <a:lnTo>
                    <a:pt x="217" y="1005"/>
                  </a:lnTo>
                  <a:lnTo>
                    <a:pt x="200" y="988"/>
                  </a:lnTo>
                  <a:lnTo>
                    <a:pt x="183" y="969"/>
                  </a:lnTo>
                  <a:lnTo>
                    <a:pt x="169" y="950"/>
                  </a:lnTo>
                  <a:lnTo>
                    <a:pt x="155" y="929"/>
                  </a:lnTo>
                  <a:lnTo>
                    <a:pt x="142" y="909"/>
                  </a:lnTo>
                  <a:lnTo>
                    <a:pt x="129" y="889"/>
                  </a:lnTo>
                  <a:lnTo>
                    <a:pt x="118" y="867"/>
                  </a:lnTo>
                  <a:lnTo>
                    <a:pt x="108" y="845"/>
                  </a:lnTo>
                  <a:lnTo>
                    <a:pt x="100" y="823"/>
                  </a:lnTo>
                  <a:lnTo>
                    <a:pt x="92" y="800"/>
                  </a:lnTo>
                  <a:lnTo>
                    <a:pt x="85" y="777"/>
                  </a:lnTo>
                  <a:lnTo>
                    <a:pt x="79" y="754"/>
                  </a:lnTo>
                  <a:lnTo>
                    <a:pt x="74" y="730"/>
                  </a:lnTo>
                  <a:lnTo>
                    <a:pt x="69" y="707"/>
                  </a:lnTo>
                  <a:lnTo>
                    <a:pt x="66" y="682"/>
                  </a:lnTo>
                  <a:lnTo>
                    <a:pt x="64" y="659"/>
                  </a:lnTo>
                  <a:lnTo>
                    <a:pt x="63" y="635"/>
                  </a:lnTo>
                  <a:lnTo>
                    <a:pt x="63" y="610"/>
                  </a:lnTo>
                  <a:lnTo>
                    <a:pt x="64" y="587"/>
                  </a:lnTo>
                  <a:lnTo>
                    <a:pt x="66" y="563"/>
                  </a:lnTo>
                  <a:lnTo>
                    <a:pt x="69" y="538"/>
                  </a:lnTo>
                  <a:lnTo>
                    <a:pt x="74" y="515"/>
                  </a:lnTo>
                  <a:lnTo>
                    <a:pt x="79" y="491"/>
                  </a:lnTo>
                  <a:lnTo>
                    <a:pt x="85" y="468"/>
                  </a:lnTo>
                  <a:lnTo>
                    <a:pt x="92" y="445"/>
                  </a:lnTo>
                  <a:lnTo>
                    <a:pt x="100" y="422"/>
                  </a:lnTo>
                  <a:lnTo>
                    <a:pt x="109" y="400"/>
                  </a:lnTo>
                  <a:lnTo>
                    <a:pt x="119" y="378"/>
                  </a:lnTo>
                  <a:lnTo>
                    <a:pt x="130" y="356"/>
                  </a:lnTo>
                  <a:lnTo>
                    <a:pt x="142" y="335"/>
                  </a:lnTo>
                  <a:lnTo>
                    <a:pt x="155" y="314"/>
                  </a:lnTo>
                  <a:lnTo>
                    <a:pt x="169" y="294"/>
                  </a:lnTo>
                  <a:lnTo>
                    <a:pt x="184" y="274"/>
                  </a:lnTo>
                  <a:lnTo>
                    <a:pt x="201" y="256"/>
                  </a:lnTo>
                  <a:lnTo>
                    <a:pt x="217" y="238"/>
                  </a:lnTo>
                  <a:lnTo>
                    <a:pt x="235" y="219"/>
                  </a:lnTo>
                  <a:lnTo>
                    <a:pt x="254" y="203"/>
                  </a:lnTo>
                  <a:lnTo>
                    <a:pt x="274" y="187"/>
                  </a:lnTo>
                  <a:lnTo>
                    <a:pt x="295" y="172"/>
                  </a:lnTo>
                  <a:lnTo>
                    <a:pt x="317" y="156"/>
                  </a:lnTo>
                  <a:lnTo>
                    <a:pt x="340" y="143"/>
                  </a:lnTo>
                  <a:lnTo>
                    <a:pt x="363" y="130"/>
                  </a:lnTo>
                  <a:lnTo>
                    <a:pt x="389" y="119"/>
                  </a:lnTo>
                  <a:lnTo>
                    <a:pt x="414" y="108"/>
                  </a:lnTo>
                  <a:lnTo>
                    <a:pt x="442" y="98"/>
                  </a:lnTo>
                  <a:lnTo>
                    <a:pt x="469" y="89"/>
                  </a:lnTo>
                  <a:lnTo>
                    <a:pt x="499" y="82"/>
                  </a:lnTo>
                  <a:lnTo>
                    <a:pt x="528" y="75"/>
                  </a:lnTo>
                  <a:lnTo>
                    <a:pt x="560" y="70"/>
                  </a:lnTo>
                  <a:lnTo>
                    <a:pt x="592" y="67"/>
                  </a:lnTo>
                  <a:lnTo>
                    <a:pt x="625" y="64"/>
                  </a:lnTo>
                  <a:lnTo>
                    <a:pt x="659" y="63"/>
                  </a:lnTo>
                  <a:lnTo>
                    <a:pt x="658" y="0"/>
                  </a:lnTo>
                  <a:lnTo>
                    <a:pt x="622" y="1"/>
                  </a:lnTo>
                  <a:lnTo>
                    <a:pt x="586" y="4"/>
                  </a:lnTo>
                  <a:lnTo>
                    <a:pt x="550" y="8"/>
                  </a:lnTo>
                  <a:lnTo>
                    <a:pt x="517" y="14"/>
                  </a:lnTo>
                  <a:lnTo>
                    <a:pt x="484" y="21"/>
                  </a:lnTo>
                  <a:lnTo>
                    <a:pt x="452" y="29"/>
                  </a:lnTo>
                  <a:lnTo>
                    <a:pt x="421" y="39"/>
                  </a:lnTo>
                  <a:lnTo>
                    <a:pt x="392" y="50"/>
                  </a:lnTo>
                  <a:lnTo>
                    <a:pt x="363" y="61"/>
                  </a:lnTo>
                  <a:lnTo>
                    <a:pt x="335" y="74"/>
                  </a:lnTo>
                  <a:lnTo>
                    <a:pt x="308" y="88"/>
                  </a:lnTo>
                  <a:lnTo>
                    <a:pt x="283" y="104"/>
                  </a:lnTo>
                  <a:lnTo>
                    <a:pt x="259" y="120"/>
                  </a:lnTo>
                  <a:lnTo>
                    <a:pt x="235" y="137"/>
                  </a:lnTo>
                  <a:lnTo>
                    <a:pt x="213" y="155"/>
                  </a:lnTo>
                  <a:lnTo>
                    <a:pt x="191" y="174"/>
                  </a:lnTo>
                  <a:lnTo>
                    <a:pt x="172" y="194"/>
                  </a:lnTo>
                  <a:lnTo>
                    <a:pt x="153" y="214"/>
                  </a:lnTo>
                  <a:lnTo>
                    <a:pt x="136" y="236"/>
                  </a:lnTo>
                  <a:lnTo>
                    <a:pt x="118" y="257"/>
                  </a:lnTo>
                  <a:lnTo>
                    <a:pt x="103" y="279"/>
                  </a:lnTo>
                  <a:lnTo>
                    <a:pt x="88" y="303"/>
                  </a:lnTo>
                  <a:lnTo>
                    <a:pt x="75" y="326"/>
                  </a:lnTo>
                  <a:lnTo>
                    <a:pt x="62" y="350"/>
                  </a:lnTo>
                  <a:lnTo>
                    <a:pt x="51" y="375"/>
                  </a:lnTo>
                  <a:lnTo>
                    <a:pt x="41" y="400"/>
                  </a:lnTo>
                  <a:lnTo>
                    <a:pt x="32" y="425"/>
                  </a:lnTo>
                  <a:lnTo>
                    <a:pt x="25" y="451"/>
                  </a:lnTo>
                  <a:lnTo>
                    <a:pt x="18" y="477"/>
                  </a:lnTo>
                  <a:lnTo>
                    <a:pt x="12" y="503"/>
                  </a:lnTo>
                  <a:lnTo>
                    <a:pt x="7" y="529"/>
                  </a:lnTo>
                  <a:lnTo>
                    <a:pt x="4" y="555"/>
                  </a:lnTo>
                  <a:lnTo>
                    <a:pt x="2" y="583"/>
                  </a:lnTo>
                  <a:lnTo>
                    <a:pt x="1" y="609"/>
                  </a:lnTo>
                  <a:lnTo>
                    <a:pt x="0" y="636"/>
                  </a:lnTo>
                  <a:lnTo>
                    <a:pt x="2" y="662"/>
                  </a:lnTo>
                  <a:lnTo>
                    <a:pt x="4" y="690"/>
                  </a:lnTo>
                  <a:lnTo>
                    <a:pt x="7" y="716"/>
                  </a:lnTo>
                  <a:lnTo>
                    <a:pt x="11" y="741"/>
                  </a:lnTo>
                  <a:lnTo>
                    <a:pt x="18" y="768"/>
                  </a:lnTo>
                  <a:lnTo>
                    <a:pt x="24" y="794"/>
                  </a:lnTo>
                  <a:lnTo>
                    <a:pt x="32" y="820"/>
                  </a:lnTo>
                  <a:lnTo>
                    <a:pt x="41" y="845"/>
                  </a:lnTo>
                  <a:lnTo>
                    <a:pt x="51" y="869"/>
                  </a:lnTo>
                  <a:lnTo>
                    <a:pt x="62" y="894"/>
                  </a:lnTo>
                  <a:lnTo>
                    <a:pt x="75" y="918"/>
                  </a:lnTo>
                  <a:lnTo>
                    <a:pt x="88" y="941"/>
                  </a:lnTo>
                  <a:lnTo>
                    <a:pt x="102" y="965"/>
                  </a:lnTo>
                  <a:lnTo>
                    <a:pt x="118" y="987"/>
                  </a:lnTo>
                  <a:lnTo>
                    <a:pt x="135" y="1008"/>
                  </a:lnTo>
                  <a:lnTo>
                    <a:pt x="153" y="1030"/>
                  </a:lnTo>
                  <a:lnTo>
                    <a:pt x="172" y="1050"/>
                  </a:lnTo>
                  <a:lnTo>
                    <a:pt x="193" y="1069"/>
                  </a:lnTo>
                  <a:lnTo>
                    <a:pt x="214" y="1088"/>
                  </a:lnTo>
                  <a:lnTo>
                    <a:pt x="236" y="1106"/>
                  </a:lnTo>
                  <a:lnTo>
                    <a:pt x="260" y="1123"/>
                  </a:lnTo>
                  <a:lnTo>
                    <a:pt x="285" y="1138"/>
                  </a:lnTo>
                  <a:lnTo>
                    <a:pt x="310" y="1154"/>
                  </a:lnTo>
                  <a:lnTo>
                    <a:pt x="338" y="1168"/>
                  </a:lnTo>
                  <a:lnTo>
                    <a:pt x="365" y="1180"/>
                  </a:lnTo>
                  <a:lnTo>
                    <a:pt x="395" y="1191"/>
                  </a:lnTo>
                  <a:lnTo>
                    <a:pt x="425" y="1202"/>
                  </a:lnTo>
                  <a:lnTo>
                    <a:pt x="457" y="1212"/>
                  </a:lnTo>
                  <a:lnTo>
                    <a:pt x="488" y="1219"/>
                  </a:lnTo>
                  <a:lnTo>
                    <a:pt x="503" y="1158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" name="Freeform 7"/>
            <p:cNvSpPr>
              <a:spLocks noChangeArrowheads="1"/>
            </p:cNvSpPr>
            <p:nvPr/>
          </p:nvSpPr>
          <p:spPr bwMode="auto">
            <a:xfrm>
              <a:off x="1695" y="2411"/>
              <a:ext cx="242" cy="78"/>
            </a:xfrm>
            <a:custGeom>
              <a:avLst/>
              <a:gdLst>
                <a:gd name="T0" fmla="*/ 532 w 567"/>
                <a:gd name="T1" fmla="*/ 0 h 179"/>
                <a:gd name="T2" fmla="*/ 532 w 567"/>
                <a:gd name="T3" fmla="*/ 0 h 179"/>
                <a:gd name="T4" fmla="*/ 509 w 567"/>
                <a:gd name="T5" fmla="*/ 16 h 179"/>
                <a:gd name="T6" fmla="*/ 486 w 567"/>
                <a:gd name="T7" fmla="*/ 30 h 179"/>
                <a:gd name="T8" fmla="*/ 461 w 567"/>
                <a:gd name="T9" fmla="*/ 44 h 179"/>
                <a:gd name="T10" fmla="*/ 436 w 567"/>
                <a:gd name="T11" fmla="*/ 57 h 179"/>
                <a:gd name="T12" fmla="*/ 409 w 567"/>
                <a:gd name="T13" fmla="*/ 69 h 179"/>
                <a:gd name="T14" fmla="*/ 382 w 567"/>
                <a:gd name="T15" fmla="*/ 81 h 179"/>
                <a:gd name="T16" fmla="*/ 352 w 567"/>
                <a:gd name="T17" fmla="*/ 91 h 179"/>
                <a:gd name="T18" fmla="*/ 322 w 567"/>
                <a:gd name="T19" fmla="*/ 99 h 179"/>
                <a:gd name="T20" fmla="*/ 306 w 567"/>
                <a:gd name="T21" fmla="*/ 103 h 179"/>
                <a:gd name="T22" fmla="*/ 289 w 567"/>
                <a:gd name="T23" fmla="*/ 106 h 179"/>
                <a:gd name="T24" fmla="*/ 273 w 567"/>
                <a:gd name="T25" fmla="*/ 109 h 179"/>
                <a:gd name="T26" fmla="*/ 256 w 567"/>
                <a:gd name="T27" fmla="*/ 112 h 179"/>
                <a:gd name="T28" fmla="*/ 238 w 567"/>
                <a:gd name="T29" fmla="*/ 114 h 179"/>
                <a:gd name="T30" fmla="*/ 220 w 567"/>
                <a:gd name="T31" fmla="*/ 115 h 179"/>
                <a:gd name="T32" fmla="*/ 202 w 567"/>
                <a:gd name="T33" fmla="*/ 116 h 179"/>
                <a:gd name="T34" fmla="*/ 184 w 567"/>
                <a:gd name="T35" fmla="*/ 116 h 179"/>
                <a:gd name="T36" fmla="*/ 164 w 567"/>
                <a:gd name="T37" fmla="*/ 116 h 179"/>
                <a:gd name="T38" fmla="*/ 144 w 567"/>
                <a:gd name="T39" fmla="*/ 116 h 179"/>
                <a:gd name="T40" fmla="*/ 124 w 567"/>
                <a:gd name="T41" fmla="*/ 114 h 179"/>
                <a:gd name="T42" fmla="*/ 103 w 567"/>
                <a:gd name="T43" fmla="*/ 112 h 179"/>
                <a:gd name="T44" fmla="*/ 82 w 567"/>
                <a:gd name="T45" fmla="*/ 110 h 179"/>
                <a:gd name="T46" fmla="*/ 59 w 567"/>
                <a:gd name="T47" fmla="*/ 107 h 179"/>
                <a:gd name="T48" fmla="*/ 37 w 567"/>
                <a:gd name="T49" fmla="*/ 103 h 179"/>
                <a:gd name="T50" fmla="*/ 15 w 567"/>
                <a:gd name="T51" fmla="*/ 98 h 179"/>
                <a:gd name="T52" fmla="*/ 0 w 567"/>
                <a:gd name="T53" fmla="*/ 159 h 179"/>
                <a:gd name="T54" fmla="*/ 26 w 567"/>
                <a:gd name="T55" fmla="*/ 164 h 179"/>
                <a:gd name="T56" fmla="*/ 49 w 567"/>
                <a:gd name="T57" fmla="*/ 169 h 179"/>
                <a:gd name="T58" fmla="*/ 74 w 567"/>
                <a:gd name="T59" fmla="*/ 172 h 179"/>
                <a:gd name="T60" fmla="*/ 96 w 567"/>
                <a:gd name="T61" fmla="*/ 175 h 179"/>
                <a:gd name="T62" fmla="*/ 118 w 567"/>
                <a:gd name="T63" fmla="*/ 177 h 179"/>
                <a:gd name="T64" fmla="*/ 141 w 567"/>
                <a:gd name="T65" fmla="*/ 178 h 179"/>
                <a:gd name="T66" fmla="*/ 162 w 567"/>
                <a:gd name="T67" fmla="*/ 179 h 179"/>
                <a:gd name="T68" fmla="*/ 184 w 567"/>
                <a:gd name="T69" fmla="*/ 179 h 179"/>
                <a:gd name="T70" fmla="*/ 205 w 567"/>
                <a:gd name="T71" fmla="*/ 179 h 179"/>
                <a:gd name="T72" fmla="*/ 225 w 567"/>
                <a:gd name="T73" fmla="*/ 178 h 179"/>
                <a:gd name="T74" fmla="*/ 245 w 567"/>
                <a:gd name="T75" fmla="*/ 176 h 179"/>
                <a:gd name="T76" fmla="*/ 264 w 567"/>
                <a:gd name="T77" fmla="*/ 174 h 179"/>
                <a:gd name="T78" fmla="*/ 283 w 567"/>
                <a:gd name="T79" fmla="*/ 171 h 179"/>
                <a:gd name="T80" fmla="*/ 301 w 567"/>
                <a:gd name="T81" fmla="*/ 168 h 179"/>
                <a:gd name="T82" fmla="*/ 320 w 567"/>
                <a:gd name="T83" fmla="*/ 164 h 179"/>
                <a:gd name="T84" fmla="*/ 337 w 567"/>
                <a:gd name="T85" fmla="*/ 160 h 179"/>
                <a:gd name="T86" fmla="*/ 371 w 567"/>
                <a:gd name="T87" fmla="*/ 151 h 179"/>
                <a:gd name="T88" fmla="*/ 403 w 567"/>
                <a:gd name="T89" fmla="*/ 139 h 179"/>
                <a:gd name="T90" fmla="*/ 435 w 567"/>
                <a:gd name="T91" fmla="*/ 127 h 179"/>
                <a:gd name="T92" fmla="*/ 463 w 567"/>
                <a:gd name="T93" fmla="*/ 114 h 179"/>
                <a:gd name="T94" fmla="*/ 492 w 567"/>
                <a:gd name="T95" fmla="*/ 99 h 179"/>
                <a:gd name="T96" fmla="*/ 518 w 567"/>
                <a:gd name="T97" fmla="*/ 84 h 179"/>
                <a:gd name="T98" fmla="*/ 544 w 567"/>
                <a:gd name="T99" fmla="*/ 68 h 179"/>
                <a:gd name="T100" fmla="*/ 567 w 567"/>
                <a:gd name="T101" fmla="*/ 52 h 179"/>
                <a:gd name="T102" fmla="*/ 567 w 567"/>
                <a:gd name="T103" fmla="*/ 52 h 179"/>
                <a:gd name="T104" fmla="*/ 532 w 567"/>
                <a:gd name="T105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7" h="179">
                  <a:moveTo>
                    <a:pt x="532" y="0"/>
                  </a:moveTo>
                  <a:lnTo>
                    <a:pt x="532" y="0"/>
                  </a:lnTo>
                  <a:lnTo>
                    <a:pt x="509" y="16"/>
                  </a:lnTo>
                  <a:lnTo>
                    <a:pt x="486" y="30"/>
                  </a:lnTo>
                  <a:lnTo>
                    <a:pt x="461" y="44"/>
                  </a:lnTo>
                  <a:lnTo>
                    <a:pt x="436" y="57"/>
                  </a:lnTo>
                  <a:lnTo>
                    <a:pt x="409" y="69"/>
                  </a:lnTo>
                  <a:lnTo>
                    <a:pt x="382" y="81"/>
                  </a:lnTo>
                  <a:lnTo>
                    <a:pt x="352" y="91"/>
                  </a:lnTo>
                  <a:lnTo>
                    <a:pt x="322" y="99"/>
                  </a:lnTo>
                  <a:lnTo>
                    <a:pt x="306" y="103"/>
                  </a:lnTo>
                  <a:lnTo>
                    <a:pt x="289" y="106"/>
                  </a:lnTo>
                  <a:lnTo>
                    <a:pt x="273" y="109"/>
                  </a:lnTo>
                  <a:lnTo>
                    <a:pt x="256" y="112"/>
                  </a:lnTo>
                  <a:lnTo>
                    <a:pt x="238" y="114"/>
                  </a:lnTo>
                  <a:lnTo>
                    <a:pt x="220" y="115"/>
                  </a:lnTo>
                  <a:lnTo>
                    <a:pt x="202" y="116"/>
                  </a:lnTo>
                  <a:lnTo>
                    <a:pt x="184" y="116"/>
                  </a:lnTo>
                  <a:lnTo>
                    <a:pt x="164" y="116"/>
                  </a:lnTo>
                  <a:lnTo>
                    <a:pt x="144" y="116"/>
                  </a:lnTo>
                  <a:lnTo>
                    <a:pt x="124" y="114"/>
                  </a:lnTo>
                  <a:lnTo>
                    <a:pt x="103" y="112"/>
                  </a:lnTo>
                  <a:lnTo>
                    <a:pt x="82" y="110"/>
                  </a:lnTo>
                  <a:lnTo>
                    <a:pt x="59" y="107"/>
                  </a:lnTo>
                  <a:lnTo>
                    <a:pt x="37" y="103"/>
                  </a:lnTo>
                  <a:lnTo>
                    <a:pt x="15" y="98"/>
                  </a:lnTo>
                  <a:lnTo>
                    <a:pt x="0" y="159"/>
                  </a:lnTo>
                  <a:lnTo>
                    <a:pt x="26" y="164"/>
                  </a:lnTo>
                  <a:lnTo>
                    <a:pt x="49" y="169"/>
                  </a:lnTo>
                  <a:lnTo>
                    <a:pt x="74" y="172"/>
                  </a:lnTo>
                  <a:lnTo>
                    <a:pt x="96" y="175"/>
                  </a:lnTo>
                  <a:lnTo>
                    <a:pt x="118" y="177"/>
                  </a:lnTo>
                  <a:lnTo>
                    <a:pt x="141" y="178"/>
                  </a:lnTo>
                  <a:lnTo>
                    <a:pt x="162" y="179"/>
                  </a:lnTo>
                  <a:lnTo>
                    <a:pt x="184" y="179"/>
                  </a:lnTo>
                  <a:lnTo>
                    <a:pt x="205" y="179"/>
                  </a:lnTo>
                  <a:lnTo>
                    <a:pt x="225" y="178"/>
                  </a:lnTo>
                  <a:lnTo>
                    <a:pt x="245" y="176"/>
                  </a:lnTo>
                  <a:lnTo>
                    <a:pt x="264" y="174"/>
                  </a:lnTo>
                  <a:lnTo>
                    <a:pt x="283" y="171"/>
                  </a:lnTo>
                  <a:lnTo>
                    <a:pt x="301" y="168"/>
                  </a:lnTo>
                  <a:lnTo>
                    <a:pt x="320" y="164"/>
                  </a:lnTo>
                  <a:lnTo>
                    <a:pt x="337" y="160"/>
                  </a:lnTo>
                  <a:lnTo>
                    <a:pt x="371" y="151"/>
                  </a:lnTo>
                  <a:lnTo>
                    <a:pt x="403" y="139"/>
                  </a:lnTo>
                  <a:lnTo>
                    <a:pt x="435" y="127"/>
                  </a:lnTo>
                  <a:lnTo>
                    <a:pt x="463" y="114"/>
                  </a:lnTo>
                  <a:lnTo>
                    <a:pt x="492" y="99"/>
                  </a:lnTo>
                  <a:lnTo>
                    <a:pt x="518" y="84"/>
                  </a:lnTo>
                  <a:lnTo>
                    <a:pt x="544" y="68"/>
                  </a:lnTo>
                  <a:lnTo>
                    <a:pt x="567" y="5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" name="Freeform 8"/>
            <p:cNvSpPr>
              <a:spLocks noChangeArrowheads="1"/>
            </p:cNvSpPr>
            <p:nvPr/>
          </p:nvSpPr>
          <p:spPr bwMode="auto">
            <a:xfrm>
              <a:off x="1921" y="2302"/>
              <a:ext cx="92" cy="131"/>
            </a:xfrm>
            <a:custGeom>
              <a:avLst/>
              <a:gdLst>
                <a:gd name="T0" fmla="*/ 184 w 216"/>
                <a:gd name="T1" fmla="*/ 63 h 297"/>
                <a:gd name="T2" fmla="*/ 184 w 216"/>
                <a:gd name="T3" fmla="*/ 63 h 297"/>
                <a:gd name="T4" fmla="*/ 153 w 216"/>
                <a:gd name="T5" fmla="*/ 31 h 297"/>
                <a:gd name="T6" fmla="*/ 153 w 216"/>
                <a:gd name="T7" fmla="*/ 31 h 297"/>
                <a:gd name="T8" fmla="*/ 151 w 216"/>
                <a:gd name="T9" fmla="*/ 37 h 297"/>
                <a:gd name="T10" fmla="*/ 148 w 216"/>
                <a:gd name="T11" fmla="*/ 47 h 297"/>
                <a:gd name="T12" fmla="*/ 143 w 216"/>
                <a:gd name="T13" fmla="*/ 58 h 297"/>
                <a:gd name="T14" fmla="*/ 138 w 216"/>
                <a:gd name="T15" fmla="*/ 73 h 297"/>
                <a:gd name="T16" fmla="*/ 130 w 216"/>
                <a:gd name="T17" fmla="*/ 89 h 297"/>
                <a:gd name="T18" fmla="*/ 120 w 216"/>
                <a:gd name="T19" fmla="*/ 105 h 297"/>
                <a:gd name="T20" fmla="*/ 110 w 216"/>
                <a:gd name="T21" fmla="*/ 123 h 297"/>
                <a:gd name="T22" fmla="*/ 99 w 216"/>
                <a:gd name="T23" fmla="*/ 142 h 297"/>
                <a:gd name="T24" fmla="*/ 86 w 216"/>
                <a:gd name="T25" fmla="*/ 161 h 297"/>
                <a:gd name="T26" fmla="*/ 72 w 216"/>
                <a:gd name="T27" fmla="*/ 179 h 297"/>
                <a:gd name="T28" fmla="*/ 55 w 216"/>
                <a:gd name="T29" fmla="*/ 198 h 297"/>
                <a:gd name="T30" fmla="*/ 38 w 216"/>
                <a:gd name="T31" fmla="*/ 215 h 297"/>
                <a:gd name="T32" fmla="*/ 29 w 216"/>
                <a:gd name="T33" fmla="*/ 223 h 297"/>
                <a:gd name="T34" fmla="*/ 20 w 216"/>
                <a:gd name="T35" fmla="*/ 231 h 297"/>
                <a:gd name="T36" fmla="*/ 9 w 216"/>
                <a:gd name="T37" fmla="*/ 238 h 297"/>
                <a:gd name="T38" fmla="*/ 0 w 216"/>
                <a:gd name="T39" fmla="*/ 245 h 297"/>
                <a:gd name="T40" fmla="*/ 35 w 216"/>
                <a:gd name="T41" fmla="*/ 297 h 297"/>
                <a:gd name="T42" fmla="*/ 47 w 216"/>
                <a:gd name="T43" fmla="*/ 289 h 297"/>
                <a:gd name="T44" fmla="*/ 59 w 216"/>
                <a:gd name="T45" fmla="*/ 280 h 297"/>
                <a:gd name="T46" fmla="*/ 71 w 216"/>
                <a:gd name="T47" fmla="*/ 270 h 297"/>
                <a:gd name="T48" fmla="*/ 82 w 216"/>
                <a:gd name="T49" fmla="*/ 259 h 297"/>
                <a:gd name="T50" fmla="*/ 101 w 216"/>
                <a:gd name="T51" fmla="*/ 240 h 297"/>
                <a:gd name="T52" fmla="*/ 119 w 216"/>
                <a:gd name="T53" fmla="*/ 219 h 297"/>
                <a:gd name="T54" fmla="*/ 137 w 216"/>
                <a:gd name="T55" fmla="*/ 198 h 297"/>
                <a:gd name="T56" fmla="*/ 151 w 216"/>
                <a:gd name="T57" fmla="*/ 176 h 297"/>
                <a:gd name="T58" fmla="*/ 164 w 216"/>
                <a:gd name="T59" fmla="*/ 156 h 297"/>
                <a:gd name="T60" fmla="*/ 176 w 216"/>
                <a:gd name="T61" fmla="*/ 136 h 297"/>
                <a:gd name="T62" fmla="*/ 185 w 216"/>
                <a:gd name="T63" fmla="*/ 116 h 297"/>
                <a:gd name="T64" fmla="*/ 195 w 216"/>
                <a:gd name="T65" fmla="*/ 99 h 297"/>
                <a:gd name="T66" fmla="*/ 202 w 216"/>
                <a:gd name="T67" fmla="*/ 83 h 297"/>
                <a:gd name="T68" fmla="*/ 207 w 216"/>
                <a:gd name="T69" fmla="*/ 69 h 297"/>
                <a:gd name="T70" fmla="*/ 211 w 216"/>
                <a:gd name="T71" fmla="*/ 56 h 297"/>
                <a:gd name="T72" fmla="*/ 214 w 216"/>
                <a:gd name="T73" fmla="*/ 46 h 297"/>
                <a:gd name="T74" fmla="*/ 216 w 216"/>
                <a:gd name="T75" fmla="*/ 36 h 297"/>
                <a:gd name="T76" fmla="*/ 183 w 216"/>
                <a:gd name="T77" fmla="*/ 0 h 297"/>
                <a:gd name="T78" fmla="*/ 183 w 216"/>
                <a:gd name="T79" fmla="*/ 0 h 297"/>
                <a:gd name="T80" fmla="*/ 184 w 216"/>
                <a:gd name="T81" fmla="*/ 63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6" h="297">
                  <a:moveTo>
                    <a:pt x="184" y="63"/>
                  </a:moveTo>
                  <a:lnTo>
                    <a:pt x="184" y="63"/>
                  </a:lnTo>
                  <a:lnTo>
                    <a:pt x="153" y="31"/>
                  </a:lnTo>
                  <a:lnTo>
                    <a:pt x="151" y="37"/>
                  </a:lnTo>
                  <a:lnTo>
                    <a:pt x="148" y="47"/>
                  </a:lnTo>
                  <a:lnTo>
                    <a:pt x="143" y="58"/>
                  </a:lnTo>
                  <a:lnTo>
                    <a:pt x="138" y="73"/>
                  </a:lnTo>
                  <a:lnTo>
                    <a:pt x="130" y="89"/>
                  </a:lnTo>
                  <a:lnTo>
                    <a:pt x="120" y="105"/>
                  </a:lnTo>
                  <a:lnTo>
                    <a:pt x="110" y="123"/>
                  </a:lnTo>
                  <a:lnTo>
                    <a:pt x="99" y="142"/>
                  </a:lnTo>
                  <a:lnTo>
                    <a:pt x="86" y="161"/>
                  </a:lnTo>
                  <a:lnTo>
                    <a:pt x="72" y="179"/>
                  </a:lnTo>
                  <a:lnTo>
                    <a:pt x="55" y="198"/>
                  </a:lnTo>
                  <a:lnTo>
                    <a:pt x="38" y="215"/>
                  </a:lnTo>
                  <a:lnTo>
                    <a:pt x="29" y="223"/>
                  </a:lnTo>
                  <a:lnTo>
                    <a:pt x="20" y="231"/>
                  </a:lnTo>
                  <a:lnTo>
                    <a:pt x="9" y="238"/>
                  </a:lnTo>
                  <a:lnTo>
                    <a:pt x="0" y="245"/>
                  </a:lnTo>
                  <a:lnTo>
                    <a:pt x="35" y="297"/>
                  </a:lnTo>
                  <a:lnTo>
                    <a:pt x="47" y="289"/>
                  </a:lnTo>
                  <a:lnTo>
                    <a:pt x="59" y="280"/>
                  </a:lnTo>
                  <a:lnTo>
                    <a:pt x="71" y="270"/>
                  </a:lnTo>
                  <a:lnTo>
                    <a:pt x="82" y="259"/>
                  </a:lnTo>
                  <a:lnTo>
                    <a:pt x="101" y="240"/>
                  </a:lnTo>
                  <a:lnTo>
                    <a:pt x="119" y="219"/>
                  </a:lnTo>
                  <a:lnTo>
                    <a:pt x="137" y="198"/>
                  </a:lnTo>
                  <a:lnTo>
                    <a:pt x="151" y="176"/>
                  </a:lnTo>
                  <a:lnTo>
                    <a:pt x="164" y="156"/>
                  </a:lnTo>
                  <a:lnTo>
                    <a:pt x="176" y="136"/>
                  </a:lnTo>
                  <a:lnTo>
                    <a:pt x="185" y="116"/>
                  </a:lnTo>
                  <a:lnTo>
                    <a:pt x="195" y="99"/>
                  </a:lnTo>
                  <a:lnTo>
                    <a:pt x="202" y="83"/>
                  </a:lnTo>
                  <a:lnTo>
                    <a:pt x="207" y="69"/>
                  </a:lnTo>
                  <a:lnTo>
                    <a:pt x="211" y="56"/>
                  </a:lnTo>
                  <a:lnTo>
                    <a:pt x="214" y="46"/>
                  </a:lnTo>
                  <a:lnTo>
                    <a:pt x="216" y="36"/>
                  </a:lnTo>
                  <a:lnTo>
                    <a:pt x="183" y="0"/>
                  </a:lnTo>
                  <a:lnTo>
                    <a:pt x="184" y="63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" name="Freeform 9"/>
            <p:cNvSpPr>
              <a:spLocks noChangeArrowheads="1"/>
            </p:cNvSpPr>
            <p:nvPr/>
          </p:nvSpPr>
          <p:spPr bwMode="auto">
            <a:xfrm>
              <a:off x="1920" y="2302"/>
              <a:ext cx="81" cy="29"/>
            </a:xfrm>
            <a:custGeom>
              <a:avLst/>
              <a:gdLst>
                <a:gd name="T0" fmla="*/ 0 w 187"/>
                <a:gd name="T1" fmla="*/ 34 h 65"/>
                <a:gd name="T2" fmla="*/ 32 w 187"/>
                <a:gd name="T3" fmla="*/ 65 h 65"/>
                <a:gd name="T4" fmla="*/ 187 w 187"/>
                <a:gd name="T5" fmla="*/ 63 h 65"/>
                <a:gd name="T6" fmla="*/ 186 w 187"/>
                <a:gd name="T7" fmla="*/ 0 h 65"/>
                <a:gd name="T8" fmla="*/ 32 w 187"/>
                <a:gd name="T9" fmla="*/ 3 h 65"/>
                <a:gd name="T10" fmla="*/ 0 w 187"/>
                <a:gd name="T11" fmla="*/ 34 h 65"/>
                <a:gd name="T12" fmla="*/ 0 w 187"/>
                <a:gd name="T13" fmla="*/ 34 h 65"/>
                <a:gd name="T14" fmla="*/ 0 w 187"/>
                <a:gd name="T15" fmla="*/ 65 h 65"/>
                <a:gd name="T16" fmla="*/ 32 w 187"/>
                <a:gd name="T17" fmla="*/ 65 h 65"/>
                <a:gd name="T18" fmla="*/ 0 w 187"/>
                <a:gd name="T19" fmla="*/ 3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65">
                  <a:moveTo>
                    <a:pt x="0" y="34"/>
                  </a:moveTo>
                  <a:lnTo>
                    <a:pt x="32" y="65"/>
                  </a:lnTo>
                  <a:lnTo>
                    <a:pt x="187" y="63"/>
                  </a:lnTo>
                  <a:lnTo>
                    <a:pt x="186" y="0"/>
                  </a:lnTo>
                  <a:lnTo>
                    <a:pt x="32" y="3"/>
                  </a:lnTo>
                  <a:lnTo>
                    <a:pt x="0" y="34"/>
                  </a:lnTo>
                  <a:lnTo>
                    <a:pt x="0" y="65"/>
                  </a:lnTo>
                  <a:lnTo>
                    <a:pt x="32" y="65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" name="Freeform 10"/>
            <p:cNvSpPr>
              <a:spLocks noChangeArrowheads="1"/>
            </p:cNvSpPr>
            <p:nvPr/>
          </p:nvSpPr>
          <p:spPr bwMode="auto">
            <a:xfrm>
              <a:off x="1920" y="2135"/>
              <a:ext cx="27" cy="182"/>
            </a:xfrm>
            <a:custGeom>
              <a:avLst/>
              <a:gdLst>
                <a:gd name="T0" fmla="*/ 32 w 63"/>
                <a:gd name="T1" fmla="*/ 0 h 412"/>
                <a:gd name="T2" fmla="*/ 0 w 63"/>
                <a:gd name="T3" fmla="*/ 31 h 412"/>
                <a:gd name="T4" fmla="*/ 0 w 63"/>
                <a:gd name="T5" fmla="*/ 412 h 412"/>
                <a:gd name="T6" fmla="*/ 63 w 63"/>
                <a:gd name="T7" fmla="*/ 412 h 412"/>
                <a:gd name="T8" fmla="*/ 63 w 63"/>
                <a:gd name="T9" fmla="*/ 31 h 412"/>
                <a:gd name="T10" fmla="*/ 32 w 63"/>
                <a:gd name="T11" fmla="*/ 0 h 412"/>
                <a:gd name="T12" fmla="*/ 32 w 63"/>
                <a:gd name="T13" fmla="*/ 0 h 412"/>
                <a:gd name="T14" fmla="*/ 0 w 63"/>
                <a:gd name="T15" fmla="*/ 0 h 412"/>
                <a:gd name="T16" fmla="*/ 0 w 63"/>
                <a:gd name="T17" fmla="*/ 31 h 412"/>
                <a:gd name="T18" fmla="*/ 32 w 63"/>
                <a:gd name="T19" fmla="*/ 0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" h="412">
                  <a:moveTo>
                    <a:pt x="32" y="0"/>
                  </a:moveTo>
                  <a:lnTo>
                    <a:pt x="0" y="31"/>
                  </a:lnTo>
                  <a:lnTo>
                    <a:pt x="0" y="412"/>
                  </a:lnTo>
                  <a:lnTo>
                    <a:pt x="63" y="412"/>
                  </a:lnTo>
                  <a:lnTo>
                    <a:pt x="63" y="31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3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" name="Freeform 11"/>
            <p:cNvSpPr>
              <a:spLocks noChangeArrowheads="1"/>
            </p:cNvSpPr>
            <p:nvPr/>
          </p:nvSpPr>
          <p:spPr bwMode="auto">
            <a:xfrm>
              <a:off x="1934" y="2135"/>
              <a:ext cx="93" cy="28"/>
            </a:xfrm>
            <a:custGeom>
              <a:avLst/>
              <a:gdLst>
                <a:gd name="T0" fmla="*/ 198 w 219"/>
                <a:gd name="T1" fmla="*/ 18 h 64"/>
                <a:gd name="T2" fmla="*/ 170 w 219"/>
                <a:gd name="T3" fmla="*/ 1 h 64"/>
                <a:gd name="T4" fmla="*/ 0 w 219"/>
                <a:gd name="T5" fmla="*/ 0 h 64"/>
                <a:gd name="T6" fmla="*/ 0 w 219"/>
                <a:gd name="T7" fmla="*/ 63 h 64"/>
                <a:gd name="T8" fmla="*/ 170 w 219"/>
                <a:gd name="T9" fmla="*/ 64 h 64"/>
                <a:gd name="T10" fmla="*/ 198 w 219"/>
                <a:gd name="T11" fmla="*/ 18 h 64"/>
                <a:gd name="T12" fmla="*/ 170 w 219"/>
                <a:gd name="T13" fmla="*/ 64 h 64"/>
                <a:gd name="T14" fmla="*/ 219 w 219"/>
                <a:gd name="T15" fmla="*/ 64 h 64"/>
                <a:gd name="T16" fmla="*/ 198 w 219"/>
                <a:gd name="T17" fmla="*/ 1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64">
                  <a:moveTo>
                    <a:pt x="198" y="18"/>
                  </a:moveTo>
                  <a:lnTo>
                    <a:pt x="170" y="1"/>
                  </a:lnTo>
                  <a:lnTo>
                    <a:pt x="0" y="0"/>
                  </a:lnTo>
                  <a:lnTo>
                    <a:pt x="0" y="63"/>
                  </a:lnTo>
                  <a:lnTo>
                    <a:pt x="170" y="64"/>
                  </a:lnTo>
                  <a:lnTo>
                    <a:pt x="198" y="18"/>
                  </a:lnTo>
                  <a:lnTo>
                    <a:pt x="170" y="64"/>
                  </a:lnTo>
                  <a:lnTo>
                    <a:pt x="219" y="64"/>
                  </a:lnTo>
                  <a:lnTo>
                    <a:pt x="198" y="18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" name="Rectangle 12"/>
            <p:cNvSpPr>
              <a:spLocks noChangeArrowheads="1"/>
            </p:cNvSpPr>
            <p:nvPr/>
          </p:nvSpPr>
          <p:spPr bwMode="auto">
            <a:xfrm>
              <a:off x="1406" y="2217"/>
              <a:ext cx="228" cy="1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" name="Rectangle 13"/>
            <p:cNvSpPr>
              <a:spLocks noChangeArrowheads="1"/>
            </p:cNvSpPr>
            <p:nvPr/>
          </p:nvSpPr>
          <p:spPr bwMode="auto">
            <a:xfrm>
              <a:off x="1662" y="2217"/>
              <a:ext cx="27" cy="1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" name="Rectangle 14"/>
            <p:cNvSpPr>
              <a:spLocks noChangeArrowheads="1"/>
            </p:cNvSpPr>
            <p:nvPr/>
          </p:nvSpPr>
          <p:spPr bwMode="auto">
            <a:xfrm>
              <a:off x="1717" y="2217"/>
              <a:ext cx="227" cy="1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" name="Rectangle 15"/>
            <p:cNvSpPr>
              <a:spLocks noChangeArrowheads="1"/>
            </p:cNvSpPr>
            <p:nvPr/>
          </p:nvSpPr>
          <p:spPr bwMode="auto">
            <a:xfrm>
              <a:off x="1971" y="2217"/>
              <a:ext cx="28" cy="1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" name="Rectangle 16"/>
            <p:cNvSpPr>
              <a:spLocks noChangeArrowheads="1"/>
            </p:cNvSpPr>
            <p:nvPr/>
          </p:nvSpPr>
          <p:spPr bwMode="auto">
            <a:xfrm>
              <a:off x="2026" y="2217"/>
              <a:ext cx="77" cy="1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" name="Rectangle 17"/>
            <p:cNvSpPr>
              <a:spLocks noChangeArrowheads="1"/>
            </p:cNvSpPr>
            <p:nvPr/>
          </p:nvSpPr>
          <p:spPr bwMode="auto">
            <a:xfrm>
              <a:off x="1758" y="2306"/>
              <a:ext cx="9" cy="23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" name="Rectangle 18"/>
            <p:cNvSpPr>
              <a:spLocks noChangeArrowheads="1"/>
            </p:cNvSpPr>
            <p:nvPr/>
          </p:nvSpPr>
          <p:spPr bwMode="auto">
            <a:xfrm>
              <a:off x="1758" y="2249"/>
              <a:ext cx="9" cy="2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" name="Rectangle 19"/>
            <p:cNvSpPr>
              <a:spLocks noChangeArrowheads="1"/>
            </p:cNvSpPr>
            <p:nvPr/>
          </p:nvSpPr>
          <p:spPr bwMode="auto">
            <a:xfrm>
              <a:off x="1758" y="1984"/>
              <a:ext cx="9" cy="23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" name="Rectangle 20"/>
            <p:cNvSpPr>
              <a:spLocks noChangeArrowheads="1"/>
            </p:cNvSpPr>
            <p:nvPr/>
          </p:nvSpPr>
          <p:spPr bwMode="auto">
            <a:xfrm>
              <a:off x="1758" y="1927"/>
              <a:ext cx="9" cy="2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" name="Rectangle 21"/>
            <p:cNvSpPr>
              <a:spLocks noChangeArrowheads="1"/>
            </p:cNvSpPr>
            <p:nvPr/>
          </p:nvSpPr>
          <p:spPr bwMode="auto">
            <a:xfrm>
              <a:off x="1758" y="1869"/>
              <a:ext cx="9" cy="31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" name="Line 22"/>
            <p:cNvSpPr>
              <a:spLocks noChangeShapeType="1"/>
            </p:cNvSpPr>
            <p:nvPr/>
          </p:nvSpPr>
          <p:spPr bwMode="auto">
            <a:xfrm flipH="1">
              <a:off x="1520" y="1975"/>
              <a:ext cx="182" cy="184"/>
            </a:xfrm>
            <a:prstGeom prst="line">
              <a:avLst/>
            </a:prstGeom>
            <a:noFill/>
            <a:ln w="1111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" name="Line 23"/>
            <p:cNvSpPr>
              <a:spLocks noChangeShapeType="1"/>
            </p:cNvSpPr>
            <p:nvPr/>
          </p:nvSpPr>
          <p:spPr bwMode="auto">
            <a:xfrm flipH="1">
              <a:off x="1504" y="1966"/>
              <a:ext cx="286" cy="291"/>
            </a:xfrm>
            <a:prstGeom prst="line">
              <a:avLst/>
            </a:prstGeom>
            <a:noFill/>
            <a:ln w="1111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" name="Line 24"/>
            <p:cNvSpPr>
              <a:spLocks noChangeShapeType="1"/>
            </p:cNvSpPr>
            <p:nvPr/>
          </p:nvSpPr>
          <p:spPr bwMode="auto">
            <a:xfrm flipH="1">
              <a:off x="1521" y="1987"/>
              <a:ext cx="324" cy="328"/>
            </a:xfrm>
            <a:prstGeom prst="line">
              <a:avLst/>
            </a:prstGeom>
            <a:noFill/>
            <a:ln w="1111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" name="Line 25"/>
            <p:cNvSpPr>
              <a:spLocks noChangeShapeType="1"/>
            </p:cNvSpPr>
            <p:nvPr/>
          </p:nvSpPr>
          <p:spPr bwMode="auto">
            <a:xfrm flipH="1">
              <a:off x="1557" y="2013"/>
              <a:ext cx="341" cy="348"/>
            </a:xfrm>
            <a:prstGeom prst="line">
              <a:avLst/>
            </a:prstGeom>
            <a:noFill/>
            <a:ln w="1111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" name="Line 26"/>
            <p:cNvSpPr>
              <a:spLocks noChangeShapeType="1"/>
            </p:cNvSpPr>
            <p:nvPr/>
          </p:nvSpPr>
          <p:spPr bwMode="auto">
            <a:xfrm flipH="1">
              <a:off x="1589" y="2045"/>
              <a:ext cx="353" cy="358"/>
            </a:xfrm>
            <a:prstGeom prst="line">
              <a:avLst/>
            </a:prstGeom>
            <a:noFill/>
            <a:ln w="1111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" name="Line 27"/>
            <p:cNvSpPr>
              <a:spLocks noChangeShapeType="1"/>
            </p:cNvSpPr>
            <p:nvPr/>
          </p:nvSpPr>
          <p:spPr bwMode="auto">
            <a:xfrm flipH="1">
              <a:off x="1634" y="2076"/>
              <a:ext cx="351" cy="357"/>
            </a:xfrm>
            <a:prstGeom prst="line">
              <a:avLst/>
            </a:prstGeom>
            <a:noFill/>
            <a:ln w="1111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" name="Line 28"/>
            <p:cNvSpPr>
              <a:spLocks noChangeShapeType="1"/>
            </p:cNvSpPr>
            <p:nvPr/>
          </p:nvSpPr>
          <p:spPr bwMode="auto">
            <a:xfrm flipH="1">
              <a:off x="1671" y="2204"/>
              <a:ext cx="263" cy="268"/>
            </a:xfrm>
            <a:prstGeom prst="line">
              <a:avLst/>
            </a:prstGeom>
            <a:noFill/>
            <a:ln w="1111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" name="Line 29"/>
            <p:cNvSpPr>
              <a:spLocks noChangeShapeType="1"/>
            </p:cNvSpPr>
            <p:nvPr/>
          </p:nvSpPr>
          <p:spPr bwMode="auto">
            <a:xfrm flipH="1">
              <a:off x="1744" y="2281"/>
              <a:ext cx="189" cy="191"/>
            </a:xfrm>
            <a:prstGeom prst="line">
              <a:avLst/>
            </a:prstGeom>
            <a:noFill/>
            <a:ln w="1111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" name="Line 30"/>
            <p:cNvSpPr>
              <a:spLocks noChangeShapeType="1"/>
            </p:cNvSpPr>
            <p:nvPr/>
          </p:nvSpPr>
          <p:spPr bwMode="auto">
            <a:xfrm flipH="1">
              <a:off x="1826" y="2331"/>
              <a:ext cx="138" cy="141"/>
            </a:xfrm>
            <a:prstGeom prst="line">
              <a:avLst/>
            </a:prstGeom>
            <a:noFill/>
            <a:ln w="1111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1" name="Group 31"/>
          <p:cNvGrpSpPr>
            <a:grpSpLocks/>
          </p:cNvGrpSpPr>
          <p:nvPr/>
        </p:nvGrpSpPr>
        <p:grpSpPr bwMode="auto">
          <a:xfrm>
            <a:off x="2923743" y="2444233"/>
            <a:ext cx="2197100" cy="819150"/>
            <a:chOff x="921" y="1170"/>
            <a:chExt cx="1384" cy="516"/>
          </a:xfrm>
        </p:grpSpPr>
        <p:sp>
          <p:nvSpPr>
            <p:cNvPr id="32" name="Line 32"/>
            <p:cNvSpPr>
              <a:spLocks noChangeShapeType="1"/>
            </p:cNvSpPr>
            <p:nvPr/>
          </p:nvSpPr>
          <p:spPr bwMode="auto">
            <a:xfrm>
              <a:off x="1102" y="1239"/>
              <a:ext cx="2" cy="1"/>
            </a:xfrm>
            <a:prstGeom prst="line">
              <a:avLst/>
            </a:prstGeom>
            <a:noFill/>
            <a:ln w="4763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" name="Line 33"/>
            <p:cNvSpPr>
              <a:spLocks noChangeShapeType="1"/>
            </p:cNvSpPr>
            <p:nvPr/>
          </p:nvSpPr>
          <p:spPr bwMode="auto">
            <a:xfrm>
              <a:off x="1161" y="1239"/>
              <a:ext cx="1" cy="1"/>
            </a:xfrm>
            <a:prstGeom prst="line">
              <a:avLst/>
            </a:prstGeom>
            <a:noFill/>
            <a:ln w="4763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" name="Freeform 34"/>
            <p:cNvSpPr>
              <a:spLocks noChangeArrowheads="1"/>
            </p:cNvSpPr>
            <p:nvPr/>
          </p:nvSpPr>
          <p:spPr bwMode="auto">
            <a:xfrm>
              <a:off x="955" y="1231"/>
              <a:ext cx="99" cy="96"/>
            </a:xfrm>
            <a:custGeom>
              <a:avLst/>
              <a:gdLst>
                <a:gd name="T0" fmla="*/ 0 w 231"/>
                <a:gd name="T1" fmla="*/ 199 h 221"/>
                <a:gd name="T2" fmla="*/ 54 w 231"/>
                <a:gd name="T3" fmla="*/ 221 h 221"/>
                <a:gd name="T4" fmla="*/ 231 w 231"/>
                <a:gd name="T5" fmla="*/ 45 h 221"/>
                <a:gd name="T6" fmla="*/ 187 w 231"/>
                <a:gd name="T7" fmla="*/ 0 h 221"/>
                <a:gd name="T8" fmla="*/ 10 w 231"/>
                <a:gd name="T9" fmla="*/ 177 h 221"/>
                <a:gd name="T10" fmla="*/ 0 w 231"/>
                <a:gd name="T11" fmla="*/ 199 h 221"/>
                <a:gd name="T12" fmla="*/ 10 w 231"/>
                <a:gd name="T13" fmla="*/ 177 h 221"/>
                <a:gd name="T14" fmla="*/ 0 w 231"/>
                <a:gd name="T15" fmla="*/ 186 h 221"/>
                <a:gd name="T16" fmla="*/ 0 w 231"/>
                <a:gd name="T17" fmla="*/ 199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1" h="221">
                  <a:moveTo>
                    <a:pt x="0" y="199"/>
                  </a:moveTo>
                  <a:lnTo>
                    <a:pt x="54" y="221"/>
                  </a:lnTo>
                  <a:lnTo>
                    <a:pt x="231" y="45"/>
                  </a:lnTo>
                  <a:lnTo>
                    <a:pt x="187" y="0"/>
                  </a:lnTo>
                  <a:lnTo>
                    <a:pt x="10" y="177"/>
                  </a:lnTo>
                  <a:lnTo>
                    <a:pt x="0" y="199"/>
                  </a:lnTo>
                  <a:lnTo>
                    <a:pt x="10" y="177"/>
                  </a:lnTo>
                  <a:lnTo>
                    <a:pt x="0" y="186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5" name="Freeform 35"/>
            <p:cNvSpPr>
              <a:spLocks noChangeArrowheads="1"/>
            </p:cNvSpPr>
            <p:nvPr/>
          </p:nvSpPr>
          <p:spPr bwMode="auto">
            <a:xfrm>
              <a:off x="955" y="1318"/>
              <a:ext cx="27" cy="231"/>
            </a:xfrm>
            <a:custGeom>
              <a:avLst/>
              <a:gdLst>
                <a:gd name="T0" fmla="*/ 12 w 63"/>
                <a:gd name="T1" fmla="*/ 521 h 521"/>
                <a:gd name="T2" fmla="*/ 63 w 63"/>
                <a:gd name="T3" fmla="*/ 497 h 521"/>
                <a:gd name="T4" fmla="*/ 63 w 63"/>
                <a:gd name="T5" fmla="*/ 0 h 521"/>
                <a:gd name="T6" fmla="*/ 0 w 63"/>
                <a:gd name="T7" fmla="*/ 0 h 521"/>
                <a:gd name="T8" fmla="*/ 0 w 63"/>
                <a:gd name="T9" fmla="*/ 497 h 521"/>
                <a:gd name="T10" fmla="*/ 12 w 63"/>
                <a:gd name="T11" fmla="*/ 521 h 521"/>
                <a:gd name="T12" fmla="*/ 0 w 63"/>
                <a:gd name="T13" fmla="*/ 497 h 521"/>
                <a:gd name="T14" fmla="*/ 0 w 63"/>
                <a:gd name="T15" fmla="*/ 511 h 521"/>
                <a:gd name="T16" fmla="*/ 12 w 63"/>
                <a:gd name="T17" fmla="*/ 521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521">
                  <a:moveTo>
                    <a:pt x="12" y="521"/>
                  </a:moveTo>
                  <a:lnTo>
                    <a:pt x="63" y="497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497"/>
                  </a:lnTo>
                  <a:lnTo>
                    <a:pt x="12" y="521"/>
                  </a:lnTo>
                  <a:lnTo>
                    <a:pt x="0" y="497"/>
                  </a:lnTo>
                  <a:lnTo>
                    <a:pt x="0" y="511"/>
                  </a:lnTo>
                  <a:lnTo>
                    <a:pt x="12" y="5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6" name="Freeform 36"/>
            <p:cNvSpPr>
              <a:spLocks noChangeArrowheads="1"/>
            </p:cNvSpPr>
            <p:nvPr/>
          </p:nvSpPr>
          <p:spPr bwMode="auto">
            <a:xfrm>
              <a:off x="961" y="1526"/>
              <a:ext cx="99" cy="97"/>
            </a:xfrm>
            <a:custGeom>
              <a:avLst/>
              <a:gdLst>
                <a:gd name="T0" fmla="*/ 212 w 233"/>
                <a:gd name="T1" fmla="*/ 217 h 217"/>
                <a:gd name="T2" fmla="*/ 233 w 233"/>
                <a:gd name="T3" fmla="*/ 161 h 217"/>
                <a:gd name="T4" fmla="*/ 40 w 233"/>
                <a:gd name="T5" fmla="*/ 0 h 217"/>
                <a:gd name="T6" fmla="*/ 0 w 233"/>
                <a:gd name="T7" fmla="*/ 49 h 217"/>
                <a:gd name="T8" fmla="*/ 193 w 233"/>
                <a:gd name="T9" fmla="*/ 210 h 217"/>
                <a:gd name="T10" fmla="*/ 212 w 233"/>
                <a:gd name="T11" fmla="*/ 217 h 217"/>
                <a:gd name="T12" fmla="*/ 193 w 233"/>
                <a:gd name="T13" fmla="*/ 210 h 217"/>
                <a:gd name="T14" fmla="*/ 201 w 233"/>
                <a:gd name="T15" fmla="*/ 217 h 217"/>
                <a:gd name="T16" fmla="*/ 212 w 233"/>
                <a:gd name="T17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3" h="217">
                  <a:moveTo>
                    <a:pt x="212" y="217"/>
                  </a:moveTo>
                  <a:lnTo>
                    <a:pt x="233" y="161"/>
                  </a:lnTo>
                  <a:lnTo>
                    <a:pt x="40" y="0"/>
                  </a:lnTo>
                  <a:lnTo>
                    <a:pt x="0" y="49"/>
                  </a:lnTo>
                  <a:lnTo>
                    <a:pt x="193" y="210"/>
                  </a:lnTo>
                  <a:lnTo>
                    <a:pt x="212" y="217"/>
                  </a:lnTo>
                  <a:lnTo>
                    <a:pt x="193" y="210"/>
                  </a:lnTo>
                  <a:lnTo>
                    <a:pt x="201" y="217"/>
                  </a:lnTo>
                  <a:lnTo>
                    <a:pt x="212" y="2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" name="Freeform 37"/>
            <p:cNvSpPr>
              <a:spLocks noChangeArrowheads="1"/>
            </p:cNvSpPr>
            <p:nvPr/>
          </p:nvSpPr>
          <p:spPr bwMode="auto">
            <a:xfrm>
              <a:off x="1051" y="1595"/>
              <a:ext cx="451" cy="29"/>
            </a:xfrm>
            <a:custGeom>
              <a:avLst/>
              <a:gdLst>
                <a:gd name="T0" fmla="*/ 1060 w 1060"/>
                <a:gd name="T1" fmla="*/ 36 h 68"/>
                <a:gd name="T2" fmla="*/ 1029 w 1060"/>
                <a:gd name="T3" fmla="*/ 5 h 68"/>
                <a:gd name="T4" fmla="*/ 1 w 1060"/>
                <a:gd name="T5" fmla="*/ 0 h 68"/>
                <a:gd name="T6" fmla="*/ 0 w 1060"/>
                <a:gd name="T7" fmla="*/ 63 h 68"/>
                <a:gd name="T8" fmla="*/ 1028 w 1060"/>
                <a:gd name="T9" fmla="*/ 68 h 68"/>
                <a:gd name="T10" fmla="*/ 1060 w 1060"/>
                <a:gd name="T11" fmla="*/ 36 h 68"/>
                <a:gd name="T12" fmla="*/ 1028 w 1060"/>
                <a:gd name="T13" fmla="*/ 68 h 68"/>
                <a:gd name="T14" fmla="*/ 1060 w 1060"/>
                <a:gd name="T15" fmla="*/ 68 h 68"/>
                <a:gd name="T16" fmla="*/ 1060 w 1060"/>
                <a:gd name="T17" fmla="*/ 3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0" h="68">
                  <a:moveTo>
                    <a:pt x="1060" y="36"/>
                  </a:moveTo>
                  <a:lnTo>
                    <a:pt x="1029" y="5"/>
                  </a:lnTo>
                  <a:lnTo>
                    <a:pt x="1" y="0"/>
                  </a:lnTo>
                  <a:lnTo>
                    <a:pt x="0" y="63"/>
                  </a:lnTo>
                  <a:lnTo>
                    <a:pt x="1028" y="68"/>
                  </a:lnTo>
                  <a:lnTo>
                    <a:pt x="1060" y="36"/>
                  </a:lnTo>
                  <a:lnTo>
                    <a:pt x="1028" y="68"/>
                  </a:lnTo>
                  <a:lnTo>
                    <a:pt x="1060" y="68"/>
                  </a:lnTo>
                  <a:lnTo>
                    <a:pt x="1060" y="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8" name="Freeform 38"/>
            <p:cNvSpPr>
              <a:spLocks noChangeArrowheads="1"/>
            </p:cNvSpPr>
            <p:nvPr/>
          </p:nvSpPr>
          <p:spPr bwMode="auto">
            <a:xfrm>
              <a:off x="1475" y="1219"/>
              <a:ext cx="27" cy="392"/>
            </a:xfrm>
            <a:custGeom>
              <a:avLst/>
              <a:gdLst>
                <a:gd name="T0" fmla="*/ 31 w 63"/>
                <a:gd name="T1" fmla="*/ 0 h 886"/>
                <a:gd name="T2" fmla="*/ 0 w 63"/>
                <a:gd name="T3" fmla="*/ 31 h 886"/>
                <a:gd name="T4" fmla="*/ 0 w 63"/>
                <a:gd name="T5" fmla="*/ 886 h 886"/>
                <a:gd name="T6" fmla="*/ 63 w 63"/>
                <a:gd name="T7" fmla="*/ 886 h 886"/>
                <a:gd name="T8" fmla="*/ 63 w 63"/>
                <a:gd name="T9" fmla="*/ 31 h 886"/>
                <a:gd name="T10" fmla="*/ 31 w 63"/>
                <a:gd name="T11" fmla="*/ 0 h 886"/>
                <a:gd name="T12" fmla="*/ 63 w 63"/>
                <a:gd name="T13" fmla="*/ 31 h 886"/>
                <a:gd name="T14" fmla="*/ 63 w 63"/>
                <a:gd name="T15" fmla="*/ 0 h 886"/>
                <a:gd name="T16" fmla="*/ 31 w 63"/>
                <a:gd name="T17" fmla="*/ 0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86">
                  <a:moveTo>
                    <a:pt x="31" y="0"/>
                  </a:moveTo>
                  <a:lnTo>
                    <a:pt x="0" y="31"/>
                  </a:lnTo>
                  <a:lnTo>
                    <a:pt x="0" y="886"/>
                  </a:lnTo>
                  <a:lnTo>
                    <a:pt x="63" y="886"/>
                  </a:lnTo>
                  <a:lnTo>
                    <a:pt x="63" y="31"/>
                  </a:lnTo>
                  <a:lnTo>
                    <a:pt x="31" y="0"/>
                  </a:lnTo>
                  <a:lnTo>
                    <a:pt x="63" y="31"/>
                  </a:lnTo>
                  <a:lnTo>
                    <a:pt x="63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9" name="Freeform 39"/>
            <p:cNvSpPr>
              <a:spLocks noChangeArrowheads="1"/>
            </p:cNvSpPr>
            <p:nvPr/>
          </p:nvSpPr>
          <p:spPr bwMode="auto">
            <a:xfrm>
              <a:off x="1036" y="1219"/>
              <a:ext cx="454" cy="35"/>
            </a:xfrm>
            <a:custGeom>
              <a:avLst/>
              <a:gdLst>
                <a:gd name="T0" fmla="*/ 0 w 1066"/>
                <a:gd name="T1" fmla="*/ 25 h 79"/>
                <a:gd name="T2" fmla="*/ 22 w 1066"/>
                <a:gd name="T3" fmla="*/ 79 h 79"/>
                <a:gd name="T4" fmla="*/ 1066 w 1066"/>
                <a:gd name="T5" fmla="*/ 63 h 79"/>
                <a:gd name="T6" fmla="*/ 1065 w 1066"/>
                <a:gd name="T7" fmla="*/ 0 h 79"/>
                <a:gd name="T8" fmla="*/ 21 w 1066"/>
                <a:gd name="T9" fmla="*/ 16 h 79"/>
                <a:gd name="T10" fmla="*/ 0 w 1066"/>
                <a:gd name="T11" fmla="*/ 25 h 79"/>
                <a:gd name="T12" fmla="*/ 21 w 1066"/>
                <a:gd name="T13" fmla="*/ 16 h 79"/>
                <a:gd name="T14" fmla="*/ 9 w 1066"/>
                <a:gd name="T15" fmla="*/ 16 h 79"/>
                <a:gd name="T16" fmla="*/ 0 w 1066"/>
                <a:gd name="T17" fmla="*/ 2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6" h="79">
                  <a:moveTo>
                    <a:pt x="0" y="25"/>
                  </a:moveTo>
                  <a:lnTo>
                    <a:pt x="22" y="79"/>
                  </a:lnTo>
                  <a:lnTo>
                    <a:pt x="1066" y="63"/>
                  </a:lnTo>
                  <a:lnTo>
                    <a:pt x="1065" y="0"/>
                  </a:lnTo>
                  <a:lnTo>
                    <a:pt x="21" y="16"/>
                  </a:lnTo>
                  <a:lnTo>
                    <a:pt x="0" y="25"/>
                  </a:lnTo>
                  <a:lnTo>
                    <a:pt x="21" y="16"/>
                  </a:lnTo>
                  <a:lnTo>
                    <a:pt x="9" y="16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0" name="Freeform 40"/>
            <p:cNvSpPr>
              <a:spLocks noChangeArrowheads="1"/>
            </p:cNvSpPr>
            <p:nvPr/>
          </p:nvSpPr>
          <p:spPr bwMode="auto">
            <a:xfrm>
              <a:off x="1024" y="1254"/>
              <a:ext cx="34" cy="348"/>
            </a:xfrm>
            <a:custGeom>
              <a:avLst/>
              <a:gdLst>
                <a:gd name="T0" fmla="*/ 79 w 79"/>
                <a:gd name="T1" fmla="*/ 785 h 787"/>
                <a:gd name="T2" fmla="*/ 63 w 79"/>
                <a:gd name="T3" fmla="*/ 0 h 787"/>
                <a:gd name="T4" fmla="*/ 0 w 79"/>
                <a:gd name="T5" fmla="*/ 1 h 787"/>
                <a:gd name="T6" fmla="*/ 16 w 79"/>
                <a:gd name="T7" fmla="*/ 787 h 787"/>
                <a:gd name="T8" fmla="*/ 79 w 79"/>
                <a:gd name="T9" fmla="*/ 785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87">
                  <a:moveTo>
                    <a:pt x="79" y="785"/>
                  </a:moveTo>
                  <a:lnTo>
                    <a:pt x="63" y="0"/>
                  </a:lnTo>
                  <a:lnTo>
                    <a:pt x="0" y="1"/>
                  </a:lnTo>
                  <a:lnTo>
                    <a:pt x="16" y="787"/>
                  </a:lnTo>
                  <a:lnTo>
                    <a:pt x="79" y="7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1" name="Freeform 41"/>
            <p:cNvSpPr>
              <a:spLocks noChangeArrowheads="1"/>
            </p:cNvSpPr>
            <p:nvPr/>
          </p:nvSpPr>
          <p:spPr bwMode="auto">
            <a:xfrm>
              <a:off x="1475" y="1176"/>
              <a:ext cx="27" cy="510"/>
            </a:xfrm>
            <a:custGeom>
              <a:avLst/>
              <a:gdLst>
                <a:gd name="T0" fmla="*/ 31 w 63"/>
                <a:gd name="T1" fmla="*/ 1154 h 1154"/>
                <a:gd name="T2" fmla="*/ 63 w 63"/>
                <a:gd name="T3" fmla="*/ 1122 h 1154"/>
                <a:gd name="T4" fmla="*/ 63 w 63"/>
                <a:gd name="T5" fmla="*/ 0 h 1154"/>
                <a:gd name="T6" fmla="*/ 0 w 63"/>
                <a:gd name="T7" fmla="*/ 0 h 1154"/>
                <a:gd name="T8" fmla="*/ 0 w 63"/>
                <a:gd name="T9" fmla="*/ 1122 h 1154"/>
                <a:gd name="T10" fmla="*/ 31 w 63"/>
                <a:gd name="T11" fmla="*/ 1154 h 1154"/>
                <a:gd name="T12" fmla="*/ 0 w 63"/>
                <a:gd name="T13" fmla="*/ 1122 h 1154"/>
                <a:gd name="T14" fmla="*/ 0 w 63"/>
                <a:gd name="T15" fmla="*/ 1154 h 1154"/>
                <a:gd name="T16" fmla="*/ 31 w 63"/>
                <a:gd name="T17" fmla="*/ 1154 h 1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1154">
                  <a:moveTo>
                    <a:pt x="31" y="1154"/>
                  </a:moveTo>
                  <a:lnTo>
                    <a:pt x="63" y="1122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1122"/>
                  </a:lnTo>
                  <a:lnTo>
                    <a:pt x="31" y="1154"/>
                  </a:lnTo>
                  <a:lnTo>
                    <a:pt x="0" y="1122"/>
                  </a:lnTo>
                  <a:lnTo>
                    <a:pt x="0" y="1154"/>
                  </a:lnTo>
                  <a:lnTo>
                    <a:pt x="31" y="11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2" name="Rectangle 42"/>
            <p:cNvSpPr>
              <a:spLocks noChangeArrowheads="1"/>
            </p:cNvSpPr>
            <p:nvPr/>
          </p:nvSpPr>
          <p:spPr bwMode="auto">
            <a:xfrm>
              <a:off x="1490" y="1658"/>
              <a:ext cx="689" cy="28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3" name="Freeform 43"/>
            <p:cNvSpPr>
              <a:spLocks noChangeArrowheads="1"/>
            </p:cNvSpPr>
            <p:nvPr/>
          </p:nvSpPr>
          <p:spPr bwMode="auto">
            <a:xfrm>
              <a:off x="2156" y="1183"/>
              <a:ext cx="52" cy="493"/>
            </a:xfrm>
            <a:custGeom>
              <a:avLst/>
              <a:gdLst>
                <a:gd name="T0" fmla="*/ 0 w 120"/>
                <a:gd name="T1" fmla="*/ 0 h 1115"/>
                <a:gd name="T2" fmla="*/ 5 w 120"/>
                <a:gd name="T3" fmla="*/ 9 h 1115"/>
                <a:gd name="T4" fmla="*/ 19 w 120"/>
                <a:gd name="T5" fmla="*/ 34 h 1115"/>
                <a:gd name="T6" fmla="*/ 38 w 120"/>
                <a:gd name="T7" fmla="*/ 72 h 1115"/>
                <a:gd name="T8" fmla="*/ 62 w 120"/>
                <a:gd name="T9" fmla="*/ 119 h 1115"/>
                <a:gd name="T10" fmla="*/ 73 w 120"/>
                <a:gd name="T11" fmla="*/ 146 h 1115"/>
                <a:gd name="T12" fmla="*/ 84 w 120"/>
                <a:gd name="T13" fmla="*/ 173 h 1115"/>
                <a:gd name="T14" fmla="*/ 94 w 120"/>
                <a:gd name="T15" fmla="*/ 203 h 1115"/>
                <a:gd name="T16" fmla="*/ 103 w 120"/>
                <a:gd name="T17" fmla="*/ 232 h 1115"/>
                <a:gd name="T18" fmla="*/ 110 w 120"/>
                <a:gd name="T19" fmla="*/ 261 h 1115"/>
                <a:gd name="T20" fmla="*/ 115 w 120"/>
                <a:gd name="T21" fmla="*/ 291 h 1115"/>
                <a:gd name="T22" fmla="*/ 118 w 120"/>
                <a:gd name="T23" fmla="*/ 305 h 1115"/>
                <a:gd name="T24" fmla="*/ 120 w 120"/>
                <a:gd name="T25" fmla="*/ 319 h 1115"/>
                <a:gd name="T26" fmla="*/ 120 w 120"/>
                <a:gd name="T27" fmla="*/ 334 h 1115"/>
                <a:gd name="T28" fmla="*/ 120 w 120"/>
                <a:gd name="T29" fmla="*/ 348 h 1115"/>
                <a:gd name="T30" fmla="*/ 118 w 120"/>
                <a:gd name="T31" fmla="*/ 375 h 1115"/>
                <a:gd name="T32" fmla="*/ 114 w 120"/>
                <a:gd name="T33" fmla="*/ 402 h 1115"/>
                <a:gd name="T34" fmla="*/ 109 w 120"/>
                <a:gd name="T35" fmla="*/ 428 h 1115"/>
                <a:gd name="T36" fmla="*/ 103 w 120"/>
                <a:gd name="T37" fmla="*/ 454 h 1115"/>
                <a:gd name="T38" fmla="*/ 97 w 120"/>
                <a:gd name="T39" fmla="*/ 480 h 1115"/>
                <a:gd name="T40" fmla="*/ 89 w 120"/>
                <a:gd name="T41" fmla="*/ 504 h 1115"/>
                <a:gd name="T42" fmla="*/ 81 w 120"/>
                <a:gd name="T43" fmla="*/ 529 h 1115"/>
                <a:gd name="T44" fmla="*/ 74 w 120"/>
                <a:gd name="T45" fmla="*/ 553 h 1115"/>
                <a:gd name="T46" fmla="*/ 58 w 120"/>
                <a:gd name="T47" fmla="*/ 601 h 1115"/>
                <a:gd name="T48" fmla="*/ 43 w 120"/>
                <a:gd name="T49" fmla="*/ 646 h 1115"/>
                <a:gd name="T50" fmla="*/ 37 w 120"/>
                <a:gd name="T51" fmla="*/ 669 h 1115"/>
                <a:gd name="T52" fmla="*/ 32 w 120"/>
                <a:gd name="T53" fmla="*/ 691 h 1115"/>
                <a:gd name="T54" fmla="*/ 29 w 120"/>
                <a:gd name="T55" fmla="*/ 712 h 1115"/>
                <a:gd name="T56" fmla="*/ 27 w 120"/>
                <a:gd name="T57" fmla="*/ 734 h 1115"/>
                <a:gd name="T58" fmla="*/ 25 w 120"/>
                <a:gd name="T59" fmla="*/ 781 h 1115"/>
                <a:gd name="T60" fmla="*/ 23 w 120"/>
                <a:gd name="T61" fmla="*/ 834 h 1115"/>
                <a:gd name="T62" fmla="*/ 22 w 120"/>
                <a:gd name="T63" fmla="*/ 891 h 1115"/>
                <a:gd name="T64" fmla="*/ 22 w 120"/>
                <a:gd name="T65" fmla="*/ 949 h 1115"/>
                <a:gd name="T66" fmla="*/ 22 w 120"/>
                <a:gd name="T67" fmla="*/ 976 h 1115"/>
                <a:gd name="T68" fmla="*/ 24 w 120"/>
                <a:gd name="T69" fmla="*/ 1003 h 1115"/>
                <a:gd name="T70" fmla="*/ 26 w 120"/>
                <a:gd name="T71" fmla="*/ 1027 h 1115"/>
                <a:gd name="T72" fmla="*/ 29 w 120"/>
                <a:gd name="T73" fmla="*/ 1051 h 1115"/>
                <a:gd name="T74" fmla="*/ 32 w 120"/>
                <a:gd name="T75" fmla="*/ 1071 h 1115"/>
                <a:gd name="T76" fmla="*/ 37 w 120"/>
                <a:gd name="T77" fmla="*/ 1089 h 1115"/>
                <a:gd name="T78" fmla="*/ 39 w 120"/>
                <a:gd name="T79" fmla="*/ 1096 h 1115"/>
                <a:gd name="T80" fmla="*/ 42 w 120"/>
                <a:gd name="T81" fmla="*/ 1103 h 1115"/>
                <a:gd name="T82" fmla="*/ 45 w 120"/>
                <a:gd name="T83" fmla="*/ 1110 h 1115"/>
                <a:gd name="T84" fmla="*/ 48 w 120"/>
                <a:gd name="T85" fmla="*/ 1115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0" h="1115">
                  <a:moveTo>
                    <a:pt x="0" y="0"/>
                  </a:moveTo>
                  <a:lnTo>
                    <a:pt x="5" y="9"/>
                  </a:lnTo>
                  <a:lnTo>
                    <a:pt x="19" y="34"/>
                  </a:lnTo>
                  <a:lnTo>
                    <a:pt x="38" y="72"/>
                  </a:lnTo>
                  <a:lnTo>
                    <a:pt x="62" y="119"/>
                  </a:lnTo>
                  <a:lnTo>
                    <a:pt x="73" y="146"/>
                  </a:lnTo>
                  <a:lnTo>
                    <a:pt x="84" y="173"/>
                  </a:lnTo>
                  <a:lnTo>
                    <a:pt x="94" y="203"/>
                  </a:lnTo>
                  <a:lnTo>
                    <a:pt x="103" y="232"/>
                  </a:lnTo>
                  <a:lnTo>
                    <a:pt x="110" y="261"/>
                  </a:lnTo>
                  <a:lnTo>
                    <a:pt x="115" y="291"/>
                  </a:lnTo>
                  <a:lnTo>
                    <a:pt x="118" y="305"/>
                  </a:lnTo>
                  <a:lnTo>
                    <a:pt x="120" y="319"/>
                  </a:lnTo>
                  <a:lnTo>
                    <a:pt x="120" y="334"/>
                  </a:lnTo>
                  <a:lnTo>
                    <a:pt x="120" y="348"/>
                  </a:lnTo>
                  <a:lnTo>
                    <a:pt x="118" y="375"/>
                  </a:lnTo>
                  <a:lnTo>
                    <a:pt x="114" y="402"/>
                  </a:lnTo>
                  <a:lnTo>
                    <a:pt x="109" y="428"/>
                  </a:lnTo>
                  <a:lnTo>
                    <a:pt x="103" y="454"/>
                  </a:lnTo>
                  <a:lnTo>
                    <a:pt x="97" y="480"/>
                  </a:lnTo>
                  <a:lnTo>
                    <a:pt x="89" y="504"/>
                  </a:lnTo>
                  <a:lnTo>
                    <a:pt x="81" y="529"/>
                  </a:lnTo>
                  <a:lnTo>
                    <a:pt x="74" y="553"/>
                  </a:lnTo>
                  <a:lnTo>
                    <a:pt x="58" y="601"/>
                  </a:lnTo>
                  <a:lnTo>
                    <a:pt x="43" y="646"/>
                  </a:lnTo>
                  <a:lnTo>
                    <a:pt x="37" y="669"/>
                  </a:lnTo>
                  <a:lnTo>
                    <a:pt x="32" y="691"/>
                  </a:lnTo>
                  <a:lnTo>
                    <a:pt x="29" y="712"/>
                  </a:lnTo>
                  <a:lnTo>
                    <a:pt x="27" y="734"/>
                  </a:lnTo>
                  <a:lnTo>
                    <a:pt x="25" y="781"/>
                  </a:lnTo>
                  <a:lnTo>
                    <a:pt x="23" y="834"/>
                  </a:lnTo>
                  <a:lnTo>
                    <a:pt x="22" y="891"/>
                  </a:lnTo>
                  <a:lnTo>
                    <a:pt x="22" y="949"/>
                  </a:lnTo>
                  <a:lnTo>
                    <a:pt x="22" y="976"/>
                  </a:lnTo>
                  <a:lnTo>
                    <a:pt x="24" y="1003"/>
                  </a:lnTo>
                  <a:lnTo>
                    <a:pt x="26" y="1027"/>
                  </a:lnTo>
                  <a:lnTo>
                    <a:pt x="29" y="1051"/>
                  </a:lnTo>
                  <a:lnTo>
                    <a:pt x="32" y="1071"/>
                  </a:lnTo>
                  <a:lnTo>
                    <a:pt x="37" y="1089"/>
                  </a:lnTo>
                  <a:lnTo>
                    <a:pt x="39" y="1096"/>
                  </a:lnTo>
                  <a:lnTo>
                    <a:pt x="42" y="1103"/>
                  </a:lnTo>
                  <a:lnTo>
                    <a:pt x="45" y="1110"/>
                  </a:lnTo>
                  <a:lnTo>
                    <a:pt x="48" y="1115"/>
                  </a:lnTo>
                </a:path>
              </a:pathLst>
            </a:custGeom>
            <a:noFill/>
            <a:ln w="11113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4" name="Rectangle 44"/>
            <p:cNvSpPr>
              <a:spLocks noChangeArrowheads="1"/>
            </p:cNvSpPr>
            <p:nvPr/>
          </p:nvSpPr>
          <p:spPr bwMode="auto">
            <a:xfrm>
              <a:off x="1490" y="1170"/>
              <a:ext cx="666" cy="28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5" name="Freeform 45"/>
            <p:cNvSpPr>
              <a:spLocks noChangeArrowheads="1"/>
            </p:cNvSpPr>
            <p:nvPr/>
          </p:nvSpPr>
          <p:spPr bwMode="auto">
            <a:xfrm>
              <a:off x="1685" y="1335"/>
              <a:ext cx="318" cy="31"/>
            </a:xfrm>
            <a:custGeom>
              <a:avLst/>
              <a:gdLst>
                <a:gd name="T0" fmla="*/ 746 w 746"/>
                <a:gd name="T1" fmla="*/ 7 h 68"/>
                <a:gd name="T2" fmla="*/ 735 w 746"/>
                <a:gd name="T3" fmla="*/ 5 h 68"/>
                <a:gd name="T4" fmla="*/ 1 w 746"/>
                <a:gd name="T5" fmla="*/ 0 h 68"/>
                <a:gd name="T6" fmla="*/ 0 w 746"/>
                <a:gd name="T7" fmla="*/ 63 h 68"/>
                <a:gd name="T8" fmla="*/ 735 w 746"/>
                <a:gd name="T9" fmla="*/ 68 h 68"/>
                <a:gd name="T10" fmla="*/ 746 w 746"/>
                <a:gd name="T11" fmla="*/ 7 h 68"/>
                <a:gd name="T12" fmla="*/ 746 w 746"/>
                <a:gd name="T13" fmla="*/ 7 h 68"/>
                <a:gd name="T14" fmla="*/ 740 w 746"/>
                <a:gd name="T15" fmla="*/ 5 h 68"/>
                <a:gd name="T16" fmla="*/ 735 w 746"/>
                <a:gd name="T17" fmla="*/ 5 h 68"/>
                <a:gd name="T18" fmla="*/ 746 w 746"/>
                <a:gd name="T19" fmla="*/ 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6" h="68">
                  <a:moveTo>
                    <a:pt x="746" y="7"/>
                  </a:moveTo>
                  <a:lnTo>
                    <a:pt x="735" y="5"/>
                  </a:lnTo>
                  <a:lnTo>
                    <a:pt x="1" y="0"/>
                  </a:lnTo>
                  <a:lnTo>
                    <a:pt x="0" y="63"/>
                  </a:lnTo>
                  <a:lnTo>
                    <a:pt x="735" y="68"/>
                  </a:lnTo>
                  <a:lnTo>
                    <a:pt x="746" y="7"/>
                  </a:lnTo>
                  <a:lnTo>
                    <a:pt x="740" y="5"/>
                  </a:lnTo>
                  <a:lnTo>
                    <a:pt x="735" y="5"/>
                  </a:lnTo>
                  <a:lnTo>
                    <a:pt x="746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6" name="Freeform 46"/>
            <p:cNvSpPr>
              <a:spLocks noChangeArrowheads="1"/>
            </p:cNvSpPr>
            <p:nvPr/>
          </p:nvSpPr>
          <p:spPr bwMode="auto">
            <a:xfrm>
              <a:off x="1994" y="1338"/>
              <a:ext cx="78" cy="93"/>
            </a:xfrm>
            <a:custGeom>
              <a:avLst/>
              <a:gdLst>
                <a:gd name="T0" fmla="*/ 182 w 182"/>
                <a:gd name="T1" fmla="*/ 199 h 208"/>
                <a:gd name="T2" fmla="*/ 182 w 182"/>
                <a:gd name="T3" fmla="*/ 199 h 208"/>
                <a:gd name="T4" fmla="*/ 179 w 182"/>
                <a:gd name="T5" fmla="*/ 185 h 208"/>
                <a:gd name="T6" fmla="*/ 176 w 182"/>
                <a:gd name="T7" fmla="*/ 171 h 208"/>
                <a:gd name="T8" fmla="*/ 172 w 182"/>
                <a:gd name="T9" fmla="*/ 158 h 208"/>
                <a:gd name="T10" fmla="*/ 168 w 182"/>
                <a:gd name="T11" fmla="*/ 146 h 208"/>
                <a:gd name="T12" fmla="*/ 163 w 182"/>
                <a:gd name="T13" fmla="*/ 134 h 208"/>
                <a:gd name="T14" fmla="*/ 158 w 182"/>
                <a:gd name="T15" fmla="*/ 123 h 208"/>
                <a:gd name="T16" fmla="*/ 153 w 182"/>
                <a:gd name="T17" fmla="*/ 113 h 208"/>
                <a:gd name="T18" fmla="*/ 146 w 182"/>
                <a:gd name="T19" fmla="*/ 101 h 208"/>
                <a:gd name="T20" fmla="*/ 133 w 182"/>
                <a:gd name="T21" fmla="*/ 84 h 208"/>
                <a:gd name="T22" fmla="*/ 120 w 182"/>
                <a:gd name="T23" fmla="*/ 68 h 208"/>
                <a:gd name="T24" fmla="*/ 106 w 182"/>
                <a:gd name="T25" fmla="*/ 54 h 208"/>
                <a:gd name="T26" fmla="*/ 92 w 182"/>
                <a:gd name="T27" fmla="*/ 41 h 208"/>
                <a:gd name="T28" fmla="*/ 79 w 182"/>
                <a:gd name="T29" fmla="*/ 31 h 208"/>
                <a:gd name="T30" fmla="*/ 65 w 182"/>
                <a:gd name="T31" fmla="*/ 22 h 208"/>
                <a:gd name="T32" fmla="*/ 53 w 182"/>
                <a:gd name="T33" fmla="*/ 15 h 208"/>
                <a:gd name="T34" fmla="*/ 42 w 182"/>
                <a:gd name="T35" fmla="*/ 9 h 208"/>
                <a:gd name="T36" fmla="*/ 27 w 182"/>
                <a:gd name="T37" fmla="*/ 3 h 208"/>
                <a:gd name="T38" fmla="*/ 20 w 182"/>
                <a:gd name="T39" fmla="*/ 0 h 208"/>
                <a:gd name="T40" fmla="*/ 0 w 182"/>
                <a:gd name="T41" fmla="*/ 60 h 208"/>
                <a:gd name="T42" fmla="*/ 2 w 182"/>
                <a:gd name="T43" fmla="*/ 61 h 208"/>
                <a:gd name="T44" fmla="*/ 15 w 182"/>
                <a:gd name="T45" fmla="*/ 66 h 208"/>
                <a:gd name="T46" fmla="*/ 23 w 182"/>
                <a:gd name="T47" fmla="*/ 70 h 208"/>
                <a:gd name="T48" fmla="*/ 32 w 182"/>
                <a:gd name="T49" fmla="*/ 75 h 208"/>
                <a:gd name="T50" fmla="*/ 42 w 182"/>
                <a:gd name="T51" fmla="*/ 82 h 208"/>
                <a:gd name="T52" fmla="*/ 52 w 182"/>
                <a:gd name="T53" fmla="*/ 90 h 208"/>
                <a:gd name="T54" fmla="*/ 63 w 182"/>
                <a:gd name="T55" fmla="*/ 99 h 208"/>
                <a:gd name="T56" fmla="*/ 73 w 182"/>
                <a:gd name="T57" fmla="*/ 110 h 208"/>
                <a:gd name="T58" fmla="*/ 84 w 182"/>
                <a:gd name="T59" fmla="*/ 122 h 208"/>
                <a:gd name="T60" fmla="*/ 94 w 182"/>
                <a:gd name="T61" fmla="*/ 136 h 208"/>
                <a:gd name="T62" fmla="*/ 98 w 182"/>
                <a:gd name="T63" fmla="*/ 143 h 208"/>
                <a:gd name="T64" fmla="*/ 102 w 182"/>
                <a:gd name="T65" fmla="*/ 151 h 208"/>
                <a:gd name="T66" fmla="*/ 106 w 182"/>
                <a:gd name="T67" fmla="*/ 159 h 208"/>
                <a:gd name="T68" fmla="*/ 109 w 182"/>
                <a:gd name="T69" fmla="*/ 168 h 208"/>
                <a:gd name="T70" fmla="*/ 113 w 182"/>
                <a:gd name="T71" fmla="*/ 178 h 208"/>
                <a:gd name="T72" fmla="*/ 115 w 182"/>
                <a:gd name="T73" fmla="*/ 188 h 208"/>
                <a:gd name="T74" fmla="*/ 118 w 182"/>
                <a:gd name="T75" fmla="*/ 198 h 208"/>
                <a:gd name="T76" fmla="*/ 120 w 182"/>
                <a:gd name="T77" fmla="*/ 208 h 208"/>
                <a:gd name="T78" fmla="*/ 120 w 182"/>
                <a:gd name="T79" fmla="*/ 208 h 208"/>
                <a:gd name="T80" fmla="*/ 182 w 182"/>
                <a:gd name="T81" fmla="*/ 199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2" h="208">
                  <a:moveTo>
                    <a:pt x="182" y="199"/>
                  </a:moveTo>
                  <a:lnTo>
                    <a:pt x="182" y="199"/>
                  </a:lnTo>
                  <a:lnTo>
                    <a:pt x="179" y="185"/>
                  </a:lnTo>
                  <a:lnTo>
                    <a:pt x="176" y="171"/>
                  </a:lnTo>
                  <a:lnTo>
                    <a:pt x="172" y="158"/>
                  </a:lnTo>
                  <a:lnTo>
                    <a:pt x="168" y="146"/>
                  </a:lnTo>
                  <a:lnTo>
                    <a:pt x="163" y="134"/>
                  </a:lnTo>
                  <a:lnTo>
                    <a:pt x="158" y="123"/>
                  </a:lnTo>
                  <a:lnTo>
                    <a:pt x="153" y="113"/>
                  </a:lnTo>
                  <a:lnTo>
                    <a:pt x="146" y="101"/>
                  </a:lnTo>
                  <a:lnTo>
                    <a:pt x="133" y="84"/>
                  </a:lnTo>
                  <a:lnTo>
                    <a:pt x="120" y="68"/>
                  </a:lnTo>
                  <a:lnTo>
                    <a:pt x="106" y="54"/>
                  </a:lnTo>
                  <a:lnTo>
                    <a:pt x="92" y="41"/>
                  </a:lnTo>
                  <a:lnTo>
                    <a:pt x="79" y="31"/>
                  </a:lnTo>
                  <a:lnTo>
                    <a:pt x="65" y="22"/>
                  </a:lnTo>
                  <a:lnTo>
                    <a:pt x="53" y="15"/>
                  </a:lnTo>
                  <a:lnTo>
                    <a:pt x="42" y="9"/>
                  </a:lnTo>
                  <a:lnTo>
                    <a:pt x="27" y="3"/>
                  </a:lnTo>
                  <a:lnTo>
                    <a:pt x="20" y="0"/>
                  </a:lnTo>
                  <a:lnTo>
                    <a:pt x="0" y="60"/>
                  </a:lnTo>
                  <a:lnTo>
                    <a:pt x="2" y="61"/>
                  </a:lnTo>
                  <a:lnTo>
                    <a:pt x="15" y="66"/>
                  </a:lnTo>
                  <a:lnTo>
                    <a:pt x="23" y="70"/>
                  </a:lnTo>
                  <a:lnTo>
                    <a:pt x="32" y="75"/>
                  </a:lnTo>
                  <a:lnTo>
                    <a:pt x="42" y="82"/>
                  </a:lnTo>
                  <a:lnTo>
                    <a:pt x="52" y="90"/>
                  </a:lnTo>
                  <a:lnTo>
                    <a:pt x="63" y="99"/>
                  </a:lnTo>
                  <a:lnTo>
                    <a:pt x="73" y="110"/>
                  </a:lnTo>
                  <a:lnTo>
                    <a:pt x="84" y="122"/>
                  </a:lnTo>
                  <a:lnTo>
                    <a:pt x="94" y="136"/>
                  </a:lnTo>
                  <a:lnTo>
                    <a:pt x="98" y="143"/>
                  </a:lnTo>
                  <a:lnTo>
                    <a:pt x="102" y="151"/>
                  </a:lnTo>
                  <a:lnTo>
                    <a:pt x="106" y="159"/>
                  </a:lnTo>
                  <a:lnTo>
                    <a:pt x="109" y="168"/>
                  </a:lnTo>
                  <a:lnTo>
                    <a:pt x="113" y="178"/>
                  </a:lnTo>
                  <a:lnTo>
                    <a:pt x="115" y="188"/>
                  </a:lnTo>
                  <a:lnTo>
                    <a:pt x="118" y="198"/>
                  </a:lnTo>
                  <a:lnTo>
                    <a:pt x="120" y="208"/>
                  </a:lnTo>
                  <a:lnTo>
                    <a:pt x="182" y="19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7" name="Freeform 47"/>
            <p:cNvSpPr>
              <a:spLocks noChangeArrowheads="1"/>
            </p:cNvSpPr>
            <p:nvPr/>
          </p:nvSpPr>
          <p:spPr bwMode="auto">
            <a:xfrm>
              <a:off x="2003" y="1427"/>
              <a:ext cx="70" cy="114"/>
            </a:xfrm>
            <a:custGeom>
              <a:avLst/>
              <a:gdLst>
                <a:gd name="T0" fmla="*/ 13 w 167"/>
                <a:gd name="T1" fmla="*/ 259 h 259"/>
                <a:gd name="T2" fmla="*/ 25 w 167"/>
                <a:gd name="T3" fmla="*/ 256 h 259"/>
                <a:gd name="T4" fmla="*/ 38 w 167"/>
                <a:gd name="T5" fmla="*/ 250 h 259"/>
                <a:gd name="T6" fmla="*/ 51 w 167"/>
                <a:gd name="T7" fmla="*/ 243 h 259"/>
                <a:gd name="T8" fmla="*/ 65 w 167"/>
                <a:gd name="T9" fmla="*/ 235 h 259"/>
                <a:gd name="T10" fmla="*/ 78 w 167"/>
                <a:gd name="T11" fmla="*/ 225 h 259"/>
                <a:gd name="T12" fmla="*/ 91 w 167"/>
                <a:gd name="T13" fmla="*/ 215 h 259"/>
                <a:gd name="T14" fmla="*/ 104 w 167"/>
                <a:gd name="T15" fmla="*/ 203 h 259"/>
                <a:gd name="T16" fmla="*/ 116 w 167"/>
                <a:gd name="T17" fmla="*/ 190 h 259"/>
                <a:gd name="T18" fmla="*/ 129 w 167"/>
                <a:gd name="T19" fmla="*/ 175 h 259"/>
                <a:gd name="T20" fmla="*/ 139 w 167"/>
                <a:gd name="T21" fmla="*/ 158 h 259"/>
                <a:gd name="T22" fmla="*/ 148 w 167"/>
                <a:gd name="T23" fmla="*/ 140 h 259"/>
                <a:gd name="T24" fmla="*/ 156 w 167"/>
                <a:gd name="T25" fmla="*/ 121 h 259"/>
                <a:gd name="T26" fmla="*/ 162 w 167"/>
                <a:gd name="T27" fmla="*/ 99 h 259"/>
                <a:gd name="T28" fmla="*/ 165 w 167"/>
                <a:gd name="T29" fmla="*/ 77 h 259"/>
                <a:gd name="T30" fmla="*/ 167 w 167"/>
                <a:gd name="T31" fmla="*/ 54 h 259"/>
                <a:gd name="T32" fmla="*/ 167 w 167"/>
                <a:gd name="T33" fmla="*/ 40 h 259"/>
                <a:gd name="T34" fmla="*/ 166 w 167"/>
                <a:gd name="T35" fmla="*/ 27 h 259"/>
                <a:gd name="T36" fmla="*/ 165 w 167"/>
                <a:gd name="T37" fmla="*/ 13 h 259"/>
                <a:gd name="T38" fmla="*/ 163 w 167"/>
                <a:gd name="T39" fmla="*/ 0 h 259"/>
                <a:gd name="T40" fmla="*/ 101 w 167"/>
                <a:gd name="T41" fmla="*/ 9 h 259"/>
                <a:gd name="T42" fmla="*/ 102 w 167"/>
                <a:gd name="T43" fmla="*/ 20 h 259"/>
                <a:gd name="T44" fmla="*/ 103 w 167"/>
                <a:gd name="T45" fmla="*/ 31 h 259"/>
                <a:gd name="T46" fmla="*/ 104 w 167"/>
                <a:gd name="T47" fmla="*/ 42 h 259"/>
                <a:gd name="T48" fmla="*/ 104 w 167"/>
                <a:gd name="T49" fmla="*/ 51 h 259"/>
                <a:gd name="T50" fmla="*/ 103 w 167"/>
                <a:gd name="T51" fmla="*/ 70 h 259"/>
                <a:gd name="T52" fmla="*/ 100 w 167"/>
                <a:gd name="T53" fmla="*/ 86 h 259"/>
                <a:gd name="T54" fmla="*/ 96 w 167"/>
                <a:gd name="T55" fmla="*/ 101 h 259"/>
                <a:gd name="T56" fmla="*/ 91 w 167"/>
                <a:gd name="T57" fmla="*/ 115 h 259"/>
                <a:gd name="T58" fmla="*/ 85 w 167"/>
                <a:gd name="T59" fmla="*/ 127 h 259"/>
                <a:gd name="T60" fmla="*/ 77 w 167"/>
                <a:gd name="T61" fmla="*/ 139 h 259"/>
                <a:gd name="T62" fmla="*/ 69 w 167"/>
                <a:gd name="T63" fmla="*/ 149 h 259"/>
                <a:gd name="T64" fmla="*/ 61 w 167"/>
                <a:gd name="T65" fmla="*/ 158 h 259"/>
                <a:gd name="T66" fmla="*/ 50 w 167"/>
                <a:gd name="T67" fmla="*/ 167 h 259"/>
                <a:gd name="T68" fmla="*/ 40 w 167"/>
                <a:gd name="T69" fmla="*/ 175 h 259"/>
                <a:gd name="T70" fmla="*/ 30 w 167"/>
                <a:gd name="T71" fmla="*/ 182 h 259"/>
                <a:gd name="T72" fmla="*/ 20 w 167"/>
                <a:gd name="T73" fmla="*/ 189 h 259"/>
                <a:gd name="T74" fmla="*/ 10 w 167"/>
                <a:gd name="T75" fmla="*/ 194 h 259"/>
                <a:gd name="T76" fmla="*/ 0 w 167"/>
                <a:gd name="T77" fmla="*/ 199 h 259"/>
                <a:gd name="T78" fmla="*/ 13 w 167"/>
                <a:gd name="T79" fmla="*/ 196 h 259"/>
                <a:gd name="T80" fmla="*/ 13 w 167"/>
                <a:gd name="T81" fmla="*/ 259 h 259"/>
                <a:gd name="T82" fmla="*/ 19 w 167"/>
                <a:gd name="T83" fmla="*/ 259 h 259"/>
                <a:gd name="T84" fmla="*/ 25 w 167"/>
                <a:gd name="T85" fmla="*/ 256 h 259"/>
                <a:gd name="T86" fmla="*/ 13 w 167"/>
                <a:gd name="T87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67" h="259">
                  <a:moveTo>
                    <a:pt x="13" y="259"/>
                  </a:moveTo>
                  <a:lnTo>
                    <a:pt x="25" y="256"/>
                  </a:lnTo>
                  <a:lnTo>
                    <a:pt x="38" y="250"/>
                  </a:lnTo>
                  <a:lnTo>
                    <a:pt x="51" y="243"/>
                  </a:lnTo>
                  <a:lnTo>
                    <a:pt x="65" y="235"/>
                  </a:lnTo>
                  <a:lnTo>
                    <a:pt x="78" y="225"/>
                  </a:lnTo>
                  <a:lnTo>
                    <a:pt x="91" y="215"/>
                  </a:lnTo>
                  <a:lnTo>
                    <a:pt x="104" y="203"/>
                  </a:lnTo>
                  <a:lnTo>
                    <a:pt x="116" y="190"/>
                  </a:lnTo>
                  <a:lnTo>
                    <a:pt x="129" y="175"/>
                  </a:lnTo>
                  <a:lnTo>
                    <a:pt x="139" y="158"/>
                  </a:lnTo>
                  <a:lnTo>
                    <a:pt x="148" y="140"/>
                  </a:lnTo>
                  <a:lnTo>
                    <a:pt x="156" y="121"/>
                  </a:lnTo>
                  <a:lnTo>
                    <a:pt x="162" y="99"/>
                  </a:lnTo>
                  <a:lnTo>
                    <a:pt x="165" y="77"/>
                  </a:lnTo>
                  <a:lnTo>
                    <a:pt x="167" y="54"/>
                  </a:lnTo>
                  <a:lnTo>
                    <a:pt x="167" y="40"/>
                  </a:lnTo>
                  <a:lnTo>
                    <a:pt x="166" y="27"/>
                  </a:lnTo>
                  <a:lnTo>
                    <a:pt x="165" y="13"/>
                  </a:lnTo>
                  <a:lnTo>
                    <a:pt x="163" y="0"/>
                  </a:lnTo>
                  <a:lnTo>
                    <a:pt x="101" y="9"/>
                  </a:lnTo>
                  <a:lnTo>
                    <a:pt x="102" y="20"/>
                  </a:lnTo>
                  <a:lnTo>
                    <a:pt x="103" y="31"/>
                  </a:lnTo>
                  <a:lnTo>
                    <a:pt x="104" y="42"/>
                  </a:lnTo>
                  <a:lnTo>
                    <a:pt x="104" y="51"/>
                  </a:lnTo>
                  <a:lnTo>
                    <a:pt x="103" y="70"/>
                  </a:lnTo>
                  <a:lnTo>
                    <a:pt x="100" y="86"/>
                  </a:lnTo>
                  <a:lnTo>
                    <a:pt x="96" y="101"/>
                  </a:lnTo>
                  <a:lnTo>
                    <a:pt x="91" y="115"/>
                  </a:lnTo>
                  <a:lnTo>
                    <a:pt x="85" y="127"/>
                  </a:lnTo>
                  <a:lnTo>
                    <a:pt x="77" y="139"/>
                  </a:lnTo>
                  <a:lnTo>
                    <a:pt x="69" y="149"/>
                  </a:lnTo>
                  <a:lnTo>
                    <a:pt x="61" y="158"/>
                  </a:lnTo>
                  <a:lnTo>
                    <a:pt x="50" y="167"/>
                  </a:lnTo>
                  <a:lnTo>
                    <a:pt x="40" y="175"/>
                  </a:lnTo>
                  <a:lnTo>
                    <a:pt x="30" y="182"/>
                  </a:lnTo>
                  <a:lnTo>
                    <a:pt x="20" y="189"/>
                  </a:lnTo>
                  <a:lnTo>
                    <a:pt x="10" y="194"/>
                  </a:lnTo>
                  <a:lnTo>
                    <a:pt x="0" y="199"/>
                  </a:lnTo>
                  <a:lnTo>
                    <a:pt x="13" y="196"/>
                  </a:lnTo>
                  <a:lnTo>
                    <a:pt x="13" y="259"/>
                  </a:lnTo>
                  <a:lnTo>
                    <a:pt x="19" y="259"/>
                  </a:lnTo>
                  <a:lnTo>
                    <a:pt x="25" y="256"/>
                  </a:lnTo>
                  <a:lnTo>
                    <a:pt x="13" y="2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8" name="Freeform 48"/>
            <p:cNvSpPr>
              <a:spLocks noChangeArrowheads="1"/>
            </p:cNvSpPr>
            <p:nvPr/>
          </p:nvSpPr>
          <p:spPr bwMode="auto">
            <a:xfrm>
              <a:off x="1675" y="1510"/>
              <a:ext cx="333" cy="31"/>
            </a:xfrm>
            <a:custGeom>
              <a:avLst/>
              <a:gdLst>
                <a:gd name="T0" fmla="*/ 0 w 784"/>
                <a:gd name="T1" fmla="*/ 62 h 68"/>
                <a:gd name="T2" fmla="*/ 5 w 784"/>
                <a:gd name="T3" fmla="*/ 63 h 68"/>
                <a:gd name="T4" fmla="*/ 784 w 784"/>
                <a:gd name="T5" fmla="*/ 68 h 68"/>
                <a:gd name="T6" fmla="*/ 784 w 784"/>
                <a:gd name="T7" fmla="*/ 5 h 68"/>
                <a:gd name="T8" fmla="*/ 5 w 784"/>
                <a:gd name="T9" fmla="*/ 0 h 68"/>
                <a:gd name="T10" fmla="*/ 0 w 784"/>
                <a:gd name="T11" fmla="*/ 62 h 68"/>
                <a:gd name="T12" fmla="*/ 0 w 784"/>
                <a:gd name="T13" fmla="*/ 62 h 68"/>
                <a:gd name="T14" fmla="*/ 2 w 784"/>
                <a:gd name="T15" fmla="*/ 63 h 68"/>
                <a:gd name="T16" fmla="*/ 5 w 784"/>
                <a:gd name="T17" fmla="*/ 63 h 68"/>
                <a:gd name="T18" fmla="*/ 0 w 784"/>
                <a:gd name="T19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4" h="68">
                  <a:moveTo>
                    <a:pt x="0" y="62"/>
                  </a:moveTo>
                  <a:lnTo>
                    <a:pt x="5" y="63"/>
                  </a:lnTo>
                  <a:lnTo>
                    <a:pt x="784" y="68"/>
                  </a:lnTo>
                  <a:lnTo>
                    <a:pt x="784" y="5"/>
                  </a:lnTo>
                  <a:lnTo>
                    <a:pt x="5" y="0"/>
                  </a:lnTo>
                  <a:lnTo>
                    <a:pt x="0" y="62"/>
                  </a:lnTo>
                  <a:lnTo>
                    <a:pt x="2" y="63"/>
                  </a:lnTo>
                  <a:lnTo>
                    <a:pt x="5" y="63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49" name="Freeform 49"/>
            <p:cNvSpPr>
              <a:spLocks noChangeArrowheads="1"/>
            </p:cNvSpPr>
            <p:nvPr/>
          </p:nvSpPr>
          <p:spPr bwMode="auto">
            <a:xfrm>
              <a:off x="1575" y="1431"/>
              <a:ext cx="104" cy="107"/>
            </a:xfrm>
            <a:custGeom>
              <a:avLst/>
              <a:gdLst>
                <a:gd name="T0" fmla="*/ 0 w 243"/>
                <a:gd name="T1" fmla="*/ 0 h 242"/>
                <a:gd name="T2" fmla="*/ 0 w 243"/>
                <a:gd name="T3" fmla="*/ 6 h 242"/>
                <a:gd name="T4" fmla="*/ 1 w 243"/>
                <a:gd name="T5" fmla="*/ 23 h 242"/>
                <a:gd name="T6" fmla="*/ 3 w 243"/>
                <a:gd name="T7" fmla="*/ 39 h 242"/>
                <a:gd name="T8" fmla="*/ 5 w 243"/>
                <a:gd name="T9" fmla="*/ 54 h 242"/>
                <a:gd name="T10" fmla="*/ 8 w 243"/>
                <a:gd name="T11" fmla="*/ 68 h 242"/>
                <a:gd name="T12" fmla="*/ 12 w 243"/>
                <a:gd name="T13" fmla="*/ 81 h 242"/>
                <a:gd name="T14" fmla="*/ 16 w 243"/>
                <a:gd name="T15" fmla="*/ 95 h 242"/>
                <a:gd name="T16" fmla="*/ 20 w 243"/>
                <a:gd name="T17" fmla="*/ 107 h 242"/>
                <a:gd name="T18" fmla="*/ 25 w 243"/>
                <a:gd name="T19" fmla="*/ 119 h 242"/>
                <a:gd name="T20" fmla="*/ 30 w 243"/>
                <a:gd name="T21" fmla="*/ 130 h 242"/>
                <a:gd name="T22" fmla="*/ 36 w 243"/>
                <a:gd name="T23" fmla="*/ 140 h 242"/>
                <a:gd name="T24" fmla="*/ 42 w 243"/>
                <a:gd name="T25" fmla="*/ 150 h 242"/>
                <a:gd name="T26" fmla="*/ 50 w 243"/>
                <a:gd name="T27" fmla="*/ 160 h 242"/>
                <a:gd name="T28" fmla="*/ 57 w 243"/>
                <a:gd name="T29" fmla="*/ 168 h 242"/>
                <a:gd name="T30" fmla="*/ 65 w 243"/>
                <a:gd name="T31" fmla="*/ 176 h 242"/>
                <a:gd name="T32" fmla="*/ 73 w 243"/>
                <a:gd name="T33" fmla="*/ 183 h 242"/>
                <a:gd name="T34" fmla="*/ 82 w 243"/>
                <a:gd name="T35" fmla="*/ 190 h 242"/>
                <a:gd name="T36" fmla="*/ 98 w 243"/>
                <a:gd name="T37" fmla="*/ 201 h 242"/>
                <a:gd name="T38" fmla="*/ 117 w 243"/>
                <a:gd name="T39" fmla="*/ 210 h 242"/>
                <a:gd name="T40" fmla="*/ 136 w 243"/>
                <a:gd name="T41" fmla="*/ 218 h 242"/>
                <a:gd name="T42" fmla="*/ 155 w 243"/>
                <a:gd name="T43" fmla="*/ 226 h 242"/>
                <a:gd name="T44" fmla="*/ 175 w 243"/>
                <a:gd name="T45" fmla="*/ 231 h 242"/>
                <a:gd name="T46" fmla="*/ 194 w 243"/>
                <a:gd name="T47" fmla="*/ 235 h 242"/>
                <a:gd name="T48" fmla="*/ 213 w 243"/>
                <a:gd name="T49" fmla="*/ 239 h 242"/>
                <a:gd name="T50" fmla="*/ 233 w 243"/>
                <a:gd name="T51" fmla="*/ 242 h 242"/>
                <a:gd name="T52" fmla="*/ 243 w 243"/>
                <a:gd name="T53" fmla="*/ 180 h 242"/>
                <a:gd name="T54" fmla="*/ 224 w 243"/>
                <a:gd name="T55" fmla="*/ 177 h 242"/>
                <a:gd name="T56" fmla="*/ 206 w 243"/>
                <a:gd name="T57" fmla="*/ 173 h 242"/>
                <a:gd name="T58" fmla="*/ 189 w 243"/>
                <a:gd name="T59" fmla="*/ 170 h 242"/>
                <a:gd name="T60" fmla="*/ 173 w 243"/>
                <a:gd name="T61" fmla="*/ 165 h 242"/>
                <a:gd name="T62" fmla="*/ 157 w 243"/>
                <a:gd name="T63" fmla="*/ 160 h 242"/>
                <a:gd name="T64" fmla="*/ 144 w 243"/>
                <a:gd name="T65" fmla="*/ 154 h 242"/>
                <a:gd name="T66" fmla="*/ 131 w 243"/>
                <a:gd name="T67" fmla="*/ 147 h 242"/>
                <a:gd name="T68" fmla="*/ 119 w 243"/>
                <a:gd name="T69" fmla="*/ 139 h 242"/>
                <a:gd name="T70" fmla="*/ 114 w 243"/>
                <a:gd name="T71" fmla="*/ 135 h 242"/>
                <a:gd name="T72" fmla="*/ 109 w 243"/>
                <a:gd name="T73" fmla="*/ 130 h 242"/>
                <a:gd name="T74" fmla="*/ 103 w 243"/>
                <a:gd name="T75" fmla="*/ 125 h 242"/>
                <a:gd name="T76" fmla="*/ 98 w 243"/>
                <a:gd name="T77" fmla="*/ 120 h 242"/>
                <a:gd name="T78" fmla="*/ 94 w 243"/>
                <a:gd name="T79" fmla="*/ 114 h 242"/>
                <a:gd name="T80" fmla="*/ 90 w 243"/>
                <a:gd name="T81" fmla="*/ 108 h 242"/>
                <a:gd name="T82" fmla="*/ 86 w 243"/>
                <a:gd name="T83" fmla="*/ 101 h 242"/>
                <a:gd name="T84" fmla="*/ 82 w 243"/>
                <a:gd name="T85" fmla="*/ 92 h 242"/>
                <a:gd name="T86" fmla="*/ 79 w 243"/>
                <a:gd name="T87" fmla="*/ 84 h 242"/>
                <a:gd name="T88" fmla="*/ 75 w 243"/>
                <a:gd name="T89" fmla="*/ 75 h 242"/>
                <a:gd name="T90" fmla="*/ 72 w 243"/>
                <a:gd name="T91" fmla="*/ 65 h 242"/>
                <a:gd name="T92" fmla="*/ 70 w 243"/>
                <a:gd name="T93" fmla="*/ 54 h 242"/>
                <a:gd name="T94" fmla="*/ 67 w 243"/>
                <a:gd name="T95" fmla="*/ 43 h 242"/>
                <a:gd name="T96" fmla="*/ 65 w 243"/>
                <a:gd name="T97" fmla="*/ 31 h 242"/>
                <a:gd name="T98" fmla="*/ 64 w 243"/>
                <a:gd name="T99" fmla="*/ 16 h 242"/>
                <a:gd name="T100" fmla="*/ 63 w 243"/>
                <a:gd name="T101" fmla="*/ 2 h 242"/>
                <a:gd name="T102" fmla="*/ 62 w 243"/>
                <a:gd name="T103" fmla="*/ 9 h 242"/>
                <a:gd name="T104" fmla="*/ 0 w 243"/>
                <a:gd name="T105" fmla="*/ 0 h 242"/>
                <a:gd name="T106" fmla="*/ 0 w 243"/>
                <a:gd name="T107" fmla="*/ 3 h 242"/>
                <a:gd name="T108" fmla="*/ 0 w 243"/>
                <a:gd name="T109" fmla="*/ 6 h 242"/>
                <a:gd name="T110" fmla="*/ 0 w 243"/>
                <a:gd name="T111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3" h="242">
                  <a:moveTo>
                    <a:pt x="0" y="0"/>
                  </a:moveTo>
                  <a:lnTo>
                    <a:pt x="0" y="6"/>
                  </a:lnTo>
                  <a:lnTo>
                    <a:pt x="1" y="23"/>
                  </a:lnTo>
                  <a:lnTo>
                    <a:pt x="3" y="39"/>
                  </a:lnTo>
                  <a:lnTo>
                    <a:pt x="5" y="54"/>
                  </a:lnTo>
                  <a:lnTo>
                    <a:pt x="8" y="68"/>
                  </a:lnTo>
                  <a:lnTo>
                    <a:pt x="12" y="81"/>
                  </a:lnTo>
                  <a:lnTo>
                    <a:pt x="16" y="95"/>
                  </a:lnTo>
                  <a:lnTo>
                    <a:pt x="20" y="107"/>
                  </a:lnTo>
                  <a:lnTo>
                    <a:pt x="25" y="119"/>
                  </a:lnTo>
                  <a:lnTo>
                    <a:pt x="30" y="130"/>
                  </a:lnTo>
                  <a:lnTo>
                    <a:pt x="36" y="140"/>
                  </a:lnTo>
                  <a:lnTo>
                    <a:pt x="42" y="150"/>
                  </a:lnTo>
                  <a:lnTo>
                    <a:pt x="50" y="160"/>
                  </a:lnTo>
                  <a:lnTo>
                    <a:pt x="57" y="168"/>
                  </a:lnTo>
                  <a:lnTo>
                    <a:pt x="65" y="176"/>
                  </a:lnTo>
                  <a:lnTo>
                    <a:pt x="73" y="183"/>
                  </a:lnTo>
                  <a:lnTo>
                    <a:pt x="82" y="190"/>
                  </a:lnTo>
                  <a:lnTo>
                    <a:pt x="98" y="201"/>
                  </a:lnTo>
                  <a:lnTo>
                    <a:pt x="117" y="210"/>
                  </a:lnTo>
                  <a:lnTo>
                    <a:pt x="136" y="218"/>
                  </a:lnTo>
                  <a:lnTo>
                    <a:pt x="155" y="226"/>
                  </a:lnTo>
                  <a:lnTo>
                    <a:pt x="175" y="231"/>
                  </a:lnTo>
                  <a:lnTo>
                    <a:pt x="194" y="235"/>
                  </a:lnTo>
                  <a:lnTo>
                    <a:pt x="213" y="239"/>
                  </a:lnTo>
                  <a:lnTo>
                    <a:pt x="233" y="242"/>
                  </a:lnTo>
                  <a:lnTo>
                    <a:pt x="243" y="180"/>
                  </a:lnTo>
                  <a:lnTo>
                    <a:pt x="224" y="177"/>
                  </a:lnTo>
                  <a:lnTo>
                    <a:pt x="206" y="173"/>
                  </a:lnTo>
                  <a:lnTo>
                    <a:pt x="189" y="170"/>
                  </a:lnTo>
                  <a:lnTo>
                    <a:pt x="173" y="165"/>
                  </a:lnTo>
                  <a:lnTo>
                    <a:pt x="157" y="160"/>
                  </a:lnTo>
                  <a:lnTo>
                    <a:pt x="144" y="154"/>
                  </a:lnTo>
                  <a:lnTo>
                    <a:pt x="131" y="147"/>
                  </a:lnTo>
                  <a:lnTo>
                    <a:pt x="119" y="139"/>
                  </a:lnTo>
                  <a:lnTo>
                    <a:pt x="114" y="135"/>
                  </a:lnTo>
                  <a:lnTo>
                    <a:pt x="109" y="130"/>
                  </a:lnTo>
                  <a:lnTo>
                    <a:pt x="103" y="125"/>
                  </a:lnTo>
                  <a:lnTo>
                    <a:pt x="98" y="120"/>
                  </a:lnTo>
                  <a:lnTo>
                    <a:pt x="94" y="114"/>
                  </a:lnTo>
                  <a:lnTo>
                    <a:pt x="90" y="108"/>
                  </a:lnTo>
                  <a:lnTo>
                    <a:pt x="86" y="101"/>
                  </a:lnTo>
                  <a:lnTo>
                    <a:pt x="82" y="92"/>
                  </a:lnTo>
                  <a:lnTo>
                    <a:pt x="79" y="84"/>
                  </a:lnTo>
                  <a:lnTo>
                    <a:pt x="75" y="75"/>
                  </a:lnTo>
                  <a:lnTo>
                    <a:pt x="72" y="65"/>
                  </a:lnTo>
                  <a:lnTo>
                    <a:pt x="70" y="54"/>
                  </a:lnTo>
                  <a:lnTo>
                    <a:pt x="67" y="43"/>
                  </a:lnTo>
                  <a:lnTo>
                    <a:pt x="65" y="31"/>
                  </a:lnTo>
                  <a:lnTo>
                    <a:pt x="64" y="16"/>
                  </a:lnTo>
                  <a:lnTo>
                    <a:pt x="63" y="2"/>
                  </a:lnTo>
                  <a:lnTo>
                    <a:pt x="62" y="9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0" name="Freeform 50"/>
            <p:cNvSpPr>
              <a:spLocks noChangeArrowheads="1"/>
            </p:cNvSpPr>
            <p:nvPr/>
          </p:nvSpPr>
          <p:spPr bwMode="auto">
            <a:xfrm>
              <a:off x="1575" y="1335"/>
              <a:ext cx="111" cy="100"/>
            </a:xfrm>
            <a:custGeom>
              <a:avLst/>
              <a:gdLst>
                <a:gd name="T0" fmla="*/ 260 w 260"/>
                <a:gd name="T1" fmla="*/ 0 h 226"/>
                <a:gd name="T2" fmla="*/ 260 w 260"/>
                <a:gd name="T3" fmla="*/ 0 h 226"/>
                <a:gd name="T4" fmla="*/ 238 w 260"/>
                <a:gd name="T5" fmla="*/ 1 h 226"/>
                <a:gd name="T6" fmla="*/ 214 w 260"/>
                <a:gd name="T7" fmla="*/ 4 h 226"/>
                <a:gd name="T8" fmla="*/ 193 w 260"/>
                <a:gd name="T9" fmla="*/ 10 h 226"/>
                <a:gd name="T10" fmla="*/ 172 w 260"/>
                <a:gd name="T11" fmla="*/ 17 h 226"/>
                <a:gd name="T12" fmla="*/ 150 w 260"/>
                <a:gd name="T13" fmla="*/ 26 h 226"/>
                <a:gd name="T14" fmla="*/ 130 w 260"/>
                <a:gd name="T15" fmla="*/ 36 h 226"/>
                <a:gd name="T16" fmla="*/ 111 w 260"/>
                <a:gd name="T17" fmla="*/ 49 h 226"/>
                <a:gd name="T18" fmla="*/ 92 w 260"/>
                <a:gd name="T19" fmla="*/ 63 h 226"/>
                <a:gd name="T20" fmla="*/ 76 w 260"/>
                <a:gd name="T21" fmla="*/ 78 h 226"/>
                <a:gd name="T22" fmla="*/ 60 w 260"/>
                <a:gd name="T23" fmla="*/ 95 h 226"/>
                <a:gd name="T24" fmla="*/ 45 w 260"/>
                <a:gd name="T25" fmla="*/ 112 h 226"/>
                <a:gd name="T26" fmla="*/ 32 w 260"/>
                <a:gd name="T27" fmla="*/ 132 h 226"/>
                <a:gd name="T28" fmla="*/ 21 w 260"/>
                <a:gd name="T29" fmla="*/ 151 h 226"/>
                <a:gd name="T30" fmla="*/ 12 w 260"/>
                <a:gd name="T31" fmla="*/ 171 h 226"/>
                <a:gd name="T32" fmla="*/ 8 w 260"/>
                <a:gd name="T33" fmla="*/ 184 h 226"/>
                <a:gd name="T34" fmla="*/ 5 w 260"/>
                <a:gd name="T35" fmla="*/ 194 h 226"/>
                <a:gd name="T36" fmla="*/ 2 w 260"/>
                <a:gd name="T37" fmla="*/ 205 h 226"/>
                <a:gd name="T38" fmla="*/ 0 w 260"/>
                <a:gd name="T39" fmla="*/ 217 h 226"/>
                <a:gd name="T40" fmla="*/ 62 w 260"/>
                <a:gd name="T41" fmla="*/ 226 h 226"/>
                <a:gd name="T42" fmla="*/ 64 w 260"/>
                <a:gd name="T43" fmla="*/ 218 h 226"/>
                <a:gd name="T44" fmla="*/ 66 w 260"/>
                <a:gd name="T45" fmla="*/ 211 h 226"/>
                <a:gd name="T46" fmla="*/ 68 w 260"/>
                <a:gd name="T47" fmla="*/ 203 h 226"/>
                <a:gd name="T48" fmla="*/ 70 w 260"/>
                <a:gd name="T49" fmla="*/ 196 h 226"/>
                <a:gd name="T50" fmla="*/ 77 w 260"/>
                <a:gd name="T51" fmla="*/ 179 h 226"/>
                <a:gd name="T52" fmla="*/ 86 w 260"/>
                <a:gd name="T53" fmla="*/ 164 h 226"/>
                <a:gd name="T54" fmla="*/ 95 w 260"/>
                <a:gd name="T55" fmla="*/ 150 h 226"/>
                <a:gd name="T56" fmla="*/ 107 w 260"/>
                <a:gd name="T57" fmla="*/ 137 h 226"/>
                <a:gd name="T58" fmla="*/ 119 w 260"/>
                <a:gd name="T59" fmla="*/ 124 h 226"/>
                <a:gd name="T60" fmla="*/ 133 w 260"/>
                <a:gd name="T61" fmla="*/ 111 h 226"/>
                <a:gd name="T62" fmla="*/ 147 w 260"/>
                <a:gd name="T63" fmla="*/ 100 h 226"/>
                <a:gd name="T64" fmla="*/ 162 w 260"/>
                <a:gd name="T65" fmla="*/ 91 h 226"/>
                <a:gd name="T66" fmla="*/ 178 w 260"/>
                <a:gd name="T67" fmla="*/ 82 h 226"/>
                <a:gd name="T68" fmla="*/ 194 w 260"/>
                <a:gd name="T69" fmla="*/ 75 h 226"/>
                <a:gd name="T70" fmla="*/ 210 w 260"/>
                <a:gd name="T71" fmla="*/ 70 h 226"/>
                <a:gd name="T72" fmla="*/ 227 w 260"/>
                <a:gd name="T73" fmla="*/ 66 h 226"/>
                <a:gd name="T74" fmla="*/ 243 w 260"/>
                <a:gd name="T75" fmla="*/ 64 h 226"/>
                <a:gd name="T76" fmla="*/ 259 w 260"/>
                <a:gd name="T77" fmla="*/ 63 h 226"/>
                <a:gd name="T78" fmla="*/ 259 w 260"/>
                <a:gd name="T79" fmla="*/ 63 h 226"/>
                <a:gd name="T80" fmla="*/ 260 w 260"/>
                <a:gd name="T81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0" h="226">
                  <a:moveTo>
                    <a:pt x="260" y="0"/>
                  </a:moveTo>
                  <a:lnTo>
                    <a:pt x="260" y="0"/>
                  </a:lnTo>
                  <a:lnTo>
                    <a:pt x="238" y="1"/>
                  </a:lnTo>
                  <a:lnTo>
                    <a:pt x="214" y="4"/>
                  </a:lnTo>
                  <a:lnTo>
                    <a:pt x="193" y="10"/>
                  </a:lnTo>
                  <a:lnTo>
                    <a:pt x="172" y="17"/>
                  </a:lnTo>
                  <a:lnTo>
                    <a:pt x="150" y="26"/>
                  </a:lnTo>
                  <a:lnTo>
                    <a:pt x="130" y="36"/>
                  </a:lnTo>
                  <a:lnTo>
                    <a:pt x="111" y="49"/>
                  </a:lnTo>
                  <a:lnTo>
                    <a:pt x="92" y="63"/>
                  </a:lnTo>
                  <a:lnTo>
                    <a:pt x="76" y="78"/>
                  </a:lnTo>
                  <a:lnTo>
                    <a:pt x="60" y="95"/>
                  </a:lnTo>
                  <a:lnTo>
                    <a:pt x="45" y="112"/>
                  </a:lnTo>
                  <a:lnTo>
                    <a:pt x="32" y="132"/>
                  </a:lnTo>
                  <a:lnTo>
                    <a:pt x="21" y="151"/>
                  </a:lnTo>
                  <a:lnTo>
                    <a:pt x="12" y="171"/>
                  </a:lnTo>
                  <a:lnTo>
                    <a:pt x="8" y="184"/>
                  </a:lnTo>
                  <a:lnTo>
                    <a:pt x="5" y="194"/>
                  </a:lnTo>
                  <a:lnTo>
                    <a:pt x="2" y="205"/>
                  </a:lnTo>
                  <a:lnTo>
                    <a:pt x="0" y="217"/>
                  </a:lnTo>
                  <a:lnTo>
                    <a:pt x="62" y="226"/>
                  </a:lnTo>
                  <a:lnTo>
                    <a:pt x="64" y="218"/>
                  </a:lnTo>
                  <a:lnTo>
                    <a:pt x="66" y="211"/>
                  </a:lnTo>
                  <a:lnTo>
                    <a:pt x="68" y="203"/>
                  </a:lnTo>
                  <a:lnTo>
                    <a:pt x="70" y="196"/>
                  </a:lnTo>
                  <a:lnTo>
                    <a:pt x="77" y="179"/>
                  </a:lnTo>
                  <a:lnTo>
                    <a:pt x="86" y="164"/>
                  </a:lnTo>
                  <a:lnTo>
                    <a:pt x="95" y="150"/>
                  </a:lnTo>
                  <a:lnTo>
                    <a:pt x="107" y="137"/>
                  </a:lnTo>
                  <a:lnTo>
                    <a:pt x="119" y="124"/>
                  </a:lnTo>
                  <a:lnTo>
                    <a:pt x="133" y="111"/>
                  </a:lnTo>
                  <a:lnTo>
                    <a:pt x="147" y="100"/>
                  </a:lnTo>
                  <a:lnTo>
                    <a:pt x="162" y="91"/>
                  </a:lnTo>
                  <a:lnTo>
                    <a:pt x="178" y="82"/>
                  </a:lnTo>
                  <a:lnTo>
                    <a:pt x="194" y="75"/>
                  </a:lnTo>
                  <a:lnTo>
                    <a:pt x="210" y="70"/>
                  </a:lnTo>
                  <a:lnTo>
                    <a:pt x="227" y="66"/>
                  </a:lnTo>
                  <a:lnTo>
                    <a:pt x="243" y="64"/>
                  </a:lnTo>
                  <a:lnTo>
                    <a:pt x="259" y="63"/>
                  </a:lnTo>
                  <a:lnTo>
                    <a:pt x="26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1" name="Freeform 51"/>
            <p:cNvSpPr>
              <a:spLocks noChangeArrowheads="1"/>
            </p:cNvSpPr>
            <p:nvPr/>
          </p:nvSpPr>
          <p:spPr bwMode="auto">
            <a:xfrm>
              <a:off x="1676" y="1294"/>
              <a:ext cx="12" cy="288"/>
            </a:xfrm>
            <a:custGeom>
              <a:avLst/>
              <a:gdLst>
                <a:gd name="T0" fmla="*/ 27 w 27"/>
                <a:gd name="T1" fmla="*/ 652 h 652"/>
                <a:gd name="T2" fmla="*/ 21 w 27"/>
                <a:gd name="T3" fmla="*/ 0 h 652"/>
                <a:gd name="T4" fmla="*/ 0 w 27"/>
                <a:gd name="T5" fmla="*/ 0 h 652"/>
                <a:gd name="T6" fmla="*/ 6 w 27"/>
                <a:gd name="T7" fmla="*/ 652 h 652"/>
                <a:gd name="T8" fmla="*/ 27 w 27"/>
                <a:gd name="T9" fmla="*/ 652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652">
                  <a:moveTo>
                    <a:pt x="27" y="652"/>
                  </a:moveTo>
                  <a:lnTo>
                    <a:pt x="21" y="0"/>
                  </a:lnTo>
                  <a:lnTo>
                    <a:pt x="0" y="0"/>
                  </a:lnTo>
                  <a:lnTo>
                    <a:pt x="6" y="652"/>
                  </a:lnTo>
                  <a:lnTo>
                    <a:pt x="27" y="65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2" name="Freeform 52"/>
            <p:cNvSpPr>
              <a:spLocks noChangeArrowheads="1"/>
            </p:cNvSpPr>
            <p:nvPr/>
          </p:nvSpPr>
          <p:spPr bwMode="auto">
            <a:xfrm>
              <a:off x="1960" y="1298"/>
              <a:ext cx="11" cy="289"/>
            </a:xfrm>
            <a:custGeom>
              <a:avLst/>
              <a:gdLst>
                <a:gd name="T0" fmla="*/ 27 w 27"/>
                <a:gd name="T1" fmla="*/ 654 h 654"/>
                <a:gd name="T2" fmla="*/ 21 w 27"/>
                <a:gd name="T3" fmla="*/ 0 h 654"/>
                <a:gd name="T4" fmla="*/ 0 w 27"/>
                <a:gd name="T5" fmla="*/ 1 h 654"/>
                <a:gd name="T6" fmla="*/ 6 w 27"/>
                <a:gd name="T7" fmla="*/ 654 h 654"/>
                <a:gd name="T8" fmla="*/ 27 w 27"/>
                <a:gd name="T9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654">
                  <a:moveTo>
                    <a:pt x="27" y="654"/>
                  </a:moveTo>
                  <a:lnTo>
                    <a:pt x="21" y="0"/>
                  </a:lnTo>
                  <a:lnTo>
                    <a:pt x="0" y="1"/>
                  </a:lnTo>
                  <a:lnTo>
                    <a:pt x="6" y="654"/>
                  </a:lnTo>
                  <a:lnTo>
                    <a:pt x="27" y="6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3" name="Freeform 53"/>
            <p:cNvSpPr>
              <a:spLocks noChangeArrowheads="1"/>
            </p:cNvSpPr>
            <p:nvPr/>
          </p:nvSpPr>
          <p:spPr bwMode="auto">
            <a:xfrm>
              <a:off x="921" y="1425"/>
              <a:ext cx="227" cy="10"/>
            </a:xfrm>
            <a:custGeom>
              <a:avLst/>
              <a:gdLst>
                <a:gd name="T0" fmla="*/ 536 w 536"/>
                <a:gd name="T1" fmla="*/ 1 h 22"/>
                <a:gd name="T2" fmla="*/ 536 w 536"/>
                <a:gd name="T3" fmla="*/ 22 h 22"/>
                <a:gd name="T4" fmla="*/ 0 w 536"/>
                <a:gd name="T5" fmla="*/ 21 h 22"/>
                <a:gd name="T6" fmla="*/ 0 w 536"/>
                <a:gd name="T7" fmla="*/ 0 h 22"/>
                <a:gd name="T8" fmla="*/ 536 w 536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6" h="22">
                  <a:moveTo>
                    <a:pt x="536" y="1"/>
                  </a:moveTo>
                  <a:lnTo>
                    <a:pt x="536" y="22"/>
                  </a:lnTo>
                  <a:lnTo>
                    <a:pt x="0" y="21"/>
                  </a:lnTo>
                  <a:lnTo>
                    <a:pt x="0" y="0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4" name="Rectangle 54"/>
            <p:cNvSpPr>
              <a:spLocks noChangeArrowheads="1"/>
            </p:cNvSpPr>
            <p:nvPr/>
          </p:nvSpPr>
          <p:spPr bwMode="auto">
            <a:xfrm>
              <a:off x="1177" y="1425"/>
              <a:ext cx="26" cy="1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5" name="Freeform 55"/>
            <p:cNvSpPr>
              <a:spLocks noChangeArrowheads="1"/>
            </p:cNvSpPr>
            <p:nvPr/>
          </p:nvSpPr>
          <p:spPr bwMode="auto">
            <a:xfrm>
              <a:off x="1231" y="1425"/>
              <a:ext cx="228" cy="10"/>
            </a:xfrm>
            <a:custGeom>
              <a:avLst/>
              <a:gdLst>
                <a:gd name="T0" fmla="*/ 535 w 535"/>
                <a:gd name="T1" fmla="*/ 1 h 22"/>
                <a:gd name="T2" fmla="*/ 535 w 535"/>
                <a:gd name="T3" fmla="*/ 22 h 22"/>
                <a:gd name="T4" fmla="*/ 0 w 535"/>
                <a:gd name="T5" fmla="*/ 21 h 22"/>
                <a:gd name="T6" fmla="*/ 0 w 535"/>
                <a:gd name="T7" fmla="*/ 0 h 22"/>
                <a:gd name="T8" fmla="*/ 535 w 535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5" h="22">
                  <a:moveTo>
                    <a:pt x="535" y="1"/>
                  </a:moveTo>
                  <a:lnTo>
                    <a:pt x="535" y="22"/>
                  </a:lnTo>
                  <a:lnTo>
                    <a:pt x="0" y="21"/>
                  </a:lnTo>
                  <a:lnTo>
                    <a:pt x="0" y="0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6" name="Rectangle 56"/>
            <p:cNvSpPr>
              <a:spLocks noChangeArrowheads="1"/>
            </p:cNvSpPr>
            <p:nvPr/>
          </p:nvSpPr>
          <p:spPr bwMode="auto">
            <a:xfrm>
              <a:off x="1486" y="1425"/>
              <a:ext cx="28" cy="1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7" name="Freeform 57"/>
            <p:cNvSpPr>
              <a:spLocks noChangeArrowheads="1"/>
            </p:cNvSpPr>
            <p:nvPr/>
          </p:nvSpPr>
          <p:spPr bwMode="auto">
            <a:xfrm>
              <a:off x="1541" y="1425"/>
              <a:ext cx="228" cy="11"/>
            </a:xfrm>
            <a:custGeom>
              <a:avLst/>
              <a:gdLst>
                <a:gd name="T0" fmla="*/ 535 w 535"/>
                <a:gd name="T1" fmla="*/ 1 h 22"/>
                <a:gd name="T2" fmla="*/ 535 w 535"/>
                <a:gd name="T3" fmla="*/ 22 h 22"/>
                <a:gd name="T4" fmla="*/ 0 w 535"/>
                <a:gd name="T5" fmla="*/ 21 h 22"/>
                <a:gd name="T6" fmla="*/ 0 w 535"/>
                <a:gd name="T7" fmla="*/ 0 h 22"/>
                <a:gd name="T8" fmla="*/ 535 w 535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5" h="22">
                  <a:moveTo>
                    <a:pt x="535" y="1"/>
                  </a:moveTo>
                  <a:lnTo>
                    <a:pt x="535" y="22"/>
                  </a:lnTo>
                  <a:lnTo>
                    <a:pt x="0" y="21"/>
                  </a:lnTo>
                  <a:lnTo>
                    <a:pt x="0" y="0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8" name="Rectangle 58"/>
            <p:cNvSpPr>
              <a:spLocks noChangeArrowheads="1"/>
            </p:cNvSpPr>
            <p:nvPr/>
          </p:nvSpPr>
          <p:spPr bwMode="auto">
            <a:xfrm>
              <a:off x="1796" y="1427"/>
              <a:ext cx="28" cy="9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9" name="Freeform 59"/>
            <p:cNvSpPr>
              <a:spLocks noChangeArrowheads="1"/>
            </p:cNvSpPr>
            <p:nvPr/>
          </p:nvSpPr>
          <p:spPr bwMode="auto">
            <a:xfrm>
              <a:off x="1851" y="1427"/>
              <a:ext cx="229" cy="9"/>
            </a:xfrm>
            <a:custGeom>
              <a:avLst/>
              <a:gdLst>
                <a:gd name="T0" fmla="*/ 536 w 536"/>
                <a:gd name="T1" fmla="*/ 1 h 22"/>
                <a:gd name="T2" fmla="*/ 536 w 536"/>
                <a:gd name="T3" fmla="*/ 22 h 22"/>
                <a:gd name="T4" fmla="*/ 0 w 536"/>
                <a:gd name="T5" fmla="*/ 21 h 22"/>
                <a:gd name="T6" fmla="*/ 0 w 536"/>
                <a:gd name="T7" fmla="*/ 0 h 22"/>
                <a:gd name="T8" fmla="*/ 536 w 536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6" h="22">
                  <a:moveTo>
                    <a:pt x="536" y="1"/>
                  </a:moveTo>
                  <a:lnTo>
                    <a:pt x="536" y="22"/>
                  </a:lnTo>
                  <a:lnTo>
                    <a:pt x="0" y="21"/>
                  </a:lnTo>
                  <a:lnTo>
                    <a:pt x="0" y="0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0" name="Rectangle 60"/>
            <p:cNvSpPr>
              <a:spLocks noChangeArrowheads="1"/>
            </p:cNvSpPr>
            <p:nvPr/>
          </p:nvSpPr>
          <p:spPr bwMode="auto">
            <a:xfrm>
              <a:off x="2107" y="1427"/>
              <a:ext cx="28" cy="9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1" name="Freeform 61"/>
            <p:cNvSpPr>
              <a:spLocks noChangeArrowheads="1"/>
            </p:cNvSpPr>
            <p:nvPr/>
          </p:nvSpPr>
          <p:spPr bwMode="auto">
            <a:xfrm>
              <a:off x="2162" y="1427"/>
              <a:ext cx="143" cy="9"/>
            </a:xfrm>
            <a:custGeom>
              <a:avLst/>
              <a:gdLst>
                <a:gd name="T0" fmla="*/ 336 w 336"/>
                <a:gd name="T1" fmla="*/ 1 h 22"/>
                <a:gd name="T2" fmla="*/ 0 w 336"/>
                <a:gd name="T3" fmla="*/ 0 h 22"/>
                <a:gd name="T4" fmla="*/ 0 w 336"/>
                <a:gd name="T5" fmla="*/ 22 h 22"/>
                <a:gd name="T6" fmla="*/ 336 w 336"/>
                <a:gd name="T7" fmla="*/ 22 h 22"/>
                <a:gd name="T8" fmla="*/ 336 w 336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6" h="22">
                  <a:moveTo>
                    <a:pt x="336" y="1"/>
                  </a:moveTo>
                  <a:lnTo>
                    <a:pt x="0" y="0"/>
                  </a:lnTo>
                  <a:lnTo>
                    <a:pt x="0" y="22"/>
                  </a:lnTo>
                  <a:lnTo>
                    <a:pt x="336" y="22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2" name="Freeform 62"/>
            <p:cNvSpPr>
              <a:spLocks noChangeArrowheads="1"/>
            </p:cNvSpPr>
            <p:nvPr/>
          </p:nvSpPr>
          <p:spPr bwMode="auto">
            <a:xfrm>
              <a:off x="2174" y="1437"/>
              <a:ext cx="40" cy="231"/>
            </a:xfrm>
            <a:custGeom>
              <a:avLst/>
              <a:gdLst>
                <a:gd name="T0" fmla="*/ 22 w 93"/>
                <a:gd name="T1" fmla="*/ 0 h 522"/>
                <a:gd name="T2" fmla="*/ 25 w 93"/>
                <a:gd name="T3" fmla="*/ 5 h 522"/>
                <a:gd name="T4" fmla="*/ 33 w 93"/>
                <a:gd name="T5" fmla="*/ 21 h 522"/>
                <a:gd name="T6" fmla="*/ 43 w 93"/>
                <a:gd name="T7" fmla="*/ 44 h 522"/>
                <a:gd name="T8" fmla="*/ 55 w 93"/>
                <a:gd name="T9" fmla="*/ 76 h 522"/>
                <a:gd name="T10" fmla="*/ 62 w 93"/>
                <a:gd name="T11" fmla="*/ 95 h 522"/>
                <a:gd name="T12" fmla="*/ 68 w 93"/>
                <a:gd name="T13" fmla="*/ 115 h 522"/>
                <a:gd name="T14" fmla="*/ 75 w 93"/>
                <a:gd name="T15" fmla="*/ 137 h 522"/>
                <a:gd name="T16" fmla="*/ 80 w 93"/>
                <a:gd name="T17" fmla="*/ 161 h 522"/>
                <a:gd name="T18" fmla="*/ 85 w 93"/>
                <a:gd name="T19" fmla="*/ 185 h 522"/>
                <a:gd name="T20" fmla="*/ 89 w 93"/>
                <a:gd name="T21" fmla="*/ 212 h 522"/>
                <a:gd name="T22" fmla="*/ 91 w 93"/>
                <a:gd name="T23" fmla="*/ 239 h 522"/>
                <a:gd name="T24" fmla="*/ 93 w 93"/>
                <a:gd name="T25" fmla="*/ 266 h 522"/>
                <a:gd name="T26" fmla="*/ 93 w 93"/>
                <a:gd name="T27" fmla="*/ 295 h 522"/>
                <a:gd name="T28" fmla="*/ 92 w 93"/>
                <a:gd name="T29" fmla="*/ 321 h 522"/>
                <a:gd name="T30" fmla="*/ 89 w 93"/>
                <a:gd name="T31" fmla="*/ 347 h 522"/>
                <a:gd name="T32" fmla="*/ 86 w 93"/>
                <a:gd name="T33" fmla="*/ 370 h 522"/>
                <a:gd name="T34" fmla="*/ 81 w 93"/>
                <a:gd name="T35" fmla="*/ 392 h 522"/>
                <a:gd name="T36" fmla="*/ 75 w 93"/>
                <a:gd name="T37" fmla="*/ 413 h 522"/>
                <a:gd name="T38" fmla="*/ 68 w 93"/>
                <a:gd name="T39" fmla="*/ 432 h 522"/>
                <a:gd name="T40" fmla="*/ 61 w 93"/>
                <a:gd name="T41" fmla="*/ 449 h 522"/>
                <a:gd name="T42" fmla="*/ 53 w 93"/>
                <a:gd name="T43" fmla="*/ 465 h 522"/>
                <a:gd name="T44" fmla="*/ 45 w 93"/>
                <a:gd name="T45" fmla="*/ 479 h 522"/>
                <a:gd name="T46" fmla="*/ 37 w 93"/>
                <a:gd name="T47" fmla="*/ 491 h 522"/>
                <a:gd name="T48" fmla="*/ 30 w 93"/>
                <a:gd name="T49" fmla="*/ 501 h 522"/>
                <a:gd name="T50" fmla="*/ 22 w 93"/>
                <a:gd name="T51" fmla="*/ 510 h 522"/>
                <a:gd name="T52" fmla="*/ 13 w 93"/>
                <a:gd name="T53" fmla="*/ 516 h 522"/>
                <a:gd name="T54" fmla="*/ 6 w 93"/>
                <a:gd name="T55" fmla="*/ 520 h 522"/>
                <a:gd name="T56" fmla="*/ 0 w 93"/>
                <a:gd name="T57" fmla="*/ 522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3" h="522">
                  <a:moveTo>
                    <a:pt x="22" y="0"/>
                  </a:moveTo>
                  <a:lnTo>
                    <a:pt x="25" y="5"/>
                  </a:lnTo>
                  <a:lnTo>
                    <a:pt x="33" y="21"/>
                  </a:lnTo>
                  <a:lnTo>
                    <a:pt x="43" y="44"/>
                  </a:lnTo>
                  <a:lnTo>
                    <a:pt x="55" y="76"/>
                  </a:lnTo>
                  <a:lnTo>
                    <a:pt x="62" y="95"/>
                  </a:lnTo>
                  <a:lnTo>
                    <a:pt x="68" y="115"/>
                  </a:lnTo>
                  <a:lnTo>
                    <a:pt x="75" y="137"/>
                  </a:lnTo>
                  <a:lnTo>
                    <a:pt x="80" y="161"/>
                  </a:lnTo>
                  <a:lnTo>
                    <a:pt x="85" y="185"/>
                  </a:lnTo>
                  <a:lnTo>
                    <a:pt x="89" y="212"/>
                  </a:lnTo>
                  <a:lnTo>
                    <a:pt x="91" y="239"/>
                  </a:lnTo>
                  <a:lnTo>
                    <a:pt x="93" y="266"/>
                  </a:lnTo>
                  <a:lnTo>
                    <a:pt x="93" y="295"/>
                  </a:lnTo>
                  <a:lnTo>
                    <a:pt x="92" y="321"/>
                  </a:lnTo>
                  <a:lnTo>
                    <a:pt x="89" y="347"/>
                  </a:lnTo>
                  <a:lnTo>
                    <a:pt x="86" y="370"/>
                  </a:lnTo>
                  <a:lnTo>
                    <a:pt x="81" y="392"/>
                  </a:lnTo>
                  <a:lnTo>
                    <a:pt x="75" y="413"/>
                  </a:lnTo>
                  <a:lnTo>
                    <a:pt x="68" y="432"/>
                  </a:lnTo>
                  <a:lnTo>
                    <a:pt x="61" y="449"/>
                  </a:lnTo>
                  <a:lnTo>
                    <a:pt x="53" y="465"/>
                  </a:lnTo>
                  <a:lnTo>
                    <a:pt x="45" y="479"/>
                  </a:lnTo>
                  <a:lnTo>
                    <a:pt x="37" y="491"/>
                  </a:lnTo>
                  <a:lnTo>
                    <a:pt x="30" y="501"/>
                  </a:lnTo>
                  <a:lnTo>
                    <a:pt x="22" y="510"/>
                  </a:lnTo>
                  <a:lnTo>
                    <a:pt x="13" y="516"/>
                  </a:lnTo>
                  <a:lnTo>
                    <a:pt x="6" y="520"/>
                  </a:lnTo>
                  <a:lnTo>
                    <a:pt x="0" y="522"/>
                  </a:lnTo>
                </a:path>
              </a:pathLst>
            </a:custGeom>
            <a:noFill/>
            <a:ln w="11113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3" name="Line 63"/>
            <p:cNvSpPr>
              <a:spLocks noChangeShapeType="1"/>
            </p:cNvSpPr>
            <p:nvPr/>
          </p:nvSpPr>
          <p:spPr bwMode="auto">
            <a:xfrm flipV="1">
              <a:off x="2163" y="1477"/>
              <a:ext cx="37" cy="30"/>
            </a:xfrm>
            <a:prstGeom prst="line">
              <a:avLst/>
            </a:prstGeom>
            <a:noFill/>
            <a:ln w="11113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" name="Line 64"/>
            <p:cNvSpPr>
              <a:spLocks noChangeShapeType="1"/>
            </p:cNvSpPr>
            <p:nvPr/>
          </p:nvSpPr>
          <p:spPr bwMode="auto">
            <a:xfrm flipV="1">
              <a:off x="2165" y="1534"/>
              <a:ext cx="48" cy="38"/>
            </a:xfrm>
            <a:prstGeom prst="line">
              <a:avLst/>
            </a:prstGeom>
            <a:noFill/>
            <a:ln w="11113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" name="Line 65"/>
            <p:cNvSpPr>
              <a:spLocks noChangeShapeType="1"/>
            </p:cNvSpPr>
            <p:nvPr/>
          </p:nvSpPr>
          <p:spPr bwMode="auto">
            <a:xfrm flipV="1">
              <a:off x="2168" y="1605"/>
              <a:ext cx="46" cy="39"/>
            </a:xfrm>
            <a:prstGeom prst="line">
              <a:avLst/>
            </a:prstGeom>
            <a:noFill/>
            <a:ln w="11113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6" name="Group 66"/>
          <p:cNvGrpSpPr>
            <a:grpSpLocks/>
          </p:cNvGrpSpPr>
          <p:nvPr/>
        </p:nvGrpSpPr>
        <p:grpSpPr bwMode="auto">
          <a:xfrm>
            <a:off x="4246131" y="2220396"/>
            <a:ext cx="377825" cy="1358900"/>
            <a:chOff x="1754" y="1029"/>
            <a:chExt cx="238" cy="856"/>
          </a:xfrm>
        </p:grpSpPr>
        <p:sp>
          <p:nvSpPr>
            <p:cNvPr id="67" name="Line 67"/>
            <p:cNvSpPr>
              <a:spLocks noChangeShapeType="1"/>
            </p:cNvSpPr>
            <p:nvPr/>
          </p:nvSpPr>
          <p:spPr bwMode="auto">
            <a:xfrm flipH="1" flipV="1">
              <a:off x="1771" y="1861"/>
              <a:ext cx="218" cy="1"/>
            </a:xfrm>
            <a:prstGeom prst="line">
              <a:avLst/>
            </a:prstGeom>
            <a:noFill/>
            <a:ln w="1111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" name="Rectangle 68"/>
            <p:cNvSpPr>
              <a:spLocks noChangeArrowheads="1"/>
            </p:cNvSpPr>
            <p:nvPr/>
          </p:nvSpPr>
          <p:spPr bwMode="auto">
            <a:xfrm>
              <a:off x="1754" y="1044"/>
              <a:ext cx="27" cy="119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9" name="Rectangle 69"/>
            <p:cNvSpPr>
              <a:spLocks noChangeArrowheads="1"/>
            </p:cNvSpPr>
            <p:nvPr/>
          </p:nvSpPr>
          <p:spPr bwMode="auto">
            <a:xfrm>
              <a:off x="1755" y="1746"/>
              <a:ext cx="27" cy="119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0" name="Line 70"/>
            <p:cNvSpPr>
              <a:spLocks noChangeShapeType="1"/>
            </p:cNvSpPr>
            <p:nvPr/>
          </p:nvSpPr>
          <p:spPr bwMode="auto">
            <a:xfrm flipH="1" flipV="1">
              <a:off x="1765" y="1049"/>
              <a:ext cx="219" cy="1"/>
            </a:xfrm>
            <a:prstGeom prst="line">
              <a:avLst/>
            </a:prstGeom>
            <a:noFill/>
            <a:ln w="1111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" name="Freeform 71"/>
            <p:cNvSpPr>
              <a:spLocks noChangeArrowheads="1"/>
            </p:cNvSpPr>
            <p:nvPr/>
          </p:nvSpPr>
          <p:spPr bwMode="auto">
            <a:xfrm>
              <a:off x="1832" y="1029"/>
              <a:ext cx="155" cy="44"/>
            </a:xfrm>
            <a:custGeom>
              <a:avLst/>
              <a:gdLst>
                <a:gd name="T0" fmla="*/ 363 w 363"/>
                <a:gd name="T1" fmla="*/ 46 h 99"/>
                <a:gd name="T2" fmla="*/ 0 w 363"/>
                <a:gd name="T3" fmla="*/ 99 h 99"/>
                <a:gd name="T4" fmla="*/ 0 w 363"/>
                <a:gd name="T5" fmla="*/ 0 h 99"/>
                <a:gd name="T6" fmla="*/ 363 w 363"/>
                <a:gd name="T7" fmla="*/ 4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3" h="99">
                  <a:moveTo>
                    <a:pt x="363" y="46"/>
                  </a:moveTo>
                  <a:lnTo>
                    <a:pt x="0" y="99"/>
                  </a:lnTo>
                  <a:lnTo>
                    <a:pt x="0" y="0"/>
                  </a:lnTo>
                  <a:lnTo>
                    <a:pt x="363" y="46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2" name="Freeform 72"/>
            <p:cNvSpPr>
              <a:spLocks noChangeArrowheads="1"/>
            </p:cNvSpPr>
            <p:nvPr/>
          </p:nvSpPr>
          <p:spPr bwMode="auto">
            <a:xfrm>
              <a:off x="1832" y="1029"/>
              <a:ext cx="155" cy="44"/>
            </a:xfrm>
            <a:custGeom>
              <a:avLst/>
              <a:gdLst>
                <a:gd name="T0" fmla="*/ 363 w 363"/>
                <a:gd name="T1" fmla="*/ 46 h 99"/>
                <a:gd name="T2" fmla="*/ 0 w 363"/>
                <a:gd name="T3" fmla="*/ 99 h 99"/>
                <a:gd name="T4" fmla="*/ 0 w 363"/>
                <a:gd name="T5" fmla="*/ 0 h 99"/>
                <a:gd name="T6" fmla="*/ 363 w 363"/>
                <a:gd name="T7" fmla="*/ 4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3" h="99">
                  <a:moveTo>
                    <a:pt x="363" y="46"/>
                  </a:moveTo>
                  <a:lnTo>
                    <a:pt x="0" y="99"/>
                  </a:lnTo>
                  <a:lnTo>
                    <a:pt x="0" y="0"/>
                  </a:lnTo>
                  <a:lnTo>
                    <a:pt x="363" y="46"/>
                  </a:lnTo>
                  <a:close/>
                </a:path>
              </a:pathLst>
            </a:custGeom>
            <a:solidFill>
              <a:srgbClr val="FF0000"/>
            </a:solidFill>
            <a:ln w="4763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3" name="Freeform 73"/>
            <p:cNvSpPr>
              <a:spLocks noChangeArrowheads="1"/>
            </p:cNvSpPr>
            <p:nvPr/>
          </p:nvSpPr>
          <p:spPr bwMode="auto">
            <a:xfrm>
              <a:off x="1837" y="1841"/>
              <a:ext cx="155" cy="44"/>
            </a:xfrm>
            <a:custGeom>
              <a:avLst/>
              <a:gdLst>
                <a:gd name="T0" fmla="*/ 363 w 363"/>
                <a:gd name="T1" fmla="*/ 47 h 99"/>
                <a:gd name="T2" fmla="*/ 0 w 363"/>
                <a:gd name="T3" fmla="*/ 99 h 99"/>
                <a:gd name="T4" fmla="*/ 0 w 363"/>
                <a:gd name="T5" fmla="*/ 0 h 99"/>
                <a:gd name="T6" fmla="*/ 363 w 363"/>
                <a:gd name="T7" fmla="*/ 4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3" h="99">
                  <a:moveTo>
                    <a:pt x="363" y="47"/>
                  </a:moveTo>
                  <a:lnTo>
                    <a:pt x="0" y="99"/>
                  </a:lnTo>
                  <a:lnTo>
                    <a:pt x="0" y="0"/>
                  </a:lnTo>
                  <a:lnTo>
                    <a:pt x="363" y="47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4" name="Freeform 74"/>
            <p:cNvSpPr>
              <a:spLocks noChangeArrowheads="1"/>
            </p:cNvSpPr>
            <p:nvPr/>
          </p:nvSpPr>
          <p:spPr bwMode="auto">
            <a:xfrm>
              <a:off x="1837" y="1841"/>
              <a:ext cx="155" cy="44"/>
            </a:xfrm>
            <a:custGeom>
              <a:avLst/>
              <a:gdLst>
                <a:gd name="T0" fmla="*/ 363 w 363"/>
                <a:gd name="T1" fmla="*/ 47 h 99"/>
                <a:gd name="T2" fmla="*/ 0 w 363"/>
                <a:gd name="T3" fmla="*/ 99 h 99"/>
                <a:gd name="T4" fmla="*/ 0 w 363"/>
                <a:gd name="T5" fmla="*/ 0 h 99"/>
                <a:gd name="T6" fmla="*/ 363 w 363"/>
                <a:gd name="T7" fmla="*/ 4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3" h="99">
                  <a:moveTo>
                    <a:pt x="363" y="47"/>
                  </a:moveTo>
                  <a:lnTo>
                    <a:pt x="0" y="99"/>
                  </a:lnTo>
                  <a:lnTo>
                    <a:pt x="0" y="0"/>
                  </a:lnTo>
                  <a:lnTo>
                    <a:pt x="363" y="47"/>
                  </a:lnTo>
                  <a:close/>
                </a:path>
              </a:pathLst>
            </a:custGeom>
            <a:solidFill>
              <a:srgbClr val="FF0000"/>
            </a:solidFill>
            <a:ln w="4763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75" name="Group 75"/>
          <p:cNvGrpSpPr>
            <a:grpSpLocks/>
          </p:cNvGrpSpPr>
          <p:nvPr/>
        </p:nvGrpSpPr>
        <p:grpSpPr bwMode="auto">
          <a:xfrm>
            <a:off x="6608330" y="2444233"/>
            <a:ext cx="2197100" cy="819150"/>
            <a:chOff x="3242" y="1170"/>
            <a:chExt cx="1384" cy="516"/>
          </a:xfrm>
        </p:grpSpPr>
        <p:sp>
          <p:nvSpPr>
            <p:cNvPr id="76" name="Line 76"/>
            <p:cNvSpPr>
              <a:spLocks noChangeShapeType="1"/>
            </p:cNvSpPr>
            <p:nvPr/>
          </p:nvSpPr>
          <p:spPr bwMode="auto">
            <a:xfrm>
              <a:off x="3424" y="1239"/>
              <a:ext cx="1" cy="1"/>
            </a:xfrm>
            <a:prstGeom prst="line">
              <a:avLst/>
            </a:prstGeom>
            <a:noFill/>
            <a:ln w="4763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" name="Line 77"/>
            <p:cNvSpPr>
              <a:spLocks noChangeShapeType="1"/>
            </p:cNvSpPr>
            <p:nvPr/>
          </p:nvSpPr>
          <p:spPr bwMode="auto">
            <a:xfrm>
              <a:off x="3483" y="1239"/>
              <a:ext cx="1" cy="1"/>
            </a:xfrm>
            <a:prstGeom prst="line">
              <a:avLst/>
            </a:prstGeom>
            <a:noFill/>
            <a:ln w="4763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" name="Freeform 78"/>
            <p:cNvSpPr>
              <a:spLocks noChangeArrowheads="1"/>
            </p:cNvSpPr>
            <p:nvPr/>
          </p:nvSpPr>
          <p:spPr bwMode="auto">
            <a:xfrm>
              <a:off x="3278" y="1231"/>
              <a:ext cx="97" cy="96"/>
            </a:xfrm>
            <a:custGeom>
              <a:avLst/>
              <a:gdLst>
                <a:gd name="T0" fmla="*/ 0 w 229"/>
                <a:gd name="T1" fmla="*/ 199 h 221"/>
                <a:gd name="T2" fmla="*/ 53 w 229"/>
                <a:gd name="T3" fmla="*/ 221 h 221"/>
                <a:gd name="T4" fmla="*/ 229 w 229"/>
                <a:gd name="T5" fmla="*/ 45 h 221"/>
                <a:gd name="T6" fmla="*/ 185 w 229"/>
                <a:gd name="T7" fmla="*/ 0 h 221"/>
                <a:gd name="T8" fmla="*/ 9 w 229"/>
                <a:gd name="T9" fmla="*/ 177 h 221"/>
                <a:gd name="T10" fmla="*/ 0 w 229"/>
                <a:gd name="T11" fmla="*/ 199 h 221"/>
                <a:gd name="T12" fmla="*/ 9 w 229"/>
                <a:gd name="T13" fmla="*/ 177 h 221"/>
                <a:gd name="T14" fmla="*/ 0 w 229"/>
                <a:gd name="T15" fmla="*/ 186 h 221"/>
                <a:gd name="T16" fmla="*/ 0 w 229"/>
                <a:gd name="T17" fmla="*/ 199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9" h="221">
                  <a:moveTo>
                    <a:pt x="0" y="199"/>
                  </a:moveTo>
                  <a:lnTo>
                    <a:pt x="53" y="221"/>
                  </a:lnTo>
                  <a:lnTo>
                    <a:pt x="229" y="45"/>
                  </a:lnTo>
                  <a:lnTo>
                    <a:pt x="185" y="0"/>
                  </a:lnTo>
                  <a:lnTo>
                    <a:pt x="9" y="177"/>
                  </a:lnTo>
                  <a:lnTo>
                    <a:pt x="0" y="199"/>
                  </a:lnTo>
                  <a:lnTo>
                    <a:pt x="9" y="177"/>
                  </a:lnTo>
                  <a:lnTo>
                    <a:pt x="0" y="186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9" name="Freeform 79"/>
            <p:cNvSpPr>
              <a:spLocks noChangeArrowheads="1"/>
            </p:cNvSpPr>
            <p:nvPr/>
          </p:nvSpPr>
          <p:spPr bwMode="auto">
            <a:xfrm>
              <a:off x="3278" y="1318"/>
              <a:ext cx="27" cy="231"/>
            </a:xfrm>
            <a:custGeom>
              <a:avLst/>
              <a:gdLst>
                <a:gd name="T0" fmla="*/ 11 w 63"/>
                <a:gd name="T1" fmla="*/ 521 h 521"/>
                <a:gd name="T2" fmla="*/ 63 w 63"/>
                <a:gd name="T3" fmla="*/ 497 h 521"/>
                <a:gd name="T4" fmla="*/ 63 w 63"/>
                <a:gd name="T5" fmla="*/ 0 h 521"/>
                <a:gd name="T6" fmla="*/ 0 w 63"/>
                <a:gd name="T7" fmla="*/ 0 h 521"/>
                <a:gd name="T8" fmla="*/ 0 w 63"/>
                <a:gd name="T9" fmla="*/ 497 h 521"/>
                <a:gd name="T10" fmla="*/ 11 w 63"/>
                <a:gd name="T11" fmla="*/ 521 h 521"/>
                <a:gd name="T12" fmla="*/ 0 w 63"/>
                <a:gd name="T13" fmla="*/ 497 h 521"/>
                <a:gd name="T14" fmla="*/ 0 w 63"/>
                <a:gd name="T15" fmla="*/ 511 h 521"/>
                <a:gd name="T16" fmla="*/ 11 w 63"/>
                <a:gd name="T17" fmla="*/ 521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521">
                  <a:moveTo>
                    <a:pt x="11" y="521"/>
                  </a:moveTo>
                  <a:lnTo>
                    <a:pt x="63" y="497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497"/>
                  </a:lnTo>
                  <a:lnTo>
                    <a:pt x="11" y="521"/>
                  </a:lnTo>
                  <a:lnTo>
                    <a:pt x="0" y="497"/>
                  </a:lnTo>
                  <a:lnTo>
                    <a:pt x="0" y="511"/>
                  </a:lnTo>
                  <a:lnTo>
                    <a:pt x="11" y="5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0" name="Freeform 80"/>
            <p:cNvSpPr>
              <a:spLocks noChangeArrowheads="1"/>
            </p:cNvSpPr>
            <p:nvPr/>
          </p:nvSpPr>
          <p:spPr bwMode="auto">
            <a:xfrm>
              <a:off x="3283" y="1526"/>
              <a:ext cx="99" cy="97"/>
            </a:xfrm>
            <a:custGeom>
              <a:avLst/>
              <a:gdLst>
                <a:gd name="T0" fmla="*/ 212 w 233"/>
                <a:gd name="T1" fmla="*/ 217 h 217"/>
                <a:gd name="T2" fmla="*/ 233 w 233"/>
                <a:gd name="T3" fmla="*/ 161 h 217"/>
                <a:gd name="T4" fmla="*/ 39 w 233"/>
                <a:gd name="T5" fmla="*/ 0 h 217"/>
                <a:gd name="T6" fmla="*/ 0 w 233"/>
                <a:gd name="T7" fmla="*/ 49 h 217"/>
                <a:gd name="T8" fmla="*/ 192 w 233"/>
                <a:gd name="T9" fmla="*/ 210 h 217"/>
                <a:gd name="T10" fmla="*/ 212 w 233"/>
                <a:gd name="T11" fmla="*/ 217 h 217"/>
                <a:gd name="T12" fmla="*/ 192 w 233"/>
                <a:gd name="T13" fmla="*/ 210 h 217"/>
                <a:gd name="T14" fmla="*/ 201 w 233"/>
                <a:gd name="T15" fmla="*/ 217 h 217"/>
                <a:gd name="T16" fmla="*/ 212 w 233"/>
                <a:gd name="T17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3" h="217">
                  <a:moveTo>
                    <a:pt x="212" y="217"/>
                  </a:moveTo>
                  <a:lnTo>
                    <a:pt x="233" y="161"/>
                  </a:lnTo>
                  <a:lnTo>
                    <a:pt x="39" y="0"/>
                  </a:lnTo>
                  <a:lnTo>
                    <a:pt x="0" y="49"/>
                  </a:lnTo>
                  <a:lnTo>
                    <a:pt x="192" y="210"/>
                  </a:lnTo>
                  <a:lnTo>
                    <a:pt x="212" y="217"/>
                  </a:lnTo>
                  <a:lnTo>
                    <a:pt x="192" y="210"/>
                  </a:lnTo>
                  <a:lnTo>
                    <a:pt x="201" y="217"/>
                  </a:lnTo>
                  <a:lnTo>
                    <a:pt x="212" y="2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1" name="Freeform 81"/>
            <p:cNvSpPr>
              <a:spLocks noChangeArrowheads="1"/>
            </p:cNvSpPr>
            <p:nvPr/>
          </p:nvSpPr>
          <p:spPr bwMode="auto">
            <a:xfrm>
              <a:off x="3373" y="1595"/>
              <a:ext cx="452" cy="29"/>
            </a:xfrm>
            <a:custGeom>
              <a:avLst/>
              <a:gdLst>
                <a:gd name="T0" fmla="*/ 1060 w 1060"/>
                <a:gd name="T1" fmla="*/ 36 h 68"/>
                <a:gd name="T2" fmla="*/ 1028 w 1060"/>
                <a:gd name="T3" fmla="*/ 5 h 68"/>
                <a:gd name="T4" fmla="*/ 0 w 1060"/>
                <a:gd name="T5" fmla="*/ 0 h 68"/>
                <a:gd name="T6" fmla="*/ 0 w 1060"/>
                <a:gd name="T7" fmla="*/ 63 h 68"/>
                <a:gd name="T8" fmla="*/ 1028 w 1060"/>
                <a:gd name="T9" fmla="*/ 68 h 68"/>
                <a:gd name="T10" fmla="*/ 1060 w 1060"/>
                <a:gd name="T11" fmla="*/ 36 h 68"/>
                <a:gd name="T12" fmla="*/ 1028 w 1060"/>
                <a:gd name="T13" fmla="*/ 68 h 68"/>
                <a:gd name="T14" fmla="*/ 1060 w 1060"/>
                <a:gd name="T15" fmla="*/ 68 h 68"/>
                <a:gd name="T16" fmla="*/ 1060 w 1060"/>
                <a:gd name="T17" fmla="*/ 3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0" h="68">
                  <a:moveTo>
                    <a:pt x="1060" y="36"/>
                  </a:moveTo>
                  <a:lnTo>
                    <a:pt x="1028" y="5"/>
                  </a:lnTo>
                  <a:lnTo>
                    <a:pt x="0" y="0"/>
                  </a:lnTo>
                  <a:lnTo>
                    <a:pt x="0" y="63"/>
                  </a:lnTo>
                  <a:lnTo>
                    <a:pt x="1028" y="68"/>
                  </a:lnTo>
                  <a:lnTo>
                    <a:pt x="1060" y="36"/>
                  </a:lnTo>
                  <a:lnTo>
                    <a:pt x="1028" y="68"/>
                  </a:lnTo>
                  <a:lnTo>
                    <a:pt x="1060" y="68"/>
                  </a:lnTo>
                  <a:lnTo>
                    <a:pt x="1060" y="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2" name="Freeform 82"/>
            <p:cNvSpPr>
              <a:spLocks noChangeArrowheads="1"/>
            </p:cNvSpPr>
            <p:nvPr/>
          </p:nvSpPr>
          <p:spPr bwMode="auto">
            <a:xfrm>
              <a:off x="3798" y="1219"/>
              <a:ext cx="27" cy="392"/>
            </a:xfrm>
            <a:custGeom>
              <a:avLst/>
              <a:gdLst>
                <a:gd name="T0" fmla="*/ 30 w 63"/>
                <a:gd name="T1" fmla="*/ 0 h 886"/>
                <a:gd name="T2" fmla="*/ 0 w 63"/>
                <a:gd name="T3" fmla="*/ 31 h 886"/>
                <a:gd name="T4" fmla="*/ 0 w 63"/>
                <a:gd name="T5" fmla="*/ 886 h 886"/>
                <a:gd name="T6" fmla="*/ 63 w 63"/>
                <a:gd name="T7" fmla="*/ 886 h 886"/>
                <a:gd name="T8" fmla="*/ 63 w 63"/>
                <a:gd name="T9" fmla="*/ 31 h 886"/>
                <a:gd name="T10" fmla="*/ 30 w 63"/>
                <a:gd name="T11" fmla="*/ 0 h 886"/>
                <a:gd name="T12" fmla="*/ 63 w 63"/>
                <a:gd name="T13" fmla="*/ 31 h 886"/>
                <a:gd name="T14" fmla="*/ 63 w 63"/>
                <a:gd name="T15" fmla="*/ 0 h 886"/>
                <a:gd name="T16" fmla="*/ 30 w 63"/>
                <a:gd name="T17" fmla="*/ 0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86">
                  <a:moveTo>
                    <a:pt x="30" y="0"/>
                  </a:moveTo>
                  <a:lnTo>
                    <a:pt x="0" y="31"/>
                  </a:lnTo>
                  <a:lnTo>
                    <a:pt x="0" y="886"/>
                  </a:lnTo>
                  <a:lnTo>
                    <a:pt x="63" y="886"/>
                  </a:lnTo>
                  <a:lnTo>
                    <a:pt x="63" y="31"/>
                  </a:lnTo>
                  <a:lnTo>
                    <a:pt x="30" y="0"/>
                  </a:lnTo>
                  <a:lnTo>
                    <a:pt x="63" y="31"/>
                  </a:lnTo>
                  <a:lnTo>
                    <a:pt x="63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3" name="Freeform 83"/>
            <p:cNvSpPr>
              <a:spLocks noChangeArrowheads="1"/>
            </p:cNvSpPr>
            <p:nvPr/>
          </p:nvSpPr>
          <p:spPr bwMode="auto">
            <a:xfrm>
              <a:off x="3357" y="1219"/>
              <a:ext cx="454" cy="35"/>
            </a:xfrm>
            <a:custGeom>
              <a:avLst/>
              <a:gdLst>
                <a:gd name="T0" fmla="*/ 0 w 1066"/>
                <a:gd name="T1" fmla="*/ 25 h 79"/>
                <a:gd name="T2" fmla="*/ 23 w 1066"/>
                <a:gd name="T3" fmla="*/ 79 h 79"/>
                <a:gd name="T4" fmla="*/ 1066 w 1066"/>
                <a:gd name="T5" fmla="*/ 63 h 79"/>
                <a:gd name="T6" fmla="*/ 1065 w 1066"/>
                <a:gd name="T7" fmla="*/ 0 h 79"/>
                <a:gd name="T8" fmla="*/ 22 w 1066"/>
                <a:gd name="T9" fmla="*/ 16 h 79"/>
                <a:gd name="T10" fmla="*/ 0 w 1066"/>
                <a:gd name="T11" fmla="*/ 25 h 79"/>
                <a:gd name="T12" fmla="*/ 22 w 1066"/>
                <a:gd name="T13" fmla="*/ 16 h 79"/>
                <a:gd name="T14" fmla="*/ 9 w 1066"/>
                <a:gd name="T15" fmla="*/ 16 h 79"/>
                <a:gd name="T16" fmla="*/ 0 w 1066"/>
                <a:gd name="T17" fmla="*/ 2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6" h="79">
                  <a:moveTo>
                    <a:pt x="0" y="25"/>
                  </a:moveTo>
                  <a:lnTo>
                    <a:pt x="23" y="79"/>
                  </a:lnTo>
                  <a:lnTo>
                    <a:pt x="1066" y="63"/>
                  </a:lnTo>
                  <a:lnTo>
                    <a:pt x="1065" y="0"/>
                  </a:lnTo>
                  <a:lnTo>
                    <a:pt x="22" y="16"/>
                  </a:lnTo>
                  <a:lnTo>
                    <a:pt x="0" y="25"/>
                  </a:lnTo>
                  <a:lnTo>
                    <a:pt x="22" y="16"/>
                  </a:lnTo>
                  <a:lnTo>
                    <a:pt x="9" y="16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4" name="Freeform 84"/>
            <p:cNvSpPr>
              <a:spLocks noChangeArrowheads="1"/>
            </p:cNvSpPr>
            <p:nvPr/>
          </p:nvSpPr>
          <p:spPr bwMode="auto">
            <a:xfrm>
              <a:off x="3346" y="1254"/>
              <a:ext cx="34" cy="348"/>
            </a:xfrm>
            <a:custGeom>
              <a:avLst/>
              <a:gdLst>
                <a:gd name="T0" fmla="*/ 79 w 79"/>
                <a:gd name="T1" fmla="*/ 785 h 787"/>
                <a:gd name="T2" fmla="*/ 62 w 79"/>
                <a:gd name="T3" fmla="*/ 0 h 787"/>
                <a:gd name="T4" fmla="*/ 0 w 79"/>
                <a:gd name="T5" fmla="*/ 1 h 787"/>
                <a:gd name="T6" fmla="*/ 16 w 79"/>
                <a:gd name="T7" fmla="*/ 787 h 787"/>
                <a:gd name="T8" fmla="*/ 79 w 79"/>
                <a:gd name="T9" fmla="*/ 785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87">
                  <a:moveTo>
                    <a:pt x="79" y="785"/>
                  </a:moveTo>
                  <a:lnTo>
                    <a:pt x="62" y="0"/>
                  </a:lnTo>
                  <a:lnTo>
                    <a:pt x="0" y="1"/>
                  </a:lnTo>
                  <a:lnTo>
                    <a:pt x="16" y="787"/>
                  </a:lnTo>
                  <a:lnTo>
                    <a:pt x="79" y="7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5" name="Freeform 85"/>
            <p:cNvSpPr>
              <a:spLocks noChangeArrowheads="1"/>
            </p:cNvSpPr>
            <p:nvPr/>
          </p:nvSpPr>
          <p:spPr bwMode="auto">
            <a:xfrm>
              <a:off x="3797" y="1176"/>
              <a:ext cx="27" cy="510"/>
            </a:xfrm>
            <a:custGeom>
              <a:avLst/>
              <a:gdLst>
                <a:gd name="T0" fmla="*/ 31 w 63"/>
                <a:gd name="T1" fmla="*/ 1154 h 1154"/>
                <a:gd name="T2" fmla="*/ 63 w 63"/>
                <a:gd name="T3" fmla="*/ 1122 h 1154"/>
                <a:gd name="T4" fmla="*/ 63 w 63"/>
                <a:gd name="T5" fmla="*/ 0 h 1154"/>
                <a:gd name="T6" fmla="*/ 0 w 63"/>
                <a:gd name="T7" fmla="*/ 0 h 1154"/>
                <a:gd name="T8" fmla="*/ 0 w 63"/>
                <a:gd name="T9" fmla="*/ 1122 h 1154"/>
                <a:gd name="T10" fmla="*/ 31 w 63"/>
                <a:gd name="T11" fmla="*/ 1154 h 1154"/>
                <a:gd name="T12" fmla="*/ 0 w 63"/>
                <a:gd name="T13" fmla="*/ 1122 h 1154"/>
                <a:gd name="T14" fmla="*/ 0 w 63"/>
                <a:gd name="T15" fmla="*/ 1154 h 1154"/>
                <a:gd name="T16" fmla="*/ 31 w 63"/>
                <a:gd name="T17" fmla="*/ 1154 h 1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1154">
                  <a:moveTo>
                    <a:pt x="31" y="1154"/>
                  </a:moveTo>
                  <a:lnTo>
                    <a:pt x="63" y="1122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1122"/>
                  </a:lnTo>
                  <a:lnTo>
                    <a:pt x="31" y="1154"/>
                  </a:lnTo>
                  <a:lnTo>
                    <a:pt x="0" y="1122"/>
                  </a:lnTo>
                  <a:lnTo>
                    <a:pt x="0" y="1154"/>
                  </a:lnTo>
                  <a:lnTo>
                    <a:pt x="31" y="11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6" name="Rectangle 86"/>
            <p:cNvSpPr>
              <a:spLocks noChangeArrowheads="1"/>
            </p:cNvSpPr>
            <p:nvPr/>
          </p:nvSpPr>
          <p:spPr bwMode="auto">
            <a:xfrm>
              <a:off x="3811" y="1658"/>
              <a:ext cx="691" cy="28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7" name="Freeform 87"/>
            <p:cNvSpPr>
              <a:spLocks noChangeArrowheads="1"/>
            </p:cNvSpPr>
            <p:nvPr/>
          </p:nvSpPr>
          <p:spPr bwMode="auto">
            <a:xfrm>
              <a:off x="4478" y="1183"/>
              <a:ext cx="51" cy="493"/>
            </a:xfrm>
            <a:custGeom>
              <a:avLst/>
              <a:gdLst>
                <a:gd name="T0" fmla="*/ 0 w 121"/>
                <a:gd name="T1" fmla="*/ 0 h 1115"/>
                <a:gd name="T2" fmla="*/ 5 w 121"/>
                <a:gd name="T3" fmla="*/ 9 h 1115"/>
                <a:gd name="T4" fmla="*/ 19 w 121"/>
                <a:gd name="T5" fmla="*/ 34 h 1115"/>
                <a:gd name="T6" fmla="*/ 39 w 121"/>
                <a:gd name="T7" fmla="*/ 72 h 1115"/>
                <a:gd name="T8" fmla="*/ 62 w 121"/>
                <a:gd name="T9" fmla="*/ 119 h 1115"/>
                <a:gd name="T10" fmla="*/ 74 w 121"/>
                <a:gd name="T11" fmla="*/ 146 h 1115"/>
                <a:gd name="T12" fmla="*/ 84 w 121"/>
                <a:gd name="T13" fmla="*/ 173 h 1115"/>
                <a:gd name="T14" fmla="*/ 94 w 121"/>
                <a:gd name="T15" fmla="*/ 203 h 1115"/>
                <a:gd name="T16" fmla="*/ 103 w 121"/>
                <a:gd name="T17" fmla="*/ 232 h 1115"/>
                <a:gd name="T18" fmla="*/ 112 w 121"/>
                <a:gd name="T19" fmla="*/ 261 h 1115"/>
                <a:gd name="T20" fmla="*/ 117 w 121"/>
                <a:gd name="T21" fmla="*/ 291 h 1115"/>
                <a:gd name="T22" fmla="*/ 119 w 121"/>
                <a:gd name="T23" fmla="*/ 305 h 1115"/>
                <a:gd name="T24" fmla="*/ 120 w 121"/>
                <a:gd name="T25" fmla="*/ 319 h 1115"/>
                <a:gd name="T26" fmla="*/ 121 w 121"/>
                <a:gd name="T27" fmla="*/ 334 h 1115"/>
                <a:gd name="T28" fmla="*/ 121 w 121"/>
                <a:gd name="T29" fmla="*/ 348 h 1115"/>
                <a:gd name="T30" fmla="*/ 119 w 121"/>
                <a:gd name="T31" fmla="*/ 375 h 1115"/>
                <a:gd name="T32" fmla="*/ 115 w 121"/>
                <a:gd name="T33" fmla="*/ 402 h 1115"/>
                <a:gd name="T34" fmla="*/ 111 w 121"/>
                <a:gd name="T35" fmla="*/ 428 h 1115"/>
                <a:gd name="T36" fmla="*/ 104 w 121"/>
                <a:gd name="T37" fmla="*/ 454 h 1115"/>
                <a:gd name="T38" fmla="*/ 97 w 121"/>
                <a:gd name="T39" fmla="*/ 480 h 1115"/>
                <a:gd name="T40" fmla="*/ 90 w 121"/>
                <a:gd name="T41" fmla="*/ 504 h 1115"/>
                <a:gd name="T42" fmla="*/ 82 w 121"/>
                <a:gd name="T43" fmla="*/ 529 h 1115"/>
                <a:gd name="T44" fmla="*/ 74 w 121"/>
                <a:gd name="T45" fmla="*/ 553 h 1115"/>
                <a:gd name="T46" fmla="*/ 58 w 121"/>
                <a:gd name="T47" fmla="*/ 601 h 1115"/>
                <a:gd name="T48" fmla="*/ 43 w 121"/>
                <a:gd name="T49" fmla="*/ 646 h 1115"/>
                <a:gd name="T50" fmla="*/ 37 w 121"/>
                <a:gd name="T51" fmla="*/ 669 h 1115"/>
                <a:gd name="T52" fmla="*/ 33 w 121"/>
                <a:gd name="T53" fmla="*/ 691 h 1115"/>
                <a:gd name="T54" fmla="*/ 29 w 121"/>
                <a:gd name="T55" fmla="*/ 712 h 1115"/>
                <a:gd name="T56" fmla="*/ 28 w 121"/>
                <a:gd name="T57" fmla="*/ 734 h 1115"/>
                <a:gd name="T58" fmla="*/ 25 w 121"/>
                <a:gd name="T59" fmla="*/ 781 h 1115"/>
                <a:gd name="T60" fmla="*/ 23 w 121"/>
                <a:gd name="T61" fmla="*/ 834 h 1115"/>
                <a:gd name="T62" fmla="*/ 22 w 121"/>
                <a:gd name="T63" fmla="*/ 891 h 1115"/>
                <a:gd name="T64" fmla="*/ 22 w 121"/>
                <a:gd name="T65" fmla="*/ 949 h 1115"/>
                <a:gd name="T66" fmla="*/ 23 w 121"/>
                <a:gd name="T67" fmla="*/ 976 h 1115"/>
                <a:gd name="T68" fmla="*/ 24 w 121"/>
                <a:gd name="T69" fmla="*/ 1003 h 1115"/>
                <a:gd name="T70" fmla="*/ 26 w 121"/>
                <a:gd name="T71" fmla="*/ 1027 h 1115"/>
                <a:gd name="T72" fmla="*/ 29 w 121"/>
                <a:gd name="T73" fmla="*/ 1051 h 1115"/>
                <a:gd name="T74" fmla="*/ 33 w 121"/>
                <a:gd name="T75" fmla="*/ 1071 h 1115"/>
                <a:gd name="T76" fmla="*/ 37 w 121"/>
                <a:gd name="T77" fmla="*/ 1089 h 1115"/>
                <a:gd name="T78" fmla="*/ 40 w 121"/>
                <a:gd name="T79" fmla="*/ 1096 h 1115"/>
                <a:gd name="T80" fmla="*/ 42 w 121"/>
                <a:gd name="T81" fmla="*/ 1103 h 1115"/>
                <a:gd name="T82" fmla="*/ 46 w 121"/>
                <a:gd name="T83" fmla="*/ 1110 h 1115"/>
                <a:gd name="T84" fmla="*/ 49 w 121"/>
                <a:gd name="T85" fmla="*/ 1115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1" h="1115">
                  <a:moveTo>
                    <a:pt x="0" y="0"/>
                  </a:moveTo>
                  <a:lnTo>
                    <a:pt x="5" y="9"/>
                  </a:lnTo>
                  <a:lnTo>
                    <a:pt x="19" y="34"/>
                  </a:lnTo>
                  <a:lnTo>
                    <a:pt x="39" y="72"/>
                  </a:lnTo>
                  <a:lnTo>
                    <a:pt x="62" y="119"/>
                  </a:lnTo>
                  <a:lnTo>
                    <a:pt x="74" y="146"/>
                  </a:lnTo>
                  <a:lnTo>
                    <a:pt x="84" y="173"/>
                  </a:lnTo>
                  <a:lnTo>
                    <a:pt x="94" y="203"/>
                  </a:lnTo>
                  <a:lnTo>
                    <a:pt x="103" y="232"/>
                  </a:lnTo>
                  <a:lnTo>
                    <a:pt x="112" y="261"/>
                  </a:lnTo>
                  <a:lnTo>
                    <a:pt x="117" y="291"/>
                  </a:lnTo>
                  <a:lnTo>
                    <a:pt x="119" y="305"/>
                  </a:lnTo>
                  <a:lnTo>
                    <a:pt x="120" y="319"/>
                  </a:lnTo>
                  <a:lnTo>
                    <a:pt x="121" y="334"/>
                  </a:lnTo>
                  <a:lnTo>
                    <a:pt x="121" y="348"/>
                  </a:lnTo>
                  <a:lnTo>
                    <a:pt x="119" y="375"/>
                  </a:lnTo>
                  <a:lnTo>
                    <a:pt x="115" y="402"/>
                  </a:lnTo>
                  <a:lnTo>
                    <a:pt x="111" y="428"/>
                  </a:lnTo>
                  <a:lnTo>
                    <a:pt x="104" y="454"/>
                  </a:lnTo>
                  <a:lnTo>
                    <a:pt x="97" y="480"/>
                  </a:lnTo>
                  <a:lnTo>
                    <a:pt x="90" y="504"/>
                  </a:lnTo>
                  <a:lnTo>
                    <a:pt x="82" y="529"/>
                  </a:lnTo>
                  <a:lnTo>
                    <a:pt x="74" y="553"/>
                  </a:lnTo>
                  <a:lnTo>
                    <a:pt x="58" y="601"/>
                  </a:lnTo>
                  <a:lnTo>
                    <a:pt x="43" y="646"/>
                  </a:lnTo>
                  <a:lnTo>
                    <a:pt x="37" y="669"/>
                  </a:lnTo>
                  <a:lnTo>
                    <a:pt x="33" y="691"/>
                  </a:lnTo>
                  <a:lnTo>
                    <a:pt x="29" y="712"/>
                  </a:lnTo>
                  <a:lnTo>
                    <a:pt x="28" y="734"/>
                  </a:lnTo>
                  <a:lnTo>
                    <a:pt x="25" y="781"/>
                  </a:lnTo>
                  <a:lnTo>
                    <a:pt x="23" y="834"/>
                  </a:lnTo>
                  <a:lnTo>
                    <a:pt x="22" y="891"/>
                  </a:lnTo>
                  <a:lnTo>
                    <a:pt x="22" y="949"/>
                  </a:lnTo>
                  <a:lnTo>
                    <a:pt x="23" y="976"/>
                  </a:lnTo>
                  <a:lnTo>
                    <a:pt x="24" y="1003"/>
                  </a:lnTo>
                  <a:lnTo>
                    <a:pt x="26" y="1027"/>
                  </a:lnTo>
                  <a:lnTo>
                    <a:pt x="29" y="1051"/>
                  </a:lnTo>
                  <a:lnTo>
                    <a:pt x="33" y="1071"/>
                  </a:lnTo>
                  <a:lnTo>
                    <a:pt x="37" y="1089"/>
                  </a:lnTo>
                  <a:lnTo>
                    <a:pt x="40" y="1096"/>
                  </a:lnTo>
                  <a:lnTo>
                    <a:pt x="42" y="1103"/>
                  </a:lnTo>
                  <a:lnTo>
                    <a:pt x="46" y="1110"/>
                  </a:lnTo>
                  <a:lnTo>
                    <a:pt x="49" y="1115"/>
                  </a:lnTo>
                </a:path>
              </a:pathLst>
            </a:custGeom>
            <a:noFill/>
            <a:ln w="11113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8" name="Rectangle 88"/>
            <p:cNvSpPr>
              <a:spLocks noChangeArrowheads="1"/>
            </p:cNvSpPr>
            <p:nvPr/>
          </p:nvSpPr>
          <p:spPr bwMode="auto">
            <a:xfrm>
              <a:off x="3811" y="1170"/>
              <a:ext cx="667" cy="28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9" name="Freeform 89"/>
            <p:cNvSpPr>
              <a:spLocks noChangeArrowheads="1"/>
            </p:cNvSpPr>
            <p:nvPr/>
          </p:nvSpPr>
          <p:spPr bwMode="auto">
            <a:xfrm>
              <a:off x="4008" y="1335"/>
              <a:ext cx="316" cy="31"/>
            </a:xfrm>
            <a:custGeom>
              <a:avLst/>
              <a:gdLst>
                <a:gd name="T0" fmla="*/ 745 w 745"/>
                <a:gd name="T1" fmla="*/ 7 h 68"/>
                <a:gd name="T2" fmla="*/ 735 w 745"/>
                <a:gd name="T3" fmla="*/ 5 h 68"/>
                <a:gd name="T4" fmla="*/ 0 w 745"/>
                <a:gd name="T5" fmla="*/ 0 h 68"/>
                <a:gd name="T6" fmla="*/ 0 w 745"/>
                <a:gd name="T7" fmla="*/ 63 h 68"/>
                <a:gd name="T8" fmla="*/ 735 w 745"/>
                <a:gd name="T9" fmla="*/ 68 h 68"/>
                <a:gd name="T10" fmla="*/ 745 w 745"/>
                <a:gd name="T11" fmla="*/ 7 h 68"/>
                <a:gd name="T12" fmla="*/ 745 w 745"/>
                <a:gd name="T13" fmla="*/ 7 h 68"/>
                <a:gd name="T14" fmla="*/ 741 w 745"/>
                <a:gd name="T15" fmla="*/ 5 h 68"/>
                <a:gd name="T16" fmla="*/ 735 w 745"/>
                <a:gd name="T17" fmla="*/ 5 h 68"/>
                <a:gd name="T18" fmla="*/ 745 w 745"/>
                <a:gd name="T19" fmla="*/ 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5" h="68">
                  <a:moveTo>
                    <a:pt x="745" y="7"/>
                  </a:moveTo>
                  <a:lnTo>
                    <a:pt x="735" y="5"/>
                  </a:lnTo>
                  <a:lnTo>
                    <a:pt x="0" y="0"/>
                  </a:lnTo>
                  <a:lnTo>
                    <a:pt x="0" y="63"/>
                  </a:lnTo>
                  <a:lnTo>
                    <a:pt x="735" y="68"/>
                  </a:lnTo>
                  <a:lnTo>
                    <a:pt x="745" y="7"/>
                  </a:lnTo>
                  <a:lnTo>
                    <a:pt x="741" y="5"/>
                  </a:lnTo>
                  <a:lnTo>
                    <a:pt x="735" y="5"/>
                  </a:lnTo>
                  <a:lnTo>
                    <a:pt x="745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0" name="Freeform 90"/>
            <p:cNvSpPr>
              <a:spLocks noChangeArrowheads="1"/>
            </p:cNvSpPr>
            <p:nvPr/>
          </p:nvSpPr>
          <p:spPr bwMode="auto">
            <a:xfrm>
              <a:off x="4316" y="1338"/>
              <a:ext cx="77" cy="93"/>
            </a:xfrm>
            <a:custGeom>
              <a:avLst/>
              <a:gdLst>
                <a:gd name="T0" fmla="*/ 182 w 182"/>
                <a:gd name="T1" fmla="*/ 199 h 208"/>
                <a:gd name="T2" fmla="*/ 182 w 182"/>
                <a:gd name="T3" fmla="*/ 199 h 208"/>
                <a:gd name="T4" fmla="*/ 180 w 182"/>
                <a:gd name="T5" fmla="*/ 185 h 208"/>
                <a:gd name="T6" fmla="*/ 177 w 182"/>
                <a:gd name="T7" fmla="*/ 171 h 208"/>
                <a:gd name="T8" fmla="*/ 173 w 182"/>
                <a:gd name="T9" fmla="*/ 158 h 208"/>
                <a:gd name="T10" fmla="*/ 169 w 182"/>
                <a:gd name="T11" fmla="*/ 146 h 208"/>
                <a:gd name="T12" fmla="*/ 164 w 182"/>
                <a:gd name="T13" fmla="*/ 134 h 208"/>
                <a:gd name="T14" fmla="*/ 159 w 182"/>
                <a:gd name="T15" fmla="*/ 123 h 208"/>
                <a:gd name="T16" fmla="*/ 153 w 182"/>
                <a:gd name="T17" fmla="*/ 113 h 208"/>
                <a:gd name="T18" fmla="*/ 147 w 182"/>
                <a:gd name="T19" fmla="*/ 101 h 208"/>
                <a:gd name="T20" fmla="*/ 135 w 182"/>
                <a:gd name="T21" fmla="*/ 84 h 208"/>
                <a:gd name="T22" fmla="*/ 120 w 182"/>
                <a:gd name="T23" fmla="*/ 68 h 208"/>
                <a:gd name="T24" fmla="*/ 107 w 182"/>
                <a:gd name="T25" fmla="*/ 54 h 208"/>
                <a:gd name="T26" fmla="*/ 93 w 182"/>
                <a:gd name="T27" fmla="*/ 41 h 208"/>
                <a:gd name="T28" fmla="*/ 79 w 182"/>
                <a:gd name="T29" fmla="*/ 31 h 208"/>
                <a:gd name="T30" fmla="*/ 66 w 182"/>
                <a:gd name="T31" fmla="*/ 22 h 208"/>
                <a:gd name="T32" fmla="*/ 54 w 182"/>
                <a:gd name="T33" fmla="*/ 15 h 208"/>
                <a:gd name="T34" fmla="*/ 43 w 182"/>
                <a:gd name="T35" fmla="*/ 9 h 208"/>
                <a:gd name="T36" fmla="*/ 28 w 182"/>
                <a:gd name="T37" fmla="*/ 3 h 208"/>
                <a:gd name="T38" fmla="*/ 20 w 182"/>
                <a:gd name="T39" fmla="*/ 0 h 208"/>
                <a:gd name="T40" fmla="*/ 0 w 182"/>
                <a:gd name="T41" fmla="*/ 60 h 208"/>
                <a:gd name="T42" fmla="*/ 3 w 182"/>
                <a:gd name="T43" fmla="*/ 61 h 208"/>
                <a:gd name="T44" fmla="*/ 16 w 182"/>
                <a:gd name="T45" fmla="*/ 66 h 208"/>
                <a:gd name="T46" fmla="*/ 24 w 182"/>
                <a:gd name="T47" fmla="*/ 70 h 208"/>
                <a:gd name="T48" fmla="*/ 33 w 182"/>
                <a:gd name="T49" fmla="*/ 75 h 208"/>
                <a:gd name="T50" fmla="*/ 43 w 182"/>
                <a:gd name="T51" fmla="*/ 82 h 208"/>
                <a:gd name="T52" fmla="*/ 53 w 182"/>
                <a:gd name="T53" fmla="*/ 90 h 208"/>
                <a:gd name="T54" fmla="*/ 63 w 182"/>
                <a:gd name="T55" fmla="*/ 99 h 208"/>
                <a:gd name="T56" fmla="*/ 75 w 182"/>
                <a:gd name="T57" fmla="*/ 110 h 208"/>
                <a:gd name="T58" fmla="*/ 85 w 182"/>
                <a:gd name="T59" fmla="*/ 122 h 208"/>
                <a:gd name="T60" fmla="*/ 94 w 182"/>
                <a:gd name="T61" fmla="*/ 136 h 208"/>
                <a:gd name="T62" fmla="*/ 98 w 182"/>
                <a:gd name="T63" fmla="*/ 143 h 208"/>
                <a:gd name="T64" fmla="*/ 102 w 182"/>
                <a:gd name="T65" fmla="*/ 151 h 208"/>
                <a:gd name="T66" fmla="*/ 106 w 182"/>
                <a:gd name="T67" fmla="*/ 159 h 208"/>
                <a:gd name="T68" fmla="*/ 110 w 182"/>
                <a:gd name="T69" fmla="*/ 168 h 208"/>
                <a:gd name="T70" fmla="*/ 113 w 182"/>
                <a:gd name="T71" fmla="*/ 178 h 208"/>
                <a:gd name="T72" fmla="*/ 116 w 182"/>
                <a:gd name="T73" fmla="*/ 188 h 208"/>
                <a:gd name="T74" fmla="*/ 118 w 182"/>
                <a:gd name="T75" fmla="*/ 198 h 208"/>
                <a:gd name="T76" fmla="*/ 120 w 182"/>
                <a:gd name="T77" fmla="*/ 208 h 208"/>
                <a:gd name="T78" fmla="*/ 120 w 182"/>
                <a:gd name="T79" fmla="*/ 208 h 208"/>
                <a:gd name="T80" fmla="*/ 182 w 182"/>
                <a:gd name="T81" fmla="*/ 199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2" h="208">
                  <a:moveTo>
                    <a:pt x="182" y="199"/>
                  </a:moveTo>
                  <a:lnTo>
                    <a:pt x="182" y="199"/>
                  </a:lnTo>
                  <a:lnTo>
                    <a:pt x="180" y="185"/>
                  </a:lnTo>
                  <a:lnTo>
                    <a:pt x="177" y="171"/>
                  </a:lnTo>
                  <a:lnTo>
                    <a:pt x="173" y="158"/>
                  </a:lnTo>
                  <a:lnTo>
                    <a:pt x="169" y="146"/>
                  </a:lnTo>
                  <a:lnTo>
                    <a:pt x="164" y="134"/>
                  </a:lnTo>
                  <a:lnTo>
                    <a:pt x="159" y="123"/>
                  </a:lnTo>
                  <a:lnTo>
                    <a:pt x="153" y="113"/>
                  </a:lnTo>
                  <a:lnTo>
                    <a:pt x="147" y="101"/>
                  </a:lnTo>
                  <a:lnTo>
                    <a:pt x="135" y="84"/>
                  </a:lnTo>
                  <a:lnTo>
                    <a:pt x="120" y="68"/>
                  </a:lnTo>
                  <a:lnTo>
                    <a:pt x="107" y="54"/>
                  </a:lnTo>
                  <a:lnTo>
                    <a:pt x="93" y="41"/>
                  </a:lnTo>
                  <a:lnTo>
                    <a:pt x="79" y="31"/>
                  </a:lnTo>
                  <a:lnTo>
                    <a:pt x="66" y="22"/>
                  </a:lnTo>
                  <a:lnTo>
                    <a:pt x="54" y="15"/>
                  </a:lnTo>
                  <a:lnTo>
                    <a:pt x="43" y="9"/>
                  </a:lnTo>
                  <a:lnTo>
                    <a:pt x="28" y="3"/>
                  </a:lnTo>
                  <a:lnTo>
                    <a:pt x="20" y="0"/>
                  </a:lnTo>
                  <a:lnTo>
                    <a:pt x="0" y="60"/>
                  </a:lnTo>
                  <a:lnTo>
                    <a:pt x="3" y="61"/>
                  </a:lnTo>
                  <a:lnTo>
                    <a:pt x="16" y="66"/>
                  </a:lnTo>
                  <a:lnTo>
                    <a:pt x="24" y="70"/>
                  </a:lnTo>
                  <a:lnTo>
                    <a:pt x="33" y="75"/>
                  </a:lnTo>
                  <a:lnTo>
                    <a:pt x="43" y="82"/>
                  </a:lnTo>
                  <a:lnTo>
                    <a:pt x="53" y="90"/>
                  </a:lnTo>
                  <a:lnTo>
                    <a:pt x="63" y="99"/>
                  </a:lnTo>
                  <a:lnTo>
                    <a:pt x="75" y="110"/>
                  </a:lnTo>
                  <a:lnTo>
                    <a:pt x="85" y="122"/>
                  </a:lnTo>
                  <a:lnTo>
                    <a:pt x="94" y="136"/>
                  </a:lnTo>
                  <a:lnTo>
                    <a:pt x="98" y="143"/>
                  </a:lnTo>
                  <a:lnTo>
                    <a:pt x="102" y="151"/>
                  </a:lnTo>
                  <a:lnTo>
                    <a:pt x="106" y="159"/>
                  </a:lnTo>
                  <a:lnTo>
                    <a:pt x="110" y="168"/>
                  </a:lnTo>
                  <a:lnTo>
                    <a:pt x="113" y="178"/>
                  </a:lnTo>
                  <a:lnTo>
                    <a:pt x="116" y="188"/>
                  </a:lnTo>
                  <a:lnTo>
                    <a:pt x="118" y="198"/>
                  </a:lnTo>
                  <a:lnTo>
                    <a:pt x="120" y="208"/>
                  </a:lnTo>
                  <a:lnTo>
                    <a:pt x="182" y="19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1" name="Freeform 91"/>
            <p:cNvSpPr>
              <a:spLocks noChangeArrowheads="1"/>
            </p:cNvSpPr>
            <p:nvPr/>
          </p:nvSpPr>
          <p:spPr bwMode="auto">
            <a:xfrm>
              <a:off x="4324" y="1427"/>
              <a:ext cx="71" cy="114"/>
            </a:xfrm>
            <a:custGeom>
              <a:avLst/>
              <a:gdLst>
                <a:gd name="T0" fmla="*/ 13 w 167"/>
                <a:gd name="T1" fmla="*/ 259 h 259"/>
                <a:gd name="T2" fmla="*/ 26 w 167"/>
                <a:gd name="T3" fmla="*/ 256 h 259"/>
                <a:gd name="T4" fmla="*/ 38 w 167"/>
                <a:gd name="T5" fmla="*/ 250 h 259"/>
                <a:gd name="T6" fmla="*/ 51 w 167"/>
                <a:gd name="T7" fmla="*/ 243 h 259"/>
                <a:gd name="T8" fmla="*/ 66 w 167"/>
                <a:gd name="T9" fmla="*/ 235 h 259"/>
                <a:gd name="T10" fmla="*/ 79 w 167"/>
                <a:gd name="T11" fmla="*/ 225 h 259"/>
                <a:gd name="T12" fmla="*/ 92 w 167"/>
                <a:gd name="T13" fmla="*/ 215 h 259"/>
                <a:gd name="T14" fmla="*/ 105 w 167"/>
                <a:gd name="T15" fmla="*/ 203 h 259"/>
                <a:gd name="T16" fmla="*/ 118 w 167"/>
                <a:gd name="T17" fmla="*/ 190 h 259"/>
                <a:gd name="T18" fmla="*/ 129 w 167"/>
                <a:gd name="T19" fmla="*/ 175 h 259"/>
                <a:gd name="T20" fmla="*/ 140 w 167"/>
                <a:gd name="T21" fmla="*/ 158 h 259"/>
                <a:gd name="T22" fmla="*/ 149 w 167"/>
                <a:gd name="T23" fmla="*/ 140 h 259"/>
                <a:gd name="T24" fmla="*/ 156 w 167"/>
                <a:gd name="T25" fmla="*/ 121 h 259"/>
                <a:gd name="T26" fmla="*/ 162 w 167"/>
                <a:gd name="T27" fmla="*/ 99 h 259"/>
                <a:gd name="T28" fmla="*/ 166 w 167"/>
                <a:gd name="T29" fmla="*/ 77 h 259"/>
                <a:gd name="T30" fmla="*/ 167 w 167"/>
                <a:gd name="T31" fmla="*/ 54 h 259"/>
                <a:gd name="T32" fmla="*/ 167 w 167"/>
                <a:gd name="T33" fmla="*/ 40 h 259"/>
                <a:gd name="T34" fmla="*/ 167 w 167"/>
                <a:gd name="T35" fmla="*/ 27 h 259"/>
                <a:gd name="T36" fmla="*/ 165 w 167"/>
                <a:gd name="T37" fmla="*/ 13 h 259"/>
                <a:gd name="T38" fmla="*/ 163 w 167"/>
                <a:gd name="T39" fmla="*/ 0 h 259"/>
                <a:gd name="T40" fmla="*/ 101 w 167"/>
                <a:gd name="T41" fmla="*/ 9 h 259"/>
                <a:gd name="T42" fmla="*/ 103 w 167"/>
                <a:gd name="T43" fmla="*/ 20 h 259"/>
                <a:gd name="T44" fmla="*/ 104 w 167"/>
                <a:gd name="T45" fmla="*/ 31 h 259"/>
                <a:gd name="T46" fmla="*/ 104 w 167"/>
                <a:gd name="T47" fmla="*/ 42 h 259"/>
                <a:gd name="T48" fmla="*/ 105 w 167"/>
                <a:gd name="T49" fmla="*/ 51 h 259"/>
                <a:gd name="T50" fmla="*/ 103 w 167"/>
                <a:gd name="T51" fmla="*/ 70 h 259"/>
                <a:gd name="T52" fmla="*/ 101 w 167"/>
                <a:gd name="T53" fmla="*/ 86 h 259"/>
                <a:gd name="T54" fmla="*/ 97 w 167"/>
                <a:gd name="T55" fmla="*/ 101 h 259"/>
                <a:gd name="T56" fmla="*/ 91 w 167"/>
                <a:gd name="T57" fmla="*/ 115 h 259"/>
                <a:gd name="T58" fmla="*/ 85 w 167"/>
                <a:gd name="T59" fmla="*/ 127 h 259"/>
                <a:gd name="T60" fmla="*/ 78 w 167"/>
                <a:gd name="T61" fmla="*/ 139 h 259"/>
                <a:gd name="T62" fmla="*/ 70 w 167"/>
                <a:gd name="T63" fmla="*/ 149 h 259"/>
                <a:gd name="T64" fmla="*/ 61 w 167"/>
                <a:gd name="T65" fmla="*/ 158 h 259"/>
                <a:gd name="T66" fmla="*/ 51 w 167"/>
                <a:gd name="T67" fmla="*/ 167 h 259"/>
                <a:gd name="T68" fmla="*/ 41 w 167"/>
                <a:gd name="T69" fmla="*/ 175 h 259"/>
                <a:gd name="T70" fmla="*/ 31 w 167"/>
                <a:gd name="T71" fmla="*/ 182 h 259"/>
                <a:gd name="T72" fmla="*/ 21 w 167"/>
                <a:gd name="T73" fmla="*/ 189 h 259"/>
                <a:gd name="T74" fmla="*/ 10 w 167"/>
                <a:gd name="T75" fmla="*/ 194 h 259"/>
                <a:gd name="T76" fmla="*/ 0 w 167"/>
                <a:gd name="T77" fmla="*/ 199 h 259"/>
                <a:gd name="T78" fmla="*/ 13 w 167"/>
                <a:gd name="T79" fmla="*/ 196 h 259"/>
                <a:gd name="T80" fmla="*/ 13 w 167"/>
                <a:gd name="T81" fmla="*/ 259 h 259"/>
                <a:gd name="T82" fmla="*/ 20 w 167"/>
                <a:gd name="T83" fmla="*/ 259 h 259"/>
                <a:gd name="T84" fmla="*/ 26 w 167"/>
                <a:gd name="T85" fmla="*/ 256 h 259"/>
                <a:gd name="T86" fmla="*/ 13 w 167"/>
                <a:gd name="T87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67" h="259">
                  <a:moveTo>
                    <a:pt x="13" y="259"/>
                  </a:moveTo>
                  <a:lnTo>
                    <a:pt x="26" y="256"/>
                  </a:lnTo>
                  <a:lnTo>
                    <a:pt x="38" y="250"/>
                  </a:lnTo>
                  <a:lnTo>
                    <a:pt x="51" y="243"/>
                  </a:lnTo>
                  <a:lnTo>
                    <a:pt x="66" y="235"/>
                  </a:lnTo>
                  <a:lnTo>
                    <a:pt x="79" y="225"/>
                  </a:lnTo>
                  <a:lnTo>
                    <a:pt x="92" y="215"/>
                  </a:lnTo>
                  <a:lnTo>
                    <a:pt x="105" y="203"/>
                  </a:lnTo>
                  <a:lnTo>
                    <a:pt x="118" y="190"/>
                  </a:lnTo>
                  <a:lnTo>
                    <a:pt x="129" y="175"/>
                  </a:lnTo>
                  <a:lnTo>
                    <a:pt x="140" y="158"/>
                  </a:lnTo>
                  <a:lnTo>
                    <a:pt x="149" y="140"/>
                  </a:lnTo>
                  <a:lnTo>
                    <a:pt x="156" y="121"/>
                  </a:lnTo>
                  <a:lnTo>
                    <a:pt x="162" y="99"/>
                  </a:lnTo>
                  <a:lnTo>
                    <a:pt x="166" y="77"/>
                  </a:lnTo>
                  <a:lnTo>
                    <a:pt x="167" y="54"/>
                  </a:lnTo>
                  <a:lnTo>
                    <a:pt x="167" y="40"/>
                  </a:lnTo>
                  <a:lnTo>
                    <a:pt x="167" y="27"/>
                  </a:lnTo>
                  <a:lnTo>
                    <a:pt x="165" y="13"/>
                  </a:lnTo>
                  <a:lnTo>
                    <a:pt x="163" y="0"/>
                  </a:lnTo>
                  <a:lnTo>
                    <a:pt x="101" y="9"/>
                  </a:lnTo>
                  <a:lnTo>
                    <a:pt x="103" y="20"/>
                  </a:lnTo>
                  <a:lnTo>
                    <a:pt x="104" y="31"/>
                  </a:lnTo>
                  <a:lnTo>
                    <a:pt x="104" y="42"/>
                  </a:lnTo>
                  <a:lnTo>
                    <a:pt x="105" y="51"/>
                  </a:lnTo>
                  <a:lnTo>
                    <a:pt x="103" y="70"/>
                  </a:lnTo>
                  <a:lnTo>
                    <a:pt x="101" y="86"/>
                  </a:lnTo>
                  <a:lnTo>
                    <a:pt x="97" y="101"/>
                  </a:lnTo>
                  <a:lnTo>
                    <a:pt x="91" y="115"/>
                  </a:lnTo>
                  <a:lnTo>
                    <a:pt x="85" y="127"/>
                  </a:lnTo>
                  <a:lnTo>
                    <a:pt x="78" y="139"/>
                  </a:lnTo>
                  <a:lnTo>
                    <a:pt x="70" y="149"/>
                  </a:lnTo>
                  <a:lnTo>
                    <a:pt x="61" y="158"/>
                  </a:lnTo>
                  <a:lnTo>
                    <a:pt x="51" y="167"/>
                  </a:lnTo>
                  <a:lnTo>
                    <a:pt x="41" y="175"/>
                  </a:lnTo>
                  <a:lnTo>
                    <a:pt x="31" y="182"/>
                  </a:lnTo>
                  <a:lnTo>
                    <a:pt x="21" y="189"/>
                  </a:lnTo>
                  <a:lnTo>
                    <a:pt x="10" y="194"/>
                  </a:lnTo>
                  <a:lnTo>
                    <a:pt x="0" y="199"/>
                  </a:lnTo>
                  <a:lnTo>
                    <a:pt x="13" y="196"/>
                  </a:lnTo>
                  <a:lnTo>
                    <a:pt x="13" y="259"/>
                  </a:lnTo>
                  <a:lnTo>
                    <a:pt x="20" y="259"/>
                  </a:lnTo>
                  <a:lnTo>
                    <a:pt x="26" y="256"/>
                  </a:lnTo>
                  <a:lnTo>
                    <a:pt x="13" y="2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2" name="Freeform 92"/>
            <p:cNvSpPr>
              <a:spLocks noChangeArrowheads="1"/>
            </p:cNvSpPr>
            <p:nvPr/>
          </p:nvSpPr>
          <p:spPr bwMode="auto">
            <a:xfrm>
              <a:off x="3996" y="1510"/>
              <a:ext cx="334" cy="31"/>
            </a:xfrm>
            <a:custGeom>
              <a:avLst/>
              <a:gdLst>
                <a:gd name="T0" fmla="*/ 0 w 784"/>
                <a:gd name="T1" fmla="*/ 62 h 68"/>
                <a:gd name="T2" fmla="*/ 6 w 784"/>
                <a:gd name="T3" fmla="*/ 63 h 68"/>
                <a:gd name="T4" fmla="*/ 784 w 784"/>
                <a:gd name="T5" fmla="*/ 68 h 68"/>
                <a:gd name="T6" fmla="*/ 784 w 784"/>
                <a:gd name="T7" fmla="*/ 5 h 68"/>
                <a:gd name="T8" fmla="*/ 6 w 784"/>
                <a:gd name="T9" fmla="*/ 0 h 68"/>
                <a:gd name="T10" fmla="*/ 0 w 784"/>
                <a:gd name="T11" fmla="*/ 62 h 68"/>
                <a:gd name="T12" fmla="*/ 0 w 784"/>
                <a:gd name="T13" fmla="*/ 62 h 68"/>
                <a:gd name="T14" fmla="*/ 3 w 784"/>
                <a:gd name="T15" fmla="*/ 63 h 68"/>
                <a:gd name="T16" fmla="*/ 6 w 784"/>
                <a:gd name="T17" fmla="*/ 63 h 68"/>
                <a:gd name="T18" fmla="*/ 0 w 784"/>
                <a:gd name="T19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4" h="68">
                  <a:moveTo>
                    <a:pt x="0" y="62"/>
                  </a:moveTo>
                  <a:lnTo>
                    <a:pt x="6" y="63"/>
                  </a:lnTo>
                  <a:lnTo>
                    <a:pt x="784" y="68"/>
                  </a:lnTo>
                  <a:lnTo>
                    <a:pt x="784" y="5"/>
                  </a:lnTo>
                  <a:lnTo>
                    <a:pt x="6" y="0"/>
                  </a:lnTo>
                  <a:lnTo>
                    <a:pt x="0" y="62"/>
                  </a:lnTo>
                  <a:lnTo>
                    <a:pt x="3" y="63"/>
                  </a:lnTo>
                  <a:lnTo>
                    <a:pt x="6" y="63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3" name="Freeform 93"/>
            <p:cNvSpPr>
              <a:spLocks noChangeArrowheads="1"/>
            </p:cNvSpPr>
            <p:nvPr/>
          </p:nvSpPr>
          <p:spPr bwMode="auto">
            <a:xfrm>
              <a:off x="3896" y="1431"/>
              <a:ext cx="104" cy="107"/>
            </a:xfrm>
            <a:custGeom>
              <a:avLst/>
              <a:gdLst>
                <a:gd name="T0" fmla="*/ 1 w 244"/>
                <a:gd name="T1" fmla="*/ 0 h 242"/>
                <a:gd name="T2" fmla="*/ 0 w 244"/>
                <a:gd name="T3" fmla="*/ 6 h 242"/>
                <a:gd name="T4" fmla="*/ 2 w 244"/>
                <a:gd name="T5" fmla="*/ 23 h 242"/>
                <a:gd name="T6" fmla="*/ 4 w 244"/>
                <a:gd name="T7" fmla="*/ 39 h 242"/>
                <a:gd name="T8" fmla="*/ 6 w 244"/>
                <a:gd name="T9" fmla="*/ 54 h 242"/>
                <a:gd name="T10" fmla="*/ 9 w 244"/>
                <a:gd name="T11" fmla="*/ 68 h 242"/>
                <a:gd name="T12" fmla="*/ 12 w 244"/>
                <a:gd name="T13" fmla="*/ 81 h 242"/>
                <a:gd name="T14" fmla="*/ 16 w 244"/>
                <a:gd name="T15" fmla="*/ 95 h 242"/>
                <a:gd name="T16" fmla="*/ 20 w 244"/>
                <a:gd name="T17" fmla="*/ 107 h 242"/>
                <a:gd name="T18" fmla="*/ 25 w 244"/>
                <a:gd name="T19" fmla="*/ 119 h 242"/>
                <a:gd name="T20" fmla="*/ 31 w 244"/>
                <a:gd name="T21" fmla="*/ 130 h 242"/>
                <a:gd name="T22" fmla="*/ 37 w 244"/>
                <a:gd name="T23" fmla="*/ 140 h 242"/>
                <a:gd name="T24" fmla="*/ 44 w 244"/>
                <a:gd name="T25" fmla="*/ 150 h 242"/>
                <a:gd name="T26" fmla="*/ 51 w 244"/>
                <a:gd name="T27" fmla="*/ 160 h 242"/>
                <a:gd name="T28" fmla="*/ 58 w 244"/>
                <a:gd name="T29" fmla="*/ 168 h 242"/>
                <a:gd name="T30" fmla="*/ 66 w 244"/>
                <a:gd name="T31" fmla="*/ 176 h 242"/>
                <a:gd name="T32" fmla="*/ 74 w 244"/>
                <a:gd name="T33" fmla="*/ 183 h 242"/>
                <a:gd name="T34" fmla="*/ 82 w 244"/>
                <a:gd name="T35" fmla="*/ 190 h 242"/>
                <a:gd name="T36" fmla="*/ 100 w 244"/>
                <a:gd name="T37" fmla="*/ 201 h 242"/>
                <a:gd name="T38" fmla="*/ 118 w 244"/>
                <a:gd name="T39" fmla="*/ 210 h 242"/>
                <a:gd name="T40" fmla="*/ 136 w 244"/>
                <a:gd name="T41" fmla="*/ 218 h 242"/>
                <a:gd name="T42" fmla="*/ 155 w 244"/>
                <a:gd name="T43" fmla="*/ 226 h 242"/>
                <a:gd name="T44" fmla="*/ 175 w 244"/>
                <a:gd name="T45" fmla="*/ 231 h 242"/>
                <a:gd name="T46" fmla="*/ 194 w 244"/>
                <a:gd name="T47" fmla="*/ 235 h 242"/>
                <a:gd name="T48" fmla="*/ 213 w 244"/>
                <a:gd name="T49" fmla="*/ 239 h 242"/>
                <a:gd name="T50" fmla="*/ 233 w 244"/>
                <a:gd name="T51" fmla="*/ 242 h 242"/>
                <a:gd name="T52" fmla="*/ 244 w 244"/>
                <a:gd name="T53" fmla="*/ 180 h 242"/>
                <a:gd name="T54" fmla="*/ 226 w 244"/>
                <a:gd name="T55" fmla="*/ 177 h 242"/>
                <a:gd name="T56" fmla="*/ 207 w 244"/>
                <a:gd name="T57" fmla="*/ 173 h 242"/>
                <a:gd name="T58" fmla="*/ 190 w 244"/>
                <a:gd name="T59" fmla="*/ 170 h 242"/>
                <a:gd name="T60" fmla="*/ 174 w 244"/>
                <a:gd name="T61" fmla="*/ 165 h 242"/>
                <a:gd name="T62" fmla="*/ 158 w 244"/>
                <a:gd name="T63" fmla="*/ 160 h 242"/>
                <a:gd name="T64" fmla="*/ 144 w 244"/>
                <a:gd name="T65" fmla="*/ 154 h 242"/>
                <a:gd name="T66" fmla="*/ 131 w 244"/>
                <a:gd name="T67" fmla="*/ 147 h 242"/>
                <a:gd name="T68" fmla="*/ 119 w 244"/>
                <a:gd name="T69" fmla="*/ 139 h 242"/>
                <a:gd name="T70" fmla="*/ 114 w 244"/>
                <a:gd name="T71" fmla="*/ 135 h 242"/>
                <a:gd name="T72" fmla="*/ 109 w 244"/>
                <a:gd name="T73" fmla="*/ 130 h 242"/>
                <a:gd name="T74" fmla="*/ 105 w 244"/>
                <a:gd name="T75" fmla="*/ 125 h 242"/>
                <a:gd name="T76" fmla="*/ 100 w 244"/>
                <a:gd name="T77" fmla="*/ 120 h 242"/>
                <a:gd name="T78" fmla="*/ 95 w 244"/>
                <a:gd name="T79" fmla="*/ 114 h 242"/>
                <a:gd name="T80" fmla="*/ 90 w 244"/>
                <a:gd name="T81" fmla="*/ 108 h 242"/>
                <a:gd name="T82" fmla="*/ 86 w 244"/>
                <a:gd name="T83" fmla="*/ 101 h 242"/>
                <a:gd name="T84" fmla="*/ 83 w 244"/>
                <a:gd name="T85" fmla="*/ 92 h 242"/>
                <a:gd name="T86" fmla="*/ 79 w 244"/>
                <a:gd name="T87" fmla="*/ 84 h 242"/>
                <a:gd name="T88" fmla="*/ 76 w 244"/>
                <a:gd name="T89" fmla="*/ 75 h 242"/>
                <a:gd name="T90" fmla="*/ 73 w 244"/>
                <a:gd name="T91" fmla="*/ 65 h 242"/>
                <a:gd name="T92" fmla="*/ 70 w 244"/>
                <a:gd name="T93" fmla="*/ 54 h 242"/>
                <a:gd name="T94" fmla="*/ 68 w 244"/>
                <a:gd name="T95" fmla="*/ 43 h 242"/>
                <a:gd name="T96" fmla="*/ 66 w 244"/>
                <a:gd name="T97" fmla="*/ 31 h 242"/>
                <a:gd name="T98" fmla="*/ 64 w 244"/>
                <a:gd name="T99" fmla="*/ 16 h 242"/>
                <a:gd name="T100" fmla="*/ 63 w 244"/>
                <a:gd name="T101" fmla="*/ 2 h 242"/>
                <a:gd name="T102" fmla="*/ 63 w 244"/>
                <a:gd name="T103" fmla="*/ 9 h 242"/>
                <a:gd name="T104" fmla="*/ 1 w 244"/>
                <a:gd name="T105" fmla="*/ 0 h 242"/>
                <a:gd name="T106" fmla="*/ 0 w 244"/>
                <a:gd name="T107" fmla="*/ 3 h 242"/>
                <a:gd name="T108" fmla="*/ 0 w 244"/>
                <a:gd name="T109" fmla="*/ 6 h 242"/>
                <a:gd name="T110" fmla="*/ 1 w 244"/>
                <a:gd name="T111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4" h="242">
                  <a:moveTo>
                    <a:pt x="1" y="0"/>
                  </a:moveTo>
                  <a:lnTo>
                    <a:pt x="0" y="6"/>
                  </a:lnTo>
                  <a:lnTo>
                    <a:pt x="2" y="23"/>
                  </a:lnTo>
                  <a:lnTo>
                    <a:pt x="4" y="39"/>
                  </a:lnTo>
                  <a:lnTo>
                    <a:pt x="6" y="54"/>
                  </a:lnTo>
                  <a:lnTo>
                    <a:pt x="9" y="68"/>
                  </a:lnTo>
                  <a:lnTo>
                    <a:pt x="12" y="81"/>
                  </a:lnTo>
                  <a:lnTo>
                    <a:pt x="16" y="95"/>
                  </a:lnTo>
                  <a:lnTo>
                    <a:pt x="20" y="107"/>
                  </a:lnTo>
                  <a:lnTo>
                    <a:pt x="25" y="119"/>
                  </a:lnTo>
                  <a:lnTo>
                    <a:pt x="31" y="130"/>
                  </a:lnTo>
                  <a:lnTo>
                    <a:pt x="37" y="140"/>
                  </a:lnTo>
                  <a:lnTo>
                    <a:pt x="44" y="150"/>
                  </a:lnTo>
                  <a:lnTo>
                    <a:pt x="51" y="160"/>
                  </a:lnTo>
                  <a:lnTo>
                    <a:pt x="58" y="168"/>
                  </a:lnTo>
                  <a:lnTo>
                    <a:pt x="66" y="176"/>
                  </a:lnTo>
                  <a:lnTo>
                    <a:pt x="74" y="183"/>
                  </a:lnTo>
                  <a:lnTo>
                    <a:pt x="82" y="190"/>
                  </a:lnTo>
                  <a:lnTo>
                    <a:pt x="100" y="201"/>
                  </a:lnTo>
                  <a:lnTo>
                    <a:pt x="118" y="210"/>
                  </a:lnTo>
                  <a:lnTo>
                    <a:pt x="136" y="218"/>
                  </a:lnTo>
                  <a:lnTo>
                    <a:pt x="155" y="226"/>
                  </a:lnTo>
                  <a:lnTo>
                    <a:pt x="175" y="231"/>
                  </a:lnTo>
                  <a:lnTo>
                    <a:pt x="194" y="235"/>
                  </a:lnTo>
                  <a:lnTo>
                    <a:pt x="213" y="239"/>
                  </a:lnTo>
                  <a:lnTo>
                    <a:pt x="233" y="242"/>
                  </a:lnTo>
                  <a:lnTo>
                    <a:pt x="244" y="180"/>
                  </a:lnTo>
                  <a:lnTo>
                    <a:pt x="226" y="177"/>
                  </a:lnTo>
                  <a:lnTo>
                    <a:pt x="207" y="173"/>
                  </a:lnTo>
                  <a:lnTo>
                    <a:pt x="190" y="170"/>
                  </a:lnTo>
                  <a:lnTo>
                    <a:pt x="174" y="165"/>
                  </a:lnTo>
                  <a:lnTo>
                    <a:pt x="158" y="160"/>
                  </a:lnTo>
                  <a:lnTo>
                    <a:pt x="144" y="154"/>
                  </a:lnTo>
                  <a:lnTo>
                    <a:pt x="131" y="147"/>
                  </a:lnTo>
                  <a:lnTo>
                    <a:pt x="119" y="139"/>
                  </a:lnTo>
                  <a:lnTo>
                    <a:pt x="114" y="135"/>
                  </a:lnTo>
                  <a:lnTo>
                    <a:pt x="109" y="130"/>
                  </a:lnTo>
                  <a:lnTo>
                    <a:pt x="105" y="125"/>
                  </a:lnTo>
                  <a:lnTo>
                    <a:pt x="100" y="120"/>
                  </a:lnTo>
                  <a:lnTo>
                    <a:pt x="95" y="114"/>
                  </a:lnTo>
                  <a:lnTo>
                    <a:pt x="90" y="108"/>
                  </a:lnTo>
                  <a:lnTo>
                    <a:pt x="86" y="101"/>
                  </a:lnTo>
                  <a:lnTo>
                    <a:pt x="83" y="92"/>
                  </a:lnTo>
                  <a:lnTo>
                    <a:pt x="79" y="84"/>
                  </a:lnTo>
                  <a:lnTo>
                    <a:pt x="76" y="75"/>
                  </a:lnTo>
                  <a:lnTo>
                    <a:pt x="73" y="65"/>
                  </a:lnTo>
                  <a:lnTo>
                    <a:pt x="70" y="54"/>
                  </a:lnTo>
                  <a:lnTo>
                    <a:pt x="68" y="43"/>
                  </a:lnTo>
                  <a:lnTo>
                    <a:pt x="66" y="31"/>
                  </a:lnTo>
                  <a:lnTo>
                    <a:pt x="64" y="16"/>
                  </a:lnTo>
                  <a:lnTo>
                    <a:pt x="63" y="2"/>
                  </a:lnTo>
                  <a:lnTo>
                    <a:pt x="63" y="9"/>
                  </a:lnTo>
                  <a:lnTo>
                    <a:pt x="1" y="0"/>
                  </a:lnTo>
                  <a:lnTo>
                    <a:pt x="0" y="3"/>
                  </a:lnTo>
                  <a:lnTo>
                    <a:pt x="0" y="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4" name="Freeform 94"/>
            <p:cNvSpPr>
              <a:spLocks noChangeArrowheads="1"/>
            </p:cNvSpPr>
            <p:nvPr/>
          </p:nvSpPr>
          <p:spPr bwMode="auto">
            <a:xfrm>
              <a:off x="3896" y="1335"/>
              <a:ext cx="112" cy="100"/>
            </a:xfrm>
            <a:custGeom>
              <a:avLst/>
              <a:gdLst>
                <a:gd name="T0" fmla="*/ 259 w 259"/>
                <a:gd name="T1" fmla="*/ 0 h 226"/>
                <a:gd name="T2" fmla="*/ 259 w 259"/>
                <a:gd name="T3" fmla="*/ 0 h 226"/>
                <a:gd name="T4" fmla="*/ 237 w 259"/>
                <a:gd name="T5" fmla="*/ 1 h 226"/>
                <a:gd name="T6" fmla="*/ 214 w 259"/>
                <a:gd name="T7" fmla="*/ 4 h 226"/>
                <a:gd name="T8" fmla="*/ 192 w 259"/>
                <a:gd name="T9" fmla="*/ 10 h 226"/>
                <a:gd name="T10" fmla="*/ 171 w 259"/>
                <a:gd name="T11" fmla="*/ 17 h 226"/>
                <a:gd name="T12" fmla="*/ 149 w 259"/>
                <a:gd name="T13" fmla="*/ 26 h 226"/>
                <a:gd name="T14" fmla="*/ 130 w 259"/>
                <a:gd name="T15" fmla="*/ 36 h 226"/>
                <a:gd name="T16" fmla="*/ 111 w 259"/>
                <a:gd name="T17" fmla="*/ 49 h 226"/>
                <a:gd name="T18" fmla="*/ 92 w 259"/>
                <a:gd name="T19" fmla="*/ 63 h 226"/>
                <a:gd name="T20" fmla="*/ 75 w 259"/>
                <a:gd name="T21" fmla="*/ 78 h 226"/>
                <a:gd name="T22" fmla="*/ 59 w 259"/>
                <a:gd name="T23" fmla="*/ 95 h 226"/>
                <a:gd name="T24" fmla="*/ 45 w 259"/>
                <a:gd name="T25" fmla="*/ 112 h 226"/>
                <a:gd name="T26" fmla="*/ 32 w 259"/>
                <a:gd name="T27" fmla="*/ 132 h 226"/>
                <a:gd name="T28" fmla="*/ 20 w 259"/>
                <a:gd name="T29" fmla="*/ 151 h 226"/>
                <a:gd name="T30" fmla="*/ 12 w 259"/>
                <a:gd name="T31" fmla="*/ 171 h 226"/>
                <a:gd name="T32" fmla="*/ 8 w 259"/>
                <a:gd name="T33" fmla="*/ 184 h 226"/>
                <a:gd name="T34" fmla="*/ 4 w 259"/>
                <a:gd name="T35" fmla="*/ 194 h 226"/>
                <a:gd name="T36" fmla="*/ 2 w 259"/>
                <a:gd name="T37" fmla="*/ 205 h 226"/>
                <a:gd name="T38" fmla="*/ 0 w 259"/>
                <a:gd name="T39" fmla="*/ 217 h 226"/>
                <a:gd name="T40" fmla="*/ 62 w 259"/>
                <a:gd name="T41" fmla="*/ 226 h 226"/>
                <a:gd name="T42" fmla="*/ 63 w 259"/>
                <a:gd name="T43" fmla="*/ 218 h 226"/>
                <a:gd name="T44" fmla="*/ 65 w 259"/>
                <a:gd name="T45" fmla="*/ 211 h 226"/>
                <a:gd name="T46" fmla="*/ 67 w 259"/>
                <a:gd name="T47" fmla="*/ 203 h 226"/>
                <a:gd name="T48" fmla="*/ 70 w 259"/>
                <a:gd name="T49" fmla="*/ 196 h 226"/>
                <a:gd name="T50" fmla="*/ 77 w 259"/>
                <a:gd name="T51" fmla="*/ 179 h 226"/>
                <a:gd name="T52" fmla="*/ 85 w 259"/>
                <a:gd name="T53" fmla="*/ 164 h 226"/>
                <a:gd name="T54" fmla="*/ 95 w 259"/>
                <a:gd name="T55" fmla="*/ 150 h 226"/>
                <a:gd name="T56" fmla="*/ 107 w 259"/>
                <a:gd name="T57" fmla="*/ 137 h 226"/>
                <a:gd name="T58" fmla="*/ 119 w 259"/>
                <a:gd name="T59" fmla="*/ 124 h 226"/>
                <a:gd name="T60" fmla="*/ 132 w 259"/>
                <a:gd name="T61" fmla="*/ 111 h 226"/>
                <a:gd name="T62" fmla="*/ 146 w 259"/>
                <a:gd name="T63" fmla="*/ 100 h 226"/>
                <a:gd name="T64" fmla="*/ 162 w 259"/>
                <a:gd name="T65" fmla="*/ 91 h 226"/>
                <a:gd name="T66" fmla="*/ 178 w 259"/>
                <a:gd name="T67" fmla="*/ 82 h 226"/>
                <a:gd name="T68" fmla="*/ 193 w 259"/>
                <a:gd name="T69" fmla="*/ 75 h 226"/>
                <a:gd name="T70" fmla="*/ 209 w 259"/>
                <a:gd name="T71" fmla="*/ 70 h 226"/>
                <a:gd name="T72" fmla="*/ 227 w 259"/>
                <a:gd name="T73" fmla="*/ 66 h 226"/>
                <a:gd name="T74" fmla="*/ 243 w 259"/>
                <a:gd name="T75" fmla="*/ 64 h 226"/>
                <a:gd name="T76" fmla="*/ 259 w 259"/>
                <a:gd name="T77" fmla="*/ 63 h 226"/>
                <a:gd name="T78" fmla="*/ 259 w 259"/>
                <a:gd name="T79" fmla="*/ 63 h 226"/>
                <a:gd name="T80" fmla="*/ 259 w 259"/>
                <a:gd name="T81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9" h="226">
                  <a:moveTo>
                    <a:pt x="259" y="0"/>
                  </a:moveTo>
                  <a:lnTo>
                    <a:pt x="259" y="0"/>
                  </a:lnTo>
                  <a:lnTo>
                    <a:pt x="237" y="1"/>
                  </a:lnTo>
                  <a:lnTo>
                    <a:pt x="214" y="4"/>
                  </a:lnTo>
                  <a:lnTo>
                    <a:pt x="192" y="10"/>
                  </a:lnTo>
                  <a:lnTo>
                    <a:pt x="171" y="17"/>
                  </a:lnTo>
                  <a:lnTo>
                    <a:pt x="149" y="26"/>
                  </a:lnTo>
                  <a:lnTo>
                    <a:pt x="130" y="36"/>
                  </a:lnTo>
                  <a:lnTo>
                    <a:pt x="111" y="49"/>
                  </a:lnTo>
                  <a:lnTo>
                    <a:pt x="92" y="63"/>
                  </a:lnTo>
                  <a:lnTo>
                    <a:pt x="75" y="78"/>
                  </a:lnTo>
                  <a:lnTo>
                    <a:pt x="59" y="95"/>
                  </a:lnTo>
                  <a:lnTo>
                    <a:pt x="45" y="112"/>
                  </a:lnTo>
                  <a:lnTo>
                    <a:pt x="32" y="132"/>
                  </a:lnTo>
                  <a:lnTo>
                    <a:pt x="20" y="151"/>
                  </a:lnTo>
                  <a:lnTo>
                    <a:pt x="12" y="171"/>
                  </a:lnTo>
                  <a:lnTo>
                    <a:pt x="8" y="184"/>
                  </a:lnTo>
                  <a:lnTo>
                    <a:pt x="4" y="194"/>
                  </a:lnTo>
                  <a:lnTo>
                    <a:pt x="2" y="205"/>
                  </a:lnTo>
                  <a:lnTo>
                    <a:pt x="0" y="217"/>
                  </a:lnTo>
                  <a:lnTo>
                    <a:pt x="62" y="226"/>
                  </a:lnTo>
                  <a:lnTo>
                    <a:pt x="63" y="218"/>
                  </a:lnTo>
                  <a:lnTo>
                    <a:pt x="65" y="211"/>
                  </a:lnTo>
                  <a:lnTo>
                    <a:pt x="67" y="203"/>
                  </a:lnTo>
                  <a:lnTo>
                    <a:pt x="70" y="196"/>
                  </a:lnTo>
                  <a:lnTo>
                    <a:pt x="77" y="179"/>
                  </a:lnTo>
                  <a:lnTo>
                    <a:pt x="85" y="164"/>
                  </a:lnTo>
                  <a:lnTo>
                    <a:pt x="95" y="150"/>
                  </a:lnTo>
                  <a:lnTo>
                    <a:pt x="107" y="137"/>
                  </a:lnTo>
                  <a:lnTo>
                    <a:pt x="119" y="124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2" y="91"/>
                  </a:lnTo>
                  <a:lnTo>
                    <a:pt x="178" y="82"/>
                  </a:lnTo>
                  <a:lnTo>
                    <a:pt x="193" y="75"/>
                  </a:lnTo>
                  <a:lnTo>
                    <a:pt x="209" y="70"/>
                  </a:lnTo>
                  <a:lnTo>
                    <a:pt x="227" y="66"/>
                  </a:lnTo>
                  <a:lnTo>
                    <a:pt x="243" y="64"/>
                  </a:lnTo>
                  <a:lnTo>
                    <a:pt x="259" y="63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5" name="Freeform 95"/>
            <p:cNvSpPr>
              <a:spLocks noChangeArrowheads="1"/>
            </p:cNvSpPr>
            <p:nvPr/>
          </p:nvSpPr>
          <p:spPr bwMode="auto">
            <a:xfrm>
              <a:off x="3999" y="1294"/>
              <a:ext cx="10" cy="288"/>
            </a:xfrm>
            <a:custGeom>
              <a:avLst/>
              <a:gdLst>
                <a:gd name="T0" fmla="*/ 26 w 26"/>
                <a:gd name="T1" fmla="*/ 652 h 652"/>
                <a:gd name="T2" fmla="*/ 21 w 26"/>
                <a:gd name="T3" fmla="*/ 0 h 652"/>
                <a:gd name="T4" fmla="*/ 0 w 26"/>
                <a:gd name="T5" fmla="*/ 0 h 652"/>
                <a:gd name="T6" fmla="*/ 5 w 26"/>
                <a:gd name="T7" fmla="*/ 652 h 652"/>
                <a:gd name="T8" fmla="*/ 26 w 26"/>
                <a:gd name="T9" fmla="*/ 652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652">
                  <a:moveTo>
                    <a:pt x="26" y="652"/>
                  </a:moveTo>
                  <a:lnTo>
                    <a:pt x="21" y="0"/>
                  </a:lnTo>
                  <a:lnTo>
                    <a:pt x="0" y="0"/>
                  </a:lnTo>
                  <a:lnTo>
                    <a:pt x="5" y="652"/>
                  </a:lnTo>
                  <a:lnTo>
                    <a:pt x="26" y="65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6" name="Freeform 96"/>
            <p:cNvSpPr>
              <a:spLocks noChangeArrowheads="1"/>
            </p:cNvSpPr>
            <p:nvPr/>
          </p:nvSpPr>
          <p:spPr bwMode="auto">
            <a:xfrm>
              <a:off x="4281" y="1298"/>
              <a:ext cx="12" cy="289"/>
            </a:xfrm>
            <a:custGeom>
              <a:avLst/>
              <a:gdLst>
                <a:gd name="T0" fmla="*/ 26 w 26"/>
                <a:gd name="T1" fmla="*/ 654 h 654"/>
                <a:gd name="T2" fmla="*/ 21 w 26"/>
                <a:gd name="T3" fmla="*/ 0 h 654"/>
                <a:gd name="T4" fmla="*/ 0 w 26"/>
                <a:gd name="T5" fmla="*/ 1 h 654"/>
                <a:gd name="T6" fmla="*/ 5 w 26"/>
                <a:gd name="T7" fmla="*/ 654 h 654"/>
                <a:gd name="T8" fmla="*/ 26 w 26"/>
                <a:gd name="T9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654">
                  <a:moveTo>
                    <a:pt x="26" y="654"/>
                  </a:moveTo>
                  <a:lnTo>
                    <a:pt x="21" y="0"/>
                  </a:lnTo>
                  <a:lnTo>
                    <a:pt x="0" y="1"/>
                  </a:lnTo>
                  <a:lnTo>
                    <a:pt x="5" y="654"/>
                  </a:lnTo>
                  <a:lnTo>
                    <a:pt x="26" y="6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7" name="Freeform 97"/>
            <p:cNvSpPr>
              <a:spLocks noChangeArrowheads="1"/>
            </p:cNvSpPr>
            <p:nvPr/>
          </p:nvSpPr>
          <p:spPr bwMode="auto">
            <a:xfrm>
              <a:off x="3242" y="1425"/>
              <a:ext cx="228" cy="10"/>
            </a:xfrm>
            <a:custGeom>
              <a:avLst/>
              <a:gdLst>
                <a:gd name="T0" fmla="*/ 535 w 535"/>
                <a:gd name="T1" fmla="*/ 1 h 22"/>
                <a:gd name="T2" fmla="*/ 535 w 535"/>
                <a:gd name="T3" fmla="*/ 22 h 22"/>
                <a:gd name="T4" fmla="*/ 0 w 535"/>
                <a:gd name="T5" fmla="*/ 21 h 22"/>
                <a:gd name="T6" fmla="*/ 0 w 535"/>
                <a:gd name="T7" fmla="*/ 0 h 22"/>
                <a:gd name="T8" fmla="*/ 535 w 535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5" h="22">
                  <a:moveTo>
                    <a:pt x="535" y="1"/>
                  </a:moveTo>
                  <a:lnTo>
                    <a:pt x="535" y="22"/>
                  </a:lnTo>
                  <a:lnTo>
                    <a:pt x="0" y="21"/>
                  </a:lnTo>
                  <a:lnTo>
                    <a:pt x="0" y="0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8" name="Rectangle 98"/>
            <p:cNvSpPr>
              <a:spLocks noChangeArrowheads="1"/>
            </p:cNvSpPr>
            <p:nvPr/>
          </p:nvSpPr>
          <p:spPr bwMode="auto">
            <a:xfrm>
              <a:off x="3498" y="1425"/>
              <a:ext cx="27" cy="1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9" name="Freeform 99"/>
            <p:cNvSpPr>
              <a:spLocks noChangeArrowheads="1"/>
            </p:cNvSpPr>
            <p:nvPr/>
          </p:nvSpPr>
          <p:spPr bwMode="auto">
            <a:xfrm>
              <a:off x="3553" y="1425"/>
              <a:ext cx="227" cy="10"/>
            </a:xfrm>
            <a:custGeom>
              <a:avLst/>
              <a:gdLst>
                <a:gd name="T0" fmla="*/ 536 w 536"/>
                <a:gd name="T1" fmla="*/ 1 h 22"/>
                <a:gd name="T2" fmla="*/ 536 w 536"/>
                <a:gd name="T3" fmla="*/ 22 h 22"/>
                <a:gd name="T4" fmla="*/ 0 w 536"/>
                <a:gd name="T5" fmla="*/ 21 h 22"/>
                <a:gd name="T6" fmla="*/ 0 w 536"/>
                <a:gd name="T7" fmla="*/ 0 h 22"/>
                <a:gd name="T8" fmla="*/ 536 w 536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6" h="22">
                  <a:moveTo>
                    <a:pt x="536" y="1"/>
                  </a:moveTo>
                  <a:lnTo>
                    <a:pt x="536" y="22"/>
                  </a:lnTo>
                  <a:lnTo>
                    <a:pt x="0" y="21"/>
                  </a:lnTo>
                  <a:lnTo>
                    <a:pt x="0" y="0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0" name="Rectangle 100"/>
            <p:cNvSpPr>
              <a:spLocks noChangeArrowheads="1"/>
            </p:cNvSpPr>
            <p:nvPr/>
          </p:nvSpPr>
          <p:spPr bwMode="auto">
            <a:xfrm>
              <a:off x="3808" y="1425"/>
              <a:ext cx="27" cy="1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1" name="Freeform 101"/>
            <p:cNvSpPr>
              <a:spLocks noChangeArrowheads="1"/>
            </p:cNvSpPr>
            <p:nvPr/>
          </p:nvSpPr>
          <p:spPr bwMode="auto">
            <a:xfrm>
              <a:off x="3863" y="1425"/>
              <a:ext cx="228" cy="11"/>
            </a:xfrm>
            <a:custGeom>
              <a:avLst/>
              <a:gdLst>
                <a:gd name="T0" fmla="*/ 535 w 535"/>
                <a:gd name="T1" fmla="*/ 1 h 22"/>
                <a:gd name="T2" fmla="*/ 535 w 535"/>
                <a:gd name="T3" fmla="*/ 22 h 22"/>
                <a:gd name="T4" fmla="*/ 0 w 535"/>
                <a:gd name="T5" fmla="*/ 21 h 22"/>
                <a:gd name="T6" fmla="*/ 0 w 535"/>
                <a:gd name="T7" fmla="*/ 0 h 22"/>
                <a:gd name="T8" fmla="*/ 535 w 535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5" h="22">
                  <a:moveTo>
                    <a:pt x="535" y="1"/>
                  </a:moveTo>
                  <a:lnTo>
                    <a:pt x="535" y="22"/>
                  </a:lnTo>
                  <a:lnTo>
                    <a:pt x="0" y="21"/>
                  </a:lnTo>
                  <a:lnTo>
                    <a:pt x="0" y="0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2" name="Rectangle 102"/>
            <p:cNvSpPr>
              <a:spLocks noChangeArrowheads="1"/>
            </p:cNvSpPr>
            <p:nvPr/>
          </p:nvSpPr>
          <p:spPr bwMode="auto">
            <a:xfrm>
              <a:off x="4119" y="1427"/>
              <a:ext cx="27" cy="9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3" name="Freeform 103"/>
            <p:cNvSpPr>
              <a:spLocks noChangeArrowheads="1"/>
            </p:cNvSpPr>
            <p:nvPr/>
          </p:nvSpPr>
          <p:spPr bwMode="auto">
            <a:xfrm>
              <a:off x="4174" y="1427"/>
              <a:ext cx="227" cy="9"/>
            </a:xfrm>
            <a:custGeom>
              <a:avLst/>
              <a:gdLst>
                <a:gd name="T0" fmla="*/ 535 w 535"/>
                <a:gd name="T1" fmla="*/ 1 h 22"/>
                <a:gd name="T2" fmla="*/ 535 w 535"/>
                <a:gd name="T3" fmla="*/ 22 h 22"/>
                <a:gd name="T4" fmla="*/ 0 w 535"/>
                <a:gd name="T5" fmla="*/ 21 h 22"/>
                <a:gd name="T6" fmla="*/ 0 w 535"/>
                <a:gd name="T7" fmla="*/ 0 h 22"/>
                <a:gd name="T8" fmla="*/ 535 w 535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5" h="22">
                  <a:moveTo>
                    <a:pt x="535" y="1"/>
                  </a:moveTo>
                  <a:lnTo>
                    <a:pt x="535" y="22"/>
                  </a:lnTo>
                  <a:lnTo>
                    <a:pt x="0" y="21"/>
                  </a:lnTo>
                  <a:lnTo>
                    <a:pt x="0" y="0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4428" y="1427"/>
              <a:ext cx="28" cy="9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5" name="Freeform 105"/>
            <p:cNvSpPr>
              <a:spLocks noChangeArrowheads="1"/>
            </p:cNvSpPr>
            <p:nvPr/>
          </p:nvSpPr>
          <p:spPr bwMode="auto">
            <a:xfrm>
              <a:off x="4483" y="1427"/>
              <a:ext cx="143" cy="9"/>
            </a:xfrm>
            <a:custGeom>
              <a:avLst/>
              <a:gdLst>
                <a:gd name="T0" fmla="*/ 335 w 335"/>
                <a:gd name="T1" fmla="*/ 1 h 22"/>
                <a:gd name="T2" fmla="*/ 0 w 335"/>
                <a:gd name="T3" fmla="*/ 0 h 22"/>
                <a:gd name="T4" fmla="*/ 0 w 335"/>
                <a:gd name="T5" fmla="*/ 22 h 22"/>
                <a:gd name="T6" fmla="*/ 335 w 335"/>
                <a:gd name="T7" fmla="*/ 22 h 22"/>
                <a:gd name="T8" fmla="*/ 335 w 335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5" h="22">
                  <a:moveTo>
                    <a:pt x="335" y="1"/>
                  </a:moveTo>
                  <a:lnTo>
                    <a:pt x="0" y="0"/>
                  </a:lnTo>
                  <a:lnTo>
                    <a:pt x="0" y="22"/>
                  </a:lnTo>
                  <a:lnTo>
                    <a:pt x="335" y="22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6" name="Freeform 106"/>
            <p:cNvSpPr>
              <a:spLocks noChangeArrowheads="1"/>
            </p:cNvSpPr>
            <p:nvPr/>
          </p:nvSpPr>
          <p:spPr bwMode="auto">
            <a:xfrm>
              <a:off x="4497" y="1437"/>
              <a:ext cx="40" cy="231"/>
            </a:xfrm>
            <a:custGeom>
              <a:avLst/>
              <a:gdLst>
                <a:gd name="T0" fmla="*/ 22 w 93"/>
                <a:gd name="T1" fmla="*/ 0 h 522"/>
                <a:gd name="T2" fmla="*/ 25 w 93"/>
                <a:gd name="T3" fmla="*/ 5 h 522"/>
                <a:gd name="T4" fmla="*/ 32 w 93"/>
                <a:gd name="T5" fmla="*/ 21 h 522"/>
                <a:gd name="T6" fmla="*/ 43 w 93"/>
                <a:gd name="T7" fmla="*/ 44 h 522"/>
                <a:gd name="T8" fmla="*/ 55 w 93"/>
                <a:gd name="T9" fmla="*/ 76 h 522"/>
                <a:gd name="T10" fmla="*/ 61 w 93"/>
                <a:gd name="T11" fmla="*/ 95 h 522"/>
                <a:gd name="T12" fmla="*/ 68 w 93"/>
                <a:gd name="T13" fmla="*/ 115 h 522"/>
                <a:gd name="T14" fmla="*/ 74 w 93"/>
                <a:gd name="T15" fmla="*/ 137 h 522"/>
                <a:gd name="T16" fmla="*/ 79 w 93"/>
                <a:gd name="T17" fmla="*/ 161 h 522"/>
                <a:gd name="T18" fmla="*/ 84 w 93"/>
                <a:gd name="T19" fmla="*/ 185 h 522"/>
                <a:gd name="T20" fmla="*/ 88 w 93"/>
                <a:gd name="T21" fmla="*/ 212 h 522"/>
                <a:gd name="T22" fmla="*/ 91 w 93"/>
                <a:gd name="T23" fmla="*/ 239 h 522"/>
                <a:gd name="T24" fmla="*/ 93 w 93"/>
                <a:gd name="T25" fmla="*/ 266 h 522"/>
                <a:gd name="T26" fmla="*/ 93 w 93"/>
                <a:gd name="T27" fmla="*/ 295 h 522"/>
                <a:gd name="T28" fmla="*/ 92 w 93"/>
                <a:gd name="T29" fmla="*/ 321 h 522"/>
                <a:gd name="T30" fmla="*/ 89 w 93"/>
                <a:gd name="T31" fmla="*/ 347 h 522"/>
                <a:gd name="T32" fmla="*/ 85 w 93"/>
                <a:gd name="T33" fmla="*/ 370 h 522"/>
                <a:gd name="T34" fmla="*/ 80 w 93"/>
                <a:gd name="T35" fmla="*/ 392 h 522"/>
                <a:gd name="T36" fmla="*/ 75 w 93"/>
                <a:gd name="T37" fmla="*/ 413 h 522"/>
                <a:gd name="T38" fmla="*/ 68 w 93"/>
                <a:gd name="T39" fmla="*/ 432 h 522"/>
                <a:gd name="T40" fmla="*/ 60 w 93"/>
                <a:gd name="T41" fmla="*/ 449 h 522"/>
                <a:gd name="T42" fmla="*/ 53 w 93"/>
                <a:gd name="T43" fmla="*/ 465 h 522"/>
                <a:gd name="T44" fmla="*/ 45 w 93"/>
                <a:gd name="T45" fmla="*/ 479 h 522"/>
                <a:gd name="T46" fmla="*/ 37 w 93"/>
                <a:gd name="T47" fmla="*/ 491 h 522"/>
                <a:gd name="T48" fmla="*/ 29 w 93"/>
                <a:gd name="T49" fmla="*/ 501 h 522"/>
                <a:gd name="T50" fmla="*/ 21 w 93"/>
                <a:gd name="T51" fmla="*/ 510 h 522"/>
                <a:gd name="T52" fmla="*/ 14 w 93"/>
                <a:gd name="T53" fmla="*/ 516 h 522"/>
                <a:gd name="T54" fmla="*/ 7 w 93"/>
                <a:gd name="T55" fmla="*/ 520 h 522"/>
                <a:gd name="T56" fmla="*/ 0 w 93"/>
                <a:gd name="T57" fmla="*/ 522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3" h="522">
                  <a:moveTo>
                    <a:pt x="22" y="0"/>
                  </a:moveTo>
                  <a:lnTo>
                    <a:pt x="25" y="5"/>
                  </a:lnTo>
                  <a:lnTo>
                    <a:pt x="32" y="21"/>
                  </a:lnTo>
                  <a:lnTo>
                    <a:pt x="43" y="44"/>
                  </a:lnTo>
                  <a:lnTo>
                    <a:pt x="55" y="76"/>
                  </a:lnTo>
                  <a:lnTo>
                    <a:pt x="61" y="95"/>
                  </a:lnTo>
                  <a:lnTo>
                    <a:pt x="68" y="115"/>
                  </a:lnTo>
                  <a:lnTo>
                    <a:pt x="74" y="137"/>
                  </a:lnTo>
                  <a:lnTo>
                    <a:pt x="79" y="161"/>
                  </a:lnTo>
                  <a:lnTo>
                    <a:pt x="84" y="185"/>
                  </a:lnTo>
                  <a:lnTo>
                    <a:pt x="88" y="212"/>
                  </a:lnTo>
                  <a:lnTo>
                    <a:pt x="91" y="239"/>
                  </a:lnTo>
                  <a:lnTo>
                    <a:pt x="93" y="266"/>
                  </a:lnTo>
                  <a:lnTo>
                    <a:pt x="93" y="295"/>
                  </a:lnTo>
                  <a:lnTo>
                    <a:pt x="92" y="321"/>
                  </a:lnTo>
                  <a:lnTo>
                    <a:pt x="89" y="347"/>
                  </a:lnTo>
                  <a:lnTo>
                    <a:pt x="85" y="370"/>
                  </a:lnTo>
                  <a:lnTo>
                    <a:pt x="80" y="392"/>
                  </a:lnTo>
                  <a:lnTo>
                    <a:pt x="75" y="413"/>
                  </a:lnTo>
                  <a:lnTo>
                    <a:pt x="68" y="432"/>
                  </a:lnTo>
                  <a:lnTo>
                    <a:pt x="60" y="449"/>
                  </a:lnTo>
                  <a:lnTo>
                    <a:pt x="53" y="465"/>
                  </a:lnTo>
                  <a:lnTo>
                    <a:pt x="45" y="479"/>
                  </a:lnTo>
                  <a:lnTo>
                    <a:pt x="37" y="491"/>
                  </a:lnTo>
                  <a:lnTo>
                    <a:pt x="29" y="501"/>
                  </a:lnTo>
                  <a:lnTo>
                    <a:pt x="21" y="510"/>
                  </a:lnTo>
                  <a:lnTo>
                    <a:pt x="14" y="516"/>
                  </a:lnTo>
                  <a:lnTo>
                    <a:pt x="7" y="520"/>
                  </a:lnTo>
                  <a:lnTo>
                    <a:pt x="0" y="522"/>
                  </a:lnTo>
                </a:path>
              </a:pathLst>
            </a:custGeom>
            <a:noFill/>
            <a:ln w="11113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7" name="Line 107"/>
            <p:cNvSpPr>
              <a:spLocks noChangeShapeType="1"/>
            </p:cNvSpPr>
            <p:nvPr/>
          </p:nvSpPr>
          <p:spPr bwMode="auto">
            <a:xfrm flipV="1">
              <a:off x="4485" y="1477"/>
              <a:ext cx="36" cy="30"/>
            </a:xfrm>
            <a:prstGeom prst="line">
              <a:avLst/>
            </a:prstGeom>
            <a:noFill/>
            <a:ln w="11113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" name="Line 108"/>
            <p:cNvSpPr>
              <a:spLocks noChangeShapeType="1"/>
            </p:cNvSpPr>
            <p:nvPr/>
          </p:nvSpPr>
          <p:spPr bwMode="auto">
            <a:xfrm flipV="1">
              <a:off x="4487" y="1534"/>
              <a:ext cx="47" cy="38"/>
            </a:xfrm>
            <a:prstGeom prst="line">
              <a:avLst/>
            </a:prstGeom>
            <a:noFill/>
            <a:ln w="11113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" name="Line 109"/>
            <p:cNvSpPr>
              <a:spLocks noChangeShapeType="1"/>
            </p:cNvSpPr>
            <p:nvPr/>
          </p:nvSpPr>
          <p:spPr bwMode="auto">
            <a:xfrm flipV="1">
              <a:off x="4489" y="1605"/>
              <a:ext cx="48" cy="39"/>
            </a:xfrm>
            <a:prstGeom prst="line">
              <a:avLst/>
            </a:prstGeom>
            <a:noFill/>
            <a:ln w="11113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0" name="Group 110"/>
          <p:cNvGrpSpPr>
            <a:grpSpLocks/>
          </p:cNvGrpSpPr>
          <p:nvPr/>
        </p:nvGrpSpPr>
        <p:grpSpPr bwMode="auto">
          <a:xfrm>
            <a:off x="7692593" y="2128321"/>
            <a:ext cx="615950" cy="1598612"/>
            <a:chOff x="3925" y="971"/>
            <a:chExt cx="388" cy="1007"/>
          </a:xfrm>
        </p:grpSpPr>
        <p:grpSp>
          <p:nvGrpSpPr>
            <p:cNvPr id="111" name="Group 111"/>
            <p:cNvGrpSpPr>
              <a:grpSpLocks/>
            </p:cNvGrpSpPr>
            <p:nvPr/>
          </p:nvGrpSpPr>
          <p:grpSpPr bwMode="auto">
            <a:xfrm>
              <a:off x="4075" y="994"/>
              <a:ext cx="238" cy="891"/>
              <a:chOff x="4075" y="994"/>
              <a:chExt cx="238" cy="891"/>
            </a:xfrm>
          </p:grpSpPr>
          <p:sp>
            <p:nvSpPr>
              <p:cNvPr id="118" name="Freeform 112"/>
              <p:cNvSpPr>
                <a:spLocks noChangeArrowheads="1"/>
              </p:cNvSpPr>
              <p:nvPr/>
            </p:nvSpPr>
            <p:spPr bwMode="auto">
              <a:xfrm>
                <a:off x="4075" y="1008"/>
                <a:ext cx="28" cy="119"/>
              </a:xfrm>
              <a:custGeom>
                <a:avLst/>
                <a:gdLst>
                  <a:gd name="T0" fmla="*/ 64 w 64"/>
                  <a:gd name="T1" fmla="*/ 271 h 271"/>
                  <a:gd name="T2" fmla="*/ 63 w 64"/>
                  <a:gd name="T3" fmla="*/ 0 h 271"/>
                  <a:gd name="T4" fmla="*/ 0 w 64"/>
                  <a:gd name="T5" fmla="*/ 0 h 271"/>
                  <a:gd name="T6" fmla="*/ 1 w 64"/>
                  <a:gd name="T7" fmla="*/ 271 h 271"/>
                  <a:gd name="T8" fmla="*/ 64 w 64"/>
                  <a:gd name="T9" fmla="*/ 271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271">
                    <a:moveTo>
                      <a:pt x="64" y="271"/>
                    </a:moveTo>
                    <a:lnTo>
                      <a:pt x="63" y="0"/>
                    </a:lnTo>
                    <a:lnTo>
                      <a:pt x="0" y="0"/>
                    </a:lnTo>
                    <a:lnTo>
                      <a:pt x="1" y="271"/>
                    </a:lnTo>
                    <a:lnTo>
                      <a:pt x="64" y="271"/>
                    </a:lnTo>
                    <a:close/>
                  </a:path>
                </a:pathLst>
              </a:custGeom>
              <a:solidFill>
                <a:srgbClr val="008000"/>
              </a:solidFill>
              <a:ln w="9525">
                <a:solidFill>
                  <a:srgbClr val="008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9" name="Freeform 113"/>
              <p:cNvSpPr>
                <a:spLocks noChangeArrowheads="1"/>
              </p:cNvSpPr>
              <p:nvPr/>
            </p:nvSpPr>
            <p:spPr bwMode="auto">
              <a:xfrm>
                <a:off x="4077" y="1746"/>
                <a:ext cx="28" cy="119"/>
              </a:xfrm>
              <a:custGeom>
                <a:avLst/>
                <a:gdLst>
                  <a:gd name="T0" fmla="*/ 64 w 64"/>
                  <a:gd name="T1" fmla="*/ 270 h 270"/>
                  <a:gd name="T2" fmla="*/ 63 w 64"/>
                  <a:gd name="T3" fmla="*/ 0 h 270"/>
                  <a:gd name="T4" fmla="*/ 0 w 64"/>
                  <a:gd name="T5" fmla="*/ 0 h 270"/>
                  <a:gd name="T6" fmla="*/ 1 w 64"/>
                  <a:gd name="T7" fmla="*/ 270 h 270"/>
                  <a:gd name="T8" fmla="*/ 64 w 64"/>
                  <a:gd name="T9" fmla="*/ 27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270">
                    <a:moveTo>
                      <a:pt x="64" y="270"/>
                    </a:moveTo>
                    <a:lnTo>
                      <a:pt x="63" y="0"/>
                    </a:lnTo>
                    <a:lnTo>
                      <a:pt x="0" y="0"/>
                    </a:lnTo>
                    <a:lnTo>
                      <a:pt x="1" y="270"/>
                    </a:lnTo>
                    <a:lnTo>
                      <a:pt x="64" y="270"/>
                    </a:lnTo>
                    <a:close/>
                  </a:path>
                </a:pathLst>
              </a:custGeom>
              <a:solidFill>
                <a:srgbClr val="008000"/>
              </a:solidFill>
              <a:ln w="9525">
                <a:solidFill>
                  <a:srgbClr val="008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0" name="Line 114"/>
              <p:cNvSpPr>
                <a:spLocks noChangeShapeType="1"/>
              </p:cNvSpPr>
              <p:nvPr/>
            </p:nvSpPr>
            <p:spPr bwMode="auto">
              <a:xfrm flipH="1" flipV="1">
                <a:off x="4087" y="1013"/>
                <a:ext cx="220" cy="2"/>
              </a:xfrm>
              <a:prstGeom prst="line">
                <a:avLst/>
              </a:prstGeom>
              <a:noFill/>
              <a:ln w="11113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" name="Freeform 115"/>
              <p:cNvSpPr>
                <a:spLocks noChangeArrowheads="1"/>
              </p:cNvSpPr>
              <p:nvPr/>
            </p:nvSpPr>
            <p:spPr bwMode="auto">
              <a:xfrm>
                <a:off x="4153" y="994"/>
                <a:ext cx="155" cy="43"/>
              </a:xfrm>
              <a:custGeom>
                <a:avLst/>
                <a:gdLst>
                  <a:gd name="T0" fmla="*/ 364 w 364"/>
                  <a:gd name="T1" fmla="*/ 46 h 99"/>
                  <a:gd name="T2" fmla="*/ 0 w 364"/>
                  <a:gd name="T3" fmla="*/ 99 h 99"/>
                  <a:gd name="T4" fmla="*/ 1 w 364"/>
                  <a:gd name="T5" fmla="*/ 0 h 99"/>
                  <a:gd name="T6" fmla="*/ 364 w 364"/>
                  <a:gd name="T7" fmla="*/ 4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4" h="99">
                    <a:moveTo>
                      <a:pt x="364" y="46"/>
                    </a:moveTo>
                    <a:lnTo>
                      <a:pt x="0" y="99"/>
                    </a:lnTo>
                    <a:lnTo>
                      <a:pt x="1" y="0"/>
                    </a:lnTo>
                    <a:lnTo>
                      <a:pt x="364" y="46"/>
                    </a:lnTo>
                    <a:close/>
                  </a:path>
                </a:pathLst>
              </a:custGeom>
              <a:solidFill>
                <a:srgbClr val="008000"/>
              </a:solidFill>
              <a:ln w="9525">
                <a:solidFill>
                  <a:srgbClr val="008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2" name="Freeform 116"/>
              <p:cNvSpPr>
                <a:spLocks noChangeArrowheads="1"/>
              </p:cNvSpPr>
              <p:nvPr/>
            </p:nvSpPr>
            <p:spPr bwMode="auto">
              <a:xfrm>
                <a:off x="4153" y="994"/>
                <a:ext cx="155" cy="43"/>
              </a:xfrm>
              <a:custGeom>
                <a:avLst/>
                <a:gdLst>
                  <a:gd name="T0" fmla="*/ 364 w 364"/>
                  <a:gd name="T1" fmla="*/ 46 h 99"/>
                  <a:gd name="T2" fmla="*/ 0 w 364"/>
                  <a:gd name="T3" fmla="*/ 99 h 99"/>
                  <a:gd name="T4" fmla="*/ 1 w 364"/>
                  <a:gd name="T5" fmla="*/ 0 h 99"/>
                  <a:gd name="T6" fmla="*/ 364 w 364"/>
                  <a:gd name="T7" fmla="*/ 4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4" h="99">
                    <a:moveTo>
                      <a:pt x="364" y="46"/>
                    </a:moveTo>
                    <a:lnTo>
                      <a:pt x="0" y="99"/>
                    </a:lnTo>
                    <a:lnTo>
                      <a:pt x="1" y="0"/>
                    </a:lnTo>
                    <a:lnTo>
                      <a:pt x="364" y="46"/>
                    </a:lnTo>
                    <a:close/>
                  </a:path>
                </a:pathLst>
              </a:custGeom>
              <a:solidFill>
                <a:srgbClr val="008000"/>
              </a:solidFill>
              <a:ln w="4763">
                <a:solidFill>
                  <a:srgbClr val="008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3" name="Line 117"/>
              <p:cNvSpPr>
                <a:spLocks noChangeShapeType="1"/>
              </p:cNvSpPr>
              <p:nvPr/>
            </p:nvSpPr>
            <p:spPr bwMode="auto">
              <a:xfrm flipH="1" flipV="1">
                <a:off x="4092" y="1861"/>
                <a:ext cx="218" cy="1"/>
              </a:xfrm>
              <a:prstGeom prst="line">
                <a:avLst/>
              </a:prstGeom>
              <a:noFill/>
              <a:ln w="11113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" name="Freeform 118"/>
              <p:cNvSpPr>
                <a:spLocks noChangeArrowheads="1"/>
              </p:cNvSpPr>
              <p:nvPr/>
            </p:nvSpPr>
            <p:spPr bwMode="auto">
              <a:xfrm>
                <a:off x="4158" y="1841"/>
                <a:ext cx="155" cy="44"/>
              </a:xfrm>
              <a:custGeom>
                <a:avLst/>
                <a:gdLst>
                  <a:gd name="T0" fmla="*/ 363 w 363"/>
                  <a:gd name="T1" fmla="*/ 47 h 99"/>
                  <a:gd name="T2" fmla="*/ 0 w 363"/>
                  <a:gd name="T3" fmla="*/ 99 h 99"/>
                  <a:gd name="T4" fmla="*/ 0 w 363"/>
                  <a:gd name="T5" fmla="*/ 0 h 99"/>
                  <a:gd name="T6" fmla="*/ 363 w 363"/>
                  <a:gd name="T7" fmla="*/ 4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3" h="99">
                    <a:moveTo>
                      <a:pt x="363" y="47"/>
                    </a:moveTo>
                    <a:lnTo>
                      <a:pt x="0" y="99"/>
                    </a:lnTo>
                    <a:lnTo>
                      <a:pt x="0" y="0"/>
                    </a:lnTo>
                    <a:lnTo>
                      <a:pt x="363" y="47"/>
                    </a:lnTo>
                    <a:close/>
                  </a:path>
                </a:pathLst>
              </a:custGeom>
              <a:solidFill>
                <a:srgbClr val="008000"/>
              </a:solidFill>
              <a:ln w="9525">
                <a:solidFill>
                  <a:srgbClr val="008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5" name="Freeform 119"/>
              <p:cNvSpPr>
                <a:spLocks noChangeArrowheads="1"/>
              </p:cNvSpPr>
              <p:nvPr/>
            </p:nvSpPr>
            <p:spPr bwMode="auto">
              <a:xfrm>
                <a:off x="4158" y="1841"/>
                <a:ext cx="155" cy="44"/>
              </a:xfrm>
              <a:custGeom>
                <a:avLst/>
                <a:gdLst>
                  <a:gd name="T0" fmla="*/ 363 w 363"/>
                  <a:gd name="T1" fmla="*/ 47 h 99"/>
                  <a:gd name="T2" fmla="*/ 0 w 363"/>
                  <a:gd name="T3" fmla="*/ 99 h 99"/>
                  <a:gd name="T4" fmla="*/ 0 w 363"/>
                  <a:gd name="T5" fmla="*/ 0 h 99"/>
                  <a:gd name="T6" fmla="*/ 363 w 363"/>
                  <a:gd name="T7" fmla="*/ 4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3" h="99">
                    <a:moveTo>
                      <a:pt x="363" y="47"/>
                    </a:moveTo>
                    <a:lnTo>
                      <a:pt x="0" y="99"/>
                    </a:lnTo>
                    <a:lnTo>
                      <a:pt x="0" y="0"/>
                    </a:lnTo>
                    <a:lnTo>
                      <a:pt x="363" y="47"/>
                    </a:lnTo>
                    <a:close/>
                  </a:path>
                </a:pathLst>
              </a:custGeom>
              <a:solidFill>
                <a:srgbClr val="008000"/>
              </a:solidFill>
              <a:ln w="4763">
                <a:solidFill>
                  <a:srgbClr val="008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sp>
          <p:nvSpPr>
            <p:cNvPr id="112" name="Freeform 120"/>
            <p:cNvSpPr>
              <a:spLocks noEditPoints="1" noChangeArrowheads="1"/>
            </p:cNvSpPr>
            <p:nvPr/>
          </p:nvSpPr>
          <p:spPr bwMode="auto">
            <a:xfrm>
              <a:off x="3925" y="971"/>
              <a:ext cx="76" cy="115"/>
            </a:xfrm>
            <a:custGeom>
              <a:avLst/>
              <a:gdLst>
                <a:gd name="T0" fmla="*/ 179 w 179"/>
                <a:gd name="T1" fmla="*/ 258 h 260"/>
                <a:gd name="T2" fmla="*/ 173 w 179"/>
                <a:gd name="T3" fmla="*/ 260 h 260"/>
                <a:gd name="T4" fmla="*/ 149 w 179"/>
                <a:gd name="T5" fmla="*/ 190 h 260"/>
                <a:gd name="T6" fmla="*/ 29 w 179"/>
                <a:gd name="T7" fmla="*/ 190 h 260"/>
                <a:gd name="T8" fmla="*/ 5 w 179"/>
                <a:gd name="T9" fmla="*/ 260 h 260"/>
                <a:gd name="T10" fmla="*/ 0 w 179"/>
                <a:gd name="T11" fmla="*/ 258 h 260"/>
                <a:gd name="T12" fmla="*/ 86 w 179"/>
                <a:gd name="T13" fmla="*/ 0 h 260"/>
                <a:gd name="T14" fmla="*/ 93 w 179"/>
                <a:gd name="T15" fmla="*/ 0 h 260"/>
                <a:gd name="T16" fmla="*/ 179 w 179"/>
                <a:gd name="T17" fmla="*/ 258 h 260"/>
                <a:gd name="T18" fmla="*/ 147 w 179"/>
                <a:gd name="T19" fmla="*/ 184 h 260"/>
                <a:gd name="T20" fmla="*/ 89 w 179"/>
                <a:gd name="T21" fmla="*/ 9 h 260"/>
                <a:gd name="T22" fmla="*/ 30 w 179"/>
                <a:gd name="T23" fmla="*/ 184 h 260"/>
                <a:gd name="T24" fmla="*/ 147 w 179"/>
                <a:gd name="T25" fmla="*/ 18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9" h="260">
                  <a:moveTo>
                    <a:pt x="179" y="258"/>
                  </a:moveTo>
                  <a:lnTo>
                    <a:pt x="173" y="260"/>
                  </a:lnTo>
                  <a:lnTo>
                    <a:pt x="149" y="190"/>
                  </a:lnTo>
                  <a:lnTo>
                    <a:pt x="29" y="190"/>
                  </a:lnTo>
                  <a:lnTo>
                    <a:pt x="5" y="260"/>
                  </a:lnTo>
                  <a:lnTo>
                    <a:pt x="0" y="258"/>
                  </a:lnTo>
                  <a:lnTo>
                    <a:pt x="86" y="0"/>
                  </a:lnTo>
                  <a:lnTo>
                    <a:pt x="93" y="0"/>
                  </a:lnTo>
                  <a:lnTo>
                    <a:pt x="179" y="258"/>
                  </a:lnTo>
                  <a:close/>
                  <a:moveTo>
                    <a:pt x="147" y="184"/>
                  </a:moveTo>
                  <a:lnTo>
                    <a:pt x="89" y="9"/>
                  </a:lnTo>
                  <a:lnTo>
                    <a:pt x="30" y="184"/>
                  </a:lnTo>
                  <a:lnTo>
                    <a:pt x="147" y="184"/>
                  </a:lnTo>
                  <a:close/>
                </a:path>
              </a:pathLst>
            </a:custGeom>
            <a:noFill/>
            <a:ln w="9525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3" name="Freeform 121"/>
            <p:cNvSpPr>
              <a:spLocks noChangeArrowheads="1"/>
            </p:cNvSpPr>
            <p:nvPr/>
          </p:nvSpPr>
          <p:spPr bwMode="auto">
            <a:xfrm>
              <a:off x="3925" y="971"/>
              <a:ext cx="76" cy="115"/>
            </a:xfrm>
            <a:custGeom>
              <a:avLst/>
              <a:gdLst>
                <a:gd name="T0" fmla="*/ 179 w 179"/>
                <a:gd name="T1" fmla="*/ 258 h 260"/>
                <a:gd name="T2" fmla="*/ 173 w 179"/>
                <a:gd name="T3" fmla="*/ 260 h 260"/>
                <a:gd name="T4" fmla="*/ 149 w 179"/>
                <a:gd name="T5" fmla="*/ 190 h 260"/>
                <a:gd name="T6" fmla="*/ 29 w 179"/>
                <a:gd name="T7" fmla="*/ 190 h 260"/>
                <a:gd name="T8" fmla="*/ 5 w 179"/>
                <a:gd name="T9" fmla="*/ 260 h 260"/>
                <a:gd name="T10" fmla="*/ 0 w 179"/>
                <a:gd name="T11" fmla="*/ 258 h 260"/>
                <a:gd name="T12" fmla="*/ 86 w 179"/>
                <a:gd name="T13" fmla="*/ 0 h 260"/>
                <a:gd name="T14" fmla="*/ 93 w 179"/>
                <a:gd name="T15" fmla="*/ 0 h 260"/>
                <a:gd name="T16" fmla="*/ 179 w 179"/>
                <a:gd name="T17" fmla="*/ 25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260">
                  <a:moveTo>
                    <a:pt x="179" y="258"/>
                  </a:moveTo>
                  <a:lnTo>
                    <a:pt x="173" y="260"/>
                  </a:lnTo>
                  <a:lnTo>
                    <a:pt x="149" y="190"/>
                  </a:lnTo>
                  <a:lnTo>
                    <a:pt x="29" y="190"/>
                  </a:lnTo>
                  <a:lnTo>
                    <a:pt x="5" y="260"/>
                  </a:lnTo>
                  <a:lnTo>
                    <a:pt x="0" y="258"/>
                  </a:lnTo>
                  <a:lnTo>
                    <a:pt x="86" y="0"/>
                  </a:lnTo>
                  <a:lnTo>
                    <a:pt x="93" y="0"/>
                  </a:lnTo>
                  <a:lnTo>
                    <a:pt x="179" y="258"/>
                  </a:lnTo>
                  <a:close/>
                </a:path>
              </a:pathLst>
            </a:custGeom>
            <a:noFill/>
            <a:ln w="476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4" name="Freeform 122"/>
            <p:cNvSpPr>
              <a:spLocks noChangeArrowheads="1"/>
            </p:cNvSpPr>
            <p:nvPr/>
          </p:nvSpPr>
          <p:spPr bwMode="auto">
            <a:xfrm>
              <a:off x="3937" y="975"/>
              <a:ext cx="50" cy="77"/>
            </a:xfrm>
            <a:custGeom>
              <a:avLst/>
              <a:gdLst>
                <a:gd name="T0" fmla="*/ 117 w 117"/>
                <a:gd name="T1" fmla="*/ 175 h 175"/>
                <a:gd name="T2" fmla="*/ 59 w 117"/>
                <a:gd name="T3" fmla="*/ 0 h 175"/>
                <a:gd name="T4" fmla="*/ 0 w 117"/>
                <a:gd name="T5" fmla="*/ 175 h 175"/>
                <a:gd name="T6" fmla="*/ 117 w 117"/>
                <a:gd name="T7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175">
                  <a:moveTo>
                    <a:pt x="117" y="175"/>
                  </a:moveTo>
                  <a:lnTo>
                    <a:pt x="59" y="0"/>
                  </a:lnTo>
                  <a:lnTo>
                    <a:pt x="0" y="175"/>
                  </a:lnTo>
                  <a:lnTo>
                    <a:pt x="117" y="175"/>
                  </a:lnTo>
                  <a:close/>
                </a:path>
              </a:pathLst>
            </a:custGeom>
            <a:noFill/>
            <a:ln w="476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5" name="Freeform 123"/>
            <p:cNvSpPr>
              <a:spLocks noEditPoints="1" noChangeArrowheads="1"/>
            </p:cNvSpPr>
            <p:nvPr/>
          </p:nvSpPr>
          <p:spPr bwMode="auto">
            <a:xfrm>
              <a:off x="3988" y="1864"/>
              <a:ext cx="76" cy="114"/>
            </a:xfrm>
            <a:custGeom>
              <a:avLst/>
              <a:gdLst>
                <a:gd name="T0" fmla="*/ 178 w 178"/>
                <a:gd name="T1" fmla="*/ 258 h 259"/>
                <a:gd name="T2" fmla="*/ 173 w 178"/>
                <a:gd name="T3" fmla="*/ 259 h 259"/>
                <a:gd name="T4" fmla="*/ 150 w 178"/>
                <a:gd name="T5" fmla="*/ 190 h 259"/>
                <a:gd name="T6" fmla="*/ 30 w 178"/>
                <a:gd name="T7" fmla="*/ 190 h 259"/>
                <a:gd name="T8" fmla="*/ 6 w 178"/>
                <a:gd name="T9" fmla="*/ 259 h 259"/>
                <a:gd name="T10" fmla="*/ 0 w 178"/>
                <a:gd name="T11" fmla="*/ 258 h 259"/>
                <a:gd name="T12" fmla="*/ 87 w 178"/>
                <a:gd name="T13" fmla="*/ 0 h 259"/>
                <a:gd name="T14" fmla="*/ 93 w 178"/>
                <a:gd name="T15" fmla="*/ 0 h 259"/>
                <a:gd name="T16" fmla="*/ 178 w 178"/>
                <a:gd name="T17" fmla="*/ 258 h 259"/>
                <a:gd name="T18" fmla="*/ 148 w 178"/>
                <a:gd name="T19" fmla="*/ 184 h 259"/>
                <a:gd name="T20" fmla="*/ 90 w 178"/>
                <a:gd name="T21" fmla="*/ 8 h 259"/>
                <a:gd name="T22" fmla="*/ 31 w 178"/>
                <a:gd name="T23" fmla="*/ 184 h 259"/>
                <a:gd name="T24" fmla="*/ 148 w 178"/>
                <a:gd name="T25" fmla="*/ 184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8" h="259">
                  <a:moveTo>
                    <a:pt x="178" y="258"/>
                  </a:moveTo>
                  <a:lnTo>
                    <a:pt x="173" y="259"/>
                  </a:lnTo>
                  <a:lnTo>
                    <a:pt x="150" y="190"/>
                  </a:lnTo>
                  <a:lnTo>
                    <a:pt x="30" y="190"/>
                  </a:lnTo>
                  <a:lnTo>
                    <a:pt x="6" y="259"/>
                  </a:lnTo>
                  <a:lnTo>
                    <a:pt x="0" y="258"/>
                  </a:lnTo>
                  <a:lnTo>
                    <a:pt x="87" y="0"/>
                  </a:lnTo>
                  <a:lnTo>
                    <a:pt x="93" y="0"/>
                  </a:lnTo>
                  <a:lnTo>
                    <a:pt x="178" y="258"/>
                  </a:lnTo>
                  <a:close/>
                  <a:moveTo>
                    <a:pt x="148" y="184"/>
                  </a:moveTo>
                  <a:lnTo>
                    <a:pt x="90" y="8"/>
                  </a:lnTo>
                  <a:lnTo>
                    <a:pt x="31" y="184"/>
                  </a:lnTo>
                  <a:lnTo>
                    <a:pt x="148" y="184"/>
                  </a:lnTo>
                  <a:close/>
                </a:path>
              </a:pathLst>
            </a:custGeom>
            <a:noFill/>
            <a:ln w="9525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6" name="Freeform 124"/>
            <p:cNvSpPr>
              <a:spLocks noChangeArrowheads="1"/>
            </p:cNvSpPr>
            <p:nvPr/>
          </p:nvSpPr>
          <p:spPr bwMode="auto">
            <a:xfrm>
              <a:off x="3988" y="1864"/>
              <a:ext cx="76" cy="114"/>
            </a:xfrm>
            <a:custGeom>
              <a:avLst/>
              <a:gdLst>
                <a:gd name="T0" fmla="*/ 178 w 178"/>
                <a:gd name="T1" fmla="*/ 258 h 259"/>
                <a:gd name="T2" fmla="*/ 173 w 178"/>
                <a:gd name="T3" fmla="*/ 259 h 259"/>
                <a:gd name="T4" fmla="*/ 150 w 178"/>
                <a:gd name="T5" fmla="*/ 190 h 259"/>
                <a:gd name="T6" fmla="*/ 30 w 178"/>
                <a:gd name="T7" fmla="*/ 190 h 259"/>
                <a:gd name="T8" fmla="*/ 6 w 178"/>
                <a:gd name="T9" fmla="*/ 259 h 259"/>
                <a:gd name="T10" fmla="*/ 0 w 178"/>
                <a:gd name="T11" fmla="*/ 258 h 259"/>
                <a:gd name="T12" fmla="*/ 87 w 178"/>
                <a:gd name="T13" fmla="*/ 0 h 259"/>
                <a:gd name="T14" fmla="*/ 93 w 178"/>
                <a:gd name="T15" fmla="*/ 0 h 259"/>
                <a:gd name="T16" fmla="*/ 178 w 178"/>
                <a:gd name="T17" fmla="*/ 258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8" h="259">
                  <a:moveTo>
                    <a:pt x="178" y="258"/>
                  </a:moveTo>
                  <a:lnTo>
                    <a:pt x="173" y="259"/>
                  </a:lnTo>
                  <a:lnTo>
                    <a:pt x="150" y="190"/>
                  </a:lnTo>
                  <a:lnTo>
                    <a:pt x="30" y="190"/>
                  </a:lnTo>
                  <a:lnTo>
                    <a:pt x="6" y="259"/>
                  </a:lnTo>
                  <a:lnTo>
                    <a:pt x="0" y="258"/>
                  </a:lnTo>
                  <a:lnTo>
                    <a:pt x="87" y="0"/>
                  </a:lnTo>
                  <a:lnTo>
                    <a:pt x="93" y="0"/>
                  </a:lnTo>
                  <a:lnTo>
                    <a:pt x="178" y="258"/>
                  </a:lnTo>
                  <a:close/>
                </a:path>
              </a:pathLst>
            </a:custGeom>
            <a:noFill/>
            <a:ln w="476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7" name="Freeform 125"/>
            <p:cNvSpPr>
              <a:spLocks noChangeArrowheads="1"/>
            </p:cNvSpPr>
            <p:nvPr/>
          </p:nvSpPr>
          <p:spPr bwMode="auto">
            <a:xfrm>
              <a:off x="4001" y="1868"/>
              <a:ext cx="50" cy="77"/>
            </a:xfrm>
            <a:custGeom>
              <a:avLst/>
              <a:gdLst>
                <a:gd name="T0" fmla="*/ 117 w 117"/>
                <a:gd name="T1" fmla="*/ 176 h 176"/>
                <a:gd name="T2" fmla="*/ 59 w 117"/>
                <a:gd name="T3" fmla="*/ 0 h 176"/>
                <a:gd name="T4" fmla="*/ 0 w 117"/>
                <a:gd name="T5" fmla="*/ 176 h 176"/>
                <a:gd name="T6" fmla="*/ 117 w 117"/>
                <a:gd name="T7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176">
                  <a:moveTo>
                    <a:pt x="117" y="176"/>
                  </a:moveTo>
                  <a:lnTo>
                    <a:pt x="59" y="0"/>
                  </a:lnTo>
                  <a:lnTo>
                    <a:pt x="0" y="176"/>
                  </a:lnTo>
                  <a:lnTo>
                    <a:pt x="117" y="176"/>
                  </a:lnTo>
                  <a:close/>
                </a:path>
              </a:pathLst>
            </a:custGeom>
            <a:noFill/>
            <a:ln w="476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126" name="Group 126"/>
          <p:cNvGrpSpPr>
            <a:grpSpLocks/>
          </p:cNvGrpSpPr>
          <p:nvPr/>
        </p:nvGrpSpPr>
        <p:grpSpPr bwMode="auto">
          <a:xfrm>
            <a:off x="6873443" y="3479284"/>
            <a:ext cx="430212" cy="182563"/>
            <a:chOff x="3385" y="1702"/>
            <a:chExt cx="271" cy="115"/>
          </a:xfrm>
        </p:grpSpPr>
        <p:sp>
          <p:nvSpPr>
            <p:cNvPr id="127" name="Freeform 127"/>
            <p:cNvSpPr>
              <a:spLocks noEditPoints="1" noChangeArrowheads="1"/>
            </p:cNvSpPr>
            <p:nvPr/>
          </p:nvSpPr>
          <p:spPr bwMode="auto">
            <a:xfrm>
              <a:off x="3385" y="1702"/>
              <a:ext cx="75" cy="115"/>
            </a:xfrm>
            <a:custGeom>
              <a:avLst/>
              <a:gdLst>
                <a:gd name="T0" fmla="*/ 178 w 178"/>
                <a:gd name="T1" fmla="*/ 259 h 260"/>
                <a:gd name="T2" fmla="*/ 173 w 178"/>
                <a:gd name="T3" fmla="*/ 260 h 260"/>
                <a:gd name="T4" fmla="*/ 149 w 178"/>
                <a:gd name="T5" fmla="*/ 189 h 260"/>
                <a:gd name="T6" fmla="*/ 28 w 178"/>
                <a:gd name="T7" fmla="*/ 189 h 260"/>
                <a:gd name="T8" fmla="*/ 5 w 178"/>
                <a:gd name="T9" fmla="*/ 260 h 260"/>
                <a:gd name="T10" fmla="*/ 0 w 178"/>
                <a:gd name="T11" fmla="*/ 259 h 260"/>
                <a:gd name="T12" fmla="*/ 85 w 178"/>
                <a:gd name="T13" fmla="*/ 0 h 260"/>
                <a:gd name="T14" fmla="*/ 91 w 178"/>
                <a:gd name="T15" fmla="*/ 0 h 260"/>
                <a:gd name="T16" fmla="*/ 178 w 178"/>
                <a:gd name="T17" fmla="*/ 259 h 260"/>
                <a:gd name="T18" fmla="*/ 147 w 178"/>
                <a:gd name="T19" fmla="*/ 184 h 260"/>
                <a:gd name="T20" fmla="*/ 88 w 178"/>
                <a:gd name="T21" fmla="*/ 9 h 260"/>
                <a:gd name="T22" fmla="*/ 30 w 178"/>
                <a:gd name="T23" fmla="*/ 184 h 260"/>
                <a:gd name="T24" fmla="*/ 147 w 178"/>
                <a:gd name="T25" fmla="*/ 18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8" h="260">
                  <a:moveTo>
                    <a:pt x="178" y="259"/>
                  </a:moveTo>
                  <a:lnTo>
                    <a:pt x="173" y="260"/>
                  </a:lnTo>
                  <a:lnTo>
                    <a:pt x="149" y="189"/>
                  </a:lnTo>
                  <a:lnTo>
                    <a:pt x="28" y="189"/>
                  </a:lnTo>
                  <a:lnTo>
                    <a:pt x="5" y="260"/>
                  </a:lnTo>
                  <a:lnTo>
                    <a:pt x="0" y="259"/>
                  </a:lnTo>
                  <a:lnTo>
                    <a:pt x="85" y="0"/>
                  </a:lnTo>
                  <a:lnTo>
                    <a:pt x="91" y="0"/>
                  </a:lnTo>
                  <a:lnTo>
                    <a:pt x="178" y="259"/>
                  </a:lnTo>
                  <a:close/>
                  <a:moveTo>
                    <a:pt x="147" y="184"/>
                  </a:moveTo>
                  <a:lnTo>
                    <a:pt x="88" y="9"/>
                  </a:lnTo>
                  <a:lnTo>
                    <a:pt x="30" y="184"/>
                  </a:lnTo>
                  <a:lnTo>
                    <a:pt x="147" y="184"/>
                  </a:lnTo>
                  <a:close/>
                </a:path>
              </a:pathLst>
            </a:custGeom>
            <a:solidFill>
              <a:srgbClr val="1F1A17"/>
            </a:solidFill>
            <a:ln w="9525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8" name="Freeform 128"/>
            <p:cNvSpPr>
              <a:spLocks noEditPoints="1" noChangeArrowheads="1"/>
            </p:cNvSpPr>
            <p:nvPr/>
          </p:nvSpPr>
          <p:spPr bwMode="auto">
            <a:xfrm>
              <a:off x="3580" y="1702"/>
              <a:ext cx="76" cy="115"/>
            </a:xfrm>
            <a:custGeom>
              <a:avLst/>
              <a:gdLst>
                <a:gd name="T0" fmla="*/ 178 w 178"/>
                <a:gd name="T1" fmla="*/ 259 h 260"/>
                <a:gd name="T2" fmla="*/ 173 w 178"/>
                <a:gd name="T3" fmla="*/ 260 h 260"/>
                <a:gd name="T4" fmla="*/ 150 w 178"/>
                <a:gd name="T5" fmla="*/ 189 h 260"/>
                <a:gd name="T6" fmla="*/ 29 w 178"/>
                <a:gd name="T7" fmla="*/ 189 h 260"/>
                <a:gd name="T8" fmla="*/ 5 w 178"/>
                <a:gd name="T9" fmla="*/ 260 h 260"/>
                <a:gd name="T10" fmla="*/ 0 w 178"/>
                <a:gd name="T11" fmla="*/ 259 h 260"/>
                <a:gd name="T12" fmla="*/ 86 w 178"/>
                <a:gd name="T13" fmla="*/ 0 h 260"/>
                <a:gd name="T14" fmla="*/ 92 w 178"/>
                <a:gd name="T15" fmla="*/ 0 h 260"/>
                <a:gd name="T16" fmla="*/ 178 w 178"/>
                <a:gd name="T17" fmla="*/ 259 h 260"/>
                <a:gd name="T18" fmla="*/ 148 w 178"/>
                <a:gd name="T19" fmla="*/ 184 h 260"/>
                <a:gd name="T20" fmla="*/ 89 w 178"/>
                <a:gd name="T21" fmla="*/ 9 h 260"/>
                <a:gd name="T22" fmla="*/ 31 w 178"/>
                <a:gd name="T23" fmla="*/ 184 h 260"/>
                <a:gd name="T24" fmla="*/ 148 w 178"/>
                <a:gd name="T25" fmla="*/ 18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8" h="260">
                  <a:moveTo>
                    <a:pt x="178" y="259"/>
                  </a:moveTo>
                  <a:lnTo>
                    <a:pt x="173" y="260"/>
                  </a:lnTo>
                  <a:lnTo>
                    <a:pt x="150" y="189"/>
                  </a:lnTo>
                  <a:lnTo>
                    <a:pt x="29" y="189"/>
                  </a:lnTo>
                  <a:lnTo>
                    <a:pt x="5" y="260"/>
                  </a:lnTo>
                  <a:lnTo>
                    <a:pt x="0" y="259"/>
                  </a:lnTo>
                  <a:lnTo>
                    <a:pt x="86" y="0"/>
                  </a:lnTo>
                  <a:lnTo>
                    <a:pt x="92" y="0"/>
                  </a:lnTo>
                  <a:lnTo>
                    <a:pt x="178" y="259"/>
                  </a:lnTo>
                  <a:close/>
                  <a:moveTo>
                    <a:pt x="148" y="184"/>
                  </a:moveTo>
                  <a:lnTo>
                    <a:pt x="89" y="9"/>
                  </a:lnTo>
                  <a:lnTo>
                    <a:pt x="31" y="184"/>
                  </a:lnTo>
                  <a:lnTo>
                    <a:pt x="148" y="184"/>
                  </a:lnTo>
                  <a:close/>
                </a:path>
              </a:pathLst>
            </a:custGeom>
            <a:solidFill>
              <a:srgbClr val="1F1A17"/>
            </a:solidFill>
            <a:ln w="9525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9" name="Freeform 129"/>
            <p:cNvSpPr>
              <a:spLocks noChangeArrowheads="1"/>
            </p:cNvSpPr>
            <p:nvPr/>
          </p:nvSpPr>
          <p:spPr bwMode="auto">
            <a:xfrm>
              <a:off x="3385" y="1702"/>
              <a:ext cx="75" cy="115"/>
            </a:xfrm>
            <a:custGeom>
              <a:avLst/>
              <a:gdLst>
                <a:gd name="T0" fmla="*/ 178 w 178"/>
                <a:gd name="T1" fmla="*/ 259 h 260"/>
                <a:gd name="T2" fmla="*/ 173 w 178"/>
                <a:gd name="T3" fmla="*/ 260 h 260"/>
                <a:gd name="T4" fmla="*/ 149 w 178"/>
                <a:gd name="T5" fmla="*/ 189 h 260"/>
                <a:gd name="T6" fmla="*/ 28 w 178"/>
                <a:gd name="T7" fmla="*/ 189 h 260"/>
                <a:gd name="T8" fmla="*/ 5 w 178"/>
                <a:gd name="T9" fmla="*/ 260 h 260"/>
                <a:gd name="T10" fmla="*/ 0 w 178"/>
                <a:gd name="T11" fmla="*/ 259 h 260"/>
                <a:gd name="T12" fmla="*/ 85 w 178"/>
                <a:gd name="T13" fmla="*/ 0 h 260"/>
                <a:gd name="T14" fmla="*/ 91 w 178"/>
                <a:gd name="T15" fmla="*/ 0 h 260"/>
                <a:gd name="T16" fmla="*/ 178 w 178"/>
                <a:gd name="T17" fmla="*/ 25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8" h="260">
                  <a:moveTo>
                    <a:pt x="178" y="259"/>
                  </a:moveTo>
                  <a:lnTo>
                    <a:pt x="173" y="260"/>
                  </a:lnTo>
                  <a:lnTo>
                    <a:pt x="149" y="189"/>
                  </a:lnTo>
                  <a:lnTo>
                    <a:pt x="28" y="189"/>
                  </a:lnTo>
                  <a:lnTo>
                    <a:pt x="5" y="260"/>
                  </a:lnTo>
                  <a:lnTo>
                    <a:pt x="0" y="259"/>
                  </a:lnTo>
                  <a:lnTo>
                    <a:pt x="85" y="0"/>
                  </a:lnTo>
                  <a:lnTo>
                    <a:pt x="91" y="0"/>
                  </a:lnTo>
                  <a:lnTo>
                    <a:pt x="178" y="259"/>
                  </a:lnTo>
                  <a:close/>
                </a:path>
              </a:pathLst>
            </a:custGeom>
            <a:noFill/>
            <a:ln w="476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0" name="Freeform 130"/>
            <p:cNvSpPr>
              <a:spLocks noChangeArrowheads="1"/>
            </p:cNvSpPr>
            <p:nvPr/>
          </p:nvSpPr>
          <p:spPr bwMode="auto">
            <a:xfrm>
              <a:off x="3398" y="1706"/>
              <a:ext cx="49" cy="77"/>
            </a:xfrm>
            <a:custGeom>
              <a:avLst/>
              <a:gdLst>
                <a:gd name="T0" fmla="*/ 117 w 117"/>
                <a:gd name="T1" fmla="*/ 175 h 175"/>
                <a:gd name="T2" fmla="*/ 58 w 117"/>
                <a:gd name="T3" fmla="*/ 0 h 175"/>
                <a:gd name="T4" fmla="*/ 0 w 117"/>
                <a:gd name="T5" fmla="*/ 175 h 175"/>
                <a:gd name="T6" fmla="*/ 117 w 117"/>
                <a:gd name="T7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175">
                  <a:moveTo>
                    <a:pt x="117" y="175"/>
                  </a:moveTo>
                  <a:lnTo>
                    <a:pt x="58" y="0"/>
                  </a:lnTo>
                  <a:lnTo>
                    <a:pt x="0" y="175"/>
                  </a:lnTo>
                  <a:lnTo>
                    <a:pt x="117" y="175"/>
                  </a:lnTo>
                  <a:close/>
                </a:path>
              </a:pathLst>
            </a:custGeom>
            <a:noFill/>
            <a:ln w="476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1" name="Rectangle 131"/>
            <p:cNvSpPr>
              <a:spLocks noChangeArrowheads="1"/>
            </p:cNvSpPr>
            <p:nvPr/>
          </p:nvSpPr>
          <p:spPr bwMode="auto">
            <a:xfrm>
              <a:off x="3496" y="1778"/>
              <a:ext cx="49" cy="1"/>
            </a:xfrm>
            <a:prstGeom prst="rect">
              <a:avLst/>
            </a:prstGeom>
            <a:noFill/>
            <a:ln w="4763">
              <a:solidFill>
                <a:srgbClr val="008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2" name="Freeform 132"/>
            <p:cNvSpPr>
              <a:spLocks noChangeArrowheads="1"/>
            </p:cNvSpPr>
            <p:nvPr/>
          </p:nvSpPr>
          <p:spPr bwMode="auto">
            <a:xfrm>
              <a:off x="3580" y="1702"/>
              <a:ext cx="76" cy="115"/>
            </a:xfrm>
            <a:custGeom>
              <a:avLst/>
              <a:gdLst>
                <a:gd name="T0" fmla="*/ 178 w 178"/>
                <a:gd name="T1" fmla="*/ 259 h 260"/>
                <a:gd name="T2" fmla="*/ 173 w 178"/>
                <a:gd name="T3" fmla="*/ 260 h 260"/>
                <a:gd name="T4" fmla="*/ 150 w 178"/>
                <a:gd name="T5" fmla="*/ 189 h 260"/>
                <a:gd name="T6" fmla="*/ 29 w 178"/>
                <a:gd name="T7" fmla="*/ 189 h 260"/>
                <a:gd name="T8" fmla="*/ 5 w 178"/>
                <a:gd name="T9" fmla="*/ 260 h 260"/>
                <a:gd name="T10" fmla="*/ 0 w 178"/>
                <a:gd name="T11" fmla="*/ 259 h 260"/>
                <a:gd name="T12" fmla="*/ 86 w 178"/>
                <a:gd name="T13" fmla="*/ 0 h 260"/>
                <a:gd name="T14" fmla="*/ 92 w 178"/>
                <a:gd name="T15" fmla="*/ 0 h 260"/>
                <a:gd name="T16" fmla="*/ 178 w 178"/>
                <a:gd name="T17" fmla="*/ 25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8" h="260">
                  <a:moveTo>
                    <a:pt x="178" y="259"/>
                  </a:moveTo>
                  <a:lnTo>
                    <a:pt x="173" y="260"/>
                  </a:lnTo>
                  <a:lnTo>
                    <a:pt x="150" y="189"/>
                  </a:lnTo>
                  <a:lnTo>
                    <a:pt x="29" y="189"/>
                  </a:lnTo>
                  <a:lnTo>
                    <a:pt x="5" y="260"/>
                  </a:lnTo>
                  <a:lnTo>
                    <a:pt x="0" y="259"/>
                  </a:lnTo>
                  <a:lnTo>
                    <a:pt x="86" y="0"/>
                  </a:lnTo>
                  <a:lnTo>
                    <a:pt x="92" y="0"/>
                  </a:lnTo>
                  <a:lnTo>
                    <a:pt x="178" y="259"/>
                  </a:lnTo>
                  <a:close/>
                </a:path>
              </a:pathLst>
            </a:custGeom>
            <a:noFill/>
            <a:ln w="476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3" name="Freeform 133"/>
            <p:cNvSpPr>
              <a:spLocks noChangeArrowheads="1"/>
            </p:cNvSpPr>
            <p:nvPr/>
          </p:nvSpPr>
          <p:spPr bwMode="auto">
            <a:xfrm>
              <a:off x="3593" y="1706"/>
              <a:ext cx="50" cy="77"/>
            </a:xfrm>
            <a:custGeom>
              <a:avLst/>
              <a:gdLst>
                <a:gd name="T0" fmla="*/ 117 w 117"/>
                <a:gd name="T1" fmla="*/ 175 h 175"/>
                <a:gd name="T2" fmla="*/ 58 w 117"/>
                <a:gd name="T3" fmla="*/ 0 h 175"/>
                <a:gd name="T4" fmla="*/ 0 w 117"/>
                <a:gd name="T5" fmla="*/ 175 h 175"/>
                <a:gd name="T6" fmla="*/ 117 w 117"/>
                <a:gd name="T7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175">
                  <a:moveTo>
                    <a:pt x="117" y="175"/>
                  </a:moveTo>
                  <a:lnTo>
                    <a:pt x="58" y="0"/>
                  </a:lnTo>
                  <a:lnTo>
                    <a:pt x="0" y="175"/>
                  </a:lnTo>
                  <a:lnTo>
                    <a:pt x="117" y="175"/>
                  </a:lnTo>
                  <a:close/>
                </a:path>
              </a:pathLst>
            </a:custGeom>
            <a:noFill/>
            <a:ln w="476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134" name="Group 134"/>
          <p:cNvGrpSpPr>
            <a:grpSpLocks/>
          </p:cNvGrpSpPr>
          <p:nvPr/>
        </p:nvGrpSpPr>
        <p:grpSpPr bwMode="auto">
          <a:xfrm>
            <a:off x="6484506" y="3723759"/>
            <a:ext cx="1166813" cy="1089025"/>
            <a:chOff x="3140" y="1856"/>
            <a:chExt cx="735" cy="686"/>
          </a:xfrm>
        </p:grpSpPr>
        <p:sp>
          <p:nvSpPr>
            <p:cNvPr id="135" name="Freeform 135"/>
            <p:cNvSpPr>
              <a:spLocks noChangeArrowheads="1"/>
            </p:cNvSpPr>
            <p:nvPr/>
          </p:nvSpPr>
          <p:spPr bwMode="auto">
            <a:xfrm>
              <a:off x="3540" y="1942"/>
              <a:ext cx="250" cy="213"/>
            </a:xfrm>
            <a:custGeom>
              <a:avLst/>
              <a:gdLst>
                <a:gd name="T0" fmla="*/ 1 w 589"/>
                <a:gd name="T1" fmla="*/ 63 h 482"/>
                <a:gd name="T2" fmla="*/ 1 w 589"/>
                <a:gd name="T3" fmla="*/ 63 h 482"/>
                <a:gd name="T4" fmla="*/ 16 w 589"/>
                <a:gd name="T5" fmla="*/ 63 h 482"/>
                <a:gd name="T6" fmla="*/ 30 w 589"/>
                <a:gd name="T7" fmla="*/ 63 h 482"/>
                <a:gd name="T8" fmla="*/ 46 w 589"/>
                <a:gd name="T9" fmla="*/ 65 h 482"/>
                <a:gd name="T10" fmla="*/ 60 w 589"/>
                <a:gd name="T11" fmla="*/ 66 h 482"/>
                <a:gd name="T12" fmla="*/ 74 w 589"/>
                <a:gd name="T13" fmla="*/ 69 h 482"/>
                <a:gd name="T14" fmla="*/ 88 w 589"/>
                <a:gd name="T15" fmla="*/ 71 h 482"/>
                <a:gd name="T16" fmla="*/ 103 w 589"/>
                <a:gd name="T17" fmla="*/ 75 h 482"/>
                <a:gd name="T18" fmla="*/ 116 w 589"/>
                <a:gd name="T19" fmla="*/ 78 h 482"/>
                <a:gd name="T20" fmla="*/ 143 w 589"/>
                <a:gd name="T21" fmla="*/ 87 h 482"/>
                <a:gd name="T22" fmla="*/ 170 w 589"/>
                <a:gd name="T23" fmla="*/ 98 h 482"/>
                <a:gd name="T24" fmla="*/ 195 w 589"/>
                <a:gd name="T25" fmla="*/ 111 h 482"/>
                <a:gd name="T26" fmla="*/ 220 w 589"/>
                <a:gd name="T27" fmla="*/ 124 h 482"/>
                <a:gd name="T28" fmla="*/ 244 w 589"/>
                <a:gd name="T29" fmla="*/ 139 h 482"/>
                <a:gd name="T30" fmla="*/ 267 w 589"/>
                <a:gd name="T31" fmla="*/ 155 h 482"/>
                <a:gd name="T32" fmla="*/ 290 w 589"/>
                <a:gd name="T33" fmla="*/ 173 h 482"/>
                <a:gd name="T34" fmla="*/ 311 w 589"/>
                <a:gd name="T35" fmla="*/ 191 h 482"/>
                <a:gd name="T36" fmla="*/ 331 w 589"/>
                <a:gd name="T37" fmla="*/ 209 h 482"/>
                <a:gd name="T38" fmla="*/ 352 w 589"/>
                <a:gd name="T39" fmla="*/ 228 h 482"/>
                <a:gd name="T40" fmla="*/ 370 w 589"/>
                <a:gd name="T41" fmla="*/ 249 h 482"/>
                <a:gd name="T42" fmla="*/ 388 w 589"/>
                <a:gd name="T43" fmla="*/ 268 h 482"/>
                <a:gd name="T44" fmla="*/ 405 w 589"/>
                <a:gd name="T45" fmla="*/ 288 h 482"/>
                <a:gd name="T46" fmla="*/ 421 w 589"/>
                <a:gd name="T47" fmla="*/ 309 h 482"/>
                <a:gd name="T48" fmla="*/ 436 w 589"/>
                <a:gd name="T49" fmla="*/ 328 h 482"/>
                <a:gd name="T50" fmla="*/ 449 w 589"/>
                <a:gd name="T51" fmla="*/ 347 h 482"/>
                <a:gd name="T52" fmla="*/ 475 w 589"/>
                <a:gd name="T53" fmla="*/ 384 h 482"/>
                <a:gd name="T54" fmla="*/ 495 w 589"/>
                <a:gd name="T55" fmla="*/ 415 h 482"/>
                <a:gd name="T56" fmla="*/ 523 w 589"/>
                <a:gd name="T57" fmla="*/ 465 h 482"/>
                <a:gd name="T58" fmla="*/ 532 w 589"/>
                <a:gd name="T59" fmla="*/ 482 h 482"/>
                <a:gd name="T60" fmla="*/ 589 w 589"/>
                <a:gd name="T61" fmla="*/ 455 h 482"/>
                <a:gd name="T62" fmla="*/ 579 w 589"/>
                <a:gd name="T63" fmla="*/ 435 h 482"/>
                <a:gd name="T64" fmla="*/ 549 w 589"/>
                <a:gd name="T65" fmla="*/ 384 h 482"/>
                <a:gd name="T66" fmla="*/ 528 w 589"/>
                <a:gd name="T67" fmla="*/ 349 h 482"/>
                <a:gd name="T68" fmla="*/ 501 w 589"/>
                <a:gd name="T69" fmla="*/ 311 h 482"/>
                <a:gd name="T70" fmla="*/ 486 w 589"/>
                <a:gd name="T71" fmla="*/ 290 h 482"/>
                <a:gd name="T72" fmla="*/ 471 w 589"/>
                <a:gd name="T73" fmla="*/ 270 h 482"/>
                <a:gd name="T74" fmla="*/ 453 w 589"/>
                <a:gd name="T75" fmla="*/ 249 h 482"/>
                <a:gd name="T76" fmla="*/ 435 w 589"/>
                <a:gd name="T77" fmla="*/ 227 h 482"/>
                <a:gd name="T78" fmla="*/ 416 w 589"/>
                <a:gd name="T79" fmla="*/ 206 h 482"/>
                <a:gd name="T80" fmla="*/ 396 w 589"/>
                <a:gd name="T81" fmla="*/ 185 h 482"/>
                <a:gd name="T82" fmla="*/ 375 w 589"/>
                <a:gd name="T83" fmla="*/ 163 h 482"/>
                <a:gd name="T84" fmla="*/ 353 w 589"/>
                <a:gd name="T85" fmla="*/ 143 h 482"/>
                <a:gd name="T86" fmla="*/ 328 w 589"/>
                <a:gd name="T87" fmla="*/ 124 h 482"/>
                <a:gd name="T88" fmla="*/ 304 w 589"/>
                <a:gd name="T89" fmla="*/ 105 h 482"/>
                <a:gd name="T90" fmla="*/ 278 w 589"/>
                <a:gd name="T91" fmla="*/ 87 h 482"/>
                <a:gd name="T92" fmla="*/ 252 w 589"/>
                <a:gd name="T93" fmla="*/ 70 h 482"/>
                <a:gd name="T94" fmla="*/ 224 w 589"/>
                <a:gd name="T95" fmla="*/ 55 h 482"/>
                <a:gd name="T96" fmla="*/ 195 w 589"/>
                <a:gd name="T97" fmla="*/ 41 h 482"/>
                <a:gd name="T98" fmla="*/ 165 w 589"/>
                <a:gd name="T99" fmla="*/ 28 h 482"/>
                <a:gd name="T100" fmla="*/ 134 w 589"/>
                <a:gd name="T101" fmla="*/ 18 h 482"/>
                <a:gd name="T102" fmla="*/ 118 w 589"/>
                <a:gd name="T103" fmla="*/ 14 h 482"/>
                <a:gd name="T104" fmla="*/ 102 w 589"/>
                <a:gd name="T105" fmla="*/ 10 h 482"/>
                <a:gd name="T106" fmla="*/ 85 w 589"/>
                <a:gd name="T107" fmla="*/ 7 h 482"/>
                <a:gd name="T108" fmla="*/ 69 w 589"/>
                <a:gd name="T109" fmla="*/ 4 h 482"/>
                <a:gd name="T110" fmla="*/ 52 w 589"/>
                <a:gd name="T111" fmla="*/ 2 h 482"/>
                <a:gd name="T112" fmla="*/ 34 w 589"/>
                <a:gd name="T113" fmla="*/ 1 h 482"/>
                <a:gd name="T114" fmla="*/ 17 w 589"/>
                <a:gd name="T115" fmla="*/ 0 h 482"/>
                <a:gd name="T116" fmla="*/ 0 w 589"/>
                <a:gd name="T117" fmla="*/ 0 h 482"/>
                <a:gd name="T118" fmla="*/ 0 w 589"/>
                <a:gd name="T119" fmla="*/ 0 h 482"/>
                <a:gd name="T120" fmla="*/ 1 w 589"/>
                <a:gd name="T121" fmla="*/ 63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9" h="482">
                  <a:moveTo>
                    <a:pt x="1" y="63"/>
                  </a:moveTo>
                  <a:lnTo>
                    <a:pt x="1" y="63"/>
                  </a:lnTo>
                  <a:lnTo>
                    <a:pt x="16" y="63"/>
                  </a:lnTo>
                  <a:lnTo>
                    <a:pt x="30" y="63"/>
                  </a:lnTo>
                  <a:lnTo>
                    <a:pt x="46" y="65"/>
                  </a:lnTo>
                  <a:lnTo>
                    <a:pt x="60" y="66"/>
                  </a:lnTo>
                  <a:lnTo>
                    <a:pt x="74" y="69"/>
                  </a:lnTo>
                  <a:lnTo>
                    <a:pt x="88" y="71"/>
                  </a:lnTo>
                  <a:lnTo>
                    <a:pt x="103" y="75"/>
                  </a:lnTo>
                  <a:lnTo>
                    <a:pt x="116" y="78"/>
                  </a:lnTo>
                  <a:lnTo>
                    <a:pt x="143" y="87"/>
                  </a:lnTo>
                  <a:lnTo>
                    <a:pt x="170" y="98"/>
                  </a:lnTo>
                  <a:lnTo>
                    <a:pt x="195" y="111"/>
                  </a:lnTo>
                  <a:lnTo>
                    <a:pt x="220" y="124"/>
                  </a:lnTo>
                  <a:lnTo>
                    <a:pt x="244" y="139"/>
                  </a:lnTo>
                  <a:lnTo>
                    <a:pt x="267" y="155"/>
                  </a:lnTo>
                  <a:lnTo>
                    <a:pt x="290" y="173"/>
                  </a:lnTo>
                  <a:lnTo>
                    <a:pt x="311" y="191"/>
                  </a:lnTo>
                  <a:lnTo>
                    <a:pt x="331" y="209"/>
                  </a:lnTo>
                  <a:lnTo>
                    <a:pt x="352" y="228"/>
                  </a:lnTo>
                  <a:lnTo>
                    <a:pt x="370" y="249"/>
                  </a:lnTo>
                  <a:lnTo>
                    <a:pt x="388" y="268"/>
                  </a:lnTo>
                  <a:lnTo>
                    <a:pt x="405" y="288"/>
                  </a:lnTo>
                  <a:lnTo>
                    <a:pt x="421" y="309"/>
                  </a:lnTo>
                  <a:lnTo>
                    <a:pt x="436" y="328"/>
                  </a:lnTo>
                  <a:lnTo>
                    <a:pt x="449" y="347"/>
                  </a:lnTo>
                  <a:lnTo>
                    <a:pt x="475" y="384"/>
                  </a:lnTo>
                  <a:lnTo>
                    <a:pt x="495" y="415"/>
                  </a:lnTo>
                  <a:lnTo>
                    <a:pt x="523" y="465"/>
                  </a:lnTo>
                  <a:lnTo>
                    <a:pt x="532" y="482"/>
                  </a:lnTo>
                  <a:lnTo>
                    <a:pt x="589" y="455"/>
                  </a:lnTo>
                  <a:lnTo>
                    <a:pt x="579" y="435"/>
                  </a:lnTo>
                  <a:lnTo>
                    <a:pt x="549" y="384"/>
                  </a:lnTo>
                  <a:lnTo>
                    <a:pt x="528" y="349"/>
                  </a:lnTo>
                  <a:lnTo>
                    <a:pt x="501" y="311"/>
                  </a:lnTo>
                  <a:lnTo>
                    <a:pt x="486" y="290"/>
                  </a:lnTo>
                  <a:lnTo>
                    <a:pt x="471" y="270"/>
                  </a:lnTo>
                  <a:lnTo>
                    <a:pt x="453" y="249"/>
                  </a:lnTo>
                  <a:lnTo>
                    <a:pt x="435" y="227"/>
                  </a:lnTo>
                  <a:lnTo>
                    <a:pt x="416" y="206"/>
                  </a:lnTo>
                  <a:lnTo>
                    <a:pt x="396" y="185"/>
                  </a:lnTo>
                  <a:lnTo>
                    <a:pt x="375" y="163"/>
                  </a:lnTo>
                  <a:lnTo>
                    <a:pt x="353" y="143"/>
                  </a:lnTo>
                  <a:lnTo>
                    <a:pt x="328" y="124"/>
                  </a:lnTo>
                  <a:lnTo>
                    <a:pt x="304" y="105"/>
                  </a:lnTo>
                  <a:lnTo>
                    <a:pt x="278" y="87"/>
                  </a:lnTo>
                  <a:lnTo>
                    <a:pt x="252" y="70"/>
                  </a:lnTo>
                  <a:lnTo>
                    <a:pt x="224" y="55"/>
                  </a:lnTo>
                  <a:lnTo>
                    <a:pt x="195" y="41"/>
                  </a:lnTo>
                  <a:lnTo>
                    <a:pt x="165" y="28"/>
                  </a:lnTo>
                  <a:lnTo>
                    <a:pt x="134" y="18"/>
                  </a:lnTo>
                  <a:lnTo>
                    <a:pt x="118" y="14"/>
                  </a:lnTo>
                  <a:lnTo>
                    <a:pt x="102" y="10"/>
                  </a:lnTo>
                  <a:lnTo>
                    <a:pt x="85" y="7"/>
                  </a:lnTo>
                  <a:lnTo>
                    <a:pt x="69" y="4"/>
                  </a:lnTo>
                  <a:lnTo>
                    <a:pt x="52" y="2"/>
                  </a:lnTo>
                  <a:lnTo>
                    <a:pt x="34" y="1"/>
                  </a:lnTo>
                  <a:lnTo>
                    <a:pt x="17" y="0"/>
                  </a:lnTo>
                  <a:lnTo>
                    <a:pt x="0" y="0"/>
                  </a:lnTo>
                  <a:lnTo>
                    <a:pt x="1" y="63"/>
                  </a:lnTo>
                  <a:close/>
                </a:path>
              </a:pathLst>
            </a:custGeom>
            <a:solidFill>
              <a:srgbClr val="008000"/>
            </a:solidFill>
            <a:ln w="9525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6" name="Freeform 136"/>
            <p:cNvSpPr>
              <a:spLocks noChangeArrowheads="1"/>
            </p:cNvSpPr>
            <p:nvPr/>
          </p:nvSpPr>
          <p:spPr bwMode="auto">
            <a:xfrm>
              <a:off x="3259" y="1942"/>
              <a:ext cx="281" cy="539"/>
            </a:xfrm>
            <a:custGeom>
              <a:avLst/>
              <a:gdLst>
                <a:gd name="T0" fmla="*/ 472 w 659"/>
                <a:gd name="T1" fmla="*/ 1151 h 1219"/>
                <a:gd name="T2" fmla="*/ 389 w 659"/>
                <a:gd name="T3" fmla="*/ 1122 h 1219"/>
                <a:gd name="T4" fmla="*/ 316 w 659"/>
                <a:gd name="T5" fmla="*/ 1085 h 1219"/>
                <a:gd name="T6" fmla="*/ 253 w 659"/>
                <a:gd name="T7" fmla="*/ 1040 h 1219"/>
                <a:gd name="T8" fmla="*/ 199 w 659"/>
                <a:gd name="T9" fmla="*/ 988 h 1219"/>
                <a:gd name="T10" fmla="*/ 153 w 659"/>
                <a:gd name="T11" fmla="*/ 929 h 1219"/>
                <a:gd name="T12" fmla="*/ 118 w 659"/>
                <a:gd name="T13" fmla="*/ 867 h 1219"/>
                <a:gd name="T14" fmla="*/ 90 w 659"/>
                <a:gd name="T15" fmla="*/ 800 h 1219"/>
                <a:gd name="T16" fmla="*/ 73 w 659"/>
                <a:gd name="T17" fmla="*/ 730 h 1219"/>
                <a:gd name="T18" fmla="*/ 64 w 659"/>
                <a:gd name="T19" fmla="*/ 659 h 1219"/>
                <a:gd name="T20" fmla="*/ 64 w 659"/>
                <a:gd name="T21" fmla="*/ 587 h 1219"/>
                <a:gd name="T22" fmla="*/ 73 w 659"/>
                <a:gd name="T23" fmla="*/ 515 h 1219"/>
                <a:gd name="T24" fmla="*/ 91 w 659"/>
                <a:gd name="T25" fmla="*/ 445 h 1219"/>
                <a:gd name="T26" fmla="*/ 119 w 659"/>
                <a:gd name="T27" fmla="*/ 378 h 1219"/>
                <a:gd name="T28" fmla="*/ 154 w 659"/>
                <a:gd name="T29" fmla="*/ 314 h 1219"/>
                <a:gd name="T30" fmla="*/ 199 w 659"/>
                <a:gd name="T31" fmla="*/ 256 h 1219"/>
                <a:gd name="T32" fmla="*/ 253 w 659"/>
                <a:gd name="T33" fmla="*/ 203 h 1219"/>
                <a:gd name="T34" fmla="*/ 316 w 659"/>
                <a:gd name="T35" fmla="*/ 156 h 1219"/>
                <a:gd name="T36" fmla="*/ 387 w 659"/>
                <a:gd name="T37" fmla="*/ 119 h 1219"/>
                <a:gd name="T38" fmla="*/ 469 w 659"/>
                <a:gd name="T39" fmla="*/ 89 h 1219"/>
                <a:gd name="T40" fmla="*/ 559 w 659"/>
                <a:gd name="T41" fmla="*/ 70 h 1219"/>
                <a:gd name="T42" fmla="*/ 659 w 659"/>
                <a:gd name="T43" fmla="*/ 63 h 1219"/>
                <a:gd name="T44" fmla="*/ 585 w 659"/>
                <a:gd name="T45" fmla="*/ 4 h 1219"/>
                <a:gd name="T46" fmla="*/ 483 w 659"/>
                <a:gd name="T47" fmla="*/ 21 h 1219"/>
                <a:gd name="T48" fmla="*/ 391 w 659"/>
                <a:gd name="T49" fmla="*/ 50 h 1219"/>
                <a:gd name="T50" fmla="*/ 308 w 659"/>
                <a:gd name="T51" fmla="*/ 88 h 1219"/>
                <a:gd name="T52" fmla="*/ 235 w 659"/>
                <a:gd name="T53" fmla="*/ 137 h 1219"/>
                <a:gd name="T54" fmla="*/ 171 w 659"/>
                <a:gd name="T55" fmla="*/ 194 h 1219"/>
                <a:gd name="T56" fmla="*/ 118 w 659"/>
                <a:gd name="T57" fmla="*/ 257 h 1219"/>
                <a:gd name="T58" fmla="*/ 74 w 659"/>
                <a:gd name="T59" fmla="*/ 326 h 1219"/>
                <a:gd name="T60" fmla="*/ 41 w 659"/>
                <a:gd name="T61" fmla="*/ 400 h 1219"/>
                <a:gd name="T62" fmla="*/ 17 w 659"/>
                <a:gd name="T63" fmla="*/ 477 h 1219"/>
                <a:gd name="T64" fmla="*/ 4 w 659"/>
                <a:gd name="T65" fmla="*/ 555 h 1219"/>
                <a:gd name="T66" fmla="*/ 0 w 659"/>
                <a:gd name="T67" fmla="*/ 636 h 1219"/>
                <a:gd name="T68" fmla="*/ 7 w 659"/>
                <a:gd name="T69" fmla="*/ 716 h 1219"/>
                <a:gd name="T70" fmla="*/ 23 w 659"/>
                <a:gd name="T71" fmla="*/ 794 h 1219"/>
                <a:gd name="T72" fmla="*/ 50 w 659"/>
                <a:gd name="T73" fmla="*/ 869 h 1219"/>
                <a:gd name="T74" fmla="*/ 87 w 659"/>
                <a:gd name="T75" fmla="*/ 941 h 1219"/>
                <a:gd name="T76" fmla="*/ 134 w 659"/>
                <a:gd name="T77" fmla="*/ 1008 h 1219"/>
                <a:gd name="T78" fmla="*/ 191 w 659"/>
                <a:gd name="T79" fmla="*/ 1069 h 1219"/>
                <a:gd name="T80" fmla="*/ 259 w 659"/>
                <a:gd name="T81" fmla="*/ 1123 h 1219"/>
                <a:gd name="T82" fmla="*/ 336 w 659"/>
                <a:gd name="T83" fmla="*/ 1168 h 1219"/>
                <a:gd name="T84" fmla="*/ 424 w 659"/>
                <a:gd name="T85" fmla="*/ 1202 h 1219"/>
                <a:gd name="T86" fmla="*/ 488 w 659"/>
                <a:gd name="T87" fmla="*/ 1219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59" h="1219">
                  <a:moveTo>
                    <a:pt x="501" y="1158"/>
                  </a:moveTo>
                  <a:lnTo>
                    <a:pt x="501" y="1158"/>
                  </a:lnTo>
                  <a:lnTo>
                    <a:pt x="472" y="1151"/>
                  </a:lnTo>
                  <a:lnTo>
                    <a:pt x="443" y="1143"/>
                  </a:lnTo>
                  <a:lnTo>
                    <a:pt x="416" y="1132"/>
                  </a:lnTo>
                  <a:lnTo>
                    <a:pt x="389" y="1122"/>
                  </a:lnTo>
                  <a:lnTo>
                    <a:pt x="364" y="1111"/>
                  </a:lnTo>
                  <a:lnTo>
                    <a:pt x="340" y="1099"/>
                  </a:lnTo>
                  <a:lnTo>
                    <a:pt x="316" y="1085"/>
                  </a:lnTo>
                  <a:lnTo>
                    <a:pt x="295" y="1070"/>
                  </a:lnTo>
                  <a:lnTo>
                    <a:pt x="273" y="1056"/>
                  </a:lnTo>
                  <a:lnTo>
                    <a:pt x="253" y="1040"/>
                  </a:lnTo>
                  <a:lnTo>
                    <a:pt x="234" y="1024"/>
                  </a:lnTo>
                  <a:lnTo>
                    <a:pt x="216" y="1005"/>
                  </a:lnTo>
                  <a:lnTo>
                    <a:pt x="199" y="988"/>
                  </a:lnTo>
                  <a:lnTo>
                    <a:pt x="183" y="969"/>
                  </a:lnTo>
                  <a:lnTo>
                    <a:pt x="168" y="950"/>
                  </a:lnTo>
                  <a:lnTo>
                    <a:pt x="153" y="929"/>
                  </a:lnTo>
                  <a:lnTo>
                    <a:pt x="141" y="909"/>
                  </a:lnTo>
                  <a:lnTo>
                    <a:pt x="129" y="889"/>
                  </a:lnTo>
                  <a:lnTo>
                    <a:pt x="118" y="867"/>
                  </a:lnTo>
                  <a:lnTo>
                    <a:pt x="108" y="845"/>
                  </a:lnTo>
                  <a:lnTo>
                    <a:pt x="98" y="823"/>
                  </a:lnTo>
                  <a:lnTo>
                    <a:pt x="90" y="800"/>
                  </a:lnTo>
                  <a:lnTo>
                    <a:pt x="83" y="777"/>
                  </a:lnTo>
                  <a:lnTo>
                    <a:pt x="78" y="754"/>
                  </a:lnTo>
                  <a:lnTo>
                    <a:pt x="73" y="730"/>
                  </a:lnTo>
                  <a:lnTo>
                    <a:pt x="69" y="707"/>
                  </a:lnTo>
                  <a:lnTo>
                    <a:pt x="66" y="682"/>
                  </a:lnTo>
                  <a:lnTo>
                    <a:pt x="64" y="659"/>
                  </a:lnTo>
                  <a:lnTo>
                    <a:pt x="63" y="635"/>
                  </a:lnTo>
                  <a:lnTo>
                    <a:pt x="63" y="610"/>
                  </a:lnTo>
                  <a:lnTo>
                    <a:pt x="64" y="587"/>
                  </a:lnTo>
                  <a:lnTo>
                    <a:pt x="66" y="563"/>
                  </a:lnTo>
                  <a:lnTo>
                    <a:pt x="69" y="538"/>
                  </a:lnTo>
                  <a:lnTo>
                    <a:pt x="73" y="515"/>
                  </a:lnTo>
                  <a:lnTo>
                    <a:pt x="78" y="491"/>
                  </a:lnTo>
                  <a:lnTo>
                    <a:pt x="84" y="468"/>
                  </a:lnTo>
                  <a:lnTo>
                    <a:pt x="91" y="445"/>
                  </a:lnTo>
                  <a:lnTo>
                    <a:pt x="100" y="422"/>
                  </a:lnTo>
                  <a:lnTo>
                    <a:pt x="109" y="400"/>
                  </a:lnTo>
                  <a:lnTo>
                    <a:pt x="119" y="378"/>
                  </a:lnTo>
                  <a:lnTo>
                    <a:pt x="129" y="356"/>
                  </a:lnTo>
                  <a:lnTo>
                    <a:pt x="141" y="335"/>
                  </a:lnTo>
                  <a:lnTo>
                    <a:pt x="154" y="314"/>
                  </a:lnTo>
                  <a:lnTo>
                    <a:pt x="169" y="294"/>
                  </a:lnTo>
                  <a:lnTo>
                    <a:pt x="183" y="274"/>
                  </a:lnTo>
                  <a:lnTo>
                    <a:pt x="199" y="256"/>
                  </a:lnTo>
                  <a:lnTo>
                    <a:pt x="216" y="238"/>
                  </a:lnTo>
                  <a:lnTo>
                    <a:pt x="234" y="219"/>
                  </a:lnTo>
                  <a:lnTo>
                    <a:pt x="253" y="203"/>
                  </a:lnTo>
                  <a:lnTo>
                    <a:pt x="273" y="187"/>
                  </a:lnTo>
                  <a:lnTo>
                    <a:pt x="294" y="172"/>
                  </a:lnTo>
                  <a:lnTo>
                    <a:pt x="316" y="156"/>
                  </a:lnTo>
                  <a:lnTo>
                    <a:pt x="339" y="143"/>
                  </a:lnTo>
                  <a:lnTo>
                    <a:pt x="363" y="130"/>
                  </a:lnTo>
                  <a:lnTo>
                    <a:pt x="387" y="119"/>
                  </a:lnTo>
                  <a:lnTo>
                    <a:pt x="414" y="108"/>
                  </a:lnTo>
                  <a:lnTo>
                    <a:pt x="440" y="98"/>
                  </a:lnTo>
                  <a:lnTo>
                    <a:pt x="469" y="89"/>
                  </a:lnTo>
                  <a:lnTo>
                    <a:pt x="497" y="82"/>
                  </a:lnTo>
                  <a:lnTo>
                    <a:pt x="528" y="75"/>
                  </a:lnTo>
                  <a:lnTo>
                    <a:pt x="559" y="70"/>
                  </a:lnTo>
                  <a:lnTo>
                    <a:pt x="591" y="67"/>
                  </a:lnTo>
                  <a:lnTo>
                    <a:pt x="624" y="64"/>
                  </a:lnTo>
                  <a:lnTo>
                    <a:pt x="659" y="63"/>
                  </a:lnTo>
                  <a:lnTo>
                    <a:pt x="658" y="0"/>
                  </a:lnTo>
                  <a:lnTo>
                    <a:pt x="621" y="1"/>
                  </a:lnTo>
                  <a:lnTo>
                    <a:pt x="585" y="4"/>
                  </a:lnTo>
                  <a:lnTo>
                    <a:pt x="550" y="8"/>
                  </a:lnTo>
                  <a:lnTo>
                    <a:pt x="516" y="14"/>
                  </a:lnTo>
                  <a:lnTo>
                    <a:pt x="483" y="21"/>
                  </a:lnTo>
                  <a:lnTo>
                    <a:pt x="451" y="29"/>
                  </a:lnTo>
                  <a:lnTo>
                    <a:pt x="421" y="39"/>
                  </a:lnTo>
                  <a:lnTo>
                    <a:pt x="391" y="50"/>
                  </a:lnTo>
                  <a:lnTo>
                    <a:pt x="362" y="61"/>
                  </a:lnTo>
                  <a:lnTo>
                    <a:pt x="334" y="74"/>
                  </a:lnTo>
                  <a:lnTo>
                    <a:pt x="308" y="88"/>
                  </a:lnTo>
                  <a:lnTo>
                    <a:pt x="283" y="104"/>
                  </a:lnTo>
                  <a:lnTo>
                    <a:pt x="258" y="120"/>
                  </a:lnTo>
                  <a:lnTo>
                    <a:pt x="235" y="137"/>
                  </a:lnTo>
                  <a:lnTo>
                    <a:pt x="212" y="155"/>
                  </a:lnTo>
                  <a:lnTo>
                    <a:pt x="191" y="174"/>
                  </a:lnTo>
                  <a:lnTo>
                    <a:pt x="171" y="194"/>
                  </a:lnTo>
                  <a:lnTo>
                    <a:pt x="152" y="214"/>
                  </a:lnTo>
                  <a:lnTo>
                    <a:pt x="134" y="236"/>
                  </a:lnTo>
                  <a:lnTo>
                    <a:pt x="118" y="257"/>
                  </a:lnTo>
                  <a:lnTo>
                    <a:pt x="102" y="279"/>
                  </a:lnTo>
                  <a:lnTo>
                    <a:pt x="87" y="303"/>
                  </a:lnTo>
                  <a:lnTo>
                    <a:pt x="74" y="326"/>
                  </a:lnTo>
                  <a:lnTo>
                    <a:pt x="62" y="350"/>
                  </a:lnTo>
                  <a:lnTo>
                    <a:pt x="51" y="375"/>
                  </a:lnTo>
                  <a:lnTo>
                    <a:pt x="41" y="400"/>
                  </a:lnTo>
                  <a:lnTo>
                    <a:pt x="31" y="425"/>
                  </a:lnTo>
                  <a:lnTo>
                    <a:pt x="23" y="451"/>
                  </a:lnTo>
                  <a:lnTo>
                    <a:pt x="17" y="477"/>
                  </a:lnTo>
                  <a:lnTo>
                    <a:pt x="11" y="503"/>
                  </a:lnTo>
                  <a:lnTo>
                    <a:pt x="7" y="529"/>
                  </a:lnTo>
                  <a:lnTo>
                    <a:pt x="4" y="555"/>
                  </a:lnTo>
                  <a:lnTo>
                    <a:pt x="1" y="583"/>
                  </a:lnTo>
                  <a:lnTo>
                    <a:pt x="0" y="609"/>
                  </a:lnTo>
                  <a:lnTo>
                    <a:pt x="0" y="636"/>
                  </a:lnTo>
                  <a:lnTo>
                    <a:pt x="1" y="662"/>
                  </a:lnTo>
                  <a:lnTo>
                    <a:pt x="3" y="690"/>
                  </a:lnTo>
                  <a:lnTo>
                    <a:pt x="7" y="716"/>
                  </a:lnTo>
                  <a:lnTo>
                    <a:pt x="11" y="741"/>
                  </a:lnTo>
                  <a:lnTo>
                    <a:pt x="16" y="768"/>
                  </a:lnTo>
                  <a:lnTo>
                    <a:pt x="23" y="794"/>
                  </a:lnTo>
                  <a:lnTo>
                    <a:pt x="31" y="820"/>
                  </a:lnTo>
                  <a:lnTo>
                    <a:pt x="40" y="845"/>
                  </a:lnTo>
                  <a:lnTo>
                    <a:pt x="50" y="869"/>
                  </a:lnTo>
                  <a:lnTo>
                    <a:pt x="61" y="894"/>
                  </a:lnTo>
                  <a:lnTo>
                    <a:pt x="73" y="918"/>
                  </a:lnTo>
                  <a:lnTo>
                    <a:pt x="87" y="941"/>
                  </a:lnTo>
                  <a:lnTo>
                    <a:pt x="102" y="965"/>
                  </a:lnTo>
                  <a:lnTo>
                    <a:pt x="117" y="987"/>
                  </a:lnTo>
                  <a:lnTo>
                    <a:pt x="134" y="1008"/>
                  </a:lnTo>
                  <a:lnTo>
                    <a:pt x="152" y="1030"/>
                  </a:lnTo>
                  <a:lnTo>
                    <a:pt x="172" y="1050"/>
                  </a:lnTo>
                  <a:lnTo>
                    <a:pt x="191" y="1069"/>
                  </a:lnTo>
                  <a:lnTo>
                    <a:pt x="213" y="1088"/>
                  </a:lnTo>
                  <a:lnTo>
                    <a:pt x="236" y="1106"/>
                  </a:lnTo>
                  <a:lnTo>
                    <a:pt x="259" y="1123"/>
                  </a:lnTo>
                  <a:lnTo>
                    <a:pt x="284" y="1138"/>
                  </a:lnTo>
                  <a:lnTo>
                    <a:pt x="310" y="1154"/>
                  </a:lnTo>
                  <a:lnTo>
                    <a:pt x="336" y="1168"/>
                  </a:lnTo>
                  <a:lnTo>
                    <a:pt x="365" y="1180"/>
                  </a:lnTo>
                  <a:lnTo>
                    <a:pt x="394" y="1191"/>
                  </a:lnTo>
                  <a:lnTo>
                    <a:pt x="424" y="1202"/>
                  </a:lnTo>
                  <a:lnTo>
                    <a:pt x="455" y="1212"/>
                  </a:lnTo>
                  <a:lnTo>
                    <a:pt x="488" y="1219"/>
                  </a:lnTo>
                  <a:lnTo>
                    <a:pt x="501" y="1158"/>
                  </a:lnTo>
                  <a:close/>
                </a:path>
              </a:pathLst>
            </a:custGeom>
            <a:solidFill>
              <a:srgbClr val="008000"/>
            </a:solidFill>
            <a:ln w="9525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7" name="Freeform 137"/>
            <p:cNvSpPr>
              <a:spLocks noChangeArrowheads="1"/>
            </p:cNvSpPr>
            <p:nvPr/>
          </p:nvSpPr>
          <p:spPr bwMode="auto">
            <a:xfrm>
              <a:off x="3467" y="2411"/>
              <a:ext cx="242" cy="78"/>
            </a:xfrm>
            <a:custGeom>
              <a:avLst/>
              <a:gdLst>
                <a:gd name="T0" fmla="*/ 531 w 566"/>
                <a:gd name="T1" fmla="*/ 0 h 179"/>
                <a:gd name="T2" fmla="*/ 531 w 566"/>
                <a:gd name="T3" fmla="*/ 0 h 179"/>
                <a:gd name="T4" fmla="*/ 509 w 566"/>
                <a:gd name="T5" fmla="*/ 16 h 179"/>
                <a:gd name="T6" fmla="*/ 485 w 566"/>
                <a:gd name="T7" fmla="*/ 30 h 179"/>
                <a:gd name="T8" fmla="*/ 461 w 566"/>
                <a:gd name="T9" fmla="*/ 44 h 179"/>
                <a:gd name="T10" fmla="*/ 435 w 566"/>
                <a:gd name="T11" fmla="*/ 57 h 179"/>
                <a:gd name="T12" fmla="*/ 409 w 566"/>
                <a:gd name="T13" fmla="*/ 69 h 179"/>
                <a:gd name="T14" fmla="*/ 380 w 566"/>
                <a:gd name="T15" fmla="*/ 81 h 179"/>
                <a:gd name="T16" fmla="*/ 352 w 566"/>
                <a:gd name="T17" fmla="*/ 91 h 179"/>
                <a:gd name="T18" fmla="*/ 320 w 566"/>
                <a:gd name="T19" fmla="*/ 99 h 179"/>
                <a:gd name="T20" fmla="*/ 305 w 566"/>
                <a:gd name="T21" fmla="*/ 103 h 179"/>
                <a:gd name="T22" fmla="*/ 289 w 566"/>
                <a:gd name="T23" fmla="*/ 106 h 179"/>
                <a:gd name="T24" fmla="*/ 273 w 566"/>
                <a:gd name="T25" fmla="*/ 109 h 179"/>
                <a:gd name="T26" fmla="*/ 255 w 566"/>
                <a:gd name="T27" fmla="*/ 112 h 179"/>
                <a:gd name="T28" fmla="*/ 238 w 566"/>
                <a:gd name="T29" fmla="*/ 114 h 179"/>
                <a:gd name="T30" fmla="*/ 220 w 566"/>
                <a:gd name="T31" fmla="*/ 115 h 179"/>
                <a:gd name="T32" fmla="*/ 201 w 566"/>
                <a:gd name="T33" fmla="*/ 116 h 179"/>
                <a:gd name="T34" fmla="*/ 182 w 566"/>
                <a:gd name="T35" fmla="*/ 116 h 179"/>
                <a:gd name="T36" fmla="*/ 163 w 566"/>
                <a:gd name="T37" fmla="*/ 116 h 179"/>
                <a:gd name="T38" fmla="*/ 143 w 566"/>
                <a:gd name="T39" fmla="*/ 116 h 179"/>
                <a:gd name="T40" fmla="*/ 123 w 566"/>
                <a:gd name="T41" fmla="*/ 114 h 179"/>
                <a:gd name="T42" fmla="*/ 102 w 566"/>
                <a:gd name="T43" fmla="*/ 112 h 179"/>
                <a:gd name="T44" fmla="*/ 80 w 566"/>
                <a:gd name="T45" fmla="*/ 110 h 179"/>
                <a:gd name="T46" fmla="*/ 59 w 566"/>
                <a:gd name="T47" fmla="*/ 107 h 179"/>
                <a:gd name="T48" fmla="*/ 37 w 566"/>
                <a:gd name="T49" fmla="*/ 103 h 179"/>
                <a:gd name="T50" fmla="*/ 13 w 566"/>
                <a:gd name="T51" fmla="*/ 98 h 179"/>
                <a:gd name="T52" fmla="*/ 0 w 566"/>
                <a:gd name="T53" fmla="*/ 159 h 179"/>
                <a:gd name="T54" fmla="*/ 24 w 566"/>
                <a:gd name="T55" fmla="*/ 164 h 179"/>
                <a:gd name="T56" fmla="*/ 49 w 566"/>
                <a:gd name="T57" fmla="*/ 169 h 179"/>
                <a:gd name="T58" fmla="*/ 72 w 566"/>
                <a:gd name="T59" fmla="*/ 172 h 179"/>
                <a:gd name="T60" fmla="*/ 96 w 566"/>
                <a:gd name="T61" fmla="*/ 175 h 179"/>
                <a:gd name="T62" fmla="*/ 118 w 566"/>
                <a:gd name="T63" fmla="*/ 177 h 179"/>
                <a:gd name="T64" fmla="*/ 140 w 566"/>
                <a:gd name="T65" fmla="*/ 178 h 179"/>
                <a:gd name="T66" fmla="*/ 162 w 566"/>
                <a:gd name="T67" fmla="*/ 179 h 179"/>
                <a:gd name="T68" fmla="*/ 183 w 566"/>
                <a:gd name="T69" fmla="*/ 179 h 179"/>
                <a:gd name="T70" fmla="*/ 203 w 566"/>
                <a:gd name="T71" fmla="*/ 179 h 179"/>
                <a:gd name="T72" fmla="*/ 224 w 566"/>
                <a:gd name="T73" fmla="*/ 178 h 179"/>
                <a:gd name="T74" fmla="*/ 244 w 566"/>
                <a:gd name="T75" fmla="*/ 176 h 179"/>
                <a:gd name="T76" fmla="*/ 263 w 566"/>
                <a:gd name="T77" fmla="*/ 174 h 179"/>
                <a:gd name="T78" fmla="*/ 282 w 566"/>
                <a:gd name="T79" fmla="*/ 171 h 179"/>
                <a:gd name="T80" fmla="*/ 300 w 566"/>
                <a:gd name="T81" fmla="*/ 168 h 179"/>
                <a:gd name="T82" fmla="*/ 318 w 566"/>
                <a:gd name="T83" fmla="*/ 164 h 179"/>
                <a:gd name="T84" fmla="*/ 337 w 566"/>
                <a:gd name="T85" fmla="*/ 160 h 179"/>
                <a:gd name="T86" fmla="*/ 370 w 566"/>
                <a:gd name="T87" fmla="*/ 151 h 179"/>
                <a:gd name="T88" fmla="*/ 403 w 566"/>
                <a:gd name="T89" fmla="*/ 139 h 179"/>
                <a:gd name="T90" fmla="*/ 433 w 566"/>
                <a:gd name="T91" fmla="*/ 127 h 179"/>
                <a:gd name="T92" fmla="*/ 463 w 566"/>
                <a:gd name="T93" fmla="*/ 114 h 179"/>
                <a:gd name="T94" fmla="*/ 491 w 566"/>
                <a:gd name="T95" fmla="*/ 99 h 179"/>
                <a:gd name="T96" fmla="*/ 518 w 566"/>
                <a:gd name="T97" fmla="*/ 84 h 179"/>
                <a:gd name="T98" fmla="*/ 542 w 566"/>
                <a:gd name="T99" fmla="*/ 68 h 179"/>
                <a:gd name="T100" fmla="*/ 566 w 566"/>
                <a:gd name="T101" fmla="*/ 52 h 179"/>
                <a:gd name="T102" fmla="*/ 566 w 566"/>
                <a:gd name="T103" fmla="*/ 52 h 179"/>
                <a:gd name="T104" fmla="*/ 531 w 566"/>
                <a:gd name="T105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6" h="179">
                  <a:moveTo>
                    <a:pt x="531" y="0"/>
                  </a:moveTo>
                  <a:lnTo>
                    <a:pt x="531" y="0"/>
                  </a:lnTo>
                  <a:lnTo>
                    <a:pt x="509" y="16"/>
                  </a:lnTo>
                  <a:lnTo>
                    <a:pt x="485" y="30"/>
                  </a:lnTo>
                  <a:lnTo>
                    <a:pt x="461" y="44"/>
                  </a:lnTo>
                  <a:lnTo>
                    <a:pt x="435" y="57"/>
                  </a:lnTo>
                  <a:lnTo>
                    <a:pt x="409" y="69"/>
                  </a:lnTo>
                  <a:lnTo>
                    <a:pt x="380" y="81"/>
                  </a:lnTo>
                  <a:lnTo>
                    <a:pt x="352" y="91"/>
                  </a:lnTo>
                  <a:lnTo>
                    <a:pt x="320" y="99"/>
                  </a:lnTo>
                  <a:lnTo>
                    <a:pt x="305" y="103"/>
                  </a:lnTo>
                  <a:lnTo>
                    <a:pt x="289" y="106"/>
                  </a:lnTo>
                  <a:lnTo>
                    <a:pt x="273" y="109"/>
                  </a:lnTo>
                  <a:lnTo>
                    <a:pt x="255" y="112"/>
                  </a:lnTo>
                  <a:lnTo>
                    <a:pt x="238" y="114"/>
                  </a:lnTo>
                  <a:lnTo>
                    <a:pt x="220" y="115"/>
                  </a:lnTo>
                  <a:lnTo>
                    <a:pt x="201" y="116"/>
                  </a:lnTo>
                  <a:lnTo>
                    <a:pt x="182" y="116"/>
                  </a:lnTo>
                  <a:lnTo>
                    <a:pt x="163" y="116"/>
                  </a:lnTo>
                  <a:lnTo>
                    <a:pt x="143" y="116"/>
                  </a:lnTo>
                  <a:lnTo>
                    <a:pt x="123" y="114"/>
                  </a:lnTo>
                  <a:lnTo>
                    <a:pt x="102" y="112"/>
                  </a:lnTo>
                  <a:lnTo>
                    <a:pt x="80" y="110"/>
                  </a:lnTo>
                  <a:lnTo>
                    <a:pt x="59" y="107"/>
                  </a:lnTo>
                  <a:lnTo>
                    <a:pt x="37" y="103"/>
                  </a:lnTo>
                  <a:lnTo>
                    <a:pt x="13" y="98"/>
                  </a:lnTo>
                  <a:lnTo>
                    <a:pt x="0" y="159"/>
                  </a:lnTo>
                  <a:lnTo>
                    <a:pt x="24" y="164"/>
                  </a:lnTo>
                  <a:lnTo>
                    <a:pt x="49" y="169"/>
                  </a:lnTo>
                  <a:lnTo>
                    <a:pt x="72" y="172"/>
                  </a:lnTo>
                  <a:lnTo>
                    <a:pt x="96" y="175"/>
                  </a:lnTo>
                  <a:lnTo>
                    <a:pt x="118" y="177"/>
                  </a:lnTo>
                  <a:lnTo>
                    <a:pt x="140" y="178"/>
                  </a:lnTo>
                  <a:lnTo>
                    <a:pt x="162" y="179"/>
                  </a:lnTo>
                  <a:lnTo>
                    <a:pt x="183" y="179"/>
                  </a:lnTo>
                  <a:lnTo>
                    <a:pt x="203" y="179"/>
                  </a:lnTo>
                  <a:lnTo>
                    <a:pt x="224" y="178"/>
                  </a:lnTo>
                  <a:lnTo>
                    <a:pt x="244" y="176"/>
                  </a:lnTo>
                  <a:lnTo>
                    <a:pt x="263" y="174"/>
                  </a:lnTo>
                  <a:lnTo>
                    <a:pt x="282" y="171"/>
                  </a:lnTo>
                  <a:lnTo>
                    <a:pt x="300" y="168"/>
                  </a:lnTo>
                  <a:lnTo>
                    <a:pt x="318" y="164"/>
                  </a:lnTo>
                  <a:lnTo>
                    <a:pt x="337" y="160"/>
                  </a:lnTo>
                  <a:lnTo>
                    <a:pt x="370" y="151"/>
                  </a:lnTo>
                  <a:lnTo>
                    <a:pt x="403" y="139"/>
                  </a:lnTo>
                  <a:lnTo>
                    <a:pt x="433" y="127"/>
                  </a:lnTo>
                  <a:lnTo>
                    <a:pt x="463" y="114"/>
                  </a:lnTo>
                  <a:lnTo>
                    <a:pt x="491" y="99"/>
                  </a:lnTo>
                  <a:lnTo>
                    <a:pt x="518" y="84"/>
                  </a:lnTo>
                  <a:lnTo>
                    <a:pt x="542" y="68"/>
                  </a:lnTo>
                  <a:lnTo>
                    <a:pt x="566" y="52"/>
                  </a:lnTo>
                  <a:lnTo>
                    <a:pt x="531" y="0"/>
                  </a:lnTo>
                  <a:close/>
                </a:path>
              </a:pathLst>
            </a:custGeom>
            <a:solidFill>
              <a:srgbClr val="008000"/>
            </a:solidFill>
            <a:ln w="9525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8" name="Freeform 138"/>
            <p:cNvSpPr>
              <a:spLocks noChangeArrowheads="1"/>
            </p:cNvSpPr>
            <p:nvPr/>
          </p:nvSpPr>
          <p:spPr bwMode="auto">
            <a:xfrm>
              <a:off x="3693" y="2302"/>
              <a:ext cx="92" cy="131"/>
            </a:xfrm>
            <a:custGeom>
              <a:avLst/>
              <a:gdLst>
                <a:gd name="T0" fmla="*/ 184 w 215"/>
                <a:gd name="T1" fmla="*/ 63 h 297"/>
                <a:gd name="T2" fmla="*/ 184 w 215"/>
                <a:gd name="T3" fmla="*/ 63 h 297"/>
                <a:gd name="T4" fmla="*/ 153 w 215"/>
                <a:gd name="T5" fmla="*/ 31 h 297"/>
                <a:gd name="T6" fmla="*/ 153 w 215"/>
                <a:gd name="T7" fmla="*/ 31 h 297"/>
                <a:gd name="T8" fmla="*/ 151 w 215"/>
                <a:gd name="T9" fmla="*/ 37 h 297"/>
                <a:gd name="T10" fmla="*/ 148 w 215"/>
                <a:gd name="T11" fmla="*/ 47 h 297"/>
                <a:gd name="T12" fmla="*/ 143 w 215"/>
                <a:gd name="T13" fmla="*/ 58 h 297"/>
                <a:gd name="T14" fmla="*/ 137 w 215"/>
                <a:gd name="T15" fmla="*/ 73 h 297"/>
                <a:gd name="T16" fmla="*/ 130 w 215"/>
                <a:gd name="T17" fmla="*/ 89 h 297"/>
                <a:gd name="T18" fmla="*/ 121 w 215"/>
                <a:gd name="T19" fmla="*/ 105 h 297"/>
                <a:gd name="T20" fmla="*/ 111 w 215"/>
                <a:gd name="T21" fmla="*/ 123 h 297"/>
                <a:gd name="T22" fmla="*/ 99 w 215"/>
                <a:gd name="T23" fmla="*/ 142 h 297"/>
                <a:gd name="T24" fmla="*/ 86 w 215"/>
                <a:gd name="T25" fmla="*/ 161 h 297"/>
                <a:gd name="T26" fmla="*/ 71 w 215"/>
                <a:gd name="T27" fmla="*/ 179 h 297"/>
                <a:gd name="T28" fmla="*/ 56 w 215"/>
                <a:gd name="T29" fmla="*/ 198 h 297"/>
                <a:gd name="T30" fmla="*/ 38 w 215"/>
                <a:gd name="T31" fmla="*/ 215 h 297"/>
                <a:gd name="T32" fmla="*/ 29 w 215"/>
                <a:gd name="T33" fmla="*/ 223 h 297"/>
                <a:gd name="T34" fmla="*/ 20 w 215"/>
                <a:gd name="T35" fmla="*/ 231 h 297"/>
                <a:gd name="T36" fmla="*/ 10 w 215"/>
                <a:gd name="T37" fmla="*/ 238 h 297"/>
                <a:gd name="T38" fmla="*/ 0 w 215"/>
                <a:gd name="T39" fmla="*/ 245 h 297"/>
                <a:gd name="T40" fmla="*/ 35 w 215"/>
                <a:gd name="T41" fmla="*/ 297 h 297"/>
                <a:gd name="T42" fmla="*/ 48 w 215"/>
                <a:gd name="T43" fmla="*/ 289 h 297"/>
                <a:gd name="T44" fmla="*/ 60 w 215"/>
                <a:gd name="T45" fmla="*/ 280 h 297"/>
                <a:gd name="T46" fmla="*/ 71 w 215"/>
                <a:gd name="T47" fmla="*/ 270 h 297"/>
                <a:gd name="T48" fmla="*/ 82 w 215"/>
                <a:gd name="T49" fmla="*/ 259 h 297"/>
                <a:gd name="T50" fmla="*/ 102 w 215"/>
                <a:gd name="T51" fmla="*/ 240 h 297"/>
                <a:gd name="T52" fmla="*/ 120 w 215"/>
                <a:gd name="T53" fmla="*/ 219 h 297"/>
                <a:gd name="T54" fmla="*/ 136 w 215"/>
                <a:gd name="T55" fmla="*/ 198 h 297"/>
                <a:gd name="T56" fmla="*/ 151 w 215"/>
                <a:gd name="T57" fmla="*/ 176 h 297"/>
                <a:gd name="T58" fmla="*/ 165 w 215"/>
                <a:gd name="T59" fmla="*/ 156 h 297"/>
                <a:gd name="T60" fmla="*/ 176 w 215"/>
                <a:gd name="T61" fmla="*/ 136 h 297"/>
                <a:gd name="T62" fmla="*/ 186 w 215"/>
                <a:gd name="T63" fmla="*/ 116 h 297"/>
                <a:gd name="T64" fmla="*/ 194 w 215"/>
                <a:gd name="T65" fmla="*/ 99 h 297"/>
                <a:gd name="T66" fmla="*/ 201 w 215"/>
                <a:gd name="T67" fmla="*/ 83 h 297"/>
                <a:gd name="T68" fmla="*/ 207 w 215"/>
                <a:gd name="T69" fmla="*/ 69 h 297"/>
                <a:gd name="T70" fmla="*/ 211 w 215"/>
                <a:gd name="T71" fmla="*/ 56 h 297"/>
                <a:gd name="T72" fmla="*/ 214 w 215"/>
                <a:gd name="T73" fmla="*/ 46 h 297"/>
                <a:gd name="T74" fmla="*/ 215 w 215"/>
                <a:gd name="T75" fmla="*/ 36 h 297"/>
                <a:gd name="T76" fmla="*/ 184 w 215"/>
                <a:gd name="T77" fmla="*/ 0 h 297"/>
                <a:gd name="T78" fmla="*/ 184 w 215"/>
                <a:gd name="T79" fmla="*/ 0 h 297"/>
                <a:gd name="T80" fmla="*/ 184 w 215"/>
                <a:gd name="T81" fmla="*/ 63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5" h="297">
                  <a:moveTo>
                    <a:pt x="184" y="63"/>
                  </a:moveTo>
                  <a:lnTo>
                    <a:pt x="184" y="63"/>
                  </a:lnTo>
                  <a:lnTo>
                    <a:pt x="153" y="31"/>
                  </a:lnTo>
                  <a:lnTo>
                    <a:pt x="151" y="37"/>
                  </a:lnTo>
                  <a:lnTo>
                    <a:pt x="148" y="47"/>
                  </a:lnTo>
                  <a:lnTo>
                    <a:pt x="143" y="58"/>
                  </a:lnTo>
                  <a:lnTo>
                    <a:pt x="137" y="73"/>
                  </a:lnTo>
                  <a:lnTo>
                    <a:pt x="130" y="89"/>
                  </a:lnTo>
                  <a:lnTo>
                    <a:pt x="121" y="105"/>
                  </a:lnTo>
                  <a:lnTo>
                    <a:pt x="111" y="123"/>
                  </a:lnTo>
                  <a:lnTo>
                    <a:pt x="99" y="142"/>
                  </a:lnTo>
                  <a:lnTo>
                    <a:pt x="86" y="161"/>
                  </a:lnTo>
                  <a:lnTo>
                    <a:pt x="71" y="179"/>
                  </a:lnTo>
                  <a:lnTo>
                    <a:pt x="56" y="198"/>
                  </a:lnTo>
                  <a:lnTo>
                    <a:pt x="38" y="215"/>
                  </a:lnTo>
                  <a:lnTo>
                    <a:pt x="29" y="223"/>
                  </a:lnTo>
                  <a:lnTo>
                    <a:pt x="20" y="231"/>
                  </a:lnTo>
                  <a:lnTo>
                    <a:pt x="10" y="238"/>
                  </a:lnTo>
                  <a:lnTo>
                    <a:pt x="0" y="245"/>
                  </a:lnTo>
                  <a:lnTo>
                    <a:pt x="35" y="297"/>
                  </a:lnTo>
                  <a:lnTo>
                    <a:pt x="48" y="289"/>
                  </a:lnTo>
                  <a:lnTo>
                    <a:pt x="60" y="280"/>
                  </a:lnTo>
                  <a:lnTo>
                    <a:pt x="71" y="270"/>
                  </a:lnTo>
                  <a:lnTo>
                    <a:pt x="82" y="259"/>
                  </a:lnTo>
                  <a:lnTo>
                    <a:pt x="102" y="240"/>
                  </a:lnTo>
                  <a:lnTo>
                    <a:pt x="120" y="219"/>
                  </a:lnTo>
                  <a:lnTo>
                    <a:pt x="136" y="198"/>
                  </a:lnTo>
                  <a:lnTo>
                    <a:pt x="151" y="176"/>
                  </a:lnTo>
                  <a:lnTo>
                    <a:pt x="165" y="156"/>
                  </a:lnTo>
                  <a:lnTo>
                    <a:pt x="176" y="136"/>
                  </a:lnTo>
                  <a:lnTo>
                    <a:pt x="186" y="116"/>
                  </a:lnTo>
                  <a:lnTo>
                    <a:pt x="194" y="99"/>
                  </a:lnTo>
                  <a:lnTo>
                    <a:pt x="201" y="83"/>
                  </a:lnTo>
                  <a:lnTo>
                    <a:pt x="207" y="69"/>
                  </a:lnTo>
                  <a:lnTo>
                    <a:pt x="211" y="56"/>
                  </a:lnTo>
                  <a:lnTo>
                    <a:pt x="214" y="46"/>
                  </a:lnTo>
                  <a:lnTo>
                    <a:pt x="215" y="36"/>
                  </a:lnTo>
                  <a:lnTo>
                    <a:pt x="184" y="0"/>
                  </a:lnTo>
                  <a:lnTo>
                    <a:pt x="184" y="63"/>
                  </a:lnTo>
                  <a:close/>
                </a:path>
              </a:pathLst>
            </a:custGeom>
            <a:solidFill>
              <a:srgbClr val="008000"/>
            </a:solidFill>
            <a:ln w="9525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9" name="Freeform 139"/>
            <p:cNvSpPr>
              <a:spLocks noChangeArrowheads="1"/>
            </p:cNvSpPr>
            <p:nvPr/>
          </p:nvSpPr>
          <p:spPr bwMode="auto">
            <a:xfrm>
              <a:off x="3692" y="2302"/>
              <a:ext cx="79" cy="29"/>
            </a:xfrm>
            <a:custGeom>
              <a:avLst/>
              <a:gdLst>
                <a:gd name="T0" fmla="*/ 0 w 186"/>
                <a:gd name="T1" fmla="*/ 34 h 65"/>
                <a:gd name="T2" fmla="*/ 31 w 186"/>
                <a:gd name="T3" fmla="*/ 65 h 65"/>
                <a:gd name="T4" fmla="*/ 186 w 186"/>
                <a:gd name="T5" fmla="*/ 63 h 65"/>
                <a:gd name="T6" fmla="*/ 186 w 186"/>
                <a:gd name="T7" fmla="*/ 0 h 65"/>
                <a:gd name="T8" fmla="*/ 30 w 186"/>
                <a:gd name="T9" fmla="*/ 3 h 65"/>
                <a:gd name="T10" fmla="*/ 0 w 186"/>
                <a:gd name="T11" fmla="*/ 34 h 65"/>
                <a:gd name="T12" fmla="*/ 0 w 186"/>
                <a:gd name="T13" fmla="*/ 34 h 65"/>
                <a:gd name="T14" fmla="*/ 0 w 186"/>
                <a:gd name="T15" fmla="*/ 65 h 65"/>
                <a:gd name="T16" fmla="*/ 31 w 186"/>
                <a:gd name="T17" fmla="*/ 65 h 65"/>
                <a:gd name="T18" fmla="*/ 0 w 186"/>
                <a:gd name="T19" fmla="*/ 3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6" h="65">
                  <a:moveTo>
                    <a:pt x="0" y="34"/>
                  </a:moveTo>
                  <a:lnTo>
                    <a:pt x="31" y="65"/>
                  </a:lnTo>
                  <a:lnTo>
                    <a:pt x="186" y="63"/>
                  </a:lnTo>
                  <a:lnTo>
                    <a:pt x="186" y="0"/>
                  </a:lnTo>
                  <a:lnTo>
                    <a:pt x="30" y="3"/>
                  </a:lnTo>
                  <a:lnTo>
                    <a:pt x="0" y="34"/>
                  </a:lnTo>
                  <a:lnTo>
                    <a:pt x="0" y="65"/>
                  </a:lnTo>
                  <a:lnTo>
                    <a:pt x="31" y="65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008000"/>
            </a:solidFill>
            <a:ln w="9525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0" name="Freeform 140"/>
            <p:cNvSpPr>
              <a:spLocks noChangeArrowheads="1"/>
            </p:cNvSpPr>
            <p:nvPr/>
          </p:nvSpPr>
          <p:spPr bwMode="auto">
            <a:xfrm>
              <a:off x="3692" y="2135"/>
              <a:ext cx="27" cy="182"/>
            </a:xfrm>
            <a:custGeom>
              <a:avLst/>
              <a:gdLst>
                <a:gd name="T0" fmla="*/ 31 w 63"/>
                <a:gd name="T1" fmla="*/ 0 h 412"/>
                <a:gd name="T2" fmla="*/ 0 w 63"/>
                <a:gd name="T3" fmla="*/ 31 h 412"/>
                <a:gd name="T4" fmla="*/ 0 w 63"/>
                <a:gd name="T5" fmla="*/ 412 h 412"/>
                <a:gd name="T6" fmla="*/ 63 w 63"/>
                <a:gd name="T7" fmla="*/ 412 h 412"/>
                <a:gd name="T8" fmla="*/ 63 w 63"/>
                <a:gd name="T9" fmla="*/ 31 h 412"/>
                <a:gd name="T10" fmla="*/ 31 w 63"/>
                <a:gd name="T11" fmla="*/ 0 h 412"/>
                <a:gd name="T12" fmla="*/ 31 w 63"/>
                <a:gd name="T13" fmla="*/ 0 h 412"/>
                <a:gd name="T14" fmla="*/ 0 w 63"/>
                <a:gd name="T15" fmla="*/ 0 h 412"/>
                <a:gd name="T16" fmla="*/ 0 w 63"/>
                <a:gd name="T17" fmla="*/ 31 h 412"/>
                <a:gd name="T18" fmla="*/ 31 w 63"/>
                <a:gd name="T19" fmla="*/ 0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" h="412">
                  <a:moveTo>
                    <a:pt x="31" y="0"/>
                  </a:moveTo>
                  <a:lnTo>
                    <a:pt x="0" y="31"/>
                  </a:lnTo>
                  <a:lnTo>
                    <a:pt x="0" y="412"/>
                  </a:lnTo>
                  <a:lnTo>
                    <a:pt x="63" y="412"/>
                  </a:lnTo>
                  <a:lnTo>
                    <a:pt x="63" y="31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3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8000"/>
            </a:solidFill>
            <a:ln w="9525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1" name="Freeform 141"/>
            <p:cNvSpPr>
              <a:spLocks noChangeArrowheads="1"/>
            </p:cNvSpPr>
            <p:nvPr/>
          </p:nvSpPr>
          <p:spPr bwMode="auto">
            <a:xfrm>
              <a:off x="3706" y="2135"/>
              <a:ext cx="93" cy="28"/>
            </a:xfrm>
            <a:custGeom>
              <a:avLst/>
              <a:gdLst>
                <a:gd name="T0" fmla="*/ 199 w 220"/>
                <a:gd name="T1" fmla="*/ 18 h 64"/>
                <a:gd name="T2" fmla="*/ 170 w 220"/>
                <a:gd name="T3" fmla="*/ 1 h 64"/>
                <a:gd name="T4" fmla="*/ 0 w 220"/>
                <a:gd name="T5" fmla="*/ 0 h 64"/>
                <a:gd name="T6" fmla="*/ 0 w 220"/>
                <a:gd name="T7" fmla="*/ 63 h 64"/>
                <a:gd name="T8" fmla="*/ 170 w 220"/>
                <a:gd name="T9" fmla="*/ 64 h 64"/>
                <a:gd name="T10" fmla="*/ 199 w 220"/>
                <a:gd name="T11" fmla="*/ 18 h 64"/>
                <a:gd name="T12" fmla="*/ 170 w 220"/>
                <a:gd name="T13" fmla="*/ 64 h 64"/>
                <a:gd name="T14" fmla="*/ 220 w 220"/>
                <a:gd name="T15" fmla="*/ 64 h 64"/>
                <a:gd name="T16" fmla="*/ 199 w 220"/>
                <a:gd name="T17" fmla="*/ 1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0" h="64">
                  <a:moveTo>
                    <a:pt x="199" y="18"/>
                  </a:moveTo>
                  <a:lnTo>
                    <a:pt x="170" y="1"/>
                  </a:lnTo>
                  <a:lnTo>
                    <a:pt x="0" y="0"/>
                  </a:lnTo>
                  <a:lnTo>
                    <a:pt x="0" y="63"/>
                  </a:lnTo>
                  <a:lnTo>
                    <a:pt x="170" y="64"/>
                  </a:lnTo>
                  <a:lnTo>
                    <a:pt x="199" y="18"/>
                  </a:lnTo>
                  <a:lnTo>
                    <a:pt x="170" y="64"/>
                  </a:lnTo>
                  <a:lnTo>
                    <a:pt x="220" y="64"/>
                  </a:lnTo>
                  <a:lnTo>
                    <a:pt x="199" y="18"/>
                  </a:lnTo>
                  <a:close/>
                </a:path>
              </a:pathLst>
            </a:custGeom>
            <a:solidFill>
              <a:srgbClr val="008000"/>
            </a:solidFill>
            <a:ln w="9525">
              <a:solidFill>
                <a:srgbClr val="008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2" name="Rectangle 142"/>
            <p:cNvSpPr>
              <a:spLocks noChangeArrowheads="1"/>
            </p:cNvSpPr>
            <p:nvPr/>
          </p:nvSpPr>
          <p:spPr bwMode="auto">
            <a:xfrm>
              <a:off x="3140" y="2217"/>
              <a:ext cx="228" cy="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3" name="Rectangle 143"/>
            <p:cNvSpPr>
              <a:spLocks noChangeArrowheads="1"/>
            </p:cNvSpPr>
            <p:nvPr/>
          </p:nvSpPr>
          <p:spPr bwMode="auto">
            <a:xfrm>
              <a:off x="3396" y="2217"/>
              <a:ext cx="27" cy="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4" name="Rectangle 144"/>
            <p:cNvSpPr>
              <a:spLocks noChangeArrowheads="1"/>
            </p:cNvSpPr>
            <p:nvPr/>
          </p:nvSpPr>
          <p:spPr bwMode="auto">
            <a:xfrm>
              <a:off x="3451" y="2217"/>
              <a:ext cx="227" cy="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5" name="Rectangle 145"/>
            <p:cNvSpPr>
              <a:spLocks noChangeArrowheads="1"/>
            </p:cNvSpPr>
            <p:nvPr/>
          </p:nvSpPr>
          <p:spPr bwMode="auto">
            <a:xfrm>
              <a:off x="3706" y="2217"/>
              <a:ext cx="27" cy="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6" name="Rectangle 146"/>
            <p:cNvSpPr>
              <a:spLocks noChangeArrowheads="1"/>
            </p:cNvSpPr>
            <p:nvPr/>
          </p:nvSpPr>
          <p:spPr bwMode="auto">
            <a:xfrm>
              <a:off x="3761" y="2217"/>
              <a:ext cx="114" cy="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7" name="Rectangle 147"/>
            <p:cNvSpPr>
              <a:spLocks noChangeArrowheads="1"/>
            </p:cNvSpPr>
            <p:nvPr/>
          </p:nvSpPr>
          <p:spPr bwMode="auto">
            <a:xfrm>
              <a:off x="3529" y="2306"/>
              <a:ext cx="10" cy="23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8" name="Rectangle 148"/>
            <p:cNvSpPr>
              <a:spLocks noChangeArrowheads="1"/>
            </p:cNvSpPr>
            <p:nvPr/>
          </p:nvSpPr>
          <p:spPr bwMode="auto">
            <a:xfrm>
              <a:off x="3529" y="2249"/>
              <a:ext cx="10" cy="2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9" name="Rectangle 149"/>
            <p:cNvSpPr>
              <a:spLocks noChangeArrowheads="1"/>
            </p:cNvSpPr>
            <p:nvPr/>
          </p:nvSpPr>
          <p:spPr bwMode="auto">
            <a:xfrm>
              <a:off x="3529" y="1984"/>
              <a:ext cx="10" cy="23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0" name="Rectangle 150"/>
            <p:cNvSpPr>
              <a:spLocks noChangeArrowheads="1"/>
            </p:cNvSpPr>
            <p:nvPr/>
          </p:nvSpPr>
          <p:spPr bwMode="auto">
            <a:xfrm>
              <a:off x="3529" y="1927"/>
              <a:ext cx="10" cy="2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1" name="Rectangle 151"/>
            <p:cNvSpPr>
              <a:spLocks noChangeArrowheads="1"/>
            </p:cNvSpPr>
            <p:nvPr/>
          </p:nvSpPr>
          <p:spPr bwMode="auto">
            <a:xfrm>
              <a:off x="3529" y="1856"/>
              <a:ext cx="10" cy="4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2" name="Line 152"/>
            <p:cNvSpPr>
              <a:spLocks noChangeShapeType="1"/>
            </p:cNvSpPr>
            <p:nvPr/>
          </p:nvSpPr>
          <p:spPr bwMode="auto">
            <a:xfrm flipH="1">
              <a:off x="3292" y="1975"/>
              <a:ext cx="180" cy="184"/>
            </a:xfrm>
            <a:prstGeom prst="line">
              <a:avLst/>
            </a:prstGeom>
            <a:noFill/>
            <a:ln w="111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" name="Line 153"/>
            <p:cNvSpPr>
              <a:spLocks noChangeShapeType="1"/>
            </p:cNvSpPr>
            <p:nvPr/>
          </p:nvSpPr>
          <p:spPr bwMode="auto">
            <a:xfrm flipH="1">
              <a:off x="3274" y="1966"/>
              <a:ext cx="288" cy="291"/>
            </a:xfrm>
            <a:prstGeom prst="line">
              <a:avLst/>
            </a:prstGeom>
            <a:noFill/>
            <a:ln w="111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" name="Line 154"/>
            <p:cNvSpPr>
              <a:spLocks noChangeShapeType="1"/>
            </p:cNvSpPr>
            <p:nvPr/>
          </p:nvSpPr>
          <p:spPr bwMode="auto">
            <a:xfrm flipH="1">
              <a:off x="3292" y="1987"/>
              <a:ext cx="325" cy="328"/>
            </a:xfrm>
            <a:prstGeom prst="line">
              <a:avLst/>
            </a:prstGeom>
            <a:noFill/>
            <a:ln w="111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" name="Line 155"/>
            <p:cNvSpPr>
              <a:spLocks noChangeShapeType="1"/>
            </p:cNvSpPr>
            <p:nvPr/>
          </p:nvSpPr>
          <p:spPr bwMode="auto">
            <a:xfrm flipH="1">
              <a:off x="3329" y="2013"/>
              <a:ext cx="341" cy="348"/>
            </a:xfrm>
            <a:prstGeom prst="line">
              <a:avLst/>
            </a:prstGeom>
            <a:noFill/>
            <a:ln w="111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" name="Line 156"/>
            <p:cNvSpPr>
              <a:spLocks noChangeShapeType="1"/>
            </p:cNvSpPr>
            <p:nvPr/>
          </p:nvSpPr>
          <p:spPr bwMode="auto">
            <a:xfrm flipH="1">
              <a:off x="3361" y="2045"/>
              <a:ext cx="353" cy="358"/>
            </a:xfrm>
            <a:prstGeom prst="line">
              <a:avLst/>
            </a:prstGeom>
            <a:noFill/>
            <a:ln w="111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" name="Line 157"/>
            <p:cNvSpPr>
              <a:spLocks noChangeShapeType="1"/>
            </p:cNvSpPr>
            <p:nvPr/>
          </p:nvSpPr>
          <p:spPr bwMode="auto">
            <a:xfrm flipH="1">
              <a:off x="3406" y="2076"/>
              <a:ext cx="351" cy="357"/>
            </a:xfrm>
            <a:prstGeom prst="line">
              <a:avLst/>
            </a:prstGeom>
            <a:noFill/>
            <a:ln w="111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" name="Line 158"/>
            <p:cNvSpPr>
              <a:spLocks noChangeShapeType="1"/>
            </p:cNvSpPr>
            <p:nvPr/>
          </p:nvSpPr>
          <p:spPr bwMode="auto">
            <a:xfrm flipH="1">
              <a:off x="3442" y="2204"/>
              <a:ext cx="264" cy="268"/>
            </a:xfrm>
            <a:prstGeom prst="line">
              <a:avLst/>
            </a:prstGeom>
            <a:noFill/>
            <a:ln w="111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9" name="Line 159"/>
            <p:cNvSpPr>
              <a:spLocks noChangeShapeType="1"/>
            </p:cNvSpPr>
            <p:nvPr/>
          </p:nvSpPr>
          <p:spPr bwMode="auto">
            <a:xfrm flipH="1">
              <a:off x="3516" y="2281"/>
              <a:ext cx="189" cy="191"/>
            </a:xfrm>
            <a:prstGeom prst="line">
              <a:avLst/>
            </a:prstGeom>
            <a:noFill/>
            <a:ln w="111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" name="Line 160"/>
            <p:cNvSpPr>
              <a:spLocks noChangeShapeType="1"/>
            </p:cNvSpPr>
            <p:nvPr/>
          </p:nvSpPr>
          <p:spPr bwMode="auto">
            <a:xfrm flipH="1">
              <a:off x="3598" y="2331"/>
              <a:ext cx="138" cy="141"/>
            </a:xfrm>
            <a:prstGeom prst="line">
              <a:avLst/>
            </a:prstGeom>
            <a:noFill/>
            <a:ln w="111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1" name="Text Box 164"/>
          <p:cNvSpPr txBox="1">
            <a:spLocks noChangeArrowheads="1"/>
          </p:cNvSpPr>
          <p:nvPr/>
        </p:nvSpPr>
        <p:spPr bwMode="auto">
          <a:xfrm>
            <a:off x="2019301" y="6000235"/>
            <a:ext cx="78025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1176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buFont typeface="Wingdings" panose="05000000000000000000" pitchFamily="2" charset="2"/>
              <a:buChar char="Ø"/>
            </a:pPr>
            <a:r>
              <a:rPr lang="en-US" altLang="zh-CN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zh-CN" altLang="en-US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配置：配置在剖切线的延长线上或其他适当的位置。</a:t>
            </a:r>
          </a:p>
        </p:txBody>
      </p:sp>
      <p:sp>
        <p:nvSpPr>
          <p:cNvPr id="162" name="Rectangle 165"/>
          <p:cNvSpPr>
            <a:spLocks noChangeArrowheads="1"/>
          </p:cNvSpPr>
          <p:nvPr/>
        </p:nvSpPr>
        <p:spPr bwMode="auto">
          <a:xfrm>
            <a:off x="842530" y="1548882"/>
            <a:ext cx="4289425" cy="4064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/>
          <a:p>
            <a:pPr marL="838200" indent="-838200">
              <a:lnSpc>
                <a:spcPct val="90000"/>
              </a:lnSpc>
              <a:spcBef>
                <a:spcPct val="0"/>
              </a:spcBef>
              <a:buFontTx/>
              <a:buNone/>
              <a:defRPr/>
            </a:pPr>
            <a:r>
              <a:rPr lang="en-US" altLang="zh-CN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1.</a:t>
            </a:r>
            <a:r>
              <a:rPr lang="zh-CN" altLang="en-US" sz="2800" b="1" dirty="0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移出断面图</a:t>
            </a:r>
          </a:p>
        </p:txBody>
      </p:sp>
    </p:spTree>
    <p:extLst>
      <p:ext uri="{BB962C8B-B14F-4D97-AF65-F5344CB8AC3E}">
        <p14:creationId xmlns:p14="http://schemas.microsoft.com/office/powerpoint/2010/main" val="3931168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1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>
          <a:xfrm>
            <a:off x="1943100" y="3530600"/>
            <a:ext cx="8534400" cy="393700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zh-CN" sz="2000" b="1" dirty="0">
                <a:solidFill>
                  <a:srgbClr val="FF00FF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※ </a:t>
            </a:r>
            <a:r>
              <a:rPr lang="zh-CN" altLang="en-US" sz="2000" b="1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当剖切面通过回转面形成的孔、凹坑的</a:t>
            </a:r>
            <a:r>
              <a:rPr lang="zh-CN" altLang="en-US" sz="2000" b="1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轴线</a:t>
            </a:r>
            <a:r>
              <a:rPr lang="zh-CN" altLang="en-US" sz="2000" b="1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时，这些结构按</a:t>
            </a:r>
            <a:r>
              <a:rPr lang="zh-CN" altLang="en-US" sz="2000" b="1" dirty="0">
                <a:solidFill>
                  <a:srgbClr val="FF443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剖视</a:t>
            </a:r>
            <a:r>
              <a:rPr lang="zh-CN" altLang="en-US" sz="2000" b="1" dirty="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绘制。</a:t>
            </a:r>
          </a:p>
        </p:txBody>
      </p:sp>
      <p:grpSp>
        <p:nvGrpSpPr>
          <p:cNvPr id="3" name="Group 3"/>
          <p:cNvGrpSpPr>
            <a:grpSpLocks noChangeAspect="1"/>
          </p:cNvGrpSpPr>
          <p:nvPr/>
        </p:nvGrpSpPr>
        <p:grpSpPr bwMode="auto">
          <a:xfrm>
            <a:off x="4899026" y="1076326"/>
            <a:ext cx="396875" cy="212725"/>
            <a:chOff x="2826" y="2405"/>
            <a:chExt cx="80" cy="43"/>
          </a:xfrm>
        </p:grpSpPr>
        <p:sp>
          <p:nvSpPr>
            <p:cNvPr id="4" name="Freeform 4"/>
            <p:cNvSpPr>
              <a:spLocks noChangeAspect="1" noChangeArrowheads="1"/>
            </p:cNvSpPr>
            <p:nvPr/>
          </p:nvSpPr>
          <p:spPr bwMode="auto">
            <a:xfrm>
              <a:off x="2826" y="2405"/>
              <a:ext cx="22" cy="43"/>
            </a:xfrm>
            <a:custGeom>
              <a:avLst/>
              <a:gdLst>
                <a:gd name="T0" fmla="*/ 0 w 210"/>
                <a:gd name="T1" fmla="*/ 425 h 425"/>
                <a:gd name="T2" fmla="*/ 210 w 210"/>
                <a:gd name="T3" fmla="*/ 0 h 425"/>
                <a:gd name="T4" fmla="*/ 194 w 210"/>
                <a:gd name="T5" fmla="*/ 425 h 425"/>
                <a:gd name="T6" fmla="*/ 195 w 210"/>
                <a:gd name="T7" fmla="*/ 42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0" h="425">
                  <a:moveTo>
                    <a:pt x="0" y="425"/>
                  </a:moveTo>
                  <a:lnTo>
                    <a:pt x="210" y="0"/>
                  </a:lnTo>
                  <a:lnTo>
                    <a:pt x="194" y="425"/>
                  </a:lnTo>
                  <a:lnTo>
                    <a:pt x="195" y="425"/>
                  </a:lnTo>
                </a:path>
              </a:pathLst>
            </a:custGeom>
            <a:noFill/>
            <a:ln w="952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" name="Freeform 5"/>
            <p:cNvSpPr>
              <a:spLocks noChangeAspect="1" noChangeArrowheads="1"/>
            </p:cNvSpPr>
            <p:nvPr/>
          </p:nvSpPr>
          <p:spPr bwMode="auto">
            <a:xfrm>
              <a:off x="2834" y="2434"/>
              <a:ext cx="12" cy="1"/>
            </a:xfrm>
            <a:custGeom>
              <a:avLst/>
              <a:gdLst>
                <a:gd name="T0" fmla="*/ 0 w 122"/>
                <a:gd name="T1" fmla="*/ 0 h 1"/>
                <a:gd name="T2" fmla="*/ 121 w 122"/>
                <a:gd name="T3" fmla="*/ 0 h 1"/>
                <a:gd name="T4" fmla="*/ 122 w 12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" h="1">
                  <a:moveTo>
                    <a:pt x="0" y="0"/>
                  </a:moveTo>
                  <a:lnTo>
                    <a:pt x="121" y="0"/>
                  </a:lnTo>
                  <a:lnTo>
                    <a:pt x="122" y="0"/>
                  </a:lnTo>
                </a:path>
              </a:pathLst>
            </a:custGeom>
            <a:noFill/>
            <a:ln w="952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" name="Freeform 6"/>
            <p:cNvSpPr>
              <a:spLocks noChangeAspect="1" noChangeArrowheads="1"/>
            </p:cNvSpPr>
            <p:nvPr/>
          </p:nvSpPr>
          <p:spPr bwMode="auto">
            <a:xfrm>
              <a:off x="2858" y="2430"/>
              <a:ext cx="22" cy="1"/>
            </a:xfrm>
            <a:custGeom>
              <a:avLst/>
              <a:gdLst>
                <a:gd name="T0" fmla="*/ 0 w 220"/>
                <a:gd name="T1" fmla="*/ 0 h 1"/>
                <a:gd name="T2" fmla="*/ 219 w 220"/>
                <a:gd name="T3" fmla="*/ 0 h 1"/>
                <a:gd name="T4" fmla="*/ 220 w 22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0" h="1">
                  <a:moveTo>
                    <a:pt x="0" y="0"/>
                  </a:moveTo>
                  <a:lnTo>
                    <a:pt x="219" y="0"/>
                  </a:lnTo>
                  <a:lnTo>
                    <a:pt x="220" y="0"/>
                  </a:lnTo>
                </a:path>
              </a:pathLst>
            </a:custGeom>
            <a:noFill/>
            <a:ln w="952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" name="Freeform 7"/>
            <p:cNvSpPr>
              <a:spLocks noChangeAspect="1" noChangeArrowheads="1"/>
            </p:cNvSpPr>
            <p:nvPr/>
          </p:nvSpPr>
          <p:spPr bwMode="auto">
            <a:xfrm>
              <a:off x="2885" y="2405"/>
              <a:ext cx="21" cy="43"/>
            </a:xfrm>
            <a:custGeom>
              <a:avLst/>
              <a:gdLst>
                <a:gd name="T0" fmla="*/ 0 w 211"/>
                <a:gd name="T1" fmla="*/ 425 h 425"/>
                <a:gd name="T2" fmla="*/ 211 w 211"/>
                <a:gd name="T3" fmla="*/ 0 h 425"/>
                <a:gd name="T4" fmla="*/ 195 w 211"/>
                <a:gd name="T5" fmla="*/ 425 h 425"/>
                <a:gd name="T6" fmla="*/ 196 w 211"/>
                <a:gd name="T7" fmla="*/ 42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">
                  <a:moveTo>
                    <a:pt x="0" y="425"/>
                  </a:moveTo>
                  <a:lnTo>
                    <a:pt x="211" y="0"/>
                  </a:lnTo>
                  <a:lnTo>
                    <a:pt x="195" y="425"/>
                  </a:lnTo>
                  <a:lnTo>
                    <a:pt x="196" y="425"/>
                  </a:lnTo>
                </a:path>
              </a:pathLst>
            </a:custGeom>
            <a:noFill/>
            <a:ln w="952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" name="Freeform 8"/>
            <p:cNvSpPr>
              <a:spLocks noChangeAspect="1" noChangeArrowheads="1"/>
            </p:cNvSpPr>
            <p:nvPr/>
          </p:nvSpPr>
          <p:spPr bwMode="auto">
            <a:xfrm>
              <a:off x="2892" y="2434"/>
              <a:ext cx="12" cy="1"/>
            </a:xfrm>
            <a:custGeom>
              <a:avLst/>
              <a:gdLst>
                <a:gd name="T0" fmla="*/ 0 w 122"/>
                <a:gd name="T1" fmla="*/ 0 h 1"/>
                <a:gd name="T2" fmla="*/ 121 w 122"/>
                <a:gd name="T3" fmla="*/ 0 h 1"/>
                <a:gd name="T4" fmla="*/ 122 w 12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" h="1">
                  <a:moveTo>
                    <a:pt x="0" y="0"/>
                  </a:moveTo>
                  <a:lnTo>
                    <a:pt x="121" y="0"/>
                  </a:lnTo>
                  <a:lnTo>
                    <a:pt x="122" y="0"/>
                  </a:lnTo>
                </a:path>
              </a:pathLst>
            </a:custGeom>
            <a:noFill/>
            <a:ln w="952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9" name="Group 9"/>
          <p:cNvGrpSpPr>
            <a:grpSpLocks noChangeAspect="1"/>
          </p:cNvGrpSpPr>
          <p:nvPr/>
        </p:nvGrpSpPr>
        <p:grpSpPr bwMode="auto">
          <a:xfrm>
            <a:off x="3206751" y="893764"/>
            <a:ext cx="233363" cy="2357437"/>
            <a:chOff x="1671" y="570"/>
            <a:chExt cx="280" cy="2828"/>
          </a:xfrm>
        </p:grpSpPr>
        <p:sp>
          <p:nvSpPr>
            <p:cNvPr id="10" name="Freeform 10"/>
            <p:cNvSpPr>
              <a:spLocks noChangeAspect="1" noChangeArrowheads="1"/>
            </p:cNvSpPr>
            <p:nvPr/>
          </p:nvSpPr>
          <p:spPr bwMode="auto">
            <a:xfrm>
              <a:off x="1945" y="695"/>
              <a:ext cx="6" cy="315"/>
            </a:xfrm>
            <a:custGeom>
              <a:avLst/>
              <a:gdLst>
                <a:gd name="T0" fmla="*/ 0 w 1"/>
                <a:gd name="T1" fmla="*/ 0 h 529"/>
                <a:gd name="T2" fmla="*/ 0 w 1"/>
                <a:gd name="T3" fmla="*/ 529 h 529"/>
                <a:gd name="T4" fmla="*/ 1 w 1"/>
                <a:gd name="T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29">
                  <a:moveTo>
                    <a:pt x="0" y="0"/>
                  </a:moveTo>
                  <a:lnTo>
                    <a:pt x="0" y="529"/>
                  </a:lnTo>
                  <a:lnTo>
                    <a:pt x="1" y="529"/>
                  </a:lnTo>
                </a:path>
              </a:pathLst>
            </a:custGeom>
            <a:noFill/>
            <a:ln w="571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" name="Freeform 11"/>
            <p:cNvSpPr>
              <a:spLocks noChangeAspect="1" noChangeArrowheads="1"/>
            </p:cNvSpPr>
            <p:nvPr/>
          </p:nvSpPr>
          <p:spPr bwMode="auto">
            <a:xfrm>
              <a:off x="1671" y="570"/>
              <a:ext cx="131" cy="255"/>
            </a:xfrm>
            <a:custGeom>
              <a:avLst/>
              <a:gdLst>
                <a:gd name="T0" fmla="*/ 0 w 211"/>
                <a:gd name="T1" fmla="*/ 425 h 425"/>
                <a:gd name="T2" fmla="*/ 211 w 211"/>
                <a:gd name="T3" fmla="*/ 0 h 425"/>
                <a:gd name="T4" fmla="*/ 194 w 211"/>
                <a:gd name="T5" fmla="*/ 425 h 425"/>
                <a:gd name="T6" fmla="*/ 195 w 211"/>
                <a:gd name="T7" fmla="*/ 42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">
                  <a:moveTo>
                    <a:pt x="0" y="425"/>
                  </a:moveTo>
                  <a:lnTo>
                    <a:pt x="211" y="0"/>
                  </a:lnTo>
                  <a:lnTo>
                    <a:pt x="194" y="425"/>
                  </a:lnTo>
                  <a:lnTo>
                    <a:pt x="195" y="425"/>
                  </a:lnTo>
                </a:path>
              </a:pathLst>
            </a:custGeom>
            <a:noFill/>
            <a:ln w="952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" name="Freeform 12"/>
            <p:cNvSpPr>
              <a:spLocks noChangeAspect="1" noChangeArrowheads="1"/>
            </p:cNvSpPr>
            <p:nvPr/>
          </p:nvSpPr>
          <p:spPr bwMode="auto">
            <a:xfrm>
              <a:off x="1719" y="736"/>
              <a:ext cx="71" cy="6"/>
            </a:xfrm>
            <a:custGeom>
              <a:avLst/>
              <a:gdLst>
                <a:gd name="T0" fmla="*/ 0 w 122"/>
                <a:gd name="T1" fmla="*/ 0 h 6"/>
                <a:gd name="T2" fmla="*/ 121 w 122"/>
                <a:gd name="T3" fmla="*/ 0 h 6"/>
                <a:gd name="T4" fmla="*/ 122 w 12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" h="6">
                  <a:moveTo>
                    <a:pt x="0" y="0"/>
                  </a:moveTo>
                  <a:lnTo>
                    <a:pt x="121" y="0"/>
                  </a:lnTo>
                  <a:lnTo>
                    <a:pt x="122" y="0"/>
                  </a:lnTo>
                </a:path>
              </a:pathLst>
            </a:custGeom>
            <a:noFill/>
            <a:ln w="952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" name="Freeform 13"/>
            <p:cNvSpPr>
              <a:spLocks noChangeAspect="1" noChangeArrowheads="1"/>
            </p:cNvSpPr>
            <p:nvPr/>
          </p:nvSpPr>
          <p:spPr bwMode="auto">
            <a:xfrm>
              <a:off x="1671" y="3148"/>
              <a:ext cx="131" cy="250"/>
            </a:xfrm>
            <a:custGeom>
              <a:avLst/>
              <a:gdLst>
                <a:gd name="T0" fmla="*/ 0 w 211"/>
                <a:gd name="T1" fmla="*/ 425 h 425"/>
                <a:gd name="T2" fmla="*/ 211 w 211"/>
                <a:gd name="T3" fmla="*/ 0 h 425"/>
                <a:gd name="T4" fmla="*/ 194 w 211"/>
                <a:gd name="T5" fmla="*/ 425 h 425"/>
                <a:gd name="T6" fmla="*/ 195 w 211"/>
                <a:gd name="T7" fmla="*/ 42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">
                  <a:moveTo>
                    <a:pt x="0" y="425"/>
                  </a:moveTo>
                  <a:lnTo>
                    <a:pt x="211" y="0"/>
                  </a:lnTo>
                  <a:lnTo>
                    <a:pt x="194" y="425"/>
                  </a:lnTo>
                  <a:lnTo>
                    <a:pt x="195" y="425"/>
                  </a:lnTo>
                </a:path>
              </a:pathLst>
            </a:custGeom>
            <a:noFill/>
            <a:ln w="952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" name="Freeform 14"/>
            <p:cNvSpPr>
              <a:spLocks noChangeAspect="1" noChangeArrowheads="1"/>
            </p:cNvSpPr>
            <p:nvPr/>
          </p:nvSpPr>
          <p:spPr bwMode="auto">
            <a:xfrm>
              <a:off x="1719" y="3315"/>
              <a:ext cx="71" cy="6"/>
            </a:xfrm>
            <a:custGeom>
              <a:avLst/>
              <a:gdLst>
                <a:gd name="T0" fmla="*/ 0 w 122"/>
                <a:gd name="T1" fmla="*/ 0 h 6"/>
                <a:gd name="T2" fmla="*/ 121 w 122"/>
                <a:gd name="T3" fmla="*/ 0 h 6"/>
                <a:gd name="T4" fmla="*/ 122 w 12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" h="6">
                  <a:moveTo>
                    <a:pt x="0" y="0"/>
                  </a:moveTo>
                  <a:lnTo>
                    <a:pt x="121" y="0"/>
                  </a:lnTo>
                  <a:lnTo>
                    <a:pt x="122" y="0"/>
                  </a:lnTo>
                </a:path>
              </a:pathLst>
            </a:custGeom>
            <a:noFill/>
            <a:ln w="9525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" name="Freeform 15"/>
            <p:cNvSpPr>
              <a:spLocks noChangeAspect="1" noChangeArrowheads="1"/>
            </p:cNvSpPr>
            <p:nvPr/>
          </p:nvSpPr>
          <p:spPr bwMode="auto">
            <a:xfrm>
              <a:off x="1945" y="2899"/>
              <a:ext cx="6" cy="374"/>
            </a:xfrm>
            <a:custGeom>
              <a:avLst/>
              <a:gdLst>
                <a:gd name="T0" fmla="*/ 0 w 1"/>
                <a:gd name="T1" fmla="*/ 0 h 633"/>
                <a:gd name="T2" fmla="*/ 0 w 1"/>
                <a:gd name="T3" fmla="*/ 633 h 633"/>
                <a:gd name="T4" fmla="*/ 1 w 1"/>
                <a:gd name="T5" fmla="*/ 633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33">
                  <a:moveTo>
                    <a:pt x="0" y="0"/>
                  </a:moveTo>
                  <a:lnTo>
                    <a:pt x="0" y="633"/>
                  </a:lnTo>
                  <a:lnTo>
                    <a:pt x="1" y="633"/>
                  </a:lnTo>
                </a:path>
              </a:pathLst>
            </a:custGeom>
            <a:noFill/>
            <a:ln w="571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16" name="Group 16"/>
          <p:cNvGrpSpPr>
            <a:grpSpLocks/>
          </p:cNvGrpSpPr>
          <p:nvPr/>
        </p:nvGrpSpPr>
        <p:grpSpPr bwMode="auto">
          <a:xfrm>
            <a:off x="4511676" y="1447800"/>
            <a:ext cx="1260475" cy="1238250"/>
            <a:chOff x="2002" y="1000"/>
            <a:chExt cx="794" cy="780"/>
          </a:xfrm>
        </p:grpSpPr>
        <p:grpSp>
          <p:nvGrpSpPr>
            <p:cNvPr id="17" name="Group 17"/>
            <p:cNvGrpSpPr>
              <a:grpSpLocks noChangeAspect="1"/>
            </p:cNvGrpSpPr>
            <p:nvPr/>
          </p:nvGrpSpPr>
          <p:grpSpPr bwMode="auto">
            <a:xfrm>
              <a:off x="2045" y="1047"/>
              <a:ext cx="657" cy="686"/>
              <a:chOff x="2762" y="2495"/>
              <a:chExt cx="210" cy="220"/>
            </a:xfrm>
          </p:grpSpPr>
          <p:sp>
            <p:nvSpPr>
              <p:cNvPr id="39" name="Freeform 18"/>
              <p:cNvSpPr>
                <a:spLocks noChangeAspect="1" noChangeArrowheads="1"/>
              </p:cNvSpPr>
              <p:nvPr/>
            </p:nvSpPr>
            <p:spPr bwMode="auto">
              <a:xfrm>
                <a:off x="2762" y="2634"/>
                <a:ext cx="4" cy="4"/>
              </a:xfrm>
              <a:custGeom>
                <a:avLst/>
                <a:gdLst>
                  <a:gd name="T0" fmla="*/ 0 w 38"/>
                  <a:gd name="T1" fmla="*/ 38 h 38"/>
                  <a:gd name="T2" fmla="*/ 37 w 38"/>
                  <a:gd name="T3" fmla="*/ 0 h 38"/>
                  <a:gd name="T4" fmla="*/ 38 w 38"/>
                  <a:gd name="T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8">
                    <a:moveTo>
                      <a:pt x="0" y="38"/>
                    </a:moveTo>
                    <a:lnTo>
                      <a:pt x="37" y="0"/>
                    </a:lnTo>
                    <a:lnTo>
                      <a:pt x="38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0" name="Freeform 19"/>
              <p:cNvSpPr>
                <a:spLocks noChangeAspect="1" noChangeArrowheads="1"/>
              </p:cNvSpPr>
              <p:nvPr/>
            </p:nvSpPr>
            <p:spPr bwMode="auto">
              <a:xfrm>
                <a:off x="2769" y="2634"/>
                <a:ext cx="22" cy="21"/>
              </a:xfrm>
              <a:custGeom>
                <a:avLst/>
                <a:gdLst>
                  <a:gd name="T0" fmla="*/ 0 w 213"/>
                  <a:gd name="T1" fmla="*/ 213 h 213"/>
                  <a:gd name="T2" fmla="*/ 212 w 213"/>
                  <a:gd name="T3" fmla="*/ 0 h 213"/>
                  <a:gd name="T4" fmla="*/ 213 w 213"/>
                  <a:gd name="T5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3" h="213">
                    <a:moveTo>
                      <a:pt x="0" y="213"/>
                    </a:moveTo>
                    <a:lnTo>
                      <a:pt x="212" y="0"/>
                    </a:lnTo>
                    <a:lnTo>
                      <a:pt x="213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" name="Freeform 20"/>
              <p:cNvSpPr>
                <a:spLocks noChangeAspect="1" noChangeArrowheads="1"/>
              </p:cNvSpPr>
              <p:nvPr/>
            </p:nvSpPr>
            <p:spPr bwMode="auto">
              <a:xfrm>
                <a:off x="2779" y="2634"/>
                <a:ext cx="37" cy="37"/>
              </a:xfrm>
              <a:custGeom>
                <a:avLst/>
                <a:gdLst>
                  <a:gd name="T0" fmla="*/ 0 w 368"/>
                  <a:gd name="T1" fmla="*/ 366 h 366"/>
                  <a:gd name="T2" fmla="*/ 367 w 368"/>
                  <a:gd name="T3" fmla="*/ 0 h 366"/>
                  <a:gd name="T4" fmla="*/ 368 w 368"/>
                  <a:gd name="T5" fmla="*/ 0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8" h="366">
                    <a:moveTo>
                      <a:pt x="0" y="366"/>
                    </a:moveTo>
                    <a:lnTo>
                      <a:pt x="367" y="0"/>
                    </a:lnTo>
                    <a:lnTo>
                      <a:pt x="368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" name="Freeform 21"/>
              <p:cNvSpPr>
                <a:spLocks noChangeAspect="1" noChangeArrowheads="1"/>
              </p:cNvSpPr>
              <p:nvPr/>
            </p:nvSpPr>
            <p:spPr bwMode="auto">
              <a:xfrm>
                <a:off x="2791" y="2634"/>
                <a:ext cx="50" cy="50"/>
              </a:xfrm>
              <a:custGeom>
                <a:avLst/>
                <a:gdLst>
                  <a:gd name="T0" fmla="*/ 0 w 500"/>
                  <a:gd name="T1" fmla="*/ 498 h 498"/>
                  <a:gd name="T2" fmla="*/ 499 w 500"/>
                  <a:gd name="T3" fmla="*/ 0 h 498"/>
                  <a:gd name="T4" fmla="*/ 500 w 500"/>
                  <a:gd name="T5" fmla="*/ 0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0" h="498">
                    <a:moveTo>
                      <a:pt x="0" y="498"/>
                    </a:moveTo>
                    <a:lnTo>
                      <a:pt x="499" y="0"/>
                    </a:lnTo>
                    <a:lnTo>
                      <a:pt x="500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" name="Freeform 22"/>
              <p:cNvSpPr>
                <a:spLocks noChangeAspect="1" noChangeArrowheads="1"/>
              </p:cNvSpPr>
              <p:nvPr/>
            </p:nvSpPr>
            <p:spPr bwMode="auto">
              <a:xfrm>
                <a:off x="2805" y="2634"/>
                <a:ext cx="61" cy="61"/>
              </a:xfrm>
              <a:custGeom>
                <a:avLst/>
                <a:gdLst>
                  <a:gd name="T0" fmla="*/ 0 w 612"/>
                  <a:gd name="T1" fmla="*/ 611 h 611"/>
                  <a:gd name="T2" fmla="*/ 611 w 612"/>
                  <a:gd name="T3" fmla="*/ 0 h 611"/>
                  <a:gd name="T4" fmla="*/ 612 w 612"/>
                  <a:gd name="T5" fmla="*/ 0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12" h="611">
                    <a:moveTo>
                      <a:pt x="0" y="611"/>
                    </a:moveTo>
                    <a:lnTo>
                      <a:pt x="611" y="0"/>
                    </a:lnTo>
                    <a:lnTo>
                      <a:pt x="612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" name="Freeform 23"/>
              <p:cNvSpPr>
                <a:spLocks noChangeAspect="1" noChangeArrowheads="1"/>
              </p:cNvSpPr>
              <p:nvPr/>
            </p:nvSpPr>
            <p:spPr bwMode="auto">
              <a:xfrm>
                <a:off x="2821" y="2634"/>
                <a:ext cx="70" cy="71"/>
              </a:xfrm>
              <a:custGeom>
                <a:avLst/>
                <a:gdLst>
                  <a:gd name="T0" fmla="*/ 0 w 704"/>
                  <a:gd name="T1" fmla="*/ 704 h 704"/>
                  <a:gd name="T2" fmla="*/ 703 w 704"/>
                  <a:gd name="T3" fmla="*/ 0 h 704"/>
                  <a:gd name="T4" fmla="*/ 704 w 704"/>
                  <a:gd name="T5" fmla="*/ 0 h 7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04" h="704">
                    <a:moveTo>
                      <a:pt x="0" y="704"/>
                    </a:moveTo>
                    <a:lnTo>
                      <a:pt x="703" y="0"/>
                    </a:lnTo>
                    <a:lnTo>
                      <a:pt x="704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" name="Freeform 24"/>
              <p:cNvSpPr>
                <a:spLocks noChangeAspect="1" noChangeArrowheads="1"/>
              </p:cNvSpPr>
              <p:nvPr/>
            </p:nvSpPr>
            <p:spPr bwMode="auto">
              <a:xfrm>
                <a:off x="2839" y="2634"/>
                <a:ext cx="77" cy="77"/>
              </a:xfrm>
              <a:custGeom>
                <a:avLst/>
                <a:gdLst>
                  <a:gd name="T0" fmla="*/ 0 w 774"/>
                  <a:gd name="T1" fmla="*/ 772 h 772"/>
                  <a:gd name="T2" fmla="*/ 773 w 774"/>
                  <a:gd name="T3" fmla="*/ 0 h 772"/>
                  <a:gd name="T4" fmla="*/ 774 w 774"/>
                  <a:gd name="T5" fmla="*/ 0 h 7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74" h="772">
                    <a:moveTo>
                      <a:pt x="0" y="772"/>
                    </a:moveTo>
                    <a:lnTo>
                      <a:pt x="773" y="0"/>
                    </a:lnTo>
                    <a:lnTo>
                      <a:pt x="774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" name="Freeform 25"/>
              <p:cNvSpPr>
                <a:spLocks noChangeAspect="1" noChangeArrowheads="1"/>
              </p:cNvSpPr>
              <p:nvPr/>
            </p:nvSpPr>
            <p:spPr bwMode="auto">
              <a:xfrm>
                <a:off x="2860" y="2634"/>
                <a:ext cx="81" cy="81"/>
              </a:xfrm>
              <a:custGeom>
                <a:avLst/>
                <a:gdLst>
                  <a:gd name="T0" fmla="*/ 0 w 812"/>
                  <a:gd name="T1" fmla="*/ 811 h 811"/>
                  <a:gd name="T2" fmla="*/ 811 w 812"/>
                  <a:gd name="T3" fmla="*/ 0 h 811"/>
                  <a:gd name="T4" fmla="*/ 812 w 812"/>
                  <a:gd name="T5" fmla="*/ 0 h 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2" h="811">
                    <a:moveTo>
                      <a:pt x="0" y="811"/>
                    </a:moveTo>
                    <a:lnTo>
                      <a:pt x="811" y="0"/>
                    </a:lnTo>
                    <a:lnTo>
                      <a:pt x="812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7" name="Freeform 26"/>
              <p:cNvSpPr>
                <a:spLocks noChangeAspect="1" noChangeArrowheads="1"/>
              </p:cNvSpPr>
              <p:nvPr/>
            </p:nvSpPr>
            <p:spPr bwMode="auto">
              <a:xfrm>
                <a:off x="2886" y="2634"/>
                <a:ext cx="80" cy="81"/>
              </a:xfrm>
              <a:custGeom>
                <a:avLst/>
                <a:gdLst>
                  <a:gd name="T0" fmla="*/ 0 w 803"/>
                  <a:gd name="T1" fmla="*/ 803 h 803"/>
                  <a:gd name="T2" fmla="*/ 802 w 803"/>
                  <a:gd name="T3" fmla="*/ 0 h 803"/>
                  <a:gd name="T4" fmla="*/ 803 w 803"/>
                  <a:gd name="T5" fmla="*/ 0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03" h="803">
                    <a:moveTo>
                      <a:pt x="0" y="803"/>
                    </a:moveTo>
                    <a:lnTo>
                      <a:pt x="802" y="0"/>
                    </a:lnTo>
                    <a:lnTo>
                      <a:pt x="803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8" name="Freeform 27"/>
              <p:cNvSpPr>
                <a:spLocks noChangeAspect="1" noChangeArrowheads="1"/>
              </p:cNvSpPr>
              <p:nvPr/>
            </p:nvSpPr>
            <p:spPr bwMode="auto">
              <a:xfrm>
                <a:off x="2923" y="2656"/>
                <a:ext cx="46" cy="46"/>
              </a:xfrm>
              <a:custGeom>
                <a:avLst/>
                <a:gdLst>
                  <a:gd name="T0" fmla="*/ 0 w 463"/>
                  <a:gd name="T1" fmla="*/ 461 h 461"/>
                  <a:gd name="T2" fmla="*/ 462 w 463"/>
                  <a:gd name="T3" fmla="*/ 0 h 461"/>
                  <a:gd name="T4" fmla="*/ 463 w 463"/>
                  <a:gd name="T5" fmla="*/ 0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3" h="461">
                    <a:moveTo>
                      <a:pt x="0" y="461"/>
                    </a:moveTo>
                    <a:lnTo>
                      <a:pt x="462" y="0"/>
                    </a:lnTo>
                    <a:lnTo>
                      <a:pt x="463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9" name="Freeform 28"/>
              <p:cNvSpPr>
                <a:spLocks noChangeAspect="1" noChangeArrowheads="1"/>
              </p:cNvSpPr>
              <p:nvPr/>
            </p:nvSpPr>
            <p:spPr bwMode="auto">
              <a:xfrm>
                <a:off x="2764" y="2497"/>
                <a:ext cx="64" cy="64"/>
              </a:xfrm>
              <a:custGeom>
                <a:avLst/>
                <a:gdLst>
                  <a:gd name="T0" fmla="*/ 0 w 639"/>
                  <a:gd name="T1" fmla="*/ 639 h 639"/>
                  <a:gd name="T2" fmla="*/ 638 w 639"/>
                  <a:gd name="T3" fmla="*/ 0 h 639"/>
                  <a:gd name="T4" fmla="*/ 639 w 639"/>
                  <a:gd name="T5" fmla="*/ 0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39" h="639">
                    <a:moveTo>
                      <a:pt x="0" y="639"/>
                    </a:moveTo>
                    <a:lnTo>
                      <a:pt x="638" y="0"/>
                    </a:lnTo>
                    <a:lnTo>
                      <a:pt x="639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" name="Freeform 29"/>
              <p:cNvSpPr>
                <a:spLocks noChangeAspect="1" noChangeArrowheads="1"/>
              </p:cNvSpPr>
              <p:nvPr/>
            </p:nvSpPr>
            <p:spPr bwMode="auto">
              <a:xfrm>
                <a:off x="2779" y="2512"/>
                <a:ext cx="59" cy="58"/>
              </a:xfrm>
              <a:custGeom>
                <a:avLst/>
                <a:gdLst>
                  <a:gd name="T0" fmla="*/ 0 w 583"/>
                  <a:gd name="T1" fmla="*/ 582 h 582"/>
                  <a:gd name="T2" fmla="*/ 582 w 583"/>
                  <a:gd name="T3" fmla="*/ 0 h 582"/>
                  <a:gd name="T4" fmla="*/ 583 w 583"/>
                  <a:gd name="T5" fmla="*/ 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3" h="582">
                    <a:moveTo>
                      <a:pt x="0" y="582"/>
                    </a:moveTo>
                    <a:lnTo>
                      <a:pt x="582" y="0"/>
                    </a:lnTo>
                    <a:lnTo>
                      <a:pt x="583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" name="Freeform 30"/>
              <p:cNvSpPr>
                <a:spLocks noChangeAspect="1" noChangeArrowheads="1"/>
              </p:cNvSpPr>
              <p:nvPr/>
            </p:nvSpPr>
            <p:spPr bwMode="auto">
              <a:xfrm>
                <a:off x="2804" y="2533"/>
                <a:ext cx="37" cy="37"/>
              </a:xfrm>
              <a:custGeom>
                <a:avLst/>
                <a:gdLst>
                  <a:gd name="T0" fmla="*/ 0 w 369"/>
                  <a:gd name="T1" fmla="*/ 369 h 369"/>
                  <a:gd name="T2" fmla="*/ 368 w 369"/>
                  <a:gd name="T3" fmla="*/ 0 h 369"/>
                  <a:gd name="T4" fmla="*/ 369 w 369"/>
                  <a:gd name="T5" fmla="*/ 0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9" h="369">
                    <a:moveTo>
                      <a:pt x="0" y="369"/>
                    </a:moveTo>
                    <a:lnTo>
                      <a:pt x="368" y="0"/>
                    </a:lnTo>
                    <a:lnTo>
                      <a:pt x="369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2" name="Freeform 31"/>
              <p:cNvSpPr>
                <a:spLocks noChangeAspect="1" noChangeArrowheads="1"/>
              </p:cNvSpPr>
              <p:nvPr/>
            </p:nvSpPr>
            <p:spPr bwMode="auto">
              <a:xfrm>
                <a:off x="2830" y="2543"/>
                <a:ext cx="27" cy="27"/>
              </a:xfrm>
              <a:custGeom>
                <a:avLst/>
                <a:gdLst>
                  <a:gd name="T0" fmla="*/ 0 w 278"/>
                  <a:gd name="T1" fmla="*/ 276 h 276"/>
                  <a:gd name="T2" fmla="*/ 277 w 278"/>
                  <a:gd name="T3" fmla="*/ 0 h 276"/>
                  <a:gd name="T4" fmla="*/ 278 w 278"/>
                  <a:gd name="T5" fmla="*/ 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8" h="276">
                    <a:moveTo>
                      <a:pt x="0" y="276"/>
                    </a:moveTo>
                    <a:lnTo>
                      <a:pt x="277" y="0"/>
                    </a:lnTo>
                    <a:lnTo>
                      <a:pt x="278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3" name="Freeform 32"/>
              <p:cNvSpPr>
                <a:spLocks noChangeAspect="1" noChangeArrowheads="1"/>
              </p:cNvSpPr>
              <p:nvPr/>
            </p:nvSpPr>
            <p:spPr bwMode="auto">
              <a:xfrm>
                <a:off x="2901" y="2495"/>
                <a:ext cx="4" cy="3"/>
              </a:xfrm>
              <a:custGeom>
                <a:avLst/>
                <a:gdLst>
                  <a:gd name="T0" fmla="*/ 0 w 40"/>
                  <a:gd name="T1" fmla="*/ 38 h 38"/>
                  <a:gd name="T2" fmla="*/ 39 w 40"/>
                  <a:gd name="T3" fmla="*/ 0 h 38"/>
                  <a:gd name="T4" fmla="*/ 40 w 40"/>
                  <a:gd name="T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8">
                    <a:moveTo>
                      <a:pt x="0" y="38"/>
                    </a:moveTo>
                    <a:lnTo>
                      <a:pt x="39" y="0"/>
                    </a:lnTo>
                    <a:lnTo>
                      <a:pt x="40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4" name="Freeform 33"/>
              <p:cNvSpPr>
                <a:spLocks noChangeAspect="1" noChangeArrowheads="1"/>
              </p:cNvSpPr>
              <p:nvPr/>
            </p:nvSpPr>
            <p:spPr bwMode="auto">
              <a:xfrm>
                <a:off x="2855" y="2542"/>
                <a:ext cx="28" cy="28"/>
              </a:xfrm>
              <a:custGeom>
                <a:avLst/>
                <a:gdLst>
                  <a:gd name="T0" fmla="*/ 0 w 283"/>
                  <a:gd name="T1" fmla="*/ 281 h 281"/>
                  <a:gd name="T2" fmla="*/ 282 w 283"/>
                  <a:gd name="T3" fmla="*/ 0 h 281"/>
                  <a:gd name="T4" fmla="*/ 283 w 283"/>
                  <a:gd name="T5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3" h="281">
                    <a:moveTo>
                      <a:pt x="0" y="281"/>
                    </a:moveTo>
                    <a:lnTo>
                      <a:pt x="282" y="0"/>
                    </a:lnTo>
                    <a:lnTo>
                      <a:pt x="283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5" name="Freeform 34"/>
              <p:cNvSpPr>
                <a:spLocks noChangeAspect="1" noChangeArrowheads="1"/>
              </p:cNvSpPr>
              <p:nvPr/>
            </p:nvSpPr>
            <p:spPr bwMode="auto">
              <a:xfrm>
                <a:off x="2901" y="2502"/>
                <a:ext cx="22" cy="21"/>
              </a:xfrm>
              <a:custGeom>
                <a:avLst/>
                <a:gdLst>
                  <a:gd name="T0" fmla="*/ 0 w 215"/>
                  <a:gd name="T1" fmla="*/ 214 h 214"/>
                  <a:gd name="T2" fmla="*/ 214 w 215"/>
                  <a:gd name="T3" fmla="*/ 0 h 214"/>
                  <a:gd name="T4" fmla="*/ 215 w 215"/>
                  <a:gd name="T5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5" h="214">
                    <a:moveTo>
                      <a:pt x="0" y="214"/>
                    </a:moveTo>
                    <a:lnTo>
                      <a:pt x="214" y="0"/>
                    </a:lnTo>
                    <a:lnTo>
                      <a:pt x="215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6" name="Freeform 35"/>
              <p:cNvSpPr>
                <a:spLocks noChangeAspect="1" noChangeArrowheads="1"/>
              </p:cNvSpPr>
              <p:nvPr/>
            </p:nvSpPr>
            <p:spPr bwMode="auto">
              <a:xfrm>
                <a:off x="2880" y="2512"/>
                <a:ext cx="58" cy="58"/>
              </a:xfrm>
              <a:custGeom>
                <a:avLst/>
                <a:gdLst>
                  <a:gd name="T0" fmla="*/ 0 w 584"/>
                  <a:gd name="T1" fmla="*/ 584 h 584"/>
                  <a:gd name="T2" fmla="*/ 583 w 584"/>
                  <a:gd name="T3" fmla="*/ 0 h 584"/>
                  <a:gd name="T4" fmla="*/ 584 w 584"/>
                  <a:gd name="T5" fmla="*/ 0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4" h="584">
                    <a:moveTo>
                      <a:pt x="0" y="584"/>
                    </a:moveTo>
                    <a:lnTo>
                      <a:pt x="583" y="0"/>
                    </a:lnTo>
                    <a:lnTo>
                      <a:pt x="584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7" name="Freeform 36"/>
              <p:cNvSpPr>
                <a:spLocks noChangeAspect="1" noChangeArrowheads="1"/>
              </p:cNvSpPr>
              <p:nvPr/>
            </p:nvSpPr>
            <p:spPr bwMode="auto">
              <a:xfrm>
                <a:off x="2905" y="2524"/>
                <a:ext cx="46" cy="46"/>
              </a:xfrm>
              <a:custGeom>
                <a:avLst/>
                <a:gdLst>
                  <a:gd name="T0" fmla="*/ 0 w 468"/>
                  <a:gd name="T1" fmla="*/ 466 h 466"/>
                  <a:gd name="T2" fmla="*/ 467 w 468"/>
                  <a:gd name="T3" fmla="*/ 0 h 466"/>
                  <a:gd name="T4" fmla="*/ 468 w 468"/>
                  <a:gd name="T5" fmla="*/ 0 h 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8" h="466">
                    <a:moveTo>
                      <a:pt x="0" y="466"/>
                    </a:moveTo>
                    <a:lnTo>
                      <a:pt x="467" y="0"/>
                    </a:lnTo>
                    <a:lnTo>
                      <a:pt x="468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8" name="Freeform 37"/>
              <p:cNvSpPr>
                <a:spLocks noChangeAspect="1" noChangeArrowheads="1"/>
              </p:cNvSpPr>
              <p:nvPr/>
            </p:nvSpPr>
            <p:spPr bwMode="auto">
              <a:xfrm>
                <a:off x="2930" y="2537"/>
                <a:ext cx="33" cy="33"/>
              </a:xfrm>
              <a:custGeom>
                <a:avLst/>
                <a:gdLst>
                  <a:gd name="T0" fmla="*/ 0 w 331"/>
                  <a:gd name="T1" fmla="*/ 328 h 328"/>
                  <a:gd name="T2" fmla="*/ 330 w 331"/>
                  <a:gd name="T3" fmla="*/ 0 h 328"/>
                  <a:gd name="T4" fmla="*/ 331 w 331"/>
                  <a:gd name="T5" fmla="*/ 0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1" h="328">
                    <a:moveTo>
                      <a:pt x="0" y="328"/>
                    </a:moveTo>
                    <a:lnTo>
                      <a:pt x="330" y="0"/>
                    </a:lnTo>
                    <a:lnTo>
                      <a:pt x="331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9" name="Freeform 38"/>
              <p:cNvSpPr>
                <a:spLocks noChangeAspect="1" noChangeArrowheads="1"/>
              </p:cNvSpPr>
              <p:nvPr/>
            </p:nvSpPr>
            <p:spPr bwMode="auto">
              <a:xfrm>
                <a:off x="2955" y="2553"/>
                <a:ext cx="17" cy="17"/>
              </a:xfrm>
              <a:custGeom>
                <a:avLst/>
                <a:gdLst>
                  <a:gd name="T0" fmla="*/ 0 w 172"/>
                  <a:gd name="T1" fmla="*/ 170 h 170"/>
                  <a:gd name="T2" fmla="*/ 171 w 172"/>
                  <a:gd name="T3" fmla="*/ 0 h 170"/>
                  <a:gd name="T4" fmla="*/ 172 w 172"/>
                  <a:gd name="T5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2" h="170">
                    <a:moveTo>
                      <a:pt x="0" y="170"/>
                    </a:moveTo>
                    <a:lnTo>
                      <a:pt x="171" y="0"/>
                    </a:lnTo>
                    <a:lnTo>
                      <a:pt x="172" y="0"/>
                    </a:lnTo>
                  </a:path>
                </a:pathLst>
              </a:custGeom>
              <a:noFill/>
              <a:ln w="9525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8" name="Group 39"/>
            <p:cNvGrpSpPr>
              <a:grpSpLocks noChangeAspect="1"/>
            </p:cNvGrpSpPr>
            <p:nvPr/>
          </p:nvGrpSpPr>
          <p:grpSpPr bwMode="auto">
            <a:xfrm>
              <a:off x="2002" y="1000"/>
              <a:ext cx="794" cy="780"/>
              <a:chOff x="3498" y="778"/>
              <a:chExt cx="1512" cy="1486"/>
            </a:xfrm>
          </p:grpSpPr>
          <p:sp>
            <p:nvSpPr>
              <p:cNvPr id="19" name="Oval 40"/>
              <p:cNvSpPr>
                <a:spLocks noChangeAspect="1" noChangeArrowheads="1"/>
              </p:cNvSpPr>
              <p:nvPr/>
            </p:nvSpPr>
            <p:spPr bwMode="auto">
              <a:xfrm>
                <a:off x="3552" y="828"/>
                <a:ext cx="1344" cy="1344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20" name="Group 41"/>
              <p:cNvGrpSpPr>
                <a:grpSpLocks noChangeAspect="1"/>
              </p:cNvGrpSpPr>
              <p:nvPr/>
            </p:nvGrpSpPr>
            <p:grpSpPr bwMode="auto">
              <a:xfrm>
                <a:off x="3576" y="855"/>
                <a:ext cx="1291" cy="844"/>
                <a:chOff x="3576" y="855"/>
                <a:chExt cx="1291" cy="844"/>
              </a:xfrm>
            </p:grpSpPr>
            <p:sp>
              <p:nvSpPr>
                <p:cNvPr id="32" name="Freeform 42"/>
                <p:cNvSpPr>
                  <a:spLocks noChangeAspect="1" noChangeArrowheads="1"/>
                </p:cNvSpPr>
                <p:nvPr/>
              </p:nvSpPr>
              <p:spPr bwMode="auto">
                <a:xfrm>
                  <a:off x="4034" y="1081"/>
                  <a:ext cx="375" cy="6"/>
                </a:xfrm>
                <a:custGeom>
                  <a:avLst/>
                  <a:gdLst>
                    <a:gd name="T0" fmla="*/ 638 w 638"/>
                    <a:gd name="T1" fmla="*/ 0 h 6"/>
                    <a:gd name="T2" fmla="*/ 0 w 638"/>
                    <a:gd name="T3" fmla="*/ 0 h 6"/>
                    <a:gd name="T4" fmla="*/ 1 w 638"/>
                    <a:gd name="T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38" h="6">
                      <a:moveTo>
                        <a:pt x="638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3" name="Freeform 43"/>
                <p:cNvSpPr>
                  <a:spLocks noChangeAspect="1" noChangeArrowheads="1"/>
                </p:cNvSpPr>
                <p:nvPr/>
              </p:nvSpPr>
              <p:spPr bwMode="auto">
                <a:xfrm>
                  <a:off x="4034" y="855"/>
                  <a:ext cx="6" cy="226"/>
                </a:xfrm>
                <a:custGeom>
                  <a:avLst/>
                  <a:gdLst>
                    <a:gd name="T0" fmla="*/ 0 w 1"/>
                    <a:gd name="T1" fmla="*/ 0 h 379"/>
                    <a:gd name="T2" fmla="*/ 0 w 1"/>
                    <a:gd name="T3" fmla="*/ 379 h 379"/>
                    <a:gd name="T4" fmla="*/ 1 w 1"/>
                    <a:gd name="T5" fmla="*/ 379 h 3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79">
                      <a:moveTo>
                        <a:pt x="0" y="0"/>
                      </a:moveTo>
                      <a:lnTo>
                        <a:pt x="0" y="379"/>
                      </a:lnTo>
                      <a:lnTo>
                        <a:pt x="1" y="379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4" name="Freeform 44"/>
                <p:cNvSpPr>
                  <a:spLocks noChangeAspect="1" noChangeArrowheads="1"/>
                </p:cNvSpPr>
                <p:nvPr/>
              </p:nvSpPr>
              <p:spPr bwMode="auto">
                <a:xfrm>
                  <a:off x="4034" y="1081"/>
                  <a:ext cx="190" cy="113"/>
                </a:xfrm>
                <a:custGeom>
                  <a:avLst/>
                  <a:gdLst>
                    <a:gd name="T0" fmla="*/ 0 w 321"/>
                    <a:gd name="T1" fmla="*/ 0 h 184"/>
                    <a:gd name="T2" fmla="*/ 320 w 321"/>
                    <a:gd name="T3" fmla="*/ 184 h 184"/>
                    <a:gd name="T4" fmla="*/ 321 w 321"/>
                    <a:gd name="T5" fmla="*/ 184 h 1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1" h="184">
                      <a:moveTo>
                        <a:pt x="0" y="0"/>
                      </a:moveTo>
                      <a:lnTo>
                        <a:pt x="320" y="184"/>
                      </a:lnTo>
                      <a:lnTo>
                        <a:pt x="321" y="184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5" name="Freeform 45"/>
                <p:cNvSpPr>
                  <a:spLocks noChangeAspect="1" noChangeArrowheads="1"/>
                </p:cNvSpPr>
                <p:nvPr/>
              </p:nvSpPr>
              <p:spPr bwMode="auto">
                <a:xfrm>
                  <a:off x="4224" y="1081"/>
                  <a:ext cx="191" cy="113"/>
                </a:xfrm>
                <a:custGeom>
                  <a:avLst/>
                  <a:gdLst>
                    <a:gd name="T0" fmla="*/ 0 w 319"/>
                    <a:gd name="T1" fmla="*/ 184 h 184"/>
                    <a:gd name="T2" fmla="*/ 318 w 319"/>
                    <a:gd name="T3" fmla="*/ 0 h 184"/>
                    <a:gd name="T4" fmla="*/ 319 w 319"/>
                    <a:gd name="T5" fmla="*/ 0 h 1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19" h="184">
                      <a:moveTo>
                        <a:pt x="0" y="184"/>
                      </a:moveTo>
                      <a:lnTo>
                        <a:pt x="318" y="0"/>
                      </a:lnTo>
                      <a:lnTo>
                        <a:pt x="319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6" name="Freeform 46"/>
                <p:cNvSpPr>
                  <a:spLocks noChangeAspect="1" noChangeArrowheads="1"/>
                </p:cNvSpPr>
                <p:nvPr/>
              </p:nvSpPr>
              <p:spPr bwMode="auto">
                <a:xfrm>
                  <a:off x="4409" y="855"/>
                  <a:ext cx="6" cy="226"/>
                </a:xfrm>
                <a:custGeom>
                  <a:avLst/>
                  <a:gdLst>
                    <a:gd name="T0" fmla="*/ 0 w 1"/>
                    <a:gd name="T1" fmla="*/ 379 h 379"/>
                    <a:gd name="T2" fmla="*/ 0 w 1"/>
                    <a:gd name="T3" fmla="*/ 0 h 379"/>
                    <a:gd name="T4" fmla="*/ 1 w 1"/>
                    <a:gd name="T5" fmla="*/ 0 h 3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79">
                      <a:moveTo>
                        <a:pt x="0" y="379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7" name="Freeform 47"/>
                <p:cNvSpPr>
                  <a:spLocks noChangeAspect="1" noChangeArrowheads="1"/>
                </p:cNvSpPr>
                <p:nvPr/>
              </p:nvSpPr>
              <p:spPr bwMode="auto">
                <a:xfrm>
                  <a:off x="3576" y="1313"/>
                  <a:ext cx="1291" cy="6"/>
                </a:xfrm>
                <a:custGeom>
                  <a:avLst/>
                  <a:gdLst>
                    <a:gd name="T0" fmla="*/ 2176 w 2176"/>
                    <a:gd name="T1" fmla="*/ 0 h 6"/>
                    <a:gd name="T2" fmla="*/ 0 w 2176"/>
                    <a:gd name="T3" fmla="*/ 0 h 6"/>
                    <a:gd name="T4" fmla="*/ 1 w 2176"/>
                    <a:gd name="T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76" h="6">
                      <a:moveTo>
                        <a:pt x="217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8" name="Freeform 48"/>
                <p:cNvSpPr>
                  <a:spLocks noChangeAspect="1" noChangeArrowheads="1"/>
                </p:cNvSpPr>
                <p:nvPr/>
              </p:nvSpPr>
              <p:spPr bwMode="auto">
                <a:xfrm>
                  <a:off x="3576" y="1693"/>
                  <a:ext cx="1291" cy="6"/>
                </a:xfrm>
                <a:custGeom>
                  <a:avLst/>
                  <a:gdLst>
                    <a:gd name="T0" fmla="*/ 0 w 2177"/>
                    <a:gd name="T1" fmla="*/ 0 h 6"/>
                    <a:gd name="T2" fmla="*/ 2176 w 2177"/>
                    <a:gd name="T3" fmla="*/ 0 h 6"/>
                    <a:gd name="T4" fmla="*/ 2177 w 2177"/>
                    <a:gd name="T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77" h="6">
                      <a:moveTo>
                        <a:pt x="0" y="0"/>
                      </a:moveTo>
                      <a:lnTo>
                        <a:pt x="2176" y="0"/>
                      </a:lnTo>
                      <a:lnTo>
                        <a:pt x="2177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21" name="Group 49"/>
              <p:cNvGrpSpPr>
                <a:grpSpLocks noChangeAspect="1"/>
              </p:cNvGrpSpPr>
              <p:nvPr/>
            </p:nvGrpSpPr>
            <p:grpSpPr bwMode="auto">
              <a:xfrm>
                <a:off x="3498" y="778"/>
                <a:ext cx="1512" cy="1486"/>
                <a:chOff x="3480" y="1259"/>
                <a:chExt cx="1512" cy="1486"/>
              </a:xfrm>
            </p:grpSpPr>
            <p:sp>
              <p:nvSpPr>
                <p:cNvPr id="22" name="Freeform 50"/>
                <p:cNvSpPr>
                  <a:spLocks noChangeAspect="1" noChangeArrowheads="1"/>
                </p:cNvSpPr>
                <p:nvPr/>
              </p:nvSpPr>
              <p:spPr bwMode="auto">
                <a:xfrm>
                  <a:off x="4581" y="1984"/>
                  <a:ext cx="411" cy="6"/>
                </a:xfrm>
                <a:custGeom>
                  <a:avLst/>
                  <a:gdLst>
                    <a:gd name="T0" fmla="*/ 683 w 683"/>
                    <a:gd name="T1" fmla="*/ 0 h 6"/>
                    <a:gd name="T2" fmla="*/ 0 w 683"/>
                    <a:gd name="T3" fmla="*/ 0 h 6"/>
                    <a:gd name="T4" fmla="*/ 1 w 683"/>
                    <a:gd name="T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83" h="6">
                      <a:moveTo>
                        <a:pt x="683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66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3" name="Freeform 51"/>
                <p:cNvSpPr>
                  <a:spLocks noChangeAspect="1" noChangeArrowheads="1"/>
                </p:cNvSpPr>
                <p:nvPr/>
              </p:nvSpPr>
              <p:spPr bwMode="auto">
                <a:xfrm>
                  <a:off x="4456" y="1984"/>
                  <a:ext cx="66" cy="6"/>
                </a:xfrm>
                <a:custGeom>
                  <a:avLst/>
                  <a:gdLst>
                    <a:gd name="T0" fmla="*/ 106 w 106"/>
                    <a:gd name="T1" fmla="*/ 0 h 6"/>
                    <a:gd name="T2" fmla="*/ 0 w 106"/>
                    <a:gd name="T3" fmla="*/ 0 h 6"/>
                    <a:gd name="T4" fmla="*/ 1 w 106"/>
                    <a:gd name="T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6" h="6">
                      <a:moveTo>
                        <a:pt x="10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66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" name="Freeform 52"/>
                <p:cNvSpPr>
                  <a:spLocks noChangeAspect="1" noChangeArrowheads="1"/>
                </p:cNvSpPr>
                <p:nvPr/>
              </p:nvSpPr>
              <p:spPr bwMode="auto">
                <a:xfrm>
                  <a:off x="4075" y="1984"/>
                  <a:ext cx="316" cy="6"/>
                </a:xfrm>
                <a:custGeom>
                  <a:avLst/>
                  <a:gdLst>
                    <a:gd name="T0" fmla="*/ 531 w 531"/>
                    <a:gd name="T1" fmla="*/ 0 h 6"/>
                    <a:gd name="T2" fmla="*/ 0 w 531"/>
                    <a:gd name="T3" fmla="*/ 0 h 6"/>
                    <a:gd name="T4" fmla="*/ 1 w 531"/>
                    <a:gd name="T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31" h="6">
                      <a:moveTo>
                        <a:pt x="531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66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" name="Freeform 53"/>
                <p:cNvSpPr>
                  <a:spLocks noChangeAspect="1" noChangeArrowheads="1"/>
                </p:cNvSpPr>
                <p:nvPr/>
              </p:nvSpPr>
              <p:spPr bwMode="auto">
                <a:xfrm>
                  <a:off x="3950" y="1984"/>
                  <a:ext cx="66" cy="6"/>
                </a:xfrm>
                <a:custGeom>
                  <a:avLst/>
                  <a:gdLst>
                    <a:gd name="T0" fmla="*/ 105 w 105"/>
                    <a:gd name="T1" fmla="*/ 0 h 6"/>
                    <a:gd name="T2" fmla="*/ 0 w 105"/>
                    <a:gd name="T3" fmla="*/ 0 h 6"/>
                    <a:gd name="T4" fmla="*/ 1 w 105"/>
                    <a:gd name="T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5" h="6">
                      <a:moveTo>
                        <a:pt x="105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66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" name="Freeform 54"/>
                <p:cNvSpPr>
                  <a:spLocks noChangeAspect="1" noChangeArrowheads="1"/>
                </p:cNvSpPr>
                <p:nvPr/>
              </p:nvSpPr>
              <p:spPr bwMode="auto">
                <a:xfrm>
                  <a:off x="3480" y="1984"/>
                  <a:ext cx="405" cy="6"/>
                </a:xfrm>
                <a:custGeom>
                  <a:avLst/>
                  <a:gdLst>
                    <a:gd name="T0" fmla="*/ 683 w 683"/>
                    <a:gd name="T1" fmla="*/ 0 h 6"/>
                    <a:gd name="T2" fmla="*/ 0 w 683"/>
                    <a:gd name="T3" fmla="*/ 0 h 6"/>
                    <a:gd name="T4" fmla="*/ 1 w 683"/>
                    <a:gd name="T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83" h="6">
                      <a:moveTo>
                        <a:pt x="683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>
                  <a:solidFill>
                    <a:srgbClr val="66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7" name="Freeform 55"/>
                <p:cNvSpPr>
                  <a:spLocks noChangeAspect="1" noChangeArrowheads="1"/>
                </p:cNvSpPr>
                <p:nvPr/>
              </p:nvSpPr>
              <p:spPr bwMode="auto">
                <a:xfrm>
                  <a:off x="4206" y="1259"/>
                  <a:ext cx="6" cy="392"/>
                </a:xfrm>
                <a:custGeom>
                  <a:avLst/>
                  <a:gdLst>
                    <a:gd name="T0" fmla="*/ 0 w 1"/>
                    <a:gd name="T1" fmla="*/ 0 h 661"/>
                    <a:gd name="T2" fmla="*/ 0 w 1"/>
                    <a:gd name="T3" fmla="*/ 661 h 661"/>
                    <a:gd name="T4" fmla="*/ 1 w 1"/>
                    <a:gd name="T5" fmla="*/ 661 h 6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661">
                      <a:moveTo>
                        <a:pt x="0" y="0"/>
                      </a:moveTo>
                      <a:lnTo>
                        <a:pt x="0" y="661"/>
                      </a:lnTo>
                      <a:lnTo>
                        <a:pt x="1" y="661"/>
                      </a:lnTo>
                    </a:path>
                  </a:pathLst>
                </a:custGeom>
                <a:noFill/>
                <a:ln w="12700">
                  <a:solidFill>
                    <a:srgbClr val="66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8" name="Freeform 56"/>
                <p:cNvSpPr>
                  <a:spLocks noChangeAspect="1" noChangeArrowheads="1"/>
                </p:cNvSpPr>
                <p:nvPr/>
              </p:nvSpPr>
              <p:spPr bwMode="auto">
                <a:xfrm>
                  <a:off x="4206" y="1717"/>
                  <a:ext cx="6" cy="65"/>
                </a:xfrm>
                <a:custGeom>
                  <a:avLst/>
                  <a:gdLst>
                    <a:gd name="T0" fmla="*/ 0 w 1"/>
                    <a:gd name="T1" fmla="*/ 0 h 106"/>
                    <a:gd name="T2" fmla="*/ 0 w 1"/>
                    <a:gd name="T3" fmla="*/ 106 h 106"/>
                    <a:gd name="T4" fmla="*/ 1 w 1"/>
                    <a:gd name="T5" fmla="*/ 106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06">
                      <a:moveTo>
                        <a:pt x="0" y="0"/>
                      </a:moveTo>
                      <a:lnTo>
                        <a:pt x="0" y="106"/>
                      </a:lnTo>
                      <a:lnTo>
                        <a:pt x="1" y="106"/>
                      </a:lnTo>
                    </a:path>
                  </a:pathLst>
                </a:custGeom>
                <a:noFill/>
                <a:ln w="12700">
                  <a:solidFill>
                    <a:srgbClr val="66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9" name="Freeform 57"/>
                <p:cNvSpPr>
                  <a:spLocks noChangeAspect="1" noChangeArrowheads="1"/>
                </p:cNvSpPr>
                <p:nvPr/>
              </p:nvSpPr>
              <p:spPr bwMode="auto">
                <a:xfrm>
                  <a:off x="4206" y="1841"/>
                  <a:ext cx="6" cy="315"/>
                </a:xfrm>
                <a:custGeom>
                  <a:avLst/>
                  <a:gdLst>
                    <a:gd name="T0" fmla="*/ 0 w 1"/>
                    <a:gd name="T1" fmla="*/ 0 h 531"/>
                    <a:gd name="T2" fmla="*/ 0 w 1"/>
                    <a:gd name="T3" fmla="*/ 531 h 531"/>
                    <a:gd name="T4" fmla="*/ 1 w 1"/>
                    <a:gd name="T5" fmla="*/ 531 h 5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31">
                      <a:moveTo>
                        <a:pt x="0" y="0"/>
                      </a:moveTo>
                      <a:lnTo>
                        <a:pt x="0" y="531"/>
                      </a:lnTo>
                      <a:lnTo>
                        <a:pt x="1" y="531"/>
                      </a:lnTo>
                    </a:path>
                  </a:pathLst>
                </a:custGeom>
                <a:noFill/>
                <a:ln w="12700">
                  <a:solidFill>
                    <a:srgbClr val="66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0" name="Freeform 58"/>
                <p:cNvSpPr>
                  <a:spLocks noChangeAspect="1" noChangeArrowheads="1"/>
                </p:cNvSpPr>
                <p:nvPr/>
              </p:nvSpPr>
              <p:spPr bwMode="auto">
                <a:xfrm>
                  <a:off x="4206" y="2222"/>
                  <a:ext cx="6" cy="65"/>
                </a:xfrm>
                <a:custGeom>
                  <a:avLst/>
                  <a:gdLst>
                    <a:gd name="T0" fmla="*/ 0 w 1"/>
                    <a:gd name="T1" fmla="*/ 0 h 107"/>
                    <a:gd name="T2" fmla="*/ 0 w 1"/>
                    <a:gd name="T3" fmla="*/ 107 h 107"/>
                    <a:gd name="T4" fmla="*/ 1 w 1"/>
                    <a:gd name="T5" fmla="*/ 107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07">
                      <a:moveTo>
                        <a:pt x="0" y="0"/>
                      </a:moveTo>
                      <a:lnTo>
                        <a:pt x="0" y="107"/>
                      </a:lnTo>
                      <a:lnTo>
                        <a:pt x="1" y="107"/>
                      </a:lnTo>
                    </a:path>
                  </a:pathLst>
                </a:custGeom>
                <a:noFill/>
                <a:ln w="12700">
                  <a:solidFill>
                    <a:srgbClr val="66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1" name="Freeform 59"/>
                <p:cNvSpPr>
                  <a:spLocks noChangeAspect="1" noChangeArrowheads="1"/>
                </p:cNvSpPr>
                <p:nvPr/>
              </p:nvSpPr>
              <p:spPr bwMode="auto">
                <a:xfrm>
                  <a:off x="4206" y="2347"/>
                  <a:ext cx="6" cy="398"/>
                </a:xfrm>
                <a:custGeom>
                  <a:avLst/>
                  <a:gdLst>
                    <a:gd name="T0" fmla="*/ 0 w 1"/>
                    <a:gd name="T1" fmla="*/ 0 h 662"/>
                    <a:gd name="T2" fmla="*/ 0 w 1"/>
                    <a:gd name="T3" fmla="*/ 662 h 662"/>
                    <a:gd name="T4" fmla="*/ 1 w 1"/>
                    <a:gd name="T5" fmla="*/ 662 h 6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662">
                      <a:moveTo>
                        <a:pt x="0" y="0"/>
                      </a:moveTo>
                      <a:lnTo>
                        <a:pt x="0" y="662"/>
                      </a:lnTo>
                      <a:lnTo>
                        <a:pt x="1" y="662"/>
                      </a:lnTo>
                    </a:path>
                  </a:pathLst>
                </a:custGeom>
                <a:noFill/>
                <a:ln w="12700">
                  <a:solidFill>
                    <a:srgbClr val="66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</p:grpSp>
      </p:grpSp>
      <p:grpSp>
        <p:nvGrpSpPr>
          <p:cNvPr id="60" name="Group 60"/>
          <p:cNvGrpSpPr>
            <a:grpSpLocks noChangeAspect="1"/>
          </p:cNvGrpSpPr>
          <p:nvPr/>
        </p:nvGrpSpPr>
        <p:grpSpPr bwMode="auto">
          <a:xfrm>
            <a:off x="2238375" y="1279525"/>
            <a:ext cx="2044700" cy="1549400"/>
            <a:chOff x="510" y="1057"/>
            <a:chExt cx="2452" cy="1860"/>
          </a:xfrm>
        </p:grpSpPr>
        <p:grpSp>
          <p:nvGrpSpPr>
            <p:cNvPr id="61" name="Group 61"/>
            <p:cNvGrpSpPr>
              <a:grpSpLocks noChangeAspect="1"/>
            </p:cNvGrpSpPr>
            <p:nvPr/>
          </p:nvGrpSpPr>
          <p:grpSpPr bwMode="auto">
            <a:xfrm>
              <a:off x="611" y="1057"/>
              <a:ext cx="2268" cy="1860"/>
              <a:chOff x="611" y="1057"/>
              <a:chExt cx="2268" cy="1860"/>
            </a:xfrm>
          </p:grpSpPr>
          <p:sp>
            <p:nvSpPr>
              <p:cNvPr id="91" name="Freeform 62"/>
              <p:cNvSpPr>
                <a:spLocks noChangeAspect="1" noChangeArrowheads="1"/>
              </p:cNvSpPr>
              <p:nvPr/>
            </p:nvSpPr>
            <p:spPr bwMode="auto">
              <a:xfrm>
                <a:off x="2873" y="1479"/>
                <a:ext cx="6" cy="1010"/>
              </a:xfrm>
              <a:custGeom>
                <a:avLst/>
                <a:gdLst>
                  <a:gd name="T0" fmla="*/ 0 w 1"/>
                  <a:gd name="T1" fmla="*/ 1701 h 1701"/>
                  <a:gd name="T2" fmla="*/ 0 w 1"/>
                  <a:gd name="T3" fmla="*/ 0 h 1701"/>
                  <a:gd name="T4" fmla="*/ 1 w 1"/>
                  <a:gd name="T5" fmla="*/ 0 h 17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701">
                    <a:moveTo>
                      <a:pt x="0" y="170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2" name="Freeform 63"/>
              <p:cNvSpPr>
                <a:spLocks noChangeAspect="1" noChangeArrowheads="1"/>
              </p:cNvSpPr>
              <p:nvPr/>
            </p:nvSpPr>
            <p:spPr bwMode="auto">
              <a:xfrm>
                <a:off x="2700" y="1313"/>
                <a:ext cx="6" cy="1348"/>
              </a:xfrm>
              <a:custGeom>
                <a:avLst/>
                <a:gdLst>
                  <a:gd name="T0" fmla="*/ 0 w 1"/>
                  <a:gd name="T1" fmla="*/ 2269 h 2269"/>
                  <a:gd name="T2" fmla="*/ 0 w 1"/>
                  <a:gd name="T3" fmla="*/ 0 h 2269"/>
                  <a:gd name="T4" fmla="*/ 1 w 1"/>
                  <a:gd name="T5" fmla="*/ 0 h 2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269">
                    <a:moveTo>
                      <a:pt x="0" y="226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3" name="Freeform 64"/>
              <p:cNvSpPr>
                <a:spLocks noChangeAspect="1" noChangeArrowheads="1"/>
              </p:cNvSpPr>
              <p:nvPr/>
            </p:nvSpPr>
            <p:spPr bwMode="auto">
              <a:xfrm>
                <a:off x="611" y="1057"/>
                <a:ext cx="6" cy="1854"/>
              </a:xfrm>
              <a:custGeom>
                <a:avLst/>
                <a:gdLst>
                  <a:gd name="T0" fmla="*/ 0 w 1"/>
                  <a:gd name="T1" fmla="*/ 3119 h 3119"/>
                  <a:gd name="T2" fmla="*/ 0 w 1"/>
                  <a:gd name="T3" fmla="*/ 0 h 3119"/>
                  <a:gd name="T4" fmla="*/ 1 w 1"/>
                  <a:gd name="T5" fmla="*/ 0 h 3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119">
                    <a:moveTo>
                      <a:pt x="0" y="311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4" name="Freeform 65"/>
              <p:cNvSpPr>
                <a:spLocks noChangeAspect="1" noChangeArrowheads="1"/>
              </p:cNvSpPr>
              <p:nvPr/>
            </p:nvSpPr>
            <p:spPr bwMode="auto">
              <a:xfrm>
                <a:off x="1182" y="1057"/>
                <a:ext cx="6" cy="1854"/>
              </a:xfrm>
              <a:custGeom>
                <a:avLst/>
                <a:gdLst>
                  <a:gd name="T0" fmla="*/ 0 w 1"/>
                  <a:gd name="T1" fmla="*/ 3119 h 3119"/>
                  <a:gd name="T2" fmla="*/ 0 w 1"/>
                  <a:gd name="T3" fmla="*/ 0 h 3119"/>
                  <a:gd name="T4" fmla="*/ 1 w 1"/>
                  <a:gd name="T5" fmla="*/ 0 h 3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119">
                    <a:moveTo>
                      <a:pt x="0" y="311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5" name="Freeform 66"/>
              <p:cNvSpPr>
                <a:spLocks noChangeAspect="1" noChangeArrowheads="1"/>
              </p:cNvSpPr>
              <p:nvPr/>
            </p:nvSpPr>
            <p:spPr bwMode="auto">
              <a:xfrm>
                <a:off x="1754" y="1794"/>
                <a:ext cx="381" cy="380"/>
              </a:xfrm>
              <a:custGeom>
                <a:avLst/>
                <a:gdLst>
                  <a:gd name="T0" fmla="*/ 318 w 638"/>
                  <a:gd name="T1" fmla="*/ 639 h 639"/>
                  <a:gd name="T2" fmla="*/ 257 w 638"/>
                  <a:gd name="T3" fmla="*/ 633 h 639"/>
                  <a:gd name="T4" fmla="*/ 196 w 638"/>
                  <a:gd name="T5" fmla="*/ 615 h 639"/>
                  <a:gd name="T6" fmla="*/ 140 w 638"/>
                  <a:gd name="T7" fmla="*/ 584 h 639"/>
                  <a:gd name="T8" fmla="*/ 94 w 638"/>
                  <a:gd name="T9" fmla="*/ 545 h 639"/>
                  <a:gd name="T10" fmla="*/ 54 w 638"/>
                  <a:gd name="T11" fmla="*/ 498 h 639"/>
                  <a:gd name="T12" fmla="*/ 24 w 638"/>
                  <a:gd name="T13" fmla="*/ 442 h 639"/>
                  <a:gd name="T14" fmla="*/ 6 w 638"/>
                  <a:gd name="T15" fmla="*/ 381 h 639"/>
                  <a:gd name="T16" fmla="*/ 0 w 638"/>
                  <a:gd name="T17" fmla="*/ 320 h 639"/>
                  <a:gd name="T18" fmla="*/ 6 w 638"/>
                  <a:gd name="T19" fmla="*/ 258 h 639"/>
                  <a:gd name="T20" fmla="*/ 24 w 638"/>
                  <a:gd name="T21" fmla="*/ 198 h 639"/>
                  <a:gd name="T22" fmla="*/ 54 w 638"/>
                  <a:gd name="T23" fmla="*/ 142 h 639"/>
                  <a:gd name="T24" fmla="*/ 94 w 638"/>
                  <a:gd name="T25" fmla="*/ 94 h 639"/>
                  <a:gd name="T26" fmla="*/ 140 w 638"/>
                  <a:gd name="T27" fmla="*/ 55 h 639"/>
                  <a:gd name="T28" fmla="*/ 196 w 638"/>
                  <a:gd name="T29" fmla="*/ 25 h 639"/>
                  <a:gd name="T30" fmla="*/ 257 w 638"/>
                  <a:gd name="T31" fmla="*/ 6 h 639"/>
                  <a:gd name="T32" fmla="*/ 318 w 638"/>
                  <a:gd name="T33" fmla="*/ 0 h 639"/>
                  <a:gd name="T34" fmla="*/ 380 w 638"/>
                  <a:gd name="T35" fmla="*/ 6 h 639"/>
                  <a:gd name="T36" fmla="*/ 440 w 638"/>
                  <a:gd name="T37" fmla="*/ 25 h 639"/>
                  <a:gd name="T38" fmla="*/ 496 w 638"/>
                  <a:gd name="T39" fmla="*/ 55 h 639"/>
                  <a:gd name="T40" fmla="*/ 544 w 638"/>
                  <a:gd name="T41" fmla="*/ 94 h 639"/>
                  <a:gd name="T42" fmla="*/ 583 w 638"/>
                  <a:gd name="T43" fmla="*/ 142 h 639"/>
                  <a:gd name="T44" fmla="*/ 613 w 638"/>
                  <a:gd name="T45" fmla="*/ 198 h 639"/>
                  <a:gd name="T46" fmla="*/ 632 w 638"/>
                  <a:gd name="T47" fmla="*/ 258 h 639"/>
                  <a:gd name="T48" fmla="*/ 638 w 638"/>
                  <a:gd name="T49" fmla="*/ 320 h 639"/>
                  <a:gd name="T50" fmla="*/ 632 w 638"/>
                  <a:gd name="T51" fmla="*/ 381 h 639"/>
                  <a:gd name="T52" fmla="*/ 613 w 638"/>
                  <a:gd name="T53" fmla="*/ 442 h 639"/>
                  <a:gd name="T54" fmla="*/ 583 w 638"/>
                  <a:gd name="T55" fmla="*/ 498 h 639"/>
                  <a:gd name="T56" fmla="*/ 544 w 638"/>
                  <a:gd name="T57" fmla="*/ 545 h 639"/>
                  <a:gd name="T58" fmla="*/ 496 w 638"/>
                  <a:gd name="T59" fmla="*/ 584 h 639"/>
                  <a:gd name="T60" fmla="*/ 440 w 638"/>
                  <a:gd name="T61" fmla="*/ 615 h 639"/>
                  <a:gd name="T62" fmla="*/ 380 w 638"/>
                  <a:gd name="T63" fmla="*/ 633 h 639"/>
                  <a:gd name="T64" fmla="*/ 318 w 638"/>
                  <a:gd name="T65" fmla="*/ 639 h 639"/>
                  <a:gd name="T66" fmla="*/ 319 w 638"/>
                  <a:gd name="T67" fmla="*/ 639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8" h="639">
                    <a:moveTo>
                      <a:pt x="318" y="639"/>
                    </a:moveTo>
                    <a:lnTo>
                      <a:pt x="257" y="633"/>
                    </a:lnTo>
                    <a:lnTo>
                      <a:pt x="196" y="615"/>
                    </a:lnTo>
                    <a:lnTo>
                      <a:pt x="140" y="584"/>
                    </a:lnTo>
                    <a:lnTo>
                      <a:pt x="94" y="545"/>
                    </a:lnTo>
                    <a:lnTo>
                      <a:pt x="54" y="498"/>
                    </a:lnTo>
                    <a:lnTo>
                      <a:pt x="24" y="442"/>
                    </a:lnTo>
                    <a:lnTo>
                      <a:pt x="6" y="381"/>
                    </a:lnTo>
                    <a:lnTo>
                      <a:pt x="0" y="320"/>
                    </a:lnTo>
                    <a:lnTo>
                      <a:pt x="6" y="258"/>
                    </a:lnTo>
                    <a:lnTo>
                      <a:pt x="24" y="198"/>
                    </a:lnTo>
                    <a:lnTo>
                      <a:pt x="54" y="142"/>
                    </a:lnTo>
                    <a:lnTo>
                      <a:pt x="94" y="94"/>
                    </a:lnTo>
                    <a:lnTo>
                      <a:pt x="140" y="55"/>
                    </a:lnTo>
                    <a:lnTo>
                      <a:pt x="196" y="25"/>
                    </a:lnTo>
                    <a:lnTo>
                      <a:pt x="257" y="6"/>
                    </a:lnTo>
                    <a:lnTo>
                      <a:pt x="318" y="0"/>
                    </a:lnTo>
                    <a:lnTo>
                      <a:pt x="380" y="6"/>
                    </a:lnTo>
                    <a:lnTo>
                      <a:pt x="440" y="25"/>
                    </a:lnTo>
                    <a:lnTo>
                      <a:pt x="496" y="55"/>
                    </a:lnTo>
                    <a:lnTo>
                      <a:pt x="544" y="94"/>
                    </a:lnTo>
                    <a:lnTo>
                      <a:pt x="583" y="142"/>
                    </a:lnTo>
                    <a:lnTo>
                      <a:pt x="613" y="198"/>
                    </a:lnTo>
                    <a:lnTo>
                      <a:pt x="632" y="258"/>
                    </a:lnTo>
                    <a:lnTo>
                      <a:pt x="638" y="320"/>
                    </a:lnTo>
                    <a:lnTo>
                      <a:pt x="632" y="381"/>
                    </a:lnTo>
                    <a:lnTo>
                      <a:pt x="613" y="442"/>
                    </a:lnTo>
                    <a:lnTo>
                      <a:pt x="583" y="498"/>
                    </a:lnTo>
                    <a:lnTo>
                      <a:pt x="544" y="545"/>
                    </a:lnTo>
                    <a:lnTo>
                      <a:pt x="496" y="584"/>
                    </a:lnTo>
                    <a:lnTo>
                      <a:pt x="440" y="615"/>
                    </a:lnTo>
                    <a:lnTo>
                      <a:pt x="380" y="633"/>
                    </a:lnTo>
                    <a:lnTo>
                      <a:pt x="318" y="639"/>
                    </a:lnTo>
                    <a:lnTo>
                      <a:pt x="319" y="639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6" name="Freeform 67"/>
              <p:cNvSpPr>
                <a:spLocks noChangeAspect="1" noChangeArrowheads="1"/>
              </p:cNvSpPr>
              <p:nvPr/>
            </p:nvSpPr>
            <p:spPr bwMode="auto">
              <a:xfrm>
                <a:off x="1754" y="1313"/>
                <a:ext cx="381" cy="23"/>
              </a:xfrm>
              <a:custGeom>
                <a:avLst/>
                <a:gdLst>
                  <a:gd name="T0" fmla="*/ 638 w 638"/>
                  <a:gd name="T1" fmla="*/ 0 h 47"/>
                  <a:gd name="T2" fmla="*/ 632 w 638"/>
                  <a:gd name="T3" fmla="*/ 2 h 47"/>
                  <a:gd name="T4" fmla="*/ 613 w 638"/>
                  <a:gd name="T5" fmla="*/ 7 h 47"/>
                  <a:gd name="T6" fmla="*/ 583 w 638"/>
                  <a:gd name="T7" fmla="*/ 14 h 47"/>
                  <a:gd name="T8" fmla="*/ 544 w 638"/>
                  <a:gd name="T9" fmla="*/ 23 h 47"/>
                  <a:gd name="T10" fmla="*/ 496 w 638"/>
                  <a:gd name="T11" fmla="*/ 31 h 47"/>
                  <a:gd name="T12" fmla="*/ 440 w 638"/>
                  <a:gd name="T13" fmla="*/ 39 h 47"/>
                  <a:gd name="T14" fmla="*/ 380 w 638"/>
                  <a:gd name="T15" fmla="*/ 45 h 47"/>
                  <a:gd name="T16" fmla="*/ 318 w 638"/>
                  <a:gd name="T17" fmla="*/ 47 h 47"/>
                  <a:gd name="T18" fmla="*/ 257 w 638"/>
                  <a:gd name="T19" fmla="*/ 45 h 47"/>
                  <a:gd name="T20" fmla="*/ 196 w 638"/>
                  <a:gd name="T21" fmla="*/ 39 h 47"/>
                  <a:gd name="T22" fmla="*/ 140 w 638"/>
                  <a:gd name="T23" fmla="*/ 31 h 47"/>
                  <a:gd name="T24" fmla="*/ 94 w 638"/>
                  <a:gd name="T25" fmla="*/ 23 h 47"/>
                  <a:gd name="T26" fmla="*/ 54 w 638"/>
                  <a:gd name="T27" fmla="*/ 14 h 47"/>
                  <a:gd name="T28" fmla="*/ 24 w 638"/>
                  <a:gd name="T29" fmla="*/ 7 h 47"/>
                  <a:gd name="T30" fmla="*/ 6 w 638"/>
                  <a:gd name="T31" fmla="*/ 2 h 47"/>
                  <a:gd name="T32" fmla="*/ 0 w 638"/>
                  <a:gd name="T33" fmla="*/ 0 h 47"/>
                  <a:gd name="T34" fmla="*/ 1 w 638"/>
                  <a:gd name="T3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38" h="47">
                    <a:moveTo>
                      <a:pt x="638" y="0"/>
                    </a:moveTo>
                    <a:lnTo>
                      <a:pt x="632" y="2"/>
                    </a:lnTo>
                    <a:lnTo>
                      <a:pt x="613" y="7"/>
                    </a:lnTo>
                    <a:lnTo>
                      <a:pt x="583" y="14"/>
                    </a:lnTo>
                    <a:lnTo>
                      <a:pt x="544" y="23"/>
                    </a:lnTo>
                    <a:lnTo>
                      <a:pt x="496" y="31"/>
                    </a:lnTo>
                    <a:lnTo>
                      <a:pt x="440" y="39"/>
                    </a:lnTo>
                    <a:lnTo>
                      <a:pt x="380" y="45"/>
                    </a:lnTo>
                    <a:lnTo>
                      <a:pt x="318" y="47"/>
                    </a:lnTo>
                    <a:lnTo>
                      <a:pt x="257" y="45"/>
                    </a:lnTo>
                    <a:lnTo>
                      <a:pt x="196" y="39"/>
                    </a:lnTo>
                    <a:lnTo>
                      <a:pt x="140" y="31"/>
                    </a:lnTo>
                    <a:lnTo>
                      <a:pt x="94" y="23"/>
                    </a:lnTo>
                    <a:lnTo>
                      <a:pt x="54" y="14"/>
                    </a:lnTo>
                    <a:lnTo>
                      <a:pt x="24" y="7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7" name="Freeform 68"/>
              <p:cNvSpPr>
                <a:spLocks noChangeAspect="1" noChangeArrowheads="1"/>
              </p:cNvSpPr>
              <p:nvPr/>
            </p:nvSpPr>
            <p:spPr bwMode="auto">
              <a:xfrm>
                <a:off x="611" y="2911"/>
                <a:ext cx="571" cy="6"/>
              </a:xfrm>
              <a:custGeom>
                <a:avLst/>
                <a:gdLst>
                  <a:gd name="T0" fmla="*/ 0 w 966"/>
                  <a:gd name="T1" fmla="*/ 0 h 6"/>
                  <a:gd name="T2" fmla="*/ 965 w 966"/>
                  <a:gd name="T3" fmla="*/ 0 h 6"/>
                  <a:gd name="T4" fmla="*/ 966 w 966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66" h="6">
                    <a:moveTo>
                      <a:pt x="0" y="0"/>
                    </a:moveTo>
                    <a:lnTo>
                      <a:pt x="965" y="0"/>
                    </a:lnTo>
                    <a:lnTo>
                      <a:pt x="966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8" name="Freeform 69"/>
              <p:cNvSpPr>
                <a:spLocks noChangeAspect="1" noChangeArrowheads="1"/>
              </p:cNvSpPr>
              <p:nvPr/>
            </p:nvSpPr>
            <p:spPr bwMode="auto">
              <a:xfrm>
                <a:off x="611" y="1057"/>
                <a:ext cx="571" cy="6"/>
              </a:xfrm>
              <a:custGeom>
                <a:avLst/>
                <a:gdLst>
                  <a:gd name="T0" fmla="*/ 965 w 965"/>
                  <a:gd name="T1" fmla="*/ 0 h 6"/>
                  <a:gd name="T2" fmla="*/ 0 w 965"/>
                  <a:gd name="T3" fmla="*/ 0 h 6"/>
                  <a:gd name="T4" fmla="*/ 1 w 96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65" h="6">
                    <a:moveTo>
                      <a:pt x="965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9" name="Freeform 70"/>
              <p:cNvSpPr>
                <a:spLocks noChangeAspect="1" noChangeArrowheads="1"/>
              </p:cNvSpPr>
              <p:nvPr/>
            </p:nvSpPr>
            <p:spPr bwMode="auto">
              <a:xfrm>
                <a:off x="1182" y="2661"/>
                <a:ext cx="1518" cy="6"/>
              </a:xfrm>
              <a:custGeom>
                <a:avLst/>
                <a:gdLst>
                  <a:gd name="T0" fmla="*/ 0 w 2552"/>
                  <a:gd name="T1" fmla="*/ 0 h 6"/>
                  <a:gd name="T2" fmla="*/ 2551 w 2552"/>
                  <a:gd name="T3" fmla="*/ 0 h 6"/>
                  <a:gd name="T4" fmla="*/ 2552 w 255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52" h="6">
                    <a:moveTo>
                      <a:pt x="0" y="0"/>
                    </a:moveTo>
                    <a:lnTo>
                      <a:pt x="2551" y="0"/>
                    </a:lnTo>
                    <a:lnTo>
                      <a:pt x="2552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0" name="Freeform 71"/>
              <p:cNvSpPr>
                <a:spLocks noChangeAspect="1" noChangeArrowheads="1"/>
              </p:cNvSpPr>
              <p:nvPr/>
            </p:nvSpPr>
            <p:spPr bwMode="auto">
              <a:xfrm>
                <a:off x="1182" y="1313"/>
                <a:ext cx="572" cy="5"/>
              </a:xfrm>
              <a:custGeom>
                <a:avLst/>
                <a:gdLst>
                  <a:gd name="T0" fmla="*/ 957 w 957"/>
                  <a:gd name="T1" fmla="*/ 0 h 5"/>
                  <a:gd name="T2" fmla="*/ 0 w 957"/>
                  <a:gd name="T3" fmla="*/ 0 h 5"/>
                  <a:gd name="T4" fmla="*/ 1 w 957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57" h="5">
                    <a:moveTo>
                      <a:pt x="957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1" name="Freeform 72"/>
              <p:cNvSpPr>
                <a:spLocks noChangeAspect="1" noChangeArrowheads="1"/>
              </p:cNvSpPr>
              <p:nvPr/>
            </p:nvSpPr>
            <p:spPr bwMode="auto">
              <a:xfrm>
                <a:off x="2135" y="1313"/>
                <a:ext cx="565" cy="5"/>
              </a:xfrm>
              <a:custGeom>
                <a:avLst/>
                <a:gdLst>
                  <a:gd name="T0" fmla="*/ 956 w 956"/>
                  <a:gd name="T1" fmla="*/ 0 h 5"/>
                  <a:gd name="T2" fmla="*/ 0 w 956"/>
                  <a:gd name="T3" fmla="*/ 0 h 5"/>
                  <a:gd name="T4" fmla="*/ 1 w 956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56" h="5">
                    <a:moveTo>
                      <a:pt x="956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2" name="Freeform 73"/>
              <p:cNvSpPr>
                <a:spLocks noChangeAspect="1" noChangeArrowheads="1"/>
              </p:cNvSpPr>
              <p:nvPr/>
            </p:nvSpPr>
            <p:spPr bwMode="auto">
              <a:xfrm>
                <a:off x="2700" y="2489"/>
                <a:ext cx="173" cy="172"/>
              </a:xfrm>
              <a:custGeom>
                <a:avLst/>
                <a:gdLst>
                  <a:gd name="T0" fmla="*/ 0 w 285"/>
                  <a:gd name="T1" fmla="*/ 284 h 284"/>
                  <a:gd name="T2" fmla="*/ 284 w 285"/>
                  <a:gd name="T3" fmla="*/ 0 h 284"/>
                  <a:gd name="T4" fmla="*/ 285 w 285"/>
                  <a:gd name="T5" fmla="*/ 0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5" h="284">
                    <a:moveTo>
                      <a:pt x="0" y="284"/>
                    </a:moveTo>
                    <a:lnTo>
                      <a:pt x="284" y="0"/>
                    </a:lnTo>
                    <a:lnTo>
                      <a:pt x="285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3" name="Freeform 74"/>
              <p:cNvSpPr>
                <a:spLocks noChangeAspect="1" noChangeArrowheads="1"/>
              </p:cNvSpPr>
              <p:nvPr/>
            </p:nvSpPr>
            <p:spPr bwMode="auto">
              <a:xfrm>
                <a:off x="2700" y="1313"/>
                <a:ext cx="173" cy="166"/>
              </a:xfrm>
              <a:custGeom>
                <a:avLst/>
                <a:gdLst>
                  <a:gd name="T0" fmla="*/ 284 w 284"/>
                  <a:gd name="T1" fmla="*/ 284 h 284"/>
                  <a:gd name="T2" fmla="*/ 0 w 284"/>
                  <a:gd name="T3" fmla="*/ 0 h 284"/>
                  <a:gd name="T4" fmla="*/ 1 w 284"/>
                  <a:gd name="T5" fmla="*/ 0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4" h="284">
                    <a:moveTo>
                      <a:pt x="284" y="28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62" name="Group 75"/>
            <p:cNvGrpSpPr>
              <a:grpSpLocks noChangeAspect="1"/>
            </p:cNvGrpSpPr>
            <p:nvPr/>
          </p:nvGrpSpPr>
          <p:grpSpPr bwMode="auto">
            <a:xfrm>
              <a:off x="1754" y="1313"/>
              <a:ext cx="387" cy="362"/>
              <a:chOff x="2458" y="2489"/>
              <a:chExt cx="65" cy="61"/>
            </a:xfrm>
          </p:grpSpPr>
          <p:sp>
            <p:nvSpPr>
              <p:cNvPr id="74" name="Freeform 76"/>
              <p:cNvSpPr>
                <a:spLocks noChangeAspect="1" noChangeArrowheads="1"/>
              </p:cNvSpPr>
              <p:nvPr/>
            </p:nvSpPr>
            <p:spPr bwMode="auto">
              <a:xfrm>
                <a:off x="2516" y="2531"/>
                <a:ext cx="6" cy="1"/>
              </a:xfrm>
              <a:custGeom>
                <a:avLst/>
                <a:gdLst>
                  <a:gd name="T0" fmla="*/ 54 w 54"/>
                  <a:gd name="T1" fmla="*/ 0 h 1"/>
                  <a:gd name="T2" fmla="*/ 0 w 54"/>
                  <a:gd name="T3" fmla="*/ 0 h 1"/>
                  <a:gd name="T4" fmla="*/ 1 w 5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" h="1">
                    <a:moveTo>
                      <a:pt x="54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5" name="Freeform 77"/>
              <p:cNvSpPr>
                <a:spLocks noChangeAspect="1" noChangeArrowheads="1"/>
              </p:cNvSpPr>
              <p:nvPr/>
            </p:nvSpPr>
            <p:spPr bwMode="auto">
              <a:xfrm>
                <a:off x="2500" y="2531"/>
                <a:ext cx="11" cy="1"/>
              </a:xfrm>
              <a:custGeom>
                <a:avLst/>
                <a:gdLst>
                  <a:gd name="T0" fmla="*/ 106 w 106"/>
                  <a:gd name="T1" fmla="*/ 0 h 1"/>
                  <a:gd name="T2" fmla="*/ 0 w 106"/>
                  <a:gd name="T3" fmla="*/ 0 h 1"/>
                  <a:gd name="T4" fmla="*/ 1 w 106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" h="1">
                    <a:moveTo>
                      <a:pt x="106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6" name="Freeform 78"/>
              <p:cNvSpPr>
                <a:spLocks noChangeAspect="1" noChangeArrowheads="1"/>
              </p:cNvSpPr>
              <p:nvPr/>
            </p:nvSpPr>
            <p:spPr bwMode="auto">
              <a:xfrm>
                <a:off x="2484" y="2531"/>
                <a:ext cx="11" cy="1"/>
              </a:xfrm>
              <a:custGeom>
                <a:avLst/>
                <a:gdLst>
                  <a:gd name="T0" fmla="*/ 106 w 106"/>
                  <a:gd name="T1" fmla="*/ 0 h 1"/>
                  <a:gd name="T2" fmla="*/ 0 w 106"/>
                  <a:gd name="T3" fmla="*/ 0 h 1"/>
                  <a:gd name="T4" fmla="*/ 1 w 106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" h="1">
                    <a:moveTo>
                      <a:pt x="106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7" name="Freeform 79"/>
              <p:cNvSpPr>
                <a:spLocks noChangeAspect="1" noChangeArrowheads="1"/>
              </p:cNvSpPr>
              <p:nvPr/>
            </p:nvSpPr>
            <p:spPr bwMode="auto">
              <a:xfrm>
                <a:off x="2468" y="2531"/>
                <a:ext cx="11" cy="1"/>
              </a:xfrm>
              <a:custGeom>
                <a:avLst/>
                <a:gdLst>
                  <a:gd name="T0" fmla="*/ 107 w 107"/>
                  <a:gd name="T1" fmla="*/ 0 h 1"/>
                  <a:gd name="T2" fmla="*/ 0 w 107"/>
                  <a:gd name="T3" fmla="*/ 0 h 1"/>
                  <a:gd name="T4" fmla="*/ 1 w 107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7" h="1">
                    <a:moveTo>
                      <a:pt x="107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8" name="Freeform 80"/>
              <p:cNvSpPr>
                <a:spLocks noChangeAspect="1" noChangeArrowheads="1"/>
              </p:cNvSpPr>
              <p:nvPr/>
            </p:nvSpPr>
            <p:spPr bwMode="auto">
              <a:xfrm>
                <a:off x="2458" y="2531"/>
                <a:ext cx="5" cy="1"/>
              </a:xfrm>
              <a:custGeom>
                <a:avLst/>
                <a:gdLst>
                  <a:gd name="T0" fmla="*/ 53 w 53"/>
                  <a:gd name="T1" fmla="*/ 0 h 1"/>
                  <a:gd name="T2" fmla="*/ 0 w 53"/>
                  <a:gd name="T3" fmla="*/ 0 h 1"/>
                  <a:gd name="T4" fmla="*/ 1 w 5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" h="1">
                    <a:moveTo>
                      <a:pt x="53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9" name="Freeform 81"/>
              <p:cNvSpPr>
                <a:spLocks noChangeAspect="1" noChangeArrowheads="1"/>
              </p:cNvSpPr>
              <p:nvPr/>
            </p:nvSpPr>
            <p:spPr bwMode="auto">
              <a:xfrm>
                <a:off x="2490" y="2546"/>
                <a:ext cx="6" cy="4"/>
              </a:xfrm>
              <a:custGeom>
                <a:avLst/>
                <a:gdLst>
                  <a:gd name="T0" fmla="*/ 0 w 69"/>
                  <a:gd name="T1" fmla="*/ 39 h 39"/>
                  <a:gd name="T2" fmla="*/ 68 w 69"/>
                  <a:gd name="T3" fmla="*/ 0 h 39"/>
                  <a:gd name="T4" fmla="*/ 69 w 69"/>
                  <a:gd name="T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9" h="39">
                    <a:moveTo>
                      <a:pt x="0" y="39"/>
                    </a:moveTo>
                    <a:lnTo>
                      <a:pt x="68" y="0"/>
                    </a:lnTo>
                    <a:lnTo>
                      <a:pt x="69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0" name="Freeform 82"/>
              <p:cNvSpPr>
                <a:spLocks noChangeAspect="1" noChangeArrowheads="1"/>
              </p:cNvSpPr>
              <p:nvPr/>
            </p:nvSpPr>
            <p:spPr bwMode="auto">
              <a:xfrm>
                <a:off x="2501" y="2538"/>
                <a:ext cx="9" cy="5"/>
              </a:xfrm>
              <a:custGeom>
                <a:avLst/>
                <a:gdLst>
                  <a:gd name="T0" fmla="*/ 0 w 93"/>
                  <a:gd name="T1" fmla="*/ 53 h 53"/>
                  <a:gd name="T2" fmla="*/ 92 w 93"/>
                  <a:gd name="T3" fmla="*/ 0 h 53"/>
                  <a:gd name="T4" fmla="*/ 93 w 93"/>
                  <a:gd name="T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3" h="53">
                    <a:moveTo>
                      <a:pt x="0" y="53"/>
                    </a:moveTo>
                    <a:lnTo>
                      <a:pt x="92" y="0"/>
                    </a:lnTo>
                    <a:lnTo>
                      <a:pt x="93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1" name="Freeform 83"/>
              <p:cNvSpPr>
                <a:spLocks noChangeAspect="1" noChangeArrowheads="1"/>
              </p:cNvSpPr>
              <p:nvPr/>
            </p:nvSpPr>
            <p:spPr bwMode="auto">
              <a:xfrm>
                <a:off x="2515" y="2531"/>
                <a:ext cx="7" cy="4"/>
              </a:xfrm>
              <a:custGeom>
                <a:avLst/>
                <a:gdLst>
                  <a:gd name="T0" fmla="*/ 0 w 69"/>
                  <a:gd name="T1" fmla="*/ 39 h 39"/>
                  <a:gd name="T2" fmla="*/ 68 w 69"/>
                  <a:gd name="T3" fmla="*/ 0 h 39"/>
                  <a:gd name="T4" fmla="*/ 69 w 69"/>
                  <a:gd name="T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9" h="39">
                    <a:moveTo>
                      <a:pt x="0" y="39"/>
                    </a:moveTo>
                    <a:lnTo>
                      <a:pt x="68" y="0"/>
                    </a:lnTo>
                    <a:lnTo>
                      <a:pt x="69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2" name="Freeform 84"/>
              <p:cNvSpPr>
                <a:spLocks noChangeAspect="1" noChangeArrowheads="1"/>
              </p:cNvSpPr>
              <p:nvPr/>
            </p:nvSpPr>
            <p:spPr bwMode="auto">
              <a:xfrm>
                <a:off x="2458" y="2531"/>
                <a:ext cx="7" cy="4"/>
              </a:xfrm>
              <a:custGeom>
                <a:avLst/>
                <a:gdLst>
                  <a:gd name="T0" fmla="*/ 0 w 68"/>
                  <a:gd name="T1" fmla="*/ 0 h 39"/>
                  <a:gd name="T2" fmla="*/ 67 w 68"/>
                  <a:gd name="T3" fmla="*/ 39 h 39"/>
                  <a:gd name="T4" fmla="*/ 68 w 68"/>
                  <a:gd name="T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39">
                    <a:moveTo>
                      <a:pt x="0" y="0"/>
                    </a:moveTo>
                    <a:lnTo>
                      <a:pt x="67" y="39"/>
                    </a:lnTo>
                    <a:lnTo>
                      <a:pt x="68" y="39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3" name="Freeform 85"/>
              <p:cNvSpPr>
                <a:spLocks noChangeAspect="1" noChangeArrowheads="1"/>
              </p:cNvSpPr>
              <p:nvPr/>
            </p:nvSpPr>
            <p:spPr bwMode="auto">
              <a:xfrm>
                <a:off x="2469" y="2538"/>
                <a:ext cx="9" cy="5"/>
              </a:xfrm>
              <a:custGeom>
                <a:avLst/>
                <a:gdLst>
                  <a:gd name="T0" fmla="*/ 0 w 93"/>
                  <a:gd name="T1" fmla="*/ 0 h 53"/>
                  <a:gd name="T2" fmla="*/ 92 w 93"/>
                  <a:gd name="T3" fmla="*/ 53 h 53"/>
                  <a:gd name="T4" fmla="*/ 93 w 93"/>
                  <a:gd name="T5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3" h="53">
                    <a:moveTo>
                      <a:pt x="0" y="0"/>
                    </a:moveTo>
                    <a:lnTo>
                      <a:pt x="92" y="53"/>
                    </a:lnTo>
                    <a:lnTo>
                      <a:pt x="93" y="53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4" name="Freeform 86"/>
              <p:cNvSpPr>
                <a:spLocks noChangeAspect="1" noChangeArrowheads="1"/>
              </p:cNvSpPr>
              <p:nvPr/>
            </p:nvSpPr>
            <p:spPr bwMode="auto">
              <a:xfrm>
                <a:off x="2483" y="2546"/>
                <a:ext cx="7" cy="4"/>
              </a:xfrm>
              <a:custGeom>
                <a:avLst/>
                <a:gdLst>
                  <a:gd name="T0" fmla="*/ 0 w 68"/>
                  <a:gd name="T1" fmla="*/ 0 h 39"/>
                  <a:gd name="T2" fmla="*/ 67 w 68"/>
                  <a:gd name="T3" fmla="*/ 39 h 39"/>
                  <a:gd name="T4" fmla="*/ 68 w 68"/>
                  <a:gd name="T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39">
                    <a:moveTo>
                      <a:pt x="0" y="0"/>
                    </a:moveTo>
                    <a:lnTo>
                      <a:pt x="67" y="39"/>
                    </a:lnTo>
                    <a:lnTo>
                      <a:pt x="68" y="39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5" name="Freeform 87"/>
              <p:cNvSpPr>
                <a:spLocks noChangeAspect="1" noChangeArrowheads="1"/>
              </p:cNvSpPr>
              <p:nvPr/>
            </p:nvSpPr>
            <p:spPr bwMode="auto">
              <a:xfrm>
                <a:off x="2522" y="2521"/>
                <a:ext cx="1" cy="10"/>
              </a:xfrm>
              <a:custGeom>
                <a:avLst/>
                <a:gdLst>
                  <a:gd name="T0" fmla="*/ 0 w 1"/>
                  <a:gd name="T1" fmla="*/ 107 h 107"/>
                  <a:gd name="T2" fmla="*/ 0 w 1"/>
                  <a:gd name="T3" fmla="*/ 0 h 107"/>
                  <a:gd name="T4" fmla="*/ 1 w 1"/>
                  <a:gd name="T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7">
                    <a:moveTo>
                      <a:pt x="0" y="10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6" name="Freeform 88"/>
              <p:cNvSpPr>
                <a:spLocks noChangeAspect="1" noChangeArrowheads="1"/>
              </p:cNvSpPr>
              <p:nvPr/>
            </p:nvSpPr>
            <p:spPr bwMode="auto">
              <a:xfrm>
                <a:off x="2522" y="2505"/>
                <a:ext cx="1" cy="10"/>
              </a:xfrm>
              <a:custGeom>
                <a:avLst/>
                <a:gdLst>
                  <a:gd name="T0" fmla="*/ 0 w 1"/>
                  <a:gd name="T1" fmla="*/ 107 h 107"/>
                  <a:gd name="T2" fmla="*/ 0 w 1"/>
                  <a:gd name="T3" fmla="*/ 0 h 107"/>
                  <a:gd name="T4" fmla="*/ 1 w 1"/>
                  <a:gd name="T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7">
                    <a:moveTo>
                      <a:pt x="0" y="10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7" name="Freeform 89"/>
              <p:cNvSpPr>
                <a:spLocks noChangeAspect="1" noChangeArrowheads="1"/>
              </p:cNvSpPr>
              <p:nvPr/>
            </p:nvSpPr>
            <p:spPr bwMode="auto">
              <a:xfrm>
                <a:off x="2522" y="2489"/>
                <a:ext cx="1" cy="10"/>
              </a:xfrm>
              <a:custGeom>
                <a:avLst/>
                <a:gdLst>
                  <a:gd name="T0" fmla="*/ 0 w 1"/>
                  <a:gd name="T1" fmla="*/ 107 h 107"/>
                  <a:gd name="T2" fmla="*/ 0 w 1"/>
                  <a:gd name="T3" fmla="*/ 0 h 107"/>
                  <a:gd name="T4" fmla="*/ 1 w 1"/>
                  <a:gd name="T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7">
                    <a:moveTo>
                      <a:pt x="0" y="10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8" name="Freeform 90"/>
              <p:cNvSpPr>
                <a:spLocks noChangeAspect="1" noChangeArrowheads="1"/>
              </p:cNvSpPr>
              <p:nvPr/>
            </p:nvSpPr>
            <p:spPr bwMode="auto">
              <a:xfrm>
                <a:off x="2458" y="2489"/>
                <a:ext cx="1" cy="10"/>
              </a:xfrm>
              <a:custGeom>
                <a:avLst/>
                <a:gdLst>
                  <a:gd name="T0" fmla="*/ 0 w 1"/>
                  <a:gd name="T1" fmla="*/ 0 h 107"/>
                  <a:gd name="T2" fmla="*/ 0 w 1"/>
                  <a:gd name="T3" fmla="*/ 107 h 107"/>
                  <a:gd name="T4" fmla="*/ 1 w 1"/>
                  <a:gd name="T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7">
                    <a:moveTo>
                      <a:pt x="0" y="0"/>
                    </a:moveTo>
                    <a:lnTo>
                      <a:pt x="0" y="107"/>
                    </a:lnTo>
                    <a:lnTo>
                      <a:pt x="1" y="10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9" name="Freeform 91"/>
              <p:cNvSpPr>
                <a:spLocks noChangeAspect="1" noChangeArrowheads="1"/>
              </p:cNvSpPr>
              <p:nvPr/>
            </p:nvSpPr>
            <p:spPr bwMode="auto">
              <a:xfrm>
                <a:off x="2458" y="2505"/>
                <a:ext cx="1" cy="10"/>
              </a:xfrm>
              <a:custGeom>
                <a:avLst/>
                <a:gdLst>
                  <a:gd name="T0" fmla="*/ 0 w 1"/>
                  <a:gd name="T1" fmla="*/ 0 h 107"/>
                  <a:gd name="T2" fmla="*/ 0 w 1"/>
                  <a:gd name="T3" fmla="*/ 107 h 107"/>
                  <a:gd name="T4" fmla="*/ 1 w 1"/>
                  <a:gd name="T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7">
                    <a:moveTo>
                      <a:pt x="0" y="0"/>
                    </a:moveTo>
                    <a:lnTo>
                      <a:pt x="0" y="107"/>
                    </a:lnTo>
                    <a:lnTo>
                      <a:pt x="1" y="10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0" name="Freeform 92"/>
              <p:cNvSpPr>
                <a:spLocks noChangeAspect="1" noChangeArrowheads="1"/>
              </p:cNvSpPr>
              <p:nvPr/>
            </p:nvSpPr>
            <p:spPr bwMode="auto">
              <a:xfrm>
                <a:off x="2458" y="2521"/>
                <a:ext cx="1" cy="10"/>
              </a:xfrm>
              <a:custGeom>
                <a:avLst/>
                <a:gdLst>
                  <a:gd name="T0" fmla="*/ 0 w 1"/>
                  <a:gd name="T1" fmla="*/ 0 h 107"/>
                  <a:gd name="T2" fmla="*/ 0 w 1"/>
                  <a:gd name="T3" fmla="*/ 107 h 107"/>
                  <a:gd name="T4" fmla="*/ 1 w 1"/>
                  <a:gd name="T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7">
                    <a:moveTo>
                      <a:pt x="0" y="0"/>
                    </a:moveTo>
                    <a:lnTo>
                      <a:pt x="0" y="107"/>
                    </a:lnTo>
                    <a:lnTo>
                      <a:pt x="1" y="10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63" name="Group 93"/>
            <p:cNvGrpSpPr>
              <a:grpSpLocks noChangeAspect="1"/>
            </p:cNvGrpSpPr>
            <p:nvPr/>
          </p:nvGrpSpPr>
          <p:grpSpPr bwMode="auto">
            <a:xfrm>
              <a:off x="510" y="1189"/>
              <a:ext cx="2452" cy="1604"/>
              <a:chOff x="510" y="1189"/>
              <a:chExt cx="2452" cy="1604"/>
            </a:xfrm>
          </p:grpSpPr>
          <p:sp>
            <p:nvSpPr>
              <p:cNvPr id="64" name="Freeform 94"/>
              <p:cNvSpPr>
                <a:spLocks noChangeAspect="1" noChangeArrowheads="1"/>
              </p:cNvSpPr>
              <p:nvPr/>
            </p:nvSpPr>
            <p:spPr bwMode="auto">
              <a:xfrm>
                <a:off x="2593" y="1984"/>
                <a:ext cx="369" cy="6"/>
              </a:xfrm>
              <a:custGeom>
                <a:avLst/>
                <a:gdLst>
                  <a:gd name="T0" fmla="*/ 621 w 621"/>
                  <a:gd name="T1" fmla="*/ 0 h 6"/>
                  <a:gd name="T2" fmla="*/ 0 w 621"/>
                  <a:gd name="T3" fmla="*/ 0 h 6"/>
                  <a:gd name="T4" fmla="*/ 1 w 621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21" h="6">
                    <a:moveTo>
                      <a:pt x="621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66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5" name="Freeform 95"/>
              <p:cNvSpPr>
                <a:spLocks noChangeAspect="1" noChangeArrowheads="1"/>
              </p:cNvSpPr>
              <p:nvPr/>
            </p:nvSpPr>
            <p:spPr bwMode="auto">
              <a:xfrm>
                <a:off x="2462" y="1984"/>
                <a:ext cx="66" cy="6"/>
              </a:xfrm>
              <a:custGeom>
                <a:avLst/>
                <a:gdLst>
                  <a:gd name="T0" fmla="*/ 106 w 106"/>
                  <a:gd name="T1" fmla="*/ 0 h 6"/>
                  <a:gd name="T2" fmla="*/ 0 w 106"/>
                  <a:gd name="T3" fmla="*/ 0 h 6"/>
                  <a:gd name="T4" fmla="*/ 1 w 106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" h="6">
                    <a:moveTo>
                      <a:pt x="106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66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6" name="Freeform 96"/>
              <p:cNvSpPr>
                <a:spLocks noChangeAspect="1" noChangeArrowheads="1"/>
              </p:cNvSpPr>
              <p:nvPr/>
            </p:nvSpPr>
            <p:spPr bwMode="auto">
              <a:xfrm>
                <a:off x="2087" y="1984"/>
                <a:ext cx="316" cy="6"/>
              </a:xfrm>
              <a:custGeom>
                <a:avLst/>
                <a:gdLst>
                  <a:gd name="T0" fmla="*/ 531 w 531"/>
                  <a:gd name="T1" fmla="*/ 0 h 6"/>
                  <a:gd name="T2" fmla="*/ 0 w 531"/>
                  <a:gd name="T3" fmla="*/ 0 h 6"/>
                  <a:gd name="T4" fmla="*/ 1 w 531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1" h="6">
                    <a:moveTo>
                      <a:pt x="531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66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7" name="Freeform 97"/>
              <p:cNvSpPr>
                <a:spLocks noChangeAspect="1" noChangeArrowheads="1"/>
              </p:cNvSpPr>
              <p:nvPr/>
            </p:nvSpPr>
            <p:spPr bwMode="auto">
              <a:xfrm>
                <a:off x="1956" y="1984"/>
                <a:ext cx="66" cy="6"/>
              </a:xfrm>
              <a:custGeom>
                <a:avLst/>
                <a:gdLst>
                  <a:gd name="T0" fmla="*/ 106 w 106"/>
                  <a:gd name="T1" fmla="*/ 0 h 6"/>
                  <a:gd name="T2" fmla="*/ 0 w 106"/>
                  <a:gd name="T3" fmla="*/ 0 h 6"/>
                  <a:gd name="T4" fmla="*/ 1 w 106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" h="6">
                    <a:moveTo>
                      <a:pt x="106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66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8" name="Freeform 98"/>
              <p:cNvSpPr>
                <a:spLocks noChangeAspect="1" noChangeArrowheads="1"/>
              </p:cNvSpPr>
              <p:nvPr/>
            </p:nvSpPr>
            <p:spPr bwMode="auto">
              <a:xfrm>
                <a:off x="1575" y="1984"/>
                <a:ext cx="322" cy="6"/>
              </a:xfrm>
              <a:custGeom>
                <a:avLst/>
                <a:gdLst>
                  <a:gd name="T0" fmla="*/ 531 w 531"/>
                  <a:gd name="T1" fmla="*/ 0 h 6"/>
                  <a:gd name="T2" fmla="*/ 0 w 531"/>
                  <a:gd name="T3" fmla="*/ 0 h 6"/>
                  <a:gd name="T4" fmla="*/ 1 w 531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1" h="6">
                    <a:moveTo>
                      <a:pt x="531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66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9" name="Freeform 99"/>
              <p:cNvSpPr>
                <a:spLocks noChangeAspect="1" noChangeArrowheads="1"/>
              </p:cNvSpPr>
              <p:nvPr/>
            </p:nvSpPr>
            <p:spPr bwMode="auto">
              <a:xfrm>
                <a:off x="1450" y="1984"/>
                <a:ext cx="66" cy="6"/>
              </a:xfrm>
              <a:custGeom>
                <a:avLst/>
                <a:gdLst>
                  <a:gd name="T0" fmla="*/ 106 w 106"/>
                  <a:gd name="T1" fmla="*/ 0 h 6"/>
                  <a:gd name="T2" fmla="*/ 0 w 106"/>
                  <a:gd name="T3" fmla="*/ 0 h 6"/>
                  <a:gd name="T4" fmla="*/ 1 w 106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" h="6">
                    <a:moveTo>
                      <a:pt x="106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66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0" name="Freeform 100"/>
              <p:cNvSpPr>
                <a:spLocks noChangeAspect="1" noChangeArrowheads="1"/>
              </p:cNvSpPr>
              <p:nvPr/>
            </p:nvSpPr>
            <p:spPr bwMode="auto">
              <a:xfrm>
                <a:off x="1070" y="1984"/>
                <a:ext cx="321" cy="6"/>
              </a:xfrm>
              <a:custGeom>
                <a:avLst/>
                <a:gdLst>
                  <a:gd name="T0" fmla="*/ 531 w 531"/>
                  <a:gd name="T1" fmla="*/ 0 h 6"/>
                  <a:gd name="T2" fmla="*/ 0 w 531"/>
                  <a:gd name="T3" fmla="*/ 0 h 6"/>
                  <a:gd name="T4" fmla="*/ 1 w 531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1" h="6">
                    <a:moveTo>
                      <a:pt x="531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66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1" name="Freeform 101"/>
              <p:cNvSpPr>
                <a:spLocks noChangeAspect="1" noChangeArrowheads="1"/>
              </p:cNvSpPr>
              <p:nvPr/>
            </p:nvSpPr>
            <p:spPr bwMode="auto">
              <a:xfrm>
                <a:off x="945" y="1984"/>
                <a:ext cx="65" cy="6"/>
              </a:xfrm>
              <a:custGeom>
                <a:avLst/>
                <a:gdLst>
                  <a:gd name="T0" fmla="*/ 106 w 106"/>
                  <a:gd name="T1" fmla="*/ 0 h 6"/>
                  <a:gd name="T2" fmla="*/ 0 w 106"/>
                  <a:gd name="T3" fmla="*/ 0 h 6"/>
                  <a:gd name="T4" fmla="*/ 1 w 106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" h="6">
                    <a:moveTo>
                      <a:pt x="106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66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2" name="Freeform 102"/>
              <p:cNvSpPr>
                <a:spLocks noChangeAspect="1" noChangeArrowheads="1"/>
              </p:cNvSpPr>
              <p:nvPr/>
            </p:nvSpPr>
            <p:spPr bwMode="auto">
              <a:xfrm>
                <a:off x="510" y="1984"/>
                <a:ext cx="375" cy="6"/>
              </a:xfrm>
              <a:custGeom>
                <a:avLst/>
                <a:gdLst>
                  <a:gd name="T0" fmla="*/ 621 w 621"/>
                  <a:gd name="T1" fmla="*/ 0 h 6"/>
                  <a:gd name="T2" fmla="*/ 0 w 621"/>
                  <a:gd name="T3" fmla="*/ 0 h 6"/>
                  <a:gd name="T4" fmla="*/ 1 w 621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21" h="6">
                    <a:moveTo>
                      <a:pt x="621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66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3" name="Freeform 103"/>
              <p:cNvSpPr>
                <a:spLocks noChangeAspect="1" noChangeArrowheads="1"/>
              </p:cNvSpPr>
              <p:nvPr/>
            </p:nvSpPr>
            <p:spPr bwMode="auto">
              <a:xfrm>
                <a:off x="1945" y="1189"/>
                <a:ext cx="1" cy="1604"/>
              </a:xfrm>
              <a:custGeom>
                <a:avLst/>
                <a:gdLst>
                  <a:gd name="T0" fmla="*/ 0 w 1"/>
                  <a:gd name="T1" fmla="*/ 0 h 1604"/>
                  <a:gd name="T2" fmla="*/ 0 w 1"/>
                  <a:gd name="T3" fmla="*/ 1604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604">
                    <a:moveTo>
                      <a:pt x="0" y="0"/>
                    </a:moveTo>
                    <a:lnTo>
                      <a:pt x="0" y="1604"/>
                    </a:lnTo>
                  </a:path>
                </a:pathLst>
              </a:custGeom>
              <a:noFill/>
              <a:ln w="12700">
                <a:solidFill>
                  <a:srgbClr val="6666FF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grpSp>
        <p:nvGrpSpPr>
          <p:cNvPr id="104" name="Group 104"/>
          <p:cNvGrpSpPr>
            <a:grpSpLocks noChangeAspect="1"/>
          </p:cNvGrpSpPr>
          <p:nvPr/>
        </p:nvGrpSpPr>
        <p:grpSpPr bwMode="auto">
          <a:xfrm>
            <a:off x="9328151" y="1131889"/>
            <a:ext cx="365125" cy="192087"/>
            <a:chOff x="2820" y="1786"/>
            <a:chExt cx="79" cy="42"/>
          </a:xfrm>
        </p:grpSpPr>
        <p:sp>
          <p:nvSpPr>
            <p:cNvPr id="105" name="Freeform 105"/>
            <p:cNvSpPr>
              <a:spLocks noChangeAspect="1" noChangeArrowheads="1"/>
            </p:cNvSpPr>
            <p:nvPr/>
          </p:nvSpPr>
          <p:spPr bwMode="auto">
            <a:xfrm>
              <a:off x="2820" y="1786"/>
              <a:ext cx="21" cy="42"/>
            </a:xfrm>
            <a:custGeom>
              <a:avLst/>
              <a:gdLst>
                <a:gd name="T0" fmla="*/ 0 w 212"/>
                <a:gd name="T1" fmla="*/ 426 h 426"/>
                <a:gd name="T2" fmla="*/ 212 w 212"/>
                <a:gd name="T3" fmla="*/ 0 h 426"/>
                <a:gd name="T4" fmla="*/ 196 w 212"/>
                <a:gd name="T5" fmla="*/ 426 h 426"/>
                <a:gd name="T6" fmla="*/ 197 w 212"/>
                <a:gd name="T7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" h="426">
                  <a:moveTo>
                    <a:pt x="0" y="426"/>
                  </a:moveTo>
                  <a:lnTo>
                    <a:pt x="212" y="0"/>
                  </a:lnTo>
                  <a:lnTo>
                    <a:pt x="196" y="426"/>
                  </a:lnTo>
                  <a:lnTo>
                    <a:pt x="197" y="426"/>
                  </a:lnTo>
                </a:path>
              </a:pathLst>
            </a:custGeom>
            <a:noFill/>
            <a:ln w="127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6" name="Freeform 106"/>
            <p:cNvSpPr>
              <a:spLocks noChangeAspect="1" noChangeArrowheads="1"/>
            </p:cNvSpPr>
            <p:nvPr/>
          </p:nvSpPr>
          <p:spPr bwMode="auto">
            <a:xfrm>
              <a:off x="2827" y="1814"/>
              <a:ext cx="12" cy="1"/>
            </a:xfrm>
            <a:custGeom>
              <a:avLst/>
              <a:gdLst>
                <a:gd name="T0" fmla="*/ 0 w 122"/>
                <a:gd name="T1" fmla="*/ 0 h 1"/>
                <a:gd name="T2" fmla="*/ 121 w 122"/>
                <a:gd name="T3" fmla="*/ 0 h 1"/>
                <a:gd name="T4" fmla="*/ 122 w 12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" h="1">
                  <a:moveTo>
                    <a:pt x="0" y="0"/>
                  </a:moveTo>
                  <a:lnTo>
                    <a:pt x="121" y="0"/>
                  </a:lnTo>
                  <a:lnTo>
                    <a:pt x="122" y="0"/>
                  </a:lnTo>
                </a:path>
              </a:pathLst>
            </a:custGeom>
            <a:noFill/>
            <a:ln w="127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7" name="Freeform 107"/>
            <p:cNvSpPr>
              <a:spLocks noChangeAspect="1" noChangeArrowheads="1"/>
            </p:cNvSpPr>
            <p:nvPr/>
          </p:nvSpPr>
          <p:spPr bwMode="auto">
            <a:xfrm>
              <a:off x="2851" y="1810"/>
              <a:ext cx="22" cy="1"/>
            </a:xfrm>
            <a:custGeom>
              <a:avLst/>
              <a:gdLst>
                <a:gd name="T0" fmla="*/ 0 w 219"/>
                <a:gd name="T1" fmla="*/ 0 h 1"/>
                <a:gd name="T2" fmla="*/ 218 w 219"/>
                <a:gd name="T3" fmla="*/ 0 h 1"/>
                <a:gd name="T4" fmla="*/ 219 w 21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9" h="1">
                  <a:moveTo>
                    <a:pt x="0" y="0"/>
                  </a:moveTo>
                  <a:lnTo>
                    <a:pt x="218" y="0"/>
                  </a:lnTo>
                  <a:lnTo>
                    <a:pt x="219" y="0"/>
                  </a:lnTo>
                </a:path>
              </a:pathLst>
            </a:custGeom>
            <a:noFill/>
            <a:ln w="127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8" name="Freeform 108"/>
            <p:cNvSpPr>
              <a:spLocks noChangeAspect="1" noChangeArrowheads="1"/>
            </p:cNvSpPr>
            <p:nvPr/>
          </p:nvSpPr>
          <p:spPr bwMode="auto">
            <a:xfrm>
              <a:off x="2878" y="1786"/>
              <a:ext cx="21" cy="42"/>
            </a:xfrm>
            <a:custGeom>
              <a:avLst/>
              <a:gdLst>
                <a:gd name="T0" fmla="*/ 0 w 211"/>
                <a:gd name="T1" fmla="*/ 426 h 426"/>
                <a:gd name="T2" fmla="*/ 211 w 211"/>
                <a:gd name="T3" fmla="*/ 0 h 426"/>
                <a:gd name="T4" fmla="*/ 195 w 211"/>
                <a:gd name="T5" fmla="*/ 426 h 426"/>
                <a:gd name="T6" fmla="*/ 196 w 211"/>
                <a:gd name="T7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6">
                  <a:moveTo>
                    <a:pt x="0" y="426"/>
                  </a:moveTo>
                  <a:lnTo>
                    <a:pt x="211" y="0"/>
                  </a:lnTo>
                  <a:lnTo>
                    <a:pt x="195" y="426"/>
                  </a:lnTo>
                  <a:lnTo>
                    <a:pt x="196" y="426"/>
                  </a:lnTo>
                </a:path>
              </a:pathLst>
            </a:custGeom>
            <a:noFill/>
            <a:ln w="127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09" name="Freeform 109"/>
            <p:cNvSpPr>
              <a:spLocks noChangeAspect="1" noChangeArrowheads="1"/>
            </p:cNvSpPr>
            <p:nvPr/>
          </p:nvSpPr>
          <p:spPr bwMode="auto">
            <a:xfrm>
              <a:off x="2886" y="1814"/>
              <a:ext cx="12" cy="1"/>
            </a:xfrm>
            <a:custGeom>
              <a:avLst/>
              <a:gdLst>
                <a:gd name="T0" fmla="*/ 0 w 122"/>
                <a:gd name="T1" fmla="*/ 0 h 1"/>
                <a:gd name="T2" fmla="*/ 121 w 122"/>
                <a:gd name="T3" fmla="*/ 0 h 1"/>
                <a:gd name="T4" fmla="*/ 122 w 12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" h="1">
                  <a:moveTo>
                    <a:pt x="0" y="0"/>
                  </a:moveTo>
                  <a:lnTo>
                    <a:pt x="121" y="0"/>
                  </a:lnTo>
                  <a:lnTo>
                    <a:pt x="122" y="0"/>
                  </a:lnTo>
                </a:path>
              </a:pathLst>
            </a:custGeom>
            <a:noFill/>
            <a:ln w="127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110" name="Group 110"/>
          <p:cNvGrpSpPr>
            <a:grpSpLocks noChangeAspect="1"/>
          </p:cNvGrpSpPr>
          <p:nvPr/>
        </p:nvGrpSpPr>
        <p:grpSpPr bwMode="auto">
          <a:xfrm>
            <a:off x="7608888" y="952501"/>
            <a:ext cx="533400" cy="2187575"/>
            <a:chOff x="1649" y="704"/>
            <a:chExt cx="625" cy="2562"/>
          </a:xfrm>
        </p:grpSpPr>
        <p:sp>
          <p:nvSpPr>
            <p:cNvPr id="111" name="Freeform 111"/>
            <p:cNvSpPr>
              <a:spLocks noChangeAspect="1" noChangeArrowheads="1"/>
            </p:cNvSpPr>
            <p:nvPr/>
          </p:nvSpPr>
          <p:spPr bwMode="auto">
            <a:xfrm>
              <a:off x="1897" y="817"/>
              <a:ext cx="5" cy="355"/>
            </a:xfrm>
            <a:custGeom>
              <a:avLst/>
              <a:gdLst>
                <a:gd name="T0" fmla="*/ 0 w 1"/>
                <a:gd name="T1" fmla="*/ 0 h 659"/>
                <a:gd name="T2" fmla="*/ 0 w 1"/>
                <a:gd name="T3" fmla="*/ 659 h 659"/>
                <a:gd name="T4" fmla="*/ 1 w 1"/>
                <a:gd name="T5" fmla="*/ 659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59">
                  <a:moveTo>
                    <a:pt x="0" y="0"/>
                  </a:moveTo>
                  <a:lnTo>
                    <a:pt x="0" y="659"/>
                  </a:lnTo>
                  <a:lnTo>
                    <a:pt x="1" y="659"/>
                  </a:lnTo>
                </a:path>
              </a:pathLst>
            </a:custGeom>
            <a:noFill/>
            <a:ln w="762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2" name="Freeform 112"/>
            <p:cNvSpPr>
              <a:spLocks noChangeAspect="1" noChangeArrowheads="1"/>
            </p:cNvSpPr>
            <p:nvPr/>
          </p:nvSpPr>
          <p:spPr bwMode="auto">
            <a:xfrm>
              <a:off x="2123" y="790"/>
              <a:ext cx="151" cy="54"/>
            </a:xfrm>
            <a:custGeom>
              <a:avLst/>
              <a:gdLst>
                <a:gd name="T0" fmla="*/ 0 w 283"/>
                <a:gd name="T1" fmla="*/ 0 h 94"/>
                <a:gd name="T2" fmla="*/ 283 w 283"/>
                <a:gd name="T3" fmla="*/ 47 h 94"/>
                <a:gd name="T4" fmla="*/ 0 w 283"/>
                <a:gd name="T5" fmla="*/ 94 h 94"/>
                <a:gd name="T6" fmla="*/ 0 w 283"/>
                <a:gd name="T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3" h="94">
                  <a:moveTo>
                    <a:pt x="0" y="0"/>
                  </a:moveTo>
                  <a:lnTo>
                    <a:pt x="283" y="47"/>
                  </a:lnTo>
                  <a:lnTo>
                    <a:pt x="0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FF00"/>
            </a:solidFill>
            <a:ln w="12700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3" name="Freeform 113"/>
            <p:cNvSpPr>
              <a:spLocks noChangeAspect="1" noChangeArrowheads="1"/>
            </p:cNvSpPr>
            <p:nvPr/>
          </p:nvSpPr>
          <p:spPr bwMode="auto">
            <a:xfrm>
              <a:off x="2123" y="790"/>
              <a:ext cx="151" cy="54"/>
            </a:xfrm>
            <a:custGeom>
              <a:avLst/>
              <a:gdLst>
                <a:gd name="T0" fmla="*/ 0 w 283"/>
                <a:gd name="T1" fmla="*/ 0 h 94"/>
                <a:gd name="T2" fmla="*/ 283 w 283"/>
                <a:gd name="T3" fmla="*/ 47 h 94"/>
                <a:gd name="T4" fmla="*/ 0 w 283"/>
                <a:gd name="T5" fmla="*/ 94 h 94"/>
                <a:gd name="T6" fmla="*/ 0 w 283"/>
                <a:gd name="T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3" h="94">
                  <a:moveTo>
                    <a:pt x="0" y="0"/>
                  </a:moveTo>
                  <a:lnTo>
                    <a:pt x="283" y="47"/>
                  </a:lnTo>
                  <a:lnTo>
                    <a:pt x="0" y="94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4" name="Freeform 114"/>
            <p:cNvSpPr>
              <a:spLocks noChangeAspect="1" noChangeArrowheads="1"/>
            </p:cNvSpPr>
            <p:nvPr/>
          </p:nvSpPr>
          <p:spPr bwMode="auto">
            <a:xfrm>
              <a:off x="1897" y="817"/>
              <a:ext cx="226" cy="5"/>
            </a:xfrm>
            <a:custGeom>
              <a:avLst/>
              <a:gdLst>
                <a:gd name="T0" fmla="*/ 425 w 425"/>
                <a:gd name="T1" fmla="*/ 0 h 5"/>
                <a:gd name="T2" fmla="*/ 0 w 425"/>
                <a:gd name="T3" fmla="*/ 0 h 5"/>
                <a:gd name="T4" fmla="*/ 1 w 42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5" h="5">
                  <a:moveTo>
                    <a:pt x="425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5" name="Freeform 115"/>
            <p:cNvSpPr>
              <a:spLocks noChangeAspect="1" noChangeArrowheads="1"/>
            </p:cNvSpPr>
            <p:nvPr/>
          </p:nvSpPr>
          <p:spPr bwMode="auto">
            <a:xfrm>
              <a:off x="2123" y="3126"/>
              <a:ext cx="151" cy="49"/>
            </a:xfrm>
            <a:custGeom>
              <a:avLst/>
              <a:gdLst>
                <a:gd name="T0" fmla="*/ 0 w 283"/>
                <a:gd name="T1" fmla="*/ 0 h 95"/>
                <a:gd name="T2" fmla="*/ 283 w 283"/>
                <a:gd name="T3" fmla="*/ 48 h 95"/>
                <a:gd name="T4" fmla="*/ 0 w 283"/>
                <a:gd name="T5" fmla="*/ 95 h 95"/>
                <a:gd name="T6" fmla="*/ 0 w 283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3" h="95">
                  <a:moveTo>
                    <a:pt x="0" y="0"/>
                  </a:moveTo>
                  <a:lnTo>
                    <a:pt x="283" y="48"/>
                  </a:lnTo>
                  <a:lnTo>
                    <a:pt x="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FF00"/>
            </a:solidFill>
            <a:ln w="12700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6" name="Freeform 116"/>
            <p:cNvSpPr>
              <a:spLocks noChangeAspect="1" noChangeArrowheads="1"/>
            </p:cNvSpPr>
            <p:nvPr/>
          </p:nvSpPr>
          <p:spPr bwMode="auto">
            <a:xfrm>
              <a:off x="2123" y="3126"/>
              <a:ext cx="151" cy="49"/>
            </a:xfrm>
            <a:custGeom>
              <a:avLst/>
              <a:gdLst>
                <a:gd name="T0" fmla="*/ 0 w 283"/>
                <a:gd name="T1" fmla="*/ 0 h 95"/>
                <a:gd name="T2" fmla="*/ 283 w 283"/>
                <a:gd name="T3" fmla="*/ 48 h 95"/>
                <a:gd name="T4" fmla="*/ 0 w 283"/>
                <a:gd name="T5" fmla="*/ 95 h 95"/>
                <a:gd name="T6" fmla="*/ 0 w 283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3" h="95">
                  <a:moveTo>
                    <a:pt x="0" y="0"/>
                  </a:moveTo>
                  <a:lnTo>
                    <a:pt x="283" y="48"/>
                  </a:lnTo>
                  <a:lnTo>
                    <a:pt x="0" y="95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7" name="Freeform 117"/>
            <p:cNvSpPr>
              <a:spLocks noChangeAspect="1" noChangeArrowheads="1"/>
            </p:cNvSpPr>
            <p:nvPr/>
          </p:nvSpPr>
          <p:spPr bwMode="auto">
            <a:xfrm>
              <a:off x="1897" y="3153"/>
              <a:ext cx="226" cy="5"/>
            </a:xfrm>
            <a:custGeom>
              <a:avLst/>
              <a:gdLst>
                <a:gd name="T0" fmla="*/ 425 w 425"/>
                <a:gd name="T1" fmla="*/ 0 h 5"/>
                <a:gd name="T2" fmla="*/ 0 w 425"/>
                <a:gd name="T3" fmla="*/ 0 h 5"/>
                <a:gd name="T4" fmla="*/ 1 w 42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5" h="5">
                  <a:moveTo>
                    <a:pt x="425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27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8" name="Freeform 118"/>
            <p:cNvSpPr>
              <a:spLocks noChangeAspect="1" noChangeArrowheads="1"/>
            </p:cNvSpPr>
            <p:nvPr/>
          </p:nvSpPr>
          <p:spPr bwMode="auto">
            <a:xfrm>
              <a:off x="1649" y="704"/>
              <a:ext cx="119" cy="226"/>
            </a:xfrm>
            <a:custGeom>
              <a:avLst/>
              <a:gdLst>
                <a:gd name="T0" fmla="*/ 0 w 212"/>
                <a:gd name="T1" fmla="*/ 426 h 426"/>
                <a:gd name="T2" fmla="*/ 212 w 212"/>
                <a:gd name="T3" fmla="*/ 0 h 426"/>
                <a:gd name="T4" fmla="*/ 194 w 212"/>
                <a:gd name="T5" fmla="*/ 426 h 426"/>
                <a:gd name="T6" fmla="*/ 195 w 212"/>
                <a:gd name="T7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" h="426">
                  <a:moveTo>
                    <a:pt x="0" y="426"/>
                  </a:moveTo>
                  <a:lnTo>
                    <a:pt x="212" y="0"/>
                  </a:lnTo>
                  <a:lnTo>
                    <a:pt x="194" y="426"/>
                  </a:lnTo>
                  <a:lnTo>
                    <a:pt x="195" y="426"/>
                  </a:lnTo>
                </a:path>
              </a:pathLst>
            </a:custGeom>
            <a:noFill/>
            <a:ln w="127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9" name="Freeform 119"/>
            <p:cNvSpPr>
              <a:spLocks noChangeAspect="1" noChangeArrowheads="1"/>
            </p:cNvSpPr>
            <p:nvPr/>
          </p:nvSpPr>
          <p:spPr bwMode="auto">
            <a:xfrm>
              <a:off x="1692" y="855"/>
              <a:ext cx="65" cy="5"/>
            </a:xfrm>
            <a:custGeom>
              <a:avLst/>
              <a:gdLst>
                <a:gd name="T0" fmla="*/ 0 w 123"/>
                <a:gd name="T1" fmla="*/ 0 h 5"/>
                <a:gd name="T2" fmla="*/ 122 w 123"/>
                <a:gd name="T3" fmla="*/ 0 h 5"/>
                <a:gd name="T4" fmla="*/ 123 w 12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3" h="5">
                  <a:moveTo>
                    <a:pt x="0" y="0"/>
                  </a:moveTo>
                  <a:lnTo>
                    <a:pt x="122" y="0"/>
                  </a:lnTo>
                  <a:lnTo>
                    <a:pt x="123" y="0"/>
                  </a:lnTo>
                </a:path>
              </a:pathLst>
            </a:custGeom>
            <a:noFill/>
            <a:ln w="127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0" name="Freeform 120"/>
            <p:cNvSpPr>
              <a:spLocks noChangeAspect="1" noChangeArrowheads="1"/>
            </p:cNvSpPr>
            <p:nvPr/>
          </p:nvSpPr>
          <p:spPr bwMode="auto">
            <a:xfrm>
              <a:off x="1649" y="3035"/>
              <a:ext cx="119" cy="231"/>
            </a:xfrm>
            <a:custGeom>
              <a:avLst/>
              <a:gdLst>
                <a:gd name="T0" fmla="*/ 0 w 212"/>
                <a:gd name="T1" fmla="*/ 425 h 425"/>
                <a:gd name="T2" fmla="*/ 212 w 212"/>
                <a:gd name="T3" fmla="*/ 0 h 425"/>
                <a:gd name="T4" fmla="*/ 194 w 212"/>
                <a:gd name="T5" fmla="*/ 425 h 425"/>
                <a:gd name="T6" fmla="*/ 195 w 212"/>
                <a:gd name="T7" fmla="*/ 42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" h="425">
                  <a:moveTo>
                    <a:pt x="0" y="425"/>
                  </a:moveTo>
                  <a:lnTo>
                    <a:pt x="212" y="0"/>
                  </a:lnTo>
                  <a:lnTo>
                    <a:pt x="194" y="425"/>
                  </a:lnTo>
                  <a:lnTo>
                    <a:pt x="195" y="425"/>
                  </a:lnTo>
                </a:path>
              </a:pathLst>
            </a:custGeom>
            <a:noFill/>
            <a:ln w="127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1" name="Freeform 121"/>
            <p:cNvSpPr>
              <a:spLocks noChangeAspect="1" noChangeArrowheads="1"/>
            </p:cNvSpPr>
            <p:nvPr/>
          </p:nvSpPr>
          <p:spPr bwMode="auto">
            <a:xfrm>
              <a:off x="1692" y="3191"/>
              <a:ext cx="65" cy="5"/>
            </a:xfrm>
            <a:custGeom>
              <a:avLst/>
              <a:gdLst>
                <a:gd name="T0" fmla="*/ 0 w 123"/>
                <a:gd name="T1" fmla="*/ 0 h 5"/>
                <a:gd name="T2" fmla="*/ 122 w 123"/>
                <a:gd name="T3" fmla="*/ 0 h 5"/>
                <a:gd name="T4" fmla="*/ 123 w 12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3" h="5">
                  <a:moveTo>
                    <a:pt x="0" y="0"/>
                  </a:moveTo>
                  <a:lnTo>
                    <a:pt x="122" y="0"/>
                  </a:lnTo>
                  <a:lnTo>
                    <a:pt x="123" y="0"/>
                  </a:lnTo>
                </a:path>
              </a:pathLst>
            </a:custGeom>
            <a:noFill/>
            <a:ln w="127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2" name="Freeform 122"/>
            <p:cNvSpPr>
              <a:spLocks noChangeAspect="1" noChangeArrowheads="1"/>
            </p:cNvSpPr>
            <p:nvPr/>
          </p:nvSpPr>
          <p:spPr bwMode="auto">
            <a:xfrm>
              <a:off x="1897" y="2852"/>
              <a:ext cx="5" cy="301"/>
            </a:xfrm>
            <a:custGeom>
              <a:avLst/>
              <a:gdLst>
                <a:gd name="T0" fmla="*/ 0 w 1"/>
                <a:gd name="T1" fmla="*/ 0 h 554"/>
                <a:gd name="T2" fmla="*/ 0 w 1"/>
                <a:gd name="T3" fmla="*/ 554 h 554"/>
                <a:gd name="T4" fmla="*/ 1 w 1"/>
                <a:gd name="T5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54">
                  <a:moveTo>
                    <a:pt x="0" y="0"/>
                  </a:moveTo>
                  <a:lnTo>
                    <a:pt x="0" y="554"/>
                  </a:lnTo>
                  <a:lnTo>
                    <a:pt x="1" y="554"/>
                  </a:lnTo>
                </a:path>
              </a:pathLst>
            </a:custGeom>
            <a:noFill/>
            <a:ln w="762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123" name="Group 123"/>
          <p:cNvGrpSpPr>
            <a:grpSpLocks/>
          </p:cNvGrpSpPr>
          <p:nvPr/>
        </p:nvGrpSpPr>
        <p:grpSpPr bwMode="auto">
          <a:xfrm>
            <a:off x="9007475" y="1452563"/>
            <a:ext cx="1168400" cy="1185862"/>
            <a:chOff x="4834" y="1003"/>
            <a:chExt cx="736" cy="747"/>
          </a:xfrm>
        </p:grpSpPr>
        <p:grpSp>
          <p:nvGrpSpPr>
            <p:cNvPr id="124" name="Group 124"/>
            <p:cNvGrpSpPr>
              <a:grpSpLocks noChangeAspect="1"/>
            </p:cNvGrpSpPr>
            <p:nvPr/>
          </p:nvGrpSpPr>
          <p:grpSpPr bwMode="auto">
            <a:xfrm>
              <a:off x="4857" y="1064"/>
              <a:ext cx="626" cy="640"/>
              <a:chOff x="3376" y="2878"/>
              <a:chExt cx="782" cy="800"/>
            </a:xfrm>
          </p:grpSpPr>
          <p:sp>
            <p:nvSpPr>
              <p:cNvPr id="148" name="Freeform 125"/>
              <p:cNvSpPr>
                <a:spLocks noChangeAspect="1" noChangeArrowheads="1"/>
              </p:cNvSpPr>
              <p:nvPr/>
            </p:nvSpPr>
            <p:spPr bwMode="auto">
              <a:xfrm>
                <a:off x="3405" y="2885"/>
                <a:ext cx="232" cy="232"/>
              </a:xfrm>
              <a:custGeom>
                <a:avLst/>
                <a:gdLst>
                  <a:gd name="T0" fmla="*/ 0 w 639"/>
                  <a:gd name="T1" fmla="*/ 639 h 639"/>
                  <a:gd name="T2" fmla="*/ 638 w 639"/>
                  <a:gd name="T3" fmla="*/ 0 h 639"/>
                  <a:gd name="T4" fmla="*/ 639 w 639"/>
                  <a:gd name="T5" fmla="*/ 0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39" h="639">
                    <a:moveTo>
                      <a:pt x="0" y="639"/>
                    </a:moveTo>
                    <a:lnTo>
                      <a:pt x="638" y="0"/>
                    </a:lnTo>
                    <a:lnTo>
                      <a:pt x="639" y="0"/>
                    </a:lnTo>
                  </a:path>
                </a:pathLst>
              </a:custGeom>
              <a:noFill/>
              <a:ln w="12700">
                <a:solidFill>
                  <a:srgbClr val="33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9" name="Freeform 126"/>
              <p:cNvSpPr>
                <a:spLocks noChangeAspect="1" noChangeArrowheads="1"/>
              </p:cNvSpPr>
              <p:nvPr/>
            </p:nvSpPr>
            <p:spPr bwMode="auto">
              <a:xfrm>
                <a:off x="3376" y="2892"/>
                <a:ext cx="344" cy="344"/>
              </a:xfrm>
              <a:custGeom>
                <a:avLst/>
                <a:gdLst>
                  <a:gd name="T0" fmla="*/ 0 w 948"/>
                  <a:gd name="T1" fmla="*/ 948 h 948"/>
                  <a:gd name="T2" fmla="*/ 947 w 948"/>
                  <a:gd name="T3" fmla="*/ 0 h 948"/>
                  <a:gd name="T4" fmla="*/ 948 w 948"/>
                  <a:gd name="T5" fmla="*/ 0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48" h="948">
                    <a:moveTo>
                      <a:pt x="0" y="948"/>
                    </a:moveTo>
                    <a:lnTo>
                      <a:pt x="947" y="0"/>
                    </a:lnTo>
                    <a:lnTo>
                      <a:pt x="948" y="0"/>
                    </a:lnTo>
                  </a:path>
                </a:pathLst>
              </a:custGeom>
              <a:noFill/>
              <a:ln w="12700">
                <a:solidFill>
                  <a:srgbClr val="33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0" name="Freeform 127"/>
              <p:cNvSpPr>
                <a:spLocks noChangeAspect="1" noChangeArrowheads="1"/>
              </p:cNvSpPr>
              <p:nvPr/>
            </p:nvSpPr>
            <p:spPr bwMode="auto">
              <a:xfrm>
                <a:off x="3380" y="2921"/>
                <a:ext cx="401" cy="402"/>
              </a:xfrm>
              <a:custGeom>
                <a:avLst/>
                <a:gdLst>
                  <a:gd name="T0" fmla="*/ 0 w 1107"/>
                  <a:gd name="T1" fmla="*/ 1106 h 1106"/>
                  <a:gd name="T2" fmla="*/ 1106 w 1107"/>
                  <a:gd name="T3" fmla="*/ 0 h 1106"/>
                  <a:gd name="T4" fmla="*/ 1107 w 1107"/>
                  <a:gd name="T5" fmla="*/ 0 h 1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7" h="1106">
                    <a:moveTo>
                      <a:pt x="0" y="1106"/>
                    </a:moveTo>
                    <a:lnTo>
                      <a:pt x="1106" y="0"/>
                    </a:lnTo>
                    <a:lnTo>
                      <a:pt x="1107" y="0"/>
                    </a:lnTo>
                  </a:path>
                </a:pathLst>
              </a:custGeom>
              <a:noFill/>
              <a:ln w="12700">
                <a:solidFill>
                  <a:srgbClr val="33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1" name="Freeform 128"/>
              <p:cNvSpPr>
                <a:spLocks noChangeAspect="1" noChangeArrowheads="1"/>
              </p:cNvSpPr>
              <p:nvPr/>
            </p:nvSpPr>
            <p:spPr bwMode="auto">
              <a:xfrm>
                <a:off x="3398" y="2878"/>
                <a:ext cx="517" cy="518"/>
              </a:xfrm>
              <a:custGeom>
                <a:avLst/>
                <a:gdLst>
                  <a:gd name="T0" fmla="*/ 0 w 1434"/>
                  <a:gd name="T1" fmla="*/ 1434 h 1434"/>
                  <a:gd name="T2" fmla="*/ 1433 w 1434"/>
                  <a:gd name="T3" fmla="*/ 0 h 1434"/>
                  <a:gd name="T4" fmla="*/ 1434 w 1434"/>
                  <a:gd name="T5" fmla="*/ 0 h 1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34" h="1434">
                    <a:moveTo>
                      <a:pt x="0" y="1434"/>
                    </a:moveTo>
                    <a:lnTo>
                      <a:pt x="1433" y="0"/>
                    </a:lnTo>
                    <a:lnTo>
                      <a:pt x="1434" y="0"/>
                    </a:lnTo>
                  </a:path>
                </a:pathLst>
              </a:custGeom>
              <a:noFill/>
              <a:ln w="12700">
                <a:solidFill>
                  <a:srgbClr val="33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2" name="Freeform 129"/>
              <p:cNvSpPr>
                <a:spLocks noChangeAspect="1" noChangeArrowheads="1"/>
              </p:cNvSpPr>
              <p:nvPr/>
            </p:nvSpPr>
            <p:spPr bwMode="auto">
              <a:xfrm>
                <a:off x="3423" y="2907"/>
                <a:ext cx="558" cy="554"/>
              </a:xfrm>
              <a:custGeom>
                <a:avLst/>
                <a:gdLst>
                  <a:gd name="T0" fmla="*/ 0 w 1535"/>
                  <a:gd name="T1" fmla="*/ 1534 h 1534"/>
                  <a:gd name="T2" fmla="*/ 1534 w 1535"/>
                  <a:gd name="T3" fmla="*/ 0 h 1534"/>
                  <a:gd name="T4" fmla="*/ 1535 w 1535"/>
                  <a:gd name="T5" fmla="*/ 0 h 1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35" h="1534">
                    <a:moveTo>
                      <a:pt x="0" y="1534"/>
                    </a:moveTo>
                    <a:lnTo>
                      <a:pt x="1534" y="0"/>
                    </a:lnTo>
                    <a:lnTo>
                      <a:pt x="1535" y="0"/>
                    </a:lnTo>
                  </a:path>
                </a:pathLst>
              </a:custGeom>
              <a:noFill/>
              <a:ln w="12700">
                <a:solidFill>
                  <a:srgbClr val="33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3" name="Freeform 130"/>
              <p:cNvSpPr>
                <a:spLocks noChangeAspect="1" noChangeArrowheads="1"/>
              </p:cNvSpPr>
              <p:nvPr/>
            </p:nvSpPr>
            <p:spPr bwMode="auto">
              <a:xfrm>
                <a:off x="3459" y="2940"/>
                <a:ext cx="576" cy="575"/>
              </a:xfrm>
              <a:custGeom>
                <a:avLst/>
                <a:gdLst>
                  <a:gd name="T0" fmla="*/ 0 w 1590"/>
                  <a:gd name="T1" fmla="*/ 1589 h 1589"/>
                  <a:gd name="T2" fmla="*/ 1589 w 1590"/>
                  <a:gd name="T3" fmla="*/ 0 h 1589"/>
                  <a:gd name="T4" fmla="*/ 1590 w 1590"/>
                  <a:gd name="T5" fmla="*/ 0 h 1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90" h="1589">
                    <a:moveTo>
                      <a:pt x="0" y="1589"/>
                    </a:moveTo>
                    <a:lnTo>
                      <a:pt x="1589" y="0"/>
                    </a:lnTo>
                    <a:lnTo>
                      <a:pt x="1590" y="0"/>
                    </a:lnTo>
                  </a:path>
                </a:pathLst>
              </a:custGeom>
              <a:noFill/>
              <a:ln w="12700">
                <a:solidFill>
                  <a:srgbClr val="33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4" name="Freeform 131"/>
              <p:cNvSpPr>
                <a:spLocks noChangeAspect="1" noChangeArrowheads="1"/>
              </p:cNvSpPr>
              <p:nvPr/>
            </p:nvSpPr>
            <p:spPr bwMode="auto">
              <a:xfrm>
                <a:off x="3503" y="2983"/>
                <a:ext cx="579" cy="583"/>
              </a:xfrm>
              <a:custGeom>
                <a:avLst/>
                <a:gdLst>
                  <a:gd name="T0" fmla="*/ 0 w 1604"/>
                  <a:gd name="T1" fmla="*/ 1603 h 1603"/>
                  <a:gd name="T2" fmla="*/ 1603 w 1604"/>
                  <a:gd name="T3" fmla="*/ 0 h 1603"/>
                  <a:gd name="T4" fmla="*/ 1604 w 1604"/>
                  <a:gd name="T5" fmla="*/ 0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04" h="1603">
                    <a:moveTo>
                      <a:pt x="0" y="1603"/>
                    </a:moveTo>
                    <a:lnTo>
                      <a:pt x="1603" y="0"/>
                    </a:lnTo>
                    <a:lnTo>
                      <a:pt x="1604" y="0"/>
                    </a:lnTo>
                  </a:path>
                </a:pathLst>
              </a:custGeom>
              <a:noFill/>
              <a:ln w="12700">
                <a:solidFill>
                  <a:srgbClr val="33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5" name="Freeform 132"/>
              <p:cNvSpPr>
                <a:spLocks noChangeAspect="1" noChangeArrowheads="1"/>
              </p:cNvSpPr>
              <p:nvPr/>
            </p:nvSpPr>
            <p:spPr bwMode="auto">
              <a:xfrm>
                <a:off x="3553" y="3034"/>
                <a:ext cx="572" cy="572"/>
              </a:xfrm>
              <a:custGeom>
                <a:avLst/>
                <a:gdLst>
                  <a:gd name="T0" fmla="*/ 0 w 1579"/>
                  <a:gd name="T1" fmla="*/ 1579 h 1579"/>
                  <a:gd name="T2" fmla="*/ 1578 w 1579"/>
                  <a:gd name="T3" fmla="*/ 0 h 1579"/>
                  <a:gd name="T4" fmla="*/ 1579 w 1579"/>
                  <a:gd name="T5" fmla="*/ 0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79" h="1579">
                    <a:moveTo>
                      <a:pt x="0" y="1579"/>
                    </a:moveTo>
                    <a:lnTo>
                      <a:pt x="1578" y="0"/>
                    </a:lnTo>
                    <a:lnTo>
                      <a:pt x="1579" y="0"/>
                    </a:lnTo>
                  </a:path>
                </a:pathLst>
              </a:custGeom>
              <a:noFill/>
              <a:ln w="12700">
                <a:solidFill>
                  <a:srgbClr val="33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6" name="Freeform 133"/>
              <p:cNvSpPr>
                <a:spLocks noChangeAspect="1" noChangeArrowheads="1"/>
              </p:cNvSpPr>
              <p:nvPr/>
            </p:nvSpPr>
            <p:spPr bwMode="auto">
              <a:xfrm>
                <a:off x="3608" y="3153"/>
                <a:ext cx="488" cy="485"/>
              </a:xfrm>
              <a:custGeom>
                <a:avLst/>
                <a:gdLst>
                  <a:gd name="T0" fmla="*/ 0 w 1341"/>
                  <a:gd name="T1" fmla="*/ 1340 h 1340"/>
                  <a:gd name="T2" fmla="*/ 1340 w 1341"/>
                  <a:gd name="T3" fmla="*/ 0 h 1340"/>
                  <a:gd name="T4" fmla="*/ 1341 w 1341"/>
                  <a:gd name="T5" fmla="*/ 0 h 1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41" h="1340">
                    <a:moveTo>
                      <a:pt x="0" y="1340"/>
                    </a:moveTo>
                    <a:lnTo>
                      <a:pt x="1340" y="0"/>
                    </a:lnTo>
                    <a:lnTo>
                      <a:pt x="1341" y="0"/>
                    </a:lnTo>
                  </a:path>
                </a:pathLst>
              </a:custGeom>
              <a:noFill/>
              <a:ln w="12700">
                <a:solidFill>
                  <a:srgbClr val="33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7" name="Freeform 134"/>
              <p:cNvSpPr>
                <a:spLocks noChangeAspect="1" noChangeArrowheads="1"/>
              </p:cNvSpPr>
              <p:nvPr/>
            </p:nvSpPr>
            <p:spPr bwMode="auto">
              <a:xfrm>
                <a:off x="4107" y="3092"/>
                <a:ext cx="51" cy="47"/>
              </a:xfrm>
              <a:custGeom>
                <a:avLst/>
                <a:gdLst>
                  <a:gd name="T0" fmla="*/ 0 w 137"/>
                  <a:gd name="T1" fmla="*/ 135 h 135"/>
                  <a:gd name="T2" fmla="*/ 135 w 137"/>
                  <a:gd name="T3" fmla="*/ 0 h 135"/>
                  <a:gd name="T4" fmla="*/ 137 w 137"/>
                  <a:gd name="T5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7" h="135">
                    <a:moveTo>
                      <a:pt x="0" y="135"/>
                    </a:moveTo>
                    <a:lnTo>
                      <a:pt x="135" y="0"/>
                    </a:lnTo>
                    <a:lnTo>
                      <a:pt x="137" y="0"/>
                    </a:lnTo>
                  </a:path>
                </a:pathLst>
              </a:custGeom>
              <a:noFill/>
              <a:ln w="12700">
                <a:solidFill>
                  <a:srgbClr val="33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8" name="Freeform 135"/>
              <p:cNvSpPr>
                <a:spLocks noChangeAspect="1" noChangeArrowheads="1"/>
              </p:cNvSpPr>
              <p:nvPr/>
            </p:nvSpPr>
            <p:spPr bwMode="auto">
              <a:xfrm>
                <a:off x="3676" y="3244"/>
                <a:ext cx="420" cy="420"/>
              </a:xfrm>
              <a:custGeom>
                <a:avLst/>
                <a:gdLst>
                  <a:gd name="T0" fmla="*/ 0 w 1159"/>
                  <a:gd name="T1" fmla="*/ 1158 h 1158"/>
                  <a:gd name="T2" fmla="*/ 1158 w 1159"/>
                  <a:gd name="T3" fmla="*/ 0 h 1158"/>
                  <a:gd name="T4" fmla="*/ 1159 w 1159"/>
                  <a:gd name="T5" fmla="*/ 0 h 1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59" h="1158">
                    <a:moveTo>
                      <a:pt x="0" y="1158"/>
                    </a:moveTo>
                    <a:lnTo>
                      <a:pt x="1158" y="0"/>
                    </a:lnTo>
                    <a:lnTo>
                      <a:pt x="1159" y="0"/>
                    </a:lnTo>
                  </a:path>
                </a:pathLst>
              </a:custGeom>
              <a:noFill/>
              <a:ln w="12700">
                <a:solidFill>
                  <a:srgbClr val="33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9" name="Freeform 136"/>
              <p:cNvSpPr>
                <a:spLocks noChangeAspect="1" noChangeArrowheads="1"/>
              </p:cNvSpPr>
              <p:nvPr/>
            </p:nvSpPr>
            <p:spPr bwMode="auto">
              <a:xfrm>
                <a:off x="3753" y="3334"/>
                <a:ext cx="343" cy="344"/>
              </a:xfrm>
              <a:custGeom>
                <a:avLst/>
                <a:gdLst>
                  <a:gd name="T0" fmla="*/ 0 w 946"/>
                  <a:gd name="T1" fmla="*/ 946 h 946"/>
                  <a:gd name="T2" fmla="*/ 945 w 946"/>
                  <a:gd name="T3" fmla="*/ 0 h 946"/>
                  <a:gd name="T4" fmla="*/ 946 w 946"/>
                  <a:gd name="T5" fmla="*/ 0 h 9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46" h="946">
                    <a:moveTo>
                      <a:pt x="0" y="946"/>
                    </a:moveTo>
                    <a:lnTo>
                      <a:pt x="945" y="0"/>
                    </a:lnTo>
                    <a:lnTo>
                      <a:pt x="946" y="0"/>
                    </a:lnTo>
                  </a:path>
                </a:pathLst>
              </a:custGeom>
              <a:noFill/>
              <a:ln w="12700">
                <a:solidFill>
                  <a:srgbClr val="33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0" name="Freeform 137"/>
              <p:cNvSpPr>
                <a:spLocks noChangeAspect="1" noChangeArrowheads="1"/>
              </p:cNvSpPr>
              <p:nvPr/>
            </p:nvSpPr>
            <p:spPr bwMode="auto">
              <a:xfrm>
                <a:off x="3847" y="3396"/>
                <a:ext cx="278" cy="278"/>
              </a:xfrm>
              <a:custGeom>
                <a:avLst/>
                <a:gdLst>
                  <a:gd name="T0" fmla="*/ 0 w 769"/>
                  <a:gd name="T1" fmla="*/ 767 h 767"/>
                  <a:gd name="T2" fmla="*/ 768 w 769"/>
                  <a:gd name="T3" fmla="*/ 0 h 767"/>
                  <a:gd name="T4" fmla="*/ 769 w 769"/>
                  <a:gd name="T5" fmla="*/ 0 h 7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69" h="767">
                    <a:moveTo>
                      <a:pt x="0" y="767"/>
                    </a:moveTo>
                    <a:lnTo>
                      <a:pt x="768" y="0"/>
                    </a:lnTo>
                    <a:lnTo>
                      <a:pt x="769" y="0"/>
                    </a:lnTo>
                  </a:path>
                </a:pathLst>
              </a:custGeom>
              <a:noFill/>
              <a:ln w="12700">
                <a:solidFill>
                  <a:srgbClr val="33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1" name="Freeform 138"/>
              <p:cNvSpPr>
                <a:spLocks noChangeAspect="1" noChangeArrowheads="1"/>
              </p:cNvSpPr>
              <p:nvPr/>
            </p:nvSpPr>
            <p:spPr bwMode="auto">
              <a:xfrm>
                <a:off x="3981" y="3461"/>
                <a:ext cx="166" cy="170"/>
              </a:xfrm>
              <a:custGeom>
                <a:avLst/>
                <a:gdLst>
                  <a:gd name="T0" fmla="*/ 0 w 463"/>
                  <a:gd name="T1" fmla="*/ 461 h 461"/>
                  <a:gd name="T2" fmla="*/ 462 w 463"/>
                  <a:gd name="T3" fmla="*/ 0 h 461"/>
                  <a:gd name="T4" fmla="*/ 463 w 463"/>
                  <a:gd name="T5" fmla="*/ 0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3" h="461">
                    <a:moveTo>
                      <a:pt x="0" y="461"/>
                    </a:moveTo>
                    <a:lnTo>
                      <a:pt x="462" y="0"/>
                    </a:lnTo>
                    <a:lnTo>
                      <a:pt x="463" y="0"/>
                    </a:lnTo>
                  </a:path>
                </a:pathLst>
              </a:custGeom>
              <a:noFill/>
              <a:ln w="12700">
                <a:solidFill>
                  <a:srgbClr val="33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25" name="Group 139"/>
            <p:cNvGrpSpPr>
              <a:grpSpLocks noChangeAspect="1"/>
            </p:cNvGrpSpPr>
            <p:nvPr/>
          </p:nvGrpSpPr>
          <p:grpSpPr bwMode="auto">
            <a:xfrm>
              <a:off x="4834" y="1003"/>
              <a:ext cx="736" cy="747"/>
              <a:chOff x="3347" y="2802"/>
              <a:chExt cx="920" cy="933"/>
            </a:xfrm>
          </p:grpSpPr>
          <p:grpSp>
            <p:nvGrpSpPr>
              <p:cNvPr id="126" name="Group 140"/>
              <p:cNvGrpSpPr>
                <a:grpSpLocks noChangeAspect="1"/>
              </p:cNvGrpSpPr>
              <p:nvPr/>
            </p:nvGrpSpPr>
            <p:grpSpPr bwMode="auto">
              <a:xfrm>
                <a:off x="3383" y="2856"/>
                <a:ext cx="794" cy="818"/>
                <a:chOff x="3383" y="2856"/>
                <a:chExt cx="794" cy="818"/>
              </a:xfrm>
            </p:grpSpPr>
            <p:sp>
              <p:nvSpPr>
                <p:cNvPr id="140" name="Freeform 141"/>
                <p:cNvSpPr>
                  <a:spLocks noChangeAspect="1" noChangeArrowheads="1"/>
                </p:cNvSpPr>
                <p:nvPr/>
              </p:nvSpPr>
              <p:spPr bwMode="auto">
                <a:xfrm>
                  <a:off x="3684" y="2856"/>
                  <a:ext cx="105" cy="15"/>
                </a:xfrm>
                <a:custGeom>
                  <a:avLst/>
                  <a:gdLst>
                    <a:gd name="T0" fmla="*/ 0 w 289"/>
                    <a:gd name="T1" fmla="*/ 38 h 38"/>
                    <a:gd name="T2" fmla="*/ 3 w 289"/>
                    <a:gd name="T3" fmla="*/ 36 h 38"/>
                    <a:gd name="T4" fmla="*/ 18 w 289"/>
                    <a:gd name="T5" fmla="*/ 33 h 38"/>
                    <a:gd name="T6" fmla="*/ 41 w 289"/>
                    <a:gd name="T7" fmla="*/ 27 h 38"/>
                    <a:gd name="T8" fmla="*/ 72 w 289"/>
                    <a:gd name="T9" fmla="*/ 21 h 38"/>
                    <a:gd name="T10" fmla="*/ 114 w 289"/>
                    <a:gd name="T11" fmla="*/ 13 h 38"/>
                    <a:gd name="T12" fmla="*/ 167 w 289"/>
                    <a:gd name="T13" fmla="*/ 7 h 38"/>
                    <a:gd name="T14" fmla="*/ 226 w 289"/>
                    <a:gd name="T15" fmla="*/ 2 h 38"/>
                    <a:gd name="T16" fmla="*/ 288 w 289"/>
                    <a:gd name="T17" fmla="*/ 0 h 38"/>
                    <a:gd name="T18" fmla="*/ 289 w 289"/>
                    <a:gd name="T19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9" h="38">
                      <a:moveTo>
                        <a:pt x="0" y="38"/>
                      </a:moveTo>
                      <a:lnTo>
                        <a:pt x="3" y="36"/>
                      </a:lnTo>
                      <a:lnTo>
                        <a:pt x="18" y="33"/>
                      </a:lnTo>
                      <a:lnTo>
                        <a:pt x="41" y="27"/>
                      </a:lnTo>
                      <a:lnTo>
                        <a:pt x="72" y="21"/>
                      </a:lnTo>
                      <a:lnTo>
                        <a:pt x="114" y="13"/>
                      </a:lnTo>
                      <a:lnTo>
                        <a:pt x="167" y="7"/>
                      </a:lnTo>
                      <a:lnTo>
                        <a:pt x="226" y="2"/>
                      </a:lnTo>
                      <a:lnTo>
                        <a:pt x="288" y="0"/>
                      </a:lnTo>
                      <a:lnTo>
                        <a:pt x="289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1" name="Freeform 142"/>
                <p:cNvSpPr>
                  <a:spLocks noChangeAspect="1" noChangeArrowheads="1"/>
                </p:cNvSpPr>
                <p:nvPr/>
              </p:nvSpPr>
              <p:spPr bwMode="auto">
                <a:xfrm>
                  <a:off x="3786" y="2856"/>
                  <a:ext cx="105" cy="15"/>
                </a:xfrm>
                <a:custGeom>
                  <a:avLst/>
                  <a:gdLst>
                    <a:gd name="T0" fmla="*/ 0 w 289"/>
                    <a:gd name="T1" fmla="*/ 0 h 38"/>
                    <a:gd name="T2" fmla="*/ 63 w 289"/>
                    <a:gd name="T3" fmla="*/ 2 h 38"/>
                    <a:gd name="T4" fmla="*/ 122 w 289"/>
                    <a:gd name="T5" fmla="*/ 7 h 38"/>
                    <a:gd name="T6" fmla="*/ 174 w 289"/>
                    <a:gd name="T7" fmla="*/ 13 h 38"/>
                    <a:gd name="T8" fmla="*/ 217 w 289"/>
                    <a:gd name="T9" fmla="*/ 21 h 38"/>
                    <a:gd name="T10" fmla="*/ 248 w 289"/>
                    <a:gd name="T11" fmla="*/ 27 h 38"/>
                    <a:gd name="T12" fmla="*/ 272 w 289"/>
                    <a:gd name="T13" fmla="*/ 33 h 38"/>
                    <a:gd name="T14" fmla="*/ 285 w 289"/>
                    <a:gd name="T15" fmla="*/ 36 h 38"/>
                    <a:gd name="T16" fmla="*/ 288 w 289"/>
                    <a:gd name="T17" fmla="*/ 38 h 38"/>
                    <a:gd name="T18" fmla="*/ 289 w 289"/>
                    <a:gd name="T19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9" h="38">
                      <a:moveTo>
                        <a:pt x="0" y="0"/>
                      </a:moveTo>
                      <a:lnTo>
                        <a:pt x="63" y="2"/>
                      </a:lnTo>
                      <a:lnTo>
                        <a:pt x="122" y="7"/>
                      </a:lnTo>
                      <a:lnTo>
                        <a:pt x="174" y="13"/>
                      </a:lnTo>
                      <a:lnTo>
                        <a:pt x="217" y="21"/>
                      </a:lnTo>
                      <a:lnTo>
                        <a:pt x="248" y="27"/>
                      </a:lnTo>
                      <a:lnTo>
                        <a:pt x="272" y="33"/>
                      </a:lnTo>
                      <a:lnTo>
                        <a:pt x="285" y="36"/>
                      </a:lnTo>
                      <a:lnTo>
                        <a:pt x="288" y="38"/>
                      </a:lnTo>
                      <a:lnTo>
                        <a:pt x="289" y="38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2" name="Freeform 143"/>
                <p:cNvSpPr>
                  <a:spLocks noChangeAspect="1" noChangeArrowheads="1"/>
                </p:cNvSpPr>
                <p:nvPr/>
              </p:nvSpPr>
              <p:spPr bwMode="auto">
                <a:xfrm>
                  <a:off x="3891" y="2871"/>
                  <a:ext cx="286" cy="267"/>
                </a:xfrm>
                <a:custGeom>
                  <a:avLst/>
                  <a:gdLst>
                    <a:gd name="T0" fmla="*/ 789 w 789"/>
                    <a:gd name="T1" fmla="*/ 742 h 742"/>
                    <a:gd name="T2" fmla="*/ 615 w 789"/>
                    <a:gd name="T3" fmla="*/ 410 h 742"/>
                    <a:gd name="T4" fmla="*/ 342 w 789"/>
                    <a:gd name="T5" fmla="*/ 153 h 742"/>
                    <a:gd name="T6" fmla="*/ 0 w 789"/>
                    <a:gd name="T7" fmla="*/ 0 h 742"/>
                    <a:gd name="T8" fmla="*/ 1 w 789"/>
                    <a:gd name="T9" fmla="*/ 0 h 7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9" h="742">
                      <a:moveTo>
                        <a:pt x="789" y="742"/>
                      </a:moveTo>
                      <a:lnTo>
                        <a:pt x="615" y="410"/>
                      </a:lnTo>
                      <a:lnTo>
                        <a:pt x="342" y="153"/>
                      </a:ln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3" name="Freeform 144"/>
                <p:cNvSpPr>
                  <a:spLocks noChangeAspect="1" noChangeArrowheads="1"/>
                </p:cNvSpPr>
                <p:nvPr/>
              </p:nvSpPr>
              <p:spPr bwMode="auto">
                <a:xfrm>
                  <a:off x="4094" y="3138"/>
                  <a:ext cx="83" cy="4"/>
                </a:xfrm>
                <a:custGeom>
                  <a:avLst/>
                  <a:gdLst>
                    <a:gd name="T0" fmla="*/ 226 w 226"/>
                    <a:gd name="T1" fmla="*/ 0 h 4"/>
                    <a:gd name="T2" fmla="*/ 0 w 226"/>
                    <a:gd name="T3" fmla="*/ 0 h 4"/>
                    <a:gd name="T4" fmla="*/ 1 w 226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26" h="4">
                      <a:moveTo>
                        <a:pt x="22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4" name="Freeform 145"/>
                <p:cNvSpPr>
                  <a:spLocks noChangeAspect="1" noChangeArrowheads="1"/>
                </p:cNvSpPr>
                <p:nvPr/>
              </p:nvSpPr>
              <p:spPr bwMode="auto">
                <a:xfrm>
                  <a:off x="4094" y="3138"/>
                  <a:ext cx="3" cy="257"/>
                </a:xfrm>
                <a:custGeom>
                  <a:avLst/>
                  <a:gdLst>
                    <a:gd name="T0" fmla="*/ 0 w 1"/>
                    <a:gd name="T1" fmla="*/ 0 h 709"/>
                    <a:gd name="T2" fmla="*/ 0 w 1"/>
                    <a:gd name="T3" fmla="*/ 709 h 709"/>
                    <a:gd name="T4" fmla="*/ 1 w 1"/>
                    <a:gd name="T5" fmla="*/ 709 h 7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709">
                      <a:moveTo>
                        <a:pt x="0" y="0"/>
                      </a:moveTo>
                      <a:lnTo>
                        <a:pt x="0" y="709"/>
                      </a:lnTo>
                      <a:lnTo>
                        <a:pt x="1" y="709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5" name="Freeform 146"/>
                <p:cNvSpPr>
                  <a:spLocks noChangeAspect="1" noChangeArrowheads="1"/>
                </p:cNvSpPr>
                <p:nvPr/>
              </p:nvSpPr>
              <p:spPr bwMode="auto">
                <a:xfrm>
                  <a:off x="4094" y="3395"/>
                  <a:ext cx="83" cy="4"/>
                </a:xfrm>
                <a:custGeom>
                  <a:avLst/>
                  <a:gdLst>
                    <a:gd name="T0" fmla="*/ 0 w 227"/>
                    <a:gd name="T1" fmla="*/ 0 h 4"/>
                    <a:gd name="T2" fmla="*/ 226 w 227"/>
                    <a:gd name="T3" fmla="*/ 0 h 4"/>
                    <a:gd name="T4" fmla="*/ 227 w 227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27" h="4">
                      <a:moveTo>
                        <a:pt x="0" y="0"/>
                      </a:moveTo>
                      <a:lnTo>
                        <a:pt x="226" y="0"/>
                      </a:lnTo>
                      <a:lnTo>
                        <a:pt x="227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6" name="Freeform 147"/>
                <p:cNvSpPr>
                  <a:spLocks noChangeAspect="1" noChangeArrowheads="1"/>
                </p:cNvSpPr>
                <p:nvPr/>
              </p:nvSpPr>
              <p:spPr bwMode="auto">
                <a:xfrm>
                  <a:off x="3383" y="2871"/>
                  <a:ext cx="794" cy="803"/>
                </a:xfrm>
                <a:custGeom>
                  <a:avLst/>
                  <a:gdLst>
                    <a:gd name="T0" fmla="*/ 826 w 2192"/>
                    <a:gd name="T1" fmla="*/ 0 h 2222"/>
                    <a:gd name="T2" fmla="*/ 444 w 2192"/>
                    <a:gd name="T3" fmla="*/ 182 h 2222"/>
                    <a:gd name="T4" fmla="*/ 155 w 2192"/>
                    <a:gd name="T5" fmla="*/ 492 h 2222"/>
                    <a:gd name="T6" fmla="*/ 0 w 2192"/>
                    <a:gd name="T7" fmla="*/ 887 h 2222"/>
                    <a:gd name="T8" fmla="*/ 1 w 2192"/>
                    <a:gd name="T9" fmla="*/ 1311 h 2222"/>
                    <a:gd name="T10" fmla="*/ 158 w 2192"/>
                    <a:gd name="T11" fmla="*/ 1705 h 2222"/>
                    <a:gd name="T12" fmla="*/ 449 w 2192"/>
                    <a:gd name="T13" fmla="*/ 2014 h 2222"/>
                    <a:gd name="T14" fmla="*/ 832 w 2192"/>
                    <a:gd name="T15" fmla="*/ 2195 h 2222"/>
                    <a:gd name="T16" fmla="*/ 1256 w 2192"/>
                    <a:gd name="T17" fmla="*/ 2222 h 2222"/>
                    <a:gd name="T18" fmla="*/ 1658 w 2192"/>
                    <a:gd name="T19" fmla="*/ 2091 h 2222"/>
                    <a:gd name="T20" fmla="*/ 1986 w 2192"/>
                    <a:gd name="T21" fmla="*/ 1822 h 2222"/>
                    <a:gd name="T22" fmla="*/ 2191 w 2192"/>
                    <a:gd name="T23" fmla="*/ 1451 h 2222"/>
                    <a:gd name="T24" fmla="*/ 2192 w 2192"/>
                    <a:gd name="T25" fmla="*/ 1451 h 2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192" h="2222">
                      <a:moveTo>
                        <a:pt x="826" y="0"/>
                      </a:moveTo>
                      <a:lnTo>
                        <a:pt x="444" y="182"/>
                      </a:lnTo>
                      <a:lnTo>
                        <a:pt x="155" y="492"/>
                      </a:lnTo>
                      <a:lnTo>
                        <a:pt x="0" y="887"/>
                      </a:lnTo>
                      <a:lnTo>
                        <a:pt x="1" y="1311"/>
                      </a:lnTo>
                      <a:lnTo>
                        <a:pt x="158" y="1705"/>
                      </a:lnTo>
                      <a:lnTo>
                        <a:pt x="449" y="2014"/>
                      </a:lnTo>
                      <a:lnTo>
                        <a:pt x="832" y="2195"/>
                      </a:lnTo>
                      <a:lnTo>
                        <a:pt x="1256" y="2222"/>
                      </a:lnTo>
                      <a:lnTo>
                        <a:pt x="1658" y="2091"/>
                      </a:lnTo>
                      <a:lnTo>
                        <a:pt x="1986" y="1822"/>
                      </a:lnTo>
                      <a:lnTo>
                        <a:pt x="2191" y="1451"/>
                      </a:lnTo>
                      <a:lnTo>
                        <a:pt x="2192" y="1451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7" name="Freeform 148"/>
                <p:cNvSpPr>
                  <a:spLocks noChangeAspect="1" noChangeArrowheads="1"/>
                </p:cNvSpPr>
                <p:nvPr/>
              </p:nvSpPr>
              <p:spPr bwMode="auto">
                <a:xfrm>
                  <a:off x="3684" y="2871"/>
                  <a:ext cx="207" cy="54"/>
                </a:xfrm>
                <a:custGeom>
                  <a:avLst/>
                  <a:gdLst>
                    <a:gd name="T0" fmla="*/ 0 w 577"/>
                    <a:gd name="T1" fmla="*/ 0 h 146"/>
                    <a:gd name="T2" fmla="*/ 87 w 577"/>
                    <a:gd name="T3" fmla="*/ 48 h 146"/>
                    <a:gd name="T4" fmla="*/ 135 w 577"/>
                    <a:gd name="T5" fmla="*/ 76 h 146"/>
                    <a:gd name="T6" fmla="*/ 188 w 577"/>
                    <a:gd name="T7" fmla="*/ 105 h 146"/>
                    <a:gd name="T8" fmla="*/ 235 w 577"/>
                    <a:gd name="T9" fmla="*/ 130 h 146"/>
                    <a:gd name="T10" fmla="*/ 288 w 577"/>
                    <a:gd name="T11" fmla="*/ 146 h 146"/>
                    <a:gd name="T12" fmla="*/ 342 w 577"/>
                    <a:gd name="T13" fmla="*/ 130 h 146"/>
                    <a:gd name="T14" fmla="*/ 389 w 577"/>
                    <a:gd name="T15" fmla="*/ 105 h 146"/>
                    <a:gd name="T16" fmla="*/ 442 w 577"/>
                    <a:gd name="T17" fmla="*/ 76 h 146"/>
                    <a:gd name="T18" fmla="*/ 491 w 577"/>
                    <a:gd name="T19" fmla="*/ 48 h 146"/>
                    <a:gd name="T20" fmla="*/ 576 w 577"/>
                    <a:gd name="T21" fmla="*/ 0 h 146"/>
                    <a:gd name="T22" fmla="*/ 577 w 577"/>
                    <a:gd name="T23" fmla="*/ 0 h 1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77" h="146">
                      <a:moveTo>
                        <a:pt x="0" y="0"/>
                      </a:moveTo>
                      <a:lnTo>
                        <a:pt x="87" y="48"/>
                      </a:lnTo>
                      <a:lnTo>
                        <a:pt x="135" y="76"/>
                      </a:lnTo>
                      <a:lnTo>
                        <a:pt x="188" y="105"/>
                      </a:lnTo>
                      <a:lnTo>
                        <a:pt x="235" y="130"/>
                      </a:lnTo>
                      <a:lnTo>
                        <a:pt x="288" y="146"/>
                      </a:lnTo>
                      <a:lnTo>
                        <a:pt x="342" y="130"/>
                      </a:lnTo>
                      <a:lnTo>
                        <a:pt x="389" y="105"/>
                      </a:lnTo>
                      <a:lnTo>
                        <a:pt x="442" y="76"/>
                      </a:lnTo>
                      <a:lnTo>
                        <a:pt x="491" y="48"/>
                      </a:lnTo>
                      <a:lnTo>
                        <a:pt x="576" y="0"/>
                      </a:lnTo>
                      <a:lnTo>
                        <a:pt x="577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127" name="Group 149"/>
              <p:cNvGrpSpPr>
                <a:grpSpLocks noChangeAspect="1"/>
              </p:cNvGrpSpPr>
              <p:nvPr/>
            </p:nvGrpSpPr>
            <p:grpSpPr bwMode="auto">
              <a:xfrm>
                <a:off x="3347" y="2802"/>
                <a:ext cx="920" cy="933"/>
                <a:chOff x="3347" y="2802"/>
                <a:chExt cx="920" cy="933"/>
              </a:xfrm>
            </p:grpSpPr>
            <p:sp>
              <p:nvSpPr>
                <p:cNvPr id="128" name="Freeform 150"/>
                <p:cNvSpPr>
                  <a:spLocks noChangeAspect="1" noChangeArrowheads="1"/>
                </p:cNvSpPr>
                <p:nvPr/>
              </p:nvSpPr>
              <p:spPr bwMode="auto">
                <a:xfrm>
                  <a:off x="3347" y="3269"/>
                  <a:ext cx="246" cy="3"/>
                </a:xfrm>
                <a:custGeom>
                  <a:avLst/>
                  <a:gdLst>
                    <a:gd name="T0" fmla="*/ 0 w 684"/>
                    <a:gd name="T1" fmla="*/ 0 h 3"/>
                    <a:gd name="T2" fmla="*/ 683 w 684"/>
                    <a:gd name="T3" fmla="*/ 0 h 3"/>
                    <a:gd name="T4" fmla="*/ 684 w 684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84" h="3">
                      <a:moveTo>
                        <a:pt x="0" y="0"/>
                      </a:moveTo>
                      <a:lnTo>
                        <a:pt x="683" y="0"/>
                      </a:lnTo>
                      <a:lnTo>
                        <a:pt x="684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29" name="Freeform 151"/>
                <p:cNvSpPr>
                  <a:spLocks noChangeAspect="1" noChangeArrowheads="1"/>
                </p:cNvSpPr>
                <p:nvPr/>
              </p:nvSpPr>
              <p:spPr bwMode="auto">
                <a:xfrm>
                  <a:off x="3633" y="3269"/>
                  <a:ext cx="40" cy="3"/>
                </a:xfrm>
                <a:custGeom>
                  <a:avLst/>
                  <a:gdLst>
                    <a:gd name="T0" fmla="*/ 0 w 108"/>
                    <a:gd name="T1" fmla="*/ 0 h 3"/>
                    <a:gd name="T2" fmla="*/ 107 w 108"/>
                    <a:gd name="T3" fmla="*/ 0 h 3"/>
                    <a:gd name="T4" fmla="*/ 108 w 108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8" h="3">
                      <a:moveTo>
                        <a:pt x="0" y="0"/>
                      </a:moveTo>
                      <a:lnTo>
                        <a:pt x="107" y="0"/>
                      </a:lnTo>
                      <a:lnTo>
                        <a:pt x="108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30" name="Freeform 152"/>
                <p:cNvSpPr>
                  <a:spLocks noChangeAspect="1" noChangeArrowheads="1"/>
                </p:cNvSpPr>
                <p:nvPr/>
              </p:nvSpPr>
              <p:spPr bwMode="auto">
                <a:xfrm>
                  <a:off x="3709" y="3269"/>
                  <a:ext cx="192" cy="3"/>
                </a:xfrm>
                <a:custGeom>
                  <a:avLst/>
                  <a:gdLst>
                    <a:gd name="T0" fmla="*/ 0 w 533"/>
                    <a:gd name="T1" fmla="*/ 0 h 3"/>
                    <a:gd name="T2" fmla="*/ 532 w 533"/>
                    <a:gd name="T3" fmla="*/ 0 h 3"/>
                    <a:gd name="T4" fmla="*/ 533 w 533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33" h="3">
                      <a:moveTo>
                        <a:pt x="0" y="0"/>
                      </a:moveTo>
                      <a:lnTo>
                        <a:pt x="532" y="0"/>
                      </a:lnTo>
                      <a:lnTo>
                        <a:pt x="533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31" name="Freeform 153"/>
                <p:cNvSpPr>
                  <a:spLocks noChangeAspect="1" noChangeArrowheads="1"/>
                </p:cNvSpPr>
                <p:nvPr/>
              </p:nvSpPr>
              <p:spPr bwMode="auto">
                <a:xfrm>
                  <a:off x="3941" y="3269"/>
                  <a:ext cx="40" cy="3"/>
                </a:xfrm>
                <a:custGeom>
                  <a:avLst/>
                  <a:gdLst>
                    <a:gd name="T0" fmla="*/ 0 w 108"/>
                    <a:gd name="T1" fmla="*/ 0 h 3"/>
                    <a:gd name="T2" fmla="*/ 107 w 108"/>
                    <a:gd name="T3" fmla="*/ 0 h 3"/>
                    <a:gd name="T4" fmla="*/ 108 w 108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8" h="3">
                      <a:moveTo>
                        <a:pt x="0" y="0"/>
                      </a:moveTo>
                      <a:lnTo>
                        <a:pt x="107" y="0"/>
                      </a:lnTo>
                      <a:lnTo>
                        <a:pt x="108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32" name="Freeform 154"/>
                <p:cNvSpPr>
                  <a:spLocks noChangeAspect="1" noChangeArrowheads="1"/>
                </p:cNvSpPr>
                <p:nvPr/>
              </p:nvSpPr>
              <p:spPr bwMode="auto">
                <a:xfrm>
                  <a:off x="4017" y="3269"/>
                  <a:ext cx="250" cy="3"/>
                </a:xfrm>
                <a:custGeom>
                  <a:avLst/>
                  <a:gdLst>
                    <a:gd name="T0" fmla="*/ 0 w 685"/>
                    <a:gd name="T1" fmla="*/ 0 h 3"/>
                    <a:gd name="T2" fmla="*/ 684 w 685"/>
                    <a:gd name="T3" fmla="*/ 0 h 3"/>
                    <a:gd name="T4" fmla="*/ 685 w 685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85" h="3">
                      <a:moveTo>
                        <a:pt x="0" y="0"/>
                      </a:moveTo>
                      <a:lnTo>
                        <a:pt x="684" y="0"/>
                      </a:lnTo>
                      <a:lnTo>
                        <a:pt x="685" y="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33" name="Freeform 155"/>
                <p:cNvSpPr>
                  <a:spLocks noChangeAspect="1" noChangeArrowheads="1"/>
                </p:cNvSpPr>
                <p:nvPr/>
              </p:nvSpPr>
              <p:spPr bwMode="auto">
                <a:xfrm>
                  <a:off x="3785" y="2802"/>
                  <a:ext cx="4" cy="101"/>
                </a:xfrm>
                <a:custGeom>
                  <a:avLst/>
                  <a:gdLst>
                    <a:gd name="T0" fmla="*/ 0 w 1"/>
                    <a:gd name="T1" fmla="*/ 0 h 281"/>
                    <a:gd name="T2" fmla="*/ 0 w 1"/>
                    <a:gd name="T3" fmla="*/ 281 h 281"/>
                    <a:gd name="T4" fmla="*/ 1 w 1"/>
                    <a:gd name="T5" fmla="*/ 281 h 2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81">
                      <a:moveTo>
                        <a:pt x="0" y="0"/>
                      </a:moveTo>
                      <a:lnTo>
                        <a:pt x="0" y="281"/>
                      </a:lnTo>
                      <a:lnTo>
                        <a:pt x="1" y="281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34" name="Freeform 156"/>
                <p:cNvSpPr>
                  <a:spLocks noChangeAspect="1" noChangeArrowheads="1"/>
                </p:cNvSpPr>
                <p:nvPr/>
              </p:nvSpPr>
              <p:spPr bwMode="auto">
                <a:xfrm>
                  <a:off x="3785" y="2940"/>
                  <a:ext cx="4" cy="39"/>
                </a:xfrm>
                <a:custGeom>
                  <a:avLst/>
                  <a:gdLst>
                    <a:gd name="T0" fmla="*/ 0 w 1"/>
                    <a:gd name="T1" fmla="*/ 0 h 105"/>
                    <a:gd name="T2" fmla="*/ 0 w 1"/>
                    <a:gd name="T3" fmla="*/ 105 h 105"/>
                    <a:gd name="T4" fmla="*/ 1 w 1"/>
                    <a:gd name="T5" fmla="*/ 105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05">
                      <a:moveTo>
                        <a:pt x="0" y="0"/>
                      </a:moveTo>
                      <a:lnTo>
                        <a:pt x="0" y="105"/>
                      </a:lnTo>
                      <a:lnTo>
                        <a:pt x="1" y="105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35" name="Freeform 157"/>
                <p:cNvSpPr>
                  <a:spLocks noChangeAspect="1" noChangeArrowheads="1"/>
                </p:cNvSpPr>
                <p:nvPr/>
              </p:nvSpPr>
              <p:spPr bwMode="auto">
                <a:xfrm>
                  <a:off x="3785" y="3019"/>
                  <a:ext cx="4" cy="192"/>
                </a:xfrm>
                <a:custGeom>
                  <a:avLst/>
                  <a:gdLst>
                    <a:gd name="T0" fmla="*/ 0 w 1"/>
                    <a:gd name="T1" fmla="*/ 0 h 532"/>
                    <a:gd name="T2" fmla="*/ 0 w 1"/>
                    <a:gd name="T3" fmla="*/ 532 h 532"/>
                    <a:gd name="T4" fmla="*/ 1 w 1"/>
                    <a:gd name="T5" fmla="*/ 532 h 5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32">
                      <a:moveTo>
                        <a:pt x="0" y="0"/>
                      </a:moveTo>
                      <a:lnTo>
                        <a:pt x="0" y="532"/>
                      </a:lnTo>
                      <a:lnTo>
                        <a:pt x="1" y="532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36" name="Freeform 158"/>
                <p:cNvSpPr>
                  <a:spLocks noChangeAspect="1" noChangeArrowheads="1"/>
                </p:cNvSpPr>
                <p:nvPr/>
              </p:nvSpPr>
              <p:spPr bwMode="auto">
                <a:xfrm>
                  <a:off x="3785" y="3247"/>
                  <a:ext cx="4" cy="40"/>
                </a:xfrm>
                <a:custGeom>
                  <a:avLst/>
                  <a:gdLst>
                    <a:gd name="T0" fmla="*/ 0 w 1"/>
                    <a:gd name="T1" fmla="*/ 0 h 107"/>
                    <a:gd name="T2" fmla="*/ 0 w 1"/>
                    <a:gd name="T3" fmla="*/ 107 h 107"/>
                    <a:gd name="T4" fmla="*/ 1 w 1"/>
                    <a:gd name="T5" fmla="*/ 107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07">
                      <a:moveTo>
                        <a:pt x="0" y="0"/>
                      </a:moveTo>
                      <a:lnTo>
                        <a:pt x="0" y="107"/>
                      </a:lnTo>
                      <a:lnTo>
                        <a:pt x="1" y="107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37" name="Freeform 159"/>
                <p:cNvSpPr>
                  <a:spLocks noChangeAspect="1" noChangeArrowheads="1"/>
                </p:cNvSpPr>
                <p:nvPr/>
              </p:nvSpPr>
              <p:spPr bwMode="auto">
                <a:xfrm>
                  <a:off x="3785" y="3327"/>
                  <a:ext cx="4" cy="191"/>
                </a:xfrm>
                <a:custGeom>
                  <a:avLst/>
                  <a:gdLst>
                    <a:gd name="T0" fmla="*/ 0 w 1"/>
                    <a:gd name="T1" fmla="*/ 0 h 532"/>
                    <a:gd name="T2" fmla="*/ 0 w 1"/>
                    <a:gd name="T3" fmla="*/ 532 h 532"/>
                    <a:gd name="T4" fmla="*/ 1 w 1"/>
                    <a:gd name="T5" fmla="*/ 532 h 5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32">
                      <a:moveTo>
                        <a:pt x="0" y="0"/>
                      </a:moveTo>
                      <a:lnTo>
                        <a:pt x="0" y="532"/>
                      </a:lnTo>
                      <a:lnTo>
                        <a:pt x="1" y="532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38" name="Freeform 160"/>
                <p:cNvSpPr>
                  <a:spLocks noChangeAspect="1" noChangeArrowheads="1"/>
                </p:cNvSpPr>
                <p:nvPr/>
              </p:nvSpPr>
              <p:spPr bwMode="auto">
                <a:xfrm>
                  <a:off x="3785" y="3558"/>
                  <a:ext cx="4" cy="36"/>
                </a:xfrm>
                <a:custGeom>
                  <a:avLst/>
                  <a:gdLst>
                    <a:gd name="T0" fmla="*/ 0 w 1"/>
                    <a:gd name="T1" fmla="*/ 0 h 106"/>
                    <a:gd name="T2" fmla="*/ 0 w 1"/>
                    <a:gd name="T3" fmla="*/ 106 h 106"/>
                    <a:gd name="T4" fmla="*/ 1 w 1"/>
                    <a:gd name="T5" fmla="*/ 106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06">
                      <a:moveTo>
                        <a:pt x="0" y="0"/>
                      </a:moveTo>
                      <a:lnTo>
                        <a:pt x="0" y="106"/>
                      </a:lnTo>
                      <a:lnTo>
                        <a:pt x="1" y="106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39" name="Freeform 161"/>
                <p:cNvSpPr>
                  <a:spLocks noChangeAspect="1" noChangeArrowheads="1"/>
                </p:cNvSpPr>
                <p:nvPr/>
              </p:nvSpPr>
              <p:spPr bwMode="auto">
                <a:xfrm>
                  <a:off x="3785" y="3634"/>
                  <a:ext cx="4" cy="101"/>
                </a:xfrm>
                <a:custGeom>
                  <a:avLst/>
                  <a:gdLst>
                    <a:gd name="T0" fmla="*/ 0 w 1"/>
                    <a:gd name="T1" fmla="*/ 0 h 280"/>
                    <a:gd name="T2" fmla="*/ 0 w 1"/>
                    <a:gd name="T3" fmla="*/ 280 h 280"/>
                    <a:gd name="T4" fmla="*/ 1 w 1"/>
                    <a:gd name="T5" fmla="*/ 280 h 2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80">
                      <a:moveTo>
                        <a:pt x="0" y="0"/>
                      </a:moveTo>
                      <a:lnTo>
                        <a:pt x="0" y="280"/>
                      </a:lnTo>
                      <a:lnTo>
                        <a:pt x="1" y="280"/>
                      </a:lnTo>
                    </a:path>
                  </a:pathLst>
                </a:custGeom>
                <a:noFill/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</p:grpSp>
      </p:grpSp>
      <p:grpSp>
        <p:nvGrpSpPr>
          <p:cNvPr id="162" name="Group 162"/>
          <p:cNvGrpSpPr>
            <a:grpSpLocks noChangeAspect="1"/>
          </p:cNvGrpSpPr>
          <p:nvPr/>
        </p:nvGrpSpPr>
        <p:grpSpPr bwMode="auto">
          <a:xfrm>
            <a:off x="6710364" y="1328738"/>
            <a:ext cx="1895475" cy="1439862"/>
            <a:chOff x="1539" y="2704"/>
            <a:chExt cx="1492" cy="1133"/>
          </a:xfrm>
        </p:grpSpPr>
        <p:grpSp>
          <p:nvGrpSpPr>
            <p:cNvPr id="163" name="Group 163"/>
            <p:cNvGrpSpPr>
              <a:grpSpLocks noChangeAspect="1"/>
            </p:cNvGrpSpPr>
            <p:nvPr/>
          </p:nvGrpSpPr>
          <p:grpSpPr bwMode="auto">
            <a:xfrm>
              <a:off x="1601" y="2704"/>
              <a:ext cx="1377" cy="1133"/>
              <a:chOff x="1601" y="2704"/>
              <a:chExt cx="1377" cy="1133"/>
            </a:xfrm>
          </p:grpSpPr>
          <p:grpSp>
            <p:nvGrpSpPr>
              <p:cNvPr id="176" name="Group 164"/>
              <p:cNvGrpSpPr>
                <a:grpSpLocks noChangeAspect="1"/>
              </p:cNvGrpSpPr>
              <p:nvPr/>
            </p:nvGrpSpPr>
            <p:grpSpPr bwMode="auto">
              <a:xfrm>
                <a:off x="1601" y="2704"/>
                <a:ext cx="1377" cy="1133"/>
                <a:chOff x="1601" y="2704"/>
                <a:chExt cx="1377" cy="1133"/>
              </a:xfrm>
            </p:grpSpPr>
            <p:sp>
              <p:nvSpPr>
                <p:cNvPr id="185" name="Freeform 165"/>
                <p:cNvSpPr>
                  <a:spLocks noChangeAspect="1" noChangeArrowheads="1"/>
                </p:cNvSpPr>
                <p:nvPr/>
              </p:nvSpPr>
              <p:spPr bwMode="auto">
                <a:xfrm>
                  <a:off x="2974" y="2961"/>
                  <a:ext cx="4" cy="615"/>
                </a:xfrm>
                <a:custGeom>
                  <a:avLst/>
                  <a:gdLst>
                    <a:gd name="T0" fmla="*/ 0 w 1"/>
                    <a:gd name="T1" fmla="*/ 1701 h 1701"/>
                    <a:gd name="T2" fmla="*/ 0 w 1"/>
                    <a:gd name="T3" fmla="*/ 0 h 1701"/>
                    <a:gd name="T4" fmla="*/ 1 w 1"/>
                    <a:gd name="T5" fmla="*/ 0 h 17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701">
                      <a:moveTo>
                        <a:pt x="0" y="1701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6" name="Freeform 166"/>
                <p:cNvSpPr>
                  <a:spLocks noChangeAspect="1" noChangeArrowheads="1"/>
                </p:cNvSpPr>
                <p:nvPr/>
              </p:nvSpPr>
              <p:spPr bwMode="auto">
                <a:xfrm>
                  <a:off x="2873" y="2856"/>
                  <a:ext cx="3" cy="822"/>
                </a:xfrm>
                <a:custGeom>
                  <a:avLst/>
                  <a:gdLst>
                    <a:gd name="T0" fmla="*/ 0 w 1"/>
                    <a:gd name="T1" fmla="*/ 2269 h 2269"/>
                    <a:gd name="T2" fmla="*/ 0 w 1"/>
                    <a:gd name="T3" fmla="*/ 0 h 2269"/>
                    <a:gd name="T4" fmla="*/ 1 w 1"/>
                    <a:gd name="T5" fmla="*/ 0 h 2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269">
                      <a:moveTo>
                        <a:pt x="0" y="2269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7" name="Freeform 167"/>
                <p:cNvSpPr>
                  <a:spLocks noChangeAspect="1" noChangeArrowheads="1"/>
                </p:cNvSpPr>
                <p:nvPr/>
              </p:nvSpPr>
              <p:spPr bwMode="auto">
                <a:xfrm>
                  <a:off x="1601" y="2704"/>
                  <a:ext cx="3" cy="1130"/>
                </a:xfrm>
                <a:custGeom>
                  <a:avLst/>
                  <a:gdLst>
                    <a:gd name="T0" fmla="*/ 0 w 1"/>
                    <a:gd name="T1" fmla="*/ 3119 h 3119"/>
                    <a:gd name="T2" fmla="*/ 0 w 1"/>
                    <a:gd name="T3" fmla="*/ 0 h 3119"/>
                    <a:gd name="T4" fmla="*/ 1 w 1"/>
                    <a:gd name="T5" fmla="*/ 0 h 3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119">
                      <a:moveTo>
                        <a:pt x="0" y="3119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8" name="Freeform 168"/>
                <p:cNvSpPr>
                  <a:spLocks noChangeAspect="1" noChangeArrowheads="1"/>
                </p:cNvSpPr>
                <p:nvPr/>
              </p:nvSpPr>
              <p:spPr bwMode="auto">
                <a:xfrm>
                  <a:off x="1949" y="2704"/>
                  <a:ext cx="4" cy="1130"/>
                </a:xfrm>
                <a:custGeom>
                  <a:avLst/>
                  <a:gdLst>
                    <a:gd name="T0" fmla="*/ 0 w 1"/>
                    <a:gd name="T1" fmla="*/ 3119 h 3119"/>
                    <a:gd name="T2" fmla="*/ 0 w 1"/>
                    <a:gd name="T3" fmla="*/ 0 h 3119"/>
                    <a:gd name="T4" fmla="*/ 1 w 1"/>
                    <a:gd name="T5" fmla="*/ 0 h 3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119">
                      <a:moveTo>
                        <a:pt x="0" y="3119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9" name="Freeform 169"/>
                <p:cNvSpPr>
                  <a:spLocks noChangeAspect="1" noChangeArrowheads="1"/>
                </p:cNvSpPr>
                <p:nvPr/>
              </p:nvSpPr>
              <p:spPr bwMode="auto">
                <a:xfrm>
                  <a:off x="2297" y="2856"/>
                  <a:ext cx="257" cy="15"/>
                </a:xfrm>
                <a:custGeom>
                  <a:avLst/>
                  <a:gdLst>
                    <a:gd name="T0" fmla="*/ 709 w 709"/>
                    <a:gd name="T1" fmla="*/ 0 h 38"/>
                    <a:gd name="T2" fmla="*/ 701 w 709"/>
                    <a:gd name="T3" fmla="*/ 2 h 38"/>
                    <a:gd name="T4" fmla="*/ 676 w 709"/>
                    <a:gd name="T5" fmla="*/ 7 h 38"/>
                    <a:gd name="T6" fmla="*/ 637 w 709"/>
                    <a:gd name="T7" fmla="*/ 13 h 38"/>
                    <a:gd name="T8" fmla="*/ 589 w 709"/>
                    <a:gd name="T9" fmla="*/ 21 h 38"/>
                    <a:gd name="T10" fmla="*/ 536 w 709"/>
                    <a:gd name="T11" fmla="*/ 27 h 38"/>
                    <a:gd name="T12" fmla="*/ 478 w 709"/>
                    <a:gd name="T13" fmla="*/ 33 h 38"/>
                    <a:gd name="T14" fmla="*/ 416 w 709"/>
                    <a:gd name="T15" fmla="*/ 36 h 38"/>
                    <a:gd name="T16" fmla="*/ 355 w 709"/>
                    <a:gd name="T17" fmla="*/ 38 h 38"/>
                    <a:gd name="T18" fmla="*/ 294 w 709"/>
                    <a:gd name="T19" fmla="*/ 36 h 38"/>
                    <a:gd name="T20" fmla="*/ 232 w 709"/>
                    <a:gd name="T21" fmla="*/ 33 h 38"/>
                    <a:gd name="T22" fmla="*/ 173 w 709"/>
                    <a:gd name="T23" fmla="*/ 27 h 38"/>
                    <a:gd name="T24" fmla="*/ 121 w 709"/>
                    <a:gd name="T25" fmla="*/ 21 h 38"/>
                    <a:gd name="T26" fmla="*/ 74 w 709"/>
                    <a:gd name="T27" fmla="*/ 13 h 38"/>
                    <a:gd name="T28" fmla="*/ 35 w 709"/>
                    <a:gd name="T29" fmla="*/ 7 h 38"/>
                    <a:gd name="T30" fmla="*/ 9 w 709"/>
                    <a:gd name="T31" fmla="*/ 2 h 38"/>
                    <a:gd name="T32" fmla="*/ 0 w 709"/>
                    <a:gd name="T33" fmla="*/ 0 h 38"/>
                    <a:gd name="T34" fmla="*/ 1 w 709"/>
                    <a:gd name="T35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09" h="38">
                      <a:moveTo>
                        <a:pt x="709" y="0"/>
                      </a:moveTo>
                      <a:lnTo>
                        <a:pt x="701" y="2"/>
                      </a:lnTo>
                      <a:lnTo>
                        <a:pt x="676" y="7"/>
                      </a:lnTo>
                      <a:lnTo>
                        <a:pt x="637" y="13"/>
                      </a:lnTo>
                      <a:lnTo>
                        <a:pt x="589" y="21"/>
                      </a:lnTo>
                      <a:lnTo>
                        <a:pt x="536" y="27"/>
                      </a:lnTo>
                      <a:lnTo>
                        <a:pt x="478" y="33"/>
                      </a:lnTo>
                      <a:lnTo>
                        <a:pt x="416" y="36"/>
                      </a:lnTo>
                      <a:lnTo>
                        <a:pt x="355" y="38"/>
                      </a:lnTo>
                      <a:lnTo>
                        <a:pt x="294" y="36"/>
                      </a:lnTo>
                      <a:lnTo>
                        <a:pt x="232" y="33"/>
                      </a:lnTo>
                      <a:lnTo>
                        <a:pt x="173" y="27"/>
                      </a:lnTo>
                      <a:lnTo>
                        <a:pt x="121" y="21"/>
                      </a:lnTo>
                      <a:lnTo>
                        <a:pt x="74" y="13"/>
                      </a:lnTo>
                      <a:lnTo>
                        <a:pt x="35" y="7"/>
                      </a:lnTo>
                      <a:lnTo>
                        <a:pt x="9" y="2"/>
                      </a:ln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0" name="Freeform 170"/>
                <p:cNvSpPr>
                  <a:spLocks noChangeAspect="1" noChangeArrowheads="1"/>
                </p:cNvSpPr>
                <p:nvPr/>
              </p:nvSpPr>
              <p:spPr bwMode="auto">
                <a:xfrm>
                  <a:off x="2644" y="3138"/>
                  <a:ext cx="127" cy="131"/>
                </a:xfrm>
                <a:custGeom>
                  <a:avLst/>
                  <a:gdLst>
                    <a:gd name="T0" fmla="*/ 0 w 355"/>
                    <a:gd name="T1" fmla="*/ 0 h 355"/>
                    <a:gd name="T2" fmla="*/ 68 w 355"/>
                    <a:gd name="T3" fmla="*/ 7 h 355"/>
                    <a:gd name="T4" fmla="*/ 135 w 355"/>
                    <a:gd name="T5" fmla="*/ 27 h 355"/>
                    <a:gd name="T6" fmla="*/ 197 w 355"/>
                    <a:gd name="T7" fmla="*/ 60 h 355"/>
                    <a:gd name="T8" fmla="*/ 250 w 355"/>
                    <a:gd name="T9" fmla="*/ 104 h 355"/>
                    <a:gd name="T10" fmla="*/ 294 w 355"/>
                    <a:gd name="T11" fmla="*/ 156 h 355"/>
                    <a:gd name="T12" fmla="*/ 326 w 355"/>
                    <a:gd name="T13" fmla="*/ 219 h 355"/>
                    <a:gd name="T14" fmla="*/ 346 w 355"/>
                    <a:gd name="T15" fmla="*/ 286 h 355"/>
                    <a:gd name="T16" fmla="*/ 354 w 355"/>
                    <a:gd name="T17" fmla="*/ 355 h 355"/>
                    <a:gd name="T18" fmla="*/ 355 w 355"/>
                    <a:gd name="T19" fmla="*/ 355 h 3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55" h="355">
                      <a:moveTo>
                        <a:pt x="0" y="0"/>
                      </a:moveTo>
                      <a:lnTo>
                        <a:pt x="68" y="7"/>
                      </a:lnTo>
                      <a:lnTo>
                        <a:pt x="135" y="27"/>
                      </a:lnTo>
                      <a:lnTo>
                        <a:pt x="197" y="60"/>
                      </a:lnTo>
                      <a:lnTo>
                        <a:pt x="250" y="104"/>
                      </a:lnTo>
                      <a:lnTo>
                        <a:pt x="294" y="156"/>
                      </a:lnTo>
                      <a:lnTo>
                        <a:pt x="326" y="219"/>
                      </a:lnTo>
                      <a:lnTo>
                        <a:pt x="346" y="286"/>
                      </a:lnTo>
                      <a:lnTo>
                        <a:pt x="354" y="355"/>
                      </a:lnTo>
                      <a:lnTo>
                        <a:pt x="355" y="355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1" name="Freeform 171"/>
                <p:cNvSpPr>
                  <a:spLocks noChangeAspect="1" noChangeArrowheads="1"/>
                </p:cNvSpPr>
                <p:nvPr/>
              </p:nvSpPr>
              <p:spPr bwMode="auto">
                <a:xfrm>
                  <a:off x="2644" y="3269"/>
                  <a:ext cx="127" cy="126"/>
                </a:xfrm>
                <a:custGeom>
                  <a:avLst/>
                  <a:gdLst>
                    <a:gd name="T0" fmla="*/ 354 w 354"/>
                    <a:gd name="T1" fmla="*/ 0 h 354"/>
                    <a:gd name="T2" fmla="*/ 346 w 354"/>
                    <a:gd name="T3" fmla="*/ 68 h 354"/>
                    <a:gd name="T4" fmla="*/ 326 w 354"/>
                    <a:gd name="T5" fmla="*/ 135 h 354"/>
                    <a:gd name="T6" fmla="*/ 294 w 354"/>
                    <a:gd name="T7" fmla="*/ 197 h 354"/>
                    <a:gd name="T8" fmla="*/ 250 w 354"/>
                    <a:gd name="T9" fmla="*/ 250 h 354"/>
                    <a:gd name="T10" fmla="*/ 197 w 354"/>
                    <a:gd name="T11" fmla="*/ 294 h 354"/>
                    <a:gd name="T12" fmla="*/ 135 w 354"/>
                    <a:gd name="T13" fmla="*/ 326 h 354"/>
                    <a:gd name="T14" fmla="*/ 68 w 354"/>
                    <a:gd name="T15" fmla="*/ 348 h 354"/>
                    <a:gd name="T16" fmla="*/ 0 w 354"/>
                    <a:gd name="T17" fmla="*/ 354 h 354"/>
                    <a:gd name="T18" fmla="*/ 1 w 354"/>
                    <a:gd name="T19" fmla="*/ 354 h 3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54" h="354">
                      <a:moveTo>
                        <a:pt x="354" y="0"/>
                      </a:moveTo>
                      <a:lnTo>
                        <a:pt x="346" y="68"/>
                      </a:lnTo>
                      <a:lnTo>
                        <a:pt x="326" y="135"/>
                      </a:lnTo>
                      <a:lnTo>
                        <a:pt x="294" y="197"/>
                      </a:lnTo>
                      <a:lnTo>
                        <a:pt x="250" y="250"/>
                      </a:lnTo>
                      <a:lnTo>
                        <a:pt x="197" y="294"/>
                      </a:lnTo>
                      <a:lnTo>
                        <a:pt x="135" y="326"/>
                      </a:lnTo>
                      <a:lnTo>
                        <a:pt x="68" y="348"/>
                      </a:lnTo>
                      <a:lnTo>
                        <a:pt x="0" y="354"/>
                      </a:lnTo>
                      <a:lnTo>
                        <a:pt x="1" y="354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2" name="Freeform 172"/>
                <p:cNvSpPr>
                  <a:spLocks noChangeAspect="1" noChangeArrowheads="1"/>
                </p:cNvSpPr>
                <p:nvPr/>
              </p:nvSpPr>
              <p:spPr bwMode="auto">
                <a:xfrm>
                  <a:off x="2180" y="3395"/>
                  <a:ext cx="464" cy="4"/>
                </a:xfrm>
                <a:custGeom>
                  <a:avLst/>
                  <a:gdLst>
                    <a:gd name="T0" fmla="*/ 1276 w 1276"/>
                    <a:gd name="T1" fmla="*/ 0 h 4"/>
                    <a:gd name="T2" fmla="*/ 0 w 1276"/>
                    <a:gd name="T3" fmla="*/ 0 h 4"/>
                    <a:gd name="T4" fmla="*/ 1 w 1276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76" h="4">
                      <a:moveTo>
                        <a:pt x="127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3" name="Freeform 173"/>
                <p:cNvSpPr>
                  <a:spLocks noChangeAspect="1" noChangeArrowheads="1"/>
                </p:cNvSpPr>
                <p:nvPr/>
              </p:nvSpPr>
              <p:spPr bwMode="auto">
                <a:xfrm>
                  <a:off x="2180" y="3138"/>
                  <a:ext cx="464" cy="4"/>
                </a:xfrm>
                <a:custGeom>
                  <a:avLst/>
                  <a:gdLst>
                    <a:gd name="T0" fmla="*/ 0 w 1277"/>
                    <a:gd name="T1" fmla="*/ 0 h 4"/>
                    <a:gd name="T2" fmla="*/ 1276 w 1277"/>
                    <a:gd name="T3" fmla="*/ 0 h 4"/>
                    <a:gd name="T4" fmla="*/ 1277 w 1277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77" h="4">
                      <a:moveTo>
                        <a:pt x="0" y="0"/>
                      </a:moveTo>
                      <a:lnTo>
                        <a:pt x="1276" y="0"/>
                      </a:lnTo>
                      <a:lnTo>
                        <a:pt x="1277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4" name="Freeform 174"/>
                <p:cNvSpPr>
                  <a:spLocks noChangeAspect="1" noChangeArrowheads="1"/>
                </p:cNvSpPr>
                <p:nvPr/>
              </p:nvSpPr>
              <p:spPr bwMode="auto">
                <a:xfrm>
                  <a:off x="2054" y="3138"/>
                  <a:ext cx="126" cy="131"/>
                </a:xfrm>
                <a:custGeom>
                  <a:avLst/>
                  <a:gdLst>
                    <a:gd name="T0" fmla="*/ 0 w 356"/>
                    <a:gd name="T1" fmla="*/ 355 h 355"/>
                    <a:gd name="T2" fmla="*/ 7 w 356"/>
                    <a:gd name="T3" fmla="*/ 286 h 355"/>
                    <a:gd name="T4" fmla="*/ 27 w 356"/>
                    <a:gd name="T5" fmla="*/ 219 h 355"/>
                    <a:gd name="T6" fmla="*/ 61 w 356"/>
                    <a:gd name="T7" fmla="*/ 156 h 355"/>
                    <a:gd name="T8" fmla="*/ 105 w 356"/>
                    <a:gd name="T9" fmla="*/ 104 h 355"/>
                    <a:gd name="T10" fmla="*/ 157 w 356"/>
                    <a:gd name="T11" fmla="*/ 60 h 355"/>
                    <a:gd name="T12" fmla="*/ 219 w 356"/>
                    <a:gd name="T13" fmla="*/ 27 h 355"/>
                    <a:gd name="T14" fmla="*/ 286 w 356"/>
                    <a:gd name="T15" fmla="*/ 7 h 355"/>
                    <a:gd name="T16" fmla="*/ 355 w 356"/>
                    <a:gd name="T17" fmla="*/ 0 h 355"/>
                    <a:gd name="T18" fmla="*/ 356 w 356"/>
                    <a:gd name="T19" fmla="*/ 0 h 3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56" h="355">
                      <a:moveTo>
                        <a:pt x="0" y="355"/>
                      </a:moveTo>
                      <a:lnTo>
                        <a:pt x="7" y="286"/>
                      </a:lnTo>
                      <a:lnTo>
                        <a:pt x="27" y="219"/>
                      </a:lnTo>
                      <a:lnTo>
                        <a:pt x="61" y="156"/>
                      </a:lnTo>
                      <a:lnTo>
                        <a:pt x="105" y="104"/>
                      </a:lnTo>
                      <a:lnTo>
                        <a:pt x="157" y="60"/>
                      </a:lnTo>
                      <a:lnTo>
                        <a:pt x="219" y="27"/>
                      </a:lnTo>
                      <a:lnTo>
                        <a:pt x="286" y="7"/>
                      </a:lnTo>
                      <a:lnTo>
                        <a:pt x="355" y="0"/>
                      </a:lnTo>
                      <a:lnTo>
                        <a:pt x="356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5" name="Freeform 175"/>
                <p:cNvSpPr>
                  <a:spLocks noChangeAspect="1" noChangeArrowheads="1"/>
                </p:cNvSpPr>
                <p:nvPr/>
              </p:nvSpPr>
              <p:spPr bwMode="auto">
                <a:xfrm>
                  <a:off x="2054" y="3269"/>
                  <a:ext cx="126" cy="126"/>
                </a:xfrm>
                <a:custGeom>
                  <a:avLst/>
                  <a:gdLst>
                    <a:gd name="T0" fmla="*/ 355 w 355"/>
                    <a:gd name="T1" fmla="*/ 354 h 354"/>
                    <a:gd name="T2" fmla="*/ 286 w 355"/>
                    <a:gd name="T3" fmla="*/ 348 h 354"/>
                    <a:gd name="T4" fmla="*/ 219 w 355"/>
                    <a:gd name="T5" fmla="*/ 326 h 354"/>
                    <a:gd name="T6" fmla="*/ 157 w 355"/>
                    <a:gd name="T7" fmla="*/ 294 h 354"/>
                    <a:gd name="T8" fmla="*/ 105 w 355"/>
                    <a:gd name="T9" fmla="*/ 250 h 354"/>
                    <a:gd name="T10" fmla="*/ 61 w 355"/>
                    <a:gd name="T11" fmla="*/ 197 h 354"/>
                    <a:gd name="T12" fmla="*/ 27 w 355"/>
                    <a:gd name="T13" fmla="*/ 135 h 354"/>
                    <a:gd name="T14" fmla="*/ 7 w 355"/>
                    <a:gd name="T15" fmla="*/ 68 h 354"/>
                    <a:gd name="T16" fmla="*/ 0 w 355"/>
                    <a:gd name="T17" fmla="*/ 0 h 354"/>
                    <a:gd name="T18" fmla="*/ 1 w 355"/>
                    <a:gd name="T19" fmla="*/ 0 h 3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55" h="354">
                      <a:moveTo>
                        <a:pt x="355" y="354"/>
                      </a:moveTo>
                      <a:lnTo>
                        <a:pt x="286" y="348"/>
                      </a:lnTo>
                      <a:lnTo>
                        <a:pt x="219" y="326"/>
                      </a:lnTo>
                      <a:lnTo>
                        <a:pt x="157" y="294"/>
                      </a:lnTo>
                      <a:lnTo>
                        <a:pt x="105" y="250"/>
                      </a:lnTo>
                      <a:lnTo>
                        <a:pt x="61" y="197"/>
                      </a:lnTo>
                      <a:lnTo>
                        <a:pt x="27" y="135"/>
                      </a:lnTo>
                      <a:lnTo>
                        <a:pt x="7" y="68"/>
                      </a:ln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6" name="Freeform 176"/>
                <p:cNvSpPr>
                  <a:spLocks noChangeAspect="1" noChangeArrowheads="1"/>
                </p:cNvSpPr>
                <p:nvPr/>
              </p:nvSpPr>
              <p:spPr bwMode="auto">
                <a:xfrm>
                  <a:off x="1601" y="3834"/>
                  <a:ext cx="348" cy="3"/>
                </a:xfrm>
                <a:custGeom>
                  <a:avLst/>
                  <a:gdLst>
                    <a:gd name="T0" fmla="*/ 0 w 965"/>
                    <a:gd name="T1" fmla="*/ 0 h 3"/>
                    <a:gd name="T2" fmla="*/ 964 w 965"/>
                    <a:gd name="T3" fmla="*/ 0 h 3"/>
                    <a:gd name="T4" fmla="*/ 965 w 965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65" h="3">
                      <a:moveTo>
                        <a:pt x="0" y="0"/>
                      </a:moveTo>
                      <a:lnTo>
                        <a:pt x="964" y="0"/>
                      </a:lnTo>
                      <a:lnTo>
                        <a:pt x="965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7" name="Freeform 177"/>
                <p:cNvSpPr>
                  <a:spLocks noChangeAspect="1" noChangeArrowheads="1"/>
                </p:cNvSpPr>
                <p:nvPr/>
              </p:nvSpPr>
              <p:spPr bwMode="auto">
                <a:xfrm>
                  <a:off x="1601" y="2704"/>
                  <a:ext cx="348" cy="3"/>
                </a:xfrm>
                <a:custGeom>
                  <a:avLst/>
                  <a:gdLst>
                    <a:gd name="T0" fmla="*/ 964 w 964"/>
                    <a:gd name="T1" fmla="*/ 0 h 3"/>
                    <a:gd name="T2" fmla="*/ 0 w 964"/>
                    <a:gd name="T3" fmla="*/ 0 h 3"/>
                    <a:gd name="T4" fmla="*/ 1 w 964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64" h="3">
                      <a:moveTo>
                        <a:pt x="964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8" name="Freeform 178"/>
                <p:cNvSpPr>
                  <a:spLocks noChangeAspect="1" noChangeArrowheads="1"/>
                </p:cNvSpPr>
                <p:nvPr/>
              </p:nvSpPr>
              <p:spPr bwMode="auto">
                <a:xfrm>
                  <a:off x="1949" y="3678"/>
                  <a:ext cx="924" cy="4"/>
                </a:xfrm>
                <a:custGeom>
                  <a:avLst/>
                  <a:gdLst>
                    <a:gd name="T0" fmla="*/ 0 w 2552"/>
                    <a:gd name="T1" fmla="*/ 0 h 4"/>
                    <a:gd name="T2" fmla="*/ 2551 w 2552"/>
                    <a:gd name="T3" fmla="*/ 0 h 4"/>
                    <a:gd name="T4" fmla="*/ 2552 w 2552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552" h="4">
                      <a:moveTo>
                        <a:pt x="0" y="0"/>
                      </a:moveTo>
                      <a:lnTo>
                        <a:pt x="2551" y="0"/>
                      </a:lnTo>
                      <a:lnTo>
                        <a:pt x="2552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9" name="Freeform 179"/>
                <p:cNvSpPr>
                  <a:spLocks noChangeAspect="1" noChangeArrowheads="1"/>
                </p:cNvSpPr>
                <p:nvPr/>
              </p:nvSpPr>
              <p:spPr bwMode="auto">
                <a:xfrm>
                  <a:off x="1949" y="2856"/>
                  <a:ext cx="348" cy="3"/>
                </a:xfrm>
                <a:custGeom>
                  <a:avLst/>
                  <a:gdLst>
                    <a:gd name="T0" fmla="*/ 956 w 956"/>
                    <a:gd name="T1" fmla="*/ 0 h 3"/>
                    <a:gd name="T2" fmla="*/ 0 w 956"/>
                    <a:gd name="T3" fmla="*/ 0 h 3"/>
                    <a:gd name="T4" fmla="*/ 1 w 956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56" h="3">
                      <a:moveTo>
                        <a:pt x="95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00" name="Freeform 180"/>
                <p:cNvSpPr>
                  <a:spLocks noChangeAspect="1" noChangeArrowheads="1"/>
                </p:cNvSpPr>
                <p:nvPr/>
              </p:nvSpPr>
              <p:spPr bwMode="auto">
                <a:xfrm>
                  <a:off x="2554" y="2856"/>
                  <a:ext cx="319" cy="3"/>
                </a:xfrm>
                <a:custGeom>
                  <a:avLst/>
                  <a:gdLst>
                    <a:gd name="T0" fmla="*/ 886 w 886"/>
                    <a:gd name="T1" fmla="*/ 0 h 3"/>
                    <a:gd name="T2" fmla="*/ 0 w 886"/>
                    <a:gd name="T3" fmla="*/ 0 h 3"/>
                    <a:gd name="T4" fmla="*/ 1 w 886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86" h="3">
                      <a:moveTo>
                        <a:pt x="88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01" name="Freeform 181"/>
                <p:cNvSpPr>
                  <a:spLocks noChangeAspect="1" noChangeArrowheads="1"/>
                </p:cNvSpPr>
                <p:nvPr/>
              </p:nvSpPr>
              <p:spPr bwMode="auto">
                <a:xfrm>
                  <a:off x="2873" y="3576"/>
                  <a:ext cx="105" cy="102"/>
                </a:xfrm>
                <a:custGeom>
                  <a:avLst/>
                  <a:gdLst>
                    <a:gd name="T0" fmla="*/ 0 w 284"/>
                    <a:gd name="T1" fmla="*/ 284 h 284"/>
                    <a:gd name="T2" fmla="*/ 283 w 284"/>
                    <a:gd name="T3" fmla="*/ 0 h 284"/>
                    <a:gd name="T4" fmla="*/ 284 w 284"/>
                    <a:gd name="T5" fmla="*/ 0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84" h="284">
                      <a:moveTo>
                        <a:pt x="0" y="284"/>
                      </a:moveTo>
                      <a:lnTo>
                        <a:pt x="283" y="0"/>
                      </a:lnTo>
                      <a:lnTo>
                        <a:pt x="284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02" name="Freeform 182"/>
                <p:cNvSpPr>
                  <a:spLocks noChangeAspect="1" noChangeArrowheads="1"/>
                </p:cNvSpPr>
                <p:nvPr/>
              </p:nvSpPr>
              <p:spPr bwMode="auto">
                <a:xfrm>
                  <a:off x="2873" y="2856"/>
                  <a:ext cx="101" cy="105"/>
                </a:xfrm>
                <a:custGeom>
                  <a:avLst/>
                  <a:gdLst>
                    <a:gd name="T0" fmla="*/ 283 w 283"/>
                    <a:gd name="T1" fmla="*/ 284 h 284"/>
                    <a:gd name="T2" fmla="*/ 0 w 283"/>
                    <a:gd name="T3" fmla="*/ 0 h 284"/>
                    <a:gd name="T4" fmla="*/ 1 w 283"/>
                    <a:gd name="T5" fmla="*/ 0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83" h="284">
                      <a:moveTo>
                        <a:pt x="283" y="284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177" name="Group 183"/>
              <p:cNvGrpSpPr>
                <a:grpSpLocks noChangeAspect="1"/>
              </p:cNvGrpSpPr>
              <p:nvPr/>
            </p:nvGrpSpPr>
            <p:grpSpPr bwMode="auto">
              <a:xfrm>
                <a:off x="2296" y="2856"/>
                <a:ext cx="257" cy="76"/>
                <a:chOff x="2460" y="1871"/>
                <a:chExt cx="71" cy="21"/>
              </a:xfrm>
            </p:grpSpPr>
            <p:sp>
              <p:nvSpPr>
                <p:cNvPr id="179" name="Freeform 184"/>
                <p:cNvSpPr>
                  <a:spLocks noChangeAspect="1" noChangeArrowheads="1"/>
                </p:cNvSpPr>
                <p:nvPr/>
              </p:nvSpPr>
              <p:spPr bwMode="auto">
                <a:xfrm>
                  <a:off x="2495" y="1887"/>
                  <a:ext cx="9" cy="5"/>
                </a:xfrm>
                <a:custGeom>
                  <a:avLst/>
                  <a:gdLst>
                    <a:gd name="T0" fmla="*/ 0 w 86"/>
                    <a:gd name="T1" fmla="*/ 49 h 49"/>
                    <a:gd name="T2" fmla="*/ 85 w 86"/>
                    <a:gd name="T3" fmla="*/ 0 h 49"/>
                    <a:gd name="T4" fmla="*/ 86 w 86"/>
                    <a:gd name="T5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6" h="49">
                      <a:moveTo>
                        <a:pt x="0" y="49"/>
                      </a:moveTo>
                      <a:lnTo>
                        <a:pt x="85" y="0"/>
                      </a:lnTo>
                      <a:lnTo>
                        <a:pt x="86" y="0"/>
                      </a:lnTo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0" name="Freeform 185"/>
                <p:cNvSpPr>
                  <a:spLocks noChangeAspect="1" noChangeArrowheads="1"/>
                </p:cNvSpPr>
                <p:nvPr/>
              </p:nvSpPr>
              <p:spPr bwMode="auto">
                <a:xfrm>
                  <a:off x="2508" y="1879"/>
                  <a:ext cx="10" cy="5"/>
                </a:xfrm>
                <a:custGeom>
                  <a:avLst/>
                  <a:gdLst>
                    <a:gd name="T0" fmla="*/ 0 w 92"/>
                    <a:gd name="T1" fmla="*/ 53 h 53"/>
                    <a:gd name="T2" fmla="*/ 91 w 92"/>
                    <a:gd name="T3" fmla="*/ 0 h 53"/>
                    <a:gd name="T4" fmla="*/ 92 w 92"/>
                    <a:gd name="T5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2" h="53">
                      <a:moveTo>
                        <a:pt x="0" y="53"/>
                      </a:moveTo>
                      <a:lnTo>
                        <a:pt x="91" y="0"/>
                      </a:lnTo>
                      <a:lnTo>
                        <a:pt x="92" y="0"/>
                      </a:lnTo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1" name="Freeform 186"/>
                <p:cNvSpPr>
                  <a:spLocks noChangeAspect="1" noChangeArrowheads="1"/>
                </p:cNvSpPr>
                <p:nvPr/>
              </p:nvSpPr>
              <p:spPr bwMode="auto">
                <a:xfrm>
                  <a:off x="2522" y="1871"/>
                  <a:ext cx="9" cy="5"/>
                </a:xfrm>
                <a:custGeom>
                  <a:avLst/>
                  <a:gdLst>
                    <a:gd name="T0" fmla="*/ 0 w 86"/>
                    <a:gd name="T1" fmla="*/ 50 h 50"/>
                    <a:gd name="T2" fmla="*/ 85 w 86"/>
                    <a:gd name="T3" fmla="*/ 0 h 50"/>
                    <a:gd name="T4" fmla="*/ 86 w 86"/>
                    <a:gd name="T5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6" h="50">
                      <a:moveTo>
                        <a:pt x="0" y="50"/>
                      </a:moveTo>
                      <a:lnTo>
                        <a:pt x="85" y="0"/>
                      </a:lnTo>
                      <a:lnTo>
                        <a:pt x="86" y="0"/>
                      </a:lnTo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2" name="Freeform 187"/>
                <p:cNvSpPr>
                  <a:spLocks noChangeAspect="1" noChangeArrowheads="1"/>
                </p:cNvSpPr>
                <p:nvPr/>
              </p:nvSpPr>
              <p:spPr bwMode="auto">
                <a:xfrm>
                  <a:off x="2460" y="1871"/>
                  <a:ext cx="8" cy="5"/>
                </a:xfrm>
                <a:custGeom>
                  <a:avLst/>
                  <a:gdLst>
                    <a:gd name="T0" fmla="*/ 0 w 87"/>
                    <a:gd name="T1" fmla="*/ 0 h 50"/>
                    <a:gd name="T2" fmla="*/ 86 w 87"/>
                    <a:gd name="T3" fmla="*/ 50 h 50"/>
                    <a:gd name="T4" fmla="*/ 87 w 87"/>
                    <a:gd name="T5" fmla="*/ 5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7" h="50">
                      <a:moveTo>
                        <a:pt x="0" y="0"/>
                      </a:moveTo>
                      <a:lnTo>
                        <a:pt x="86" y="50"/>
                      </a:lnTo>
                      <a:lnTo>
                        <a:pt x="87" y="50"/>
                      </a:lnTo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3" name="Freeform 188"/>
                <p:cNvSpPr>
                  <a:spLocks noChangeAspect="1" noChangeArrowheads="1"/>
                </p:cNvSpPr>
                <p:nvPr/>
              </p:nvSpPr>
              <p:spPr bwMode="auto">
                <a:xfrm>
                  <a:off x="2473" y="1879"/>
                  <a:ext cx="9" cy="5"/>
                </a:xfrm>
                <a:custGeom>
                  <a:avLst/>
                  <a:gdLst>
                    <a:gd name="T0" fmla="*/ 0 w 93"/>
                    <a:gd name="T1" fmla="*/ 0 h 53"/>
                    <a:gd name="T2" fmla="*/ 92 w 93"/>
                    <a:gd name="T3" fmla="*/ 53 h 53"/>
                    <a:gd name="T4" fmla="*/ 93 w 93"/>
                    <a:gd name="T5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3" h="53">
                      <a:moveTo>
                        <a:pt x="0" y="0"/>
                      </a:moveTo>
                      <a:lnTo>
                        <a:pt x="92" y="53"/>
                      </a:lnTo>
                      <a:lnTo>
                        <a:pt x="93" y="53"/>
                      </a:lnTo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4" name="Freeform 189"/>
                <p:cNvSpPr>
                  <a:spLocks noChangeAspect="1" noChangeArrowheads="1"/>
                </p:cNvSpPr>
                <p:nvPr/>
              </p:nvSpPr>
              <p:spPr bwMode="auto">
                <a:xfrm>
                  <a:off x="2487" y="1887"/>
                  <a:ext cx="8" cy="5"/>
                </a:xfrm>
                <a:custGeom>
                  <a:avLst/>
                  <a:gdLst>
                    <a:gd name="T0" fmla="*/ 0 w 86"/>
                    <a:gd name="T1" fmla="*/ 0 h 49"/>
                    <a:gd name="T2" fmla="*/ 85 w 86"/>
                    <a:gd name="T3" fmla="*/ 49 h 49"/>
                    <a:gd name="T4" fmla="*/ 86 w 86"/>
                    <a:gd name="T5" fmla="*/ 4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6" h="49">
                      <a:moveTo>
                        <a:pt x="0" y="0"/>
                      </a:moveTo>
                      <a:lnTo>
                        <a:pt x="85" y="49"/>
                      </a:lnTo>
                      <a:lnTo>
                        <a:pt x="86" y="49"/>
                      </a:lnTo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sp>
            <p:nvSpPr>
              <p:cNvPr id="178" name="Line 190"/>
              <p:cNvSpPr>
                <a:spLocks noChangeAspect="1" noChangeShapeType="1"/>
              </p:cNvSpPr>
              <p:nvPr/>
            </p:nvSpPr>
            <p:spPr bwMode="auto">
              <a:xfrm>
                <a:off x="2654" y="3096"/>
                <a:ext cx="0" cy="354"/>
              </a:xfrm>
              <a:prstGeom prst="line">
                <a:avLst/>
              </a:prstGeom>
              <a:noFill/>
              <a:ln w="12700">
                <a:solidFill>
                  <a:schemeClr val="accent2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64" name="Group 191"/>
            <p:cNvGrpSpPr>
              <a:grpSpLocks noChangeAspect="1"/>
            </p:cNvGrpSpPr>
            <p:nvPr/>
          </p:nvGrpSpPr>
          <p:grpSpPr bwMode="auto">
            <a:xfrm>
              <a:off x="1539" y="2806"/>
              <a:ext cx="1492" cy="645"/>
              <a:chOff x="1539" y="2806"/>
              <a:chExt cx="1492" cy="645"/>
            </a:xfrm>
          </p:grpSpPr>
          <p:sp>
            <p:nvSpPr>
              <p:cNvPr id="165" name="Freeform 192"/>
              <p:cNvSpPr>
                <a:spLocks noChangeAspect="1" noChangeArrowheads="1"/>
              </p:cNvSpPr>
              <p:nvPr/>
            </p:nvSpPr>
            <p:spPr bwMode="auto">
              <a:xfrm>
                <a:off x="2804" y="3269"/>
                <a:ext cx="227" cy="3"/>
              </a:xfrm>
              <a:custGeom>
                <a:avLst/>
                <a:gdLst>
                  <a:gd name="T0" fmla="*/ 622 w 622"/>
                  <a:gd name="T1" fmla="*/ 0 h 3"/>
                  <a:gd name="T2" fmla="*/ 0 w 622"/>
                  <a:gd name="T3" fmla="*/ 0 h 3"/>
                  <a:gd name="T4" fmla="*/ 1 w 62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22" h="3">
                    <a:moveTo>
                      <a:pt x="62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6" name="Freeform 193"/>
              <p:cNvSpPr>
                <a:spLocks noChangeAspect="1" noChangeArrowheads="1"/>
              </p:cNvSpPr>
              <p:nvPr/>
            </p:nvSpPr>
            <p:spPr bwMode="auto">
              <a:xfrm>
                <a:off x="2728" y="3269"/>
                <a:ext cx="39" cy="3"/>
              </a:xfrm>
              <a:custGeom>
                <a:avLst/>
                <a:gdLst>
                  <a:gd name="T0" fmla="*/ 106 w 106"/>
                  <a:gd name="T1" fmla="*/ 0 h 3"/>
                  <a:gd name="T2" fmla="*/ 0 w 106"/>
                  <a:gd name="T3" fmla="*/ 0 h 3"/>
                  <a:gd name="T4" fmla="*/ 1 w 10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" h="3">
                    <a:moveTo>
                      <a:pt x="106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7" name="Freeform 194"/>
              <p:cNvSpPr>
                <a:spLocks noChangeAspect="1" noChangeArrowheads="1"/>
              </p:cNvSpPr>
              <p:nvPr/>
            </p:nvSpPr>
            <p:spPr bwMode="auto">
              <a:xfrm>
                <a:off x="2496" y="3269"/>
                <a:ext cx="195" cy="3"/>
              </a:xfrm>
              <a:custGeom>
                <a:avLst/>
                <a:gdLst>
                  <a:gd name="T0" fmla="*/ 532 w 532"/>
                  <a:gd name="T1" fmla="*/ 0 h 3"/>
                  <a:gd name="T2" fmla="*/ 0 w 532"/>
                  <a:gd name="T3" fmla="*/ 0 h 3"/>
                  <a:gd name="T4" fmla="*/ 1 w 53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2" h="3">
                    <a:moveTo>
                      <a:pt x="53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8" name="Freeform 195"/>
              <p:cNvSpPr>
                <a:spLocks noChangeAspect="1" noChangeArrowheads="1"/>
              </p:cNvSpPr>
              <p:nvPr/>
            </p:nvSpPr>
            <p:spPr bwMode="auto">
              <a:xfrm>
                <a:off x="2420" y="3269"/>
                <a:ext cx="39" cy="3"/>
              </a:xfrm>
              <a:custGeom>
                <a:avLst/>
                <a:gdLst>
                  <a:gd name="T0" fmla="*/ 107 w 107"/>
                  <a:gd name="T1" fmla="*/ 0 h 3"/>
                  <a:gd name="T2" fmla="*/ 0 w 107"/>
                  <a:gd name="T3" fmla="*/ 0 h 3"/>
                  <a:gd name="T4" fmla="*/ 1 w 107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7" h="3">
                    <a:moveTo>
                      <a:pt x="107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9" name="Freeform 196"/>
              <p:cNvSpPr>
                <a:spLocks noChangeAspect="1" noChangeArrowheads="1"/>
              </p:cNvSpPr>
              <p:nvPr/>
            </p:nvSpPr>
            <p:spPr bwMode="auto">
              <a:xfrm>
                <a:off x="2188" y="3269"/>
                <a:ext cx="195" cy="3"/>
              </a:xfrm>
              <a:custGeom>
                <a:avLst/>
                <a:gdLst>
                  <a:gd name="T0" fmla="*/ 532 w 532"/>
                  <a:gd name="T1" fmla="*/ 0 h 3"/>
                  <a:gd name="T2" fmla="*/ 0 w 532"/>
                  <a:gd name="T3" fmla="*/ 0 h 3"/>
                  <a:gd name="T4" fmla="*/ 1 w 53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2" h="3">
                    <a:moveTo>
                      <a:pt x="53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0" name="Freeform 197"/>
              <p:cNvSpPr>
                <a:spLocks noChangeAspect="1" noChangeArrowheads="1"/>
              </p:cNvSpPr>
              <p:nvPr/>
            </p:nvSpPr>
            <p:spPr bwMode="auto">
              <a:xfrm>
                <a:off x="2111" y="3269"/>
                <a:ext cx="40" cy="3"/>
              </a:xfrm>
              <a:custGeom>
                <a:avLst/>
                <a:gdLst>
                  <a:gd name="T0" fmla="*/ 107 w 107"/>
                  <a:gd name="T1" fmla="*/ 0 h 3"/>
                  <a:gd name="T2" fmla="*/ 0 w 107"/>
                  <a:gd name="T3" fmla="*/ 0 h 3"/>
                  <a:gd name="T4" fmla="*/ 1 w 107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7" h="3">
                    <a:moveTo>
                      <a:pt x="107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1" name="Freeform 198"/>
              <p:cNvSpPr>
                <a:spLocks noChangeAspect="1" noChangeArrowheads="1"/>
              </p:cNvSpPr>
              <p:nvPr/>
            </p:nvSpPr>
            <p:spPr bwMode="auto">
              <a:xfrm>
                <a:off x="1880" y="3269"/>
                <a:ext cx="191" cy="3"/>
              </a:xfrm>
              <a:custGeom>
                <a:avLst/>
                <a:gdLst>
                  <a:gd name="T0" fmla="*/ 532 w 532"/>
                  <a:gd name="T1" fmla="*/ 0 h 3"/>
                  <a:gd name="T2" fmla="*/ 0 w 532"/>
                  <a:gd name="T3" fmla="*/ 0 h 3"/>
                  <a:gd name="T4" fmla="*/ 1 w 53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2" h="3">
                    <a:moveTo>
                      <a:pt x="532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2" name="Freeform 199"/>
              <p:cNvSpPr>
                <a:spLocks noChangeAspect="1" noChangeArrowheads="1"/>
              </p:cNvSpPr>
              <p:nvPr/>
            </p:nvSpPr>
            <p:spPr bwMode="auto">
              <a:xfrm>
                <a:off x="1803" y="3269"/>
                <a:ext cx="41" cy="3"/>
              </a:xfrm>
              <a:custGeom>
                <a:avLst/>
                <a:gdLst>
                  <a:gd name="T0" fmla="*/ 107 w 107"/>
                  <a:gd name="T1" fmla="*/ 0 h 3"/>
                  <a:gd name="T2" fmla="*/ 0 w 107"/>
                  <a:gd name="T3" fmla="*/ 0 h 3"/>
                  <a:gd name="T4" fmla="*/ 1 w 107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7" h="3">
                    <a:moveTo>
                      <a:pt x="107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3" name="Freeform 200"/>
              <p:cNvSpPr>
                <a:spLocks noChangeAspect="1" noChangeArrowheads="1"/>
              </p:cNvSpPr>
              <p:nvPr/>
            </p:nvSpPr>
            <p:spPr bwMode="auto">
              <a:xfrm>
                <a:off x="1539" y="3269"/>
                <a:ext cx="225" cy="3"/>
              </a:xfrm>
              <a:custGeom>
                <a:avLst/>
                <a:gdLst>
                  <a:gd name="T0" fmla="*/ 621 w 621"/>
                  <a:gd name="T1" fmla="*/ 0 h 3"/>
                  <a:gd name="T2" fmla="*/ 0 w 621"/>
                  <a:gd name="T3" fmla="*/ 0 h 3"/>
                  <a:gd name="T4" fmla="*/ 1 w 62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21" h="3">
                    <a:moveTo>
                      <a:pt x="621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4" name="Line 201"/>
              <p:cNvSpPr>
                <a:spLocks noChangeAspect="1" noChangeShapeType="1"/>
              </p:cNvSpPr>
              <p:nvPr/>
            </p:nvSpPr>
            <p:spPr bwMode="auto">
              <a:xfrm>
                <a:off x="2170" y="3096"/>
                <a:ext cx="0" cy="355"/>
              </a:xfrm>
              <a:prstGeom prst="line">
                <a:avLst/>
              </a:prstGeom>
              <a:noFill/>
              <a:ln w="12700">
                <a:solidFill>
                  <a:schemeClr val="accent2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5" name="Line 202"/>
              <p:cNvSpPr>
                <a:spLocks noChangeAspect="1" noChangeShapeType="1"/>
              </p:cNvSpPr>
              <p:nvPr/>
            </p:nvSpPr>
            <p:spPr bwMode="auto">
              <a:xfrm>
                <a:off x="2428" y="2806"/>
                <a:ext cx="0" cy="193"/>
              </a:xfrm>
              <a:prstGeom prst="line">
                <a:avLst/>
              </a:prstGeom>
              <a:noFill/>
              <a:ln w="12700">
                <a:solidFill>
                  <a:schemeClr val="accent2"/>
                </a:solidFill>
                <a:prstDash val="lgDash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03" name="Rectangle 203"/>
          <p:cNvSpPr>
            <a:spLocks noChangeArrowheads="1"/>
          </p:cNvSpPr>
          <p:nvPr/>
        </p:nvSpPr>
        <p:spPr bwMode="auto">
          <a:xfrm>
            <a:off x="885577" y="319088"/>
            <a:ext cx="4692650" cy="520700"/>
          </a:xfrm>
          <a:prstGeom prst="rect">
            <a:avLst/>
          </a:prstGeom>
          <a:solidFill>
            <a:srgbClr val="0000FF"/>
          </a:solidFill>
        </p:spPr>
        <p:txBody>
          <a:bodyPr/>
          <a:lstStyle/>
          <a:p>
            <a:pPr marL="838200" indent="-838200">
              <a:lnSpc>
                <a:spcPct val="90000"/>
              </a:lnSpc>
              <a:spcBef>
                <a:spcPct val="0"/>
              </a:spcBef>
            </a:pPr>
            <a:r>
              <a:rPr lang="zh-CN" altLang="en-US" sz="32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rPr>
              <a:t>移出断面图的剖视图表示法</a:t>
            </a:r>
          </a:p>
        </p:txBody>
      </p:sp>
      <p:grpSp>
        <p:nvGrpSpPr>
          <p:cNvPr id="204" name="Group 204"/>
          <p:cNvGrpSpPr>
            <a:grpSpLocks/>
          </p:cNvGrpSpPr>
          <p:nvPr/>
        </p:nvGrpSpPr>
        <p:grpSpPr bwMode="auto">
          <a:xfrm>
            <a:off x="4656139" y="5421313"/>
            <a:ext cx="631825" cy="150812"/>
            <a:chOff x="1973" y="3415"/>
            <a:chExt cx="398" cy="95"/>
          </a:xfrm>
        </p:grpSpPr>
        <p:sp>
          <p:nvSpPr>
            <p:cNvPr id="205" name="Freeform 205"/>
            <p:cNvSpPr>
              <a:spLocks noChangeArrowheads="1"/>
            </p:cNvSpPr>
            <p:nvPr/>
          </p:nvSpPr>
          <p:spPr bwMode="auto">
            <a:xfrm>
              <a:off x="1973" y="3415"/>
              <a:ext cx="182" cy="89"/>
            </a:xfrm>
            <a:custGeom>
              <a:avLst/>
              <a:gdLst>
                <a:gd name="T0" fmla="*/ 67 w 67"/>
                <a:gd name="T1" fmla="*/ 33 h 33"/>
                <a:gd name="T2" fmla="*/ 65 w 67"/>
                <a:gd name="T3" fmla="*/ 23 h 33"/>
                <a:gd name="T4" fmla="*/ 60 w 67"/>
                <a:gd name="T5" fmla="*/ 14 h 33"/>
                <a:gd name="T6" fmla="*/ 53 w 67"/>
                <a:gd name="T7" fmla="*/ 7 h 33"/>
                <a:gd name="T8" fmla="*/ 44 w 67"/>
                <a:gd name="T9" fmla="*/ 2 h 33"/>
                <a:gd name="T10" fmla="*/ 33 w 67"/>
                <a:gd name="T11" fmla="*/ 0 h 33"/>
                <a:gd name="T12" fmla="*/ 23 w 67"/>
                <a:gd name="T13" fmla="*/ 2 h 33"/>
                <a:gd name="T14" fmla="*/ 14 w 67"/>
                <a:gd name="T15" fmla="*/ 7 h 33"/>
                <a:gd name="T16" fmla="*/ 7 w 67"/>
                <a:gd name="T17" fmla="*/ 14 h 33"/>
                <a:gd name="T18" fmla="*/ 2 w 67"/>
                <a:gd name="T19" fmla="*/ 23 h 33"/>
                <a:gd name="T20" fmla="*/ 0 w 67"/>
                <a:gd name="T2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33">
                  <a:moveTo>
                    <a:pt x="67" y="33"/>
                  </a:moveTo>
                  <a:lnTo>
                    <a:pt x="65" y="23"/>
                  </a:lnTo>
                  <a:lnTo>
                    <a:pt x="60" y="14"/>
                  </a:lnTo>
                  <a:lnTo>
                    <a:pt x="53" y="7"/>
                  </a:lnTo>
                  <a:lnTo>
                    <a:pt x="44" y="2"/>
                  </a:lnTo>
                  <a:lnTo>
                    <a:pt x="33" y="0"/>
                  </a:lnTo>
                  <a:lnTo>
                    <a:pt x="23" y="2"/>
                  </a:lnTo>
                  <a:lnTo>
                    <a:pt x="14" y="7"/>
                  </a:lnTo>
                  <a:lnTo>
                    <a:pt x="7" y="14"/>
                  </a:lnTo>
                  <a:lnTo>
                    <a:pt x="2" y="23"/>
                  </a:lnTo>
                  <a:lnTo>
                    <a:pt x="0" y="3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6" name="Freeform 206"/>
            <p:cNvSpPr>
              <a:spLocks noChangeArrowheads="1"/>
            </p:cNvSpPr>
            <p:nvPr/>
          </p:nvSpPr>
          <p:spPr bwMode="auto">
            <a:xfrm>
              <a:off x="2128" y="3429"/>
              <a:ext cx="27" cy="75"/>
            </a:xfrm>
            <a:custGeom>
              <a:avLst/>
              <a:gdLst>
                <a:gd name="T0" fmla="*/ 10 w 10"/>
                <a:gd name="T1" fmla="*/ 28 h 28"/>
                <a:gd name="T2" fmla="*/ 10 w 10"/>
                <a:gd name="T3" fmla="*/ 25 h 28"/>
                <a:gd name="T4" fmla="*/ 10 w 10"/>
                <a:gd name="T5" fmla="*/ 22 h 28"/>
                <a:gd name="T6" fmla="*/ 10 w 10"/>
                <a:gd name="T7" fmla="*/ 19 h 28"/>
                <a:gd name="T8" fmla="*/ 9 w 10"/>
                <a:gd name="T9" fmla="*/ 16 h 28"/>
                <a:gd name="T10" fmla="*/ 8 w 10"/>
                <a:gd name="T11" fmla="*/ 13 h 28"/>
                <a:gd name="T12" fmla="*/ 7 w 10"/>
                <a:gd name="T13" fmla="*/ 10 h 28"/>
                <a:gd name="T14" fmla="*/ 6 w 10"/>
                <a:gd name="T15" fmla="*/ 7 h 28"/>
                <a:gd name="T16" fmla="*/ 4 w 10"/>
                <a:gd name="T17" fmla="*/ 5 h 28"/>
                <a:gd name="T18" fmla="*/ 2 w 10"/>
                <a:gd name="T19" fmla="*/ 2 h 28"/>
                <a:gd name="T20" fmla="*/ 0 w 10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28">
                  <a:moveTo>
                    <a:pt x="10" y="28"/>
                  </a:moveTo>
                  <a:lnTo>
                    <a:pt x="10" y="25"/>
                  </a:lnTo>
                  <a:lnTo>
                    <a:pt x="10" y="22"/>
                  </a:lnTo>
                  <a:lnTo>
                    <a:pt x="10" y="19"/>
                  </a:lnTo>
                  <a:lnTo>
                    <a:pt x="9" y="16"/>
                  </a:lnTo>
                  <a:lnTo>
                    <a:pt x="8" y="13"/>
                  </a:lnTo>
                  <a:lnTo>
                    <a:pt x="7" y="10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7" name="Freeform 207"/>
            <p:cNvSpPr>
              <a:spLocks noChangeArrowheads="1"/>
            </p:cNvSpPr>
            <p:nvPr/>
          </p:nvSpPr>
          <p:spPr bwMode="auto">
            <a:xfrm>
              <a:off x="2114" y="3442"/>
              <a:ext cx="41" cy="62"/>
            </a:xfrm>
            <a:custGeom>
              <a:avLst/>
              <a:gdLst>
                <a:gd name="T0" fmla="*/ 15 w 15"/>
                <a:gd name="T1" fmla="*/ 23 h 23"/>
                <a:gd name="T2" fmla="*/ 14 w 15"/>
                <a:gd name="T3" fmla="*/ 21 h 23"/>
                <a:gd name="T4" fmla="*/ 13 w 15"/>
                <a:gd name="T5" fmla="*/ 18 h 23"/>
                <a:gd name="T6" fmla="*/ 12 w 15"/>
                <a:gd name="T7" fmla="*/ 15 h 23"/>
                <a:gd name="T8" fmla="*/ 11 w 15"/>
                <a:gd name="T9" fmla="*/ 13 h 23"/>
                <a:gd name="T10" fmla="*/ 10 w 15"/>
                <a:gd name="T11" fmla="*/ 10 h 23"/>
                <a:gd name="T12" fmla="*/ 8 w 15"/>
                <a:gd name="T13" fmla="*/ 8 h 23"/>
                <a:gd name="T14" fmla="*/ 6 w 15"/>
                <a:gd name="T15" fmla="*/ 6 h 23"/>
                <a:gd name="T16" fmla="*/ 4 w 15"/>
                <a:gd name="T17" fmla="*/ 4 h 23"/>
                <a:gd name="T18" fmla="*/ 2 w 15"/>
                <a:gd name="T19" fmla="*/ 2 h 23"/>
                <a:gd name="T20" fmla="*/ 0 w 15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23">
                  <a:moveTo>
                    <a:pt x="15" y="23"/>
                  </a:moveTo>
                  <a:lnTo>
                    <a:pt x="14" y="21"/>
                  </a:lnTo>
                  <a:lnTo>
                    <a:pt x="13" y="18"/>
                  </a:lnTo>
                  <a:lnTo>
                    <a:pt x="12" y="15"/>
                  </a:lnTo>
                  <a:lnTo>
                    <a:pt x="11" y="13"/>
                  </a:lnTo>
                  <a:lnTo>
                    <a:pt x="10" y="10"/>
                  </a:lnTo>
                  <a:lnTo>
                    <a:pt x="8" y="8"/>
                  </a:lnTo>
                  <a:lnTo>
                    <a:pt x="6" y="6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8" name="Line 208"/>
            <p:cNvSpPr>
              <a:spLocks noChangeShapeType="1"/>
            </p:cNvSpPr>
            <p:nvPr/>
          </p:nvSpPr>
          <p:spPr bwMode="auto">
            <a:xfrm flipH="1">
              <a:off x="2114" y="3429"/>
              <a:ext cx="14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9" name="Freeform 209"/>
            <p:cNvSpPr>
              <a:spLocks noChangeArrowheads="1"/>
            </p:cNvSpPr>
            <p:nvPr/>
          </p:nvSpPr>
          <p:spPr bwMode="auto">
            <a:xfrm>
              <a:off x="2119" y="3429"/>
              <a:ext cx="36" cy="75"/>
            </a:xfrm>
            <a:custGeom>
              <a:avLst/>
              <a:gdLst>
                <a:gd name="T0" fmla="*/ 36 w 36"/>
                <a:gd name="T1" fmla="*/ 75 h 75"/>
                <a:gd name="T2" fmla="*/ 33 w 36"/>
                <a:gd name="T3" fmla="*/ 62 h 75"/>
                <a:gd name="T4" fmla="*/ 30 w 36"/>
                <a:gd name="T5" fmla="*/ 51 h 75"/>
                <a:gd name="T6" fmla="*/ 25 w 36"/>
                <a:gd name="T7" fmla="*/ 37 h 75"/>
                <a:gd name="T8" fmla="*/ 19 w 36"/>
                <a:gd name="T9" fmla="*/ 27 h 75"/>
                <a:gd name="T10" fmla="*/ 11 w 36"/>
                <a:gd name="T11" fmla="*/ 16 h 75"/>
                <a:gd name="T12" fmla="*/ 0 w 36"/>
                <a:gd name="T13" fmla="*/ 8 h 75"/>
                <a:gd name="T14" fmla="*/ 9 w 36"/>
                <a:gd name="T15" fmla="*/ 0 h 75"/>
                <a:gd name="T16" fmla="*/ 9 w 36"/>
                <a:gd name="T17" fmla="*/ 0 h 75"/>
                <a:gd name="T18" fmla="*/ 17 w 36"/>
                <a:gd name="T19" fmla="*/ 8 h 75"/>
                <a:gd name="T20" fmla="*/ 22 w 36"/>
                <a:gd name="T21" fmla="*/ 18 h 75"/>
                <a:gd name="T22" fmla="*/ 27 w 36"/>
                <a:gd name="T23" fmla="*/ 29 h 75"/>
                <a:gd name="T24" fmla="*/ 33 w 36"/>
                <a:gd name="T25" fmla="*/ 40 h 75"/>
                <a:gd name="T26" fmla="*/ 36 w 36"/>
                <a:gd name="T27" fmla="*/ 54 h 75"/>
                <a:gd name="T28" fmla="*/ 36 w 36"/>
                <a:gd name="T29" fmla="*/ 64 h 75"/>
                <a:gd name="T30" fmla="*/ 36 w 36"/>
                <a:gd name="T31" fmla="*/ 75 h 75"/>
                <a:gd name="T32" fmla="*/ 36 w 36"/>
                <a:gd name="T33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75">
                  <a:moveTo>
                    <a:pt x="36" y="75"/>
                  </a:moveTo>
                  <a:lnTo>
                    <a:pt x="33" y="62"/>
                  </a:lnTo>
                  <a:lnTo>
                    <a:pt x="30" y="51"/>
                  </a:lnTo>
                  <a:lnTo>
                    <a:pt x="25" y="37"/>
                  </a:lnTo>
                  <a:lnTo>
                    <a:pt x="19" y="27"/>
                  </a:lnTo>
                  <a:lnTo>
                    <a:pt x="11" y="16"/>
                  </a:lnTo>
                  <a:lnTo>
                    <a:pt x="0" y="8"/>
                  </a:lnTo>
                  <a:lnTo>
                    <a:pt x="9" y="0"/>
                  </a:lnTo>
                  <a:lnTo>
                    <a:pt x="17" y="8"/>
                  </a:lnTo>
                  <a:lnTo>
                    <a:pt x="22" y="18"/>
                  </a:lnTo>
                  <a:lnTo>
                    <a:pt x="27" y="29"/>
                  </a:lnTo>
                  <a:lnTo>
                    <a:pt x="33" y="40"/>
                  </a:lnTo>
                  <a:lnTo>
                    <a:pt x="36" y="54"/>
                  </a:lnTo>
                  <a:lnTo>
                    <a:pt x="36" y="64"/>
                  </a:lnTo>
                  <a:lnTo>
                    <a:pt x="36" y="75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0" name="Freeform 210"/>
            <p:cNvSpPr>
              <a:spLocks noChangeArrowheads="1"/>
            </p:cNvSpPr>
            <p:nvPr/>
          </p:nvSpPr>
          <p:spPr bwMode="auto">
            <a:xfrm>
              <a:off x="2114" y="3437"/>
              <a:ext cx="41" cy="67"/>
            </a:xfrm>
            <a:custGeom>
              <a:avLst/>
              <a:gdLst>
                <a:gd name="T0" fmla="*/ 41 w 41"/>
                <a:gd name="T1" fmla="*/ 67 h 67"/>
                <a:gd name="T2" fmla="*/ 38 w 41"/>
                <a:gd name="T3" fmla="*/ 56 h 67"/>
                <a:gd name="T4" fmla="*/ 32 w 41"/>
                <a:gd name="T5" fmla="*/ 43 h 67"/>
                <a:gd name="T6" fmla="*/ 27 w 41"/>
                <a:gd name="T7" fmla="*/ 32 h 67"/>
                <a:gd name="T8" fmla="*/ 19 w 41"/>
                <a:gd name="T9" fmla="*/ 21 h 67"/>
                <a:gd name="T10" fmla="*/ 11 w 41"/>
                <a:gd name="T11" fmla="*/ 13 h 67"/>
                <a:gd name="T12" fmla="*/ 0 w 41"/>
                <a:gd name="T13" fmla="*/ 5 h 67"/>
                <a:gd name="T14" fmla="*/ 5 w 41"/>
                <a:gd name="T15" fmla="*/ 0 h 67"/>
                <a:gd name="T16" fmla="*/ 5 w 41"/>
                <a:gd name="T17" fmla="*/ 0 h 67"/>
                <a:gd name="T18" fmla="*/ 16 w 41"/>
                <a:gd name="T19" fmla="*/ 8 h 67"/>
                <a:gd name="T20" fmla="*/ 24 w 41"/>
                <a:gd name="T21" fmla="*/ 19 h 67"/>
                <a:gd name="T22" fmla="*/ 30 w 41"/>
                <a:gd name="T23" fmla="*/ 29 h 67"/>
                <a:gd name="T24" fmla="*/ 35 w 41"/>
                <a:gd name="T25" fmla="*/ 43 h 67"/>
                <a:gd name="T26" fmla="*/ 38 w 41"/>
                <a:gd name="T27" fmla="*/ 54 h 67"/>
                <a:gd name="T28" fmla="*/ 41 w 41"/>
                <a:gd name="T29" fmla="*/ 67 h 67"/>
                <a:gd name="T30" fmla="*/ 41 w 41"/>
                <a:gd name="T3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" h="67">
                  <a:moveTo>
                    <a:pt x="41" y="67"/>
                  </a:moveTo>
                  <a:lnTo>
                    <a:pt x="38" y="56"/>
                  </a:lnTo>
                  <a:lnTo>
                    <a:pt x="32" y="43"/>
                  </a:lnTo>
                  <a:lnTo>
                    <a:pt x="27" y="32"/>
                  </a:lnTo>
                  <a:lnTo>
                    <a:pt x="19" y="21"/>
                  </a:lnTo>
                  <a:lnTo>
                    <a:pt x="11" y="13"/>
                  </a:lnTo>
                  <a:lnTo>
                    <a:pt x="0" y="5"/>
                  </a:lnTo>
                  <a:lnTo>
                    <a:pt x="5" y="0"/>
                  </a:lnTo>
                  <a:lnTo>
                    <a:pt x="16" y="8"/>
                  </a:lnTo>
                  <a:lnTo>
                    <a:pt x="24" y="19"/>
                  </a:lnTo>
                  <a:lnTo>
                    <a:pt x="30" y="29"/>
                  </a:lnTo>
                  <a:lnTo>
                    <a:pt x="35" y="43"/>
                  </a:lnTo>
                  <a:lnTo>
                    <a:pt x="38" y="54"/>
                  </a:lnTo>
                  <a:lnTo>
                    <a:pt x="41" y="6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1" name="Freeform 211"/>
            <p:cNvSpPr>
              <a:spLocks noChangeArrowheads="1"/>
            </p:cNvSpPr>
            <p:nvPr/>
          </p:nvSpPr>
          <p:spPr bwMode="auto">
            <a:xfrm>
              <a:off x="2114" y="3437"/>
              <a:ext cx="41" cy="67"/>
            </a:xfrm>
            <a:custGeom>
              <a:avLst/>
              <a:gdLst>
                <a:gd name="T0" fmla="*/ 41 w 41"/>
                <a:gd name="T1" fmla="*/ 67 h 67"/>
                <a:gd name="T2" fmla="*/ 38 w 41"/>
                <a:gd name="T3" fmla="*/ 56 h 67"/>
                <a:gd name="T4" fmla="*/ 32 w 41"/>
                <a:gd name="T5" fmla="*/ 43 h 67"/>
                <a:gd name="T6" fmla="*/ 27 w 41"/>
                <a:gd name="T7" fmla="*/ 32 h 67"/>
                <a:gd name="T8" fmla="*/ 19 w 41"/>
                <a:gd name="T9" fmla="*/ 21 h 67"/>
                <a:gd name="T10" fmla="*/ 11 w 41"/>
                <a:gd name="T11" fmla="*/ 13 h 67"/>
                <a:gd name="T12" fmla="*/ 0 w 41"/>
                <a:gd name="T13" fmla="*/ 5 h 67"/>
                <a:gd name="T14" fmla="*/ 5 w 41"/>
                <a:gd name="T15" fmla="*/ 0 h 67"/>
                <a:gd name="T16" fmla="*/ 5 w 41"/>
                <a:gd name="T17" fmla="*/ 0 h 67"/>
                <a:gd name="T18" fmla="*/ 16 w 41"/>
                <a:gd name="T19" fmla="*/ 8 h 67"/>
                <a:gd name="T20" fmla="*/ 24 w 41"/>
                <a:gd name="T21" fmla="*/ 19 h 67"/>
                <a:gd name="T22" fmla="*/ 30 w 41"/>
                <a:gd name="T23" fmla="*/ 29 h 67"/>
                <a:gd name="T24" fmla="*/ 35 w 41"/>
                <a:gd name="T25" fmla="*/ 43 h 67"/>
                <a:gd name="T26" fmla="*/ 38 w 41"/>
                <a:gd name="T27" fmla="*/ 54 h 67"/>
                <a:gd name="T28" fmla="*/ 41 w 41"/>
                <a:gd name="T29" fmla="*/ 67 h 67"/>
                <a:gd name="T30" fmla="*/ 41 w 41"/>
                <a:gd name="T3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" h="67">
                  <a:moveTo>
                    <a:pt x="41" y="67"/>
                  </a:moveTo>
                  <a:lnTo>
                    <a:pt x="38" y="56"/>
                  </a:lnTo>
                  <a:lnTo>
                    <a:pt x="32" y="43"/>
                  </a:lnTo>
                  <a:lnTo>
                    <a:pt x="27" y="32"/>
                  </a:lnTo>
                  <a:lnTo>
                    <a:pt x="19" y="21"/>
                  </a:lnTo>
                  <a:lnTo>
                    <a:pt x="11" y="13"/>
                  </a:lnTo>
                  <a:lnTo>
                    <a:pt x="0" y="5"/>
                  </a:lnTo>
                  <a:lnTo>
                    <a:pt x="5" y="0"/>
                  </a:lnTo>
                  <a:lnTo>
                    <a:pt x="16" y="8"/>
                  </a:lnTo>
                  <a:lnTo>
                    <a:pt x="24" y="19"/>
                  </a:lnTo>
                  <a:lnTo>
                    <a:pt x="30" y="29"/>
                  </a:lnTo>
                  <a:lnTo>
                    <a:pt x="35" y="43"/>
                  </a:lnTo>
                  <a:lnTo>
                    <a:pt x="38" y="54"/>
                  </a:lnTo>
                  <a:lnTo>
                    <a:pt x="41" y="6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2" name="Freeform 212"/>
            <p:cNvSpPr>
              <a:spLocks noChangeArrowheads="1"/>
            </p:cNvSpPr>
            <p:nvPr/>
          </p:nvSpPr>
          <p:spPr bwMode="auto">
            <a:xfrm>
              <a:off x="2114" y="3437"/>
              <a:ext cx="41" cy="67"/>
            </a:xfrm>
            <a:custGeom>
              <a:avLst/>
              <a:gdLst>
                <a:gd name="T0" fmla="*/ 41 w 41"/>
                <a:gd name="T1" fmla="*/ 67 h 67"/>
                <a:gd name="T2" fmla="*/ 38 w 41"/>
                <a:gd name="T3" fmla="*/ 56 h 67"/>
                <a:gd name="T4" fmla="*/ 32 w 41"/>
                <a:gd name="T5" fmla="*/ 43 h 67"/>
                <a:gd name="T6" fmla="*/ 27 w 41"/>
                <a:gd name="T7" fmla="*/ 32 h 67"/>
                <a:gd name="T8" fmla="*/ 19 w 41"/>
                <a:gd name="T9" fmla="*/ 21 h 67"/>
                <a:gd name="T10" fmla="*/ 11 w 41"/>
                <a:gd name="T11" fmla="*/ 13 h 67"/>
                <a:gd name="T12" fmla="*/ 0 w 41"/>
                <a:gd name="T13" fmla="*/ 5 h 67"/>
                <a:gd name="T14" fmla="*/ 5 w 41"/>
                <a:gd name="T15" fmla="*/ 0 h 67"/>
                <a:gd name="T16" fmla="*/ 5 w 41"/>
                <a:gd name="T17" fmla="*/ 0 h 67"/>
                <a:gd name="T18" fmla="*/ 16 w 41"/>
                <a:gd name="T19" fmla="*/ 8 h 67"/>
                <a:gd name="T20" fmla="*/ 24 w 41"/>
                <a:gd name="T21" fmla="*/ 19 h 67"/>
                <a:gd name="T22" fmla="*/ 30 w 41"/>
                <a:gd name="T23" fmla="*/ 29 h 67"/>
                <a:gd name="T24" fmla="*/ 35 w 41"/>
                <a:gd name="T25" fmla="*/ 43 h 67"/>
                <a:gd name="T26" fmla="*/ 38 w 41"/>
                <a:gd name="T27" fmla="*/ 54 h 67"/>
                <a:gd name="T28" fmla="*/ 41 w 41"/>
                <a:gd name="T29" fmla="*/ 67 h 67"/>
                <a:gd name="T30" fmla="*/ 41 w 41"/>
                <a:gd name="T3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" h="67">
                  <a:moveTo>
                    <a:pt x="41" y="67"/>
                  </a:moveTo>
                  <a:lnTo>
                    <a:pt x="38" y="56"/>
                  </a:lnTo>
                  <a:lnTo>
                    <a:pt x="32" y="43"/>
                  </a:lnTo>
                  <a:lnTo>
                    <a:pt x="27" y="32"/>
                  </a:lnTo>
                  <a:lnTo>
                    <a:pt x="19" y="21"/>
                  </a:lnTo>
                  <a:lnTo>
                    <a:pt x="11" y="13"/>
                  </a:lnTo>
                  <a:lnTo>
                    <a:pt x="0" y="5"/>
                  </a:lnTo>
                  <a:lnTo>
                    <a:pt x="5" y="0"/>
                  </a:lnTo>
                  <a:lnTo>
                    <a:pt x="16" y="8"/>
                  </a:lnTo>
                  <a:lnTo>
                    <a:pt x="24" y="19"/>
                  </a:lnTo>
                  <a:lnTo>
                    <a:pt x="30" y="29"/>
                  </a:lnTo>
                  <a:lnTo>
                    <a:pt x="35" y="43"/>
                  </a:lnTo>
                  <a:lnTo>
                    <a:pt x="38" y="54"/>
                  </a:lnTo>
                  <a:lnTo>
                    <a:pt x="41" y="6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3" name="Freeform 213"/>
            <p:cNvSpPr>
              <a:spLocks noChangeArrowheads="1"/>
            </p:cNvSpPr>
            <p:nvPr/>
          </p:nvSpPr>
          <p:spPr bwMode="auto">
            <a:xfrm>
              <a:off x="2114" y="3437"/>
              <a:ext cx="41" cy="67"/>
            </a:xfrm>
            <a:custGeom>
              <a:avLst/>
              <a:gdLst>
                <a:gd name="T0" fmla="*/ 41 w 41"/>
                <a:gd name="T1" fmla="*/ 67 h 67"/>
                <a:gd name="T2" fmla="*/ 38 w 41"/>
                <a:gd name="T3" fmla="*/ 56 h 67"/>
                <a:gd name="T4" fmla="*/ 32 w 41"/>
                <a:gd name="T5" fmla="*/ 43 h 67"/>
                <a:gd name="T6" fmla="*/ 27 w 41"/>
                <a:gd name="T7" fmla="*/ 32 h 67"/>
                <a:gd name="T8" fmla="*/ 19 w 41"/>
                <a:gd name="T9" fmla="*/ 21 h 67"/>
                <a:gd name="T10" fmla="*/ 11 w 41"/>
                <a:gd name="T11" fmla="*/ 13 h 67"/>
                <a:gd name="T12" fmla="*/ 0 w 41"/>
                <a:gd name="T13" fmla="*/ 5 h 67"/>
                <a:gd name="T14" fmla="*/ 5 w 41"/>
                <a:gd name="T15" fmla="*/ 0 h 67"/>
                <a:gd name="T16" fmla="*/ 5 w 41"/>
                <a:gd name="T17" fmla="*/ 0 h 67"/>
                <a:gd name="T18" fmla="*/ 16 w 41"/>
                <a:gd name="T19" fmla="*/ 8 h 67"/>
                <a:gd name="T20" fmla="*/ 24 w 41"/>
                <a:gd name="T21" fmla="*/ 19 h 67"/>
                <a:gd name="T22" fmla="*/ 30 w 41"/>
                <a:gd name="T23" fmla="*/ 29 h 67"/>
                <a:gd name="T24" fmla="*/ 35 w 41"/>
                <a:gd name="T25" fmla="*/ 43 h 67"/>
                <a:gd name="T26" fmla="*/ 38 w 41"/>
                <a:gd name="T27" fmla="*/ 54 h 67"/>
                <a:gd name="T28" fmla="*/ 41 w 41"/>
                <a:gd name="T29" fmla="*/ 67 h 67"/>
                <a:gd name="T30" fmla="*/ 41 w 41"/>
                <a:gd name="T3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" h="67">
                  <a:moveTo>
                    <a:pt x="41" y="67"/>
                  </a:moveTo>
                  <a:lnTo>
                    <a:pt x="38" y="56"/>
                  </a:lnTo>
                  <a:lnTo>
                    <a:pt x="32" y="43"/>
                  </a:lnTo>
                  <a:lnTo>
                    <a:pt x="27" y="32"/>
                  </a:lnTo>
                  <a:lnTo>
                    <a:pt x="19" y="21"/>
                  </a:lnTo>
                  <a:lnTo>
                    <a:pt x="11" y="13"/>
                  </a:lnTo>
                  <a:lnTo>
                    <a:pt x="0" y="5"/>
                  </a:lnTo>
                  <a:lnTo>
                    <a:pt x="5" y="0"/>
                  </a:lnTo>
                  <a:lnTo>
                    <a:pt x="16" y="8"/>
                  </a:lnTo>
                  <a:lnTo>
                    <a:pt x="24" y="19"/>
                  </a:lnTo>
                  <a:lnTo>
                    <a:pt x="30" y="29"/>
                  </a:lnTo>
                  <a:lnTo>
                    <a:pt x="35" y="43"/>
                  </a:lnTo>
                  <a:lnTo>
                    <a:pt x="38" y="54"/>
                  </a:lnTo>
                  <a:lnTo>
                    <a:pt x="41" y="6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4" name="Freeform 214"/>
            <p:cNvSpPr>
              <a:spLocks noChangeArrowheads="1"/>
            </p:cNvSpPr>
            <p:nvPr/>
          </p:nvSpPr>
          <p:spPr bwMode="auto">
            <a:xfrm>
              <a:off x="2114" y="3437"/>
              <a:ext cx="41" cy="67"/>
            </a:xfrm>
            <a:custGeom>
              <a:avLst/>
              <a:gdLst>
                <a:gd name="T0" fmla="*/ 5 w 41"/>
                <a:gd name="T1" fmla="*/ 0 h 67"/>
                <a:gd name="T2" fmla="*/ 5 w 41"/>
                <a:gd name="T3" fmla="*/ 0 h 67"/>
                <a:gd name="T4" fmla="*/ 16 w 41"/>
                <a:gd name="T5" fmla="*/ 8 h 67"/>
                <a:gd name="T6" fmla="*/ 24 w 41"/>
                <a:gd name="T7" fmla="*/ 19 h 67"/>
                <a:gd name="T8" fmla="*/ 30 w 41"/>
                <a:gd name="T9" fmla="*/ 29 h 67"/>
                <a:gd name="T10" fmla="*/ 35 w 41"/>
                <a:gd name="T11" fmla="*/ 43 h 67"/>
                <a:gd name="T12" fmla="*/ 38 w 41"/>
                <a:gd name="T13" fmla="*/ 54 h 67"/>
                <a:gd name="T14" fmla="*/ 41 w 41"/>
                <a:gd name="T15" fmla="*/ 67 h 67"/>
                <a:gd name="T16" fmla="*/ 41 w 41"/>
                <a:gd name="T17" fmla="*/ 67 h 67"/>
                <a:gd name="T18" fmla="*/ 38 w 41"/>
                <a:gd name="T19" fmla="*/ 56 h 67"/>
                <a:gd name="T20" fmla="*/ 32 w 41"/>
                <a:gd name="T21" fmla="*/ 43 h 67"/>
                <a:gd name="T22" fmla="*/ 27 w 41"/>
                <a:gd name="T23" fmla="*/ 32 h 67"/>
                <a:gd name="T24" fmla="*/ 19 w 41"/>
                <a:gd name="T25" fmla="*/ 21 h 67"/>
                <a:gd name="T26" fmla="*/ 11 w 41"/>
                <a:gd name="T27" fmla="*/ 13 h 67"/>
                <a:gd name="T28" fmla="*/ 0 w 41"/>
                <a:gd name="T29" fmla="*/ 5 h 67"/>
                <a:gd name="T30" fmla="*/ 0 w 41"/>
                <a:gd name="T31" fmla="*/ 5 h 67"/>
                <a:gd name="T32" fmla="*/ 5 w 41"/>
                <a:gd name="T33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67">
                  <a:moveTo>
                    <a:pt x="5" y="0"/>
                  </a:moveTo>
                  <a:lnTo>
                    <a:pt x="5" y="0"/>
                  </a:lnTo>
                  <a:lnTo>
                    <a:pt x="16" y="8"/>
                  </a:lnTo>
                  <a:lnTo>
                    <a:pt x="24" y="19"/>
                  </a:lnTo>
                  <a:lnTo>
                    <a:pt x="30" y="29"/>
                  </a:lnTo>
                  <a:lnTo>
                    <a:pt x="35" y="43"/>
                  </a:lnTo>
                  <a:lnTo>
                    <a:pt x="38" y="54"/>
                  </a:lnTo>
                  <a:lnTo>
                    <a:pt x="41" y="67"/>
                  </a:lnTo>
                  <a:lnTo>
                    <a:pt x="38" y="56"/>
                  </a:lnTo>
                  <a:lnTo>
                    <a:pt x="32" y="43"/>
                  </a:lnTo>
                  <a:lnTo>
                    <a:pt x="27" y="32"/>
                  </a:lnTo>
                  <a:lnTo>
                    <a:pt x="19" y="21"/>
                  </a:lnTo>
                  <a:lnTo>
                    <a:pt x="11" y="13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5" name="Freeform 215"/>
            <p:cNvSpPr>
              <a:spLocks noChangeArrowheads="1"/>
            </p:cNvSpPr>
            <p:nvPr/>
          </p:nvSpPr>
          <p:spPr bwMode="auto">
            <a:xfrm>
              <a:off x="2211" y="3423"/>
              <a:ext cx="33" cy="87"/>
            </a:xfrm>
            <a:custGeom>
              <a:avLst/>
              <a:gdLst>
                <a:gd name="T0" fmla="*/ 0 w 12"/>
                <a:gd name="T1" fmla="*/ 32 h 32"/>
                <a:gd name="T2" fmla="*/ 6 w 12"/>
                <a:gd name="T3" fmla="*/ 0 h 32"/>
                <a:gd name="T4" fmla="*/ 12 w 12"/>
                <a:gd name="T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2">
                  <a:moveTo>
                    <a:pt x="0" y="32"/>
                  </a:moveTo>
                  <a:lnTo>
                    <a:pt x="6" y="0"/>
                  </a:lnTo>
                  <a:lnTo>
                    <a:pt x="12" y="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6" name="Line 216"/>
            <p:cNvSpPr>
              <a:spLocks noChangeShapeType="1"/>
            </p:cNvSpPr>
            <p:nvPr/>
          </p:nvSpPr>
          <p:spPr bwMode="auto">
            <a:xfrm>
              <a:off x="2217" y="3480"/>
              <a:ext cx="21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" name="Line 217"/>
            <p:cNvSpPr>
              <a:spLocks noChangeShapeType="1"/>
            </p:cNvSpPr>
            <p:nvPr/>
          </p:nvSpPr>
          <p:spPr bwMode="auto">
            <a:xfrm>
              <a:off x="2279" y="3466"/>
              <a:ext cx="24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8" name="Freeform 218"/>
            <p:cNvSpPr>
              <a:spLocks noChangeArrowheads="1"/>
            </p:cNvSpPr>
            <p:nvPr/>
          </p:nvSpPr>
          <p:spPr bwMode="auto">
            <a:xfrm>
              <a:off x="2338" y="3423"/>
              <a:ext cx="33" cy="87"/>
            </a:xfrm>
            <a:custGeom>
              <a:avLst/>
              <a:gdLst>
                <a:gd name="T0" fmla="*/ 0 w 12"/>
                <a:gd name="T1" fmla="*/ 32 h 32"/>
                <a:gd name="T2" fmla="*/ 6 w 12"/>
                <a:gd name="T3" fmla="*/ 0 h 32"/>
                <a:gd name="T4" fmla="*/ 12 w 12"/>
                <a:gd name="T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2">
                  <a:moveTo>
                    <a:pt x="0" y="32"/>
                  </a:moveTo>
                  <a:lnTo>
                    <a:pt x="6" y="0"/>
                  </a:lnTo>
                  <a:lnTo>
                    <a:pt x="12" y="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9" name="Line 219"/>
            <p:cNvSpPr>
              <a:spLocks noChangeShapeType="1"/>
            </p:cNvSpPr>
            <p:nvPr/>
          </p:nvSpPr>
          <p:spPr bwMode="auto">
            <a:xfrm>
              <a:off x="2344" y="3480"/>
              <a:ext cx="21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0" name="Group 220"/>
          <p:cNvGrpSpPr>
            <a:grpSpLocks/>
          </p:cNvGrpSpPr>
          <p:nvPr/>
        </p:nvGrpSpPr>
        <p:grpSpPr bwMode="auto">
          <a:xfrm>
            <a:off x="2489200" y="4048125"/>
            <a:ext cx="2000250" cy="2501900"/>
            <a:chOff x="608" y="2550"/>
            <a:chExt cx="1260" cy="1576"/>
          </a:xfrm>
        </p:grpSpPr>
        <p:sp>
          <p:nvSpPr>
            <p:cNvPr id="221" name="Freeform 221"/>
            <p:cNvSpPr>
              <a:spLocks noChangeArrowheads="1"/>
            </p:cNvSpPr>
            <p:nvPr/>
          </p:nvSpPr>
          <p:spPr bwMode="auto">
            <a:xfrm>
              <a:off x="995" y="3748"/>
              <a:ext cx="157" cy="313"/>
            </a:xfrm>
            <a:custGeom>
              <a:avLst/>
              <a:gdLst>
                <a:gd name="T0" fmla="*/ 58 w 58"/>
                <a:gd name="T1" fmla="*/ 0 h 116"/>
                <a:gd name="T2" fmla="*/ 43 w 58"/>
                <a:gd name="T3" fmla="*/ 2 h 116"/>
                <a:gd name="T4" fmla="*/ 29 w 58"/>
                <a:gd name="T5" fmla="*/ 7 h 116"/>
                <a:gd name="T6" fmla="*/ 17 w 58"/>
                <a:gd name="T7" fmla="*/ 17 h 116"/>
                <a:gd name="T8" fmla="*/ 8 w 58"/>
                <a:gd name="T9" fmla="*/ 29 h 116"/>
                <a:gd name="T10" fmla="*/ 2 w 58"/>
                <a:gd name="T11" fmla="*/ 43 h 116"/>
                <a:gd name="T12" fmla="*/ 0 w 58"/>
                <a:gd name="T13" fmla="*/ 58 h 116"/>
                <a:gd name="T14" fmla="*/ 2 w 58"/>
                <a:gd name="T15" fmla="*/ 73 h 116"/>
                <a:gd name="T16" fmla="*/ 8 w 58"/>
                <a:gd name="T17" fmla="*/ 87 h 116"/>
                <a:gd name="T18" fmla="*/ 17 w 58"/>
                <a:gd name="T19" fmla="*/ 99 h 116"/>
                <a:gd name="T20" fmla="*/ 29 w 58"/>
                <a:gd name="T21" fmla="*/ 108 h 116"/>
                <a:gd name="T22" fmla="*/ 43 w 58"/>
                <a:gd name="T23" fmla="*/ 114 h 116"/>
                <a:gd name="T24" fmla="*/ 58 w 58"/>
                <a:gd name="T25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" h="116">
                  <a:moveTo>
                    <a:pt x="58" y="0"/>
                  </a:moveTo>
                  <a:lnTo>
                    <a:pt x="43" y="2"/>
                  </a:lnTo>
                  <a:lnTo>
                    <a:pt x="29" y="7"/>
                  </a:lnTo>
                  <a:lnTo>
                    <a:pt x="17" y="17"/>
                  </a:lnTo>
                  <a:lnTo>
                    <a:pt x="8" y="29"/>
                  </a:lnTo>
                  <a:lnTo>
                    <a:pt x="2" y="43"/>
                  </a:lnTo>
                  <a:lnTo>
                    <a:pt x="0" y="58"/>
                  </a:lnTo>
                  <a:lnTo>
                    <a:pt x="2" y="73"/>
                  </a:lnTo>
                  <a:lnTo>
                    <a:pt x="8" y="87"/>
                  </a:lnTo>
                  <a:lnTo>
                    <a:pt x="17" y="99"/>
                  </a:lnTo>
                  <a:lnTo>
                    <a:pt x="29" y="108"/>
                  </a:lnTo>
                  <a:lnTo>
                    <a:pt x="43" y="114"/>
                  </a:lnTo>
                  <a:lnTo>
                    <a:pt x="58" y="116"/>
                  </a:lnTo>
                </a:path>
              </a:pathLst>
            </a:custGeom>
            <a:noFill/>
            <a:ln w="19050">
              <a:solidFill>
                <a:srgbClr val="008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2" name="Freeform 222"/>
            <p:cNvSpPr>
              <a:spLocks noChangeArrowheads="1"/>
            </p:cNvSpPr>
            <p:nvPr/>
          </p:nvSpPr>
          <p:spPr bwMode="auto">
            <a:xfrm>
              <a:off x="733" y="3691"/>
              <a:ext cx="213" cy="300"/>
            </a:xfrm>
            <a:custGeom>
              <a:avLst/>
              <a:gdLst>
                <a:gd name="T0" fmla="*/ 0 w 79"/>
                <a:gd name="T1" fmla="*/ 108 h 111"/>
                <a:gd name="T2" fmla="*/ 15 w 79"/>
                <a:gd name="T3" fmla="*/ 111 h 111"/>
                <a:gd name="T4" fmla="*/ 30 w 79"/>
                <a:gd name="T5" fmla="*/ 111 h 111"/>
                <a:gd name="T6" fmla="*/ 45 w 79"/>
                <a:gd name="T7" fmla="*/ 107 h 111"/>
                <a:gd name="T8" fmla="*/ 58 w 79"/>
                <a:gd name="T9" fmla="*/ 99 h 111"/>
                <a:gd name="T10" fmla="*/ 68 w 79"/>
                <a:gd name="T11" fmla="*/ 88 h 111"/>
                <a:gd name="T12" fmla="*/ 75 w 79"/>
                <a:gd name="T13" fmla="*/ 75 h 111"/>
                <a:gd name="T14" fmla="*/ 79 w 79"/>
                <a:gd name="T15" fmla="*/ 60 h 111"/>
                <a:gd name="T16" fmla="*/ 78 w 79"/>
                <a:gd name="T17" fmla="*/ 45 h 111"/>
                <a:gd name="T18" fmla="*/ 74 w 79"/>
                <a:gd name="T19" fmla="*/ 30 h 111"/>
                <a:gd name="T20" fmla="*/ 66 w 79"/>
                <a:gd name="T21" fmla="*/ 17 h 111"/>
                <a:gd name="T22" fmla="*/ 55 w 79"/>
                <a:gd name="T23" fmla="*/ 7 h 111"/>
                <a:gd name="T24" fmla="*/ 42 w 79"/>
                <a:gd name="T2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9" h="111">
                  <a:moveTo>
                    <a:pt x="0" y="108"/>
                  </a:moveTo>
                  <a:lnTo>
                    <a:pt x="15" y="111"/>
                  </a:lnTo>
                  <a:lnTo>
                    <a:pt x="30" y="111"/>
                  </a:lnTo>
                  <a:lnTo>
                    <a:pt x="45" y="107"/>
                  </a:lnTo>
                  <a:lnTo>
                    <a:pt x="58" y="99"/>
                  </a:lnTo>
                  <a:lnTo>
                    <a:pt x="68" y="88"/>
                  </a:lnTo>
                  <a:lnTo>
                    <a:pt x="75" y="75"/>
                  </a:lnTo>
                  <a:lnTo>
                    <a:pt x="79" y="60"/>
                  </a:lnTo>
                  <a:lnTo>
                    <a:pt x="78" y="45"/>
                  </a:lnTo>
                  <a:lnTo>
                    <a:pt x="74" y="30"/>
                  </a:lnTo>
                  <a:lnTo>
                    <a:pt x="66" y="17"/>
                  </a:lnTo>
                  <a:lnTo>
                    <a:pt x="55" y="7"/>
                  </a:lnTo>
                  <a:lnTo>
                    <a:pt x="42" y="0"/>
                  </a:lnTo>
                </a:path>
              </a:pathLst>
            </a:custGeom>
            <a:noFill/>
            <a:ln w="19050">
              <a:solidFill>
                <a:srgbClr val="008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3" name="Freeform 223"/>
            <p:cNvSpPr>
              <a:spLocks noChangeArrowheads="1"/>
            </p:cNvSpPr>
            <p:nvPr/>
          </p:nvSpPr>
          <p:spPr bwMode="auto">
            <a:xfrm>
              <a:off x="1152" y="3715"/>
              <a:ext cx="229" cy="33"/>
            </a:xfrm>
            <a:custGeom>
              <a:avLst/>
              <a:gdLst>
                <a:gd name="T0" fmla="*/ 0 w 85"/>
                <a:gd name="T1" fmla="*/ 12 h 12"/>
                <a:gd name="T2" fmla="*/ 43 w 85"/>
                <a:gd name="T3" fmla="*/ 9 h 12"/>
                <a:gd name="T4" fmla="*/ 85 w 85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" h="12">
                  <a:moveTo>
                    <a:pt x="0" y="12"/>
                  </a:moveTo>
                  <a:lnTo>
                    <a:pt x="43" y="9"/>
                  </a:lnTo>
                  <a:lnTo>
                    <a:pt x="85" y="0"/>
                  </a:lnTo>
                </a:path>
              </a:pathLst>
            </a:custGeom>
            <a:noFill/>
            <a:ln w="19050">
              <a:solidFill>
                <a:srgbClr val="008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24" name="Line 224"/>
            <p:cNvSpPr>
              <a:spLocks noChangeShapeType="1"/>
            </p:cNvSpPr>
            <p:nvPr/>
          </p:nvSpPr>
          <p:spPr bwMode="auto">
            <a:xfrm>
              <a:off x="841" y="2893"/>
              <a:ext cx="70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" name="Line 225"/>
            <p:cNvSpPr>
              <a:spLocks noChangeShapeType="1"/>
            </p:cNvSpPr>
            <p:nvPr/>
          </p:nvSpPr>
          <p:spPr bwMode="auto">
            <a:xfrm>
              <a:off x="919" y="2893"/>
              <a:ext cx="8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6" name="Line 226"/>
            <p:cNvSpPr>
              <a:spLocks noChangeShapeType="1"/>
            </p:cNvSpPr>
            <p:nvPr/>
          </p:nvSpPr>
          <p:spPr bwMode="auto">
            <a:xfrm>
              <a:off x="935" y="2893"/>
              <a:ext cx="71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7" name="Line 227"/>
            <p:cNvSpPr>
              <a:spLocks noChangeShapeType="1"/>
            </p:cNvSpPr>
            <p:nvPr/>
          </p:nvSpPr>
          <p:spPr bwMode="auto">
            <a:xfrm>
              <a:off x="1014" y="2893"/>
              <a:ext cx="8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8" name="Line 228"/>
            <p:cNvSpPr>
              <a:spLocks noChangeShapeType="1"/>
            </p:cNvSpPr>
            <p:nvPr/>
          </p:nvSpPr>
          <p:spPr bwMode="auto">
            <a:xfrm>
              <a:off x="1030" y="2893"/>
              <a:ext cx="70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9" name="Line 229"/>
            <p:cNvSpPr>
              <a:spLocks noChangeShapeType="1"/>
            </p:cNvSpPr>
            <p:nvPr/>
          </p:nvSpPr>
          <p:spPr bwMode="auto">
            <a:xfrm>
              <a:off x="1108" y="2893"/>
              <a:ext cx="8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0" name="Line 230"/>
            <p:cNvSpPr>
              <a:spLocks noChangeShapeType="1"/>
            </p:cNvSpPr>
            <p:nvPr/>
          </p:nvSpPr>
          <p:spPr bwMode="auto">
            <a:xfrm>
              <a:off x="1125" y="2893"/>
              <a:ext cx="70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1" name="Line 231"/>
            <p:cNvSpPr>
              <a:spLocks noChangeShapeType="1"/>
            </p:cNvSpPr>
            <p:nvPr/>
          </p:nvSpPr>
          <p:spPr bwMode="auto">
            <a:xfrm>
              <a:off x="1203" y="2893"/>
              <a:ext cx="8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2" name="Line 232"/>
            <p:cNvSpPr>
              <a:spLocks noChangeShapeType="1"/>
            </p:cNvSpPr>
            <p:nvPr/>
          </p:nvSpPr>
          <p:spPr bwMode="auto">
            <a:xfrm>
              <a:off x="1219" y="2893"/>
              <a:ext cx="70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3" name="Line 233"/>
            <p:cNvSpPr>
              <a:spLocks noChangeShapeType="1"/>
            </p:cNvSpPr>
            <p:nvPr/>
          </p:nvSpPr>
          <p:spPr bwMode="auto">
            <a:xfrm>
              <a:off x="1298" y="2893"/>
              <a:ext cx="8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4" name="Line 234"/>
            <p:cNvSpPr>
              <a:spLocks noChangeShapeType="1"/>
            </p:cNvSpPr>
            <p:nvPr/>
          </p:nvSpPr>
          <p:spPr bwMode="auto">
            <a:xfrm>
              <a:off x="1314" y="2893"/>
              <a:ext cx="70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" name="Line 235"/>
            <p:cNvSpPr>
              <a:spLocks noChangeShapeType="1"/>
            </p:cNvSpPr>
            <p:nvPr/>
          </p:nvSpPr>
          <p:spPr bwMode="auto">
            <a:xfrm>
              <a:off x="1392" y="2893"/>
              <a:ext cx="8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" name="Line 236"/>
            <p:cNvSpPr>
              <a:spLocks noChangeShapeType="1"/>
            </p:cNvSpPr>
            <p:nvPr/>
          </p:nvSpPr>
          <p:spPr bwMode="auto">
            <a:xfrm>
              <a:off x="1408" y="2893"/>
              <a:ext cx="57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" name="Line 237"/>
            <p:cNvSpPr>
              <a:spLocks noChangeShapeType="1"/>
            </p:cNvSpPr>
            <p:nvPr/>
          </p:nvSpPr>
          <p:spPr bwMode="auto">
            <a:xfrm>
              <a:off x="1152" y="2550"/>
              <a:ext cx="1" cy="7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8" name="Line 238"/>
            <p:cNvSpPr>
              <a:spLocks noChangeShapeType="1"/>
            </p:cNvSpPr>
            <p:nvPr/>
          </p:nvSpPr>
          <p:spPr bwMode="auto">
            <a:xfrm>
              <a:off x="1152" y="2628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9" name="Line 239"/>
            <p:cNvSpPr>
              <a:spLocks noChangeShapeType="1"/>
            </p:cNvSpPr>
            <p:nvPr/>
          </p:nvSpPr>
          <p:spPr bwMode="auto">
            <a:xfrm>
              <a:off x="1152" y="2644"/>
              <a:ext cx="1" cy="7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" name="Line 240"/>
            <p:cNvSpPr>
              <a:spLocks noChangeShapeType="1"/>
            </p:cNvSpPr>
            <p:nvPr/>
          </p:nvSpPr>
          <p:spPr bwMode="auto">
            <a:xfrm>
              <a:off x="1152" y="2723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1" name="Line 241"/>
            <p:cNvSpPr>
              <a:spLocks noChangeShapeType="1"/>
            </p:cNvSpPr>
            <p:nvPr/>
          </p:nvSpPr>
          <p:spPr bwMode="auto">
            <a:xfrm>
              <a:off x="1152" y="2739"/>
              <a:ext cx="1" cy="7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2" name="Line 242"/>
            <p:cNvSpPr>
              <a:spLocks noChangeShapeType="1"/>
            </p:cNvSpPr>
            <p:nvPr/>
          </p:nvSpPr>
          <p:spPr bwMode="auto">
            <a:xfrm>
              <a:off x="1152" y="2817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3" name="Line 243"/>
            <p:cNvSpPr>
              <a:spLocks noChangeShapeType="1"/>
            </p:cNvSpPr>
            <p:nvPr/>
          </p:nvSpPr>
          <p:spPr bwMode="auto">
            <a:xfrm>
              <a:off x="1152" y="2834"/>
              <a:ext cx="1" cy="7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4" name="Line 244"/>
            <p:cNvSpPr>
              <a:spLocks noChangeShapeType="1"/>
            </p:cNvSpPr>
            <p:nvPr/>
          </p:nvSpPr>
          <p:spPr bwMode="auto">
            <a:xfrm>
              <a:off x="1152" y="2912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" name="Line 245"/>
            <p:cNvSpPr>
              <a:spLocks noChangeShapeType="1"/>
            </p:cNvSpPr>
            <p:nvPr/>
          </p:nvSpPr>
          <p:spPr bwMode="auto">
            <a:xfrm>
              <a:off x="1152" y="2928"/>
              <a:ext cx="1" cy="7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" name="Line 246"/>
            <p:cNvSpPr>
              <a:spLocks noChangeShapeType="1"/>
            </p:cNvSpPr>
            <p:nvPr/>
          </p:nvSpPr>
          <p:spPr bwMode="auto">
            <a:xfrm>
              <a:off x="1152" y="3007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7" name="Line 247"/>
            <p:cNvSpPr>
              <a:spLocks noChangeShapeType="1"/>
            </p:cNvSpPr>
            <p:nvPr/>
          </p:nvSpPr>
          <p:spPr bwMode="auto">
            <a:xfrm>
              <a:off x="1152" y="3023"/>
              <a:ext cx="1" cy="7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8" name="Line 248"/>
            <p:cNvSpPr>
              <a:spLocks noChangeShapeType="1"/>
            </p:cNvSpPr>
            <p:nvPr/>
          </p:nvSpPr>
          <p:spPr bwMode="auto">
            <a:xfrm>
              <a:off x="1152" y="3101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9" name="Line 249"/>
            <p:cNvSpPr>
              <a:spLocks noChangeShapeType="1"/>
            </p:cNvSpPr>
            <p:nvPr/>
          </p:nvSpPr>
          <p:spPr bwMode="auto">
            <a:xfrm>
              <a:off x="1152" y="3118"/>
              <a:ext cx="1" cy="7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0" name="Line 250"/>
            <p:cNvSpPr>
              <a:spLocks noChangeShapeType="1"/>
            </p:cNvSpPr>
            <p:nvPr/>
          </p:nvSpPr>
          <p:spPr bwMode="auto">
            <a:xfrm>
              <a:off x="1152" y="3196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1" name="Line 251"/>
            <p:cNvSpPr>
              <a:spLocks noChangeShapeType="1"/>
            </p:cNvSpPr>
            <p:nvPr/>
          </p:nvSpPr>
          <p:spPr bwMode="auto">
            <a:xfrm>
              <a:off x="1152" y="3212"/>
              <a:ext cx="1" cy="7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" name="Line 252"/>
            <p:cNvSpPr>
              <a:spLocks noChangeShapeType="1"/>
            </p:cNvSpPr>
            <p:nvPr/>
          </p:nvSpPr>
          <p:spPr bwMode="auto">
            <a:xfrm>
              <a:off x="1152" y="3291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3" name="Line 253"/>
            <p:cNvSpPr>
              <a:spLocks noChangeShapeType="1"/>
            </p:cNvSpPr>
            <p:nvPr/>
          </p:nvSpPr>
          <p:spPr bwMode="auto">
            <a:xfrm>
              <a:off x="1152" y="3307"/>
              <a:ext cx="1" cy="7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4" name="Line 254"/>
            <p:cNvSpPr>
              <a:spLocks noChangeShapeType="1"/>
            </p:cNvSpPr>
            <p:nvPr/>
          </p:nvSpPr>
          <p:spPr bwMode="auto">
            <a:xfrm>
              <a:off x="1152" y="3385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5" name="Line 255"/>
            <p:cNvSpPr>
              <a:spLocks noChangeShapeType="1"/>
            </p:cNvSpPr>
            <p:nvPr/>
          </p:nvSpPr>
          <p:spPr bwMode="auto">
            <a:xfrm>
              <a:off x="1152" y="3402"/>
              <a:ext cx="1" cy="7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" name="Line 256"/>
            <p:cNvSpPr>
              <a:spLocks noChangeShapeType="1"/>
            </p:cNvSpPr>
            <p:nvPr/>
          </p:nvSpPr>
          <p:spPr bwMode="auto">
            <a:xfrm>
              <a:off x="1152" y="3480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" name="Line 257"/>
            <p:cNvSpPr>
              <a:spLocks noChangeShapeType="1"/>
            </p:cNvSpPr>
            <p:nvPr/>
          </p:nvSpPr>
          <p:spPr bwMode="auto">
            <a:xfrm>
              <a:off x="1152" y="3496"/>
              <a:ext cx="1" cy="7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8" name="Line 258"/>
            <p:cNvSpPr>
              <a:spLocks noChangeShapeType="1"/>
            </p:cNvSpPr>
            <p:nvPr/>
          </p:nvSpPr>
          <p:spPr bwMode="auto">
            <a:xfrm>
              <a:off x="1152" y="3575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" name="Line 259"/>
            <p:cNvSpPr>
              <a:spLocks noChangeShapeType="1"/>
            </p:cNvSpPr>
            <p:nvPr/>
          </p:nvSpPr>
          <p:spPr bwMode="auto">
            <a:xfrm>
              <a:off x="1152" y="3591"/>
              <a:ext cx="1" cy="7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" name="Line 260"/>
            <p:cNvSpPr>
              <a:spLocks noChangeShapeType="1"/>
            </p:cNvSpPr>
            <p:nvPr/>
          </p:nvSpPr>
          <p:spPr bwMode="auto">
            <a:xfrm>
              <a:off x="1152" y="3669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" name="Line 261"/>
            <p:cNvSpPr>
              <a:spLocks noChangeShapeType="1"/>
            </p:cNvSpPr>
            <p:nvPr/>
          </p:nvSpPr>
          <p:spPr bwMode="auto">
            <a:xfrm>
              <a:off x="1152" y="3685"/>
              <a:ext cx="1" cy="7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" name="Line 262"/>
            <p:cNvSpPr>
              <a:spLocks noChangeShapeType="1"/>
            </p:cNvSpPr>
            <p:nvPr/>
          </p:nvSpPr>
          <p:spPr bwMode="auto">
            <a:xfrm>
              <a:off x="1152" y="3764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" name="Line 263"/>
            <p:cNvSpPr>
              <a:spLocks noChangeShapeType="1"/>
            </p:cNvSpPr>
            <p:nvPr/>
          </p:nvSpPr>
          <p:spPr bwMode="auto">
            <a:xfrm>
              <a:off x="1152" y="3780"/>
              <a:ext cx="1" cy="7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" name="Line 264"/>
            <p:cNvSpPr>
              <a:spLocks noChangeShapeType="1"/>
            </p:cNvSpPr>
            <p:nvPr/>
          </p:nvSpPr>
          <p:spPr bwMode="auto">
            <a:xfrm>
              <a:off x="1152" y="3859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5" name="Line 265"/>
            <p:cNvSpPr>
              <a:spLocks noChangeShapeType="1"/>
            </p:cNvSpPr>
            <p:nvPr/>
          </p:nvSpPr>
          <p:spPr bwMode="auto">
            <a:xfrm>
              <a:off x="1152" y="3875"/>
              <a:ext cx="1" cy="7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" name="Line 266"/>
            <p:cNvSpPr>
              <a:spLocks noChangeShapeType="1"/>
            </p:cNvSpPr>
            <p:nvPr/>
          </p:nvSpPr>
          <p:spPr bwMode="auto">
            <a:xfrm>
              <a:off x="1152" y="3953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" name="Line 267"/>
            <p:cNvSpPr>
              <a:spLocks noChangeShapeType="1"/>
            </p:cNvSpPr>
            <p:nvPr/>
          </p:nvSpPr>
          <p:spPr bwMode="auto">
            <a:xfrm>
              <a:off x="1152" y="3969"/>
              <a:ext cx="1" cy="7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" name="Line 268"/>
            <p:cNvSpPr>
              <a:spLocks noChangeShapeType="1"/>
            </p:cNvSpPr>
            <p:nvPr/>
          </p:nvSpPr>
          <p:spPr bwMode="auto">
            <a:xfrm>
              <a:off x="1152" y="4048"/>
              <a:ext cx="1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9" name="Line 269"/>
            <p:cNvSpPr>
              <a:spLocks noChangeShapeType="1"/>
            </p:cNvSpPr>
            <p:nvPr/>
          </p:nvSpPr>
          <p:spPr bwMode="auto">
            <a:xfrm>
              <a:off x="1152" y="4064"/>
              <a:ext cx="1" cy="62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0" name="Line 270"/>
            <p:cNvSpPr>
              <a:spLocks noChangeShapeType="1"/>
            </p:cNvSpPr>
            <p:nvPr/>
          </p:nvSpPr>
          <p:spPr bwMode="auto">
            <a:xfrm flipH="1">
              <a:off x="1125" y="2893"/>
              <a:ext cx="27" cy="65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1" name="Line 271"/>
            <p:cNvSpPr>
              <a:spLocks noChangeShapeType="1"/>
            </p:cNvSpPr>
            <p:nvPr/>
          </p:nvSpPr>
          <p:spPr bwMode="auto">
            <a:xfrm flipH="1">
              <a:off x="1119" y="2966"/>
              <a:ext cx="3" cy="5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2" name="Line 272"/>
            <p:cNvSpPr>
              <a:spLocks noChangeShapeType="1"/>
            </p:cNvSpPr>
            <p:nvPr/>
          </p:nvSpPr>
          <p:spPr bwMode="auto">
            <a:xfrm flipH="1">
              <a:off x="1092" y="2980"/>
              <a:ext cx="24" cy="65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3" name="Line 273"/>
            <p:cNvSpPr>
              <a:spLocks noChangeShapeType="1"/>
            </p:cNvSpPr>
            <p:nvPr/>
          </p:nvSpPr>
          <p:spPr bwMode="auto">
            <a:xfrm flipH="1">
              <a:off x="1084" y="3053"/>
              <a:ext cx="3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4" name="Line 274"/>
            <p:cNvSpPr>
              <a:spLocks noChangeShapeType="1"/>
            </p:cNvSpPr>
            <p:nvPr/>
          </p:nvSpPr>
          <p:spPr bwMode="auto">
            <a:xfrm flipH="1">
              <a:off x="1057" y="3069"/>
              <a:ext cx="24" cy="65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5" name="Line 275"/>
            <p:cNvSpPr>
              <a:spLocks noChangeShapeType="1"/>
            </p:cNvSpPr>
            <p:nvPr/>
          </p:nvSpPr>
          <p:spPr bwMode="auto">
            <a:xfrm flipH="1">
              <a:off x="1052" y="3142"/>
              <a:ext cx="2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" name="Line 276"/>
            <p:cNvSpPr>
              <a:spLocks noChangeShapeType="1"/>
            </p:cNvSpPr>
            <p:nvPr/>
          </p:nvSpPr>
          <p:spPr bwMode="auto">
            <a:xfrm flipH="1">
              <a:off x="1022" y="3155"/>
              <a:ext cx="27" cy="6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" name="Line 277"/>
            <p:cNvSpPr>
              <a:spLocks noChangeShapeType="1"/>
            </p:cNvSpPr>
            <p:nvPr/>
          </p:nvSpPr>
          <p:spPr bwMode="auto">
            <a:xfrm flipH="1">
              <a:off x="1016" y="3231"/>
              <a:ext cx="3" cy="6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" name="Line 278"/>
            <p:cNvSpPr>
              <a:spLocks noChangeShapeType="1"/>
            </p:cNvSpPr>
            <p:nvPr/>
          </p:nvSpPr>
          <p:spPr bwMode="auto">
            <a:xfrm flipH="1">
              <a:off x="989" y="3245"/>
              <a:ext cx="25" cy="65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" name="Line 279"/>
            <p:cNvSpPr>
              <a:spLocks noChangeShapeType="1"/>
            </p:cNvSpPr>
            <p:nvPr/>
          </p:nvSpPr>
          <p:spPr bwMode="auto">
            <a:xfrm flipH="1">
              <a:off x="984" y="3318"/>
              <a:ext cx="3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0" name="Line 280"/>
            <p:cNvSpPr>
              <a:spLocks noChangeShapeType="1"/>
            </p:cNvSpPr>
            <p:nvPr/>
          </p:nvSpPr>
          <p:spPr bwMode="auto">
            <a:xfrm flipH="1">
              <a:off x="954" y="3334"/>
              <a:ext cx="27" cy="65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1" name="Line 281"/>
            <p:cNvSpPr>
              <a:spLocks noChangeShapeType="1"/>
            </p:cNvSpPr>
            <p:nvPr/>
          </p:nvSpPr>
          <p:spPr bwMode="auto">
            <a:xfrm flipH="1">
              <a:off x="949" y="3407"/>
              <a:ext cx="3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2" name="Line 282"/>
            <p:cNvSpPr>
              <a:spLocks noChangeShapeType="1"/>
            </p:cNvSpPr>
            <p:nvPr/>
          </p:nvSpPr>
          <p:spPr bwMode="auto">
            <a:xfrm flipH="1">
              <a:off x="922" y="3420"/>
              <a:ext cx="24" cy="6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" name="Line 283"/>
            <p:cNvSpPr>
              <a:spLocks noChangeShapeType="1"/>
            </p:cNvSpPr>
            <p:nvPr/>
          </p:nvSpPr>
          <p:spPr bwMode="auto">
            <a:xfrm flipH="1">
              <a:off x="916" y="3496"/>
              <a:ext cx="3" cy="6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" name="Line 284"/>
            <p:cNvSpPr>
              <a:spLocks noChangeShapeType="1"/>
            </p:cNvSpPr>
            <p:nvPr/>
          </p:nvSpPr>
          <p:spPr bwMode="auto">
            <a:xfrm flipH="1">
              <a:off x="887" y="3510"/>
              <a:ext cx="24" cy="65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5" name="Line 285"/>
            <p:cNvSpPr>
              <a:spLocks noChangeShapeType="1"/>
            </p:cNvSpPr>
            <p:nvPr/>
          </p:nvSpPr>
          <p:spPr bwMode="auto">
            <a:xfrm flipH="1">
              <a:off x="881" y="3583"/>
              <a:ext cx="3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" name="Line 286"/>
            <p:cNvSpPr>
              <a:spLocks noChangeShapeType="1"/>
            </p:cNvSpPr>
            <p:nvPr/>
          </p:nvSpPr>
          <p:spPr bwMode="auto">
            <a:xfrm flipH="1">
              <a:off x="854" y="3599"/>
              <a:ext cx="25" cy="65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" name="Line 287"/>
            <p:cNvSpPr>
              <a:spLocks noChangeShapeType="1"/>
            </p:cNvSpPr>
            <p:nvPr/>
          </p:nvSpPr>
          <p:spPr bwMode="auto">
            <a:xfrm flipH="1">
              <a:off x="846" y="3672"/>
              <a:ext cx="3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" name="Line 288"/>
            <p:cNvSpPr>
              <a:spLocks noChangeShapeType="1"/>
            </p:cNvSpPr>
            <p:nvPr/>
          </p:nvSpPr>
          <p:spPr bwMode="auto">
            <a:xfrm flipH="1">
              <a:off x="819" y="3685"/>
              <a:ext cx="24" cy="6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9" name="Line 289"/>
            <p:cNvSpPr>
              <a:spLocks noChangeShapeType="1"/>
            </p:cNvSpPr>
            <p:nvPr/>
          </p:nvSpPr>
          <p:spPr bwMode="auto">
            <a:xfrm flipH="1">
              <a:off x="814" y="3761"/>
              <a:ext cx="2" cy="6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0" name="Line 290"/>
            <p:cNvSpPr>
              <a:spLocks noChangeShapeType="1"/>
            </p:cNvSpPr>
            <p:nvPr/>
          </p:nvSpPr>
          <p:spPr bwMode="auto">
            <a:xfrm flipH="1">
              <a:off x="784" y="3775"/>
              <a:ext cx="27" cy="65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1" name="Line 291"/>
            <p:cNvSpPr>
              <a:spLocks noChangeShapeType="1"/>
            </p:cNvSpPr>
            <p:nvPr/>
          </p:nvSpPr>
          <p:spPr bwMode="auto">
            <a:xfrm flipH="1">
              <a:off x="779" y="3848"/>
              <a:ext cx="2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2" name="Line 292"/>
            <p:cNvSpPr>
              <a:spLocks noChangeShapeType="1"/>
            </p:cNvSpPr>
            <p:nvPr/>
          </p:nvSpPr>
          <p:spPr bwMode="auto">
            <a:xfrm flipH="1">
              <a:off x="751" y="3864"/>
              <a:ext cx="25" cy="65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3" name="Line 293"/>
            <p:cNvSpPr>
              <a:spLocks noChangeShapeType="1"/>
            </p:cNvSpPr>
            <p:nvPr/>
          </p:nvSpPr>
          <p:spPr bwMode="auto">
            <a:xfrm flipH="1">
              <a:off x="746" y="3937"/>
              <a:ext cx="3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" name="Line 294"/>
            <p:cNvSpPr>
              <a:spLocks noChangeShapeType="1"/>
            </p:cNvSpPr>
            <p:nvPr/>
          </p:nvSpPr>
          <p:spPr bwMode="auto">
            <a:xfrm flipH="1">
              <a:off x="716" y="3951"/>
              <a:ext cx="27" cy="67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5" name="Line 295"/>
            <p:cNvSpPr>
              <a:spLocks noChangeShapeType="1"/>
            </p:cNvSpPr>
            <p:nvPr/>
          </p:nvSpPr>
          <p:spPr bwMode="auto">
            <a:xfrm flipH="1">
              <a:off x="711" y="4024"/>
              <a:ext cx="3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6" name="Line 296"/>
            <p:cNvSpPr>
              <a:spLocks noChangeShapeType="1"/>
            </p:cNvSpPr>
            <p:nvPr/>
          </p:nvSpPr>
          <p:spPr bwMode="auto">
            <a:xfrm flipH="1">
              <a:off x="703" y="4040"/>
              <a:ext cx="5" cy="19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" name="Line 297"/>
            <p:cNvSpPr>
              <a:spLocks noChangeShapeType="1"/>
            </p:cNvSpPr>
            <p:nvPr/>
          </p:nvSpPr>
          <p:spPr bwMode="auto">
            <a:xfrm>
              <a:off x="1152" y="2893"/>
              <a:ext cx="37" cy="57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" name="Line 298"/>
            <p:cNvSpPr>
              <a:spLocks noChangeShapeType="1"/>
            </p:cNvSpPr>
            <p:nvPr/>
          </p:nvSpPr>
          <p:spPr bwMode="auto">
            <a:xfrm>
              <a:off x="1192" y="2958"/>
              <a:ext cx="6" cy="5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9" name="Line 299"/>
            <p:cNvSpPr>
              <a:spLocks noChangeShapeType="1"/>
            </p:cNvSpPr>
            <p:nvPr/>
          </p:nvSpPr>
          <p:spPr bwMode="auto">
            <a:xfrm>
              <a:off x="1200" y="2971"/>
              <a:ext cx="38" cy="6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0" name="Line 300"/>
            <p:cNvSpPr>
              <a:spLocks noChangeShapeType="1"/>
            </p:cNvSpPr>
            <p:nvPr/>
          </p:nvSpPr>
          <p:spPr bwMode="auto">
            <a:xfrm>
              <a:off x="1244" y="3036"/>
              <a:ext cx="5" cy="9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1" name="Line 301"/>
            <p:cNvSpPr>
              <a:spLocks noChangeShapeType="1"/>
            </p:cNvSpPr>
            <p:nvPr/>
          </p:nvSpPr>
          <p:spPr bwMode="auto">
            <a:xfrm>
              <a:off x="1252" y="3050"/>
              <a:ext cx="37" cy="59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" name="Line 302"/>
            <p:cNvSpPr>
              <a:spLocks noChangeShapeType="1"/>
            </p:cNvSpPr>
            <p:nvPr/>
          </p:nvSpPr>
          <p:spPr bwMode="auto">
            <a:xfrm>
              <a:off x="1295" y="3118"/>
              <a:ext cx="3" cy="5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3" name="Line 303"/>
            <p:cNvSpPr>
              <a:spLocks noChangeShapeType="1"/>
            </p:cNvSpPr>
            <p:nvPr/>
          </p:nvSpPr>
          <p:spPr bwMode="auto">
            <a:xfrm>
              <a:off x="1303" y="3131"/>
              <a:ext cx="38" cy="6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4" name="Line 304"/>
            <p:cNvSpPr>
              <a:spLocks noChangeShapeType="1"/>
            </p:cNvSpPr>
            <p:nvPr/>
          </p:nvSpPr>
          <p:spPr bwMode="auto">
            <a:xfrm>
              <a:off x="1346" y="3196"/>
              <a:ext cx="3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5" name="Line 305"/>
            <p:cNvSpPr>
              <a:spLocks noChangeShapeType="1"/>
            </p:cNvSpPr>
            <p:nvPr/>
          </p:nvSpPr>
          <p:spPr bwMode="auto">
            <a:xfrm>
              <a:off x="1354" y="3209"/>
              <a:ext cx="38" cy="6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6" name="Line 306"/>
            <p:cNvSpPr>
              <a:spLocks noChangeShapeType="1"/>
            </p:cNvSpPr>
            <p:nvPr/>
          </p:nvSpPr>
          <p:spPr bwMode="auto">
            <a:xfrm>
              <a:off x="1398" y="3277"/>
              <a:ext cx="2" cy="6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" name="Line 307"/>
            <p:cNvSpPr>
              <a:spLocks noChangeShapeType="1"/>
            </p:cNvSpPr>
            <p:nvPr/>
          </p:nvSpPr>
          <p:spPr bwMode="auto">
            <a:xfrm>
              <a:off x="1406" y="3291"/>
              <a:ext cx="38" cy="59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" name="Line 308"/>
            <p:cNvSpPr>
              <a:spLocks noChangeShapeType="1"/>
            </p:cNvSpPr>
            <p:nvPr/>
          </p:nvSpPr>
          <p:spPr bwMode="auto">
            <a:xfrm>
              <a:off x="1446" y="3356"/>
              <a:ext cx="6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" name="Line 309"/>
            <p:cNvSpPr>
              <a:spLocks noChangeShapeType="1"/>
            </p:cNvSpPr>
            <p:nvPr/>
          </p:nvSpPr>
          <p:spPr bwMode="auto">
            <a:xfrm>
              <a:off x="1457" y="3369"/>
              <a:ext cx="38" cy="6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0" name="Line 310"/>
            <p:cNvSpPr>
              <a:spLocks noChangeShapeType="1"/>
            </p:cNvSpPr>
            <p:nvPr/>
          </p:nvSpPr>
          <p:spPr bwMode="auto">
            <a:xfrm>
              <a:off x="1600" y="3596"/>
              <a:ext cx="6" cy="6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1" name="Line 311"/>
            <p:cNvSpPr>
              <a:spLocks noChangeShapeType="1"/>
            </p:cNvSpPr>
            <p:nvPr/>
          </p:nvSpPr>
          <p:spPr bwMode="auto">
            <a:xfrm>
              <a:off x="1608" y="3610"/>
              <a:ext cx="38" cy="59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2" name="Line 312"/>
            <p:cNvSpPr>
              <a:spLocks noChangeShapeType="1"/>
            </p:cNvSpPr>
            <p:nvPr/>
          </p:nvSpPr>
          <p:spPr bwMode="auto">
            <a:xfrm>
              <a:off x="1652" y="3675"/>
              <a:ext cx="2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3" name="Line 313"/>
            <p:cNvSpPr>
              <a:spLocks noChangeShapeType="1"/>
            </p:cNvSpPr>
            <p:nvPr/>
          </p:nvSpPr>
          <p:spPr bwMode="auto">
            <a:xfrm>
              <a:off x="1660" y="3688"/>
              <a:ext cx="38" cy="6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4" name="Line 314"/>
            <p:cNvSpPr>
              <a:spLocks noChangeShapeType="1"/>
            </p:cNvSpPr>
            <p:nvPr/>
          </p:nvSpPr>
          <p:spPr bwMode="auto">
            <a:xfrm>
              <a:off x="1703" y="3756"/>
              <a:ext cx="3" cy="5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5" name="Line 315"/>
            <p:cNvSpPr>
              <a:spLocks noChangeShapeType="1"/>
            </p:cNvSpPr>
            <p:nvPr/>
          </p:nvSpPr>
          <p:spPr bwMode="auto">
            <a:xfrm>
              <a:off x="1711" y="3769"/>
              <a:ext cx="38" cy="60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6" name="Line 316"/>
            <p:cNvSpPr>
              <a:spLocks noChangeShapeType="1"/>
            </p:cNvSpPr>
            <p:nvPr/>
          </p:nvSpPr>
          <p:spPr bwMode="auto">
            <a:xfrm>
              <a:off x="1752" y="3834"/>
              <a:ext cx="5" cy="8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" name="Line 317"/>
            <p:cNvSpPr>
              <a:spLocks noChangeShapeType="1"/>
            </p:cNvSpPr>
            <p:nvPr/>
          </p:nvSpPr>
          <p:spPr bwMode="auto">
            <a:xfrm>
              <a:off x="1763" y="3848"/>
              <a:ext cx="37" cy="59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" name="Line 318"/>
            <p:cNvSpPr>
              <a:spLocks noChangeShapeType="1"/>
            </p:cNvSpPr>
            <p:nvPr/>
          </p:nvSpPr>
          <p:spPr bwMode="auto">
            <a:xfrm>
              <a:off x="1803" y="3915"/>
              <a:ext cx="6" cy="6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" name="Line 319"/>
            <p:cNvSpPr>
              <a:spLocks noChangeShapeType="1"/>
            </p:cNvSpPr>
            <p:nvPr/>
          </p:nvSpPr>
          <p:spPr bwMode="auto">
            <a:xfrm>
              <a:off x="1814" y="3929"/>
              <a:ext cx="8" cy="13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0" name="Freeform 320"/>
            <p:cNvSpPr>
              <a:spLocks noChangeArrowheads="1"/>
            </p:cNvSpPr>
            <p:nvPr/>
          </p:nvSpPr>
          <p:spPr bwMode="auto">
            <a:xfrm>
              <a:off x="608" y="3607"/>
              <a:ext cx="1260" cy="298"/>
            </a:xfrm>
            <a:custGeom>
              <a:avLst/>
              <a:gdLst>
                <a:gd name="T0" fmla="*/ 0 w 466"/>
                <a:gd name="T1" fmla="*/ 51 h 110"/>
                <a:gd name="T2" fmla="*/ 37 w 466"/>
                <a:gd name="T3" fmla="*/ 72 h 110"/>
                <a:gd name="T4" fmla="*/ 76 w 466"/>
                <a:gd name="T5" fmla="*/ 88 h 110"/>
                <a:gd name="T6" fmla="*/ 116 w 466"/>
                <a:gd name="T7" fmla="*/ 100 h 110"/>
                <a:gd name="T8" fmla="*/ 158 w 466"/>
                <a:gd name="T9" fmla="*/ 107 h 110"/>
                <a:gd name="T10" fmla="*/ 200 w 466"/>
                <a:gd name="T11" fmla="*/ 110 h 110"/>
                <a:gd name="T12" fmla="*/ 242 w 466"/>
                <a:gd name="T13" fmla="*/ 107 h 110"/>
                <a:gd name="T14" fmla="*/ 284 w 466"/>
                <a:gd name="T15" fmla="*/ 100 h 110"/>
                <a:gd name="T16" fmla="*/ 324 w 466"/>
                <a:gd name="T17" fmla="*/ 89 h 110"/>
                <a:gd name="T18" fmla="*/ 363 w 466"/>
                <a:gd name="T19" fmla="*/ 73 h 110"/>
                <a:gd name="T20" fmla="*/ 400 w 466"/>
                <a:gd name="T21" fmla="*/ 52 h 110"/>
                <a:gd name="T22" fmla="*/ 435 w 466"/>
                <a:gd name="T23" fmla="*/ 28 h 110"/>
                <a:gd name="T24" fmla="*/ 466 w 466"/>
                <a:gd name="T2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66" h="110">
                  <a:moveTo>
                    <a:pt x="0" y="51"/>
                  </a:moveTo>
                  <a:lnTo>
                    <a:pt x="37" y="72"/>
                  </a:lnTo>
                  <a:lnTo>
                    <a:pt x="76" y="88"/>
                  </a:lnTo>
                  <a:lnTo>
                    <a:pt x="116" y="100"/>
                  </a:lnTo>
                  <a:lnTo>
                    <a:pt x="158" y="107"/>
                  </a:lnTo>
                  <a:lnTo>
                    <a:pt x="200" y="110"/>
                  </a:lnTo>
                  <a:lnTo>
                    <a:pt x="242" y="107"/>
                  </a:lnTo>
                  <a:lnTo>
                    <a:pt x="284" y="100"/>
                  </a:lnTo>
                  <a:lnTo>
                    <a:pt x="324" y="89"/>
                  </a:lnTo>
                  <a:lnTo>
                    <a:pt x="363" y="73"/>
                  </a:lnTo>
                  <a:lnTo>
                    <a:pt x="400" y="52"/>
                  </a:lnTo>
                  <a:lnTo>
                    <a:pt x="435" y="28"/>
                  </a:lnTo>
                  <a:lnTo>
                    <a:pt x="466" y="0"/>
                  </a:lnTo>
                </a:path>
              </a:pathLst>
            </a:cu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1" name="Freeform 321"/>
            <p:cNvSpPr>
              <a:spLocks noChangeArrowheads="1"/>
            </p:cNvSpPr>
            <p:nvPr/>
          </p:nvSpPr>
          <p:spPr bwMode="auto">
            <a:xfrm>
              <a:off x="908" y="2650"/>
              <a:ext cx="487" cy="449"/>
            </a:xfrm>
            <a:custGeom>
              <a:avLst/>
              <a:gdLst>
                <a:gd name="T0" fmla="*/ 138 w 180"/>
                <a:gd name="T1" fmla="*/ 166 h 166"/>
                <a:gd name="T2" fmla="*/ 157 w 180"/>
                <a:gd name="T3" fmla="*/ 151 h 166"/>
                <a:gd name="T4" fmla="*/ 171 w 180"/>
                <a:gd name="T5" fmla="*/ 130 h 166"/>
                <a:gd name="T6" fmla="*/ 179 w 180"/>
                <a:gd name="T7" fmla="*/ 107 h 166"/>
                <a:gd name="T8" fmla="*/ 180 w 180"/>
                <a:gd name="T9" fmla="*/ 83 h 166"/>
                <a:gd name="T10" fmla="*/ 175 w 180"/>
                <a:gd name="T11" fmla="*/ 59 h 166"/>
                <a:gd name="T12" fmla="*/ 164 w 180"/>
                <a:gd name="T13" fmla="*/ 37 h 166"/>
                <a:gd name="T14" fmla="*/ 147 w 180"/>
                <a:gd name="T15" fmla="*/ 19 h 166"/>
                <a:gd name="T16" fmla="*/ 126 w 180"/>
                <a:gd name="T17" fmla="*/ 7 h 166"/>
                <a:gd name="T18" fmla="*/ 102 w 180"/>
                <a:gd name="T19" fmla="*/ 0 h 166"/>
                <a:gd name="T20" fmla="*/ 78 w 180"/>
                <a:gd name="T21" fmla="*/ 0 h 166"/>
                <a:gd name="T22" fmla="*/ 54 w 180"/>
                <a:gd name="T23" fmla="*/ 7 h 166"/>
                <a:gd name="T24" fmla="*/ 33 w 180"/>
                <a:gd name="T25" fmla="*/ 19 h 166"/>
                <a:gd name="T26" fmla="*/ 17 w 180"/>
                <a:gd name="T27" fmla="*/ 37 h 166"/>
                <a:gd name="T28" fmla="*/ 5 w 180"/>
                <a:gd name="T29" fmla="*/ 59 h 166"/>
                <a:gd name="T30" fmla="*/ 0 w 180"/>
                <a:gd name="T31" fmla="*/ 83 h 166"/>
                <a:gd name="T32" fmla="*/ 2 w 180"/>
                <a:gd name="T33" fmla="*/ 107 h 166"/>
                <a:gd name="T34" fmla="*/ 10 w 180"/>
                <a:gd name="T35" fmla="*/ 130 h 166"/>
                <a:gd name="T36" fmla="*/ 24 w 180"/>
                <a:gd name="T37" fmla="*/ 151 h 166"/>
                <a:gd name="T38" fmla="*/ 42 w 180"/>
                <a:gd name="T39" fmla="*/ 166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0" h="166">
                  <a:moveTo>
                    <a:pt x="138" y="166"/>
                  </a:moveTo>
                  <a:lnTo>
                    <a:pt x="157" y="151"/>
                  </a:lnTo>
                  <a:lnTo>
                    <a:pt x="171" y="130"/>
                  </a:lnTo>
                  <a:lnTo>
                    <a:pt x="179" y="107"/>
                  </a:lnTo>
                  <a:lnTo>
                    <a:pt x="180" y="83"/>
                  </a:lnTo>
                  <a:lnTo>
                    <a:pt x="175" y="59"/>
                  </a:lnTo>
                  <a:lnTo>
                    <a:pt x="164" y="37"/>
                  </a:lnTo>
                  <a:lnTo>
                    <a:pt x="147" y="19"/>
                  </a:lnTo>
                  <a:lnTo>
                    <a:pt x="126" y="7"/>
                  </a:lnTo>
                  <a:lnTo>
                    <a:pt x="102" y="0"/>
                  </a:lnTo>
                  <a:lnTo>
                    <a:pt x="78" y="0"/>
                  </a:lnTo>
                  <a:lnTo>
                    <a:pt x="54" y="7"/>
                  </a:lnTo>
                  <a:lnTo>
                    <a:pt x="33" y="19"/>
                  </a:lnTo>
                  <a:lnTo>
                    <a:pt x="17" y="37"/>
                  </a:lnTo>
                  <a:lnTo>
                    <a:pt x="5" y="59"/>
                  </a:lnTo>
                  <a:lnTo>
                    <a:pt x="0" y="83"/>
                  </a:lnTo>
                  <a:lnTo>
                    <a:pt x="2" y="107"/>
                  </a:lnTo>
                  <a:lnTo>
                    <a:pt x="10" y="130"/>
                  </a:lnTo>
                  <a:lnTo>
                    <a:pt x="24" y="151"/>
                  </a:lnTo>
                  <a:lnTo>
                    <a:pt x="42" y="166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2" name="Oval 322"/>
            <p:cNvSpPr>
              <a:spLocks noChangeArrowheads="1"/>
            </p:cNvSpPr>
            <p:nvPr/>
          </p:nvSpPr>
          <p:spPr bwMode="auto">
            <a:xfrm>
              <a:off x="1030" y="2769"/>
              <a:ext cx="243" cy="246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3" name="Freeform 323"/>
            <p:cNvSpPr>
              <a:spLocks noChangeArrowheads="1"/>
            </p:cNvSpPr>
            <p:nvPr/>
          </p:nvSpPr>
          <p:spPr bwMode="auto">
            <a:xfrm>
              <a:off x="1249" y="3099"/>
              <a:ext cx="32" cy="59"/>
            </a:xfrm>
            <a:custGeom>
              <a:avLst/>
              <a:gdLst>
                <a:gd name="T0" fmla="*/ 12 w 12"/>
                <a:gd name="T1" fmla="*/ 0 h 22"/>
                <a:gd name="T2" fmla="*/ 10 w 12"/>
                <a:gd name="T3" fmla="*/ 2 h 22"/>
                <a:gd name="T4" fmla="*/ 8 w 12"/>
                <a:gd name="T5" fmla="*/ 3 h 22"/>
                <a:gd name="T6" fmla="*/ 6 w 12"/>
                <a:gd name="T7" fmla="*/ 5 h 22"/>
                <a:gd name="T8" fmla="*/ 4 w 12"/>
                <a:gd name="T9" fmla="*/ 7 h 22"/>
                <a:gd name="T10" fmla="*/ 3 w 12"/>
                <a:gd name="T11" fmla="*/ 10 h 22"/>
                <a:gd name="T12" fmla="*/ 2 w 12"/>
                <a:gd name="T13" fmla="*/ 12 h 22"/>
                <a:gd name="T14" fmla="*/ 1 w 12"/>
                <a:gd name="T15" fmla="*/ 14 h 22"/>
                <a:gd name="T16" fmla="*/ 0 w 12"/>
                <a:gd name="T17" fmla="*/ 17 h 22"/>
                <a:gd name="T18" fmla="*/ 0 w 12"/>
                <a:gd name="T19" fmla="*/ 20 h 22"/>
                <a:gd name="T20" fmla="*/ 0 w 12"/>
                <a:gd name="T2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22">
                  <a:moveTo>
                    <a:pt x="12" y="0"/>
                  </a:moveTo>
                  <a:lnTo>
                    <a:pt x="10" y="2"/>
                  </a:lnTo>
                  <a:lnTo>
                    <a:pt x="8" y="3"/>
                  </a:lnTo>
                  <a:lnTo>
                    <a:pt x="6" y="5"/>
                  </a:lnTo>
                  <a:lnTo>
                    <a:pt x="4" y="7"/>
                  </a:lnTo>
                  <a:lnTo>
                    <a:pt x="3" y="10"/>
                  </a:lnTo>
                  <a:lnTo>
                    <a:pt x="2" y="12"/>
                  </a:lnTo>
                  <a:lnTo>
                    <a:pt x="1" y="14"/>
                  </a:lnTo>
                  <a:lnTo>
                    <a:pt x="0" y="17"/>
                  </a:lnTo>
                  <a:lnTo>
                    <a:pt x="0" y="20"/>
                  </a:lnTo>
                  <a:lnTo>
                    <a:pt x="0" y="22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4" name="Freeform 324"/>
            <p:cNvSpPr>
              <a:spLocks noChangeArrowheads="1"/>
            </p:cNvSpPr>
            <p:nvPr/>
          </p:nvSpPr>
          <p:spPr bwMode="auto">
            <a:xfrm>
              <a:off x="1022" y="3099"/>
              <a:ext cx="35" cy="59"/>
            </a:xfrm>
            <a:custGeom>
              <a:avLst/>
              <a:gdLst>
                <a:gd name="T0" fmla="*/ 13 w 13"/>
                <a:gd name="T1" fmla="*/ 22 h 22"/>
                <a:gd name="T2" fmla="*/ 13 w 13"/>
                <a:gd name="T3" fmla="*/ 20 h 22"/>
                <a:gd name="T4" fmla="*/ 12 w 13"/>
                <a:gd name="T5" fmla="*/ 17 h 22"/>
                <a:gd name="T6" fmla="*/ 11 w 13"/>
                <a:gd name="T7" fmla="*/ 14 h 22"/>
                <a:gd name="T8" fmla="*/ 11 w 13"/>
                <a:gd name="T9" fmla="*/ 12 h 22"/>
                <a:gd name="T10" fmla="*/ 9 w 13"/>
                <a:gd name="T11" fmla="*/ 10 h 22"/>
                <a:gd name="T12" fmla="*/ 8 w 13"/>
                <a:gd name="T13" fmla="*/ 7 h 22"/>
                <a:gd name="T14" fmla="*/ 6 w 13"/>
                <a:gd name="T15" fmla="*/ 5 h 22"/>
                <a:gd name="T16" fmla="*/ 5 w 13"/>
                <a:gd name="T17" fmla="*/ 3 h 22"/>
                <a:gd name="T18" fmla="*/ 3 w 13"/>
                <a:gd name="T19" fmla="*/ 2 h 22"/>
                <a:gd name="T20" fmla="*/ 0 w 13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2">
                  <a:moveTo>
                    <a:pt x="13" y="22"/>
                  </a:moveTo>
                  <a:lnTo>
                    <a:pt x="13" y="20"/>
                  </a:lnTo>
                  <a:lnTo>
                    <a:pt x="12" y="17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9" y="10"/>
                  </a:lnTo>
                  <a:lnTo>
                    <a:pt x="8" y="7"/>
                  </a:lnTo>
                  <a:lnTo>
                    <a:pt x="6" y="5"/>
                  </a:lnTo>
                  <a:lnTo>
                    <a:pt x="5" y="3"/>
                  </a:lnTo>
                  <a:lnTo>
                    <a:pt x="3" y="2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5" name="Line 325"/>
            <p:cNvSpPr>
              <a:spLocks noChangeShapeType="1"/>
            </p:cNvSpPr>
            <p:nvPr/>
          </p:nvSpPr>
          <p:spPr bwMode="auto">
            <a:xfrm>
              <a:off x="1057" y="3158"/>
              <a:ext cx="1" cy="4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6" name="Line 326"/>
            <p:cNvSpPr>
              <a:spLocks noChangeShapeType="1"/>
            </p:cNvSpPr>
            <p:nvPr/>
          </p:nvSpPr>
          <p:spPr bwMode="auto">
            <a:xfrm>
              <a:off x="1249" y="3158"/>
              <a:ext cx="1" cy="4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" name="Freeform 327"/>
            <p:cNvSpPr>
              <a:spLocks noChangeArrowheads="1"/>
            </p:cNvSpPr>
            <p:nvPr/>
          </p:nvSpPr>
          <p:spPr bwMode="auto">
            <a:xfrm>
              <a:off x="925" y="3615"/>
              <a:ext cx="132" cy="103"/>
            </a:xfrm>
            <a:custGeom>
              <a:avLst/>
              <a:gdLst>
                <a:gd name="T0" fmla="*/ 0 w 49"/>
                <a:gd name="T1" fmla="*/ 37 h 38"/>
                <a:gd name="T2" fmla="*/ 7 w 49"/>
                <a:gd name="T3" fmla="*/ 38 h 38"/>
                <a:gd name="T4" fmla="*/ 14 w 49"/>
                <a:gd name="T5" fmla="*/ 38 h 38"/>
                <a:gd name="T6" fmla="*/ 21 w 49"/>
                <a:gd name="T7" fmla="*/ 37 h 38"/>
                <a:gd name="T8" fmla="*/ 27 w 49"/>
                <a:gd name="T9" fmla="*/ 34 h 38"/>
                <a:gd name="T10" fmla="*/ 33 w 49"/>
                <a:gd name="T11" fmla="*/ 31 h 38"/>
                <a:gd name="T12" fmla="*/ 39 w 49"/>
                <a:gd name="T13" fmla="*/ 26 h 38"/>
                <a:gd name="T14" fmla="*/ 43 w 49"/>
                <a:gd name="T15" fmla="*/ 20 h 38"/>
                <a:gd name="T16" fmla="*/ 46 w 49"/>
                <a:gd name="T17" fmla="*/ 14 h 38"/>
                <a:gd name="T18" fmla="*/ 48 w 49"/>
                <a:gd name="T19" fmla="*/ 7 h 38"/>
                <a:gd name="T20" fmla="*/ 49 w 49"/>
                <a:gd name="T2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9" h="38">
                  <a:moveTo>
                    <a:pt x="0" y="37"/>
                  </a:moveTo>
                  <a:lnTo>
                    <a:pt x="7" y="38"/>
                  </a:lnTo>
                  <a:lnTo>
                    <a:pt x="14" y="38"/>
                  </a:lnTo>
                  <a:lnTo>
                    <a:pt x="21" y="37"/>
                  </a:lnTo>
                  <a:lnTo>
                    <a:pt x="27" y="34"/>
                  </a:lnTo>
                  <a:lnTo>
                    <a:pt x="33" y="31"/>
                  </a:lnTo>
                  <a:lnTo>
                    <a:pt x="39" y="26"/>
                  </a:lnTo>
                  <a:lnTo>
                    <a:pt x="43" y="20"/>
                  </a:lnTo>
                  <a:lnTo>
                    <a:pt x="46" y="14"/>
                  </a:lnTo>
                  <a:lnTo>
                    <a:pt x="48" y="7"/>
                  </a:lnTo>
                  <a:lnTo>
                    <a:pt x="49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8" name="Freeform 328"/>
            <p:cNvSpPr>
              <a:spLocks noChangeArrowheads="1"/>
            </p:cNvSpPr>
            <p:nvPr/>
          </p:nvSpPr>
          <p:spPr bwMode="auto">
            <a:xfrm>
              <a:off x="633" y="3680"/>
              <a:ext cx="213" cy="303"/>
            </a:xfrm>
            <a:custGeom>
              <a:avLst/>
              <a:gdLst>
                <a:gd name="T0" fmla="*/ 79 w 79"/>
                <a:gd name="T1" fmla="*/ 4 h 112"/>
                <a:gd name="T2" fmla="*/ 64 w 79"/>
                <a:gd name="T3" fmla="*/ 0 h 112"/>
                <a:gd name="T4" fmla="*/ 49 w 79"/>
                <a:gd name="T5" fmla="*/ 0 h 112"/>
                <a:gd name="T6" fmla="*/ 34 w 79"/>
                <a:gd name="T7" fmla="*/ 5 h 112"/>
                <a:gd name="T8" fmla="*/ 21 w 79"/>
                <a:gd name="T9" fmla="*/ 13 h 112"/>
                <a:gd name="T10" fmla="*/ 11 w 79"/>
                <a:gd name="T11" fmla="*/ 24 h 112"/>
                <a:gd name="T12" fmla="*/ 4 w 79"/>
                <a:gd name="T13" fmla="*/ 37 h 112"/>
                <a:gd name="T14" fmla="*/ 0 w 79"/>
                <a:gd name="T15" fmla="*/ 52 h 112"/>
                <a:gd name="T16" fmla="*/ 1 w 79"/>
                <a:gd name="T17" fmla="*/ 67 h 112"/>
                <a:gd name="T18" fmla="*/ 5 w 79"/>
                <a:gd name="T19" fmla="*/ 81 h 112"/>
                <a:gd name="T20" fmla="*/ 13 w 79"/>
                <a:gd name="T21" fmla="*/ 94 h 112"/>
                <a:gd name="T22" fmla="*/ 24 w 79"/>
                <a:gd name="T23" fmla="*/ 105 h 112"/>
                <a:gd name="T24" fmla="*/ 37 w 79"/>
                <a:gd name="T2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9" h="112">
                  <a:moveTo>
                    <a:pt x="79" y="4"/>
                  </a:moveTo>
                  <a:lnTo>
                    <a:pt x="64" y="0"/>
                  </a:lnTo>
                  <a:lnTo>
                    <a:pt x="49" y="0"/>
                  </a:lnTo>
                  <a:lnTo>
                    <a:pt x="34" y="5"/>
                  </a:lnTo>
                  <a:lnTo>
                    <a:pt x="21" y="13"/>
                  </a:lnTo>
                  <a:lnTo>
                    <a:pt x="11" y="24"/>
                  </a:lnTo>
                  <a:lnTo>
                    <a:pt x="4" y="37"/>
                  </a:lnTo>
                  <a:lnTo>
                    <a:pt x="0" y="52"/>
                  </a:lnTo>
                  <a:lnTo>
                    <a:pt x="1" y="67"/>
                  </a:lnTo>
                  <a:lnTo>
                    <a:pt x="5" y="81"/>
                  </a:lnTo>
                  <a:lnTo>
                    <a:pt x="13" y="94"/>
                  </a:lnTo>
                  <a:lnTo>
                    <a:pt x="24" y="105"/>
                  </a:lnTo>
                  <a:lnTo>
                    <a:pt x="37" y="112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29" name="Line 329"/>
            <p:cNvSpPr>
              <a:spLocks noChangeShapeType="1"/>
            </p:cNvSpPr>
            <p:nvPr/>
          </p:nvSpPr>
          <p:spPr bwMode="auto">
            <a:xfrm>
              <a:off x="846" y="3691"/>
              <a:ext cx="79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" name="Freeform 330"/>
            <p:cNvSpPr>
              <a:spLocks noChangeArrowheads="1"/>
            </p:cNvSpPr>
            <p:nvPr/>
          </p:nvSpPr>
          <p:spPr bwMode="auto">
            <a:xfrm>
              <a:off x="733" y="3878"/>
              <a:ext cx="1046" cy="183"/>
            </a:xfrm>
            <a:custGeom>
              <a:avLst/>
              <a:gdLst>
                <a:gd name="T0" fmla="*/ 0 w 387"/>
                <a:gd name="T1" fmla="*/ 39 h 68"/>
                <a:gd name="T2" fmla="*/ 48 w 387"/>
                <a:gd name="T3" fmla="*/ 54 h 68"/>
                <a:gd name="T4" fmla="*/ 98 w 387"/>
                <a:gd name="T5" fmla="*/ 64 h 68"/>
                <a:gd name="T6" fmla="*/ 148 w 387"/>
                <a:gd name="T7" fmla="*/ 68 h 68"/>
                <a:gd name="T8" fmla="*/ 198 w 387"/>
                <a:gd name="T9" fmla="*/ 65 h 68"/>
                <a:gd name="T10" fmla="*/ 248 w 387"/>
                <a:gd name="T11" fmla="*/ 58 h 68"/>
                <a:gd name="T12" fmla="*/ 297 w 387"/>
                <a:gd name="T13" fmla="*/ 44 h 68"/>
                <a:gd name="T14" fmla="*/ 343 w 387"/>
                <a:gd name="T15" fmla="*/ 25 h 68"/>
                <a:gd name="T16" fmla="*/ 387 w 387"/>
                <a:gd name="T1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7" h="68">
                  <a:moveTo>
                    <a:pt x="0" y="39"/>
                  </a:moveTo>
                  <a:lnTo>
                    <a:pt x="48" y="54"/>
                  </a:lnTo>
                  <a:lnTo>
                    <a:pt x="98" y="64"/>
                  </a:lnTo>
                  <a:lnTo>
                    <a:pt x="148" y="68"/>
                  </a:lnTo>
                  <a:lnTo>
                    <a:pt x="198" y="65"/>
                  </a:lnTo>
                  <a:lnTo>
                    <a:pt x="248" y="58"/>
                  </a:lnTo>
                  <a:lnTo>
                    <a:pt x="297" y="44"/>
                  </a:lnTo>
                  <a:lnTo>
                    <a:pt x="343" y="25"/>
                  </a:lnTo>
                  <a:lnTo>
                    <a:pt x="387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1" name="Oval 331"/>
            <p:cNvSpPr>
              <a:spLocks noChangeArrowheads="1"/>
            </p:cNvSpPr>
            <p:nvPr/>
          </p:nvSpPr>
          <p:spPr bwMode="auto">
            <a:xfrm>
              <a:off x="703" y="3750"/>
              <a:ext cx="173" cy="173"/>
            </a:xfrm>
            <a:prstGeom prst="ellips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2" name="Freeform 332"/>
            <p:cNvSpPr>
              <a:spLocks noChangeArrowheads="1"/>
            </p:cNvSpPr>
            <p:nvPr/>
          </p:nvSpPr>
          <p:spPr bwMode="auto">
            <a:xfrm>
              <a:off x="1249" y="3615"/>
              <a:ext cx="132" cy="103"/>
            </a:xfrm>
            <a:custGeom>
              <a:avLst/>
              <a:gdLst>
                <a:gd name="T0" fmla="*/ 0 w 49"/>
                <a:gd name="T1" fmla="*/ 0 h 38"/>
                <a:gd name="T2" fmla="*/ 0 w 49"/>
                <a:gd name="T3" fmla="*/ 7 h 38"/>
                <a:gd name="T4" fmla="*/ 2 w 49"/>
                <a:gd name="T5" fmla="*/ 14 h 38"/>
                <a:gd name="T6" fmla="*/ 5 w 49"/>
                <a:gd name="T7" fmla="*/ 20 h 38"/>
                <a:gd name="T8" fmla="*/ 10 w 49"/>
                <a:gd name="T9" fmla="*/ 26 h 38"/>
                <a:gd name="T10" fmla="*/ 15 w 49"/>
                <a:gd name="T11" fmla="*/ 31 h 38"/>
                <a:gd name="T12" fmla="*/ 21 w 49"/>
                <a:gd name="T13" fmla="*/ 34 h 38"/>
                <a:gd name="T14" fmla="*/ 28 w 49"/>
                <a:gd name="T15" fmla="*/ 37 h 38"/>
                <a:gd name="T16" fmla="*/ 35 w 49"/>
                <a:gd name="T17" fmla="*/ 38 h 38"/>
                <a:gd name="T18" fmla="*/ 42 w 49"/>
                <a:gd name="T19" fmla="*/ 38 h 38"/>
                <a:gd name="T20" fmla="*/ 49 w 49"/>
                <a:gd name="T21" fmla="*/ 3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9" h="38">
                  <a:moveTo>
                    <a:pt x="0" y="0"/>
                  </a:moveTo>
                  <a:lnTo>
                    <a:pt x="0" y="7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10" y="26"/>
                  </a:lnTo>
                  <a:lnTo>
                    <a:pt x="15" y="31"/>
                  </a:lnTo>
                  <a:lnTo>
                    <a:pt x="21" y="34"/>
                  </a:lnTo>
                  <a:lnTo>
                    <a:pt x="28" y="37"/>
                  </a:lnTo>
                  <a:lnTo>
                    <a:pt x="35" y="38"/>
                  </a:lnTo>
                  <a:lnTo>
                    <a:pt x="42" y="38"/>
                  </a:lnTo>
                  <a:lnTo>
                    <a:pt x="49" y="37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3" name="Freeform 333"/>
            <p:cNvSpPr>
              <a:spLocks noChangeArrowheads="1"/>
            </p:cNvSpPr>
            <p:nvPr/>
          </p:nvSpPr>
          <p:spPr bwMode="auto">
            <a:xfrm>
              <a:off x="1381" y="3612"/>
              <a:ext cx="230" cy="103"/>
            </a:xfrm>
            <a:custGeom>
              <a:avLst/>
              <a:gdLst>
                <a:gd name="T0" fmla="*/ 0 w 85"/>
                <a:gd name="T1" fmla="*/ 38 h 38"/>
                <a:gd name="T2" fmla="*/ 44 w 85"/>
                <a:gd name="T3" fmla="*/ 22 h 38"/>
                <a:gd name="T4" fmla="*/ 85 w 85"/>
                <a:gd name="T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" h="38">
                  <a:moveTo>
                    <a:pt x="0" y="38"/>
                  </a:moveTo>
                  <a:lnTo>
                    <a:pt x="44" y="22"/>
                  </a:lnTo>
                  <a:lnTo>
                    <a:pt x="85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4" name="Freeform 334"/>
            <p:cNvSpPr>
              <a:spLocks noChangeArrowheads="1"/>
            </p:cNvSpPr>
            <p:nvPr/>
          </p:nvSpPr>
          <p:spPr bwMode="auto">
            <a:xfrm>
              <a:off x="1611" y="3588"/>
              <a:ext cx="241" cy="290"/>
            </a:xfrm>
            <a:custGeom>
              <a:avLst/>
              <a:gdLst>
                <a:gd name="T0" fmla="*/ 62 w 89"/>
                <a:gd name="T1" fmla="*/ 107 h 107"/>
                <a:gd name="T2" fmla="*/ 74 w 89"/>
                <a:gd name="T3" fmla="*/ 97 h 107"/>
                <a:gd name="T4" fmla="*/ 83 w 89"/>
                <a:gd name="T5" fmla="*/ 85 h 107"/>
                <a:gd name="T6" fmla="*/ 88 w 89"/>
                <a:gd name="T7" fmla="*/ 71 h 107"/>
                <a:gd name="T8" fmla="*/ 89 w 89"/>
                <a:gd name="T9" fmla="*/ 55 h 107"/>
                <a:gd name="T10" fmla="*/ 87 w 89"/>
                <a:gd name="T11" fmla="*/ 41 h 107"/>
                <a:gd name="T12" fmla="*/ 80 w 89"/>
                <a:gd name="T13" fmla="*/ 27 h 107"/>
                <a:gd name="T14" fmla="*/ 70 w 89"/>
                <a:gd name="T15" fmla="*/ 15 h 107"/>
                <a:gd name="T16" fmla="*/ 58 w 89"/>
                <a:gd name="T17" fmla="*/ 7 h 107"/>
                <a:gd name="T18" fmla="*/ 44 w 89"/>
                <a:gd name="T19" fmla="*/ 1 h 107"/>
                <a:gd name="T20" fmla="*/ 29 w 89"/>
                <a:gd name="T21" fmla="*/ 0 h 107"/>
                <a:gd name="T22" fmla="*/ 14 w 89"/>
                <a:gd name="T23" fmla="*/ 3 h 107"/>
                <a:gd name="T24" fmla="*/ 0 w 89"/>
                <a:gd name="T25" fmla="*/ 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9" h="107">
                  <a:moveTo>
                    <a:pt x="62" y="107"/>
                  </a:moveTo>
                  <a:lnTo>
                    <a:pt x="74" y="97"/>
                  </a:lnTo>
                  <a:lnTo>
                    <a:pt x="83" y="85"/>
                  </a:lnTo>
                  <a:lnTo>
                    <a:pt x="88" y="71"/>
                  </a:lnTo>
                  <a:lnTo>
                    <a:pt x="89" y="55"/>
                  </a:lnTo>
                  <a:lnTo>
                    <a:pt x="87" y="41"/>
                  </a:lnTo>
                  <a:lnTo>
                    <a:pt x="80" y="27"/>
                  </a:lnTo>
                  <a:lnTo>
                    <a:pt x="70" y="15"/>
                  </a:lnTo>
                  <a:lnTo>
                    <a:pt x="58" y="7"/>
                  </a:lnTo>
                  <a:lnTo>
                    <a:pt x="44" y="1"/>
                  </a:lnTo>
                  <a:lnTo>
                    <a:pt x="29" y="0"/>
                  </a:lnTo>
                  <a:lnTo>
                    <a:pt x="14" y="3"/>
                  </a:lnTo>
                  <a:lnTo>
                    <a:pt x="0" y="9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5" name="Freeform 335"/>
            <p:cNvSpPr>
              <a:spLocks noChangeArrowheads="1"/>
            </p:cNvSpPr>
            <p:nvPr/>
          </p:nvSpPr>
          <p:spPr bwMode="auto">
            <a:xfrm>
              <a:off x="1657" y="3675"/>
              <a:ext cx="108" cy="129"/>
            </a:xfrm>
            <a:custGeom>
              <a:avLst/>
              <a:gdLst>
                <a:gd name="T0" fmla="*/ 28 w 40"/>
                <a:gd name="T1" fmla="*/ 48 h 48"/>
                <a:gd name="T2" fmla="*/ 34 w 40"/>
                <a:gd name="T3" fmla="*/ 42 h 48"/>
                <a:gd name="T4" fmla="*/ 38 w 40"/>
                <a:gd name="T5" fmla="*/ 35 h 48"/>
                <a:gd name="T6" fmla="*/ 40 w 40"/>
                <a:gd name="T7" fmla="*/ 28 h 48"/>
                <a:gd name="T8" fmla="*/ 39 w 40"/>
                <a:gd name="T9" fmla="*/ 20 h 48"/>
                <a:gd name="T10" fmla="*/ 36 w 40"/>
                <a:gd name="T11" fmla="*/ 12 h 48"/>
                <a:gd name="T12" fmla="*/ 31 w 40"/>
                <a:gd name="T13" fmla="*/ 6 h 48"/>
                <a:gd name="T14" fmla="*/ 24 w 40"/>
                <a:gd name="T15" fmla="*/ 2 h 48"/>
                <a:gd name="T16" fmla="*/ 16 w 40"/>
                <a:gd name="T17" fmla="*/ 0 h 48"/>
                <a:gd name="T18" fmla="*/ 8 w 40"/>
                <a:gd name="T19" fmla="*/ 1 h 48"/>
                <a:gd name="T20" fmla="*/ 0 w 40"/>
                <a:gd name="T21" fmla="*/ 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48">
                  <a:moveTo>
                    <a:pt x="28" y="48"/>
                  </a:moveTo>
                  <a:lnTo>
                    <a:pt x="34" y="42"/>
                  </a:lnTo>
                  <a:lnTo>
                    <a:pt x="38" y="35"/>
                  </a:lnTo>
                  <a:lnTo>
                    <a:pt x="40" y="28"/>
                  </a:lnTo>
                  <a:lnTo>
                    <a:pt x="39" y="20"/>
                  </a:lnTo>
                  <a:lnTo>
                    <a:pt x="36" y="12"/>
                  </a:lnTo>
                  <a:lnTo>
                    <a:pt x="31" y="6"/>
                  </a:lnTo>
                  <a:lnTo>
                    <a:pt x="24" y="2"/>
                  </a:lnTo>
                  <a:lnTo>
                    <a:pt x="16" y="0"/>
                  </a:lnTo>
                  <a:lnTo>
                    <a:pt x="8" y="1"/>
                  </a:lnTo>
                  <a:lnTo>
                    <a:pt x="0" y="4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6" name="Freeform 336"/>
            <p:cNvSpPr>
              <a:spLocks noChangeArrowheads="1"/>
            </p:cNvSpPr>
            <p:nvPr/>
          </p:nvSpPr>
          <p:spPr bwMode="auto">
            <a:xfrm>
              <a:off x="1152" y="3685"/>
              <a:ext cx="505" cy="149"/>
            </a:xfrm>
            <a:custGeom>
              <a:avLst/>
              <a:gdLst>
                <a:gd name="T0" fmla="*/ 0 w 187"/>
                <a:gd name="T1" fmla="*/ 55 h 55"/>
                <a:gd name="T2" fmla="*/ 49 w 187"/>
                <a:gd name="T3" fmla="*/ 51 h 55"/>
                <a:gd name="T4" fmla="*/ 98 w 187"/>
                <a:gd name="T5" fmla="*/ 41 h 55"/>
                <a:gd name="T6" fmla="*/ 144 w 187"/>
                <a:gd name="T7" fmla="*/ 24 h 55"/>
                <a:gd name="T8" fmla="*/ 187 w 187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" h="55">
                  <a:moveTo>
                    <a:pt x="0" y="55"/>
                  </a:moveTo>
                  <a:lnTo>
                    <a:pt x="49" y="51"/>
                  </a:lnTo>
                  <a:lnTo>
                    <a:pt x="98" y="41"/>
                  </a:lnTo>
                  <a:lnTo>
                    <a:pt x="144" y="24"/>
                  </a:lnTo>
                  <a:lnTo>
                    <a:pt x="187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7" name="Freeform 337"/>
            <p:cNvSpPr>
              <a:spLocks noChangeArrowheads="1"/>
            </p:cNvSpPr>
            <p:nvPr/>
          </p:nvSpPr>
          <p:spPr bwMode="auto">
            <a:xfrm>
              <a:off x="1152" y="3804"/>
              <a:ext cx="581" cy="168"/>
            </a:xfrm>
            <a:custGeom>
              <a:avLst/>
              <a:gdLst>
                <a:gd name="T0" fmla="*/ 0 w 215"/>
                <a:gd name="T1" fmla="*/ 62 h 62"/>
                <a:gd name="T2" fmla="*/ 57 w 215"/>
                <a:gd name="T3" fmla="*/ 58 h 62"/>
                <a:gd name="T4" fmla="*/ 112 w 215"/>
                <a:gd name="T5" fmla="*/ 46 h 62"/>
                <a:gd name="T6" fmla="*/ 165 w 215"/>
                <a:gd name="T7" fmla="*/ 27 h 62"/>
                <a:gd name="T8" fmla="*/ 215 w 215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5" h="62">
                  <a:moveTo>
                    <a:pt x="0" y="62"/>
                  </a:moveTo>
                  <a:lnTo>
                    <a:pt x="57" y="58"/>
                  </a:lnTo>
                  <a:lnTo>
                    <a:pt x="112" y="46"/>
                  </a:lnTo>
                  <a:lnTo>
                    <a:pt x="165" y="27"/>
                  </a:lnTo>
                  <a:lnTo>
                    <a:pt x="215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38" name="Freeform 338"/>
            <p:cNvSpPr>
              <a:spLocks noChangeArrowheads="1"/>
            </p:cNvSpPr>
            <p:nvPr/>
          </p:nvSpPr>
          <p:spPr bwMode="auto">
            <a:xfrm>
              <a:off x="1081" y="3834"/>
              <a:ext cx="71" cy="138"/>
            </a:xfrm>
            <a:custGeom>
              <a:avLst/>
              <a:gdLst>
                <a:gd name="T0" fmla="*/ 26 w 26"/>
                <a:gd name="T1" fmla="*/ 0 h 51"/>
                <a:gd name="T2" fmla="*/ 18 w 26"/>
                <a:gd name="T3" fmla="*/ 1 h 51"/>
                <a:gd name="T4" fmla="*/ 11 w 26"/>
                <a:gd name="T5" fmla="*/ 5 h 51"/>
                <a:gd name="T6" fmla="*/ 5 w 26"/>
                <a:gd name="T7" fmla="*/ 10 h 51"/>
                <a:gd name="T8" fmla="*/ 2 w 26"/>
                <a:gd name="T9" fmla="*/ 18 h 51"/>
                <a:gd name="T10" fmla="*/ 0 w 26"/>
                <a:gd name="T11" fmla="*/ 26 h 51"/>
                <a:gd name="T12" fmla="*/ 2 w 26"/>
                <a:gd name="T13" fmla="*/ 34 h 51"/>
                <a:gd name="T14" fmla="*/ 5 w 26"/>
                <a:gd name="T15" fmla="*/ 41 h 51"/>
                <a:gd name="T16" fmla="*/ 11 w 26"/>
                <a:gd name="T17" fmla="*/ 46 h 51"/>
                <a:gd name="T18" fmla="*/ 18 w 26"/>
                <a:gd name="T19" fmla="*/ 50 h 51"/>
                <a:gd name="T20" fmla="*/ 26 w 26"/>
                <a:gd name="T2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51">
                  <a:moveTo>
                    <a:pt x="26" y="0"/>
                  </a:moveTo>
                  <a:lnTo>
                    <a:pt x="18" y="1"/>
                  </a:lnTo>
                  <a:lnTo>
                    <a:pt x="11" y="5"/>
                  </a:lnTo>
                  <a:lnTo>
                    <a:pt x="5" y="10"/>
                  </a:lnTo>
                  <a:lnTo>
                    <a:pt x="2" y="18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5" y="41"/>
                  </a:lnTo>
                  <a:lnTo>
                    <a:pt x="11" y="46"/>
                  </a:lnTo>
                  <a:lnTo>
                    <a:pt x="18" y="50"/>
                  </a:lnTo>
                  <a:lnTo>
                    <a:pt x="26" y="51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339" name="Group 339"/>
          <p:cNvGrpSpPr>
            <a:grpSpLocks/>
          </p:cNvGrpSpPr>
          <p:nvPr/>
        </p:nvGrpSpPr>
        <p:grpSpPr bwMode="auto">
          <a:xfrm>
            <a:off x="3579814" y="5456239"/>
            <a:ext cx="720725" cy="1171575"/>
            <a:chOff x="1295" y="3437"/>
            <a:chExt cx="454" cy="738"/>
          </a:xfrm>
        </p:grpSpPr>
        <p:sp>
          <p:nvSpPr>
            <p:cNvPr id="340" name="Freeform 340"/>
            <p:cNvSpPr>
              <a:spLocks noChangeArrowheads="1"/>
            </p:cNvSpPr>
            <p:nvPr/>
          </p:nvSpPr>
          <p:spPr bwMode="auto">
            <a:xfrm>
              <a:off x="1295" y="3575"/>
              <a:ext cx="32" cy="86"/>
            </a:xfrm>
            <a:custGeom>
              <a:avLst/>
              <a:gdLst>
                <a:gd name="T0" fmla="*/ 0 w 12"/>
                <a:gd name="T1" fmla="*/ 32 h 32"/>
                <a:gd name="T2" fmla="*/ 6 w 12"/>
                <a:gd name="T3" fmla="*/ 0 h 32"/>
                <a:gd name="T4" fmla="*/ 12 w 12"/>
                <a:gd name="T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2">
                  <a:moveTo>
                    <a:pt x="0" y="32"/>
                  </a:moveTo>
                  <a:lnTo>
                    <a:pt x="6" y="0"/>
                  </a:lnTo>
                  <a:lnTo>
                    <a:pt x="12" y="32"/>
                  </a:lnTo>
                </a:path>
              </a:pathLst>
            </a:cu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grpSp>
          <p:nvGrpSpPr>
            <p:cNvPr id="341" name="Group 341"/>
            <p:cNvGrpSpPr>
              <a:grpSpLocks/>
            </p:cNvGrpSpPr>
            <p:nvPr/>
          </p:nvGrpSpPr>
          <p:grpSpPr bwMode="auto">
            <a:xfrm>
              <a:off x="1300" y="3437"/>
              <a:ext cx="449" cy="738"/>
              <a:chOff x="1300" y="3437"/>
              <a:chExt cx="449" cy="738"/>
            </a:xfrm>
          </p:grpSpPr>
          <p:grpSp>
            <p:nvGrpSpPr>
              <p:cNvPr id="342" name="Group 342"/>
              <p:cNvGrpSpPr>
                <a:grpSpLocks/>
              </p:cNvGrpSpPr>
              <p:nvPr/>
            </p:nvGrpSpPr>
            <p:grpSpPr bwMode="auto">
              <a:xfrm>
                <a:off x="1387" y="3437"/>
                <a:ext cx="362" cy="738"/>
                <a:chOff x="1387" y="3437"/>
                <a:chExt cx="362" cy="738"/>
              </a:xfrm>
            </p:grpSpPr>
            <p:grpSp>
              <p:nvGrpSpPr>
                <p:cNvPr id="344" name="Group 343"/>
                <p:cNvGrpSpPr>
                  <a:grpSpLocks/>
                </p:cNvGrpSpPr>
                <p:nvPr/>
              </p:nvGrpSpPr>
              <p:grpSpPr bwMode="auto">
                <a:xfrm>
                  <a:off x="1387" y="3437"/>
                  <a:ext cx="208" cy="208"/>
                  <a:chOff x="1387" y="3437"/>
                  <a:chExt cx="208" cy="208"/>
                </a:xfrm>
              </p:grpSpPr>
              <p:sp>
                <p:nvSpPr>
                  <p:cNvPr id="351" name="Freeform 344"/>
                  <p:cNvSpPr>
                    <a:spLocks noChangeArrowheads="1"/>
                  </p:cNvSpPr>
                  <p:nvPr/>
                </p:nvSpPr>
                <p:spPr bwMode="auto">
                  <a:xfrm>
                    <a:off x="1438" y="3488"/>
                    <a:ext cx="103" cy="46"/>
                  </a:xfrm>
                  <a:custGeom>
                    <a:avLst/>
                    <a:gdLst>
                      <a:gd name="T0" fmla="*/ 0 w 103"/>
                      <a:gd name="T1" fmla="*/ 22 h 46"/>
                      <a:gd name="T2" fmla="*/ 8 w 103"/>
                      <a:gd name="T3" fmla="*/ 46 h 46"/>
                      <a:gd name="T4" fmla="*/ 103 w 103"/>
                      <a:gd name="T5" fmla="*/ 0 h 46"/>
                      <a:gd name="T6" fmla="*/ 0 w 103"/>
                      <a:gd name="T7" fmla="*/ 22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3" h="46">
                        <a:moveTo>
                          <a:pt x="0" y="22"/>
                        </a:moveTo>
                        <a:lnTo>
                          <a:pt x="8" y="46"/>
                        </a:lnTo>
                        <a:lnTo>
                          <a:pt x="103" y="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763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52" name="Line 345"/>
                  <p:cNvSpPr>
                    <a:spLocks noChangeShapeType="1"/>
                  </p:cNvSpPr>
                  <p:nvPr/>
                </p:nvSpPr>
                <p:spPr bwMode="auto">
                  <a:xfrm>
                    <a:off x="1387" y="3542"/>
                    <a:ext cx="38" cy="103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3" name="Line 34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87" y="3488"/>
                    <a:ext cx="154" cy="54"/>
                  </a:xfrm>
                  <a:prstGeom prst="line">
                    <a:avLst/>
                  </a:prstGeom>
                  <a:noFill/>
                  <a:ln w="4763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" name="Line 347"/>
                  <p:cNvSpPr>
                    <a:spLocks noChangeShapeType="1"/>
                  </p:cNvSpPr>
                  <p:nvPr/>
                </p:nvSpPr>
                <p:spPr bwMode="auto">
                  <a:xfrm>
                    <a:off x="1498" y="3437"/>
                    <a:ext cx="5" cy="5"/>
                  </a:xfrm>
                  <a:prstGeom prst="line">
                    <a:avLst/>
                  </a:prstGeom>
                  <a:noFill/>
                  <a:ln w="4763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5" name="Line 348"/>
                  <p:cNvSpPr>
                    <a:spLocks noChangeShapeType="1"/>
                  </p:cNvSpPr>
                  <p:nvPr/>
                </p:nvSpPr>
                <p:spPr bwMode="auto">
                  <a:xfrm>
                    <a:off x="1506" y="3450"/>
                    <a:ext cx="38" cy="60"/>
                  </a:xfrm>
                  <a:prstGeom prst="line">
                    <a:avLst/>
                  </a:prstGeom>
                  <a:noFill/>
                  <a:ln w="4763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6" name="Line 349"/>
                  <p:cNvSpPr>
                    <a:spLocks noChangeShapeType="1"/>
                  </p:cNvSpPr>
                  <p:nvPr/>
                </p:nvSpPr>
                <p:spPr bwMode="auto">
                  <a:xfrm>
                    <a:off x="1549" y="3515"/>
                    <a:ext cx="5" cy="8"/>
                  </a:xfrm>
                  <a:prstGeom prst="line">
                    <a:avLst/>
                  </a:prstGeom>
                  <a:noFill/>
                  <a:ln w="4763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7" name="Line 350"/>
                  <p:cNvSpPr>
                    <a:spLocks noChangeShapeType="1"/>
                  </p:cNvSpPr>
                  <p:nvPr/>
                </p:nvSpPr>
                <p:spPr bwMode="auto">
                  <a:xfrm>
                    <a:off x="1557" y="3529"/>
                    <a:ext cx="38" cy="59"/>
                  </a:xfrm>
                  <a:prstGeom prst="line">
                    <a:avLst/>
                  </a:prstGeom>
                  <a:noFill/>
                  <a:ln w="4763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345" name="Group 351"/>
                <p:cNvGrpSpPr>
                  <a:grpSpLocks/>
                </p:cNvGrpSpPr>
                <p:nvPr/>
              </p:nvGrpSpPr>
              <p:grpSpPr bwMode="auto">
                <a:xfrm>
                  <a:off x="1487" y="4064"/>
                  <a:ext cx="262" cy="111"/>
                  <a:chOff x="1487" y="4064"/>
                  <a:chExt cx="262" cy="111"/>
                </a:xfrm>
              </p:grpSpPr>
              <p:sp>
                <p:nvSpPr>
                  <p:cNvPr id="346" name="Freeform 352"/>
                  <p:cNvSpPr>
                    <a:spLocks noChangeArrowheads="1"/>
                  </p:cNvSpPr>
                  <p:nvPr/>
                </p:nvSpPr>
                <p:spPr bwMode="auto">
                  <a:xfrm>
                    <a:off x="1646" y="4113"/>
                    <a:ext cx="103" cy="48"/>
                  </a:xfrm>
                  <a:custGeom>
                    <a:avLst/>
                    <a:gdLst>
                      <a:gd name="T0" fmla="*/ 0 w 103"/>
                      <a:gd name="T1" fmla="*/ 24 h 48"/>
                      <a:gd name="T2" fmla="*/ 8 w 103"/>
                      <a:gd name="T3" fmla="*/ 48 h 48"/>
                      <a:gd name="T4" fmla="*/ 103 w 103"/>
                      <a:gd name="T5" fmla="*/ 0 h 48"/>
                      <a:gd name="T6" fmla="*/ 0 w 103"/>
                      <a:gd name="T7" fmla="*/ 2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3" h="48">
                        <a:moveTo>
                          <a:pt x="0" y="24"/>
                        </a:moveTo>
                        <a:lnTo>
                          <a:pt x="8" y="48"/>
                        </a:lnTo>
                        <a:lnTo>
                          <a:pt x="103" y="0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763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47" name="Line 35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98" y="4113"/>
                    <a:ext cx="151" cy="54"/>
                  </a:xfrm>
                  <a:prstGeom prst="line">
                    <a:avLst/>
                  </a:prstGeom>
                  <a:noFill/>
                  <a:ln w="4763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48" name="Line 354"/>
                  <p:cNvSpPr>
                    <a:spLocks noChangeShapeType="1"/>
                  </p:cNvSpPr>
                  <p:nvPr/>
                </p:nvSpPr>
                <p:spPr bwMode="auto">
                  <a:xfrm>
                    <a:off x="1560" y="4064"/>
                    <a:ext cx="38" cy="103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49" name="Freeform 355"/>
                  <p:cNvSpPr>
                    <a:spLocks noChangeArrowheads="1"/>
                  </p:cNvSpPr>
                  <p:nvPr/>
                </p:nvSpPr>
                <p:spPr bwMode="auto">
                  <a:xfrm>
                    <a:off x="1487" y="4088"/>
                    <a:ext cx="32" cy="87"/>
                  </a:xfrm>
                  <a:custGeom>
                    <a:avLst/>
                    <a:gdLst>
                      <a:gd name="T0" fmla="*/ 0 w 12"/>
                      <a:gd name="T1" fmla="*/ 32 h 32"/>
                      <a:gd name="T2" fmla="*/ 6 w 12"/>
                      <a:gd name="T3" fmla="*/ 0 h 32"/>
                      <a:gd name="T4" fmla="*/ 12 w 12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" h="32">
                        <a:moveTo>
                          <a:pt x="0" y="32"/>
                        </a:moveTo>
                        <a:lnTo>
                          <a:pt x="6" y="0"/>
                        </a:lnTo>
                        <a:lnTo>
                          <a:pt x="12" y="32"/>
                        </a:lnTo>
                      </a:path>
                    </a:pathLst>
                  </a:custGeom>
                  <a:noFill/>
                  <a:ln w="4763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1pPr>
                    <a:lvl2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2pPr>
                    <a:lvl3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3pPr>
                    <a:lvl4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4pPr>
                    <a:lvl5pPr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5pPr>
                    <a:lvl6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6pPr>
                    <a:lvl7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7pPr>
                    <a:lvl8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8pPr>
                    <a:lvl9pPr fontAlgn="base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 sz="2400" b="1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endParaRPr lang="zh-CN" altLang="en-US"/>
                  </a:p>
                </p:txBody>
              </p:sp>
              <p:sp>
                <p:nvSpPr>
                  <p:cNvPr id="350" name="Line 356"/>
                  <p:cNvSpPr>
                    <a:spLocks noChangeShapeType="1"/>
                  </p:cNvSpPr>
                  <p:nvPr/>
                </p:nvSpPr>
                <p:spPr bwMode="auto">
                  <a:xfrm>
                    <a:off x="1492" y="4145"/>
                    <a:ext cx="22" cy="1"/>
                  </a:xfrm>
                  <a:prstGeom prst="line">
                    <a:avLst/>
                  </a:prstGeom>
                  <a:noFill/>
                  <a:ln w="4763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343" name="Line 357"/>
              <p:cNvSpPr>
                <a:spLocks noChangeShapeType="1"/>
              </p:cNvSpPr>
              <p:nvPr/>
            </p:nvSpPr>
            <p:spPr bwMode="auto">
              <a:xfrm>
                <a:off x="1300" y="3629"/>
                <a:ext cx="22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358" name="Group 358"/>
          <p:cNvGrpSpPr>
            <a:grpSpLocks/>
          </p:cNvGrpSpPr>
          <p:nvPr/>
        </p:nvGrpSpPr>
        <p:grpSpPr bwMode="auto">
          <a:xfrm>
            <a:off x="4738688" y="5726113"/>
            <a:ext cx="1268412" cy="679450"/>
            <a:chOff x="2025" y="3607"/>
            <a:chExt cx="799" cy="428"/>
          </a:xfrm>
        </p:grpSpPr>
        <p:sp>
          <p:nvSpPr>
            <p:cNvPr id="359" name="Line 359"/>
            <p:cNvSpPr>
              <a:spLocks noChangeShapeType="1"/>
            </p:cNvSpPr>
            <p:nvPr/>
          </p:nvSpPr>
          <p:spPr bwMode="auto">
            <a:xfrm flipV="1">
              <a:off x="2201" y="3661"/>
              <a:ext cx="32" cy="33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0" name="Line 360"/>
            <p:cNvSpPr>
              <a:spLocks noChangeShapeType="1"/>
            </p:cNvSpPr>
            <p:nvPr/>
          </p:nvSpPr>
          <p:spPr bwMode="auto">
            <a:xfrm flipV="1">
              <a:off x="2125" y="3610"/>
              <a:ext cx="86" cy="84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" name="Line 361"/>
            <p:cNvSpPr>
              <a:spLocks noChangeShapeType="1"/>
            </p:cNvSpPr>
            <p:nvPr/>
          </p:nvSpPr>
          <p:spPr bwMode="auto">
            <a:xfrm flipV="1">
              <a:off x="2095" y="3607"/>
              <a:ext cx="43" cy="46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2" name="Line 362"/>
            <p:cNvSpPr>
              <a:spLocks noChangeShapeType="1"/>
            </p:cNvSpPr>
            <p:nvPr/>
          </p:nvSpPr>
          <p:spPr bwMode="auto">
            <a:xfrm flipV="1">
              <a:off x="2095" y="3834"/>
              <a:ext cx="38" cy="4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3" name="Line 363"/>
            <p:cNvSpPr>
              <a:spLocks noChangeShapeType="1"/>
            </p:cNvSpPr>
            <p:nvPr/>
          </p:nvSpPr>
          <p:spPr bwMode="auto">
            <a:xfrm flipV="1">
              <a:off x="2122" y="3834"/>
              <a:ext cx="87" cy="87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4" name="Line 364"/>
            <p:cNvSpPr>
              <a:spLocks noChangeShapeType="1"/>
            </p:cNvSpPr>
            <p:nvPr/>
          </p:nvSpPr>
          <p:spPr bwMode="auto">
            <a:xfrm flipV="1">
              <a:off x="2195" y="3883"/>
              <a:ext cx="38" cy="38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" name="Line 365"/>
            <p:cNvSpPr>
              <a:spLocks noChangeShapeType="1"/>
            </p:cNvSpPr>
            <p:nvPr/>
          </p:nvSpPr>
          <p:spPr bwMode="auto">
            <a:xfrm>
              <a:off x="2233" y="3796"/>
              <a:ext cx="89" cy="238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6" name="Line 366"/>
            <p:cNvSpPr>
              <a:spLocks noChangeShapeType="1"/>
            </p:cNvSpPr>
            <p:nvPr/>
          </p:nvSpPr>
          <p:spPr bwMode="auto">
            <a:xfrm>
              <a:off x="2025" y="3764"/>
              <a:ext cx="70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7" name="Line 367"/>
            <p:cNvSpPr>
              <a:spLocks noChangeShapeType="1"/>
            </p:cNvSpPr>
            <p:nvPr/>
          </p:nvSpPr>
          <p:spPr bwMode="auto">
            <a:xfrm>
              <a:off x="2103" y="3764"/>
              <a:ext cx="8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8" name="Line 368"/>
            <p:cNvSpPr>
              <a:spLocks noChangeShapeType="1"/>
            </p:cNvSpPr>
            <p:nvPr/>
          </p:nvSpPr>
          <p:spPr bwMode="auto">
            <a:xfrm>
              <a:off x="2119" y="3764"/>
              <a:ext cx="71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9" name="Line 369"/>
            <p:cNvSpPr>
              <a:spLocks noChangeShapeType="1"/>
            </p:cNvSpPr>
            <p:nvPr/>
          </p:nvSpPr>
          <p:spPr bwMode="auto">
            <a:xfrm>
              <a:off x="2198" y="3764"/>
              <a:ext cx="8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0" name="Line 370"/>
            <p:cNvSpPr>
              <a:spLocks noChangeShapeType="1"/>
            </p:cNvSpPr>
            <p:nvPr/>
          </p:nvSpPr>
          <p:spPr bwMode="auto">
            <a:xfrm>
              <a:off x="2214" y="3764"/>
              <a:ext cx="70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1" name="Line 371"/>
            <p:cNvSpPr>
              <a:spLocks noChangeShapeType="1"/>
            </p:cNvSpPr>
            <p:nvPr/>
          </p:nvSpPr>
          <p:spPr bwMode="auto">
            <a:xfrm>
              <a:off x="2292" y="3764"/>
              <a:ext cx="9" cy="1"/>
            </a:xfrm>
            <a:prstGeom prst="line">
              <a:avLst/>
            </a:prstGeom>
            <a:noFill/>
            <a:ln w="4763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2" name="Line 372"/>
            <p:cNvSpPr>
              <a:spLocks noChangeShapeType="1"/>
            </p:cNvSpPr>
            <p:nvPr/>
          </p:nvSpPr>
          <p:spPr bwMode="auto">
            <a:xfrm>
              <a:off x="2095" y="3694"/>
              <a:ext cx="138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3" name="Line 373"/>
            <p:cNvSpPr>
              <a:spLocks noChangeShapeType="1"/>
            </p:cNvSpPr>
            <p:nvPr/>
          </p:nvSpPr>
          <p:spPr bwMode="auto">
            <a:xfrm>
              <a:off x="2095" y="3607"/>
              <a:ext cx="103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4" name="Freeform 374"/>
            <p:cNvSpPr>
              <a:spLocks noChangeArrowheads="1"/>
            </p:cNvSpPr>
            <p:nvPr/>
          </p:nvSpPr>
          <p:spPr bwMode="auto">
            <a:xfrm>
              <a:off x="2198" y="3607"/>
              <a:ext cx="35" cy="35"/>
            </a:xfrm>
            <a:custGeom>
              <a:avLst/>
              <a:gdLst>
                <a:gd name="T0" fmla="*/ 13 w 13"/>
                <a:gd name="T1" fmla="*/ 13 h 13"/>
                <a:gd name="T2" fmla="*/ 13 w 13"/>
                <a:gd name="T3" fmla="*/ 10 h 13"/>
                <a:gd name="T4" fmla="*/ 11 w 13"/>
                <a:gd name="T5" fmla="*/ 6 h 13"/>
                <a:gd name="T6" fmla="*/ 9 w 13"/>
                <a:gd name="T7" fmla="*/ 4 h 13"/>
                <a:gd name="T8" fmla="*/ 7 w 13"/>
                <a:gd name="T9" fmla="*/ 2 h 13"/>
                <a:gd name="T10" fmla="*/ 4 w 13"/>
                <a:gd name="T11" fmla="*/ 0 h 13"/>
                <a:gd name="T12" fmla="*/ 0 w 13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3" y="13"/>
                  </a:moveTo>
                  <a:lnTo>
                    <a:pt x="13" y="10"/>
                  </a:lnTo>
                  <a:lnTo>
                    <a:pt x="11" y="6"/>
                  </a:lnTo>
                  <a:lnTo>
                    <a:pt x="9" y="4"/>
                  </a:lnTo>
                  <a:lnTo>
                    <a:pt x="7" y="2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5" name="Line 375"/>
            <p:cNvSpPr>
              <a:spLocks noChangeShapeType="1"/>
            </p:cNvSpPr>
            <p:nvPr/>
          </p:nvSpPr>
          <p:spPr bwMode="auto">
            <a:xfrm>
              <a:off x="2095" y="3834"/>
              <a:ext cx="138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6" name="Line 376"/>
            <p:cNvSpPr>
              <a:spLocks noChangeShapeType="1"/>
            </p:cNvSpPr>
            <p:nvPr/>
          </p:nvSpPr>
          <p:spPr bwMode="auto">
            <a:xfrm>
              <a:off x="2095" y="3921"/>
              <a:ext cx="103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7" name="Freeform 377"/>
            <p:cNvSpPr>
              <a:spLocks noChangeArrowheads="1"/>
            </p:cNvSpPr>
            <p:nvPr/>
          </p:nvSpPr>
          <p:spPr bwMode="auto">
            <a:xfrm>
              <a:off x="2198" y="3886"/>
              <a:ext cx="35" cy="35"/>
            </a:xfrm>
            <a:custGeom>
              <a:avLst/>
              <a:gdLst>
                <a:gd name="T0" fmla="*/ 0 w 13"/>
                <a:gd name="T1" fmla="*/ 13 h 13"/>
                <a:gd name="T2" fmla="*/ 4 w 13"/>
                <a:gd name="T3" fmla="*/ 13 h 13"/>
                <a:gd name="T4" fmla="*/ 7 w 13"/>
                <a:gd name="T5" fmla="*/ 11 h 13"/>
                <a:gd name="T6" fmla="*/ 9 w 13"/>
                <a:gd name="T7" fmla="*/ 9 h 13"/>
                <a:gd name="T8" fmla="*/ 11 w 13"/>
                <a:gd name="T9" fmla="*/ 7 h 13"/>
                <a:gd name="T10" fmla="*/ 13 w 13"/>
                <a:gd name="T11" fmla="*/ 3 h 13"/>
                <a:gd name="T12" fmla="*/ 13 w 13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0" y="13"/>
                  </a:moveTo>
                  <a:lnTo>
                    <a:pt x="4" y="13"/>
                  </a:lnTo>
                  <a:lnTo>
                    <a:pt x="7" y="11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3" y="3"/>
                  </a:lnTo>
                  <a:lnTo>
                    <a:pt x="13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378" name="Line 378"/>
            <p:cNvSpPr>
              <a:spLocks noChangeShapeType="1"/>
            </p:cNvSpPr>
            <p:nvPr/>
          </p:nvSpPr>
          <p:spPr bwMode="auto">
            <a:xfrm>
              <a:off x="2095" y="3607"/>
              <a:ext cx="1" cy="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" name="Line 379"/>
            <p:cNvSpPr>
              <a:spLocks noChangeShapeType="1"/>
            </p:cNvSpPr>
            <p:nvPr/>
          </p:nvSpPr>
          <p:spPr bwMode="auto">
            <a:xfrm>
              <a:off x="2095" y="3834"/>
              <a:ext cx="1" cy="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" name="Line 380"/>
            <p:cNvSpPr>
              <a:spLocks noChangeShapeType="1"/>
            </p:cNvSpPr>
            <p:nvPr/>
          </p:nvSpPr>
          <p:spPr bwMode="auto">
            <a:xfrm>
              <a:off x="2233" y="3642"/>
              <a:ext cx="1" cy="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" name="Line 381"/>
            <p:cNvSpPr>
              <a:spLocks noChangeShapeType="1"/>
            </p:cNvSpPr>
            <p:nvPr/>
          </p:nvSpPr>
          <p:spPr bwMode="auto">
            <a:xfrm>
              <a:off x="2233" y="3834"/>
              <a:ext cx="1" cy="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" name="Line 382"/>
            <p:cNvSpPr>
              <a:spLocks noChangeShapeType="1"/>
            </p:cNvSpPr>
            <p:nvPr/>
          </p:nvSpPr>
          <p:spPr bwMode="auto">
            <a:xfrm>
              <a:off x="2095" y="3694"/>
              <a:ext cx="1" cy="1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" name="Line 383"/>
            <p:cNvSpPr>
              <a:spLocks noChangeShapeType="1"/>
            </p:cNvSpPr>
            <p:nvPr/>
          </p:nvSpPr>
          <p:spPr bwMode="auto">
            <a:xfrm>
              <a:off x="2233" y="3694"/>
              <a:ext cx="1" cy="1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4" name="Rectangle 384"/>
            <p:cNvSpPr>
              <a:spLocks noChangeArrowheads="1"/>
            </p:cNvSpPr>
            <p:nvPr/>
          </p:nvSpPr>
          <p:spPr bwMode="auto">
            <a:xfrm>
              <a:off x="2346" y="3880"/>
              <a:ext cx="120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zh-CN" altLang="en-US" sz="1500" b="0">
                  <a:solidFill>
                    <a:srgbClr val="000000"/>
                  </a:solidFill>
                  <a:latin typeface="仿宋_GB2312"/>
                  <a:ea typeface="仿宋_GB2312"/>
                  <a:cs typeface="仿宋_GB2312"/>
                </a:rPr>
                <a:t>按</a:t>
              </a:r>
              <a:endParaRPr lang="zh-CN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385" name="Rectangle 385"/>
            <p:cNvSpPr>
              <a:spLocks noChangeArrowheads="1"/>
            </p:cNvSpPr>
            <p:nvPr/>
          </p:nvSpPr>
          <p:spPr bwMode="auto">
            <a:xfrm>
              <a:off x="2439" y="3880"/>
              <a:ext cx="120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zh-CN" altLang="en-US" sz="1500" b="0">
                  <a:solidFill>
                    <a:srgbClr val="000000"/>
                  </a:solidFill>
                  <a:latin typeface="仿宋_GB2312"/>
                  <a:ea typeface="仿宋_GB2312"/>
                  <a:cs typeface="仿宋_GB2312"/>
                </a:rPr>
                <a:t>剖</a:t>
              </a:r>
              <a:endParaRPr lang="zh-CN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386" name="Rectangle 386"/>
            <p:cNvSpPr>
              <a:spLocks noChangeArrowheads="1"/>
            </p:cNvSpPr>
            <p:nvPr/>
          </p:nvSpPr>
          <p:spPr bwMode="auto">
            <a:xfrm>
              <a:off x="2529" y="3880"/>
              <a:ext cx="120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zh-CN" altLang="en-US" sz="1500" b="0">
                  <a:solidFill>
                    <a:srgbClr val="000000"/>
                  </a:solidFill>
                  <a:latin typeface="仿宋_GB2312"/>
                  <a:ea typeface="仿宋_GB2312"/>
                  <a:cs typeface="仿宋_GB2312"/>
                </a:rPr>
                <a:t>视</a:t>
              </a:r>
              <a:endParaRPr lang="zh-CN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387" name="Rectangle 387"/>
            <p:cNvSpPr>
              <a:spLocks noChangeArrowheads="1"/>
            </p:cNvSpPr>
            <p:nvPr/>
          </p:nvSpPr>
          <p:spPr bwMode="auto">
            <a:xfrm>
              <a:off x="2615" y="3880"/>
              <a:ext cx="120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zh-CN" altLang="en-US" sz="1500" b="0">
                  <a:solidFill>
                    <a:srgbClr val="000000"/>
                  </a:solidFill>
                  <a:latin typeface="仿宋_GB2312"/>
                  <a:ea typeface="仿宋_GB2312"/>
                  <a:cs typeface="仿宋_GB2312"/>
                </a:rPr>
                <a:t>绘</a:t>
              </a:r>
              <a:endParaRPr lang="zh-CN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388" name="Rectangle 388"/>
            <p:cNvSpPr>
              <a:spLocks noChangeArrowheads="1"/>
            </p:cNvSpPr>
            <p:nvPr/>
          </p:nvSpPr>
          <p:spPr bwMode="auto">
            <a:xfrm>
              <a:off x="2704" y="3880"/>
              <a:ext cx="120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 sz="2400" b="1"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zh-CN" altLang="en-US" sz="1500" b="0">
                  <a:solidFill>
                    <a:srgbClr val="000000"/>
                  </a:solidFill>
                  <a:latin typeface="仿宋_GB2312"/>
                  <a:ea typeface="仿宋_GB2312"/>
                  <a:cs typeface="仿宋_GB2312"/>
                </a:rPr>
                <a:t>制</a:t>
              </a:r>
              <a:endParaRPr lang="zh-CN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389" name="Line 389"/>
            <p:cNvSpPr>
              <a:spLocks noChangeShapeType="1"/>
            </p:cNvSpPr>
            <p:nvPr/>
          </p:nvSpPr>
          <p:spPr bwMode="auto">
            <a:xfrm>
              <a:off x="2322" y="4034"/>
              <a:ext cx="48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0" name="Rectangle 390"/>
          <p:cNvSpPr>
            <a:spLocks noChangeArrowheads="1"/>
          </p:cNvSpPr>
          <p:nvPr/>
        </p:nvSpPr>
        <p:spPr bwMode="auto">
          <a:xfrm>
            <a:off x="6097588" y="5183188"/>
            <a:ext cx="4214812" cy="774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marL="363538" indent="-363538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2000">
                <a:solidFill>
                  <a:srgbClr val="FF00FF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※ </a:t>
            </a:r>
            <a:r>
              <a:rPr lang="zh-CN" altLang="en-US" sz="200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当剖切一些</a:t>
            </a:r>
            <a:r>
              <a:rPr lang="zh-CN" altLang="en-US" sz="200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通孔</a:t>
            </a:r>
            <a:r>
              <a:rPr lang="zh-CN" altLang="en-US" sz="200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结构时，会导致出现</a:t>
            </a:r>
            <a:r>
              <a:rPr lang="zh-CN" altLang="en-US" sz="200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完全分离</a:t>
            </a:r>
            <a:r>
              <a:rPr lang="zh-CN" altLang="en-US" sz="200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的断面，此时也</a:t>
            </a:r>
            <a:r>
              <a:rPr lang="zh-CN" altLang="en-US" sz="200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按剖视</a:t>
            </a:r>
            <a:r>
              <a:rPr lang="zh-CN" altLang="en-US" sz="2000">
                <a:solidFill>
                  <a:srgbClr val="000066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绘制。</a:t>
            </a:r>
          </a:p>
        </p:txBody>
      </p:sp>
    </p:spTree>
    <p:extLst>
      <p:ext uri="{BB962C8B-B14F-4D97-AF65-F5344CB8AC3E}">
        <p14:creationId xmlns:p14="http://schemas.microsoft.com/office/powerpoint/2010/main" val="3858063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90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>
          <a:xfrm>
            <a:off x="919957" y="265115"/>
            <a:ext cx="4675187" cy="5715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anchor="b"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FontTx/>
              <a:buNone/>
              <a:defRPr sz="2800" b="1">
                <a:solidFill>
                  <a:srgbClr val="008000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defRPr>
            </a:lvl1pPr>
          </a:lstStyle>
          <a:p>
            <a:r>
              <a:rPr lang="en-US" altLang="zh-CN" dirty="0"/>
              <a:t>2.</a:t>
            </a:r>
            <a:r>
              <a:rPr lang="zh-CN" altLang="en-US" dirty="0"/>
              <a:t>重合断面图</a:t>
            </a: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2189163" y="4902200"/>
            <a:ext cx="55245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zh-CN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 </a:t>
            </a:r>
            <a:r>
              <a:rPr lang="zh-CN" altLang="en-US" dirty="0">
                <a:solidFill>
                  <a:srgbClr val="0066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重合断面图</a:t>
            </a:r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：画在视图内的断面图。</a:t>
            </a:r>
          </a:p>
        </p:txBody>
      </p:sp>
      <p:grpSp>
        <p:nvGrpSpPr>
          <p:cNvPr id="4" name="Group 4"/>
          <p:cNvGrpSpPr>
            <a:grpSpLocks/>
          </p:cNvGrpSpPr>
          <p:nvPr/>
        </p:nvGrpSpPr>
        <p:grpSpPr bwMode="auto">
          <a:xfrm>
            <a:off x="2249489" y="1219201"/>
            <a:ext cx="7640637" cy="3159125"/>
            <a:chOff x="457" y="1840"/>
            <a:chExt cx="4813" cy="1990"/>
          </a:xfrm>
        </p:grpSpPr>
        <p:grpSp>
          <p:nvGrpSpPr>
            <p:cNvPr id="5" name="Group 5"/>
            <p:cNvGrpSpPr>
              <a:grpSpLocks/>
            </p:cNvGrpSpPr>
            <p:nvPr/>
          </p:nvGrpSpPr>
          <p:grpSpPr bwMode="auto">
            <a:xfrm>
              <a:off x="2489" y="1846"/>
              <a:ext cx="1287" cy="1984"/>
              <a:chOff x="4473" y="1855"/>
              <a:chExt cx="1287" cy="1984"/>
            </a:xfrm>
          </p:grpSpPr>
          <p:sp>
            <p:nvSpPr>
              <p:cNvPr id="187" name="Freeform 6"/>
              <p:cNvSpPr>
                <a:spLocks noChangeArrowheads="1"/>
              </p:cNvSpPr>
              <p:nvPr/>
            </p:nvSpPr>
            <p:spPr bwMode="auto">
              <a:xfrm>
                <a:off x="4851" y="3236"/>
                <a:ext cx="221" cy="186"/>
              </a:xfrm>
              <a:custGeom>
                <a:avLst/>
                <a:gdLst>
                  <a:gd name="T0" fmla="*/ 221 w 221"/>
                  <a:gd name="T1" fmla="*/ 166 h 186"/>
                  <a:gd name="T2" fmla="*/ 221 w 221"/>
                  <a:gd name="T3" fmla="*/ 166 h 186"/>
                  <a:gd name="T4" fmla="*/ 183 w 221"/>
                  <a:gd name="T5" fmla="*/ 162 h 186"/>
                  <a:gd name="T6" fmla="*/ 148 w 221"/>
                  <a:gd name="T7" fmla="*/ 155 h 186"/>
                  <a:gd name="T8" fmla="*/ 117 w 221"/>
                  <a:gd name="T9" fmla="*/ 138 h 186"/>
                  <a:gd name="T10" fmla="*/ 90 w 221"/>
                  <a:gd name="T11" fmla="*/ 121 h 186"/>
                  <a:gd name="T12" fmla="*/ 66 w 221"/>
                  <a:gd name="T13" fmla="*/ 93 h 186"/>
                  <a:gd name="T14" fmla="*/ 45 w 221"/>
                  <a:gd name="T15" fmla="*/ 66 h 186"/>
                  <a:gd name="T16" fmla="*/ 28 w 221"/>
                  <a:gd name="T17" fmla="*/ 35 h 186"/>
                  <a:gd name="T18" fmla="*/ 17 w 221"/>
                  <a:gd name="T19" fmla="*/ 0 h 186"/>
                  <a:gd name="T20" fmla="*/ 0 w 221"/>
                  <a:gd name="T21" fmla="*/ 4 h 186"/>
                  <a:gd name="T22" fmla="*/ 11 w 221"/>
                  <a:gd name="T23" fmla="*/ 42 h 186"/>
                  <a:gd name="T24" fmla="*/ 28 w 221"/>
                  <a:gd name="T25" fmla="*/ 76 h 186"/>
                  <a:gd name="T26" fmla="*/ 48 w 221"/>
                  <a:gd name="T27" fmla="*/ 107 h 186"/>
                  <a:gd name="T28" fmla="*/ 76 w 221"/>
                  <a:gd name="T29" fmla="*/ 135 h 186"/>
                  <a:gd name="T30" fmla="*/ 107 w 221"/>
                  <a:gd name="T31" fmla="*/ 155 h 186"/>
                  <a:gd name="T32" fmla="*/ 141 w 221"/>
                  <a:gd name="T33" fmla="*/ 173 h 186"/>
                  <a:gd name="T34" fmla="*/ 179 w 221"/>
                  <a:gd name="T35" fmla="*/ 183 h 186"/>
                  <a:gd name="T36" fmla="*/ 221 w 221"/>
                  <a:gd name="T37" fmla="*/ 186 h 186"/>
                  <a:gd name="T38" fmla="*/ 221 w 221"/>
                  <a:gd name="T39" fmla="*/ 186 h 186"/>
                  <a:gd name="T40" fmla="*/ 221 w 221"/>
                  <a:gd name="T41" fmla="*/ 16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1" h="186">
                    <a:moveTo>
                      <a:pt x="221" y="166"/>
                    </a:moveTo>
                    <a:lnTo>
                      <a:pt x="221" y="166"/>
                    </a:lnTo>
                    <a:lnTo>
                      <a:pt x="183" y="162"/>
                    </a:lnTo>
                    <a:lnTo>
                      <a:pt x="148" y="155"/>
                    </a:lnTo>
                    <a:lnTo>
                      <a:pt x="117" y="138"/>
                    </a:lnTo>
                    <a:lnTo>
                      <a:pt x="90" y="121"/>
                    </a:lnTo>
                    <a:lnTo>
                      <a:pt x="66" y="93"/>
                    </a:lnTo>
                    <a:lnTo>
                      <a:pt x="45" y="66"/>
                    </a:lnTo>
                    <a:lnTo>
                      <a:pt x="28" y="35"/>
                    </a:lnTo>
                    <a:lnTo>
                      <a:pt x="17" y="0"/>
                    </a:lnTo>
                    <a:lnTo>
                      <a:pt x="0" y="4"/>
                    </a:lnTo>
                    <a:lnTo>
                      <a:pt x="11" y="42"/>
                    </a:lnTo>
                    <a:lnTo>
                      <a:pt x="28" y="76"/>
                    </a:lnTo>
                    <a:lnTo>
                      <a:pt x="48" y="107"/>
                    </a:lnTo>
                    <a:lnTo>
                      <a:pt x="76" y="135"/>
                    </a:lnTo>
                    <a:lnTo>
                      <a:pt x="107" y="155"/>
                    </a:lnTo>
                    <a:lnTo>
                      <a:pt x="141" y="173"/>
                    </a:lnTo>
                    <a:lnTo>
                      <a:pt x="179" y="183"/>
                    </a:lnTo>
                    <a:lnTo>
                      <a:pt x="221" y="186"/>
                    </a:lnTo>
                    <a:lnTo>
                      <a:pt x="221" y="166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8" name="Freeform 7"/>
              <p:cNvSpPr>
                <a:spLocks noChangeArrowheads="1"/>
              </p:cNvSpPr>
              <p:nvPr/>
            </p:nvSpPr>
            <p:spPr bwMode="auto">
              <a:xfrm>
                <a:off x="5072" y="3198"/>
                <a:ext cx="223" cy="224"/>
              </a:xfrm>
              <a:custGeom>
                <a:avLst/>
                <a:gdLst>
                  <a:gd name="T0" fmla="*/ 203 w 223"/>
                  <a:gd name="T1" fmla="*/ 0 h 224"/>
                  <a:gd name="T2" fmla="*/ 203 w 223"/>
                  <a:gd name="T3" fmla="*/ 0 h 224"/>
                  <a:gd name="T4" fmla="*/ 203 w 223"/>
                  <a:gd name="T5" fmla="*/ 21 h 224"/>
                  <a:gd name="T6" fmla="*/ 199 w 223"/>
                  <a:gd name="T7" fmla="*/ 42 h 224"/>
                  <a:gd name="T8" fmla="*/ 196 w 223"/>
                  <a:gd name="T9" fmla="*/ 62 h 224"/>
                  <a:gd name="T10" fmla="*/ 189 w 223"/>
                  <a:gd name="T11" fmla="*/ 80 h 224"/>
                  <a:gd name="T12" fmla="*/ 178 w 223"/>
                  <a:gd name="T13" fmla="*/ 97 h 224"/>
                  <a:gd name="T14" fmla="*/ 168 w 223"/>
                  <a:gd name="T15" fmla="*/ 114 h 224"/>
                  <a:gd name="T16" fmla="*/ 158 w 223"/>
                  <a:gd name="T17" fmla="*/ 131 h 224"/>
                  <a:gd name="T18" fmla="*/ 144 w 223"/>
                  <a:gd name="T19" fmla="*/ 145 h 224"/>
                  <a:gd name="T20" fmla="*/ 130 w 223"/>
                  <a:gd name="T21" fmla="*/ 159 h 224"/>
                  <a:gd name="T22" fmla="*/ 113 w 223"/>
                  <a:gd name="T23" fmla="*/ 169 h 224"/>
                  <a:gd name="T24" fmla="*/ 96 w 223"/>
                  <a:gd name="T25" fmla="*/ 180 h 224"/>
                  <a:gd name="T26" fmla="*/ 79 w 223"/>
                  <a:gd name="T27" fmla="*/ 190 h 224"/>
                  <a:gd name="T28" fmla="*/ 58 w 223"/>
                  <a:gd name="T29" fmla="*/ 197 h 224"/>
                  <a:gd name="T30" fmla="*/ 41 w 223"/>
                  <a:gd name="T31" fmla="*/ 200 h 224"/>
                  <a:gd name="T32" fmla="*/ 20 w 223"/>
                  <a:gd name="T33" fmla="*/ 204 h 224"/>
                  <a:gd name="T34" fmla="*/ 0 w 223"/>
                  <a:gd name="T35" fmla="*/ 204 h 224"/>
                  <a:gd name="T36" fmla="*/ 0 w 223"/>
                  <a:gd name="T37" fmla="*/ 224 h 224"/>
                  <a:gd name="T38" fmla="*/ 20 w 223"/>
                  <a:gd name="T39" fmla="*/ 224 h 224"/>
                  <a:gd name="T40" fmla="*/ 44 w 223"/>
                  <a:gd name="T41" fmla="*/ 221 h 224"/>
                  <a:gd name="T42" fmla="*/ 65 w 223"/>
                  <a:gd name="T43" fmla="*/ 214 h 224"/>
                  <a:gd name="T44" fmla="*/ 86 w 223"/>
                  <a:gd name="T45" fmla="*/ 207 h 224"/>
                  <a:gd name="T46" fmla="*/ 106 w 223"/>
                  <a:gd name="T47" fmla="*/ 197 h 224"/>
                  <a:gd name="T48" fmla="*/ 123 w 223"/>
                  <a:gd name="T49" fmla="*/ 186 h 224"/>
                  <a:gd name="T50" fmla="*/ 141 w 223"/>
                  <a:gd name="T51" fmla="*/ 173 h 224"/>
                  <a:gd name="T52" fmla="*/ 158 w 223"/>
                  <a:gd name="T53" fmla="*/ 159 h 224"/>
                  <a:gd name="T54" fmla="*/ 172 w 223"/>
                  <a:gd name="T55" fmla="*/ 142 h 224"/>
                  <a:gd name="T56" fmla="*/ 185 w 223"/>
                  <a:gd name="T57" fmla="*/ 124 h 224"/>
                  <a:gd name="T58" fmla="*/ 196 w 223"/>
                  <a:gd name="T59" fmla="*/ 107 h 224"/>
                  <a:gd name="T60" fmla="*/ 206 w 223"/>
                  <a:gd name="T61" fmla="*/ 87 h 224"/>
                  <a:gd name="T62" fmla="*/ 213 w 223"/>
                  <a:gd name="T63" fmla="*/ 66 h 224"/>
                  <a:gd name="T64" fmla="*/ 220 w 223"/>
                  <a:gd name="T65" fmla="*/ 45 h 224"/>
                  <a:gd name="T66" fmla="*/ 223 w 223"/>
                  <a:gd name="T67" fmla="*/ 25 h 224"/>
                  <a:gd name="T68" fmla="*/ 223 w 223"/>
                  <a:gd name="T69" fmla="*/ 0 h 224"/>
                  <a:gd name="T70" fmla="*/ 223 w 223"/>
                  <a:gd name="T71" fmla="*/ 0 h 224"/>
                  <a:gd name="T72" fmla="*/ 203 w 223"/>
                  <a:gd name="T73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3" h="224">
                    <a:moveTo>
                      <a:pt x="203" y="0"/>
                    </a:moveTo>
                    <a:lnTo>
                      <a:pt x="203" y="0"/>
                    </a:lnTo>
                    <a:lnTo>
                      <a:pt x="203" y="21"/>
                    </a:lnTo>
                    <a:lnTo>
                      <a:pt x="199" y="42"/>
                    </a:lnTo>
                    <a:lnTo>
                      <a:pt x="196" y="62"/>
                    </a:lnTo>
                    <a:lnTo>
                      <a:pt x="189" y="80"/>
                    </a:lnTo>
                    <a:lnTo>
                      <a:pt x="178" y="97"/>
                    </a:lnTo>
                    <a:lnTo>
                      <a:pt x="168" y="114"/>
                    </a:lnTo>
                    <a:lnTo>
                      <a:pt x="158" y="131"/>
                    </a:lnTo>
                    <a:lnTo>
                      <a:pt x="144" y="145"/>
                    </a:lnTo>
                    <a:lnTo>
                      <a:pt x="130" y="159"/>
                    </a:lnTo>
                    <a:lnTo>
                      <a:pt x="113" y="169"/>
                    </a:lnTo>
                    <a:lnTo>
                      <a:pt x="96" y="180"/>
                    </a:lnTo>
                    <a:lnTo>
                      <a:pt x="79" y="190"/>
                    </a:lnTo>
                    <a:lnTo>
                      <a:pt x="58" y="197"/>
                    </a:lnTo>
                    <a:lnTo>
                      <a:pt x="41" y="200"/>
                    </a:lnTo>
                    <a:lnTo>
                      <a:pt x="20" y="204"/>
                    </a:lnTo>
                    <a:lnTo>
                      <a:pt x="0" y="204"/>
                    </a:lnTo>
                    <a:lnTo>
                      <a:pt x="0" y="224"/>
                    </a:lnTo>
                    <a:lnTo>
                      <a:pt x="20" y="224"/>
                    </a:lnTo>
                    <a:lnTo>
                      <a:pt x="44" y="221"/>
                    </a:lnTo>
                    <a:lnTo>
                      <a:pt x="65" y="214"/>
                    </a:lnTo>
                    <a:lnTo>
                      <a:pt x="86" y="207"/>
                    </a:lnTo>
                    <a:lnTo>
                      <a:pt x="106" y="197"/>
                    </a:lnTo>
                    <a:lnTo>
                      <a:pt x="123" y="186"/>
                    </a:lnTo>
                    <a:lnTo>
                      <a:pt x="141" y="173"/>
                    </a:lnTo>
                    <a:lnTo>
                      <a:pt x="158" y="159"/>
                    </a:lnTo>
                    <a:lnTo>
                      <a:pt x="172" y="142"/>
                    </a:lnTo>
                    <a:lnTo>
                      <a:pt x="185" y="124"/>
                    </a:lnTo>
                    <a:lnTo>
                      <a:pt x="196" y="107"/>
                    </a:lnTo>
                    <a:lnTo>
                      <a:pt x="206" y="87"/>
                    </a:lnTo>
                    <a:lnTo>
                      <a:pt x="213" y="66"/>
                    </a:lnTo>
                    <a:lnTo>
                      <a:pt x="220" y="45"/>
                    </a:lnTo>
                    <a:lnTo>
                      <a:pt x="223" y="25"/>
                    </a:lnTo>
                    <a:lnTo>
                      <a:pt x="223" y="0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9" name="Freeform 8"/>
              <p:cNvSpPr>
                <a:spLocks noChangeArrowheads="1"/>
              </p:cNvSpPr>
              <p:nvPr/>
            </p:nvSpPr>
            <p:spPr bwMode="auto">
              <a:xfrm>
                <a:off x="5175" y="3005"/>
                <a:ext cx="120" cy="193"/>
              </a:xfrm>
              <a:custGeom>
                <a:avLst/>
                <a:gdLst>
                  <a:gd name="T0" fmla="*/ 0 w 120"/>
                  <a:gd name="T1" fmla="*/ 18 h 193"/>
                  <a:gd name="T2" fmla="*/ 24 w 120"/>
                  <a:gd name="T3" fmla="*/ 31 h 193"/>
                  <a:gd name="T4" fmla="*/ 41 w 120"/>
                  <a:gd name="T5" fmla="*/ 49 h 193"/>
                  <a:gd name="T6" fmla="*/ 58 w 120"/>
                  <a:gd name="T7" fmla="*/ 69 h 193"/>
                  <a:gd name="T8" fmla="*/ 75 w 120"/>
                  <a:gd name="T9" fmla="*/ 90 h 193"/>
                  <a:gd name="T10" fmla="*/ 86 w 120"/>
                  <a:gd name="T11" fmla="*/ 114 h 193"/>
                  <a:gd name="T12" fmla="*/ 93 w 120"/>
                  <a:gd name="T13" fmla="*/ 142 h 193"/>
                  <a:gd name="T14" fmla="*/ 100 w 120"/>
                  <a:gd name="T15" fmla="*/ 166 h 193"/>
                  <a:gd name="T16" fmla="*/ 100 w 120"/>
                  <a:gd name="T17" fmla="*/ 193 h 193"/>
                  <a:gd name="T18" fmla="*/ 120 w 120"/>
                  <a:gd name="T19" fmla="*/ 193 h 193"/>
                  <a:gd name="T20" fmla="*/ 120 w 120"/>
                  <a:gd name="T21" fmla="*/ 162 h 193"/>
                  <a:gd name="T22" fmla="*/ 113 w 120"/>
                  <a:gd name="T23" fmla="*/ 135 h 193"/>
                  <a:gd name="T24" fmla="*/ 103 w 120"/>
                  <a:gd name="T25" fmla="*/ 107 h 193"/>
                  <a:gd name="T26" fmla="*/ 93 w 120"/>
                  <a:gd name="T27" fmla="*/ 83 h 193"/>
                  <a:gd name="T28" fmla="*/ 75 w 120"/>
                  <a:gd name="T29" fmla="*/ 59 h 193"/>
                  <a:gd name="T30" fmla="*/ 58 w 120"/>
                  <a:gd name="T31" fmla="*/ 35 h 193"/>
                  <a:gd name="T32" fmla="*/ 34 w 120"/>
                  <a:gd name="T33" fmla="*/ 18 h 193"/>
                  <a:gd name="T34" fmla="*/ 10 w 120"/>
                  <a:gd name="T35" fmla="*/ 0 h 193"/>
                  <a:gd name="T36" fmla="*/ 0 w 120"/>
                  <a:gd name="T37" fmla="*/ 18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0" h="193">
                    <a:moveTo>
                      <a:pt x="0" y="18"/>
                    </a:moveTo>
                    <a:lnTo>
                      <a:pt x="24" y="31"/>
                    </a:lnTo>
                    <a:lnTo>
                      <a:pt x="41" y="49"/>
                    </a:lnTo>
                    <a:lnTo>
                      <a:pt x="58" y="69"/>
                    </a:lnTo>
                    <a:lnTo>
                      <a:pt x="75" y="90"/>
                    </a:lnTo>
                    <a:lnTo>
                      <a:pt x="86" y="114"/>
                    </a:lnTo>
                    <a:lnTo>
                      <a:pt x="93" y="142"/>
                    </a:lnTo>
                    <a:lnTo>
                      <a:pt x="100" y="166"/>
                    </a:lnTo>
                    <a:lnTo>
                      <a:pt x="100" y="193"/>
                    </a:lnTo>
                    <a:lnTo>
                      <a:pt x="120" y="193"/>
                    </a:lnTo>
                    <a:lnTo>
                      <a:pt x="120" y="162"/>
                    </a:lnTo>
                    <a:lnTo>
                      <a:pt x="113" y="135"/>
                    </a:lnTo>
                    <a:lnTo>
                      <a:pt x="103" y="107"/>
                    </a:lnTo>
                    <a:lnTo>
                      <a:pt x="93" y="83"/>
                    </a:lnTo>
                    <a:lnTo>
                      <a:pt x="75" y="59"/>
                    </a:lnTo>
                    <a:lnTo>
                      <a:pt x="58" y="35"/>
                    </a:lnTo>
                    <a:lnTo>
                      <a:pt x="34" y="18"/>
                    </a:lnTo>
                    <a:lnTo>
                      <a:pt x="10" y="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0" name="Freeform 9"/>
              <p:cNvSpPr>
                <a:spLocks noChangeArrowheads="1"/>
              </p:cNvSpPr>
              <p:nvPr/>
            </p:nvSpPr>
            <p:spPr bwMode="auto">
              <a:xfrm>
                <a:off x="4858" y="3395"/>
                <a:ext cx="214" cy="103"/>
              </a:xfrm>
              <a:custGeom>
                <a:avLst/>
                <a:gdLst>
                  <a:gd name="T0" fmla="*/ 214 w 214"/>
                  <a:gd name="T1" fmla="*/ 82 h 103"/>
                  <a:gd name="T2" fmla="*/ 214 w 214"/>
                  <a:gd name="T3" fmla="*/ 82 h 103"/>
                  <a:gd name="T4" fmla="*/ 186 w 214"/>
                  <a:gd name="T5" fmla="*/ 79 h 103"/>
                  <a:gd name="T6" fmla="*/ 158 w 214"/>
                  <a:gd name="T7" fmla="*/ 76 h 103"/>
                  <a:gd name="T8" fmla="*/ 131 w 214"/>
                  <a:gd name="T9" fmla="*/ 69 h 103"/>
                  <a:gd name="T10" fmla="*/ 107 w 214"/>
                  <a:gd name="T11" fmla="*/ 62 h 103"/>
                  <a:gd name="T12" fmla="*/ 83 w 214"/>
                  <a:gd name="T13" fmla="*/ 48 h 103"/>
                  <a:gd name="T14" fmla="*/ 59 w 214"/>
                  <a:gd name="T15" fmla="*/ 34 h 103"/>
                  <a:gd name="T16" fmla="*/ 35 w 214"/>
                  <a:gd name="T17" fmla="*/ 17 h 103"/>
                  <a:gd name="T18" fmla="*/ 17 w 214"/>
                  <a:gd name="T19" fmla="*/ 0 h 103"/>
                  <a:gd name="T20" fmla="*/ 0 w 214"/>
                  <a:gd name="T21" fmla="*/ 14 h 103"/>
                  <a:gd name="T22" fmla="*/ 24 w 214"/>
                  <a:gd name="T23" fmla="*/ 34 h 103"/>
                  <a:gd name="T24" fmla="*/ 48 w 214"/>
                  <a:gd name="T25" fmla="*/ 51 h 103"/>
                  <a:gd name="T26" fmla="*/ 72 w 214"/>
                  <a:gd name="T27" fmla="*/ 65 h 103"/>
                  <a:gd name="T28" fmla="*/ 100 w 214"/>
                  <a:gd name="T29" fmla="*/ 79 h 103"/>
                  <a:gd name="T30" fmla="*/ 127 w 214"/>
                  <a:gd name="T31" fmla="*/ 89 h 103"/>
                  <a:gd name="T32" fmla="*/ 155 w 214"/>
                  <a:gd name="T33" fmla="*/ 96 h 103"/>
                  <a:gd name="T34" fmla="*/ 183 w 214"/>
                  <a:gd name="T35" fmla="*/ 100 h 103"/>
                  <a:gd name="T36" fmla="*/ 214 w 214"/>
                  <a:gd name="T37" fmla="*/ 103 h 103"/>
                  <a:gd name="T38" fmla="*/ 214 w 214"/>
                  <a:gd name="T39" fmla="*/ 103 h 103"/>
                  <a:gd name="T40" fmla="*/ 214 w 214"/>
                  <a:gd name="T41" fmla="*/ 8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4" h="103">
                    <a:moveTo>
                      <a:pt x="214" y="82"/>
                    </a:moveTo>
                    <a:lnTo>
                      <a:pt x="214" y="82"/>
                    </a:lnTo>
                    <a:lnTo>
                      <a:pt x="186" y="79"/>
                    </a:lnTo>
                    <a:lnTo>
                      <a:pt x="158" y="76"/>
                    </a:lnTo>
                    <a:lnTo>
                      <a:pt x="131" y="69"/>
                    </a:lnTo>
                    <a:lnTo>
                      <a:pt x="107" y="62"/>
                    </a:lnTo>
                    <a:lnTo>
                      <a:pt x="83" y="48"/>
                    </a:lnTo>
                    <a:lnTo>
                      <a:pt x="59" y="34"/>
                    </a:lnTo>
                    <a:lnTo>
                      <a:pt x="35" y="17"/>
                    </a:lnTo>
                    <a:lnTo>
                      <a:pt x="17" y="0"/>
                    </a:lnTo>
                    <a:lnTo>
                      <a:pt x="0" y="14"/>
                    </a:lnTo>
                    <a:lnTo>
                      <a:pt x="24" y="34"/>
                    </a:lnTo>
                    <a:lnTo>
                      <a:pt x="48" y="51"/>
                    </a:lnTo>
                    <a:lnTo>
                      <a:pt x="72" y="65"/>
                    </a:lnTo>
                    <a:lnTo>
                      <a:pt x="100" y="79"/>
                    </a:lnTo>
                    <a:lnTo>
                      <a:pt x="127" y="89"/>
                    </a:lnTo>
                    <a:lnTo>
                      <a:pt x="155" y="96"/>
                    </a:lnTo>
                    <a:lnTo>
                      <a:pt x="183" y="100"/>
                    </a:lnTo>
                    <a:lnTo>
                      <a:pt x="214" y="103"/>
                    </a:lnTo>
                    <a:lnTo>
                      <a:pt x="214" y="82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1" name="Freeform 10"/>
              <p:cNvSpPr>
                <a:spLocks noChangeArrowheads="1"/>
              </p:cNvSpPr>
              <p:nvPr/>
            </p:nvSpPr>
            <p:spPr bwMode="auto">
              <a:xfrm>
                <a:off x="5072" y="3198"/>
                <a:ext cx="299" cy="300"/>
              </a:xfrm>
              <a:custGeom>
                <a:avLst/>
                <a:gdLst>
                  <a:gd name="T0" fmla="*/ 278 w 299"/>
                  <a:gd name="T1" fmla="*/ 0 h 300"/>
                  <a:gd name="T2" fmla="*/ 278 w 299"/>
                  <a:gd name="T3" fmla="*/ 0 h 300"/>
                  <a:gd name="T4" fmla="*/ 275 w 299"/>
                  <a:gd name="T5" fmla="*/ 28 h 300"/>
                  <a:gd name="T6" fmla="*/ 271 w 299"/>
                  <a:gd name="T7" fmla="*/ 56 h 300"/>
                  <a:gd name="T8" fmla="*/ 265 w 299"/>
                  <a:gd name="T9" fmla="*/ 83 h 300"/>
                  <a:gd name="T10" fmla="*/ 254 w 299"/>
                  <a:gd name="T11" fmla="*/ 107 h 300"/>
                  <a:gd name="T12" fmla="*/ 244 w 299"/>
                  <a:gd name="T13" fmla="*/ 131 h 300"/>
                  <a:gd name="T14" fmla="*/ 230 w 299"/>
                  <a:gd name="T15" fmla="*/ 155 h 300"/>
                  <a:gd name="T16" fmla="*/ 213 w 299"/>
                  <a:gd name="T17" fmla="*/ 176 h 300"/>
                  <a:gd name="T18" fmla="*/ 196 w 299"/>
                  <a:gd name="T19" fmla="*/ 197 h 300"/>
                  <a:gd name="T20" fmla="*/ 175 w 299"/>
                  <a:gd name="T21" fmla="*/ 214 h 300"/>
                  <a:gd name="T22" fmla="*/ 154 w 299"/>
                  <a:gd name="T23" fmla="*/ 231 h 300"/>
                  <a:gd name="T24" fmla="*/ 130 w 299"/>
                  <a:gd name="T25" fmla="*/ 245 h 300"/>
                  <a:gd name="T26" fmla="*/ 106 w 299"/>
                  <a:gd name="T27" fmla="*/ 255 h 300"/>
                  <a:gd name="T28" fmla="*/ 82 w 299"/>
                  <a:gd name="T29" fmla="*/ 266 h 300"/>
                  <a:gd name="T30" fmla="*/ 55 w 299"/>
                  <a:gd name="T31" fmla="*/ 273 h 300"/>
                  <a:gd name="T32" fmla="*/ 27 w 299"/>
                  <a:gd name="T33" fmla="*/ 276 h 300"/>
                  <a:gd name="T34" fmla="*/ 0 w 299"/>
                  <a:gd name="T35" fmla="*/ 279 h 300"/>
                  <a:gd name="T36" fmla="*/ 0 w 299"/>
                  <a:gd name="T37" fmla="*/ 300 h 300"/>
                  <a:gd name="T38" fmla="*/ 30 w 299"/>
                  <a:gd name="T39" fmla="*/ 297 h 300"/>
                  <a:gd name="T40" fmla="*/ 58 w 299"/>
                  <a:gd name="T41" fmla="*/ 293 h 300"/>
                  <a:gd name="T42" fmla="*/ 89 w 299"/>
                  <a:gd name="T43" fmla="*/ 286 h 300"/>
                  <a:gd name="T44" fmla="*/ 117 w 299"/>
                  <a:gd name="T45" fmla="*/ 276 h 300"/>
                  <a:gd name="T46" fmla="*/ 141 w 299"/>
                  <a:gd name="T47" fmla="*/ 262 h 300"/>
                  <a:gd name="T48" fmla="*/ 165 w 299"/>
                  <a:gd name="T49" fmla="*/ 248 h 300"/>
                  <a:gd name="T50" fmla="*/ 189 w 299"/>
                  <a:gd name="T51" fmla="*/ 231 h 300"/>
                  <a:gd name="T52" fmla="*/ 209 w 299"/>
                  <a:gd name="T53" fmla="*/ 211 h 300"/>
                  <a:gd name="T54" fmla="*/ 230 w 299"/>
                  <a:gd name="T55" fmla="*/ 190 h 300"/>
                  <a:gd name="T56" fmla="*/ 247 w 299"/>
                  <a:gd name="T57" fmla="*/ 166 h 300"/>
                  <a:gd name="T58" fmla="*/ 261 w 299"/>
                  <a:gd name="T59" fmla="*/ 142 h 300"/>
                  <a:gd name="T60" fmla="*/ 275 w 299"/>
                  <a:gd name="T61" fmla="*/ 118 h 300"/>
                  <a:gd name="T62" fmla="*/ 285 w 299"/>
                  <a:gd name="T63" fmla="*/ 90 h 300"/>
                  <a:gd name="T64" fmla="*/ 292 w 299"/>
                  <a:gd name="T65" fmla="*/ 59 h 300"/>
                  <a:gd name="T66" fmla="*/ 295 w 299"/>
                  <a:gd name="T67" fmla="*/ 31 h 300"/>
                  <a:gd name="T68" fmla="*/ 299 w 299"/>
                  <a:gd name="T69" fmla="*/ 0 h 300"/>
                  <a:gd name="T70" fmla="*/ 299 w 299"/>
                  <a:gd name="T71" fmla="*/ 0 h 300"/>
                  <a:gd name="T72" fmla="*/ 278 w 299"/>
                  <a:gd name="T7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9" h="300">
                    <a:moveTo>
                      <a:pt x="278" y="0"/>
                    </a:moveTo>
                    <a:lnTo>
                      <a:pt x="278" y="0"/>
                    </a:lnTo>
                    <a:lnTo>
                      <a:pt x="275" y="28"/>
                    </a:lnTo>
                    <a:lnTo>
                      <a:pt x="271" y="56"/>
                    </a:lnTo>
                    <a:lnTo>
                      <a:pt x="265" y="83"/>
                    </a:lnTo>
                    <a:lnTo>
                      <a:pt x="254" y="107"/>
                    </a:lnTo>
                    <a:lnTo>
                      <a:pt x="244" y="131"/>
                    </a:lnTo>
                    <a:lnTo>
                      <a:pt x="230" y="155"/>
                    </a:lnTo>
                    <a:lnTo>
                      <a:pt x="213" y="176"/>
                    </a:lnTo>
                    <a:lnTo>
                      <a:pt x="196" y="197"/>
                    </a:lnTo>
                    <a:lnTo>
                      <a:pt x="175" y="214"/>
                    </a:lnTo>
                    <a:lnTo>
                      <a:pt x="154" y="231"/>
                    </a:lnTo>
                    <a:lnTo>
                      <a:pt x="130" y="245"/>
                    </a:lnTo>
                    <a:lnTo>
                      <a:pt x="106" y="255"/>
                    </a:lnTo>
                    <a:lnTo>
                      <a:pt x="82" y="266"/>
                    </a:lnTo>
                    <a:lnTo>
                      <a:pt x="55" y="273"/>
                    </a:lnTo>
                    <a:lnTo>
                      <a:pt x="27" y="276"/>
                    </a:lnTo>
                    <a:lnTo>
                      <a:pt x="0" y="279"/>
                    </a:lnTo>
                    <a:lnTo>
                      <a:pt x="0" y="300"/>
                    </a:lnTo>
                    <a:lnTo>
                      <a:pt x="30" y="297"/>
                    </a:lnTo>
                    <a:lnTo>
                      <a:pt x="58" y="293"/>
                    </a:lnTo>
                    <a:lnTo>
                      <a:pt x="89" y="286"/>
                    </a:lnTo>
                    <a:lnTo>
                      <a:pt x="117" y="276"/>
                    </a:lnTo>
                    <a:lnTo>
                      <a:pt x="141" y="262"/>
                    </a:lnTo>
                    <a:lnTo>
                      <a:pt x="165" y="248"/>
                    </a:lnTo>
                    <a:lnTo>
                      <a:pt x="189" y="231"/>
                    </a:lnTo>
                    <a:lnTo>
                      <a:pt x="209" y="211"/>
                    </a:lnTo>
                    <a:lnTo>
                      <a:pt x="230" y="190"/>
                    </a:lnTo>
                    <a:lnTo>
                      <a:pt x="247" y="166"/>
                    </a:lnTo>
                    <a:lnTo>
                      <a:pt x="261" y="142"/>
                    </a:lnTo>
                    <a:lnTo>
                      <a:pt x="275" y="118"/>
                    </a:lnTo>
                    <a:lnTo>
                      <a:pt x="285" y="90"/>
                    </a:lnTo>
                    <a:lnTo>
                      <a:pt x="292" y="59"/>
                    </a:lnTo>
                    <a:lnTo>
                      <a:pt x="295" y="31"/>
                    </a:lnTo>
                    <a:lnTo>
                      <a:pt x="299" y="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2" name="Freeform 11"/>
              <p:cNvSpPr>
                <a:spLocks noChangeArrowheads="1"/>
              </p:cNvSpPr>
              <p:nvPr/>
            </p:nvSpPr>
            <p:spPr bwMode="auto">
              <a:xfrm>
                <a:off x="5254" y="2974"/>
                <a:ext cx="117" cy="224"/>
              </a:xfrm>
              <a:custGeom>
                <a:avLst/>
                <a:gdLst>
                  <a:gd name="T0" fmla="*/ 0 w 117"/>
                  <a:gd name="T1" fmla="*/ 14 h 224"/>
                  <a:gd name="T2" fmla="*/ 21 w 117"/>
                  <a:gd name="T3" fmla="*/ 35 h 224"/>
                  <a:gd name="T4" fmla="*/ 41 w 117"/>
                  <a:gd name="T5" fmla="*/ 59 h 224"/>
                  <a:gd name="T6" fmla="*/ 58 w 117"/>
                  <a:gd name="T7" fmla="*/ 83 h 224"/>
                  <a:gd name="T8" fmla="*/ 72 w 117"/>
                  <a:gd name="T9" fmla="*/ 111 h 224"/>
                  <a:gd name="T10" fmla="*/ 83 w 117"/>
                  <a:gd name="T11" fmla="*/ 138 h 224"/>
                  <a:gd name="T12" fmla="*/ 89 w 117"/>
                  <a:gd name="T13" fmla="*/ 166 h 224"/>
                  <a:gd name="T14" fmla="*/ 93 w 117"/>
                  <a:gd name="T15" fmla="*/ 193 h 224"/>
                  <a:gd name="T16" fmla="*/ 96 w 117"/>
                  <a:gd name="T17" fmla="*/ 224 h 224"/>
                  <a:gd name="T18" fmla="*/ 117 w 117"/>
                  <a:gd name="T19" fmla="*/ 224 h 224"/>
                  <a:gd name="T20" fmla="*/ 113 w 117"/>
                  <a:gd name="T21" fmla="*/ 193 h 224"/>
                  <a:gd name="T22" fmla="*/ 110 w 117"/>
                  <a:gd name="T23" fmla="*/ 162 h 224"/>
                  <a:gd name="T24" fmla="*/ 100 w 117"/>
                  <a:gd name="T25" fmla="*/ 131 h 224"/>
                  <a:gd name="T26" fmla="*/ 89 w 117"/>
                  <a:gd name="T27" fmla="*/ 100 h 224"/>
                  <a:gd name="T28" fmla="*/ 76 w 117"/>
                  <a:gd name="T29" fmla="*/ 73 h 224"/>
                  <a:gd name="T30" fmla="*/ 58 w 117"/>
                  <a:gd name="T31" fmla="*/ 45 h 224"/>
                  <a:gd name="T32" fmla="*/ 38 w 117"/>
                  <a:gd name="T33" fmla="*/ 21 h 224"/>
                  <a:gd name="T34" fmla="*/ 14 w 117"/>
                  <a:gd name="T35" fmla="*/ 0 h 224"/>
                  <a:gd name="T36" fmla="*/ 0 w 117"/>
                  <a:gd name="T37" fmla="*/ 1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7" h="224">
                    <a:moveTo>
                      <a:pt x="0" y="14"/>
                    </a:moveTo>
                    <a:lnTo>
                      <a:pt x="21" y="35"/>
                    </a:lnTo>
                    <a:lnTo>
                      <a:pt x="41" y="59"/>
                    </a:lnTo>
                    <a:lnTo>
                      <a:pt x="58" y="83"/>
                    </a:lnTo>
                    <a:lnTo>
                      <a:pt x="72" y="111"/>
                    </a:lnTo>
                    <a:lnTo>
                      <a:pt x="83" y="138"/>
                    </a:lnTo>
                    <a:lnTo>
                      <a:pt x="89" y="166"/>
                    </a:lnTo>
                    <a:lnTo>
                      <a:pt x="93" y="193"/>
                    </a:lnTo>
                    <a:lnTo>
                      <a:pt x="96" y="224"/>
                    </a:lnTo>
                    <a:lnTo>
                      <a:pt x="117" y="224"/>
                    </a:lnTo>
                    <a:lnTo>
                      <a:pt x="113" y="193"/>
                    </a:lnTo>
                    <a:lnTo>
                      <a:pt x="110" y="162"/>
                    </a:lnTo>
                    <a:lnTo>
                      <a:pt x="100" y="131"/>
                    </a:lnTo>
                    <a:lnTo>
                      <a:pt x="89" y="100"/>
                    </a:lnTo>
                    <a:lnTo>
                      <a:pt x="76" y="73"/>
                    </a:lnTo>
                    <a:lnTo>
                      <a:pt x="58" y="45"/>
                    </a:lnTo>
                    <a:lnTo>
                      <a:pt x="38" y="21"/>
                    </a:lnTo>
                    <a:lnTo>
                      <a:pt x="14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3" name="Freeform 12"/>
              <p:cNvSpPr>
                <a:spLocks noChangeArrowheads="1"/>
              </p:cNvSpPr>
              <p:nvPr/>
            </p:nvSpPr>
            <p:spPr bwMode="auto">
              <a:xfrm>
                <a:off x="5233" y="3198"/>
                <a:ext cx="455" cy="596"/>
              </a:xfrm>
              <a:custGeom>
                <a:avLst/>
                <a:gdLst>
                  <a:gd name="T0" fmla="*/ 434 w 455"/>
                  <a:gd name="T1" fmla="*/ 0 h 596"/>
                  <a:gd name="T2" fmla="*/ 430 w 455"/>
                  <a:gd name="T3" fmla="*/ 49 h 596"/>
                  <a:gd name="T4" fmla="*/ 427 w 455"/>
                  <a:gd name="T5" fmla="*/ 97 h 596"/>
                  <a:gd name="T6" fmla="*/ 417 w 455"/>
                  <a:gd name="T7" fmla="*/ 145 h 596"/>
                  <a:gd name="T8" fmla="*/ 403 w 455"/>
                  <a:gd name="T9" fmla="*/ 193 h 596"/>
                  <a:gd name="T10" fmla="*/ 386 w 455"/>
                  <a:gd name="T11" fmla="*/ 238 h 596"/>
                  <a:gd name="T12" fmla="*/ 362 w 455"/>
                  <a:gd name="T13" fmla="*/ 279 h 596"/>
                  <a:gd name="T14" fmla="*/ 338 w 455"/>
                  <a:gd name="T15" fmla="*/ 321 h 596"/>
                  <a:gd name="T16" fmla="*/ 310 w 455"/>
                  <a:gd name="T17" fmla="*/ 362 h 596"/>
                  <a:gd name="T18" fmla="*/ 282 w 455"/>
                  <a:gd name="T19" fmla="*/ 397 h 596"/>
                  <a:gd name="T20" fmla="*/ 248 w 455"/>
                  <a:gd name="T21" fmla="*/ 431 h 596"/>
                  <a:gd name="T22" fmla="*/ 214 w 455"/>
                  <a:gd name="T23" fmla="*/ 466 h 596"/>
                  <a:gd name="T24" fmla="*/ 172 w 455"/>
                  <a:gd name="T25" fmla="*/ 493 h 596"/>
                  <a:gd name="T26" fmla="*/ 134 w 455"/>
                  <a:gd name="T27" fmla="*/ 521 h 596"/>
                  <a:gd name="T28" fmla="*/ 90 w 455"/>
                  <a:gd name="T29" fmla="*/ 541 h 596"/>
                  <a:gd name="T30" fmla="*/ 45 w 455"/>
                  <a:gd name="T31" fmla="*/ 559 h 596"/>
                  <a:gd name="T32" fmla="*/ 0 w 455"/>
                  <a:gd name="T33" fmla="*/ 576 h 596"/>
                  <a:gd name="T34" fmla="*/ 4 w 455"/>
                  <a:gd name="T35" fmla="*/ 596 h 596"/>
                  <a:gd name="T36" fmla="*/ 52 w 455"/>
                  <a:gd name="T37" fmla="*/ 579 h 596"/>
                  <a:gd name="T38" fmla="*/ 100 w 455"/>
                  <a:gd name="T39" fmla="*/ 559 h 596"/>
                  <a:gd name="T40" fmla="*/ 145 w 455"/>
                  <a:gd name="T41" fmla="*/ 538 h 596"/>
                  <a:gd name="T42" fmla="*/ 186 w 455"/>
                  <a:gd name="T43" fmla="*/ 510 h 596"/>
                  <a:gd name="T44" fmla="*/ 224 w 455"/>
                  <a:gd name="T45" fmla="*/ 479 h 596"/>
                  <a:gd name="T46" fmla="*/ 262 w 455"/>
                  <a:gd name="T47" fmla="*/ 448 h 596"/>
                  <a:gd name="T48" fmla="*/ 296 w 455"/>
                  <a:gd name="T49" fmla="*/ 410 h 596"/>
                  <a:gd name="T50" fmla="*/ 327 w 455"/>
                  <a:gd name="T51" fmla="*/ 372 h 596"/>
                  <a:gd name="T52" fmla="*/ 355 w 455"/>
                  <a:gd name="T53" fmla="*/ 331 h 596"/>
                  <a:gd name="T54" fmla="*/ 382 w 455"/>
                  <a:gd name="T55" fmla="*/ 290 h 596"/>
                  <a:gd name="T56" fmla="*/ 403 w 455"/>
                  <a:gd name="T57" fmla="*/ 245 h 596"/>
                  <a:gd name="T58" fmla="*/ 420 w 455"/>
                  <a:gd name="T59" fmla="*/ 200 h 596"/>
                  <a:gd name="T60" fmla="*/ 434 w 455"/>
                  <a:gd name="T61" fmla="*/ 152 h 596"/>
                  <a:gd name="T62" fmla="*/ 444 w 455"/>
                  <a:gd name="T63" fmla="*/ 100 h 596"/>
                  <a:gd name="T64" fmla="*/ 451 w 455"/>
                  <a:gd name="T65" fmla="*/ 52 h 596"/>
                  <a:gd name="T66" fmla="*/ 455 w 455"/>
                  <a:gd name="T67" fmla="*/ 0 h 596"/>
                  <a:gd name="T68" fmla="*/ 434 w 455"/>
                  <a:gd name="T69" fmla="*/ 0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55" h="596">
                    <a:moveTo>
                      <a:pt x="434" y="0"/>
                    </a:moveTo>
                    <a:lnTo>
                      <a:pt x="430" y="49"/>
                    </a:lnTo>
                    <a:lnTo>
                      <a:pt x="427" y="97"/>
                    </a:lnTo>
                    <a:lnTo>
                      <a:pt x="417" y="145"/>
                    </a:lnTo>
                    <a:lnTo>
                      <a:pt x="403" y="193"/>
                    </a:lnTo>
                    <a:lnTo>
                      <a:pt x="386" y="238"/>
                    </a:lnTo>
                    <a:lnTo>
                      <a:pt x="362" y="279"/>
                    </a:lnTo>
                    <a:lnTo>
                      <a:pt x="338" y="321"/>
                    </a:lnTo>
                    <a:lnTo>
                      <a:pt x="310" y="362"/>
                    </a:lnTo>
                    <a:lnTo>
                      <a:pt x="282" y="397"/>
                    </a:lnTo>
                    <a:lnTo>
                      <a:pt x="248" y="431"/>
                    </a:lnTo>
                    <a:lnTo>
                      <a:pt x="214" y="466"/>
                    </a:lnTo>
                    <a:lnTo>
                      <a:pt x="172" y="493"/>
                    </a:lnTo>
                    <a:lnTo>
                      <a:pt x="134" y="521"/>
                    </a:lnTo>
                    <a:lnTo>
                      <a:pt x="90" y="541"/>
                    </a:lnTo>
                    <a:lnTo>
                      <a:pt x="45" y="559"/>
                    </a:lnTo>
                    <a:lnTo>
                      <a:pt x="0" y="576"/>
                    </a:lnTo>
                    <a:lnTo>
                      <a:pt x="4" y="596"/>
                    </a:lnTo>
                    <a:lnTo>
                      <a:pt x="52" y="579"/>
                    </a:lnTo>
                    <a:lnTo>
                      <a:pt x="100" y="559"/>
                    </a:lnTo>
                    <a:lnTo>
                      <a:pt x="145" y="538"/>
                    </a:lnTo>
                    <a:lnTo>
                      <a:pt x="186" y="510"/>
                    </a:lnTo>
                    <a:lnTo>
                      <a:pt x="224" y="479"/>
                    </a:lnTo>
                    <a:lnTo>
                      <a:pt x="262" y="448"/>
                    </a:lnTo>
                    <a:lnTo>
                      <a:pt x="296" y="410"/>
                    </a:lnTo>
                    <a:lnTo>
                      <a:pt x="327" y="372"/>
                    </a:lnTo>
                    <a:lnTo>
                      <a:pt x="355" y="331"/>
                    </a:lnTo>
                    <a:lnTo>
                      <a:pt x="382" y="290"/>
                    </a:lnTo>
                    <a:lnTo>
                      <a:pt x="403" y="245"/>
                    </a:lnTo>
                    <a:lnTo>
                      <a:pt x="420" y="200"/>
                    </a:lnTo>
                    <a:lnTo>
                      <a:pt x="434" y="152"/>
                    </a:lnTo>
                    <a:lnTo>
                      <a:pt x="444" y="100"/>
                    </a:lnTo>
                    <a:lnTo>
                      <a:pt x="451" y="52"/>
                    </a:lnTo>
                    <a:lnTo>
                      <a:pt x="455" y="0"/>
                    </a:lnTo>
                    <a:lnTo>
                      <a:pt x="434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4" name="Freeform 13"/>
              <p:cNvSpPr>
                <a:spLocks noChangeArrowheads="1"/>
              </p:cNvSpPr>
              <p:nvPr/>
            </p:nvSpPr>
            <p:spPr bwMode="auto">
              <a:xfrm>
                <a:off x="5219" y="3198"/>
                <a:ext cx="417" cy="545"/>
              </a:xfrm>
              <a:custGeom>
                <a:avLst/>
                <a:gdLst>
                  <a:gd name="T0" fmla="*/ 396 w 417"/>
                  <a:gd name="T1" fmla="*/ 0 h 545"/>
                  <a:gd name="T2" fmla="*/ 396 w 417"/>
                  <a:gd name="T3" fmla="*/ 45 h 545"/>
                  <a:gd name="T4" fmla="*/ 389 w 417"/>
                  <a:gd name="T5" fmla="*/ 90 h 545"/>
                  <a:gd name="T6" fmla="*/ 379 w 417"/>
                  <a:gd name="T7" fmla="*/ 135 h 545"/>
                  <a:gd name="T8" fmla="*/ 369 w 417"/>
                  <a:gd name="T9" fmla="*/ 176 h 545"/>
                  <a:gd name="T10" fmla="*/ 352 w 417"/>
                  <a:gd name="T11" fmla="*/ 217 h 545"/>
                  <a:gd name="T12" fmla="*/ 331 w 417"/>
                  <a:gd name="T13" fmla="*/ 255 h 545"/>
                  <a:gd name="T14" fmla="*/ 310 w 417"/>
                  <a:gd name="T15" fmla="*/ 293 h 545"/>
                  <a:gd name="T16" fmla="*/ 286 w 417"/>
                  <a:gd name="T17" fmla="*/ 331 h 545"/>
                  <a:gd name="T18" fmla="*/ 259 w 417"/>
                  <a:gd name="T19" fmla="*/ 366 h 545"/>
                  <a:gd name="T20" fmla="*/ 228 w 417"/>
                  <a:gd name="T21" fmla="*/ 397 h 545"/>
                  <a:gd name="T22" fmla="*/ 193 w 417"/>
                  <a:gd name="T23" fmla="*/ 424 h 545"/>
                  <a:gd name="T24" fmla="*/ 159 w 417"/>
                  <a:gd name="T25" fmla="*/ 452 h 545"/>
                  <a:gd name="T26" fmla="*/ 121 w 417"/>
                  <a:gd name="T27" fmla="*/ 476 h 545"/>
                  <a:gd name="T28" fmla="*/ 83 w 417"/>
                  <a:gd name="T29" fmla="*/ 497 h 545"/>
                  <a:gd name="T30" fmla="*/ 42 w 417"/>
                  <a:gd name="T31" fmla="*/ 514 h 545"/>
                  <a:gd name="T32" fmla="*/ 0 w 417"/>
                  <a:gd name="T33" fmla="*/ 528 h 545"/>
                  <a:gd name="T34" fmla="*/ 4 w 417"/>
                  <a:gd name="T35" fmla="*/ 545 h 545"/>
                  <a:gd name="T36" fmla="*/ 49 w 417"/>
                  <a:gd name="T37" fmla="*/ 531 h 545"/>
                  <a:gd name="T38" fmla="*/ 90 w 417"/>
                  <a:gd name="T39" fmla="*/ 514 h 545"/>
                  <a:gd name="T40" fmla="*/ 131 w 417"/>
                  <a:gd name="T41" fmla="*/ 493 h 545"/>
                  <a:gd name="T42" fmla="*/ 169 w 417"/>
                  <a:gd name="T43" fmla="*/ 469 h 545"/>
                  <a:gd name="T44" fmla="*/ 207 w 417"/>
                  <a:gd name="T45" fmla="*/ 441 h 545"/>
                  <a:gd name="T46" fmla="*/ 241 w 417"/>
                  <a:gd name="T47" fmla="*/ 410 h 545"/>
                  <a:gd name="T48" fmla="*/ 272 w 417"/>
                  <a:gd name="T49" fmla="*/ 376 h 545"/>
                  <a:gd name="T50" fmla="*/ 300 w 417"/>
                  <a:gd name="T51" fmla="*/ 341 h 545"/>
                  <a:gd name="T52" fmla="*/ 327 w 417"/>
                  <a:gd name="T53" fmla="*/ 304 h 545"/>
                  <a:gd name="T54" fmla="*/ 352 w 417"/>
                  <a:gd name="T55" fmla="*/ 266 h 545"/>
                  <a:gd name="T56" fmla="*/ 369 w 417"/>
                  <a:gd name="T57" fmla="*/ 224 h 545"/>
                  <a:gd name="T58" fmla="*/ 386 w 417"/>
                  <a:gd name="T59" fmla="*/ 183 h 545"/>
                  <a:gd name="T60" fmla="*/ 400 w 417"/>
                  <a:gd name="T61" fmla="*/ 138 h 545"/>
                  <a:gd name="T62" fmla="*/ 410 w 417"/>
                  <a:gd name="T63" fmla="*/ 93 h 545"/>
                  <a:gd name="T64" fmla="*/ 417 w 417"/>
                  <a:gd name="T65" fmla="*/ 45 h 545"/>
                  <a:gd name="T66" fmla="*/ 417 w 417"/>
                  <a:gd name="T67" fmla="*/ 0 h 545"/>
                  <a:gd name="T68" fmla="*/ 396 w 417"/>
                  <a:gd name="T69" fmla="*/ 0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7" h="545">
                    <a:moveTo>
                      <a:pt x="396" y="0"/>
                    </a:moveTo>
                    <a:lnTo>
                      <a:pt x="396" y="45"/>
                    </a:lnTo>
                    <a:lnTo>
                      <a:pt x="389" y="90"/>
                    </a:lnTo>
                    <a:lnTo>
                      <a:pt x="379" y="135"/>
                    </a:lnTo>
                    <a:lnTo>
                      <a:pt x="369" y="176"/>
                    </a:lnTo>
                    <a:lnTo>
                      <a:pt x="352" y="217"/>
                    </a:lnTo>
                    <a:lnTo>
                      <a:pt x="331" y="255"/>
                    </a:lnTo>
                    <a:lnTo>
                      <a:pt x="310" y="293"/>
                    </a:lnTo>
                    <a:lnTo>
                      <a:pt x="286" y="331"/>
                    </a:lnTo>
                    <a:lnTo>
                      <a:pt x="259" y="366"/>
                    </a:lnTo>
                    <a:lnTo>
                      <a:pt x="228" y="397"/>
                    </a:lnTo>
                    <a:lnTo>
                      <a:pt x="193" y="424"/>
                    </a:lnTo>
                    <a:lnTo>
                      <a:pt x="159" y="452"/>
                    </a:lnTo>
                    <a:lnTo>
                      <a:pt x="121" y="476"/>
                    </a:lnTo>
                    <a:lnTo>
                      <a:pt x="83" y="497"/>
                    </a:lnTo>
                    <a:lnTo>
                      <a:pt x="42" y="514"/>
                    </a:lnTo>
                    <a:lnTo>
                      <a:pt x="0" y="528"/>
                    </a:lnTo>
                    <a:lnTo>
                      <a:pt x="4" y="545"/>
                    </a:lnTo>
                    <a:lnTo>
                      <a:pt x="49" y="531"/>
                    </a:lnTo>
                    <a:lnTo>
                      <a:pt x="90" y="514"/>
                    </a:lnTo>
                    <a:lnTo>
                      <a:pt x="131" y="493"/>
                    </a:lnTo>
                    <a:lnTo>
                      <a:pt x="169" y="469"/>
                    </a:lnTo>
                    <a:lnTo>
                      <a:pt x="207" y="441"/>
                    </a:lnTo>
                    <a:lnTo>
                      <a:pt x="241" y="410"/>
                    </a:lnTo>
                    <a:lnTo>
                      <a:pt x="272" y="376"/>
                    </a:lnTo>
                    <a:lnTo>
                      <a:pt x="300" y="341"/>
                    </a:lnTo>
                    <a:lnTo>
                      <a:pt x="327" y="304"/>
                    </a:lnTo>
                    <a:lnTo>
                      <a:pt x="352" y="266"/>
                    </a:lnTo>
                    <a:lnTo>
                      <a:pt x="369" y="224"/>
                    </a:lnTo>
                    <a:lnTo>
                      <a:pt x="386" y="183"/>
                    </a:lnTo>
                    <a:lnTo>
                      <a:pt x="400" y="138"/>
                    </a:lnTo>
                    <a:lnTo>
                      <a:pt x="410" y="93"/>
                    </a:lnTo>
                    <a:lnTo>
                      <a:pt x="417" y="45"/>
                    </a:lnTo>
                    <a:lnTo>
                      <a:pt x="417" y="0"/>
                    </a:lnTo>
                    <a:lnTo>
                      <a:pt x="396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5" name="Freeform 14"/>
              <p:cNvSpPr>
                <a:spLocks noChangeArrowheads="1"/>
              </p:cNvSpPr>
              <p:nvPr/>
            </p:nvSpPr>
            <p:spPr bwMode="auto">
              <a:xfrm>
                <a:off x="4934" y="2599"/>
                <a:ext cx="251" cy="424"/>
              </a:xfrm>
              <a:custGeom>
                <a:avLst/>
                <a:gdLst>
                  <a:gd name="T0" fmla="*/ 251 w 251"/>
                  <a:gd name="T1" fmla="*/ 406 h 424"/>
                  <a:gd name="T2" fmla="*/ 227 w 251"/>
                  <a:gd name="T3" fmla="*/ 389 h 424"/>
                  <a:gd name="T4" fmla="*/ 203 w 251"/>
                  <a:gd name="T5" fmla="*/ 372 h 424"/>
                  <a:gd name="T6" fmla="*/ 179 w 251"/>
                  <a:gd name="T7" fmla="*/ 351 h 424"/>
                  <a:gd name="T8" fmla="*/ 155 w 251"/>
                  <a:gd name="T9" fmla="*/ 331 h 424"/>
                  <a:gd name="T10" fmla="*/ 134 w 251"/>
                  <a:gd name="T11" fmla="*/ 307 h 424"/>
                  <a:gd name="T12" fmla="*/ 117 w 251"/>
                  <a:gd name="T13" fmla="*/ 282 h 424"/>
                  <a:gd name="T14" fmla="*/ 100 w 251"/>
                  <a:gd name="T15" fmla="*/ 258 h 424"/>
                  <a:gd name="T16" fmla="*/ 82 w 251"/>
                  <a:gd name="T17" fmla="*/ 234 h 424"/>
                  <a:gd name="T18" fmla="*/ 69 w 251"/>
                  <a:gd name="T19" fmla="*/ 207 h 424"/>
                  <a:gd name="T20" fmla="*/ 58 w 251"/>
                  <a:gd name="T21" fmla="*/ 179 h 424"/>
                  <a:gd name="T22" fmla="*/ 48 w 251"/>
                  <a:gd name="T23" fmla="*/ 152 h 424"/>
                  <a:gd name="T24" fmla="*/ 38 w 251"/>
                  <a:gd name="T25" fmla="*/ 121 h 424"/>
                  <a:gd name="T26" fmla="*/ 31 w 251"/>
                  <a:gd name="T27" fmla="*/ 90 h 424"/>
                  <a:gd name="T28" fmla="*/ 24 w 251"/>
                  <a:gd name="T29" fmla="*/ 62 h 424"/>
                  <a:gd name="T30" fmla="*/ 24 w 251"/>
                  <a:gd name="T31" fmla="*/ 31 h 424"/>
                  <a:gd name="T32" fmla="*/ 21 w 251"/>
                  <a:gd name="T33" fmla="*/ 0 h 424"/>
                  <a:gd name="T34" fmla="*/ 0 w 251"/>
                  <a:gd name="T35" fmla="*/ 0 h 424"/>
                  <a:gd name="T36" fmla="*/ 3 w 251"/>
                  <a:gd name="T37" fmla="*/ 31 h 424"/>
                  <a:gd name="T38" fmla="*/ 7 w 251"/>
                  <a:gd name="T39" fmla="*/ 62 h 424"/>
                  <a:gd name="T40" fmla="*/ 10 w 251"/>
                  <a:gd name="T41" fmla="*/ 96 h 424"/>
                  <a:gd name="T42" fmla="*/ 17 w 251"/>
                  <a:gd name="T43" fmla="*/ 127 h 424"/>
                  <a:gd name="T44" fmla="*/ 27 w 251"/>
                  <a:gd name="T45" fmla="*/ 155 h 424"/>
                  <a:gd name="T46" fmla="*/ 38 w 251"/>
                  <a:gd name="T47" fmla="*/ 186 h 424"/>
                  <a:gd name="T48" fmla="*/ 51 w 251"/>
                  <a:gd name="T49" fmla="*/ 214 h 424"/>
                  <a:gd name="T50" fmla="*/ 65 w 251"/>
                  <a:gd name="T51" fmla="*/ 245 h 424"/>
                  <a:gd name="T52" fmla="*/ 82 w 251"/>
                  <a:gd name="T53" fmla="*/ 269 h 424"/>
                  <a:gd name="T54" fmla="*/ 100 w 251"/>
                  <a:gd name="T55" fmla="*/ 296 h 424"/>
                  <a:gd name="T56" fmla="*/ 120 w 251"/>
                  <a:gd name="T57" fmla="*/ 320 h 424"/>
                  <a:gd name="T58" fmla="*/ 141 w 251"/>
                  <a:gd name="T59" fmla="*/ 344 h 424"/>
                  <a:gd name="T60" fmla="*/ 165 w 251"/>
                  <a:gd name="T61" fmla="*/ 365 h 424"/>
                  <a:gd name="T62" fmla="*/ 189 w 251"/>
                  <a:gd name="T63" fmla="*/ 386 h 424"/>
                  <a:gd name="T64" fmla="*/ 213 w 251"/>
                  <a:gd name="T65" fmla="*/ 406 h 424"/>
                  <a:gd name="T66" fmla="*/ 241 w 251"/>
                  <a:gd name="T67" fmla="*/ 424 h 424"/>
                  <a:gd name="T68" fmla="*/ 251 w 251"/>
                  <a:gd name="T69" fmla="*/ 406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1" h="424">
                    <a:moveTo>
                      <a:pt x="251" y="406"/>
                    </a:moveTo>
                    <a:lnTo>
                      <a:pt x="227" y="389"/>
                    </a:lnTo>
                    <a:lnTo>
                      <a:pt x="203" y="372"/>
                    </a:lnTo>
                    <a:lnTo>
                      <a:pt x="179" y="351"/>
                    </a:lnTo>
                    <a:lnTo>
                      <a:pt x="155" y="331"/>
                    </a:lnTo>
                    <a:lnTo>
                      <a:pt x="134" y="307"/>
                    </a:lnTo>
                    <a:lnTo>
                      <a:pt x="117" y="282"/>
                    </a:lnTo>
                    <a:lnTo>
                      <a:pt x="100" y="258"/>
                    </a:lnTo>
                    <a:lnTo>
                      <a:pt x="82" y="234"/>
                    </a:lnTo>
                    <a:lnTo>
                      <a:pt x="69" y="207"/>
                    </a:lnTo>
                    <a:lnTo>
                      <a:pt x="58" y="179"/>
                    </a:lnTo>
                    <a:lnTo>
                      <a:pt x="48" y="152"/>
                    </a:lnTo>
                    <a:lnTo>
                      <a:pt x="38" y="121"/>
                    </a:lnTo>
                    <a:lnTo>
                      <a:pt x="31" y="90"/>
                    </a:lnTo>
                    <a:lnTo>
                      <a:pt x="24" y="62"/>
                    </a:lnTo>
                    <a:lnTo>
                      <a:pt x="24" y="31"/>
                    </a:lnTo>
                    <a:lnTo>
                      <a:pt x="21" y="0"/>
                    </a:lnTo>
                    <a:lnTo>
                      <a:pt x="0" y="0"/>
                    </a:lnTo>
                    <a:lnTo>
                      <a:pt x="3" y="31"/>
                    </a:lnTo>
                    <a:lnTo>
                      <a:pt x="7" y="62"/>
                    </a:lnTo>
                    <a:lnTo>
                      <a:pt x="10" y="96"/>
                    </a:lnTo>
                    <a:lnTo>
                      <a:pt x="17" y="127"/>
                    </a:lnTo>
                    <a:lnTo>
                      <a:pt x="27" y="155"/>
                    </a:lnTo>
                    <a:lnTo>
                      <a:pt x="38" y="186"/>
                    </a:lnTo>
                    <a:lnTo>
                      <a:pt x="51" y="214"/>
                    </a:lnTo>
                    <a:lnTo>
                      <a:pt x="65" y="245"/>
                    </a:lnTo>
                    <a:lnTo>
                      <a:pt x="82" y="269"/>
                    </a:lnTo>
                    <a:lnTo>
                      <a:pt x="100" y="296"/>
                    </a:lnTo>
                    <a:lnTo>
                      <a:pt x="120" y="320"/>
                    </a:lnTo>
                    <a:lnTo>
                      <a:pt x="141" y="344"/>
                    </a:lnTo>
                    <a:lnTo>
                      <a:pt x="165" y="365"/>
                    </a:lnTo>
                    <a:lnTo>
                      <a:pt x="189" y="386"/>
                    </a:lnTo>
                    <a:lnTo>
                      <a:pt x="213" y="406"/>
                    </a:lnTo>
                    <a:lnTo>
                      <a:pt x="241" y="424"/>
                    </a:lnTo>
                    <a:lnTo>
                      <a:pt x="251" y="406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6" name="Freeform 15"/>
              <p:cNvSpPr>
                <a:spLocks noChangeArrowheads="1"/>
              </p:cNvSpPr>
              <p:nvPr/>
            </p:nvSpPr>
            <p:spPr bwMode="auto">
              <a:xfrm>
                <a:off x="4583" y="3295"/>
                <a:ext cx="20" cy="27"/>
              </a:xfrm>
              <a:custGeom>
                <a:avLst/>
                <a:gdLst>
                  <a:gd name="T0" fmla="*/ 17 w 20"/>
                  <a:gd name="T1" fmla="*/ 27 h 27"/>
                  <a:gd name="T2" fmla="*/ 17 w 20"/>
                  <a:gd name="T3" fmla="*/ 27 h 27"/>
                  <a:gd name="T4" fmla="*/ 20 w 20"/>
                  <a:gd name="T5" fmla="*/ 17 h 27"/>
                  <a:gd name="T6" fmla="*/ 20 w 20"/>
                  <a:gd name="T7" fmla="*/ 0 h 27"/>
                  <a:gd name="T8" fmla="*/ 0 w 20"/>
                  <a:gd name="T9" fmla="*/ 0 h 27"/>
                  <a:gd name="T10" fmla="*/ 0 w 20"/>
                  <a:gd name="T11" fmla="*/ 14 h 27"/>
                  <a:gd name="T12" fmla="*/ 0 w 20"/>
                  <a:gd name="T13" fmla="*/ 27 h 27"/>
                  <a:gd name="T14" fmla="*/ 0 w 20"/>
                  <a:gd name="T15" fmla="*/ 27 h 27"/>
                  <a:gd name="T16" fmla="*/ 17 w 20"/>
                  <a:gd name="T1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7">
                    <a:moveTo>
                      <a:pt x="17" y="27"/>
                    </a:moveTo>
                    <a:lnTo>
                      <a:pt x="17" y="27"/>
                    </a:lnTo>
                    <a:lnTo>
                      <a:pt x="20" y="17"/>
                    </a:lnTo>
                    <a:lnTo>
                      <a:pt x="20" y="0"/>
                    </a:lnTo>
                    <a:lnTo>
                      <a:pt x="0" y="0"/>
                    </a:lnTo>
                    <a:lnTo>
                      <a:pt x="0" y="14"/>
                    </a:lnTo>
                    <a:lnTo>
                      <a:pt x="0" y="27"/>
                    </a:lnTo>
                    <a:lnTo>
                      <a:pt x="17" y="27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7" name="Freeform 16"/>
              <p:cNvSpPr>
                <a:spLocks noChangeArrowheads="1"/>
              </p:cNvSpPr>
              <p:nvPr/>
            </p:nvSpPr>
            <p:spPr bwMode="auto">
              <a:xfrm>
                <a:off x="4583" y="3322"/>
                <a:ext cx="492" cy="500"/>
              </a:xfrm>
              <a:custGeom>
                <a:avLst/>
                <a:gdLst>
                  <a:gd name="T0" fmla="*/ 492 w 492"/>
                  <a:gd name="T1" fmla="*/ 479 h 500"/>
                  <a:gd name="T2" fmla="*/ 492 w 492"/>
                  <a:gd name="T3" fmla="*/ 479 h 500"/>
                  <a:gd name="T4" fmla="*/ 444 w 492"/>
                  <a:gd name="T5" fmla="*/ 476 h 500"/>
                  <a:gd name="T6" fmla="*/ 396 w 492"/>
                  <a:gd name="T7" fmla="*/ 469 h 500"/>
                  <a:gd name="T8" fmla="*/ 351 w 492"/>
                  <a:gd name="T9" fmla="*/ 455 h 500"/>
                  <a:gd name="T10" fmla="*/ 310 w 492"/>
                  <a:gd name="T11" fmla="*/ 441 h 500"/>
                  <a:gd name="T12" fmla="*/ 268 w 492"/>
                  <a:gd name="T13" fmla="*/ 421 h 500"/>
                  <a:gd name="T14" fmla="*/ 227 w 492"/>
                  <a:gd name="T15" fmla="*/ 397 h 500"/>
                  <a:gd name="T16" fmla="*/ 193 w 492"/>
                  <a:gd name="T17" fmla="*/ 369 h 500"/>
                  <a:gd name="T18" fmla="*/ 158 w 492"/>
                  <a:gd name="T19" fmla="*/ 338 h 500"/>
                  <a:gd name="T20" fmla="*/ 127 w 492"/>
                  <a:gd name="T21" fmla="*/ 304 h 500"/>
                  <a:gd name="T22" fmla="*/ 100 w 492"/>
                  <a:gd name="T23" fmla="*/ 266 h 500"/>
                  <a:gd name="T24" fmla="*/ 76 w 492"/>
                  <a:gd name="T25" fmla="*/ 228 h 500"/>
                  <a:gd name="T26" fmla="*/ 55 w 492"/>
                  <a:gd name="T27" fmla="*/ 186 h 500"/>
                  <a:gd name="T28" fmla="*/ 41 w 492"/>
                  <a:gd name="T29" fmla="*/ 142 h 500"/>
                  <a:gd name="T30" fmla="*/ 27 w 492"/>
                  <a:gd name="T31" fmla="*/ 97 h 500"/>
                  <a:gd name="T32" fmla="*/ 20 w 492"/>
                  <a:gd name="T33" fmla="*/ 49 h 500"/>
                  <a:gd name="T34" fmla="*/ 17 w 492"/>
                  <a:gd name="T35" fmla="*/ 0 h 500"/>
                  <a:gd name="T36" fmla="*/ 0 w 492"/>
                  <a:gd name="T37" fmla="*/ 0 h 500"/>
                  <a:gd name="T38" fmla="*/ 0 w 492"/>
                  <a:gd name="T39" fmla="*/ 52 h 500"/>
                  <a:gd name="T40" fmla="*/ 7 w 492"/>
                  <a:gd name="T41" fmla="*/ 100 h 500"/>
                  <a:gd name="T42" fmla="*/ 20 w 492"/>
                  <a:gd name="T43" fmla="*/ 149 h 500"/>
                  <a:gd name="T44" fmla="*/ 38 w 492"/>
                  <a:gd name="T45" fmla="*/ 193 h 500"/>
                  <a:gd name="T46" fmla="*/ 58 w 492"/>
                  <a:gd name="T47" fmla="*/ 238 h 500"/>
                  <a:gd name="T48" fmla="*/ 82 w 492"/>
                  <a:gd name="T49" fmla="*/ 280 h 500"/>
                  <a:gd name="T50" fmla="*/ 110 w 492"/>
                  <a:gd name="T51" fmla="*/ 317 h 500"/>
                  <a:gd name="T52" fmla="*/ 144 w 492"/>
                  <a:gd name="T53" fmla="*/ 352 h 500"/>
                  <a:gd name="T54" fmla="*/ 179 w 492"/>
                  <a:gd name="T55" fmla="*/ 383 h 500"/>
                  <a:gd name="T56" fmla="*/ 217 w 492"/>
                  <a:gd name="T57" fmla="*/ 414 h 500"/>
                  <a:gd name="T58" fmla="*/ 258 w 492"/>
                  <a:gd name="T59" fmla="*/ 438 h 500"/>
                  <a:gd name="T60" fmla="*/ 299 w 492"/>
                  <a:gd name="T61" fmla="*/ 459 h 500"/>
                  <a:gd name="T62" fmla="*/ 344 w 492"/>
                  <a:gd name="T63" fmla="*/ 476 h 500"/>
                  <a:gd name="T64" fmla="*/ 392 w 492"/>
                  <a:gd name="T65" fmla="*/ 490 h 500"/>
                  <a:gd name="T66" fmla="*/ 440 w 492"/>
                  <a:gd name="T67" fmla="*/ 497 h 500"/>
                  <a:gd name="T68" fmla="*/ 492 w 492"/>
                  <a:gd name="T69" fmla="*/ 500 h 500"/>
                  <a:gd name="T70" fmla="*/ 492 w 492"/>
                  <a:gd name="T71" fmla="*/ 500 h 500"/>
                  <a:gd name="T72" fmla="*/ 492 w 492"/>
                  <a:gd name="T73" fmla="*/ 479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92" h="500">
                    <a:moveTo>
                      <a:pt x="492" y="479"/>
                    </a:moveTo>
                    <a:lnTo>
                      <a:pt x="492" y="479"/>
                    </a:lnTo>
                    <a:lnTo>
                      <a:pt x="444" y="476"/>
                    </a:lnTo>
                    <a:lnTo>
                      <a:pt x="396" y="469"/>
                    </a:lnTo>
                    <a:lnTo>
                      <a:pt x="351" y="455"/>
                    </a:lnTo>
                    <a:lnTo>
                      <a:pt x="310" y="441"/>
                    </a:lnTo>
                    <a:lnTo>
                      <a:pt x="268" y="421"/>
                    </a:lnTo>
                    <a:lnTo>
                      <a:pt x="227" y="397"/>
                    </a:lnTo>
                    <a:lnTo>
                      <a:pt x="193" y="369"/>
                    </a:lnTo>
                    <a:lnTo>
                      <a:pt x="158" y="338"/>
                    </a:lnTo>
                    <a:lnTo>
                      <a:pt x="127" y="304"/>
                    </a:lnTo>
                    <a:lnTo>
                      <a:pt x="100" y="266"/>
                    </a:lnTo>
                    <a:lnTo>
                      <a:pt x="76" y="228"/>
                    </a:lnTo>
                    <a:lnTo>
                      <a:pt x="55" y="186"/>
                    </a:lnTo>
                    <a:lnTo>
                      <a:pt x="41" y="142"/>
                    </a:lnTo>
                    <a:lnTo>
                      <a:pt x="27" y="97"/>
                    </a:lnTo>
                    <a:lnTo>
                      <a:pt x="20" y="49"/>
                    </a:lnTo>
                    <a:lnTo>
                      <a:pt x="17" y="0"/>
                    </a:lnTo>
                    <a:lnTo>
                      <a:pt x="0" y="0"/>
                    </a:lnTo>
                    <a:lnTo>
                      <a:pt x="0" y="52"/>
                    </a:lnTo>
                    <a:lnTo>
                      <a:pt x="7" y="100"/>
                    </a:lnTo>
                    <a:lnTo>
                      <a:pt x="20" y="149"/>
                    </a:lnTo>
                    <a:lnTo>
                      <a:pt x="38" y="193"/>
                    </a:lnTo>
                    <a:lnTo>
                      <a:pt x="58" y="238"/>
                    </a:lnTo>
                    <a:lnTo>
                      <a:pt x="82" y="280"/>
                    </a:lnTo>
                    <a:lnTo>
                      <a:pt x="110" y="317"/>
                    </a:lnTo>
                    <a:lnTo>
                      <a:pt x="144" y="352"/>
                    </a:lnTo>
                    <a:lnTo>
                      <a:pt x="179" y="383"/>
                    </a:lnTo>
                    <a:lnTo>
                      <a:pt x="217" y="414"/>
                    </a:lnTo>
                    <a:lnTo>
                      <a:pt x="258" y="438"/>
                    </a:lnTo>
                    <a:lnTo>
                      <a:pt x="299" y="459"/>
                    </a:lnTo>
                    <a:lnTo>
                      <a:pt x="344" y="476"/>
                    </a:lnTo>
                    <a:lnTo>
                      <a:pt x="392" y="490"/>
                    </a:lnTo>
                    <a:lnTo>
                      <a:pt x="440" y="497"/>
                    </a:lnTo>
                    <a:lnTo>
                      <a:pt x="492" y="500"/>
                    </a:lnTo>
                    <a:lnTo>
                      <a:pt x="492" y="479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8" name="Freeform 17"/>
              <p:cNvSpPr>
                <a:spLocks noChangeArrowheads="1"/>
              </p:cNvSpPr>
              <p:nvPr/>
            </p:nvSpPr>
            <p:spPr bwMode="auto">
              <a:xfrm>
                <a:off x="5075" y="3774"/>
                <a:ext cx="165" cy="48"/>
              </a:xfrm>
              <a:custGeom>
                <a:avLst/>
                <a:gdLst>
                  <a:gd name="T0" fmla="*/ 158 w 165"/>
                  <a:gd name="T1" fmla="*/ 0 h 48"/>
                  <a:gd name="T2" fmla="*/ 120 w 165"/>
                  <a:gd name="T3" fmla="*/ 10 h 48"/>
                  <a:gd name="T4" fmla="*/ 79 w 165"/>
                  <a:gd name="T5" fmla="*/ 20 h 48"/>
                  <a:gd name="T6" fmla="*/ 41 w 165"/>
                  <a:gd name="T7" fmla="*/ 24 h 48"/>
                  <a:gd name="T8" fmla="*/ 0 w 165"/>
                  <a:gd name="T9" fmla="*/ 27 h 48"/>
                  <a:gd name="T10" fmla="*/ 0 w 165"/>
                  <a:gd name="T11" fmla="*/ 48 h 48"/>
                  <a:gd name="T12" fmla="*/ 41 w 165"/>
                  <a:gd name="T13" fmla="*/ 45 h 48"/>
                  <a:gd name="T14" fmla="*/ 83 w 165"/>
                  <a:gd name="T15" fmla="*/ 38 h 48"/>
                  <a:gd name="T16" fmla="*/ 124 w 165"/>
                  <a:gd name="T17" fmla="*/ 31 h 48"/>
                  <a:gd name="T18" fmla="*/ 165 w 165"/>
                  <a:gd name="T19" fmla="*/ 17 h 48"/>
                  <a:gd name="T20" fmla="*/ 158 w 165"/>
                  <a:gd name="T2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5" h="48">
                    <a:moveTo>
                      <a:pt x="158" y="0"/>
                    </a:moveTo>
                    <a:lnTo>
                      <a:pt x="120" y="10"/>
                    </a:lnTo>
                    <a:lnTo>
                      <a:pt x="79" y="20"/>
                    </a:lnTo>
                    <a:lnTo>
                      <a:pt x="41" y="24"/>
                    </a:lnTo>
                    <a:lnTo>
                      <a:pt x="0" y="27"/>
                    </a:lnTo>
                    <a:lnTo>
                      <a:pt x="0" y="48"/>
                    </a:lnTo>
                    <a:lnTo>
                      <a:pt x="41" y="45"/>
                    </a:lnTo>
                    <a:lnTo>
                      <a:pt x="83" y="38"/>
                    </a:lnTo>
                    <a:lnTo>
                      <a:pt x="124" y="31"/>
                    </a:lnTo>
                    <a:lnTo>
                      <a:pt x="165" y="17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9" name="Freeform 18"/>
              <p:cNvSpPr>
                <a:spLocks noChangeArrowheads="1"/>
              </p:cNvSpPr>
              <p:nvPr/>
            </p:nvSpPr>
            <p:spPr bwMode="auto">
              <a:xfrm>
                <a:off x="4696" y="3557"/>
                <a:ext cx="393" cy="203"/>
              </a:xfrm>
              <a:custGeom>
                <a:avLst/>
                <a:gdLst>
                  <a:gd name="T0" fmla="*/ 393 w 393"/>
                  <a:gd name="T1" fmla="*/ 182 h 203"/>
                  <a:gd name="T2" fmla="*/ 393 w 393"/>
                  <a:gd name="T3" fmla="*/ 182 h 203"/>
                  <a:gd name="T4" fmla="*/ 338 w 393"/>
                  <a:gd name="T5" fmla="*/ 179 h 203"/>
                  <a:gd name="T6" fmla="*/ 286 w 393"/>
                  <a:gd name="T7" fmla="*/ 172 h 203"/>
                  <a:gd name="T8" fmla="*/ 234 w 393"/>
                  <a:gd name="T9" fmla="*/ 155 h 203"/>
                  <a:gd name="T10" fmla="*/ 183 w 393"/>
                  <a:gd name="T11" fmla="*/ 134 h 203"/>
                  <a:gd name="T12" fmla="*/ 138 w 393"/>
                  <a:gd name="T13" fmla="*/ 110 h 203"/>
                  <a:gd name="T14" fmla="*/ 93 w 393"/>
                  <a:gd name="T15" fmla="*/ 76 h 203"/>
                  <a:gd name="T16" fmla="*/ 52 w 393"/>
                  <a:gd name="T17" fmla="*/ 41 h 203"/>
                  <a:gd name="T18" fmla="*/ 18 w 393"/>
                  <a:gd name="T19" fmla="*/ 0 h 203"/>
                  <a:gd name="T20" fmla="*/ 0 w 393"/>
                  <a:gd name="T21" fmla="*/ 13 h 203"/>
                  <a:gd name="T22" fmla="*/ 38 w 393"/>
                  <a:gd name="T23" fmla="*/ 55 h 203"/>
                  <a:gd name="T24" fmla="*/ 80 w 393"/>
                  <a:gd name="T25" fmla="*/ 93 h 203"/>
                  <a:gd name="T26" fmla="*/ 124 w 393"/>
                  <a:gd name="T27" fmla="*/ 127 h 203"/>
                  <a:gd name="T28" fmla="*/ 176 w 393"/>
                  <a:gd name="T29" fmla="*/ 155 h 203"/>
                  <a:gd name="T30" fmla="*/ 228 w 393"/>
                  <a:gd name="T31" fmla="*/ 175 h 203"/>
                  <a:gd name="T32" fmla="*/ 279 w 393"/>
                  <a:gd name="T33" fmla="*/ 193 h 203"/>
                  <a:gd name="T34" fmla="*/ 334 w 393"/>
                  <a:gd name="T35" fmla="*/ 200 h 203"/>
                  <a:gd name="T36" fmla="*/ 393 w 393"/>
                  <a:gd name="T37" fmla="*/ 203 h 203"/>
                  <a:gd name="T38" fmla="*/ 393 w 393"/>
                  <a:gd name="T39" fmla="*/ 203 h 203"/>
                  <a:gd name="T40" fmla="*/ 393 w 393"/>
                  <a:gd name="T41" fmla="*/ 182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3" h="203">
                    <a:moveTo>
                      <a:pt x="393" y="182"/>
                    </a:moveTo>
                    <a:lnTo>
                      <a:pt x="393" y="182"/>
                    </a:lnTo>
                    <a:lnTo>
                      <a:pt x="338" y="179"/>
                    </a:lnTo>
                    <a:lnTo>
                      <a:pt x="286" y="172"/>
                    </a:lnTo>
                    <a:lnTo>
                      <a:pt x="234" y="155"/>
                    </a:lnTo>
                    <a:lnTo>
                      <a:pt x="183" y="134"/>
                    </a:lnTo>
                    <a:lnTo>
                      <a:pt x="138" y="110"/>
                    </a:lnTo>
                    <a:lnTo>
                      <a:pt x="93" y="76"/>
                    </a:lnTo>
                    <a:lnTo>
                      <a:pt x="52" y="41"/>
                    </a:lnTo>
                    <a:lnTo>
                      <a:pt x="18" y="0"/>
                    </a:lnTo>
                    <a:lnTo>
                      <a:pt x="0" y="13"/>
                    </a:lnTo>
                    <a:lnTo>
                      <a:pt x="38" y="55"/>
                    </a:lnTo>
                    <a:lnTo>
                      <a:pt x="80" y="93"/>
                    </a:lnTo>
                    <a:lnTo>
                      <a:pt x="124" y="127"/>
                    </a:lnTo>
                    <a:lnTo>
                      <a:pt x="176" y="155"/>
                    </a:lnTo>
                    <a:lnTo>
                      <a:pt x="228" y="175"/>
                    </a:lnTo>
                    <a:lnTo>
                      <a:pt x="279" y="193"/>
                    </a:lnTo>
                    <a:lnTo>
                      <a:pt x="334" y="200"/>
                    </a:lnTo>
                    <a:lnTo>
                      <a:pt x="393" y="203"/>
                    </a:lnTo>
                    <a:lnTo>
                      <a:pt x="393" y="182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0" name="Freeform 19"/>
              <p:cNvSpPr>
                <a:spLocks noChangeArrowheads="1"/>
              </p:cNvSpPr>
              <p:nvPr/>
            </p:nvSpPr>
            <p:spPr bwMode="auto">
              <a:xfrm>
                <a:off x="5089" y="3726"/>
                <a:ext cx="134" cy="34"/>
              </a:xfrm>
              <a:custGeom>
                <a:avLst/>
                <a:gdLst>
                  <a:gd name="T0" fmla="*/ 130 w 134"/>
                  <a:gd name="T1" fmla="*/ 0 h 34"/>
                  <a:gd name="T2" fmla="*/ 96 w 134"/>
                  <a:gd name="T3" fmla="*/ 6 h 34"/>
                  <a:gd name="T4" fmla="*/ 65 w 134"/>
                  <a:gd name="T5" fmla="*/ 10 h 34"/>
                  <a:gd name="T6" fmla="*/ 31 w 134"/>
                  <a:gd name="T7" fmla="*/ 13 h 34"/>
                  <a:gd name="T8" fmla="*/ 0 w 134"/>
                  <a:gd name="T9" fmla="*/ 13 h 34"/>
                  <a:gd name="T10" fmla="*/ 0 w 134"/>
                  <a:gd name="T11" fmla="*/ 34 h 34"/>
                  <a:gd name="T12" fmla="*/ 34 w 134"/>
                  <a:gd name="T13" fmla="*/ 34 h 34"/>
                  <a:gd name="T14" fmla="*/ 69 w 134"/>
                  <a:gd name="T15" fmla="*/ 31 h 34"/>
                  <a:gd name="T16" fmla="*/ 103 w 134"/>
                  <a:gd name="T17" fmla="*/ 24 h 34"/>
                  <a:gd name="T18" fmla="*/ 134 w 134"/>
                  <a:gd name="T19" fmla="*/ 17 h 34"/>
                  <a:gd name="T20" fmla="*/ 130 w 134"/>
                  <a:gd name="T2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4" h="34">
                    <a:moveTo>
                      <a:pt x="130" y="0"/>
                    </a:moveTo>
                    <a:lnTo>
                      <a:pt x="96" y="6"/>
                    </a:lnTo>
                    <a:lnTo>
                      <a:pt x="65" y="10"/>
                    </a:lnTo>
                    <a:lnTo>
                      <a:pt x="31" y="13"/>
                    </a:lnTo>
                    <a:lnTo>
                      <a:pt x="0" y="13"/>
                    </a:lnTo>
                    <a:lnTo>
                      <a:pt x="0" y="34"/>
                    </a:lnTo>
                    <a:lnTo>
                      <a:pt x="34" y="34"/>
                    </a:lnTo>
                    <a:lnTo>
                      <a:pt x="69" y="31"/>
                    </a:lnTo>
                    <a:lnTo>
                      <a:pt x="103" y="24"/>
                    </a:lnTo>
                    <a:lnTo>
                      <a:pt x="134" y="17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1" name="Freeform 20"/>
              <p:cNvSpPr>
                <a:spLocks noChangeArrowheads="1"/>
              </p:cNvSpPr>
              <p:nvPr/>
            </p:nvSpPr>
            <p:spPr bwMode="auto">
              <a:xfrm>
                <a:off x="5333" y="2726"/>
                <a:ext cx="355" cy="472"/>
              </a:xfrm>
              <a:custGeom>
                <a:avLst/>
                <a:gdLst>
                  <a:gd name="T0" fmla="*/ 0 w 355"/>
                  <a:gd name="T1" fmla="*/ 21 h 472"/>
                  <a:gd name="T2" fmla="*/ 34 w 355"/>
                  <a:gd name="T3" fmla="*/ 35 h 472"/>
                  <a:gd name="T4" fmla="*/ 69 w 355"/>
                  <a:gd name="T5" fmla="*/ 49 h 472"/>
                  <a:gd name="T6" fmla="*/ 103 w 355"/>
                  <a:gd name="T7" fmla="*/ 66 h 472"/>
                  <a:gd name="T8" fmla="*/ 134 w 355"/>
                  <a:gd name="T9" fmla="*/ 87 h 472"/>
                  <a:gd name="T10" fmla="*/ 165 w 355"/>
                  <a:gd name="T11" fmla="*/ 111 h 472"/>
                  <a:gd name="T12" fmla="*/ 193 w 355"/>
                  <a:gd name="T13" fmla="*/ 135 h 472"/>
                  <a:gd name="T14" fmla="*/ 217 w 355"/>
                  <a:gd name="T15" fmla="*/ 162 h 472"/>
                  <a:gd name="T16" fmla="*/ 241 w 355"/>
                  <a:gd name="T17" fmla="*/ 190 h 472"/>
                  <a:gd name="T18" fmla="*/ 262 w 355"/>
                  <a:gd name="T19" fmla="*/ 221 h 472"/>
                  <a:gd name="T20" fmla="*/ 279 w 355"/>
                  <a:gd name="T21" fmla="*/ 255 h 472"/>
                  <a:gd name="T22" fmla="*/ 296 w 355"/>
                  <a:gd name="T23" fmla="*/ 286 h 472"/>
                  <a:gd name="T24" fmla="*/ 310 w 355"/>
                  <a:gd name="T25" fmla="*/ 324 h 472"/>
                  <a:gd name="T26" fmla="*/ 320 w 355"/>
                  <a:gd name="T27" fmla="*/ 359 h 472"/>
                  <a:gd name="T28" fmla="*/ 327 w 355"/>
                  <a:gd name="T29" fmla="*/ 397 h 472"/>
                  <a:gd name="T30" fmla="*/ 334 w 355"/>
                  <a:gd name="T31" fmla="*/ 435 h 472"/>
                  <a:gd name="T32" fmla="*/ 334 w 355"/>
                  <a:gd name="T33" fmla="*/ 472 h 472"/>
                  <a:gd name="T34" fmla="*/ 355 w 355"/>
                  <a:gd name="T35" fmla="*/ 472 h 472"/>
                  <a:gd name="T36" fmla="*/ 351 w 355"/>
                  <a:gd name="T37" fmla="*/ 431 h 472"/>
                  <a:gd name="T38" fmla="*/ 348 w 355"/>
                  <a:gd name="T39" fmla="*/ 393 h 472"/>
                  <a:gd name="T40" fmla="*/ 341 w 355"/>
                  <a:gd name="T41" fmla="*/ 355 h 472"/>
                  <a:gd name="T42" fmla="*/ 330 w 355"/>
                  <a:gd name="T43" fmla="*/ 317 h 472"/>
                  <a:gd name="T44" fmla="*/ 313 w 355"/>
                  <a:gd name="T45" fmla="*/ 279 h 472"/>
                  <a:gd name="T46" fmla="*/ 299 w 355"/>
                  <a:gd name="T47" fmla="*/ 245 h 472"/>
                  <a:gd name="T48" fmla="*/ 279 w 355"/>
                  <a:gd name="T49" fmla="*/ 211 h 472"/>
                  <a:gd name="T50" fmla="*/ 258 w 355"/>
                  <a:gd name="T51" fmla="*/ 180 h 472"/>
                  <a:gd name="T52" fmla="*/ 234 w 355"/>
                  <a:gd name="T53" fmla="*/ 149 h 472"/>
                  <a:gd name="T54" fmla="*/ 207 w 355"/>
                  <a:gd name="T55" fmla="*/ 121 h 472"/>
                  <a:gd name="T56" fmla="*/ 179 w 355"/>
                  <a:gd name="T57" fmla="*/ 93 h 472"/>
                  <a:gd name="T58" fmla="*/ 148 w 355"/>
                  <a:gd name="T59" fmla="*/ 73 h 472"/>
                  <a:gd name="T60" fmla="*/ 114 w 355"/>
                  <a:gd name="T61" fmla="*/ 49 h 472"/>
                  <a:gd name="T62" fmla="*/ 79 w 355"/>
                  <a:gd name="T63" fmla="*/ 31 h 472"/>
                  <a:gd name="T64" fmla="*/ 45 w 355"/>
                  <a:gd name="T65" fmla="*/ 14 h 472"/>
                  <a:gd name="T66" fmla="*/ 7 w 355"/>
                  <a:gd name="T67" fmla="*/ 0 h 472"/>
                  <a:gd name="T68" fmla="*/ 0 w 355"/>
                  <a:gd name="T69" fmla="*/ 21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55" h="472">
                    <a:moveTo>
                      <a:pt x="0" y="21"/>
                    </a:moveTo>
                    <a:lnTo>
                      <a:pt x="34" y="35"/>
                    </a:lnTo>
                    <a:lnTo>
                      <a:pt x="69" y="49"/>
                    </a:lnTo>
                    <a:lnTo>
                      <a:pt x="103" y="66"/>
                    </a:lnTo>
                    <a:lnTo>
                      <a:pt x="134" y="87"/>
                    </a:lnTo>
                    <a:lnTo>
                      <a:pt x="165" y="111"/>
                    </a:lnTo>
                    <a:lnTo>
                      <a:pt x="193" y="135"/>
                    </a:lnTo>
                    <a:lnTo>
                      <a:pt x="217" y="162"/>
                    </a:lnTo>
                    <a:lnTo>
                      <a:pt x="241" y="190"/>
                    </a:lnTo>
                    <a:lnTo>
                      <a:pt x="262" y="221"/>
                    </a:lnTo>
                    <a:lnTo>
                      <a:pt x="279" y="255"/>
                    </a:lnTo>
                    <a:lnTo>
                      <a:pt x="296" y="286"/>
                    </a:lnTo>
                    <a:lnTo>
                      <a:pt x="310" y="324"/>
                    </a:lnTo>
                    <a:lnTo>
                      <a:pt x="320" y="359"/>
                    </a:lnTo>
                    <a:lnTo>
                      <a:pt x="327" y="397"/>
                    </a:lnTo>
                    <a:lnTo>
                      <a:pt x="334" y="435"/>
                    </a:lnTo>
                    <a:lnTo>
                      <a:pt x="334" y="472"/>
                    </a:lnTo>
                    <a:lnTo>
                      <a:pt x="355" y="472"/>
                    </a:lnTo>
                    <a:lnTo>
                      <a:pt x="351" y="431"/>
                    </a:lnTo>
                    <a:lnTo>
                      <a:pt x="348" y="393"/>
                    </a:lnTo>
                    <a:lnTo>
                      <a:pt x="341" y="355"/>
                    </a:lnTo>
                    <a:lnTo>
                      <a:pt x="330" y="317"/>
                    </a:lnTo>
                    <a:lnTo>
                      <a:pt x="313" y="279"/>
                    </a:lnTo>
                    <a:lnTo>
                      <a:pt x="299" y="245"/>
                    </a:lnTo>
                    <a:lnTo>
                      <a:pt x="279" y="211"/>
                    </a:lnTo>
                    <a:lnTo>
                      <a:pt x="258" y="180"/>
                    </a:lnTo>
                    <a:lnTo>
                      <a:pt x="234" y="149"/>
                    </a:lnTo>
                    <a:lnTo>
                      <a:pt x="207" y="121"/>
                    </a:lnTo>
                    <a:lnTo>
                      <a:pt x="179" y="93"/>
                    </a:lnTo>
                    <a:lnTo>
                      <a:pt x="148" y="73"/>
                    </a:lnTo>
                    <a:lnTo>
                      <a:pt x="114" y="49"/>
                    </a:lnTo>
                    <a:lnTo>
                      <a:pt x="79" y="31"/>
                    </a:lnTo>
                    <a:lnTo>
                      <a:pt x="45" y="14"/>
                    </a:lnTo>
                    <a:lnTo>
                      <a:pt x="7" y="0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2" name="Freeform 21"/>
              <p:cNvSpPr>
                <a:spLocks noChangeArrowheads="1"/>
              </p:cNvSpPr>
              <p:nvPr/>
            </p:nvSpPr>
            <p:spPr bwMode="auto">
              <a:xfrm>
                <a:off x="5381" y="2802"/>
                <a:ext cx="255" cy="396"/>
              </a:xfrm>
              <a:custGeom>
                <a:avLst/>
                <a:gdLst>
                  <a:gd name="T0" fmla="*/ 0 w 255"/>
                  <a:gd name="T1" fmla="*/ 17 h 396"/>
                  <a:gd name="T2" fmla="*/ 24 w 255"/>
                  <a:gd name="T3" fmla="*/ 31 h 396"/>
                  <a:gd name="T4" fmla="*/ 52 w 255"/>
                  <a:gd name="T5" fmla="*/ 48 h 396"/>
                  <a:gd name="T6" fmla="*/ 73 w 255"/>
                  <a:gd name="T7" fmla="*/ 66 h 396"/>
                  <a:gd name="T8" fmla="*/ 97 w 255"/>
                  <a:gd name="T9" fmla="*/ 83 h 396"/>
                  <a:gd name="T10" fmla="*/ 117 w 255"/>
                  <a:gd name="T11" fmla="*/ 104 h 396"/>
                  <a:gd name="T12" fmla="*/ 138 w 255"/>
                  <a:gd name="T13" fmla="*/ 128 h 396"/>
                  <a:gd name="T14" fmla="*/ 155 w 255"/>
                  <a:gd name="T15" fmla="*/ 148 h 396"/>
                  <a:gd name="T16" fmla="*/ 172 w 255"/>
                  <a:gd name="T17" fmla="*/ 172 h 396"/>
                  <a:gd name="T18" fmla="*/ 186 w 255"/>
                  <a:gd name="T19" fmla="*/ 200 h 396"/>
                  <a:gd name="T20" fmla="*/ 196 w 255"/>
                  <a:gd name="T21" fmla="*/ 224 h 396"/>
                  <a:gd name="T22" fmla="*/ 210 w 255"/>
                  <a:gd name="T23" fmla="*/ 252 h 396"/>
                  <a:gd name="T24" fmla="*/ 217 w 255"/>
                  <a:gd name="T25" fmla="*/ 279 h 396"/>
                  <a:gd name="T26" fmla="*/ 224 w 255"/>
                  <a:gd name="T27" fmla="*/ 307 h 396"/>
                  <a:gd name="T28" fmla="*/ 231 w 255"/>
                  <a:gd name="T29" fmla="*/ 338 h 396"/>
                  <a:gd name="T30" fmla="*/ 234 w 255"/>
                  <a:gd name="T31" fmla="*/ 365 h 396"/>
                  <a:gd name="T32" fmla="*/ 234 w 255"/>
                  <a:gd name="T33" fmla="*/ 396 h 396"/>
                  <a:gd name="T34" fmla="*/ 255 w 255"/>
                  <a:gd name="T35" fmla="*/ 396 h 396"/>
                  <a:gd name="T36" fmla="*/ 255 w 255"/>
                  <a:gd name="T37" fmla="*/ 365 h 396"/>
                  <a:gd name="T38" fmla="*/ 251 w 255"/>
                  <a:gd name="T39" fmla="*/ 334 h 396"/>
                  <a:gd name="T40" fmla="*/ 245 w 255"/>
                  <a:gd name="T41" fmla="*/ 303 h 396"/>
                  <a:gd name="T42" fmla="*/ 238 w 255"/>
                  <a:gd name="T43" fmla="*/ 272 h 396"/>
                  <a:gd name="T44" fmla="*/ 227 w 255"/>
                  <a:gd name="T45" fmla="*/ 245 h 396"/>
                  <a:gd name="T46" fmla="*/ 217 w 255"/>
                  <a:gd name="T47" fmla="*/ 217 h 396"/>
                  <a:gd name="T48" fmla="*/ 203 w 255"/>
                  <a:gd name="T49" fmla="*/ 190 h 396"/>
                  <a:gd name="T50" fmla="*/ 186 w 255"/>
                  <a:gd name="T51" fmla="*/ 162 h 396"/>
                  <a:gd name="T52" fmla="*/ 172 w 255"/>
                  <a:gd name="T53" fmla="*/ 138 h 396"/>
                  <a:gd name="T54" fmla="*/ 152 w 255"/>
                  <a:gd name="T55" fmla="*/ 114 h 396"/>
                  <a:gd name="T56" fmla="*/ 131 w 255"/>
                  <a:gd name="T57" fmla="*/ 90 h 396"/>
                  <a:gd name="T58" fmla="*/ 110 w 255"/>
                  <a:gd name="T59" fmla="*/ 69 h 396"/>
                  <a:gd name="T60" fmla="*/ 86 w 255"/>
                  <a:gd name="T61" fmla="*/ 48 h 396"/>
                  <a:gd name="T62" fmla="*/ 62 w 255"/>
                  <a:gd name="T63" fmla="*/ 31 h 396"/>
                  <a:gd name="T64" fmla="*/ 35 w 255"/>
                  <a:gd name="T65" fmla="*/ 14 h 396"/>
                  <a:gd name="T66" fmla="*/ 7 w 255"/>
                  <a:gd name="T67" fmla="*/ 0 h 396"/>
                  <a:gd name="T68" fmla="*/ 0 w 255"/>
                  <a:gd name="T69" fmla="*/ 17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5" h="396">
                    <a:moveTo>
                      <a:pt x="0" y="17"/>
                    </a:moveTo>
                    <a:lnTo>
                      <a:pt x="24" y="31"/>
                    </a:lnTo>
                    <a:lnTo>
                      <a:pt x="52" y="48"/>
                    </a:lnTo>
                    <a:lnTo>
                      <a:pt x="73" y="66"/>
                    </a:lnTo>
                    <a:lnTo>
                      <a:pt x="97" y="83"/>
                    </a:lnTo>
                    <a:lnTo>
                      <a:pt x="117" y="104"/>
                    </a:lnTo>
                    <a:lnTo>
                      <a:pt x="138" y="128"/>
                    </a:lnTo>
                    <a:lnTo>
                      <a:pt x="155" y="148"/>
                    </a:lnTo>
                    <a:lnTo>
                      <a:pt x="172" y="172"/>
                    </a:lnTo>
                    <a:lnTo>
                      <a:pt x="186" y="200"/>
                    </a:lnTo>
                    <a:lnTo>
                      <a:pt x="196" y="224"/>
                    </a:lnTo>
                    <a:lnTo>
                      <a:pt x="210" y="252"/>
                    </a:lnTo>
                    <a:lnTo>
                      <a:pt x="217" y="279"/>
                    </a:lnTo>
                    <a:lnTo>
                      <a:pt x="224" y="307"/>
                    </a:lnTo>
                    <a:lnTo>
                      <a:pt x="231" y="338"/>
                    </a:lnTo>
                    <a:lnTo>
                      <a:pt x="234" y="365"/>
                    </a:lnTo>
                    <a:lnTo>
                      <a:pt x="234" y="396"/>
                    </a:lnTo>
                    <a:lnTo>
                      <a:pt x="255" y="396"/>
                    </a:lnTo>
                    <a:lnTo>
                      <a:pt x="255" y="365"/>
                    </a:lnTo>
                    <a:lnTo>
                      <a:pt x="251" y="334"/>
                    </a:lnTo>
                    <a:lnTo>
                      <a:pt x="245" y="303"/>
                    </a:lnTo>
                    <a:lnTo>
                      <a:pt x="238" y="272"/>
                    </a:lnTo>
                    <a:lnTo>
                      <a:pt x="227" y="245"/>
                    </a:lnTo>
                    <a:lnTo>
                      <a:pt x="217" y="217"/>
                    </a:lnTo>
                    <a:lnTo>
                      <a:pt x="203" y="190"/>
                    </a:lnTo>
                    <a:lnTo>
                      <a:pt x="186" y="162"/>
                    </a:lnTo>
                    <a:lnTo>
                      <a:pt x="172" y="138"/>
                    </a:lnTo>
                    <a:lnTo>
                      <a:pt x="152" y="114"/>
                    </a:lnTo>
                    <a:lnTo>
                      <a:pt x="131" y="90"/>
                    </a:lnTo>
                    <a:lnTo>
                      <a:pt x="110" y="69"/>
                    </a:lnTo>
                    <a:lnTo>
                      <a:pt x="86" y="48"/>
                    </a:lnTo>
                    <a:lnTo>
                      <a:pt x="62" y="31"/>
                    </a:lnTo>
                    <a:lnTo>
                      <a:pt x="35" y="14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3" name="Freeform 22"/>
              <p:cNvSpPr>
                <a:spLocks noChangeArrowheads="1"/>
              </p:cNvSpPr>
              <p:nvPr/>
            </p:nvSpPr>
            <p:spPr bwMode="auto">
              <a:xfrm>
                <a:off x="5185" y="2554"/>
                <a:ext cx="152" cy="197"/>
              </a:xfrm>
              <a:custGeom>
                <a:avLst/>
                <a:gdLst>
                  <a:gd name="T0" fmla="*/ 152 w 152"/>
                  <a:gd name="T1" fmla="*/ 176 h 197"/>
                  <a:gd name="T2" fmla="*/ 124 w 152"/>
                  <a:gd name="T3" fmla="*/ 166 h 197"/>
                  <a:gd name="T4" fmla="*/ 100 w 152"/>
                  <a:gd name="T5" fmla="*/ 148 h 197"/>
                  <a:gd name="T6" fmla="*/ 76 w 152"/>
                  <a:gd name="T7" fmla="*/ 131 h 197"/>
                  <a:gd name="T8" fmla="*/ 59 w 152"/>
                  <a:gd name="T9" fmla="*/ 110 h 197"/>
                  <a:gd name="T10" fmla="*/ 41 w 152"/>
                  <a:gd name="T11" fmla="*/ 86 h 197"/>
                  <a:gd name="T12" fmla="*/ 31 w 152"/>
                  <a:gd name="T13" fmla="*/ 59 h 197"/>
                  <a:gd name="T14" fmla="*/ 24 w 152"/>
                  <a:gd name="T15" fmla="*/ 28 h 197"/>
                  <a:gd name="T16" fmla="*/ 21 w 152"/>
                  <a:gd name="T17" fmla="*/ 0 h 197"/>
                  <a:gd name="T18" fmla="*/ 0 w 152"/>
                  <a:gd name="T19" fmla="*/ 0 h 197"/>
                  <a:gd name="T20" fmla="*/ 4 w 152"/>
                  <a:gd name="T21" fmla="*/ 31 h 197"/>
                  <a:gd name="T22" fmla="*/ 10 w 152"/>
                  <a:gd name="T23" fmla="*/ 66 h 197"/>
                  <a:gd name="T24" fmla="*/ 24 w 152"/>
                  <a:gd name="T25" fmla="*/ 93 h 197"/>
                  <a:gd name="T26" fmla="*/ 41 w 152"/>
                  <a:gd name="T27" fmla="*/ 121 h 197"/>
                  <a:gd name="T28" fmla="*/ 62 w 152"/>
                  <a:gd name="T29" fmla="*/ 145 h 197"/>
                  <a:gd name="T30" fmla="*/ 90 w 152"/>
                  <a:gd name="T31" fmla="*/ 166 h 197"/>
                  <a:gd name="T32" fmla="*/ 117 w 152"/>
                  <a:gd name="T33" fmla="*/ 183 h 197"/>
                  <a:gd name="T34" fmla="*/ 148 w 152"/>
                  <a:gd name="T35" fmla="*/ 197 h 197"/>
                  <a:gd name="T36" fmla="*/ 152 w 152"/>
                  <a:gd name="T37" fmla="*/ 176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197">
                    <a:moveTo>
                      <a:pt x="152" y="176"/>
                    </a:moveTo>
                    <a:lnTo>
                      <a:pt x="124" y="166"/>
                    </a:lnTo>
                    <a:lnTo>
                      <a:pt x="100" y="148"/>
                    </a:lnTo>
                    <a:lnTo>
                      <a:pt x="76" y="131"/>
                    </a:lnTo>
                    <a:lnTo>
                      <a:pt x="59" y="110"/>
                    </a:lnTo>
                    <a:lnTo>
                      <a:pt x="41" y="86"/>
                    </a:lnTo>
                    <a:lnTo>
                      <a:pt x="31" y="59"/>
                    </a:lnTo>
                    <a:lnTo>
                      <a:pt x="24" y="28"/>
                    </a:lnTo>
                    <a:lnTo>
                      <a:pt x="21" y="0"/>
                    </a:lnTo>
                    <a:lnTo>
                      <a:pt x="0" y="0"/>
                    </a:lnTo>
                    <a:lnTo>
                      <a:pt x="4" y="31"/>
                    </a:lnTo>
                    <a:lnTo>
                      <a:pt x="10" y="66"/>
                    </a:lnTo>
                    <a:lnTo>
                      <a:pt x="24" y="93"/>
                    </a:lnTo>
                    <a:lnTo>
                      <a:pt x="41" y="121"/>
                    </a:lnTo>
                    <a:lnTo>
                      <a:pt x="62" y="145"/>
                    </a:lnTo>
                    <a:lnTo>
                      <a:pt x="90" y="166"/>
                    </a:lnTo>
                    <a:lnTo>
                      <a:pt x="117" y="183"/>
                    </a:lnTo>
                    <a:lnTo>
                      <a:pt x="148" y="197"/>
                    </a:lnTo>
                    <a:lnTo>
                      <a:pt x="152" y="176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4" name="Freeform 23"/>
              <p:cNvSpPr>
                <a:spLocks noChangeArrowheads="1"/>
              </p:cNvSpPr>
              <p:nvPr/>
            </p:nvSpPr>
            <p:spPr bwMode="auto">
              <a:xfrm>
                <a:off x="5323" y="2782"/>
                <a:ext cx="69" cy="37"/>
              </a:xfrm>
              <a:custGeom>
                <a:avLst/>
                <a:gdLst>
                  <a:gd name="T0" fmla="*/ 0 w 69"/>
                  <a:gd name="T1" fmla="*/ 20 h 37"/>
                  <a:gd name="T2" fmla="*/ 0 w 69"/>
                  <a:gd name="T3" fmla="*/ 20 h 37"/>
                  <a:gd name="T4" fmla="*/ 14 w 69"/>
                  <a:gd name="T5" fmla="*/ 20 h 37"/>
                  <a:gd name="T6" fmla="*/ 31 w 69"/>
                  <a:gd name="T7" fmla="*/ 24 h 37"/>
                  <a:gd name="T8" fmla="*/ 44 w 69"/>
                  <a:gd name="T9" fmla="*/ 31 h 37"/>
                  <a:gd name="T10" fmla="*/ 55 w 69"/>
                  <a:gd name="T11" fmla="*/ 37 h 37"/>
                  <a:gd name="T12" fmla="*/ 69 w 69"/>
                  <a:gd name="T13" fmla="*/ 20 h 37"/>
                  <a:gd name="T14" fmla="*/ 51 w 69"/>
                  <a:gd name="T15" fmla="*/ 13 h 37"/>
                  <a:gd name="T16" fmla="*/ 34 w 69"/>
                  <a:gd name="T17" fmla="*/ 6 h 37"/>
                  <a:gd name="T18" fmla="*/ 17 w 69"/>
                  <a:gd name="T19" fmla="*/ 0 h 37"/>
                  <a:gd name="T20" fmla="*/ 0 w 69"/>
                  <a:gd name="T21" fmla="*/ 0 h 37"/>
                  <a:gd name="T22" fmla="*/ 0 w 69"/>
                  <a:gd name="T23" fmla="*/ 0 h 37"/>
                  <a:gd name="T24" fmla="*/ 0 w 69"/>
                  <a:gd name="T25" fmla="*/ 2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" h="37">
                    <a:moveTo>
                      <a:pt x="0" y="20"/>
                    </a:moveTo>
                    <a:lnTo>
                      <a:pt x="0" y="20"/>
                    </a:lnTo>
                    <a:lnTo>
                      <a:pt x="14" y="20"/>
                    </a:lnTo>
                    <a:lnTo>
                      <a:pt x="31" y="24"/>
                    </a:lnTo>
                    <a:lnTo>
                      <a:pt x="44" y="31"/>
                    </a:lnTo>
                    <a:lnTo>
                      <a:pt x="55" y="37"/>
                    </a:lnTo>
                    <a:lnTo>
                      <a:pt x="69" y="20"/>
                    </a:lnTo>
                    <a:lnTo>
                      <a:pt x="51" y="13"/>
                    </a:lnTo>
                    <a:lnTo>
                      <a:pt x="34" y="6"/>
                    </a:lnTo>
                    <a:lnTo>
                      <a:pt x="17" y="0"/>
                    </a:lnTo>
                    <a:lnTo>
                      <a:pt x="0" y="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5" name="Freeform 24"/>
              <p:cNvSpPr>
                <a:spLocks noChangeArrowheads="1"/>
              </p:cNvSpPr>
              <p:nvPr/>
            </p:nvSpPr>
            <p:spPr bwMode="auto">
              <a:xfrm>
                <a:off x="5209" y="2782"/>
                <a:ext cx="114" cy="113"/>
              </a:xfrm>
              <a:custGeom>
                <a:avLst/>
                <a:gdLst>
                  <a:gd name="T0" fmla="*/ 21 w 114"/>
                  <a:gd name="T1" fmla="*/ 113 h 113"/>
                  <a:gd name="T2" fmla="*/ 21 w 114"/>
                  <a:gd name="T3" fmla="*/ 113 h 113"/>
                  <a:gd name="T4" fmla="*/ 21 w 114"/>
                  <a:gd name="T5" fmla="*/ 96 h 113"/>
                  <a:gd name="T6" fmla="*/ 28 w 114"/>
                  <a:gd name="T7" fmla="*/ 79 h 113"/>
                  <a:gd name="T8" fmla="*/ 35 w 114"/>
                  <a:gd name="T9" fmla="*/ 62 h 113"/>
                  <a:gd name="T10" fmla="*/ 48 w 114"/>
                  <a:gd name="T11" fmla="*/ 48 h 113"/>
                  <a:gd name="T12" fmla="*/ 62 w 114"/>
                  <a:gd name="T13" fmla="*/ 37 h 113"/>
                  <a:gd name="T14" fmla="*/ 76 w 114"/>
                  <a:gd name="T15" fmla="*/ 27 h 113"/>
                  <a:gd name="T16" fmla="*/ 97 w 114"/>
                  <a:gd name="T17" fmla="*/ 20 h 113"/>
                  <a:gd name="T18" fmla="*/ 114 w 114"/>
                  <a:gd name="T19" fmla="*/ 20 h 113"/>
                  <a:gd name="T20" fmla="*/ 114 w 114"/>
                  <a:gd name="T21" fmla="*/ 0 h 113"/>
                  <a:gd name="T22" fmla="*/ 90 w 114"/>
                  <a:gd name="T23" fmla="*/ 3 h 113"/>
                  <a:gd name="T24" fmla="*/ 69 w 114"/>
                  <a:gd name="T25" fmla="*/ 10 h 113"/>
                  <a:gd name="T26" fmla="*/ 48 w 114"/>
                  <a:gd name="T27" fmla="*/ 20 h 113"/>
                  <a:gd name="T28" fmla="*/ 35 w 114"/>
                  <a:gd name="T29" fmla="*/ 34 h 113"/>
                  <a:gd name="T30" fmla="*/ 17 w 114"/>
                  <a:gd name="T31" fmla="*/ 51 h 113"/>
                  <a:gd name="T32" fmla="*/ 7 w 114"/>
                  <a:gd name="T33" fmla="*/ 68 h 113"/>
                  <a:gd name="T34" fmla="*/ 0 w 114"/>
                  <a:gd name="T35" fmla="*/ 93 h 113"/>
                  <a:gd name="T36" fmla="*/ 0 w 114"/>
                  <a:gd name="T37" fmla="*/ 113 h 113"/>
                  <a:gd name="T38" fmla="*/ 0 w 114"/>
                  <a:gd name="T39" fmla="*/ 113 h 113"/>
                  <a:gd name="T40" fmla="*/ 21 w 114"/>
                  <a:gd name="T41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4" h="113">
                    <a:moveTo>
                      <a:pt x="21" y="113"/>
                    </a:moveTo>
                    <a:lnTo>
                      <a:pt x="21" y="113"/>
                    </a:lnTo>
                    <a:lnTo>
                      <a:pt x="21" y="96"/>
                    </a:lnTo>
                    <a:lnTo>
                      <a:pt x="28" y="79"/>
                    </a:lnTo>
                    <a:lnTo>
                      <a:pt x="35" y="62"/>
                    </a:lnTo>
                    <a:lnTo>
                      <a:pt x="48" y="48"/>
                    </a:lnTo>
                    <a:lnTo>
                      <a:pt x="62" y="37"/>
                    </a:lnTo>
                    <a:lnTo>
                      <a:pt x="76" y="27"/>
                    </a:lnTo>
                    <a:lnTo>
                      <a:pt x="97" y="20"/>
                    </a:lnTo>
                    <a:lnTo>
                      <a:pt x="114" y="20"/>
                    </a:lnTo>
                    <a:lnTo>
                      <a:pt x="114" y="0"/>
                    </a:lnTo>
                    <a:lnTo>
                      <a:pt x="90" y="3"/>
                    </a:lnTo>
                    <a:lnTo>
                      <a:pt x="69" y="10"/>
                    </a:lnTo>
                    <a:lnTo>
                      <a:pt x="48" y="20"/>
                    </a:lnTo>
                    <a:lnTo>
                      <a:pt x="35" y="34"/>
                    </a:lnTo>
                    <a:lnTo>
                      <a:pt x="17" y="51"/>
                    </a:lnTo>
                    <a:lnTo>
                      <a:pt x="7" y="68"/>
                    </a:lnTo>
                    <a:lnTo>
                      <a:pt x="0" y="93"/>
                    </a:lnTo>
                    <a:lnTo>
                      <a:pt x="0" y="113"/>
                    </a:lnTo>
                    <a:lnTo>
                      <a:pt x="21" y="113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6" name="Freeform 25"/>
              <p:cNvSpPr>
                <a:spLocks noChangeArrowheads="1"/>
              </p:cNvSpPr>
              <p:nvPr/>
            </p:nvSpPr>
            <p:spPr bwMode="auto">
              <a:xfrm>
                <a:off x="5209" y="2895"/>
                <a:ext cx="59" cy="93"/>
              </a:xfrm>
              <a:custGeom>
                <a:avLst/>
                <a:gdLst>
                  <a:gd name="T0" fmla="*/ 59 w 59"/>
                  <a:gd name="T1" fmla="*/ 79 h 93"/>
                  <a:gd name="T2" fmla="*/ 41 w 59"/>
                  <a:gd name="T3" fmla="*/ 62 h 93"/>
                  <a:gd name="T4" fmla="*/ 31 w 59"/>
                  <a:gd name="T5" fmla="*/ 45 h 93"/>
                  <a:gd name="T6" fmla="*/ 21 w 59"/>
                  <a:gd name="T7" fmla="*/ 24 h 93"/>
                  <a:gd name="T8" fmla="*/ 21 w 59"/>
                  <a:gd name="T9" fmla="*/ 0 h 93"/>
                  <a:gd name="T10" fmla="*/ 0 w 59"/>
                  <a:gd name="T11" fmla="*/ 0 h 93"/>
                  <a:gd name="T12" fmla="*/ 4 w 59"/>
                  <a:gd name="T13" fmla="*/ 28 h 93"/>
                  <a:gd name="T14" fmla="*/ 10 w 59"/>
                  <a:gd name="T15" fmla="*/ 52 h 93"/>
                  <a:gd name="T16" fmla="*/ 28 w 59"/>
                  <a:gd name="T17" fmla="*/ 76 h 93"/>
                  <a:gd name="T18" fmla="*/ 48 w 59"/>
                  <a:gd name="T19" fmla="*/ 93 h 93"/>
                  <a:gd name="T20" fmla="*/ 59 w 59"/>
                  <a:gd name="T21" fmla="*/ 7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93">
                    <a:moveTo>
                      <a:pt x="59" y="79"/>
                    </a:moveTo>
                    <a:lnTo>
                      <a:pt x="41" y="62"/>
                    </a:lnTo>
                    <a:lnTo>
                      <a:pt x="31" y="45"/>
                    </a:lnTo>
                    <a:lnTo>
                      <a:pt x="21" y="24"/>
                    </a:lnTo>
                    <a:lnTo>
                      <a:pt x="21" y="0"/>
                    </a:lnTo>
                    <a:lnTo>
                      <a:pt x="0" y="0"/>
                    </a:lnTo>
                    <a:lnTo>
                      <a:pt x="4" y="28"/>
                    </a:lnTo>
                    <a:lnTo>
                      <a:pt x="10" y="52"/>
                    </a:lnTo>
                    <a:lnTo>
                      <a:pt x="28" y="76"/>
                    </a:lnTo>
                    <a:lnTo>
                      <a:pt x="48" y="93"/>
                    </a:lnTo>
                    <a:lnTo>
                      <a:pt x="59" y="79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7" name="Freeform 26"/>
              <p:cNvSpPr>
                <a:spLocks noChangeArrowheads="1"/>
              </p:cNvSpPr>
              <p:nvPr/>
            </p:nvSpPr>
            <p:spPr bwMode="auto">
              <a:xfrm>
                <a:off x="4786" y="3357"/>
                <a:ext cx="86" cy="52"/>
              </a:xfrm>
              <a:custGeom>
                <a:avLst/>
                <a:gdLst>
                  <a:gd name="T0" fmla="*/ 0 w 86"/>
                  <a:gd name="T1" fmla="*/ 21 h 52"/>
                  <a:gd name="T2" fmla="*/ 0 w 86"/>
                  <a:gd name="T3" fmla="*/ 21 h 52"/>
                  <a:gd name="T4" fmla="*/ 21 w 86"/>
                  <a:gd name="T5" fmla="*/ 24 h 52"/>
                  <a:gd name="T6" fmla="*/ 38 w 86"/>
                  <a:gd name="T7" fmla="*/ 31 h 52"/>
                  <a:gd name="T8" fmla="*/ 58 w 86"/>
                  <a:gd name="T9" fmla="*/ 38 h 52"/>
                  <a:gd name="T10" fmla="*/ 72 w 86"/>
                  <a:gd name="T11" fmla="*/ 52 h 52"/>
                  <a:gd name="T12" fmla="*/ 86 w 86"/>
                  <a:gd name="T13" fmla="*/ 38 h 52"/>
                  <a:gd name="T14" fmla="*/ 69 w 86"/>
                  <a:gd name="T15" fmla="*/ 24 h 52"/>
                  <a:gd name="T16" fmla="*/ 48 w 86"/>
                  <a:gd name="T17" fmla="*/ 10 h 52"/>
                  <a:gd name="T18" fmla="*/ 24 w 86"/>
                  <a:gd name="T19" fmla="*/ 3 h 52"/>
                  <a:gd name="T20" fmla="*/ 0 w 86"/>
                  <a:gd name="T21" fmla="*/ 0 h 52"/>
                  <a:gd name="T22" fmla="*/ 0 w 86"/>
                  <a:gd name="T23" fmla="*/ 0 h 52"/>
                  <a:gd name="T24" fmla="*/ 0 w 86"/>
                  <a:gd name="T25" fmla="*/ 2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6" h="52">
                    <a:moveTo>
                      <a:pt x="0" y="21"/>
                    </a:moveTo>
                    <a:lnTo>
                      <a:pt x="0" y="21"/>
                    </a:lnTo>
                    <a:lnTo>
                      <a:pt x="21" y="24"/>
                    </a:lnTo>
                    <a:lnTo>
                      <a:pt x="38" y="31"/>
                    </a:lnTo>
                    <a:lnTo>
                      <a:pt x="58" y="38"/>
                    </a:lnTo>
                    <a:lnTo>
                      <a:pt x="72" y="52"/>
                    </a:lnTo>
                    <a:lnTo>
                      <a:pt x="86" y="38"/>
                    </a:lnTo>
                    <a:lnTo>
                      <a:pt x="69" y="24"/>
                    </a:lnTo>
                    <a:lnTo>
                      <a:pt x="48" y="10"/>
                    </a:lnTo>
                    <a:lnTo>
                      <a:pt x="24" y="3"/>
                    </a:lnTo>
                    <a:lnTo>
                      <a:pt x="0" y="0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8" name="Freeform 27"/>
              <p:cNvSpPr>
                <a:spLocks noChangeArrowheads="1"/>
              </p:cNvSpPr>
              <p:nvPr/>
            </p:nvSpPr>
            <p:spPr bwMode="auto">
              <a:xfrm>
                <a:off x="4662" y="3357"/>
                <a:ext cx="124" cy="127"/>
              </a:xfrm>
              <a:custGeom>
                <a:avLst/>
                <a:gdLst>
                  <a:gd name="T0" fmla="*/ 17 w 124"/>
                  <a:gd name="T1" fmla="*/ 127 h 127"/>
                  <a:gd name="T2" fmla="*/ 17 w 124"/>
                  <a:gd name="T3" fmla="*/ 127 h 127"/>
                  <a:gd name="T4" fmla="*/ 21 w 124"/>
                  <a:gd name="T5" fmla="*/ 107 h 127"/>
                  <a:gd name="T6" fmla="*/ 28 w 124"/>
                  <a:gd name="T7" fmla="*/ 86 h 127"/>
                  <a:gd name="T8" fmla="*/ 38 w 124"/>
                  <a:gd name="T9" fmla="*/ 69 h 127"/>
                  <a:gd name="T10" fmla="*/ 48 w 124"/>
                  <a:gd name="T11" fmla="*/ 52 h 127"/>
                  <a:gd name="T12" fmla="*/ 65 w 124"/>
                  <a:gd name="T13" fmla="*/ 41 h 127"/>
                  <a:gd name="T14" fmla="*/ 83 w 124"/>
                  <a:gd name="T15" fmla="*/ 31 h 127"/>
                  <a:gd name="T16" fmla="*/ 103 w 124"/>
                  <a:gd name="T17" fmla="*/ 24 h 127"/>
                  <a:gd name="T18" fmla="*/ 124 w 124"/>
                  <a:gd name="T19" fmla="*/ 21 h 127"/>
                  <a:gd name="T20" fmla="*/ 124 w 124"/>
                  <a:gd name="T21" fmla="*/ 0 h 127"/>
                  <a:gd name="T22" fmla="*/ 100 w 124"/>
                  <a:gd name="T23" fmla="*/ 3 h 127"/>
                  <a:gd name="T24" fmla="*/ 76 w 124"/>
                  <a:gd name="T25" fmla="*/ 10 h 127"/>
                  <a:gd name="T26" fmla="*/ 55 w 124"/>
                  <a:gd name="T27" fmla="*/ 24 h 127"/>
                  <a:gd name="T28" fmla="*/ 34 w 124"/>
                  <a:gd name="T29" fmla="*/ 38 h 127"/>
                  <a:gd name="T30" fmla="*/ 21 w 124"/>
                  <a:gd name="T31" fmla="*/ 55 h 127"/>
                  <a:gd name="T32" fmla="*/ 7 w 124"/>
                  <a:gd name="T33" fmla="*/ 79 h 127"/>
                  <a:gd name="T34" fmla="*/ 0 w 124"/>
                  <a:gd name="T35" fmla="*/ 100 h 127"/>
                  <a:gd name="T36" fmla="*/ 0 w 124"/>
                  <a:gd name="T37" fmla="*/ 127 h 127"/>
                  <a:gd name="T38" fmla="*/ 0 w 124"/>
                  <a:gd name="T39" fmla="*/ 127 h 127"/>
                  <a:gd name="T40" fmla="*/ 17 w 124"/>
                  <a:gd name="T41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4" h="127">
                    <a:moveTo>
                      <a:pt x="17" y="127"/>
                    </a:moveTo>
                    <a:lnTo>
                      <a:pt x="17" y="127"/>
                    </a:lnTo>
                    <a:lnTo>
                      <a:pt x="21" y="107"/>
                    </a:lnTo>
                    <a:lnTo>
                      <a:pt x="28" y="86"/>
                    </a:lnTo>
                    <a:lnTo>
                      <a:pt x="38" y="69"/>
                    </a:lnTo>
                    <a:lnTo>
                      <a:pt x="48" y="52"/>
                    </a:lnTo>
                    <a:lnTo>
                      <a:pt x="65" y="41"/>
                    </a:lnTo>
                    <a:lnTo>
                      <a:pt x="83" y="31"/>
                    </a:lnTo>
                    <a:lnTo>
                      <a:pt x="103" y="24"/>
                    </a:lnTo>
                    <a:lnTo>
                      <a:pt x="124" y="21"/>
                    </a:lnTo>
                    <a:lnTo>
                      <a:pt x="124" y="0"/>
                    </a:lnTo>
                    <a:lnTo>
                      <a:pt x="100" y="3"/>
                    </a:lnTo>
                    <a:lnTo>
                      <a:pt x="76" y="10"/>
                    </a:lnTo>
                    <a:lnTo>
                      <a:pt x="55" y="24"/>
                    </a:lnTo>
                    <a:lnTo>
                      <a:pt x="34" y="38"/>
                    </a:lnTo>
                    <a:lnTo>
                      <a:pt x="21" y="55"/>
                    </a:lnTo>
                    <a:lnTo>
                      <a:pt x="7" y="79"/>
                    </a:lnTo>
                    <a:lnTo>
                      <a:pt x="0" y="100"/>
                    </a:lnTo>
                    <a:lnTo>
                      <a:pt x="0" y="127"/>
                    </a:lnTo>
                    <a:lnTo>
                      <a:pt x="17" y="127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9" name="Freeform 28"/>
              <p:cNvSpPr>
                <a:spLocks noChangeArrowheads="1"/>
              </p:cNvSpPr>
              <p:nvPr/>
            </p:nvSpPr>
            <p:spPr bwMode="auto">
              <a:xfrm>
                <a:off x="4662" y="3484"/>
                <a:ext cx="48" cy="86"/>
              </a:xfrm>
              <a:custGeom>
                <a:avLst/>
                <a:gdLst>
                  <a:gd name="T0" fmla="*/ 48 w 48"/>
                  <a:gd name="T1" fmla="*/ 73 h 86"/>
                  <a:gd name="T2" fmla="*/ 38 w 48"/>
                  <a:gd name="T3" fmla="*/ 59 h 86"/>
                  <a:gd name="T4" fmla="*/ 28 w 48"/>
                  <a:gd name="T5" fmla="*/ 38 h 86"/>
                  <a:gd name="T6" fmla="*/ 21 w 48"/>
                  <a:gd name="T7" fmla="*/ 21 h 86"/>
                  <a:gd name="T8" fmla="*/ 17 w 48"/>
                  <a:gd name="T9" fmla="*/ 0 h 86"/>
                  <a:gd name="T10" fmla="*/ 0 w 48"/>
                  <a:gd name="T11" fmla="*/ 0 h 86"/>
                  <a:gd name="T12" fmla="*/ 0 w 48"/>
                  <a:gd name="T13" fmla="*/ 24 h 86"/>
                  <a:gd name="T14" fmla="*/ 7 w 48"/>
                  <a:gd name="T15" fmla="*/ 49 h 86"/>
                  <a:gd name="T16" fmla="*/ 21 w 48"/>
                  <a:gd name="T17" fmla="*/ 69 h 86"/>
                  <a:gd name="T18" fmla="*/ 34 w 48"/>
                  <a:gd name="T19" fmla="*/ 86 h 86"/>
                  <a:gd name="T20" fmla="*/ 48 w 48"/>
                  <a:gd name="T21" fmla="*/ 7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" h="86">
                    <a:moveTo>
                      <a:pt x="48" y="73"/>
                    </a:moveTo>
                    <a:lnTo>
                      <a:pt x="38" y="59"/>
                    </a:lnTo>
                    <a:lnTo>
                      <a:pt x="28" y="38"/>
                    </a:lnTo>
                    <a:lnTo>
                      <a:pt x="21" y="21"/>
                    </a:lnTo>
                    <a:lnTo>
                      <a:pt x="17" y="0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7" y="49"/>
                    </a:lnTo>
                    <a:lnTo>
                      <a:pt x="21" y="69"/>
                    </a:lnTo>
                    <a:lnTo>
                      <a:pt x="34" y="86"/>
                    </a:lnTo>
                    <a:lnTo>
                      <a:pt x="48" y="73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0" name="Freeform 29"/>
              <p:cNvSpPr>
                <a:spLocks noChangeArrowheads="1"/>
              </p:cNvSpPr>
              <p:nvPr/>
            </p:nvSpPr>
            <p:spPr bwMode="auto">
              <a:xfrm>
                <a:off x="4982" y="2613"/>
                <a:ext cx="279" cy="282"/>
              </a:xfrm>
              <a:custGeom>
                <a:avLst/>
                <a:gdLst>
                  <a:gd name="T0" fmla="*/ 141 w 279"/>
                  <a:gd name="T1" fmla="*/ 0 h 282"/>
                  <a:gd name="T2" fmla="*/ 110 w 279"/>
                  <a:gd name="T3" fmla="*/ 3 h 282"/>
                  <a:gd name="T4" fmla="*/ 86 w 279"/>
                  <a:gd name="T5" fmla="*/ 10 h 282"/>
                  <a:gd name="T6" fmla="*/ 62 w 279"/>
                  <a:gd name="T7" fmla="*/ 24 h 282"/>
                  <a:gd name="T8" fmla="*/ 41 w 279"/>
                  <a:gd name="T9" fmla="*/ 41 h 282"/>
                  <a:gd name="T10" fmla="*/ 24 w 279"/>
                  <a:gd name="T11" fmla="*/ 62 h 282"/>
                  <a:gd name="T12" fmla="*/ 10 w 279"/>
                  <a:gd name="T13" fmla="*/ 86 h 282"/>
                  <a:gd name="T14" fmla="*/ 0 w 279"/>
                  <a:gd name="T15" fmla="*/ 113 h 282"/>
                  <a:gd name="T16" fmla="*/ 0 w 279"/>
                  <a:gd name="T17" fmla="*/ 141 h 282"/>
                  <a:gd name="T18" fmla="*/ 0 w 279"/>
                  <a:gd name="T19" fmla="*/ 169 h 282"/>
                  <a:gd name="T20" fmla="*/ 10 w 279"/>
                  <a:gd name="T21" fmla="*/ 196 h 282"/>
                  <a:gd name="T22" fmla="*/ 24 w 279"/>
                  <a:gd name="T23" fmla="*/ 220 h 282"/>
                  <a:gd name="T24" fmla="*/ 41 w 279"/>
                  <a:gd name="T25" fmla="*/ 241 h 282"/>
                  <a:gd name="T26" fmla="*/ 62 w 279"/>
                  <a:gd name="T27" fmla="*/ 258 h 282"/>
                  <a:gd name="T28" fmla="*/ 86 w 279"/>
                  <a:gd name="T29" fmla="*/ 268 h 282"/>
                  <a:gd name="T30" fmla="*/ 110 w 279"/>
                  <a:gd name="T31" fmla="*/ 279 h 282"/>
                  <a:gd name="T32" fmla="*/ 141 w 279"/>
                  <a:gd name="T33" fmla="*/ 282 h 282"/>
                  <a:gd name="T34" fmla="*/ 169 w 279"/>
                  <a:gd name="T35" fmla="*/ 279 h 282"/>
                  <a:gd name="T36" fmla="*/ 193 w 279"/>
                  <a:gd name="T37" fmla="*/ 268 h 282"/>
                  <a:gd name="T38" fmla="*/ 217 w 279"/>
                  <a:gd name="T39" fmla="*/ 258 h 282"/>
                  <a:gd name="T40" fmla="*/ 237 w 279"/>
                  <a:gd name="T41" fmla="*/ 241 h 282"/>
                  <a:gd name="T42" fmla="*/ 255 w 279"/>
                  <a:gd name="T43" fmla="*/ 220 h 282"/>
                  <a:gd name="T44" fmla="*/ 268 w 279"/>
                  <a:gd name="T45" fmla="*/ 196 h 282"/>
                  <a:gd name="T46" fmla="*/ 279 w 279"/>
                  <a:gd name="T47" fmla="*/ 169 h 282"/>
                  <a:gd name="T48" fmla="*/ 279 w 279"/>
                  <a:gd name="T49" fmla="*/ 141 h 282"/>
                  <a:gd name="T50" fmla="*/ 279 w 279"/>
                  <a:gd name="T51" fmla="*/ 113 h 282"/>
                  <a:gd name="T52" fmla="*/ 268 w 279"/>
                  <a:gd name="T53" fmla="*/ 86 h 282"/>
                  <a:gd name="T54" fmla="*/ 255 w 279"/>
                  <a:gd name="T55" fmla="*/ 62 h 282"/>
                  <a:gd name="T56" fmla="*/ 237 w 279"/>
                  <a:gd name="T57" fmla="*/ 41 h 282"/>
                  <a:gd name="T58" fmla="*/ 217 w 279"/>
                  <a:gd name="T59" fmla="*/ 24 h 282"/>
                  <a:gd name="T60" fmla="*/ 193 w 279"/>
                  <a:gd name="T61" fmla="*/ 10 h 282"/>
                  <a:gd name="T62" fmla="*/ 169 w 279"/>
                  <a:gd name="T63" fmla="*/ 3 h 282"/>
                  <a:gd name="T64" fmla="*/ 141 w 279"/>
                  <a:gd name="T65" fmla="*/ 0 h 282"/>
                  <a:gd name="T66" fmla="*/ 141 w 279"/>
                  <a:gd name="T67" fmla="*/ 0 h 282"/>
                  <a:gd name="T68" fmla="*/ 141 w 279"/>
                  <a:gd name="T69" fmla="*/ 0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79" h="282">
                    <a:moveTo>
                      <a:pt x="141" y="0"/>
                    </a:moveTo>
                    <a:lnTo>
                      <a:pt x="110" y="3"/>
                    </a:lnTo>
                    <a:lnTo>
                      <a:pt x="86" y="10"/>
                    </a:lnTo>
                    <a:lnTo>
                      <a:pt x="62" y="24"/>
                    </a:lnTo>
                    <a:lnTo>
                      <a:pt x="41" y="41"/>
                    </a:lnTo>
                    <a:lnTo>
                      <a:pt x="24" y="62"/>
                    </a:lnTo>
                    <a:lnTo>
                      <a:pt x="10" y="86"/>
                    </a:lnTo>
                    <a:lnTo>
                      <a:pt x="0" y="113"/>
                    </a:lnTo>
                    <a:lnTo>
                      <a:pt x="0" y="141"/>
                    </a:lnTo>
                    <a:lnTo>
                      <a:pt x="0" y="169"/>
                    </a:lnTo>
                    <a:lnTo>
                      <a:pt x="10" y="196"/>
                    </a:lnTo>
                    <a:lnTo>
                      <a:pt x="24" y="220"/>
                    </a:lnTo>
                    <a:lnTo>
                      <a:pt x="41" y="241"/>
                    </a:lnTo>
                    <a:lnTo>
                      <a:pt x="62" y="258"/>
                    </a:lnTo>
                    <a:lnTo>
                      <a:pt x="86" y="268"/>
                    </a:lnTo>
                    <a:lnTo>
                      <a:pt x="110" y="279"/>
                    </a:lnTo>
                    <a:lnTo>
                      <a:pt x="141" y="282"/>
                    </a:lnTo>
                    <a:lnTo>
                      <a:pt x="169" y="279"/>
                    </a:lnTo>
                    <a:lnTo>
                      <a:pt x="193" y="268"/>
                    </a:lnTo>
                    <a:lnTo>
                      <a:pt x="217" y="258"/>
                    </a:lnTo>
                    <a:lnTo>
                      <a:pt x="237" y="241"/>
                    </a:lnTo>
                    <a:lnTo>
                      <a:pt x="255" y="220"/>
                    </a:lnTo>
                    <a:lnTo>
                      <a:pt x="268" y="196"/>
                    </a:lnTo>
                    <a:lnTo>
                      <a:pt x="279" y="169"/>
                    </a:lnTo>
                    <a:lnTo>
                      <a:pt x="279" y="141"/>
                    </a:lnTo>
                    <a:lnTo>
                      <a:pt x="279" y="113"/>
                    </a:lnTo>
                    <a:lnTo>
                      <a:pt x="268" y="86"/>
                    </a:lnTo>
                    <a:lnTo>
                      <a:pt x="255" y="62"/>
                    </a:lnTo>
                    <a:lnTo>
                      <a:pt x="237" y="41"/>
                    </a:lnTo>
                    <a:lnTo>
                      <a:pt x="217" y="24"/>
                    </a:lnTo>
                    <a:lnTo>
                      <a:pt x="193" y="10"/>
                    </a:lnTo>
                    <a:lnTo>
                      <a:pt x="169" y="3"/>
                    </a:lnTo>
                    <a:lnTo>
                      <a:pt x="141" y="0"/>
                    </a:lnTo>
                    <a:close/>
                  </a:path>
                </a:pathLst>
              </a:custGeom>
              <a:noFill/>
              <a:ln w="11113">
                <a:solidFill>
                  <a:srgbClr val="DC373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1" name="Freeform 30"/>
              <p:cNvSpPr>
                <a:spLocks noChangeArrowheads="1"/>
              </p:cNvSpPr>
              <p:nvPr/>
            </p:nvSpPr>
            <p:spPr bwMode="auto">
              <a:xfrm>
                <a:off x="4972" y="3412"/>
                <a:ext cx="199" cy="76"/>
              </a:xfrm>
              <a:custGeom>
                <a:avLst/>
                <a:gdLst>
                  <a:gd name="T0" fmla="*/ 199 w 199"/>
                  <a:gd name="T1" fmla="*/ 76 h 76"/>
                  <a:gd name="T2" fmla="*/ 192 w 199"/>
                  <a:gd name="T3" fmla="*/ 59 h 76"/>
                  <a:gd name="T4" fmla="*/ 186 w 199"/>
                  <a:gd name="T5" fmla="*/ 45 h 76"/>
                  <a:gd name="T6" fmla="*/ 175 w 199"/>
                  <a:gd name="T7" fmla="*/ 31 h 76"/>
                  <a:gd name="T8" fmla="*/ 161 w 199"/>
                  <a:gd name="T9" fmla="*/ 21 h 76"/>
                  <a:gd name="T10" fmla="*/ 148 w 199"/>
                  <a:gd name="T11" fmla="*/ 14 h 76"/>
                  <a:gd name="T12" fmla="*/ 130 w 199"/>
                  <a:gd name="T13" fmla="*/ 7 h 76"/>
                  <a:gd name="T14" fmla="*/ 117 w 199"/>
                  <a:gd name="T15" fmla="*/ 3 h 76"/>
                  <a:gd name="T16" fmla="*/ 100 w 199"/>
                  <a:gd name="T17" fmla="*/ 0 h 76"/>
                  <a:gd name="T18" fmla="*/ 82 w 199"/>
                  <a:gd name="T19" fmla="*/ 3 h 76"/>
                  <a:gd name="T20" fmla="*/ 65 w 199"/>
                  <a:gd name="T21" fmla="*/ 7 h 76"/>
                  <a:gd name="T22" fmla="*/ 51 w 199"/>
                  <a:gd name="T23" fmla="*/ 14 h 76"/>
                  <a:gd name="T24" fmla="*/ 38 w 199"/>
                  <a:gd name="T25" fmla="*/ 21 h 76"/>
                  <a:gd name="T26" fmla="*/ 24 w 199"/>
                  <a:gd name="T27" fmla="*/ 31 h 76"/>
                  <a:gd name="T28" fmla="*/ 13 w 199"/>
                  <a:gd name="T29" fmla="*/ 45 h 76"/>
                  <a:gd name="T30" fmla="*/ 3 w 199"/>
                  <a:gd name="T31" fmla="*/ 59 h 76"/>
                  <a:gd name="T32" fmla="*/ 0 w 199"/>
                  <a:gd name="T33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76">
                    <a:moveTo>
                      <a:pt x="199" y="76"/>
                    </a:moveTo>
                    <a:lnTo>
                      <a:pt x="192" y="59"/>
                    </a:lnTo>
                    <a:lnTo>
                      <a:pt x="186" y="45"/>
                    </a:lnTo>
                    <a:lnTo>
                      <a:pt x="175" y="31"/>
                    </a:lnTo>
                    <a:lnTo>
                      <a:pt x="161" y="21"/>
                    </a:lnTo>
                    <a:lnTo>
                      <a:pt x="148" y="14"/>
                    </a:lnTo>
                    <a:lnTo>
                      <a:pt x="130" y="7"/>
                    </a:lnTo>
                    <a:lnTo>
                      <a:pt x="117" y="3"/>
                    </a:lnTo>
                    <a:lnTo>
                      <a:pt x="100" y="0"/>
                    </a:lnTo>
                    <a:lnTo>
                      <a:pt x="82" y="3"/>
                    </a:lnTo>
                    <a:lnTo>
                      <a:pt x="65" y="7"/>
                    </a:lnTo>
                    <a:lnTo>
                      <a:pt x="51" y="14"/>
                    </a:lnTo>
                    <a:lnTo>
                      <a:pt x="38" y="21"/>
                    </a:lnTo>
                    <a:lnTo>
                      <a:pt x="24" y="31"/>
                    </a:lnTo>
                    <a:lnTo>
                      <a:pt x="13" y="45"/>
                    </a:lnTo>
                    <a:lnTo>
                      <a:pt x="3" y="59"/>
                    </a:lnTo>
                    <a:lnTo>
                      <a:pt x="0" y="76"/>
                    </a:lnTo>
                  </a:path>
                </a:pathLst>
              </a:cu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2" name="Freeform 31"/>
              <p:cNvSpPr>
                <a:spLocks noChangeArrowheads="1"/>
              </p:cNvSpPr>
              <p:nvPr/>
            </p:nvSpPr>
            <p:spPr bwMode="auto">
              <a:xfrm>
                <a:off x="5006" y="3743"/>
                <a:ext cx="127" cy="58"/>
              </a:xfrm>
              <a:custGeom>
                <a:avLst/>
                <a:gdLst>
                  <a:gd name="T0" fmla="*/ 0 w 127"/>
                  <a:gd name="T1" fmla="*/ 0 h 58"/>
                  <a:gd name="T2" fmla="*/ 4 w 127"/>
                  <a:gd name="T3" fmla="*/ 10 h 58"/>
                  <a:gd name="T4" fmla="*/ 7 w 127"/>
                  <a:gd name="T5" fmla="*/ 20 h 58"/>
                  <a:gd name="T6" fmla="*/ 14 w 127"/>
                  <a:gd name="T7" fmla="*/ 31 h 58"/>
                  <a:gd name="T8" fmla="*/ 21 w 127"/>
                  <a:gd name="T9" fmla="*/ 41 h 58"/>
                  <a:gd name="T10" fmla="*/ 31 w 127"/>
                  <a:gd name="T11" fmla="*/ 48 h 58"/>
                  <a:gd name="T12" fmla="*/ 41 w 127"/>
                  <a:gd name="T13" fmla="*/ 51 h 58"/>
                  <a:gd name="T14" fmla="*/ 52 w 127"/>
                  <a:gd name="T15" fmla="*/ 55 h 58"/>
                  <a:gd name="T16" fmla="*/ 66 w 127"/>
                  <a:gd name="T17" fmla="*/ 58 h 58"/>
                  <a:gd name="T18" fmla="*/ 76 w 127"/>
                  <a:gd name="T19" fmla="*/ 55 h 58"/>
                  <a:gd name="T20" fmla="*/ 86 w 127"/>
                  <a:gd name="T21" fmla="*/ 51 h 58"/>
                  <a:gd name="T22" fmla="*/ 96 w 127"/>
                  <a:gd name="T23" fmla="*/ 48 h 58"/>
                  <a:gd name="T24" fmla="*/ 107 w 127"/>
                  <a:gd name="T25" fmla="*/ 41 h 58"/>
                  <a:gd name="T26" fmla="*/ 114 w 127"/>
                  <a:gd name="T27" fmla="*/ 31 h 58"/>
                  <a:gd name="T28" fmla="*/ 121 w 127"/>
                  <a:gd name="T29" fmla="*/ 20 h 58"/>
                  <a:gd name="T30" fmla="*/ 124 w 127"/>
                  <a:gd name="T31" fmla="*/ 10 h 58"/>
                  <a:gd name="T32" fmla="*/ 127 w 127"/>
                  <a:gd name="T3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58">
                    <a:moveTo>
                      <a:pt x="0" y="0"/>
                    </a:moveTo>
                    <a:lnTo>
                      <a:pt x="4" y="10"/>
                    </a:lnTo>
                    <a:lnTo>
                      <a:pt x="7" y="20"/>
                    </a:lnTo>
                    <a:lnTo>
                      <a:pt x="14" y="31"/>
                    </a:lnTo>
                    <a:lnTo>
                      <a:pt x="21" y="41"/>
                    </a:lnTo>
                    <a:lnTo>
                      <a:pt x="31" y="48"/>
                    </a:lnTo>
                    <a:lnTo>
                      <a:pt x="41" y="51"/>
                    </a:lnTo>
                    <a:lnTo>
                      <a:pt x="52" y="55"/>
                    </a:lnTo>
                    <a:lnTo>
                      <a:pt x="66" y="58"/>
                    </a:lnTo>
                    <a:lnTo>
                      <a:pt x="76" y="55"/>
                    </a:lnTo>
                    <a:lnTo>
                      <a:pt x="86" y="51"/>
                    </a:lnTo>
                    <a:lnTo>
                      <a:pt x="96" y="48"/>
                    </a:lnTo>
                    <a:lnTo>
                      <a:pt x="107" y="41"/>
                    </a:lnTo>
                    <a:lnTo>
                      <a:pt x="114" y="31"/>
                    </a:lnTo>
                    <a:lnTo>
                      <a:pt x="121" y="20"/>
                    </a:lnTo>
                    <a:lnTo>
                      <a:pt x="124" y="10"/>
                    </a:lnTo>
                    <a:lnTo>
                      <a:pt x="127" y="0"/>
                    </a:lnTo>
                  </a:path>
                </a:pathLst>
              </a:cu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3" name="Freeform 32"/>
              <p:cNvSpPr>
                <a:spLocks noChangeArrowheads="1"/>
              </p:cNvSpPr>
              <p:nvPr/>
            </p:nvSpPr>
            <p:spPr bwMode="auto">
              <a:xfrm>
                <a:off x="5285" y="3085"/>
                <a:ext cx="76" cy="224"/>
              </a:xfrm>
              <a:custGeom>
                <a:avLst/>
                <a:gdLst>
                  <a:gd name="T0" fmla="*/ 76 w 76"/>
                  <a:gd name="T1" fmla="*/ 0 h 224"/>
                  <a:gd name="T2" fmla="*/ 58 w 76"/>
                  <a:gd name="T3" fmla="*/ 10 h 224"/>
                  <a:gd name="T4" fmla="*/ 45 w 76"/>
                  <a:gd name="T5" fmla="*/ 20 h 224"/>
                  <a:gd name="T6" fmla="*/ 31 w 76"/>
                  <a:gd name="T7" fmla="*/ 31 h 224"/>
                  <a:gd name="T8" fmla="*/ 21 w 76"/>
                  <a:gd name="T9" fmla="*/ 45 h 224"/>
                  <a:gd name="T10" fmla="*/ 14 w 76"/>
                  <a:gd name="T11" fmla="*/ 62 h 224"/>
                  <a:gd name="T12" fmla="*/ 7 w 76"/>
                  <a:gd name="T13" fmla="*/ 79 h 224"/>
                  <a:gd name="T14" fmla="*/ 3 w 76"/>
                  <a:gd name="T15" fmla="*/ 96 h 224"/>
                  <a:gd name="T16" fmla="*/ 0 w 76"/>
                  <a:gd name="T17" fmla="*/ 113 h 224"/>
                  <a:gd name="T18" fmla="*/ 3 w 76"/>
                  <a:gd name="T19" fmla="*/ 131 h 224"/>
                  <a:gd name="T20" fmla="*/ 7 w 76"/>
                  <a:gd name="T21" fmla="*/ 148 h 224"/>
                  <a:gd name="T22" fmla="*/ 14 w 76"/>
                  <a:gd name="T23" fmla="*/ 165 h 224"/>
                  <a:gd name="T24" fmla="*/ 21 w 76"/>
                  <a:gd name="T25" fmla="*/ 179 h 224"/>
                  <a:gd name="T26" fmla="*/ 31 w 76"/>
                  <a:gd name="T27" fmla="*/ 193 h 224"/>
                  <a:gd name="T28" fmla="*/ 45 w 76"/>
                  <a:gd name="T29" fmla="*/ 206 h 224"/>
                  <a:gd name="T30" fmla="*/ 58 w 76"/>
                  <a:gd name="T31" fmla="*/ 217 h 224"/>
                  <a:gd name="T32" fmla="*/ 76 w 76"/>
                  <a:gd name="T33" fmla="*/ 22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224">
                    <a:moveTo>
                      <a:pt x="76" y="0"/>
                    </a:moveTo>
                    <a:lnTo>
                      <a:pt x="58" y="10"/>
                    </a:lnTo>
                    <a:lnTo>
                      <a:pt x="45" y="20"/>
                    </a:lnTo>
                    <a:lnTo>
                      <a:pt x="31" y="31"/>
                    </a:lnTo>
                    <a:lnTo>
                      <a:pt x="21" y="45"/>
                    </a:lnTo>
                    <a:lnTo>
                      <a:pt x="14" y="62"/>
                    </a:lnTo>
                    <a:lnTo>
                      <a:pt x="7" y="79"/>
                    </a:lnTo>
                    <a:lnTo>
                      <a:pt x="3" y="96"/>
                    </a:lnTo>
                    <a:lnTo>
                      <a:pt x="0" y="113"/>
                    </a:lnTo>
                    <a:lnTo>
                      <a:pt x="3" y="131"/>
                    </a:lnTo>
                    <a:lnTo>
                      <a:pt x="7" y="148"/>
                    </a:lnTo>
                    <a:lnTo>
                      <a:pt x="14" y="165"/>
                    </a:lnTo>
                    <a:lnTo>
                      <a:pt x="21" y="179"/>
                    </a:lnTo>
                    <a:lnTo>
                      <a:pt x="31" y="193"/>
                    </a:lnTo>
                    <a:lnTo>
                      <a:pt x="45" y="206"/>
                    </a:lnTo>
                    <a:lnTo>
                      <a:pt x="58" y="217"/>
                    </a:lnTo>
                    <a:lnTo>
                      <a:pt x="76" y="224"/>
                    </a:lnTo>
                  </a:path>
                </a:pathLst>
              </a:cu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4" name="Freeform 33"/>
              <p:cNvSpPr>
                <a:spLocks noChangeArrowheads="1"/>
              </p:cNvSpPr>
              <p:nvPr/>
            </p:nvSpPr>
            <p:spPr bwMode="auto">
              <a:xfrm>
                <a:off x="5598" y="3123"/>
                <a:ext cx="79" cy="151"/>
              </a:xfrm>
              <a:custGeom>
                <a:avLst/>
                <a:gdLst>
                  <a:gd name="T0" fmla="*/ 3 w 79"/>
                  <a:gd name="T1" fmla="*/ 151 h 151"/>
                  <a:gd name="T2" fmla="*/ 3 w 79"/>
                  <a:gd name="T3" fmla="*/ 151 h 151"/>
                  <a:gd name="T4" fmla="*/ 3 w 79"/>
                  <a:gd name="T5" fmla="*/ 151 h 151"/>
                  <a:gd name="T6" fmla="*/ 21 w 79"/>
                  <a:gd name="T7" fmla="*/ 148 h 151"/>
                  <a:gd name="T8" fmla="*/ 34 w 79"/>
                  <a:gd name="T9" fmla="*/ 144 h 151"/>
                  <a:gd name="T10" fmla="*/ 45 w 79"/>
                  <a:gd name="T11" fmla="*/ 137 h 151"/>
                  <a:gd name="T12" fmla="*/ 59 w 79"/>
                  <a:gd name="T13" fmla="*/ 127 h 151"/>
                  <a:gd name="T14" fmla="*/ 65 w 79"/>
                  <a:gd name="T15" fmla="*/ 117 h 151"/>
                  <a:gd name="T16" fmla="*/ 72 w 79"/>
                  <a:gd name="T17" fmla="*/ 103 h 151"/>
                  <a:gd name="T18" fmla="*/ 79 w 79"/>
                  <a:gd name="T19" fmla="*/ 89 h 151"/>
                  <a:gd name="T20" fmla="*/ 79 w 79"/>
                  <a:gd name="T21" fmla="*/ 75 h 151"/>
                  <a:gd name="T22" fmla="*/ 79 w 79"/>
                  <a:gd name="T23" fmla="*/ 58 h 151"/>
                  <a:gd name="T24" fmla="*/ 72 w 79"/>
                  <a:gd name="T25" fmla="*/ 44 h 151"/>
                  <a:gd name="T26" fmla="*/ 65 w 79"/>
                  <a:gd name="T27" fmla="*/ 34 h 151"/>
                  <a:gd name="T28" fmla="*/ 59 w 79"/>
                  <a:gd name="T29" fmla="*/ 20 h 151"/>
                  <a:gd name="T30" fmla="*/ 45 w 79"/>
                  <a:gd name="T31" fmla="*/ 13 h 151"/>
                  <a:gd name="T32" fmla="*/ 34 w 79"/>
                  <a:gd name="T33" fmla="*/ 7 h 151"/>
                  <a:gd name="T34" fmla="*/ 21 w 79"/>
                  <a:gd name="T35" fmla="*/ 0 h 151"/>
                  <a:gd name="T36" fmla="*/ 3 w 79"/>
                  <a:gd name="T37" fmla="*/ 0 h 151"/>
                  <a:gd name="T38" fmla="*/ 3 w 79"/>
                  <a:gd name="T39" fmla="*/ 0 h 151"/>
                  <a:gd name="T40" fmla="*/ 0 w 79"/>
                  <a:gd name="T41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151">
                    <a:moveTo>
                      <a:pt x="3" y="151"/>
                    </a:moveTo>
                    <a:lnTo>
                      <a:pt x="3" y="151"/>
                    </a:lnTo>
                    <a:lnTo>
                      <a:pt x="21" y="148"/>
                    </a:lnTo>
                    <a:lnTo>
                      <a:pt x="34" y="144"/>
                    </a:lnTo>
                    <a:lnTo>
                      <a:pt x="45" y="137"/>
                    </a:lnTo>
                    <a:lnTo>
                      <a:pt x="59" y="127"/>
                    </a:lnTo>
                    <a:lnTo>
                      <a:pt x="65" y="117"/>
                    </a:lnTo>
                    <a:lnTo>
                      <a:pt x="72" y="103"/>
                    </a:lnTo>
                    <a:lnTo>
                      <a:pt x="79" y="89"/>
                    </a:lnTo>
                    <a:lnTo>
                      <a:pt x="79" y="75"/>
                    </a:lnTo>
                    <a:lnTo>
                      <a:pt x="79" y="58"/>
                    </a:lnTo>
                    <a:lnTo>
                      <a:pt x="72" y="44"/>
                    </a:lnTo>
                    <a:lnTo>
                      <a:pt x="65" y="34"/>
                    </a:lnTo>
                    <a:lnTo>
                      <a:pt x="59" y="20"/>
                    </a:lnTo>
                    <a:lnTo>
                      <a:pt x="45" y="13"/>
                    </a:lnTo>
                    <a:lnTo>
                      <a:pt x="34" y="7"/>
                    </a:lnTo>
                    <a:lnTo>
                      <a:pt x="21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15" name="Line 34"/>
              <p:cNvSpPr>
                <a:spLocks noChangeShapeType="1"/>
              </p:cNvSpPr>
              <p:nvPr/>
            </p:nvSpPr>
            <p:spPr bwMode="auto">
              <a:xfrm flipH="1">
                <a:off x="5130" y="3488"/>
                <a:ext cx="41" cy="262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6" name="Line 35"/>
              <p:cNvSpPr>
                <a:spLocks noChangeShapeType="1"/>
              </p:cNvSpPr>
              <p:nvPr/>
            </p:nvSpPr>
            <p:spPr bwMode="auto">
              <a:xfrm>
                <a:off x="4972" y="3488"/>
                <a:ext cx="38" cy="262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7" name="Line 36"/>
              <p:cNvSpPr>
                <a:spLocks noChangeShapeType="1"/>
              </p:cNvSpPr>
              <p:nvPr/>
            </p:nvSpPr>
            <p:spPr bwMode="auto">
              <a:xfrm flipV="1">
                <a:off x="5361" y="3271"/>
                <a:ext cx="265" cy="38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8" name="Line 37"/>
              <p:cNvSpPr>
                <a:spLocks noChangeShapeType="1"/>
              </p:cNvSpPr>
              <p:nvPr/>
            </p:nvSpPr>
            <p:spPr bwMode="auto">
              <a:xfrm>
                <a:off x="5361" y="3085"/>
                <a:ext cx="265" cy="41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9" name="Line 38"/>
              <p:cNvSpPr>
                <a:spLocks noChangeShapeType="1"/>
              </p:cNvSpPr>
              <p:nvPr/>
            </p:nvSpPr>
            <p:spPr bwMode="auto">
              <a:xfrm>
                <a:off x="4555" y="3198"/>
                <a:ext cx="293" cy="1"/>
              </a:xfrm>
              <a:prstGeom prst="line">
                <a:avLst/>
              </a:prstGeom>
              <a:noFill/>
              <a:ln w="11113">
                <a:solidFill>
                  <a:srgbClr val="DC37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0" name="Freeform 39"/>
              <p:cNvSpPr>
                <a:spLocks noChangeArrowheads="1"/>
              </p:cNvSpPr>
              <p:nvPr/>
            </p:nvSpPr>
            <p:spPr bwMode="auto">
              <a:xfrm>
                <a:off x="5144" y="2203"/>
                <a:ext cx="48" cy="41"/>
              </a:xfrm>
              <a:custGeom>
                <a:avLst/>
                <a:gdLst>
                  <a:gd name="T0" fmla="*/ 38 w 48"/>
                  <a:gd name="T1" fmla="*/ 0 h 41"/>
                  <a:gd name="T2" fmla="*/ 0 w 48"/>
                  <a:gd name="T3" fmla="*/ 24 h 41"/>
                  <a:gd name="T4" fmla="*/ 14 w 48"/>
                  <a:gd name="T5" fmla="*/ 41 h 41"/>
                  <a:gd name="T6" fmla="*/ 48 w 48"/>
                  <a:gd name="T7" fmla="*/ 14 h 41"/>
                  <a:gd name="T8" fmla="*/ 38 w 48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1">
                    <a:moveTo>
                      <a:pt x="38" y="0"/>
                    </a:moveTo>
                    <a:lnTo>
                      <a:pt x="0" y="24"/>
                    </a:lnTo>
                    <a:lnTo>
                      <a:pt x="14" y="41"/>
                    </a:lnTo>
                    <a:lnTo>
                      <a:pt x="48" y="14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1" name="Freeform 40"/>
              <p:cNvSpPr>
                <a:spLocks noChangeArrowheads="1"/>
              </p:cNvSpPr>
              <p:nvPr/>
            </p:nvSpPr>
            <p:spPr bwMode="auto">
              <a:xfrm>
                <a:off x="4951" y="2203"/>
                <a:ext cx="45" cy="41"/>
              </a:xfrm>
              <a:custGeom>
                <a:avLst/>
                <a:gdLst>
                  <a:gd name="T0" fmla="*/ 0 w 45"/>
                  <a:gd name="T1" fmla="*/ 14 h 41"/>
                  <a:gd name="T2" fmla="*/ 34 w 45"/>
                  <a:gd name="T3" fmla="*/ 41 h 41"/>
                  <a:gd name="T4" fmla="*/ 45 w 45"/>
                  <a:gd name="T5" fmla="*/ 24 h 41"/>
                  <a:gd name="T6" fmla="*/ 10 w 45"/>
                  <a:gd name="T7" fmla="*/ 0 h 41"/>
                  <a:gd name="T8" fmla="*/ 0 w 45"/>
                  <a:gd name="T9" fmla="*/ 1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41">
                    <a:moveTo>
                      <a:pt x="0" y="14"/>
                    </a:moveTo>
                    <a:lnTo>
                      <a:pt x="34" y="41"/>
                    </a:lnTo>
                    <a:lnTo>
                      <a:pt x="45" y="24"/>
                    </a:lnTo>
                    <a:lnTo>
                      <a:pt x="1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2" name="Freeform 41"/>
              <p:cNvSpPr>
                <a:spLocks noChangeArrowheads="1"/>
              </p:cNvSpPr>
              <p:nvPr/>
            </p:nvSpPr>
            <p:spPr bwMode="auto">
              <a:xfrm>
                <a:off x="5144" y="1927"/>
                <a:ext cx="48" cy="48"/>
              </a:xfrm>
              <a:custGeom>
                <a:avLst/>
                <a:gdLst>
                  <a:gd name="T0" fmla="*/ 48 w 48"/>
                  <a:gd name="T1" fmla="*/ 35 h 48"/>
                  <a:gd name="T2" fmla="*/ 14 w 48"/>
                  <a:gd name="T3" fmla="*/ 0 h 48"/>
                  <a:gd name="T4" fmla="*/ 0 w 48"/>
                  <a:gd name="T5" fmla="*/ 17 h 48"/>
                  <a:gd name="T6" fmla="*/ 34 w 48"/>
                  <a:gd name="T7" fmla="*/ 48 h 48"/>
                  <a:gd name="T8" fmla="*/ 48 w 48"/>
                  <a:gd name="T9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48" y="35"/>
                    </a:moveTo>
                    <a:lnTo>
                      <a:pt x="14" y="0"/>
                    </a:lnTo>
                    <a:lnTo>
                      <a:pt x="0" y="17"/>
                    </a:lnTo>
                    <a:lnTo>
                      <a:pt x="34" y="48"/>
                    </a:lnTo>
                    <a:lnTo>
                      <a:pt x="48" y="35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3" name="Freeform 42"/>
              <p:cNvSpPr>
                <a:spLocks noChangeArrowheads="1"/>
              </p:cNvSpPr>
              <p:nvPr/>
            </p:nvSpPr>
            <p:spPr bwMode="auto">
              <a:xfrm>
                <a:off x="4948" y="1927"/>
                <a:ext cx="51" cy="48"/>
              </a:xfrm>
              <a:custGeom>
                <a:avLst/>
                <a:gdLst>
                  <a:gd name="T0" fmla="*/ 37 w 51"/>
                  <a:gd name="T1" fmla="*/ 0 h 48"/>
                  <a:gd name="T2" fmla="*/ 0 w 51"/>
                  <a:gd name="T3" fmla="*/ 35 h 48"/>
                  <a:gd name="T4" fmla="*/ 13 w 51"/>
                  <a:gd name="T5" fmla="*/ 48 h 48"/>
                  <a:gd name="T6" fmla="*/ 51 w 51"/>
                  <a:gd name="T7" fmla="*/ 17 h 48"/>
                  <a:gd name="T8" fmla="*/ 37 w 51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48">
                    <a:moveTo>
                      <a:pt x="37" y="0"/>
                    </a:moveTo>
                    <a:lnTo>
                      <a:pt x="0" y="35"/>
                    </a:lnTo>
                    <a:lnTo>
                      <a:pt x="13" y="48"/>
                    </a:lnTo>
                    <a:lnTo>
                      <a:pt x="51" y="17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4" name="Line 43"/>
              <p:cNvSpPr>
                <a:spLocks noChangeShapeType="1"/>
              </p:cNvSpPr>
              <p:nvPr/>
            </p:nvSpPr>
            <p:spPr bwMode="auto">
              <a:xfrm>
                <a:off x="5151" y="1934"/>
                <a:ext cx="1" cy="341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" name="Line 44"/>
              <p:cNvSpPr>
                <a:spLocks noChangeShapeType="1"/>
              </p:cNvSpPr>
              <p:nvPr/>
            </p:nvSpPr>
            <p:spPr bwMode="auto">
              <a:xfrm>
                <a:off x="4992" y="1934"/>
                <a:ext cx="1" cy="341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" name="Rectangle 45"/>
              <p:cNvSpPr>
                <a:spLocks noChangeArrowheads="1"/>
              </p:cNvSpPr>
              <p:nvPr/>
            </p:nvSpPr>
            <p:spPr bwMode="auto">
              <a:xfrm>
                <a:off x="5175" y="2275"/>
                <a:ext cx="20" cy="2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7" name="Rectangle 46"/>
              <p:cNvSpPr>
                <a:spLocks noChangeArrowheads="1"/>
              </p:cNvSpPr>
              <p:nvPr/>
            </p:nvSpPr>
            <p:spPr bwMode="auto">
              <a:xfrm>
                <a:off x="4944" y="2275"/>
                <a:ext cx="21" cy="2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8" name="Rectangle 47"/>
              <p:cNvSpPr>
                <a:spLocks noChangeArrowheads="1"/>
              </p:cNvSpPr>
              <p:nvPr/>
            </p:nvSpPr>
            <p:spPr bwMode="auto">
              <a:xfrm>
                <a:off x="5175" y="1968"/>
                <a:ext cx="20" cy="242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29" name="Rectangle 48"/>
              <p:cNvSpPr>
                <a:spLocks noChangeArrowheads="1"/>
              </p:cNvSpPr>
              <p:nvPr/>
            </p:nvSpPr>
            <p:spPr bwMode="auto">
              <a:xfrm>
                <a:off x="4944" y="1968"/>
                <a:ext cx="21" cy="242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0" name="Rectangle 49"/>
              <p:cNvSpPr>
                <a:spLocks noChangeArrowheads="1"/>
              </p:cNvSpPr>
              <p:nvPr/>
            </p:nvSpPr>
            <p:spPr bwMode="auto">
              <a:xfrm>
                <a:off x="4955" y="2199"/>
                <a:ext cx="230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1" name="Rectangle 50"/>
              <p:cNvSpPr>
                <a:spLocks noChangeArrowheads="1"/>
              </p:cNvSpPr>
              <p:nvPr/>
            </p:nvSpPr>
            <p:spPr bwMode="auto">
              <a:xfrm>
                <a:off x="4955" y="1958"/>
                <a:ext cx="230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2" name="Rectangle 51"/>
              <p:cNvSpPr>
                <a:spLocks noChangeArrowheads="1"/>
              </p:cNvSpPr>
              <p:nvPr/>
            </p:nvSpPr>
            <p:spPr bwMode="auto">
              <a:xfrm>
                <a:off x="4992" y="1924"/>
                <a:ext cx="159" cy="2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3" name="Rectangle 52"/>
              <p:cNvSpPr>
                <a:spLocks noChangeArrowheads="1"/>
              </p:cNvSpPr>
              <p:nvPr/>
            </p:nvSpPr>
            <p:spPr bwMode="auto">
              <a:xfrm>
                <a:off x="4992" y="2223"/>
                <a:ext cx="159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4" name="Rectangle 53"/>
              <p:cNvSpPr>
                <a:spLocks noChangeArrowheads="1"/>
              </p:cNvSpPr>
              <p:nvPr/>
            </p:nvSpPr>
            <p:spPr bwMode="auto">
              <a:xfrm>
                <a:off x="4955" y="2265"/>
                <a:ext cx="230" cy="2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5" name="Freeform 54"/>
              <p:cNvSpPr>
                <a:spLocks noChangeArrowheads="1"/>
              </p:cNvSpPr>
              <p:nvPr/>
            </p:nvSpPr>
            <p:spPr bwMode="auto">
              <a:xfrm>
                <a:off x="4944" y="2795"/>
                <a:ext cx="117" cy="90"/>
              </a:xfrm>
              <a:custGeom>
                <a:avLst/>
                <a:gdLst>
                  <a:gd name="T0" fmla="*/ 114 w 117"/>
                  <a:gd name="T1" fmla="*/ 0 h 90"/>
                  <a:gd name="T2" fmla="*/ 117 w 117"/>
                  <a:gd name="T3" fmla="*/ 7 h 90"/>
                  <a:gd name="T4" fmla="*/ 4 w 117"/>
                  <a:gd name="T5" fmla="*/ 90 h 90"/>
                  <a:gd name="T6" fmla="*/ 0 w 117"/>
                  <a:gd name="T7" fmla="*/ 86 h 90"/>
                  <a:gd name="T8" fmla="*/ 114 w 117"/>
                  <a:gd name="T9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90">
                    <a:moveTo>
                      <a:pt x="114" y="0"/>
                    </a:moveTo>
                    <a:lnTo>
                      <a:pt x="117" y="7"/>
                    </a:lnTo>
                    <a:lnTo>
                      <a:pt x="4" y="90"/>
                    </a:lnTo>
                    <a:lnTo>
                      <a:pt x="0" y="86"/>
                    </a:lnTo>
                    <a:lnTo>
                      <a:pt x="114" y="0"/>
                    </a:lnTo>
                    <a:close/>
                  </a:path>
                </a:pathLst>
              </a:custGeom>
              <a:solidFill>
                <a:srgbClr val="CB5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6" name="Freeform 55"/>
              <p:cNvSpPr>
                <a:spLocks noChangeArrowheads="1"/>
              </p:cNvSpPr>
              <p:nvPr/>
            </p:nvSpPr>
            <p:spPr bwMode="auto">
              <a:xfrm>
                <a:off x="5092" y="2685"/>
                <a:ext cx="121" cy="90"/>
              </a:xfrm>
              <a:custGeom>
                <a:avLst/>
                <a:gdLst>
                  <a:gd name="T0" fmla="*/ 117 w 121"/>
                  <a:gd name="T1" fmla="*/ 0 h 90"/>
                  <a:gd name="T2" fmla="*/ 121 w 121"/>
                  <a:gd name="T3" fmla="*/ 7 h 90"/>
                  <a:gd name="T4" fmla="*/ 4 w 121"/>
                  <a:gd name="T5" fmla="*/ 90 h 90"/>
                  <a:gd name="T6" fmla="*/ 0 w 121"/>
                  <a:gd name="T7" fmla="*/ 86 h 90"/>
                  <a:gd name="T8" fmla="*/ 117 w 121"/>
                  <a:gd name="T9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90">
                    <a:moveTo>
                      <a:pt x="117" y="0"/>
                    </a:moveTo>
                    <a:lnTo>
                      <a:pt x="121" y="7"/>
                    </a:lnTo>
                    <a:lnTo>
                      <a:pt x="4" y="90"/>
                    </a:lnTo>
                    <a:lnTo>
                      <a:pt x="0" y="86"/>
                    </a:ln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CB5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7" name="Freeform 56"/>
              <p:cNvSpPr>
                <a:spLocks noChangeArrowheads="1"/>
              </p:cNvSpPr>
              <p:nvPr/>
            </p:nvSpPr>
            <p:spPr bwMode="auto">
              <a:xfrm>
                <a:off x="5219" y="2668"/>
                <a:ext cx="14" cy="14"/>
              </a:xfrm>
              <a:custGeom>
                <a:avLst/>
                <a:gdLst>
                  <a:gd name="T0" fmla="*/ 11 w 14"/>
                  <a:gd name="T1" fmla="*/ 0 h 14"/>
                  <a:gd name="T2" fmla="*/ 14 w 14"/>
                  <a:gd name="T3" fmla="*/ 7 h 14"/>
                  <a:gd name="T4" fmla="*/ 4 w 14"/>
                  <a:gd name="T5" fmla="*/ 14 h 14"/>
                  <a:gd name="T6" fmla="*/ 0 w 14"/>
                  <a:gd name="T7" fmla="*/ 10 h 14"/>
                  <a:gd name="T8" fmla="*/ 11 w 14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1" y="0"/>
                    </a:moveTo>
                    <a:lnTo>
                      <a:pt x="14" y="7"/>
                    </a:lnTo>
                    <a:lnTo>
                      <a:pt x="4" y="14"/>
                    </a:lnTo>
                    <a:lnTo>
                      <a:pt x="0" y="1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CB5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8" name="Freeform 57"/>
              <p:cNvSpPr>
                <a:spLocks noChangeArrowheads="1"/>
              </p:cNvSpPr>
              <p:nvPr/>
            </p:nvSpPr>
            <p:spPr bwMode="auto">
              <a:xfrm>
                <a:off x="5244" y="2609"/>
                <a:ext cx="68" cy="55"/>
              </a:xfrm>
              <a:custGeom>
                <a:avLst/>
                <a:gdLst>
                  <a:gd name="T0" fmla="*/ 65 w 68"/>
                  <a:gd name="T1" fmla="*/ 0 h 55"/>
                  <a:gd name="T2" fmla="*/ 0 w 68"/>
                  <a:gd name="T3" fmla="*/ 52 h 55"/>
                  <a:gd name="T4" fmla="*/ 3 w 68"/>
                  <a:gd name="T5" fmla="*/ 55 h 55"/>
                  <a:gd name="T6" fmla="*/ 68 w 68"/>
                  <a:gd name="T7" fmla="*/ 7 h 55"/>
                  <a:gd name="T8" fmla="*/ 65 w 68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" h="55">
                    <a:moveTo>
                      <a:pt x="65" y="0"/>
                    </a:moveTo>
                    <a:lnTo>
                      <a:pt x="0" y="52"/>
                    </a:lnTo>
                    <a:lnTo>
                      <a:pt x="3" y="55"/>
                    </a:lnTo>
                    <a:lnTo>
                      <a:pt x="68" y="7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CB5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39" name="Rectangle 58"/>
              <p:cNvSpPr>
                <a:spLocks noChangeArrowheads="1"/>
              </p:cNvSpPr>
              <p:nvPr/>
            </p:nvSpPr>
            <p:spPr bwMode="auto">
              <a:xfrm>
                <a:off x="5185" y="2485"/>
                <a:ext cx="21" cy="6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0" name="Rectangle 59"/>
              <p:cNvSpPr>
                <a:spLocks noChangeArrowheads="1"/>
              </p:cNvSpPr>
              <p:nvPr/>
            </p:nvSpPr>
            <p:spPr bwMode="auto">
              <a:xfrm>
                <a:off x="4934" y="2485"/>
                <a:ext cx="21" cy="11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1" name="Rectangle 60"/>
              <p:cNvSpPr>
                <a:spLocks noChangeArrowheads="1"/>
              </p:cNvSpPr>
              <p:nvPr/>
            </p:nvSpPr>
            <p:spPr bwMode="auto">
              <a:xfrm>
                <a:off x="4944" y="2475"/>
                <a:ext cx="251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2" name="Rectangle 61"/>
              <p:cNvSpPr>
                <a:spLocks noChangeArrowheads="1"/>
              </p:cNvSpPr>
              <p:nvPr/>
            </p:nvSpPr>
            <p:spPr bwMode="auto">
              <a:xfrm>
                <a:off x="4473" y="3195"/>
                <a:ext cx="144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3" name="Rectangle 62"/>
              <p:cNvSpPr>
                <a:spLocks noChangeArrowheads="1"/>
              </p:cNvSpPr>
              <p:nvPr/>
            </p:nvSpPr>
            <p:spPr bwMode="auto">
              <a:xfrm>
                <a:off x="4631" y="3195"/>
                <a:ext cx="14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4" name="Rectangle 63"/>
              <p:cNvSpPr>
                <a:spLocks noChangeArrowheads="1"/>
              </p:cNvSpPr>
              <p:nvPr/>
            </p:nvSpPr>
            <p:spPr bwMode="auto">
              <a:xfrm>
                <a:off x="4659" y="3195"/>
                <a:ext cx="144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5" name="Rectangle 64"/>
              <p:cNvSpPr>
                <a:spLocks noChangeArrowheads="1"/>
              </p:cNvSpPr>
              <p:nvPr/>
            </p:nvSpPr>
            <p:spPr bwMode="auto">
              <a:xfrm>
                <a:off x="4817" y="3195"/>
                <a:ext cx="14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6" name="Rectangle 65"/>
              <p:cNvSpPr>
                <a:spLocks noChangeArrowheads="1"/>
              </p:cNvSpPr>
              <p:nvPr/>
            </p:nvSpPr>
            <p:spPr bwMode="auto">
              <a:xfrm>
                <a:off x="4844" y="3195"/>
                <a:ext cx="145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7" name="Rectangle 66"/>
              <p:cNvSpPr>
                <a:spLocks noChangeArrowheads="1"/>
              </p:cNvSpPr>
              <p:nvPr/>
            </p:nvSpPr>
            <p:spPr bwMode="auto">
              <a:xfrm>
                <a:off x="5003" y="3195"/>
                <a:ext cx="13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8" name="Rectangle 67"/>
              <p:cNvSpPr>
                <a:spLocks noChangeArrowheads="1"/>
              </p:cNvSpPr>
              <p:nvPr/>
            </p:nvSpPr>
            <p:spPr bwMode="auto">
              <a:xfrm>
                <a:off x="5030" y="3195"/>
                <a:ext cx="145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49" name="Rectangle 68"/>
              <p:cNvSpPr>
                <a:spLocks noChangeArrowheads="1"/>
              </p:cNvSpPr>
              <p:nvPr/>
            </p:nvSpPr>
            <p:spPr bwMode="auto">
              <a:xfrm>
                <a:off x="5189" y="3195"/>
                <a:ext cx="13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0" name="Rectangle 69"/>
              <p:cNvSpPr>
                <a:spLocks noChangeArrowheads="1"/>
              </p:cNvSpPr>
              <p:nvPr/>
            </p:nvSpPr>
            <p:spPr bwMode="auto">
              <a:xfrm>
                <a:off x="5216" y="3195"/>
                <a:ext cx="145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1" name="Rectangle 70"/>
              <p:cNvSpPr>
                <a:spLocks noChangeArrowheads="1"/>
              </p:cNvSpPr>
              <p:nvPr/>
            </p:nvSpPr>
            <p:spPr bwMode="auto">
              <a:xfrm>
                <a:off x="5374" y="3195"/>
                <a:ext cx="14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2" name="Rectangle 71"/>
              <p:cNvSpPr>
                <a:spLocks noChangeArrowheads="1"/>
              </p:cNvSpPr>
              <p:nvPr/>
            </p:nvSpPr>
            <p:spPr bwMode="auto">
              <a:xfrm>
                <a:off x="5405" y="3195"/>
                <a:ext cx="141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3" name="Rectangle 72"/>
              <p:cNvSpPr>
                <a:spLocks noChangeArrowheads="1"/>
              </p:cNvSpPr>
              <p:nvPr/>
            </p:nvSpPr>
            <p:spPr bwMode="auto">
              <a:xfrm>
                <a:off x="5560" y="3195"/>
                <a:ext cx="14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4" name="Rectangle 73"/>
              <p:cNvSpPr>
                <a:spLocks noChangeArrowheads="1"/>
              </p:cNvSpPr>
              <p:nvPr/>
            </p:nvSpPr>
            <p:spPr bwMode="auto">
              <a:xfrm>
                <a:off x="5591" y="3195"/>
                <a:ext cx="141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5" name="Rectangle 74"/>
              <p:cNvSpPr>
                <a:spLocks noChangeArrowheads="1"/>
              </p:cNvSpPr>
              <p:nvPr/>
            </p:nvSpPr>
            <p:spPr bwMode="auto">
              <a:xfrm>
                <a:off x="5746" y="3195"/>
                <a:ext cx="14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6" name="Freeform 75"/>
              <p:cNvSpPr>
                <a:spLocks noChangeArrowheads="1"/>
              </p:cNvSpPr>
              <p:nvPr/>
            </p:nvSpPr>
            <p:spPr bwMode="auto">
              <a:xfrm>
                <a:off x="4583" y="3278"/>
                <a:ext cx="20" cy="20"/>
              </a:xfrm>
              <a:custGeom>
                <a:avLst/>
                <a:gdLst>
                  <a:gd name="T0" fmla="*/ 0 w 20"/>
                  <a:gd name="T1" fmla="*/ 0 h 20"/>
                  <a:gd name="T2" fmla="*/ 0 w 20"/>
                  <a:gd name="T3" fmla="*/ 0 h 20"/>
                  <a:gd name="T4" fmla="*/ 0 w 20"/>
                  <a:gd name="T5" fmla="*/ 10 h 20"/>
                  <a:gd name="T6" fmla="*/ 0 w 20"/>
                  <a:gd name="T7" fmla="*/ 20 h 20"/>
                  <a:gd name="T8" fmla="*/ 20 w 20"/>
                  <a:gd name="T9" fmla="*/ 20 h 20"/>
                  <a:gd name="T10" fmla="*/ 20 w 20"/>
                  <a:gd name="T11" fmla="*/ 10 h 20"/>
                  <a:gd name="T12" fmla="*/ 20 w 20"/>
                  <a:gd name="T13" fmla="*/ 0 h 20"/>
                  <a:gd name="T14" fmla="*/ 20 w 20"/>
                  <a:gd name="T15" fmla="*/ 0 h 20"/>
                  <a:gd name="T16" fmla="*/ 0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20" y="20"/>
                    </a:lnTo>
                    <a:lnTo>
                      <a:pt x="20" y="10"/>
                    </a:lnTo>
                    <a:lnTo>
                      <a:pt x="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7" name="Freeform 76"/>
              <p:cNvSpPr>
                <a:spLocks noChangeArrowheads="1"/>
              </p:cNvSpPr>
              <p:nvPr/>
            </p:nvSpPr>
            <p:spPr bwMode="auto">
              <a:xfrm>
                <a:off x="4517" y="3078"/>
                <a:ext cx="86" cy="200"/>
              </a:xfrm>
              <a:custGeom>
                <a:avLst/>
                <a:gdLst>
                  <a:gd name="T0" fmla="*/ 0 w 86"/>
                  <a:gd name="T1" fmla="*/ 10 h 200"/>
                  <a:gd name="T2" fmla="*/ 14 w 86"/>
                  <a:gd name="T3" fmla="*/ 31 h 200"/>
                  <a:gd name="T4" fmla="*/ 28 w 86"/>
                  <a:gd name="T5" fmla="*/ 55 h 200"/>
                  <a:gd name="T6" fmla="*/ 38 w 86"/>
                  <a:gd name="T7" fmla="*/ 76 h 200"/>
                  <a:gd name="T8" fmla="*/ 49 w 86"/>
                  <a:gd name="T9" fmla="*/ 100 h 200"/>
                  <a:gd name="T10" fmla="*/ 56 w 86"/>
                  <a:gd name="T11" fmla="*/ 124 h 200"/>
                  <a:gd name="T12" fmla="*/ 62 w 86"/>
                  <a:gd name="T13" fmla="*/ 151 h 200"/>
                  <a:gd name="T14" fmla="*/ 66 w 86"/>
                  <a:gd name="T15" fmla="*/ 176 h 200"/>
                  <a:gd name="T16" fmla="*/ 66 w 86"/>
                  <a:gd name="T17" fmla="*/ 200 h 200"/>
                  <a:gd name="T18" fmla="*/ 86 w 86"/>
                  <a:gd name="T19" fmla="*/ 200 h 200"/>
                  <a:gd name="T20" fmla="*/ 83 w 86"/>
                  <a:gd name="T21" fmla="*/ 176 h 200"/>
                  <a:gd name="T22" fmla="*/ 83 w 86"/>
                  <a:gd name="T23" fmla="*/ 148 h 200"/>
                  <a:gd name="T24" fmla="*/ 76 w 86"/>
                  <a:gd name="T25" fmla="*/ 120 h 200"/>
                  <a:gd name="T26" fmla="*/ 69 w 86"/>
                  <a:gd name="T27" fmla="*/ 93 h 200"/>
                  <a:gd name="T28" fmla="*/ 59 w 86"/>
                  <a:gd name="T29" fmla="*/ 69 h 200"/>
                  <a:gd name="T30" fmla="*/ 45 w 86"/>
                  <a:gd name="T31" fmla="*/ 45 h 200"/>
                  <a:gd name="T32" fmla="*/ 31 w 86"/>
                  <a:gd name="T33" fmla="*/ 21 h 200"/>
                  <a:gd name="T34" fmla="*/ 18 w 86"/>
                  <a:gd name="T35" fmla="*/ 0 h 200"/>
                  <a:gd name="T36" fmla="*/ 0 w 86"/>
                  <a:gd name="T37" fmla="*/ 1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6" h="200">
                    <a:moveTo>
                      <a:pt x="0" y="10"/>
                    </a:moveTo>
                    <a:lnTo>
                      <a:pt x="14" y="31"/>
                    </a:lnTo>
                    <a:lnTo>
                      <a:pt x="28" y="55"/>
                    </a:lnTo>
                    <a:lnTo>
                      <a:pt x="38" y="76"/>
                    </a:lnTo>
                    <a:lnTo>
                      <a:pt x="49" y="100"/>
                    </a:lnTo>
                    <a:lnTo>
                      <a:pt x="56" y="124"/>
                    </a:lnTo>
                    <a:lnTo>
                      <a:pt x="62" y="151"/>
                    </a:lnTo>
                    <a:lnTo>
                      <a:pt x="66" y="176"/>
                    </a:lnTo>
                    <a:lnTo>
                      <a:pt x="66" y="200"/>
                    </a:lnTo>
                    <a:lnTo>
                      <a:pt x="86" y="200"/>
                    </a:lnTo>
                    <a:lnTo>
                      <a:pt x="83" y="176"/>
                    </a:lnTo>
                    <a:lnTo>
                      <a:pt x="83" y="148"/>
                    </a:lnTo>
                    <a:lnTo>
                      <a:pt x="76" y="120"/>
                    </a:lnTo>
                    <a:lnTo>
                      <a:pt x="69" y="93"/>
                    </a:lnTo>
                    <a:lnTo>
                      <a:pt x="59" y="69"/>
                    </a:lnTo>
                    <a:lnTo>
                      <a:pt x="45" y="45"/>
                    </a:lnTo>
                    <a:lnTo>
                      <a:pt x="31" y="21"/>
                    </a:lnTo>
                    <a:lnTo>
                      <a:pt x="18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8" name="Freeform 77"/>
              <p:cNvSpPr>
                <a:spLocks noChangeArrowheads="1"/>
              </p:cNvSpPr>
              <p:nvPr/>
            </p:nvSpPr>
            <p:spPr bwMode="auto">
              <a:xfrm>
                <a:off x="4600" y="2957"/>
                <a:ext cx="272" cy="286"/>
              </a:xfrm>
              <a:custGeom>
                <a:avLst/>
                <a:gdLst>
                  <a:gd name="T0" fmla="*/ 0 w 272"/>
                  <a:gd name="T1" fmla="*/ 21 h 286"/>
                  <a:gd name="T2" fmla="*/ 24 w 272"/>
                  <a:gd name="T3" fmla="*/ 28 h 286"/>
                  <a:gd name="T4" fmla="*/ 45 w 272"/>
                  <a:gd name="T5" fmla="*/ 38 h 286"/>
                  <a:gd name="T6" fmla="*/ 69 w 272"/>
                  <a:gd name="T7" fmla="*/ 48 h 286"/>
                  <a:gd name="T8" fmla="*/ 90 w 272"/>
                  <a:gd name="T9" fmla="*/ 59 h 286"/>
                  <a:gd name="T10" fmla="*/ 127 w 272"/>
                  <a:gd name="T11" fmla="*/ 86 h 286"/>
                  <a:gd name="T12" fmla="*/ 162 w 272"/>
                  <a:gd name="T13" fmla="*/ 121 h 286"/>
                  <a:gd name="T14" fmla="*/ 193 w 272"/>
                  <a:gd name="T15" fmla="*/ 155 h 286"/>
                  <a:gd name="T16" fmla="*/ 220 w 272"/>
                  <a:gd name="T17" fmla="*/ 197 h 286"/>
                  <a:gd name="T18" fmla="*/ 231 w 272"/>
                  <a:gd name="T19" fmla="*/ 217 h 286"/>
                  <a:gd name="T20" fmla="*/ 237 w 272"/>
                  <a:gd name="T21" fmla="*/ 241 h 286"/>
                  <a:gd name="T22" fmla="*/ 244 w 272"/>
                  <a:gd name="T23" fmla="*/ 266 h 286"/>
                  <a:gd name="T24" fmla="*/ 251 w 272"/>
                  <a:gd name="T25" fmla="*/ 286 h 286"/>
                  <a:gd name="T26" fmla="*/ 272 w 272"/>
                  <a:gd name="T27" fmla="*/ 283 h 286"/>
                  <a:gd name="T28" fmla="*/ 265 w 272"/>
                  <a:gd name="T29" fmla="*/ 259 h 286"/>
                  <a:gd name="T30" fmla="*/ 258 w 272"/>
                  <a:gd name="T31" fmla="*/ 235 h 286"/>
                  <a:gd name="T32" fmla="*/ 248 w 272"/>
                  <a:gd name="T33" fmla="*/ 210 h 286"/>
                  <a:gd name="T34" fmla="*/ 237 w 272"/>
                  <a:gd name="T35" fmla="*/ 186 h 286"/>
                  <a:gd name="T36" fmla="*/ 210 w 272"/>
                  <a:gd name="T37" fmla="*/ 145 h 286"/>
                  <a:gd name="T38" fmla="*/ 179 w 272"/>
                  <a:gd name="T39" fmla="*/ 107 h 286"/>
                  <a:gd name="T40" fmla="*/ 141 w 272"/>
                  <a:gd name="T41" fmla="*/ 73 h 286"/>
                  <a:gd name="T42" fmla="*/ 100 w 272"/>
                  <a:gd name="T43" fmla="*/ 42 h 286"/>
                  <a:gd name="T44" fmla="*/ 76 w 272"/>
                  <a:gd name="T45" fmla="*/ 28 h 286"/>
                  <a:gd name="T46" fmla="*/ 55 w 272"/>
                  <a:gd name="T47" fmla="*/ 17 h 286"/>
                  <a:gd name="T48" fmla="*/ 31 w 272"/>
                  <a:gd name="T49" fmla="*/ 11 h 286"/>
                  <a:gd name="T50" fmla="*/ 7 w 272"/>
                  <a:gd name="T51" fmla="*/ 0 h 286"/>
                  <a:gd name="T52" fmla="*/ 0 w 272"/>
                  <a:gd name="T53" fmla="*/ 21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72" h="286">
                    <a:moveTo>
                      <a:pt x="0" y="21"/>
                    </a:moveTo>
                    <a:lnTo>
                      <a:pt x="24" y="28"/>
                    </a:lnTo>
                    <a:lnTo>
                      <a:pt x="45" y="38"/>
                    </a:lnTo>
                    <a:lnTo>
                      <a:pt x="69" y="48"/>
                    </a:lnTo>
                    <a:lnTo>
                      <a:pt x="90" y="59"/>
                    </a:lnTo>
                    <a:lnTo>
                      <a:pt x="127" y="86"/>
                    </a:lnTo>
                    <a:lnTo>
                      <a:pt x="162" y="121"/>
                    </a:lnTo>
                    <a:lnTo>
                      <a:pt x="193" y="155"/>
                    </a:lnTo>
                    <a:lnTo>
                      <a:pt x="220" y="197"/>
                    </a:lnTo>
                    <a:lnTo>
                      <a:pt x="231" y="217"/>
                    </a:lnTo>
                    <a:lnTo>
                      <a:pt x="237" y="241"/>
                    </a:lnTo>
                    <a:lnTo>
                      <a:pt x="244" y="266"/>
                    </a:lnTo>
                    <a:lnTo>
                      <a:pt x="251" y="286"/>
                    </a:lnTo>
                    <a:lnTo>
                      <a:pt x="272" y="283"/>
                    </a:lnTo>
                    <a:lnTo>
                      <a:pt x="265" y="259"/>
                    </a:lnTo>
                    <a:lnTo>
                      <a:pt x="258" y="235"/>
                    </a:lnTo>
                    <a:lnTo>
                      <a:pt x="248" y="210"/>
                    </a:lnTo>
                    <a:lnTo>
                      <a:pt x="237" y="186"/>
                    </a:lnTo>
                    <a:lnTo>
                      <a:pt x="210" y="145"/>
                    </a:lnTo>
                    <a:lnTo>
                      <a:pt x="179" y="107"/>
                    </a:lnTo>
                    <a:lnTo>
                      <a:pt x="141" y="73"/>
                    </a:lnTo>
                    <a:lnTo>
                      <a:pt x="100" y="42"/>
                    </a:lnTo>
                    <a:lnTo>
                      <a:pt x="76" y="28"/>
                    </a:lnTo>
                    <a:lnTo>
                      <a:pt x="55" y="17"/>
                    </a:lnTo>
                    <a:lnTo>
                      <a:pt x="31" y="11"/>
                    </a:lnTo>
                    <a:lnTo>
                      <a:pt x="7" y="0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59" name="Freeform 78"/>
              <p:cNvSpPr>
                <a:spLocks noChangeArrowheads="1"/>
              </p:cNvSpPr>
              <p:nvPr/>
            </p:nvSpPr>
            <p:spPr bwMode="auto">
              <a:xfrm>
                <a:off x="4586" y="2957"/>
                <a:ext cx="21" cy="21"/>
              </a:xfrm>
              <a:custGeom>
                <a:avLst/>
                <a:gdLst>
                  <a:gd name="T0" fmla="*/ 0 w 21"/>
                  <a:gd name="T1" fmla="*/ 17 h 21"/>
                  <a:gd name="T2" fmla="*/ 0 w 21"/>
                  <a:gd name="T3" fmla="*/ 17 h 21"/>
                  <a:gd name="T4" fmla="*/ 7 w 21"/>
                  <a:gd name="T5" fmla="*/ 21 h 21"/>
                  <a:gd name="T6" fmla="*/ 14 w 21"/>
                  <a:gd name="T7" fmla="*/ 21 h 21"/>
                  <a:gd name="T8" fmla="*/ 21 w 21"/>
                  <a:gd name="T9" fmla="*/ 0 h 21"/>
                  <a:gd name="T10" fmla="*/ 11 w 21"/>
                  <a:gd name="T11" fmla="*/ 0 h 21"/>
                  <a:gd name="T12" fmla="*/ 0 w 21"/>
                  <a:gd name="T13" fmla="*/ 0 h 21"/>
                  <a:gd name="T14" fmla="*/ 0 w 21"/>
                  <a:gd name="T15" fmla="*/ 0 h 21"/>
                  <a:gd name="T16" fmla="*/ 0 w 21"/>
                  <a:gd name="T17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1">
                    <a:moveTo>
                      <a:pt x="0" y="17"/>
                    </a:moveTo>
                    <a:lnTo>
                      <a:pt x="0" y="17"/>
                    </a:lnTo>
                    <a:lnTo>
                      <a:pt x="7" y="21"/>
                    </a:lnTo>
                    <a:lnTo>
                      <a:pt x="14" y="21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0" name="Freeform 79"/>
              <p:cNvSpPr>
                <a:spLocks noChangeArrowheads="1"/>
              </p:cNvSpPr>
              <p:nvPr/>
            </p:nvSpPr>
            <p:spPr bwMode="auto">
              <a:xfrm>
                <a:off x="4500" y="2957"/>
                <a:ext cx="86" cy="83"/>
              </a:xfrm>
              <a:custGeom>
                <a:avLst/>
                <a:gdLst>
                  <a:gd name="T0" fmla="*/ 21 w 86"/>
                  <a:gd name="T1" fmla="*/ 83 h 83"/>
                  <a:gd name="T2" fmla="*/ 21 w 86"/>
                  <a:gd name="T3" fmla="*/ 83 h 83"/>
                  <a:gd name="T4" fmla="*/ 24 w 86"/>
                  <a:gd name="T5" fmla="*/ 69 h 83"/>
                  <a:gd name="T6" fmla="*/ 28 w 86"/>
                  <a:gd name="T7" fmla="*/ 59 h 83"/>
                  <a:gd name="T8" fmla="*/ 31 w 86"/>
                  <a:gd name="T9" fmla="*/ 48 h 83"/>
                  <a:gd name="T10" fmla="*/ 42 w 86"/>
                  <a:gd name="T11" fmla="*/ 38 h 83"/>
                  <a:gd name="T12" fmla="*/ 48 w 86"/>
                  <a:gd name="T13" fmla="*/ 31 h 83"/>
                  <a:gd name="T14" fmla="*/ 59 w 86"/>
                  <a:gd name="T15" fmla="*/ 24 h 83"/>
                  <a:gd name="T16" fmla="*/ 73 w 86"/>
                  <a:gd name="T17" fmla="*/ 21 h 83"/>
                  <a:gd name="T18" fmla="*/ 86 w 86"/>
                  <a:gd name="T19" fmla="*/ 17 h 83"/>
                  <a:gd name="T20" fmla="*/ 86 w 86"/>
                  <a:gd name="T21" fmla="*/ 0 h 83"/>
                  <a:gd name="T22" fmla="*/ 69 w 86"/>
                  <a:gd name="T23" fmla="*/ 0 h 83"/>
                  <a:gd name="T24" fmla="*/ 52 w 86"/>
                  <a:gd name="T25" fmla="*/ 4 h 83"/>
                  <a:gd name="T26" fmla="*/ 38 w 86"/>
                  <a:gd name="T27" fmla="*/ 14 h 83"/>
                  <a:gd name="T28" fmla="*/ 24 w 86"/>
                  <a:gd name="T29" fmla="*/ 24 h 83"/>
                  <a:gd name="T30" fmla="*/ 14 w 86"/>
                  <a:gd name="T31" fmla="*/ 35 h 83"/>
                  <a:gd name="T32" fmla="*/ 7 w 86"/>
                  <a:gd name="T33" fmla="*/ 48 h 83"/>
                  <a:gd name="T34" fmla="*/ 4 w 86"/>
                  <a:gd name="T35" fmla="*/ 66 h 83"/>
                  <a:gd name="T36" fmla="*/ 0 w 86"/>
                  <a:gd name="T37" fmla="*/ 83 h 83"/>
                  <a:gd name="T38" fmla="*/ 0 w 86"/>
                  <a:gd name="T39" fmla="*/ 83 h 83"/>
                  <a:gd name="T40" fmla="*/ 21 w 86"/>
                  <a:gd name="T4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6" h="83">
                    <a:moveTo>
                      <a:pt x="21" y="83"/>
                    </a:moveTo>
                    <a:lnTo>
                      <a:pt x="21" y="83"/>
                    </a:lnTo>
                    <a:lnTo>
                      <a:pt x="24" y="69"/>
                    </a:lnTo>
                    <a:lnTo>
                      <a:pt x="28" y="59"/>
                    </a:lnTo>
                    <a:lnTo>
                      <a:pt x="31" y="48"/>
                    </a:lnTo>
                    <a:lnTo>
                      <a:pt x="42" y="38"/>
                    </a:lnTo>
                    <a:lnTo>
                      <a:pt x="48" y="31"/>
                    </a:lnTo>
                    <a:lnTo>
                      <a:pt x="59" y="24"/>
                    </a:lnTo>
                    <a:lnTo>
                      <a:pt x="73" y="21"/>
                    </a:lnTo>
                    <a:lnTo>
                      <a:pt x="86" y="17"/>
                    </a:lnTo>
                    <a:lnTo>
                      <a:pt x="86" y="0"/>
                    </a:lnTo>
                    <a:lnTo>
                      <a:pt x="69" y="0"/>
                    </a:lnTo>
                    <a:lnTo>
                      <a:pt x="52" y="4"/>
                    </a:lnTo>
                    <a:lnTo>
                      <a:pt x="38" y="14"/>
                    </a:lnTo>
                    <a:lnTo>
                      <a:pt x="24" y="24"/>
                    </a:lnTo>
                    <a:lnTo>
                      <a:pt x="14" y="35"/>
                    </a:lnTo>
                    <a:lnTo>
                      <a:pt x="7" y="48"/>
                    </a:lnTo>
                    <a:lnTo>
                      <a:pt x="4" y="66"/>
                    </a:lnTo>
                    <a:lnTo>
                      <a:pt x="0" y="83"/>
                    </a:lnTo>
                    <a:lnTo>
                      <a:pt x="21" y="83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1" name="Freeform 80"/>
              <p:cNvSpPr>
                <a:spLocks noChangeArrowheads="1"/>
              </p:cNvSpPr>
              <p:nvPr/>
            </p:nvSpPr>
            <p:spPr bwMode="auto">
              <a:xfrm>
                <a:off x="4500" y="3040"/>
                <a:ext cx="35" cy="52"/>
              </a:xfrm>
              <a:custGeom>
                <a:avLst/>
                <a:gdLst>
                  <a:gd name="T0" fmla="*/ 35 w 35"/>
                  <a:gd name="T1" fmla="*/ 38 h 52"/>
                  <a:gd name="T2" fmla="*/ 28 w 35"/>
                  <a:gd name="T3" fmla="*/ 27 h 52"/>
                  <a:gd name="T4" fmla="*/ 24 w 35"/>
                  <a:gd name="T5" fmla="*/ 21 h 52"/>
                  <a:gd name="T6" fmla="*/ 21 w 35"/>
                  <a:gd name="T7" fmla="*/ 10 h 52"/>
                  <a:gd name="T8" fmla="*/ 21 w 35"/>
                  <a:gd name="T9" fmla="*/ 0 h 52"/>
                  <a:gd name="T10" fmla="*/ 0 w 35"/>
                  <a:gd name="T11" fmla="*/ 0 h 52"/>
                  <a:gd name="T12" fmla="*/ 4 w 35"/>
                  <a:gd name="T13" fmla="*/ 14 h 52"/>
                  <a:gd name="T14" fmla="*/ 7 w 35"/>
                  <a:gd name="T15" fmla="*/ 27 h 52"/>
                  <a:gd name="T16" fmla="*/ 11 w 35"/>
                  <a:gd name="T17" fmla="*/ 38 h 52"/>
                  <a:gd name="T18" fmla="*/ 17 w 35"/>
                  <a:gd name="T19" fmla="*/ 52 h 52"/>
                  <a:gd name="T20" fmla="*/ 35 w 35"/>
                  <a:gd name="T21" fmla="*/ 3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52">
                    <a:moveTo>
                      <a:pt x="35" y="38"/>
                    </a:moveTo>
                    <a:lnTo>
                      <a:pt x="28" y="27"/>
                    </a:lnTo>
                    <a:lnTo>
                      <a:pt x="24" y="21"/>
                    </a:lnTo>
                    <a:lnTo>
                      <a:pt x="21" y="10"/>
                    </a:lnTo>
                    <a:lnTo>
                      <a:pt x="21" y="0"/>
                    </a:lnTo>
                    <a:lnTo>
                      <a:pt x="0" y="0"/>
                    </a:lnTo>
                    <a:lnTo>
                      <a:pt x="4" y="14"/>
                    </a:lnTo>
                    <a:lnTo>
                      <a:pt x="7" y="27"/>
                    </a:lnTo>
                    <a:lnTo>
                      <a:pt x="11" y="38"/>
                    </a:lnTo>
                    <a:lnTo>
                      <a:pt x="17" y="52"/>
                    </a:lnTo>
                    <a:lnTo>
                      <a:pt x="35" y="38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2" name="Freeform 81"/>
              <p:cNvSpPr>
                <a:spLocks noChangeArrowheads="1"/>
              </p:cNvSpPr>
              <p:nvPr/>
            </p:nvSpPr>
            <p:spPr bwMode="auto">
              <a:xfrm>
                <a:off x="4590" y="3116"/>
                <a:ext cx="268" cy="265"/>
              </a:xfrm>
              <a:custGeom>
                <a:avLst/>
                <a:gdLst>
                  <a:gd name="T0" fmla="*/ 134 w 268"/>
                  <a:gd name="T1" fmla="*/ 0 h 265"/>
                  <a:gd name="T2" fmla="*/ 106 w 268"/>
                  <a:gd name="T3" fmla="*/ 3 h 265"/>
                  <a:gd name="T4" fmla="*/ 82 w 268"/>
                  <a:gd name="T5" fmla="*/ 10 h 265"/>
                  <a:gd name="T6" fmla="*/ 62 w 268"/>
                  <a:gd name="T7" fmla="*/ 20 h 265"/>
                  <a:gd name="T8" fmla="*/ 41 w 268"/>
                  <a:gd name="T9" fmla="*/ 38 h 265"/>
                  <a:gd name="T10" fmla="*/ 24 w 268"/>
                  <a:gd name="T11" fmla="*/ 58 h 265"/>
                  <a:gd name="T12" fmla="*/ 10 w 268"/>
                  <a:gd name="T13" fmla="*/ 79 h 265"/>
                  <a:gd name="T14" fmla="*/ 3 w 268"/>
                  <a:gd name="T15" fmla="*/ 107 h 265"/>
                  <a:gd name="T16" fmla="*/ 0 w 268"/>
                  <a:gd name="T17" fmla="*/ 134 h 265"/>
                  <a:gd name="T18" fmla="*/ 3 w 268"/>
                  <a:gd name="T19" fmla="*/ 158 h 265"/>
                  <a:gd name="T20" fmla="*/ 10 w 268"/>
                  <a:gd name="T21" fmla="*/ 186 h 265"/>
                  <a:gd name="T22" fmla="*/ 24 w 268"/>
                  <a:gd name="T23" fmla="*/ 206 h 265"/>
                  <a:gd name="T24" fmla="*/ 41 w 268"/>
                  <a:gd name="T25" fmla="*/ 227 h 265"/>
                  <a:gd name="T26" fmla="*/ 62 w 268"/>
                  <a:gd name="T27" fmla="*/ 244 h 265"/>
                  <a:gd name="T28" fmla="*/ 82 w 268"/>
                  <a:gd name="T29" fmla="*/ 255 h 265"/>
                  <a:gd name="T30" fmla="*/ 106 w 268"/>
                  <a:gd name="T31" fmla="*/ 265 h 265"/>
                  <a:gd name="T32" fmla="*/ 134 w 268"/>
                  <a:gd name="T33" fmla="*/ 265 h 265"/>
                  <a:gd name="T34" fmla="*/ 161 w 268"/>
                  <a:gd name="T35" fmla="*/ 265 h 265"/>
                  <a:gd name="T36" fmla="*/ 186 w 268"/>
                  <a:gd name="T37" fmla="*/ 255 h 265"/>
                  <a:gd name="T38" fmla="*/ 210 w 268"/>
                  <a:gd name="T39" fmla="*/ 244 h 265"/>
                  <a:gd name="T40" fmla="*/ 230 w 268"/>
                  <a:gd name="T41" fmla="*/ 227 h 265"/>
                  <a:gd name="T42" fmla="*/ 247 w 268"/>
                  <a:gd name="T43" fmla="*/ 206 h 265"/>
                  <a:gd name="T44" fmla="*/ 258 w 268"/>
                  <a:gd name="T45" fmla="*/ 186 h 265"/>
                  <a:gd name="T46" fmla="*/ 265 w 268"/>
                  <a:gd name="T47" fmla="*/ 158 h 265"/>
                  <a:gd name="T48" fmla="*/ 268 w 268"/>
                  <a:gd name="T49" fmla="*/ 134 h 265"/>
                  <a:gd name="T50" fmla="*/ 265 w 268"/>
                  <a:gd name="T51" fmla="*/ 107 h 265"/>
                  <a:gd name="T52" fmla="*/ 258 w 268"/>
                  <a:gd name="T53" fmla="*/ 79 h 265"/>
                  <a:gd name="T54" fmla="*/ 247 w 268"/>
                  <a:gd name="T55" fmla="*/ 58 h 265"/>
                  <a:gd name="T56" fmla="*/ 230 w 268"/>
                  <a:gd name="T57" fmla="*/ 38 h 265"/>
                  <a:gd name="T58" fmla="*/ 210 w 268"/>
                  <a:gd name="T59" fmla="*/ 20 h 265"/>
                  <a:gd name="T60" fmla="*/ 186 w 268"/>
                  <a:gd name="T61" fmla="*/ 10 h 265"/>
                  <a:gd name="T62" fmla="*/ 161 w 268"/>
                  <a:gd name="T63" fmla="*/ 3 h 265"/>
                  <a:gd name="T64" fmla="*/ 134 w 268"/>
                  <a:gd name="T65" fmla="*/ 0 h 265"/>
                  <a:gd name="T66" fmla="*/ 134 w 268"/>
                  <a:gd name="T67" fmla="*/ 0 h 265"/>
                  <a:gd name="T68" fmla="*/ 134 w 268"/>
                  <a:gd name="T69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68" h="265">
                    <a:moveTo>
                      <a:pt x="134" y="0"/>
                    </a:moveTo>
                    <a:lnTo>
                      <a:pt x="106" y="3"/>
                    </a:lnTo>
                    <a:lnTo>
                      <a:pt x="82" y="10"/>
                    </a:lnTo>
                    <a:lnTo>
                      <a:pt x="62" y="20"/>
                    </a:lnTo>
                    <a:lnTo>
                      <a:pt x="41" y="38"/>
                    </a:lnTo>
                    <a:lnTo>
                      <a:pt x="24" y="58"/>
                    </a:lnTo>
                    <a:lnTo>
                      <a:pt x="10" y="79"/>
                    </a:lnTo>
                    <a:lnTo>
                      <a:pt x="3" y="107"/>
                    </a:lnTo>
                    <a:lnTo>
                      <a:pt x="0" y="134"/>
                    </a:lnTo>
                    <a:lnTo>
                      <a:pt x="3" y="158"/>
                    </a:lnTo>
                    <a:lnTo>
                      <a:pt x="10" y="186"/>
                    </a:lnTo>
                    <a:lnTo>
                      <a:pt x="24" y="206"/>
                    </a:lnTo>
                    <a:lnTo>
                      <a:pt x="41" y="227"/>
                    </a:lnTo>
                    <a:lnTo>
                      <a:pt x="62" y="244"/>
                    </a:lnTo>
                    <a:lnTo>
                      <a:pt x="82" y="255"/>
                    </a:lnTo>
                    <a:lnTo>
                      <a:pt x="106" y="265"/>
                    </a:lnTo>
                    <a:lnTo>
                      <a:pt x="134" y="265"/>
                    </a:lnTo>
                    <a:lnTo>
                      <a:pt x="161" y="265"/>
                    </a:lnTo>
                    <a:lnTo>
                      <a:pt x="186" y="255"/>
                    </a:lnTo>
                    <a:lnTo>
                      <a:pt x="210" y="244"/>
                    </a:lnTo>
                    <a:lnTo>
                      <a:pt x="230" y="227"/>
                    </a:lnTo>
                    <a:lnTo>
                      <a:pt x="247" y="206"/>
                    </a:lnTo>
                    <a:lnTo>
                      <a:pt x="258" y="186"/>
                    </a:lnTo>
                    <a:lnTo>
                      <a:pt x="265" y="158"/>
                    </a:lnTo>
                    <a:lnTo>
                      <a:pt x="268" y="134"/>
                    </a:lnTo>
                    <a:lnTo>
                      <a:pt x="265" y="107"/>
                    </a:lnTo>
                    <a:lnTo>
                      <a:pt x="258" y="79"/>
                    </a:lnTo>
                    <a:lnTo>
                      <a:pt x="247" y="58"/>
                    </a:lnTo>
                    <a:lnTo>
                      <a:pt x="230" y="38"/>
                    </a:lnTo>
                    <a:lnTo>
                      <a:pt x="210" y="20"/>
                    </a:lnTo>
                    <a:lnTo>
                      <a:pt x="186" y="10"/>
                    </a:lnTo>
                    <a:lnTo>
                      <a:pt x="161" y="3"/>
                    </a:lnTo>
                    <a:lnTo>
                      <a:pt x="134" y="0"/>
                    </a:lnTo>
                    <a:close/>
                  </a:path>
                </a:pathLst>
              </a:cu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63" name="Line 82"/>
              <p:cNvSpPr>
                <a:spLocks noChangeShapeType="1"/>
              </p:cNvSpPr>
              <p:nvPr/>
            </p:nvSpPr>
            <p:spPr bwMode="auto">
              <a:xfrm flipV="1">
                <a:off x="4982" y="2640"/>
                <a:ext cx="90" cy="90"/>
              </a:xfrm>
              <a:prstGeom prst="line">
                <a:avLst/>
              </a:prstGeom>
              <a:noFill/>
              <a:ln w="11113">
                <a:solidFill>
                  <a:srgbClr val="DC373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4" name="Line 83"/>
              <p:cNvSpPr>
                <a:spLocks noChangeShapeType="1"/>
              </p:cNvSpPr>
              <p:nvPr/>
            </p:nvSpPr>
            <p:spPr bwMode="auto">
              <a:xfrm flipV="1">
                <a:off x="5072" y="2613"/>
                <a:ext cx="27" cy="27"/>
              </a:xfrm>
              <a:prstGeom prst="line">
                <a:avLst/>
              </a:prstGeom>
              <a:noFill/>
              <a:ln w="11113">
                <a:solidFill>
                  <a:srgbClr val="DC373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5" name="Line 84"/>
              <p:cNvSpPr>
                <a:spLocks noChangeShapeType="1"/>
              </p:cNvSpPr>
              <p:nvPr/>
            </p:nvSpPr>
            <p:spPr bwMode="auto">
              <a:xfrm flipV="1">
                <a:off x="4985" y="2702"/>
                <a:ext cx="87" cy="86"/>
              </a:xfrm>
              <a:prstGeom prst="line">
                <a:avLst/>
              </a:prstGeom>
              <a:noFill/>
              <a:ln w="11113">
                <a:solidFill>
                  <a:srgbClr val="DC373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" name="Line 85"/>
              <p:cNvSpPr>
                <a:spLocks noChangeShapeType="1"/>
              </p:cNvSpPr>
              <p:nvPr/>
            </p:nvSpPr>
            <p:spPr bwMode="auto">
              <a:xfrm flipV="1">
                <a:off x="5072" y="2616"/>
                <a:ext cx="86" cy="86"/>
              </a:xfrm>
              <a:prstGeom prst="line">
                <a:avLst/>
              </a:prstGeom>
              <a:noFill/>
              <a:ln w="11113">
                <a:solidFill>
                  <a:srgbClr val="DC373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" name="Line 86"/>
              <p:cNvSpPr>
                <a:spLocks noChangeShapeType="1"/>
              </p:cNvSpPr>
              <p:nvPr/>
            </p:nvSpPr>
            <p:spPr bwMode="auto">
              <a:xfrm flipV="1">
                <a:off x="4590" y="3198"/>
                <a:ext cx="48" cy="45"/>
              </a:xfrm>
              <a:prstGeom prst="line">
                <a:avLst/>
              </a:prstGeom>
              <a:noFill/>
              <a:ln w="11113">
                <a:solidFill>
                  <a:srgbClr val="DC37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8" name="Line 87"/>
              <p:cNvSpPr>
                <a:spLocks noChangeShapeType="1"/>
              </p:cNvSpPr>
              <p:nvPr/>
            </p:nvSpPr>
            <p:spPr bwMode="auto">
              <a:xfrm flipV="1">
                <a:off x="5072" y="2637"/>
                <a:ext cx="127" cy="127"/>
              </a:xfrm>
              <a:prstGeom prst="line">
                <a:avLst/>
              </a:prstGeom>
              <a:noFill/>
              <a:ln w="11113">
                <a:solidFill>
                  <a:srgbClr val="DC373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9" name="Line 88"/>
              <p:cNvSpPr>
                <a:spLocks noChangeShapeType="1"/>
              </p:cNvSpPr>
              <p:nvPr/>
            </p:nvSpPr>
            <p:spPr bwMode="auto">
              <a:xfrm flipV="1">
                <a:off x="4638" y="3116"/>
                <a:ext cx="82" cy="82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0" name="Line 89"/>
              <p:cNvSpPr>
                <a:spLocks noChangeShapeType="1"/>
              </p:cNvSpPr>
              <p:nvPr/>
            </p:nvSpPr>
            <p:spPr bwMode="auto">
              <a:xfrm flipV="1">
                <a:off x="5006" y="2764"/>
                <a:ext cx="66" cy="66"/>
              </a:xfrm>
              <a:prstGeom prst="line">
                <a:avLst/>
              </a:prstGeom>
              <a:noFill/>
              <a:ln w="11113">
                <a:solidFill>
                  <a:srgbClr val="DC373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1" name="Line 90"/>
              <p:cNvSpPr>
                <a:spLocks noChangeShapeType="1"/>
              </p:cNvSpPr>
              <p:nvPr/>
            </p:nvSpPr>
            <p:spPr bwMode="auto">
              <a:xfrm flipV="1">
                <a:off x="4600" y="3260"/>
                <a:ext cx="34" cy="38"/>
              </a:xfrm>
              <a:prstGeom prst="line">
                <a:avLst/>
              </a:prstGeom>
              <a:noFill/>
              <a:ln w="11113">
                <a:solidFill>
                  <a:srgbClr val="DC37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2" name="Line 91"/>
              <p:cNvSpPr>
                <a:spLocks noChangeShapeType="1"/>
              </p:cNvSpPr>
              <p:nvPr/>
            </p:nvSpPr>
            <p:spPr bwMode="auto">
              <a:xfrm flipV="1">
                <a:off x="5209" y="2664"/>
                <a:ext cx="24" cy="25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3" name="Line 92"/>
              <p:cNvSpPr>
                <a:spLocks noChangeShapeType="1"/>
              </p:cNvSpPr>
              <p:nvPr/>
            </p:nvSpPr>
            <p:spPr bwMode="auto">
              <a:xfrm flipV="1">
                <a:off x="4634" y="3198"/>
                <a:ext cx="66" cy="62"/>
              </a:xfrm>
              <a:prstGeom prst="line">
                <a:avLst/>
              </a:prstGeom>
              <a:noFill/>
              <a:ln w="11113">
                <a:solidFill>
                  <a:srgbClr val="DC37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4" name="Line 93"/>
              <p:cNvSpPr>
                <a:spLocks noChangeShapeType="1"/>
              </p:cNvSpPr>
              <p:nvPr/>
            </p:nvSpPr>
            <p:spPr bwMode="auto">
              <a:xfrm flipV="1">
                <a:off x="5072" y="2689"/>
                <a:ext cx="137" cy="137"/>
              </a:xfrm>
              <a:prstGeom prst="line">
                <a:avLst/>
              </a:prstGeom>
              <a:noFill/>
              <a:ln w="11113">
                <a:solidFill>
                  <a:srgbClr val="DC373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5" name="Line 94"/>
              <p:cNvSpPr>
                <a:spLocks noChangeShapeType="1"/>
              </p:cNvSpPr>
              <p:nvPr/>
            </p:nvSpPr>
            <p:spPr bwMode="auto">
              <a:xfrm flipV="1">
                <a:off x="4700" y="3123"/>
                <a:ext cx="72" cy="75"/>
              </a:xfrm>
              <a:prstGeom prst="line">
                <a:avLst/>
              </a:prstGeom>
              <a:noFill/>
              <a:ln w="11113">
                <a:solidFill>
                  <a:srgbClr val="DC37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6" name="Line 95"/>
              <p:cNvSpPr>
                <a:spLocks noChangeShapeType="1"/>
              </p:cNvSpPr>
              <p:nvPr/>
            </p:nvSpPr>
            <p:spPr bwMode="auto">
              <a:xfrm flipV="1">
                <a:off x="5034" y="2826"/>
                <a:ext cx="38" cy="38"/>
              </a:xfrm>
              <a:prstGeom prst="line">
                <a:avLst/>
              </a:prstGeom>
              <a:noFill/>
              <a:ln w="11113">
                <a:solidFill>
                  <a:srgbClr val="DC373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7" name="Line 96"/>
              <p:cNvSpPr>
                <a:spLocks noChangeShapeType="1"/>
              </p:cNvSpPr>
              <p:nvPr/>
            </p:nvSpPr>
            <p:spPr bwMode="auto">
              <a:xfrm flipV="1">
                <a:off x="4624" y="3250"/>
                <a:ext cx="83" cy="86"/>
              </a:xfrm>
              <a:prstGeom prst="line">
                <a:avLst/>
              </a:prstGeom>
              <a:noFill/>
              <a:ln w="11113">
                <a:solidFill>
                  <a:srgbClr val="DC37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8" name="Line 97"/>
              <p:cNvSpPr>
                <a:spLocks noChangeShapeType="1"/>
              </p:cNvSpPr>
              <p:nvPr/>
            </p:nvSpPr>
            <p:spPr bwMode="auto">
              <a:xfrm flipV="1">
                <a:off x="5075" y="2706"/>
                <a:ext cx="179" cy="179"/>
              </a:xfrm>
              <a:prstGeom prst="line">
                <a:avLst/>
              </a:prstGeom>
              <a:noFill/>
              <a:ln w="11113">
                <a:solidFill>
                  <a:srgbClr val="DC373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9" name="Line 98"/>
              <p:cNvSpPr>
                <a:spLocks noChangeShapeType="1"/>
              </p:cNvSpPr>
              <p:nvPr/>
            </p:nvSpPr>
            <p:spPr bwMode="auto">
              <a:xfrm flipV="1">
                <a:off x="4707" y="3198"/>
                <a:ext cx="55" cy="52"/>
              </a:xfrm>
              <a:prstGeom prst="line">
                <a:avLst/>
              </a:prstGeom>
              <a:noFill/>
              <a:ln w="11113">
                <a:solidFill>
                  <a:srgbClr val="DC37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0" name="Line 99"/>
              <p:cNvSpPr>
                <a:spLocks noChangeShapeType="1"/>
              </p:cNvSpPr>
              <p:nvPr/>
            </p:nvSpPr>
            <p:spPr bwMode="auto">
              <a:xfrm flipV="1">
                <a:off x="4762" y="3147"/>
                <a:ext cx="51" cy="51"/>
              </a:xfrm>
              <a:prstGeom prst="line">
                <a:avLst/>
              </a:prstGeom>
              <a:noFill/>
              <a:ln w="11113">
                <a:solidFill>
                  <a:srgbClr val="DC37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1" name="Line 100"/>
              <p:cNvSpPr>
                <a:spLocks noChangeShapeType="1"/>
              </p:cNvSpPr>
              <p:nvPr/>
            </p:nvSpPr>
            <p:spPr bwMode="auto">
              <a:xfrm flipV="1">
                <a:off x="4655" y="3240"/>
                <a:ext cx="124" cy="124"/>
              </a:xfrm>
              <a:prstGeom prst="line">
                <a:avLst/>
              </a:prstGeom>
              <a:noFill/>
              <a:ln w="11113">
                <a:solidFill>
                  <a:srgbClr val="DC37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2" name="Line 101"/>
              <p:cNvSpPr>
                <a:spLocks noChangeShapeType="1"/>
              </p:cNvSpPr>
              <p:nvPr/>
            </p:nvSpPr>
            <p:spPr bwMode="auto">
              <a:xfrm flipV="1">
                <a:off x="5127" y="2757"/>
                <a:ext cx="134" cy="138"/>
              </a:xfrm>
              <a:prstGeom prst="line">
                <a:avLst/>
              </a:prstGeom>
              <a:noFill/>
              <a:ln w="11113">
                <a:solidFill>
                  <a:srgbClr val="DC373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" name="Line 102"/>
              <p:cNvSpPr>
                <a:spLocks noChangeShapeType="1"/>
              </p:cNvSpPr>
              <p:nvPr/>
            </p:nvSpPr>
            <p:spPr bwMode="auto">
              <a:xfrm flipV="1">
                <a:off x="4779" y="3198"/>
                <a:ext cx="45" cy="42"/>
              </a:xfrm>
              <a:prstGeom prst="line">
                <a:avLst/>
              </a:prstGeom>
              <a:noFill/>
              <a:ln w="11113">
                <a:solidFill>
                  <a:srgbClr val="DC37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" name="Line 103"/>
              <p:cNvSpPr>
                <a:spLocks noChangeShapeType="1"/>
              </p:cNvSpPr>
              <p:nvPr/>
            </p:nvSpPr>
            <p:spPr bwMode="auto">
              <a:xfrm flipV="1">
                <a:off x="4824" y="3181"/>
                <a:ext cx="17" cy="17"/>
              </a:xfrm>
              <a:prstGeom prst="line">
                <a:avLst/>
              </a:prstGeom>
              <a:noFill/>
              <a:ln w="11113">
                <a:solidFill>
                  <a:srgbClr val="DC37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5" name="Line 104"/>
              <p:cNvSpPr>
                <a:spLocks noChangeShapeType="1"/>
              </p:cNvSpPr>
              <p:nvPr/>
            </p:nvSpPr>
            <p:spPr bwMode="auto">
              <a:xfrm flipV="1">
                <a:off x="4703" y="3229"/>
                <a:ext cx="148" cy="152"/>
              </a:xfrm>
              <a:prstGeom prst="line">
                <a:avLst/>
              </a:prstGeom>
              <a:noFill/>
              <a:ln w="11113">
                <a:solidFill>
                  <a:srgbClr val="DC37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6" name="Line 105"/>
              <p:cNvSpPr>
                <a:spLocks noChangeShapeType="1"/>
              </p:cNvSpPr>
              <p:nvPr/>
            </p:nvSpPr>
            <p:spPr bwMode="auto">
              <a:xfrm flipV="1">
                <a:off x="4851" y="3226"/>
                <a:ext cx="7" cy="3"/>
              </a:xfrm>
              <a:prstGeom prst="line">
                <a:avLst/>
              </a:prstGeom>
              <a:noFill/>
              <a:ln w="11113">
                <a:solidFill>
                  <a:srgbClr val="DC37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7" name="Line 106"/>
              <p:cNvSpPr>
                <a:spLocks noChangeShapeType="1"/>
              </p:cNvSpPr>
              <p:nvPr/>
            </p:nvSpPr>
            <p:spPr bwMode="auto">
              <a:xfrm flipV="1">
                <a:off x="4776" y="3291"/>
                <a:ext cx="75" cy="80"/>
              </a:xfrm>
              <a:prstGeom prst="line">
                <a:avLst/>
              </a:prstGeom>
              <a:noFill/>
              <a:ln w="11113">
                <a:solidFill>
                  <a:srgbClr val="DC37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8" name="Line 107"/>
              <p:cNvSpPr>
                <a:spLocks noChangeShapeType="1"/>
              </p:cNvSpPr>
              <p:nvPr/>
            </p:nvSpPr>
            <p:spPr bwMode="auto">
              <a:xfrm flipV="1">
                <a:off x="4972" y="3471"/>
                <a:ext cx="7" cy="6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9" name="Line 108"/>
              <p:cNvSpPr>
                <a:spLocks noChangeShapeType="1"/>
              </p:cNvSpPr>
              <p:nvPr/>
            </p:nvSpPr>
            <p:spPr bwMode="auto">
              <a:xfrm flipV="1">
                <a:off x="5347" y="3088"/>
                <a:ext cx="17" cy="17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0" name="Line 109"/>
              <p:cNvSpPr>
                <a:spLocks noChangeShapeType="1"/>
              </p:cNvSpPr>
              <p:nvPr/>
            </p:nvSpPr>
            <p:spPr bwMode="auto">
              <a:xfrm flipV="1">
                <a:off x="4979" y="3422"/>
                <a:ext cx="51" cy="49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1" name="Line 110"/>
              <p:cNvSpPr>
                <a:spLocks noChangeShapeType="1"/>
              </p:cNvSpPr>
              <p:nvPr/>
            </p:nvSpPr>
            <p:spPr bwMode="auto">
              <a:xfrm flipV="1">
                <a:off x="5292" y="3105"/>
                <a:ext cx="55" cy="56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2" name="Line 111"/>
              <p:cNvSpPr>
                <a:spLocks noChangeShapeType="1"/>
              </p:cNvSpPr>
              <p:nvPr/>
            </p:nvSpPr>
            <p:spPr bwMode="auto">
              <a:xfrm flipV="1">
                <a:off x="4979" y="3484"/>
                <a:ext cx="51" cy="52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3" name="Line 112"/>
              <p:cNvSpPr>
                <a:spLocks noChangeShapeType="1"/>
              </p:cNvSpPr>
              <p:nvPr/>
            </p:nvSpPr>
            <p:spPr bwMode="auto">
              <a:xfrm flipV="1">
                <a:off x="5357" y="3095"/>
                <a:ext cx="62" cy="62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" name="Line 113"/>
              <p:cNvSpPr>
                <a:spLocks noChangeShapeType="1"/>
              </p:cNvSpPr>
              <p:nvPr/>
            </p:nvSpPr>
            <p:spPr bwMode="auto">
              <a:xfrm flipV="1">
                <a:off x="5030" y="3443"/>
                <a:ext cx="42" cy="41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5" name="Line 114"/>
              <p:cNvSpPr>
                <a:spLocks noChangeShapeType="1"/>
              </p:cNvSpPr>
              <p:nvPr/>
            </p:nvSpPr>
            <p:spPr bwMode="auto">
              <a:xfrm flipV="1">
                <a:off x="5316" y="3157"/>
                <a:ext cx="41" cy="41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6" name="Line 115"/>
              <p:cNvSpPr>
                <a:spLocks noChangeShapeType="1"/>
              </p:cNvSpPr>
              <p:nvPr/>
            </p:nvSpPr>
            <p:spPr bwMode="auto">
              <a:xfrm flipV="1">
                <a:off x="5072" y="3415"/>
                <a:ext cx="27" cy="28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7" name="Line 116"/>
              <p:cNvSpPr>
                <a:spLocks noChangeShapeType="1"/>
              </p:cNvSpPr>
              <p:nvPr/>
            </p:nvSpPr>
            <p:spPr bwMode="auto">
              <a:xfrm flipV="1">
                <a:off x="5288" y="3198"/>
                <a:ext cx="28" cy="28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" name="Line 117"/>
              <p:cNvSpPr>
                <a:spLocks noChangeShapeType="1"/>
              </p:cNvSpPr>
              <p:nvPr/>
            </p:nvSpPr>
            <p:spPr bwMode="auto">
              <a:xfrm flipV="1">
                <a:off x="4985" y="3505"/>
                <a:ext cx="87" cy="86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9" name="Line 118"/>
              <p:cNvSpPr>
                <a:spLocks noChangeShapeType="1"/>
              </p:cNvSpPr>
              <p:nvPr/>
            </p:nvSpPr>
            <p:spPr bwMode="auto">
              <a:xfrm flipV="1">
                <a:off x="5378" y="3102"/>
                <a:ext cx="93" cy="96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0" name="Line 119"/>
              <p:cNvSpPr>
                <a:spLocks noChangeShapeType="1"/>
              </p:cNvSpPr>
              <p:nvPr/>
            </p:nvSpPr>
            <p:spPr bwMode="auto">
              <a:xfrm flipV="1">
                <a:off x="5361" y="3198"/>
                <a:ext cx="17" cy="18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1" name="Line 120"/>
              <p:cNvSpPr>
                <a:spLocks noChangeShapeType="1"/>
              </p:cNvSpPr>
              <p:nvPr/>
            </p:nvSpPr>
            <p:spPr bwMode="auto">
              <a:xfrm flipV="1">
                <a:off x="5089" y="3436"/>
                <a:ext cx="48" cy="52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2" name="Line 121"/>
              <p:cNvSpPr>
                <a:spLocks noChangeShapeType="1"/>
              </p:cNvSpPr>
              <p:nvPr/>
            </p:nvSpPr>
            <p:spPr bwMode="auto">
              <a:xfrm flipV="1">
                <a:off x="5309" y="3216"/>
                <a:ext cx="52" cy="51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3" name="Line 122"/>
              <p:cNvSpPr>
                <a:spLocks noChangeShapeType="1"/>
              </p:cNvSpPr>
              <p:nvPr/>
            </p:nvSpPr>
            <p:spPr bwMode="auto">
              <a:xfrm flipV="1">
                <a:off x="4992" y="3567"/>
                <a:ext cx="80" cy="76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4" name="Line 123"/>
              <p:cNvSpPr>
                <a:spLocks noChangeShapeType="1"/>
              </p:cNvSpPr>
              <p:nvPr/>
            </p:nvSpPr>
            <p:spPr bwMode="auto">
              <a:xfrm flipV="1">
                <a:off x="5440" y="3112"/>
                <a:ext cx="86" cy="86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5" name="Line 124"/>
              <p:cNvSpPr>
                <a:spLocks noChangeShapeType="1"/>
              </p:cNvSpPr>
              <p:nvPr/>
            </p:nvSpPr>
            <p:spPr bwMode="auto">
              <a:xfrm flipV="1">
                <a:off x="5072" y="3471"/>
                <a:ext cx="92" cy="96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6" name="Line 125"/>
              <p:cNvSpPr>
                <a:spLocks noChangeShapeType="1"/>
              </p:cNvSpPr>
              <p:nvPr/>
            </p:nvSpPr>
            <p:spPr bwMode="auto">
              <a:xfrm flipV="1">
                <a:off x="5343" y="3198"/>
                <a:ext cx="97" cy="97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7" name="Line 126"/>
              <p:cNvSpPr>
                <a:spLocks noChangeShapeType="1"/>
              </p:cNvSpPr>
              <p:nvPr/>
            </p:nvSpPr>
            <p:spPr bwMode="auto">
              <a:xfrm flipV="1">
                <a:off x="5340" y="3295"/>
                <a:ext cx="3" cy="3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8" name="Line 127"/>
              <p:cNvSpPr>
                <a:spLocks noChangeShapeType="1"/>
              </p:cNvSpPr>
              <p:nvPr/>
            </p:nvSpPr>
            <p:spPr bwMode="auto">
              <a:xfrm flipV="1">
                <a:off x="5003" y="3629"/>
                <a:ext cx="69" cy="69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9" name="Line 128"/>
              <p:cNvSpPr>
                <a:spLocks noChangeShapeType="1"/>
              </p:cNvSpPr>
              <p:nvPr/>
            </p:nvSpPr>
            <p:spPr bwMode="auto">
              <a:xfrm flipV="1">
                <a:off x="5502" y="3119"/>
                <a:ext cx="79" cy="79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0" name="Line 129"/>
              <p:cNvSpPr>
                <a:spLocks noChangeShapeType="1"/>
              </p:cNvSpPr>
              <p:nvPr/>
            </p:nvSpPr>
            <p:spPr bwMode="auto">
              <a:xfrm flipV="1">
                <a:off x="5072" y="3533"/>
                <a:ext cx="92" cy="96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1" name="Line 130"/>
              <p:cNvSpPr>
                <a:spLocks noChangeShapeType="1"/>
              </p:cNvSpPr>
              <p:nvPr/>
            </p:nvSpPr>
            <p:spPr bwMode="auto">
              <a:xfrm flipV="1">
                <a:off x="5395" y="3198"/>
                <a:ext cx="107" cy="107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2" name="Line 131"/>
              <p:cNvSpPr>
                <a:spLocks noChangeShapeType="1"/>
              </p:cNvSpPr>
              <p:nvPr/>
            </p:nvSpPr>
            <p:spPr bwMode="auto">
              <a:xfrm flipV="1">
                <a:off x="5010" y="3746"/>
                <a:ext cx="6" cy="4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3" name="Line 132"/>
              <p:cNvSpPr>
                <a:spLocks noChangeShapeType="1"/>
              </p:cNvSpPr>
              <p:nvPr/>
            </p:nvSpPr>
            <p:spPr bwMode="auto">
              <a:xfrm flipV="1">
                <a:off x="5622" y="3130"/>
                <a:ext cx="10" cy="10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4" name="Line 133"/>
              <p:cNvSpPr>
                <a:spLocks noChangeShapeType="1"/>
              </p:cNvSpPr>
              <p:nvPr/>
            </p:nvSpPr>
            <p:spPr bwMode="auto">
              <a:xfrm flipV="1">
                <a:off x="5016" y="3691"/>
                <a:ext cx="56" cy="55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5" name="Line 134"/>
              <p:cNvSpPr>
                <a:spLocks noChangeShapeType="1"/>
              </p:cNvSpPr>
              <p:nvPr/>
            </p:nvSpPr>
            <p:spPr bwMode="auto">
              <a:xfrm flipV="1">
                <a:off x="5564" y="3140"/>
                <a:ext cx="58" cy="58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6" name="Line 135"/>
              <p:cNvSpPr>
                <a:spLocks noChangeShapeType="1"/>
              </p:cNvSpPr>
              <p:nvPr/>
            </p:nvSpPr>
            <p:spPr bwMode="auto">
              <a:xfrm flipV="1">
                <a:off x="5072" y="3608"/>
                <a:ext cx="82" cy="83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7" name="Line 136"/>
              <p:cNvSpPr>
                <a:spLocks noChangeShapeType="1"/>
              </p:cNvSpPr>
              <p:nvPr/>
            </p:nvSpPr>
            <p:spPr bwMode="auto">
              <a:xfrm flipV="1">
                <a:off x="5467" y="3198"/>
                <a:ext cx="97" cy="97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8" name="Line 137"/>
              <p:cNvSpPr>
                <a:spLocks noChangeShapeType="1"/>
              </p:cNvSpPr>
              <p:nvPr/>
            </p:nvSpPr>
            <p:spPr bwMode="auto">
              <a:xfrm flipV="1">
                <a:off x="5034" y="3750"/>
                <a:ext cx="38" cy="38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9" name="Line 138"/>
              <p:cNvSpPr>
                <a:spLocks noChangeShapeType="1"/>
              </p:cNvSpPr>
              <p:nvPr/>
            </p:nvSpPr>
            <p:spPr bwMode="auto">
              <a:xfrm flipV="1">
                <a:off x="5626" y="3157"/>
                <a:ext cx="37" cy="38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20" name="Group 139"/>
              <p:cNvGrpSpPr>
                <a:grpSpLocks/>
              </p:cNvGrpSpPr>
              <p:nvPr/>
            </p:nvGrpSpPr>
            <p:grpSpPr bwMode="auto">
              <a:xfrm>
                <a:off x="5068" y="1855"/>
                <a:ext cx="21" cy="1984"/>
                <a:chOff x="4955" y="1159"/>
                <a:chExt cx="21" cy="1984"/>
              </a:xfrm>
            </p:grpSpPr>
            <p:sp>
              <p:nvSpPr>
                <p:cNvPr id="333" name="Freeform 140"/>
                <p:cNvSpPr>
                  <a:spLocks noChangeArrowheads="1"/>
                </p:cNvSpPr>
                <p:nvPr/>
              </p:nvSpPr>
              <p:spPr bwMode="auto">
                <a:xfrm>
                  <a:off x="4955" y="2082"/>
                  <a:ext cx="17" cy="14"/>
                </a:xfrm>
                <a:custGeom>
                  <a:avLst/>
                  <a:gdLst>
                    <a:gd name="T0" fmla="*/ 14 w 17"/>
                    <a:gd name="T1" fmla="*/ 0 h 14"/>
                    <a:gd name="T2" fmla="*/ 17 w 17"/>
                    <a:gd name="T3" fmla="*/ 7 h 14"/>
                    <a:gd name="T4" fmla="*/ 7 w 17"/>
                    <a:gd name="T5" fmla="*/ 14 h 14"/>
                    <a:gd name="T6" fmla="*/ 0 w 17"/>
                    <a:gd name="T7" fmla="*/ 10 h 14"/>
                    <a:gd name="T8" fmla="*/ 14 w 1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" h="14">
                      <a:moveTo>
                        <a:pt x="14" y="0"/>
                      </a:moveTo>
                      <a:lnTo>
                        <a:pt x="17" y="7"/>
                      </a:lnTo>
                      <a:lnTo>
                        <a:pt x="7" y="14"/>
                      </a:lnTo>
                      <a:lnTo>
                        <a:pt x="0" y="1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34" name="Rectangle 141"/>
                <p:cNvSpPr>
                  <a:spLocks noChangeArrowheads="1"/>
                </p:cNvSpPr>
                <p:nvPr/>
              </p:nvSpPr>
              <p:spPr bwMode="auto">
                <a:xfrm>
                  <a:off x="4955" y="1159"/>
                  <a:ext cx="7" cy="144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35" name="Rectangle 142"/>
                <p:cNvSpPr>
                  <a:spLocks noChangeArrowheads="1"/>
                </p:cNvSpPr>
                <p:nvPr/>
              </p:nvSpPr>
              <p:spPr bwMode="auto">
                <a:xfrm>
                  <a:off x="4955" y="1317"/>
                  <a:ext cx="7" cy="14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36" name="Rectangle 143"/>
                <p:cNvSpPr>
                  <a:spLocks noChangeArrowheads="1"/>
                </p:cNvSpPr>
                <p:nvPr/>
              </p:nvSpPr>
              <p:spPr bwMode="auto">
                <a:xfrm>
                  <a:off x="4955" y="1348"/>
                  <a:ext cx="7" cy="142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37" name="Rectangle 144"/>
                <p:cNvSpPr>
                  <a:spLocks noChangeArrowheads="1"/>
                </p:cNvSpPr>
                <p:nvPr/>
              </p:nvSpPr>
              <p:spPr bwMode="auto">
                <a:xfrm>
                  <a:off x="4955" y="1503"/>
                  <a:ext cx="7" cy="14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38" name="Rectangle 145"/>
                <p:cNvSpPr>
                  <a:spLocks noChangeArrowheads="1"/>
                </p:cNvSpPr>
                <p:nvPr/>
              </p:nvSpPr>
              <p:spPr bwMode="auto">
                <a:xfrm>
                  <a:off x="4955" y="1534"/>
                  <a:ext cx="7" cy="142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39" name="Rectangle 146"/>
                <p:cNvSpPr>
                  <a:spLocks noChangeArrowheads="1"/>
                </p:cNvSpPr>
                <p:nvPr/>
              </p:nvSpPr>
              <p:spPr bwMode="auto">
                <a:xfrm>
                  <a:off x="4955" y="1689"/>
                  <a:ext cx="7" cy="14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40" name="Rectangle 147"/>
                <p:cNvSpPr>
                  <a:spLocks noChangeArrowheads="1"/>
                </p:cNvSpPr>
                <p:nvPr/>
              </p:nvSpPr>
              <p:spPr bwMode="auto">
                <a:xfrm>
                  <a:off x="4955" y="1720"/>
                  <a:ext cx="7" cy="142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41" name="Rectangle 148"/>
                <p:cNvSpPr>
                  <a:spLocks noChangeArrowheads="1"/>
                </p:cNvSpPr>
                <p:nvPr/>
              </p:nvSpPr>
              <p:spPr bwMode="auto">
                <a:xfrm>
                  <a:off x="4955" y="1875"/>
                  <a:ext cx="7" cy="14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42" name="Rectangle 149"/>
                <p:cNvSpPr>
                  <a:spLocks noChangeArrowheads="1"/>
                </p:cNvSpPr>
                <p:nvPr/>
              </p:nvSpPr>
              <p:spPr bwMode="auto">
                <a:xfrm>
                  <a:off x="4955" y="1906"/>
                  <a:ext cx="7" cy="142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43" name="Rectangle 150"/>
                <p:cNvSpPr>
                  <a:spLocks noChangeArrowheads="1"/>
                </p:cNvSpPr>
                <p:nvPr/>
              </p:nvSpPr>
              <p:spPr bwMode="auto">
                <a:xfrm>
                  <a:off x="4955" y="2061"/>
                  <a:ext cx="7" cy="14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44" name="Rectangle 151"/>
                <p:cNvSpPr>
                  <a:spLocks noChangeArrowheads="1"/>
                </p:cNvSpPr>
                <p:nvPr/>
              </p:nvSpPr>
              <p:spPr bwMode="auto">
                <a:xfrm>
                  <a:off x="4955" y="2092"/>
                  <a:ext cx="7" cy="142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45" name="Rectangle 152"/>
                <p:cNvSpPr>
                  <a:spLocks noChangeArrowheads="1"/>
                </p:cNvSpPr>
                <p:nvPr/>
              </p:nvSpPr>
              <p:spPr bwMode="auto">
                <a:xfrm>
                  <a:off x="4955" y="2247"/>
                  <a:ext cx="7" cy="14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46" name="Rectangle 153"/>
                <p:cNvSpPr>
                  <a:spLocks noChangeArrowheads="1"/>
                </p:cNvSpPr>
                <p:nvPr/>
              </p:nvSpPr>
              <p:spPr bwMode="auto">
                <a:xfrm>
                  <a:off x="4955" y="2278"/>
                  <a:ext cx="7" cy="142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47" name="Rectangle 154"/>
                <p:cNvSpPr>
                  <a:spLocks noChangeArrowheads="1"/>
                </p:cNvSpPr>
                <p:nvPr/>
              </p:nvSpPr>
              <p:spPr bwMode="auto">
                <a:xfrm>
                  <a:off x="4955" y="2434"/>
                  <a:ext cx="7" cy="1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48" name="Rectangle 155"/>
                <p:cNvSpPr>
                  <a:spLocks noChangeArrowheads="1"/>
                </p:cNvSpPr>
                <p:nvPr/>
              </p:nvSpPr>
              <p:spPr bwMode="auto">
                <a:xfrm>
                  <a:off x="4955" y="2465"/>
                  <a:ext cx="7" cy="141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49" name="Rectangle 156"/>
                <p:cNvSpPr>
                  <a:spLocks noChangeArrowheads="1"/>
                </p:cNvSpPr>
                <p:nvPr/>
              </p:nvSpPr>
              <p:spPr bwMode="auto">
                <a:xfrm>
                  <a:off x="4955" y="2620"/>
                  <a:ext cx="7" cy="1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50" name="Rectangle 157"/>
                <p:cNvSpPr>
                  <a:spLocks noChangeArrowheads="1"/>
                </p:cNvSpPr>
                <p:nvPr/>
              </p:nvSpPr>
              <p:spPr bwMode="auto">
                <a:xfrm>
                  <a:off x="4955" y="2651"/>
                  <a:ext cx="7" cy="141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51" name="Rectangle 158"/>
                <p:cNvSpPr>
                  <a:spLocks noChangeArrowheads="1"/>
                </p:cNvSpPr>
                <p:nvPr/>
              </p:nvSpPr>
              <p:spPr bwMode="auto">
                <a:xfrm>
                  <a:off x="4955" y="2806"/>
                  <a:ext cx="7" cy="1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52" name="Rectangle 159"/>
                <p:cNvSpPr>
                  <a:spLocks noChangeArrowheads="1"/>
                </p:cNvSpPr>
                <p:nvPr/>
              </p:nvSpPr>
              <p:spPr bwMode="auto">
                <a:xfrm>
                  <a:off x="4955" y="2837"/>
                  <a:ext cx="7" cy="141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53" name="Rectangle 160"/>
                <p:cNvSpPr>
                  <a:spLocks noChangeArrowheads="1"/>
                </p:cNvSpPr>
                <p:nvPr/>
              </p:nvSpPr>
              <p:spPr bwMode="auto">
                <a:xfrm>
                  <a:off x="4955" y="2992"/>
                  <a:ext cx="7" cy="1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54" name="Rectangle 161"/>
                <p:cNvSpPr>
                  <a:spLocks noChangeArrowheads="1"/>
                </p:cNvSpPr>
                <p:nvPr/>
              </p:nvSpPr>
              <p:spPr bwMode="auto">
                <a:xfrm>
                  <a:off x="4955" y="3023"/>
                  <a:ext cx="7" cy="120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55" name="Line 162"/>
                <p:cNvSpPr>
                  <a:spLocks noChangeShapeType="1"/>
                </p:cNvSpPr>
                <p:nvPr/>
              </p:nvSpPr>
              <p:spPr bwMode="auto">
                <a:xfrm flipV="1">
                  <a:off x="4959" y="2792"/>
                  <a:ext cx="17" cy="17"/>
                </a:xfrm>
                <a:prstGeom prst="lin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6" name="Line 163"/>
                <p:cNvSpPr>
                  <a:spLocks noChangeShapeType="1"/>
                </p:cNvSpPr>
                <p:nvPr/>
              </p:nvSpPr>
              <p:spPr bwMode="auto">
                <a:xfrm>
                  <a:off x="4959" y="3054"/>
                  <a:ext cx="1" cy="1"/>
                </a:xfrm>
                <a:prstGeom prst="lin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21" name="Line 164"/>
              <p:cNvSpPr>
                <a:spLocks noChangeShapeType="1"/>
              </p:cNvSpPr>
              <p:nvPr/>
            </p:nvSpPr>
            <p:spPr bwMode="auto">
              <a:xfrm flipV="1">
                <a:off x="5626" y="3195"/>
                <a:ext cx="1" cy="3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2" name="Line 165"/>
              <p:cNvSpPr>
                <a:spLocks noChangeShapeType="1"/>
              </p:cNvSpPr>
              <p:nvPr/>
            </p:nvSpPr>
            <p:spPr bwMode="auto">
              <a:xfrm flipV="1">
                <a:off x="5072" y="3681"/>
                <a:ext cx="72" cy="69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3" name="Line 166"/>
              <p:cNvSpPr>
                <a:spLocks noChangeShapeType="1"/>
              </p:cNvSpPr>
              <p:nvPr/>
            </p:nvSpPr>
            <p:spPr bwMode="auto">
              <a:xfrm flipV="1">
                <a:off x="5540" y="3198"/>
                <a:ext cx="86" cy="83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4" name="Line 167"/>
              <p:cNvSpPr>
                <a:spLocks noChangeShapeType="1"/>
              </p:cNvSpPr>
              <p:nvPr/>
            </p:nvSpPr>
            <p:spPr bwMode="auto">
              <a:xfrm flipV="1">
                <a:off x="5085" y="3753"/>
                <a:ext cx="45" cy="45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5" name="Line 168"/>
              <p:cNvSpPr>
                <a:spLocks noChangeShapeType="1"/>
              </p:cNvSpPr>
              <p:nvPr/>
            </p:nvSpPr>
            <p:spPr bwMode="auto">
              <a:xfrm flipV="1">
                <a:off x="5622" y="3205"/>
                <a:ext cx="55" cy="55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6" name="Line 169"/>
              <p:cNvSpPr>
                <a:spLocks noChangeShapeType="1"/>
              </p:cNvSpPr>
              <p:nvPr/>
            </p:nvSpPr>
            <p:spPr bwMode="auto">
              <a:xfrm flipV="1">
                <a:off x="5612" y="3260"/>
                <a:ext cx="10" cy="11"/>
              </a:xfrm>
              <a:prstGeom prst="line">
                <a:avLst/>
              </a:prstGeom>
              <a:noFill/>
              <a:ln w="11113">
                <a:solidFill>
                  <a:srgbClr val="DC37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7" name="Freeform 170"/>
              <p:cNvSpPr>
                <a:spLocks noChangeArrowheads="1"/>
              </p:cNvSpPr>
              <p:nvPr/>
            </p:nvSpPr>
            <p:spPr bwMode="auto">
              <a:xfrm>
                <a:off x="4772" y="3219"/>
                <a:ext cx="141" cy="28"/>
              </a:xfrm>
              <a:custGeom>
                <a:avLst/>
                <a:gdLst>
                  <a:gd name="T0" fmla="*/ 0 w 141"/>
                  <a:gd name="T1" fmla="*/ 28 h 28"/>
                  <a:gd name="T2" fmla="*/ 0 w 141"/>
                  <a:gd name="T3" fmla="*/ 21 h 28"/>
                  <a:gd name="T4" fmla="*/ 141 w 141"/>
                  <a:gd name="T5" fmla="*/ 0 h 28"/>
                  <a:gd name="T6" fmla="*/ 141 w 141"/>
                  <a:gd name="T7" fmla="*/ 7 h 28"/>
                  <a:gd name="T8" fmla="*/ 0 w 141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28">
                    <a:moveTo>
                      <a:pt x="0" y="28"/>
                    </a:moveTo>
                    <a:lnTo>
                      <a:pt x="0" y="21"/>
                    </a:lnTo>
                    <a:lnTo>
                      <a:pt x="141" y="0"/>
                    </a:lnTo>
                    <a:lnTo>
                      <a:pt x="141" y="7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CB5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8" name="Freeform 171"/>
              <p:cNvSpPr>
                <a:spLocks noChangeArrowheads="1"/>
              </p:cNvSpPr>
              <p:nvPr/>
            </p:nvSpPr>
            <p:spPr bwMode="auto">
              <a:xfrm>
                <a:off x="4741" y="3240"/>
                <a:ext cx="17" cy="10"/>
              </a:xfrm>
              <a:custGeom>
                <a:avLst/>
                <a:gdLst>
                  <a:gd name="T0" fmla="*/ 4 w 17"/>
                  <a:gd name="T1" fmla="*/ 10 h 10"/>
                  <a:gd name="T2" fmla="*/ 0 w 17"/>
                  <a:gd name="T3" fmla="*/ 3 h 10"/>
                  <a:gd name="T4" fmla="*/ 17 w 17"/>
                  <a:gd name="T5" fmla="*/ 0 h 10"/>
                  <a:gd name="T6" fmla="*/ 17 w 17"/>
                  <a:gd name="T7" fmla="*/ 7 h 10"/>
                  <a:gd name="T8" fmla="*/ 4 w 1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0">
                    <a:moveTo>
                      <a:pt x="4" y="10"/>
                    </a:moveTo>
                    <a:lnTo>
                      <a:pt x="0" y="3"/>
                    </a:lnTo>
                    <a:lnTo>
                      <a:pt x="17" y="0"/>
                    </a:lnTo>
                    <a:lnTo>
                      <a:pt x="17" y="7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CB5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29" name="Freeform 172"/>
              <p:cNvSpPr>
                <a:spLocks noChangeArrowheads="1"/>
              </p:cNvSpPr>
              <p:nvPr/>
            </p:nvSpPr>
            <p:spPr bwMode="auto">
              <a:xfrm>
                <a:off x="4586" y="3243"/>
                <a:ext cx="145" cy="28"/>
              </a:xfrm>
              <a:custGeom>
                <a:avLst/>
                <a:gdLst>
                  <a:gd name="T0" fmla="*/ 0 w 145"/>
                  <a:gd name="T1" fmla="*/ 28 h 28"/>
                  <a:gd name="T2" fmla="*/ 0 w 145"/>
                  <a:gd name="T3" fmla="*/ 21 h 28"/>
                  <a:gd name="T4" fmla="*/ 141 w 145"/>
                  <a:gd name="T5" fmla="*/ 0 h 28"/>
                  <a:gd name="T6" fmla="*/ 145 w 145"/>
                  <a:gd name="T7" fmla="*/ 7 h 28"/>
                  <a:gd name="T8" fmla="*/ 0 w 145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5" h="28">
                    <a:moveTo>
                      <a:pt x="0" y="28"/>
                    </a:moveTo>
                    <a:lnTo>
                      <a:pt x="0" y="21"/>
                    </a:lnTo>
                    <a:lnTo>
                      <a:pt x="141" y="0"/>
                    </a:lnTo>
                    <a:lnTo>
                      <a:pt x="145" y="7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CB5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0" name="Freeform 173"/>
              <p:cNvSpPr>
                <a:spLocks noChangeArrowheads="1"/>
              </p:cNvSpPr>
              <p:nvPr/>
            </p:nvSpPr>
            <p:spPr bwMode="auto">
              <a:xfrm>
                <a:off x="4559" y="3267"/>
                <a:ext cx="14" cy="11"/>
              </a:xfrm>
              <a:custGeom>
                <a:avLst/>
                <a:gdLst>
                  <a:gd name="T0" fmla="*/ 0 w 14"/>
                  <a:gd name="T1" fmla="*/ 11 h 11"/>
                  <a:gd name="T2" fmla="*/ 0 w 14"/>
                  <a:gd name="T3" fmla="*/ 4 h 11"/>
                  <a:gd name="T4" fmla="*/ 14 w 14"/>
                  <a:gd name="T5" fmla="*/ 0 h 11"/>
                  <a:gd name="T6" fmla="*/ 14 w 14"/>
                  <a:gd name="T7" fmla="*/ 7 h 11"/>
                  <a:gd name="T8" fmla="*/ 0 w 14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0" y="11"/>
                    </a:moveTo>
                    <a:lnTo>
                      <a:pt x="0" y="4"/>
                    </a:lnTo>
                    <a:lnTo>
                      <a:pt x="14" y="0"/>
                    </a:lnTo>
                    <a:lnTo>
                      <a:pt x="14" y="7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CB5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1" name="Rectangle 174"/>
              <p:cNvSpPr>
                <a:spLocks noChangeArrowheads="1"/>
              </p:cNvSpPr>
              <p:nvPr/>
            </p:nvSpPr>
            <p:spPr bwMode="auto">
              <a:xfrm>
                <a:off x="4982" y="2237"/>
                <a:ext cx="21" cy="38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32" name="Rectangle 175"/>
              <p:cNvSpPr>
                <a:spLocks noChangeArrowheads="1"/>
              </p:cNvSpPr>
              <p:nvPr/>
            </p:nvSpPr>
            <p:spPr bwMode="auto">
              <a:xfrm>
                <a:off x="5140" y="2234"/>
                <a:ext cx="21" cy="4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6" name="Group 176"/>
            <p:cNvGrpSpPr>
              <a:grpSpLocks/>
            </p:cNvGrpSpPr>
            <p:nvPr/>
          </p:nvGrpSpPr>
          <p:grpSpPr bwMode="auto">
            <a:xfrm>
              <a:off x="4073" y="1840"/>
              <a:ext cx="1197" cy="1823"/>
              <a:chOff x="2601" y="1858"/>
              <a:chExt cx="1197" cy="1823"/>
            </a:xfrm>
          </p:grpSpPr>
          <p:sp>
            <p:nvSpPr>
              <p:cNvPr id="155" name="Freeform 177"/>
              <p:cNvSpPr>
                <a:spLocks noChangeArrowheads="1"/>
              </p:cNvSpPr>
              <p:nvPr/>
            </p:nvSpPr>
            <p:spPr bwMode="auto">
              <a:xfrm>
                <a:off x="2625" y="2134"/>
                <a:ext cx="27" cy="537"/>
              </a:xfrm>
              <a:custGeom>
                <a:avLst/>
                <a:gdLst>
                  <a:gd name="T0" fmla="*/ 3 w 27"/>
                  <a:gd name="T1" fmla="*/ 7 h 537"/>
                  <a:gd name="T2" fmla="*/ 3 w 27"/>
                  <a:gd name="T3" fmla="*/ 17 h 537"/>
                  <a:gd name="T4" fmla="*/ 7 w 27"/>
                  <a:gd name="T5" fmla="*/ 27 h 537"/>
                  <a:gd name="T6" fmla="*/ 10 w 27"/>
                  <a:gd name="T7" fmla="*/ 34 h 537"/>
                  <a:gd name="T8" fmla="*/ 10 w 27"/>
                  <a:gd name="T9" fmla="*/ 45 h 537"/>
                  <a:gd name="T10" fmla="*/ 13 w 27"/>
                  <a:gd name="T11" fmla="*/ 55 h 537"/>
                  <a:gd name="T12" fmla="*/ 17 w 27"/>
                  <a:gd name="T13" fmla="*/ 65 h 537"/>
                  <a:gd name="T14" fmla="*/ 17 w 27"/>
                  <a:gd name="T15" fmla="*/ 76 h 537"/>
                  <a:gd name="T16" fmla="*/ 20 w 27"/>
                  <a:gd name="T17" fmla="*/ 83 h 537"/>
                  <a:gd name="T18" fmla="*/ 20 w 27"/>
                  <a:gd name="T19" fmla="*/ 93 h 537"/>
                  <a:gd name="T20" fmla="*/ 24 w 27"/>
                  <a:gd name="T21" fmla="*/ 103 h 537"/>
                  <a:gd name="T22" fmla="*/ 24 w 27"/>
                  <a:gd name="T23" fmla="*/ 114 h 537"/>
                  <a:gd name="T24" fmla="*/ 24 w 27"/>
                  <a:gd name="T25" fmla="*/ 124 h 537"/>
                  <a:gd name="T26" fmla="*/ 27 w 27"/>
                  <a:gd name="T27" fmla="*/ 134 h 537"/>
                  <a:gd name="T28" fmla="*/ 27 w 27"/>
                  <a:gd name="T29" fmla="*/ 141 h 537"/>
                  <a:gd name="T30" fmla="*/ 27 w 27"/>
                  <a:gd name="T31" fmla="*/ 151 h 537"/>
                  <a:gd name="T32" fmla="*/ 27 w 27"/>
                  <a:gd name="T33" fmla="*/ 162 h 537"/>
                  <a:gd name="T34" fmla="*/ 27 w 27"/>
                  <a:gd name="T35" fmla="*/ 172 h 537"/>
                  <a:gd name="T36" fmla="*/ 27 w 27"/>
                  <a:gd name="T37" fmla="*/ 182 h 537"/>
                  <a:gd name="T38" fmla="*/ 27 w 27"/>
                  <a:gd name="T39" fmla="*/ 189 h 537"/>
                  <a:gd name="T40" fmla="*/ 27 w 27"/>
                  <a:gd name="T41" fmla="*/ 200 h 537"/>
                  <a:gd name="T42" fmla="*/ 27 w 27"/>
                  <a:gd name="T43" fmla="*/ 210 h 537"/>
                  <a:gd name="T44" fmla="*/ 24 w 27"/>
                  <a:gd name="T45" fmla="*/ 220 h 537"/>
                  <a:gd name="T46" fmla="*/ 24 w 27"/>
                  <a:gd name="T47" fmla="*/ 231 h 537"/>
                  <a:gd name="T48" fmla="*/ 20 w 27"/>
                  <a:gd name="T49" fmla="*/ 238 h 537"/>
                  <a:gd name="T50" fmla="*/ 20 w 27"/>
                  <a:gd name="T51" fmla="*/ 248 h 537"/>
                  <a:gd name="T52" fmla="*/ 17 w 27"/>
                  <a:gd name="T53" fmla="*/ 258 h 537"/>
                  <a:gd name="T54" fmla="*/ 17 w 27"/>
                  <a:gd name="T55" fmla="*/ 269 h 537"/>
                  <a:gd name="T56" fmla="*/ 13 w 27"/>
                  <a:gd name="T57" fmla="*/ 279 h 537"/>
                  <a:gd name="T58" fmla="*/ 13 w 27"/>
                  <a:gd name="T59" fmla="*/ 289 h 537"/>
                  <a:gd name="T60" fmla="*/ 10 w 27"/>
                  <a:gd name="T61" fmla="*/ 296 h 537"/>
                  <a:gd name="T62" fmla="*/ 10 w 27"/>
                  <a:gd name="T63" fmla="*/ 306 h 537"/>
                  <a:gd name="T64" fmla="*/ 10 w 27"/>
                  <a:gd name="T65" fmla="*/ 317 h 537"/>
                  <a:gd name="T66" fmla="*/ 7 w 27"/>
                  <a:gd name="T67" fmla="*/ 327 h 537"/>
                  <a:gd name="T68" fmla="*/ 7 w 27"/>
                  <a:gd name="T69" fmla="*/ 337 h 537"/>
                  <a:gd name="T70" fmla="*/ 7 w 27"/>
                  <a:gd name="T71" fmla="*/ 344 h 537"/>
                  <a:gd name="T72" fmla="*/ 7 w 27"/>
                  <a:gd name="T73" fmla="*/ 355 h 537"/>
                  <a:gd name="T74" fmla="*/ 10 w 27"/>
                  <a:gd name="T75" fmla="*/ 365 h 537"/>
                  <a:gd name="T76" fmla="*/ 10 w 27"/>
                  <a:gd name="T77" fmla="*/ 375 h 537"/>
                  <a:gd name="T78" fmla="*/ 13 w 27"/>
                  <a:gd name="T79" fmla="*/ 386 h 537"/>
                  <a:gd name="T80" fmla="*/ 13 w 27"/>
                  <a:gd name="T81" fmla="*/ 396 h 537"/>
                  <a:gd name="T82" fmla="*/ 17 w 27"/>
                  <a:gd name="T83" fmla="*/ 406 h 537"/>
                  <a:gd name="T84" fmla="*/ 17 w 27"/>
                  <a:gd name="T85" fmla="*/ 413 h 537"/>
                  <a:gd name="T86" fmla="*/ 20 w 27"/>
                  <a:gd name="T87" fmla="*/ 424 h 537"/>
                  <a:gd name="T88" fmla="*/ 20 w 27"/>
                  <a:gd name="T89" fmla="*/ 434 h 537"/>
                  <a:gd name="T90" fmla="*/ 24 w 27"/>
                  <a:gd name="T91" fmla="*/ 444 h 537"/>
                  <a:gd name="T92" fmla="*/ 24 w 27"/>
                  <a:gd name="T93" fmla="*/ 455 h 537"/>
                  <a:gd name="T94" fmla="*/ 24 w 27"/>
                  <a:gd name="T95" fmla="*/ 462 h 537"/>
                  <a:gd name="T96" fmla="*/ 24 w 27"/>
                  <a:gd name="T97" fmla="*/ 472 h 537"/>
                  <a:gd name="T98" fmla="*/ 20 w 27"/>
                  <a:gd name="T99" fmla="*/ 482 h 537"/>
                  <a:gd name="T100" fmla="*/ 17 w 27"/>
                  <a:gd name="T101" fmla="*/ 493 h 537"/>
                  <a:gd name="T102" fmla="*/ 17 w 27"/>
                  <a:gd name="T103" fmla="*/ 499 h 537"/>
                  <a:gd name="T104" fmla="*/ 13 w 27"/>
                  <a:gd name="T105" fmla="*/ 510 h 537"/>
                  <a:gd name="T106" fmla="*/ 10 w 27"/>
                  <a:gd name="T107" fmla="*/ 520 h 537"/>
                  <a:gd name="T108" fmla="*/ 3 w 27"/>
                  <a:gd name="T109" fmla="*/ 527 h 537"/>
                  <a:gd name="T110" fmla="*/ 0 w 27"/>
                  <a:gd name="T111" fmla="*/ 537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7" h="537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7"/>
                    </a:lnTo>
                    <a:lnTo>
                      <a:pt x="3" y="10"/>
                    </a:lnTo>
                    <a:lnTo>
                      <a:pt x="3" y="14"/>
                    </a:lnTo>
                    <a:lnTo>
                      <a:pt x="3" y="17"/>
                    </a:lnTo>
                    <a:lnTo>
                      <a:pt x="7" y="17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7" y="27"/>
                    </a:lnTo>
                    <a:lnTo>
                      <a:pt x="7" y="31"/>
                    </a:lnTo>
                    <a:lnTo>
                      <a:pt x="10" y="34"/>
                    </a:lnTo>
                    <a:lnTo>
                      <a:pt x="10" y="38"/>
                    </a:lnTo>
                    <a:lnTo>
                      <a:pt x="10" y="41"/>
                    </a:lnTo>
                    <a:lnTo>
                      <a:pt x="10" y="45"/>
                    </a:lnTo>
                    <a:lnTo>
                      <a:pt x="13" y="48"/>
                    </a:lnTo>
                    <a:lnTo>
                      <a:pt x="13" y="52"/>
                    </a:lnTo>
                    <a:lnTo>
                      <a:pt x="13" y="55"/>
                    </a:lnTo>
                    <a:lnTo>
                      <a:pt x="13" y="58"/>
                    </a:lnTo>
                    <a:lnTo>
                      <a:pt x="13" y="62"/>
                    </a:lnTo>
                    <a:lnTo>
                      <a:pt x="17" y="65"/>
                    </a:lnTo>
                    <a:lnTo>
                      <a:pt x="17" y="69"/>
                    </a:lnTo>
                    <a:lnTo>
                      <a:pt x="17" y="72"/>
                    </a:lnTo>
                    <a:lnTo>
                      <a:pt x="17" y="76"/>
                    </a:lnTo>
                    <a:lnTo>
                      <a:pt x="17" y="79"/>
                    </a:lnTo>
                    <a:lnTo>
                      <a:pt x="20" y="83"/>
                    </a:lnTo>
                    <a:lnTo>
                      <a:pt x="20" y="86"/>
                    </a:lnTo>
                    <a:lnTo>
                      <a:pt x="20" y="89"/>
                    </a:lnTo>
                    <a:lnTo>
                      <a:pt x="20" y="93"/>
                    </a:lnTo>
                    <a:lnTo>
                      <a:pt x="20" y="96"/>
                    </a:lnTo>
                    <a:lnTo>
                      <a:pt x="20" y="100"/>
                    </a:lnTo>
                    <a:lnTo>
                      <a:pt x="24" y="100"/>
                    </a:lnTo>
                    <a:lnTo>
                      <a:pt x="24" y="103"/>
                    </a:lnTo>
                    <a:lnTo>
                      <a:pt x="24" y="107"/>
                    </a:lnTo>
                    <a:lnTo>
                      <a:pt x="24" y="110"/>
                    </a:lnTo>
                    <a:lnTo>
                      <a:pt x="24" y="114"/>
                    </a:lnTo>
                    <a:lnTo>
                      <a:pt x="24" y="117"/>
                    </a:lnTo>
                    <a:lnTo>
                      <a:pt x="24" y="120"/>
                    </a:lnTo>
                    <a:lnTo>
                      <a:pt x="24" y="124"/>
                    </a:lnTo>
                    <a:lnTo>
                      <a:pt x="27" y="124"/>
                    </a:lnTo>
                    <a:lnTo>
                      <a:pt x="27" y="127"/>
                    </a:lnTo>
                    <a:lnTo>
                      <a:pt x="27" y="131"/>
                    </a:lnTo>
                    <a:lnTo>
                      <a:pt x="27" y="134"/>
                    </a:lnTo>
                    <a:lnTo>
                      <a:pt x="27" y="138"/>
                    </a:lnTo>
                    <a:lnTo>
                      <a:pt x="27" y="141"/>
                    </a:lnTo>
                    <a:lnTo>
                      <a:pt x="27" y="145"/>
                    </a:lnTo>
                    <a:lnTo>
                      <a:pt x="27" y="148"/>
                    </a:lnTo>
                    <a:lnTo>
                      <a:pt x="27" y="151"/>
                    </a:lnTo>
                    <a:lnTo>
                      <a:pt x="27" y="155"/>
                    </a:lnTo>
                    <a:lnTo>
                      <a:pt x="27" y="158"/>
                    </a:lnTo>
                    <a:lnTo>
                      <a:pt x="27" y="162"/>
                    </a:lnTo>
                    <a:lnTo>
                      <a:pt x="27" y="165"/>
                    </a:lnTo>
                    <a:lnTo>
                      <a:pt x="27" y="169"/>
                    </a:lnTo>
                    <a:lnTo>
                      <a:pt x="27" y="172"/>
                    </a:lnTo>
                    <a:lnTo>
                      <a:pt x="27" y="176"/>
                    </a:lnTo>
                    <a:lnTo>
                      <a:pt x="27" y="179"/>
                    </a:lnTo>
                    <a:lnTo>
                      <a:pt x="27" y="182"/>
                    </a:lnTo>
                    <a:lnTo>
                      <a:pt x="27" y="186"/>
                    </a:lnTo>
                    <a:lnTo>
                      <a:pt x="27" y="189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200"/>
                    </a:lnTo>
                    <a:lnTo>
                      <a:pt x="27" y="203"/>
                    </a:lnTo>
                    <a:lnTo>
                      <a:pt x="27" y="207"/>
                    </a:lnTo>
                    <a:lnTo>
                      <a:pt x="27" y="210"/>
                    </a:lnTo>
                    <a:lnTo>
                      <a:pt x="27" y="213"/>
                    </a:lnTo>
                    <a:lnTo>
                      <a:pt x="27" y="217"/>
                    </a:lnTo>
                    <a:lnTo>
                      <a:pt x="24" y="220"/>
                    </a:lnTo>
                    <a:lnTo>
                      <a:pt x="24" y="224"/>
                    </a:lnTo>
                    <a:lnTo>
                      <a:pt x="24" y="227"/>
                    </a:lnTo>
                    <a:lnTo>
                      <a:pt x="24" y="231"/>
                    </a:lnTo>
                    <a:lnTo>
                      <a:pt x="24" y="234"/>
                    </a:lnTo>
                    <a:lnTo>
                      <a:pt x="24" y="238"/>
                    </a:lnTo>
                    <a:lnTo>
                      <a:pt x="20" y="238"/>
                    </a:lnTo>
                    <a:lnTo>
                      <a:pt x="20" y="241"/>
                    </a:lnTo>
                    <a:lnTo>
                      <a:pt x="20" y="244"/>
                    </a:lnTo>
                    <a:lnTo>
                      <a:pt x="20" y="248"/>
                    </a:lnTo>
                    <a:lnTo>
                      <a:pt x="20" y="251"/>
                    </a:lnTo>
                    <a:lnTo>
                      <a:pt x="20" y="255"/>
                    </a:lnTo>
                    <a:lnTo>
                      <a:pt x="17" y="258"/>
                    </a:lnTo>
                    <a:lnTo>
                      <a:pt x="17" y="262"/>
                    </a:lnTo>
                    <a:lnTo>
                      <a:pt x="17" y="265"/>
                    </a:lnTo>
                    <a:lnTo>
                      <a:pt x="17" y="269"/>
                    </a:lnTo>
                    <a:lnTo>
                      <a:pt x="17" y="272"/>
                    </a:lnTo>
                    <a:lnTo>
                      <a:pt x="13" y="275"/>
                    </a:lnTo>
                    <a:lnTo>
                      <a:pt x="13" y="279"/>
                    </a:lnTo>
                    <a:lnTo>
                      <a:pt x="13" y="282"/>
                    </a:lnTo>
                    <a:lnTo>
                      <a:pt x="13" y="286"/>
                    </a:lnTo>
                    <a:lnTo>
                      <a:pt x="13" y="289"/>
                    </a:lnTo>
                    <a:lnTo>
                      <a:pt x="13" y="293"/>
                    </a:lnTo>
                    <a:lnTo>
                      <a:pt x="10" y="296"/>
                    </a:lnTo>
                    <a:lnTo>
                      <a:pt x="10" y="300"/>
                    </a:lnTo>
                    <a:lnTo>
                      <a:pt x="10" y="303"/>
                    </a:lnTo>
                    <a:lnTo>
                      <a:pt x="10" y="306"/>
                    </a:lnTo>
                    <a:lnTo>
                      <a:pt x="10" y="310"/>
                    </a:lnTo>
                    <a:lnTo>
                      <a:pt x="10" y="313"/>
                    </a:lnTo>
                    <a:lnTo>
                      <a:pt x="10" y="317"/>
                    </a:lnTo>
                    <a:lnTo>
                      <a:pt x="7" y="320"/>
                    </a:lnTo>
                    <a:lnTo>
                      <a:pt x="7" y="324"/>
                    </a:lnTo>
                    <a:lnTo>
                      <a:pt x="7" y="327"/>
                    </a:lnTo>
                    <a:lnTo>
                      <a:pt x="7" y="331"/>
                    </a:lnTo>
                    <a:lnTo>
                      <a:pt x="7" y="334"/>
                    </a:lnTo>
                    <a:lnTo>
                      <a:pt x="7" y="337"/>
                    </a:lnTo>
                    <a:lnTo>
                      <a:pt x="7" y="341"/>
                    </a:lnTo>
                    <a:lnTo>
                      <a:pt x="7" y="344"/>
                    </a:lnTo>
                    <a:lnTo>
                      <a:pt x="7" y="348"/>
                    </a:lnTo>
                    <a:lnTo>
                      <a:pt x="7" y="351"/>
                    </a:lnTo>
                    <a:lnTo>
                      <a:pt x="7" y="355"/>
                    </a:lnTo>
                    <a:lnTo>
                      <a:pt x="7" y="358"/>
                    </a:lnTo>
                    <a:lnTo>
                      <a:pt x="10" y="362"/>
                    </a:lnTo>
                    <a:lnTo>
                      <a:pt x="10" y="365"/>
                    </a:lnTo>
                    <a:lnTo>
                      <a:pt x="10" y="368"/>
                    </a:lnTo>
                    <a:lnTo>
                      <a:pt x="10" y="372"/>
                    </a:lnTo>
                    <a:lnTo>
                      <a:pt x="10" y="375"/>
                    </a:lnTo>
                    <a:lnTo>
                      <a:pt x="10" y="379"/>
                    </a:lnTo>
                    <a:lnTo>
                      <a:pt x="13" y="382"/>
                    </a:lnTo>
                    <a:lnTo>
                      <a:pt x="13" y="386"/>
                    </a:lnTo>
                    <a:lnTo>
                      <a:pt x="13" y="389"/>
                    </a:lnTo>
                    <a:lnTo>
                      <a:pt x="13" y="393"/>
                    </a:lnTo>
                    <a:lnTo>
                      <a:pt x="13" y="396"/>
                    </a:lnTo>
                    <a:lnTo>
                      <a:pt x="17" y="399"/>
                    </a:lnTo>
                    <a:lnTo>
                      <a:pt x="17" y="403"/>
                    </a:lnTo>
                    <a:lnTo>
                      <a:pt x="17" y="406"/>
                    </a:lnTo>
                    <a:lnTo>
                      <a:pt x="17" y="410"/>
                    </a:lnTo>
                    <a:lnTo>
                      <a:pt x="17" y="413"/>
                    </a:lnTo>
                    <a:lnTo>
                      <a:pt x="20" y="417"/>
                    </a:lnTo>
                    <a:lnTo>
                      <a:pt x="20" y="420"/>
                    </a:lnTo>
                    <a:lnTo>
                      <a:pt x="20" y="424"/>
                    </a:lnTo>
                    <a:lnTo>
                      <a:pt x="20" y="427"/>
                    </a:lnTo>
                    <a:lnTo>
                      <a:pt x="20" y="430"/>
                    </a:lnTo>
                    <a:lnTo>
                      <a:pt x="20" y="434"/>
                    </a:lnTo>
                    <a:lnTo>
                      <a:pt x="24" y="437"/>
                    </a:lnTo>
                    <a:lnTo>
                      <a:pt x="24" y="441"/>
                    </a:lnTo>
                    <a:lnTo>
                      <a:pt x="24" y="444"/>
                    </a:lnTo>
                    <a:lnTo>
                      <a:pt x="24" y="448"/>
                    </a:lnTo>
                    <a:lnTo>
                      <a:pt x="24" y="451"/>
                    </a:lnTo>
                    <a:lnTo>
                      <a:pt x="24" y="455"/>
                    </a:lnTo>
                    <a:lnTo>
                      <a:pt x="24" y="458"/>
                    </a:lnTo>
                    <a:lnTo>
                      <a:pt x="24" y="462"/>
                    </a:lnTo>
                    <a:lnTo>
                      <a:pt x="24" y="465"/>
                    </a:lnTo>
                    <a:lnTo>
                      <a:pt x="24" y="468"/>
                    </a:lnTo>
                    <a:lnTo>
                      <a:pt x="24" y="472"/>
                    </a:lnTo>
                    <a:lnTo>
                      <a:pt x="24" y="475"/>
                    </a:lnTo>
                    <a:lnTo>
                      <a:pt x="20" y="475"/>
                    </a:lnTo>
                    <a:lnTo>
                      <a:pt x="20" y="479"/>
                    </a:lnTo>
                    <a:lnTo>
                      <a:pt x="20" y="482"/>
                    </a:lnTo>
                    <a:lnTo>
                      <a:pt x="20" y="486"/>
                    </a:lnTo>
                    <a:lnTo>
                      <a:pt x="20" y="489"/>
                    </a:lnTo>
                    <a:lnTo>
                      <a:pt x="17" y="493"/>
                    </a:lnTo>
                    <a:lnTo>
                      <a:pt x="17" y="496"/>
                    </a:lnTo>
                    <a:lnTo>
                      <a:pt x="17" y="499"/>
                    </a:lnTo>
                    <a:lnTo>
                      <a:pt x="13" y="503"/>
                    </a:lnTo>
                    <a:lnTo>
                      <a:pt x="13" y="506"/>
                    </a:lnTo>
                    <a:lnTo>
                      <a:pt x="13" y="510"/>
                    </a:lnTo>
                    <a:lnTo>
                      <a:pt x="10" y="513"/>
                    </a:lnTo>
                    <a:lnTo>
                      <a:pt x="10" y="517"/>
                    </a:lnTo>
                    <a:lnTo>
                      <a:pt x="10" y="520"/>
                    </a:lnTo>
                    <a:lnTo>
                      <a:pt x="7" y="520"/>
                    </a:lnTo>
                    <a:lnTo>
                      <a:pt x="7" y="524"/>
                    </a:lnTo>
                    <a:lnTo>
                      <a:pt x="7" y="527"/>
                    </a:lnTo>
                    <a:lnTo>
                      <a:pt x="3" y="527"/>
                    </a:lnTo>
                    <a:lnTo>
                      <a:pt x="3" y="530"/>
                    </a:lnTo>
                    <a:lnTo>
                      <a:pt x="3" y="534"/>
                    </a:lnTo>
                    <a:lnTo>
                      <a:pt x="0" y="534"/>
                    </a:lnTo>
                    <a:lnTo>
                      <a:pt x="0" y="537"/>
                    </a:lnTo>
                  </a:path>
                </a:pathLst>
              </a:cu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6" name="Freeform 178"/>
              <p:cNvSpPr>
                <a:spLocks noChangeArrowheads="1"/>
              </p:cNvSpPr>
              <p:nvPr/>
            </p:nvSpPr>
            <p:spPr bwMode="auto">
              <a:xfrm>
                <a:off x="3750" y="2134"/>
                <a:ext cx="45" cy="537"/>
              </a:xfrm>
              <a:custGeom>
                <a:avLst/>
                <a:gdLst>
                  <a:gd name="T0" fmla="*/ 24 w 45"/>
                  <a:gd name="T1" fmla="*/ 7 h 537"/>
                  <a:gd name="T2" fmla="*/ 21 w 45"/>
                  <a:gd name="T3" fmla="*/ 17 h 537"/>
                  <a:gd name="T4" fmla="*/ 17 w 45"/>
                  <a:gd name="T5" fmla="*/ 27 h 537"/>
                  <a:gd name="T6" fmla="*/ 17 w 45"/>
                  <a:gd name="T7" fmla="*/ 38 h 537"/>
                  <a:gd name="T8" fmla="*/ 14 w 45"/>
                  <a:gd name="T9" fmla="*/ 48 h 537"/>
                  <a:gd name="T10" fmla="*/ 14 w 45"/>
                  <a:gd name="T11" fmla="*/ 55 h 537"/>
                  <a:gd name="T12" fmla="*/ 10 w 45"/>
                  <a:gd name="T13" fmla="*/ 65 h 537"/>
                  <a:gd name="T14" fmla="*/ 10 w 45"/>
                  <a:gd name="T15" fmla="*/ 76 h 537"/>
                  <a:gd name="T16" fmla="*/ 7 w 45"/>
                  <a:gd name="T17" fmla="*/ 86 h 537"/>
                  <a:gd name="T18" fmla="*/ 7 w 45"/>
                  <a:gd name="T19" fmla="*/ 96 h 537"/>
                  <a:gd name="T20" fmla="*/ 7 w 45"/>
                  <a:gd name="T21" fmla="*/ 107 h 537"/>
                  <a:gd name="T22" fmla="*/ 7 w 45"/>
                  <a:gd name="T23" fmla="*/ 117 h 537"/>
                  <a:gd name="T24" fmla="*/ 7 w 45"/>
                  <a:gd name="T25" fmla="*/ 127 h 537"/>
                  <a:gd name="T26" fmla="*/ 7 w 45"/>
                  <a:gd name="T27" fmla="*/ 134 h 537"/>
                  <a:gd name="T28" fmla="*/ 7 w 45"/>
                  <a:gd name="T29" fmla="*/ 145 h 537"/>
                  <a:gd name="T30" fmla="*/ 7 w 45"/>
                  <a:gd name="T31" fmla="*/ 155 h 537"/>
                  <a:gd name="T32" fmla="*/ 7 w 45"/>
                  <a:gd name="T33" fmla="*/ 165 h 537"/>
                  <a:gd name="T34" fmla="*/ 10 w 45"/>
                  <a:gd name="T35" fmla="*/ 176 h 537"/>
                  <a:gd name="T36" fmla="*/ 14 w 45"/>
                  <a:gd name="T37" fmla="*/ 186 h 537"/>
                  <a:gd name="T38" fmla="*/ 14 w 45"/>
                  <a:gd name="T39" fmla="*/ 193 h 537"/>
                  <a:gd name="T40" fmla="*/ 17 w 45"/>
                  <a:gd name="T41" fmla="*/ 203 h 537"/>
                  <a:gd name="T42" fmla="*/ 21 w 45"/>
                  <a:gd name="T43" fmla="*/ 213 h 537"/>
                  <a:gd name="T44" fmla="*/ 24 w 45"/>
                  <a:gd name="T45" fmla="*/ 224 h 537"/>
                  <a:gd name="T46" fmla="*/ 28 w 45"/>
                  <a:gd name="T47" fmla="*/ 234 h 537"/>
                  <a:gd name="T48" fmla="*/ 31 w 45"/>
                  <a:gd name="T49" fmla="*/ 241 h 537"/>
                  <a:gd name="T50" fmla="*/ 34 w 45"/>
                  <a:gd name="T51" fmla="*/ 251 h 537"/>
                  <a:gd name="T52" fmla="*/ 38 w 45"/>
                  <a:gd name="T53" fmla="*/ 262 h 537"/>
                  <a:gd name="T54" fmla="*/ 38 w 45"/>
                  <a:gd name="T55" fmla="*/ 272 h 537"/>
                  <a:gd name="T56" fmla="*/ 41 w 45"/>
                  <a:gd name="T57" fmla="*/ 282 h 537"/>
                  <a:gd name="T58" fmla="*/ 41 w 45"/>
                  <a:gd name="T59" fmla="*/ 289 h 537"/>
                  <a:gd name="T60" fmla="*/ 45 w 45"/>
                  <a:gd name="T61" fmla="*/ 300 h 537"/>
                  <a:gd name="T62" fmla="*/ 45 w 45"/>
                  <a:gd name="T63" fmla="*/ 310 h 537"/>
                  <a:gd name="T64" fmla="*/ 45 w 45"/>
                  <a:gd name="T65" fmla="*/ 320 h 537"/>
                  <a:gd name="T66" fmla="*/ 45 w 45"/>
                  <a:gd name="T67" fmla="*/ 331 h 537"/>
                  <a:gd name="T68" fmla="*/ 41 w 45"/>
                  <a:gd name="T69" fmla="*/ 341 h 537"/>
                  <a:gd name="T70" fmla="*/ 41 w 45"/>
                  <a:gd name="T71" fmla="*/ 351 h 537"/>
                  <a:gd name="T72" fmla="*/ 38 w 45"/>
                  <a:gd name="T73" fmla="*/ 358 h 537"/>
                  <a:gd name="T74" fmla="*/ 34 w 45"/>
                  <a:gd name="T75" fmla="*/ 368 h 537"/>
                  <a:gd name="T76" fmla="*/ 31 w 45"/>
                  <a:gd name="T77" fmla="*/ 379 h 537"/>
                  <a:gd name="T78" fmla="*/ 24 w 45"/>
                  <a:gd name="T79" fmla="*/ 389 h 537"/>
                  <a:gd name="T80" fmla="*/ 21 w 45"/>
                  <a:gd name="T81" fmla="*/ 399 h 537"/>
                  <a:gd name="T82" fmla="*/ 17 w 45"/>
                  <a:gd name="T83" fmla="*/ 410 h 537"/>
                  <a:gd name="T84" fmla="*/ 14 w 45"/>
                  <a:gd name="T85" fmla="*/ 420 h 537"/>
                  <a:gd name="T86" fmla="*/ 10 w 45"/>
                  <a:gd name="T87" fmla="*/ 430 h 537"/>
                  <a:gd name="T88" fmla="*/ 7 w 45"/>
                  <a:gd name="T89" fmla="*/ 437 h 537"/>
                  <a:gd name="T90" fmla="*/ 3 w 45"/>
                  <a:gd name="T91" fmla="*/ 448 h 537"/>
                  <a:gd name="T92" fmla="*/ 0 w 45"/>
                  <a:gd name="T93" fmla="*/ 458 h 537"/>
                  <a:gd name="T94" fmla="*/ 0 w 45"/>
                  <a:gd name="T95" fmla="*/ 468 h 537"/>
                  <a:gd name="T96" fmla="*/ 0 w 45"/>
                  <a:gd name="T97" fmla="*/ 475 h 537"/>
                  <a:gd name="T98" fmla="*/ 0 w 45"/>
                  <a:gd name="T99" fmla="*/ 486 h 537"/>
                  <a:gd name="T100" fmla="*/ 0 w 45"/>
                  <a:gd name="T101" fmla="*/ 496 h 537"/>
                  <a:gd name="T102" fmla="*/ 3 w 45"/>
                  <a:gd name="T103" fmla="*/ 503 h 537"/>
                  <a:gd name="T104" fmla="*/ 7 w 45"/>
                  <a:gd name="T105" fmla="*/ 513 h 537"/>
                  <a:gd name="T106" fmla="*/ 14 w 45"/>
                  <a:gd name="T107" fmla="*/ 520 h 537"/>
                  <a:gd name="T108" fmla="*/ 17 w 45"/>
                  <a:gd name="T109" fmla="*/ 530 h 537"/>
                  <a:gd name="T110" fmla="*/ 24 w 45"/>
                  <a:gd name="T111" fmla="*/ 537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5" h="537">
                    <a:moveTo>
                      <a:pt x="24" y="0"/>
                    </a:moveTo>
                    <a:lnTo>
                      <a:pt x="24" y="0"/>
                    </a:lnTo>
                    <a:lnTo>
                      <a:pt x="24" y="3"/>
                    </a:lnTo>
                    <a:lnTo>
                      <a:pt x="24" y="7"/>
                    </a:lnTo>
                    <a:lnTo>
                      <a:pt x="24" y="10"/>
                    </a:lnTo>
                    <a:lnTo>
                      <a:pt x="21" y="10"/>
                    </a:lnTo>
                    <a:lnTo>
                      <a:pt x="21" y="14"/>
                    </a:lnTo>
                    <a:lnTo>
                      <a:pt x="21" y="17"/>
                    </a:lnTo>
                    <a:lnTo>
                      <a:pt x="21" y="21"/>
                    </a:lnTo>
                    <a:lnTo>
                      <a:pt x="21" y="24"/>
                    </a:lnTo>
                    <a:lnTo>
                      <a:pt x="17" y="27"/>
                    </a:lnTo>
                    <a:lnTo>
                      <a:pt x="17" y="31"/>
                    </a:lnTo>
                    <a:lnTo>
                      <a:pt x="17" y="34"/>
                    </a:lnTo>
                    <a:lnTo>
                      <a:pt x="17" y="38"/>
                    </a:lnTo>
                    <a:lnTo>
                      <a:pt x="17" y="41"/>
                    </a:lnTo>
                    <a:lnTo>
                      <a:pt x="14" y="45"/>
                    </a:lnTo>
                    <a:lnTo>
                      <a:pt x="14" y="48"/>
                    </a:lnTo>
                    <a:lnTo>
                      <a:pt x="14" y="52"/>
                    </a:lnTo>
                    <a:lnTo>
                      <a:pt x="14" y="55"/>
                    </a:lnTo>
                    <a:lnTo>
                      <a:pt x="14" y="58"/>
                    </a:lnTo>
                    <a:lnTo>
                      <a:pt x="10" y="62"/>
                    </a:lnTo>
                    <a:lnTo>
                      <a:pt x="10" y="65"/>
                    </a:lnTo>
                    <a:lnTo>
                      <a:pt x="10" y="69"/>
                    </a:lnTo>
                    <a:lnTo>
                      <a:pt x="10" y="72"/>
                    </a:lnTo>
                    <a:lnTo>
                      <a:pt x="10" y="76"/>
                    </a:lnTo>
                    <a:lnTo>
                      <a:pt x="10" y="79"/>
                    </a:lnTo>
                    <a:lnTo>
                      <a:pt x="10" y="83"/>
                    </a:lnTo>
                    <a:lnTo>
                      <a:pt x="7" y="83"/>
                    </a:lnTo>
                    <a:lnTo>
                      <a:pt x="7" y="86"/>
                    </a:lnTo>
                    <a:lnTo>
                      <a:pt x="7" y="89"/>
                    </a:lnTo>
                    <a:lnTo>
                      <a:pt x="7" y="93"/>
                    </a:lnTo>
                    <a:lnTo>
                      <a:pt x="7" y="96"/>
                    </a:lnTo>
                    <a:lnTo>
                      <a:pt x="7" y="100"/>
                    </a:lnTo>
                    <a:lnTo>
                      <a:pt x="7" y="103"/>
                    </a:lnTo>
                    <a:lnTo>
                      <a:pt x="7" y="107"/>
                    </a:lnTo>
                    <a:lnTo>
                      <a:pt x="7" y="110"/>
                    </a:lnTo>
                    <a:lnTo>
                      <a:pt x="7" y="114"/>
                    </a:lnTo>
                    <a:lnTo>
                      <a:pt x="7" y="117"/>
                    </a:lnTo>
                    <a:lnTo>
                      <a:pt x="7" y="120"/>
                    </a:lnTo>
                    <a:lnTo>
                      <a:pt x="7" y="124"/>
                    </a:lnTo>
                    <a:lnTo>
                      <a:pt x="7" y="127"/>
                    </a:lnTo>
                    <a:lnTo>
                      <a:pt x="7" y="131"/>
                    </a:lnTo>
                    <a:lnTo>
                      <a:pt x="7" y="134"/>
                    </a:lnTo>
                    <a:lnTo>
                      <a:pt x="7" y="138"/>
                    </a:lnTo>
                    <a:lnTo>
                      <a:pt x="7" y="141"/>
                    </a:lnTo>
                    <a:lnTo>
                      <a:pt x="7" y="145"/>
                    </a:lnTo>
                    <a:lnTo>
                      <a:pt x="7" y="148"/>
                    </a:lnTo>
                    <a:lnTo>
                      <a:pt x="7" y="151"/>
                    </a:lnTo>
                    <a:lnTo>
                      <a:pt x="7" y="155"/>
                    </a:lnTo>
                    <a:lnTo>
                      <a:pt x="7" y="158"/>
                    </a:lnTo>
                    <a:lnTo>
                      <a:pt x="7" y="162"/>
                    </a:lnTo>
                    <a:lnTo>
                      <a:pt x="7" y="165"/>
                    </a:lnTo>
                    <a:lnTo>
                      <a:pt x="7" y="169"/>
                    </a:lnTo>
                    <a:lnTo>
                      <a:pt x="10" y="169"/>
                    </a:lnTo>
                    <a:lnTo>
                      <a:pt x="10" y="172"/>
                    </a:lnTo>
                    <a:lnTo>
                      <a:pt x="10" y="176"/>
                    </a:lnTo>
                    <a:lnTo>
                      <a:pt x="10" y="179"/>
                    </a:lnTo>
                    <a:lnTo>
                      <a:pt x="10" y="182"/>
                    </a:lnTo>
                    <a:lnTo>
                      <a:pt x="14" y="186"/>
                    </a:lnTo>
                    <a:lnTo>
                      <a:pt x="14" y="189"/>
                    </a:lnTo>
                    <a:lnTo>
                      <a:pt x="14" y="193"/>
                    </a:lnTo>
                    <a:lnTo>
                      <a:pt x="14" y="196"/>
                    </a:lnTo>
                    <a:lnTo>
                      <a:pt x="17" y="200"/>
                    </a:lnTo>
                    <a:lnTo>
                      <a:pt x="17" y="203"/>
                    </a:lnTo>
                    <a:lnTo>
                      <a:pt x="17" y="207"/>
                    </a:lnTo>
                    <a:lnTo>
                      <a:pt x="21" y="210"/>
                    </a:lnTo>
                    <a:lnTo>
                      <a:pt x="21" y="213"/>
                    </a:lnTo>
                    <a:lnTo>
                      <a:pt x="21" y="217"/>
                    </a:lnTo>
                    <a:lnTo>
                      <a:pt x="24" y="220"/>
                    </a:lnTo>
                    <a:lnTo>
                      <a:pt x="24" y="224"/>
                    </a:lnTo>
                    <a:lnTo>
                      <a:pt x="24" y="227"/>
                    </a:lnTo>
                    <a:lnTo>
                      <a:pt x="28" y="231"/>
                    </a:lnTo>
                    <a:lnTo>
                      <a:pt x="28" y="234"/>
                    </a:lnTo>
                    <a:lnTo>
                      <a:pt x="28" y="238"/>
                    </a:lnTo>
                    <a:lnTo>
                      <a:pt x="31" y="241"/>
                    </a:lnTo>
                    <a:lnTo>
                      <a:pt x="31" y="244"/>
                    </a:lnTo>
                    <a:lnTo>
                      <a:pt x="31" y="248"/>
                    </a:lnTo>
                    <a:lnTo>
                      <a:pt x="31" y="251"/>
                    </a:lnTo>
                    <a:lnTo>
                      <a:pt x="34" y="251"/>
                    </a:lnTo>
                    <a:lnTo>
                      <a:pt x="34" y="255"/>
                    </a:lnTo>
                    <a:lnTo>
                      <a:pt x="34" y="258"/>
                    </a:lnTo>
                    <a:lnTo>
                      <a:pt x="38" y="262"/>
                    </a:lnTo>
                    <a:lnTo>
                      <a:pt x="38" y="265"/>
                    </a:lnTo>
                    <a:lnTo>
                      <a:pt x="38" y="269"/>
                    </a:lnTo>
                    <a:lnTo>
                      <a:pt x="38" y="272"/>
                    </a:lnTo>
                    <a:lnTo>
                      <a:pt x="38" y="275"/>
                    </a:lnTo>
                    <a:lnTo>
                      <a:pt x="41" y="275"/>
                    </a:lnTo>
                    <a:lnTo>
                      <a:pt x="41" y="279"/>
                    </a:lnTo>
                    <a:lnTo>
                      <a:pt x="41" y="282"/>
                    </a:lnTo>
                    <a:lnTo>
                      <a:pt x="41" y="286"/>
                    </a:lnTo>
                    <a:lnTo>
                      <a:pt x="41" y="289"/>
                    </a:lnTo>
                    <a:lnTo>
                      <a:pt x="45" y="293"/>
                    </a:lnTo>
                    <a:lnTo>
                      <a:pt x="45" y="296"/>
                    </a:lnTo>
                    <a:lnTo>
                      <a:pt x="45" y="300"/>
                    </a:lnTo>
                    <a:lnTo>
                      <a:pt x="45" y="303"/>
                    </a:lnTo>
                    <a:lnTo>
                      <a:pt x="45" y="306"/>
                    </a:lnTo>
                    <a:lnTo>
                      <a:pt x="45" y="310"/>
                    </a:lnTo>
                    <a:lnTo>
                      <a:pt x="45" y="313"/>
                    </a:lnTo>
                    <a:lnTo>
                      <a:pt x="45" y="317"/>
                    </a:lnTo>
                    <a:lnTo>
                      <a:pt x="45" y="320"/>
                    </a:lnTo>
                    <a:lnTo>
                      <a:pt x="45" y="324"/>
                    </a:lnTo>
                    <a:lnTo>
                      <a:pt x="45" y="327"/>
                    </a:lnTo>
                    <a:lnTo>
                      <a:pt x="45" y="331"/>
                    </a:lnTo>
                    <a:lnTo>
                      <a:pt x="45" y="334"/>
                    </a:lnTo>
                    <a:lnTo>
                      <a:pt x="41" y="337"/>
                    </a:lnTo>
                    <a:lnTo>
                      <a:pt x="41" y="341"/>
                    </a:lnTo>
                    <a:lnTo>
                      <a:pt x="41" y="344"/>
                    </a:lnTo>
                    <a:lnTo>
                      <a:pt x="41" y="348"/>
                    </a:lnTo>
                    <a:lnTo>
                      <a:pt x="41" y="351"/>
                    </a:lnTo>
                    <a:lnTo>
                      <a:pt x="38" y="351"/>
                    </a:lnTo>
                    <a:lnTo>
                      <a:pt x="38" y="355"/>
                    </a:lnTo>
                    <a:lnTo>
                      <a:pt x="38" y="358"/>
                    </a:lnTo>
                    <a:lnTo>
                      <a:pt x="38" y="362"/>
                    </a:lnTo>
                    <a:lnTo>
                      <a:pt x="34" y="365"/>
                    </a:lnTo>
                    <a:lnTo>
                      <a:pt x="34" y="368"/>
                    </a:lnTo>
                    <a:lnTo>
                      <a:pt x="31" y="372"/>
                    </a:lnTo>
                    <a:lnTo>
                      <a:pt x="31" y="375"/>
                    </a:lnTo>
                    <a:lnTo>
                      <a:pt x="31" y="379"/>
                    </a:lnTo>
                    <a:lnTo>
                      <a:pt x="28" y="382"/>
                    </a:lnTo>
                    <a:lnTo>
                      <a:pt x="28" y="386"/>
                    </a:lnTo>
                    <a:lnTo>
                      <a:pt x="24" y="389"/>
                    </a:lnTo>
                    <a:lnTo>
                      <a:pt x="24" y="393"/>
                    </a:lnTo>
                    <a:lnTo>
                      <a:pt x="24" y="396"/>
                    </a:lnTo>
                    <a:lnTo>
                      <a:pt x="21" y="396"/>
                    </a:lnTo>
                    <a:lnTo>
                      <a:pt x="21" y="399"/>
                    </a:lnTo>
                    <a:lnTo>
                      <a:pt x="21" y="403"/>
                    </a:lnTo>
                    <a:lnTo>
                      <a:pt x="17" y="406"/>
                    </a:lnTo>
                    <a:lnTo>
                      <a:pt x="17" y="410"/>
                    </a:lnTo>
                    <a:lnTo>
                      <a:pt x="17" y="413"/>
                    </a:lnTo>
                    <a:lnTo>
                      <a:pt x="14" y="413"/>
                    </a:lnTo>
                    <a:lnTo>
                      <a:pt x="14" y="417"/>
                    </a:lnTo>
                    <a:lnTo>
                      <a:pt x="14" y="420"/>
                    </a:lnTo>
                    <a:lnTo>
                      <a:pt x="10" y="420"/>
                    </a:lnTo>
                    <a:lnTo>
                      <a:pt x="10" y="424"/>
                    </a:lnTo>
                    <a:lnTo>
                      <a:pt x="10" y="427"/>
                    </a:lnTo>
                    <a:lnTo>
                      <a:pt x="10" y="430"/>
                    </a:lnTo>
                    <a:lnTo>
                      <a:pt x="7" y="430"/>
                    </a:lnTo>
                    <a:lnTo>
                      <a:pt x="7" y="434"/>
                    </a:lnTo>
                    <a:lnTo>
                      <a:pt x="7" y="437"/>
                    </a:lnTo>
                    <a:lnTo>
                      <a:pt x="3" y="441"/>
                    </a:lnTo>
                    <a:lnTo>
                      <a:pt x="3" y="444"/>
                    </a:lnTo>
                    <a:lnTo>
                      <a:pt x="3" y="448"/>
                    </a:lnTo>
                    <a:lnTo>
                      <a:pt x="3" y="451"/>
                    </a:lnTo>
                    <a:lnTo>
                      <a:pt x="0" y="455"/>
                    </a:lnTo>
                    <a:lnTo>
                      <a:pt x="0" y="458"/>
                    </a:lnTo>
                    <a:lnTo>
                      <a:pt x="0" y="462"/>
                    </a:lnTo>
                    <a:lnTo>
                      <a:pt x="0" y="465"/>
                    </a:lnTo>
                    <a:lnTo>
                      <a:pt x="0" y="468"/>
                    </a:lnTo>
                    <a:lnTo>
                      <a:pt x="0" y="472"/>
                    </a:lnTo>
                    <a:lnTo>
                      <a:pt x="0" y="475"/>
                    </a:lnTo>
                    <a:lnTo>
                      <a:pt x="0" y="479"/>
                    </a:lnTo>
                    <a:lnTo>
                      <a:pt x="0" y="482"/>
                    </a:lnTo>
                    <a:lnTo>
                      <a:pt x="0" y="486"/>
                    </a:lnTo>
                    <a:lnTo>
                      <a:pt x="0" y="489"/>
                    </a:lnTo>
                    <a:lnTo>
                      <a:pt x="0" y="493"/>
                    </a:lnTo>
                    <a:lnTo>
                      <a:pt x="0" y="496"/>
                    </a:lnTo>
                    <a:lnTo>
                      <a:pt x="3" y="499"/>
                    </a:lnTo>
                    <a:lnTo>
                      <a:pt x="3" y="503"/>
                    </a:lnTo>
                    <a:lnTo>
                      <a:pt x="3" y="506"/>
                    </a:lnTo>
                    <a:lnTo>
                      <a:pt x="7" y="506"/>
                    </a:lnTo>
                    <a:lnTo>
                      <a:pt x="7" y="510"/>
                    </a:lnTo>
                    <a:lnTo>
                      <a:pt x="7" y="513"/>
                    </a:lnTo>
                    <a:lnTo>
                      <a:pt x="10" y="513"/>
                    </a:lnTo>
                    <a:lnTo>
                      <a:pt x="10" y="517"/>
                    </a:lnTo>
                    <a:lnTo>
                      <a:pt x="14" y="520"/>
                    </a:lnTo>
                    <a:lnTo>
                      <a:pt x="14" y="524"/>
                    </a:lnTo>
                    <a:lnTo>
                      <a:pt x="17" y="524"/>
                    </a:lnTo>
                    <a:lnTo>
                      <a:pt x="17" y="527"/>
                    </a:lnTo>
                    <a:lnTo>
                      <a:pt x="17" y="530"/>
                    </a:lnTo>
                    <a:lnTo>
                      <a:pt x="21" y="530"/>
                    </a:lnTo>
                    <a:lnTo>
                      <a:pt x="21" y="534"/>
                    </a:lnTo>
                    <a:lnTo>
                      <a:pt x="24" y="534"/>
                    </a:lnTo>
                    <a:lnTo>
                      <a:pt x="24" y="537"/>
                    </a:lnTo>
                  </a:path>
                </a:pathLst>
              </a:cu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7" name="Rectangle 179"/>
              <p:cNvSpPr>
                <a:spLocks noChangeArrowheads="1"/>
              </p:cNvSpPr>
              <p:nvPr/>
            </p:nvSpPr>
            <p:spPr bwMode="auto">
              <a:xfrm>
                <a:off x="2879" y="2961"/>
                <a:ext cx="172" cy="7"/>
              </a:xfrm>
              <a:prstGeom prst="rect">
                <a:avLst/>
              </a:prstGeom>
              <a:solidFill>
                <a:srgbClr val="CB5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8" name="Freeform 180"/>
              <p:cNvSpPr>
                <a:spLocks noChangeArrowheads="1"/>
              </p:cNvSpPr>
              <p:nvPr/>
            </p:nvSpPr>
            <p:spPr bwMode="auto">
              <a:xfrm>
                <a:off x="3051" y="2950"/>
                <a:ext cx="80" cy="31"/>
              </a:xfrm>
              <a:custGeom>
                <a:avLst/>
                <a:gdLst>
                  <a:gd name="T0" fmla="*/ 80 w 80"/>
                  <a:gd name="T1" fmla="*/ 18 h 31"/>
                  <a:gd name="T2" fmla="*/ 0 w 80"/>
                  <a:gd name="T3" fmla="*/ 0 h 31"/>
                  <a:gd name="T4" fmla="*/ 0 w 80"/>
                  <a:gd name="T5" fmla="*/ 31 h 31"/>
                  <a:gd name="T6" fmla="*/ 80 w 80"/>
                  <a:gd name="T7" fmla="*/ 18 h 31"/>
                  <a:gd name="T8" fmla="*/ 38 w 80"/>
                  <a:gd name="T9" fmla="*/ 14 h 31"/>
                  <a:gd name="T10" fmla="*/ 80 w 80"/>
                  <a:gd name="T11" fmla="*/ 1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0" h="31">
                    <a:moveTo>
                      <a:pt x="80" y="18"/>
                    </a:moveTo>
                    <a:lnTo>
                      <a:pt x="0" y="0"/>
                    </a:lnTo>
                    <a:lnTo>
                      <a:pt x="0" y="31"/>
                    </a:lnTo>
                    <a:lnTo>
                      <a:pt x="80" y="18"/>
                    </a:lnTo>
                    <a:lnTo>
                      <a:pt x="38" y="14"/>
                    </a:lnTo>
                    <a:lnTo>
                      <a:pt x="80" y="18"/>
                    </a:lnTo>
                    <a:close/>
                  </a:path>
                </a:pathLst>
              </a:custGeom>
              <a:solidFill>
                <a:srgbClr val="CB5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9" name="Rectangle 181"/>
              <p:cNvSpPr>
                <a:spLocks noChangeArrowheads="1"/>
              </p:cNvSpPr>
              <p:nvPr/>
            </p:nvSpPr>
            <p:spPr bwMode="auto">
              <a:xfrm>
                <a:off x="2879" y="1872"/>
                <a:ext cx="138" cy="7"/>
              </a:xfrm>
              <a:prstGeom prst="rect">
                <a:avLst/>
              </a:prstGeom>
              <a:solidFill>
                <a:srgbClr val="CB5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0" name="Freeform 182"/>
              <p:cNvSpPr>
                <a:spLocks noChangeArrowheads="1"/>
              </p:cNvSpPr>
              <p:nvPr/>
            </p:nvSpPr>
            <p:spPr bwMode="auto">
              <a:xfrm>
                <a:off x="3017" y="1858"/>
                <a:ext cx="83" cy="35"/>
              </a:xfrm>
              <a:custGeom>
                <a:avLst/>
                <a:gdLst>
                  <a:gd name="T0" fmla="*/ 83 w 83"/>
                  <a:gd name="T1" fmla="*/ 17 h 35"/>
                  <a:gd name="T2" fmla="*/ 0 w 83"/>
                  <a:gd name="T3" fmla="*/ 0 h 35"/>
                  <a:gd name="T4" fmla="*/ 0 w 83"/>
                  <a:gd name="T5" fmla="*/ 35 h 35"/>
                  <a:gd name="T6" fmla="*/ 83 w 83"/>
                  <a:gd name="T7" fmla="*/ 17 h 35"/>
                  <a:gd name="T8" fmla="*/ 38 w 83"/>
                  <a:gd name="T9" fmla="*/ 17 h 35"/>
                  <a:gd name="T10" fmla="*/ 83 w 83"/>
                  <a:gd name="T11" fmla="*/ 1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3" h="35">
                    <a:moveTo>
                      <a:pt x="83" y="17"/>
                    </a:moveTo>
                    <a:lnTo>
                      <a:pt x="0" y="0"/>
                    </a:lnTo>
                    <a:lnTo>
                      <a:pt x="0" y="35"/>
                    </a:lnTo>
                    <a:lnTo>
                      <a:pt x="83" y="17"/>
                    </a:lnTo>
                    <a:lnTo>
                      <a:pt x="38" y="17"/>
                    </a:lnTo>
                    <a:lnTo>
                      <a:pt x="83" y="17"/>
                    </a:lnTo>
                    <a:close/>
                  </a:path>
                </a:pathLst>
              </a:custGeom>
              <a:solidFill>
                <a:srgbClr val="CB5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1" name="Line 183"/>
              <p:cNvSpPr>
                <a:spLocks noChangeShapeType="1"/>
              </p:cNvSpPr>
              <p:nvPr/>
            </p:nvSpPr>
            <p:spPr bwMode="auto">
              <a:xfrm>
                <a:off x="3396" y="2613"/>
                <a:ext cx="1" cy="58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2" name="Line 184"/>
              <p:cNvSpPr>
                <a:spLocks noChangeShapeType="1"/>
              </p:cNvSpPr>
              <p:nvPr/>
            </p:nvSpPr>
            <p:spPr bwMode="auto">
              <a:xfrm>
                <a:off x="2879" y="2134"/>
                <a:ext cx="1" cy="537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3" name="Rectangle 185"/>
              <p:cNvSpPr>
                <a:spLocks noChangeArrowheads="1"/>
              </p:cNvSpPr>
              <p:nvPr/>
            </p:nvSpPr>
            <p:spPr bwMode="auto">
              <a:xfrm>
                <a:off x="2869" y="2771"/>
                <a:ext cx="21" cy="193"/>
              </a:xfrm>
              <a:prstGeom prst="rect">
                <a:avLst/>
              </a:prstGeom>
              <a:solidFill>
                <a:srgbClr val="CB5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4" name="Line 186"/>
              <p:cNvSpPr>
                <a:spLocks noChangeShapeType="1"/>
              </p:cNvSpPr>
              <p:nvPr/>
            </p:nvSpPr>
            <p:spPr bwMode="auto">
              <a:xfrm>
                <a:off x="2983" y="2179"/>
                <a:ext cx="1" cy="385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5" name="Rectangle 187"/>
              <p:cNvSpPr>
                <a:spLocks noChangeArrowheads="1"/>
              </p:cNvSpPr>
              <p:nvPr/>
            </p:nvSpPr>
            <p:spPr bwMode="auto">
              <a:xfrm>
                <a:off x="2869" y="1875"/>
                <a:ext cx="21" cy="193"/>
              </a:xfrm>
              <a:prstGeom prst="rect">
                <a:avLst/>
              </a:prstGeom>
              <a:solidFill>
                <a:srgbClr val="CB5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6" name="Rectangle 188"/>
              <p:cNvSpPr>
                <a:spLocks noChangeArrowheads="1"/>
              </p:cNvSpPr>
              <p:nvPr/>
            </p:nvSpPr>
            <p:spPr bwMode="auto">
              <a:xfrm>
                <a:off x="2625" y="2661"/>
                <a:ext cx="1149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7" name="Rectangle 189"/>
              <p:cNvSpPr>
                <a:spLocks noChangeArrowheads="1"/>
              </p:cNvSpPr>
              <p:nvPr/>
            </p:nvSpPr>
            <p:spPr bwMode="auto">
              <a:xfrm>
                <a:off x="2645" y="2554"/>
                <a:ext cx="1112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8" name="Rectangle 190"/>
              <p:cNvSpPr>
                <a:spLocks noChangeArrowheads="1"/>
              </p:cNvSpPr>
              <p:nvPr/>
            </p:nvSpPr>
            <p:spPr bwMode="auto">
              <a:xfrm>
                <a:off x="2625" y="2124"/>
                <a:ext cx="1149" cy="2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9" name="Freeform 191"/>
              <p:cNvSpPr>
                <a:spLocks noChangeArrowheads="1"/>
              </p:cNvSpPr>
              <p:nvPr/>
            </p:nvSpPr>
            <p:spPr bwMode="auto">
              <a:xfrm>
                <a:off x="2934" y="2134"/>
                <a:ext cx="49" cy="45"/>
              </a:xfrm>
              <a:custGeom>
                <a:avLst/>
                <a:gdLst>
                  <a:gd name="T0" fmla="*/ 49 w 49"/>
                  <a:gd name="T1" fmla="*/ 45 h 45"/>
                  <a:gd name="T2" fmla="*/ 49 w 49"/>
                  <a:gd name="T3" fmla="*/ 34 h 45"/>
                  <a:gd name="T4" fmla="*/ 45 w 49"/>
                  <a:gd name="T5" fmla="*/ 27 h 45"/>
                  <a:gd name="T6" fmla="*/ 42 w 49"/>
                  <a:gd name="T7" fmla="*/ 21 h 45"/>
                  <a:gd name="T8" fmla="*/ 35 w 49"/>
                  <a:gd name="T9" fmla="*/ 14 h 45"/>
                  <a:gd name="T10" fmla="*/ 28 w 49"/>
                  <a:gd name="T11" fmla="*/ 7 h 45"/>
                  <a:gd name="T12" fmla="*/ 21 w 49"/>
                  <a:gd name="T13" fmla="*/ 3 h 45"/>
                  <a:gd name="T14" fmla="*/ 11 w 49"/>
                  <a:gd name="T15" fmla="*/ 0 h 45"/>
                  <a:gd name="T16" fmla="*/ 0 w 49"/>
                  <a:gd name="T17" fmla="*/ 0 h 45"/>
                  <a:gd name="T18" fmla="*/ 0 w 49"/>
                  <a:gd name="T19" fmla="*/ 0 h 45"/>
                  <a:gd name="T20" fmla="*/ 0 w 49"/>
                  <a:gd name="T2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45">
                    <a:moveTo>
                      <a:pt x="49" y="45"/>
                    </a:moveTo>
                    <a:lnTo>
                      <a:pt x="49" y="34"/>
                    </a:lnTo>
                    <a:lnTo>
                      <a:pt x="45" y="27"/>
                    </a:lnTo>
                    <a:lnTo>
                      <a:pt x="42" y="21"/>
                    </a:lnTo>
                    <a:lnTo>
                      <a:pt x="35" y="14"/>
                    </a:lnTo>
                    <a:lnTo>
                      <a:pt x="28" y="7"/>
                    </a:lnTo>
                    <a:lnTo>
                      <a:pt x="21" y="3"/>
                    </a:ln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0" name="Freeform 192"/>
              <p:cNvSpPr>
                <a:spLocks noChangeArrowheads="1"/>
              </p:cNvSpPr>
              <p:nvPr/>
            </p:nvSpPr>
            <p:spPr bwMode="auto">
              <a:xfrm>
                <a:off x="3351" y="2564"/>
                <a:ext cx="45" cy="49"/>
              </a:xfrm>
              <a:custGeom>
                <a:avLst/>
                <a:gdLst>
                  <a:gd name="T0" fmla="*/ 45 w 45"/>
                  <a:gd name="T1" fmla="*/ 49 h 49"/>
                  <a:gd name="T2" fmla="*/ 45 w 45"/>
                  <a:gd name="T3" fmla="*/ 38 h 49"/>
                  <a:gd name="T4" fmla="*/ 41 w 45"/>
                  <a:gd name="T5" fmla="*/ 28 h 49"/>
                  <a:gd name="T6" fmla="*/ 38 w 45"/>
                  <a:gd name="T7" fmla="*/ 21 h 49"/>
                  <a:gd name="T8" fmla="*/ 31 w 45"/>
                  <a:gd name="T9" fmla="*/ 14 h 49"/>
                  <a:gd name="T10" fmla="*/ 24 w 45"/>
                  <a:gd name="T11" fmla="*/ 7 h 49"/>
                  <a:gd name="T12" fmla="*/ 17 w 45"/>
                  <a:gd name="T13" fmla="*/ 4 h 49"/>
                  <a:gd name="T14" fmla="*/ 7 w 45"/>
                  <a:gd name="T15" fmla="*/ 0 h 49"/>
                  <a:gd name="T16" fmla="*/ 0 w 45"/>
                  <a:gd name="T17" fmla="*/ 0 h 49"/>
                  <a:gd name="T18" fmla="*/ 0 w 45"/>
                  <a:gd name="T19" fmla="*/ 0 h 49"/>
                  <a:gd name="T20" fmla="*/ 0 w 45"/>
                  <a:gd name="T2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5" h="49">
                    <a:moveTo>
                      <a:pt x="45" y="49"/>
                    </a:moveTo>
                    <a:lnTo>
                      <a:pt x="45" y="38"/>
                    </a:lnTo>
                    <a:lnTo>
                      <a:pt x="41" y="28"/>
                    </a:lnTo>
                    <a:lnTo>
                      <a:pt x="38" y="21"/>
                    </a:lnTo>
                    <a:lnTo>
                      <a:pt x="31" y="14"/>
                    </a:lnTo>
                    <a:lnTo>
                      <a:pt x="24" y="7"/>
                    </a:lnTo>
                    <a:lnTo>
                      <a:pt x="17" y="4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1" name="Line 193"/>
              <p:cNvSpPr>
                <a:spLocks noChangeShapeType="1"/>
              </p:cNvSpPr>
              <p:nvPr/>
            </p:nvSpPr>
            <p:spPr bwMode="auto">
              <a:xfrm flipV="1">
                <a:off x="3347" y="2623"/>
                <a:ext cx="49" cy="48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2" name="Line 194"/>
              <p:cNvSpPr>
                <a:spLocks noChangeShapeType="1"/>
              </p:cNvSpPr>
              <p:nvPr/>
            </p:nvSpPr>
            <p:spPr bwMode="auto">
              <a:xfrm flipV="1">
                <a:off x="3241" y="2564"/>
                <a:ext cx="106" cy="107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3" name="Line 195"/>
              <p:cNvSpPr>
                <a:spLocks noChangeShapeType="1"/>
              </p:cNvSpPr>
              <p:nvPr/>
            </p:nvSpPr>
            <p:spPr bwMode="auto">
              <a:xfrm flipV="1">
                <a:off x="3137" y="2564"/>
                <a:ext cx="107" cy="107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" name="Line 196"/>
              <p:cNvSpPr>
                <a:spLocks noChangeShapeType="1"/>
              </p:cNvSpPr>
              <p:nvPr/>
            </p:nvSpPr>
            <p:spPr bwMode="auto">
              <a:xfrm flipV="1">
                <a:off x="3034" y="2564"/>
                <a:ext cx="107" cy="107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5" name="Line 197"/>
              <p:cNvSpPr>
                <a:spLocks noChangeShapeType="1"/>
              </p:cNvSpPr>
              <p:nvPr/>
            </p:nvSpPr>
            <p:spPr bwMode="auto">
              <a:xfrm flipV="1">
                <a:off x="2931" y="2564"/>
                <a:ext cx="107" cy="107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6" name="Line 198"/>
              <p:cNvSpPr>
                <a:spLocks noChangeShapeType="1"/>
              </p:cNvSpPr>
              <p:nvPr/>
            </p:nvSpPr>
            <p:spPr bwMode="auto">
              <a:xfrm flipV="1">
                <a:off x="2934" y="2516"/>
                <a:ext cx="49" cy="48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7" name="Line 199"/>
              <p:cNvSpPr>
                <a:spLocks noChangeShapeType="1"/>
              </p:cNvSpPr>
              <p:nvPr/>
            </p:nvSpPr>
            <p:spPr bwMode="auto">
              <a:xfrm flipV="1">
                <a:off x="2879" y="2564"/>
                <a:ext cx="55" cy="56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8" name="Line 200"/>
              <p:cNvSpPr>
                <a:spLocks noChangeShapeType="1"/>
              </p:cNvSpPr>
              <p:nvPr/>
            </p:nvSpPr>
            <p:spPr bwMode="auto">
              <a:xfrm flipV="1">
                <a:off x="2879" y="2413"/>
                <a:ext cx="104" cy="103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9" name="Line 201"/>
              <p:cNvSpPr>
                <a:spLocks noChangeShapeType="1"/>
              </p:cNvSpPr>
              <p:nvPr/>
            </p:nvSpPr>
            <p:spPr bwMode="auto">
              <a:xfrm flipV="1">
                <a:off x="2879" y="2310"/>
                <a:ext cx="104" cy="103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0" name="Line 202"/>
              <p:cNvSpPr>
                <a:spLocks noChangeShapeType="1"/>
              </p:cNvSpPr>
              <p:nvPr/>
            </p:nvSpPr>
            <p:spPr bwMode="auto">
              <a:xfrm flipV="1">
                <a:off x="2879" y="2206"/>
                <a:ext cx="104" cy="104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1" name="Line 203"/>
              <p:cNvSpPr>
                <a:spLocks noChangeShapeType="1"/>
              </p:cNvSpPr>
              <p:nvPr/>
            </p:nvSpPr>
            <p:spPr bwMode="auto">
              <a:xfrm flipV="1">
                <a:off x="2879" y="2134"/>
                <a:ext cx="69" cy="72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2" name="Rectangle 204"/>
              <p:cNvSpPr>
                <a:spLocks noChangeArrowheads="1"/>
              </p:cNvSpPr>
              <p:nvPr/>
            </p:nvSpPr>
            <p:spPr bwMode="auto">
              <a:xfrm>
                <a:off x="2625" y="3143"/>
                <a:ext cx="1149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3" name="Rectangle 205"/>
              <p:cNvSpPr>
                <a:spLocks noChangeArrowheads="1"/>
              </p:cNvSpPr>
              <p:nvPr/>
            </p:nvSpPr>
            <p:spPr bwMode="auto">
              <a:xfrm>
                <a:off x="2649" y="3243"/>
                <a:ext cx="1149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4" name="Rectangle 206"/>
              <p:cNvSpPr>
                <a:spLocks noChangeArrowheads="1"/>
              </p:cNvSpPr>
              <p:nvPr/>
            </p:nvSpPr>
            <p:spPr bwMode="auto">
              <a:xfrm>
                <a:off x="2625" y="3660"/>
                <a:ext cx="1149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5" name="Freeform 207"/>
              <p:cNvSpPr>
                <a:spLocks noChangeArrowheads="1"/>
              </p:cNvSpPr>
              <p:nvPr/>
            </p:nvSpPr>
            <p:spPr bwMode="auto">
              <a:xfrm>
                <a:off x="2601" y="3150"/>
                <a:ext cx="44" cy="520"/>
              </a:xfrm>
              <a:custGeom>
                <a:avLst/>
                <a:gdLst>
                  <a:gd name="T0" fmla="*/ 24 w 44"/>
                  <a:gd name="T1" fmla="*/ 0 h 520"/>
                  <a:gd name="T2" fmla="*/ 34 w 44"/>
                  <a:gd name="T3" fmla="*/ 35 h 520"/>
                  <a:gd name="T4" fmla="*/ 41 w 44"/>
                  <a:gd name="T5" fmla="*/ 69 h 520"/>
                  <a:gd name="T6" fmla="*/ 44 w 44"/>
                  <a:gd name="T7" fmla="*/ 104 h 520"/>
                  <a:gd name="T8" fmla="*/ 44 w 44"/>
                  <a:gd name="T9" fmla="*/ 135 h 520"/>
                  <a:gd name="T10" fmla="*/ 34 w 44"/>
                  <a:gd name="T11" fmla="*/ 200 h 520"/>
                  <a:gd name="T12" fmla="*/ 20 w 44"/>
                  <a:gd name="T13" fmla="*/ 262 h 520"/>
                  <a:gd name="T14" fmla="*/ 6 w 44"/>
                  <a:gd name="T15" fmla="*/ 327 h 520"/>
                  <a:gd name="T16" fmla="*/ 0 w 44"/>
                  <a:gd name="T17" fmla="*/ 389 h 520"/>
                  <a:gd name="T18" fmla="*/ 3 w 44"/>
                  <a:gd name="T19" fmla="*/ 420 h 520"/>
                  <a:gd name="T20" fmla="*/ 6 w 44"/>
                  <a:gd name="T21" fmla="*/ 455 h 520"/>
                  <a:gd name="T22" fmla="*/ 13 w 44"/>
                  <a:gd name="T23" fmla="*/ 486 h 520"/>
                  <a:gd name="T24" fmla="*/ 27 w 44"/>
                  <a:gd name="T25" fmla="*/ 520 h 5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" h="520">
                    <a:moveTo>
                      <a:pt x="24" y="0"/>
                    </a:moveTo>
                    <a:lnTo>
                      <a:pt x="34" y="35"/>
                    </a:lnTo>
                    <a:lnTo>
                      <a:pt x="41" y="69"/>
                    </a:lnTo>
                    <a:lnTo>
                      <a:pt x="44" y="104"/>
                    </a:lnTo>
                    <a:lnTo>
                      <a:pt x="44" y="135"/>
                    </a:lnTo>
                    <a:lnTo>
                      <a:pt x="34" y="200"/>
                    </a:lnTo>
                    <a:lnTo>
                      <a:pt x="20" y="262"/>
                    </a:lnTo>
                    <a:lnTo>
                      <a:pt x="6" y="327"/>
                    </a:lnTo>
                    <a:lnTo>
                      <a:pt x="0" y="389"/>
                    </a:lnTo>
                    <a:lnTo>
                      <a:pt x="3" y="420"/>
                    </a:lnTo>
                    <a:lnTo>
                      <a:pt x="6" y="455"/>
                    </a:lnTo>
                    <a:lnTo>
                      <a:pt x="13" y="486"/>
                    </a:lnTo>
                    <a:lnTo>
                      <a:pt x="27" y="520"/>
                    </a:lnTo>
                  </a:path>
                </a:pathLst>
              </a:custGeom>
              <a:noFill/>
              <a:ln w="11113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6" name="Freeform 208"/>
              <p:cNvSpPr>
                <a:spLocks noChangeArrowheads="1"/>
              </p:cNvSpPr>
              <p:nvPr/>
            </p:nvSpPr>
            <p:spPr bwMode="auto">
              <a:xfrm>
                <a:off x="3750" y="3150"/>
                <a:ext cx="48" cy="520"/>
              </a:xfrm>
              <a:custGeom>
                <a:avLst/>
                <a:gdLst>
                  <a:gd name="T0" fmla="*/ 24 w 48"/>
                  <a:gd name="T1" fmla="*/ 0 h 520"/>
                  <a:gd name="T2" fmla="*/ 34 w 48"/>
                  <a:gd name="T3" fmla="*/ 35 h 520"/>
                  <a:gd name="T4" fmla="*/ 45 w 48"/>
                  <a:gd name="T5" fmla="*/ 69 h 520"/>
                  <a:gd name="T6" fmla="*/ 48 w 48"/>
                  <a:gd name="T7" fmla="*/ 104 h 520"/>
                  <a:gd name="T8" fmla="*/ 45 w 48"/>
                  <a:gd name="T9" fmla="*/ 138 h 520"/>
                  <a:gd name="T10" fmla="*/ 38 w 48"/>
                  <a:gd name="T11" fmla="*/ 203 h 520"/>
                  <a:gd name="T12" fmla="*/ 21 w 48"/>
                  <a:gd name="T13" fmla="*/ 265 h 520"/>
                  <a:gd name="T14" fmla="*/ 7 w 48"/>
                  <a:gd name="T15" fmla="*/ 327 h 520"/>
                  <a:gd name="T16" fmla="*/ 0 w 48"/>
                  <a:gd name="T17" fmla="*/ 389 h 520"/>
                  <a:gd name="T18" fmla="*/ 0 w 48"/>
                  <a:gd name="T19" fmla="*/ 420 h 520"/>
                  <a:gd name="T20" fmla="*/ 3 w 48"/>
                  <a:gd name="T21" fmla="*/ 455 h 520"/>
                  <a:gd name="T22" fmla="*/ 10 w 48"/>
                  <a:gd name="T23" fmla="*/ 486 h 520"/>
                  <a:gd name="T24" fmla="*/ 24 w 48"/>
                  <a:gd name="T25" fmla="*/ 520 h 5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520">
                    <a:moveTo>
                      <a:pt x="24" y="0"/>
                    </a:moveTo>
                    <a:lnTo>
                      <a:pt x="34" y="35"/>
                    </a:lnTo>
                    <a:lnTo>
                      <a:pt x="45" y="69"/>
                    </a:lnTo>
                    <a:lnTo>
                      <a:pt x="48" y="104"/>
                    </a:lnTo>
                    <a:lnTo>
                      <a:pt x="45" y="138"/>
                    </a:lnTo>
                    <a:lnTo>
                      <a:pt x="38" y="203"/>
                    </a:lnTo>
                    <a:lnTo>
                      <a:pt x="21" y="265"/>
                    </a:lnTo>
                    <a:lnTo>
                      <a:pt x="7" y="327"/>
                    </a:lnTo>
                    <a:lnTo>
                      <a:pt x="0" y="389"/>
                    </a:lnTo>
                    <a:lnTo>
                      <a:pt x="0" y="420"/>
                    </a:lnTo>
                    <a:lnTo>
                      <a:pt x="3" y="455"/>
                    </a:lnTo>
                    <a:lnTo>
                      <a:pt x="10" y="486"/>
                    </a:lnTo>
                    <a:lnTo>
                      <a:pt x="24" y="520"/>
                    </a:lnTo>
                  </a:path>
                </a:pathLst>
              </a:custGeom>
              <a:noFill/>
              <a:ln w="11113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7" name="Group 209"/>
            <p:cNvGrpSpPr>
              <a:grpSpLocks/>
            </p:cNvGrpSpPr>
            <p:nvPr/>
          </p:nvGrpSpPr>
          <p:grpSpPr bwMode="auto">
            <a:xfrm>
              <a:off x="457" y="1896"/>
              <a:ext cx="1821" cy="1870"/>
              <a:chOff x="274" y="1869"/>
              <a:chExt cx="1821" cy="1870"/>
            </a:xfrm>
          </p:grpSpPr>
          <p:sp>
            <p:nvSpPr>
              <p:cNvPr id="8" name="Freeform 210"/>
              <p:cNvSpPr>
                <a:spLocks noChangeArrowheads="1"/>
              </p:cNvSpPr>
              <p:nvPr/>
            </p:nvSpPr>
            <p:spPr bwMode="auto">
              <a:xfrm>
                <a:off x="512" y="2106"/>
                <a:ext cx="103" cy="100"/>
              </a:xfrm>
              <a:custGeom>
                <a:avLst/>
                <a:gdLst>
                  <a:gd name="T0" fmla="*/ 20 w 103"/>
                  <a:gd name="T1" fmla="*/ 100 h 100"/>
                  <a:gd name="T2" fmla="*/ 24 w 103"/>
                  <a:gd name="T3" fmla="*/ 86 h 100"/>
                  <a:gd name="T4" fmla="*/ 27 w 103"/>
                  <a:gd name="T5" fmla="*/ 69 h 100"/>
                  <a:gd name="T6" fmla="*/ 34 w 103"/>
                  <a:gd name="T7" fmla="*/ 55 h 100"/>
                  <a:gd name="T8" fmla="*/ 44 w 103"/>
                  <a:gd name="T9" fmla="*/ 45 h 100"/>
                  <a:gd name="T10" fmla="*/ 58 w 103"/>
                  <a:gd name="T11" fmla="*/ 35 h 100"/>
                  <a:gd name="T12" fmla="*/ 72 w 103"/>
                  <a:gd name="T13" fmla="*/ 24 h 100"/>
                  <a:gd name="T14" fmla="*/ 86 w 103"/>
                  <a:gd name="T15" fmla="*/ 21 h 100"/>
                  <a:gd name="T16" fmla="*/ 103 w 103"/>
                  <a:gd name="T17" fmla="*/ 21 h 100"/>
                  <a:gd name="T18" fmla="*/ 103 w 103"/>
                  <a:gd name="T19" fmla="*/ 0 h 100"/>
                  <a:gd name="T20" fmla="*/ 82 w 103"/>
                  <a:gd name="T21" fmla="*/ 0 h 100"/>
                  <a:gd name="T22" fmla="*/ 62 w 103"/>
                  <a:gd name="T23" fmla="*/ 7 h 100"/>
                  <a:gd name="T24" fmla="*/ 44 w 103"/>
                  <a:gd name="T25" fmla="*/ 18 h 100"/>
                  <a:gd name="T26" fmla="*/ 31 w 103"/>
                  <a:gd name="T27" fmla="*/ 28 h 100"/>
                  <a:gd name="T28" fmla="*/ 17 w 103"/>
                  <a:gd name="T29" fmla="*/ 45 h 100"/>
                  <a:gd name="T30" fmla="*/ 10 w 103"/>
                  <a:gd name="T31" fmla="*/ 62 h 100"/>
                  <a:gd name="T32" fmla="*/ 3 w 103"/>
                  <a:gd name="T33" fmla="*/ 80 h 100"/>
                  <a:gd name="T34" fmla="*/ 0 w 103"/>
                  <a:gd name="T35" fmla="*/ 100 h 100"/>
                  <a:gd name="T36" fmla="*/ 20 w 103"/>
                  <a:gd name="T37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3" h="100">
                    <a:moveTo>
                      <a:pt x="20" y="100"/>
                    </a:moveTo>
                    <a:lnTo>
                      <a:pt x="24" y="86"/>
                    </a:lnTo>
                    <a:lnTo>
                      <a:pt x="27" y="69"/>
                    </a:lnTo>
                    <a:lnTo>
                      <a:pt x="34" y="55"/>
                    </a:lnTo>
                    <a:lnTo>
                      <a:pt x="44" y="45"/>
                    </a:lnTo>
                    <a:lnTo>
                      <a:pt x="58" y="35"/>
                    </a:lnTo>
                    <a:lnTo>
                      <a:pt x="72" y="24"/>
                    </a:lnTo>
                    <a:lnTo>
                      <a:pt x="86" y="21"/>
                    </a:lnTo>
                    <a:lnTo>
                      <a:pt x="103" y="21"/>
                    </a:lnTo>
                    <a:lnTo>
                      <a:pt x="103" y="0"/>
                    </a:lnTo>
                    <a:lnTo>
                      <a:pt x="82" y="0"/>
                    </a:lnTo>
                    <a:lnTo>
                      <a:pt x="62" y="7"/>
                    </a:lnTo>
                    <a:lnTo>
                      <a:pt x="44" y="18"/>
                    </a:lnTo>
                    <a:lnTo>
                      <a:pt x="31" y="28"/>
                    </a:lnTo>
                    <a:lnTo>
                      <a:pt x="17" y="45"/>
                    </a:lnTo>
                    <a:lnTo>
                      <a:pt x="10" y="62"/>
                    </a:lnTo>
                    <a:lnTo>
                      <a:pt x="3" y="80"/>
                    </a:lnTo>
                    <a:lnTo>
                      <a:pt x="0" y="100"/>
                    </a:lnTo>
                    <a:lnTo>
                      <a:pt x="20" y="10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" name="Freeform 211"/>
              <p:cNvSpPr>
                <a:spLocks noChangeArrowheads="1"/>
              </p:cNvSpPr>
              <p:nvPr/>
            </p:nvSpPr>
            <p:spPr bwMode="auto">
              <a:xfrm>
                <a:off x="477" y="2664"/>
                <a:ext cx="55" cy="59"/>
              </a:xfrm>
              <a:custGeom>
                <a:avLst/>
                <a:gdLst>
                  <a:gd name="T0" fmla="*/ 35 w 55"/>
                  <a:gd name="T1" fmla="*/ 0 h 59"/>
                  <a:gd name="T2" fmla="*/ 35 w 55"/>
                  <a:gd name="T3" fmla="*/ 7 h 59"/>
                  <a:gd name="T4" fmla="*/ 31 w 55"/>
                  <a:gd name="T5" fmla="*/ 14 h 59"/>
                  <a:gd name="T6" fmla="*/ 28 w 55"/>
                  <a:gd name="T7" fmla="*/ 21 h 59"/>
                  <a:gd name="T8" fmla="*/ 24 w 55"/>
                  <a:gd name="T9" fmla="*/ 28 h 59"/>
                  <a:gd name="T10" fmla="*/ 21 w 55"/>
                  <a:gd name="T11" fmla="*/ 31 h 59"/>
                  <a:gd name="T12" fmla="*/ 14 w 55"/>
                  <a:gd name="T13" fmla="*/ 35 h 59"/>
                  <a:gd name="T14" fmla="*/ 7 w 55"/>
                  <a:gd name="T15" fmla="*/ 35 h 59"/>
                  <a:gd name="T16" fmla="*/ 0 w 55"/>
                  <a:gd name="T17" fmla="*/ 38 h 59"/>
                  <a:gd name="T18" fmla="*/ 0 w 55"/>
                  <a:gd name="T19" fmla="*/ 59 h 59"/>
                  <a:gd name="T20" fmla="*/ 11 w 55"/>
                  <a:gd name="T21" fmla="*/ 56 h 59"/>
                  <a:gd name="T22" fmla="*/ 21 w 55"/>
                  <a:gd name="T23" fmla="*/ 52 h 59"/>
                  <a:gd name="T24" fmla="*/ 31 w 55"/>
                  <a:gd name="T25" fmla="*/ 49 h 59"/>
                  <a:gd name="T26" fmla="*/ 38 w 55"/>
                  <a:gd name="T27" fmla="*/ 42 h 59"/>
                  <a:gd name="T28" fmla="*/ 45 w 55"/>
                  <a:gd name="T29" fmla="*/ 31 h 59"/>
                  <a:gd name="T30" fmla="*/ 52 w 55"/>
                  <a:gd name="T31" fmla="*/ 25 h 59"/>
                  <a:gd name="T32" fmla="*/ 55 w 55"/>
                  <a:gd name="T33" fmla="*/ 11 h 59"/>
                  <a:gd name="T34" fmla="*/ 55 w 55"/>
                  <a:gd name="T35" fmla="*/ 0 h 59"/>
                  <a:gd name="T36" fmla="*/ 35 w 55"/>
                  <a:gd name="T3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59">
                    <a:moveTo>
                      <a:pt x="35" y="0"/>
                    </a:moveTo>
                    <a:lnTo>
                      <a:pt x="35" y="7"/>
                    </a:lnTo>
                    <a:lnTo>
                      <a:pt x="31" y="14"/>
                    </a:lnTo>
                    <a:lnTo>
                      <a:pt x="28" y="21"/>
                    </a:lnTo>
                    <a:lnTo>
                      <a:pt x="24" y="28"/>
                    </a:lnTo>
                    <a:lnTo>
                      <a:pt x="21" y="31"/>
                    </a:lnTo>
                    <a:lnTo>
                      <a:pt x="14" y="35"/>
                    </a:lnTo>
                    <a:lnTo>
                      <a:pt x="7" y="35"/>
                    </a:lnTo>
                    <a:lnTo>
                      <a:pt x="0" y="38"/>
                    </a:lnTo>
                    <a:lnTo>
                      <a:pt x="0" y="59"/>
                    </a:lnTo>
                    <a:lnTo>
                      <a:pt x="11" y="56"/>
                    </a:lnTo>
                    <a:lnTo>
                      <a:pt x="21" y="52"/>
                    </a:lnTo>
                    <a:lnTo>
                      <a:pt x="31" y="49"/>
                    </a:lnTo>
                    <a:lnTo>
                      <a:pt x="38" y="42"/>
                    </a:lnTo>
                    <a:lnTo>
                      <a:pt x="45" y="31"/>
                    </a:lnTo>
                    <a:lnTo>
                      <a:pt x="52" y="25"/>
                    </a:lnTo>
                    <a:lnTo>
                      <a:pt x="55" y="11"/>
                    </a:lnTo>
                    <a:lnTo>
                      <a:pt x="55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" name="Freeform 212"/>
              <p:cNvSpPr>
                <a:spLocks noChangeArrowheads="1"/>
              </p:cNvSpPr>
              <p:nvPr/>
            </p:nvSpPr>
            <p:spPr bwMode="auto">
              <a:xfrm>
                <a:off x="2009" y="2068"/>
                <a:ext cx="58" cy="59"/>
              </a:xfrm>
              <a:custGeom>
                <a:avLst/>
                <a:gdLst>
                  <a:gd name="T0" fmla="*/ 38 w 58"/>
                  <a:gd name="T1" fmla="*/ 0 h 59"/>
                  <a:gd name="T2" fmla="*/ 38 w 58"/>
                  <a:gd name="T3" fmla="*/ 7 h 59"/>
                  <a:gd name="T4" fmla="*/ 34 w 58"/>
                  <a:gd name="T5" fmla="*/ 14 h 59"/>
                  <a:gd name="T6" fmla="*/ 31 w 58"/>
                  <a:gd name="T7" fmla="*/ 21 h 59"/>
                  <a:gd name="T8" fmla="*/ 27 w 58"/>
                  <a:gd name="T9" fmla="*/ 28 h 59"/>
                  <a:gd name="T10" fmla="*/ 20 w 58"/>
                  <a:gd name="T11" fmla="*/ 31 h 59"/>
                  <a:gd name="T12" fmla="*/ 17 w 58"/>
                  <a:gd name="T13" fmla="*/ 35 h 59"/>
                  <a:gd name="T14" fmla="*/ 10 w 58"/>
                  <a:gd name="T15" fmla="*/ 35 h 59"/>
                  <a:gd name="T16" fmla="*/ 0 w 58"/>
                  <a:gd name="T17" fmla="*/ 38 h 59"/>
                  <a:gd name="T18" fmla="*/ 0 w 58"/>
                  <a:gd name="T19" fmla="*/ 59 h 59"/>
                  <a:gd name="T20" fmla="*/ 13 w 58"/>
                  <a:gd name="T21" fmla="*/ 56 h 59"/>
                  <a:gd name="T22" fmla="*/ 24 w 58"/>
                  <a:gd name="T23" fmla="*/ 52 h 59"/>
                  <a:gd name="T24" fmla="*/ 34 w 58"/>
                  <a:gd name="T25" fmla="*/ 49 h 59"/>
                  <a:gd name="T26" fmla="*/ 41 w 58"/>
                  <a:gd name="T27" fmla="*/ 42 h 59"/>
                  <a:gd name="T28" fmla="*/ 48 w 58"/>
                  <a:gd name="T29" fmla="*/ 31 h 59"/>
                  <a:gd name="T30" fmla="*/ 55 w 58"/>
                  <a:gd name="T31" fmla="*/ 25 h 59"/>
                  <a:gd name="T32" fmla="*/ 58 w 58"/>
                  <a:gd name="T33" fmla="*/ 11 h 59"/>
                  <a:gd name="T34" fmla="*/ 58 w 58"/>
                  <a:gd name="T35" fmla="*/ 0 h 59"/>
                  <a:gd name="T36" fmla="*/ 38 w 58"/>
                  <a:gd name="T3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59">
                    <a:moveTo>
                      <a:pt x="38" y="0"/>
                    </a:moveTo>
                    <a:lnTo>
                      <a:pt x="38" y="7"/>
                    </a:lnTo>
                    <a:lnTo>
                      <a:pt x="34" y="14"/>
                    </a:lnTo>
                    <a:lnTo>
                      <a:pt x="31" y="21"/>
                    </a:lnTo>
                    <a:lnTo>
                      <a:pt x="27" y="28"/>
                    </a:lnTo>
                    <a:lnTo>
                      <a:pt x="20" y="31"/>
                    </a:lnTo>
                    <a:lnTo>
                      <a:pt x="17" y="35"/>
                    </a:lnTo>
                    <a:lnTo>
                      <a:pt x="10" y="35"/>
                    </a:lnTo>
                    <a:lnTo>
                      <a:pt x="0" y="38"/>
                    </a:lnTo>
                    <a:lnTo>
                      <a:pt x="0" y="59"/>
                    </a:lnTo>
                    <a:lnTo>
                      <a:pt x="13" y="56"/>
                    </a:lnTo>
                    <a:lnTo>
                      <a:pt x="24" y="52"/>
                    </a:lnTo>
                    <a:lnTo>
                      <a:pt x="34" y="49"/>
                    </a:lnTo>
                    <a:lnTo>
                      <a:pt x="41" y="42"/>
                    </a:lnTo>
                    <a:lnTo>
                      <a:pt x="48" y="31"/>
                    </a:lnTo>
                    <a:lnTo>
                      <a:pt x="55" y="25"/>
                    </a:lnTo>
                    <a:lnTo>
                      <a:pt x="58" y="11"/>
                    </a:lnTo>
                    <a:lnTo>
                      <a:pt x="58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" name="Line 213"/>
              <p:cNvSpPr>
                <a:spLocks noChangeShapeType="1"/>
              </p:cNvSpPr>
              <p:nvPr/>
            </p:nvSpPr>
            <p:spPr bwMode="auto">
              <a:xfrm>
                <a:off x="316" y="1948"/>
                <a:ext cx="1" cy="1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" name="Line 214"/>
              <p:cNvSpPr>
                <a:spLocks noChangeShapeType="1"/>
              </p:cNvSpPr>
              <p:nvPr/>
            </p:nvSpPr>
            <p:spPr bwMode="auto">
              <a:xfrm flipV="1">
                <a:off x="316" y="1948"/>
                <a:ext cx="106" cy="103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" name="Line 215"/>
              <p:cNvSpPr>
                <a:spLocks noChangeShapeType="1"/>
              </p:cNvSpPr>
              <p:nvPr/>
            </p:nvSpPr>
            <p:spPr bwMode="auto">
              <a:xfrm flipV="1">
                <a:off x="316" y="1948"/>
                <a:ext cx="209" cy="207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" name="Line 216"/>
              <p:cNvSpPr>
                <a:spLocks noChangeShapeType="1"/>
              </p:cNvSpPr>
              <p:nvPr/>
            </p:nvSpPr>
            <p:spPr bwMode="auto">
              <a:xfrm flipV="1">
                <a:off x="357" y="1965"/>
                <a:ext cx="254" cy="252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" name="Line 217"/>
              <p:cNvSpPr>
                <a:spLocks noChangeShapeType="1"/>
              </p:cNvSpPr>
              <p:nvPr/>
            </p:nvSpPr>
            <p:spPr bwMode="auto">
              <a:xfrm flipV="1">
                <a:off x="467" y="2258"/>
                <a:ext cx="55" cy="58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" name="Line 218"/>
              <p:cNvSpPr>
                <a:spLocks noChangeShapeType="1"/>
              </p:cNvSpPr>
              <p:nvPr/>
            </p:nvSpPr>
            <p:spPr bwMode="auto">
              <a:xfrm flipV="1">
                <a:off x="374" y="2496"/>
                <a:ext cx="14" cy="13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" name="Line 219"/>
              <p:cNvSpPr>
                <a:spLocks noChangeShapeType="1"/>
              </p:cNvSpPr>
              <p:nvPr/>
            </p:nvSpPr>
            <p:spPr bwMode="auto">
              <a:xfrm flipV="1">
                <a:off x="842" y="1948"/>
                <a:ext cx="96" cy="96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" name="Line 220"/>
              <p:cNvSpPr>
                <a:spLocks noChangeShapeType="1"/>
              </p:cNvSpPr>
              <p:nvPr/>
            </p:nvSpPr>
            <p:spPr bwMode="auto">
              <a:xfrm flipV="1">
                <a:off x="316" y="2496"/>
                <a:ext cx="178" cy="175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9" name="Line 221"/>
              <p:cNvSpPr>
                <a:spLocks noChangeShapeType="1"/>
              </p:cNvSpPr>
              <p:nvPr/>
            </p:nvSpPr>
            <p:spPr bwMode="auto">
              <a:xfrm flipV="1">
                <a:off x="873" y="2003"/>
                <a:ext cx="114" cy="114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" name="Line 222"/>
              <p:cNvSpPr>
                <a:spLocks noChangeShapeType="1"/>
              </p:cNvSpPr>
              <p:nvPr/>
            </p:nvSpPr>
            <p:spPr bwMode="auto">
              <a:xfrm flipV="1">
                <a:off x="381" y="2571"/>
                <a:ext cx="141" cy="142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" name="Line 223"/>
              <p:cNvSpPr>
                <a:spLocks noChangeShapeType="1"/>
              </p:cNvSpPr>
              <p:nvPr/>
            </p:nvSpPr>
            <p:spPr bwMode="auto">
              <a:xfrm flipV="1">
                <a:off x="976" y="2106"/>
                <a:ext cx="11" cy="11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" name="Line 224"/>
              <p:cNvSpPr>
                <a:spLocks noChangeShapeType="1"/>
              </p:cNvSpPr>
              <p:nvPr/>
            </p:nvSpPr>
            <p:spPr bwMode="auto">
              <a:xfrm flipV="1">
                <a:off x="825" y="2244"/>
                <a:ext cx="24" cy="24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" name="Line 225"/>
              <p:cNvSpPr>
                <a:spLocks noChangeShapeType="1"/>
              </p:cNvSpPr>
              <p:nvPr/>
            </p:nvSpPr>
            <p:spPr bwMode="auto">
              <a:xfrm flipV="1">
                <a:off x="921" y="2206"/>
                <a:ext cx="69" cy="69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" name="Line 226"/>
              <p:cNvSpPr>
                <a:spLocks noChangeShapeType="1"/>
              </p:cNvSpPr>
              <p:nvPr/>
            </p:nvSpPr>
            <p:spPr bwMode="auto">
              <a:xfrm flipV="1">
                <a:off x="849" y="2275"/>
                <a:ext cx="72" cy="72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" name="Line 227"/>
              <p:cNvSpPr>
                <a:spLocks noChangeShapeType="1"/>
              </p:cNvSpPr>
              <p:nvPr/>
            </p:nvSpPr>
            <p:spPr bwMode="auto">
              <a:xfrm flipV="1">
                <a:off x="876" y="2354"/>
                <a:ext cx="69" cy="69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" name="Line 228"/>
              <p:cNvSpPr>
                <a:spLocks noChangeShapeType="1"/>
              </p:cNvSpPr>
              <p:nvPr/>
            </p:nvSpPr>
            <p:spPr bwMode="auto">
              <a:xfrm flipV="1">
                <a:off x="945" y="2285"/>
                <a:ext cx="73" cy="69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" name="Line 229"/>
              <p:cNvSpPr>
                <a:spLocks noChangeShapeType="1"/>
              </p:cNvSpPr>
              <p:nvPr/>
            </p:nvSpPr>
            <p:spPr bwMode="auto">
              <a:xfrm flipV="1">
                <a:off x="942" y="2434"/>
                <a:ext cx="27" cy="27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" name="Line 230"/>
              <p:cNvSpPr>
                <a:spLocks noChangeShapeType="1"/>
              </p:cNvSpPr>
              <p:nvPr/>
            </p:nvSpPr>
            <p:spPr bwMode="auto">
              <a:xfrm flipV="1">
                <a:off x="969" y="2361"/>
                <a:ext cx="73" cy="73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" name="Line 231"/>
              <p:cNvSpPr>
                <a:spLocks noChangeShapeType="1"/>
              </p:cNvSpPr>
              <p:nvPr/>
            </p:nvSpPr>
            <p:spPr bwMode="auto">
              <a:xfrm>
                <a:off x="1561" y="1948"/>
                <a:ext cx="1" cy="1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" name="Line 232"/>
              <p:cNvSpPr>
                <a:spLocks noChangeShapeType="1"/>
              </p:cNvSpPr>
              <p:nvPr/>
            </p:nvSpPr>
            <p:spPr bwMode="auto">
              <a:xfrm flipV="1">
                <a:off x="1561" y="1948"/>
                <a:ext cx="104" cy="103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" name="Line 233"/>
              <p:cNvSpPr>
                <a:spLocks noChangeShapeType="1"/>
              </p:cNvSpPr>
              <p:nvPr/>
            </p:nvSpPr>
            <p:spPr bwMode="auto">
              <a:xfrm flipV="1">
                <a:off x="1599" y="1982"/>
                <a:ext cx="131" cy="135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" name="Line 234"/>
              <p:cNvSpPr>
                <a:spLocks noChangeShapeType="1"/>
              </p:cNvSpPr>
              <p:nvPr/>
            </p:nvSpPr>
            <p:spPr bwMode="auto">
              <a:xfrm flipV="1">
                <a:off x="1702" y="2086"/>
                <a:ext cx="28" cy="31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" name="Line 235"/>
              <p:cNvSpPr>
                <a:spLocks noChangeShapeType="1"/>
              </p:cNvSpPr>
              <p:nvPr/>
            </p:nvSpPr>
            <p:spPr bwMode="auto">
              <a:xfrm flipV="1">
                <a:off x="1964" y="1948"/>
                <a:ext cx="10" cy="10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" name="Line 236"/>
              <p:cNvSpPr>
                <a:spLocks noChangeShapeType="1"/>
              </p:cNvSpPr>
              <p:nvPr/>
            </p:nvSpPr>
            <p:spPr bwMode="auto">
              <a:xfrm flipV="1">
                <a:off x="1964" y="1968"/>
                <a:ext cx="93" cy="93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" name="Line 237"/>
              <p:cNvSpPr>
                <a:spLocks noChangeShapeType="1"/>
              </p:cNvSpPr>
              <p:nvPr/>
            </p:nvSpPr>
            <p:spPr bwMode="auto">
              <a:xfrm flipV="1">
                <a:off x="2012" y="2072"/>
                <a:ext cx="45" cy="45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" name="Freeform 238"/>
              <p:cNvSpPr>
                <a:spLocks noChangeArrowheads="1"/>
              </p:cNvSpPr>
              <p:nvPr/>
            </p:nvSpPr>
            <p:spPr bwMode="auto">
              <a:xfrm>
                <a:off x="553" y="2106"/>
                <a:ext cx="1459" cy="490"/>
              </a:xfrm>
              <a:custGeom>
                <a:avLst/>
                <a:gdLst>
                  <a:gd name="T0" fmla="*/ 1456 w 1459"/>
                  <a:gd name="T1" fmla="*/ 0 h 490"/>
                  <a:gd name="T2" fmla="*/ 0 w 1459"/>
                  <a:gd name="T3" fmla="*/ 472 h 490"/>
                  <a:gd name="T4" fmla="*/ 3 w 1459"/>
                  <a:gd name="T5" fmla="*/ 490 h 490"/>
                  <a:gd name="T6" fmla="*/ 1459 w 1459"/>
                  <a:gd name="T7" fmla="*/ 18 h 490"/>
                  <a:gd name="T8" fmla="*/ 1456 w 1459"/>
                  <a:gd name="T9" fmla="*/ 0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59" h="490">
                    <a:moveTo>
                      <a:pt x="1456" y="0"/>
                    </a:moveTo>
                    <a:lnTo>
                      <a:pt x="0" y="472"/>
                    </a:lnTo>
                    <a:lnTo>
                      <a:pt x="3" y="490"/>
                    </a:lnTo>
                    <a:lnTo>
                      <a:pt x="1459" y="18"/>
                    </a:lnTo>
                    <a:lnTo>
                      <a:pt x="1456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7" name="Rectangle 239"/>
              <p:cNvSpPr>
                <a:spLocks noChangeArrowheads="1"/>
              </p:cNvSpPr>
              <p:nvPr/>
            </p:nvSpPr>
            <p:spPr bwMode="auto">
              <a:xfrm>
                <a:off x="512" y="2206"/>
                <a:ext cx="20" cy="44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38" name="Line 240"/>
              <p:cNvSpPr>
                <a:spLocks noChangeShapeType="1"/>
              </p:cNvSpPr>
              <p:nvPr/>
            </p:nvSpPr>
            <p:spPr bwMode="auto">
              <a:xfrm flipH="1" flipV="1">
                <a:off x="897" y="2203"/>
                <a:ext cx="100" cy="313"/>
              </a:xfrm>
              <a:prstGeom prst="line">
                <a:avLst/>
              </a:prstGeom>
              <a:noFill/>
              <a:ln w="11113">
                <a:solidFill>
                  <a:srgbClr val="CB508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" name="Line 241"/>
              <p:cNvSpPr>
                <a:spLocks noChangeShapeType="1"/>
              </p:cNvSpPr>
              <p:nvPr/>
            </p:nvSpPr>
            <p:spPr bwMode="auto">
              <a:xfrm flipV="1">
                <a:off x="938" y="2440"/>
                <a:ext cx="80" cy="28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" name="Rectangle 242"/>
              <p:cNvSpPr>
                <a:spLocks noChangeArrowheads="1"/>
              </p:cNvSpPr>
              <p:nvPr/>
            </p:nvSpPr>
            <p:spPr bwMode="auto">
              <a:xfrm>
                <a:off x="316" y="2575"/>
                <a:ext cx="58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1" name="Rectangle 243"/>
              <p:cNvSpPr>
                <a:spLocks noChangeArrowheads="1"/>
              </p:cNvSpPr>
              <p:nvPr/>
            </p:nvSpPr>
            <p:spPr bwMode="auto">
              <a:xfrm>
                <a:off x="1843" y="1882"/>
                <a:ext cx="7" cy="17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2" name="Rectangle 244"/>
              <p:cNvSpPr>
                <a:spLocks noChangeArrowheads="1"/>
              </p:cNvSpPr>
              <p:nvPr/>
            </p:nvSpPr>
            <p:spPr bwMode="auto">
              <a:xfrm>
                <a:off x="1843" y="2082"/>
                <a:ext cx="7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3" name="Rectangle 245"/>
              <p:cNvSpPr>
                <a:spLocks noChangeArrowheads="1"/>
              </p:cNvSpPr>
              <p:nvPr/>
            </p:nvSpPr>
            <p:spPr bwMode="auto">
              <a:xfrm>
                <a:off x="1843" y="2124"/>
                <a:ext cx="7" cy="48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4" name="Rectangle 246"/>
              <p:cNvSpPr>
                <a:spLocks noChangeArrowheads="1"/>
              </p:cNvSpPr>
              <p:nvPr/>
            </p:nvSpPr>
            <p:spPr bwMode="auto">
              <a:xfrm>
                <a:off x="1269" y="1875"/>
                <a:ext cx="7" cy="18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5" name="Rectangle 247"/>
              <p:cNvSpPr>
                <a:spLocks noChangeArrowheads="1"/>
              </p:cNvSpPr>
              <p:nvPr/>
            </p:nvSpPr>
            <p:spPr bwMode="auto">
              <a:xfrm>
                <a:off x="1269" y="2075"/>
                <a:ext cx="7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6" name="Rectangle 248"/>
              <p:cNvSpPr>
                <a:spLocks noChangeArrowheads="1"/>
              </p:cNvSpPr>
              <p:nvPr/>
            </p:nvSpPr>
            <p:spPr bwMode="auto">
              <a:xfrm>
                <a:off x="1269" y="2117"/>
                <a:ext cx="7" cy="96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47" name="Group 249"/>
              <p:cNvGrpSpPr>
                <a:grpSpLocks/>
              </p:cNvGrpSpPr>
              <p:nvPr/>
            </p:nvGrpSpPr>
            <p:grpSpPr bwMode="auto">
              <a:xfrm>
                <a:off x="722" y="1869"/>
                <a:ext cx="6" cy="341"/>
                <a:chOff x="609" y="1173"/>
                <a:chExt cx="6" cy="341"/>
              </a:xfrm>
            </p:grpSpPr>
            <p:sp>
              <p:nvSpPr>
                <p:cNvPr id="152" name="Rectangle 250"/>
                <p:cNvSpPr>
                  <a:spLocks noChangeArrowheads="1"/>
                </p:cNvSpPr>
                <p:nvPr/>
              </p:nvSpPr>
              <p:spPr bwMode="auto">
                <a:xfrm>
                  <a:off x="609" y="1173"/>
                  <a:ext cx="6" cy="179"/>
                </a:xfrm>
                <a:prstGeom prst="rect">
                  <a:avLst/>
                </a:prstGeom>
                <a:solidFill>
                  <a:srgbClr val="131516"/>
                </a:soli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3" name="Rectangle 251"/>
                <p:cNvSpPr>
                  <a:spLocks noChangeArrowheads="1"/>
                </p:cNvSpPr>
                <p:nvPr/>
              </p:nvSpPr>
              <p:spPr bwMode="auto">
                <a:xfrm>
                  <a:off x="609" y="1372"/>
                  <a:ext cx="6" cy="21"/>
                </a:xfrm>
                <a:prstGeom prst="rect">
                  <a:avLst/>
                </a:prstGeom>
                <a:solidFill>
                  <a:srgbClr val="131516"/>
                </a:soli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4" name="Rectangle 252"/>
                <p:cNvSpPr>
                  <a:spLocks noChangeArrowheads="1"/>
                </p:cNvSpPr>
                <p:nvPr/>
              </p:nvSpPr>
              <p:spPr bwMode="auto">
                <a:xfrm>
                  <a:off x="609" y="1417"/>
                  <a:ext cx="6" cy="97"/>
                </a:xfrm>
                <a:prstGeom prst="rect">
                  <a:avLst/>
                </a:prstGeom>
                <a:solidFill>
                  <a:srgbClr val="131516"/>
                </a:soli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sp>
            <p:nvSpPr>
              <p:cNvPr id="48" name="Rectangle 253"/>
              <p:cNvSpPr>
                <a:spLocks noChangeArrowheads="1"/>
              </p:cNvSpPr>
              <p:nvPr/>
            </p:nvSpPr>
            <p:spPr bwMode="auto">
              <a:xfrm>
                <a:off x="274" y="2403"/>
                <a:ext cx="176" cy="6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49" name="Rectangle 254"/>
              <p:cNvSpPr>
                <a:spLocks noChangeArrowheads="1"/>
              </p:cNvSpPr>
              <p:nvPr/>
            </p:nvSpPr>
            <p:spPr bwMode="auto">
              <a:xfrm>
                <a:off x="474" y="2403"/>
                <a:ext cx="20" cy="6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0" name="Rectangle 255"/>
              <p:cNvSpPr>
                <a:spLocks noChangeArrowheads="1"/>
              </p:cNvSpPr>
              <p:nvPr/>
            </p:nvSpPr>
            <p:spPr bwMode="auto">
              <a:xfrm>
                <a:off x="515" y="2403"/>
                <a:ext cx="86" cy="6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1" name="Freeform 256"/>
              <p:cNvSpPr>
                <a:spLocks noChangeArrowheads="1"/>
              </p:cNvSpPr>
              <p:nvPr/>
            </p:nvSpPr>
            <p:spPr bwMode="auto">
              <a:xfrm>
                <a:off x="512" y="2578"/>
                <a:ext cx="44" cy="52"/>
              </a:xfrm>
              <a:custGeom>
                <a:avLst/>
                <a:gdLst>
                  <a:gd name="T0" fmla="*/ 20 w 44"/>
                  <a:gd name="T1" fmla="*/ 52 h 52"/>
                  <a:gd name="T2" fmla="*/ 24 w 44"/>
                  <a:gd name="T3" fmla="*/ 42 h 52"/>
                  <a:gd name="T4" fmla="*/ 27 w 44"/>
                  <a:gd name="T5" fmla="*/ 31 h 52"/>
                  <a:gd name="T6" fmla="*/ 34 w 44"/>
                  <a:gd name="T7" fmla="*/ 24 h 52"/>
                  <a:gd name="T8" fmla="*/ 44 w 44"/>
                  <a:gd name="T9" fmla="*/ 18 h 52"/>
                  <a:gd name="T10" fmla="*/ 41 w 44"/>
                  <a:gd name="T11" fmla="*/ 0 h 52"/>
                  <a:gd name="T12" fmla="*/ 24 w 44"/>
                  <a:gd name="T13" fmla="*/ 7 h 52"/>
                  <a:gd name="T14" fmla="*/ 10 w 44"/>
                  <a:gd name="T15" fmla="*/ 21 h 52"/>
                  <a:gd name="T16" fmla="*/ 3 w 44"/>
                  <a:gd name="T17" fmla="*/ 35 h 52"/>
                  <a:gd name="T18" fmla="*/ 0 w 44"/>
                  <a:gd name="T19" fmla="*/ 52 h 52"/>
                  <a:gd name="T20" fmla="*/ 20 w 44"/>
                  <a:gd name="T21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" h="52">
                    <a:moveTo>
                      <a:pt x="20" y="52"/>
                    </a:moveTo>
                    <a:lnTo>
                      <a:pt x="24" y="42"/>
                    </a:lnTo>
                    <a:lnTo>
                      <a:pt x="27" y="31"/>
                    </a:lnTo>
                    <a:lnTo>
                      <a:pt x="34" y="24"/>
                    </a:lnTo>
                    <a:lnTo>
                      <a:pt x="44" y="18"/>
                    </a:lnTo>
                    <a:lnTo>
                      <a:pt x="41" y="0"/>
                    </a:lnTo>
                    <a:lnTo>
                      <a:pt x="24" y="7"/>
                    </a:lnTo>
                    <a:lnTo>
                      <a:pt x="10" y="21"/>
                    </a:lnTo>
                    <a:lnTo>
                      <a:pt x="3" y="35"/>
                    </a:lnTo>
                    <a:lnTo>
                      <a:pt x="0" y="52"/>
                    </a:lnTo>
                    <a:lnTo>
                      <a:pt x="20" y="52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2" name="Freeform 257"/>
              <p:cNvSpPr>
                <a:spLocks noChangeArrowheads="1"/>
              </p:cNvSpPr>
              <p:nvPr/>
            </p:nvSpPr>
            <p:spPr bwMode="auto">
              <a:xfrm>
                <a:off x="880" y="2437"/>
                <a:ext cx="58" cy="31"/>
              </a:xfrm>
              <a:custGeom>
                <a:avLst/>
                <a:gdLst>
                  <a:gd name="T0" fmla="*/ 0 w 58"/>
                  <a:gd name="T1" fmla="*/ 0 h 31"/>
                  <a:gd name="T2" fmla="*/ 7 w 58"/>
                  <a:gd name="T3" fmla="*/ 14 h 31"/>
                  <a:gd name="T4" fmla="*/ 17 w 58"/>
                  <a:gd name="T5" fmla="*/ 24 h 31"/>
                  <a:gd name="T6" fmla="*/ 27 w 58"/>
                  <a:gd name="T7" fmla="*/ 31 h 31"/>
                  <a:gd name="T8" fmla="*/ 45 w 58"/>
                  <a:gd name="T9" fmla="*/ 31 h 31"/>
                  <a:gd name="T10" fmla="*/ 52 w 58"/>
                  <a:gd name="T11" fmla="*/ 31 h 31"/>
                  <a:gd name="T12" fmla="*/ 58 w 58"/>
                  <a:gd name="T1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31">
                    <a:moveTo>
                      <a:pt x="0" y="0"/>
                    </a:moveTo>
                    <a:lnTo>
                      <a:pt x="7" y="14"/>
                    </a:lnTo>
                    <a:lnTo>
                      <a:pt x="17" y="24"/>
                    </a:lnTo>
                    <a:lnTo>
                      <a:pt x="27" y="31"/>
                    </a:lnTo>
                    <a:lnTo>
                      <a:pt x="45" y="31"/>
                    </a:lnTo>
                    <a:lnTo>
                      <a:pt x="52" y="31"/>
                    </a:lnTo>
                    <a:lnTo>
                      <a:pt x="58" y="31"/>
                    </a:lnTo>
                  </a:path>
                </a:pathLst>
              </a:cu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3" name="Freeform 258"/>
              <p:cNvSpPr>
                <a:spLocks noChangeArrowheads="1"/>
              </p:cNvSpPr>
              <p:nvPr/>
            </p:nvSpPr>
            <p:spPr bwMode="auto">
              <a:xfrm>
                <a:off x="1018" y="2385"/>
                <a:ext cx="31" cy="55"/>
              </a:xfrm>
              <a:custGeom>
                <a:avLst/>
                <a:gdLst>
                  <a:gd name="T0" fmla="*/ 0 w 31"/>
                  <a:gd name="T1" fmla="*/ 55 h 55"/>
                  <a:gd name="T2" fmla="*/ 13 w 31"/>
                  <a:gd name="T3" fmla="*/ 52 h 55"/>
                  <a:gd name="T4" fmla="*/ 24 w 31"/>
                  <a:gd name="T5" fmla="*/ 42 h 55"/>
                  <a:gd name="T6" fmla="*/ 31 w 31"/>
                  <a:gd name="T7" fmla="*/ 28 h 55"/>
                  <a:gd name="T8" fmla="*/ 31 w 31"/>
                  <a:gd name="T9" fmla="*/ 14 h 55"/>
                  <a:gd name="T10" fmla="*/ 31 w 31"/>
                  <a:gd name="T11" fmla="*/ 7 h 55"/>
                  <a:gd name="T12" fmla="*/ 31 w 31"/>
                  <a:gd name="T1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55">
                    <a:moveTo>
                      <a:pt x="0" y="55"/>
                    </a:moveTo>
                    <a:lnTo>
                      <a:pt x="13" y="52"/>
                    </a:lnTo>
                    <a:lnTo>
                      <a:pt x="24" y="42"/>
                    </a:lnTo>
                    <a:lnTo>
                      <a:pt x="31" y="28"/>
                    </a:lnTo>
                    <a:lnTo>
                      <a:pt x="31" y="14"/>
                    </a:lnTo>
                    <a:lnTo>
                      <a:pt x="31" y="7"/>
                    </a:lnTo>
                    <a:lnTo>
                      <a:pt x="31" y="0"/>
                    </a:lnTo>
                  </a:path>
                </a:pathLst>
              </a:cu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4" name="Line 259"/>
              <p:cNvSpPr>
                <a:spLocks noChangeShapeType="1"/>
              </p:cNvSpPr>
              <p:nvPr/>
            </p:nvSpPr>
            <p:spPr bwMode="auto">
              <a:xfrm flipV="1">
                <a:off x="374" y="2068"/>
                <a:ext cx="237" cy="235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" name="Line 260"/>
              <p:cNvSpPr>
                <a:spLocks noChangeShapeType="1"/>
              </p:cNvSpPr>
              <p:nvPr/>
            </p:nvSpPr>
            <p:spPr bwMode="auto">
              <a:xfrm flipV="1">
                <a:off x="488" y="2675"/>
                <a:ext cx="34" cy="34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" name="Line 261"/>
              <p:cNvSpPr>
                <a:spLocks noChangeShapeType="1"/>
              </p:cNvSpPr>
              <p:nvPr/>
            </p:nvSpPr>
            <p:spPr bwMode="auto">
              <a:xfrm flipH="1" flipV="1">
                <a:off x="990" y="2199"/>
                <a:ext cx="59" cy="186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" name="Line 262"/>
              <p:cNvSpPr>
                <a:spLocks noChangeShapeType="1"/>
              </p:cNvSpPr>
              <p:nvPr/>
            </p:nvSpPr>
            <p:spPr bwMode="auto">
              <a:xfrm flipH="1" flipV="1">
                <a:off x="821" y="2254"/>
                <a:ext cx="59" cy="183"/>
              </a:xfrm>
              <a:prstGeom prst="line">
                <a:avLst/>
              </a:prstGeom>
              <a:noFill/>
              <a:ln w="11113">
                <a:solidFill>
                  <a:srgbClr val="DA251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" name="Rectangle 263"/>
              <p:cNvSpPr>
                <a:spLocks noChangeArrowheads="1"/>
              </p:cNvSpPr>
              <p:nvPr/>
            </p:nvSpPr>
            <p:spPr bwMode="auto">
              <a:xfrm>
                <a:off x="1723" y="1948"/>
                <a:ext cx="17" cy="16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59" name="Rectangle 264"/>
              <p:cNvSpPr>
                <a:spLocks noChangeArrowheads="1"/>
              </p:cNvSpPr>
              <p:nvPr/>
            </p:nvSpPr>
            <p:spPr bwMode="auto">
              <a:xfrm>
                <a:off x="1954" y="1948"/>
                <a:ext cx="20" cy="16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0" name="Rectangle 265"/>
              <p:cNvSpPr>
                <a:spLocks noChangeArrowheads="1"/>
              </p:cNvSpPr>
              <p:nvPr/>
            </p:nvSpPr>
            <p:spPr bwMode="auto">
              <a:xfrm>
                <a:off x="1551" y="1948"/>
                <a:ext cx="21" cy="16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1" name="Rectangle 266"/>
              <p:cNvSpPr>
                <a:spLocks noChangeArrowheads="1"/>
              </p:cNvSpPr>
              <p:nvPr/>
            </p:nvSpPr>
            <p:spPr bwMode="auto">
              <a:xfrm>
                <a:off x="832" y="1948"/>
                <a:ext cx="20" cy="16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2" name="Rectangle 267"/>
              <p:cNvSpPr>
                <a:spLocks noChangeArrowheads="1"/>
              </p:cNvSpPr>
              <p:nvPr/>
            </p:nvSpPr>
            <p:spPr bwMode="auto">
              <a:xfrm>
                <a:off x="374" y="2485"/>
                <a:ext cx="148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3" name="Rectangle 268"/>
              <p:cNvSpPr>
                <a:spLocks noChangeArrowheads="1"/>
              </p:cNvSpPr>
              <p:nvPr/>
            </p:nvSpPr>
            <p:spPr bwMode="auto">
              <a:xfrm>
                <a:off x="976" y="1948"/>
                <a:ext cx="17" cy="16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4" name="Rectangle 269"/>
              <p:cNvSpPr>
                <a:spLocks noChangeArrowheads="1"/>
              </p:cNvSpPr>
              <p:nvPr/>
            </p:nvSpPr>
            <p:spPr bwMode="auto">
              <a:xfrm>
                <a:off x="601" y="1948"/>
                <a:ext cx="21" cy="16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5" name="Rectangle 270"/>
              <p:cNvSpPr>
                <a:spLocks noChangeArrowheads="1"/>
              </p:cNvSpPr>
              <p:nvPr/>
            </p:nvSpPr>
            <p:spPr bwMode="auto">
              <a:xfrm>
                <a:off x="374" y="2306"/>
                <a:ext cx="148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6" name="Rectangle 271"/>
              <p:cNvSpPr>
                <a:spLocks noChangeArrowheads="1"/>
              </p:cNvSpPr>
              <p:nvPr/>
            </p:nvSpPr>
            <p:spPr bwMode="auto">
              <a:xfrm>
                <a:off x="367" y="2217"/>
                <a:ext cx="17" cy="368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7" name="Rectangle 272"/>
              <p:cNvSpPr>
                <a:spLocks noChangeArrowheads="1"/>
              </p:cNvSpPr>
              <p:nvPr/>
            </p:nvSpPr>
            <p:spPr bwMode="auto">
              <a:xfrm>
                <a:off x="316" y="2210"/>
                <a:ext cx="58" cy="1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8" name="Rectangle 273"/>
              <p:cNvSpPr>
                <a:spLocks noChangeArrowheads="1"/>
              </p:cNvSpPr>
              <p:nvPr/>
            </p:nvSpPr>
            <p:spPr bwMode="auto">
              <a:xfrm>
                <a:off x="305" y="1948"/>
                <a:ext cx="21" cy="765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69" name="Rectangle 274"/>
              <p:cNvSpPr>
                <a:spLocks noChangeArrowheads="1"/>
              </p:cNvSpPr>
              <p:nvPr/>
            </p:nvSpPr>
            <p:spPr bwMode="auto">
              <a:xfrm>
                <a:off x="316" y="2702"/>
                <a:ext cx="161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0" name="Rectangle 275"/>
              <p:cNvSpPr>
                <a:spLocks noChangeArrowheads="1"/>
              </p:cNvSpPr>
              <p:nvPr/>
            </p:nvSpPr>
            <p:spPr bwMode="auto">
              <a:xfrm>
                <a:off x="512" y="2630"/>
                <a:ext cx="20" cy="3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1" name="Rectangle 276"/>
              <p:cNvSpPr>
                <a:spLocks noChangeArrowheads="1"/>
              </p:cNvSpPr>
              <p:nvPr/>
            </p:nvSpPr>
            <p:spPr bwMode="auto">
              <a:xfrm>
                <a:off x="615" y="2106"/>
                <a:ext cx="1394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2" name="Rectangle 277"/>
              <p:cNvSpPr>
                <a:spLocks noChangeArrowheads="1"/>
              </p:cNvSpPr>
              <p:nvPr/>
            </p:nvSpPr>
            <p:spPr bwMode="auto">
              <a:xfrm>
                <a:off x="2047" y="1948"/>
                <a:ext cx="20" cy="12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3" name="Rectangle 278"/>
              <p:cNvSpPr>
                <a:spLocks noChangeArrowheads="1"/>
              </p:cNvSpPr>
              <p:nvPr/>
            </p:nvSpPr>
            <p:spPr bwMode="auto">
              <a:xfrm>
                <a:off x="316" y="1937"/>
                <a:ext cx="1741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4" name="Rectangle 279"/>
              <p:cNvSpPr>
                <a:spLocks noChangeArrowheads="1"/>
              </p:cNvSpPr>
              <p:nvPr/>
            </p:nvSpPr>
            <p:spPr bwMode="auto">
              <a:xfrm>
                <a:off x="316" y="2854"/>
                <a:ext cx="1741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5" name="Rectangle 280"/>
              <p:cNvSpPr>
                <a:spLocks noChangeArrowheads="1"/>
              </p:cNvSpPr>
              <p:nvPr/>
            </p:nvSpPr>
            <p:spPr bwMode="auto">
              <a:xfrm>
                <a:off x="316" y="3719"/>
                <a:ext cx="1741" cy="2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6" name="Rectangle 281"/>
              <p:cNvSpPr>
                <a:spLocks noChangeArrowheads="1"/>
              </p:cNvSpPr>
              <p:nvPr/>
            </p:nvSpPr>
            <p:spPr bwMode="auto">
              <a:xfrm>
                <a:off x="525" y="3026"/>
                <a:ext cx="114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7" name="Rectangle 282"/>
              <p:cNvSpPr>
                <a:spLocks noChangeArrowheads="1"/>
              </p:cNvSpPr>
              <p:nvPr/>
            </p:nvSpPr>
            <p:spPr bwMode="auto">
              <a:xfrm>
                <a:off x="663" y="3026"/>
                <a:ext cx="114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8" name="Rectangle 283"/>
              <p:cNvSpPr>
                <a:spLocks noChangeArrowheads="1"/>
              </p:cNvSpPr>
              <p:nvPr/>
            </p:nvSpPr>
            <p:spPr bwMode="auto">
              <a:xfrm>
                <a:off x="801" y="3026"/>
                <a:ext cx="113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79" name="Rectangle 284"/>
              <p:cNvSpPr>
                <a:spLocks noChangeArrowheads="1"/>
              </p:cNvSpPr>
              <p:nvPr/>
            </p:nvSpPr>
            <p:spPr bwMode="auto">
              <a:xfrm>
                <a:off x="938" y="3026"/>
                <a:ext cx="114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0" name="Rectangle 285"/>
              <p:cNvSpPr>
                <a:spLocks noChangeArrowheads="1"/>
              </p:cNvSpPr>
              <p:nvPr/>
            </p:nvSpPr>
            <p:spPr bwMode="auto">
              <a:xfrm>
                <a:off x="1079" y="3026"/>
                <a:ext cx="114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1" name="Rectangle 286"/>
              <p:cNvSpPr>
                <a:spLocks noChangeArrowheads="1"/>
              </p:cNvSpPr>
              <p:nvPr/>
            </p:nvSpPr>
            <p:spPr bwMode="auto">
              <a:xfrm>
                <a:off x="1217" y="3026"/>
                <a:ext cx="114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2" name="Rectangle 287"/>
              <p:cNvSpPr>
                <a:spLocks noChangeArrowheads="1"/>
              </p:cNvSpPr>
              <p:nvPr/>
            </p:nvSpPr>
            <p:spPr bwMode="auto">
              <a:xfrm>
                <a:off x="1355" y="3026"/>
                <a:ext cx="113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3" name="Rectangle 288"/>
              <p:cNvSpPr>
                <a:spLocks noChangeArrowheads="1"/>
              </p:cNvSpPr>
              <p:nvPr/>
            </p:nvSpPr>
            <p:spPr bwMode="auto">
              <a:xfrm>
                <a:off x="1492" y="3026"/>
                <a:ext cx="114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4" name="Rectangle 289"/>
              <p:cNvSpPr>
                <a:spLocks noChangeArrowheads="1"/>
              </p:cNvSpPr>
              <p:nvPr/>
            </p:nvSpPr>
            <p:spPr bwMode="auto">
              <a:xfrm>
                <a:off x="1630" y="3026"/>
                <a:ext cx="114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5" name="Rectangle 290"/>
              <p:cNvSpPr>
                <a:spLocks noChangeArrowheads="1"/>
              </p:cNvSpPr>
              <p:nvPr/>
            </p:nvSpPr>
            <p:spPr bwMode="auto">
              <a:xfrm>
                <a:off x="1768" y="3026"/>
                <a:ext cx="117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6" name="Rectangle 291"/>
              <p:cNvSpPr>
                <a:spLocks noChangeArrowheads="1"/>
              </p:cNvSpPr>
              <p:nvPr/>
            </p:nvSpPr>
            <p:spPr bwMode="auto">
              <a:xfrm>
                <a:off x="1909" y="3026"/>
                <a:ext cx="113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7" name="Rectangle 292"/>
              <p:cNvSpPr>
                <a:spLocks noChangeArrowheads="1"/>
              </p:cNvSpPr>
              <p:nvPr/>
            </p:nvSpPr>
            <p:spPr bwMode="auto">
              <a:xfrm>
                <a:off x="2047" y="3026"/>
                <a:ext cx="10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88" name="Line 293"/>
              <p:cNvSpPr>
                <a:spLocks noChangeShapeType="1"/>
              </p:cNvSpPr>
              <p:nvPr/>
            </p:nvSpPr>
            <p:spPr bwMode="auto">
              <a:xfrm>
                <a:off x="319" y="2868"/>
                <a:ext cx="3" cy="1"/>
              </a:xfrm>
              <a:prstGeom prst="line">
                <a:avLst/>
              </a:prstGeom>
              <a:noFill/>
              <a:ln w="11113">
                <a:solidFill>
                  <a:srgbClr val="13151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9" name="Freeform 294"/>
              <p:cNvSpPr>
                <a:spLocks noChangeArrowheads="1"/>
              </p:cNvSpPr>
              <p:nvPr/>
            </p:nvSpPr>
            <p:spPr bwMode="auto">
              <a:xfrm>
                <a:off x="377" y="3467"/>
                <a:ext cx="18" cy="21"/>
              </a:xfrm>
              <a:custGeom>
                <a:avLst/>
                <a:gdLst>
                  <a:gd name="T0" fmla="*/ 14 w 18"/>
                  <a:gd name="T1" fmla="*/ 0 h 21"/>
                  <a:gd name="T2" fmla="*/ 0 w 18"/>
                  <a:gd name="T3" fmla="*/ 14 h 21"/>
                  <a:gd name="T4" fmla="*/ 4 w 18"/>
                  <a:gd name="T5" fmla="*/ 21 h 21"/>
                  <a:gd name="T6" fmla="*/ 18 w 18"/>
                  <a:gd name="T7" fmla="*/ 7 h 21"/>
                  <a:gd name="T8" fmla="*/ 14 w 18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14" y="0"/>
                    </a:moveTo>
                    <a:lnTo>
                      <a:pt x="0" y="14"/>
                    </a:lnTo>
                    <a:lnTo>
                      <a:pt x="4" y="21"/>
                    </a:lnTo>
                    <a:lnTo>
                      <a:pt x="18" y="7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0" name="Rectangle 295"/>
              <p:cNvSpPr>
                <a:spLocks noChangeArrowheads="1"/>
              </p:cNvSpPr>
              <p:nvPr/>
            </p:nvSpPr>
            <p:spPr bwMode="auto">
              <a:xfrm>
                <a:off x="522" y="2871"/>
                <a:ext cx="10" cy="11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1" name="Rectangle 296"/>
              <p:cNvSpPr>
                <a:spLocks noChangeArrowheads="1"/>
              </p:cNvSpPr>
              <p:nvPr/>
            </p:nvSpPr>
            <p:spPr bwMode="auto">
              <a:xfrm>
                <a:off x="522" y="3009"/>
                <a:ext cx="10" cy="11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2" name="Rectangle 297"/>
              <p:cNvSpPr>
                <a:spLocks noChangeArrowheads="1"/>
              </p:cNvSpPr>
              <p:nvPr/>
            </p:nvSpPr>
            <p:spPr bwMode="auto">
              <a:xfrm>
                <a:off x="522" y="3150"/>
                <a:ext cx="10" cy="11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3" name="Rectangle 298"/>
              <p:cNvSpPr>
                <a:spLocks noChangeArrowheads="1"/>
              </p:cNvSpPr>
              <p:nvPr/>
            </p:nvSpPr>
            <p:spPr bwMode="auto">
              <a:xfrm>
                <a:off x="522" y="3288"/>
                <a:ext cx="10" cy="11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4" name="Rectangle 299"/>
              <p:cNvSpPr>
                <a:spLocks noChangeArrowheads="1"/>
              </p:cNvSpPr>
              <p:nvPr/>
            </p:nvSpPr>
            <p:spPr bwMode="auto">
              <a:xfrm>
                <a:off x="522" y="3426"/>
                <a:ext cx="10" cy="11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5" name="Rectangle 300"/>
              <p:cNvSpPr>
                <a:spLocks noChangeArrowheads="1"/>
              </p:cNvSpPr>
              <p:nvPr/>
            </p:nvSpPr>
            <p:spPr bwMode="auto">
              <a:xfrm>
                <a:off x="522" y="3564"/>
                <a:ext cx="10" cy="11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6" name="Rectangle 301"/>
              <p:cNvSpPr>
                <a:spLocks noChangeArrowheads="1"/>
              </p:cNvSpPr>
              <p:nvPr/>
            </p:nvSpPr>
            <p:spPr bwMode="auto">
              <a:xfrm>
                <a:off x="522" y="3701"/>
                <a:ext cx="10" cy="28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7" name="Rectangle 302"/>
              <p:cNvSpPr>
                <a:spLocks noChangeArrowheads="1"/>
              </p:cNvSpPr>
              <p:nvPr/>
            </p:nvSpPr>
            <p:spPr bwMode="auto">
              <a:xfrm>
                <a:off x="319" y="3557"/>
                <a:ext cx="62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8" name="Rectangle 303"/>
              <p:cNvSpPr>
                <a:spLocks noChangeArrowheads="1"/>
              </p:cNvSpPr>
              <p:nvPr/>
            </p:nvSpPr>
            <p:spPr bwMode="auto">
              <a:xfrm>
                <a:off x="381" y="3467"/>
                <a:ext cx="79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99" name="Rectangle 304"/>
              <p:cNvSpPr>
                <a:spLocks noChangeArrowheads="1"/>
              </p:cNvSpPr>
              <p:nvPr/>
            </p:nvSpPr>
            <p:spPr bwMode="auto">
              <a:xfrm>
                <a:off x="484" y="3467"/>
                <a:ext cx="41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100" name="Group 305"/>
              <p:cNvGrpSpPr>
                <a:grpSpLocks/>
              </p:cNvGrpSpPr>
              <p:nvPr/>
            </p:nvGrpSpPr>
            <p:grpSpPr bwMode="auto">
              <a:xfrm>
                <a:off x="381" y="3285"/>
                <a:ext cx="144" cy="6"/>
                <a:chOff x="268" y="2589"/>
                <a:chExt cx="144" cy="6"/>
              </a:xfrm>
            </p:grpSpPr>
            <p:sp>
              <p:nvSpPr>
                <p:cNvPr id="150" name="Rectangle 306"/>
                <p:cNvSpPr>
                  <a:spLocks noChangeArrowheads="1"/>
                </p:cNvSpPr>
                <p:nvPr/>
              </p:nvSpPr>
              <p:spPr bwMode="auto">
                <a:xfrm>
                  <a:off x="268" y="2589"/>
                  <a:ext cx="79" cy="6"/>
                </a:xfrm>
                <a:prstGeom prst="rect">
                  <a:avLst/>
                </a:prstGeom>
                <a:solidFill>
                  <a:schemeClr val="tx1"/>
                </a:soli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1" name="Rectangle 307"/>
                <p:cNvSpPr>
                  <a:spLocks noChangeArrowheads="1"/>
                </p:cNvSpPr>
                <p:nvPr/>
              </p:nvSpPr>
              <p:spPr bwMode="auto">
                <a:xfrm>
                  <a:off x="371" y="2589"/>
                  <a:ext cx="41" cy="6"/>
                </a:xfrm>
                <a:prstGeom prst="rect">
                  <a:avLst/>
                </a:prstGeom>
                <a:solidFill>
                  <a:schemeClr val="tx1"/>
                </a:soli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sp>
            <p:nvSpPr>
              <p:cNvPr id="101" name="Rectangle 308"/>
              <p:cNvSpPr>
                <a:spLocks noChangeArrowheads="1"/>
              </p:cNvSpPr>
              <p:nvPr/>
            </p:nvSpPr>
            <p:spPr bwMode="auto">
              <a:xfrm>
                <a:off x="374" y="3192"/>
                <a:ext cx="10" cy="11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2" name="Rectangle 309"/>
              <p:cNvSpPr>
                <a:spLocks noChangeArrowheads="1"/>
              </p:cNvSpPr>
              <p:nvPr/>
            </p:nvSpPr>
            <p:spPr bwMode="auto">
              <a:xfrm>
                <a:off x="374" y="3329"/>
                <a:ext cx="10" cy="114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3" name="Rectangle 310"/>
              <p:cNvSpPr>
                <a:spLocks noChangeArrowheads="1"/>
              </p:cNvSpPr>
              <p:nvPr/>
            </p:nvSpPr>
            <p:spPr bwMode="auto">
              <a:xfrm>
                <a:off x="374" y="3467"/>
                <a:ext cx="10" cy="9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4" name="Rectangle 311"/>
              <p:cNvSpPr>
                <a:spLocks noChangeArrowheads="1"/>
              </p:cNvSpPr>
              <p:nvPr/>
            </p:nvSpPr>
            <p:spPr bwMode="auto">
              <a:xfrm>
                <a:off x="319" y="3188"/>
                <a:ext cx="62" cy="7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5" name="Rectangle 312"/>
              <p:cNvSpPr>
                <a:spLocks noChangeArrowheads="1"/>
              </p:cNvSpPr>
              <p:nvPr/>
            </p:nvSpPr>
            <p:spPr bwMode="auto">
              <a:xfrm>
                <a:off x="309" y="2868"/>
                <a:ext cx="20" cy="86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6" name="Rectangle 313"/>
              <p:cNvSpPr>
                <a:spLocks noChangeArrowheads="1"/>
              </p:cNvSpPr>
              <p:nvPr/>
            </p:nvSpPr>
            <p:spPr bwMode="auto">
              <a:xfrm>
                <a:off x="291" y="3374"/>
                <a:ext cx="179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7" name="Rectangle 314"/>
              <p:cNvSpPr>
                <a:spLocks noChangeArrowheads="1"/>
              </p:cNvSpPr>
              <p:nvPr/>
            </p:nvSpPr>
            <p:spPr bwMode="auto">
              <a:xfrm>
                <a:off x="494" y="3374"/>
                <a:ext cx="21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8" name="Rectangle 315"/>
              <p:cNvSpPr>
                <a:spLocks noChangeArrowheads="1"/>
              </p:cNvSpPr>
              <p:nvPr/>
            </p:nvSpPr>
            <p:spPr bwMode="auto">
              <a:xfrm>
                <a:off x="536" y="3374"/>
                <a:ext cx="179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9" name="Rectangle 316"/>
              <p:cNvSpPr>
                <a:spLocks noChangeArrowheads="1"/>
              </p:cNvSpPr>
              <p:nvPr/>
            </p:nvSpPr>
            <p:spPr bwMode="auto">
              <a:xfrm>
                <a:off x="735" y="3374"/>
                <a:ext cx="24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0" name="Rectangle 317"/>
              <p:cNvSpPr>
                <a:spLocks noChangeArrowheads="1"/>
              </p:cNvSpPr>
              <p:nvPr/>
            </p:nvSpPr>
            <p:spPr bwMode="auto">
              <a:xfrm>
                <a:off x="780" y="3374"/>
                <a:ext cx="179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1" name="Rectangle 318"/>
              <p:cNvSpPr>
                <a:spLocks noChangeArrowheads="1"/>
              </p:cNvSpPr>
              <p:nvPr/>
            </p:nvSpPr>
            <p:spPr bwMode="auto">
              <a:xfrm>
                <a:off x="980" y="3374"/>
                <a:ext cx="20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2" name="Rectangle 319"/>
              <p:cNvSpPr>
                <a:spLocks noChangeArrowheads="1"/>
              </p:cNvSpPr>
              <p:nvPr/>
            </p:nvSpPr>
            <p:spPr bwMode="auto">
              <a:xfrm>
                <a:off x="1024" y="3374"/>
                <a:ext cx="179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3" name="Rectangle 320"/>
              <p:cNvSpPr>
                <a:spLocks noChangeArrowheads="1"/>
              </p:cNvSpPr>
              <p:nvPr/>
            </p:nvSpPr>
            <p:spPr bwMode="auto">
              <a:xfrm>
                <a:off x="1224" y="3374"/>
                <a:ext cx="21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4" name="Rectangle 321"/>
              <p:cNvSpPr>
                <a:spLocks noChangeArrowheads="1"/>
              </p:cNvSpPr>
              <p:nvPr/>
            </p:nvSpPr>
            <p:spPr bwMode="auto">
              <a:xfrm>
                <a:off x="1265" y="3374"/>
                <a:ext cx="179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5" name="Rectangle 322"/>
              <p:cNvSpPr>
                <a:spLocks noChangeArrowheads="1"/>
              </p:cNvSpPr>
              <p:nvPr/>
            </p:nvSpPr>
            <p:spPr bwMode="auto">
              <a:xfrm>
                <a:off x="1465" y="3374"/>
                <a:ext cx="24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6" name="Rectangle 323"/>
              <p:cNvSpPr>
                <a:spLocks noChangeArrowheads="1"/>
              </p:cNvSpPr>
              <p:nvPr/>
            </p:nvSpPr>
            <p:spPr bwMode="auto">
              <a:xfrm>
                <a:off x="1510" y="3374"/>
                <a:ext cx="179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7" name="Rectangle 324"/>
              <p:cNvSpPr>
                <a:spLocks noChangeArrowheads="1"/>
              </p:cNvSpPr>
              <p:nvPr/>
            </p:nvSpPr>
            <p:spPr bwMode="auto">
              <a:xfrm>
                <a:off x="1709" y="3374"/>
                <a:ext cx="21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8" name="Rectangle 325"/>
              <p:cNvSpPr>
                <a:spLocks noChangeArrowheads="1"/>
              </p:cNvSpPr>
              <p:nvPr/>
            </p:nvSpPr>
            <p:spPr bwMode="auto">
              <a:xfrm>
                <a:off x="1754" y="3374"/>
                <a:ext cx="179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9" name="Rectangle 326"/>
              <p:cNvSpPr>
                <a:spLocks noChangeArrowheads="1"/>
              </p:cNvSpPr>
              <p:nvPr/>
            </p:nvSpPr>
            <p:spPr bwMode="auto">
              <a:xfrm>
                <a:off x="1954" y="3374"/>
                <a:ext cx="20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0" name="Rectangle 327"/>
              <p:cNvSpPr>
                <a:spLocks noChangeArrowheads="1"/>
              </p:cNvSpPr>
              <p:nvPr/>
            </p:nvSpPr>
            <p:spPr bwMode="auto">
              <a:xfrm>
                <a:off x="1995" y="3374"/>
                <a:ext cx="100" cy="10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1" name="Rectangle 328"/>
              <p:cNvSpPr>
                <a:spLocks noChangeArrowheads="1"/>
              </p:cNvSpPr>
              <p:nvPr/>
            </p:nvSpPr>
            <p:spPr bwMode="auto">
              <a:xfrm>
                <a:off x="2053" y="2857"/>
                <a:ext cx="21" cy="875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2" name="Freeform 329"/>
              <p:cNvSpPr>
                <a:spLocks noChangeArrowheads="1"/>
              </p:cNvSpPr>
              <p:nvPr/>
            </p:nvSpPr>
            <p:spPr bwMode="auto">
              <a:xfrm>
                <a:off x="725" y="3254"/>
                <a:ext cx="124" cy="127"/>
              </a:xfrm>
              <a:custGeom>
                <a:avLst/>
                <a:gdLst>
                  <a:gd name="T0" fmla="*/ 124 w 124"/>
                  <a:gd name="T1" fmla="*/ 127 h 127"/>
                  <a:gd name="T2" fmla="*/ 124 w 124"/>
                  <a:gd name="T3" fmla="*/ 127 h 127"/>
                  <a:gd name="T4" fmla="*/ 124 w 124"/>
                  <a:gd name="T5" fmla="*/ 99 h 127"/>
                  <a:gd name="T6" fmla="*/ 114 w 124"/>
                  <a:gd name="T7" fmla="*/ 79 h 127"/>
                  <a:gd name="T8" fmla="*/ 103 w 124"/>
                  <a:gd name="T9" fmla="*/ 55 h 127"/>
                  <a:gd name="T10" fmla="*/ 90 w 124"/>
                  <a:gd name="T11" fmla="*/ 37 h 127"/>
                  <a:gd name="T12" fmla="*/ 69 w 124"/>
                  <a:gd name="T13" fmla="*/ 24 h 127"/>
                  <a:gd name="T14" fmla="*/ 48 w 124"/>
                  <a:gd name="T15" fmla="*/ 10 h 127"/>
                  <a:gd name="T16" fmla="*/ 24 w 124"/>
                  <a:gd name="T17" fmla="*/ 3 h 127"/>
                  <a:gd name="T18" fmla="*/ 0 w 124"/>
                  <a:gd name="T19" fmla="*/ 0 h 127"/>
                  <a:gd name="T20" fmla="*/ 0 w 124"/>
                  <a:gd name="T21" fmla="*/ 20 h 127"/>
                  <a:gd name="T22" fmla="*/ 21 w 124"/>
                  <a:gd name="T23" fmla="*/ 24 h 127"/>
                  <a:gd name="T24" fmla="*/ 41 w 124"/>
                  <a:gd name="T25" fmla="*/ 31 h 127"/>
                  <a:gd name="T26" fmla="*/ 59 w 124"/>
                  <a:gd name="T27" fmla="*/ 37 h 127"/>
                  <a:gd name="T28" fmla="*/ 76 w 124"/>
                  <a:gd name="T29" fmla="*/ 51 h 127"/>
                  <a:gd name="T30" fmla="*/ 86 w 124"/>
                  <a:gd name="T31" fmla="*/ 68 h 127"/>
                  <a:gd name="T32" fmla="*/ 96 w 124"/>
                  <a:gd name="T33" fmla="*/ 86 h 127"/>
                  <a:gd name="T34" fmla="*/ 103 w 124"/>
                  <a:gd name="T35" fmla="*/ 103 h 127"/>
                  <a:gd name="T36" fmla="*/ 103 w 124"/>
                  <a:gd name="T37" fmla="*/ 127 h 127"/>
                  <a:gd name="T38" fmla="*/ 103 w 124"/>
                  <a:gd name="T39" fmla="*/ 127 h 127"/>
                  <a:gd name="T40" fmla="*/ 124 w 124"/>
                  <a:gd name="T41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4" h="127">
                    <a:moveTo>
                      <a:pt x="124" y="127"/>
                    </a:moveTo>
                    <a:lnTo>
                      <a:pt x="124" y="127"/>
                    </a:lnTo>
                    <a:lnTo>
                      <a:pt x="124" y="99"/>
                    </a:lnTo>
                    <a:lnTo>
                      <a:pt x="114" y="79"/>
                    </a:lnTo>
                    <a:lnTo>
                      <a:pt x="103" y="55"/>
                    </a:lnTo>
                    <a:lnTo>
                      <a:pt x="90" y="37"/>
                    </a:lnTo>
                    <a:lnTo>
                      <a:pt x="69" y="24"/>
                    </a:lnTo>
                    <a:lnTo>
                      <a:pt x="48" y="10"/>
                    </a:lnTo>
                    <a:lnTo>
                      <a:pt x="24" y="3"/>
                    </a:lnTo>
                    <a:lnTo>
                      <a:pt x="0" y="0"/>
                    </a:lnTo>
                    <a:lnTo>
                      <a:pt x="0" y="20"/>
                    </a:lnTo>
                    <a:lnTo>
                      <a:pt x="21" y="24"/>
                    </a:lnTo>
                    <a:lnTo>
                      <a:pt x="41" y="31"/>
                    </a:lnTo>
                    <a:lnTo>
                      <a:pt x="59" y="37"/>
                    </a:lnTo>
                    <a:lnTo>
                      <a:pt x="76" y="51"/>
                    </a:lnTo>
                    <a:lnTo>
                      <a:pt x="86" y="68"/>
                    </a:lnTo>
                    <a:lnTo>
                      <a:pt x="96" y="86"/>
                    </a:lnTo>
                    <a:lnTo>
                      <a:pt x="103" y="103"/>
                    </a:lnTo>
                    <a:lnTo>
                      <a:pt x="103" y="127"/>
                    </a:lnTo>
                    <a:lnTo>
                      <a:pt x="124" y="127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3" name="Freeform 330"/>
              <p:cNvSpPr>
                <a:spLocks noChangeArrowheads="1"/>
              </p:cNvSpPr>
              <p:nvPr/>
            </p:nvSpPr>
            <p:spPr bwMode="auto">
              <a:xfrm>
                <a:off x="725" y="3381"/>
                <a:ext cx="124" cy="124"/>
              </a:xfrm>
              <a:custGeom>
                <a:avLst/>
                <a:gdLst>
                  <a:gd name="T0" fmla="*/ 0 w 124"/>
                  <a:gd name="T1" fmla="*/ 124 h 124"/>
                  <a:gd name="T2" fmla="*/ 0 w 124"/>
                  <a:gd name="T3" fmla="*/ 124 h 124"/>
                  <a:gd name="T4" fmla="*/ 24 w 124"/>
                  <a:gd name="T5" fmla="*/ 121 h 124"/>
                  <a:gd name="T6" fmla="*/ 48 w 124"/>
                  <a:gd name="T7" fmla="*/ 114 h 124"/>
                  <a:gd name="T8" fmla="*/ 69 w 124"/>
                  <a:gd name="T9" fmla="*/ 103 h 124"/>
                  <a:gd name="T10" fmla="*/ 90 w 124"/>
                  <a:gd name="T11" fmla="*/ 86 h 124"/>
                  <a:gd name="T12" fmla="*/ 103 w 124"/>
                  <a:gd name="T13" fmla="*/ 69 h 124"/>
                  <a:gd name="T14" fmla="*/ 114 w 124"/>
                  <a:gd name="T15" fmla="*/ 48 h 124"/>
                  <a:gd name="T16" fmla="*/ 124 w 124"/>
                  <a:gd name="T17" fmla="*/ 24 h 124"/>
                  <a:gd name="T18" fmla="*/ 124 w 124"/>
                  <a:gd name="T19" fmla="*/ 0 h 124"/>
                  <a:gd name="T20" fmla="*/ 103 w 124"/>
                  <a:gd name="T21" fmla="*/ 0 h 124"/>
                  <a:gd name="T22" fmla="*/ 103 w 124"/>
                  <a:gd name="T23" fmla="*/ 21 h 124"/>
                  <a:gd name="T24" fmla="*/ 96 w 124"/>
                  <a:gd name="T25" fmla="*/ 38 h 124"/>
                  <a:gd name="T26" fmla="*/ 86 w 124"/>
                  <a:gd name="T27" fmla="*/ 59 h 124"/>
                  <a:gd name="T28" fmla="*/ 76 w 124"/>
                  <a:gd name="T29" fmla="*/ 72 h 124"/>
                  <a:gd name="T30" fmla="*/ 59 w 124"/>
                  <a:gd name="T31" fmla="*/ 86 h 124"/>
                  <a:gd name="T32" fmla="*/ 41 w 124"/>
                  <a:gd name="T33" fmla="*/ 96 h 124"/>
                  <a:gd name="T34" fmla="*/ 21 w 124"/>
                  <a:gd name="T35" fmla="*/ 100 h 124"/>
                  <a:gd name="T36" fmla="*/ 0 w 124"/>
                  <a:gd name="T37" fmla="*/ 103 h 124"/>
                  <a:gd name="T38" fmla="*/ 0 w 124"/>
                  <a:gd name="T39" fmla="*/ 103 h 124"/>
                  <a:gd name="T40" fmla="*/ 0 w 124"/>
                  <a:gd name="T41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4" h="124">
                    <a:moveTo>
                      <a:pt x="0" y="124"/>
                    </a:moveTo>
                    <a:lnTo>
                      <a:pt x="0" y="124"/>
                    </a:lnTo>
                    <a:lnTo>
                      <a:pt x="24" y="121"/>
                    </a:lnTo>
                    <a:lnTo>
                      <a:pt x="48" y="114"/>
                    </a:lnTo>
                    <a:lnTo>
                      <a:pt x="69" y="103"/>
                    </a:lnTo>
                    <a:lnTo>
                      <a:pt x="90" y="86"/>
                    </a:lnTo>
                    <a:lnTo>
                      <a:pt x="103" y="69"/>
                    </a:lnTo>
                    <a:lnTo>
                      <a:pt x="114" y="48"/>
                    </a:lnTo>
                    <a:lnTo>
                      <a:pt x="124" y="24"/>
                    </a:lnTo>
                    <a:lnTo>
                      <a:pt x="124" y="0"/>
                    </a:lnTo>
                    <a:lnTo>
                      <a:pt x="103" y="0"/>
                    </a:lnTo>
                    <a:lnTo>
                      <a:pt x="103" y="21"/>
                    </a:lnTo>
                    <a:lnTo>
                      <a:pt x="96" y="38"/>
                    </a:lnTo>
                    <a:lnTo>
                      <a:pt x="86" y="59"/>
                    </a:lnTo>
                    <a:lnTo>
                      <a:pt x="76" y="72"/>
                    </a:lnTo>
                    <a:lnTo>
                      <a:pt x="59" y="86"/>
                    </a:lnTo>
                    <a:lnTo>
                      <a:pt x="41" y="96"/>
                    </a:lnTo>
                    <a:lnTo>
                      <a:pt x="21" y="100"/>
                    </a:lnTo>
                    <a:lnTo>
                      <a:pt x="0" y="103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4" name="Freeform 331"/>
              <p:cNvSpPr>
                <a:spLocks noChangeArrowheads="1"/>
              </p:cNvSpPr>
              <p:nvPr/>
            </p:nvSpPr>
            <p:spPr bwMode="auto">
              <a:xfrm>
                <a:off x="601" y="3381"/>
                <a:ext cx="124" cy="124"/>
              </a:xfrm>
              <a:custGeom>
                <a:avLst/>
                <a:gdLst>
                  <a:gd name="T0" fmla="*/ 0 w 124"/>
                  <a:gd name="T1" fmla="*/ 0 h 124"/>
                  <a:gd name="T2" fmla="*/ 0 w 124"/>
                  <a:gd name="T3" fmla="*/ 0 h 124"/>
                  <a:gd name="T4" fmla="*/ 4 w 124"/>
                  <a:gd name="T5" fmla="*/ 24 h 124"/>
                  <a:gd name="T6" fmla="*/ 10 w 124"/>
                  <a:gd name="T7" fmla="*/ 48 h 124"/>
                  <a:gd name="T8" fmla="*/ 21 w 124"/>
                  <a:gd name="T9" fmla="*/ 69 h 124"/>
                  <a:gd name="T10" fmla="*/ 38 w 124"/>
                  <a:gd name="T11" fmla="*/ 86 h 124"/>
                  <a:gd name="T12" fmla="*/ 55 w 124"/>
                  <a:gd name="T13" fmla="*/ 103 h 124"/>
                  <a:gd name="T14" fmla="*/ 76 w 124"/>
                  <a:gd name="T15" fmla="*/ 114 h 124"/>
                  <a:gd name="T16" fmla="*/ 100 w 124"/>
                  <a:gd name="T17" fmla="*/ 121 h 124"/>
                  <a:gd name="T18" fmla="*/ 124 w 124"/>
                  <a:gd name="T19" fmla="*/ 124 h 124"/>
                  <a:gd name="T20" fmla="*/ 124 w 124"/>
                  <a:gd name="T21" fmla="*/ 103 h 124"/>
                  <a:gd name="T22" fmla="*/ 103 w 124"/>
                  <a:gd name="T23" fmla="*/ 100 h 124"/>
                  <a:gd name="T24" fmla="*/ 83 w 124"/>
                  <a:gd name="T25" fmla="*/ 96 h 124"/>
                  <a:gd name="T26" fmla="*/ 66 w 124"/>
                  <a:gd name="T27" fmla="*/ 86 h 124"/>
                  <a:gd name="T28" fmla="*/ 52 w 124"/>
                  <a:gd name="T29" fmla="*/ 72 h 124"/>
                  <a:gd name="T30" fmla="*/ 38 w 124"/>
                  <a:gd name="T31" fmla="*/ 59 h 124"/>
                  <a:gd name="T32" fmla="*/ 28 w 124"/>
                  <a:gd name="T33" fmla="*/ 38 h 124"/>
                  <a:gd name="T34" fmla="*/ 21 w 124"/>
                  <a:gd name="T35" fmla="*/ 21 h 124"/>
                  <a:gd name="T36" fmla="*/ 21 w 124"/>
                  <a:gd name="T37" fmla="*/ 0 h 124"/>
                  <a:gd name="T38" fmla="*/ 21 w 124"/>
                  <a:gd name="T39" fmla="*/ 0 h 124"/>
                  <a:gd name="T40" fmla="*/ 0 w 124"/>
                  <a:gd name="T41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4" h="124">
                    <a:moveTo>
                      <a:pt x="0" y="0"/>
                    </a:moveTo>
                    <a:lnTo>
                      <a:pt x="0" y="0"/>
                    </a:lnTo>
                    <a:lnTo>
                      <a:pt x="4" y="24"/>
                    </a:lnTo>
                    <a:lnTo>
                      <a:pt x="10" y="48"/>
                    </a:lnTo>
                    <a:lnTo>
                      <a:pt x="21" y="69"/>
                    </a:lnTo>
                    <a:lnTo>
                      <a:pt x="38" y="86"/>
                    </a:lnTo>
                    <a:lnTo>
                      <a:pt x="55" y="103"/>
                    </a:lnTo>
                    <a:lnTo>
                      <a:pt x="76" y="114"/>
                    </a:lnTo>
                    <a:lnTo>
                      <a:pt x="100" y="121"/>
                    </a:lnTo>
                    <a:lnTo>
                      <a:pt x="124" y="124"/>
                    </a:lnTo>
                    <a:lnTo>
                      <a:pt x="124" y="103"/>
                    </a:lnTo>
                    <a:lnTo>
                      <a:pt x="103" y="100"/>
                    </a:lnTo>
                    <a:lnTo>
                      <a:pt x="83" y="96"/>
                    </a:lnTo>
                    <a:lnTo>
                      <a:pt x="66" y="86"/>
                    </a:lnTo>
                    <a:lnTo>
                      <a:pt x="52" y="72"/>
                    </a:lnTo>
                    <a:lnTo>
                      <a:pt x="38" y="59"/>
                    </a:lnTo>
                    <a:lnTo>
                      <a:pt x="28" y="38"/>
                    </a:lnTo>
                    <a:lnTo>
                      <a:pt x="21" y="21"/>
                    </a:lnTo>
                    <a:lnTo>
                      <a:pt x="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5" name="Freeform 332"/>
              <p:cNvSpPr>
                <a:spLocks noChangeArrowheads="1"/>
              </p:cNvSpPr>
              <p:nvPr/>
            </p:nvSpPr>
            <p:spPr bwMode="auto">
              <a:xfrm>
                <a:off x="601" y="3254"/>
                <a:ext cx="124" cy="127"/>
              </a:xfrm>
              <a:custGeom>
                <a:avLst/>
                <a:gdLst>
                  <a:gd name="T0" fmla="*/ 124 w 124"/>
                  <a:gd name="T1" fmla="*/ 0 h 127"/>
                  <a:gd name="T2" fmla="*/ 124 w 124"/>
                  <a:gd name="T3" fmla="*/ 0 h 127"/>
                  <a:gd name="T4" fmla="*/ 100 w 124"/>
                  <a:gd name="T5" fmla="*/ 3 h 127"/>
                  <a:gd name="T6" fmla="*/ 76 w 124"/>
                  <a:gd name="T7" fmla="*/ 10 h 127"/>
                  <a:gd name="T8" fmla="*/ 55 w 124"/>
                  <a:gd name="T9" fmla="*/ 24 h 127"/>
                  <a:gd name="T10" fmla="*/ 38 w 124"/>
                  <a:gd name="T11" fmla="*/ 37 h 127"/>
                  <a:gd name="T12" fmla="*/ 21 w 124"/>
                  <a:gd name="T13" fmla="*/ 55 h 127"/>
                  <a:gd name="T14" fmla="*/ 10 w 124"/>
                  <a:gd name="T15" fmla="*/ 79 h 127"/>
                  <a:gd name="T16" fmla="*/ 4 w 124"/>
                  <a:gd name="T17" fmla="*/ 99 h 127"/>
                  <a:gd name="T18" fmla="*/ 0 w 124"/>
                  <a:gd name="T19" fmla="*/ 127 h 127"/>
                  <a:gd name="T20" fmla="*/ 21 w 124"/>
                  <a:gd name="T21" fmla="*/ 127 h 127"/>
                  <a:gd name="T22" fmla="*/ 21 w 124"/>
                  <a:gd name="T23" fmla="*/ 103 h 127"/>
                  <a:gd name="T24" fmla="*/ 28 w 124"/>
                  <a:gd name="T25" fmla="*/ 86 h 127"/>
                  <a:gd name="T26" fmla="*/ 38 w 124"/>
                  <a:gd name="T27" fmla="*/ 68 h 127"/>
                  <a:gd name="T28" fmla="*/ 52 w 124"/>
                  <a:gd name="T29" fmla="*/ 51 h 127"/>
                  <a:gd name="T30" fmla="*/ 66 w 124"/>
                  <a:gd name="T31" fmla="*/ 37 h 127"/>
                  <a:gd name="T32" fmla="*/ 83 w 124"/>
                  <a:gd name="T33" fmla="*/ 31 h 127"/>
                  <a:gd name="T34" fmla="*/ 103 w 124"/>
                  <a:gd name="T35" fmla="*/ 24 h 127"/>
                  <a:gd name="T36" fmla="*/ 124 w 124"/>
                  <a:gd name="T37" fmla="*/ 20 h 127"/>
                  <a:gd name="T38" fmla="*/ 124 w 124"/>
                  <a:gd name="T39" fmla="*/ 20 h 127"/>
                  <a:gd name="T40" fmla="*/ 124 w 124"/>
                  <a:gd name="T41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4" h="127">
                    <a:moveTo>
                      <a:pt x="124" y="0"/>
                    </a:moveTo>
                    <a:lnTo>
                      <a:pt x="124" y="0"/>
                    </a:lnTo>
                    <a:lnTo>
                      <a:pt x="100" y="3"/>
                    </a:lnTo>
                    <a:lnTo>
                      <a:pt x="76" y="10"/>
                    </a:lnTo>
                    <a:lnTo>
                      <a:pt x="55" y="24"/>
                    </a:lnTo>
                    <a:lnTo>
                      <a:pt x="38" y="37"/>
                    </a:lnTo>
                    <a:lnTo>
                      <a:pt x="21" y="55"/>
                    </a:lnTo>
                    <a:lnTo>
                      <a:pt x="10" y="79"/>
                    </a:lnTo>
                    <a:lnTo>
                      <a:pt x="4" y="99"/>
                    </a:lnTo>
                    <a:lnTo>
                      <a:pt x="0" y="127"/>
                    </a:lnTo>
                    <a:lnTo>
                      <a:pt x="21" y="127"/>
                    </a:lnTo>
                    <a:lnTo>
                      <a:pt x="21" y="103"/>
                    </a:lnTo>
                    <a:lnTo>
                      <a:pt x="28" y="86"/>
                    </a:lnTo>
                    <a:lnTo>
                      <a:pt x="38" y="68"/>
                    </a:lnTo>
                    <a:lnTo>
                      <a:pt x="52" y="51"/>
                    </a:lnTo>
                    <a:lnTo>
                      <a:pt x="66" y="37"/>
                    </a:lnTo>
                    <a:lnTo>
                      <a:pt x="83" y="31"/>
                    </a:lnTo>
                    <a:lnTo>
                      <a:pt x="103" y="24"/>
                    </a:lnTo>
                    <a:lnTo>
                      <a:pt x="124" y="20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6" name="Freeform 333"/>
              <p:cNvSpPr>
                <a:spLocks noChangeArrowheads="1"/>
              </p:cNvSpPr>
              <p:nvPr/>
            </p:nvSpPr>
            <p:spPr bwMode="auto">
              <a:xfrm>
                <a:off x="1843" y="3254"/>
                <a:ext cx="124" cy="127"/>
              </a:xfrm>
              <a:custGeom>
                <a:avLst/>
                <a:gdLst>
                  <a:gd name="T0" fmla="*/ 124 w 124"/>
                  <a:gd name="T1" fmla="*/ 127 h 127"/>
                  <a:gd name="T2" fmla="*/ 124 w 124"/>
                  <a:gd name="T3" fmla="*/ 127 h 127"/>
                  <a:gd name="T4" fmla="*/ 121 w 124"/>
                  <a:gd name="T5" fmla="*/ 99 h 127"/>
                  <a:gd name="T6" fmla="*/ 114 w 124"/>
                  <a:gd name="T7" fmla="*/ 79 h 127"/>
                  <a:gd name="T8" fmla="*/ 104 w 124"/>
                  <a:gd name="T9" fmla="*/ 55 h 127"/>
                  <a:gd name="T10" fmla="*/ 87 w 124"/>
                  <a:gd name="T11" fmla="*/ 37 h 127"/>
                  <a:gd name="T12" fmla="*/ 69 w 124"/>
                  <a:gd name="T13" fmla="*/ 24 h 127"/>
                  <a:gd name="T14" fmla="*/ 49 w 124"/>
                  <a:gd name="T15" fmla="*/ 10 h 127"/>
                  <a:gd name="T16" fmla="*/ 25 w 124"/>
                  <a:gd name="T17" fmla="*/ 3 h 127"/>
                  <a:gd name="T18" fmla="*/ 0 w 124"/>
                  <a:gd name="T19" fmla="*/ 0 h 127"/>
                  <a:gd name="T20" fmla="*/ 0 w 124"/>
                  <a:gd name="T21" fmla="*/ 20 h 127"/>
                  <a:gd name="T22" fmla="*/ 21 w 124"/>
                  <a:gd name="T23" fmla="*/ 24 h 127"/>
                  <a:gd name="T24" fmla="*/ 38 w 124"/>
                  <a:gd name="T25" fmla="*/ 31 h 127"/>
                  <a:gd name="T26" fmla="*/ 59 w 124"/>
                  <a:gd name="T27" fmla="*/ 37 h 127"/>
                  <a:gd name="T28" fmla="*/ 73 w 124"/>
                  <a:gd name="T29" fmla="*/ 51 h 127"/>
                  <a:gd name="T30" fmla="*/ 87 w 124"/>
                  <a:gd name="T31" fmla="*/ 68 h 127"/>
                  <a:gd name="T32" fmla="*/ 97 w 124"/>
                  <a:gd name="T33" fmla="*/ 86 h 127"/>
                  <a:gd name="T34" fmla="*/ 100 w 124"/>
                  <a:gd name="T35" fmla="*/ 103 h 127"/>
                  <a:gd name="T36" fmla="*/ 104 w 124"/>
                  <a:gd name="T37" fmla="*/ 127 h 127"/>
                  <a:gd name="T38" fmla="*/ 104 w 124"/>
                  <a:gd name="T39" fmla="*/ 127 h 127"/>
                  <a:gd name="T40" fmla="*/ 124 w 124"/>
                  <a:gd name="T41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4" h="127">
                    <a:moveTo>
                      <a:pt x="124" y="127"/>
                    </a:moveTo>
                    <a:lnTo>
                      <a:pt x="124" y="127"/>
                    </a:lnTo>
                    <a:lnTo>
                      <a:pt x="121" y="99"/>
                    </a:lnTo>
                    <a:lnTo>
                      <a:pt x="114" y="79"/>
                    </a:lnTo>
                    <a:lnTo>
                      <a:pt x="104" y="55"/>
                    </a:lnTo>
                    <a:lnTo>
                      <a:pt x="87" y="37"/>
                    </a:lnTo>
                    <a:lnTo>
                      <a:pt x="69" y="24"/>
                    </a:lnTo>
                    <a:lnTo>
                      <a:pt x="49" y="10"/>
                    </a:lnTo>
                    <a:lnTo>
                      <a:pt x="25" y="3"/>
                    </a:lnTo>
                    <a:lnTo>
                      <a:pt x="0" y="0"/>
                    </a:lnTo>
                    <a:lnTo>
                      <a:pt x="0" y="20"/>
                    </a:lnTo>
                    <a:lnTo>
                      <a:pt x="21" y="24"/>
                    </a:lnTo>
                    <a:lnTo>
                      <a:pt x="38" y="31"/>
                    </a:lnTo>
                    <a:lnTo>
                      <a:pt x="59" y="37"/>
                    </a:lnTo>
                    <a:lnTo>
                      <a:pt x="73" y="51"/>
                    </a:lnTo>
                    <a:lnTo>
                      <a:pt x="87" y="68"/>
                    </a:lnTo>
                    <a:lnTo>
                      <a:pt x="97" y="86"/>
                    </a:lnTo>
                    <a:lnTo>
                      <a:pt x="100" y="103"/>
                    </a:lnTo>
                    <a:lnTo>
                      <a:pt x="104" y="127"/>
                    </a:lnTo>
                    <a:lnTo>
                      <a:pt x="124" y="127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7" name="Freeform 334"/>
              <p:cNvSpPr>
                <a:spLocks noChangeArrowheads="1"/>
              </p:cNvSpPr>
              <p:nvPr/>
            </p:nvSpPr>
            <p:spPr bwMode="auto">
              <a:xfrm>
                <a:off x="1843" y="3381"/>
                <a:ext cx="124" cy="124"/>
              </a:xfrm>
              <a:custGeom>
                <a:avLst/>
                <a:gdLst>
                  <a:gd name="T0" fmla="*/ 0 w 124"/>
                  <a:gd name="T1" fmla="*/ 124 h 124"/>
                  <a:gd name="T2" fmla="*/ 0 w 124"/>
                  <a:gd name="T3" fmla="*/ 124 h 124"/>
                  <a:gd name="T4" fmla="*/ 25 w 124"/>
                  <a:gd name="T5" fmla="*/ 121 h 124"/>
                  <a:gd name="T6" fmla="*/ 49 w 124"/>
                  <a:gd name="T7" fmla="*/ 114 h 124"/>
                  <a:gd name="T8" fmla="*/ 69 w 124"/>
                  <a:gd name="T9" fmla="*/ 103 h 124"/>
                  <a:gd name="T10" fmla="*/ 87 w 124"/>
                  <a:gd name="T11" fmla="*/ 86 h 124"/>
                  <a:gd name="T12" fmla="*/ 104 w 124"/>
                  <a:gd name="T13" fmla="*/ 69 h 124"/>
                  <a:gd name="T14" fmla="*/ 114 w 124"/>
                  <a:gd name="T15" fmla="*/ 48 h 124"/>
                  <a:gd name="T16" fmla="*/ 121 w 124"/>
                  <a:gd name="T17" fmla="*/ 24 h 124"/>
                  <a:gd name="T18" fmla="*/ 124 w 124"/>
                  <a:gd name="T19" fmla="*/ 0 h 124"/>
                  <a:gd name="T20" fmla="*/ 104 w 124"/>
                  <a:gd name="T21" fmla="*/ 0 h 124"/>
                  <a:gd name="T22" fmla="*/ 100 w 124"/>
                  <a:gd name="T23" fmla="*/ 21 h 124"/>
                  <a:gd name="T24" fmla="*/ 97 w 124"/>
                  <a:gd name="T25" fmla="*/ 38 h 124"/>
                  <a:gd name="T26" fmla="*/ 87 w 124"/>
                  <a:gd name="T27" fmla="*/ 59 h 124"/>
                  <a:gd name="T28" fmla="*/ 73 w 124"/>
                  <a:gd name="T29" fmla="*/ 72 h 124"/>
                  <a:gd name="T30" fmla="*/ 59 w 124"/>
                  <a:gd name="T31" fmla="*/ 86 h 124"/>
                  <a:gd name="T32" fmla="*/ 38 w 124"/>
                  <a:gd name="T33" fmla="*/ 96 h 124"/>
                  <a:gd name="T34" fmla="*/ 21 w 124"/>
                  <a:gd name="T35" fmla="*/ 100 h 124"/>
                  <a:gd name="T36" fmla="*/ 0 w 124"/>
                  <a:gd name="T37" fmla="*/ 103 h 124"/>
                  <a:gd name="T38" fmla="*/ 0 w 124"/>
                  <a:gd name="T39" fmla="*/ 103 h 124"/>
                  <a:gd name="T40" fmla="*/ 0 w 124"/>
                  <a:gd name="T41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4" h="124">
                    <a:moveTo>
                      <a:pt x="0" y="124"/>
                    </a:moveTo>
                    <a:lnTo>
                      <a:pt x="0" y="124"/>
                    </a:lnTo>
                    <a:lnTo>
                      <a:pt x="25" y="121"/>
                    </a:lnTo>
                    <a:lnTo>
                      <a:pt x="49" y="114"/>
                    </a:lnTo>
                    <a:lnTo>
                      <a:pt x="69" y="103"/>
                    </a:lnTo>
                    <a:lnTo>
                      <a:pt x="87" y="86"/>
                    </a:lnTo>
                    <a:lnTo>
                      <a:pt x="104" y="69"/>
                    </a:lnTo>
                    <a:lnTo>
                      <a:pt x="114" y="48"/>
                    </a:lnTo>
                    <a:lnTo>
                      <a:pt x="121" y="24"/>
                    </a:lnTo>
                    <a:lnTo>
                      <a:pt x="124" y="0"/>
                    </a:lnTo>
                    <a:lnTo>
                      <a:pt x="104" y="0"/>
                    </a:lnTo>
                    <a:lnTo>
                      <a:pt x="100" y="21"/>
                    </a:lnTo>
                    <a:lnTo>
                      <a:pt x="97" y="38"/>
                    </a:lnTo>
                    <a:lnTo>
                      <a:pt x="87" y="59"/>
                    </a:lnTo>
                    <a:lnTo>
                      <a:pt x="73" y="72"/>
                    </a:lnTo>
                    <a:lnTo>
                      <a:pt x="59" y="86"/>
                    </a:lnTo>
                    <a:lnTo>
                      <a:pt x="38" y="96"/>
                    </a:lnTo>
                    <a:lnTo>
                      <a:pt x="21" y="100"/>
                    </a:lnTo>
                    <a:lnTo>
                      <a:pt x="0" y="103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8" name="Freeform 335"/>
              <p:cNvSpPr>
                <a:spLocks noChangeArrowheads="1"/>
              </p:cNvSpPr>
              <p:nvPr/>
            </p:nvSpPr>
            <p:spPr bwMode="auto">
              <a:xfrm>
                <a:off x="1716" y="3381"/>
                <a:ext cx="127" cy="124"/>
              </a:xfrm>
              <a:custGeom>
                <a:avLst/>
                <a:gdLst>
                  <a:gd name="T0" fmla="*/ 0 w 127"/>
                  <a:gd name="T1" fmla="*/ 0 h 124"/>
                  <a:gd name="T2" fmla="*/ 0 w 127"/>
                  <a:gd name="T3" fmla="*/ 0 h 124"/>
                  <a:gd name="T4" fmla="*/ 4 w 127"/>
                  <a:gd name="T5" fmla="*/ 24 h 124"/>
                  <a:gd name="T6" fmla="*/ 10 w 127"/>
                  <a:gd name="T7" fmla="*/ 48 h 124"/>
                  <a:gd name="T8" fmla="*/ 24 w 127"/>
                  <a:gd name="T9" fmla="*/ 69 h 124"/>
                  <a:gd name="T10" fmla="*/ 38 w 127"/>
                  <a:gd name="T11" fmla="*/ 86 h 124"/>
                  <a:gd name="T12" fmla="*/ 55 w 127"/>
                  <a:gd name="T13" fmla="*/ 103 h 124"/>
                  <a:gd name="T14" fmla="*/ 79 w 127"/>
                  <a:gd name="T15" fmla="*/ 114 h 124"/>
                  <a:gd name="T16" fmla="*/ 100 w 127"/>
                  <a:gd name="T17" fmla="*/ 121 h 124"/>
                  <a:gd name="T18" fmla="*/ 127 w 127"/>
                  <a:gd name="T19" fmla="*/ 124 h 124"/>
                  <a:gd name="T20" fmla="*/ 127 w 127"/>
                  <a:gd name="T21" fmla="*/ 103 h 124"/>
                  <a:gd name="T22" fmla="*/ 107 w 127"/>
                  <a:gd name="T23" fmla="*/ 100 h 124"/>
                  <a:gd name="T24" fmla="*/ 86 w 127"/>
                  <a:gd name="T25" fmla="*/ 96 h 124"/>
                  <a:gd name="T26" fmla="*/ 69 w 127"/>
                  <a:gd name="T27" fmla="*/ 86 h 124"/>
                  <a:gd name="T28" fmla="*/ 52 w 127"/>
                  <a:gd name="T29" fmla="*/ 72 h 124"/>
                  <a:gd name="T30" fmla="*/ 38 w 127"/>
                  <a:gd name="T31" fmla="*/ 59 h 124"/>
                  <a:gd name="T32" fmla="*/ 31 w 127"/>
                  <a:gd name="T33" fmla="*/ 38 h 124"/>
                  <a:gd name="T34" fmla="*/ 24 w 127"/>
                  <a:gd name="T35" fmla="*/ 21 h 124"/>
                  <a:gd name="T36" fmla="*/ 21 w 127"/>
                  <a:gd name="T37" fmla="*/ 0 h 124"/>
                  <a:gd name="T38" fmla="*/ 21 w 127"/>
                  <a:gd name="T39" fmla="*/ 0 h 124"/>
                  <a:gd name="T40" fmla="*/ 0 w 127"/>
                  <a:gd name="T41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7" h="124">
                    <a:moveTo>
                      <a:pt x="0" y="0"/>
                    </a:moveTo>
                    <a:lnTo>
                      <a:pt x="0" y="0"/>
                    </a:lnTo>
                    <a:lnTo>
                      <a:pt x="4" y="24"/>
                    </a:lnTo>
                    <a:lnTo>
                      <a:pt x="10" y="48"/>
                    </a:lnTo>
                    <a:lnTo>
                      <a:pt x="24" y="69"/>
                    </a:lnTo>
                    <a:lnTo>
                      <a:pt x="38" y="86"/>
                    </a:lnTo>
                    <a:lnTo>
                      <a:pt x="55" y="103"/>
                    </a:lnTo>
                    <a:lnTo>
                      <a:pt x="79" y="114"/>
                    </a:lnTo>
                    <a:lnTo>
                      <a:pt x="100" y="121"/>
                    </a:lnTo>
                    <a:lnTo>
                      <a:pt x="127" y="124"/>
                    </a:lnTo>
                    <a:lnTo>
                      <a:pt x="127" y="103"/>
                    </a:lnTo>
                    <a:lnTo>
                      <a:pt x="107" y="100"/>
                    </a:lnTo>
                    <a:lnTo>
                      <a:pt x="86" y="96"/>
                    </a:lnTo>
                    <a:lnTo>
                      <a:pt x="69" y="86"/>
                    </a:lnTo>
                    <a:lnTo>
                      <a:pt x="52" y="72"/>
                    </a:lnTo>
                    <a:lnTo>
                      <a:pt x="38" y="59"/>
                    </a:lnTo>
                    <a:lnTo>
                      <a:pt x="31" y="38"/>
                    </a:lnTo>
                    <a:lnTo>
                      <a:pt x="24" y="21"/>
                    </a:lnTo>
                    <a:lnTo>
                      <a:pt x="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9" name="Freeform 336"/>
              <p:cNvSpPr>
                <a:spLocks noChangeArrowheads="1"/>
              </p:cNvSpPr>
              <p:nvPr/>
            </p:nvSpPr>
            <p:spPr bwMode="auto">
              <a:xfrm>
                <a:off x="1716" y="3254"/>
                <a:ext cx="127" cy="127"/>
              </a:xfrm>
              <a:custGeom>
                <a:avLst/>
                <a:gdLst>
                  <a:gd name="T0" fmla="*/ 127 w 127"/>
                  <a:gd name="T1" fmla="*/ 0 h 127"/>
                  <a:gd name="T2" fmla="*/ 127 w 127"/>
                  <a:gd name="T3" fmla="*/ 0 h 127"/>
                  <a:gd name="T4" fmla="*/ 100 w 127"/>
                  <a:gd name="T5" fmla="*/ 3 h 127"/>
                  <a:gd name="T6" fmla="*/ 79 w 127"/>
                  <a:gd name="T7" fmla="*/ 10 h 127"/>
                  <a:gd name="T8" fmla="*/ 55 w 127"/>
                  <a:gd name="T9" fmla="*/ 24 h 127"/>
                  <a:gd name="T10" fmla="*/ 38 w 127"/>
                  <a:gd name="T11" fmla="*/ 37 h 127"/>
                  <a:gd name="T12" fmla="*/ 24 w 127"/>
                  <a:gd name="T13" fmla="*/ 55 h 127"/>
                  <a:gd name="T14" fmla="*/ 10 w 127"/>
                  <a:gd name="T15" fmla="*/ 79 h 127"/>
                  <a:gd name="T16" fmla="*/ 4 w 127"/>
                  <a:gd name="T17" fmla="*/ 99 h 127"/>
                  <a:gd name="T18" fmla="*/ 0 w 127"/>
                  <a:gd name="T19" fmla="*/ 127 h 127"/>
                  <a:gd name="T20" fmla="*/ 21 w 127"/>
                  <a:gd name="T21" fmla="*/ 127 h 127"/>
                  <a:gd name="T22" fmla="*/ 24 w 127"/>
                  <a:gd name="T23" fmla="*/ 103 h 127"/>
                  <a:gd name="T24" fmla="*/ 31 w 127"/>
                  <a:gd name="T25" fmla="*/ 86 h 127"/>
                  <a:gd name="T26" fmla="*/ 38 w 127"/>
                  <a:gd name="T27" fmla="*/ 68 h 127"/>
                  <a:gd name="T28" fmla="*/ 52 w 127"/>
                  <a:gd name="T29" fmla="*/ 51 h 127"/>
                  <a:gd name="T30" fmla="*/ 69 w 127"/>
                  <a:gd name="T31" fmla="*/ 37 h 127"/>
                  <a:gd name="T32" fmla="*/ 86 w 127"/>
                  <a:gd name="T33" fmla="*/ 31 h 127"/>
                  <a:gd name="T34" fmla="*/ 107 w 127"/>
                  <a:gd name="T35" fmla="*/ 24 h 127"/>
                  <a:gd name="T36" fmla="*/ 127 w 127"/>
                  <a:gd name="T37" fmla="*/ 20 h 127"/>
                  <a:gd name="T38" fmla="*/ 127 w 127"/>
                  <a:gd name="T39" fmla="*/ 20 h 127"/>
                  <a:gd name="T40" fmla="*/ 127 w 127"/>
                  <a:gd name="T41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7" h="127">
                    <a:moveTo>
                      <a:pt x="127" y="0"/>
                    </a:moveTo>
                    <a:lnTo>
                      <a:pt x="127" y="0"/>
                    </a:lnTo>
                    <a:lnTo>
                      <a:pt x="100" y="3"/>
                    </a:lnTo>
                    <a:lnTo>
                      <a:pt x="79" y="10"/>
                    </a:lnTo>
                    <a:lnTo>
                      <a:pt x="55" y="24"/>
                    </a:lnTo>
                    <a:lnTo>
                      <a:pt x="38" y="37"/>
                    </a:lnTo>
                    <a:lnTo>
                      <a:pt x="24" y="55"/>
                    </a:lnTo>
                    <a:lnTo>
                      <a:pt x="10" y="79"/>
                    </a:lnTo>
                    <a:lnTo>
                      <a:pt x="4" y="99"/>
                    </a:lnTo>
                    <a:lnTo>
                      <a:pt x="0" y="127"/>
                    </a:lnTo>
                    <a:lnTo>
                      <a:pt x="21" y="127"/>
                    </a:lnTo>
                    <a:lnTo>
                      <a:pt x="24" y="103"/>
                    </a:lnTo>
                    <a:lnTo>
                      <a:pt x="31" y="86"/>
                    </a:lnTo>
                    <a:lnTo>
                      <a:pt x="38" y="68"/>
                    </a:lnTo>
                    <a:lnTo>
                      <a:pt x="52" y="51"/>
                    </a:lnTo>
                    <a:lnTo>
                      <a:pt x="69" y="37"/>
                    </a:lnTo>
                    <a:lnTo>
                      <a:pt x="86" y="31"/>
                    </a:lnTo>
                    <a:lnTo>
                      <a:pt x="107" y="24"/>
                    </a:lnTo>
                    <a:lnTo>
                      <a:pt x="127" y="2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130" name="Group 337"/>
              <p:cNvGrpSpPr>
                <a:grpSpLocks/>
              </p:cNvGrpSpPr>
              <p:nvPr/>
            </p:nvGrpSpPr>
            <p:grpSpPr bwMode="auto">
              <a:xfrm>
                <a:off x="722" y="3219"/>
                <a:ext cx="6" cy="341"/>
                <a:chOff x="609" y="2523"/>
                <a:chExt cx="6" cy="341"/>
              </a:xfrm>
            </p:grpSpPr>
            <p:sp>
              <p:nvSpPr>
                <p:cNvPr id="147" name="Rectangle 338"/>
                <p:cNvSpPr>
                  <a:spLocks noChangeArrowheads="1"/>
                </p:cNvSpPr>
                <p:nvPr/>
              </p:nvSpPr>
              <p:spPr bwMode="auto">
                <a:xfrm>
                  <a:off x="609" y="2523"/>
                  <a:ext cx="6" cy="179"/>
                </a:xfrm>
                <a:prstGeom prst="rect">
                  <a:avLst/>
                </a:prstGeom>
                <a:solidFill>
                  <a:srgbClr val="131516"/>
                </a:soli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8" name="Rectangle 339"/>
                <p:cNvSpPr>
                  <a:spLocks noChangeArrowheads="1"/>
                </p:cNvSpPr>
                <p:nvPr/>
              </p:nvSpPr>
              <p:spPr bwMode="auto">
                <a:xfrm>
                  <a:off x="609" y="2723"/>
                  <a:ext cx="6" cy="21"/>
                </a:xfrm>
                <a:prstGeom prst="rect">
                  <a:avLst/>
                </a:prstGeom>
                <a:solidFill>
                  <a:srgbClr val="131516"/>
                </a:soli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9" name="Rectangle 340"/>
                <p:cNvSpPr>
                  <a:spLocks noChangeArrowheads="1"/>
                </p:cNvSpPr>
                <p:nvPr/>
              </p:nvSpPr>
              <p:spPr bwMode="auto">
                <a:xfrm>
                  <a:off x="609" y="2768"/>
                  <a:ext cx="6" cy="96"/>
                </a:xfrm>
                <a:prstGeom prst="rect">
                  <a:avLst/>
                </a:prstGeom>
                <a:solidFill>
                  <a:srgbClr val="131516"/>
                </a:soli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sp>
            <p:nvSpPr>
              <p:cNvPr id="131" name="Rectangle 341"/>
              <p:cNvSpPr>
                <a:spLocks noChangeArrowheads="1"/>
              </p:cNvSpPr>
              <p:nvPr/>
            </p:nvSpPr>
            <p:spPr bwMode="auto">
              <a:xfrm>
                <a:off x="1843" y="3219"/>
                <a:ext cx="7" cy="179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2" name="Rectangle 342"/>
              <p:cNvSpPr>
                <a:spLocks noChangeArrowheads="1"/>
              </p:cNvSpPr>
              <p:nvPr/>
            </p:nvSpPr>
            <p:spPr bwMode="auto">
              <a:xfrm>
                <a:off x="1843" y="3419"/>
                <a:ext cx="7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3" name="Rectangle 343"/>
              <p:cNvSpPr>
                <a:spLocks noChangeArrowheads="1"/>
              </p:cNvSpPr>
              <p:nvPr/>
            </p:nvSpPr>
            <p:spPr bwMode="auto">
              <a:xfrm>
                <a:off x="1843" y="3464"/>
                <a:ext cx="7" cy="96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4" name="Freeform 344"/>
              <p:cNvSpPr>
                <a:spLocks noChangeArrowheads="1"/>
              </p:cNvSpPr>
              <p:nvPr/>
            </p:nvSpPr>
            <p:spPr bwMode="auto">
              <a:xfrm>
                <a:off x="1444" y="3254"/>
                <a:ext cx="128" cy="127"/>
              </a:xfrm>
              <a:custGeom>
                <a:avLst/>
                <a:gdLst>
                  <a:gd name="T0" fmla="*/ 128 w 128"/>
                  <a:gd name="T1" fmla="*/ 127 h 127"/>
                  <a:gd name="T2" fmla="*/ 128 w 128"/>
                  <a:gd name="T3" fmla="*/ 127 h 127"/>
                  <a:gd name="T4" fmla="*/ 124 w 128"/>
                  <a:gd name="T5" fmla="*/ 99 h 127"/>
                  <a:gd name="T6" fmla="*/ 117 w 128"/>
                  <a:gd name="T7" fmla="*/ 79 h 127"/>
                  <a:gd name="T8" fmla="*/ 104 w 128"/>
                  <a:gd name="T9" fmla="*/ 55 h 127"/>
                  <a:gd name="T10" fmla="*/ 90 w 128"/>
                  <a:gd name="T11" fmla="*/ 37 h 127"/>
                  <a:gd name="T12" fmla="*/ 73 w 128"/>
                  <a:gd name="T13" fmla="*/ 24 h 127"/>
                  <a:gd name="T14" fmla="*/ 48 w 128"/>
                  <a:gd name="T15" fmla="*/ 10 h 127"/>
                  <a:gd name="T16" fmla="*/ 28 w 128"/>
                  <a:gd name="T17" fmla="*/ 3 h 127"/>
                  <a:gd name="T18" fmla="*/ 0 w 128"/>
                  <a:gd name="T19" fmla="*/ 0 h 127"/>
                  <a:gd name="T20" fmla="*/ 0 w 128"/>
                  <a:gd name="T21" fmla="*/ 20 h 127"/>
                  <a:gd name="T22" fmla="*/ 21 w 128"/>
                  <a:gd name="T23" fmla="*/ 24 h 127"/>
                  <a:gd name="T24" fmla="*/ 42 w 128"/>
                  <a:gd name="T25" fmla="*/ 31 h 127"/>
                  <a:gd name="T26" fmla="*/ 59 w 128"/>
                  <a:gd name="T27" fmla="*/ 37 h 127"/>
                  <a:gd name="T28" fmla="*/ 76 w 128"/>
                  <a:gd name="T29" fmla="*/ 51 h 127"/>
                  <a:gd name="T30" fmla="*/ 86 w 128"/>
                  <a:gd name="T31" fmla="*/ 68 h 127"/>
                  <a:gd name="T32" fmla="*/ 97 w 128"/>
                  <a:gd name="T33" fmla="*/ 86 h 127"/>
                  <a:gd name="T34" fmla="*/ 104 w 128"/>
                  <a:gd name="T35" fmla="*/ 103 h 127"/>
                  <a:gd name="T36" fmla="*/ 107 w 128"/>
                  <a:gd name="T37" fmla="*/ 127 h 127"/>
                  <a:gd name="T38" fmla="*/ 107 w 128"/>
                  <a:gd name="T39" fmla="*/ 127 h 127"/>
                  <a:gd name="T40" fmla="*/ 128 w 128"/>
                  <a:gd name="T41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8" h="127">
                    <a:moveTo>
                      <a:pt x="128" y="127"/>
                    </a:moveTo>
                    <a:lnTo>
                      <a:pt x="128" y="127"/>
                    </a:lnTo>
                    <a:lnTo>
                      <a:pt x="124" y="99"/>
                    </a:lnTo>
                    <a:lnTo>
                      <a:pt x="117" y="79"/>
                    </a:lnTo>
                    <a:lnTo>
                      <a:pt x="104" y="55"/>
                    </a:lnTo>
                    <a:lnTo>
                      <a:pt x="90" y="37"/>
                    </a:lnTo>
                    <a:lnTo>
                      <a:pt x="73" y="24"/>
                    </a:lnTo>
                    <a:lnTo>
                      <a:pt x="48" y="10"/>
                    </a:lnTo>
                    <a:lnTo>
                      <a:pt x="28" y="3"/>
                    </a:lnTo>
                    <a:lnTo>
                      <a:pt x="0" y="0"/>
                    </a:lnTo>
                    <a:lnTo>
                      <a:pt x="0" y="20"/>
                    </a:lnTo>
                    <a:lnTo>
                      <a:pt x="21" y="24"/>
                    </a:lnTo>
                    <a:lnTo>
                      <a:pt x="42" y="31"/>
                    </a:lnTo>
                    <a:lnTo>
                      <a:pt x="59" y="37"/>
                    </a:lnTo>
                    <a:lnTo>
                      <a:pt x="76" y="51"/>
                    </a:lnTo>
                    <a:lnTo>
                      <a:pt x="86" y="68"/>
                    </a:lnTo>
                    <a:lnTo>
                      <a:pt x="97" y="86"/>
                    </a:lnTo>
                    <a:lnTo>
                      <a:pt x="104" y="103"/>
                    </a:lnTo>
                    <a:lnTo>
                      <a:pt x="107" y="127"/>
                    </a:lnTo>
                    <a:lnTo>
                      <a:pt x="128" y="127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5" name="Freeform 345"/>
              <p:cNvSpPr>
                <a:spLocks noChangeArrowheads="1"/>
              </p:cNvSpPr>
              <p:nvPr/>
            </p:nvSpPr>
            <p:spPr bwMode="auto">
              <a:xfrm>
                <a:off x="1437" y="3381"/>
                <a:ext cx="135" cy="124"/>
              </a:xfrm>
              <a:custGeom>
                <a:avLst/>
                <a:gdLst>
                  <a:gd name="T0" fmla="*/ 21 w 135"/>
                  <a:gd name="T1" fmla="*/ 114 h 124"/>
                  <a:gd name="T2" fmla="*/ 11 w 135"/>
                  <a:gd name="T3" fmla="*/ 124 h 124"/>
                  <a:gd name="T4" fmla="*/ 38 w 135"/>
                  <a:gd name="T5" fmla="*/ 121 h 124"/>
                  <a:gd name="T6" fmla="*/ 59 w 135"/>
                  <a:gd name="T7" fmla="*/ 114 h 124"/>
                  <a:gd name="T8" fmla="*/ 80 w 135"/>
                  <a:gd name="T9" fmla="*/ 100 h 124"/>
                  <a:gd name="T10" fmla="*/ 97 w 135"/>
                  <a:gd name="T11" fmla="*/ 86 h 124"/>
                  <a:gd name="T12" fmla="*/ 114 w 135"/>
                  <a:gd name="T13" fmla="*/ 65 h 124"/>
                  <a:gd name="T14" fmla="*/ 124 w 135"/>
                  <a:gd name="T15" fmla="*/ 45 h 124"/>
                  <a:gd name="T16" fmla="*/ 131 w 135"/>
                  <a:gd name="T17" fmla="*/ 24 h 124"/>
                  <a:gd name="T18" fmla="*/ 135 w 135"/>
                  <a:gd name="T19" fmla="*/ 0 h 124"/>
                  <a:gd name="T20" fmla="*/ 114 w 135"/>
                  <a:gd name="T21" fmla="*/ 0 h 124"/>
                  <a:gd name="T22" fmla="*/ 111 w 135"/>
                  <a:gd name="T23" fmla="*/ 21 h 124"/>
                  <a:gd name="T24" fmla="*/ 104 w 135"/>
                  <a:gd name="T25" fmla="*/ 38 h 124"/>
                  <a:gd name="T26" fmla="*/ 97 w 135"/>
                  <a:gd name="T27" fmla="*/ 55 h 124"/>
                  <a:gd name="T28" fmla="*/ 83 w 135"/>
                  <a:gd name="T29" fmla="*/ 72 h 124"/>
                  <a:gd name="T30" fmla="*/ 69 w 135"/>
                  <a:gd name="T31" fmla="*/ 83 h 124"/>
                  <a:gd name="T32" fmla="*/ 52 w 135"/>
                  <a:gd name="T33" fmla="*/ 93 h 124"/>
                  <a:gd name="T34" fmla="*/ 31 w 135"/>
                  <a:gd name="T35" fmla="*/ 100 h 124"/>
                  <a:gd name="T36" fmla="*/ 11 w 135"/>
                  <a:gd name="T37" fmla="*/ 103 h 124"/>
                  <a:gd name="T38" fmla="*/ 0 w 135"/>
                  <a:gd name="T39" fmla="*/ 114 h 124"/>
                  <a:gd name="T40" fmla="*/ 11 w 135"/>
                  <a:gd name="T41" fmla="*/ 103 h 124"/>
                  <a:gd name="T42" fmla="*/ 0 w 135"/>
                  <a:gd name="T43" fmla="*/ 103 h 124"/>
                  <a:gd name="T44" fmla="*/ 0 w 135"/>
                  <a:gd name="T45" fmla="*/ 114 h 124"/>
                  <a:gd name="T46" fmla="*/ 21 w 135"/>
                  <a:gd name="T47" fmla="*/ 11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5" h="124">
                    <a:moveTo>
                      <a:pt x="21" y="114"/>
                    </a:moveTo>
                    <a:lnTo>
                      <a:pt x="11" y="124"/>
                    </a:lnTo>
                    <a:lnTo>
                      <a:pt x="38" y="121"/>
                    </a:lnTo>
                    <a:lnTo>
                      <a:pt x="59" y="114"/>
                    </a:lnTo>
                    <a:lnTo>
                      <a:pt x="80" y="100"/>
                    </a:lnTo>
                    <a:lnTo>
                      <a:pt x="97" y="86"/>
                    </a:lnTo>
                    <a:lnTo>
                      <a:pt x="114" y="65"/>
                    </a:lnTo>
                    <a:lnTo>
                      <a:pt x="124" y="45"/>
                    </a:lnTo>
                    <a:lnTo>
                      <a:pt x="131" y="24"/>
                    </a:lnTo>
                    <a:lnTo>
                      <a:pt x="135" y="0"/>
                    </a:lnTo>
                    <a:lnTo>
                      <a:pt x="114" y="0"/>
                    </a:lnTo>
                    <a:lnTo>
                      <a:pt x="111" y="21"/>
                    </a:lnTo>
                    <a:lnTo>
                      <a:pt x="104" y="38"/>
                    </a:lnTo>
                    <a:lnTo>
                      <a:pt x="97" y="55"/>
                    </a:lnTo>
                    <a:lnTo>
                      <a:pt x="83" y="72"/>
                    </a:lnTo>
                    <a:lnTo>
                      <a:pt x="69" y="83"/>
                    </a:lnTo>
                    <a:lnTo>
                      <a:pt x="52" y="93"/>
                    </a:lnTo>
                    <a:lnTo>
                      <a:pt x="31" y="100"/>
                    </a:lnTo>
                    <a:lnTo>
                      <a:pt x="11" y="103"/>
                    </a:lnTo>
                    <a:lnTo>
                      <a:pt x="0" y="114"/>
                    </a:lnTo>
                    <a:lnTo>
                      <a:pt x="11" y="103"/>
                    </a:lnTo>
                    <a:lnTo>
                      <a:pt x="0" y="103"/>
                    </a:lnTo>
                    <a:lnTo>
                      <a:pt x="0" y="114"/>
                    </a:lnTo>
                    <a:lnTo>
                      <a:pt x="21" y="114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6" name="Freeform 346"/>
              <p:cNvSpPr>
                <a:spLocks noChangeArrowheads="1"/>
              </p:cNvSpPr>
              <p:nvPr/>
            </p:nvSpPr>
            <p:spPr bwMode="auto">
              <a:xfrm>
                <a:off x="1437" y="3495"/>
                <a:ext cx="21" cy="10"/>
              </a:xfrm>
              <a:custGeom>
                <a:avLst/>
                <a:gdLst>
                  <a:gd name="T0" fmla="*/ 11 w 21"/>
                  <a:gd name="T1" fmla="*/ 10 h 10"/>
                  <a:gd name="T2" fmla="*/ 21 w 21"/>
                  <a:gd name="T3" fmla="*/ 0 h 10"/>
                  <a:gd name="T4" fmla="*/ 21 w 21"/>
                  <a:gd name="T5" fmla="*/ 0 h 10"/>
                  <a:gd name="T6" fmla="*/ 0 w 21"/>
                  <a:gd name="T7" fmla="*/ 0 h 10"/>
                  <a:gd name="T8" fmla="*/ 0 w 21"/>
                  <a:gd name="T9" fmla="*/ 0 h 10"/>
                  <a:gd name="T10" fmla="*/ 11 w 21"/>
                  <a:gd name="T11" fmla="*/ 10 h 10"/>
                  <a:gd name="T12" fmla="*/ 11 w 21"/>
                  <a:gd name="T13" fmla="*/ 10 h 10"/>
                  <a:gd name="T14" fmla="*/ 21 w 21"/>
                  <a:gd name="T15" fmla="*/ 10 h 10"/>
                  <a:gd name="T16" fmla="*/ 21 w 21"/>
                  <a:gd name="T17" fmla="*/ 0 h 10"/>
                  <a:gd name="T18" fmla="*/ 11 w 21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0">
                    <a:moveTo>
                      <a:pt x="11" y="10"/>
                    </a:moveTo>
                    <a:lnTo>
                      <a:pt x="21" y="0"/>
                    </a:lnTo>
                    <a:lnTo>
                      <a:pt x="0" y="0"/>
                    </a:lnTo>
                    <a:lnTo>
                      <a:pt x="11" y="10"/>
                    </a:lnTo>
                    <a:lnTo>
                      <a:pt x="21" y="10"/>
                    </a:lnTo>
                    <a:lnTo>
                      <a:pt x="21" y="0"/>
                    </a:lnTo>
                    <a:lnTo>
                      <a:pt x="11" y="1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7" name="Freeform 347"/>
              <p:cNvSpPr>
                <a:spLocks noChangeArrowheads="1"/>
              </p:cNvSpPr>
              <p:nvPr/>
            </p:nvSpPr>
            <p:spPr bwMode="auto">
              <a:xfrm>
                <a:off x="1090" y="3484"/>
                <a:ext cx="358" cy="21"/>
              </a:xfrm>
              <a:custGeom>
                <a:avLst/>
                <a:gdLst>
                  <a:gd name="T0" fmla="*/ 0 w 358"/>
                  <a:gd name="T1" fmla="*/ 11 h 21"/>
                  <a:gd name="T2" fmla="*/ 10 w 358"/>
                  <a:gd name="T3" fmla="*/ 21 h 21"/>
                  <a:gd name="T4" fmla="*/ 358 w 358"/>
                  <a:gd name="T5" fmla="*/ 21 h 21"/>
                  <a:gd name="T6" fmla="*/ 358 w 358"/>
                  <a:gd name="T7" fmla="*/ 0 h 21"/>
                  <a:gd name="T8" fmla="*/ 10 w 358"/>
                  <a:gd name="T9" fmla="*/ 0 h 21"/>
                  <a:gd name="T10" fmla="*/ 0 w 358"/>
                  <a:gd name="T11" fmla="*/ 11 h 21"/>
                  <a:gd name="T12" fmla="*/ 0 w 358"/>
                  <a:gd name="T13" fmla="*/ 11 h 21"/>
                  <a:gd name="T14" fmla="*/ 0 w 358"/>
                  <a:gd name="T15" fmla="*/ 21 h 21"/>
                  <a:gd name="T16" fmla="*/ 10 w 358"/>
                  <a:gd name="T17" fmla="*/ 21 h 21"/>
                  <a:gd name="T18" fmla="*/ 0 w 358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8" h="21">
                    <a:moveTo>
                      <a:pt x="0" y="11"/>
                    </a:moveTo>
                    <a:lnTo>
                      <a:pt x="10" y="21"/>
                    </a:lnTo>
                    <a:lnTo>
                      <a:pt x="358" y="21"/>
                    </a:lnTo>
                    <a:lnTo>
                      <a:pt x="358" y="0"/>
                    </a:lnTo>
                    <a:lnTo>
                      <a:pt x="10" y="0"/>
                    </a:lnTo>
                    <a:lnTo>
                      <a:pt x="0" y="11"/>
                    </a:lnTo>
                    <a:lnTo>
                      <a:pt x="0" y="21"/>
                    </a:lnTo>
                    <a:lnTo>
                      <a:pt x="10" y="2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8" name="Freeform 348"/>
              <p:cNvSpPr>
                <a:spLocks noChangeArrowheads="1"/>
              </p:cNvSpPr>
              <p:nvPr/>
            </p:nvSpPr>
            <p:spPr bwMode="auto">
              <a:xfrm>
                <a:off x="1090" y="3484"/>
                <a:ext cx="20" cy="11"/>
              </a:xfrm>
              <a:custGeom>
                <a:avLst/>
                <a:gdLst>
                  <a:gd name="T0" fmla="*/ 10 w 20"/>
                  <a:gd name="T1" fmla="*/ 0 h 11"/>
                  <a:gd name="T2" fmla="*/ 0 w 20"/>
                  <a:gd name="T3" fmla="*/ 11 h 11"/>
                  <a:gd name="T4" fmla="*/ 0 w 20"/>
                  <a:gd name="T5" fmla="*/ 11 h 11"/>
                  <a:gd name="T6" fmla="*/ 20 w 20"/>
                  <a:gd name="T7" fmla="*/ 11 h 11"/>
                  <a:gd name="T8" fmla="*/ 20 w 20"/>
                  <a:gd name="T9" fmla="*/ 11 h 11"/>
                  <a:gd name="T10" fmla="*/ 10 w 20"/>
                  <a:gd name="T11" fmla="*/ 0 h 11"/>
                  <a:gd name="T12" fmla="*/ 20 w 20"/>
                  <a:gd name="T13" fmla="*/ 11 h 11"/>
                  <a:gd name="T14" fmla="*/ 20 w 20"/>
                  <a:gd name="T15" fmla="*/ 0 h 11"/>
                  <a:gd name="T16" fmla="*/ 10 w 2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1">
                    <a:moveTo>
                      <a:pt x="10" y="0"/>
                    </a:moveTo>
                    <a:lnTo>
                      <a:pt x="0" y="11"/>
                    </a:lnTo>
                    <a:lnTo>
                      <a:pt x="20" y="11"/>
                    </a:lnTo>
                    <a:lnTo>
                      <a:pt x="10" y="0"/>
                    </a:lnTo>
                    <a:lnTo>
                      <a:pt x="20" y="11"/>
                    </a:lnTo>
                    <a:lnTo>
                      <a:pt x="2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9" name="Freeform 349"/>
              <p:cNvSpPr>
                <a:spLocks noChangeArrowheads="1"/>
              </p:cNvSpPr>
              <p:nvPr/>
            </p:nvSpPr>
            <p:spPr bwMode="auto">
              <a:xfrm>
                <a:off x="973" y="3381"/>
                <a:ext cx="124" cy="124"/>
              </a:xfrm>
              <a:custGeom>
                <a:avLst/>
                <a:gdLst>
                  <a:gd name="T0" fmla="*/ 0 w 124"/>
                  <a:gd name="T1" fmla="*/ 0 h 124"/>
                  <a:gd name="T2" fmla="*/ 0 w 124"/>
                  <a:gd name="T3" fmla="*/ 0 h 124"/>
                  <a:gd name="T4" fmla="*/ 3 w 124"/>
                  <a:gd name="T5" fmla="*/ 24 h 124"/>
                  <a:gd name="T6" fmla="*/ 10 w 124"/>
                  <a:gd name="T7" fmla="*/ 48 h 124"/>
                  <a:gd name="T8" fmla="*/ 20 w 124"/>
                  <a:gd name="T9" fmla="*/ 69 h 124"/>
                  <a:gd name="T10" fmla="*/ 38 w 124"/>
                  <a:gd name="T11" fmla="*/ 86 h 124"/>
                  <a:gd name="T12" fmla="*/ 55 w 124"/>
                  <a:gd name="T13" fmla="*/ 103 h 124"/>
                  <a:gd name="T14" fmla="*/ 76 w 124"/>
                  <a:gd name="T15" fmla="*/ 114 h 124"/>
                  <a:gd name="T16" fmla="*/ 100 w 124"/>
                  <a:gd name="T17" fmla="*/ 121 h 124"/>
                  <a:gd name="T18" fmla="*/ 124 w 124"/>
                  <a:gd name="T19" fmla="*/ 124 h 124"/>
                  <a:gd name="T20" fmla="*/ 124 w 124"/>
                  <a:gd name="T21" fmla="*/ 103 h 124"/>
                  <a:gd name="T22" fmla="*/ 103 w 124"/>
                  <a:gd name="T23" fmla="*/ 100 h 124"/>
                  <a:gd name="T24" fmla="*/ 82 w 124"/>
                  <a:gd name="T25" fmla="*/ 96 h 124"/>
                  <a:gd name="T26" fmla="*/ 65 w 124"/>
                  <a:gd name="T27" fmla="*/ 86 h 124"/>
                  <a:gd name="T28" fmla="*/ 51 w 124"/>
                  <a:gd name="T29" fmla="*/ 72 h 124"/>
                  <a:gd name="T30" fmla="*/ 38 w 124"/>
                  <a:gd name="T31" fmla="*/ 59 h 124"/>
                  <a:gd name="T32" fmla="*/ 27 w 124"/>
                  <a:gd name="T33" fmla="*/ 38 h 124"/>
                  <a:gd name="T34" fmla="*/ 24 w 124"/>
                  <a:gd name="T35" fmla="*/ 21 h 124"/>
                  <a:gd name="T36" fmla="*/ 20 w 124"/>
                  <a:gd name="T37" fmla="*/ 0 h 124"/>
                  <a:gd name="T38" fmla="*/ 20 w 124"/>
                  <a:gd name="T39" fmla="*/ 0 h 124"/>
                  <a:gd name="T40" fmla="*/ 0 w 124"/>
                  <a:gd name="T41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4" h="124">
                    <a:moveTo>
                      <a:pt x="0" y="0"/>
                    </a:moveTo>
                    <a:lnTo>
                      <a:pt x="0" y="0"/>
                    </a:lnTo>
                    <a:lnTo>
                      <a:pt x="3" y="24"/>
                    </a:lnTo>
                    <a:lnTo>
                      <a:pt x="10" y="48"/>
                    </a:lnTo>
                    <a:lnTo>
                      <a:pt x="20" y="69"/>
                    </a:lnTo>
                    <a:lnTo>
                      <a:pt x="38" y="86"/>
                    </a:lnTo>
                    <a:lnTo>
                      <a:pt x="55" y="103"/>
                    </a:lnTo>
                    <a:lnTo>
                      <a:pt x="76" y="114"/>
                    </a:lnTo>
                    <a:lnTo>
                      <a:pt x="100" y="121"/>
                    </a:lnTo>
                    <a:lnTo>
                      <a:pt x="124" y="124"/>
                    </a:lnTo>
                    <a:lnTo>
                      <a:pt x="124" y="103"/>
                    </a:lnTo>
                    <a:lnTo>
                      <a:pt x="103" y="100"/>
                    </a:lnTo>
                    <a:lnTo>
                      <a:pt x="82" y="96"/>
                    </a:lnTo>
                    <a:lnTo>
                      <a:pt x="65" y="86"/>
                    </a:lnTo>
                    <a:lnTo>
                      <a:pt x="51" y="72"/>
                    </a:lnTo>
                    <a:lnTo>
                      <a:pt x="38" y="59"/>
                    </a:lnTo>
                    <a:lnTo>
                      <a:pt x="27" y="38"/>
                    </a:lnTo>
                    <a:lnTo>
                      <a:pt x="24" y="21"/>
                    </a:lnTo>
                    <a:lnTo>
                      <a:pt x="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0" name="Freeform 350"/>
              <p:cNvSpPr>
                <a:spLocks noChangeArrowheads="1"/>
              </p:cNvSpPr>
              <p:nvPr/>
            </p:nvSpPr>
            <p:spPr bwMode="auto">
              <a:xfrm>
                <a:off x="973" y="3254"/>
                <a:ext cx="124" cy="127"/>
              </a:xfrm>
              <a:custGeom>
                <a:avLst/>
                <a:gdLst>
                  <a:gd name="T0" fmla="*/ 124 w 124"/>
                  <a:gd name="T1" fmla="*/ 0 h 127"/>
                  <a:gd name="T2" fmla="*/ 124 w 124"/>
                  <a:gd name="T3" fmla="*/ 0 h 127"/>
                  <a:gd name="T4" fmla="*/ 100 w 124"/>
                  <a:gd name="T5" fmla="*/ 3 h 127"/>
                  <a:gd name="T6" fmla="*/ 76 w 124"/>
                  <a:gd name="T7" fmla="*/ 10 h 127"/>
                  <a:gd name="T8" fmla="*/ 55 w 124"/>
                  <a:gd name="T9" fmla="*/ 24 h 127"/>
                  <a:gd name="T10" fmla="*/ 38 w 124"/>
                  <a:gd name="T11" fmla="*/ 37 h 127"/>
                  <a:gd name="T12" fmla="*/ 20 w 124"/>
                  <a:gd name="T13" fmla="*/ 55 h 127"/>
                  <a:gd name="T14" fmla="*/ 10 w 124"/>
                  <a:gd name="T15" fmla="*/ 79 h 127"/>
                  <a:gd name="T16" fmla="*/ 3 w 124"/>
                  <a:gd name="T17" fmla="*/ 99 h 127"/>
                  <a:gd name="T18" fmla="*/ 0 w 124"/>
                  <a:gd name="T19" fmla="*/ 127 h 127"/>
                  <a:gd name="T20" fmla="*/ 20 w 124"/>
                  <a:gd name="T21" fmla="*/ 127 h 127"/>
                  <a:gd name="T22" fmla="*/ 24 w 124"/>
                  <a:gd name="T23" fmla="*/ 103 h 127"/>
                  <a:gd name="T24" fmla="*/ 27 w 124"/>
                  <a:gd name="T25" fmla="*/ 86 h 127"/>
                  <a:gd name="T26" fmla="*/ 38 w 124"/>
                  <a:gd name="T27" fmla="*/ 68 h 127"/>
                  <a:gd name="T28" fmla="*/ 51 w 124"/>
                  <a:gd name="T29" fmla="*/ 51 h 127"/>
                  <a:gd name="T30" fmla="*/ 65 w 124"/>
                  <a:gd name="T31" fmla="*/ 37 h 127"/>
                  <a:gd name="T32" fmla="*/ 82 w 124"/>
                  <a:gd name="T33" fmla="*/ 31 h 127"/>
                  <a:gd name="T34" fmla="*/ 103 w 124"/>
                  <a:gd name="T35" fmla="*/ 24 h 127"/>
                  <a:gd name="T36" fmla="*/ 124 w 124"/>
                  <a:gd name="T37" fmla="*/ 20 h 127"/>
                  <a:gd name="T38" fmla="*/ 124 w 124"/>
                  <a:gd name="T39" fmla="*/ 20 h 127"/>
                  <a:gd name="T40" fmla="*/ 124 w 124"/>
                  <a:gd name="T41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4" h="127">
                    <a:moveTo>
                      <a:pt x="124" y="0"/>
                    </a:moveTo>
                    <a:lnTo>
                      <a:pt x="124" y="0"/>
                    </a:lnTo>
                    <a:lnTo>
                      <a:pt x="100" y="3"/>
                    </a:lnTo>
                    <a:lnTo>
                      <a:pt x="76" y="10"/>
                    </a:lnTo>
                    <a:lnTo>
                      <a:pt x="55" y="24"/>
                    </a:lnTo>
                    <a:lnTo>
                      <a:pt x="38" y="37"/>
                    </a:lnTo>
                    <a:lnTo>
                      <a:pt x="20" y="55"/>
                    </a:lnTo>
                    <a:lnTo>
                      <a:pt x="10" y="79"/>
                    </a:lnTo>
                    <a:lnTo>
                      <a:pt x="3" y="99"/>
                    </a:lnTo>
                    <a:lnTo>
                      <a:pt x="0" y="127"/>
                    </a:lnTo>
                    <a:lnTo>
                      <a:pt x="20" y="127"/>
                    </a:lnTo>
                    <a:lnTo>
                      <a:pt x="24" y="103"/>
                    </a:lnTo>
                    <a:lnTo>
                      <a:pt x="27" y="86"/>
                    </a:lnTo>
                    <a:lnTo>
                      <a:pt x="38" y="68"/>
                    </a:lnTo>
                    <a:lnTo>
                      <a:pt x="51" y="51"/>
                    </a:lnTo>
                    <a:lnTo>
                      <a:pt x="65" y="37"/>
                    </a:lnTo>
                    <a:lnTo>
                      <a:pt x="82" y="31"/>
                    </a:lnTo>
                    <a:lnTo>
                      <a:pt x="103" y="24"/>
                    </a:lnTo>
                    <a:lnTo>
                      <a:pt x="124" y="20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1" name="Freeform 351"/>
              <p:cNvSpPr>
                <a:spLocks noChangeArrowheads="1"/>
              </p:cNvSpPr>
              <p:nvPr/>
            </p:nvSpPr>
            <p:spPr bwMode="auto">
              <a:xfrm>
                <a:off x="1097" y="3254"/>
                <a:ext cx="13" cy="20"/>
              </a:xfrm>
              <a:custGeom>
                <a:avLst/>
                <a:gdLst>
                  <a:gd name="T0" fmla="*/ 10 w 13"/>
                  <a:gd name="T1" fmla="*/ 3 h 20"/>
                  <a:gd name="T2" fmla="*/ 13 w 13"/>
                  <a:gd name="T3" fmla="*/ 3 h 20"/>
                  <a:gd name="T4" fmla="*/ 7 w 13"/>
                  <a:gd name="T5" fmla="*/ 0 h 20"/>
                  <a:gd name="T6" fmla="*/ 0 w 13"/>
                  <a:gd name="T7" fmla="*/ 0 h 20"/>
                  <a:gd name="T8" fmla="*/ 0 w 13"/>
                  <a:gd name="T9" fmla="*/ 20 h 20"/>
                  <a:gd name="T10" fmla="*/ 7 w 13"/>
                  <a:gd name="T11" fmla="*/ 20 h 20"/>
                  <a:gd name="T12" fmla="*/ 10 w 13"/>
                  <a:gd name="T13" fmla="*/ 20 h 20"/>
                  <a:gd name="T14" fmla="*/ 10 w 13"/>
                  <a:gd name="T15" fmla="*/ 20 h 20"/>
                  <a:gd name="T16" fmla="*/ 10 w 13"/>
                  <a:gd name="T17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0">
                    <a:moveTo>
                      <a:pt x="10" y="3"/>
                    </a:moveTo>
                    <a:lnTo>
                      <a:pt x="13" y="3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20"/>
                    </a:lnTo>
                    <a:lnTo>
                      <a:pt x="7" y="20"/>
                    </a:lnTo>
                    <a:lnTo>
                      <a:pt x="10" y="2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2" name="Freeform 352"/>
              <p:cNvSpPr>
                <a:spLocks noChangeArrowheads="1"/>
              </p:cNvSpPr>
              <p:nvPr/>
            </p:nvSpPr>
            <p:spPr bwMode="auto">
              <a:xfrm>
                <a:off x="1107" y="3257"/>
                <a:ext cx="330" cy="17"/>
              </a:xfrm>
              <a:custGeom>
                <a:avLst/>
                <a:gdLst>
                  <a:gd name="T0" fmla="*/ 330 w 330"/>
                  <a:gd name="T1" fmla="*/ 17 h 17"/>
                  <a:gd name="T2" fmla="*/ 327 w 330"/>
                  <a:gd name="T3" fmla="*/ 0 h 17"/>
                  <a:gd name="T4" fmla="*/ 0 w 330"/>
                  <a:gd name="T5" fmla="*/ 0 h 17"/>
                  <a:gd name="T6" fmla="*/ 0 w 330"/>
                  <a:gd name="T7" fmla="*/ 17 h 17"/>
                  <a:gd name="T8" fmla="*/ 327 w 330"/>
                  <a:gd name="T9" fmla="*/ 17 h 17"/>
                  <a:gd name="T10" fmla="*/ 330 w 330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17">
                    <a:moveTo>
                      <a:pt x="330" y="17"/>
                    </a:moveTo>
                    <a:lnTo>
                      <a:pt x="327" y="0"/>
                    </a:lnTo>
                    <a:lnTo>
                      <a:pt x="0" y="0"/>
                    </a:lnTo>
                    <a:lnTo>
                      <a:pt x="0" y="17"/>
                    </a:lnTo>
                    <a:lnTo>
                      <a:pt x="327" y="17"/>
                    </a:lnTo>
                    <a:lnTo>
                      <a:pt x="330" y="17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3" name="Freeform 353"/>
              <p:cNvSpPr>
                <a:spLocks noChangeArrowheads="1"/>
              </p:cNvSpPr>
              <p:nvPr/>
            </p:nvSpPr>
            <p:spPr bwMode="auto">
              <a:xfrm>
                <a:off x="1434" y="3254"/>
                <a:ext cx="10" cy="20"/>
              </a:xfrm>
              <a:custGeom>
                <a:avLst/>
                <a:gdLst>
                  <a:gd name="T0" fmla="*/ 10 w 10"/>
                  <a:gd name="T1" fmla="*/ 0 h 20"/>
                  <a:gd name="T2" fmla="*/ 10 w 10"/>
                  <a:gd name="T3" fmla="*/ 0 h 20"/>
                  <a:gd name="T4" fmla="*/ 7 w 10"/>
                  <a:gd name="T5" fmla="*/ 0 h 20"/>
                  <a:gd name="T6" fmla="*/ 0 w 10"/>
                  <a:gd name="T7" fmla="*/ 3 h 20"/>
                  <a:gd name="T8" fmla="*/ 3 w 10"/>
                  <a:gd name="T9" fmla="*/ 20 h 20"/>
                  <a:gd name="T10" fmla="*/ 7 w 10"/>
                  <a:gd name="T11" fmla="*/ 20 h 20"/>
                  <a:gd name="T12" fmla="*/ 10 w 10"/>
                  <a:gd name="T13" fmla="*/ 20 h 20"/>
                  <a:gd name="T14" fmla="*/ 10 w 10"/>
                  <a:gd name="T15" fmla="*/ 20 h 20"/>
                  <a:gd name="T16" fmla="*/ 10 w 1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lnTo>
                      <a:pt x="10" y="0"/>
                    </a:lnTo>
                    <a:lnTo>
                      <a:pt x="7" y="0"/>
                    </a:lnTo>
                    <a:lnTo>
                      <a:pt x="0" y="3"/>
                    </a:lnTo>
                    <a:lnTo>
                      <a:pt x="3" y="20"/>
                    </a:lnTo>
                    <a:lnTo>
                      <a:pt x="7" y="20"/>
                    </a:lnTo>
                    <a:lnTo>
                      <a:pt x="10" y="2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4" name="Rectangle 354"/>
              <p:cNvSpPr>
                <a:spLocks noChangeArrowheads="1"/>
              </p:cNvSpPr>
              <p:nvPr/>
            </p:nvSpPr>
            <p:spPr bwMode="auto">
              <a:xfrm>
                <a:off x="1269" y="3212"/>
                <a:ext cx="7" cy="176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5" name="Rectangle 355"/>
              <p:cNvSpPr>
                <a:spLocks noChangeArrowheads="1"/>
              </p:cNvSpPr>
              <p:nvPr/>
            </p:nvSpPr>
            <p:spPr bwMode="auto">
              <a:xfrm>
                <a:off x="1269" y="3412"/>
                <a:ext cx="7" cy="21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6" name="Rectangle 356"/>
              <p:cNvSpPr>
                <a:spLocks noChangeArrowheads="1"/>
              </p:cNvSpPr>
              <p:nvPr/>
            </p:nvSpPr>
            <p:spPr bwMode="auto">
              <a:xfrm>
                <a:off x="1269" y="3453"/>
                <a:ext cx="7" cy="93"/>
              </a:xfrm>
              <a:prstGeom prst="rect">
                <a:avLst/>
              </a:prstGeom>
              <a:solidFill>
                <a:srgbClr val="13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</p:grpSp>
      <p:sp>
        <p:nvSpPr>
          <p:cNvPr id="357" name="Text Box 360"/>
          <p:cNvSpPr txBox="1">
            <a:spLocks noChangeArrowheads="1"/>
          </p:cNvSpPr>
          <p:nvPr/>
        </p:nvSpPr>
        <p:spPr bwMode="auto">
          <a:xfrm>
            <a:off x="2190750" y="5272088"/>
            <a:ext cx="75565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zh-CN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 </a:t>
            </a:r>
            <a:r>
              <a:rPr lang="zh-CN" altLang="en-US" dirty="0">
                <a:solidFill>
                  <a:srgbClr val="0066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重合断面图画法</a:t>
            </a:r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：轮廓线用细实线表示。</a:t>
            </a:r>
          </a:p>
        </p:txBody>
      </p:sp>
      <p:sp>
        <p:nvSpPr>
          <p:cNvPr id="358" name="Text Box 361"/>
          <p:cNvSpPr txBox="1">
            <a:spLocks noChangeArrowheads="1"/>
          </p:cNvSpPr>
          <p:nvPr/>
        </p:nvSpPr>
        <p:spPr bwMode="auto">
          <a:xfrm>
            <a:off x="2187575" y="5756276"/>
            <a:ext cx="780573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63538" indent="-363538"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>
                <a:solidFill>
                  <a:srgbClr val="FF00FF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※</a:t>
            </a:r>
            <a:r>
              <a:rPr lang="en-US" altLang="zh-CN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zh-CN" altLang="en-US" dirty="0">
                <a:solidFill>
                  <a:srgbClr val="0066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当</a:t>
            </a:r>
            <a:r>
              <a:rPr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视图中</a:t>
            </a:r>
            <a:r>
              <a:rPr lang="zh-CN" altLang="en-US" dirty="0">
                <a:solidFill>
                  <a:srgbClr val="0066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的轮廓线与断面图的图线</a:t>
            </a:r>
            <a:r>
              <a:rPr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重合</a:t>
            </a:r>
            <a:r>
              <a:rPr lang="zh-CN" altLang="en-US" dirty="0">
                <a:solidFill>
                  <a:srgbClr val="0066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时，视图中的轮廓线仍应</a:t>
            </a:r>
            <a:r>
              <a:rPr lang="zh-CN" altLang="en-US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连续</a:t>
            </a:r>
            <a:r>
              <a:rPr lang="zh-CN" altLang="en-US" dirty="0">
                <a:solidFill>
                  <a:srgbClr val="0066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画出。</a:t>
            </a:r>
          </a:p>
        </p:txBody>
      </p:sp>
    </p:spTree>
    <p:extLst>
      <p:ext uri="{BB962C8B-B14F-4D97-AF65-F5344CB8AC3E}">
        <p14:creationId xmlns:p14="http://schemas.microsoft.com/office/powerpoint/2010/main" val="177119576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 txBox="1">
            <a:spLocks noChangeArrowheads="1"/>
          </p:cNvSpPr>
          <p:nvPr/>
        </p:nvSpPr>
        <p:spPr>
          <a:xfrm>
            <a:off x="866796" y="426504"/>
            <a:ext cx="3540556" cy="546100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32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zh-CN" altLang="en-US" dirty="0"/>
              <a:t>重合断面图的标注</a:t>
            </a:r>
          </a:p>
        </p:txBody>
      </p:sp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90826" y="3255963"/>
            <a:ext cx="2652713" cy="215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" name="Group 4"/>
          <p:cNvGrpSpPr>
            <a:grpSpLocks noChangeAspect="1"/>
          </p:cNvGrpSpPr>
          <p:nvPr/>
        </p:nvGrpSpPr>
        <p:grpSpPr bwMode="auto">
          <a:xfrm>
            <a:off x="2603501" y="1057276"/>
            <a:ext cx="2544763" cy="2498725"/>
            <a:chOff x="2592" y="1410"/>
            <a:chExt cx="2670" cy="2621"/>
          </a:xfrm>
        </p:grpSpPr>
        <p:grpSp>
          <p:nvGrpSpPr>
            <p:cNvPr id="6" name="Group 5"/>
            <p:cNvGrpSpPr>
              <a:grpSpLocks noChangeAspect="1"/>
            </p:cNvGrpSpPr>
            <p:nvPr/>
          </p:nvGrpSpPr>
          <p:grpSpPr bwMode="auto">
            <a:xfrm>
              <a:off x="4096" y="1732"/>
              <a:ext cx="200" cy="216"/>
              <a:chOff x="2333" y="1048"/>
              <a:chExt cx="234" cy="252"/>
            </a:xfrm>
          </p:grpSpPr>
          <p:sp>
            <p:nvSpPr>
              <p:cNvPr id="131" name="Freeform 6"/>
              <p:cNvSpPr>
                <a:spLocks noChangeAspect="1" noChangeArrowheads="1"/>
              </p:cNvSpPr>
              <p:nvPr/>
            </p:nvSpPr>
            <p:spPr bwMode="auto">
              <a:xfrm>
                <a:off x="2333" y="1048"/>
                <a:ext cx="200" cy="247"/>
              </a:xfrm>
              <a:custGeom>
                <a:avLst/>
                <a:gdLst>
                  <a:gd name="T0" fmla="*/ 0 w 1168"/>
                  <a:gd name="T1" fmla="*/ 0 h 1441"/>
                  <a:gd name="T2" fmla="*/ 1167 w 1168"/>
                  <a:gd name="T3" fmla="*/ 1441 h 1441"/>
                  <a:gd name="T4" fmla="*/ 1168 w 1168"/>
                  <a:gd name="T5" fmla="*/ 1441 h 1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68" h="1441">
                    <a:moveTo>
                      <a:pt x="0" y="0"/>
                    </a:moveTo>
                    <a:lnTo>
                      <a:pt x="1167" y="1441"/>
                    </a:lnTo>
                    <a:lnTo>
                      <a:pt x="1168" y="1441"/>
                    </a:lnTo>
                  </a:path>
                </a:pathLst>
              </a:cu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2" name="Freeform 7"/>
              <p:cNvSpPr>
                <a:spLocks noChangeAspect="1" noChangeArrowheads="1"/>
              </p:cNvSpPr>
              <p:nvPr/>
            </p:nvSpPr>
            <p:spPr bwMode="auto">
              <a:xfrm>
                <a:off x="2339" y="1075"/>
                <a:ext cx="128" cy="111"/>
              </a:xfrm>
              <a:custGeom>
                <a:avLst/>
                <a:gdLst>
                  <a:gd name="T0" fmla="*/ 747 w 747"/>
                  <a:gd name="T1" fmla="*/ 59 h 649"/>
                  <a:gd name="T2" fmla="*/ 636 w 747"/>
                  <a:gd name="T3" fmla="*/ 16 h 649"/>
                  <a:gd name="T4" fmla="*/ 519 w 747"/>
                  <a:gd name="T5" fmla="*/ 0 h 649"/>
                  <a:gd name="T6" fmla="*/ 401 w 747"/>
                  <a:gd name="T7" fmla="*/ 11 h 649"/>
                  <a:gd name="T8" fmla="*/ 289 w 747"/>
                  <a:gd name="T9" fmla="*/ 50 h 649"/>
                  <a:gd name="T10" fmla="*/ 188 w 747"/>
                  <a:gd name="T11" fmla="*/ 113 h 649"/>
                  <a:gd name="T12" fmla="*/ 105 w 747"/>
                  <a:gd name="T13" fmla="*/ 198 h 649"/>
                  <a:gd name="T14" fmla="*/ 44 w 747"/>
                  <a:gd name="T15" fmla="*/ 301 h 649"/>
                  <a:gd name="T16" fmla="*/ 9 w 747"/>
                  <a:gd name="T17" fmla="*/ 414 h 649"/>
                  <a:gd name="T18" fmla="*/ 0 w 747"/>
                  <a:gd name="T19" fmla="*/ 532 h 649"/>
                  <a:gd name="T20" fmla="*/ 20 w 747"/>
                  <a:gd name="T21" fmla="*/ 649 h 649"/>
                  <a:gd name="T22" fmla="*/ 21 w 747"/>
                  <a:gd name="T23" fmla="*/ 649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7" h="649">
                    <a:moveTo>
                      <a:pt x="747" y="59"/>
                    </a:moveTo>
                    <a:lnTo>
                      <a:pt x="636" y="16"/>
                    </a:lnTo>
                    <a:lnTo>
                      <a:pt x="519" y="0"/>
                    </a:lnTo>
                    <a:lnTo>
                      <a:pt x="401" y="11"/>
                    </a:lnTo>
                    <a:lnTo>
                      <a:pt x="289" y="50"/>
                    </a:lnTo>
                    <a:lnTo>
                      <a:pt x="188" y="113"/>
                    </a:lnTo>
                    <a:lnTo>
                      <a:pt x="105" y="198"/>
                    </a:lnTo>
                    <a:lnTo>
                      <a:pt x="44" y="301"/>
                    </a:lnTo>
                    <a:lnTo>
                      <a:pt x="9" y="414"/>
                    </a:lnTo>
                    <a:lnTo>
                      <a:pt x="0" y="532"/>
                    </a:lnTo>
                    <a:lnTo>
                      <a:pt x="20" y="649"/>
                    </a:lnTo>
                    <a:lnTo>
                      <a:pt x="21" y="649"/>
                    </a:lnTo>
                  </a:path>
                </a:pathLst>
              </a:cu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3" name="Freeform 8"/>
              <p:cNvSpPr>
                <a:spLocks noChangeAspect="1" noChangeArrowheads="1"/>
              </p:cNvSpPr>
              <p:nvPr/>
            </p:nvSpPr>
            <p:spPr bwMode="auto">
              <a:xfrm>
                <a:off x="2456" y="1079"/>
                <a:ext cx="74" cy="159"/>
              </a:xfrm>
              <a:custGeom>
                <a:avLst/>
                <a:gdLst>
                  <a:gd name="T0" fmla="*/ 0 w 431"/>
                  <a:gd name="T1" fmla="*/ 0 h 923"/>
                  <a:gd name="T2" fmla="*/ 430 w 431"/>
                  <a:gd name="T3" fmla="*/ 923 h 923"/>
                  <a:gd name="T4" fmla="*/ 431 w 431"/>
                  <a:gd name="T5" fmla="*/ 923 h 9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1" h="923">
                    <a:moveTo>
                      <a:pt x="0" y="0"/>
                    </a:moveTo>
                    <a:lnTo>
                      <a:pt x="430" y="923"/>
                    </a:lnTo>
                    <a:lnTo>
                      <a:pt x="431" y="923"/>
                    </a:lnTo>
                  </a:path>
                </a:pathLst>
              </a:cu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4" name="Freeform 9"/>
              <p:cNvSpPr>
                <a:spLocks noChangeAspect="1" noChangeArrowheads="1"/>
              </p:cNvSpPr>
              <p:nvPr/>
            </p:nvSpPr>
            <p:spPr bwMode="auto">
              <a:xfrm>
                <a:off x="2350" y="1119"/>
                <a:ext cx="77" cy="167"/>
              </a:xfrm>
              <a:custGeom>
                <a:avLst/>
                <a:gdLst>
                  <a:gd name="T0" fmla="*/ 0 w 454"/>
                  <a:gd name="T1" fmla="*/ 0 h 973"/>
                  <a:gd name="T2" fmla="*/ 453 w 454"/>
                  <a:gd name="T3" fmla="*/ 973 h 973"/>
                  <a:gd name="T4" fmla="*/ 454 w 454"/>
                  <a:gd name="T5" fmla="*/ 973 h 9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4" h="973">
                    <a:moveTo>
                      <a:pt x="0" y="0"/>
                    </a:moveTo>
                    <a:lnTo>
                      <a:pt x="453" y="973"/>
                    </a:lnTo>
                    <a:lnTo>
                      <a:pt x="454" y="973"/>
                    </a:lnTo>
                  </a:path>
                </a:pathLst>
              </a:cu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5" name="Freeform 10"/>
              <p:cNvSpPr>
                <a:spLocks noChangeAspect="1" noChangeArrowheads="1"/>
              </p:cNvSpPr>
              <p:nvPr/>
            </p:nvSpPr>
            <p:spPr bwMode="auto">
              <a:xfrm>
                <a:off x="2467" y="1084"/>
                <a:ext cx="100" cy="99"/>
              </a:xfrm>
              <a:custGeom>
                <a:avLst/>
                <a:gdLst>
                  <a:gd name="T0" fmla="*/ 0 w 593"/>
                  <a:gd name="T1" fmla="*/ 0 h 574"/>
                  <a:gd name="T2" fmla="*/ 592 w 593"/>
                  <a:gd name="T3" fmla="*/ 574 h 574"/>
                  <a:gd name="T4" fmla="*/ 593 w 593"/>
                  <a:gd name="T5" fmla="*/ 574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3" h="574">
                    <a:moveTo>
                      <a:pt x="0" y="0"/>
                    </a:moveTo>
                    <a:lnTo>
                      <a:pt x="592" y="574"/>
                    </a:lnTo>
                    <a:lnTo>
                      <a:pt x="593" y="574"/>
                    </a:lnTo>
                  </a:path>
                </a:pathLst>
              </a:cu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36" name="Freeform 11"/>
              <p:cNvSpPr>
                <a:spLocks noChangeAspect="1" noChangeArrowheads="1"/>
              </p:cNvSpPr>
              <p:nvPr/>
            </p:nvSpPr>
            <p:spPr bwMode="auto">
              <a:xfrm>
                <a:off x="2342" y="1186"/>
                <a:ext cx="80" cy="114"/>
              </a:xfrm>
              <a:custGeom>
                <a:avLst/>
                <a:gdLst>
                  <a:gd name="T0" fmla="*/ 0 w 473"/>
                  <a:gd name="T1" fmla="*/ 0 h 667"/>
                  <a:gd name="T2" fmla="*/ 472 w 473"/>
                  <a:gd name="T3" fmla="*/ 667 h 667"/>
                  <a:gd name="T4" fmla="*/ 473 w 473"/>
                  <a:gd name="T5" fmla="*/ 667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3" h="667">
                    <a:moveTo>
                      <a:pt x="0" y="0"/>
                    </a:moveTo>
                    <a:lnTo>
                      <a:pt x="472" y="667"/>
                    </a:lnTo>
                    <a:lnTo>
                      <a:pt x="473" y="667"/>
                    </a:lnTo>
                  </a:path>
                </a:pathLst>
              </a:cu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7" name="Group 12"/>
            <p:cNvGrpSpPr>
              <a:grpSpLocks noChangeAspect="1"/>
            </p:cNvGrpSpPr>
            <p:nvPr/>
          </p:nvGrpSpPr>
          <p:grpSpPr bwMode="auto">
            <a:xfrm>
              <a:off x="2592" y="1410"/>
              <a:ext cx="2670" cy="2621"/>
              <a:chOff x="576" y="672"/>
              <a:chExt cx="3120" cy="3062"/>
            </a:xfrm>
          </p:grpSpPr>
          <p:grpSp>
            <p:nvGrpSpPr>
              <p:cNvPr id="31" name="Group 13"/>
              <p:cNvGrpSpPr>
                <a:grpSpLocks noChangeAspect="1"/>
              </p:cNvGrpSpPr>
              <p:nvPr/>
            </p:nvGrpSpPr>
            <p:grpSpPr bwMode="auto">
              <a:xfrm>
                <a:off x="652" y="758"/>
                <a:ext cx="2947" cy="2976"/>
                <a:chOff x="1942" y="1197"/>
                <a:chExt cx="1911" cy="1929"/>
              </a:xfrm>
            </p:grpSpPr>
            <p:sp>
              <p:nvSpPr>
                <p:cNvPr id="92" name="Freeform 14"/>
                <p:cNvSpPr>
                  <a:spLocks noChangeAspect="1" noChangeArrowheads="1"/>
                </p:cNvSpPr>
                <p:nvPr/>
              </p:nvSpPr>
              <p:spPr bwMode="auto">
                <a:xfrm>
                  <a:off x="2321" y="2197"/>
                  <a:ext cx="200" cy="928"/>
                </a:xfrm>
                <a:custGeom>
                  <a:avLst/>
                  <a:gdLst>
                    <a:gd name="T0" fmla="*/ 0 w 1799"/>
                    <a:gd name="T1" fmla="*/ 8345 h 8345"/>
                    <a:gd name="T2" fmla="*/ 274 w 1799"/>
                    <a:gd name="T3" fmla="*/ 8068 h 8345"/>
                    <a:gd name="T4" fmla="*/ 528 w 1799"/>
                    <a:gd name="T5" fmla="*/ 7774 h 8345"/>
                    <a:gd name="T6" fmla="*/ 762 w 1799"/>
                    <a:gd name="T7" fmla="*/ 7463 h 8345"/>
                    <a:gd name="T8" fmla="*/ 974 w 1799"/>
                    <a:gd name="T9" fmla="*/ 7136 h 8345"/>
                    <a:gd name="T10" fmla="*/ 1164 w 1799"/>
                    <a:gd name="T11" fmla="*/ 6797 h 8345"/>
                    <a:gd name="T12" fmla="*/ 1330 w 1799"/>
                    <a:gd name="T13" fmla="*/ 6444 h 8345"/>
                    <a:gd name="T14" fmla="*/ 1472 w 1799"/>
                    <a:gd name="T15" fmla="*/ 6082 h 8345"/>
                    <a:gd name="T16" fmla="*/ 1589 w 1799"/>
                    <a:gd name="T17" fmla="*/ 5710 h 8345"/>
                    <a:gd name="T18" fmla="*/ 1679 w 1799"/>
                    <a:gd name="T19" fmla="*/ 5332 h 8345"/>
                    <a:gd name="T20" fmla="*/ 1746 w 1799"/>
                    <a:gd name="T21" fmla="*/ 4948 h 8345"/>
                    <a:gd name="T22" fmla="*/ 1785 w 1799"/>
                    <a:gd name="T23" fmla="*/ 4561 h 8345"/>
                    <a:gd name="T24" fmla="*/ 1799 w 1799"/>
                    <a:gd name="T25" fmla="*/ 4172 h 8345"/>
                    <a:gd name="T26" fmla="*/ 1785 w 1799"/>
                    <a:gd name="T27" fmla="*/ 3783 h 8345"/>
                    <a:gd name="T28" fmla="*/ 1746 w 1799"/>
                    <a:gd name="T29" fmla="*/ 3396 h 8345"/>
                    <a:gd name="T30" fmla="*/ 1679 w 1799"/>
                    <a:gd name="T31" fmla="*/ 3013 h 8345"/>
                    <a:gd name="T32" fmla="*/ 1589 w 1799"/>
                    <a:gd name="T33" fmla="*/ 2633 h 8345"/>
                    <a:gd name="T34" fmla="*/ 1472 w 1799"/>
                    <a:gd name="T35" fmla="*/ 2263 h 8345"/>
                    <a:gd name="T36" fmla="*/ 1330 w 1799"/>
                    <a:gd name="T37" fmla="*/ 1900 h 8345"/>
                    <a:gd name="T38" fmla="*/ 1164 w 1799"/>
                    <a:gd name="T39" fmla="*/ 1548 h 8345"/>
                    <a:gd name="T40" fmla="*/ 974 w 1799"/>
                    <a:gd name="T41" fmla="*/ 1208 h 8345"/>
                    <a:gd name="T42" fmla="*/ 762 w 1799"/>
                    <a:gd name="T43" fmla="*/ 882 h 8345"/>
                    <a:gd name="T44" fmla="*/ 528 w 1799"/>
                    <a:gd name="T45" fmla="*/ 571 h 8345"/>
                    <a:gd name="T46" fmla="*/ 274 w 1799"/>
                    <a:gd name="T47" fmla="*/ 276 h 8345"/>
                    <a:gd name="T48" fmla="*/ 0 w 1799"/>
                    <a:gd name="T49" fmla="*/ 0 h 8345"/>
                    <a:gd name="T50" fmla="*/ 1 w 1799"/>
                    <a:gd name="T51" fmla="*/ 0 h 83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99" h="8345">
                      <a:moveTo>
                        <a:pt x="0" y="8345"/>
                      </a:moveTo>
                      <a:lnTo>
                        <a:pt x="274" y="8068"/>
                      </a:lnTo>
                      <a:lnTo>
                        <a:pt x="528" y="7774"/>
                      </a:lnTo>
                      <a:lnTo>
                        <a:pt x="762" y="7463"/>
                      </a:lnTo>
                      <a:lnTo>
                        <a:pt x="974" y="7136"/>
                      </a:lnTo>
                      <a:lnTo>
                        <a:pt x="1164" y="6797"/>
                      </a:lnTo>
                      <a:lnTo>
                        <a:pt x="1330" y="6444"/>
                      </a:lnTo>
                      <a:lnTo>
                        <a:pt x="1472" y="6082"/>
                      </a:lnTo>
                      <a:lnTo>
                        <a:pt x="1589" y="5710"/>
                      </a:lnTo>
                      <a:lnTo>
                        <a:pt x="1679" y="5332"/>
                      </a:lnTo>
                      <a:lnTo>
                        <a:pt x="1746" y="4948"/>
                      </a:lnTo>
                      <a:lnTo>
                        <a:pt x="1785" y="4561"/>
                      </a:lnTo>
                      <a:lnTo>
                        <a:pt x="1799" y="4172"/>
                      </a:lnTo>
                      <a:lnTo>
                        <a:pt x="1785" y="3783"/>
                      </a:lnTo>
                      <a:lnTo>
                        <a:pt x="1746" y="3396"/>
                      </a:lnTo>
                      <a:lnTo>
                        <a:pt x="1679" y="3013"/>
                      </a:lnTo>
                      <a:lnTo>
                        <a:pt x="1589" y="2633"/>
                      </a:lnTo>
                      <a:lnTo>
                        <a:pt x="1472" y="2263"/>
                      </a:lnTo>
                      <a:lnTo>
                        <a:pt x="1330" y="1900"/>
                      </a:lnTo>
                      <a:lnTo>
                        <a:pt x="1164" y="1548"/>
                      </a:lnTo>
                      <a:lnTo>
                        <a:pt x="974" y="1208"/>
                      </a:lnTo>
                      <a:lnTo>
                        <a:pt x="762" y="882"/>
                      </a:lnTo>
                      <a:lnTo>
                        <a:pt x="528" y="571"/>
                      </a:lnTo>
                      <a:lnTo>
                        <a:pt x="274" y="276"/>
                      </a:ln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93" name="Freeform 15"/>
                <p:cNvSpPr>
                  <a:spLocks noChangeAspect="1" noChangeArrowheads="1"/>
                </p:cNvSpPr>
                <p:nvPr/>
              </p:nvSpPr>
              <p:spPr bwMode="auto">
                <a:xfrm>
                  <a:off x="1942" y="2197"/>
                  <a:ext cx="1" cy="121"/>
                </a:xfrm>
                <a:custGeom>
                  <a:avLst/>
                  <a:gdLst>
                    <a:gd name="T0" fmla="*/ 0 w 1"/>
                    <a:gd name="T1" fmla="*/ 0 h 1087"/>
                    <a:gd name="T2" fmla="*/ 0 w 1"/>
                    <a:gd name="T3" fmla="*/ 1087 h 1087"/>
                    <a:gd name="T4" fmla="*/ 1 w 1"/>
                    <a:gd name="T5" fmla="*/ 1087 h 10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087">
                      <a:moveTo>
                        <a:pt x="0" y="0"/>
                      </a:moveTo>
                      <a:lnTo>
                        <a:pt x="0" y="1087"/>
                      </a:lnTo>
                      <a:lnTo>
                        <a:pt x="1" y="1087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94" name="Freeform 16"/>
                <p:cNvSpPr>
                  <a:spLocks noChangeAspect="1" noChangeArrowheads="1"/>
                </p:cNvSpPr>
                <p:nvPr/>
              </p:nvSpPr>
              <p:spPr bwMode="auto">
                <a:xfrm>
                  <a:off x="1942" y="1805"/>
                  <a:ext cx="289" cy="1"/>
                </a:xfrm>
                <a:custGeom>
                  <a:avLst/>
                  <a:gdLst>
                    <a:gd name="T0" fmla="*/ 2605 w 2605"/>
                    <a:gd name="T1" fmla="*/ 0 h 1"/>
                    <a:gd name="T2" fmla="*/ 0 w 2605"/>
                    <a:gd name="T3" fmla="*/ 0 h 1"/>
                    <a:gd name="T4" fmla="*/ 1 w 2605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05" h="1">
                      <a:moveTo>
                        <a:pt x="2605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95" name="Freeform 17"/>
                <p:cNvSpPr>
                  <a:spLocks noChangeAspect="1" noChangeArrowheads="1"/>
                </p:cNvSpPr>
                <p:nvPr/>
              </p:nvSpPr>
              <p:spPr bwMode="auto">
                <a:xfrm>
                  <a:off x="1942" y="2197"/>
                  <a:ext cx="379" cy="1"/>
                </a:xfrm>
                <a:custGeom>
                  <a:avLst/>
                  <a:gdLst>
                    <a:gd name="T0" fmla="*/ 3412 w 3412"/>
                    <a:gd name="T1" fmla="*/ 0 h 1"/>
                    <a:gd name="T2" fmla="*/ 0 w 3412"/>
                    <a:gd name="T3" fmla="*/ 0 h 1"/>
                    <a:gd name="T4" fmla="*/ 1 w 341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412" h="1">
                      <a:moveTo>
                        <a:pt x="3412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96" name="Freeform 18"/>
                <p:cNvSpPr>
                  <a:spLocks noChangeAspect="1" noChangeArrowheads="1"/>
                </p:cNvSpPr>
                <p:nvPr/>
              </p:nvSpPr>
              <p:spPr bwMode="auto">
                <a:xfrm>
                  <a:off x="1942" y="1516"/>
                  <a:ext cx="289" cy="1"/>
                </a:xfrm>
                <a:custGeom>
                  <a:avLst/>
                  <a:gdLst>
                    <a:gd name="T0" fmla="*/ 0 w 2606"/>
                    <a:gd name="T1" fmla="*/ 0 h 1"/>
                    <a:gd name="T2" fmla="*/ 2605 w 2606"/>
                    <a:gd name="T3" fmla="*/ 0 h 1"/>
                    <a:gd name="T4" fmla="*/ 2606 w 2606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06" h="1">
                      <a:moveTo>
                        <a:pt x="0" y="0"/>
                      </a:moveTo>
                      <a:lnTo>
                        <a:pt x="2605" y="0"/>
                      </a:lnTo>
                      <a:lnTo>
                        <a:pt x="2606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97" name="Freeform 19"/>
                <p:cNvSpPr>
                  <a:spLocks noChangeAspect="1" noChangeArrowheads="1"/>
                </p:cNvSpPr>
                <p:nvPr/>
              </p:nvSpPr>
              <p:spPr bwMode="auto">
                <a:xfrm>
                  <a:off x="1942" y="1516"/>
                  <a:ext cx="1" cy="289"/>
                </a:xfrm>
                <a:custGeom>
                  <a:avLst/>
                  <a:gdLst>
                    <a:gd name="T0" fmla="*/ 0 w 1"/>
                    <a:gd name="T1" fmla="*/ 0 h 2608"/>
                    <a:gd name="T2" fmla="*/ 0 w 1"/>
                    <a:gd name="T3" fmla="*/ 2608 h 2608"/>
                    <a:gd name="T4" fmla="*/ 1 w 1"/>
                    <a:gd name="T5" fmla="*/ 2608 h 26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608">
                      <a:moveTo>
                        <a:pt x="0" y="0"/>
                      </a:moveTo>
                      <a:lnTo>
                        <a:pt x="0" y="2608"/>
                      </a:lnTo>
                      <a:lnTo>
                        <a:pt x="1" y="2608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98" name="Freeform 20"/>
                <p:cNvSpPr>
                  <a:spLocks noChangeAspect="1" noChangeArrowheads="1"/>
                </p:cNvSpPr>
                <p:nvPr/>
              </p:nvSpPr>
              <p:spPr bwMode="auto">
                <a:xfrm>
                  <a:off x="2521" y="1748"/>
                  <a:ext cx="695" cy="1"/>
                </a:xfrm>
                <a:custGeom>
                  <a:avLst/>
                  <a:gdLst>
                    <a:gd name="T0" fmla="*/ 0 w 6252"/>
                    <a:gd name="T1" fmla="*/ 0 h 1"/>
                    <a:gd name="T2" fmla="*/ 6251 w 6252"/>
                    <a:gd name="T3" fmla="*/ 0 h 1"/>
                    <a:gd name="T4" fmla="*/ 6252 w 625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252" h="1">
                      <a:moveTo>
                        <a:pt x="0" y="0"/>
                      </a:moveTo>
                      <a:lnTo>
                        <a:pt x="6251" y="0"/>
                      </a:lnTo>
                      <a:lnTo>
                        <a:pt x="6252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99" name="Freeform 21"/>
                <p:cNvSpPr>
                  <a:spLocks noChangeAspect="1" noChangeArrowheads="1"/>
                </p:cNvSpPr>
                <p:nvPr/>
              </p:nvSpPr>
              <p:spPr bwMode="auto">
                <a:xfrm>
                  <a:off x="2521" y="1574"/>
                  <a:ext cx="694" cy="1"/>
                </a:xfrm>
                <a:custGeom>
                  <a:avLst/>
                  <a:gdLst>
                    <a:gd name="T0" fmla="*/ 6251 w 6251"/>
                    <a:gd name="T1" fmla="*/ 0 h 1"/>
                    <a:gd name="T2" fmla="*/ 0 w 6251"/>
                    <a:gd name="T3" fmla="*/ 0 h 1"/>
                    <a:gd name="T4" fmla="*/ 1 w 625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251" h="1">
                      <a:moveTo>
                        <a:pt x="6251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00" name="Freeform 22"/>
                <p:cNvSpPr>
                  <a:spLocks noChangeAspect="1" noChangeArrowheads="1"/>
                </p:cNvSpPr>
                <p:nvPr/>
              </p:nvSpPr>
              <p:spPr bwMode="auto">
                <a:xfrm>
                  <a:off x="2839" y="1297"/>
                  <a:ext cx="376" cy="277"/>
                </a:xfrm>
                <a:custGeom>
                  <a:avLst/>
                  <a:gdLst>
                    <a:gd name="T0" fmla="*/ 3386 w 3386"/>
                    <a:gd name="T1" fmla="*/ 0 h 2486"/>
                    <a:gd name="T2" fmla="*/ 0 w 3386"/>
                    <a:gd name="T3" fmla="*/ 2486 h 2486"/>
                    <a:gd name="T4" fmla="*/ 1 w 3386"/>
                    <a:gd name="T5" fmla="*/ 2486 h 24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386" h="2486">
                      <a:moveTo>
                        <a:pt x="3386" y="0"/>
                      </a:moveTo>
                      <a:lnTo>
                        <a:pt x="0" y="2486"/>
                      </a:lnTo>
                      <a:lnTo>
                        <a:pt x="1" y="2486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01" name="Freeform 23"/>
                <p:cNvSpPr>
                  <a:spLocks noChangeAspect="1" noChangeArrowheads="1"/>
                </p:cNvSpPr>
                <p:nvPr/>
              </p:nvSpPr>
              <p:spPr bwMode="auto">
                <a:xfrm>
                  <a:off x="2231" y="1516"/>
                  <a:ext cx="1" cy="289"/>
                </a:xfrm>
                <a:custGeom>
                  <a:avLst/>
                  <a:gdLst>
                    <a:gd name="T0" fmla="*/ 0 w 1"/>
                    <a:gd name="T1" fmla="*/ 0 h 2608"/>
                    <a:gd name="T2" fmla="*/ 0 w 1"/>
                    <a:gd name="T3" fmla="*/ 2608 h 2608"/>
                    <a:gd name="T4" fmla="*/ 1 w 1"/>
                    <a:gd name="T5" fmla="*/ 2608 h 26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608">
                      <a:moveTo>
                        <a:pt x="0" y="0"/>
                      </a:moveTo>
                      <a:lnTo>
                        <a:pt x="0" y="2608"/>
                      </a:lnTo>
                      <a:lnTo>
                        <a:pt x="1" y="2608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02" name="Freeform 24"/>
                <p:cNvSpPr>
                  <a:spLocks noChangeAspect="1" noChangeArrowheads="1"/>
                </p:cNvSpPr>
                <p:nvPr/>
              </p:nvSpPr>
              <p:spPr bwMode="auto">
                <a:xfrm>
                  <a:off x="2231" y="1516"/>
                  <a:ext cx="290" cy="1"/>
                </a:xfrm>
                <a:custGeom>
                  <a:avLst/>
                  <a:gdLst>
                    <a:gd name="T0" fmla="*/ 2606 w 2606"/>
                    <a:gd name="T1" fmla="*/ 0 h 1"/>
                    <a:gd name="T2" fmla="*/ 0 w 2606"/>
                    <a:gd name="T3" fmla="*/ 0 h 1"/>
                    <a:gd name="T4" fmla="*/ 1 w 2606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06" h="1">
                      <a:moveTo>
                        <a:pt x="2606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03" name="Freeform 25"/>
                <p:cNvSpPr>
                  <a:spLocks noChangeAspect="1" noChangeArrowheads="1"/>
                </p:cNvSpPr>
                <p:nvPr/>
              </p:nvSpPr>
              <p:spPr bwMode="auto">
                <a:xfrm>
                  <a:off x="2521" y="1516"/>
                  <a:ext cx="1" cy="58"/>
                </a:xfrm>
                <a:custGeom>
                  <a:avLst/>
                  <a:gdLst>
                    <a:gd name="T0" fmla="*/ 0 w 1"/>
                    <a:gd name="T1" fmla="*/ 522 h 522"/>
                    <a:gd name="T2" fmla="*/ 0 w 1"/>
                    <a:gd name="T3" fmla="*/ 0 h 522"/>
                    <a:gd name="T4" fmla="*/ 1 w 1"/>
                    <a:gd name="T5" fmla="*/ 0 h 5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22">
                      <a:moveTo>
                        <a:pt x="0" y="522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04" name="Freeform 26"/>
                <p:cNvSpPr>
                  <a:spLocks noChangeAspect="1" noChangeArrowheads="1"/>
                </p:cNvSpPr>
                <p:nvPr/>
              </p:nvSpPr>
              <p:spPr bwMode="auto">
                <a:xfrm>
                  <a:off x="2231" y="1805"/>
                  <a:ext cx="290" cy="1"/>
                </a:xfrm>
                <a:custGeom>
                  <a:avLst/>
                  <a:gdLst>
                    <a:gd name="T0" fmla="*/ 0 w 2607"/>
                    <a:gd name="T1" fmla="*/ 0 h 1"/>
                    <a:gd name="T2" fmla="*/ 2606 w 2607"/>
                    <a:gd name="T3" fmla="*/ 0 h 1"/>
                    <a:gd name="T4" fmla="*/ 2607 w 2607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07" h="1">
                      <a:moveTo>
                        <a:pt x="0" y="0"/>
                      </a:moveTo>
                      <a:lnTo>
                        <a:pt x="2606" y="0"/>
                      </a:lnTo>
                      <a:lnTo>
                        <a:pt x="2607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05" name="Freeform 27"/>
                <p:cNvSpPr>
                  <a:spLocks noChangeAspect="1" noChangeArrowheads="1"/>
                </p:cNvSpPr>
                <p:nvPr/>
              </p:nvSpPr>
              <p:spPr bwMode="auto">
                <a:xfrm>
                  <a:off x="2521" y="1748"/>
                  <a:ext cx="1" cy="57"/>
                </a:xfrm>
                <a:custGeom>
                  <a:avLst/>
                  <a:gdLst>
                    <a:gd name="T0" fmla="*/ 0 w 1"/>
                    <a:gd name="T1" fmla="*/ 521 h 521"/>
                    <a:gd name="T2" fmla="*/ 0 w 1"/>
                    <a:gd name="T3" fmla="*/ 0 h 521"/>
                    <a:gd name="T4" fmla="*/ 1 w 1"/>
                    <a:gd name="T5" fmla="*/ 0 h 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21">
                      <a:moveTo>
                        <a:pt x="0" y="521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06" name="Freeform 28"/>
                <p:cNvSpPr>
                  <a:spLocks noChangeAspect="1" noChangeArrowheads="1"/>
                </p:cNvSpPr>
                <p:nvPr/>
              </p:nvSpPr>
              <p:spPr bwMode="auto">
                <a:xfrm>
                  <a:off x="3389" y="1197"/>
                  <a:ext cx="1" cy="637"/>
                </a:xfrm>
                <a:custGeom>
                  <a:avLst/>
                  <a:gdLst>
                    <a:gd name="T0" fmla="*/ 0 w 1"/>
                    <a:gd name="T1" fmla="*/ 5737 h 5737"/>
                    <a:gd name="T2" fmla="*/ 0 w 1"/>
                    <a:gd name="T3" fmla="*/ 0 h 5737"/>
                    <a:gd name="T4" fmla="*/ 1 w 1"/>
                    <a:gd name="T5" fmla="*/ 0 h 57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737">
                      <a:moveTo>
                        <a:pt x="0" y="5737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07" name="Freeform 29"/>
                <p:cNvSpPr>
                  <a:spLocks noChangeAspect="1" noChangeArrowheads="1"/>
                </p:cNvSpPr>
                <p:nvPr/>
              </p:nvSpPr>
              <p:spPr bwMode="auto">
                <a:xfrm>
                  <a:off x="3679" y="1197"/>
                  <a:ext cx="1" cy="637"/>
                </a:xfrm>
                <a:custGeom>
                  <a:avLst/>
                  <a:gdLst>
                    <a:gd name="T0" fmla="*/ 0 w 1"/>
                    <a:gd name="T1" fmla="*/ 0 h 5737"/>
                    <a:gd name="T2" fmla="*/ 0 w 1"/>
                    <a:gd name="T3" fmla="*/ 5737 h 5737"/>
                    <a:gd name="T4" fmla="*/ 1 w 1"/>
                    <a:gd name="T5" fmla="*/ 5737 h 57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737">
                      <a:moveTo>
                        <a:pt x="0" y="0"/>
                      </a:moveTo>
                      <a:lnTo>
                        <a:pt x="0" y="5737"/>
                      </a:lnTo>
                      <a:lnTo>
                        <a:pt x="1" y="5737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08" name="Freeform 30"/>
                <p:cNvSpPr>
                  <a:spLocks noChangeAspect="1" noChangeArrowheads="1"/>
                </p:cNvSpPr>
                <p:nvPr/>
              </p:nvSpPr>
              <p:spPr bwMode="auto">
                <a:xfrm>
                  <a:off x="3852" y="1197"/>
                  <a:ext cx="1" cy="637"/>
                </a:xfrm>
                <a:custGeom>
                  <a:avLst/>
                  <a:gdLst>
                    <a:gd name="T0" fmla="*/ 0 w 1"/>
                    <a:gd name="T1" fmla="*/ 5737 h 5737"/>
                    <a:gd name="T2" fmla="*/ 0 w 1"/>
                    <a:gd name="T3" fmla="*/ 0 h 5737"/>
                    <a:gd name="T4" fmla="*/ 1 w 1"/>
                    <a:gd name="T5" fmla="*/ 0 h 57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737">
                      <a:moveTo>
                        <a:pt x="0" y="5737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09" name="Freeform 31"/>
                <p:cNvSpPr>
                  <a:spLocks noChangeAspect="1" noChangeArrowheads="1"/>
                </p:cNvSpPr>
                <p:nvPr/>
              </p:nvSpPr>
              <p:spPr bwMode="auto">
                <a:xfrm>
                  <a:off x="3389" y="1197"/>
                  <a:ext cx="290" cy="1"/>
                </a:xfrm>
                <a:custGeom>
                  <a:avLst/>
                  <a:gdLst>
                    <a:gd name="T0" fmla="*/ 2605 w 2605"/>
                    <a:gd name="T1" fmla="*/ 0 h 1"/>
                    <a:gd name="T2" fmla="*/ 0 w 2605"/>
                    <a:gd name="T3" fmla="*/ 0 h 1"/>
                    <a:gd name="T4" fmla="*/ 1 w 2605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05" h="1">
                      <a:moveTo>
                        <a:pt x="2605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0" name="Freeform 32"/>
                <p:cNvSpPr>
                  <a:spLocks noChangeAspect="1" noChangeArrowheads="1"/>
                </p:cNvSpPr>
                <p:nvPr/>
              </p:nvSpPr>
              <p:spPr bwMode="auto">
                <a:xfrm>
                  <a:off x="3215" y="1197"/>
                  <a:ext cx="1" cy="377"/>
                </a:xfrm>
                <a:custGeom>
                  <a:avLst/>
                  <a:gdLst>
                    <a:gd name="T0" fmla="*/ 0 w 1"/>
                    <a:gd name="T1" fmla="*/ 0 h 3390"/>
                    <a:gd name="T2" fmla="*/ 0 w 1"/>
                    <a:gd name="T3" fmla="*/ 3390 h 3390"/>
                    <a:gd name="T4" fmla="*/ 1 w 1"/>
                    <a:gd name="T5" fmla="*/ 3390 h 33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390">
                      <a:moveTo>
                        <a:pt x="0" y="0"/>
                      </a:moveTo>
                      <a:lnTo>
                        <a:pt x="0" y="3390"/>
                      </a:lnTo>
                      <a:lnTo>
                        <a:pt x="1" y="339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1" name="Freeform 33"/>
                <p:cNvSpPr>
                  <a:spLocks noChangeAspect="1" noChangeArrowheads="1"/>
                </p:cNvSpPr>
                <p:nvPr/>
              </p:nvSpPr>
              <p:spPr bwMode="auto">
                <a:xfrm>
                  <a:off x="3215" y="1197"/>
                  <a:ext cx="174" cy="1"/>
                </a:xfrm>
                <a:custGeom>
                  <a:avLst/>
                  <a:gdLst>
                    <a:gd name="T0" fmla="*/ 1563 w 1563"/>
                    <a:gd name="T1" fmla="*/ 0 h 1"/>
                    <a:gd name="T2" fmla="*/ 0 w 1563"/>
                    <a:gd name="T3" fmla="*/ 0 h 1"/>
                    <a:gd name="T4" fmla="*/ 1 w 1563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3" h="1">
                      <a:moveTo>
                        <a:pt x="1563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2" name="Freeform 34"/>
                <p:cNvSpPr>
                  <a:spLocks noChangeAspect="1" noChangeArrowheads="1"/>
                </p:cNvSpPr>
                <p:nvPr/>
              </p:nvSpPr>
              <p:spPr bwMode="auto">
                <a:xfrm>
                  <a:off x="3054" y="1412"/>
                  <a:ext cx="5" cy="4"/>
                </a:xfrm>
                <a:custGeom>
                  <a:avLst/>
                  <a:gdLst>
                    <a:gd name="T0" fmla="*/ 40 w 40"/>
                    <a:gd name="T1" fmla="*/ 0 h 34"/>
                    <a:gd name="T2" fmla="*/ 0 w 40"/>
                    <a:gd name="T3" fmla="*/ 34 h 34"/>
                    <a:gd name="T4" fmla="*/ 1 w 40"/>
                    <a:gd name="T5" fmla="*/ 34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0" h="34">
                      <a:moveTo>
                        <a:pt x="40" y="0"/>
                      </a:moveTo>
                      <a:lnTo>
                        <a:pt x="0" y="34"/>
                      </a:lnTo>
                      <a:lnTo>
                        <a:pt x="1" y="34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3" name="Freeform 35"/>
                <p:cNvSpPr>
                  <a:spLocks noChangeAspect="1" noChangeArrowheads="1"/>
                </p:cNvSpPr>
                <p:nvPr/>
              </p:nvSpPr>
              <p:spPr bwMode="auto">
                <a:xfrm>
                  <a:off x="3679" y="1197"/>
                  <a:ext cx="173" cy="1"/>
                </a:xfrm>
                <a:custGeom>
                  <a:avLst/>
                  <a:gdLst>
                    <a:gd name="T0" fmla="*/ 1563 w 1563"/>
                    <a:gd name="T1" fmla="*/ 0 h 1"/>
                    <a:gd name="T2" fmla="*/ 0 w 1563"/>
                    <a:gd name="T3" fmla="*/ 0 h 1"/>
                    <a:gd name="T4" fmla="*/ 1 w 1563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3" h="1">
                      <a:moveTo>
                        <a:pt x="1563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4" name="Freeform 36"/>
                <p:cNvSpPr>
                  <a:spLocks noChangeAspect="1" noChangeArrowheads="1"/>
                </p:cNvSpPr>
                <p:nvPr/>
              </p:nvSpPr>
              <p:spPr bwMode="auto">
                <a:xfrm>
                  <a:off x="3461" y="1443"/>
                  <a:ext cx="145" cy="145"/>
                </a:xfrm>
                <a:custGeom>
                  <a:avLst/>
                  <a:gdLst>
                    <a:gd name="T0" fmla="*/ 0 w 1303"/>
                    <a:gd name="T1" fmla="*/ 651 h 1303"/>
                    <a:gd name="T2" fmla="*/ 13 w 1303"/>
                    <a:gd name="T3" fmla="*/ 525 h 1303"/>
                    <a:gd name="T4" fmla="*/ 50 w 1303"/>
                    <a:gd name="T5" fmla="*/ 399 h 1303"/>
                    <a:gd name="T6" fmla="*/ 111 w 1303"/>
                    <a:gd name="T7" fmla="*/ 286 h 1303"/>
                    <a:gd name="T8" fmla="*/ 191 w 1303"/>
                    <a:gd name="T9" fmla="*/ 191 h 1303"/>
                    <a:gd name="T10" fmla="*/ 287 w 1303"/>
                    <a:gd name="T11" fmla="*/ 111 h 1303"/>
                    <a:gd name="T12" fmla="*/ 400 w 1303"/>
                    <a:gd name="T13" fmla="*/ 50 h 1303"/>
                    <a:gd name="T14" fmla="*/ 524 w 1303"/>
                    <a:gd name="T15" fmla="*/ 12 h 1303"/>
                    <a:gd name="T16" fmla="*/ 651 w 1303"/>
                    <a:gd name="T17" fmla="*/ 0 h 1303"/>
                    <a:gd name="T18" fmla="*/ 778 w 1303"/>
                    <a:gd name="T19" fmla="*/ 12 h 1303"/>
                    <a:gd name="T20" fmla="*/ 903 w 1303"/>
                    <a:gd name="T21" fmla="*/ 50 h 1303"/>
                    <a:gd name="T22" fmla="*/ 1016 w 1303"/>
                    <a:gd name="T23" fmla="*/ 111 h 1303"/>
                    <a:gd name="T24" fmla="*/ 1112 w 1303"/>
                    <a:gd name="T25" fmla="*/ 191 h 1303"/>
                    <a:gd name="T26" fmla="*/ 1191 w 1303"/>
                    <a:gd name="T27" fmla="*/ 286 h 1303"/>
                    <a:gd name="T28" fmla="*/ 1253 w 1303"/>
                    <a:gd name="T29" fmla="*/ 399 h 1303"/>
                    <a:gd name="T30" fmla="*/ 1290 w 1303"/>
                    <a:gd name="T31" fmla="*/ 525 h 1303"/>
                    <a:gd name="T32" fmla="*/ 1303 w 1303"/>
                    <a:gd name="T33" fmla="*/ 651 h 1303"/>
                    <a:gd name="T34" fmla="*/ 1290 w 1303"/>
                    <a:gd name="T35" fmla="*/ 778 h 1303"/>
                    <a:gd name="T36" fmla="*/ 1253 w 1303"/>
                    <a:gd name="T37" fmla="*/ 903 h 1303"/>
                    <a:gd name="T38" fmla="*/ 1191 w 1303"/>
                    <a:gd name="T39" fmla="*/ 1017 h 1303"/>
                    <a:gd name="T40" fmla="*/ 1112 w 1303"/>
                    <a:gd name="T41" fmla="*/ 1113 h 1303"/>
                    <a:gd name="T42" fmla="*/ 1016 w 1303"/>
                    <a:gd name="T43" fmla="*/ 1192 h 1303"/>
                    <a:gd name="T44" fmla="*/ 903 w 1303"/>
                    <a:gd name="T45" fmla="*/ 1253 h 1303"/>
                    <a:gd name="T46" fmla="*/ 778 w 1303"/>
                    <a:gd name="T47" fmla="*/ 1291 h 1303"/>
                    <a:gd name="T48" fmla="*/ 651 w 1303"/>
                    <a:gd name="T49" fmla="*/ 1303 h 1303"/>
                    <a:gd name="T50" fmla="*/ 524 w 1303"/>
                    <a:gd name="T51" fmla="*/ 1291 h 1303"/>
                    <a:gd name="T52" fmla="*/ 400 w 1303"/>
                    <a:gd name="T53" fmla="*/ 1253 h 1303"/>
                    <a:gd name="T54" fmla="*/ 287 w 1303"/>
                    <a:gd name="T55" fmla="*/ 1192 h 1303"/>
                    <a:gd name="T56" fmla="*/ 191 w 1303"/>
                    <a:gd name="T57" fmla="*/ 1113 h 1303"/>
                    <a:gd name="T58" fmla="*/ 111 w 1303"/>
                    <a:gd name="T59" fmla="*/ 1017 h 1303"/>
                    <a:gd name="T60" fmla="*/ 50 w 1303"/>
                    <a:gd name="T61" fmla="*/ 903 h 1303"/>
                    <a:gd name="T62" fmla="*/ 13 w 1303"/>
                    <a:gd name="T63" fmla="*/ 778 h 1303"/>
                    <a:gd name="T64" fmla="*/ 0 w 1303"/>
                    <a:gd name="T65" fmla="*/ 651 h 1303"/>
                    <a:gd name="T66" fmla="*/ 1 w 1303"/>
                    <a:gd name="T67" fmla="*/ 651 h 13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303" h="1303">
                      <a:moveTo>
                        <a:pt x="0" y="651"/>
                      </a:moveTo>
                      <a:lnTo>
                        <a:pt x="13" y="525"/>
                      </a:lnTo>
                      <a:lnTo>
                        <a:pt x="50" y="399"/>
                      </a:lnTo>
                      <a:lnTo>
                        <a:pt x="111" y="286"/>
                      </a:lnTo>
                      <a:lnTo>
                        <a:pt x="191" y="191"/>
                      </a:lnTo>
                      <a:lnTo>
                        <a:pt x="287" y="111"/>
                      </a:lnTo>
                      <a:lnTo>
                        <a:pt x="400" y="50"/>
                      </a:lnTo>
                      <a:lnTo>
                        <a:pt x="524" y="12"/>
                      </a:lnTo>
                      <a:lnTo>
                        <a:pt x="651" y="0"/>
                      </a:lnTo>
                      <a:lnTo>
                        <a:pt x="778" y="12"/>
                      </a:lnTo>
                      <a:lnTo>
                        <a:pt x="903" y="50"/>
                      </a:lnTo>
                      <a:lnTo>
                        <a:pt x="1016" y="111"/>
                      </a:lnTo>
                      <a:lnTo>
                        <a:pt x="1112" y="191"/>
                      </a:lnTo>
                      <a:lnTo>
                        <a:pt x="1191" y="286"/>
                      </a:lnTo>
                      <a:lnTo>
                        <a:pt x="1253" y="399"/>
                      </a:lnTo>
                      <a:lnTo>
                        <a:pt x="1290" y="525"/>
                      </a:lnTo>
                      <a:lnTo>
                        <a:pt x="1303" y="651"/>
                      </a:lnTo>
                      <a:lnTo>
                        <a:pt x="1290" y="778"/>
                      </a:lnTo>
                      <a:lnTo>
                        <a:pt x="1253" y="903"/>
                      </a:lnTo>
                      <a:lnTo>
                        <a:pt x="1191" y="1017"/>
                      </a:lnTo>
                      <a:lnTo>
                        <a:pt x="1112" y="1113"/>
                      </a:lnTo>
                      <a:lnTo>
                        <a:pt x="1016" y="1192"/>
                      </a:lnTo>
                      <a:lnTo>
                        <a:pt x="903" y="1253"/>
                      </a:lnTo>
                      <a:lnTo>
                        <a:pt x="778" y="1291"/>
                      </a:lnTo>
                      <a:lnTo>
                        <a:pt x="651" y="1303"/>
                      </a:lnTo>
                      <a:lnTo>
                        <a:pt x="524" y="1291"/>
                      </a:lnTo>
                      <a:lnTo>
                        <a:pt x="400" y="1253"/>
                      </a:lnTo>
                      <a:lnTo>
                        <a:pt x="287" y="1192"/>
                      </a:lnTo>
                      <a:lnTo>
                        <a:pt x="191" y="1113"/>
                      </a:lnTo>
                      <a:lnTo>
                        <a:pt x="111" y="1017"/>
                      </a:lnTo>
                      <a:lnTo>
                        <a:pt x="50" y="903"/>
                      </a:lnTo>
                      <a:lnTo>
                        <a:pt x="13" y="778"/>
                      </a:lnTo>
                      <a:lnTo>
                        <a:pt x="0" y="651"/>
                      </a:lnTo>
                      <a:lnTo>
                        <a:pt x="1" y="651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5" name="Freeform 37"/>
                <p:cNvSpPr>
                  <a:spLocks noChangeAspect="1" noChangeArrowheads="1"/>
                </p:cNvSpPr>
                <p:nvPr/>
              </p:nvSpPr>
              <p:spPr bwMode="auto">
                <a:xfrm>
                  <a:off x="3389" y="1834"/>
                  <a:ext cx="290" cy="1"/>
                </a:xfrm>
                <a:custGeom>
                  <a:avLst/>
                  <a:gdLst>
                    <a:gd name="T0" fmla="*/ 0 w 2606"/>
                    <a:gd name="T1" fmla="*/ 0 h 1"/>
                    <a:gd name="T2" fmla="*/ 2605 w 2606"/>
                    <a:gd name="T3" fmla="*/ 0 h 1"/>
                    <a:gd name="T4" fmla="*/ 2606 w 2606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06" h="1">
                      <a:moveTo>
                        <a:pt x="0" y="0"/>
                      </a:moveTo>
                      <a:lnTo>
                        <a:pt x="2605" y="0"/>
                      </a:lnTo>
                      <a:lnTo>
                        <a:pt x="2606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6" name="Freeform 38"/>
                <p:cNvSpPr>
                  <a:spLocks noChangeAspect="1" noChangeArrowheads="1"/>
                </p:cNvSpPr>
                <p:nvPr/>
              </p:nvSpPr>
              <p:spPr bwMode="auto">
                <a:xfrm>
                  <a:off x="3215" y="1748"/>
                  <a:ext cx="1" cy="86"/>
                </a:xfrm>
                <a:custGeom>
                  <a:avLst/>
                  <a:gdLst>
                    <a:gd name="T0" fmla="*/ 0 w 1"/>
                    <a:gd name="T1" fmla="*/ 0 h 782"/>
                    <a:gd name="T2" fmla="*/ 0 w 1"/>
                    <a:gd name="T3" fmla="*/ 782 h 782"/>
                    <a:gd name="T4" fmla="*/ 1 w 1"/>
                    <a:gd name="T5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782">
                      <a:moveTo>
                        <a:pt x="0" y="0"/>
                      </a:moveTo>
                      <a:lnTo>
                        <a:pt x="0" y="782"/>
                      </a:lnTo>
                      <a:lnTo>
                        <a:pt x="1" y="782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7" name="Freeform 39"/>
                <p:cNvSpPr>
                  <a:spLocks noChangeAspect="1" noChangeArrowheads="1"/>
                </p:cNvSpPr>
                <p:nvPr/>
              </p:nvSpPr>
              <p:spPr bwMode="auto">
                <a:xfrm>
                  <a:off x="3215" y="1834"/>
                  <a:ext cx="174" cy="1"/>
                </a:xfrm>
                <a:custGeom>
                  <a:avLst/>
                  <a:gdLst>
                    <a:gd name="T0" fmla="*/ 0 w 1564"/>
                    <a:gd name="T1" fmla="*/ 0 h 1"/>
                    <a:gd name="T2" fmla="*/ 1563 w 1564"/>
                    <a:gd name="T3" fmla="*/ 0 h 1"/>
                    <a:gd name="T4" fmla="*/ 1564 w 1564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4" h="1">
                      <a:moveTo>
                        <a:pt x="0" y="0"/>
                      </a:moveTo>
                      <a:lnTo>
                        <a:pt x="1563" y="0"/>
                      </a:lnTo>
                      <a:lnTo>
                        <a:pt x="1564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8" name="Freeform 40"/>
                <p:cNvSpPr>
                  <a:spLocks noChangeAspect="1" noChangeArrowheads="1"/>
                </p:cNvSpPr>
                <p:nvPr/>
              </p:nvSpPr>
              <p:spPr bwMode="auto">
                <a:xfrm>
                  <a:off x="3679" y="1834"/>
                  <a:ext cx="173" cy="1"/>
                </a:xfrm>
                <a:custGeom>
                  <a:avLst/>
                  <a:gdLst>
                    <a:gd name="T0" fmla="*/ 0 w 1564"/>
                    <a:gd name="T1" fmla="*/ 0 h 1"/>
                    <a:gd name="T2" fmla="*/ 1563 w 1564"/>
                    <a:gd name="T3" fmla="*/ 0 h 1"/>
                    <a:gd name="T4" fmla="*/ 1564 w 1564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4" h="1">
                      <a:moveTo>
                        <a:pt x="0" y="0"/>
                      </a:moveTo>
                      <a:lnTo>
                        <a:pt x="1563" y="0"/>
                      </a:lnTo>
                      <a:lnTo>
                        <a:pt x="1564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19" name="Freeform 41"/>
                <p:cNvSpPr>
                  <a:spLocks noChangeAspect="1" noChangeArrowheads="1"/>
                </p:cNvSpPr>
                <p:nvPr/>
              </p:nvSpPr>
              <p:spPr bwMode="auto">
                <a:xfrm>
                  <a:off x="1942" y="3125"/>
                  <a:ext cx="379" cy="1"/>
                </a:xfrm>
                <a:custGeom>
                  <a:avLst/>
                  <a:gdLst>
                    <a:gd name="T0" fmla="*/ 0 w 3413"/>
                    <a:gd name="T1" fmla="*/ 0 h 1"/>
                    <a:gd name="T2" fmla="*/ 3412 w 3413"/>
                    <a:gd name="T3" fmla="*/ 0 h 1"/>
                    <a:gd name="T4" fmla="*/ 3413 w 3413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413" h="1">
                      <a:moveTo>
                        <a:pt x="0" y="0"/>
                      </a:moveTo>
                      <a:lnTo>
                        <a:pt x="3412" y="0"/>
                      </a:lnTo>
                      <a:lnTo>
                        <a:pt x="3413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20" name="Freeform 42"/>
                <p:cNvSpPr>
                  <a:spLocks noChangeAspect="1" noChangeArrowheads="1"/>
                </p:cNvSpPr>
                <p:nvPr/>
              </p:nvSpPr>
              <p:spPr bwMode="auto">
                <a:xfrm>
                  <a:off x="1942" y="2318"/>
                  <a:ext cx="289" cy="686"/>
                </a:xfrm>
                <a:custGeom>
                  <a:avLst/>
                  <a:gdLst>
                    <a:gd name="T0" fmla="*/ 0 w 2605"/>
                    <a:gd name="T1" fmla="*/ 6171 h 6171"/>
                    <a:gd name="T2" fmla="*/ 286 w 2605"/>
                    <a:gd name="T3" fmla="*/ 6109 h 6171"/>
                    <a:gd name="T4" fmla="*/ 565 w 2605"/>
                    <a:gd name="T5" fmla="*/ 6020 h 6171"/>
                    <a:gd name="T6" fmla="*/ 834 w 2605"/>
                    <a:gd name="T7" fmla="*/ 5906 h 6171"/>
                    <a:gd name="T8" fmla="*/ 1091 w 2605"/>
                    <a:gd name="T9" fmla="*/ 5767 h 6171"/>
                    <a:gd name="T10" fmla="*/ 1334 w 2605"/>
                    <a:gd name="T11" fmla="*/ 5605 h 6171"/>
                    <a:gd name="T12" fmla="*/ 1561 w 2605"/>
                    <a:gd name="T13" fmla="*/ 5420 h 6171"/>
                    <a:gd name="T14" fmla="*/ 1770 w 2605"/>
                    <a:gd name="T15" fmla="*/ 5214 h 6171"/>
                    <a:gd name="T16" fmla="*/ 1958 w 2605"/>
                    <a:gd name="T17" fmla="*/ 4991 h 6171"/>
                    <a:gd name="T18" fmla="*/ 2126 w 2605"/>
                    <a:gd name="T19" fmla="*/ 4751 h 6171"/>
                    <a:gd name="T20" fmla="*/ 2269 w 2605"/>
                    <a:gd name="T21" fmla="*/ 4496 h 6171"/>
                    <a:gd name="T22" fmla="*/ 2389 w 2605"/>
                    <a:gd name="T23" fmla="*/ 4229 h 6171"/>
                    <a:gd name="T24" fmla="*/ 2483 w 2605"/>
                    <a:gd name="T25" fmla="*/ 3952 h 6171"/>
                    <a:gd name="T26" fmla="*/ 2550 w 2605"/>
                    <a:gd name="T27" fmla="*/ 3668 h 6171"/>
                    <a:gd name="T28" fmla="*/ 2592 w 2605"/>
                    <a:gd name="T29" fmla="*/ 3377 h 6171"/>
                    <a:gd name="T30" fmla="*/ 2605 w 2605"/>
                    <a:gd name="T31" fmla="*/ 3085 h 6171"/>
                    <a:gd name="T32" fmla="*/ 2592 w 2605"/>
                    <a:gd name="T33" fmla="*/ 2793 h 6171"/>
                    <a:gd name="T34" fmla="*/ 2550 w 2605"/>
                    <a:gd name="T35" fmla="*/ 2503 h 6171"/>
                    <a:gd name="T36" fmla="*/ 2483 w 2605"/>
                    <a:gd name="T37" fmla="*/ 2218 h 6171"/>
                    <a:gd name="T38" fmla="*/ 2389 w 2605"/>
                    <a:gd name="T39" fmla="*/ 1941 h 6171"/>
                    <a:gd name="T40" fmla="*/ 2269 w 2605"/>
                    <a:gd name="T41" fmla="*/ 1674 h 6171"/>
                    <a:gd name="T42" fmla="*/ 2126 w 2605"/>
                    <a:gd name="T43" fmla="*/ 1419 h 6171"/>
                    <a:gd name="T44" fmla="*/ 1958 w 2605"/>
                    <a:gd name="T45" fmla="*/ 1179 h 6171"/>
                    <a:gd name="T46" fmla="*/ 1770 w 2605"/>
                    <a:gd name="T47" fmla="*/ 956 h 6171"/>
                    <a:gd name="T48" fmla="*/ 1561 w 2605"/>
                    <a:gd name="T49" fmla="*/ 751 h 6171"/>
                    <a:gd name="T50" fmla="*/ 1334 w 2605"/>
                    <a:gd name="T51" fmla="*/ 566 h 6171"/>
                    <a:gd name="T52" fmla="*/ 1091 w 2605"/>
                    <a:gd name="T53" fmla="*/ 403 h 6171"/>
                    <a:gd name="T54" fmla="*/ 834 w 2605"/>
                    <a:gd name="T55" fmla="*/ 265 h 6171"/>
                    <a:gd name="T56" fmla="*/ 565 w 2605"/>
                    <a:gd name="T57" fmla="*/ 151 h 6171"/>
                    <a:gd name="T58" fmla="*/ 286 w 2605"/>
                    <a:gd name="T59" fmla="*/ 62 h 6171"/>
                    <a:gd name="T60" fmla="*/ 0 w 2605"/>
                    <a:gd name="T61" fmla="*/ 0 h 6171"/>
                    <a:gd name="T62" fmla="*/ 1 w 2605"/>
                    <a:gd name="T63" fmla="*/ 0 h 6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2605" h="6171">
                      <a:moveTo>
                        <a:pt x="0" y="6171"/>
                      </a:moveTo>
                      <a:lnTo>
                        <a:pt x="286" y="6109"/>
                      </a:lnTo>
                      <a:lnTo>
                        <a:pt x="565" y="6020"/>
                      </a:lnTo>
                      <a:lnTo>
                        <a:pt x="834" y="5906"/>
                      </a:lnTo>
                      <a:lnTo>
                        <a:pt x="1091" y="5767"/>
                      </a:lnTo>
                      <a:lnTo>
                        <a:pt x="1334" y="5605"/>
                      </a:lnTo>
                      <a:lnTo>
                        <a:pt x="1561" y="5420"/>
                      </a:lnTo>
                      <a:lnTo>
                        <a:pt x="1770" y="5214"/>
                      </a:lnTo>
                      <a:lnTo>
                        <a:pt x="1958" y="4991"/>
                      </a:lnTo>
                      <a:lnTo>
                        <a:pt x="2126" y="4751"/>
                      </a:lnTo>
                      <a:lnTo>
                        <a:pt x="2269" y="4496"/>
                      </a:lnTo>
                      <a:lnTo>
                        <a:pt x="2389" y="4229"/>
                      </a:lnTo>
                      <a:lnTo>
                        <a:pt x="2483" y="3952"/>
                      </a:lnTo>
                      <a:lnTo>
                        <a:pt x="2550" y="3668"/>
                      </a:lnTo>
                      <a:lnTo>
                        <a:pt x="2592" y="3377"/>
                      </a:lnTo>
                      <a:lnTo>
                        <a:pt x="2605" y="3085"/>
                      </a:lnTo>
                      <a:lnTo>
                        <a:pt x="2592" y="2793"/>
                      </a:lnTo>
                      <a:lnTo>
                        <a:pt x="2550" y="2503"/>
                      </a:lnTo>
                      <a:lnTo>
                        <a:pt x="2483" y="2218"/>
                      </a:lnTo>
                      <a:lnTo>
                        <a:pt x="2389" y="1941"/>
                      </a:lnTo>
                      <a:lnTo>
                        <a:pt x="2269" y="1674"/>
                      </a:lnTo>
                      <a:lnTo>
                        <a:pt x="2126" y="1419"/>
                      </a:lnTo>
                      <a:lnTo>
                        <a:pt x="1958" y="1179"/>
                      </a:lnTo>
                      <a:lnTo>
                        <a:pt x="1770" y="956"/>
                      </a:lnTo>
                      <a:lnTo>
                        <a:pt x="1561" y="751"/>
                      </a:lnTo>
                      <a:lnTo>
                        <a:pt x="1334" y="566"/>
                      </a:lnTo>
                      <a:lnTo>
                        <a:pt x="1091" y="403"/>
                      </a:lnTo>
                      <a:lnTo>
                        <a:pt x="834" y="265"/>
                      </a:lnTo>
                      <a:lnTo>
                        <a:pt x="565" y="151"/>
                      </a:lnTo>
                      <a:lnTo>
                        <a:pt x="286" y="62"/>
                      </a:ln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21" name="Freeform 43"/>
                <p:cNvSpPr>
                  <a:spLocks noChangeAspect="1" noChangeArrowheads="1"/>
                </p:cNvSpPr>
                <p:nvPr/>
              </p:nvSpPr>
              <p:spPr bwMode="auto">
                <a:xfrm>
                  <a:off x="1942" y="3004"/>
                  <a:ext cx="1" cy="121"/>
                </a:xfrm>
                <a:custGeom>
                  <a:avLst/>
                  <a:gdLst>
                    <a:gd name="T0" fmla="*/ 0 w 1"/>
                    <a:gd name="T1" fmla="*/ 0 h 1087"/>
                    <a:gd name="T2" fmla="*/ 0 w 1"/>
                    <a:gd name="T3" fmla="*/ 1087 h 1087"/>
                    <a:gd name="T4" fmla="*/ 1 w 1"/>
                    <a:gd name="T5" fmla="*/ 1087 h 10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087">
                      <a:moveTo>
                        <a:pt x="0" y="0"/>
                      </a:moveTo>
                      <a:lnTo>
                        <a:pt x="0" y="1087"/>
                      </a:lnTo>
                      <a:lnTo>
                        <a:pt x="1" y="1087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22" name="Freeform 44"/>
                <p:cNvSpPr>
                  <a:spLocks noChangeAspect="1" noChangeArrowheads="1"/>
                </p:cNvSpPr>
                <p:nvPr/>
              </p:nvSpPr>
              <p:spPr bwMode="auto">
                <a:xfrm>
                  <a:off x="2839" y="2588"/>
                  <a:ext cx="118" cy="70"/>
                </a:xfrm>
                <a:custGeom>
                  <a:avLst/>
                  <a:gdLst>
                    <a:gd name="T0" fmla="*/ 1057 w 1057"/>
                    <a:gd name="T1" fmla="*/ 0 h 627"/>
                    <a:gd name="T2" fmla="*/ 309 w 1057"/>
                    <a:gd name="T3" fmla="*/ 183 h 627"/>
                    <a:gd name="T4" fmla="*/ 0 w 1057"/>
                    <a:gd name="T5" fmla="*/ 627 h 627"/>
                    <a:gd name="T6" fmla="*/ 1 w 1057"/>
                    <a:gd name="T7" fmla="*/ 627 h 6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57" h="627">
                      <a:moveTo>
                        <a:pt x="1057" y="0"/>
                      </a:moveTo>
                      <a:lnTo>
                        <a:pt x="309" y="183"/>
                      </a:lnTo>
                      <a:lnTo>
                        <a:pt x="0" y="627"/>
                      </a:lnTo>
                      <a:lnTo>
                        <a:pt x="1" y="627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23" name="Freeform 45"/>
                <p:cNvSpPr>
                  <a:spLocks noChangeAspect="1" noChangeArrowheads="1"/>
                </p:cNvSpPr>
                <p:nvPr/>
              </p:nvSpPr>
              <p:spPr bwMode="auto">
                <a:xfrm>
                  <a:off x="2839" y="2664"/>
                  <a:ext cx="118" cy="69"/>
                </a:xfrm>
                <a:custGeom>
                  <a:avLst/>
                  <a:gdLst>
                    <a:gd name="T0" fmla="*/ 0 w 1058"/>
                    <a:gd name="T1" fmla="*/ 0 h 626"/>
                    <a:gd name="T2" fmla="*/ 309 w 1058"/>
                    <a:gd name="T3" fmla="*/ 443 h 626"/>
                    <a:gd name="T4" fmla="*/ 1057 w 1058"/>
                    <a:gd name="T5" fmla="*/ 626 h 626"/>
                    <a:gd name="T6" fmla="*/ 1058 w 1058"/>
                    <a:gd name="T7" fmla="*/ 626 h 6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58" h="626">
                      <a:moveTo>
                        <a:pt x="0" y="0"/>
                      </a:moveTo>
                      <a:lnTo>
                        <a:pt x="309" y="443"/>
                      </a:lnTo>
                      <a:lnTo>
                        <a:pt x="1057" y="626"/>
                      </a:lnTo>
                      <a:lnTo>
                        <a:pt x="1058" y="626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24" name="Freeform 46"/>
                <p:cNvSpPr>
                  <a:spLocks noChangeAspect="1" noChangeArrowheads="1"/>
                </p:cNvSpPr>
                <p:nvPr/>
              </p:nvSpPr>
              <p:spPr bwMode="auto">
                <a:xfrm>
                  <a:off x="2435" y="2980"/>
                  <a:ext cx="1099" cy="1"/>
                </a:xfrm>
                <a:custGeom>
                  <a:avLst/>
                  <a:gdLst>
                    <a:gd name="T0" fmla="*/ 9885 w 9885"/>
                    <a:gd name="T1" fmla="*/ 0 h 1"/>
                    <a:gd name="T2" fmla="*/ 0 w 9885"/>
                    <a:gd name="T3" fmla="*/ 0 h 1"/>
                    <a:gd name="T4" fmla="*/ 1 w 9885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885" h="1">
                      <a:moveTo>
                        <a:pt x="9885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25" name="Freeform 47"/>
                <p:cNvSpPr>
                  <a:spLocks noChangeAspect="1" noChangeArrowheads="1"/>
                </p:cNvSpPr>
                <p:nvPr/>
              </p:nvSpPr>
              <p:spPr bwMode="auto">
                <a:xfrm>
                  <a:off x="2435" y="2342"/>
                  <a:ext cx="1099" cy="1"/>
                </a:xfrm>
                <a:custGeom>
                  <a:avLst/>
                  <a:gdLst>
                    <a:gd name="T0" fmla="*/ 0 w 9886"/>
                    <a:gd name="T1" fmla="*/ 0 h 1"/>
                    <a:gd name="T2" fmla="*/ 9885 w 9886"/>
                    <a:gd name="T3" fmla="*/ 0 h 1"/>
                    <a:gd name="T4" fmla="*/ 9886 w 9886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886" h="1">
                      <a:moveTo>
                        <a:pt x="0" y="0"/>
                      </a:moveTo>
                      <a:lnTo>
                        <a:pt x="9885" y="0"/>
                      </a:lnTo>
                      <a:lnTo>
                        <a:pt x="9886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26" name="Freeform 48"/>
                <p:cNvSpPr>
                  <a:spLocks noChangeAspect="1" noChangeArrowheads="1"/>
                </p:cNvSpPr>
                <p:nvPr/>
              </p:nvSpPr>
              <p:spPr bwMode="auto">
                <a:xfrm>
                  <a:off x="2839" y="2658"/>
                  <a:ext cx="1" cy="6"/>
                </a:xfrm>
                <a:custGeom>
                  <a:avLst/>
                  <a:gdLst>
                    <a:gd name="T0" fmla="*/ 0 w 1"/>
                    <a:gd name="T1" fmla="*/ 0 h 51"/>
                    <a:gd name="T2" fmla="*/ 0 w 1"/>
                    <a:gd name="T3" fmla="*/ 51 h 51"/>
                    <a:gd name="T4" fmla="*/ 1 w 1"/>
                    <a:gd name="T5" fmla="*/ 51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51">
                      <a:moveTo>
                        <a:pt x="0" y="0"/>
                      </a:moveTo>
                      <a:lnTo>
                        <a:pt x="0" y="51"/>
                      </a:lnTo>
                      <a:lnTo>
                        <a:pt x="1" y="51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27" name="Freeform 49"/>
                <p:cNvSpPr>
                  <a:spLocks noChangeAspect="1" noChangeArrowheads="1"/>
                </p:cNvSpPr>
                <p:nvPr/>
              </p:nvSpPr>
              <p:spPr bwMode="auto">
                <a:xfrm>
                  <a:off x="3215" y="2342"/>
                  <a:ext cx="637" cy="638"/>
                </a:xfrm>
                <a:custGeom>
                  <a:avLst/>
                  <a:gdLst>
                    <a:gd name="T0" fmla="*/ 5717 w 5732"/>
                    <a:gd name="T1" fmla="*/ 2587 h 5737"/>
                    <a:gd name="T2" fmla="*/ 5607 w 5732"/>
                    <a:gd name="T3" fmla="*/ 2036 h 5737"/>
                    <a:gd name="T4" fmla="*/ 5392 w 5732"/>
                    <a:gd name="T5" fmla="*/ 1516 h 5737"/>
                    <a:gd name="T6" fmla="*/ 5080 w 5732"/>
                    <a:gd name="T7" fmla="*/ 1048 h 5737"/>
                    <a:gd name="T8" fmla="*/ 4683 w 5732"/>
                    <a:gd name="T9" fmla="*/ 651 h 5737"/>
                    <a:gd name="T10" fmla="*/ 4216 w 5732"/>
                    <a:gd name="T11" fmla="*/ 338 h 5737"/>
                    <a:gd name="T12" fmla="*/ 3697 w 5732"/>
                    <a:gd name="T13" fmla="*/ 123 h 5737"/>
                    <a:gd name="T14" fmla="*/ 3147 w 5732"/>
                    <a:gd name="T15" fmla="*/ 13 h 5737"/>
                    <a:gd name="T16" fmla="*/ 2584 w 5732"/>
                    <a:gd name="T17" fmla="*/ 13 h 5737"/>
                    <a:gd name="T18" fmla="*/ 2034 w 5732"/>
                    <a:gd name="T19" fmla="*/ 123 h 5737"/>
                    <a:gd name="T20" fmla="*/ 1514 w 5732"/>
                    <a:gd name="T21" fmla="*/ 338 h 5737"/>
                    <a:gd name="T22" fmla="*/ 1048 w 5732"/>
                    <a:gd name="T23" fmla="*/ 651 h 5737"/>
                    <a:gd name="T24" fmla="*/ 650 w 5732"/>
                    <a:gd name="T25" fmla="*/ 1048 h 5737"/>
                    <a:gd name="T26" fmla="*/ 339 w 5732"/>
                    <a:gd name="T27" fmla="*/ 1516 h 5737"/>
                    <a:gd name="T28" fmla="*/ 124 w 5732"/>
                    <a:gd name="T29" fmla="*/ 2036 h 5737"/>
                    <a:gd name="T30" fmla="*/ 14 w 5732"/>
                    <a:gd name="T31" fmla="*/ 2587 h 5737"/>
                    <a:gd name="T32" fmla="*/ 14 w 5732"/>
                    <a:gd name="T33" fmla="*/ 3149 h 5737"/>
                    <a:gd name="T34" fmla="*/ 124 w 5732"/>
                    <a:gd name="T35" fmla="*/ 3701 h 5737"/>
                    <a:gd name="T36" fmla="*/ 339 w 5732"/>
                    <a:gd name="T37" fmla="*/ 4221 h 5737"/>
                    <a:gd name="T38" fmla="*/ 650 w 5732"/>
                    <a:gd name="T39" fmla="*/ 4688 h 5737"/>
                    <a:gd name="T40" fmla="*/ 1048 w 5732"/>
                    <a:gd name="T41" fmla="*/ 5086 h 5737"/>
                    <a:gd name="T42" fmla="*/ 1514 w 5732"/>
                    <a:gd name="T43" fmla="*/ 5398 h 5737"/>
                    <a:gd name="T44" fmla="*/ 2034 w 5732"/>
                    <a:gd name="T45" fmla="*/ 5614 h 5737"/>
                    <a:gd name="T46" fmla="*/ 2584 w 5732"/>
                    <a:gd name="T47" fmla="*/ 5723 h 5737"/>
                    <a:gd name="T48" fmla="*/ 3147 w 5732"/>
                    <a:gd name="T49" fmla="*/ 5723 h 5737"/>
                    <a:gd name="T50" fmla="*/ 3697 w 5732"/>
                    <a:gd name="T51" fmla="*/ 5614 h 5737"/>
                    <a:gd name="T52" fmla="*/ 4216 w 5732"/>
                    <a:gd name="T53" fmla="*/ 5398 h 5737"/>
                    <a:gd name="T54" fmla="*/ 4683 w 5732"/>
                    <a:gd name="T55" fmla="*/ 5086 h 5737"/>
                    <a:gd name="T56" fmla="*/ 5080 w 5732"/>
                    <a:gd name="T57" fmla="*/ 4688 h 5737"/>
                    <a:gd name="T58" fmla="*/ 5392 w 5732"/>
                    <a:gd name="T59" fmla="*/ 4221 h 5737"/>
                    <a:gd name="T60" fmla="*/ 5607 w 5732"/>
                    <a:gd name="T61" fmla="*/ 3701 h 5737"/>
                    <a:gd name="T62" fmla="*/ 5717 w 5732"/>
                    <a:gd name="T63" fmla="*/ 3149 h 5737"/>
                    <a:gd name="T64" fmla="*/ 5732 w 5732"/>
                    <a:gd name="T65" fmla="*/ 2868 h 57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5732" h="5737">
                      <a:moveTo>
                        <a:pt x="5731" y="2868"/>
                      </a:moveTo>
                      <a:lnTo>
                        <a:pt x="5717" y="2587"/>
                      </a:lnTo>
                      <a:lnTo>
                        <a:pt x="5676" y="2309"/>
                      </a:lnTo>
                      <a:lnTo>
                        <a:pt x="5607" y="2036"/>
                      </a:lnTo>
                      <a:lnTo>
                        <a:pt x="5512" y="1771"/>
                      </a:lnTo>
                      <a:lnTo>
                        <a:pt x="5392" y="1516"/>
                      </a:lnTo>
                      <a:lnTo>
                        <a:pt x="5248" y="1274"/>
                      </a:lnTo>
                      <a:lnTo>
                        <a:pt x="5080" y="1048"/>
                      </a:lnTo>
                      <a:lnTo>
                        <a:pt x="4892" y="839"/>
                      </a:lnTo>
                      <a:lnTo>
                        <a:pt x="4683" y="651"/>
                      </a:lnTo>
                      <a:lnTo>
                        <a:pt x="4457" y="483"/>
                      </a:lnTo>
                      <a:lnTo>
                        <a:pt x="4216" y="338"/>
                      </a:lnTo>
                      <a:lnTo>
                        <a:pt x="3962" y="218"/>
                      </a:lnTo>
                      <a:lnTo>
                        <a:pt x="3697" y="123"/>
                      </a:lnTo>
                      <a:lnTo>
                        <a:pt x="3425" y="55"/>
                      </a:lnTo>
                      <a:lnTo>
                        <a:pt x="3147" y="13"/>
                      </a:lnTo>
                      <a:lnTo>
                        <a:pt x="2865" y="0"/>
                      </a:lnTo>
                      <a:lnTo>
                        <a:pt x="2584" y="13"/>
                      </a:lnTo>
                      <a:lnTo>
                        <a:pt x="2306" y="55"/>
                      </a:lnTo>
                      <a:lnTo>
                        <a:pt x="2034" y="123"/>
                      </a:lnTo>
                      <a:lnTo>
                        <a:pt x="1769" y="218"/>
                      </a:lnTo>
                      <a:lnTo>
                        <a:pt x="1514" y="338"/>
                      </a:lnTo>
                      <a:lnTo>
                        <a:pt x="1273" y="483"/>
                      </a:lnTo>
                      <a:lnTo>
                        <a:pt x="1048" y="651"/>
                      </a:lnTo>
                      <a:lnTo>
                        <a:pt x="839" y="839"/>
                      </a:lnTo>
                      <a:lnTo>
                        <a:pt x="650" y="1048"/>
                      </a:lnTo>
                      <a:lnTo>
                        <a:pt x="483" y="1274"/>
                      </a:lnTo>
                      <a:lnTo>
                        <a:pt x="339" y="1516"/>
                      </a:lnTo>
                      <a:lnTo>
                        <a:pt x="218" y="1771"/>
                      </a:lnTo>
                      <a:lnTo>
                        <a:pt x="124" y="2036"/>
                      </a:lnTo>
                      <a:lnTo>
                        <a:pt x="55" y="2309"/>
                      </a:lnTo>
                      <a:lnTo>
                        <a:pt x="14" y="2587"/>
                      </a:lnTo>
                      <a:lnTo>
                        <a:pt x="0" y="2868"/>
                      </a:lnTo>
                      <a:lnTo>
                        <a:pt x="14" y="3149"/>
                      </a:lnTo>
                      <a:lnTo>
                        <a:pt x="55" y="3428"/>
                      </a:lnTo>
                      <a:lnTo>
                        <a:pt x="124" y="3701"/>
                      </a:lnTo>
                      <a:lnTo>
                        <a:pt x="218" y="3966"/>
                      </a:lnTo>
                      <a:lnTo>
                        <a:pt x="339" y="4221"/>
                      </a:lnTo>
                      <a:lnTo>
                        <a:pt x="483" y="4463"/>
                      </a:lnTo>
                      <a:lnTo>
                        <a:pt x="650" y="4688"/>
                      </a:lnTo>
                      <a:lnTo>
                        <a:pt x="839" y="4897"/>
                      </a:lnTo>
                      <a:lnTo>
                        <a:pt x="1048" y="5086"/>
                      </a:lnTo>
                      <a:lnTo>
                        <a:pt x="1273" y="5253"/>
                      </a:lnTo>
                      <a:lnTo>
                        <a:pt x="1514" y="5398"/>
                      </a:lnTo>
                      <a:lnTo>
                        <a:pt x="1769" y="5519"/>
                      </a:lnTo>
                      <a:lnTo>
                        <a:pt x="2034" y="5614"/>
                      </a:lnTo>
                      <a:lnTo>
                        <a:pt x="2306" y="5682"/>
                      </a:lnTo>
                      <a:lnTo>
                        <a:pt x="2584" y="5723"/>
                      </a:lnTo>
                      <a:lnTo>
                        <a:pt x="2865" y="5737"/>
                      </a:lnTo>
                      <a:lnTo>
                        <a:pt x="3147" y="5723"/>
                      </a:lnTo>
                      <a:lnTo>
                        <a:pt x="3425" y="5682"/>
                      </a:lnTo>
                      <a:lnTo>
                        <a:pt x="3697" y="5614"/>
                      </a:lnTo>
                      <a:lnTo>
                        <a:pt x="3962" y="5519"/>
                      </a:lnTo>
                      <a:lnTo>
                        <a:pt x="4216" y="5398"/>
                      </a:lnTo>
                      <a:lnTo>
                        <a:pt x="4457" y="5253"/>
                      </a:lnTo>
                      <a:lnTo>
                        <a:pt x="4683" y="5086"/>
                      </a:lnTo>
                      <a:lnTo>
                        <a:pt x="4892" y="4897"/>
                      </a:lnTo>
                      <a:lnTo>
                        <a:pt x="5080" y="4688"/>
                      </a:lnTo>
                      <a:lnTo>
                        <a:pt x="5248" y="4463"/>
                      </a:lnTo>
                      <a:lnTo>
                        <a:pt x="5392" y="4221"/>
                      </a:lnTo>
                      <a:lnTo>
                        <a:pt x="5512" y="3966"/>
                      </a:lnTo>
                      <a:lnTo>
                        <a:pt x="5607" y="3701"/>
                      </a:lnTo>
                      <a:lnTo>
                        <a:pt x="5676" y="3428"/>
                      </a:lnTo>
                      <a:lnTo>
                        <a:pt x="5717" y="3149"/>
                      </a:lnTo>
                      <a:lnTo>
                        <a:pt x="5731" y="2868"/>
                      </a:lnTo>
                      <a:lnTo>
                        <a:pt x="5732" y="2868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28" name="Freeform 50"/>
                <p:cNvSpPr>
                  <a:spLocks noChangeAspect="1" noChangeArrowheads="1"/>
                </p:cNvSpPr>
                <p:nvPr/>
              </p:nvSpPr>
              <p:spPr bwMode="auto">
                <a:xfrm>
                  <a:off x="3389" y="2516"/>
                  <a:ext cx="290" cy="290"/>
                </a:xfrm>
                <a:custGeom>
                  <a:avLst/>
                  <a:gdLst>
                    <a:gd name="T0" fmla="*/ 2605 w 2606"/>
                    <a:gd name="T1" fmla="*/ 1304 h 2608"/>
                    <a:gd name="T2" fmla="*/ 2591 w 2606"/>
                    <a:gd name="T3" fmla="*/ 1119 h 2608"/>
                    <a:gd name="T4" fmla="*/ 2552 w 2606"/>
                    <a:gd name="T5" fmla="*/ 937 h 2608"/>
                    <a:gd name="T6" fmla="*/ 2487 w 2606"/>
                    <a:gd name="T7" fmla="*/ 763 h 2608"/>
                    <a:gd name="T8" fmla="*/ 2398 w 2606"/>
                    <a:gd name="T9" fmla="*/ 599 h 2608"/>
                    <a:gd name="T10" fmla="*/ 2287 w 2606"/>
                    <a:gd name="T11" fmla="*/ 450 h 2608"/>
                    <a:gd name="T12" fmla="*/ 2155 w 2606"/>
                    <a:gd name="T13" fmla="*/ 319 h 2608"/>
                    <a:gd name="T14" fmla="*/ 2007 w 2606"/>
                    <a:gd name="T15" fmla="*/ 208 h 2608"/>
                    <a:gd name="T16" fmla="*/ 1843 w 2606"/>
                    <a:gd name="T17" fmla="*/ 118 h 2608"/>
                    <a:gd name="T18" fmla="*/ 1669 w 2606"/>
                    <a:gd name="T19" fmla="*/ 53 h 2608"/>
                    <a:gd name="T20" fmla="*/ 1488 w 2606"/>
                    <a:gd name="T21" fmla="*/ 14 h 2608"/>
                    <a:gd name="T22" fmla="*/ 1302 w 2606"/>
                    <a:gd name="T23" fmla="*/ 0 h 2608"/>
                    <a:gd name="T24" fmla="*/ 1117 w 2606"/>
                    <a:gd name="T25" fmla="*/ 14 h 2608"/>
                    <a:gd name="T26" fmla="*/ 936 w 2606"/>
                    <a:gd name="T27" fmla="*/ 53 h 2608"/>
                    <a:gd name="T28" fmla="*/ 761 w 2606"/>
                    <a:gd name="T29" fmla="*/ 118 h 2608"/>
                    <a:gd name="T30" fmla="*/ 598 w 2606"/>
                    <a:gd name="T31" fmla="*/ 208 h 2608"/>
                    <a:gd name="T32" fmla="*/ 450 w 2606"/>
                    <a:gd name="T33" fmla="*/ 319 h 2608"/>
                    <a:gd name="T34" fmla="*/ 318 w 2606"/>
                    <a:gd name="T35" fmla="*/ 450 h 2608"/>
                    <a:gd name="T36" fmla="*/ 207 w 2606"/>
                    <a:gd name="T37" fmla="*/ 599 h 2608"/>
                    <a:gd name="T38" fmla="*/ 118 w 2606"/>
                    <a:gd name="T39" fmla="*/ 763 h 2608"/>
                    <a:gd name="T40" fmla="*/ 52 w 2606"/>
                    <a:gd name="T41" fmla="*/ 937 h 2608"/>
                    <a:gd name="T42" fmla="*/ 14 w 2606"/>
                    <a:gd name="T43" fmla="*/ 1119 h 2608"/>
                    <a:gd name="T44" fmla="*/ 0 w 2606"/>
                    <a:gd name="T45" fmla="*/ 1304 h 2608"/>
                    <a:gd name="T46" fmla="*/ 14 w 2606"/>
                    <a:gd name="T47" fmla="*/ 1489 h 2608"/>
                    <a:gd name="T48" fmla="*/ 52 w 2606"/>
                    <a:gd name="T49" fmla="*/ 1672 h 2608"/>
                    <a:gd name="T50" fmla="*/ 118 w 2606"/>
                    <a:gd name="T51" fmla="*/ 1846 h 2608"/>
                    <a:gd name="T52" fmla="*/ 207 w 2606"/>
                    <a:gd name="T53" fmla="*/ 2009 h 2608"/>
                    <a:gd name="T54" fmla="*/ 318 w 2606"/>
                    <a:gd name="T55" fmla="*/ 2158 h 2608"/>
                    <a:gd name="T56" fmla="*/ 450 w 2606"/>
                    <a:gd name="T57" fmla="*/ 2289 h 2608"/>
                    <a:gd name="T58" fmla="*/ 598 w 2606"/>
                    <a:gd name="T59" fmla="*/ 2401 h 2608"/>
                    <a:gd name="T60" fmla="*/ 761 w 2606"/>
                    <a:gd name="T61" fmla="*/ 2490 h 2608"/>
                    <a:gd name="T62" fmla="*/ 936 w 2606"/>
                    <a:gd name="T63" fmla="*/ 2555 h 2608"/>
                    <a:gd name="T64" fmla="*/ 1117 w 2606"/>
                    <a:gd name="T65" fmla="*/ 2595 h 2608"/>
                    <a:gd name="T66" fmla="*/ 1302 w 2606"/>
                    <a:gd name="T67" fmla="*/ 2608 h 2608"/>
                    <a:gd name="T68" fmla="*/ 1488 w 2606"/>
                    <a:gd name="T69" fmla="*/ 2595 h 2608"/>
                    <a:gd name="T70" fmla="*/ 1669 w 2606"/>
                    <a:gd name="T71" fmla="*/ 2555 h 2608"/>
                    <a:gd name="T72" fmla="*/ 1843 w 2606"/>
                    <a:gd name="T73" fmla="*/ 2490 h 2608"/>
                    <a:gd name="T74" fmla="*/ 2007 w 2606"/>
                    <a:gd name="T75" fmla="*/ 2401 h 2608"/>
                    <a:gd name="T76" fmla="*/ 2155 w 2606"/>
                    <a:gd name="T77" fmla="*/ 2289 h 2608"/>
                    <a:gd name="T78" fmla="*/ 2287 w 2606"/>
                    <a:gd name="T79" fmla="*/ 2158 h 2608"/>
                    <a:gd name="T80" fmla="*/ 2398 w 2606"/>
                    <a:gd name="T81" fmla="*/ 2009 h 2608"/>
                    <a:gd name="T82" fmla="*/ 2487 w 2606"/>
                    <a:gd name="T83" fmla="*/ 1846 h 2608"/>
                    <a:gd name="T84" fmla="*/ 2552 w 2606"/>
                    <a:gd name="T85" fmla="*/ 1672 h 2608"/>
                    <a:gd name="T86" fmla="*/ 2591 w 2606"/>
                    <a:gd name="T87" fmla="*/ 1489 h 2608"/>
                    <a:gd name="T88" fmla="*/ 2605 w 2606"/>
                    <a:gd name="T89" fmla="*/ 1304 h 2608"/>
                    <a:gd name="T90" fmla="*/ 2606 w 2606"/>
                    <a:gd name="T91" fmla="*/ 1304 h 26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606" h="2608">
                      <a:moveTo>
                        <a:pt x="2605" y="1304"/>
                      </a:moveTo>
                      <a:lnTo>
                        <a:pt x="2591" y="1119"/>
                      </a:lnTo>
                      <a:lnTo>
                        <a:pt x="2552" y="937"/>
                      </a:lnTo>
                      <a:lnTo>
                        <a:pt x="2487" y="763"/>
                      </a:lnTo>
                      <a:lnTo>
                        <a:pt x="2398" y="599"/>
                      </a:lnTo>
                      <a:lnTo>
                        <a:pt x="2287" y="450"/>
                      </a:lnTo>
                      <a:lnTo>
                        <a:pt x="2155" y="319"/>
                      </a:lnTo>
                      <a:lnTo>
                        <a:pt x="2007" y="208"/>
                      </a:lnTo>
                      <a:lnTo>
                        <a:pt x="1843" y="118"/>
                      </a:lnTo>
                      <a:lnTo>
                        <a:pt x="1669" y="53"/>
                      </a:lnTo>
                      <a:lnTo>
                        <a:pt x="1488" y="14"/>
                      </a:lnTo>
                      <a:lnTo>
                        <a:pt x="1302" y="0"/>
                      </a:lnTo>
                      <a:lnTo>
                        <a:pt x="1117" y="14"/>
                      </a:lnTo>
                      <a:lnTo>
                        <a:pt x="936" y="53"/>
                      </a:lnTo>
                      <a:lnTo>
                        <a:pt x="761" y="118"/>
                      </a:lnTo>
                      <a:lnTo>
                        <a:pt x="598" y="208"/>
                      </a:lnTo>
                      <a:lnTo>
                        <a:pt x="450" y="319"/>
                      </a:lnTo>
                      <a:lnTo>
                        <a:pt x="318" y="450"/>
                      </a:lnTo>
                      <a:lnTo>
                        <a:pt x="207" y="599"/>
                      </a:lnTo>
                      <a:lnTo>
                        <a:pt x="118" y="763"/>
                      </a:lnTo>
                      <a:lnTo>
                        <a:pt x="52" y="937"/>
                      </a:lnTo>
                      <a:lnTo>
                        <a:pt x="14" y="1119"/>
                      </a:lnTo>
                      <a:lnTo>
                        <a:pt x="0" y="1304"/>
                      </a:lnTo>
                      <a:lnTo>
                        <a:pt x="14" y="1489"/>
                      </a:lnTo>
                      <a:lnTo>
                        <a:pt x="52" y="1672"/>
                      </a:lnTo>
                      <a:lnTo>
                        <a:pt x="118" y="1846"/>
                      </a:lnTo>
                      <a:lnTo>
                        <a:pt x="207" y="2009"/>
                      </a:lnTo>
                      <a:lnTo>
                        <a:pt x="318" y="2158"/>
                      </a:lnTo>
                      <a:lnTo>
                        <a:pt x="450" y="2289"/>
                      </a:lnTo>
                      <a:lnTo>
                        <a:pt x="598" y="2401"/>
                      </a:lnTo>
                      <a:lnTo>
                        <a:pt x="761" y="2490"/>
                      </a:lnTo>
                      <a:lnTo>
                        <a:pt x="936" y="2555"/>
                      </a:lnTo>
                      <a:lnTo>
                        <a:pt x="1117" y="2595"/>
                      </a:lnTo>
                      <a:lnTo>
                        <a:pt x="1302" y="2608"/>
                      </a:lnTo>
                      <a:lnTo>
                        <a:pt x="1488" y="2595"/>
                      </a:lnTo>
                      <a:lnTo>
                        <a:pt x="1669" y="2555"/>
                      </a:lnTo>
                      <a:lnTo>
                        <a:pt x="1843" y="2490"/>
                      </a:lnTo>
                      <a:lnTo>
                        <a:pt x="2007" y="2401"/>
                      </a:lnTo>
                      <a:lnTo>
                        <a:pt x="2155" y="2289"/>
                      </a:lnTo>
                      <a:lnTo>
                        <a:pt x="2287" y="2158"/>
                      </a:lnTo>
                      <a:lnTo>
                        <a:pt x="2398" y="2009"/>
                      </a:lnTo>
                      <a:lnTo>
                        <a:pt x="2487" y="1846"/>
                      </a:lnTo>
                      <a:lnTo>
                        <a:pt x="2552" y="1672"/>
                      </a:lnTo>
                      <a:lnTo>
                        <a:pt x="2591" y="1489"/>
                      </a:lnTo>
                      <a:lnTo>
                        <a:pt x="2605" y="1304"/>
                      </a:lnTo>
                      <a:lnTo>
                        <a:pt x="2606" y="1304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29" name="Freeform 51"/>
                <p:cNvSpPr>
                  <a:spLocks noChangeAspect="1" noChangeArrowheads="1"/>
                </p:cNvSpPr>
                <p:nvPr/>
              </p:nvSpPr>
              <p:spPr bwMode="auto">
                <a:xfrm>
                  <a:off x="2957" y="2588"/>
                  <a:ext cx="267" cy="1"/>
                </a:xfrm>
                <a:custGeom>
                  <a:avLst/>
                  <a:gdLst>
                    <a:gd name="T0" fmla="*/ 0 w 2405"/>
                    <a:gd name="T1" fmla="*/ 0 h 1"/>
                    <a:gd name="T2" fmla="*/ 2404 w 2405"/>
                    <a:gd name="T3" fmla="*/ 0 h 1"/>
                    <a:gd name="T4" fmla="*/ 2405 w 2405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405" h="1">
                      <a:moveTo>
                        <a:pt x="0" y="0"/>
                      </a:moveTo>
                      <a:lnTo>
                        <a:pt x="2404" y="0"/>
                      </a:lnTo>
                      <a:lnTo>
                        <a:pt x="2405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30" name="Freeform 52"/>
                <p:cNvSpPr>
                  <a:spLocks noChangeAspect="1" noChangeArrowheads="1"/>
                </p:cNvSpPr>
                <p:nvPr/>
              </p:nvSpPr>
              <p:spPr bwMode="auto">
                <a:xfrm>
                  <a:off x="2957" y="2733"/>
                  <a:ext cx="267" cy="1"/>
                </a:xfrm>
                <a:custGeom>
                  <a:avLst/>
                  <a:gdLst>
                    <a:gd name="T0" fmla="*/ 2404 w 2404"/>
                    <a:gd name="T1" fmla="*/ 0 h 1"/>
                    <a:gd name="T2" fmla="*/ 0 w 2404"/>
                    <a:gd name="T3" fmla="*/ 0 h 1"/>
                    <a:gd name="T4" fmla="*/ 1 w 2404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404" h="1">
                      <a:moveTo>
                        <a:pt x="2404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32" name="Group 53"/>
              <p:cNvGrpSpPr>
                <a:grpSpLocks noChangeAspect="1"/>
              </p:cNvGrpSpPr>
              <p:nvPr/>
            </p:nvGrpSpPr>
            <p:grpSpPr bwMode="auto">
              <a:xfrm>
                <a:off x="576" y="672"/>
                <a:ext cx="3120" cy="2937"/>
                <a:chOff x="1893" y="1141"/>
                <a:chExt cx="2023" cy="1904"/>
              </a:xfrm>
            </p:grpSpPr>
            <p:sp>
              <p:nvSpPr>
                <p:cNvPr id="69" name="Freeform 54"/>
                <p:cNvSpPr>
                  <a:spLocks noChangeAspect="1" noChangeArrowheads="1"/>
                </p:cNvSpPr>
                <p:nvPr/>
              </p:nvSpPr>
              <p:spPr bwMode="auto">
                <a:xfrm>
                  <a:off x="1893" y="2661"/>
                  <a:ext cx="185" cy="1"/>
                </a:xfrm>
                <a:custGeom>
                  <a:avLst/>
                  <a:gdLst>
                    <a:gd name="T0" fmla="*/ 0 w 1658"/>
                    <a:gd name="T1" fmla="*/ 0 h 1"/>
                    <a:gd name="T2" fmla="*/ 1657 w 1658"/>
                    <a:gd name="T3" fmla="*/ 0 h 1"/>
                    <a:gd name="T4" fmla="*/ 1658 w 1658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658" h="1">
                      <a:moveTo>
                        <a:pt x="0" y="0"/>
                      </a:moveTo>
                      <a:lnTo>
                        <a:pt x="1657" y="0"/>
                      </a:lnTo>
                      <a:lnTo>
                        <a:pt x="1658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70" name="Freeform 55"/>
                <p:cNvSpPr>
                  <a:spLocks noChangeAspect="1" noChangeArrowheads="1"/>
                </p:cNvSpPr>
                <p:nvPr/>
              </p:nvSpPr>
              <p:spPr bwMode="auto">
                <a:xfrm>
                  <a:off x="2114" y="2661"/>
                  <a:ext cx="37" cy="1"/>
                </a:xfrm>
                <a:custGeom>
                  <a:avLst/>
                  <a:gdLst>
                    <a:gd name="T0" fmla="*/ 0 w 331"/>
                    <a:gd name="T1" fmla="*/ 0 h 1"/>
                    <a:gd name="T2" fmla="*/ 330 w 331"/>
                    <a:gd name="T3" fmla="*/ 0 h 1"/>
                    <a:gd name="T4" fmla="*/ 331 w 33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31" h="1">
                      <a:moveTo>
                        <a:pt x="0" y="0"/>
                      </a:moveTo>
                      <a:lnTo>
                        <a:pt x="330" y="0"/>
                      </a:lnTo>
                      <a:lnTo>
                        <a:pt x="331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71" name="Freeform 56"/>
                <p:cNvSpPr>
                  <a:spLocks noChangeAspect="1" noChangeArrowheads="1"/>
                </p:cNvSpPr>
                <p:nvPr/>
              </p:nvSpPr>
              <p:spPr bwMode="auto">
                <a:xfrm>
                  <a:off x="2188" y="2661"/>
                  <a:ext cx="37" cy="1"/>
                </a:xfrm>
                <a:custGeom>
                  <a:avLst/>
                  <a:gdLst>
                    <a:gd name="T0" fmla="*/ 0 w 332"/>
                    <a:gd name="T1" fmla="*/ 0 h 1"/>
                    <a:gd name="T2" fmla="*/ 331 w 332"/>
                    <a:gd name="T3" fmla="*/ 0 h 1"/>
                    <a:gd name="T4" fmla="*/ 332 w 33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32" h="1">
                      <a:moveTo>
                        <a:pt x="0" y="0"/>
                      </a:moveTo>
                      <a:lnTo>
                        <a:pt x="331" y="0"/>
                      </a:lnTo>
                      <a:lnTo>
                        <a:pt x="332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72" name="Freeform 57"/>
                <p:cNvSpPr>
                  <a:spLocks noChangeAspect="1" noChangeArrowheads="1"/>
                </p:cNvSpPr>
                <p:nvPr/>
              </p:nvSpPr>
              <p:spPr bwMode="auto">
                <a:xfrm>
                  <a:off x="2261" y="2661"/>
                  <a:ext cx="184" cy="1"/>
                </a:xfrm>
                <a:custGeom>
                  <a:avLst/>
                  <a:gdLst>
                    <a:gd name="T0" fmla="*/ 0 w 1656"/>
                    <a:gd name="T1" fmla="*/ 0 h 1"/>
                    <a:gd name="T2" fmla="*/ 1655 w 1656"/>
                    <a:gd name="T3" fmla="*/ 0 h 1"/>
                    <a:gd name="T4" fmla="*/ 1656 w 1656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656" h="1">
                      <a:moveTo>
                        <a:pt x="0" y="0"/>
                      </a:moveTo>
                      <a:lnTo>
                        <a:pt x="1655" y="0"/>
                      </a:lnTo>
                      <a:lnTo>
                        <a:pt x="1656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73" name="Freeform 58"/>
                <p:cNvSpPr>
                  <a:spLocks noChangeAspect="1" noChangeArrowheads="1"/>
                </p:cNvSpPr>
                <p:nvPr/>
              </p:nvSpPr>
              <p:spPr bwMode="auto">
                <a:xfrm>
                  <a:off x="2482" y="2661"/>
                  <a:ext cx="37" cy="1"/>
                </a:xfrm>
                <a:custGeom>
                  <a:avLst/>
                  <a:gdLst>
                    <a:gd name="T0" fmla="*/ 0 w 331"/>
                    <a:gd name="T1" fmla="*/ 0 h 1"/>
                    <a:gd name="T2" fmla="*/ 330 w 331"/>
                    <a:gd name="T3" fmla="*/ 0 h 1"/>
                    <a:gd name="T4" fmla="*/ 331 w 33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31" h="1">
                      <a:moveTo>
                        <a:pt x="0" y="0"/>
                      </a:moveTo>
                      <a:lnTo>
                        <a:pt x="330" y="0"/>
                      </a:lnTo>
                      <a:lnTo>
                        <a:pt x="331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74" name="Freeform 59"/>
                <p:cNvSpPr>
                  <a:spLocks noChangeAspect="1" noChangeArrowheads="1"/>
                </p:cNvSpPr>
                <p:nvPr/>
              </p:nvSpPr>
              <p:spPr bwMode="auto">
                <a:xfrm>
                  <a:off x="2555" y="2661"/>
                  <a:ext cx="37" cy="1"/>
                </a:xfrm>
                <a:custGeom>
                  <a:avLst/>
                  <a:gdLst>
                    <a:gd name="T0" fmla="*/ 0 w 333"/>
                    <a:gd name="T1" fmla="*/ 0 h 1"/>
                    <a:gd name="T2" fmla="*/ 332 w 333"/>
                    <a:gd name="T3" fmla="*/ 0 h 1"/>
                    <a:gd name="T4" fmla="*/ 333 w 333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33" h="1">
                      <a:moveTo>
                        <a:pt x="0" y="0"/>
                      </a:moveTo>
                      <a:lnTo>
                        <a:pt x="332" y="0"/>
                      </a:lnTo>
                      <a:lnTo>
                        <a:pt x="333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75" name="Freeform 60"/>
                <p:cNvSpPr>
                  <a:spLocks noChangeAspect="1" noChangeArrowheads="1"/>
                </p:cNvSpPr>
                <p:nvPr/>
              </p:nvSpPr>
              <p:spPr bwMode="auto">
                <a:xfrm>
                  <a:off x="2629" y="2661"/>
                  <a:ext cx="184" cy="1"/>
                </a:xfrm>
                <a:custGeom>
                  <a:avLst/>
                  <a:gdLst>
                    <a:gd name="T0" fmla="*/ 0 w 1655"/>
                    <a:gd name="T1" fmla="*/ 0 h 1"/>
                    <a:gd name="T2" fmla="*/ 1654 w 1655"/>
                    <a:gd name="T3" fmla="*/ 0 h 1"/>
                    <a:gd name="T4" fmla="*/ 1655 w 1655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655" h="1">
                      <a:moveTo>
                        <a:pt x="0" y="0"/>
                      </a:moveTo>
                      <a:lnTo>
                        <a:pt x="1654" y="0"/>
                      </a:lnTo>
                      <a:lnTo>
                        <a:pt x="1655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76" name="Freeform 61"/>
                <p:cNvSpPr>
                  <a:spLocks noChangeAspect="1" noChangeArrowheads="1"/>
                </p:cNvSpPr>
                <p:nvPr/>
              </p:nvSpPr>
              <p:spPr bwMode="auto">
                <a:xfrm>
                  <a:off x="2849" y="2661"/>
                  <a:ext cx="37" cy="1"/>
                </a:xfrm>
                <a:custGeom>
                  <a:avLst/>
                  <a:gdLst>
                    <a:gd name="T0" fmla="*/ 0 w 332"/>
                    <a:gd name="T1" fmla="*/ 0 h 1"/>
                    <a:gd name="T2" fmla="*/ 331 w 332"/>
                    <a:gd name="T3" fmla="*/ 0 h 1"/>
                    <a:gd name="T4" fmla="*/ 332 w 33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32" h="1">
                      <a:moveTo>
                        <a:pt x="0" y="0"/>
                      </a:moveTo>
                      <a:lnTo>
                        <a:pt x="331" y="0"/>
                      </a:lnTo>
                      <a:lnTo>
                        <a:pt x="332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77" name="Freeform 62"/>
                <p:cNvSpPr>
                  <a:spLocks noChangeAspect="1" noChangeArrowheads="1"/>
                </p:cNvSpPr>
                <p:nvPr/>
              </p:nvSpPr>
              <p:spPr bwMode="auto">
                <a:xfrm>
                  <a:off x="2923" y="2661"/>
                  <a:ext cx="37" cy="1"/>
                </a:xfrm>
                <a:custGeom>
                  <a:avLst/>
                  <a:gdLst>
                    <a:gd name="T0" fmla="*/ 0 w 332"/>
                    <a:gd name="T1" fmla="*/ 0 h 1"/>
                    <a:gd name="T2" fmla="*/ 331 w 332"/>
                    <a:gd name="T3" fmla="*/ 0 h 1"/>
                    <a:gd name="T4" fmla="*/ 332 w 33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32" h="1">
                      <a:moveTo>
                        <a:pt x="0" y="0"/>
                      </a:moveTo>
                      <a:lnTo>
                        <a:pt x="331" y="0"/>
                      </a:lnTo>
                      <a:lnTo>
                        <a:pt x="332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78" name="Freeform 63"/>
                <p:cNvSpPr>
                  <a:spLocks noChangeAspect="1" noChangeArrowheads="1"/>
                </p:cNvSpPr>
                <p:nvPr/>
              </p:nvSpPr>
              <p:spPr bwMode="auto">
                <a:xfrm>
                  <a:off x="2996" y="2661"/>
                  <a:ext cx="184" cy="1"/>
                </a:xfrm>
                <a:custGeom>
                  <a:avLst/>
                  <a:gdLst>
                    <a:gd name="T0" fmla="*/ 0 w 1656"/>
                    <a:gd name="T1" fmla="*/ 0 h 1"/>
                    <a:gd name="T2" fmla="*/ 1655 w 1656"/>
                    <a:gd name="T3" fmla="*/ 0 h 1"/>
                    <a:gd name="T4" fmla="*/ 1656 w 1656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656" h="1">
                      <a:moveTo>
                        <a:pt x="0" y="0"/>
                      </a:moveTo>
                      <a:lnTo>
                        <a:pt x="1655" y="0"/>
                      </a:lnTo>
                      <a:lnTo>
                        <a:pt x="1656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79" name="Freeform 64"/>
                <p:cNvSpPr>
                  <a:spLocks noChangeAspect="1" noChangeArrowheads="1"/>
                </p:cNvSpPr>
                <p:nvPr/>
              </p:nvSpPr>
              <p:spPr bwMode="auto">
                <a:xfrm>
                  <a:off x="3217" y="2661"/>
                  <a:ext cx="37" cy="1"/>
                </a:xfrm>
                <a:custGeom>
                  <a:avLst/>
                  <a:gdLst>
                    <a:gd name="T0" fmla="*/ 0 w 331"/>
                    <a:gd name="T1" fmla="*/ 0 h 1"/>
                    <a:gd name="T2" fmla="*/ 330 w 331"/>
                    <a:gd name="T3" fmla="*/ 0 h 1"/>
                    <a:gd name="T4" fmla="*/ 331 w 33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31" h="1">
                      <a:moveTo>
                        <a:pt x="0" y="0"/>
                      </a:moveTo>
                      <a:lnTo>
                        <a:pt x="330" y="0"/>
                      </a:lnTo>
                      <a:lnTo>
                        <a:pt x="331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80" name="Freeform 65"/>
                <p:cNvSpPr>
                  <a:spLocks noChangeAspect="1" noChangeArrowheads="1"/>
                </p:cNvSpPr>
                <p:nvPr/>
              </p:nvSpPr>
              <p:spPr bwMode="auto">
                <a:xfrm>
                  <a:off x="3291" y="2661"/>
                  <a:ext cx="36" cy="1"/>
                </a:xfrm>
                <a:custGeom>
                  <a:avLst/>
                  <a:gdLst>
                    <a:gd name="T0" fmla="*/ 0 w 332"/>
                    <a:gd name="T1" fmla="*/ 0 h 1"/>
                    <a:gd name="T2" fmla="*/ 331 w 332"/>
                    <a:gd name="T3" fmla="*/ 0 h 1"/>
                    <a:gd name="T4" fmla="*/ 332 w 33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32" h="1">
                      <a:moveTo>
                        <a:pt x="0" y="0"/>
                      </a:moveTo>
                      <a:lnTo>
                        <a:pt x="331" y="0"/>
                      </a:lnTo>
                      <a:lnTo>
                        <a:pt x="332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81" name="Freeform 66"/>
                <p:cNvSpPr>
                  <a:spLocks noChangeAspect="1" noChangeArrowheads="1"/>
                </p:cNvSpPr>
                <p:nvPr/>
              </p:nvSpPr>
              <p:spPr bwMode="auto">
                <a:xfrm>
                  <a:off x="3364" y="2661"/>
                  <a:ext cx="184" cy="1"/>
                </a:xfrm>
                <a:custGeom>
                  <a:avLst/>
                  <a:gdLst>
                    <a:gd name="T0" fmla="*/ 0 w 1656"/>
                    <a:gd name="T1" fmla="*/ 0 h 1"/>
                    <a:gd name="T2" fmla="*/ 1655 w 1656"/>
                    <a:gd name="T3" fmla="*/ 0 h 1"/>
                    <a:gd name="T4" fmla="*/ 1656 w 1656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656" h="1">
                      <a:moveTo>
                        <a:pt x="0" y="0"/>
                      </a:moveTo>
                      <a:lnTo>
                        <a:pt x="1655" y="0"/>
                      </a:lnTo>
                      <a:lnTo>
                        <a:pt x="1656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82" name="Freeform 67"/>
                <p:cNvSpPr>
                  <a:spLocks noChangeAspect="1" noChangeArrowheads="1"/>
                </p:cNvSpPr>
                <p:nvPr/>
              </p:nvSpPr>
              <p:spPr bwMode="auto">
                <a:xfrm>
                  <a:off x="3585" y="2661"/>
                  <a:ext cx="36" cy="1"/>
                </a:xfrm>
                <a:custGeom>
                  <a:avLst/>
                  <a:gdLst>
                    <a:gd name="T0" fmla="*/ 0 w 332"/>
                    <a:gd name="T1" fmla="*/ 0 h 1"/>
                    <a:gd name="T2" fmla="*/ 331 w 332"/>
                    <a:gd name="T3" fmla="*/ 0 h 1"/>
                    <a:gd name="T4" fmla="*/ 332 w 33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32" h="1">
                      <a:moveTo>
                        <a:pt x="0" y="0"/>
                      </a:moveTo>
                      <a:lnTo>
                        <a:pt x="331" y="0"/>
                      </a:lnTo>
                      <a:lnTo>
                        <a:pt x="332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83" name="Freeform 68"/>
                <p:cNvSpPr>
                  <a:spLocks noChangeAspect="1" noChangeArrowheads="1"/>
                </p:cNvSpPr>
                <p:nvPr/>
              </p:nvSpPr>
              <p:spPr bwMode="auto">
                <a:xfrm>
                  <a:off x="3658" y="2661"/>
                  <a:ext cx="37" cy="1"/>
                </a:xfrm>
                <a:custGeom>
                  <a:avLst/>
                  <a:gdLst>
                    <a:gd name="T0" fmla="*/ 0 w 332"/>
                    <a:gd name="T1" fmla="*/ 0 h 1"/>
                    <a:gd name="T2" fmla="*/ 331 w 332"/>
                    <a:gd name="T3" fmla="*/ 0 h 1"/>
                    <a:gd name="T4" fmla="*/ 332 w 33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32" h="1">
                      <a:moveTo>
                        <a:pt x="0" y="0"/>
                      </a:moveTo>
                      <a:lnTo>
                        <a:pt x="331" y="0"/>
                      </a:lnTo>
                      <a:lnTo>
                        <a:pt x="332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84" name="Freeform 69"/>
                <p:cNvSpPr>
                  <a:spLocks noChangeAspect="1" noChangeArrowheads="1"/>
                </p:cNvSpPr>
                <p:nvPr/>
              </p:nvSpPr>
              <p:spPr bwMode="auto">
                <a:xfrm>
                  <a:off x="3732" y="2661"/>
                  <a:ext cx="184" cy="1"/>
                </a:xfrm>
                <a:custGeom>
                  <a:avLst/>
                  <a:gdLst>
                    <a:gd name="T0" fmla="*/ 0 w 1658"/>
                    <a:gd name="T1" fmla="*/ 0 h 1"/>
                    <a:gd name="T2" fmla="*/ 1657 w 1658"/>
                    <a:gd name="T3" fmla="*/ 0 h 1"/>
                    <a:gd name="T4" fmla="*/ 1658 w 1658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658" h="1">
                      <a:moveTo>
                        <a:pt x="0" y="0"/>
                      </a:moveTo>
                      <a:lnTo>
                        <a:pt x="1657" y="0"/>
                      </a:lnTo>
                      <a:lnTo>
                        <a:pt x="1658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85" name="Freeform 70"/>
                <p:cNvSpPr>
                  <a:spLocks noChangeAspect="1" noChangeArrowheads="1"/>
                </p:cNvSpPr>
                <p:nvPr/>
              </p:nvSpPr>
              <p:spPr bwMode="auto">
                <a:xfrm>
                  <a:off x="3534" y="1141"/>
                  <a:ext cx="1" cy="261"/>
                </a:xfrm>
                <a:custGeom>
                  <a:avLst/>
                  <a:gdLst>
                    <a:gd name="T0" fmla="*/ 0 w 1"/>
                    <a:gd name="T1" fmla="*/ 0 h 2351"/>
                    <a:gd name="T2" fmla="*/ 0 w 1"/>
                    <a:gd name="T3" fmla="*/ 2351 h 2351"/>
                    <a:gd name="T4" fmla="*/ 1 w 1"/>
                    <a:gd name="T5" fmla="*/ 2351 h 23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351">
                      <a:moveTo>
                        <a:pt x="0" y="0"/>
                      </a:moveTo>
                      <a:lnTo>
                        <a:pt x="0" y="2351"/>
                      </a:lnTo>
                      <a:lnTo>
                        <a:pt x="1" y="2351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86" name="Freeform 71"/>
                <p:cNvSpPr>
                  <a:spLocks noChangeAspect="1" noChangeArrowheads="1"/>
                </p:cNvSpPr>
                <p:nvPr/>
              </p:nvSpPr>
              <p:spPr bwMode="auto">
                <a:xfrm>
                  <a:off x="3534" y="1476"/>
                  <a:ext cx="1" cy="74"/>
                </a:xfrm>
                <a:custGeom>
                  <a:avLst/>
                  <a:gdLst>
                    <a:gd name="T0" fmla="*/ 0 w 1"/>
                    <a:gd name="T1" fmla="*/ 0 h 664"/>
                    <a:gd name="T2" fmla="*/ 0 w 1"/>
                    <a:gd name="T3" fmla="*/ 664 h 664"/>
                    <a:gd name="T4" fmla="*/ 1 w 1"/>
                    <a:gd name="T5" fmla="*/ 664 h 6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664">
                      <a:moveTo>
                        <a:pt x="0" y="0"/>
                      </a:moveTo>
                      <a:lnTo>
                        <a:pt x="0" y="664"/>
                      </a:lnTo>
                      <a:lnTo>
                        <a:pt x="1" y="664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87" name="Freeform 72"/>
                <p:cNvSpPr>
                  <a:spLocks noChangeAspect="1" noChangeArrowheads="1"/>
                </p:cNvSpPr>
                <p:nvPr/>
              </p:nvSpPr>
              <p:spPr bwMode="auto">
                <a:xfrm>
                  <a:off x="3534" y="1623"/>
                  <a:ext cx="1" cy="262"/>
                </a:xfrm>
                <a:custGeom>
                  <a:avLst/>
                  <a:gdLst>
                    <a:gd name="T0" fmla="*/ 0 w 1"/>
                    <a:gd name="T1" fmla="*/ 0 h 2352"/>
                    <a:gd name="T2" fmla="*/ 0 w 1"/>
                    <a:gd name="T3" fmla="*/ 2352 h 2352"/>
                    <a:gd name="T4" fmla="*/ 1 w 1"/>
                    <a:gd name="T5" fmla="*/ 2352 h 2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352">
                      <a:moveTo>
                        <a:pt x="0" y="0"/>
                      </a:moveTo>
                      <a:lnTo>
                        <a:pt x="0" y="2352"/>
                      </a:lnTo>
                      <a:lnTo>
                        <a:pt x="1" y="2352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88" name="Freeform 73"/>
                <p:cNvSpPr>
                  <a:spLocks noChangeAspect="1" noChangeArrowheads="1"/>
                </p:cNvSpPr>
                <p:nvPr/>
              </p:nvSpPr>
              <p:spPr bwMode="auto">
                <a:xfrm>
                  <a:off x="3440" y="1515"/>
                  <a:ext cx="195" cy="1"/>
                </a:xfrm>
                <a:custGeom>
                  <a:avLst/>
                  <a:gdLst>
                    <a:gd name="T0" fmla="*/ 0 w 1748"/>
                    <a:gd name="T1" fmla="*/ 0 h 1"/>
                    <a:gd name="T2" fmla="*/ 1747 w 1748"/>
                    <a:gd name="T3" fmla="*/ 0 h 1"/>
                    <a:gd name="T4" fmla="*/ 1748 w 1748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748" h="1">
                      <a:moveTo>
                        <a:pt x="0" y="0"/>
                      </a:moveTo>
                      <a:lnTo>
                        <a:pt x="1747" y="0"/>
                      </a:lnTo>
                      <a:lnTo>
                        <a:pt x="1748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89" name="Freeform 74"/>
                <p:cNvSpPr>
                  <a:spLocks noChangeAspect="1" noChangeArrowheads="1"/>
                </p:cNvSpPr>
                <p:nvPr/>
              </p:nvSpPr>
              <p:spPr bwMode="auto">
                <a:xfrm>
                  <a:off x="3534" y="2774"/>
                  <a:ext cx="1" cy="271"/>
                </a:xfrm>
                <a:custGeom>
                  <a:avLst/>
                  <a:gdLst>
                    <a:gd name="T0" fmla="*/ 0 w 1"/>
                    <a:gd name="T1" fmla="*/ 2443 h 2443"/>
                    <a:gd name="T2" fmla="*/ 0 w 1"/>
                    <a:gd name="T3" fmla="*/ 0 h 2443"/>
                    <a:gd name="T4" fmla="*/ 1 w 1"/>
                    <a:gd name="T5" fmla="*/ 0 h 24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443">
                      <a:moveTo>
                        <a:pt x="0" y="2443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90" name="Freeform 75"/>
                <p:cNvSpPr>
                  <a:spLocks noChangeAspect="1" noChangeArrowheads="1"/>
                </p:cNvSpPr>
                <p:nvPr/>
              </p:nvSpPr>
              <p:spPr bwMode="auto">
                <a:xfrm>
                  <a:off x="3534" y="2627"/>
                  <a:ext cx="1" cy="73"/>
                </a:xfrm>
                <a:custGeom>
                  <a:avLst/>
                  <a:gdLst>
                    <a:gd name="T0" fmla="*/ 0 w 1"/>
                    <a:gd name="T1" fmla="*/ 663 h 663"/>
                    <a:gd name="T2" fmla="*/ 0 w 1"/>
                    <a:gd name="T3" fmla="*/ 0 h 663"/>
                    <a:gd name="T4" fmla="*/ 1 w 1"/>
                    <a:gd name="T5" fmla="*/ 0 h 6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663">
                      <a:moveTo>
                        <a:pt x="0" y="663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91" name="Freeform 76"/>
                <p:cNvSpPr>
                  <a:spLocks noChangeAspect="1" noChangeArrowheads="1"/>
                </p:cNvSpPr>
                <p:nvPr/>
              </p:nvSpPr>
              <p:spPr bwMode="auto">
                <a:xfrm>
                  <a:off x="3534" y="2282"/>
                  <a:ext cx="1" cy="271"/>
                </a:xfrm>
                <a:custGeom>
                  <a:avLst/>
                  <a:gdLst>
                    <a:gd name="T0" fmla="*/ 0 w 1"/>
                    <a:gd name="T1" fmla="*/ 2442 h 2442"/>
                    <a:gd name="T2" fmla="*/ 0 w 1"/>
                    <a:gd name="T3" fmla="*/ 0 h 2442"/>
                    <a:gd name="T4" fmla="*/ 1 w 1"/>
                    <a:gd name="T5" fmla="*/ 0 h 24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442">
                      <a:moveTo>
                        <a:pt x="0" y="2442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33" name="Group 77"/>
              <p:cNvGrpSpPr>
                <a:grpSpLocks noChangeAspect="1"/>
              </p:cNvGrpSpPr>
              <p:nvPr/>
            </p:nvGrpSpPr>
            <p:grpSpPr bwMode="auto">
              <a:xfrm>
                <a:off x="2994" y="2537"/>
                <a:ext cx="225" cy="958"/>
                <a:chOff x="3461" y="2350"/>
                <a:chExt cx="146" cy="621"/>
              </a:xfrm>
            </p:grpSpPr>
            <p:sp>
              <p:nvSpPr>
                <p:cNvPr id="61" name="Freeform 78"/>
                <p:cNvSpPr>
                  <a:spLocks noChangeAspect="1" noChangeArrowheads="1"/>
                </p:cNvSpPr>
                <p:nvPr/>
              </p:nvSpPr>
              <p:spPr bwMode="auto">
                <a:xfrm>
                  <a:off x="3461" y="2461"/>
                  <a:ext cx="1" cy="74"/>
                </a:xfrm>
                <a:custGeom>
                  <a:avLst/>
                  <a:gdLst>
                    <a:gd name="T0" fmla="*/ 0 w 1"/>
                    <a:gd name="T1" fmla="*/ 666 h 666"/>
                    <a:gd name="T2" fmla="*/ 0 w 1"/>
                    <a:gd name="T3" fmla="*/ 0 h 666"/>
                    <a:gd name="T4" fmla="*/ 1 w 1"/>
                    <a:gd name="T5" fmla="*/ 0 h 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666">
                      <a:moveTo>
                        <a:pt x="0" y="666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62" name="Freeform 79"/>
                <p:cNvSpPr>
                  <a:spLocks noChangeAspect="1" noChangeArrowheads="1"/>
                </p:cNvSpPr>
                <p:nvPr/>
              </p:nvSpPr>
              <p:spPr bwMode="auto">
                <a:xfrm>
                  <a:off x="3461" y="2350"/>
                  <a:ext cx="1" cy="75"/>
                </a:xfrm>
                <a:custGeom>
                  <a:avLst/>
                  <a:gdLst>
                    <a:gd name="T0" fmla="*/ 0 w 1"/>
                    <a:gd name="T1" fmla="*/ 668 h 668"/>
                    <a:gd name="T2" fmla="*/ 0 w 1"/>
                    <a:gd name="T3" fmla="*/ 0 h 668"/>
                    <a:gd name="T4" fmla="*/ 1 w 1"/>
                    <a:gd name="T5" fmla="*/ 0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668">
                      <a:moveTo>
                        <a:pt x="0" y="668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63" name="Freeform 80"/>
                <p:cNvSpPr>
                  <a:spLocks noChangeAspect="1" noChangeArrowheads="1"/>
                </p:cNvSpPr>
                <p:nvPr/>
              </p:nvSpPr>
              <p:spPr bwMode="auto">
                <a:xfrm>
                  <a:off x="3606" y="2350"/>
                  <a:ext cx="1" cy="75"/>
                </a:xfrm>
                <a:custGeom>
                  <a:avLst/>
                  <a:gdLst>
                    <a:gd name="T0" fmla="*/ 0 w 1"/>
                    <a:gd name="T1" fmla="*/ 0 h 668"/>
                    <a:gd name="T2" fmla="*/ 0 w 1"/>
                    <a:gd name="T3" fmla="*/ 668 h 668"/>
                    <a:gd name="T4" fmla="*/ 1 w 1"/>
                    <a:gd name="T5" fmla="*/ 668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668">
                      <a:moveTo>
                        <a:pt x="0" y="0"/>
                      </a:moveTo>
                      <a:lnTo>
                        <a:pt x="0" y="668"/>
                      </a:lnTo>
                      <a:lnTo>
                        <a:pt x="1" y="668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64" name="Freeform 81"/>
                <p:cNvSpPr>
                  <a:spLocks noChangeAspect="1" noChangeArrowheads="1"/>
                </p:cNvSpPr>
                <p:nvPr/>
              </p:nvSpPr>
              <p:spPr bwMode="auto">
                <a:xfrm>
                  <a:off x="3606" y="2461"/>
                  <a:ext cx="1" cy="74"/>
                </a:xfrm>
                <a:custGeom>
                  <a:avLst/>
                  <a:gdLst>
                    <a:gd name="T0" fmla="*/ 0 w 1"/>
                    <a:gd name="T1" fmla="*/ 0 h 666"/>
                    <a:gd name="T2" fmla="*/ 0 w 1"/>
                    <a:gd name="T3" fmla="*/ 666 h 666"/>
                    <a:gd name="T4" fmla="*/ 1 w 1"/>
                    <a:gd name="T5" fmla="*/ 666 h 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666">
                      <a:moveTo>
                        <a:pt x="0" y="0"/>
                      </a:moveTo>
                      <a:lnTo>
                        <a:pt x="0" y="666"/>
                      </a:lnTo>
                      <a:lnTo>
                        <a:pt x="1" y="666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65" name="Freeform 82"/>
                <p:cNvSpPr>
                  <a:spLocks noChangeAspect="1" noChangeArrowheads="1"/>
                </p:cNvSpPr>
                <p:nvPr/>
              </p:nvSpPr>
              <p:spPr bwMode="auto">
                <a:xfrm>
                  <a:off x="3461" y="2897"/>
                  <a:ext cx="1" cy="74"/>
                </a:xfrm>
                <a:custGeom>
                  <a:avLst/>
                  <a:gdLst>
                    <a:gd name="T0" fmla="*/ 0 w 1"/>
                    <a:gd name="T1" fmla="*/ 667 h 667"/>
                    <a:gd name="T2" fmla="*/ 0 w 1"/>
                    <a:gd name="T3" fmla="*/ 0 h 667"/>
                    <a:gd name="T4" fmla="*/ 1 w 1"/>
                    <a:gd name="T5" fmla="*/ 0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667">
                      <a:moveTo>
                        <a:pt x="0" y="667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66" name="Freeform 83"/>
                <p:cNvSpPr>
                  <a:spLocks noChangeAspect="1" noChangeArrowheads="1"/>
                </p:cNvSpPr>
                <p:nvPr/>
              </p:nvSpPr>
              <p:spPr bwMode="auto">
                <a:xfrm>
                  <a:off x="3461" y="2786"/>
                  <a:ext cx="1" cy="74"/>
                </a:xfrm>
                <a:custGeom>
                  <a:avLst/>
                  <a:gdLst>
                    <a:gd name="T0" fmla="*/ 0 w 1"/>
                    <a:gd name="T1" fmla="*/ 666 h 666"/>
                    <a:gd name="T2" fmla="*/ 0 w 1"/>
                    <a:gd name="T3" fmla="*/ 0 h 666"/>
                    <a:gd name="T4" fmla="*/ 1 w 1"/>
                    <a:gd name="T5" fmla="*/ 0 h 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666">
                      <a:moveTo>
                        <a:pt x="0" y="666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67" name="Freeform 84"/>
                <p:cNvSpPr>
                  <a:spLocks noChangeAspect="1" noChangeArrowheads="1"/>
                </p:cNvSpPr>
                <p:nvPr/>
              </p:nvSpPr>
              <p:spPr bwMode="auto">
                <a:xfrm>
                  <a:off x="3606" y="2786"/>
                  <a:ext cx="1" cy="74"/>
                </a:xfrm>
                <a:custGeom>
                  <a:avLst/>
                  <a:gdLst>
                    <a:gd name="T0" fmla="*/ 0 w 1"/>
                    <a:gd name="T1" fmla="*/ 0 h 666"/>
                    <a:gd name="T2" fmla="*/ 0 w 1"/>
                    <a:gd name="T3" fmla="*/ 666 h 666"/>
                    <a:gd name="T4" fmla="*/ 1 w 1"/>
                    <a:gd name="T5" fmla="*/ 666 h 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666">
                      <a:moveTo>
                        <a:pt x="0" y="0"/>
                      </a:moveTo>
                      <a:lnTo>
                        <a:pt x="0" y="666"/>
                      </a:lnTo>
                      <a:lnTo>
                        <a:pt x="1" y="666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68" name="Freeform 85"/>
                <p:cNvSpPr>
                  <a:spLocks noChangeAspect="1" noChangeArrowheads="1"/>
                </p:cNvSpPr>
                <p:nvPr/>
              </p:nvSpPr>
              <p:spPr bwMode="auto">
                <a:xfrm>
                  <a:off x="3606" y="2897"/>
                  <a:ext cx="1" cy="74"/>
                </a:xfrm>
                <a:custGeom>
                  <a:avLst/>
                  <a:gdLst>
                    <a:gd name="T0" fmla="*/ 0 w 1"/>
                    <a:gd name="T1" fmla="*/ 0 h 667"/>
                    <a:gd name="T2" fmla="*/ 0 w 1"/>
                    <a:gd name="T3" fmla="*/ 667 h 667"/>
                    <a:gd name="T4" fmla="*/ 1 w 1"/>
                    <a:gd name="T5" fmla="*/ 667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667">
                      <a:moveTo>
                        <a:pt x="0" y="0"/>
                      </a:moveTo>
                      <a:lnTo>
                        <a:pt x="0" y="667"/>
                      </a:lnTo>
                      <a:lnTo>
                        <a:pt x="1" y="667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34" name="Group 86"/>
              <p:cNvGrpSpPr>
                <a:grpSpLocks noChangeAspect="1"/>
              </p:cNvGrpSpPr>
              <p:nvPr/>
            </p:nvGrpSpPr>
            <p:grpSpPr bwMode="auto">
              <a:xfrm>
                <a:off x="1097" y="758"/>
                <a:ext cx="2500" cy="983"/>
                <a:chOff x="2231" y="1197"/>
                <a:chExt cx="1621" cy="637"/>
              </a:xfrm>
            </p:grpSpPr>
            <p:sp>
              <p:nvSpPr>
                <p:cNvPr id="35" name="Freeform 87"/>
                <p:cNvSpPr>
                  <a:spLocks noChangeAspect="1" noChangeArrowheads="1"/>
                </p:cNvSpPr>
                <p:nvPr/>
              </p:nvSpPr>
              <p:spPr bwMode="auto">
                <a:xfrm>
                  <a:off x="3814" y="1197"/>
                  <a:ext cx="38" cy="38"/>
                </a:xfrm>
                <a:custGeom>
                  <a:avLst/>
                  <a:gdLst>
                    <a:gd name="T0" fmla="*/ 0 w 342"/>
                    <a:gd name="T1" fmla="*/ 0 h 341"/>
                    <a:gd name="T2" fmla="*/ 341 w 342"/>
                    <a:gd name="T3" fmla="*/ 341 h 341"/>
                    <a:gd name="T4" fmla="*/ 342 w 342"/>
                    <a:gd name="T5" fmla="*/ 341 h 3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42" h="341">
                      <a:moveTo>
                        <a:pt x="0" y="0"/>
                      </a:moveTo>
                      <a:lnTo>
                        <a:pt x="341" y="341"/>
                      </a:lnTo>
                      <a:lnTo>
                        <a:pt x="342" y="341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6" name="Freeform 88"/>
                <p:cNvSpPr>
                  <a:spLocks noChangeAspect="1" noChangeArrowheads="1"/>
                </p:cNvSpPr>
                <p:nvPr/>
              </p:nvSpPr>
              <p:spPr bwMode="auto">
                <a:xfrm>
                  <a:off x="3710" y="1197"/>
                  <a:ext cx="142" cy="142"/>
                </a:xfrm>
                <a:custGeom>
                  <a:avLst/>
                  <a:gdLst>
                    <a:gd name="T0" fmla="*/ 0 w 1278"/>
                    <a:gd name="T1" fmla="*/ 0 h 1278"/>
                    <a:gd name="T2" fmla="*/ 1277 w 1278"/>
                    <a:gd name="T3" fmla="*/ 1278 h 1278"/>
                    <a:gd name="T4" fmla="*/ 1278 w 1278"/>
                    <a:gd name="T5" fmla="*/ 1278 h 12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78" h="1278">
                      <a:moveTo>
                        <a:pt x="0" y="0"/>
                      </a:moveTo>
                      <a:lnTo>
                        <a:pt x="1277" y="1278"/>
                      </a:lnTo>
                      <a:lnTo>
                        <a:pt x="1278" y="1278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7" name="Freeform 89"/>
                <p:cNvSpPr>
                  <a:spLocks noChangeAspect="1" noChangeArrowheads="1"/>
                </p:cNvSpPr>
                <p:nvPr/>
              </p:nvSpPr>
              <p:spPr bwMode="auto">
                <a:xfrm>
                  <a:off x="3679" y="1269"/>
                  <a:ext cx="173" cy="174"/>
                </a:xfrm>
                <a:custGeom>
                  <a:avLst/>
                  <a:gdLst>
                    <a:gd name="T0" fmla="*/ 0 w 1564"/>
                    <a:gd name="T1" fmla="*/ 0 h 1565"/>
                    <a:gd name="T2" fmla="*/ 1563 w 1564"/>
                    <a:gd name="T3" fmla="*/ 1565 h 1565"/>
                    <a:gd name="T4" fmla="*/ 1564 w 1564"/>
                    <a:gd name="T5" fmla="*/ 1565 h 1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4" h="1565">
                      <a:moveTo>
                        <a:pt x="0" y="0"/>
                      </a:moveTo>
                      <a:lnTo>
                        <a:pt x="1563" y="1565"/>
                      </a:lnTo>
                      <a:lnTo>
                        <a:pt x="1564" y="1565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8" name="Freeform 90"/>
                <p:cNvSpPr>
                  <a:spLocks noChangeAspect="1" noChangeArrowheads="1"/>
                </p:cNvSpPr>
                <p:nvPr/>
              </p:nvSpPr>
              <p:spPr bwMode="auto">
                <a:xfrm>
                  <a:off x="3679" y="1373"/>
                  <a:ext cx="173" cy="174"/>
                </a:xfrm>
                <a:custGeom>
                  <a:avLst/>
                  <a:gdLst>
                    <a:gd name="T0" fmla="*/ 0 w 1564"/>
                    <a:gd name="T1" fmla="*/ 0 h 1565"/>
                    <a:gd name="T2" fmla="*/ 1563 w 1564"/>
                    <a:gd name="T3" fmla="*/ 1565 h 1565"/>
                    <a:gd name="T4" fmla="*/ 1564 w 1564"/>
                    <a:gd name="T5" fmla="*/ 1565 h 1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4" h="1565">
                      <a:moveTo>
                        <a:pt x="0" y="0"/>
                      </a:moveTo>
                      <a:lnTo>
                        <a:pt x="1563" y="1565"/>
                      </a:lnTo>
                      <a:lnTo>
                        <a:pt x="1564" y="1565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9" name="Freeform 91"/>
                <p:cNvSpPr>
                  <a:spLocks noChangeAspect="1" noChangeArrowheads="1"/>
                </p:cNvSpPr>
                <p:nvPr/>
              </p:nvSpPr>
              <p:spPr bwMode="auto">
                <a:xfrm>
                  <a:off x="3679" y="1477"/>
                  <a:ext cx="173" cy="174"/>
                </a:xfrm>
                <a:custGeom>
                  <a:avLst/>
                  <a:gdLst>
                    <a:gd name="T0" fmla="*/ 0 w 1564"/>
                    <a:gd name="T1" fmla="*/ 0 h 1564"/>
                    <a:gd name="T2" fmla="*/ 1563 w 1564"/>
                    <a:gd name="T3" fmla="*/ 1564 h 1564"/>
                    <a:gd name="T4" fmla="*/ 1564 w 1564"/>
                    <a:gd name="T5" fmla="*/ 1564 h 15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4" h="1564">
                      <a:moveTo>
                        <a:pt x="0" y="0"/>
                      </a:moveTo>
                      <a:lnTo>
                        <a:pt x="1563" y="1564"/>
                      </a:lnTo>
                      <a:lnTo>
                        <a:pt x="1564" y="1564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0" name="Freeform 92"/>
                <p:cNvSpPr>
                  <a:spLocks noChangeAspect="1" noChangeArrowheads="1"/>
                </p:cNvSpPr>
                <p:nvPr/>
              </p:nvSpPr>
              <p:spPr bwMode="auto">
                <a:xfrm>
                  <a:off x="3295" y="1197"/>
                  <a:ext cx="94" cy="95"/>
                </a:xfrm>
                <a:custGeom>
                  <a:avLst/>
                  <a:gdLst>
                    <a:gd name="T0" fmla="*/ 0 w 852"/>
                    <a:gd name="T1" fmla="*/ 0 h 853"/>
                    <a:gd name="T2" fmla="*/ 851 w 852"/>
                    <a:gd name="T3" fmla="*/ 853 h 853"/>
                    <a:gd name="T4" fmla="*/ 852 w 852"/>
                    <a:gd name="T5" fmla="*/ 853 h 8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52" h="853">
                      <a:moveTo>
                        <a:pt x="0" y="0"/>
                      </a:moveTo>
                      <a:lnTo>
                        <a:pt x="851" y="853"/>
                      </a:lnTo>
                      <a:lnTo>
                        <a:pt x="852" y="853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1" name="Freeform 93"/>
                <p:cNvSpPr>
                  <a:spLocks noChangeAspect="1" noChangeArrowheads="1"/>
                </p:cNvSpPr>
                <p:nvPr/>
              </p:nvSpPr>
              <p:spPr bwMode="auto">
                <a:xfrm>
                  <a:off x="3679" y="1581"/>
                  <a:ext cx="173" cy="174"/>
                </a:xfrm>
                <a:custGeom>
                  <a:avLst/>
                  <a:gdLst>
                    <a:gd name="T0" fmla="*/ 0 w 1564"/>
                    <a:gd name="T1" fmla="*/ 0 h 1565"/>
                    <a:gd name="T2" fmla="*/ 1563 w 1564"/>
                    <a:gd name="T3" fmla="*/ 1565 h 1565"/>
                    <a:gd name="T4" fmla="*/ 1564 w 1564"/>
                    <a:gd name="T5" fmla="*/ 1565 h 1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4" h="1565">
                      <a:moveTo>
                        <a:pt x="0" y="0"/>
                      </a:moveTo>
                      <a:lnTo>
                        <a:pt x="1563" y="1565"/>
                      </a:lnTo>
                      <a:lnTo>
                        <a:pt x="1564" y="1565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2" name="Freeform 94"/>
                <p:cNvSpPr>
                  <a:spLocks noChangeAspect="1" noChangeArrowheads="1"/>
                </p:cNvSpPr>
                <p:nvPr/>
              </p:nvSpPr>
              <p:spPr bwMode="auto">
                <a:xfrm>
                  <a:off x="3215" y="1222"/>
                  <a:ext cx="174" cy="174"/>
                </a:xfrm>
                <a:custGeom>
                  <a:avLst/>
                  <a:gdLst>
                    <a:gd name="T0" fmla="*/ 0 w 1564"/>
                    <a:gd name="T1" fmla="*/ 0 h 1565"/>
                    <a:gd name="T2" fmla="*/ 1563 w 1564"/>
                    <a:gd name="T3" fmla="*/ 1565 h 1565"/>
                    <a:gd name="T4" fmla="*/ 1564 w 1564"/>
                    <a:gd name="T5" fmla="*/ 1565 h 1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4" h="1565">
                      <a:moveTo>
                        <a:pt x="0" y="0"/>
                      </a:moveTo>
                      <a:lnTo>
                        <a:pt x="1563" y="1565"/>
                      </a:lnTo>
                      <a:lnTo>
                        <a:pt x="1564" y="1565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3" name="Freeform 95"/>
                <p:cNvSpPr>
                  <a:spLocks noChangeAspect="1" noChangeArrowheads="1"/>
                </p:cNvSpPr>
                <p:nvPr/>
              </p:nvSpPr>
              <p:spPr bwMode="auto">
                <a:xfrm>
                  <a:off x="3679" y="1686"/>
                  <a:ext cx="148" cy="148"/>
                </a:xfrm>
                <a:custGeom>
                  <a:avLst/>
                  <a:gdLst>
                    <a:gd name="T0" fmla="*/ 0 w 1339"/>
                    <a:gd name="T1" fmla="*/ 0 h 1340"/>
                    <a:gd name="T2" fmla="*/ 1338 w 1339"/>
                    <a:gd name="T3" fmla="*/ 1340 h 1340"/>
                    <a:gd name="T4" fmla="*/ 1339 w 1339"/>
                    <a:gd name="T5" fmla="*/ 1340 h 1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339" h="1340">
                      <a:moveTo>
                        <a:pt x="0" y="0"/>
                      </a:moveTo>
                      <a:lnTo>
                        <a:pt x="1338" y="1340"/>
                      </a:lnTo>
                      <a:lnTo>
                        <a:pt x="1339" y="1340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4" name="Freeform 96"/>
                <p:cNvSpPr>
                  <a:spLocks noChangeAspect="1" noChangeArrowheads="1"/>
                </p:cNvSpPr>
                <p:nvPr/>
              </p:nvSpPr>
              <p:spPr bwMode="auto">
                <a:xfrm>
                  <a:off x="3215" y="1326"/>
                  <a:ext cx="174" cy="174"/>
                </a:xfrm>
                <a:custGeom>
                  <a:avLst/>
                  <a:gdLst>
                    <a:gd name="T0" fmla="*/ 0 w 1564"/>
                    <a:gd name="T1" fmla="*/ 0 h 1563"/>
                    <a:gd name="T2" fmla="*/ 1563 w 1564"/>
                    <a:gd name="T3" fmla="*/ 1563 h 1563"/>
                    <a:gd name="T4" fmla="*/ 1564 w 1564"/>
                    <a:gd name="T5" fmla="*/ 1563 h 15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4" h="1563">
                      <a:moveTo>
                        <a:pt x="0" y="0"/>
                      </a:moveTo>
                      <a:lnTo>
                        <a:pt x="1563" y="1563"/>
                      </a:lnTo>
                      <a:lnTo>
                        <a:pt x="1564" y="1563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5" name="Freeform 97"/>
                <p:cNvSpPr>
                  <a:spLocks noChangeAspect="1" noChangeArrowheads="1"/>
                </p:cNvSpPr>
                <p:nvPr/>
              </p:nvSpPr>
              <p:spPr bwMode="auto">
                <a:xfrm>
                  <a:off x="3679" y="1790"/>
                  <a:ext cx="44" cy="44"/>
                </a:xfrm>
                <a:custGeom>
                  <a:avLst/>
                  <a:gdLst>
                    <a:gd name="T0" fmla="*/ 0 w 404"/>
                    <a:gd name="T1" fmla="*/ 0 h 403"/>
                    <a:gd name="T2" fmla="*/ 403 w 404"/>
                    <a:gd name="T3" fmla="*/ 403 h 403"/>
                    <a:gd name="T4" fmla="*/ 404 w 404"/>
                    <a:gd name="T5" fmla="*/ 403 h 4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04" h="403">
                      <a:moveTo>
                        <a:pt x="0" y="0"/>
                      </a:moveTo>
                      <a:lnTo>
                        <a:pt x="403" y="403"/>
                      </a:lnTo>
                      <a:lnTo>
                        <a:pt x="404" y="403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6" name="Freeform 98"/>
                <p:cNvSpPr>
                  <a:spLocks noChangeAspect="1" noChangeArrowheads="1"/>
                </p:cNvSpPr>
                <p:nvPr/>
              </p:nvSpPr>
              <p:spPr bwMode="auto">
                <a:xfrm>
                  <a:off x="3215" y="1430"/>
                  <a:ext cx="174" cy="174"/>
                </a:xfrm>
                <a:custGeom>
                  <a:avLst/>
                  <a:gdLst>
                    <a:gd name="T0" fmla="*/ 0 w 1564"/>
                    <a:gd name="T1" fmla="*/ 0 h 1565"/>
                    <a:gd name="T2" fmla="*/ 1563 w 1564"/>
                    <a:gd name="T3" fmla="*/ 1565 h 1565"/>
                    <a:gd name="T4" fmla="*/ 1564 w 1564"/>
                    <a:gd name="T5" fmla="*/ 1565 h 1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4" h="1565">
                      <a:moveTo>
                        <a:pt x="0" y="0"/>
                      </a:moveTo>
                      <a:lnTo>
                        <a:pt x="1563" y="1565"/>
                      </a:lnTo>
                      <a:lnTo>
                        <a:pt x="1564" y="1565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7" name="Freeform 99"/>
                <p:cNvSpPr>
                  <a:spLocks noChangeAspect="1" noChangeArrowheads="1"/>
                </p:cNvSpPr>
                <p:nvPr/>
              </p:nvSpPr>
              <p:spPr bwMode="auto">
                <a:xfrm>
                  <a:off x="3215" y="1534"/>
                  <a:ext cx="174" cy="174"/>
                </a:xfrm>
                <a:custGeom>
                  <a:avLst/>
                  <a:gdLst>
                    <a:gd name="T0" fmla="*/ 0 w 1564"/>
                    <a:gd name="T1" fmla="*/ 0 h 1564"/>
                    <a:gd name="T2" fmla="*/ 1563 w 1564"/>
                    <a:gd name="T3" fmla="*/ 1564 h 1564"/>
                    <a:gd name="T4" fmla="*/ 1564 w 1564"/>
                    <a:gd name="T5" fmla="*/ 1564 h 15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4" h="1564">
                      <a:moveTo>
                        <a:pt x="0" y="0"/>
                      </a:moveTo>
                      <a:lnTo>
                        <a:pt x="1563" y="1564"/>
                      </a:lnTo>
                      <a:lnTo>
                        <a:pt x="1564" y="1564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8" name="Freeform 100"/>
                <p:cNvSpPr>
                  <a:spLocks noChangeAspect="1" noChangeArrowheads="1"/>
                </p:cNvSpPr>
                <p:nvPr/>
              </p:nvSpPr>
              <p:spPr bwMode="auto">
                <a:xfrm>
                  <a:off x="3151" y="1574"/>
                  <a:ext cx="238" cy="238"/>
                </a:xfrm>
                <a:custGeom>
                  <a:avLst/>
                  <a:gdLst>
                    <a:gd name="T0" fmla="*/ 0 w 2144"/>
                    <a:gd name="T1" fmla="*/ 0 h 2147"/>
                    <a:gd name="T2" fmla="*/ 2143 w 2144"/>
                    <a:gd name="T3" fmla="*/ 2147 h 2147"/>
                    <a:gd name="T4" fmla="*/ 2144 w 2144"/>
                    <a:gd name="T5" fmla="*/ 2147 h 2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44" h="2147">
                      <a:moveTo>
                        <a:pt x="0" y="0"/>
                      </a:moveTo>
                      <a:lnTo>
                        <a:pt x="2143" y="2147"/>
                      </a:lnTo>
                      <a:lnTo>
                        <a:pt x="2144" y="2147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49" name="Freeform 101"/>
                <p:cNvSpPr>
                  <a:spLocks noChangeAspect="1" noChangeArrowheads="1"/>
                </p:cNvSpPr>
                <p:nvPr/>
              </p:nvSpPr>
              <p:spPr bwMode="auto">
                <a:xfrm>
                  <a:off x="3047" y="1574"/>
                  <a:ext cx="261" cy="260"/>
                </a:xfrm>
                <a:custGeom>
                  <a:avLst/>
                  <a:gdLst>
                    <a:gd name="T0" fmla="*/ 0 w 2346"/>
                    <a:gd name="T1" fmla="*/ 0 h 2347"/>
                    <a:gd name="T2" fmla="*/ 2345 w 2346"/>
                    <a:gd name="T3" fmla="*/ 2347 h 2347"/>
                    <a:gd name="T4" fmla="*/ 2346 w 2346"/>
                    <a:gd name="T5" fmla="*/ 2347 h 23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346" h="2347">
                      <a:moveTo>
                        <a:pt x="0" y="0"/>
                      </a:moveTo>
                      <a:lnTo>
                        <a:pt x="2345" y="2347"/>
                      </a:lnTo>
                      <a:lnTo>
                        <a:pt x="2346" y="2347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0" name="Freeform 102"/>
                <p:cNvSpPr>
                  <a:spLocks noChangeAspect="1" noChangeArrowheads="1"/>
                </p:cNvSpPr>
                <p:nvPr/>
              </p:nvSpPr>
              <p:spPr bwMode="auto">
                <a:xfrm>
                  <a:off x="2943" y="1574"/>
                  <a:ext cx="174" cy="174"/>
                </a:xfrm>
                <a:custGeom>
                  <a:avLst/>
                  <a:gdLst>
                    <a:gd name="T0" fmla="*/ 0 w 1564"/>
                    <a:gd name="T1" fmla="*/ 0 h 1565"/>
                    <a:gd name="T2" fmla="*/ 1563 w 1564"/>
                    <a:gd name="T3" fmla="*/ 1565 h 1565"/>
                    <a:gd name="T4" fmla="*/ 1564 w 1564"/>
                    <a:gd name="T5" fmla="*/ 1565 h 1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4" h="1565">
                      <a:moveTo>
                        <a:pt x="0" y="0"/>
                      </a:moveTo>
                      <a:lnTo>
                        <a:pt x="1563" y="1565"/>
                      </a:lnTo>
                      <a:lnTo>
                        <a:pt x="1564" y="1565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1" name="Freeform 103"/>
                <p:cNvSpPr>
                  <a:spLocks noChangeAspect="1" noChangeArrowheads="1"/>
                </p:cNvSpPr>
                <p:nvPr/>
              </p:nvSpPr>
              <p:spPr bwMode="auto">
                <a:xfrm>
                  <a:off x="2839" y="1574"/>
                  <a:ext cx="174" cy="174"/>
                </a:xfrm>
                <a:custGeom>
                  <a:avLst/>
                  <a:gdLst>
                    <a:gd name="T0" fmla="*/ 0 w 1564"/>
                    <a:gd name="T1" fmla="*/ 0 h 1565"/>
                    <a:gd name="T2" fmla="*/ 1563 w 1564"/>
                    <a:gd name="T3" fmla="*/ 1565 h 1565"/>
                    <a:gd name="T4" fmla="*/ 1564 w 1564"/>
                    <a:gd name="T5" fmla="*/ 1565 h 1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4" h="1565">
                      <a:moveTo>
                        <a:pt x="0" y="0"/>
                      </a:moveTo>
                      <a:lnTo>
                        <a:pt x="1563" y="1565"/>
                      </a:lnTo>
                      <a:lnTo>
                        <a:pt x="1564" y="1565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2" name="Freeform 104"/>
                <p:cNvSpPr>
                  <a:spLocks noChangeAspect="1" noChangeArrowheads="1"/>
                </p:cNvSpPr>
                <p:nvPr/>
              </p:nvSpPr>
              <p:spPr bwMode="auto">
                <a:xfrm>
                  <a:off x="2735" y="1574"/>
                  <a:ext cx="174" cy="174"/>
                </a:xfrm>
                <a:custGeom>
                  <a:avLst/>
                  <a:gdLst>
                    <a:gd name="T0" fmla="*/ 0 w 1564"/>
                    <a:gd name="T1" fmla="*/ 0 h 1565"/>
                    <a:gd name="T2" fmla="*/ 1563 w 1564"/>
                    <a:gd name="T3" fmla="*/ 1565 h 1565"/>
                    <a:gd name="T4" fmla="*/ 1564 w 1564"/>
                    <a:gd name="T5" fmla="*/ 1565 h 1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4" h="1565">
                      <a:moveTo>
                        <a:pt x="0" y="0"/>
                      </a:moveTo>
                      <a:lnTo>
                        <a:pt x="1563" y="1565"/>
                      </a:lnTo>
                      <a:lnTo>
                        <a:pt x="1564" y="1565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3" name="Freeform 105"/>
                <p:cNvSpPr>
                  <a:spLocks noChangeAspect="1" noChangeArrowheads="1"/>
                </p:cNvSpPr>
                <p:nvPr/>
              </p:nvSpPr>
              <p:spPr bwMode="auto">
                <a:xfrm>
                  <a:off x="2631" y="1574"/>
                  <a:ext cx="174" cy="174"/>
                </a:xfrm>
                <a:custGeom>
                  <a:avLst/>
                  <a:gdLst>
                    <a:gd name="T0" fmla="*/ 0 w 1564"/>
                    <a:gd name="T1" fmla="*/ 0 h 1565"/>
                    <a:gd name="T2" fmla="*/ 1563 w 1564"/>
                    <a:gd name="T3" fmla="*/ 1565 h 1565"/>
                    <a:gd name="T4" fmla="*/ 1564 w 1564"/>
                    <a:gd name="T5" fmla="*/ 1565 h 1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4" h="1565">
                      <a:moveTo>
                        <a:pt x="0" y="0"/>
                      </a:moveTo>
                      <a:lnTo>
                        <a:pt x="1563" y="1565"/>
                      </a:lnTo>
                      <a:lnTo>
                        <a:pt x="1564" y="1565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4" name="Freeform 106"/>
                <p:cNvSpPr>
                  <a:spLocks noChangeAspect="1" noChangeArrowheads="1"/>
                </p:cNvSpPr>
                <p:nvPr/>
              </p:nvSpPr>
              <p:spPr bwMode="auto">
                <a:xfrm>
                  <a:off x="2469" y="1516"/>
                  <a:ext cx="52" cy="51"/>
                </a:xfrm>
                <a:custGeom>
                  <a:avLst/>
                  <a:gdLst>
                    <a:gd name="T0" fmla="*/ 0 w 466"/>
                    <a:gd name="T1" fmla="*/ 0 h 466"/>
                    <a:gd name="T2" fmla="*/ 465 w 466"/>
                    <a:gd name="T3" fmla="*/ 466 h 466"/>
                    <a:gd name="T4" fmla="*/ 466 w 466"/>
                    <a:gd name="T5" fmla="*/ 466 h 4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66" h="466">
                      <a:moveTo>
                        <a:pt x="0" y="0"/>
                      </a:moveTo>
                      <a:lnTo>
                        <a:pt x="465" y="466"/>
                      </a:lnTo>
                      <a:lnTo>
                        <a:pt x="466" y="466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5" name="Freeform 107"/>
                <p:cNvSpPr>
                  <a:spLocks noChangeAspect="1" noChangeArrowheads="1"/>
                </p:cNvSpPr>
                <p:nvPr/>
              </p:nvSpPr>
              <p:spPr bwMode="auto">
                <a:xfrm>
                  <a:off x="2527" y="1574"/>
                  <a:ext cx="174" cy="174"/>
                </a:xfrm>
                <a:custGeom>
                  <a:avLst/>
                  <a:gdLst>
                    <a:gd name="T0" fmla="*/ 0 w 1564"/>
                    <a:gd name="T1" fmla="*/ 0 h 1565"/>
                    <a:gd name="T2" fmla="*/ 1563 w 1564"/>
                    <a:gd name="T3" fmla="*/ 1565 h 1565"/>
                    <a:gd name="T4" fmla="*/ 1564 w 1564"/>
                    <a:gd name="T5" fmla="*/ 1565 h 1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64" h="1565">
                      <a:moveTo>
                        <a:pt x="0" y="0"/>
                      </a:moveTo>
                      <a:lnTo>
                        <a:pt x="1563" y="1565"/>
                      </a:lnTo>
                      <a:lnTo>
                        <a:pt x="1564" y="1565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6" name="Freeform 108"/>
                <p:cNvSpPr>
                  <a:spLocks noChangeAspect="1" noChangeArrowheads="1"/>
                </p:cNvSpPr>
                <p:nvPr/>
              </p:nvSpPr>
              <p:spPr bwMode="auto">
                <a:xfrm>
                  <a:off x="2365" y="1516"/>
                  <a:ext cx="232" cy="232"/>
                </a:xfrm>
                <a:custGeom>
                  <a:avLst/>
                  <a:gdLst>
                    <a:gd name="T0" fmla="*/ 0 w 2084"/>
                    <a:gd name="T1" fmla="*/ 0 h 2087"/>
                    <a:gd name="T2" fmla="*/ 2083 w 2084"/>
                    <a:gd name="T3" fmla="*/ 2087 h 2087"/>
                    <a:gd name="T4" fmla="*/ 2084 w 2084"/>
                    <a:gd name="T5" fmla="*/ 2087 h 20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084" h="2087">
                      <a:moveTo>
                        <a:pt x="0" y="0"/>
                      </a:moveTo>
                      <a:lnTo>
                        <a:pt x="2083" y="2087"/>
                      </a:lnTo>
                      <a:lnTo>
                        <a:pt x="2084" y="2087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7" name="Freeform 109"/>
                <p:cNvSpPr>
                  <a:spLocks noChangeAspect="1" noChangeArrowheads="1"/>
                </p:cNvSpPr>
                <p:nvPr/>
              </p:nvSpPr>
              <p:spPr bwMode="auto">
                <a:xfrm>
                  <a:off x="2261" y="1516"/>
                  <a:ext cx="260" cy="259"/>
                </a:xfrm>
                <a:custGeom>
                  <a:avLst/>
                  <a:gdLst>
                    <a:gd name="T0" fmla="*/ 0 w 2338"/>
                    <a:gd name="T1" fmla="*/ 0 h 2338"/>
                    <a:gd name="T2" fmla="*/ 2337 w 2338"/>
                    <a:gd name="T3" fmla="*/ 2338 h 2338"/>
                    <a:gd name="T4" fmla="*/ 2338 w 2338"/>
                    <a:gd name="T5" fmla="*/ 2338 h 23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338" h="2338">
                      <a:moveTo>
                        <a:pt x="0" y="0"/>
                      </a:moveTo>
                      <a:lnTo>
                        <a:pt x="2337" y="2338"/>
                      </a:lnTo>
                      <a:lnTo>
                        <a:pt x="2338" y="2338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8" name="Freeform 110"/>
                <p:cNvSpPr>
                  <a:spLocks noChangeAspect="1" noChangeArrowheads="1"/>
                </p:cNvSpPr>
                <p:nvPr/>
              </p:nvSpPr>
              <p:spPr bwMode="auto">
                <a:xfrm>
                  <a:off x="2231" y="1590"/>
                  <a:ext cx="216" cy="215"/>
                </a:xfrm>
                <a:custGeom>
                  <a:avLst/>
                  <a:gdLst>
                    <a:gd name="T0" fmla="*/ 0 w 1940"/>
                    <a:gd name="T1" fmla="*/ 0 h 1941"/>
                    <a:gd name="T2" fmla="*/ 1939 w 1940"/>
                    <a:gd name="T3" fmla="*/ 1941 h 1941"/>
                    <a:gd name="T4" fmla="*/ 1940 w 1940"/>
                    <a:gd name="T5" fmla="*/ 1941 h 19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40" h="1941">
                      <a:moveTo>
                        <a:pt x="0" y="0"/>
                      </a:moveTo>
                      <a:lnTo>
                        <a:pt x="1939" y="1941"/>
                      </a:lnTo>
                      <a:lnTo>
                        <a:pt x="1940" y="1941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59" name="Freeform 111"/>
                <p:cNvSpPr>
                  <a:spLocks noChangeAspect="1" noChangeArrowheads="1"/>
                </p:cNvSpPr>
                <p:nvPr/>
              </p:nvSpPr>
              <p:spPr bwMode="auto">
                <a:xfrm>
                  <a:off x="2231" y="1694"/>
                  <a:ext cx="112" cy="111"/>
                </a:xfrm>
                <a:custGeom>
                  <a:avLst/>
                  <a:gdLst>
                    <a:gd name="T0" fmla="*/ 0 w 1004"/>
                    <a:gd name="T1" fmla="*/ 0 h 1003"/>
                    <a:gd name="T2" fmla="*/ 1003 w 1004"/>
                    <a:gd name="T3" fmla="*/ 1003 h 1003"/>
                    <a:gd name="T4" fmla="*/ 1004 w 1004"/>
                    <a:gd name="T5" fmla="*/ 1003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04" h="1003">
                      <a:moveTo>
                        <a:pt x="0" y="0"/>
                      </a:moveTo>
                      <a:lnTo>
                        <a:pt x="1003" y="1003"/>
                      </a:lnTo>
                      <a:lnTo>
                        <a:pt x="1004" y="1003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60" name="Freeform 112"/>
                <p:cNvSpPr>
                  <a:spLocks noChangeAspect="1" noChangeArrowheads="1"/>
                </p:cNvSpPr>
                <p:nvPr/>
              </p:nvSpPr>
              <p:spPr bwMode="auto">
                <a:xfrm>
                  <a:off x="2231" y="1798"/>
                  <a:ext cx="8" cy="7"/>
                </a:xfrm>
                <a:custGeom>
                  <a:avLst/>
                  <a:gdLst>
                    <a:gd name="T0" fmla="*/ 0 w 69"/>
                    <a:gd name="T1" fmla="*/ 0 h 67"/>
                    <a:gd name="T2" fmla="*/ 68 w 69"/>
                    <a:gd name="T3" fmla="*/ 67 h 67"/>
                    <a:gd name="T4" fmla="*/ 69 w 69"/>
                    <a:gd name="T5" fmla="*/ 67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9" h="67">
                      <a:moveTo>
                        <a:pt x="0" y="0"/>
                      </a:moveTo>
                      <a:lnTo>
                        <a:pt x="68" y="67"/>
                      </a:lnTo>
                      <a:lnTo>
                        <a:pt x="69" y="67"/>
                      </a:lnTo>
                    </a:path>
                  </a:pathLst>
                </a:cu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</p:grpSp>
        <p:grpSp>
          <p:nvGrpSpPr>
            <p:cNvPr id="8" name="Group 113"/>
            <p:cNvGrpSpPr>
              <a:grpSpLocks noChangeAspect="1"/>
            </p:cNvGrpSpPr>
            <p:nvPr/>
          </p:nvGrpSpPr>
          <p:grpSpPr bwMode="auto">
            <a:xfrm>
              <a:off x="3534" y="2958"/>
              <a:ext cx="231" cy="901"/>
              <a:chOff x="2607" y="2314"/>
              <a:chExt cx="175" cy="682"/>
            </a:xfrm>
          </p:grpSpPr>
          <p:sp>
            <p:nvSpPr>
              <p:cNvPr id="9" name="Freeform 114"/>
              <p:cNvSpPr>
                <a:spLocks noChangeAspect="1" noChangeArrowheads="1"/>
              </p:cNvSpPr>
              <p:nvPr/>
            </p:nvSpPr>
            <p:spPr bwMode="auto">
              <a:xfrm>
                <a:off x="2696" y="2747"/>
                <a:ext cx="1" cy="249"/>
              </a:xfrm>
              <a:custGeom>
                <a:avLst/>
                <a:gdLst>
                  <a:gd name="T0" fmla="*/ 0 w 1"/>
                  <a:gd name="T1" fmla="*/ 2241 h 2241"/>
                  <a:gd name="T2" fmla="*/ 0 w 1"/>
                  <a:gd name="T3" fmla="*/ 0 h 2241"/>
                  <a:gd name="T4" fmla="*/ 1 w 1"/>
                  <a:gd name="T5" fmla="*/ 0 h 2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241">
                    <a:moveTo>
                      <a:pt x="0" y="224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0" name="Freeform 115"/>
              <p:cNvSpPr>
                <a:spLocks noChangeAspect="1" noChangeArrowheads="1"/>
              </p:cNvSpPr>
              <p:nvPr/>
            </p:nvSpPr>
            <p:spPr bwMode="auto">
              <a:xfrm>
                <a:off x="2696" y="2673"/>
                <a:ext cx="1" cy="37"/>
              </a:xfrm>
              <a:custGeom>
                <a:avLst/>
                <a:gdLst>
                  <a:gd name="T0" fmla="*/ 0 w 1"/>
                  <a:gd name="T1" fmla="*/ 331 h 331"/>
                  <a:gd name="T2" fmla="*/ 0 w 1"/>
                  <a:gd name="T3" fmla="*/ 0 h 331"/>
                  <a:gd name="T4" fmla="*/ 1 w 1"/>
                  <a:gd name="T5" fmla="*/ 0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31">
                    <a:moveTo>
                      <a:pt x="0" y="33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1" name="Freeform 116"/>
              <p:cNvSpPr>
                <a:spLocks noChangeAspect="1" noChangeArrowheads="1"/>
              </p:cNvSpPr>
              <p:nvPr/>
            </p:nvSpPr>
            <p:spPr bwMode="auto">
              <a:xfrm>
                <a:off x="2696" y="2600"/>
                <a:ext cx="1" cy="36"/>
              </a:xfrm>
              <a:custGeom>
                <a:avLst/>
                <a:gdLst>
                  <a:gd name="T0" fmla="*/ 0 w 1"/>
                  <a:gd name="T1" fmla="*/ 331 h 331"/>
                  <a:gd name="T2" fmla="*/ 0 w 1"/>
                  <a:gd name="T3" fmla="*/ 0 h 331"/>
                  <a:gd name="T4" fmla="*/ 1 w 1"/>
                  <a:gd name="T5" fmla="*/ 0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31">
                    <a:moveTo>
                      <a:pt x="0" y="33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2" name="Freeform 117"/>
              <p:cNvSpPr>
                <a:spLocks noChangeAspect="1" noChangeArrowheads="1"/>
              </p:cNvSpPr>
              <p:nvPr/>
            </p:nvSpPr>
            <p:spPr bwMode="auto">
              <a:xfrm>
                <a:off x="2696" y="2314"/>
                <a:ext cx="1" cy="249"/>
              </a:xfrm>
              <a:custGeom>
                <a:avLst/>
                <a:gdLst>
                  <a:gd name="T0" fmla="*/ 0 w 1"/>
                  <a:gd name="T1" fmla="*/ 2241 h 2241"/>
                  <a:gd name="T2" fmla="*/ 0 w 1"/>
                  <a:gd name="T3" fmla="*/ 0 h 2241"/>
                  <a:gd name="T4" fmla="*/ 1 w 1"/>
                  <a:gd name="T5" fmla="*/ 0 h 2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241">
                    <a:moveTo>
                      <a:pt x="0" y="224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grpSp>
            <p:nvGrpSpPr>
              <p:cNvPr id="13" name="Group 118"/>
              <p:cNvGrpSpPr>
                <a:grpSpLocks noChangeAspect="1"/>
              </p:cNvGrpSpPr>
              <p:nvPr/>
            </p:nvGrpSpPr>
            <p:grpSpPr bwMode="auto">
              <a:xfrm>
                <a:off x="2607" y="2342"/>
                <a:ext cx="175" cy="639"/>
                <a:chOff x="2607" y="2342"/>
                <a:chExt cx="175" cy="639"/>
              </a:xfrm>
            </p:grpSpPr>
            <p:sp>
              <p:nvSpPr>
                <p:cNvPr id="14" name="Freeform 119"/>
                <p:cNvSpPr>
                  <a:spLocks noChangeAspect="1" noChangeArrowheads="1"/>
                </p:cNvSpPr>
                <p:nvPr/>
              </p:nvSpPr>
              <p:spPr bwMode="auto">
                <a:xfrm>
                  <a:off x="2671" y="2343"/>
                  <a:ext cx="110" cy="109"/>
                </a:xfrm>
                <a:custGeom>
                  <a:avLst/>
                  <a:gdLst>
                    <a:gd name="T0" fmla="*/ 0 w 988"/>
                    <a:gd name="T1" fmla="*/ 0 h 988"/>
                    <a:gd name="T2" fmla="*/ 219 w 988"/>
                    <a:gd name="T3" fmla="*/ 219 h 988"/>
                    <a:gd name="T4" fmla="*/ 987 w 988"/>
                    <a:gd name="T5" fmla="*/ 988 h 988"/>
                    <a:gd name="T6" fmla="*/ 988 w 988"/>
                    <a:gd name="T7" fmla="*/ 988 h 9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88" h="988">
                      <a:moveTo>
                        <a:pt x="0" y="0"/>
                      </a:moveTo>
                      <a:lnTo>
                        <a:pt x="219" y="219"/>
                      </a:lnTo>
                      <a:lnTo>
                        <a:pt x="987" y="988"/>
                      </a:lnTo>
                      <a:lnTo>
                        <a:pt x="988" y="988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5" name="Freeform 120"/>
                <p:cNvSpPr>
                  <a:spLocks noChangeAspect="1" noChangeArrowheads="1"/>
                </p:cNvSpPr>
                <p:nvPr/>
              </p:nvSpPr>
              <p:spPr bwMode="auto">
                <a:xfrm>
                  <a:off x="2612" y="2387"/>
                  <a:ext cx="169" cy="170"/>
                </a:xfrm>
                <a:custGeom>
                  <a:avLst/>
                  <a:gdLst>
                    <a:gd name="T0" fmla="*/ 0 w 1522"/>
                    <a:gd name="T1" fmla="*/ 0 h 1523"/>
                    <a:gd name="T2" fmla="*/ 753 w 1522"/>
                    <a:gd name="T3" fmla="*/ 753 h 1523"/>
                    <a:gd name="T4" fmla="*/ 1521 w 1522"/>
                    <a:gd name="T5" fmla="*/ 1523 h 1523"/>
                    <a:gd name="T6" fmla="*/ 1522 w 1522"/>
                    <a:gd name="T7" fmla="*/ 1523 h 15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522" h="1523">
                      <a:moveTo>
                        <a:pt x="0" y="0"/>
                      </a:moveTo>
                      <a:lnTo>
                        <a:pt x="753" y="753"/>
                      </a:lnTo>
                      <a:lnTo>
                        <a:pt x="1521" y="1523"/>
                      </a:lnTo>
                      <a:lnTo>
                        <a:pt x="1522" y="1523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6" name="Freeform 121"/>
                <p:cNvSpPr>
                  <a:spLocks noChangeAspect="1" noChangeArrowheads="1"/>
                </p:cNvSpPr>
                <p:nvPr/>
              </p:nvSpPr>
              <p:spPr bwMode="auto">
                <a:xfrm>
                  <a:off x="2607" y="2487"/>
                  <a:ext cx="174" cy="174"/>
                </a:xfrm>
                <a:custGeom>
                  <a:avLst/>
                  <a:gdLst>
                    <a:gd name="T0" fmla="*/ 0 w 1564"/>
                    <a:gd name="T1" fmla="*/ 0 h 1565"/>
                    <a:gd name="T2" fmla="*/ 795 w 1564"/>
                    <a:gd name="T3" fmla="*/ 796 h 1565"/>
                    <a:gd name="T4" fmla="*/ 1563 w 1564"/>
                    <a:gd name="T5" fmla="*/ 1565 h 1565"/>
                    <a:gd name="T6" fmla="*/ 1564 w 1564"/>
                    <a:gd name="T7" fmla="*/ 1565 h 1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564" h="1565">
                      <a:moveTo>
                        <a:pt x="0" y="0"/>
                      </a:moveTo>
                      <a:lnTo>
                        <a:pt x="795" y="796"/>
                      </a:lnTo>
                      <a:lnTo>
                        <a:pt x="1563" y="1565"/>
                      </a:lnTo>
                      <a:lnTo>
                        <a:pt x="1564" y="1565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7" name="Freeform 122"/>
                <p:cNvSpPr>
                  <a:spLocks noChangeAspect="1" noChangeArrowheads="1"/>
                </p:cNvSpPr>
                <p:nvPr/>
              </p:nvSpPr>
              <p:spPr bwMode="auto">
                <a:xfrm>
                  <a:off x="2607" y="2591"/>
                  <a:ext cx="71" cy="70"/>
                </a:xfrm>
                <a:custGeom>
                  <a:avLst/>
                  <a:gdLst>
                    <a:gd name="T0" fmla="*/ 0 w 631"/>
                    <a:gd name="T1" fmla="*/ 0 h 631"/>
                    <a:gd name="T2" fmla="*/ 630 w 631"/>
                    <a:gd name="T3" fmla="*/ 631 h 631"/>
                    <a:gd name="T4" fmla="*/ 631 w 631"/>
                    <a:gd name="T5" fmla="*/ 631 h 6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31" h="631">
                      <a:moveTo>
                        <a:pt x="0" y="0"/>
                      </a:moveTo>
                      <a:lnTo>
                        <a:pt x="630" y="631"/>
                      </a:lnTo>
                      <a:lnTo>
                        <a:pt x="631" y="631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8" name="Freeform 123"/>
                <p:cNvSpPr>
                  <a:spLocks noChangeAspect="1" noChangeArrowheads="1"/>
                </p:cNvSpPr>
                <p:nvPr/>
              </p:nvSpPr>
              <p:spPr bwMode="auto">
                <a:xfrm>
                  <a:off x="2696" y="2679"/>
                  <a:ext cx="85" cy="86"/>
                </a:xfrm>
                <a:custGeom>
                  <a:avLst/>
                  <a:gdLst>
                    <a:gd name="T0" fmla="*/ 0 w 769"/>
                    <a:gd name="T1" fmla="*/ 0 h 769"/>
                    <a:gd name="T2" fmla="*/ 768 w 769"/>
                    <a:gd name="T3" fmla="*/ 769 h 769"/>
                    <a:gd name="T4" fmla="*/ 769 w 769"/>
                    <a:gd name="T5" fmla="*/ 769 h 7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769" h="769">
                      <a:moveTo>
                        <a:pt x="0" y="0"/>
                      </a:moveTo>
                      <a:lnTo>
                        <a:pt x="768" y="769"/>
                      </a:lnTo>
                      <a:lnTo>
                        <a:pt x="769" y="769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9" name="Freeform 124"/>
                <p:cNvSpPr>
                  <a:spLocks noChangeAspect="1" noChangeArrowheads="1"/>
                </p:cNvSpPr>
                <p:nvPr/>
              </p:nvSpPr>
              <p:spPr bwMode="auto">
                <a:xfrm>
                  <a:off x="2677" y="2661"/>
                  <a:ext cx="19" cy="18"/>
                </a:xfrm>
                <a:custGeom>
                  <a:avLst/>
                  <a:gdLst>
                    <a:gd name="T0" fmla="*/ 0 w 166"/>
                    <a:gd name="T1" fmla="*/ 0 h 165"/>
                    <a:gd name="T2" fmla="*/ 165 w 166"/>
                    <a:gd name="T3" fmla="*/ 165 h 165"/>
                    <a:gd name="T4" fmla="*/ 166 w 166"/>
                    <a:gd name="T5" fmla="*/ 165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66" h="165">
                      <a:moveTo>
                        <a:pt x="0" y="0"/>
                      </a:moveTo>
                      <a:lnTo>
                        <a:pt x="165" y="165"/>
                      </a:lnTo>
                      <a:lnTo>
                        <a:pt x="166" y="165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0" name="Freeform 125"/>
                <p:cNvSpPr>
                  <a:spLocks noChangeAspect="1" noChangeArrowheads="1"/>
                </p:cNvSpPr>
                <p:nvPr/>
              </p:nvSpPr>
              <p:spPr bwMode="auto">
                <a:xfrm>
                  <a:off x="2607" y="2695"/>
                  <a:ext cx="174" cy="174"/>
                </a:xfrm>
                <a:custGeom>
                  <a:avLst/>
                  <a:gdLst>
                    <a:gd name="T0" fmla="*/ 0 w 1564"/>
                    <a:gd name="T1" fmla="*/ 0 h 1565"/>
                    <a:gd name="T2" fmla="*/ 795 w 1564"/>
                    <a:gd name="T3" fmla="*/ 795 h 1565"/>
                    <a:gd name="T4" fmla="*/ 1563 w 1564"/>
                    <a:gd name="T5" fmla="*/ 1565 h 1565"/>
                    <a:gd name="T6" fmla="*/ 1564 w 1564"/>
                    <a:gd name="T7" fmla="*/ 1565 h 1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564" h="1565">
                      <a:moveTo>
                        <a:pt x="0" y="0"/>
                      </a:moveTo>
                      <a:lnTo>
                        <a:pt x="795" y="795"/>
                      </a:lnTo>
                      <a:lnTo>
                        <a:pt x="1563" y="1565"/>
                      </a:lnTo>
                      <a:lnTo>
                        <a:pt x="1564" y="1565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1" name="Freeform 126"/>
                <p:cNvSpPr>
                  <a:spLocks noChangeAspect="1" noChangeArrowheads="1"/>
                </p:cNvSpPr>
                <p:nvPr/>
              </p:nvSpPr>
              <p:spPr bwMode="auto">
                <a:xfrm>
                  <a:off x="2607" y="2799"/>
                  <a:ext cx="157" cy="157"/>
                </a:xfrm>
                <a:custGeom>
                  <a:avLst/>
                  <a:gdLst>
                    <a:gd name="T0" fmla="*/ 0 w 1408"/>
                    <a:gd name="T1" fmla="*/ 0 h 1409"/>
                    <a:gd name="T2" fmla="*/ 795 w 1408"/>
                    <a:gd name="T3" fmla="*/ 796 h 1409"/>
                    <a:gd name="T4" fmla="*/ 1407 w 1408"/>
                    <a:gd name="T5" fmla="*/ 1409 h 1409"/>
                    <a:gd name="T6" fmla="*/ 1408 w 1408"/>
                    <a:gd name="T7" fmla="*/ 1409 h 14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08" h="1409">
                      <a:moveTo>
                        <a:pt x="0" y="0"/>
                      </a:moveTo>
                      <a:lnTo>
                        <a:pt x="795" y="796"/>
                      </a:lnTo>
                      <a:lnTo>
                        <a:pt x="1407" y="1409"/>
                      </a:lnTo>
                      <a:lnTo>
                        <a:pt x="1408" y="1409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2" name="Freeform 127"/>
                <p:cNvSpPr>
                  <a:spLocks noChangeAspect="1" noChangeArrowheads="1"/>
                </p:cNvSpPr>
                <p:nvPr/>
              </p:nvSpPr>
              <p:spPr bwMode="auto">
                <a:xfrm>
                  <a:off x="2607" y="2903"/>
                  <a:ext cx="77" cy="77"/>
                </a:xfrm>
                <a:custGeom>
                  <a:avLst/>
                  <a:gdLst>
                    <a:gd name="T0" fmla="*/ 0 w 689"/>
                    <a:gd name="T1" fmla="*/ 0 h 689"/>
                    <a:gd name="T2" fmla="*/ 688 w 689"/>
                    <a:gd name="T3" fmla="*/ 689 h 689"/>
                    <a:gd name="T4" fmla="*/ 689 w 689"/>
                    <a:gd name="T5" fmla="*/ 689 h 6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89" h="689">
                      <a:moveTo>
                        <a:pt x="0" y="0"/>
                      </a:moveTo>
                      <a:lnTo>
                        <a:pt x="688" y="689"/>
                      </a:lnTo>
                      <a:lnTo>
                        <a:pt x="689" y="689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3" name="Freeform 128"/>
                <p:cNvSpPr>
                  <a:spLocks noChangeAspect="1" noChangeArrowheads="1"/>
                </p:cNvSpPr>
                <p:nvPr/>
              </p:nvSpPr>
              <p:spPr bwMode="auto">
                <a:xfrm>
                  <a:off x="2607" y="2412"/>
                  <a:ext cx="1" cy="498"/>
                </a:xfrm>
                <a:custGeom>
                  <a:avLst/>
                  <a:gdLst>
                    <a:gd name="T0" fmla="*/ 0 w 1"/>
                    <a:gd name="T1" fmla="*/ 0 h 4487"/>
                    <a:gd name="T2" fmla="*/ 0 w 1"/>
                    <a:gd name="T3" fmla="*/ 4487 h 4487"/>
                    <a:gd name="T4" fmla="*/ 1 w 1"/>
                    <a:gd name="T5" fmla="*/ 4487 h 44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4487">
                      <a:moveTo>
                        <a:pt x="0" y="0"/>
                      </a:moveTo>
                      <a:lnTo>
                        <a:pt x="0" y="4487"/>
                      </a:lnTo>
                      <a:lnTo>
                        <a:pt x="1" y="4487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4" name="Freeform 129"/>
                <p:cNvSpPr>
                  <a:spLocks noChangeAspect="1" noChangeArrowheads="1"/>
                </p:cNvSpPr>
                <p:nvPr/>
              </p:nvSpPr>
              <p:spPr bwMode="auto">
                <a:xfrm>
                  <a:off x="2781" y="2412"/>
                  <a:ext cx="1" cy="498"/>
                </a:xfrm>
                <a:custGeom>
                  <a:avLst/>
                  <a:gdLst>
                    <a:gd name="T0" fmla="*/ 0 w 1"/>
                    <a:gd name="T1" fmla="*/ 4487 h 4487"/>
                    <a:gd name="T2" fmla="*/ 0 w 1"/>
                    <a:gd name="T3" fmla="*/ 0 h 4487"/>
                    <a:gd name="T4" fmla="*/ 1 w 1"/>
                    <a:gd name="T5" fmla="*/ 0 h 44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4487">
                      <a:moveTo>
                        <a:pt x="0" y="4487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5" name="Freeform 130"/>
                <p:cNvSpPr>
                  <a:spLocks noChangeAspect="1" noChangeArrowheads="1"/>
                </p:cNvSpPr>
                <p:nvPr/>
              </p:nvSpPr>
              <p:spPr bwMode="auto">
                <a:xfrm>
                  <a:off x="2677" y="2342"/>
                  <a:ext cx="35" cy="1"/>
                </a:xfrm>
                <a:custGeom>
                  <a:avLst/>
                  <a:gdLst>
                    <a:gd name="T0" fmla="*/ 312 w 312"/>
                    <a:gd name="T1" fmla="*/ 0 h 1"/>
                    <a:gd name="T2" fmla="*/ 0 w 312"/>
                    <a:gd name="T3" fmla="*/ 0 h 1"/>
                    <a:gd name="T4" fmla="*/ 1 w 31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12" h="1">
                      <a:moveTo>
                        <a:pt x="312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6" name="Freeform 131"/>
                <p:cNvSpPr>
                  <a:spLocks noChangeAspect="1" noChangeArrowheads="1"/>
                </p:cNvSpPr>
                <p:nvPr/>
              </p:nvSpPr>
              <p:spPr bwMode="auto">
                <a:xfrm>
                  <a:off x="2607" y="2342"/>
                  <a:ext cx="70" cy="70"/>
                </a:xfrm>
                <a:custGeom>
                  <a:avLst/>
                  <a:gdLst>
                    <a:gd name="T0" fmla="*/ 0 w 626"/>
                    <a:gd name="T1" fmla="*/ 625 h 625"/>
                    <a:gd name="T2" fmla="*/ 12 w 626"/>
                    <a:gd name="T3" fmla="*/ 502 h 625"/>
                    <a:gd name="T4" fmla="*/ 50 w 626"/>
                    <a:gd name="T5" fmla="*/ 381 h 625"/>
                    <a:gd name="T6" fmla="*/ 111 w 626"/>
                    <a:gd name="T7" fmla="*/ 269 h 625"/>
                    <a:gd name="T8" fmla="*/ 193 w 626"/>
                    <a:gd name="T9" fmla="*/ 173 h 625"/>
                    <a:gd name="T10" fmla="*/ 282 w 626"/>
                    <a:gd name="T11" fmla="*/ 102 h 625"/>
                    <a:gd name="T12" fmla="*/ 388 w 626"/>
                    <a:gd name="T13" fmla="*/ 46 h 625"/>
                    <a:gd name="T14" fmla="*/ 505 w 626"/>
                    <a:gd name="T15" fmla="*/ 11 h 625"/>
                    <a:gd name="T16" fmla="*/ 625 w 626"/>
                    <a:gd name="T17" fmla="*/ 0 h 625"/>
                    <a:gd name="T18" fmla="*/ 626 w 626"/>
                    <a:gd name="T19" fmla="*/ 0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26" h="625">
                      <a:moveTo>
                        <a:pt x="0" y="625"/>
                      </a:moveTo>
                      <a:lnTo>
                        <a:pt x="12" y="502"/>
                      </a:lnTo>
                      <a:lnTo>
                        <a:pt x="50" y="381"/>
                      </a:lnTo>
                      <a:lnTo>
                        <a:pt x="111" y="269"/>
                      </a:lnTo>
                      <a:lnTo>
                        <a:pt x="193" y="173"/>
                      </a:lnTo>
                      <a:lnTo>
                        <a:pt x="282" y="102"/>
                      </a:lnTo>
                      <a:lnTo>
                        <a:pt x="388" y="46"/>
                      </a:lnTo>
                      <a:lnTo>
                        <a:pt x="505" y="11"/>
                      </a:lnTo>
                      <a:lnTo>
                        <a:pt x="625" y="0"/>
                      </a:lnTo>
                      <a:lnTo>
                        <a:pt x="626" y="0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7" name="Freeform 132"/>
                <p:cNvSpPr>
                  <a:spLocks noChangeAspect="1" noChangeArrowheads="1"/>
                </p:cNvSpPr>
                <p:nvPr/>
              </p:nvSpPr>
              <p:spPr bwMode="auto">
                <a:xfrm>
                  <a:off x="2712" y="2342"/>
                  <a:ext cx="69" cy="70"/>
                </a:xfrm>
                <a:custGeom>
                  <a:avLst/>
                  <a:gdLst>
                    <a:gd name="T0" fmla="*/ 0 w 627"/>
                    <a:gd name="T1" fmla="*/ 0 h 625"/>
                    <a:gd name="T2" fmla="*/ 120 w 627"/>
                    <a:gd name="T3" fmla="*/ 11 h 625"/>
                    <a:gd name="T4" fmla="*/ 237 w 627"/>
                    <a:gd name="T5" fmla="*/ 46 h 625"/>
                    <a:gd name="T6" fmla="*/ 344 w 627"/>
                    <a:gd name="T7" fmla="*/ 102 h 625"/>
                    <a:gd name="T8" fmla="*/ 433 w 627"/>
                    <a:gd name="T9" fmla="*/ 173 h 625"/>
                    <a:gd name="T10" fmla="*/ 514 w 627"/>
                    <a:gd name="T11" fmla="*/ 269 h 625"/>
                    <a:gd name="T12" fmla="*/ 576 w 627"/>
                    <a:gd name="T13" fmla="*/ 381 h 625"/>
                    <a:gd name="T14" fmla="*/ 614 w 627"/>
                    <a:gd name="T15" fmla="*/ 502 h 625"/>
                    <a:gd name="T16" fmla="*/ 626 w 627"/>
                    <a:gd name="T17" fmla="*/ 625 h 625"/>
                    <a:gd name="T18" fmla="*/ 627 w 627"/>
                    <a:gd name="T19" fmla="*/ 625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27" h="625">
                      <a:moveTo>
                        <a:pt x="0" y="0"/>
                      </a:moveTo>
                      <a:lnTo>
                        <a:pt x="120" y="11"/>
                      </a:lnTo>
                      <a:lnTo>
                        <a:pt x="237" y="46"/>
                      </a:lnTo>
                      <a:lnTo>
                        <a:pt x="344" y="102"/>
                      </a:lnTo>
                      <a:lnTo>
                        <a:pt x="433" y="173"/>
                      </a:lnTo>
                      <a:lnTo>
                        <a:pt x="514" y="269"/>
                      </a:lnTo>
                      <a:lnTo>
                        <a:pt x="576" y="381"/>
                      </a:lnTo>
                      <a:lnTo>
                        <a:pt x="614" y="502"/>
                      </a:lnTo>
                      <a:lnTo>
                        <a:pt x="626" y="625"/>
                      </a:lnTo>
                      <a:lnTo>
                        <a:pt x="627" y="625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8" name="Freeform 133"/>
                <p:cNvSpPr>
                  <a:spLocks noChangeAspect="1" noChangeArrowheads="1"/>
                </p:cNvSpPr>
                <p:nvPr/>
              </p:nvSpPr>
              <p:spPr bwMode="auto">
                <a:xfrm>
                  <a:off x="2677" y="2980"/>
                  <a:ext cx="35" cy="1"/>
                </a:xfrm>
                <a:custGeom>
                  <a:avLst/>
                  <a:gdLst>
                    <a:gd name="T0" fmla="*/ 0 w 313"/>
                    <a:gd name="T1" fmla="*/ 0 h 1"/>
                    <a:gd name="T2" fmla="*/ 312 w 313"/>
                    <a:gd name="T3" fmla="*/ 0 h 1"/>
                    <a:gd name="T4" fmla="*/ 313 w 313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13" h="1">
                      <a:moveTo>
                        <a:pt x="0" y="0"/>
                      </a:moveTo>
                      <a:lnTo>
                        <a:pt x="312" y="0"/>
                      </a:lnTo>
                      <a:lnTo>
                        <a:pt x="313" y="0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29" name="Freeform 134"/>
                <p:cNvSpPr>
                  <a:spLocks noChangeAspect="1" noChangeArrowheads="1"/>
                </p:cNvSpPr>
                <p:nvPr/>
              </p:nvSpPr>
              <p:spPr bwMode="auto">
                <a:xfrm>
                  <a:off x="2607" y="2910"/>
                  <a:ext cx="70" cy="70"/>
                </a:xfrm>
                <a:custGeom>
                  <a:avLst/>
                  <a:gdLst>
                    <a:gd name="T0" fmla="*/ 625 w 625"/>
                    <a:gd name="T1" fmla="*/ 625 h 625"/>
                    <a:gd name="T2" fmla="*/ 505 w 625"/>
                    <a:gd name="T3" fmla="*/ 614 h 625"/>
                    <a:gd name="T4" fmla="*/ 388 w 625"/>
                    <a:gd name="T5" fmla="*/ 578 h 625"/>
                    <a:gd name="T6" fmla="*/ 282 w 625"/>
                    <a:gd name="T7" fmla="*/ 522 h 625"/>
                    <a:gd name="T8" fmla="*/ 193 w 625"/>
                    <a:gd name="T9" fmla="*/ 451 h 625"/>
                    <a:gd name="T10" fmla="*/ 111 w 625"/>
                    <a:gd name="T11" fmla="*/ 355 h 625"/>
                    <a:gd name="T12" fmla="*/ 50 w 625"/>
                    <a:gd name="T13" fmla="*/ 244 h 625"/>
                    <a:gd name="T14" fmla="*/ 12 w 625"/>
                    <a:gd name="T15" fmla="*/ 122 h 625"/>
                    <a:gd name="T16" fmla="*/ 0 w 625"/>
                    <a:gd name="T17" fmla="*/ 0 h 625"/>
                    <a:gd name="T18" fmla="*/ 1 w 625"/>
                    <a:gd name="T19" fmla="*/ 0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25" h="625">
                      <a:moveTo>
                        <a:pt x="625" y="625"/>
                      </a:moveTo>
                      <a:lnTo>
                        <a:pt x="505" y="614"/>
                      </a:lnTo>
                      <a:lnTo>
                        <a:pt x="388" y="578"/>
                      </a:lnTo>
                      <a:lnTo>
                        <a:pt x="282" y="522"/>
                      </a:lnTo>
                      <a:lnTo>
                        <a:pt x="193" y="451"/>
                      </a:lnTo>
                      <a:lnTo>
                        <a:pt x="111" y="355"/>
                      </a:lnTo>
                      <a:lnTo>
                        <a:pt x="50" y="244"/>
                      </a:lnTo>
                      <a:lnTo>
                        <a:pt x="12" y="122"/>
                      </a:ln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30" name="Freeform 135"/>
                <p:cNvSpPr>
                  <a:spLocks noChangeAspect="1" noChangeArrowheads="1"/>
                </p:cNvSpPr>
                <p:nvPr/>
              </p:nvSpPr>
              <p:spPr bwMode="auto">
                <a:xfrm>
                  <a:off x="2712" y="2910"/>
                  <a:ext cx="69" cy="70"/>
                </a:xfrm>
                <a:custGeom>
                  <a:avLst/>
                  <a:gdLst>
                    <a:gd name="T0" fmla="*/ 626 w 626"/>
                    <a:gd name="T1" fmla="*/ 0 h 625"/>
                    <a:gd name="T2" fmla="*/ 614 w 626"/>
                    <a:gd name="T3" fmla="*/ 122 h 625"/>
                    <a:gd name="T4" fmla="*/ 576 w 626"/>
                    <a:gd name="T5" fmla="*/ 244 h 625"/>
                    <a:gd name="T6" fmla="*/ 514 w 626"/>
                    <a:gd name="T7" fmla="*/ 355 h 625"/>
                    <a:gd name="T8" fmla="*/ 433 w 626"/>
                    <a:gd name="T9" fmla="*/ 451 h 625"/>
                    <a:gd name="T10" fmla="*/ 344 w 626"/>
                    <a:gd name="T11" fmla="*/ 522 h 625"/>
                    <a:gd name="T12" fmla="*/ 237 w 626"/>
                    <a:gd name="T13" fmla="*/ 578 h 625"/>
                    <a:gd name="T14" fmla="*/ 120 w 626"/>
                    <a:gd name="T15" fmla="*/ 614 h 625"/>
                    <a:gd name="T16" fmla="*/ 0 w 626"/>
                    <a:gd name="T17" fmla="*/ 625 h 625"/>
                    <a:gd name="T18" fmla="*/ 1 w 626"/>
                    <a:gd name="T19" fmla="*/ 625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26" h="625">
                      <a:moveTo>
                        <a:pt x="626" y="0"/>
                      </a:moveTo>
                      <a:lnTo>
                        <a:pt x="614" y="122"/>
                      </a:lnTo>
                      <a:lnTo>
                        <a:pt x="576" y="244"/>
                      </a:lnTo>
                      <a:lnTo>
                        <a:pt x="514" y="355"/>
                      </a:lnTo>
                      <a:lnTo>
                        <a:pt x="433" y="451"/>
                      </a:lnTo>
                      <a:lnTo>
                        <a:pt x="344" y="522"/>
                      </a:lnTo>
                      <a:lnTo>
                        <a:pt x="237" y="578"/>
                      </a:lnTo>
                      <a:lnTo>
                        <a:pt x="120" y="614"/>
                      </a:lnTo>
                      <a:lnTo>
                        <a:pt x="0" y="625"/>
                      </a:lnTo>
                      <a:lnTo>
                        <a:pt x="1" y="625"/>
                      </a:lnTo>
                    </a:path>
                  </a:pathLst>
                </a:custGeom>
                <a:noFill/>
                <a:ln w="9525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</p:grpSp>
      </p:grpSp>
      <p:grpSp>
        <p:nvGrpSpPr>
          <p:cNvPr id="137" name="Group 136"/>
          <p:cNvGrpSpPr>
            <a:grpSpLocks noChangeAspect="1"/>
          </p:cNvGrpSpPr>
          <p:nvPr/>
        </p:nvGrpSpPr>
        <p:grpSpPr bwMode="auto">
          <a:xfrm>
            <a:off x="6792914" y="971550"/>
            <a:ext cx="2479675" cy="1936750"/>
            <a:chOff x="711" y="1284"/>
            <a:chExt cx="2603" cy="2033"/>
          </a:xfrm>
        </p:grpSpPr>
        <p:grpSp>
          <p:nvGrpSpPr>
            <p:cNvPr id="138" name="Group 137"/>
            <p:cNvGrpSpPr>
              <a:grpSpLocks noChangeAspect="1"/>
            </p:cNvGrpSpPr>
            <p:nvPr/>
          </p:nvGrpSpPr>
          <p:grpSpPr bwMode="auto">
            <a:xfrm>
              <a:off x="2002" y="1284"/>
              <a:ext cx="347" cy="2033"/>
              <a:chOff x="2931" y="335"/>
              <a:chExt cx="566" cy="3310"/>
            </a:xfrm>
          </p:grpSpPr>
          <p:sp>
            <p:nvSpPr>
              <p:cNvPr id="196" name="Freeform 138"/>
              <p:cNvSpPr>
                <a:spLocks noChangeAspect="1" noChangeArrowheads="1"/>
              </p:cNvSpPr>
              <p:nvPr/>
            </p:nvSpPr>
            <p:spPr bwMode="auto">
              <a:xfrm>
                <a:off x="2931" y="373"/>
                <a:ext cx="3" cy="272"/>
              </a:xfrm>
              <a:custGeom>
                <a:avLst/>
                <a:gdLst>
                  <a:gd name="T0" fmla="*/ 0 w 1"/>
                  <a:gd name="T1" fmla="*/ 0 h 1003"/>
                  <a:gd name="T2" fmla="*/ 0 w 1"/>
                  <a:gd name="T3" fmla="*/ 1003 h 1003"/>
                  <a:gd name="T4" fmla="*/ 1 w 1"/>
                  <a:gd name="T5" fmla="*/ 10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03">
                    <a:moveTo>
                      <a:pt x="0" y="0"/>
                    </a:moveTo>
                    <a:lnTo>
                      <a:pt x="0" y="1003"/>
                    </a:lnTo>
                    <a:lnTo>
                      <a:pt x="1" y="1003"/>
                    </a:lnTo>
                  </a:path>
                </a:pathLst>
              </a:custGeom>
              <a:noFill/>
              <a:ln w="1270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7" name="Freeform 139"/>
              <p:cNvSpPr>
                <a:spLocks noChangeAspect="1" noChangeArrowheads="1"/>
              </p:cNvSpPr>
              <p:nvPr/>
            </p:nvSpPr>
            <p:spPr bwMode="auto">
              <a:xfrm>
                <a:off x="3271" y="335"/>
                <a:ext cx="226" cy="76"/>
              </a:xfrm>
              <a:custGeom>
                <a:avLst/>
                <a:gdLst>
                  <a:gd name="T0" fmla="*/ 0 w 831"/>
                  <a:gd name="T1" fmla="*/ 0 h 277"/>
                  <a:gd name="T2" fmla="*/ 831 w 831"/>
                  <a:gd name="T3" fmla="*/ 139 h 277"/>
                  <a:gd name="T4" fmla="*/ 0 w 831"/>
                  <a:gd name="T5" fmla="*/ 277 h 277"/>
                  <a:gd name="T6" fmla="*/ 0 w 831"/>
                  <a:gd name="T7" fmla="*/ 0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1" h="277">
                    <a:moveTo>
                      <a:pt x="0" y="0"/>
                    </a:moveTo>
                    <a:lnTo>
                      <a:pt x="831" y="139"/>
                    </a:lnTo>
                    <a:lnTo>
                      <a:pt x="0" y="2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FF00"/>
              </a:solidFill>
              <a:ln w="12700">
                <a:solidFill>
                  <a:srgbClr val="0099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8" name="Freeform 140"/>
              <p:cNvSpPr>
                <a:spLocks noChangeAspect="1" noChangeArrowheads="1"/>
              </p:cNvSpPr>
              <p:nvPr/>
            </p:nvSpPr>
            <p:spPr bwMode="auto">
              <a:xfrm>
                <a:off x="3271" y="335"/>
                <a:ext cx="226" cy="76"/>
              </a:xfrm>
              <a:custGeom>
                <a:avLst/>
                <a:gdLst>
                  <a:gd name="T0" fmla="*/ 0 w 831"/>
                  <a:gd name="T1" fmla="*/ 0 h 277"/>
                  <a:gd name="T2" fmla="*/ 831 w 831"/>
                  <a:gd name="T3" fmla="*/ 139 h 277"/>
                  <a:gd name="T4" fmla="*/ 0 w 831"/>
                  <a:gd name="T5" fmla="*/ 277 h 277"/>
                  <a:gd name="T6" fmla="*/ 0 w 831"/>
                  <a:gd name="T7" fmla="*/ 0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1" h="277">
                    <a:moveTo>
                      <a:pt x="0" y="0"/>
                    </a:moveTo>
                    <a:lnTo>
                      <a:pt x="831" y="139"/>
                    </a:lnTo>
                    <a:lnTo>
                      <a:pt x="0" y="277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9" name="Freeform 141"/>
              <p:cNvSpPr>
                <a:spLocks noChangeAspect="1" noChangeArrowheads="1"/>
              </p:cNvSpPr>
              <p:nvPr/>
            </p:nvSpPr>
            <p:spPr bwMode="auto">
              <a:xfrm>
                <a:off x="2931" y="373"/>
                <a:ext cx="340" cy="3"/>
              </a:xfrm>
              <a:custGeom>
                <a:avLst/>
                <a:gdLst>
                  <a:gd name="T0" fmla="*/ 1247 w 1247"/>
                  <a:gd name="T1" fmla="*/ 0 h 3"/>
                  <a:gd name="T2" fmla="*/ 0 w 1247"/>
                  <a:gd name="T3" fmla="*/ 0 h 3"/>
                  <a:gd name="T4" fmla="*/ 1 w 1247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47" h="3">
                    <a:moveTo>
                      <a:pt x="1247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0" name="Freeform 142"/>
              <p:cNvSpPr>
                <a:spLocks noChangeAspect="1" noChangeArrowheads="1"/>
              </p:cNvSpPr>
              <p:nvPr/>
            </p:nvSpPr>
            <p:spPr bwMode="auto">
              <a:xfrm>
                <a:off x="3271" y="3569"/>
                <a:ext cx="226" cy="76"/>
              </a:xfrm>
              <a:custGeom>
                <a:avLst/>
                <a:gdLst>
                  <a:gd name="T0" fmla="*/ 0 w 831"/>
                  <a:gd name="T1" fmla="*/ 0 h 276"/>
                  <a:gd name="T2" fmla="*/ 831 w 831"/>
                  <a:gd name="T3" fmla="*/ 138 h 276"/>
                  <a:gd name="T4" fmla="*/ 0 w 831"/>
                  <a:gd name="T5" fmla="*/ 276 h 276"/>
                  <a:gd name="T6" fmla="*/ 0 w 831"/>
                  <a:gd name="T7" fmla="*/ 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1" h="276">
                    <a:moveTo>
                      <a:pt x="0" y="0"/>
                    </a:moveTo>
                    <a:lnTo>
                      <a:pt x="831" y="138"/>
                    </a:lnTo>
                    <a:lnTo>
                      <a:pt x="0" y="2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FF00"/>
              </a:solidFill>
              <a:ln w="12700">
                <a:solidFill>
                  <a:srgbClr val="0099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1" name="Freeform 143"/>
              <p:cNvSpPr>
                <a:spLocks noChangeAspect="1" noChangeArrowheads="1"/>
              </p:cNvSpPr>
              <p:nvPr/>
            </p:nvSpPr>
            <p:spPr bwMode="auto">
              <a:xfrm>
                <a:off x="3271" y="3569"/>
                <a:ext cx="226" cy="76"/>
              </a:xfrm>
              <a:custGeom>
                <a:avLst/>
                <a:gdLst>
                  <a:gd name="T0" fmla="*/ 0 w 831"/>
                  <a:gd name="T1" fmla="*/ 0 h 276"/>
                  <a:gd name="T2" fmla="*/ 831 w 831"/>
                  <a:gd name="T3" fmla="*/ 138 h 276"/>
                  <a:gd name="T4" fmla="*/ 0 w 831"/>
                  <a:gd name="T5" fmla="*/ 276 h 276"/>
                  <a:gd name="T6" fmla="*/ 0 w 831"/>
                  <a:gd name="T7" fmla="*/ 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1" h="276">
                    <a:moveTo>
                      <a:pt x="0" y="0"/>
                    </a:moveTo>
                    <a:lnTo>
                      <a:pt x="831" y="138"/>
                    </a:lnTo>
                    <a:lnTo>
                      <a:pt x="0" y="276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2" name="Freeform 144"/>
              <p:cNvSpPr>
                <a:spLocks noChangeAspect="1" noChangeArrowheads="1"/>
              </p:cNvSpPr>
              <p:nvPr/>
            </p:nvSpPr>
            <p:spPr bwMode="auto">
              <a:xfrm>
                <a:off x="2931" y="3607"/>
                <a:ext cx="340" cy="3"/>
              </a:xfrm>
              <a:custGeom>
                <a:avLst/>
                <a:gdLst>
                  <a:gd name="T0" fmla="*/ 1247 w 1247"/>
                  <a:gd name="T1" fmla="*/ 0 h 3"/>
                  <a:gd name="T2" fmla="*/ 0 w 1247"/>
                  <a:gd name="T3" fmla="*/ 0 h 3"/>
                  <a:gd name="T4" fmla="*/ 1 w 1247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47" h="3">
                    <a:moveTo>
                      <a:pt x="1247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203" name="Freeform 145"/>
              <p:cNvSpPr>
                <a:spLocks noChangeAspect="1" noChangeArrowheads="1"/>
              </p:cNvSpPr>
              <p:nvPr/>
            </p:nvSpPr>
            <p:spPr bwMode="auto">
              <a:xfrm>
                <a:off x="2931" y="3248"/>
                <a:ext cx="3" cy="359"/>
              </a:xfrm>
              <a:custGeom>
                <a:avLst/>
                <a:gdLst>
                  <a:gd name="T0" fmla="*/ 0 w 1"/>
                  <a:gd name="T1" fmla="*/ 0 h 1323"/>
                  <a:gd name="T2" fmla="*/ 0 w 1"/>
                  <a:gd name="T3" fmla="*/ 1323 h 1323"/>
                  <a:gd name="T4" fmla="*/ 1 w 1"/>
                  <a:gd name="T5" fmla="*/ 1323 h 1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323">
                    <a:moveTo>
                      <a:pt x="0" y="0"/>
                    </a:moveTo>
                    <a:lnTo>
                      <a:pt x="0" y="1323"/>
                    </a:lnTo>
                    <a:lnTo>
                      <a:pt x="1" y="1323"/>
                    </a:lnTo>
                  </a:path>
                </a:pathLst>
              </a:custGeom>
              <a:noFill/>
              <a:ln w="1270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39" name="Group 146"/>
            <p:cNvGrpSpPr>
              <a:grpSpLocks noChangeAspect="1"/>
            </p:cNvGrpSpPr>
            <p:nvPr/>
          </p:nvGrpSpPr>
          <p:grpSpPr bwMode="auto">
            <a:xfrm>
              <a:off x="1992" y="1638"/>
              <a:ext cx="1036" cy="1399"/>
              <a:chOff x="2920" y="849"/>
              <a:chExt cx="1693" cy="2285"/>
            </a:xfrm>
          </p:grpSpPr>
          <p:sp>
            <p:nvSpPr>
              <p:cNvPr id="148" name="Freeform 147"/>
              <p:cNvSpPr>
                <a:spLocks noChangeAspect="1" noChangeArrowheads="1"/>
              </p:cNvSpPr>
              <p:nvPr/>
            </p:nvSpPr>
            <p:spPr bwMode="auto">
              <a:xfrm>
                <a:off x="2920" y="3131"/>
                <a:ext cx="1693" cy="3"/>
              </a:xfrm>
              <a:custGeom>
                <a:avLst/>
                <a:gdLst>
                  <a:gd name="T0" fmla="*/ 6233 w 6233"/>
                  <a:gd name="T1" fmla="*/ 0 h 3"/>
                  <a:gd name="T2" fmla="*/ 0 w 6233"/>
                  <a:gd name="T3" fmla="*/ 0 h 3"/>
                  <a:gd name="T4" fmla="*/ 1 w 623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233" h="3">
                    <a:moveTo>
                      <a:pt x="6233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49" name="Freeform 148"/>
              <p:cNvSpPr>
                <a:spLocks noChangeAspect="1" noChangeArrowheads="1"/>
              </p:cNvSpPr>
              <p:nvPr/>
            </p:nvSpPr>
            <p:spPr bwMode="auto">
              <a:xfrm>
                <a:off x="2920" y="849"/>
                <a:ext cx="3" cy="2282"/>
              </a:xfrm>
              <a:custGeom>
                <a:avLst/>
                <a:gdLst>
                  <a:gd name="T0" fmla="*/ 0 w 1"/>
                  <a:gd name="T1" fmla="*/ 8395 h 8395"/>
                  <a:gd name="T2" fmla="*/ 0 w 1"/>
                  <a:gd name="T3" fmla="*/ 0 h 8395"/>
                  <a:gd name="T4" fmla="*/ 1 w 1"/>
                  <a:gd name="T5" fmla="*/ 0 h 8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8395">
                    <a:moveTo>
                      <a:pt x="0" y="8395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0" name="Freeform 149"/>
              <p:cNvSpPr>
                <a:spLocks noChangeAspect="1" noChangeArrowheads="1"/>
              </p:cNvSpPr>
              <p:nvPr/>
            </p:nvSpPr>
            <p:spPr bwMode="auto">
              <a:xfrm>
                <a:off x="2920" y="849"/>
                <a:ext cx="226" cy="226"/>
              </a:xfrm>
              <a:custGeom>
                <a:avLst/>
                <a:gdLst>
                  <a:gd name="T0" fmla="*/ 831 w 831"/>
                  <a:gd name="T1" fmla="*/ 831 h 831"/>
                  <a:gd name="T2" fmla="*/ 721 w 831"/>
                  <a:gd name="T3" fmla="*/ 415 h 831"/>
                  <a:gd name="T4" fmla="*/ 416 w 831"/>
                  <a:gd name="T5" fmla="*/ 111 h 831"/>
                  <a:gd name="T6" fmla="*/ 0 w 831"/>
                  <a:gd name="T7" fmla="*/ 0 h 831"/>
                  <a:gd name="T8" fmla="*/ 1 w 831"/>
                  <a:gd name="T9" fmla="*/ 0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1" h="831">
                    <a:moveTo>
                      <a:pt x="831" y="831"/>
                    </a:moveTo>
                    <a:lnTo>
                      <a:pt x="721" y="415"/>
                    </a:lnTo>
                    <a:lnTo>
                      <a:pt x="416" y="111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1" name="Freeform 150"/>
              <p:cNvSpPr>
                <a:spLocks noChangeAspect="1" noChangeArrowheads="1"/>
              </p:cNvSpPr>
              <p:nvPr/>
            </p:nvSpPr>
            <p:spPr bwMode="auto">
              <a:xfrm>
                <a:off x="3146" y="1075"/>
                <a:ext cx="3" cy="1604"/>
              </a:xfrm>
              <a:custGeom>
                <a:avLst/>
                <a:gdLst>
                  <a:gd name="T0" fmla="*/ 0 w 1"/>
                  <a:gd name="T1" fmla="*/ 0 h 5901"/>
                  <a:gd name="T2" fmla="*/ 0 w 1"/>
                  <a:gd name="T3" fmla="*/ 5901 h 5901"/>
                  <a:gd name="T4" fmla="*/ 1 w 1"/>
                  <a:gd name="T5" fmla="*/ 5901 h 5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901">
                    <a:moveTo>
                      <a:pt x="0" y="0"/>
                    </a:moveTo>
                    <a:lnTo>
                      <a:pt x="0" y="5901"/>
                    </a:lnTo>
                    <a:lnTo>
                      <a:pt x="1" y="5901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2" name="Freeform 151"/>
              <p:cNvSpPr>
                <a:spLocks noChangeAspect="1" noChangeArrowheads="1"/>
              </p:cNvSpPr>
              <p:nvPr/>
            </p:nvSpPr>
            <p:spPr bwMode="auto">
              <a:xfrm>
                <a:off x="3146" y="2679"/>
                <a:ext cx="226" cy="226"/>
              </a:xfrm>
              <a:custGeom>
                <a:avLst/>
                <a:gdLst>
                  <a:gd name="T0" fmla="*/ 0 w 832"/>
                  <a:gd name="T1" fmla="*/ 0 h 831"/>
                  <a:gd name="T2" fmla="*/ 112 w 832"/>
                  <a:gd name="T3" fmla="*/ 415 h 831"/>
                  <a:gd name="T4" fmla="*/ 416 w 832"/>
                  <a:gd name="T5" fmla="*/ 720 h 831"/>
                  <a:gd name="T6" fmla="*/ 831 w 832"/>
                  <a:gd name="T7" fmla="*/ 831 h 831"/>
                  <a:gd name="T8" fmla="*/ 832 w 832"/>
                  <a:gd name="T9" fmla="*/ 831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2" h="831">
                    <a:moveTo>
                      <a:pt x="0" y="0"/>
                    </a:moveTo>
                    <a:lnTo>
                      <a:pt x="112" y="415"/>
                    </a:lnTo>
                    <a:lnTo>
                      <a:pt x="416" y="720"/>
                    </a:lnTo>
                    <a:lnTo>
                      <a:pt x="831" y="831"/>
                    </a:lnTo>
                    <a:lnTo>
                      <a:pt x="832" y="831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3" name="Freeform 152"/>
              <p:cNvSpPr>
                <a:spLocks noChangeAspect="1" noChangeArrowheads="1"/>
              </p:cNvSpPr>
              <p:nvPr/>
            </p:nvSpPr>
            <p:spPr bwMode="auto">
              <a:xfrm>
                <a:off x="3372" y="2905"/>
                <a:ext cx="1016" cy="3"/>
              </a:xfrm>
              <a:custGeom>
                <a:avLst/>
                <a:gdLst>
                  <a:gd name="T0" fmla="*/ 0 w 3741"/>
                  <a:gd name="T1" fmla="*/ 0 h 3"/>
                  <a:gd name="T2" fmla="*/ 3740 w 3741"/>
                  <a:gd name="T3" fmla="*/ 0 h 3"/>
                  <a:gd name="T4" fmla="*/ 3741 w 374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41" h="3">
                    <a:moveTo>
                      <a:pt x="0" y="0"/>
                    </a:moveTo>
                    <a:lnTo>
                      <a:pt x="3740" y="0"/>
                    </a:lnTo>
                    <a:lnTo>
                      <a:pt x="374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4" name="Freeform 153"/>
              <p:cNvSpPr>
                <a:spLocks noChangeAspect="1" noChangeArrowheads="1"/>
              </p:cNvSpPr>
              <p:nvPr/>
            </p:nvSpPr>
            <p:spPr bwMode="auto">
              <a:xfrm>
                <a:off x="4388" y="2905"/>
                <a:ext cx="225" cy="226"/>
              </a:xfrm>
              <a:custGeom>
                <a:avLst/>
                <a:gdLst>
                  <a:gd name="T0" fmla="*/ 831 w 831"/>
                  <a:gd name="T1" fmla="*/ 832 h 832"/>
                  <a:gd name="T2" fmla="*/ 719 w 831"/>
                  <a:gd name="T3" fmla="*/ 416 h 832"/>
                  <a:gd name="T4" fmla="*/ 415 w 831"/>
                  <a:gd name="T5" fmla="*/ 112 h 832"/>
                  <a:gd name="T6" fmla="*/ 0 w 831"/>
                  <a:gd name="T7" fmla="*/ 0 h 832"/>
                  <a:gd name="T8" fmla="*/ 1 w 831"/>
                  <a:gd name="T9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1" h="832">
                    <a:moveTo>
                      <a:pt x="831" y="832"/>
                    </a:moveTo>
                    <a:lnTo>
                      <a:pt x="719" y="416"/>
                    </a:lnTo>
                    <a:lnTo>
                      <a:pt x="415" y="112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5" name="Freeform 154"/>
              <p:cNvSpPr>
                <a:spLocks noChangeAspect="1" noChangeArrowheads="1"/>
              </p:cNvSpPr>
              <p:nvPr/>
            </p:nvSpPr>
            <p:spPr bwMode="auto">
              <a:xfrm>
                <a:off x="2920" y="860"/>
                <a:ext cx="68" cy="68"/>
              </a:xfrm>
              <a:custGeom>
                <a:avLst/>
                <a:gdLst>
                  <a:gd name="T0" fmla="*/ 0 w 253"/>
                  <a:gd name="T1" fmla="*/ 252 h 252"/>
                  <a:gd name="T2" fmla="*/ 252 w 253"/>
                  <a:gd name="T3" fmla="*/ 0 h 252"/>
                  <a:gd name="T4" fmla="*/ 253 w 253"/>
                  <a:gd name="T5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3" h="252">
                    <a:moveTo>
                      <a:pt x="0" y="252"/>
                    </a:moveTo>
                    <a:lnTo>
                      <a:pt x="252" y="0"/>
                    </a:lnTo>
                    <a:lnTo>
                      <a:pt x="25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6" name="Freeform 155"/>
              <p:cNvSpPr>
                <a:spLocks noChangeAspect="1" noChangeArrowheads="1"/>
              </p:cNvSpPr>
              <p:nvPr/>
            </p:nvSpPr>
            <p:spPr bwMode="auto">
              <a:xfrm>
                <a:off x="2920" y="893"/>
                <a:ext cx="134" cy="133"/>
              </a:xfrm>
              <a:custGeom>
                <a:avLst/>
                <a:gdLst>
                  <a:gd name="T0" fmla="*/ 0 w 496"/>
                  <a:gd name="T1" fmla="*/ 494 h 494"/>
                  <a:gd name="T2" fmla="*/ 495 w 496"/>
                  <a:gd name="T3" fmla="*/ 0 h 494"/>
                  <a:gd name="T4" fmla="*/ 496 w 496"/>
                  <a:gd name="T5" fmla="*/ 0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6" h="494">
                    <a:moveTo>
                      <a:pt x="0" y="494"/>
                    </a:moveTo>
                    <a:lnTo>
                      <a:pt x="495" y="0"/>
                    </a:lnTo>
                    <a:lnTo>
                      <a:pt x="496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7" name="Freeform 156"/>
              <p:cNvSpPr>
                <a:spLocks noChangeAspect="1" noChangeArrowheads="1"/>
              </p:cNvSpPr>
              <p:nvPr/>
            </p:nvSpPr>
            <p:spPr bwMode="auto">
              <a:xfrm>
                <a:off x="2920" y="944"/>
                <a:ext cx="185" cy="182"/>
              </a:xfrm>
              <a:custGeom>
                <a:avLst/>
                <a:gdLst>
                  <a:gd name="T0" fmla="*/ 0 w 678"/>
                  <a:gd name="T1" fmla="*/ 676 h 676"/>
                  <a:gd name="T2" fmla="*/ 677 w 678"/>
                  <a:gd name="T3" fmla="*/ 0 h 676"/>
                  <a:gd name="T4" fmla="*/ 678 w 678"/>
                  <a:gd name="T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78" h="676">
                    <a:moveTo>
                      <a:pt x="0" y="676"/>
                    </a:moveTo>
                    <a:lnTo>
                      <a:pt x="677" y="0"/>
                    </a:lnTo>
                    <a:lnTo>
                      <a:pt x="678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8" name="Freeform 157"/>
              <p:cNvSpPr>
                <a:spLocks noChangeAspect="1" noChangeArrowheads="1"/>
              </p:cNvSpPr>
              <p:nvPr/>
            </p:nvSpPr>
            <p:spPr bwMode="auto">
              <a:xfrm>
                <a:off x="2920" y="1010"/>
                <a:ext cx="218" cy="217"/>
              </a:xfrm>
              <a:custGeom>
                <a:avLst/>
                <a:gdLst>
                  <a:gd name="T0" fmla="*/ 0 w 799"/>
                  <a:gd name="T1" fmla="*/ 797 h 797"/>
                  <a:gd name="T2" fmla="*/ 798 w 799"/>
                  <a:gd name="T3" fmla="*/ 0 h 797"/>
                  <a:gd name="T4" fmla="*/ 799 w 799"/>
                  <a:gd name="T5" fmla="*/ 0 h 7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99" h="797">
                    <a:moveTo>
                      <a:pt x="0" y="797"/>
                    </a:moveTo>
                    <a:lnTo>
                      <a:pt x="798" y="0"/>
                    </a:lnTo>
                    <a:lnTo>
                      <a:pt x="799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59" name="Freeform 158"/>
              <p:cNvSpPr>
                <a:spLocks noChangeAspect="1" noChangeArrowheads="1"/>
              </p:cNvSpPr>
              <p:nvPr/>
            </p:nvSpPr>
            <p:spPr bwMode="auto">
              <a:xfrm>
                <a:off x="2920" y="1102"/>
                <a:ext cx="226" cy="226"/>
              </a:xfrm>
              <a:custGeom>
                <a:avLst/>
                <a:gdLst>
                  <a:gd name="T0" fmla="*/ 0 w 832"/>
                  <a:gd name="T1" fmla="*/ 832 h 832"/>
                  <a:gd name="T2" fmla="*/ 831 w 832"/>
                  <a:gd name="T3" fmla="*/ 0 h 832"/>
                  <a:gd name="T4" fmla="*/ 832 w 832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2">
                    <a:moveTo>
                      <a:pt x="0" y="832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0" name="Freeform 159"/>
              <p:cNvSpPr>
                <a:spLocks noChangeAspect="1" noChangeArrowheads="1"/>
              </p:cNvSpPr>
              <p:nvPr/>
            </p:nvSpPr>
            <p:spPr bwMode="auto">
              <a:xfrm>
                <a:off x="2920" y="1200"/>
                <a:ext cx="226" cy="226"/>
              </a:xfrm>
              <a:custGeom>
                <a:avLst/>
                <a:gdLst>
                  <a:gd name="T0" fmla="*/ 0 w 832"/>
                  <a:gd name="T1" fmla="*/ 831 h 831"/>
                  <a:gd name="T2" fmla="*/ 831 w 832"/>
                  <a:gd name="T3" fmla="*/ 0 h 831"/>
                  <a:gd name="T4" fmla="*/ 832 w 832"/>
                  <a:gd name="T5" fmla="*/ 0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1">
                    <a:moveTo>
                      <a:pt x="0" y="831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1" name="Freeform 160"/>
              <p:cNvSpPr>
                <a:spLocks noChangeAspect="1" noChangeArrowheads="1"/>
              </p:cNvSpPr>
              <p:nvPr/>
            </p:nvSpPr>
            <p:spPr bwMode="auto">
              <a:xfrm>
                <a:off x="2920" y="1301"/>
                <a:ext cx="226" cy="225"/>
              </a:xfrm>
              <a:custGeom>
                <a:avLst/>
                <a:gdLst>
                  <a:gd name="T0" fmla="*/ 0 w 832"/>
                  <a:gd name="T1" fmla="*/ 830 h 830"/>
                  <a:gd name="T2" fmla="*/ 831 w 832"/>
                  <a:gd name="T3" fmla="*/ 0 h 830"/>
                  <a:gd name="T4" fmla="*/ 832 w 832"/>
                  <a:gd name="T5" fmla="*/ 0 h 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0">
                    <a:moveTo>
                      <a:pt x="0" y="830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2" name="Freeform 161"/>
              <p:cNvSpPr>
                <a:spLocks noChangeAspect="1" noChangeArrowheads="1"/>
              </p:cNvSpPr>
              <p:nvPr/>
            </p:nvSpPr>
            <p:spPr bwMode="auto">
              <a:xfrm>
                <a:off x="2920" y="1401"/>
                <a:ext cx="226" cy="226"/>
              </a:xfrm>
              <a:custGeom>
                <a:avLst/>
                <a:gdLst>
                  <a:gd name="T0" fmla="*/ 0 w 832"/>
                  <a:gd name="T1" fmla="*/ 830 h 830"/>
                  <a:gd name="T2" fmla="*/ 831 w 832"/>
                  <a:gd name="T3" fmla="*/ 0 h 830"/>
                  <a:gd name="T4" fmla="*/ 832 w 832"/>
                  <a:gd name="T5" fmla="*/ 0 h 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0">
                    <a:moveTo>
                      <a:pt x="0" y="830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3" name="Freeform 162"/>
              <p:cNvSpPr>
                <a:spLocks noChangeAspect="1" noChangeArrowheads="1"/>
              </p:cNvSpPr>
              <p:nvPr/>
            </p:nvSpPr>
            <p:spPr bwMode="auto">
              <a:xfrm>
                <a:off x="2920" y="1499"/>
                <a:ext cx="226" cy="229"/>
              </a:xfrm>
              <a:custGeom>
                <a:avLst/>
                <a:gdLst>
                  <a:gd name="T0" fmla="*/ 0 w 832"/>
                  <a:gd name="T1" fmla="*/ 832 h 832"/>
                  <a:gd name="T2" fmla="*/ 831 w 832"/>
                  <a:gd name="T3" fmla="*/ 0 h 832"/>
                  <a:gd name="T4" fmla="*/ 832 w 832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2">
                    <a:moveTo>
                      <a:pt x="0" y="832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4" name="Freeform 163"/>
              <p:cNvSpPr>
                <a:spLocks noChangeAspect="1" noChangeArrowheads="1"/>
              </p:cNvSpPr>
              <p:nvPr/>
            </p:nvSpPr>
            <p:spPr bwMode="auto">
              <a:xfrm>
                <a:off x="2920" y="1600"/>
                <a:ext cx="226" cy="225"/>
              </a:xfrm>
              <a:custGeom>
                <a:avLst/>
                <a:gdLst>
                  <a:gd name="T0" fmla="*/ 0 w 832"/>
                  <a:gd name="T1" fmla="*/ 831 h 831"/>
                  <a:gd name="T2" fmla="*/ 831 w 832"/>
                  <a:gd name="T3" fmla="*/ 0 h 831"/>
                  <a:gd name="T4" fmla="*/ 832 w 832"/>
                  <a:gd name="T5" fmla="*/ 0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1">
                    <a:moveTo>
                      <a:pt x="0" y="831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5" name="Freeform 164"/>
              <p:cNvSpPr>
                <a:spLocks noChangeAspect="1" noChangeArrowheads="1"/>
              </p:cNvSpPr>
              <p:nvPr/>
            </p:nvSpPr>
            <p:spPr bwMode="auto">
              <a:xfrm>
                <a:off x="2920" y="1700"/>
                <a:ext cx="226" cy="226"/>
              </a:xfrm>
              <a:custGeom>
                <a:avLst/>
                <a:gdLst>
                  <a:gd name="T0" fmla="*/ 0 w 832"/>
                  <a:gd name="T1" fmla="*/ 831 h 831"/>
                  <a:gd name="T2" fmla="*/ 831 w 832"/>
                  <a:gd name="T3" fmla="*/ 0 h 831"/>
                  <a:gd name="T4" fmla="*/ 832 w 832"/>
                  <a:gd name="T5" fmla="*/ 0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1">
                    <a:moveTo>
                      <a:pt x="0" y="831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6" name="Freeform 165"/>
              <p:cNvSpPr>
                <a:spLocks noChangeAspect="1" noChangeArrowheads="1"/>
              </p:cNvSpPr>
              <p:nvPr/>
            </p:nvSpPr>
            <p:spPr bwMode="auto">
              <a:xfrm>
                <a:off x="2920" y="1801"/>
                <a:ext cx="226" cy="226"/>
              </a:xfrm>
              <a:custGeom>
                <a:avLst/>
                <a:gdLst>
                  <a:gd name="T0" fmla="*/ 0 w 832"/>
                  <a:gd name="T1" fmla="*/ 831 h 831"/>
                  <a:gd name="T2" fmla="*/ 831 w 832"/>
                  <a:gd name="T3" fmla="*/ 0 h 831"/>
                  <a:gd name="T4" fmla="*/ 832 w 832"/>
                  <a:gd name="T5" fmla="*/ 0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1">
                    <a:moveTo>
                      <a:pt x="0" y="831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7" name="Freeform 166"/>
              <p:cNvSpPr>
                <a:spLocks noChangeAspect="1" noChangeArrowheads="1"/>
              </p:cNvSpPr>
              <p:nvPr/>
            </p:nvSpPr>
            <p:spPr bwMode="auto">
              <a:xfrm>
                <a:off x="2920" y="1899"/>
                <a:ext cx="226" cy="228"/>
              </a:xfrm>
              <a:custGeom>
                <a:avLst/>
                <a:gdLst>
                  <a:gd name="T0" fmla="*/ 0 w 832"/>
                  <a:gd name="T1" fmla="*/ 832 h 832"/>
                  <a:gd name="T2" fmla="*/ 831 w 832"/>
                  <a:gd name="T3" fmla="*/ 0 h 832"/>
                  <a:gd name="T4" fmla="*/ 832 w 832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2">
                    <a:moveTo>
                      <a:pt x="0" y="832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8" name="Freeform 167"/>
              <p:cNvSpPr>
                <a:spLocks noChangeAspect="1" noChangeArrowheads="1"/>
              </p:cNvSpPr>
              <p:nvPr/>
            </p:nvSpPr>
            <p:spPr bwMode="auto">
              <a:xfrm>
                <a:off x="2920" y="2000"/>
                <a:ext cx="226" cy="225"/>
              </a:xfrm>
              <a:custGeom>
                <a:avLst/>
                <a:gdLst>
                  <a:gd name="T0" fmla="*/ 0 w 832"/>
                  <a:gd name="T1" fmla="*/ 831 h 831"/>
                  <a:gd name="T2" fmla="*/ 831 w 832"/>
                  <a:gd name="T3" fmla="*/ 0 h 831"/>
                  <a:gd name="T4" fmla="*/ 832 w 832"/>
                  <a:gd name="T5" fmla="*/ 0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1">
                    <a:moveTo>
                      <a:pt x="0" y="831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69" name="Freeform 168"/>
              <p:cNvSpPr>
                <a:spLocks noChangeAspect="1" noChangeArrowheads="1"/>
              </p:cNvSpPr>
              <p:nvPr/>
            </p:nvSpPr>
            <p:spPr bwMode="auto">
              <a:xfrm>
                <a:off x="2920" y="2100"/>
                <a:ext cx="226" cy="226"/>
              </a:xfrm>
              <a:custGeom>
                <a:avLst/>
                <a:gdLst>
                  <a:gd name="T0" fmla="*/ 0 w 832"/>
                  <a:gd name="T1" fmla="*/ 831 h 831"/>
                  <a:gd name="T2" fmla="*/ 831 w 832"/>
                  <a:gd name="T3" fmla="*/ 0 h 831"/>
                  <a:gd name="T4" fmla="*/ 832 w 832"/>
                  <a:gd name="T5" fmla="*/ 0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1">
                    <a:moveTo>
                      <a:pt x="0" y="831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0" name="Freeform 169"/>
              <p:cNvSpPr>
                <a:spLocks noChangeAspect="1" noChangeArrowheads="1"/>
              </p:cNvSpPr>
              <p:nvPr/>
            </p:nvSpPr>
            <p:spPr bwMode="auto">
              <a:xfrm>
                <a:off x="2920" y="2201"/>
                <a:ext cx="226" cy="226"/>
              </a:xfrm>
              <a:custGeom>
                <a:avLst/>
                <a:gdLst>
                  <a:gd name="T0" fmla="*/ 0 w 832"/>
                  <a:gd name="T1" fmla="*/ 830 h 830"/>
                  <a:gd name="T2" fmla="*/ 831 w 832"/>
                  <a:gd name="T3" fmla="*/ 0 h 830"/>
                  <a:gd name="T4" fmla="*/ 832 w 832"/>
                  <a:gd name="T5" fmla="*/ 0 h 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0">
                    <a:moveTo>
                      <a:pt x="0" y="830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1" name="Freeform 170"/>
              <p:cNvSpPr>
                <a:spLocks noChangeAspect="1" noChangeArrowheads="1"/>
              </p:cNvSpPr>
              <p:nvPr/>
            </p:nvSpPr>
            <p:spPr bwMode="auto">
              <a:xfrm>
                <a:off x="2920" y="2299"/>
                <a:ext cx="226" cy="228"/>
              </a:xfrm>
              <a:custGeom>
                <a:avLst/>
                <a:gdLst>
                  <a:gd name="T0" fmla="*/ 0 w 832"/>
                  <a:gd name="T1" fmla="*/ 832 h 832"/>
                  <a:gd name="T2" fmla="*/ 831 w 832"/>
                  <a:gd name="T3" fmla="*/ 0 h 832"/>
                  <a:gd name="T4" fmla="*/ 832 w 832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2">
                    <a:moveTo>
                      <a:pt x="0" y="832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2" name="Freeform 171"/>
              <p:cNvSpPr>
                <a:spLocks noChangeAspect="1" noChangeArrowheads="1"/>
              </p:cNvSpPr>
              <p:nvPr/>
            </p:nvSpPr>
            <p:spPr bwMode="auto">
              <a:xfrm>
                <a:off x="2920" y="2399"/>
                <a:ext cx="226" cy="226"/>
              </a:xfrm>
              <a:custGeom>
                <a:avLst/>
                <a:gdLst>
                  <a:gd name="T0" fmla="*/ 0 w 832"/>
                  <a:gd name="T1" fmla="*/ 831 h 831"/>
                  <a:gd name="T2" fmla="*/ 831 w 832"/>
                  <a:gd name="T3" fmla="*/ 0 h 831"/>
                  <a:gd name="T4" fmla="*/ 832 w 832"/>
                  <a:gd name="T5" fmla="*/ 0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1">
                    <a:moveTo>
                      <a:pt x="0" y="831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3" name="Freeform 172"/>
              <p:cNvSpPr>
                <a:spLocks noChangeAspect="1" noChangeArrowheads="1"/>
              </p:cNvSpPr>
              <p:nvPr/>
            </p:nvSpPr>
            <p:spPr bwMode="auto">
              <a:xfrm>
                <a:off x="2920" y="2500"/>
                <a:ext cx="226" cy="226"/>
              </a:xfrm>
              <a:custGeom>
                <a:avLst/>
                <a:gdLst>
                  <a:gd name="T0" fmla="*/ 0 w 832"/>
                  <a:gd name="T1" fmla="*/ 831 h 831"/>
                  <a:gd name="T2" fmla="*/ 831 w 832"/>
                  <a:gd name="T3" fmla="*/ 0 h 831"/>
                  <a:gd name="T4" fmla="*/ 832 w 832"/>
                  <a:gd name="T5" fmla="*/ 0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1">
                    <a:moveTo>
                      <a:pt x="0" y="831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4" name="Freeform 173"/>
              <p:cNvSpPr>
                <a:spLocks noChangeAspect="1" noChangeArrowheads="1"/>
              </p:cNvSpPr>
              <p:nvPr/>
            </p:nvSpPr>
            <p:spPr bwMode="auto">
              <a:xfrm>
                <a:off x="2920" y="2601"/>
                <a:ext cx="226" cy="225"/>
              </a:xfrm>
              <a:custGeom>
                <a:avLst/>
                <a:gdLst>
                  <a:gd name="T0" fmla="*/ 0 w 832"/>
                  <a:gd name="T1" fmla="*/ 831 h 831"/>
                  <a:gd name="T2" fmla="*/ 831 w 832"/>
                  <a:gd name="T3" fmla="*/ 0 h 831"/>
                  <a:gd name="T4" fmla="*/ 832 w 832"/>
                  <a:gd name="T5" fmla="*/ 0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1">
                    <a:moveTo>
                      <a:pt x="0" y="831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5" name="Freeform 174"/>
              <p:cNvSpPr>
                <a:spLocks noChangeAspect="1" noChangeArrowheads="1"/>
              </p:cNvSpPr>
              <p:nvPr/>
            </p:nvSpPr>
            <p:spPr bwMode="auto">
              <a:xfrm>
                <a:off x="2920" y="2699"/>
                <a:ext cx="226" cy="228"/>
              </a:xfrm>
              <a:custGeom>
                <a:avLst/>
                <a:gdLst>
                  <a:gd name="T0" fmla="*/ 0 w 835"/>
                  <a:gd name="T1" fmla="*/ 835 h 835"/>
                  <a:gd name="T2" fmla="*/ 834 w 835"/>
                  <a:gd name="T3" fmla="*/ 0 h 835"/>
                  <a:gd name="T4" fmla="*/ 835 w 835"/>
                  <a:gd name="T5" fmla="*/ 0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5" h="835">
                    <a:moveTo>
                      <a:pt x="0" y="835"/>
                    </a:moveTo>
                    <a:lnTo>
                      <a:pt x="834" y="0"/>
                    </a:lnTo>
                    <a:lnTo>
                      <a:pt x="835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6" name="Freeform 175"/>
              <p:cNvSpPr>
                <a:spLocks noChangeAspect="1" noChangeArrowheads="1"/>
              </p:cNvSpPr>
              <p:nvPr/>
            </p:nvSpPr>
            <p:spPr bwMode="auto">
              <a:xfrm>
                <a:off x="2920" y="2777"/>
                <a:ext cx="248" cy="248"/>
              </a:xfrm>
              <a:custGeom>
                <a:avLst/>
                <a:gdLst>
                  <a:gd name="T0" fmla="*/ 0 w 915"/>
                  <a:gd name="T1" fmla="*/ 913 h 913"/>
                  <a:gd name="T2" fmla="*/ 914 w 915"/>
                  <a:gd name="T3" fmla="*/ 0 h 913"/>
                  <a:gd name="T4" fmla="*/ 915 w 915"/>
                  <a:gd name="T5" fmla="*/ 0 h 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15" h="913">
                    <a:moveTo>
                      <a:pt x="0" y="913"/>
                    </a:moveTo>
                    <a:lnTo>
                      <a:pt x="914" y="0"/>
                    </a:lnTo>
                    <a:lnTo>
                      <a:pt x="915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7" name="Freeform 176"/>
              <p:cNvSpPr>
                <a:spLocks noChangeAspect="1" noChangeArrowheads="1"/>
              </p:cNvSpPr>
              <p:nvPr/>
            </p:nvSpPr>
            <p:spPr bwMode="auto">
              <a:xfrm>
                <a:off x="2920" y="2837"/>
                <a:ext cx="288" cy="289"/>
              </a:xfrm>
              <a:custGeom>
                <a:avLst/>
                <a:gdLst>
                  <a:gd name="T0" fmla="*/ 0 w 1065"/>
                  <a:gd name="T1" fmla="*/ 1063 h 1063"/>
                  <a:gd name="T2" fmla="*/ 1064 w 1065"/>
                  <a:gd name="T3" fmla="*/ 0 h 1063"/>
                  <a:gd name="T4" fmla="*/ 1065 w 1065"/>
                  <a:gd name="T5" fmla="*/ 0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5" h="1063">
                    <a:moveTo>
                      <a:pt x="0" y="1063"/>
                    </a:moveTo>
                    <a:lnTo>
                      <a:pt x="1064" y="0"/>
                    </a:lnTo>
                    <a:lnTo>
                      <a:pt x="1065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8" name="Freeform 177"/>
              <p:cNvSpPr>
                <a:spLocks noChangeAspect="1" noChangeArrowheads="1"/>
              </p:cNvSpPr>
              <p:nvPr/>
            </p:nvSpPr>
            <p:spPr bwMode="auto">
              <a:xfrm>
                <a:off x="3013" y="2878"/>
                <a:ext cx="253" cy="253"/>
              </a:xfrm>
              <a:custGeom>
                <a:avLst/>
                <a:gdLst>
                  <a:gd name="T0" fmla="*/ 0 w 929"/>
                  <a:gd name="T1" fmla="*/ 929 h 929"/>
                  <a:gd name="T2" fmla="*/ 928 w 929"/>
                  <a:gd name="T3" fmla="*/ 0 h 929"/>
                  <a:gd name="T4" fmla="*/ 929 w 929"/>
                  <a:gd name="T5" fmla="*/ 0 h 9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29" h="929">
                    <a:moveTo>
                      <a:pt x="0" y="929"/>
                    </a:moveTo>
                    <a:lnTo>
                      <a:pt x="928" y="0"/>
                    </a:lnTo>
                    <a:lnTo>
                      <a:pt x="929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79" name="Freeform 178"/>
              <p:cNvSpPr>
                <a:spLocks noChangeAspect="1" noChangeArrowheads="1"/>
              </p:cNvSpPr>
              <p:nvPr/>
            </p:nvSpPr>
            <p:spPr bwMode="auto">
              <a:xfrm>
                <a:off x="3113" y="2902"/>
                <a:ext cx="229" cy="229"/>
              </a:xfrm>
              <a:custGeom>
                <a:avLst/>
                <a:gdLst>
                  <a:gd name="T0" fmla="*/ 0 w 840"/>
                  <a:gd name="T1" fmla="*/ 839 h 839"/>
                  <a:gd name="T2" fmla="*/ 839 w 840"/>
                  <a:gd name="T3" fmla="*/ 0 h 839"/>
                  <a:gd name="T4" fmla="*/ 840 w 840"/>
                  <a:gd name="T5" fmla="*/ 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40" h="839">
                    <a:moveTo>
                      <a:pt x="0" y="839"/>
                    </a:moveTo>
                    <a:lnTo>
                      <a:pt x="839" y="0"/>
                    </a:lnTo>
                    <a:lnTo>
                      <a:pt x="84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0" name="Freeform 179"/>
              <p:cNvSpPr>
                <a:spLocks noChangeAspect="1" noChangeArrowheads="1"/>
              </p:cNvSpPr>
              <p:nvPr/>
            </p:nvSpPr>
            <p:spPr bwMode="auto">
              <a:xfrm>
                <a:off x="3214" y="2905"/>
                <a:ext cx="225" cy="226"/>
              </a:xfrm>
              <a:custGeom>
                <a:avLst/>
                <a:gdLst>
                  <a:gd name="T0" fmla="*/ 0 w 832"/>
                  <a:gd name="T1" fmla="*/ 832 h 832"/>
                  <a:gd name="T2" fmla="*/ 831 w 832"/>
                  <a:gd name="T3" fmla="*/ 0 h 832"/>
                  <a:gd name="T4" fmla="*/ 832 w 832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2">
                    <a:moveTo>
                      <a:pt x="0" y="832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1" name="Freeform 180"/>
              <p:cNvSpPr>
                <a:spLocks noChangeAspect="1" noChangeArrowheads="1"/>
              </p:cNvSpPr>
              <p:nvPr/>
            </p:nvSpPr>
            <p:spPr bwMode="auto">
              <a:xfrm>
                <a:off x="3314" y="2905"/>
                <a:ext cx="226" cy="226"/>
              </a:xfrm>
              <a:custGeom>
                <a:avLst/>
                <a:gdLst>
                  <a:gd name="T0" fmla="*/ 0 w 832"/>
                  <a:gd name="T1" fmla="*/ 832 h 832"/>
                  <a:gd name="T2" fmla="*/ 831 w 832"/>
                  <a:gd name="T3" fmla="*/ 0 h 832"/>
                  <a:gd name="T4" fmla="*/ 832 w 832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2">
                    <a:moveTo>
                      <a:pt x="0" y="832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2" name="Freeform 181"/>
              <p:cNvSpPr>
                <a:spLocks noChangeAspect="1" noChangeArrowheads="1"/>
              </p:cNvSpPr>
              <p:nvPr/>
            </p:nvSpPr>
            <p:spPr bwMode="auto">
              <a:xfrm>
                <a:off x="3412" y="2905"/>
                <a:ext cx="229" cy="226"/>
              </a:xfrm>
              <a:custGeom>
                <a:avLst/>
                <a:gdLst>
                  <a:gd name="T0" fmla="*/ 0 w 832"/>
                  <a:gd name="T1" fmla="*/ 832 h 832"/>
                  <a:gd name="T2" fmla="*/ 831 w 832"/>
                  <a:gd name="T3" fmla="*/ 0 h 832"/>
                  <a:gd name="T4" fmla="*/ 832 w 832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2">
                    <a:moveTo>
                      <a:pt x="0" y="832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3" name="Freeform 182"/>
              <p:cNvSpPr>
                <a:spLocks noChangeAspect="1" noChangeArrowheads="1"/>
              </p:cNvSpPr>
              <p:nvPr/>
            </p:nvSpPr>
            <p:spPr bwMode="auto">
              <a:xfrm>
                <a:off x="3513" y="2905"/>
                <a:ext cx="225" cy="226"/>
              </a:xfrm>
              <a:custGeom>
                <a:avLst/>
                <a:gdLst>
                  <a:gd name="T0" fmla="*/ 0 w 832"/>
                  <a:gd name="T1" fmla="*/ 832 h 832"/>
                  <a:gd name="T2" fmla="*/ 831 w 832"/>
                  <a:gd name="T3" fmla="*/ 0 h 832"/>
                  <a:gd name="T4" fmla="*/ 832 w 832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2">
                    <a:moveTo>
                      <a:pt x="0" y="832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4" name="Freeform 183"/>
              <p:cNvSpPr>
                <a:spLocks noChangeAspect="1" noChangeArrowheads="1"/>
              </p:cNvSpPr>
              <p:nvPr/>
            </p:nvSpPr>
            <p:spPr bwMode="auto">
              <a:xfrm>
                <a:off x="3613" y="2905"/>
                <a:ext cx="226" cy="226"/>
              </a:xfrm>
              <a:custGeom>
                <a:avLst/>
                <a:gdLst>
                  <a:gd name="T0" fmla="*/ 0 w 832"/>
                  <a:gd name="T1" fmla="*/ 832 h 832"/>
                  <a:gd name="T2" fmla="*/ 831 w 832"/>
                  <a:gd name="T3" fmla="*/ 0 h 832"/>
                  <a:gd name="T4" fmla="*/ 832 w 832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2">
                    <a:moveTo>
                      <a:pt x="0" y="832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5" name="Freeform 184"/>
              <p:cNvSpPr>
                <a:spLocks noChangeAspect="1" noChangeArrowheads="1"/>
              </p:cNvSpPr>
              <p:nvPr/>
            </p:nvSpPr>
            <p:spPr bwMode="auto">
              <a:xfrm>
                <a:off x="3711" y="2905"/>
                <a:ext cx="228" cy="226"/>
              </a:xfrm>
              <a:custGeom>
                <a:avLst/>
                <a:gdLst>
                  <a:gd name="T0" fmla="*/ 0 w 832"/>
                  <a:gd name="T1" fmla="*/ 832 h 832"/>
                  <a:gd name="T2" fmla="*/ 831 w 832"/>
                  <a:gd name="T3" fmla="*/ 0 h 832"/>
                  <a:gd name="T4" fmla="*/ 832 w 832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2">
                    <a:moveTo>
                      <a:pt x="0" y="832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6" name="Freeform 185"/>
              <p:cNvSpPr>
                <a:spLocks noChangeAspect="1" noChangeArrowheads="1"/>
              </p:cNvSpPr>
              <p:nvPr/>
            </p:nvSpPr>
            <p:spPr bwMode="auto">
              <a:xfrm>
                <a:off x="3812" y="2905"/>
                <a:ext cx="225" cy="226"/>
              </a:xfrm>
              <a:custGeom>
                <a:avLst/>
                <a:gdLst>
                  <a:gd name="T0" fmla="*/ 0 w 832"/>
                  <a:gd name="T1" fmla="*/ 832 h 832"/>
                  <a:gd name="T2" fmla="*/ 831 w 832"/>
                  <a:gd name="T3" fmla="*/ 0 h 832"/>
                  <a:gd name="T4" fmla="*/ 832 w 832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2">
                    <a:moveTo>
                      <a:pt x="0" y="832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7" name="Freeform 186"/>
              <p:cNvSpPr>
                <a:spLocks noChangeAspect="1" noChangeArrowheads="1"/>
              </p:cNvSpPr>
              <p:nvPr/>
            </p:nvSpPr>
            <p:spPr bwMode="auto">
              <a:xfrm>
                <a:off x="3912" y="2905"/>
                <a:ext cx="226" cy="226"/>
              </a:xfrm>
              <a:custGeom>
                <a:avLst/>
                <a:gdLst>
                  <a:gd name="T0" fmla="*/ 0 w 832"/>
                  <a:gd name="T1" fmla="*/ 832 h 832"/>
                  <a:gd name="T2" fmla="*/ 831 w 832"/>
                  <a:gd name="T3" fmla="*/ 0 h 832"/>
                  <a:gd name="T4" fmla="*/ 832 w 832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2">
                    <a:moveTo>
                      <a:pt x="0" y="832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8" name="Freeform 187"/>
              <p:cNvSpPr>
                <a:spLocks noChangeAspect="1" noChangeArrowheads="1"/>
              </p:cNvSpPr>
              <p:nvPr/>
            </p:nvSpPr>
            <p:spPr bwMode="auto">
              <a:xfrm>
                <a:off x="4013" y="2905"/>
                <a:ext cx="225" cy="226"/>
              </a:xfrm>
              <a:custGeom>
                <a:avLst/>
                <a:gdLst>
                  <a:gd name="T0" fmla="*/ 0 w 833"/>
                  <a:gd name="T1" fmla="*/ 832 h 832"/>
                  <a:gd name="T2" fmla="*/ 832 w 833"/>
                  <a:gd name="T3" fmla="*/ 0 h 832"/>
                  <a:gd name="T4" fmla="*/ 833 w 833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3" h="832">
                    <a:moveTo>
                      <a:pt x="0" y="832"/>
                    </a:moveTo>
                    <a:lnTo>
                      <a:pt x="832" y="0"/>
                    </a:lnTo>
                    <a:lnTo>
                      <a:pt x="83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89" name="Freeform 188"/>
              <p:cNvSpPr>
                <a:spLocks noChangeAspect="1" noChangeArrowheads="1"/>
              </p:cNvSpPr>
              <p:nvPr/>
            </p:nvSpPr>
            <p:spPr bwMode="auto">
              <a:xfrm>
                <a:off x="4111" y="2905"/>
                <a:ext cx="228" cy="226"/>
              </a:xfrm>
              <a:custGeom>
                <a:avLst/>
                <a:gdLst>
                  <a:gd name="T0" fmla="*/ 0 w 832"/>
                  <a:gd name="T1" fmla="*/ 832 h 832"/>
                  <a:gd name="T2" fmla="*/ 831 w 832"/>
                  <a:gd name="T3" fmla="*/ 0 h 832"/>
                  <a:gd name="T4" fmla="*/ 832 w 832"/>
                  <a:gd name="T5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2" h="832">
                    <a:moveTo>
                      <a:pt x="0" y="832"/>
                    </a:moveTo>
                    <a:lnTo>
                      <a:pt x="831" y="0"/>
                    </a:lnTo>
                    <a:lnTo>
                      <a:pt x="83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0" name="Freeform 189"/>
              <p:cNvSpPr>
                <a:spLocks noChangeAspect="1" noChangeArrowheads="1"/>
              </p:cNvSpPr>
              <p:nvPr/>
            </p:nvSpPr>
            <p:spPr bwMode="auto">
              <a:xfrm>
                <a:off x="4211" y="2911"/>
                <a:ext cx="223" cy="220"/>
              </a:xfrm>
              <a:custGeom>
                <a:avLst/>
                <a:gdLst>
                  <a:gd name="T0" fmla="*/ 0 w 816"/>
                  <a:gd name="T1" fmla="*/ 816 h 816"/>
                  <a:gd name="T2" fmla="*/ 815 w 816"/>
                  <a:gd name="T3" fmla="*/ 0 h 816"/>
                  <a:gd name="T4" fmla="*/ 816 w 816"/>
                  <a:gd name="T5" fmla="*/ 0 h 8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6" h="816">
                    <a:moveTo>
                      <a:pt x="0" y="816"/>
                    </a:moveTo>
                    <a:lnTo>
                      <a:pt x="815" y="0"/>
                    </a:lnTo>
                    <a:lnTo>
                      <a:pt x="816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1" name="Freeform 190"/>
              <p:cNvSpPr>
                <a:spLocks noChangeAspect="1" noChangeArrowheads="1"/>
              </p:cNvSpPr>
              <p:nvPr/>
            </p:nvSpPr>
            <p:spPr bwMode="auto">
              <a:xfrm>
                <a:off x="4312" y="2938"/>
                <a:ext cx="193" cy="193"/>
              </a:xfrm>
              <a:custGeom>
                <a:avLst/>
                <a:gdLst>
                  <a:gd name="T0" fmla="*/ 0 w 713"/>
                  <a:gd name="T1" fmla="*/ 712 h 712"/>
                  <a:gd name="T2" fmla="*/ 712 w 713"/>
                  <a:gd name="T3" fmla="*/ 0 h 712"/>
                  <a:gd name="T4" fmla="*/ 713 w 713"/>
                  <a:gd name="T5" fmla="*/ 0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3" h="712">
                    <a:moveTo>
                      <a:pt x="0" y="712"/>
                    </a:moveTo>
                    <a:lnTo>
                      <a:pt x="712" y="0"/>
                    </a:lnTo>
                    <a:lnTo>
                      <a:pt x="71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2" name="Freeform 191"/>
              <p:cNvSpPr>
                <a:spLocks noChangeAspect="1" noChangeArrowheads="1"/>
              </p:cNvSpPr>
              <p:nvPr/>
            </p:nvSpPr>
            <p:spPr bwMode="auto">
              <a:xfrm>
                <a:off x="4412" y="2984"/>
                <a:ext cx="147" cy="147"/>
              </a:xfrm>
              <a:custGeom>
                <a:avLst/>
                <a:gdLst>
                  <a:gd name="T0" fmla="*/ 0 w 546"/>
                  <a:gd name="T1" fmla="*/ 544 h 544"/>
                  <a:gd name="T2" fmla="*/ 545 w 546"/>
                  <a:gd name="T3" fmla="*/ 0 h 544"/>
                  <a:gd name="T4" fmla="*/ 546 w 546"/>
                  <a:gd name="T5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6" h="544">
                    <a:moveTo>
                      <a:pt x="0" y="544"/>
                    </a:moveTo>
                    <a:lnTo>
                      <a:pt x="545" y="0"/>
                    </a:lnTo>
                    <a:lnTo>
                      <a:pt x="546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3" name="Freeform 192"/>
              <p:cNvSpPr>
                <a:spLocks noChangeAspect="1" noChangeArrowheads="1"/>
              </p:cNvSpPr>
              <p:nvPr/>
            </p:nvSpPr>
            <p:spPr bwMode="auto">
              <a:xfrm>
                <a:off x="4510" y="3047"/>
                <a:ext cx="87" cy="84"/>
              </a:xfrm>
              <a:custGeom>
                <a:avLst/>
                <a:gdLst>
                  <a:gd name="T0" fmla="*/ 0 w 317"/>
                  <a:gd name="T1" fmla="*/ 318 h 318"/>
                  <a:gd name="T2" fmla="*/ 316 w 317"/>
                  <a:gd name="T3" fmla="*/ 0 h 318"/>
                  <a:gd name="T4" fmla="*/ 317 w 317"/>
                  <a:gd name="T5" fmla="*/ 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7" h="318">
                    <a:moveTo>
                      <a:pt x="0" y="318"/>
                    </a:moveTo>
                    <a:lnTo>
                      <a:pt x="316" y="0"/>
                    </a:lnTo>
                    <a:lnTo>
                      <a:pt x="317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4" name="Freeform 193"/>
              <p:cNvSpPr>
                <a:spLocks noChangeAspect="1" noChangeArrowheads="1"/>
              </p:cNvSpPr>
              <p:nvPr/>
            </p:nvSpPr>
            <p:spPr bwMode="auto">
              <a:xfrm>
                <a:off x="4611" y="3128"/>
                <a:ext cx="2" cy="3"/>
              </a:xfrm>
              <a:custGeom>
                <a:avLst/>
                <a:gdLst>
                  <a:gd name="T0" fmla="*/ 0 w 13"/>
                  <a:gd name="T1" fmla="*/ 12 h 12"/>
                  <a:gd name="T2" fmla="*/ 12 w 13"/>
                  <a:gd name="T3" fmla="*/ 0 h 12"/>
                  <a:gd name="T4" fmla="*/ 13 w 13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0" y="12"/>
                    </a:moveTo>
                    <a:lnTo>
                      <a:pt x="12" y="0"/>
                    </a:lnTo>
                    <a:lnTo>
                      <a:pt x="1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  <p:sp>
            <p:nvSpPr>
              <p:cNvPr id="195" name="Freeform 194"/>
              <p:cNvSpPr>
                <a:spLocks noChangeAspect="1" noChangeArrowheads="1"/>
              </p:cNvSpPr>
              <p:nvPr/>
            </p:nvSpPr>
            <p:spPr bwMode="auto">
              <a:xfrm>
                <a:off x="2920" y="3131"/>
                <a:ext cx="1693" cy="3"/>
              </a:xfrm>
              <a:custGeom>
                <a:avLst/>
                <a:gdLst>
                  <a:gd name="T0" fmla="*/ 0 w 6234"/>
                  <a:gd name="T1" fmla="*/ 0 h 3"/>
                  <a:gd name="T2" fmla="*/ 6233 w 6234"/>
                  <a:gd name="T3" fmla="*/ 0 h 3"/>
                  <a:gd name="T4" fmla="*/ 6234 w 623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234" h="3">
                    <a:moveTo>
                      <a:pt x="0" y="0"/>
                    </a:moveTo>
                    <a:lnTo>
                      <a:pt x="6233" y="0"/>
                    </a:lnTo>
                    <a:lnTo>
                      <a:pt x="6234" y="0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 b="1"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endParaRPr lang="zh-CN" altLang="en-US"/>
              </a:p>
            </p:txBody>
          </p:sp>
        </p:grpSp>
        <p:grpSp>
          <p:nvGrpSpPr>
            <p:cNvPr id="140" name="Group 195"/>
            <p:cNvGrpSpPr>
              <a:grpSpLocks noChangeAspect="1"/>
            </p:cNvGrpSpPr>
            <p:nvPr/>
          </p:nvGrpSpPr>
          <p:grpSpPr bwMode="auto">
            <a:xfrm>
              <a:off x="711" y="1638"/>
              <a:ext cx="2603" cy="1400"/>
              <a:chOff x="255" y="1638"/>
              <a:chExt cx="3718" cy="1999"/>
            </a:xfrm>
          </p:grpSpPr>
          <p:grpSp>
            <p:nvGrpSpPr>
              <p:cNvPr id="141" name="Group 196"/>
              <p:cNvGrpSpPr>
                <a:grpSpLocks noChangeAspect="1"/>
              </p:cNvGrpSpPr>
              <p:nvPr/>
            </p:nvGrpSpPr>
            <p:grpSpPr bwMode="auto">
              <a:xfrm>
                <a:off x="255" y="1638"/>
                <a:ext cx="3718" cy="1996"/>
                <a:chOff x="934" y="849"/>
                <a:chExt cx="4250" cy="2282"/>
              </a:xfrm>
            </p:grpSpPr>
            <p:sp>
              <p:nvSpPr>
                <p:cNvPr id="146" name="Freeform 197"/>
                <p:cNvSpPr>
                  <a:spLocks noChangeAspect="1" noChangeArrowheads="1"/>
                </p:cNvSpPr>
                <p:nvPr/>
              </p:nvSpPr>
              <p:spPr bwMode="auto">
                <a:xfrm>
                  <a:off x="934" y="849"/>
                  <a:ext cx="87" cy="2282"/>
                </a:xfrm>
                <a:custGeom>
                  <a:avLst/>
                  <a:gdLst>
                    <a:gd name="T0" fmla="*/ 324 w 324"/>
                    <a:gd name="T1" fmla="*/ 0 h 8395"/>
                    <a:gd name="T2" fmla="*/ 305 w 324"/>
                    <a:gd name="T3" fmla="*/ 319 h 8395"/>
                    <a:gd name="T4" fmla="*/ 285 w 324"/>
                    <a:gd name="T5" fmla="*/ 567 h 8395"/>
                    <a:gd name="T6" fmla="*/ 239 w 324"/>
                    <a:gd name="T7" fmla="*/ 913 h 8395"/>
                    <a:gd name="T8" fmla="*/ 168 w 324"/>
                    <a:gd name="T9" fmla="*/ 1412 h 8395"/>
                    <a:gd name="T10" fmla="*/ 118 w 324"/>
                    <a:gd name="T11" fmla="*/ 2409 h 8395"/>
                    <a:gd name="T12" fmla="*/ 61 w 324"/>
                    <a:gd name="T13" fmla="*/ 4410 h 8395"/>
                    <a:gd name="T14" fmla="*/ 55 w 324"/>
                    <a:gd name="T15" fmla="*/ 5408 h 8395"/>
                    <a:gd name="T16" fmla="*/ 114 w 324"/>
                    <a:gd name="T17" fmla="*/ 6407 h 8395"/>
                    <a:gd name="T18" fmla="*/ 122 w 324"/>
                    <a:gd name="T19" fmla="*/ 6905 h 8395"/>
                    <a:gd name="T20" fmla="*/ 82 w 324"/>
                    <a:gd name="T21" fmla="*/ 7402 h 8395"/>
                    <a:gd name="T22" fmla="*/ 18 w 324"/>
                    <a:gd name="T23" fmla="*/ 7897 h 8395"/>
                    <a:gd name="T24" fmla="*/ 0 w 324"/>
                    <a:gd name="T25" fmla="*/ 8395 h 8395"/>
                    <a:gd name="T26" fmla="*/ 1 w 324"/>
                    <a:gd name="T27" fmla="*/ 8395 h 83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24" h="8395">
                      <a:moveTo>
                        <a:pt x="324" y="0"/>
                      </a:moveTo>
                      <a:lnTo>
                        <a:pt x="305" y="319"/>
                      </a:lnTo>
                      <a:lnTo>
                        <a:pt x="285" y="567"/>
                      </a:lnTo>
                      <a:lnTo>
                        <a:pt x="239" y="913"/>
                      </a:lnTo>
                      <a:lnTo>
                        <a:pt x="168" y="1412"/>
                      </a:lnTo>
                      <a:lnTo>
                        <a:pt x="118" y="2409"/>
                      </a:lnTo>
                      <a:lnTo>
                        <a:pt x="61" y="4410"/>
                      </a:lnTo>
                      <a:lnTo>
                        <a:pt x="55" y="5408"/>
                      </a:lnTo>
                      <a:lnTo>
                        <a:pt x="114" y="6407"/>
                      </a:lnTo>
                      <a:lnTo>
                        <a:pt x="122" y="6905"/>
                      </a:lnTo>
                      <a:lnTo>
                        <a:pt x="82" y="7402"/>
                      </a:lnTo>
                      <a:lnTo>
                        <a:pt x="18" y="7897"/>
                      </a:lnTo>
                      <a:lnTo>
                        <a:pt x="0" y="8395"/>
                      </a:lnTo>
                      <a:lnTo>
                        <a:pt x="1" y="8395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7" name="Freeform 198"/>
                <p:cNvSpPr>
                  <a:spLocks noChangeAspect="1" noChangeArrowheads="1"/>
                </p:cNvSpPr>
                <p:nvPr/>
              </p:nvSpPr>
              <p:spPr bwMode="auto">
                <a:xfrm>
                  <a:off x="5111" y="849"/>
                  <a:ext cx="73" cy="2282"/>
                </a:xfrm>
                <a:custGeom>
                  <a:avLst/>
                  <a:gdLst>
                    <a:gd name="T0" fmla="*/ 0 w 265"/>
                    <a:gd name="T1" fmla="*/ 0 h 8395"/>
                    <a:gd name="T2" fmla="*/ 84 w 265"/>
                    <a:gd name="T3" fmla="*/ 520 h 8395"/>
                    <a:gd name="T4" fmla="*/ 122 w 265"/>
                    <a:gd name="T5" fmla="*/ 1045 h 8395"/>
                    <a:gd name="T6" fmla="*/ 108 w 265"/>
                    <a:gd name="T7" fmla="*/ 2105 h 8395"/>
                    <a:gd name="T8" fmla="*/ 218 w 265"/>
                    <a:gd name="T9" fmla="*/ 4220 h 8395"/>
                    <a:gd name="T10" fmla="*/ 114 w 265"/>
                    <a:gd name="T11" fmla="*/ 5278 h 8395"/>
                    <a:gd name="T12" fmla="*/ 79 w 265"/>
                    <a:gd name="T13" fmla="*/ 5806 h 8395"/>
                    <a:gd name="T14" fmla="*/ 135 w 265"/>
                    <a:gd name="T15" fmla="*/ 6332 h 8395"/>
                    <a:gd name="T16" fmla="*/ 249 w 265"/>
                    <a:gd name="T17" fmla="*/ 6856 h 8395"/>
                    <a:gd name="T18" fmla="*/ 265 w 265"/>
                    <a:gd name="T19" fmla="*/ 7116 h 8395"/>
                    <a:gd name="T20" fmla="*/ 219 w 265"/>
                    <a:gd name="T21" fmla="*/ 7375 h 8395"/>
                    <a:gd name="T22" fmla="*/ 71 w 265"/>
                    <a:gd name="T23" fmla="*/ 7887 h 8395"/>
                    <a:gd name="T24" fmla="*/ 55 w 265"/>
                    <a:gd name="T25" fmla="*/ 8141 h 8395"/>
                    <a:gd name="T26" fmla="*/ 96 w 265"/>
                    <a:gd name="T27" fmla="*/ 8395 h 8395"/>
                    <a:gd name="T28" fmla="*/ 97 w 265"/>
                    <a:gd name="T29" fmla="*/ 8395 h 83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65" h="8395">
                      <a:moveTo>
                        <a:pt x="0" y="0"/>
                      </a:moveTo>
                      <a:lnTo>
                        <a:pt x="84" y="520"/>
                      </a:lnTo>
                      <a:lnTo>
                        <a:pt x="122" y="1045"/>
                      </a:lnTo>
                      <a:lnTo>
                        <a:pt x="108" y="2105"/>
                      </a:lnTo>
                      <a:lnTo>
                        <a:pt x="218" y="4220"/>
                      </a:lnTo>
                      <a:lnTo>
                        <a:pt x="114" y="5278"/>
                      </a:lnTo>
                      <a:lnTo>
                        <a:pt x="79" y="5806"/>
                      </a:lnTo>
                      <a:lnTo>
                        <a:pt x="135" y="6332"/>
                      </a:lnTo>
                      <a:lnTo>
                        <a:pt x="249" y="6856"/>
                      </a:lnTo>
                      <a:lnTo>
                        <a:pt x="265" y="7116"/>
                      </a:lnTo>
                      <a:lnTo>
                        <a:pt x="219" y="7375"/>
                      </a:lnTo>
                      <a:lnTo>
                        <a:pt x="71" y="7887"/>
                      </a:lnTo>
                      <a:lnTo>
                        <a:pt x="55" y="8141"/>
                      </a:lnTo>
                      <a:lnTo>
                        <a:pt x="96" y="8395"/>
                      </a:lnTo>
                      <a:lnTo>
                        <a:pt x="97" y="8395"/>
                      </a:lnTo>
                    </a:path>
                  </a:pathLst>
                </a:cu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  <p:grpSp>
            <p:nvGrpSpPr>
              <p:cNvPr id="142" name="Group 199"/>
              <p:cNvGrpSpPr>
                <a:grpSpLocks noChangeAspect="1"/>
              </p:cNvGrpSpPr>
              <p:nvPr/>
            </p:nvGrpSpPr>
            <p:grpSpPr bwMode="auto">
              <a:xfrm>
                <a:off x="255" y="1638"/>
                <a:ext cx="3692" cy="1999"/>
                <a:chOff x="934" y="849"/>
                <a:chExt cx="4220" cy="2285"/>
              </a:xfrm>
            </p:grpSpPr>
            <p:sp>
              <p:nvSpPr>
                <p:cNvPr id="143" name="Freeform 200"/>
                <p:cNvSpPr>
                  <a:spLocks noChangeAspect="1" noChangeArrowheads="1"/>
                </p:cNvSpPr>
                <p:nvPr/>
              </p:nvSpPr>
              <p:spPr bwMode="auto">
                <a:xfrm>
                  <a:off x="934" y="3131"/>
                  <a:ext cx="4204" cy="3"/>
                </a:xfrm>
                <a:custGeom>
                  <a:avLst/>
                  <a:gdLst>
                    <a:gd name="T0" fmla="*/ 15468 w 15468"/>
                    <a:gd name="T1" fmla="*/ 0 h 3"/>
                    <a:gd name="T2" fmla="*/ 0 w 15468"/>
                    <a:gd name="T3" fmla="*/ 0 h 3"/>
                    <a:gd name="T4" fmla="*/ 1 w 15468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468" h="3">
                      <a:moveTo>
                        <a:pt x="15468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571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4" name="Freeform 201"/>
                <p:cNvSpPr>
                  <a:spLocks noChangeAspect="1" noChangeArrowheads="1"/>
                </p:cNvSpPr>
                <p:nvPr/>
              </p:nvSpPr>
              <p:spPr bwMode="auto">
                <a:xfrm>
                  <a:off x="950" y="2905"/>
                  <a:ext cx="4204" cy="3"/>
                </a:xfrm>
                <a:custGeom>
                  <a:avLst/>
                  <a:gdLst>
                    <a:gd name="T0" fmla="*/ 15474 w 15474"/>
                    <a:gd name="T1" fmla="*/ 0 h 3"/>
                    <a:gd name="T2" fmla="*/ 0 w 15474"/>
                    <a:gd name="T3" fmla="*/ 0 h 3"/>
                    <a:gd name="T4" fmla="*/ 1 w 15474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474" h="3">
                      <a:moveTo>
                        <a:pt x="15474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571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  <p:sp>
              <p:nvSpPr>
                <p:cNvPr id="145" name="Freeform 202"/>
                <p:cNvSpPr>
                  <a:spLocks noChangeAspect="1" noChangeArrowheads="1"/>
                </p:cNvSpPr>
                <p:nvPr/>
              </p:nvSpPr>
              <p:spPr bwMode="auto">
                <a:xfrm>
                  <a:off x="1021" y="849"/>
                  <a:ext cx="4090" cy="3"/>
                </a:xfrm>
                <a:custGeom>
                  <a:avLst/>
                  <a:gdLst>
                    <a:gd name="T0" fmla="*/ 15048 w 15048"/>
                    <a:gd name="T1" fmla="*/ 0 h 3"/>
                    <a:gd name="T2" fmla="*/ 0 w 15048"/>
                    <a:gd name="T3" fmla="*/ 0 h 3"/>
                    <a:gd name="T4" fmla="*/ 1 w 15048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048" h="3">
                      <a:moveTo>
                        <a:pt x="15048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571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1pPr>
                  <a:lvl2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2pPr>
                  <a:lvl3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3pPr>
                  <a:lvl4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4pPr>
                  <a:lvl5pPr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5pPr>
                  <a:lvl6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6pPr>
                  <a:lvl7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7pPr>
                  <a:lvl8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8pPr>
                  <a:lvl9pPr fontAlgn="base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 sz="2400" b="1">
                      <a:solidFill>
                        <a:schemeClr val="tx1"/>
                      </a:solidFill>
                      <a:latin typeface="Tahoma" panose="020B060403050404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endParaRPr lang="zh-CN" altLang="en-US"/>
                </a:p>
              </p:txBody>
            </p:sp>
          </p:grpSp>
        </p:grpSp>
      </p:grpSp>
      <p:pic>
        <p:nvPicPr>
          <p:cNvPr id="204" name="Picture 203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001" t="31334" r="20000" b="30000"/>
          <a:stretch>
            <a:fillRect/>
          </a:stretch>
        </p:blipFill>
        <p:spPr bwMode="auto">
          <a:xfrm>
            <a:off x="6908800" y="3124200"/>
            <a:ext cx="2590800" cy="220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" name="Text Box 204"/>
          <p:cNvSpPr txBox="1">
            <a:spLocks noChangeArrowheads="1"/>
          </p:cNvSpPr>
          <p:nvPr/>
        </p:nvSpPr>
        <p:spPr bwMode="auto">
          <a:xfrm>
            <a:off x="2347914" y="5405865"/>
            <a:ext cx="724852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400" b="1"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dirty="0">
                <a:solidFill>
                  <a:srgbClr val="FF0000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★</a:t>
            </a:r>
            <a:r>
              <a:rPr lang="en-US" altLang="zh-CN" dirty="0">
                <a:latin typeface="华文细黑" panose="02010600040101010101" pitchFamily="2" charset="-122"/>
                <a:ea typeface="华文细黑" panose="02010600040101010101" pitchFamily="2" charset="-122"/>
              </a:rPr>
              <a:t>  </a:t>
            </a:r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对称的重合断面图，可不标注。</a:t>
            </a:r>
          </a:p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rPr>
              <a:t>     不对称的重合断面图，省略名称（字母）。</a:t>
            </a:r>
          </a:p>
        </p:txBody>
      </p:sp>
    </p:spTree>
    <p:extLst>
      <p:ext uri="{BB962C8B-B14F-4D97-AF65-F5344CB8AC3E}">
        <p14:creationId xmlns:p14="http://schemas.microsoft.com/office/powerpoint/2010/main" val="3103295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4"/>
          <p:cNvSpPr txBox="1">
            <a:spLocks noChangeArrowheads="1"/>
          </p:cNvSpPr>
          <p:nvPr/>
        </p:nvSpPr>
        <p:spPr bwMode="auto">
          <a:xfrm>
            <a:off x="3287713" y="981076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zh-CN" altLang="zh-CN" sz="1800"/>
          </a:p>
        </p:txBody>
      </p:sp>
      <p:sp>
        <p:nvSpPr>
          <p:cNvPr id="3" name="Text Box 5"/>
          <p:cNvSpPr txBox="1">
            <a:spLocks noChangeArrowheads="1"/>
          </p:cNvSpPr>
          <p:nvPr/>
        </p:nvSpPr>
        <p:spPr bwMode="auto">
          <a:xfrm>
            <a:off x="983236" y="518101"/>
            <a:ext cx="4608954" cy="646331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none">
            <a:spAutoFit/>
          </a:bodyPr>
          <a:lstStyle>
            <a:defPPr>
              <a:defRPr lang="zh-CN"/>
            </a:defPPr>
            <a:lvl1pPr>
              <a:defRPr sz="3600" b="1" i="1">
                <a:solidFill>
                  <a:srgbClr val="0066CC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r>
              <a:rPr lang="en-US" altLang="zh-CN" dirty="0"/>
              <a:t>6.4 </a:t>
            </a:r>
            <a:r>
              <a:rPr lang="zh-CN" altLang="en-US" dirty="0"/>
              <a:t>表达方法综合举例</a:t>
            </a:r>
          </a:p>
        </p:txBody>
      </p:sp>
      <p:sp>
        <p:nvSpPr>
          <p:cNvPr id="4" name="Text Box 17"/>
          <p:cNvSpPr txBox="1">
            <a:spLocks noChangeArrowheads="1"/>
          </p:cNvSpPr>
          <p:nvPr/>
        </p:nvSpPr>
        <p:spPr bwMode="auto">
          <a:xfrm>
            <a:off x="2855913" y="1989139"/>
            <a:ext cx="7200900" cy="20621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1800" dirty="0">
                <a:latin typeface="华文细黑" panose="02010600040101010101" pitchFamily="2" charset="-122"/>
                <a:ea typeface="华文细黑" panose="02010600040101010101" pitchFamily="2" charset="-122"/>
              </a:rPr>
              <a:t>            </a:t>
            </a:r>
            <a:r>
              <a:rPr lang="zh-CN" altLang="en-US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在绘制物体图样时，应根据物体的具体形状选择适当的表达方法，并在完全、正确、清楚地表达物体各部分形状的前提下，应尽量减少视图数量。</a:t>
            </a:r>
          </a:p>
        </p:txBody>
      </p:sp>
    </p:spTree>
    <p:extLst>
      <p:ext uri="{BB962C8B-B14F-4D97-AF65-F5344CB8AC3E}">
        <p14:creationId xmlns:p14="http://schemas.microsoft.com/office/powerpoint/2010/main" val="3525061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ChangeArrowheads="1"/>
          </p:cNvSpPr>
          <p:nvPr/>
        </p:nvSpPr>
        <p:spPr bwMode="auto">
          <a:xfrm>
            <a:off x="1524000" y="1"/>
            <a:ext cx="9144000" cy="620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1">
                  <a:gsLst>
                    <a:gs pos="0">
                      <a:srgbClr val="996633">
                        <a:alpha val="68999"/>
                      </a:srgbClr>
                    </a:gs>
                    <a:gs pos="100000">
                      <a:srgbClr val="FFFF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66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zh-CN" sz="4000" b="1">
              <a:solidFill>
                <a:schemeClr val="tx2"/>
              </a:solidFill>
            </a:endParaRP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3287713" y="981076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zh-CN" altLang="zh-CN" sz="1800"/>
          </a:p>
        </p:txBody>
      </p:sp>
      <p:sp>
        <p:nvSpPr>
          <p:cNvPr id="4" name="Text Box 8"/>
          <p:cNvSpPr txBox="1">
            <a:spLocks noChangeArrowheads="1"/>
          </p:cNvSpPr>
          <p:nvPr/>
        </p:nvSpPr>
        <p:spPr bwMode="auto">
          <a:xfrm>
            <a:off x="1371169" y="509588"/>
            <a:ext cx="1787667" cy="535531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32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zh-CN" altLang="en-US" dirty="0"/>
              <a:t>例</a:t>
            </a:r>
            <a:r>
              <a:rPr lang="en-US" altLang="zh-CN" dirty="0"/>
              <a:t>:</a:t>
            </a:r>
            <a:r>
              <a:rPr lang="zh-CN" altLang="en-US" dirty="0"/>
              <a:t>套筒</a:t>
            </a:r>
          </a:p>
        </p:txBody>
      </p:sp>
      <p:pic>
        <p:nvPicPr>
          <p:cNvPr id="5" name="Picture 9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421" t="32292" r="35237" b="21463"/>
          <a:stretch>
            <a:fillRect/>
          </a:stretch>
        </p:blipFill>
        <p:spPr bwMode="auto">
          <a:xfrm>
            <a:off x="1639889" y="1196975"/>
            <a:ext cx="4283075" cy="3594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" name="Picture 1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513" t="26367" r="45573" b="34245"/>
          <a:stretch>
            <a:fillRect/>
          </a:stretch>
        </p:blipFill>
        <p:spPr bwMode="auto">
          <a:xfrm>
            <a:off x="6240463" y="2046433"/>
            <a:ext cx="4608512" cy="3687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1273584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0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3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out)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3287713" y="981076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zh-CN" altLang="zh-CN" sz="1800"/>
          </a:p>
        </p:txBody>
      </p:sp>
      <p:graphicFrame>
        <p:nvGraphicFramePr>
          <p:cNvPr id="3" name="Object 10"/>
          <p:cNvGraphicFramePr>
            <a:graphicFrameLocks noChangeAspect="1"/>
          </p:cNvGraphicFramePr>
          <p:nvPr/>
        </p:nvGraphicFramePr>
        <p:xfrm>
          <a:off x="3719514" y="260350"/>
          <a:ext cx="6948487" cy="63071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rawing" r:id="rId2" imgW="8153400" imgH="4991100" progId="AutoCAD.Drawing.15">
                  <p:embed/>
                </p:oleObj>
              </mc:Choice>
              <mc:Fallback>
                <p:oleObj name="Drawing" r:id="rId2" imgW="8153400" imgH="4991100" progId="AutoCAD.Drawing.15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22624" t="11037" r="29692" b="18257"/>
                      <a:stretch>
                        <a:fillRect/>
                      </a:stretch>
                    </p:blipFill>
                    <p:spPr bwMode="auto">
                      <a:xfrm>
                        <a:off x="3719514" y="260350"/>
                        <a:ext cx="6948487" cy="63071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Picture 9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513" t="26367" r="45573" b="34245"/>
          <a:stretch>
            <a:fillRect/>
          </a:stretch>
        </p:blipFill>
        <p:spPr bwMode="auto">
          <a:xfrm>
            <a:off x="8293101" y="4956176"/>
            <a:ext cx="2411413" cy="19288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421" t="32292" r="35237" b="21463"/>
          <a:stretch>
            <a:fillRect/>
          </a:stretch>
        </p:blipFill>
        <p:spPr bwMode="auto">
          <a:xfrm>
            <a:off x="1181101" y="477982"/>
            <a:ext cx="2627313" cy="22050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0750365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ChangeArrowheads="1"/>
          </p:cNvSpPr>
          <p:nvPr/>
        </p:nvSpPr>
        <p:spPr bwMode="auto">
          <a:xfrm>
            <a:off x="1524000" y="1"/>
            <a:ext cx="9144000" cy="620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1">
                  <a:gsLst>
                    <a:gs pos="0">
                      <a:srgbClr val="996633">
                        <a:alpha val="68999"/>
                      </a:srgbClr>
                    </a:gs>
                    <a:gs pos="100000">
                      <a:srgbClr val="FFFF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66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zh-CN" sz="4000" b="1">
              <a:solidFill>
                <a:schemeClr val="tx2"/>
              </a:solidFill>
            </a:endParaRP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3287713" y="981076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zh-CN" altLang="zh-CN" sz="1800"/>
          </a:p>
        </p:txBody>
      </p:sp>
      <p:sp>
        <p:nvSpPr>
          <p:cNvPr id="4" name="Text Box 8"/>
          <p:cNvSpPr txBox="1">
            <a:spLocks noChangeArrowheads="1"/>
          </p:cNvSpPr>
          <p:nvPr/>
        </p:nvSpPr>
        <p:spPr bwMode="auto">
          <a:xfrm>
            <a:off x="805007" y="377033"/>
            <a:ext cx="2160588" cy="535531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32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zh-CN" altLang="en-US" dirty="0"/>
              <a:t>例：支架</a:t>
            </a:r>
          </a:p>
        </p:txBody>
      </p:sp>
      <p:pic>
        <p:nvPicPr>
          <p:cNvPr id="5" name="Picture 9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061" t="27365" r="33757" b="14561"/>
          <a:stretch>
            <a:fillRect/>
          </a:stretch>
        </p:blipFill>
        <p:spPr bwMode="auto">
          <a:xfrm>
            <a:off x="1703388" y="1052513"/>
            <a:ext cx="4006850" cy="48244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" name="Picture 1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153" t="22440" r="37451" b="16536"/>
          <a:stretch>
            <a:fillRect/>
          </a:stretch>
        </p:blipFill>
        <p:spPr bwMode="auto">
          <a:xfrm>
            <a:off x="5938839" y="1052513"/>
            <a:ext cx="4408487" cy="5256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04599393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3"/>
          <p:cNvSpPr txBox="1">
            <a:spLocks noChangeArrowheads="1"/>
          </p:cNvSpPr>
          <p:nvPr/>
        </p:nvSpPr>
        <p:spPr bwMode="auto">
          <a:xfrm>
            <a:off x="3287713" y="981076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zh-CN" altLang="zh-CN" sz="1800"/>
          </a:p>
        </p:txBody>
      </p:sp>
      <p:graphicFrame>
        <p:nvGraphicFramePr>
          <p:cNvPr id="3" name="Object 11"/>
          <p:cNvGraphicFramePr>
            <a:graphicFrameLocks noChangeAspect="1"/>
          </p:cNvGraphicFramePr>
          <p:nvPr/>
        </p:nvGraphicFramePr>
        <p:xfrm>
          <a:off x="3395664" y="282576"/>
          <a:ext cx="7380287" cy="5883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rawing" r:id="rId2" imgW="8153400" imgH="4991100" progId="AutoCAD.Drawing.15">
                  <p:embed/>
                </p:oleObj>
              </mc:Choice>
              <mc:Fallback>
                <p:oleObj name="Drawing" r:id="rId2" imgW="8153400" imgH="4991100" progId="AutoCAD.Drawing.15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12909" t="6711" r="21729" b="8174"/>
                      <a:stretch>
                        <a:fillRect/>
                      </a:stretch>
                    </p:blipFill>
                    <p:spPr bwMode="auto">
                      <a:xfrm>
                        <a:off x="3395664" y="282576"/>
                        <a:ext cx="7380287" cy="58832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Picture 9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061" t="27365" r="33757" b="14561"/>
          <a:stretch>
            <a:fillRect/>
          </a:stretch>
        </p:blipFill>
        <p:spPr bwMode="auto">
          <a:xfrm>
            <a:off x="1292225" y="375662"/>
            <a:ext cx="2154238" cy="2592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" name="Picture 10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153" t="22440" r="37451" b="16536"/>
          <a:stretch>
            <a:fillRect/>
          </a:stretch>
        </p:blipFill>
        <p:spPr bwMode="auto">
          <a:xfrm>
            <a:off x="1558926" y="3213101"/>
            <a:ext cx="2474913" cy="2951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9738956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354" t="22440" r="21941" b="19487"/>
          <a:stretch>
            <a:fillRect/>
          </a:stretch>
        </p:blipFill>
        <p:spPr bwMode="auto">
          <a:xfrm>
            <a:off x="2603500" y="361950"/>
            <a:ext cx="8064500" cy="5346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3287713" y="981076"/>
            <a:ext cx="2952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zh-CN" altLang="zh-CN" sz="1800"/>
          </a:p>
        </p:txBody>
      </p:sp>
      <p:pic>
        <p:nvPicPr>
          <p:cNvPr id="4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671" t="26193" r="32813" b="14757"/>
          <a:stretch>
            <a:fillRect/>
          </a:stretch>
        </p:blipFill>
        <p:spPr bwMode="auto">
          <a:xfrm>
            <a:off x="1487487" y="2349500"/>
            <a:ext cx="2447926" cy="2330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" name="Text Box 11"/>
          <p:cNvSpPr txBox="1">
            <a:spLocks noChangeArrowheads="1"/>
          </p:cNvSpPr>
          <p:nvPr/>
        </p:nvSpPr>
        <p:spPr bwMode="auto">
          <a:xfrm>
            <a:off x="803276" y="450307"/>
            <a:ext cx="2160587" cy="535531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32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r>
              <a:rPr lang="zh-CN" altLang="en-US" dirty="0"/>
              <a:t>例：壳体</a:t>
            </a:r>
          </a:p>
        </p:txBody>
      </p:sp>
      <p:pic>
        <p:nvPicPr>
          <p:cNvPr id="6" name="Picture 1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671" t="26193" r="32813" b="14757"/>
          <a:stretch>
            <a:fillRect/>
          </a:stretch>
        </p:blipFill>
        <p:spPr bwMode="auto">
          <a:xfrm>
            <a:off x="1558926" y="1927226"/>
            <a:ext cx="4752975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7" name="Picture 12"/>
          <p:cNvPicPr>
            <a:picLocks noChangeAspect="1" noChangeArrowheads="1"/>
          </p:cNvPicPr>
          <p:nvPr/>
        </p:nvPicPr>
        <p:blipFill>
          <a:blip r:embed="rId4">
            <a:lum bright="12000" contrast="1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34" t="21463" r="26367" b="15538"/>
          <a:stretch>
            <a:fillRect/>
          </a:stretch>
        </p:blipFill>
        <p:spPr bwMode="auto">
          <a:xfrm>
            <a:off x="6096000" y="404813"/>
            <a:ext cx="4572000" cy="3624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" name="Picture 1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799" t="21463" r="27100" b="15538"/>
          <a:stretch>
            <a:fillRect/>
          </a:stretch>
        </p:blipFill>
        <p:spPr bwMode="auto">
          <a:xfrm>
            <a:off x="453014" y="4341020"/>
            <a:ext cx="2771776" cy="2254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0094750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4112060" y="973805"/>
            <a:ext cx="3779837" cy="535531"/>
          </a:xfrm>
          <a:prstGeom prst="rect">
            <a:avLst/>
          </a:prstGeom>
          <a:solidFill>
            <a:srgbClr val="0000FF"/>
          </a:solidFill>
        </p:spPr>
        <p:txBody>
          <a:bodyPr/>
          <a:lstStyle>
            <a:defPPr>
              <a:defRPr lang="zh-CN"/>
            </a:defPPr>
            <a:lvl1pPr marL="838200" indent="-838200">
              <a:lnSpc>
                <a:spcPct val="90000"/>
              </a:lnSpc>
              <a:spcBef>
                <a:spcPct val="0"/>
              </a:spcBef>
              <a:buNone/>
              <a:defRPr sz="3200" b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+mj-cs"/>
              </a:defRPr>
            </a:lvl1pPr>
          </a:lstStyle>
          <a:p>
            <a:pPr algn="ctr"/>
            <a:r>
              <a:rPr lang="zh-CN" altLang="en-US" sz="3600" dirty="0">
                <a:latin typeface="+mn-ea"/>
                <a:ea typeface="+mn-ea"/>
              </a:rPr>
              <a:t>小   结</a:t>
            </a:r>
            <a:endParaRPr lang="zh-CN" altLang="en-US" sz="3600" dirty="0">
              <a:latin typeface="+mn-ea"/>
              <a:ea typeface="+mn-ea"/>
              <a:sym typeface="Monotype Sorts" pitchFamily="2" charset="2"/>
            </a:endParaRP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1805276" y="1770208"/>
            <a:ext cx="8372475" cy="1616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        </a:t>
            </a:r>
            <a:r>
              <a:rPr kumimoji="1" lang="zh-CN" altLang="en-US" b="1" dirty="0">
                <a:latin typeface="华文细黑" panose="02010600040101010101" pitchFamily="2" charset="-122"/>
                <a:ea typeface="华文细黑" panose="02010600040101010101" pitchFamily="2" charset="-122"/>
              </a:rPr>
              <a:t>本章所介绍的各种视图、剖视图、断面图的画法及标注方法，均系国标规定，必须很好掌握，才能画出合格的工作图样。</a:t>
            </a:r>
          </a:p>
        </p:txBody>
      </p:sp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1949738" y="3533920"/>
            <a:ext cx="8234363" cy="1128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3600" b="1">
                <a:latin typeface="华文细黑" panose="02010600040101010101" pitchFamily="2" charset="-122"/>
                <a:ea typeface="华文细黑" panose="02010600040101010101" pitchFamily="2" charset="-122"/>
              </a:rPr>
              <a:t>        </a:t>
            </a:r>
            <a:r>
              <a:rPr kumimoji="1" lang="zh-CN" altLang="en-US" b="1">
                <a:latin typeface="华文细黑" panose="02010600040101010101" pitchFamily="2" charset="-122"/>
                <a:ea typeface="华文细黑" panose="02010600040101010101" pitchFamily="2" charset="-122"/>
              </a:rPr>
              <a:t>简化画法只介绍了常用的几种，这部分内容较多，需要时可查阅有关标准。</a:t>
            </a:r>
          </a:p>
        </p:txBody>
      </p:sp>
    </p:spTree>
    <p:extLst>
      <p:ext uri="{BB962C8B-B14F-4D97-AF65-F5344CB8AC3E}">
        <p14:creationId xmlns:p14="http://schemas.microsoft.com/office/powerpoint/2010/main" val="1114398740"/>
      </p:ext>
    </p:extLst>
  </p:cSld>
  <p:clrMapOvr>
    <a:masterClrMapping/>
  </p:clrMapOvr>
</p:sld>
</file>

<file path=ppt/theme/theme1.xml><?xml version="1.0" encoding="utf-8"?>
<a:theme xmlns:a="http://schemas.openxmlformats.org/drawingml/2006/main" name="微软雅黑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自定义 1">
      <a:majorFont>
        <a:latin typeface="Calibri Light"/>
        <a:ea typeface="微软雅黑"/>
        <a:cs typeface=""/>
      </a:majorFont>
      <a:minorFont>
        <a:latin typeface="Calibri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微软雅黑" id="{DD6907A6-4332-48AB-A9DF-0ECBB6C1E03B}" vid="{97590DBE-10B7-4057-9214-198AB55E0A14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4351</TotalTime>
  <Words>2277</Words>
  <Application>Microsoft Office PowerPoint</Application>
  <PresentationFormat>宽屏</PresentationFormat>
  <Paragraphs>302</Paragraphs>
  <Slides>58</Slides>
  <Notes>1</Notes>
  <HiddenSlides>0</HiddenSlides>
  <MMClips>1</MMClips>
  <ScaleCrop>false</ScaleCrop>
  <HeadingPairs>
    <vt:vector size="8" baseType="variant">
      <vt:variant>
        <vt:lpstr>已用的字体</vt:lpstr>
      </vt:variant>
      <vt:variant>
        <vt:i4>13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2</vt:i4>
      </vt:variant>
      <vt:variant>
        <vt:lpstr>幻灯片标题</vt:lpstr>
      </vt:variant>
      <vt:variant>
        <vt:i4>58</vt:i4>
      </vt:variant>
    </vt:vector>
  </HeadingPairs>
  <TitlesOfParts>
    <vt:vector size="74" baseType="lpstr">
      <vt:lpstr>仿宋_GB2312</vt:lpstr>
      <vt:lpstr>黑体</vt:lpstr>
      <vt:lpstr>华文细黑</vt:lpstr>
      <vt:lpstr>楷体_GB2312</vt:lpstr>
      <vt:lpstr>宋体</vt:lpstr>
      <vt:lpstr>微软雅黑</vt:lpstr>
      <vt:lpstr>Arial</vt:lpstr>
      <vt:lpstr>Book Antiqua</vt:lpstr>
      <vt:lpstr>Calibri</vt:lpstr>
      <vt:lpstr>Calibri Light</vt:lpstr>
      <vt:lpstr>Tahoma</vt:lpstr>
      <vt:lpstr>Times New Roman</vt:lpstr>
      <vt:lpstr>Wingdings</vt:lpstr>
      <vt:lpstr>微软雅黑</vt:lpstr>
      <vt:lpstr>Drawing</vt:lpstr>
      <vt:lpstr>Bitmap Image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Administrator</dc:creator>
  <cp:lastModifiedBy>Wenjie Yu</cp:lastModifiedBy>
  <cp:revision>279</cp:revision>
  <dcterms:created xsi:type="dcterms:W3CDTF">2015-10-29T03:31:05Z</dcterms:created>
  <dcterms:modified xsi:type="dcterms:W3CDTF">2021-12-02T12:19:51Z</dcterms:modified>
</cp:coreProperties>
</file>